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63.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06.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07.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08.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bookmarkIdSeed="2">
  <p:sldMasterIdLst>
    <p:sldMasterId id="2147483648" r:id="rId1"/>
  </p:sldMasterIdLst>
  <p:notesMasterIdLst>
    <p:notesMasterId r:id="rId341"/>
  </p:notesMasterIdLst>
  <p:sldIdLst>
    <p:sldId id="257" r:id="rId2"/>
    <p:sldId id="613" r:id="rId3"/>
    <p:sldId id="256" r:id="rId4"/>
    <p:sldId id="608" r:id="rId5"/>
    <p:sldId id="609" r:id="rId6"/>
    <p:sldId id="259" r:id="rId7"/>
    <p:sldId id="260" r:id="rId8"/>
    <p:sldId id="262" r:id="rId9"/>
    <p:sldId id="264" r:id="rId10"/>
    <p:sldId id="265" r:id="rId11"/>
    <p:sldId id="610" r:id="rId12"/>
    <p:sldId id="612" r:id="rId13"/>
    <p:sldId id="611" r:id="rId14"/>
    <p:sldId id="615" r:id="rId15"/>
    <p:sldId id="616" r:id="rId16"/>
    <p:sldId id="266" r:id="rId17"/>
    <p:sldId id="267" r:id="rId18"/>
    <p:sldId id="269" r:id="rId19"/>
    <p:sldId id="618" r:id="rId20"/>
    <p:sldId id="617" r:id="rId21"/>
    <p:sldId id="619" r:id="rId22"/>
    <p:sldId id="271" r:id="rId23"/>
    <p:sldId id="272" r:id="rId24"/>
    <p:sldId id="273" r:id="rId25"/>
    <p:sldId id="274" r:id="rId26"/>
    <p:sldId id="275" r:id="rId27"/>
    <p:sldId id="276" r:id="rId28"/>
    <p:sldId id="277" r:id="rId29"/>
    <p:sldId id="291" r:id="rId30"/>
    <p:sldId id="621" r:id="rId31"/>
    <p:sldId id="622" r:id="rId32"/>
    <p:sldId id="282" r:id="rId33"/>
    <p:sldId id="283" r:id="rId34"/>
    <p:sldId id="284" r:id="rId35"/>
    <p:sldId id="285" r:id="rId36"/>
    <p:sldId id="286" r:id="rId37"/>
    <p:sldId id="287" r:id="rId38"/>
    <p:sldId id="288" r:id="rId39"/>
    <p:sldId id="289" r:id="rId40"/>
    <p:sldId id="843" r:id="rId41"/>
    <p:sldId id="293" r:id="rId42"/>
    <p:sldId id="623" r:id="rId43"/>
    <p:sldId id="624" r:id="rId44"/>
    <p:sldId id="625" r:id="rId45"/>
    <p:sldId id="628" r:id="rId46"/>
    <p:sldId id="631" r:id="rId47"/>
    <p:sldId id="632" r:id="rId48"/>
    <p:sldId id="636" r:id="rId49"/>
    <p:sldId id="635" r:id="rId50"/>
    <p:sldId id="637" r:id="rId51"/>
    <p:sldId id="640" r:id="rId52"/>
    <p:sldId id="642" r:id="rId53"/>
    <p:sldId id="641" r:id="rId54"/>
    <p:sldId id="643" r:id="rId55"/>
    <p:sldId id="644" r:id="rId56"/>
    <p:sldId id="646" r:id="rId57"/>
    <p:sldId id="647" r:id="rId58"/>
    <p:sldId id="648" r:id="rId59"/>
    <p:sldId id="649" r:id="rId60"/>
    <p:sldId id="650" r:id="rId61"/>
    <p:sldId id="855" r:id="rId62"/>
    <p:sldId id="856" r:id="rId63"/>
    <p:sldId id="857" r:id="rId64"/>
    <p:sldId id="306" r:id="rId65"/>
    <p:sldId id="869" r:id="rId66"/>
    <p:sldId id="654" r:id="rId67"/>
    <p:sldId id="308" r:id="rId68"/>
    <p:sldId id="309" r:id="rId69"/>
    <p:sldId id="657" r:id="rId70"/>
    <p:sldId id="658" r:id="rId71"/>
    <p:sldId id="316" r:id="rId72"/>
    <p:sldId id="659" r:id="rId73"/>
    <p:sldId id="317" r:id="rId74"/>
    <p:sldId id="318" r:id="rId75"/>
    <p:sldId id="319" r:id="rId76"/>
    <p:sldId id="662" r:id="rId77"/>
    <p:sldId id="663" r:id="rId78"/>
    <p:sldId id="322" r:id="rId79"/>
    <p:sldId id="323" r:id="rId80"/>
    <p:sldId id="665" r:id="rId81"/>
    <p:sldId id="666" r:id="rId82"/>
    <p:sldId id="667" r:id="rId83"/>
    <p:sldId id="669" r:id="rId84"/>
    <p:sldId id="668" r:id="rId85"/>
    <p:sldId id="326" r:id="rId86"/>
    <p:sldId id="840" r:id="rId87"/>
    <p:sldId id="841" r:id="rId88"/>
    <p:sldId id="842" r:id="rId89"/>
    <p:sldId id="670" r:id="rId90"/>
    <p:sldId id="671" r:id="rId91"/>
    <p:sldId id="672" r:id="rId92"/>
    <p:sldId id="673" r:id="rId93"/>
    <p:sldId id="333" r:id="rId94"/>
    <p:sldId id="334" r:id="rId95"/>
    <p:sldId id="335" r:id="rId96"/>
    <p:sldId id="336" r:id="rId97"/>
    <p:sldId id="337" r:id="rId98"/>
    <p:sldId id="338" r:id="rId99"/>
    <p:sldId id="339" r:id="rId100"/>
    <p:sldId id="341" r:id="rId101"/>
    <p:sldId id="342" r:id="rId102"/>
    <p:sldId id="343" r:id="rId103"/>
    <p:sldId id="344" r:id="rId104"/>
    <p:sldId id="345" r:id="rId105"/>
    <p:sldId id="674" r:id="rId106"/>
    <p:sldId id="346" r:id="rId107"/>
    <p:sldId id="347" r:id="rId108"/>
    <p:sldId id="348" r:id="rId109"/>
    <p:sldId id="349" r:id="rId110"/>
    <p:sldId id="675" r:id="rId111"/>
    <p:sldId id="350" r:id="rId112"/>
    <p:sldId id="351" r:id="rId113"/>
    <p:sldId id="844" r:id="rId114"/>
    <p:sldId id="845" r:id="rId115"/>
    <p:sldId id="846" r:id="rId116"/>
    <p:sldId id="847" r:id="rId117"/>
    <p:sldId id="848" r:id="rId118"/>
    <p:sldId id="849" r:id="rId119"/>
    <p:sldId id="850" r:id="rId120"/>
    <p:sldId id="851" r:id="rId121"/>
    <p:sldId id="852" r:id="rId122"/>
    <p:sldId id="853" r:id="rId123"/>
    <p:sldId id="854" r:id="rId124"/>
    <p:sldId id="861" r:id="rId125"/>
    <p:sldId id="352" r:id="rId126"/>
    <p:sldId id="355" r:id="rId127"/>
    <p:sldId id="357" r:id="rId128"/>
    <p:sldId id="691" r:id="rId129"/>
    <p:sldId id="694" r:id="rId130"/>
    <p:sldId id="695" r:id="rId131"/>
    <p:sldId id="697" r:id="rId132"/>
    <p:sldId id="698" r:id="rId133"/>
    <p:sldId id="699" r:id="rId134"/>
    <p:sldId id="700" r:id="rId135"/>
    <p:sldId id="701" r:id="rId136"/>
    <p:sldId id="703" r:id="rId137"/>
    <p:sldId id="704" r:id="rId138"/>
    <p:sldId id="705" r:id="rId139"/>
    <p:sldId id="706" r:id="rId140"/>
    <p:sldId id="707" r:id="rId141"/>
    <p:sldId id="708" r:id="rId142"/>
    <p:sldId id="709" r:id="rId143"/>
    <p:sldId id="862" r:id="rId144"/>
    <p:sldId id="711" r:id="rId145"/>
    <p:sldId id="712" r:id="rId146"/>
    <p:sldId id="714" r:id="rId147"/>
    <p:sldId id="715" r:id="rId148"/>
    <p:sldId id="716" r:id="rId149"/>
    <p:sldId id="717" r:id="rId150"/>
    <p:sldId id="718" r:id="rId151"/>
    <p:sldId id="719" r:id="rId152"/>
    <p:sldId id="720" r:id="rId153"/>
    <p:sldId id="721" r:id="rId154"/>
    <p:sldId id="722" r:id="rId155"/>
    <p:sldId id="723" r:id="rId156"/>
    <p:sldId id="724" r:id="rId157"/>
    <p:sldId id="725" r:id="rId158"/>
    <p:sldId id="727" r:id="rId159"/>
    <p:sldId id="728" r:id="rId160"/>
    <p:sldId id="729" r:id="rId161"/>
    <p:sldId id="730" r:id="rId162"/>
    <p:sldId id="731" r:id="rId163"/>
    <p:sldId id="732" r:id="rId164"/>
    <p:sldId id="735" r:id="rId165"/>
    <p:sldId id="736" r:id="rId166"/>
    <p:sldId id="737" r:id="rId167"/>
    <p:sldId id="738" r:id="rId168"/>
    <p:sldId id="740" r:id="rId169"/>
    <p:sldId id="741" r:id="rId170"/>
    <p:sldId id="743" r:id="rId171"/>
    <p:sldId id="863" r:id="rId172"/>
    <p:sldId id="416" r:id="rId173"/>
    <p:sldId id="745" r:id="rId174"/>
    <p:sldId id="746" r:id="rId175"/>
    <p:sldId id="747" r:id="rId176"/>
    <p:sldId id="419" r:id="rId177"/>
    <p:sldId id="421" r:id="rId178"/>
    <p:sldId id="422" r:id="rId179"/>
    <p:sldId id="423" r:id="rId180"/>
    <p:sldId id="426" r:id="rId181"/>
    <p:sldId id="748" r:id="rId182"/>
    <p:sldId id="427" r:id="rId183"/>
    <p:sldId id="749" r:id="rId184"/>
    <p:sldId id="429" r:id="rId185"/>
    <p:sldId id="430" r:id="rId186"/>
    <p:sldId id="750" r:id="rId187"/>
    <p:sldId id="431" r:id="rId188"/>
    <p:sldId id="432" r:id="rId189"/>
    <p:sldId id="434" r:id="rId190"/>
    <p:sldId id="435" r:id="rId191"/>
    <p:sldId id="436" r:id="rId192"/>
    <p:sldId id="437" r:id="rId193"/>
    <p:sldId id="751" r:id="rId194"/>
    <p:sldId id="442" r:id="rId195"/>
    <p:sldId id="441" r:id="rId196"/>
    <p:sldId id="443" r:id="rId197"/>
    <p:sldId id="444" r:id="rId198"/>
    <p:sldId id="445" r:id="rId199"/>
    <p:sldId id="446" r:id="rId200"/>
    <p:sldId id="447" r:id="rId201"/>
    <p:sldId id="753" r:id="rId202"/>
    <p:sldId id="449" r:id="rId203"/>
    <p:sldId id="450" r:id="rId204"/>
    <p:sldId id="452" r:id="rId205"/>
    <p:sldId id="453" r:id="rId206"/>
    <p:sldId id="457" r:id="rId207"/>
    <p:sldId id="459" r:id="rId208"/>
    <p:sldId id="458" r:id="rId209"/>
    <p:sldId id="460" r:id="rId210"/>
    <p:sldId id="756" r:id="rId211"/>
    <p:sldId id="461" r:id="rId212"/>
    <p:sldId id="463" r:id="rId213"/>
    <p:sldId id="464" r:id="rId214"/>
    <p:sldId id="759" r:id="rId215"/>
    <p:sldId id="760" r:id="rId216"/>
    <p:sldId id="761" r:id="rId217"/>
    <p:sldId id="762" r:id="rId218"/>
    <p:sldId id="764" r:id="rId219"/>
    <p:sldId id="763" r:id="rId220"/>
    <p:sldId id="766" r:id="rId221"/>
    <p:sldId id="765" r:id="rId222"/>
    <p:sldId id="769" r:id="rId223"/>
    <p:sldId id="770" r:id="rId224"/>
    <p:sldId id="771" r:id="rId225"/>
    <p:sldId id="467" r:id="rId226"/>
    <p:sldId id="469" r:id="rId227"/>
    <p:sldId id="773" r:id="rId228"/>
    <p:sldId id="774" r:id="rId229"/>
    <p:sldId id="859" r:id="rId230"/>
    <p:sldId id="776" r:id="rId231"/>
    <p:sldId id="777" r:id="rId232"/>
    <p:sldId id="858" r:id="rId233"/>
    <p:sldId id="778" r:id="rId234"/>
    <p:sldId id="860" r:id="rId235"/>
    <p:sldId id="474" r:id="rId236"/>
    <p:sldId id="475" r:id="rId237"/>
    <p:sldId id="476" r:id="rId238"/>
    <p:sldId id="781" r:id="rId239"/>
    <p:sldId id="782" r:id="rId240"/>
    <p:sldId id="483" r:id="rId241"/>
    <p:sldId id="485" r:id="rId242"/>
    <p:sldId id="487" r:id="rId243"/>
    <p:sldId id="488" r:id="rId244"/>
    <p:sldId id="784" r:id="rId245"/>
    <p:sldId id="785" r:id="rId246"/>
    <p:sldId id="864" r:id="rId247"/>
    <p:sldId id="527" r:id="rId248"/>
    <p:sldId id="528" r:id="rId249"/>
    <p:sldId id="529" r:id="rId250"/>
    <p:sldId id="530" r:id="rId251"/>
    <p:sldId id="531" r:id="rId252"/>
    <p:sldId id="532" r:id="rId253"/>
    <p:sldId id="533" r:id="rId254"/>
    <p:sldId id="534" r:id="rId255"/>
    <p:sldId id="786" r:id="rId256"/>
    <p:sldId id="537" r:id="rId257"/>
    <p:sldId id="539" r:id="rId258"/>
    <p:sldId id="540" r:id="rId259"/>
    <p:sldId id="541" r:id="rId260"/>
    <p:sldId id="542" r:id="rId261"/>
    <p:sldId id="789" r:id="rId262"/>
    <p:sldId id="790" r:id="rId263"/>
    <p:sldId id="791" r:id="rId264"/>
    <p:sldId id="792" r:id="rId265"/>
    <p:sldId id="545" r:id="rId266"/>
    <p:sldId id="794" r:id="rId267"/>
    <p:sldId id="548" r:id="rId268"/>
    <p:sldId id="549" r:id="rId269"/>
    <p:sldId id="550" r:id="rId270"/>
    <p:sldId id="797" r:id="rId271"/>
    <p:sldId id="796" r:id="rId272"/>
    <p:sldId id="552" r:id="rId273"/>
    <p:sldId id="553" r:id="rId274"/>
    <p:sldId id="554" r:id="rId275"/>
    <p:sldId id="800" r:id="rId276"/>
    <p:sldId id="555" r:id="rId277"/>
    <p:sldId id="865" r:id="rId278"/>
    <p:sldId id="557" r:id="rId279"/>
    <p:sldId id="558" r:id="rId280"/>
    <p:sldId id="560" r:id="rId281"/>
    <p:sldId id="561" r:id="rId282"/>
    <p:sldId id="562" r:id="rId283"/>
    <p:sldId id="563" r:id="rId284"/>
    <p:sldId id="564" r:id="rId285"/>
    <p:sldId id="565" r:id="rId286"/>
    <p:sldId id="566" r:id="rId287"/>
    <p:sldId id="868" r:id="rId288"/>
    <p:sldId id="568" r:id="rId289"/>
    <p:sldId id="569" r:id="rId290"/>
    <p:sldId id="570" r:id="rId291"/>
    <p:sldId id="572" r:id="rId292"/>
    <p:sldId id="573" r:id="rId293"/>
    <p:sldId id="574" r:id="rId294"/>
    <p:sldId id="575" r:id="rId295"/>
    <p:sldId id="866" r:id="rId296"/>
    <p:sldId id="578" r:id="rId297"/>
    <p:sldId id="579" r:id="rId298"/>
    <p:sldId id="581" r:id="rId299"/>
    <p:sldId id="582" r:id="rId300"/>
    <p:sldId id="584" r:id="rId301"/>
    <p:sldId id="583" r:id="rId302"/>
    <p:sldId id="585" r:id="rId303"/>
    <p:sldId id="805" r:id="rId304"/>
    <p:sldId id="806" r:id="rId305"/>
    <p:sldId id="588" r:id="rId306"/>
    <p:sldId id="808" r:id="rId307"/>
    <p:sldId id="809" r:id="rId308"/>
    <p:sldId id="590" r:id="rId309"/>
    <p:sldId id="592" r:id="rId310"/>
    <p:sldId id="593" r:id="rId311"/>
    <p:sldId id="810" r:id="rId312"/>
    <p:sldId id="811" r:id="rId313"/>
    <p:sldId id="812" r:id="rId314"/>
    <p:sldId id="813" r:id="rId315"/>
    <p:sldId id="814" r:id="rId316"/>
    <p:sldId id="815" r:id="rId317"/>
    <p:sldId id="816" r:id="rId318"/>
    <p:sldId id="867" r:id="rId319"/>
    <p:sldId id="817" r:id="rId320"/>
    <p:sldId id="821" r:id="rId321"/>
    <p:sldId id="820" r:id="rId322"/>
    <p:sldId id="822" r:id="rId323"/>
    <p:sldId id="823" r:id="rId324"/>
    <p:sldId id="824" r:id="rId325"/>
    <p:sldId id="826" r:id="rId326"/>
    <p:sldId id="827" r:id="rId327"/>
    <p:sldId id="828" r:id="rId328"/>
    <p:sldId id="825" r:id="rId329"/>
    <p:sldId id="829" r:id="rId330"/>
    <p:sldId id="870" r:id="rId331"/>
    <p:sldId id="830" r:id="rId332"/>
    <p:sldId id="871" r:id="rId333"/>
    <p:sldId id="831" r:id="rId334"/>
    <p:sldId id="835" r:id="rId335"/>
    <p:sldId id="833" r:id="rId336"/>
    <p:sldId id="836" r:id="rId337"/>
    <p:sldId id="834" r:id="rId338"/>
    <p:sldId id="838" r:id="rId339"/>
    <p:sldId id="839" r:id="rId340"/>
  </p:sldIdLst>
  <p:sldSz cx="9144000" cy="5143500" type="screen16x9"/>
  <p:notesSz cx="6858000" cy="9144000"/>
  <p:embeddedFontLst>
    <p:embeddedFont>
      <p:font typeface="Montserrat" panose="00000500000000000000" pitchFamily="2" charset="0"/>
      <p:regular r:id="rId342"/>
    </p:embeddedFont>
    <p:embeddedFont>
      <p:font typeface="Tahoma" panose="020B0604030504040204" pitchFamily="34" charset="0"/>
      <p:regular r:id="rId343"/>
      <p:bold r:id="rId344"/>
    </p:embeddedFont>
    <p:embeddedFont>
      <p:font typeface="黑体" panose="02010609060101010101" pitchFamily="49" charset="-122"/>
      <p:regular r:id="rId345"/>
    </p:embeddedFont>
    <p:embeddedFont>
      <p:font typeface="微软雅黑" panose="020B0503020204020204" pitchFamily="34" charset="-122"/>
      <p:regular r:id="rId346"/>
      <p:bold r:id="rId347"/>
    </p:embeddedFont>
    <p:embeddedFont>
      <p:font typeface="微软雅黑" panose="020B0503020204020204" pitchFamily="34" charset="-122"/>
      <p:regular r:id="rId346"/>
      <p:bold r:id="rId347"/>
    </p:embeddedFont>
    <p:embeddedFont>
      <p:font typeface="微软雅黑 Light" panose="020B0502040204020203" pitchFamily="34" charset="-122"/>
      <p:regular r:id="rId348"/>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46C0A"/>
    <a:srgbClr val="00B2FD"/>
    <a:srgbClr val="FFFFFF"/>
    <a:srgbClr val="00B0F0"/>
    <a:srgbClr val="CC0099"/>
    <a:srgbClr val="0000FF"/>
    <a:srgbClr val="0000CC"/>
    <a:srgbClr val="FFFF99"/>
    <a:srgbClr val="1FA3E5"/>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中度样式 2 - 强调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73A0DAA-6AF3-43AB-8588-CEC1D06C72B9}" styleName="中度样式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636" autoAdjust="0"/>
    <p:restoredTop sz="62121" autoAdjust="0"/>
  </p:normalViewPr>
  <p:slideViewPr>
    <p:cSldViewPr snapToGrid="0">
      <p:cViewPr>
        <p:scale>
          <a:sx n="140" d="100"/>
          <a:sy n="140" d="100"/>
        </p:scale>
        <p:origin x="150" y="276"/>
      </p:cViewPr>
      <p:guideLst>
        <p:guide orient="horz" pos="1620"/>
        <p:guide pos="2880"/>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slide" Target="slides/slide334.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346" Type="http://schemas.openxmlformats.org/officeDocument/2006/relationships/font" Target="fonts/font5.fntdata"/><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172" Type="http://schemas.openxmlformats.org/officeDocument/2006/relationships/slide" Target="slides/slide171.xml"/><Relationship Id="rId228" Type="http://schemas.openxmlformats.org/officeDocument/2006/relationships/slide" Target="slides/slide227.xml"/><Relationship Id="rId281" Type="http://schemas.openxmlformats.org/officeDocument/2006/relationships/slide" Target="slides/slide280.xml"/><Relationship Id="rId337" Type="http://schemas.openxmlformats.org/officeDocument/2006/relationships/slide" Target="slides/slide336.xml"/><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348" Type="http://schemas.openxmlformats.org/officeDocument/2006/relationships/font" Target="fonts/font7.fntdata"/><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261" Type="http://schemas.openxmlformats.org/officeDocument/2006/relationships/slide" Target="slides/slide260.xml"/><Relationship Id="rId14" Type="http://schemas.openxmlformats.org/officeDocument/2006/relationships/slide" Target="slides/slide13.xml"/><Relationship Id="rId56" Type="http://schemas.openxmlformats.org/officeDocument/2006/relationships/slide" Target="slides/slide55.xml"/><Relationship Id="rId317" Type="http://schemas.openxmlformats.org/officeDocument/2006/relationships/slide" Target="slides/slide316.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slide" Target="slides/slide292.xml"/><Relationship Id="rId307" Type="http://schemas.openxmlformats.org/officeDocument/2006/relationships/slide" Target="slides/slide306.xml"/><Relationship Id="rId328" Type="http://schemas.openxmlformats.org/officeDocument/2006/relationships/slide" Target="slides/slide327.xml"/><Relationship Id="rId349" Type="http://schemas.openxmlformats.org/officeDocument/2006/relationships/presProps" Target="presProps.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318" Type="http://schemas.openxmlformats.org/officeDocument/2006/relationships/slide" Target="slides/slide317.xml"/><Relationship Id="rId339" Type="http://schemas.openxmlformats.org/officeDocument/2006/relationships/slide" Target="slides/slide338.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350" Type="http://schemas.openxmlformats.org/officeDocument/2006/relationships/viewProps" Target="viewProps.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slide" Target="slides/slide293.xml"/><Relationship Id="rId308" Type="http://schemas.openxmlformats.org/officeDocument/2006/relationships/slide" Target="slides/slide307.xml"/><Relationship Id="rId329" Type="http://schemas.openxmlformats.org/officeDocument/2006/relationships/slide" Target="slides/slide328.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340" Type="http://schemas.openxmlformats.org/officeDocument/2006/relationships/slide" Target="slides/slide339.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19" Type="http://schemas.openxmlformats.org/officeDocument/2006/relationships/slide" Target="slides/slide318.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330" Type="http://schemas.openxmlformats.org/officeDocument/2006/relationships/slide" Target="slides/slide329.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351" Type="http://schemas.openxmlformats.org/officeDocument/2006/relationships/theme" Target="theme/theme1.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slide" Target="slides/slide294.xml"/><Relationship Id="rId309" Type="http://schemas.openxmlformats.org/officeDocument/2006/relationships/slide" Target="slides/slide308.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320" Type="http://schemas.openxmlformats.org/officeDocument/2006/relationships/slide" Target="slides/slide319.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341" Type="http://schemas.openxmlformats.org/officeDocument/2006/relationships/notesMaster" Target="notesMasters/notesMaster1.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310" Type="http://schemas.openxmlformats.org/officeDocument/2006/relationships/slide" Target="slides/slide309.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331" Type="http://schemas.openxmlformats.org/officeDocument/2006/relationships/slide" Target="slides/slide330.xml"/><Relationship Id="rId352" Type="http://schemas.openxmlformats.org/officeDocument/2006/relationships/tableStyles" Target="tableStyles.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slide" Target="slides/slide295.xml"/><Relationship Id="rId300" Type="http://schemas.openxmlformats.org/officeDocument/2006/relationships/slide" Target="slides/slide299.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321" Type="http://schemas.openxmlformats.org/officeDocument/2006/relationships/slide" Target="slides/slide320.xml"/><Relationship Id="rId342" Type="http://schemas.openxmlformats.org/officeDocument/2006/relationships/font" Target="fonts/font1.fntdata"/><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311" Type="http://schemas.openxmlformats.org/officeDocument/2006/relationships/slide" Target="slides/slide310.xml"/><Relationship Id="rId332" Type="http://schemas.openxmlformats.org/officeDocument/2006/relationships/slide" Target="slides/slide331.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322" Type="http://schemas.openxmlformats.org/officeDocument/2006/relationships/slide" Target="slides/slide321.xml"/><Relationship Id="rId343" Type="http://schemas.openxmlformats.org/officeDocument/2006/relationships/font" Target="fonts/font2.fntdata"/><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312" Type="http://schemas.openxmlformats.org/officeDocument/2006/relationships/slide" Target="slides/slide311.xml"/><Relationship Id="rId333" Type="http://schemas.openxmlformats.org/officeDocument/2006/relationships/slide" Target="slides/slide332.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323" Type="http://schemas.openxmlformats.org/officeDocument/2006/relationships/slide" Target="slides/slide322.xml"/><Relationship Id="rId344" Type="http://schemas.openxmlformats.org/officeDocument/2006/relationships/font" Target="fonts/font3.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slide" Target="slides/slide333.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345" Type="http://schemas.openxmlformats.org/officeDocument/2006/relationships/font" Target="fonts/font4.fntdata"/><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slide" Target="slides/slide335.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6" Type="http://schemas.openxmlformats.org/officeDocument/2006/relationships/slide" Target="slides/slide5.xml"/><Relationship Id="rId238" Type="http://schemas.openxmlformats.org/officeDocument/2006/relationships/slide" Target="slides/slide237.xml"/><Relationship Id="rId291" Type="http://schemas.openxmlformats.org/officeDocument/2006/relationships/slide" Target="slides/slide290.xml"/><Relationship Id="rId305" Type="http://schemas.openxmlformats.org/officeDocument/2006/relationships/slide" Target="slides/slide304.xml"/><Relationship Id="rId347" Type="http://schemas.openxmlformats.org/officeDocument/2006/relationships/font" Target="fonts/font6.fntdata"/><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162" Type="http://schemas.openxmlformats.org/officeDocument/2006/relationships/slide" Target="slides/slide161.xml"/><Relationship Id="rId218" Type="http://schemas.openxmlformats.org/officeDocument/2006/relationships/slide" Target="slides/slide217.xml"/><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173" Type="http://schemas.openxmlformats.org/officeDocument/2006/relationships/slide" Target="slides/slide172.xml"/><Relationship Id="rId229" Type="http://schemas.openxmlformats.org/officeDocument/2006/relationships/slide" Target="slides/slide228.xml"/><Relationship Id="rId240" Type="http://schemas.openxmlformats.org/officeDocument/2006/relationships/slide" Target="slides/slide239.xml"/><Relationship Id="rId35" Type="http://schemas.openxmlformats.org/officeDocument/2006/relationships/slide" Target="slides/slide34.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38" Type="http://schemas.openxmlformats.org/officeDocument/2006/relationships/slide" Target="slides/slide337.xml"/></Relationships>
</file>

<file path=ppt/diagrams/_rels/data12.xml.rels><?xml version="1.0" encoding="UTF-8" standalone="yes"?>
<Relationships xmlns="http://schemas.openxmlformats.org/package/2006/relationships"><Relationship Id="rId1" Type="http://schemas.openxmlformats.org/officeDocument/2006/relationships/image" Target="../media/image48.jpeg"/></Relationships>
</file>

<file path=ppt/diagrams/_rels/drawing12.xml.rels><?xml version="1.0" encoding="UTF-8" standalone="yes"?>
<Relationships xmlns="http://schemas.openxmlformats.org/package/2006/relationships"><Relationship Id="rId1" Type="http://schemas.openxmlformats.org/officeDocument/2006/relationships/image" Target="../media/image48.jpeg"/></Relationships>
</file>

<file path=ppt/diagrams/colors1.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3">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4">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5">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6">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7">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1#8">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1#9">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1#10">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1E8D4AF-C3E5-4296-8051-0B2F71547B54}" type="doc">
      <dgm:prSet loTypeId="urn:microsoft.com/office/officeart/2005/8/layout/hList1" loCatId="list" qsTypeId="urn:microsoft.com/office/officeart/2005/8/quickstyle/simple1" qsCatId="simple" csTypeId="urn:microsoft.com/office/officeart/2005/8/colors/colorful1#1" csCatId="colorful" phldr="1"/>
      <dgm:spPr/>
      <dgm:t>
        <a:bodyPr/>
        <a:lstStyle/>
        <a:p>
          <a:endParaRPr lang="zh-CN" altLang="en-US"/>
        </a:p>
      </dgm:t>
    </dgm:pt>
    <dgm:pt modelId="{1D1D2F34-C7FA-4AB6-9F6A-8ADE395C1D21}">
      <dgm:prSet phldrT="[文本]" custT="1"/>
      <dgm:spPr/>
      <dgm:t>
        <a:bodyPr/>
        <a:lstStyle/>
        <a:p>
          <a:pPr>
            <a:lnSpc>
              <a:spcPct val="100000"/>
            </a:lnSpc>
            <a:spcAft>
              <a:spcPct val="20000"/>
            </a:spcAft>
          </a:pPr>
          <a:r>
            <a:rPr lang="zh-CN" altLang="zh-CN" sz="1400" b="0" i="0" baseline="0" dirty="0">
              <a:latin typeface="Montserrat" panose="00000500000000000000" pitchFamily="2" charset="0"/>
              <a:ea typeface="微软雅黑 Light" panose="020B0502040204020203" pitchFamily="34" charset="-122"/>
            </a:rPr>
            <a:t>数据层面</a:t>
          </a:r>
          <a:endParaRPr lang="zh-CN" altLang="en-US" sz="1400" b="0" i="0" baseline="0" dirty="0">
            <a:latin typeface="Montserrat" panose="00000500000000000000" pitchFamily="2" charset="0"/>
            <a:ea typeface="微软雅黑 Light" panose="020B0502040204020203" pitchFamily="34" charset="-122"/>
          </a:endParaRPr>
        </a:p>
      </dgm:t>
    </dgm:pt>
    <dgm:pt modelId="{823E78B8-C518-42AA-B742-F63C09C24725}" type="parTrans" cxnId="{CE6B0C5F-6082-4B18-B949-9E4AAF3E153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BE6E7425-9E56-4DFD-A344-6EEBA290BBA4}" type="sibTrans" cxnId="{CE6B0C5F-6082-4B18-B949-9E4AAF3E153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935A8CA-284C-4650-9388-2F2B918FB8CE}">
      <dgm:prSet phldrT="[文本]" custT="1"/>
      <dgm:spPr>
        <a:noFill/>
      </dgm:spPr>
      <dgm:t>
        <a:bodyPr/>
        <a:lstStyle/>
        <a:p>
          <a:pPr>
            <a:lnSpc>
              <a:spcPct val="100000"/>
            </a:lnSpc>
            <a:spcAft>
              <a:spcPct val="20000"/>
            </a:spcAft>
          </a:pPr>
          <a:r>
            <a:rPr lang="zh-CN" altLang="zh-CN" sz="1400" b="0" i="0" baseline="0" dirty="0">
              <a:latin typeface="Montserrat" panose="00000500000000000000" pitchFamily="2" charset="0"/>
              <a:ea typeface="微软雅黑 Light" panose="020B0502040204020203" pitchFamily="34" charset="-122"/>
            </a:rPr>
            <a:t>路由器根据本路由器生成的</a:t>
          </a:r>
          <a:r>
            <a:rPr lang="zh-CN" altLang="zh-CN" sz="1400" b="0" i="0" baseline="0" dirty="0">
              <a:solidFill>
                <a:srgbClr val="C00000"/>
              </a:solidFill>
              <a:latin typeface="Montserrat" panose="00000500000000000000" pitchFamily="2" charset="0"/>
              <a:ea typeface="微软雅黑 Light" panose="020B0502040204020203" pitchFamily="34" charset="-122"/>
            </a:rPr>
            <a:t>转发表，</a:t>
          </a:r>
          <a:r>
            <a:rPr lang="zh-CN" altLang="zh-CN" sz="1400" b="0" i="0" baseline="0" dirty="0">
              <a:latin typeface="Montserrat" panose="00000500000000000000" pitchFamily="2" charset="0"/>
              <a:ea typeface="微软雅黑 Light" panose="020B0502040204020203" pitchFamily="34" charset="-122"/>
            </a:rPr>
            <a:t>把收到的分组从查找到的对应接口</a:t>
          </a:r>
          <a:r>
            <a:rPr lang="zh-CN" altLang="zh-CN" sz="1400" b="0" i="0" baseline="0" dirty="0">
              <a:solidFill>
                <a:srgbClr val="C00000"/>
              </a:solidFill>
              <a:latin typeface="Montserrat" panose="00000500000000000000" pitchFamily="2" charset="0"/>
              <a:ea typeface="微软雅黑 Light" panose="020B0502040204020203" pitchFamily="34" charset="-122"/>
            </a:rPr>
            <a:t>转发</a:t>
          </a:r>
          <a:r>
            <a:rPr lang="zh-CN" altLang="zh-CN" sz="1400" b="0" i="0" baseline="0" dirty="0">
              <a:latin typeface="Montserrat" panose="00000500000000000000" pitchFamily="2" charset="0"/>
              <a:ea typeface="微软雅黑 Light" panose="020B0502040204020203" pitchFamily="34" charset="-122"/>
            </a:rPr>
            <a:t>出去。</a:t>
          </a:r>
          <a:endParaRPr lang="zh-CN" altLang="en-US" sz="1400" b="0" i="0" baseline="0" dirty="0">
            <a:latin typeface="Montserrat" panose="00000500000000000000" pitchFamily="2" charset="0"/>
            <a:ea typeface="微软雅黑 Light" panose="020B0502040204020203" pitchFamily="34" charset="-122"/>
          </a:endParaRPr>
        </a:p>
      </dgm:t>
    </dgm:pt>
    <dgm:pt modelId="{1AB30E51-878D-48CF-B841-5F815E24A9C0}" type="parTrans" cxnId="{340AA356-AC5F-4D1E-8A28-B82F236B559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1A923FD5-5350-4497-8558-17F724679014}" type="sibTrans" cxnId="{340AA356-AC5F-4D1E-8A28-B82F236B559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3094E70-DBBD-4776-8255-CA53223AA920}">
      <dgm:prSet custT="1"/>
      <dgm:spPr>
        <a:noFill/>
      </dgm:spPr>
      <dgm:t>
        <a:bodyPr/>
        <a:lstStyle/>
        <a:p>
          <a:r>
            <a:rPr lang="zh-CN" altLang="en-US" sz="1400" b="0" i="0" baseline="0" dirty="0">
              <a:solidFill>
                <a:srgbClr val="C00000"/>
              </a:solidFill>
              <a:latin typeface="Montserrat" panose="00000500000000000000" pitchFamily="2" charset="0"/>
              <a:ea typeface="微软雅黑 Light" panose="020B0502040204020203" pitchFamily="34" charset="-122"/>
            </a:rPr>
            <a:t>独立</a:t>
          </a:r>
          <a:r>
            <a:rPr lang="zh-CN" altLang="en-US" sz="1400" b="0" i="0" baseline="0" dirty="0">
              <a:latin typeface="Montserrat" panose="00000500000000000000" pitchFamily="2" charset="0"/>
              <a:ea typeface="微软雅黑 Light" panose="020B0502040204020203" pitchFamily="34" charset="-122"/>
            </a:rPr>
            <a:t>工作。</a:t>
          </a:r>
        </a:p>
      </dgm:t>
    </dgm:pt>
    <dgm:pt modelId="{519E4824-498E-46FA-B960-A44A0D038680}" type="parTrans" cxnId="{E3296F2A-0B4D-464F-ADA8-C6964557947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FD2573C-C2DF-4E9E-9FD2-0B5C268A3B0B}" type="sibTrans" cxnId="{E3296F2A-0B4D-464F-ADA8-C6964557947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DD6D6094-BAB0-4C98-83EB-DBC53F380A53}">
      <dgm:prSet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采用</a:t>
          </a:r>
          <a:r>
            <a:rPr lang="zh-CN" altLang="en-US" sz="1400" b="0" i="0" baseline="0" dirty="0">
              <a:solidFill>
                <a:srgbClr val="C00000"/>
              </a:solidFill>
              <a:latin typeface="Montserrat" panose="00000500000000000000" pitchFamily="2" charset="0"/>
              <a:ea typeface="微软雅黑 Light" panose="020B0502040204020203" pitchFamily="34" charset="-122"/>
            </a:rPr>
            <a:t>硬件</a:t>
          </a:r>
          <a:r>
            <a:rPr lang="zh-CN" altLang="en-US" sz="1400" b="0" i="0" baseline="0" dirty="0">
              <a:latin typeface="Montserrat" panose="00000500000000000000" pitchFamily="2" charset="0"/>
              <a:ea typeface="微软雅黑 Light" panose="020B0502040204020203" pitchFamily="34" charset="-122"/>
            </a:rPr>
            <a:t>进行转发，快。</a:t>
          </a:r>
        </a:p>
      </dgm:t>
    </dgm:pt>
    <dgm:pt modelId="{BA84FEF6-F368-4443-A62A-421A69C3F6D5}" type="parTrans" cxnId="{8732565D-506C-432B-ACAC-ABE3104AEA0E}">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914780BD-0098-4867-BFF3-65E2D0EAC974}" type="sibTrans" cxnId="{8732565D-506C-432B-ACAC-ABE3104AEA0E}">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1A85F913-0EA5-4E0C-AC2C-65AE114C5338}">
      <dgm:prSet phldrT="[文本]" custT="1"/>
      <dgm:spPr>
        <a:solidFill>
          <a:srgbClr val="00B050"/>
        </a:solidFill>
        <a:ln>
          <a:solidFill>
            <a:srgbClr val="00B050"/>
          </a:solidFill>
        </a:ln>
      </dgm:spPr>
      <dgm:t>
        <a:bodyPr/>
        <a:lstStyle/>
        <a:p>
          <a:r>
            <a:rPr lang="zh-CN" altLang="en-US" sz="1400" b="0" i="0" baseline="0" dirty="0">
              <a:latin typeface="Montserrat" panose="00000500000000000000" pitchFamily="2" charset="0"/>
              <a:ea typeface="微软雅黑 Light" panose="020B0502040204020203" pitchFamily="34" charset="-122"/>
            </a:rPr>
            <a:t>控制层面</a:t>
          </a:r>
        </a:p>
      </dgm:t>
    </dgm:pt>
    <dgm:pt modelId="{044010CB-C44F-465A-8995-A6613AF5FDF8}" type="parTrans" cxnId="{6EB5599E-5ED8-420E-9A24-7B10512E8346}">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BDA74EC5-1F01-4178-B3C1-EC48A63056F9}" type="sibTrans" cxnId="{6EB5599E-5ED8-420E-9A24-7B10512E8346}">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AC39144C-C5C3-4F40-9875-92D77BDC146E}">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根据路由选择协议所用的路由算法</a:t>
          </a:r>
          <a:r>
            <a:rPr lang="zh-CN" altLang="en-US" sz="1400" b="0" i="0" baseline="0" dirty="0">
              <a:solidFill>
                <a:srgbClr val="C00000"/>
              </a:solidFill>
              <a:latin typeface="Montserrat" panose="00000500000000000000" pitchFamily="2" charset="0"/>
              <a:ea typeface="微软雅黑 Light" panose="020B0502040204020203" pitchFamily="34" charset="-122"/>
            </a:rPr>
            <a:t>计算路由，</a:t>
          </a:r>
          <a:r>
            <a:rPr lang="zh-CN" altLang="en-US" sz="1400" b="0" i="0" baseline="0" dirty="0">
              <a:latin typeface="Montserrat" panose="00000500000000000000" pitchFamily="2" charset="0"/>
              <a:ea typeface="微软雅黑 Light" panose="020B0502040204020203" pitchFamily="34" charset="-122"/>
            </a:rPr>
            <a:t>创建出本路由器的</a:t>
          </a:r>
          <a:r>
            <a:rPr lang="zh-CN" altLang="en-US" sz="1400" b="0" i="0" baseline="0" dirty="0">
              <a:solidFill>
                <a:srgbClr val="C00000"/>
              </a:solidFill>
              <a:latin typeface="Montserrat" panose="00000500000000000000" pitchFamily="2" charset="0"/>
              <a:ea typeface="微软雅黑 Light" panose="020B0502040204020203" pitchFamily="34" charset="-122"/>
            </a:rPr>
            <a:t>路由表。</a:t>
          </a:r>
        </a:p>
      </dgm:t>
    </dgm:pt>
    <dgm:pt modelId="{24887F04-A30C-4082-B81F-D5BF30CB8D4C}" type="parTrans" cxnId="{59C54F2B-F071-456B-AD40-08EE23AFC6C1}">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0DDD565A-D754-4AF0-89A1-0FC5777271DE}" type="sibTrans" cxnId="{59C54F2B-F071-456B-AD40-08EE23AFC6C1}">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24FFE58-99DC-49F4-BD07-88A42CC55D35}">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许多路由器</a:t>
          </a:r>
          <a:r>
            <a:rPr lang="zh-CN" altLang="en-US" sz="1400" b="0" i="0" baseline="0" dirty="0">
              <a:solidFill>
                <a:srgbClr val="C00000"/>
              </a:solidFill>
              <a:latin typeface="Montserrat" panose="00000500000000000000" pitchFamily="2" charset="0"/>
              <a:ea typeface="微软雅黑 Light" panose="020B0502040204020203" pitchFamily="34" charset="-122"/>
            </a:rPr>
            <a:t>协同</a:t>
          </a:r>
          <a:r>
            <a:rPr lang="zh-CN" altLang="en-US" sz="1400" b="0" i="0" baseline="0" dirty="0">
              <a:latin typeface="Montserrat" panose="00000500000000000000" pitchFamily="2" charset="0"/>
              <a:ea typeface="微软雅黑 Light" panose="020B0502040204020203" pitchFamily="34" charset="-122"/>
            </a:rPr>
            <a:t>动作。</a:t>
          </a:r>
        </a:p>
      </dgm:t>
    </dgm:pt>
    <dgm:pt modelId="{EC5618CD-EDB7-44AB-9D3C-01FBC3B8045B}" type="parTrans" cxnId="{7F44E923-64EB-40DB-8E31-44887494718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6B4C0358-26D5-43CD-8563-ABEAE90D2FE6}" type="sibTrans" cxnId="{7F44E923-64EB-40DB-8E31-44887494718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2B15F2D-10F5-4986-91D4-C249C1200BE1}">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采用</a:t>
          </a:r>
          <a:r>
            <a:rPr lang="zh-CN" altLang="en-US" sz="1400" b="0" i="0" baseline="0" dirty="0">
              <a:solidFill>
                <a:srgbClr val="C00000"/>
              </a:solidFill>
              <a:latin typeface="Montserrat" panose="00000500000000000000" pitchFamily="2" charset="0"/>
              <a:ea typeface="微软雅黑 Light" panose="020B0502040204020203" pitchFamily="34" charset="-122"/>
            </a:rPr>
            <a:t>软件</a:t>
          </a:r>
          <a:r>
            <a:rPr lang="zh-CN" altLang="en-US" sz="1400" b="0" i="0" baseline="0" dirty="0">
              <a:latin typeface="Montserrat" panose="00000500000000000000" pitchFamily="2" charset="0"/>
              <a:ea typeface="微软雅黑 Light" panose="020B0502040204020203" pitchFamily="34" charset="-122"/>
            </a:rPr>
            <a:t>计算，慢。</a:t>
          </a:r>
        </a:p>
      </dgm:t>
    </dgm:pt>
    <dgm:pt modelId="{AB667672-D58D-44C0-8FE5-830A6B9B985B}" type="parTrans" cxnId="{784290CC-CD04-4279-9A28-8FD964E53255}">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CB3B0CF4-6C17-4712-8651-5214F31C3FF1}" type="sibTrans" cxnId="{784290CC-CD04-4279-9A28-8FD964E53255}">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E48A649-0DD6-4F1D-93E8-6C982A947BD7}" type="pres">
      <dgm:prSet presAssocID="{11E8D4AF-C3E5-4296-8051-0B2F71547B54}" presName="Name0" presStyleCnt="0">
        <dgm:presLayoutVars>
          <dgm:dir/>
          <dgm:animLvl val="lvl"/>
          <dgm:resizeHandles val="exact"/>
        </dgm:presLayoutVars>
      </dgm:prSet>
      <dgm:spPr/>
    </dgm:pt>
    <dgm:pt modelId="{B28DF133-4854-4981-9BB6-D542959CBDA5}" type="pres">
      <dgm:prSet presAssocID="{1D1D2F34-C7FA-4AB6-9F6A-8ADE395C1D21}" presName="composite" presStyleCnt="0"/>
      <dgm:spPr/>
    </dgm:pt>
    <dgm:pt modelId="{F0ADD619-6503-4051-9BF1-B84DDC798B9B}" type="pres">
      <dgm:prSet presAssocID="{1D1D2F34-C7FA-4AB6-9F6A-8ADE395C1D21}" presName="parTx" presStyleLbl="alignNode1" presStyleIdx="0" presStyleCnt="2">
        <dgm:presLayoutVars>
          <dgm:chMax val="0"/>
          <dgm:chPref val="0"/>
          <dgm:bulletEnabled val="1"/>
        </dgm:presLayoutVars>
      </dgm:prSet>
      <dgm:spPr/>
    </dgm:pt>
    <dgm:pt modelId="{69218C7D-A5C6-4BB9-B753-14FB4AB3733E}" type="pres">
      <dgm:prSet presAssocID="{1D1D2F34-C7FA-4AB6-9F6A-8ADE395C1D21}" presName="desTx" presStyleLbl="alignAccFollowNode1" presStyleIdx="0" presStyleCnt="2">
        <dgm:presLayoutVars>
          <dgm:bulletEnabled val="1"/>
        </dgm:presLayoutVars>
      </dgm:prSet>
      <dgm:spPr/>
    </dgm:pt>
    <dgm:pt modelId="{9CBB12D9-64BD-442A-BFBE-793FC1095AAD}" type="pres">
      <dgm:prSet presAssocID="{BE6E7425-9E56-4DFD-A344-6EEBA290BBA4}" presName="space" presStyleCnt="0"/>
      <dgm:spPr/>
    </dgm:pt>
    <dgm:pt modelId="{4C08A01E-0597-4B94-979E-9E7D393729A0}" type="pres">
      <dgm:prSet presAssocID="{1A85F913-0EA5-4E0C-AC2C-65AE114C5338}" presName="composite" presStyleCnt="0"/>
      <dgm:spPr/>
    </dgm:pt>
    <dgm:pt modelId="{A287357E-4392-4759-BB71-D2529A5E730A}" type="pres">
      <dgm:prSet presAssocID="{1A85F913-0EA5-4E0C-AC2C-65AE114C5338}" presName="parTx" presStyleLbl="alignNode1" presStyleIdx="1" presStyleCnt="2">
        <dgm:presLayoutVars>
          <dgm:chMax val="0"/>
          <dgm:chPref val="0"/>
          <dgm:bulletEnabled val="1"/>
        </dgm:presLayoutVars>
      </dgm:prSet>
      <dgm:spPr/>
    </dgm:pt>
    <dgm:pt modelId="{7E31D2C3-38FE-46A6-9137-AC78999E4E2D}" type="pres">
      <dgm:prSet presAssocID="{1A85F913-0EA5-4E0C-AC2C-65AE114C5338}" presName="desTx" presStyleLbl="alignAccFollowNode1" presStyleIdx="1" presStyleCnt="2">
        <dgm:presLayoutVars>
          <dgm:bulletEnabled val="1"/>
        </dgm:presLayoutVars>
      </dgm:prSet>
      <dgm:spPr/>
    </dgm:pt>
  </dgm:ptLst>
  <dgm:cxnLst>
    <dgm:cxn modelId="{68ED4107-A4A0-40FD-B7C6-20EAEC332C35}" type="presOf" srcId="{1D1D2F34-C7FA-4AB6-9F6A-8ADE395C1D21}" destId="{F0ADD619-6503-4051-9BF1-B84DDC798B9B}" srcOrd="0" destOrd="0" presId="urn:microsoft.com/office/officeart/2005/8/layout/hList1"/>
    <dgm:cxn modelId="{7F44E923-64EB-40DB-8E31-448874947188}" srcId="{1A85F913-0EA5-4E0C-AC2C-65AE114C5338}" destId="{324FFE58-99DC-49F4-BD07-88A42CC55D35}" srcOrd="1" destOrd="0" parTransId="{EC5618CD-EDB7-44AB-9D3C-01FBC3B8045B}" sibTransId="{6B4C0358-26D5-43CD-8563-ABEAE90D2FE6}"/>
    <dgm:cxn modelId="{E3296F2A-0B4D-464F-ADA8-C69645579478}" srcId="{1D1D2F34-C7FA-4AB6-9F6A-8ADE395C1D21}" destId="{E3094E70-DBBD-4776-8255-CA53223AA920}" srcOrd="1" destOrd="0" parTransId="{519E4824-498E-46FA-B960-A44A0D038680}" sibTransId="{3FD2573C-C2DF-4E9E-9FD2-0B5C268A3B0B}"/>
    <dgm:cxn modelId="{59C54F2B-F071-456B-AD40-08EE23AFC6C1}" srcId="{1A85F913-0EA5-4E0C-AC2C-65AE114C5338}" destId="{AC39144C-C5C3-4F40-9875-92D77BDC146E}" srcOrd="0" destOrd="0" parTransId="{24887F04-A30C-4082-B81F-D5BF30CB8D4C}" sibTransId="{0DDD565A-D754-4AF0-89A1-0FC5777271DE}"/>
    <dgm:cxn modelId="{8732565D-506C-432B-ACAC-ABE3104AEA0E}" srcId="{1D1D2F34-C7FA-4AB6-9F6A-8ADE395C1D21}" destId="{DD6D6094-BAB0-4C98-83EB-DBC53F380A53}" srcOrd="2" destOrd="0" parTransId="{BA84FEF6-F368-4443-A62A-421A69C3F6D5}" sibTransId="{914780BD-0098-4867-BFF3-65E2D0EAC974}"/>
    <dgm:cxn modelId="{CE6B0C5F-6082-4B18-B949-9E4AAF3E1530}" srcId="{11E8D4AF-C3E5-4296-8051-0B2F71547B54}" destId="{1D1D2F34-C7FA-4AB6-9F6A-8ADE395C1D21}" srcOrd="0" destOrd="0" parTransId="{823E78B8-C518-42AA-B742-F63C09C24725}" sibTransId="{BE6E7425-9E56-4DFD-A344-6EEBA290BBA4}"/>
    <dgm:cxn modelId="{74C21C63-665B-4014-9397-578CE4D11045}" type="presOf" srcId="{AC39144C-C5C3-4F40-9875-92D77BDC146E}" destId="{7E31D2C3-38FE-46A6-9137-AC78999E4E2D}" srcOrd="0" destOrd="0" presId="urn:microsoft.com/office/officeart/2005/8/layout/hList1"/>
    <dgm:cxn modelId="{BCE37D64-0EA8-453C-B3DB-9FBA46E1E2C3}" type="presOf" srcId="{DD6D6094-BAB0-4C98-83EB-DBC53F380A53}" destId="{69218C7D-A5C6-4BB9-B753-14FB4AB3733E}" srcOrd="0" destOrd="2" presId="urn:microsoft.com/office/officeart/2005/8/layout/hList1"/>
    <dgm:cxn modelId="{303CD875-476B-43CE-9AA5-8659E08FB972}" type="presOf" srcId="{E3094E70-DBBD-4776-8255-CA53223AA920}" destId="{69218C7D-A5C6-4BB9-B753-14FB4AB3733E}" srcOrd="0" destOrd="1" presId="urn:microsoft.com/office/officeart/2005/8/layout/hList1"/>
    <dgm:cxn modelId="{340AA356-AC5F-4D1E-8A28-B82F236B5590}" srcId="{1D1D2F34-C7FA-4AB6-9F6A-8ADE395C1D21}" destId="{3935A8CA-284C-4650-9388-2F2B918FB8CE}" srcOrd="0" destOrd="0" parTransId="{1AB30E51-878D-48CF-B841-5F815E24A9C0}" sibTransId="{1A923FD5-5350-4497-8558-17F724679014}"/>
    <dgm:cxn modelId="{C9911E91-049F-48F9-A921-1B771DC8B53F}" type="presOf" srcId="{11E8D4AF-C3E5-4296-8051-0B2F71547B54}" destId="{EE48A649-0DD6-4F1D-93E8-6C982A947BD7}" srcOrd="0" destOrd="0" presId="urn:microsoft.com/office/officeart/2005/8/layout/hList1"/>
    <dgm:cxn modelId="{09E8149B-E51F-461A-BA48-6F85A1FD3BFE}" type="presOf" srcId="{1A85F913-0EA5-4E0C-AC2C-65AE114C5338}" destId="{A287357E-4392-4759-BB71-D2529A5E730A}" srcOrd="0" destOrd="0" presId="urn:microsoft.com/office/officeart/2005/8/layout/hList1"/>
    <dgm:cxn modelId="{6EB5599E-5ED8-420E-9A24-7B10512E8346}" srcId="{11E8D4AF-C3E5-4296-8051-0B2F71547B54}" destId="{1A85F913-0EA5-4E0C-AC2C-65AE114C5338}" srcOrd="1" destOrd="0" parTransId="{044010CB-C44F-465A-8995-A6613AF5FDF8}" sibTransId="{BDA74EC5-1F01-4178-B3C1-EC48A63056F9}"/>
    <dgm:cxn modelId="{99614EC0-1431-4859-B338-77C3D22C3CB6}" type="presOf" srcId="{324FFE58-99DC-49F4-BD07-88A42CC55D35}" destId="{7E31D2C3-38FE-46A6-9137-AC78999E4E2D}" srcOrd="0" destOrd="1" presId="urn:microsoft.com/office/officeart/2005/8/layout/hList1"/>
    <dgm:cxn modelId="{784290CC-CD04-4279-9A28-8FD964E53255}" srcId="{1A85F913-0EA5-4E0C-AC2C-65AE114C5338}" destId="{E2B15F2D-10F5-4986-91D4-C249C1200BE1}" srcOrd="2" destOrd="0" parTransId="{AB667672-D58D-44C0-8FE5-830A6B9B985B}" sibTransId="{CB3B0CF4-6C17-4712-8651-5214F31C3FF1}"/>
    <dgm:cxn modelId="{FE1683E1-5CB8-4AA4-9EBE-B0B779C98F7F}" type="presOf" srcId="{3935A8CA-284C-4650-9388-2F2B918FB8CE}" destId="{69218C7D-A5C6-4BB9-B753-14FB4AB3733E}" srcOrd="0" destOrd="0" presId="urn:microsoft.com/office/officeart/2005/8/layout/hList1"/>
    <dgm:cxn modelId="{21248BFD-EEA5-4ED6-982F-0807B63BBDE0}" type="presOf" srcId="{E2B15F2D-10F5-4986-91D4-C249C1200BE1}" destId="{7E31D2C3-38FE-46A6-9137-AC78999E4E2D}" srcOrd="0" destOrd="2" presId="urn:microsoft.com/office/officeart/2005/8/layout/hList1"/>
    <dgm:cxn modelId="{90CE0658-75FE-4C9E-88A7-78A480232D83}" type="presParOf" srcId="{EE48A649-0DD6-4F1D-93E8-6C982A947BD7}" destId="{B28DF133-4854-4981-9BB6-D542959CBDA5}" srcOrd="0" destOrd="0" presId="urn:microsoft.com/office/officeart/2005/8/layout/hList1"/>
    <dgm:cxn modelId="{B45988E4-3786-4765-A83B-7F2845E38586}" type="presParOf" srcId="{B28DF133-4854-4981-9BB6-D542959CBDA5}" destId="{F0ADD619-6503-4051-9BF1-B84DDC798B9B}" srcOrd="0" destOrd="0" presId="urn:microsoft.com/office/officeart/2005/8/layout/hList1"/>
    <dgm:cxn modelId="{7C0CE279-B0A9-4382-B241-7416FBE5F562}" type="presParOf" srcId="{B28DF133-4854-4981-9BB6-D542959CBDA5}" destId="{69218C7D-A5C6-4BB9-B753-14FB4AB3733E}" srcOrd="1" destOrd="0" presId="urn:microsoft.com/office/officeart/2005/8/layout/hList1"/>
    <dgm:cxn modelId="{67E0BF8B-34DA-4327-B54B-C7DA069B0CBE}" type="presParOf" srcId="{EE48A649-0DD6-4F1D-93E8-6C982A947BD7}" destId="{9CBB12D9-64BD-442A-BFBE-793FC1095AAD}" srcOrd="1" destOrd="0" presId="urn:microsoft.com/office/officeart/2005/8/layout/hList1"/>
    <dgm:cxn modelId="{EC750223-E97A-4055-9C12-B9F787607EC9}" type="presParOf" srcId="{EE48A649-0DD6-4F1D-93E8-6C982A947BD7}" destId="{4C08A01E-0597-4B94-979E-9E7D393729A0}" srcOrd="2" destOrd="0" presId="urn:microsoft.com/office/officeart/2005/8/layout/hList1"/>
    <dgm:cxn modelId="{92399829-C69C-40F5-8473-AAB4A324EF2E}" type="presParOf" srcId="{4C08A01E-0597-4B94-979E-9E7D393729A0}" destId="{A287357E-4392-4759-BB71-D2529A5E730A}" srcOrd="0" destOrd="0" presId="urn:microsoft.com/office/officeart/2005/8/layout/hList1"/>
    <dgm:cxn modelId="{BBDDCC96-26D3-400B-B7AB-5E994742ECB6}" type="presParOf" srcId="{4C08A01E-0597-4B94-979E-9E7D393729A0}" destId="{7E31D2C3-38FE-46A6-9137-AC78999E4E2D}"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ata2.xml><?xml version="1.0" encoding="utf-8"?>
<dgm:dataModel xmlns:dgm="http://schemas.openxmlformats.org/drawingml/2006/diagram" xmlns:a="http://schemas.openxmlformats.org/drawingml/2006/main">
  <dgm:ptLst>
    <dgm:pt modelId="{5A4DFC9D-11E0-4B97-9CB8-CB29870A3A87}" type="doc">
      <dgm:prSet loTypeId="urn:microsoft.com/office/officeart/2005/8/layout/default#1" loCatId="list" qsTypeId="urn:microsoft.com/office/officeart/2005/8/quickstyle/simple4" qsCatId="simple" csTypeId="urn:microsoft.com/office/officeart/2005/8/colors/colorful1#2" csCatId="colorful" phldr="1"/>
      <dgm:spPr/>
      <dgm:t>
        <a:bodyPr/>
        <a:lstStyle/>
        <a:p>
          <a:endParaRPr lang="zh-CN" altLang="en-US"/>
        </a:p>
      </dgm:t>
    </dgm:pt>
    <dgm:pt modelId="{E7EC3F5A-6FF5-4DAC-B7A7-62451E4288C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寻址方案</a:t>
          </a:r>
        </a:p>
      </dgm:t>
    </dgm:pt>
    <dgm:pt modelId="{C2D8A5DA-E5F7-449B-BAF1-6ACE8D37675E}" type="parTrans" cxnId="{95FE29FD-D14D-4489-B8E6-5C865BDAA8B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15571704-FBB1-4619-9716-EEC3A6EB88BE}" type="sibTrans" cxnId="{95FE29FD-D14D-4489-B8E6-5C865BDAA8B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738ED65A-AD96-4E5D-8658-FBC8032CA84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最大分组长度</a:t>
          </a:r>
        </a:p>
      </dgm:t>
    </dgm:pt>
    <dgm:pt modelId="{AA519882-9FF2-44E4-BDFE-61E8CCE8F6CD}" type="parTrans" cxnId="{D4ED029F-4144-4304-9546-CBEE30045520}">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568D5BD-9789-4855-AD1F-74E644C2853C}" type="sibTrans" cxnId="{D4ED029F-4144-4304-9546-CBEE30045520}">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343367E-6E0B-4D87-B42B-7BE9D32DBFB4}">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网络接入机制</a:t>
          </a:r>
        </a:p>
      </dgm:t>
    </dgm:pt>
    <dgm:pt modelId="{4707B6D6-66D1-43F8-9303-973EBBD6E514}" type="parTrans" cxnId="{4A243FFA-DBAF-4962-844F-48832D36811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0314ED14-9B56-4888-B408-DE6DFF861303}" type="sibTrans" cxnId="{4A243FFA-DBAF-4962-844F-48832D36811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7315578-E9A5-4134-B4A7-7D5BB6B07A6B}">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超时控制</a:t>
          </a:r>
        </a:p>
      </dgm:t>
    </dgm:pt>
    <dgm:pt modelId="{DE491F9E-7A51-45A3-837D-65396046329A}" type="parTrans" cxnId="{ECA30F4A-CF0A-4A67-99E4-488D44DDE982}">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553A5501-4DCA-43DB-8116-18230E569107}" type="sibTrans" cxnId="{ECA30F4A-CF0A-4A67-99E4-488D44DDE982}">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DE28F121-BA13-471C-A5FD-6C3525B4C1F7}">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差错恢复方法</a:t>
          </a:r>
        </a:p>
      </dgm:t>
    </dgm:pt>
    <dgm:pt modelId="{17042EB1-E666-4CFF-9C87-76C132D1B670}" type="parTrans" cxnId="{796988C0-8389-4954-96BB-383FDDE39E0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315D7A90-A1A0-453A-AF08-FC8444C88A25}" type="sibTrans" cxnId="{796988C0-8389-4954-96BB-383FDDE39E0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544A325-35B2-4DD5-9E7C-FA6BF05D8D51}">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状态报告方法</a:t>
          </a:r>
        </a:p>
      </dgm:t>
    </dgm:pt>
    <dgm:pt modelId="{BAA594F8-64A3-421B-B23E-46A3F9539157}" type="parTrans" cxnId="{37477746-43FA-4261-B4EE-1D76B566CEE3}">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6EEDF51-E5C4-4A5A-B013-06480DEF4436}" type="sibTrans" cxnId="{37477746-43FA-4261-B4EE-1D76B566CEE3}">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D94133B-61DA-4A34-A60F-0215265606B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用户接入控制</a:t>
          </a:r>
        </a:p>
      </dgm:t>
    </dgm:pt>
    <dgm:pt modelId="{29BACC2F-1438-406C-B1DC-2467396250CC}" type="parTrans" cxnId="{16E5146B-C006-4348-BAE1-0BBDA98A244C}">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A1DE52F-E845-4F08-AE5B-2B61D7C98B10}" type="sibTrans" cxnId="{16E5146B-C006-4348-BAE1-0BBDA98A244C}">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5C62CC07-8E06-4331-9E1A-9E7E663FD606}">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服务</a:t>
          </a:r>
        </a:p>
      </dgm:t>
    </dgm:pt>
    <dgm:pt modelId="{4D910CA0-0059-4CDF-8C89-C2BB2D2FE887}" type="parTrans" cxnId="{0D77A834-D62C-4120-8FCA-AD23E07BD22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085D55FC-2327-4CD6-95B6-439CA0F69403}" type="sibTrans" cxnId="{0D77A834-D62C-4120-8FCA-AD23E07BD22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41BAA9D-8539-4543-AF49-271CCD9C81AD}">
      <dgm:prSet phldrT="[文本]" custT="1"/>
      <dgm:spPr/>
      <dgm:t>
        <a:bodyPr/>
        <a:lstStyle/>
        <a:p>
          <a:pPr>
            <a:lnSpc>
              <a:spcPct val="50000"/>
            </a:lnSpc>
          </a:pPr>
          <a:r>
            <a:rPr lang="zh-CN" altLang="en-US" sz="1200" b="0" dirty="0">
              <a:latin typeface="微软雅黑 Light" panose="020B0502040204020203" pitchFamily="34" charset="-122"/>
              <a:ea typeface="微软雅黑 Light" panose="020B0502040204020203" pitchFamily="34" charset="-122"/>
            </a:rPr>
            <a:t>管理与</a:t>
          </a:r>
          <a:endParaRPr lang="en-US" altLang="zh-CN" sz="1200" b="0" dirty="0">
            <a:latin typeface="微软雅黑 Light" panose="020B0502040204020203" pitchFamily="34" charset="-122"/>
            <a:ea typeface="微软雅黑 Light" panose="020B0502040204020203" pitchFamily="34" charset="-122"/>
          </a:endParaRPr>
        </a:p>
        <a:p>
          <a:pPr>
            <a:lnSpc>
              <a:spcPct val="50000"/>
            </a:lnSpc>
          </a:pPr>
          <a:r>
            <a:rPr lang="zh-CN" altLang="en-US" sz="1200" b="0" dirty="0">
              <a:latin typeface="微软雅黑 Light" panose="020B0502040204020203" pitchFamily="34" charset="-122"/>
              <a:ea typeface="微软雅黑 Light" panose="020B0502040204020203" pitchFamily="34" charset="-122"/>
            </a:rPr>
            <a:t>控制方式</a:t>
          </a:r>
        </a:p>
      </dgm:t>
    </dgm:pt>
    <dgm:pt modelId="{6C939C71-D724-46F7-8A4F-A608FC064EB2}" type="parTrans" cxnId="{4538BD2D-F2C0-44AB-BAC0-642284A062B5}">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D0329EB-9064-4776-BEA3-A9FC5CEB0AC7}" type="sibTrans" cxnId="{4538BD2D-F2C0-44AB-BAC0-642284A062B5}">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8D508C0-6951-4B36-B9EC-720624817380}">
      <dgm:prSet custT="1"/>
      <dgm:spPr/>
      <dgm:t>
        <a:bodyPr/>
        <a:lstStyle/>
        <a:p>
          <a:r>
            <a:rPr lang="zh-CN" altLang="en-US" sz="1200" b="0" dirty="0">
              <a:latin typeface="微软雅黑 Light" panose="020B0502040204020203" pitchFamily="34" charset="-122"/>
              <a:ea typeface="微软雅黑 Light" panose="020B0502040204020203" pitchFamily="34" charset="-122"/>
            </a:rPr>
            <a:t>路由选择技术</a:t>
          </a:r>
        </a:p>
      </dgm:t>
    </dgm:pt>
    <dgm:pt modelId="{16B9E4BC-6FBE-49FE-9E54-55818D5A7EE9}" type="parTrans" cxnId="{6C08C3F8-3A1B-4934-9B40-7F04A9AE587E}">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92259BB0-9CE6-40B9-B8B6-7AC53350A293}" type="sibTrans" cxnId="{6C08C3F8-3A1B-4934-9B40-7F04A9AE587E}">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B759697-8CF0-4E48-9BAE-6E469FC93B90}">
      <dgm:prSet phldrT="[文本]" custT="1"/>
      <dgm:spPr/>
      <dgm:t>
        <a:bodyPr/>
        <a:lstStyle/>
        <a:p>
          <a:pPr>
            <a:lnSpc>
              <a:spcPct val="50000"/>
            </a:lnSpc>
          </a:pPr>
          <a:r>
            <a:rPr lang="en-US" altLang="zh-CN" sz="1200" b="0" dirty="0">
              <a:latin typeface="微软雅黑 Light" panose="020B0502040204020203" pitchFamily="34" charset="-122"/>
              <a:ea typeface="微软雅黑 Light" panose="020B0502040204020203" pitchFamily="34" charset="-122"/>
            </a:rPr>
            <a:t>……</a:t>
          </a:r>
          <a:endParaRPr lang="zh-CN" altLang="en-US" sz="1200" b="0" dirty="0">
            <a:latin typeface="微软雅黑 Light" panose="020B0502040204020203" pitchFamily="34" charset="-122"/>
            <a:ea typeface="微软雅黑 Light" panose="020B0502040204020203" pitchFamily="34" charset="-122"/>
          </a:endParaRPr>
        </a:p>
      </dgm:t>
    </dgm:pt>
    <dgm:pt modelId="{39C62AFE-22B8-443E-84C9-E27900DEF995}" type="parTrans" cxnId="{6EFBE5DA-FEA5-485E-8659-0DEF4B626CDB}">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DE9F9152-4665-44BF-88DA-2F8D11A40C6C}" type="sibTrans" cxnId="{6EFBE5DA-FEA5-485E-8659-0DEF4B626CDB}">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FD459526-A632-4165-84F0-DD4D44069092}" type="pres">
      <dgm:prSet presAssocID="{5A4DFC9D-11E0-4B97-9CB8-CB29870A3A87}" presName="diagram" presStyleCnt="0">
        <dgm:presLayoutVars>
          <dgm:dir/>
          <dgm:resizeHandles val="exact"/>
        </dgm:presLayoutVars>
      </dgm:prSet>
      <dgm:spPr/>
    </dgm:pt>
    <dgm:pt modelId="{4594C686-F253-4728-84C9-151C8028A3AE}" type="pres">
      <dgm:prSet presAssocID="{E7EC3F5A-6FF5-4DAC-B7A7-62451E4288C9}" presName="node" presStyleLbl="node1" presStyleIdx="0" presStyleCnt="11">
        <dgm:presLayoutVars>
          <dgm:bulletEnabled val="1"/>
        </dgm:presLayoutVars>
      </dgm:prSet>
      <dgm:spPr/>
    </dgm:pt>
    <dgm:pt modelId="{74539D1F-B807-430C-900E-CCC66E3F54E5}" type="pres">
      <dgm:prSet presAssocID="{15571704-FBB1-4619-9716-EEC3A6EB88BE}" presName="sibTrans" presStyleCnt="0"/>
      <dgm:spPr/>
    </dgm:pt>
    <dgm:pt modelId="{AAE6C2CE-B907-473D-B42E-74641FA2C01B}" type="pres">
      <dgm:prSet presAssocID="{738ED65A-AD96-4E5D-8658-FBC8032CA849}" presName="node" presStyleLbl="node1" presStyleIdx="1" presStyleCnt="11">
        <dgm:presLayoutVars>
          <dgm:bulletEnabled val="1"/>
        </dgm:presLayoutVars>
      </dgm:prSet>
      <dgm:spPr/>
    </dgm:pt>
    <dgm:pt modelId="{F0517EBC-8DC0-46F5-A141-0876ABB2AF94}" type="pres">
      <dgm:prSet presAssocID="{C568D5BD-9789-4855-AD1F-74E644C2853C}" presName="sibTrans" presStyleCnt="0"/>
      <dgm:spPr/>
    </dgm:pt>
    <dgm:pt modelId="{11150468-1E0C-461E-B081-3E871826CD6E}" type="pres">
      <dgm:prSet presAssocID="{C343367E-6E0B-4D87-B42B-7BE9D32DBFB4}" presName="node" presStyleLbl="node1" presStyleIdx="2" presStyleCnt="11">
        <dgm:presLayoutVars>
          <dgm:bulletEnabled val="1"/>
        </dgm:presLayoutVars>
      </dgm:prSet>
      <dgm:spPr/>
    </dgm:pt>
    <dgm:pt modelId="{4B8C546C-B2FE-484F-9D70-59FFA5E9AAC4}" type="pres">
      <dgm:prSet presAssocID="{0314ED14-9B56-4888-B408-DE6DFF861303}" presName="sibTrans" presStyleCnt="0"/>
      <dgm:spPr/>
    </dgm:pt>
    <dgm:pt modelId="{EADAD31E-CA68-4DED-84FB-90D8D4DBAECE}" type="pres">
      <dgm:prSet presAssocID="{C7315578-E9A5-4134-B4A7-7D5BB6B07A6B}" presName="node" presStyleLbl="node1" presStyleIdx="3" presStyleCnt="11">
        <dgm:presLayoutVars>
          <dgm:bulletEnabled val="1"/>
        </dgm:presLayoutVars>
      </dgm:prSet>
      <dgm:spPr/>
    </dgm:pt>
    <dgm:pt modelId="{A979BF5D-A54F-474D-9150-B63CCCFF5452}" type="pres">
      <dgm:prSet presAssocID="{553A5501-4DCA-43DB-8116-18230E569107}" presName="sibTrans" presStyleCnt="0"/>
      <dgm:spPr/>
    </dgm:pt>
    <dgm:pt modelId="{BA295F3A-6E33-4693-A4E0-373D4996D66D}" type="pres">
      <dgm:prSet presAssocID="{DE28F121-BA13-471C-A5FD-6C3525B4C1F7}" presName="node" presStyleLbl="node1" presStyleIdx="4" presStyleCnt="11">
        <dgm:presLayoutVars>
          <dgm:bulletEnabled val="1"/>
        </dgm:presLayoutVars>
      </dgm:prSet>
      <dgm:spPr/>
    </dgm:pt>
    <dgm:pt modelId="{9DB4707D-D1B6-4985-84D5-AF222DADAC5F}" type="pres">
      <dgm:prSet presAssocID="{315D7A90-A1A0-453A-AF08-FC8444C88A25}" presName="sibTrans" presStyleCnt="0"/>
      <dgm:spPr/>
    </dgm:pt>
    <dgm:pt modelId="{38F50AC9-831D-4F84-96CD-EC61271A73DD}" type="pres">
      <dgm:prSet presAssocID="{2544A325-35B2-4DD5-9E7C-FA6BF05D8D51}" presName="node" presStyleLbl="node1" presStyleIdx="5" presStyleCnt="11">
        <dgm:presLayoutVars>
          <dgm:bulletEnabled val="1"/>
        </dgm:presLayoutVars>
      </dgm:prSet>
      <dgm:spPr/>
    </dgm:pt>
    <dgm:pt modelId="{4E961102-4E39-4CDF-AB5D-D644311A25D4}" type="pres">
      <dgm:prSet presAssocID="{C6EEDF51-E5C4-4A5A-B013-06480DEF4436}" presName="sibTrans" presStyleCnt="0"/>
      <dgm:spPr/>
    </dgm:pt>
    <dgm:pt modelId="{581D08C6-B287-4F68-8947-E6A14A005145}" type="pres">
      <dgm:prSet presAssocID="{88D508C0-6951-4B36-B9EC-720624817380}" presName="node" presStyleLbl="node1" presStyleIdx="6" presStyleCnt="11">
        <dgm:presLayoutVars>
          <dgm:bulletEnabled val="1"/>
        </dgm:presLayoutVars>
      </dgm:prSet>
      <dgm:spPr/>
    </dgm:pt>
    <dgm:pt modelId="{498D3D3F-3BFB-4E1E-954C-F1D807A9AB9A}" type="pres">
      <dgm:prSet presAssocID="{92259BB0-9CE6-40B9-B8B6-7AC53350A293}" presName="sibTrans" presStyleCnt="0"/>
      <dgm:spPr/>
    </dgm:pt>
    <dgm:pt modelId="{38B4E769-5F4D-4AC9-AA16-740543B9CEDA}" type="pres">
      <dgm:prSet presAssocID="{CD94133B-61DA-4A34-A60F-0215265606B9}" presName="node" presStyleLbl="node1" presStyleIdx="7" presStyleCnt="11">
        <dgm:presLayoutVars>
          <dgm:bulletEnabled val="1"/>
        </dgm:presLayoutVars>
      </dgm:prSet>
      <dgm:spPr/>
    </dgm:pt>
    <dgm:pt modelId="{EF02E81B-75FD-4A87-9A35-0F6FB55004C4}" type="pres">
      <dgm:prSet presAssocID="{2A1DE52F-E845-4F08-AE5B-2B61D7C98B10}" presName="sibTrans" presStyleCnt="0"/>
      <dgm:spPr/>
    </dgm:pt>
    <dgm:pt modelId="{97AB1813-5306-47D8-8D3C-3A38D4B1BEC2}" type="pres">
      <dgm:prSet presAssocID="{5C62CC07-8E06-4331-9E1A-9E7E663FD606}" presName="node" presStyleLbl="node1" presStyleIdx="8" presStyleCnt="11">
        <dgm:presLayoutVars>
          <dgm:bulletEnabled val="1"/>
        </dgm:presLayoutVars>
      </dgm:prSet>
      <dgm:spPr/>
    </dgm:pt>
    <dgm:pt modelId="{A38CF849-1CB4-45B5-AC79-8ED2DA96DD23}" type="pres">
      <dgm:prSet presAssocID="{085D55FC-2327-4CD6-95B6-439CA0F69403}" presName="sibTrans" presStyleCnt="0"/>
      <dgm:spPr/>
    </dgm:pt>
    <dgm:pt modelId="{F1FBFE21-9DF5-4505-8D8B-6EF2CCB31FEE}" type="pres">
      <dgm:prSet presAssocID="{841BAA9D-8539-4543-AF49-271CCD9C81AD}" presName="node" presStyleLbl="node1" presStyleIdx="9" presStyleCnt="11">
        <dgm:presLayoutVars>
          <dgm:bulletEnabled val="1"/>
        </dgm:presLayoutVars>
      </dgm:prSet>
      <dgm:spPr/>
    </dgm:pt>
    <dgm:pt modelId="{A658F4B5-3950-439C-960E-6D73DCA80588}" type="pres">
      <dgm:prSet presAssocID="{8D0329EB-9064-4776-BEA3-A9FC5CEB0AC7}" presName="sibTrans" presStyleCnt="0"/>
      <dgm:spPr/>
    </dgm:pt>
    <dgm:pt modelId="{FC18BE71-30A4-4718-92D9-19F6EDF79A0C}" type="pres">
      <dgm:prSet presAssocID="{2B759697-8CF0-4E48-9BAE-6E469FC93B90}" presName="node" presStyleLbl="node1" presStyleIdx="10" presStyleCnt="11">
        <dgm:presLayoutVars>
          <dgm:bulletEnabled val="1"/>
        </dgm:presLayoutVars>
      </dgm:prSet>
      <dgm:spPr/>
    </dgm:pt>
  </dgm:ptLst>
  <dgm:cxnLst>
    <dgm:cxn modelId="{4A05C20D-7DE2-4FBC-A9B5-4A064E14A887}" type="presOf" srcId="{5C62CC07-8E06-4331-9E1A-9E7E663FD606}" destId="{97AB1813-5306-47D8-8D3C-3A38D4B1BEC2}" srcOrd="0" destOrd="0" presId="urn:microsoft.com/office/officeart/2005/8/layout/default#1"/>
    <dgm:cxn modelId="{94638D26-7CE8-4FBA-A785-48B5794A0A11}" type="presOf" srcId="{DE28F121-BA13-471C-A5FD-6C3525B4C1F7}" destId="{BA295F3A-6E33-4693-A4E0-373D4996D66D}" srcOrd="0" destOrd="0" presId="urn:microsoft.com/office/officeart/2005/8/layout/default#1"/>
    <dgm:cxn modelId="{6018B82A-916F-496B-8BC9-7B9DAF5532F6}" type="presOf" srcId="{2544A325-35B2-4DD5-9E7C-FA6BF05D8D51}" destId="{38F50AC9-831D-4F84-96CD-EC61271A73DD}" srcOrd="0" destOrd="0" presId="urn:microsoft.com/office/officeart/2005/8/layout/default#1"/>
    <dgm:cxn modelId="{4538BD2D-F2C0-44AB-BAC0-642284A062B5}" srcId="{5A4DFC9D-11E0-4B97-9CB8-CB29870A3A87}" destId="{841BAA9D-8539-4543-AF49-271CCD9C81AD}" srcOrd="9" destOrd="0" parTransId="{6C939C71-D724-46F7-8A4F-A608FC064EB2}" sibTransId="{8D0329EB-9064-4776-BEA3-A9FC5CEB0AC7}"/>
    <dgm:cxn modelId="{0D77A834-D62C-4120-8FCA-AD23E07BD22F}" srcId="{5A4DFC9D-11E0-4B97-9CB8-CB29870A3A87}" destId="{5C62CC07-8E06-4331-9E1A-9E7E663FD606}" srcOrd="8" destOrd="0" parTransId="{4D910CA0-0059-4CDF-8C89-C2BB2D2FE887}" sibTransId="{085D55FC-2327-4CD6-95B6-439CA0F69403}"/>
    <dgm:cxn modelId="{3A02123B-1AFD-4BE4-AB9C-D63EEF4E9033}" type="presOf" srcId="{CD94133B-61DA-4A34-A60F-0215265606B9}" destId="{38B4E769-5F4D-4AC9-AA16-740543B9CEDA}" srcOrd="0" destOrd="0" presId="urn:microsoft.com/office/officeart/2005/8/layout/default#1"/>
    <dgm:cxn modelId="{F03BBE3B-AE5B-48D7-A9E8-E72ED28EF102}" type="presOf" srcId="{841BAA9D-8539-4543-AF49-271CCD9C81AD}" destId="{F1FBFE21-9DF5-4505-8D8B-6EF2CCB31FEE}" srcOrd="0" destOrd="0" presId="urn:microsoft.com/office/officeart/2005/8/layout/default#1"/>
    <dgm:cxn modelId="{37477746-43FA-4261-B4EE-1D76B566CEE3}" srcId="{5A4DFC9D-11E0-4B97-9CB8-CB29870A3A87}" destId="{2544A325-35B2-4DD5-9E7C-FA6BF05D8D51}" srcOrd="5" destOrd="0" parTransId="{BAA594F8-64A3-421B-B23E-46A3F9539157}" sibTransId="{C6EEDF51-E5C4-4A5A-B013-06480DEF4436}"/>
    <dgm:cxn modelId="{ED4B2847-F2A8-49F7-B832-781FF44FA304}" type="presOf" srcId="{88D508C0-6951-4B36-B9EC-720624817380}" destId="{581D08C6-B287-4F68-8947-E6A14A005145}" srcOrd="0" destOrd="0" presId="urn:microsoft.com/office/officeart/2005/8/layout/default#1"/>
    <dgm:cxn modelId="{DEED2269-19FB-4490-8D8E-51573DA4BB39}" type="presOf" srcId="{5A4DFC9D-11E0-4B97-9CB8-CB29870A3A87}" destId="{FD459526-A632-4165-84F0-DD4D44069092}" srcOrd="0" destOrd="0" presId="urn:microsoft.com/office/officeart/2005/8/layout/default#1"/>
    <dgm:cxn modelId="{ECA30F4A-CF0A-4A67-99E4-488D44DDE982}" srcId="{5A4DFC9D-11E0-4B97-9CB8-CB29870A3A87}" destId="{C7315578-E9A5-4134-B4A7-7D5BB6B07A6B}" srcOrd="3" destOrd="0" parTransId="{DE491F9E-7A51-45A3-837D-65396046329A}" sibTransId="{553A5501-4DCA-43DB-8116-18230E569107}"/>
    <dgm:cxn modelId="{16E5146B-C006-4348-BAE1-0BBDA98A244C}" srcId="{5A4DFC9D-11E0-4B97-9CB8-CB29870A3A87}" destId="{CD94133B-61DA-4A34-A60F-0215265606B9}" srcOrd="7" destOrd="0" parTransId="{29BACC2F-1438-406C-B1DC-2467396250CC}" sibTransId="{2A1DE52F-E845-4F08-AE5B-2B61D7C98B10}"/>
    <dgm:cxn modelId="{90D3DD71-ADF4-4D2D-B2A1-C31FF5E191B9}" type="presOf" srcId="{2B759697-8CF0-4E48-9BAE-6E469FC93B90}" destId="{FC18BE71-30A4-4718-92D9-19F6EDF79A0C}" srcOrd="0" destOrd="0" presId="urn:microsoft.com/office/officeart/2005/8/layout/default#1"/>
    <dgm:cxn modelId="{53397B87-99E2-4DE9-AFB2-FD4068FAEF65}" type="presOf" srcId="{C343367E-6E0B-4D87-B42B-7BE9D32DBFB4}" destId="{11150468-1E0C-461E-B081-3E871826CD6E}" srcOrd="0" destOrd="0" presId="urn:microsoft.com/office/officeart/2005/8/layout/default#1"/>
    <dgm:cxn modelId="{7BA2FF8C-C064-4CD7-BFAD-96CC0AA3E2C6}" type="presOf" srcId="{E7EC3F5A-6FF5-4DAC-B7A7-62451E4288C9}" destId="{4594C686-F253-4728-84C9-151C8028A3AE}" srcOrd="0" destOrd="0" presId="urn:microsoft.com/office/officeart/2005/8/layout/default#1"/>
    <dgm:cxn modelId="{D4ED029F-4144-4304-9546-CBEE30045520}" srcId="{5A4DFC9D-11E0-4B97-9CB8-CB29870A3A87}" destId="{738ED65A-AD96-4E5D-8658-FBC8032CA849}" srcOrd="1" destOrd="0" parTransId="{AA519882-9FF2-44E4-BDFE-61E8CCE8F6CD}" sibTransId="{C568D5BD-9789-4855-AD1F-74E644C2853C}"/>
    <dgm:cxn modelId="{9F07ACB8-D182-41D1-9474-73291F2F16A2}" type="presOf" srcId="{C7315578-E9A5-4134-B4A7-7D5BB6B07A6B}" destId="{EADAD31E-CA68-4DED-84FB-90D8D4DBAECE}" srcOrd="0" destOrd="0" presId="urn:microsoft.com/office/officeart/2005/8/layout/default#1"/>
    <dgm:cxn modelId="{796988C0-8389-4954-96BB-383FDDE39E0F}" srcId="{5A4DFC9D-11E0-4B97-9CB8-CB29870A3A87}" destId="{DE28F121-BA13-471C-A5FD-6C3525B4C1F7}" srcOrd="4" destOrd="0" parTransId="{17042EB1-E666-4CFF-9C87-76C132D1B670}" sibTransId="{315D7A90-A1A0-453A-AF08-FC8444C88A25}"/>
    <dgm:cxn modelId="{6EFBE5DA-FEA5-485E-8659-0DEF4B626CDB}" srcId="{5A4DFC9D-11E0-4B97-9CB8-CB29870A3A87}" destId="{2B759697-8CF0-4E48-9BAE-6E469FC93B90}" srcOrd="10" destOrd="0" parTransId="{39C62AFE-22B8-443E-84C9-E27900DEF995}" sibTransId="{DE9F9152-4665-44BF-88DA-2F8D11A40C6C}"/>
    <dgm:cxn modelId="{EF947CF0-29F8-4E95-9D76-285944A93006}" type="presOf" srcId="{738ED65A-AD96-4E5D-8658-FBC8032CA849}" destId="{AAE6C2CE-B907-473D-B42E-74641FA2C01B}" srcOrd="0" destOrd="0" presId="urn:microsoft.com/office/officeart/2005/8/layout/default#1"/>
    <dgm:cxn modelId="{6C08C3F8-3A1B-4934-9B40-7F04A9AE587E}" srcId="{5A4DFC9D-11E0-4B97-9CB8-CB29870A3A87}" destId="{88D508C0-6951-4B36-B9EC-720624817380}" srcOrd="6" destOrd="0" parTransId="{16B9E4BC-6FBE-49FE-9E54-55818D5A7EE9}" sibTransId="{92259BB0-9CE6-40B9-B8B6-7AC53350A293}"/>
    <dgm:cxn modelId="{4A243FFA-DBAF-4962-844F-48832D368119}" srcId="{5A4DFC9D-11E0-4B97-9CB8-CB29870A3A87}" destId="{C343367E-6E0B-4D87-B42B-7BE9D32DBFB4}" srcOrd="2" destOrd="0" parTransId="{4707B6D6-66D1-43F8-9303-973EBBD6E514}" sibTransId="{0314ED14-9B56-4888-B408-DE6DFF861303}"/>
    <dgm:cxn modelId="{95FE29FD-D14D-4489-B8E6-5C865BDAA8B9}" srcId="{5A4DFC9D-11E0-4B97-9CB8-CB29870A3A87}" destId="{E7EC3F5A-6FF5-4DAC-B7A7-62451E4288C9}" srcOrd="0" destOrd="0" parTransId="{C2D8A5DA-E5F7-449B-BAF1-6ACE8D37675E}" sibTransId="{15571704-FBB1-4619-9716-EEC3A6EB88BE}"/>
    <dgm:cxn modelId="{32AAAB03-8F0E-46A3-A03E-6EE4E95EB739}" type="presParOf" srcId="{FD459526-A632-4165-84F0-DD4D44069092}" destId="{4594C686-F253-4728-84C9-151C8028A3AE}" srcOrd="0" destOrd="0" presId="urn:microsoft.com/office/officeart/2005/8/layout/default#1"/>
    <dgm:cxn modelId="{EA23CF42-340D-4B66-9E29-08ABB17BE7E5}" type="presParOf" srcId="{FD459526-A632-4165-84F0-DD4D44069092}" destId="{74539D1F-B807-430C-900E-CCC66E3F54E5}" srcOrd="1" destOrd="0" presId="urn:microsoft.com/office/officeart/2005/8/layout/default#1"/>
    <dgm:cxn modelId="{3A6664EA-1C67-4F1F-9C19-F40E00AA129B}" type="presParOf" srcId="{FD459526-A632-4165-84F0-DD4D44069092}" destId="{AAE6C2CE-B907-473D-B42E-74641FA2C01B}" srcOrd="2" destOrd="0" presId="urn:microsoft.com/office/officeart/2005/8/layout/default#1"/>
    <dgm:cxn modelId="{8FA81757-445F-4D22-9B4A-5B0FCDF6D1CF}" type="presParOf" srcId="{FD459526-A632-4165-84F0-DD4D44069092}" destId="{F0517EBC-8DC0-46F5-A141-0876ABB2AF94}" srcOrd="3" destOrd="0" presId="urn:microsoft.com/office/officeart/2005/8/layout/default#1"/>
    <dgm:cxn modelId="{CAD961DD-36E4-4E35-B548-3CC2F782FB7E}" type="presParOf" srcId="{FD459526-A632-4165-84F0-DD4D44069092}" destId="{11150468-1E0C-461E-B081-3E871826CD6E}" srcOrd="4" destOrd="0" presId="urn:microsoft.com/office/officeart/2005/8/layout/default#1"/>
    <dgm:cxn modelId="{83C97DA8-67C6-4CD6-95E8-143764DA714D}" type="presParOf" srcId="{FD459526-A632-4165-84F0-DD4D44069092}" destId="{4B8C546C-B2FE-484F-9D70-59FFA5E9AAC4}" srcOrd="5" destOrd="0" presId="urn:microsoft.com/office/officeart/2005/8/layout/default#1"/>
    <dgm:cxn modelId="{9B285612-34ED-4F93-A5BA-9A38826EA2D7}" type="presParOf" srcId="{FD459526-A632-4165-84F0-DD4D44069092}" destId="{EADAD31E-CA68-4DED-84FB-90D8D4DBAECE}" srcOrd="6" destOrd="0" presId="urn:microsoft.com/office/officeart/2005/8/layout/default#1"/>
    <dgm:cxn modelId="{4BB3879D-717C-4767-BB59-F563EC8EFD35}" type="presParOf" srcId="{FD459526-A632-4165-84F0-DD4D44069092}" destId="{A979BF5D-A54F-474D-9150-B63CCCFF5452}" srcOrd="7" destOrd="0" presId="urn:microsoft.com/office/officeart/2005/8/layout/default#1"/>
    <dgm:cxn modelId="{68AC56EA-5F1F-4E28-A9CD-18D06AB56906}" type="presParOf" srcId="{FD459526-A632-4165-84F0-DD4D44069092}" destId="{BA295F3A-6E33-4693-A4E0-373D4996D66D}" srcOrd="8" destOrd="0" presId="urn:microsoft.com/office/officeart/2005/8/layout/default#1"/>
    <dgm:cxn modelId="{400A5957-EF99-4AFD-B5EE-ACFAAE27458A}" type="presParOf" srcId="{FD459526-A632-4165-84F0-DD4D44069092}" destId="{9DB4707D-D1B6-4985-84D5-AF222DADAC5F}" srcOrd="9" destOrd="0" presId="urn:microsoft.com/office/officeart/2005/8/layout/default#1"/>
    <dgm:cxn modelId="{C385990A-636E-4939-82DD-8C3B785B72B7}" type="presParOf" srcId="{FD459526-A632-4165-84F0-DD4D44069092}" destId="{38F50AC9-831D-4F84-96CD-EC61271A73DD}" srcOrd="10" destOrd="0" presId="urn:microsoft.com/office/officeart/2005/8/layout/default#1"/>
    <dgm:cxn modelId="{B9814AA9-7D37-4F58-A96C-CBD23A6517C1}" type="presParOf" srcId="{FD459526-A632-4165-84F0-DD4D44069092}" destId="{4E961102-4E39-4CDF-AB5D-D644311A25D4}" srcOrd="11" destOrd="0" presId="urn:microsoft.com/office/officeart/2005/8/layout/default#1"/>
    <dgm:cxn modelId="{35C859A4-1F54-47E4-8431-FAF43614E98E}" type="presParOf" srcId="{FD459526-A632-4165-84F0-DD4D44069092}" destId="{581D08C6-B287-4F68-8947-E6A14A005145}" srcOrd="12" destOrd="0" presId="urn:microsoft.com/office/officeart/2005/8/layout/default#1"/>
    <dgm:cxn modelId="{26905EFB-971E-46D4-8EBA-44DD9C8BE782}" type="presParOf" srcId="{FD459526-A632-4165-84F0-DD4D44069092}" destId="{498D3D3F-3BFB-4E1E-954C-F1D807A9AB9A}" srcOrd="13" destOrd="0" presId="urn:microsoft.com/office/officeart/2005/8/layout/default#1"/>
    <dgm:cxn modelId="{382157CC-4E57-42E2-87B3-81F1F7BCF15B}" type="presParOf" srcId="{FD459526-A632-4165-84F0-DD4D44069092}" destId="{38B4E769-5F4D-4AC9-AA16-740543B9CEDA}" srcOrd="14" destOrd="0" presId="urn:microsoft.com/office/officeart/2005/8/layout/default#1"/>
    <dgm:cxn modelId="{8838A1EE-C614-486F-86AB-7310A54B5D3D}" type="presParOf" srcId="{FD459526-A632-4165-84F0-DD4D44069092}" destId="{EF02E81B-75FD-4A87-9A35-0F6FB55004C4}" srcOrd="15" destOrd="0" presId="urn:microsoft.com/office/officeart/2005/8/layout/default#1"/>
    <dgm:cxn modelId="{2CE5F2D8-5223-4D3C-BA8C-B2E8091B1D31}" type="presParOf" srcId="{FD459526-A632-4165-84F0-DD4D44069092}" destId="{97AB1813-5306-47D8-8D3C-3A38D4B1BEC2}" srcOrd="16" destOrd="0" presId="urn:microsoft.com/office/officeart/2005/8/layout/default#1"/>
    <dgm:cxn modelId="{B21222E5-5219-4EA8-B30C-45D3BDFB724C}" type="presParOf" srcId="{FD459526-A632-4165-84F0-DD4D44069092}" destId="{A38CF849-1CB4-45B5-AC79-8ED2DA96DD23}" srcOrd="17" destOrd="0" presId="urn:microsoft.com/office/officeart/2005/8/layout/default#1"/>
    <dgm:cxn modelId="{1101910C-E07F-486F-A276-86486C905C51}" type="presParOf" srcId="{FD459526-A632-4165-84F0-DD4D44069092}" destId="{F1FBFE21-9DF5-4505-8D8B-6EF2CCB31FEE}" srcOrd="18" destOrd="0" presId="urn:microsoft.com/office/officeart/2005/8/layout/default#1"/>
    <dgm:cxn modelId="{B4FFC812-52FA-4515-8CF5-B16F299497C2}" type="presParOf" srcId="{FD459526-A632-4165-84F0-DD4D44069092}" destId="{A658F4B5-3950-439C-960E-6D73DCA80588}" srcOrd="19" destOrd="0" presId="urn:microsoft.com/office/officeart/2005/8/layout/default#1"/>
    <dgm:cxn modelId="{C155C97A-0D86-4183-9CB3-62269E94BD6F}" type="presParOf" srcId="{FD459526-A632-4165-84F0-DD4D44069092}" destId="{FC18BE71-30A4-4718-92D9-19F6EDF79A0C}" srcOrd="20" destOrd="0" presId="urn:microsoft.com/office/officeart/2005/8/layout/defaul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22018E6E-0B9C-4FC3-8424-7F10274883EC}" type="doc">
      <dgm:prSet loTypeId="urn:microsoft.com/office/officeart/2009/3/layout/PlusandMinus" loCatId="relationship" qsTypeId="urn:microsoft.com/office/officeart/2005/8/quickstyle/simple1" qsCatId="simple" csTypeId="urn:microsoft.com/office/officeart/2005/8/colors/colorful1#3" csCatId="colorful" phldr="1"/>
      <dgm:spPr/>
      <dgm:t>
        <a:bodyPr/>
        <a:lstStyle/>
        <a:p>
          <a:endParaRPr lang="zh-CN" altLang="en-US"/>
        </a:p>
      </dgm:t>
    </dgm:pt>
    <dgm:pt modelId="{5374394C-E711-403B-87D3-95CE54295962}">
      <dgm:prSet phldrT="[文本]" custT="1"/>
      <dgm:spPr/>
      <dgm:t>
        <a:bodyPr/>
        <a:lstStyle/>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管理简单；</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使用方便；</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转发分组迅速；</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zh-CN" sz="1600" b="1" dirty="0">
              <a:latin typeface="微软雅黑" panose="020B0503020204020204" pitchFamily="34" charset="-122"/>
              <a:ea typeface="微软雅黑" panose="020B0503020204020204" pitchFamily="34" charset="-122"/>
            </a:rPr>
            <a:t>划分子网</a:t>
          </a:r>
          <a:r>
            <a:rPr lang="zh-CN" altLang="en-US" sz="1600" b="1" dirty="0">
              <a:latin typeface="微软雅黑" panose="020B0503020204020204" pitchFamily="34" charset="-122"/>
              <a:ea typeface="微软雅黑" panose="020B0503020204020204" pitchFamily="34" charset="-122"/>
            </a:rPr>
            <a:t>，灵活地使用。</a:t>
          </a:r>
        </a:p>
      </dgm:t>
    </dgm:pt>
    <dgm:pt modelId="{3074837E-5CB6-4F26-B3AF-0FBBF40E15D3}" type="par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B361991-367A-47AA-B4DE-F001008F5F5F}" type="sib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07364F2-2070-4A6D-AE9E-A9FC284A294E}">
      <dgm:prSet phldrT="[文本]" custT="1"/>
      <dgm:spPr/>
      <dgm:t>
        <a:bodyPr/>
        <a:lstStyle/>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设计上不合理：</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大地址块，</a:t>
          </a:r>
          <a:r>
            <a:rPr lang="zh-CN" altLang="en-US" sz="1600" b="1" dirty="0">
              <a:solidFill>
                <a:srgbClr val="C00000"/>
              </a:solidFill>
              <a:latin typeface="微软雅黑" panose="020B0503020204020204" pitchFamily="34" charset="-122"/>
              <a:ea typeface="微软雅黑" panose="020B0503020204020204" pitchFamily="34" charset="-122"/>
            </a:rPr>
            <a:t>浪费</a:t>
          </a:r>
          <a:r>
            <a:rPr lang="zh-CN" altLang="en-US" sz="1600" b="1" dirty="0">
              <a:latin typeface="微软雅黑" panose="020B0503020204020204" pitchFamily="34" charset="-122"/>
              <a:ea typeface="微软雅黑" panose="020B0503020204020204" pitchFamily="34" charset="-122"/>
            </a:rPr>
            <a:t>地址资源；</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即使采用划分子网的方法，也无法解决 </a:t>
          </a:r>
          <a:r>
            <a:rPr lang="en-US" altLang="en-US"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r>
            <a:rPr lang="zh-CN" altLang="en-US" sz="1600" b="1" dirty="0">
              <a:solidFill>
                <a:srgbClr val="C00000"/>
              </a:solidFill>
              <a:latin typeface="微软雅黑" panose="020B0503020204020204" pitchFamily="34" charset="-122"/>
              <a:ea typeface="微软雅黑" panose="020B0503020204020204" pitchFamily="34" charset="-122"/>
            </a:rPr>
            <a:t>枯竭</a:t>
          </a:r>
          <a:r>
            <a:rPr lang="zh-CN" altLang="en-US" sz="1600" b="1" dirty="0">
              <a:latin typeface="微软雅黑" panose="020B0503020204020204" pitchFamily="34" charset="-122"/>
              <a:ea typeface="微软雅黑" panose="020B0503020204020204" pitchFamily="34" charset="-122"/>
            </a:rPr>
            <a:t>的问题。</a:t>
          </a:r>
        </a:p>
      </dgm:t>
    </dgm:pt>
    <dgm:pt modelId="{66C9E57C-9FB1-41AA-B8BC-A30642C3D79C}" type="par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DD0817A-43BD-4AAE-BC82-551A36799611}" type="sib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9223938-D050-4F79-A23C-4AD2512126B0}" type="pres">
      <dgm:prSet presAssocID="{22018E6E-0B9C-4FC3-8424-7F10274883EC}" presName="Name0" presStyleCnt="0">
        <dgm:presLayoutVars>
          <dgm:chMax val="2"/>
          <dgm:chPref val="2"/>
          <dgm:dir/>
          <dgm:animOne/>
          <dgm:resizeHandles val="exact"/>
        </dgm:presLayoutVars>
      </dgm:prSet>
      <dgm:spPr/>
    </dgm:pt>
    <dgm:pt modelId="{424B0A0E-971B-4E83-B9F0-6072ADB97738}" type="pres">
      <dgm:prSet presAssocID="{22018E6E-0B9C-4FC3-8424-7F10274883EC}" presName="Background" presStyleLbl="bgImgPlace1" presStyleIdx="0" presStyleCnt="1" custScaleX="120220" custLinFactNeighborX="0"/>
      <dgm:spPr/>
    </dgm:pt>
    <dgm:pt modelId="{E873E07A-9E09-453F-95F0-A7AAEE2551B3}" type="pres">
      <dgm:prSet presAssocID="{22018E6E-0B9C-4FC3-8424-7F10274883EC}" presName="ParentText1" presStyleLbl="revTx" presStyleIdx="0" presStyleCnt="2" custScaleX="112967" custScaleY="86781" custLinFactNeighborX="-2508">
        <dgm:presLayoutVars>
          <dgm:chMax val="0"/>
          <dgm:chPref val="0"/>
          <dgm:bulletEnabled val="1"/>
        </dgm:presLayoutVars>
      </dgm:prSet>
      <dgm:spPr/>
    </dgm:pt>
    <dgm:pt modelId="{40AD89A0-37A1-4061-B639-561D759D430F}" type="pres">
      <dgm:prSet presAssocID="{22018E6E-0B9C-4FC3-8424-7F10274883EC}" presName="ParentText2" presStyleLbl="revTx" presStyleIdx="1" presStyleCnt="2" custScaleX="112967" custScaleY="86781" custLinFactNeighborX="9992">
        <dgm:presLayoutVars>
          <dgm:chMax val="0"/>
          <dgm:chPref val="0"/>
          <dgm:bulletEnabled val="1"/>
        </dgm:presLayoutVars>
      </dgm:prSet>
      <dgm:spPr/>
    </dgm:pt>
    <dgm:pt modelId="{69C13D01-1AFC-4B1D-A9D4-90EC30CD2E19}" type="pres">
      <dgm:prSet presAssocID="{22018E6E-0B9C-4FC3-8424-7F10274883EC}" presName="Plus" presStyleLbl="alignNode1" presStyleIdx="0" presStyleCnt="2" custLinFactNeighborX="-25576"/>
      <dgm:spPr/>
    </dgm:pt>
    <dgm:pt modelId="{279C3955-DDC3-45AE-ABAF-A714C59D6D50}" type="pres">
      <dgm:prSet presAssocID="{22018E6E-0B9C-4FC3-8424-7F10274883EC}" presName="Minus" presStyleLbl="alignNode1" presStyleIdx="1" presStyleCnt="2" custLinFactNeighborX="55376"/>
      <dgm:spPr>
        <a:solidFill>
          <a:srgbClr val="000099"/>
        </a:solidFill>
        <a:ln>
          <a:noFill/>
        </a:ln>
      </dgm:spPr>
    </dgm:pt>
    <dgm:pt modelId="{8D85BB93-CCEC-4AF9-A3E3-7305BF0CC5BD}" type="pres">
      <dgm:prSet presAssocID="{22018E6E-0B9C-4FC3-8424-7F10274883EC}" presName="Divider" presStyleLbl="parChTrans1D1" presStyleIdx="0" presStyleCnt="1"/>
      <dgm:spPr>
        <a:ln>
          <a:solidFill>
            <a:srgbClr val="000099"/>
          </a:solidFill>
        </a:ln>
      </dgm:spPr>
    </dgm:pt>
  </dgm:ptLst>
  <dgm:cxnLst>
    <dgm:cxn modelId="{42B30209-CEBA-49A2-B3AB-419B1C2AA1D6}" type="presOf" srcId="{007364F2-2070-4A6D-AE9E-A9FC284A294E}" destId="{40AD89A0-37A1-4061-B639-561D759D430F}" srcOrd="0" destOrd="0" presId="urn:microsoft.com/office/officeart/2009/3/layout/PlusandMinus"/>
    <dgm:cxn modelId="{77C5D026-ADDA-4B4D-90F6-E4378E9BBDE6}" type="presOf" srcId="{22018E6E-0B9C-4FC3-8424-7F10274883EC}" destId="{29223938-D050-4F79-A23C-4AD2512126B0}" srcOrd="0" destOrd="0" presId="urn:microsoft.com/office/officeart/2009/3/layout/PlusandMinus"/>
    <dgm:cxn modelId="{8072EEA7-81AC-4761-8640-6C093705A07C}" srcId="{22018E6E-0B9C-4FC3-8424-7F10274883EC}" destId="{5374394C-E711-403B-87D3-95CE54295962}" srcOrd="0" destOrd="0" parTransId="{3074837E-5CB6-4F26-B3AF-0FBBF40E15D3}" sibTransId="{EB361991-367A-47AA-B4DE-F001008F5F5F}"/>
    <dgm:cxn modelId="{D72063B5-D744-4718-BA9F-53E2C581F461}" srcId="{22018E6E-0B9C-4FC3-8424-7F10274883EC}" destId="{007364F2-2070-4A6D-AE9E-A9FC284A294E}" srcOrd="1" destOrd="0" parTransId="{66C9E57C-9FB1-41AA-B8BC-A30642C3D79C}" sibTransId="{2DD0817A-43BD-4AAE-BC82-551A36799611}"/>
    <dgm:cxn modelId="{3730DDDF-4055-44DF-AE58-4E3870ECC856}" type="presOf" srcId="{5374394C-E711-403B-87D3-95CE54295962}" destId="{E873E07A-9E09-453F-95F0-A7AAEE2551B3}" srcOrd="0" destOrd="0" presId="urn:microsoft.com/office/officeart/2009/3/layout/PlusandMinus"/>
    <dgm:cxn modelId="{6B858D72-137C-4B91-A78D-5A8099049508}" type="presParOf" srcId="{29223938-D050-4F79-A23C-4AD2512126B0}" destId="{424B0A0E-971B-4E83-B9F0-6072ADB97738}" srcOrd="0" destOrd="0" presId="urn:microsoft.com/office/officeart/2009/3/layout/PlusandMinus"/>
    <dgm:cxn modelId="{37065EDD-C235-4710-AE59-7F9B95BFD459}" type="presParOf" srcId="{29223938-D050-4F79-A23C-4AD2512126B0}" destId="{E873E07A-9E09-453F-95F0-A7AAEE2551B3}" srcOrd="1" destOrd="0" presId="urn:microsoft.com/office/officeart/2009/3/layout/PlusandMinus"/>
    <dgm:cxn modelId="{8ECF53E8-DADB-49DE-AF4C-4F48E1BDAE66}" type="presParOf" srcId="{29223938-D050-4F79-A23C-4AD2512126B0}" destId="{40AD89A0-37A1-4061-B639-561D759D430F}" srcOrd="2" destOrd="0" presId="urn:microsoft.com/office/officeart/2009/3/layout/PlusandMinus"/>
    <dgm:cxn modelId="{2677E292-37BC-44CB-B103-4B1C1D7B273B}" type="presParOf" srcId="{29223938-D050-4F79-A23C-4AD2512126B0}" destId="{69C13D01-1AFC-4B1D-A9D4-90EC30CD2E19}" srcOrd="3" destOrd="0" presId="urn:microsoft.com/office/officeart/2009/3/layout/PlusandMinus"/>
    <dgm:cxn modelId="{B0E207AB-9C79-4F83-BDAE-0FBB25B4D6FD}" type="presParOf" srcId="{29223938-D050-4F79-A23C-4AD2512126B0}" destId="{279C3955-DDC3-45AE-ABAF-A714C59D6D50}" srcOrd="4" destOrd="0" presId="urn:microsoft.com/office/officeart/2009/3/layout/PlusandMinus"/>
    <dgm:cxn modelId="{ED134484-4B78-4DE7-80D7-94CFDCF57574}" type="presParOf" srcId="{29223938-D050-4F79-A23C-4AD2512126B0}" destId="{8D85BB93-CCEC-4AF9-A3E3-7305BF0CC5BD}" srcOrd="5" destOrd="0" presId="urn:microsoft.com/office/officeart/2009/3/layout/PlusandMinu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D708020-4687-41CF-9D7F-6F2391C11BAA}" type="doc">
      <dgm:prSet loTypeId="urn:microsoft.com/office/officeart/2005/8/layout/hList1" loCatId="list" qsTypeId="urn:microsoft.com/office/officeart/2005/8/quickstyle/simple1" qsCatId="simple" csTypeId="urn:microsoft.com/office/officeart/2005/8/colors/colorful1#4" csCatId="colorful" phldr="1"/>
      <dgm:spPr/>
      <dgm:t>
        <a:bodyPr/>
        <a:lstStyle/>
        <a:p>
          <a:endParaRPr lang="zh-CN" altLang="en-US"/>
        </a:p>
      </dgm:t>
    </dgm:pt>
    <dgm:pt modelId="{99011571-F4E1-4446-A8BE-18E70C05927B}">
      <dgm:prSet phldrT="[文本]" custT="1"/>
      <dgm:spPr/>
      <dgm:t>
        <a:bodyPr/>
        <a:lstStyle/>
        <a:p>
          <a:r>
            <a:rPr lang="en-US" altLang="zh-CN"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地址</a:t>
          </a:r>
        </a:p>
      </dgm:t>
    </dgm:pt>
    <dgm:pt modelId="{4C539E80-9E04-44A9-8367-F7E03B34B249}" type="par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F7FCDC9-D001-4CEE-A5E4-71C7F184525C}" type="sib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AD62A53-8D22-4EE5-8913-0BBACA2364E4}">
      <dgm:prSet phldrT="[文本]" custT="1"/>
      <dgm:spPr/>
      <dgm:t>
        <a:bodyPr/>
        <a:lstStyle/>
        <a:p>
          <a:r>
            <a:rPr lang="zh-CN" altLang="en-US" sz="1800" b="1" dirty="0">
              <a:latin typeface="微软雅黑" panose="020B0503020204020204" pitchFamily="34" charset="-122"/>
              <a:ea typeface="微软雅黑" panose="020B0503020204020204" pitchFamily="34" charset="-122"/>
            </a:rPr>
            <a:t>虚拟地址、软件地址、逻辑地址。</a:t>
          </a:r>
        </a:p>
      </dgm:t>
    </dgm:pt>
    <dgm:pt modelId="{54C85AAA-179D-4E68-BF2A-FFEED0DDB07F}" type="par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B5217E7-DE89-4742-BCCD-8BFF0AF57BAD}" type="sib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40657A4-D7B8-468B-A5F4-A2D889160995}">
      <dgm:prSet phldrT="[文本]" custT="1"/>
      <dgm:spPr/>
      <dgm:t>
        <a:bodyPr/>
        <a:lstStyle/>
        <a:p>
          <a:r>
            <a:rPr lang="en-US" altLang="zh-CN"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地址</a:t>
          </a:r>
        </a:p>
      </dgm:t>
    </dgm:pt>
    <dgm:pt modelId="{A7FDB1D6-023E-42DF-BB39-2015EF26DC0F}" type="par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09BF549-D68B-48BC-A9E0-62B2344773D6}" type="sib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79BE541-745A-4292-8465-C36F8EDD321B}">
      <dgm:prSet phldrT="[文本]" custT="1"/>
      <dgm:spPr/>
      <dgm:t>
        <a:bodyPr/>
        <a:lstStyle/>
        <a:p>
          <a:r>
            <a:rPr lang="zh-CN" altLang="en-US" sz="1800" b="1" dirty="0">
              <a:latin typeface="微软雅黑" panose="020B0503020204020204" pitchFamily="34" charset="-122"/>
              <a:ea typeface="微软雅黑" panose="020B0503020204020204" pitchFamily="34" charset="-122"/>
            </a:rPr>
            <a:t>固化在网卡上的 </a:t>
          </a:r>
          <a:r>
            <a:rPr lang="en-US" altLang="en-US" sz="1800" b="1" dirty="0">
              <a:latin typeface="微软雅黑" panose="020B0503020204020204" pitchFamily="34" charset="-122"/>
              <a:ea typeface="微软雅黑" panose="020B0503020204020204" pitchFamily="34" charset="-122"/>
            </a:rPr>
            <a:t>ROM </a:t>
          </a:r>
          <a:r>
            <a:rPr lang="zh-CN" altLang="en-US" sz="1800" b="1" dirty="0">
              <a:latin typeface="微软雅黑" panose="020B0503020204020204" pitchFamily="34" charset="-122"/>
              <a:ea typeface="微软雅黑" panose="020B0503020204020204" pitchFamily="34" charset="-122"/>
            </a:rPr>
            <a:t>中。</a:t>
          </a:r>
        </a:p>
      </dgm:t>
    </dgm:pt>
    <dgm:pt modelId="{5FBA12F4-C84B-4A28-AE84-34210DDD6316}" type="par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E35C864-7EA2-4C2D-AC52-3EE5ABADC5B9}" type="sib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33B3BA4-3778-4402-B1E1-C8CFA33A382D}">
      <dgm:prSet phldrT="[文本]" custT="1"/>
      <dgm:spPr/>
      <dgm:t>
        <a:bodyPr/>
        <a:lstStyle/>
        <a:p>
          <a:r>
            <a:rPr lang="zh-CN" altLang="en-US" sz="1800" b="1" dirty="0">
              <a:latin typeface="微软雅黑" panose="020B0503020204020204" pitchFamily="34" charset="-122"/>
              <a:ea typeface="微软雅黑" panose="020B0503020204020204" pitchFamily="34" charset="-122"/>
            </a:rPr>
            <a:t>硬件地址、物理地址。</a:t>
          </a:r>
        </a:p>
      </dgm:t>
    </dgm:pt>
    <dgm:pt modelId="{A03C24AB-8B7A-424E-9BC6-9376C33A0BF3}" type="par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CC1D41-9035-4D7E-9009-AC68C1CAF263}" type="sib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DE000F3-D6C1-4803-A1E5-DC524A4AE480}">
      <dgm:prSet phldrT="[文本]" custT="1"/>
      <dgm:spPr/>
      <dgm:t>
        <a:bodyPr/>
        <a:lstStyle/>
        <a:p>
          <a:r>
            <a:rPr lang="zh-CN" altLang="en-US" sz="1800" b="1" dirty="0">
              <a:latin typeface="微软雅黑" panose="020B0503020204020204" pitchFamily="34" charset="-122"/>
              <a:ea typeface="微软雅黑" panose="020B0503020204020204" pitchFamily="34" charset="-122"/>
            </a:rPr>
            <a:t>数据链路层使用。</a:t>
          </a:r>
        </a:p>
      </dgm:t>
    </dgm:pt>
    <dgm:pt modelId="{C64D28C4-25B8-4CDC-8A89-C1CF980BB5C1}" type="parTrans" cxnId="{EF82BF05-16DC-4EA5-9A44-1323F3F73B87}">
      <dgm:prSet/>
      <dgm:spPr/>
      <dgm:t>
        <a:bodyPr/>
        <a:lstStyle/>
        <a:p>
          <a:endParaRPr lang="zh-CN" altLang="en-US"/>
        </a:p>
      </dgm:t>
    </dgm:pt>
    <dgm:pt modelId="{30D97064-16C7-4998-BF1A-DB22B53CF04E}" type="sibTrans" cxnId="{EF82BF05-16DC-4EA5-9A44-1323F3F73B87}">
      <dgm:prSet/>
      <dgm:spPr/>
      <dgm:t>
        <a:bodyPr/>
        <a:lstStyle/>
        <a:p>
          <a:endParaRPr lang="zh-CN" altLang="en-US"/>
        </a:p>
      </dgm:t>
    </dgm:pt>
    <dgm:pt modelId="{09A8615C-F22C-48F1-9E19-B8FC9AF13FE9}">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网络层和以上各层使用。</a:t>
          </a:r>
        </a:p>
      </dgm:t>
    </dgm:pt>
    <dgm:pt modelId="{5BD54EF1-4FAB-4065-92C9-BCE2DE81E584}" type="parTrans" cxnId="{A458A4B0-84AA-49EA-8BDC-E4ABE46A7F6F}">
      <dgm:prSet/>
      <dgm:spPr/>
      <dgm:t>
        <a:bodyPr/>
        <a:lstStyle/>
        <a:p>
          <a:endParaRPr lang="zh-CN" altLang="en-US"/>
        </a:p>
      </dgm:t>
    </dgm:pt>
    <dgm:pt modelId="{FB609984-1C85-4848-A207-F57B125554A5}" type="sibTrans" cxnId="{A458A4B0-84AA-49EA-8BDC-E4ABE46A7F6F}">
      <dgm:prSet/>
      <dgm:spPr/>
      <dgm:t>
        <a:bodyPr/>
        <a:lstStyle/>
        <a:p>
          <a:endParaRPr lang="zh-CN" altLang="en-US"/>
        </a:p>
      </dgm:t>
    </dgm:pt>
    <dgm:pt modelId="{323295A5-C594-443E-A7E6-624EA9254300}">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数据报的首部。</a:t>
          </a:r>
        </a:p>
      </dgm:t>
    </dgm:pt>
    <dgm:pt modelId="{200A6130-5C46-4C63-9F44-D454E24722AF}" type="parTrans" cxnId="{2A705B60-B7F3-4BE3-9093-3C1BB2EBCFB5}">
      <dgm:prSet/>
      <dgm:spPr/>
      <dgm:t>
        <a:bodyPr/>
        <a:lstStyle/>
        <a:p>
          <a:endParaRPr lang="zh-CN" altLang="en-US"/>
        </a:p>
      </dgm:t>
    </dgm:pt>
    <dgm:pt modelId="{3830A99E-A088-46F1-9D7A-13AD7413F170}" type="sibTrans" cxnId="{2A705B60-B7F3-4BE3-9093-3C1BB2EBCFB5}">
      <dgm:prSet/>
      <dgm:spPr/>
      <dgm:t>
        <a:bodyPr/>
        <a:lstStyle/>
        <a:p>
          <a:endParaRPr lang="zh-CN" altLang="en-US"/>
        </a:p>
      </dgm:t>
    </dgm:pt>
    <dgm:pt modelId="{0185F6EB-9C9F-4E3E-A388-326818E44F8C}">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帧的首部。</a:t>
          </a:r>
        </a:p>
      </dgm:t>
    </dgm:pt>
    <dgm:pt modelId="{572D545C-3C53-4B90-9A13-8FCA514B982D}" type="parTrans" cxnId="{C181352A-C0B0-4BDB-AF70-349C9595E6B5}">
      <dgm:prSet/>
      <dgm:spPr/>
      <dgm:t>
        <a:bodyPr/>
        <a:lstStyle/>
        <a:p>
          <a:endParaRPr lang="zh-CN" altLang="en-US"/>
        </a:p>
      </dgm:t>
    </dgm:pt>
    <dgm:pt modelId="{130173EF-01ED-485B-B8BB-D3163CE124C9}" type="sibTrans" cxnId="{C181352A-C0B0-4BDB-AF70-349C9595E6B5}">
      <dgm:prSet/>
      <dgm:spPr/>
      <dgm:t>
        <a:bodyPr/>
        <a:lstStyle/>
        <a:p>
          <a:endParaRPr lang="zh-CN" altLang="en-US"/>
        </a:p>
      </dgm:t>
    </dgm:pt>
    <dgm:pt modelId="{F3972236-93CB-4A8C-9066-D6256CD361C1}" type="pres">
      <dgm:prSet presAssocID="{AD708020-4687-41CF-9D7F-6F2391C11BAA}" presName="Name0" presStyleCnt="0">
        <dgm:presLayoutVars>
          <dgm:dir/>
          <dgm:animLvl val="lvl"/>
          <dgm:resizeHandles val="exact"/>
        </dgm:presLayoutVars>
      </dgm:prSet>
      <dgm:spPr/>
    </dgm:pt>
    <dgm:pt modelId="{E2C272DD-8977-4A4D-9E5A-865A155C8D0C}" type="pres">
      <dgm:prSet presAssocID="{99011571-F4E1-4446-A8BE-18E70C05927B}" presName="composite" presStyleCnt="0"/>
      <dgm:spPr/>
    </dgm:pt>
    <dgm:pt modelId="{8A93C829-AB1E-47B7-AF09-3489EE20D87D}" type="pres">
      <dgm:prSet presAssocID="{99011571-F4E1-4446-A8BE-18E70C05927B}" presName="parTx" presStyleLbl="alignNode1" presStyleIdx="0" presStyleCnt="2">
        <dgm:presLayoutVars>
          <dgm:chMax val="0"/>
          <dgm:chPref val="0"/>
          <dgm:bulletEnabled val="1"/>
        </dgm:presLayoutVars>
      </dgm:prSet>
      <dgm:spPr/>
    </dgm:pt>
    <dgm:pt modelId="{ADDE5FA6-A293-4009-AA1F-EF295D5FC61B}" type="pres">
      <dgm:prSet presAssocID="{99011571-F4E1-4446-A8BE-18E70C05927B}" presName="desTx" presStyleLbl="alignAccFollowNode1" presStyleIdx="0" presStyleCnt="2">
        <dgm:presLayoutVars>
          <dgm:bulletEnabled val="1"/>
        </dgm:presLayoutVars>
      </dgm:prSet>
      <dgm:spPr/>
    </dgm:pt>
    <dgm:pt modelId="{8F0BA76D-270F-46B0-A163-3FD6D431D901}" type="pres">
      <dgm:prSet presAssocID="{CF7FCDC9-D001-4CEE-A5E4-71C7F184525C}" presName="space" presStyleCnt="0"/>
      <dgm:spPr/>
    </dgm:pt>
    <dgm:pt modelId="{A71985B1-1665-4492-8E93-44CC7EFEB5EB}" type="pres">
      <dgm:prSet presAssocID="{240657A4-D7B8-468B-A5F4-A2D889160995}" presName="composite" presStyleCnt="0"/>
      <dgm:spPr/>
    </dgm:pt>
    <dgm:pt modelId="{A906942F-4CD9-406B-9703-826231E59346}" type="pres">
      <dgm:prSet presAssocID="{240657A4-D7B8-468B-A5F4-A2D889160995}" presName="parTx" presStyleLbl="alignNode1" presStyleIdx="1" presStyleCnt="2">
        <dgm:presLayoutVars>
          <dgm:chMax val="0"/>
          <dgm:chPref val="0"/>
          <dgm:bulletEnabled val="1"/>
        </dgm:presLayoutVars>
      </dgm:prSet>
      <dgm:spPr/>
    </dgm:pt>
    <dgm:pt modelId="{2B0E6FE9-FDF1-417E-907E-1431E3C22379}" type="pres">
      <dgm:prSet presAssocID="{240657A4-D7B8-468B-A5F4-A2D889160995}" presName="desTx" presStyleLbl="alignAccFollowNode1" presStyleIdx="1" presStyleCnt="2">
        <dgm:presLayoutVars>
          <dgm:bulletEnabled val="1"/>
        </dgm:presLayoutVars>
      </dgm:prSet>
      <dgm:spPr/>
    </dgm:pt>
  </dgm:ptLst>
  <dgm:cxnLst>
    <dgm:cxn modelId="{EF82BF05-16DC-4EA5-9A44-1323F3F73B87}" srcId="{240657A4-D7B8-468B-A5F4-A2D889160995}" destId="{8DE000F3-D6C1-4803-A1E5-DC524A4AE480}" srcOrd="2" destOrd="0" parTransId="{C64D28C4-25B8-4CDC-8A89-C1CF980BB5C1}" sibTransId="{30D97064-16C7-4998-BF1A-DB22B53CF04E}"/>
    <dgm:cxn modelId="{940E770D-49F6-4FC5-86C8-41A8CE548E49}" srcId="{99011571-F4E1-4446-A8BE-18E70C05927B}" destId="{9AD62A53-8D22-4EE5-8913-0BBACA2364E4}" srcOrd="0" destOrd="0" parTransId="{54C85AAA-179D-4E68-BF2A-FFEED0DDB07F}" sibTransId="{1B5217E7-DE89-4742-BCCD-8BFF0AF57BAD}"/>
    <dgm:cxn modelId="{100BB30D-DE2F-47C8-9C30-7B9A2130442F}" type="presOf" srcId="{A79BE541-745A-4292-8465-C36F8EDD321B}" destId="{2B0E6FE9-FDF1-417E-907E-1431E3C22379}" srcOrd="0" destOrd="0" presId="urn:microsoft.com/office/officeart/2005/8/layout/hList1"/>
    <dgm:cxn modelId="{C8E5120F-C10C-4AB6-8450-9F3E16AB7EB6}" srcId="{AD708020-4687-41CF-9D7F-6F2391C11BAA}" destId="{99011571-F4E1-4446-A8BE-18E70C05927B}" srcOrd="0" destOrd="0" parTransId="{4C539E80-9E04-44A9-8367-F7E03B34B249}" sibTransId="{CF7FCDC9-D001-4CEE-A5E4-71C7F184525C}"/>
    <dgm:cxn modelId="{E4FB4313-6C06-4EAF-8D9B-228838EC9797}" type="presOf" srcId="{8DE000F3-D6C1-4803-A1E5-DC524A4AE480}" destId="{2B0E6FE9-FDF1-417E-907E-1431E3C22379}" srcOrd="0" destOrd="2" presId="urn:microsoft.com/office/officeart/2005/8/layout/hList1"/>
    <dgm:cxn modelId="{1A44C014-EBAC-4613-804E-BF0BB88899E3}" type="presOf" srcId="{9AD62A53-8D22-4EE5-8913-0BBACA2364E4}" destId="{ADDE5FA6-A293-4009-AA1F-EF295D5FC61B}" srcOrd="0" destOrd="0" presId="urn:microsoft.com/office/officeart/2005/8/layout/hList1"/>
    <dgm:cxn modelId="{C181352A-C0B0-4BDB-AF70-349C9595E6B5}" srcId="{240657A4-D7B8-468B-A5F4-A2D889160995}" destId="{0185F6EB-9C9F-4E3E-A388-326818E44F8C}" srcOrd="3" destOrd="0" parTransId="{572D545C-3C53-4B90-9A13-8FCA514B982D}" sibTransId="{130173EF-01ED-485B-B8BB-D3163CE124C9}"/>
    <dgm:cxn modelId="{27B67B3E-051F-4D31-B5F5-C79A604E3D16}" type="presOf" srcId="{0185F6EB-9C9F-4E3E-A388-326818E44F8C}" destId="{2B0E6FE9-FDF1-417E-907E-1431E3C22379}" srcOrd="0" destOrd="3" presId="urn:microsoft.com/office/officeart/2005/8/layout/hList1"/>
    <dgm:cxn modelId="{2A705B60-B7F3-4BE3-9093-3C1BB2EBCFB5}" srcId="{99011571-F4E1-4446-A8BE-18E70C05927B}" destId="{323295A5-C594-443E-A7E6-624EA9254300}" srcOrd="2" destOrd="0" parTransId="{200A6130-5C46-4C63-9F44-D454E24722AF}" sibTransId="{3830A99E-A088-46F1-9D7A-13AD7413F170}"/>
    <dgm:cxn modelId="{12E18449-C8D2-4FBD-A252-91AE228C6AF5}" srcId="{240657A4-D7B8-468B-A5F4-A2D889160995}" destId="{A79BE541-745A-4292-8465-C36F8EDD321B}" srcOrd="0" destOrd="0" parTransId="{5FBA12F4-C84B-4A28-AE84-34210DDD6316}" sibTransId="{7E35C864-7EA2-4C2D-AC52-3EE5ABADC5B9}"/>
    <dgm:cxn modelId="{DDF1F850-80F6-4F9D-9863-46C86ADA4419}" type="presOf" srcId="{99011571-F4E1-4446-A8BE-18E70C05927B}" destId="{8A93C829-AB1E-47B7-AF09-3489EE20D87D}" srcOrd="0" destOrd="0" presId="urn:microsoft.com/office/officeart/2005/8/layout/hList1"/>
    <dgm:cxn modelId="{023F1E57-C472-4AFE-BA8E-552A2F3C1394}" type="presOf" srcId="{240657A4-D7B8-468B-A5F4-A2D889160995}" destId="{A906942F-4CD9-406B-9703-826231E59346}" srcOrd="0" destOrd="0" presId="urn:microsoft.com/office/officeart/2005/8/layout/hList1"/>
    <dgm:cxn modelId="{A28AD17C-328B-47C1-B697-997B944516EA}" type="presOf" srcId="{AD708020-4687-41CF-9D7F-6F2391C11BAA}" destId="{F3972236-93CB-4A8C-9066-D6256CD361C1}" srcOrd="0" destOrd="0" presId="urn:microsoft.com/office/officeart/2005/8/layout/hList1"/>
    <dgm:cxn modelId="{E1E0D985-A4D3-4EDE-A0B8-5EEBE6AE8892}" type="presOf" srcId="{033B3BA4-3778-4402-B1E1-C8CFA33A382D}" destId="{2B0E6FE9-FDF1-417E-907E-1431E3C22379}" srcOrd="0" destOrd="1" presId="urn:microsoft.com/office/officeart/2005/8/layout/hList1"/>
    <dgm:cxn modelId="{A458A4B0-84AA-49EA-8BDC-E4ABE46A7F6F}" srcId="{99011571-F4E1-4446-A8BE-18E70C05927B}" destId="{09A8615C-F22C-48F1-9E19-B8FC9AF13FE9}" srcOrd="1" destOrd="0" parTransId="{5BD54EF1-4FAB-4065-92C9-BCE2DE81E584}" sibTransId="{FB609984-1C85-4848-A207-F57B125554A5}"/>
    <dgm:cxn modelId="{CBF248CA-6463-4657-9F43-AF669DCBF514}" srcId="{AD708020-4687-41CF-9D7F-6F2391C11BAA}" destId="{240657A4-D7B8-468B-A5F4-A2D889160995}" srcOrd="1" destOrd="0" parTransId="{A7FDB1D6-023E-42DF-BB39-2015EF26DC0F}" sibTransId="{D09BF549-D68B-48BC-A9E0-62B2344773D6}"/>
    <dgm:cxn modelId="{A4AF79CA-B25E-4F05-82A1-3910C09D6251}" type="presOf" srcId="{09A8615C-F22C-48F1-9E19-B8FC9AF13FE9}" destId="{ADDE5FA6-A293-4009-AA1F-EF295D5FC61B}" srcOrd="0" destOrd="1" presId="urn:microsoft.com/office/officeart/2005/8/layout/hList1"/>
    <dgm:cxn modelId="{FEDB8DEC-B553-4BBF-92EA-A2D2D5DF7CE5}" srcId="{240657A4-D7B8-468B-A5F4-A2D889160995}" destId="{033B3BA4-3778-4402-B1E1-C8CFA33A382D}" srcOrd="1" destOrd="0" parTransId="{A03C24AB-8B7A-424E-9BC6-9376C33A0BF3}" sibTransId="{4BCC1D41-9035-4D7E-9009-AC68C1CAF263}"/>
    <dgm:cxn modelId="{A9D14BF2-E0BB-46D8-845C-FCF21D2BA831}" type="presOf" srcId="{323295A5-C594-443E-A7E6-624EA9254300}" destId="{ADDE5FA6-A293-4009-AA1F-EF295D5FC61B}" srcOrd="0" destOrd="2" presId="urn:microsoft.com/office/officeart/2005/8/layout/hList1"/>
    <dgm:cxn modelId="{1BD00B3F-CC87-45D5-8068-2A12062FAD02}" type="presParOf" srcId="{F3972236-93CB-4A8C-9066-D6256CD361C1}" destId="{E2C272DD-8977-4A4D-9E5A-865A155C8D0C}" srcOrd="0" destOrd="0" presId="urn:microsoft.com/office/officeart/2005/8/layout/hList1"/>
    <dgm:cxn modelId="{149624C9-1A75-44B1-9CFB-47B78E38453E}" type="presParOf" srcId="{E2C272DD-8977-4A4D-9E5A-865A155C8D0C}" destId="{8A93C829-AB1E-47B7-AF09-3489EE20D87D}" srcOrd="0" destOrd="0" presId="urn:microsoft.com/office/officeart/2005/8/layout/hList1"/>
    <dgm:cxn modelId="{C46F3658-24CA-48BE-AB2D-71A4709B311B}" type="presParOf" srcId="{E2C272DD-8977-4A4D-9E5A-865A155C8D0C}" destId="{ADDE5FA6-A293-4009-AA1F-EF295D5FC61B}" srcOrd="1" destOrd="0" presId="urn:microsoft.com/office/officeart/2005/8/layout/hList1"/>
    <dgm:cxn modelId="{A4CE841F-0440-440F-B346-027E34CE9AD6}" type="presParOf" srcId="{F3972236-93CB-4A8C-9066-D6256CD361C1}" destId="{8F0BA76D-270F-46B0-A163-3FD6D431D901}" srcOrd="1" destOrd="0" presId="urn:microsoft.com/office/officeart/2005/8/layout/hList1"/>
    <dgm:cxn modelId="{96A28BED-B426-4E80-8492-DA8F6E83919D}" type="presParOf" srcId="{F3972236-93CB-4A8C-9066-D6256CD361C1}" destId="{A71985B1-1665-4492-8E93-44CC7EFEB5EB}" srcOrd="2" destOrd="0" presId="urn:microsoft.com/office/officeart/2005/8/layout/hList1"/>
    <dgm:cxn modelId="{09D1CB4E-1BB2-4798-8737-C5280060228D}" type="presParOf" srcId="{A71985B1-1665-4492-8E93-44CC7EFEB5EB}" destId="{A906942F-4CD9-406B-9703-826231E59346}" srcOrd="0" destOrd="0" presId="urn:microsoft.com/office/officeart/2005/8/layout/hList1"/>
    <dgm:cxn modelId="{E4145535-F9B1-4E96-8A9A-E1BD35DFCE2B}" type="presParOf" srcId="{A71985B1-1665-4492-8E93-44CC7EFEB5EB}" destId="{2B0E6FE9-FDF1-417E-907E-1431E3C22379}"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57319EB9-4614-4568-9791-C9AE0156F741}" type="doc">
      <dgm:prSet loTypeId="urn:microsoft.com/office/officeart/2008/layout/AlternatingHexagons" loCatId="list" qsTypeId="urn:microsoft.com/office/officeart/2005/8/quickstyle/simple1" qsCatId="simple" csTypeId="urn:microsoft.com/office/officeart/2005/8/colors/colorful1#5" csCatId="colorful" phldr="1"/>
      <dgm:spPr/>
      <dgm:t>
        <a:bodyPr/>
        <a:lstStyle/>
        <a:p>
          <a:endParaRPr lang="zh-CN" altLang="en-US"/>
        </a:p>
      </dgm:t>
    </dgm:pt>
    <dgm:pt modelId="{AB5687E8-7BC4-4584-9467-92CFB3784C13}">
      <dgm:prSet phldrT="[文本]" custT="1"/>
      <dgm:spPr/>
      <dgm:t>
        <a:bodyPr/>
        <a:lstStyle/>
        <a:p>
          <a:r>
            <a:rPr lang="zh-CN" altLang="en-US" sz="1800" b="1" dirty="0">
              <a:latin typeface="微软雅黑" panose="020B0503020204020204" pitchFamily="34" charset="-122"/>
              <a:ea typeface="微软雅黑" panose="020B0503020204020204" pitchFamily="34" charset="-122"/>
            </a:rPr>
            <a:t>稳定</a:t>
          </a:r>
        </a:p>
      </dgm:t>
    </dgm:pt>
    <dgm:pt modelId="{814585C0-CCC5-4B07-B56D-34ECF1C65DD7}" type="parTrans" cxnId="{AF7B03E1-1404-4373-A86D-92C0E226D4F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F28841C-B424-47DC-9BDD-951BD626D164}" type="sibTrans" cxnId="{AF7B03E1-1404-4373-A86D-92C0E226D4F6}">
      <dgm:prSet custT="1"/>
      <dgm:spPr/>
      <dgm:t>
        <a:bodyPr/>
        <a:lstStyle/>
        <a:p>
          <a:endParaRPr lang="zh-CN" altLang="en-US" sz="1800" b="1">
            <a:latin typeface="微软雅黑" panose="020B0503020204020204" pitchFamily="34" charset="-122"/>
            <a:ea typeface="微软雅黑" panose="020B0503020204020204" pitchFamily="34" charset="-122"/>
          </a:endParaRPr>
        </a:p>
      </dgm:t>
    </dgm:pt>
    <dgm:pt modelId="{B13767DF-D7F0-42AE-9A33-BBD61F852019}">
      <dgm:prSet phldrT="[文本]" custT="1"/>
      <dgm:spPr/>
      <dgm:t>
        <a:bodyPr/>
        <a:lstStyle/>
        <a:p>
          <a:r>
            <a:rPr lang="zh-CN" altLang="en-US" sz="1800" b="1" dirty="0">
              <a:latin typeface="微软雅黑" panose="020B0503020204020204" pitchFamily="34" charset="-122"/>
              <a:ea typeface="微软雅黑" panose="020B0503020204020204" pitchFamily="34" charset="-122"/>
            </a:rPr>
            <a:t>计算简单</a:t>
          </a:r>
        </a:p>
      </dgm:t>
    </dgm:pt>
    <dgm:pt modelId="{53FCE7C6-1925-4D3C-A46D-F5501D7FD26E}" type="par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F2BB5ED8-761D-4AE3-8527-CD2935FBA572}" type="sib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9FEC0-3405-40B5-B834-1ADB41612053}">
      <dgm:prSet phldrT="[文本]" custT="1"/>
      <dgm:spPr/>
      <dgm:t>
        <a:bodyPr/>
        <a:lstStyle/>
        <a:p>
          <a:r>
            <a:rPr lang="zh-CN" altLang="en-US" sz="1800" b="1" dirty="0">
              <a:latin typeface="微软雅黑" panose="020B0503020204020204" pitchFamily="34" charset="-122"/>
              <a:ea typeface="微软雅黑" panose="020B0503020204020204" pitchFamily="34" charset="-122"/>
            </a:rPr>
            <a:t>公平</a:t>
          </a:r>
        </a:p>
      </dgm:t>
    </dgm:pt>
    <dgm:pt modelId="{D2CE15DA-8B28-4235-AA02-B5CFD4C10A77}" type="parTrans" cxnId="{0181C94A-406C-41C2-8903-44C5D0FAEA4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A56A9C6-98C6-4226-B6E3-7BD7731D2425}" type="sibTrans" cxnId="{0181C94A-406C-41C2-8903-44C5D0FAEA44}">
      <dgm:prSet custT="1"/>
      <dgm:spPr/>
      <dgm:t>
        <a:bodyPr/>
        <a:lstStyle/>
        <a:p>
          <a:pPr>
            <a:spcAft>
              <a:spcPts val="0"/>
            </a:spcAft>
          </a:pPr>
          <a:endParaRPr lang="zh-CN" altLang="en-US" sz="1800" b="1" dirty="0">
            <a:latin typeface="微软雅黑" panose="020B0503020204020204" pitchFamily="34" charset="-122"/>
            <a:ea typeface="微软雅黑" panose="020B0503020204020204" pitchFamily="34" charset="-122"/>
          </a:endParaRPr>
        </a:p>
      </dgm:t>
    </dgm:pt>
    <dgm:pt modelId="{65CB75E3-D942-499E-90E7-C58E3DF7223C}">
      <dgm:prSet phldrT="[文本]" custT="1"/>
      <dgm:spPr/>
      <dgm:t>
        <a:bodyPr/>
        <a:lstStyle/>
        <a:p>
          <a:endParaRPr lang="zh-CN" altLang="en-US" sz="1800" b="1" dirty="0">
            <a:latin typeface="微软雅黑" panose="020B0503020204020204" pitchFamily="34" charset="-122"/>
            <a:ea typeface="微软雅黑" panose="020B0503020204020204" pitchFamily="34" charset="-122"/>
          </a:endParaRPr>
        </a:p>
      </dgm:t>
    </dgm:pt>
    <dgm:pt modelId="{CC59D6ED-6908-4C5A-B37D-F88F0A01801C}" type="par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51142B5-0AE8-42B0-9ED8-2E612F0E474F}" type="sib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B2162A3-B6D6-4882-92D7-839ABCD99519}">
      <dgm:prSet phldrT="[文本]" custT="1"/>
      <dgm:spPr/>
      <dgm:t>
        <a:bodyPr/>
        <a:lstStyle/>
        <a:p>
          <a:pPr>
            <a:spcAft>
              <a:spcPts val="0"/>
            </a:spcAft>
          </a:pPr>
          <a:r>
            <a:rPr lang="zh-CN" altLang="en-US" sz="1800" b="1" dirty="0">
              <a:latin typeface="微软雅黑" panose="020B0503020204020204" pitchFamily="34" charset="-122"/>
              <a:ea typeface="微软雅黑" panose="020B0503020204020204" pitchFamily="34" charset="-122"/>
            </a:rPr>
            <a:t>正确完整</a:t>
          </a:r>
        </a:p>
      </dgm:t>
    </dgm:pt>
    <dgm:pt modelId="{A0DE5CA0-9936-4415-9D37-B5D7B0297554}" type="parTrans" cxnId="{B23DC919-1C5C-447D-8330-63D1A634F79F}">
      <dgm:prSet/>
      <dgm:spPr/>
      <dgm:t>
        <a:bodyPr/>
        <a:lstStyle/>
        <a:p>
          <a:endParaRPr lang="zh-CN" altLang="en-US"/>
        </a:p>
      </dgm:t>
    </dgm:pt>
    <dgm:pt modelId="{10B47134-1EE4-4E8B-98E5-55DB217025FD}" type="sibTrans" cxnId="{B23DC919-1C5C-447D-8330-63D1A634F79F}">
      <dgm:prSet/>
      <dgm:spPr/>
      <dgm:t>
        <a:bodyPr/>
        <a:lstStyle/>
        <a:p>
          <a:endParaRPr lang="zh-CN" altLang="en-US"/>
        </a:p>
      </dgm:t>
    </dgm:pt>
    <dgm:pt modelId="{B572B81A-C8A2-4261-9B1A-1A690FA730F2}">
      <dgm:prSet phldrT="[文本]" custT="1"/>
      <dgm:spPr/>
      <dgm:t>
        <a:bodyPr/>
        <a:lstStyle/>
        <a:p>
          <a:r>
            <a:rPr lang="zh-CN" altLang="en-US" sz="1800" b="1" dirty="0">
              <a:latin typeface="微软雅黑" panose="020B0503020204020204" pitchFamily="34" charset="-122"/>
              <a:ea typeface="微软雅黑" panose="020B0503020204020204" pitchFamily="34" charset="-122"/>
            </a:rPr>
            <a:t>最佳</a:t>
          </a:r>
        </a:p>
      </dgm:t>
    </dgm:pt>
    <dgm:pt modelId="{B15EB8DE-96C1-4360-B410-D682B58C471B}" type="sibTrans" cxnId="{AD1A8F3B-C1FC-4FD6-B24B-3D915E296046}">
      <dgm:prSet custT="1"/>
      <dgm:spPr/>
      <dgm:t>
        <a:bodyPr/>
        <a:lstStyle/>
        <a:p>
          <a:r>
            <a:rPr lang="zh-CN" altLang="en-US" sz="1600" b="1" dirty="0">
              <a:latin typeface="微软雅黑" panose="020B0503020204020204" pitchFamily="34" charset="-122"/>
              <a:ea typeface="微软雅黑" panose="020B0503020204020204" pitchFamily="34" charset="-122"/>
            </a:rPr>
            <a:t>自适应</a:t>
          </a:r>
        </a:p>
      </dgm:t>
    </dgm:pt>
    <dgm:pt modelId="{191F5F4E-3800-4CA8-B18A-223C9ADC88F8}" type="parTrans" cxnId="{AD1A8F3B-C1FC-4FD6-B24B-3D915E29604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DB79EA0-A44C-4962-A355-08F2557026A0}" type="pres">
      <dgm:prSet presAssocID="{57319EB9-4614-4568-9791-C9AE0156F741}" presName="Name0" presStyleCnt="0">
        <dgm:presLayoutVars>
          <dgm:chMax/>
          <dgm:chPref/>
          <dgm:dir/>
          <dgm:animLvl val="lvl"/>
        </dgm:presLayoutVars>
      </dgm:prSet>
      <dgm:spPr/>
    </dgm:pt>
    <dgm:pt modelId="{0A2E94F4-9538-4412-A5DB-82BF5599FE8B}" type="pres">
      <dgm:prSet presAssocID="{AB5687E8-7BC4-4584-9467-92CFB3784C13}" presName="composite" presStyleCnt="0"/>
      <dgm:spPr/>
    </dgm:pt>
    <dgm:pt modelId="{DC8CECCC-33E8-4D44-AF7B-D639E8E0A9B0}" type="pres">
      <dgm:prSet presAssocID="{AB5687E8-7BC4-4584-9467-92CFB3784C13}" presName="Parent1" presStyleLbl="node1" presStyleIdx="0" presStyleCnt="6">
        <dgm:presLayoutVars>
          <dgm:chMax val="1"/>
          <dgm:chPref val="1"/>
          <dgm:bulletEnabled val="1"/>
        </dgm:presLayoutVars>
      </dgm:prSet>
      <dgm:spPr/>
    </dgm:pt>
    <dgm:pt modelId="{77C4C6C5-334A-4E65-979D-B22FCFC4D25B}" type="pres">
      <dgm:prSet presAssocID="{AB5687E8-7BC4-4584-9467-92CFB3784C13}" presName="Childtext1" presStyleLbl="revTx" presStyleIdx="0" presStyleCnt="3">
        <dgm:presLayoutVars>
          <dgm:chMax val="0"/>
          <dgm:chPref val="0"/>
          <dgm:bulletEnabled val="1"/>
        </dgm:presLayoutVars>
      </dgm:prSet>
      <dgm:spPr/>
    </dgm:pt>
    <dgm:pt modelId="{ECCD8BEB-7330-44C1-BA10-F2A2DAC3CBF7}" type="pres">
      <dgm:prSet presAssocID="{AB5687E8-7BC4-4584-9467-92CFB3784C13}" presName="BalanceSpacing" presStyleCnt="0"/>
      <dgm:spPr/>
    </dgm:pt>
    <dgm:pt modelId="{291DBE6B-442F-4F4E-84CC-BF472AC858D2}" type="pres">
      <dgm:prSet presAssocID="{AB5687E8-7BC4-4584-9467-92CFB3784C13}" presName="BalanceSpacing1" presStyleCnt="0"/>
      <dgm:spPr/>
    </dgm:pt>
    <dgm:pt modelId="{FA279299-B666-469F-8777-B71225E62A40}" type="pres">
      <dgm:prSet presAssocID="{6F28841C-B424-47DC-9BDD-951BD626D164}" presName="Accent1Text" presStyleLbl="node1" presStyleIdx="1" presStyleCnt="6"/>
      <dgm:spPr/>
    </dgm:pt>
    <dgm:pt modelId="{151082C4-983E-4E15-A83E-ECEE4D75F748}" type="pres">
      <dgm:prSet presAssocID="{6F28841C-B424-47DC-9BDD-951BD626D164}" presName="spaceBetweenRectangles" presStyleCnt="0"/>
      <dgm:spPr/>
    </dgm:pt>
    <dgm:pt modelId="{05EA092A-05D3-4432-BC70-BC13F3DBD001}" type="pres">
      <dgm:prSet presAssocID="{B572B81A-C8A2-4261-9B1A-1A690FA730F2}" presName="composite" presStyleCnt="0"/>
      <dgm:spPr/>
    </dgm:pt>
    <dgm:pt modelId="{5CDA83B7-524F-419D-8B88-84CC727E3270}" type="pres">
      <dgm:prSet presAssocID="{B572B81A-C8A2-4261-9B1A-1A690FA730F2}" presName="Parent1" presStyleLbl="node1" presStyleIdx="2" presStyleCnt="6">
        <dgm:presLayoutVars>
          <dgm:chMax val="1"/>
          <dgm:chPref val="1"/>
          <dgm:bulletEnabled val="1"/>
        </dgm:presLayoutVars>
      </dgm:prSet>
      <dgm:spPr/>
    </dgm:pt>
    <dgm:pt modelId="{9F9A9FAC-12D3-4655-B2AA-04364F1E88CE}" type="pres">
      <dgm:prSet presAssocID="{B572B81A-C8A2-4261-9B1A-1A690FA730F2}" presName="Childtext1" presStyleLbl="revTx" presStyleIdx="1" presStyleCnt="3">
        <dgm:presLayoutVars>
          <dgm:chMax val="0"/>
          <dgm:chPref val="0"/>
          <dgm:bulletEnabled val="1"/>
        </dgm:presLayoutVars>
      </dgm:prSet>
      <dgm:spPr/>
    </dgm:pt>
    <dgm:pt modelId="{3FB203CB-0438-4D34-A30F-718B07D59709}" type="pres">
      <dgm:prSet presAssocID="{B572B81A-C8A2-4261-9B1A-1A690FA730F2}" presName="BalanceSpacing" presStyleCnt="0"/>
      <dgm:spPr/>
    </dgm:pt>
    <dgm:pt modelId="{8AB624BF-00CE-441D-9E28-FD69C6F7A5AB}" type="pres">
      <dgm:prSet presAssocID="{B572B81A-C8A2-4261-9B1A-1A690FA730F2}" presName="BalanceSpacing1" presStyleCnt="0"/>
      <dgm:spPr/>
    </dgm:pt>
    <dgm:pt modelId="{BC9E837C-7471-448B-B8E7-D49F71F18600}" type="pres">
      <dgm:prSet presAssocID="{B15EB8DE-96C1-4360-B410-D682B58C471B}" presName="Accent1Text" presStyleLbl="node1" presStyleIdx="3" presStyleCnt="6"/>
      <dgm:spPr/>
    </dgm:pt>
    <dgm:pt modelId="{93506089-6327-4A0E-8CB1-F7C151D7F04B}" type="pres">
      <dgm:prSet presAssocID="{B15EB8DE-96C1-4360-B410-D682B58C471B}" presName="spaceBetweenRectangles" presStyleCnt="0"/>
      <dgm:spPr/>
    </dgm:pt>
    <dgm:pt modelId="{53A265BD-9BFF-49CE-85B9-C0A8B390C52B}" type="pres">
      <dgm:prSet presAssocID="{A8D9FEC0-3405-40B5-B834-1ADB41612053}" presName="composite" presStyleCnt="0"/>
      <dgm:spPr/>
    </dgm:pt>
    <dgm:pt modelId="{F18AFA34-AF22-48CA-A491-D3AA2FDCF09E}" type="pres">
      <dgm:prSet presAssocID="{A8D9FEC0-3405-40B5-B834-1ADB41612053}" presName="Parent1" presStyleLbl="node1" presStyleIdx="4" presStyleCnt="6">
        <dgm:presLayoutVars>
          <dgm:chMax val="1"/>
          <dgm:chPref val="1"/>
          <dgm:bulletEnabled val="1"/>
        </dgm:presLayoutVars>
      </dgm:prSet>
      <dgm:spPr/>
    </dgm:pt>
    <dgm:pt modelId="{5B9F08EB-293A-42A1-ACFE-48E8E54FC3D0}" type="pres">
      <dgm:prSet presAssocID="{A8D9FEC0-3405-40B5-B834-1ADB41612053}" presName="Childtext1" presStyleLbl="revTx" presStyleIdx="2" presStyleCnt="3">
        <dgm:presLayoutVars>
          <dgm:chMax val="0"/>
          <dgm:chPref val="0"/>
          <dgm:bulletEnabled val="1"/>
        </dgm:presLayoutVars>
      </dgm:prSet>
      <dgm:spPr/>
    </dgm:pt>
    <dgm:pt modelId="{E1AE432F-E2E5-4DCE-8DE5-E8271CFC7CB9}" type="pres">
      <dgm:prSet presAssocID="{A8D9FEC0-3405-40B5-B834-1ADB41612053}" presName="BalanceSpacing" presStyleCnt="0"/>
      <dgm:spPr/>
    </dgm:pt>
    <dgm:pt modelId="{3CC8B6BB-8A89-4224-8AC0-36412DC26484}" type="pres">
      <dgm:prSet presAssocID="{A8D9FEC0-3405-40B5-B834-1ADB41612053}" presName="BalanceSpacing1" presStyleCnt="0"/>
      <dgm:spPr/>
    </dgm:pt>
    <dgm:pt modelId="{9DAF7479-96E8-43C9-8AC5-D44A0AC1DE87}" type="pres">
      <dgm:prSet presAssocID="{4A56A9C6-98C6-4226-B6E3-7BD7731D2425}" presName="Accent1Text" presStyleLbl="node1" presStyleIdx="5" presStyleCnt="6"/>
      <dgm:spPr/>
    </dgm:pt>
  </dgm:ptLst>
  <dgm:cxnLst>
    <dgm:cxn modelId="{B23DC919-1C5C-447D-8330-63D1A634F79F}" srcId="{B572B81A-C8A2-4261-9B1A-1A690FA730F2}" destId="{8B2162A3-B6D6-4882-92D7-839ABCD99519}" srcOrd="0" destOrd="0" parTransId="{A0DE5CA0-9936-4415-9D37-B5D7B0297554}" sibTransId="{10B47134-1EE4-4E8B-98E5-55DB217025FD}"/>
    <dgm:cxn modelId="{854B341E-478D-4377-88B0-5D9926DA9C22}" type="presOf" srcId="{65CB75E3-D942-499E-90E7-C58E3DF7223C}" destId="{5B9F08EB-293A-42A1-ACFE-48E8E54FC3D0}" srcOrd="0" destOrd="0" presId="urn:microsoft.com/office/officeart/2008/layout/AlternatingHexagons"/>
    <dgm:cxn modelId="{1EA89022-EAD6-4A1E-868E-ECEF52C36233}" type="presOf" srcId="{57319EB9-4614-4568-9791-C9AE0156F741}" destId="{BDB79EA0-A44C-4962-A355-08F2557026A0}" srcOrd="0" destOrd="0" presId="urn:microsoft.com/office/officeart/2008/layout/AlternatingHexagons"/>
    <dgm:cxn modelId="{D87EBE2F-2396-4B08-A3E0-9A01DAFD9930}" type="presOf" srcId="{B13767DF-D7F0-42AE-9A33-BBD61F852019}" destId="{77C4C6C5-334A-4E65-979D-B22FCFC4D25B}" srcOrd="0" destOrd="0" presId="urn:microsoft.com/office/officeart/2008/layout/AlternatingHexagons"/>
    <dgm:cxn modelId="{AD1A8F3B-C1FC-4FD6-B24B-3D915E296046}" srcId="{57319EB9-4614-4568-9791-C9AE0156F741}" destId="{B572B81A-C8A2-4261-9B1A-1A690FA730F2}" srcOrd="1" destOrd="0" parTransId="{191F5F4E-3800-4CA8-B18A-223C9ADC88F8}" sibTransId="{B15EB8DE-96C1-4360-B410-D682B58C471B}"/>
    <dgm:cxn modelId="{0181C94A-406C-41C2-8903-44C5D0FAEA44}" srcId="{57319EB9-4614-4568-9791-C9AE0156F741}" destId="{A8D9FEC0-3405-40B5-B834-1ADB41612053}" srcOrd="2" destOrd="0" parTransId="{D2CE15DA-8B28-4235-AA02-B5CFD4C10A77}" sibTransId="{4A56A9C6-98C6-4226-B6E3-7BD7731D2425}"/>
    <dgm:cxn modelId="{9934016B-A3D1-4F7B-8CFA-0172104FCA08}" srcId="{A8D9FEC0-3405-40B5-B834-1ADB41612053}" destId="{65CB75E3-D942-499E-90E7-C58E3DF7223C}" srcOrd="0" destOrd="0" parTransId="{CC59D6ED-6908-4C5A-B37D-F88F0A01801C}" sibTransId="{B51142B5-0AE8-42B0-9ED8-2E612F0E474F}"/>
    <dgm:cxn modelId="{EE27E354-F222-48DD-A34D-BF81FC976956}" srcId="{AB5687E8-7BC4-4584-9467-92CFB3784C13}" destId="{B13767DF-D7F0-42AE-9A33-BBD61F852019}" srcOrd="0" destOrd="0" parTransId="{53FCE7C6-1925-4D3C-A46D-F5501D7FD26E}" sibTransId="{F2BB5ED8-761D-4AE3-8527-CD2935FBA572}"/>
    <dgm:cxn modelId="{1A24AA79-36B7-4ABB-83C8-48E85D928774}" type="presOf" srcId="{A8D9FEC0-3405-40B5-B834-1ADB41612053}" destId="{F18AFA34-AF22-48CA-A491-D3AA2FDCF09E}" srcOrd="0" destOrd="0" presId="urn:microsoft.com/office/officeart/2008/layout/AlternatingHexagons"/>
    <dgm:cxn modelId="{7F1E3DAD-FB0E-411A-97C1-C61575C84E10}" type="presOf" srcId="{B572B81A-C8A2-4261-9B1A-1A690FA730F2}" destId="{5CDA83B7-524F-419D-8B88-84CC727E3270}" srcOrd="0" destOrd="0" presId="urn:microsoft.com/office/officeart/2008/layout/AlternatingHexagons"/>
    <dgm:cxn modelId="{B0D2AEB8-E263-4457-BE44-F9C58357F531}" type="presOf" srcId="{8B2162A3-B6D6-4882-92D7-839ABCD99519}" destId="{9F9A9FAC-12D3-4655-B2AA-04364F1E88CE}" srcOrd="0" destOrd="0" presId="urn:microsoft.com/office/officeart/2008/layout/AlternatingHexagons"/>
    <dgm:cxn modelId="{05D89DBA-EB48-4970-A84F-132494D3F8A4}" type="presOf" srcId="{B15EB8DE-96C1-4360-B410-D682B58C471B}" destId="{BC9E837C-7471-448B-B8E7-D49F71F18600}" srcOrd="0" destOrd="0" presId="urn:microsoft.com/office/officeart/2008/layout/AlternatingHexagons"/>
    <dgm:cxn modelId="{1A9FA0BD-6564-49D1-B4E7-071B852D71CF}" type="presOf" srcId="{AB5687E8-7BC4-4584-9467-92CFB3784C13}" destId="{DC8CECCC-33E8-4D44-AF7B-D639E8E0A9B0}" srcOrd="0" destOrd="0" presId="urn:microsoft.com/office/officeart/2008/layout/AlternatingHexagons"/>
    <dgm:cxn modelId="{A7F9E5C6-0819-42FE-9650-F38AD26399A1}" type="presOf" srcId="{4A56A9C6-98C6-4226-B6E3-7BD7731D2425}" destId="{9DAF7479-96E8-43C9-8AC5-D44A0AC1DE87}" srcOrd="0" destOrd="0" presId="urn:microsoft.com/office/officeart/2008/layout/AlternatingHexagons"/>
    <dgm:cxn modelId="{BD8500E0-55DF-45C7-A226-F3EFB2FC53C2}" type="presOf" srcId="{6F28841C-B424-47DC-9BDD-951BD626D164}" destId="{FA279299-B666-469F-8777-B71225E62A40}" srcOrd="0" destOrd="0" presId="urn:microsoft.com/office/officeart/2008/layout/AlternatingHexagons"/>
    <dgm:cxn modelId="{AF7B03E1-1404-4373-A86D-92C0E226D4F6}" srcId="{57319EB9-4614-4568-9791-C9AE0156F741}" destId="{AB5687E8-7BC4-4584-9467-92CFB3784C13}" srcOrd="0" destOrd="0" parTransId="{814585C0-CCC5-4B07-B56D-34ECF1C65DD7}" sibTransId="{6F28841C-B424-47DC-9BDD-951BD626D164}"/>
    <dgm:cxn modelId="{D7FA2035-EBD0-41D0-83AA-A076203A41BA}" type="presParOf" srcId="{BDB79EA0-A44C-4962-A355-08F2557026A0}" destId="{0A2E94F4-9538-4412-A5DB-82BF5599FE8B}" srcOrd="0" destOrd="0" presId="urn:microsoft.com/office/officeart/2008/layout/AlternatingHexagons"/>
    <dgm:cxn modelId="{E5590B59-C290-4C4E-ABCC-406384A041E6}" type="presParOf" srcId="{0A2E94F4-9538-4412-A5DB-82BF5599FE8B}" destId="{DC8CECCC-33E8-4D44-AF7B-D639E8E0A9B0}" srcOrd="0" destOrd="0" presId="urn:microsoft.com/office/officeart/2008/layout/AlternatingHexagons"/>
    <dgm:cxn modelId="{4A7D7427-D4DB-4797-A038-571B41276486}" type="presParOf" srcId="{0A2E94F4-9538-4412-A5DB-82BF5599FE8B}" destId="{77C4C6C5-334A-4E65-979D-B22FCFC4D25B}" srcOrd="1" destOrd="0" presId="urn:microsoft.com/office/officeart/2008/layout/AlternatingHexagons"/>
    <dgm:cxn modelId="{F24B6F93-D3E2-46F3-9AF4-E8DD68930C33}" type="presParOf" srcId="{0A2E94F4-9538-4412-A5DB-82BF5599FE8B}" destId="{ECCD8BEB-7330-44C1-BA10-F2A2DAC3CBF7}" srcOrd="2" destOrd="0" presId="urn:microsoft.com/office/officeart/2008/layout/AlternatingHexagons"/>
    <dgm:cxn modelId="{1902FE8E-9AB4-4C21-9DD8-EEB151A48058}" type="presParOf" srcId="{0A2E94F4-9538-4412-A5DB-82BF5599FE8B}" destId="{291DBE6B-442F-4F4E-84CC-BF472AC858D2}" srcOrd="3" destOrd="0" presId="urn:microsoft.com/office/officeart/2008/layout/AlternatingHexagons"/>
    <dgm:cxn modelId="{2C369838-422A-4B11-8142-14A7315BC8D1}" type="presParOf" srcId="{0A2E94F4-9538-4412-A5DB-82BF5599FE8B}" destId="{FA279299-B666-469F-8777-B71225E62A40}" srcOrd="4" destOrd="0" presId="urn:microsoft.com/office/officeart/2008/layout/AlternatingHexagons"/>
    <dgm:cxn modelId="{0FFE630C-18ED-44D8-9C49-F25E47BD9D4C}" type="presParOf" srcId="{BDB79EA0-A44C-4962-A355-08F2557026A0}" destId="{151082C4-983E-4E15-A83E-ECEE4D75F748}" srcOrd="1" destOrd="0" presId="urn:microsoft.com/office/officeart/2008/layout/AlternatingHexagons"/>
    <dgm:cxn modelId="{F718D841-33FE-4C9D-8E88-7ADEDC3741DC}" type="presParOf" srcId="{BDB79EA0-A44C-4962-A355-08F2557026A0}" destId="{05EA092A-05D3-4432-BC70-BC13F3DBD001}" srcOrd="2" destOrd="0" presId="urn:microsoft.com/office/officeart/2008/layout/AlternatingHexagons"/>
    <dgm:cxn modelId="{D2245785-5C4D-42DE-B1F1-A7398AB0880C}" type="presParOf" srcId="{05EA092A-05D3-4432-BC70-BC13F3DBD001}" destId="{5CDA83B7-524F-419D-8B88-84CC727E3270}" srcOrd="0" destOrd="0" presId="urn:microsoft.com/office/officeart/2008/layout/AlternatingHexagons"/>
    <dgm:cxn modelId="{A703FEEE-3538-4B3A-8AD2-BC9C10CF1CE5}" type="presParOf" srcId="{05EA092A-05D3-4432-BC70-BC13F3DBD001}" destId="{9F9A9FAC-12D3-4655-B2AA-04364F1E88CE}" srcOrd="1" destOrd="0" presId="urn:microsoft.com/office/officeart/2008/layout/AlternatingHexagons"/>
    <dgm:cxn modelId="{C504A51A-3EE2-4256-B251-287AACB5164C}" type="presParOf" srcId="{05EA092A-05D3-4432-BC70-BC13F3DBD001}" destId="{3FB203CB-0438-4D34-A30F-718B07D59709}" srcOrd="2" destOrd="0" presId="urn:microsoft.com/office/officeart/2008/layout/AlternatingHexagons"/>
    <dgm:cxn modelId="{26E25EEA-2650-4762-AA08-44B68793E464}" type="presParOf" srcId="{05EA092A-05D3-4432-BC70-BC13F3DBD001}" destId="{8AB624BF-00CE-441D-9E28-FD69C6F7A5AB}" srcOrd="3" destOrd="0" presId="urn:microsoft.com/office/officeart/2008/layout/AlternatingHexagons"/>
    <dgm:cxn modelId="{EE96E550-E8E9-4B4E-9C05-627AD2369012}" type="presParOf" srcId="{05EA092A-05D3-4432-BC70-BC13F3DBD001}" destId="{BC9E837C-7471-448B-B8E7-D49F71F18600}" srcOrd="4" destOrd="0" presId="urn:microsoft.com/office/officeart/2008/layout/AlternatingHexagons"/>
    <dgm:cxn modelId="{B1CD5167-D0BD-481E-9AB4-7CB02E0496ED}" type="presParOf" srcId="{BDB79EA0-A44C-4962-A355-08F2557026A0}" destId="{93506089-6327-4A0E-8CB1-F7C151D7F04B}" srcOrd="3" destOrd="0" presId="urn:microsoft.com/office/officeart/2008/layout/AlternatingHexagons"/>
    <dgm:cxn modelId="{EDA3F6DD-1F0C-433D-A159-BD7956608BAA}" type="presParOf" srcId="{BDB79EA0-A44C-4962-A355-08F2557026A0}" destId="{53A265BD-9BFF-49CE-85B9-C0A8B390C52B}" srcOrd="4" destOrd="0" presId="urn:microsoft.com/office/officeart/2008/layout/AlternatingHexagons"/>
    <dgm:cxn modelId="{A0A45F4F-34AF-475C-B94A-B6E1B6498E80}" type="presParOf" srcId="{53A265BD-9BFF-49CE-85B9-C0A8B390C52B}" destId="{F18AFA34-AF22-48CA-A491-D3AA2FDCF09E}" srcOrd="0" destOrd="0" presId="urn:microsoft.com/office/officeart/2008/layout/AlternatingHexagons"/>
    <dgm:cxn modelId="{3E7E0B01-05B3-48F4-984E-05EE59B75D64}" type="presParOf" srcId="{53A265BD-9BFF-49CE-85B9-C0A8B390C52B}" destId="{5B9F08EB-293A-42A1-ACFE-48E8E54FC3D0}" srcOrd="1" destOrd="0" presId="urn:microsoft.com/office/officeart/2008/layout/AlternatingHexagons"/>
    <dgm:cxn modelId="{1DE598C3-2566-438C-AC03-78FC8AD49E29}" type="presParOf" srcId="{53A265BD-9BFF-49CE-85B9-C0A8B390C52B}" destId="{E1AE432F-E2E5-4DCE-8DE5-E8271CFC7CB9}" srcOrd="2" destOrd="0" presId="urn:microsoft.com/office/officeart/2008/layout/AlternatingHexagons"/>
    <dgm:cxn modelId="{0D3E6AFB-074C-4100-B138-1515AA97D2BA}" type="presParOf" srcId="{53A265BD-9BFF-49CE-85B9-C0A8B390C52B}" destId="{3CC8B6BB-8A89-4224-8AC0-36412DC26484}" srcOrd="3" destOrd="0" presId="urn:microsoft.com/office/officeart/2008/layout/AlternatingHexagons"/>
    <dgm:cxn modelId="{F7A1D5E8-8DC7-45B4-A07E-A3D18E8038BB}" type="presParOf" srcId="{53A265BD-9BFF-49CE-85B9-C0A8B390C52B}" destId="{9DAF7479-96E8-43C9-8AC5-D44A0AC1DE87}" srcOrd="4" destOrd="0" presId="urn:microsoft.com/office/officeart/2008/layout/AlternatingHexagon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4533357B-E680-4D30-8206-A709B50D7624}" type="doc">
      <dgm:prSet loTypeId="urn:microsoft.com/office/officeart/2005/8/layout/vList2" loCatId="list" qsTypeId="urn:microsoft.com/office/officeart/2005/8/quickstyle/simple4" qsCatId="simple" csTypeId="urn:microsoft.com/office/officeart/2005/8/colors/colorful1#6" csCatId="colorful" phldr="1"/>
      <dgm:spPr/>
      <dgm:t>
        <a:bodyPr/>
        <a:lstStyle/>
        <a:p>
          <a:endParaRPr lang="zh-CN" altLang="en-US"/>
        </a:p>
      </dgm:t>
    </dgm:pt>
    <dgm:pt modelId="{16518293-AEFA-448E-8DCB-4EA94D6D26E9}">
      <dgm:prSet phldrT="[文本]" custT="1"/>
      <dgm:spPr/>
      <dgm:t>
        <a:bodyPr/>
        <a:lstStyle/>
        <a:p>
          <a:r>
            <a:rPr lang="zh-CN" altLang="en-US" sz="2000" b="1" dirty="0">
              <a:latin typeface="微软雅黑" panose="020B0503020204020204" pitchFamily="34" charset="-122"/>
              <a:ea typeface="微软雅黑" panose="020B0503020204020204" pitchFamily="34" charset="-122"/>
            </a:rPr>
            <a:t>关于“最佳路由”</a:t>
          </a:r>
        </a:p>
      </dgm:t>
    </dgm:pt>
    <dgm:pt modelId="{8ED58918-7B83-421A-963D-28174E03A511}" type="par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8748E35-BABA-4D79-9B11-5D2B51A27A71}" type="sib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0BC86A4-9190-42EE-99B2-658A1A49036F}">
      <dgm:prSet phldrT="[文本]" custT="1"/>
      <dgm:spPr/>
      <dgm:t>
        <a:bodyPr/>
        <a:lstStyle/>
        <a:p>
          <a:r>
            <a:rPr lang="zh-CN" altLang="en-US" sz="1800" b="1" dirty="0">
              <a:latin typeface="微软雅黑" panose="020B0503020204020204" pitchFamily="34" charset="-122"/>
              <a:ea typeface="微软雅黑" panose="020B0503020204020204" pitchFamily="34" charset="-122"/>
            </a:rPr>
            <a:t>不存在一种绝对的最佳路由算法。</a:t>
          </a:r>
        </a:p>
      </dgm:t>
    </dgm:pt>
    <dgm:pt modelId="{B6072E33-630B-42F5-8DAE-99755D96236B}" type="par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1ABABF71-BE3E-4043-A613-94AC93A7F26B}" type="sib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9BDB0A5-F0F3-4706-9AFB-422B45FD153E}">
      <dgm:prSet phldrT="[文本]" custT="1"/>
      <dgm:spPr/>
      <dgm:t>
        <a:bodyPr/>
        <a:lstStyle/>
        <a:p>
          <a:r>
            <a:rPr lang="zh-CN" altLang="en-US" sz="2000" b="1" dirty="0">
              <a:solidFill>
                <a:srgbClr val="000099"/>
              </a:solidFill>
              <a:latin typeface="微软雅黑" panose="020B0503020204020204" pitchFamily="34" charset="-122"/>
              <a:ea typeface="微软雅黑" panose="020B0503020204020204" pitchFamily="34" charset="-122"/>
            </a:rPr>
            <a:t>路由选择非常复杂</a:t>
          </a:r>
        </a:p>
      </dgm:t>
    </dgm:pt>
    <dgm:pt modelId="{E2DBBCBF-1890-4F06-A86E-DCDA76FC258B}" type="par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F3E56C1-0952-4029-B826-24948108077B}" type="sib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0C1749-000D-4777-85FF-5C0C6DCF8545}">
      <dgm:prSet phldrT="[文本]" custT="1"/>
      <dgm:spPr/>
      <dgm:t>
        <a:bodyPr/>
        <a:lstStyle/>
        <a:p>
          <a:r>
            <a:rPr lang="zh-CN" altLang="en-US" sz="1800" b="1" dirty="0">
              <a:latin typeface="微软雅黑" panose="020B0503020204020204" pitchFamily="34" charset="-122"/>
              <a:ea typeface="微软雅黑" panose="020B0503020204020204" pitchFamily="34" charset="-122"/>
            </a:rPr>
            <a:t>需要所有节点共同协调工作的。</a:t>
          </a:r>
        </a:p>
      </dgm:t>
    </dgm:pt>
    <dgm:pt modelId="{294E8973-375F-47DD-99FD-A3095944FF77}" type="par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5369DBC2-77C3-4BDD-A686-61AAFD126298}" type="sib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DB4822C-EDAC-4F58-B2EF-0B2BC98EE745}">
      <dgm:prSet custT="1"/>
      <dgm:spPr/>
      <dgm:t>
        <a:bodyPr/>
        <a:lstStyle/>
        <a:p>
          <a:r>
            <a:rPr lang="zh-CN" altLang="en-US" sz="1800" b="1" dirty="0">
              <a:latin typeface="微软雅黑" panose="020B0503020204020204" pitchFamily="34" charset="-122"/>
              <a:ea typeface="微软雅黑" panose="020B0503020204020204" pitchFamily="34" charset="-122"/>
            </a:rPr>
            <a:t>所谓“最佳”只能是相对于某一种特定要求下得出的较为合理的选择而已。</a:t>
          </a:r>
        </a:p>
      </dgm:t>
    </dgm:pt>
    <dgm:pt modelId="{E6040A55-1C57-4EB1-8C6E-03FF05DE4BB9}" type="parTrans" cxnId="{FBB4225B-94E0-4196-829E-65733A788C31}">
      <dgm:prSet/>
      <dgm:spPr/>
      <dgm:t>
        <a:bodyPr/>
        <a:lstStyle/>
        <a:p>
          <a:endParaRPr lang="zh-CN" altLang="en-US"/>
        </a:p>
      </dgm:t>
    </dgm:pt>
    <dgm:pt modelId="{2D11C94C-006E-4EB5-96A5-D2ED5AF21E96}" type="sibTrans" cxnId="{FBB4225B-94E0-4196-829E-65733A788C31}">
      <dgm:prSet/>
      <dgm:spPr/>
      <dgm:t>
        <a:bodyPr/>
        <a:lstStyle/>
        <a:p>
          <a:endParaRPr lang="zh-CN" altLang="en-US"/>
        </a:p>
      </dgm:t>
    </dgm:pt>
    <dgm:pt modelId="{A4481039-E4CE-4649-B9D0-640DB5B427B4}">
      <dgm:prSet phldrT="[文本]" custT="1"/>
      <dgm:spPr/>
      <dgm:t>
        <a:bodyPr/>
        <a:lstStyle/>
        <a:p>
          <a:r>
            <a:rPr lang="zh-CN" altLang="en-US" sz="1800" b="1" dirty="0">
              <a:latin typeface="微软雅黑" panose="020B0503020204020204" pitchFamily="34" charset="-122"/>
              <a:ea typeface="微软雅黑" panose="020B0503020204020204" pitchFamily="34" charset="-122"/>
            </a:rPr>
            <a:t>环境不断变化，而这种变化有时无法事先知道。</a:t>
          </a:r>
        </a:p>
      </dgm:t>
    </dgm:pt>
    <dgm:pt modelId="{BEBFFC1D-C59E-47B9-B0B3-891558399453}" type="parTrans" cxnId="{CBAF101D-7F5B-4F5D-BEBC-8D20544C5EBB}">
      <dgm:prSet/>
      <dgm:spPr/>
      <dgm:t>
        <a:bodyPr/>
        <a:lstStyle/>
        <a:p>
          <a:endParaRPr lang="zh-CN" altLang="en-US"/>
        </a:p>
      </dgm:t>
    </dgm:pt>
    <dgm:pt modelId="{91DA570E-EB18-40D3-A7FB-5972A6FFA677}" type="sibTrans" cxnId="{CBAF101D-7F5B-4F5D-BEBC-8D20544C5EBB}">
      <dgm:prSet/>
      <dgm:spPr/>
      <dgm:t>
        <a:bodyPr/>
        <a:lstStyle/>
        <a:p>
          <a:endParaRPr lang="zh-CN" altLang="en-US"/>
        </a:p>
      </dgm:t>
    </dgm:pt>
    <dgm:pt modelId="{09858582-0B12-493A-810B-816A4CEE2FC6}">
      <dgm:prSet phldrT="[文本]" custT="1"/>
      <dgm:spPr/>
      <dgm:t>
        <a:bodyPr/>
        <a:lstStyle/>
        <a:p>
          <a:r>
            <a:rPr lang="zh-CN" altLang="en-US" sz="1800" b="1" dirty="0">
              <a:latin typeface="微软雅黑" panose="020B0503020204020204" pitchFamily="34" charset="-122"/>
              <a:ea typeface="微软雅黑" panose="020B0503020204020204" pitchFamily="34" charset="-122"/>
            </a:rPr>
            <a:t>当网络发生拥塞时，很难获得所需的路由选择信息。</a:t>
          </a:r>
        </a:p>
      </dgm:t>
    </dgm:pt>
    <dgm:pt modelId="{112E2980-7B03-44EE-BC58-2AC9A21978F4}" type="parTrans" cxnId="{CE98317D-4C90-4E26-82BA-A80584AF744E}">
      <dgm:prSet/>
      <dgm:spPr/>
      <dgm:t>
        <a:bodyPr/>
        <a:lstStyle/>
        <a:p>
          <a:endParaRPr lang="zh-CN" altLang="en-US"/>
        </a:p>
      </dgm:t>
    </dgm:pt>
    <dgm:pt modelId="{6A0D61C3-2549-4D09-BD20-E16516E7EB52}" type="sibTrans" cxnId="{CE98317D-4C90-4E26-82BA-A80584AF744E}">
      <dgm:prSet/>
      <dgm:spPr/>
      <dgm:t>
        <a:bodyPr/>
        <a:lstStyle/>
        <a:p>
          <a:endParaRPr lang="zh-CN" altLang="en-US"/>
        </a:p>
      </dgm:t>
    </dgm:pt>
    <dgm:pt modelId="{BE7E2D9E-C291-4AD1-9C46-EBC6D82E26F0}" type="pres">
      <dgm:prSet presAssocID="{4533357B-E680-4D30-8206-A709B50D7624}" presName="linear" presStyleCnt="0">
        <dgm:presLayoutVars>
          <dgm:animLvl val="lvl"/>
          <dgm:resizeHandles val="exact"/>
        </dgm:presLayoutVars>
      </dgm:prSet>
      <dgm:spPr/>
    </dgm:pt>
    <dgm:pt modelId="{4B5FE49D-F768-452D-A9A2-52FCD77827E0}" type="pres">
      <dgm:prSet presAssocID="{16518293-AEFA-448E-8DCB-4EA94D6D26E9}" presName="parentText" presStyleLbl="node1" presStyleIdx="0" presStyleCnt="2" custScaleY="73964">
        <dgm:presLayoutVars>
          <dgm:chMax val="0"/>
          <dgm:bulletEnabled val="1"/>
        </dgm:presLayoutVars>
      </dgm:prSet>
      <dgm:spPr/>
    </dgm:pt>
    <dgm:pt modelId="{CCA9AB54-F7DF-42DA-BB14-49BA708108B7}" type="pres">
      <dgm:prSet presAssocID="{16518293-AEFA-448E-8DCB-4EA94D6D26E9}" presName="childText" presStyleLbl="revTx" presStyleIdx="0" presStyleCnt="2">
        <dgm:presLayoutVars>
          <dgm:bulletEnabled val="1"/>
        </dgm:presLayoutVars>
      </dgm:prSet>
      <dgm:spPr/>
    </dgm:pt>
    <dgm:pt modelId="{EDCCA3B5-69A3-4D4F-933E-C980F139D5CE}" type="pres">
      <dgm:prSet presAssocID="{89BDB0A5-F0F3-4706-9AFB-422B45FD153E}" presName="parentText" presStyleLbl="node1" presStyleIdx="1" presStyleCnt="2" custScaleY="73964">
        <dgm:presLayoutVars>
          <dgm:chMax val="0"/>
          <dgm:bulletEnabled val="1"/>
        </dgm:presLayoutVars>
      </dgm:prSet>
      <dgm:spPr/>
    </dgm:pt>
    <dgm:pt modelId="{7CB622EB-CFF9-4CEF-9C62-0D3FB7B9D848}" type="pres">
      <dgm:prSet presAssocID="{89BDB0A5-F0F3-4706-9AFB-422B45FD153E}" presName="childText" presStyleLbl="revTx" presStyleIdx="1" presStyleCnt="2">
        <dgm:presLayoutVars>
          <dgm:bulletEnabled val="1"/>
        </dgm:presLayoutVars>
      </dgm:prSet>
      <dgm:spPr/>
    </dgm:pt>
  </dgm:ptLst>
  <dgm:cxnLst>
    <dgm:cxn modelId="{CBAF101D-7F5B-4F5D-BEBC-8D20544C5EBB}" srcId="{89BDB0A5-F0F3-4706-9AFB-422B45FD153E}" destId="{A4481039-E4CE-4649-B9D0-640DB5B427B4}" srcOrd="1" destOrd="0" parTransId="{BEBFFC1D-C59E-47B9-B0B3-891558399453}" sibTransId="{91DA570E-EB18-40D3-A7FB-5972A6FFA677}"/>
    <dgm:cxn modelId="{2107EE29-0197-482C-99F5-B371CFDF47C6}" srcId="{16518293-AEFA-448E-8DCB-4EA94D6D26E9}" destId="{30BC86A4-9190-42EE-99B2-658A1A49036F}" srcOrd="0" destOrd="0" parTransId="{B6072E33-630B-42F5-8DAE-99755D96236B}" sibTransId="{1ABABF71-BE3E-4043-A613-94AC93A7F26B}"/>
    <dgm:cxn modelId="{1116B733-6290-4AD1-B772-7E2F47DE9587}" srcId="{4533357B-E680-4D30-8206-A709B50D7624}" destId="{16518293-AEFA-448E-8DCB-4EA94D6D26E9}" srcOrd="0" destOrd="0" parTransId="{8ED58918-7B83-421A-963D-28174E03A511}" sibTransId="{38748E35-BABA-4D79-9B11-5D2B51A27A71}"/>
    <dgm:cxn modelId="{8F743339-BB99-4604-9A51-F1C4C430EF07}" type="presOf" srcId="{4533357B-E680-4D30-8206-A709B50D7624}" destId="{BE7E2D9E-C291-4AD1-9C46-EBC6D82E26F0}" srcOrd="0" destOrd="0" presId="urn:microsoft.com/office/officeart/2005/8/layout/vList2"/>
    <dgm:cxn modelId="{FBB4225B-94E0-4196-829E-65733A788C31}" srcId="{16518293-AEFA-448E-8DCB-4EA94D6D26E9}" destId="{0DB4822C-EDAC-4F58-B2EF-0B2BC98EE745}" srcOrd="1" destOrd="0" parTransId="{E6040A55-1C57-4EB1-8C6E-03FF05DE4BB9}" sibTransId="{2D11C94C-006E-4EB5-96A5-D2ED5AF21E96}"/>
    <dgm:cxn modelId="{B01B1942-3382-4F25-958E-930C3D427AF0}" srcId="{4533357B-E680-4D30-8206-A709B50D7624}" destId="{89BDB0A5-F0F3-4706-9AFB-422B45FD153E}" srcOrd="1" destOrd="0" parTransId="{E2DBBCBF-1890-4F06-A86E-DCDA76FC258B}" sibTransId="{8F3E56C1-0952-4029-B826-24948108077B}"/>
    <dgm:cxn modelId="{70513945-B5E5-4F85-9B1E-329D72B56811}" srcId="{89BDB0A5-F0F3-4706-9AFB-422B45FD153E}" destId="{320C1749-000D-4777-85FF-5C0C6DCF8545}" srcOrd="0" destOrd="0" parTransId="{294E8973-375F-47DD-99FD-A3095944FF77}" sibTransId="{5369DBC2-77C3-4BDD-A686-61AAFD126298}"/>
    <dgm:cxn modelId="{CE98317D-4C90-4E26-82BA-A80584AF744E}" srcId="{89BDB0A5-F0F3-4706-9AFB-422B45FD153E}" destId="{09858582-0B12-493A-810B-816A4CEE2FC6}" srcOrd="2" destOrd="0" parTransId="{112E2980-7B03-44EE-BC58-2AC9A21978F4}" sibTransId="{6A0D61C3-2549-4D09-BD20-E16516E7EB52}"/>
    <dgm:cxn modelId="{09776885-12AF-4DBC-AB71-881EEA66E73A}" type="presOf" srcId="{09858582-0B12-493A-810B-816A4CEE2FC6}" destId="{7CB622EB-CFF9-4CEF-9C62-0D3FB7B9D848}" srcOrd="0" destOrd="2" presId="urn:microsoft.com/office/officeart/2005/8/layout/vList2"/>
    <dgm:cxn modelId="{04C14F8E-42A5-412A-A727-B1A415D5F573}" type="presOf" srcId="{A4481039-E4CE-4649-B9D0-640DB5B427B4}" destId="{7CB622EB-CFF9-4CEF-9C62-0D3FB7B9D848}" srcOrd="0" destOrd="1" presId="urn:microsoft.com/office/officeart/2005/8/layout/vList2"/>
    <dgm:cxn modelId="{42BAFF98-D7D3-46DA-BBFE-732D4FAE307E}" type="presOf" srcId="{89BDB0A5-F0F3-4706-9AFB-422B45FD153E}" destId="{EDCCA3B5-69A3-4D4F-933E-C980F139D5CE}" srcOrd="0" destOrd="0" presId="urn:microsoft.com/office/officeart/2005/8/layout/vList2"/>
    <dgm:cxn modelId="{0647F5AA-69F1-4B67-8A62-EFBE1B6A7161}" type="presOf" srcId="{30BC86A4-9190-42EE-99B2-658A1A49036F}" destId="{CCA9AB54-F7DF-42DA-BB14-49BA708108B7}" srcOrd="0" destOrd="0" presId="urn:microsoft.com/office/officeart/2005/8/layout/vList2"/>
    <dgm:cxn modelId="{7CF3BDAF-260E-4785-9CA7-9A6C96BA17C3}" type="presOf" srcId="{320C1749-000D-4777-85FF-5C0C6DCF8545}" destId="{7CB622EB-CFF9-4CEF-9C62-0D3FB7B9D848}" srcOrd="0" destOrd="0" presId="urn:microsoft.com/office/officeart/2005/8/layout/vList2"/>
    <dgm:cxn modelId="{7CC89CC0-ABA6-4D64-B6B0-D555B745BABC}" type="presOf" srcId="{0DB4822C-EDAC-4F58-B2EF-0B2BC98EE745}" destId="{CCA9AB54-F7DF-42DA-BB14-49BA708108B7}" srcOrd="0" destOrd="1" presId="urn:microsoft.com/office/officeart/2005/8/layout/vList2"/>
    <dgm:cxn modelId="{99F429DC-E4A9-4955-B062-4F8480A677CC}" type="presOf" srcId="{16518293-AEFA-448E-8DCB-4EA94D6D26E9}" destId="{4B5FE49D-F768-452D-A9A2-52FCD77827E0}" srcOrd="0" destOrd="0" presId="urn:microsoft.com/office/officeart/2005/8/layout/vList2"/>
    <dgm:cxn modelId="{4762189A-A012-4FA6-B59E-2A781D8F0C9A}" type="presParOf" srcId="{BE7E2D9E-C291-4AD1-9C46-EBC6D82E26F0}" destId="{4B5FE49D-F768-452D-A9A2-52FCD77827E0}" srcOrd="0" destOrd="0" presId="urn:microsoft.com/office/officeart/2005/8/layout/vList2"/>
    <dgm:cxn modelId="{BB91F1AA-0FFB-4AAD-B0DC-9EEBEEB49457}" type="presParOf" srcId="{BE7E2D9E-C291-4AD1-9C46-EBC6D82E26F0}" destId="{CCA9AB54-F7DF-42DA-BB14-49BA708108B7}" srcOrd="1" destOrd="0" presId="urn:microsoft.com/office/officeart/2005/8/layout/vList2"/>
    <dgm:cxn modelId="{34C45ABA-83A1-4F54-8313-BEF20D8D5BAF}" type="presParOf" srcId="{BE7E2D9E-C291-4AD1-9C46-EBC6D82E26F0}" destId="{EDCCA3B5-69A3-4D4F-933E-C980F139D5CE}" srcOrd="2" destOrd="0" presId="urn:microsoft.com/office/officeart/2005/8/layout/vList2"/>
    <dgm:cxn modelId="{2361A835-A2C2-4FAB-B685-A48F3C9B5815}" type="presParOf" srcId="{BE7E2D9E-C291-4AD1-9C46-EBC6D82E26F0}" destId="{7CB622EB-CFF9-4CEF-9C62-0D3FB7B9D848}"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4"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静态路由选择策略</a:t>
          </a: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zh-CN" altLang="en-US" sz="1800" b="1" dirty="0">
              <a:latin typeface="微软雅黑" panose="020B0503020204020204" pitchFamily="34" charset="-122"/>
              <a:ea typeface="微软雅黑" panose="020B0503020204020204" pitchFamily="34" charset="-122"/>
            </a:rPr>
            <a:t>非自适应路由选择；</a:t>
          </a: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latin typeface="微软雅黑" panose="020B0503020204020204" pitchFamily="34" charset="-122"/>
              <a:ea typeface="微软雅黑" panose="020B0503020204020204" pitchFamily="34" charset="-122"/>
            </a:rPr>
            <a:t>动态路由选择策略</a:t>
          </a: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zh-CN" altLang="en-US" sz="1800" b="1" dirty="0">
              <a:latin typeface="微软雅黑" panose="020B0503020204020204" pitchFamily="34" charset="-122"/>
              <a:ea typeface="微软雅黑" panose="020B0503020204020204" pitchFamily="34" charset="-122"/>
            </a:rPr>
            <a:t>自适应路由选择；</a:t>
          </a: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能较好地适应网络状态的变化；</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636C96B3-61DA-4AC2-A19D-01B5048C3392}">
      <dgm:prSet phldrT="[文本]" custT="1"/>
      <dgm:spPr/>
      <dgm:t>
        <a:bodyPr/>
        <a:lstStyle/>
        <a:p>
          <a:r>
            <a:rPr lang="zh-CN" altLang="en-US" sz="1800" b="1" dirty="0">
              <a:latin typeface="微软雅黑" panose="020B0503020204020204" pitchFamily="34" charset="-122"/>
              <a:ea typeface="微软雅黑" panose="020B0503020204020204" pitchFamily="34" charset="-122"/>
            </a:rPr>
            <a:t>不能及时适应网络状态的变化；</a:t>
          </a:r>
        </a:p>
      </dgm:t>
    </dgm:pt>
    <dgm:pt modelId="{8F8EF596-0DA9-4CBA-9CA1-6DF817CC12D4}" type="parTrans" cxnId="{FBAACC79-9763-4E5F-90F5-17AB0E867F60}">
      <dgm:prSet/>
      <dgm:spPr/>
      <dgm:t>
        <a:bodyPr/>
        <a:lstStyle/>
        <a:p>
          <a:endParaRPr lang="zh-CN" altLang="en-US"/>
        </a:p>
      </dgm:t>
    </dgm:pt>
    <dgm:pt modelId="{364E6CF1-F4F2-418E-89CC-04CE5C5C79A9}" type="sibTrans" cxnId="{FBAACC79-9763-4E5F-90F5-17AB0E867F60}">
      <dgm:prSet/>
      <dgm:spPr/>
      <dgm:t>
        <a:bodyPr/>
        <a:lstStyle/>
        <a:p>
          <a:endParaRPr lang="zh-CN" altLang="en-US"/>
        </a:p>
      </dgm:t>
    </dgm:pt>
    <dgm:pt modelId="{00A00060-6726-4710-909C-6A0A37C35ECC}">
      <dgm:prSet phldrT="[文本]" custT="1"/>
      <dgm:spPr/>
      <dgm:t>
        <a:bodyPr/>
        <a:lstStyle/>
        <a:p>
          <a:r>
            <a:rPr lang="zh-CN" altLang="en-US" sz="1800" b="1" dirty="0">
              <a:latin typeface="微软雅黑" panose="020B0503020204020204" pitchFamily="34" charset="-122"/>
              <a:ea typeface="微软雅黑" panose="020B0503020204020204" pitchFamily="34" charset="-122"/>
            </a:rPr>
            <a:t>简单，开销较小。 </a:t>
          </a:r>
        </a:p>
      </dgm:t>
    </dgm:pt>
    <dgm:pt modelId="{6D6C0D7F-AB74-45C9-A0A3-C773A85A1774}" type="parTrans" cxnId="{37F59AB5-2B4C-4C82-ACE3-E1F2D0DF400F}">
      <dgm:prSet/>
      <dgm:spPr/>
      <dgm:t>
        <a:bodyPr/>
        <a:lstStyle/>
        <a:p>
          <a:endParaRPr lang="zh-CN" altLang="en-US"/>
        </a:p>
      </dgm:t>
    </dgm:pt>
    <dgm:pt modelId="{1FC25A58-48C3-4783-B409-177C8E281BA7}" type="sibTrans" cxnId="{37F59AB5-2B4C-4C82-ACE3-E1F2D0DF400F}">
      <dgm:prSet/>
      <dgm:spPr/>
      <dgm:t>
        <a:bodyPr/>
        <a:lstStyle/>
        <a:p>
          <a:endParaRPr lang="zh-CN" altLang="en-US"/>
        </a:p>
      </dgm:t>
    </dgm:pt>
    <dgm:pt modelId="{542EE964-4A1B-437F-B556-349C4E3056A2}">
      <dgm:prSet phldrT="[文本]" custT="1"/>
      <dgm:spPr/>
      <dgm:t>
        <a:bodyPr/>
        <a:lstStyle/>
        <a:p>
          <a:r>
            <a:rPr lang="zh-CN" altLang="en-US" sz="1800" b="1" dirty="0">
              <a:latin typeface="微软雅黑" panose="020B0503020204020204" pitchFamily="34" charset="-122"/>
              <a:ea typeface="微软雅黑" panose="020B0503020204020204" pitchFamily="34" charset="-122"/>
            </a:rPr>
            <a:t>实现较为复杂，开销较大。 </a:t>
          </a:r>
        </a:p>
      </dgm:t>
    </dgm:pt>
    <dgm:pt modelId="{E24D57F5-E0B1-4481-9629-57A37932B263}" type="parTrans" cxnId="{2568ED17-DDBC-4080-9758-24C0A0E53BF0}">
      <dgm:prSet/>
      <dgm:spPr/>
      <dgm:t>
        <a:bodyPr/>
        <a:lstStyle/>
        <a:p>
          <a:endParaRPr lang="zh-CN" altLang="en-US"/>
        </a:p>
      </dgm:t>
    </dgm:pt>
    <dgm:pt modelId="{4275BCF2-BA64-49F0-8CCE-69DBBACFAA29}" type="sibTrans" cxnId="{2568ED17-DDBC-4080-9758-24C0A0E53BF0}">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0AFDA517-52A7-4106-9DEC-24ADAE9C1401}" type="presOf" srcId="{C7D5F8E2-243B-4DE9-B470-B712E8897F5B}" destId="{4CDFFC38-F27C-472E-A2F4-B6BCE3ADBC7B}" srcOrd="0" destOrd="0" presId="urn:microsoft.com/office/officeart/2005/8/layout/hList1"/>
    <dgm:cxn modelId="{2568ED17-DDBC-4080-9758-24C0A0E53BF0}" srcId="{45CE52F7-516C-41E7-98C3-DE6A902FC6B5}" destId="{542EE964-4A1B-437F-B556-349C4E3056A2}" srcOrd="2" destOrd="0" parTransId="{E24D57F5-E0B1-4481-9629-57A37932B263}" sibTransId="{4275BCF2-BA64-49F0-8CCE-69DBBACFAA29}"/>
    <dgm:cxn modelId="{F649F02C-3A0E-4CB9-B195-EBCA327DD96B}" type="presOf" srcId="{22EAAA66-547D-4B51-BF4D-D6DB3D7509FE}" destId="{ACA20801-F352-434C-8293-8F2818AFDE5B}" srcOrd="0" destOrd="0"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FBAACC79-9763-4E5F-90F5-17AB0E867F60}" srcId="{22EAAA66-547D-4B51-BF4D-D6DB3D7509FE}" destId="{636C96B3-61DA-4AC2-A19D-01B5048C3392}" srcOrd="1" destOrd="0" parTransId="{8F8EF596-0DA9-4CBA-9CA1-6DF817CC12D4}" sibTransId="{364E6CF1-F4F2-418E-89CC-04CE5C5C79A9}"/>
    <dgm:cxn modelId="{2C08637D-2B0D-4913-8010-A438C61F5AC0}" type="presOf" srcId="{00A00060-6726-4710-909C-6A0A37C35ECC}" destId="{19FF7ECD-B0E8-443E-8703-812623A25DE9}" srcOrd="0" destOrd="2" presId="urn:microsoft.com/office/officeart/2005/8/layout/hList1"/>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37F59AB5-2B4C-4C82-ACE3-E1F2D0DF400F}" srcId="{22EAAA66-547D-4B51-BF4D-D6DB3D7509FE}" destId="{00A00060-6726-4710-909C-6A0A37C35ECC}" srcOrd="2" destOrd="0" parTransId="{6D6C0D7F-AB74-45C9-A0A3-C773A85A1774}" sibTransId="{1FC25A58-48C3-4783-B409-177C8E281BA7}"/>
    <dgm:cxn modelId="{4A0742BC-43D8-4055-9627-372DE98EA475}" type="presOf" srcId="{EDC6E589-44E1-49CC-BAB5-1FCBE573BC1C}" destId="{4CDFFC38-F27C-472E-A2F4-B6BCE3ADBC7B}"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7B0024E4-E89E-43E8-8462-C7C14B8D1713}" type="presOf" srcId="{542EE964-4A1B-437F-B556-349C4E3056A2}" destId="{4CDFFC38-F27C-472E-A2F4-B6BCE3ADBC7B}" srcOrd="0" destOrd="2" presId="urn:microsoft.com/office/officeart/2005/8/layout/hList1"/>
    <dgm:cxn modelId="{F07B9FE5-15C6-45F2-A7B7-F311439C5154}" type="presOf" srcId="{00FEE0F5-92EC-4D73-8F97-62ABE0C0B1AD}" destId="{19FF7ECD-B0E8-443E-8703-812623A25DE9}" srcOrd="0" destOrd="0" presId="urn:microsoft.com/office/officeart/2005/8/layout/hList1"/>
    <dgm:cxn modelId="{BA0F64EE-5537-4A43-9770-4F86118648AE}" type="presOf" srcId="{636C96B3-61DA-4AC2-A19D-01B5048C3392}" destId="{19FF7ECD-B0E8-443E-8703-812623A25DE9}" srcOrd="0" destOrd="1" presId="urn:microsoft.com/office/officeart/2005/8/layout/hList1"/>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2"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内部网关协议 </a:t>
          </a:r>
          <a:r>
            <a:rPr lang="en-US" altLang="en-US" sz="2000" b="1" dirty="0">
              <a:latin typeface="微软雅黑" panose="020B0503020204020204" pitchFamily="34" charset="-122"/>
              <a:ea typeface="微软雅黑" panose="020B0503020204020204" pitchFamily="34" charset="-122"/>
            </a:rPr>
            <a:t>IGP </a:t>
          </a:r>
          <a:endParaRPr lang="zh-CN" altLang="en-US" sz="2000" b="1" dirty="0">
            <a:latin typeface="微软雅黑" panose="020B0503020204020204" pitchFamily="34" charset="-122"/>
            <a:ea typeface="微软雅黑" panose="020B0503020204020204" pitchFamily="34" charset="-122"/>
          </a:endParaRP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en-US" altLang="en-US" sz="1800" b="1" dirty="0">
              <a:latin typeface="微软雅黑" panose="020B0503020204020204" pitchFamily="34" charset="-122"/>
              <a:ea typeface="微软雅黑" panose="020B0503020204020204" pitchFamily="34" charset="-122"/>
            </a:rPr>
            <a:t>Interior Gateway Protocol</a:t>
          </a:r>
          <a:endParaRPr lang="zh-CN" altLang="en-US" sz="1800" b="1" dirty="0">
            <a:latin typeface="微软雅黑" panose="020B0503020204020204" pitchFamily="34" charset="-122"/>
            <a:ea typeface="微软雅黑" panose="020B0503020204020204" pitchFamily="34" charset="-122"/>
          </a:endParaRP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solidFill>
                <a:srgbClr val="0000FF"/>
              </a:solidFill>
              <a:latin typeface="微软雅黑" panose="020B0503020204020204" pitchFamily="34" charset="-122"/>
              <a:ea typeface="微软雅黑" panose="020B0503020204020204" pitchFamily="34" charset="-122"/>
            </a:rPr>
            <a:t>外部网关协议 </a:t>
          </a:r>
          <a:r>
            <a:rPr lang="en-US" altLang="en-US" sz="2000" b="1" dirty="0">
              <a:solidFill>
                <a:srgbClr val="0000FF"/>
              </a:solidFill>
              <a:latin typeface="微软雅黑" panose="020B0503020204020204" pitchFamily="34" charset="-122"/>
              <a:ea typeface="微软雅黑" panose="020B0503020204020204" pitchFamily="34" charset="-122"/>
            </a:rPr>
            <a:t>EGP </a:t>
          </a:r>
          <a:endParaRPr lang="zh-CN" altLang="en-US" sz="2000" b="1" dirty="0">
            <a:solidFill>
              <a:srgbClr val="0000FF"/>
            </a:solidFill>
            <a:latin typeface="微软雅黑" panose="020B0503020204020204" pitchFamily="34" charset="-122"/>
            <a:ea typeface="微软雅黑" panose="020B0503020204020204" pitchFamily="34" charset="-122"/>
          </a:endParaRP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en-US" altLang="en-US" sz="1800" b="1" dirty="0">
              <a:latin typeface="微软雅黑" panose="020B0503020204020204" pitchFamily="34" charset="-122"/>
              <a:ea typeface="微软雅黑" panose="020B0503020204020204" pitchFamily="34" charset="-122"/>
            </a:rPr>
            <a:t>External Gateway Protocol</a:t>
          </a:r>
          <a:endParaRPr lang="zh-CN" altLang="en-US" sz="1800" b="1" dirty="0">
            <a:latin typeface="微软雅黑" panose="020B0503020204020204" pitchFamily="34" charset="-122"/>
            <a:ea typeface="微软雅黑" panose="020B0503020204020204" pitchFamily="34" charset="-122"/>
          </a:endParaRP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在不同自治系统之间进行路由选择时使用的协议</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7D6E7755-F197-41FB-8605-1BFB9B1B3E4D}">
      <dgm:prSet custT="1"/>
      <dgm:spPr/>
      <dgm:t>
        <a:bodyPr/>
        <a:lstStyle/>
        <a:p>
          <a:r>
            <a:rPr lang="zh-CN" altLang="en-US" sz="1800" b="1" dirty="0">
              <a:latin typeface="微软雅黑" panose="020B0503020204020204" pitchFamily="34" charset="-122"/>
              <a:ea typeface="微软雅黑" panose="020B0503020204020204" pitchFamily="34" charset="-122"/>
            </a:rPr>
            <a:t>在一个自治系统内部使用的路由选择协议</a:t>
          </a:r>
        </a:p>
      </dgm:t>
    </dgm:pt>
    <dgm:pt modelId="{E10F256C-3A61-44A7-9FB9-5C7D0142FE8A}" type="parTrans" cxnId="{CAE0B115-114A-468C-BEDB-2D5FE2E0B17D}">
      <dgm:prSet/>
      <dgm:spPr/>
      <dgm:t>
        <a:bodyPr/>
        <a:lstStyle/>
        <a:p>
          <a:endParaRPr lang="zh-CN" altLang="en-US"/>
        </a:p>
      </dgm:t>
    </dgm:pt>
    <dgm:pt modelId="{998963D5-F615-4C0F-BC06-0F0483E40DAF}" type="sibTrans" cxnId="{CAE0B115-114A-468C-BEDB-2D5FE2E0B17D}">
      <dgm:prSet/>
      <dgm:spPr/>
      <dgm:t>
        <a:bodyPr/>
        <a:lstStyle/>
        <a:p>
          <a:endParaRPr lang="zh-CN" altLang="en-US"/>
        </a:p>
      </dgm:t>
    </dgm:pt>
    <dgm:pt modelId="{427CA751-AD5C-4205-9441-B3381D745046}">
      <dgm:prSet custT="1"/>
      <dgm:spPr/>
      <dgm:t>
        <a:bodyPr/>
        <a:lstStyle/>
        <a:p>
          <a:r>
            <a:rPr lang="zh-CN" altLang="en-US" sz="1800" b="1" dirty="0">
              <a:latin typeface="微软雅黑" panose="020B0503020204020204" pitchFamily="34" charset="-122"/>
              <a:ea typeface="微软雅黑" panose="020B0503020204020204" pitchFamily="34" charset="-122"/>
            </a:rPr>
            <a:t>常用：</a:t>
          </a:r>
          <a:r>
            <a:rPr lang="en-US" altLang="en-US" sz="1800" b="1" dirty="0">
              <a:latin typeface="微软雅黑" panose="020B0503020204020204" pitchFamily="34" charset="-122"/>
              <a:ea typeface="微软雅黑" panose="020B0503020204020204" pitchFamily="34" charset="-122"/>
            </a:rPr>
            <a:t>RIP</a:t>
          </a:r>
          <a:r>
            <a:rPr lang="zh-CN" altLang="en-US" sz="1800" b="1" dirty="0">
              <a:latin typeface="微软雅黑" panose="020B0503020204020204" pitchFamily="34" charset="-122"/>
              <a:ea typeface="微软雅黑" panose="020B0503020204020204" pitchFamily="34" charset="-122"/>
            </a:rPr>
            <a:t>，</a:t>
          </a:r>
          <a:r>
            <a:rPr lang="en-US" altLang="en-US" sz="1800" b="1" dirty="0">
              <a:latin typeface="微软雅黑" panose="020B0503020204020204" pitchFamily="34" charset="-122"/>
              <a:ea typeface="微软雅黑" panose="020B0503020204020204" pitchFamily="34" charset="-122"/>
            </a:rPr>
            <a:t>OSPF</a:t>
          </a:r>
          <a:endParaRPr lang="zh-CN" altLang="en-US" sz="1800" b="1" dirty="0">
            <a:latin typeface="微软雅黑" panose="020B0503020204020204" pitchFamily="34" charset="-122"/>
            <a:ea typeface="微软雅黑" panose="020B0503020204020204" pitchFamily="34" charset="-122"/>
          </a:endParaRPr>
        </a:p>
      </dgm:t>
    </dgm:pt>
    <dgm:pt modelId="{74833AC5-8572-4F1E-BAA1-CEC9100405A4}" type="parTrans" cxnId="{1B8DF4EF-6AB6-4FC0-AFE4-B74305DCB10F}">
      <dgm:prSet/>
      <dgm:spPr/>
      <dgm:t>
        <a:bodyPr/>
        <a:lstStyle/>
        <a:p>
          <a:endParaRPr lang="zh-CN" altLang="en-US"/>
        </a:p>
      </dgm:t>
    </dgm:pt>
    <dgm:pt modelId="{60A14015-7078-43BB-AB9E-4E4C76939902}" type="sibTrans" cxnId="{1B8DF4EF-6AB6-4FC0-AFE4-B74305DCB10F}">
      <dgm:prSet/>
      <dgm:spPr/>
      <dgm:t>
        <a:bodyPr/>
        <a:lstStyle/>
        <a:p>
          <a:endParaRPr lang="zh-CN" altLang="en-US"/>
        </a:p>
      </dgm:t>
    </dgm:pt>
    <dgm:pt modelId="{FA847D9B-745D-4745-B7C4-9547BD61697B}">
      <dgm:prSet phldrT="[文本]" custT="1"/>
      <dgm:spPr/>
      <dgm:t>
        <a:bodyPr/>
        <a:lstStyle/>
        <a:p>
          <a:r>
            <a:rPr lang="zh-CN" altLang="en-US" sz="1800" b="1" dirty="0">
              <a:latin typeface="微软雅黑" panose="020B0503020204020204" pitchFamily="34" charset="-122"/>
              <a:ea typeface="微软雅黑" panose="020B0503020204020204" pitchFamily="34" charset="-122"/>
            </a:rPr>
            <a:t>使用最多：</a:t>
          </a:r>
          <a:r>
            <a:rPr lang="en-US" altLang="en-US" sz="1800" b="1" dirty="0">
              <a:latin typeface="微软雅黑" panose="020B0503020204020204" pitchFamily="34" charset="-122"/>
              <a:ea typeface="微软雅黑" panose="020B0503020204020204" pitchFamily="34" charset="-122"/>
            </a:rPr>
            <a:t>BGP-4</a:t>
          </a:r>
          <a:endParaRPr lang="zh-CN" altLang="en-US" sz="1800" b="1" dirty="0">
            <a:latin typeface="微软雅黑" panose="020B0503020204020204" pitchFamily="34" charset="-122"/>
            <a:ea typeface="微软雅黑" panose="020B0503020204020204" pitchFamily="34" charset="-122"/>
          </a:endParaRPr>
        </a:p>
      </dgm:t>
    </dgm:pt>
    <dgm:pt modelId="{11E045D3-6FEC-4BAC-BBC6-E3F85AF3E6FE}" type="parTrans" cxnId="{8E15BA48-9F24-4760-BC2E-F975CEDF504B}">
      <dgm:prSet/>
      <dgm:spPr/>
      <dgm:t>
        <a:bodyPr/>
        <a:lstStyle/>
        <a:p>
          <a:endParaRPr lang="zh-CN" altLang="en-US"/>
        </a:p>
      </dgm:t>
    </dgm:pt>
    <dgm:pt modelId="{01A76F89-8655-45DB-8632-72B69EBACACB}" type="sibTrans" cxnId="{8E15BA48-9F24-4760-BC2E-F975CEDF504B}">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CAE0B115-114A-468C-BEDB-2D5FE2E0B17D}" srcId="{22EAAA66-547D-4B51-BF4D-D6DB3D7509FE}" destId="{7D6E7755-F197-41FB-8605-1BFB9B1B3E4D}" srcOrd="1" destOrd="0" parTransId="{E10F256C-3A61-44A7-9FB9-5C7D0142FE8A}" sibTransId="{998963D5-F615-4C0F-BC06-0F0483E40DAF}"/>
    <dgm:cxn modelId="{0AFDA517-52A7-4106-9DEC-24ADAE9C1401}" type="presOf" srcId="{C7D5F8E2-243B-4DE9-B470-B712E8897F5B}" destId="{4CDFFC38-F27C-472E-A2F4-B6BCE3ADBC7B}" srcOrd="0" destOrd="0" presId="urn:microsoft.com/office/officeart/2005/8/layout/hList1"/>
    <dgm:cxn modelId="{F649F02C-3A0E-4CB9-B195-EBCA327DD96B}" type="presOf" srcId="{22EAAA66-547D-4B51-BF4D-D6DB3D7509FE}" destId="{ACA20801-F352-434C-8293-8F2818AFDE5B}" srcOrd="0" destOrd="0" presId="urn:microsoft.com/office/officeart/2005/8/layout/hList1"/>
    <dgm:cxn modelId="{EEB0B035-25DE-410A-A6E6-950B73983029}" type="presOf" srcId="{427CA751-AD5C-4205-9441-B3381D745046}" destId="{19FF7ECD-B0E8-443E-8703-812623A25DE9}" srcOrd="0" destOrd="2" presId="urn:microsoft.com/office/officeart/2005/8/layout/hList1"/>
    <dgm:cxn modelId="{ED8FA239-3D16-4845-B639-C031EF97F765}" type="presOf" srcId="{FA847D9B-745D-4745-B7C4-9547BD61697B}" destId="{4CDFFC38-F27C-472E-A2F4-B6BCE3ADBC7B}" srcOrd="0" destOrd="2"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8E15BA48-9F24-4760-BC2E-F975CEDF504B}" srcId="{45CE52F7-516C-41E7-98C3-DE6A902FC6B5}" destId="{FA847D9B-745D-4745-B7C4-9547BD61697B}" srcOrd="2" destOrd="0" parTransId="{11E045D3-6FEC-4BAC-BBC6-E3F85AF3E6FE}" sibTransId="{01A76F89-8655-45DB-8632-72B69EBACACB}"/>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4A0742BC-43D8-4055-9627-372DE98EA475}" type="presOf" srcId="{EDC6E589-44E1-49CC-BAB5-1FCBE573BC1C}" destId="{4CDFFC38-F27C-472E-A2F4-B6BCE3ADBC7B}" srcOrd="0" destOrd="1" presId="urn:microsoft.com/office/officeart/2005/8/layout/hList1"/>
    <dgm:cxn modelId="{F43438D5-14FC-4C8D-8CAD-EAAFE8FE7119}" type="presOf" srcId="{7D6E7755-F197-41FB-8605-1BFB9B1B3E4D}" destId="{19FF7ECD-B0E8-443E-8703-812623A25DE9}"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F07B9FE5-15C6-45F2-A7B7-F311439C5154}" type="presOf" srcId="{00FEE0F5-92EC-4D73-8F97-62ABE0C0B1AD}" destId="{19FF7ECD-B0E8-443E-8703-812623A25DE9}" srcOrd="0" destOrd="0" presId="urn:microsoft.com/office/officeart/2005/8/layout/hList1"/>
    <dgm:cxn modelId="{1B8DF4EF-6AB6-4FC0-AFE4-B74305DCB10F}" srcId="{22EAAA66-547D-4B51-BF4D-D6DB3D7509FE}" destId="{427CA751-AD5C-4205-9441-B3381D745046}" srcOrd="2" destOrd="0" parTransId="{74833AC5-8572-4F1E-BAA1-CEC9100405A4}" sibTransId="{60A14015-7078-43BB-AB9E-4E4C76939902}"/>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FD64D01F-8560-47A8-8127-355261850500}" type="doc">
      <dgm:prSet loTypeId="urn:microsoft.com/office/officeart/2005/8/layout/chevron2" loCatId="list" qsTypeId="urn:microsoft.com/office/officeart/2005/8/quickstyle/simple1" qsCatId="simple" csTypeId="urn:microsoft.com/office/officeart/2005/8/colors/colorful1#7" csCatId="colorful" phldr="1"/>
      <dgm:spPr/>
      <dgm:t>
        <a:bodyPr/>
        <a:lstStyle/>
        <a:p>
          <a:endParaRPr lang="zh-CN" altLang="en-US"/>
        </a:p>
      </dgm:t>
    </dgm:pt>
    <dgm:pt modelId="{C5D95768-64CF-4D5F-8F7F-4A5996C27CD9}">
      <dgm:prSet phldrT="[文本]" custT="1"/>
      <dgm:spPr/>
      <dgm:t>
        <a:bodyPr/>
        <a:lstStyle/>
        <a:p>
          <a:r>
            <a:rPr lang="en-US" altLang="zh-CN" sz="1600" b="0" dirty="0">
              <a:latin typeface="微软雅黑" panose="020B0503020204020204" pitchFamily="34" charset="-122"/>
              <a:ea typeface="微软雅黑" panose="020B0503020204020204" pitchFamily="34" charset="-122"/>
            </a:rPr>
            <a:t>1</a:t>
          </a:r>
          <a:endParaRPr lang="zh-CN" altLang="en-US" sz="1600" b="0" dirty="0">
            <a:latin typeface="微软雅黑" panose="020B0503020204020204" pitchFamily="34" charset="-122"/>
            <a:ea typeface="微软雅黑" panose="020B0503020204020204" pitchFamily="34" charset="-122"/>
          </a:endParaRPr>
        </a:p>
      </dgm:t>
    </dgm:pt>
    <dgm:pt modelId="{095A1CAB-4AA6-4555-A355-CFD87D44D186}" type="par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E2A83572-A1BA-4AEF-BB4D-0C9E0744D9DE}" type="sib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2E3AFA4-03DE-4EB5-974A-AAC8D531866F}">
      <dgm:prSet phldrT="[文本]" custT="1"/>
      <dgm:spPr/>
      <dgm:t>
        <a:bodyPr/>
        <a:lstStyle/>
        <a:p>
          <a:r>
            <a:rPr lang="zh-CN" altLang="en-US" sz="1600" b="0" baseline="0" dirty="0">
              <a:latin typeface="Montserrat" panose="00000500000000000000" pitchFamily="2" charset="0"/>
              <a:ea typeface="微软雅黑 Light" panose="020B0502040204020203" pitchFamily="34" charset="-122"/>
            </a:rPr>
            <a:t>本地偏好 </a:t>
          </a:r>
          <a:r>
            <a:rPr lang="en-US" altLang="en-US" sz="1600" b="0" baseline="0" dirty="0">
              <a:latin typeface="Montserrat" panose="00000500000000000000" pitchFamily="2" charset="0"/>
              <a:ea typeface="微软雅黑 Light" panose="020B0502040204020203" pitchFamily="34" charset="-122"/>
            </a:rPr>
            <a:t>(local preference) </a:t>
          </a:r>
          <a:r>
            <a:rPr lang="zh-CN" altLang="en-US" sz="1600" b="0" baseline="0" dirty="0">
              <a:latin typeface="Montserrat" panose="00000500000000000000" pitchFamily="2" charset="0"/>
              <a:ea typeface="微软雅黑 Light" panose="020B0502040204020203" pitchFamily="34" charset="-122"/>
            </a:rPr>
            <a:t>值最高的路由 （默认值</a:t>
          </a:r>
          <a:r>
            <a:rPr lang="en-US" altLang="zh-CN" sz="1600" b="0" baseline="0" dirty="0">
              <a:latin typeface="Montserrat" panose="00000500000000000000" pitchFamily="2" charset="0"/>
              <a:ea typeface="微软雅黑 Light" panose="020B0502040204020203" pitchFamily="34" charset="-122"/>
            </a:rPr>
            <a:t>=</a:t>
          </a:r>
          <a:r>
            <a:rPr lang="en-US" altLang="en-US" sz="1600" b="0" baseline="0" dirty="0">
              <a:latin typeface="Montserrat" panose="00000500000000000000" pitchFamily="2" charset="0"/>
              <a:ea typeface="微软雅黑 Light" panose="020B0502040204020203" pitchFamily="34" charset="-122"/>
            </a:rPr>
            <a:t>100</a:t>
          </a:r>
          <a:r>
            <a:rPr lang="zh-CN" altLang="en-US" sz="1600" b="0" baseline="0" dirty="0">
              <a:latin typeface="Montserrat" panose="00000500000000000000" pitchFamily="2" charset="0"/>
              <a:ea typeface="微软雅黑 Light" panose="020B0502040204020203" pitchFamily="34" charset="-122"/>
            </a:rPr>
            <a:t>）</a:t>
          </a:r>
        </a:p>
      </dgm:t>
    </dgm:pt>
    <dgm:pt modelId="{0A91646E-F85F-4DB9-8D79-8B2D2A89F3B1}" type="par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6B5DE66-85F8-4D27-90D3-EF3C3C3C171B}" type="sib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EEA00C2-93BC-4594-A89F-B19031BEA809}">
      <dgm:prSet phldrT="[文本]" custT="1"/>
      <dgm:spPr/>
      <dgm:t>
        <a:bodyPr/>
        <a:lstStyle/>
        <a:p>
          <a:r>
            <a:rPr lang="en-US" altLang="zh-CN" sz="1600" b="0" dirty="0">
              <a:latin typeface="微软雅黑" panose="020B0503020204020204" pitchFamily="34" charset="-122"/>
              <a:ea typeface="微软雅黑" panose="020B0503020204020204" pitchFamily="34" charset="-122"/>
            </a:rPr>
            <a:t>2</a:t>
          </a:r>
          <a:endParaRPr lang="zh-CN" altLang="en-US" sz="1600" b="0" dirty="0">
            <a:latin typeface="微软雅黑" panose="020B0503020204020204" pitchFamily="34" charset="-122"/>
            <a:ea typeface="微软雅黑" panose="020B0503020204020204" pitchFamily="34" charset="-122"/>
          </a:endParaRPr>
        </a:p>
      </dgm:t>
    </dgm:pt>
    <dgm:pt modelId="{13A3DC76-198C-46D6-9E07-18965F9979A0}" type="par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54D2AC9-7745-4621-BE80-FD0ED53C328A}" type="sib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BB0D0D92-7B41-47B9-88A7-C0582EC816C3}">
      <dgm:prSet phldrT="[文本]" custT="1"/>
      <dgm:spPr/>
      <dgm:t>
        <a:bodyPr/>
        <a:lstStyle/>
        <a:p>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跳数最小的路由</a:t>
          </a:r>
        </a:p>
      </dgm:t>
    </dgm:pt>
    <dgm:pt modelId="{351E5DC5-A557-4ACF-B5F7-0E7AC090A2CF}" type="par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7BA015C-934C-4A85-97B4-C36259D5C27E}" type="sib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C75D0E3-AD55-409C-8E70-7C9A60C6090F}">
      <dgm:prSet phldrT="[文本]" custT="1"/>
      <dgm:spPr/>
      <dgm:t>
        <a:bodyPr/>
        <a:lstStyle/>
        <a:p>
          <a:r>
            <a:rPr lang="en-US" altLang="zh-CN" sz="1600" b="0" dirty="0">
              <a:latin typeface="微软雅黑" panose="020B0503020204020204" pitchFamily="34" charset="-122"/>
              <a:ea typeface="微软雅黑" panose="020B0503020204020204" pitchFamily="34" charset="-122"/>
            </a:rPr>
            <a:t>3</a:t>
          </a:r>
          <a:endParaRPr lang="zh-CN" altLang="en-US" sz="1600" b="0" dirty="0">
            <a:latin typeface="微软雅黑" panose="020B0503020204020204" pitchFamily="34" charset="-122"/>
            <a:ea typeface="微软雅黑" panose="020B0503020204020204" pitchFamily="34" charset="-122"/>
          </a:endParaRPr>
        </a:p>
      </dgm:t>
    </dgm:pt>
    <dgm:pt modelId="{4A0B1DED-E29F-41E6-8689-CB100BB93A33}" type="par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51E2091-1D7F-42F1-A9B4-CCE388AF88F1}" type="sib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FFF64E73-C233-45A7-8F5D-4089CAD697FF}">
      <dgm:prSet phldrT="[文本]" custT="1"/>
      <dgm:spPr/>
      <dgm:t>
        <a:bodyPr/>
        <a:lstStyle/>
        <a:p>
          <a:r>
            <a:rPr lang="en-US" altLang="zh-CN" sz="1600" b="0" dirty="0">
              <a:latin typeface="微软雅黑" panose="020B0503020204020204" pitchFamily="34" charset="-122"/>
              <a:ea typeface="微软雅黑" panose="020B0503020204020204" pitchFamily="34" charset="-122"/>
            </a:rPr>
            <a:t>4</a:t>
          </a:r>
          <a:endParaRPr lang="zh-CN" altLang="en-US" sz="1600" b="0" dirty="0">
            <a:latin typeface="微软雅黑" panose="020B0503020204020204" pitchFamily="34" charset="-122"/>
            <a:ea typeface="微软雅黑" panose="020B0503020204020204" pitchFamily="34" charset="-122"/>
          </a:endParaRPr>
        </a:p>
      </dgm:t>
    </dgm:pt>
    <dgm:pt modelId="{33A5E1EF-C09D-4317-BF50-3E3A7AD8F5AD}" type="par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11CDF31-2C2A-4327-8158-DE91CDB3A98C}" type="sib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56CF85C-AFE6-43D4-BD07-CEBB31FE6836}">
      <dgm:prSet phldrT="[文本]" custT="1"/>
      <dgm:spPr/>
      <dgm: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使用热土豆路由选择算法（分组在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内的转发次数最少）</a:t>
          </a:r>
        </a:p>
      </dgm:t>
    </dgm:pt>
    <dgm:pt modelId="{69CECD98-70EC-4789-9ADD-7B490C308C2C}" type="parTrans" cxnId="{C48B5691-7C60-423E-B931-CA3DFE359FB9}">
      <dgm:prSet/>
      <dgm:spPr/>
      <dgm:t>
        <a:bodyPr/>
        <a:lstStyle/>
        <a:p>
          <a:endParaRPr lang="zh-CN" altLang="en-US"/>
        </a:p>
      </dgm:t>
    </dgm:pt>
    <dgm:pt modelId="{DDF95A1A-C44D-4927-A030-6A34D414D84C}" type="sibTrans" cxnId="{C48B5691-7C60-423E-B931-CA3DFE359FB9}">
      <dgm:prSet/>
      <dgm:spPr/>
      <dgm:t>
        <a:bodyPr/>
        <a:lstStyle/>
        <a:p>
          <a:endParaRPr lang="zh-CN" altLang="en-US"/>
        </a:p>
      </dgm:t>
    </dgm:pt>
    <dgm:pt modelId="{BDC85DC2-8141-45A3-86C7-98E5B6509650}">
      <dgm:prSet phldrT="[文本]" custT="1"/>
      <dgm:spPr/>
      <dgm: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路由器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数值最小的路由。具有多个接口的路由器有多个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就使用该路由器的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地址中数值最大的一个</a:t>
          </a:r>
        </a:p>
      </dgm:t>
    </dgm:pt>
    <dgm:pt modelId="{19CA359C-E121-40CE-9D99-A97A650135B1}" type="parTrans" cxnId="{F3797FDF-B4B0-4767-9463-0A60D5B8E21B}">
      <dgm:prSet/>
      <dgm:spPr/>
      <dgm:t>
        <a:bodyPr/>
        <a:lstStyle/>
        <a:p>
          <a:endParaRPr lang="zh-CN" altLang="en-US"/>
        </a:p>
      </dgm:t>
    </dgm:pt>
    <dgm:pt modelId="{D0E75E54-8483-4E38-A5BF-CF0A25C2C09C}" type="sibTrans" cxnId="{F3797FDF-B4B0-4767-9463-0A60D5B8E21B}">
      <dgm:prSet/>
      <dgm:spPr/>
      <dgm:t>
        <a:bodyPr/>
        <a:lstStyle/>
        <a:p>
          <a:endParaRPr lang="zh-CN" altLang="en-US"/>
        </a:p>
      </dgm:t>
    </dgm:pt>
    <dgm:pt modelId="{8812DE91-C297-420B-AFB3-99A8E5FEF467}" type="pres">
      <dgm:prSet presAssocID="{FD64D01F-8560-47A8-8127-355261850500}" presName="linearFlow" presStyleCnt="0">
        <dgm:presLayoutVars>
          <dgm:dir/>
          <dgm:animLvl val="lvl"/>
          <dgm:resizeHandles val="exact"/>
        </dgm:presLayoutVars>
      </dgm:prSet>
      <dgm:spPr/>
    </dgm:pt>
    <dgm:pt modelId="{C5043315-3167-4242-8756-3EFDECDE697D}" type="pres">
      <dgm:prSet presAssocID="{C5D95768-64CF-4D5F-8F7F-4A5996C27CD9}" presName="composite" presStyleCnt="0"/>
      <dgm:spPr/>
    </dgm:pt>
    <dgm:pt modelId="{087CCF3B-B980-4744-A098-51E164BAF300}" type="pres">
      <dgm:prSet presAssocID="{C5D95768-64CF-4D5F-8F7F-4A5996C27CD9}" presName="parentText" presStyleLbl="alignNode1" presStyleIdx="0" presStyleCnt="4">
        <dgm:presLayoutVars>
          <dgm:chMax val="1"/>
          <dgm:bulletEnabled val="1"/>
        </dgm:presLayoutVars>
      </dgm:prSet>
      <dgm:spPr/>
    </dgm:pt>
    <dgm:pt modelId="{967F5469-8640-4696-BE0A-D179F4D13586}" type="pres">
      <dgm:prSet presAssocID="{C5D95768-64CF-4D5F-8F7F-4A5996C27CD9}" presName="descendantText" presStyleLbl="alignAcc1" presStyleIdx="0" presStyleCnt="4">
        <dgm:presLayoutVars>
          <dgm:bulletEnabled val="1"/>
        </dgm:presLayoutVars>
      </dgm:prSet>
      <dgm:spPr/>
    </dgm:pt>
    <dgm:pt modelId="{F234092F-7BEC-404E-8293-C36748A6A87C}" type="pres">
      <dgm:prSet presAssocID="{E2A83572-A1BA-4AEF-BB4D-0C9E0744D9DE}" presName="sp" presStyleCnt="0"/>
      <dgm:spPr/>
    </dgm:pt>
    <dgm:pt modelId="{9ECA41B6-16C1-4500-9E83-45EDD0D06E81}" type="pres">
      <dgm:prSet presAssocID="{0EEA00C2-93BC-4594-A89F-B19031BEA809}" presName="composite" presStyleCnt="0"/>
      <dgm:spPr/>
    </dgm:pt>
    <dgm:pt modelId="{1C1FCDAF-0D65-4A39-A0AC-A9D03E334517}" type="pres">
      <dgm:prSet presAssocID="{0EEA00C2-93BC-4594-A89F-B19031BEA809}" presName="parentText" presStyleLbl="alignNode1" presStyleIdx="1" presStyleCnt="4">
        <dgm:presLayoutVars>
          <dgm:chMax val="1"/>
          <dgm:bulletEnabled val="1"/>
        </dgm:presLayoutVars>
      </dgm:prSet>
      <dgm:spPr/>
    </dgm:pt>
    <dgm:pt modelId="{7FDDCB89-19F3-4537-A956-66DB05444287}" type="pres">
      <dgm:prSet presAssocID="{0EEA00C2-93BC-4594-A89F-B19031BEA809}" presName="descendantText" presStyleLbl="alignAcc1" presStyleIdx="1" presStyleCnt="4">
        <dgm:presLayoutVars>
          <dgm:bulletEnabled val="1"/>
        </dgm:presLayoutVars>
      </dgm:prSet>
      <dgm:spPr/>
    </dgm:pt>
    <dgm:pt modelId="{59AFE3C5-7CD4-4DD8-826C-548BC463411A}" type="pres">
      <dgm:prSet presAssocID="{154D2AC9-7745-4621-BE80-FD0ED53C328A}" presName="sp" presStyleCnt="0"/>
      <dgm:spPr/>
    </dgm:pt>
    <dgm:pt modelId="{E8A8C8B2-0AE7-4255-A2E4-A5468342E36B}" type="pres">
      <dgm:prSet presAssocID="{9C75D0E3-AD55-409C-8E70-7C9A60C6090F}" presName="composite" presStyleCnt="0"/>
      <dgm:spPr/>
    </dgm:pt>
    <dgm:pt modelId="{061776BC-E55D-472E-AA38-6C4CA9431466}" type="pres">
      <dgm:prSet presAssocID="{9C75D0E3-AD55-409C-8E70-7C9A60C6090F}" presName="parentText" presStyleLbl="alignNode1" presStyleIdx="2" presStyleCnt="4">
        <dgm:presLayoutVars>
          <dgm:chMax val="1"/>
          <dgm:bulletEnabled val="1"/>
        </dgm:presLayoutVars>
      </dgm:prSet>
      <dgm:spPr/>
    </dgm:pt>
    <dgm:pt modelId="{24E43028-DB82-414F-9136-AA94D471AC5C}" type="pres">
      <dgm:prSet presAssocID="{9C75D0E3-AD55-409C-8E70-7C9A60C6090F}" presName="descendantText" presStyleLbl="alignAcc1" presStyleIdx="2" presStyleCnt="4">
        <dgm:presLayoutVars>
          <dgm:bulletEnabled val="1"/>
        </dgm:presLayoutVars>
      </dgm:prSet>
      <dgm:spPr/>
    </dgm:pt>
    <dgm:pt modelId="{BADD0972-AE9D-4166-B00C-135E3FBC19C2}" type="pres">
      <dgm:prSet presAssocID="{751E2091-1D7F-42F1-A9B4-CCE388AF88F1}" presName="sp" presStyleCnt="0"/>
      <dgm:spPr/>
    </dgm:pt>
    <dgm:pt modelId="{010C641B-529F-49FF-8D75-853C0A91C8C6}" type="pres">
      <dgm:prSet presAssocID="{FFF64E73-C233-45A7-8F5D-4089CAD697FF}" presName="composite" presStyleCnt="0"/>
      <dgm:spPr/>
    </dgm:pt>
    <dgm:pt modelId="{AC9695CB-865B-4694-A98D-9F8EAB741670}" type="pres">
      <dgm:prSet presAssocID="{FFF64E73-C233-45A7-8F5D-4089CAD697FF}" presName="parentText" presStyleLbl="alignNode1" presStyleIdx="3" presStyleCnt="4">
        <dgm:presLayoutVars>
          <dgm:chMax val="1"/>
          <dgm:bulletEnabled val="1"/>
        </dgm:presLayoutVars>
      </dgm:prSet>
      <dgm:spPr/>
    </dgm:pt>
    <dgm:pt modelId="{0B7E51AB-E203-4D88-91EC-23BBEBF68989}" type="pres">
      <dgm:prSet presAssocID="{FFF64E73-C233-45A7-8F5D-4089CAD697FF}" presName="descendantText" presStyleLbl="alignAcc1" presStyleIdx="3" presStyleCnt="4">
        <dgm:presLayoutVars>
          <dgm:bulletEnabled val="1"/>
        </dgm:presLayoutVars>
      </dgm:prSet>
      <dgm:spPr/>
    </dgm:pt>
  </dgm:ptLst>
  <dgm:cxnLst>
    <dgm:cxn modelId="{1236EF00-0657-4E4D-8B27-2D49AF72D854}" srcId="{FD64D01F-8560-47A8-8127-355261850500}" destId="{C5D95768-64CF-4D5F-8F7F-4A5996C27CD9}" srcOrd="0" destOrd="0" parTransId="{095A1CAB-4AA6-4555-A355-CFD87D44D186}" sibTransId="{E2A83572-A1BA-4AEF-BB4D-0C9E0744D9DE}"/>
    <dgm:cxn modelId="{0B807519-E138-4175-A35B-827F947D649D}" type="presOf" srcId="{BB0D0D92-7B41-47B9-88A7-C0582EC816C3}" destId="{7FDDCB89-19F3-4537-A956-66DB05444287}" srcOrd="0" destOrd="0" presId="urn:microsoft.com/office/officeart/2005/8/layout/chevron2"/>
    <dgm:cxn modelId="{734AA91F-B8F4-4F8F-BC5B-66C78E0F36AC}" srcId="{0EEA00C2-93BC-4594-A89F-B19031BEA809}" destId="{BB0D0D92-7B41-47B9-88A7-C0582EC816C3}" srcOrd="0" destOrd="0" parTransId="{351E5DC5-A557-4ACF-B5F7-0E7AC090A2CF}" sibTransId="{77BA015C-934C-4A85-97B4-C36259D5C27E}"/>
    <dgm:cxn modelId="{964EE627-7EAD-42B6-96B6-724558A854D0}" srcId="{FD64D01F-8560-47A8-8127-355261850500}" destId="{FFF64E73-C233-45A7-8F5D-4089CAD697FF}" srcOrd="3" destOrd="0" parTransId="{33A5E1EF-C09D-4317-BF50-3E3A7AD8F5AD}" sibTransId="{C11CDF31-2C2A-4327-8158-DE91CDB3A98C}"/>
    <dgm:cxn modelId="{2007EE2B-C518-48B5-93E3-226E88A0D8DA}" type="presOf" srcId="{9C75D0E3-AD55-409C-8E70-7C9A60C6090F}" destId="{061776BC-E55D-472E-AA38-6C4CA9431466}" srcOrd="0" destOrd="0" presId="urn:microsoft.com/office/officeart/2005/8/layout/chevron2"/>
    <dgm:cxn modelId="{800DBB5C-0218-4C4C-B13E-9BA3A281C287}" type="presOf" srcId="{C2E3AFA4-03DE-4EB5-974A-AAC8D531866F}" destId="{967F5469-8640-4696-BE0A-D179F4D13586}" srcOrd="0" destOrd="0" presId="urn:microsoft.com/office/officeart/2005/8/layout/chevron2"/>
    <dgm:cxn modelId="{E05ADA4D-7A3E-4E06-9659-ACD04759E5FC}" srcId="{C5D95768-64CF-4D5F-8F7F-4A5996C27CD9}" destId="{C2E3AFA4-03DE-4EB5-974A-AAC8D531866F}" srcOrd="0" destOrd="0" parTransId="{0A91646E-F85F-4DB9-8D79-8B2D2A89F3B1}" sibTransId="{96B5DE66-85F8-4D27-90D3-EF3C3C3C171B}"/>
    <dgm:cxn modelId="{E463B871-7F4E-40F9-AC91-58B9FA598B8E}" type="presOf" srcId="{C5D95768-64CF-4D5F-8F7F-4A5996C27CD9}" destId="{087CCF3B-B980-4744-A098-51E164BAF300}" srcOrd="0" destOrd="0" presId="urn:microsoft.com/office/officeart/2005/8/layout/chevron2"/>
    <dgm:cxn modelId="{1E2D2E89-B2F5-4722-BBD0-70AAD5FB8339}" type="presOf" srcId="{856CF85C-AFE6-43D4-BD07-CEBB31FE6836}" destId="{24E43028-DB82-414F-9136-AA94D471AC5C}" srcOrd="0" destOrd="0" presId="urn:microsoft.com/office/officeart/2005/8/layout/chevron2"/>
    <dgm:cxn modelId="{BC70318A-D626-4006-9FF2-051025E4DD7D}" srcId="{FD64D01F-8560-47A8-8127-355261850500}" destId="{0EEA00C2-93BC-4594-A89F-B19031BEA809}" srcOrd="1" destOrd="0" parTransId="{13A3DC76-198C-46D6-9E07-18965F9979A0}" sibTransId="{154D2AC9-7745-4621-BE80-FD0ED53C328A}"/>
    <dgm:cxn modelId="{C48B5691-7C60-423E-B931-CA3DFE359FB9}" srcId="{9C75D0E3-AD55-409C-8E70-7C9A60C6090F}" destId="{856CF85C-AFE6-43D4-BD07-CEBB31FE6836}" srcOrd="0" destOrd="0" parTransId="{69CECD98-70EC-4789-9ADD-7B490C308C2C}" sibTransId="{DDF95A1A-C44D-4927-A030-6A34D414D84C}"/>
    <dgm:cxn modelId="{B1E56E97-41A8-4CB4-9F10-4879E95822BB}" type="presOf" srcId="{FFF64E73-C233-45A7-8F5D-4089CAD697FF}" destId="{AC9695CB-865B-4694-A98D-9F8EAB741670}" srcOrd="0" destOrd="0" presId="urn:microsoft.com/office/officeart/2005/8/layout/chevron2"/>
    <dgm:cxn modelId="{6B0E3C99-97A8-41EE-8644-3F9496A5CFE0}" type="presOf" srcId="{BDC85DC2-8141-45A3-86C7-98E5B6509650}" destId="{0B7E51AB-E203-4D88-91EC-23BBEBF68989}" srcOrd="0" destOrd="0" presId="urn:microsoft.com/office/officeart/2005/8/layout/chevron2"/>
    <dgm:cxn modelId="{171ACD99-DE4C-411B-89B4-AAF0D655C0E8}" type="presOf" srcId="{FD64D01F-8560-47A8-8127-355261850500}" destId="{8812DE91-C297-420B-AFB3-99A8E5FEF467}" srcOrd="0" destOrd="0" presId="urn:microsoft.com/office/officeart/2005/8/layout/chevron2"/>
    <dgm:cxn modelId="{61872CB5-2657-4CB5-A05C-B3BC0E2E1CEF}" type="presOf" srcId="{0EEA00C2-93BC-4594-A89F-B19031BEA809}" destId="{1C1FCDAF-0D65-4A39-A0AC-A9D03E334517}" srcOrd="0" destOrd="0" presId="urn:microsoft.com/office/officeart/2005/8/layout/chevron2"/>
    <dgm:cxn modelId="{ADF66DBB-9393-4116-8CC0-6D697476D591}" srcId="{FD64D01F-8560-47A8-8127-355261850500}" destId="{9C75D0E3-AD55-409C-8E70-7C9A60C6090F}" srcOrd="2" destOrd="0" parTransId="{4A0B1DED-E29F-41E6-8689-CB100BB93A33}" sibTransId="{751E2091-1D7F-42F1-A9B4-CCE388AF88F1}"/>
    <dgm:cxn modelId="{F3797FDF-B4B0-4767-9463-0A60D5B8E21B}" srcId="{FFF64E73-C233-45A7-8F5D-4089CAD697FF}" destId="{BDC85DC2-8141-45A3-86C7-98E5B6509650}" srcOrd="0" destOrd="0" parTransId="{19CA359C-E121-40CE-9D99-A97A650135B1}" sibTransId="{D0E75E54-8483-4E38-A5BF-CF0A25C2C09C}"/>
    <dgm:cxn modelId="{C64A0415-30F8-4657-94B5-B6770E2E4A17}" type="presParOf" srcId="{8812DE91-C297-420B-AFB3-99A8E5FEF467}" destId="{C5043315-3167-4242-8756-3EFDECDE697D}" srcOrd="0" destOrd="0" presId="urn:microsoft.com/office/officeart/2005/8/layout/chevron2"/>
    <dgm:cxn modelId="{4B8F6622-BF5B-4703-B962-0667A439B385}" type="presParOf" srcId="{C5043315-3167-4242-8756-3EFDECDE697D}" destId="{087CCF3B-B980-4744-A098-51E164BAF300}" srcOrd="0" destOrd="0" presId="urn:microsoft.com/office/officeart/2005/8/layout/chevron2"/>
    <dgm:cxn modelId="{2B0FCE80-9EA3-4976-981D-2B52FDA8ED11}" type="presParOf" srcId="{C5043315-3167-4242-8756-3EFDECDE697D}" destId="{967F5469-8640-4696-BE0A-D179F4D13586}" srcOrd="1" destOrd="0" presId="urn:microsoft.com/office/officeart/2005/8/layout/chevron2"/>
    <dgm:cxn modelId="{DD47DAED-CD71-4E9D-8360-F95A3345A2A0}" type="presParOf" srcId="{8812DE91-C297-420B-AFB3-99A8E5FEF467}" destId="{F234092F-7BEC-404E-8293-C36748A6A87C}" srcOrd="1" destOrd="0" presId="urn:microsoft.com/office/officeart/2005/8/layout/chevron2"/>
    <dgm:cxn modelId="{5E68F53B-7712-42DD-A075-CC6D0321C578}" type="presParOf" srcId="{8812DE91-C297-420B-AFB3-99A8E5FEF467}" destId="{9ECA41B6-16C1-4500-9E83-45EDD0D06E81}" srcOrd="2" destOrd="0" presId="urn:microsoft.com/office/officeart/2005/8/layout/chevron2"/>
    <dgm:cxn modelId="{CAC61C07-8FCE-4442-8685-419BE65095B7}" type="presParOf" srcId="{9ECA41B6-16C1-4500-9E83-45EDD0D06E81}" destId="{1C1FCDAF-0D65-4A39-A0AC-A9D03E334517}" srcOrd="0" destOrd="0" presId="urn:microsoft.com/office/officeart/2005/8/layout/chevron2"/>
    <dgm:cxn modelId="{6E1E0FD5-009A-4088-841D-8E21775B0BE1}" type="presParOf" srcId="{9ECA41B6-16C1-4500-9E83-45EDD0D06E81}" destId="{7FDDCB89-19F3-4537-A956-66DB05444287}" srcOrd="1" destOrd="0" presId="urn:microsoft.com/office/officeart/2005/8/layout/chevron2"/>
    <dgm:cxn modelId="{E7A20A1A-174C-4851-8A45-445601074D5F}" type="presParOf" srcId="{8812DE91-C297-420B-AFB3-99A8E5FEF467}" destId="{59AFE3C5-7CD4-4DD8-826C-548BC463411A}" srcOrd="3" destOrd="0" presId="urn:microsoft.com/office/officeart/2005/8/layout/chevron2"/>
    <dgm:cxn modelId="{324D96E4-DC48-4671-9928-50C0B339F514}" type="presParOf" srcId="{8812DE91-C297-420B-AFB3-99A8E5FEF467}" destId="{E8A8C8B2-0AE7-4255-A2E4-A5468342E36B}" srcOrd="4" destOrd="0" presId="urn:microsoft.com/office/officeart/2005/8/layout/chevron2"/>
    <dgm:cxn modelId="{3DFD4D47-1636-4781-A8AD-7E06FC395286}" type="presParOf" srcId="{E8A8C8B2-0AE7-4255-A2E4-A5468342E36B}" destId="{061776BC-E55D-472E-AA38-6C4CA9431466}" srcOrd="0" destOrd="0" presId="urn:microsoft.com/office/officeart/2005/8/layout/chevron2"/>
    <dgm:cxn modelId="{171FA9E3-E314-4295-9E5B-C7A3CB9F8A82}" type="presParOf" srcId="{E8A8C8B2-0AE7-4255-A2E4-A5468342E36B}" destId="{24E43028-DB82-414F-9136-AA94D471AC5C}" srcOrd="1" destOrd="0" presId="urn:microsoft.com/office/officeart/2005/8/layout/chevron2"/>
    <dgm:cxn modelId="{AE9E7E87-D686-4B45-A84D-5ABE2933C1B7}" type="presParOf" srcId="{8812DE91-C297-420B-AFB3-99A8E5FEF467}" destId="{BADD0972-AE9D-4166-B00C-135E3FBC19C2}" srcOrd="5" destOrd="0" presId="urn:microsoft.com/office/officeart/2005/8/layout/chevron2"/>
    <dgm:cxn modelId="{9056BABD-5574-4751-835D-FBA25C5BFFFA}" type="presParOf" srcId="{8812DE91-C297-420B-AFB3-99A8E5FEF467}" destId="{010C641B-529F-49FF-8D75-853C0A91C8C6}" srcOrd="6" destOrd="0" presId="urn:microsoft.com/office/officeart/2005/8/layout/chevron2"/>
    <dgm:cxn modelId="{6FCBEEF0-EF56-43AE-B9B7-3E326E2733D9}" type="presParOf" srcId="{010C641B-529F-49FF-8D75-853C0A91C8C6}" destId="{AC9695CB-865B-4694-A98D-9F8EAB741670}" srcOrd="0" destOrd="0" presId="urn:microsoft.com/office/officeart/2005/8/layout/chevron2"/>
    <dgm:cxn modelId="{4319CC0D-EB4C-4D7F-8882-92073AFDFC18}" type="presParOf" srcId="{010C641B-529F-49FF-8D75-853C0A91C8C6}" destId="{0B7E51AB-E203-4D88-91EC-23BBEBF68989}"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C21050E-147F-489A-A7FD-460FB797C877}" type="doc">
      <dgm:prSet loTypeId="urn:microsoft.com/office/officeart/2005/8/layout/vList3#1" loCatId="list" qsTypeId="urn:microsoft.com/office/officeart/2005/8/quickstyle/simple1" qsCatId="simple" csTypeId="urn:microsoft.com/office/officeart/2005/8/colors/colorful1#8" csCatId="colorful" phldr="1"/>
      <dgm:spPr/>
    </dgm:pt>
    <dgm:pt modelId="{72123855-C7C2-4715-833A-643B0141CF2B}">
      <dgm:prSet phldrT="[文本]" custT="1"/>
      <dgm:spPr/>
      <dgm:t>
        <a:bodyPr/>
        <a:lstStyle/>
        <a:p>
          <a:pPr algn="l"/>
          <a:r>
            <a:rPr lang="zh-CN" altLang="en-US" sz="1600" b="0" dirty="0">
              <a:latin typeface="微软雅黑" panose="020B0503020204020204" pitchFamily="34" charset="-122"/>
              <a:ea typeface="微软雅黑" panose="020B0503020204020204" pitchFamily="34" charset="-122"/>
            </a:rPr>
            <a:t>划分 </a:t>
          </a:r>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的方法不受限制，由网络管理员来控制。</a:t>
          </a:r>
        </a:p>
      </dgm:t>
    </dgm:pt>
    <dgm:pt modelId="{EFB12E30-3EA0-4797-A33C-A5797E53E130}" type="par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4EAAC225-00D2-467F-90A9-343FAE4B171E}" type="sib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59A4C5F6-314A-4936-ADC5-2168787225BA}">
      <dgm:prSet phldrT="[文本]" custT="1"/>
      <dgm:spPr/>
      <dgm:t>
        <a:bodyPr/>
        <a:lstStyle/>
        <a:p>
          <a:pPr algn="l"/>
          <a:r>
            <a:rPr lang="zh-CN" altLang="en-US" sz="1600" b="0" dirty="0">
              <a:latin typeface="微软雅黑" panose="020B0503020204020204" pitchFamily="34" charset="-122"/>
              <a:ea typeface="微软雅黑" panose="020B0503020204020204" pitchFamily="34" charset="-122"/>
            </a:rPr>
            <a:t>入口节点并不是给每一个 </a:t>
          </a:r>
          <a:r>
            <a:rPr lang="en-US" altLang="en-US" sz="1600" b="0" dirty="0">
              <a:latin typeface="微软雅黑" panose="020B0503020204020204" pitchFamily="34" charset="-122"/>
              <a:ea typeface="微软雅黑" panose="020B0503020204020204" pitchFamily="34" charset="-122"/>
            </a:rPr>
            <a:t>IP </a:t>
          </a:r>
          <a:r>
            <a:rPr lang="zh-CN" altLang="en-US" sz="1600" b="0" dirty="0">
              <a:latin typeface="微软雅黑" panose="020B0503020204020204" pitchFamily="34" charset="-122"/>
              <a:ea typeface="微软雅黑" panose="020B0503020204020204" pitchFamily="34" charset="-122"/>
            </a:rPr>
            <a:t>数据报指派一个不同的标签，而是将属于同样 </a:t>
          </a:r>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的 </a:t>
          </a:r>
          <a:r>
            <a:rPr lang="en-US" altLang="en-US" sz="1600" b="0" dirty="0">
              <a:latin typeface="微软雅黑" panose="020B0503020204020204" pitchFamily="34" charset="-122"/>
              <a:ea typeface="微软雅黑" panose="020B0503020204020204" pitchFamily="34" charset="-122"/>
            </a:rPr>
            <a:t>IP </a:t>
          </a:r>
          <a:r>
            <a:rPr lang="zh-CN" altLang="en-US" sz="1600" b="0" dirty="0">
              <a:latin typeface="微软雅黑" panose="020B0503020204020204" pitchFamily="34" charset="-122"/>
              <a:ea typeface="微软雅黑" panose="020B0503020204020204" pitchFamily="34" charset="-122"/>
            </a:rPr>
            <a:t>数据报都指派同样的标签。</a:t>
          </a:r>
        </a:p>
      </dgm:t>
    </dgm:pt>
    <dgm:pt modelId="{617A193A-8D76-4CFD-94A5-95F09FA1A387}" type="par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3459D600-7DE3-44AF-8ED5-5B9FAB851A17}" type="sib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6F41222E-4FA5-4BEB-A9EB-D1EE924C0B5A}">
      <dgm:prSet phldrT="[文本]" custT="1"/>
      <dgm:spPr/>
      <dgm:t>
        <a:bodyPr/>
        <a:lstStyle/>
        <a:p>
          <a:pPr algn="l"/>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和标签是一一对应的关系。</a:t>
          </a:r>
        </a:p>
      </dgm:t>
    </dgm:pt>
    <dgm:pt modelId="{C8352C99-6380-401A-B47B-173B5614AA1A}" type="parTrans" cxnId="{F4FB8D51-2C66-4983-A5AC-FDAF2399B53E}">
      <dgm:prSet/>
      <dgm:spPr/>
      <dgm:t>
        <a:bodyPr/>
        <a:lstStyle/>
        <a:p>
          <a:pPr algn="l"/>
          <a:endParaRPr lang="zh-CN" altLang="en-US"/>
        </a:p>
      </dgm:t>
    </dgm:pt>
    <dgm:pt modelId="{A1182F91-69BE-44CA-B9BC-8D9EEF59921F}" type="sibTrans" cxnId="{F4FB8D51-2C66-4983-A5AC-FDAF2399B53E}">
      <dgm:prSet/>
      <dgm:spPr/>
      <dgm:t>
        <a:bodyPr/>
        <a:lstStyle/>
        <a:p>
          <a:pPr algn="l"/>
          <a:endParaRPr lang="zh-CN" altLang="en-US"/>
        </a:p>
      </dgm:t>
    </dgm:pt>
    <dgm:pt modelId="{E52050CE-66B8-4300-ACB0-BB50B3E00040}" type="pres">
      <dgm:prSet presAssocID="{BC21050E-147F-489A-A7FD-460FB797C877}" presName="linearFlow" presStyleCnt="0">
        <dgm:presLayoutVars>
          <dgm:dir/>
          <dgm:resizeHandles val="exact"/>
        </dgm:presLayoutVars>
      </dgm:prSet>
      <dgm:spPr/>
    </dgm:pt>
    <dgm:pt modelId="{DDBE1894-9F24-459B-B087-5C7187620755}" type="pres">
      <dgm:prSet presAssocID="{72123855-C7C2-4715-833A-643B0141CF2B}" presName="composite" presStyleCnt="0"/>
      <dgm:spPr/>
    </dgm:pt>
    <dgm:pt modelId="{F63A45BE-87F8-4243-8A28-A9B96E270ED4}" type="pres">
      <dgm:prSet presAssocID="{72123855-C7C2-4715-833A-643B0141CF2B}" presName="imgShp" presStyleLbl="fgImgPlace1" presStyleIdx="0" presStyleCnt="3"/>
      <dgm:spPr/>
    </dgm:pt>
    <dgm:pt modelId="{46CEFA23-1767-4D57-91F8-8F65E8ACFD37}" type="pres">
      <dgm:prSet presAssocID="{72123855-C7C2-4715-833A-643B0141CF2B}" presName="txShp" presStyleLbl="node1" presStyleIdx="0" presStyleCnt="3">
        <dgm:presLayoutVars>
          <dgm:bulletEnabled val="1"/>
        </dgm:presLayoutVars>
      </dgm:prSet>
      <dgm:spPr/>
    </dgm:pt>
    <dgm:pt modelId="{C318E8D0-7087-4263-8D76-3FA664047E00}" type="pres">
      <dgm:prSet presAssocID="{4EAAC225-00D2-467F-90A9-343FAE4B171E}" presName="spacing" presStyleCnt="0"/>
      <dgm:spPr/>
    </dgm:pt>
    <dgm:pt modelId="{2FC35DD1-E357-457C-8C57-992751F026A0}" type="pres">
      <dgm:prSet presAssocID="{59A4C5F6-314A-4936-ADC5-2168787225BA}" presName="composite" presStyleCnt="0"/>
      <dgm:spPr/>
    </dgm:pt>
    <dgm:pt modelId="{FCC1DF99-0F26-4341-896E-169B093FC04C}" type="pres">
      <dgm:prSet presAssocID="{59A4C5F6-314A-4936-ADC5-2168787225BA}" presName="imgShp" presStyleLbl="fgImgPlace1" presStyleIdx="1" presStyleCnt="3"/>
      <dgm:spPr/>
    </dgm:pt>
    <dgm:pt modelId="{88C0456F-D6DF-4746-9CD6-A09A4CCC1C0D}" type="pres">
      <dgm:prSet presAssocID="{59A4C5F6-314A-4936-ADC5-2168787225BA}" presName="txShp" presStyleLbl="node1" presStyleIdx="1" presStyleCnt="3">
        <dgm:presLayoutVars>
          <dgm:bulletEnabled val="1"/>
        </dgm:presLayoutVars>
      </dgm:prSet>
      <dgm:spPr/>
    </dgm:pt>
    <dgm:pt modelId="{5489DDAE-D3FF-4105-BFE3-6F3E93B2F5B1}" type="pres">
      <dgm:prSet presAssocID="{3459D600-7DE3-44AF-8ED5-5B9FAB851A17}" presName="spacing" presStyleCnt="0"/>
      <dgm:spPr/>
    </dgm:pt>
    <dgm:pt modelId="{E6CD1C43-A5BA-4EA1-AE6E-81A125F735B7}" type="pres">
      <dgm:prSet presAssocID="{6F41222E-4FA5-4BEB-A9EB-D1EE924C0B5A}" presName="composite" presStyleCnt="0"/>
      <dgm:spPr/>
    </dgm:pt>
    <dgm:pt modelId="{6B868C05-F9BC-41B1-B7D8-606E2302DF2B}" type="pres">
      <dgm:prSet presAssocID="{6F41222E-4FA5-4BEB-A9EB-D1EE924C0B5A}" presName="imgShp" presStyleLbl="fgImgPlace1" presStyleIdx="2" presStyleCnt="3"/>
      <dgm:spPr/>
    </dgm:pt>
    <dgm:pt modelId="{7B8D19E8-A42A-42E7-B42A-280A0B9EB13B}" type="pres">
      <dgm:prSet presAssocID="{6F41222E-4FA5-4BEB-A9EB-D1EE924C0B5A}" presName="txShp" presStyleLbl="node1" presStyleIdx="2" presStyleCnt="3">
        <dgm:presLayoutVars>
          <dgm:bulletEnabled val="1"/>
        </dgm:presLayoutVars>
      </dgm:prSet>
      <dgm:spPr/>
    </dgm:pt>
  </dgm:ptLst>
  <dgm:cxnLst>
    <dgm:cxn modelId="{DB6ADD2E-4175-41EA-9F19-1420DDC4FE24}" srcId="{BC21050E-147F-489A-A7FD-460FB797C877}" destId="{59A4C5F6-314A-4936-ADC5-2168787225BA}" srcOrd="1" destOrd="0" parTransId="{617A193A-8D76-4CFD-94A5-95F09FA1A387}" sibTransId="{3459D600-7DE3-44AF-8ED5-5B9FAB851A17}"/>
    <dgm:cxn modelId="{1F3ACD60-0149-4B8F-A90C-BDDB34630995}" srcId="{BC21050E-147F-489A-A7FD-460FB797C877}" destId="{72123855-C7C2-4715-833A-643B0141CF2B}" srcOrd="0" destOrd="0" parTransId="{EFB12E30-3EA0-4797-A33C-A5797E53E130}" sibTransId="{4EAAC225-00D2-467F-90A9-343FAE4B171E}"/>
    <dgm:cxn modelId="{2A72386F-7C02-4735-850B-9F5F6E8C39E4}" type="presOf" srcId="{6F41222E-4FA5-4BEB-A9EB-D1EE924C0B5A}" destId="{7B8D19E8-A42A-42E7-B42A-280A0B9EB13B}" srcOrd="0" destOrd="0" presId="urn:microsoft.com/office/officeart/2005/8/layout/vList3#1"/>
    <dgm:cxn modelId="{F4FB8D51-2C66-4983-A5AC-FDAF2399B53E}" srcId="{BC21050E-147F-489A-A7FD-460FB797C877}" destId="{6F41222E-4FA5-4BEB-A9EB-D1EE924C0B5A}" srcOrd="2" destOrd="0" parTransId="{C8352C99-6380-401A-B47B-173B5614AA1A}" sibTransId="{A1182F91-69BE-44CA-B9BC-8D9EEF59921F}"/>
    <dgm:cxn modelId="{AB83A0D0-03B3-42E5-B86A-E8480837EF1E}" type="presOf" srcId="{BC21050E-147F-489A-A7FD-460FB797C877}" destId="{E52050CE-66B8-4300-ACB0-BB50B3E00040}" srcOrd="0" destOrd="0" presId="urn:microsoft.com/office/officeart/2005/8/layout/vList3#1"/>
    <dgm:cxn modelId="{3E2AAAE9-7A13-4C1F-B2E0-E516B13D67EF}" type="presOf" srcId="{72123855-C7C2-4715-833A-643B0141CF2B}" destId="{46CEFA23-1767-4D57-91F8-8F65E8ACFD37}" srcOrd="0" destOrd="0" presId="urn:microsoft.com/office/officeart/2005/8/layout/vList3#1"/>
    <dgm:cxn modelId="{E6B9DDFA-EC6E-4F1B-9579-C70C0741CBC7}" type="presOf" srcId="{59A4C5F6-314A-4936-ADC5-2168787225BA}" destId="{88C0456F-D6DF-4746-9CD6-A09A4CCC1C0D}" srcOrd="0" destOrd="0" presId="urn:microsoft.com/office/officeart/2005/8/layout/vList3#1"/>
    <dgm:cxn modelId="{C203B13B-5178-4505-BE6D-1A9D375A9E74}" type="presParOf" srcId="{E52050CE-66B8-4300-ACB0-BB50B3E00040}" destId="{DDBE1894-9F24-459B-B087-5C7187620755}" srcOrd="0" destOrd="0" presId="urn:microsoft.com/office/officeart/2005/8/layout/vList3#1"/>
    <dgm:cxn modelId="{C1E91C9E-8ABD-45CF-ADB3-5653F728FAA5}" type="presParOf" srcId="{DDBE1894-9F24-459B-B087-5C7187620755}" destId="{F63A45BE-87F8-4243-8A28-A9B96E270ED4}" srcOrd="0" destOrd="0" presId="urn:microsoft.com/office/officeart/2005/8/layout/vList3#1"/>
    <dgm:cxn modelId="{B75F0A94-501E-46A2-ABB8-24FF15E75920}" type="presParOf" srcId="{DDBE1894-9F24-459B-B087-5C7187620755}" destId="{46CEFA23-1767-4D57-91F8-8F65E8ACFD37}" srcOrd="1" destOrd="0" presId="urn:microsoft.com/office/officeart/2005/8/layout/vList3#1"/>
    <dgm:cxn modelId="{E3051684-0B7C-4745-AC6A-095AAF4327E5}" type="presParOf" srcId="{E52050CE-66B8-4300-ACB0-BB50B3E00040}" destId="{C318E8D0-7087-4263-8D76-3FA664047E00}" srcOrd="1" destOrd="0" presId="urn:microsoft.com/office/officeart/2005/8/layout/vList3#1"/>
    <dgm:cxn modelId="{E25278FD-732D-4B2F-AF3E-1DE6122C96F1}" type="presParOf" srcId="{E52050CE-66B8-4300-ACB0-BB50B3E00040}" destId="{2FC35DD1-E357-457C-8C57-992751F026A0}" srcOrd="2" destOrd="0" presId="urn:microsoft.com/office/officeart/2005/8/layout/vList3#1"/>
    <dgm:cxn modelId="{B329EAC2-ECC3-406F-BE56-92A12EC808F1}" type="presParOf" srcId="{2FC35DD1-E357-457C-8C57-992751F026A0}" destId="{FCC1DF99-0F26-4341-896E-169B093FC04C}" srcOrd="0" destOrd="0" presId="urn:microsoft.com/office/officeart/2005/8/layout/vList3#1"/>
    <dgm:cxn modelId="{2AB4170D-0E4D-4D54-9DD5-04663508FF29}" type="presParOf" srcId="{2FC35DD1-E357-457C-8C57-992751F026A0}" destId="{88C0456F-D6DF-4746-9CD6-A09A4CCC1C0D}" srcOrd="1" destOrd="0" presId="urn:microsoft.com/office/officeart/2005/8/layout/vList3#1"/>
    <dgm:cxn modelId="{4C428128-76DD-4219-A5FB-9B908ED0180B}" type="presParOf" srcId="{E52050CE-66B8-4300-ACB0-BB50B3E00040}" destId="{5489DDAE-D3FF-4105-BFE3-6F3E93B2F5B1}" srcOrd="3" destOrd="0" presId="urn:microsoft.com/office/officeart/2005/8/layout/vList3#1"/>
    <dgm:cxn modelId="{0C96A5DD-6414-485C-B326-E5278700AE57}" type="presParOf" srcId="{E52050CE-66B8-4300-ACB0-BB50B3E00040}" destId="{E6CD1C43-A5BA-4EA1-AE6E-81A125F735B7}" srcOrd="4" destOrd="0" presId="urn:microsoft.com/office/officeart/2005/8/layout/vList3#1"/>
    <dgm:cxn modelId="{4E58E781-7248-4BD6-B0EE-A3E9D8646EAB}" type="presParOf" srcId="{E6CD1C43-A5BA-4EA1-AE6E-81A125F735B7}" destId="{6B868C05-F9BC-41B1-B7D8-606E2302DF2B}" srcOrd="0" destOrd="0" presId="urn:microsoft.com/office/officeart/2005/8/layout/vList3#1"/>
    <dgm:cxn modelId="{5A1F4C69-B884-44E0-94D1-29333AEA80A5}" type="presParOf" srcId="{E6CD1C43-A5BA-4EA1-AE6E-81A125F735B7}" destId="{7B8D19E8-A42A-42E7-B42A-280A0B9EB13B}" srcOrd="1" destOrd="0" presId="urn:microsoft.com/office/officeart/2005/8/layout/vList3#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507CF620-754C-42AA-B6D7-6E532B46496D}" type="doc">
      <dgm:prSet loTypeId="urn:microsoft.com/office/officeart/2005/8/layout/list1" loCatId="list" qsTypeId="urn:microsoft.com/office/officeart/2005/8/quickstyle/simple1" qsCatId="simple" csTypeId="urn:microsoft.com/office/officeart/2005/8/colors/colorful1#9" csCatId="colorful" phldr="1"/>
      <dgm:spPr/>
      <dgm:t>
        <a:bodyPr/>
        <a:lstStyle/>
        <a:p>
          <a:endParaRPr lang="zh-CN" altLang="en-US"/>
        </a:p>
      </dgm:t>
    </dgm:pt>
    <dgm:pt modelId="{E2D531EB-AB54-494E-9C1E-4C30D2113C22}">
      <dgm:prSet phldrT="[文本]" custT="1"/>
      <dgm:spPr/>
      <dgm:t>
        <a:bodyPr/>
        <a:lstStyle/>
        <a:p>
          <a:r>
            <a:rPr lang="en-US" altLang="en-US" sz="1800" b="1" dirty="0">
              <a:solidFill>
                <a:schemeClr val="bg1"/>
              </a:solidFill>
              <a:latin typeface="微软雅黑" panose="020B0503020204020204" pitchFamily="34" charset="-122"/>
              <a:ea typeface="微软雅黑" panose="020B0503020204020204" pitchFamily="34" charset="-122"/>
            </a:rPr>
            <a:t>SDN</a:t>
          </a:r>
          <a:endParaRPr lang="zh-CN" altLang="en-US" sz="1800" b="1" dirty="0">
            <a:solidFill>
              <a:schemeClr val="bg1"/>
            </a:solidFill>
            <a:latin typeface="微软雅黑" panose="020B0503020204020204" pitchFamily="34" charset="-122"/>
            <a:ea typeface="微软雅黑" panose="020B0503020204020204" pitchFamily="34" charset="-122"/>
          </a:endParaRPr>
        </a:p>
      </dgm:t>
    </dgm:pt>
    <dgm:pt modelId="{BE246D6D-5FC4-4574-ADA4-F9DF70A01C22}" type="par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6EA74CD-3BAB-4DA8-B288-8D367F33563E}" type="sib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CEA250F-A938-4832-8A35-1F6531FC8D25}">
      <dgm:prSet phldrT="[文本]"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是一个</a:t>
          </a:r>
          <a:r>
            <a:rPr lang="zh-CN" altLang="en-US" sz="1400" b="0" dirty="0">
              <a:solidFill>
                <a:srgbClr val="C00000"/>
              </a:solidFill>
              <a:latin typeface="微软雅黑" panose="020B0503020204020204" pitchFamily="34" charset="-122"/>
              <a:ea typeface="微软雅黑" panose="020B0503020204020204" pitchFamily="34" charset="-122"/>
            </a:rPr>
            <a:t>体系结构，</a:t>
          </a:r>
          <a:r>
            <a:rPr lang="zh-CN" altLang="en-US" sz="1400" b="0" dirty="0">
              <a:latin typeface="微软雅黑" panose="020B0503020204020204" pitchFamily="34" charset="-122"/>
              <a:ea typeface="微软雅黑" panose="020B0503020204020204" pitchFamily="34" charset="-122"/>
            </a:rPr>
            <a:t>是一种设计、构建和管理网络的新方法或新概念。</a:t>
          </a:r>
        </a:p>
      </dgm:t>
    </dgm:pt>
    <dgm:pt modelId="{855D1AA7-0014-42D1-AB55-0512522635CF}" type="par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3824E0-260D-44AF-A6A0-AF20B4EAB600}" type="sib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3C5C89E-14AA-4071-98C1-AD449E0D1A5F}">
      <dgm:prSet phldrT="[文本]" custT="1"/>
      <dgm:spPr/>
      <dgm:t>
        <a:bodyPr/>
        <a:lstStyle/>
        <a:p>
          <a:pPr>
            <a:spcAft>
              <a:spcPts val="0"/>
            </a:spcAft>
          </a:pPr>
          <a:r>
            <a:rPr lang="zh-CN" altLang="en-US" sz="1400" b="0" dirty="0">
              <a:solidFill>
                <a:schemeClr val="tx1"/>
              </a:solidFill>
              <a:latin typeface="微软雅黑" panose="020B0503020204020204" pitchFamily="34" charset="-122"/>
              <a:ea typeface="微软雅黑" panose="020B0503020204020204" pitchFamily="34" charset="-122"/>
            </a:rPr>
            <a:t>把</a:t>
          </a:r>
          <a:r>
            <a:rPr lang="zh-CN" altLang="en-US" sz="1400" b="0" dirty="0">
              <a:solidFill>
                <a:srgbClr val="0000FF"/>
              </a:solidFill>
              <a:latin typeface="微软雅黑" panose="020B0503020204020204" pitchFamily="34" charset="-122"/>
              <a:ea typeface="微软雅黑" panose="020B0503020204020204" pitchFamily="34" charset="-122"/>
            </a:rPr>
            <a:t>控制层面</a:t>
          </a:r>
          <a:r>
            <a:rPr lang="zh-CN" altLang="en-US" sz="1400" b="0" dirty="0">
              <a:solidFill>
                <a:schemeClr val="tx1"/>
              </a:solidFill>
              <a:latin typeface="微软雅黑" panose="020B0503020204020204" pitchFamily="34" charset="-122"/>
              <a:ea typeface="微软雅黑" panose="020B0503020204020204" pitchFamily="34" charset="-122"/>
            </a:rPr>
            <a:t>和</a:t>
          </a:r>
          <a:r>
            <a:rPr lang="zh-CN" altLang="en-US" sz="1400" b="0" dirty="0">
              <a:solidFill>
                <a:srgbClr val="0000FF"/>
              </a:solidFill>
              <a:latin typeface="微软雅黑" panose="020B0503020204020204" pitchFamily="34" charset="-122"/>
              <a:ea typeface="微软雅黑" panose="020B0503020204020204" pitchFamily="34" charset="-122"/>
            </a:rPr>
            <a:t>数据层面</a:t>
          </a:r>
          <a:r>
            <a:rPr lang="zh-CN" altLang="en-US" sz="1400" b="0" dirty="0">
              <a:solidFill>
                <a:srgbClr val="C00000"/>
              </a:solidFill>
              <a:latin typeface="微软雅黑" panose="020B0503020204020204" pitchFamily="34" charset="-122"/>
              <a:ea typeface="微软雅黑" panose="020B0503020204020204" pitchFamily="34" charset="-122"/>
            </a:rPr>
            <a:t>分离，</a:t>
          </a:r>
          <a:r>
            <a:rPr lang="zh-CN" altLang="en-US" sz="1400" b="0" dirty="0">
              <a:latin typeface="微软雅黑" panose="020B0503020204020204" pitchFamily="34" charset="-122"/>
              <a:ea typeface="微软雅黑" panose="020B0503020204020204" pitchFamily="34" charset="-122"/>
            </a:rPr>
            <a:t>而让控制层面</a:t>
          </a:r>
          <a:r>
            <a:rPr lang="zh-CN" altLang="en-US" sz="1400" b="0" dirty="0">
              <a:solidFill>
                <a:srgbClr val="C00000"/>
              </a:solidFill>
              <a:latin typeface="微软雅黑" panose="020B0503020204020204" pitchFamily="34" charset="-122"/>
              <a:ea typeface="微软雅黑" panose="020B0503020204020204" pitchFamily="34" charset="-122"/>
            </a:rPr>
            <a:t>利用软件</a:t>
          </a:r>
          <a:r>
            <a:rPr lang="zh-CN" altLang="en-US" sz="1400" b="0" dirty="0">
              <a:solidFill>
                <a:srgbClr val="0000FF"/>
              </a:solidFill>
              <a:latin typeface="微软雅黑" panose="020B0503020204020204" pitchFamily="34" charset="-122"/>
              <a:ea typeface="微软雅黑" panose="020B0503020204020204" pitchFamily="34" charset="-122"/>
            </a:rPr>
            <a:t>控制</a:t>
          </a:r>
          <a:r>
            <a:rPr lang="zh-CN" altLang="en-US" sz="1400" b="0" dirty="0">
              <a:latin typeface="微软雅黑" panose="020B0503020204020204" pitchFamily="34" charset="-122"/>
              <a:ea typeface="微软雅黑" panose="020B0503020204020204" pitchFamily="34" charset="-122"/>
            </a:rPr>
            <a:t>数据层面中的许多设备。</a:t>
          </a:r>
        </a:p>
      </dgm:t>
    </dgm:pt>
    <dgm:pt modelId="{391EB9A4-3860-4C75-B5FA-C5A625F7D484}" type="par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22B8AFC6-C448-4A2D-8799-F021A978A537}" type="sib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AA16250-CD1E-4D72-BB65-F717DC30B48F}">
      <dgm:prSet phldrT="[文本]" custT="1"/>
      <dgm:spPr/>
      <dgm:t>
        <a:bodyPr/>
        <a:lstStyle/>
        <a:p>
          <a:r>
            <a:rPr lang="en-US" altLang="zh-CN" sz="1800" b="1" dirty="0" err="1">
              <a:solidFill>
                <a:srgbClr val="0000CC"/>
              </a:solidFill>
              <a:latin typeface="微软雅黑" panose="020B0503020204020204" pitchFamily="34" charset="-122"/>
              <a:ea typeface="微软雅黑" panose="020B0503020204020204" pitchFamily="34" charset="-122"/>
            </a:rPr>
            <a:t>OpenFlow</a:t>
          </a:r>
          <a:endParaRPr lang="zh-CN" altLang="en-US" sz="1800" b="1" dirty="0">
            <a:solidFill>
              <a:srgbClr val="0000CC"/>
            </a:solidFill>
            <a:latin typeface="微软雅黑" panose="020B0503020204020204" pitchFamily="34" charset="-122"/>
            <a:ea typeface="微软雅黑" panose="020B0503020204020204" pitchFamily="34" charset="-122"/>
          </a:endParaRPr>
        </a:p>
      </dgm:t>
    </dgm:pt>
    <dgm:pt modelId="{EC3331E7-A551-4472-847B-BA00CA0EB852}" type="par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10F3F05-CD84-4A1B-BDC4-701D75C6400A}" type="sib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C64E32E3-7489-4BE5-BE96-0A66B49F7C7C}">
      <dgm:prSet phldrT="[文本]" custT="1"/>
      <dgm:spPr/>
      <dgm:t>
        <a:bodyPr/>
        <a:lstStyle/>
        <a:p>
          <a:pPr>
            <a:spcAft>
              <a:spcPts val="0"/>
            </a:spcAft>
          </a:pP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体系结构中控制层面和数据层面之间的</a:t>
          </a:r>
          <a:r>
            <a:rPr lang="zh-CN" altLang="en-US" sz="1400" b="0" dirty="0">
              <a:solidFill>
                <a:srgbClr val="C00000"/>
              </a:solidFill>
              <a:latin typeface="微软雅黑" panose="020B0503020204020204" pitchFamily="34" charset="-122"/>
              <a:ea typeface="微软雅黑" panose="020B0503020204020204" pitchFamily="34" charset="-122"/>
            </a:rPr>
            <a:t>通信接口。</a:t>
          </a:r>
        </a:p>
      </dgm:t>
    </dgm:pt>
    <dgm:pt modelId="{14A66DC3-6A24-4808-9C58-6D992E1C3957}" type="par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0CEC0CF-DDBB-4731-8B03-66D0B2C76B1F}" type="sib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AE228D1-650D-492F-9CFA-149583110835}">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dirty="0">
              <a:solidFill>
                <a:srgbClr val="C00000"/>
              </a:solidFill>
              <a:latin typeface="微软雅黑" panose="020B0503020204020204" pitchFamily="34" charset="-122"/>
              <a:ea typeface="微软雅黑" panose="020B0503020204020204" pitchFamily="34" charset="-122"/>
            </a:rPr>
            <a:t>直接</a:t>
          </a:r>
          <a:r>
            <a:rPr lang="zh-CN" altLang="en-US" sz="1400" b="0" dirty="0">
              <a:latin typeface="微软雅黑" panose="020B0503020204020204" pitchFamily="34" charset="-122"/>
              <a:ea typeface="微软雅黑" panose="020B0503020204020204" pitchFamily="34" charset="-122"/>
            </a:rPr>
            <a:t>访问和操纵。</a:t>
          </a:r>
        </a:p>
      </dgm:t>
    </dgm:pt>
    <dgm:pt modelId="{830A9A1B-188D-4195-805A-CA5EDEE1088D}" type="parTrans" cxnId="{E5EB32B7-1F72-49E1-BD4C-A7A32B148827}">
      <dgm:prSet/>
      <dgm:spPr/>
      <dgm:t>
        <a:bodyPr/>
        <a:lstStyle/>
        <a:p>
          <a:endParaRPr lang="zh-CN" altLang="en-US" sz="1400"/>
        </a:p>
      </dgm:t>
    </dgm:pt>
    <dgm:pt modelId="{D02ACEFA-FB25-4555-9831-CFBE994CDECF}" type="sibTrans" cxnId="{E5EB32B7-1F72-49E1-BD4C-A7A32B148827}">
      <dgm:prSet/>
      <dgm:spPr/>
      <dgm:t>
        <a:bodyPr/>
        <a:lstStyle/>
        <a:p>
          <a:endParaRPr lang="zh-CN" altLang="en-US" sz="1400"/>
        </a:p>
      </dgm:t>
    </dgm:pt>
    <dgm:pt modelId="{F3B5F212-4DC3-49A6-A050-132FF7B50466}">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在逻辑上是</a:t>
          </a:r>
          <a:r>
            <a:rPr lang="zh-CN" altLang="en-US" sz="1400" b="0" dirty="0">
              <a:solidFill>
                <a:srgbClr val="C00000"/>
              </a:solidFill>
              <a:latin typeface="微软雅黑" panose="020B0503020204020204" pitchFamily="34" charset="-122"/>
              <a:ea typeface="微软雅黑" panose="020B0503020204020204" pitchFamily="34" charset="-122"/>
            </a:rPr>
            <a:t>集中式</a:t>
          </a:r>
          <a:r>
            <a:rPr lang="zh-CN" altLang="en-US" sz="1400" b="0" dirty="0">
              <a:latin typeface="微软雅黑" panose="020B0503020204020204" pitchFamily="34" charset="-122"/>
              <a:ea typeface="微软雅黑" panose="020B0503020204020204" pitchFamily="34" charset="-122"/>
            </a:rPr>
            <a:t>的、</a:t>
          </a:r>
          <a:r>
            <a:rPr lang="zh-CN" altLang="en-US" sz="1400" b="0" dirty="0">
              <a:solidFill>
                <a:srgbClr val="C00000"/>
              </a:solidFill>
              <a:latin typeface="微软雅黑" panose="020B0503020204020204" pitchFamily="34" charset="-122"/>
              <a:ea typeface="微软雅黑" panose="020B0503020204020204" pitchFamily="34" charset="-122"/>
            </a:rPr>
            <a:t>基于流</a:t>
          </a:r>
          <a:r>
            <a:rPr lang="zh-CN" altLang="en-US" sz="1400" b="0" dirty="0">
              <a:latin typeface="微软雅黑" panose="020B0503020204020204" pitchFamily="34" charset="-122"/>
              <a:ea typeface="微软雅黑" panose="020B0503020204020204" pitchFamily="34" charset="-122"/>
            </a:rPr>
            <a:t>的。</a:t>
          </a:r>
        </a:p>
      </dgm:t>
    </dgm:pt>
    <dgm:pt modelId="{91B47B97-5167-4999-902E-79E2079E222C}" type="parTrans" cxnId="{B9E6440F-B9D8-497D-A6B6-C2745C1ED892}">
      <dgm:prSet/>
      <dgm:spPr/>
      <dgm:t>
        <a:bodyPr/>
        <a:lstStyle/>
        <a:p>
          <a:endParaRPr lang="zh-CN" altLang="en-US" sz="1400"/>
        </a:p>
      </dgm:t>
    </dgm:pt>
    <dgm:pt modelId="{EA26118C-98CD-4C73-BAEF-CB97F2569B5E}" type="sibTrans" cxnId="{B9E6440F-B9D8-497D-A6B6-C2745C1ED892}">
      <dgm:prSet/>
      <dgm:spPr/>
      <dgm:t>
        <a:bodyPr/>
        <a:lstStyle/>
        <a:p>
          <a:endParaRPr lang="zh-CN" altLang="en-US" sz="1400"/>
        </a:p>
      </dgm:t>
    </dgm:pt>
    <dgm:pt modelId="{AFB7E455-428C-4A0F-992C-629F9DA528A4}" type="pres">
      <dgm:prSet presAssocID="{507CF620-754C-42AA-B6D7-6E532B46496D}" presName="linear" presStyleCnt="0">
        <dgm:presLayoutVars>
          <dgm:dir/>
          <dgm:animLvl val="lvl"/>
          <dgm:resizeHandles val="exact"/>
        </dgm:presLayoutVars>
      </dgm:prSet>
      <dgm:spPr/>
    </dgm:pt>
    <dgm:pt modelId="{21C46C9B-7934-49C2-90CF-686CD588AD24}" type="pres">
      <dgm:prSet presAssocID="{E2D531EB-AB54-494E-9C1E-4C30D2113C22}" presName="parentLin" presStyleCnt="0"/>
      <dgm:spPr/>
    </dgm:pt>
    <dgm:pt modelId="{3532B21B-9813-41B4-9683-FF842EF22363}" type="pres">
      <dgm:prSet presAssocID="{E2D531EB-AB54-494E-9C1E-4C30D2113C22}" presName="parentLeftMargin" presStyleLbl="node1" presStyleIdx="0" presStyleCnt="2"/>
      <dgm:spPr/>
    </dgm:pt>
    <dgm:pt modelId="{08B5982C-5C29-4138-B12D-B1193F279CC1}" type="pres">
      <dgm:prSet presAssocID="{E2D531EB-AB54-494E-9C1E-4C30D2113C22}" presName="parentText" presStyleLbl="node1" presStyleIdx="0" presStyleCnt="2">
        <dgm:presLayoutVars>
          <dgm:chMax val="0"/>
          <dgm:bulletEnabled val="1"/>
        </dgm:presLayoutVars>
      </dgm:prSet>
      <dgm:spPr/>
    </dgm:pt>
    <dgm:pt modelId="{D4FE3960-E739-4C8C-BB91-934C55FB02C1}" type="pres">
      <dgm:prSet presAssocID="{E2D531EB-AB54-494E-9C1E-4C30D2113C22}" presName="negativeSpace" presStyleCnt="0"/>
      <dgm:spPr/>
    </dgm:pt>
    <dgm:pt modelId="{59A3D657-23B2-4553-AB55-365AF4AD92FC}" type="pres">
      <dgm:prSet presAssocID="{E2D531EB-AB54-494E-9C1E-4C30D2113C22}" presName="childText" presStyleLbl="conFgAcc1" presStyleIdx="0" presStyleCnt="2">
        <dgm:presLayoutVars>
          <dgm:bulletEnabled val="1"/>
        </dgm:presLayoutVars>
      </dgm:prSet>
      <dgm:spPr/>
    </dgm:pt>
    <dgm:pt modelId="{BF6BEC27-1E1E-441A-86C6-71C70AD619AE}" type="pres">
      <dgm:prSet presAssocID="{56EA74CD-3BAB-4DA8-B288-8D367F33563E}" presName="spaceBetweenRectangles" presStyleCnt="0"/>
      <dgm:spPr/>
    </dgm:pt>
    <dgm:pt modelId="{44061F98-C3D6-44C6-91CD-5583301AB560}" type="pres">
      <dgm:prSet presAssocID="{DAA16250-CD1E-4D72-BB65-F717DC30B48F}" presName="parentLin" presStyleCnt="0"/>
      <dgm:spPr/>
    </dgm:pt>
    <dgm:pt modelId="{5E0995F6-5D0E-466D-8876-7344AA812E34}" type="pres">
      <dgm:prSet presAssocID="{DAA16250-CD1E-4D72-BB65-F717DC30B48F}" presName="parentLeftMargin" presStyleLbl="node1" presStyleIdx="0" presStyleCnt="2"/>
      <dgm:spPr/>
    </dgm:pt>
    <dgm:pt modelId="{35AC4BD2-1828-4C40-9426-ADEA8908391D}" type="pres">
      <dgm:prSet presAssocID="{DAA16250-CD1E-4D72-BB65-F717DC30B48F}" presName="parentText" presStyleLbl="node1" presStyleIdx="1" presStyleCnt="2">
        <dgm:presLayoutVars>
          <dgm:chMax val="0"/>
          <dgm:bulletEnabled val="1"/>
        </dgm:presLayoutVars>
      </dgm:prSet>
      <dgm:spPr/>
    </dgm:pt>
    <dgm:pt modelId="{C5104255-B2A2-46DD-9C0E-385FD72891D3}" type="pres">
      <dgm:prSet presAssocID="{DAA16250-CD1E-4D72-BB65-F717DC30B48F}" presName="negativeSpace" presStyleCnt="0"/>
      <dgm:spPr/>
    </dgm:pt>
    <dgm:pt modelId="{6DBB5C1B-B5D3-489B-9520-25CF774BF611}" type="pres">
      <dgm:prSet presAssocID="{DAA16250-CD1E-4D72-BB65-F717DC30B48F}" presName="childText" presStyleLbl="conFgAcc1" presStyleIdx="1" presStyleCnt="2">
        <dgm:presLayoutVars>
          <dgm:bulletEnabled val="1"/>
        </dgm:presLayoutVars>
      </dgm:prSet>
      <dgm:spPr/>
    </dgm:pt>
  </dgm:ptLst>
  <dgm:cxnLst>
    <dgm:cxn modelId="{9D6B860D-0E14-4CC8-A428-362BB1799C68}" type="presOf" srcId="{DAA16250-CD1E-4D72-BB65-F717DC30B48F}" destId="{5E0995F6-5D0E-466D-8876-7344AA812E34}" srcOrd="0" destOrd="0" presId="urn:microsoft.com/office/officeart/2005/8/layout/list1"/>
    <dgm:cxn modelId="{B9E6440F-B9D8-497D-A6B6-C2745C1ED892}" srcId="{DAA16250-CD1E-4D72-BB65-F717DC30B48F}" destId="{F3B5F212-4DC3-49A6-A050-132FF7B50466}" srcOrd="2" destOrd="0" parTransId="{91B47B97-5167-4999-902E-79E2079E222C}" sibTransId="{EA26118C-98CD-4C73-BAEF-CB97F2569B5E}"/>
    <dgm:cxn modelId="{42BBB35B-3932-4FBA-9751-F9F466C19E30}" type="presOf" srcId="{93C5C89E-14AA-4071-98C1-AD449E0D1A5F}" destId="{59A3D657-23B2-4553-AB55-365AF4AD92FC}" srcOrd="0" destOrd="1" presId="urn:microsoft.com/office/officeart/2005/8/layout/list1"/>
    <dgm:cxn modelId="{95112D60-FCEF-4A6B-898C-81DF670D99D3}" type="presOf" srcId="{C64E32E3-7489-4BE5-BE96-0A66B49F7C7C}" destId="{6DBB5C1B-B5D3-489B-9520-25CF774BF611}" srcOrd="0" destOrd="0" presId="urn:microsoft.com/office/officeart/2005/8/layout/list1"/>
    <dgm:cxn modelId="{46A21861-9C4D-4EBB-BE53-C88A9997E30D}" srcId="{E2D531EB-AB54-494E-9C1E-4C30D2113C22}" destId="{93C5C89E-14AA-4071-98C1-AD449E0D1A5F}" srcOrd="1" destOrd="0" parTransId="{391EB9A4-3860-4C75-B5FA-C5A625F7D484}" sibTransId="{22B8AFC6-C448-4A2D-8799-F021A978A537}"/>
    <dgm:cxn modelId="{6A825066-EC95-48B5-93E0-4891291DE14F}" type="presOf" srcId="{DAA16250-CD1E-4D72-BB65-F717DC30B48F}" destId="{35AC4BD2-1828-4C40-9426-ADEA8908391D}" srcOrd="1" destOrd="0" presId="urn:microsoft.com/office/officeart/2005/8/layout/list1"/>
    <dgm:cxn modelId="{5F9A4C67-D08B-4F85-810B-EB9EEE0D0BC2}" type="presOf" srcId="{E2D531EB-AB54-494E-9C1E-4C30D2113C22}" destId="{08B5982C-5C29-4138-B12D-B1193F279CC1}" srcOrd="1" destOrd="0" presId="urn:microsoft.com/office/officeart/2005/8/layout/list1"/>
    <dgm:cxn modelId="{C5CFE188-6DB5-480D-A87D-9D9FF73C082C}" type="presOf" srcId="{BAE228D1-650D-492F-9CFA-149583110835}" destId="{6DBB5C1B-B5D3-489B-9520-25CF774BF611}" srcOrd="0" destOrd="1" presId="urn:microsoft.com/office/officeart/2005/8/layout/list1"/>
    <dgm:cxn modelId="{AF2C3A8A-234A-4580-A3A4-B75A436B1397}" type="presOf" srcId="{E2D531EB-AB54-494E-9C1E-4C30D2113C22}" destId="{3532B21B-9813-41B4-9683-FF842EF22363}" srcOrd="0" destOrd="0" presId="urn:microsoft.com/office/officeart/2005/8/layout/list1"/>
    <dgm:cxn modelId="{D466629A-CCF5-40B6-905B-D359772974E3}" type="presOf" srcId="{BCEA250F-A938-4832-8A35-1F6531FC8D25}" destId="{59A3D657-23B2-4553-AB55-365AF4AD92FC}" srcOrd="0" destOrd="0" presId="urn:microsoft.com/office/officeart/2005/8/layout/list1"/>
    <dgm:cxn modelId="{E5EB32B7-1F72-49E1-BD4C-A7A32B148827}" srcId="{DAA16250-CD1E-4D72-BB65-F717DC30B48F}" destId="{BAE228D1-650D-492F-9CFA-149583110835}" srcOrd="1" destOrd="0" parTransId="{830A9A1B-188D-4195-805A-CA5EDEE1088D}" sibTransId="{D02ACEFA-FB25-4555-9831-CFBE994CDECF}"/>
    <dgm:cxn modelId="{8E2021C0-CD78-4050-9460-52A1436A3A4F}" srcId="{507CF620-754C-42AA-B6D7-6E532B46496D}" destId="{DAA16250-CD1E-4D72-BB65-F717DC30B48F}" srcOrd="1" destOrd="0" parTransId="{EC3331E7-A551-4472-847B-BA00CA0EB852}" sibTransId="{E10F3F05-CD84-4A1B-BDC4-701D75C6400A}"/>
    <dgm:cxn modelId="{7EEB46C1-0061-467B-B4CB-0A4B7385BC8B}" type="presOf" srcId="{507CF620-754C-42AA-B6D7-6E532B46496D}" destId="{AFB7E455-428C-4A0F-992C-629F9DA528A4}" srcOrd="0" destOrd="0" presId="urn:microsoft.com/office/officeart/2005/8/layout/list1"/>
    <dgm:cxn modelId="{F51027CC-FC97-496C-82EF-F10BDC823C37}" srcId="{E2D531EB-AB54-494E-9C1E-4C30D2113C22}" destId="{BCEA250F-A938-4832-8A35-1F6531FC8D25}" srcOrd="0" destOrd="0" parTransId="{855D1AA7-0014-42D1-AB55-0512522635CF}" sibTransId="{1F3824E0-260D-44AF-A6A0-AF20B4EAB600}"/>
    <dgm:cxn modelId="{3D990FE7-B784-4266-9459-DD4F755F3900}" srcId="{507CF620-754C-42AA-B6D7-6E532B46496D}" destId="{E2D531EB-AB54-494E-9C1E-4C30D2113C22}" srcOrd="0" destOrd="0" parTransId="{BE246D6D-5FC4-4574-ADA4-F9DF70A01C22}" sibTransId="{56EA74CD-3BAB-4DA8-B288-8D367F33563E}"/>
    <dgm:cxn modelId="{03DB05EC-4D94-4E20-A89D-485856CEDD61}" srcId="{DAA16250-CD1E-4D72-BB65-F717DC30B48F}" destId="{C64E32E3-7489-4BE5-BE96-0A66B49F7C7C}" srcOrd="0" destOrd="0" parTransId="{14A66DC3-6A24-4808-9C58-6D992E1C3957}" sibTransId="{70CEC0CF-DDBB-4731-8B03-66D0B2C76B1F}"/>
    <dgm:cxn modelId="{0B0DA9FC-0CD9-4A96-A10A-EAEF241801FE}" type="presOf" srcId="{F3B5F212-4DC3-49A6-A050-132FF7B50466}" destId="{6DBB5C1B-B5D3-489B-9520-25CF774BF611}" srcOrd="0" destOrd="2" presId="urn:microsoft.com/office/officeart/2005/8/layout/list1"/>
    <dgm:cxn modelId="{18915AF6-5909-4B39-8CC5-C52925E71747}" type="presParOf" srcId="{AFB7E455-428C-4A0F-992C-629F9DA528A4}" destId="{21C46C9B-7934-49C2-90CF-686CD588AD24}" srcOrd="0" destOrd="0" presId="urn:microsoft.com/office/officeart/2005/8/layout/list1"/>
    <dgm:cxn modelId="{DA1C6F3D-61E4-4AC2-8C31-F64605F21A9F}" type="presParOf" srcId="{21C46C9B-7934-49C2-90CF-686CD588AD24}" destId="{3532B21B-9813-41B4-9683-FF842EF22363}" srcOrd="0" destOrd="0" presId="urn:microsoft.com/office/officeart/2005/8/layout/list1"/>
    <dgm:cxn modelId="{69926C88-43C4-48E7-9B1F-325DED9CEE3D}" type="presParOf" srcId="{21C46C9B-7934-49C2-90CF-686CD588AD24}" destId="{08B5982C-5C29-4138-B12D-B1193F279CC1}" srcOrd="1" destOrd="0" presId="urn:microsoft.com/office/officeart/2005/8/layout/list1"/>
    <dgm:cxn modelId="{332E3102-8DC4-48E3-9BDC-E3C4E4B64F57}" type="presParOf" srcId="{AFB7E455-428C-4A0F-992C-629F9DA528A4}" destId="{D4FE3960-E739-4C8C-BB91-934C55FB02C1}" srcOrd="1" destOrd="0" presId="urn:microsoft.com/office/officeart/2005/8/layout/list1"/>
    <dgm:cxn modelId="{4E18FB82-A1FF-4B7A-81D3-6908B63D0AC9}" type="presParOf" srcId="{AFB7E455-428C-4A0F-992C-629F9DA528A4}" destId="{59A3D657-23B2-4553-AB55-365AF4AD92FC}" srcOrd="2" destOrd="0" presId="urn:microsoft.com/office/officeart/2005/8/layout/list1"/>
    <dgm:cxn modelId="{682F0B1C-40EB-45F7-8322-E9E4C9C2072E}" type="presParOf" srcId="{AFB7E455-428C-4A0F-992C-629F9DA528A4}" destId="{BF6BEC27-1E1E-441A-86C6-71C70AD619AE}" srcOrd="3" destOrd="0" presId="urn:microsoft.com/office/officeart/2005/8/layout/list1"/>
    <dgm:cxn modelId="{396F96E6-F99C-4923-83B3-D5B412B2A49E}" type="presParOf" srcId="{AFB7E455-428C-4A0F-992C-629F9DA528A4}" destId="{44061F98-C3D6-44C6-91CD-5583301AB560}" srcOrd="4" destOrd="0" presId="urn:microsoft.com/office/officeart/2005/8/layout/list1"/>
    <dgm:cxn modelId="{439A51C0-DFF6-48D9-8B9A-D40B233796A6}" type="presParOf" srcId="{44061F98-C3D6-44C6-91CD-5583301AB560}" destId="{5E0995F6-5D0E-466D-8876-7344AA812E34}" srcOrd="0" destOrd="0" presId="urn:microsoft.com/office/officeart/2005/8/layout/list1"/>
    <dgm:cxn modelId="{905D11AA-77C5-42B8-9E27-B47DF10C6DBC}" type="presParOf" srcId="{44061F98-C3D6-44C6-91CD-5583301AB560}" destId="{35AC4BD2-1828-4C40-9426-ADEA8908391D}" srcOrd="1" destOrd="0" presId="urn:microsoft.com/office/officeart/2005/8/layout/list1"/>
    <dgm:cxn modelId="{B5828484-1869-45BA-955A-A4A7404C55DD}" type="presParOf" srcId="{AFB7E455-428C-4A0F-992C-629F9DA528A4}" destId="{C5104255-B2A2-46DD-9C0E-385FD72891D3}" srcOrd="5" destOrd="0" presId="urn:microsoft.com/office/officeart/2005/8/layout/list1"/>
    <dgm:cxn modelId="{67A98BC3-5602-40F9-A63A-D27FAE7828F0}" type="presParOf" srcId="{AFB7E455-428C-4A0F-992C-629F9DA528A4}" destId="{6DBB5C1B-B5D3-489B-9520-25CF774BF611}"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5C5DE803-CAA9-4D5F-AEE5-F9AF215821D3}" type="doc">
      <dgm:prSet loTypeId="urn:microsoft.com/office/officeart/2008/layout/VerticalCurvedList" loCatId="list" qsTypeId="urn:microsoft.com/office/officeart/2005/8/quickstyle/simple3" qsCatId="simple" csTypeId="urn:microsoft.com/office/officeart/2005/8/colors/colorful5" csCatId="colorful" phldr="1"/>
      <dgm:spPr/>
      <dgm:t>
        <a:bodyPr/>
        <a:lstStyle/>
        <a:p>
          <a:endParaRPr lang="zh-CN" altLang="en-US"/>
        </a:p>
      </dgm:t>
    </dgm:pt>
    <dgm:pt modelId="{6123DA5E-4CB5-4CD5-ACB7-992D49046590}">
      <dgm:prSet phldrT="[文本]" custT="1"/>
      <dgm:spPr/>
      <dgm:t>
        <a:bodyPr/>
        <a:lstStyle/>
        <a:p>
          <a:r>
            <a:rPr lang="zh-CN" altLang="en-US" sz="1400" b="0" dirty="0">
              <a:latin typeface="微软雅黑" panose="020B0503020204020204" pitchFamily="34" charset="-122"/>
              <a:ea typeface="微软雅黑" panose="020B0503020204020204" pitchFamily="34" charset="-122"/>
            </a:rPr>
            <a:t>基于流的转发。流表规定转发规则</a:t>
          </a:r>
        </a:p>
      </dgm:t>
    </dgm:pt>
    <dgm:pt modelId="{6CE172C9-9B24-43F7-9C0B-4D632E4522C8}" type="par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A597E6D3-74F3-4847-B5CE-BA23F7D2E699}" type="sib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C65F29AA-013A-4BC2-BE7C-71498B676318}">
      <dgm:prSet phldrT="[文本]" custT="1"/>
      <dgm:spPr/>
      <dgm:t>
        <a:bodyPr/>
        <a:lstStyle/>
        <a:p>
          <a:r>
            <a:rPr lang="zh-CN" altLang="en-US" sz="1400" b="0" dirty="0">
              <a:latin typeface="微软雅黑" panose="020B0503020204020204" pitchFamily="34" charset="-122"/>
              <a:ea typeface="微软雅黑" panose="020B0503020204020204" pitchFamily="34" charset="-122"/>
            </a:rPr>
            <a:t>数据层面与控制层面分离。二者不在同一个设备中</a:t>
          </a:r>
        </a:p>
      </dgm:t>
    </dgm:pt>
    <dgm:pt modelId="{DB3F4A5C-F70A-44C3-B32F-AB78CEAB21B7}" type="par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30507C28-B4D6-4D36-9957-A956330DF920}" type="sib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9A65616D-E3DD-41E5-99BE-605144920596}">
      <dgm:prSet phldrT="[文本]" custT="1"/>
      <dgm:spPr/>
      <dgm:t>
        <a:bodyPr/>
        <a:lstStyle/>
        <a:p>
          <a:r>
            <a:rPr lang="zh-CN" altLang="en-US" sz="1400" b="0" dirty="0">
              <a:latin typeface="微软雅黑" panose="020B0503020204020204" pitchFamily="34" charset="-122"/>
              <a:ea typeface="微软雅黑" panose="020B0503020204020204" pitchFamily="34" charset="-122"/>
            </a:rPr>
            <a:t>网络控制功能位于数据层面交换机之外，用软件实现</a:t>
          </a:r>
        </a:p>
      </dgm:t>
    </dgm:pt>
    <dgm:pt modelId="{4B020BB7-A13F-4E37-BED2-6CCAA4A2D58F}" type="par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5E6E51CB-D032-49AD-941A-DA0D26EB5B39}" type="sib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B7337D2B-536A-4EE6-B7CE-84C53B52301D}">
      <dgm:prSet phldrT="[文本]" custT="1"/>
      <dgm:spPr/>
      <dgm:t>
        <a:bodyPr/>
        <a:lstStyle/>
        <a:p>
          <a:r>
            <a:rPr lang="zh-CN" altLang="en-US" sz="1400" b="0" dirty="0">
              <a:latin typeface="微软雅黑" panose="020B0503020204020204" pitchFamily="34" charset="-122"/>
              <a:ea typeface="微软雅黑" panose="020B0503020204020204" pitchFamily="34" charset="-122"/>
            </a:rPr>
            <a:t>可编程的网络</a:t>
          </a:r>
        </a:p>
      </dgm:t>
    </dgm:pt>
    <dgm:pt modelId="{A60F3012-47AD-4476-AE0F-0CC50CFA37F8}" type="parTrans" cxnId="{F0FDE1B1-4A67-45D8-B043-924EF6F8653F}">
      <dgm:prSet/>
      <dgm:spPr/>
      <dgm:t>
        <a:bodyPr/>
        <a:lstStyle/>
        <a:p>
          <a:endParaRPr lang="zh-CN" altLang="en-US" sz="1400" b="0"/>
        </a:p>
      </dgm:t>
    </dgm:pt>
    <dgm:pt modelId="{2976B025-A9BA-4A82-8665-CDE503C5ECC6}" type="sibTrans" cxnId="{F0FDE1B1-4A67-45D8-B043-924EF6F8653F}">
      <dgm:prSet/>
      <dgm:spPr/>
      <dgm:t>
        <a:bodyPr/>
        <a:lstStyle/>
        <a:p>
          <a:endParaRPr lang="zh-CN" altLang="en-US" sz="1400" b="0"/>
        </a:p>
      </dgm:t>
    </dgm:pt>
    <dgm:pt modelId="{1E608E95-33A3-4F7B-8D0A-EAD16C077CBB}" type="pres">
      <dgm:prSet presAssocID="{5C5DE803-CAA9-4D5F-AEE5-F9AF215821D3}" presName="Name0" presStyleCnt="0">
        <dgm:presLayoutVars>
          <dgm:chMax val="7"/>
          <dgm:chPref val="7"/>
          <dgm:dir/>
        </dgm:presLayoutVars>
      </dgm:prSet>
      <dgm:spPr/>
    </dgm:pt>
    <dgm:pt modelId="{C02CDC2A-B911-4EC1-AEE9-7B2CCF3A733A}" type="pres">
      <dgm:prSet presAssocID="{5C5DE803-CAA9-4D5F-AEE5-F9AF215821D3}" presName="Name1" presStyleCnt="0"/>
      <dgm:spPr/>
    </dgm:pt>
    <dgm:pt modelId="{EFA93ACA-B74D-4531-B043-94FBF4B7F1B6}" type="pres">
      <dgm:prSet presAssocID="{5C5DE803-CAA9-4D5F-AEE5-F9AF215821D3}" presName="cycle" presStyleCnt="0"/>
      <dgm:spPr/>
    </dgm:pt>
    <dgm:pt modelId="{5ED3F379-7863-4C21-B064-971B73F272EC}" type="pres">
      <dgm:prSet presAssocID="{5C5DE803-CAA9-4D5F-AEE5-F9AF215821D3}" presName="srcNode" presStyleLbl="node1" presStyleIdx="0" presStyleCnt="4"/>
      <dgm:spPr/>
    </dgm:pt>
    <dgm:pt modelId="{69B0D5C1-FC08-4682-A068-87E58ADD3967}" type="pres">
      <dgm:prSet presAssocID="{5C5DE803-CAA9-4D5F-AEE5-F9AF215821D3}" presName="conn" presStyleLbl="parChTrans1D2" presStyleIdx="0" presStyleCnt="1"/>
      <dgm:spPr/>
    </dgm:pt>
    <dgm:pt modelId="{90453F25-A84C-4968-A8FB-6E5ACC8D68BD}" type="pres">
      <dgm:prSet presAssocID="{5C5DE803-CAA9-4D5F-AEE5-F9AF215821D3}" presName="extraNode" presStyleLbl="node1" presStyleIdx="0" presStyleCnt="4"/>
      <dgm:spPr/>
    </dgm:pt>
    <dgm:pt modelId="{AD1E8A44-308F-451C-B4E7-59FF88CB7A46}" type="pres">
      <dgm:prSet presAssocID="{5C5DE803-CAA9-4D5F-AEE5-F9AF215821D3}" presName="dstNode" presStyleLbl="node1" presStyleIdx="0" presStyleCnt="4"/>
      <dgm:spPr/>
    </dgm:pt>
    <dgm:pt modelId="{4A029A32-0911-4750-B9B4-49D271EFA4E0}" type="pres">
      <dgm:prSet presAssocID="{6123DA5E-4CB5-4CD5-ACB7-992D49046590}" presName="text_1" presStyleLbl="node1" presStyleIdx="0" presStyleCnt="4">
        <dgm:presLayoutVars>
          <dgm:bulletEnabled val="1"/>
        </dgm:presLayoutVars>
      </dgm:prSet>
      <dgm:spPr/>
    </dgm:pt>
    <dgm:pt modelId="{5B578E24-2ACC-475C-96B0-8C0203EE80B1}" type="pres">
      <dgm:prSet presAssocID="{6123DA5E-4CB5-4CD5-ACB7-992D49046590}" presName="accent_1" presStyleCnt="0"/>
      <dgm:spPr/>
    </dgm:pt>
    <dgm:pt modelId="{C2D66341-6C1E-4BCC-8C84-A646950EFF77}" type="pres">
      <dgm:prSet presAssocID="{6123DA5E-4CB5-4CD5-ACB7-992D49046590}" presName="accentRepeatNode" presStyleLbl="solidFgAcc1" presStyleIdx="0"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F5F98171-0BBC-44BA-A385-25C4F93E716D}" type="pres">
      <dgm:prSet presAssocID="{C65F29AA-013A-4BC2-BE7C-71498B676318}" presName="text_2" presStyleLbl="node1" presStyleIdx="1" presStyleCnt="4">
        <dgm:presLayoutVars>
          <dgm:bulletEnabled val="1"/>
        </dgm:presLayoutVars>
      </dgm:prSet>
      <dgm:spPr/>
    </dgm:pt>
    <dgm:pt modelId="{E4EA13F8-30A9-4839-8224-F3FF5CDAB0E7}" type="pres">
      <dgm:prSet presAssocID="{C65F29AA-013A-4BC2-BE7C-71498B676318}" presName="accent_2" presStyleCnt="0"/>
      <dgm:spPr/>
    </dgm:pt>
    <dgm:pt modelId="{6BA4FFC2-2FE1-4DE8-AFAD-430C985B0E85}" type="pres">
      <dgm:prSet presAssocID="{C65F29AA-013A-4BC2-BE7C-71498B676318}" presName="accentRepeatNode" presStyleLbl="solidFgAcc1" presStyleIdx="1"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CD11EB12-0408-40BE-A5E0-D1CFC22DFC2E}" type="pres">
      <dgm:prSet presAssocID="{9A65616D-E3DD-41E5-99BE-605144920596}" presName="text_3" presStyleLbl="node1" presStyleIdx="2" presStyleCnt="4">
        <dgm:presLayoutVars>
          <dgm:bulletEnabled val="1"/>
        </dgm:presLayoutVars>
      </dgm:prSet>
      <dgm:spPr/>
    </dgm:pt>
    <dgm:pt modelId="{99B5A6F6-D82D-4782-AAA5-78FBF2EE0209}" type="pres">
      <dgm:prSet presAssocID="{9A65616D-E3DD-41E5-99BE-605144920596}" presName="accent_3" presStyleCnt="0"/>
      <dgm:spPr/>
    </dgm:pt>
    <dgm:pt modelId="{AA66A021-7549-4FCB-AE4D-4B546BB936CD}" type="pres">
      <dgm:prSet presAssocID="{9A65616D-E3DD-41E5-99BE-605144920596}" presName="accentRepeatNode" presStyleLbl="solidFgAcc1" presStyleIdx="2"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2B5470FC-E1D3-437D-A66F-B24660D1DB5E}" type="pres">
      <dgm:prSet presAssocID="{B7337D2B-536A-4EE6-B7CE-84C53B52301D}" presName="text_4" presStyleLbl="node1" presStyleIdx="3" presStyleCnt="4">
        <dgm:presLayoutVars>
          <dgm:bulletEnabled val="1"/>
        </dgm:presLayoutVars>
      </dgm:prSet>
      <dgm:spPr/>
    </dgm:pt>
    <dgm:pt modelId="{20484678-A99D-4ED1-93DB-56062813EC2E}" type="pres">
      <dgm:prSet presAssocID="{B7337D2B-536A-4EE6-B7CE-84C53B52301D}" presName="accent_4" presStyleCnt="0"/>
      <dgm:spPr/>
    </dgm:pt>
    <dgm:pt modelId="{3445C45D-2AA7-4DBC-A20C-73321A134B77}" type="pres">
      <dgm:prSet presAssocID="{B7337D2B-536A-4EE6-B7CE-84C53B52301D}" presName="accentRepeatNode" presStyleLbl="solidFgAcc1" presStyleIdx="3"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Lst>
  <dgm:cxnLst>
    <dgm:cxn modelId="{288FFE22-3DB2-435B-8E99-C384685ABCE3}" srcId="{5C5DE803-CAA9-4D5F-AEE5-F9AF215821D3}" destId="{C65F29AA-013A-4BC2-BE7C-71498B676318}" srcOrd="1" destOrd="0" parTransId="{DB3F4A5C-F70A-44C3-B32F-AB78CEAB21B7}" sibTransId="{30507C28-B4D6-4D36-9957-A956330DF920}"/>
    <dgm:cxn modelId="{59444C32-66B7-46EB-AB13-2956F0B780D8}" type="presOf" srcId="{9A65616D-E3DD-41E5-99BE-605144920596}" destId="{CD11EB12-0408-40BE-A5E0-D1CFC22DFC2E}" srcOrd="0" destOrd="0" presId="urn:microsoft.com/office/officeart/2008/layout/VerticalCurvedList"/>
    <dgm:cxn modelId="{6ACF774D-F406-4245-8F3C-19CC8A9A2173}" type="presOf" srcId="{C65F29AA-013A-4BC2-BE7C-71498B676318}" destId="{F5F98171-0BBC-44BA-A385-25C4F93E716D}" srcOrd="0" destOrd="0" presId="urn:microsoft.com/office/officeart/2008/layout/VerticalCurvedList"/>
    <dgm:cxn modelId="{FE80CC53-738E-4B62-9539-4B07E227CE19}" srcId="{5C5DE803-CAA9-4D5F-AEE5-F9AF215821D3}" destId="{9A65616D-E3DD-41E5-99BE-605144920596}" srcOrd="2" destOrd="0" parTransId="{4B020BB7-A13F-4E37-BED2-6CCAA4A2D58F}" sibTransId="{5E6E51CB-D032-49AD-941A-DA0D26EB5B39}"/>
    <dgm:cxn modelId="{B3080F7A-5576-4E40-98EE-01C9AA648E93}" type="presOf" srcId="{B7337D2B-536A-4EE6-B7CE-84C53B52301D}" destId="{2B5470FC-E1D3-437D-A66F-B24660D1DB5E}" srcOrd="0" destOrd="0" presId="urn:microsoft.com/office/officeart/2008/layout/VerticalCurvedList"/>
    <dgm:cxn modelId="{FC132387-288F-4493-B572-0A792E45BFCE}" type="presOf" srcId="{5C5DE803-CAA9-4D5F-AEE5-F9AF215821D3}" destId="{1E608E95-33A3-4F7B-8D0A-EAD16C077CBB}" srcOrd="0" destOrd="0" presId="urn:microsoft.com/office/officeart/2008/layout/VerticalCurvedList"/>
    <dgm:cxn modelId="{032543A3-5345-4B90-B288-2E58AA3ACFA6}" srcId="{5C5DE803-CAA9-4D5F-AEE5-F9AF215821D3}" destId="{6123DA5E-4CB5-4CD5-ACB7-992D49046590}" srcOrd="0" destOrd="0" parTransId="{6CE172C9-9B24-43F7-9C0B-4D632E4522C8}" sibTransId="{A597E6D3-74F3-4847-B5CE-BA23F7D2E699}"/>
    <dgm:cxn modelId="{F0FDE1B1-4A67-45D8-B043-924EF6F8653F}" srcId="{5C5DE803-CAA9-4D5F-AEE5-F9AF215821D3}" destId="{B7337D2B-536A-4EE6-B7CE-84C53B52301D}" srcOrd="3" destOrd="0" parTransId="{A60F3012-47AD-4476-AE0F-0CC50CFA37F8}" sibTransId="{2976B025-A9BA-4A82-8665-CDE503C5ECC6}"/>
    <dgm:cxn modelId="{F2A66EBE-DCB2-4AA1-8337-923791308915}" type="presOf" srcId="{6123DA5E-4CB5-4CD5-ACB7-992D49046590}" destId="{4A029A32-0911-4750-B9B4-49D271EFA4E0}" srcOrd="0" destOrd="0" presId="urn:microsoft.com/office/officeart/2008/layout/VerticalCurvedList"/>
    <dgm:cxn modelId="{0443FAFB-1879-4632-8EE1-4FDED9088899}" type="presOf" srcId="{A597E6D3-74F3-4847-B5CE-BA23F7D2E699}" destId="{69B0D5C1-FC08-4682-A068-87E58ADD3967}" srcOrd="0" destOrd="0" presId="urn:microsoft.com/office/officeart/2008/layout/VerticalCurvedList"/>
    <dgm:cxn modelId="{1F742EC7-AB8C-4040-B571-C6E7EB018A5B}" type="presParOf" srcId="{1E608E95-33A3-4F7B-8D0A-EAD16C077CBB}" destId="{C02CDC2A-B911-4EC1-AEE9-7B2CCF3A733A}" srcOrd="0" destOrd="0" presId="urn:microsoft.com/office/officeart/2008/layout/VerticalCurvedList"/>
    <dgm:cxn modelId="{5DC1C32A-3058-4B2F-9380-5D49C8F83B5F}" type="presParOf" srcId="{C02CDC2A-B911-4EC1-AEE9-7B2CCF3A733A}" destId="{EFA93ACA-B74D-4531-B043-94FBF4B7F1B6}" srcOrd="0" destOrd="0" presId="urn:microsoft.com/office/officeart/2008/layout/VerticalCurvedList"/>
    <dgm:cxn modelId="{C0595C36-C164-4688-94C4-32E140B8711D}" type="presParOf" srcId="{EFA93ACA-B74D-4531-B043-94FBF4B7F1B6}" destId="{5ED3F379-7863-4C21-B064-971B73F272EC}" srcOrd="0" destOrd="0" presId="urn:microsoft.com/office/officeart/2008/layout/VerticalCurvedList"/>
    <dgm:cxn modelId="{E45E8CCA-F630-48E0-AF78-58AE45E7E317}" type="presParOf" srcId="{EFA93ACA-B74D-4531-B043-94FBF4B7F1B6}" destId="{69B0D5C1-FC08-4682-A068-87E58ADD3967}" srcOrd="1" destOrd="0" presId="urn:microsoft.com/office/officeart/2008/layout/VerticalCurvedList"/>
    <dgm:cxn modelId="{B1DF779C-8143-4B31-AC06-726AB15CE215}" type="presParOf" srcId="{EFA93ACA-B74D-4531-B043-94FBF4B7F1B6}" destId="{90453F25-A84C-4968-A8FB-6E5ACC8D68BD}" srcOrd="2" destOrd="0" presId="urn:microsoft.com/office/officeart/2008/layout/VerticalCurvedList"/>
    <dgm:cxn modelId="{0A6D522B-3433-439E-ADEF-69F548437F8C}" type="presParOf" srcId="{EFA93ACA-B74D-4531-B043-94FBF4B7F1B6}" destId="{AD1E8A44-308F-451C-B4E7-59FF88CB7A46}" srcOrd="3" destOrd="0" presId="urn:microsoft.com/office/officeart/2008/layout/VerticalCurvedList"/>
    <dgm:cxn modelId="{52D64DE7-F297-484A-A52F-1A5784D21497}" type="presParOf" srcId="{C02CDC2A-B911-4EC1-AEE9-7B2CCF3A733A}" destId="{4A029A32-0911-4750-B9B4-49D271EFA4E0}" srcOrd="1" destOrd="0" presId="urn:microsoft.com/office/officeart/2008/layout/VerticalCurvedList"/>
    <dgm:cxn modelId="{5D7A792C-71AA-4690-A242-0C6D13C7BEBC}" type="presParOf" srcId="{C02CDC2A-B911-4EC1-AEE9-7B2CCF3A733A}" destId="{5B578E24-2ACC-475C-96B0-8C0203EE80B1}" srcOrd="2" destOrd="0" presId="urn:microsoft.com/office/officeart/2008/layout/VerticalCurvedList"/>
    <dgm:cxn modelId="{AEECE7AA-1212-4474-83DC-DC34DC6F32F2}" type="presParOf" srcId="{5B578E24-2ACC-475C-96B0-8C0203EE80B1}" destId="{C2D66341-6C1E-4BCC-8C84-A646950EFF77}" srcOrd="0" destOrd="0" presId="urn:microsoft.com/office/officeart/2008/layout/VerticalCurvedList"/>
    <dgm:cxn modelId="{3A163285-ED1E-4CC1-BA1D-B1E52F3C4B96}" type="presParOf" srcId="{C02CDC2A-B911-4EC1-AEE9-7B2CCF3A733A}" destId="{F5F98171-0BBC-44BA-A385-25C4F93E716D}" srcOrd="3" destOrd="0" presId="urn:microsoft.com/office/officeart/2008/layout/VerticalCurvedList"/>
    <dgm:cxn modelId="{D3DF5174-11AB-4B29-80FE-7E446204ECC1}" type="presParOf" srcId="{C02CDC2A-B911-4EC1-AEE9-7B2CCF3A733A}" destId="{E4EA13F8-30A9-4839-8224-F3FF5CDAB0E7}" srcOrd="4" destOrd="0" presId="urn:microsoft.com/office/officeart/2008/layout/VerticalCurvedList"/>
    <dgm:cxn modelId="{F13E9A65-7B37-4915-82A9-50A56A4466D5}" type="presParOf" srcId="{E4EA13F8-30A9-4839-8224-F3FF5CDAB0E7}" destId="{6BA4FFC2-2FE1-4DE8-AFAD-430C985B0E85}" srcOrd="0" destOrd="0" presId="urn:microsoft.com/office/officeart/2008/layout/VerticalCurvedList"/>
    <dgm:cxn modelId="{5CE7359A-853B-4FF2-A1A4-B82DEECA542A}" type="presParOf" srcId="{C02CDC2A-B911-4EC1-AEE9-7B2CCF3A733A}" destId="{CD11EB12-0408-40BE-A5E0-D1CFC22DFC2E}" srcOrd="5" destOrd="0" presId="urn:microsoft.com/office/officeart/2008/layout/VerticalCurvedList"/>
    <dgm:cxn modelId="{F19BE40A-DFE4-443F-868E-E2244E89FCAE}" type="presParOf" srcId="{C02CDC2A-B911-4EC1-AEE9-7B2CCF3A733A}" destId="{99B5A6F6-D82D-4782-AAA5-78FBF2EE0209}" srcOrd="6" destOrd="0" presId="urn:microsoft.com/office/officeart/2008/layout/VerticalCurvedList"/>
    <dgm:cxn modelId="{E3D83F82-D637-4E2C-8E38-ADF72F6AE401}" type="presParOf" srcId="{99B5A6F6-D82D-4782-AAA5-78FBF2EE0209}" destId="{AA66A021-7549-4FCB-AE4D-4B546BB936CD}" srcOrd="0" destOrd="0" presId="urn:microsoft.com/office/officeart/2008/layout/VerticalCurvedList"/>
    <dgm:cxn modelId="{20EBA661-4AEB-416D-99AA-0EF6C4D82B56}" type="presParOf" srcId="{C02CDC2A-B911-4EC1-AEE9-7B2CCF3A733A}" destId="{2B5470FC-E1D3-437D-A66F-B24660D1DB5E}" srcOrd="7" destOrd="0" presId="urn:microsoft.com/office/officeart/2008/layout/VerticalCurvedList"/>
    <dgm:cxn modelId="{78960E1D-B8C3-4D43-A983-59483B584228}" type="presParOf" srcId="{C02CDC2A-B911-4EC1-AEE9-7B2CCF3A733A}" destId="{20484678-A99D-4ED1-93DB-56062813EC2E}" srcOrd="8" destOrd="0" presId="urn:microsoft.com/office/officeart/2008/layout/VerticalCurvedList"/>
    <dgm:cxn modelId="{CD17E837-69DC-4F7E-968F-B68645EF8156}" type="presParOf" srcId="{20484678-A99D-4ED1-93DB-56062813EC2E}" destId="{3445C45D-2AA7-4DBC-A20C-73321A134B77}" srcOrd="0" destOrd="0" presId="urn:microsoft.com/office/officeart/2008/layout/VerticalCurv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E619A35B-6F76-4F5B-9866-62BEE8E1B43C}" type="doc">
      <dgm:prSet loTypeId="urn:microsoft.com/office/officeart/2005/8/layout/hList1" loCatId="list" qsTypeId="urn:microsoft.com/office/officeart/2005/8/quickstyle/simple1" qsCatId="simple" csTypeId="urn:microsoft.com/office/officeart/2005/8/colors/colorful1#10" csCatId="colorful" phldr="1"/>
      <dgm:spPr/>
      <dgm:t>
        <a:bodyPr/>
        <a:lstStyle/>
        <a:p>
          <a:endParaRPr lang="zh-CN" altLang="en-US"/>
        </a:p>
      </dgm:t>
    </dgm:pt>
    <dgm:pt modelId="{4A5FAA12-B526-40D6-A585-8F25D8E3B5CF}">
      <dgm:prSet phldrT="[文本]" custT="1"/>
      <dgm:spPr/>
      <dgm:t>
        <a:bodyPr/>
        <a:lstStyle/>
        <a:p>
          <a:pPr>
            <a:lnSpc>
              <a:spcPts val="2200"/>
            </a:lnSpc>
            <a:spcBef>
              <a:spcPts val="0"/>
            </a:spcBef>
            <a:spcAft>
              <a:spcPts val="0"/>
            </a:spcAft>
          </a:pPr>
          <a:r>
            <a:rPr lang="en-US" altLang="zh-CN" sz="1400" b="0" dirty="0">
              <a:latin typeface="微软雅黑" panose="020B0503020204020204" pitchFamily="34" charset="-122"/>
              <a:ea typeface="微软雅黑" panose="020B0503020204020204" pitchFamily="34" charset="-122"/>
            </a:rPr>
            <a:t>SDN</a:t>
          </a:r>
          <a:endParaRPr lang="zh-CN" altLang="en-US" sz="1400" b="0" dirty="0">
            <a:latin typeface="微软雅黑" panose="020B0503020204020204" pitchFamily="34" charset="-122"/>
            <a:ea typeface="微软雅黑" panose="020B0503020204020204" pitchFamily="34" charset="-122"/>
          </a:endParaRPr>
        </a:p>
      </dgm:t>
    </dgm:pt>
    <dgm:pt modelId="{BA4ABDAD-0A84-478F-BEF5-D89876B2358C}" type="par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A0348CB2-E5AF-4DF4-82BC-60A5461B27CB}" type="sib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C9BCE8A9-D041-4DBC-8845-482A3A7A396F}">
      <dgm:prSet phldrT="[文本]" custT="1"/>
      <dgm:spPr/>
      <dgm:t>
        <a:bodyPr/>
        <a:lstStyle/>
        <a:p>
          <a:pPr>
            <a:lnSpc>
              <a:spcPts val="3000"/>
            </a:lnSpc>
            <a:spcBef>
              <a:spcPts val="0"/>
            </a:spcBef>
            <a:spcAft>
              <a:spcPts val="0"/>
            </a:spcAft>
          </a:pPr>
          <a:r>
            <a:rPr lang="zh-CN" altLang="en-US" sz="1400" b="0" dirty="0">
              <a:solidFill>
                <a:schemeClr val="bg1"/>
              </a:solidFill>
              <a:latin typeface="微软雅黑" panose="020B0503020204020204" pitchFamily="34" charset="-122"/>
              <a:ea typeface="微软雅黑" panose="020B0503020204020204" pitchFamily="34" charset="-122"/>
            </a:rPr>
            <a:t>传统网络</a:t>
          </a:r>
        </a:p>
      </dgm:t>
    </dgm:pt>
    <dgm:pt modelId="{75079E22-3A7E-434C-9C6F-14CEDBD0380B}" type="par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B0BC9EB0-9E94-476B-A8E0-C9226E36D271}" type="sib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5DC11C9-1070-46F3-B350-64BDA7654B0D}">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功能分散。交换机、</a:t>
          </a: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控制器、网络控制应用程序都是可以分开的实体</a:t>
          </a:r>
        </a:p>
      </dgm:t>
    </dgm:pt>
    <dgm:pt modelId="{7C5E2CCC-FBB6-425F-A045-D5C8158DA352}" type="par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612D70B-DEDE-49B9-BD1E-9FFB595FDC9C}" type="sib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8EECE90E-A4C1-468D-A54F-862B71E4AE7A}">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控制层面、数据层面、协议的实现都垂直集成在一个机器里</a:t>
          </a:r>
        </a:p>
      </dgm:t>
    </dgm:pt>
    <dgm:pt modelId="{8420BA46-EAF0-453F-80DA-728C83A553A1}" type="par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422BFC9-7AEE-4057-8A48-6FA836731397}" type="sib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677AFE12-F6B5-41EE-82A2-0A5381CBB9FC}">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由单独的厂商提供</a:t>
          </a:r>
        </a:p>
      </dgm:t>
    </dgm:pt>
    <dgm:pt modelId="{54FC2272-A771-46A9-B03B-FD4BB75D0955}" type="parTrans" cxnId="{F2270C93-4F27-4E3F-A0E2-D2F288985849}">
      <dgm:prSet/>
      <dgm:spPr/>
      <dgm:t>
        <a:bodyPr/>
        <a:lstStyle/>
        <a:p>
          <a:pPr>
            <a:lnSpc>
              <a:spcPts val="2200"/>
            </a:lnSpc>
            <a:spcBef>
              <a:spcPts val="0"/>
            </a:spcBef>
            <a:spcAft>
              <a:spcPts val="0"/>
            </a:spcAft>
          </a:pPr>
          <a:endParaRPr lang="zh-CN" altLang="en-US"/>
        </a:p>
      </dgm:t>
    </dgm:pt>
    <dgm:pt modelId="{6A251A62-7170-4B78-8FCC-1920BEA35D59}" type="sibTrans" cxnId="{F2270C93-4F27-4E3F-A0E2-D2F288985849}">
      <dgm:prSet/>
      <dgm:spPr/>
      <dgm:t>
        <a:bodyPr/>
        <a:lstStyle/>
        <a:p>
          <a:pPr>
            <a:lnSpc>
              <a:spcPts val="2200"/>
            </a:lnSpc>
            <a:spcBef>
              <a:spcPts val="0"/>
            </a:spcBef>
            <a:spcAft>
              <a:spcPts val="0"/>
            </a:spcAft>
          </a:pPr>
          <a:endParaRPr lang="zh-CN" altLang="en-US"/>
        </a:p>
      </dgm:t>
    </dgm:pt>
    <dgm:pt modelId="{12F350A1-BAB6-49E7-A675-F34567C93BB3}">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可以由不同的厂商和机构来提供</a:t>
          </a:r>
        </a:p>
      </dgm:t>
    </dgm:pt>
    <dgm:pt modelId="{A7B5A7E3-3C11-449F-8CAA-FEAA6559AD5C}" type="parTrans" cxnId="{0822A5D8-2704-4CC0-B9A8-A9B7BC1EF476}">
      <dgm:prSet/>
      <dgm:spPr/>
      <dgm:t>
        <a:bodyPr/>
        <a:lstStyle/>
        <a:p>
          <a:endParaRPr lang="zh-CN" altLang="en-US"/>
        </a:p>
      </dgm:t>
    </dgm:pt>
    <dgm:pt modelId="{2A814F3F-3BA8-42F7-8CA4-83FA04B7958B}" type="sibTrans" cxnId="{0822A5D8-2704-4CC0-B9A8-A9B7BC1EF476}">
      <dgm:prSet/>
      <dgm:spPr/>
      <dgm:t>
        <a:bodyPr/>
        <a:lstStyle/>
        <a:p>
          <a:endParaRPr lang="zh-CN" altLang="en-US"/>
        </a:p>
      </dgm:t>
    </dgm:pt>
    <dgm:pt modelId="{30969CD7-3CFD-4F4F-B564-8B7800529F16}" type="pres">
      <dgm:prSet presAssocID="{E619A35B-6F76-4F5B-9866-62BEE8E1B43C}" presName="Name0" presStyleCnt="0">
        <dgm:presLayoutVars>
          <dgm:dir/>
          <dgm:animLvl val="lvl"/>
          <dgm:resizeHandles val="exact"/>
        </dgm:presLayoutVars>
      </dgm:prSet>
      <dgm:spPr/>
    </dgm:pt>
    <dgm:pt modelId="{4B8CD339-4E78-4F6E-A0BF-974C4D6D4379}" type="pres">
      <dgm:prSet presAssocID="{4A5FAA12-B526-40D6-A585-8F25D8E3B5CF}" presName="composite" presStyleCnt="0"/>
      <dgm:spPr/>
    </dgm:pt>
    <dgm:pt modelId="{3519B39F-12B2-486D-92CD-79CCEF8A02D7}" type="pres">
      <dgm:prSet presAssocID="{4A5FAA12-B526-40D6-A585-8F25D8E3B5CF}" presName="parTx" presStyleLbl="alignNode1" presStyleIdx="0" presStyleCnt="2">
        <dgm:presLayoutVars>
          <dgm:chMax val="0"/>
          <dgm:chPref val="0"/>
          <dgm:bulletEnabled val="1"/>
        </dgm:presLayoutVars>
      </dgm:prSet>
      <dgm:spPr/>
    </dgm:pt>
    <dgm:pt modelId="{B896A519-3F35-4F76-BF45-313B4F09EBD3}" type="pres">
      <dgm:prSet presAssocID="{4A5FAA12-B526-40D6-A585-8F25D8E3B5CF}" presName="desTx" presStyleLbl="alignAccFollowNode1" presStyleIdx="0" presStyleCnt="2">
        <dgm:presLayoutVars>
          <dgm:bulletEnabled val="1"/>
        </dgm:presLayoutVars>
      </dgm:prSet>
      <dgm:spPr/>
    </dgm:pt>
    <dgm:pt modelId="{8B47AD68-727B-44C0-988D-4CD4C0258498}" type="pres">
      <dgm:prSet presAssocID="{A0348CB2-E5AF-4DF4-82BC-60A5461B27CB}" presName="space" presStyleCnt="0"/>
      <dgm:spPr/>
    </dgm:pt>
    <dgm:pt modelId="{336363FB-3CEF-426F-BE0A-60B5B48CDB7D}" type="pres">
      <dgm:prSet presAssocID="{C9BCE8A9-D041-4DBC-8845-482A3A7A396F}" presName="composite" presStyleCnt="0"/>
      <dgm:spPr/>
    </dgm:pt>
    <dgm:pt modelId="{2B37959A-E5FF-440C-9E9A-2AB5F0A6CAC6}" type="pres">
      <dgm:prSet presAssocID="{C9BCE8A9-D041-4DBC-8845-482A3A7A396F}" presName="parTx" presStyleLbl="alignNode1" presStyleIdx="1" presStyleCnt="2">
        <dgm:presLayoutVars>
          <dgm:chMax val="0"/>
          <dgm:chPref val="0"/>
          <dgm:bulletEnabled val="1"/>
        </dgm:presLayoutVars>
      </dgm:prSet>
      <dgm:spPr/>
    </dgm:pt>
    <dgm:pt modelId="{BB2710DA-629D-4E22-B2D2-AE96858090DD}" type="pres">
      <dgm:prSet presAssocID="{C9BCE8A9-D041-4DBC-8845-482A3A7A396F}" presName="desTx" presStyleLbl="alignAccFollowNode1" presStyleIdx="1" presStyleCnt="2">
        <dgm:presLayoutVars>
          <dgm:bulletEnabled val="1"/>
        </dgm:presLayoutVars>
      </dgm:prSet>
      <dgm:spPr/>
    </dgm:pt>
  </dgm:ptLst>
  <dgm:cxnLst>
    <dgm:cxn modelId="{09C48031-F32A-41AA-945B-53E3EA558246}" type="presOf" srcId="{12F350A1-BAB6-49E7-A675-F34567C93BB3}" destId="{B896A519-3F35-4F76-BF45-313B4F09EBD3}" srcOrd="0" destOrd="1" presId="urn:microsoft.com/office/officeart/2005/8/layout/hList1"/>
    <dgm:cxn modelId="{225E8865-646D-48FC-9B4C-841B6A568C22}" type="presOf" srcId="{E619A35B-6F76-4F5B-9866-62BEE8E1B43C}" destId="{30969CD7-3CFD-4F4F-B564-8B7800529F16}" srcOrd="0" destOrd="0" presId="urn:microsoft.com/office/officeart/2005/8/layout/hList1"/>
    <dgm:cxn modelId="{7862F34B-5480-4452-92E7-545087459F78}" type="presOf" srcId="{C9BCE8A9-D041-4DBC-8845-482A3A7A396F}" destId="{2B37959A-E5FF-440C-9E9A-2AB5F0A6CAC6}" srcOrd="0" destOrd="0" presId="urn:microsoft.com/office/officeart/2005/8/layout/hList1"/>
    <dgm:cxn modelId="{45EC468C-A451-486B-BF68-B6D0C92F0FC7}" type="presOf" srcId="{677AFE12-F6B5-41EE-82A2-0A5381CBB9FC}" destId="{BB2710DA-629D-4E22-B2D2-AE96858090DD}" srcOrd="0" destOrd="1" presId="urn:microsoft.com/office/officeart/2005/8/layout/hList1"/>
    <dgm:cxn modelId="{F2270C93-4F27-4E3F-A0E2-D2F288985849}" srcId="{C9BCE8A9-D041-4DBC-8845-482A3A7A396F}" destId="{677AFE12-F6B5-41EE-82A2-0A5381CBB9FC}" srcOrd="1" destOrd="0" parTransId="{54FC2272-A771-46A9-B03B-FD4BB75D0955}" sibTransId="{6A251A62-7170-4B78-8FCC-1920BEA35D59}"/>
    <dgm:cxn modelId="{7107CEBF-8819-45DA-BDD1-EBF80C60B67E}" type="presOf" srcId="{25DC11C9-1070-46F3-B350-64BDA7654B0D}" destId="{B896A519-3F35-4F76-BF45-313B4F09EBD3}" srcOrd="0" destOrd="0" presId="urn:microsoft.com/office/officeart/2005/8/layout/hList1"/>
    <dgm:cxn modelId="{0822A5D8-2704-4CC0-B9A8-A9B7BC1EF476}" srcId="{4A5FAA12-B526-40D6-A585-8F25D8E3B5CF}" destId="{12F350A1-BAB6-49E7-A675-F34567C93BB3}" srcOrd="1" destOrd="0" parTransId="{A7B5A7E3-3C11-449F-8CAA-FEAA6559AD5C}" sibTransId="{2A814F3F-3BA8-42F7-8CA4-83FA04B7958B}"/>
    <dgm:cxn modelId="{F368FFDA-F651-4BAF-9C1C-C2BDACD705E3}" srcId="{C9BCE8A9-D041-4DBC-8845-482A3A7A396F}" destId="{8EECE90E-A4C1-468D-A54F-862B71E4AE7A}" srcOrd="0" destOrd="0" parTransId="{8420BA46-EAF0-453F-80DA-728C83A553A1}" sibTransId="{2422BFC9-7AEE-4057-8A48-6FA836731397}"/>
    <dgm:cxn modelId="{B85657DE-96B6-41D9-B582-9304609C78D8}" type="presOf" srcId="{8EECE90E-A4C1-468D-A54F-862B71E4AE7A}" destId="{BB2710DA-629D-4E22-B2D2-AE96858090DD}" srcOrd="0" destOrd="0" presId="urn:microsoft.com/office/officeart/2005/8/layout/hList1"/>
    <dgm:cxn modelId="{AFAF82E4-9537-4799-97DF-952BDFCFEEAE}" type="presOf" srcId="{4A5FAA12-B526-40D6-A585-8F25D8E3B5CF}" destId="{3519B39F-12B2-486D-92CD-79CCEF8A02D7}" srcOrd="0" destOrd="0" presId="urn:microsoft.com/office/officeart/2005/8/layout/hList1"/>
    <dgm:cxn modelId="{48ED03E9-295B-4B0B-AAEF-E2CD78821D49}" srcId="{E619A35B-6F76-4F5B-9866-62BEE8E1B43C}" destId="{4A5FAA12-B526-40D6-A585-8F25D8E3B5CF}" srcOrd="0" destOrd="0" parTransId="{BA4ABDAD-0A84-478F-BEF5-D89876B2358C}" sibTransId="{A0348CB2-E5AF-4DF4-82BC-60A5461B27CB}"/>
    <dgm:cxn modelId="{6FED0BF3-2FB3-4A16-AC44-6DAA0B4E657B}" srcId="{4A5FAA12-B526-40D6-A585-8F25D8E3B5CF}" destId="{25DC11C9-1070-46F3-B350-64BDA7654B0D}" srcOrd="0" destOrd="0" parTransId="{7C5E2CCC-FBB6-425F-A045-D5C8158DA352}" sibTransId="{2612D70B-DEDE-49B9-BD1E-9FFB595FDC9C}"/>
    <dgm:cxn modelId="{294E84FE-1056-409C-8AD4-E0DD366816F1}" srcId="{E619A35B-6F76-4F5B-9866-62BEE8E1B43C}" destId="{C9BCE8A9-D041-4DBC-8845-482A3A7A396F}" srcOrd="1" destOrd="0" parTransId="{75079E22-3A7E-434C-9C6F-14CEDBD0380B}" sibTransId="{B0BC9EB0-9E94-476B-A8E0-C9226E36D271}"/>
    <dgm:cxn modelId="{1954D097-64AE-4427-AA43-71B2A982D57C}" type="presParOf" srcId="{30969CD7-3CFD-4F4F-B564-8B7800529F16}" destId="{4B8CD339-4E78-4F6E-A0BF-974C4D6D4379}" srcOrd="0" destOrd="0" presId="urn:microsoft.com/office/officeart/2005/8/layout/hList1"/>
    <dgm:cxn modelId="{CE01587A-847F-4F7B-A956-ABDC8396BFDE}" type="presParOf" srcId="{4B8CD339-4E78-4F6E-A0BF-974C4D6D4379}" destId="{3519B39F-12B2-486D-92CD-79CCEF8A02D7}" srcOrd="0" destOrd="0" presId="urn:microsoft.com/office/officeart/2005/8/layout/hList1"/>
    <dgm:cxn modelId="{DC9BF2D9-0C57-47D6-9255-63326D8A169D}" type="presParOf" srcId="{4B8CD339-4E78-4F6E-A0BF-974C4D6D4379}" destId="{B896A519-3F35-4F76-BF45-313B4F09EBD3}" srcOrd="1" destOrd="0" presId="urn:microsoft.com/office/officeart/2005/8/layout/hList1"/>
    <dgm:cxn modelId="{42A04382-E7DA-4171-9384-D7A7E80DFC8B}" type="presParOf" srcId="{30969CD7-3CFD-4F4F-B564-8B7800529F16}" destId="{8B47AD68-727B-44C0-988D-4CD4C0258498}" srcOrd="1" destOrd="0" presId="urn:microsoft.com/office/officeart/2005/8/layout/hList1"/>
    <dgm:cxn modelId="{03F4CD9A-D774-41E6-A65D-490AC687C0B6}" type="presParOf" srcId="{30969CD7-3CFD-4F4F-B564-8B7800529F16}" destId="{336363FB-3CEF-426F-BE0A-60B5B48CDB7D}" srcOrd="2" destOrd="0" presId="urn:microsoft.com/office/officeart/2005/8/layout/hList1"/>
    <dgm:cxn modelId="{24A251D5-9055-437E-A1F4-6113C4FAC564}" type="presParOf" srcId="{336363FB-3CEF-426F-BE0A-60B5B48CDB7D}" destId="{2B37959A-E5FF-440C-9E9A-2AB5F0A6CAC6}" srcOrd="0" destOrd="0" presId="urn:microsoft.com/office/officeart/2005/8/layout/hList1"/>
    <dgm:cxn modelId="{64854043-3AEF-4930-ABFB-C13EE168AA45}" type="presParOf" srcId="{336363FB-3CEF-426F-BE0A-60B5B48CDB7D}" destId="{BB2710DA-629D-4E22-B2D2-AE96858090DD}"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0ADD619-6503-4051-9BF1-B84DDC798B9B}">
      <dsp:nvSpPr>
        <dsp:cNvPr id="0" name=""/>
        <dsp:cNvSpPr/>
      </dsp:nvSpPr>
      <dsp:spPr>
        <a:xfrm>
          <a:off x="39" y="19663"/>
          <a:ext cx="3818864" cy="1094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100000"/>
            </a:lnSpc>
            <a:spcBef>
              <a:spcPct val="0"/>
            </a:spcBef>
            <a:spcAft>
              <a:spcPct val="20000"/>
            </a:spcAft>
            <a:buNone/>
          </a:pPr>
          <a:r>
            <a:rPr lang="zh-CN" altLang="zh-CN" sz="1400" b="0" i="0" kern="1200" baseline="0" dirty="0">
              <a:latin typeface="Montserrat" panose="00000500000000000000" pitchFamily="2" charset="0"/>
              <a:ea typeface="微软雅黑 Light" panose="020B0502040204020203" pitchFamily="34" charset="-122"/>
            </a:rPr>
            <a:t>数据层面</a:t>
          </a:r>
          <a:endParaRPr lang="zh-CN" altLang="en-US" sz="1400" b="0" i="0" kern="1200" baseline="0" dirty="0">
            <a:latin typeface="Montserrat" panose="00000500000000000000" pitchFamily="2" charset="0"/>
            <a:ea typeface="微软雅黑 Light" panose="020B0502040204020203" pitchFamily="34" charset="-122"/>
          </a:endParaRPr>
        </a:p>
      </dsp:txBody>
      <dsp:txXfrm>
        <a:off x="39" y="19663"/>
        <a:ext cx="3818864" cy="1094400"/>
      </dsp:txXfrm>
    </dsp:sp>
    <dsp:sp modelId="{69218C7D-A5C6-4BB9-B753-14FB4AB3733E}">
      <dsp:nvSpPr>
        <dsp:cNvPr id="0" name=""/>
        <dsp:cNvSpPr/>
      </dsp:nvSpPr>
      <dsp:spPr>
        <a:xfrm>
          <a:off x="39" y="1114064"/>
          <a:ext cx="3818864" cy="166896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100000"/>
            </a:lnSpc>
            <a:spcBef>
              <a:spcPct val="0"/>
            </a:spcBef>
            <a:spcAft>
              <a:spcPct val="20000"/>
            </a:spcAft>
            <a:buChar char="•"/>
          </a:pPr>
          <a:r>
            <a:rPr lang="zh-CN" altLang="zh-CN" sz="1400" b="0" i="0" kern="1200" baseline="0" dirty="0">
              <a:latin typeface="Montserrat" panose="00000500000000000000" pitchFamily="2" charset="0"/>
              <a:ea typeface="微软雅黑 Light" panose="020B0502040204020203" pitchFamily="34" charset="-122"/>
            </a:rPr>
            <a:t>路由器根据本路由器生成的</a:t>
          </a:r>
          <a:r>
            <a:rPr lang="zh-CN" altLang="zh-CN" sz="1400" b="0" i="0" kern="1200" baseline="0" dirty="0">
              <a:solidFill>
                <a:srgbClr val="C00000"/>
              </a:solidFill>
              <a:latin typeface="Montserrat" panose="00000500000000000000" pitchFamily="2" charset="0"/>
              <a:ea typeface="微软雅黑 Light" panose="020B0502040204020203" pitchFamily="34" charset="-122"/>
            </a:rPr>
            <a:t>转发表，</a:t>
          </a:r>
          <a:r>
            <a:rPr lang="zh-CN" altLang="zh-CN" sz="1400" b="0" i="0" kern="1200" baseline="0" dirty="0">
              <a:latin typeface="Montserrat" panose="00000500000000000000" pitchFamily="2" charset="0"/>
              <a:ea typeface="微软雅黑 Light" panose="020B0502040204020203" pitchFamily="34" charset="-122"/>
            </a:rPr>
            <a:t>把收到的分组从查找到的对应接口</a:t>
          </a:r>
          <a:r>
            <a:rPr lang="zh-CN" altLang="zh-CN" sz="1400" b="0" i="0" kern="1200" baseline="0" dirty="0">
              <a:solidFill>
                <a:srgbClr val="C00000"/>
              </a:solidFill>
              <a:latin typeface="Montserrat" panose="00000500000000000000" pitchFamily="2" charset="0"/>
              <a:ea typeface="微软雅黑 Light" panose="020B0502040204020203" pitchFamily="34" charset="-122"/>
            </a:rPr>
            <a:t>转发</a:t>
          </a:r>
          <a:r>
            <a:rPr lang="zh-CN" altLang="zh-CN" sz="1400" b="0" i="0" kern="1200" baseline="0" dirty="0">
              <a:latin typeface="Montserrat" panose="00000500000000000000" pitchFamily="2" charset="0"/>
              <a:ea typeface="微软雅黑 Light" panose="020B0502040204020203" pitchFamily="34" charset="-122"/>
            </a:rPr>
            <a:t>出去。</a:t>
          </a:r>
          <a:endParaRPr lang="zh-CN" altLang="en-US" sz="1400" b="0" i="0" kern="1200" baseline="0" dirty="0">
            <a:latin typeface="Montserrat" panose="00000500000000000000" pitchFamily="2" charset="0"/>
            <a:ea typeface="微软雅黑 Light" panose="020B0502040204020203" pitchFamily="34" charset="-122"/>
          </a:endParaRPr>
        </a:p>
        <a:p>
          <a:pPr marL="114300" lvl="1" indent="-114300" algn="l" defTabSz="622300">
            <a:lnSpc>
              <a:spcPct val="90000"/>
            </a:lnSpc>
            <a:spcBef>
              <a:spcPct val="0"/>
            </a:spcBef>
            <a:spcAft>
              <a:spcPct val="15000"/>
            </a:spcAft>
            <a:buChar char="•"/>
          </a:pPr>
          <a:r>
            <a:rPr lang="zh-CN" altLang="en-US" sz="1400" b="0" i="0" kern="1200" baseline="0" dirty="0">
              <a:solidFill>
                <a:srgbClr val="C00000"/>
              </a:solidFill>
              <a:latin typeface="Montserrat" panose="00000500000000000000" pitchFamily="2" charset="0"/>
              <a:ea typeface="微软雅黑 Light" panose="020B0502040204020203" pitchFamily="34" charset="-122"/>
            </a:rPr>
            <a:t>独立</a:t>
          </a:r>
          <a:r>
            <a:rPr lang="zh-CN" altLang="en-US" sz="1400" b="0" i="0" kern="1200" baseline="0" dirty="0">
              <a:latin typeface="Montserrat" panose="00000500000000000000" pitchFamily="2" charset="0"/>
              <a:ea typeface="微软雅黑 Light" panose="020B0502040204020203" pitchFamily="34" charset="-122"/>
            </a:rPr>
            <a:t>工作。</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采用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硬件</a:t>
          </a:r>
          <a:r>
            <a:rPr lang="zh-CN" altLang="en-US" sz="1400" b="0" i="0" kern="1200" baseline="0" dirty="0">
              <a:latin typeface="Montserrat" panose="00000500000000000000" pitchFamily="2" charset="0"/>
              <a:ea typeface="微软雅黑 Light" panose="020B0502040204020203" pitchFamily="34" charset="-122"/>
            </a:rPr>
            <a:t>进行转发，快。</a:t>
          </a:r>
        </a:p>
      </dsp:txBody>
      <dsp:txXfrm>
        <a:off x="39" y="1114064"/>
        <a:ext cx="3818864" cy="1668960"/>
      </dsp:txXfrm>
    </dsp:sp>
    <dsp:sp modelId="{A287357E-4392-4759-BB71-D2529A5E730A}">
      <dsp:nvSpPr>
        <dsp:cNvPr id="0" name=""/>
        <dsp:cNvSpPr/>
      </dsp:nvSpPr>
      <dsp:spPr>
        <a:xfrm>
          <a:off x="4353545" y="19663"/>
          <a:ext cx="3818864" cy="1094400"/>
        </a:xfrm>
        <a:prstGeom prst="rect">
          <a:avLst/>
        </a:prstGeom>
        <a:solidFill>
          <a:srgbClr val="00B050"/>
        </a:solidFill>
        <a:ln w="25400" cap="flat" cmpd="sng" algn="ctr">
          <a:solidFill>
            <a:srgbClr val="00B050"/>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zh-CN" altLang="en-US" sz="1400" b="0" i="0" kern="1200" baseline="0" dirty="0">
              <a:latin typeface="Montserrat" panose="00000500000000000000" pitchFamily="2" charset="0"/>
              <a:ea typeface="微软雅黑 Light" panose="020B0502040204020203" pitchFamily="34" charset="-122"/>
            </a:rPr>
            <a:t>控制层面</a:t>
          </a:r>
        </a:p>
      </dsp:txBody>
      <dsp:txXfrm>
        <a:off x="4353545" y="19663"/>
        <a:ext cx="3818864" cy="1094400"/>
      </dsp:txXfrm>
    </dsp:sp>
    <dsp:sp modelId="{7E31D2C3-38FE-46A6-9137-AC78999E4E2D}">
      <dsp:nvSpPr>
        <dsp:cNvPr id="0" name=""/>
        <dsp:cNvSpPr/>
      </dsp:nvSpPr>
      <dsp:spPr>
        <a:xfrm>
          <a:off x="4353545" y="1114064"/>
          <a:ext cx="3818864" cy="166896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根据路由选择协议所用的路由算法</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计算路由，</a:t>
          </a:r>
          <a:r>
            <a:rPr lang="zh-CN" altLang="en-US" sz="1400" b="0" i="0" kern="1200" baseline="0" dirty="0">
              <a:latin typeface="Montserrat" panose="00000500000000000000" pitchFamily="2" charset="0"/>
              <a:ea typeface="微软雅黑 Light" panose="020B0502040204020203" pitchFamily="34" charset="-122"/>
            </a:rPr>
            <a:t>创建出本路由器的</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路由表。</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许多路由器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协同</a:t>
          </a:r>
          <a:r>
            <a:rPr lang="zh-CN" altLang="en-US" sz="1400" b="0" i="0" kern="1200" baseline="0" dirty="0">
              <a:latin typeface="Montserrat" panose="00000500000000000000" pitchFamily="2" charset="0"/>
              <a:ea typeface="微软雅黑 Light" panose="020B0502040204020203" pitchFamily="34" charset="-122"/>
            </a:rPr>
            <a:t>动作。</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采用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软件</a:t>
          </a:r>
          <a:r>
            <a:rPr lang="zh-CN" altLang="en-US" sz="1400" b="0" i="0" kern="1200" baseline="0" dirty="0">
              <a:latin typeface="Montserrat" panose="00000500000000000000" pitchFamily="2" charset="0"/>
              <a:ea typeface="微软雅黑 Light" panose="020B0502040204020203" pitchFamily="34" charset="-122"/>
            </a:rPr>
            <a:t>计算，慢。</a:t>
          </a:r>
        </a:p>
      </dsp:txBody>
      <dsp:txXfrm>
        <a:off x="4353545" y="1114064"/>
        <a:ext cx="3818864" cy="16689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594C686-F253-4728-84C9-151C8028A3AE}">
      <dsp:nvSpPr>
        <dsp:cNvPr id="0" name=""/>
        <dsp:cNvSpPr/>
      </dsp:nvSpPr>
      <dsp:spPr>
        <a:xfrm>
          <a:off x="182732" y="435"/>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寻址方案</a:t>
          </a:r>
        </a:p>
      </dsp:txBody>
      <dsp:txXfrm>
        <a:off x="182732" y="435"/>
        <a:ext cx="1346447" cy="807868"/>
      </dsp:txXfrm>
    </dsp:sp>
    <dsp:sp modelId="{AAE6C2CE-B907-473D-B42E-74641FA2C01B}">
      <dsp:nvSpPr>
        <dsp:cNvPr id="0" name=""/>
        <dsp:cNvSpPr/>
      </dsp:nvSpPr>
      <dsp:spPr>
        <a:xfrm>
          <a:off x="1663824" y="435"/>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最大分组长度</a:t>
          </a:r>
        </a:p>
      </dsp:txBody>
      <dsp:txXfrm>
        <a:off x="1663824" y="435"/>
        <a:ext cx="1346447" cy="807868"/>
      </dsp:txXfrm>
    </dsp:sp>
    <dsp:sp modelId="{11150468-1E0C-461E-B081-3E871826CD6E}">
      <dsp:nvSpPr>
        <dsp:cNvPr id="0" name=""/>
        <dsp:cNvSpPr/>
      </dsp:nvSpPr>
      <dsp:spPr>
        <a:xfrm>
          <a:off x="3144916" y="435"/>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网络接入机制</a:t>
          </a:r>
        </a:p>
      </dsp:txBody>
      <dsp:txXfrm>
        <a:off x="3144916" y="435"/>
        <a:ext cx="1346447" cy="807868"/>
      </dsp:txXfrm>
    </dsp:sp>
    <dsp:sp modelId="{EADAD31E-CA68-4DED-84FB-90D8D4DBAECE}">
      <dsp:nvSpPr>
        <dsp:cNvPr id="0" name=""/>
        <dsp:cNvSpPr/>
      </dsp:nvSpPr>
      <dsp:spPr>
        <a:xfrm>
          <a:off x="4626009" y="435"/>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超时控制</a:t>
          </a:r>
        </a:p>
      </dsp:txBody>
      <dsp:txXfrm>
        <a:off x="4626009" y="435"/>
        <a:ext cx="1346447" cy="807868"/>
      </dsp:txXfrm>
    </dsp:sp>
    <dsp:sp modelId="{BA295F3A-6E33-4693-A4E0-373D4996D66D}">
      <dsp:nvSpPr>
        <dsp:cNvPr id="0" name=""/>
        <dsp:cNvSpPr/>
      </dsp:nvSpPr>
      <dsp:spPr>
        <a:xfrm>
          <a:off x="182732" y="942949"/>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差错恢复方法</a:t>
          </a:r>
        </a:p>
      </dsp:txBody>
      <dsp:txXfrm>
        <a:off x="182732" y="942949"/>
        <a:ext cx="1346447" cy="807868"/>
      </dsp:txXfrm>
    </dsp:sp>
    <dsp:sp modelId="{38F50AC9-831D-4F84-96CD-EC61271A73DD}">
      <dsp:nvSpPr>
        <dsp:cNvPr id="0" name=""/>
        <dsp:cNvSpPr/>
      </dsp:nvSpPr>
      <dsp:spPr>
        <a:xfrm>
          <a:off x="1663824" y="942949"/>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状态报告方法</a:t>
          </a:r>
        </a:p>
      </dsp:txBody>
      <dsp:txXfrm>
        <a:off x="1663824" y="942949"/>
        <a:ext cx="1346447" cy="807868"/>
      </dsp:txXfrm>
    </dsp:sp>
    <dsp:sp modelId="{581D08C6-B287-4F68-8947-E6A14A005145}">
      <dsp:nvSpPr>
        <dsp:cNvPr id="0" name=""/>
        <dsp:cNvSpPr/>
      </dsp:nvSpPr>
      <dsp:spPr>
        <a:xfrm>
          <a:off x="3144916" y="942949"/>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路由选择技术</a:t>
          </a:r>
        </a:p>
      </dsp:txBody>
      <dsp:txXfrm>
        <a:off x="3144916" y="942949"/>
        <a:ext cx="1346447" cy="807868"/>
      </dsp:txXfrm>
    </dsp:sp>
    <dsp:sp modelId="{38B4E769-5F4D-4AC9-AA16-740543B9CEDA}">
      <dsp:nvSpPr>
        <dsp:cNvPr id="0" name=""/>
        <dsp:cNvSpPr/>
      </dsp:nvSpPr>
      <dsp:spPr>
        <a:xfrm>
          <a:off x="4626009" y="942949"/>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用户接入控制</a:t>
          </a:r>
        </a:p>
      </dsp:txBody>
      <dsp:txXfrm>
        <a:off x="4626009" y="942949"/>
        <a:ext cx="1346447" cy="807868"/>
      </dsp:txXfrm>
    </dsp:sp>
    <dsp:sp modelId="{97AB1813-5306-47D8-8D3C-3A38D4B1BEC2}">
      <dsp:nvSpPr>
        <dsp:cNvPr id="0" name=""/>
        <dsp:cNvSpPr/>
      </dsp:nvSpPr>
      <dsp:spPr>
        <a:xfrm>
          <a:off x="923278" y="1885462"/>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服务</a:t>
          </a:r>
        </a:p>
      </dsp:txBody>
      <dsp:txXfrm>
        <a:off x="923278" y="1885462"/>
        <a:ext cx="1346447" cy="807868"/>
      </dsp:txXfrm>
    </dsp:sp>
    <dsp:sp modelId="{F1FBFE21-9DF5-4505-8D8B-6EF2CCB31FEE}">
      <dsp:nvSpPr>
        <dsp:cNvPr id="0" name=""/>
        <dsp:cNvSpPr/>
      </dsp:nvSpPr>
      <dsp:spPr>
        <a:xfrm>
          <a:off x="2404370" y="1885462"/>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5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管理与</a:t>
          </a:r>
          <a:endParaRPr lang="en-US" altLang="zh-CN" sz="1200" b="0" kern="1200" dirty="0">
            <a:latin typeface="微软雅黑 Light" panose="020B0502040204020203" pitchFamily="34" charset="-122"/>
            <a:ea typeface="微软雅黑 Light" panose="020B0502040204020203" pitchFamily="34" charset="-122"/>
          </a:endParaRPr>
        </a:p>
        <a:p>
          <a:pPr marL="0" lvl="0" indent="0" algn="ctr" defTabSz="533400">
            <a:lnSpc>
              <a:spcPct val="5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控制方式</a:t>
          </a:r>
        </a:p>
      </dsp:txBody>
      <dsp:txXfrm>
        <a:off x="2404370" y="1885462"/>
        <a:ext cx="1346447" cy="807868"/>
      </dsp:txXfrm>
    </dsp:sp>
    <dsp:sp modelId="{FC18BE71-30A4-4718-92D9-19F6EDF79A0C}">
      <dsp:nvSpPr>
        <dsp:cNvPr id="0" name=""/>
        <dsp:cNvSpPr/>
      </dsp:nvSpPr>
      <dsp:spPr>
        <a:xfrm>
          <a:off x="3885463" y="1885462"/>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50000"/>
            </a:lnSpc>
            <a:spcBef>
              <a:spcPct val="0"/>
            </a:spcBef>
            <a:spcAft>
              <a:spcPct val="35000"/>
            </a:spcAft>
            <a:buNone/>
          </a:pPr>
          <a:r>
            <a:rPr lang="en-US" altLang="zh-CN" sz="1200" b="0" kern="1200" dirty="0">
              <a:latin typeface="微软雅黑 Light" panose="020B0502040204020203" pitchFamily="34" charset="-122"/>
              <a:ea typeface="微软雅黑 Light" panose="020B0502040204020203" pitchFamily="34" charset="-122"/>
            </a:rPr>
            <a:t>……</a:t>
          </a:r>
          <a:endParaRPr lang="zh-CN" altLang="en-US" sz="1200" b="0" kern="1200" dirty="0">
            <a:latin typeface="微软雅黑 Light" panose="020B0502040204020203" pitchFamily="34" charset="-122"/>
            <a:ea typeface="微软雅黑 Light" panose="020B0502040204020203" pitchFamily="34" charset="-122"/>
          </a:endParaRPr>
        </a:p>
      </dsp:txBody>
      <dsp:txXfrm>
        <a:off x="3885463" y="1885462"/>
        <a:ext cx="1346447" cy="80786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24B0A0E-971B-4E83-B9F0-6072ADB97738}">
      <dsp:nvSpPr>
        <dsp:cNvPr id="0" name=""/>
        <dsp:cNvSpPr/>
      </dsp:nvSpPr>
      <dsp:spPr>
        <a:xfrm>
          <a:off x="744798" y="481511"/>
          <a:ext cx="5338574" cy="2294911"/>
        </a:xfrm>
        <a:prstGeom prst="rect">
          <a:avLst/>
        </a:prstGeom>
        <a:solidFill>
          <a:schemeClr val="accent1">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E873E07A-9E09-453F-95F0-A7AAEE2551B3}">
      <dsp:nvSpPr>
        <dsp:cNvPr id="0" name=""/>
        <dsp:cNvSpPr/>
      </dsp:nvSpPr>
      <dsp:spPr>
        <a:xfrm>
          <a:off x="1141045" y="879666"/>
          <a:ext cx="2329497"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480" tIns="30480" rIns="30480" bIns="30480" numCol="1" spcCol="1270" anchor="t" anchorCtr="0">
          <a:noAutofit/>
        </a:bodyPr>
        <a:lstStyle/>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管理简单；</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使用方便；</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转发分组迅速；</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zh-CN" sz="1600" b="1" kern="1200" dirty="0">
              <a:latin typeface="微软雅黑" panose="020B0503020204020204" pitchFamily="34" charset="-122"/>
              <a:ea typeface="微软雅黑" panose="020B0503020204020204" pitchFamily="34" charset="-122"/>
            </a:rPr>
            <a:t>划分子网</a:t>
          </a:r>
          <a:r>
            <a:rPr lang="zh-CN" altLang="en-US" sz="1600" b="1" kern="1200" dirty="0">
              <a:latin typeface="微软雅黑" panose="020B0503020204020204" pitchFamily="34" charset="-122"/>
              <a:ea typeface="微软雅黑" panose="020B0503020204020204" pitchFamily="34" charset="-122"/>
            </a:rPr>
            <a:t>，灵活地使用。</a:t>
          </a:r>
        </a:p>
      </dsp:txBody>
      <dsp:txXfrm>
        <a:off x="1141045" y="879666"/>
        <a:ext cx="2329497" cy="1703744"/>
      </dsp:txXfrm>
    </dsp:sp>
    <dsp:sp modelId="{40AD89A0-37A1-4061-B639-561D759D430F}">
      <dsp:nvSpPr>
        <dsp:cNvPr id="0" name=""/>
        <dsp:cNvSpPr/>
      </dsp:nvSpPr>
      <dsp:spPr>
        <a:xfrm>
          <a:off x="3506851" y="879666"/>
          <a:ext cx="2329497"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480" tIns="30480" rIns="30480" bIns="30480" numCol="1" spcCol="1270" anchor="t" anchorCtr="0">
          <a:noAutofit/>
        </a:bodyPr>
        <a:lstStyle/>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设计上不合理：</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大地址块，</a:t>
          </a:r>
          <a:r>
            <a:rPr lang="zh-CN" altLang="en-US" sz="1600" b="1" kern="1200" dirty="0">
              <a:solidFill>
                <a:srgbClr val="C00000"/>
              </a:solidFill>
              <a:latin typeface="微软雅黑" panose="020B0503020204020204" pitchFamily="34" charset="-122"/>
              <a:ea typeface="微软雅黑" panose="020B0503020204020204" pitchFamily="34" charset="-122"/>
            </a:rPr>
            <a:t>浪费</a:t>
          </a:r>
          <a:r>
            <a:rPr lang="zh-CN" altLang="en-US" sz="1600" b="1" kern="1200" dirty="0">
              <a:latin typeface="微软雅黑" panose="020B0503020204020204" pitchFamily="34" charset="-122"/>
              <a:ea typeface="微软雅黑" panose="020B0503020204020204" pitchFamily="34" charset="-122"/>
            </a:rPr>
            <a:t>地址资源；</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即使采用划分子网的方法，也无法解决 </a:t>
          </a:r>
          <a:r>
            <a:rPr lang="en-US" altLang="en-US" sz="1600" b="1" kern="1200" dirty="0">
              <a:latin typeface="微软雅黑" panose="020B0503020204020204" pitchFamily="34" charset="-122"/>
              <a:ea typeface="微软雅黑" panose="020B0503020204020204" pitchFamily="34" charset="-122"/>
            </a:rPr>
            <a:t>IP </a:t>
          </a:r>
          <a:r>
            <a:rPr lang="zh-CN" altLang="en-US" sz="1600" b="1" kern="1200" dirty="0">
              <a:latin typeface="微软雅黑" panose="020B0503020204020204" pitchFamily="34" charset="-122"/>
              <a:ea typeface="微软雅黑" panose="020B0503020204020204" pitchFamily="34" charset="-122"/>
            </a:rPr>
            <a:t>地址</a:t>
          </a:r>
          <a:r>
            <a:rPr lang="zh-CN" altLang="en-US" sz="1600" b="1" kern="1200" dirty="0">
              <a:solidFill>
                <a:srgbClr val="C00000"/>
              </a:solidFill>
              <a:latin typeface="微软雅黑" panose="020B0503020204020204" pitchFamily="34" charset="-122"/>
              <a:ea typeface="微软雅黑" panose="020B0503020204020204" pitchFamily="34" charset="-122"/>
            </a:rPr>
            <a:t>枯竭</a:t>
          </a:r>
          <a:r>
            <a:rPr lang="zh-CN" altLang="en-US" sz="1600" b="1" kern="1200" dirty="0">
              <a:latin typeface="微软雅黑" panose="020B0503020204020204" pitchFamily="34" charset="-122"/>
              <a:ea typeface="微软雅黑" panose="020B0503020204020204" pitchFamily="34" charset="-122"/>
            </a:rPr>
            <a:t>的问题。</a:t>
          </a:r>
        </a:p>
      </dsp:txBody>
      <dsp:txXfrm>
        <a:off x="3506851" y="879666"/>
        <a:ext cx="2329497" cy="1703744"/>
      </dsp:txXfrm>
    </dsp:sp>
    <dsp:sp modelId="{69C13D01-1AFC-4B1D-A9D4-90EC30CD2E19}">
      <dsp:nvSpPr>
        <dsp:cNvPr id="0" name=""/>
        <dsp:cNvSpPr/>
      </dsp:nvSpPr>
      <dsp:spPr>
        <a:xfrm>
          <a:off x="512443" y="22249"/>
          <a:ext cx="867717" cy="867717"/>
        </a:xfrm>
        <a:prstGeom prst="plus">
          <a:avLst>
            <a:gd name="adj" fmla="val 328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79C3955-DDC3-45AE-ABAF-A714C59D6D50}">
      <dsp:nvSpPr>
        <dsp:cNvPr id="0" name=""/>
        <dsp:cNvSpPr/>
      </dsp:nvSpPr>
      <dsp:spPr>
        <a:xfrm>
          <a:off x="5474157" y="334301"/>
          <a:ext cx="816675" cy="279867"/>
        </a:xfrm>
        <a:prstGeom prst="rect">
          <a:avLst/>
        </a:prstGeom>
        <a:solidFill>
          <a:srgbClr val="000099"/>
        </a:solid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8D85BB93-CCEC-4AF9-A3E3-7305BF0CC5BD}">
      <dsp:nvSpPr>
        <dsp:cNvPr id="0" name=""/>
        <dsp:cNvSpPr/>
      </dsp:nvSpPr>
      <dsp:spPr>
        <a:xfrm>
          <a:off x="3414085" y="754102"/>
          <a:ext cx="510" cy="1875110"/>
        </a:xfrm>
        <a:prstGeom prst="line">
          <a:avLst/>
        </a:prstGeom>
        <a:noFill/>
        <a:ln w="25400" cap="flat" cmpd="sng" algn="ctr">
          <a:solidFill>
            <a:srgbClr val="000099"/>
          </a:solidFill>
          <a:prstDash val="solid"/>
        </a:ln>
        <a:effectLst/>
      </dsp:spPr>
      <dsp:style>
        <a:lnRef idx="2">
          <a:scrgbClr r="0" g="0" b="0"/>
        </a:lnRef>
        <a:fillRef idx="0">
          <a:scrgbClr r="0" g="0" b="0"/>
        </a:fillRef>
        <a:effectRef idx="0">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A93C829-AB1E-47B7-AF09-3489EE20D87D}">
      <dsp:nvSpPr>
        <dsp:cNvPr id="0" name=""/>
        <dsp:cNvSpPr/>
      </dsp:nvSpPr>
      <dsp:spPr>
        <a:xfrm>
          <a:off x="32" y="13405"/>
          <a:ext cx="3125365" cy="662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地址</a:t>
          </a:r>
        </a:p>
      </dsp:txBody>
      <dsp:txXfrm>
        <a:off x="32" y="13405"/>
        <a:ext cx="3125365" cy="662400"/>
      </dsp:txXfrm>
    </dsp:sp>
    <dsp:sp modelId="{ADDE5FA6-A293-4009-AA1F-EF295D5FC61B}">
      <dsp:nvSpPr>
        <dsp:cNvPr id="0" name=""/>
        <dsp:cNvSpPr/>
      </dsp:nvSpPr>
      <dsp:spPr>
        <a:xfrm>
          <a:off x="32" y="675805"/>
          <a:ext cx="3125365" cy="1855577"/>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虚拟地址、软件地址、逻辑地址。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网络层和以上各层使用。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数据报的首部。</a:t>
          </a:r>
        </a:p>
      </dsp:txBody>
      <dsp:txXfrm>
        <a:off x="32" y="675805"/>
        <a:ext cx="3125365" cy="1855577"/>
      </dsp:txXfrm>
    </dsp:sp>
    <dsp:sp modelId="{A906942F-4CD9-406B-9703-826231E59346}">
      <dsp:nvSpPr>
        <dsp:cNvPr id="0" name=""/>
        <dsp:cNvSpPr/>
      </dsp:nvSpPr>
      <dsp:spPr>
        <a:xfrm>
          <a:off x="3562949" y="13405"/>
          <a:ext cx="3125365" cy="6624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地址</a:t>
          </a:r>
        </a:p>
      </dsp:txBody>
      <dsp:txXfrm>
        <a:off x="3562949" y="13405"/>
        <a:ext cx="3125365" cy="662400"/>
      </dsp:txXfrm>
    </dsp:sp>
    <dsp:sp modelId="{2B0E6FE9-FDF1-417E-907E-1431E3C22379}">
      <dsp:nvSpPr>
        <dsp:cNvPr id="0" name=""/>
        <dsp:cNvSpPr/>
      </dsp:nvSpPr>
      <dsp:spPr>
        <a:xfrm>
          <a:off x="3562949" y="675805"/>
          <a:ext cx="3125365" cy="1855577"/>
        </a:xfrm>
        <a:prstGeom prst="rect">
          <a:avLst/>
        </a:prstGeom>
        <a:solidFill>
          <a:schemeClr val="accent3">
            <a:tint val="40000"/>
            <a:alpha val="90000"/>
            <a:hueOff val="0"/>
            <a:satOff val="0"/>
            <a:lumOff val="0"/>
            <a:alphaOff val="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固化在网卡上的 </a:t>
          </a:r>
          <a:r>
            <a:rPr lang="en-US" altLang="en-US" sz="1800" b="1" kern="1200" dirty="0">
              <a:latin typeface="微软雅黑" panose="020B0503020204020204" pitchFamily="34" charset="-122"/>
              <a:ea typeface="微软雅黑" panose="020B0503020204020204" pitchFamily="34" charset="-122"/>
            </a:rPr>
            <a:t>ROM </a:t>
          </a:r>
          <a:r>
            <a:rPr lang="zh-CN" altLang="en-US" sz="1800" b="1" kern="1200" dirty="0">
              <a:latin typeface="微软雅黑" panose="020B0503020204020204" pitchFamily="34" charset="-122"/>
              <a:ea typeface="微软雅黑" panose="020B0503020204020204" pitchFamily="34" charset="-122"/>
            </a:rPr>
            <a:t>中。</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硬件地址、物理地址。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数据链路层使用。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帧的首部。</a:t>
          </a:r>
        </a:p>
      </dsp:txBody>
      <dsp:txXfrm>
        <a:off x="3562949" y="675805"/>
        <a:ext cx="3125365" cy="1855577"/>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8CECCC-33E8-4D44-AF7B-D639E8E0A9B0}">
      <dsp:nvSpPr>
        <dsp:cNvPr id="0" name=""/>
        <dsp:cNvSpPr/>
      </dsp:nvSpPr>
      <dsp:spPr>
        <a:xfrm rot="5400000">
          <a:off x="2115430" y="70577"/>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稳定</a:t>
          </a:r>
        </a:p>
      </dsp:txBody>
      <dsp:txXfrm rot="-5400000">
        <a:off x="2328076" y="166876"/>
        <a:ext cx="634888" cy="729758"/>
      </dsp:txXfrm>
    </dsp:sp>
    <dsp:sp modelId="{77C4C6C5-334A-4E65-979D-B22FCFC4D25B}">
      <dsp:nvSpPr>
        <dsp:cNvPr id="0" name=""/>
        <dsp:cNvSpPr/>
      </dsp:nvSpPr>
      <dsp:spPr>
        <a:xfrm>
          <a:off x="3134687" y="213701"/>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计算简单</a:t>
          </a:r>
        </a:p>
      </dsp:txBody>
      <dsp:txXfrm>
        <a:off x="3134687" y="213701"/>
        <a:ext cx="1183161" cy="636108"/>
      </dsp:txXfrm>
    </dsp:sp>
    <dsp:sp modelId="{FA279299-B666-469F-8777-B71225E62A40}">
      <dsp:nvSpPr>
        <dsp:cNvPr id="0" name=""/>
        <dsp:cNvSpPr/>
      </dsp:nvSpPr>
      <dsp:spPr>
        <a:xfrm rot="5400000">
          <a:off x="1119285" y="70577"/>
          <a:ext cx="1060180" cy="922356"/>
        </a:xfrm>
        <a:prstGeom prst="hexagon">
          <a:avLst>
            <a:gd name="adj" fmla="val 25000"/>
            <a:gd name="vf" fmla="val 11547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kern="1200">
            <a:latin typeface="微软雅黑" panose="020B0503020204020204" pitchFamily="34" charset="-122"/>
            <a:ea typeface="微软雅黑" panose="020B0503020204020204" pitchFamily="34" charset="-122"/>
          </a:endParaRPr>
        </a:p>
      </dsp:txBody>
      <dsp:txXfrm rot="-5400000">
        <a:off x="1331931" y="166876"/>
        <a:ext cx="634888" cy="729758"/>
      </dsp:txXfrm>
    </dsp:sp>
    <dsp:sp modelId="{5CDA83B7-524F-419D-8B88-84CC727E3270}">
      <dsp:nvSpPr>
        <dsp:cNvPr id="0" name=""/>
        <dsp:cNvSpPr/>
      </dsp:nvSpPr>
      <dsp:spPr>
        <a:xfrm rot="5400000">
          <a:off x="1615449" y="970458"/>
          <a:ext cx="1060180" cy="922356"/>
        </a:xfrm>
        <a:prstGeom prst="hexagon">
          <a:avLst>
            <a:gd name="adj" fmla="val 25000"/>
            <a:gd name="vf" fmla="val 11547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最佳</a:t>
          </a:r>
        </a:p>
      </dsp:txBody>
      <dsp:txXfrm rot="-5400000">
        <a:off x="1828095" y="1066757"/>
        <a:ext cx="634888" cy="729758"/>
      </dsp:txXfrm>
    </dsp:sp>
    <dsp:sp modelId="{9F9A9FAC-12D3-4655-B2AA-04364F1E88CE}">
      <dsp:nvSpPr>
        <dsp:cNvPr id="0" name=""/>
        <dsp:cNvSpPr/>
      </dsp:nvSpPr>
      <dsp:spPr>
        <a:xfrm>
          <a:off x="501199" y="1113582"/>
          <a:ext cx="1144994"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r" defTabSz="800100">
            <a:lnSpc>
              <a:spcPct val="90000"/>
            </a:lnSpc>
            <a:spcBef>
              <a:spcPct val="0"/>
            </a:spcBef>
            <a:spcAft>
              <a:spcPts val="0"/>
            </a:spcAft>
            <a:buNone/>
          </a:pPr>
          <a:r>
            <a:rPr lang="zh-CN" altLang="en-US" sz="1800" b="1" kern="1200" dirty="0">
              <a:latin typeface="微软雅黑" panose="020B0503020204020204" pitchFamily="34" charset="-122"/>
              <a:ea typeface="微软雅黑" panose="020B0503020204020204" pitchFamily="34" charset="-122"/>
            </a:rPr>
            <a:t>正确完整</a:t>
          </a:r>
        </a:p>
      </dsp:txBody>
      <dsp:txXfrm>
        <a:off x="501199" y="1113582"/>
        <a:ext cx="1144994" cy="636108"/>
      </dsp:txXfrm>
    </dsp:sp>
    <dsp:sp modelId="{BC9E837C-7471-448B-B8E7-D49F71F18600}">
      <dsp:nvSpPr>
        <dsp:cNvPr id="0" name=""/>
        <dsp:cNvSpPr/>
      </dsp:nvSpPr>
      <dsp:spPr>
        <a:xfrm rot="5400000">
          <a:off x="2611594" y="970458"/>
          <a:ext cx="1060180" cy="922356"/>
        </a:xfrm>
        <a:prstGeom prst="hexagon">
          <a:avLst>
            <a:gd name="adj" fmla="val 25000"/>
            <a:gd name="vf" fmla="val 11547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自适应</a:t>
          </a:r>
        </a:p>
      </dsp:txBody>
      <dsp:txXfrm rot="-5400000">
        <a:off x="2824240" y="1066757"/>
        <a:ext cx="634888" cy="729758"/>
      </dsp:txXfrm>
    </dsp:sp>
    <dsp:sp modelId="{F18AFA34-AF22-48CA-A491-D3AA2FDCF09E}">
      <dsp:nvSpPr>
        <dsp:cNvPr id="0" name=""/>
        <dsp:cNvSpPr/>
      </dsp:nvSpPr>
      <dsp:spPr>
        <a:xfrm rot="5400000">
          <a:off x="2115430" y="1870339"/>
          <a:ext cx="1060180" cy="922356"/>
        </a:xfrm>
        <a:prstGeom prst="hexagon">
          <a:avLst>
            <a:gd name="adj" fmla="val 25000"/>
            <a:gd name="vf" fmla="val 115470"/>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公平</a:t>
          </a:r>
        </a:p>
      </dsp:txBody>
      <dsp:txXfrm rot="-5400000">
        <a:off x="2328076" y="1966638"/>
        <a:ext cx="634888" cy="729758"/>
      </dsp:txXfrm>
    </dsp:sp>
    <dsp:sp modelId="{5B9F08EB-293A-42A1-ACFE-48E8E54FC3D0}">
      <dsp:nvSpPr>
        <dsp:cNvPr id="0" name=""/>
        <dsp:cNvSpPr/>
      </dsp:nvSpPr>
      <dsp:spPr>
        <a:xfrm>
          <a:off x="3134687" y="2013463"/>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endParaRPr lang="zh-CN" altLang="en-US" sz="1800" b="1" kern="1200" dirty="0">
            <a:latin typeface="微软雅黑" panose="020B0503020204020204" pitchFamily="34" charset="-122"/>
            <a:ea typeface="微软雅黑" panose="020B0503020204020204" pitchFamily="34" charset="-122"/>
          </a:endParaRPr>
        </a:p>
      </dsp:txBody>
      <dsp:txXfrm>
        <a:off x="3134687" y="2013463"/>
        <a:ext cx="1183161" cy="636108"/>
      </dsp:txXfrm>
    </dsp:sp>
    <dsp:sp modelId="{9DAF7479-96E8-43C9-8AC5-D44A0AC1DE87}">
      <dsp:nvSpPr>
        <dsp:cNvPr id="0" name=""/>
        <dsp:cNvSpPr/>
      </dsp:nvSpPr>
      <dsp:spPr>
        <a:xfrm rot="5400000">
          <a:off x="1119285" y="1870339"/>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ts val="0"/>
            </a:spcAft>
            <a:buNone/>
          </a:pPr>
          <a:endParaRPr lang="zh-CN" altLang="en-US" sz="1800" b="1" kern="1200" dirty="0">
            <a:latin typeface="微软雅黑" panose="020B0503020204020204" pitchFamily="34" charset="-122"/>
            <a:ea typeface="微软雅黑" panose="020B0503020204020204" pitchFamily="34" charset="-122"/>
          </a:endParaRPr>
        </a:p>
      </dsp:txBody>
      <dsp:txXfrm rot="-5400000">
        <a:off x="1331931" y="1966638"/>
        <a:ext cx="634888" cy="729758"/>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5FE49D-F768-452D-A9A2-52FCD77827E0}">
      <dsp:nvSpPr>
        <dsp:cNvPr id="0" name=""/>
        <dsp:cNvSpPr/>
      </dsp:nvSpPr>
      <dsp:spPr>
        <a:xfrm>
          <a:off x="0" y="4659"/>
          <a:ext cx="6520872" cy="484612"/>
        </a:xfrm>
        <a:prstGeom prst="round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关于“最佳路由”</a:t>
          </a:r>
        </a:p>
      </dsp:txBody>
      <dsp:txXfrm>
        <a:off x="23657" y="28316"/>
        <a:ext cx="6473558" cy="437298"/>
      </dsp:txXfrm>
    </dsp:sp>
    <dsp:sp modelId="{CCA9AB54-F7DF-42DA-BB14-49BA708108B7}">
      <dsp:nvSpPr>
        <dsp:cNvPr id="0" name=""/>
        <dsp:cNvSpPr/>
      </dsp:nvSpPr>
      <dsp:spPr>
        <a:xfrm>
          <a:off x="0" y="489272"/>
          <a:ext cx="6520872" cy="11954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不存在一种绝对的最佳路由算法。</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所谓“最佳”只能是相对于某一种特定要求下得出的较为合理的选择而已。</a:t>
          </a:r>
        </a:p>
      </dsp:txBody>
      <dsp:txXfrm>
        <a:off x="0" y="489272"/>
        <a:ext cx="6520872" cy="1195424"/>
      </dsp:txXfrm>
    </dsp:sp>
    <dsp:sp modelId="{EDCCA3B5-69A3-4D4F-933E-C980F139D5CE}">
      <dsp:nvSpPr>
        <dsp:cNvPr id="0" name=""/>
        <dsp:cNvSpPr/>
      </dsp:nvSpPr>
      <dsp:spPr>
        <a:xfrm>
          <a:off x="0" y="1684697"/>
          <a:ext cx="6520872" cy="484612"/>
        </a:xfrm>
        <a:prstGeom prst="round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solidFill>
                <a:srgbClr val="000099"/>
              </a:solidFill>
              <a:latin typeface="微软雅黑" panose="020B0503020204020204" pitchFamily="34" charset="-122"/>
              <a:ea typeface="微软雅黑" panose="020B0503020204020204" pitchFamily="34" charset="-122"/>
            </a:rPr>
            <a:t>路由选择非常复杂</a:t>
          </a:r>
        </a:p>
      </dsp:txBody>
      <dsp:txXfrm>
        <a:off x="23657" y="1708354"/>
        <a:ext cx="6473558" cy="437298"/>
      </dsp:txXfrm>
    </dsp:sp>
    <dsp:sp modelId="{7CB622EB-CFF9-4CEF-9C62-0D3FB7B9D848}">
      <dsp:nvSpPr>
        <dsp:cNvPr id="0" name=""/>
        <dsp:cNvSpPr/>
      </dsp:nvSpPr>
      <dsp:spPr>
        <a:xfrm>
          <a:off x="0" y="2169309"/>
          <a:ext cx="6520872" cy="13041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需要所有节点共同协调工作的。</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环境不断变化，而这种变化有时无法事先知道。</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当网络发生拥塞时，很难获得所需的路由选择信息。</a:t>
          </a:r>
        </a:p>
      </dsp:txBody>
      <dsp:txXfrm>
        <a:off x="0" y="2169309"/>
        <a:ext cx="6520872" cy="130410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2228"/>
          <a:ext cx="3480866" cy="633600"/>
        </a:xfrm>
        <a:prstGeom prst="rect">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静态路由选择策略</a:t>
          </a:r>
        </a:p>
      </dsp:txBody>
      <dsp:txXfrm>
        <a:off x="36" y="2228"/>
        <a:ext cx="3480866" cy="633600"/>
      </dsp:txXfrm>
    </dsp:sp>
    <dsp:sp modelId="{19FF7ECD-B0E8-443E-8703-812623A25DE9}">
      <dsp:nvSpPr>
        <dsp:cNvPr id="0" name=""/>
        <dsp:cNvSpPr/>
      </dsp:nvSpPr>
      <dsp:spPr>
        <a:xfrm>
          <a:off x="36" y="635828"/>
          <a:ext cx="3480866" cy="1449360"/>
        </a:xfrm>
        <a:prstGeom prst="rect">
          <a:avLst/>
        </a:prstGeom>
        <a:solidFill>
          <a:schemeClr val="accent4">
            <a:tint val="40000"/>
            <a:alpha val="90000"/>
            <a:hueOff val="0"/>
            <a:satOff val="0"/>
            <a:lumOff val="0"/>
            <a:alphaOff val="0"/>
          </a:schemeClr>
        </a:solidFill>
        <a:ln w="25400" cap="flat" cmpd="sng" algn="ctr">
          <a:solidFill>
            <a:schemeClr val="accent4">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非自适应路由选择；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不能及时适应网络状态的变化；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简单，开销较小。 </a:t>
          </a:r>
        </a:p>
      </dsp:txBody>
      <dsp:txXfrm>
        <a:off x="36" y="635828"/>
        <a:ext cx="3480866" cy="1449360"/>
      </dsp:txXfrm>
    </dsp:sp>
    <dsp:sp modelId="{2075194E-504D-46FF-9735-28FB3A1952A0}">
      <dsp:nvSpPr>
        <dsp:cNvPr id="0" name=""/>
        <dsp:cNvSpPr/>
      </dsp:nvSpPr>
      <dsp:spPr>
        <a:xfrm>
          <a:off x="3968224" y="2228"/>
          <a:ext cx="3480866" cy="633600"/>
        </a:xfrm>
        <a:prstGeom prst="rect">
          <a:avLst/>
        </a:prstGeom>
        <a:solidFill>
          <a:schemeClr val="accent4">
            <a:hueOff val="-4464770"/>
            <a:satOff val="26899"/>
            <a:lumOff val="2156"/>
            <a:alphaOff val="0"/>
          </a:schemeClr>
        </a:solidFill>
        <a:ln w="25400" cap="flat" cmpd="sng" algn="ctr">
          <a:solidFill>
            <a:schemeClr val="accent4">
              <a:hueOff val="-4464770"/>
              <a:satOff val="26899"/>
              <a:lumOff val="2156"/>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动态路由选择策略</a:t>
          </a:r>
        </a:p>
      </dsp:txBody>
      <dsp:txXfrm>
        <a:off x="3968224" y="2228"/>
        <a:ext cx="3480866" cy="633600"/>
      </dsp:txXfrm>
    </dsp:sp>
    <dsp:sp modelId="{4CDFFC38-F27C-472E-A2F4-B6BCE3ADBC7B}">
      <dsp:nvSpPr>
        <dsp:cNvPr id="0" name=""/>
        <dsp:cNvSpPr/>
      </dsp:nvSpPr>
      <dsp:spPr>
        <a:xfrm>
          <a:off x="3968224" y="635828"/>
          <a:ext cx="3480866" cy="1449360"/>
        </a:xfrm>
        <a:prstGeom prst="rect">
          <a:avLst/>
        </a:prstGeom>
        <a:solidFill>
          <a:schemeClr val="accent4">
            <a:tint val="40000"/>
            <a:alpha val="90000"/>
            <a:hueOff val="-3945710"/>
            <a:satOff val="22157"/>
            <a:lumOff val="1408"/>
            <a:alphaOff val="0"/>
          </a:schemeClr>
        </a:solidFill>
        <a:ln w="25400" cap="flat" cmpd="sng" algn="ctr">
          <a:solidFill>
            <a:schemeClr val="accent4">
              <a:tint val="40000"/>
              <a:alpha val="90000"/>
              <a:hueOff val="-3945710"/>
              <a:satOff val="22157"/>
              <a:lumOff val="140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能较好地适应网络状态的变化；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实现较为复杂，开销较大。 </a:t>
          </a:r>
        </a:p>
      </dsp:txBody>
      <dsp:txXfrm>
        <a:off x="3968224" y="635828"/>
        <a:ext cx="3480866" cy="144936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10305"/>
          <a:ext cx="3480866" cy="1008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内部网关协议 </a:t>
          </a:r>
          <a:r>
            <a:rPr lang="en-US" altLang="en-US" sz="2000" b="1" kern="1200" dirty="0">
              <a:latin typeface="微软雅黑" panose="020B0503020204020204" pitchFamily="34" charset="-122"/>
              <a:ea typeface="微软雅黑" panose="020B0503020204020204" pitchFamily="34" charset="-122"/>
            </a:rPr>
            <a:t>IGP </a:t>
          </a:r>
          <a:endParaRPr lang="zh-CN" altLang="en-US" sz="2000" b="1" kern="1200" dirty="0">
            <a:latin typeface="微软雅黑" panose="020B0503020204020204" pitchFamily="34" charset="-122"/>
            <a:ea typeface="微软雅黑" panose="020B0503020204020204" pitchFamily="34" charset="-122"/>
          </a:endParaRPr>
        </a:p>
      </dsp:txBody>
      <dsp:txXfrm>
        <a:off x="36" y="10305"/>
        <a:ext cx="3480866" cy="1008000"/>
      </dsp:txXfrm>
    </dsp:sp>
    <dsp:sp modelId="{19FF7ECD-B0E8-443E-8703-812623A25DE9}">
      <dsp:nvSpPr>
        <dsp:cNvPr id="0" name=""/>
        <dsp:cNvSpPr/>
      </dsp:nvSpPr>
      <dsp:spPr>
        <a:xfrm>
          <a:off x="36" y="1018305"/>
          <a:ext cx="3480866" cy="1825425"/>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Interior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在一个自治系统内部使用的路由选择协议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常用：</a:t>
          </a:r>
          <a:r>
            <a:rPr lang="en-US" altLang="en-US" sz="1800" b="1" kern="1200" dirty="0">
              <a:latin typeface="微软雅黑" panose="020B0503020204020204" pitchFamily="34" charset="-122"/>
              <a:ea typeface="微软雅黑" panose="020B0503020204020204" pitchFamily="34" charset="-122"/>
            </a:rPr>
            <a:t>RIP</a:t>
          </a:r>
          <a:r>
            <a:rPr lang="zh-CN" altLang="en-US" sz="1800" b="1" kern="1200" dirty="0">
              <a:latin typeface="微软雅黑" panose="020B0503020204020204" pitchFamily="34" charset="-122"/>
              <a:ea typeface="微软雅黑" panose="020B0503020204020204" pitchFamily="34" charset="-122"/>
            </a:rPr>
            <a:t>，</a:t>
          </a:r>
          <a:r>
            <a:rPr lang="en-US" altLang="en-US" sz="1800" b="1" kern="1200" dirty="0">
              <a:latin typeface="微软雅黑" panose="020B0503020204020204" pitchFamily="34" charset="-122"/>
              <a:ea typeface="微软雅黑" panose="020B0503020204020204" pitchFamily="34" charset="-122"/>
            </a:rPr>
            <a:t>OSPF</a:t>
          </a:r>
          <a:endParaRPr lang="zh-CN" altLang="en-US" sz="1800" b="1" kern="1200" dirty="0">
            <a:latin typeface="微软雅黑" panose="020B0503020204020204" pitchFamily="34" charset="-122"/>
            <a:ea typeface="微软雅黑" panose="020B0503020204020204" pitchFamily="34" charset="-122"/>
          </a:endParaRPr>
        </a:p>
      </dsp:txBody>
      <dsp:txXfrm>
        <a:off x="36" y="1018305"/>
        <a:ext cx="3480866" cy="1825425"/>
      </dsp:txXfrm>
    </dsp:sp>
    <dsp:sp modelId="{2075194E-504D-46FF-9735-28FB3A1952A0}">
      <dsp:nvSpPr>
        <dsp:cNvPr id="0" name=""/>
        <dsp:cNvSpPr/>
      </dsp:nvSpPr>
      <dsp:spPr>
        <a:xfrm>
          <a:off x="3968224" y="10305"/>
          <a:ext cx="3480866" cy="10080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solidFill>
                <a:srgbClr val="0000FF"/>
              </a:solidFill>
              <a:latin typeface="微软雅黑" panose="020B0503020204020204" pitchFamily="34" charset="-122"/>
              <a:ea typeface="微软雅黑" panose="020B0503020204020204" pitchFamily="34" charset="-122"/>
            </a:rPr>
            <a:t>外部网关协议 </a:t>
          </a:r>
          <a:r>
            <a:rPr lang="en-US" altLang="en-US" sz="2000" b="1" kern="1200" dirty="0">
              <a:solidFill>
                <a:srgbClr val="0000FF"/>
              </a:solidFill>
              <a:latin typeface="微软雅黑" panose="020B0503020204020204" pitchFamily="34" charset="-122"/>
              <a:ea typeface="微软雅黑" panose="020B0503020204020204" pitchFamily="34" charset="-122"/>
            </a:rPr>
            <a:t>EGP </a:t>
          </a:r>
          <a:endParaRPr lang="zh-CN" altLang="en-US" sz="2000" b="1" kern="1200" dirty="0">
            <a:solidFill>
              <a:srgbClr val="0000FF"/>
            </a:solidFill>
            <a:latin typeface="微软雅黑" panose="020B0503020204020204" pitchFamily="34" charset="-122"/>
            <a:ea typeface="微软雅黑" panose="020B0503020204020204" pitchFamily="34" charset="-122"/>
          </a:endParaRPr>
        </a:p>
      </dsp:txBody>
      <dsp:txXfrm>
        <a:off x="3968224" y="10305"/>
        <a:ext cx="3480866" cy="1008000"/>
      </dsp:txXfrm>
    </dsp:sp>
    <dsp:sp modelId="{4CDFFC38-F27C-472E-A2F4-B6BCE3ADBC7B}">
      <dsp:nvSpPr>
        <dsp:cNvPr id="0" name=""/>
        <dsp:cNvSpPr/>
      </dsp:nvSpPr>
      <dsp:spPr>
        <a:xfrm>
          <a:off x="3968224" y="1018305"/>
          <a:ext cx="3480866" cy="1825425"/>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External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在不同自治系统之间进行路由选择时使用的协议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使用最多：</a:t>
          </a:r>
          <a:r>
            <a:rPr lang="en-US" altLang="en-US" sz="1800" b="1" kern="1200" dirty="0">
              <a:latin typeface="微软雅黑" panose="020B0503020204020204" pitchFamily="34" charset="-122"/>
              <a:ea typeface="微软雅黑" panose="020B0503020204020204" pitchFamily="34" charset="-122"/>
            </a:rPr>
            <a:t>BGP-4</a:t>
          </a:r>
          <a:endParaRPr lang="zh-CN" altLang="en-US" sz="1800" b="1" kern="1200" dirty="0">
            <a:latin typeface="微软雅黑" panose="020B0503020204020204" pitchFamily="34" charset="-122"/>
            <a:ea typeface="微软雅黑" panose="020B0503020204020204" pitchFamily="34" charset="-122"/>
          </a:endParaRPr>
        </a:p>
      </dsp:txBody>
      <dsp:txXfrm>
        <a:off x="3968224" y="1018305"/>
        <a:ext cx="3480866" cy="1825425"/>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7CCF3B-B980-4744-A098-51E164BAF300}">
      <dsp:nvSpPr>
        <dsp:cNvPr id="0" name=""/>
        <dsp:cNvSpPr/>
      </dsp:nvSpPr>
      <dsp:spPr>
        <a:xfrm rot="5400000">
          <a:off x="-139479" y="143104"/>
          <a:ext cx="929862" cy="650903"/>
        </a:xfrm>
        <a:prstGeom prst="chevron">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1</a:t>
          </a:r>
          <a:endParaRPr lang="zh-CN" altLang="en-US" sz="1600" b="0" kern="1200" dirty="0">
            <a:latin typeface="微软雅黑" panose="020B0503020204020204" pitchFamily="34" charset="-122"/>
            <a:ea typeface="微软雅黑" panose="020B0503020204020204" pitchFamily="34" charset="-122"/>
          </a:endParaRPr>
        </a:p>
      </dsp:txBody>
      <dsp:txXfrm rot="-5400000">
        <a:off x="1" y="329077"/>
        <a:ext cx="650903" cy="278959"/>
      </dsp:txXfrm>
    </dsp:sp>
    <dsp:sp modelId="{967F5469-8640-4696-BE0A-D179F4D13586}">
      <dsp:nvSpPr>
        <dsp:cNvPr id="0" name=""/>
        <dsp:cNvSpPr/>
      </dsp:nvSpPr>
      <dsp:spPr>
        <a:xfrm rot="5400000">
          <a:off x="3454396" y="-2799867"/>
          <a:ext cx="604728" cy="6211714"/>
        </a:xfrm>
        <a:prstGeom prst="round2Same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latin typeface="Montserrat" panose="00000500000000000000" pitchFamily="2" charset="0"/>
              <a:ea typeface="微软雅黑 Light" panose="020B0502040204020203" pitchFamily="34" charset="-122"/>
            </a:rPr>
            <a:t>本地偏好 </a:t>
          </a:r>
          <a:r>
            <a:rPr lang="en-US" altLang="en-US" sz="1600" b="0" kern="1200" baseline="0" dirty="0">
              <a:latin typeface="Montserrat" panose="00000500000000000000" pitchFamily="2" charset="0"/>
              <a:ea typeface="微软雅黑 Light" panose="020B0502040204020203" pitchFamily="34" charset="-122"/>
            </a:rPr>
            <a:t>(local preference) </a:t>
          </a:r>
          <a:r>
            <a:rPr lang="zh-CN" altLang="en-US" sz="1600" b="0" kern="1200" baseline="0" dirty="0">
              <a:latin typeface="Montserrat" panose="00000500000000000000" pitchFamily="2" charset="0"/>
              <a:ea typeface="微软雅黑 Light" panose="020B0502040204020203" pitchFamily="34" charset="-122"/>
            </a:rPr>
            <a:t>值最高的路由 （默认值</a:t>
          </a:r>
          <a:r>
            <a:rPr lang="en-US" altLang="zh-CN" sz="1600" b="0" kern="1200" baseline="0" dirty="0">
              <a:latin typeface="Montserrat" panose="00000500000000000000" pitchFamily="2" charset="0"/>
              <a:ea typeface="微软雅黑 Light" panose="020B0502040204020203" pitchFamily="34" charset="-122"/>
            </a:rPr>
            <a:t>=</a:t>
          </a:r>
          <a:r>
            <a:rPr lang="en-US" altLang="en-US" sz="1600" b="0" kern="1200" baseline="0" dirty="0">
              <a:latin typeface="Montserrat" panose="00000500000000000000" pitchFamily="2" charset="0"/>
              <a:ea typeface="微软雅黑 Light" panose="020B0502040204020203" pitchFamily="34" charset="-122"/>
            </a:rPr>
            <a:t>100</a:t>
          </a:r>
          <a:r>
            <a:rPr lang="zh-CN" altLang="en-US" sz="1600" b="0" kern="1200" baseline="0" dirty="0">
              <a:latin typeface="Montserrat" panose="00000500000000000000" pitchFamily="2" charset="0"/>
              <a:ea typeface="微软雅黑 Light" panose="020B0502040204020203" pitchFamily="34" charset="-122"/>
            </a:rPr>
            <a:t>）</a:t>
          </a:r>
        </a:p>
      </dsp:txBody>
      <dsp:txXfrm rot="-5400000">
        <a:off x="650903" y="33146"/>
        <a:ext cx="6182194" cy="545688"/>
      </dsp:txXfrm>
    </dsp:sp>
    <dsp:sp modelId="{1C1FCDAF-0D65-4A39-A0AC-A9D03E334517}">
      <dsp:nvSpPr>
        <dsp:cNvPr id="0" name=""/>
        <dsp:cNvSpPr/>
      </dsp:nvSpPr>
      <dsp:spPr>
        <a:xfrm rot="5400000">
          <a:off x="-139479" y="920625"/>
          <a:ext cx="929862" cy="650903"/>
        </a:xfrm>
        <a:prstGeom prst="chevron">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2</a:t>
          </a:r>
          <a:endParaRPr lang="zh-CN" altLang="en-US" sz="1600" b="0" kern="1200" dirty="0">
            <a:latin typeface="微软雅黑" panose="020B0503020204020204" pitchFamily="34" charset="-122"/>
            <a:ea typeface="微软雅黑" panose="020B0503020204020204" pitchFamily="34" charset="-122"/>
          </a:endParaRPr>
        </a:p>
      </dsp:txBody>
      <dsp:txXfrm rot="-5400000">
        <a:off x="1" y="1106598"/>
        <a:ext cx="650903" cy="278959"/>
      </dsp:txXfrm>
    </dsp:sp>
    <dsp:sp modelId="{7FDDCB89-19F3-4537-A956-66DB05444287}">
      <dsp:nvSpPr>
        <dsp:cNvPr id="0" name=""/>
        <dsp:cNvSpPr/>
      </dsp:nvSpPr>
      <dsp:spPr>
        <a:xfrm rot="5400000">
          <a:off x="3454555" y="-2022505"/>
          <a:ext cx="604410" cy="6211714"/>
        </a:xfrm>
        <a:prstGeom prst="round2Same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跳数最小的路由</a:t>
          </a:r>
        </a:p>
      </dsp:txBody>
      <dsp:txXfrm rot="-5400000">
        <a:off x="650904" y="810651"/>
        <a:ext cx="6182209" cy="545400"/>
      </dsp:txXfrm>
    </dsp:sp>
    <dsp:sp modelId="{061776BC-E55D-472E-AA38-6C4CA9431466}">
      <dsp:nvSpPr>
        <dsp:cNvPr id="0" name=""/>
        <dsp:cNvSpPr/>
      </dsp:nvSpPr>
      <dsp:spPr>
        <a:xfrm rot="5400000">
          <a:off x="-139479" y="1698145"/>
          <a:ext cx="929862" cy="650903"/>
        </a:xfrm>
        <a:prstGeom prst="chevron">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3</a:t>
          </a:r>
          <a:endParaRPr lang="zh-CN" altLang="en-US" sz="1600" b="0" kern="1200" dirty="0">
            <a:latin typeface="微软雅黑" panose="020B0503020204020204" pitchFamily="34" charset="-122"/>
            <a:ea typeface="微软雅黑" panose="020B0503020204020204" pitchFamily="34" charset="-122"/>
          </a:endParaRPr>
        </a:p>
      </dsp:txBody>
      <dsp:txXfrm rot="-5400000">
        <a:off x="1" y="1884118"/>
        <a:ext cx="650903" cy="278959"/>
      </dsp:txXfrm>
    </dsp:sp>
    <dsp:sp modelId="{24E43028-DB82-414F-9136-AA94D471AC5C}">
      <dsp:nvSpPr>
        <dsp:cNvPr id="0" name=""/>
        <dsp:cNvSpPr/>
      </dsp:nvSpPr>
      <dsp:spPr>
        <a:xfrm rot="5400000">
          <a:off x="3454555" y="-1244985"/>
          <a:ext cx="604410" cy="6211714"/>
        </a:xfrm>
        <a:prstGeom prst="round2SameRect">
          <a:avLst/>
        </a:prstGeom>
        <a:solidFill>
          <a:schemeClr val="lt1">
            <a:alpha val="90000"/>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使用热土豆路由选择算法（分组在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内的转发次数最少）</a:t>
          </a:r>
        </a:p>
      </dsp:txBody>
      <dsp:txXfrm rot="-5400000">
        <a:off x="650904" y="1588171"/>
        <a:ext cx="6182209" cy="545400"/>
      </dsp:txXfrm>
    </dsp:sp>
    <dsp:sp modelId="{AC9695CB-865B-4694-A98D-9F8EAB741670}">
      <dsp:nvSpPr>
        <dsp:cNvPr id="0" name=""/>
        <dsp:cNvSpPr/>
      </dsp:nvSpPr>
      <dsp:spPr>
        <a:xfrm rot="5400000">
          <a:off x="-139479" y="2475666"/>
          <a:ext cx="929862" cy="650903"/>
        </a:xfrm>
        <a:prstGeom prst="chevron">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4</a:t>
          </a:r>
          <a:endParaRPr lang="zh-CN" altLang="en-US" sz="1600" b="0" kern="1200" dirty="0">
            <a:latin typeface="微软雅黑" panose="020B0503020204020204" pitchFamily="34" charset="-122"/>
            <a:ea typeface="微软雅黑" panose="020B0503020204020204" pitchFamily="34" charset="-122"/>
          </a:endParaRPr>
        </a:p>
      </dsp:txBody>
      <dsp:txXfrm rot="-5400000">
        <a:off x="1" y="2661639"/>
        <a:ext cx="650903" cy="278959"/>
      </dsp:txXfrm>
    </dsp:sp>
    <dsp:sp modelId="{0B7E51AB-E203-4D88-91EC-23BBEBF68989}">
      <dsp:nvSpPr>
        <dsp:cNvPr id="0" name=""/>
        <dsp:cNvSpPr/>
      </dsp:nvSpPr>
      <dsp:spPr>
        <a:xfrm rot="5400000">
          <a:off x="3454555" y="-467464"/>
          <a:ext cx="604410" cy="6211714"/>
        </a:xfrm>
        <a:prstGeom prst="round2SameRect">
          <a:avLst/>
        </a:prstGeom>
        <a:solidFill>
          <a:schemeClr val="lt1">
            <a:alpha val="90000"/>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路由器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数值最小的路由。具有多个接口的路由器有多个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就使用该路由器的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地址中数值最大的一个</a:t>
          </a:r>
        </a:p>
      </dsp:txBody>
      <dsp:txXfrm rot="-5400000">
        <a:off x="650904" y="2365692"/>
        <a:ext cx="6182209" cy="545400"/>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6CEFA23-1767-4D57-91F8-8F65E8ACFD37}">
      <dsp:nvSpPr>
        <dsp:cNvPr id="0" name=""/>
        <dsp:cNvSpPr/>
      </dsp:nvSpPr>
      <dsp:spPr>
        <a:xfrm rot="10800000">
          <a:off x="1775760" y="307"/>
          <a:ext cx="6336690" cy="718708"/>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0" kern="1200" dirty="0">
              <a:latin typeface="微软雅黑" panose="020B0503020204020204" pitchFamily="34" charset="-122"/>
              <a:ea typeface="微软雅黑" panose="020B0503020204020204" pitchFamily="34" charset="-122"/>
            </a:rPr>
            <a:t>划分 </a:t>
          </a: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的方法不受限制，由网络管理员来控制。</a:t>
          </a:r>
        </a:p>
      </dsp:txBody>
      <dsp:txXfrm rot="10800000">
        <a:off x="1955437" y="307"/>
        <a:ext cx="6157013" cy="718708"/>
      </dsp:txXfrm>
    </dsp:sp>
    <dsp:sp modelId="{F63A45BE-87F8-4243-8A28-A9B96E270ED4}">
      <dsp:nvSpPr>
        <dsp:cNvPr id="0" name=""/>
        <dsp:cNvSpPr/>
      </dsp:nvSpPr>
      <dsp:spPr>
        <a:xfrm>
          <a:off x="1416406" y="307"/>
          <a:ext cx="718708" cy="718708"/>
        </a:xfrm>
        <a:prstGeom prst="ellipse">
          <a:avLst/>
        </a:prstGeom>
        <a:solidFill>
          <a:schemeClr val="accent2">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8C0456F-D6DF-4746-9CD6-A09A4CCC1C0D}">
      <dsp:nvSpPr>
        <dsp:cNvPr id="0" name=""/>
        <dsp:cNvSpPr/>
      </dsp:nvSpPr>
      <dsp:spPr>
        <a:xfrm rot="10800000">
          <a:off x="1775760" y="898692"/>
          <a:ext cx="6336690" cy="718708"/>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0" kern="1200" dirty="0">
              <a:latin typeface="微软雅黑" panose="020B0503020204020204" pitchFamily="34" charset="-122"/>
              <a:ea typeface="微软雅黑" panose="020B0503020204020204" pitchFamily="34" charset="-122"/>
            </a:rPr>
            <a:t>入口节点并不是给每一个 </a:t>
          </a:r>
          <a:r>
            <a:rPr lang="en-US" altLang="en-US" sz="1600" b="0" kern="1200" dirty="0">
              <a:latin typeface="微软雅黑" panose="020B0503020204020204" pitchFamily="34" charset="-122"/>
              <a:ea typeface="微软雅黑" panose="020B0503020204020204" pitchFamily="34" charset="-122"/>
            </a:rPr>
            <a:t>IP </a:t>
          </a:r>
          <a:r>
            <a:rPr lang="zh-CN" altLang="en-US" sz="1600" b="0" kern="1200" dirty="0">
              <a:latin typeface="微软雅黑" panose="020B0503020204020204" pitchFamily="34" charset="-122"/>
              <a:ea typeface="微软雅黑" panose="020B0503020204020204" pitchFamily="34" charset="-122"/>
            </a:rPr>
            <a:t>数据报指派一个不同的标签，而是将属于同样 </a:t>
          </a: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的 </a:t>
          </a:r>
          <a:r>
            <a:rPr lang="en-US" altLang="en-US" sz="1600" b="0" kern="1200" dirty="0">
              <a:latin typeface="微软雅黑" panose="020B0503020204020204" pitchFamily="34" charset="-122"/>
              <a:ea typeface="微软雅黑" panose="020B0503020204020204" pitchFamily="34" charset="-122"/>
            </a:rPr>
            <a:t>IP </a:t>
          </a:r>
          <a:r>
            <a:rPr lang="zh-CN" altLang="en-US" sz="1600" b="0" kern="1200" dirty="0">
              <a:latin typeface="微软雅黑" panose="020B0503020204020204" pitchFamily="34" charset="-122"/>
              <a:ea typeface="微软雅黑" panose="020B0503020204020204" pitchFamily="34" charset="-122"/>
            </a:rPr>
            <a:t>数据报都指派同样的标签。</a:t>
          </a:r>
        </a:p>
      </dsp:txBody>
      <dsp:txXfrm rot="10800000">
        <a:off x="1955437" y="898692"/>
        <a:ext cx="6157013" cy="718708"/>
      </dsp:txXfrm>
    </dsp:sp>
    <dsp:sp modelId="{FCC1DF99-0F26-4341-896E-169B093FC04C}">
      <dsp:nvSpPr>
        <dsp:cNvPr id="0" name=""/>
        <dsp:cNvSpPr/>
      </dsp:nvSpPr>
      <dsp:spPr>
        <a:xfrm>
          <a:off x="1416406" y="898692"/>
          <a:ext cx="718708" cy="718708"/>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B8D19E8-A42A-42E7-B42A-280A0B9EB13B}">
      <dsp:nvSpPr>
        <dsp:cNvPr id="0" name=""/>
        <dsp:cNvSpPr/>
      </dsp:nvSpPr>
      <dsp:spPr>
        <a:xfrm rot="10800000">
          <a:off x="1775760" y="1797078"/>
          <a:ext cx="6336690" cy="718708"/>
        </a:xfrm>
        <a:prstGeom prst="homePlate">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和标签是一一对应的关系。</a:t>
          </a:r>
        </a:p>
      </dsp:txBody>
      <dsp:txXfrm rot="10800000">
        <a:off x="1955437" y="1797078"/>
        <a:ext cx="6157013" cy="718708"/>
      </dsp:txXfrm>
    </dsp:sp>
    <dsp:sp modelId="{6B868C05-F9BC-41B1-B7D8-606E2302DF2B}">
      <dsp:nvSpPr>
        <dsp:cNvPr id="0" name=""/>
        <dsp:cNvSpPr/>
      </dsp:nvSpPr>
      <dsp:spPr>
        <a:xfrm>
          <a:off x="1416406" y="1797078"/>
          <a:ext cx="718708" cy="718708"/>
        </a:xfrm>
        <a:prstGeom prst="ellipse">
          <a:avLst/>
        </a:prstGeom>
        <a:solidFill>
          <a:schemeClr val="accent4">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9A3D657-23B2-4553-AB55-365AF4AD92FC}">
      <dsp:nvSpPr>
        <dsp:cNvPr id="0" name=""/>
        <dsp:cNvSpPr/>
      </dsp:nvSpPr>
      <dsp:spPr>
        <a:xfrm>
          <a:off x="0" y="259779"/>
          <a:ext cx="5105643" cy="1499400"/>
        </a:xfrm>
        <a:prstGeom prst="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是一个</a:t>
          </a:r>
          <a:r>
            <a:rPr lang="zh-CN" altLang="en-US" sz="1400" b="0" kern="1200" dirty="0">
              <a:solidFill>
                <a:srgbClr val="C00000"/>
              </a:solidFill>
              <a:latin typeface="微软雅黑" panose="020B0503020204020204" pitchFamily="34" charset="-122"/>
              <a:ea typeface="微软雅黑" panose="020B0503020204020204" pitchFamily="34" charset="-122"/>
            </a:rPr>
            <a:t>体系结构，</a:t>
          </a:r>
          <a:r>
            <a:rPr lang="zh-CN" altLang="en-US" sz="1400" b="0" kern="1200" dirty="0">
              <a:latin typeface="微软雅黑" panose="020B0503020204020204" pitchFamily="34" charset="-122"/>
              <a:ea typeface="微软雅黑" panose="020B0503020204020204" pitchFamily="34" charset="-122"/>
            </a:rPr>
            <a:t>是一种设计、构建和管理网络的新方法或新概念。</a:t>
          </a:r>
        </a:p>
        <a:p>
          <a:pPr marL="114300" lvl="1" indent="-114300" algn="l" defTabSz="622300">
            <a:lnSpc>
              <a:spcPct val="90000"/>
            </a:lnSpc>
            <a:spcBef>
              <a:spcPct val="0"/>
            </a:spcBef>
            <a:spcAft>
              <a:spcPts val="0"/>
            </a:spcAft>
            <a:buChar char="•"/>
          </a:pPr>
          <a:r>
            <a:rPr lang="zh-CN" altLang="en-US" sz="1400" b="0" kern="1200" dirty="0">
              <a:solidFill>
                <a:schemeClr val="tx1"/>
              </a:solidFill>
              <a:latin typeface="微软雅黑" panose="020B0503020204020204" pitchFamily="34" charset="-122"/>
              <a:ea typeface="微软雅黑" panose="020B0503020204020204" pitchFamily="34" charset="-122"/>
            </a:rPr>
            <a:t>把</a:t>
          </a:r>
          <a:r>
            <a:rPr lang="zh-CN" altLang="en-US" sz="1400" b="0" kern="1200" dirty="0">
              <a:solidFill>
                <a:srgbClr val="0000FF"/>
              </a:solidFill>
              <a:latin typeface="微软雅黑" panose="020B0503020204020204" pitchFamily="34" charset="-122"/>
              <a:ea typeface="微软雅黑" panose="020B0503020204020204" pitchFamily="34" charset="-122"/>
            </a:rPr>
            <a:t>控制层面</a:t>
          </a:r>
          <a:r>
            <a:rPr lang="zh-CN" altLang="en-US" sz="1400" b="0" kern="1200" dirty="0">
              <a:solidFill>
                <a:schemeClr val="tx1"/>
              </a:solidFill>
              <a:latin typeface="微软雅黑" panose="020B0503020204020204" pitchFamily="34" charset="-122"/>
              <a:ea typeface="微软雅黑" panose="020B0503020204020204" pitchFamily="34" charset="-122"/>
            </a:rPr>
            <a:t>和</a:t>
          </a:r>
          <a:r>
            <a:rPr lang="zh-CN" altLang="en-US" sz="1400" b="0" kern="1200" dirty="0">
              <a:solidFill>
                <a:srgbClr val="0000FF"/>
              </a:solidFill>
              <a:latin typeface="微软雅黑" panose="020B0503020204020204" pitchFamily="34" charset="-122"/>
              <a:ea typeface="微软雅黑" panose="020B0503020204020204" pitchFamily="34" charset="-122"/>
            </a:rPr>
            <a:t>数据层面</a:t>
          </a:r>
          <a:r>
            <a:rPr lang="zh-CN" altLang="en-US" sz="1400" b="0" kern="1200" dirty="0">
              <a:solidFill>
                <a:srgbClr val="C00000"/>
              </a:solidFill>
              <a:latin typeface="微软雅黑" panose="020B0503020204020204" pitchFamily="34" charset="-122"/>
              <a:ea typeface="微软雅黑" panose="020B0503020204020204" pitchFamily="34" charset="-122"/>
            </a:rPr>
            <a:t>分离，</a:t>
          </a:r>
          <a:r>
            <a:rPr lang="zh-CN" altLang="en-US" sz="1400" b="0" kern="1200" dirty="0">
              <a:latin typeface="微软雅黑" panose="020B0503020204020204" pitchFamily="34" charset="-122"/>
              <a:ea typeface="微软雅黑" panose="020B0503020204020204" pitchFamily="34" charset="-122"/>
            </a:rPr>
            <a:t>而让控制层面</a:t>
          </a:r>
          <a:r>
            <a:rPr lang="zh-CN" altLang="en-US" sz="1400" b="0" kern="1200" dirty="0">
              <a:solidFill>
                <a:srgbClr val="C00000"/>
              </a:solidFill>
              <a:latin typeface="微软雅黑" panose="020B0503020204020204" pitchFamily="34" charset="-122"/>
              <a:ea typeface="微软雅黑" panose="020B0503020204020204" pitchFamily="34" charset="-122"/>
            </a:rPr>
            <a:t>利用软件</a:t>
          </a:r>
          <a:r>
            <a:rPr lang="zh-CN" altLang="en-US" sz="1400" b="0" kern="1200" dirty="0">
              <a:solidFill>
                <a:srgbClr val="0000FF"/>
              </a:solidFill>
              <a:latin typeface="微软雅黑" panose="020B0503020204020204" pitchFamily="34" charset="-122"/>
              <a:ea typeface="微软雅黑" panose="020B0503020204020204" pitchFamily="34" charset="-122"/>
            </a:rPr>
            <a:t>控制</a:t>
          </a:r>
          <a:r>
            <a:rPr lang="zh-CN" altLang="en-US" sz="1400" b="0" kern="1200" dirty="0">
              <a:latin typeface="微软雅黑" panose="020B0503020204020204" pitchFamily="34" charset="-122"/>
              <a:ea typeface="微软雅黑" panose="020B0503020204020204" pitchFamily="34" charset="-122"/>
            </a:rPr>
            <a:t>数据层面中的许多设备。</a:t>
          </a:r>
        </a:p>
      </dsp:txBody>
      <dsp:txXfrm>
        <a:off x="0" y="259779"/>
        <a:ext cx="5105643" cy="1499400"/>
      </dsp:txXfrm>
    </dsp:sp>
    <dsp:sp modelId="{08B5982C-5C29-4138-B12D-B1193F279CC1}">
      <dsp:nvSpPr>
        <dsp:cNvPr id="0" name=""/>
        <dsp:cNvSpPr/>
      </dsp:nvSpPr>
      <dsp:spPr>
        <a:xfrm>
          <a:off x="255282" y="53139"/>
          <a:ext cx="3573950" cy="413280"/>
        </a:xfrm>
        <a:prstGeom prst="round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en-US" sz="1800" b="1" kern="1200" dirty="0">
              <a:solidFill>
                <a:schemeClr val="bg1"/>
              </a:solidFill>
              <a:latin typeface="微软雅黑" panose="020B0503020204020204" pitchFamily="34" charset="-122"/>
              <a:ea typeface="微软雅黑" panose="020B0503020204020204" pitchFamily="34" charset="-122"/>
            </a:rPr>
            <a:t>SDN</a:t>
          </a:r>
          <a:endParaRPr lang="zh-CN" altLang="en-US" sz="1800" b="1" kern="1200" dirty="0">
            <a:solidFill>
              <a:schemeClr val="bg1"/>
            </a:solidFill>
            <a:latin typeface="微软雅黑" panose="020B0503020204020204" pitchFamily="34" charset="-122"/>
            <a:ea typeface="微软雅黑" panose="020B0503020204020204" pitchFamily="34" charset="-122"/>
          </a:endParaRPr>
        </a:p>
      </dsp:txBody>
      <dsp:txXfrm>
        <a:off x="275457" y="73314"/>
        <a:ext cx="3533600" cy="372930"/>
      </dsp:txXfrm>
    </dsp:sp>
    <dsp:sp modelId="{6DBB5C1B-B5D3-489B-9520-25CF774BF611}">
      <dsp:nvSpPr>
        <dsp:cNvPr id="0" name=""/>
        <dsp:cNvSpPr/>
      </dsp:nvSpPr>
      <dsp:spPr>
        <a:xfrm>
          <a:off x="0" y="2041419"/>
          <a:ext cx="5105643" cy="1499400"/>
        </a:xfrm>
        <a:prstGeom prst="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体系结构中控制层面和数据层面之间的</a:t>
          </a:r>
          <a:r>
            <a:rPr lang="zh-CN" altLang="en-US" sz="1400" b="0" kern="1200" dirty="0">
              <a:solidFill>
                <a:srgbClr val="C00000"/>
              </a:solidFill>
              <a:latin typeface="微软雅黑" panose="020B0503020204020204" pitchFamily="34" charset="-122"/>
              <a:ea typeface="微软雅黑" panose="020B0503020204020204" pitchFamily="34" charset="-122"/>
            </a:rPr>
            <a:t>通信接口。</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kern="1200" dirty="0">
              <a:solidFill>
                <a:srgbClr val="C00000"/>
              </a:solidFill>
              <a:latin typeface="微软雅黑" panose="020B0503020204020204" pitchFamily="34" charset="-122"/>
              <a:ea typeface="微软雅黑" panose="020B0503020204020204" pitchFamily="34" charset="-122"/>
            </a:rPr>
            <a:t>直接</a:t>
          </a:r>
          <a:r>
            <a:rPr lang="zh-CN" altLang="en-US" sz="1400" b="0" kern="1200" dirty="0">
              <a:latin typeface="微软雅黑" panose="020B0503020204020204" pitchFamily="34" charset="-122"/>
              <a:ea typeface="微软雅黑" panose="020B0503020204020204" pitchFamily="34" charset="-122"/>
            </a:rPr>
            <a:t>访问和操纵。</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在逻辑上是</a:t>
          </a:r>
          <a:r>
            <a:rPr lang="zh-CN" altLang="en-US" sz="1400" b="0" kern="1200" dirty="0">
              <a:solidFill>
                <a:srgbClr val="C00000"/>
              </a:solidFill>
              <a:latin typeface="微软雅黑" panose="020B0503020204020204" pitchFamily="34" charset="-122"/>
              <a:ea typeface="微软雅黑" panose="020B0503020204020204" pitchFamily="34" charset="-122"/>
            </a:rPr>
            <a:t>集中式</a:t>
          </a:r>
          <a:r>
            <a:rPr lang="zh-CN" altLang="en-US" sz="1400" b="0" kern="1200" dirty="0">
              <a:latin typeface="微软雅黑" panose="020B0503020204020204" pitchFamily="34" charset="-122"/>
              <a:ea typeface="微软雅黑" panose="020B0503020204020204" pitchFamily="34" charset="-122"/>
            </a:rPr>
            <a:t>的、</a:t>
          </a:r>
          <a:r>
            <a:rPr lang="zh-CN" altLang="en-US" sz="1400" b="0" kern="1200" dirty="0">
              <a:solidFill>
                <a:srgbClr val="C00000"/>
              </a:solidFill>
              <a:latin typeface="微软雅黑" panose="020B0503020204020204" pitchFamily="34" charset="-122"/>
              <a:ea typeface="微软雅黑" panose="020B0503020204020204" pitchFamily="34" charset="-122"/>
            </a:rPr>
            <a:t>基于流</a:t>
          </a:r>
          <a:r>
            <a:rPr lang="zh-CN" altLang="en-US" sz="1400" b="0" kern="1200" dirty="0">
              <a:latin typeface="微软雅黑" panose="020B0503020204020204" pitchFamily="34" charset="-122"/>
              <a:ea typeface="微软雅黑" panose="020B0503020204020204" pitchFamily="34" charset="-122"/>
            </a:rPr>
            <a:t>的。</a:t>
          </a:r>
        </a:p>
      </dsp:txBody>
      <dsp:txXfrm>
        <a:off x="0" y="2041419"/>
        <a:ext cx="5105643" cy="1499400"/>
      </dsp:txXfrm>
    </dsp:sp>
    <dsp:sp modelId="{35AC4BD2-1828-4C40-9426-ADEA8908391D}">
      <dsp:nvSpPr>
        <dsp:cNvPr id="0" name=""/>
        <dsp:cNvSpPr/>
      </dsp:nvSpPr>
      <dsp:spPr>
        <a:xfrm>
          <a:off x="255282" y="1834779"/>
          <a:ext cx="3573950" cy="413280"/>
        </a:xfrm>
        <a:prstGeom prst="roundRect">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zh-CN" sz="1800" b="1" kern="1200" dirty="0" err="1">
              <a:solidFill>
                <a:srgbClr val="0000CC"/>
              </a:solidFill>
              <a:latin typeface="微软雅黑" panose="020B0503020204020204" pitchFamily="34" charset="-122"/>
              <a:ea typeface="微软雅黑" panose="020B0503020204020204" pitchFamily="34" charset="-122"/>
            </a:rPr>
            <a:t>OpenFlow</a:t>
          </a:r>
          <a:endParaRPr lang="zh-CN" altLang="en-US" sz="1800" b="1" kern="1200" dirty="0">
            <a:solidFill>
              <a:srgbClr val="0000CC"/>
            </a:solidFill>
            <a:latin typeface="微软雅黑" panose="020B0503020204020204" pitchFamily="34" charset="-122"/>
            <a:ea typeface="微软雅黑" panose="020B0503020204020204" pitchFamily="34" charset="-122"/>
          </a:endParaRPr>
        </a:p>
      </dsp:txBody>
      <dsp:txXfrm>
        <a:off x="275457" y="1854954"/>
        <a:ext cx="3533600" cy="372930"/>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9B0D5C1-FC08-4682-A068-87E58ADD3967}">
      <dsp:nvSpPr>
        <dsp:cNvPr id="0" name=""/>
        <dsp:cNvSpPr/>
      </dsp:nvSpPr>
      <dsp:spPr>
        <a:xfrm>
          <a:off x="-3623671" y="-556841"/>
          <a:ext cx="4319736" cy="4319736"/>
        </a:xfrm>
        <a:prstGeom prst="blockArc">
          <a:avLst>
            <a:gd name="adj1" fmla="val 18900000"/>
            <a:gd name="adj2" fmla="val 2700000"/>
            <a:gd name="adj3" fmla="val 500"/>
          </a:avLst>
        </a:prstGeom>
        <a:noFill/>
        <a:ln w="25400" cap="flat" cmpd="sng" algn="ctr">
          <a:solidFill>
            <a:schemeClr val="accent6">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4A029A32-0911-4750-B9B4-49D271EFA4E0}">
      <dsp:nvSpPr>
        <dsp:cNvPr id="0" name=""/>
        <dsp:cNvSpPr/>
      </dsp:nvSpPr>
      <dsp:spPr>
        <a:xfrm>
          <a:off x="364891" y="246481"/>
          <a:ext cx="6357688" cy="493219"/>
        </a:xfrm>
        <a:prstGeom prst="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基于流的转发。流表规定转发规则</a:t>
          </a:r>
        </a:p>
      </dsp:txBody>
      <dsp:txXfrm>
        <a:off x="364891" y="246481"/>
        <a:ext cx="6357688" cy="493219"/>
      </dsp:txXfrm>
    </dsp:sp>
    <dsp:sp modelId="{C2D66341-6C1E-4BCC-8C84-A646950EFF77}">
      <dsp:nvSpPr>
        <dsp:cNvPr id="0" name=""/>
        <dsp:cNvSpPr/>
      </dsp:nvSpPr>
      <dsp:spPr>
        <a:xfrm>
          <a:off x="56629" y="184829"/>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0"/>
              <a:satOff val="0"/>
              <a:lumOff val="0"/>
              <a:alphaOff val="0"/>
            </a:schemeClr>
          </a:solidFill>
          <a:prstDash val="solid"/>
        </a:ln>
        <a:effectLst/>
      </dsp:spPr>
      <dsp:style>
        <a:lnRef idx="1">
          <a:scrgbClr r="0" g="0" b="0"/>
        </a:lnRef>
        <a:fillRef idx="2">
          <a:scrgbClr r="0" g="0" b="0"/>
        </a:fillRef>
        <a:effectRef idx="0">
          <a:scrgbClr r="0" g="0" b="0"/>
        </a:effectRef>
        <a:fontRef idx="minor"/>
      </dsp:style>
    </dsp:sp>
    <dsp:sp modelId="{F5F98171-0BBC-44BA-A385-25C4F93E716D}">
      <dsp:nvSpPr>
        <dsp:cNvPr id="0" name=""/>
        <dsp:cNvSpPr/>
      </dsp:nvSpPr>
      <dsp:spPr>
        <a:xfrm>
          <a:off x="647665" y="986438"/>
          <a:ext cx="6074914" cy="493219"/>
        </a:xfrm>
        <a:prstGeom prst="rect">
          <a:avLst/>
        </a:prstGeom>
        <a:gradFill rotWithShape="0">
          <a:gsLst>
            <a:gs pos="0">
              <a:schemeClr val="accent5">
                <a:hueOff val="-3311292"/>
                <a:satOff val="13270"/>
                <a:lumOff val="2876"/>
                <a:alphaOff val="0"/>
                <a:tint val="50000"/>
                <a:satMod val="300000"/>
              </a:schemeClr>
            </a:gs>
            <a:gs pos="35000">
              <a:schemeClr val="accent5">
                <a:hueOff val="-3311292"/>
                <a:satOff val="13270"/>
                <a:lumOff val="2876"/>
                <a:alphaOff val="0"/>
                <a:tint val="37000"/>
                <a:satMod val="300000"/>
              </a:schemeClr>
            </a:gs>
            <a:gs pos="100000">
              <a:schemeClr val="accent5">
                <a:hueOff val="-3311292"/>
                <a:satOff val="13270"/>
                <a:lumOff val="2876"/>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数据层面与控制层面分离。二者不在同一个设备中</a:t>
          </a:r>
        </a:p>
      </dsp:txBody>
      <dsp:txXfrm>
        <a:off x="647665" y="986438"/>
        <a:ext cx="6074914" cy="493219"/>
      </dsp:txXfrm>
    </dsp:sp>
    <dsp:sp modelId="{6BA4FFC2-2FE1-4DE8-AFAD-430C985B0E85}">
      <dsp:nvSpPr>
        <dsp:cNvPr id="0" name=""/>
        <dsp:cNvSpPr/>
      </dsp:nvSpPr>
      <dsp:spPr>
        <a:xfrm>
          <a:off x="339403" y="924786"/>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3311292"/>
              <a:satOff val="13270"/>
              <a:lumOff val="2876"/>
              <a:alphaOff val="0"/>
            </a:schemeClr>
          </a:solidFill>
          <a:prstDash val="solid"/>
        </a:ln>
        <a:effectLst/>
      </dsp:spPr>
      <dsp:style>
        <a:lnRef idx="1">
          <a:scrgbClr r="0" g="0" b="0"/>
        </a:lnRef>
        <a:fillRef idx="2">
          <a:scrgbClr r="0" g="0" b="0"/>
        </a:fillRef>
        <a:effectRef idx="0">
          <a:scrgbClr r="0" g="0" b="0"/>
        </a:effectRef>
        <a:fontRef idx="minor"/>
      </dsp:style>
    </dsp:sp>
    <dsp:sp modelId="{CD11EB12-0408-40BE-A5E0-D1CFC22DFC2E}">
      <dsp:nvSpPr>
        <dsp:cNvPr id="0" name=""/>
        <dsp:cNvSpPr/>
      </dsp:nvSpPr>
      <dsp:spPr>
        <a:xfrm>
          <a:off x="647665" y="1726395"/>
          <a:ext cx="6074914" cy="493219"/>
        </a:xfrm>
        <a:prstGeom prst="rect">
          <a:avLst/>
        </a:prstGeom>
        <a:gradFill rotWithShape="0">
          <a:gsLst>
            <a:gs pos="0">
              <a:schemeClr val="accent5">
                <a:hueOff val="-6622584"/>
                <a:satOff val="26541"/>
                <a:lumOff val="5752"/>
                <a:alphaOff val="0"/>
                <a:tint val="50000"/>
                <a:satMod val="300000"/>
              </a:schemeClr>
            </a:gs>
            <a:gs pos="35000">
              <a:schemeClr val="accent5">
                <a:hueOff val="-6622584"/>
                <a:satOff val="26541"/>
                <a:lumOff val="5752"/>
                <a:alphaOff val="0"/>
                <a:tint val="37000"/>
                <a:satMod val="300000"/>
              </a:schemeClr>
            </a:gs>
            <a:gs pos="100000">
              <a:schemeClr val="accent5">
                <a:hueOff val="-6622584"/>
                <a:satOff val="26541"/>
                <a:lumOff val="5752"/>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网络控制功能位于数据层面交换机之外，用软件实现</a:t>
          </a:r>
        </a:p>
      </dsp:txBody>
      <dsp:txXfrm>
        <a:off x="647665" y="1726395"/>
        <a:ext cx="6074914" cy="493219"/>
      </dsp:txXfrm>
    </dsp:sp>
    <dsp:sp modelId="{AA66A021-7549-4FCB-AE4D-4B546BB936CD}">
      <dsp:nvSpPr>
        <dsp:cNvPr id="0" name=""/>
        <dsp:cNvSpPr/>
      </dsp:nvSpPr>
      <dsp:spPr>
        <a:xfrm>
          <a:off x="339403" y="1664743"/>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6622584"/>
              <a:satOff val="26541"/>
              <a:lumOff val="5752"/>
              <a:alphaOff val="0"/>
            </a:schemeClr>
          </a:solidFill>
          <a:prstDash val="solid"/>
        </a:ln>
        <a:effectLst/>
      </dsp:spPr>
      <dsp:style>
        <a:lnRef idx="1">
          <a:scrgbClr r="0" g="0" b="0"/>
        </a:lnRef>
        <a:fillRef idx="2">
          <a:scrgbClr r="0" g="0" b="0"/>
        </a:fillRef>
        <a:effectRef idx="0">
          <a:scrgbClr r="0" g="0" b="0"/>
        </a:effectRef>
        <a:fontRef idx="minor"/>
      </dsp:style>
    </dsp:sp>
    <dsp:sp modelId="{2B5470FC-E1D3-437D-A66F-B24660D1DB5E}">
      <dsp:nvSpPr>
        <dsp:cNvPr id="0" name=""/>
        <dsp:cNvSpPr/>
      </dsp:nvSpPr>
      <dsp:spPr>
        <a:xfrm>
          <a:off x="364891" y="2466353"/>
          <a:ext cx="6357688" cy="493219"/>
        </a:xfrm>
        <a:prstGeom prst="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可编程的网络</a:t>
          </a:r>
        </a:p>
      </dsp:txBody>
      <dsp:txXfrm>
        <a:off x="364891" y="2466353"/>
        <a:ext cx="6357688" cy="493219"/>
      </dsp:txXfrm>
    </dsp:sp>
    <dsp:sp modelId="{3445C45D-2AA7-4DBC-A20C-73321A134B77}">
      <dsp:nvSpPr>
        <dsp:cNvPr id="0" name=""/>
        <dsp:cNvSpPr/>
      </dsp:nvSpPr>
      <dsp:spPr>
        <a:xfrm>
          <a:off x="56629" y="2404700"/>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9933876"/>
              <a:satOff val="39811"/>
              <a:lumOff val="8628"/>
              <a:alphaOff val="0"/>
            </a:schemeClr>
          </a:solidFill>
          <a:prstDash val="solid"/>
        </a:ln>
        <a:effectLst/>
      </dsp:spPr>
      <dsp:style>
        <a:lnRef idx="1">
          <a:scrgbClr r="0" g="0" b="0"/>
        </a:lnRef>
        <a:fillRef idx="2">
          <a:scrgbClr r="0" g="0" b="0"/>
        </a:fillRef>
        <a:effectRef idx="0">
          <a:scrgbClr r="0" g="0" b="0"/>
        </a:effectRef>
        <a:fontRef idx="minor"/>
      </dsp:style>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19B39F-12B2-486D-92CD-79CCEF8A02D7}">
      <dsp:nvSpPr>
        <dsp:cNvPr id="0" name=""/>
        <dsp:cNvSpPr/>
      </dsp:nvSpPr>
      <dsp:spPr>
        <a:xfrm>
          <a:off x="39" y="31395"/>
          <a:ext cx="3818864" cy="1152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2200"/>
            </a:lnSpc>
            <a:spcBef>
              <a:spcPts val="0"/>
            </a:spcBef>
            <a:spcAft>
              <a:spcPts val="0"/>
            </a:spcAft>
            <a:buNone/>
          </a:pPr>
          <a:r>
            <a:rPr lang="en-US" altLang="zh-CN" sz="1400" b="0" kern="1200" dirty="0">
              <a:latin typeface="微软雅黑" panose="020B0503020204020204" pitchFamily="34" charset="-122"/>
              <a:ea typeface="微软雅黑" panose="020B0503020204020204" pitchFamily="34" charset="-122"/>
            </a:rPr>
            <a:t>SDN</a:t>
          </a:r>
          <a:endParaRPr lang="zh-CN" altLang="en-US" sz="1400" b="0" kern="1200" dirty="0">
            <a:latin typeface="微软雅黑" panose="020B0503020204020204" pitchFamily="34" charset="-122"/>
            <a:ea typeface="微软雅黑" panose="020B0503020204020204" pitchFamily="34" charset="-122"/>
          </a:endParaRPr>
        </a:p>
      </dsp:txBody>
      <dsp:txXfrm>
        <a:off x="39" y="31395"/>
        <a:ext cx="3818864" cy="1152000"/>
      </dsp:txXfrm>
    </dsp:sp>
    <dsp:sp modelId="{B896A519-3F35-4F76-BF45-313B4F09EBD3}">
      <dsp:nvSpPr>
        <dsp:cNvPr id="0" name=""/>
        <dsp:cNvSpPr/>
      </dsp:nvSpPr>
      <dsp:spPr>
        <a:xfrm>
          <a:off x="39" y="1183395"/>
          <a:ext cx="3818864" cy="175680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功能分散。交换机、</a:t>
          </a: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控制器、网络控制应用程序都是可以分开的实体</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可以由不同的厂商和机构来提供</a:t>
          </a:r>
        </a:p>
      </dsp:txBody>
      <dsp:txXfrm>
        <a:off x="39" y="1183395"/>
        <a:ext cx="3818864" cy="1756800"/>
      </dsp:txXfrm>
    </dsp:sp>
    <dsp:sp modelId="{2B37959A-E5FF-440C-9E9A-2AB5F0A6CAC6}">
      <dsp:nvSpPr>
        <dsp:cNvPr id="0" name=""/>
        <dsp:cNvSpPr/>
      </dsp:nvSpPr>
      <dsp:spPr>
        <a:xfrm>
          <a:off x="4353545" y="31395"/>
          <a:ext cx="3818864" cy="11520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3000"/>
            </a:lnSpc>
            <a:spcBef>
              <a:spcPts val="0"/>
            </a:spcBef>
            <a:spcAft>
              <a:spcPts val="0"/>
            </a:spcAft>
            <a:buNone/>
          </a:pPr>
          <a:r>
            <a:rPr lang="zh-CN" altLang="en-US" sz="1400" b="0" kern="1200" dirty="0">
              <a:solidFill>
                <a:schemeClr val="bg1"/>
              </a:solidFill>
              <a:latin typeface="微软雅黑" panose="020B0503020204020204" pitchFamily="34" charset="-122"/>
              <a:ea typeface="微软雅黑" panose="020B0503020204020204" pitchFamily="34" charset="-122"/>
            </a:rPr>
            <a:t>传统网络</a:t>
          </a:r>
        </a:p>
      </dsp:txBody>
      <dsp:txXfrm>
        <a:off x="4353545" y="31395"/>
        <a:ext cx="3818864" cy="1152000"/>
      </dsp:txXfrm>
    </dsp:sp>
    <dsp:sp modelId="{BB2710DA-629D-4E22-B2D2-AE96858090DD}">
      <dsp:nvSpPr>
        <dsp:cNvPr id="0" name=""/>
        <dsp:cNvSpPr/>
      </dsp:nvSpPr>
      <dsp:spPr>
        <a:xfrm>
          <a:off x="4353545" y="1183395"/>
          <a:ext cx="3818864" cy="175680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控制层面、数据层面、协议的实现都垂直集成在一个机器里</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由单独的厂商提供</a:t>
          </a:r>
        </a:p>
      </dsp:txBody>
      <dsp:txXfrm>
        <a:off x="4353545" y="1183395"/>
        <a:ext cx="3818864" cy="175680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default#1">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9/3/layout/PlusandMinus">
  <dgm:title val=""/>
  <dgm:desc val=""/>
  <dgm:catLst>
    <dgm:cat type="relationship" pri="3600"/>
  </dgm:catLst>
  <dgm:samp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2"/>
      <dgm:chPref val="2"/>
      <dgm:dir/>
      <dgm:animOne/>
      <dgm:resizeHandles val="exact"/>
    </dgm:varLst>
    <dgm:alg type="composite">
      <dgm:param type="ar" val="1.8238"/>
    </dgm:alg>
    <dgm:shape xmlns:r="http://schemas.openxmlformats.org/officeDocument/2006/relationships" r:blip="">
      <dgm:adjLst/>
    </dgm:shape>
    <dgm:choose name="Name1">
      <dgm:if name="Name2" func="var" arg="dir" op="equ" val="norm">
        <dgm:constrLst>
          <dgm:constr type="primFontSz" for="des" ptType="node" op="equ" val="65"/>
          <dgm:constr type="l" for="ch" forName="Background" refType="w" fact="0.09"/>
          <dgm:constr type="t" for="ch" forName="Background" refType="h" fact="0.1641"/>
          <dgm:constr type="w" for="ch" forName="Background" refType="w" fact="0.87"/>
          <dgm:constr type="h" for="ch" forName="Background" refType="h" fact="0.82"/>
          <dgm:constr type="l" for="ch" forName="ParentText1" refType="w" fact="0.116"/>
          <dgm:constr type="t" for="ch" forName="ParentText1" refType="h" fact="0.26"/>
          <dgm:constr type="w" for="ch" forName="ParentText1" refType="w" fact="0.404"/>
          <dgm:constr type="h" for="ch" forName="ParentText1" refType="h" fact="0.7015"/>
          <dgm:constr type="l" for="ch" forName="ParentText2" refType="w" fact="0.529"/>
          <dgm:constr type="t" for="ch" forName="ParentText2" refType="h" fact="0.26"/>
          <dgm:constr type="w" for="ch" forName="ParentText2" refType="w" fact="0.404"/>
          <dgm:constr type="h" for="ch" forName="ParentText2" refType="h" fact="0.7015"/>
          <dgm:constr type="l" for="ch" forName="Plus" refType="w" fact="0"/>
          <dgm:constr type="t" for="ch" forName="Plus" refType="h" fact="0"/>
          <dgm:constr type="w" for="ch" forName="Plus" refType="w" fact="0.17"/>
          <dgm:constr type="h" for="ch" forName="Plus" refType="w" refFor="ch" refForName="Plus"/>
          <dgm:constr type="l" for="ch" forName="Minus" refType="w" fact="0.84"/>
          <dgm:constr type="t" for="ch" forName="Minus" refType="h" fact="0.1115"/>
          <dgm:constr type="w" for="ch" forName="Minus" refType="w" fact="0.16"/>
          <dgm:constr type="h" for="ch" forName="Minus" refType="h" fact="0.1"/>
          <dgm:constr type="l" for="ch" forName="Divider" refType="w" fact="0.525"/>
          <dgm:constr type="t" for="ch" forName="Divider" refType="h" fact="0.2615"/>
          <dgm:constr type="w" for="ch" forName="Divider" refType="w" fact="0.0001"/>
          <dgm:constr type="h" for="ch" forName="Divider" refType="h" fact="0.67"/>
        </dgm:constrLst>
      </dgm:if>
      <dgm:else name="Name3">
        <dgm:constrLst>
          <dgm:constr type="primFontSz" for="des" ptType="node" op="equ" val="65"/>
          <dgm:constr type="r" for="ch" forName="Background" refType="w" fact="-0.09"/>
          <dgm:constr type="t" for="ch" forName="Background" refType="h" fact="0.1641"/>
          <dgm:constr type="w" for="ch" forName="Background" refType="w" fact="0.87"/>
          <dgm:constr type="h" for="ch" forName="Background" refType="h" fact="0.82"/>
          <dgm:constr type="r" for="ch" forName="ParentText1" refType="w" fact="-0.116"/>
          <dgm:constr type="t" for="ch" forName="ParentText1" refType="h" fact="0.26"/>
          <dgm:constr type="w" for="ch" forName="ParentText1" refType="w" fact="0.404"/>
          <dgm:constr type="h" for="ch" forName="ParentText1" refType="h" fact="0.7015"/>
          <dgm:constr type="r" for="ch" forName="ParentText2" refType="w" fact="-0.529"/>
          <dgm:constr type="t" for="ch" forName="ParentText2" refType="h" fact="0.26"/>
          <dgm:constr type="w" for="ch" forName="ParentText2" refType="w" fact="0.404"/>
          <dgm:constr type="h" for="ch" forName="ParentText2" refType="h" fact="0.7015"/>
          <dgm:constr type="r" for="ch" forName="Plus" refType="w" fact="0"/>
          <dgm:constr type="t" for="ch" forName="Plus" refType="h" fact="0"/>
          <dgm:constr type="w" for="ch" forName="Plus" refType="w" fact="0.17"/>
          <dgm:constr type="h" for="ch" forName="Plus" refType="w" refFor="ch" refForName="Plus"/>
          <dgm:constr type="r" for="ch" forName="Minus" refType="w" fact="-0.84"/>
          <dgm:constr type="t" for="ch" forName="Minus" refType="h" fact="0.1115"/>
          <dgm:constr type="w" for="ch" forName="Minus" refType="w" fact="0.16"/>
          <dgm:constr type="h" for="ch" forName="Minus" refType="h" fact="0.1"/>
          <dgm:constr type="r" for="ch" forName="Divider" refType="w" fact="-0.525"/>
          <dgm:constr type="t" for="ch" forName="Divider" refType="h" fact="0.2615"/>
          <dgm:constr type="w" for="ch" forName="Divider" refType="w" fact="0.0001"/>
          <dgm:constr type="h" for="ch" forName="Divider" refType="h" fact="0.67"/>
        </dgm:constrLst>
      </dgm:else>
    </dgm:choose>
    <dgm:layoutNode name="Background" styleLbl="bgImgPlace1">
      <dgm:alg type="sp"/>
      <dgm:shape xmlns:r="http://schemas.openxmlformats.org/officeDocument/2006/relationships" type="rect" r:blip="">
        <dgm:adjLst/>
      </dgm:shape>
      <dgm:presOf/>
    </dgm:layoutNode>
    <dgm:layoutNode name="ParentText1"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1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arentText2"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2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lus" styleLbl="alignNode1">
      <dgm:alg type="sp"/>
      <dgm:shape xmlns:r="http://schemas.openxmlformats.org/officeDocument/2006/relationships" type="plus" r:blip="">
        <dgm:adjLst>
          <dgm:adj idx="1" val="0.3281"/>
        </dgm:adjLst>
      </dgm:shape>
      <dgm:presOf/>
    </dgm:layoutNode>
    <dgm:layoutNode name="Minus" styleLbl="alignNode1">
      <dgm:alg type="sp"/>
      <dgm:shape xmlns:r="http://schemas.openxmlformats.org/officeDocument/2006/relationships" type="rect" r:blip="">
        <dgm:adjLst/>
      </dgm:shape>
      <dgm:presOf/>
    </dgm:layoutNode>
    <dgm:layoutNode name="Divider" styleLbl="parChTrans1D1">
      <dgm:alg type="sp"/>
      <dgm:shape xmlns:r="http://schemas.openxmlformats.org/officeDocument/2006/relationships" type="line" r:blip="">
        <dgm:adjLst/>
      </dgm:shape>
      <dgm:presOf/>
    </dgm:layoutNode>
  </dgm:layoutNode>
</dgm:layoutDef>
</file>

<file path=ppt/diagrams/layout4.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8/layout/AlternatingHexagons">
  <dgm:title val=""/>
  <dgm:desc val=""/>
  <dgm:catLst>
    <dgm:cat type="list" pri="1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alg type="lin">
      <dgm:param type="linDir" val="fromT"/>
    </dgm:alg>
    <dgm:shape xmlns:r="http://schemas.openxmlformats.org/officeDocument/2006/relationships" r:blip="">
      <dgm:adjLst/>
    </dgm:shape>
    <dgm:constrLst>
      <dgm:constr type="primFontSz" for="des" forName="Parent1" val="65"/>
      <dgm:constr type="primFontSz" for="des" forName="Childtext1" refType="primFontSz" refFor="des" refForName="Parent1" op="lte"/>
      <dgm:constr type="w" for="ch" forName="composite" refType="w"/>
      <dgm:constr type="h" for="ch" forName="composite" refType="h"/>
      <dgm:constr type="h" for="ch" forName="spaceBetweenRectangles" refType="w" refFor="ch" refForName="composite" fact="-0.042"/>
      <dgm:constr type="sp" refType="h" refFor="ch" refForName="composite" op="equ" fact="0.1"/>
    </dgm:constrLst>
    <dgm:forEach name="nodesForEach" axis="ch" ptType="node">
      <dgm:layoutNode name="composite">
        <dgm:alg type="composite">
          <dgm:param type="ar" val="3.6"/>
        </dgm:alg>
        <dgm:shape xmlns:r="http://schemas.openxmlformats.org/officeDocument/2006/relationships" r:blip="">
          <dgm:adjLst/>
        </dgm:shape>
        <dgm:choose name="Name1">
          <dgm:if name="Name2" func="var" arg="dir" op="equ" val="norm">
            <dgm:choose name="Name3">
              <dgm:if name="Name4" axis="self" ptType="node" func="posOdd" op="equ" val="1">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dgm:constr type="h" for="ch" forName="BalanceSpacing" refType="h" fact="0.1"/>
                  <dgm:constr type="l" for="ch" forName="BalanceSpacing1" refType="w" fact="0.69"/>
                  <dgm:constr type="t" for="ch" forName="BalanceSpacing1" refType="h" fact="0.2"/>
                  <dgm:constr type="w" for="ch" forName="BalanceSpacing1" refType="w" fact="0.31"/>
                  <dgm:constr type="h" for="ch" forName="BalanceSpacing1" refType="h" fact="0.6"/>
                </dgm:constrLst>
              </dgm:if>
              <dgm:else name="Name5">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 type="l" for="ch" forName="BalanceSpacing1" refType="w" fact="0"/>
                  <dgm:constr type="t" for="ch" forName="BalanceSpacing1" refType="h" fact="0.2"/>
                  <dgm:constr type="w" for="ch" forName="BalanceSpacing1" refType="w" fact="0.3"/>
                  <dgm:constr type="h" for="ch" forName="BalanceSpacing1" refType="h" fact="0.6"/>
                </dgm:constrLst>
              </dgm:else>
            </dgm:choose>
          </dgm:if>
          <dgm:else name="Name6">
            <dgm:choose name="Name7">
              <dgm:if name="Name8" axis="self" ptType="node" func="posOdd" op="equ" val="1">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Lst>
              </dgm:if>
              <dgm:else name="Name9">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fact="0.18"/>
                  <dgm:constr type="h" for="ch" forName="BalanceSpacing" refType="h"/>
                </dgm:constrLst>
              </dgm:else>
            </dgm:choose>
          </dgm:else>
        </dgm:choose>
        <dgm:layoutNode name="Parent1" styleLbl="node1">
          <dgm:varLst>
            <dgm:chMax val="1"/>
            <dgm:chPref val="1"/>
            <dgm:bulletEnabled val="1"/>
          </dgm:varLst>
          <dgm:alg type="tx"/>
          <dgm:shape xmlns:r="http://schemas.openxmlformats.org/officeDocument/2006/relationships" rot="90" type="hexagon" r:blip="">
            <dgm:adjLst>
              <dgm:adj idx="1" val="0.25"/>
              <dgm:adj idx="2" val="1.154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hildtext1" styleLbl="revTx">
          <dgm:varLst>
            <dgm:chMax val="0"/>
            <dgm:chPref val="0"/>
            <dgm:bulletEnabled val="1"/>
          </dgm:varLst>
          <dgm:choose name="Name10">
            <dgm:if name="Name11" func="var" arg="dir" op="equ" val="norm">
              <dgm:choose name="Name12">
                <dgm:if name="Name13" axis="self" ptType="node" func="posOdd" op="equ" val="1">
                  <dgm:alg type="tx">
                    <dgm:param type="parTxLTRAlign" val="l"/>
                  </dgm:alg>
                </dgm:if>
                <dgm:else name="Name14">
                  <dgm:alg type="tx">
                    <dgm:param type="parTxLTRAlign" val="r"/>
                  </dgm:alg>
                </dgm:else>
              </dgm:choose>
            </dgm:if>
            <dgm:else name="Name15">
              <dgm:choose name="Name16">
                <dgm:if name="Name17" axis="self" ptType="node" func="posOdd" op="equ" val="1">
                  <dgm:alg type="tx">
                    <dgm:param type="parTxLTRAlign" val="r"/>
                  </dgm:alg>
                </dgm:if>
                <dgm:else name="Name18">
                  <dgm:alg type="tx">
                    <dgm:param type="parTxLTRAlign" val="l"/>
                  </dgm:alg>
                </dgm:else>
              </dgm:choose>
            </dgm:else>
          </dgm:choose>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BalanceSpacing">
          <dgm:alg type="sp"/>
          <dgm:shape xmlns:r="http://schemas.openxmlformats.org/officeDocument/2006/relationships" r:blip="">
            <dgm:adjLst/>
          </dgm:shape>
        </dgm:layoutNode>
        <dgm:layoutNode name="BalanceSpacing1">
          <dgm:alg type="sp"/>
          <dgm:shape xmlns:r="http://schemas.openxmlformats.org/officeDocument/2006/relationships" r:blip="">
            <dgm:adjLst/>
          </dgm:shape>
        </dgm:layoutNode>
        <dgm:forEach name="Name19" axis="followSib" ptType="sibTrans" hideLastTrans="0" cnt="1">
          <dgm:layoutNode name="Accent1Text" styleLbl="node1">
            <dgm:alg type="tx"/>
            <dgm:shape xmlns:r="http://schemas.openxmlformats.org/officeDocument/2006/relationships" rot="90" type="hexagon" r:blip="">
              <dgm:adjLst>
                <dgm:adj idx="1" val="0.25"/>
                <dgm:adj idx="2" val="1.1547"/>
              </dgm:adjLst>
            </dgm:shape>
            <dgm:presOf axis="self" ptType="sibTrans"/>
            <dgm:constrLst>
              <dgm:constr type="lMarg"/>
              <dgm:constr type="rMarg"/>
              <dgm:constr type="tMarg"/>
              <dgm:constr type="bMarg"/>
            </dgm:constrLst>
            <dgm:ruleLst>
              <dgm:rule type="primFontSz" val="5" fact="NaN" max="NaN"/>
            </dgm:ruleLst>
          </dgm:layoutNode>
        </dgm:forEach>
      </dgm:layoutNode>
      <dgm:forEach name="Name2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vList3#1">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1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F7A0F7-AD19-4993-8574-730EC50C92A6}" type="datetimeFigureOut">
              <a:rPr lang="zh-CN" altLang="en-US" smtClean="0"/>
              <a:pPr/>
              <a:t>2025/11/9</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B14BD24-89E3-4C51-B736-BCCE6C13A884}" type="slidenum">
              <a:rPr lang="zh-CN" altLang="en-US" smtClean="0"/>
              <a:pPr/>
              <a:t>‹#›</a:t>
            </a:fld>
            <a:endParaRPr lang="zh-CN" altLang="en-US"/>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269.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290.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29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300.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317.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334.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336.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337.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338.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3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a:t>
            </a:fld>
            <a:endParaRPr lang="zh-CN" altLang="en-US"/>
          </a:p>
        </p:txBody>
      </p:sp>
    </p:spTree>
    <p:extLst>
      <p:ext uri="{BB962C8B-B14F-4D97-AF65-F5344CB8AC3E}">
        <p14:creationId xmlns:p14="http://schemas.microsoft.com/office/powerpoint/2010/main" val="32230060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a:t>
            </a:fld>
            <a:endParaRPr lang="zh-CN" altLang="en-US"/>
          </a:p>
        </p:txBody>
      </p:sp>
    </p:spTree>
    <p:extLst>
      <p:ext uri="{BB962C8B-B14F-4D97-AF65-F5344CB8AC3E}">
        <p14:creationId xmlns:p14="http://schemas.microsoft.com/office/powerpoint/2010/main" val="38508805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a:t>
            </a:fld>
            <a:endParaRPr lang="zh-CN" altLang="en-US"/>
          </a:p>
        </p:txBody>
      </p:sp>
    </p:spTree>
    <p:extLst>
      <p:ext uri="{BB962C8B-B14F-4D97-AF65-F5344CB8AC3E}">
        <p14:creationId xmlns:p14="http://schemas.microsoft.com/office/powerpoint/2010/main" val="31180118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a:t>
            </a:fld>
            <a:endParaRPr lang="zh-CN" altLang="en-US"/>
          </a:p>
        </p:txBody>
      </p:sp>
    </p:spTree>
    <p:extLst>
      <p:ext uri="{BB962C8B-B14F-4D97-AF65-F5344CB8AC3E}">
        <p14:creationId xmlns:p14="http://schemas.microsoft.com/office/powerpoint/2010/main" val="23210300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a:t>
            </a:fld>
            <a:endParaRPr lang="zh-CN" altLang="en-US"/>
          </a:p>
        </p:txBody>
      </p:sp>
    </p:spTree>
    <p:extLst>
      <p:ext uri="{BB962C8B-B14F-4D97-AF65-F5344CB8AC3E}">
        <p14:creationId xmlns:p14="http://schemas.microsoft.com/office/powerpoint/2010/main" val="38790734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a:t>
            </a:fld>
            <a:endParaRPr lang="zh-CN" altLang="en-US"/>
          </a:p>
        </p:txBody>
      </p:sp>
    </p:spTree>
    <p:extLst>
      <p:ext uri="{BB962C8B-B14F-4D97-AF65-F5344CB8AC3E}">
        <p14:creationId xmlns:p14="http://schemas.microsoft.com/office/powerpoint/2010/main" val="10100880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a:t>
            </a:fld>
            <a:endParaRPr lang="zh-CN" altLang="en-US"/>
          </a:p>
        </p:txBody>
      </p:sp>
    </p:spTree>
    <p:extLst>
      <p:ext uri="{BB962C8B-B14F-4D97-AF65-F5344CB8AC3E}">
        <p14:creationId xmlns:p14="http://schemas.microsoft.com/office/powerpoint/2010/main" val="28370223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a:t>
            </a:fld>
            <a:endParaRPr lang="zh-CN" altLang="en-US"/>
          </a:p>
        </p:txBody>
      </p:sp>
    </p:spTree>
    <p:extLst>
      <p:ext uri="{BB962C8B-B14F-4D97-AF65-F5344CB8AC3E}">
        <p14:creationId xmlns:p14="http://schemas.microsoft.com/office/powerpoint/2010/main" val="15769693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a:t>
            </a:fld>
            <a:endParaRPr lang="zh-CN" altLang="en-US"/>
          </a:p>
        </p:txBody>
      </p:sp>
    </p:spTree>
    <p:extLst>
      <p:ext uri="{BB962C8B-B14F-4D97-AF65-F5344CB8AC3E}">
        <p14:creationId xmlns:p14="http://schemas.microsoft.com/office/powerpoint/2010/main" val="12149601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a:t>
            </a:fld>
            <a:endParaRPr lang="zh-CN" altLang="en-US"/>
          </a:p>
        </p:txBody>
      </p:sp>
    </p:spTree>
    <p:extLst>
      <p:ext uri="{BB962C8B-B14F-4D97-AF65-F5344CB8AC3E}">
        <p14:creationId xmlns:p14="http://schemas.microsoft.com/office/powerpoint/2010/main" val="27034190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a:t>
            </a:fld>
            <a:endParaRPr lang="zh-CN" altLang="en-US"/>
          </a:p>
        </p:txBody>
      </p:sp>
    </p:spTree>
    <p:extLst>
      <p:ext uri="{BB962C8B-B14F-4D97-AF65-F5344CB8AC3E}">
        <p14:creationId xmlns:p14="http://schemas.microsoft.com/office/powerpoint/2010/main" val="22064112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a:t>
            </a:fld>
            <a:endParaRPr lang="zh-CN" altLang="en-US"/>
          </a:p>
        </p:txBody>
      </p:sp>
    </p:spTree>
    <p:extLst>
      <p:ext uri="{BB962C8B-B14F-4D97-AF65-F5344CB8AC3E}">
        <p14:creationId xmlns:p14="http://schemas.microsoft.com/office/powerpoint/2010/main" val="14101142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a:t>
            </a:fld>
            <a:endParaRPr lang="zh-CN" altLang="en-US"/>
          </a:p>
        </p:txBody>
      </p:sp>
    </p:spTree>
    <p:extLst>
      <p:ext uri="{BB962C8B-B14F-4D97-AF65-F5344CB8AC3E}">
        <p14:creationId xmlns:p14="http://schemas.microsoft.com/office/powerpoint/2010/main" val="36739964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31</a:t>
            </a:fld>
            <a:endParaRPr lang="zh-CN" altLang="en-US"/>
          </a:p>
        </p:txBody>
      </p:sp>
    </p:spTree>
    <p:extLst>
      <p:ext uri="{BB962C8B-B14F-4D97-AF65-F5344CB8AC3E}">
        <p14:creationId xmlns:p14="http://schemas.microsoft.com/office/powerpoint/2010/main" val="21136235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最早的 </a:t>
            </a:r>
            <a:r>
              <a:rPr lang="en-US" altLang="zh-CN" sz="1200" b="0" i="0" kern="1200" dirty="0">
                <a:solidFill>
                  <a:schemeClr val="tx1"/>
                </a:solidFill>
                <a:effectLst/>
                <a:latin typeface="+mn-lt"/>
                <a:ea typeface="+mn-ea"/>
                <a:cs typeface="+mn-cs"/>
              </a:rPr>
              <a:t>RFC </a:t>
            </a:r>
            <a:r>
              <a:rPr lang="zh-CN" altLang="en-US" sz="1200" b="0" i="0" kern="1200" dirty="0">
                <a:solidFill>
                  <a:schemeClr val="tx1"/>
                </a:solidFill>
                <a:effectLst/>
                <a:latin typeface="+mn-lt"/>
                <a:ea typeface="+mn-ea"/>
                <a:cs typeface="+mn-cs"/>
              </a:rPr>
              <a:t>对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地址的分类只到 </a:t>
            </a:r>
            <a:r>
              <a:rPr lang="en-US" altLang="zh-CN" sz="1200" b="0" i="0" kern="1200" dirty="0">
                <a:solidFill>
                  <a:schemeClr val="tx1"/>
                </a:solidFill>
                <a:effectLst/>
                <a:latin typeface="+mn-lt"/>
                <a:ea typeface="+mn-ea"/>
                <a:cs typeface="+mn-cs"/>
              </a:rPr>
              <a:t>C</a:t>
            </a:r>
            <a:r>
              <a:rPr lang="zh-CN" altLang="en-US" sz="1200" b="0" i="0" kern="1200" dirty="0">
                <a:solidFill>
                  <a:schemeClr val="tx1"/>
                </a:solidFill>
                <a:effectLst/>
                <a:latin typeface="+mn-lt"/>
                <a:ea typeface="+mn-ea"/>
                <a:cs typeface="+mn-cs"/>
              </a:rPr>
              <a:t>，并将</a:t>
            </a:r>
            <a:r>
              <a:rPr lang="en-US" altLang="zh-CN" sz="1200" b="0" i="0" kern="1200" dirty="0">
                <a:solidFill>
                  <a:schemeClr val="tx1"/>
                </a:solidFill>
                <a:effectLst/>
                <a:latin typeface="+mn-lt"/>
                <a:ea typeface="+mn-ea"/>
                <a:cs typeface="+mn-cs"/>
              </a:rPr>
              <a:t>IP</a:t>
            </a:r>
            <a:r>
              <a:rPr lang="zh-CN" altLang="en-US" sz="1200" b="0" i="0" kern="1200" dirty="0">
                <a:solidFill>
                  <a:schemeClr val="tx1"/>
                </a:solidFill>
                <a:effectLst/>
                <a:latin typeface="+mn-lt"/>
                <a:ea typeface="+mn-ea"/>
                <a:cs typeface="+mn-cs"/>
              </a:rPr>
              <a:t>地址中的 </a:t>
            </a:r>
            <a:r>
              <a:rPr lang="en-US" altLang="zh-CN" sz="1200" b="0" i="0" kern="1200" dirty="0">
                <a:solidFill>
                  <a:schemeClr val="tx1"/>
                </a:solidFill>
                <a:effectLst/>
                <a:latin typeface="+mn-lt"/>
                <a:ea typeface="+mn-ea"/>
                <a:cs typeface="+mn-cs"/>
              </a:rPr>
              <a:t>Bit </a:t>
            </a:r>
            <a:r>
              <a:rPr lang="zh-CN" altLang="en-US" sz="1200" b="0" i="0" kern="1200" dirty="0">
                <a:solidFill>
                  <a:schemeClr val="tx1"/>
                </a:solidFill>
                <a:effectLst/>
                <a:latin typeface="+mn-lt"/>
                <a:ea typeface="+mn-ea"/>
                <a:cs typeface="+mn-cs"/>
              </a:rPr>
              <a:t>分为三类，分别是 </a:t>
            </a:r>
            <a:r>
              <a:rPr lang="en-US" altLang="zh-CN" sz="1200" b="0" i="0" kern="1200" dirty="0">
                <a:solidFill>
                  <a:schemeClr val="tx1"/>
                </a:solidFill>
                <a:effectLst/>
                <a:latin typeface="+mn-lt"/>
                <a:ea typeface="+mn-ea"/>
                <a:cs typeface="+mn-cs"/>
              </a:rPr>
              <a:t>High order,  net,  host</a:t>
            </a:r>
            <a:r>
              <a:rPr lang="zh-CN" altLang="en-US" sz="1200" b="0" i="0" kern="1200" dirty="0">
                <a:solidFill>
                  <a:schemeClr val="tx1"/>
                </a:solidFill>
                <a:effectLst/>
                <a:latin typeface="+mn-lt"/>
                <a:ea typeface="+mn-ea"/>
                <a:cs typeface="+mn-cs"/>
              </a:rPr>
              <a:t>。</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然后更为关键的是下面的一句话 “</a:t>
            </a:r>
            <a:r>
              <a:rPr lang="en-US" altLang="zh-CN" sz="1200" b="0" i="0" kern="1200" dirty="0">
                <a:solidFill>
                  <a:schemeClr val="tx1"/>
                </a:solidFill>
                <a:effectLst/>
                <a:latin typeface="+mn-lt"/>
                <a:ea typeface="+mn-ea"/>
                <a:cs typeface="+mn-cs"/>
              </a:rPr>
              <a:t>A value of zero in the network field means this network.</a:t>
            </a:r>
            <a:r>
              <a:rPr lang="zh-CN" altLang="en-US" sz="1200" b="0" i="0" kern="1200" dirty="0">
                <a:solidFill>
                  <a:schemeClr val="tx1"/>
                </a:solidFill>
                <a:effectLst/>
                <a:latin typeface="+mn-lt"/>
                <a:ea typeface="+mn-ea"/>
                <a:cs typeface="+mn-cs"/>
              </a:rPr>
              <a:t>” 也就是说 </a:t>
            </a:r>
            <a:r>
              <a:rPr lang="en-US" altLang="zh-CN" sz="1200" b="0" i="0" kern="1200" dirty="0">
                <a:solidFill>
                  <a:schemeClr val="tx1"/>
                </a:solidFill>
                <a:effectLst/>
                <a:latin typeface="+mn-lt"/>
                <a:ea typeface="+mn-ea"/>
                <a:cs typeface="+mn-cs"/>
              </a:rPr>
              <a:t>net </a:t>
            </a:r>
            <a:r>
              <a:rPr lang="zh-CN" altLang="en-US" sz="1200" b="0" i="0" kern="1200" dirty="0">
                <a:solidFill>
                  <a:schemeClr val="tx1"/>
                </a:solidFill>
                <a:effectLst/>
                <a:latin typeface="+mn-lt"/>
                <a:ea typeface="+mn-ea"/>
                <a:cs typeface="+mn-cs"/>
              </a:rPr>
              <a:t>全</a:t>
            </a:r>
            <a:r>
              <a:rPr lang="en-US" altLang="zh-CN" sz="1200" b="0" i="0" kern="1200" dirty="0">
                <a:solidFill>
                  <a:schemeClr val="tx1"/>
                </a:solidFill>
                <a:effectLst/>
                <a:latin typeface="+mn-lt"/>
                <a:ea typeface="+mn-ea"/>
                <a:cs typeface="+mn-cs"/>
              </a:rPr>
              <a:t>0 </a:t>
            </a:r>
            <a:r>
              <a:rPr lang="zh-CN" altLang="en-US" sz="1200" b="0" i="0" kern="1200" dirty="0">
                <a:solidFill>
                  <a:schemeClr val="tx1"/>
                </a:solidFill>
                <a:effectLst/>
                <a:latin typeface="+mn-lt"/>
                <a:ea typeface="+mn-ea"/>
                <a:cs typeface="+mn-cs"/>
              </a:rPr>
              <a:t>表示本网络，因此真正可用的 </a:t>
            </a:r>
            <a:r>
              <a:rPr lang="en-US" altLang="zh-CN" sz="1200" b="0" i="0" kern="1200" dirty="0">
                <a:solidFill>
                  <a:schemeClr val="tx1"/>
                </a:solidFill>
                <a:effectLst/>
                <a:latin typeface="+mn-lt"/>
                <a:ea typeface="+mn-ea"/>
                <a:cs typeface="+mn-cs"/>
              </a:rPr>
              <a:t>net </a:t>
            </a:r>
            <a:r>
              <a:rPr lang="zh-CN" altLang="en-US" sz="1200" b="0" i="0" kern="1200" dirty="0">
                <a:solidFill>
                  <a:schemeClr val="tx1"/>
                </a:solidFill>
                <a:effectLst/>
                <a:latin typeface="+mn-lt"/>
                <a:ea typeface="+mn-ea"/>
                <a:cs typeface="+mn-cs"/>
              </a:rPr>
              <a:t>值应该是从</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开始。</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因为这条规则而无法使用的网络号是：</a:t>
            </a:r>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A: 0.0.0.0/8</a:t>
            </a:r>
          </a:p>
          <a:p>
            <a:r>
              <a:rPr lang="en-US" altLang="zh-CN" sz="1200" b="0" i="0" kern="1200" dirty="0">
                <a:solidFill>
                  <a:schemeClr val="tx1"/>
                </a:solidFill>
                <a:effectLst/>
                <a:latin typeface="+mn-lt"/>
                <a:ea typeface="+mn-ea"/>
                <a:cs typeface="+mn-cs"/>
              </a:rPr>
              <a:t>B: 128.0.0.0/16</a:t>
            </a:r>
          </a:p>
          <a:p>
            <a:r>
              <a:rPr lang="en-US" altLang="zh-CN" sz="1200" b="0" i="0" kern="1200" dirty="0">
                <a:solidFill>
                  <a:schemeClr val="tx1"/>
                </a:solidFill>
                <a:effectLst/>
                <a:latin typeface="+mn-lt"/>
                <a:ea typeface="+mn-ea"/>
                <a:cs typeface="+mn-cs"/>
              </a:rPr>
              <a:t>C: 192.0.0.0/24</a:t>
            </a: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根据 </a:t>
            </a:r>
            <a:r>
              <a:rPr lang="en-US" altLang="zh-CN" sz="1200" b="1" i="0" kern="1200" dirty="0">
                <a:solidFill>
                  <a:schemeClr val="tx1"/>
                </a:solidFill>
                <a:effectLst/>
                <a:latin typeface="+mn-lt"/>
                <a:ea typeface="+mn-ea"/>
                <a:cs typeface="+mn-cs"/>
              </a:rPr>
              <a:t>RFC 791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1981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-INTERNET PROTOCOL </a:t>
            </a:r>
            <a:r>
              <a:rPr lang="zh-CN" altLang="en-US" sz="1200" b="1" i="0" kern="1200" dirty="0">
                <a:solidFill>
                  <a:schemeClr val="tx1"/>
                </a:solidFill>
                <a:effectLst/>
                <a:latin typeface="+mn-lt"/>
                <a:ea typeface="+mn-ea"/>
                <a:cs typeface="+mn-cs"/>
              </a:rPr>
              <a:t>说明的标注继续在 </a:t>
            </a:r>
            <a:r>
              <a:rPr lang="en-US" altLang="zh-CN" sz="1200" b="1" i="0" kern="1200" dirty="0">
                <a:solidFill>
                  <a:schemeClr val="tx1"/>
                </a:solidFill>
                <a:effectLst/>
                <a:latin typeface="+mn-lt"/>
                <a:ea typeface="+mn-ea"/>
                <a:cs typeface="+mn-cs"/>
              </a:rPr>
              <a:t>RFC 790</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1981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 - ASSIGNED NUMBERS </a:t>
            </a:r>
            <a:r>
              <a:rPr lang="zh-CN" altLang="en-US" sz="1200" b="1" i="0" kern="1200" dirty="0">
                <a:solidFill>
                  <a:schemeClr val="tx1"/>
                </a:solidFill>
                <a:effectLst/>
                <a:latin typeface="+mn-lt"/>
                <a:ea typeface="+mn-ea"/>
                <a:cs typeface="+mn-cs"/>
              </a:rPr>
              <a:t>中找到了更为详细的说明：</a:t>
            </a:r>
            <a:endParaRPr lang="en-US" altLang="zh-CN" sz="1200" b="1"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A Networks      </a:t>
            </a:r>
          </a:p>
          <a:p>
            <a:r>
              <a:rPr lang="en-US" altLang="zh-CN" sz="1200" b="0" i="0" kern="1200" dirty="0">
                <a:solidFill>
                  <a:schemeClr val="tx1"/>
                </a:solidFill>
                <a:effectLst/>
                <a:latin typeface="+mn-lt"/>
                <a:ea typeface="+mn-ea"/>
                <a:cs typeface="+mn-cs"/>
              </a:rPr>
              <a:t>Internet Address  Name          Network                 References      </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000.rrr.rrr.rrr                 Reserved                               [JBP]  </a:t>
            </a: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B Networks      </a:t>
            </a:r>
          </a:p>
          <a:p>
            <a:r>
              <a:rPr lang="en-US" altLang="zh-CN" sz="1200" b="0" i="0" kern="1200" dirty="0">
                <a:solidFill>
                  <a:schemeClr val="tx1"/>
                </a:solidFill>
                <a:effectLst/>
                <a:latin typeface="+mn-lt"/>
                <a:ea typeface="+mn-ea"/>
                <a:cs typeface="+mn-cs"/>
              </a:rPr>
              <a:t>Internet Address  Name          Network                 References</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128.000.rrr.rrr                 Reserved                             [JBP]</a:t>
            </a:r>
          </a:p>
          <a:p>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A </a:t>
            </a:r>
            <a:r>
              <a:rPr lang="zh-CN" altLang="en-US" sz="1200" b="0" i="0" kern="1200" dirty="0">
                <a:solidFill>
                  <a:schemeClr val="tx1"/>
                </a:solidFill>
                <a:effectLst/>
                <a:latin typeface="+mn-lt"/>
                <a:ea typeface="+mn-ea"/>
                <a:cs typeface="+mn-cs"/>
              </a:rPr>
              <a:t>类和 </a:t>
            </a:r>
            <a:r>
              <a:rPr lang="en-US" altLang="zh-CN" sz="1200" b="0" i="0" kern="1200" dirty="0">
                <a:solidFill>
                  <a:schemeClr val="tx1"/>
                </a:solidFill>
                <a:effectLst/>
                <a:latin typeface="+mn-lt"/>
                <a:ea typeface="+mn-ea"/>
                <a:cs typeface="+mn-cs"/>
              </a:rPr>
              <a:t>B </a:t>
            </a:r>
            <a:r>
              <a:rPr lang="zh-CN" altLang="en-US" sz="1200" b="0" i="0" kern="1200" dirty="0">
                <a:solidFill>
                  <a:schemeClr val="tx1"/>
                </a:solidFill>
                <a:effectLst/>
                <a:latin typeface="+mn-lt"/>
                <a:ea typeface="+mn-ea"/>
                <a:cs typeface="+mn-cs"/>
              </a:rPr>
              <a:t>类地址都明确说了 </a:t>
            </a:r>
            <a:r>
              <a:rPr lang="en-US" altLang="zh-CN" sz="1200" b="0" i="0" kern="1200" dirty="0">
                <a:solidFill>
                  <a:schemeClr val="tx1"/>
                </a:solidFill>
                <a:effectLst/>
                <a:latin typeface="+mn-lt"/>
                <a:ea typeface="+mn-ea"/>
                <a:cs typeface="+mn-cs"/>
              </a:rPr>
              <a:t>0.x.x.x </a:t>
            </a:r>
            <a:r>
              <a:rPr lang="zh-CN" altLang="en-US" sz="1200" b="0" i="0" kern="1200" dirty="0">
                <a:solidFill>
                  <a:schemeClr val="tx1"/>
                </a:solidFill>
                <a:effectLst/>
                <a:latin typeface="+mn-lt"/>
                <a:ea typeface="+mn-ea"/>
                <a:cs typeface="+mn-cs"/>
              </a:rPr>
              <a:t>及 </a:t>
            </a:r>
            <a:r>
              <a:rPr lang="en-US" altLang="zh-CN" sz="1200" b="0" i="0" kern="1200" dirty="0">
                <a:solidFill>
                  <a:schemeClr val="tx1"/>
                </a:solidFill>
                <a:effectLst/>
                <a:latin typeface="+mn-lt"/>
                <a:ea typeface="+mn-ea"/>
                <a:cs typeface="+mn-cs"/>
              </a:rPr>
              <a:t>128.0.x.x </a:t>
            </a:r>
            <a:r>
              <a:rPr lang="zh-CN" altLang="en-US" sz="1200" b="0" i="0" kern="1200" dirty="0">
                <a:solidFill>
                  <a:schemeClr val="tx1"/>
                </a:solidFill>
                <a:effectLst/>
                <a:latin typeface="+mn-lt"/>
                <a:ea typeface="+mn-ea"/>
                <a:cs typeface="+mn-cs"/>
              </a:rPr>
              <a:t>都是保留地址，而在 </a:t>
            </a:r>
            <a:r>
              <a:rPr lang="en-US" altLang="zh-CN" sz="1200" b="0" i="0" kern="1200" dirty="0">
                <a:solidFill>
                  <a:schemeClr val="tx1"/>
                </a:solidFill>
                <a:effectLst/>
                <a:latin typeface="+mn-lt"/>
                <a:ea typeface="+mn-ea"/>
                <a:cs typeface="+mn-cs"/>
              </a:rPr>
              <a:t>C </a:t>
            </a:r>
            <a:r>
              <a:rPr lang="zh-CN" altLang="en-US" sz="1200" b="0" i="0" kern="1200" dirty="0">
                <a:solidFill>
                  <a:schemeClr val="tx1"/>
                </a:solidFill>
                <a:effectLst/>
                <a:latin typeface="+mn-lt"/>
                <a:ea typeface="+mn-ea"/>
                <a:cs typeface="+mn-cs"/>
              </a:rPr>
              <a:t>类中应该是 </a:t>
            </a:r>
            <a:r>
              <a:rPr lang="en-US" altLang="zh-CN" sz="1200" b="0" i="0" kern="1200" dirty="0">
                <a:solidFill>
                  <a:schemeClr val="tx1"/>
                </a:solidFill>
                <a:effectLst/>
                <a:latin typeface="+mn-lt"/>
                <a:ea typeface="+mn-ea"/>
                <a:cs typeface="+mn-cs"/>
              </a:rPr>
              <a:t>RFC </a:t>
            </a:r>
            <a:r>
              <a:rPr lang="zh-CN" altLang="en-US" sz="1200" b="0" i="0" kern="1200" dirty="0">
                <a:solidFill>
                  <a:schemeClr val="tx1"/>
                </a:solidFill>
                <a:effectLst/>
                <a:latin typeface="+mn-lt"/>
                <a:ea typeface="+mn-ea"/>
                <a:cs typeface="+mn-cs"/>
              </a:rPr>
              <a:t>文档出现了明显的错误，因为 </a:t>
            </a:r>
            <a:r>
              <a:rPr lang="en-US" altLang="zh-CN" sz="1200" b="0" i="0" kern="1200" dirty="0">
                <a:solidFill>
                  <a:schemeClr val="tx1"/>
                </a:solidFill>
                <a:effectLst/>
                <a:latin typeface="+mn-lt"/>
                <a:ea typeface="+mn-ea"/>
                <a:cs typeface="+mn-cs"/>
              </a:rPr>
              <a:t>192.000.001 </a:t>
            </a:r>
            <a:r>
              <a:rPr lang="zh-CN" altLang="en-US" sz="1200" b="0" i="0" kern="1200" dirty="0">
                <a:solidFill>
                  <a:schemeClr val="tx1"/>
                </a:solidFill>
                <a:effectLst/>
                <a:latin typeface="+mn-lt"/>
                <a:ea typeface="+mn-ea"/>
                <a:cs typeface="+mn-cs"/>
              </a:rPr>
              <a:t>开头的地址不可能同属两行，显然这里要说明的是 </a:t>
            </a:r>
            <a:r>
              <a:rPr lang="en-US" altLang="zh-CN" sz="1200" b="0" i="0" kern="1200" dirty="0">
                <a:solidFill>
                  <a:schemeClr val="tx1"/>
                </a:solidFill>
                <a:effectLst/>
                <a:latin typeface="+mn-lt"/>
                <a:ea typeface="+mn-ea"/>
                <a:cs typeface="+mn-cs"/>
              </a:rPr>
              <a:t>192.0.0.x </a:t>
            </a:r>
            <a:r>
              <a:rPr lang="zh-CN" altLang="en-US" sz="1200" b="0" i="0" kern="1200" dirty="0">
                <a:solidFill>
                  <a:schemeClr val="tx1"/>
                </a:solidFill>
                <a:effectLst/>
                <a:latin typeface="+mn-lt"/>
                <a:ea typeface="+mn-ea"/>
                <a:cs typeface="+mn-cs"/>
              </a:rPr>
              <a:t>也是保留地址。  </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C Networks</a:t>
            </a:r>
            <a:r>
              <a:rPr lang="en-US" altLang="zh-CN" sz="1200" b="0" i="0" kern="1200" dirty="0">
                <a:solidFill>
                  <a:schemeClr val="tx1"/>
                </a:solidFill>
                <a:effectLst/>
                <a:latin typeface="+mn-lt"/>
                <a:ea typeface="+mn-ea"/>
                <a:cs typeface="+mn-cs"/>
              </a:rPr>
              <a:t>      </a:t>
            </a:r>
          </a:p>
          <a:p>
            <a:r>
              <a:rPr lang="en-US" altLang="zh-CN" sz="1200" b="0" i="0" kern="1200" dirty="0">
                <a:solidFill>
                  <a:schemeClr val="tx1"/>
                </a:solidFill>
                <a:effectLst/>
                <a:latin typeface="+mn-lt"/>
                <a:ea typeface="+mn-ea"/>
                <a:cs typeface="+mn-cs"/>
              </a:rPr>
              <a:t>Internet Address  Name          Network                 References      </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192.000.001.rrr                              Reserved                      [JBP]      </a:t>
            </a:r>
          </a:p>
          <a:p>
            <a:r>
              <a:rPr lang="en-US" altLang="zh-CN" sz="1200" b="0" i="0" kern="1200" dirty="0">
                <a:solidFill>
                  <a:schemeClr val="tx1"/>
                </a:solidFill>
                <a:effectLst/>
                <a:latin typeface="+mn-lt"/>
                <a:ea typeface="+mn-ea"/>
                <a:cs typeface="+mn-cs"/>
              </a:rPr>
              <a:t>192.000.001.rrr-223.255.254.rrr   Unassigned                   [JBP]</a:t>
            </a: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在 </a:t>
            </a:r>
            <a:r>
              <a:rPr lang="en-US" altLang="zh-CN" sz="1200" b="1" i="0" kern="1200" dirty="0">
                <a:solidFill>
                  <a:schemeClr val="tx1"/>
                </a:solidFill>
                <a:effectLst/>
                <a:latin typeface="+mn-lt"/>
                <a:ea typeface="+mn-ea"/>
                <a:cs typeface="+mn-cs"/>
              </a:rPr>
              <a:t>RFC 3330</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2002</a:t>
            </a:r>
            <a:r>
              <a:rPr lang="zh-CN" altLang="en-US" sz="1200" b="1" i="0" kern="1200" dirty="0">
                <a:solidFill>
                  <a:schemeClr val="tx1"/>
                </a:solidFill>
                <a:effectLst/>
                <a:latin typeface="+mn-lt"/>
                <a:ea typeface="+mn-ea"/>
                <a:cs typeface="+mn-cs"/>
              </a:rPr>
              <a:t>年）</a:t>
            </a:r>
            <a:r>
              <a:rPr lang="en-US" altLang="zh-CN" sz="1200" b="1" i="0" kern="1200" dirty="0">
                <a:solidFill>
                  <a:schemeClr val="tx1"/>
                </a:solidFill>
                <a:effectLst/>
                <a:latin typeface="+mn-lt"/>
                <a:ea typeface="+mn-ea"/>
                <a:cs typeface="+mn-cs"/>
              </a:rPr>
              <a:t> - Special-Use IPv4 Addresses </a:t>
            </a:r>
            <a:r>
              <a:rPr lang="zh-CN" altLang="en-US" sz="1200" b="1" i="0" kern="1200" dirty="0">
                <a:solidFill>
                  <a:schemeClr val="tx1"/>
                </a:solidFill>
                <a:effectLst/>
                <a:latin typeface="+mn-lt"/>
                <a:ea typeface="+mn-ea"/>
                <a:cs typeface="+mn-cs"/>
              </a:rPr>
              <a:t>里有关于这两段地址的明确说明：   </a:t>
            </a:r>
            <a:endParaRPr lang="en-US" altLang="zh-CN" sz="1200" b="1"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128.0.0.0/16 </a:t>
            </a:r>
            <a:r>
              <a:rPr lang="en-US" altLang="zh-CN" sz="1200" b="0" i="0" kern="1200" dirty="0">
                <a:solidFill>
                  <a:schemeClr val="tx1"/>
                </a:solidFill>
                <a:effectLst/>
                <a:latin typeface="+mn-lt"/>
                <a:ea typeface="+mn-ea"/>
                <a:cs typeface="+mn-cs"/>
              </a:rPr>
              <a:t>- This block, corresponding to the numerically lowest of   the former Class B addresses, was initially and is still reserved by  the IANA.  </a:t>
            </a:r>
          </a:p>
          <a:p>
            <a:r>
              <a:rPr lang="en-US" altLang="zh-CN" sz="1200" b="0" i="0" kern="1200" dirty="0">
                <a:solidFill>
                  <a:schemeClr val="tx1"/>
                </a:solidFill>
                <a:effectLst/>
                <a:latin typeface="+mn-lt"/>
                <a:ea typeface="+mn-ea"/>
                <a:cs typeface="+mn-cs"/>
              </a:rPr>
              <a:t>Given the present classless nature of the IP address   space, the basis for the reservation no longer applies and addresses   in this block are subject to future allocation to a Regional Internet   Registry for assignment in the normal manner.   </a:t>
            </a:r>
          </a:p>
          <a:p>
            <a:r>
              <a:rPr lang="zh-CN" altLang="en-US" sz="1200" b="0" i="0" kern="1200" dirty="0">
                <a:solidFill>
                  <a:schemeClr val="tx1"/>
                </a:solidFill>
                <a:effectLst/>
                <a:latin typeface="+mn-lt"/>
                <a:ea typeface="+mn-ea"/>
                <a:cs typeface="+mn-cs"/>
              </a:rPr>
              <a:t>（</a:t>
            </a:r>
            <a:r>
              <a:rPr lang="en-US" altLang="zh-CN" sz="1200" b="0" i="0" kern="1200" dirty="0">
                <a:solidFill>
                  <a:schemeClr val="tx1"/>
                </a:solidFill>
                <a:effectLst/>
                <a:latin typeface="+mn-lt"/>
                <a:ea typeface="+mn-ea"/>
                <a:cs typeface="+mn-cs"/>
              </a:rPr>
              <a:t>128.0.0.0/16 - </a:t>
            </a:r>
            <a:r>
              <a:rPr lang="zh-CN" altLang="en-US" sz="1200" b="0" i="0" kern="1200" dirty="0">
                <a:solidFill>
                  <a:schemeClr val="tx1"/>
                </a:solidFill>
                <a:effectLst/>
                <a:latin typeface="+mn-lt"/>
                <a:ea typeface="+mn-ea"/>
                <a:cs typeface="+mn-cs"/>
              </a:rPr>
              <a:t>该块对应于前 </a:t>
            </a:r>
            <a:r>
              <a:rPr lang="en-US" altLang="zh-CN" sz="1200" b="0" i="0" kern="1200" dirty="0">
                <a:solidFill>
                  <a:schemeClr val="tx1"/>
                </a:solidFill>
                <a:effectLst/>
                <a:latin typeface="+mn-lt"/>
                <a:ea typeface="+mn-ea"/>
                <a:cs typeface="+mn-cs"/>
              </a:rPr>
              <a:t>B </a:t>
            </a:r>
            <a:r>
              <a:rPr lang="zh-CN" altLang="en-US" sz="1200" b="0" i="0" kern="1200" dirty="0">
                <a:solidFill>
                  <a:schemeClr val="tx1"/>
                </a:solidFill>
                <a:effectLst/>
                <a:latin typeface="+mn-lt"/>
                <a:ea typeface="+mn-ea"/>
                <a:cs typeface="+mn-cs"/>
              </a:rPr>
              <a:t>类地址中数字最低的地址，最初并且仍然由 </a:t>
            </a:r>
            <a:r>
              <a:rPr lang="en-US" altLang="zh-CN" sz="1200" b="0" i="0" kern="1200" dirty="0">
                <a:solidFill>
                  <a:schemeClr val="tx1"/>
                </a:solidFill>
                <a:effectLst/>
                <a:latin typeface="+mn-lt"/>
                <a:ea typeface="+mn-ea"/>
                <a:cs typeface="+mn-cs"/>
              </a:rPr>
              <a:t>IANA </a:t>
            </a:r>
            <a:r>
              <a:rPr lang="zh-CN" altLang="en-US" sz="1200" b="0" i="0" kern="1200" dirty="0">
                <a:solidFill>
                  <a:schemeClr val="tx1"/>
                </a:solidFill>
                <a:effectLst/>
                <a:latin typeface="+mn-lt"/>
                <a:ea typeface="+mn-ea"/>
                <a:cs typeface="+mn-cs"/>
              </a:rPr>
              <a:t>保留。鉴于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192.0.0.0/24</a:t>
            </a:r>
            <a:r>
              <a:rPr lang="en-US" altLang="zh-CN" sz="1200" b="0" i="0" kern="1200" dirty="0">
                <a:solidFill>
                  <a:schemeClr val="tx1"/>
                </a:solidFill>
                <a:effectLst/>
                <a:latin typeface="+mn-lt"/>
                <a:ea typeface="+mn-ea"/>
                <a:cs typeface="+mn-cs"/>
              </a:rPr>
              <a:t> - This block, corresponding to the numerically lowest of   the former Class C addresses, was initially and is still reserved by   the IANA.  </a:t>
            </a:r>
          </a:p>
          <a:p>
            <a:r>
              <a:rPr lang="en-US" altLang="zh-CN" sz="1200" b="0" i="0" kern="1200" dirty="0">
                <a:solidFill>
                  <a:schemeClr val="tx1"/>
                </a:solidFill>
                <a:effectLst/>
                <a:latin typeface="+mn-lt"/>
                <a:ea typeface="+mn-ea"/>
                <a:cs typeface="+mn-cs"/>
              </a:rPr>
              <a:t>Given the present classless nature of the IP address   space, the basis for the reservation no longer applies and addresses   in this block are subject to future allocation to a Regional Internet   Registry for assignment in the normal manner.</a:t>
            </a:r>
          </a:p>
          <a:p>
            <a:r>
              <a:rPr lang="zh-CN" altLang="en-US" sz="1200" b="0" i="0" kern="1200" dirty="0">
                <a:solidFill>
                  <a:schemeClr val="tx1"/>
                </a:solidFill>
                <a:effectLst/>
                <a:latin typeface="+mn-lt"/>
                <a:ea typeface="+mn-ea"/>
                <a:cs typeface="+mn-cs"/>
              </a:rPr>
              <a:t>（</a:t>
            </a:r>
            <a:r>
              <a:rPr lang="en-US" altLang="zh-CN" sz="1200" b="0" i="0" kern="1200" dirty="0">
                <a:solidFill>
                  <a:schemeClr val="tx1"/>
                </a:solidFill>
                <a:effectLst/>
                <a:latin typeface="+mn-lt"/>
                <a:ea typeface="+mn-ea"/>
                <a:cs typeface="+mn-cs"/>
              </a:rPr>
              <a:t>192.0.0.0/24 - </a:t>
            </a:r>
            <a:r>
              <a:rPr lang="zh-CN" altLang="en-US" sz="1200" b="0" i="0" kern="1200" dirty="0">
                <a:solidFill>
                  <a:schemeClr val="tx1"/>
                </a:solidFill>
                <a:effectLst/>
                <a:latin typeface="+mn-lt"/>
                <a:ea typeface="+mn-ea"/>
                <a:cs typeface="+mn-cs"/>
              </a:rPr>
              <a:t>该块对应于以前的 </a:t>
            </a:r>
            <a:r>
              <a:rPr lang="en-US" altLang="zh-CN" sz="1200" b="0" i="0" kern="1200" dirty="0">
                <a:solidFill>
                  <a:schemeClr val="tx1"/>
                </a:solidFill>
                <a:effectLst/>
                <a:latin typeface="+mn-lt"/>
                <a:ea typeface="+mn-ea"/>
                <a:cs typeface="+mn-cs"/>
              </a:rPr>
              <a:t>C </a:t>
            </a:r>
            <a:r>
              <a:rPr lang="zh-CN" altLang="en-US" sz="1200" b="0" i="0" kern="1200" dirty="0">
                <a:solidFill>
                  <a:schemeClr val="tx1"/>
                </a:solidFill>
                <a:effectLst/>
                <a:latin typeface="+mn-lt"/>
                <a:ea typeface="+mn-ea"/>
                <a:cs typeface="+mn-cs"/>
              </a:rPr>
              <a:t>类地址中数字最低的地址，最初并且仍然由 </a:t>
            </a:r>
            <a:r>
              <a:rPr lang="en-US" altLang="zh-CN" sz="1200" b="0" i="0" kern="1200" dirty="0">
                <a:solidFill>
                  <a:schemeClr val="tx1"/>
                </a:solidFill>
                <a:effectLst/>
                <a:latin typeface="+mn-lt"/>
                <a:ea typeface="+mn-ea"/>
                <a:cs typeface="+mn-cs"/>
              </a:rPr>
              <a:t>IANA </a:t>
            </a:r>
            <a:r>
              <a:rPr lang="zh-CN" altLang="en-US" sz="1200" b="0" i="0" kern="1200" dirty="0">
                <a:solidFill>
                  <a:schemeClr val="tx1"/>
                </a:solidFill>
                <a:effectLst/>
                <a:latin typeface="+mn-lt"/>
                <a:ea typeface="+mn-ea"/>
                <a:cs typeface="+mn-cs"/>
              </a:rPr>
              <a:t>保留。鉴于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这个 </a:t>
            </a:r>
            <a:r>
              <a:rPr lang="en-US" altLang="zh-CN" sz="1200" b="1" i="0" kern="1200" dirty="0">
                <a:solidFill>
                  <a:schemeClr val="tx1"/>
                </a:solidFill>
                <a:effectLst/>
                <a:latin typeface="+mn-lt"/>
                <a:ea typeface="+mn-ea"/>
                <a:cs typeface="+mn-cs"/>
              </a:rPr>
              <a:t>RFC </a:t>
            </a:r>
            <a:r>
              <a:rPr lang="zh-CN" altLang="en-US" sz="1200" b="1" i="0" kern="1200" dirty="0">
                <a:solidFill>
                  <a:schemeClr val="tx1"/>
                </a:solidFill>
                <a:effectLst/>
                <a:latin typeface="+mn-lt"/>
                <a:ea typeface="+mn-ea"/>
                <a:cs typeface="+mn-cs"/>
              </a:rPr>
              <a:t>发表于 </a:t>
            </a:r>
            <a:r>
              <a:rPr lang="en-US" altLang="zh-CN" sz="1200" b="1" i="0" kern="1200" dirty="0">
                <a:solidFill>
                  <a:schemeClr val="tx1"/>
                </a:solidFill>
                <a:effectLst/>
                <a:latin typeface="+mn-lt"/>
                <a:ea typeface="+mn-ea"/>
                <a:cs typeface="+mn-cs"/>
              </a:rPr>
              <a:t>2002 </a:t>
            </a:r>
            <a:r>
              <a:rPr lang="zh-CN" altLang="en-US" sz="1200" b="1" i="0" kern="1200" dirty="0">
                <a:solidFill>
                  <a:schemeClr val="tx1"/>
                </a:solidFill>
                <a:effectLst/>
                <a:latin typeface="+mn-lt"/>
                <a:ea typeface="+mn-ea"/>
                <a:cs typeface="+mn-cs"/>
              </a:rPr>
              <a:t>年，对于这两段地址明确表示因为无类地址空间的原因，不再需要保留，地址将在今后进行分配。</a:t>
            </a:r>
            <a:endParaRPr lang="en-US" altLang="zh-CN" sz="1200" b="1"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主机号不能为全 </a:t>
            </a:r>
            <a:r>
              <a:rPr lang="en-US" altLang="zh-CN" sz="1200" b="1" i="0" kern="1200" dirty="0">
                <a:solidFill>
                  <a:schemeClr val="tx1"/>
                </a:solidFill>
                <a:effectLst/>
                <a:latin typeface="+mn-lt"/>
                <a:ea typeface="+mn-ea"/>
                <a:cs typeface="+mn-cs"/>
              </a:rPr>
              <a:t>0 </a:t>
            </a:r>
            <a:r>
              <a:rPr lang="zh-CN" altLang="en-US" sz="1200" b="1" i="0" kern="1200" dirty="0">
                <a:solidFill>
                  <a:schemeClr val="tx1"/>
                </a:solidFill>
                <a:effectLst/>
                <a:latin typeface="+mn-lt"/>
                <a:ea typeface="+mn-ea"/>
                <a:cs typeface="+mn-cs"/>
              </a:rPr>
              <a:t>和全 </a:t>
            </a:r>
            <a:r>
              <a:rPr lang="en-US" altLang="zh-CN" sz="1200" b="1" i="0" kern="1200" dirty="0">
                <a:solidFill>
                  <a:schemeClr val="tx1"/>
                </a:solidFill>
                <a:effectLst/>
                <a:latin typeface="+mn-lt"/>
                <a:ea typeface="+mn-ea"/>
                <a:cs typeface="+mn-cs"/>
              </a:rPr>
              <a:t>1</a:t>
            </a:r>
          </a:p>
          <a:p>
            <a:pPr marL="171450" indent="-171450">
              <a:buFont typeface="Arial" panose="020B0604020202020204" pitchFamily="34" charset="0"/>
              <a:buChar char="•"/>
            </a:pPr>
            <a:r>
              <a:rPr lang="zh-CN" altLang="en-US" sz="1200" b="0" i="0" kern="1200" dirty="0">
                <a:solidFill>
                  <a:schemeClr val="tx1"/>
                </a:solidFill>
                <a:effectLst/>
                <a:latin typeface="+mn-lt"/>
                <a:ea typeface="+mn-ea"/>
                <a:cs typeface="+mn-cs"/>
              </a:rPr>
              <a:t>主机位全为</a:t>
            </a:r>
            <a:r>
              <a:rPr lang="en-US" altLang="zh-CN" sz="1200" b="0" i="0" kern="1200" dirty="0">
                <a:solidFill>
                  <a:schemeClr val="tx1"/>
                </a:solidFill>
                <a:effectLst/>
                <a:latin typeface="+mn-lt"/>
                <a:ea typeface="+mn-ea"/>
                <a:cs typeface="+mn-cs"/>
              </a:rPr>
              <a:t>0</a:t>
            </a:r>
            <a:r>
              <a:rPr lang="zh-CN" altLang="en-US" sz="1200" b="0" i="0" kern="1200" dirty="0">
                <a:solidFill>
                  <a:schemeClr val="tx1"/>
                </a:solidFill>
                <a:effectLst/>
                <a:latin typeface="+mn-lt"/>
                <a:ea typeface="+mn-ea"/>
                <a:cs typeface="+mn-cs"/>
              </a:rPr>
              <a:t>表示的是这个网络中主机所处的网络地址，主机间能不能直接通信就是要看这两台主机是不是在同一个网络中！所以这个不能分配。</a:t>
            </a:r>
            <a:endParaRPr lang="en-US" altLang="zh-CN"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zh-CN" altLang="en-US" sz="1200" b="0" i="0" kern="1200" dirty="0">
                <a:solidFill>
                  <a:schemeClr val="tx1"/>
                </a:solidFill>
                <a:effectLst/>
                <a:latin typeface="+mn-lt"/>
                <a:ea typeface="+mn-ea"/>
                <a:cs typeface="+mn-cs"/>
              </a:rPr>
              <a:t>地址位全为</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的地址是这个网络中主机的广播地址，当网络中一台主机向这个</a:t>
            </a:r>
            <a:r>
              <a:rPr lang="en-US" altLang="zh-CN" sz="1200" b="0" i="0" kern="1200" dirty="0" err="1">
                <a:solidFill>
                  <a:schemeClr val="tx1"/>
                </a:solidFill>
                <a:effectLst/>
                <a:latin typeface="+mn-lt"/>
                <a:ea typeface="+mn-ea"/>
                <a:cs typeface="+mn-cs"/>
              </a:rPr>
              <a:t>ip</a:t>
            </a:r>
            <a:r>
              <a:rPr lang="zh-CN" altLang="en-US" sz="1200" b="0" i="0" kern="1200" dirty="0">
                <a:solidFill>
                  <a:schemeClr val="tx1"/>
                </a:solidFill>
                <a:effectLst/>
                <a:latin typeface="+mn-lt"/>
                <a:ea typeface="+mn-ea"/>
                <a:cs typeface="+mn-cs"/>
              </a:rPr>
              <a:t>地址发送信息是，所有与这台主机在同一个网络的主机都能收到它发送的信息，所以这个也不能具体分配给一台主机。</a:t>
            </a:r>
            <a:endParaRPr lang="en-US" altLang="zh-CN" dirty="0"/>
          </a:p>
          <a:p>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1" i="0" kern="1200" dirty="0">
                <a:solidFill>
                  <a:schemeClr val="tx1"/>
                </a:solidFill>
                <a:effectLst/>
                <a:latin typeface="+mn-lt"/>
                <a:ea typeface="+mn-ea"/>
                <a:cs typeface="+mn-cs"/>
              </a:rPr>
              <a:t>网络号或子网号是否能为 全 </a:t>
            </a:r>
            <a:r>
              <a:rPr lang="en-US" altLang="zh-CN" sz="1200" b="1" i="0" kern="1200" dirty="0">
                <a:solidFill>
                  <a:schemeClr val="tx1"/>
                </a:solidFill>
                <a:effectLst/>
                <a:latin typeface="+mn-lt"/>
                <a:ea typeface="+mn-ea"/>
                <a:cs typeface="+mn-cs"/>
              </a:rPr>
              <a:t>0 </a:t>
            </a:r>
            <a:r>
              <a:rPr lang="zh-CN" altLang="en-US" sz="1200" b="1" i="0" kern="1200" dirty="0">
                <a:solidFill>
                  <a:schemeClr val="tx1"/>
                </a:solidFill>
                <a:effectLst/>
                <a:latin typeface="+mn-lt"/>
                <a:ea typeface="+mn-ea"/>
                <a:cs typeface="+mn-cs"/>
              </a:rPr>
              <a:t>和全 </a:t>
            </a:r>
            <a:r>
              <a:rPr lang="en-US" altLang="zh-CN" sz="1200" b="1" i="0" kern="1200" dirty="0">
                <a:solidFill>
                  <a:schemeClr val="tx1"/>
                </a:solidFill>
                <a:effectLst/>
                <a:latin typeface="+mn-lt"/>
                <a:ea typeface="+mn-ea"/>
                <a:cs typeface="+mn-cs"/>
              </a:rPr>
              <a:t>1</a:t>
            </a:r>
            <a:r>
              <a:rPr lang="zh-CN" altLang="en-US" sz="1200" b="1" i="0" kern="1200" dirty="0">
                <a:solidFill>
                  <a:schemeClr val="tx1"/>
                </a:solidFill>
                <a:effectLst/>
                <a:latin typeface="+mn-lt"/>
                <a:ea typeface="+mn-ea"/>
                <a:cs typeface="+mn-cs"/>
              </a:rPr>
              <a:t>？</a:t>
            </a:r>
            <a:endParaRPr lang="en-US" altLang="zh-CN" sz="1200" b="1" i="0" kern="1200" dirty="0">
              <a:solidFill>
                <a:schemeClr val="tx1"/>
              </a:solidFill>
              <a:effectLst/>
              <a:latin typeface="+mn-lt"/>
              <a:ea typeface="+mn-ea"/>
              <a:cs typeface="+mn-cs"/>
            </a:endParaRPr>
          </a:p>
          <a:p>
            <a:pPr marL="171450" indent="-171450">
              <a:buFont typeface="Arial" panose="020B0604020202020204" pitchFamily="34" charset="0"/>
              <a:buChar char="•"/>
            </a:pPr>
            <a:r>
              <a:rPr lang="zh-CN" altLang="en-US" dirty="0"/>
              <a:t>在 </a:t>
            </a:r>
            <a:r>
              <a:rPr lang="en-US" altLang="zh-CN" dirty="0" err="1"/>
              <a:t>Classful</a:t>
            </a:r>
            <a:r>
              <a:rPr lang="en-US" altLang="zh-CN" dirty="0"/>
              <a:t> </a:t>
            </a:r>
            <a:r>
              <a:rPr lang="zh-CN" altLang="en-US" dirty="0"/>
              <a:t>环境，即严格按照</a:t>
            </a:r>
            <a:r>
              <a:rPr lang="en-US" altLang="zh-CN" dirty="0"/>
              <a:t> A.B.C.D </a:t>
            </a:r>
            <a:r>
              <a:rPr lang="zh-CN" altLang="en-US" dirty="0"/>
              <a:t>给 </a:t>
            </a:r>
            <a:r>
              <a:rPr lang="en-US" altLang="zh-CN" dirty="0"/>
              <a:t>IP </a:t>
            </a:r>
            <a:r>
              <a:rPr lang="zh-CN" altLang="en-US" dirty="0"/>
              <a:t>地址分类的环境下，为了避免二意性，全 </a:t>
            </a:r>
            <a:r>
              <a:rPr lang="en-US" altLang="zh-CN" dirty="0"/>
              <a:t>0 </a:t>
            </a:r>
            <a:r>
              <a:rPr lang="zh-CN" altLang="en-US" dirty="0"/>
              <a:t>和 全  </a:t>
            </a:r>
            <a:r>
              <a:rPr lang="en-US" altLang="zh-CN" dirty="0"/>
              <a:t>1 </a:t>
            </a:r>
            <a:r>
              <a:rPr lang="zh-CN" altLang="en-US" dirty="0"/>
              <a:t>子网号都不能使用。</a:t>
            </a:r>
            <a:endParaRPr lang="en-US" altLang="zh-CN" dirty="0"/>
          </a:p>
          <a:p>
            <a:pPr marL="171450" indent="-171450">
              <a:buFont typeface="Arial" panose="020B0604020202020204" pitchFamily="34" charset="0"/>
              <a:buChar char="•"/>
            </a:pPr>
            <a:r>
              <a:rPr lang="zh-CN" altLang="en-US" dirty="0"/>
              <a:t>在 </a:t>
            </a:r>
            <a:r>
              <a:rPr lang="en-US" altLang="zh-CN" dirty="0"/>
              <a:t>Classless</a:t>
            </a:r>
            <a:r>
              <a:rPr lang="zh-CN" altLang="en-US" baseline="0" dirty="0"/>
              <a:t> </a:t>
            </a:r>
            <a:r>
              <a:rPr lang="zh-CN" altLang="en-US" dirty="0"/>
              <a:t>环境下，任何时候掩码和 </a:t>
            </a:r>
            <a:r>
              <a:rPr lang="en-US" altLang="zh-CN" dirty="0"/>
              <a:t>IP </a:t>
            </a:r>
            <a:r>
              <a:rPr lang="zh-CN" altLang="en-US" dirty="0"/>
              <a:t>地址都成对出现，这样，前面谈到的二意性就不会存在。</a:t>
            </a:r>
            <a:endParaRPr lang="en-US" altLang="zh-CN" dirty="0"/>
          </a:p>
          <a:p>
            <a:endParaRPr lang="en-US" altLang="zh-CN" dirty="0"/>
          </a:p>
          <a:p>
            <a:r>
              <a:rPr lang="zh-CN" altLang="en-US" dirty="0"/>
              <a:t>是 </a:t>
            </a:r>
            <a:r>
              <a:rPr lang="en-US" altLang="zh-CN" dirty="0" err="1"/>
              <a:t>Classful</a:t>
            </a:r>
            <a:r>
              <a:rPr lang="en-US" altLang="zh-CN" dirty="0"/>
              <a:t> </a:t>
            </a:r>
            <a:r>
              <a:rPr lang="zh-CN" altLang="en-US" dirty="0"/>
              <a:t>还是 </a:t>
            </a:r>
            <a:r>
              <a:rPr lang="en-US" altLang="zh-CN" dirty="0"/>
              <a:t>Classless </a:t>
            </a:r>
            <a:r>
              <a:rPr lang="zh-CN" altLang="en-US" dirty="0"/>
              <a:t>取决于路由器运行的路由协议，一个路由器可同时运行 </a:t>
            </a:r>
            <a:r>
              <a:rPr lang="en-US" altLang="zh-CN" dirty="0" err="1"/>
              <a:t>Classful</a:t>
            </a:r>
            <a:r>
              <a:rPr lang="en-US" altLang="zh-CN" dirty="0"/>
              <a:t> </a:t>
            </a:r>
            <a:r>
              <a:rPr lang="zh-CN" altLang="en-US" dirty="0"/>
              <a:t>和 </a:t>
            </a:r>
            <a:r>
              <a:rPr lang="en-US" altLang="zh-CN" dirty="0"/>
              <a:t>Classless </a:t>
            </a:r>
            <a:r>
              <a:rPr lang="zh-CN" altLang="en-US" dirty="0"/>
              <a:t>路由协议。</a:t>
            </a:r>
            <a:endParaRPr lang="en-US" altLang="zh-CN" dirty="0"/>
          </a:p>
          <a:p>
            <a:r>
              <a:rPr lang="en-US" altLang="zh-CN" dirty="0"/>
              <a:t>RIP </a:t>
            </a:r>
            <a:r>
              <a:rPr lang="zh-CN" altLang="en-US" dirty="0"/>
              <a:t>是 </a:t>
            </a:r>
            <a:r>
              <a:rPr lang="en-US" altLang="zh-CN" dirty="0" err="1"/>
              <a:t>Classful</a:t>
            </a:r>
            <a:r>
              <a:rPr lang="zh-CN" altLang="en-US" dirty="0"/>
              <a:t>，</a:t>
            </a:r>
            <a:r>
              <a:rPr lang="en-US" altLang="zh-CN" dirty="0"/>
              <a:t>OSPF</a:t>
            </a:r>
            <a:r>
              <a:rPr lang="zh-CN" altLang="en-US" dirty="0"/>
              <a:t>、</a:t>
            </a:r>
            <a:r>
              <a:rPr lang="en-US" altLang="zh-CN" dirty="0"/>
              <a:t>EIGRP</a:t>
            </a:r>
            <a:r>
              <a:rPr lang="zh-CN" altLang="en-US" dirty="0"/>
              <a:t>、</a:t>
            </a:r>
            <a:r>
              <a:rPr lang="en-US" altLang="zh-CN" dirty="0"/>
              <a:t>BGP4 </a:t>
            </a:r>
            <a:r>
              <a:rPr lang="zh-CN" altLang="en-US" dirty="0"/>
              <a:t>是 </a:t>
            </a:r>
            <a:r>
              <a:rPr lang="en-US" altLang="zh-CN" dirty="0"/>
              <a:t>Classless</a:t>
            </a:r>
            <a:r>
              <a:rPr lang="zh-CN" altLang="en-US" dirty="0"/>
              <a:t>，它们可以同时运行在同一台路由器上。</a:t>
            </a:r>
            <a:endParaRPr lang="en-US" altLang="zh-CN" dirty="0"/>
          </a:p>
          <a:p>
            <a:r>
              <a:rPr lang="zh-CN" altLang="en-US" dirty="0"/>
              <a:t>例如：</a:t>
            </a:r>
            <a:endParaRPr lang="en-US" altLang="zh-CN" dirty="0"/>
          </a:p>
          <a:p>
            <a:r>
              <a:rPr lang="zh-CN" altLang="en-US" dirty="0"/>
              <a:t>在子网划分下，一个发往 </a:t>
            </a:r>
            <a:r>
              <a:rPr lang="en-US" altLang="zh-CN" dirty="0"/>
              <a:t>192.168.0.255 </a:t>
            </a:r>
            <a:r>
              <a:rPr lang="zh-CN" altLang="en-US" dirty="0"/>
              <a:t>的广播不能确认是发给主网络的还是子网；</a:t>
            </a:r>
            <a:endParaRPr lang="en-US" altLang="zh-CN" dirty="0"/>
          </a:p>
          <a:p>
            <a:r>
              <a:rPr lang="zh-CN" altLang="en-US" dirty="0"/>
              <a:t>然而采用 </a:t>
            </a:r>
            <a:r>
              <a:rPr lang="en-US" altLang="zh-CN" dirty="0"/>
              <a:t>CIDR </a:t>
            </a:r>
            <a:r>
              <a:rPr lang="zh-CN" altLang="en-US" dirty="0"/>
              <a:t>后，由于 </a:t>
            </a:r>
            <a:r>
              <a:rPr lang="en-US" altLang="zh-CN" dirty="0"/>
              <a:t>CIDR </a:t>
            </a:r>
            <a:r>
              <a:rPr lang="zh-CN" altLang="en-US" dirty="0"/>
              <a:t>在路由时采取最长前缀匹配，目的地址 </a:t>
            </a:r>
            <a:r>
              <a:rPr lang="en-US" altLang="zh-CN" dirty="0"/>
              <a:t>192.168.0.255 </a:t>
            </a:r>
            <a:r>
              <a:rPr lang="zh-CN" altLang="en-US" dirty="0"/>
              <a:t>和 地址块 </a:t>
            </a:r>
            <a:r>
              <a:rPr lang="en-US" altLang="zh-CN" dirty="0"/>
              <a:t>192.168.0.192/26 </a:t>
            </a:r>
            <a:r>
              <a:rPr lang="zh-CN" altLang="en-US" dirty="0"/>
              <a:t>的前缀匹配长度最长，所以广播发送到 </a:t>
            </a:r>
            <a:r>
              <a:rPr lang="en-US" altLang="zh-CN" dirty="0"/>
              <a:t>192.168.0.192/26 </a:t>
            </a:r>
            <a:r>
              <a:rPr lang="zh-CN" altLang="en-US" dirty="0"/>
              <a:t>地址块。</a:t>
            </a:r>
            <a:endParaRPr lang="en-US" altLang="zh-CN" dirty="0"/>
          </a:p>
          <a:p>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40</a:t>
            </a:fld>
            <a:endParaRPr lang="zh-CN" altLang="en-US"/>
          </a:p>
        </p:txBody>
      </p:sp>
    </p:spTree>
    <p:extLst>
      <p:ext uri="{BB962C8B-B14F-4D97-AF65-F5344CB8AC3E}">
        <p14:creationId xmlns:p14="http://schemas.microsoft.com/office/powerpoint/2010/main" val="199382289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45</a:t>
            </a:fld>
            <a:endParaRPr lang="zh-CN" altLang="en-US"/>
          </a:p>
        </p:txBody>
      </p:sp>
    </p:spTree>
    <p:extLst>
      <p:ext uri="{BB962C8B-B14F-4D97-AF65-F5344CB8AC3E}">
        <p14:creationId xmlns:p14="http://schemas.microsoft.com/office/powerpoint/2010/main" val="27954956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63</a:t>
            </a:fld>
            <a:endParaRPr lang="zh-CN" altLang="en-US"/>
          </a:p>
        </p:txBody>
      </p:sp>
    </p:spTree>
    <p:extLst>
      <p:ext uri="{BB962C8B-B14F-4D97-AF65-F5344CB8AC3E}">
        <p14:creationId xmlns:p14="http://schemas.microsoft.com/office/powerpoint/2010/main" val="257275348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64</a:t>
            </a:fld>
            <a:endParaRPr lang="zh-CN" altLang="en-US"/>
          </a:p>
        </p:txBody>
      </p:sp>
    </p:spTree>
    <p:extLst>
      <p:ext uri="{BB962C8B-B14F-4D97-AF65-F5344CB8AC3E}">
        <p14:creationId xmlns:p14="http://schemas.microsoft.com/office/powerpoint/2010/main" val="17293909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66</a:t>
            </a:fld>
            <a:endParaRPr lang="zh-CN" altLang="en-US"/>
          </a:p>
        </p:txBody>
      </p:sp>
    </p:spTree>
    <p:extLst>
      <p:ext uri="{BB962C8B-B14F-4D97-AF65-F5344CB8AC3E}">
        <p14:creationId xmlns:p14="http://schemas.microsoft.com/office/powerpoint/2010/main" val="370244841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74</a:t>
            </a:fld>
            <a:endParaRPr lang="zh-CN" altLang="en-US"/>
          </a:p>
        </p:txBody>
      </p:sp>
    </p:spTree>
    <p:extLst>
      <p:ext uri="{BB962C8B-B14F-4D97-AF65-F5344CB8AC3E}">
        <p14:creationId xmlns:p14="http://schemas.microsoft.com/office/powerpoint/2010/main" val="350610509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75</a:t>
            </a:fld>
            <a:endParaRPr lang="zh-CN" altLang="en-US"/>
          </a:p>
        </p:txBody>
      </p:sp>
    </p:spTree>
    <p:extLst>
      <p:ext uri="{BB962C8B-B14F-4D97-AF65-F5344CB8AC3E}">
        <p14:creationId xmlns:p14="http://schemas.microsoft.com/office/powerpoint/2010/main" val="9638498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76</a:t>
            </a:fld>
            <a:endParaRPr lang="zh-CN" altLang="en-US"/>
          </a:p>
        </p:txBody>
      </p:sp>
    </p:spTree>
    <p:extLst>
      <p:ext uri="{BB962C8B-B14F-4D97-AF65-F5344CB8AC3E}">
        <p14:creationId xmlns:p14="http://schemas.microsoft.com/office/powerpoint/2010/main" val="31745780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77</a:t>
            </a:fld>
            <a:endParaRPr lang="zh-CN" altLang="en-US"/>
          </a:p>
        </p:txBody>
      </p:sp>
    </p:spTree>
    <p:extLst>
      <p:ext uri="{BB962C8B-B14F-4D97-AF65-F5344CB8AC3E}">
        <p14:creationId xmlns:p14="http://schemas.microsoft.com/office/powerpoint/2010/main" val="165174244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arenBoth"/>
            </a:pPr>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78</a:t>
            </a:fld>
            <a:endParaRPr lang="zh-CN" altLang="en-US"/>
          </a:p>
        </p:txBody>
      </p:sp>
    </p:spTree>
    <p:extLst>
      <p:ext uri="{BB962C8B-B14F-4D97-AF65-F5344CB8AC3E}">
        <p14:creationId xmlns:p14="http://schemas.microsoft.com/office/powerpoint/2010/main" val="235691774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79</a:t>
            </a:fld>
            <a:endParaRPr lang="zh-CN" altLang="en-US"/>
          </a:p>
        </p:txBody>
      </p:sp>
    </p:spTree>
    <p:extLst>
      <p:ext uri="{BB962C8B-B14F-4D97-AF65-F5344CB8AC3E}">
        <p14:creationId xmlns:p14="http://schemas.microsoft.com/office/powerpoint/2010/main" val="39498397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80</a:t>
            </a:fld>
            <a:endParaRPr lang="zh-CN" altLang="en-US"/>
          </a:p>
        </p:txBody>
      </p:sp>
    </p:spTree>
    <p:extLst>
      <p:ext uri="{BB962C8B-B14F-4D97-AF65-F5344CB8AC3E}">
        <p14:creationId xmlns:p14="http://schemas.microsoft.com/office/powerpoint/2010/main" val="337958518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81</a:t>
            </a:fld>
            <a:endParaRPr lang="zh-CN" altLang="en-US"/>
          </a:p>
        </p:txBody>
      </p:sp>
    </p:spTree>
    <p:extLst>
      <p:ext uri="{BB962C8B-B14F-4D97-AF65-F5344CB8AC3E}">
        <p14:creationId xmlns:p14="http://schemas.microsoft.com/office/powerpoint/2010/main" val="237170633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82</a:t>
            </a:fld>
            <a:endParaRPr lang="zh-CN" altLang="en-US"/>
          </a:p>
        </p:txBody>
      </p:sp>
    </p:spTree>
    <p:extLst>
      <p:ext uri="{BB962C8B-B14F-4D97-AF65-F5344CB8AC3E}">
        <p14:creationId xmlns:p14="http://schemas.microsoft.com/office/powerpoint/2010/main" val="9626164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83</a:t>
            </a:fld>
            <a:endParaRPr lang="zh-CN" altLang="en-US"/>
          </a:p>
        </p:txBody>
      </p:sp>
    </p:spTree>
    <p:extLst>
      <p:ext uri="{BB962C8B-B14F-4D97-AF65-F5344CB8AC3E}">
        <p14:creationId xmlns:p14="http://schemas.microsoft.com/office/powerpoint/2010/main" val="8546602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84</a:t>
            </a:fld>
            <a:endParaRPr lang="zh-CN" altLang="en-US"/>
          </a:p>
        </p:txBody>
      </p:sp>
    </p:spTree>
    <p:extLst>
      <p:ext uri="{BB962C8B-B14F-4D97-AF65-F5344CB8AC3E}">
        <p14:creationId xmlns:p14="http://schemas.microsoft.com/office/powerpoint/2010/main" val="134189420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89</a:t>
            </a:fld>
            <a:endParaRPr lang="zh-CN" altLang="en-US"/>
          </a:p>
        </p:txBody>
      </p:sp>
    </p:spTree>
    <p:extLst>
      <p:ext uri="{BB962C8B-B14F-4D97-AF65-F5344CB8AC3E}">
        <p14:creationId xmlns:p14="http://schemas.microsoft.com/office/powerpoint/2010/main" val="56790120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91</a:t>
            </a:fld>
            <a:endParaRPr lang="zh-CN" altLang="en-US"/>
          </a:p>
        </p:txBody>
      </p:sp>
    </p:spTree>
    <p:extLst>
      <p:ext uri="{BB962C8B-B14F-4D97-AF65-F5344CB8AC3E}">
        <p14:creationId xmlns:p14="http://schemas.microsoft.com/office/powerpoint/2010/main" val="101496024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92</a:t>
            </a:fld>
            <a:endParaRPr lang="zh-CN" altLang="en-US"/>
          </a:p>
        </p:txBody>
      </p:sp>
    </p:spTree>
    <p:extLst>
      <p:ext uri="{BB962C8B-B14F-4D97-AF65-F5344CB8AC3E}">
        <p14:creationId xmlns:p14="http://schemas.microsoft.com/office/powerpoint/2010/main" val="258449770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100</a:t>
            </a:fld>
            <a:endParaRPr lang="zh-CN" altLang="en-US"/>
          </a:p>
        </p:txBody>
      </p:sp>
    </p:spTree>
    <p:extLst>
      <p:ext uri="{BB962C8B-B14F-4D97-AF65-F5344CB8AC3E}">
        <p14:creationId xmlns:p14="http://schemas.microsoft.com/office/powerpoint/2010/main" val="342118430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107</a:t>
            </a:fld>
            <a:endParaRPr lang="zh-CN" altLang="en-US"/>
          </a:p>
        </p:txBody>
      </p:sp>
    </p:spTree>
    <p:extLst>
      <p:ext uri="{BB962C8B-B14F-4D97-AF65-F5344CB8AC3E}">
        <p14:creationId xmlns:p14="http://schemas.microsoft.com/office/powerpoint/2010/main" val="25835584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110</a:t>
            </a:fld>
            <a:endParaRPr lang="zh-CN" altLang="en-US"/>
          </a:p>
        </p:txBody>
      </p:sp>
    </p:spTree>
    <p:extLst>
      <p:ext uri="{BB962C8B-B14F-4D97-AF65-F5344CB8AC3E}">
        <p14:creationId xmlns:p14="http://schemas.microsoft.com/office/powerpoint/2010/main" val="418497712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111</a:t>
            </a:fld>
            <a:endParaRPr lang="zh-CN" altLang="en-US"/>
          </a:p>
        </p:txBody>
      </p:sp>
    </p:spTree>
    <p:extLst>
      <p:ext uri="{BB962C8B-B14F-4D97-AF65-F5344CB8AC3E}">
        <p14:creationId xmlns:p14="http://schemas.microsoft.com/office/powerpoint/2010/main" val="51300588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112</a:t>
            </a:fld>
            <a:endParaRPr lang="zh-CN" altLang="en-US"/>
          </a:p>
        </p:txBody>
      </p:sp>
    </p:spTree>
    <p:extLst>
      <p:ext uri="{BB962C8B-B14F-4D97-AF65-F5344CB8AC3E}">
        <p14:creationId xmlns:p14="http://schemas.microsoft.com/office/powerpoint/2010/main" val="296904393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某网络如图所示。</a:t>
            </a:r>
            <a:endParaRPr lang="en-US" altLang="zh-CN" dirty="0"/>
          </a:p>
          <a:p>
            <a:r>
              <a:rPr lang="zh-CN" altLang="en-US" dirty="0"/>
              <a:t>假设</a:t>
            </a:r>
            <a:r>
              <a:rPr lang="en-US" altLang="zh-CN" dirty="0"/>
              <a:t>R1</a:t>
            </a:r>
            <a:r>
              <a:rPr lang="zh-CN" altLang="en-US" dirty="0"/>
              <a:t>的路由表包括到达</a:t>
            </a:r>
            <a:r>
              <a:rPr lang="en-US" altLang="zh-CN" dirty="0"/>
              <a:t>3</a:t>
            </a:r>
            <a:r>
              <a:rPr lang="zh-CN" altLang="en-US" dirty="0"/>
              <a:t>个子网的路由。</a:t>
            </a:r>
          </a:p>
          <a:p>
            <a:r>
              <a:rPr lang="zh-CN" altLang="en-US" dirty="0"/>
              <a:t>假设位于</a:t>
            </a:r>
            <a:r>
              <a:rPr lang="en-US" altLang="zh-CN" dirty="0"/>
              <a:t>N1</a:t>
            </a:r>
            <a:r>
              <a:rPr lang="zh-CN" altLang="en-US" dirty="0"/>
              <a:t>子网中的主机 </a:t>
            </a:r>
            <a:r>
              <a:rPr lang="en-US" altLang="zh-CN" dirty="0"/>
              <a:t>H1 </a:t>
            </a:r>
            <a:r>
              <a:rPr lang="zh-CN" altLang="en-US" dirty="0"/>
              <a:t>发送一个目的地址为 </a:t>
            </a:r>
            <a:r>
              <a:rPr lang="en-US" altLang="zh-CN" dirty="0"/>
              <a:t>128.1.2.132 </a:t>
            </a:r>
            <a:r>
              <a:rPr lang="zh-CN" altLang="en-US" dirty="0"/>
              <a:t>的分组，该目的地址的主机位于</a:t>
            </a:r>
            <a:r>
              <a:rPr lang="en-US" altLang="zh-CN" dirty="0"/>
              <a:t>N2</a:t>
            </a:r>
            <a:r>
              <a:rPr lang="zh-CN" altLang="en-US" dirty="0"/>
              <a:t>子网中。该分组是如何被转发到目的主机的？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113</a:t>
            </a:fld>
            <a:endParaRPr lang="zh-CN" altLang="en-US"/>
          </a:p>
        </p:txBody>
      </p:sp>
    </p:spTree>
    <p:extLst>
      <p:ext uri="{BB962C8B-B14F-4D97-AF65-F5344CB8AC3E}">
        <p14:creationId xmlns:p14="http://schemas.microsoft.com/office/powerpoint/2010/main" val="403663427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首先，</a:t>
            </a:r>
            <a:r>
              <a:rPr lang="en-US" altLang="zh-CN" dirty="0"/>
              <a:t>H1 </a:t>
            </a:r>
            <a:r>
              <a:rPr lang="zh-CN" altLang="en-US" dirty="0"/>
              <a:t>检查 </a:t>
            </a:r>
            <a:r>
              <a:rPr lang="en-US" altLang="zh-CN" dirty="0"/>
              <a:t>128.1.2.132 </a:t>
            </a:r>
            <a:r>
              <a:rPr lang="zh-CN" altLang="en-US" dirty="0"/>
              <a:t>是否与其连接在本网络上。如果是，则直接交付；否则，就送交路由器 </a:t>
            </a:r>
            <a:r>
              <a:rPr lang="en-US" altLang="zh-CN" dirty="0"/>
              <a:t>R1</a:t>
            </a:r>
            <a:r>
              <a:rPr lang="zh-CN" altLang="en-US" dirty="0"/>
              <a:t>。</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114</a:t>
            </a:fld>
            <a:endParaRPr lang="zh-CN" altLang="en-US"/>
          </a:p>
        </p:txBody>
      </p:sp>
    </p:spTree>
    <p:extLst>
      <p:ext uri="{BB962C8B-B14F-4D97-AF65-F5344CB8AC3E}">
        <p14:creationId xmlns:p14="http://schemas.microsoft.com/office/powerpoint/2010/main" val="350016040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当</a:t>
            </a:r>
            <a:r>
              <a:rPr lang="en-US" altLang="zh-CN" dirty="0"/>
              <a:t>R1</a:t>
            </a:r>
            <a:r>
              <a:rPr lang="zh-CN" altLang="en-US" dirty="0"/>
              <a:t>收到目的地址为</a:t>
            </a:r>
            <a:r>
              <a:rPr lang="en-US" altLang="zh-CN" dirty="0"/>
              <a:t>128.1.2.132</a:t>
            </a:r>
            <a:r>
              <a:rPr lang="zh-CN" altLang="en-US" dirty="0"/>
              <a:t>的分组时，应该从那个接口向外转发呢？</a:t>
            </a:r>
            <a:endParaRPr lang="en-US" altLang="zh-CN" dirty="0"/>
          </a:p>
          <a:p>
            <a:r>
              <a:rPr lang="zh-CN" altLang="en-US" dirty="0"/>
              <a:t>路由器必须查表，检查目的地址与哪条前缀或路由匹配。</a:t>
            </a:r>
            <a:endParaRPr lang="en-US" altLang="zh-CN" dirty="0"/>
          </a:p>
          <a:p>
            <a:r>
              <a:rPr lang="zh-CN" altLang="en-US" dirty="0"/>
              <a:t>不匹配，则继续查下一条前缀或路由。</a:t>
            </a:r>
          </a:p>
          <a:p>
            <a:endParaRPr lang="en-US" altLang="zh-CN" dirty="0"/>
          </a:p>
          <a:p>
            <a:pPr marL="0" marR="0" indent="0" algn="l" defTabSz="914400" rtl="0" eaLnBrk="1" fontAlgn="auto" latinLnBrk="0" hangingPunct="1">
              <a:lnSpc>
                <a:spcPct val="100000"/>
              </a:lnSpc>
              <a:spcBef>
                <a:spcPts val="0"/>
              </a:spcBef>
              <a:spcAft>
                <a:spcPts val="0"/>
              </a:spcAft>
              <a:buClrTx/>
              <a:buSzTx/>
              <a:buFontTx/>
              <a:buNone/>
              <a:tabLst/>
              <a:defRPr/>
            </a:pPr>
            <a:r>
              <a:rPr lang="zh-CN" altLang="en-US" dirty="0"/>
              <a:t>现在先检查第</a:t>
            </a:r>
            <a:r>
              <a:rPr lang="en-US" altLang="zh-CN" dirty="0"/>
              <a:t>1</a:t>
            </a:r>
            <a:r>
              <a:rPr lang="zh-CN" altLang="en-US" dirty="0"/>
              <a:t>行。经计算比较，不匹配。继续查下一条前缀或路由。</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115</a:t>
            </a:fld>
            <a:endParaRPr lang="zh-CN" altLang="en-US"/>
          </a:p>
        </p:txBody>
      </p:sp>
    </p:spTree>
    <p:extLst>
      <p:ext uri="{BB962C8B-B14F-4D97-AF65-F5344CB8AC3E}">
        <p14:creationId xmlns:p14="http://schemas.microsoft.com/office/powerpoint/2010/main" val="341184179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检查第</a:t>
            </a:r>
            <a:r>
              <a:rPr lang="en-US" altLang="zh-CN" dirty="0"/>
              <a:t>2</a:t>
            </a:r>
            <a:r>
              <a:rPr lang="zh-CN" altLang="en-US" dirty="0"/>
              <a:t>行。经计算比较，与此路由匹配，从下一跳指示的接口转发出去。</a:t>
            </a:r>
            <a:endParaRPr lang="en-US" altLang="zh-CN" dirty="0"/>
          </a:p>
          <a:p>
            <a:r>
              <a:rPr lang="zh-CN" altLang="en-US" dirty="0"/>
              <a:t>由于</a:t>
            </a:r>
            <a:r>
              <a:rPr lang="en-US" altLang="zh-CN" dirty="0"/>
              <a:t>R1</a:t>
            </a:r>
            <a:r>
              <a:rPr lang="zh-CN" altLang="en-US" dirty="0"/>
              <a:t>与目的主机 </a:t>
            </a:r>
            <a:r>
              <a:rPr lang="en-US" altLang="zh-CN" dirty="0"/>
              <a:t>128.1.2.128/25 </a:t>
            </a:r>
            <a:r>
              <a:rPr lang="zh-CN" altLang="en-US" dirty="0"/>
              <a:t>位于同一个子网，因此可以直接交付分组。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116</a:t>
            </a:fld>
            <a:endParaRPr lang="zh-CN" altLang="en-US"/>
          </a:p>
        </p:txBody>
      </p:sp>
    </p:spTree>
    <p:extLst>
      <p:ext uri="{BB962C8B-B14F-4D97-AF65-F5344CB8AC3E}">
        <p14:creationId xmlns:p14="http://schemas.microsoft.com/office/powerpoint/2010/main" val="33282128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117</a:t>
            </a:fld>
            <a:endParaRPr lang="zh-CN" altLang="en-US"/>
          </a:p>
        </p:txBody>
      </p:sp>
    </p:spTree>
    <p:extLst>
      <p:ext uri="{BB962C8B-B14F-4D97-AF65-F5344CB8AC3E}">
        <p14:creationId xmlns:p14="http://schemas.microsoft.com/office/powerpoint/2010/main" val="345893577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假设</a:t>
            </a:r>
            <a:r>
              <a:rPr lang="en-US" altLang="zh-CN" dirty="0"/>
              <a:t>R1</a:t>
            </a:r>
            <a:r>
              <a:rPr lang="zh-CN" altLang="en-US" dirty="0"/>
              <a:t>的路由表包括以下</a:t>
            </a:r>
            <a:r>
              <a:rPr lang="en-US" altLang="zh-CN" dirty="0"/>
              <a:t>3</a:t>
            </a:r>
            <a:r>
              <a:rPr lang="zh-CN" altLang="en-US" dirty="0"/>
              <a:t>条路由。</a:t>
            </a:r>
            <a:endParaRPr lang="en-US" altLang="zh-CN" dirty="0"/>
          </a:p>
          <a:p>
            <a:r>
              <a:rPr lang="zh-CN" altLang="en-US" b="0" dirty="0"/>
              <a:t>当</a:t>
            </a:r>
            <a:r>
              <a:rPr lang="en-US" altLang="zh-CN" b="0" dirty="0"/>
              <a:t>R1</a:t>
            </a:r>
            <a:r>
              <a:rPr lang="zh-CN" altLang="en-US" b="0" dirty="0"/>
              <a:t>收到目的地址为 </a:t>
            </a:r>
            <a:r>
              <a:rPr lang="en-US" altLang="zh-CN" b="0" dirty="0">
                <a:solidFill>
                  <a:srgbClr val="0000FF"/>
                </a:solidFill>
                <a:latin typeface="微软雅黑" panose="020B0503020204020204" pitchFamily="34" charset="-122"/>
                <a:ea typeface="微软雅黑" panose="020B0503020204020204" pitchFamily="34" charset="-122"/>
              </a:rPr>
              <a:t>128.1.2.196/26 </a:t>
            </a:r>
            <a:r>
              <a:rPr lang="zh-CN" altLang="en-US" b="0" dirty="0">
                <a:solidFill>
                  <a:srgbClr val="0000FF"/>
                </a:solidFill>
                <a:latin typeface="微软雅黑" panose="020B0503020204020204" pitchFamily="34" charset="-122"/>
                <a:ea typeface="微软雅黑" panose="020B0503020204020204" pitchFamily="34" charset="-122"/>
              </a:rPr>
              <a:t>的分组时，应该从那个接口向外转发呢？</a:t>
            </a:r>
            <a:endParaRPr lang="zh-CN" altLang="en-US" b="0"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118</a:t>
            </a:fld>
            <a:endParaRPr lang="zh-CN" altLang="en-US"/>
          </a:p>
        </p:txBody>
      </p:sp>
    </p:spTree>
    <p:extLst>
      <p:ext uri="{BB962C8B-B14F-4D97-AF65-F5344CB8AC3E}">
        <p14:creationId xmlns:p14="http://schemas.microsoft.com/office/powerpoint/2010/main" val="29660490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119</a:t>
            </a:fld>
            <a:endParaRPr lang="zh-CN" altLang="en-US"/>
          </a:p>
        </p:txBody>
      </p:sp>
    </p:spTree>
    <p:extLst>
      <p:ext uri="{BB962C8B-B14F-4D97-AF65-F5344CB8AC3E}">
        <p14:creationId xmlns:p14="http://schemas.microsoft.com/office/powerpoint/2010/main" val="343005419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120</a:t>
            </a:fld>
            <a:endParaRPr lang="zh-CN" altLang="en-US"/>
          </a:p>
        </p:txBody>
      </p:sp>
    </p:spTree>
    <p:extLst>
      <p:ext uri="{BB962C8B-B14F-4D97-AF65-F5344CB8AC3E}">
        <p14:creationId xmlns:p14="http://schemas.microsoft.com/office/powerpoint/2010/main" val="416762714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121</a:t>
            </a:fld>
            <a:endParaRPr lang="zh-CN" altLang="en-US"/>
          </a:p>
        </p:txBody>
      </p:sp>
    </p:spTree>
    <p:extLst>
      <p:ext uri="{BB962C8B-B14F-4D97-AF65-F5344CB8AC3E}">
        <p14:creationId xmlns:p14="http://schemas.microsoft.com/office/powerpoint/2010/main" val="361009891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123</a:t>
            </a:fld>
            <a:endParaRPr lang="zh-CN" altLang="en-US"/>
          </a:p>
        </p:txBody>
      </p:sp>
    </p:spTree>
    <p:extLst>
      <p:ext uri="{BB962C8B-B14F-4D97-AF65-F5344CB8AC3E}">
        <p14:creationId xmlns:p14="http://schemas.microsoft.com/office/powerpoint/2010/main" val="330629887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125</a:t>
            </a:fld>
            <a:endParaRPr lang="zh-CN" altLang="en-US"/>
          </a:p>
        </p:txBody>
      </p:sp>
    </p:spTree>
    <p:extLst>
      <p:ext uri="{BB962C8B-B14F-4D97-AF65-F5344CB8AC3E}">
        <p14:creationId xmlns:p14="http://schemas.microsoft.com/office/powerpoint/2010/main" val="13831912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127</a:t>
            </a:fld>
            <a:endParaRPr lang="zh-CN" altLang="en-US"/>
          </a:p>
        </p:txBody>
      </p:sp>
    </p:spTree>
    <p:extLst>
      <p:ext uri="{BB962C8B-B14F-4D97-AF65-F5344CB8AC3E}">
        <p14:creationId xmlns:p14="http://schemas.microsoft.com/office/powerpoint/2010/main" val="396036643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128</a:t>
            </a:fld>
            <a:endParaRPr lang="zh-CN" altLang="en-US"/>
          </a:p>
        </p:txBody>
      </p:sp>
    </p:spTree>
    <p:extLst>
      <p:ext uri="{BB962C8B-B14F-4D97-AF65-F5344CB8AC3E}">
        <p14:creationId xmlns:p14="http://schemas.microsoft.com/office/powerpoint/2010/main" val="336057015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135</a:t>
            </a:fld>
            <a:endParaRPr lang="zh-CN" altLang="en-US"/>
          </a:p>
        </p:txBody>
      </p:sp>
    </p:spTree>
    <p:extLst>
      <p:ext uri="{BB962C8B-B14F-4D97-AF65-F5344CB8AC3E}">
        <p14:creationId xmlns:p14="http://schemas.microsoft.com/office/powerpoint/2010/main" val="90130842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136</a:t>
            </a:fld>
            <a:endParaRPr lang="zh-CN" altLang="en-US"/>
          </a:p>
        </p:txBody>
      </p:sp>
    </p:spTree>
    <p:extLst>
      <p:ext uri="{BB962C8B-B14F-4D97-AF65-F5344CB8AC3E}">
        <p14:creationId xmlns:p14="http://schemas.microsoft.com/office/powerpoint/2010/main" val="169985091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157</a:t>
            </a:fld>
            <a:endParaRPr lang="zh-CN" altLang="en-US"/>
          </a:p>
        </p:txBody>
      </p:sp>
    </p:spTree>
    <p:extLst>
      <p:ext uri="{BB962C8B-B14F-4D97-AF65-F5344CB8AC3E}">
        <p14:creationId xmlns:p14="http://schemas.microsoft.com/office/powerpoint/2010/main" val="23464731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164</a:t>
            </a:fld>
            <a:endParaRPr lang="zh-CN" altLang="en-US"/>
          </a:p>
        </p:txBody>
      </p:sp>
    </p:spTree>
    <p:extLst>
      <p:ext uri="{BB962C8B-B14F-4D97-AF65-F5344CB8AC3E}">
        <p14:creationId xmlns:p14="http://schemas.microsoft.com/office/powerpoint/2010/main" val="44547205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166</a:t>
            </a:fld>
            <a:endParaRPr lang="zh-CN" altLang="en-US"/>
          </a:p>
        </p:txBody>
      </p:sp>
    </p:spTree>
    <p:extLst>
      <p:ext uri="{BB962C8B-B14F-4D97-AF65-F5344CB8AC3E}">
        <p14:creationId xmlns:p14="http://schemas.microsoft.com/office/powerpoint/2010/main" val="180002249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168</a:t>
            </a:fld>
            <a:endParaRPr lang="zh-CN" altLang="en-US"/>
          </a:p>
        </p:txBody>
      </p:sp>
    </p:spTree>
    <p:extLst>
      <p:ext uri="{BB962C8B-B14F-4D97-AF65-F5344CB8AC3E}">
        <p14:creationId xmlns:p14="http://schemas.microsoft.com/office/powerpoint/2010/main" val="15632567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169</a:t>
            </a:fld>
            <a:endParaRPr lang="zh-CN" altLang="en-US"/>
          </a:p>
        </p:txBody>
      </p:sp>
    </p:spTree>
    <p:extLst>
      <p:ext uri="{BB962C8B-B14F-4D97-AF65-F5344CB8AC3E}">
        <p14:creationId xmlns:p14="http://schemas.microsoft.com/office/powerpoint/2010/main" val="401480349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170</a:t>
            </a:fld>
            <a:endParaRPr lang="zh-CN" altLang="en-US"/>
          </a:p>
        </p:txBody>
      </p:sp>
    </p:spTree>
    <p:extLst>
      <p:ext uri="{BB962C8B-B14F-4D97-AF65-F5344CB8AC3E}">
        <p14:creationId xmlns:p14="http://schemas.microsoft.com/office/powerpoint/2010/main" val="129100287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172</a:t>
            </a:fld>
            <a:endParaRPr lang="zh-CN" altLang="en-US"/>
          </a:p>
        </p:txBody>
      </p:sp>
    </p:spTree>
    <p:extLst>
      <p:ext uri="{BB962C8B-B14F-4D97-AF65-F5344CB8AC3E}">
        <p14:creationId xmlns:p14="http://schemas.microsoft.com/office/powerpoint/2010/main" val="322365912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173</a:t>
            </a:fld>
            <a:endParaRPr lang="zh-CN" altLang="en-US"/>
          </a:p>
        </p:txBody>
      </p:sp>
    </p:spTree>
    <p:extLst>
      <p:ext uri="{BB962C8B-B14F-4D97-AF65-F5344CB8AC3E}">
        <p14:creationId xmlns:p14="http://schemas.microsoft.com/office/powerpoint/2010/main" val="397030603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175</a:t>
            </a:fld>
            <a:endParaRPr lang="zh-CN" altLang="en-US"/>
          </a:p>
        </p:txBody>
      </p:sp>
    </p:spTree>
    <p:extLst>
      <p:ext uri="{BB962C8B-B14F-4D97-AF65-F5344CB8AC3E}">
        <p14:creationId xmlns:p14="http://schemas.microsoft.com/office/powerpoint/2010/main" val="409538943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176</a:t>
            </a:fld>
            <a:endParaRPr lang="zh-CN" altLang="en-US"/>
          </a:p>
        </p:txBody>
      </p:sp>
    </p:spTree>
    <p:extLst>
      <p:ext uri="{BB962C8B-B14F-4D97-AF65-F5344CB8AC3E}">
        <p14:creationId xmlns:p14="http://schemas.microsoft.com/office/powerpoint/2010/main" val="212803640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177</a:t>
            </a:fld>
            <a:endParaRPr lang="zh-CN" altLang="en-US"/>
          </a:p>
        </p:txBody>
      </p:sp>
    </p:spTree>
    <p:extLst>
      <p:ext uri="{BB962C8B-B14F-4D97-AF65-F5344CB8AC3E}">
        <p14:creationId xmlns:p14="http://schemas.microsoft.com/office/powerpoint/2010/main" val="319831502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181</a:t>
            </a:fld>
            <a:endParaRPr lang="zh-CN" altLang="en-US"/>
          </a:p>
        </p:txBody>
      </p:sp>
    </p:spTree>
    <p:extLst>
      <p:ext uri="{BB962C8B-B14F-4D97-AF65-F5344CB8AC3E}">
        <p14:creationId xmlns:p14="http://schemas.microsoft.com/office/powerpoint/2010/main" val="356637744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183</a:t>
            </a:fld>
            <a:endParaRPr lang="zh-CN" altLang="en-US"/>
          </a:p>
        </p:txBody>
      </p:sp>
    </p:spTree>
    <p:extLst>
      <p:ext uri="{BB962C8B-B14F-4D97-AF65-F5344CB8AC3E}">
        <p14:creationId xmlns:p14="http://schemas.microsoft.com/office/powerpoint/2010/main" val="249518408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187</a:t>
            </a:fld>
            <a:endParaRPr lang="zh-CN" altLang="en-US"/>
          </a:p>
        </p:txBody>
      </p:sp>
    </p:spTree>
    <p:extLst>
      <p:ext uri="{BB962C8B-B14F-4D97-AF65-F5344CB8AC3E}">
        <p14:creationId xmlns:p14="http://schemas.microsoft.com/office/powerpoint/2010/main" val="94800029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188</a:t>
            </a:fld>
            <a:endParaRPr lang="zh-CN" altLang="en-US"/>
          </a:p>
        </p:txBody>
      </p:sp>
    </p:spTree>
    <p:extLst>
      <p:ext uri="{BB962C8B-B14F-4D97-AF65-F5344CB8AC3E}">
        <p14:creationId xmlns:p14="http://schemas.microsoft.com/office/powerpoint/2010/main" val="384510412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189</a:t>
            </a:fld>
            <a:endParaRPr lang="zh-CN" altLang="en-US"/>
          </a:p>
        </p:txBody>
      </p:sp>
    </p:spTree>
    <p:extLst>
      <p:ext uri="{BB962C8B-B14F-4D97-AF65-F5344CB8AC3E}">
        <p14:creationId xmlns:p14="http://schemas.microsoft.com/office/powerpoint/2010/main" val="73048347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203</a:t>
            </a:fld>
            <a:endParaRPr lang="zh-CN" altLang="en-US"/>
          </a:p>
        </p:txBody>
      </p:sp>
    </p:spTree>
    <p:extLst>
      <p:ext uri="{BB962C8B-B14F-4D97-AF65-F5344CB8AC3E}">
        <p14:creationId xmlns:p14="http://schemas.microsoft.com/office/powerpoint/2010/main" val="205056642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204</a:t>
            </a:fld>
            <a:endParaRPr lang="zh-CN" altLang="en-US"/>
          </a:p>
        </p:txBody>
      </p:sp>
    </p:spTree>
    <p:extLst>
      <p:ext uri="{BB962C8B-B14F-4D97-AF65-F5344CB8AC3E}">
        <p14:creationId xmlns:p14="http://schemas.microsoft.com/office/powerpoint/2010/main" val="219929790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215</a:t>
            </a:fld>
            <a:endParaRPr lang="zh-CN" altLang="en-US"/>
          </a:p>
        </p:txBody>
      </p:sp>
    </p:spTree>
    <p:extLst>
      <p:ext uri="{BB962C8B-B14F-4D97-AF65-F5344CB8AC3E}">
        <p14:creationId xmlns:p14="http://schemas.microsoft.com/office/powerpoint/2010/main" val="256224283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216</a:t>
            </a:fld>
            <a:endParaRPr lang="zh-CN" altLang="en-US"/>
          </a:p>
        </p:txBody>
      </p:sp>
    </p:spTree>
    <p:extLst>
      <p:ext uri="{BB962C8B-B14F-4D97-AF65-F5344CB8AC3E}">
        <p14:creationId xmlns:p14="http://schemas.microsoft.com/office/powerpoint/2010/main" val="231892167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217</a:t>
            </a:fld>
            <a:endParaRPr lang="zh-CN" altLang="en-US"/>
          </a:p>
        </p:txBody>
      </p:sp>
    </p:spTree>
    <p:extLst>
      <p:ext uri="{BB962C8B-B14F-4D97-AF65-F5344CB8AC3E}">
        <p14:creationId xmlns:p14="http://schemas.microsoft.com/office/powerpoint/2010/main" val="207875276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218</a:t>
            </a:fld>
            <a:endParaRPr lang="zh-CN" altLang="en-US"/>
          </a:p>
        </p:txBody>
      </p:sp>
    </p:spTree>
    <p:extLst>
      <p:ext uri="{BB962C8B-B14F-4D97-AF65-F5344CB8AC3E}">
        <p14:creationId xmlns:p14="http://schemas.microsoft.com/office/powerpoint/2010/main" val="385300616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219</a:t>
            </a:fld>
            <a:endParaRPr lang="zh-CN" altLang="en-US"/>
          </a:p>
        </p:txBody>
      </p:sp>
    </p:spTree>
    <p:extLst>
      <p:ext uri="{BB962C8B-B14F-4D97-AF65-F5344CB8AC3E}">
        <p14:creationId xmlns:p14="http://schemas.microsoft.com/office/powerpoint/2010/main" val="13621481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220</a:t>
            </a:fld>
            <a:endParaRPr lang="zh-CN" altLang="en-US"/>
          </a:p>
        </p:txBody>
      </p:sp>
    </p:spTree>
    <p:extLst>
      <p:ext uri="{BB962C8B-B14F-4D97-AF65-F5344CB8AC3E}">
        <p14:creationId xmlns:p14="http://schemas.microsoft.com/office/powerpoint/2010/main" val="250573515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221</a:t>
            </a:fld>
            <a:endParaRPr lang="zh-CN" altLang="en-US"/>
          </a:p>
        </p:txBody>
      </p:sp>
    </p:spTree>
    <p:extLst>
      <p:ext uri="{BB962C8B-B14F-4D97-AF65-F5344CB8AC3E}">
        <p14:creationId xmlns:p14="http://schemas.microsoft.com/office/powerpoint/2010/main" val="247389134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222</a:t>
            </a:fld>
            <a:endParaRPr lang="zh-CN" altLang="en-US"/>
          </a:p>
        </p:txBody>
      </p:sp>
    </p:spTree>
    <p:extLst>
      <p:ext uri="{BB962C8B-B14F-4D97-AF65-F5344CB8AC3E}">
        <p14:creationId xmlns:p14="http://schemas.microsoft.com/office/powerpoint/2010/main" val="83010788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223</a:t>
            </a:fld>
            <a:endParaRPr lang="zh-CN" altLang="en-US"/>
          </a:p>
        </p:txBody>
      </p:sp>
    </p:spTree>
    <p:extLst>
      <p:ext uri="{BB962C8B-B14F-4D97-AF65-F5344CB8AC3E}">
        <p14:creationId xmlns:p14="http://schemas.microsoft.com/office/powerpoint/2010/main" val="188878239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224</a:t>
            </a:fld>
            <a:endParaRPr lang="zh-CN" altLang="en-US"/>
          </a:p>
        </p:txBody>
      </p:sp>
    </p:spTree>
    <p:extLst>
      <p:ext uri="{BB962C8B-B14F-4D97-AF65-F5344CB8AC3E}">
        <p14:creationId xmlns:p14="http://schemas.microsoft.com/office/powerpoint/2010/main" val="212449007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226</a:t>
            </a:fld>
            <a:endParaRPr lang="zh-CN" altLang="en-US"/>
          </a:p>
        </p:txBody>
      </p:sp>
    </p:spTree>
    <p:extLst>
      <p:ext uri="{BB962C8B-B14F-4D97-AF65-F5344CB8AC3E}">
        <p14:creationId xmlns:p14="http://schemas.microsoft.com/office/powerpoint/2010/main" val="2279910769"/>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227</a:t>
            </a:fld>
            <a:endParaRPr lang="zh-CN" altLang="en-US"/>
          </a:p>
        </p:txBody>
      </p:sp>
    </p:spTree>
    <p:extLst>
      <p:ext uri="{BB962C8B-B14F-4D97-AF65-F5344CB8AC3E}">
        <p14:creationId xmlns:p14="http://schemas.microsoft.com/office/powerpoint/2010/main" val="2036328508"/>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228</a:t>
            </a:fld>
            <a:endParaRPr lang="zh-CN" altLang="en-US"/>
          </a:p>
        </p:txBody>
      </p:sp>
    </p:spTree>
    <p:extLst>
      <p:ext uri="{BB962C8B-B14F-4D97-AF65-F5344CB8AC3E}">
        <p14:creationId xmlns:p14="http://schemas.microsoft.com/office/powerpoint/2010/main" val="255685276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0BE61-5E84-E6EF-D61A-A54409C0FA7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8B148BD-67BC-079C-304A-9D54C1C2DBF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4AC15F3-BDB7-7DAF-FBE9-9A561660FE6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7A01456-B6EA-F139-9AB9-7117D6702AD0}"/>
              </a:ext>
            </a:extLst>
          </p:cNvPr>
          <p:cNvSpPr>
            <a:spLocks noGrp="1"/>
          </p:cNvSpPr>
          <p:nvPr>
            <p:ph type="sldNum" sz="quarter" idx="10"/>
          </p:nvPr>
        </p:nvSpPr>
        <p:spPr/>
        <p:txBody>
          <a:bodyPr/>
          <a:lstStyle/>
          <a:p>
            <a:fld id="{0B14BD24-89E3-4C51-B736-BCCE6C13A884}" type="slidenum">
              <a:rPr lang="zh-CN" altLang="en-US" smtClean="0"/>
              <a:pPr/>
              <a:t>229</a:t>
            </a:fld>
            <a:endParaRPr lang="zh-CN" altLang="en-US"/>
          </a:p>
        </p:txBody>
      </p:sp>
    </p:spTree>
    <p:extLst>
      <p:ext uri="{BB962C8B-B14F-4D97-AF65-F5344CB8AC3E}">
        <p14:creationId xmlns:p14="http://schemas.microsoft.com/office/powerpoint/2010/main" val="275629201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230</a:t>
            </a:fld>
            <a:endParaRPr lang="zh-CN" altLang="en-US"/>
          </a:p>
        </p:txBody>
      </p:sp>
    </p:spTree>
    <p:extLst>
      <p:ext uri="{BB962C8B-B14F-4D97-AF65-F5344CB8AC3E}">
        <p14:creationId xmlns:p14="http://schemas.microsoft.com/office/powerpoint/2010/main" val="460826212"/>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231</a:t>
            </a:fld>
            <a:endParaRPr lang="zh-CN" altLang="en-US"/>
          </a:p>
        </p:txBody>
      </p:sp>
    </p:spTree>
    <p:extLst>
      <p:ext uri="{BB962C8B-B14F-4D97-AF65-F5344CB8AC3E}">
        <p14:creationId xmlns:p14="http://schemas.microsoft.com/office/powerpoint/2010/main" val="7203256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0841E8-60C1-A069-1FB6-58E61C4977A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482C415-F315-16E1-0321-61F8215DC48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F965994-62F0-13A5-114A-59B9157B14A1}"/>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D5F06E7-B00F-8EE8-FC4E-3B15AFC15B3A}"/>
              </a:ext>
            </a:extLst>
          </p:cNvPr>
          <p:cNvSpPr>
            <a:spLocks noGrp="1"/>
          </p:cNvSpPr>
          <p:nvPr>
            <p:ph type="sldNum" sz="quarter" idx="10"/>
          </p:nvPr>
        </p:nvSpPr>
        <p:spPr/>
        <p:txBody>
          <a:bodyPr/>
          <a:lstStyle/>
          <a:p>
            <a:fld id="{0B14BD24-89E3-4C51-B736-BCCE6C13A884}" type="slidenum">
              <a:rPr lang="zh-CN" altLang="en-US" smtClean="0"/>
              <a:pPr/>
              <a:t>232</a:t>
            </a:fld>
            <a:endParaRPr lang="zh-CN" altLang="en-US"/>
          </a:p>
        </p:txBody>
      </p:sp>
    </p:spTree>
    <p:extLst>
      <p:ext uri="{BB962C8B-B14F-4D97-AF65-F5344CB8AC3E}">
        <p14:creationId xmlns:p14="http://schemas.microsoft.com/office/powerpoint/2010/main" val="110951542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233</a:t>
            </a:fld>
            <a:endParaRPr lang="zh-CN" altLang="en-US"/>
          </a:p>
        </p:txBody>
      </p:sp>
    </p:spTree>
    <p:extLst>
      <p:ext uri="{BB962C8B-B14F-4D97-AF65-F5344CB8AC3E}">
        <p14:creationId xmlns:p14="http://schemas.microsoft.com/office/powerpoint/2010/main" val="639037003"/>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44BE1-E9A7-EAAF-2A20-35FEAB7CF70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5BC8D80-3DBD-DF2F-961A-49655B1D24A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89B15AF-66F5-0892-C55E-D43265B6DEA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C1BCD324-E9C7-B7CC-E391-D8D70DC2843B}"/>
              </a:ext>
            </a:extLst>
          </p:cNvPr>
          <p:cNvSpPr>
            <a:spLocks noGrp="1"/>
          </p:cNvSpPr>
          <p:nvPr>
            <p:ph type="sldNum" sz="quarter" idx="10"/>
          </p:nvPr>
        </p:nvSpPr>
        <p:spPr/>
        <p:txBody>
          <a:bodyPr/>
          <a:lstStyle/>
          <a:p>
            <a:fld id="{0B14BD24-89E3-4C51-B736-BCCE6C13A884}" type="slidenum">
              <a:rPr lang="zh-CN" altLang="en-US" smtClean="0"/>
              <a:pPr/>
              <a:t>234</a:t>
            </a:fld>
            <a:endParaRPr lang="zh-CN" altLang="en-US"/>
          </a:p>
        </p:txBody>
      </p:sp>
    </p:spTree>
    <p:extLst>
      <p:ext uri="{BB962C8B-B14F-4D97-AF65-F5344CB8AC3E}">
        <p14:creationId xmlns:p14="http://schemas.microsoft.com/office/powerpoint/2010/main" val="39463743"/>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236</a:t>
            </a:fld>
            <a:endParaRPr lang="zh-CN" altLang="en-US"/>
          </a:p>
        </p:txBody>
      </p:sp>
    </p:spTree>
    <p:extLst>
      <p:ext uri="{BB962C8B-B14F-4D97-AF65-F5344CB8AC3E}">
        <p14:creationId xmlns:p14="http://schemas.microsoft.com/office/powerpoint/2010/main" val="3428263459"/>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238</a:t>
            </a:fld>
            <a:endParaRPr lang="zh-CN" altLang="en-US"/>
          </a:p>
        </p:txBody>
      </p:sp>
    </p:spTree>
    <p:extLst>
      <p:ext uri="{BB962C8B-B14F-4D97-AF65-F5344CB8AC3E}">
        <p14:creationId xmlns:p14="http://schemas.microsoft.com/office/powerpoint/2010/main" val="471001339"/>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239</a:t>
            </a:fld>
            <a:endParaRPr lang="zh-CN" altLang="en-US"/>
          </a:p>
        </p:txBody>
      </p:sp>
    </p:spTree>
    <p:extLst>
      <p:ext uri="{BB962C8B-B14F-4D97-AF65-F5344CB8AC3E}">
        <p14:creationId xmlns:p14="http://schemas.microsoft.com/office/powerpoint/2010/main" val="3445307204"/>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240</a:t>
            </a:fld>
            <a:endParaRPr lang="zh-CN" altLang="en-US"/>
          </a:p>
        </p:txBody>
      </p:sp>
    </p:spTree>
    <p:extLst>
      <p:ext uri="{BB962C8B-B14F-4D97-AF65-F5344CB8AC3E}">
        <p14:creationId xmlns:p14="http://schemas.microsoft.com/office/powerpoint/2010/main" val="269251352"/>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241</a:t>
            </a:fld>
            <a:endParaRPr lang="zh-CN" altLang="en-US"/>
          </a:p>
        </p:txBody>
      </p:sp>
    </p:spTree>
    <p:extLst>
      <p:ext uri="{BB962C8B-B14F-4D97-AF65-F5344CB8AC3E}">
        <p14:creationId xmlns:p14="http://schemas.microsoft.com/office/powerpoint/2010/main" val="159550015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242</a:t>
            </a:fld>
            <a:endParaRPr lang="zh-CN" altLang="en-US"/>
          </a:p>
        </p:txBody>
      </p:sp>
    </p:spTree>
    <p:extLst>
      <p:ext uri="{BB962C8B-B14F-4D97-AF65-F5344CB8AC3E}">
        <p14:creationId xmlns:p14="http://schemas.microsoft.com/office/powerpoint/2010/main" val="4057157213"/>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244</a:t>
            </a:fld>
            <a:endParaRPr lang="zh-CN" altLang="en-US"/>
          </a:p>
        </p:txBody>
      </p:sp>
    </p:spTree>
    <p:extLst>
      <p:ext uri="{BB962C8B-B14F-4D97-AF65-F5344CB8AC3E}">
        <p14:creationId xmlns:p14="http://schemas.microsoft.com/office/powerpoint/2010/main" val="59208932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245</a:t>
            </a:fld>
            <a:endParaRPr lang="zh-CN" altLang="en-US"/>
          </a:p>
        </p:txBody>
      </p:sp>
    </p:spTree>
    <p:extLst>
      <p:ext uri="{BB962C8B-B14F-4D97-AF65-F5344CB8AC3E}">
        <p14:creationId xmlns:p14="http://schemas.microsoft.com/office/powerpoint/2010/main" val="3541735582"/>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269</a:t>
            </a:fld>
            <a:endParaRPr lang="zh-CN" altLang="en-US"/>
          </a:p>
        </p:txBody>
      </p:sp>
    </p:spTree>
    <p:extLst>
      <p:ext uri="{BB962C8B-B14F-4D97-AF65-F5344CB8AC3E}">
        <p14:creationId xmlns:p14="http://schemas.microsoft.com/office/powerpoint/2010/main" val="317370785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270</a:t>
            </a:fld>
            <a:endParaRPr lang="zh-CN" altLang="en-US"/>
          </a:p>
        </p:txBody>
      </p:sp>
    </p:spTree>
    <p:extLst>
      <p:ext uri="{BB962C8B-B14F-4D97-AF65-F5344CB8AC3E}">
        <p14:creationId xmlns:p14="http://schemas.microsoft.com/office/powerpoint/2010/main" val="3294465797"/>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286</a:t>
            </a:fld>
            <a:endParaRPr lang="zh-CN" altLang="en-US"/>
          </a:p>
        </p:txBody>
      </p:sp>
    </p:spTree>
    <p:extLst>
      <p:ext uri="{BB962C8B-B14F-4D97-AF65-F5344CB8AC3E}">
        <p14:creationId xmlns:p14="http://schemas.microsoft.com/office/powerpoint/2010/main" val="913118152"/>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290</a:t>
            </a:fld>
            <a:endParaRPr lang="zh-CN" altLang="en-US"/>
          </a:p>
        </p:txBody>
      </p:sp>
    </p:spTree>
    <p:extLst>
      <p:ext uri="{BB962C8B-B14F-4D97-AF65-F5344CB8AC3E}">
        <p14:creationId xmlns:p14="http://schemas.microsoft.com/office/powerpoint/2010/main" val="4060961494"/>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298</a:t>
            </a:fld>
            <a:endParaRPr lang="zh-CN" altLang="en-US"/>
          </a:p>
        </p:txBody>
      </p:sp>
    </p:spTree>
    <p:extLst>
      <p:ext uri="{BB962C8B-B14F-4D97-AF65-F5344CB8AC3E}">
        <p14:creationId xmlns:p14="http://schemas.microsoft.com/office/powerpoint/2010/main" val="2285188704"/>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300</a:t>
            </a:fld>
            <a:endParaRPr lang="zh-CN" altLang="en-US"/>
          </a:p>
        </p:txBody>
      </p:sp>
    </p:spTree>
    <p:extLst>
      <p:ext uri="{BB962C8B-B14F-4D97-AF65-F5344CB8AC3E}">
        <p14:creationId xmlns:p14="http://schemas.microsoft.com/office/powerpoint/2010/main" val="2944275027"/>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317</a:t>
            </a:fld>
            <a:endParaRPr lang="zh-CN" altLang="en-US"/>
          </a:p>
        </p:txBody>
      </p:sp>
    </p:spTree>
    <p:extLst>
      <p:ext uri="{BB962C8B-B14F-4D97-AF65-F5344CB8AC3E}">
        <p14:creationId xmlns:p14="http://schemas.microsoft.com/office/powerpoint/2010/main" val="1850520232"/>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334</a:t>
            </a:fld>
            <a:endParaRPr lang="zh-CN" altLang="en-US"/>
          </a:p>
        </p:txBody>
      </p:sp>
    </p:spTree>
    <p:extLst>
      <p:ext uri="{BB962C8B-B14F-4D97-AF65-F5344CB8AC3E}">
        <p14:creationId xmlns:p14="http://schemas.microsoft.com/office/powerpoint/2010/main" val="295261215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336</a:t>
            </a:fld>
            <a:endParaRPr lang="zh-CN" altLang="en-US"/>
          </a:p>
        </p:txBody>
      </p:sp>
    </p:spTree>
    <p:extLst>
      <p:ext uri="{BB962C8B-B14F-4D97-AF65-F5344CB8AC3E}">
        <p14:creationId xmlns:p14="http://schemas.microsoft.com/office/powerpoint/2010/main" val="630903277"/>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337</a:t>
            </a:fld>
            <a:endParaRPr lang="zh-CN" altLang="en-US"/>
          </a:p>
        </p:txBody>
      </p:sp>
    </p:spTree>
    <p:extLst>
      <p:ext uri="{BB962C8B-B14F-4D97-AF65-F5344CB8AC3E}">
        <p14:creationId xmlns:p14="http://schemas.microsoft.com/office/powerpoint/2010/main" val="179872406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338</a:t>
            </a:fld>
            <a:endParaRPr lang="zh-CN" altLang="en-US"/>
          </a:p>
        </p:txBody>
      </p:sp>
    </p:spTree>
    <p:extLst>
      <p:ext uri="{BB962C8B-B14F-4D97-AF65-F5344CB8AC3E}">
        <p14:creationId xmlns:p14="http://schemas.microsoft.com/office/powerpoint/2010/main" val="3951002576"/>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339</a:t>
            </a:fld>
            <a:endParaRPr lang="zh-CN" altLang="en-US"/>
          </a:p>
        </p:txBody>
      </p:sp>
    </p:spTree>
    <p:extLst>
      <p:ext uri="{BB962C8B-B14F-4D97-AF65-F5344CB8AC3E}">
        <p14:creationId xmlns:p14="http://schemas.microsoft.com/office/powerpoint/2010/main" val="19355067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p>
            <a:endParaRPr lang="zh-CN" altLang="en-US"/>
          </a:p>
        </p:txBody>
      </p:sp>
      <p:sp>
        <p:nvSpPr>
          <p:cNvPr id="14" name="矩形 13">
            <a:extLst>
              <a:ext uri="{FF2B5EF4-FFF2-40B4-BE49-F238E27FC236}">
                <a16:creationId xmlns:a16="http://schemas.microsoft.com/office/drawing/2014/main" id="{F2E6D061-3C50-625E-34AD-4578B5746C8C}"/>
              </a:ext>
            </a:extLst>
          </p:cNvPr>
          <p:cNvSpPr/>
          <p:nvPr userDrawn="1"/>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B1DAD71E-72FE-68A7-BD2B-934ED68DD17E}"/>
              </a:ext>
            </a:extLst>
          </p:cNvPr>
          <p:cNvSpPr/>
          <p:nvPr userDrawn="1"/>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panose="020B0503020204020204"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userDrawn="1"/>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19160456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486000" y="550723"/>
            <a:ext cx="8172000" cy="338554"/>
          </a:xfrm>
          <a:prstGeom prst="rect">
            <a:avLst/>
          </a:prstGeom>
          <a:solidFill>
            <a:srgbClr val="0070C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Tree>
    <p:extLst>
      <p:ext uri="{BB962C8B-B14F-4D97-AF65-F5344CB8AC3E}">
        <p14:creationId xmlns:p14="http://schemas.microsoft.com/office/powerpoint/2010/main" val="28398175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900000"/>
            <a:ext cx="8172000"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3319460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lumn">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900000"/>
            <a:ext cx="4086001"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16090516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642588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userDrawn="1"/>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 name="Rectangle 4">
            <a:extLst>
              <a:ext uri="{FF2B5EF4-FFF2-40B4-BE49-F238E27FC236}">
                <a16:creationId xmlns:a16="http://schemas.microsoft.com/office/drawing/2014/main" id="{C6B78A3B-669B-7CAD-92B8-AC6AF6483F84}"/>
              </a:ext>
            </a:extLst>
          </p:cNvPr>
          <p:cNvSpPr>
            <a:spLocks noChangeArrowheads="1"/>
          </p:cNvSpPr>
          <p:nvPr userDrawn="1"/>
        </p:nvSpPr>
        <p:spPr bwMode="auto">
          <a:xfrm>
            <a:off x="4751173" y="163513"/>
            <a:ext cx="1065213"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zh-CN" altLang="en-US" sz="1100" b="0" dirty="0">
                <a:solidFill>
                  <a:srgbClr val="7F131F"/>
                </a:solidFill>
                <a:latin typeface="微软雅黑" pitchFamily="34" charset="-122"/>
                <a:ea typeface="微软雅黑" pitchFamily="34" charset="-122"/>
              </a:rPr>
              <a:t>广州华立学院</a:t>
            </a:r>
            <a:endParaRPr lang="fr-FR" sz="1100" b="0" dirty="0">
              <a:solidFill>
                <a:srgbClr val="7F131F"/>
              </a:solidFill>
              <a:latin typeface="微软雅黑" pitchFamily="34" charset="-122"/>
              <a:ea typeface="微软雅黑"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userDrawn="1"/>
        </p:nvSpPr>
        <p:spPr bwMode="auto">
          <a:xfrm>
            <a:off x="3502840" y="165100"/>
            <a:ext cx="889987"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pitchFamily="34" charset="-122"/>
                <a:ea typeface="微软雅黑" pitchFamily="34" charset="-122"/>
              </a:rPr>
              <a:t>计算机网络</a:t>
            </a:r>
            <a:endParaRPr lang="fr-FR" altLang="zh-CN" sz="1100" b="0" dirty="0">
              <a:solidFill>
                <a:srgbClr val="7F131F"/>
              </a:solidFill>
              <a:latin typeface="微软雅黑" pitchFamily="34" charset="-122"/>
              <a:ea typeface="微软雅黑"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userDrawn="1"/>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userDrawn="1"/>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椭圆 13">
            <a:extLst>
              <a:ext uri="{FF2B5EF4-FFF2-40B4-BE49-F238E27FC236}">
                <a16:creationId xmlns:a16="http://schemas.microsoft.com/office/drawing/2014/main" id="{F884E4FE-7D40-8603-B9FB-7DEC525D2415}"/>
              </a:ext>
            </a:extLst>
          </p:cNvPr>
          <p:cNvSpPr>
            <a:spLocks noChangeArrowheads="1"/>
          </p:cNvSpPr>
          <p:nvPr userDrawn="1"/>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pic>
        <p:nvPicPr>
          <p:cNvPr id="9" name="图片 1">
            <a:extLst>
              <a:ext uri="{FF2B5EF4-FFF2-40B4-BE49-F238E27FC236}">
                <a16:creationId xmlns:a16="http://schemas.microsoft.com/office/drawing/2014/main" id="{2BBB19EC-5864-9B90-7B1F-14893B93E252}"/>
              </a:ext>
            </a:extLst>
          </p:cNvPr>
          <p:cNvPicPr>
            <a:picLocks noChangeAspect="1"/>
          </p:cNvPicPr>
          <p:nvPr userDrawn="1"/>
        </p:nvPicPr>
        <p:blipFill>
          <a:blip r:embed="rId7">
            <a:extLst>
              <a:ext uri="{28A0092B-C50C-407E-A947-70E740481C1C}">
                <a14:useLocalDpi xmlns:a14="http://schemas.microsoft.com/office/drawing/2010/main" val="0"/>
              </a:ext>
            </a:extLst>
          </a:blip>
          <a:srcRect/>
          <a:stretch>
            <a:fillRect/>
          </a:stretch>
        </p:blipFill>
        <p:spPr bwMode="auto">
          <a:xfrm>
            <a:off x="141288" y="4662488"/>
            <a:ext cx="1125537" cy="26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Line 3">
            <a:extLst>
              <a:ext uri="{FF2B5EF4-FFF2-40B4-BE49-F238E27FC236}">
                <a16:creationId xmlns:a16="http://schemas.microsoft.com/office/drawing/2014/main" id="{5F7D9D61-B3C2-28C1-6793-844F70F55B01}"/>
              </a:ext>
            </a:extLst>
          </p:cNvPr>
          <p:cNvSpPr>
            <a:spLocks noChangeShapeType="1"/>
          </p:cNvSpPr>
          <p:nvPr userDrawn="1"/>
        </p:nvSpPr>
        <p:spPr bwMode="auto">
          <a:xfrm>
            <a:off x="1266825" y="4803775"/>
            <a:ext cx="6942138" cy="0"/>
          </a:xfrm>
          <a:prstGeom prst="line">
            <a:avLst/>
          </a:prstGeom>
          <a:noFill/>
          <a:ln w="19050" algn="ctr">
            <a:solidFill>
              <a:srgbClr val="85D1F7"/>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1" name="Rectangle 9">
            <a:extLst>
              <a:ext uri="{FF2B5EF4-FFF2-40B4-BE49-F238E27FC236}">
                <a16:creationId xmlns:a16="http://schemas.microsoft.com/office/drawing/2014/main" id="{8EA0DB56-BCC3-36D2-06D6-BB6F1D01CB73}"/>
              </a:ext>
            </a:extLst>
          </p:cNvPr>
          <p:cNvSpPr>
            <a:spLocks noChangeArrowheads="1"/>
          </p:cNvSpPr>
          <p:nvPr userDrawn="1"/>
        </p:nvSpPr>
        <p:spPr bwMode="auto">
          <a:xfrm>
            <a:off x="8208963" y="4394200"/>
            <a:ext cx="609600" cy="609600"/>
          </a:xfrm>
          <a:prstGeom prst="rect">
            <a:avLst/>
          </a:prstGeom>
          <a:solidFill>
            <a:schemeClr val="bg1"/>
          </a:solidFill>
          <a:ln w="25400" algn="ctr">
            <a:solidFill>
              <a:srgbClr val="85D1F7"/>
            </a:solidFill>
            <a:miter lim="800000"/>
            <a:headEnd/>
            <a:tailEnd/>
          </a:ln>
        </p:spPr>
        <p:txBody>
          <a:bodyPr wrap="none" anchor="ctr"/>
          <a:lstStyle/>
          <a:p>
            <a:pPr algn="ctr" eaLnBrk="0" hangingPunct="0"/>
            <a:endParaRPr lang="fr-FR" altLang="zh-CN">
              <a:cs typeface="Arial" charset="0"/>
            </a:endParaRPr>
          </a:p>
        </p:txBody>
      </p:sp>
      <p:sp>
        <p:nvSpPr>
          <p:cNvPr id="12" name="矩形 11">
            <a:extLst>
              <a:ext uri="{FF2B5EF4-FFF2-40B4-BE49-F238E27FC236}">
                <a16:creationId xmlns:a16="http://schemas.microsoft.com/office/drawing/2014/main" id="{A576B542-0259-5411-EEC1-9B93AC69DE7F}"/>
              </a:ext>
            </a:extLst>
          </p:cNvPr>
          <p:cNvSpPr/>
          <p:nvPr userDrawn="1"/>
        </p:nvSpPr>
        <p:spPr>
          <a:xfrm>
            <a:off x="4334632" y="123825"/>
            <a:ext cx="474736"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pic>
        <p:nvPicPr>
          <p:cNvPr id="13" name="图片 12">
            <a:extLst>
              <a:ext uri="{FF2B5EF4-FFF2-40B4-BE49-F238E27FC236}">
                <a16:creationId xmlns:a16="http://schemas.microsoft.com/office/drawing/2014/main" id="{26E74E3B-155B-C2C3-F39C-100548AF13E2}"/>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8243763" y="4429000"/>
            <a:ext cx="540000" cy="540000"/>
          </a:xfrm>
          <a:prstGeom prst="rect">
            <a:avLst/>
          </a:prstGeom>
        </p:spPr>
      </p:pic>
      <p:pic>
        <p:nvPicPr>
          <p:cNvPr id="14" name="图片 13">
            <a:extLst>
              <a:ext uri="{FF2B5EF4-FFF2-40B4-BE49-F238E27FC236}">
                <a16:creationId xmlns:a16="http://schemas.microsoft.com/office/drawing/2014/main" id="{C9653E1B-9CC1-514F-4DB4-6B80766317D3}"/>
              </a:ext>
            </a:extLst>
          </p:cNvPr>
          <p:cNvPicPr>
            <a:picLocks noChangeAspect="1"/>
          </p:cNvPicPr>
          <p:nvPr userDrawn="1"/>
        </p:nvPicPr>
        <p:blipFill>
          <a:blip r:embed="rId9"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spTree>
    <p:extLst>
      <p:ext uri="{BB962C8B-B14F-4D97-AF65-F5344CB8AC3E}">
        <p14:creationId xmlns:p14="http://schemas.microsoft.com/office/powerpoint/2010/main" val="691602360"/>
      </p:ext>
    </p:extLst>
  </p:cSld>
  <p:clrMap bg1="lt1" tx1="dk1" bg2="lt2" tx2="dk2" accent1="accent1" accent2="accent2" accent3="accent3" accent4="accent4" accent5="accent5" accent6="accent6" hlink="hlink" folHlink="folHlink"/>
  <p:sldLayoutIdLst>
    <p:sldLayoutId id="2147483653" r:id="rId1"/>
    <p:sldLayoutId id="2147483651" r:id="rId2"/>
    <p:sldLayoutId id="2147483649" r:id="rId3"/>
    <p:sldLayoutId id="2147483652" r:id="rId4"/>
    <p:sldLayoutId id="2147483650" r:id="rId5"/>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wmf"/><Relationship Id="rId1" Type="http://schemas.openxmlformats.org/officeDocument/2006/relationships/slideLayout" Target="../slideLayouts/slideLayout3.xml"/><Relationship Id="rId4" Type="http://schemas.openxmlformats.org/officeDocument/2006/relationships/image" Target="../media/image9.sv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wmf"/><Relationship Id="rId1" Type="http://schemas.openxmlformats.org/officeDocument/2006/relationships/slideLayout" Target="../slideLayouts/slideLayout3.xml"/><Relationship Id="rId4" Type="http://schemas.openxmlformats.org/officeDocument/2006/relationships/image" Target="../media/image9.sv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wmf"/><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4.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wmf"/></Relationships>
</file>

<file path=ppt/slides/_rels/slide15.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wmf"/></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9.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4.jpe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5.wmf"/><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0.wmf"/><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image" Target="../media/image7.wmf"/><Relationship Id="rId1" Type="http://schemas.openxmlformats.org/officeDocument/2006/relationships/slideLayout" Target="../slideLayouts/slideLayout5.xml"/><Relationship Id="rId6" Type="http://schemas.openxmlformats.org/officeDocument/2006/relationships/image" Target="../media/image18.png"/><Relationship Id="rId5" Type="http://schemas.openxmlformats.org/officeDocument/2006/relationships/image" Target="../media/image21.png"/><Relationship Id="rId4" Type="http://schemas.openxmlformats.org/officeDocument/2006/relationships/image" Target="../media/image20.jpe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5.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2" Type="http://schemas.openxmlformats.org/officeDocument/2006/relationships/image" Target="../media/image22.wmf"/><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image" Target="../media/image22.wmf"/><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9.xml"/><Relationship Id="rId1" Type="http://schemas.openxmlformats.org/officeDocument/2006/relationships/slideLayout" Target="../slideLayouts/slideLayout5.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6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5.xml"/><Relationship Id="rId4" Type="http://schemas.openxmlformats.org/officeDocument/2006/relationships/image" Target="../media/image25.svg"/></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7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7.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8.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9.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0.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1.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112.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113.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0.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115.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2.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6.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3.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118.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5.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9.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6.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20.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7.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21.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8.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22.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jpeg"/><Relationship Id="rId1" Type="http://schemas.openxmlformats.org/officeDocument/2006/relationships/slideLayout" Target="../slideLayouts/slideLayout5.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124.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126.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image" Target="../media/image7.wmf"/><Relationship Id="rId1" Type="http://schemas.openxmlformats.org/officeDocument/2006/relationships/slideLayout" Target="../slideLayouts/slideLayout5.xml"/><Relationship Id="rId5" Type="http://schemas.openxmlformats.org/officeDocument/2006/relationships/image" Target="../media/image18.png"/><Relationship Id="rId4" Type="http://schemas.openxmlformats.org/officeDocument/2006/relationships/image" Target="../media/image30.emf"/></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2.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image" Target="../media/image32.jpeg"/><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1.xml"/></Relationships>
</file>

<file path=ppt/slides/_rels/slide172.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61.xml"/><Relationship Id="rId1" Type="http://schemas.openxmlformats.org/officeDocument/2006/relationships/slideLayout" Target="../slideLayouts/slideLayout5.xml"/><Relationship Id="rId4" Type="http://schemas.openxmlformats.org/officeDocument/2006/relationships/image" Target="../media/image11.png"/></Relationships>
</file>

<file path=ppt/slides/_rels/slide173.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62.xml"/><Relationship Id="rId1" Type="http://schemas.openxmlformats.org/officeDocument/2006/relationships/slideLayout" Target="../slideLayouts/slideLayout5.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174.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5.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75.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63.xml"/><Relationship Id="rId1" Type="http://schemas.openxmlformats.org/officeDocument/2006/relationships/slideLayout" Target="../slideLayouts/slideLayout5.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17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5.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79.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3.xml"/></Relationships>
</file>

<file path=ppt/slides/_rels/slide18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22.wmf"/><Relationship Id="rId1" Type="http://schemas.openxmlformats.org/officeDocument/2006/relationships/slideLayout" Target="../slideLayouts/slideLayout3.xml"/><Relationship Id="rId4" Type="http://schemas.openxmlformats.org/officeDocument/2006/relationships/image" Target="../media/image10.wmf"/></Relationships>
</file>

<file path=ppt/slides/_rels/slide183.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67.xml"/><Relationship Id="rId1" Type="http://schemas.openxmlformats.org/officeDocument/2006/relationships/slideLayout" Target="../slideLayouts/slideLayout3.xml"/><Relationship Id="rId5" Type="http://schemas.openxmlformats.org/officeDocument/2006/relationships/image" Target="../media/image10.wmf"/><Relationship Id="rId4" Type="http://schemas.openxmlformats.org/officeDocument/2006/relationships/image" Target="../media/image34.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3.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3.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5.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4.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95.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96.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97.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9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3.xml"/></Relationships>
</file>

<file path=ppt/slides/_rels/slide204.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72.xml"/><Relationship Id="rId1" Type="http://schemas.openxmlformats.org/officeDocument/2006/relationships/slideLayout" Target="../slideLayouts/slideLayout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0.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5.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4.xml"/><Relationship Id="rId1" Type="http://schemas.openxmlformats.org/officeDocument/2006/relationships/slideLayout" Target="../slideLayouts/slideLayout3.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3.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3.xml"/></Relationships>
</file>

<file path=ppt/slides/_rels/slide219.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7.xml"/><Relationship Id="rId1" Type="http://schemas.openxmlformats.org/officeDocument/2006/relationships/slideLayout" Target="../slideLayouts/slideLayout3.xml"/></Relationships>
</file>

<file path=ppt/slides/_rels/slide220.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8.xml"/><Relationship Id="rId1" Type="http://schemas.openxmlformats.org/officeDocument/2006/relationships/slideLayout" Target="../slideLayouts/slideLayout3.xml"/></Relationships>
</file>

<file path=ppt/slides/_rels/slide221.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3.xml"/></Relationships>
</file>

<file path=ppt/slides/_rels/slide227.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228.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6.xml"/><Relationship Id="rId1" Type="http://schemas.openxmlformats.org/officeDocument/2006/relationships/slideLayout" Target="../slideLayouts/slideLayout5.xml"/></Relationships>
</file>

<file path=ppt/slides/_rels/slide230.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9.xml"/><Relationship Id="rId1" Type="http://schemas.openxmlformats.org/officeDocument/2006/relationships/slideLayout" Target="../slideLayouts/slideLayout5.xml"/></Relationships>
</file>

<file path=ppt/slides/_rels/slide233.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91.xml"/><Relationship Id="rId1" Type="http://schemas.openxmlformats.org/officeDocument/2006/relationships/slideLayout" Target="../slideLayouts/slideLayout5.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3.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4.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4.xml"/></Relationships>
</file>

<file path=ppt/slides/_rels/slide246.xml.rels><?xml version="1.0" encoding="UTF-8" standalone="yes"?>
<Relationships xmlns="http://schemas.openxmlformats.org/package/2006/relationships"><Relationship Id="rId2" Type="http://schemas.openxmlformats.org/officeDocument/2006/relationships/image" Target="../media/image35.jpeg"/><Relationship Id="rId1" Type="http://schemas.openxmlformats.org/officeDocument/2006/relationships/slideLayout" Target="../slideLayouts/slideLayout1.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8.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image" Target="../media/image36.png"/><Relationship Id="rId1" Type="http://schemas.openxmlformats.org/officeDocument/2006/relationships/slideLayout" Target="../slideLayouts/slideLayout3.xml"/><Relationship Id="rId5" Type="http://schemas.openxmlformats.org/officeDocument/2006/relationships/image" Target="../media/image22.wmf"/><Relationship Id="rId4" Type="http://schemas.openxmlformats.org/officeDocument/2006/relationships/image" Target="../media/image18.png"/></Relationships>
</file>

<file path=ppt/slides/_rels/slide249.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image" Target="../media/image36.png"/><Relationship Id="rId1" Type="http://schemas.openxmlformats.org/officeDocument/2006/relationships/slideLayout" Target="../slideLayouts/slideLayout3.xml"/><Relationship Id="rId5" Type="http://schemas.openxmlformats.org/officeDocument/2006/relationships/image" Target="../media/image22.wmf"/><Relationship Id="rId4" Type="http://schemas.openxmlformats.org/officeDocument/2006/relationships/image" Target="../media/image18.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6.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image" Target="../media/image10.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57.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28.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2.xml.rels><?xml version="1.0" encoding="UTF-8" standalone="yes"?>
<Relationships xmlns="http://schemas.openxmlformats.org/package/2006/relationships"><Relationship Id="rId3" Type="http://schemas.openxmlformats.org/officeDocument/2006/relationships/image" Target="../media/image38.wmf"/><Relationship Id="rId2" Type="http://schemas.openxmlformats.org/officeDocument/2006/relationships/image" Target="../media/image37.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63.xml.rels><?xml version="1.0" encoding="UTF-8" standalone="yes"?>
<Relationships xmlns="http://schemas.openxmlformats.org/package/2006/relationships"><Relationship Id="rId3" Type="http://schemas.openxmlformats.org/officeDocument/2006/relationships/image" Target="../media/image38.wmf"/><Relationship Id="rId2" Type="http://schemas.openxmlformats.org/officeDocument/2006/relationships/image" Target="../media/image37.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64.xml.rels><?xml version="1.0" encoding="UTF-8" standalone="yes"?>
<Relationships xmlns="http://schemas.openxmlformats.org/package/2006/relationships"><Relationship Id="rId3" Type="http://schemas.openxmlformats.org/officeDocument/2006/relationships/image" Target="../media/image38.wmf"/><Relationship Id="rId2" Type="http://schemas.openxmlformats.org/officeDocument/2006/relationships/image" Target="../media/image37.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4.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9.xml.rels><?xml version="1.0" encoding="UTF-8" standalone="yes"?>
<Relationships xmlns="http://schemas.openxmlformats.org/package/2006/relationships"><Relationship Id="rId3" Type="http://schemas.openxmlformats.org/officeDocument/2006/relationships/image" Target="../media/image39.wmf"/><Relationship Id="rId2" Type="http://schemas.openxmlformats.org/officeDocument/2006/relationships/notesSlide" Target="../notesSlides/notesSlide100.xml"/><Relationship Id="rId1" Type="http://schemas.openxmlformats.org/officeDocument/2006/relationships/slideLayout" Target="../slideLayouts/slideLayout3.xml"/></Relationships>
</file>

<file path=ppt/slides/_rels/slide270.xml.rels><?xml version="1.0" encoding="UTF-8" standalone="yes"?>
<Relationships xmlns="http://schemas.openxmlformats.org/package/2006/relationships"><Relationship Id="rId3" Type="http://schemas.openxmlformats.org/officeDocument/2006/relationships/image" Target="../media/image39.wmf"/><Relationship Id="rId2" Type="http://schemas.openxmlformats.org/officeDocument/2006/relationships/notesSlide" Target="../notesSlides/notesSlide101.xml"/><Relationship Id="rId1" Type="http://schemas.openxmlformats.org/officeDocument/2006/relationships/slideLayout" Target="../slideLayouts/slideLayout3.xml"/></Relationships>
</file>

<file path=ppt/slides/_rels/slide271.xml.rels><?xml version="1.0" encoding="UTF-8" standalone="yes"?>
<Relationships xmlns="http://schemas.openxmlformats.org/package/2006/relationships"><Relationship Id="rId2" Type="http://schemas.openxmlformats.org/officeDocument/2006/relationships/image" Target="../media/image39.wmf"/><Relationship Id="rId1" Type="http://schemas.openxmlformats.org/officeDocument/2006/relationships/slideLayout" Target="../slideLayouts/slideLayout3.xml"/></Relationships>
</file>

<file path=ppt/slides/_rels/slide27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73.xml.rels><?xml version="1.0" encoding="UTF-8" standalone="yes"?>
<Relationships xmlns="http://schemas.openxmlformats.org/package/2006/relationships"><Relationship Id="rId3" Type="http://schemas.openxmlformats.org/officeDocument/2006/relationships/image" Target="../media/image40.wmf"/><Relationship Id="rId2" Type="http://schemas.openxmlformats.org/officeDocument/2006/relationships/oleObject" Target="../embeddings/oleObject2.bin"/><Relationship Id="rId1" Type="http://schemas.openxmlformats.org/officeDocument/2006/relationships/slideLayout" Target="../slideLayouts/slideLayout2.xml"/><Relationship Id="rId4" Type="http://schemas.openxmlformats.org/officeDocument/2006/relationships/image" Target="../media/image7.wmf"/></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7.xml.rels><?xml version="1.0" encoding="UTF-8" standalone="yes"?>
<Relationships xmlns="http://schemas.openxmlformats.org/package/2006/relationships"><Relationship Id="rId2" Type="http://schemas.openxmlformats.org/officeDocument/2006/relationships/image" Target="../media/image41.jpeg"/><Relationship Id="rId1" Type="http://schemas.openxmlformats.org/officeDocument/2006/relationships/slideLayout" Target="../slideLayouts/slideLayout1.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4.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image" Target="../media/image42.png"/><Relationship Id="rId1" Type="http://schemas.openxmlformats.org/officeDocument/2006/relationships/slideLayout" Target="../slideLayouts/slideLayout2.xml"/><Relationship Id="rId5" Type="http://schemas.openxmlformats.org/officeDocument/2006/relationships/image" Target="../media/image7.wmf"/><Relationship Id="rId4" Type="http://schemas.openxmlformats.org/officeDocument/2006/relationships/image" Target="../media/image40.wmf"/></Relationships>
</file>

<file path=ppt/slides/_rels/slide285.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image" Target="../media/image42.png"/><Relationship Id="rId1" Type="http://schemas.openxmlformats.org/officeDocument/2006/relationships/slideLayout" Target="../slideLayouts/slideLayout5.xml"/><Relationship Id="rId5" Type="http://schemas.openxmlformats.org/officeDocument/2006/relationships/image" Target="../media/image7.wmf"/><Relationship Id="rId4" Type="http://schemas.openxmlformats.org/officeDocument/2006/relationships/image" Target="../media/image40.wmf"/></Relationships>
</file>

<file path=ppt/slides/_rels/slide286.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3.xml"/></Relationships>
</file>

<file path=ppt/slides/_rels/slide287.xml.rels><?xml version="1.0" encoding="UTF-8" standalone="yes"?>
<Relationships xmlns="http://schemas.openxmlformats.org/package/2006/relationships"><Relationship Id="rId2" Type="http://schemas.openxmlformats.org/officeDocument/2006/relationships/image" Target="../media/image41.jpeg"/><Relationship Id="rId1" Type="http://schemas.openxmlformats.org/officeDocument/2006/relationships/slideLayout" Target="../slideLayouts/slideLayout1.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0.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103.xml"/><Relationship Id="rId1" Type="http://schemas.openxmlformats.org/officeDocument/2006/relationships/slideLayout" Target="../slideLayouts/slideLayout2.xml"/><Relationship Id="rId6" Type="http://schemas.openxmlformats.org/officeDocument/2006/relationships/image" Target="../media/image28.wmf"/><Relationship Id="rId5" Type="http://schemas.openxmlformats.org/officeDocument/2006/relationships/image" Target="../media/image10.wmf"/><Relationship Id="rId4" Type="http://schemas.openxmlformats.org/officeDocument/2006/relationships/image" Target="../media/image40.wmf"/></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5.xml.rels><?xml version="1.0" encoding="UTF-8" standalone="yes"?>
<Relationships xmlns="http://schemas.openxmlformats.org/package/2006/relationships"><Relationship Id="rId2" Type="http://schemas.openxmlformats.org/officeDocument/2006/relationships/image" Target="../media/image43.jpg"/><Relationship Id="rId1" Type="http://schemas.openxmlformats.org/officeDocument/2006/relationships/slideLayout" Target="../slideLayouts/slideLayout1.xml"/></Relationships>
</file>

<file path=ppt/slides/_rels/slide296.xml.rels><?xml version="1.0" encoding="UTF-8" standalone="yes"?>
<Relationships xmlns="http://schemas.openxmlformats.org/package/2006/relationships"><Relationship Id="rId2" Type="http://schemas.openxmlformats.org/officeDocument/2006/relationships/image" Target="../media/image44.wmf"/><Relationship Id="rId1" Type="http://schemas.openxmlformats.org/officeDocument/2006/relationships/slideLayout" Target="../slideLayouts/slideLayout3.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8.xml.rels><?xml version="1.0" encoding="UTF-8" standalone="yes"?>
<Relationships xmlns="http://schemas.openxmlformats.org/package/2006/relationships"><Relationship Id="rId3" Type="http://schemas.openxmlformats.org/officeDocument/2006/relationships/image" Target="../media/image44.wmf"/><Relationship Id="rId2" Type="http://schemas.openxmlformats.org/officeDocument/2006/relationships/notesSlide" Target="../notesSlides/notesSlide104.xml"/><Relationship Id="rId1" Type="http://schemas.openxmlformats.org/officeDocument/2006/relationships/slideLayout" Target="../slideLayouts/slideLayout3.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0.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105.xml"/><Relationship Id="rId1" Type="http://schemas.openxmlformats.org/officeDocument/2006/relationships/slideLayout" Target="../slideLayouts/slideLayout2.xml"/><Relationship Id="rId5" Type="http://schemas.openxmlformats.org/officeDocument/2006/relationships/image" Target="../media/image42.png"/><Relationship Id="rId4" Type="http://schemas.openxmlformats.org/officeDocument/2006/relationships/image" Target="../media/image44.wmf"/></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7.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30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7.wmf"/><Relationship Id="rId1" Type="http://schemas.openxmlformats.org/officeDocument/2006/relationships/slideLayout" Target="../slideLayouts/slideLayout2.xml"/><Relationship Id="rId4" Type="http://schemas.openxmlformats.org/officeDocument/2006/relationships/image" Target="../media/image44.wmf"/></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7.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3.xml"/></Relationships>
</file>

<file path=ppt/slides/_rels/slide318.xml.rels><?xml version="1.0" encoding="UTF-8" standalone="yes"?>
<Relationships xmlns="http://schemas.openxmlformats.org/package/2006/relationships"><Relationship Id="rId2" Type="http://schemas.openxmlformats.org/officeDocument/2006/relationships/image" Target="../media/image45.jpeg"/><Relationship Id="rId1" Type="http://schemas.openxmlformats.org/officeDocument/2006/relationships/slideLayout" Target="../slideLayouts/slideLayout1.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0.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4.xml.rels><?xml version="1.0" encoding="UTF-8" standalone="yes"?>
<Relationships xmlns="http://schemas.openxmlformats.org/package/2006/relationships"><Relationship Id="rId3" Type="http://schemas.openxmlformats.org/officeDocument/2006/relationships/image" Target="../media/image12.wmf"/><Relationship Id="rId2" Type="http://schemas.openxmlformats.org/officeDocument/2006/relationships/image" Target="../media/image42.png"/><Relationship Id="rId1" Type="http://schemas.openxmlformats.org/officeDocument/2006/relationships/slideLayout" Target="../slideLayouts/slideLayout3.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10.wmf"/><Relationship Id="rId1" Type="http://schemas.openxmlformats.org/officeDocument/2006/relationships/slideLayout" Target="../slideLayouts/slideLayout2.xml"/><Relationship Id="rId4" Type="http://schemas.openxmlformats.org/officeDocument/2006/relationships/image" Target="../media/image47.wmf"/></Relationships>
</file>

<file path=ppt/slides/_rels/slide329.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28.wmf"/><Relationship Id="rId1" Type="http://schemas.openxmlformats.org/officeDocument/2006/relationships/slideLayout" Target="../slideLayouts/slideLayout2.xml"/><Relationship Id="rId4" Type="http://schemas.openxmlformats.org/officeDocument/2006/relationships/image" Target="../media/image47.wmf"/></Relationships>
</file>

<file path=ppt/slides/_rels/slide33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10.wmf"/><Relationship Id="rId1" Type="http://schemas.openxmlformats.org/officeDocument/2006/relationships/slideLayout" Target="../slideLayouts/slideLayout3.xml"/><Relationship Id="rId4" Type="http://schemas.openxmlformats.org/officeDocument/2006/relationships/image" Target="../media/image47.wmf"/></Relationships>
</file>

<file path=ppt/slides/_rels/slide331.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28.wmf"/><Relationship Id="rId1" Type="http://schemas.openxmlformats.org/officeDocument/2006/relationships/slideLayout" Target="../slideLayouts/slideLayout2.xml"/><Relationship Id="rId4" Type="http://schemas.openxmlformats.org/officeDocument/2006/relationships/image" Target="../media/image47.wmf"/></Relationships>
</file>

<file path=ppt/slides/_rels/slide33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10.wmf"/><Relationship Id="rId1" Type="http://schemas.openxmlformats.org/officeDocument/2006/relationships/slideLayout" Target="../slideLayouts/slideLayout2.xml"/><Relationship Id="rId4" Type="http://schemas.openxmlformats.org/officeDocument/2006/relationships/image" Target="../media/image47.wmf"/></Relationships>
</file>

<file path=ppt/slides/_rels/slide333.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28.wmf"/><Relationship Id="rId1" Type="http://schemas.openxmlformats.org/officeDocument/2006/relationships/slideLayout" Target="../slideLayouts/slideLayout2.xml"/><Relationship Id="rId4" Type="http://schemas.openxmlformats.org/officeDocument/2006/relationships/image" Target="../media/image47.wmf"/></Relationships>
</file>

<file path=ppt/slides/_rels/slide334.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107.xml"/><Relationship Id="rId1" Type="http://schemas.openxmlformats.org/officeDocument/2006/relationships/slideLayout" Target="../slideLayouts/slideLayout2.xml"/><Relationship Id="rId4" Type="http://schemas.openxmlformats.org/officeDocument/2006/relationships/image" Target="../media/image47.wmf"/></Relationships>
</file>

<file path=ppt/slides/_rels/slide335.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336.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108.xml"/><Relationship Id="rId1" Type="http://schemas.openxmlformats.org/officeDocument/2006/relationships/slideLayout" Target="../slideLayouts/slideLayout2.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337.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338.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339.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网</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络</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4 章</a:t>
            </a:r>
          </a:p>
        </p:txBody>
      </p:sp>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a:extLst>
              <a:ext uri="{FF2B5EF4-FFF2-40B4-BE49-F238E27FC236}">
                <a16:creationId xmlns:a16="http://schemas.microsoft.com/office/drawing/2014/main" id="{5A9D1B67-41F5-A720-CCB9-0592AFB25DF0}"/>
              </a:ext>
            </a:extLst>
          </p:cNvPr>
          <p:cNvGrpSpPr/>
          <p:nvPr/>
        </p:nvGrpSpPr>
        <p:grpSpPr>
          <a:xfrm>
            <a:off x="5983013" y="2166189"/>
            <a:ext cx="2160000" cy="2304000"/>
            <a:chOff x="6539325" y="1588039"/>
            <a:chExt cx="2160000" cy="2304000"/>
          </a:xfrm>
        </p:grpSpPr>
        <p:sp>
          <p:nvSpPr>
            <p:cNvPr id="4" name="立方体 3">
              <a:extLst>
                <a:ext uri="{FF2B5EF4-FFF2-40B4-BE49-F238E27FC236}">
                  <a16:creationId xmlns:a16="http://schemas.microsoft.com/office/drawing/2014/main" id="{77358EBD-EF4C-D96E-09AF-2D0F4403A058}"/>
                </a:ext>
              </a:extLst>
            </p:cNvPr>
            <p:cNvSpPr/>
            <p:nvPr/>
          </p:nvSpPr>
          <p:spPr>
            <a:xfrm>
              <a:off x="6539325" y="331603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6" name="立方体 5">
              <a:extLst>
                <a:ext uri="{FF2B5EF4-FFF2-40B4-BE49-F238E27FC236}">
                  <a16:creationId xmlns:a16="http://schemas.microsoft.com/office/drawing/2014/main" id="{E5BCB0B7-BF31-D2B7-9CAF-943171F50E85}"/>
                </a:ext>
              </a:extLst>
            </p:cNvPr>
            <p:cNvSpPr/>
            <p:nvPr/>
          </p:nvSpPr>
          <p:spPr>
            <a:xfrm>
              <a:off x="6539325" y="288403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7" name="立方体 6">
              <a:extLst>
                <a:ext uri="{FF2B5EF4-FFF2-40B4-BE49-F238E27FC236}">
                  <a16:creationId xmlns:a16="http://schemas.microsoft.com/office/drawing/2014/main" id="{9154458F-7620-BF33-3551-10C29FC036AD}"/>
                </a:ext>
              </a:extLst>
            </p:cNvPr>
            <p:cNvSpPr/>
            <p:nvPr/>
          </p:nvSpPr>
          <p:spPr>
            <a:xfrm>
              <a:off x="6539325" y="245203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立方体 8">
              <a:extLst>
                <a:ext uri="{FF2B5EF4-FFF2-40B4-BE49-F238E27FC236}">
                  <a16:creationId xmlns:a16="http://schemas.microsoft.com/office/drawing/2014/main" id="{22C2E59F-9CDA-BB99-31CC-37B3E55B82BB}"/>
                </a:ext>
              </a:extLst>
            </p:cNvPr>
            <p:cNvSpPr/>
            <p:nvPr/>
          </p:nvSpPr>
          <p:spPr>
            <a:xfrm>
              <a:off x="6539325" y="202003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 name="立方体 9">
              <a:extLst>
                <a:ext uri="{FF2B5EF4-FFF2-40B4-BE49-F238E27FC236}">
                  <a16:creationId xmlns:a16="http://schemas.microsoft.com/office/drawing/2014/main" id="{BD38986F-0F29-08AF-4659-044DC071BC80}"/>
                </a:ext>
              </a:extLst>
            </p:cNvPr>
            <p:cNvSpPr/>
            <p:nvPr/>
          </p:nvSpPr>
          <p:spPr>
            <a:xfrm>
              <a:off x="6539325" y="158803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
        <p:nvSpPr>
          <p:cNvPr id="65" name="Text Box 13"/>
          <p:cNvSpPr txBox="1">
            <a:spLocks noChangeArrowheads="1"/>
          </p:cNvSpPr>
          <p:nvPr/>
        </p:nvSpPr>
        <p:spPr bwMode="auto">
          <a:xfrm>
            <a:off x="1380424" y="4522466"/>
            <a:ext cx="186301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OSI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的七层协议体系结构</a:t>
            </a:r>
          </a:p>
        </p:txBody>
      </p:sp>
      <p:sp>
        <p:nvSpPr>
          <p:cNvPr id="66" name="Text Box 12"/>
          <p:cNvSpPr txBox="1">
            <a:spLocks noChangeArrowheads="1"/>
          </p:cNvSpPr>
          <p:nvPr/>
        </p:nvSpPr>
        <p:spPr bwMode="auto">
          <a:xfrm>
            <a:off x="3656394" y="4522466"/>
            <a:ext cx="2127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latin typeface="Montserrat" panose="00000500000000000000" pitchFamily="2" charset="0"/>
                <a:ea typeface="微软雅黑 Light" panose="020B0502040204020203" pitchFamily="34" charset="-122"/>
              </a:rPr>
              <a:t>TCP/IP </a:t>
            </a:r>
            <a:r>
              <a:rPr kumimoji="1" lang="zh-CN" altLang="en-US" sz="1200" dirty="0">
                <a:latin typeface="Montserrat" panose="00000500000000000000" pitchFamily="2" charset="0"/>
                <a:ea typeface="微软雅黑 Light" panose="020B0502040204020203" pitchFamily="34" charset="-122"/>
              </a:rPr>
              <a:t>的四层协议体系结构</a:t>
            </a:r>
          </a:p>
        </p:txBody>
      </p:sp>
      <p:sp>
        <p:nvSpPr>
          <p:cNvPr id="70" name="Text Box 113"/>
          <p:cNvSpPr txBox="1">
            <a:spLocks noChangeArrowheads="1"/>
          </p:cNvSpPr>
          <p:nvPr/>
        </p:nvSpPr>
        <p:spPr bwMode="auto">
          <a:xfrm>
            <a:off x="6170158" y="4522466"/>
            <a:ext cx="15696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200" dirty="0">
                <a:solidFill>
                  <a:srgbClr val="E46C0A"/>
                </a:solidFill>
                <a:latin typeface="Montserrat" panose="00000500000000000000" pitchFamily="2" charset="0"/>
                <a:ea typeface="微软雅黑 Light" panose="020B0502040204020203" pitchFamily="34" charset="-122"/>
              </a:rPr>
              <a:t>五层协议的体系结构</a:t>
            </a:r>
          </a:p>
        </p:txBody>
      </p:sp>
      <p:sp>
        <p:nvSpPr>
          <p:cNvPr id="2" name="标题 1">
            <a:extLst>
              <a:ext uri="{FF2B5EF4-FFF2-40B4-BE49-F238E27FC236}">
                <a16:creationId xmlns:a16="http://schemas.microsoft.com/office/drawing/2014/main" id="{3DE93DA0-B1DD-5FE2-0D1E-BCDC2281C95D}"/>
              </a:ext>
            </a:extLst>
          </p:cNvPr>
          <p:cNvSpPr>
            <a:spLocks noGrp="1"/>
          </p:cNvSpPr>
          <p:nvPr>
            <p:ph type="title"/>
          </p:nvPr>
        </p:nvSpPr>
        <p:spPr>
          <a:xfrm>
            <a:off x="486000" y="550723"/>
            <a:ext cx="8172000" cy="338554"/>
          </a:xfrm>
        </p:spPr>
        <p:txBody>
          <a:bodyPr/>
          <a:lstStyle/>
          <a:p>
            <a:r>
              <a:rPr lang="zh-CN" altLang="en-US" dirty="0"/>
              <a:t>计算机网络体系结构</a:t>
            </a:r>
          </a:p>
        </p:txBody>
      </p:sp>
      <p:grpSp>
        <p:nvGrpSpPr>
          <p:cNvPr id="18" name="组合 17">
            <a:extLst>
              <a:ext uri="{FF2B5EF4-FFF2-40B4-BE49-F238E27FC236}">
                <a16:creationId xmlns:a16="http://schemas.microsoft.com/office/drawing/2014/main" id="{DF76D175-9040-050C-CDD7-B3A1AB44BA4D}"/>
              </a:ext>
            </a:extLst>
          </p:cNvPr>
          <p:cNvGrpSpPr/>
          <p:nvPr/>
        </p:nvGrpSpPr>
        <p:grpSpPr>
          <a:xfrm>
            <a:off x="1079467" y="1303200"/>
            <a:ext cx="2160000" cy="3166989"/>
            <a:chOff x="1079467" y="1303200"/>
            <a:chExt cx="2160000" cy="3166989"/>
          </a:xfrm>
        </p:grpSpPr>
        <p:sp>
          <p:nvSpPr>
            <p:cNvPr id="8" name="立方体 7">
              <a:extLst>
                <a:ext uri="{FF2B5EF4-FFF2-40B4-BE49-F238E27FC236}">
                  <a16:creationId xmlns:a16="http://schemas.microsoft.com/office/drawing/2014/main" id="{0413351E-16F9-A732-E78B-B954297C7268}"/>
                </a:ext>
              </a:extLst>
            </p:cNvPr>
            <p:cNvSpPr/>
            <p:nvPr/>
          </p:nvSpPr>
          <p:spPr>
            <a:xfrm>
              <a:off x="1079467"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1" name="立方体 10">
              <a:extLst>
                <a:ext uri="{FF2B5EF4-FFF2-40B4-BE49-F238E27FC236}">
                  <a16:creationId xmlns:a16="http://schemas.microsoft.com/office/drawing/2014/main" id="{37C2CB0D-E5CF-59FF-D607-D7A27A33F9D5}"/>
                </a:ext>
              </a:extLst>
            </p:cNvPr>
            <p:cNvSpPr/>
            <p:nvPr/>
          </p:nvSpPr>
          <p:spPr>
            <a:xfrm>
              <a:off x="1079467"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2" name="立方体 11">
              <a:extLst>
                <a:ext uri="{FF2B5EF4-FFF2-40B4-BE49-F238E27FC236}">
                  <a16:creationId xmlns:a16="http://schemas.microsoft.com/office/drawing/2014/main" id="{4A1CDDEB-E036-6E84-7D5A-E9C5C1FA73EF}"/>
                </a:ext>
              </a:extLst>
            </p:cNvPr>
            <p:cNvSpPr/>
            <p:nvPr/>
          </p:nvSpPr>
          <p:spPr>
            <a:xfrm>
              <a:off x="1079467" y="3030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3" name="立方体 12">
              <a:extLst>
                <a:ext uri="{FF2B5EF4-FFF2-40B4-BE49-F238E27FC236}">
                  <a16:creationId xmlns:a16="http://schemas.microsoft.com/office/drawing/2014/main" id="{6C3F9207-02DC-9DD0-C545-A2B3251BFE5F}"/>
                </a:ext>
              </a:extLst>
            </p:cNvPr>
            <p:cNvSpPr/>
            <p:nvPr/>
          </p:nvSpPr>
          <p:spPr>
            <a:xfrm>
              <a:off x="1079467" y="2598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4" name="立方体 13">
              <a:extLst>
                <a:ext uri="{FF2B5EF4-FFF2-40B4-BE49-F238E27FC236}">
                  <a16:creationId xmlns:a16="http://schemas.microsoft.com/office/drawing/2014/main" id="{58848799-AA6E-1026-E294-71193A9D6A5B}"/>
                </a:ext>
              </a:extLst>
            </p:cNvPr>
            <p:cNvSpPr/>
            <p:nvPr/>
          </p:nvSpPr>
          <p:spPr>
            <a:xfrm>
              <a:off x="1079467" y="2166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Session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5" name="立方体 14">
              <a:extLst>
                <a:ext uri="{FF2B5EF4-FFF2-40B4-BE49-F238E27FC236}">
                  <a16:creationId xmlns:a16="http://schemas.microsoft.com/office/drawing/2014/main" id="{8EE4DD13-0D77-1FB9-52BB-A049E8BB4B9A}"/>
                </a:ext>
              </a:extLst>
            </p:cNvPr>
            <p:cNvSpPr/>
            <p:nvPr/>
          </p:nvSpPr>
          <p:spPr>
            <a:xfrm>
              <a:off x="1079467" y="1735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Presentation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6" name="立方体 15">
              <a:extLst>
                <a:ext uri="{FF2B5EF4-FFF2-40B4-BE49-F238E27FC236}">
                  <a16:creationId xmlns:a16="http://schemas.microsoft.com/office/drawing/2014/main" id="{C185869E-2D3F-B216-6B54-BD7740E15914}"/>
                </a:ext>
              </a:extLst>
            </p:cNvPr>
            <p:cNvSpPr/>
            <p:nvPr/>
          </p:nvSpPr>
          <p:spPr>
            <a:xfrm>
              <a:off x="1079467" y="1303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5" name="组合 24">
            <a:extLst>
              <a:ext uri="{FF2B5EF4-FFF2-40B4-BE49-F238E27FC236}">
                <a16:creationId xmlns:a16="http://schemas.microsoft.com/office/drawing/2014/main" id="{C25F19A7-DB27-A151-7D62-C3ACF6A58AAF}"/>
              </a:ext>
            </a:extLst>
          </p:cNvPr>
          <p:cNvGrpSpPr/>
          <p:nvPr/>
        </p:nvGrpSpPr>
        <p:grpSpPr>
          <a:xfrm>
            <a:off x="3531240" y="2598189"/>
            <a:ext cx="2160000" cy="1872000"/>
            <a:chOff x="3531240" y="2598189"/>
            <a:chExt cx="2160000" cy="1872000"/>
          </a:xfrm>
        </p:grpSpPr>
        <p:sp>
          <p:nvSpPr>
            <p:cNvPr id="20" name="立方体 19">
              <a:extLst>
                <a:ext uri="{FF2B5EF4-FFF2-40B4-BE49-F238E27FC236}">
                  <a16:creationId xmlns:a16="http://schemas.microsoft.com/office/drawing/2014/main" id="{AF479E60-DA2C-D85C-37CA-C7E702A1A78D}"/>
                </a:ext>
              </a:extLst>
            </p:cNvPr>
            <p:cNvSpPr/>
            <p:nvPr/>
          </p:nvSpPr>
          <p:spPr>
            <a:xfrm>
              <a:off x="3531240"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Interface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1" name="立方体 20">
              <a:extLst>
                <a:ext uri="{FF2B5EF4-FFF2-40B4-BE49-F238E27FC236}">
                  <a16:creationId xmlns:a16="http://schemas.microsoft.com/office/drawing/2014/main" id="{D4794A77-41CC-7FBD-1CCF-7CB94EC2CE20}"/>
                </a:ext>
              </a:extLst>
            </p:cNvPr>
            <p:cNvSpPr/>
            <p:nvPr/>
          </p:nvSpPr>
          <p:spPr>
            <a:xfrm>
              <a:off x="3531240" y="3462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p>
          </p:txBody>
        </p:sp>
        <p:sp>
          <p:nvSpPr>
            <p:cNvPr id="22" name="立方体 21">
              <a:extLst>
                <a:ext uri="{FF2B5EF4-FFF2-40B4-BE49-F238E27FC236}">
                  <a16:creationId xmlns:a16="http://schemas.microsoft.com/office/drawing/2014/main" id="{28690C63-CFF2-A4F5-3249-9BB09DBC8E24}"/>
                </a:ext>
              </a:extLst>
            </p:cNvPr>
            <p:cNvSpPr/>
            <p:nvPr/>
          </p:nvSpPr>
          <p:spPr>
            <a:xfrm>
              <a:off x="3531240" y="3030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p>
          </p:txBody>
        </p:sp>
        <p:sp>
          <p:nvSpPr>
            <p:cNvPr id="23" name="立方体 22">
              <a:extLst>
                <a:ext uri="{FF2B5EF4-FFF2-40B4-BE49-F238E27FC236}">
                  <a16:creationId xmlns:a16="http://schemas.microsoft.com/office/drawing/2014/main" id="{3CB04EE6-5963-680B-7F55-585D4B7D6A1C}"/>
                </a:ext>
              </a:extLst>
            </p:cNvPr>
            <p:cNvSpPr/>
            <p:nvPr/>
          </p:nvSpPr>
          <p:spPr>
            <a:xfrm>
              <a:off x="3531240" y="2598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p>
          </p:txBody>
        </p:sp>
      </p:grpSp>
    </p:spTree>
    <p:extLst>
      <p:ext uri="{BB962C8B-B14F-4D97-AF65-F5344CB8AC3E}">
        <p14:creationId xmlns:p14="http://schemas.microsoft.com/office/powerpoint/2010/main" val="18355629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7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Line 16"/>
          <p:cNvSpPr>
            <a:spLocks noChangeShapeType="1"/>
          </p:cNvSpPr>
          <p:nvPr/>
        </p:nvSpPr>
        <p:spPr bwMode="auto">
          <a:xfrm>
            <a:off x="2421504" y="500942"/>
            <a:ext cx="0" cy="422553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pPr>
              <a:lnSpc>
                <a:spcPts val="3800"/>
              </a:lnSpc>
            </a:pPr>
            <a:endParaRPr lang="zh-CN" altLang="en-US"/>
          </a:p>
        </p:txBody>
      </p:sp>
      <p:pic>
        <p:nvPicPr>
          <p:cNvPr id="2" name="Image 1" descr="preencoded.png">
            <a:extLst>
              <a:ext uri="{FF2B5EF4-FFF2-40B4-BE49-F238E27FC236}">
                <a16:creationId xmlns:a16="http://schemas.microsoft.com/office/drawing/2014/main" id="{F6CB0564-57A5-1D39-8CD8-67BEF9382DCF}"/>
              </a:ext>
            </a:extLst>
          </p:cNvPr>
          <p:cNvPicPr>
            <a:picLocks noChangeAspect="1"/>
          </p:cNvPicPr>
          <p:nvPr/>
        </p:nvPicPr>
        <p:blipFill>
          <a:blip r:embed="rId3"/>
          <a:srcRect t="6452" b="6452"/>
          <a:stretch/>
        </p:blipFill>
        <p:spPr>
          <a:xfrm>
            <a:off x="0" y="0"/>
            <a:ext cx="2919307" cy="5143500"/>
          </a:xfrm>
          <a:prstGeom prst="rect">
            <a:avLst/>
          </a:prstGeom>
        </p:spPr>
      </p:pic>
      <p:sp>
        <p:nvSpPr>
          <p:cNvPr id="3" name="Text 1">
            <a:extLst>
              <a:ext uri="{FF2B5EF4-FFF2-40B4-BE49-F238E27FC236}">
                <a16:creationId xmlns:a16="http://schemas.microsoft.com/office/drawing/2014/main" id="{CE4D5D60-7A70-54A9-EAB9-635B8F8DF2C9}"/>
              </a:ext>
            </a:extLst>
          </p:cNvPr>
          <p:cNvSpPr/>
          <p:nvPr/>
        </p:nvSpPr>
        <p:spPr>
          <a:xfrm>
            <a:off x="571500" y="3433763"/>
            <a:ext cx="2029458" cy="666750"/>
          </a:xfrm>
          <a:prstGeom prst="rect">
            <a:avLst/>
          </a:prstGeom>
          <a:noFill/>
          <a:ln/>
        </p:spPr>
        <p:txBody>
          <a:bodyPr vert="horz" wrap="square" lIns="0" tIns="0" rIns="0" bIns="0" rtlCol="0" anchor="ctr"/>
          <a:lstStyle/>
          <a:p>
            <a:pPr marL="0" indent="0" algn="l">
              <a:lnSpc>
                <a:spcPts val="5250"/>
              </a:lnSpc>
              <a:buNone/>
            </a:pPr>
            <a:r>
              <a:rPr lang="en-US" sz="3750" b="1" dirty="0">
                <a:solidFill>
                  <a:srgbClr val="FFFFFF"/>
                </a:solidFill>
                <a:latin typeface="Microsoft YaHei" pitchFamily="34" charset="0"/>
                <a:ea typeface="Microsoft YaHei" pitchFamily="34" charset="-122"/>
                <a:cs typeface="Microsoft YaHei" pitchFamily="34" charset="-120"/>
              </a:rPr>
              <a:t>Content</a:t>
            </a:r>
            <a:endParaRPr lang="en-US" sz="3750" dirty="0"/>
          </a:p>
        </p:txBody>
      </p:sp>
      <p:sp>
        <p:nvSpPr>
          <p:cNvPr id="4" name="Text 2">
            <a:extLst>
              <a:ext uri="{FF2B5EF4-FFF2-40B4-BE49-F238E27FC236}">
                <a16:creationId xmlns:a16="http://schemas.microsoft.com/office/drawing/2014/main" id="{A7A61522-A5AE-31F6-87EE-8D40E9BC618E}"/>
              </a:ext>
            </a:extLst>
          </p:cNvPr>
          <p:cNvSpPr/>
          <p:nvPr/>
        </p:nvSpPr>
        <p:spPr>
          <a:xfrm>
            <a:off x="571500" y="4176713"/>
            <a:ext cx="1809750" cy="400050"/>
          </a:xfrm>
          <a:prstGeom prst="rect">
            <a:avLst/>
          </a:prstGeom>
          <a:noFill/>
          <a:ln/>
        </p:spPr>
        <p:txBody>
          <a:bodyPr vert="horz" wrap="square" lIns="0" tIns="0" rIns="0" bIns="0" rtlCol="0" anchor="ctr"/>
          <a:lstStyle/>
          <a:p>
            <a:pPr marL="0" indent="0" algn="l">
              <a:lnSpc>
                <a:spcPts val="3150"/>
              </a:lnSpc>
              <a:buNone/>
            </a:pPr>
            <a:r>
              <a:rPr lang="en-US" sz="2250" b="1" dirty="0">
                <a:solidFill>
                  <a:srgbClr val="B6DFFF"/>
                </a:solidFill>
                <a:latin typeface="Microsoft YaHei" pitchFamily="34" charset="0"/>
                <a:ea typeface="Microsoft YaHei" pitchFamily="34" charset="-122"/>
                <a:cs typeface="Microsoft YaHei" pitchFamily="34" charset="-120"/>
              </a:rPr>
              <a:t>目录</a:t>
            </a:r>
            <a:endParaRPr lang="en-US" sz="2250" dirty="0"/>
          </a:p>
        </p:txBody>
      </p:sp>
      <p:sp>
        <p:nvSpPr>
          <p:cNvPr id="5" name="Text 3">
            <a:extLst>
              <a:ext uri="{FF2B5EF4-FFF2-40B4-BE49-F238E27FC236}">
                <a16:creationId xmlns:a16="http://schemas.microsoft.com/office/drawing/2014/main" id="{0FAC8C40-84C6-C0CC-B279-B050F362D7CD}"/>
              </a:ext>
            </a:extLst>
          </p:cNvPr>
          <p:cNvSpPr/>
          <p:nvPr/>
        </p:nvSpPr>
        <p:spPr>
          <a:xfrm>
            <a:off x="3524250" y="774225"/>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01</a:t>
            </a:r>
            <a:endParaRPr lang="en-US" sz="1875" b="1" dirty="0">
              <a:latin typeface="微软雅黑" panose="020B0503020204020204" pitchFamily="34" charset="-122"/>
              <a:ea typeface="微软雅黑" panose="020B0503020204020204" pitchFamily="34" charset="-122"/>
            </a:endParaRPr>
          </a:p>
        </p:txBody>
      </p:sp>
      <p:sp>
        <p:nvSpPr>
          <p:cNvPr id="6" name="Text 4">
            <a:extLst>
              <a:ext uri="{FF2B5EF4-FFF2-40B4-BE49-F238E27FC236}">
                <a16:creationId xmlns:a16="http://schemas.microsoft.com/office/drawing/2014/main" id="{D60B4C8A-915B-2C93-E60F-E8FD0FF65C37}"/>
              </a:ext>
            </a:extLst>
          </p:cNvPr>
          <p:cNvSpPr/>
          <p:nvPr/>
        </p:nvSpPr>
        <p:spPr>
          <a:xfrm>
            <a:off x="3990975" y="833190"/>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网络层的几个重要概念</a:t>
            </a:r>
            <a:endParaRPr lang="en-US" sz="1400" dirty="0">
              <a:latin typeface="Montserrat" panose="00000500000000000000" pitchFamily="2" charset="0"/>
            </a:endParaRPr>
          </a:p>
        </p:txBody>
      </p:sp>
      <p:sp>
        <p:nvSpPr>
          <p:cNvPr id="10" name="Text 3">
            <a:extLst>
              <a:ext uri="{FF2B5EF4-FFF2-40B4-BE49-F238E27FC236}">
                <a16:creationId xmlns:a16="http://schemas.microsoft.com/office/drawing/2014/main" id="{ED2B4905-C846-E55A-400E-AAFAC3F0D253}"/>
              </a:ext>
            </a:extLst>
          </p:cNvPr>
          <p:cNvSpPr/>
          <p:nvPr/>
        </p:nvSpPr>
        <p:spPr>
          <a:xfrm>
            <a:off x="3524250" y="1140361"/>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02</a:t>
            </a:r>
            <a:endParaRPr lang="en-US" sz="1875" b="1" dirty="0">
              <a:latin typeface="微软雅黑" panose="020B0503020204020204" pitchFamily="34" charset="-122"/>
              <a:ea typeface="微软雅黑" panose="020B0503020204020204" pitchFamily="34" charset="-122"/>
            </a:endParaRPr>
          </a:p>
        </p:txBody>
      </p:sp>
      <p:sp>
        <p:nvSpPr>
          <p:cNvPr id="11" name="Text 4">
            <a:extLst>
              <a:ext uri="{FF2B5EF4-FFF2-40B4-BE49-F238E27FC236}">
                <a16:creationId xmlns:a16="http://schemas.microsoft.com/office/drawing/2014/main" id="{EE7908C8-986C-4AB6-E682-DD870F1F519C}"/>
              </a:ext>
            </a:extLst>
          </p:cNvPr>
          <p:cNvSpPr/>
          <p:nvPr/>
        </p:nvSpPr>
        <p:spPr>
          <a:xfrm>
            <a:off x="3990975" y="1199326"/>
            <a:ext cx="1068705"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网际协议 </a:t>
            </a:r>
            <a:r>
              <a:rPr lang="en-US" altLang="zh-CN" sz="1400" dirty="0">
                <a:solidFill>
                  <a:srgbClr val="666666"/>
                </a:solidFill>
                <a:latin typeface="Montserrat" panose="00000500000000000000" pitchFamily="2" charset="0"/>
                <a:ea typeface="Microsoft YaHei" pitchFamily="34" charset="-122"/>
                <a:cs typeface="Microsoft YaHei" pitchFamily="34" charset="-120"/>
              </a:rPr>
              <a:t>IP</a:t>
            </a:r>
            <a:endParaRPr lang="en-US" sz="1400" dirty="0">
              <a:latin typeface="Montserrat" panose="00000500000000000000" pitchFamily="2" charset="0"/>
            </a:endParaRPr>
          </a:p>
        </p:txBody>
      </p:sp>
      <p:sp>
        <p:nvSpPr>
          <p:cNvPr id="14" name="Text 3">
            <a:extLst>
              <a:ext uri="{FF2B5EF4-FFF2-40B4-BE49-F238E27FC236}">
                <a16:creationId xmlns:a16="http://schemas.microsoft.com/office/drawing/2014/main" id="{EBF5EBD8-C2B3-70FC-5FF6-1E3C8E0634EB}"/>
              </a:ext>
            </a:extLst>
          </p:cNvPr>
          <p:cNvSpPr/>
          <p:nvPr/>
        </p:nvSpPr>
        <p:spPr>
          <a:xfrm>
            <a:off x="3524250" y="1506497"/>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03</a:t>
            </a:r>
            <a:endParaRPr lang="en-US" sz="1875" b="1" dirty="0">
              <a:latin typeface="微软雅黑" panose="020B0503020204020204" pitchFamily="34" charset="-122"/>
              <a:ea typeface="微软雅黑" panose="020B0503020204020204" pitchFamily="34" charset="-122"/>
            </a:endParaRPr>
          </a:p>
        </p:txBody>
      </p:sp>
      <p:sp>
        <p:nvSpPr>
          <p:cNvPr id="15" name="Text 4">
            <a:extLst>
              <a:ext uri="{FF2B5EF4-FFF2-40B4-BE49-F238E27FC236}">
                <a16:creationId xmlns:a16="http://schemas.microsoft.com/office/drawing/2014/main" id="{C7234A49-AD15-5541-85DA-4E42771E8CCF}"/>
              </a:ext>
            </a:extLst>
          </p:cNvPr>
          <p:cNvSpPr/>
          <p:nvPr/>
        </p:nvSpPr>
        <p:spPr>
          <a:xfrm>
            <a:off x="3990975" y="1565462"/>
            <a:ext cx="1698625"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Microsoft YaHei" pitchFamily="34" charset="-122"/>
                <a:cs typeface="Microsoft YaHei" pitchFamily="34" charset="-120"/>
              </a:rPr>
              <a:t>IP </a:t>
            </a:r>
            <a:r>
              <a:rPr lang="zh-CN" altLang="en-US" sz="1400" dirty="0">
                <a:solidFill>
                  <a:srgbClr val="666666"/>
                </a:solidFill>
                <a:latin typeface="Montserrat" panose="00000500000000000000" pitchFamily="2" charset="0"/>
                <a:ea typeface="Microsoft YaHei" pitchFamily="34" charset="-122"/>
                <a:cs typeface="Microsoft YaHei" pitchFamily="34" charset="-120"/>
              </a:rPr>
              <a:t>层转发分组的过程</a:t>
            </a:r>
            <a:endParaRPr lang="en-US" sz="1400" dirty="0">
              <a:latin typeface="Montserrat" panose="00000500000000000000" pitchFamily="2" charset="0"/>
            </a:endParaRPr>
          </a:p>
        </p:txBody>
      </p:sp>
      <p:sp>
        <p:nvSpPr>
          <p:cNvPr id="17" name="Text 3">
            <a:extLst>
              <a:ext uri="{FF2B5EF4-FFF2-40B4-BE49-F238E27FC236}">
                <a16:creationId xmlns:a16="http://schemas.microsoft.com/office/drawing/2014/main" id="{7131ADED-C0E6-D664-607A-4175EBB69BE2}"/>
              </a:ext>
            </a:extLst>
          </p:cNvPr>
          <p:cNvSpPr/>
          <p:nvPr/>
        </p:nvSpPr>
        <p:spPr>
          <a:xfrm>
            <a:off x="3524250" y="1872633"/>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04</a:t>
            </a:r>
            <a:endParaRPr lang="en-US" sz="1875" b="1" dirty="0">
              <a:latin typeface="微软雅黑" panose="020B0503020204020204" pitchFamily="34" charset="-122"/>
              <a:ea typeface="微软雅黑" panose="020B0503020204020204" pitchFamily="34" charset="-122"/>
            </a:endParaRPr>
          </a:p>
        </p:txBody>
      </p:sp>
      <p:sp>
        <p:nvSpPr>
          <p:cNvPr id="18" name="Text 4">
            <a:extLst>
              <a:ext uri="{FF2B5EF4-FFF2-40B4-BE49-F238E27FC236}">
                <a16:creationId xmlns:a16="http://schemas.microsoft.com/office/drawing/2014/main" id="{0257B21C-1691-CEF1-7933-D69184D56C86}"/>
              </a:ext>
            </a:extLst>
          </p:cNvPr>
          <p:cNvSpPr/>
          <p:nvPr/>
        </p:nvSpPr>
        <p:spPr>
          <a:xfrm>
            <a:off x="3990975" y="1931598"/>
            <a:ext cx="1962150" cy="215444"/>
          </a:xfrm>
          <a:prstGeom prst="rect">
            <a:avLst/>
          </a:prstGeom>
          <a:noFill/>
          <a:ln/>
        </p:spPr>
        <p:txBody>
          <a:bodyPr vert="horz" wrap="square" lIns="0" tIns="0" rIns="0" bIns="0" rtlCol="0" anchor="ctr">
            <a:spAutoFit/>
          </a:bodyPr>
          <a:lstStyle/>
          <a:p>
            <a:r>
              <a:rPr lang="zh-CN" altLang="en-US" sz="1400" dirty="0">
                <a:solidFill>
                  <a:srgbClr val="666666"/>
                </a:solidFill>
                <a:latin typeface="Montserrat" panose="00000500000000000000" pitchFamily="2" charset="0"/>
                <a:ea typeface="Microsoft YaHei" pitchFamily="34" charset="-122"/>
              </a:rPr>
              <a:t>网际控制报文协议 </a:t>
            </a:r>
            <a:r>
              <a:rPr lang="en-US" altLang="zh-CN" sz="1400" dirty="0">
                <a:solidFill>
                  <a:srgbClr val="666666"/>
                </a:solidFill>
                <a:latin typeface="Montserrat" panose="00000500000000000000" pitchFamily="2" charset="0"/>
                <a:ea typeface="Microsoft YaHei" pitchFamily="34" charset="-122"/>
              </a:rPr>
              <a:t>ICMP</a:t>
            </a:r>
            <a:endParaRPr lang="en-US" sz="1400" dirty="0">
              <a:solidFill>
                <a:srgbClr val="666666"/>
              </a:solidFill>
              <a:latin typeface="Montserrat" panose="00000500000000000000" pitchFamily="2" charset="0"/>
              <a:ea typeface="Microsoft YaHei" pitchFamily="34" charset="-122"/>
            </a:endParaRPr>
          </a:p>
        </p:txBody>
      </p:sp>
      <p:sp>
        <p:nvSpPr>
          <p:cNvPr id="31" name="Text 3">
            <a:extLst>
              <a:ext uri="{FF2B5EF4-FFF2-40B4-BE49-F238E27FC236}">
                <a16:creationId xmlns:a16="http://schemas.microsoft.com/office/drawing/2014/main" id="{1E35BBC6-B61E-5561-93EB-070E48A17730}"/>
              </a:ext>
            </a:extLst>
          </p:cNvPr>
          <p:cNvSpPr/>
          <p:nvPr/>
        </p:nvSpPr>
        <p:spPr>
          <a:xfrm>
            <a:off x="3524250" y="2238769"/>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05</a:t>
            </a:r>
            <a:endParaRPr lang="en-US" sz="1875" b="1" dirty="0">
              <a:latin typeface="微软雅黑" panose="020B0503020204020204" pitchFamily="34" charset="-122"/>
              <a:ea typeface="微软雅黑" panose="020B0503020204020204" pitchFamily="34" charset="-122"/>
            </a:endParaRPr>
          </a:p>
        </p:txBody>
      </p:sp>
      <p:sp>
        <p:nvSpPr>
          <p:cNvPr id="32" name="Text 4">
            <a:extLst>
              <a:ext uri="{FF2B5EF4-FFF2-40B4-BE49-F238E27FC236}">
                <a16:creationId xmlns:a16="http://schemas.microsoft.com/office/drawing/2014/main" id="{67A4D1E5-0641-EA16-1849-4ADE3FDD4F43}"/>
              </a:ext>
            </a:extLst>
          </p:cNvPr>
          <p:cNvSpPr/>
          <p:nvPr/>
        </p:nvSpPr>
        <p:spPr>
          <a:xfrm>
            <a:off x="3990975" y="2297734"/>
            <a:ext cx="1962150"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Microsoft YaHei" pitchFamily="34" charset="-122"/>
                <a:cs typeface="Microsoft YaHei" pitchFamily="34" charset="-120"/>
              </a:rPr>
              <a:t>IPv6</a:t>
            </a:r>
            <a:endParaRPr lang="en-US" sz="1400" dirty="0">
              <a:latin typeface="Montserrat" panose="00000500000000000000" pitchFamily="2" charset="0"/>
            </a:endParaRPr>
          </a:p>
        </p:txBody>
      </p:sp>
      <p:sp>
        <p:nvSpPr>
          <p:cNvPr id="34" name="Text 3">
            <a:extLst>
              <a:ext uri="{FF2B5EF4-FFF2-40B4-BE49-F238E27FC236}">
                <a16:creationId xmlns:a16="http://schemas.microsoft.com/office/drawing/2014/main" id="{93706C4C-E324-FC3D-545C-1A45F69C51B6}"/>
              </a:ext>
            </a:extLst>
          </p:cNvPr>
          <p:cNvSpPr/>
          <p:nvPr/>
        </p:nvSpPr>
        <p:spPr>
          <a:xfrm>
            <a:off x="3524250" y="2604905"/>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06</a:t>
            </a:r>
            <a:endParaRPr lang="en-US" sz="1875" b="1" dirty="0">
              <a:latin typeface="微软雅黑" panose="020B0503020204020204" pitchFamily="34" charset="-122"/>
              <a:ea typeface="微软雅黑" panose="020B0503020204020204" pitchFamily="34" charset="-122"/>
            </a:endParaRPr>
          </a:p>
        </p:txBody>
      </p:sp>
      <p:sp>
        <p:nvSpPr>
          <p:cNvPr id="35" name="Text 4">
            <a:extLst>
              <a:ext uri="{FF2B5EF4-FFF2-40B4-BE49-F238E27FC236}">
                <a16:creationId xmlns:a16="http://schemas.microsoft.com/office/drawing/2014/main" id="{E983DC73-34F9-2F0D-66A3-8E5798E8E628}"/>
              </a:ext>
            </a:extLst>
          </p:cNvPr>
          <p:cNvSpPr/>
          <p:nvPr/>
        </p:nvSpPr>
        <p:spPr>
          <a:xfrm>
            <a:off x="3990975" y="2663870"/>
            <a:ext cx="1827318"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互联网的路由选择协议</a:t>
            </a:r>
            <a:endParaRPr lang="en-US" sz="1400" dirty="0">
              <a:latin typeface="Montserrat" panose="00000500000000000000" pitchFamily="2" charset="0"/>
            </a:endParaRPr>
          </a:p>
        </p:txBody>
      </p:sp>
      <p:sp>
        <p:nvSpPr>
          <p:cNvPr id="37" name="Text 3">
            <a:extLst>
              <a:ext uri="{FF2B5EF4-FFF2-40B4-BE49-F238E27FC236}">
                <a16:creationId xmlns:a16="http://schemas.microsoft.com/office/drawing/2014/main" id="{D4A61890-32FA-3A4C-E675-2FAD7C9855A2}"/>
              </a:ext>
            </a:extLst>
          </p:cNvPr>
          <p:cNvSpPr/>
          <p:nvPr/>
        </p:nvSpPr>
        <p:spPr>
          <a:xfrm>
            <a:off x="3524250" y="2971041"/>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07</a:t>
            </a:r>
            <a:endParaRPr lang="en-US" sz="1875" b="1" dirty="0">
              <a:latin typeface="微软雅黑" panose="020B0503020204020204" pitchFamily="34" charset="-122"/>
              <a:ea typeface="微软雅黑" panose="020B0503020204020204" pitchFamily="34" charset="-122"/>
            </a:endParaRPr>
          </a:p>
        </p:txBody>
      </p:sp>
      <p:sp>
        <p:nvSpPr>
          <p:cNvPr id="38" name="Text 4">
            <a:extLst>
              <a:ext uri="{FF2B5EF4-FFF2-40B4-BE49-F238E27FC236}">
                <a16:creationId xmlns:a16="http://schemas.microsoft.com/office/drawing/2014/main" id="{75A8F2E7-DA98-05E7-3C91-2BF1929AA75B}"/>
              </a:ext>
            </a:extLst>
          </p:cNvPr>
          <p:cNvSpPr/>
          <p:nvPr/>
        </p:nvSpPr>
        <p:spPr>
          <a:xfrm>
            <a:off x="3990975" y="3030006"/>
            <a:ext cx="1962150"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Microsoft YaHei" pitchFamily="34" charset="-122"/>
                <a:cs typeface="Microsoft YaHei" pitchFamily="34" charset="-120"/>
              </a:rPr>
              <a:t>IP </a:t>
            </a:r>
            <a:r>
              <a:rPr lang="zh-CN" altLang="en-US" sz="1400" dirty="0">
                <a:solidFill>
                  <a:srgbClr val="666666"/>
                </a:solidFill>
                <a:latin typeface="Montserrat" panose="00000500000000000000" pitchFamily="2" charset="0"/>
                <a:ea typeface="Microsoft YaHei" pitchFamily="34" charset="-122"/>
                <a:cs typeface="Microsoft YaHei" pitchFamily="34" charset="-120"/>
              </a:rPr>
              <a:t>多播</a:t>
            </a:r>
            <a:endParaRPr lang="en-US" sz="1400" dirty="0">
              <a:latin typeface="Montserrat" panose="00000500000000000000" pitchFamily="2" charset="0"/>
            </a:endParaRPr>
          </a:p>
        </p:txBody>
      </p:sp>
      <p:sp>
        <p:nvSpPr>
          <p:cNvPr id="40" name="Text 3">
            <a:extLst>
              <a:ext uri="{FF2B5EF4-FFF2-40B4-BE49-F238E27FC236}">
                <a16:creationId xmlns:a16="http://schemas.microsoft.com/office/drawing/2014/main" id="{A79044B5-A909-4696-4DFC-BDDC8326C629}"/>
              </a:ext>
            </a:extLst>
          </p:cNvPr>
          <p:cNvSpPr/>
          <p:nvPr/>
        </p:nvSpPr>
        <p:spPr>
          <a:xfrm>
            <a:off x="3524250" y="3337177"/>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08</a:t>
            </a:r>
            <a:endParaRPr lang="en-US" sz="1875" b="1" dirty="0">
              <a:latin typeface="微软雅黑" panose="020B0503020204020204" pitchFamily="34" charset="-122"/>
              <a:ea typeface="微软雅黑" panose="020B0503020204020204" pitchFamily="34" charset="-122"/>
            </a:endParaRPr>
          </a:p>
        </p:txBody>
      </p:sp>
      <p:sp>
        <p:nvSpPr>
          <p:cNvPr id="41" name="Text 4">
            <a:extLst>
              <a:ext uri="{FF2B5EF4-FFF2-40B4-BE49-F238E27FC236}">
                <a16:creationId xmlns:a16="http://schemas.microsoft.com/office/drawing/2014/main" id="{5C98CCA3-467D-84A3-5779-B6DF890D0492}"/>
              </a:ext>
            </a:extLst>
          </p:cNvPr>
          <p:cNvSpPr/>
          <p:nvPr/>
        </p:nvSpPr>
        <p:spPr>
          <a:xfrm>
            <a:off x="3990975" y="3396142"/>
            <a:ext cx="3148118"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虚拟专用网 </a:t>
            </a:r>
            <a:r>
              <a:rPr lang="en-US" altLang="zh-CN" sz="1400" dirty="0">
                <a:solidFill>
                  <a:srgbClr val="666666"/>
                </a:solidFill>
                <a:latin typeface="Montserrat" panose="00000500000000000000" pitchFamily="2" charset="0"/>
                <a:ea typeface="Microsoft YaHei" pitchFamily="34" charset="-122"/>
                <a:cs typeface="Microsoft YaHei" pitchFamily="34" charset="-120"/>
              </a:rPr>
              <a:t>VPN </a:t>
            </a:r>
            <a:r>
              <a:rPr lang="zh-CN" altLang="en-US" sz="1400" dirty="0">
                <a:solidFill>
                  <a:srgbClr val="666666"/>
                </a:solidFill>
                <a:latin typeface="Montserrat" panose="00000500000000000000" pitchFamily="2" charset="0"/>
                <a:ea typeface="Microsoft YaHei" pitchFamily="34" charset="-122"/>
                <a:cs typeface="Microsoft YaHei" pitchFamily="34" charset="-120"/>
              </a:rPr>
              <a:t>和网络地址转换 </a:t>
            </a:r>
            <a:r>
              <a:rPr lang="en-US" altLang="zh-CN" sz="1400" dirty="0">
                <a:solidFill>
                  <a:srgbClr val="666666"/>
                </a:solidFill>
                <a:latin typeface="Montserrat" panose="00000500000000000000" pitchFamily="2" charset="0"/>
                <a:ea typeface="Microsoft YaHei" pitchFamily="34" charset="-122"/>
                <a:cs typeface="Microsoft YaHei" pitchFamily="34" charset="-120"/>
              </a:rPr>
              <a:t>NAT</a:t>
            </a:r>
            <a:endParaRPr lang="en-US" sz="1400" dirty="0">
              <a:latin typeface="Montserrat" panose="00000500000000000000" pitchFamily="2" charset="0"/>
            </a:endParaRPr>
          </a:p>
        </p:txBody>
      </p:sp>
      <p:sp>
        <p:nvSpPr>
          <p:cNvPr id="43" name="Text 3">
            <a:extLst>
              <a:ext uri="{FF2B5EF4-FFF2-40B4-BE49-F238E27FC236}">
                <a16:creationId xmlns:a16="http://schemas.microsoft.com/office/drawing/2014/main" id="{BD529478-DE27-28D3-7E45-1D7C3DD92DB5}"/>
              </a:ext>
            </a:extLst>
          </p:cNvPr>
          <p:cNvSpPr/>
          <p:nvPr/>
        </p:nvSpPr>
        <p:spPr>
          <a:xfrm>
            <a:off x="3524250" y="3703313"/>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09</a:t>
            </a:r>
            <a:endParaRPr lang="en-US" sz="1875" b="1" dirty="0">
              <a:latin typeface="微软雅黑" panose="020B0503020204020204" pitchFamily="34" charset="-122"/>
              <a:ea typeface="微软雅黑" panose="020B0503020204020204" pitchFamily="34" charset="-122"/>
            </a:endParaRPr>
          </a:p>
        </p:txBody>
      </p:sp>
      <p:sp>
        <p:nvSpPr>
          <p:cNvPr id="44" name="Text 4">
            <a:extLst>
              <a:ext uri="{FF2B5EF4-FFF2-40B4-BE49-F238E27FC236}">
                <a16:creationId xmlns:a16="http://schemas.microsoft.com/office/drawing/2014/main" id="{A71DD14F-A233-87AC-8BC3-B20E39035273}"/>
              </a:ext>
            </a:extLst>
          </p:cNvPr>
          <p:cNvSpPr/>
          <p:nvPr/>
        </p:nvSpPr>
        <p:spPr>
          <a:xfrm>
            <a:off x="3990975" y="3762278"/>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多协议标记交换 </a:t>
            </a:r>
            <a:r>
              <a:rPr lang="en-US" altLang="zh-CN" sz="1400" dirty="0">
                <a:solidFill>
                  <a:srgbClr val="666666"/>
                </a:solidFill>
                <a:latin typeface="Montserrat" panose="00000500000000000000" pitchFamily="2" charset="0"/>
                <a:ea typeface="Microsoft YaHei" pitchFamily="34" charset="-122"/>
                <a:cs typeface="Microsoft YaHei" pitchFamily="34" charset="-120"/>
              </a:rPr>
              <a:t>MPLS</a:t>
            </a:r>
            <a:endParaRPr lang="en-US" sz="1400" dirty="0">
              <a:latin typeface="Montserrat" panose="00000500000000000000" pitchFamily="2" charset="0"/>
            </a:endParaRPr>
          </a:p>
        </p:txBody>
      </p:sp>
      <p:sp>
        <p:nvSpPr>
          <p:cNvPr id="46" name="Text 3">
            <a:extLst>
              <a:ext uri="{FF2B5EF4-FFF2-40B4-BE49-F238E27FC236}">
                <a16:creationId xmlns:a16="http://schemas.microsoft.com/office/drawing/2014/main" id="{5380A8C9-E28E-D67A-D5EA-14B03C3C4C58}"/>
              </a:ext>
            </a:extLst>
          </p:cNvPr>
          <p:cNvSpPr/>
          <p:nvPr/>
        </p:nvSpPr>
        <p:spPr>
          <a:xfrm>
            <a:off x="3524250" y="4069448"/>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10</a:t>
            </a:r>
            <a:endParaRPr lang="en-US" sz="1875" b="1" dirty="0">
              <a:latin typeface="微软雅黑" panose="020B0503020204020204" pitchFamily="34" charset="-122"/>
              <a:ea typeface="微软雅黑" panose="020B0503020204020204" pitchFamily="34" charset="-122"/>
            </a:endParaRPr>
          </a:p>
        </p:txBody>
      </p:sp>
      <p:sp>
        <p:nvSpPr>
          <p:cNvPr id="47" name="Text 4">
            <a:extLst>
              <a:ext uri="{FF2B5EF4-FFF2-40B4-BE49-F238E27FC236}">
                <a16:creationId xmlns:a16="http://schemas.microsoft.com/office/drawing/2014/main" id="{19EDA4E9-7040-C8D5-BE5A-6379841D2C64}"/>
              </a:ext>
            </a:extLst>
          </p:cNvPr>
          <p:cNvSpPr/>
          <p:nvPr/>
        </p:nvSpPr>
        <p:spPr>
          <a:xfrm>
            <a:off x="3990975" y="4128413"/>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软件定义网络 </a:t>
            </a:r>
            <a:r>
              <a:rPr lang="en-US" altLang="zh-CN" sz="1400" dirty="0">
                <a:solidFill>
                  <a:srgbClr val="666666"/>
                </a:solidFill>
                <a:latin typeface="Montserrat" panose="00000500000000000000" pitchFamily="2" charset="0"/>
                <a:ea typeface="Microsoft YaHei" pitchFamily="34" charset="-122"/>
                <a:cs typeface="Microsoft YaHei" pitchFamily="34" charset="-120"/>
              </a:rPr>
              <a:t>SDN </a:t>
            </a:r>
            <a:r>
              <a:rPr lang="zh-CN" altLang="en-US" sz="1400" dirty="0">
                <a:solidFill>
                  <a:srgbClr val="666666"/>
                </a:solidFill>
                <a:latin typeface="Montserrat" panose="00000500000000000000" pitchFamily="2" charset="0"/>
                <a:ea typeface="Microsoft YaHei" pitchFamily="34" charset="-122"/>
                <a:cs typeface="Microsoft YaHei" pitchFamily="34" charset="-120"/>
              </a:rPr>
              <a:t>简介</a:t>
            </a:r>
            <a:endParaRPr lang="en-US" sz="1400" dirty="0">
              <a:latin typeface="Montserrat" panose="00000500000000000000" pitchFamily="2" charset="0"/>
            </a:endParaRPr>
          </a:p>
        </p:txBody>
      </p:sp>
      <p:cxnSp>
        <p:nvCxnSpPr>
          <p:cNvPr id="49" name="直接箭头连接符 48">
            <a:extLst>
              <a:ext uri="{FF2B5EF4-FFF2-40B4-BE49-F238E27FC236}">
                <a16:creationId xmlns:a16="http://schemas.microsoft.com/office/drawing/2014/main" id="{352A7F14-B362-2C1B-5893-8671481F85B7}"/>
              </a:ext>
            </a:extLst>
          </p:cNvPr>
          <p:cNvCxnSpPr>
            <a:cxnSpLocks/>
            <a:stCxn id="11" idx="3"/>
            <a:endCxn id="50" idx="1"/>
          </p:cNvCxnSpPr>
          <p:nvPr/>
        </p:nvCxnSpPr>
        <p:spPr>
          <a:xfrm>
            <a:off x="5059680" y="1307048"/>
            <a:ext cx="1510744"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6BD96B74-E4F5-67CE-58CB-A999607BBDFA}"/>
              </a:ext>
            </a:extLst>
          </p:cNvPr>
          <p:cNvSpPr txBox="1"/>
          <p:nvPr/>
        </p:nvSpPr>
        <p:spPr>
          <a:xfrm>
            <a:off x="6570424" y="1199326"/>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CIDR</a:t>
            </a:r>
            <a:endParaRPr lang="zh-CN" altLang="en-US" dirty="0"/>
          </a:p>
        </p:txBody>
      </p:sp>
      <p:cxnSp>
        <p:nvCxnSpPr>
          <p:cNvPr id="52" name="直接箭头连接符 51">
            <a:extLst>
              <a:ext uri="{FF2B5EF4-FFF2-40B4-BE49-F238E27FC236}">
                <a16:creationId xmlns:a16="http://schemas.microsoft.com/office/drawing/2014/main" id="{0B477652-918D-A160-28F8-01EF465A32A9}"/>
              </a:ext>
            </a:extLst>
          </p:cNvPr>
          <p:cNvCxnSpPr>
            <a:cxnSpLocks/>
            <a:stCxn id="18" idx="3"/>
            <a:endCxn id="53" idx="1"/>
          </p:cNvCxnSpPr>
          <p:nvPr/>
        </p:nvCxnSpPr>
        <p:spPr>
          <a:xfrm>
            <a:off x="5953125" y="2039320"/>
            <a:ext cx="944378"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3" name="文本框 52">
            <a:extLst>
              <a:ext uri="{FF2B5EF4-FFF2-40B4-BE49-F238E27FC236}">
                <a16:creationId xmlns:a16="http://schemas.microsoft.com/office/drawing/2014/main" id="{3F54FE91-773C-83F2-30F4-53541C1717FA}"/>
              </a:ext>
            </a:extLst>
          </p:cNvPr>
          <p:cNvSpPr txBox="1"/>
          <p:nvPr/>
        </p:nvSpPr>
        <p:spPr>
          <a:xfrm>
            <a:off x="6897503" y="1931598"/>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PING</a:t>
            </a:r>
            <a:endParaRPr lang="zh-CN" altLang="en-US" dirty="0"/>
          </a:p>
        </p:txBody>
      </p:sp>
      <p:sp>
        <p:nvSpPr>
          <p:cNvPr id="59" name="文本框 58">
            <a:extLst>
              <a:ext uri="{FF2B5EF4-FFF2-40B4-BE49-F238E27FC236}">
                <a16:creationId xmlns:a16="http://schemas.microsoft.com/office/drawing/2014/main" id="{25F58600-DD49-79F9-992F-74CB38A80B34}"/>
              </a:ext>
            </a:extLst>
          </p:cNvPr>
          <p:cNvSpPr txBox="1"/>
          <p:nvPr/>
        </p:nvSpPr>
        <p:spPr>
          <a:xfrm>
            <a:off x="6570423" y="2556149"/>
            <a:ext cx="1827318" cy="430887"/>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IGP – RIP OSPF</a:t>
            </a:r>
          </a:p>
          <a:p>
            <a:r>
              <a:rPr lang="en-US" altLang="zh-CN" dirty="0"/>
              <a:t>EGP - BGP</a:t>
            </a:r>
            <a:endParaRPr lang="zh-CN" altLang="en-US" dirty="0"/>
          </a:p>
        </p:txBody>
      </p:sp>
      <p:cxnSp>
        <p:nvCxnSpPr>
          <p:cNvPr id="60" name="直接箭头连接符 59">
            <a:extLst>
              <a:ext uri="{FF2B5EF4-FFF2-40B4-BE49-F238E27FC236}">
                <a16:creationId xmlns:a16="http://schemas.microsoft.com/office/drawing/2014/main" id="{931A4905-060F-0B20-5A22-489DC8D6EC2D}"/>
              </a:ext>
            </a:extLst>
          </p:cNvPr>
          <p:cNvCxnSpPr>
            <a:cxnSpLocks/>
            <a:stCxn id="35" idx="3"/>
            <a:endCxn id="59" idx="1"/>
          </p:cNvCxnSpPr>
          <p:nvPr/>
        </p:nvCxnSpPr>
        <p:spPr>
          <a:xfrm>
            <a:off x="5818293" y="2771592"/>
            <a:ext cx="752130" cy="1"/>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64" name="文本框 63">
            <a:extLst>
              <a:ext uri="{FF2B5EF4-FFF2-40B4-BE49-F238E27FC236}">
                <a16:creationId xmlns:a16="http://schemas.microsoft.com/office/drawing/2014/main" id="{3DA6536D-3E65-0645-999F-FD3CDFD05DDA}"/>
              </a:ext>
            </a:extLst>
          </p:cNvPr>
          <p:cNvSpPr txBox="1"/>
          <p:nvPr/>
        </p:nvSpPr>
        <p:spPr>
          <a:xfrm>
            <a:off x="6722824" y="1565462"/>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Router</a:t>
            </a:r>
            <a:endParaRPr lang="zh-CN" altLang="en-US" dirty="0"/>
          </a:p>
        </p:txBody>
      </p:sp>
      <p:cxnSp>
        <p:nvCxnSpPr>
          <p:cNvPr id="65" name="直接箭头连接符 64">
            <a:extLst>
              <a:ext uri="{FF2B5EF4-FFF2-40B4-BE49-F238E27FC236}">
                <a16:creationId xmlns:a16="http://schemas.microsoft.com/office/drawing/2014/main" id="{28282CC3-82F5-1168-7067-9EC18DD73C4F}"/>
              </a:ext>
            </a:extLst>
          </p:cNvPr>
          <p:cNvCxnSpPr>
            <a:cxnSpLocks/>
            <a:stCxn id="15" idx="3"/>
            <a:endCxn id="64" idx="1"/>
          </p:cNvCxnSpPr>
          <p:nvPr/>
        </p:nvCxnSpPr>
        <p:spPr>
          <a:xfrm>
            <a:off x="5689600" y="1673184"/>
            <a:ext cx="1033224"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3569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335361"/>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941786"/>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Line 16"/>
          <p:cNvSpPr>
            <a:spLocks noChangeShapeType="1"/>
          </p:cNvSpPr>
          <p:nvPr/>
        </p:nvSpPr>
        <p:spPr bwMode="auto">
          <a:xfrm>
            <a:off x="3637198" y="1263923"/>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Rectangle 8"/>
          <p:cNvSpPr>
            <a:spLocks noChangeArrowheads="1"/>
          </p:cNvSpPr>
          <p:nvPr/>
        </p:nvSpPr>
        <p:spPr bwMode="auto">
          <a:xfrm>
            <a:off x="2700573" y="1081361"/>
            <a:ext cx="5602506"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4.1.1                             </a:t>
            </a:r>
            <a:r>
              <a:rPr lang="zh-CN" altLang="en-US" sz="2000" b="1" dirty="0">
                <a:solidFill>
                  <a:schemeClr val="bg1"/>
                </a:solidFill>
                <a:latin typeface="微软雅黑" pitchFamily="34" charset="-122"/>
                <a:ea typeface="微软雅黑" pitchFamily="34" charset="-122"/>
              </a:rPr>
              <a:t>网络层提供的两种服务</a:t>
            </a:r>
          </a:p>
          <a:p>
            <a:pPr eaLnBrk="0" hangingPunct="0">
              <a:lnSpc>
                <a:spcPct val="200000"/>
              </a:lnSpc>
            </a:pPr>
            <a:r>
              <a:rPr lang="en-US" altLang="zh-CN" sz="2000" b="1" dirty="0">
                <a:solidFill>
                  <a:schemeClr val="bg1"/>
                </a:solidFill>
                <a:latin typeface="微软雅黑" pitchFamily="34" charset="-122"/>
                <a:ea typeface="微软雅黑" pitchFamily="34" charset="-122"/>
              </a:rPr>
              <a:t>4.1.2                                    </a:t>
            </a:r>
            <a:r>
              <a:rPr lang="zh-CN" altLang="en-US" sz="2000" b="1" dirty="0">
                <a:solidFill>
                  <a:schemeClr val="bg1"/>
                </a:solidFill>
                <a:latin typeface="微软雅黑" pitchFamily="34" charset="-122"/>
                <a:ea typeface="微软雅黑" pitchFamily="34" charset="-122"/>
              </a:rPr>
              <a:t>网络层的两个层面</a:t>
            </a:r>
          </a:p>
        </p:txBody>
      </p:sp>
      <p:sp>
        <p:nvSpPr>
          <p:cNvPr id="7" name="Rectangle 27"/>
          <p:cNvSpPr>
            <a:spLocks noChangeArrowheads="1"/>
          </p:cNvSpPr>
          <p:nvPr/>
        </p:nvSpPr>
        <p:spPr bwMode="auto">
          <a:xfrm>
            <a:off x="639730" y="1335361"/>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8" name="Rectangle 29"/>
          <p:cNvSpPr>
            <a:spLocks noChangeArrowheads="1"/>
          </p:cNvSpPr>
          <p:nvPr/>
        </p:nvSpPr>
        <p:spPr bwMode="auto">
          <a:xfrm>
            <a:off x="648619" y="1430293"/>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b="1" dirty="0">
                <a:solidFill>
                  <a:srgbClr val="FFFF00"/>
                </a:solidFill>
                <a:latin typeface="微软雅黑" pitchFamily="34" charset="-122"/>
                <a:ea typeface="微软雅黑" pitchFamily="34" charset="-122"/>
              </a:rPr>
              <a:t>4</a:t>
            </a:r>
            <a:r>
              <a:rPr lang="fr-FR" altLang="zh-CN" sz="2000" b="1" dirty="0">
                <a:solidFill>
                  <a:srgbClr val="FFFF00"/>
                </a:solidFill>
                <a:latin typeface="微软雅黑" pitchFamily="34" charset="-122"/>
                <a:ea typeface="微软雅黑" pitchFamily="34" charset="-122"/>
              </a:rPr>
              <a:t>.1</a:t>
            </a:r>
          </a:p>
          <a:p>
            <a:pPr eaLnBrk="0" hangingPunct="0"/>
            <a:r>
              <a:rPr lang="zh-CN" altLang="en-US" sz="2000" b="1" dirty="0">
                <a:solidFill>
                  <a:schemeClr val="bg1"/>
                </a:solidFill>
                <a:latin typeface="微软雅黑" pitchFamily="34" charset="-122"/>
                <a:ea typeface="微软雅黑" pitchFamily="34" charset="-122"/>
              </a:rPr>
              <a:t>网络层的几个重要概念</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72285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56C448-B4F2-E2EC-728A-A633D602341D}"/>
              </a:ext>
            </a:extLst>
          </p:cNvPr>
          <p:cNvSpPr>
            <a:spLocks noGrp="1"/>
          </p:cNvSpPr>
          <p:nvPr>
            <p:ph type="title"/>
          </p:nvPr>
        </p:nvSpPr>
        <p:spPr>
          <a:xfrm>
            <a:off x="486000" y="550723"/>
            <a:ext cx="8172000" cy="338554"/>
          </a:xfrm>
        </p:spPr>
        <p:txBody>
          <a:bodyPr/>
          <a:lstStyle/>
          <a:p>
            <a:r>
              <a:rPr lang="en-US" altLang="zh-CN" dirty="0"/>
              <a:t>4.1.1 </a:t>
            </a:r>
            <a:r>
              <a:rPr lang="zh-CN" altLang="en-US" dirty="0"/>
              <a:t>网络层提供的两种服务</a:t>
            </a:r>
          </a:p>
        </p:txBody>
      </p:sp>
      <p:sp>
        <p:nvSpPr>
          <p:cNvPr id="7" name="内容占位符 6">
            <a:extLst>
              <a:ext uri="{FF2B5EF4-FFF2-40B4-BE49-F238E27FC236}">
                <a16:creationId xmlns:a16="http://schemas.microsoft.com/office/drawing/2014/main" id="{477C66CB-67FA-62E1-EA6C-9665343395A5}"/>
              </a:ext>
            </a:extLst>
          </p:cNvPr>
          <p:cNvSpPr>
            <a:spLocks noGrp="1"/>
          </p:cNvSpPr>
          <p:nvPr>
            <p:ph sz="quarter" idx="11"/>
          </p:nvPr>
        </p:nvSpPr>
        <p:spPr>
          <a:xfrm>
            <a:off x="486000" y="900000"/>
            <a:ext cx="8172000" cy="3703500"/>
          </a:xfrm>
        </p:spPr>
        <p:txBody>
          <a:bodyPr/>
          <a:lstStyle/>
          <a:p>
            <a:r>
              <a:rPr lang="zh-CN" altLang="en-US" dirty="0"/>
              <a:t>争论：</a:t>
            </a:r>
            <a:endParaRPr lang="en-US" altLang="zh-CN" dirty="0"/>
          </a:p>
          <a:p>
            <a:pPr lvl="1"/>
            <a:r>
              <a:rPr lang="zh-CN" altLang="en-US" dirty="0"/>
              <a:t>网络层应该向运输层提供怎样的服务？面向连接还是无连接？</a:t>
            </a:r>
            <a:endParaRPr lang="en-US" altLang="zh-CN" dirty="0"/>
          </a:p>
          <a:p>
            <a:pPr lvl="1"/>
            <a:r>
              <a:rPr lang="zh-CN" altLang="en-US" dirty="0"/>
              <a:t>在计算机通信中，可靠交付应当由谁来负责？是网络还是端系统？</a:t>
            </a:r>
            <a:endParaRPr lang="en-US" altLang="zh-CN" dirty="0"/>
          </a:p>
          <a:p>
            <a:r>
              <a:rPr lang="en-US" altLang="zh-CN" dirty="0"/>
              <a:t>2 </a:t>
            </a:r>
            <a:r>
              <a:rPr lang="zh-CN" altLang="en-US" dirty="0"/>
              <a:t>种观点：</a:t>
            </a:r>
            <a:endParaRPr lang="en-US" altLang="zh-CN" dirty="0"/>
          </a:p>
          <a:p>
            <a:pPr lvl="1"/>
            <a:r>
              <a:rPr lang="zh-CN" altLang="en-US" dirty="0"/>
              <a:t>面向连接的可靠交付</a:t>
            </a:r>
            <a:endParaRPr lang="en-US" altLang="zh-CN" dirty="0"/>
          </a:p>
          <a:p>
            <a:pPr lvl="1"/>
            <a:r>
              <a:rPr lang="zh-CN" altLang="en-US" dirty="0"/>
              <a:t>无连接的、尽最大努力交付的数据报服务，不提供服务质量的承诺</a:t>
            </a:r>
          </a:p>
          <a:p>
            <a:endParaRPr lang="zh-CN" altLang="en-US" dirty="0"/>
          </a:p>
        </p:txBody>
      </p:sp>
    </p:spTree>
    <p:extLst>
      <p:ext uri="{BB962C8B-B14F-4D97-AF65-F5344CB8AC3E}">
        <p14:creationId xmlns:p14="http://schemas.microsoft.com/office/powerpoint/2010/main" val="3642272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12ADF0C-32C6-0BB6-93D3-5746E2161C09}"/>
              </a:ext>
            </a:extLst>
          </p:cNvPr>
          <p:cNvSpPr>
            <a:spLocks noGrp="1"/>
          </p:cNvSpPr>
          <p:nvPr>
            <p:ph type="title"/>
          </p:nvPr>
        </p:nvSpPr>
        <p:spPr>
          <a:xfrm>
            <a:off x="486000" y="550723"/>
            <a:ext cx="8172000" cy="338554"/>
          </a:xfrm>
        </p:spPr>
        <p:txBody>
          <a:bodyPr/>
          <a:lstStyle/>
          <a:p>
            <a:r>
              <a:rPr lang="zh-CN" altLang="en-US" dirty="0"/>
              <a:t>一种观点：让网络负责可靠交付</a:t>
            </a:r>
          </a:p>
        </p:txBody>
      </p:sp>
      <p:sp>
        <p:nvSpPr>
          <p:cNvPr id="3" name="内容占位符 2">
            <a:extLst>
              <a:ext uri="{FF2B5EF4-FFF2-40B4-BE49-F238E27FC236}">
                <a16:creationId xmlns:a16="http://schemas.microsoft.com/office/drawing/2014/main" id="{D3394314-7ACA-D638-A533-A607F32C53D2}"/>
              </a:ext>
            </a:extLst>
          </p:cNvPr>
          <p:cNvSpPr>
            <a:spLocks noGrp="1"/>
          </p:cNvSpPr>
          <p:nvPr>
            <p:ph sz="quarter" idx="11"/>
          </p:nvPr>
        </p:nvSpPr>
        <p:spPr>
          <a:xfrm>
            <a:off x="486000" y="900000"/>
            <a:ext cx="8172000" cy="3703500"/>
          </a:xfrm>
        </p:spPr>
        <p:txBody>
          <a:bodyPr/>
          <a:lstStyle/>
          <a:p>
            <a:r>
              <a:rPr lang="zh-CN" altLang="en-US" dirty="0"/>
              <a:t>计算机网络模仿电信网络，使用面向连接的通信方式</a:t>
            </a:r>
          </a:p>
          <a:p>
            <a:pPr lvl="1"/>
            <a:r>
              <a:rPr lang="zh-CN" altLang="en-US" dirty="0"/>
              <a:t>通信之前先建立虚电路 </a:t>
            </a:r>
            <a:r>
              <a:rPr lang="en-US" altLang="zh-CN" dirty="0"/>
              <a:t>VC</a:t>
            </a:r>
            <a:r>
              <a:rPr lang="zh-CN" altLang="en-US" dirty="0"/>
              <a:t> </a:t>
            </a:r>
            <a:r>
              <a:rPr lang="en-US" altLang="zh-CN" dirty="0"/>
              <a:t>(Virtual Circuit) (</a:t>
            </a:r>
            <a:r>
              <a:rPr lang="zh-CN" altLang="en-US" dirty="0"/>
              <a:t>即连接</a:t>
            </a:r>
            <a:r>
              <a:rPr lang="en-US" altLang="zh-CN" dirty="0"/>
              <a:t>)</a:t>
            </a:r>
            <a:r>
              <a:rPr lang="zh-CN" altLang="en-US" dirty="0"/>
              <a:t>，以保证双方通信所需的一切网络资源</a:t>
            </a:r>
          </a:p>
          <a:p>
            <a:pPr lvl="1"/>
            <a:r>
              <a:rPr lang="zh-CN" altLang="en-US" dirty="0"/>
              <a:t>如果再使用可靠传输的网络协议，可使所发送的分组无差错按序到达终点，不丢失、不重复</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2"/>
          <p:cNvSpPr>
            <a:spLocks noChangeArrowheads="1"/>
          </p:cNvSpPr>
          <p:nvPr/>
        </p:nvSpPr>
        <p:spPr bwMode="auto">
          <a:xfrm>
            <a:off x="6753601" y="3118501"/>
            <a:ext cx="1147864" cy="229156"/>
          </a:xfrm>
          <a:prstGeom prst="rect">
            <a:avLst/>
          </a:prstGeom>
          <a:solidFill>
            <a:srgbClr val="FFFF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5" name="Line 15"/>
          <p:cNvSpPr>
            <a:spLocks noChangeShapeType="1"/>
          </p:cNvSpPr>
          <p:nvPr/>
        </p:nvSpPr>
        <p:spPr bwMode="auto">
          <a:xfrm>
            <a:off x="6737840" y="2897832"/>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 name="Line 16"/>
          <p:cNvSpPr>
            <a:spLocks noChangeShapeType="1"/>
          </p:cNvSpPr>
          <p:nvPr/>
        </p:nvSpPr>
        <p:spPr bwMode="auto">
          <a:xfrm>
            <a:off x="6737840" y="3118501"/>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 name="Line 17"/>
          <p:cNvSpPr>
            <a:spLocks noChangeShapeType="1"/>
          </p:cNvSpPr>
          <p:nvPr/>
        </p:nvSpPr>
        <p:spPr bwMode="auto">
          <a:xfrm>
            <a:off x="6737840" y="3339170"/>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 name="Line 18"/>
          <p:cNvSpPr>
            <a:spLocks noChangeShapeType="1"/>
          </p:cNvSpPr>
          <p:nvPr/>
        </p:nvSpPr>
        <p:spPr bwMode="auto">
          <a:xfrm>
            <a:off x="6737840" y="3559839"/>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 name="Text Box 19"/>
          <p:cNvSpPr txBox="1">
            <a:spLocks noChangeArrowheads="1"/>
          </p:cNvSpPr>
          <p:nvPr/>
        </p:nvSpPr>
        <p:spPr bwMode="auto">
          <a:xfrm>
            <a:off x="2489632" y="2708422"/>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1</a:t>
            </a:r>
          </a:p>
        </p:txBody>
      </p:sp>
      <p:sp>
        <p:nvSpPr>
          <p:cNvPr id="47" name="Text Box 27"/>
          <p:cNvSpPr txBox="1">
            <a:spLocks noChangeArrowheads="1"/>
          </p:cNvSpPr>
          <p:nvPr/>
        </p:nvSpPr>
        <p:spPr bwMode="auto">
          <a:xfrm>
            <a:off x="6157988" y="2707876"/>
            <a:ext cx="44435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 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2</a:t>
            </a:r>
          </a:p>
        </p:txBody>
      </p:sp>
      <p:pic>
        <p:nvPicPr>
          <p:cNvPr id="39"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82194" y="3488303"/>
            <a:ext cx="466799"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0" name="Picture 3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3157300"/>
            <a:ext cx="468012" cy="2655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1" name="Picture 3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3494" y="3951466"/>
            <a:ext cx="468012" cy="265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2" name="Picture 3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75718" y="3554990"/>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3" name="Picture 3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2560766"/>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5" name="Text Box 37"/>
          <p:cNvSpPr txBox="1">
            <a:spLocks noChangeArrowheads="1"/>
          </p:cNvSpPr>
          <p:nvPr/>
        </p:nvSpPr>
        <p:spPr bwMode="auto">
          <a:xfrm>
            <a:off x="4188911" y="3495578"/>
            <a:ext cx="80502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虚电路</a:t>
            </a:r>
            <a:endParaRPr kumimoji="0" lang="zh-CN" altLang="en-US" sz="1600" b="1" i="0" u="none" strike="noStrike" kern="0" cap="none" spc="0" normalizeH="0" baseline="-25000" noProof="0" dirty="0">
              <a:ln>
                <a:noFill/>
              </a:ln>
              <a:effectLst/>
              <a:uLnTx/>
              <a:uFillTx/>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76CE63EF-87C0-7F4F-6E96-C49DD3730913}"/>
              </a:ext>
            </a:extLst>
          </p:cNvPr>
          <p:cNvSpPr>
            <a:spLocks noGrp="1"/>
          </p:cNvSpPr>
          <p:nvPr>
            <p:ph type="title"/>
          </p:nvPr>
        </p:nvSpPr>
        <p:spPr>
          <a:xfrm>
            <a:off x="486000" y="550723"/>
            <a:ext cx="8172000" cy="338554"/>
          </a:xfrm>
        </p:spPr>
        <p:txBody>
          <a:bodyPr/>
          <a:lstStyle/>
          <a:p>
            <a:r>
              <a:rPr lang="zh-CN" altLang="en-US" dirty="0"/>
              <a:t>虚电路服务</a:t>
            </a:r>
          </a:p>
        </p:txBody>
      </p:sp>
      <p:sp>
        <p:nvSpPr>
          <p:cNvPr id="66" name="内容占位符 65">
            <a:extLst>
              <a:ext uri="{FF2B5EF4-FFF2-40B4-BE49-F238E27FC236}">
                <a16:creationId xmlns:a16="http://schemas.microsoft.com/office/drawing/2014/main" id="{CBF9F173-4F77-CEA8-A6F1-01BE5F3F8168}"/>
              </a:ext>
            </a:extLst>
          </p:cNvPr>
          <p:cNvSpPr>
            <a:spLocks noGrp="1"/>
          </p:cNvSpPr>
          <p:nvPr>
            <p:ph sz="quarter" idx="11"/>
          </p:nvPr>
        </p:nvSpPr>
        <p:spPr>
          <a:xfrm>
            <a:off x="486000" y="900000"/>
            <a:ext cx="8172000" cy="3703500"/>
          </a:xfrm>
        </p:spPr>
        <p:txBody>
          <a:bodyPr/>
          <a:lstStyle/>
          <a:p>
            <a:r>
              <a:rPr lang="en-US" altLang="zh-CN" dirty="0"/>
              <a:t>H1 </a:t>
            </a:r>
            <a:r>
              <a:rPr lang="zh-CN" altLang="en-US" dirty="0"/>
              <a:t>发送给 </a:t>
            </a:r>
            <a:r>
              <a:rPr lang="en-US" altLang="zh-CN" dirty="0"/>
              <a:t>H2 </a:t>
            </a:r>
            <a:r>
              <a:rPr lang="zh-CN" altLang="en-US" dirty="0"/>
              <a:t>的所有分组都沿着同一条虚电路传送</a:t>
            </a:r>
          </a:p>
          <a:p>
            <a:r>
              <a:rPr lang="zh-CN" altLang="en-US" dirty="0"/>
              <a:t>虚电路只是一条逻辑上的连接，分组都沿着这条逻辑连接按照存储转发方式传送，并不是真正建立了一条物理连接。</a:t>
            </a:r>
          </a:p>
          <a:p>
            <a:endParaRPr lang="zh-CN" altLang="en-US" dirty="0"/>
          </a:p>
        </p:txBody>
      </p:sp>
      <p:graphicFrame>
        <p:nvGraphicFramePr>
          <p:cNvPr id="4" name="表格 3">
            <a:extLst>
              <a:ext uri="{FF2B5EF4-FFF2-40B4-BE49-F238E27FC236}">
                <a16:creationId xmlns:a16="http://schemas.microsoft.com/office/drawing/2014/main" id="{5B2030D4-06F0-415D-43A4-394E702763CC}"/>
              </a:ext>
            </a:extLst>
          </p:cNvPr>
          <p:cNvGraphicFramePr>
            <a:graphicFrameLocks noGrp="1"/>
          </p:cNvGraphicFramePr>
          <p:nvPr>
            <p:extLst>
              <p:ext uri="{D42A27DB-BD31-4B8C-83A1-F6EECF244321}">
                <p14:modId xmlns:p14="http://schemas.microsoft.com/office/powerpoint/2010/main" val="639289699"/>
              </p:ext>
            </p:extLst>
          </p:nvPr>
        </p:nvGraphicFramePr>
        <p:xfrm>
          <a:off x="1185084" y="2598279"/>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graphicFrame>
        <p:nvGraphicFramePr>
          <p:cNvPr id="5" name="表格 4">
            <a:extLst>
              <a:ext uri="{FF2B5EF4-FFF2-40B4-BE49-F238E27FC236}">
                <a16:creationId xmlns:a16="http://schemas.microsoft.com/office/drawing/2014/main" id="{163094E3-5AD6-C7E1-E231-E5D80E8427CC}"/>
              </a:ext>
            </a:extLst>
          </p:cNvPr>
          <p:cNvGraphicFramePr>
            <a:graphicFrameLocks noGrp="1"/>
          </p:cNvGraphicFramePr>
          <p:nvPr>
            <p:extLst>
              <p:ext uri="{D42A27DB-BD31-4B8C-83A1-F6EECF244321}">
                <p14:modId xmlns:p14="http://schemas.microsoft.com/office/powerpoint/2010/main" val="3207351466"/>
              </p:ext>
            </p:extLst>
          </p:nvPr>
        </p:nvGraphicFramePr>
        <p:xfrm>
          <a:off x="6761156" y="2623815"/>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sp>
        <p:nvSpPr>
          <p:cNvPr id="44" name="Freeform 36"/>
          <p:cNvSpPr>
            <a:spLocks/>
          </p:cNvSpPr>
          <p:nvPr/>
        </p:nvSpPr>
        <p:spPr bwMode="auto">
          <a:xfrm>
            <a:off x="2208118" y="3274634"/>
            <a:ext cx="4695830" cy="885974"/>
          </a:xfrm>
          <a:custGeom>
            <a:avLst/>
            <a:gdLst>
              <a:gd name="T0" fmla="*/ 0 w 3314"/>
              <a:gd name="T1" fmla="*/ 0 h 433"/>
              <a:gd name="T2" fmla="*/ 184 w 3314"/>
              <a:gd name="T3" fmla="*/ 158 h 433"/>
              <a:gd name="T4" fmla="*/ 275 w 3314"/>
              <a:gd name="T5" fmla="*/ 249 h 433"/>
              <a:gd name="T6" fmla="*/ 362 w 3314"/>
              <a:gd name="T7" fmla="*/ 300 h 433"/>
              <a:gd name="T8" fmla="*/ 494 w 3314"/>
              <a:gd name="T9" fmla="*/ 364 h 433"/>
              <a:gd name="T10" fmla="*/ 683 w 3314"/>
              <a:gd name="T11" fmla="*/ 385 h 433"/>
              <a:gd name="T12" fmla="*/ 955 w 3314"/>
              <a:gd name="T13" fmla="*/ 339 h 433"/>
              <a:gd name="T14" fmla="*/ 1498 w 3314"/>
              <a:gd name="T15" fmla="*/ 216 h 433"/>
              <a:gd name="T16" fmla="*/ 1854 w 3314"/>
              <a:gd name="T17" fmla="*/ 216 h 433"/>
              <a:gd name="T18" fmla="*/ 2210 w 3314"/>
              <a:gd name="T19" fmla="*/ 316 h 433"/>
              <a:gd name="T20" fmla="*/ 2450 w 3314"/>
              <a:gd name="T21" fmla="*/ 392 h 433"/>
              <a:gd name="T22" fmla="*/ 2633 w 3314"/>
              <a:gd name="T23" fmla="*/ 430 h 433"/>
              <a:gd name="T24" fmla="*/ 2834 w 3314"/>
              <a:gd name="T25" fmla="*/ 372 h 433"/>
              <a:gd name="T26" fmla="*/ 2994 w 3314"/>
              <a:gd name="T27" fmla="*/ 276 h 433"/>
              <a:gd name="T28" fmla="*/ 3314 w 3314"/>
              <a:gd name="T29" fmla="*/ 22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3314" h="433">
                <a:moveTo>
                  <a:pt x="0" y="0"/>
                </a:moveTo>
                <a:cubicBezTo>
                  <a:pt x="27" y="26"/>
                  <a:pt x="138" y="116"/>
                  <a:pt x="184" y="158"/>
                </a:cubicBezTo>
                <a:cubicBezTo>
                  <a:pt x="230" y="200"/>
                  <a:pt x="245" y="225"/>
                  <a:pt x="275" y="249"/>
                </a:cubicBezTo>
                <a:cubicBezTo>
                  <a:pt x="305" y="273"/>
                  <a:pt x="326" y="281"/>
                  <a:pt x="362" y="300"/>
                </a:cubicBezTo>
                <a:cubicBezTo>
                  <a:pt x="398" y="319"/>
                  <a:pt x="441" y="350"/>
                  <a:pt x="494" y="364"/>
                </a:cubicBezTo>
                <a:cubicBezTo>
                  <a:pt x="547" y="378"/>
                  <a:pt x="606" y="389"/>
                  <a:pt x="683" y="385"/>
                </a:cubicBezTo>
                <a:cubicBezTo>
                  <a:pt x="760" y="381"/>
                  <a:pt x="819" y="367"/>
                  <a:pt x="955" y="339"/>
                </a:cubicBezTo>
                <a:cubicBezTo>
                  <a:pt x="1091" y="311"/>
                  <a:pt x="1348" y="236"/>
                  <a:pt x="1498" y="216"/>
                </a:cubicBezTo>
                <a:cubicBezTo>
                  <a:pt x="1648" y="196"/>
                  <a:pt x="1735" y="199"/>
                  <a:pt x="1854" y="216"/>
                </a:cubicBezTo>
                <a:cubicBezTo>
                  <a:pt x="1973" y="233"/>
                  <a:pt x="2111" y="287"/>
                  <a:pt x="2210" y="316"/>
                </a:cubicBezTo>
                <a:cubicBezTo>
                  <a:pt x="2309" y="345"/>
                  <a:pt x="2380" y="373"/>
                  <a:pt x="2450" y="392"/>
                </a:cubicBezTo>
                <a:cubicBezTo>
                  <a:pt x="2520" y="411"/>
                  <a:pt x="2569" y="433"/>
                  <a:pt x="2633" y="430"/>
                </a:cubicBezTo>
                <a:cubicBezTo>
                  <a:pt x="2697" y="427"/>
                  <a:pt x="2774" y="398"/>
                  <a:pt x="2834" y="372"/>
                </a:cubicBezTo>
                <a:cubicBezTo>
                  <a:pt x="2894" y="346"/>
                  <a:pt x="2914" y="334"/>
                  <a:pt x="2994" y="276"/>
                </a:cubicBezTo>
                <a:cubicBezTo>
                  <a:pt x="3074" y="218"/>
                  <a:pt x="3247" y="75"/>
                  <a:pt x="3314" y="22"/>
                </a:cubicBezTo>
              </a:path>
            </a:pathLst>
          </a:custGeom>
          <a:noFill/>
          <a:ln w="38100" cmpd="sng">
            <a:solidFill>
              <a:schemeClr val="tx1">
                <a:lumMod val="50000"/>
                <a:lumOff val="50000"/>
              </a:schemeClr>
            </a:solidFill>
            <a:prstDash val="lg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7" name="图形 6" descr="监视器">
            <a:extLst>
              <a:ext uri="{FF2B5EF4-FFF2-40B4-BE49-F238E27FC236}">
                <a16:creationId xmlns:a16="http://schemas.microsoft.com/office/drawing/2014/main" id="{E2379A26-0A43-1615-A230-45F34316D7B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24542" y="2938829"/>
            <a:ext cx="504000" cy="504000"/>
          </a:xfrm>
          <a:prstGeom prst="rect">
            <a:avLst/>
          </a:prstGeom>
        </p:spPr>
      </p:pic>
      <p:pic>
        <p:nvPicPr>
          <p:cNvPr id="8" name="图形 7" descr="监视器">
            <a:extLst>
              <a:ext uri="{FF2B5EF4-FFF2-40B4-BE49-F238E27FC236}">
                <a16:creationId xmlns:a16="http://schemas.microsoft.com/office/drawing/2014/main" id="{B7FDAB0A-2B77-F8F5-8312-5B587AA2EF9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28164" y="2938829"/>
            <a:ext cx="504000" cy="504000"/>
          </a:xfrm>
          <a:prstGeom prst="rect">
            <a:avLst/>
          </a:prstGeom>
        </p:spPr>
      </p:pic>
      <p:cxnSp>
        <p:nvCxnSpPr>
          <p:cNvPr id="10" name="直接连接符 9">
            <a:extLst>
              <a:ext uri="{FF2B5EF4-FFF2-40B4-BE49-F238E27FC236}">
                <a16:creationId xmlns:a16="http://schemas.microsoft.com/office/drawing/2014/main" id="{ABF88FB6-2941-D881-C87A-DAE83D0AEF37}"/>
              </a:ext>
            </a:extLst>
          </p:cNvPr>
          <p:cNvCxnSpPr>
            <a:cxnSpLocks/>
            <a:stCxn id="7" idx="2"/>
            <a:endCxn id="39" idx="1"/>
          </p:cNvCxnSpPr>
          <p:nvPr/>
        </p:nvCxnSpPr>
        <p:spPr>
          <a:xfrm>
            <a:off x="2676542" y="3442829"/>
            <a:ext cx="205652" cy="177633"/>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E814BEDB-EF48-8D64-0B44-13676D3620D5}"/>
              </a:ext>
            </a:extLst>
          </p:cNvPr>
          <p:cNvCxnSpPr>
            <a:cxnSpLocks/>
            <a:stCxn id="42" idx="3"/>
            <a:endCxn id="8" idx="2"/>
          </p:cNvCxnSpPr>
          <p:nvPr/>
        </p:nvCxnSpPr>
        <p:spPr>
          <a:xfrm flipV="1">
            <a:off x="6143730" y="3442829"/>
            <a:ext cx="236434" cy="24432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A4420700-3EB2-B34B-270F-1C2509A1CF70}"/>
              </a:ext>
            </a:extLst>
          </p:cNvPr>
          <p:cNvCxnSpPr>
            <a:stCxn id="43" idx="3"/>
            <a:endCxn id="42" idx="0"/>
          </p:cNvCxnSpPr>
          <p:nvPr/>
        </p:nvCxnSpPr>
        <p:spPr>
          <a:xfrm>
            <a:off x="4785767" y="2692925"/>
            <a:ext cx="1123957" cy="862065"/>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5CE2AEFB-E121-14E4-1151-146A6B828F64}"/>
              </a:ext>
            </a:extLst>
          </p:cNvPr>
          <p:cNvCxnSpPr>
            <a:stCxn id="43" idx="1"/>
            <a:endCxn id="39" idx="0"/>
          </p:cNvCxnSpPr>
          <p:nvPr/>
        </p:nvCxnSpPr>
        <p:spPr>
          <a:xfrm flipH="1">
            <a:off x="3115594" y="2692925"/>
            <a:ext cx="1202161" cy="795378"/>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EB80F31A-8555-CA45-0F1A-3D5AE97316D2}"/>
              </a:ext>
            </a:extLst>
          </p:cNvPr>
          <p:cNvCxnSpPr>
            <a:stCxn id="43" idx="2"/>
            <a:endCxn id="40" idx="0"/>
          </p:cNvCxnSpPr>
          <p:nvPr/>
        </p:nvCxnSpPr>
        <p:spPr>
          <a:xfrm>
            <a:off x="4551761" y="2825084"/>
            <a:ext cx="0" cy="332216"/>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C4C862A5-FA63-79E5-7488-F03ADFB7D7B7}"/>
              </a:ext>
            </a:extLst>
          </p:cNvPr>
          <p:cNvCxnSpPr>
            <a:stCxn id="40" idx="1"/>
            <a:endCxn id="39" idx="3"/>
          </p:cNvCxnSpPr>
          <p:nvPr/>
        </p:nvCxnSpPr>
        <p:spPr>
          <a:xfrm flipH="1">
            <a:off x="3348993" y="3290065"/>
            <a:ext cx="968762" cy="33039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BE0C27A9-F26B-0FB7-4386-BEA9BF67B205}"/>
              </a:ext>
            </a:extLst>
          </p:cNvPr>
          <p:cNvCxnSpPr>
            <a:stCxn id="40" idx="3"/>
            <a:endCxn id="42" idx="1"/>
          </p:cNvCxnSpPr>
          <p:nvPr/>
        </p:nvCxnSpPr>
        <p:spPr>
          <a:xfrm>
            <a:off x="4785767" y="3290065"/>
            <a:ext cx="889951" cy="39708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0D731166-9BF6-1A3E-E9A8-06B3D2F9D4E8}"/>
              </a:ext>
            </a:extLst>
          </p:cNvPr>
          <p:cNvCxnSpPr>
            <a:cxnSpLocks/>
            <a:stCxn id="42" idx="2"/>
            <a:endCxn id="41" idx="3"/>
          </p:cNvCxnSpPr>
          <p:nvPr/>
        </p:nvCxnSpPr>
        <p:spPr>
          <a:xfrm flipH="1">
            <a:off x="4721506" y="3819308"/>
            <a:ext cx="1188218" cy="26492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F1DD19BD-C12C-6D28-08EA-119F9334FA01}"/>
              </a:ext>
            </a:extLst>
          </p:cNvPr>
          <p:cNvCxnSpPr>
            <a:stCxn id="39" idx="2"/>
            <a:endCxn id="41" idx="1"/>
          </p:cNvCxnSpPr>
          <p:nvPr/>
        </p:nvCxnSpPr>
        <p:spPr>
          <a:xfrm>
            <a:off x="3115594" y="3752621"/>
            <a:ext cx="1137900" cy="331611"/>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689464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a:spLocks noChangeArrowheads="1"/>
          </p:cNvSpPr>
          <p:nvPr/>
        </p:nvSpPr>
        <p:spPr bwMode="auto">
          <a:xfrm>
            <a:off x="4763945" y="408247"/>
            <a:ext cx="1847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endParaRPr lang="zh-CN" altLang="en-US" sz="2000" b="1" dirty="0">
              <a:solidFill>
                <a:schemeClr val="bg1"/>
              </a:solidFill>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6D6E589F-2F08-1D96-6E30-C7CEF26153FF}"/>
              </a:ext>
            </a:extLst>
          </p:cNvPr>
          <p:cNvSpPr>
            <a:spLocks noGrp="1"/>
          </p:cNvSpPr>
          <p:nvPr>
            <p:ph type="title"/>
          </p:nvPr>
        </p:nvSpPr>
        <p:spPr>
          <a:xfrm>
            <a:off x="486000" y="550723"/>
            <a:ext cx="8172000" cy="338554"/>
          </a:xfrm>
        </p:spPr>
        <p:txBody>
          <a:bodyPr/>
          <a:lstStyle/>
          <a:p>
            <a:r>
              <a:rPr lang="zh-CN" altLang="en-US" dirty="0"/>
              <a:t>另一种观点：网络提供数据报服务</a:t>
            </a:r>
          </a:p>
        </p:txBody>
      </p:sp>
      <p:sp>
        <p:nvSpPr>
          <p:cNvPr id="3" name="内容占位符 2">
            <a:extLst>
              <a:ext uri="{FF2B5EF4-FFF2-40B4-BE49-F238E27FC236}">
                <a16:creationId xmlns:a16="http://schemas.microsoft.com/office/drawing/2014/main" id="{F8E0C907-7DF2-8069-4E7B-AC571FEE26FC}"/>
              </a:ext>
            </a:extLst>
          </p:cNvPr>
          <p:cNvSpPr>
            <a:spLocks noGrp="1"/>
          </p:cNvSpPr>
          <p:nvPr>
            <p:ph sz="quarter" idx="11"/>
          </p:nvPr>
        </p:nvSpPr>
        <p:spPr>
          <a:xfrm>
            <a:off x="486000" y="900000"/>
            <a:ext cx="8172000" cy="3703500"/>
          </a:xfrm>
        </p:spPr>
        <p:txBody>
          <a:bodyPr/>
          <a:lstStyle/>
          <a:p>
            <a:r>
              <a:rPr lang="zh-CN" altLang="en-US" dirty="0"/>
              <a:t>网络层要设计得尽量简单，向其上层只提供简单灵活的、无连接的、尽最大努力交付的数据报服务</a:t>
            </a:r>
          </a:p>
          <a:p>
            <a:r>
              <a:rPr lang="zh-CN" altLang="en-US" dirty="0"/>
              <a:t>网络在发送分组时不需要先建立连接</a:t>
            </a:r>
            <a:endParaRPr lang="en-US" altLang="zh-CN" dirty="0"/>
          </a:p>
          <a:p>
            <a:r>
              <a:rPr lang="zh-CN" altLang="en-US" dirty="0"/>
              <a:t>每一个分组（即 </a:t>
            </a:r>
            <a:r>
              <a:rPr lang="en-US" altLang="zh-CN" dirty="0"/>
              <a:t>IP </a:t>
            </a:r>
            <a:r>
              <a:rPr lang="zh-CN" altLang="en-US" dirty="0"/>
              <a:t>数据报）独立发送，与其前后的分组无关（不进行编号）</a:t>
            </a:r>
          </a:p>
          <a:p>
            <a:r>
              <a:rPr lang="zh-CN" altLang="en-US" dirty="0"/>
              <a:t>网络层不提供服务质量的承诺。即所传送的分组可能出错、丢失、重复和失序（不按序到达终点），也不保证分组传送的时限</a:t>
            </a:r>
            <a:endParaRPr lang="en-US" altLang="zh-CN" dirty="0"/>
          </a:p>
          <a:p>
            <a:r>
              <a:rPr lang="zh-CN" altLang="en-US" dirty="0"/>
              <a:t>由主机中的运输层负责可靠的通信</a:t>
            </a:r>
          </a:p>
          <a:p>
            <a:endParaRPr lang="zh-CN" altLang="en-US" dirty="0"/>
          </a:p>
        </p:txBody>
      </p:sp>
    </p:spTree>
    <p:extLst>
      <p:ext uri="{BB962C8B-B14F-4D97-AF65-F5344CB8AC3E}">
        <p14:creationId xmlns:p14="http://schemas.microsoft.com/office/powerpoint/2010/main" val="8725010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E2C4DE7-9C91-904B-086C-C56D28DBABC4}"/>
              </a:ext>
            </a:extLst>
          </p:cNvPr>
          <p:cNvSpPr>
            <a:spLocks noGrp="1"/>
          </p:cNvSpPr>
          <p:nvPr>
            <p:ph type="title"/>
          </p:nvPr>
        </p:nvSpPr>
        <p:spPr>
          <a:xfrm>
            <a:off x="486000" y="550723"/>
            <a:ext cx="8172000" cy="338554"/>
          </a:xfrm>
        </p:spPr>
        <p:txBody>
          <a:bodyPr/>
          <a:lstStyle/>
          <a:p>
            <a:r>
              <a:rPr lang="zh-CN" altLang="zh-CN" dirty="0"/>
              <a:t>数据报服务</a:t>
            </a:r>
            <a:endParaRPr lang="zh-CN" altLang="en-US" dirty="0"/>
          </a:p>
        </p:txBody>
      </p:sp>
      <p:sp>
        <p:nvSpPr>
          <p:cNvPr id="166" name="内容占位符 165">
            <a:extLst>
              <a:ext uri="{FF2B5EF4-FFF2-40B4-BE49-F238E27FC236}">
                <a16:creationId xmlns:a16="http://schemas.microsoft.com/office/drawing/2014/main" id="{474A715E-CB55-B821-378D-F0AD307872F7}"/>
              </a:ext>
            </a:extLst>
          </p:cNvPr>
          <p:cNvSpPr>
            <a:spLocks noGrp="1"/>
          </p:cNvSpPr>
          <p:nvPr>
            <p:ph sz="quarter" idx="11"/>
          </p:nvPr>
        </p:nvSpPr>
        <p:spPr>
          <a:xfrm>
            <a:off x="486000" y="900000"/>
            <a:ext cx="8172000" cy="3703500"/>
          </a:xfrm>
        </p:spPr>
        <p:txBody>
          <a:bodyPr/>
          <a:lstStyle/>
          <a:p>
            <a:r>
              <a:rPr lang="en-US" altLang="zh-CN" dirty="0"/>
              <a:t>H1 </a:t>
            </a:r>
            <a:r>
              <a:rPr lang="zh-CN" altLang="en-US" dirty="0"/>
              <a:t>发送给 </a:t>
            </a:r>
            <a:r>
              <a:rPr lang="en-US" altLang="zh-CN" dirty="0"/>
              <a:t>H2 </a:t>
            </a:r>
            <a:r>
              <a:rPr lang="zh-CN" altLang="en-US" dirty="0"/>
              <a:t>的分组可能沿着不同路径传送</a:t>
            </a:r>
          </a:p>
          <a:p>
            <a:endParaRPr lang="zh-CN" altLang="en-US" dirty="0"/>
          </a:p>
        </p:txBody>
      </p:sp>
      <p:sp>
        <p:nvSpPr>
          <p:cNvPr id="9" name="AutoShape 8"/>
          <p:cNvSpPr>
            <a:spLocks noChangeArrowheads="1"/>
          </p:cNvSpPr>
          <p:nvPr/>
        </p:nvSpPr>
        <p:spPr bwMode="auto">
          <a:xfrm>
            <a:off x="3509917" y="3620182"/>
            <a:ext cx="558243" cy="483050"/>
          </a:xfrm>
          <a:prstGeom prst="irregularSeal2">
            <a:avLst/>
          </a:prstGeom>
          <a:solidFill>
            <a:schemeClr val="bg1">
              <a:lumMod val="85000"/>
            </a:schemeClr>
          </a:solidFill>
          <a:ln w="9525">
            <a:no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nvGrpSpPr>
          <p:cNvPr id="33" name="Group 37"/>
          <p:cNvGrpSpPr>
            <a:grpSpLocks/>
          </p:cNvGrpSpPr>
          <p:nvPr/>
        </p:nvGrpSpPr>
        <p:grpSpPr bwMode="auto">
          <a:xfrm rot="1386369">
            <a:off x="3684704" y="3832514"/>
            <a:ext cx="248872" cy="107976"/>
            <a:chOff x="2064" y="1776"/>
            <a:chExt cx="171" cy="66"/>
          </a:xfrm>
          <a:solidFill>
            <a:srgbClr val="CC00CC"/>
          </a:solidFill>
        </p:grpSpPr>
        <p:sp>
          <p:nvSpPr>
            <p:cNvPr id="34" name="Rectangle 38"/>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35" name="Line 39"/>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36" name="Group 40"/>
          <p:cNvGrpSpPr>
            <a:grpSpLocks/>
          </p:cNvGrpSpPr>
          <p:nvPr/>
        </p:nvGrpSpPr>
        <p:grpSpPr bwMode="auto">
          <a:xfrm rot="20724003">
            <a:off x="4950796" y="3855204"/>
            <a:ext cx="248872" cy="107976"/>
            <a:chOff x="2064" y="1776"/>
            <a:chExt cx="171" cy="66"/>
          </a:xfrm>
          <a:solidFill>
            <a:srgbClr val="CC00CC"/>
          </a:solidFill>
        </p:grpSpPr>
        <p:sp>
          <p:nvSpPr>
            <p:cNvPr id="37" name="Rectangle 41"/>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39" name="Line 42"/>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40" name="Group 43"/>
          <p:cNvGrpSpPr>
            <a:grpSpLocks/>
          </p:cNvGrpSpPr>
          <p:nvPr/>
        </p:nvGrpSpPr>
        <p:grpSpPr bwMode="auto">
          <a:xfrm rot="18925072">
            <a:off x="6097484" y="3409077"/>
            <a:ext cx="248872" cy="107976"/>
            <a:chOff x="2064" y="1776"/>
            <a:chExt cx="171" cy="66"/>
          </a:xfrm>
          <a:solidFill>
            <a:srgbClr val="CC00CC"/>
          </a:solidFill>
        </p:grpSpPr>
        <p:sp>
          <p:nvSpPr>
            <p:cNvPr id="41" name="Rectangle 44"/>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2" name="Line 45"/>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43" name="Group 46"/>
          <p:cNvGrpSpPr>
            <a:grpSpLocks/>
          </p:cNvGrpSpPr>
          <p:nvPr/>
        </p:nvGrpSpPr>
        <p:grpSpPr bwMode="auto">
          <a:xfrm rot="19662556">
            <a:off x="3507219" y="2972353"/>
            <a:ext cx="248872" cy="107976"/>
            <a:chOff x="2064" y="1776"/>
            <a:chExt cx="171" cy="66"/>
          </a:xfrm>
          <a:solidFill>
            <a:srgbClr val="CC00CC"/>
          </a:solidFill>
        </p:grpSpPr>
        <p:sp>
          <p:nvSpPr>
            <p:cNvPr id="45" name="Rectangle 47"/>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7" name="Line 48"/>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62" name="Group 49"/>
          <p:cNvGrpSpPr>
            <a:grpSpLocks/>
          </p:cNvGrpSpPr>
          <p:nvPr/>
        </p:nvGrpSpPr>
        <p:grpSpPr bwMode="auto">
          <a:xfrm rot="2078388">
            <a:off x="5169598" y="2903835"/>
            <a:ext cx="248872" cy="109293"/>
            <a:chOff x="2064" y="1776"/>
            <a:chExt cx="171" cy="66"/>
          </a:xfrm>
          <a:solidFill>
            <a:srgbClr val="CC00CC"/>
          </a:solidFill>
        </p:grpSpPr>
        <p:sp>
          <p:nvSpPr>
            <p:cNvPr id="68" name="Rectangle 50"/>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70" name="Line 51"/>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19" name="Group 55"/>
          <p:cNvGrpSpPr>
            <a:grpSpLocks/>
          </p:cNvGrpSpPr>
          <p:nvPr/>
        </p:nvGrpSpPr>
        <p:grpSpPr bwMode="auto">
          <a:xfrm rot="20669726">
            <a:off x="3817347" y="3280639"/>
            <a:ext cx="247555" cy="107976"/>
            <a:chOff x="2064" y="1776"/>
            <a:chExt cx="171" cy="66"/>
          </a:xfrm>
          <a:solidFill>
            <a:srgbClr val="CC00CC"/>
          </a:solidFill>
        </p:grpSpPr>
        <p:sp>
          <p:nvSpPr>
            <p:cNvPr id="120" name="Rectangle 56"/>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21" name="Line 57"/>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22" name="Group 58"/>
          <p:cNvGrpSpPr>
            <a:grpSpLocks/>
          </p:cNvGrpSpPr>
          <p:nvPr/>
        </p:nvGrpSpPr>
        <p:grpSpPr bwMode="auto">
          <a:xfrm rot="2667475">
            <a:off x="2557620" y="3526027"/>
            <a:ext cx="248872" cy="107976"/>
            <a:chOff x="2064" y="1776"/>
            <a:chExt cx="171" cy="66"/>
          </a:xfrm>
          <a:solidFill>
            <a:srgbClr val="CC00CC"/>
          </a:solidFill>
        </p:grpSpPr>
        <p:sp>
          <p:nvSpPr>
            <p:cNvPr id="123" name="Rectangle 5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24" name="Line 6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26" name="Group 62"/>
          <p:cNvGrpSpPr>
            <a:grpSpLocks/>
          </p:cNvGrpSpPr>
          <p:nvPr/>
        </p:nvGrpSpPr>
        <p:grpSpPr bwMode="auto">
          <a:xfrm rot="1575704">
            <a:off x="5112513" y="3330839"/>
            <a:ext cx="248872" cy="107976"/>
            <a:chOff x="2064" y="1776"/>
            <a:chExt cx="171" cy="66"/>
          </a:xfrm>
          <a:solidFill>
            <a:srgbClr val="CC00CC"/>
          </a:solidFill>
        </p:grpSpPr>
        <p:sp>
          <p:nvSpPr>
            <p:cNvPr id="127" name="Rectangle 63"/>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28" name="Line 64"/>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32" name="Group 68"/>
          <p:cNvGrpSpPr>
            <a:grpSpLocks/>
          </p:cNvGrpSpPr>
          <p:nvPr/>
        </p:nvGrpSpPr>
        <p:grpSpPr bwMode="auto">
          <a:xfrm rot="5400000">
            <a:off x="4502253" y="2934965"/>
            <a:ext cx="280475" cy="96125"/>
            <a:chOff x="2064" y="1776"/>
            <a:chExt cx="171" cy="66"/>
          </a:xfrm>
          <a:solidFill>
            <a:srgbClr val="CC00CC"/>
          </a:solidFill>
        </p:grpSpPr>
        <p:sp>
          <p:nvSpPr>
            <p:cNvPr id="133" name="Rectangle 6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34" name="Line 7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
        <p:nvSpPr>
          <p:cNvPr id="144" name="Text Box 19">
            <a:extLst>
              <a:ext uri="{FF2B5EF4-FFF2-40B4-BE49-F238E27FC236}">
                <a16:creationId xmlns:a16="http://schemas.microsoft.com/office/drawing/2014/main" id="{6F63687C-9FF2-4BB3-63A0-7DC1FBFA8B30}"/>
              </a:ext>
            </a:extLst>
          </p:cNvPr>
          <p:cNvSpPr txBox="1">
            <a:spLocks noChangeArrowheads="1"/>
          </p:cNvSpPr>
          <p:nvPr/>
        </p:nvSpPr>
        <p:spPr bwMode="auto">
          <a:xfrm>
            <a:off x="2489632" y="2708422"/>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1</a:t>
            </a:r>
          </a:p>
        </p:txBody>
      </p:sp>
      <p:sp>
        <p:nvSpPr>
          <p:cNvPr id="145" name="Text Box 27">
            <a:extLst>
              <a:ext uri="{FF2B5EF4-FFF2-40B4-BE49-F238E27FC236}">
                <a16:creationId xmlns:a16="http://schemas.microsoft.com/office/drawing/2014/main" id="{312649AA-D1EE-B748-D03C-70C13A72E9D3}"/>
              </a:ext>
            </a:extLst>
          </p:cNvPr>
          <p:cNvSpPr txBox="1">
            <a:spLocks noChangeArrowheads="1"/>
          </p:cNvSpPr>
          <p:nvPr/>
        </p:nvSpPr>
        <p:spPr bwMode="auto">
          <a:xfrm>
            <a:off x="6157988" y="2707876"/>
            <a:ext cx="44435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 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2</a:t>
            </a:r>
          </a:p>
        </p:txBody>
      </p:sp>
      <p:pic>
        <p:nvPicPr>
          <p:cNvPr id="146" name="Picture 31">
            <a:extLst>
              <a:ext uri="{FF2B5EF4-FFF2-40B4-BE49-F238E27FC236}">
                <a16:creationId xmlns:a16="http://schemas.microsoft.com/office/drawing/2014/main" id="{385829CC-1139-3AB0-6906-AA349C65364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82194" y="3488303"/>
            <a:ext cx="466799"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7" name="Picture 32">
            <a:extLst>
              <a:ext uri="{FF2B5EF4-FFF2-40B4-BE49-F238E27FC236}">
                <a16:creationId xmlns:a16="http://schemas.microsoft.com/office/drawing/2014/main" id="{C4462112-588F-C6AE-F87D-FBFEE81040D8}"/>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3157300"/>
            <a:ext cx="468012" cy="2655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8" name="Picture 33">
            <a:extLst>
              <a:ext uri="{FF2B5EF4-FFF2-40B4-BE49-F238E27FC236}">
                <a16:creationId xmlns:a16="http://schemas.microsoft.com/office/drawing/2014/main" id="{54D71DE3-3FBB-4C05-EA91-388E9CA4991A}"/>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3494" y="3951466"/>
            <a:ext cx="468012" cy="265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9" name="Picture 34">
            <a:extLst>
              <a:ext uri="{FF2B5EF4-FFF2-40B4-BE49-F238E27FC236}">
                <a16:creationId xmlns:a16="http://schemas.microsoft.com/office/drawing/2014/main" id="{AF97483C-5282-5552-9EA4-1FEE04EEBD44}"/>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75718" y="3554990"/>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0" name="Picture 35">
            <a:extLst>
              <a:ext uri="{FF2B5EF4-FFF2-40B4-BE49-F238E27FC236}">
                <a16:creationId xmlns:a16="http://schemas.microsoft.com/office/drawing/2014/main" id="{442314E9-E444-8E5E-EB86-6001A937B36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2560766"/>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152" name="表格 151">
            <a:extLst>
              <a:ext uri="{FF2B5EF4-FFF2-40B4-BE49-F238E27FC236}">
                <a16:creationId xmlns:a16="http://schemas.microsoft.com/office/drawing/2014/main" id="{A3809F04-0E29-BA58-BDC4-B483D439F1D6}"/>
              </a:ext>
            </a:extLst>
          </p:cNvPr>
          <p:cNvGraphicFramePr>
            <a:graphicFrameLocks noGrp="1"/>
          </p:cNvGraphicFramePr>
          <p:nvPr>
            <p:extLst>
              <p:ext uri="{D42A27DB-BD31-4B8C-83A1-F6EECF244321}">
                <p14:modId xmlns:p14="http://schemas.microsoft.com/office/powerpoint/2010/main" val="3266780114"/>
              </p:ext>
            </p:extLst>
          </p:nvPr>
        </p:nvGraphicFramePr>
        <p:xfrm>
          <a:off x="1185084" y="2598279"/>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graphicFrame>
        <p:nvGraphicFramePr>
          <p:cNvPr id="153" name="表格 152">
            <a:extLst>
              <a:ext uri="{FF2B5EF4-FFF2-40B4-BE49-F238E27FC236}">
                <a16:creationId xmlns:a16="http://schemas.microsoft.com/office/drawing/2014/main" id="{75113EC7-84E6-C0E5-62D5-639326B0A3E7}"/>
              </a:ext>
            </a:extLst>
          </p:cNvPr>
          <p:cNvGraphicFramePr>
            <a:graphicFrameLocks noGrp="1"/>
          </p:cNvGraphicFramePr>
          <p:nvPr>
            <p:extLst>
              <p:ext uri="{D42A27DB-BD31-4B8C-83A1-F6EECF244321}">
                <p14:modId xmlns:p14="http://schemas.microsoft.com/office/powerpoint/2010/main" val="802763787"/>
              </p:ext>
            </p:extLst>
          </p:nvPr>
        </p:nvGraphicFramePr>
        <p:xfrm>
          <a:off x="6761156" y="2623815"/>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pic>
        <p:nvPicPr>
          <p:cNvPr id="155" name="图形 154" descr="监视器">
            <a:extLst>
              <a:ext uri="{FF2B5EF4-FFF2-40B4-BE49-F238E27FC236}">
                <a16:creationId xmlns:a16="http://schemas.microsoft.com/office/drawing/2014/main" id="{259CC069-AB86-D037-56AC-F3DA79D8D6F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24542" y="2938829"/>
            <a:ext cx="504000" cy="504000"/>
          </a:xfrm>
          <a:prstGeom prst="rect">
            <a:avLst/>
          </a:prstGeom>
        </p:spPr>
      </p:pic>
      <p:pic>
        <p:nvPicPr>
          <p:cNvPr id="156" name="图形 155" descr="监视器">
            <a:extLst>
              <a:ext uri="{FF2B5EF4-FFF2-40B4-BE49-F238E27FC236}">
                <a16:creationId xmlns:a16="http://schemas.microsoft.com/office/drawing/2014/main" id="{E20E515C-6286-A38B-481A-CF1F4E9B845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28164" y="2938829"/>
            <a:ext cx="504000" cy="504000"/>
          </a:xfrm>
          <a:prstGeom prst="rect">
            <a:avLst/>
          </a:prstGeom>
        </p:spPr>
      </p:pic>
      <p:cxnSp>
        <p:nvCxnSpPr>
          <p:cNvPr id="157" name="直接连接符 156">
            <a:extLst>
              <a:ext uri="{FF2B5EF4-FFF2-40B4-BE49-F238E27FC236}">
                <a16:creationId xmlns:a16="http://schemas.microsoft.com/office/drawing/2014/main" id="{1EF2E884-CAA0-4670-CADB-67D16415D70C}"/>
              </a:ext>
            </a:extLst>
          </p:cNvPr>
          <p:cNvCxnSpPr>
            <a:cxnSpLocks/>
            <a:stCxn id="155" idx="2"/>
            <a:endCxn id="146" idx="1"/>
          </p:cNvCxnSpPr>
          <p:nvPr/>
        </p:nvCxnSpPr>
        <p:spPr>
          <a:xfrm>
            <a:off x="2676542" y="3442829"/>
            <a:ext cx="205652" cy="177633"/>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58" name="直接连接符 157">
            <a:extLst>
              <a:ext uri="{FF2B5EF4-FFF2-40B4-BE49-F238E27FC236}">
                <a16:creationId xmlns:a16="http://schemas.microsoft.com/office/drawing/2014/main" id="{800D6E73-880B-6EC3-E531-2E512C6B06C2}"/>
              </a:ext>
            </a:extLst>
          </p:cNvPr>
          <p:cNvCxnSpPr>
            <a:cxnSpLocks/>
            <a:stCxn id="149" idx="3"/>
            <a:endCxn id="156" idx="2"/>
          </p:cNvCxnSpPr>
          <p:nvPr/>
        </p:nvCxnSpPr>
        <p:spPr>
          <a:xfrm flipV="1">
            <a:off x="6143730" y="3442829"/>
            <a:ext cx="236434" cy="24432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59" name="直接连接符 158">
            <a:extLst>
              <a:ext uri="{FF2B5EF4-FFF2-40B4-BE49-F238E27FC236}">
                <a16:creationId xmlns:a16="http://schemas.microsoft.com/office/drawing/2014/main" id="{57F8B961-1492-D612-8CAB-EA01BAFBFA9E}"/>
              </a:ext>
            </a:extLst>
          </p:cNvPr>
          <p:cNvCxnSpPr>
            <a:stCxn id="150" idx="3"/>
            <a:endCxn id="149" idx="0"/>
          </p:cNvCxnSpPr>
          <p:nvPr/>
        </p:nvCxnSpPr>
        <p:spPr>
          <a:xfrm>
            <a:off x="4785767" y="2692925"/>
            <a:ext cx="1123957" cy="862065"/>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0" name="直接连接符 159">
            <a:extLst>
              <a:ext uri="{FF2B5EF4-FFF2-40B4-BE49-F238E27FC236}">
                <a16:creationId xmlns:a16="http://schemas.microsoft.com/office/drawing/2014/main" id="{09BE3221-5B29-33C1-10D3-946AAA89D9CD}"/>
              </a:ext>
            </a:extLst>
          </p:cNvPr>
          <p:cNvCxnSpPr>
            <a:stCxn id="150" idx="1"/>
            <a:endCxn id="146" idx="0"/>
          </p:cNvCxnSpPr>
          <p:nvPr/>
        </p:nvCxnSpPr>
        <p:spPr>
          <a:xfrm flipH="1">
            <a:off x="3115594" y="2692925"/>
            <a:ext cx="1202161" cy="795378"/>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1" name="直接连接符 160">
            <a:extLst>
              <a:ext uri="{FF2B5EF4-FFF2-40B4-BE49-F238E27FC236}">
                <a16:creationId xmlns:a16="http://schemas.microsoft.com/office/drawing/2014/main" id="{C221FCAB-8845-E98D-908E-A38CB7DC4E31}"/>
              </a:ext>
            </a:extLst>
          </p:cNvPr>
          <p:cNvCxnSpPr>
            <a:stCxn id="150" idx="2"/>
            <a:endCxn id="147" idx="0"/>
          </p:cNvCxnSpPr>
          <p:nvPr/>
        </p:nvCxnSpPr>
        <p:spPr>
          <a:xfrm>
            <a:off x="4551761" y="2825084"/>
            <a:ext cx="0" cy="332216"/>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2" name="直接连接符 161">
            <a:extLst>
              <a:ext uri="{FF2B5EF4-FFF2-40B4-BE49-F238E27FC236}">
                <a16:creationId xmlns:a16="http://schemas.microsoft.com/office/drawing/2014/main" id="{ABEBD37D-3452-9BDB-7A51-7797B68C3C84}"/>
              </a:ext>
            </a:extLst>
          </p:cNvPr>
          <p:cNvCxnSpPr>
            <a:stCxn id="147" idx="1"/>
            <a:endCxn id="146" idx="3"/>
          </p:cNvCxnSpPr>
          <p:nvPr/>
        </p:nvCxnSpPr>
        <p:spPr>
          <a:xfrm flipH="1">
            <a:off x="3348993" y="3290065"/>
            <a:ext cx="968762" cy="33039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3" name="直接连接符 162">
            <a:extLst>
              <a:ext uri="{FF2B5EF4-FFF2-40B4-BE49-F238E27FC236}">
                <a16:creationId xmlns:a16="http://schemas.microsoft.com/office/drawing/2014/main" id="{FD47DC14-7EDE-9227-43DE-D03C760D82AD}"/>
              </a:ext>
            </a:extLst>
          </p:cNvPr>
          <p:cNvCxnSpPr>
            <a:stCxn id="147" idx="3"/>
            <a:endCxn id="149" idx="1"/>
          </p:cNvCxnSpPr>
          <p:nvPr/>
        </p:nvCxnSpPr>
        <p:spPr>
          <a:xfrm>
            <a:off x="4785767" y="3290065"/>
            <a:ext cx="889951" cy="39708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4" name="直接连接符 163">
            <a:extLst>
              <a:ext uri="{FF2B5EF4-FFF2-40B4-BE49-F238E27FC236}">
                <a16:creationId xmlns:a16="http://schemas.microsoft.com/office/drawing/2014/main" id="{FEFD1817-AB46-0F7A-D61A-05C7A43AA320}"/>
              </a:ext>
            </a:extLst>
          </p:cNvPr>
          <p:cNvCxnSpPr>
            <a:cxnSpLocks/>
            <a:stCxn id="149" idx="2"/>
            <a:endCxn id="148" idx="3"/>
          </p:cNvCxnSpPr>
          <p:nvPr/>
        </p:nvCxnSpPr>
        <p:spPr>
          <a:xfrm flipH="1">
            <a:off x="4721506" y="3819308"/>
            <a:ext cx="1188218" cy="26492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5" name="直接连接符 164">
            <a:extLst>
              <a:ext uri="{FF2B5EF4-FFF2-40B4-BE49-F238E27FC236}">
                <a16:creationId xmlns:a16="http://schemas.microsoft.com/office/drawing/2014/main" id="{5A8A2D41-9253-E61A-B326-64A564501C98}"/>
              </a:ext>
            </a:extLst>
          </p:cNvPr>
          <p:cNvCxnSpPr>
            <a:stCxn id="146" idx="2"/>
            <a:endCxn id="148" idx="1"/>
          </p:cNvCxnSpPr>
          <p:nvPr/>
        </p:nvCxnSpPr>
        <p:spPr>
          <a:xfrm>
            <a:off x="3115594" y="3752621"/>
            <a:ext cx="1137900" cy="331611"/>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89535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1" name="Group 171"/>
          <p:cNvGraphicFramePr>
            <a:graphicFrameLocks noGrp="1"/>
          </p:cNvGraphicFramePr>
          <p:nvPr>
            <p:extLst>
              <p:ext uri="{D42A27DB-BD31-4B8C-83A1-F6EECF244321}">
                <p14:modId xmlns:p14="http://schemas.microsoft.com/office/powerpoint/2010/main" val="463419156"/>
              </p:ext>
            </p:extLst>
          </p:nvPr>
        </p:nvGraphicFramePr>
        <p:xfrm>
          <a:off x="485776" y="1036803"/>
          <a:ext cx="8172000" cy="3335319"/>
        </p:xfrm>
        <a:graphic>
          <a:graphicData uri="http://schemas.openxmlformats.org/drawingml/2006/table">
            <a:tbl>
              <a:tblPr firstRow="1" firstCol="1" bandRow="1">
                <a:tableStyleId>{7DF18680-E054-41AD-8BC1-D1AEF772440D}</a:tableStyleId>
              </a:tblPr>
              <a:tblGrid>
                <a:gridCol w="1888968">
                  <a:extLst>
                    <a:ext uri="{9D8B030D-6E8A-4147-A177-3AD203B41FA5}">
                      <a16:colId xmlns:a16="http://schemas.microsoft.com/office/drawing/2014/main" val="20000"/>
                    </a:ext>
                  </a:extLst>
                </a:gridCol>
                <a:gridCol w="3089850">
                  <a:extLst>
                    <a:ext uri="{9D8B030D-6E8A-4147-A177-3AD203B41FA5}">
                      <a16:colId xmlns:a16="http://schemas.microsoft.com/office/drawing/2014/main" val="20001"/>
                    </a:ext>
                  </a:extLst>
                </a:gridCol>
                <a:gridCol w="3193182">
                  <a:extLst>
                    <a:ext uri="{9D8B030D-6E8A-4147-A177-3AD203B41FA5}">
                      <a16:colId xmlns:a16="http://schemas.microsoft.com/office/drawing/2014/main" val="20002"/>
                    </a:ext>
                  </a:extLst>
                </a:gridCol>
              </a:tblGrid>
              <a:tr h="348279">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对比的方面</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虚电路服务</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数据报服务</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0"/>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思路</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可靠通信应当由网络来保证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可靠通信应当由用户主机来保证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1"/>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连接的建立</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必须有</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不需要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2"/>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终点地址</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仅在连接建立阶段使用，每个分组使用短的虚电路号</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每个分组都有终点的完整地址</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3"/>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分组的转发</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属于同一条虚电路的分组均按照同一路由进行转发</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每个分组独立选择路由进行转发</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4"/>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当结点出故障时</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a:ln>
                            <a:noFill/>
                          </a:ln>
                          <a:effectLst/>
                          <a:latin typeface="微软雅黑 Light" panose="020B0502040204020203" pitchFamily="34" charset="-122"/>
                          <a:ea typeface="微软雅黑 Light" panose="020B0502040204020203" pitchFamily="34" charset="-122"/>
                        </a:rPr>
                        <a:t>所有通过出故障的结点的虚电路均不能工作</a:t>
                      </a:r>
                      <a:endParaRPr kumimoji="0" lang="zh-CN" altLang="en-US" sz="1400" b="0" i="0" u="none" strike="noStrike" cap="none" normalizeH="0" baseline="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出故障的结点可能会丢失分组，一些路由可能会发生变化</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5"/>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分组的顺序</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a:ln>
                            <a:noFill/>
                          </a:ln>
                          <a:effectLst/>
                          <a:latin typeface="微软雅黑 Light" panose="020B0502040204020203" pitchFamily="34" charset="-122"/>
                          <a:ea typeface="微软雅黑 Light" panose="020B0502040204020203" pitchFamily="34" charset="-122"/>
                        </a:rPr>
                        <a:t>总是按发送顺序到达终点</a:t>
                      </a:r>
                      <a:endParaRPr kumimoji="0" lang="zh-CN" altLang="en-US" sz="1400" b="0" i="0" u="none" strike="noStrike" cap="none" normalizeH="0" baseline="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到达终点时不一定按发送顺序</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6"/>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端到端的差错处理和流量控制</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可以由网络负责，也可以由用户主机负责</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由用户主机负责</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 name="标题 1">
            <a:extLst>
              <a:ext uri="{FF2B5EF4-FFF2-40B4-BE49-F238E27FC236}">
                <a16:creationId xmlns:a16="http://schemas.microsoft.com/office/drawing/2014/main" id="{546789CF-3961-8E4E-A3AF-F56C769BB340}"/>
              </a:ext>
            </a:extLst>
          </p:cNvPr>
          <p:cNvSpPr>
            <a:spLocks noGrp="1"/>
          </p:cNvSpPr>
          <p:nvPr>
            <p:ph type="title"/>
          </p:nvPr>
        </p:nvSpPr>
        <p:spPr>
          <a:xfrm>
            <a:off x="486000" y="550723"/>
            <a:ext cx="8172000" cy="338554"/>
          </a:xfrm>
        </p:spPr>
        <p:txBody>
          <a:bodyPr/>
          <a:lstStyle/>
          <a:p>
            <a:r>
              <a:rPr lang="zh-CN" altLang="en-US" dirty="0"/>
              <a:t>虚电路服务与数据报服务的对比</a:t>
            </a:r>
          </a:p>
        </p:txBody>
      </p:sp>
    </p:spTree>
    <p:extLst>
      <p:ext uri="{BB962C8B-B14F-4D97-AF65-F5344CB8AC3E}">
        <p14:creationId xmlns:p14="http://schemas.microsoft.com/office/powerpoint/2010/main" val="15812176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981C1A48-CECB-9EC7-9BAD-29E285199E93}"/>
              </a:ext>
            </a:extLst>
          </p:cNvPr>
          <p:cNvSpPr>
            <a:spLocks noGrp="1"/>
          </p:cNvSpPr>
          <p:nvPr>
            <p:ph type="title"/>
          </p:nvPr>
        </p:nvSpPr>
        <p:spPr>
          <a:xfrm>
            <a:off x="486000" y="550723"/>
            <a:ext cx="8172000" cy="338554"/>
          </a:xfrm>
        </p:spPr>
        <p:txBody>
          <a:bodyPr/>
          <a:lstStyle/>
          <a:p>
            <a:r>
              <a:rPr lang="en-US" altLang="zh-CN" dirty="0"/>
              <a:t>4.1.2 </a:t>
            </a:r>
            <a:r>
              <a:rPr lang="zh-CN" altLang="en-US" dirty="0"/>
              <a:t>网络层的两个层面</a:t>
            </a:r>
          </a:p>
        </p:txBody>
      </p:sp>
      <p:sp>
        <p:nvSpPr>
          <p:cNvPr id="8" name="内容占位符 7">
            <a:extLst>
              <a:ext uri="{FF2B5EF4-FFF2-40B4-BE49-F238E27FC236}">
                <a16:creationId xmlns:a16="http://schemas.microsoft.com/office/drawing/2014/main" id="{FAED2DDA-78F8-5B0F-EC55-C46D397318B4}"/>
              </a:ext>
            </a:extLst>
          </p:cNvPr>
          <p:cNvSpPr>
            <a:spLocks noGrp="1"/>
          </p:cNvSpPr>
          <p:nvPr>
            <p:ph sz="quarter" idx="11"/>
          </p:nvPr>
        </p:nvSpPr>
        <p:spPr>
          <a:xfrm>
            <a:off x="486000" y="900000"/>
            <a:ext cx="8172000" cy="3703500"/>
          </a:xfrm>
        </p:spPr>
        <p:txBody>
          <a:bodyPr/>
          <a:lstStyle/>
          <a:p>
            <a:r>
              <a:rPr lang="zh-CN" altLang="en-US" dirty="0"/>
              <a:t>不同网络中的两个主机之间的通信，要经过若干个路由器转发分组来完成</a:t>
            </a:r>
            <a:endParaRPr lang="en-US" altLang="zh-CN" dirty="0"/>
          </a:p>
          <a:p>
            <a:r>
              <a:rPr lang="zh-CN" altLang="en-US" dirty="0"/>
              <a:t>在路由器之间传送的信息有以下 </a:t>
            </a:r>
            <a:r>
              <a:rPr lang="en-US" altLang="zh-CN" dirty="0"/>
              <a:t>2 </a:t>
            </a:r>
            <a:r>
              <a:rPr lang="zh-CN" altLang="en-US" dirty="0"/>
              <a:t>大类：</a:t>
            </a:r>
          </a:p>
          <a:p>
            <a:pPr lvl="1"/>
            <a:r>
              <a:rPr lang="zh-CN" altLang="en-US" dirty="0"/>
              <a:t>数据</a:t>
            </a:r>
          </a:p>
          <a:p>
            <a:pPr lvl="1"/>
            <a:r>
              <a:rPr lang="zh-CN" altLang="en-US" dirty="0"/>
              <a:t>路由信息（为数据传送服务）</a:t>
            </a:r>
            <a:endParaRPr lang="en-US" altLang="zh-CN" dirty="0"/>
          </a:p>
          <a:p>
            <a:endParaRPr lang="zh-CN" altLang="en-US" dirty="0"/>
          </a:p>
        </p:txBody>
      </p:sp>
    </p:spTree>
    <p:extLst>
      <p:ext uri="{BB962C8B-B14F-4D97-AF65-F5344CB8AC3E}">
        <p14:creationId xmlns:p14="http://schemas.microsoft.com/office/powerpoint/2010/main" val="25441940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0" name="组合 99"/>
          <p:cNvGrpSpPr/>
          <p:nvPr/>
        </p:nvGrpSpPr>
        <p:grpSpPr>
          <a:xfrm>
            <a:off x="747560" y="1893219"/>
            <a:ext cx="7040366" cy="2667520"/>
            <a:chOff x="957532" y="1263300"/>
            <a:chExt cx="7040366" cy="2667520"/>
          </a:xfrm>
        </p:grpSpPr>
        <p:sp>
          <p:nvSpPr>
            <p:cNvPr id="6"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9"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0"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1"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2"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3"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5"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6"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17" name="Picture 109"/>
            <p:cNvPicPr>
              <a:picLocks noChangeArrowheads="1"/>
            </p:cNvPicPr>
            <p:nvPr/>
          </p:nvPicPr>
          <p:blipFill>
            <a:blip r:embed="rId2" cstate="print"/>
            <a:srcRect/>
            <a:stretch>
              <a:fillRect/>
            </a:stretch>
          </p:blipFill>
          <p:spPr bwMode="auto">
            <a:xfrm>
              <a:off x="3609787" y="3427534"/>
              <a:ext cx="520700" cy="287337"/>
            </a:xfrm>
            <a:prstGeom prst="rect">
              <a:avLst/>
            </a:prstGeom>
            <a:noFill/>
            <a:ln w="12699">
              <a:noFill/>
              <a:miter lim="800000"/>
              <a:headEnd/>
              <a:tailEnd/>
            </a:ln>
          </p:spPr>
        </p:pic>
        <p:pic>
          <p:nvPicPr>
            <p:cNvPr id="18" name="Picture 110"/>
            <p:cNvPicPr>
              <a:picLocks noChangeArrowheads="1"/>
            </p:cNvPicPr>
            <p:nvPr/>
          </p:nvPicPr>
          <p:blipFill>
            <a:blip r:embed="rId2" cstate="print"/>
            <a:srcRect/>
            <a:stretch>
              <a:fillRect/>
            </a:stretch>
          </p:blipFill>
          <p:spPr bwMode="auto">
            <a:xfrm>
              <a:off x="5642481" y="3283443"/>
              <a:ext cx="520700" cy="287337"/>
            </a:xfrm>
            <a:prstGeom prst="rect">
              <a:avLst/>
            </a:prstGeom>
            <a:noFill/>
            <a:ln w="12699">
              <a:noFill/>
              <a:miter lim="800000"/>
              <a:headEnd/>
              <a:tailEnd/>
            </a:ln>
          </p:spPr>
        </p:pic>
        <p:pic>
          <p:nvPicPr>
            <p:cNvPr id="19" name="Picture 111"/>
            <p:cNvPicPr>
              <a:picLocks noChangeArrowheads="1"/>
            </p:cNvPicPr>
            <p:nvPr/>
          </p:nvPicPr>
          <p:blipFill>
            <a:blip r:embed="rId2" cstate="print"/>
            <a:srcRect/>
            <a:stretch>
              <a:fillRect/>
            </a:stretch>
          </p:blipFill>
          <p:spPr bwMode="auto">
            <a:xfrm>
              <a:off x="5066417" y="3643483"/>
              <a:ext cx="520700" cy="287337"/>
            </a:xfrm>
            <a:prstGeom prst="rect">
              <a:avLst/>
            </a:prstGeom>
            <a:noFill/>
            <a:ln w="12699">
              <a:noFill/>
              <a:miter lim="800000"/>
              <a:headEnd/>
              <a:tailEnd/>
            </a:ln>
          </p:spPr>
        </p:pic>
        <p:pic>
          <p:nvPicPr>
            <p:cNvPr id="20" name="Picture 112"/>
            <p:cNvPicPr>
              <a:picLocks noChangeArrowheads="1"/>
            </p:cNvPicPr>
            <p:nvPr/>
          </p:nvPicPr>
          <p:blipFill>
            <a:blip r:embed="rId2" cstate="print"/>
            <a:srcRect/>
            <a:stretch>
              <a:fillRect/>
            </a:stretch>
          </p:blipFill>
          <p:spPr bwMode="auto">
            <a:xfrm>
              <a:off x="6722874" y="3500559"/>
              <a:ext cx="520700" cy="287337"/>
            </a:xfrm>
            <a:prstGeom prst="rect">
              <a:avLst/>
            </a:prstGeom>
            <a:noFill/>
            <a:ln w="12699">
              <a:noFill/>
              <a:miter lim="800000"/>
              <a:headEnd/>
              <a:tailEnd/>
            </a:ln>
          </p:spPr>
        </p:pic>
        <p:pic>
          <p:nvPicPr>
            <p:cNvPr id="21" name="Picture 113"/>
            <p:cNvPicPr>
              <a:picLocks noChangeArrowheads="1"/>
            </p:cNvPicPr>
            <p:nvPr/>
          </p:nvPicPr>
          <p:blipFill>
            <a:blip r:embed="rId2" cstate="print"/>
            <a:srcRect/>
            <a:stretch>
              <a:fillRect/>
            </a:stretch>
          </p:blipFill>
          <p:spPr bwMode="auto">
            <a:xfrm>
              <a:off x="4418345" y="2635371"/>
              <a:ext cx="520700" cy="287338"/>
            </a:xfrm>
            <a:prstGeom prst="rect">
              <a:avLst/>
            </a:prstGeom>
            <a:noFill/>
            <a:ln w="12699">
              <a:noFill/>
              <a:miter lim="800000"/>
              <a:headEnd/>
              <a:tailEnd/>
            </a:ln>
          </p:spPr>
        </p:pic>
        <p:pic>
          <p:nvPicPr>
            <p:cNvPr id="22" name="Picture 113"/>
            <p:cNvPicPr>
              <a:picLocks noChangeArrowheads="1"/>
            </p:cNvPicPr>
            <p:nvPr/>
          </p:nvPicPr>
          <p:blipFill>
            <a:blip r:embed="rId2" cstate="print"/>
            <a:srcRect/>
            <a:stretch>
              <a:fillRect/>
            </a:stretch>
          </p:blipFill>
          <p:spPr bwMode="auto">
            <a:xfrm>
              <a:off x="3557370" y="1365789"/>
              <a:ext cx="351656" cy="189462"/>
            </a:xfrm>
            <a:prstGeom prst="rect">
              <a:avLst/>
            </a:prstGeom>
            <a:noFill/>
            <a:ln w="12699">
              <a:noFill/>
              <a:miter lim="800000"/>
              <a:headEnd/>
              <a:tailEnd/>
            </a:ln>
          </p:spPr>
        </p:pic>
        <p:sp>
          <p:nvSpPr>
            <p:cNvPr id="23" name="矩形 22"/>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24" name="直接连接符 23"/>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椭圆 28"/>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30" name="下箭头 29"/>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31" name="Picture 113"/>
            <p:cNvPicPr>
              <a:picLocks noChangeArrowheads="1"/>
            </p:cNvPicPr>
            <p:nvPr/>
          </p:nvPicPr>
          <p:blipFill>
            <a:blip r:embed="rId2" cstate="print"/>
            <a:srcRect/>
            <a:stretch>
              <a:fillRect/>
            </a:stretch>
          </p:blipFill>
          <p:spPr bwMode="auto">
            <a:xfrm>
              <a:off x="4423607" y="1365789"/>
              <a:ext cx="351656" cy="189462"/>
            </a:xfrm>
            <a:prstGeom prst="rect">
              <a:avLst/>
            </a:prstGeom>
            <a:noFill/>
            <a:ln w="12699">
              <a:noFill/>
              <a:miter lim="800000"/>
              <a:headEnd/>
              <a:tailEnd/>
            </a:ln>
          </p:spPr>
        </p:pic>
        <p:sp>
          <p:nvSpPr>
            <p:cNvPr id="32" name="矩形 31"/>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33" name="直接连接符 32"/>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8" name="椭圆 37"/>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39" name="下箭头 38"/>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40" name="Picture 113"/>
            <p:cNvPicPr>
              <a:picLocks noChangeArrowheads="1"/>
            </p:cNvPicPr>
            <p:nvPr/>
          </p:nvPicPr>
          <p:blipFill>
            <a:blip r:embed="rId2" cstate="print"/>
            <a:srcRect/>
            <a:stretch>
              <a:fillRect/>
            </a:stretch>
          </p:blipFill>
          <p:spPr bwMode="auto">
            <a:xfrm>
              <a:off x="5143687" y="1365789"/>
              <a:ext cx="351656" cy="189462"/>
            </a:xfrm>
            <a:prstGeom prst="rect">
              <a:avLst/>
            </a:prstGeom>
            <a:noFill/>
            <a:ln w="12699">
              <a:noFill/>
              <a:miter lim="800000"/>
              <a:headEnd/>
              <a:tailEnd/>
            </a:ln>
          </p:spPr>
        </p:pic>
        <p:sp>
          <p:nvSpPr>
            <p:cNvPr id="41" name="矩形 40"/>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42" name="直接连接符 41"/>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7" name="椭圆 46"/>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48" name="下箭头 47"/>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49" name="Picture 113"/>
            <p:cNvPicPr>
              <a:picLocks noChangeArrowheads="1"/>
            </p:cNvPicPr>
            <p:nvPr/>
          </p:nvPicPr>
          <p:blipFill>
            <a:blip r:embed="rId2" cstate="print"/>
            <a:srcRect/>
            <a:stretch>
              <a:fillRect/>
            </a:stretch>
          </p:blipFill>
          <p:spPr bwMode="auto">
            <a:xfrm>
              <a:off x="6727863" y="1365789"/>
              <a:ext cx="351656" cy="189462"/>
            </a:xfrm>
            <a:prstGeom prst="rect">
              <a:avLst/>
            </a:prstGeom>
            <a:noFill/>
            <a:ln w="12699">
              <a:noFill/>
              <a:miter lim="800000"/>
              <a:headEnd/>
              <a:tailEnd/>
            </a:ln>
          </p:spPr>
        </p:pic>
        <p:sp>
          <p:nvSpPr>
            <p:cNvPr id="50" name="矩形 49"/>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51" name="直接连接符 50"/>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直接连接符 51"/>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6" name="椭圆 55"/>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57" name="下箭头 56"/>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58" name="Picture 113"/>
            <p:cNvPicPr>
              <a:picLocks noChangeArrowheads="1"/>
            </p:cNvPicPr>
            <p:nvPr/>
          </p:nvPicPr>
          <p:blipFill>
            <a:blip r:embed="rId2" cstate="print"/>
            <a:srcRect/>
            <a:stretch>
              <a:fillRect/>
            </a:stretch>
          </p:blipFill>
          <p:spPr bwMode="auto">
            <a:xfrm>
              <a:off x="5791759" y="1365789"/>
              <a:ext cx="351656" cy="189462"/>
            </a:xfrm>
            <a:prstGeom prst="rect">
              <a:avLst/>
            </a:prstGeom>
            <a:noFill/>
            <a:ln w="12699">
              <a:noFill/>
              <a:miter lim="800000"/>
              <a:headEnd/>
              <a:tailEnd/>
            </a:ln>
          </p:spPr>
        </p:pic>
        <p:sp>
          <p:nvSpPr>
            <p:cNvPr id="59" name="矩形 58"/>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60" name="直接连接符 59"/>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直接连接符 60"/>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5" name="椭圆 64"/>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66" name="下箭头 65"/>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67" name="TextBox 175"/>
            <p:cNvSpPr txBox="1"/>
            <p:nvPr/>
          </p:nvSpPr>
          <p:spPr>
            <a:xfrm>
              <a:off x="2215359" y="1542425"/>
              <a:ext cx="1107996"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路由选择算法</a:t>
              </a:r>
            </a:p>
          </p:txBody>
        </p:sp>
        <p:sp>
          <p:nvSpPr>
            <p:cNvPr id="68" name="TextBox 176"/>
            <p:cNvSpPr txBox="1"/>
            <p:nvPr/>
          </p:nvSpPr>
          <p:spPr>
            <a:xfrm>
              <a:off x="2635594" y="2103292"/>
              <a:ext cx="646331"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转发表</a:t>
              </a:r>
            </a:p>
          </p:txBody>
        </p:sp>
        <p:cxnSp>
          <p:nvCxnSpPr>
            <p:cNvPr id="69" name="直接连接符 68"/>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0" name="TextBox 179"/>
            <p:cNvSpPr txBox="1"/>
            <p:nvPr/>
          </p:nvSpPr>
          <p:spPr>
            <a:xfrm>
              <a:off x="1249993" y="1593350"/>
              <a:ext cx="1049536" cy="276999"/>
            </a:xfrm>
            <a:prstGeom prst="rect">
              <a:avLst/>
            </a:prstGeom>
            <a:solidFill>
              <a:srgbClr val="33CC33"/>
            </a:solidFill>
            <a:ln>
              <a:noFill/>
            </a:ln>
          </p:spPr>
          <p:txBody>
            <a:bodyPr wrap="square" rtlCol="0">
              <a:spAutoFit/>
            </a:bodyPr>
            <a:lstStyle/>
            <a:p>
              <a:pPr algn="ctr"/>
              <a:r>
                <a:rPr lang="zh-CN" altLang="en-US" sz="12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71" name="TextBox 180"/>
            <p:cNvSpPr txBox="1"/>
            <p:nvPr/>
          </p:nvSpPr>
          <p:spPr>
            <a:xfrm>
              <a:off x="1249993" y="1966408"/>
              <a:ext cx="1049536" cy="276999"/>
            </a:xfrm>
            <a:prstGeom prst="rect">
              <a:avLst/>
            </a:prstGeom>
            <a:solidFill>
              <a:schemeClr val="accent6">
                <a:lumMod val="75000"/>
              </a:schemeClr>
            </a:solidFill>
          </p:spPr>
          <p:txBody>
            <a:bodyPr wrap="square" rtlCol="0">
              <a:spAutoFit/>
            </a:bodyPr>
            <a:lstStyle/>
            <a:p>
              <a:pPr algn="ctr"/>
              <a:r>
                <a:rPr lang="zh-CN" altLang="en-US" sz="1200" dirty="0">
                  <a:solidFill>
                    <a:schemeClr val="bg1"/>
                  </a:solidFill>
                  <a:latin typeface="微软雅黑 Light" panose="020B0502040204020203" pitchFamily="34" charset="-122"/>
                  <a:ea typeface="微软雅黑 Light" panose="020B0502040204020203" pitchFamily="34" charset="-122"/>
                </a:rPr>
                <a:t>数据层面</a:t>
              </a:r>
            </a:p>
          </p:txBody>
        </p:sp>
        <p:cxnSp>
          <p:nvCxnSpPr>
            <p:cNvPr id="72" name="直接箭头连接符 71"/>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3" name="直接箭头连接符 72"/>
            <p:cNvCxnSpPr>
              <a:endCxn id="20"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flipV="1">
              <a:off x="3205872" y="2249184"/>
              <a:ext cx="288000"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grpSp>
          <p:nvGrpSpPr>
            <p:cNvPr id="84" name="组合 83"/>
            <p:cNvGrpSpPr/>
            <p:nvPr/>
          </p:nvGrpSpPr>
          <p:grpSpPr>
            <a:xfrm>
              <a:off x="1062847" y="1301094"/>
              <a:ext cx="206062" cy="1296142"/>
              <a:chOff x="199861" y="2026470"/>
              <a:chExt cx="288414" cy="1440153"/>
            </a:xfrm>
          </p:grpSpPr>
          <p:sp>
            <p:nvSpPr>
              <p:cNvPr id="85" name="上箭头 84"/>
              <p:cNvSpPr/>
              <p:nvPr/>
            </p:nvSpPr>
            <p:spPr>
              <a:xfrm>
                <a:off x="199861" y="2026470"/>
                <a:ext cx="288032" cy="688443"/>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6" name="上箭头 85"/>
              <p:cNvSpPr/>
              <p:nvPr/>
            </p:nvSpPr>
            <p:spPr>
              <a:xfrm flipV="1">
                <a:off x="200243" y="2775114"/>
                <a:ext cx="288032" cy="691509"/>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grpSp>
        <p:pic>
          <p:nvPicPr>
            <p:cNvPr id="8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97" name="直接箭头连接符 96"/>
            <p:cNvCxnSpPr/>
            <p:nvPr/>
          </p:nvCxnSpPr>
          <p:spPr>
            <a:xfrm flipV="1">
              <a:off x="3205872" y="1688364"/>
              <a:ext cx="288000"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4" name="标题 3">
            <a:extLst>
              <a:ext uri="{FF2B5EF4-FFF2-40B4-BE49-F238E27FC236}">
                <a16:creationId xmlns:a16="http://schemas.microsoft.com/office/drawing/2014/main" id="{4AE10CB1-C9DC-6015-61B9-4E4CE7103FDC}"/>
              </a:ext>
            </a:extLst>
          </p:cNvPr>
          <p:cNvSpPr>
            <a:spLocks noGrp="1"/>
          </p:cNvSpPr>
          <p:nvPr>
            <p:ph type="title"/>
          </p:nvPr>
        </p:nvSpPr>
        <p:spPr>
          <a:xfrm>
            <a:off x="486000" y="550723"/>
            <a:ext cx="8172000" cy="338554"/>
          </a:xfrm>
        </p:spPr>
        <p:txBody>
          <a:bodyPr/>
          <a:lstStyle/>
          <a:p>
            <a:r>
              <a:rPr lang="en-US" altLang="zh-CN" dirty="0"/>
              <a:t>4.1.2 </a:t>
            </a:r>
            <a:r>
              <a:rPr lang="zh-CN" altLang="en-US" dirty="0"/>
              <a:t>网络层的两个层面</a:t>
            </a:r>
          </a:p>
        </p:txBody>
      </p:sp>
      <p:sp>
        <p:nvSpPr>
          <p:cNvPr id="8" name="内容占位符 7">
            <a:extLst>
              <a:ext uri="{FF2B5EF4-FFF2-40B4-BE49-F238E27FC236}">
                <a16:creationId xmlns:a16="http://schemas.microsoft.com/office/drawing/2014/main" id="{7E825706-B7DB-67EB-4B8D-F01EC462303C}"/>
              </a:ext>
            </a:extLst>
          </p:cNvPr>
          <p:cNvSpPr>
            <a:spLocks noGrp="1"/>
          </p:cNvSpPr>
          <p:nvPr>
            <p:ph sz="quarter" idx="11"/>
          </p:nvPr>
        </p:nvSpPr>
        <p:spPr>
          <a:xfrm>
            <a:off x="486000" y="900000"/>
            <a:ext cx="8172000" cy="3703500"/>
          </a:xfrm>
        </p:spPr>
        <p:txBody>
          <a:bodyPr/>
          <a:lstStyle/>
          <a:p>
            <a:r>
              <a:rPr lang="zh-CN" altLang="en-US" dirty="0"/>
              <a:t>网络层的 </a:t>
            </a:r>
            <a:r>
              <a:rPr lang="en-US" altLang="zh-CN" dirty="0"/>
              <a:t>2 </a:t>
            </a:r>
            <a:r>
              <a:rPr lang="zh-CN" altLang="en-US" dirty="0"/>
              <a:t>个层面：数据层面和控制层面</a:t>
            </a:r>
          </a:p>
          <a:p>
            <a:endParaRPr lang="zh-CN" altLang="en-US" dirty="0"/>
          </a:p>
        </p:txBody>
      </p:sp>
    </p:spTree>
    <p:extLst>
      <p:ext uri="{BB962C8B-B14F-4D97-AF65-F5344CB8AC3E}">
        <p14:creationId xmlns:p14="http://schemas.microsoft.com/office/powerpoint/2010/main" val="41355071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图示 4"/>
          <p:cNvGraphicFramePr/>
          <p:nvPr>
            <p:extLst>
              <p:ext uri="{D42A27DB-BD31-4B8C-83A1-F6EECF244321}">
                <p14:modId xmlns:p14="http://schemas.microsoft.com/office/powerpoint/2010/main" val="1942780655"/>
              </p:ext>
            </p:extLst>
          </p:nvPr>
        </p:nvGraphicFramePr>
        <p:xfrm>
          <a:off x="485775" y="1130957"/>
          <a:ext cx="8172450" cy="28026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15F21A1C-5EBC-1B2A-C1B5-5EF4CF2607C7}"/>
              </a:ext>
            </a:extLst>
          </p:cNvPr>
          <p:cNvSpPr>
            <a:spLocks noGrp="1"/>
          </p:cNvSpPr>
          <p:nvPr>
            <p:ph type="title"/>
          </p:nvPr>
        </p:nvSpPr>
        <p:spPr>
          <a:xfrm>
            <a:off x="485775" y="550863"/>
            <a:ext cx="8172450" cy="338137"/>
          </a:xfrm>
        </p:spPr>
        <p:txBody>
          <a:bodyPr/>
          <a:lstStyle/>
          <a:p>
            <a:r>
              <a:rPr lang="zh-CN" altLang="en-US" dirty="0"/>
              <a:t>数据层面和控制层面</a:t>
            </a:r>
          </a:p>
        </p:txBody>
      </p:sp>
    </p:spTree>
    <p:extLst>
      <p:ext uri="{BB962C8B-B14F-4D97-AF65-F5344CB8AC3E}">
        <p14:creationId xmlns:p14="http://schemas.microsoft.com/office/powerpoint/2010/main" val="26220446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 name="矩形 90"/>
          <p:cNvSpPr/>
          <p:nvPr/>
        </p:nvSpPr>
        <p:spPr>
          <a:xfrm>
            <a:off x="2089351" y="4204954"/>
            <a:ext cx="4965299" cy="307777"/>
          </a:xfrm>
          <a:prstGeom prst="rect">
            <a:avLst/>
          </a:prstGeom>
        </p:spPr>
        <p:txBody>
          <a:bodyPr wrap="square">
            <a:spAutoFit/>
          </a:bodyPr>
          <a:lstStyle/>
          <a:p>
            <a:pPr algn="ctr"/>
            <a:r>
              <a:rPr lang="zh-CN" altLang="en-US" sz="1400" dirty="0">
                <a:latin typeface="Montserrat" panose="00000500000000000000" pitchFamily="2" charset="0"/>
                <a:ea typeface="微软雅黑 Light" panose="020B0502040204020203" pitchFamily="34" charset="-122"/>
              </a:rPr>
              <a:t>软件定义网络 </a:t>
            </a:r>
            <a:r>
              <a:rPr lang="en-US" altLang="zh-CN" sz="1400" dirty="0">
                <a:latin typeface="Montserrat" panose="00000500000000000000" pitchFamily="2" charset="0"/>
                <a:ea typeface="微软雅黑 Light" panose="020B0502040204020203" pitchFamily="34" charset="-122"/>
              </a:rPr>
              <a:t>SDN </a:t>
            </a:r>
            <a:r>
              <a:rPr lang="zh-CN" altLang="en-US" sz="1400" dirty="0">
                <a:latin typeface="Montserrat" panose="00000500000000000000" pitchFamily="2" charset="0"/>
                <a:ea typeface="微软雅黑 Light" panose="020B0502040204020203" pitchFamily="34" charset="-122"/>
              </a:rPr>
              <a:t>中的数据层面和控制层面</a:t>
            </a:r>
          </a:p>
        </p:txBody>
      </p:sp>
      <p:grpSp>
        <p:nvGrpSpPr>
          <p:cNvPr id="173" name="组合 172"/>
          <p:cNvGrpSpPr/>
          <p:nvPr/>
        </p:nvGrpSpPr>
        <p:grpSpPr>
          <a:xfrm>
            <a:off x="845397" y="1226469"/>
            <a:ext cx="6944264" cy="2784814"/>
            <a:chOff x="1009291" y="1226469"/>
            <a:chExt cx="6944264" cy="2784814"/>
          </a:xfrm>
        </p:grpSpPr>
        <p:sp>
          <p:nvSpPr>
            <p:cNvPr id="92" name="Line 107"/>
            <p:cNvSpPr>
              <a:spLocks noChangeShapeType="1"/>
            </p:cNvSpPr>
            <p:nvPr/>
          </p:nvSpPr>
          <p:spPr bwMode="auto">
            <a:xfrm flipH="1">
              <a:off x="2970733" y="1637707"/>
              <a:ext cx="269479" cy="276607"/>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3" name="Line 107"/>
            <p:cNvSpPr>
              <a:spLocks noChangeShapeType="1"/>
            </p:cNvSpPr>
            <p:nvPr/>
          </p:nvSpPr>
          <p:spPr bwMode="auto">
            <a:xfrm flipH="1" flipV="1">
              <a:off x="6926882" y="1583226"/>
              <a:ext cx="372154" cy="354179"/>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4" name="Line 151"/>
            <p:cNvSpPr>
              <a:spLocks noChangeShapeType="1"/>
            </p:cNvSpPr>
            <p:nvPr/>
          </p:nvSpPr>
          <p:spPr bwMode="auto">
            <a:xfrm>
              <a:off x="4647850" y="3049391"/>
              <a:ext cx="871395" cy="4491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5" name="Line 79"/>
            <p:cNvSpPr>
              <a:spLocks noChangeShapeType="1"/>
            </p:cNvSpPr>
            <p:nvPr/>
          </p:nvSpPr>
          <p:spPr bwMode="auto">
            <a:xfrm>
              <a:off x="3053041" y="3468017"/>
              <a:ext cx="589747" cy="22351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7" name="Line 99"/>
            <p:cNvSpPr>
              <a:spLocks noChangeShapeType="1"/>
            </p:cNvSpPr>
            <p:nvPr/>
          </p:nvSpPr>
          <p:spPr bwMode="auto">
            <a:xfrm>
              <a:off x="3843486" y="3755233"/>
              <a:ext cx="1206801" cy="191773"/>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8" name="Line 100"/>
            <p:cNvSpPr>
              <a:spLocks noChangeShapeType="1"/>
            </p:cNvSpPr>
            <p:nvPr/>
          </p:nvSpPr>
          <p:spPr bwMode="auto">
            <a:xfrm flipV="1">
              <a:off x="3843763" y="3562729"/>
              <a:ext cx="1675482" cy="12879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9" name="Line 101"/>
            <p:cNvSpPr>
              <a:spLocks noChangeShapeType="1"/>
            </p:cNvSpPr>
            <p:nvPr/>
          </p:nvSpPr>
          <p:spPr bwMode="auto">
            <a:xfrm>
              <a:off x="5787367" y="3562730"/>
              <a:ext cx="871534" cy="19245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0" name="Line 102"/>
            <p:cNvSpPr>
              <a:spLocks noChangeShapeType="1"/>
            </p:cNvSpPr>
            <p:nvPr/>
          </p:nvSpPr>
          <p:spPr bwMode="auto">
            <a:xfrm flipV="1">
              <a:off x="5318154" y="3820263"/>
              <a:ext cx="1340746" cy="1274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1" name="Line 103"/>
            <p:cNvSpPr>
              <a:spLocks noChangeShapeType="1"/>
            </p:cNvSpPr>
            <p:nvPr/>
          </p:nvSpPr>
          <p:spPr bwMode="auto">
            <a:xfrm flipV="1">
              <a:off x="6725399" y="3422535"/>
              <a:ext cx="690157" cy="33265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3" name="Line 107"/>
            <p:cNvSpPr>
              <a:spLocks noChangeShapeType="1"/>
            </p:cNvSpPr>
            <p:nvPr/>
          </p:nvSpPr>
          <p:spPr bwMode="auto">
            <a:xfrm flipV="1">
              <a:off x="3843763" y="3049390"/>
              <a:ext cx="602996" cy="578477"/>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4" name="Line 108"/>
            <p:cNvSpPr>
              <a:spLocks noChangeShapeType="1"/>
            </p:cNvSpPr>
            <p:nvPr/>
          </p:nvSpPr>
          <p:spPr bwMode="auto">
            <a:xfrm>
              <a:off x="4781911" y="2985224"/>
              <a:ext cx="1943489" cy="706305"/>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pic>
          <p:nvPicPr>
            <p:cNvPr id="105" name="Picture 109"/>
            <p:cNvPicPr>
              <a:picLocks noChangeArrowheads="1"/>
            </p:cNvPicPr>
            <p:nvPr/>
          </p:nvPicPr>
          <p:blipFill>
            <a:blip r:embed="rId3" cstate="print"/>
            <a:srcRect/>
            <a:stretch>
              <a:fillRect/>
            </a:stretch>
          </p:blipFill>
          <p:spPr bwMode="auto">
            <a:xfrm>
              <a:off x="3560033" y="3562797"/>
              <a:ext cx="484706" cy="256050"/>
            </a:xfrm>
            <a:prstGeom prst="rect">
              <a:avLst/>
            </a:prstGeom>
            <a:noFill/>
            <a:ln w="12699">
              <a:noFill/>
              <a:miter lim="800000"/>
              <a:headEnd/>
              <a:tailEnd/>
            </a:ln>
          </p:spPr>
        </p:pic>
        <p:pic>
          <p:nvPicPr>
            <p:cNvPr id="106" name="Picture 110"/>
            <p:cNvPicPr>
              <a:picLocks noChangeArrowheads="1"/>
            </p:cNvPicPr>
            <p:nvPr/>
          </p:nvPicPr>
          <p:blipFill>
            <a:blip r:embed="rId3" cstate="print"/>
            <a:srcRect/>
            <a:stretch>
              <a:fillRect/>
            </a:stretch>
          </p:blipFill>
          <p:spPr bwMode="auto">
            <a:xfrm>
              <a:off x="5452215" y="3434395"/>
              <a:ext cx="484706" cy="256050"/>
            </a:xfrm>
            <a:prstGeom prst="rect">
              <a:avLst/>
            </a:prstGeom>
            <a:noFill/>
            <a:ln w="12699">
              <a:noFill/>
              <a:miter lim="800000"/>
              <a:headEnd/>
              <a:tailEnd/>
            </a:ln>
          </p:spPr>
        </p:pic>
        <p:pic>
          <p:nvPicPr>
            <p:cNvPr id="107" name="Picture 111"/>
            <p:cNvPicPr>
              <a:picLocks noChangeArrowheads="1"/>
            </p:cNvPicPr>
            <p:nvPr/>
          </p:nvPicPr>
          <p:blipFill>
            <a:blip r:embed="rId3" cstate="print"/>
            <a:srcRect/>
            <a:stretch>
              <a:fillRect/>
            </a:stretch>
          </p:blipFill>
          <p:spPr bwMode="auto">
            <a:xfrm>
              <a:off x="4915972" y="3755233"/>
              <a:ext cx="484706" cy="256050"/>
            </a:xfrm>
            <a:prstGeom prst="rect">
              <a:avLst/>
            </a:prstGeom>
            <a:noFill/>
            <a:ln w="12699">
              <a:noFill/>
              <a:miter lim="800000"/>
              <a:headEnd/>
              <a:tailEnd/>
            </a:ln>
          </p:spPr>
        </p:pic>
        <p:pic>
          <p:nvPicPr>
            <p:cNvPr id="108" name="Picture 112"/>
            <p:cNvPicPr>
              <a:picLocks noChangeArrowheads="1"/>
            </p:cNvPicPr>
            <p:nvPr/>
          </p:nvPicPr>
          <p:blipFill>
            <a:blip r:embed="rId3" cstate="print"/>
            <a:srcRect/>
            <a:stretch>
              <a:fillRect/>
            </a:stretch>
          </p:blipFill>
          <p:spPr bwMode="auto">
            <a:xfrm>
              <a:off x="6457925" y="3627871"/>
              <a:ext cx="484706" cy="256050"/>
            </a:xfrm>
            <a:prstGeom prst="rect">
              <a:avLst/>
            </a:prstGeom>
            <a:noFill/>
            <a:ln w="12699">
              <a:noFill/>
              <a:miter lim="800000"/>
              <a:headEnd/>
              <a:tailEnd/>
            </a:ln>
          </p:spPr>
        </p:pic>
        <p:pic>
          <p:nvPicPr>
            <p:cNvPr id="109" name="Picture 113"/>
            <p:cNvPicPr>
              <a:picLocks noChangeArrowheads="1"/>
            </p:cNvPicPr>
            <p:nvPr/>
          </p:nvPicPr>
          <p:blipFill>
            <a:blip r:embed="rId3" cstate="print"/>
            <a:srcRect/>
            <a:stretch>
              <a:fillRect/>
            </a:stretch>
          </p:blipFill>
          <p:spPr bwMode="auto">
            <a:xfrm>
              <a:off x="4312698" y="2856889"/>
              <a:ext cx="484706" cy="256051"/>
            </a:xfrm>
            <a:prstGeom prst="rect">
              <a:avLst/>
            </a:prstGeom>
            <a:noFill/>
            <a:ln w="12699">
              <a:noFill/>
              <a:miter lim="800000"/>
              <a:headEnd/>
              <a:tailEnd/>
            </a:ln>
          </p:spPr>
        </p:pic>
        <p:sp>
          <p:nvSpPr>
            <p:cNvPr id="110" name="矩形 109"/>
            <p:cNvSpPr/>
            <p:nvPr/>
          </p:nvSpPr>
          <p:spPr>
            <a:xfrm>
              <a:off x="357436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11" name="直接连接符 110"/>
            <p:cNvCxnSpPr/>
            <p:nvPr/>
          </p:nvCxnSpPr>
          <p:spPr>
            <a:xfrm>
              <a:off x="357436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直接连接符 111"/>
            <p:cNvCxnSpPr/>
            <p:nvPr/>
          </p:nvCxnSpPr>
          <p:spPr>
            <a:xfrm>
              <a:off x="357436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 name="直接连接符 112"/>
            <p:cNvCxnSpPr/>
            <p:nvPr/>
          </p:nvCxnSpPr>
          <p:spPr>
            <a:xfrm>
              <a:off x="357436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57436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p:nvPr/>
          </p:nvCxnSpPr>
          <p:spPr>
            <a:xfrm>
              <a:off x="3674913"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16" name="矩形 115"/>
            <p:cNvSpPr/>
            <p:nvPr/>
          </p:nvSpPr>
          <p:spPr>
            <a:xfrm>
              <a:off x="438072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17" name="直接连接符 116"/>
            <p:cNvCxnSpPr/>
            <p:nvPr/>
          </p:nvCxnSpPr>
          <p:spPr>
            <a:xfrm>
              <a:off x="438072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8" name="直接连接符 117"/>
            <p:cNvCxnSpPr/>
            <p:nvPr/>
          </p:nvCxnSpPr>
          <p:spPr>
            <a:xfrm>
              <a:off x="438072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9" name="直接连接符 118"/>
            <p:cNvCxnSpPr/>
            <p:nvPr/>
          </p:nvCxnSpPr>
          <p:spPr>
            <a:xfrm>
              <a:off x="438072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0" name="直接连接符 119"/>
            <p:cNvCxnSpPr/>
            <p:nvPr/>
          </p:nvCxnSpPr>
          <p:spPr>
            <a:xfrm>
              <a:off x="438072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1" name="直接连接符 120"/>
            <p:cNvCxnSpPr/>
            <p:nvPr/>
          </p:nvCxnSpPr>
          <p:spPr>
            <a:xfrm>
              <a:off x="448127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2" name="矩形 121"/>
            <p:cNvSpPr/>
            <p:nvPr/>
          </p:nvSpPr>
          <p:spPr>
            <a:xfrm>
              <a:off x="5051029"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23" name="直接连接符 122"/>
            <p:cNvCxnSpPr/>
            <p:nvPr/>
          </p:nvCxnSpPr>
          <p:spPr>
            <a:xfrm>
              <a:off x="5051029"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4" name="直接连接符 123"/>
            <p:cNvCxnSpPr/>
            <p:nvPr/>
          </p:nvCxnSpPr>
          <p:spPr>
            <a:xfrm>
              <a:off x="5051029"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5" name="直接连接符 124"/>
            <p:cNvCxnSpPr/>
            <p:nvPr/>
          </p:nvCxnSpPr>
          <p:spPr>
            <a:xfrm>
              <a:off x="5051029"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6" name="直接连接符 125"/>
            <p:cNvCxnSpPr/>
            <p:nvPr/>
          </p:nvCxnSpPr>
          <p:spPr>
            <a:xfrm>
              <a:off x="5051029"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7" name="直接连接符 126"/>
            <p:cNvCxnSpPr/>
            <p:nvPr/>
          </p:nvCxnSpPr>
          <p:spPr>
            <a:xfrm>
              <a:off x="515157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8" name="矩形 127"/>
            <p:cNvSpPr/>
            <p:nvPr/>
          </p:nvSpPr>
          <p:spPr>
            <a:xfrm>
              <a:off x="652569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29" name="直接连接符 128"/>
            <p:cNvCxnSpPr/>
            <p:nvPr/>
          </p:nvCxnSpPr>
          <p:spPr>
            <a:xfrm>
              <a:off x="652569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直接连接符 129"/>
            <p:cNvCxnSpPr/>
            <p:nvPr/>
          </p:nvCxnSpPr>
          <p:spPr>
            <a:xfrm>
              <a:off x="652569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直接连接符 130"/>
            <p:cNvCxnSpPr/>
            <p:nvPr/>
          </p:nvCxnSpPr>
          <p:spPr>
            <a:xfrm>
              <a:off x="652569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2" name="直接连接符 131"/>
            <p:cNvCxnSpPr/>
            <p:nvPr/>
          </p:nvCxnSpPr>
          <p:spPr>
            <a:xfrm>
              <a:off x="652569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3" name="直接连接符 132"/>
            <p:cNvCxnSpPr/>
            <p:nvPr/>
          </p:nvCxnSpPr>
          <p:spPr>
            <a:xfrm>
              <a:off x="6626242"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34" name="矩形 133"/>
            <p:cNvSpPr/>
            <p:nvPr/>
          </p:nvSpPr>
          <p:spPr>
            <a:xfrm>
              <a:off x="5654302"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35" name="直接连接符 134"/>
            <p:cNvCxnSpPr/>
            <p:nvPr/>
          </p:nvCxnSpPr>
          <p:spPr>
            <a:xfrm>
              <a:off x="5654302"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6" name="直接连接符 135"/>
            <p:cNvCxnSpPr/>
            <p:nvPr/>
          </p:nvCxnSpPr>
          <p:spPr>
            <a:xfrm>
              <a:off x="5654302"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7" name="直接连接符 136"/>
            <p:cNvCxnSpPr/>
            <p:nvPr/>
          </p:nvCxnSpPr>
          <p:spPr>
            <a:xfrm>
              <a:off x="5654302"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直接连接符 137"/>
            <p:cNvCxnSpPr/>
            <p:nvPr/>
          </p:nvCxnSpPr>
          <p:spPr>
            <a:xfrm>
              <a:off x="5654302"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直接连接符 138"/>
            <p:cNvCxnSpPr/>
            <p:nvPr/>
          </p:nvCxnSpPr>
          <p:spPr>
            <a:xfrm>
              <a:off x="57548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40" name="TextBox 176"/>
            <p:cNvSpPr txBox="1"/>
            <p:nvPr/>
          </p:nvSpPr>
          <p:spPr>
            <a:xfrm>
              <a:off x="2548237"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latin typeface="微软雅黑 Light" panose="020B0502040204020203" pitchFamily="34" charset="-122"/>
                  <a:ea typeface="微软雅黑 Light" panose="020B0502040204020203" pitchFamily="34" charset="-122"/>
                </a:rPr>
                <a:t>转发表</a:t>
              </a:r>
            </a:p>
          </p:txBody>
        </p:sp>
        <p:cxnSp>
          <p:nvCxnSpPr>
            <p:cNvPr id="141" name="直接连接符 140"/>
            <p:cNvCxnSpPr/>
            <p:nvPr/>
          </p:nvCxnSpPr>
          <p:spPr>
            <a:xfrm>
              <a:off x="1009291" y="2215214"/>
              <a:ext cx="6944264" cy="0"/>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43" name="直接箭头连接符 142"/>
            <p:cNvCxnSpPr/>
            <p:nvPr/>
          </p:nvCxnSpPr>
          <p:spPr>
            <a:xfrm>
              <a:off x="3670377"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4" name="直接箭头连接符 143"/>
            <p:cNvCxnSpPr>
              <a:endCxn id="108" idx="0"/>
            </p:cNvCxnSpPr>
            <p:nvPr/>
          </p:nvCxnSpPr>
          <p:spPr>
            <a:xfrm>
              <a:off x="6627077"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5" name="直接箭头连接符 144"/>
            <p:cNvCxnSpPr/>
            <p:nvPr/>
          </p:nvCxnSpPr>
          <p:spPr>
            <a:xfrm flipH="1">
              <a:off x="5723766"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6" name="直接箭头连接符 145"/>
            <p:cNvCxnSpPr/>
            <p:nvPr/>
          </p:nvCxnSpPr>
          <p:spPr>
            <a:xfrm>
              <a:off x="5152849"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7" name="直接箭头连接符 146"/>
            <p:cNvCxnSpPr/>
            <p:nvPr/>
          </p:nvCxnSpPr>
          <p:spPr>
            <a:xfrm>
              <a:off x="4485937"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49" name="矩形 148"/>
            <p:cNvSpPr/>
            <p:nvPr/>
          </p:nvSpPr>
          <p:spPr>
            <a:xfrm>
              <a:off x="3240212"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Light" panose="020B0502040204020203" pitchFamily="34" charset="-122"/>
                  <a:ea typeface="微软雅黑 Light" panose="020B0502040204020203" pitchFamily="34" charset="-122"/>
                </a:rPr>
                <a:t>远  程  控  制  器</a:t>
              </a:r>
              <a:endParaRPr lang="zh-CN" altLang="en-US" sz="1400" b="1" dirty="0">
                <a:latin typeface="微软雅黑 Light" panose="020B0502040204020203" pitchFamily="34" charset="-122"/>
                <a:ea typeface="微软雅黑 Light" panose="020B0502040204020203" pitchFamily="34" charset="-122"/>
              </a:endParaRPr>
            </a:p>
          </p:txBody>
        </p:sp>
        <p:pic>
          <p:nvPicPr>
            <p:cNvPr id="150" name="Picture 21"/>
            <p:cNvPicPr>
              <a:picLocks noChangeArrowheads="1"/>
            </p:cNvPicPr>
            <p:nvPr/>
          </p:nvPicPr>
          <p:blipFill>
            <a:blip r:embed="rId4" cstate="print"/>
            <a:srcRect/>
            <a:stretch>
              <a:fillRect/>
            </a:stretch>
          </p:blipFill>
          <p:spPr bwMode="auto">
            <a:xfrm>
              <a:off x="2857264" y="1583226"/>
              <a:ext cx="195777" cy="526174"/>
            </a:xfrm>
            <a:prstGeom prst="rect">
              <a:avLst/>
            </a:prstGeom>
            <a:noFill/>
            <a:ln w="12699">
              <a:noFill/>
              <a:miter lim="800000"/>
              <a:headEnd/>
              <a:tailEnd/>
            </a:ln>
            <a:effectLst/>
          </p:spPr>
        </p:pic>
        <p:pic>
          <p:nvPicPr>
            <p:cNvPr id="151" name="Picture 21"/>
            <p:cNvPicPr>
              <a:picLocks noChangeArrowheads="1"/>
            </p:cNvPicPr>
            <p:nvPr/>
          </p:nvPicPr>
          <p:blipFill>
            <a:blip r:embed="rId4" cstate="print"/>
            <a:srcRect/>
            <a:stretch>
              <a:fillRect/>
            </a:stretch>
          </p:blipFill>
          <p:spPr bwMode="auto">
            <a:xfrm>
              <a:off x="7196362" y="1583226"/>
              <a:ext cx="195777" cy="526174"/>
            </a:xfrm>
            <a:prstGeom prst="rect">
              <a:avLst/>
            </a:prstGeom>
            <a:noFill/>
            <a:ln w="12699">
              <a:noFill/>
              <a:miter lim="800000"/>
              <a:headEnd/>
              <a:tailEnd/>
            </a:ln>
            <a:effectLst/>
          </p:spPr>
        </p:pic>
        <p:cxnSp>
          <p:nvCxnSpPr>
            <p:cNvPr id="153" name="直接箭头连接符 152"/>
            <p:cNvCxnSpPr>
              <a:cxnSpLocks/>
            </p:cNvCxnSpPr>
            <p:nvPr/>
          </p:nvCxnSpPr>
          <p:spPr>
            <a:xfrm flipH="1">
              <a:off x="3679398" y="1958545"/>
              <a:ext cx="164088" cy="447976"/>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4" name="直接箭头连接符 153"/>
            <p:cNvCxnSpPr>
              <a:cxnSpLocks/>
            </p:cNvCxnSpPr>
            <p:nvPr/>
          </p:nvCxnSpPr>
          <p:spPr>
            <a:xfrm flipH="1">
              <a:off x="4485742" y="1958545"/>
              <a:ext cx="75315" cy="45124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5" name="直接箭头连接符 154"/>
            <p:cNvCxnSpPr>
              <a:cxnSpLocks/>
            </p:cNvCxnSpPr>
            <p:nvPr/>
          </p:nvCxnSpPr>
          <p:spPr>
            <a:xfrm>
              <a:off x="6457925" y="1958545"/>
              <a:ext cx="167988" cy="44798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a:cxnSpLocks/>
            </p:cNvCxnSpPr>
            <p:nvPr/>
          </p:nvCxnSpPr>
          <p:spPr>
            <a:xfrm>
              <a:off x="5654302" y="1958545"/>
              <a:ext cx="101898" cy="45055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a:cxnSpLocks/>
              <a:stCxn id="149" idx="2"/>
              <a:endCxn id="122" idx="0"/>
            </p:cNvCxnSpPr>
            <p:nvPr/>
          </p:nvCxnSpPr>
          <p:spPr>
            <a:xfrm>
              <a:off x="5083548" y="1958545"/>
              <a:ext cx="68027" cy="44917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63" name="TextBox 179"/>
            <p:cNvSpPr txBox="1"/>
            <p:nvPr/>
          </p:nvSpPr>
          <p:spPr>
            <a:xfrm>
              <a:off x="1249993" y="1881728"/>
              <a:ext cx="1049536" cy="307777"/>
            </a:xfrm>
            <a:prstGeom prst="rect">
              <a:avLst/>
            </a:prstGeom>
            <a:solidFill>
              <a:srgbClr val="33CC33"/>
            </a:solidFill>
            <a:ln>
              <a:noFill/>
            </a:ln>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164" name="TextBox 180"/>
            <p:cNvSpPr txBox="1"/>
            <p:nvPr/>
          </p:nvSpPr>
          <p:spPr>
            <a:xfrm>
              <a:off x="1249993" y="2254786"/>
              <a:ext cx="1049536" cy="307777"/>
            </a:xfrm>
            <a:prstGeom prst="rect">
              <a:avLst/>
            </a:prstGeom>
            <a:solidFill>
              <a:schemeClr val="accent6">
                <a:lumMod val="75000"/>
              </a:schemeClr>
            </a:solidFill>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数据层面</a:t>
              </a:r>
            </a:p>
          </p:txBody>
        </p:sp>
        <p:grpSp>
          <p:nvGrpSpPr>
            <p:cNvPr id="165" name="组合 164"/>
            <p:cNvGrpSpPr/>
            <p:nvPr/>
          </p:nvGrpSpPr>
          <p:grpSpPr>
            <a:xfrm>
              <a:off x="1062847" y="1569143"/>
              <a:ext cx="206062" cy="1296144"/>
              <a:chOff x="199861" y="1988840"/>
              <a:chExt cx="288414" cy="1440160"/>
            </a:xfrm>
          </p:grpSpPr>
          <p:sp>
            <p:nvSpPr>
              <p:cNvPr id="166" name="上箭头 165"/>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sp>
            <p:nvSpPr>
              <p:cNvPr id="167" name="上箭头 166"/>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grpSp>
        <p:cxnSp>
          <p:nvCxnSpPr>
            <p:cNvPr id="168" name="直接箭头连接符 167"/>
            <p:cNvCxnSpPr/>
            <p:nvPr/>
          </p:nvCxnSpPr>
          <p:spPr>
            <a:xfrm flipV="1">
              <a:off x="3212645"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169"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98744"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170"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7788"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152" name="椭圆 151"/>
            <p:cNvSpPr/>
            <p:nvPr/>
          </p:nvSpPr>
          <p:spPr>
            <a:xfrm>
              <a:off x="3575364" y="1351374"/>
              <a:ext cx="3150428" cy="331342"/>
            </a:xfrm>
            <a:prstGeom prst="ellipse">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dirty="0">
                <a:latin typeface="微软雅黑 Light" panose="020B0502040204020203" pitchFamily="34" charset="-122"/>
                <a:ea typeface="微软雅黑 Light" panose="020B0502040204020203" pitchFamily="34" charset="-122"/>
              </a:endParaRPr>
            </a:p>
          </p:txBody>
        </p:sp>
      </p:grpSp>
      <p:sp>
        <p:nvSpPr>
          <p:cNvPr id="172" name="矩形 171"/>
          <p:cNvSpPr/>
          <p:nvPr/>
        </p:nvSpPr>
        <p:spPr>
          <a:xfrm>
            <a:off x="7434389" y="1490108"/>
            <a:ext cx="1223829" cy="1604927"/>
          </a:xfrm>
          <a:prstGeom prst="rect">
            <a:avLst/>
          </a:prstGeom>
          <a:solidFill>
            <a:schemeClr val="bg1">
              <a:lumMod val="95000"/>
            </a:schemeClr>
          </a:solidFill>
        </p:spPr>
        <p:txBody>
          <a:bodyPr wrap="square">
            <a:spAutoFit/>
          </a:bodyPr>
          <a:lstStyle/>
          <a:p>
            <a:pPr algn="just">
              <a:lnSpc>
                <a:spcPts val="2000"/>
              </a:lnSpc>
            </a:pPr>
            <a:r>
              <a:rPr lang="zh-CN" altLang="en-US" sz="1200" dirty="0">
                <a:latin typeface="微软雅黑 Light" panose="020B0502040204020203" pitchFamily="34" charset="-122"/>
                <a:ea typeface="微软雅黑 Light" panose="020B0502040204020203" pitchFamily="34" charset="-122"/>
              </a:rPr>
              <a:t>远程控制器：</a:t>
            </a:r>
            <a:endParaRPr lang="en-US" altLang="zh-CN" sz="1200" dirty="0">
              <a:latin typeface="微软雅黑 Light" panose="020B0502040204020203" pitchFamily="34" charset="-122"/>
              <a:ea typeface="微软雅黑 Light" panose="020B0502040204020203" pitchFamily="34" charset="-122"/>
            </a:endParaRPr>
          </a:p>
          <a:p>
            <a:pPr algn="just">
              <a:lnSpc>
                <a:spcPts val="2000"/>
              </a:lnSpc>
            </a:pPr>
            <a:r>
              <a:rPr lang="zh-CN" altLang="en-US" sz="1200" dirty="0">
                <a:latin typeface="微软雅黑 Light" panose="020B0502040204020203" pitchFamily="34" charset="-122"/>
                <a:ea typeface="微软雅黑 Light" panose="020B0502040204020203" pitchFamily="34" charset="-122"/>
              </a:rPr>
              <a:t>计算出最佳的路由，</a:t>
            </a:r>
            <a:endParaRPr lang="en-US" altLang="zh-CN" sz="1200" dirty="0">
              <a:latin typeface="微软雅黑 Light" panose="020B0502040204020203" pitchFamily="34" charset="-122"/>
              <a:ea typeface="微软雅黑 Light" panose="020B0502040204020203" pitchFamily="34" charset="-122"/>
            </a:endParaRPr>
          </a:p>
          <a:p>
            <a:pPr algn="just">
              <a:lnSpc>
                <a:spcPts val="2000"/>
              </a:lnSpc>
            </a:pPr>
            <a:r>
              <a:rPr lang="zh-CN" altLang="en-US" sz="1200" dirty="0">
                <a:latin typeface="微软雅黑 Light" panose="020B0502040204020203" pitchFamily="34" charset="-122"/>
                <a:ea typeface="微软雅黑 Light" panose="020B0502040204020203" pitchFamily="34" charset="-122"/>
              </a:rPr>
              <a:t>在每一个路由器中生成其正确的转发表。</a:t>
            </a:r>
          </a:p>
        </p:txBody>
      </p:sp>
      <p:sp>
        <p:nvSpPr>
          <p:cNvPr id="2" name="标题 1">
            <a:extLst>
              <a:ext uri="{FF2B5EF4-FFF2-40B4-BE49-F238E27FC236}">
                <a16:creationId xmlns:a16="http://schemas.microsoft.com/office/drawing/2014/main" id="{423FA40F-C9E5-7431-0ACD-39BB2F76F85D}"/>
              </a:ext>
            </a:extLst>
          </p:cNvPr>
          <p:cNvSpPr>
            <a:spLocks noGrp="1"/>
          </p:cNvSpPr>
          <p:nvPr>
            <p:ph type="title"/>
          </p:nvPr>
        </p:nvSpPr>
        <p:spPr>
          <a:xfrm>
            <a:off x="486000" y="550723"/>
            <a:ext cx="8172000" cy="338554"/>
          </a:xfrm>
        </p:spPr>
        <p:txBody>
          <a:bodyPr/>
          <a:lstStyle/>
          <a:p>
            <a:r>
              <a:rPr lang="zh-CN" altLang="en-US" dirty="0"/>
              <a:t>软件定义网络 </a:t>
            </a:r>
            <a:r>
              <a:rPr lang="en-US" altLang="zh-CN" dirty="0"/>
              <a:t>SDN (Software Defined Network)</a:t>
            </a:r>
            <a:endParaRPr lang="zh-CN" altLang="en-US" dirty="0"/>
          </a:p>
        </p:txBody>
      </p:sp>
    </p:spTree>
    <p:extLst>
      <p:ext uri="{BB962C8B-B14F-4D97-AF65-F5344CB8AC3E}">
        <p14:creationId xmlns:p14="http://schemas.microsoft.com/office/powerpoint/2010/main" val="3700435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 name="矩形 171"/>
          <p:cNvSpPr/>
          <p:nvPr/>
        </p:nvSpPr>
        <p:spPr>
          <a:xfrm>
            <a:off x="7532820" y="2356794"/>
            <a:ext cx="1125404" cy="835485"/>
          </a:xfrm>
          <a:prstGeom prst="rect">
            <a:avLst/>
          </a:prstGeom>
          <a:solidFill>
            <a:schemeClr val="bg1">
              <a:lumMod val="95000"/>
            </a:schemeClr>
          </a:solidFill>
        </p:spPr>
        <p:txBody>
          <a:bodyPr wrap="square">
            <a:spAutoFit/>
          </a:bodyPr>
          <a:lstStyle/>
          <a:p>
            <a:pPr algn="just">
              <a:lnSpc>
                <a:spcPts val="2000"/>
              </a:lnSpc>
            </a:pPr>
            <a:r>
              <a:rPr lang="zh-CN" altLang="en-US" sz="1200" dirty="0">
                <a:latin typeface="微软雅黑 Light" panose="020B0502040204020203" pitchFamily="34" charset="-122"/>
                <a:ea typeface="微软雅黑 Light" panose="020B0502040204020203" pitchFamily="34" charset="-122"/>
              </a:rPr>
              <a:t>路由器：</a:t>
            </a:r>
            <a:endParaRPr lang="en-US" altLang="zh-CN" sz="1200" dirty="0">
              <a:latin typeface="微软雅黑 Light" panose="020B0502040204020203" pitchFamily="34" charset="-122"/>
              <a:ea typeface="微软雅黑 Light" panose="020B0502040204020203" pitchFamily="34" charset="-122"/>
            </a:endParaRPr>
          </a:p>
          <a:p>
            <a:pPr algn="just">
              <a:lnSpc>
                <a:spcPts val="2000"/>
              </a:lnSpc>
            </a:pPr>
            <a:r>
              <a:rPr lang="zh-CN" altLang="en-US" sz="1200" dirty="0">
                <a:latin typeface="微软雅黑 Light" panose="020B0502040204020203" pitchFamily="34" charset="-122"/>
                <a:ea typeface="微软雅黑 Light" panose="020B0502040204020203" pitchFamily="34" charset="-122"/>
              </a:rPr>
              <a:t>查找转发表并转发分组。</a:t>
            </a:r>
          </a:p>
        </p:txBody>
      </p:sp>
      <p:sp>
        <p:nvSpPr>
          <p:cNvPr id="2" name="标题 1">
            <a:extLst>
              <a:ext uri="{FF2B5EF4-FFF2-40B4-BE49-F238E27FC236}">
                <a16:creationId xmlns:a16="http://schemas.microsoft.com/office/drawing/2014/main" id="{AD14B322-74F5-64B0-3658-0291CC6148ED}"/>
              </a:ext>
            </a:extLst>
          </p:cNvPr>
          <p:cNvSpPr>
            <a:spLocks noGrp="1"/>
          </p:cNvSpPr>
          <p:nvPr>
            <p:ph type="title"/>
          </p:nvPr>
        </p:nvSpPr>
        <p:spPr>
          <a:xfrm>
            <a:off x="486000" y="550723"/>
            <a:ext cx="8172000" cy="338554"/>
          </a:xfrm>
        </p:spPr>
        <p:txBody>
          <a:bodyPr/>
          <a:lstStyle/>
          <a:p>
            <a:r>
              <a:rPr lang="zh-CN" altLang="en-US" dirty="0"/>
              <a:t>软件定义网络 </a:t>
            </a:r>
            <a:r>
              <a:rPr lang="en-US" altLang="zh-CN" dirty="0"/>
              <a:t>SDN (Software Defined Network)</a:t>
            </a:r>
            <a:endParaRPr lang="zh-CN" altLang="en-US" dirty="0"/>
          </a:p>
        </p:txBody>
      </p:sp>
      <p:sp>
        <p:nvSpPr>
          <p:cNvPr id="4" name="矩形 3">
            <a:extLst>
              <a:ext uri="{FF2B5EF4-FFF2-40B4-BE49-F238E27FC236}">
                <a16:creationId xmlns:a16="http://schemas.microsoft.com/office/drawing/2014/main" id="{6EE00E80-C3BC-AAC1-9B10-5117B195F1A6}"/>
              </a:ext>
            </a:extLst>
          </p:cNvPr>
          <p:cNvSpPr/>
          <p:nvPr/>
        </p:nvSpPr>
        <p:spPr>
          <a:xfrm>
            <a:off x="2089351" y="4204954"/>
            <a:ext cx="4965299" cy="307777"/>
          </a:xfrm>
          <a:prstGeom prst="rect">
            <a:avLst/>
          </a:prstGeom>
        </p:spPr>
        <p:txBody>
          <a:bodyPr wrap="square">
            <a:spAutoFit/>
          </a:bodyPr>
          <a:lstStyle/>
          <a:p>
            <a:pPr algn="ctr"/>
            <a:r>
              <a:rPr lang="zh-CN" altLang="en-US" sz="1400" dirty="0">
                <a:latin typeface="Montserrat" panose="00000500000000000000" pitchFamily="2" charset="0"/>
                <a:ea typeface="微软雅黑 Light" panose="020B0502040204020203" pitchFamily="34" charset="-122"/>
              </a:rPr>
              <a:t>软件定义网络 </a:t>
            </a:r>
            <a:r>
              <a:rPr lang="en-US" altLang="zh-CN" sz="1400" dirty="0">
                <a:latin typeface="Montserrat" panose="00000500000000000000" pitchFamily="2" charset="0"/>
                <a:ea typeface="微软雅黑 Light" panose="020B0502040204020203" pitchFamily="34" charset="-122"/>
              </a:rPr>
              <a:t>SDN </a:t>
            </a:r>
            <a:r>
              <a:rPr lang="zh-CN" altLang="en-US" sz="1400" dirty="0">
                <a:latin typeface="Montserrat" panose="00000500000000000000" pitchFamily="2" charset="0"/>
                <a:ea typeface="微软雅黑 Light" panose="020B0502040204020203" pitchFamily="34" charset="-122"/>
              </a:rPr>
              <a:t>中的数据层面和控制层面</a:t>
            </a:r>
          </a:p>
        </p:txBody>
      </p:sp>
      <p:grpSp>
        <p:nvGrpSpPr>
          <p:cNvPr id="5" name="组合 4">
            <a:extLst>
              <a:ext uri="{FF2B5EF4-FFF2-40B4-BE49-F238E27FC236}">
                <a16:creationId xmlns:a16="http://schemas.microsoft.com/office/drawing/2014/main" id="{EC096B80-6015-0899-78B0-53F653630DEC}"/>
              </a:ext>
            </a:extLst>
          </p:cNvPr>
          <p:cNvGrpSpPr/>
          <p:nvPr/>
        </p:nvGrpSpPr>
        <p:grpSpPr>
          <a:xfrm>
            <a:off x="845397" y="1226469"/>
            <a:ext cx="6944264" cy="2784814"/>
            <a:chOff x="1009291" y="1226469"/>
            <a:chExt cx="6944264" cy="2784814"/>
          </a:xfrm>
        </p:grpSpPr>
        <p:sp>
          <p:nvSpPr>
            <p:cNvPr id="9" name="Line 107">
              <a:extLst>
                <a:ext uri="{FF2B5EF4-FFF2-40B4-BE49-F238E27FC236}">
                  <a16:creationId xmlns:a16="http://schemas.microsoft.com/office/drawing/2014/main" id="{C612B8FE-81C3-C4FE-22E2-05479732F6AA}"/>
                </a:ext>
              </a:extLst>
            </p:cNvPr>
            <p:cNvSpPr>
              <a:spLocks noChangeShapeType="1"/>
            </p:cNvSpPr>
            <p:nvPr/>
          </p:nvSpPr>
          <p:spPr bwMode="auto">
            <a:xfrm flipH="1">
              <a:off x="2970733" y="1637707"/>
              <a:ext cx="269479" cy="276607"/>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 name="Line 107">
              <a:extLst>
                <a:ext uri="{FF2B5EF4-FFF2-40B4-BE49-F238E27FC236}">
                  <a16:creationId xmlns:a16="http://schemas.microsoft.com/office/drawing/2014/main" id="{7EC3959C-011B-8DEE-05D8-BCAE07927C42}"/>
                </a:ext>
              </a:extLst>
            </p:cNvPr>
            <p:cNvSpPr>
              <a:spLocks noChangeShapeType="1"/>
            </p:cNvSpPr>
            <p:nvPr/>
          </p:nvSpPr>
          <p:spPr bwMode="auto">
            <a:xfrm flipH="1" flipV="1">
              <a:off x="6926882" y="1583226"/>
              <a:ext cx="372154" cy="354179"/>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1" name="Line 151">
              <a:extLst>
                <a:ext uri="{FF2B5EF4-FFF2-40B4-BE49-F238E27FC236}">
                  <a16:creationId xmlns:a16="http://schemas.microsoft.com/office/drawing/2014/main" id="{B57933BE-A00B-A6B0-3877-353ED2F383EA}"/>
                </a:ext>
              </a:extLst>
            </p:cNvPr>
            <p:cNvSpPr>
              <a:spLocks noChangeShapeType="1"/>
            </p:cNvSpPr>
            <p:nvPr/>
          </p:nvSpPr>
          <p:spPr bwMode="auto">
            <a:xfrm>
              <a:off x="4647850" y="3049391"/>
              <a:ext cx="871395" cy="4491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2" name="Line 79">
              <a:extLst>
                <a:ext uri="{FF2B5EF4-FFF2-40B4-BE49-F238E27FC236}">
                  <a16:creationId xmlns:a16="http://schemas.microsoft.com/office/drawing/2014/main" id="{E4335105-BA59-CD3E-DA9A-2D2F529B9A90}"/>
                </a:ext>
              </a:extLst>
            </p:cNvPr>
            <p:cNvSpPr>
              <a:spLocks noChangeShapeType="1"/>
            </p:cNvSpPr>
            <p:nvPr/>
          </p:nvSpPr>
          <p:spPr bwMode="auto">
            <a:xfrm>
              <a:off x="3053041" y="3468017"/>
              <a:ext cx="589747" cy="22351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3" name="Line 99">
              <a:extLst>
                <a:ext uri="{FF2B5EF4-FFF2-40B4-BE49-F238E27FC236}">
                  <a16:creationId xmlns:a16="http://schemas.microsoft.com/office/drawing/2014/main" id="{DA466551-67D8-85B2-9808-F1420E77A92C}"/>
                </a:ext>
              </a:extLst>
            </p:cNvPr>
            <p:cNvSpPr>
              <a:spLocks noChangeShapeType="1"/>
            </p:cNvSpPr>
            <p:nvPr/>
          </p:nvSpPr>
          <p:spPr bwMode="auto">
            <a:xfrm>
              <a:off x="3843486" y="3755233"/>
              <a:ext cx="1206801" cy="191773"/>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4" name="Line 100">
              <a:extLst>
                <a:ext uri="{FF2B5EF4-FFF2-40B4-BE49-F238E27FC236}">
                  <a16:creationId xmlns:a16="http://schemas.microsoft.com/office/drawing/2014/main" id="{7069AB3A-A5FC-A6B7-24A8-817FB0F83E63}"/>
                </a:ext>
              </a:extLst>
            </p:cNvPr>
            <p:cNvSpPr>
              <a:spLocks noChangeShapeType="1"/>
            </p:cNvSpPr>
            <p:nvPr/>
          </p:nvSpPr>
          <p:spPr bwMode="auto">
            <a:xfrm flipV="1">
              <a:off x="3843763" y="3562729"/>
              <a:ext cx="1675482" cy="12879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5" name="Line 101">
              <a:extLst>
                <a:ext uri="{FF2B5EF4-FFF2-40B4-BE49-F238E27FC236}">
                  <a16:creationId xmlns:a16="http://schemas.microsoft.com/office/drawing/2014/main" id="{2DE1D87E-07DB-838B-41F0-7F950C3CBAEE}"/>
                </a:ext>
              </a:extLst>
            </p:cNvPr>
            <p:cNvSpPr>
              <a:spLocks noChangeShapeType="1"/>
            </p:cNvSpPr>
            <p:nvPr/>
          </p:nvSpPr>
          <p:spPr bwMode="auto">
            <a:xfrm>
              <a:off x="5787367" y="3562730"/>
              <a:ext cx="871534" cy="19245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6" name="Line 102">
              <a:extLst>
                <a:ext uri="{FF2B5EF4-FFF2-40B4-BE49-F238E27FC236}">
                  <a16:creationId xmlns:a16="http://schemas.microsoft.com/office/drawing/2014/main" id="{2D778FF9-4E41-F85B-7C0B-90C77E9631A9}"/>
                </a:ext>
              </a:extLst>
            </p:cNvPr>
            <p:cNvSpPr>
              <a:spLocks noChangeShapeType="1"/>
            </p:cNvSpPr>
            <p:nvPr/>
          </p:nvSpPr>
          <p:spPr bwMode="auto">
            <a:xfrm flipV="1">
              <a:off x="5318154" y="3820263"/>
              <a:ext cx="1340746" cy="1274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7" name="Line 103">
              <a:extLst>
                <a:ext uri="{FF2B5EF4-FFF2-40B4-BE49-F238E27FC236}">
                  <a16:creationId xmlns:a16="http://schemas.microsoft.com/office/drawing/2014/main" id="{EF04A223-0C16-92E0-2807-7DFC4ABD1E28}"/>
                </a:ext>
              </a:extLst>
            </p:cNvPr>
            <p:cNvSpPr>
              <a:spLocks noChangeShapeType="1"/>
            </p:cNvSpPr>
            <p:nvPr/>
          </p:nvSpPr>
          <p:spPr bwMode="auto">
            <a:xfrm flipV="1">
              <a:off x="6725399" y="3422535"/>
              <a:ext cx="690157" cy="33265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8" name="Line 107">
              <a:extLst>
                <a:ext uri="{FF2B5EF4-FFF2-40B4-BE49-F238E27FC236}">
                  <a16:creationId xmlns:a16="http://schemas.microsoft.com/office/drawing/2014/main" id="{04B6D218-29BA-BE3D-FCC9-9CED3E7DD7C7}"/>
                </a:ext>
              </a:extLst>
            </p:cNvPr>
            <p:cNvSpPr>
              <a:spLocks noChangeShapeType="1"/>
            </p:cNvSpPr>
            <p:nvPr/>
          </p:nvSpPr>
          <p:spPr bwMode="auto">
            <a:xfrm flipV="1">
              <a:off x="3843763" y="3049390"/>
              <a:ext cx="602996" cy="578477"/>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9" name="Line 108">
              <a:extLst>
                <a:ext uri="{FF2B5EF4-FFF2-40B4-BE49-F238E27FC236}">
                  <a16:creationId xmlns:a16="http://schemas.microsoft.com/office/drawing/2014/main" id="{3AC79649-2714-0CB5-3701-83E75D141148}"/>
                </a:ext>
              </a:extLst>
            </p:cNvPr>
            <p:cNvSpPr>
              <a:spLocks noChangeShapeType="1"/>
            </p:cNvSpPr>
            <p:nvPr/>
          </p:nvSpPr>
          <p:spPr bwMode="auto">
            <a:xfrm>
              <a:off x="4781911" y="2985224"/>
              <a:ext cx="1943489" cy="706305"/>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pic>
          <p:nvPicPr>
            <p:cNvPr id="20" name="Picture 109">
              <a:extLst>
                <a:ext uri="{FF2B5EF4-FFF2-40B4-BE49-F238E27FC236}">
                  <a16:creationId xmlns:a16="http://schemas.microsoft.com/office/drawing/2014/main" id="{0ABAB5AB-5440-7369-6161-85FC1B819F80}"/>
                </a:ext>
              </a:extLst>
            </p:cNvPr>
            <p:cNvPicPr>
              <a:picLocks noChangeArrowheads="1"/>
            </p:cNvPicPr>
            <p:nvPr/>
          </p:nvPicPr>
          <p:blipFill>
            <a:blip r:embed="rId3" cstate="print"/>
            <a:srcRect/>
            <a:stretch>
              <a:fillRect/>
            </a:stretch>
          </p:blipFill>
          <p:spPr bwMode="auto">
            <a:xfrm>
              <a:off x="3560033" y="3562797"/>
              <a:ext cx="484706" cy="256050"/>
            </a:xfrm>
            <a:prstGeom prst="rect">
              <a:avLst/>
            </a:prstGeom>
            <a:noFill/>
            <a:ln w="12699">
              <a:noFill/>
              <a:miter lim="800000"/>
              <a:headEnd/>
              <a:tailEnd/>
            </a:ln>
          </p:spPr>
        </p:pic>
        <p:pic>
          <p:nvPicPr>
            <p:cNvPr id="21" name="Picture 110">
              <a:extLst>
                <a:ext uri="{FF2B5EF4-FFF2-40B4-BE49-F238E27FC236}">
                  <a16:creationId xmlns:a16="http://schemas.microsoft.com/office/drawing/2014/main" id="{25D2256A-A5FF-0336-2D4B-A5FBF8C5C1F2}"/>
                </a:ext>
              </a:extLst>
            </p:cNvPr>
            <p:cNvPicPr>
              <a:picLocks noChangeArrowheads="1"/>
            </p:cNvPicPr>
            <p:nvPr/>
          </p:nvPicPr>
          <p:blipFill>
            <a:blip r:embed="rId3" cstate="print"/>
            <a:srcRect/>
            <a:stretch>
              <a:fillRect/>
            </a:stretch>
          </p:blipFill>
          <p:spPr bwMode="auto">
            <a:xfrm>
              <a:off x="5452215" y="3434395"/>
              <a:ext cx="484706" cy="256050"/>
            </a:xfrm>
            <a:prstGeom prst="rect">
              <a:avLst/>
            </a:prstGeom>
            <a:noFill/>
            <a:ln w="12699">
              <a:noFill/>
              <a:miter lim="800000"/>
              <a:headEnd/>
              <a:tailEnd/>
            </a:ln>
          </p:spPr>
        </p:pic>
        <p:pic>
          <p:nvPicPr>
            <p:cNvPr id="22" name="Picture 111">
              <a:extLst>
                <a:ext uri="{FF2B5EF4-FFF2-40B4-BE49-F238E27FC236}">
                  <a16:creationId xmlns:a16="http://schemas.microsoft.com/office/drawing/2014/main" id="{D9982FC3-AF98-59E7-CE73-28D023EB74BD}"/>
                </a:ext>
              </a:extLst>
            </p:cNvPr>
            <p:cNvPicPr>
              <a:picLocks noChangeArrowheads="1"/>
            </p:cNvPicPr>
            <p:nvPr/>
          </p:nvPicPr>
          <p:blipFill>
            <a:blip r:embed="rId3" cstate="print"/>
            <a:srcRect/>
            <a:stretch>
              <a:fillRect/>
            </a:stretch>
          </p:blipFill>
          <p:spPr bwMode="auto">
            <a:xfrm>
              <a:off x="4915972" y="3755233"/>
              <a:ext cx="484706" cy="256050"/>
            </a:xfrm>
            <a:prstGeom prst="rect">
              <a:avLst/>
            </a:prstGeom>
            <a:noFill/>
            <a:ln w="12699">
              <a:noFill/>
              <a:miter lim="800000"/>
              <a:headEnd/>
              <a:tailEnd/>
            </a:ln>
          </p:spPr>
        </p:pic>
        <p:pic>
          <p:nvPicPr>
            <p:cNvPr id="23" name="Picture 112">
              <a:extLst>
                <a:ext uri="{FF2B5EF4-FFF2-40B4-BE49-F238E27FC236}">
                  <a16:creationId xmlns:a16="http://schemas.microsoft.com/office/drawing/2014/main" id="{5E21414A-76F2-5181-A5AB-68A410DB993B}"/>
                </a:ext>
              </a:extLst>
            </p:cNvPr>
            <p:cNvPicPr>
              <a:picLocks noChangeArrowheads="1"/>
            </p:cNvPicPr>
            <p:nvPr/>
          </p:nvPicPr>
          <p:blipFill>
            <a:blip r:embed="rId3" cstate="print"/>
            <a:srcRect/>
            <a:stretch>
              <a:fillRect/>
            </a:stretch>
          </p:blipFill>
          <p:spPr bwMode="auto">
            <a:xfrm>
              <a:off x="6457925" y="3627871"/>
              <a:ext cx="484706" cy="256050"/>
            </a:xfrm>
            <a:prstGeom prst="rect">
              <a:avLst/>
            </a:prstGeom>
            <a:noFill/>
            <a:ln w="12699">
              <a:noFill/>
              <a:miter lim="800000"/>
              <a:headEnd/>
              <a:tailEnd/>
            </a:ln>
          </p:spPr>
        </p:pic>
        <p:pic>
          <p:nvPicPr>
            <p:cNvPr id="24" name="Picture 113">
              <a:extLst>
                <a:ext uri="{FF2B5EF4-FFF2-40B4-BE49-F238E27FC236}">
                  <a16:creationId xmlns:a16="http://schemas.microsoft.com/office/drawing/2014/main" id="{12DFAB4D-D4CC-756F-F08D-149DC469F7AA}"/>
                </a:ext>
              </a:extLst>
            </p:cNvPr>
            <p:cNvPicPr>
              <a:picLocks noChangeArrowheads="1"/>
            </p:cNvPicPr>
            <p:nvPr/>
          </p:nvPicPr>
          <p:blipFill>
            <a:blip r:embed="rId3" cstate="print"/>
            <a:srcRect/>
            <a:stretch>
              <a:fillRect/>
            </a:stretch>
          </p:blipFill>
          <p:spPr bwMode="auto">
            <a:xfrm>
              <a:off x="4312698" y="2856889"/>
              <a:ext cx="484706" cy="256051"/>
            </a:xfrm>
            <a:prstGeom prst="rect">
              <a:avLst/>
            </a:prstGeom>
            <a:noFill/>
            <a:ln w="12699">
              <a:noFill/>
              <a:miter lim="800000"/>
              <a:headEnd/>
              <a:tailEnd/>
            </a:ln>
          </p:spPr>
        </p:pic>
        <p:sp>
          <p:nvSpPr>
            <p:cNvPr id="25" name="矩形 24">
              <a:extLst>
                <a:ext uri="{FF2B5EF4-FFF2-40B4-BE49-F238E27FC236}">
                  <a16:creationId xmlns:a16="http://schemas.microsoft.com/office/drawing/2014/main" id="{B82C7A9F-8C1B-8484-6BAE-38D96D5049B9}"/>
                </a:ext>
              </a:extLst>
            </p:cNvPr>
            <p:cNvSpPr/>
            <p:nvPr/>
          </p:nvSpPr>
          <p:spPr>
            <a:xfrm>
              <a:off x="357436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26" name="直接连接符 25">
              <a:extLst>
                <a:ext uri="{FF2B5EF4-FFF2-40B4-BE49-F238E27FC236}">
                  <a16:creationId xmlns:a16="http://schemas.microsoft.com/office/drawing/2014/main" id="{D088C3C9-1C25-58D9-F5DE-27EB6603FE27}"/>
                </a:ext>
              </a:extLst>
            </p:cNvPr>
            <p:cNvCxnSpPr/>
            <p:nvPr/>
          </p:nvCxnSpPr>
          <p:spPr>
            <a:xfrm>
              <a:off x="357436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B012B55B-A632-8958-8E7C-24E45B713509}"/>
                </a:ext>
              </a:extLst>
            </p:cNvPr>
            <p:cNvCxnSpPr/>
            <p:nvPr/>
          </p:nvCxnSpPr>
          <p:spPr>
            <a:xfrm>
              <a:off x="357436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4EA86B58-15D3-2C39-6130-22528CDA1708}"/>
                </a:ext>
              </a:extLst>
            </p:cNvPr>
            <p:cNvCxnSpPr/>
            <p:nvPr/>
          </p:nvCxnSpPr>
          <p:spPr>
            <a:xfrm>
              <a:off x="357436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8605C0C1-AAB6-CAF3-5F86-E9ECB36A760C}"/>
                </a:ext>
              </a:extLst>
            </p:cNvPr>
            <p:cNvCxnSpPr/>
            <p:nvPr/>
          </p:nvCxnSpPr>
          <p:spPr>
            <a:xfrm>
              <a:off x="357436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D55CEBA5-42DE-01AC-263E-6BEB670D678F}"/>
                </a:ext>
              </a:extLst>
            </p:cNvPr>
            <p:cNvCxnSpPr/>
            <p:nvPr/>
          </p:nvCxnSpPr>
          <p:spPr>
            <a:xfrm>
              <a:off x="3674913"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E42F68AF-ABB6-B6BD-EE55-929AA3A5A4B1}"/>
                </a:ext>
              </a:extLst>
            </p:cNvPr>
            <p:cNvSpPr/>
            <p:nvPr/>
          </p:nvSpPr>
          <p:spPr>
            <a:xfrm>
              <a:off x="438072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32" name="直接连接符 31">
              <a:extLst>
                <a:ext uri="{FF2B5EF4-FFF2-40B4-BE49-F238E27FC236}">
                  <a16:creationId xmlns:a16="http://schemas.microsoft.com/office/drawing/2014/main" id="{38AF4A6E-7B58-69C0-9C3C-A333E42BB972}"/>
                </a:ext>
              </a:extLst>
            </p:cNvPr>
            <p:cNvCxnSpPr/>
            <p:nvPr/>
          </p:nvCxnSpPr>
          <p:spPr>
            <a:xfrm>
              <a:off x="438072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0E7D64D6-BE2E-86E1-00D5-210B5F39A378}"/>
                </a:ext>
              </a:extLst>
            </p:cNvPr>
            <p:cNvCxnSpPr/>
            <p:nvPr/>
          </p:nvCxnSpPr>
          <p:spPr>
            <a:xfrm>
              <a:off x="438072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07EAAB87-A958-9B27-5984-F0D45DDFBACD}"/>
                </a:ext>
              </a:extLst>
            </p:cNvPr>
            <p:cNvCxnSpPr/>
            <p:nvPr/>
          </p:nvCxnSpPr>
          <p:spPr>
            <a:xfrm>
              <a:off x="438072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59B01BF8-5456-CCB4-997E-B4D167880602}"/>
                </a:ext>
              </a:extLst>
            </p:cNvPr>
            <p:cNvCxnSpPr/>
            <p:nvPr/>
          </p:nvCxnSpPr>
          <p:spPr>
            <a:xfrm>
              <a:off x="438072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967E67CF-1D2B-2CC2-53FD-8F81C5176FAB}"/>
                </a:ext>
              </a:extLst>
            </p:cNvPr>
            <p:cNvCxnSpPr/>
            <p:nvPr/>
          </p:nvCxnSpPr>
          <p:spPr>
            <a:xfrm>
              <a:off x="448127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7" name="矩形 36">
              <a:extLst>
                <a:ext uri="{FF2B5EF4-FFF2-40B4-BE49-F238E27FC236}">
                  <a16:creationId xmlns:a16="http://schemas.microsoft.com/office/drawing/2014/main" id="{BF81B78D-717B-0DCF-8EDE-5D98A833F96B}"/>
                </a:ext>
              </a:extLst>
            </p:cNvPr>
            <p:cNvSpPr/>
            <p:nvPr/>
          </p:nvSpPr>
          <p:spPr>
            <a:xfrm>
              <a:off x="5051029"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38" name="直接连接符 37">
              <a:extLst>
                <a:ext uri="{FF2B5EF4-FFF2-40B4-BE49-F238E27FC236}">
                  <a16:creationId xmlns:a16="http://schemas.microsoft.com/office/drawing/2014/main" id="{B3807C12-47ED-5FB4-1165-FA756339E4F9}"/>
                </a:ext>
              </a:extLst>
            </p:cNvPr>
            <p:cNvCxnSpPr/>
            <p:nvPr/>
          </p:nvCxnSpPr>
          <p:spPr>
            <a:xfrm>
              <a:off x="5051029"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9A88CF4A-21D5-01AF-5227-188B95E08C60}"/>
                </a:ext>
              </a:extLst>
            </p:cNvPr>
            <p:cNvCxnSpPr/>
            <p:nvPr/>
          </p:nvCxnSpPr>
          <p:spPr>
            <a:xfrm>
              <a:off x="5051029"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8904064A-812E-2998-4227-B78392B635F7}"/>
                </a:ext>
              </a:extLst>
            </p:cNvPr>
            <p:cNvCxnSpPr/>
            <p:nvPr/>
          </p:nvCxnSpPr>
          <p:spPr>
            <a:xfrm>
              <a:off x="5051029"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62B64B69-B6A2-338D-427C-E88636CBBBBB}"/>
                </a:ext>
              </a:extLst>
            </p:cNvPr>
            <p:cNvCxnSpPr/>
            <p:nvPr/>
          </p:nvCxnSpPr>
          <p:spPr>
            <a:xfrm>
              <a:off x="5051029"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7BF97CDC-D6E9-C349-D035-6CBE2A1089D7}"/>
                </a:ext>
              </a:extLst>
            </p:cNvPr>
            <p:cNvCxnSpPr/>
            <p:nvPr/>
          </p:nvCxnSpPr>
          <p:spPr>
            <a:xfrm>
              <a:off x="515157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3" name="矩形 42">
              <a:extLst>
                <a:ext uri="{FF2B5EF4-FFF2-40B4-BE49-F238E27FC236}">
                  <a16:creationId xmlns:a16="http://schemas.microsoft.com/office/drawing/2014/main" id="{42F0E6AC-79AD-EB57-03DF-30534E05FFCD}"/>
                </a:ext>
              </a:extLst>
            </p:cNvPr>
            <p:cNvSpPr/>
            <p:nvPr/>
          </p:nvSpPr>
          <p:spPr>
            <a:xfrm>
              <a:off x="652569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44" name="直接连接符 43">
              <a:extLst>
                <a:ext uri="{FF2B5EF4-FFF2-40B4-BE49-F238E27FC236}">
                  <a16:creationId xmlns:a16="http://schemas.microsoft.com/office/drawing/2014/main" id="{87E81795-5A87-FF09-4B24-B7A9CC87F0F0}"/>
                </a:ext>
              </a:extLst>
            </p:cNvPr>
            <p:cNvCxnSpPr/>
            <p:nvPr/>
          </p:nvCxnSpPr>
          <p:spPr>
            <a:xfrm>
              <a:off x="652569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0CB5DC6F-53D0-AABE-3563-8865A915E340}"/>
                </a:ext>
              </a:extLst>
            </p:cNvPr>
            <p:cNvCxnSpPr/>
            <p:nvPr/>
          </p:nvCxnSpPr>
          <p:spPr>
            <a:xfrm>
              <a:off x="652569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A6B418F3-D5CC-400F-1AB6-836F1301934D}"/>
                </a:ext>
              </a:extLst>
            </p:cNvPr>
            <p:cNvCxnSpPr/>
            <p:nvPr/>
          </p:nvCxnSpPr>
          <p:spPr>
            <a:xfrm>
              <a:off x="652569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EF01BF0D-9EAC-1988-1DE4-2AC86F467C6C}"/>
                </a:ext>
              </a:extLst>
            </p:cNvPr>
            <p:cNvCxnSpPr/>
            <p:nvPr/>
          </p:nvCxnSpPr>
          <p:spPr>
            <a:xfrm>
              <a:off x="652569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86242B42-6C72-3F28-9E58-EF608137018A}"/>
                </a:ext>
              </a:extLst>
            </p:cNvPr>
            <p:cNvCxnSpPr/>
            <p:nvPr/>
          </p:nvCxnSpPr>
          <p:spPr>
            <a:xfrm>
              <a:off x="6626242"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矩形 48">
              <a:extLst>
                <a:ext uri="{FF2B5EF4-FFF2-40B4-BE49-F238E27FC236}">
                  <a16:creationId xmlns:a16="http://schemas.microsoft.com/office/drawing/2014/main" id="{B5AB7D27-38E8-1B19-8383-C4F4298BC10C}"/>
                </a:ext>
              </a:extLst>
            </p:cNvPr>
            <p:cNvSpPr/>
            <p:nvPr/>
          </p:nvSpPr>
          <p:spPr>
            <a:xfrm>
              <a:off x="5654302"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50" name="直接连接符 49">
              <a:extLst>
                <a:ext uri="{FF2B5EF4-FFF2-40B4-BE49-F238E27FC236}">
                  <a16:creationId xmlns:a16="http://schemas.microsoft.com/office/drawing/2014/main" id="{954601FA-8FDA-004F-6B90-98AC784DC922}"/>
                </a:ext>
              </a:extLst>
            </p:cNvPr>
            <p:cNvCxnSpPr/>
            <p:nvPr/>
          </p:nvCxnSpPr>
          <p:spPr>
            <a:xfrm>
              <a:off x="5654302"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38ABD25E-0BB7-E581-5F6A-435F633136BD}"/>
                </a:ext>
              </a:extLst>
            </p:cNvPr>
            <p:cNvCxnSpPr/>
            <p:nvPr/>
          </p:nvCxnSpPr>
          <p:spPr>
            <a:xfrm>
              <a:off x="5654302"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DF55B99E-4BF4-B0A5-CAAF-8D4168C509D3}"/>
                </a:ext>
              </a:extLst>
            </p:cNvPr>
            <p:cNvCxnSpPr/>
            <p:nvPr/>
          </p:nvCxnSpPr>
          <p:spPr>
            <a:xfrm>
              <a:off x="5654302"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6958738D-252B-5948-3FA8-709366EC9CFC}"/>
                </a:ext>
              </a:extLst>
            </p:cNvPr>
            <p:cNvCxnSpPr/>
            <p:nvPr/>
          </p:nvCxnSpPr>
          <p:spPr>
            <a:xfrm>
              <a:off x="5654302"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E8886FC8-9365-3A5B-CEC3-589A18A1CF16}"/>
                </a:ext>
              </a:extLst>
            </p:cNvPr>
            <p:cNvCxnSpPr/>
            <p:nvPr/>
          </p:nvCxnSpPr>
          <p:spPr>
            <a:xfrm>
              <a:off x="57548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5" name="TextBox 176">
              <a:extLst>
                <a:ext uri="{FF2B5EF4-FFF2-40B4-BE49-F238E27FC236}">
                  <a16:creationId xmlns:a16="http://schemas.microsoft.com/office/drawing/2014/main" id="{ED00E4FD-CC21-3B86-6D89-4F32107CC1BA}"/>
                </a:ext>
              </a:extLst>
            </p:cNvPr>
            <p:cNvSpPr txBox="1"/>
            <p:nvPr/>
          </p:nvSpPr>
          <p:spPr>
            <a:xfrm>
              <a:off x="2548237"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latin typeface="微软雅黑 Light" panose="020B0502040204020203" pitchFamily="34" charset="-122"/>
                  <a:ea typeface="微软雅黑 Light" panose="020B0502040204020203" pitchFamily="34" charset="-122"/>
                </a:rPr>
                <a:t>转发表</a:t>
              </a:r>
            </a:p>
          </p:txBody>
        </p:sp>
        <p:cxnSp>
          <p:nvCxnSpPr>
            <p:cNvPr id="56" name="直接连接符 55">
              <a:extLst>
                <a:ext uri="{FF2B5EF4-FFF2-40B4-BE49-F238E27FC236}">
                  <a16:creationId xmlns:a16="http://schemas.microsoft.com/office/drawing/2014/main" id="{FAB3978A-7A19-2385-F537-9E5AE88E7B83}"/>
                </a:ext>
              </a:extLst>
            </p:cNvPr>
            <p:cNvCxnSpPr/>
            <p:nvPr/>
          </p:nvCxnSpPr>
          <p:spPr>
            <a:xfrm>
              <a:off x="1009291" y="2215214"/>
              <a:ext cx="6944264" cy="0"/>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直接箭头连接符 56">
              <a:extLst>
                <a:ext uri="{FF2B5EF4-FFF2-40B4-BE49-F238E27FC236}">
                  <a16:creationId xmlns:a16="http://schemas.microsoft.com/office/drawing/2014/main" id="{D4859D41-2BA5-D7AD-3B63-689821084010}"/>
                </a:ext>
              </a:extLst>
            </p:cNvPr>
            <p:cNvCxnSpPr/>
            <p:nvPr/>
          </p:nvCxnSpPr>
          <p:spPr>
            <a:xfrm>
              <a:off x="3670377"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8" name="直接箭头连接符 57">
              <a:extLst>
                <a:ext uri="{FF2B5EF4-FFF2-40B4-BE49-F238E27FC236}">
                  <a16:creationId xmlns:a16="http://schemas.microsoft.com/office/drawing/2014/main" id="{4F9282FA-56DB-6923-DAE6-5AA32DF60821}"/>
                </a:ext>
              </a:extLst>
            </p:cNvPr>
            <p:cNvCxnSpPr>
              <a:endCxn id="23" idx="0"/>
            </p:cNvCxnSpPr>
            <p:nvPr/>
          </p:nvCxnSpPr>
          <p:spPr>
            <a:xfrm>
              <a:off x="6627077"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9" name="直接箭头连接符 58">
              <a:extLst>
                <a:ext uri="{FF2B5EF4-FFF2-40B4-BE49-F238E27FC236}">
                  <a16:creationId xmlns:a16="http://schemas.microsoft.com/office/drawing/2014/main" id="{1DB9C6F6-EDC2-E1EE-1FDB-27FB1E28F4C9}"/>
                </a:ext>
              </a:extLst>
            </p:cNvPr>
            <p:cNvCxnSpPr/>
            <p:nvPr/>
          </p:nvCxnSpPr>
          <p:spPr>
            <a:xfrm flipH="1">
              <a:off x="5723766"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0" name="直接箭头连接符 59">
              <a:extLst>
                <a:ext uri="{FF2B5EF4-FFF2-40B4-BE49-F238E27FC236}">
                  <a16:creationId xmlns:a16="http://schemas.microsoft.com/office/drawing/2014/main" id="{D076AF21-42DC-84B1-DE2C-E46DE8627520}"/>
                </a:ext>
              </a:extLst>
            </p:cNvPr>
            <p:cNvCxnSpPr/>
            <p:nvPr/>
          </p:nvCxnSpPr>
          <p:spPr>
            <a:xfrm>
              <a:off x="5152849"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1" name="直接箭头连接符 60">
              <a:extLst>
                <a:ext uri="{FF2B5EF4-FFF2-40B4-BE49-F238E27FC236}">
                  <a16:creationId xmlns:a16="http://schemas.microsoft.com/office/drawing/2014/main" id="{1A304E19-576E-45D6-AC1B-B5618C61996E}"/>
                </a:ext>
              </a:extLst>
            </p:cNvPr>
            <p:cNvCxnSpPr/>
            <p:nvPr/>
          </p:nvCxnSpPr>
          <p:spPr>
            <a:xfrm>
              <a:off x="4485937"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62" name="矩形 61">
              <a:extLst>
                <a:ext uri="{FF2B5EF4-FFF2-40B4-BE49-F238E27FC236}">
                  <a16:creationId xmlns:a16="http://schemas.microsoft.com/office/drawing/2014/main" id="{BB61E71A-B141-051E-A6EB-72E856C18772}"/>
                </a:ext>
              </a:extLst>
            </p:cNvPr>
            <p:cNvSpPr/>
            <p:nvPr/>
          </p:nvSpPr>
          <p:spPr>
            <a:xfrm>
              <a:off x="3240212"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Light" panose="020B0502040204020203" pitchFamily="34" charset="-122"/>
                  <a:ea typeface="微软雅黑 Light" panose="020B0502040204020203" pitchFamily="34" charset="-122"/>
                </a:rPr>
                <a:t>远  程  控  制  器</a:t>
              </a:r>
              <a:endParaRPr lang="zh-CN" altLang="en-US" sz="1400" b="1" dirty="0">
                <a:latin typeface="微软雅黑 Light" panose="020B0502040204020203" pitchFamily="34" charset="-122"/>
                <a:ea typeface="微软雅黑 Light" panose="020B0502040204020203" pitchFamily="34" charset="-122"/>
              </a:endParaRPr>
            </a:p>
          </p:txBody>
        </p:sp>
        <p:pic>
          <p:nvPicPr>
            <p:cNvPr id="63" name="Picture 21">
              <a:extLst>
                <a:ext uri="{FF2B5EF4-FFF2-40B4-BE49-F238E27FC236}">
                  <a16:creationId xmlns:a16="http://schemas.microsoft.com/office/drawing/2014/main" id="{FF34968F-A962-5067-5599-EC8248CDB56E}"/>
                </a:ext>
              </a:extLst>
            </p:cNvPr>
            <p:cNvPicPr>
              <a:picLocks noChangeArrowheads="1"/>
            </p:cNvPicPr>
            <p:nvPr/>
          </p:nvPicPr>
          <p:blipFill>
            <a:blip r:embed="rId4" cstate="print"/>
            <a:srcRect/>
            <a:stretch>
              <a:fillRect/>
            </a:stretch>
          </p:blipFill>
          <p:spPr bwMode="auto">
            <a:xfrm>
              <a:off x="2857264" y="1583226"/>
              <a:ext cx="195777" cy="526174"/>
            </a:xfrm>
            <a:prstGeom prst="rect">
              <a:avLst/>
            </a:prstGeom>
            <a:noFill/>
            <a:ln w="12699">
              <a:noFill/>
              <a:miter lim="800000"/>
              <a:headEnd/>
              <a:tailEnd/>
            </a:ln>
            <a:effectLst/>
          </p:spPr>
        </p:pic>
        <p:pic>
          <p:nvPicPr>
            <p:cNvPr id="64" name="Picture 21">
              <a:extLst>
                <a:ext uri="{FF2B5EF4-FFF2-40B4-BE49-F238E27FC236}">
                  <a16:creationId xmlns:a16="http://schemas.microsoft.com/office/drawing/2014/main" id="{4CFFC442-0197-1B8A-A041-FBBF611090D0}"/>
                </a:ext>
              </a:extLst>
            </p:cNvPr>
            <p:cNvPicPr>
              <a:picLocks noChangeArrowheads="1"/>
            </p:cNvPicPr>
            <p:nvPr/>
          </p:nvPicPr>
          <p:blipFill>
            <a:blip r:embed="rId4" cstate="print"/>
            <a:srcRect/>
            <a:stretch>
              <a:fillRect/>
            </a:stretch>
          </p:blipFill>
          <p:spPr bwMode="auto">
            <a:xfrm>
              <a:off x="7196362" y="1583226"/>
              <a:ext cx="195777" cy="526174"/>
            </a:xfrm>
            <a:prstGeom prst="rect">
              <a:avLst/>
            </a:prstGeom>
            <a:noFill/>
            <a:ln w="12699">
              <a:noFill/>
              <a:miter lim="800000"/>
              <a:headEnd/>
              <a:tailEnd/>
            </a:ln>
            <a:effectLst/>
          </p:spPr>
        </p:pic>
        <p:cxnSp>
          <p:nvCxnSpPr>
            <p:cNvPr id="65" name="直接箭头连接符 64">
              <a:extLst>
                <a:ext uri="{FF2B5EF4-FFF2-40B4-BE49-F238E27FC236}">
                  <a16:creationId xmlns:a16="http://schemas.microsoft.com/office/drawing/2014/main" id="{A26069B6-3407-5E80-131D-4DC9E5C26809}"/>
                </a:ext>
              </a:extLst>
            </p:cNvPr>
            <p:cNvCxnSpPr>
              <a:cxnSpLocks/>
            </p:cNvCxnSpPr>
            <p:nvPr/>
          </p:nvCxnSpPr>
          <p:spPr>
            <a:xfrm flipH="1">
              <a:off x="3679398" y="1958545"/>
              <a:ext cx="164088" cy="447976"/>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6" name="直接箭头连接符 65">
              <a:extLst>
                <a:ext uri="{FF2B5EF4-FFF2-40B4-BE49-F238E27FC236}">
                  <a16:creationId xmlns:a16="http://schemas.microsoft.com/office/drawing/2014/main" id="{E3EEC259-3F9D-620F-F6D5-12AAD053140A}"/>
                </a:ext>
              </a:extLst>
            </p:cNvPr>
            <p:cNvCxnSpPr>
              <a:cxnSpLocks/>
            </p:cNvCxnSpPr>
            <p:nvPr/>
          </p:nvCxnSpPr>
          <p:spPr>
            <a:xfrm flipH="1">
              <a:off x="4485742" y="1958545"/>
              <a:ext cx="75315" cy="45124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7" name="直接箭头连接符 66">
              <a:extLst>
                <a:ext uri="{FF2B5EF4-FFF2-40B4-BE49-F238E27FC236}">
                  <a16:creationId xmlns:a16="http://schemas.microsoft.com/office/drawing/2014/main" id="{A381343D-AF36-E646-BC80-4F98117B17B4}"/>
                </a:ext>
              </a:extLst>
            </p:cNvPr>
            <p:cNvCxnSpPr>
              <a:cxnSpLocks/>
            </p:cNvCxnSpPr>
            <p:nvPr/>
          </p:nvCxnSpPr>
          <p:spPr>
            <a:xfrm>
              <a:off x="6457925" y="1958545"/>
              <a:ext cx="167988" cy="44798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8" name="直接箭头连接符 67">
              <a:extLst>
                <a:ext uri="{FF2B5EF4-FFF2-40B4-BE49-F238E27FC236}">
                  <a16:creationId xmlns:a16="http://schemas.microsoft.com/office/drawing/2014/main" id="{58F3524E-4881-5E0C-A6AB-8D20E68A406A}"/>
                </a:ext>
              </a:extLst>
            </p:cNvPr>
            <p:cNvCxnSpPr>
              <a:cxnSpLocks/>
            </p:cNvCxnSpPr>
            <p:nvPr/>
          </p:nvCxnSpPr>
          <p:spPr>
            <a:xfrm>
              <a:off x="5654302" y="1958545"/>
              <a:ext cx="101898" cy="45055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9" name="直接箭头连接符 68">
              <a:extLst>
                <a:ext uri="{FF2B5EF4-FFF2-40B4-BE49-F238E27FC236}">
                  <a16:creationId xmlns:a16="http://schemas.microsoft.com/office/drawing/2014/main" id="{2DD306EC-7C01-B562-B7DA-947854A3F5CC}"/>
                </a:ext>
              </a:extLst>
            </p:cNvPr>
            <p:cNvCxnSpPr>
              <a:cxnSpLocks/>
              <a:stCxn id="62" idx="2"/>
              <a:endCxn id="37" idx="0"/>
            </p:cNvCxnSpPr>
            <p:nvPr/>
          </p:nvCxnSpPr>
          <p:spPr>
            <a:xfrm>
              <a:off x="5083548" y="1958545"/>
              <a:ext cx="68027" cy="44917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0" name="TextBox 179">
              <a:extLst>
                <a:ext uri="{FF2B5EF4-FFF2-40B4-BE49-F238E27FC236}">
                  <a16:creationId xmlns:a16="http://schemas.microsoft.com/office/drawing/2014/main" id="{8A363DA4-9A8B-8B21-72B7-71E8A8B758DE}"/>
                </a:ext>
              </a:extLst>
            </p:cNvPr>
            <p:cNvSpPr txBox="1"/>
            <p:nvPr/>
          </p:nvSpPr>
          <p:spPr>
            <a:xfrm>
              <a:off x="1249993" y="1881728"/>
              <a:ext cx="1049536" cy="307777"/>
            </a:xfrm>
            <a:prstGeom prst="rect">
              <a:avLst/>
            </a:prstGeom>
            <a:solidFill>
              <a:srgbClr val="33CC33"/>
            </a:solidFill>
            <a:ln>
              <a:noFill/>
            </a:ln>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71" name="TextBox 180">
              <a:extLst>
                <a:ext uri="{FF2B5EF4-FFF2-40B4-BE49-F238E27FC236}">
                  <a16:creationId xmlns:a16="http://schemas.microsoft.com/office/drawing/2014/main" id="{6470AB66-0C25-2DF4-E41F-A393B6FA34B5}"/>
                </a:ext>
              </a:extLst>
            </p:cNvPr>
            <p:cNvSpPr txBox="1"/>
            <p:nvPr/>
          </p:nvSpPr>
          <p:spPr>
            <a:xfrm>
              <a:off x="1249993" y="2254786"/>
              <a:ext cx="1049536" cy="307777"/>
            </a:xfrm>
            <a:prstGeom prst="rect">
              <a:avLst/>
            </a:prstGeom>
            <a:solidFill>
              <a:schemeClr val="accent6">
                <a:lumMod val="75000"/>
              </a:schemeClr>
            </a:solidFill>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数据层面</a:t>
              </a:r>
            </a:p>
          </p:txBody>
        </p:sp>
        <p:grpSp>
          <p:nvGrpSpPr>
            <p:cNvPr id="72" name="组合 71">
              <a:extLst>
                <a:ext uri="{FF2B5EF4-FFF2-40B4-BE49-F238E27FC236}">
                  <a16:creationId xmlns:a16="http://schemas.microsoft.com/office/drawing/2014/main" id="{AD9C0C51-C4E2-072C-227A-6BE17F9686F1}"/>
                </a:ext>
              </a:extLst>
            </p:cNvPr>
            <p:cNvGrpSpPr/>
            <p:nvPr/>
          </p:nvGrpSpPr>
          <p:grpSpPr>
            <a:xfrm>
              <a:off x="1062847" y="1569143"/>
              <a:ext cx="206062" cy="1296144"/>
              <a:chOff x="199861" y="1988840"/>
              <a:chExt cx="288414" cy="1440160"/>
            </a:xfrm>
          </p:grpSpPr>
          <p:sp>
            <p:nvSpPr>
              <p:cNvPr id="77" name="上箭头 165">
                <a:extLst>
                  <a:ext uri="{FF2B5EF4-FFF2-40B4-BE49-F238E27FC236}">
                    <a16:creationId xmlns:a16="http://schemas.microsoft.com/office/drawing/2014/main" id="{F9B56A7A-B121-742E-4DB2-51776A8D298E}"/>
                  </a:ext>
                </a:extLst>
              </p:cNvPr>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sp>
            <p:nvSpPr>
              <p:cNvPr id="78" name="上箭头 166">
                <a:extLst>
                  <a:ext uri="{FF2B5EF4-FFF2-40B4-BE49-F238E27FC236}">
                    <a16:creationId xmlns:a16="http://schemas.microsoft.com/office/drawing/2014/main" id="{5979310C-4521-CC86-226C-30AFE8F78194}"/>
                  </a:ext>
                </a:extLst>
              </p:cNvPr>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grpSp>
        <p:cxnSp>
          <p:nvCxnSpPr>
            <p:cNvPr id="73" name="直接箭头连接符 72">
              <a:extLst>
                <a:ext uri="{FF2B5EF4-FFF2-40B4-BE49-F238E27FC236}">
                  <a16:creationId xmlns:a16="http://schemas.microsoft.com/office/drawing/2014/main" id="{B5C16F11-50E2-ECD8-24BA-F400F14AFEA6}"/>
                </a:ext>
              </a:extLst>
            </p:cNvPr>
            <p:cNvCxnSpPr/>
            <p:nvPr/>
          </p:nvCxnSpPr>
          <p:spPr>
            <a:xfrm flipV="1">
              <a:off x="3212645"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74" name="Picture 239" descr="jisuanji">
              <a:extLst>
                <a:ext uri="{FF2B5EF4-FFF2-40B4-BE49-F238E27FC236}">
                  <a16:creationId xmlns:a16="http://schemas.microsoft.com/office/drawing/2014/main" id="{76C57FCA-B0A4-646D-677A-700D76EA057B}"/>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98744"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239" descr="jisuanji">
              <a:extLst>
                <a:ext uri="{FF2B5EF4-FFF2-40B4-BE49-F238E27FC236}">
                  <a16:creationId xmlns:a16="http://schemas.microsoft.com/office/drawing/2014/main" id="{ACA77A86-12CC-DC5B-D2C6-4FBB3918B205}"/>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7788"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76" name="椭圆 75">
              <a:extLst>
                <a:ext uri="{FF2B5EF4-FFF2-40B4-BE49-F238E27FC236}">
                  <a16:creationId xmlns:a16="http://schemas.microsoft.com/office/drawing/2014/main" id="{1D2E0BE7-30D0-D7A7-F1EF-104E5C829EAD}"/>
                </a:ext>
              </a:extLst>
            </p:cNvPr>
            <p:cNvSpPr/>
            <p:nvPr/>
          </p:nvSpPr>
          <p:spPr>
            <a:xfrm>
              <a:off x="3575364" y="1351374"/>
              <a:ext cx="3150428" cy="331342"/>
            </a:xfrm>
            <a:prstGeom prst="ellipse">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27752120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10"/>
          <p:cNvSpPr>
            <a:spLocks noChangeArrowheads="1"/>
          </p:cNvSpPr>
          <p:nvPr/>
        </p:nvSpPr>
        <p:spPr bwMode="auto">
          <a:xfrm>
            <a:off x="2629135" y="280267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0" name="Rectangle 11"/>
          <p:cNvSpPr>
            <a:spLocks noChangeArrowheads="1"/>
          </p:cNvSpPr>
          <p:nvPr/>
        </p:nvSpPr>
        <p:spPr bwMode="auto">
          <a:xfrm>
            <a:off x="2629135" y="342020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1" name="Rectangle 9"/>
          <p:cNvSpPr>
            <a:spLocks noChangeArrowheads="1"/>
          </p:cNvSpPr>
          <p:nvPr/>
        </p:nvSpPr>
        <p:spPr bwMode="auto">
          <a:xfrm>
            <a:off x="2629135" y="98514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591573"/>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20911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728985"/>
            <a:ext cx="0" cy="3676759"/>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00573" y="950604"/>
            <a:ext cx="5574294" cy="31700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4.2.1                                          </a:t>
            </a:r>
            <a:r>
              <a:rPr lang="zh-CN" altLang="en-US" sz="2000" b="1" dirty="0">
                <a:solidFill>
                  <a:schemeClr val="bg1"/>
                </a:solidFill>
                <a:latin typeface="微软雅黑" pitchFamily="34" charset="-122"/>
                <a:ea typeface="微软雅黑" pitchFamily="34" charset="-122"/>
              </a:rPr>
              <a:t>虚拟互连网络</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4.2.2                                        </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4.2.3                               IP </a:t>
            </a:r>
            <a:r>
              <a:rPr lang="zh-CN" altLang="en-US" sz="2000" b="1" dirty="0">
                <a:solidFill>
                  <a:schemeClr val="bg1"/>
                </a:solidFill>
                <a:latin typeface="微软雅黑" pitchFamily="34" charset="-122"/>
                <a:ea typeface="微软雅黑" pitchFamily="34" charset="-122"/>
              </a:rPr>
              <a:t>地址与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地址</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4.2.4                                  </a:t>
            </a:r>
            <a:r>
              <a:rPr lang="zh-CN" altLang="en-US" sz="2000" b="1" dirty="0">
                <a:solidFill>
                  <a:schemeClr val="bg1"/>
                </a:solidFill>
                <a:latin typeface="微软雅黑" pitchFamily="34" charset="-122"/>
                <a:ea typeface="微软雅黑" pitchFamily="34" charset="-122"/>
              </a:rPr>
              <a:t>地址解析协议 </a:t>
            </a:r>
            <a:r>
              <a:rPr lang="en-US" altLang="zh-CN" sz="2000" b="1" dirty="0">
                <a:solidFill>
                  <a:schemeClr val="bg1"/>
                </a:solidFill>
                <a:latin typeface="微软雅黑" pitchFamily="34" charset="-122"/>
                <a:ea typeface="微软雅黑" pitchFamily="34" charset="-122"/>
              </a:rPr>
              <a:t>ARP</a:t>
            </a:r>
          </a:p>
          <a:p>
            <a:endParaRPr lang="en-US" altLang="zh-CN"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4.2.5                                      IP </a:t>
            </a:r>
            <a:r>
              <a:rPr lang="zh-CN" altLang="en-US" sz="2000" b="1" dirty="0">
                <a:solidFill>
                  <a:schemeClr val="bg1"/>
                </a:solidFill>
                <a:latin typeface="微软雅黑" pitchFamily="34" charset="-122"/>
                <a:ea typeface="微软雅黑" pitchFamily="34" charset="-122"/>
              </a:rPr>
              <a:t>数据报的格式</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p:txBody>
      </p:sp>
      <p:sp>
        <p:nvSpPr>
          <p:cNvPr id="16" name="Rectangle 27"/>
          <p:cNvSpPr>
            <a:spLocks noChangeArrowheads="1"/>
          </p:cNvSpPr>
          <p:nvPr/>
        </p:nvSpPr>
        <p:spPr bwMode="auto">
          <a:xfrm>
            <a:off x="639730" y="985148"/>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080080"/>
            <a:ext cx="1627651"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4.2</a:t>
            </a:r>
          </a:p>
          <a:p>
            <a:r>
              <a:rPr lang="zh-CN" altLang="en-US" sz="2000" b="1" dirty="0">
                <a:solidFill>
                  <a:schemeClr val="bg1"/>
                </a:solidFill>
                <a:latin typeface="微软雅黑" pitchFamily="34" charset="-122"/>
                <a:ea typeface="微软雅黑" pitchFamily="34" charset="-122"/>
              </a:rPr>
              <a:t>网际协议 </a:t>
            </a:r>
            <a:r>
              <a:rPr lang="en-US" altLang="zh-CN" sz="2000" b="1" dirty="0">
                <a:solidFill>
                  <a:schemeClr val="bg1"/>
                </a:solidFill>
                <a:latin typeface="微软雅黑" pitchFamily="34" charset="-122"/>
                <a:ea typeface="微软雅黑" pitchFamily="34" charset="-122"/>
              </a:rPr>
              <a:t>IP</a:t>
            </a:r>
            <a:endParaRPr lang="zh-CN" altLang="en-US"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00068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内容占位符 35">
            <a:extLst>
              <a:ext uri="{FF2B5EF4-FFF2-40B4-BE49-F238E27FC236}">
                <a16:creationId xmlns:a16="http://schemas.microsoft.com/office/drawing/2014/main" id="{348A1CF9-8876-B07C-ACD9-0B109C7A24CC}"/>
              </a:ext>
            </a:extLst>
          </p:cNvPr>
          <p:cNvSpPr>
            <a:spLocks noGrp="1"/>
          </p:cNvSpPr>
          <p:nvPr>
            <p:ph sz="quarter" idx="11"/>
          </p:nvPr>
        </p:nvSpPr>
        <p:spPr>
          <a:xfrm>
            <a:off x="486000" y="900000"/>
            <a:ext cx="8172000" cy="3703500"/>
          </a:xfrm>
        </p:spPr>
        <p:txBody>
          <a:bodyPr/>
          <a:lstStyle/>
          <a:p>
            <a:r>
              <a:rPr lang="zh-CN" altLang="en-US" dirty="0"/>
              <a:t>地址解析协议 </a:t>
            </a:r>
            <a:r>
              <a:rPr lang="fr-FR" altLang="zh-CN" dirty="0"/>
              <a:t>ARP</a:t>
            </a:r>
          </a:p>
          <a:p>
            <a:pPr lvl="1"/>
            <a:r>
              <a:rPr lang="fr-FR" altLang="zh-CN" dirty="0"/>
              <a:t>Address Resolution Protocol</a:t>
            </a:r>
          </a:p>
          <a:p>
            <a:r>
              <a:rPr lang="zh-CN" altLang="en-US" dirty="0"/>
              <a:t>网际控制报文协议 </a:t>
            </a:r>
            <a:r>
              <a:rPr lang="fr-FR" altLang="zh-CN" dirty="0"/>
              <a:t>ICMP</a:t>
            </a:r>
          </a:p>
          <a:p>
            <a:pPr lvl="1"/>
            <a:r>
              <a:rPr lang="fr-FR" altLang="zh-CN" dirty="0"/>
              <a:t>Internet Control Message Protocol</a:t>
            </a:r>
          </a:p>
          <a:p>
            <a:r>
              <a:rPr lang="zh-CN" altLang="en-US" dirty="0"/>
              <a:t>网际组管理协议 </a:t>
            </a:r>
            <a:r>
              <a:rPr lang="fr-FR" altLang="zh-CN" dirty="0"/>
              <a:t>IGMP</a:t>
            </a:r>
          </a:p>
          <a:p>
            <a:pPr lvl="1"/>
            <a:r>
              <a:rPr lang="fr-FR" altLang="zh-CN" dirty="0"/>
              <a:t>Internet Group Management Protocol</a:t>
            </a:r>
            <a:endParaRPr lang="zh-CN" altLang="en-US" dirty="0"/>
          </a:p>
        </p:txBody>
      </p:sp>
      <p:grpSp>
        <p:nvGrpSpPr>
          <p:cNvPr id="3" name="组合 2"/>
          <p:cNvGrpSpPr/>
          <p:nvPr/>
        </p:nvGrpSpPr>
        <p:grpSpPr>
          <a:xfrm>
            <a:off x="4572000" y="1492146"/>
            <a:ext cx="3416249" cy="2751241"/>
            <a:chOff x="2372076" y="1403136"/>
            <a:chExt cx="4224107" cy="2751241"/>
          </a:xfrm>
        </p:grpSpPr>
        <p:sp>
          <p:nvSpPr>
            <p:cNvPr id="15" name="Text Box 9"/>
            <p:cNvSpPr txBox="1">
              <a:spLocks noChangeArrowheads="1"/>
            </p:cNvSpPr>
            <p:nvPr/>
          </p:nvSpPr>
          <p:spPr bwMode="auto">
            <a:xfrm>
              <a:off x="2372076" y="3355900"/>
              <a:ext cx="1294691" cy="2328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a:latin typeface="Montserrat" panose="00000500000000000000" pitchFamily="2" charset="0"/>
                  <a:ea typeface="微软雅黑 Light" panose="020B0502040204020203" pitchFamily="34" charset="-122"/>
                </a:rPr>
                <a:t>  </a:t>
              </a:r>
              <a:r>
                <a:rPr kumimoji="1" lang="zh-CN" altLang="en-US" sz="1200">
                  <a:latin typeface="Montserrat" panose="00000500000000000000" pitchFamily="2" charset="0"/>
                  <a:ea typeface="微软雅黑 Light" panose="020B0502040204020203" pitchFamily="34" charset="-122"/>
                </a:rPr>
                <a:t>网络接口层</a:t>
              </a:r>
            </a:p>
          </p:txBody>
        </p:sp>
        <p:sp>
          <p:nvSpPr>
            <p:cNvPr id="19" name="Text Box 13"/>
            <p:cNvSpPr txBox="1">
              <a:spLocks noChangeArrowheads="1"/>
            </p:cNvSpPr>
            <p:nvPr/>
          </p:nvSpPr>
          <p:spPr bwMode="auto">
            <a:xfrm>
              <a:off x="2714268" y="1977466"/>
              <a:ext cx="7991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Montserrat" panose="00000500000000000000" pitchFamily="2" charset="0"/>
                  <a:ea typeface="微软雅黑 Light" panose="020B0502040204020203" pitchFamily="34" charset="-122"/>
                </a:rPr>
                <a:t>运输层</a:t>
              </a:r>
            </a:p>
          </p:txBody>
        </p:sp>
        <p:sp>
          <p:nvSpPr>
            <p:cNvPr id="21" name="Text Box 15"/>
            <p:cNvSpPr txBox="1">
              <a:spLocks noChangeArrowheads="1"/>
            </p:cNvSpPr>
            <p:nvPr/>
          </p:nvSpPr>
          <p:spPr bwMode="auto">
            <a:xfrm>
              <a:off x="2747925" y="1520750"/>
              <a:ext cx="7991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应用层</a:t>
              </a:r>
            </a:p>
          </p:txBody>
        </p:sp>
        <p:sp>
          <p:nvSpPr>
            <p:cNvPr id="27" name="Line 22"/>
            <p:cNvSpPr>
              <a:spLocks noChangeShapeType="1"/>
            </p:cNvSpPr>
            <p:nvPr/>
          </p:nvSpPr>
          <p:spPr bwMode="auto">
            <a:xfrm>
              <a:off x="2562806" y="1959860"/>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8" name="Line 23"/>
            <p:cNvSpPr>
              <a:spLocks noChangeShapeType="1"/>
            </p:cNvSpPr>
            <p:nvPr/>
          </p:nvSpPr>
          <p:spPr bwMode="auto">
            <a:xfrm>
              <a:off x="2562806" y="2313013"/>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9" name="Line 24"/>
            <p:cNvSpPr>
              <a:spLocks noChangeShapeType="1"/>
            </p:cNvSpPr>
            <p:nvPr/>
          </p:nvSpPr>
          <p:spPr bwMode="auto">
            <a:xfrm>
              <a:off x="2581879" y="3270978"/>
              <a:ext cx="1079307"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0" name="Line 25"/>
            <p:cNvSpPr>
              <a:spLocks noChangeShapeType="1"/>
            </p:cNvSpPr>
            <p:nvPr/>
          </p:nvSpPr>
          <p:spPr bwMode="auto">
            <a:xfrm>
              <a:off x="3513355" y="231301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1" name="Text Box 26"/>
            <p:cNvSpPr txBox="1">
              <a:spLocks noChangeArrowheads="1"/>
            </p:cNvSpPr>
            <p:nvPr/>
          </p:nvSpPr>
          <p:spPr bwMode="auto">
            <a:xfrm>
              <a:off x="2514069" y="2497357"/>
              <a:ext cx="1165222" cy="461665"/>
            </a:xfrm>
            <a:prstGeom prst="rect">
              <a:avLst/>
            </a:prstGeom>
            <a:noFill/>
            <a:ln>
              <a:noFill/>
            </a:ln>
            <a:effectLst/>
          </p:spPr>
          <p:txBody>
            <a:bodyPr wrap="square">
              <a:spAutoFit/>
            </a:bodyPr>
            <a:lstStyle/>
            <a:p>
              <a:pPr algn="ctr"/>
              <a:r>
                <a:rPr kumimoji="1" lang="zh-CN" altLang="en-US" sz="1200" dirty="0">
                  <a:solidFill>
                    <a:srgbClr val="C00000"/>
                  </a:solidFill>
                  <a:latin typeface="Montserrat" panose="00000500000000000000" pitchFamily="2" charset="0"/>
                  <a:ea typeface="微软雅黑 Light" panose="020B0502040204020203" pitchFamily="34" charset="-122"/>
                </a:rPr>
                <a:t>网络层</a:t>
              </a:r>
              <a:endParaRPr kumimoji="1" lang="en-US" altLang="zh-CN" sz="1200" dirty="0">
                <a:solidFill>
                  <a:srgbClr val="C00000"/>
                </a:solidFill>
                <a:latin typeface="Montserrat" panose="00000500000000000000" pitchFamily="2" charset="0"/>
                <a:ea typeface="微软雅黑 Light" panose="020B0502040204020203" pitchFamily="34" charset="-122"/>
              </a:endParaRPr>
            </a:p>
            <a:p>
              <a:pPr algn="ctr"/>
              <a:r>
                <a:rPr kumimoji="1" lang="zh-CN" altLang="en-US" sz="1200" dirty="0">
                  <a:solidFill>
                    <a:srgbClr val="C00000"/>
                  </a:solidFill>
                  <a:latin typeface="Montserrat" panose="00000500000000000000" pitchFamily="2" charset="0"/>
                  <a:ea typeface="微软雅黑 Light" panose="020B0502040204020203" pitchFamily="34" charset="-122"/>
                </a:rPr>
                <a:t>（网际层）</a:t>
              </a:r>
            </a:p>
          </p:txBody>
        </p:sp>
        <p:grpSp>
          <p:nvGrpSpPr>
            <p:cNvPr id="2" name="组合 1"/>
            <p:cNvGrpSpPr/>
            <p:nvPr/>
          </p:nvGrpSpPr>
          <p:grpSpPr>
            <a:xfrm>
              <a:off x="3718405" y="1403136"/>
              <a:ext cx="2877778" cy="2751241"/>
              <a:chOff x="3718405" y="1403136"/>
              <a:chExt cx="2877778" cy="2751241"/>
            </a:xfrm>
          </p:grpSpPr>
          <p:sp>
            <p:nvSpPr>
              <p:cNvPr id="8" name="Rectangle 5"/>
              <p:cNvSpPr>
                <a:spLocks noChangeArrowheads="1"/>
              </p:cNvSpPr>
              <p:nvPr/>
            </p:nvSpPr>
            <p:spPr bwMode="auto">
              <a:xfrm>
                <a:off x="3721771" y="1403723"/>
                <a:ext cx="2874412" cy="2223514"/>
              </a:xfrm>
              <a:prstGeom prst="rect">
                <a:avLst/>
              </a:prstGeom>
              <a:no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a:solidFill>
                    <a:srgbClr val="000099"/>
                  </a:solidFill>
                  <a:latin typeface="Montserrat" panose="00000500000000000000" pitchFamily="2" charset="0"/>
                  <a:ea typeface="微软雅黑 Light" panose="020B0502040204020203" pitchFamily="34" charset="-122"/>
                </a:endParaRPr>
              </a:p>
            </p:txBody>
          </p:sp>
          <p:sp>
            <p:nvSpPr>
              <p:cNvPr id="9" name="矩形 8"/>
              <p:cNvSpPr/>
              <p:nvPr/>
            </p:nvSpPr>
            <p:spPr>
              <a:xfrm>
                <a:off x="3721771" y="2313013"/>
                <a:ext cx="2874412"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10" name="Rectangle 4"/>
              <p:cNvSpPr>
                <a:spLocks noChangeArrowheads="1"/>
              </p:cNvSpPr>
              <p:nvPr/>
            </p:nvSpPr>
            <p:spPr bwMode="auto">
              <a:xfrm>
                <a:off x="3721771" y="2313013"/>
                <a:ext cx="2874412" cy="960036"/>
              </a:xfrm>
              <a:prstGeom prst="rect">
                <a:avLst/>
              </a:prstGeom>
              <a:solidFill>
                <a:srgbClr val="FFFF66"/>
              </a:solidFill>
              <a:ln>
                <a:noFill/>
              </a:ln>
              <a:effectLst/>
            </p:spPr>
            <p:txBody>
              <a:bodyPr wrap="none" anchor="ct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11" name="Line 6"/>
              <p:cNvSpPr>
                <a:spLocks noChangeShapeType="1"/>
              </p:cNvSpPr>
              <p:nvPr/>
            </p:nvSpPr>
            <p:spPr bwMode="auto">
              <a:xfrm>
                <a:off x="3721771" y="1959860"/>
                <a:ext cx="287441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2" name="Line 7"/>
              <p:cNvSpPr>
                <a:spLocks noChangeShapeType="1"/>
              </p:cNvSpPr>
              <p:nvPr/>
            </p:nvSpPr>
            <p:spPr bwMode="auto">
              <a:xfrm>
                <a:off x="3721771" y="2313013"/>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3" name="Text Box 8"/>
              <p:cNvSpPr txBox="1">
                <a:spLocks noChangeArrowheads="1"/>
              </p:cNvSpPr>
              <p:nvPr/>
            </p:nvSpPr>
            <p:spPr bwMode="auto">
              <a:xfrm>
                <a:off x="4410642" y="1403136"/>
                <a:ext cx="156028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各种应用层协议</a:t>
                </a:r>
              </a:p>
            </p:txBody>
          </p:sp>
          <p:sp>
            <p:nvSpPr>
              <p:cNvPr id="16" name="Text Box 10"/>
              <p:cNvSpPr txBox="1">
                <a:spLocks noChangeArrowheads="1"/>
              </p:cNvSpPr>
              <p:nvPr/>
            </p:nvSpPr>
            <p:spPr bwMode="auto">
              <a:xfrm>
                <a:off x="4044889" y="1645744"/>
                <a:ext cx="219455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(HTTP, FTP, SMTP </a:t>
                </a:r>
                <a:r>
                  <a:rPr kumimoji="1" lang="zh-CN" altLang="zh-CN" sz="1200" dirty="0">
                    <a:latin typeface="Montserrat" panose="00000500000000000000" pitchFamily="2" charset="0"/>
                    <a:ea typeface="微软雅黑 Light" panose="020B0502040204020203" pitchFamily="34" charset="-122"/>
                  </a:rPr>
                  <a:t>等</a:t>
                </a:r>
                <a:r>
                  <a:rPr kumimoji="1" lang="en-US" altLang="zh-CN" sz="1200" dirty="0">
                    <a:latin typeface="Montserrat" panose="00000500000000000000" pitchFamily="2" charset="0"/>
                    <a:ea typeface="微软雅黑 Light" panose="020B0502040204020203" pitchFamily="34" charset="-122"/>
                  </a:rPr>
                  <a:t>)</a:t>
                </a:r>
              </a:p>
            </p:txBody>
          </p:sp>
          <p:sp>
            <p:nvSpPr>
              <p:cNvPr id="17" name="Rectangle 11"/>
              <p:cNvSpPr>
                <a:spLocks noChangeArrowheads="1"/>
              </p:cNvSpPr>
              <p:nvPr/>
            </p:nvSpPr>
            <p:spPr bwMode="auto">
              <a:xfrm>
                <a:off x="3718405" y="3677984"/>
                <a:ext cx="2877778"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8" name="Text Box 12"/>
              <p:cNvSpPr txBox="1">
                <a:spLocks noChangeArrowheads="1"/>
              </p:cNvSpPr>
              <p:nvPr/>
            </p:nvSpPr>
            <p:spPr bwMode="auto">
              <a:xfrm>
                <a:off x="4661957" y="3760589"/>
                <a:ext cx="98945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物理硬件</a:t>
                </a:r>
              </a:p>
            </p:txBody>
          </p:sp>
          <p:sp>
            <p:nvSpPr>
              <p:cNvPr id="20" name="Text Box 14"/>
              <p:cNvSpPr txBox="1">
                <a:spLocks noChangeArrowheads="1"/>
              </p:cNvSpPr>
              <p:nvPr/>
            </p:nvSpPr>
            <p:spPr bwMode="auto">
              <a:xfrm>
                <a:off x="4739371" y="1984375"/>
                <a:ext cx="114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TCP, UDP</a:t>
                </a:r>
              </a:p>
            </p:txBody>
          </p:sp>
          <p:sp>
            <p:nvSpPr>
              <p:cNvPr id="22" name="Rectangle 16"/>
              <p:cNvSpPr>
                <a:spLocks noChangeArrowheads="1"/>
              </p:cNvSpPr>
              <p:nvPr/>
            </p:nvSpPr>
            <p:spPr bwMode="auto">
              <a:xfrm>
                <a:off x="3781234" y="2343046"/>
                <a:ext cx="685505"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dirty="0">
                    <a:latin typeface="Montserrat" panose="00000500000000000000" pitchFamily="2" charset="0"/>
                    <a:ea typeface="微软雅黑 Light" panose="020B0502040204020203" pitchFamily="34" charset="-122"/>
                  </a:rPr>
                  <a:t>ICMP</a:t>
                </a:r>
              </a:p>
            </p:txBody>
          </p:sp>
          <p:sp>
            <p:nvSpPr>
              <p:cNvPr id="23" name="Text Box 17"/>
              <p:cNvSpPr txBox="1">
                <a:spLocks noChangeArrowheads="1"/>
              </p:cNvSpPr>
              <p:nvPr/>
            </p:nvSpPr>
            <p:spPr bwMode="auto">
              <a:xfrm>
                <a:off x="4975193" y="2674159"/>
                <a:ext cx="4225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000099"/>
                    </a:solidFill>
                    <a:latin typeface="Montserrat" panose="00000500000000000000" pitchFamily="2" charset="0"/>
                    <a:ea typeface="微软雅黑 Light" panose="020B0502040204020203" pitchFamily="34" charset="-122"/>
                  </a:rPr>
                  <a:t>IP</a:t>
                </a:r>
              </a:p>
            </p:txBody>
          </p:sp>
          <p:sp>
            <p:nvSpPr>
              <p:cNvPr id="24" name="Rectangle 19"/>
              <p:cNvSpPr>
                <a:spLocks noChangeArrowheads="1"/>
              </p:cNvSpPr>
              <p:nvPr/>
            </p:nvSpPr>
            <p:spPr bwMode="auto">
              <a:xfrm>
                <a:off x="5910678" y="2970643"/>
                <a:ext cx="624920"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dirty="0">
                    <a:latin typeface="Montserrat" panose="00000500000000000000" pitchFamily="2" charset="0"/>
                    <a:ea typeface="微软雅黑 Light" panose="020B0502040204020203" pitchFamily="34" charset="-122"/>
                  </a:rPr>
                  <a:t>ARP</a:t>
                </a:r>
              </a:p>
            </p:txBody>
          </p:sp>
          <p:sp>
            <p:nvSpPr>
              <p:cNvPr id="25" name="Text Box 20"/>
              <p:cNvSpPr txBox="1">
                <a:spLocks noChangeArrowheads="1"/>
              </p:cNvSpPr>
              <p:nvPr/>
            </p:nvSpPr>
            <p:spPr bwMode="auto">
              <a:xfrm>
                <a:off x="4375862" y="3290337"/>
                <a:ext cx="156028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与各种网络接口</a:t>
                </a:r>
              </a:p>
            </p:txBody>
          </p:sp>
          <p:sp>
            <p:nvSpPr>
              <p:cNvPr id="26" name="Line 21"/>
              <p:cNvSpPr>
                <a:spLocks noChangeShapeType="1"/>
              </p:cNvSpPr>
              <p:nvPr/>
            </p:nvSpPr>
            <p:spPr bwMode="auto">
              <a:xfrm>
                <a:off x="3721771" y="3273049"/>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2" name="Rectangle 27"/>
              <p:cNvSpPr>
                <a:spLocks noChangeArrowheads="1"/>
              </p:cNvSpPr>
              <p:nvPr/>
            </p:nvSpPr>
            <p:spPr bwMode="auto">
              <a:xfrm>
                <a:off x="4500398" y="2343046"/>
                <a:ext cx="684384"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a:latin typeface="Montserrat" panose="00000500000000000000" pitchFamily="2" charset="0"/>
                    <a:ea typeface="微软雅黑 Light" panose="020B0502040204020203" pitchFamily="34" charset="-122"/>
                  </a:rPr>
                  <a:t>IGMP</a:t>
                </a:r>
              </a:p>
            </p:txBody>
          </p:sp>
        </p:grpSp>
        <p:sp>
          <p:nvSpPr>
            <p:cNvPr id="33" name="Line 28"/>
            <p:cNvSpPr>
              <a:spLocks noChangeShapeType="1"/>
            </p:cNvSpPr>
            <p:nvPr/>
          </p:nvSpPr>
          <p:spPr bwMode="auto">
            <a:xfrm flipV="1">
              <a:off x="2571782" y="1403723"/>
              <a:ext cx="1089404"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4" name="Line 29"/>
            <p:cNvSpPr>
              <a:spLocks noChangeShapeType="1"/>
            </p:cNvSpPr>
            <p:nvPr/>
          </p:nvSpPr>
          <p:spPr bwMode="auto">
            <a:xfrm>
              <a:off x="2552708" y="3627237"/>
              <a:ext cx="110847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grpSp>
      <p:sp>
        <p:nvSpPr>
          <p:cNvPr id="4" name="标题 3">
            <a:extLst>
              <a:ext uri="{FF2B5EF4-FFF2-40B4-BE49-F238E27FC236}">
                <a16:creationId xmlns:a16="http://schemas.microsoft.com/office/drawing/2014/main" id="{DD2882D4-A45B-696F-F6FD-CABEE939D1CE}"/>
              </a:ext>
            </a:extLst>
          </p:cNvPr>
          <p:cNvSpPr>
            <a:spLocks noGrp="1"/>
          </p:cNvSpPr>
          <p:nvPr>
            <p:ph type="title"/>
          </p:nvPr>
        </p:nvSpPr>
        <p:spPr>
          <a:xfrm>
            <a:off x="486000" y="550723"/>
            <a:ext cx="8172000" cy="338554"/>
          </a:xfrm>
        </p:spPr>
        <p:txBody>
          <a:bodyPr/>
          <a:lstStyle/>
          <a:p>
            <a:r>
              <a:rPr lang="en-US" altLang="zh-CN" dirty="0"/>
              <a:t>4.2  </a:t>
            </a:r>
            <a:r>
              <a:rPr lang="zh-CN" altLang="en-US" dirty="0"/>
              <a:t>网际协议 </a:t>
            </a:r>
            <a:r>
              <a:rPr lang="en-US" altLang="zh-CN" dirty="0"/>
              <a:t>IP </a:t>
            </a:r>
            <a:endParaRPr lang="zh-CN" altLang="en-US" dirty="0"/>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矩形 11"/>
          <p:cNvSpPr/>
          <p:nvPr/>
        </p:nvSpPr>
        <p:spPr>
          <a:xfrm>
            <a:off x="2232827" y="4415231"/>
            <a:ext cx="4678347" cy="307777"/>
          </a:xfrm>
          <a:prstGeom prst="rect">
            <a:avLst/>
          </a:prstGeom>
          <a:noFill/>
        </p:spPr>
        <p:txBody>
          <a:bodyPr wrap="square">
            <a:spAutoFit/>
          </a:bodyPr>
          <a:lstStyle/>
          <a:p>
            <a:pPr algn="ctr"/>
            <a:r>
              <a:rPr lang="zh-CN" altLang="en-US" sz="1400" dirty="0">
                <a:latin typeface="微软雅黑 Light" panose="020B0502040204020203" pitchFamily="34" charset="-122"/>
                <a:ea typeface="微软雅黑 Light" panose="020B0502040204020203" pitchFamily="34" charset="-122"/>
              </a:rPr>
              <a:t>如何</a:t>
            </a:r>
            <a:r>
              <a:rPr lang="zh-CN" altLang="zh-CN" sz="1400" dirty="0">
                <a:latin typeface="微软雅黑 Light" panose="020B0502040204020203" pitchFamily="34" charset="-122"/>
                <a:ea typeface="微软雅黑 Light" panose="020B0502040204020203" pitchFamily="34" charset="-122"/>
              </a:rPr>
              <a:t>将</a:t>
            </a:r>
            <a:r>
              <a:rPr lang="zh-CN" altLang="en-US" sz="1400" dirty="0">
                <a:latin typeface="微软雅黑 Light" panose="020B0502040204020203" pitchFamily="34" charset="-122"/>
                <a:ea typeface="微软雅黑 Light" panose="020B0502040204020203" pitchFamily="34" charset="-122"/>
              </a:rPr>
              <a:t>异构的</a:t>
            </a:r>
            <a:r>
              <a:rPr lang="zh-CN" altLang="zh-CN" sz="1400" dirty="0">
                <a:latin typeface="微软雅黑 Light" panose="020B0502040204020203" pitchFamily="34" charset="-122"/>
                <a:ea typeface="微软雅黑 Light" panose="020B0502040204020203" pitchFamily="34" charset="-122"/>
              </a:rPr>
              <a:t>网络互相连接起来</a:t>
            </a:r>
            <a:r>
              <a:rPr lang="zh-CN" altLang="en-US" sz="1400" dirty="0">
                <a:latin typeface="微软雅黑 Light" panose="020B0502040204020203" pitchFamily="34" charset="-122"/>
                <a:ea typeface="微软雅黑 Light" panose="020B0502040204020203" pitchFamily="34" charset="-122"/>
              </a:rPr>
              <a:t>？</a:t>
            </a:r>
          </a:p>
        </p:txBody>
      </p:sp>
      <p:graphicFrame>
        <p:nvGraphicFramePr>
          <p:cNvPr id="4" name="图示 3"/>
          <p:cNvGraphicFramePr/>
          <p:nvPr>
            <p:extLst>
              <p:ext uri="{D42A27DB-BD31-4B8C-83A1-F6EECF244321}">
                <p14:modId xmlns:p14="http://schemas.microsoft.com/office/powerpoint/2010/main" val="1561905521"/>
              </p:ext>
            </p:extLst>
          </p:nvPr>
        </p:nvGraphicFramePr>
        <p:xfrm>
          <a:off x="1522320" y="1438286"/>
          <a:ext cx="6155189" cy="26937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BFAA9B8D-0FF8-7BEB-47E7-2A32FC1EA110}"/>
              </a:ext>
            </a:extLst>
          </p:cNvPr>
          <p:cNvSpPr>
            <a:spLocks noGrp="1"/>
          </p:cNvSpPr>
          <p:nvPr>
            <p:ph type="title"/>
          </p:nvPr>
        </p:nvSpPr>
        <p:spPr>
          <a:xfrm>
            <a:off x="486000" y="550723"/>
            <a:ext cx="8172000" cy="338554"/>
          </a:xfrm>
        </p:spPr>
        <p:txBody>
          <a:bodyPr/>
          <a:lstStyle/>
          <a:p>
            <a:r>
              <a:rPr lang="en-US" altLang="zh-CN" dirty="0"/>
              <a:t>4.2.1  </a:t>
            </a:r>
            <a:r>
              <a:rPr lang="zh-CN" altLang="en-US" dirty="0"/>
              <a:t>虚拟互连网络</a:t>
            </a:r>
          </a:p>
        </p:txBody>
      </p:sp>
      <p:sp>
        <p:nvSpPr>
          <p:cNvPr id="6" name="内容占位符 5">
            <a:extLst>
              <a:ext uri="{FF2B5EF4-FFF2-40B4-BE49-F238E27FC236}">
                <a16:creationId xmlns:a16="http://schemas.microsoft.com/office/drawing/2014/main" id="{3C5BBC27-B76C-DAEE-933D-E0444E6E0893}"/>
              </a:ext>
            </a:extLst>
          </p:cNvPr>
          <p:cNvSpPr>
            <a:spLocks noGrp="1"/>
          </p:cNvSpPr>
          <p:nvPr>
            <p:ph sz="quarter" idx="11"/>
          </p:nvPr>
        </p:nvSpPr>
        <p:spPr>
          <a:xfrm>
            <a:off x="486000" y="900000"/>
            <a:ext cx="8172000" cy="3703500"/>
          </a:xfrm>
        </p:spPr>
        <p:txBody>
          <a:bodyPr/>
          <a:lstStyle/>
          <a:p>
            <a:r>
              <a:rPr lang="zh-CN" altLang="en-US" dirty="0"/>
              <a:t>实现网络互连、互通时需要解决许多问题，如以下“不同”：</a:t>
            </a:r>
          </a:p>
          <a:p>
            <a:endParaRPr lang="zh-CN" altLang="en-US" dirty="0"/>
          </a:p>
        </p:txBody>
      </p:sp>
    </p:spTree>
    <p:extLst>
      <p:ext uri="{BB962C8B-B14F-4D97-AF65-F5344CB8AC3E}">
        <p14:creationId xmlns:p14="http://schemas.microsoft.com/office/powerpoint/2010/main" val="859087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9"/>
          <p:cNvSpPr/>
          <p:nvPr/>
        </p:nvSpPr>
        <p:spPr>
          <a:xfrm>
            <a:off x="2507411" y="1667175"/>
            <a:ext cx="5247735" cy="955255"/>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defTabSz="800100">
              <a:spcBef>
                <a:spcPct val="0"/>
              </a:spcBef>
              <a:spcAft>
                <a:spcPts val="600"/>
              </a:spcAft>
              <a:buChar char="••"/>
            </a:pPr>
            <a:r>
              <a:rPr lang="zh-CN" altLang="en-US" sz="1400" dirty="0">
                <a:solidFill>
                  <a:schemeClr val="tx1"/>
                </a:solidFill>
                <a:latin typeface="微软雅黑 Light" panose="020B0502040204020203" pitchFamily="34" charset="-122"/>
                <a:ea typeface="微软雅黑 Light" panose="020B0502040204020203" pitchFamily="34" charset="-122"/>
              </a:rPr>
              <a:t>不能满足不同用户需要。</a:t>
            </a:r>
            <a:r>
              <a:rPr lang="zh-CN" altLang="en-US" sz="1400" dirty="0">
                <a:solidFill>
                  <a:srgbClr val="0000FF"/>
                </a:solidFill>
                <a:latin typeface="微软雅黑 Light" panose="020B0502040204020203" pitchFamily="34" charset="-122"/>
                <a:ea typeface="微软雅黑 Light" panose="020B0502040204020203" pitchFamily="34" charset="-122"/>
              </a:rPr>
              <a:t>没有一种单一的网络能够适应所有用户的需求。</a:t>
            </a:r>
            <a:endParaRPr lang="en-US" altLang="zh-CN" sz="1400" dirty="0">
              <a:solidFill>
                <a:srgbClr val="0000FF"/>
              </a:solidFill>
              <a:latin typeface="微软雅黑 Light" panose="020B0502040204020203" pitchFamily="34" charset="-122"/>
              <a:ea typeface="微软雅黑 Light" panose="020B0502040204020203" pitchFamily="34" charset="-122"/>
            </a:endParaRPr>
          </a:p>
          <a:p>
            <a:pPr marL="171450" lvl="1" indent="-171450" defTabSz="800100">
              <a:spcBef>
                <a:spcPct val="0"/>
              </a:spcBef>
              <a:spcAft>
                <a:spcPts val="600"/>
              </a:spcAft>
              <a:buFontTx/>
              <a:buChar char="••"/>
            </a:pPr>
            <a:r>
              <a:rPr lang="zh-CN" altLang="en-US" sz="1400" dirty="0">
                <a:solidFill>
                  <a:schemeClr val="tx1"/>
                </a:solidFill>
                <a:latin typeface="微软雅黑 Light" panose="020B0502040204020203" pitchFamily="34" charset="-122"/>
                <a:ea typeface="微软雅黑 Light" panose="020B0502040204020203" pitchFamily="34" charset="-122"/>
              </a:rPr>
              <a:t>不适应技术发展</a:t>
            </a:r>
            <a:endParaRPr lang="en-US" altLang="zh-CN" sz="1400" dirty="0">
              <a:solidFill>
                <a:schemeClr val="tx1"/>
              </a:solidFill>
              <a:latin typeface="微软雅黑 Light" panose="020B0502040204020203" pitchFamily="34" charset="-122"/>
              <a:ea typeface="微软雅黑 Light" panose="020B0502040204020203" pitchFamily="34" charset="-122"/>
            </a:endParaRPr>
          </a:p>
        </p:txBody>
      </p:sp>
      <p:grpSp>
        <p:nvGrpSpPr>
          <p:cNvPr id="21" name="组合 20"/>
          <p:cNvGrpSpPr/>
          <p:nvPr/>
        </p:nvGrpSpPr>
        <p:grpSpPr>
          <a:xfrm>
            <a:off x="2507411" y="1200861"/>
            <a:ext cx="5247735" cy="1973655"/>
            <a:chOff x="1524000" y="1321631"/>
            <a:chExt cx="6096000" cy="1973655"/>
          </a:xfrm>
        </p:grpSpPr>
        <p:sp>
          <p:nvSpPr>
            <p:cNvPr id="9" name="任意多边形 8"/>
            <p:cNvSpPr/>
            <p:nvPr/>
          </p:nvSpPr>
          <p:spPr>
            <a:xfrm>
              <a:off x="1524000" y="1321631"/>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400" kern="1200" dirty="0">
                  <a:solidFill>
                    <a:schemeClr val="tx1"/>
                  </a:solidFill>
                  <a:latin typeface="微软雅黑 Light" panose="020B0502040204020203" pitchFamily="34" charset="-122"/>
                  <a:ea typeface="微软雅黑 Light" panose="020B0502040204020203" pitchFamily="34" charset="-122"/>
                </a:rPr>
                <a:t>A.  </a:t>
              </a:r>
              <a:r>
                <a:rPr lang="zh-CN" altLang="en-US" sz="1400" kern="1200" dirty="0">
                  <a:solidFill>
                    <a:schemeClr val="tx1"/>
                  </a:solidFill>
                  <a:latin typeface="微软雅黑 Light" panose="020B0502040204020203" pitchFamily="34" charset="-122"/>
                  <a:ea typeface="微软雅黑 Light" panose="020B0502040204020203" pitchFamily="34" charset="-122"/>
                </a:rPr>
                <a:t>都使用相同的网络？</a:t>
              </a:r>
            </a:p>
          </p:txBody>
        </p:sp>
        <p:sp>
          <p:nvSpPr>
            <p:cNvPr id="13" name="任意多边形 12"/>
            <p:cNvSpPr/>
            <p:nvPr/>
          </p:nvSpPr>
          <p:spPr>
            <a:xfrm>
              <a:off x="1524000" y="2855340"/>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400" kern="1200" dirty="0">
                  <a:solidFill>
                    <a:schemeClr val="tx1"/>
                  </a:solidFill>
                  <a:latin typeface="微软雅黑 Light" panose="020B0502040204020203" pitchFamily="34" charset="-122"/>
                  <a:ea typeface="微软雅黑 Light" panose="020B0502040204020203" pitchFamily="34" charset="-122"/>
                </a:rPr>
                <a:t>B.  </a:t>
              </a:r>
              <a:r>
                <a:rPr lang="zh-CN" altLang="en-US" sz="1400" kern="1200" dirty="0">
                  <a:solidFill>
                    <a:schemeClr val="tx1"/>
                  </a:solidFill>
                  <a:latin typeface="微软雅黑 Light" panose="020B0502040204020203" pitchFamily="34" charset="-122"/>
                  <a:ea typeface="微软雅黑 Light" panose="020B0502040204020203" pitchFamily="34" charset="-122"/>
                </a:rPr>
                <a:t>使用中间设备？</a:t>
              </a:r>
            </a:p>
          </p:txBody>
        </p:sp>
      </p:grpSp>
      <p:sp>
        <p:nvSpPr>
          <p:cNvPr id="14" name="任意多边形 13"/>
          <p:cNvSpPr/>
          <p:nvPr/>
        </p:nvSpPr>
        <p:spPr>
          <a:xfrm>
            <a:off x="2507411" y="3209521"/>
            <a:ext cx="5247735" cy="689622"/>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algn="l" defTabSz="800100">
              <a:spcBef>
                <a:spcPct val="0"/>
              </a:spcBef>
              <a:spcAft>
                <a:spcPts val="600"/>
              </a:spcAft>
              <a:buChar char="••"/>
            </a:pPr>
            <a:r>
              <a:rPr lang="zh-CN" altLang="en-US" sz="1400" dirty="0">
                <a:solidFill>
                  <a:schemeClr val="tx1"/>
                </a:solidFill>
                <a:latin typeface="微软雅黑 Light" panose="020B0502040204020203" pitchFamily="34" charset="-122"/>
                <a:ea typeface="微软雅黑 Light" panose="020B0502040204020203" pitchFamily="34" charset="-122"/>
              </a:rPr>
              <a:t>可以满足不同需求</a:t>
            </a:r>
            <a:endParaRPr lang="en-US" altLang="zh-CN" sz="1400" dirty="0">
              <a:solidFill>
                <a:schemeClr val="tx1"/>
              </a:solidFill>
              <a:latin typeface="微软雅黑 Light" panose="020B0502040204020203" pitchFamily="34" charset="-122"/>
              <a:ea typeface="微软雅黑 Light" panose="020B0502040204020203" pitchFamily="34" charset="-122"/>
            </a:endParaRPr>
          </a:p>
          <a:p>
            <a:pPr marL="171450" lvl="1" indent="-171450" algn="l" defTabSz="800100">
              <a:spcBef>
                <a:spcPct val="0"/>
              </a:spcBef>
              <a:spcAft>
                <a:spcPts val="600"/>
              </a:spcAft>
              <a:buChar char="••"/>
            </a:pPr>
            <a:r>
              <a:rPr lang="zh-CN" altLang="en-US" sz="1400" kern="1200" dirty="0">
                <a:solidFill>
                  <a:schemeClr val="tx1"/>
                </a:solidFill>
                <a:latin typeface="微软雅黑 Light" panose="020B0502040204020203" pitchFamily="34" charset="-122"/>
                <a:ea typeface="微软雅黑 Light" panose="020B0502040204020203" pitchFamily="34" charset="-122"/>
              </a:rPr>
              <a:t>实用</a:t>
            </a:r>
          </a:p>
        </p:txBody>
      </p:sp>
      <p:grpSp>
        <p:nvGrpSpPr>
          <p:cNvPr id="22" name="组合 21"/>
          <p:cNvGrpSpPr/>
          <p:nvPr/>
        </p:nvGrpSpPr>
        <p:grpSpPr>
          <a:xfrm>
            <a:off x="2014743" y="1200861"/>
            <a:ext cx="432614" cy="1956602"/>
            <a:chOff x="1031331" y="1321631"/>
            <a:chExt cx="432614" cy="1956602"/>
          </a:xfrm>
        </p:grpSpPr>
        <p:pic>
          <p:nvPicPr>
            <p:cNvPr id="19" name="图片 1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44723" y="2872401"/>
              <a:ext cx="405830" cy="405832"/>
            </a:xfrm>
            <a:prstGeom prst="rect">
              <a:avLst/>
            </a:prstGeom>
          </p:spPr>
        </p:pic>
        <p:pic>
          <p:nvPicPr>
            <p:cNvPr id="20" name="图片 1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31331" y="1321631"/>
              <a:ext cx="432614" cy="439946"/>
            </a:xfrm>
            <a:prstGeom prst="rect">
              <a:avLst/>
            </a:prstGeom>
          </p:spPr>
        </p:pic>
      </p:grpSp>
      <p:sp>
        <p:nvSpPr>
          <p:cNvPr id="2" name="标题 1">
            <a:extLst>
              <a:ext uri="{FF2B5EF4-FFF2-40B4-BE49-F238E27FC236}">
                <a16:creationId xmlns:a16="http://schemas.microsoft.com/office/drawing/2014/main" id="{8221A38B-721D-1326-8FF1-05C908C4EE08}"/>
              </a:ext>
            </a:extLst>
          </p:cNvPr>
          <p:cNvSpPr>
            <a:spLocks noGrp="1"/>
          </p:cNvSpPr>
          <p:nvPr>
            <p:ph type="title"/>
          </p:nvPr>
        </p:nvSpPr>
        <p:spPr>
          <a:xfrm>
            <a:off x="486000" y="550723"/>
            <a:ext cx="8172000" cy="338554"/>
          </a:xfrm>
        </p:spPr>
        <p:txBody>
          <a:bodyPr/>
          <a:lstStyle/>
          <a:p>
            <a:r>
              <a:rPr lang="zh-CN" altLang="en-US" dirty="0"/>
              <a:t>实现异构网络的互连互通方法，哪种好？</a:t>
            </a:r>
          </a:p>
        </p:txBody>
      </p:sp>
    </p:spTree>
    <p:extLst>
      <p:ext uri="{BB962C8B-B14F-4D97-AF65-F5344CB8AC3E}">
        <p14:creationId xmlns:p14="http://schemas.microsoft.com/office/powerpoint/2010/main" val="28710165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a:extLst>
              <a:ext uri="{FF2B5EF4-FFF2-40B4-BE49-F238E27FC236}">
                <a16:creationId xmlns:a16="http://schemas.microsoft.com/office/drawing/2014/main" id="{23E27D32-3694-478B-C229-E414C2158723}"/>
              </a:ext>
            </a:extLst>
          </p:cNvPr>
          <p:cNvSpPr>
            <a:spLocks noChangeArrowheads="1"/>
          </p:cNvSpPr>
          <p:nvPr/>
        </p:nvSpPr>
        <p:spPr bwMode="auto">
          <a:xfrm>
            <a:off x="3281929" y="1229167"/>
            <a:ext cx="4386954" cy="353930"/>
          </a:xfrm>
          <a:prstGeom prst="roundRect">
            <a:avLst>
              <a:gd name="adj" fmla="val 16667"/>
            </a:avLst>
          </a:prstGeom>
          <a:solidFill>
            <a:schemeClr val="bg1">
              <a:lumMod val="8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Device</a:t>
            </a:r>
            <a:endParaRPr lang="zh-CN" altLang="en-US" sz="1400" dirty="0">
              <a:latin typeface="Montserrat" panose="00000500000000000000" pitchFamily="2" charset="0"/>
              <a:ea typeface="微软雅黑 Light" panose="020B0502040204020203" pitchFamily="34" charset="-122"/>
            </a:endParaRPr>
          </a:p>
        </p:txBody>
      </p:sp>
      <p:sp>
        <p:nvSpPr>
          <p:cNvPr id="29" name="AutoShape 5"/>
          <p:cNvSpPr>
            <a:spLocks noChangeArrowheads="1"/>
          </p:cNvSpPr>
          <p:nvPr/>
        </p:nvSpPr>
        <p:spPr bwMode="auto">
          <a:xfrm>
            <a:off x="1508636" y="1229167"/>
            <a:ext cx="1749337" cy="353930"/>
          </a:xfrm>
          <a:prstGeom prst="roundRect">
            <a:avLst>
              <a:gd name="adj" fmla="val 16667"/>
            </a:avLst>
          </a:prstGeom>
          <a:solidFill>
            <a:schemeClr val="bg1">
              <a:lumMod val="8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Layer</a:t>
            </a:r>
            <a:endParaRPr lang="zh-CN" altLang="en-US" sz="1400"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281C4AC8-F3DD-948C-9E61-4167D5F22A03}"/>
              </a:ext>
            </a:extLst>
          </p:cNvPr>
          <p:cNvSpPr>
            <a:spLocks noGrp="1"/>
          </p:cNvSpPr>
          <p:nvPr>
            <p:ph type="title"/>
          </p:nvPr>
        </p:nvSpPr>
        <p:spPr>
          <a:xfrm>
            <a:off x="486000" y="550723"/>
            <a:ext cx="8172000" cy="338554"/>
          </a:xfrm>
        </p:spPr>
        <p:txBody>
          <a:bodyPr/>
          <a:lstStyle/>
          <a:p>
            <a:r>
              <a:rPr lang="zh-CN" altLang="en-US" dirty="0"/>
              <a:t>使用中间设备进行互连</a:t>
            </a:r>
          </a:p>
        </p:txBody>
      </p:sp>
      <p:sp>
        <p:nvSpPr>
          <p:cNvPr id="9" name="AutoShape 5">
            <a:extLst>
              <a:ext uri="{FF2B5EF4-FFF2-40B4-BE49-F238E27FC236}">
                <a16:creationId xmlns:a16="http://schemas.microsoft.com/office/drawing/2014/main" id="{E92A4394-0838-FE90-E816-1E73E3DB1ED8}"/>
              </a:ext>
            </a:extLst>
          </p:cNvPr>
          <p:cNvSpPr>
            <a:spLocks noChangeArrowheads="1"/>
          </p:cNvSpPr>
          <p:nvPr/>
        </p:nvSpPr>
        <p:spPr bwMode="auto">
          <a:xfrm>
            <a:off x="1508636" y="1625490"/>
            <a:ext cx="1749337" cy="35393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运输层</a:t>
            </a:r>
            <a:r>
              <a:rPr lang="en-US" altLang="zh-CN" sz="1400" dirty="0">
                <a:latin typeface="Montserrat" panose="00000500000000000000" pitchFamily="2" charset="0"/>
                <a:ea typeface="微软雅黑 Light" panose="020B0502040204020203" pitchFamily="34" charset="-122"/>
              </a:rPr>
              <a:t>+</a:t>
            </a:r>
            <a:endParaRPr lang="zh-CN" altLang="en-US" sz="1400" dirty="0">
              <a:latin typeface="Montserrat" panose="00000500000000000000" pitchFamily="2" charset="0"/>
              <a:ea typeface="微软雅黑 Light" panose="020B0502040204020203" pitchFamily="34" charset="-122"/>
            </a:endParaRPr>
          </a:p>
        </p:txBody>
      </p:sp>
      <p:sp>
        <p:nvSpPr>
          <p:cNvPr id="13" name="AutoShape 5">
            <a:extLst>
              <a:ext uri="{FF2B5EF4-FFF2-40B4-BE49-F238E27FC236}">
                <a16:creationId xmlns:a16="http://schemas.microsoft.com/office/drawing/2014/main" id="{C10C929B-35B3-40F0-3423-D7DC2B836FA6}"/>
              </a:ext>
            </a:extLst>
          </p:cNvPr>
          <p:cNvSpPr>
            <a:spLocks noChangeArrowheads="1"/>
          </p:cNvSpPr>
          <p:nvPr/>
        </p:nvSpPr>
        <p:spPr bwMode="auto">
          <a:xfrm>
            <a:off x="1508632" y="2022595"/>
            <a:ext cx="1749337" cy="35393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网络层</a:t>
            </a:r>
          </a:p>
        </p:txBody>
      </p:sp>
      <p:sp>
        <p:nvSpPr>
          <p:cNvPr id="14" name="AutoShape 5">
            <a:extLst>
              <a:ext uri="{FF2B5EF4-FFF2-40B4-BE49-F238E27FC236}">
                <a16:creationId xmlns:a16="http://schemas.microsoft.com/office/drawing/2014/main" id="{8746AA2E-5F02-4C9B-E58E-10C697E96F1B}"/>
              </a:ext>
            </a:extLst>
          </p:cNvPr>
          <p:cNvSpPr>
            <a:spLocks noChangeArrowheads="1"/>
          </p:cNvSpPr>
          <p:nvPr/>
        </p:nvSpPr>
        <p:spPr bwMode="auto">
          <a:xfrm>
            <a:off x="1508631" y="3222883"/>
            <a:ext cx="1749337" cy="74880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物理层</a:t>
            </a:r>
          </a:p>
        </p:txBody>
      </p:sp>
      <p:sp>
        <p:nvSpPr>
          <p:cNvPr id="15" name="AutoShape 5">
            <a:extLst>
              <a:ext uri="{FF2B5EF4-FFF2-40B4-BE49-F238E27FC236}">
                <a16:creationId xmlns:a16="http://schemas.microsoft.com/office/drawing/2014/main" id="{9B7EEB20-6769-C65D-370B-586D2E3907B0}"/>
              </a:ext>
            </a:extLst>
          </p:cNvPr>
          <p:cNvSpPr>
            <a:spLocks noChangeArrowheads="1"/>
          </p:cNvSpPr>
          <p:nvPr/>
        </p:nvSpPr>
        <p:spPr bwMode="auto">
          <a:xfrm>
            <a:off x="1508632" y="2418136"/>
            <a:ext cx="1749337" cy="77602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数据链路层</a:t>
            </a:r>
          </a:p>
        </p:txBody>
      </p:sp>
      <p:sp>
        <p:nvSpPr>
          <p:cNvPr id="17" name="AutoShape 5">
            <a:extLst>
              <a:ext uri="{FF2B5EF4-FFF2-40B4-BE49-F238E27FC236}">
                <a16:creationId xmlns:a16="http://schemas.microsoft.com/office/drawing/2014/main" id="{2D5817E0-1825-DB6D-8B81-9B0BE35DE69C}"/>
              </a:ext>
            </a:extLst>
          </p:cNvPr>
          <p:cNvSpPr>
            <a:spLocks noChangeArrowheads="1"/>
          </p:cNvSpPr>
          <p:nvPr/>
        </p:nvSpPr>
        <p:spPr bwMode="auto">
          <a:xfrm>
            <a:off x="3281929" y="1625490"/>
            <a:ext cx="4386954" cy="35393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Gateway</a:t>
            </a:r>
          </a:p>
        </p:txBody>
      </p:sp>
      <p:sp>
        <p:nvSpPr>
          <p:cNvPr id="18" name="AutoShape 5">
            <a:extLst>
              <a:ext uri="{FF2B5EF4-FFF2-40B4-BE49-F238E27FC236}">
                <a16:creationId xmlns:a16="http://schemas.microsoft.com/office/drawing/2014/main" id="{2E72F83C-3462-40A1-8F50-BB36141723DF}"/>
              </a:ext>
            </a:extLst>
          </p:cNvPr>
          <p:cNvSpPr>
            <a:spLocks noChangeArrowheads="1"/>
          </p:cNvSpPr>
          <p:nvPr/>
        </p:nvSpPr>
        <p:spPr bwMode="auto">
          <a:xfrm>
            <a:off x="3281929" y="2022595"/>
            <a:ext cx="4386954" cy="35393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Router</a:t>
            </a:r>
          </a:p>
        </p:txBody>
      </p:sp>
      <p:sp>
        <p:nvSpPr>
          <p:cNvPr id="19" name="AutoShape 5">
            <a:extLst>
              <a:ext uri="{FF2B5EF4-FFF2-40B4-BE49-F238E27FC236}">
                <a16:creationId xmlns:a16="http://schemas.microsoft.com/office/drawing/2014/main" id="{637F7A1D-EFE7-EA33-C98E-123CE89F015E}"/>
              </a:ext>
            </a:extLst>
          </p:cNvPr>
          <p:cNvSpPr>
            <a:spLocks noChangeArrowheads="1"/>
          </p:cNvSpPr>
          <p:nvPr/>
        </p:nvSpPr>
        <p:spPr bwMode="auto">
          <a:xfrm>
            <a:off x="3281929" y="2431020"/>
            <a:ext cx="4386954" cy="750253"/>
          </a:xfrm>
          <a:prstGeom prst="roundRect">
            <a:avLst>
              <a:gd name="adj" fmla="val 16667"/>
            </a:avLst>
          </a:prstGeom>
          <a:solidFill>
            <a:schemeClr val="bg1">
              <a:lumMod val="95000"/>
            </a:schemeClr>
          </a:solidFill>
          <a:ln>
            <a:noFill/>
          </a:ln>
          <a:effectLst/>
        </p:spPr>
        <p:txBody>
          <a:bodyPr wrap="none" anchor="ctr"/>
          <a:lstStyle/>
          <a:p>
            <a:pPr algn="ctr">
              <a:lnSpc>
                <a:spcPts val="2400"/>
              </a:lnSpc>
            </a:pPr>
            <a:r>
              <a:rPr lang="en-US" altLang="zh-CN" sz="1400" dirty="0">
                <a:latin typeface="Montserrat" panose="00000500000000000000" pitchFamily="2" charset="0"/>
                <a:ea typeface="微软雅黑 Light" panose="020B0502040204020203" pitchFamily="34" charset="-122"/>
              </a:rPr>
              <a:t>Bridge</a:t>
            </a:r>
          </a:p>
          <a:p>
            <a:pPr algn="ctr">
              <a:lnSpc>
                <a:spcPts val="2400"/>
              </a:lnSpc>
            </a:pPr>
            <a:r>
              <a:rPr lang="en-US" altLang="zh-CN" sz="1400" dirty="0">
                <a:latin typeface="Montserrat" panose="00000500000000000000" pitchFamily="2" charset="0"/>
                <a:ea typeface="微软雅黑 Light" panose="020B0502040204020203" pitchFamily="34" charset="-122"/>
              </a:rPr>
              <a:t>Switch</a:t>
            </a:r>
            <a:endParaRPr lang="zh-CN" altLang="en-US" sz="1400" dirty="0">
              <a:latin typeface="Montserrat" panose="00000500000000000000" pitchFamily="2" charset="0"/>
              <a:ea typeface="微软雅黑 Light" panose="020B0502040204020203" pitchFamily="34" charset="-122"/>
            </a:endParaRPr>
          </a:p>
        </p:txBody>
      </p:sp>
      <p:sp>
        <p:nvSpPr>
          <p:cNvPr id="20" name="AutoShape 5">
            <a:extLst>
              <a:ext uri="{FF2B5EF4-FFF2-40B4-BE49-F238E27FC236}">
                <a16:creationId xmlns:a16="http://schemas.microsoft.com/office/drawing/2014/main" id="{D0468B15-4303-E8B0-6868-383B0339036F}"/>
              </a:ext>
            </a:extLst>
          </p:cNvPr>
          <p:cNvSpPr>
            <a:spLocks noChangeArrowheads="1"/>
          </p:cNvSpPr>
          <p:nvPr/>
        </p:nvSpPr>
        <p:spPr bwMode="auto">
          <a:xfrm>
            <a:off x="3281929" y="3222883"/>
            <a:ext cx="4386954" cy="74880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Hub</a:t>
            </a:r>
          </a:p>
          <a:p>
            <a:pPr algn="ctr"/>
            <a:r>
              <a:rPr lang="en-US" altLang="zh-CN" sz="1400" dirty="0">
                <a:latin typeface="Montserrat" panose="00000500000000000000" pitchFamily="2" charset="0"/>
                <a:ea typeface="微软雅黑 Light" panose="020B0502040204020203" pitchFamily="34" charset="-122"/>
              </a:rPr>
              <a:t>Repeater</a:t>
            </a:r>
          </a:p>
        </p:txBody>
      </p:sp>
    </p:spTree>
    <p:extLst>
      <p:ext uri="{BB962C8B-B14F-4D97-AF65-F5344CB8AC3E}">
        <p14:creationId xmlns:p14="http://schemas.microsoft.com/office/powerpoint/2010/main" val="3416306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2352821" y="1177154"/>
            <a:ext cx="4600069" cy="1911103"/>
            <a:chOff x="2352822" y="1177154"/>
            <a:chExt cx="4413000" cy="1775543"/>
          </a:xfrm>
        </p:grpSpPr>
        <p:sp>
          <p:nvSpPr>
            <p:cNvPr id="16" name="Text Box 49"/>
            <p:cNvSpPr txBox="1">
              <a:spLocks noChangeArrowheads="1"/>
            </p:cNvSpPr>
            <p:nvPr/>
          </p:nvSpPr>
          <p:spPr bwMode="auto">
            <a:xfrm>
              <a:off x="3697878" y="1177154"/>
              <a:ext cx="1554806" cy="257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交换机</a:t>
              </a:r>
            </a:p>
          </p:txBody>
        </p:sp>
        <p:grpSp>
          <p:nvGrpSpPr>
            <p:cNvPr id="19" name="组合 18"/>
            <p:cNvGrpSpPr/>
            <p:nvPr/>
          </p:nvGrpSpPr>
          <p:grpSpPr>
            <a:xfrm>
              <a:off x="4684572" y="1635159"/>
              <a:ext cx="2081250" cy="1191418"/>
              <a:chOff x="4668477" y="2337063"/>
              <a:chExt cx="2081250" cy="1191418"/>
            </a:xfrm>
          </p:grpSpPr>
          <p:sp>
            <p:nvSpPr>
              <p:cNvPr id="20" name="Line 44"/>
              <p:cNvSpPr>
                <a:spLocks noChangeShapeType="1"/>
              </p:cNvSpPr>
              <p:nvPr/>
            </p:nvSpPr>
            <p:spPr bwMode="auto">
              <a:xfrm>
                <a:off x="4668477" y="2337063"/>
                <a:ext cx="1375569" cy="70629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1" name="Line 69"/>
              <p:cNvSpPr>
                <a:spLocks noChangeShapeType="1"/>
              </p:cNvSpPr>
              <p:nvPr/>
            </p:nvSpPr>
            <p:spPr bwMode="auto">
              <a:xfrm flipH="1">
                <a:off x="5712245" y="3044330"/>
                <a:ext cx="305115"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8" name="Line 71"/>
              <p:cNvSpPr>
                <a:spLocks noChangeShapeType="1"/>
              </p:cNvSpPr>
              <p:nvPr/>
            </p:nvSpPr>
            <p:spPr bwMode="auto">
              <a:xfrm>
                <a:off x="6189215"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0" name="Line 72"/>
              <p:cNvSpPr>
                <a:spLocks noChangeShapeType="1"/>
              </p:cNvSpPr>
              <p:nvPr/>
            </p:nvSpPr>
            <p:spPr bwMode="auto">
              <a:xfrm>
                <a:off x="6274415" y="3088723"/>
                <a:ext cx="300746"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1" name="Line 73"/>
              <p:cNvSpPr>
                <a:spLocks noChangeShapeType="1"/>
              </p:cNvSpPr>
              <p:nvPr/>
            </p:nvSpPr>
            <p:spPr bwMode="auto">
              <a:xfrm flipH="1">
                <a:off x="5996243" y="3048967"/>
                <a:ext cx="82286"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32" name="Picture 77"/>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5903761" y="2905847"/>
                <a:ext cx="527945"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625381"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0353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91566"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79598" y="3258352"/>
                <a:ext cx="270129" cy="270129"/>
              </a:xfrm>
              <a:prstGeom prst="rect">
                <a:avLst/>
              </a:prstGeom>
              <a:noFill/>
              <a:extLst>
                <a:ext uri="{909E8E84-426E-40DD-AFC4-6F175D3DCCD1}">
                  <a14:hiddenFill xmlns:a14="http://schemas.microsoft.com/office/drawing/2010/main">
                    <a:solidFill>
                      <a:srgbClr val="FFFFFF"/>
                    </a:solidFill>
                  </a14:hiddenFill>
                </a:ext>
              </a:extLst>
            </p:spPr>
          </p:pic>
          <p:sp>
            <p:nvSpPr>
              <p:cNvPr id="37" name="Text Box 49"/>
              <p:cNvSpPr txBox="1">
                <a:spLocks noChangeArrowheads="1"/>
              </p:cNvSpPr>
              <p:nvPr/>
            </p:nvSpPr>
            <p:spPr bwMode="auto">
              <a:xfrm>
                <a:off x="5842960" y="2700338"/>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39" name="组合 38"/>
            <p:cNvGrpSpPr/>
            <p:nvPr/>
          </p:nvGrpSpPr>
          <p:grpSpPr>
            <a:xfrm>
              <a:off x="2352822" y="1666689"/>
              <a:ext cx="1851608" cy="1159888"/>
              <a:chOff x="2336727" y="2368593"/>
              <a:chExt cx="1851608" cy="1159888"/>
            </a:xfrm>
          </p:grpSpPr>
          <p:grpSp>
            <p:nvGrpSpPr>
              <p:cNvPr id="40" name="组合 39"/>
              <p:cNvGrpSpPr/>
              <p:nvPr/>
            </p:nvGrpSpPr>
            <p:grpSpPr>
              <a:xfrm>
                <a:off x="2336727" y="2368593"/>
                <a:ext cx="1851608" cy="1159888"/>
                <a:chOff x="2336727" y="2368593"/>
                <a:chExt cx="1851608" cy="1159888"/>
              </a:xfrm>
            </p:grpSpPr>
            <p:sp>
              <p:nvSpPr>
                <p:cNvPr id="42" name="Line 43"/>
                <p:cNvSpPr>
                  <a:spLocks noChangeShapeType="1"/>
                </p:cNvSpPr>
                <p:nvPr/>
              </p:nvSpPr>
              <p:spPr bwMode="auto">
                <a:xfrm flipH="1">
                  <a:off x="3030003" y="2368593"/>
                  <a:ext cx="1158332" cy="6410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3" name="Line 51"/>
                <p:cNvSpPr>
                  <a:spLocks noChangeShapeType="1"/>
                </p:cNvSpPr>
                <p:nvPr/>
              </p:nvSpPr>
              <p:spPr bwMode="auto">
                <a:xfrm flipH="1">
                  <a:off x="2452519" y="304433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53"/>
                <p:cNvSpPr>
                  <a:spLocks noChangeShapeType="1"/>
                </p:cNvSpPr>
                <p:nvPr/>
              </p:nvSpPr>
              <p:spPr bwMode="auto">
                <a:xfrm>
                  <a:off x="2929490"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5" name="Line 54"/>
                <p:cNvSpPr>
                  <a:spLocks noChangeShapeType="1"/>
                </p:cNvSpPr>
                <p:nvPr/>
              </p:nvSpPr>
              <p:spPr bwMode="auto">
                <a:xfrm>
                  <a:off x="3014689" y="3088723"/>
                  <a:ext cx="300747"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55"/>
                <p:cNvSpPr>
                  <a:spLocks noChangeShapeType="1"/>
                </p:cNvSpPr>
                <p:nvPr/>
              </p:nvSpPr>
              <p:spPr bwMode="auto">
                <a:xfrm flipH="1">
                  <a:off x="2736517" y="304896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47" name="Picture 59"/>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2644036" y="2905847"/>
                  <a:ext cx="527944"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8"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36727"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49"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14880"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02912"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9094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41" name="Text Box 49"/>
              <p:cNvSpPr txBox="1">
                <a:spLocks noChangeArrowheads="1"/>
              </p:cNvSpPr>
              <p:nvPr/>
            </p:nvSpPr>
            <p:spPr bwMode="auto">
              <a:xfrm>
                <a:off x="2498460" y="269989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52" name="组合 51"/>
            <p:cNvGrpSpPr/>
            <p:nvPr/>
          </p:nvGrpSpPr>
          <p:grpSpPr>
            <a:xfrm>
              <a:off x="3995796" y="1645668"/>
              <a:ext cx="1156664" cy="1307029"/>
              <a:chOff x="3979701" y="2347572"/>
              <a:chExt cx="1156664" cy="1307029"/>
            </a:xfrm>
          </p:grpSpPr>
          <p:grpSp>
            <p:nvGrpSpPr>
              <p:cNvPr id="53" name="组合 52"/>
              <p:cNvGrpSpPr/>
              <p:nvPr/>
            </p:nvGrpSpPr>
            <p:grpSpPr>
              <a:xfrm>
                <a:off x="3979701" y="2347572"/>
                <a:ext cx="1124346" cy="1307029"/>
                <a:chOff x="3979701" y="2347572"/>
                <a:chExt cx="1124346" cy="1307029"/>
              </a:xfrm>
            </p:grpSpPr>
            <p:sp>
              <p:nvSpPr>
                <p:cNvPr id="55" name="Line 45"/>
                <p:cNvSpPr>
                  <a:spLocks noChangeShapeType="1"/>
                </p:cNvSpPr>
                <p:nvPr/>
              </p:nvSpPr>
              <p:spPr bwMode="auto">
                <a:xfrm>
                  <a:off x="4436440" y="2347572"/>
                  <a:ext cx="109446" cy="75042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6" name="Line 60"/>
                <p:cNvSpPr>
                  <a:spLocks noChangeShapeType="1"/>
                </p:cNvSpPr>
                <p:nvPr/>
              </p:nvSpPr>
              <p:spPr bwMode="auto">
                <a:xfrm flipH="1">
                  <a:off x="4070155" y="317045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2"/>
                <p:cNvSpPr>
                  <a:spLocks noChangeShapeType="1"/>
                </p:cNvSpPr>
                <p:nvPr/>
              </p:nvSpPr>
              <p:spPr bwMode="auto">
                <a:xfrm>
                  <a:off x="4547125" y="322412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8" name="Line 63"/>
                <p:cNvSpPr>
                  <a:spLocks noChangeShapeType="1"/>
                </p:cNvSpPr>
                <p:nvPr/>
              </p:nvSpPr>
              <p:spPr bwMode="auto">
                <a:xfrm>
                  <a:off x="4632325" y="3214843"/>
                  <a:ext cx="300018"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64"/>
                <p:cNvSpPr>
                  <a:spLocks noChangeShapeType="1"/>
                </p:cNvSpPr>
                <p:nvPr/>
              </p:nvSpPr>
              <p:spPr bwMode="auto">
                <a:xfrm flipH="1">
                  <a:off x="4354153" y="317508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60" name="Picture 68"/>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4261672" y="3031967"/>
                  <a:ext cx="527216"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79701"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2"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7854"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45886"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33918" y="338447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54" name="Text Box 49"/>
              <p:cNvSpPr txBox="1">
                <a:spLocks noChangeArrowheads="1"/>
              </p:cNvSpPr>
              <p:nvPr/>
            </p:nvSpPr>
            <p:spPr bwMode="auto">
              <a:xfrm>
                <a:off x="4417213" y="281846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sp>
          <p:nvSpPr>
            <p:cNvPr id="68" name="modem"/>
            <p:cNvSpPr>
              <a:spLocks noEditPoints="1" noChangeArrowheads="1"/>
            </p:cNvSpPr>
            <p:nvPr/>
          </p:nvSpPr>
          <p:spPr bwMode="auto">
            <a:xfrm>
              <a:off x="3973041" y="1444090"/>
              <a:ext cx="990656" cy="250365"/>
            </a:xfrm>
            <a:custGeom>
              <a:avLst/>
              <a:gdLst>
                <a:gd name="T0" fmla="*/ 0 w 21600"/>
                <a:gd name="T1" fmla="*/ 5152 h 21600"/>
                <a:gd name="T2" fmla="*/ 2941 w 21600"/>
                <a:gd name="T3" fmla="*/ 0 h 21600"/>
                <a:gd name="T4" fmla="*/ 18625 w 21600"/>
                <a:gd name="T5" fmla="*/ 0 h 21600"/>
                <a:gd name="T6" fmla="*/ 21600 w 21600"/>
                <a:gd name="T7" fmla="*/ 5152 h 21600"/>
                <a:gd name="T8" fmla="*/ 21600 w 21600"/>
                <a:gd name="T9" fmla="*/ 21600 h 21600"/>
                <a:gd name="T10" fmla="*/ 0 w 21600"/>
                <a:gd name="T11" fmla="*/ 21600 h 21600"/>
                <a:gd name="T12" fmla="*/ 10800 w 21600"/>
                <a:gd name="T13" fmla="*/ 0 h 21600"/>
                <a:gd name="T14" fmla="*/ 10800 w 21600"/>
                <a:gd name="T15" fmla="*/ 21600 h 21600"/>
                <a:gd name="T16" fmla="*/ 0 w 21600"/>
                <a:gd name="T17" fmla="*/ 13376 h 21600"/>
                <a:gd name="T18" fmla="*/ 21600 w 21600"/>
                <a:gd name="T19" fmla="*/ 13376 h 21600"/>
                <a:gd name="T20" fmla="*/ 400 w 21600"/>
                <a:gd name="T21" fmla="*/ 22400 h 21600"/>
                <a:gd name="T22" fmla="*/ 21200 w 21600"/>
                <a:gd name="T23" fmla="*/ 30000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T20" t="T21" r="T22" b="T23"/>
              <a:pathLst>
                <a:path w="21600" h="21600" extrusionOk="0">
                  <a:moveTo>
                    <a:pt x="0" y="5152"/>
                  </a:moveTo>
                  <a:lnTo>
                    <a:pt x="2941" y="0"/>
                  </a:lnTo>
                  <a:lnTo>
                    <a:pt x="18625" y="0"/>
                  </a:lnTo>
                  <a:lnTo>
                    <a:pt x="21600" y="5152"/>
                  </a:lnTo>
                  <a:lnTo>
                    <a:pt x="21600" y="21600"/>
                  </a:lnTo>
                  <a:lnTo>
                    <a:pt x="0" y="21600"/>
                  </a:lnTo>
                  <a:lnTo>
                    <a:pt x="0" y="5152"/>
                  </a:lnTo>
                  <a:close/>
                </a:path>
                <a:path w="21600" h="21600" extrusionOk="0">
                  <a:moveTo>
                    <a:pt x="0" y="5251"/>
                  </a:moveTo>
                  <a:lnTo>
                    <a:pt x="21600" y="5251"/>
                  </a:lnTo>
                  <a:moveTo>
                    <a:pt x="1961" y="11791"/>
                  </a:moveTo>
                  <a:lnTo>
                    <a:pt x="1961" y="14268"/>
                  </a:lnTo>
                  <a:lnTo>
                    <a:pt x="2806" y="14268"/>
                  </a:lnTo>
                  <a:lnTo>
                    <a:pt x="2806" y="11791"/>
                  </a:lnTo>
                  <a:lnTo>
                    <a:pt x="1961" y="11791"/>
                  </a:lnTo>
                  <a:close/>
                </a:path>
                <a:path w="21600" h="21600" extrusionOk="0">
                  <a:moveTo>
                    <a:pt x="3685" y="11791"/>
                  </a:moveTo>
                  <a:lnTo>
                    <a:pt x="3685" y="14268"/>
                  </a:lnTo>
                  <a:lnTo>
                    <a:pt x="4530" y="14268"/>
                  </a:lnTo>
                  <a:lnTo>
                    <a:pt x="4530" y="11791"/>
                  </a:lnTo>
                  <a:lnTo>
                    <a:pt x="3685" y="11791"/>
                  </a:lnTo>
                  <a:close/>
                </a:path>
                <a:path w="21600" h="21600" extrusionOk="0">
                  <a:moveTo>
                    <a:pt x="5408" y="11791"/>
                  </a:moveTo>
                  <a:lnTo>
                    <a:pt x="5408" y="14268"/>
                  </a:lnTo>
                  <a:lnTo>
                    <a:pt x="6254" y="14268"/>
                  </a:lnTo>
                  <a:lnTo>
                    <a:pt x="6254" y="11791"/>
                  </a:lnTo>
                  <a:lnTo>
                    <a:pt x="5408" y="11791"/>
                  </a:lnTo>
                  <a:close/>
                </a:path>
                <a:path w="21600" h="21600" extrusionOk="0">
                  <a:moveTo>
                    <a:pt x="7132" y="11791"/>
                  </a:moveTo>
                  <a:lnTo>
                    <a:pt x="7132" y="14268"/>
                  </a:lnTo>
                  <a:lnTo>
                    <a:pt x="7977" y="14268"/>
                  </a:lnTo>
                  <a:lnTo>
                    <a:pt x="7977" y="11791"/>
                  </a:lnTo>
                  <a:lnTo>
                    <a:pt x="7132" y="11791"/>
                  </a:lnTo>
                  <a:close/>
                </a:path>
              </a:pathLst>
            </a:custGeom>
            <a:solidFill>
              <a:schemeClr val="bg1">
                <a:lumMod val="65000"/>
              </a:schemeClr>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dirty="0"/>
            </a:p>
          </p:txBody>
        </p:sp>
      </p:grpSp>
      <p:sp>
        <p:nvSpPr>
          <p:cNvPr id="69" name="Rectangle 6"/>
          <p:cNvSpPr>
            <a:spLocks noChangeArrowheads="1"/>
          </p:cNvSpPr>
          <p:nvPr/>
        </p:nvSpPr>
        <p:spPr bwMode="auto">
          <a:xfrm>
            <a:off x="1360874" y="3345300"/>
            <a:ext cx="641714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b="1" dirty="0">
                <a:latin typeface="微软雅黑" pitchFamily="34" charset="-122"/>
                <a:ea typeface="微软雅黑" pitchFamily="34" charset="-122"/>
              </a:rPr>
              <a:t>转发器、网桥或交换机仅把一个网络扩大了，仍然是一个网络</a:t>
            </a:r>
            <a:endParaRPr lang="fr-FR" altLang="zh-CN" b="1" dirty="0">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02292B6E-E932-7FC2-C991-38DB1F0C94D8}"/>
              </a:ext>
            </a:extLst>
          </p:cNvPr>
          <p:cNvSpPr>
            <a:spLocks noGrp="1"/>
          </p:cNvSpPr>
          <p:nvPr>
            <p:ph type="title"/>
          </p:nvPr>
        </p:nvSpPr>
        <p:spPr>
          <a:xfrm>
            <a:off x="486000" y="550723"/>
            <a:ext cx="8172000" cy="338554"/>
          </a:xfrm>
        </p:spPr>
        <p:txBody>
          <a:bodyPr/>
          <a:lstStyle/>
          <a:p>
            <a:r>
              <a:rPr lang="zh-CN" altLang="en-US" dirty="0"/>
              <a:t>使用转发器或网桥不称为网络互连</a:t>
            </a:r>
          </a:p>
        </p:txBody>
      </p:sp>
    </p:spTree>
    <p:extLst>
      <p:ext uri="{BB962C8B-B14F-4D97-AF65-F5344CB8AC3E}">
        <p14:creationId xmlns:p14="http://schemas.microsoft.com/office/powerpoint/2010/main" val="23800777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1542464" y="1176461"/>
            <a:ext cx="6042173" cy="3092466"/>
            <a:chOff x="1680487" y="1150582"/>
            <a:chExt cx="6042173" cy="3092466"/>
          </a:xfrm>
        </p:grpSpPr>
        <p:grpSp>
          <p:nvGrpSpPr>
            <p:cNvPr id="8" name="Group 1504"/>
            <p:cNvGrpSpPr>
              <a:grpSpLocks/>
            </p:cNvGrpSpPr>
            <p:nvPr/>
          </p:nvGrpSpPr>
          <p:grpSpPr bwMode="auto">
            <a:xfrm>
              <a:off x="2352522" y="1150582"/>
              <a:ext cx="4557485" cy="2945499"/>
              <a:chOff x="109" y="1226"/>
              <a:chExt cx="2516" cy="1675"/>
            </a:xfrm>
            <a:scene3d>
              <a:camera prst="orthographicFront">
                <a:rot lat="0" lon="0" rev="0"/>
              </a:camera>
              <a:lightRig rig="contrasting" dir="t">
                <a:rot lat="0" lon="0" rev="7800000"/>
              </a:lightRig>
            </a:scene3d>
          </p:grpSpPr>
          <p:grpSp>
            <p:nvGrpSpPr>
              <p:cNvPr id="9" name="Group 1505"/>
              <p:cNvGrpSpPr>
                <a:grpSpLocks/>
              </p:cNvGrpSpPr>
              <p:nvPr/>
            </p:nvGrpSpPr>
            <p:grpSpPr bwMode="auto">
              <a:xfrm>
                <a:off x="109" y="1226"/>
                <a:ext cx="2516" cy="1675"/>
                <a:chOff x="109" y="1226"/>
                <a:chExt cx="2516" cy="1675"/>
              </a:xfrm>
            </p:grpSpPr>
            <p:grpSp>
              <p:nvGrpSpPr>
                <p:cNvPr id="11" name="Group 1506"/>
                <p:cNvGrpSpPr>
                  <a:grpSpLocks/>
                </p:cNvGrpSpPr>
                <p:nvPr/>
              </p:nvGrpSpPr>
              <p:grpSpPr bwMode="auto">
                <a:xfrm>
                  <a:off x="109" y="1226"/>
                  <a:ext cx="2516" cy="1675"/>
                  <a:chOff x="109" y="1226"/>
                  <a:chExt cx="2516" cy="1675"/>
                </a:xfrm>
              </p:grpSpPr>
              <p:sp>
                <p:nvSpPr>
                  <p:cNvPr id="13" name="Oval 1507"/>
                  <p:cNvSpPr>
                    <a:spLocks noChangeArrowheads="1"/>
                  </p:cNvSpPr>
                  <p:nvPr/>
                </p:nvSpPr>
                <p:spPr bwMode="auto">
                  <a:xfrm>
                    <a:off x="1749" y="1896"/>
                    <a:ext cx="876"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4" name="Oval 1508"/>
                  <p:cNvSpPr>
                    <a:spLocks noChangeArrowheads="1"/>
                  </p:cNvSpPr>
                  <p:nvPr/>
                </p:nvSpPr>
                <p:spPr bwMode="auto">
                  <a:xfrm>
                    <a:off x="109" y="1632"/>
                    <a:ext cx="859" cy="831"/>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 name="Oval 1509"/>
                  <p:cNvSpPr>
                    <a:spLocks noChangeArrowheads="1"/>
                  </p:cNvSpPr>
                  <p:nvPr/>
                </p:nvSpPr>
                <p:spPr bwMode="auto">
                  <a:xfrm>
                    <a:off x="1612" y="1341"/>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6" name="Oval 1510"/>
                  <p:cNvSpPr>
                    <a:spLocks noChangeArrowheads="1"/>
                  </p:cNvSpPr>
                  <p:nvPr/>
                </p:nvSpPr>
                <p:spPr bwMode="auto">
                  <a:xfrm>
                    <a:off x="1152" y="2055"/>
                    <a:ext cx="875" cy="846"/>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7" name="Oval 1511"/>
                  <p:cNvSpPr>
                    <a:spLocks noChangeArrowheads="1"/>
                  </p:cNvSpPr>
                  <p:nvPr/>
                </p:nvSpPr>
                <p:spPr bwMode="auto">
                  <a:xfrm>
                    <a:off x="400" y="1982"/>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8" name="Oval 1512"/>
                  <p:cNvSpPr>
                    <a:spLocks noChangeArrowheads="1"/>
                  </p:cNvSpPr>
                  <p:nvPr/>
                </p:nvSpPr>
                <p:spPr bwMode="auto">
                  <a:xfrm>
                    <a:off x="1075" y="1226"/>
                    <a:ext cx="859"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9" name="Oval 1513"/>
                  <p:cNvSpPr>
                    <a:spLocks noChangeArrowheads="1"/>
                  </p:cNvSpPr>
                  <p:nvPr/>
                </p:nvSpPr>
                <p:spPr bwMode="auto">
                  <a:xfrm>
                    <a:off x="523" y="1226"/>
                    <a:ext cx="859" cy="79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2" name="Oval 1514"/>
                <p:cNvSpPr>
                  <a:spLocks noChangeArrowheads="1"/>
                </p:cNvSpPr>
                <p:nvPr/>
              </p:nvSpPr>
              <p:spPr bwMode="auto">
                <a:xfrm>
                  <a:off x="339" y="1414"/>
                  <a:ext cx="2085" cy="115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0"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20" name="Line 1453"/>
            <p:cNvSpPr>
              <a:spLocks noChangeShapeType="1"/>
            </p:cNvSpPr>
            <p:nvPr/>
          </p:nvSpPr>
          <p:spPr bwMode="auto">
            <a:xfrm flipH="1">
              <a:off x="1947248" y="2509984"/>
              <a:ext cx="1091986"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1" name="Line 1443"/>
            <p:cNvSpPr>
              <a:spLocks noChangeShapeType="1"/>
            </p:cNvSpPr>
            <p:nvPr/>
          </p:nvSpPr>
          <p:spPr bwMode="auto">
            <a:xfrm>
              <a:off x="6165493" y="2781173"/>
              <a:ext cx="1221041" cy="100115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2" name="Line 1452"/>
            <p:cNvSpPr>
              <a:spLocks noChangeShapeType="1"/>
            </p:cNvSpPr>
            <p:nvPr/>
          </p:nvSpPr>
          <p:spPr bwMode="auto">
            <a:xfrm flipV="1">
              <a:off x="5334870" y="1656167"/>
              <a:ext cx="1843891" cy="30191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4" name="Line 1443"/>
            <p:cNvSpPr>
              <a:spLocks noChangeShapeType="1"/>
            </p:cNvSpPr>
            <p:nvPr/>
          </p:nvSpPr>
          <p:spPr bwMode="auto">
            <a:xfrm flipV="1">
              <a:off x="6185542" y="2654242"/>
              <a:ext cx="1270357" cy="10546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25" name="组合 24"/>
            <p:cNvGrpSpPr/>
            <p:nvPr/>
          </p:nvGrpSpPr>
          <p:grpSpPr>
            <a:xfrm>
              <a:off x="2351004" y="1511323"/>
              <a:ext cx="4156325" cy="2270999"/>
              <a:chOff x="2712904" y="1571708"/>
              <a:chExt cx="4156325" cy="2270999"/>
            </a:xfrm>
          </p:grpSpPr>
          <p:sp>
            <p:nvSpPr>
              <p:cNvPr id="26" name="Line 1481"/>
              <p:cNvSpPr>
                <a:spLocks noChangeShapeType="1"/>
              </p:cNvSpPr>
              <p:nvPr/>
            </p:nvSpPr>
            <p:spPr bwMode="auto">
              <a:xfrm flipH="1">
                <a:off x="4829292" y="2736592"/>
                <a:ext cx="82550" cy="7080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7" name="Line 1480"/>
              <p:cNvSpPr>
                <a:spLocks noChangeShapeType="1"/>
              </p:cNvSpPr>
              <p:nvPr/>
            </p:nvSpPr>
            <p:spPr bwMode="auto">
              <a:xfrm flipH="1" flipV="1">
                <a:off x="4322879" y="2374642"/>
                <a:ext cx="506413" cy="274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8" name="Line 1296"/>
              <p:cNvSpPr>
                <a:spLocks noChangeShapeType="1"/>
              </p:cNvSpPr>
              <p:nvPr/>
            </p:nvSpPr>
            <p:spPr bwMode="auto">
              <a:xfrm flipH="1" flipV="1">
                <a:off x="4166330" y="3182473"/>
                <a:ext cx="1248602" cy="35655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 name="Line 1297"/>
              <p:cNvSpPr>
                <a:spLocks noChangeShapeType="1"/>
              </p:cNvSpPr>
              <p:nvPr/>
            </p:nvSpPr>
            <p:spPr bwMode="auto">
              <a:xfrm flipV="1">
                <a:off x="4354629" y="1658680"/>
                <a:ext cx="409575" cy="87312"/>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0" name="Line 1440"/>
              <p:cNvSpPr>
                <a:spLocks noChangeShapeType="1"/>
              </p:cNvSpPr>
              <p:nvPr/>
            </p:nvSpPr>
            <p:spPr bwMode="auto">
              <a:xfrm flipH="1">
                <a:off x="3616442" y="2365117"/>
                <a:ext cx="738187" cy="8890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1" name="Line 1443"/>
              <p:cNvSpPr>
                <a:spLocks noChangeShapeType="1"/>
              </p:cNvSpPr>
              <p:nvPr/>
            </p:nvSpPr>
            <p:spPr bwMode="auto">
              <a:xfrm>
                <a:off x="4979258" y="1684770"/>
                <a:ext cx="343602" cy="21950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2" name="Line 1444"/>
              <p:cNvSpPr>
                <a:spLocks noChangeShapeType="1"/>
              </p:cNvSpPr>
              <p:nvPr/>
            </p:nvSpPr>
            <p:spPr bwMode="auto">
              <a:xfrm>
                <a:off x="5716138" y="2046643"/>
                <a:ext cx="772091" cy="67089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3" name="Line 1446"/>
              <p:cNvSpPr>
                <a:spLocks noChangeShapeType="1"/>
              </p:cNvSpPr>
              <p:nvPr/>
            </p:nvSpPr>
            <p:spPr bwMode="auto">
              <a:xfrm>
                <a:off x="5554426" y="2061471"/>
                <a:ext cx="15258" cy="65362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4" name="Line 1447"/>
              <p:cNvSpPr>
                <a:spLocks noChangeShapeType="1"/>
              </p:cNvSpPr>
              <p:nvPr/>
            </p:nvSpPr>
            <p:spPr bwMode="auto">
              <a:xfrm flipV="1">
                <a:off x="4340342" y="1923792"/>
                <a:ext cx="1082675" cy="4143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5" name="Line 1448"/>
              <p:cNvSpPr>
                <a:spLocks noChangeShapeType="1"/>
              </p:cNvSpPr>
              <p:nvPr/>
            </p:nvSpPr>
            <p:spPr bwMode="auto">
              <a:xfrm>
                <a:off x="4108567" y="1834892"/>
                <a:ext cx="165100" cy="528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6" name="Line 1449"/>
              <p:cNvSpPr>
                <a:spLocks noChangeShapeType="1"/>
              </p:cNvSpPr>
              <p:nvPr/>
            </p:nvSpPr>
            <p:spPr bwMode="auto">
              <a:xfrm flipV="1">
                <a:off x="4913429" y="2753396"/>
                <a:ext cx="600366" cy="7209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7" name="Line 1452"/>
              <p:cNvSpPr>
                <a:spLocks noChangeShapeType="1"/>
              </p:cNvSpPr>
              <p:nvPr/>
            </p:nvSpPr>
            <p:spPr bwMode="auto">
              <a:xfrm flipV="1">
                <a:off x="5656982" y="2717541"/>
                <a:ext cx="750285" cy="1661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53"/>
              <p:cNvSpPr>
                <a:spLocks noChangeShapeType="1"/>
              </p:cNvSpPr>
              <p:nvPr/>
            </p:nvSpPr>
            <p:spPr bwMode="auto">
              <a:xfrm flipH="1">
                <a:off x="4142045" y="2454017"/>
                <a:ext cx="49071" cy="56832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6"/>
              <p:cNvSpPr>
                <a:spLocks noChangeShapeType="1"/>
              </p:cNvSpPr>
              <p:nvPr/>
            </p:nvSpPr>
            <p:spPr bwMode="auto">
              <a:xfrm flipH="1">
                <a:off x="5441225" y="2788880"/>
                <a:ext cx="198830" cy="55199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40" name="Line 1445"/>
              <p:cNvSpPr>
                <a:spLocks noChangeShapeType="1"/>
              </p:cNvSpPr>
              <p:nvPr/>
            </p:nvSpPr>
            <p:spPr bwMode="auto">
              <a:xfrm flipH="1">
                <a:off x="5651617" y="2825492"/>
                <a:ext cx="819150" cy="6191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41" name="Picture 14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10142" y="2236530"/>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2"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83229" y="328156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3" name="Picture 14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64959" y="2632721"/>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4" name="Picture 14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26923" y="2266464"/>
                <a:ext cx="477838" cy="322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 name="Picture 146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779" y="1574087"/>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6" name="Picture 146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91329" y="296043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7" name="Group 1468"/>
              <p:cNvGrpSpPr>
                <a:grpSpLocks/>
              </p:cNvGrpSpPr>
              <p:nvPr/>
            </p:nvGrpSpPr>
            <p:grpSpPr bwMode="auto">
              <a:xfrm rot="20933218">
                <a:off x="4506350" y="2466491"/>
                <a:ext cx="725487" cy="603250"/>
                <a:chOff x="2949" y="196"/>
                <a:chExt cx="941" cy="598"/>
              </a:xfrm>
            </p:grpSpPr>
            <p:sp>
              <p:nvSpPr>
                <p:cNvPr id="129" name="Oval 146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0" name="Oval 147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1" name="Oval 147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2" name="Oval 147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3" name="Oval 147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4" name="Oval 147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5" name="Oval 147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6" name="Oval 147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7" name="Freeform 147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8" name="Freeform 147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9" name="Freeform 147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48" name="Text Box 1524"/>
              <p:cNvSpPr txBox="1">
                <a:spLocks noChangeArrowheads="1"/>
              </p:cNvSpPr>
              <p:nvPr/>
            </p:nvSpPr>
            <p:spPr bwMode="auto">
              <a:xfrm>
                <a:off x="4619062" y="2626828"/>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49" name="Line 1453"/>
              <p:cNvSpPr>
                <a:spLocks noChangeShapeType="1"/>
              </p:cNvSpPr>
              <p:nvPr/>
            </p:nvSpPr>
            <p:spPr bwMode="auto">
              <a:xfrm flipH="1">
                <a:off x="2979665" y="3235356"/>
                <a:ext cx="1153437" cy="60735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3139508" y="2218388"/>
                <a:ext cx="768350" cy="528637"/>
                <a:chOff x="2949" y="196"/>
                <a:chExt cx="941" cy="598"/>
              </a:xfrm>
            </p:grpSpPr>
            <p:sp>
              <p:nvSpPr>
                <p:cNvPr id="118" name="Oval 135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9" name="Oval 135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0" name="Oval 135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1" name="Oval 136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2" name="Oval 136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3" name="Oval 136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4" name="Oval 136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5" name="Oval 136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126"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7"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8"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1" name="Text Box 1524"/>
              <p:cNvSpPr txBox="1">
                <a:spLocks noChangeArrowheads="1"/>
              </p:cNvSpPr>
              <p:nvPr/>
            </p:nvSpPr>
            <p:spPr bwMode="auto">
              <a:xfrm>
                <a:off x="3234758" y="2337450"/>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a:latin typeface="Times New Roman" pitchFamily="18" charset="0"/>
                    <a:ea typeface="微软雅黑" pitchFamily="34" charset="-122"/>
                  </a:rPr>
                  <a:t>网络</a:t>
                </a:r>
              </a:p>
            </p:txBody>
          </p:sp>
          <p:grpSp>
            <p:nvGrpSpPr>
              <p:cNvPr id="52" name="Group 1344"/>
              <p:cNvGrpSpPr>
                <a:grpSpLocks/>
              </p:cNvGrpSpPr>
              <p:nvPr/>
            </p:nvGrpSpPr>
            <p:grpSpPr bwMode="auto">
              <a:xfrm>
                <a:off x="5190791" y="1675914"/>
                <a:ext cx="738187" cy="617537"/>
                <a:chOff x="2949" y="196"/>
                <a:chExt cx="941" cy="598"/>
              </a:xfrm>
            </p:grpSpPr>
            <p:sp>
              <p:nvSpPr>
                <p:cNvPr id="107" name="Oval 134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8" name="Oval 134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9" name="Oval 134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0" name="Oval 134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1" name="Oval 134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2" name="Oval 135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3" name="Oval 135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4" name="Oval 135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5" name="Freeform 135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6" name="Freeform 135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7" name="Freeform 135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3" name="Text Box 1524"/>
              <p:cNvSpPr txBox="1">
                <a:spLocks noChangeArrowheads="1"/>
              </p:cNvSpPr>
              <p:nvPr/>
            </p:nvSpPr>
            <p:spPr bwMode="auto">
              <a:xfrm>
                <a:off x="5281278" y="1836251"/>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54" name="Group 1404"/>
              <p:cNvGrpSpPr>
                <a:grpSpLocks/>
              </p:cNvGrpSpPr>
              <p:nvPr/>
            </p:nvGrpSpPr>
            <p:grpSpPr bwMode="auto">
              <a:xfrm rot="20933218">
                <a:off x="5255197" y="3165217"/>
                <a:ext cx="611187" cy="523875"/>
                <a:chOff x="2949" y="196"/>
                <a:chExt cx="941" cy="598"/>
              </a:xfrm>
            </p:grpSpPr>
            <p:sp>
              <p:nvSpPr>
                <p:cNvPr id="96" name="Oval 140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7" name="Oval 140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8" name="Oval 140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9" name="Oval 140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0" name="Oval 140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1" name="Oval 141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2" name="Oval 141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3" name="Oval 141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4" name="Freeform 141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5" name="Freeform 141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6" name="Freeform 141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5" name="Text Box 1524"/>
              <p:cNvSpPr txBox="1">
                <a:spLocks noChangeArrowheads="1"/>
              </p:cNvSpPr>
              <p:nvPr/>
            </p:nvSpPr>
            <p:spPr bwMode="auto">
              <a:xfrm>
                <a:off x="5271072" y="3254117"/>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56" name="Group 1416"/>
              <p:cNvGrpSpPr>
                <a:grpSpLocks/>
              </p:cNvGrpSpPr>
              <p:nvPr/>
            </p:nvGrpSpPr>
            <p:grpSpPr bwMode="auto">
              <a:xfrm rot="282232">
                <a:off x="6224704" y="2566730"/>
                <a:ext cx="644525" cy="441325"/>
                <a:chOff x="2949" y="196"/>
                <a:chExt cx="941" cy="598"/>
              </a:xfrm>
            </p:grpSpPr>
            <p:sp>
              <p:nvSpPr>
                <p:cNvPr id="85" name="Oval 141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6" name="Oval 141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7" name="Oval 141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8" name="Oval 142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9" name="Oval 142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0" name="Oval 142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1" name="Oval 142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2" name="Oval 142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3" name="Freeform 142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4" name="Freeform 142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5" name="Freeform 142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7" name="Text Box 1524"/>
              <p:cNvSpPr txBox="1">
                <a:spLocks noChangeArrowheads="1"/>
              </p:cNvSpPr>
              <p:nvPr/>
            </p:nvSpPr>
            <p:spPr bwMode="auto">
              <a:xfrm>
                <a:off x="6278679" y="2620705"/>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58" name="Line 1453"/>
              <p:cNvSpPr>
                <a:spLocks noChangeShapeType="1"/>
              </p:cNvSpPr>
              <p:nvPr/>
            </p:nvSpPr>
            <p:spPr bwMode="auto">
              <a:xfrm flipH="1" flipV="1">
                <a:off x="2712904" y="1571708"/>
                <a:ext cx="1472339" cy="302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9" name="Group 1320"/>
              <p:cNvGrpSpPr>
                <a:grpSpLocks/>
              </p:cNvGrpSpPr>
              <p:nvPr/>
            </p:nvGrpSpPr>
            <p:grpSpPr bwMode="auto">
              <a:xfrm>
                <a:off x="3883138" y="1675914"/>
                <a:ext cx="738187" cy="441325"/>
                <a:chOff x="2949" y="196"/>
                <a:chExt cx="941" cy="598"/>
              </a:xfrm>
            </p:grpSpPr>
            <p:sp>
              <p:nvSpPr>
                <p:cNvPr id="74" name="Oval 1321"/>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5" name="Oval 1322"/>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6" name="Oval 1323"/>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7" name="Oval 1324"/>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8" name="Oval 1325"/>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9" name="Oval 1326"/>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0" name="Oval 1327"/>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1" name="Oval 1328"/>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2" name="Freeform 132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3" name="Freeform 133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4" name="Freeform 133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0" name="Text Box 1524"/>
              <p:cNvSpPr txBox="1">
                <a:spLocks noChangeArrowheads="1"/>
              </p:cNvSpPr>
              <p:nvPr/>
            </p:nvSpPr>
            <p:spPr bwMode="auto">
              <a:xfrm>
                <a:off x="3972038" y="1747351"/>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61" name="Group 1428"/>
              <p:cNvGrpSpPr>
                <a:grpSpLocks/>
              </p:cNvGrpSpPr>
              <p:nvPr/>
            </p:nvGrpSpPr>
            <p:grpSpPr bwMode="auto">
              <a:xfrm rot="20745072">
                <a:off x="3800586" y="2811209"/>
                <a:ext cx="655637" cy="615950"/>
                <a:chOff x="2949" y="196"/>
                <a:chExt cx="941" cy="598"/>
              </a:xfrm>
            </p:grpSpPr>
            <p:sp>
              <p:nvSpPr>
                <p:cNvPr id="63" name="Oval 142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4" name="Oval 143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5" name="Oval 143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6" name="Oval 143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7" name="Oval 143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8" name="Oval 143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9" name="Oval 143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0" name="Oval 143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71" name="Freeform 14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2" name="Freeform 14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3" name="Freeform 14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2" name="Text Box 1524"/>
              <p:cNvSpPr txBox="1">
                <a:spLocks noChangeArrowheads="1"/>
              </p:cNvSpPr>
              <p:nvPr/>
            </p:nvSpPr>
            <p:spPr bwMode="auto">
              <a:xfrm>
                <a:off x="3848211" y="2969959"/>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sp>
          <p:nvSpPr>
            <p:cNvPr id="140" name="Text Box 1524"/>
            <p:cNvSpPr txBox="1">
              <a:spLocks noChangeArrowheads="1"/>
            </p:cNvSpPr>
            <p:nvPr/>
          </p:nvSpPr>
          <p:spPr bwMode="auto">
            <a:xfrm>
              <a:off x="5949640" y="3935271"/>
              <a:ext cx="72327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dirty="0">
                  <a:solidFill>
                    <a:srgbClr val="0000FF"/>
                  </a:solidFill>
                  <a:latin typeface="Times New Roman" pitchFamily="18" charset="0"/>
                  <a:ea typeface="微软雅黑" pitchFamily="34" charset="-122"/>
                </a:rPr>
                <a:t>路由器</a:t>
              </a:r>
            </a:p>
          </p:txBody>
        </p:sp>
        <p:grpSp>
          <p:nvGrpSpPr>
            <p:cNvPr id="141" name="Group 198"/>
            <p:cNvGrpSpPr>
              <a:grpSpLocks/>
            </p:cNvGrpSpPr>
            <p:nvPr/>
          </p:nvGrpSpPr>
          <p:grpSpPr bwMode="auto">
            <a:xfrm>
              <a:off x="2307462" y="3617758"/>
              <a:ext cx="533522" cy="534452"/>
              <a:chOff x="975" y="2584"/>
              <a:chExt cx="407" cy="438"/>
            </a:xfrm>
          </p:grpSpPr>
          <p:sp>
            <p:nvSpPr>
              <p:cNvPr id="142"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3"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1680487" y="2320662"/>
              <a:ext cx="533522" cy="534452"/>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7" name="Group 198"/>
            <p:cNvGrpSpPr>
              <a:grpSpLocks/>
            </p:cNvGrpSpPr>
            <p:nvPr/>
          </p:nvGrpSpPr>
          <p:grpSpPr bwMode="auto">
            <a:xfrm>
              <a:off x="6912001" y="1371248"/>
              <a:ext cx="533522" cy="534452"/>
              <a:chOff x="975" y="2584"/>
              <a:chExt cx="407" cy="438"/>
            </a:xfrm>
          </p:grpSpPr>
          <p:sp>
            <p:nvSpPr>
              <p:cNvPr id="148"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9"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3" name="Group 198"/>
            <p:cNvGrpSpPr>
              <a:grpSpLocks/>
            </p:cNvGrpSpPr>
            <p:nvPr/>
          </p:nvGrpSpPr>
          <p:grpSpPr bwMode="auto">
            <a:xfrm>
              <a:off x="7088549" y="3434952"/>
              <a:ext cx="533522" cy="534452"/>
              <a:chOff x="975" y="2584"/>
              <a:chExt cx="407" cy="438"/>
            </a:xfrm>
          </p:grpSpPr>
          <p:sp>
            <p:nvSpPr>
              <p:cNvPr id="154"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5"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6" name="Group 198"/>
            <p:cNvGrpSpPr>
              <a:grpSpLocks/>
            </p:cNvGrpSpPr>
            <p:nvPr/>
          </p:nvGrpSpPr>
          <p:grpSpPr bwMode="auto">
            <a:xfrm>
              <a:off x="7189138" y="2345265"/>
              <a:ext cx="533522" cy="534452"/>
              <a:chOff x="975" y="2584"/>
              <a:chExt cx="407" cy="438"/>
            </a:xfrm>
          </p:grpSpPr>
          <p:sp>
            <p:nvSpPr>
              <p:cNvPr id="15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9" name="Group 198"/>
            <p:cNvGrpSpPr>
              <a:grpSpLocks/>
            </p:cNvGrpSpPr>
            <p:nvPr/>
          </p:nvGrpSpPr>
          <p:grpSpPr bwMode="auto">
            <a:xfrm>
              <a:off x="2092388" y="1218960"/>
              <a:ext cx="533522" cy="534452"/>
              <a:chOff x="975" y="2584"/>
              <a:chExt cx="407" cy="438"/>
            </a:xfrm>
          </p:grpSpPr>
          <p:sp>
            <p:nvSpPr>
              <p:cNvPr id="160"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61"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74" name="Line 1443"/>
            <p:cNvSpPr>
              <a:spLocks noChangeShapeType="1"/>
            </p:cNvSpPr>
            <p:nvPr/>
          </p:nvSpPr>
          <p:spPr bwMode="auto">
            <a:xfrm>
              <a:off x="5829582" y="3221014"/>
              <a:ext cx="413829" cy="768898"/>
            </a:xfrm>
            <a:prstGeom prst="line">
              <a:avLst/>
            </a:prstGeom>
            <a:noFill/>
            <a:ln w="12700">
              <a:solidFill>
                <a:srgbClr val="000000"/>
              </a:solidFill>
              <a:prstDash val="sysDot"/>
              <a:round/>
              <a:headEnd type="triangle" w="med" len="med"/>
              <a:tailEnd type="none" w="med" len="me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sp>
        <p:nvSpPr>
          <p:cNvPr id="3" name="标题 2">
            <a:extLst>
              <a:ext uri="{FF2B5EF4-FFF2-40B4-BE49-F238E27FC236}">
                <a16:creationId xmlns:a16="http://schemas.microsoft.com/office/drawing/2014/main" id="{427CB165-480F-54E6-DC2E-AAB4D6B71FB8}"/>
              </a:ext>
            </a:extLst>
          </p:cNvPr>
          <p:cNvSpPr>
            <a:spLocks noGrp="1"/>
          </p:cNvSpPr>
          <p:nvPr>
            <p:ph type="title"/>
          </p:nvPr>
        </p:nvSpPr>
        <p:spPr>
          <a:xfrm>
            <a:off x="486000" y="550723"/>
            <a:ext cx="8172000" cy="338554"/>
          </a:xfrm>
        </p:spPr>
        <p:txBody>
          <a:bodyPr/>
          <a:lstStyle/>
          <a:p>
            <a:r>
              <a:rPr lang="zh-CN" altLang="en-US" dirty="0"/>
              <a:t>网络互连使用路由器</a:t>
            </a:r>
          </a:p>
        </p:txBody>
      </p:sp>
    </p:spTree>
    <p:extLst>
      <p:ext uri="{BB962C8B-B14F-4D97-AF65-F5344CB8AC3E}">
        <p14:creationId xmlns:p14="http://schemas.microsoft.com/office/powerpoint/2010/main" val="11682525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 name="Oval 12"/>
          <p:cNvSpPr>
            <a:spLocks noChangeArrowheads="1"/>
          </p:cNvSpPr>
          <p:nvPr/>
        </p:nvSpPr>
        <p:spPr bwMode="auto">
          <a:xfrm>
            <a:off x="3494478" y="2332325"/>
            <a:ext cx="854484" cy="743231"/>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4" name="Oval 13"/>
          <p:cNvSpPr>
            <a:spLocks noChangeArrowheads="1"/>
          </p:cNvSpPr>
          <p:nvPr/>
        </p:nvSpPr>
        <p:spPr bwMode="auto">
          <a:xfrm>
            <a:off x="1895217" y="2094491"/>
            <a:ext cx="838379" cy="746947"/>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5" name="Oval 14"/>
          <p:cNvSpPr>
            <a:spLocks noChangeArrowheads="1"/>
          </p:cNvSpPr>
          <p:nvPr/>
        </p:nvSpPr>
        <p:spPr bwMode="auto">
          <a:xfrm>
            <a:off x="3360620" y="1833432"/>
            <a:ext cx="853476" cy="720005"/>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6" name="Oval 15"/>
          <p:cNvSpPr>
            <a:spLocks noChangeArrowheads="1"/>
          </p:cNvSpPr>
          <p:nvPr/>
        </p:nvSpPr>
        <p:spPr bwMode="auto">
          <a:xfrm>
            <a:off x="2912746" y="2474468"/>
            <a:ext cx="853476" cy="759025"/>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7" name="Oval 16"/>
          <p:cNvSpPr>
            <a:spLocks noChangeArrowheads="1"/>
          </p:cNvSpPr>
          <p:nvPr/>
        </p:nvSpPr>
        <p:spPr bwMode="auto">
          <a:xfrm>
            <a:off x="2179038" y="2408506"/>
            <a:ext cx="852470" cy="720004"/>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8" name="Oval 17"/>
          <p:cNvSpPr>
            <a:spLocks noChangeArrowheads="1"/>
          </p:cNvSpPr>
          <p:nvPr/>
        </p:nvSpPr>
        <p:spPr bwMode="auto">
          <a:xfrm>
            <a:off x="2837262" y="1729380"/>
            <a:ext cx="838379" cy="745089"/>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9" name="Oval 18"/>
          <p:cNvSpPr>
            <a:spLocks noChangeArrowheads="1"/>
          </p:cNvSpPr>
          <p:nvPr/>
        </p:nvSpPr>
        <p:spPr bwMode="auto">
          <a:xfrm>
            <a:off x="2298806" y="1729379"/>
            <a:ext cx="838380" cy="717218"/>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20" name="Oval 19"/>
          <p:cNvSpPr>
            <a:spLocks noChangeArrowheads="1"/>
          </p:cNvSpPr>
          <p:nvPr/>
        </p:nvSpPr>
        <p:spPr bwMode="auto">
          <a:xfrm>
            <a:off x="2119657" y="1898465"/>
            <a:ext cx="2034053" cy="1034949"/>
          </a:xfrm>
          <a:prstGeom prst="ellipse">
            <a:avLst/>
          </a:prstGeom>
          <a:solidFill>
            <a:srgbClr val="99FFCC"/>
          </a:solidFill>
          <a:ln>
            <a:noFill/>
          </a:ln>
          <a:extLst>
            <a:ext uri="{91240B29-F687-4F45-9708-019B960494DF}">
              <a14:hiddenLine xmlns:a14="http://schemas.microsoft.com/office/drawing/2010/main" w="9525">
                <a:solidFill>
                  <a:srgbClr val="000000"/>
                </a:solidFill>
                <a:prstDash val="dash"/>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1" name="Line 20"/>
          <p:cNvSpPr>
            <a:spLocks noChangeShapeType="1"/>
          </p:cNvSpPr>
          <p:nvPr/>
        </p:nvSpPr>
        <p:spPr bwMode="auto">
          <a:xfrm flipH="1">
            <a:off x="3472337" y="1577017"/>
            <a:ext cx="32971" cy="3744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2" name="Line 21"/>
          <p:cNvSpPr>
            <a:spLocks noChangeShapeType="1"/>
          </p:cNvSpPr>
          <p:nvPr/>
        </p:nvSpPr>
        <p:spPr bwMode="auto">
          <a:xfrm>
            <a:off x="3333446" y="2526494"/>
            <a:ext cx="218402" cy="2136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3" name="Line 22"/>
          <p:cNvSpPr>
            <a:spLocks noChangeShapeType="1"/>
          </p:cNvSpPr>
          <p:nvPr/>
        </p:nvSpPr>
        <p:spPr bwMode="auto">
          <a:xfrm flipH="1" flipV="1">
            <a:off x="3943359" y="3042110"/>
            <a:ext cx="186195" cy="3446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4" name="Line 23"/>
          <p:cNvSpPr>
            <a:spLocks noChangeShapeType="1"/>
          </p:cNvSpPr>
          <p:nvPr/>
        </p:nvSpPr>
        <p:spPr bwMode="auto">
          <a:xfrm flipH="1">
            <a:off x="3746093" y="1707082"/>
            <a:ext cx="38346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5" name="Line 24"/>
          <p:cNvSpPr>
            <a:spLocks noChangeShapeType="1"/>
          </p:cNvSpPr>
          <p:nvPr/>
        </p:nvSpPr>
        <p:spPr bwMode="auto">
          <a:xfrm flipH="1" flipV="1">
            <a:off x="3197574" y="2640766"/>
            <a:ext cx="324080" cy="83241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6" name="Line 25"/>
          <p:cNvSpPr>
            <a:spLocks noChangeShapeType="1"/>
          </p:cNvSpPr>
          <p:nvPr/>
        </p:nvSpPr>
        <p:spPr bwMode="auto">
          <a:xfrm flipH="1" flipV="1">
            <a:off x="2694344" y="2991943"/>
            <a:ext cx="172104"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7" name="Line 26"/>
          <p:cNvSpPr>
            <a:spLocks noChangeShapeType="1"/>
          </p:cNvSpPr>
          <p:nvPr/>
        </p:nvSpPr>
        <p:spPr bwMode="auto">
          <a:xfrm flipV="1">
            <a:off x="2119657" y="3020742"/>
            <a:ext cx="332131" cy="409706"/>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8" name="Line 27"/>
          <p:cNvSpPr>
            <a:spLocks noChangeShapeType="1"/>
          </p:cNvSpPr>
          <p:nvPr/>
        </p:nvSpPr>
        <p:spPr bwMode="auto">
          <a:xfrm>
            <a:off x="2136617" y="1677450"/>
            <a:ext cx="323224" cy="195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9" name="Freeform 28"/>
          <p:cNvSpPr>
            <a:spLocks/>
          </p:cNvSpPr>
          <p:nvPr/>
        </p:nvSpPr>
        <p:spPr bwMode="auto">
          <a:xfrm>
            <a:off x="2974140" y="1823213"/>
            <a:ext cx="110710" cy="101265"/>
          </a:xfrm>
          <a:custGeom>
            <a:avLst/>
            <a:gdLst>
              <a:gd name="T0" fmla="*/ 0 w 112"/>
              <a:gd name="T1" fmla="*/ 6 h 113"/>
              <a:gd name="T2" fmla="*/ 48 w 112"/>
              <a:gd name="T3" fmla="*/ 22 h 113"/>
              <a:gd name="T4" fmla="*/ 24 w 112"/>
              <a:gd name="T5" fmla="*/ 6 h 113"/>
              <a:gd name="T6" fmla="*/ 64 w 112"/>
              <a:gd name="T7" fmla="*/ 14 h 113"/>
              <a:gd name="T8" fmla="*/ 112 w 112"/>
              <a:gd name="T9" fmla="*/ 78 h 113"/>
              <a:gd name="T10" fmla="*/ 104 w 112"/>
              <a:gd name="T11" fmla="*/ 102 h 113"/>
              <a:gd name="T12" fmla="*/ 64 w 112"/>
              <a:gd name="T13" fmla="*/ 70 h 113"/>
              <a:gd name="T14" fmla="*/ 16 w 112"/>
              <a:gd name="T15" fmla="*/ 38 h 113"/>
              <a:gd name="T16" fmla="*/ 0 w 112"/>
              <a:gd name="T17" fmla="*/ 6 h 1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12" h="113">
                <a:moveTo>
                  <a:pt x="0" y="6"/>
                </a:moveTo>
                <a:cubicBezTo>
                  <a:pt x="16" y="11"/>
                  <a:pt x="62" y="31"/>
                  <a:pt x="48" y="22"/>
                </a:cubicBezTo>
                <a:cubicBezTo>
                  <a:pt x="40" y="17"/>
                  <a:pt x="15" y="10"/>
                  <a:pt x="24" y="6"/>
                </a:cubicBezTo>
                <a:cubicBezTo>
                  <a:pt x="36" y="0"/>
                  <a:pt x="51" y="11"/>
                  <a:pt x="64" y="14"/>
                </a:cubicBezTo>
                <a:cubicBezTo>
                  <a:pt x="92" y="33"/>
                  <a:pt x="101" y="46"/>
                  <a:pt x="112" y="78"/>
                </a:cubicBezTo>
                <a:cubicBezTo>
                  <a:pt x="109" y="86"/>
                  <a:pt x="112" y="98"/>
                  <a:pt x="104" y="102"/>
                </a:cubicBezTo>
                <a:cubicBezTo>
                  <a:pt x="83" y="113"/>
                  <a:pt x="71" y="76"/>
                  <a:pt x="64" y="70"/>
                </a:cubicBezTo>
                <a:cubicBezTo>
                  <a:pt x="50" y="57"/>
                  <a:pt x="16" y="38"/>
                  <a:pt x="16" y="38"/>
                </a:cubicBezTo>
                <a:cubicBezTo>
                  <a:pt x="7" y="10"/>
                  <a:pt x="14" y="20"/>
                  <a:pt x="0" y="6"/>
                </a:cubicBezTo>
                <a:close/>
              </a:path>
            </a:pathLst>
          </a:custGeom>
          <a:solidFill>
            <a:srgbClr val="99FFCC"/>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0" name="Freeform 29"/>
          <p:cNvSpPr>
            <a:spLocks/>
          </p:cNvSpPr>
          <p:nvPr/>
        </p:nvSpPr>
        <p:spPr bwMode="auto">
          <a:xfrm>
            <a:off x="2128715" y="2598030"/>
            <a:ext cx="121781" cy="199743"/>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Lst>
            <a:ahLst/>
            <a:cxnLst>
              <a:cxn ang="0">
                <a:pos x="T0" y="T1"/>
              </a:cxn>
              <a:cxn ang="0">
                <a:pos x="T2" y="T3"/>
              </a:cxn>
              <a:cxn ang="0">
                <a:pos x="T4" y="T5"/>
              </a:cxn>
              <a:cxn ang="0">
                <a:pos x="T6" y="T7"/>
              </a:cxn>
              <a:cxn ang="0">
                <a:pos x="T8" y="T9"/>
              </a:cxn>
              <a:cxn ang="0">
                <a:pos x="T10" y="T11"/>
              </a:cxn>
              <a:cxn ang="0">
                <a:pos x="T12" y="T13"/>
              </a:cxn>
            </a:cxnLst>
            <a:rect l="0" t="0" r="r" b="b"/>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99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1" name="Line 30"/>
          <p:cNvSpPr>
            <a:spLocks noChangeShapeType="1"/>
          </p:cNvSpPr>
          <p:nvPr/>
        </p:nvSpPr>
        <p:spPr bwMode="auto">
          <a:xfrm>
            <a:off x="2203194" y="2396428"/>
            <a:ext cx="18720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2" name="Line 31"/>
          <p:cNvSpPr>
            <a:spLocks noChangeShapeType="1"/>
          </p:cNvSpPr>
          <p:nvPr/>
        </p:nvSpPr>
        <p:spPr bwMode="auto">
          <a:xfrm flipV="1">
            <a:off x="2249490" y="2094491"/>
            <a:ext cx="186194" cy="21553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3" name="Line 32"/>
          <p:cNvSpPr>
            <a:spLocks noChangeShapeType="1"/>
          </p:cNvSpPr>
          <p:nvPr/>
        </p:nvSpPr>
        <p:spPr bwMode="auto">
          <a:xfrm>
            <a:off x="2858397" y="2094491"/>
            <a:ext cx="171098" cy="2880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4" name="Line 33"/>
          <p:cNvSpPr>
            <a:spLocks noChangeShapeType="1"/>
          </p:cNvSpPr>
          <p:nvPr/>
        </p:nvSpPr>
        <p:spPr bwMode="auto">
          <a:xfrm flipV="1">
            <a:off x="3162347" y="2080556"/>
            <a:ext cx="226454" cy="3623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5" name="Line 34"/>
          <p:cNvSpPr>
            <a:spLocks noChangeShapeType="1"/>
          </p:cNvSpPr>
          <p:nvPr/>
        </p:nvSpPr>
        <p:spPr bwMode="auto">
          <a:xfrm>
            <a:off x="3817552" y="2173460"/>
            <a:ext cx="140904" cy="144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6" name="Line 35"/>
          <p:cNvSpPr>
            <a:spLocks noChangeShapeType="1"/>
          </p:cNvSpPr>
          <p:nvPr/>
        </p:nvSpPr>
        <p:spPr bwMode="auto">
          <a:xfrm flipH="1">
            <a:off x="3904107" y="2432662"/>
            <a:ext cx="92594" cy="2870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7" name="Line 36"/>
          <p:cNvSpPr>
            <a:spLocks noChangeShapeType="1"/>
          </p:cNvSpPr>
          <p:nvPr/>
        </p:nvSpPr>
        <p:spPr bwMode="auto">
          <a:xfrm>
            <a:off x="3645447" y="2598030"/>
            <a:ext cx="132853" cy="1152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8" name="Line 37"/>
          <p:cNvSpPr>
            <a:spLocks noChangeShapeType="1"/>
          </p:cNvSpPr>
          <p:nvPr/>
        </p:nvSpPr>
        <p:spPr bwMode="auto">
          <a:xfrm>
            <a:off x="2717493" y="2826574"/>
            <a:ext cx="234505" cy="864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9" name="Line 38"/>
          <p:cNvSpPr>
            <a:spLocks noChangeShapeType="1"/>
          </p:cNvSpPr>
          <p:nvPr/>
        </p:nvSpPr>
        <p:spPr bwMode="auto">
          <a:xfrm flipV="1">
            <a:off x="3045598" y="2719734"/>
            <a:ext cx="116749" cy="1505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0" name="Line 39"/>
          <p:cNvSpPr>
            <a:spLocks noChangeShapeType="1"/>
          </p:cNvSpPr>
          <p:nvPr/>
        </p:nvSpPr>
        <p:spPr bwMode="auto">
          <a:xfrm>
            <a:off x="3607202" y="2224557"/>
            <a:ext cx="16104" cy="26570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1" name="Line 40"/>
          <p:cNvSpPr>
            <a:spLocks noChangeShapeType="1"/>
          </p:cNvSpPr>
          <p:nvPr/>
        </p:nvSpPr>
        <p:spPr bwMode="auto">
          <a:xfrm flipH="1">
            <a:off x="2600744" y="2138156"/>
            <a:ext cx="491151" cy="58157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nvGrpSpPr>
          <p:cNvPr id="242" name="Group 41"/>
          <p:cNvGrpSpPr>
            <a:grpSpLocks/>
          </p:cNvGrpSpPr>
          <p:nvPr/>
        </p:nvGrpSpPr>
        <p:grpSpPr bwMode="auto">
          <a:xfrm>
            <a:off x="3333446" y="1878955"/>
            <a:ext cx="562610" cy="388338"/>
            <a:chOff x="2949" y="196"/>
            <a:chExt cx="941" cy="598"/>
          </a:xfrm>
          <a:solidFill>
            <a:schemeClr val="bg1"/>
          </a:solidFill>
        </p:grpSpPr>
        <p:sp>
          <p:nvSpPr>
            <p:cNvPr id="311" name="Oval 4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2" name="Oval 4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3" name="Oval 4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4" name="Oval 4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5" name="Oval 4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6" name="Oval 4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7" name="Oval 4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8" name="Oval 4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9" name="Freeform 5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0" name="Freeform 5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1" name="Freeform 5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3" name="Group 53"/>
          <p:cNvGrpSpPr>
            <a:grpSpLocks/>
          </p:cNvGrpSpPr>
          <p:nvPr/>
        </p:nvGrpSpPr>
        <p:grpSpPr bwMode="auto">
          <a:xfrm>
            <a:off x="3615254" y="2655630"/>
            <a:ext cx="561604" cy="386480"/>
            <a:chOff x="2949" y="196"/>
            <a:chExt cx="941" cy="598"/>
          </a:xfrm>
          <a:solidFill>
            <a:schemeClr val="bg1"/>
          </a:solidFill>
        </p:grpSpPr>
        <p:sp>
          <p:nvSpPr>
            <p:cNvPr id="300" name="Oval 5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1" name="Oval 5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2" name="Oval 5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3" name="Oval 5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4" name="Oval 5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5" name="Oval 5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6" name="Oval 6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7" name="Oval 6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8" name="Freeform 6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9" name="Freeform 6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0" name="Freeform 6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4" name="Group 65"/>
          <p:cNvGrpSpPr>
            <a:grpSpLocks/>
          </p:cNvGrpSpPr>
          <p:nvPr/>
        </p:nvGrpSpPr>
        <p:grpSpPr bwMode="auto">
          <a:xfrm>
            <a:off x="2819146" y="2353693"/>
            <a:ext cx="561604" cy="388338"/>
            <a:chOff x="2949" y="196"/>
            <a:chExt cx="941" cy="598"/>
          </a:xfrm>
          <a:solidFill>
            <a:schemeClr val="bg1"/>
          </a:solidFill>
        </p:grpSpPr>
        <p:sp>
          <p:nvSpPr>
            <p:cNvPr id="289" name="Oval 6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0" name="Oval 6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1" name="Oval 6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2" name="Oval 6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3" name="Oval 7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4" name="Oval 7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5" name="Oval 7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6" name="Oval 7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7" name="Freeform 7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8" name="Freeform 7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9" name="Freeform 7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5" name="Group 77"/>
          <p:cNvGrpSpPr>
            <a:grpSpLocks/>
          </p:cNvGrpSpPr>
          <p:nvPr/>
        </p:nvGrpSpPr>
        <p:grpSpPr bwMode="auto">
          <a:xfrm>
            <a:off x="2211245" y="2655630"/>
            <a:ext cx="560597" cy="386480"/>
            <a:chOff x="2949" y="196"/>
            <a:chExt cx="941" cy="598"/>
          </a:xfrm>
          <a:solidFill>
            <a:schemeClr val="bg1"/>
          </a:solidFill>
        </p:grpSpPr>
        <p:sp>
          <p:nvSpPr>
            <p:cNvPr id="278" name="Oval 7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9" name="Oval 7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0" name="Oval 8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1" name="Oval 8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2" name="Oval 8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3" name="Oval 8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4" name="Oval 8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5" name="Oval 8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6" name="Freeform 8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7" name="Freeform 8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8" name="Freeform 8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6" name="Group 89"/>
          <p:cNvGrpSpPr>
            <a:grpSpLocks/>
          </p:cNvGrpSpPr>
          <p:nvPr/>
        </p:nvGrpSpPr>
        <p:grpSpPr bwMode="auto">
          <a:xfrm>
            <a:off x="2350136" y="1793483"/>
            <a:ext cx="562610" cy="387409"/>
            <a:chOff x="2949" y="196"/>
            <a:chExt cx="941" cy="598"/>
          </a:xfrm>
          <a:solidFill>
            <a:schemeClr val="bg1"/>
          </a:solidFill>
        </p:grpSpPr>
        <p:sp>
          <p:nvSpPr>
            <p:cNvPr id="267" name="Oval 9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8" name="Oval 9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9" name="Oval 9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0" name="Oval 9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1" name="Oval 9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2" name="Oval 9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3" name="Oval 9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4" name="Oval 9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5" name="Freeform 9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6" name="Freeform 9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7" name="Freeform 10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252" name="Text Box 106"/>
          <p:cNvSpPr txBox="1">
            <a:spLocks noChangeArrowheads="1"/>
          </p:cNvSpPr>
          <p:nvPr/>
        </p:nvSpPr>
        <p:spPr bwMode="auto">
          <a:xfrm>
            <a:off x="2540878" y="3720758"/>
            <a:ext cx="120097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(a) </a:t>
            </a:r>
            <a:r>
              <a:rPr kumimoji="1" lang="zh-CN" altLang="en-US" sz="1400" b="1" dirty="0">
                <a:solidFill>
                  <a:srgbClr val="0000CC"/>
                </a:solidFill>
                <a:latin typeface="微软雅黑" pitchFamily="34" charset="-122"/>
                <a:ea typeface="微软雅黑" pitchFamily="34" charset="-122"/>
              </a:rPr>
              <a:t>互连网络</a:t>
            </a:r>
          </a:p>
        </p:txBody>
      </p:sp>
      <p:pic>
        <p:nvPicPr>
          <p:cNvPr id="254"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0050" y="2009020"/>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1" name="Picture 1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82401" y="2440094"/>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2" name="Picture 12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96056"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3" name="Picture 1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66449" y="2784767"/>
            <a:ext cx="320054" cy="1960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4" name="Picture 12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23037"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65" name="Text Box 126"/>
          <p:cNvSpPr txBox="1">
            <a:spLocks noChangeArrowheads="1"/>
          </p:cNvSpPr>
          <p:nvPr/>
        </p:nvSpPr>
        <p:spPr bwMode="auto">
          <a:xfrm>
            <a:off x="1048101" y="224311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路由器</a:t>
            </a:r>
          </a:p>
        </p:txBody>
      </p:sp>
      <p:sp>
        <p:nvSpPr>
          <p:cNvPr id="266" name="Line 127"/>
          <p:cNvSpPr>
            <a:spLocks noChangeShapeType="1"/>
          </p:cNvSpPr>
          <p:nvPr/>
        </p:nvSpPr>
        <p:spPr bwMode="auto">
          <a:xfrm flipV="1">
            <a:off x="1632615" y="2380635"/>
            <a:ext cx="422216" cy="981"/>
          </a:xfrm>
          <a:prstGeom prst="line">
            <a:avLst/>
          </a:prstGeom>
          <a:noFill/>
          <a:ln w="28575">
            <a:solidFill>
              <a:srgbClr val="00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8" name="Line 5"/>
          <p:cNvSpPr>
            <a:spLocks noChangeShapeType="1"/>
          </p:cNvSpPr>
          <p:nvPr/>
        </p:nvSpPr>
        <p:spPr bwMode="auto">
          <a:xfrm>
            <a:off x="6191966" y="1577017"/>
            <a:ext cx="47304" cy="4320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9" name="Line 6"/>
          <p:cNvSpPr>
            <a:spLocks noChangeShapeType="1"/>
          </p:cNvSpPr>
          <p:nvPr/>
        </p:nvSpPr>
        <p:spPr bwMode="auto">
          <a:xfrm flipH="1" flipV="1">
            <a:off x="5551858" y="2999375"/>
            <a:ext cx="173111"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0" name="Line 7"/>
          <p:cNvSpPr>
            <a:spLocks noChangeShapeType="1"/>
          </p:cNvSpPr>
          <p:nvPr/>
        </p:nvSpPr>
        <p:spPr bwMode="auto">
          <a:xfrm>
            <a:off x="5162359" y="1663418"/>
            <a:ext cx="280801" cy="3883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1" name="Line 8"/>
          <p:cNvSpPr>
            <a:spLocks noChangeShapeType="1"/>
          </p:cNvSpPr>
          <p:nvPr/>
        </p:nvSpPr>
        <p:spPr bwMode="auto">
          <a:xfrm flipH="1">
            <a:off x="6614678" y="1707082"/>
            <a:ext cx="373396" cy="3874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2" name="Line 9"/>
          <p:cNvSpPr>
            <a:spLocks noChangeShapeType="1"/>
          </p:cNvSpPr>
          <p:nvPr/>
        </p:nvSpPr>
        <p:spPr bwMode="auto">
          <a:xfrm flipV="1">
            <a:off x="5068759" y="2955710"/>
            <a:ext cx="280802" cy="47473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3" name="Line 10"/>
          <p:cNvSpPr>
            <a:spLocks noChangeShapeType="1"/>
          </p:cNvSpPr>
          <p:nvPr/>
        </p:nvSpPr>
        <p:spPr bwMode="auto">
          <a:xfrm flipH="1" flipV="1">
            <a:off x="6286572" y="2999375"/>
            <a:ext cx="93601" cy="4738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4" name="Line 11"/>
          <p:cNvSpPr>
            <a:spLocks noChangeShapeType="1"/>
          </p:cNvSpPr>
          <p:nvPr/>
        </p:nvSpPr>
        <p:spPr bwMode="auto">
          <a:xfrm flipH="1" flipV="1">
            <a:off x="6754575" y="2955710"/>
            <a:ext cx="233498" cy="431074"/>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5" name="Text Box 107"/>
          <p:cNvSpPr txBox="1">
            <a:spLocks noChangeArrowheads="1"/>
          </p:cNvSpPr>
          <p:nvPr/>
        </p:nvSpPr>
        <p:spPr bwMode="auto">
          <a:xfrm>
            <a:off x="5385006" y="3720758"/>
            <a:ext cx="15760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(b) </a:t>
            </a:r>
            <a:r>
              <a:rPr kumimoji="1" lang="zh-CN" altLang="en-US" sz="1400" b="1" dirty="0">
                <a:solidFill>
                  <a:srgbClr val="0000CC"/>
                </a:solidFill>
                <a:latin typeface="微软雅黑" pitchFamily="34" charset="-122"/>
                <a:ea typeface="微软雅黑" pitchFamily="34" charset="-122"/>
              </a:rPr>
              <a:t>虚拟互连网络</a:t>
            </a:r>
          </a:p>
        </p:txBody>
      </p:sp>
      <p:grpSp>
        <p:nvGrpSpPr>
          <p:cNvPr id="193" name="Group 129"/>
          <p:cNvGrpSpPr>
            <a:grpSpLocks/>
          </p:cNvGrpSpPr>
          <p:nvPr/>
        </p:nvGrpSpPr>
        <p:grpSpPr bwMode="auto">
          <a:xfrm>
            <a:off x="4894641" y="1864090"/>
            <a:ext cx="2327938" cy="1393557"/>
            <a:chOff x="3134" y="1375"/>
            <a:chExt cx="2386" cy="1553"/>
          </a:xfrm>
          <a:effectLst/>
        </p:grpSpPr>
        <p:sp>
          <p:nvSpPr>
            <p:cNvPr id="204" name="Oval 130"/>
            <p:cNvSpPr>
              <a:spLocks noChangeArrowheads="1"/>
            </p:cNvSpPr>
            <p:nvPr/>
          </p:nvSpPr>
          <p:spPr bwMode="auto">
            <a:xfrm>
              <a:off x="3959" y="1375"/>
              <a:ext cx="1026" cy="628"/>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5" name="Oval 131"/>
            <p:cNvSpPr>
              <a:spLocks noChangeArrowheads="1"/>
            </p:cNvSpPr>
            <p:nvPr/>
          </p:nvSpPr>
          <p:spPr bwMode="auto">
            <a:xfrm>
              <a:off x="3380" y="1548"/>
              <a:ext cx="781" cy="62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6" name="Oval 132"/>
            <p:cNvSpPr>
              <a:spLocks noChangeArrowheads="1"/>
            </p:cNvSpPr>
            <p:nvPr/>
          </p:nvSpPr>
          <p:spPr bwMode="auto">
            <a:xfrm>
              <a:off x="3134" y="1940"/>
              <a:ext cx="521" cy="50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7" name="Oval 133"/>
            <p:cNvSpPr>
              <a:spLocks noChangeArrowheads="1"/>
            </p:cNvSpPr>
            <p:nvPr/>
          </p:nvSpPr>
          <p:spPr bwMode="auto">
            <a:xfrm>
              <a:off x="3293" y="2175"/>
              <a:ext cx="796" cy="54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8" name="Oval 134"/>
            <p:cNvSpPr>
              <a:spLocks noChangeArrowheads="1"/>
            </p:cNvSpPr>
            <p:nvPr/>
          </p:nvSpPr>
          <p:spPr bwMode="auto">
            <a:xfrm>
              <a:off x="3872" y="2269"/>
              <a:ext cx="1200" cy="65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9" name="Oval 135"/>
            <p:cNvSpPr>
              <a:spLocks noChangeArrowheads="1"/>
            </p:cNvSpPr>
            <p:nvPr/>
          </p:nvSpPr>
          <p:spPr bwMode="auto">
            <a:xfrm>
              <a:off x="4653" y="1564"/>
              <a:ext cx="751"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0" name="Oval 136"/>
            <p:cNvSpPr>
              <a:spLocks noChangeArrowheads="1"/>
            </p:cNvSpPr>
            <p:nvPr/>
          </p:nvSpPr>
          <p:spPr bwMode="auto">
            <a:xfrm>
              <a:off x="4768" y="1893"/>
              <a:ext cx="752"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1" name="Oval 137"/>
            <p:cNvSpPr>
              <a:spLocks noChangeArrowheads="1"/>
            </p:cNvSpPr>
            <p:nvPr/>
          </p:nvSpPr>
          <p:spPr bwMode="auto">
            <a:xfrm>
              <a:off x="4696" y="2003"/>
              <a:ext cx="752"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2" name="Oval 138"/>
            <p:cNvSpPr>
              <a:spLocks noChangeArrowheads="1"/>
            </p:cNvSpPr>
            <p:nvPr/>
          </p:nvSpPr>
          <p:spPr bwMode="auto">
            <a:xfrm>
              <a:off x="3568" y="1752"/>
              <a:ext cx="1547"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grpSp>
      <p:sp>
        <p:nvSpPr>
          <p:cNvPr id="194" name="Oval 139"/>
          <p:cNvSpPr>
            <a:spLocks noChangeArrowheads="1"/>
          </p:cNvSpPr>
          <p:nvPr/>
        </p:nvSpPr>
        <p:spPr bwMode="auto">
          <a:xfrm>
            <a:off x="5685717" y="1836220"/>
            <a:ext cx="1001425" cy="5629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5" name="Oval 140"/>
          <p:cNvSpPr>
            <a:spLocks noChangeArrowheads="1"/>
          </p:cNvSpPr>
          <p:nvPr/>
        </p:nvSpPr>
        <p:spPr bwMode="auto">
          <a:xfrm>
            <a:off x="5121094" y="1992298"/>
            <a:ext cx="762895" cy="562068"/>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6" name="Oval 141"/>
          <p:cNvSpPr>
            <a:spLocks noChangeArrowheads="1"/>
          </p:cNvSpPr>
          <p:nvPr/>
        </p:nvSpPr>
        <p:spPr bwMode="auto">
          <a:xfrm>
            <a:off x="4881557" y="2342545"/>
            <a:ext cx="507255" cy="450584"/>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7" name="Oval 142"/>
          <p:cNvSpPr>
            <a:spLocks noChangeArrowheads="1"/>
          </p:cNvSpPr>
          <p:nvPr/>
        </p:nvSpPr>
        <p:spPr bwMode="auto">
          <a:xfrm>
            <a:off x="5036552" y="2554366"/>
            <a:ext cx="774973" cy="492390"/>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8" name="Oval 143"/>
          <p:cNvSpPr>
            <a:spLocks noChangeArrowheads="1"/>
          </p:cNvSpPr>
          <p:nvPr/>
        </p:nvSpPr>
        <p:spPr bwMode="auto">
          <a:xfrm>
            <a:off x="5600168" y="2638909"/>
            <a:ext cx="1170511" cy="5917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9" name="Oval 144"/>
          <p:cNvSpPr>
            <a:spLocks noChangeArrowheads="1"/>
          </p:cNvSpPr>
          <p:nvPr/>
        </p:nvSpPr>
        <p:spPr bwMode="auto">
          <a:xfrm>
            <a:off x="6363063" y="2005305"/>
            <a:ext cx="732701" cy="435719"/>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0" name="Oval 145"/>
          <p:cNvSpPr>
            <a:spLocks noChangeArrowheads="1"/>
          </p:cNvSpPr>
          <p:nvPr/>
        </p:nvSpPr>
        <p:spPr bwMode="auto">
          <a:xfrm>
            <a:off x="6475787" y="2300738"/>
            <a:ext cx="732701" cy="43757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1" name="Oval 146"/>
          <p:cNvSpPr>
            <a:spLocks noChangeArrowheads="1"/>
          </p:cNvSpPr>
          <p:nvPr/>
        </p:nvSpPr>
        <p:spPr bwMode="auto">
          <a:xfrm>
            <a:off x="6404328" y="2399217"/>
            <a:ext cx="733708" cy="733011"/>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2" name="Oval 147"/>
          <p:cNvSpPr>
            <a:spLocks noChangeArrowheads="1"/>
          </p:cNvSpPr>
          <p:nvPr/>
        </p:nvSpPr>
        <p:spPr bwMode="auto">
          <a:xfrm>
            <a:off x="5305276" y="2173460"/>
            <a:ext cx="1508680" cy="732082"/>
          </a:xfrm>
          <a:prstGeom prst="ellipse">
            <a:avLst/>
          </a:prstGeom>
          <a:solidFill>
            <a:srgbClr val="00FFFF"/>
          </a:solidFill>
          <a:ln>
            <a:noFill/>
          </a:ln>
        </p:spPr>
        <p:txBody>
          <a:bodyPr/>
          <a:lstStyle/>
          <a:p>
            <a:endParaRPr lang="zh-CN" altLang="en-US" sz="1400" b="1">
              <a:solidFill>
                <a:srgbClr val="000099"/>
              </a:solidFill>
              <a:latin typeface="微软雅黑" pitchFamily="34" charset="-122"/>
              <a:ea typeface="微软雅黑" pitchFamily="34" charset="-122"/>
            </a:endParaRPr>
          </a:p>
        </p:txBody>
      </p:sp>
      <p:sp>
        <p:nvSpPr>
          <p:cNvPr id="203" name="Text Box 148"/>
          <p:cNvSpPr txBox="1">
            <a:spLocks noChangeArrowheads="1"/>
          </p:cNvSpPr>
          <p:nvPr/>
        </p:nvSpPr>
        <p:spPr bwMode="auto">
          <a:xfrm>
            <a:off x="5521479" y="2343453"/>
            <a:ext cx="120097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虚拟互连网络</a:t>
            </a:r>
          </a:p>
          <a:p>
            <a:pPr algn="ctr"/>
            <a:r>
              <a:rPr kumimoji="1" lang="zh-CN" altLang="en-US" sz="1200" b="1" dirty="0">
                <a:latin typeface="微软雅黑" pitchFamily="34" charset="-122"/>
                <a:ea typeface="微软雅黑" pitchFamily="34" charset="-122"/>
              </a:rPr>
              <a:t>（互联网）</a:t>
            </a:r>
          </a:p>
        </p:txBody>
      </p:sp>
      <p:sp>
        <p:nvSpPr>
          <p:cNvPr id="322" name="矩形 321"/>
          <p:cNvSpPr/>
          <p:nvPr/>
        </p:nvSpPr>
        <p:spPr>
          <a:xfrm>
            <a:off x="3169087" y="4148056"/>
            <a:ext cx="2805823" cy="338554"/>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latin typeface="微软雅黑" pitchFamily="34" charset="-122"/>
                <a:ea typeface="微软雅黑" pitchFamily="34" charset="-122"/>
              </a:rPr>
              <a:t>IP </a:t>
            </a:r>
            <a:r>
              <a:rPr kumimoji="1" lang="zh-CN" altLang="zh-CN" sz="1600" b="1" dirty="0">
                <a:latin typeface="微软雅黑" pitchFamily="34" charset="-122"/>
                <a:ea typeface="微软雅黑" pitchFamily="34" charset="-122"/>
              </a:rPr>
              <a:t>网的概念</a:t>
            </a:r>
            <a:endParaRPr kumimoji="1" lang="zh-CN" altLang="en-US" sz="1600" b="1" dirty="0">
              <a:latin typeface="微软雅黑" pitchFamily="34" charset="-122"/>
              <a:ea typeface="微软雅黑" pitchFamily="34" charset="-122"/>
            </a:endParaRPr>
          </a:p>
        </p:txBody>
      </p:sp>
      <p:sp>
        <p:nvSpPr>
          <p:cNvPr id="323" name="Text Box 101"/>
          <p:cNvSpPr txBox="1">
            <a:spLocks noChangeArrowheads="1"/>
          </p:cNvSpPr>
          <p:nvPr/>
        </p:nvSpPr>
        <p:spPr bwMode="auto">
          <a:xfrm>
            <a:off x="3669601" y="271439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4" name="Text Box 102"/>
          <p:cNvSpPr txBox="1">
            <a:spLocks noChangeArrowheads="1"/>
          </p:cNvSpPr>
          <p:nvPr/>
        </p:nvSpPr>
        <p:spPr bwMode="auto">
          <a:xfrm>
            <a:off x="2855379" y="242825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5" name="Text Box 103"/>
          <p:cNvSpPr txBox="1">
            <a:spLocks noChangeArrowheads="1"/>
          </p:cNvSpPr>
          <p:nvPr/>
        </p:nvSpPr>
        <p:spPr bwMode="auto">
          <a:xfrm>
            <a:off x="2264587" y="2722759"/>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6" name="Text Box 104"/>
          <p:cNvSpPr txBox="1">
            <a:spLocks noChangeArrowheads="1"/>
          </p:cNvSpPr>
          <p:nvPr/>
        </p:nvSpPr>
        <p:spPr bwMode="auto">
          <a:xfrm>
            <a:off x="3378738" y="194794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7" name="Text Box 105"/>
          <p:cNvSpPr txBox="1">
            <a:spLocks noChangeArrowheads="1"/>
          </p:cNvSpPr>
          <p:nvPr/>
        </p:nvSpPr>
        <p:spPr bwMode="auto">
          <a:xfrm>
            <a:off x="2391401" y="184296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网络</a:t>
            </a:r>
          </a:p>
        </p:txBody>
      </p:sp>
      <p:pic>
        <p:nvPicPr>
          <p:cNvPr id="32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947485" y="1472944"/>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2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126953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14855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2"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3"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5494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889628"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59199"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6"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94470" y="1287637"/>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7"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333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53526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87191" y="3285755"/>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8EBDAC32-8BE7-6400-FBED-EEDD2261C69C}"/>
              </a:ext>
            </a:extLst>
          </p:cNvPr>
          <p:cNvSpPr>
            <a:spLocks noGrp="1"/>
          </p:cNvSpPr>
          <p:nvPr>
            <p:ph type="title"/>
          </p:nvPr>
        </p:nvSpPr>
        <p:spPr>
          <a:xfrm>
            <a:off x="486000" y="550723"/>
            <a:ext cx="8172000" cy="338554"/>
          </a:xfrm>
        </p:spPr>
        <p:txBody>
          <a:bodyPr/>
          <a:lstStyle/>
          <a:p>
            <a:r>
              <a:rPr lang="zh-CN" altLang="en-US" dirty="0"/>
              <a:t>互连网络与虚拟互连网络</a:t>
            </a:r>
          </a:p>
        </p:txBody>
      </p:sp>
    </p:spTree>
    <p:extLst>
      <p:ext uri="{BB962C8B-B14F-4D97-AF65-F5344CB8AC3E}">
        <p14:creationId xmlns:p14="http://schemas.microsoft.com/office/powerpoint/2010/main" val="43380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A2BD14A-CB10-2B84-869E-0525030742CF}"/>
              </a:ext>
            </a:extLst>
          </p:cNvPr>
          <p:cNvSpPr>
            <a:spLocks noGrp="1"/>
          </p:cNvSpPr>
          <p:nvPr>
            <p:ph type="title"/>
          </p:nvPr>
        </p:nvSpPr>
        <p:spPr>
          <a:xfrm>
            <a:off x="486000" y="550723"/>
            <a:ext cx="8172000" cy="338554"/>
          </a:xfrm>
        </p:spPr>
        <p:txBody>
          <a:bodyPr/>
          <a:lstStyle/>
          <a:p>
            <a:r>
              <a:rPr lang="en-US" altLang="zh-CN" dirty="0"/>
              <a:t>IP </a:t>
            </a:r>
            <a:r>
              <a:rPr lang="zh-CN" altLang="en-US" dirty="0"/>
              <a:t>网的意义</a:t>
            </a:r>
          </a:p>
        </p:txBody>
      </p:sp>
      <p:sp>
        <p:nvSpPr>
          <p:cNvPr id="8" name="内容占位符 7">
            <a:extLst>
              <a:ext uri="{FF2B5EF4-FFF2-40B4-BE49-F238E27FC236}">
                <a16:creationId xmlns:a16="http://schemas.microsoft.com/office/drawing/2014/main" id="{C9BE740C-E928-6D4F-F459-C9F0AC66944D}"/>
              </a:ext>
            </a:extLst>
          </p:cNvPr>
          <p:cNvSpPr>
            <a:spLocks noGrp="1"/>
          </p:cNvSpPr>
          <p:nvPr>
            <p:ph sz="quarter" idx="11"/>
          </p:nvPr>
        </p:nvSpPr>
        <p:spPr>
          <a:xfrm>
            <a:off x="486000" y="900000"/>
            <a:ext cx="8172000" cy="3703500"/>
          </a:xfrm>
        </p:spPr>
        <p:txBody>
          <a:bodyPr/>
          <a:lstStyle/>
          <a:p>
            <a:r>
              <a:rPr lang="zh-CN" altLang="en-US" dirty="0"/>
              <a:t>当互联网上的主机进行通信时，就好像在一个网络上通信一样，看不见互连的各具体的网络异构细节</a:t>
            </a:r>
          </a:p>
          <a:p>
            <a:r>
              <a:rPr lang="zh-CN" altLang="en-US" dirty="0"/>
              <a:t>如果在这种覆盖全球的 </a:t>
            </a:r>
            <a:r>
              <a:rPr lang="en-US" altLang="zh-CN" dirty="0"/>
              <a:t>IP </a:t>
            </a:r>
            <a:r>
              <a:rPr lang="zh-CN" altLang="en-US" dirty="0"/>
              <a:t>网的上层使用 </a:t>
            </a:r>
            <a:r>
              <a:rPr lang="en-US" altLang="zh-CN" dirty="0"/>
              <a:t>TCP </a:t>
            </a:r>
            <a:r>
              <a:rPr lang="zh-CN" altLang="en-US" dirty="0"/>
              <a:t>协议，那么就是现在的互联网 </a:t>
            </a:r>
            <a:r>
              <a:rPr lang="en-US" altLang="zh-CN" dirty="0"/>
              <a:t>Internet</a:t>
            </a:r>
            <a:endParaRPr lang="zh-CN" altLang="en-US" dirty="0"/>
          </a:p>
        </p:txBody>
      </p:sp>
    </p:spTree>
    <p:extLst>
      <p:ext uri="{BB962C8B-B14F-4D97-AF65-F5344CB8AC3E}">
        <p14:creationId xmlns:p14="http://schemas.microsoft.com/office/powerpoint/2010/main" val="37809314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 name="Rectangle 2"/>
          <p:cNvSpPr>
            <a:spLocks noChangeArrowheads="1"/>
          </p:cNvSpPr>
          <p:nvPr/>
        </p:nvSpPr>
        <p:spPr bwMode="auto">
          <a:xfrm>
            <a:off x="2468225" y="787845"/>
            <a:ext cx="387036" cy="734697"/>
          </a:xfrm>
          <a:prstGeom prst="rect">
            <a:avLst/>
          </a:prstGeom>
          <a:solidFill>
            <a:srgbClr val="00FF99"/>
          </a:solidFill>
          <a:ln w="952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4" name="Rectangle 3"/>
          <p:cNvSpPr>
            <a:spLocks noChangeArrowheads="1"/>
          </p:cNvSpPr>
          <p:nvPr/>
        </p:nvSpPr>
        <p:spPr bwMode="auto">
          <a:xfrm>
            <a:off x="2473987" y="1084605"/>
            <a:ext cx="377432" cy="155583"/>
          </a:xfrm>
          <a:prstGeom prst="rect">
            <a:avLst/>
          </a:prstGeom>
          <a:solidFill>
            <a:srgbClr val="0000CC"/>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5" name="Text Box 4"/>
          <p:cNvSpPr txBox="1">
            <a:spLocks noChangeArrowheads="1"/>
          </p:cNvSpPr>
          <p:nvPr/>
        </p:nvSpPr>
        <p:spPr bwMode="auto">
          <a:xfrm>
            <a:off x="2539425" y="739983"/>
            <a:ext cx="255198" cy="861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116" name="Line 5"/>
          <p:cNvSpPr>
            <a:spLocks noChangeShapeType="1"/>
          </p:cNvSpPr>
          <p:nvPr/>
        </p:nvSpPr>
        <p:spPr bwMode="auto">
          <a:xfrm>
            <a:off x="2468225" y="944388"/>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7" name="Line 6"/>
          <p:cNvSpPr>
            <a:spLocks noChangeShapeType="1"/>
          </p:cNvSpPr>
          <p:nvPr/>
        </p:nvSpPr>
        <p:spPr bwMode="auto">
          <a:xfrm>
            <a:off x="2468225" y="1089407"/>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8" name="Line 7"/>
          <p:cNvSpPr>
            <a:spLocks noChangeShapeType="1"/>
          </p:cNvSpPr>
          <p:nvPr/>
        </p:nvSpPr>
        <p:spPr bwMode="auto">
          <a:xfrm>
            <a:off x="2468225" y="1234425"/>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9" name="Line 8"/>
          <p:cNvSpPr>
            <a:spLocks noChangeShapeType="1"/>
          </p:cNvSpPr>
          <p:nvPr/>
        </p:nvSpPr>
        <p:spPr bwMode="auto">
          <a:xfrm>
            <a:off x="2468225" y="1380404"/>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0" name="Freeform 9"/>
          <p:cNvSpPr>
            <a:spLocks/>
          </p:cNvSpPr>
          <p:nvPr/>
        </p:nvSpPr>
        <p:spPr bwMode="auto">
          <a:xfrm>
            <a:off x="6854320" y="1844273"/>
            <a:ext cx="189197" cy="1089081"/>
          </a:xfrm>
          <a:custGeom>
            <a:avLst/>
            <a:gdLst>
              <a:gd name="T0" fmla="*/ 197 w 197"/>
              <a:gd name="T1" fmla="*/ 0 h 1134"/>
              <a:gd name="T2" fmla="*/ 0 w 197"/>
              <a:gd name="T3" fmla="*/ 507 h 1134"/>
              <a:gd name="T4" fmla="*/ 16 w 197"/>
              <a:gd name="T5" fmla="*/ 1134 h 1134"/>
            </a:gdLst>
            <a:ahLst/>
            <a:cxnLst>
              <a:cxn ang="0">
                <a:pos x="T0" y="T1"/>
              </a:cxn>
              <a:cxn ang="0">
                <a:pos x="T2" y="T3"/>
              </a:cxn>
              <a:cxn ang="0">
                <a:pos x="T4" y="T5"/>
              </a:cxn>
            </a:cxnLst>
            <a:rect l="0" t="0" r="r" b="b"/>
            <a:pathLst>
              <a:path w="197" h="1134">
                <a:moveTo>
                  <a:pt x="197" y="0"/>
                </a:moveTo>
                <a:lnTo>
                  <a:pt x="0" y="507"/>
                </a:lnTo>
                <a:lnTo>
                  <a:pt x="16" y="1134"/>
                </a:lnTo>
              </a:path>
            </a:pathLst>
          </a:custGeom>
          <a:noFill/>
          <a:ln w="19050">
            <a:solidFill>
              <a:srgbClr val="000000"/>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4" name="Rectangle 13"/>
          <p:cNvSpPr>
            <a:spLocks noChangeArrowheads="1"/>
          </p:cNvSpPr>
          <p:nvPr/>
        </p:nvSpPr>
        <p:spPr bwMode="auto">
          <a:xfrm>
            <a:off x="3644700" y="3494379"/>
            <a:ext cx="387037" cy="734698"/>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2" name="Rectangle 11"/>
          <p:cNvSpPr>
            <a:spLocks noChangeArrowheads="1"/>
          </p:cNvSpPr>
          <p:nvPr/>
        </p:nvSpPr>
        <p:spPr bwMode="auto">
          <a:xfrm>
            <a:off x="3650462" y="3791139"/>
            <a:ext cx="377433" cy="155583"/>
          </a:xfrm>
          <a:prstGeom prst="rect">
            <a:avLst/>
          </a:prstGeom>
          <a:solidFill>
            <a:srgbClr val="0000CC"/>
          </a:solidFill>
          <a:ln>
            <a:noFill/>
          </a:ln>
          <a:effec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3" name="Text Box 12"/>
          <p:cNvSpPr txBox="1">
            <a:spLocks noChangeArrowheads="1"/>
          </p:cNvSpPr>
          <p:nvPr/>
        </p:nvSpPr>
        <p:spPr bwMode="auto">
          <a:xfrm>
            <a:off x="3716729" y="3465567"/>
            <a:ext cx="255464" cy="8614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395" name="Line 14"/>
          <p:cNvSpPr>
            <a:spLocks noChangeShapeType="1"/>
          </p:cNvSpPr>
          <p:nvPr/>
        </p:nvSpPr>
        <p:spPr bwMode="auto">
          <a:xfrm>
            <a:off x="3644700" y="3650922"/>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6" name="Line 15"/>
          <p:cNvSpPr>
            <a:spLocks noChangeShapeType="1"/>
          </p:cNvSpPr>
          <p:nvPr/>
        </p:nvSpPr>
        <p:spPr bwMode="auto">
          <a:xfrm>
            <a:off x="3644700" y="3795941"/>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7" name="Line 16"/>
          <p:cNvSpPr>
            <a:spLocks noChangeShapeType="1"/>
          </p:cNvSpPr>
          <p:nvPr/>
        </p:nvSpPr>
        <p:spPr bwMode="auto">
          <a:xfrm>
            <a:off x="3644700" y="3940960"/>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8" name="Line 17"/>
          <p:cNvSpPr>
            <a:spLocks noChangeShapeType="1"/>
          </p:cNvSpPr>
          <p:nvPr/>
        </p:nvSpPr>
        <p:spPr bwMode="auto">
          <a:xfrm>
            <a:off x="3644700" y="4086939"/>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122" name="Line 18"/>
          <p:cNvSpPr>
            <a:spLocks noChangeShapeType="1"/>
          </p:cNvSpPr>
          <p:nvPr/>
        </p:nvSpPr>
        <p:spPr bwMode="auto">
          <a:xfrm flipV="1">
            <a:off x="3905926" y="1801055"/>
            <a:ext cx="3049234"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3" name="Line 19"/>
          <p:cNvSpPr>
            <a:spLocks noChangeShapeType="1"/>
          </p:cNvSpPr>
          <p:nvPr/>
        </p:nvSpPr>
        <p:spPr bwMode="auto">
          <a:xfrm flipV="1">
            <a:off x="4297765" y="2933354"/>
            <a:ext cx="523412" cy="96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4" name="Line 20"/>
          <p:cNvSpPr>
            <a:spLocks noChangeShapeType="1"/>
          </p:cNvSpPr>
          <p:nvPr/>
        </p:nvSpPr>
        <p:spPr bwMode="auto">
          <a:xfrm>
            <a:off x="2555620"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33781" y="2846919"/>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6" name="Group 22"/>
          <p:cNvGrpSpPr>
            <a:grpSpLocks/>
          </p:cNvGrpSpPr>
          <p:nvPr/>
        </p:nvGrpSpPr>
        <p:grpSpPr bwMode="auto">
          <a:xfrm>
            <a:off x="4211330" y="1583047"/>
            <a:ext cx="871073" cy="522452"/>
            <a:chOff x="385" y="2795"/>
            <a:chExt cx="1769" cy="816"/>
          </a:xfrm>
          <a:solidFill>
            <a:srgbClr val="3399FF"/>
          </a:solidFill>
        </p:grpSpPr>
        <p:sp>
          <p:nvSpPr>
            <p:cNvPr id="375" name="Oval 2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6" name="Oval 2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7" name="Oval 2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8" name="Oval 2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9" name="Oval 2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0" name="Oval 2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1" name="Oval 2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2" name="Oval 3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3" name="Oval 3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4" name="Oval 3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5" name="Oval 3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6" name="Oval 3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7" name="Oval 3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8" name="Oval 3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9" name="Oval 3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0" name="Oval 3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1" name="Freeform 3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27" name="Text Box 40"/>
          <p:cNvSpPr txBox="1">
            <a:spLocks noChangeArrowheads="1"/>
          </p:cNvSpPr>
          <p:nvPr/>
        </p:nvSpPr>
        <p:spPr bwMode="auto">
          <a:xfrm>
            <a:off x="1946988" y="1535715"/>
            <a:ext cx="45397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pic>
        <p:nvPicPr>
          <p:cNvPr id="128"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01379"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9" name="Group 42"/>
          <p:cNvGrpSpPr>
            <a:grpSpLocks/>
          </p:cNvGrpSpPr>
          <p:nvPr/>
        </p:nvGrpSpPr>
        <p:grpSpPr bwMode="auto">
          <a:xfrm>
            <a:off x="5735467" y="1583047"/>
            <a:ext cx="871072" cy="522452"/>
            <a:chOff x="385" y="2795"/>
            <a:chExt cx="1769" cy="816"/>
          </a:xfrm>
          <a:solidFill>
            <a:srgbClr val="3399FF"/>
          </a:solidFill>
        </p:grpSpPr>
        <p:sp>
          <p:nvSpPr>
            <p:cNvPr id="358" name="Oval 4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9" name="Oval 4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0" name="Oval 4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1" name="Oval 4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2" name="Oval 4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3" name="Oval 4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4" name="Oval 4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5" name="Oval 5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6" name="Oval 5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7" name="Oval 5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8" name="Oval 5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9" name="Oval 5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0" name="Oval 5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1" name="Oval 5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2" name="Oval 5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3" name="Oval 5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4" name="Freeform 5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30" name="Group 60"/>
          <p:cNvGrpSpPr>
            <a:grpSpLocks/>
          </p:cNvGrpSpPr>
          <p:nvPr/>
        </p:nvGrpSpPr>
        <p:grpSpPr bwMode="auto">
          <a:xfrm>
            <a:off x="4779488" y="2585790"/>
            <a:ext cx="247262" cy="302228"/>
            <a:chOff x="4420" y="2719"/>
            <a:chExt cx="397" cy="571"/>
          </a:xfrm>
          <a:solidFill>
            <a:srgbClr val="00FF99"/>
          </a:solidFill>
        </p:grpSpPr>
        <p:grpSp>
          <p:nvGrpSpPr>
            <p:cNvPr id="311" name="Group 62"/>
            <p:cNvGrpSpPr>
              <a:grpSpLocks/>
            </p:cNvGrpSpPr>
            <p:nvPr/>
          </p:nvGrpSpPr>
          <p:grpSpPr bwMode="auto">
            <a:xfrm>
              <a:off x="4562" y="3066"/>
              <a:ext cx="13" cy="70"/>
              <a:chOff x="4562" y="3066"/>
              <a:chExt cx="13" cy="70"/>
            </a:xfrm>
            <a:grpFill/>
          </p:grpSpPr>
          <p:sp>
            <p:nvSpPr>
              <p:cNvPr id="356" name="Rectangle 63"/>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7" name="Line 64"/>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312" name="Rectangle 65"/>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3" name="Freeform 66"/>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4" name="Freeform 67"/>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5" name="Freeform 68"/>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6" name="Freeform 69"/>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7" name="Freeform 70"/>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8" name="Freeform 71"/>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9" name="Rectangle 72"/>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0" name="Line 73"/>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1" name="Freeform 74"/>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2" name="Freeform 75"/>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3" name="Freeform 76"/>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4" name="Rectangle 77"/>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5" name="Rectangle 78"/>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6" name="Rectangle 79"/>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7" name="Rectangle 80"/>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8" name="Oval 81"/>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9" name="Rectangle 82"/>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0" name="Freeform 83"/>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31" name="Group 84"/>
            <p:cNvGrpSpPr>
              <a:grpSpLocks/>
            </p:cNvGrpSpPr>
            <p:nvPr/>
          </p:nvGrpSpPr>
          <p:grpSpPr bwMode="auto">
            <a:xfrm>
              <a:off x="4455" y="2913"/>
              <a:ext cx="126" cy="116"/>
              <a:chOff x="4455" y="2913"/>
              <a:chExt cx="126" cy="116"/>
            </a:xfrm>
            <a:grpFill/>
          </p:grpSpPr>
          <p:sp>
            <p:nvSpPr>
              <p:cNvPr id="354" name="Oval 85"/>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5" name="Oval 86"/>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332" name="Group 87"/>
            <p:cNvGrpSpPr>
              <a:grpSpLocks/>
            </p:cNvGrpSpPr>
            <p:nvPr/>
          </p:nvGrpSpPr>
          <p:grpSpPr bwMode="auto">
            <a:xfrm>
              <a:off x="4504" y="3136"/>
              <a:ext cx="43" cy="112"/>
              <a:chOff x="4504" y="3136"/>
              <a:chExt cx="43" cy="112"/>
            </a:xfrm>
            <a:grpFill/>
          </p:grpSpPr>
          <p:sp>
            <p:nvSpPr>
              <p:cNvPr id="345" name="Rectangle 88"/>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46" name="Group 89"/>
              <p:cNvGrpSpPr>
                <a:grpSpLocks/>
              </p:cNvGrpSpPr>
              <p:nvPr/>
            </p:nvGrpSpPr>
            <p:grpSpPr bwMode="auto">
              <a:xfrm>
                <a:off x="4504" y="3149"/>
                <a:ext cx="43" cy="87"/>
                <a:chOff x="4504" y="3149"/>
                <a:chExt cx="43" cy="87"/>
              </a:xfrm>
              <a:grpFill/>
            </p:grpSpPr>
            <p:sp>
              <p:nvSpPr>
                <p:cNvPr id="347" name="Line 90"/>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8" name="Line 91"/>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9" name="Line 92"/>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0" name="Line 93"/>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1" name="Line 94"/>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2" name="Line 95"/>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3" name="Line 96"/>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333" name="Rectangle 97"/>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4" name="Freeform 98"/>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5" name="Freeform 99"/>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6" name="Freeform 100"/>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7" name="Freeform 101"/>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8" name="Freeform 102"/>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9" name="Freeform 103"/>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0" name="Freeform 104"/>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1" name="Freeform 105"/>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2" name="Freeform 106"/>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3" name="Freeform 107"/>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4" name="Freeform 108"/>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1"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74241" y="2236111"/>
            <a:ext cx="598322" cy="216087"/>
          </a:xfrm>
          <a:prstGeom prst="rect">
            <a:avLst/>
          </a:prstGeom>
          <a:noFill/>
          <a:ln w="12699">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2" name="Picture 1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47717" y="2845958"/>
            <a:ext cx="315007" cy="1738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3" name="Picture 11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33064"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4" name="Group 112"/>
          <p:cNvGrpSpPr>
            <a:grpSpLocks/>
          </p:cNvGrpSpPr>
          <p:nvPr/>
        </p:nvGrpSpPr>
        <p:grpSpPr bwMode="auto">
          <a:xfrm flipH="1">
            <a:off x="6923418" y="2629968"/>
            <a:ext cx="247262" cy="302228"/>
            <a:chOff x="4420" y="2719"/>
            <a:chExt cx="397" cy="571"/>
          </a:xfrm>
          <a:solidFill>
            <a:srgbClr val="00FF99"/>
          </a:solidFill>
        </p:grpSpPr>
        <p:grpSp>
          <p:nvGrpSpPr>
            <p:cNvPr id="263" name="Group 114"/>
            <p:cNvGrpSpPr>
              <a:grpSpLocks/>
            </p:cNvGrpSpPr>
            <p:nvPr/>
          </p:nvGrpSpPr>
          <p:grpSpPr bwMode="auto">
            <a:xfrm>
              <a:off x="4562" y="3066"/>
              <a:ext cx="13" cy="70"/>
              <a:chOff x="4562" y="3066"/>
              <a:chExt cx="13" cy="70"/>
            </a:xfrm>
            <a:grpFill/>
          </p:grpSpPr>
          <p:sp>
            <p:nvSpPr>
              <p:cNvPr id="308" name="Rectangle 115"/>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9" name="Line 116"/>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264" name="Rectangle 117"/>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5" name="Freeform 118"/>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6" name="Freeform 119"/>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7" name="Freeform 120"/>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8" name="Freeform 121"/>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9" name="Freeform 122"/>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0" name="Freeform 123"/>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1" name="Rectangle 124"/>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2" name="Line 125"/>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3" name="Freeform 126"/>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4" name="Freeform 127"/>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5" name="Freeform 128"/>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6" name="Rectangle 129"/>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7" name="Rectangle 130"/>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8" name="Rectangle 131"/>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9" name="Rectangle 132"/>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0" name="Oval 133"/>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1" name="Rectangle 134"/>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2" name="Freeform 135"/>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83" name="Group 136"/>
            <p:cNvGrpSpPr>
              <a:grpSpLocks/>
            </p:cNvGrpSpPr>
            <p:nvPr/>
          </p:nvGrpSpPr>
          <p:grpSpPr bwMode="auto">
            <a:xfrm>
              <a:off x="4455" y="2913"/>
              <a:ext cx="126" cy="116"/>
              <a:chOff x="4455" y="2913"/>
              <a:chExt cx="126" cy="116"/>
            </a:xfrm>
            <a:grpFill/>
          </p:grpSpPr>
          <p:sp>
            <p:nvSpPr>
              <p:cNvPr id="306" name="Oval 137"/>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7" name="Oval 138"/>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284" name="Group 139"/>
            <p:cNvGrpSpPr>
              <a:grpSpLocks/>
            </p:cNvGrpSpPr>
            <p:nvPr/>
          </p:nvGrpSpPr>
          <p:grpSpPr bwMode="auto">
            <a:xfrm>
              <a:off x="4504" y="3136"/>
              <a:ext cx="43" cy="112"/>
              <a:chOff x="4504" y="3136"/>
              <a:chExt cx="43" cy="112"/>
            </a:xfrm>
            <a:grpFill/>
          </p:grpSpPr>
          <p:sp>
            <p:nvSpPr>
              <p:cNvPr id="297" name="Rectangle 140"/>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98" name="Group 141"/>
              <p:cNvGrpSpPr>
                <a:grpSpLocks/>
              </p:cNvGrpSpPr>
              <p:nvPr/>
            </p:nvGrpSpPr>
            <p:grpSpPr bwMode="auto">
              <a:xfrm>
                <a:off x="4504" y="3149"/>
                <a:ext cx="43" cy="87"/>
                <a:chOff x="4504" y="3149"/>
                <a:chExt cx="43" cy="87"/>
              </a:xfrm>
              <a:grpFill/>
            </p:grpSpPr>
            <p:sp>
              <p:nvSpPr>
                <p:cNvPr id="299" name="Line 142"/>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0" name="Line 143"/>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1" name="Line 144"/>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2" name="Line 145"/>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3" name="Line 146"/>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4" name="Line 147"/>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5" name="Line 148"/>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285" name="Rectangle 149"/>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6" name="Freeform 150"/>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7" name="Freeform 151"/>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8" name="Freeform 152"/>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9" name="Freeform 153"/>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0" name="Freeform 154"/>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1" name="Freeform 155"/>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2" name="Freeform 156"/>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3" name="Freeform 157"/>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4" name="Freeform 158"/>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5" name="Freeform 159"/>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6" name="Freeform 160"/>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5" name="Picture 161" descr="D-Link%20DI-713P%20Wireless%20Broadband%20route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01125" y="2706702"/>
            <a:ext cx="453303" cy="377433"/>
          </a:xfrm>
          <a:prstGeom prst="rect">
            <a:avLst/>
          </a:prstGeom>
          <a:noFill/>
          <a:extLst>
            <a:ext uri="{909E8E84-426E-40DD-AFC4-6F175D3DCCD1}">
              <a14:hiddenFill xmlns:a14="http://schemas.microsoft.com/office/drawing/2010/main">
                <a:solidFill>
                  <a:srgbClr val="FFFFFF"/>
                </a:solidFill>
              </a14:hiddenFill>
            </a:ext>
          </a:extLst>
        </p:spPr>
      </p:pic>
      <p:sp>
        <p:nvSpPr>
          <p:cNvPr id="137" name="Freeform 173"/>
          <p:cNvSpPr>
            <a:spLocks/>
          </p:cNvSpPr>
          <p:nvPr/>
        </p:nvSpPr>
        <p:spPr bwMode="auto">
          <a:xfrm rot="1390605">
            <a:off x="4196924" y="2541515"/>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50" name="Line 175"/>
          <p:cNvSpPr>
            <a:spLocks noChangeShapeType="1"/>
          </p:cNvSpPr>
          <p:nvPr/>
        </p:nvSpPr>
        <p:spPr bwMode="auto">
          <a:xfrm>
            <a:off x="2686233" y="201810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0" name="Line 178"/>
          <p:cNvSpPr>
            <a:spLocks noChangeShapeType="1"/>
          </p:cNvSpPr>
          <p:nvPr/>
        </p:nvSpPr>
        <p:spPr bwMode="auto">
          <a:xfrm flipV="1">
            <a:off x="2250216" y="2018103"/>
            <a:ext cx="183050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1" name="Line 179"/>
          <p:cNvSpPr>
            <a:spLocks noChangeShapeType="1"/>
          </p:cNvSpPr>
          <p:nvPr/>
        </p:nvSpPr>
        <p:spPr bwMode="auto">
          <a:xfrm>
            <a:off x="3949144"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42" name="Picture 18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08927"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43" name="Group 181"/>
          <p:cNvGrpSpPr>
            <a:grpSpLocks/>
          </p:cNvGrpSpPr>
          <p:nvPr/>
        </p:nvGrpSpPr>
        <p:grpSpPr bwMode="auto">
          <a:xfrm>
            <a:off x="2694757" y="2966062"/>
            <a:ext cx="528334" cy="389692"/>
            <a:chOff x="762" y="2391"/>
            <a:chExt cx="423" cy="312"/>
          </a:xfrm>
        </p:grpSpPr>
        <p:grpSp>
          <p:nvGrpSpPr>
            <p:cNvPr id="240" name="Group 182"/>
            <p:cNvGrpSpPr>
              <a:grpSpLocks/>
            </p:cNvGrpSpPr>
            <p:nvPr/>
          </p:nvGrpSpPr>
          <p:grpSpPr bwMode="auto">
            <a:xfrm>
              <a:off x="867" y="2432"/>
              <a:ext cx="318" cy="271"/>
              <a:chOff x="657" y="1570"/>
              <a:chExt cx="318" cy="311"/>
            </a:xfrm>
          </p:grpSpPr>
          <p:sp>
            <p:nvSpPr>
              <p:cNvPr id="248"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249"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41" name="Group 185"/>
            <p:cNvGrpSpPr>
              <a:grpSpLocks/>
            </p:cNvGrpSpPr>
            <p:nvPr/>
          </p:nvGrpSpPr>
          <p:grpSpPr bwMode="auto">
            <a:xfrm>
              <a:off x="762" y="2391"/>
              <a:ext cx="306" cy="90"/>
              <a:chOff x="748" y="2251"/>
              <a:chExt cx="306" cy="90"/>
            </a:xfrm>
          </p:grpSpPr>
          <p:sp>
            <p:nvSpPr>
              <p:cNvPr id="242"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3"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4"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5"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6"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7"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145" name="Line 203"/>
          <p:cNvSpPr>
            <a:spLocks noChangeShapeType="1"/>
          </p:cNvSpPr>
          <p:nvPr/>
        </p:nvSpPr>
        <p:spPr bwMode="auto">
          <a:xfrm>
            <a:off x="6040871" y="2392602"/>
            <a:ext cx="914290" cy="392799"/>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6" name="Line 204"/>
          <p:cNvSpPr>
            <a:spLocks noChangeShapeType="1"/>
          </p:cNvSpPr>
          <p:nvPr/>
        </p:nvSpPr>
        <p:spPr bwMode="auto">
          <a:xfrm flipH="1">
            <a:off x="5038225" y="2410902"/>
            <a:ext cx="435056" cy="261226"/>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7" name="Freeform 205"/>
          <p:cNvSpPr>
            <a:spLocks/>
          </p:cNvSpPr>
          <p:nvPr/>
        </p:nvSpPr>
        <p:spPr bwMode="auto">
          <a:xfrm rot="1901313">
            <a:off x="3717690" y="2759523"/>
            <a:ext cx="122930" cy="181514"/>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8" name="Freeform 206"/>
          <p:cNvSpPr>
            <a:spLocks/>
          </p:cNvSpPr>
          <p:nvPr/>
        </p:nvSpPr>
        <p:spPr bwMode="auto">
          <a:xfrm rot="18818791" flipH="1">
            <a:off x="3717210" y="2614984"/>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9" name="Freeform 207"/>
          <p:cNvSpPr>
            <a:spLocks/>
          </p:cNvSpPr>
          <p:nvPr/>
        </p:nvSpPr>
        <p:spPr bwMode="auto">
          <a:xfrm rot="3575381">
            <a:off x="4226216" y="2650519"/>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0" name="Text Box 208"/>
          <p:cNvSpPr txBox="1">
            <a:spLocks noChangeArrowheads="1"/>
          </p:cNvSpPr>
          <p:nvPr/>
        </p:nvSpPr>
        <p:spPr bwMode="auto">
          <a:xfrm>
            <a:off x="2912785" y="3518738"/>
            <a:ext cx="53412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 </a:t>
            </a:r>
            <a:endParaRPr kumimoji="0" lang="en-US" altLang="zh-CN" sz="105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228" name="Line 210"/>
          <p:cNvSpPr>
            <a:spLocks noChangeShapeType="1"/>
          </p:cNvSpPr>
          <p:nvPr/>
        </p:nvSpPr>
        <p:spPr bwMode="auto">
          <a:xfrm>
            <a:off x="3165467" y="201906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6" name="Line 213"/>
          <p:cNvSpPr>
            <a:spLocks noChangeShapeType="1"/>
          </p:cNvSpPr>
          <p:nvPr/>
        </p:nvSpPr>
        <p:spPr bwMode="auto">
          <a:xfrm>
            <a:off x="3775313" y="202002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3" name="Text Box 215"/>
          <p:cNvSpPr txBox="1">
            <a:spLocks noChangeArrowheads="1"/>
          </p:cNvSpPr>
          <p:nvPr/>
        </p:nvSpPr>
        <p:spPr bwMode="auto">
          <a:xfrm>
            <a:off x="363605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1</a:t>
            </a:r>
          </a:p>
        </p:txBody>
      </p:sp>
      <p:sp>
        <p:nvSpPr>
          <p:cNvPr id="154" name="Text Box 216"/>
          <p:cNvSpPr txBox="1">
            <a:spLocks noChangeArrowheads="1"/>
          </p:cNvSpPr>
          <p:nvPr/>
        </p:nvSpPr>
        <p:spPr bwMode="auto">
          <a:xfrm>
            <a:off x="6733355" y="296808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55" name="Text Box 217"/>
          <p:cNvSpPr txBox="1">
            <a:spLocks noChangeArrowheads="1"/>
          </p:cNvSpPr>
          <p:nvPr/>
        </p:nvSpPr>
        <p:spPr bwMode="auto">
          <a:xfrm>
            <a:off x="4470089" y="265094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56" name="Text Box 218"/>
          <p:cNvSpPr txBox="1">
            <a:spLocks noChangeArrowheads="1"/>
          </p:cNvSpPr>
          <p:nvPr/>
        </p:nvSpPr>
        <p:spPr bwMode="auto">
          <a:xfrm>
            <a:off x="511697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2</a:t>
            </a:r>
          </a:p>
        </p:txBody>
      </p:sp>
      <p:sp>
        <p:nvSpPr>
          <p:cNvPr id="157" name="Text Box 219"/>
          <p:cNvSpPr txBox="1">
            <a:spLocks noChangeArrowheads="1"/>
          </p:cNvSpPr>
          <p:nvPr/>
        </p:nvSpPr>
        <p:spPr bwMode="auto">
          <a:xfrm>
            <a:off x="6755141" y="151106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58" name="Text Box 220"/>
          <p:cNvSpPr txBox="1">
            <a:spLocks noChangeArrowheads="1"/>
          </p:cNvSpPr>
          <p:nvPr/>
        </p:nvSpPr>
        <p:spPr bwMode="auto">
          <a:xfrm>
            <a:off x="3442187" y="100943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59" name="Text Box 221"/>
          <p:cNvSpPr txBox="1">
            <a:spLocks noChangeArrowheads="1"/>
          </p:cNvSpPr>
          <p:nvPr/>
        </p:nvSpPr>
        <p:spPr bwMode="auto">
          <a:xfrm>
            <a:off x="4970383" y="1017487"/>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160" name="Text Box 222"/>
          <p:cNvSpPr txBox="1">
            <a:spLocks noChangeArrowheads="1"/>
          </p:cNvSpPr>
          <p:nvPr/>
        </p:nvSpPr>
        <p:spPr bwMode="auto">
          <a:xfrm>
            <a:off x="6847382" y="85315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61" name="Text Box 223"/>
          <p:cNvSpPr txBox="1">
            <a:spLocks noChangeArrowheads="1"/>
          </p:cNvSpPr>
          <p:nvPr/>
        </p:nvSpPr>
        <p:spPr bwMode="auto">
          <a:xfrm>
            <a:off x="2519067" y="576559"/>
            <a:ext cx="351378"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62" name="Text Box 224"/>
          <p:cNvSpPr txBox="1">
            <a:spLocks noChangeArrowheads="1"/>
          </p:cNvSpPr>
          <p:nvPr/>
        </p:nvSpPr>
        <p:spPr bwMode="auto">
          <a:xfrm>
            <a:off x="4713497" y="296173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63" name="Text Box 225"/>
          <p:cNvSpPr txBox="1">
            <a:spLocks noChangeArrowheads="1"/>
          </p:cNvSpPr>
          <p:nvPr/>
        </p:nvSpPr>
        <p:spPr bwMode="auto">
          <a:xfrm>
            <a:off x="3958818" y="3408745"/>
            <a:ext cx="39145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grpSp>
        <p:nvGrpSpPr>
          <p:cNvPr id="164" name="Group 226"/>
          <p:cNvGrpSpPr>
            <a:grpSpLocks/>
          </p:cNvGrpSpPr>
          <p:nvPr/>
        </p:nvGrpSpPr>
        <p:grpSpPr bwMode="auto">
          <a:xfrm>
            <a:off x="6345314" y="2062281"/>
            <a:ext cx="871073" cy="522452"/>
            <a:chOff x="385" y="2795"/>
            <a:chExt cx="1769" cy="816"/>
          </a:xfrm>
          <a:solidFill>
            <a:srgbClr val="3399FF"/>
          </a:solidFill>
        </p:grpSpPr>
        <p:sp>
          <p:nvSpPr>
            <p:cNvPr id="209" name="Oval 227"/>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0" name="Oval 228"/>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1" name="Oval 229"/>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2" name="Oval 230"/>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3" name="Oval 231"/>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4" name="Oval 232"/>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5" name="Oval 233"/>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6" name="Oval 234"/>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7" name="Oval 235"/>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8" name="Oval 236"/>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9" name="Oval 237"/>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0" name="Oval 238"/>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1" name="Oval 239"/>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2" name="Oval 240"/>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3" name="Oval 241"/>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4" name="Oval 242"/>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5" name="Freeform 243"/>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65" name="Text Box 244"/>
          <p:cNvSpPr txBox="1">
            <a:spLocks noChangeArrowheads="1"/>
          </p:cNvSpPr>
          <p:nvPr/>
        </p:nvSpPr>
        <p:spPr bwMode="auto">
          <a:xfrm>
            <a:off x="6485890" y="2668286"/>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68" name="AutoShape 247"/>
          <p:cNvSpPr>
            <a:spLocks noChangeArrowheads="1"/>
          </p:cNvSpPr>
          <p:nvPr/>
        </p:nvSpPr>
        <p:spPr bwMode="auto">
          <a:xfrm>
            <a:off x="2860063" y="166948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69" name="AutoShape 248"/>
          <p:cNvSpPr>
            <a:spLocks noChangeArrowheads="1"/>
          </p:cNvSpPr>
          <p:nvPr/>
        </p:nvSpPr>
        <p:spPr bwMode="auto">
          <a:xfrm rot="6744589" flipV="1">
            <a:off x="6676363" y="2085712"/>
            <a:ext cx="827855" cy="309934"/>
          </a:xfrm>
          <a:prstGeom prst="rightArrow">
            <a:avLst>
              <a:gd name="adj1" fmla="val 59778"/>
              <a:gd name="adj2" fmla="val 102652"/>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70" name="AutoShape 249"/>
          <p:cNvSpPr>
            <a:spLocks noChangeArrowheads="1"/>
          </p:cNvSpPr>
          <p:nvPr/>
        </p:nvSpPr>
        <p:spPr bwMode="auto">
          <a:xfrm flipH="1">
            <a:off x="5333063" y="2802741"/>
            <a:ext cx="1000188" cy="348622"/>
          </a:xfrm>
          <a:prstGeom prst="rightArrow">
            <a:avLst>
              <a:gd name="adj1" fmla="val 59778"/>
              <a:gd name="adj2" fmla="val 151908"/>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171" name="AutoShape 250"/>
          <p:cNvSpPr>
            <a:spLocks noChangeArrowheads="1"/>
          </p:cNvSpPr>
          <p:nvPr/>
        </p:nvSpPr>
        <p:spPr bwMode="auto">
          <a:xfrm rot="20314671" flipH="1">
            <a:off x="3732494" y="3053513"/>
            <a:ext cx="914290" cy="326419"/>
          </a:xfrm>
          <a:prstGeom prst="rightArrow">
            <a:avLst>
              <a:gd name="adj1" fmla="val 59778"/>
              <a:gd name="adj2" fmla="val 113871"/>
            </a:avLst>
          </a:prstGeom>
          <a:solidFill>
            <a:srgbClr val="FF99FF"/>
          </a:solidFill>
          <a:ln w="12700" cmpd="sng">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effectLst/>
                <a:uLnTx/>
                <a:uFillTx/>
                <a:latin typeface="微软雅黑" pitchFamily="34" charset="-122"/>
                <a:ea typeface="微软雅黑" pitchFamily="34" charset="-122"/>
              </a:rPr>
              <a:t>直接交付</a:t>
            </a:r>
          </a:p>
        </p:txBody>
      </p:sp>
      <p:grpSp>
        <p:nvGrpSpPr>
          <p:cNvPr id="172" name="Group 251"/>
          <p:cNvGrpSpPr>
            <a:grpSpLocks/>
          </p:cNvGrpSpPr>
          <p:nvPr/>
        </p:nvGrpSpPr>
        <p:grpSpPr bwMode="auto">
          <a:xfrm>
            <a:off x="3751305" y="1072121"/>
            <a:ext cx="460026" cy="450423"/>
            <a:chOff x="1721" y="585"/>
            <a:chExt cx="479" cy="469"/>
          </a:xfrm>
        </p:grpSpPr>
        <p:sp>
          <p:nvSpPr>
            <p:cNvPr id="204" name="Rectangle 253"/>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3" name="Rectangle 252"/>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5" name="Line 254"/>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6" name="Line 255"/>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7" name="Line 256"/>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3" name="Group 258"/>
          <p:cNvGrpSpPr>
            <a:grpSpLocks/>
          </p:cNvGrpSpPr>
          <p:nvPr/>
        </p:nvGrpSpPr>
        <p:grpSpPr bwMode="auto">
          <a:xfrm>
            <a:off x="5275440" y="1072121"/>
            <a:ext cx="460026" cy="450423"/>
            <a:chOff x="1721" y="585"/>
            <a:chExt cx="479" cy="469"/>
          </a:xfrm>
        </p:grpSpPr>
        <p:sp>
          <p:nvSpPr>
            <p:cNvPr id="198" name="Rectangle 260"/>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7" name="Rectangle 259"/>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9" name="Line 261"/>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0" name="Line 262"/>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1" name="Line 263"/>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4" name="Group 265"/>
          <p:cNvGrpSpPr>
            <a:grpSpLocks/>
          </p:cNvGrpSpPr>
          <p:nvPr/>
        </p:nvGrpSpPr>
        <p:grpSpPr bwMode="auto">
          <a:xfrm>
            <a:off x="6824549" y="1072121"/>
            <a:ext cx="460026" cy="450423"/>
            <a:chOff x="1721" y="585"/>
            <a:chExt cx="479" cy="469"/>
          </a:xfrm>
        </p:grpSpPr>
        <p:sp>
          <p:nvSpPr>
            <p:cNvPr id="192" name="Rectangle 267"/>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1" name="Rectangle 266"/>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3" name="Line 268"/>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4" name="Line 269"/>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5" name="Line 270"/>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5" name="Group 272"/>
          <p:cNvGrpSpPr>
            <a:grpSpLocks/>
          </p:cNvGrpSpPr>
          <p:nvPr/>
        </p:nvGrpSpPr>
        <p:grpSpPr bwMode="auto">
          <a:xfrm>
            <a:off x="4665595" y="3196501"/>
            <a:ext cx="460026" cy="450423"/>
            <a:chOff x="1721" y="585"/>
            <a:chExt cx="479" cy="469"/>
          </a:xfrm>
        </p:grpSpPr>
        <p:sp>
          <p:nvSpPr>
            <p:cNvPr id="186" name="Rectangle 274"/>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5" name="Rectangle 273"/>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7" name="Line 275"/>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8" name="Line 276"/>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9" name="Line 277"/>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6" name="Group 279"/>
          <p:cNvGrpSpPr>
            <a:grpSpLocks/>
          </p:cNvGrpSpPr>
          <p:nvPr/>
        </p:nvGrpSpPr>
        <p:grpSpPr bwMode="auto">
          <a:xfrm>
            <a:off x="6713144" y="3196501"/>
            <a:ext cx="460026" cy="450423"/>
            <a:chOff x="1721" y="585"/>
            <a:chExt cx="479" cy="469"/>
          </a:xfrm>
        </p:grpSpPr>
        <p:sp>
          <p:nvSpPr>
            <p:cNvPr id="180" name="Rectangle 281"/>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79" name="Rectangle 280"/>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1" name="Line 282"/>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2" name="Line 283"/>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3" name="Line 284"/>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78" name="Text Box 287"/>
          <p:cNvSpPr txBox="1">
            <a:spLocks noChangeArrowheads="1"/>
          </p:cNvSpPr>
          <p:nvPr/>
        </p:nvSpPr>
        <p:spPr bwMode="auto">
          <a:xfrm>
            <a:off x="3261881" y="652916"/>
            <a:ext cx="2639804" cy="338554"/>
          </a:xfrm>
          <a:prstGeom prst="rect">
            <a:avLst/>
          </a:prstGeom>
          <a:solidFill>
            <a:srgbClr val="0000CC"/>
          </a:solidFill>
          <a:ln w="9525">
            <a:solidFill>
              <a:srgbClr val="3333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分组在互联网中的传送 </a:t>
            </a:r>
          </a:p>
        </p:txBody>
      </p:sp>
      <p:sp>
        <p:nvSpPr>
          <p:cNvPr id="399" name="矩形 398"/>
          <p:cNvSpPr/>
          <p:nvPr/>
        </p:nvSpPr>
        <p:spPr>
          <a:xfrm>
            <a:off x="881220" y="2968085"/>
            <a:ext cx="1486721" cy="1015663"/>
          </a:xfrm>
          <a:prstGeom prst="rect">
            <a:avLst/>
          </a:prstGeom>
          <a:solidFill>
            <a:schemeClr val="bg1"/>
          </a:solidFill>
          <a:ln>
            <a:solidFill>
              <a:schemeClr val="tx1"/>
            </a:solidFill>
          </a:ln>
        </p:spPr>
        <p:txBody>
          <a:bodyPr wrap="square">
            <a:spAutoFit/>
          </a:bodyPr>
          <a:lstStyle/>
          <a:p>
            <a:pPr>
              <a:lnSpc>
                <a:spcPts val="2400"/>
              </a:lnSpc>
            </a:pPr>
            <a:r>
              <a:rPr lang="zh-CN" altLang="zh-CN" sz="1600" b="1" dirty="0">
                <a:latin typeface="微软雅黑" pitchFamily="34" charset="-122"/>
                <a:ea typeface="微软雅黑" pitchFamily="34" charset="-122"/>
              </a:rPr>
              <a:t>互联网可以由多种异构网络互连组成。</a:t>
            </a:r>
            <a:endParaRPr lang="zh-CN" altLang="en-US" sz="1600" b="1" dirty="0">
              <a:latin typeface="微软雅黑" pitchFamily="34" charset="-122"/>
              <a:ea typeface="微软雅黑" pitchFamily="34" charset="-122"/>
            </a:endParaRPr>
          </a:p>
        </p:txBody>
      </p:sp>
      <p:sp>
        <p:nvSpPr>
          <p:cNvPr id="400" name="AutoShape 247"/>
          <p:cNvSpPr>
            <a:spLocks noChangeArrowheads="1"/>
          </p:cNvSpPr>
          <p:nvPr/>
        </p:nvSpPr>
        <p:spPr bwMode="auto">
          <a:xfrm>
            <a:off x="4311526"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402" name="AutoShape 247"/>
          <p:cNvSpPr>
            <a:spLocks noChangeArrowheads="1"/>
          </p:cNvSpPr>
          <p:nvPr/>
        </p:nvSpPr>
        <p:spPr bwMode="auto">
          <a:xfrm>
            <a:off x="5842744"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pic>
        <p:nvPicPr>
          <p:cNvPr id="403"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47453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4"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352452" y="1563638"/>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5"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956074"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6"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57658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grpSp>
        <p:nvGrpSpPr>
          <p:cNvPr id="415" name="Group 181"/>
          <p:cNvGrpSpPr>
            <a:grpSpLocks/>
          </p:cNvGrpSpPr>
          <p:nvPr/>
        </p:nvGrpSpPr>
        <p:grpSpPr bwMode="auto">
          <a:xfrm>
            <a:off x="3210198" y="3363838"/>
            <a:ext cx="528334" cy="389692"/>
            <a:chOff x="762" y="2391"/>
            <a:chExt cx="423" cy="312"/>
          </a:xfrm>
        </p:grpSpPr>
        <p:grpSp>
          <p:nvGrpSpPr>
            <p:cNvPr id="416" name="Group 182"/>
            <p:cNvGrpSpPr>
              <a:grpSpLocks/>
            </p:cNvGrpSpPr>
            <p:nvPr/>
          </p:nvGrpSpPr>
          <p:grpSpPr bwMode="auto">
            <a:xfrm>
              <a:off x="867" y="2432"/>
              <a:ext cx="318" cy="271"/>
              <a:chOff x="657" y="1570"/>
              <a:chExt cx="318" cy="311"/>
            </a:xfrm>
          </p:grpSpPr>
          <p:sp>
            <p:nvSpPr>
              <p:cNvPr id="424"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25"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17" name="Group 185"/>
            <p:cNvGrpSpPr>
              <a:grpSpLocks/>
            </p:cNvGrpSpPr>
            <p:nvPr/>
          </p:nvGrpSpPr>
          <p:grpSpPr bwMode="auto">
            <a:xfrm>
              <a:off x="762" y="2391"/>
              <a:ext cx="306" cy="90"/>
              <a:chOff x="748" y="2251"/>
              <a:chExt cx="306" cy="90"/>
            </a:xfrm>
          </p:grpSpPr>
          <p:sp>
            <p:nvSpPr>
              <p:cNvPr id="418"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19"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0"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1"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2"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3"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grpSp>
        <p:nvGrpSpPr>
          <p:cNvPr id="426" name="Group 181"/>
          <p:cNvGrpSpPr>
            <a:grpSpLocks/>
          </p:cNvGrpSpPr>
          <p:nvPr/>
        </p:nvGrpSpPr>
        <p:grpSpPr bwMode="auto">
          <a:xfrm>
            <a:off x="3178448" y="2787774"/>
            <a:ext cx="528334" cy="389692"/>
            <a:chOff x="762" y="2391"/>
            <a:chExt cx="423" cy="312"/>
          </a:xfrm>
        </p:grpSpPr>
        <p:grpSp>
          <p:nvGrpSpPr>
            <p:cNvPr id="427" name="Group 182"/>
            <p:cNvGrpSpPr>
              <a:grpSpLocks/>
            </p:cNvGrpSpPr>
            <p:nvPr/>
          </p:nvGrpSpPr>
          <p:grpSpPr bwMode="auto">
            <a:xfrm>
              <a:off x="867" y="2432"/>
              <a:ext cx="318" cy="271"/>
              <a:chOff x="657" y="1570"/>
              <a:chExt cx="318" cy="311"/>
            </a:xfrm>
          </p:grpSpPr>
          <p:sp>
            <p:nvSpPr>
              <p:cNvPr id="435"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36"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28" name="Group 185"/>
            <p:cNvGrpSpPr>
              <a:grpSpLocks/>
            </p:cNvGrpSpPr>
            <p:nvPr/>
          </p:nvGrpSpPr>
          <p:grpSpPr bwMode="auto">
            <a:xfrm>
              <a:off x="762" y="2391"/>
              <a:ext cx="306" cy="90"/>
              <a:chOff x="748" y="2251"/>
              <a:chExt cx="306" cy="90"/>
            </a:xfrm>
          </p:grpSpPr>
          <p:sp>
            <p:nvSpPr>
              <p:cNvPr id="429"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0"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1"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2"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3"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4"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437" name="Text Box 257"/>
          <p:cNvSpPr txBox="1">
            <a:spLocks noChangeArrowheads="1"/>
          </p:cNvSpPr>
          <p:nvPr/>
        </p:nvSpPr>
        <p:spPr bwMode="auto">
          <a:xfrm>
            <a:off x="3729491"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8" name="Text Box 264"/>
          <p:cNvSpPr txBox="1">
            <a:spLocks noChangeArrowheads="1"/>
          </p:cNvSpPr>
          <p:nvPr/>
        </p:nvSpPr>
        <p:spPr bwMode="auto">
          <a:xfrm>
            <a:off x="5253629"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9" name="Text Box 278"/>
          <p:cNvSpPr txBox="1">
            <a:spLocks noChangeArrowheads="1"/>
          </p:cNvSpPr>
          <p:nvPr/>
        </p:nvSpPr>
        <p:spPr bwMode="auto">
          <a:xfrm>
            <a:off x="4643781" y="315152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0" name="Text Box 278"/>
          <p:cNvSpPr txBox="1">
            <a:spLocks noChangeArrowheads="1"/>
          </p:cNvSpPr>
          <p:nvPr/>
        </p:nvSpPr>
        <p:spPr bwMode="auto">
          <a:xfrm>
            <a:off x="6707777" y="3157413"/>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1" name="Text Box 278"/>
          <p:cNvSpPr txBox="1">
            <a:spLocks noChangeArrowheads="1"/>
          </p:cNvSpPr>
          <p:nvPr/>
        </p:nvSpPr>
        <p:spPr bwMode="auto">
          <a:xfrm>
            <a:off x="6810598" y="102999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177" name="Freeform 286"/>
          <p:cNvSpPr>
            <a:spLocks/>
          </p:cNvSpPr>
          <p:nvPr/>
        </p:nvSpPr>
        <p:spPr bwMode="auto">
          <a:xfrm>
            <a:off x="2773628" y="842586"/>
            <a:ext cx="4713588" cy="3501579"/>
          </a:xfrm>
          <a:custGeom>
            <a:avLst/>
            <a:gdLst>
              <a:gd name="T0" fmla="*/ 4 w 4908"/>
              <a:gd name="T1" fmla="*/ 0 h 3646"/>
              <a:gd name="T2" fmla="*/ 4 w 4908"/>
              <a:gd name="T3" fmla="*/ 453 h 3646"/>
              <a:gd name="T4" fmla="*/ 13 w 4908"/>
              <a:gd name="T5" fmla="*/ 736 h 3646"/>
              <a:gd name="T6" fmla="*/ 69 w 4908"/>
              <a:gd name="T7" fmla="*/ 794 h 3646"/>
              <a:gd name="T8" fmla="*/ 279 w 4908"/>
              <a:gd name="T9" fmla="*/ 812 h 3646"/>
              <a:gd name="T10" fmla="*/ 579 w 4908"/>
              <a:gd name="T11" fmla="*/ 815 h 3646"/>
              <a:gd name="T12" fmla="*/ 924 w 4908"/>
              <a:gd name="T13" fmla="*/ 809 h 3646"/>
              <a:gd name="T14" fmla="*/ 1083 w 4908"/>
              <a:gd name="T15" fmla="*/ 737 h 3646"/>
              <a:gd name="T16" fmla="*/ 1098 w 4908"/>
              <a:gd name="T17" fmla="*/ 398 h 3646"/>
              <a:gd name="T18" fmla="*/ 1175 w 4908"/>
              <a:gd name="T19" fmla="*/ 269 h 3646"/>
              <a:gd name="T20" fmla="*/ 1406 w 4908"/>
              <a:gd name="T21" fmla="*/ 290 h 3646"/>
              <a:gd name="T22" fmla="*/ 1442 w 4908"/>
              <a:gd name="T23" fmla="*/ 551 h 3646"/>
              <a:gd name="T24" fmla="*/ 1466 w 4908"/>
              <a:gd name="T25" fmla="*/ 773 h 3646"/>
              <a:gd name="T26" fmla="*/ 1676 w 4908"/>
              <a:gd name="T27" fmla="*/ 809 h 3646"/>
              <a:gd name="T28" fmla="*/ 1859 w 4908"/>
              <a:gd name="T29" fmla="*/ 803 h 3646"/>
              <a:gd name="T30" fmla="*/ 2349 w 4908"/>
              <a:gd name="T31" fmla="*/ 803 h 3646"/>
              <a:gd name="T32" fmla="*/ 2514 w 4908"/>
              <a:gd name="T33" fmla="*/ 779 h 3646"/>
              <a:gd name="T34" fmla="*/ 2636 w 4908"/>
              <a:gd name="T35" fmla="*/ 680 h 3646"/>
              <a:gd name="T36" fmla="*/ 2660 w 4908"/>
              <a:gd name="T37" fmla="*/ 392 h 3646"/>
              <a:gd name="T38" fmla="*/ 2726 w 4908"/>
              <a:gd name="T39" fmla="*/ 275 h 3646"/>
              <a:gd name="T40" fmla="*/ 2975 w 4908"/>
              <a:gd name="T41" fmla="*/ 287 h 3646"/>
              <a:gd name="T42" fmla="*/ 3026 w 4908"/>
              <a:gd name="T43" fmla="*/ 464 h 3646"/>
              <a:gd name="T44" fmla="*/ 3053 w 4908"/>
              <a:gd name="T45" fmla="*/ 695 h 3646"/>
              <a:gd name="T46" fmla="*/ 3185 w 4908"/>
              <a:gd name="T47" fmla="*/ 806 h 3646"/>
              <a:gd name="T48" fmla="*/ 3479 w 4908"/>
              <a:gd name="T49" fmla="*/ 815 h 3646"/>
              <a:gd name="T50" fmla="*/ 3875 w 4908"/>
              <a:gd name="T51" fmla="*/ 818 h 3646"/>
              <a:gd name="T52" fmla="*/ 4208 w 4908"/>
              <a:gd name="T53" fmla="*/ 791 h 3646"/>
              <a:gd name="T54" fmla="*/ 4265 w 4908"/>
              <a:gd name="T55" fmla="*/ 629 h 3646"/>
              <a:gd name="T56" fmla="*/ 4274 w 4908"/>
              <a:gd name="T57" fmla="*/ 410 h 3646"/>
              <a:gd name="T58" fmla="*/ 4358 w 4908"/>
              <a:gd name="T59" fmla="*/ 272 h 3646"/>
              <a:gd name="T60" fmla="*/ 4598 w 4908"/>
              <a:gd name="T61" fmla="*/ 299 h 3646"/>
              <a:gd name="T62" fmla="*/ 4652 w 4908"/>
              <a:gd name="T63" fmla="*/ 608 h 3646"/>
              <a:gd name="T64" fmla="*/ 4681 w 4908"/>
              <a:gd name="T65" fmla="*/ 814 h 3646"/>
              <a:gd name="T66" fmla="*/ 4873 w 4908"/>
              <a:gd name="T67" fmla="*/ 1094 h 3646"/>
              <a:gd name="T68" fmla="*/ 4889 w 4908"/>
              <a:gd name="T69" fmla="*/ 1798 h 3646"/>
              <a:gd name="T70" fmla="*/ 4873 w 4908"/>
              <a:gd name="T71" fmla="*/ 2478 h 3646"/>
              <a:gd name="T72" fmla="*/ 4829 w 4908"/>
              <a:gd name="T73" fmla="*/ 2962 h 3646"/>
              <a:gd name="T74" fmla="*/ 4661 w 4908"/>
              <a:gd name="T75" fmla="*/ 3026 h 3646"/>
              <a:gd name="T76" fmla="*/ 4545 w 4908"/>
              <a:gd name="T77" fmla="*/ 2982 h 3646"/>
              <a:gd name="T78" fmla="*/ 4521 w 4908"/>
              <a:gd name="T79" fmla="*/ 2838 h 3646"/>
              <a:gd name="T80" fmla="*/ 4517 w 4908"/>
              <a:gd name="T81" fmla="*/ 2626 h 3646"/>
              <a:gd name="T82" fmla="*/ 4469 w 4908"/>
              <a:gd name="T83" fmla="*/ 2494 h 3646"/>
              <a:gd name="T84" fmla="*/ 4209 w 4908"/>
              <a:gd name="T85" fmla="*/ 2494 h 3646"/>
              <a:gd name="T86" fmla="*/ 4141 w 4908"/>
              <a:gd name="T87" fmla="*/ 2650 h 3646"/>
              <a:gd name="T88" fmla="*/ 4125 w 4908"/>
              <a:gd name="T89" fmla="*/ 2978 h 3646"/>
              <a:gd name="T90" fmla="*/ 3881 w 4908"/>
              <a:gd name="T91" fmla="*/ 3053 h 3646"/>
              <a:gd name="T92" fmla="*/ 3213 w 4908"/>
              <a:gd name="T93" fmla="*/ 3046 h 3646"/>
              <a:gd name="T94" fmla="*/ 2893 w 4908"/>
              <a:gd name="T95" fmla="*/ 3042 h 3646"/>
              <a:gd name="T96" fmla="*/ 2617 w 4908"/>
              <a:gd name="T97" fmla="*/ 3026 h 3646"/>
              <a:gd name="T98" fmla="*/ 2417 w 4908"/>
              <a:gd name="T99" fmla="*/ 2950 h 3646"/>
              <a:gd name="T100" fmla="*/ 2393 w 4908"/>
              <a:gd name="T101" fmla="*/ 2666 h 3646"/>
              <a:gd name="T102" fmla="*/ 2309 w 4908"/>
              <a:gd name="T103" fmla="*/ 2490 h 3646"/>
              <a:gd name="T104" fmla="*/ 2085 w 4908"/>
              <a:gd name="T105" fmla="*/ 2514 h 3646"/>
              <a:gd name="T106" fmla="*/ 2017 w 4908"/>
              <a:gd name="T107" fmla="*/ 2862 h 3646"/>
              <a:gd name="T108" fmla="*/ 2001 w 4908"/>
              <a:gd name="T109" fmla="*/ 3226 h 3646"/>
              <a:gd name="T110" fmla="*/ 1961 w 4908"/>
              <a:gd name="T111" fmla="*/ 3522 h 3646"/>
              <a:gd name="T112" fmla="*/ 1837 w 4908"/>
              <a:gd name="T113" fmla="*/ 3626 h 3646"/>
              <a:gd name="T114" fmla="*/ 1637 w 4908"/>
              <a:gd name="T115" fmla="*/ 3642 h 3646"/>
              <a:gd name="T116" fmla="*/ 1415 w 4908"/>
              <a:gd name="T117" fmla="*/ 3632 h 3646"/>
              <a:gd name="T118" fmla="*/ 1247 w 4908"/>
              <a:gd name="T119" fmla="*/ 3563 h 3646"/>
              <a:gd name="T120" fmla="*/ 1229 w 4908"/>
              <a:gd name="T121" fmla="*/ 3191 h 3646"/>
              <a:gd name="T122" fmla="*/ 1229 w 4908"/>
              <a:gd name="T123" fmla="*/ 2826 h 36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4908" h="3646">
                <a:moveTo>
                  <a:pt x="4" y="0"/>
                </a:moveTo>
                <a:cubicBezTo>
                  <a:pt x="0" y="162"/>
                  <a:pt x="3" y="330"/>
                  <a:pt x="4" y="453"/>
                </a:cubicBezTo>
                <a:cubicBezTo>
                  <a:pt x="5" y="576"/>
                  <a:pt x="2" y="679"/>
                  <a:pt x="13" y="736"/>
                </a:cubicBezTo>
                <a:cubicBezTo>
                  <a:pt x="24" y="793"/>
                  <a:pt x="25" y="781"/>
                  <a:pt x="69" y="794"/>
                </a:cubicBezTo>
                <a:cubicBezTo>
                  <a:pt x="113" y="807"/>
                  <a:pt x="194" y="808"/>
                  <a:pt x="279" y="812"/>
                </a:cubicBezTo>
                <a:cubicBezTo>
                  <a:pt x="364" y="816"/>
                  <a:pt x="472" y="815"/>
                  <a:pt x="579" y="815"/>
                </a:cubicBezTo>
                <a:cubicBezTo>
                  <a:pt x="686" y="815"/>
                  <a:pt x="840" y="822"/>
                  <a:pt x="924" y="809"/>
                </a:cubicBezTo>
                <a:cubicBezTo>
                  <a:pt x="1008" y="796"/>
                  <a:pt x="1054" y="806"/>
                  <a:pt x="1083" y="737"/>
                </a:cubicBezTo>
                <a:cubicBezTo>
                  <a:pt x="1112" y="668"/>
                  <a:pt x="1083" y="476"/>
                  <a:pt x="1098" y="398"/>
                </a:cubicBezTo>
                <a:cubicBezTo>
                  <a:pt x="1113" y="320"/>
                  <a:pt x="1124" y="287"/>
                  <a:pt x="1175" y="269"/>
                </a:cubicBezTo>
                <a:cubicBezTo>
                  <a:pt x="1226" y="251"/>
                  <a:pt x="1361" y="243"/>
                  <a:pt x="1406" y="290"/>
                </a:cubicBezTo>
                <a:cubicBezTo>
                  <a:pt x="1451" y="337"/>
                  <a:pt x="1432" y="471"/>
                  <a:pt x="1442" y="551"/>
                </a:cubicBezTo>
                <a:cubicBezTo>
                  <a:pt x="1452" y="631"/>
                  <a:pt x="1427" y="730"/>
                  <a:pt x="1466" y="773"/>
                </a:cubicBezTo>
                <a:cubicBezTo>
                  <a:pt x="1505" y="816"/>
                  <a:pt x="1611" y="804"/>
                  <a:pt x="1676" y="809"/>
                </a:cubicBezTo>
                <a:cubicBezTo>
                  <a:pt x="1741" y="814"/>
                  <a:pt x="1747" y="804"/>
                  <a:pt x="1859" y="803"/>
                </a:cubicBezTo>
                <a:cubicBezTo>
                  <a:pt x="1971" y="802"/>
                  <a:pt x="2240" y="807"/>
                  <a:pt x="2349" y="803"/>
                </a:cubicBezTo>
                <a:cubicBezTo>
                  <a:pt x="2458" y="799"/>
                  <a:pt x="2466" y="800"/>
                  <a:pt x="2514" y="779"/>
                </a:cubicBezTo>
                <a:cubicBezTo>
                  <a:pt x="2562" y="758"/>
                  <a:pt x="2612" y="744"/>
                  <a:pt x="2636" y="680"/>
                </a:cubicBezTo>
                <a:cubicBezTo>
                  <a:pt x="2660" y="616"/>
                  <a:pt x="2645" y="459"/>
                  <a:pt x="2660" y="392"/>
                </a:cubicBezTo>
                <a:cubicBezTo>
                  <a:pt x="2675" y="325"/>
                  <a:pt x="2674" y="292"/>
                  <a:pt x="2726" y="275"/>
                </a:cubicBezTo>
                <a:cubicBezTo>
                  <a:pt x="2778" y="258"/>
                  <a:pt x="2925" y="256"/>
                  <a:pt x="2975" y="287"/>
                </a:cubicBezTo>
                <a:cubicBezTo>
                  <a:pt x="3025" y="318"/>
                  <a:pt x="3013" y="396"/>
                  <a:pt x="3026" y="464"/>
                </a:cubicBezTo>
                <a:cubicBezTo>
                  <a:pt x="3039" y="532"/>
                  <a:pt x="3027" y="638"/>
                  <a:pt x="3053" y="695"/>
                </a:cubicBezTo>
                <a:cubicBezTo>
                  <a:pt x="3079" y="752"/>
                  <a:pt x="3114" y="786"/>
                  <a:pt x="3185" y="806"/>
                </a:cubicBezTo>
                <a:cubicBezTo>
                  <a:pt x="3256" y="826"/>
                  <a:pt x="3364" y="813"/>
                  <a:pt x="3479" y="815"/>
                </a:cubicBezTo>
                <a:cubicBezTo>
                  <a:pt x="3594" y="817"/>
                  <a:pt x="3754" y="822"/>
                  <a:pt x="3875" y="818"/>
                </a:cubicBezTo>
                <a:cubicBezTo>
                  <a:pt x="3996" y="814"/>
                  <a:pt x="4143" y="822"/>
                  <a:pt x="4208" y="791"/>
                </a:cubicBezTo>
                <a:cubicBezTo>
                  <a:pt x="4273" y="760"/>
                  <a:pt x="4254" y="692"/>
                  <a:pt x="4265" y="629"/>
                </a:cubicBezTo>
                <a:cubicBezTo>
                  <a:pt x="4276" y="566"/>
                  <a:pt x="4259" y="469"/>
                  <a:pt x="4274" y="410"/>
                </a:cubicBezTo>
                <a:cubicBezTo>
                  <a:pt x="4289" y="351"/>
                  <a:pt x="4304" y="290"/>
                  <a:pt x="4358" y="272"/>
                </a:cubicBezTo>
                <a:cubicBezTo>
                  <a:pt x="4412" y="254"/>
                  <a:pt x="4549" y="243"/>
                  <a:pt x="4598" y="299"/>
                </a:cubicBezTo>
                <a:cubicBezTo>
                  <a:pt x="4647" y="355"/>
                  <a:pt x="4638" y="522"/>
                  <a:pt x="4652" y="608"/>
                </a:cubicBezTo>
                <a:cubicBezTo>
                  <a:pt x="4666" y="694"/>
                  <a:pt x="4644" y="733"/>
                  <a:pt x="4681" y="814"/>
                </a:cubicBezTo>
                <a:cubicBezTo>
                  <a:pt x="4718" y="895"/>
                  <a:pt x="4838" y="930"/>
                  <a:pt x="4873" y="1094"/>
                </a:cubicBezTo>
                <a:cubicBezTo>
                  <a:pt x="4908" y="1258"/>
                  <a:pt x="4889" y="1567"/>
                  <a:pt x="4889" y="1798"/>
                </a:cubicBezTo>
                <a:cubicBezTo>
                  <a:pt x="4889" y="2029"/>
                  <a:pt x="4883" y="2284"/>
                  <a:pt x="4873" y="2478"/>
                </a:cubicBezTo>
                <a:cubicBezTo>
                  <a:pt x="4863" y="2672"/>
                  <a:pt x="4864" y="2871"/>
                  <a:pt x="4829" y="2962"/>
                </a:cubicBezTo>
                <a:cubicBezTo>
                  <a:pt x="4794" y="3053"/>
                  <a:pt x="4708" y="3023"/>
                  <a:pt x="4661" y="3026"/>
                </a:cubicBezTo>
                <a:cubicBezTo>
                  <a:pt x="4614" y="3029"/>
                  <a:pt x="4568" y="3013"/>
                  <a:pt x="4545" y="2982"/>
                </a:cubicBezTo>
                <a:cubicBezTo>
                  <a:pt x="4522" y="2951"/>
                  <a:pt x="4526" y="2897"/>
                  <a:pt x="4521" y="2838"/>
                </a:cubicBezTo>
                <a:cubicBezTo>
                  <a:pt x="4516" y="2779"/>
                  <a:pt x="4526" y="2683"/>
                  <a:pt x="4517" y="2626"/>
                </a:cubicBezTo>
                <a:cubicBezTo>
                  <a:pt x="4508" y="2569"/>
                  <a:pt x="4520" y="2516"/>
                  <a:pt x="4469" y="2494"/>
                </a:cubicBezTo>
                <a:cubicBezTo>
                  <a:pt x="4418" y="2472"/>
                  <a:pt x="4264" y="2468"/>
                  <a:pt x="4209" y="2494"/>
                </a:cubicBezTo>
                <a:cubicBezTo>
                  <a:pt x="4154" y="2520"/>
                  <a:pt x="4155" y="2569"/>
                  <a:pt x="4141" y="2650"/>
                </a:cubicBezTo>
                <a:cubicBezTo>
                  <a:pt x="4127" y="2731"/>
                  <a:pt x="4168" y="2911"/>
                  <a:pt x="4125" y="2978"/>
                </a:cubicBezTo>
                <a:cubicBezTo>
                  <a:pt x="4082" y="3045"/>
                  <a:pt x="4033" y="3042"/>
                  <a:pt x="3881" y="3053"/>
                </a:cubicBezTo>
                <a:cubicBezTo>
                  <a:pt x="3729" y="3064"/>
                  <a:pt x="3378" y="3048"/>
                  <a:pt x="3213" y="3046"/>
                </a:cubicBezTo>
                <a:cubicBezTo>
                  <a:pt x="3048" y="3044"/>
                  <a:pt x="2992" y="3045"/>
                  <a:pt x="2893" y="3042"/>
                </a:cubicBezTo>
                <a:cubicBezTo>
                  <a:pt x="2794" y="3039"/>
                  <a:pt x="2696" y="3041"/>
                  <a:pt x="2617" y="3026"/>
                </a:cubicBezTo>
                <a:cubicBezTo>
                  <a:pt x="2538" y="3011"/>
                  <a:pt x="2454" y="3010"/>
                  <a:pt x="2417" y="2950"/>
                </a:cubicBezTo>
                <a:cubicBezTo>
                  <a:pt x="2380" y="2890"/>
                  <a:pt x="2411" y="2743"/>
                  <a:pt x="2393" y="2666"/>
                </a:cubicBezTo>
                <a:cubicBezTo>
                  <a:pt x="2375" y="2589"/>
                  <a:pt x="2360" y="2515"/>
                  <a:pt x="2309" y="2490"/>
                </a:cubicBezTo>
                <a:cubicBezTo>
                  <a:pt x="2258" y="2465"/>
                  <a:pt x="2134" y="2452"/>
                  <a:pt x="2085" y="2514"/>
                </a:cubicBezTo>
                <a:cubicBezTo>
                  <a:pt x="2036" y="2576"/>
                  <a:pt x="2031" y="2743"/>
                  <a:pt x="2017" y="2862"/>
                </a:cubicBezTo>
                <a:cubicBezTo>
                  <a:pt x="2003" y="2981"/>
                  <a:pt x="2010" y="3116"/>
                  <a:pt x="2001" y="3226"/>
                </a:cubicBezTo>
                <a:cubicBezTo>
                  <a:pt x="1992" y="3336"/>
                  <a:pt x="1988" y="3455"/>
                  <a:pt x="1961" y="3522"/>
                </a:cubicBezTo>
                <a:cubicBezTo>
                  <a:pt x="1934" y="3589"/>
                  <a:pt x="1891" y="3606"/>
                  <a:pt x="1837" y="3626"/>
                </a:cubicBezTo>
                <a:cubicBezTo>
                  <a:pt x="1783" y="3646"/>
                  <a:pt x="1707" y="3641"/>
                  <a:pt x="1637" y="3642"/>
                </a:cubicBezTo>
                <a:cubicBezTo>
                  <a:pt x="1567" y="3643"/>
                  <a:pt x="1480" y="3645"/>
                  <a:pt x="1415" y="3632"/>
                </a:cubicBezTo>
                <a:cubicBezTo>
                  <a:pt x="1350" y="3619"/>
                  <a:pt x="1278" y="3636"/>
                  <a:pt x="1247" y="3563"/>
                </a:cubicBezTo>
                <a:cubicBezTo>
                  <a:pt x="1216" y="3490"/>
                  <a:pt x="1232" y="3314"/>
                  <a:pt x="1229" y="3191"/>
                </a:cubicBezTo>
                <a:cubicBezTo>
                  <a:pt x="1226" y="3068"/>
                  <a:pt x="1229" y="2902"/>
                  <a:pt x="1229" y="2826"/>
                </a:cubicBezTo>
              </a:path>
            </a:pathLst>
          </a:custGeom>
          <a:noFill/>
          <a:ln w="28575" cmpd="sng">
            <a:solidFill>
              <a:srgbClr val="FF00FF"/>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Tree>
    <p:extLst>
      <p:ext uri="{BB962C8B-B14F-4D97-AF65-F5344CB8AC3E}">
        <p14:creationId xmlns:p14="http://schemas.microsoft.com/office/powerpoint/2010/main" val="27597976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AutoShape 5"/>
          <p:cNvSpPr>
            <a:spLocks noChangeArrowheads="1"/>
          </p:cNvSpPr>
          <p:nvPr/>
        </p:nvSpPr>
        <p:spPr bwMode="auto">
          <a:xfrm>
            <a:off x="556963" y="62471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8" name="Rectangle 6"/>
          <p:cNvSpPr>
            <a:spLocks noChangeArrowheads="1"/>
          </p:cNvSpPr>
          <p:nvPr/>
        </p:nvSpPr>
        <p:spPr bwMode="auto">
          <a:xfrm>
            <a:off x="3719576" y="591500"/>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分组传输路径</a:t>
            </a:r>
          </a:p>
        </p:txBody>
      </p:sp>
      <p:grpSp>
        <p:nvGrpSpPr>
          <p:cNvPr id="25" name="组合 24"/>
          <p:cNvGrpSpPr/>
          <p:nvPr/>
        </p:nvGrpSpPr>
        <p:grpSpPr>
          <a:xfrm>
            <a:off x="7060601" y="2241379"/>
            <a:ext cx="902811" cy="700650"/>
            <a:chOff x="7060601" y="2241379"/>
            <a:chExt cx="902811" cy="700650"/>
          </a:xfrm>
        </p:grpSpPr>
        <p:sp>
          <p:nvSpPr>
            <p:cNvPr id="42" name="TextBox 5"/>
            <p:cNvSpPr txBox="1"/>
            <p:nvPr/>
          </p:nvSpPr>
          <p:spPr>
            <a:xfrm>
              <a:off x="7060601"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直接交付</a:t>
              </a:r>
            </a:p>
          </p:txBody>
        </p:sp>
        <p:cxnSp>
          <p:nvCxnSpPr>
            <p:cNvPr id="48" name="直接箭头连接符 47"/>
            <p:cNvCxnSpPr/>
            <p:nvPr/>
          </p:nvCxnSpPr>
          <p:spPr>
            <a:xfrm flipV="1">
              <a:off x="7534010" y="2241379"/>
              <a:ext cx="0" cy="412465"/>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grpSp>
        <p:nvGrpSpPr>
          <p:cNvPr id="23" name="组合 22"/>
          <p:cNvGrpSpPr/>
          <p:nvPr/>
        </p:nvGrpSpPr>
        <p:grpSpPr>
          <a:xfrm>
            <a:off x="645100" y="1324921"/>
            <a:ext cx="7879255" cy="1021469"/>
            <a:chOff x="645100" y="1324921"/>
            <a:chExt cx="7879255" cy="1021469"/>
          </a:xfrm>
        </p:grpSpPr>
        <p:sp>
          <p:nvSpPr>
            <p:cNvPr id="161"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6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6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8"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 name="组合 1"/>
            <p:cNvGrpSpPr/>
            <p:nvPr/>
          </p:nvGrpSpPr>
          <p:grpSpPr>
            <a:xfrm>
              <a:off x="1195777" y="1324921"/>
              <a:ext cx="856156" cy="940368"/>
              <a:chOff x="1204403" y="1807995"/>
              <a:chExt cx="856156" cy="940368"/>
            </a:xfrm>
          </p:grpSpPr>
          <p:sp>
            <p:nvSpPr>
              <p:cNvPr id="49" name="弧形 4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3" name="组合 62"/>
            <p:cNvGrpSpPr/>
            <p:nvPr/>
          </p:nvGrpSpPr>
          <p:grpSpPr>
            <a:xfrm>
              <a:off x="2346779" y="1324921"/>
              <a:ext cx="856156" cy="940368"/>
              <a:chOff x="1204403" y="1807995"/>
              <a:chExt cx="856156" cy="940368"/>
            </a:xfrm>
          </p:grpSpPr>
          <p:sp>
            <p:nvSpPr>
              <p:cNvPr id="64" name="弧形 63"/>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6" name="组合 65"/>
            <p:cNvGrpSpPr/>
            <p:nvPr/>
          </p:nvGrpSpPr>
          <p:grpSpPr>
            <a:xfrm>
              <a:off x="3546083" y="1324921"/>
              <a:ext cx="856156" cy="940368"/>
              <a:chOff x="1204403" y="1807995"/>
              <a:chExt cx="856156" cy="940368"/>
            </a:xfrm>
          </p:grpSpPr>
          <p:sp>
            <p:nvSpPr>
              <p:cNvPr id="67" name="弧形 6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9" name="组合 68"/>
            <p:cNvGrpSpPr/>
            <p:nvPr/>
          </p:nvGrpSpPr>
          <p:grpSpPr>
            <a:xfrm>
              <a:off x="4697085" y="1324921"/>
              <a:ext cx="856156" cy="940368"/>
              <a:chOff x="1204403" y="1807995"/>
              <a:chExt cx="856156" cy="940368"/>
            </a:xfrm>
          </p:grpSpPr>
          <p:sp>
            <p:nvSpPr>
              <p:cNvPr id="70" name="弧形 69"/>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1"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2" name="组合 71"/>
            <p:cNvGrpSpPr/>
            <p:nvPr/>
          </p:nvGrpSpPr>
          <p:grpSpPr>
            <a:xfrm>
              <a:off x="5888545" y="1324921"/>
              <a:ext cx="856156" cy="940368"/>
              <a:chOff x="1204403" y="1807995"/>
              <a:chExt cx="856156" cy="940368"/>
            </a:xfrm>
          </p:grpSpPr>
          <p:sp>
            <p:nvSpPr>
              <p:cNvPr id="73" name="弧形 7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5" name="组合 74"/>
            <p:cNvGrpSpPr/>
            <p:nvPr/>
          </p:nvGrpSpPr>
          <p:grpSpPr>
            <a:xfrm>
              <a:off x="7039547" y="1324921"/>
              <a:ext cx="856156" cy="940368"/>
              <a:chOff x="1204403" y="1807995"/>
              <a:chExt cx="856156" cy="940368"/>
            </a:xfrm>
          </p:grpSpPr>
          <p:sp>
            <p:nvSpPr>
              <p:cNvPr id="76" name="弧形 75"/>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7"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94"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7"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8"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9"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100"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101"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grpSp>
      <p:grpSp>
        <p:nvGrpSpPr>
          <p:cNvPr id="24" name="组合 23"/>
          <p:cNvGrpSpPr/>
          <p:nvPr/>
        </p:nvGrpSpPr>
        <p:grpSpPr>
          <a:xfrm>
            <a:off x="1458614" y="2209033"/>
            <a:ext cx="4843980" cy="732996"/>
            <a:chOff x="1458614" y="2209033"/>
            <a:chExt cx="4843980" cy="732996"/>
          </a:xfrm>
        </p:grpSpPr>
        <p:sp>
          <p:nvSpPr>
            <p:cNvPr id="41" name="TextBox 4"/>
            <p:cNvSpPr txBox="1"/>
            <p:nvPr/>
          </p:nvSpPr>
          <p:spPr>
            <a:xfrm>
              <a:off x="3524814"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间接交付</a:t>
              </a:r>
            </a:p>
          </p:txBody>
        </p:sp>
        <p:cxnSp>
          <p:nvCxnSpPr>
            <p:cNvPr id="43" name="直接箭头连接符 42"/>
            <p:cNvCxnSpPr>
              <a:stCxn id="41" idx="0"/>
            </p:cNvCxnSpPr>
            <p:nvPr/>
          </p:nvCxnSpPr>
          <p:spPr>
            <a:xfrm flipV="1">
              <a:off x="3976220" y="2241379"/>
              <a:ext cx="0" cy="392873"/>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4" name="直接箭头连接符 43"/>
            <p:cNvCxnSpPr/>
            <p:nvPr/>
          </p:nvCxnSpPr>
          <p:spPr>
            <a:xfrm flipV="1">
              <a:off x="4354867" y="2225168"/>
              <a:ext cx="867925" cy="517380"/>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5" name="直接箭头连接符 44"/>
            <p:cNvCxnSpPr>
              <a:stCxn id="41" idx="3"/>
            </p:cNvCxnSpPr>
            <p:nvPr/>
          </p:nvCxnSpPr>
          <p:spPr>
            <a:xfrm flipV="1">
              <a:off x="4427625" y="2225167"/>
              <a:ext cx="1874969" cy="562974"/>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6" name="直接箭头连接符 45"/>
            <p:cNvCxnSpPr>
              <a:stCxn id="41" idx="1"/>
            </p:cNvCxnSpPr>
            <p:nvPr/>
          </p:nvCxnSpPr>
          <p:spPr>
            <a:xfrm flipH="1" flipV="1">
              <a:off x="1458614" y="2209033"/>
              <a:ext cx="2066200" cy="579108"/>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7" name="直接箭头连接符 46"/>
            <p:cNvCxnSpPr/>
            <p:nvPr/>
          </p:nvCxnSpPr>
          <p:spPr>
            <a:xfrm flipH="1" flipV="1">
              <a:off x="2724034" y="2225166"/>
              <a:ext cx="860263" cy="517382"/>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385169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30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childTnLst>
                                </p:cTn>
                              </p:par>
                            </p:childTnLst>
                          </p:cTn>
                        </p:par>
                        <p:par>
                          <p:cTn id="12" fill="hold">
                            <p:stCondLst>
                              <p:cond delay="0"/>
                            </p:stCondLst>
                            <p:childTnLst>
                              <p:par>
                                <p:cTn id="13" presetID="1" presetClass="entr" presetSubtype="0" fill="hold" nodeType="after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4192"/>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3510652" y="582121"/>
            <a:ext cx="212269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4.2.2  IP </a:t>
            </a:r>
            <a:r>
              <a:rPr lang="zh-CN" altLang="en-US" sz="2400" b="1" dirty="0">
                <a:solidFill>
                  <a:schemeClr val="bg1"/>
                </a:solidFill>
                <a:latin typeface="微软雅黑" pitchFamily="34" charset="-122"/>
                <a:ea typeface="微软雅黑" pitchFamily="34" charset="-122"/>
              </a:rPr>
              <a:t>地址</a:t>
            </a:r>
          </a:p>
        </p:txBody>
      </p:sp>
      <p:sp>
        <p:nvSpPr>
          <p:cNvPr id="7" name="Rectangle 8"/>
          <p:cNvSpPr>
            <a:spLocks noChangeArrowheads="1"/>
          </p:cNvSpPr>
          <p:nvPr/>
        </p:nvSpPr>
        <p:spPr bwMode="auto">
          <a:xfrm>
            <a:off x="545144" y="1046233"/>
            <a:ext cx="7665002"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 </a:t>
            </a:r>
            <a:r>
              <a:rPr lang="en-US" altLang="zh-CN" sz="2000" b="1" dirty="0">
                <a:latin typeface="微软雅黑" pitchFamily="34" charset="-122"/>
                <a:ea typeface="微软雅黑" pitchFamily="34" charset="-122"/>
              </a:rPr>
              <a:t>TCP/IP </a:t>
            </a:r>
            <a:r>
              <a:rPr lang="zh-CN" altLang="en-US" sz="2000" b="1" dirty="0">
                <a:latin typeface="微软雅黑" pitchFamily="34" charset="-122"/>
                <a:ea typeface="微软雅黑" pitchFamily="34" charset="-122"/>
              </a:rPr>
              <a:t>体系中，</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地址是一个最基本的概念。</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没有</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地址，就无法和网上的其他设备进行通信。</a:t>
            </a: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本部分重点：</a:t>
            </a:r>
          </a:p>
          <a:p>
            <a:pPr marL="717550" indent="-357188">
              <a:lnSpc>
                <a:spcPts val="3300"/>
              </a:lnSpc>
              <a:buClr>
                <a:srgbClr val="7030A0"/>
              </a:buClr>
              <a:buFont typeface="+mj-lt"/>
              <a:buAutoNum type="arabicPeriod"/>
            </a:pP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地址及其表示方法</a:t>
            </a:r>
          </a:p>
          <a:p>
            <a:pPr marL="717550" indent="-357188">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分类的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a:t>
            </a:r>
            <a:endParaRPr lang="en-US" altLang="zh-CN" sz="2000" b="1" dirty="0">
              <a:solidFill>
                <a:srgbClr val="0000FF"/>
              </a:solidFill>
              <a:latin typeface="微软雅黑" pitchFamily="34" charset="-122"/>
              <a:ea typeface="微软雅黑" pitchFamily="34" charset="-122"/>
            </a:endParaRPr>
          </a:p>
          <a:p>
            <a:pPr marL="717550" indent="-357188">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无分类编址 </a:t>
            </a:r>
            <a:r>
              <a:rPr lang="en-US" altLang="zh-CN" sz="2000" b="1" dirty="0">
                <a:solidFill>
                  <a:srgbClr val="0000FF"/>
                </a:solidFill>
                <a:latin typeface="微软雅黑" pitchFamily="34" charset="-122"/>
                <a:ea typeface="微软雅黑" pitchFamily="34" charset="-122"/>
              </a:rPr>
              <a:t>CIDR</a:t>
            </a:r>
          </a:p>
          <a:p>
            <a:pPr marL="717550" indent="-357188">
              <a:lnSpc>
                <a:spcPts val="3300"/>
              </a:lnSpc>
              <a:buClr>
                <a:srgbClr val="7030A0"/>
              </a:buClr>
              <a:buFont typeface="+mj-lt"/>
              <a:buAutoNum type="arabicPeriod"/>
            </a:pP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地址的特点</a:t>
            </a:r>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104023" y="581433"/>
            <a:ext cx="295465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地址及其表示方法</a:t>
            </a:r>
          </a:p>
        </p:txBody>
      </p:sp>
      <p:sp>
        <p:nvSpPr>
          <p:cNvPr id="5" name="圆角矩形 4"/>
          <p:cNvSpPr/>
          <p:nvPr/>
        </p:nvSpPr>
        <p:spPr>
          <a:xfrm>
            <a:off x="552028" y="1032006"/>
            <a:ext cx="8053711" cy="266010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9" name="Group 3"/>
          <p:cNvGrpSpPr>
            <a:grpSpLocks/>
          </p:cNvGrpSpPr>
          <p:nvPr/>
        </p:nvGrpSpPr>
        <p:grpSpPr bwMode="auto">
          <a:xfrm>
            <a:off x="733834" y="1187799"/>
            <a:ext cx="6640977" cy="415504"/>
            <a:chOff x="-845" y="1217"/>
            <a:chExt cx="6553" cy="410"/>
          </a:xfrm>
        </p:grpSpPr>
        <p:sp>
          <p:nvSpPr>
            <p:cNvPr id="10" name="Rectangle 4"/>
            <p:cNvSpPr>
              <a:spLocks noChangeArrowheads="1"/>
            </p:cNvSpPr>
            <p:nvPr/>
          </p:nvSpPr>
          <p:spPr bwMode="auto">
            <a:xfrm>
              <a:off x="2134" y="1217"/>
              <a:ext cx="3574" cy="410"/>
            </a:xfrm>
            <a:prstGeom prst="rect">
              <a:avLst/>
            </a:prstGeom>
            <a:solidFill>
              <a:srgbClr val="00FF99"/>
            </a:solidFill>
            <a:ln w="1905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  10000000000010110000001100011111  </a:t>
              </a:r>
            </a:p>
          </p:txBody>
        </p:sp>
        <p:sp>
          <p:nvSpPr>
            <p:cNvPr id="11" name="Text Box 5"/>
            <p:cNvSpPr txBox="1">
              <a:spLocks noChangeArrowheads="1"/>
            </p:cNvSpPr>
            <p:nvPr/>
          </p:nvSpPr>
          <p:spPr bwMode="auto">
            <a:xfrm>
              <a:off x="-845" y="1252"/>
              <a:ext cx="2933" cy="3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地址：</a:t>
              </a:r>
              <a:r>
                <a:rPr kumimoji="0" lang="en-US" altLang="zh-CN"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位</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二进制代码</a:t>
              </a:r>
            </a:p>
          </p:txBody>
        </p:sp>
      </p:grpSp>
      <p:grpSp>
        <p:nvGrpSpPr>
          <p:cNvPr id="12" name="Group 6"/>
          <p:cNvGrpSpPr>
            <a:grpSpLocks/>
          </p:cNvGrpSpPr>
          <p:nvPr/>
        </p:nvGrpSpPr>
        <p:grpSpPr bwMode="auto">
          <a:xfrm>
            <a:off x="1831376" y="1816372"/>
            <a:ext cx="5798817" cy="314162"/>
            <a:chOff x="207" y="1738"/>
            <a:chExt cx="5722" cy="310"/>
          </a:xfrm>
        </p:grpSpPr>
        <p:sp>
          <p:nvSpPr>
            <p:cNvPr id="13" name="Text Box 7"/>
            <p:cNvSpPr txBox="1">
              <a:spLocks noChangeArrowheads="1"/>
            </p:cNvSpPr>
            <p:nvPr/>
          </p:nvSpPr>
          <p:spPr bwMode="auto">
            <a:xfrm>
              <a:off x="1993" y="1738"/>
              <a:ext cx="39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10000000 </a:t>
              </a:r>
              <a:r>
                <a:rPr lang="en-US" altLang="zh-CN" sz="1400" b="1" dirty="0">
                  <a:latin typeface="微软雅黑" pitchFamily="34" charset="-122"/>
                  <a:ea typeface="微软雅黑" pitchFamily="34" charset="-122"/>
                </a:rPr>
                <a:t>00001011</a:t>
              </a:r>
              <a:r>
                <a:rPr lang="en-US" altLang="zh-CN" sz="1400" b="1" dirty="0">
                  <a:solidFill>
                    <a:srgbClr val="0000FF"/>
                  </a:solidFill>
                  <a:latin typeface="微软雅黑" pitchFamily="34" charset="-122"/>
                  <a:ea typeface="微软雅黑" pitchFamily="34" charset="-122"/>
                </a:rPr>
                <a:t> 00000011 </a:t>
              </a:r>
              <a:r>
                <a:rPr lang="en-US" altLang="zh-CN" sz="1400" b="1" dirty="0">
                  <a:latin typeface="微软雅黑" pitchFamily="34" charset="-122"/>
                  <a:ea typeface="微软雅黑" pitchFamily="34" charset="-122"/>
                </a:rPr>
                <a:t>00011111</a:t>
              </a:r>
              <a:r>
                <a:rPr lang="en-US" altLang="zh-CN" sz="1400" b="1" dirty="0">
                  <a:solidFill>
                    <a:srgbClr val="0000FF"/>
                  </a:solidFill>
                  <a:latin typeface="微软雅黑" pitchFamily="34" charset="-122"/>
                  <a:ea typeface="微软雅黑" pitchFamily="34" charset="-122"/>
                </a:rPr>
                <a:t> </a:t>
              </a:r>
            </a:p>
          </p:txBody>
        </p:sp>
        <p:sp>
          <p:nvSpPr>
            <p:cNvPr id="14" name="Text Box 8"/>
            <p:cNvSpPr txBox="1">
              <a:spLocks noChangeArrowheads="1"/>
            </p:cNvSpPr>
            <p:nvPr/>
          </p:nvSpPr>
          <p:spPr bwMode="auto">
            <a:xfrm>
              <a:off x="207" y="1744"/>
              <a:ext cx="16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b="1" dirty="0">
                  <a:solidFill>
                    <a:srgbClr val="0000FF"/>
                  </a:solidFill>
                  <a:latin typeface="微软雅黑" pitchFamily="34" charset="-122"/>
                  <a:ea typeface="微软雅黑" pitchFamily="34" charset="-122"/>
                </a:rPr>
                <a:t>分为每 </a:t>
              </a:r>
              <a:r>
                <a:rPr lang="en-US" altLang="zh-CN" sz="1400" b="1" dirty="0">
                  <a:solidFill>
                    <a:srgbClr val="0000FF"/>
                  </a:solidFill>
                  <a:latin typeface="微软雅黑" pitchFamily="34" charset="-122"/>
                  <a:ea typeface="微软雅黑" pitchFamily="34" charset="-122"/>
                </a:rPr>
                <a:t>8 </a:t>
              </a:r>
              <a:r>
                <a:rPr lang="zh-CN" altLang="en-US" sz="1400" b="1" dirty="0">
                  <a:solidFill>
                    <a:srgbClr val="0000FF"/>
                  </a:solidFill>
                  <a:latin typeface="微软雅黑" pitchFamily="34" charset="-122"/>
                  <a:ea typeface="微软雅黑" pitchFamily="34" charset="-122"/>
                </a:rPr>
                <a:t>位为一组</a:t>
              </a:r>
            </a:p>
          </p:txBody>
        </p:sp>
      </p:grpSp>
      <p:sp>
        <p:nvSpPr>
          <p:cNvPr id="15" name="Text Box 9"/>
          <p:cNvSpPr txBox="1">
            <a:spLocks noChangeArrowheads="1"/>
          </p:cNvSpPr>
          <p:nvPr/>
        </p:nvSpPr>
        <p:spPr bwMode="auto">
          <a:xfrm>
            <a:off x="1388858" y="3055611"/>
            <a:ext cx="222894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600" b="1" dirty="0">
                <a:solidFill>
                  <a:srgbClr val="0000FF"/>
                </a:solidFill>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点分十进制记法</a:t>
            </a:r>
          </a:p>
        </p:txBody>
      </p:sp>
      <p:sp>
        <p:nvSpPr>
          <p:cNvPr id="16" name="Text Box 10"/>
          <p:cNvSpPr txBox="1">
            <a:spLocks noChangeArrowheads="1"/>
          </p:cNvSpPr>
          <p:nvPr/>
        </p:nvSpPr>
        <p:spPr bwMode="auto">
          <a:xfrm>
            <a:off x="4702468" y="3049906"/>
            <a:ext cx="1592103" cy="369332"/>
          </a:xfrm>
          <a:prstGeom prst="rect">
            <a:avLst/>
          </a:prstGeom>
          <a:solidFill>
            <a:srgbClr val="00FFFF"/>
          </a:solidFill>
          <a:ln w="19050">
            <a:solidFill>
              <a:srgbClr val="000000"/>
            </a:solidFill>
            <a:miter lim="800000"/>
            <a:headEnd/>
            <a:tailEnd/>
          </a:ln>
          <a:effec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128.11.3.31 </a:t>
            </a:r>
          </a:p>
        </p:txBody>
      </p:sp>
      <p:grpSp>
        <p:nvGrpSpPr>
          <p:cNvPr id="17" name="Group 16"/>
          <p:cNvGrpSpPr>
            <a:grpSpLocks/>
          </p:cNvGrpSpPr>
          <p:nvPr/>
        </p:nvGrpSpPr>
        <p:grpSpPr bwMode="auto">
          <a:xfrm>
            <a:off x="4285587" y="2606071"/>
            <a:ext cx="2570671" cy="384469"/>
            <a:chOff x="2665" y="2904"/>
            <a:chExt cx="2609" cy="543"/>
          </a:xfrm>
        </p:grpSpPr>
        <p:sp>
          <p:nvSpPr>
            <p:cNvPr id="18" name="Line 17"/>
            <p:cNvSpPr>
              <a:spLocks noChangeShapeType="1"/>
            </p:cNvSpPr>
            <p:nvPr/>
          </p:nvSpPr>
          <p:spPr bwMode="auto">
            <a:xfrm>
              <a:off x="2665" y="2922"/>
              <a:ext cx="665" cy="509"/>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 name="Line 18"/>
            <p:cNvSpPr>
              <a:spLocks noChangeShapeType="1"/>
            </p:cNvSpPr>
            <p:nvPr/>
          </p:nvSpPr>
          <p:spPr bwMode="auto">
            <a:xfrm flipH="1">
              <a:off x="4393" y="2904"/>
              <a:ext cx="881" cy="543"/>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 name="Line 19"/>
            <p:cNvSpPr>
              <a:spLocks noChangeShapeType="1"/>
            </p:cNvSpPr>
            <p:nvPr/>
          </p:nvSpPr>
          <p:spPr bwMode="auto">
            <a:xfrm>
              <a:off x="3549" y="2934"/>
              <a:ext cx="223" cy="504"/>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 name="Line 20"/>
            <p:cNvSpPr>
              <a:spLocks noChangeShapeType="1"/>
            </p:cNvSpPr>
            <p:nvPr/>
          </p:nvSpPr>
          <p:spPr bwMode="auto">
            <a:xfrm flipH="1">
              <a:off x="4080" y="2944"/>
              <a:ext cx="240" cy="497"/>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grpSp>
        <p:nvGrpSpPr>
          <p:cNvPr id="22" name="组合 21"/>
          <p:cNvGrpSpPr/>
          <p:nvPr/>
        </p:nvGrpSpPr>
        <p:grpSpPr>
          <a:xfrm>
            <a:off x="1628081" y="2115898"/>
            <a:ext cx="5747223" cy="675537"/>
            <a:chOff x="1629823" y="2403736"/>
            <a:chExt cx="5747223" cy="675537"/>
          </a:xfrm>
        </p:grpSpPr>
        <p:sp>
          <p:nvSpPr>
            <p:cNvPr id="23" name="AutoShape 11"/>
            <p:cNvSpPr>
              <a:spLocks/>
            </p:cNvSpPr>
            <p:nvPr/>
          </p:nvSpPr>
          <p:spPr bwMode="auto">
            <a:xfrm rot="16200000">
              <a:off x="4101149" y="2099202"/>
              <a:ext cx="156067" cy="765135"/>
            </a:xfrm>
            <a:prstGeom prst="leftBrace">
              <a:avLst>
                <a:gd name="adj1" fmla="val 40855"/>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 name="AutoShape 12"/>
            <p:cNvSpPr>
              <a:spLocks/>
            </p:cNvSpPr>
            <p:nvPr/>
          </p:nvSpPr>
          <p:spPr bwMode="auto">
            <a:xfrm rot="16200000">
              <a:off x="5013739" y="2089574"/>
              <a:ext cx="175322" cy="803646"/>
            </a:xfrm>
            <a:prstGeom prst="leftBrace">
              <a:avLst>
                <a:gd name="adj1" fmla="val 38199"/>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 name="AutoShape 13"/>
            <p:cNvSpPr>
              <a:spLocks/>
            </p:cNvSpPr>
            <p:nvPr/>
          </p:nvSpPr>
          <p:spPr bwMode="auto">
            <a:xfrm rot="16200000">
              <a:off x="5936968" y="2109842"/>
              <a:ext cx="156067" cy="798579"/>
            </a:xfrm>
            <a:prstGeom prst="leftBrace">
              <a:avLst>
                <a:gd name="adj1" fmla="val 42641"/>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 name="AutoShape 14"/>
            <p:cNvSpPr>
              <a:spLocks/>
            </p:cNvSpPr>
            <p:nvPr/>
          </p:nvSpPr>
          <p:spPr bwMode="auto">
            <a:xfrm rot="16200000">
              <a:off x="6875907" y="2085013"/>
              <a:ext cx="145933" cy="856344"/>
            </a:xfrm>
            <a:prstGeom prst="leftBrace">
              <a:avLst>
                <a:gd name="adj1" fmla="val 48900"/>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 name="Text Box 15"/>
            <p:cNvSpPr txBox="1">
              <a:spLocks noChangeArrowheads="1"/>
            </p:cNvSpPr>
            <p:nvPr/>
          </p:nvSpPr>
          <p:spPr bwMode="auto">
            <a:xfrm>
              <a:off x="3898481" y="2621503"/>
              <a:ext cx="33441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128             11             3                31 </a:t>
              </a:r>
            </a:p>
          </p:txBody>
        </p:sp>
        <p:sp>
          <p:nvSpPr>
            <p:cNvPr id="28" name="Text Box 21"/>
            <p:cNvSpPr txBox="1">
              <a:spLocks noChangeArrowheads="1"/>
            </p:cNvSpPr>
            <p:nvPr/>
          </p:nvSpPr>
          <p:spPr bwMode="auto">
            <a:xfrm>
              <a:off x="1629823" y="2556053"/>
              <a:ext cx="189874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400" b="1" dirty="0">
                  <a:latin typeface="微软雅黑" pitchFamily="34" charset="-122"/>
                  <a:ea typeface="微软雅黑" pitchFamily="34" charset="-122"/>
                </a:rPr>
                <a:t>将每 </a:t>
              </a:r>
              <a:r>
                <a:rPr lang="en-US" altLang="zh-CN" sz="1400" b="1" dirty="0">
                  <a:latin typeface="微软雅黑" pitchFamily="34" charset="-122"/>
                  <a:ea typeface="微软雅黑" pitchFamily="34" charset="-122"/>
                </a:rPr>
                <a:t>8 </a:t>
              </a:r>
              <a:r>
                <a:rPr lang="zh-CN" altLang="en-US" sz="1400" b="1" dirty="0">
                  <a:latin typeface="微软雅黑" pitchFamily="34" charset="-122"/>
                  <a:ea typeface="微软雅黑" pitchFamily="34" charset="-122"/>
                </a:rPr>
                <a:t>位的二进制数</a:t>
              </a:r>
            </a:p>
            <a:p>
              <a:pPr algn="ctr"/>
              <a:r>
                <a:rPr lang="zh-CN" altLang="en-US" sz="1400" b="1" dirty="0">
                  <a:latin typeface="微软雅黑" pitchFamily="34" charset="-122"/>
                  <a:ea typeface="微软雅黑" pitchFamily="34" charset="-122"/>
                </a:rPr>
                <a:t>转换为十进制数</a:t>
              </a:r>
            </a:p>
          </p:txBody>
        </p:sp>
      </p:grpSp>
      <p:sp>
        <p:nvSpPr>
          <p:cNvPr id="29" name="Line 22"/>
          <p:cNvSpPr>
            <a:spLocks noChangeShapeType="1"/>
          </p:cNvSpPr>
          <p:nvPr/>
        </p:nvSpPr>
        <p:spPr bwMode="auto">
          <a:xfrm>
            <a:off x="3577220" y="3225229"/>
            <a:ext cx="1133873" cy="0"/>
          </a:xfrm>
          <a:prstGeom prst="line">
            <a:avLst/>
          </a:prstGeom>
          <a:noFill/>
          <a:ln w="762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 name="矩形 1"/>
          <p:cNvSpPr/>
          <p:nvPr/>
        </p:nvSpPr>
        <p:spPr>
          <a:xfrm>
            <a:off x="916783" y="3697286"/>
            <a:ext cx="7392837" cy="938719"/>
          </a:xfrm>
          <a:prstGeom prst="rect">
            <a:avLst/>
          </a:prstGeom>
        </p:spPr>
        <p:txBody>
          <a:bodyPr wrap="square">
            <a:spAutoFit/>
          </a:bodyPr>
          <a:lstStyle/>
          <a:p>
            <a:pPr>
              <a:lnSpc>
                <a:spcPts val="2200"/>
              </a:lnSpc>
            </a:pPr>
            <a:r>
              <a:rPr lang="zh-CN" altLang="en-US" sz="1600" b="1" dirty="0">
                <a:latin typeface="微软雅黑" panose="020B0503020204020204" pitchFamily="34" charset="-122"/>
                <a:ea typeface="微软雅黑" panose="020B0503020204020204" pitchFamily="34" charset="-122"/>
              </a:rPr>
              <a:t>互联网上的每台主机（或路由器）的</a:t>
            </a:r>
            <a:r>
              <a:rPr lang="zh-CN" altLang="en-US" sz="1600" b="1" dirty="0">
                <a:solidFill>
                  <a:srgbClr val="C00000"/>
                </a:solidFill>
                <a:latin typeface="微软雅黑" panose="020B0503020204020204" pitchFamily="34" charset="-122"/>
                <a:ea typeface="微软雅黑" panose="020B0503020204020204" pitchFamily="34" charset="-122"/>
              </a:rPr>
              <a:t>每个接口</a:t>
            </a:r>
            <a:r>
              <a:rPr lang="zh-CN" altLang="en-US" sz="1600" b="1" dirty="0">
                <a:latin typeface="微软雅黑" panose="020B0503020204020204" pitchFamily="34" charset="-122"/>
                <a:ea typeface="微软雅黑" panose="020B0503020204020204" pitchFamily="34" charset="-122"/>
              </a:rPr>
              <a:t>分配一个在</a:t>
            </a:r>
            <a:r>
              <a:rPr lang="zh-CN" altLang="en-US" sz="1600" b="1" dirty="0">
                <a:solidFill>
                  <a:srgbClr val="C00000"/>
                </a:solidFill>
                <a:latin typeface="微软雅黑" panose="020B0503020204020204" pitchFamily="34" charset="-122"/>
                <a:ea typeface="微软雅黑" panose="020B0503020204020204" pitchFamily="34" charset="-122"/>
              </a:rPr>
              <a:t>全世界唯一的 </a:t>
            </a:r>
            <a:r>
              <a:rPr lang="en-US" altLang="zh-CN" sz="1600" b="1" dirty="0">
                <a:solidFill>
                  <a:srgbClr val="C00000"/>
                </a:solidFill>
                <a:latin typeface="微软雅黑" panose="020B0503020204020204" pitchFamily="34" charset="-122"/>
                <a:ea typeface="微软雅黑" panose="020B0503020204020204" pitchFamily="34" charset="-122"/>
              </a:rPr>
              <a:t>IP </a:t>
            </a:r>
            <a:r>
              <a:rPr lang="zh-CN" altLang="en-US" sz="1600" b="1" dirty="0">
                <a:solidFill>
                  <a:srgbClr val="C00000"/>
                </a:solidFill>
                <a:latin typeface="微软雅黑" panose="020B0503020204020204" pitchFamily="34" charset="-122"/>
                <a:ea typeface="微软雅黑" panose="020B0503020204020204" pitchFamily="34" charset="-122"/>
              </a:rPr>
              <a:t>地址</a:t>
            </a:r>
            <a:r>
              <a:rPr lang="zh-CN" altLang="en-US" sz="1600" b="1" dirty="0">
                <a:latin typeface="微软雅黑" panose="020B0503020204020204" pitchFamily="34" charset="-122"/>
                <a:ea typeface="微软雅黑" panose="020B0503020204020204" pitchFamily="34" charset="-122"/>
              </a:rPr>
              <a:t>。</a:t>
            </a:r>
          </a:p>
          <a:p>
            <a:pPr>
              <a:lnSpc>
                <a:spcPts val="2200"/>
              </a:lnSpc>
            </a:pPr>
            <a:r>
              <a:rPr lang="zh-CN" altLang="en-US" sz="1600" b="1" dirty="0">
                <a:latin typeface="微软雅黑" panose="020B0503020204020204" pitchFamily="34" charset="-122"/>
                <a:ea typeface="微软雅黑" panose="020B0503020204020204" pitchFamily="34" charset="-122"/>
              </a:rPr>
              <a:t>由</a:t>
            </a:r>
            <a:r>
              <a:rPr lang="zh-CN" altLang="en-US" sz="1600" b="1" dirty="0">
                <a:solidFill>
                  <a:srgbClr val="0000FF"/>
                </a:solidFill>
                <a:latin typeface="微软雅黑" panose="020B0503020204020204" pitchFamily="34" charset="-122"/>
                <a:ea typeface="微软雅黑" panose="020B0503020204020204" pitchFamily="34" charset="-122"/>
              </a:rPr>
              <a:t>互联网名字和数字分配机构 </a:t>
            </a:r>
            <a:r>
              <a:rPr lang="en-US" altLang="zh-CN" sz="1600" b="1" dirty="0">
                <a:latin typeface="微软雅黑" panose="020B0503020204020204" pitchFamily="34" charset="-122"/>
                <a:ea typeface="微软雅黑" panose="020B0503020204020204" pitchFamily="34" charset="-122"/>
              </a:rPr>
              <a:t>ICANN (Internet Corporation for Assigned Names and Numbers) </a:t>
            </a:r>
            <a:r>
              <a:rPr lang="zh-CN" altLang="en-US" sz="1600" b="1" dirty="0">
                <a:latin typeface="微软雅黑" panose="020B0503020204020204" pitchFamily="34" charset="-122"/>
                <a:ea typeface="微软雅黑" panose="020B0503020204020204" pitchFamily="34" charset="-122"/>
              </a:rPr>
              <a:t>进行分配。 </a:t>
            </a:r>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wipe(up)">
                                      <p:cBhvr>
                                        <p:cTn id="18" dur="750"/>
                                        <p:tgtEl>
                                          <p:spTgt spid="17"/>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wipe(left)">
                                      <p:cBhvr>
                                        <p:cTn id="21" dur="750"/>
                                        <p:tgtEl>
                                          <p:spTgt spid="29"/>
                                        </p:tgtEl>
                                      </p:cBhvr>
                                    </p:animEffect>
                                  </p:childTnLst>
                                </p:cTn>
                              </p:par>
                            </p:childTnLst>
                          </p:cTn>
                        </p:par>
                        <p:par>
                          <p:cTn id="22" fill="hold">
                            <p:stCondLst>
                              <p:cond delay="750"/>
                            </p:stCondLst>
                            <p:childTnLst>
                              <p:par>
                                <p:cTn id="23" presetID="1" presetClass="entr" presetSubtype="0" fill="hold" grpId="0" nodeType="after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animBg="1"/>
      <p:bldP spid="29" grpId="0" animBg="1"/>
      <p:bldP spid="2"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0" name="圆角矩形 19"/>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85" name="矩形 84"/>
          <p:cNvSpPr/>
          <p:nvPr/>
        </p:nvSpPr>
        <p:spPr>
          <a:xfrm>
            <a:off x="616085" y="574698"/>
            <a:ext cx="2492990" cy="400110"/>
          </a:xfrm>
          <a:prstGeom prst="rect">
            <a:avLst/>
          </a:prstGeom>
        </p:spPr>
        <p:txBody>
          <a:bodyPr wrap="none">
            <a:spAutoFit/>
          </a:bodyPr>
          <a:lstStyle/>
          <a:p>
            <a:r>
              <a:rPr lang="zh-CN" altLang="en-US" sz="2000" b="1" dirty="0">
                <a:latin typeface="微软雅黑" pitchFamily="34" charset="-122"/>
                <a:ea typeface="微软雅黑" pitchFamily="34" charset="-122"/>
              </a:rPr>
              <a:t>点分十进制记法举例</a:t>
            </a:r>
          </a:p>
        </p:txBody>
      </p:sp>
      <p:grpSp>
        <p:nvGrpSpPr>
          <p:cNvPr id="100" name="组合 99"/>
          <p:cNvGrpSpPr/>
          <p:nvPr/>
        </p:nvGrpSpPr>
        <p:grpSpPr>
          <a:xfrm>
            <a:off x="1125767" y="1244616"/>
            <a:ext cx="6262082" cy="2842408"/>
            <a:chOff x="-56968" y="1101725"/>
            <a:chExt cx="10243382" cy="4649550"/>
          </a:xfrm>
        </p:grpSpPr>
        <p:sp>
          <p:nvSpPr>
            <p:cNvPr id="87" name="Text Box 3"/>
            <p:cNvSpPr txBox="1">
              <a:spLocks noChangeArrowheads="1"/>
            </p:cNvSpPr>
            <p:nvPr/>
          </p:nvSpPr>
          <p:spPr bwMode="auto">
            <a:xfrm>
              <a:off x="2638248" y="1531940"/>
              <a:ext cx="2494197"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FF"/>
                  </a:solidFill>
                  <a:latin typeface="微软雅黑" pitchFamily="34" charset="-122"/>
                  <a:ea typeface="微软雅黑" pitchFamily="34" charset="-122"/>
                </a:rPr>
                <a:t>32 </a:t>
              </a:r>
              <a:r>
                <a:rPr kumimoji="0" lang="zh-CN" altLang="en-US" sz="1600" b="1" dirty="0">
                  <a:solidFill>
                    <a:srgbClr val="0000FF"/>
                  </a:solidFill>
                  <a:latin typeface="微软雅黑" pitchFamily="34" charset="-122"/>
                  <a:ea typeface="微软雅黑" pitchFamily="34" charset="-122"/>
                </a:rPr>
                <a:t>位二进制数</a:t>
              </a:r>
            </a:p>
          </p:txBody>
        </p:sp>
        <p:sp>
          <p:nvSpPr>
            <p:cNvPr id="88" name="Text Box 4"/>
            <p:cNvSpPr txBox="1">
              <a:spLocks noChangeArrowheads="1"/>
            </p:cNvSpPr>
            <p:nvPr/>
          </p:nvSpPr>
          <p:spPr bwMode="auto">
            <a:xfrm>
              <a:off x="7490207" y="1101725"/>
              <a:ext cx="2315890" cy="956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0" lang="zh-CN" altLang="en-US" sz="1600" b="1" dirty="0">
                  <a:solidFill>
                    <a:srgbClr val="0000FF"/>
                  </a:solidFill>
                  <a:latin typeface="微软雅黑" pitchFamily="34" charset="-122"/>
                  <a:ea typeface="微软雅黑" pitchFamily="34" charset="-122"/>
                </a:rPr>
                <a:t>等价的</a:t>
              </a:r>
            </a:p>
            <a:p>
              <a:pPr algn="ctr" eaLnBrk="0" hangingPunct="0"/>
              <a:r>
                <a:rPr kumimoji="0" lang="zh-CN" altLang="en-US" sz="1600" b="1" dirty="0">
                  <a:solidFill>
                    <a:srgbClr val="0000FF"/>
                  </a:solidFill>
                  <a:latin typeface="微软雅黑" pitchFamily="34" charset="-122"/>
                  <a:ea typeface="微软雅黑" pitchFamily="34" charset="-122"/>
                </a:rPr>
                <a:t>点分十进制数</a:t>
              </a:r>
            </a:p>
          </p:txBody>
        </p:sp>
        <p:sp>
          <p:nvSpPr>
            <p:cNvPr id="89" name="Line 5"/>
            <p:cNvSpPr>
              <a:spLocks noChangeShapeType="1"/>
            </p:cNvSpPr>
            <p:nvPr/>
          </p:nvSpPr>
          <p:spPr bwMode="auto">
            <a:xfrm>
              <a:off x="87710" y="2159001"/>
              <a:ext cx="9994673"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90" name="Text Box 6"/>
            <p:cNvSpPr txBox="1">
              <a:spLocks noChangeArrowheads="1"/>
            </p:cNvSpPr>
            <p:nvPr/>
          </p:nvSpPr>
          <p:spPr bwMode="auto">
            <a:xfrm>
              <a:off x="-56968" y="2246314"/>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10000001  00110100  00000110  00000000</a:t>
              </a:r>
            </a:p>
          </p:txBody>
        </p:sp>
        <p:sp>
          <p:nvSpPr>
            <p:cNvPr id="91" name="Text Box 7"/>
            <p:cNvSpPr txBox="1">
              <a:spLocks noChangeArrowheads="1"/>
            </p:cNvSpPr>
            <p:nvPr/>
          </p:nvSpPr>
          <p:spPr bwMode="auto">
            <a:xfrm>
              <a:off x="7521776" y="222885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129.52.6.0</a:t>
              </a:r>
            </a:p>
          </p:txBody>
        </p:sp>
        <p:sp>
          <p:nvSpPr>
            <p:cNvPr id="92" name="Text Box 8"/>
            <p:cNvSpPr txBox="1">
              <a:spLocks noChangeArrowheads="1"/>
            </p:cNvSpPr>
            <p:nvPr/>
          </p:nvSpPr>
          <p:spPr bwMode="auto">
            <a:xfrm>
              <a:off x="-56968" y="29686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11000000  00000101  00110000  00000011</a:t>
              </a:r>
            </a:p>
          </p:txBody>
        </p:sp>
        <p:sp>
          <p:nvSpPr>
            <p:cNvPr id="93" name="Text Box 9"/>
            <p:cNvSpPr txBox="1">
              <a:spLocks noChangeArrowheads="1"/>
            </p:cNvSpPr>
            <p:nvPr/>
          </p:nvSpPr>
          <p:spPr bwMode="auto">
            <a:xfrm>
              <a:off x="7521776" y="295116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192.5.48.3</a:t>
              </a:r>
            </a:p>
          </p:txBody>
        </p:sp>
        <p:sp>
          <p:nvSpPr>
            <p:cNvPr id="94" name="Text Box 10"/>
            <p:cNvSpPr txBox="1">
              <a:spLocks noChangeArrowheads="1"/>
            </p:cNvSpPr>
            <p:nvPr/>
          </p:nvSpPr>
          <p:spPr bwMode="auto">
            <a:xfrm>
              <a:off x="-56968" y="37433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00001010  00000010  00000000  00100101</a:t>
              </a:r>
            </a:p>
          </p:txBody>
        </p:sp>
        <p:sp>
          <p:nvSpPr>
            <p:cNvPr id="95" name="Text Box 11"/>
            <p:cNvSpPr txBox="1">
              <a:spLocks noChangeArrowheads="1"/>
            </p:cNvSpPr>
            <p:nvPr/>
          </p:nvSpPr>
          <p:spPr bwMode="auto">
            <a:xfrm>
              <a:off x="7521776" y="3725862"/>
              <a:ext cx="183603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10.2.0.37</a:t>
              </a:r>
            </a:p>
          </p:txBody>
        </p:sp>
        <p:sp>
          <p:nvSpPr>
            <p:cNvPr id="96" name="Text Box 12"/>
            <p:cNvSpPr txBox="1">
              <a:spLocks noChangeArrowheads="1"/>
            </p:cNvSpPr>
            <p:nvPr/>
          </p:nvSpPr>
          <p:spPr bwMode="auto">
            <a:xfrm>
              <a:off x="-56968" y="4476752"/>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10000000  00001010  00000010  00000011</a:t>
              </a:r>
            </a:p>
          </p:txBody>
        </p:sp>
        <p:sp>
          <p:nvSpPr>
            <p:cNvPr id="97" name="Text Box 13"/>
            <p:cNvSpPr txBox="1">
              <a:spLocks noChangeArrowheads="1"/>
            </p:cNvSpPr>
            <p:nvPr/>
          </p:nvSpPr>
          <p:spPr bwMode="auto">
            <a:xfrm>
              <a:off x="7521776" y="4459288"/>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128.10.2.3</a:t>
              </a:r>
            </a:p>
          </p:txBody>
        </p:sp>
        <p:sp>
          <p:nvSpPr>
            <p:cNvPr id="98" name="Text Box 14"/>
            <p:cNvSpPr txBox="1">
              <a:spLocks noChangeArrowheads="1"/>
            </p:cNvSpPr>
            <p:nvPr/>
          </p:nvSpPr>
          <p:spPr bwMode="auto">
            <a:xfrm>
              <a:off x="-56968" y="519747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10000000  10000000  11111111  00000000</a:t>
              </a:r>
            </a:p>
          </p:txBody>
        </p:sp>
        <p:sp>
          <p:nvSpPr>
            <p:cNvPr id="99" name="Text Box 15"/>
            <p:cNvSpPr txBox="1">
              <a:spLocks noChangeArrowheads="1"/>
            </p:cNvSpPr>
            <p:nvPr/>
          </p:nvSpPr>
          <p:spPr bwMode="auto">
            <a:xfrm>
              <a:off x="7521776" y="5180012"/>
              <a:ext cx="2664638"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128.128.255.0</a:t>
              </a:r>
            </a:p>
          </p:txBody>
        </p:sp>
      </p:grpSp>
    </p:spTree>
    <p:extLst>
      <p:ext uri="{BB962C8B-B14F-4D97-AF65-F5344CB8AC3E}">
        <p14:creationId xmlns:p14="http://schemas.microsoft.com/office/powerpoint/2010/main" val="25978070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269136" y="581433"/>
            <a:ext cx="262443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地址采用 </a:t>
            </a: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级结构</a:t>
            </a:r>
          </a:p>
        </p:txBody>
      </p:sp>
      <p:grpSp>
        <p:nvGrpSpPr>
          <p:cNvPr id="27" name="组合 26"/>
          <p:cNvGrpSpPr/>
          <p:nvPr/>
        </p:nvGrpSpPr>
        <p:grpSpPr>
          <a:xfrm>
            <a:off x="456332" y="1194536"/>
            <a:ext cx="7281562" cy="759182"/>
            <a:chOff x="456332" y="1194536"/>
            <a:chExt cx="7281562" cy="759182"/>
          </a:xfrm>
        </p:grpSpPr>
        <p:sp>
          <p:nvSpPr>
            <p:cNvPr id="9" name="Rectangle 2"/>
            <p:cNvSpPr>
              <a:spLocks noChangeArrowheads="1"/>
            </p:cNvSpPr>
            <p:nvPr/>
          </p:nvSpPr>
          <p:spPr bwMode="auto">
            <a:xfrm>
              <a:off x="3859181" y="1360702"/>
              <a:ext cx="3878713" cy="395038"/>
            </a:xfrm>
            <a:prstGeom prst="rect">
              <a:avLst/>
            </a:prstGeom>
            <a:solidFill>
              <a:srgbClr val="00CCFF"/>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456332" y="1194536"/>
              <a:ext cx="324159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网络号</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601975" y="2961288"/>
            <a:ext cx="7135919" cy="1291692"/>
            <a:chOff x="601975" y="2854700"/>
            <a:chExt cx="7135919" cy="1014478"/>
          </a:xfrm>
        </p:grpSpPr>
        <p:sp>
          <p:nvSpPr>
            <p:cNvPr id="3" name="矩形 2"/>
            <p:cNvSpPr/>
            <p:nvPr/>
          </p:nvSpPr>
          <p:spPr>
            <a:xfrm>
              <a:off x="601975" y="3230391"/>
              <a:ext cx="3168738" cy="314241"/>
            </a:xfrm>
            <a:prstGeom prst="rect">
              <a:avLst/>
            </a:prstGeom>
          </p:spPr>
          <p:txBody>
            <a:bodyPr wrap="square">
              <a:spAutoFit/>
            </a:bodyPr>
            <a:lstStyle/>
            <a:p>
              <a:pPr algn="r"/>
              <a:r>
                <a:rPr lang="zh-CN" altLang="en-US" sz="2000" b="1" dirty="0">
                  <a:solidFill>
                    <a:srgbClr val="C00000"/>
                  </a:solidFill>
                  <a:latin typeface="微软雅黑" panose="020B0503020204020204" pitchFamily="34" charset="-122"/>
                  <a:ea typeface="微软雅黑" panose="020B0503020204020204" pitchFamily="34" charset="-122"/>
                </a:rPr>
                <a:t>网络号的位数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网络号</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noProof="0" dirty="0">
                      <a:solidFill>
                        <a:sysClr val="windowText" lastClr="000000"/>
                      </a:solidFill>
                      <a:latin typeface="微软雅黑" pitchFamily="34" charset="-122"/>
                      <a:ea typeface="微软雅黑" pitchFamily="34" charset="-122"/>
                    </a:rPr>
                    <a:t>( net-id)</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26" name="矩形 25"/>
          <p:cNvSpPr/>
          <p:nvPr/>
        </p:nvSpPr>
        <p:spPr>
          <a:xfrm>
            <a:off x="3184164" y="1990377"/>
            <a:ext cx="5227607" cy="759182"/>
          </a:xfrm>
          <a:prstGeom prst="rect">
            <a:avLst/>
          </a:prstGeom>
          <a:solidFill>
            <a:srgbClr val="FFC000"/>
          </a:solidFill>
          <a:ln>
            <a:noFill/>
          </a:ln>
        </p:spPr>
        <p:style>
          <a:lnRef idx="2">
            <a:schemeClr val="accent2"/>
          </a:lnRef>
          <a:fillRef idx="1">
            <a:schemeClr val="lt1"/>
          </a:fillRef>
          <a:effectRef idx="0">
            <a:schemeClr val="accent2"/>
          </a:effectRef>
          <a:fontRef idx="minor">
            <a:schemeClr val="dk1"/>
          </a:fontRef>
        </p:style>
        <p:txBody>
          <a:bodyPr wrap="square">
            <a:spAutoFit/>
          </a:bodyPr>
          <a:lstStyle/>
          <a:p>
            <a:pPr algn="ctr">
              <a:lnSpc>
                <a:spcPts val="2600"/>
              </a:lnSpc>
            </a:pPr>
            <a:r>
              <a:rPr lang="en-US" altLang="zh-CN" b="1" dirty="0">
                <a:latin typeface="微软雅黑" panose="020B0503020204020204" pitchFamily="34" charset="-122"/>
                <a:ea typeface="微软雅黑" panose="020B0503020204020204" pitchFamily="34" charset="-122"/>
              </a:rPr>
              <a:t>IP</a:t>
            </a:r>
            <a:r>
              <a:rPr lang="zh-CN" altLang="en-US" b="1" dirty="0">
                <a:latin typeface="微软雅黑" panose="020B0503020204020204" pitchFamily="34" charset="-122"/>
                <a:ea typeface="微软雅黑" panose="020B0503020204020204" pitchFamily="34" charset="-122"/>
              </a:rPr>
              <a:t>地址在整个互联网范围内是</a:t>
            </a:r>
            <a:r>
              <a:rPr lang="zh-CN" altLang="en-US" b="1" dirty="0">
                <a:solidFill>
                  <a:srgbClr val="C00000"/>
                </a:solidFill>
                <a:latin typeface="微软雅黑" panose="020B0503020204020204" pitchFamily="34" charset="-122"/>
                <a:ea typeface="微软雅黑" panose="020B0503020204020204" pitchFamily="34" charset="-122"/>
              </a:rPr>
              <a:t>唯一</a:t>
            </a:r>
            <a:r>
              <a:rPr lang="zh-CN" altLang="en-US" b="1" dirty="0">
                <a:latin typeface="微软雅黑" panose="020B0503020204020204" pitchFamily="34" charset="-122"/>
                <a:ea typeface="微软雅黑" panose="020B0503020204020204" pitchFamily="34" charset="-122"/>
              </a:rPr>
              <a:t>的。</a:t>
            </a:r>
            <a:endParaRPr lang="en-US" altLang="zh-CN" b="1" dirty="0">
              <a:latin typeface="微软雅黑" panose="020B0503020204020204" pitchFamily="34" charset="-122"/>
              <a:ea typeface="微软雅黑" panose="020B0503020204020204" pitchFamily="34" charset="-122"/>
            </a:endParaRPr>
          </a:p>
          <a:p>
            <a:pPr algn="ctr">
              <a:lnSpc>
                <a:spcPts val="2600"/>
              </a:lnSpc>
            </a:pPr>
            <a:r>
              <a:rPr lang="en-US" altLang="zh-CN" b="1" dirty="0">
                <a:latin typeface="微软雅黑" panose="020B0503020204020204" pitchFamily="34" charset="-122"/>
                <a:ea typeface="微软雅黑" panose="020B0503020204020204" pitchFamily="34" charset="-122"/>
              </a:rPr>
              <a:t>IP </a:t>
            </a:r>
            <a:r>
              <a:rPr lang="zh-CN" altLang="en-US" b="1" dirty="0">
                <a:latin typeface="微软雅黑" panose="020B0503020204020204" pitchFamily="34" charset="-122"/>
                <a:ea typeface="微软雅黑" panose="020B0503020204020204" pitchFamily="34" charset="-122"/>
              </a:rPr>
              <a:t>地址指明了连接到某个网络上的一个主机</a:t>
            </a:r>
          </a:p>
        </p:txBody>
      </p:sp>
    </p:spTree>
    <p:extLst>
      <p:ext uri="{BB962C8B-B14F-4D97-AF65-F5344CB8AC3E}">
        <p14:creationId xmlns:p14="http://schemas.microsoft.com/office/powerpoint/2010/main" val="1798994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1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488747" y="581433"/>
            <a:ext cx="21852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分类的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sp>
        <p:nvSpPr>
          <p:cNvPr id="29" name="圆角矩形 28"/>
          <p:cNvSpPr/>
          <p:nvPr/>
        </p:nvSpPr>
        <p:spPr>
          <a:xfrm>
            <a:off x="545144" y="1033670"/>
            <a:ext cx="8053711" cy="3309912"/>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0" name="组合 29"/>
          <p:cNvGrpSpPr/>
          <p:nvPr/>
        </p:nvGrpSpPr>
        <p:grpSpPr>
          <a:xfrm>
            <a:off x="839262" y="1187780"/>
            <a:ext cx="5329079" cy="3009005"/>
            <a:chOff x="355160" y="927100"/>
            <a:chExt cx="9026611" cy="5096778"/>
          </a:xfrm>
        </p:grpSpPr>
        <p:sp>
          <p:nvSpPr>
            <p:cNvPr id="31"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2"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33"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4"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5"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36"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7"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38"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9"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40"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1"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2"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3"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4"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46"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47"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9"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0"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54"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5"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7"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58"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59"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61"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63"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4"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5"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66" name="Group 38"/>
            <p:cNvGrpSpPr>
              <a:grpSpLocks/>
            </p:cNvGrpSpPr>
            <p:nvPr/>
          </p:nvGrpSpPr>
          <p:grpSpPr bwMode="auto">
            <a:xfrm>
              <a:off x="7928099" y="3820573"/>
              <a:ext cx="1131196" cy="644929"/>
              <a:chOff x="2827" y="3024"/>
              <a:chExt cx="453" cy="382"/>
            </a:xfrm>
          </p:grpSpPr>
          <p:sp>
            <p:nvSpPr>
              <p:cNvPr id="83"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67"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8"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1"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72"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74"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75"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6"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77"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78"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80"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81"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82"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grpSp>
        <p:nvGrpSpPr>
          <p:cNvPr id="5" name="组合 4"/>
          <p:cNvGrpSpPr/>
          <p:nvPr/>
        </p:nvGrpSpPr>
        <p:grpSpPr>
          <a:xfrm>
            <a:off x="6830014" y="1572039"/>
            <a:ext cx="1545420" cy="1837700"/>
            <a:chOff x="6462705" y="453421"/>
            <a:chExt cx="2465395" cy="2939067"/>
          </a:xfrm>
        </p:grpSpPr>
        <p:sp>
          <p:nvSpPr>
            <p:cNvPr id="85" name="椭圆 66"/>
            <p:cNvSpPr>
              <a:spLocks noChangeArrowheads="1"/>
            </p:cNvSpPr>
            <p:nvPr/>
          </p:nvSpPr>
          <p:spPr bwMode="auto">
            <a:xfrm>
              <a:off x="6588125" y="1052513"/>
              <a:ext cx="2339975" cy="2339975"/>
            </a:xfrm>
            <a:prstGeom prst="ellipse">
              <a:avLst/>
            </a:prstGeom>
            <a:solidFill>
              <a:schemeClr val="bg1"/>
            </a:solidFill>
            <a:ln w="9525"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cxnSp>
          <p:nvCxnSpPr>
            <p:cNvPr id="86" name="直接连接符 68"/>
            <p:cNvCxnSpPr>
              <a:cxnSpLocks noChangeShapeType="1"/>
              <a:stCxn id="85" idx="0"/>
              <a:endCxn id="85" idx="4"/>
            </p:cNvCxnSpPr>
            <p:nvPr/>
          </p:nvCxnSpPr>
          <p:spPr bwMode="auto">
            <a:xfrm>
              <a:off x="7758113" y="1052513"/>
              <a:ext cx="0" cy="2339975"/>
            </a:xfrm>
            <a:prstGeom prst="line">
              <a:avLst/>
            </a:prstGeom>
            <a:noFill/>
            <a:ln w="12700" algn="ctr">
              <a:solidFill>
                <a:schemeClr val="tx1"/>
              </a:solidFill>
              <a:round/>
              <a:headEnd/>
              <a:tailEnd/>
            </a:ln>
          </p:spPr>
        </p:cxnSp>
        <p:cxnSp>
          <p:nvCxnSpPr>
            <p:cNvPr id="87" name="直接连接符 70"/>
            <p:cNvCxnSpPr>
              <a:cxnSpLocks noChangeShapeType="1"/>
              <a:stCxn id="85" idx="2"/>
            </p:cNvCxnSpPr>
            <p:nvPr/>
          </p:nvCxnSpPr>
          <p:spPr bwMode="auto">
            <a:xfrm flipV="1">
              <a:off x="6588125" y="2219325"/>
              <a:ext cx="1163638" cy="3175"/>
            </a:xfrm>
            <a:prstGeom prst="line">
              <a:avLst/>
            </a:prstGeom>
            <a:noFill/>
            <a:ln w="12700" algn="ctr">
              <a:solidFill>
                <a:schemeClr val="tx1"/>
              </a:solidFill>
              <a:round/>
              <a:headEnd/>
              <a:tailEnd/>
            </a:ln>
          </p:spPr>
        </p:cxnSp>
        <p:cxnSp>
          <p:nvCxnSpPr>
            <p:cNvPr id="88" name="直接连接符 72"/>
            <p:cNvCxnSpPr>
              <a:cxnSpLocks noChangeShapeType="1"/>
              <a:stCxn id="85" idx="1"/>
            </p:cNvCxnSpPr>
            <p:nvPr/>
          </p:nvCxnSpPr>
          <p:spPr bwMode="auto">
            <a:xfrm>
              <a:off x="6931025" y="1395413"/>
              <a:ext cx="809625" cy="809625"/>
            </a:xfrm>
            <a:prstGeom prst="line">
              <a:avLst/>
            </a:prstGeom>
            <a:noFill/>
            <a:ln w="12700" algn="ctr">
              <a:solidFill>
                <a:schemeClr val="tx1"/>
              </a:solidFill>
              <a:round/>
              <a:headEnd/>
              <a:tailEnd/>
            </a:ln>
          </p:spPr>
        </p:cxnSp>
        <p:cxnSp>
          <p:nvCxnSpPr>
            <p:cNvPr id="89" name="直接连接符 74"/>
            <p:cNvCxnSpPr>
              <a:cxnSpLocks noChangeShapeType="1"/>
            </p:cNvCxnSpPr>
            <p:nvPr/>
          </p:nvCxnSpPr>
          <p:spPr bwMode="auto">
            <a:xfrm>
              <a:off x="7315200" y="1143000"/>
              <a:ext cx="436563" cy="1082675"/>
            </a:xfrm>
            <a:prstGeom prst="line">
              <a:avLst/>
            </a:prstGeom>
            <a:noFill/>
            <a:ln w="12700" algn="ctr">
              <a:solidFill>
                <a:schemeClr val="tx1"/>
              </a:solidFill>
              <a:round/>
              <a:headEnd/>
              <a:tailEnd/>
            </a:ln>
          </p:spPr>
        </p:cxnSp>
        <p:sp>
          <p:nvSpPr>
            <p:cNvPr id="90" name="Rectangle 3"/>
            <p:cNvSpPr>
              <a:spLocks noChangeArrowheads="1"/>
            </p:cNvSpPr>
            <p:nvPr/>
          </p:nvSpPr>
          <p:spPr bwMode="auto">
            <a:xfrm>
              <a:off x="7893562" y="1880134"/>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50%</a:t>
              </a:r>
              <a:endParaRPr lang="zh-CN" altLang="en-US" sz="1200" b="1" dirty="0">
                <a:latin typeface="微软雅黑" panose="020B0503020204020204" pitchFamily="34" charset="-122"/>
                <a:ea typeface="微软雅黑" panose="020B0503020204020204" pitchFamily="34" charset="-122"/>
              </a:endParaRPr>
            </a:p>
          </p:txBody>
        </p:sp>
        <p:sp>
          <p:nvSpPr>
            <p:cNvPr id="91" name="Rectangle 3"/>
            <p:cNvSpPr>
              <a:spLocks noChangeArrowheads="1"/>
            </p:cNvSpPr>
            <p:nvPr/>
          </p:nvSpPr>
          <p:spPr bwMode="auto">
            <a:xfrm>
              <a:off x="6603976" y="1592305"/>
              <a:ext cx="1040806"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C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12.5%</a:t>
              </a:r>
              <a:endParaRPr lang="zh-CN" altLang="en-US" sz="1200" b="1" dirty="0">
                <a:latin typeface="微软雅黑" panose="020B0503020204020204" pitchFamily="34" charset="-122"/>
                <a:ea typeface="微软雅黑" panose="020B0503020204020204" pitchFamily="34" charset="-122"/>
              </a:endParaRPr>
            </a:p>
          </p:txBody>
        </p:sp>
        <p:sp>
          <p:nvSpPr>
            <p:cNvPr id="92" name="Rectangle 3"/>
            <p:cNvSpPr>
              <a:spLocks noChangeArrowheads="1"/>
            </p:cNvSpPr>
            <p:nvPr/>
          </p:nvSpPr>
          <p:spPr bwMode="auto">
            <a:xfrm>
              <a:off x="6942130" y="2389947"/>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B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25%</a:t>
              </a:r>
              <a:endParaRPr lang="zh-CN" altLang="en-US" sz="1200" b="1" dirty="0">
                <a:latin typeface="微软雅黑" panose="020B0503020204020204" pitchFamily="34" charset="-122"/>
                <a:ea typeface="微软雅黑" panose="020B0503020204020204" pitchFamily="34" charset="-122"/>
              </a:endParaRPr>
            </a:p>
          </p:txBody>
        </p:sp>
        <p:sp>
          <p:nvSpPr>
            <p:cNvPr id="93" name="Rectangle 3"/>
            <p:cNvSpPr>
              <a:spLocks noChangeArrowheads="1"/>
            </p:cNvSpPr>
            <p:nvPr/>
          </p:nvSpPr>
          <p:spPr bwMode="auto">
            <a:xfrm>
              <a:off x="6462705" y="560275"/>
              <a:ext cx="805538"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D </a:t>
              </a:r>
              <a:r>
                <a:rPr lang="zh-CN" altLang="en-US" sz="1200" b="1" dirty="0">
                  <a:latin typeface="微软雅黑" panose="020B0503020204020204" pitchFamily="34" charset="-122"/>
                  <a:ea typeface="微软雅黑" panose="020B0503020204020204" pitchFamily="34" charset="-122"/>
                </a:rPr>
                <a:t>类</a:t>
              </a:r>
            </a:p>
          </p:txBody>
        </p:sp>
        <p:sp>
          <p:nvSpPr>
            <p:cNvPr id="94" name="Rectangle 3"/>
            <p:cNvSpPr>
              <a:spLocks noChangeArrowheads="1"/>
            </p:cNvSpPr>
            <p:nvPr/>
          </p:nvSpPr>
          <p:spPr bwMode="auto">
            <a:xfrm>
              <a:off x="7144804" y="453421"/>
              <a:ext cx="751835"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E </a:t>
              </a:r>
              <a:r>
                <a:rPr lang="zh-CN" altLang="en-US" sz="1200" b="1" dirty="0">
                  <a:latin typeface="微软雅黑" panose="020B0503020204020204" pitchFamily="34" charset="-122"/>
                  <a:ea typeface="微软雅黑" panose="020B0503020204020204" pitchFamily="34" charset="-122"/>
                </a:rPr>
                <a:t>类</a:t>
              </a:r>
            </a:p>
          </p:txBody>
        </p:sp>
        <p:sp>
          <p:nvSpPr>
            <p:cNvPr id="95" name="Line 135"/>
            <p:cNvSpPr>
              <a:spLocks noChangeShapeType="1"/>
            </p:cNvSpPr>
            <p:nvPr/>
          </p:nvSpPr>
          <p:spPr bwMode="auto">
            <a:xfrm flipH="1" flipV="1">
              <a:off x="6845300" y="914400"/>
              <a:ext cx="409575" cy="5651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96" name="Line 135"/>
            <p:cNvSpPr>
              <a:spLocks noChangeShapeType="1"/>
            </p:cNvSpPr>
            <p:nvPr/>
          </p:nvSpPr>
          <p:spPr bwMode="auto">
            <a:xfrm flipH="1" flipV="1">
              <a:off x="7462838" y="793750"/>
              <a:ext cx="184150" cy="6794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1" name="组合 10"/>
          <p:cNvGrpSpPr/>
          <p:nvPr/>
        </p:nvGrpSpPr>
        <p:grpSpPr>
          <a:xfrm>
            <a:off x="6219141" y="1187780"/>
            <a:ext cx="517704" cy="1690420"/>
            <a:chOff x="6219141" y="1187780"/>
            <a:chExt cx="517704" cy="1690420"/>
          </a:xfrm>
        </p:grpSpPr>
        <p:sp>
          <p:nvSpPr>
            <p:cNvPr id="8" name="矩形 7"/>
            <p:cNvSpPr/>
            <p:nvPr/>
          </p:nvSpPr>
          <p:spPr>
            <a:xfrm>
              <a:off x="6312145" y="1546077"/>
              <a:ext cx="424700" cy="954107"/>
            </a:xfrm>
            <a:prstGeom prst="rect">
              <a:avLst/>
            </a:prstGeom>
          </p:spPr>
          <p:txBody>
            <a:bodyPr wrap="square">
              <a:spAutoFit/>
            </a:bodyPr>
            <a:lstStyle/>
            <a:p>
              <a:pPr algn="ctr"/>
              <a:r>
                <a:rPr lang="zh-CN" altLang="en-US" sz="1400" b="1" dirty="0">
                  <a:solidFill>
                    <a:srgbClr val="CC00CC"/>
                  </a:solidFill>
                  <a:latin typeface="微软雅黑" panose="020B0503020204020204" pitchFamily="34" charset="-122"/>
                  <a:ea typeface="微软雅黑" panose="020B0503020204020204" pitchFamily="34" charset="-122"/>
                </a:rPr>
                <a:t>单播地址</a:t>
              </a:r>
            </a:p>
          </p:txBody>
        </p:sp>
        <p:sp>
          <p:nvSpPr>
            <p:cNvPr id="10" name="右大括号 9"/>
            <p:cNvSpPr/>
            <p:nvPr/>
          </p:nvSpPr>
          <p:spPr>
            <a:xfrm>
              <a:off x="6219141" y="1187780"/>
              <a:ext cx="172628" cy="1690420"/>
            </a:xfrm>
            <a:prstGeom prst="rightBrace">
              <a:avLst>
                <a:gd name="adj1" fmla="val 30569"/>
                <a:gd name="adj2" fmla="val 50000"/>
              </a:avLst>
            </a:prstGeom>
            <a:ln w="12700">
              <a:solidFill>
                <a:srgbClr val="0000FF"/>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Tree>
    <p:extLst>
      <p:ext uri="{BB962C8B-B14F-4D97-AF65-F5344CB8AC3E}">
        <p14:creationId xmlns:p14="http://schemas.microsoft.com/office/powerpoint/2010/main" val="15907002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nodeType="afterEffect">
                                  <p:stCondLst>
                                    <p:cond delay="0"/>
                                  </p:stCondLst>
                                  <p:childTnLst>
                                    <p:anim calcmode="discrete" valueType="str">
                                      <p:cBhvr>
                                        <p:cTn id="9"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 name="圆角矩形 66"/>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矩形 67"/>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6" name="组合 65"/>
          <p:cNvGrpSpPr/>
          <p:nvPr/>
        </p:nvGrpSpPr>
        <p:grpSpPr>
          <a:xfrm>
            <a:off x="1880840" y="1160772"/>
            <a:ext cx="5329079" cy="3009005"/>
            <a:chOff x="355160" y="927100"/>
            <a:chExt cx="9026611" cy="5096778"/>
          </a:xfrm>
        </p:grpSpPr>
        <p:sp>
          <p:nvSpPr>
            <p:cNvPr id="69"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1"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2"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4"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6"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8"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4"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5"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6"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2"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3"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6"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7"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8"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9"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2" name="Group 38"/>
            <p:cNvGrpSpPr>
              <a:grpSpLocks/>
            </p:cNvGrpSpPr>
            <p:nvPr/>
          </p:nvGrpSpPr>
          <p:grpSpPr bwMode="auto">
            <a:xfrm>
              <a:off x="7928099" y="3820573"/>
              <a:ext cx="1131196" cy="644929"/>
              <a:chOff x="2827" y="3024"/>
              <a:chExt cx="453" cy="382"/>
            </a:xfrm>
          </p:grpSpPr>
          <p:sp>
            <p:nvSpPr>
              <p:cNvPr id="119"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0"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3"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4"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8"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0"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1"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2"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3"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4"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6"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7"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8"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4" name="AutoShape 61"/>
          <p:cNvSpPr>
            <a:spLocks noChangeArrowheads="1"/>
          </p:cNvSpPr>
          <p:nvPr/>
        </p:nvSpPr>
        <p:spPr bwMode="auto">
          <a:xfrm>
            <a:off x="2858377" y="3611194"/>
            <a:ext cx="4144668" cy="314674"/>
          </a:xfrm>
          <a:prstGeom prst="wedgeRoundRectCallout">
            <a:avLst>
              <a:gd name="adj1" fmla="val -36088"/>
              <a:gd name="adj2" fmla="val -777129"/>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A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1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 name="圆角矩形 65"/>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7" name="矩形 66"/>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5" name="组合 64"/>
          <p:cNvGrpSpPr/>
          <p:nvPr/>
        </p:nvGrpSpPr>
        <p:grpSpPr>
          <a:xfrm>
            <a:off x="1880840" y="1160772"/>
            <a:ext cx="5329079" cy="3009005"/>
            <a:chOff x="355160" y="927100"/>
            <a:chExt cx="9026611" cy="5096778"/>
          </a:xfrm>
        </p:grpSpPr>
        <p:sp>
          <p:nvSpPr>
            <p:cNvPr id="68"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0"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1"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3"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5"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7"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8"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3"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4"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5"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6"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7"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8"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1"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2"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3"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5"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6"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7"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8"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9"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1" name="Group 38"/>
            <p:cNvGrpSpPr>
              <a:grpSpLocks/>
            </p:cNvGrpSpPr>
            <p:nvPr/>
          </p:nvGrpSpPr>
          <p:grpSpPr bwMode="auto">
            <a:xfrm>
              <a:off x="7928099" y="3820573"/>
              <a:ext cx="1131196" cy="644929"/>
              <a:chOff x="2827" y="3024"/>
              <a:chExt cx="453" cy="382"/>
            </a:xfrm>
          </p:grpSpPr>
          <p:sp>
            <p:nvSpPr>
              <p:cNvPr id="118"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9"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2"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3"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4"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7"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09"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0"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1"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2"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3"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4"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5"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6"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7"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3" name="AutoShape 61"/>
          <p:cNvSpPr>
            <a:spLocks noChangeArrowheads="1"/>
          </p:cNvSpPr>
          <p:nvPr/>
        </p:nvSpPr>
        <p:spPr bwMode="auto">
          <a:xfrm>
            <a:off x="2858377" y="3611194"/>
            <a:ext cx="4144668" cy="314674"/>
          </a:xfrm>
          <a:prstGeom prst="wedgeRoundRectCallout">
            <a:avLst>
              <a:gd name="adj1" fmla="val -12934"/>
              <a:gd name="adj2" fmla="val -546962"/>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B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2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933607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圆角矩形 67"/>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9" name="矩形 68"/>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7" name="组合 66"/>
          <p:cNvGrpSpPr/>
          <p:nvPr/>
        </p:nvGrpSpPr>
        <p:grpSpPr>
          <a:xfrm>
            <a:off x="1880840" y="1160772"/>
            <a:ext cx="5329079" cy="3009005"/>
            <a:chOff x="355160" y="927100"/>
            <a:chExt cx="9026611" cy="5096778"/>
          </a:xfrm>
        </p:grpSpPr>
        <p:sp>
          <p:nvSpPr>
            <p:cNvPr id="70"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2"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5"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7"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8"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9"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5"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6"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7"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9"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3"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7"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8"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9"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0"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3" name="Group 38"/>
            <p:cNvGrpSpPr>
              <a:grpSpLocks/>
            </p:cNvGrpSpPr>
            <p:nvPr/>
          </p:nvGrpSpPr>
          <p:grpSpPr bwMode="auto">
            <a:xfrm>
              <a:off x="7928099" y="3820573"/>
              <a:ext cx="1131196" cy="644929"/>
              <a:chOff x="2827" y="3024"/>
              <a:chExt cx="453" cy="382"/>
            </a:xfrm>
          </p:grpSpPr>
          <p:sp>
            <p:nvSpPr>
              <p:cNvPr id="120"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4"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5"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9"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0"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1"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2"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4"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5"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7"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8"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9"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5" name="AutoShape 61"/>
          <p:cNvSpPr>
            <a:spLocks noChangeArrowheads="1"/>
          </p:cNvSpPr>
          <p:nvPr/>
        </p:nvSpPr>
        <p:spPr bwMode="auto">
          <a:xfrm>
            <a:off x="2858377" y="3611194"/>
            <a:ext cx="4144668" cy="314674"/>
          </a:xfrm>
          <a:prstGeom prst="wedgeRoundRectCallout">
            <a:avLst>
              <a:gd name="adj1" fmla="val -37399"/>
              <a:gd name="adj2" fmla="val -33405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C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3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063549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 name="圆角矩形 66"/>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矩形 67"/>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6" name="组合 65"/>
          <p:cNvGrpSpPr/>
          <p:nvPr/>
        </p:nvGrpSpPr>
        <p:grpSpPr>
          <a:xfrm>
            <a:off x="1880840" y="1160772"/>
            <a:ext cx="5329079" cy="3009005"/>
            <a:chOff x="355160" y="927100"/>
            <a:chExt cx="9026611" cy="5096778"/>
          </a:xfrm>
        </p:grpSpPr>
        <p:sp>
          <p:nvSpPr>
            <p:cNvPr id="69"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1"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2"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4"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6"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8"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4"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5"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6"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2"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3"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6"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7"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8"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9"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2" name="Group 38"/>
            <p:cNvGrpSpPr>
              <a:grpSpLocks/>
            </p:cNvGrpSpPr>
            <p:nvPr/>
          </p:nvGrpSpPr>
          <p:grpSpPr bwMode="auto">
            <a:xfrm>
              <a:off x="7928099" y="3820573"/>
              <a:ext cx="1131196" cy="644929"/>
              <a:chOff x="2827" y="3024"/>
              <a:chExt cx="453" cy="382"/>
            </a:xfrm>
          </p:grpSpPr>
          <p:sp>
            <p:nvSpPr>
              <p:cNvPr id="119"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0"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3"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4"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8"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0"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1"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2"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3"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4"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6"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7"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8"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4" name="AutoShape 61"/>
          <p:cNvSpPr>
            <a:spLocks noChangeArrowheads="1"/>
          </p:cNvSpPr>
          <p:nvPr/>
        </p:nvSpPr>
        <p:spPr bwMode="auto">
          <a:xfrm>
            <a:off x="2692436" y="3611194"/>
            <a:ext cx="4486702" cy="314674"/>
          </a:xfrm>
          <a:prstGeom prst="wedgeRoundRectCallout">
            <a:avLst>
              <a:gd name="adj1" fmla="val -8129"/>
              <a:gd name="adj2" fmla="val -785761"/>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A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3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680873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1" name="圆角矩形 100"/>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2" name="矩形 101"/>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100" name="组合 99"/>
          <p:cNvGrpSpPr/>
          <p:nvPr/>
        </p:nvGrpSpPr>
        <p:grpSpPr>
          <a:xfrm>
            <a:off x="1880840" y="1160772"/>
            <a:ext cx="5329079" cy="3009005"/>
            <a:chOff x="355160" y="927100"/>
            <a:chExt cx="9026611" cy="5096778"/>
          </a:xfrm>
        </p:grpSpPr>
        <p:sp>
          <p:nvSpPr>
            <p:cNvPr id="103"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4"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105"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108"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9"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110"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112"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4"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7"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118"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119"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20"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2"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3"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4"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5"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126"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7"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8"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9"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30"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1"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32"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33"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4"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5"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36" name="Group 38"/>
            <p:cNvGrpSpPr>
              <a:grpSpLocks/>
            </p:cNvGrpSpPr>
            <p:nvPr/>
          </p:nvGrpSpPr>
          <p:grpSpPr bwMode="auto">
            <a:xfrm>
              <a:off x="7928099" y="3820573"/>
              <a:ext cx="1131196" cy="644929"/>
              <a:chOff x="2827" y="3024"/>
              <a:chExt cx="453" cy="382"/>
            </a:xfrm>
          </p:grpSpPr>
          <p:sp>
            <p:nvSpPr>
              <p:cNvPr id="153"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54"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37"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38"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39"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40"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1"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42"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3"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44"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45"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6"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47"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48"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9"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50"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51"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52"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98" name="AutoShape 61"/>
          <p:cNvSpPr>
            <a:spLocks noChangeArrowheads="1"/>
          </p:cNvSpPr>
          <p:nvPr/>
        </p:nvSpPr>
        <p:spPr bwMode="auto">
          <a:xfrm>
            <a:off x="2691442" y="3611194"/>
            <a:ext cx="4495820" cy="314674"/>
          </a:xfrm>
          <a:prstGeom prst="wedgeRoundRectCallout">
            <a:avLst>
              <a:gd name="adj1" fmla="val 13715"/>
              <a:gd name="adj2" fmla="val -567102"/>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B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2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360052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圆角矩形 67"/>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9" name="矩形 68"/>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7" name="组合 66"/>
          <p:cNvGrpSpPr/>
          <p:nvPr/>
        </p:nvGrpSpPr>
        <p:grpSpPr>
          <a:xfrm>
            <a:off x="1880840" y="1160772"/>
            <a:ext cx="5329079" cy="3009005"/>
            <a:chOff x="355160" y="927100"/>
            <a:chExt cx="9026611" cy="5096778"/>
          </a:xfrm>
        </p:grpSpPr>
        <p:sp>
          <p:nvSpPr>
            <p:cNvPr id="70"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2"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5"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7"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8"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9"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5"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6"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7"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9"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3"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7"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8"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9"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0"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3" name="Group 38"/>
            <p:cNvGrpSpPr>
              <a:grpSpLocks/>
            </p:cNvGrpSpPr>
            <p:nvPr/>
          </p:nvGrpSpPr>
          <p:grpSpPr bwMode="auto">
            <a:xfrm>
              <a:off x="7928099" y="3820573"/>
              <a:ext cx="1131196" cy="644929"/>
              <a:chOff x="2827" y="3024"/>
              <a:chExt cx="453" cy="382"/>
            </a:xfrm>
          </p:grpSpPr>
          <p:sp>
            <p:nvSpPr>
              <p:cNvPr id="120"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4"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5"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9"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0"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1"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2"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4"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5"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7"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8"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9"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5" name="AutoShape 61"/>
          <p:cNvSpPr>
            <a:spLocks noChangeArrowheads="1"/>
          </p:cNvSpPr>
          <p:nvPr/>
        </p:nvSpPr>
        <p:spPr bwMode="auto">
          <a:xfrm>
            <a:off x="2693452" y="3611194"/>
            <a:ext cx="4485687" cy="314674"/>
          </a:xfrm>
          <a:prstGeom prst="wedgeRoundRectCallout">
            <a:avLst>
              <a:gd name="adj1" fmla="val 30056"/>
              <a:gd name="adj2" fmla="val -32569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C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1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 name="圆角矩形 88"/>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0" name="矩形 89"/>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88" name="组合 87"/>
          <p:cNvGrpSpPr/>
          <p:nvPr/>
        </p:nvGrpSpPr>
        <p:grpSpPr>
          <a:xfrm>
            <a:off x="1880840" y="1160772"/>
            <a:ext cx="5329079" cy="3009005"/>
            <a:chOff x="355160" y="927100"/>
            <a:chExt cx="9026611" cy="5096778"/>
          </a:xfrm>
        </p:grpSpPr>
        <p:sp>
          <p:nvSpPr>
            <p:cNvPr id="91"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93"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4"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96"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7"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98"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9"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100"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3"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4"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5"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106"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107"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8"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0"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2"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3"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114"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5"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6"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7"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18"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9"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20"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21"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2"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3"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24" name="Group 38"/>
            <p:cNvGrpSpPr>
              <a:grpSpLocks/>
            </p:cNvGrpSpPr>
            <p:nvPr/>
          </p:nvGrpSpPr>
          <p:grpSpPr bwMode="auto">
            <a:xfrm>
              <a:off x="7928099" y="3820573"/>
              <a:ext cx="1131196" cy="644929"/>
              <a:chOff x="2827" y="3024"/>
              <a:chExt cx="453" cy="382"/>
            </a:xfrm>
          </p:grpSpPr>
          <p:sp>
            <p:nvSpPr>
              <p:cNvPr id="141"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2"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25"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6"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7"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8"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9"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30"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1"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32"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33"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4"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35"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36"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7"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38"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39"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40"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86" name="AutoShape 61"/>
          <p:cNvSpPr>
            <a:spLocks noChangeArrowheads="1"/>
          </p:cNvSpPr>
          <p:nvPr/>
        </p:nvSpPr>
        <p:spPr bwMode="auto">
          <a:xfrm>
            <a:off x="3786953" y="2239967"/>
            <a:ext cx="2668417" cy="314674"/>
          </a:xfrm>
          <a:prstGeom prst="wedgeRoundRectCallout">
            <a:avLst>
              <a:gd name="adj1" fmla="val 28569"/>
              <a:gd name="adj2" fmla="val 36507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D </a:t>
            </a:r>
            <a:r>
              <a:rPr lang="zh-CN" altLang="en-US" sz="1600" b="1" dirty="0">
                <a:solidFill>
                  <a:srgbClr val="000066"/>
                </a:solidFill>
                <a:latin typeface="微软雅黑" pitchFamily="34" charset="-122"/>
                <a:ea typeface="微软雅黑" pitchFamily="34" charset="-122"/>
              </a:rPr>
              <a:t>类地址是多播地址</a:t>
            </a:r>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 name="圆角矩形 72"/>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4" name="矩形 73"/>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72" name="组合 71"/>
          <p:cNvGrpSpPr/>
          <p:nvPr/>
        </p:nvGrpSpPr>
        <p:grpSpPr>
          <a:xfrm>
            <a:off x="1880840" y="1160772"/>
            <a:ext cx="5329079" cy="3009005"/>
            <a:chOff x="355160" y="927100"/>
            <a:chExt cx="9026611" cy="5096778"/>
          </a:xfrm>
        </p:grpSpPr>
        <p:sp>
          <p:nvSpPr>
            <p:cNvPr id="75"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7"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8"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9"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80"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1"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82"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3"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84"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5"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6"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9"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90"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91"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2"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3"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7"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8"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9"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0"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1"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02"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3"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04"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5"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8" name="Group 38"/>
            <p:cNvGrpSpPr>
              <a:grpSpLocks/>
            </p:cNvGrpSpPr>
            <p:nvPr/>
          </p:nvGrpSpPr>
          <p:grpSpPr bwMode="auto">
            <a:xfrm>
              <a:off x="7928099" y="3820573"/>
              <a:ext cx="1131196" cy="644929"/>
              <a:chOff x="2827" y="3024"/>
              <a:chExt cx="453" cy="382"/>
            </a:xfrm>
          </p:grpSpPr>
          <p:sp>
            <p:nvSpPr>
              <p:cNvPr id="125"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6"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9"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0"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2"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14"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6"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7"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8"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9"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20"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22"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23"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24"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70" name="AutoShape 61"/>
          <p:cNvSpPr>
            <a:spLocks noChangeArrowheads="1"/>
          </p:cNvSpPr>
          <p:nvPr/>
        </p:nvSpPr>
        <p:spPr bwMode="auto">
          <a:xfrm>
            <a:off x="3786953" y="2239967"/>
            <a:ext cx="2668417" cy="314674"/>
          </a:xfrm>
          <a:prstGeom prst="wedgeRoundRectCallout">
            <a:avLst>
              <a:gd name="adj1" fmla="val 32640"/>
              <a:gd name="adj2" fmla="val 531948"/>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E </a:t>
            </a:r>
            <a:r>
              <a:rPr lang="zh-CN" altLang="en-US" sz="1600" b="1" dirty="0">
                <a:solidFill>
                  <a:srgbClr val="000066"/>
                </a:solidFill>
                <a:latin typeface="微软雅黑" pitchFamily="34" charset="-122"/>
                <a:ea typeface="微软雅黑" pitchFamily="34" charset="-122"/>
              </a:rPr>
              <a:t>类地址保留为今后使用</a:t>
            </a:r>
          </a:p>
        </p:txBody>
      </p:sp>
    </p:spTree>
    <p:extLst>
      <p:ext uri="{BB962C8B-B14F-4D97-AF65-F5344CB8AC3E}">
        <p14:creationId xmlns:p14="http://schemas.microsoft.com/office/powerpoint/2010/main" val="3171787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11" name="表格 10"/>
          <p:cNvGraphicFramePr>
            <a:graphicFrameLocks noGrp="1"/>
          </p:cNvGraphicFramePr>
          <p:nvPr>
            <p:extLst>
              <p:ext uri="{D42A27DB-BD31-4B8C-83A1-F6EECF244321}">
                <p14:modId xmlns:p14="http://schemas.microsoft.com/office/powerpoint/2010/main" val="961813223"/>
              </p:ext>
            </p:extLst>
          </p:nvPr>
        </p:nvGraphicFramePr>
        <p:xfrm>
          <a:off x="556963" y="1024784"/>
          <a:ext cx="8048776" cy="1612909"/>
        </p:xfrm>
        <a:graphic>
          <a:graphicData uri="http://schemas.openxmlformats.org/drawingml/2006/table">
            <a:tbl>
              <a:tblPr>
                <a:tableStyleId>{5C22544A-7EE6-4342-B048-85BDC9FD1C3A}</a:tableStyleId>
              </a:tblPr>
              <a:tblGrid>
                <a:gridCol w="688696">
                  <a:extLst>
                    <a:ext uri="{9D8B030D-6E8A-4147-A177-3AD203B41FA5}">
                      <a16:colId xmlns:a16="http://schemas.microsoft.com/office/drawing/2014/main" val="20000"/>
                    </a:ext>
                  </a:extLst>
                </a:gridCol>
                <a:gridCol w="2093534">
                  <a:extLst>
                    <a:ext uri="{9D8B030D-6E8A-4147-A177-3AD203B41FA5}">
                      <a16:colId xmlns:a16="http://schemas.microsoft.com/office/drawing/2014/main" val="20001"/>
                    </a:ext>
                  </a:extLst>
                </a:gridCol>
                <a:gridCol w="1477736">
                  <a:extLst>
                    <a:ext uri="{9D8B030D-6E8A-4147-A177-3AD203B41FA5}">
                      <a16:colId xmlns:a16="http://schemas.microsoft.com/office/drawing/2014/main" val="20002"/>
                    </a:ext>
                  </a:extLst>
                </a:gridCol>
                <a:gridCol w="1698171">
                  <a:extLst>
                    <a:ext uri="{9D8B030D-6E8A-4147-A177-3AD203B41FA5}">
                      <a16:colId xmlns:a16="http://schemas.microsoft.com/office/drawing/2014/main" val="20003"/>
                    </a:ext>
                  </a:extLst>
                </a:gridCol>
                <a:gridCol w="2090639">
                  <a:extLst>
                    <a:ext uri="{9D8B030D-6E8A-4147-A177-3AD203B41FA5}">
                      <a16:colId xmlns:a16="http://schemas.microsoft.com/office/drawing/2014/main" val="20004"/>
                    </a:ext>
                  </a:extLst>
                </a:gridCol>
              </a:tblGrid>
              <a:tr h="556681">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网络</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类别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最大可指派</a:t>
                      </a:r>
                      <a:endParaRPr lang="en-US" altLang="zh-CN" sz="1600" b="1" dirty="0">
                        <a:solidFill>
                          <a:schemeClr val="bg1"/>
                        </a:solidFill>
                        <a:effectLst/>
                        <a:latin typeface="微软雅黑" pitchFamily="34" charset="-122"/>
                        <a:ea typeface="微软雅黑" pitchFamily="34" charset="-122"/>
                      </a:endParaRP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的网络数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第一个可指派的网络号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最后一个可指派的网络号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每个网络中</a:t>
                      </a:r>
                      <a:endParaRPr lang="en-US" altLang="zh-CN" sz="1600" b="1" dirty="0">
                        <a:solidFill>
                          <a:schemeClr val="bg1"/>
                        </a:solidFill>
                        <a:effectLst/>
                        <a:latin typeface="微软雅黑" pitchFamily="34" charset="-122"/>
                        <a:ea typeface="微软雅黑" pitchFamily="34" charset="-122"/>
                      </a:endParaRP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最大主机数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352076">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A</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126 (2</a:t>
                      </a:r>
                      <a:r>
                        <a:rPr lang="en-US" sz="1600" b="1" baseline="30000" dirty="0">
                          <a:solidFill>
                            <a:schemeClr val="tx1"/>
                          </a:solidFill>
                          <a:effectLst/>
                          <a:latin typeface="微软雅黑" pitchFamily="34" charset="-122"/>
                          <a:ea typeface="微软雅黑" pitchFamily="34" charset="-122"/>
                        </a:rPr>
                        <a:t>7</a:t>
                      </a:r>
                      <a:r>
                        <a:rPr lang="en-US" sz="1600" b="1" dirty="0">
                          <a:solidFill>
                            <a:schemeClr val="tx1"/>
                          </a:solidFill>
                          <a:effectLst/>
                          <a:latin typeface="微软雅黑" pitchFamily="34" charset="-122"/>
                          <a:ea typeface="微软雅黑" pitchFamily="34" charset="-122"/>
                        </a:rPr>
                        <a:t> – 2)</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126</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16777214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24</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52076">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B</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16383 (2</a:t>
                      </a:r>
                      <a:r>
                        <a:rPr lang="en-US" sz="1600" b="1" baseline="30000" dirty="0">
                          <a:solidFill>
                            <a:schemeClr val="tx1"/>
                          </a:solidFill>
                          <a:effectLst/>
                          <a:latin typeface="微软雅黑" pitchFamily="34" charset="-122"/>
                          <a:ea typeface="微软雅黑" pitchFamily="34" charset="-122"/>
                        </a:rPr>
                        <a:t>14</a:t>
                      </a:r>
                      <a:r>
                        <a:rPr lang="en-US" sz="1600" b="1" dirty="0">
                          <a:solidFill>
                            <a:schemeClr val="tx1"/>
                          </a:solidFill>
                          <a:effectLst/>
                          <a:latin typeface="微软雅黑" pitchFamily="34" charset="-122"/>
                          <a:ea typeface="微软雅黑" pitchFamily="34" charset="-122"/>
                        </a:rPr>
                        <a:t> – 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128.1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191.255</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65534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16</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52076">
                <a:tc>
                  <a:txBody>
                    <a:bodyPr/>
                    <a:lstStyle/>
                    <a:p>
                      <a:pPr algn="ctr">
                        <a:lnSpc>
                          <a:spcPct val="100000"/>
                        </a:lnSpc>
                        <a:spcAft>
                          <a:spcPts val="0"/>
                        </a:spcAft>
                      </a:pPr>
                      <a:r>
                        <a:rPr lang="en-US" sz="1600" b="1">
                          <a:solidFill>
                            <a:schemeClr val="tx1"/>
                          </a:solidFill>
                          <a:effectLst/>
                          <a:latin typeface="微软雅黑" pitchFamily="34" charset="-122"/>
                          <a:ea typeface="微软雅黑" pitchFamily="34" charset="-122"/>
                        </a:rPr>
                        <a:t>C</a:t>
                      </a:r>
                      <a:endParaRPr lang="zh-CN" sz="16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2097151 (2</a:t>
                      </a:r>
                      <a:r>
                        <a:rPr lang="en-US" sz="1600" b="1" baseline="30000" dirty="0">
                          <a:solidFill>
                            <a:schemeClr val="tx1"/>
                          </a:solidFill>
                          <a:effectLst/>
                          <a:latin typeface="微软雅黑" pitchFamily="34" charset="-122"/>
                          <a:ea typeface="微软雅黑" pitchFamily="34" charset="-122"/>
                        </a:rPr>
                        <a:t>21</a:t>
                      </a:r>
                      <a:r>
                        <a:rPr lang="en-US" sz="1600" b="1" dirty="0">
                          <a:solidFill>
                            <a:schemeClr val="tx1"/>
                          </a:solidFill>
                          <a:effectLst/>
                          <a:latin typeface="微软雅黑" pitchFamily="34" charset="-122"/>
                          <a:ea typeface="微软雅黑" pitchFamily="34" charset="-122"/>
                        </a:rPr>
                        <a:t> – 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192.0.1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223.255.255</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254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8</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bl>
          </a:graphicData>
        </a:graphic>
      </p:graphicFrame>
      <p:sp>
        <p:nvSpPr>
          <p:cNvPr id="7"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 name="矩形 7"/>
          <p:cNvSpPr/>
          <p:nvPr/>
        </p:nvSpPr>
        <p:spPr>
          <a:xfrm>
            <a:off x="616085" y="565906"/>
            <a:ext cx="2901756"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地址的指派范围</a:t>
            </a:r>
          </a:p>
        </p:txBody>
      </p:sp>
      <p:sp>
        <p:nvSpPr>
          <p:cNvPr id="2" name="矩形 1"/>
          <p:cNvSpPr/>
          <p:nvPr/>
        </p:nvSpPr>
        <p:spPr>
          <a:xfrm>
            <a:off x="267008" y="2705418"/>
            <a:ext cx="8609983" cy="1631216"/>
          </a:xfrm>
          <a:prstGeom prst="rect">
            <a:avLst/>
          </a:prstGeom>
        </p:spPr>
        <p:style>
          <a:lnRef idx="1">
            <a:schemeClr val="accent1"/>
          </a:lnRef>
          <a:fillRef idx="2">
            <a:schemeClr val="accent1"/>
          </a:fillRef>
          <a:effectRef idx="1">
            <a:schemeClr val="accent1"/>
          </a:effectRef>
          <a:fontRef idx="minor">
            <a:schemeClr val="dk1"/>
          </a:fontRef>
        </p:style>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注意：</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类网络地址中， 网络号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 </a:t>
            </a:r>
            <a:r>
              <a:rPr lang="en-US" altLang="zh-CN" sz="1400" b="1" dirty="0">
                <a:latin typeface="微软雅黑" panose="020B0503020204020204" pitchFamily="34" charset="-122"/>
                <a:ea typeface="微软雅黑" panose="020B0503020204020204" pitchFamily="34" charset="-122"/>
              </a:rPr>
              <a:t>127 </a:t>
            </a:r>
            <a:r>
              <a:rPr lang="zh-CN" altLang="en-US" sz="1400" b="1" dirty="0">
                <a:latin typeface="微软雅黑" panose="020B0503020204020204" pitchFamily="34" charset="-122"/>
                <a:ea typeface="微软雅黑" panose="020B0503020204020204" pitchFamily="34" charset="-122"/>
              </a:rPr>
              <a:t>是保留地址，不指派。</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表示“本网络”，</a:t>
            </a:r>
            <a:r>
              <a:rPr lang="en-US" altLang="zh-CN" sz="1400" b="1" dirty="0">
                <a:latin typeface="微软雅黑" panose="020B0503020204020204" pitchFamily="34" charset="-122"/>
                <a:ea typeface="微软雅黑" panose="020B0503020204020204" pitchFamily="34" charset="-122"/>
              </a:rPr>
              <a:t>127 </a:t>
            </a:r>
            <a:r>
              <a:rPr lang="zh-CN" altLang="en-US" sz="1400" b="1" dirty="0">
                <a:latin typeface="微软雅黑" panose="020B0503020204020204" pitchFamily="34" charset="-122"/>
                <a:ea typeface="微软雅黑" panose="020B0503020204020204" pitchFamily="34" charset="-122"/>
              </a:rPr>
              <a:t>保留作为本地环回测试地址。</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类网络地址中，网络号 </a:t>
            </a:r>
            <a:r>
              <a:rPr lang="en-US" altLang="zh-CN" sz="1400" b="1" dirty="0">
                <a:latin typeface="微软雅黑" panose="020B0503020204020204" pitchFamily="34" charset="-122"/>
                <a:ea typeface="微软雅黑" panose="020B0503020204020204" pitchFamily="34" charset="-122"/>
              </a:rPr>
              <a:t>128.0  </a:t>
            </a:r>
            <a:r>
              <a:rPr lang="zh-CN" altLang="en-US" sz="1400" b="1" dirty="0">
                <a:latin typeface="微软雅黑" panose="020B0503020204020204" pitchFamily="34" charset="-122"/>
                <a:ea typeface="微软雅黑" panose="020B0503020204020204" pitchFamily="34" charset="-122"/>
              </a:rPr>
              <a:t>是被 </a:t>
            </a:r>
            <a:r>
              <a:rPr lang="en-US" altLang="zh-CN" sz="1400" b="1" dirty="0">
                <a:latin typeface="微软雅黑" panose="020B0503020204020204" pitchFamily="34" charset="-122"/>
                <a:ea typeface="微软雅黑" panose="020B0503020204020204" pitchFamily="34" charset="-122"/>
              </a:rPr>
              <a:t>IANA </a:t>
            </a:r>
            <a:r>
              <a:rPr lang="zh-CN" altLang="en-US" sz="1400" b="1" dirty="0">
                <a:latin typeface="微软雅黑" panose="020B0503020204020204" pitchFamily="34" charset="-122"/>
                <a:ea typeface="微软雅黑" panose="020B0503020204020204" pitchFamily="34" charset="-122"/>
              </a:rPr>
              <a:t>保留的，不指派。采用无分类编址（</a:t>
            </a:r>
            <a:r>
              <a:rPr lang="en-US" altLang="zh-CN" sz="1400" b="1" dirty="0">
                <a:latin typeface="微软雅黑" panose="020B0503020204020204" pitchFamily="34" charset="-122"/>
                <a:ea typeface="微软雅黑" panose="020B0503020204020204" pitchFamily="34" charset="-122"/>
              </a:rPr>
              <a:t>CIDR</a:t>
            </a:r>
            <a:r>
              <a:rPr lang="zh-CN" altLang="en-US" sz="1400" b="1" dirty="0">
                <a:latin typeface="微软雅黑" panose="020B0503020204020204" pitchFamily="34" charset="-122"/>
                <a:ea typeface="微软雅黑" panose="020B0503020204020204" pitchFamily="34" charset="-122"/>
              </a:rPr>
              <a:t>）时可以指派。</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C </a:t>
            </a:r>
            <a:r>
              <a:rPr lang="zh-CN" altLang="en-US" sz="1400" b="1" dirty="0">
                <a:latin typeface="微软雅黑" panose="020B0503020204020204" pitchFamily="34" charset="-122"/>
                <a:ea typeface="微软雅黑" panose="020B0503020204020204" pitchFamily="34" charset="-122"/>
              </a:rPr>
              <a:t>类网络地址中，网络号 </a:t>
            </a:r>
            <a:r>
              <a:rPr lang="en-US" altLang="zh-CN" sz="1400" b="1" dirty="0">
                <a:latin typeface="微软雅黑" panose="020B0503020204020204" pitchFamily="34" charset="-122"/>
                <a:ea typeface="微软雅黑" panose="020B0503020204020204" pitchFamily="34" charset="-122"/>
              </a:rPr>
              <a:t>192.0.0 </a:t>
            </a:r>
            <a:r>
              <a:rPr lang="zh-CN" altLang="en-US" sz="1400" b="1" dirty="0">
                <a:latin typeface="微软雅黑" panose="020B0503020204020204" pitchFamily="34" charset="-122"/>
                <a:ea typeface="微软雅黑" panose="020B0503020204020204" pitchFamily="34" charset="-122"/>
              </a:rPr>
              <a:t>是被 </a:t>
            </a:r>
            <a:r>
              <a:rPr lang="en-US" altLang="zh-CN" sz="1400" b="1" dirty="0">
                <a:latin typeface="微软雅黑" panose="020B0503020204020204" pitchFamily="34" charset="-122"/>
                <a:ea typeface="微软雅黑" panose="020B0503020204020204" pitchFamily="34" charset="-122"/>
              </a:rPr>
              <a:t>IANA </a:t>
            </a:r>
            <a:r>
              <a:rPr lang="zh-CN" altLang="en-US" sz="1400" b="1" dirty="0">
                <a:latin typeface="微软雅黑" panose="020B0503020204020204" pitchFamily="34" charset="-122"/>
                <a:ea typeface="微软雅黑" panose="020B0503020204020204" pitchFamily="34" charset="-122"/>
              </a:rPr>
              <a:t>保留的，不指派。采用无分类编址（</a:t>
            </a:r>
            <a:r>
              <a:rPr lang="en-US" altLang="zh-CN" sz="1400" b="1" dirty="0">
                <a:latin typeface="微软雅黑" panose="020B0503020204020204" pitchFamily="34" charset="-122"/>
                <a:ea typeface="微软雅黑" panose="020B0503020204020204" pitchFamily="34" charset="-122"/>
              </a:rPr>
              <a:t>CIDR</a:t>
            </a:r>
            <a:r>
              <a:rPr lang="zh-CN" altLang="en-US" sz="1400" b="1" dirty="0">
                <a:latin typeface="微软雅黑" panose="020B0503020204020204" pitchFamily="34" charset="-122"/>
                <a:ea typeface="微软雅黑" panose="020B0503020204020204" pitchFamily="34" charset="-122"/>
              </a:rPr>
              <a:t>）时可以指派。</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指派主机号时，要</a:t>
            </a:r>
            <a:r>
              <a:rPr lang="zh-CN" altLang="en-US" sz="1400" b="1" dirty="0">
                <a:solidFill>
                  <a:srgbClr val="C00000"/>
                </a:solidFill>
                <a:latin typeface="微软雅黑" panose="020B0503020204020204" pitchFamily="34" charset="-122"/>
                <a:ea typeface="微软雅黑" panose="020B0503020204020204" pitchFamily="34" charset="-122"/>
              </a:rPr>
              <a:t>扣除</a:t>
            </a:r>
            <a:r>
              <a:rPr lang="zh-CN" altLang="en-US" sz="1400" b="1" dirty="0">
                <a:latin typeface="微软雅黑" panose="020B0503020204020204" pitchFamily="34" charset="-122"/>
                <a:ea typeface="微软雅黑" panose="020B0503020204020204" pitchFamily="34" charset="-122"/>
              </a:rPr>
              <a:t>全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和全 </a:t>
            </a: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。全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和全 </a:t>
            </a: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有特殊含义和用途。</a:t>
            </a:r>
          </a:p>
        </p:txBody>
      </p:sp>
    </p:spTree>
    <p:extLst>
      <p:ext uri="{BB962C8B-B14F-4D97-AF65-F5344CB8AC3E}">
        <p14:creationId xmlns:p14="http://schemas.microsoft.com/office/powerpoint/2010/main" val="2666192992"/>
      </p:ext>
    </p:extLst>
  </p:cSld>
  <p:clrMapOvr>
    <a:masterClrMapping/>
  </p:clrMapOvr>
  <p:transition spd="slow" advTm="2000"/>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p:cNvSpPr>
            <a:spLocks noChangeArrowheads="1"/>
          </p:cNvSpPr>
          <p:nvPr/>
        </p:nvSpPr>
        <p:spPr bwMode="auto">
          <a:xfrm>
            <a:off x="545144" y="619202"/>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矩形 8"/>
          <p:cNvSpPr/>
          <p:nvPr/>
        </p:nvSpPr>
        <p:spPr>
          <a:xfrm>
            <a:off x="616085" y="578018"/>
            <a:ext cx="3414717" cy="400110"/>
          </a:xfrm>
          <a:prstGeom prst="rect">
            <a:avLst/>
          </a:prstGeom>
        </p:spPr>
        <p:txBody>
          <a:bodyPr wrap="none">
            <a:spAutoFit/>
          </a:bodyPr>
          <a:lstStyle/>
          <a:p>
            <a:r>
              <a:rPr lang="zh-CN" altLang="en-US" sz="2000" b="1" dirty="0">
                <a:latin typeface="微软雅黑" pitchFamily="34" charset="-122"/>
                <a:ea typeface="微软雅黑" pitchFamily="34" charset="-122"/>
              </a:rPr>
              <a:t>一般不使用的特殊的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p:txBody>
      </p:sp>
      <p:graphicFrame>
        <p:nvGraphicFramePr>
          <p:cNvPr id="11" name="内容占位符 2"/>
          <p:cNvGraphicFramePr>
            <a:graphicFrameLocks/>
          </p:cNvGraphicFramePr>
          <p:nvPr>
            <p:extLst>
              <p:ext uri="{D42A27DB-BD31-4B8C-83A1-F6EECF244321}">
                <p14:modId xmlns:p14="http://schemas.microsoft.com/office/powerpoint/2010/main" val="89799564"/>
              </p:ext>
            </p:extLst>
          </p:nvPr>
        </p:nvGraphicFramePr>
        <p:xfrm>
          <a:off x="545144" y="1029785"/>
          <a:ext cx="8053712" cy="3191234"/>
        </p:xfrm>
        <a:graphic>
          <a:graphicData uri="http://schemas.openxmlformats.org/drawingml/2006/table">
            <a:tbl>
              <a:tblPr>
                <a:tableStyleId>{5C22544A-7EE6-4342-B048-85BDC9FD1C3A}</a:tableStyleId>
              </a:tblPr>
              <a:tblGrid>
                <a:gridCol w="809203">
                  <a:extLst>
                    <a:ext uri="{9D8B030D-6E8A-4147-A177-3AD203B41FA5}">
                      <a16:colId xmlns:a16="http://schemas.microsoft.com/office/drawing/2014/main" val="20000"/>
                    </a:ext>
                  </a:extLst>
                </a:gridCol>
                <a:gridCol w="1362974">
                  <a:extLst>
                    <a:ext uri="{9D8B030D-6E8A-4147-A177-3AD203B41FA5}">
                      <a16:colId xmlns:a16="http://schemas.microsoft.com/office/drawing/2014/main" val="20001"/>
                    </a:ext>
                  </a:extLst>
                </a:gridCol>
                <a:gridCol w="847915">
                  <a:extLst>
                    <a:ext uri="{9D8B030D-6E8A-4147-A177-3AD203B41FA5}">
                      <a16:colId xmlns:a16="http://schemas.microsoft.com/office/drawing/2014/main" val="20002"/>
                    </a:ext>
                  </a:extLst>
                </a:gridCol>
                <a:gridCol w="951346">
                  <a:extLst>
                    <a:ext uri="{9D8B030D-6E8A-4147-A177-3AD203B41FA5}">
                      <a16:colId xmlns:a16="http://schemas.microsoft.com/office/drawing/2014/main" val="20003"/>
                    </a:ext>
                  </a:extLst>
                </a:gridCol>
                <a:gridCol w="4082274">
                  <a:extLst>
                    <a:ext uri="{9D8B030D-6E8A-4147-A177-3AD203B41FA5}">
                      <a16:colId xmlns:a16="http://schemas.microsoft.com/office/drawing/2014/main" val="20004"/>
                    </a:ext>
                  </a:extLst>
                </a:gridCol>
              </a:tblGrid>
              <a:tr h="689878">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主机号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源地址</a:t>
                      </a:r>
                      <a:endParaRPr lang="en-US" altLang="zh-CN" sz="1600" b="1" kern="1200" dirty="0">
                        <a:solidFill>
                          <a:schemeClr val="bg1"/>
                        </a:solidFill>
                        <a:effectLst/>
                        <a:latin typeface="微软雅黑" pitchFamily="34" charset="-122"/>
                        <a:ea typeface="微软雅黑" pitchFamily="34" charset="-122"/>
                        <a:cs typeface="+mn-cs"/>
                      </a:endParaRPr>
                    </a:p>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使用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目的地址</a:t>
                      </a:r>
                      <a:endParaRPr lang="en-US" altLang="zh-CN" sz="1600" b="1" kern="1200" dirty="0">
                        <a:solidFill>
                          <a:schemeClr val="bg1"/>
                        </a:solidFill>
                        <a:effectLst/>
                        <a:latin typeface="微软雅黑" pitchFamily="34" charset="-122"/>
                        <a:ea typeface="微软雅黑" pitchFamily="34" charset="-122"/>
                        <a:cs typeface="+mn-cs"/>
                      </a:endParaRPr>
                    </a:p>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使用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tabLst>
                          <a:tab pos="2637155" algn="ctr"/>
                          <a:tab pos="5274310" algn="r"/>
                          <a:tab pos="266700" algn="l"/>
                        </a:tabLst>
                      </a:pPr>
                      <a:r>
                        <a:rPr lang="zh-CN" sz="1600" b="1" kern="1200" dirty="0">
                          <a:solidFill>
                            <a:schemeClr val="bg1"/>
                          </a:solidFill>
                          <a:effectLst/>
                          <a:latin typeface="微软雅黑" pitchFamily="34" charset="-122"/>
                          <a:ea typeface="微软雅黑" pitchFamily="34" charset="-122"/>
                          <a:cs typeface="+mn-cs"/>
                        </a:rPr>
                        <a:t>代表的意思</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523399">
                <a:tc>
                  <a:txBody>
                    <a:bodyPr/>
                    <a:lstStyle/>
                    <a:p>
                      <a:pPr marL="0" algn="ctr" defTabSz="914400" rtl="0" eaLnBrk="1" latinLnBrk="0" hangingPunct="1">
                        <a:lnSpc>
                          <a:spcPct val="100000"/>
                        </a:lnSpc>
                        <a:spcAft>
                          <a:spcPts val="0"/>
                        </a:spcAft>
                      </a:pPr>
                      <a:r>
                        <a:rPr lang="en-US" sz="1600" b="1" kern="1200" dirty="0">
                          <a:solidFill>
                            <a:schemeClr val="tx1"/>
                          </a:solidFill>
                          <a:effectLst/>
                          <a:latin typeface="微软雅黑" pitchFamily="34" charset="-122"/>
                          <a:ea typeface="微软雅黑" pitchFamily="34" charset="-122"/>
                          <a:cs typeface="+mn-cs"/>
                        </a:rPr>
                        <a:t>0</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en-US" sz="1600" b="1" kern="1200" dirty="0">
                          <a:solidFill>
                            <a:schemeClr val="tx1"/>
                          </a:solidFill>
                          <a:effectLst/>
                          <a:latin typeface="微软雅黑" pitchFamily="34" charset="-122"/>
                          <a:ea typeface="微软雅黑" pitchFamily="34" charset="-122"/>
                          <a:cs typeface="+mn-cs"/>
                        </a:rPr>
                        <a:t>0</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在本网络上的本主机</a:t>
                      </a:r>
                      <a:r>
                        <a:rPr lang="zh-CN" sz="1400" b="1" kern="1200" dirty="0">
                          <a:solidFill>
                            <a:schemeClr val="tx1"/>
                          </a:solidFill>
                          <a:effectLst/>
                          <a:latin typeface="微软雅黑" pitchFamily="34" charset="-122"/>
                          <a:ea typeface="微软雅黑" pitchFamily="34" charset="-122"/>
                          <a:cs typeface="+mn-cs"/>
                        </a:rPr>
                        <a:t>（见</a:t>
                      </a:r>
                      <a:r>
                        <a:rPr lang="en-US" altLang="zh-CN" sz="1400" b="1" kern="1200" dirty="0">
                          <a:solidFill>
                            <a:schemeClr val="tx1"/>
                          </a:solidFill>
                          <a:effectLst/>
                          <a:latin typeface="微软雅黑" pitchFamily="34" charset="-122"/>
                          <a:ea typeface="微软雅黑" pitchFamily="34" charset="-122"/>
                          <a:cs typeface="+mn-cs"/>
                        </a:rPr>
                        <a:t> </a:t>
                      </a:r>
                      <a:r>
                        <a:rPr lang="en-US" sz="1400" b="1" kern="1200" dirty="0">
                          <a:solidFill>
                            <a:schemeClr val="tx1"/>
                          </a:solidFill>
                          <a:effectLst/>
                          <a:latin typeface="微软雅黑" pitchFamily="34" charset="-122"/>
                          <a:ea typeface="微软雅黑" pitchFamily="34" charset="-122"/>
                          <a:cs typeface="+mn-cs"/>
                        </a:rPr>
                        <a:t>6.6 </a:t>
                      </a:r>
                      <a:r>
                        <a:rPr lang="zh-CN" sz="1400" b="1" kern="1200" dirty="0">
                          <a:solidFill>
                            <a:schemeClr val="tx1"/>
                          </a:solidFill>
                          <a:effectLst/>
                          <a:latin typeface="微软雅黑" pitchFamily="34" charset="-122"/>
                          <a:ea typeface="微软雅黑" pitchFamily="34" charset="-122"/>
                          <a:cs typeface="+mn-cs"/>
                        </a:rPr>
                        <a:t>节</a:t>
                      </a:r>
                      <a:r>
                        <a:rPr lang="en-US" altLang="zh-CN" sz="1400" b="1" kern="1200" dirty="0">
                          <a:solidFill>
                            <a:schemeClr val="tx1"/>
                          </a:solidFill>
                          <a:effectLst/>
                          <a:latin typeface="微软雅黑" pitchFamily="34" charset="-122"/>
                          <a:ea typeface="微软雅黑" pitchFamily="34" charset="-122"/>
                          <a:cs typeface="+mn-cs"/>
                        </a:rPr>
                        <a:t> </a:t>
                      </a:r>
                      <a:r>
                        <a:rPr lang="en-US" sz="1400" b="1" kern="1200" dirty="0">
                          <a:solidFill>
                            <a:schemeClr val="tx1"/>
                          </a:solidFill>
                          <a:effectLst/>
                          <a:latin typeface="微软雅黑" pitchFamily="34" charset="-122"/>
                          <a:ea typeface="微软雅黑" pitchFamily="34" charset="-122"/>
                          <a:cs typeface="+mn-cs"/>
                        </a:rPr>
                        <a:t>DHCP </a:t>
                      </a:r>
                      <a:r>
                        <a:rPr lang="zh-CN" sz="1400" b="1" kern="1200" dirty="0">
                          <a:solidFill>
                            <a:schemeClr val="tx1"/>
                          </a:solidFill>
                          <a:effectLst/>
                          <a:latin typeface="微软雅黑" pitchFamily="34" charset="-122"/>
                          <a:ea typeface="微软雅黑" pitchFamily="34" charset="-122"/>
                          <a:cs typeface="+mn-cs"/>
                        </a:rPr>
                        <a:t>协议）</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407760">
                <a:tc>
                  <a:txBody>
                    <a:bodyPr/>
                    <a:lstStyle/>
                    <a:p>
                      <a:pPr marL="0" algn="ctr" defTabSz="914400" rtl="0" eaLnBrk="1" latinLnBrk="0" hangingPunct="1">
                        <a:lnSpc>
                          <a:spcPct val="100000"/>
                        </a:lnSpc>
                        <a:spcAft>
                          <a:spcPts val="0"/>
                        </a:spcAft>
                      </a:pPr>
                      <a:r>
                        <a:rPr lang="en-US" sz="1600" b="1" kern="1200">
                          <a:solidFill>
                            <a:schemeClr val="tx1"/>
                          </a:solidFill>
                          <a:effectLst/>
                          <a:latin typeface="微软雅黑" pitchFamily="34" charset="-122"/>
                          <a:ea typeface="微软雅黑" pitchFamily="34" charset="-122"/>
                          <a:cs typeface="+mn-cs"/>
                        </a:rPr>
                        <a:t>0</a:t>
                      </a:r>
                      <a:endParaRPr lang="zh-CN" sz="1600" b="1" kern="120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en-US" altLang="zh-CN" sz="1600" b="1" kern="1200" dirty="0">
                          <a:solidFill>
                            <a:schemeClr val="tx1"/>
                          </a:solidFill>
                          <a:effectLst/>
                          <a:latin typeface="微软雅黑" pitchFamily="34" charset="-122"/>
                          <a:ea typeface="微软雅黑" pitchFamily="34" charset="-122"/>
                          <a:cs typeface="+mn-cs"/>
                        </a:rPr>
                        <a:t>X</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l" defTabSz="914400" rtl="0" eaLnBrk="1" latinLnBrk="0" hangingPunct="1">
                        <a:lnSpc>
                          <a:spcPct val="100000"/>
                        </a:lnSpc>
                        <a:spcAft>
                          <a:spcPts val="0"/>
                        </a:spcAft>
                      </a:pPr>
                      <a:r>
                        <a:rPr lang="zh-CN" altLang="en-US" sz="1600" b="1" kern="1200" dirty="0">
                          <a:solidFill>
                            <a:schemeClr val="tx1"/>
                          </a:solidFill>
                          <a:effectLst/>
                          <a:latin typeface="微软雅黑" pitchFamily="34" charset="-122"/>
                          <a:ea typeface="微软雅黑" pitchFamily="34" charset="-122"/>
                          <a:cs typeface="+mn-cs"/>
                        </a:rPr>
                        <a:t>在本网络上主机号为 </a:t>
                      </a:r>
                      <a:r>
                        <a:rPr lang="en-US" altLang="zh-CN" sz="1600" b="1" kern="1200" dirty="0">
                          <a:solidFill>
                            <a:schemeClr val="tx1"/>
                          </a:solidFill>
                          <a:effectLst/>
                          <a:latin typeface="微软雅黑" pitchFamily="34" charset="-122"/>
                          <a:ea typeface="微软雅黑" pitchFamily="34" charset="-122"/>
                          <a:cs typeface="+mn-cs"/>
                        </a:rPr>
                        <a:t>X </a:t>
                      </a:r>
                      <a:r>
                        <a:rPr lang="zh-CN" altLang="en-US" sz="1600" b="1" kern="1200" dirty="0">
                          <a:solidFill>
                            <a:schemeClr val="tx1"/>
                          </a:solidFill>
                          <a:effectLst/>
                          <a:latin typeface="微软雅黑" pitchFamily="34" charset="-122"/>
                          <a:ea typeface="微软雅黑" pitchFamily="34" charset="-122"/>
                          <a:cs typeface="+mn-cs"/>
                        </a:rPr>
                        <a:t>的主机</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523399">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只在本网络上进行广播</a:t>
                      </a:r>
                      <a:r>
                        <a:rPr lang="zh-CN" sz="1400" b="1" kern="1200" dirty="0">
                          <a:solidFill>
                            <a:schemeClr val="tx1"/>
                          </a:solidFill>
                          <a:effectLst/>
                          <a:latin typeface="微软雅黑" pitchFamily="34" charset="-122"/>
                          <a:ea typeface="微软雅黑" pitchFamily="34" charset="-122"/>
                          <a:cs typeface="+mn-cs"/>
                        </a:rPr>
                        <a:t>（各路由器均不转发）</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523399">
                <a:tc>
                  <a:txBody>
                    <a:bodyPr/>
                    <a:lstStyle/>
                    <a:p>
                      <a:pPr marL="0" algn="ctr" defTabSz="914400" rtl="0" eaLnBrk="1" latinLnBrk="0" hangingPunct="1">
                        <a:lnSpc>
                          <a:spcPct val="100000"/>
                        </a:lnSpc>
                        <a:spcAft>
                          <a:spcPts val="0"/>
                        </a:spcAft>
                      </a:pPr>
                      <a:r>
                        <a:rPr lang="en-US" altLang="zh-CN" sz="1600" b="1" kern="1200" dirty="0">
                          <a:solidFill>
                            <a:schemeClr val="tx1"/>
                          </a:solidFill>
                          <a:effectLst/>
                          <a:latin typeface="微软雅黑" pitchFamily="34" charset="-122"/>
                          <a:ea typeface="微软雅黑" pitchFamily="34" charset="-122"/>
                          <a:cs typeface="+mn-cs"/>
                        </a:rPr>
                        <a:t>Y</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对</a:t>
                      </a:r>
                      <a:r>
                        <a:rPr lang="zh-CN" altLang="en-US" sz="1600" b="1" kern="1200" dirty="0">
                          <a:solidFill>
                            <a:schemeClr val="tx1"/>
                          </a:solidFill>
                          <a:effectLst/>
                          <a:latin typeface="微软雅黑" pitchFamily="34" charset="-122"/>
                          <a:ea typeface="微软雅黑" pitchFamily="34" charset="-122"/>
                          <a:cs typeface="+mn-cs"/>
                        </a:rPr>
                        <a:t>网络号为 </a:t>
                      </a:r>
                      <a:r>
                        <a:rPr lang="en-US" altLang="zh-CN" sz="1600" b="1" kern="1200" dirty="0">
                          <a:solidFill>
                            <a:schemeClr val="tx1"/>
                          </a:solidFill>
                          <a:effectLst/>
                          <a:latin typeface="微软雅黑" pitchFamily="34" charset="-122"/>
                          <a:ea typeface="微软雅黑" pitchFamily="34" charset="-122"/>
                          <a:cs typeface="+mn-cs"/>
                        </a:rPr>
                        <a:t>Y </a:t>
                      </a:r>
                      <a:r>
                        <a:rPr lang="zh-CN" altLang="en-US" sz="1600" b="1" kern="1200" dirty="0">
                          <a:solidFill>
                            <a:schemeClr val="tx1"/>
                          </a:solidFill>
                          <a:effectLst/>
                          <a:latin typeface="微软雅黑" pitchFamily="34" charset="-122"/>
                          <a:ea typeface="微软雅黑" pitchFamily="34" charset="-122"/>
                          <a:cs typeface="+mn-cs"/>
                        </a:rPr>
                        <a:t>的网络上</a:t>
                      </a:r>
                      <a:r>
                        <a:rPr lang="zh-CN" sz="1600" b="1" kern="1200" dirty="0">
                          <a:solidFill>
                            <a:schemeClr val="tx1"/>
                          </a:solidFill>
                          <a:effectLst/>
                          <a:latin typeface="微软雅黑" pitchFamily="34" charset="-122"/>
                          <a:ea typeface="微软雅黑" pitchFamily="34" charset="-122"/>
                          <a:cs typeface="+mn-cs"/>
                        </a:rPr>
                        <a:t>的所有主机进行广播</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523399">
                <a:tc>
                  <a:txBody>
                    <a:bodyPr/>
                    <a:lstStyle/>
                    <a:p>
                      <a:pPr marL="0" algn="ctr" defTabSz="914400" rtl="0" eaLnBrk="1" latinLnBrk="0" hangingPunct="1">
                        <a:lnSpc>
                          <a:spcPct val="100000"/>
                        </a:lnSpc>
                        <a:spcAft>
                          <a:spcPts val="0"/>
                        </a:spcAft>
                      </a:pPr>
                      <a:r>
                        <a:rPr lang="en-US" sz="1600" b="1" kern="1200">
                          <a:solidFill>
                            <a:schemeClr val="tx1"/>
                          </a:solidFill>
                          <a:effectLst/>
                          <a:latin typeface="微软雅黑" pitchFamily="34" charset="-122"/>
                          <a:ea typeface="微软雅黑" pitchFamily="34" charset="-122"/>
                          <a:cs typeface="+mn-cs"/>
                        </a:rPr>
                        <a:t>127</a:t>
                      </a:r>
                      <a:endParaRPr lang="zh-CN" sz="1600" b="1" kern="120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非全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0 </a:t>
                      </a:r>
                      <a:r>
                        <a:rPr lang="zh-CN" sz="1600" b="1" kern="1200" dirty="0">
                          <a:solidFill>
                            <a:schemeClr val="tx1"/>
                          </a:solidFill>
                          <a:effectLst/>
                          <a:latin typeface="微软雅黑" pitchFamily="34" charset="-122"/>
                          <a:ea typeface="微软雅黑" pitchFamily="34" charset="-122"/>
                          <a:cs typeface="+mn-cs"/>
                        </a:rPr>
                        <a:t>或全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 </a:t>
                      </a:r>
                      <a:r>
                        <a:rPr lang="zh-CN" sz="1600" b="1" kern="1200" dirty="0">
                          <a:solidFill>
                            <a:schemeClr val="tx1"/>
                          </a:solidFill>
                          <a:effectLst/>
                          <a:latin typeface="微软雅黑" pitchFamily="34" charset="-122"/>
                          <a:ea typeface="微软雅黑" pitchFamily="34" charset="-122"/>
                          <a:cs typeface="+mn-cs"/>
                        </a:rPr>
                        <a:t>的任何数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altLang="zh-CN" sz="1600" b="1" kern="1200" dirty="0">
                          <a:solidFill>
                            <a:schemeClr val="tx1"/>
                          </a:solidFill>
                          <a:effectLst/>
                          <a:latin typeface="微软雅黑" pitchFamily="34" charset="-122"/>
                          <a:ea typeface="微软雅黑" pitchFamily="34" charset="-122"/>
                          <a:cs typeface="+mn-cs"/>
                        </a:rPr>
                        <a:t>用于本地软件环回测试</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873998" y="581433"/>
            <a:ext cx="341471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分类的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地址的优点和缺点</a:t>
            </a:r>
          </a:p>
        </p:txBody>
      </p:sp>
      <p:graphicFrame>
        <p:nvGraphicFramePr>
          <p:cNvPr id="4" name="图示 3"/>
          <p:cNvGraphicFramePr/>
          <p:nvPr>
            <p:extLst>
              <p:ext uri="{D42A27DB-BD31-4B8C-83A1-F6EECF244321}">
                <p14:modId xmlns:p14="http://schemas.microsoft.com/office/powerpoint/2010/main" val="2237446689"/>
              </p:ext>
            </p:extLst>
          </p:nvPr>
        </p:nvGraphicFramePr>
        <p:xfrm>
          <a:off x="1187570" y="1134972"/>
          <a:ext cx="6817744" cy="27986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135563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33255" y="581433"/>
            <a:ext cx="24961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无分类编址 </a:t>
            </a:r>
            <a:r>
              <a:rPr lang="en-US" altLang="zh-CN" sz="2000" b="1" dirty="0">
                <a:solidFill>
                  <a:schemeClr val="bg1"/>
                </a:solidFill>
                <a:latin typeface="微软雅黑" pitchFamily="34" charset="-122"/>
                <a:ea typeface="微软雅黑" pitchFamily="34" charset="-122"/>
              </a:rPr>
              <a:t>CIDR</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63778"/>
            <a:ext cx="8184960"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CIDR</a:t>
            </a:r>
            <a:r>
              <a:rPr lang="en-US" altLang="zh-CN" sz="2000" b="1" dirty="0">
                <a:latin typeface="微软雅黑" pitchFamily="34" charset="-122"/>
                <a:ea typeface="微软雅黑" pitchFamily="34" charset="-122"/>
              </a:rPr>
              <a:t> (Classless Inter-Domain Routing) </a:t>
            </a:r>
            <a:r>
              <a:rPr lang="zh-CN" altLang="en-US" sz="2000" b="1" dirty="0">
                <a:latin typeface="微软雅黑" pitchFamily="34" charset="-122"/>
                <a:ea typeface="微软雅黑" pitchFamily="34" charset="-122"/>
              </a:rPr>
              <a:t>：</a:t>
            </a:r>
            <a:r>
              <a:rPr lang="zh-CN" altLang="en-US" sz="2000" b="1" dirty="0">
                <a:solidFill>
                  <a:srgbClr val="C00000"/>
                </a:solidFill>
                <a:latin typeface="微软雅黑" pitchFamily="34" charset="-122"/>
                <a:ea typeface="微软雅黑" pitchFamily="34" charset="-122"/>
              </a:rPr>
              <a:t>无分类域间路由选择。</a:t>
            </a:r>
            <a:endParaRPr lang="en-US" altLang="zh-CN" sz="2000" b="1" dirty="0">
              <a:solidFill>
                <a:srgbClr val="C00000"/>
              </a:solidFill>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消除</a:t>
            </a:r>
            <a:r>
              <a:rPr lang="zh-CN" altLang="en-US" sz="2000" b="1" dirty="0">
                <a:latin typeface="微软雅黑" pitchFamily="34" charset="-122"/>
                <a:ea typeface="微软雅黑" pitchFamily="34" charset="-122"/>
              </a:rPr>
              <a:t>了传统的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类、</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类和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类地址以及划分子网的概念，可以更加有效地分配 </a:t>
            </a:r>
            <a:r>
              <a:rPr lang="en-US" altLang="zh-CN" sz="2000" b="1" dirty="0">
                <a:latin typeface="微软雅黑" pitchFamily="34" charset="-122"/>
                <a:ea typeface="微软雅黑" pitchFamily="34" charset="-122"/>
              </a:rPr>
              <a:t>IPv4 </a:t>
            </a:r>
            <a:r>
              <a:rPr lang="zh-CN" altLang="en-US" sz="2000" b="1" dirty="0">
                <a:latin typeface="微软雅黑" pitchFamily="34" charset="-122"/>
                <a:ea typeface="微软雅黑" pitchFamily="34" charset="-122"/>
              </a:rPr>
              <a:t>的地址空间，</a:t>
            </a:r>
            <a:r>
              <a:rPr lang="zh-CN" altLang="en-US" sz="2000" b="1" dirty="0">
                <a:solidFill>
                  <a:srgbClr val="C00000"/>
                </a:solidFill>
                <a:latin typeface="微软雅黑" pitchFamily="34" charset="-122"/>
                <a:ea typeface="微软雅黑" pitchFamily="34" charset="-122"/>
              </a:rPr>
              <a:t>但无法解决 </a:t>
            </a: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地址枯竭的问题。</a:t>
            </a: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要点：</a:t>
            </a:r>
            <a:endParaRPr lang="en-US" altLang="zh-CN" sz="2000" b="1" dirty="0">
              <a:solidFill>
                <a:srgbClr val="0000FF"/>
              </a:solidFill>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网络前缀</a:t>
            </a:r>
            <a:endParaRPr lang="en-US" altLang="zh-CN" sz="2000" b="1" dirty="0">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地址块</a:t>
            </a:r>
            <a:endParaRPr lang="en-US" altLang="zh-CN" sz="2000" b="1" dirty="0">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(3) </a:t>
            </a:r>
            <a:r>
              <a:rPr lang="zh-CN" altLang="en-US" sz="2000" b="1" dirty="0">
                <a:latin typeface="微软雅黑" pitchFamily="34" charset="-122"/>
                <a:ea typeface="微软雅黑" pitchFamily="34" charset="-122"/>
              </a:rPr>
              <a:t>地址掩码</a:t>
            </a:r>
          </a:p>
        </p:txBody>
      </p:sp>
    </p:spTree>
    <p:extLst>
      <p:ext uri="{BB962C8B-B14F-4D97-AF65-F5344CB8AC3E}">
        <p14:creationId xmlns:p14="http://schemas.microsoft.com/office/powerpoint/2010/main" val="24749921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758853" y="581433"/>
            <a:ext cx="16450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网络前缀</a:t>
            </a:r>
          </a:p>
        </p:txBody>
      </p:sp>
      <p:grpSp>
        <p:nvGrpSpPr>
          <p:cNvPr id="27" name="组合 26"/>
          <p:cNvGrpSpPr/>
          <p:nvPr/>
        </p:nvGrpSpPr>
        <p:grpSpPr>
          <a:xfrm>
            <a:off x="467270" y="1108276"/>
            <a:ext cx="7538042" cy="759182"/>
            <a:chOff x="199852" y="1194536"/>
            <a:chExt cx="7538042" cy="759182"/>
          </a:xfrm>
        </p:grpSpPr>
        <p:sp>
          <p:nvSpPr>
            <p:cNvPr id="9" name="Rectangle 2"/>
            <p:cNvSpPr>
              <a:spLocks noChangeArrowheads="1"/>
            </p:cNvSpPr>
            <p:nvPr/>
          </p:nvSpPr>
          <p:spPr bwMode="auto">
            <a:xfrm>
              <a:off x="3859181" y="1360702"/>
              <a:ext cx="3878713" cy="395038"/>
            </a:xfrm>
            <a:prstGeom prst="rect">
              <a:avLst/>
            </a:prstGeom>
            <a:solidFill>
              <a:srgbClr val="00CCFF"/>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a:t>
              </a:r>
              <a:r>
                <a:rPr lang="zh-CN" altLang="en-US" sz="1600" b="1" kern="0" noProof="0" dirty="0">
                  <a:latin typeface="微软雅黑" pitchFamily="34" charset="-122"/>
                  <a:ea typeface="微软雅黑" pitchFamily="34" charset="-122"/>
                </a:rPr>
                <a:t>前缀</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199852" y="1194536"/>
              <a:ext cx="349807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网络前缀</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757255" y="1865746"/>
            <a:ext cx="7248057" cy="1291692"/>
            <a:chOff x="489837" y="2854700"/>
            <a:chExt cx="7248057" cy="1014478"/>
          </a:xfrm>
        </p:grpSpPr>
        <p:sp>
          <p:nvSpPr>
            <p:cNvPr id="3" name="矩形 2"/>
            <p:cNvSpPr/>
            <p:nvPr/>
          </p:nvSpPr>
          <p:spPr>
            <a:xfrm>
              <a:off x="489837" y="3230391"/>
              <a:ext cx="3168738" cy="314241"/>
            </a:xfrm>
            <a:prstGeom prst="rect">
              <a:avLst/>
            </a:prstGeom>
          </p:spPr>
          <p:txBody>
            <a:bodyPr wrap="square">
              <a:spAutoFit/>
            </a:bodyPr>
            <a:lstStyle/>
            <a:p>
              <a:r>
                <a:rPr lang="zh-CN" altLang="en-US" sz="2000" b="1" dirty="0">
                  <a:solidFill>
                    <a:srgbClr val="C00000"/>
                  </a:solidFill>
                  <a:latin typeface="微软雅黑" panose="020B0503020204020204" pitchFamily="34" charset="-122"/>
                  <a:ea typeface="微软雅黑" panose="020B0503020204020204" pitchFamily="34" charset="-122"/>
                </a:rPr>
                <a:t>网络前缀的位数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endParaRPr lang="en-US" altLang="zh-CN" sz="2000" b="1" dirty="0">
                <a:solidFill>
                  <a:srgbClr val="C00000"/>
                </a:solidFill>
                <a:latin typeface="微软雅黑" panose="020B0503020204020204" pitchFamily="34" charset="-122"/>
                <a:ea typeface="微软雅黑" panose="020B0503020204020204" pitchFamily="34" charset="-122"/>
              </a:endParaRP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网络前缀</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lvl="0" algn="ctr" eaLnBrk="0" hangingPunct="0">
                    <a:defRPr/>
                  </a:pPr>
                  <a:r>
                    <a:rPr lang="en-US" altLang="zh-CN" sz="1400" b="1" kern="0" dirty="0">
                      <a:solidFill>
                        <a:sysClr val="windowText" lastClr="000000"/>
                      </a:solidFill>
                      <a:latin typeface="微软雅黑" pitchFamily="34" charset="-122"/>
                      <a:ea typeface="微软雅黑" pitchFamily="34" charset="-122"/>
                    </a:rPr>
                    <a:t>(network-prefix</a:t>
                  </a:r>
                  <a:r>
                    <a:rPr lang="en-US" altLang="zh-CN" sz="1400" b="1" kern="0" noProof="0" dirty="0">
                      <a:solidFill>
                        <a:sysClr val="windowText" lastClr="000000"/>
                      </a:solidFill>
                      <a:latin typeface="微软雅黑" pitchFamily="34" charset="-122"/>
                      <a:ea typeface="微软雅黑" pitchFamily="34" charset="-122"/>
                    </a:rPr>
                    <a:t>)</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5" name="矩形 4"/>
          <p:cNvSpPr/>
          <p:nvPr/>
        </p:nvSpPr>
        <p:spPr>
          <a:xfrm>
            <a:off x="854016" y="2824768"/>
            <a:ext cx="3055240" cy="1015663"/>
          </a:xfrm>
          <a:prstGeom prst="rect">
            <a:avLst/>
          </a:prstGeom>
          <a:solidFill>
            <a:srgbClr val="FFC000"/>
          </a:solidFill>
          <a:ln>
            <a:noFill/>
          </a:ln>
        </p:spPr>
        <p:style>
          <a:lnRef idx="1">
            <a:schemeClr val="accent1"/>
          </a:lnRef>
          <a:fillRef idx="2">
            <a:schemeClr val="accent1"/>
          </a:fillRef>
          <a:effectRef idx="1">
            <a:schemeClr val="accent1"/>
          </a:effectRef>
          <a:fontRef idx="minor">
            <a:schemeClr val="dk1"/>
          </a:fontRef>
        </p:style>
        <p:txBody>
          <a:bodyPr wrap="square">
            <a:spAutoFit/>
          </a:bodyPr>
          <a:lstStyle/>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最大的区别：</a:t>
            </a:r>
            <a:endParaRPr lang="en-US" altLang="zh-CN" b="1" dirty="0">
              <a:solidFill>
                <a:srgbClr val="000099"/>
              </a:solidFill>
              <a:latin typeface="微软雅黑" panose="020B0503020204020204" pitchFamily="34" charset="-122"/>
              <a:ea typeface="微软雅黑" panose="020B0503020204020204" pitchFamily="34" charset="-122"/>
            </a:endParaRPr>
          </a:p>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前缀的位数 </a:t>
            </a:r>
            <a:r>
              <a:rPr lang="en-US" altLang="zh-CN"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不固定，</a:t>
            </a:r>
            <a:r>
              <a:rPr lang="zh-CN" altLang="en-US" b="1" dirty="0">
                <a:solidFill>
                  <a:srgbClr val="000099"/>
                </a:solidFill>
                <a:latin typeface="微软雅黑" panose="020B0503020204020204" pitchFamily="34" charset="-122"/>
                <a:ea typeface="微软雅黑" panose="020B0503020204020204" pitchFamily="34" charset="-122"/>
              </a:rPr>
              <a:t>可以在 </a:t>
            </a:r>
            <a:r>
              <a:rPr lang="en-US" altLang="zh-CN" b="1" dirty="0">
                <a:solidFill>
                  <a:srgbClr val="000099"/>
                </a:solidFill>
                <a:latin typeface="微软雅黑" panose="020B0503020204020204" pitchFamily="34" charset="-122"/>
                <a:ea typeface="微软雅黑" panose="020B0503020204020204" pitchFamily="34" charset="-122"/>
              </a:rPr>
              <a:t>0 ~</a:t>
            </a:r>
            <a:r>
              <a:rPr lang="zh-CN" altLang="en-US" b="1" dirty="0">
                <a:solidFill>
                  <a:srgbClr val="000099"/>
                </a:solidFill>
                <a:latin typeface="微软雅黑" panose="020B0503020204020204" pitchFamily="34" charset="-122"/>
                <a:ea typeface="微软雅黑" panose="020B0503020204020204" pitchFamily="34" charset="-122"/>
              </a:rPr>
              <a:t> </a:t>
            </a:r>
            <a:r>
              <a:rPr lang="en-US" altLang="zh-CN" b="1" dirty="0">
                <a:solidFill>
                  <a:srgbClr val="000099"/>
                </a:solidFill>
                <a:latin typeface="微软雅黑" panose="020B0503020204020204" pitchFamily="34" charset="-122"/>
                <a:ea typeface="微软雅黑" panose="020B0503020204020204" pitchFamily="34" charset="-122"/>
              </a:rPr>
              <a:t>32 </a:t>
            </a:r>
            <a:r>
              <a:rPr lang="zh-CN" altLang="en-US" b="1" dirty="0">
                <a:solidFill>
                  <a:srgbClr val="000099"/>
                </a:solidFill>
                <a:latin typeface="微软雅黑" panose="020B0503020204020204" pitchFamily="34" charset="-122"/>
                <a:ea typeface="微软雅黑" panose="020B0503020204020204" pitchFamily="34" charset="-122"/>
              </a:rPr>
              <a:t>之间选取任意值。</a:t>
            </a:r>
          </a:p>
        </p:txBody>
      </p:sp>
      <p:sp>
        <p:nvSpPr>
          <p:cNvPr id="8" name="矩形 7"/>
          <p:cNvSpPr/>
          <p:nvPr/>
        </p:nvSpPr>
        <p:spPr>
          <a:xfrm>
            <a:off x="4091021" y="3253572"/>
            <a:ext cx="4776927" cy="1015663"/>
          </a:xfrm>
          <a:prstGeom prst="rect">
            <a:avLst/>
          </a:prstGeom>
          <a:solidFill>
            <a:schemeClr val="accent5">
              <a:lumMod val="40000"/>
              <a:lumOff val="60000"/>
            </a:schemeClr>
          </a:solidFill>
        </p:spPr>
        <p:txBody>
          <a:bodyPr wrap="square">
            <a:spAutoFit/>
          </a:bodyPr>
          <a:lstStyle/>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CIDR </a:t>
            </a:r>
            <a:r>
              <a:rPr lang="zh-CN" altLang="en-US" sz="1600" b="1" dirty="0">
                <a:solidFill>
                  <a:srgbClr val="0000FF"/>
                </a:solidFill>
                <a:latin typeface="微软雅黑" panose="020B0503020204020204" pitchFamily="34" charset="-122"/>
                <a:ea typeface="微软雅黑" panose="020B0503020204020204" pitchFamily="34" charset="-122"/>
              </a:rPr>
              <a:t>记法：</a:t>
            </a:r>
            <a:r>
              <a:rPr lang="zh-CN" altLang="en-US" sz="1600" b="1" dirty="0">
                <a:solidFill>
                  <a:srgbClr val="C00000"/>
                </a:solidFill>
                <a:latin typeface="微软雅黑" panose="020B0503020204020204" pitchFamily="34" charset="-122"/>
                <a:ea typeface="微软雅黑" panose="020B0503020204020204" pitchFamily="34" charset="-122"/>
              </a:rPr>
              <a:t>斜线记法</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(slash notation)</a:t>
            </a:r>
          </a:p>
          <a:p>
            <a:pPr>
              <a:lnSpc>
                <a:spcPts val="2400"/>
              </a:lnSpc>
            </a:pPr>
            <a:r>
              <a:rPr lang="en-US" altLang="zh-CN" sz="1600" b="1" dirty="0" err="1">
                <a:latin typeface="微软雅黑" panose="020B0503020204020204" pitchFamily="34" charset="-122"/>
                <a:ea typeface="微软雅黑" panose="020B0503020204020204" pitchFamily="34" charset="-122"/>
              </a:rPr>
              <a:t>a.b.c.d</a:t>
            </a:r>
            <a:r>
              <a:rPr lang="en-US" altLang="zh-CN" sz="1600" b="1" dirty="0">
                <a:latin typeface="微软雅黑" panose="020B0503020204020204" pitchFamily="34" charset="-122"/>
                <a:ea typeface="微软雅黑" panose="020B0503020204020204" pitchFamily="34" charset="-122"/>
              </a:rPr>
              <a:t> </a:t>
            </a:r>
            <a:r>
              <a:rPr lang="en-US" altLang="zh-CN" sz="1600" b="1" dirty="0">
                <a:solidFill>
                  <a:srgbClr val="C00000"/>
                </a:solidFill>
                <a:latin typeface="微软雅黑" panose="020B0503020204020204" pitchFamily="34" charset="-122"/>
                <a:ea typeface="微软雅黑" panose="020B0503020204020204" pitchFamily="34" charset="-122"/>
              </a:rPr>
              <a:t>/ n</a:t>
            </a:r>
            <a:r>
              <a:rPr lang="zh-CN" altLang="en-US" sz="1600" b="1" dirty="0">
                <a:latin typeface="微软雅黑" panose="020B0503020204020204" pitchFamily="34" charset="-122"/>
                <a:ea typeface="微软雅黑" panose="020B0503020204020204" pitchFamily="34" charset="-122"/>
              </a:rPr>
              <a:t>：二进制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地址的</a:t>
            </a:r>
            <a:r>
              <a:rPr lang="zh-CN" altLang="en-US" sz="1600" b="1" dirty="0">
                <a:solidFill>
                  <a:srgbClr val="C00000"/>
                </a:solidFill>
                <a:latin typeface="微软雅黑" panose="020B0503020204020204" pitchFamily="34" charset="-122"/>
                <a:ea typeface="微软雅黑" panose="020B0503020204020204" pitchFamily="34" charset="-122"/>
              </a:rPr>
              <a:t>前 </a:t>
            </a:r>
            <a:r>
              <a:rPr lang="en-US" altLang="zh-CN" sz="1600" b="1" dirty="0">
                <a:solidFill>
                  <a:srgbClr val="C00000"/>
                </a:solidFill>
                <a:latin typeface="微软雅黑" panose="020B0503020204020204" pitchFamily="34" charset="-122"/>
                <a:ea typeface="微软雅黑" panose="020B0503020204020204" pitchFamily="34" charset="-122"/>
              </a:rPr>
              <a:t>n </a:t>
            </a:r>
            <a:r>
              <a:rPr lang="zh-CN" altLang="en-US" sz="1600" b="1" dirty="0">
                <a:solidFill>
                  <a:srgbClr val="C00000"/>
                </a:solidFill>
                <a:latin typeface="微软雅黑" panose="020B0503020204020204" pitchFamily="34" charset="-122"/>
                <a:ea typeface="微软雅黑" panose="020B0503020204020204" pitchFamily="34" charset="-122"/>
              </a:rPr>
              <a:t>位是网络前缀。</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例如：</a:t>
            </a:r>
            <a:r>
              <a:rPr lang="en-US" altLang="zh-CN" sz="1600" b="1" dirty="0">
                <a:latin typeface="微软雅黑" panose="020B0503020204020204" pitchFamily="34" charset="-122"/>
                <a:ea typeface="微软雅黑" panose="020B0503020204020204" pitchFamily="34" charset="-122"/>
              </a:rPr>
              <a:t>128.14.35.7</a:t>
            </a:r>
            <a:r>
              <a:rPr lang="en-US" altLang="zh-CN" sz="1600" b="1" dirty="0">
                <a:solidFill>
                  <a:srgbClr val="C00000"/>
                </a:solidFill>
                <a:latin typeface="微软雅黑" panose="020B0503020204020204" pitchFamily="34" charset="-122"/>
                <a:ea typeface="微软雅黑" panose="020B0503020204020204" pitchFamily="34" charset="-122"/>
              </a:rPr>
              <a:t>/20</a:t>
            </a:r>
            <a:r>
              <a:rPr lang="zh-CN" altLang="en-US" sz="1600" b="1" dirty="0">
                <a:latin typeface="微软雅黑" panose="020B0503020204020204" pitchFamily="34" charset="-122"/>
                <a:ea typeface="微软雅黑" panose="020B0503020204020204" pitchFamily="34" charset="-122"/>
              </a:rPr>
              <a:t>：前 </a:t>
            </a:r>
            <a:r>
              <a:rPr lang="en-US" altLang="zh-CN" sz="1600" b="1" dirty="0">
                <a:latin typeface="微软雅黑" panose="020B0503020204020204" pitchFamily="34" charset="-122"/>
                <a:ea typeface="微软雅黑" panose="020B0503020204020204" pitchFamily="34" charset="-122"/>
              </a:rPr>
              <a:t>20 </a:t>
            </a:r>
            <a:r>
              <a:rPr lang="zh-CN" altLang="en-US" sz="1600" b="1" dirty="0">
                <a:latin typeface="微软雅黑" panose="020B0503020204020204" pitchFamily="34" charset="-122"/>
                <a:ea typeface="微软雅黑" panose="020B0503020204020204" pitchFamily="34" charset="-122"/>
              </a:rPr>
              <a:t>位是网络前缀。</a:t>
            </a:r>
            <a:endParaRPr lang="en-US" altLang="zh-CN" sz="16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410996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repeatCount="400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887093" y="581433"/>
            <a:ext cx="13885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地址块</a:t>
            </a:r>
          </a:p>
        </p:txBody>
      </p:sp>
      <p:sp>
        <p:nvSpPr>
          <p:cNvPr id="5" name="Rectangle 68"/>
          <p:cNvSpPr>
            <a:spLocks noChangeArrowheads="1"/>
          </p:cNvSpPr>
          <p:nvPr/>
        </p:nvSpPr>
        <p:spPr bwMode="auto">
          <a:xfrm>
            <a:off x="556962" y="978646"/>
            <a:ext cx="8293739" cy="7756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600"/>
              </a:lnSpc>
              <a:buClr>
                <a:srgbClr val="0070C0"/>
              </a:buClr>
              <a:buFont typeface="Wingdings" pitchFamily="2" charset="2"/>
              <a:buChar char="l"/>
            </a:pP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把</a:t>
            </a:r>
            <a:r>
              <a:rPr lang="zh-CN" altLang="en-US" b="1" dirty="0">
                <a:solidFill>
                  <a:srgbClr val="C00000"/>
                </a:solidFill>
                <a:latin typeface="微软雅黑" pitchFamily="34" charset="-122"/>
                <a:ea typeface="微软雅黑" pitchFamily="34" charset="-122"/>
              </a:rPr>
              <a:t>网络前缀都相同的所有连续的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地址组成一个 </a:t>
            </a: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地址块。</a:t>
            </a:r>
            <a:endParaRPr lang="en-US" altLang="zh-CN" b="1" dirty="0">
              <a:latin typeface="微软雅黑" pitchFamily="34" charset="-122"/>
              <a:ea typeface="微软雅黑" pitchFamily="34" charset="-122"/>
            </a:endParaRPr>
          </a:p>
          <a:p>
            <a:pPr marL="268288" indent="-268288">
              <a:lnSpc>
                <a:spcPts val="2600"/>
              </a:lnSpc>
              <a:buClr>
                <a:srgbClr val="0070C0"/>
              </a:buClr>
              <a:buFont typeface="Wingdings" pitchFamily="2" charset="2"/>
              <a:buChar char="l"/>
            </a:pPr>
            <a:r>
              <a:rPr lang="zh-CN" altLang="en-US" b="1" dirty="0">
                <a:latin typeface="微软雅黑" pitchFamily="34" charset="-122"/>
                <a:ea typeface="微软雅黑" pitchFamily="34" charset="-122"/>
              </a:rPr>
              <a:t>一个 </a:t>
            </a: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地址块包含的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地址数目，取决于网络前缀的位数。</a:t>
            </a:r>
          </a:p>
        </p:txBody>
      </p:sp>
      <p:sp>
        <p:nvSpPr>
          <p:cNvPr id="7" name="圆角矩形 6"/>
          <p:cNvSpPr/>
          <p:nvPr/>
        </p:nvSpPr>
        <p:spPr>
          <a:xfrm>
            <a:off x="1062404" y="1699402"/>
            <a:ext cx="6968787" cy="304512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sp>
        <p:nvSpPr>
          <p:cNvPr id="8" name="Text Box 155"/>
          <p:cNvSpPr txBox="1">
            <a:spLocks noChangeArrowheads="1"/>
          </p:cNvSpPr>
          <p:nvPr/>
        </p:nvSpPr>
        <p:spPr bwMode="auto">
          <a:xfrm>
            <a:off x="2257992" y="1656145"/>
            <a:ext cx="5019442" cy="344325"/>
          </a:xfrm>
          <a:prstGeom prst="rect">
            <a:avLst/>
          </a:prstGeom>
          <a:noFill/>
          <a:ln w="12700">
            <a:noFill/>
            <a:miter lim="800000"/>
            <a:headEnd/>
            <a:tailEnd/>
          </a:ln>
          <a:effectLst/>
        </p:spPr>
        <p:txBody>
          <a:bodyPr wrap="square">
            <a:spAutoFit/>
          </a:bodyPr>
          <a:lstStyle/>
          <a:p>
            <a:pPr algn="ctr">
              <a:lnSpc>
                <a:spcPct val="110000"/>
              </a:lnSpc>
            </a:pPr>
            <a:r>
              <a:rPr lang="en-US" altLang="zh-CN" sz="1600" b="1" dirty="0">
                <a:solidFill>
                  <a:srgbClr val="000099"/>
                </a:solidFill>
                <a:latin typeface="微软雅黑" pitchFamily="34" charset="-122"/>
                <a:ea typeface="微软雅黑" pitchFamily="34" charset="-122"/>
              </a:rPr>
              <a:t>128.14.32.0/20 </a:t>
            </a:r>
            <a:r>
              <a:rPr lang="zh-CN" altLang="en-US" sz="1600" b="1" dirty="0">
                <a:solidFill>
                  <a:srgbClr val="000099"/>
                </a:solidFill>
                <a:latin typeface="微软雅黑" pitchFamily="34" charset="-122"/>
                <a:ea typeface="微软雅黑" pitchFamily="34" charset="-122"/>
              </a:rPr>
              <a:t>组成的地址块（共 </a:t>
            </a:r>
            <a:r>
              <a:rPr lang="en-US" altLang="zh-CN" sz="1600" b="1" dirty="0">
                <a:solidFill>
                  <a:srgbClr val="000099"/>
                </a:solidFill>
                <a:latin typeface="微软雅黑" pitchFamily="34" charset="-122"/>
                <a:ea typeface="微软雅黑" pitchFamily="34" charset="-122"/>
              </a:rPr>
              <a:t>2</a:t>
            </a:r>
            <a:r>
              <a:rPr lang="en-US" altLang="zh-CN" sz="1600" b="1" baseline="30000" dirty="0">
                <a:solidFill>
                  <a:srgbClr val="000099"/>
                </a:solidFill>
                <a:latin typeface="微软雅黑" pitchFamily="34" charset="-122"/>
                <a:ea typeface="微软雅黑" pitchFamily="34" charset="-122"/>
              </a:rPr>
              <a:t>12 </a:t>
            </a:r>
            <a:r>
              <a:rPr lang="zh-CN" altLang="en-US" sz="1600" b="1" dirty="0">
                <a:solidFill>
                  <a:srgbClr val="000099"/>
                </a:solidFill>
                <a:latin typeface="微软雅黑" pitchFamily="34" charset="-122"/>
                <a:ea typeface="微软雅黑" pitchFamily="34" charset="-122"/>
              </a:rPr>
              <a:t>个地址）</a:t>
            </a:r>
          </a:p>
        </p:txBody>
      </p:sp>
      <p:sp>
        <p:nvSpPr>
          <p:cNvPr id="9" name="Text Box 3"/>
          <p:cNvSpPr txBox="1">
            <a:spLocks noChangeArrowheads="1"/>
          </p:cNvSpPr>
          <p:nvPr/>
        </p:nvSpPr>
        <p:spPr bwMode="auto">
          <a:xfrm>
            <a:off x="2972430" y="1990879"/>
            <a:ext cx="3418529" cy="2492990"/>
          </a:xfrm>
          <a:prstGeom prst="rect">
            <a:avLst/>
          </a:prstGeom>
          <a:solidFill>
            <a:schemeClr val="bg1"/>
          </a:solidFill>
          <a:ln w="9525">
            <a:solidFill>
              <a:schemeClr val="tx2"/>
            </a:solidFill>
            <a:miter lim="800000"/>
            <a:headEnd/>
            <a:tailEnd/>
          </a:ln>
          <a:effectLst/>
        </p:spPr>
        <p:txBody>
          <a:bodyPr wrap="square">
            <a:spAutoFit/>
          </a:bodyPr>
          <a:lstStyle/>
          <a:p>
            <a:r>
              <a:rPr kumimoji="0"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00 00000001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00 00000010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00 00000011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00 00000100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00 00000101</a:t>
            </a:r>
          </a:p>
          <a:p>
            <a:endParaRPr kumimoji="0" lang="en-US" altLang="zh-CN" sz="1200" b="1" dirty="0">
              <a:solidFill>
                <a:srgbClr val="0000CC"/>
              </a:solidFill>
              <a:latin typeface="微软雅黑" pitchFamily="34" charset="-122"/>
              <a:ea typeface="微软雅黑" pitchFamily="34" charset="-122"/>
            </a:endParaRPr>
          </a:p>
          <a:p>
            <a:endParaRPr kumimoji="0" lang="en-US" altLang="zh-CN" sz="1200" b="1" dirty="0">
              <a:solidFill>
                <a:srgbClr val="0000CC"/>
              </a:solidFill>
              <a:latin typeface="微软雅黑" pitchFamily="34" charset="-122"/>
              <a:ea typeface="微软雅黑" pitchFamily="34" charset="-122"/>
            </a:endParaRP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11 11111011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11 11111101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11 11111110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11 11111111</a:t>
            </a:r>
          </a:p>
        </p:txBody>
      </p:sp>
      <p:sp>
        <p:nvSpPr>
          <p:cNvPr id="10" name="Text Box 4"/>
          <p:cNvSpPr txBox="1">
            <a:spLocks noChangeArrowheads="1"/>
          </p:cNvSpPr>
          <p:nvPr/>
        </p:nvSpPr>
        <p:spPr bwMode="auto">
          <a:xfrm>
            <a:off x="5684430" y="3168536"/>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en-US" altLang="zh-CN" sz="2000">
                <a:solidFill>
                  <a:srgbClr val="0000CC"/>
                </a:solidFill>
                <a:latin typeface="微软雅黑" pitchFamily="34" charset="-122"/>
                <a:ea typeface="微软雅黑" pitchFamily="34" charset="-122"/>
                <a:sym typeface="Symbol" pitchFamily="18" charset="2"/>
              </a:rPr>
              <a:t></a:t>
            </a:r>
          </a:p>
        </p:txBody>
      </p:sp>
      <p:sp>
        <p:nvSpPr>
          <p:cNvPr id="11" name="Text Box 5"/>
          <p:cNvSpPr txBox="1">
            <a:spLocks noChangeArrowheads="1"/>
          </p:cNvSpPr>
          <p:nvPr/>
        </p:nvSpPr>
        <p:spPr bwMode="auto">
          <a:xfrm>
            <a:off x="3918098" y="3168536"/>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en-US" altLang="zh-CN" sz="2000" dirty="0">
                <a:solidFill>
                  <a:srgbClr val="0000CC"/>
                </a:solidFill>
                <a:latin typeface="微软雅黑" pitchFamily="34" charset="-122"/>
                <a:ea typeface="微软雅黑" pitchFamily="34" charset="-122"/>
                <a:sym typeface="Symbol" pitchFamily="18" charset="2"/>
              </a:rPr>
              <a:t></a:t>
            </a:r>
          </a:p>
        </p:txBody>
      </p:sp>
      <p:sp>
        <p:nvSpPr>
          <p:cNvPr id="12" name="Rectangle 6"/>
          <p:cNvSpPr>
            <a:spLocks noChangeArrowheads="1"/>
          </p:cNvSpPr>
          <p:nvPr/>
        </p:nvSpPr>
        <p:spPr bwMode="auto">
          <a:xfrm>
            <a:off x="2985534" y="1984548"/>
            <a:ext cx="2078163" cy="2499322"/>
          </a:xfrm>
          <a:prstGeom prst="rect">
            <a:avLst/>
          </a:prstGeom>
          <a:noFill/>
          <a:ln w="38100">
            <a:solidFill>
              <a:srgbClr val="CC00CC">
                <a:alpha val="50000"/>
              </a:srgb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sp>
        <p:nvSpPr>
          <p:cNvPr id="13" name="Text Box 7"/>
          <p:cNvSpPr txBox="1">
            <a:spLocks noChangeArrowheads="1"/>
          </p:cNvSpPr>
          <p:nvPr/>
        </p:nvSpPr>
        <p:spPr bwMode="auto">
          <a:xfrm>
            <a:off x="1887787" y="2764970"/>
            <a:ext cx="952159" cy="67633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ct val="115000"/>
              </a:lnSpc>
            </a:pPr>
            <a:r>
              <a:rPr kumimoji="0" lang="zh-CN" altLang="en-US" sz="1100" b="1" dirty="0">
                <a:solidFill>
                  <a:srgbClr val="0000CC"/>
                </a:solidFill>
                <a:latin typeface="微软雅黑" pitchFamily="34" charset="-122"/>
                <a:ea typeface="微软雅黑" pitchFamily="34" charset="-122"/>
              </a:rPr>
              <a:t>所有地址的 </a:t>
            </a:r>
            <a:r>
              <a:rPr kumimoji="0" lang="en-US" altLang="zh-CN" sz="1100" b="1" dirty="0">
                <a:solidFill>
                  <a:srgbClr val="0000CC"/>
                </a:solidFill>
                <a:latin typeface="微软雅黑" pitchFamily="34" charset="-122"/>
                <a:ea typeface="微软雅黑" pitchFamily="34" charset="-122"/>
              </a:rPr>
              <a:t>20 </a:t>
            </a:r>
            <a:r>
              <a:rPr kumimoji="0" lang="zh-CN" altLang="en-US" sz="1100" b="1" dirty="0">
                <a:solidFill>
                  <a:srgbClr val="0000CC"/>
                </a:solidFill>
                <a:latin typeface="微软雅黑" pitchFamily="34" charset="-122"/>
                <a:ea typeface="微软雅黑" pitchFamily="34" charset="-122"/>
              </a:rPr>
              <a:t>位前缀</a:t>
            </a:r>
            <a:endParaRPr kumimoji="0" lang="en-US" altLang="zh-CN" sz="1100" b="1" dirty="0">
              <a:solidFill>
                <a:srgbClr val="0000CC"/>
              </a:solidFill>
              <a:latin typeface="微软雅黑" pitchFamily="34" charset="-122"/>
              <a:ea typeface="微软雅黑" pitchFamily="34" charset="-122"/>
            </a:endParaRPr>
          </a:p>
          <a:p>
            <a:pPr algn="ctr">
              <a:lnSpc>
                <a:spcPct val="115000"/>
              </a:lnSpc>
            </a:pPr>
            <a:r>
              <a:rPr kumimoji="0" lang="zh-CN" altLang="en-US" sz="1100" b="1" dirty="0">
                <a:solidFill>
                  <a:srgbClr val="0000CC"/>
                </a:solidFill>
                <a:latin typeface="微软雅黑" pitchFamily="34" charset="-122"/>
                <a:ea typeface="微软雅黑" pitchFamily="34" charset="-122"/>
              </a:rPr>
              <a:t>都是一样的</a:t>
            </a:r>
          </a:p>
        </p:txBody>
      </p:sp>
      <p:grpSp>
        <p:nvGrpSpPr>
          <p:cNvPr id="14" name="组合 13"/>
          <p:cNvGrpSpPr/>
          <p:nvPr/>
        </p:nvGrpSpPr>
        <p:grpSpPr>
          <a:xfrm>
            <a:off x="1651815" y="1956697"/>
            <a:ext cx="1402974" cy="430887"/>
            <a:chOff x="1651824" y="1239870"/>
            <a:chExt cx="1402974" cy="430887"/>
          </a:xfrm>
        </p:grpSpPr>
        <p:sp>
          <p:nvSpPr>
            <p:cNvPr id="15" name="Text Box 9"/>
            <p:cNvSpPr txBox="1">
              <a:spLocks noChangeArrowheads="1"/>
            </p:cNvSpPr>
            <p:nvPr/>
          </p:nvSpPr>
          <p:spPr bwMode="auto">
            <a:xfrm>
              <a:off x="1651824" y="1239870"/>
              <a:ext cx="121235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0" lang="zh-CN" altLang="en-US" sz="1100" b="1" dirty="0">
                  <a:latin typeface="微软雅黑" pitchFamily="34" charset="-122"/>
                  <a:ea typeface="微软雅黑" pitchFamily="34" charset="-122"/>
                </a:rPr>
                <a:t>最小地址</a:t>
              </a:r>
              <a:endParaRPr kumimoji="0" lang="en-US" altLang="zh-CN" sz="1100" b="1" dirty="0">
                <a:latin typeface="微软雅黑" pitchFamily="34" charset="-122"/>
                <a:ea typeface="微软雅黑" pitchFamily="34" charset="-122"/>
              </a:endParaRPr>
            </a:p>
            <a:p>
              <a:pPr algn="ctr"/>
              <a:r>
                <a:rPr lang="en-US" altLang="zh-CN" sz="1100" b="1" dirty="0">
                  <a:latin typeface="微软雅黑" pitchFamily="34" charset="-122"/>
                  <a:ea typeface="微软雅黑" pitchFamily="34" charset="-122"/>
                </a:rPr>
                <a:t>128.14.32.0</a:t>
              </a:r>
            </a:p>
          </p:txBody>
        </p:sp>
        <p:sp>
          <p:nvSpPr>
            <p:cNvPr id="16" name="AutoShape 10"/>
            <p:cNvSpPr>
              <a:spLocks noChangeArrowheads="1"/>
            </p:cNvSpPr>
            <p:nvPr/>
          </p:nvSpPr>
          <p:spPr bwMode="auto">
            <a:xfrm>
              <a:off x="2772185" y="1308664"/>
              <a:ext cx="282613" cy="190638"/>
            </a:xfrm>
            <a:prstGeom prst="rightArrow">
              <a:avLst>
                <a:gd name="adj1" fmla="val 50000"/>
                <a:gd name="adj2" fmla="val 86364"/>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grpSp>
      <p:grpSp>
        <p:nvGrpSpPr>
          <p:cNvPr id="17" name="组合 16"/>
          <p:cNvGrpSpPr/>
          <p:nvPr/>
        </p:nvGrpSpPr>
        <p:grpSpPr>
          <a:xfrm>
            <a:off x="1451795" y="4138493"/>
            <a:ext cx="1591772" cy="430887"/>
            <a:chOff x="1451804" y="3766716"/>
            <a:chExt cx="1591772" cy="430887"/>
          </a:xfrm>
        </p:grpSpPr>
        <p:sp>
          <p:nvSpPr>
            <p:cNvPr id="18" name="AutoShape 10"/>
            <p:cNvSpPr>
              <a:spLocks noChangeArrowheads="1"/>
            </p:cNvSpPr>
            <p:nvPr/>
          </p:nvSpPr>
          <p:spPr bwMode="auto">
            <a:xfrm>
              <a:off x="2760963" y="3859443"/>
              <a:ext cx="282613" cy="190638"/>
            </a:xfrm>
            <a:prstGeom prst="rightArrow">
              <a:avLst>
                <a:gd name="adj1" fmla="val 50000"/>
                <a:gd name="adj2" fmla="val 86364"/>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sp>
          <p:nvSpPr>
            <p:cNvPr id="19" name="Text Box 12"/>
            <p:cNvSpPr txBox="1">
              <a:spLocks noChangeArrowheads="1"/>
            </p:cNvSpPr>
            <p:nvPr/>
          </p:nvSpPr>
          <p:spPr bwMode="auto">
            <a:xfrm>
              <a:off x="1451804" y="3766716"/>
              <a:ext cx="1437748"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0" lang="zh-CN" altLang="en-US" sz="1100" b="1" dirty="0">
                  <a:latin typeface="微软雅黑" pitchFamily="34" charset="-122"/>
                  <a:ea typeface="微软雅黑" pitchFamily="34" charset="-122"/>
                </a:rPr>
                <a:t>最大地址</a:t>
              </a:r>
              <a:endParaRPr kumimoji="0" lang="en-US" altLang="zh-CN" sz="1100" b="1" dirty="0">
                <a:latin typeface="微软雅黑" pitchFamily="34" charset="-122"/>
                <a:ea typeface="微软雅黑" pitchFamily="34" charset="-122"/>
              </a:endParaRPr>
            </a:p>
            <a:p>
              <a:pPr algn="ctr"/>
              <a:r>
                <a:rPr lang="en-US" altLang="zh-CN" sz="1100" b="1" dirty="0">
                  <a:latin typeface="微软雅黑" pitchFamily="34" charset="-122"/>
                  <a:ea typeface="微软雅黑" pitchFamily="34" charset="-122"/>
                </a:rPr>
                <a:t>128.14.47.255</a:t>
              </a:r>
              <a:endParaRPr kumimoji="0" lang="zh-CN" altLang="en-US" sz="1100" b="1" dirty="0">
                <a:latin typeface="微软雅黑" pitchFamily="34" charset="-122"/>
                <a:ea typeface="微软雅黑" pitchFamily="34" charset="-122"/>
              </a:endParaRPr>
            </a:p>
          </p:txBody>
        </p:sp>
      </p:grpSp>
      <p:sp>
        <p:nvSpPr>
          <p:cNvPr id="21" name="矩形 20"/>
          <p:cNvSpPr/>
          <p:nvPr/>
        </p:nvSpPr>
        <p:spPr>
          <a:xfrm>
            <a:off x="6680550" y="2672252"/>
            <a:ext cx="1061049" cy="861774"/>
          </a:xfrm>
          <a:prstGeom prst="rect">
            <a:avLst/>
          </a:prstGeom>
          <a:solidFill>
            <a:srgbClr val="FFC000"/>
          </a:solidFill>
          <a:ln w="9525">
            <a:solidFill>
              <a:schemeClr val="tx1"/>
            </a:solidFill>
            <a:miter lim="800000"/>
            <a:headEnd/>
            <a:tailEnd/>
          </a:ln>
          <a:effectLst/>
        </p:spPr>
        <p:txBody>
          <a:bodyPr wrap="square">
            <a:spAutoFit/>
          </a:bodyPr>
          <a:lstStyle/>
          <a:p>
            <a:pPr algn="ctr">
              <a:lnSpc>
                <a:spcPts val="2000"/>
              </a:lnSpc>
            </a:pPr>
            <a:r>
              <a:rPr lang="zh-CN" altLang="en-US" sz="1400" b="1" dirty="0">
                <a:solidFill>
                  <a:srgbClr val="000099"/>
                </a:solidFill>
                <a:latin typeface="微软雅黑" pitchFamily="34" charset="-122"/>
                <a:ea typeface="微软雅黑" pitchFamily="34" charset="-122"/>
              </a:rPr>
              <a:t>可指派的地址数是</a:t>
            </a:r>
            <a:r>
              <a:rPr lang="en-US" altLang="zh-CN" sz="1400" b="1" dirty="0">
                <a:solidFill>
                  <a:srgbClr val="000099"/>
                </a:solidFill>
                <a:latin typeface="微软雅黑" pitchFamily="34" charset="-122"/>
                <a:ea typeface="微软雅黑" pitchFamily="34" charset="-122"/>
              </a:rPr>
              <a:t>2</a:t>
            </a:r>
            <a:r>
              <a:rPr lang="en-US" altLang="zh-CN" sz="1400" b="1" baseline="30000" dirty="0">
                <a:solidFill>
                  <a:srgbClr val="000099"/>
                </a:solidFill>
                <a:latin typeface="微软雅黑" pitchFamily="34" charset="-122"/>
                <a:ea typeface="微软雅黑" pitchFamily="34" charset="-122"/>
              </a:rPr>
              <a:t>12</a:t>
            </a:r>
            <a:r>
              <a:rPr lang="en-US" altLang="zh-CN" sz="1400" b="1" dirty="0">
                <a:solidFill>
                  <a:srgbClr val="000099"/>
                </a:solidFill>
                <a:latin typeface="微软雅黑" pitchFamily="34" charset="-122"/>
                <a:ea typeface="微软雅黑" pitchFamily="34" charset="-122"/>
              </a:rPr>
              <a:t> – 2 </a:t>
            </a:r>
            <a:r>
              <a:rPr lang="zh-CN" altLang="en-US" sz="1400" b="1" dirty="0">
                <a:solidFill>
                  <a:srgbClr val="000099"/>
                </a:solidFill>
                <a:latin typeface="微软雅黑" pitchFamily="34" charset="-122"/>
                <a:ea typeface="微软雅黑" pitchFamily="34" charset="-122"/>
              </a:rPr>
              <a:t>个</a:t>
            </a:r>
          </a:p>
        </p:txBody>
      </p:sp>
      <p:sp>
        <p:nvSpPr>
          <p:cNvPr id="25" name="矩形 24"/>
          <p:cNvSpPr/>
          <p:nvPr/>
        </p:nvSpPr>
        <p:spPr>
          <a:xfrm>
            <a:off x="2637965" y="4483869"/>
            <a:ext cx="4297673" cy="329321"/>
          </a:xfrm>
          <a:prstGeom prst="rect">
            <a:avLst/>
          </a:prstGeom>
          <a:noFill/>
          <a:ln w="12700">
            <a:noFill/>
            <a:miter lim="800000"/>
            <a:headEnd/>
            <a:tailEnd/>
          </a:ln>
          <a:effectLst/>
        </p:spPr>
        <p:txBody>
          <a:bodyPr wrap="square">
            <a:spAutoFit/>
          </a:bodyPr>
          <a:lstStyle/>
          <a:p>
            <a:pPr algn="ctr">
              <a:lnSpc>
                <a:spcPct val="110000"/>
              </a:lnSpc>
            </a:pPr>
            <a:r>
              <a:rPr lang="zh-CN" altLang="en-US" sz="1400" b="1" dirty="0">
                <a:solidFill>
                  <a:srgbClr val="000099"/>
                </a:solidFill>
                <a:latin typeface="微软雅黑" pitchFamily="34" charset="-122"/>
                <a:ea typeface="微软雅黑" pitchFamily="34" charset="-122"/>
              </a:rPr>
              <a:t>二进制代码表示：</a:t>
            </a:r>
            <a:r>
              <a:rPr lang="en-US" altLang="zh-CN" sz="1400" b="1" dirty="0">
                <a:solidFill>
                  <a:srgbClr val="000099"/>
                </a:solidFill>
                <a:latin typeface="微软雅黑" pitchFamily="34" charset="-122"/>
                <a:ea typeface="微软雅黑" pitchFamily="34" charset="-122"/>
              </a:rPr>
              <a:t>10000000 00001110 0010*</a:t>
            </a:r>
          </a:p>
        </p:txBody>
      </p:sp>
    </p:spTree>
    <p:extLst>
      <p:ext uri="{BB962C8B-B14F-4D97-AF65-F5344CB8AC3E}">
        <p14:creationId xmlns:p14="http://schemas.microsoft.com/office/powerpoint/2010/main" val="28517370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par>
                          <p:cTn id="9" fill="hold">
                            <p:stCondLst>
                              <p:cond delay="0"/>
                            </p:stCondLst>
                            <p:childTnLst>
                              <p:par>
                                <p:cTn id="10" presetID="35" presetClass="emph" presetSubtype="0" repeatCount="3000" fill="hold" grpId="1" nodeType="afterEffect">
                                  <p:stCondLst>
                                    <p:cond delay="0"/>
                                  </p:stCondLst>
                                  <p:childTnLst>
                                    <p:anim calcmode="discrete" valueType="str">
                                      <p:cBhvr>
                                        <p:cTn id="11" dur="1000" fill="hold"/>
                                        <p:tgtEl>
                                          <p:spTgt spid="13"/>
                                        </p:tgtEl>
                                        <p:attrNameLst>
                                          <p:attrName>style.visibility</p:attrName>
                                        </p:attrNameLst>
                                      </p:cBhvr>
                                      <p:tavLst>
                                        <p:tav tm="0">
                                          <p:val>
                                            <p:strVal val="hidden"/>
                                          </p:val>
                                        </p:tav>
                                        <p:tav tm="50000">
                                          <p:val>
                                            <p:strVal val="visible"/>
                                          </p:val>
                                        </p:tav>
                                      </p:tavLst>
                                    </p:anim>
                                  </p:childTnLst>
                                </p:cTn>
                              </p:par>
                              <p:par>
                                <p:cTn id="12" presetID="35" presetClass="emph" presetSubtype="0" repeatCount="3000" fill="hold" grpId="1" nodeType="withEffect">
                                  <p:stCondLst>
                                    <p:cond delay="0"/>
                                  </p:stCondLst>
                                  <p:childTnLst>
                                    <p:anim calcmode="discrete" valueType="str">
                                      <p:cBhvr>
                                        <p:cTn id="13"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childTnLst>
                                </p:cTn>
                              </p:par>
                            </p:childTnLst>
                          </p:cTn>
                        </p:par>
                        <p:par>
                          <p:cTn id="18" fill="hold">
                            <p:stCondLst>
                              <p:cond delay="0"/>
                            </p:stCondLst>
                            <p:childTnLst>
                              <p:par>
                                <p:cTn id="19" presetID="22" presetClass="entr" presetSubtype="8" fill="hold" nodeType="after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wipe(left)">
                                      <p:cBhvr>
                                        <p:cTn id="21" dur="250"/>
                                        <p:tgtEl>
                                          <p:spTgt spid="14"/>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par>
                          <p:cTn id="26" fill="hold">
                            <p:stCondLst>
                              <p:cond delay="0"/>
                            </p:stCondLst>
                            <p:childTnLst>
                              <p:par>
                                <p:cTn id="27" presetID="22" presetClass="entr" presetSubtype="8" fill="hold" nodeType="after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wipe(left)">
                                      <p:cBhvr>
                                        <p:cTn id="29" dur="250"/>
                                        <p:tgtEl>
                                          <p:spTgt spid="1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repeatCount="3000" fill="hold" grpId="0" nodeType="click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500"/>
                                        <p:tgtEl>
                                          <p:spTgt spid="21"/>
                                        </p:tgtEl>
                                      </p:cBhvr>
                                    </p:animEffec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2" grpId="1" animBg="1"/>
      <p:bldP spid="13" grpId="0" animBg="1"/>
      <p:bldP spid="13" grpId="1" animBg="1"/>
      <p:bldP spid="21" grpId="0" animBg="1"/>
      <p:bldP spid="25"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887093" y="581433"/>
            <a:ext cx="13885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地址块</a:t>
            </a:r>
          </a:p>
        </p:txBody>
      </p:sp>
      <p:sp>
        <p:nvSpPr>
          <p:cNvPr id="4" name="矩形 3"/>
          <p:cNvSpPr/>
          <p:nvPr/>
        </p:nvSpPr>
        <p:spPr>
          <a:xfrm>
            <a:off x="735680" y="1104288"/>
            <a:ext cx="877163" cy="369332"/>
          </a:xfrm>
          <a:prstGeom prst="rect">
            <a:avLst/>
          </a:prstGeom>
          <a:solidFill>
            <a:srgbClr val="FFC000"/>
          </a:solidFill>
        </p:spPr>
        <p:txBody>
          <a:bodyPr wrap="none">
            <a:spAutoFit/>
          </a:bodyPr>
          <a:lstStyle/>
          <a:p>
            <a:r>
              <a:rPr lang="zh-CN" altLang="en-US" b="1" dirty="0">
                <a:latin typeface="微软雅黑" panose="020B0503020204020204" pitchFamily="34" charset="-122"/>
                <a:ea typeface="微软雅黑" panose="020B0503020204020204" pitchFamily="34" charset="-122"/>
              </a:rPr>
              <a:t>注意：</a:t>
            </a:r>
          </a:p>
        </p:txBody>
      </p:sp>
      <p:graphicFrame>
        <p:nvGraphicFramePr>
          <p:cNvPr id="7" name="表格 6"/>
          <p:cNvGraphicFramePr>
            <a:graphicFrameLocks noGrp="1"/>
          </p:cNvGraphicFramePr>
          <p:nvPr>
            <p:extLst>
              <p:ext uri="{D42A27DB-BD31-4B8C-83A1-F6EECF244321}">
                <p14:modId xmlns:p14="http://schemas.microsoft.com/office/powerpoint/2010/main" val="2259888652"/>
              </p:ext>
            </p:extLst>
          </p:nvPr>
        </p:nvGraphicFramePr>
        <p:xfrm>
          <a:off x="735680" y="1530239"/>
          <a:ext cx="7537052" cy="2377526"/>
        </p:xfrm>
        <a:graphic>
          <a:graphicData uri="http://schemas.openxmlformats.org/drawingml/2006/table">
            <a:tbl>
              <a:tblPr bandRow="1">
                <a:tableStyleId>{0505E3EF-67EA-436B-97B2-0124C06EBD24}</a:tableStyleId>
              </a:tblPr>
              <a:tblGrid>
                <a:gridCol w="2171422">
                  <a:extLst>
                    <a:ext uri="{9D8B030D-6E8A-4147-A177-3AD203B41FA5}">
                      <a16:colId xmlns:a16="http://schemas.microsoft.com/office/drawing/2014/main" val="3280350879"/>
                    </a:ext>
                  </a:extLst>
                </a:gridCol>
                <a:gridCol w="5365630">
                  <a:extLst>
                    <a:ext uri="{9D8B030D-6E8A-4147-A177-3AD203B41FA5}">
                      <a16:colId xmlns:a16="http://schemas.microsoft.com/office/drawing/2014/main" val="1919485736"/>
                    </a:ext>
                  </a:extLst>
                </a:gridCol>
              </a:tblGrid>
              <a:tr h="747753">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128.14.35.7</a:t>
                      </a:r>
                      <a:r>
                        <a:rPr lang="en-US" altLang="zh-CN" sz="1600" b="1" dirty="0">
                          <a:solidFill>
                            <a:srgbClr val="C00000"/>
                          </a:solidFill>
                          <a:latin typeface="微软雅黑" panose="020B0503020204020204" pitchFamily="34" charset="-122"/>
                          <a:ea typeface="微软雅黑" panose="020B0503020204020204" pitchFamily="34" charset="-122"/>
                        </a:rPr>
                        <a:t>/20</a:t>
                      </a:r>
                      <a:endParaRPr lang="zh-CN" altLang="en-US" sz="1600" b="1" dirty="0">
                        <a:solidFill>
                          <a:srgbClr val="C00000"/>
                        </a:solidFill>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地址，同时指明了网络前缀为 </a:t>
                      </a:r>
                      <a:r>
                        <a:rPr lang="en-US" altLang="zh-CN" sz="1600" b="1" dirty="0">
                          <a:latin typeface="微软雅黑" panose="020B0503020204020204" pitchFamily="34" charset="-122"/>
                          <a:ea typeface="微软雅黑" panose="020B0503020204020204" pitchFamily="34" charset="-122"/>
                        </a:rPr>
                        <a:t>20 </a:t>
                      </a:r>
                      <a:r>
                        <a:rPr lang="zh-CN" altLang="en-US" sz="1600" b="1" dirty="0">
                          <a:latin typeface="微软雅黑" panose="020B0503020204020204" pitchFamily="34" charset="-122"/>
                          <a:ea typeface="微软雅黑" panose="020B0503020204020204" pitchFamily="34" charset="-122"/>
                        </a:rPr>
                        <a:t>位。</a:t>
                      </a:r>
                      <a:endParaRPr lang="en-US" altLang="zh-CN" sz="1600" b="1" dirty="0">
                        <a:latin typeface="微软雅黑" panose="020B0503020204020204" pitchFamily="34" charset="-122"/>
                        <a:ea typeface="微软雅黑" panose="020B0503020204020204" pitchFamily="34" charset="-122"/>
                      </a:endParaRPr>
                    </a:p>
                    <a:p>
                      <a:pPr>
                        <a:lnSpc>
                          <a:spcPts val="2200"/>
                        </a:lnSpc>
                      </a:pPr>
                      <a:r>
                        <a:rPr lang="zh-CN" altLang="en-US" sz="1600" b="1" dirty="0">
                          <a:latin typeface="微软雅黑" panose="020B0503020204020204" pitchFamily="34" charset="-122"/>
                          <a:ea typeface="微软雅黑" panose="020B0503020204020204" pitchFamily="34" charset="-122"/>
                        </a:rPr>
                        <a:t>该地址是 </a:t>
                      </a:r>
                      <a:r>
                        <a:rPr lang="en-US" altLang="zh-CN" sz="1600" b="1" dirty="0">
                          <a:latin typeface="微软雅黑" panose="020B0503020204020204" pitchFamily="34" charset="-122"/>
                          <a:ea typeface="微软雅黑" panose="020B0503020204020204" pitchFamily="34" charset="-122"/>
                        </a:rPr>
                        <a:t>128.14.32.0/20 </a:t>
                      </a:r>
                      <a:r>
                        <a:rPr lang="zh-CN" altLang="en-US" sz="1600" b="1" dirty="0">
                          <a:latin typeface="微软雅黑" panose="020B0503020204020204" pitchFamily="34" charset="-122"/>
                          <a:ea typeface="微软雅黑" panose="020B0503020204020204" pitchFamily="34" charset="-122"/>
                        </a:rPr>
                        <a:t>地址块中的一个地址。</a:t>
                      </a:r>
                    </a:p>
                  </a:txBody>
                  <a:tcPr anchor="ctr"/>
                </a:tc>
                <a:extLst>
                  <a:ext uri="{0D108BD9-81ED-4DB2-BD59-A6C34878D82A}">
                    <a16:rowId xmlns:a16="http://schemas.microsoft.com/office/drawing/2014/main" val="1024444491"/>
                  </a:ext>
                </a:extLst>
              </a:tr>
              <a:tr h="747753">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128.14.32.0</a:t>
                      </a:r>
                      <a:r>
                        <a:rPr lang="en-US" altLang="zh-CN" sz="1600" b="1" dirty="0">
                          <a:solidFill>
                            <a:srgbClr val="C00000"/>
                          </a:solidFill>
                          <a:latin typeface="微软雅黑" panose="020B0503020204020204" pitchFamily="34" charset="-122"/>
                          <a:ea typeface="微软雅黑" panose="020B0503020204020204" pitchFamily="34" charset="-122"/>
                        </a:rPr>
                        <a:t>/20</a:t>
                      </a:r>
                      <a:endParaRPr lang="zh-CN" altLang="en-US" sz="1600" b="1" dirty="0">
                        <a:solidFill>
                          <a:srgbClr val="C00000"/>
                        </a:solidFill>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是包含有多个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地址的地址块，同时也是这个地址块中主机号为全 </a:t>
                      </a:r>
                      <a:r>
                        <a:rPr lang="en-US" altLang="zh-CN" sz="1600" b="1" dirty="0">
                          <a:latin typeface="微软雅黑" panose="020B0503020204020204" pitchFamily="34" charset="-122"/>
                          <a:ea typeface="微软雅黑" panose="020B0503020204020204" pitchFamily="34" charset="-122"/>
                        </a:rPr>
                        <a:t>0 </a:t>
                      </a:r>
                      <a:r>
                        <a:rPr lang="zh-CN" altLang="en-US" sz="1600" b="1" dirty="0">
                          <a:latin typeface="微软雅黑" panose="020B0503020204020204" pitchFamily="34" charset="-122"/>
                          <a:ea typeface="微软雅黑" panose="020B0503020204020204" pitchFamily="34" charset="-122"/>
                        </a:rPr>
                        <a:t>的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p>
                  </a:txBody>
                  <a:tcPr anchor="ctr"/>
                </a:tc>
                <a:extLst>
                  <a:ext uri="{0D108BD9-81ED-4DB2-BD59-A6C34878D82A}">
                    <a16:rowId xmlns:a16="http://schemas.microsoft.com/office/drawing/2014/main" val="178982981"/>
                  </a:ext>
                </a:extLst>
              </a:tr>
              <a:tr h="441010">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128.14.35.7</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地址，但未指明网络前缀长度，不知道其网络地址。</a:t>
                      </a:r>
                    </a:p>
                  </a:txBody>
                  <a:tcPr anchor="ctr"/>
                </a:tc>
                <a:extLst>
                  <a:ext uri="{0D108BD9-81ED-4DB2-BD59-A6C34878D82A}">
                    <a16:rowId xmlns:a16="http://schemas.microsoft.com/office/drawing/2014/main" val="406556459"/>
                  </a:ext>
                </a:extLst>
              </a:tr>
              <a:tr h="441010">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128.14.32.0</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不能指明一个网络地址，因为无法知道网络前缀是多少。</a:t>
                      </a:r>
                    </a:p>
                  </a:txBody>
                  <a:tcPr anchor="ctr"/>
                </a:tc>
                <a:extLst>
                  <a:ext uri="{0D108BD9-81ED-4DB2-BD59-A6C34878D82A}">
                    <a16:rowId xmlns:a16="http://schemas.microsoft.com/office/drawing/2014/main" val="1768652690"/>
                  </a:ext>
                </a:extLst>
              </a:tr>
            </a:tbl>
          </a:graphicData>
        </a:graphic>
      </p:graphicFrame>
    </p:spTree>
    <p:extLst>
      <p:ext uri="{BB962C8B-B14F-4D97-AF65-F5344CB8AC3E}">
        <p14:creationId xmlns:p14="http://schemas.microsoft.com/office/powerpoint/2010/main" val="2246536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744794" y="581433"/>
            <a:ext cx="36731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地址掩码 </a:t>
            </a:r>
            <a:r>
              <a:rPr lang="en-US" altLang="zh-CN" sz="2000" b="1" dirty="0">
                <a:solidFill>
                  <a:schemeClr val="bg1"/>
                </a:solidFill>
                <a:latin typeface="微软雅黑" pitchFamily="34" charset="-122"/>
                <a:ea typeface="微软雅黑" pitchFamily="34" charset="-122"/>
              </a:rPr>
              <a:t>(address mask)</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2" y="978646"/>
            <a:ext cx="8423135"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又称为</a:t>
            </a:r>
            <a:r>
              <a:rPr lang="zh-CN" altLang="en-US" sz="2000" b="1" dirty="0">
                <a:solidFill>
                  <a:srgbClr val="0000FF"/>
                </a:solidFill>
                <a:latin typeface="微软雅黑" pitchFamily="34" charset="-122"/>
                <a:ea typeface="微软雅黑" pitchFamily="34" charset="-122"/>
              </a:rPr>
              <a:t>子网掩码 </a:t>
            </a:r>
            <a:r>
              <a:rPr lang="en-US" altLang="zh-CN" sz="2000" b="1" dirty="0">
                <a:latin typeface="微软雅黑" pitchFamily="34" charset="-122"/>
                <a:ea typeface="微软雅黑" pitchFamily="34" charset="-122"/>
              </a:rPr>
              <a:t>(subnet mask)</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位数：</a:t>
            </a:r>
            <a:r>
              <a:rPr lang="en-US" altLang="zh-CN" sz="2000" b="1" dirty="0">
                <a:solidFill>
                  <a:srgbClr val="C00000"/>
                </a:solidFill>
                <a:latin typeface="微软雅黑" pitchFamily="34" charset="-122"/>
                <a:ea typeface="微软雅黑" pitchFamily="34" charset="-122"/>
              </a:rPr>
              <a:t>32 </a:t>
            </a:r>
            <a:r>
              <a:rPr lang="zh-CN" altLang="en-US" sz="2000" b="1" dirty="0">
                <a:solidFill>
                  <a:srgbClr val="C00000"/>
                </a:solidFill>
                <a:latin typeface="微软雅黑" pitchFamily="34" charset="-122"/>
                <a:ea typeface="微软雅黑" pitchFamily="34" charset="-122"/>
              </a:rPr>
              <a:t>位。</a:t>
            </a:r>
            <a:endParaRPr lang="en-US" altLang="zh-CN" sz="2000" b="1" dirty="0">
              <a:solidFill>
                <a:srgbClr val="C00000"/>
              </a:solidFill>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目的：让机器从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地址迅速算出网络地址。</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由一连串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和接着的一连串 </a:t>
            </a:r>
            <a:r>
              <a:rPr lang="en-US" altLang="zh-CN" sz="2000" b="1" dirty="0">
                <a:latin typeface="微软雅黑" pitchFamily="34" charset="-122"/>
                <a:ea typeface="微软雅黑" pitchFamily="34" charset="-122"/>
              </a:rPr>
              <a:t>0 </a:t>
            </a:r>
            <a:r>
              <a:rPr lang="zh-CN" altLang="en-US" sz="2000" b="1" dirty="0">
                <a:latin typeface="微软雅黑" pitchFamily="34" charset="-122"/>
                <a:ea typeface="微软雅黑" pitchFamily="34" charset="-122"/>
              </a:rPr>
              <a:t>组成，</a:t>
            </a:r>
            <a:r>
              <a:rPr lang="zh-CN" altLang="en-US" sz="2000" b="1" dirty="0">
                <a:solidFill>
                  <a:srgbClr val="C00000"/>
                </a:solidFill>
                <a:latin typeface="微软雅黑" pitchFamily="34" charset="-122"/>
                <a:ea typeface="微软雅黑" pitchFamily="34" charset="-122"/>
              </a:rPr>
              <a:t>而 </a:t>
            </a:r>
            <a:r>
              <a:rPr lang="en-US" altLang="zh-CN" sz="2000" b="1" dirty="0">
                <a:solidFill>
                  <a:srgbClr val="C00000"/>
                </a:solidFill>
                <a:latin typeface="微软雅黑" pitchFamily="34" charset="-122"/>
                <a:ea typeface="微软雅黑" pitchFamily="34" charset="-122"/>
              </a:rPr>
              <a:t>1 </a:t>
            </a:r>
            <a:r>
              <a:rPr lang="zh-CN" altLang="en-US" sz="2000" b="1" dirty="0">
                <a:solidFill>
                  <a:srgbClr val="C00000"/>
                </a:solidFill>
                <a:latin typeface="微软雅黑" pitchFamily="34" charset="-122"/>
                <a:ea typeface="微软雅黑" pitchFamily="34" charset="-122"/>
              </a:rPr>
              <a:t>的个数就是网络前缀的长度。</a:t>
            </a:r>
          </a:p>
        </p:txBody>
      </p:sp>
      <p:sp>
        <p:nvSpPr>
          <p:cNvPr id="5" name="矩形 4"/>
          <p:cNvSpPr/>
          <p:nvPr/>
        </p:nvSpPr>
        <p:spPr>
          <a:xfrm>
            <a:off x="698743" y="2773842"/>
            <a:ext cx="7686135" cy="1169551"/>
          </a:xfrm>
          <a:prstGeom prst="rect">
            <a:avLst/>
          </a:prstGeom>
          <a:solidFill>
            <a:srgbClr val="33CCFF"/>
          </a:solidFill>
        </p:spPr>
        <p:txBody>
          <a:bodyPr wrap="square">
            <a:spAutoFit/>
          </a:bodyPr>
          <a:lstStyle/>
          <a:p>
            <a:pPr>
              <a:lnSpc>
                <a:spcPts val="2800"/>
              </a:lnSpc>
            </a:pPr>
            <a:r>
              <a:rPr lang="en-US" altLang="zh-CN" b="1" dirty="0">
                <a:solidFill>
                  <a:srgbClr val="C00000"/>
                </a:solidFill>
                <a:latin typeface="微软雅黑" panose="020B0503020204020204" pitchFamily="34" charset="-122"/>
                <a:ea typeface="微软雅黑" panose="020B0503020204020204" pitchFamily="34" charset="-122"/>
              </a:rPr>
              <a:t>/20 </a:t>
            </a:r>
            <a:r>
              <a:rPr lang="zh-CN" altLang="en-US" b="1" dirty="0">
                <a:latin typeface="微软雅黑" panose="020B0503020204020204" pitchFamily="34" charset="-122"/>
                <a:ea typeface="微软雅黑" panose="020B0503020204020204" pitchFamily="34" charset="-122"/>
              </a:rPr>
              <a:t>地址块的地址掩码：</a:t>
            </a:r>
            <a:r>
              <a:rPr lang="en-US" altLang="zh-CN" b="1" dirty="0">
                <a:latin typeface="微软雅黑" panose="020B0503020204020204" pitchFamily="34" charset="-122"/>
                <a:ea typeface="微软雅黑" panose="020B0503020204020204" pitchFamily="34" charset="-122"/>
              </a:rPr>
              <a:t>11111111 11111111 11110000 00000000</a:t>
            </a:r>
          </a:p>
          <a:p>
            <a:pPr>
              <a:lnSpc>
                <a:spcPts val="2800"/>
              </a:lnSpc>
            </a:pPr>
            <a:r>
              <a:rPr lang="zh-CN" altLang="en-US" b="1" dirty="0">
                <a:latin typeface="微软雅黑" panose="020B0503020204020204" pitchFamily="34" charset="-122"/>
                <a:ea typeface="微软雅黑" panose="020B0503020204020204" pitchFamily="34" charset="-122"/>
              </a:rPr>
              <a:t>点分十进制记法：</a:t>
            </a:r>
            <a:r>
              <a:rPr lang="en-US" altLang="zh-CN" b="1" dirty="0">
                <a:latin typeface="微软雅黑" panose="020B0503020204020204" pitchFamily="34" charset="-122"/>
                <a:ea typeface="微软雅黑" panose="020B0503020204020204" pitchFamily="34" charset="-122"/>
              </a:rPr>
              <a:t>255.255.240.0</a:t>
            </a:r>
          </a:p>
          <a:p>
            <a:pPr>
              <a:lnSpc>
                <a:spcPts val="2800"/>
              </a:lnSpc>
            </a:pPr>
            <a:r>
              <a:rPr lang="en-US" altLang="zh-CN" b="1" dirty="0">
                <a:latin typeface="微软雅黑" panose="020B0503020204020204" pitchFamily="34" charset="-122"/>
                <a:ea typeface="微软雅黑" panose="020B0503020204020204" pitchFamily="34" charset="-122"/>
              </a:rPr>
              <a:t>       CIDR </a:t>
            </a:r>
            <a:r>
              <a:rPr lang="zh-CN" altLang="en-US" b="1" dirty="0">
                <a:latin typeface="微软雅黑" panose="020B0503020204020204" pitchFamily="34" charset="-122"/>
                <a:ea typeface="微软雅黑" panose="020B0503020204020204" pitchFamily="34" charset="-122"/>
              </a:rPr>
              <a:t>记法：</a:t>
            </a:r>
            <a:r>
              <a:rPr lang="en-US" altLang="zh-CN" b="1" dirty="0">
                <a:latin typeface="微软雅黑" panose="020B0503020204020204" pitchFamily="34" charset="-122"/>
                <a:ea typeface="微软雅黑" panose="020B0503020204020204" pitchFamily="34" charset="-122"/>
              </a:rPr>
              <a:t>255.255.240.0/20</a:t>
            </a:r>
            <a:r>
              <a:rPr lang="zh-CN" altLang="en-US" b="1" dirty="0">
                <a:latin typeface="微软雅黑" panose="020B0503020204020204" pitchFamily="34" charset="-122"/>
                <a:ea typeface="微软雅黑" panose="020B0503020204020204" pitchFamily="34" charset="-122"/>
              </a:rPr>
              <a:t>。</a:t>
            </a:r>
          </a:p>
        </p:txBody>
      </p:sp>
    </p:spTree>
    <p:extLst>
      <p:ext uri="{BB962C8B-B14F-4D97-AF65-F5344CB8AC3E}">
        <p14:creationId xmlns:p14="http://schemas.microsoft.com/office/powerpoint/2010/main" val="22628804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1723549" cy="400110"/>
          </a:xfrm>
          <a:prstGeom prst="rect">
            <a:avLst/>
          </a:prstGeom>
        </p:spPr>
        <p:txBody>
          <a:bodyPr wrap="none">
            <a:spAutoFit/>
          </a:bodyPr>
          <a:lstStyle/>
          <a:p>
            <a:r>
              <a:rPr lang="zh-CN" altLang="en-US" sz="2000" b="1" dirty="0">
                <a:latin typeface="微软雅黑" pitchFamily="34" charset="-122"/>
                <a:ea typeface="微软雅黑" pitchFamily="34" charset="-122"/>
              </a:rPr>
              <a:t>默认地址掩码</a:t>
            </a:r>
          </a:p>
        </p:txBody>
      </p:sp>
      <p:sp>
        <p:nvSpPr>
          <p:cNvPr id="73" name="Rectangle 2"/>
          <p:cNvSpPr>
            <a:spLocks noChangeArrowheads="1"/>
          </p:cNvSpPr>
          <p:nvPr/>
        </p:nvSpPr>
        <p:spPr bwMode="auto">
          <a:xfrm>
            <a:off x="1578634" y="1135078"/>
            <a:ext cx="5798097" cy="3137965"/>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Rectangle 54"/>
          <p:cNvSpPr>
            <a:spLocks noChangeArrowheads="1"/>
          </p:cNvSpPr>
          <p:nvPr/>
        </p:nvSpPr>
        <p:spPr bwMode="auto">
          <a:xfrm>
            <a:off x="6230843" y="3824348"/>
            <a:ext cx="1046391" cy="302025"/>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Rectangle 35"/>
          <p:cNvSpPr>
            <a:spLocks noChangeArrowheads="1"/>
          </p:cNvSpPr>
          <p:nvPr/>
        </p:nvSpPr>
        <p:spPr bwMode="auto">
          <a:xfrm>
            <a:off x="3150211" y="3832068"/>
            <a:ext cx="3081678" cy="30202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Rectangle 39"/>
          <p:cNvSpPr>
            <a:spLocks noChangeArrowheads="1"/>
          </p:cNvSpPr>
          <p:nvPr/>
        </p:nvSpPr>
        <p:spPr bwMode="auto">
          <a:xfrm>
            <a:off x="3094084" y="3858121"/>
            <a:ext cx="3218831"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1 1 1 1 1 1 1 1 1 1 1 1 1 1 1 1 1 1 1 1 1 1 1 1</a:t>
            </a:r>
          </a:p>
        </p:txBody>
      </p:sp>
      <p:sp>
        <p:nvSpPr>
          <p:cNvPr id="64" name="Rectangle 44"/>
          <p:cNvSpPr>
            <a:spLocks noChangeArrowheads="1"/>
          </p:cNvSpPr>
          <p:nvPr/>
        </p:nvSpPr>
        <p:spPr bwMode="auto">
          <a:xfrm>
            <a:off x="6171142" y="3858121"/>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a:t>
            </a:r>
          </a:p>
        </p:txBody>
      </p:sp>
      <p:sp>
        <p:nvSpPr>
          <p:cNvPr id="65" name="Rectangle 53"/>
          <p:cNvSpPr>
            <a:spLocks noChangeArrowheads="1"/>
          </p:cNvSpPr>
          <p:nvPr/>
        </p:nvSpPr>
        <p:spPr bwMode="auto">
          <a:xfrm>
            <a:off x="5175044" y="2760027"/>
            <a:ext cx="2100099" cy="300094"/>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6" name="Rectangle 42"/>
          <p:cNvSpPr>
            <a:spLocks noChangeArrowheads="1"/>
          </p:cNvSpPr>
          <p:nvPr/>
        </p:nvSpPr>
        <p:spPr bwMode="auto">
          <a:xfrm>
            <a:off x="5151930" y="2784150"/>
            <a:ext cx="2192909"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0 0 0 0 0 0 0 0 0 0 0 0 0 0 0 0</a:t>
            </a:r>
          </a:p>
        </p:txBody>
      </p:sp>
      <p:sp>
        <p:nvSpPr>
          <p:cNvPr id="67" name="Rectangle 29"/>
          <p:cNvSpPr>
            <a:spLocks noChangeArrowheads="1"/>
          </p:cNvSpPr>
          <p:nvPr/>
        </p:nvSpPr>
        <p:spPr bwMode="auto">
          <a:xfrm>
            <a:off x="3154393" y="2763886"/>
            <a:ext cx="2024833" cy="300094"/>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8" name="Rectangle 41"/>
          <p:cNvSpPr>
            <a:spLocks noChangeArrowheads="1"/>
          </p:cNvSpPr>
          <p:nvPr/>
        </p:nvSpPr>
        <p:spPr bwMode="auto">
          <a:xfrm>
            <a:off x="3087967" y="2784150"/>
            <a:ext cx="2192909"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a:t>
            </a:r>
          </a:p>
        </p:txBody>
      </p:sp>
      <p:sp>
        <p:nvSpPr>
          <p:cNvPr id="69" name="Rectangle 19"/>
          <p:cNvSpPr>
            <a:spLocks noChangeArrowheads="1"/>
          </p:cNvSpPr>
          <p:nvPr/>
        </p:nvSpPr>
        <p:spPr bwMode="auto">
          <a:xfrm>
            <a:off x="3154393" y="1695705"/>
            <a:ext cx="1055799" cy="30009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Rectangle 52"/>
          <p:cNvSpPr>
            <a:spLocks noChangeArrowheads="1"/>
          </p:cNvSpPr>
          <p:nvPr/>
        </p:nvSpPr>
        <p:spPr bwMode="auto">
          <a:xfrm>
            <a:off x="4196602" y="1696670"/>
            <a:ext cx="3075405" cy="300094"/>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Rectangle 43"/>
          <p:cNvSpPr>
            <a:spLocks noChangeArrowheads="1"/>
          </p:cNvSpPr>
          <p:nvPr/>
        </p:nvSpPr>
        <p:spPr bwMode="auto">
          <a:xfrm>
            <a:off x="3096330" y="1725618"/>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a:t>
            </a:r>
          </a:p>
        </p:txBody>
      </p:sp>
      <p:sp>
        <p:nvSpPr>
          <p:cNvPr id="72" name="Rectangle 40"/>
          <p:cNvSpPr>
            <a:spLocks noChangeArrowheads="1"/>
          </p:cNvSpPr>
          <p:nvPr/>
        </p:nvSpPr>
        <p:spPr bwMode="auto">
          <a:xfrm>
            <a:off x="4151535" y="1725618"/>
            <a:ext cx="3218831" cy="259045"/>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0 0 0 0 0 0 0 0 0 0 0 0 0 0 0 0 0 0 0 0 0 0 0 0</a:t>
            </a:r>
          </a:p>
        </p:txBody>
      </p:sp>
      <p:sp>
        <p:nvSpPr>
          <p:cNvPr id="74" name="Rectangle 3"/>
          <p:cNvSpPr>
            <a:spLocks noChangeArrowheads="1"/>
          </p:cNvSpPr>
          <p:nvPr/>
        </p:nvSpPr>
        <p:spPr bwMode="auto">
          <a:xfrm>
            <a:off x="3152302" y="3347671"/>
            <a:ext cx="3081678" cy="30202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5" name="Rectangle 4"/>
          <p:cNvSpPr>
            <a:spLocks noChangeArrowheads="1"/>
          </p:cNvSpPr>
          <p:nvPr/>
        </p:nvSpPr>
        <p:spPr bwMode="auto">
          <a:xfrm>
            <a:off x="4385888" y="336021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76" name="Line 5"/>
          <p:cNvSpPr>
            <a:spLocks noChangeShapeType="1"/>
          </p:cNvSpPr>
          <p:nvPr/>
        </p:nvSpPr>
        <p:spPr bwMode="auto">
          <a:xfrm>
            <a:off x="6237115" y="3338022"/>
            <a:ext cx="0" cy="30781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7" name="Rectangle 6"/>
          <p:cNvSpPr>
            <a:spLocks noChangeArrowheads="1"/>
          </p:cNvSpPr>
          <p:nvPr/>
        </p:nvSpPr>
        <p:spPr bwMode="auto">
          <a:xfrm>
            <a:off x="3149166" y="3339952"/>
            <a:ext cx="4133295" cy="31553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8" name="Rectangle 7"/>
          <p:cNvSpPr>
            <a:spLocks noChangeArrowheads="1"/>
          </p:cNvSpPr>
          <p:nvPr/>
        </p:nvSpPr>
        <p:spPr bwMode="auto">
          <a:xfrm>
            <a:off x="3155437" y="1251835"/>
            <a:ext cx="1033847" cy="30009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9" name="Rectangle 8"/>
          <p:cNvSpPr>
            <a:spLocks noChangeArrowheads="1"/>
          </p:cNvSpPr>
          <p:nvPr/>
        </p:nvSpPr>
        <p:spPr bwMode="auto">
          <a:xfrm>
            <a:off x="4211236" y="1248940"/>
            <a:ext cx="3060771" cy="307814"/>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Rectangle 9"/>
          <p:cNvSpPr>
            <a:spLocks noChangeArrowheads="1"/>
          </p:cNvSpPr>
          <p:nvPr/>
        </p:nvSpPr>
        <p:spPr bwMode="auto">
          <a:xfrm>
            <a:off x="3371834" y="1261733"/>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81" name="Rectangle 10"/>
          <p:cNvSpPr>
            <a:spLocks noChangeArrowheads="1"/>
          </p:cNvSpPr>
          <p:nvPr/>
        </p:nvSpPr>
        <p:spPr bwMode="auto">
          <a:xfrm>
            <a:off x="5348351" y="1261733"/>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82" name="Line 11"/>
          <p:cNvSpPr>
            <a:spLocks noChangeShapeType="1"/>
          </p:cNvSpPr>
          <p:nvPr/>
        </p:nvSpPr>
        <p:spPr bwMode="auto">
          <a:xfrm>
            <a:off x="4198692" y="1248940"/>
            <a:ext cx="0" cy="30877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Rectangle 12"/>
          <p:cNvSpPr>
            <a:spLocks noChangeArrowheads="1"/>
          </p:cNvSpPr>
          <p:nvPr/>
        </p:nvSpPr>
        <p:spPr bwMode="auto">
          <a:xfrm>
            <a:off x="3150211" y="1243151"/>
            <a:ext cx="4135386"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4" name="Rectangle 13"/>
          <p:cNvSpPr>
            <a:spLocks noChangeArrowheads="1"/>
          </p:cNvSpPr>
          <p:nvPr/>
        </p:nvSpPr>
        <p:spPr bwMode="auto">
          <a:xfrm>
            <a:off x="3152302" y="2291069"/>
            <a:ext cx="2026924" cy="300094"/>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5" name="Rectangle 14"/>
          <p:cNvSpPr>
            <a:spLocks noChangeArrowheads="1"/>
          </p:cNvSpPr>
          <p:nvPr/>
        </p:nvSpPr>
        <p:spPr bwMode="auto">
          <a:xfrm>
            <a:off x="3868376" y="230482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86" name="Line 15"/>
          <p:cNvSpPr>
            <a:spLocks noChangeShapeType="1"/>
          </p:cNvSpPr>
          <p:nvPr/>
        </p:nvSpPr>
        <p:spPr bwMode="auto">
          <a:xfrm>
            <a:off x="5191770" y="2288174"/>
            <a:ext cx="0" cy="30877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7" name="Rectangle 16"/>
          <p:cNvSpPr>
            <a:spLocks noChangeArrowheads="1"/>
          </p:cNvSpPr>
          <p:nvPr/>
        </p:nvSpPr>
        <p:spPr bwMode="auto">
          <a:xfrm>
            <a:off x="3148120" y="2282384"/>
            <a:ext cx="4134340" cy="31553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Rectangle 18"/>
          <p:cNvSpPr>
            <a:spLocks noChangeArrowheads="1"/>
          </p:cNvSpPr>
          <p:nvPr/>
        </p:nvSpPr>
        <p:spPr bwMode="auto">
          <a:xfrm>
            <a:off x="6243387" y="3347670"/>
            <a:ext cx="1033848" cy="303383"/>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Rectangle 21"/>
          <p:cNvSpPr>
            <a:spLocks noChangeArrowheads="1"/>
          </p:cNvSpPr>
          <p:nvPr/>
        </p:nvSpPr>
        <p:spPr bwMode="auto">
          <a:xfrm>
            <a:off x="3149166" y="1687020"/>
            <a:ext cx="4135386" cy="315533"/>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Text Box 23"/>
          <p:cNvSpPr txBox="1">
            <a:spLocks noChangeArrowheads="1"/>
          </p:cNvSpPr>
          <p:nvPr/>
        </p:nvSpPr>
        <p:spPr bwMode="auto">
          <a:xfrm>
            <a:off x="1612692" y="1276427"/>
            <a:ext cx="346570"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A</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2" name="Rectangle 24"/>
          <p:cNvSpPr>
            <a:spLocks noChangeArrowheads="1"/>
          </p:cNvSpPr>
          <p:nvPr/>
        </p:nvSpPr>
        <p:spPr bwMode="auto">
          <a:xfrm>
            <a:off x="2049347" y="1635148"/>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255.0.0.0</a:t>
            </a:r>
          </a:p>
        </p:txBody>
      </p:sp>
      <p:sp>
        <p:nvSpPr>
          <p:cNvPr id="94" name="Text Box 26"/>
          <p:cNvSpPr txBox="1">
            <a:spLocks noChangeArrowheads="1"/>
          </p:cNvSpPr>
          <p:nvPr/>
        </p:nvSpPr>
        <p:spPr bwMode="auto">
          <a:xfrm>
            <a:off x="1618267" y="2288486"/>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B</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5" name="Rectangle 27"/>
          <p:cNvSpPr>
            <a:spLocks noChangeArrowheads="1"/>
          </p:cNvSpPr>
          <p:nvPr/>
        </p:nvSpPr>
        <p:spPr bwMode="auto">
          <a:xfrm>
            <a:off x="2049347" y="2705932"/>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255.255.0.0</a:t>
            </a:r>
          </a:p>
        </p:txBody>
      </p:sp>
      <p:sp>
        <p:nvSpPr>
          <p:cNvPr id="96" name="Rectangle 31"/>
          <p:cNvSpPr>
            <a:spLocks noChangeArrowheads="1"/>
          </p:cNvSpPr>
          <p:nvPr/>
        </p:nvSpPr>
        <p:spPr bwMode="auto">
          <a:xfrm>
            <a:off x="3149166" y="2755202"/>
            <a:ext cx="4135386"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Text Box 33"/>
          <p:cNvSpPr txBox="1">
            <a:spLocks noChangeArrowheads="1"/>
          </p:cNvSpPr>
          <p:nvPr/>
        </p:nvSpPr>
        <p:spPr bwMode="auto">
          <a:xfrm>
            <a:off x="1618267" y="3366878"/>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C</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9" name="Rectangle 34"/>
          <p:cNvSpPr>
            <a:spLocks noChangeArrowheads="1"/>
          </p:cNvSpPr>
          <p:nvPr/>
        </p:nvSpPr>
        <p:spPr bwMode="auto">
          <a:xfrm>
            <a:off x="1979616" y="3770488"/>
            <a:ext cx="1168590"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255.255.255.0</a:t>
            </a:r>
          </a:p>
        </p:txBody>
      </p:sp>
      <p:sp>
        <p:nvSpPr>
          <p:cNvPr id="100" name="Rectangle 37"/>
          <p:cNvSpPr>
            <a:spLocks noChangeArrowheads="1"/>
          </p:cNvSpPr>
          <p:nvPr/>
        </p:nvSpPr>
        <p:spPr bwMode="auto">
          <a:xfrm>
            <a:off x="3146030" y="3823384"/>
            <a:ext cx="4134340"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Rectangle 45"/>
          <p:cNvSpPr>
            <a:spLocks noChangeArrowheads="1"/>
          </p:cNvSpPr>
          <p:nvPr/>
        </p:nvSpPr>
        <p:spPr bwMode="auto">
          <a:xfrm>
            <a:off x="5198042" y="2290104"/>
            <a:ext cx="2073965" cy="29334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Rectangle 46"/>
          <p:cNvSpPr>
            <a:spLocks noChangeArrowheads="1"/>
          </p:cNvSpPr>
          <p:nvPr/>
        </p:nvSpPr>
        <p:spPr bwMode="auto">
          <a:xfrm>
            <a:off x="6386638" y="3363110"/>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103" name="Rectangle 47"/>
          <p:cNvSpPr>
            <a:spLocks noChangeArrowheads="1"/>
          </p:cNvSpPr>
          <p:nvPr/>
        </p:nvSpPr>
        <p:spPr bwMode="auto">
          <a:xfrm>
            <a:off x="5872617" y="2304826"/>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grpSp>
        <p:nvGrpSpPr>
          <p:cNvPr id="104" name="组合 103"/>
          <p:cNvGrpSpPr/>
          <p:nvPr/>
        </p:nvGrpSpPr>
        <p:grpSpPr>
          <a:xfrm>
            <a:off x="1578634" y="2136679"/>
            <a:ext cx="5798097" cy="1068182"/>
            <a:chOff x="24077" y="2916585"/>
            <a:chExt cx="9785615" cy="1757362"/>
          </a:xfrm>
        </p:grpSpPr>
        <p:sp>
          <p:nvSpPr>
            <p:cNvPr id="106" name="Line 48"/>
            <p:cNvSpPr>
              <a:spLocks noChangeShapeType="1"/>
            </p:cNvSpPr>
            <p:nvPr/>
          </p:nvSpPr>
          <p:spPr bwMode="auto">
            <a:xfrm>
              <a:off x="24077" y="2916585"/>
              <a:ext cx="97856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7" name="Line 49"/>
            <p:cNvSpPr>
              <a:spLocks noChangeShapeType="1"/>
            </p:cNvSpPr>
            <p:nvPr/>
          </p:nvSpPr>
          <p:spPr bwMode="auto">
            <a:xfrm>
              <a:off x="24077" y="4673947"/>
              <a:ext cx="97856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05" name="Line 50"/>
          <p:cNvSpPr>
            <a:spLocks noChangeShapeType="1"/>
          </p:cNvSpPr>
          <p:nvPr/>
        </p:nvSpPr>
        <p:spPr bwMode="auto">
          <a:xfrm>
            <a:off x="1941035" y="1135078"/>
            <a:ext cx="0" cy="3137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Tree>
    <p:extLst>
      <p:ext uri="{BB962C8B-B14F-4D97-AF65-F5344CB8AC3E}">
        <p14:creationId xmlns:p14="http://schemas.microsoft.com/office/powerpoint/2010/main" val="3739123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5698996" cy="400110"/>
          </a:xfrm>
          <a:prstGeom prst="rect">
            <a:avLst/>
          </a:prstGeom>
        </p:spPr>
        <p:txBody>
          <a:bodyPr wrap="none">
            <a:spAutoFit/>
          </a:bodyPr>
          <a:lstStyle/>
          <a:p>
            <a:r>
              <a:rPr lang="zh-CN" altLang="en-US" sz="2000" b="1" dirty="0">
                <a:latin typeface="微软雅黑" pitchFamily="34" charset="-122"/>
                <a:ea typeface="微软雅黑" pitchFamily="34" charset="-122"/>
              </a:rPr>
              <a:t>网络地址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二进制的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r>
              <a:rPr lang="en-US" altLang="zh-CN" sz="2000" b="1" dirty="0">
                <a:latin typeface="微软雅黑" pitchFamily="34" charset="-122"/>
                <a:ea typeface="微软雅黑" pitchFamily="34" charset="-122"/>
              </a:rPr>
              <a:t>) AND (</a:t>
            </a:r>
            <a:r>
              <a:rPr lang="zh-CN" altLang="en-US" sz="2000" b="1" dirty="0">
                <a:latin typeface="微软雅黑" pitchFamily="34" charset="-122"/>
                <a:ea typeface="微软雅黑" pitchFamily="34" charset="-122"/>
              </a:rPr>
              <a:t>地址掩码</a:t>
            </a:r>
            <a:r>
              <a:rPr lang="en-US" altLang="zh-CN" sz="2000" b="1" dirty="0">
                <a:latin typeface="微软雅黑" pitchFamily="34" charset="-122"/>
                <a:ea typeface="微软雅黑" pitchFamily="34" charset="-122"/>
              </a:rPr>
              <a:t>)</a:t>
            </a:r>
            <a:endParaRPr lang="zh-CN" altLang="en-US" sz="2000" b="1" dirty="0">
              <a:latin typeface="微软雅黑" pitchFamily="34" charset="-122"/>
              <a:ea typeface="微软雅黑" pitchFamily="34" charset="-122"/>
            </a:endParaRPr>
          </a:p>
        </p:txBody>
      </p:sp>
      <p:sp>
        <p:nvSpPr>
          <p:cNvPr id="144" name="圆角矩形 143"/>
          <p:cNvSpPr/>
          <p:nvPr/>
        </p:nvSpPr>
        <p:spPr>
          <a:xfrm>
            <a:off x="545144" y="1024784"/>
            <a:ext cx="8053712" cy="284847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47" name="Rectangle 3"/>
          <p:cNvSpPr>
            <a:spLocks noChangeArrowheads="1"/>
          </p:cNvSpPr>
          <p:nvPr/>
        </p:nvSpPr>
        <p:spPr bwMode="auto">
          <a:xfrm>
            <a:off x="2348381" y="1380890"/>
            <a:ext cx="5470145" cy="329184"/>
          </a:xfrm>
          <a:prstGeom prst="rect">
            <a:avLst/>
          </a:prstGeom>
          <a:solidFill>
            <a:srgbClr val="00FFFF"/>
          </a:solidFill>
          <a:ln w="12700">
            <a:solidFill>
              <a:srgbClr val="333399"/>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1" name="Rectangle 8"/>
          <p:cNvSpPr>
            <a:spLocks noChangeArrowheads="1"/>
          </p:cNvSpPr>
          <p:nvPr/>
        </p:nvSpPr>
        <p:spPr bwMode="auto">
          <a:xfrm>
            <a:off x="2359372" y="1389909"/>
            <a:ext cx="2685610" cy="314529"/>
          </a:xfrm>
          <a:prstGeom prst="rect">
            <a:avLst/>
          </a:prstGeom>
          <a:solidFill>
            <a:srgbClr val="00FF99"/>
          </a:solidFill>
          <a:ln>
            <a:noFill/>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2" name="Rectangle 9"/>
          <p:cNvSpPr>
            <a:spLocks noChangeArrowheads="1"/>
          </p:cNvSpPr>
          <p:nvPr/>
        </p:nvSpPr>
        <p:spPr bwMode="auto">
          <a:xfrm>
            <a:off x="3314419" y="1402993"/>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53" name="Rectangle 10"/>
          <p:cNvSpPr>
            <a:spLocks noChangeArrowheads="1"/>
          </p:cNvSpPr>
          <p:nvPr/>
        </p:nvSpPr>
        <p:spPr bwMode="auto">
          <a:xfrm>
            <a:off x="6084298" y="1402993"/>
            <a:ext cx="682880" cy="28982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a:latin typeface="微软雅黑" pitchFamily="34" charset="-122"/>
                <a:ea typeface="微软雅黑" pitchFamily="34" charset="-122"/>
              </a:rPr>
              <a:t>主机号</a:t>
            </a:r>
          </a:p>
        </p:txBody>
      </p:sp>
      <p:sp>
        <p:nvSpPr>
          <p:cNvPr id="154" name="Rectangle 11"/>
          <p:cNvSpPr>
            <a:spLocks noChangeArrowheads="1"/>
          </p:cNvSpPr>
          <p:nvPr/>
        </p:nvSpPr>
        <p:spPr bwMode="auto">
          <a:xfrm>
            <a:off x="1571140" y="1389909"/>
            <a:ext cx="77425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sp>
        <p:nvSpPr>
          <p:cNvPr id="156" name="Line 13"/>
          <p:cNvSpPr>
            <a:spLocks noChangeShapeType="1"/>
          </p:cNvSpPr>
          <p:nvPr/>
        </p:nvSpPr>
        <p:spPr bwMode="auto">
          <a:xfrm>
            <a:off x="5051089" y="1386528"/>
            <a:ext cx="0" cy="32242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70" name="Rectangle 29"/>
          <p:cNvSpPr>
            <a:spLocks noChangeArrowheads="1"/>
          </p:cNvSpPr>
          <p:nvPr/>
        </p:nvSpPr>
        <p:spPr bwMode="auto">
          <a:xfrm>
            <a:off x="1444502" y="2318371"/>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地址掩码</a:t>
            </a:r>
          </a:p>
        </p:txBody>
      </p:sp>
      <p:sp>
        <p:nvSpPr>
          <p:cNvPr id="173" name="Rectangle 47"/>
          <p:cNvSpPr>
            <a:spLocks noChangeArrowheads="1"/>
          </p:cNvSpPr>
          <p:nvPr/>
        </p:nvSpPr>
        <p:spPr bwMode="auto">
          <a:xfrm>
            <a:off x="5051404" y="2292592"/>
            <a:ext cx="2764128" cy="357368"/>
          </a:xfrm>
          <a:prstGeom prst="rect">
            <a:avLst/>
          </a:prstGeom>
          <a:solidFill>
            <a:srgbClr val="00FFFF"/>
          </a:solidFill>
          <a:ln w="9525">
            <a:solidFill>
              <a:schemeClr val="tx1"/>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74" name="Rectangle 48"/>
          <p:cNvSpPr>
            <a:spLocks noChangeArrowheads="1"/>
          </p:cNvSpPr>
          <p:nvPr/>
        </p:nvSpPr>
        <p:spPr bwMode="auto">
          <a:xfrm>
            <a:off x="2351813" y="2292592"/>
            <a:ext cx="2699591" cy="357368"/>
          </a:xfrm>
          <a:prstGeom prst="rect">
            <a:avLst/>
          </a:prstGeom>
          <a:solidFill>
            <a:srgbClr val="FFCC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grpSp>
        <p:nvGrpSpPr>
          <p:cNvPr id="175" name="Group 49"/>
          <p:cNvGrpSpPr>
            <a:grpSpLocks/>
          </p:cNvGrpSpPr>
          <p:nvPr/>
        </p:nvGrpSpPr>
        <p:grpSpPr bwMode="auto">
          <a:xfrm>
            <a:off x="2452588" y="2338813"/>
            <a:ext cx="5298407" cy="289727"/>
            <a:chOff x="1174" y="3062"/>
            <a:chExt cx="4391" cy="257"/>
          </a:xfrm>
        </p:grpSpPr>
        <p:sp>
          <p:nvSpPr>
            <p:cNvPr id="176" name="Rectangle 50"/>
            <p:cNvSpPr>
              <a:spLocks noChangeArrowheads="1"/>
            </p:cNvSpPr>
            <p:nvPr/>
          </p:nvSpPr>
          <p:spPr bwMode="auto">
            <a:xfrm>
              <a:off x="1174" y="3062"/>
              <a:ext cx="2147" cy="2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1 1 1 1 1 1 1 1 1 1 1 1 1 1 1 1</a:t>
              </a:r>
            </a:p>
          </p:txBody>
        </p:sp>
        <p:sp>
          <p:nvSpPr>
            <p:cNvPr id="177" name="Rectangle 51"/>
            <p:cNvSpPr>
              <a:spLocks noChangeArrowheads="1"/>
            </p:cNvSpPr>
            <p:nvPr/>
          </p:nvSpPr>
          <p:spPr bwMode="auto">
            <a:xfrm>
              <a:off x="3391" y="3062"/>
              <a:ext cx="2174" cy="25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grpSp>
      <p:sp>
        <p:nvSpPr>
          <p:cNvPr id="185" name="AutoShape 61"/>
          <p:cNvSpPr>
            <a:spLocks noChangeArrowheads="1"/>
          </p:cNvSpPr>
          <p:nvPr/>
        </p:nvSpPr>
        <p:spPr bwMode="auto">
          <a:xfrm>
            <a:off x="4848045" y="2710444"/>
            <a:ext cx="431321" cy="357367"/>
          </a:xfrm>
          <a:prstGeom prst="downArrow">
            <a:avLst>
              <a:gd name="adj1" fmla="val 47126"/>
              <a:gd name="adj2" fmla="val 34655"/>
            </a:avLst>
          </a:prstGeom>
          <a:solidFill>
            <a:srgbClr val="FFC000"/>
          </a:solidFill>
          <a:ln w="9525">
            <a:solidFill>
              <a:schemeClr val="tx1"/>
            </a:solidFill>
            <a:miter lim="800000"/>
            <a:headEnd/>
            <a:tailEnd/>
          </a:ln>
          <a:effectLst/>
        </p:spPr>
        <p:txBody>
          <a:bodyPr vert="eaVert" wrap="none" anchor="ctr"/>
          <a:lstStyle/>
          <a:p>
            <a:endParaRPr lang="zh-CN" altLang="en-US" sz="1300" b="1">
              <a:solidFill>
                <a:srgbClr val="0000CC"/>
              </a:solidFill>
              <a:latin typeface="微软雅黑" pitchFamily="34" charset="-122"/>
              <a:ea typeface="微软雅黑" pitchFamily="34" charset="-122"/>
            </a:endParaRPr>
          </a:p>
        </p:txBody>
      </p:sp>
      <p:sp>
        <p:nvSpPr>
          <p:cNvPr id="186" name="Rectangle 60"/>
          <p:cNvSpPr>
            <a:spLocks noChangeArrowheads="1"/>
          </p:cNvSpPr>
          <p:nvPr/>
        </p:nvSpPr>
        <p:spPr bwMode="auto">
          <a:xfrm>
            <a:off x="2345327" y="1787260"/>
            <a:ext cx="5470205" cy="426135"/>
          </a:xfrm>
          <a:prstGeom prst="rect">
            <a:avLst/>
          </a:prstGeom>
          <a:solidFill>
            <a:srgbClr val="0000CC"/>
          </a:solidFill>
          <a:ln>
            <a:noFill/>
          </a:ln>
          <a:effectLst/>
        </p:spPr>
        <p:txBody>
          <a:bodyPr wrap="none" anchor="ctr"/>
          <a:lstStyle/>
          <a:p>
            <a:pPr algn="ctr"/>
            <a:r>
              <a:rPr lang="zh-CN" altLang="en-US" b="1" dirty="0">
                <a:solidFill>
                  <a:schemeClr val="bg1"/>
                </a:solidFill>
                <a:latin typeface="微软雅黑" pitchFamily="34" charset="-122"/>
                <a:ea typeface="微软雅黑" pitchFamily="34" charset="-122"/>
              </a:rPr>
              <a:t>逐位进行 </a:t>
            </a:r>
            <a:r>
              <a:rPr lang="en-US" altLang="zh-CN" b="1" dirty="0">
                <a:solidFill>
                  <a:schemeClr val="bg1"/>
                </a:solidFill>
                <a:latin typeface="微软雅黑" pitchFamily="34" charset="-122"/>
                <a:ea typeface="微软雅黑" pitchFamily="34" charset="-122"/>
              </a:rPr>
              <a:t>AND </a:t>
            </a:r>
            <a:r>
              <a:rPr lang="zh-CN" altLang="en-US" b="1" dirty="0">
                <a:solidFill>
                  <a:schemeClr val="bg1"/>
                </a:solidFill>
                <a:latin typeface="微软雅黑" pitchFamily="34" charset="-122"/>
                <a:ea typeface="微软雅黑" pitchFamily="34" charset="-122"/>
              </a:rPr>
              <a:t>运算</a:t>
            </a:r>
          </a:p>
        </p:txBody>
      </p:sp>
      <p:grpSp>
        <p:nvGrpSpPr>
          <p:cNvPr id="5" name="组合 4"/>
          <p:cNvGrpSpPr/>
          <p:nvPr/>
        </p:nvGrpSpPr>
        <p:grpSpPr>
          <a:xfrm>
            <a:off x="1444502" y="3130150"/>
            <a:ext cx="6358146" cy="357368"/>
            <a:chOff x="1444502" y="3130150"/>
            <a:chExt cx="6358146" cy="357368"/>
          </a:xfrm>
        </p:grpSpPr>
        <p:sp>
          <p:nvSpPr>
            <p:cNvPr id="172" name="Rectangle 46"/>
            <p:cNvSpPr>
              <a:spLocks noChangeArrowheads="1"/>
            </p:cNvSpPr>
            <p:nvPr/>
          </p:nvSpPr>
          <p:spPr bwMode="auto">
            <a:xfrm>
              <a:off x="1444502" y="3157391"/>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网络地址</a:t>
              </a:r>
            </a:p>
          </p:txBody>
        </p:sp>
        <p:sp>
          <p:nvSpPr>
            <p:cNvPr id="179" name="Rectangle 53"/>
            <p:cNvSpPr>
              <a:spLocks noChangeArrowheads="1"/>
            </p:cNvSpPr>
            <p:nvPr/>
          </p:nvSpPr>
          <p:spPr bwMode="auto">
            <a:xfrm>
              <a:off x="5057826" y="3130150"/>
              <a:ext cx="2744822" cy="357368"/>
            </a:xfrm>
            <a:prstGeom prst="rect">
              <a:avLst/>
            </a:prstGeom>
            <a:solidFill>
              <a:srgbClr val="00FFFF"/>
            </a:solidFill>
            <a:ln w="9525">
              <a:solidFill>
                <a:schemeClr val="tx1"/>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80" name="Rectangle 54"/>
            <p:cNvSpPr>
              <a:spLocks noChangeArrowheads="1"/>
            </p:cNvSpPr>
            <p:nvPr/>
          </p:nvSpPr>
          <p:spPr bwMode="auto">
            <a:xfrm>
              <a:off x="2351813" y="3130150"/>
              <a:ext cx="2699591" cy="357368"/>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82" name="Rectangle 57"/>
            <p:cNvSpPr>
              <a:spLocks noChangeArrowheads="1"/>
            </p:cNvSpPr>
            <p:nvPr/>
          </p:nvSpPr>
          <p:spPr bwMode="auto">
            <a:xfrm>
              <a:off x="3349605" y="3172938"/>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87" name="Rectangle 51"/>
            <p:cNvSpPr>
              <a:spLocks noChangeArrowheads="1"/>
            </p:cNvSpPr>
            <p:nvPr/>
          </p:nvSpPr>
          <p:spPr bwMode="auto">
            <a:xfrm>
              <a:off x="5114108" y="3170646"/>
              <a:ext cx="2623260" cy="2897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grpSp>
    </p:spTree>
    <p:extLst>
      <p:ext uri="{BB962C8B-B14F-4D97-AF65-F5344CB8AC3E}">
        <p14:creationId xmlns:p14="http://schemas.microsoft.com/office/powerpoint/2010/main" val="36639903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6"/>
                                        </p:tgtEl>
                                        <p:attrNameLst>
                                          <p:attrName>style.visibility</p:attrName>
                                        </p:attrNameLst>
                                      </p:cBhvr>
                                      <p:to>
                                        <p:strVal val="visible"/>
                                      </p:to>
                                    </p:set>
                                  </p:childTnLst>
                                </p:cTn>
                              </p:par>
                              <p:par>
                                <p:cTn id="7" presetID="35" presetClass="emph" presetSubtype="0" repeatCount="3000" fill="hold" nodeType="withEffect">
                                  <p:stCondLst>
                                    <p:cond delay="1000"/>
                                  </p:stCondLst>
                                  <p:childTnLst>
                                    <p:anim calcmode="discrete" valueType="str">
                                      <p:cBhvr>
                                        <p:cTn id="8" dur="1000" fill="hold"/>
                                        <p:tgtEl>
                                          <p:spTgt spid="175"/>
                                        </p:tgtEl>
                                        <p:attrNameLst>
                                          <p:attrName>style.visibility</p:attrName>
                                        </p:attrNameLst>
                                      </p:cBhvr>
                                      <p:tavLst>
                                        <p:tav tm="0">
                                          <p:val>
                                            <p:strVal val="hidden"/>
                                          </p:val>
                                        </p:tav>
                                        <p:tav tm="50000">
                                          <p:val>
                                            <p:strVal val="visible"/>
                                          </p:val>
                                        </p:tav>
                                      </p:tavLst>
                                    </p:anim>
                                  </p:childTnLst>
                                </p:cTn>
                              </p:par>
                            </p:childTnLst>
                          </p:cTn>
                        </p:par>
                        <p:par>
                          <p:cTn id="9" fill="hold">
                            <p:stCondLst>
                              <p:cond delay="4000"/>
                            </p:stCondLst>
                            <p:childTnLst>
                              <p:par>
                                <p:cTn id="10" presetID="22" presetClass="entr" presetSubtype="1" fill="hold" grpId="0" nodeType="afterEffect">
                                  <p:stCondLst>
                                    <p:cond delay="0"/>
                                  </p:stCondLst>
                                  <p:childTnLst>
                                    <p:set>
                                      <p:cBhvr>
                                        <p:cTn id="11" dur="1" fill="hold">
                                          <p:stCondLst>
                                            <p:cond delay="0"/>
                                          </p:stCondLst>
                                        </p:cTn>
                                        <p:tgtEl>
                                          <p:spTgt spid="185"/>
                                        </p:tgtEl>
                                        <p:attrNameLst>
                                          <p:attrName>style.visibility</p:attrName>
                                        </p:attrNameLst>
                                      </p:cBhvr>
                                      <p:to>
                                        <p:strVal val="visible"/>
                                      </p:to>
                                    </p:set>
                                    <p:animEffect transition="in" filter="wipe(up)">
                                      <p:cBhvr>
                                        <p:cTn id="12" dur="1500"/>
                                        <p:tgtEl>
                                          <p:spTgt spid="185"/>
                                        </p:tgtEl>
                                      </p:cBhvr>
                                    </p:animEffect>
                                  </p:childTnLst>
                                </p:cTn>
                              </p:par>
                            </p:childTnLst>
                          </p:cTn>
                        </p:par>
                        <p:par>
                          <p:cTn id="13" fill="hold">
                            <p:stCondLst>
                              <p:cond delay="5500"/>
                            </p:stCondLst>
                            <p:childTnLst>
                              <p:par>
                                <p:cTn id="14" presetID="22" presetClass="entr" presetSubtype="1"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up)">
                                      <p:cBhvr>
                                        <p:cTn id="16"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5" grpId="0" animBg="1"/>
      <p:bldP spid="18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5698996" cy="400110"/>
          </a:xfrm>
          <a:prstGeom prst="rect">
            <a:avLst/>
          </a:prstGeom>
        </p:spPr>
        <p:txBody>
          <a:bodyPr wrap="none">
            <a:spAutoFit/>
          </a:bodyPr>
          <a:lstStyle/>
          <a:p>
            <a:r>
              <a:rPr lang="zh-CN" altLang="en-US" sz="2000" b="1" dirty="0">
                <a:latin typeface="微软雅黑" pitchFamily="34" charset="-122"/>
                <a:ea typeface="微软雅黑" pitchFamily="34" charset="-122"/>
              </a:rPr>
              <a:t>网络地址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二进制的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r>
              <a:rPr lang="en-US" altLang="zh-CN" sz="2000" b="1" dirty="0">
                <a:latin typeface="微软雅黑" pitchFamily="34" charset="-122"/>
                <a:ea typeface="微软雅黑" pitchFamily="34" charset="-122"/>
              </a:rPr>
              <a:t>) AND (</a:t>
            </a:r>
            <a:r>
              <a:rPr lang="zh-CN" altLang="en-US" sz="2000" b="1" dirty="0">
                <a:latin typeface="微软雅黑" pitchFamily="34" charset="-122"/>
                <a:ea typeface="微软雅黑" pitchFamily="34" charset="-122"/>
              </a:rPr>
              <a:t>地址掩码</a:t>
            </a:r>
            <a:r>
              <a:rPr lang="en-US" altLang="zh-CN" sz="2000" b="1" dirty="0">
                <a:latin typeface="微软雅黑" pitchFamily="34" charset="-122"/>
                <a:ea typeface="微软雅黑" pitchFamily="34" charset="-122"/>
              </a:rPr>
              <a:t>)</a:t>
            </a:r>
            <a:endParaRPr lang="zh-CN" altLang="en-US" sz="2000" b="1" dirty="0">
              <a:latin typeface="微软雅黑" pitchFamily="34" charset="-122"/>
              <a:ea typeface="微软雅黑" pitchFamily="34" charset="-122"/>
            </a:endParaRPr>
          </a:p>
        </p:txBody>
      </p:sp>
      <p:sp>
        <p:nvSpPr>
          <p:cNvPr id="33" name="圆角矩形 32"/>
          <p:cNvSpPr/>
          <p:nvPr/>
        </p:nvSpPr>
        <p:spPr>
          <a:xfrm>
            <a:off x="545144" y="1024783"/>
            <a:ext cx="8053712" cy="332292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7" name="组合 6"/>
          <p:cNvGrpSpPr/>
          <p:nvPr/>
        </p:nvGrpSpPr>
        <p:grpSpPr>
          <a:xfrm>
            <a:off x="828136" y="1586667"/>
            <a:ext cx="7267413" cy="322464"/>
            <a:chOff x="828136" y="1698805"/>
            <a:chExt cx="7267413" cy="322464"/>
          </a:xfrm>
        </p:grpSpPr>
        <p:sp>
          <p:nvSpPr>
            <p:cNvPr id="43" name="Rectangle 33"/>
            <p:cNvSpPr>
              <a:spLocks noChangeArrowheads="1"/>
            </p:cNvSpPr>
            <p:nvPr/>
          </p:nvSpPr>
          <p:spPr bwMode="auto">
            <a:xfrm>
              <a:off x="3642866" y="1708850"/>
              <a:ext cx="4452683"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34"/>
            <p:cNvSpPr>
              <a:spLocks noChangeArrowheads="1"/>
            </p:cNvSpPr>
            <p:nvPr/>
          </p:nvSpPr>
          <p:spPr bwMode="auto">
            <a:xfrm>
              <a:off x="828136" y="1716057"/>
              <a:ext cx="202299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(a) </a:t>
              </a:r>
              <a:r>
                <a:rPr kumimoji="1" lang="zh-CN" altLang="en-US" sz="1400" b="1" dirty="0">
                  <a:latin typeface="微软雅黑" pitchFamily="34" charset="-122"/>
                  <a:ea typeface="微软雅黑" pitchFamily="34" charset="-122"/>
                </a:rPr>
                <a:t>点分十进制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50" name="Text Box 45"/>
            <p:cNvSpPr txBox="1">
              <a:spLocks noChangeArrowheads="1"/>
            </p:cNvSpPr>
            <p:nvPr/>
          </p:nvSpPr>
          <p:spPr bwMode="auto">
            <a:xfrm>
              <a:off x="3948549" y="1698805"/>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51" name="Text Box 46"/>
            <p:cNvSpPr txBox="1">
              <a:spLocks noChangeArrowheads="1"/>
            </p:cNvSpPr>
            <p:nvPr/>
          </p:nvSpPr>
          <p:spPr bwMode="auto">
            <a:xfrm>
              <a:off x="5852996" y="1698805"/>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35            .        7</a:t>
              </a:r>
            </a:p>
          </p:txBody>
        </p:sp>
      </p:grpSp>
      <p:grpSp>
        <p:nvGrpSpPr>
          <p:cNvPr id="9" name="组合 8"/>
          <p:cNvGrpSpPr/>
          <p:nvPr/>
        </p:nvGrpSpPr>
        <p:grpSpPr>
          <a:xfrm>
            <a:off x="828136" y="2567240"/>
            <a:ext cx="7330130" cy="305212"/>
            <a:chOff x="828136" y="2679378"/>
            <a:chExt cx="7330130" cy="305212"/>
          </a:xfrm>
        </p:grpSpPr>
        <p:sp>
          <p:nvSpPr>
            <p:cNvPr id="36" name="Rectangle 40"/>
            <p:cNvSpPr>
              <a:spLocks noChangeArrowheads="1"/>
            </p:cNvSpPr>
            <p:nvPr/>
          </p:nvSpPr>
          <p:spPr bwMode="auto">
            <a:xfrm>
              <a:off x="3642865" y="2684182"/>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36"/>
            <p:cNvSpPr>
              <a:spLocks noChangeArrowheads="1"/>
            </p:cNvSpPr>
            <p:nvPr/>
          </p:nvSpPr>
          <p:spPr bwMode="auto">
            <a:xfrm>
              <a:off x="3648131" y="2691388"/>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41"/>
            <p:cNvSpPr>
              <a:spLocks noChangeArrowheads="1"/>
            </p:cNvSpPr>
            <p:nvPr/>
          </p:nvSpPr>
          <p:spPr bwMode="auto">
            <a:xfrm>
              <a:off x="3553481" y="2688007"/>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1 1 1 1 1 1 1 1 1 1 1 1 1 1 1 1 1 1 1 1 0 0 0 0</a:t>
              </a:r>
            </a:p>
          </p:txBody>
        </p:sp>
        <p:sp>
          <p:nvSpPr>
            <p:cNvPr id="46" name="Rectangle 37"/>
            <p:cNvSpPr>
              <a:spLocks noChangeArrowheads="1"/>
            </p:cNvSpPr>
            <p:nvPr/>
          </p:nvSpPr>
          <p:spPr bwMode="auto">
            <a:xfrm>
              <a:off x="828136" y="2679378"/>
              <a:ext cx="275716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(c) </a:t>
              </a:r>
              <a:r>
                <a:rPr kumimoji="1" lang="zh-CN" altLang="en-US" sz="1400" b="1" dirty="0">
                  <a:latin typeface="微软雅黑" pitchFamily="34" charset="-122"/>
                  <a:ea typeface="微软雅黑" pitchFamily="34" charset="-122"/>
                </a:rPr>
                <a:t>地址掩码是 </a:t>
              </a:r>
              <a:r>
                <a:rPr kumimoji="1" lang="en-US" altLang="zh-CN" sz="1400" b="1" dirty="0">
                  <a:latin typeface="微软雅黑" pitchFamily="34" charset="-122"/>
                  <a:ea typeface="微软雅黑" pitchFamily="34" charset="-122"/>
                </a:rPr>
                <a:t>255.255.224.0</a:t>
              </a:r>
            </a:p>
          </p:txBody>
        </p:sp>
        <p:sp>
          <p:nvSpPr>
            <p:cNvPr id="47" name="Line 38"/>
            <p:cNvSpPr>
              <a:spLocks noChangeShapeType="1"/>
            </p:cNvSpPr>
            <p:nvPr/>
          </p:nvSpPr>
          <p:spPr bwMode="auto">
            <a:xfrm>
              <a:off x="5846958" y="2688986"/>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39"/>
            <p:cNvSpPr>
              <a:spLocks noChangeShapeType="1"/>
            </p:cNvSpPr>
            <p:nvPr/>
          </p:nvSpPr>
          <p:spPr bwMode="auto">
            <a:xfrm>
              <a:off x="6952197" y="2681779"/>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42"/>
            <p:cNvSpPr>
              <a:spLocks noChangeArrowheads="1"/>
            </p:cNvSpPr>
            <p:nvPr/>
          </p:nvSpPr>
          <p:spPr bwMode="auto">
            <a:xfrm>
              <a:off x="6893495" y="2688007"/>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55" name="Line 51"/>
            <p:cNvSpPr>
              <a:spLocks noChangeShapeType="1"/>
            </p:cNvSpPr>
            <p:nvPr/>
          </p:nvSpPr>
          <p:spPr bwMode="auto">
            <a:xfrm>
              <a:off x="4733758" y="2681779"/>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grpSp>
        <p:nvGrpSpPr>
          <p:cNvPr id="10" name="组合 9"/>
          <p:cNvGrpSpPr/>
          <p:nvPr/>
        </p:nvGrpSpPr>
        <p:grpSpPr>
          <a:xfrm>
            <a:off x="828136" y="3102732"/>
            <a:ext cx="7330130" cy="305212"/>
            <a:chOff x="828136" y="3214870"/>
            <a:chExt cx="7330130" cy="305212"/>
          </a:xfrm>
        </p:grpSpPr>
        <p:sp>
          <p:nvSpPr>
            <p:cNvPr id="61" name="Rectangle 59"/>
            <p:cNvSpPr>
              <a:spLocks noChangeArrowheads="1"/>
            </p:cNvSpPr>
            <p:nvPr/>
          </p:nvSpPr>
          <p:spPr bwMode="auto">
            <a:xfrm>
              <a:off x="828136" y="3214870"/>
              <a:ext cx="28260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(d) IP </a:t>
              </a:r>
              <a:r>
                <a:rPr kumimoji="1" lang="zh-CN" altLang="en-US" sz="1400" b="1" dirty="0">
                  <a:latin typeface="微软雅黑" pitchFamily="34" charset="-122"/>
                  <a:ea typeface="微软雅黑" pitchFamily="34" charset="-122"/>
                </a:rPr>
                <a:t>地址与地址掩码按位 </a:t>
              </a:r>
              <a:r>
                <a:rPr kumimoji="1" lang="en-US" altLang="zh-CN" sz="1400" b="1" dirty="0">
                  <a:latin typeface="微软雅黑" pitchFamily="34" charset="-122"/>
                  <a:ea typeface="微软雅黑" pitchFamily="34" charset="-122"/>
                </a:rPr>
                <a:t>AND</a:t>
              </a:r>
              <a:endParaRPr kumimoji="1" lang="zh-CN" altLang="en-US" sz="1400" b="1" dirty="0">
                <a:latin typeface="微软雅黑" pitchFamily="34" charset="-122"/>
                <a:ea typeface="微软雅黑" pitchFamily="34" charset="-122"/>
              </a:endParaRPr>
            </a:p>
          </p:txBody>
        </p:sp>
        <p:sp>
          <p:nvSpPr>
            <p:cNvPr id="65" name="Rectangle 40"/>
            <p:cNvSpPr>
              <a:spLocks noChangeArrowheads="1"/>
            </p:cNvSpPr>
            <p:nvPr/>
          </p:nvSpPr>
          <p:spPr bwMode="auto">
            <a:xfrm>
              <a:off x="3642865" y="3219671"/>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Rectangle 36"/>
            <p:cNvSpPr>
              <a:spLocks noChangeArrowheads="1"/>
            </p:cNvSpPr>
            <p:nvPr/>
          </p:nvSpPr>
          <p:spPr bwMode="auto">
            <a:xfrm>
              <a:off x="3648131" y="3226877"/>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Rectangle 41"/>
            <p:cNvSpPr>
              <a:spLocks noChangeArrowheads="1"/>
            </p:cNvSpPr>
            <p:nvPr/>
          </p:nvSpPr>
          <p:spPr bwMode="auto">
            <a:xfrm>
              <a:off x="3553481" y="3223496"/>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1 0 0 0 0 0 0 0 0 0 0 0 1 1 1 0 0 0 1 0 0 0 0 0</a:t>
              </a:r>
            </a:p>
          </p:txBody>
        </p:sp>
        <p:sp>
          <p:nvSpPr>
            <p:cNvPr id="68" name="Line 38"/>
            <p:cNvSpPr>
              <a:spLocks noChangeShapeType="1"/>
            </p:cNvSpPr>
            <p:nvPr/>
          </p:nvSpPr>
          <p:spPr bwMode="auto">
            <a:xfrm>
              <a:off x="5846958" y="3224475"/>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Line 39"/>
            <p:cNvSpPr>
              <a:spLocks noChangeShapeType="1"/>
            </p:cNvSpPr>
            <p:nvPr/>
          </p:nvSpPr>
          <p:spPr bwMode="auto">
            <a:xfrm>
              <a:off x="6952197" y="3217268"/>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42"/>
            <p:cNvSpPr>
              <a:spLocks noChangeArrowheads="1"/>
            </p:cNvSpPr>
            <p:nvPr/>
          </p:nvSpPr>
          <p:spPr bwMode="auto">
            <a:xfrm>
              <a:off x="6893495" y="3223496"/>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71" name="Line 51"/>
            <p:cNvSpPr>
              <a:spLocks noChangeShapeType="1"/>
            </p:cNvSpPr>
            <p:nvPr/>
          </p:nvSpPr>
          <p:spPr bwMode="auto">
            <a:xfrm>
              <a:off x="4733758" y="3217268"/>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grpSp>
        <p:nvGrpSpPr>
          <p:cNvPr id="11" name="组合 10"/>
          <p:cNvGrpSpPr/>
          <p:nvPr/>
        </p:nvGrpSpPr>
        <p:grpSpPr>
          <a:xfrm>
            <a:off x="828136" y="3640191"/>
            <a:ext cx="7267411" cy="317460"/>
            <a:chOff x="828136" y="3752329"/>
            <a:chExt cx="7267411" cy="317460"/>
          </a:xfrm>
        </p:grpSpPr>
        <p:sp>
          <p:nvSpPr>
            <p:cNvPr id="45" name="Rectangle 35"/>
            <p:cNvSpPr>
              <a:spLocks noChangeArrowheads="1"/>
            </p:cNvSpPr>
            <p:nvPr/>
          </p:nvSpPr>
          <p:spPr bwMode="auto">
            <a:xfrm>
              <a:off x="3642866" y="3768817"/>
              <a:ext cx="4452681" cy="272661"/>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828136" y="3752329"/>
              <a:ext cx="245580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(e) </a:t>
              </a:r>
              <a:r>
                <a:rPr kumimoji="1" lang="zh-CN" altLang="en-US" sz="1400" b="1" dirty="0">
                  <a:latin typeface="微软雅黑" pitchFamily="34" charset="-122"/>
                  <a:ea typeface="微软雅黑" pitchFamily="34" charset="-122"/>
                </a:rPr>
                <a:t>网络地址（点分十进制）</a:t>
              </a:r>
            </a:p>
          </p:txBody>
        </p:sp>
        <p:sp>
          <p:nvSpPr>
            <p:cNvPr id="72" name="Text Box 45"/>
            <p:cNvSpPr txBox="1">
              <a:spLocks noChangeArrowheads="1"/>
            </p:cNvSpPr>
            <p:nvPr/>
          </p:nvSpPr>
          <p:spPr bwMode="auto">
            <a:xfrm>
              <a:off x="3948549" y="3762012"/>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73" name="Text Box 46"/>
            <p:cNvSpPr txBox="1">
              <a:spLocks noChangeArrowheads="1"/>
            </p:cNvSpPr>
            <p:nvPr/>
          </p:nvSpPr>
          <p:spPr bwMode="auto">
            <a:xfrm>
              <a:off x="5852996" y="3762012"/>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32            .        0</a:t>
              </a:r>
            </a:p>
          </p:txBody>
        </p:sp>
      </p:grpSp>
      <p:grpSp>
        <p:nvGrpSpPr>
          <p:cNvPr id="8" name="组合 7"/>
          <p:cNvGrpSpPr/>
          <p:nvPr/>
        </p:nvGrpSpPr>
        <p:grpSpPr>
          <a:xfrm>
            <a:off x="828136" y="2058717"/>
            <a:ext cx="7479103" cy="305212"/>
            <a:chOff x="828136" y="2170855"/>
            <a:chExt cx="7479103" cy="305212"/>
          </a:xfrm>
        </p:grpSpPr>
        <p:sp>
          <p:nvSpPr>
            <p:cNvPr id="35" name="Rectangle 53"/>
            <p:cNvSpPr>
              <a:spLocks noChangeArrowheads="1"/>
            </p:cNvSpPr>
            <p:nvPr/>
          </p:nvSpPr>
          <p:spPr bwMode="auto">
            <a:xfrm>
              <a:off x="3640234" y="2188108"/>
              <a:ext cx="4455314" cy="272661"/>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Rectangle 58"/>
            <p:cNvSpPr>
              <a:spLocks noChangeArrowheads="1"/>
            </p:cNvSpPr>
            <p:nvPr/>
          </p:nvSpPr>
          <p:spPr bwMode="auto">
            <a:xfrm>
              <a:off x="828136" y="2170855"/>
              <a:ext cx="1679948"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(b) </a:t>
              </a:r>
              <a:r>
                <a:rPr kumimoji="1" lang="zh-CN" altLang="en-US" sz="1400" b="1" dirty="0">
                  <a:latin typeface="微软雅黑" pitchFamily="34" charset="-122"/>
                  <a:ea typeface="微软雅黑" pitchFamily="34" charset="-122"/>
                </a:rPr>
                <a:t>二进制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6" name="矩形 5"/>
            <p:cNvSpPr/>
            <p:nvPr/>
          </p:nvSpPr>
          <p:spPr>
            <a:xfrm>
              <a:off x="3559425" y="2191186"/>
              <a:ext cx="4747814"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1 0 0 0 0 0 0 0 0 0 0 0 1 1 1 0 0 0 1 0 0 0 1 1 0 0 0 0 0 1 1 1</a:t>
              </a:r>
            </a:p>
          </p:txBody>
        </p:sp>
        <p:sp>
          <p:nvSpPr>
            <p:cNvPr id="78" name="Line 38"/>
            <p:cNvSpPr>
              <a:spLocks noChangeShapeType="1"/>
            </p:cNvSpPr>
            <p:nvPr/>
          </p:nvSpPr>
          <p:spPr bwMode="auto">
            <a:xfrm>
              <a:off x="5846958" y="2201321"/>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39"/>
            <p:cNvSpPr>
              <a:spLocks noChangeShapeType="1"/>
            </p:cNvSpPr>
            <p:nvPr/>
          </p:nvSpPr>
          <p:spPr bwMode="auto">
            <a:xfrm>
              <a:off x="6952197" y="2194114"/>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0" name="Line 51"/>
            <p:cNvSpPr>
              <a:spLocks noChangeShapeType="1"/>
            </p:cNvSpPr>
            <p:nvPr/>
          </p:nvSpPr>
          <p:spPr bwMode="auto">
            <a:xfrm>
              <a:off x="4733758" y="2194114"/>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sp>
        <p:nvSpPr>
          <p:cNvPr id="81" name="Text Box 155"/>
          <p:cNvSpPr txBox="1">
            <a:spLocks noChangeArrowheads="1"/>
          </p:cNvSpPr>
          <p:nvPr/>
        </p:nvSpPr>
        <p:spPr bwMode="auto">
          <a:xfrm>
            <a:off x="1436910" y="1121245"/>
            <a:ext cx="659369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例</a:t>
            </a: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已知 </a:t>
            </a:r>
            <a:r>
              <a:rPr lang="en-US" altLang="zh-CN" sz="1600" b="1" dirty="0">
                <a:solidFill>
                  <a:srgbClr val="0000FF"/>
                </a:solidFill>
                <a:latin typeface="微软雅黑" pitchFamily="34" charset="-122"/>
                <a:ea typeface="微软雅黑" pitchFamily="34" charset="-122"/>
              </a:rPr>
              <a:t>IP </a:t>
            </a:r>
            <a:r>
              <a:rPr lang="zh-CN" altLang="en-US" sz="1600" b="1" dirty="0">
                <a:solidFill>
                  <a:srgbClr val="0000FF"/>
                </a:solidFill>
                <a:latin typeface="微软雅黑" pitchFamily="34" charset="-122"/>
                <a:ea typeface="微软雅黑" pitchFamily="34" charset="-122"/>
              </a:rPr>
              <a:t>地址是 </a:t>
            </a:r>
            <a:r>
              <a:rPr lang="en-US" altLang="zh-CN" sz="1600" b="1" dirty="0">
                <a:solidFill>
                  <a:srgbClr val="0000FF"/>
                </a:solidFill>
                <a:latin typeface="微软雅黑" pitchFamily="34" charset="-122"/>
                <a:ea typeface="微软雅黑" pitchFamily="34" charset="-122"/>
              </a:rPr>
              <a:t>128.14.35.7/20</a:t>
            </a:r>
            <a:r>
              <a:rPr lang="zh-CN" altLang="en-US" sz="1600" b="1" dirty="0">
                <a:solidFill>
                  <a:srgbClr val="0000FF"/>
                </a:solidFill>
                <a:latin typeface="微软雅黑" pitchFamily="34" charset="-122"/>
                <a:ea typeface="微软雅黑" pitchFamily="34" charset="-122"/>
              </a:rPr>
              <a:t>。求网络地址。 </a:t>
            </a:r>
          </a:p>
        </p:txBody>
      </p:sp>
    </p:spTree>
    <p:extLst>
      <p:ext uri="{BB962C8B-B14F-4D97-AF65-F5344CB8AC3E}">
        <p14:creationId xmlns:p14="http://schemas.microsoft.com/office/powerpoint/2010/main" val="5761370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up)">
                                      <p:cBhvr>
                                        <p:cTn id="7" dur="20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up)">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up)">
                                      <p:cBhvr>
                                        <p:cTn id="17" dur="20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20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wipe(up)">
                                      <p:cBhvr>
                                        <p:cTn id="27" dur="2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2520242" cy="400110"/>
          </a:xfrm>
          <a:prstGeom prst="rect">
            <a:avLst/>
          </a:prstGeom>
        </p:spPr>
        <p:txBody>
          <a:bodyPr wrap="none">
            <a:spAutoFit/>
          </a:bodyPr>
          <a:lstStyle/>
          <a:p>
            <a:r>
              <a:rPr lang="zh-CN" altLang="en-US" sz="2000" b="1" dirty="0">
                <a:latin typeface="微软雅黑" pitchFamily="34" charset="-122"/>
                <a:ea typeface="微软雅黑" pitchFamily="34" charset="-122"/>
              </a:rPr>
              <a:t>常用的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a:t>
            </a:r>
          </a:p>
        </p:txBody>
      </p:sp>
      <p:graphicFrame>
        <p:nvGraphicFramePr>
          <p:cNvPr id="2" name="表格 1"/>
          <p:cNvGraphicFramePr>
            <a:graphicFrameLocks noGrp="1"/>
          </p:cNvGraphicFramePr>
          <p:nvPr>
            <p:extLst>
              <p:ext uri="{D42A27DB-BD31-4B8C-83A1-F6EECF244321}">
                <p14:modId xmlns:p14="http://schemas.microsoft.com/office/powerpoint/2010/main" val="1586277252"/>
              </p:ext>
            </p:extLst>
          </p:nvPr>
        </p:nvGraphicFramePr>
        <p:xfrm>
          <a:off x="715992" y="1024780"/>
          <a:ext cx="7427344" cy="3598977"/>
        </p:xfrm>
        <a:graphic>
          <a:graphicData uri="http://schemas.openxmlformats.org/drawingml/2006/table">
            <a:tbl>
              <a:tblPr firstRow="1" bandRow="1">
                <a:tableStyleId>{91EBBBCC-DAD2-459C-BE2E-F6DE35CF9A28}</a:tableStyleId>
              </a:tblPr>
              <a:tblGrid>
                <a:gridCol w="1407497">
                  <a:extLst>
                    <a:ext uri="{9D8B030D-6E8A-4147-A177-3AD203B41FA5}">
                      <a16:colId xmlns:a16="http://schemas.microsoft.com/office/drawing/2014/main" val="2353518644"/>
                    </a:ext>
                  </a:extLst>
                </a:gridCol>
                <a:gridCol w="1805955">
                  <a:extLst>
                    <a:ext uri="{9D8B030D-6E8A-4147-A177-3AD203B41FA5}">
                      <a16:colId xmlns:a16="http://schemas.microsoft.com/office/drawing/2014/main" val="2193359301"/>
                    </a:ext>
                  </a:extLst>
                </a:gridCol>
                <a:gridCol w="1705623">
                  <a:extLst>
                    <a:ext uri="{9D8B030D-6E8A-4147-A177-3AD203B41FA5}">
                      <a16:colId xmlns:a16="http://schemas.microsoft.com/office/drawing/2014/main" val="1972424735"/>
                    </a:ext>
                  </a:extLst>
                </a:gridCol>
                <a:gridCol w="2508269">
                  <a:extLst>
                    <a:ext uri="{9D8B030D-6E8A-4147-A177-3AD203B41FA5}">
                      <a16:colId xmlns:a16="http://schemas.microsoft.com/office/drawing/2014/main" val="3197085333"/>
                    </a:ext>
                  </a:extLst>
                </a:gridCol>
              </a:tblGrid>
              <a:tr h="272562">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网络前缀长度</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点分十进制</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包含的地址数</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相当于包含分类的网络数</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276440817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/13</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255.248.0.0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512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2048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119340114"/>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/14</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255.252.0.0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256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1024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990401141"/>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/15</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255.254.0.0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128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512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03573349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/16</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64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256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793504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/17</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255.255.128.0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32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128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98428660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/18</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255.255.192.0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16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64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95280130"/>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/19</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255.255.224.0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8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32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589026572"/>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/20</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255.255.240.0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4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16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39061340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/21</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255.255.248.0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2567787277"/>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/22</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255.255.252.0</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400588070"/>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/23</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255.255.254.0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512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11228115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/24</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039715874"/>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255.255.255.128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128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alt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1/2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个</a:t>
                      </a:r>
                      <a:r>
                        <a:rPr lang="en-US" alt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 </a:t>
                      </a:r>
                      <a:r>
                        <a:rPr lang="en-US"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C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类</a:t>
                      </a: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492046195"/>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/26</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255.255.255.192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64</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altLang="zh-CN" sz="1400" b="1" kern="500" dirty="0">
                          <a:effectLst/>
                          <a:latin typeface="微软雅黑" panose="020B0503020204020204" pitchFamily="34" charset="-122"/>
                          <a:ea typeface="微软雅黑" panose="020B0503020204020204" pitchFamily="34" charset="-122"/>
                        </a:rPr>
                        <a:t>1/4 </a:t>
                      </a:r>
                      <a:r>
                        <a:rPr lang="zh-CN" alt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C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类</a:t>
                      </a: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81410058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/27</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255.255.255.224</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32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cs typeface="Times New Roman" panose="02020603050405020304" pitchFamily="18" charset="0"/>
                        </a:rPr>
                        <a:t>1/8</a:t>
                      </a:r>
                      <a:r>
                        <a:rPr lang="en-US" sz="1400" b="1" kern="500" dirty="0">
                          <a:effectLst/>
                          <a:latin typeface="微软雅黑" panose="020B0503020204020204" pitchFamily="34" charset="-122"/>
                          <a:ea typeface="微软雅黑" panose="020B0503020204020204" pitchFamily="34" charset="-122"/>
                        </a:rPr>
                        <a:t>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381601028"/>
                  </a:ext>
                </a:extLst>
              </a:tr>
            </a:tbl>
          </a:graphicData>
        </a:graphic>
      </p:graphicFrame>
    </p:spTree>
    <p:extLst>
      <p:ext uri="{BB962C8B-B14F-4D97-AF65-F5344CB8AC3E}">
        <p14:creationId xmlns:p14="http://schemas.microsoft.com/office/powerpoint/2010/main" val="29515929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1210588" cy="400110"/>
          </a:xfrm>
          <a:prstGeom prst="rect">
            <a:avLst/>
          </a:prstGeom>
        </p:spPr>
        <p:txBody>
          <a:bodyPr wrap="none">
            <a:spAutoFit/>
          </a:bodyPr>
          <a:lstStyle/>
          <a:p>
            <a:r>
              <a:rPr lang="zh-CN" altLang="en-US" sz="2000" b="1" dirty="0">
                <a:latin typeface="微软雅黑" pitchFamily="34" charset="-122"/>
                <a:ea typeface="微软雅黑" pitchFamily="34" charset="-122"/>
              </a:rPr>
              <a:t>构造超网</a:t>
            </a:r>
          </a:p>
        </p:txBody>
      </p:sp>
      <p:sp>
        <p:nvSpPr>
          <p:cNvPr id="5" name="Rectangle 68"/>
          <p:cNvSpPr>
            <a:spLocks noChangeArrowheads="1"/>
          </p:cNvSpPr>
          <p:nvPr/>
        </p:nvSpPr>
        <p:spPr bwMode="auto">
          <a:xfrm>
            <a:off x="556962" y="978646"/>
            <a:ext cx="8041893"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每一个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地址块中的地址数</a:t>
            </a:r>
            <a:r>
              <a:rPr lang="zh-CN" altLang="en-US" sz="2000" b="1" dirty="0">
                <a:solidFill>
                  <a:srgbClr val="C00000"/>
                </a:solidFill>
                <a:latin typeface="微软雅黑" pitchFamily="34" charset="-122"/>
                <a:ea typeface="微软雅黑" pitchFamily="34" charset="-122"/>
              </a:rPr>
              <a:t>一定是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的整数次幂。</a:t>
            </a:r>
            <a:endParaRPr lang="en-US" altLang="zh-CN" sz="2000" b="1" dirty="0">
              <a:solidFill>
                <a:srgbClr val="C00000"/>
              </a:solidFill>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除最后几行外，</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地址块都包含了多个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类地址（是一个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类地址的 </a:t>
            </a:r>
            <a:r>
              <a:rPr lang="en-US" altLang="zh-CN" sz="2000" b="1" dirty="0">
                <a:latin typeface="微软雅黑" pitchFamily="34" charset="-122"/>
                <a:ea typeface="微软雅黑" pitchFamily="34" charset="-122"/>
              </a:rPr>
              <a:t>2</a:t>
            </a:r>
            <a:r>
              <a:rPr lang="en-US" altLang="zh-CN" sz="2000" b="1" baseline="30000" dirty="0">
                <a:latin typeface="微软雅黑" pitchFamily="34" charset="-122"/>
                <a:ea typeface="微软雅黑" pitchFamily="34" charset="-122"/>
              </a:rPr>
              <a:t>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倍，</a:t>
            </a:r>
            <a:r>
              <a:rPr lang="en-US" altLang="zh-CN" sz="2000" b="1" dirty="0">
                <a:latin typeface="微软雅黑" pitchFamily="34" charset="-122"/>
                <a:ea typeface="微软雅黑" pitchFamily="34" charset="-122"/>
              </a:rPr>
              <a:t>n </a:t>
            </a:r>
            <a:r>
              <a:rPr lang="zh-CN" altLang="en-US" sz="2000" b="1" dirty="0">
                <a:latin typeface="微软雅黑" pitchFamily="34" charset="-122"/>
                <a:ea typeface="微软雅黑" pitchFamily="34" charset="-122"/>
              </a:rPr>
              <a:t>是整数）。</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因此在文献中有时称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编址为</a:t>
            </a:r>
            <a:r>
              <a:rPr lang="zh-CN" altLang="en-US" sz="2000" b="1" dirty="0">
                <a:solidFill>
                  <a:srgbClr val="C00000"/>
                </a:solidFill>
                <a:latin typeface="微软雅黑" pitchFamily="34" charset="-122"/>
                <a:ea typeface="微软雅黑" pitchFamily="34" charset="-122"/>
              </a:rPr>
              <a:t>“构造超网”。</a:t>
            </a:r>
          </a:p>
        </p:txBody>
      </p:sp>
      <p:sp>
        <p:nvSpPr>
          <p:cNvPr id="7" name="Cloud"/>
          <p:cNvSpPr>
            <a:spLocks noChangeAspect="1" noEditPoints="1" noChangeArrowheads="1"/>
          </p:cNvSpPr>
          <p:nvPr/>
        </p:nvSpPr>
        <p:spPr bwMode="auto">
          <a:xfrm>
            <a:off x="1221378" y="2544792"/>
            <a:ext cx="6611407" cy="2105940"/>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DDDDDD"/>
          </a:solidFill>
          <a:ln w="19050">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grpSp>
        <p:nvGrpSpPr>
          <p:cNvPr id="18" name="组合 17"/>
          <p:cNvGrpSpPr/>
          <p:nvPr/>
        </p:nvGrpSpPr>
        <p:grpSpPr>
          <a:xfrm>
            <a:off x="1501738" y="3137639"/>
            <a:ext cx="1854679" cy="846448"/>
            <a:chOff x="1468310" y="3244699"/>
            <a:chExt cx="1854679" cy="846448"/>
          </a:xfrm>
        </p:grpSpPr>
        <p:sp>
          <p:nvSpPr>
            <p:cNvPr id="8" name="Cloud"/>
            <p:cNvSpPr>
              <a:spLocks noChangeAspect="1" noEditPoints="1" noChangeArrowheads="1"/>
            </p:cNvSpPr>
            <p:nvPr/>
          </p:nvSpPr>
          <p:spPr bwMode="auto">
            <a:xfrm>
              <a:off x="1468310" y="3244699"/>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9" name="Rectangle 13"/>
            <p:cNvSpPr>
              <a:spLocks noChangeArrowheads="1"/>
            </p:cNvSpPr>
            <p:nvPr/>
          </p:nvSpPr>
          <p:spPr bwMode="auto">
            <a:xfrm>
              <a:off x="1653778" y="3443863"/>
              <a:ext cx="1459279"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Subnet=128.14.0.0</a:t>
              </a:r>
            </a:p>
            <a:p>
              <a:r>
                <a:rPr lang="en-US" altLang="zh-CN" sz="1200" b="1" dirty="0">
                  <a:ea typeface="宋体" pitchFamily="2" charset="-122"/>
                </a:rPr>
                <a:t>Mask=255.255.255.0</a:t>
              </a:r>
            </a:p>
          </p:txBody>
        </p:sp>
      </p:grpSp>
      <p:grpSp>
        <p:nvGrpSpPr>
          <p:cNvPr id="17" name="组合 16"/>
          <p:cNvGrpSpPr/>
          <p:nvPr/>
        </p:nvGrpSpPr>
        <p:grpSpPr>
          <a:xfrm>
            <a:off x="5806316" y="3137639"/>
            <a:ext cx="1854679" cy="846448"/>
            <a:chOff x="5659670" y="3249777"/>
            <a:chExt cx="1854679" cy="846448"/>
          </a:xfrm>
          <a:effectLst>
            <a:outerShdw blurRad="50800" dist="38100" dir="2700000" algn="tl" rotWithShape="0">
              <a:prstClr val="black">
                <a:alpha val="40000"/>
              </a:prstClr>
            </a:outerShdw>
          </a:effectLst>
        </p:grpSpPr>
        <p:sp>
          <p:nvSpPr>
            <p:cNvPr id="10" name="Cloud"/>
            <p:cNvSpPr>
              <a:spLocks noChangeAspect="1" noEditPoints="1" noChangeArrowheads="1"/>
            </p:cNvSpPr>
            <p:nvPr/>
          </p:nvSpPr>
          <p:spPr bwMode="auto">
            <a:xfrm>
              <a:off x="5659670" y="3249777"/>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11" name="Rectangle 15"/>
            <p:cNvSpPr>
              <a:spLocks noChangeArrowheads="1"/>
            </p:cNvSpPr>
            <p:nvPr/>
          </p:nvSpPr>
          <p:spPr bwMode="auto">
            <a:xfrm>
              <a:off x="5844074" y="3448941"/>
              <a:ext cx="1479754"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Subnet=128.14.15.0</a:t>
              </a:r>
            </a:p>
            <a:p>
              <a:r>
                <a:rPr lang="en-US" altLang="zh-CN" sz="1200" b="1" dirty="0">
                  <a:ea typeface="宋体" pitchFamily="2" charset="-122"/>
                </a:rPr>
                <a:t>Mask=255.255.255.0</a:t>
              </a:r>
            </a:p>
          </p:txBody>
        </p:sp>
      </p:grpSp>
      <p:sp>
        <p:nvSpPr>
          <p:cNvPr id="12" name="Line 17"/>
          <p:cNvSpPr>
            <a:spLocks noChangeShapeType="1"/>
          </p:cNvSpPr>
          <p:nvPr/>
        </p:nvSpPr>
        <p:spPr bwMode="auto">
          <a:xfrm>
            <a:off x="5435382" y="3644384"/>
            <a:ext cx="325309" cy="0"/>
          </a:xfrm>
          <a:prstGeom prst="line">
            <a:avLst/>
          </a:prstGeom>
          <a:noFill/>
          <a:ln w="571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p>
        </p:txBody>
      </p:sp>
      <p:sp>
        <p:nvSpPr>
          <p:cNvPr id="14" name="Text Box 10"/>
          <p:cNvSpPr txBox="1">
            <a:spLocks noChangeArrowheads="1"/>
          </p:cNvSpPr>
          <p:nvPr/>
        </p:nvSpPr>
        <p:spPr bwMode="auto">
          <a:xfrm>
            <a:off x="3439106" y="2748390"/>
            <a:ext cx="2367210" cy="348537"/>
          </a:xfrm>
          <a:prstGeom prst="rect">
            <a:avLst/>
          </a:prstGeom>
          <a:solidFill>
            <a:srgbClr val="FFFF0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nchorCtr="1"/>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zh-CN" sz="2000" b="1" dirty="0">
                <a:latin typeface="Tahoma" pitchFamily="34" charset="0"/>
                <a:ea typeface="宋体" pitchFamily="2" charset="-122"/>
                <a:cs typeface="Arial" charset="0"/>
              </a:rPr>
              <a:t>128.14.0.0/20</a:t>
            </a:r>
          </a:p>
        </p:txBody>
      </p:sp>
      <p:grpSp>
        <p:nvGrpSpPr>
          <p:cNvPr id="19" name="组合 18"/>
          <p:cNvGrpSpPr/>
          <p:nvPr/>
        </p:nvGrpSpPr>
        <p:grpSpPr>
          <a:xfrm>
            <a:off x="3437121" y="3137639"/>
            <a:ext cx="1854679" cy="846448"/>
            <a:chOff x="1468310" y="3244699"/>
            <a:chExt cx="1854679" cy="846448"/>
          </a:xfrm>
        </p:grpSpPr>
        <p:sp>
          <p:nvSpPr>
            <p:cNvPr id="20" name="Cloud"/>
            <p:cNvSpPr>
              <a:spLocks noChangeAspect="1" noEditPoints="1" noChangeArrowheads="1"/>
            </p:cNvSpPr>
            <p:nvPr/>
          </p:nvSpPr>
          <p:spPr bwMode="auto">
            <a:xfrm>
              <a:off x="1468310" y="3244699"/>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21" name="Rectangle 13"/>
            <p:cNvSpPr>
              <a:spLocks noChangeArrowheads="1"/>
            </p:cNvSpPr>
            <p:nvPr/>
          </p:nvSpPr>
          <p:spPr bwMode="auto">
            <a:xfrm>
              <a:off x="1653778" y="3443863"/>
              <a:ext cx="1459279"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Subnet=128.14.1.0</a:t>
              </a:r>
            </a:p>
            <a:p>
              <a:r>
                <a:rPr lang="en-US" altLang="zh-CN" sz="1200" b="1" dirty="0">
                  <a:ea typeface="宋体" pitchFamily="2" charset="-122"/>
                </a:rPr>
                <a:t>Mask=255.255.255.0</a:t>
              </a:r>
            </a:p>
          </p:txBody>
        </p:sp>
      </p:grpSp>
      <p:sp>
        <p:nvSpPr>
          <p:cNvPr id="22" name="矩形 21"/>
          <p:cNvSpPr/>
          <p:nvPr/>
        </p:nvSpPr>
        <p:spPr>
          <a:xfrm>
            <a:off x="4308171" y="4195140"/>
            <a:ext cx="646331" cy="369332"/>
          </a:xfrm>
          <a:prstGeom prst="rect">
            <a:avLst/>
          </a:prstGeom>
        </p:spPr>
        <p:txBody>
          <a:bodyPr wrap="none">
            <a:spAutoFit/>
          </a:bodyPr>
          <a:lstStyle/>
          <a:p>
            <a:r>
              <a:rPr lang="zh-CN" altLang="en-US" b="1" dirty="0">
                <a:solidFill>
                  <a:srgbClr val="C00000"/>
                </a:solidFill>
                <a:latin typeface="微软雅黑" pitchFamily="34" charset="-122"/>
                <a:ea typeface="微软雅黑" pitchFamily="34" charset="-122"/>
              </a:rPr>
              <a:t>超网</a:t>
            </a:r>
            <a:endParaRPr lang="zh-CN" altLang="en-US" dirty="0"/>
          </a:p>
        </p:txBody>
      </p:sp>
    </p:spTree>
    <p:extLst>
      <p:ext uri="{BB962C8B-B14F-4D97-AF65-F5344CB8AC3E}">
        <p14:creationId xmlns:p14="http://schemas.microsoft.com/office/powerpoint/2010/main" val="27592893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3033203" cy="400110"/>
          </a:xfrm>
          <a:prstGeom prst="rect">
            <a:avLst/>
          </a:prstGeom>
        </p:spPr>
        <p:txBody>
          <a:bodyPr wrap="none">
            <a:spAutoFit/>
          </a:bodyPr>
          <a:lstStyle/>
          <a:p>
            <a:r>
              <a:rPr lang="zh-CN" altLang="en-US" sz="2000" b="1" dirty="0">
                <a:latin typeface="微软雅黑" pitchFamily="34" charset="-122"/>
                <a:ea typeface="微软雅黑" pitchFamily="34" charset="-122"/>
              </a:rPr>
              <a:t>三个特殊的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a:t>
            </a:r>
          </a:p>
        </p:txBody>
      </p:sp>
      <p:graphicFrame>
        <p:nvGraphicFramePr>
          <p:cNvPr id="2" name="表格 1"/>
          <p:cNvGraphicFramePr>
            <a:graphicFrameLocks noGrp="1"/>
          </p:cNvGraphicFramePr>
          <p:nvPr>
            <p:extLst>
              <p:ext uri="{D42A27DB-BD31-4B8C-83A1-F6EECF244321}">
                <p14:modId xmlns:p14="http://schemas.microsoft.com/office/powerpoint/2010/main" val="2647743044"/>
              </p:ext>
            </p:extLst>
          </p:nvPr>
        </p:nvGraphicFramePr>
        <p:xfrm>
          <a:off x="545144" y="1024787"/>
          <a:ext cx="8053711" cy="2115228"/>
        </p:xfrm>
        <a:graphic>
          <a:graphicData uri="http://schemas.openxmlformats.org/drawingml/2006/table">
            <a:tbl>
              <a:tblPr firstRow="1" bandRow="1">
                <a:tableStyleId>{0660B408-B3CF-4A94-85FC-2B1E0A45F4A2}</a:tableStyleId>
              </a:tblPr>
              <a:tblGrid>
                <a:gridCol w="1525196">
                  <a:extLst>
                    <a:ext uri="{9D8B030D-6E8A-4147-A177-3AD203B41FA5}">
                      <a16:colId xmlns:a16="http://schemas.microsoft.com/office/drawing/2014/main" val="2353518644"/>
                    </a:ext>
                  </a:extLst>
                </a:gridCol>
                <a:gridCol w="1889185">
                  <a:extLst>
                    <a:ext uri="{9D8B030D-6E8A-4147-A177-3AD203B41FA5}">
                      <a16:colId xmlns:a16="http://schemas.microsoft.com/office/drawing/2014/main" val="2193359301"/>
                    </a:ext>
                  </a:extLst>
                </a:gridCol>
                <a:gridCol w="4639330">
                  <a:extLst>
                    <a:ext uri="{9D8B030D-6E8A-4147-A177-3AD203B41FA5}">
                      <a16:colId xmlns:a16="http://schemas.microsoft.com/office/drawing/2014/main" val="1977336071"/>
                    </a:ext>
                  </a:extLst>
                </a:gridCol>
              </a:tblGrid>
              <a:tr h="426180">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网络前缀长度</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点分十进制</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lnSpc>
                          <a:spcPts val="1400"/>
                        </a:lnSpc>
                        <a:spcAft>
                          <a:spcPts val="0"/>
                        </a:spcAft>
                      </a:pPr>
                      <a:r>
                        <a:rPr lang="zh-CN" altLang="en-US" sz="1400" b="1" kern="500" dirty="0">
                          <a:effectLst/>
                          <a:latin typeface="微软雅黑" panose="020B0503020204020204" pitchFamily="34" charset="-122"/>
                          <a:ea typeface="微软雅黑" panose="020B0503020204020204" pitchFamily="34" charset="-122"/>
                        </a:rPr>
                        <a:t>说明</a:t>
                      </a:r>
                      <a:endParaRPr lang="zh-CN" sz="1400" b="1" kern="500" dirty="0">
                        <a:solidFill>
                          <a:schemeClr val="lt1"/>
                        </a:solidFill>
                        <a:effectLst/>
                        <a:latin typeface="微软雅黑" panose="020B0503020204020204" pitchFamily="34" charset="-122"/>
                        <a:ea typeface="微软雅黑" panose="020B0503020204020204" pitchFamily="34" charset="-122"/>
                        <a:cs typeface="+mn-cs"/>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764408178"/>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32</a:t>
                      </a:r>
                      <a:endParaRPr lang="zh-CN" sz="18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sz="1400" b="1" kern="500" dirty="0">
                          <a:effectLst/>
                          <a:latin typeface="微软雅黑" panose="020B0503020204020204" pitchFamily="34" charset="-122"/>
                          <a:ea typeface="微软雅黑" panose="020B0503020204020204" pitchFamily="34" charset="-122"/>
                        </a:rPr>
                        <a:t>255.2</a:t>
                      </a:r>
                      <a:r>
                        <a:rPr lang="en-US" altLang="zh-CN" sz="1400" b="1" kern="500" dirty="0">
                          <a:effectLst/>
                          <a:latin typeface="微软雅黑" panose="020B0503020204020204" pitchFamily="34" charset="-122"/>
                          <a:ea typeface="微软雅黑" panose="020B0503020204020204" pitchFamily="34" charset="-122"/>
                        </a:rPr>
                        <a:t>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就是一个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地址。这个特殊地址用于主机路由</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19340114"/>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31</a:t>
                      </a:r>
                      <a:endParaRPr lang="zh-CN" sz="18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sz="1400" b="1" kern="500" dirty="0">
                          <a:effectLst/>
                          <a:latin typeface="微软雅黑" panose="020B0503020204020204" pitchFamily="34" charset="-122"/>
                          <a:ea typeface="微软雅黑" panose="020B0503020204020204" pitchFamily="34" charset="-122"/>
                        </a:rPr>
                        <a:t>255.25</a:t>
                      </a:r>
                      <a:r>
                        <a:rPr lang="en-US" altLang="zh-CN" sz="1400" b="1" kern="500" dirty="0">
                          <a:effectLst/>
                          <a:latin typeface="微软雅黑" panose="020B0503020204020204" pitchFamily="34" charset="-122"/>
                          <a:ea typeface="微软雅黑" panose="020B0503020204020204" pitchFamily="34" charset="-122"/>
                        </a:rPr>
                        <a:t>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254</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只有两个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地址，其主机号分别为 </a:t>
                      </a:r>
                      <a:r>
                        <a:rPr lang="en-US" altLang="zh-CN" sz="1400" b="1" kern="500" dirty="0">
                          <a:effectLst/>
                          <a:latin typeface="微软雅黑" panose="020B0503020204020204" pitchFamily="34" charset="-122"/>
                          <a:ea typeface="微软雅黑" panose="020B0503020204020204" pitchFamily="34" charset="-122"/>
                        </a:rPr>
                        <a:t>0 </a:t>
                      </a:r>
                      <a:r>
                        <a:rPr lang="zh-CN" altLang="en-US" sz="1400" b="1" kern="500" dirty="0">
                          <a:effectLst/>
                          <a:latin typeface="微软雅黑" panose="020B0503020204020204" pitchFamily="34" charset="-122"/>
                          <a:ea typeface="微软雅黑" panose="020B0503020204020204" pitchFamily="34" charset="-122"/>
                        </a:rPr>
                        <a:t>和 </a:t>
                      </a:r>
                      <a:r>
                        <a:rPr lang="en-US" altLang="zh-CN" sz="1400" b="1" kern="500" dirty="0">
                          <a:effectLst/>
                          <a:latin typeface="微软雅黑" panose="020B0503020204020204" pitchFamily="34" charset="-122"/>
                          <a:ea typeface="微软雅黑" panose="020B0503020204020204" pitchFamily="34" charset="-122"/>
                        </a:rPr>
                        <a:t>1</a:t>
                      </a:r>
                      <a:r>
                        <a:rPr lang="zh-CN" altLang="en-US" sz="1400" b="1" kern="500" dirty="0">
                          <a:effectLst/>
                          <a:latin typeface="微软雅黑" panose="020B0503020204020204" pitchFamily="34" charset="-122"/>
                          <a:ea typeface="微软雅黑" panose="020B0503020204020204" pitchFamily="34" charset="-122"/>
                        </a:rPr>
                        <a:t>。</a:t>
                      </a:r>
                      <a:endParaRPr lang="en-US" altLang="zh-CN" sz="1400" b="1" kern="500" dirty="0">
                        <a:effectLst/>
                        <a:latin typeface="微软雅黑" panose="020B0503020204020204" pitchFamily="34" charset="-122"/>
                        <a:ea typeface="微软雅黑" panose="020B0503020204020204" pitchFamily="34" charset="-122"/>
                      </a:endParaRPr>
                    </a:p>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这个地址块用于点对点链路</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0401141"/>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0</a:t>
                      </a:r>
                      <a:endParaRPr lang="zh-CN" sz="18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altLang="zh-CN" sz="1400" b="1" kern="500" dirty="0">
                          <a:effectLst/>
                          <a:latin typeface="微软雅黑" panose="020B0503020204020204" pitchFamily="34" charset="-122"/>
                          <a:ea typeface="微软雅黑" panose="020B0503020204020204" pitchFamily="34" charset="-122"/>
                        </a:rPr>
                        <a:t>0</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0</a:t>
                      </a:r>
                      <a:r>
                        <a:rPr lang="en-US" sz="1400" b="1" kern="500" dirty="0">
                          <a:effectLst/>
                          <a:latin typeface="微软雅黑" panose="020B0503020204020204" pitchFamily="34" charset="-122"/>
                          <a:ea typeface="微软雅黑" panose="020B0503020204020204" pitchFamily="34" charset="-122"/>
                        </a:rPr>
                        <a:t>.0.0</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同时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地址也是全 </a:t>
                      </a:r>
                      <a:r>
                        <a:rPr lang="en-US" altLang="zh-CN" sz="1400" b="1" kern="500" dirty="0">
                          <a:effectLst/>
                          <a:latin typeface="微软雅黑" panose="020B0503020204020204" pitchFamily="34" charset="-122"/>
                          <a:ea typeface="微软雅黑" panose="020B0503020204020204" pitchFamily="34" charset="-122"/>
                        </a:rPr>
                        <a:t>0</a:t>
                      </a:r>
                      <a:r>
                        <a:rPr lang="zh-CN" altLang="en-US" sz="1400" b="1" kern="500" dirty="0">
                          <a:effectLst/>
                          <a:latin typeface="微软雅黑" panose="020B0503020204020204" pitchFamily="34" charset="-122"/>
                          <a:ea typeface="微软雅黑" panose="020B0503020204020204" pitchFamily="34" charset="-122"/>
                        </a:rPr>
                        <a:t>，即 </a:t>
                      </a:r>
                      <a:r>
                        <a:rPr lang="en-US" altLang="zh-CN" sz="1400" b="1" kern="500" dirty="0">
                          <a:effectLst/>
                          <a:latin typeface="微软雅黑" panose="020B0503020204020204" pitchFamily="34" charset="-122"/>
                          <a:ea typeface="微软雅黑" panose="020B0503020204020204" pitchFamily="34" charset="-122"/>
                        </a:rPr>
                        <a:t>0.0.0.0/0</a:t>
                      </a:r>
                      <a:r>
                        <a:rPr lang="zh-CN" altLang="en-US" sz="1400" b="1" kern="500" dirty="0">
                          <a:effectLst/>
                          <a:latin typeface="微软雅黑" panose="020B0503020204020204" pitchFamily="34" charset="-122"/>
                          <a:ea typeface="微软雅黑" panose="020B0503020204020204" pitchFamily="34" charset="-122"/>
                        </a:rPr>
                        <a:t>。用于默认路由。</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35733493"/>
                  </a:ext>
                </a:extLst>
              </a:tr>
            </a:tbl>
          </a:graphicData>
        </a:graphic>
      </p:graphicFrame>
    </p:spTree>
    <p:extLst>
      <p:ext uri="{BB962C8B-B14F-4D97-AF65-F5344CB8AC3E}">
        <p14:creationId xmlns:p14="http://schemas.microsoft.com/office/powerpoint/2010/main" val="2497165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3837397" cy="400110"/>
          </a:xfrm>
          <a:prstGeom prst="rect">
            <a:avLst/>
          </a:prstGeom>
        </p:spPr>
        <p:txBody>
          <a:bodyPr wrap="none">
            <a:spAutoFit/>
          </a:bodyPr>
          <a:lstStyle/>
          <a:p>
            <a:r>
              <a:rPr lang="zh-CN" altLang="en-US" sz="2000" b="1" dirty="0">
                <a:latin typeface="微软雅黑" pitchFamily="34" charset="-122"/>
                <a:ea typeface="微软雅黑" pitchFamily="34" charset="-122"/>
              </a:rPr>
              <a:t>路由聚合 </a:t>
            </a:r>
            <a:r>
              <a:rPr lang="en-US" altLang="zh-CN" sz="2000" b="1" dirty="0">
                <a:latin typeface="微软雅黑" pitchFamily="34" charset="-122"/>
                <a:ea typeface="微软雅黑" pitchFamily="34" charset="-122"/>
              </a:rPr>
              <a:t>(route aggregation)</a:t>
            </a:r>
            <a:endParaRPr lang="zh-CN" altLang="en-US" sz="2000" b="1" dirty="0">
              <a:latin typeface="微软雅黑" pitchFamily="34" charset="-122"/>
              <a:ea typeface="微软雅黑" pitchFamily="34" charset="-122"/>
            </a:endParaRPr>
          </a:p>
        </p:txBody>
      </p:sp>
      <p:sp>
        <p:nvSpPr>
          <p:cNvPr id="5" name="Rectangle 4"/>
          <p:cNvSpPr>
            <a:spLocks noChangeArrowheads="1"/>
          </p:cNvSpPr>
          <p:nvPr/>
        </p:nvSpPr>
        <p:spPr bwMode="auto">
          <a:xfrm>
            <a:off x="3346931" y="1134164"/>
            <a:ext cx="1438340" cy="3273934"/>
          </a:xfrm>
          <a:prstGeom prst="rect">
            <a:avLst/>
          </a:prstGeom>
          <a:solidFill>
            <a:srgbClr val="FFFF99"/>
          </a:solidFill>
          <a:ln w="19050" algn="ctr">
            <a:solidFill>
              <a:schemeClr val="tx1"/>
            </a:solidFill>
            <a:miter lim="800000"/>
            <a:headEnd/>
            <a:tailEnd/>
          </a:ln>
          <a:effectLst/>
        </p:spPr>
        <p:txBody>
          <a:bodyPr wrap="none"/>
          <a:lstStyle/>
          <a:p>
            <a:r>
              <a:rPr lang="en-US" altLang="zh-CN" sz="1300" b="1" dirty="0">
                <a:latin typeface="Tahoma" pitchFamily="34" charset="0"/>
                <a:ea typeface="宋体" pitchFamily="2" charset="-122"/>
              </a:rPr>
              <a:t>192.24.0</a:t>
            </a:r>
          </a:p>
          <a:p>
            <a:r>
              <a:rPr lang="en-US" altLang="zh-CN" sz="1300" b="1" dirty="0">
                <a:latin typeface="Tahoma" pitchFamily="34" charset="0"/>
                <a:ea typeface="宋体" pitchFamily="2" charset="-122"/>
              </a:rPr>
              <a:t>192.24.1</a:t>
            </a:r>
          </a:p>
          <a:p>
            <a:r>
              <a:rPr lang="en-US" altLang="zh-CN" sz="1300" b="1" dirty="0">
                <a:latin typeface="Tahoma" pitchFamily="34" charset="0"/>
                <a:ea typeface="宋体" pitchFamily="2" charset="-122"/>
              </a:rPr>
              <a:t>192.24.2</a:t>
            </a:r>
          </a:p>
          <a:p>
            <a:r>
              <a:rPr lang="en-US" altLang="zh-CN" sz="1300" b="1" dirty="0">
                <a:latin typeface="Tahoma" pitchFamily="34" charset="0"/>
                <a:ea typeface="宋体" pitchFamily="2" charset="-122"/>
              </a:rPr>
              <a:t>192.24.3</a:t>
            </a:r>
          </a:p>
          <a:p>
            <a:r>
              <a:rPr lang="en-US" altLang="zh-CN" sz="1300" b="1" dirty="0">
                <a:latin typeface="Tahoma" pitchFamily="34" charset="0"/>
                <a:ea typeface="宋体" pitchFamily="2" charset="-122"/>
              </a:rPr>
              <a:t>192.24.4</a:t>
            </a:r>
          </a:p>
          <a:p>
            <a:r>
              <a:rPr lang="en-US" altLang="zh-CN" sz="1300" b="1" dirty="0">
                <a:latin typeface="Tahoma" pitchFamily="34" charset="0"/>
                <a:ea typeface="宋体" pitchFamily="2" charset="-122"/>
              </a:rPr>
              <a:t>192.24.5</a:t>
            </a:r>
          </a:p>
          <a:p>
            <a:r>
              <a:rPr lang="en-US" altLang="zh-CN" sz="1300" b="1" dirty="0">
                <a:latin typeface="Tahoma" pitchFamily="34" charset="0"/>
                <a:ea typeface="宋体" pitchFamily="2" charset="-122"/>
              </a:rPr>
              <a:t>192.24.6</a:t>
            </a:r>
          </a:p>
          <a:p>
            <a:r>
              <a:rPr lang="en-US" altLang="zh-CN" sz="1300" b="1" dirty="0">
                <a:latin typeface="Tahoma" pitchFamily="34" charset="0"/>
                <a:ea typeface="宋体" pitchFamily="2" charset="-122"/>
              </a:rPr>
              <a:t>192.24.7</a:t>
            </a:r>
          </a:p>
          <a:p>
            <a:r>
              <a:rPr lang="en-US" altLang="zh-CN" sz="1300" b="1" dirty="0">
                <a:latin typeface="Tahoma" pitchFamily="34" charset="0"/>
                <a:ea typeface="宋体" pitchFamily="2" charset="-122"/>
              </a:rPr>
              <a:t>192.24.8</a:t>
            </a:r>
          </a:p>
          <a:p>
            <a:r>
              <a:rPr lang="en-US" altLang="zh-CN" sz="1300" b="1" dirty="0">
                <a:latin typeface="Tahoma" pitchFamily="34" charset="0"/>
                <a:ea typeface="宋体" pitchFamily="2" charset="-122"/>
              </a:rPr>
              <a:t>192.24.9</a:t>
            </a:r>
          </a:p>
          <a:p>
            <a:r>
              <a:rPr lang="en-US" altLang="zh-CN" sz="1300" b="1" dirty="0">
                <a:latin typeface="Tahoma" pitchFamily="34" charset="0"/>
                <a:ea typeface="宋体" pitchFamily="2" charset="-122"/>
              </a:rPr>
              <a:t>192.24.10</a:t>
            </a:r>
          </a:p>
          <a:p>
            <a:r>
              <a:rPr lang="en-US" altLang="zh-CN" sz="1300" b="1" dirty="0">
                <a:latin typeface="Tahoma" pitchFamily="34" charset="0"/>
                <a:ea typeface="宋体" pitchFamily="2" charset="-122"/>
              </a:rPr>
              <a:t>192.24.11</a:t>
            </a:r>
          </a:p>
          <a:p>
            <a:r>
              <a:rPr lang="en-US" altLang="zh-CN" sz="1300" b="1" dirty="0">
                <a:latin typeface="Tahoma" pitchFamily="34" charset="0"/>
                <a:ea typeface="宋体" pitchFamily="2" charset="-122"/>
              </a:rPr>
              <a:t>192.24.12</a:t>
            </a:r>
          </a:p>
          <a:p>
            <a:r>
              <a:rPr lang="en-US" altLang="zh-CN" sz="1300" b="1" dirty="0">
                <a:latin typeface="Tahoma" pitchFamily="34" charset="0"/>
                <a:ea typeface="宋体" pitchFamily="2" charset="-122"/>
              </a:rPr>
              <a:t>192.24.13</a:t>
            </a:r>
          </a:p>
          <a:p>
            <a:r>
              <a:rPr lang="en-US" altLang="zh-CN" sz="1300" b="1" dirty="0">
                <a:latin typeface="Tahoma" pitchFamily="34" charset="0"/>
                <a:ea typeface="宋体" pitchFamily="2" charset="-122"/>
              </a:rPr>
              <a:t>192.24.14</a:t>
            </a:r>
          </a:p>
          <a:p>
            <a:r>
              <a:rPr lang="en-US" altLang="zh-CN" sz="1300" b="1" dirty="0">
                <a:latin typeface="Tahoma" pitchFamily="34" charset="0"/>
                <a:ea typeface="宋体" pitchFamily="2" charset="-122"/>
              </a:rPr>
              <a:t>192.24.15</a:t>
            </a:r>
          </a:p>
        </p:txBody>
      </p:sp>
      <p:sp>
        <p:nvSpPr>
          <p:cNvPr id="6" name="Rectangle 6"/>
          <p:cNvSpPr>
            <a:spLocks noChangeArrowheads="1"/>
          </p:cNvSpPr>
          <p:nvPr/>
        </p:nvSpPr>
        <p:spPr bwMode="auto">
          <a:xfrm>
            <a:off x="5491643" y="1561043"/>
            <a:ext cx="2901859" cy="456229"/>
          </a:xfrm>
          <a:prstGeom prst="rect">
            <a:avLst/>
          </a:prstGeom>
          <a:solidFill>
            <a:srgbClr val="FFC000"/>
          </a:solidFill>
          <a:ln w="19050" algn="ctr">
            <a:solidFill>
              <a:schemeClr val="tx1"/>
            </a:solidFill>
            <a:miter lim="800000"/>
            <a:headEnd/>
            <a:tailEnd/>
          </a:ln>
          <a:effectLst/>
        </p:spPr>
        <p:txBody>
          <a:bodyPr wrap="none" anchor="ctr"/>
          <a:lstStyle/>
          <a:p>
            <a:pPr algn="ctr"/>
            <a:r>
              <a:rPr lang="en-US" altLang="zh-CN" sz="2000" b="1" dirty="0">
                <a:latin typeface="微软雅黑" panose="020B0503020204020204" pitchFamily="34" charset="-122"/>
                <a:ea typeface="微软雅黑" panose="020B0503020204020204" pitchFamily="34" charset="-122"/>
              </a:rPr>
              <a:t>192.24.0.0 / 20</a:t>
            </a:r>
          </a:p>
        </p:txBody>
      </p:sp>
      <p:grpSp>
        <p:nvGrpSpPr>
          <p:cNvPr id="16" name="组合 15"/>
          <p:cNvGrpSpPr/>
          <p:nvPr/>
        </p:nvGrpSpPr>
        <p:grpSpPr>
          <a:xfrm>
            <a:off x="4794484" y="1134420"/>
            <a:ext cx="687946" cy="3224243"/>
            <a:chOff x="4794484" y="1134420"/>
            <a:chExt cx="687946" cy="3224243"/>
          </a:xfrm>
        </p:grpSpPr>
        <p:sp>
          <p:nvSpPr>
            <p:cNvPr id="8" name="Line 8"/>
            <p:cNvSpPr>
              <a:spLocks noChangeShapeType="1"/>
            </p:cNvSpPr>
            <p:nvPr/>
          </p:nvSpPr>
          <p:spPr bwMode="auto">
            <a:xfrm>
              <a:off x="4794484" y="1134420"/>
              <a:ext cx="687946" cy="43326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sp>
          <p:nvSpPr>
            <p:cNvPr id="9" name="Line 9"/>
            <p:cNvSpPr>
              <a:spLocks noChangeShapeType="1"/>
            </p:cNvSpPr>
            <p:nvPr/>
          </p:nvSpPr>
          <p:spPr bwMode="auto">
            <a:xfrm flipV="1">
              <a:off x="4794484" y="2017271"/>
              <a:ext cx="687946" cy="234139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grpSp>
      <p:grpSp>
        <p:nvGrpSpPr>
          <p:cNvPr id="18" name="组合 17"/>
          <p:cNvGrpSpPr/>
          <p:nvPr/>
        </p:nvGrpSpPr>
        <p:grpSpPr>
          <a:xfrm>
            <a:off x="264272" y="1376377"/>
            <a:ext cx="2940166" cy="1386128"/>
            <a:chOff x="264272" y="1376377"/>
            <a:chExt cx="2940166" cy="1386128"/>
          </a:xfrm>
        </p:grpSpPr>
        <p:sp>
          <p:nvSpPr>
            <p:cNvPr id="12" name="Text Box 7"/>
            <p:cNvSpPr txBox="1">
              <a:spLocks noChangeArrowheads="1"/>
            </p:cNvSpPr>
            <p:nvPr/>
          </p:nvSpPr>
          <p:spPr bwMode="auto">
            <a:xfrm>
              <a:off x="264272" y="1746842"/>
              <a:ext cx="2940166" cy="1015663"/>
            </a:xfrm>
            <a:prstGeom prst="rect">
              <a:avLst/>
            </a:prstGeom>
            <a:noFill/>
            <a:ln w="19050">
              <a:solidFill>
                <a:srgbClr val="00B0F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 </a:t>
              </a:r>
              <a:r>
                <a:rPr lang="en-US" altLang="zh-CN" sz="1600" b="1" dirty="0">
                  <a:latin typeface="微软雅黑" panose="020B0503020204020204" pitchFamily="34" charset="-122"/>
                  <a:ea typeface="微软雅黑" panose="020B0503020204020204" pitchFamily="34" charset="-122"/>
                </a:rPr>
                <a:t>C </a:t>
              </a:r>
              <a:r>
                <a:rPr lang="zh-CN" altLang="en-US" sz="1600" b="1" dirty="0">
                  <a:latin typeface="微软雅黑" panose="020B0503020204020204" pitchFamily="34" charset="-122"/>
                  <a:ea typeface="微软雅黑" panose="020B0503020204020204" pitchFamily="34" charset="-122"/>
                </a:rPr>
                <a:t>类地址，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=255.255.255.0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路由表中需要 </a:t>
              </a: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sp>
          <p:nvSpPr>
            <p:cNvPr id="13" name="矩形 12"/>
            <p:cNvSpPr/>
            <p:nvPr/>
          </p:nvSpPr>
          <p:spPr>
            <a:xfrm>
              <a:off x="1067808" y="1376377"/>
              <a:ext cx="946093" cy="369332"/>
            </a:xfrm>
            <a:prstGeom prst="rect">
              <a:avLst/>
            </a:prstGeom>
            <a:solidFill>
              <a:srgbClr val="00B0F0"/>
            </a:solidFill>
          </p:spPr>
          <p:txBody>
            <a:bodyPr wrap="none">
              <a:spAutoFit/>
            </a:bodyPr>
            <a:lstStyle/>
            <a:p>
              <a:r>
                <a:rPr lang="zh-CN" altLang="en-US" b="1" dirty="0">
                  <a:latin typeface="微软雅黑" pitchFamily="34" charset="-122"/>
                  <a:ea typeface="微软雅黑" pitchFamily="34" charset="-122"/>
                </a:rPr>
                <a:t>聚合前 </a:t>
              </a:r>
              <a:endParaRPr lang="zh-CN" altLang="en-US" dirty="0"/>
            </a:p>
          </p:txBody>
        </p:sp>
      </p:grpSp>
      <p:grpSp>
        <p:nvGrpSpPr>
          <p:cNvPr id="17" name="组合 16"/>
          <p:cNvGrpSpPr/>
          <p:nvPr/>
        </p:nvGrpSpPr>
        <p:grpSpPr>
          <a:xfrm>
            <a:off x="5509047" y="2302919"/>
            <a:ext cx="2884455" cy="1376841"/>
            <a:chOff x="5509047" y="2302919"/>
            <a:chExt cx="2884455" cy="1376841"/>
          </a:xfrm>
        </p:grpSpPr>
        <p:sp>
          <p:nvSpPr>
            <p:cNvPr id="14" name="矩形 13"/>
            <p:cNvSpPr/>
            <p:nvPr/>
          </p:nvSpPr>
          <p:spPr>
            <a:xfrm>
              <a:off x="6355992" y="2302919"/>
              <a:ext cx="1072509" cy="369332"/>
            </a:xfrm>
            <a:prstGeom prst="rect">
              <a:avLst/>
            </a:prstGeom>
            <a:solidFill>
              <a:srgbClr val="00B050"/>
            </a:solidFill>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聚合后 </a:t>
              </a:r>
              <a:endParaRPr lang="zh-CN" altLang="en-US" dirty="0">
                <a:latin typeface="微软雅黑" panose="020B0503020204020204" pitchFamily="34" charset="-122"/>
                <a:ea typeface="微软雅黑" panose="020B0503020204020204" pitchFamily="34" charset="-122"/>
              </a:endParaRPr>
            </a:p>
          </p:txBody>
        </p:sp>
        <p:sp>
          <p:nvSpPr>
            <p:cNvPr id="15" name="Text Box 7"/>
            <p:cNvSpPr txBox="1">
              <a:spLocks noChangeArrowheads="1"/>
            </p:cNvSpPr>
            <p:nvPr/>
          </p:nvSpPr>
          <p:spPr bwMode="auto">
            <a:xfrm>
              <a:off x="5509047" y="2664097"/>
              <a:ext cx="2884455" cy="1015663"/>
            </a:xfrm>
            <a:prstGeom prst="rect">
              <a:avLst/>
            </a:prstGeom>
            <a:noFill/>
            <a:ln w="19050">
              <a:solidFill>
                <a:srgbClr val="00B05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zh-CN" altLang="en-US" sz="1600" b="1" dirty="0">
                  <a:latin typeface="微软雅黑" panose="020B0503020204020204" pitchFamily="34" charset="-122"/>
                  <a:ea typeface="微软雅黑" panose="020B0503020204020204" pitchFamily="34" charset="-122"/>
                </a:rPr>
                <a:t>聚合为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 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=255.255.240.0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路由表中只需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29585692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1" dur="1000"/>
                                        <p:tgtEl>
                                          <p:spTgt spid="6"/>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1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11282"/>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 name="AutoShape 5"/>
          <p:cNvSpPr>
            <a:spLocks noChangeArrowheads="1"/>
          </p:cNvSpPr>
          <p:nvPr/>
        </p:nvSpPr>
        <p:spPr bwMode="auto">
          <a:xfrm>
            <a:off x="545144" y="62024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9065"/>
            <a:ext cx="2699778" cy="400110"/>
          </a:xfrm>
          <a:prstGeom prst="rect">
            <a:avLst/>
          </a:prstGeom>
        </p:spPr>
        <p:txBody>
          <a:bodyPr wrap="none">
            <a:spAutoFit/>
          </a:bodyPr>
          <a:lstStyle/>
          <a:p>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地址块划分举例</a:t>
            </a: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spTree>
    <p:extLst>
      <p:ext uri="{BB962C8B-B14F-4D97-AF65-F5344CB8AC3E}">
        <p14:creationId xmlns:p14="http://schemas.microsoft.com/office/powerpoint/2010/main" val="509260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11282"/>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 name="AutoShape 5"/>
          <p:cNvSpPr>
            <a:spLocks noChangeArrowheads="1"/>
          </p:cNvSpPr>
          <p:nvPr/>
        </p:nvSpPr>
        <p:spPr bwMode="auto">
          <a:xfrm>
            <a:off x="545144" y="62024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9065"/>
            <a:ext cx="2699778" cy="400110"/>
          </a:xfrm>
          <a:prstGeom prst="rect">
            <a:avLst/>
          </a:prstGeom>
        </p:spPr>
        <p:txBody>
          <a:bodyPr wrap="none">
            <a:spAutoFit/>
          </a:bodyPr>
          <a:lstStyle/>
          <a:p>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地址块划分举例</a:t>
            </a: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grpSp>
        <p:nvGrpSpPr>
          <p:cNvPr id="71" name="组合 70"/>
          <p:cNvGrpSpPr/>
          <p:nvPr/>
        </p:nvGrpSpPr>
        <p:grpSpPr>
          <a:xfrm>
            <a:off x="2346909" y="2883642"/>
            <a:ext cx="4640742" cy="1423467"/>
            <a:chOff x="2517509" y="2883642"/>
            <a:chExt cx="4640742" cy="1423467"/>
          </a:xfrm>
        </p:grpSpPr>
        <p:sp>
          <p:nvSpPr>
            <p:cNvPr id="72" name="Rectangle 3"/>
            <p:cNvSpPr>
              <a:spLocks noChangeArrowheads="1"/>
            </p:cNvSpPr>
            <p:nvPr/>
          </p:nvSpPr>
          <p:spPr bwMode="auto">
            <a:xfrm>
              <a:off x="2528884" y="2924384"/>
              <a:ext cx="4629367"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7" name="Text Box 57"/>
            <p:cNvSpPr txBox="1">
              <a:spLocks noChangeArrowheads="1"/>
            </p:cNvSpPr>
            <p:nvPr/>
          </p:nvSpPr>
          <p:spPr bwMode="auto">
            <a:xfrm>
              <a:off x="2517509" y="2883642"/>
              <a:ext cx="4640742"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                           地址数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16384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1024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512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256</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128</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128</a:t>
              </a:r>
            </a:p>
          </p:txBody>
        </p:sp>
        <p:sp>
          <p:nvSpPr>
            <p:cNvPr id="78" name="Line 58"/>
            <p:cNvSpPr>
              <a:spLocks noChangeShapeType="1"/>
            </p:cNvSpPr>
            <p:nvPr/>
          </p:nvSpPr>
          <p:spPr bwMode="auto">
            <a:xfrm>
              <a:off x="2523083" y="3147512"/>
              <a:ext cx="4635168"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9" name="Line 59"/>
            <p:cNvSpPr>
              <a:spLocks noChangeShapeType="1"/>
            </p:cNvSpPr>
            <p:nvPr/>
          </p:nvSpPr>
          <p:spPr bwMode="auto">
            <a:xfrm flipH="1">
              <a:off x="29572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0" name="Line 60"/>
            <p:cNvSpPr>
              <a:spLocks noChangeShapeType="1"/>
            </p:cNvSpPr>
            <p:nvPr/>
          </p:nvSpPr>
          <p:spPr bwMode="auto">
            <a:xfrm flipH="1">
              <a:off x="41566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1" name="Line 61"/>
            <p:cNvSpPr>
              <a:spLocks noChangeShapeType="1"/>
            </p:cNvSpPr>
            <p:nvPr/>
          </p:nvSpPr>
          <p:spPr bwMode="auto">
            <a:xfrm flipH="1">
              <a:off x="65115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82" name="矩形 81"/>
          <p:cNvSpPr/>
          <p:nvPr/>
        </p:nvSpPr>
        <p:spPr>
          <a:xfrm>
            <a:off x="1236910" y="2882740"/>
            <a:ext cx="6611815" cy="1426338"/>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Text Box 155"/>
          <p:cNvSpPr txBox="1">
            <a:spLocks noChangeArrowheads="1"/>
          </p:cNvSpPr>
          <p:nvPr/>
        </p:nvSpPr>
        <p:spPr bwMode="auto">
          <a:xfrm>
            <a:off x="1252868" y="2924032"/>
            <a:ext cx="6593695" cy="1374735"/>
          </a:xfrm>
          <a:prstGeom prst="rect">
            <a:avLst/>
          </a:prstGeom>
          <a:noFill/>
          <a:ln w="9525">
            <a:noFill/>
            <a:miter lim="800000"/>
            <a:headEnd/>
            <a:tailEnd/>
          </a:ln>
          <a:effectLst/>
        </p:spPr>
        <p:txBody>
          <a:bodyPr wrap="square">
            <a:spAutoFit/>
          </a:bodyPr>
          <a:lstStyle/>
          <a:p>
            <a:pPr>
              <a:lnSpc>
                <a:spcPts val="2000"/>
              </a:lnSpc>
            </a:pPr>
            <a:r>
              <a:rPr lang="zh-CN" altLang="en-US" sz="1400" b="1" dirty="0">
                <a:solidFill>
                  <a:schemeClr val="bg1"/>
                </a:solidFill>
                <a:latin typeface="微软雅黑" pitchFamily="34" charset="-122"/>
                <a:ea typeface="微软雅黑" pitchFamily="34" charset="-122"/>
              </a:rPr>
              <a:t>这个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共有 </a:t>
            </a:r>
            <a:r>
              <a:rPr lang="en-US" altLang="zh-CN" sz="1400" b="1" dirty="0">
                <a:solidFill>
                  <a:schemeClr val="bg1"/>
                </a:solidFill>
                <a:latin typeface="微软雅黑" pitchFamily="34" charset="-122"/>
                <a:ea typeface="微软雅黑" pitchFamily="34" charset="-122"/>
              </a:rPr>
              <a:t>64 </a:t>
            </a:r>
            <a:r>
              <a:rPr lang="zh-CN" altLang="en-US" sz="1400" b="1" dirty="0">
                <a:solidFill>
                  <a:schemeClr val="bg1"/>
                </a:solidFill>
                <a:latin typeface="微软雅黑" pitchFamily="34" charset="-122"/>
                <a:ea typeface="微软雅黑" pitchFamily="34" charset="-122"/>
              </a:rPr>
              <a:t>个 </a:t>
            </a:r>
            <a:r>
              <a:rPr lang="en-US" altLang="zh-CN" sz="1400" b="1" dirty="0">
                <a:solidFill>
                  <a:schemeClr val="bg1"/>
                </a:solidFill>
                <a:latin typeface="微软雅黑" pitchFamily="34" charset="-122"/>
                <a:ea typeface="微软雅黑" pitchFamily="34" charset="-122"/>
              </a:rPr>
              <a:t>C </a:t>
            </a:r>
            <a:r>
              <a:rPr lang="zh-CN" altLang="en-US" sz="1400" b="1" dirty="0">
                <a:solidFill>
                  <a:schemeClr val="bg1"/>
                </a:solidFill>
                <a:latin typeface="微软雅黑" pitchFamily="34" charset="-122"/>
                <a:ea typeface="微软雅黑" pitchFamily="34" charset="-122"/>
              </a:rPr>
              <a:t>类网络。如果不采用 </a:t>
            </a:r>
            <a:r>
              <a:rPr lang="en-US" altLang="zh-CN" sz="1400" b="1" dirty="0">
                <a:solidFill>
                  <a:schemeClr val="bg1"/>
                </a:solidFill>
                <a:latin typeface="微软雅黑" pitchFamily="34" charset="-122"/>
                <a:ea typeface="微软雅黑" pitchFamily="34" charset="-122"/>
              </a:rPr>
              <a:t>CIDR </a:t>
            </a:r>
            <a:r>
              <a:rPr lang="zh-CN" altLang="en-US" sz="1400" b="1" dirty="0">
                <a:solidFill>
                  <a:schemeClr val="bg1"/>
                </a:solidFill>
                <a:latin typeface="微软雅黑" pitchFamily="34" charset="-122"/>
                <a:ea typeface="微软雅黑" pitchFamily="34" charset="-122"/>
              </a:rPr>
              <a:t>技术，则在与该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的路由器交换路由信息的每一个路由器的转发表中，需要有 </a:t>
            </a:r>
            <a:r>
              <a:rPr lang="en-US" altLang="zh-CN" sz="1400" b="1" dirty="0">
                <a:solidFill>
                  <a:schemeClr val="bg1"/>
                </a:solidFill>
                <a:latin typeface="微软雅黑" pitchFamily="34" charset="-122"/>
                <a:ea typeface="微软雅黑" pitchFamily="34" charset="-122"/>
              </a:rPr>
              <a:t>64 </a:t>
            </a:r>
            <a:r>
              <a:rPr lang="zh-CN" altLang="en-US" sz="1400" b="1" dirty="0">
                <a:solidFill>
                  <a:schemeClr val="bg1"/>
                </a:solidFill>
                <a:latin typeface="微软雅黑" pitchFamily="34" charset="-122"/>
                <a:ea typeface="微软雅黑" pitchFamily="34" charset="-122"/>
              </a:rPr>
              <a:t>行。采用地址聚合后，转发表中只需要用 </a:t>
            </a:r>
            <a:r>
              <a:rPr lang="en-US" altLang="zh-CN" sz="1400" b="1" dirty="0">
                <a:solidFill>
                  <a:schemeClr val="bg1"/>
                </a:solidFill>
                <a:latin typeface="微软雅黑" pitchFamily="34" charset="-122"/>
                <a:ea typeface="微软雅黑" pitchFamily="34" charset="-122"/>
              </a:rPr>
              <a:t>1 </a:t>
            </a:r>
            <a:r>
              <a:rPr lang="zh-CN" altLang="en-US" sz="1400" b="1" dirty="0">
                <a:solidFill>
                  <a:schemeClr val="bg1"/>
                </a:solidFill>
                <a:latin typeface="微软雅黑" pitchFamily="34" charset="-122"/>
                <a:ea typeface="微软雅黑" pitchFamily="34" charset="-122"/>
              </a:rPr>
              <a:t>行来指出到 </a:t>
            </a:r>
            <a:r>
              <a:rPr lang="en-US" altLang="zh-CN" sz="1400" b="1" dirty="0">
                <a:solidFill>
                  <a:srgbClr val="FFFF00"/>
                </a:solidFill>
                <a:latin typeface="微软雅黑" pitchFamily="34" charset="-122"/>
                <a:ea typeface="微软雅黑" pitchFamily="34" charset="-122"/>
              </a:rPr>
              <a:t>206.0.64.0/18</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地址块的下一跳。</a:t>
            </a:r>
            <a:endParaRPr lang="en-US" altLang="zh-CN" sz="1400" b="1" dirty="0">
              <a:solidFill>
                <a:schemeClr val="bg1"/>
              </a:solidFill>
              <a:latin typeface="微软雅黑" pitchFamily="34" charset="-122"/>
              <a:ea typeface="微软雅黑" pitchFamily="34" charset="-122"/>
            </a:endParaRPr>
          </a:p>
          <a:p>
            <a:pPr>
              <a:lnSpc>
                <a:spcPts val="2000"/>
              </a:lnSpc>
            </a:pPr>
            <a:r>
              <a:rPr lang="zh-CN" altLang="en-US" sz="1400" b="1" dirty="0">
                <a:solidFill>
                  <a:schemeClr val="bg1"/>
                </a:solidFill>
                <a:latin typeface="微软雅黑" pitchFamily="34" charset="-122"/>
                <a:ea typeface="微软雅黑" pitchFamily="34" charset="-122"/>
              </a:rPr>
              <a:t>在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内的路由器的转发表中，也仅需用 </a:t>
            </a:r>
            <a:r>
              <a:rPr lang="en-US" altLang="zh-CN" sz="1400" b="1" dirty="0">
                <a:solidFill>
                  <a:srgbClr val="FFFF00"/>
                </a:solidFill>
                <a:latin typeface="微软雅黑" pitchFamily="34" charset="-122"/>
                <a:ea typeface="微软雅黑" pitchFamily="34" charset="-122"/>
              </a:rPr>
              <a:t>206.0.68.0/22</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这 </a:t>
            </a:r>
            <a:r>
              <a:rPr lang="en-US" altLang="zh-CN" sz="1400" b="1" dirty="0">
                <a:solidFill>
                  <a:schemeClr val="bg1"/>
                </a:solidFill>
                <a:latin typeface="微软雅黑" pitchFamily="34" charset="-122"/>
                <a:ea typeface="微软雅黑" pitchFamily="34" charset="-122"/>
              </a:rPr>
              <a:t>1 </a:t>
            </a:r>
            <a:r>
              <a:rPr lang="zh-CN" altLang="en-US" sz="1400" b="1" dirty="0">
                <a:solidFill>
                  <a:schemeClr val="bg1"/>
                </a:solidFill>
                <a:latin typeface="微软雅黑" pitchFamily="34" charset="-122"/>
                <a:ea typeface="微软雅黑" pitchFamily="34" charset="-122"/>
              </a:rPr>
              <a:t>个项目，就能把外部发送到这个大学各系的所有分组，都转发到大学的路由器。</a:t>
            </a:r>
          </a:p>
        </p:txBody>
      </p:sp>
    </p:spTree>
    <p:extLst>
      <p:ext uri="{BB962C8B-B14F-4D97-AF65-F5344CB8AC3E}">
        <p14:creationId xmlns:p14="http://schemas.microsoft.com/office/powerpoint/2010/main" val="17666134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83"/>
                                        </p:tgtEl>
                                        <p:attrNameLst>
                                          <p:attrName>style.visibility</p:attrName>
                                        </p:attrNameLst>
                                      </p:cBhvr>
                                      <p:to>
                                        <p:strVal val="visible"/>
                                      </p:to>
                                    </p:set>
                                    <p:animEffect transition="in" filter="wipe(up)">
                                      <p:cBhvr>
                                        <p:cTn id="7" dur="5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1361877"/>
          </a:xfrm>
          <a:prstGeom prst="borderCallout1">
            <a:avLst>
              <a:gd name="adj1" fmla="val 18153"/>
              <a:gd name="adj2" fmla="val 168"/>
              <a:gd name="adj3" fmla="val 22841"/>
              <a:gd name="adj4" fmla="val -12830"/>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nSpc>
                <a:spcPts val="2400"/>
              </a:lnSpc>
            </a:pP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地址是一种</a:t>
            </a:r>
            <a:r>
              <a:rPr lang="zh-CN" altLang="en-US" sz="1600" b="1" dirty="0">
                <a:solidFill>
                  <a:srgbClr val="C00000"/>
                </a:solidFill>
                <a:latin typeface="微软雅黑" panose="020B0503020204020204" pitchFamily="34" charset="-122"/>
                <a:ea typeface="微软雅黑" panose="020B0503020204020204" pitchFamily="34" charset="-122"/>
              </a:rPr>
              <a:t>分等级</a:t>
            </a:r>
            <a:r>
              <a:rPr lang="zh-CN" altLang="en-US" sz="1600" b="1" dirty="0">
                <a:solidFill>
                  <a:schemeClr val="tx1"/>
                </a:solidFill>
                <a:latin typeface="微软雅黑" panose="020B0503020204020204" pitchFamily="34" charset="-122"/>
                <a:ea typeface="微软雅黑" panose="020B0503020204020204" pitchFamily="34" charset="-122"/>
              </a:rPr>
              <a:t>的地址结构。</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方便了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地址的分配和管理。</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实现路由聚合，减小了转发表所占的存储空间，以及查找转发表的时间。</a:t>
            </a:r>
          </a:p>
          <a:p>
            <a:pPr>
              <a:lnSpc>
                <a:spcPts val="2400"/>
              </a:lnSpc>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5902612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2558780"/>
          </a:xfrm>
          <a:prstGeom prst="borderCallout1">
            <a:avLst>
              <a:gd name="adj1" fmla="val 18153"/>
              <a:gd name="adj2" fmla="val 168"/>
              <a:gd name="adj3" fmla="val 45156"/>
              <a:gd name="adj4" fmla="val -13501"/>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当一台</a:t>
            </a:r>
            <a:r>
              <a:rPr lang="zh-CN" altLang="en-US" sz="1600" b="1" dirty="0">
                <a:solidFill>
                  <a:srgbClr val="C00000"/>
                </a:solidFill>
                <a:latin typeface="微软雅黑" panose="020B0503020204020204" pitchFamily="34" charset="-122"/>
                <a:ea typeface="微软雅黑" panose="020B0503020204020204" pitchFamily="34" charset="-122"/>
              </a:rPr>
              <a:t>主机</a:t>
            </a:r>
            <a:r>
              <a:rPr lang="zh-CN" altLang="en-US" sz="1600" b="1" dirty="0">
                <a:solidFill>
                  <a:schemeClr val="tx1"/>
                </a:solidFill>
                <a:latin typeface="微软雅黑" panose="020B0503020204020204" pitchFamily="34" charset="-122"/>
                <a:ea typeface="微软雅黑" panose="020B0503020204020204" pitchFamily="34" charset="-122"/>
              </a:rPr>
              <a:t>同时连接到</a:t>
            </a:r>
            <a:r>
              <a:rPr lang="zh-CN" altLang="en-US" sz="1600" b="1" dirty="0">
                <a:solidFill>
                  <a:srgbClr val="C00000"/>
                </a:solidFill>
                <a:latin typeface="微软雅黑" panose="020B0503020204020204" pitchFamily="34" charset="-122"/>
                <a:ea typeface="微软雅黑" panose="020B0503020204020204" pitchFamily="34" charset="-122"/>
              </a:rPr>
              <a:t>两个网络</a:t>
            </a:r>
            <a:r>
              <a:rPr lang="zh-CN" altLang="en-US" sz="1600" b="1" dirty="0">
                <a:solidFill>
                  <a:schemeClr val="tx1"/>
                </a:solidFill>
                <a:latin typeface="微软雅黑" panose="020B0503020204020204" pitchFamily="34" charset="-122"/>
                <a:ea typeface="微软雅黑" panose="020B0503020204020204" pitchFamily="34" charset="-122"/>
              </a:rPr>
              <a:t>上时，该主机就必须同时具有</a:t>
            </a:r>
            <a:r>
              <a:rPr lang="zh-CN" altLang="en-US" sz="1600" b="1" dirty="0">
                <a:solidFill>
                  <a:srgbClr val="C00000"/>
                </a:solidFill>
                <a:latin typeface="微软雅黑" panose="020B0503020204020204" pitchFamily="34" charset="-122"/>
                <a:ea typeface="微软雅黑" panose="020B0503020204020204" pitchFamily="34" charset="-122"/>
              </a:rPr>
              <a:t>两个</a:t>
            </a:r>
            <a:r>
              <a:rPr lang="zh-CN" altLang="en-US" sz="1600" b="1" dirty="0">
                <a:solidFill>
                  <a:schemeClr val="tx1"/>
                </a:solidFill>
                <a:latin typeface="微软雅黑" panose="020B0503020204020204" pitchFamily="34" charset="-122"/>
                <a:ea typeface="微软雅黑" panose="020B0503020204020204" pitchFamily="34" charset="-122"/>
              </a:rPr>
              <a:t>相应的 </a:t>
            </a:r>
            <a:r>
              <a:rPr lang="en-US" altLang="zh-CN" sz="1600" b="1" dirty="0">
                <a:solidFill>
                  <a:srgbClr val="C00000"/>
                </a:solidFill>
                <a:latin typeface="微软雅黑" panose="020B0503020204020204" pitchFamily="34" charset="-122"/>
                <a:ea typeface="微软雅黑" panose="020B0503020204020204" pitchFamily="34" charset="-122"/>
              </a:rPr>
              <a:t>IP </a:t>
            </a:r>
            <a:r>
              <a:rPr lang="zh-CN" altLang="en-US" sz="1600" b="1" dirty="0">
                <a:solidFill>
                  <a:srgbClr val="C00000"/>
                </a:solidFill>
                <a:latin typeface="微软雅黑" panose="020B0503020204020204" pitchFamily="34" charset="-122"/>
                <a:ea typeface="微软雅黑" panose="020B0503020204020204" pitchFamily="34" charset="-122"/>
              </a:rPr>
              <a:t>地址，</a:t>
            </a:r>
            <a:r>
              <a:rPr lang="zh-CN" altLang="en-US" sz="1600" b="1" dirty="0">
                <a:solidFill>
                  <a:schemeClr val="tx1"/>
                </a:solidFill>
                <a:latin typeface="微软雅黑" panose="020B0503020204020204" pitchFamily="34" charset="-122"/>
                <a:ea typeface="微软雅黑" panose="020B0503020204020204" pitchFamily="34" charset="-122"/>
              </a:rPr>
              <a:t>其</a:t>
            </a:r>
            <a:r>
              <a:rPr lang="zh-CN" altLang="en-US" sz="1600" b="1" dirty="0">
                <a:solidFill>
                  <a:srgbClr val="C00000"/>
                </a:solidFill>
                <a:latin typeface="微软雅黑" panose="020B0503020204020204" pitchFamily="34" charset="-122"/>
                <a:ea typeface="微软雅黑" panose="020B0503020204020204" pitchFamily="34" charset="-122"/>
              </a:rPr>
              <a:t>网络号必须是不同</a:t>
            </a:r>
            <a:r>
              <a:rPr lang="zh-CN" altLang="en-US" sz="1600" b="1" dirty="0">
                <a:solidFill>
                  <a:schemeClr val="tx1"/>
                </a:solidFill>
                <a:latin typeface="微软雅黑" panose="020B0503020204020204" pitchFamily="34" charset="-122"/>
                <a:ea typeface="微软雅黑" panose="020B0503020204020204" pitchFamily="34" charset="-122"/>
              </a:rPr>
              <a:t>的。这种主机称为</a:t>
            </a:r>
            <a:r>
              <a:rPr lang="zh-CN" altLang="en-US" sz="1600" b="1" dirty="0">
                <a:solidFill>
                  <a:srgbClr val="C00000"/>
                </a:solidFill>
                <a:latin typeface="微软雅黑" panose="020B0503020204020204" pitchFamily="34" charset="-122"/>
                <a:ea typeface="微软雅黑" panose="020B0503020204020204" pitchFamily="34" charset="-122"/>
              </a:rPr>
              <a:t>多归属主机 </a:t>
            </a:r>
            <a:r>
              <a:rPr lang="en-US" altLang="zh-CN" sz="1600" b="1" dirty="0">
                <a:solidFill>
                  <a:schemeClr val="tx1"/>
                </a:solidFill>
                <a:latin typeface="微软雅黑" panose="020B0503020204020204" pitchFamily="34" charset="-122"/>
                <a:ea typeface="微软雅黑" panose="020B0503020204020204" pitchFamily="34" charset="-122"/>
              </a:rPr>
              <a:t>(</a:t>
            </a:r>
            <a:r>
              <a:rPr lang="en-US" altLang="zh-CN" sz="1600" b="1" dirty="0" err="1">
                <a:solidFill>
                  <a:schemeClr val="tx1"/>
                </a:solidFill>
                <a:latin typeface="微软雅黑" panose="020B0503020204020204" pitchFamily="34" charset="-122"/>
                <a:ea typeface="微软雅黑" panose="020B0503020204020204" pitchFamily="34" charset="-122"/>
              </a:rPr>
              <a:t>multihomed</a:t>
            </a:r>
            <a:r>
              <a:rPr lang="en-US" altLang="zh-CN" sz="1600" b="1" dirty="0">
                <a:solidFill>
                  <a:schemeClr val="tx1"/>
                </a:solidFill>
                <a:latin typeface="微软雅黑" panose="020B0503020204020204" pitchFamily="34" charset="-122"/>
                <a:ea typeface="微软雅黑" panose="020B0503020204020204" pitchFamily="34" charset="-122"/>
              </a:rPr>
              <a:t> host)</a:t>
            </a:r>
            <a:r>
              <a:rPr lang="zh-CN" altLang="en-US" sz="1600" b="1" dirty="0">
                <a:solidFill>
                  <a:schemeClr val="tx1"/>
                </a:solidFill>
                <a:latin typeface="微软雅黑" panose="020B0503020204020204" pitchFamily="34" charset="-122"/>
                <a:ea typeface="微软雅黑" panose="020B0503020204020204" pitchFamily="34" charset="-122"/>
              </a:rPr>
              <a:t>。</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一个</a:t>
            </a:r>
            <a:r>
              <a:rPr lang="zh-CN" altLang="en-US" sz="1600" b="1" dirty="0">
                <a:solidFill>
                  <a:srgbClr val="0000FF"/>
                </a:solidFill>
                <a:latin typeface="微软雅黑" panose="020B0503020204020204" pitchFamily="34" charset="-122"/>
                <a:ea typeface="微软雅黑" panose="020B0503020204020204" pitchFamily="34" charset="-122"/>
              </a:rPr>
              <a:t>路由器</a:t>
            </a:r>
            <a:r>
              <a:rPr lang="zh-CN" altLang="en-US" sz="1600" b="1" dirty="0">
                <a:solidFill>
                  <a:schemeClr val="tx1"/>
                </a:solidFill>
                <a:latin typeface="微软雅黑" panose="020B0503020204020204" pitchFamily="34" charset="-122"/>
                <a:ea typeface="微软雅黑" panose="020B0503020204020204" pitchFamily="34" charset="-122"/>
              </a:rPr>
              <a:t>至少应当连接到两个网络，因此一个路由器至少应当有</a:t>
            </a:r>
            <a:r>
              <a:rPr lang="zh-CN" altLang="en-US" sz="1600" b="1" dirty="0">
                <a:solidFill>
                  <a:srgbClr val="0000FF"/>
                </a:solidFill>
                <a:latin typeface="微软雅黑" panose="020B0503020204020204" pitchFamily="34" charset="-122"/>
                <a:ea typeface="微软雅黑" panose="020B0503020204020204" pitchFamily="34" charset="-122"/>
              </a:rPr>
              <a:t>两个不同</a:t>
            </a:r>
            <a:r>
              <a:rPr lang="zh-CN" altLang="en-US" sz="1600" b="1" dirty="0">
                <a:solidFill>
                  <a:schemeClr val="tx1"/>
                </a:solidFill>
                <a:latin typeface="微软雅黑" panose="020B0503020204020204" pitchFamily="34" charset="-122"/>
                <a:ea typeface="微软雅黑" panose="020B0503020204020204" pitchFamily="34" charset="-122"/>
              </a:rPr>
              <a:t>的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a:t>
            </a:r>
          </a:p>
          <a:p>
            <a:pPr>
              <a:lnSpc>
                <a:spcPts val="2400"/>
              </a:lnSpc>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0919081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2532901"/>
          </a:xfrm>
          <a:prstGeom prst="borderCallout1">
            <a:avLst>
              <a:gd name="adj1" fmla="val 59703"/>
              <a:gd name="adj2" fmla="val 168"/>
              <a:gd name="adj3" fmla="val 76430"/>
              <a:gd name="adj4" fmla="val -13278"/>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按照互联网的观点，</a:t>
            </a:r>
            <a:r>
              <a:rPr lang="zh-CN" altLang="en-US" sz="1600" b="1" dirty="0">
                <a:solidFill>
                  <a:srgbClr val="0000FF"/>
                </a:solidFill>
                <a:latin typeface="微软雅黑" panose="020B0503020204020204" pitchFamily="34" charset="-122"/>
                <a:ea typeface="微软雅黑" panose="020B0503020204020204" pitchFamily="34" charset="-122"/>
              </a:rPr>
              <a:t>一个网络（或子网）是指具有</a:t>
            </a:r>
            <a:r>
              <a:rPr lang="zh-CN" altLang="en-US" sz="1600" b="1" dirty="0">
                <a:solidFill>
                  <a:srgbClr val="C00000"/>
                </a:solidFill>
                <a:latin typeface="微软雅黑" panose="020B0503020204020204" pitchFamily="34" charset="-122"/>
                <a:ea typeface="微软雅黑" panose="020B0503020204020204" pitchFamily="34" charset="-122"/>
              </a:rPr>
              <a:t>相同网络前缀</a:t>
            </a:r>
            <a:r>
              <a:rPr lang="zh-CN" altLang="en-US" sz="1600" b="1" dirty="0">
                <a:solidFill>
                  <a:srgbClr val="0000FF"/>
                </a:solidFill>
                <a:latin typeface="微软雅黑" panose="020B0503020204020204" pitchFamily="34" charset="-122"/>
                <a:ea typeface="微软雅黑" panose="020B0503020204020204" pitchFamily="34" charset="-122"/>
              </a:rPr>
              <a:t>的主机的集合。</a:t>
            </a:r>
            <a:endParaRPr lang="en-US" altLang="zh-CN" sz="1600" b="1" dirty="0">
              <a:solidFill>
                <a:srgbClr val="0000FF"/>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转发器或交换机连接起来的若干个局域网都具有同样的网络号，它们仍为一个网络。</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具有</a:t>
            </a:r>
            <a:r>
              <a:rPr lang="zh-CN" altLang="en-US" sz="1600" b="1" dirty="0">
                <a:solidFill>
                  <a:srgbClr val="0000FF"/>
                </a:solidFill>
                <a:latin typeface="微软雅黑" panose="020B0503020204020204" pitchFamily="34" charset="-122"/>
                <a:ea typeface="微软雅黑" panose="020B0503020204020204" pitchFamily="34" charset="-122"/>
              </a:rPr>
              <a:t>不同网络号</a:t>
            </a:r>
            <a:r>
              <a:rPr lang="zh-CN" altLang="en-US" sz="1600" b="1" dirty="0">
                <a:solidFill>
                  <a:srgbClr val="C00000"/>
                </a:solidFill>
                <a:latin typeface="微软雅黑" panose="020B0503020204020204" pitchFamily="34" charset="-122"/>
                <a:ea typeface="微软雅黑" panose="020B0503020204020204" pitchFamily="34" charset="-122"/>
              </a:rPr>
              <a:t>的局域网必须使用路由器进行互连。</a:t>
            </a:r>
          </a:p>
        </p:txBody>
      </p:sp>
    </p:spTree>
    <p:extLst>
      <p:ext uri="{BB962C8B-B14F-4D97-AF65-F5344CB8AC3E}">
        <p14:creationId xmlns:p14="http://schemas.microsoft.com/office/powerpoint/2010/main" val="2005827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3071003"/>
            <a:ext cx="3856008" cy="1069679"/>
          </a:xfrm>
          <a:prstGeom prst="borderCallout1">
            <a:avLst>
              <a:gd name="adj1" fmla="val 59703"/>
              <a:gd name="adj2" fmla="val 168"/>
              <a:gd name="adj3" fmla="val 76430"/>
              <a:gd name="adj4" fmla="val -13278"/>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互联网</a:t>
            </a:r>
            <a:r>
              <a:rPr lang="zh-CN" altLang="en-US" sz="1600" b="1" dirty="0">
                <a:solidFill>
                  <a:srgbClr val="C00000"/>
                </a:solidFill>
                <a:latin typeface="微软雅黑" panose="020B0503020204020204" pitchFamily="34" charset="-122"/>
                <a:ea typeface="微软雅黑" panose="020B0503020204020204" pitchFamily="34" charset="-122"/>
              </a:rPr>
              <a:t>同等对待</a:t>
            </a:r>
            <a:r>
              <a:rPr lang="zh-CN" altLang="en-US" sz="1600" b="1" dirty="0">
                <a:solidFill>
                  <a:schemeClr val="tx1"/>
                </a:solidFill>
                <a:latin typeface="微软雅黑" panose="020B0503020204020204" pitchFamily="34" charset="-122"/>
                <a:ea typeface="微软雅黑" panose="020B0503020204020204" pitchFamily="34" charset="-122"/>
              </a:rPr>
              <a:t>每一个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地址，不管是范围很小的局域网，还是可能覆盖很大地理范围的广域网</a:t>
            </a:r>
            <a:endParaRPr lang="zh-CN" altLang="en-US" sz="1600" b="1" dirty="0">
              <a:solidFill>
                <a:srgbClr val="C0000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836875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0" name="Text Box 438"/>
          <p:cNvSpPr txBox="1">
            <a:spLocks noChangeArrowheads="1"/>
          </p:cNvSpPr>
          <p:nvPr/>
        </p:nvSpPr>
        <p:spPr bwMode="auto">
          <a:xfrm>
            <a:off x="616085" y="1895813"/>
            <a:ext cx="2072794" cy="1175706"/>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kumimoji="0" lang="zh-CN" altLang="en-US" sz="1600" b="1" dirty="0">
                <a:latin typeface="微软雅黑" pitchFamily="34" charset="-122"/>
                <a:ea typeface="微软雅黑" pitchFamily="34" charset="-122"/>
              </a:rPr>
              <a:t>同一个局域网上的</a:t>
            </a:r>
            <a:endParaRPr kumimoji="0" lang="en-US" altLang="zh-CN" sz="1600" b="1" dirty="0">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主机或路由器的</a:t>
            </a:r>
          </a:p>
          <a:p>
            <a:pPr algn="ctr">
              <a:lnSpc>
                <a:spcPct val="110000"/>
              </a:lnSpc>
            </a:pPr>
            <a:r>
              <a:rPr kumimoji="0" lang="en-US" altLang="zh-CN" sz="1600" b="1" dirty="0">
                <a:latin typeface="微软雅黑" pitchFamily="34" charset="-122"/>
                <a:ea typeface="微软雅黑" pitchFamily="34" charset="-122"/>
              </a:rPr>
              <a:t>IP </a:t>
            </a:r>
            <a:r>
              <a:rPr kumimoji="0" lang="zh-CN" altLang="en-US" sz="1600" b="1" dirty="0">
                <a:latin typeface="微软雅黑" pitchFamily="34" charset="-122"/>
                <a:ea typeface="微软雅黑" pitchFamily="34" charset="-122"/>
              </a:rPr>
              <a:t>地址中的</a:t>
            </a:r>
            <a:r>
              <a:rPr kumimoji="0" lang="zh-CN" altLang="en-US" sz="1600" b="1" dirty="0">
                <a:solidFill>
                  <a:srgbClr val="C00000"/>
                </a:solidFill>
                <a:latin typeface="微软雅黑" pitchFamily="34" charset="-122"/>
                <a:ea typeface="微软雅黑" pitchFamily="34" charset="-122"/>
              </a:rPr>
              <a:t>网络号</a:t>
            </a:r>
            <a:endParaRPr kumimoji="0" lang="en-US" altLang="zh-CN" sz="1600" b="1" dirty="0">
              <a:solidFill>
                <a:srgbClr val="C00000"/>
              </a:solidFill>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必须一样。</a:t>
            </a:r>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3"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0"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1.1.1.27</a:t>
            </a:r>
            <a:endParaRPr lang="en-US" altLang="zh-CN" sz="1050" b="1" dirty="0">
              <a:latin typeface="微软雅黑" panose="020B0503020204020204" pitchFamily="34" charset="-122"/>
              <a:ea typeface="微软雅黑" panose="020B0503020204020204" pitchFamily="34" charset="-122"/>
            </a:endParaRP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1.1.1.28</a:t>
            </a:r>
            <a:endParaRPr lang="en-US" altLang="zh-CN" sz="1050" b="1" dirty="0">
              <a:latin typeface="微软雅黑" panose="020B0503020204020204" pitchFamily="34" charset="-122"/>
              <a:ea typeface="微软雅黑" panose="020B0503020204020204" pitchFamily="34" charset="-122"/>
            </a:endParaRP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1.1.1.19</a:t>
            </a:r>
            <a:endParaRPr lang="en-US" altLang="zh-CN" sz="1050" b="1" dirty="0">
              <a:latin typeface="微软雅黑" panose="020B0503020204020204" pitchFamily="34" charset="-122"/>
              <a:ea typeface="微软雅黑" panose="020B0503020204020204" pitchFamily="34" charset="-122"/>
            </a:endParaRP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1"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2" name="Group 349"/>
            <p:cNvGrpSpPr>
              <a:grpSpLocks/>
            </p:cNvGrpSpPr>
            <p:nvPr/>
          </p:nvGrpSpPr>
          <p:grpSpPr bwMode="auto">
            <a:xfrm>
              <a:off x="1371" y="2587"/>
              <a:ext cx="304" cy="117"/>
              <a:chOff x="1371" y="2587"/>
              <a:chExt cx="304" cy="117"/>
            </a:xfrm>
          </p:grpSpPr>
          <p:grpSp>
            <p:nvGrpSpPr>
              <p:cNvPr id="213"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4"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pic>
        <p:nvPicPr>
          <p:cNvPr id="651" name="Picture 58"/>
          <p:cNvPicPr>
            <a:picLocks noChangeArrowheads="1"/>
          </p:cNvPicPr>
          <p:nvPr/>
        </p:nvPicPr>
        <p:blipFill>
          <a:blip cstate="print">
            <a:extLst>
              <a:ext uri="{28A0092B-C50C-407E-A947-70E740481C1C}">
                <a14:useLocalDpi xmlns:a14="http://schemas.microsoft.com/office/drawing/2010/main" val="0"/>
              </a:ext>
            </a:extLst>
          </a:blip>
          <a:srcRect/>
          <a:stretch>
            <a:fillRect/>
          </a:stretch>
        </p:blipFill>
        <p:spPr bwMode="auto">
          <a:xfrm>
            <a:off x="7142563" y="2397289"/>
            <a:ext cx="338129" cy="195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216" name="Group 344"/>
          <p:cNvGrpSpPr>
            <a:grpSpLocks/>
          </p:cNvGrpSpPr>
          <p:nvPr/>
        </p:nvGrpSpPr>
        <p:grpSpPr bwMode="auto">
          <a:xfrm>
            <a:off x="3595071" y="3710360"/>
            <a:ext cx="242049" cy="128766"/>
            <a:chOff x="1304" y="2569"/>
            <a:chExt cx="439" cy="262"/>
          </a:xfrm>
        </p:grpSpPr>
        <p:sp>
          <p:nvSpPr>
            <p:cNvPr id="653"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4"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5"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6"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7" name="Group 349"/>
            <p:cNvGrpSpPr>
              <a:grpSpLocks/>
            </p:cNvGrpSpPr>
            <p:nvPr/>
          </p:nvGrpSpPr>
          <p:grpSpPr bwMode="auto">
            <a:xfrm>
              <a:off x="1371" y="2587"/>
              <a:ext cx="304" cy="117"/>
              <a:chOff x="1371" y="2587"/>
              <a:chExt cx="304" cy="117"/>
            </a:xfrm>
          </p:grpSpPr>
          <p:grpSp>
            <p:nvGrpSpPr>
              <p:cNvPr id="218" name="Group 350"/>
              <p:cNvGrpSpPr>
                <a:grpSpLocks/>
              </p:cNvGrpSpPr>
              <p:nvPr/>
            </p:nvGrpSpPr>
            <p:grpSpPr bwMode="auto">
              <a:xfrm>
                <a:off x="1371" y="2587"/>
                <a:ext cx="301" cy="115"/>
                <a:chOff x="1371" y="2587"/>
                <a:chExt cx="301" cy="115"/>
              </a:xfrm>
            </p:grpSpPr>
            <p:sp>
              <p:nvSpPr>
                <p:cNvPr id="670"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1"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2"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3"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4"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5"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6"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7"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9" name="Group 359"/>
              <p:cNvGrpSpPr>
                <a:grpSpLocks/>
              </p:cNvGrpSpPr>
              <p:nvPr/>
            </p:nvGrpSpPr>
            <p:grpSpPr bwMode="auto">
              <a:xfrm>
                <a:off x="1373" y="2590"/>
                <a:ext cx="302" cy="114"/>
                <a:chOff x="1373" y="2590"/>
                <a:chExt cx="302" cy="114"/>
              </a:xfrm>
            </p:grpSpPr>
            <p:sp>
              <p:nvSpPr>
                <p:cNvPr id="662"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3"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4"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5"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6"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7"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8"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9"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58"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9"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79"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grpSp>
        <p:nvGrpSpPr>
          <p:cNvPr id="221" name="Group 30"/>
          <p:cNvGrpSpPr>
            <a:grpSpLocks/>
          </p:cNvGrpSpPr>
          <p:nvPr/>
        </p:nvGrpSpPr>
        <p:grpSpPr bwMode="auto">
          <a:xfrm>
            <a:off x="2944549" y="2679365"/>
            <a:ext cx="244820" cy="265439"/>
            <a:chOff x="101" y="2294"/>
            <a:chExt cx="343" cy="353"/>
          </a:xfrm>
        </p:grpSpPr>
        <p:grpSp>
          <p:nvGrpSpPr>
            <p:cNvPr id="242"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3"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44"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53"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pic>
        <p:nvPicPr>
          <p:cNvPr id="68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1"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38081015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pic>
        <p:nvPicPr>
          <p:cNvPr id="651" name="Picture 58"/>
          <p:cNvPicPr>
            <a:picLocks noChangeArrowheads="1"/>
          </p:cNvPicPr>
          <p:nvPr/>
        </p:nvPicPr>
        <p:blipFill>
          <a:blip cstate="print">
            <a:extLst>
              <a:ext uri="{28A0092B-C50C-407E-A947-70E740481C1C}">
                <a14:useLocalDpi xmlns:a14="http://schemas.microsoft.com/office/drawing/2010/main" val="0"/>
              </a:ext>
            </a:extLst>
          </a:blip>
          <a:srcRect/>
          <a:stretch>
            <a:fillRect/>
          </a:stretch>
        </p:blipFill>
        <p:spPr bwMode="auto">
          <a:xfrm>
            <a:off x="7142563" y="2397289"/>
            <a:ext cx="338129" cy="195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0" name="Text Box 438"/>
          <p:cNvSpPr txBox="1">
            <a:spLocks noChangeArrowheads="1"/>
          </p:cNvSpPr>
          <p:nvPr/>
        </p:nvSpPr>
        <p:spPr bwMode="auto">
          <a:xfrm>
            <a:off x="696234" y="1828010"/>
            <a:ext cx="1866218" cy="904863"/>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路由器的每一个接口都有一个</a:t>
            </a:r>
            <a:r>
              <a:rPr lang="zh-CN" altLang="en-US" sz="1600" b="1" dirty="0">
                <a:solidFill>
                  <a:srgbClr val="C00000"/>
                </a:solidFill>
                <a:latin typeface="微软雅黑" pitchFamily="34" charset="-122"/>
                <a:ea typeface="微软雅黑" pitchFamily="34" charset="-122"/>
              </a:rPr>
              <a:t>不同网络号</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a:t>
            </a:r>
          </a:p>
        </p:txBody>
      </p:sp>
      <p:sp>
        <p:nvSpPr>
          <p:cNvPr id="681"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2"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4"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5"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1"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2"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3"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4"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89"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0"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0"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2595481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C00000"/>
                </a:solidFill>
                <a:latin typeface="微软雅黑" panose="020B0503020204020204" pitchFamily="34" charset="-122"/>
                <a:ea typeface="微软雅黑" panose="020B0503020204020204" pitchFamily="34" charset="-122"/>
              </a:rPr>
              <a:t>N</a:t>
            </a:r>
            <a:r>
              <a:rPr lang="en-US" altLang="zh-CN" sz="1050" b="1" baseline="-25000">
                <a:solidFill>
                  <a:srgbClr val="C00000"/>
                </a:solidFill>
                <a:latin typeface="微软雅黑" panose="020B0503020204020204" pitchFamily="34" charset="-122"/>
                <a:ea typeface="微软雅黑" panose="020B0503020204020204" pitchFamily="34" charset="-122"/>
              </a:rPr>
              <a:t>1</a:t>
            </a: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2</a:t>
            </a: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1.1.1.28/31</a:t>
            </a: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1.1.1.26/31</a:t>
            </a: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1.1.1.24/31</a:t>
            </a: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3</a:t>
            </a: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1" name="Text Box 438"/>
          <p:cNvSpPr txBox="1">
            <a:spLocks noChangeArrowheads="1"/>
          </p:cNvSpPr>
          <p:nvPr/>
        </p:nvSpPr>
        <p:spPr bwMode="auto">
          <a:xfrm>
            <a:off x="749294" y="1365908"/>
            <a:ext cx="1896400" cy="2462213"/>
          </a:xfrm>
          <a:prstGeom prst="rect">
            <a:avLst/>
          </a:prstGeom>
          <a:solidFill>
            <a:srgbClr val="00FFFF"/>
          </a:solidFill>
          <a:ln w="9525">
            <a:solidFill>
              <a:schemeClr val="tx2"/>
            </a:solidFill>
            <a:miter lim="800000"/>
            <a:headEnd/>
            <a:tailEnd/>
          </a:ln>
          <a:effectLst/>
        </p:spPr>
        <p:txBody>
          <a:bodyPr wrap="square">
            <a:spAutoFit/>
          </a:bodyPr>
          <a:lstStyle/>
          <a:p>
            <a:pPr>
              <a:lnSpc>
                <a:spcPct val="110000"/>
              </a:lnSpc>
            </a:pPr>
            <a:r>
              <a:rPr lang="zh-CN" altLang="en-US" sz="1400" b="1" dirty="0">
                <a:latin typeface="微软雅黑" pitchFamily="34" charset="-122"/>
                <a:ea typeface="微软雅黑" pitchFamily="34" charset="-122"/>
              </a:rPr>
              <a:t>两个路由器直接相连的接口处，可指明也可不指明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如指明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地址，则这一段连线就构成了一种只包含一段线路的特殊“网络” 。这种网络</a:t>
            </a:r>
            <a:r>
              <a:rPr lang="zh-CN" altLang="en-US" sz="1400" b="1" dirty="0">
                <a:solidFill>
                  <a:srgbClr val="C00000"/>
                </a:solidFill>
                <a:latin typeface="微软雅黑" pitchFamily="34" charset="-122"/>
                <a:ea typeface="微软雅黑" pitchFamily="34" charset="-122"/>
              </a:rPr>
              <a:t>仅需</a:t>
            </a:r>
            <a:r>
              <a:rPr lang="zh-CN" altLang="en-US" sz="1400" b="1" dirty="0">
                <a:latin typeface="微软雅黑" pitchFamily="34" charset="-122"/>
                <a:ea typeface="微软雅黑" pitchFamily="34" charset="-122"/>
              </a:rPr>
              <a:t>两个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地址，可以使用 </a:t>
            </a:r>
            <a:r>
              <a:rPr lang="en-US" altLang="zh-CN" sz="1400" b="1" dirty="0">
                <a:solidFill>
                  <a:srgbClr val="C00000"/>
                </a:solidFill>
                <a:latin typeface="微软雅黑" pitchFamily="34" charset="-122"/>
                <a:ea typeface="微软雅黑" pitchFamily="34" charset="-122"/>
              </a:rPr>
              <a:t>/31 </a:t>
            </a:r>
            <a:r>
              <a:rPr lang="zh-CN" altLang="en-US" sz="1400" b="1" dirty="0">
                <a:latin typeface="微软雅黑" pitchFamily="34" charset="-122"/>
                <a:ea typeface="微软雅黑" pitchFamily="34" charset="-122"/>
              </a:rPr>
              <a:t>地址块。主机号可以是 </a:t>
            </a:r>
            <a:r>
              <a:rPr lang="en-US" altLang="zh-CN" sz="1400" b="1" dirty="0">
                <a:latin typeface="微软雅黑" pitchFamily="34" charset="-122"/>
                <a:ea typeface="微软雅黑" pitchFamily="34" charset="-122"/>
              </a:rPr>
              <a:t>0 </a:t>
            </a:r>
            <a:r>
              <a:rPr lang="zh-CN" altLang="en-US" sz="1400" b="1" dirty="0">
                <a:latin typeface="微软雅黑" pitchFamily="34" charset="-122"/>
                <a:ea typeface="微软雅黑" pitchFamily="34" charset="-122"/>
              </a:rPr>
              <a:t>或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p:txBody>
      </p:sp>
      <p:sp>
        <p:nvSpPr>
          <p:cNvPr id="682"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3"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5"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8"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2"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9"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4"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1"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90"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1"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1"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7"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41771929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7" name="AutoShape 5"/>
          <p:cNvSpPr>
            <a:spLocks noChangeArrowheads="1"/>
          </p:cNvSpPr>
          <p:nvPr/>
        </p:nvSpPr>
        <p:spPr bwMode="auto">
          <a:xfrm>
            <a:off x="545144" y="620734"/>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238" name="Rectangle 6"/>
          <p:cNvSpPr>
            <a:spLocks noChangeArrowheads="1"/>
          </p:cNvSpPr>
          <p:nvPr/>
        </p:nvSpPr>
        <p:spPr bwMode="auto">
          <a:xfrm>
            <a:off x="2583382" y="588663"/>
            <a:ext cx="39772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4.2.3  IP </a:t>
            </a:r>
            <a:r>
              <a:rPr lang="zh-CN" altLang="en-US" sz="2400" b="1" dirty="0">
                <a:solidFill>
                  <a:schemeClr val="bg1"/>
                </a:solidFill>
                <a:latin typeface="微软雅黑" pitchFamily="34" charset="-122"/>
                <a:ea typeface="微软雅黑" pitchFamily="34" charset="-122"/>
              </a:rPr>
              <a:t>地址与 </a:t>
            </a:r>
            <a:r>
              <a:rPr lang="en-US" altLang="zh-CN" sz="2400" b="1" dirty="0">
                <a:solidFill>
                  <a:schemeClr val="bg1"/>
                </a:solidFill>
                <a:latin typeface="微软雅黑" pitchFamily="34" charset="-122"/>
                <a:ea typeface="微软雅黑" pitchFamily="34" charset="-122"/>
              </a:rPr>
              <a:t>MAC </a:t>
            </a:r>
            <a:r>
              <a:rPr lang="zh-CN" altLang="en-US" sz="2400" b="1" dirty="0">
                <a:solidFill>
                  <a:schemeClr val="bg1"/>
                </a:solidFill>
                <a:latin typeface="微软雅黑" pitchFamily="34" charset="-122"/>
                <a:ea typeface="微软雅黑" pitchFamily="34" charset="-122"/>
              </a:rPr>
              <a:t>地址</a:t>
            </a:r>
          </a:p>
        </p:txBody>
      </p:sp>
      <p:graphicFrame>
        <p:nvGraphicFramePr>
          <p:cNvPr id="2" name="图示 1"/>
          <p:cNvGraphicFramePr/>
          <p:nvPr>
            <p:extLst>
              <p:ext uri="{D42A27DB-BD31-4B8C-83A1-F6EECF244321}">
                <p14:modId xmlns:p14="http://schemas.microsoft.com/office/powerpoint/2010/main" val="1940721802"/>
              </p:ext>
            </p:extLst>
          </p:nvPr>
        </p:nvGraphicFramePr>
        <p:xfrm>
          <a:off x="1204825" y="1224955"/>
          <a:ext cx="6688348" cy="254478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7">
            <a:extLst>
              <a:ext uri="{FF2B5EF4-FFF2-40B4-BE49-F238E27FC236}">
                <a16:creationId xmlns:a16="http://schemas.microsoft.com/office/drawing/2014/main" id="{2F54F77B-E3A3-04ED-12CA-6263F670D6B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000734" y="852721"/>
            <a:ext cx="381000" cy="304800"/>
          </a:xfrm>
          <a:prstGeom prst="rect">
            <a:avLst/>
          </a:prstGeom>
        </p:spPr>
      </p:pic>
      <p:sp>
        <p:nvSpPr>
          <p:cNvPr id="9" name="文本框 8">
            <a:extLst>
              <a:ext uri="{FF2B5EF4-FFF2-40B4-BE49-F238E27FC236}">
                <a16:creationId xmlns:a16="http://schemas.microsoft.com/office/drawing/2014/main" id="{C7C4CFE1-CC4B-9348-A521-1FD857CB4436}"/>
              </a:ext>
            </a:extLst>
          </p:cNvPr>
          <p:cNvSpPr txBox="1"/>
          <p:nvPr/>
        </p:nvSpPr>
        <p:spPr>
          <a:xfrm>
            <a:off x="6406026" y="2848659"/>
            <a:ext cx="1446230" cy="461665"/>
          </a:xfrm>
          <a:prstGeom prst="rect">
            <a:avLst/>
          </a:prstGeom>
          <a:noFill/>
        </p:spPr>
        <p:txBody>
          <a:bodyPr wrap="none" rtlCol="0">
            <a:spAutoFit/>
          </a:bodyPr>
          <a:lstStyle/>
          <a:p>
            <a:pPr algn="ctr"/>
            <a:r>
              <a:rPr lang="pt-BR" altLang="zh-CN" sz="1200" dirty="0">
                <a:latin typeface="Montserrat" panose="00000500000000000000" pitchFamily="2" charset="0"/>
              </a:rPr>
              <a:t>192.168.0.4</a:t>
            </a:r>
          </a:p>
          <a:p>
            <a:pPr algn="ctr"/>
            <a:r>
              <a:rPr lang="pt-BR" altLang="zh-CN" sz="1200" dirty="0">
                <a:latin typeface="Montserrat" panose="00000500000000000000" pitchFamily="2" charset="0"/>
              </a:rPr>
              <a:t>0007.ECEC.A552</a:t>
            </a:r>
            <a:endParaRPr lang="zh-CN" altLang="en-US" sz="1200" dirty="0">
              <a:latin typeface="Montserrat" panose="00000500000000000000" pitchFamily="2" charset="0"/>
            </a:endParaRPr>
          </a:p>
        </p:txBody>
      </p:sp>
      <p:grpSp>
        <p:nvGrpSpPr>
          <p:cNvPr id="11" name="组合 10">
            <a:extLst>
              <a:ext uri="{FF2B5EF4-FFF2-40B4-BE49-F238E27FC236}">
                <a16:creationId xmlns:a16="http://schemas.microsoft.com/office/drawing/2014/main" id="{03295F5D-65E6-85B5-E942-74F1C20F0777}"/>
              </a:ext>
            </a:extLst>
          </p:cNvPr>
          <p:cNvGrpSpPr/>
          <p:nvPr/>
        </p:nvGrpSpPr>
        <p:grpSpPr>
          <a:xfrm>
            <a:off x="1791880" y="2298922"/>
            <a:ext cx="461986" cy="563727"/>
            <a:chOff x="1889709" y="2146522"/>
            <a:chExt cx="461986" cy="563727"/>
          </a:xfrm>
        </p:grpSpPr>
        <p:pic>
          <p:nvPicPr>
            <p:cNvPr id="4" name="图形 3" descr="监视器">
              <a:extLst>
                <a:ext uri="{FF2B5EF4-FFF2-40B4-BE49-F238E27FC236}">
                  <a16:creationId xmlns:a16="http://schemas.microsoft.com/office/drawing/2014/main" id="{EBC52861-6923-201B-4B15-7CE3C9E8E53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10" name="文本框 9">
              <a:extLst>
                <a:ext uri="{FF2B5EF4-FFF2-40B4-BE49-F238E27FC236}">
                  <a16:creationId xmlns:a16="http://schemas.microsoft.com/office/drawing/2014/main" id="{B179967A-5E6A-38C6-1F31-798BABC33DB0}"/>
                </a:ext>
              </a:extLst>
            </p:cNvPr>
            <p:cNvSpPr txBox="1"/>
            <p:nvPr/>
          </p:nvSpPr>
          <p:spPr>
            <a:xfrm>
              <a:off x="1889709" y="2433250"/>
              <a:ext cx="461986" cy="276999"/>
            </a:xfrm>
            <a:prstGeom prst="rect">
              <a:avLst/>
            </a:prstGeom>
            <a:noFill/>
          </p:spPr>
          <p:txBody>
            <a:bodyPr wrap="none" rtlCol="0">
              <a:spAutoFit/>
            </a:bodyPr>
            <a:lstStyle/>
            <a:p>
              <a:pPr algn="ctr"/>
              <a:r>
                <a:rPr lang="en-US" altLang="zh-CN" sz="1200" dirty="0">
                  <a:latin typeface="Montserrat" panose="00000500000000000000" pitchFamily="2" charset="0"/>
                </a:rPr>
                <a:t>PC1</a:t>
              </a:r>
              <a:endParaRPr lang="zh-CN" altLang="en-US" sz="1200" dirty="0">
                <a:latin typeface="Montserrat" panose="00000500000000000000" pitchFamily="2" charset="0"/>
              </a:endParaRPr>
            </a:p>
          </p:txBody>
        </p:sp>
      </p:grpSp>
      <p:grpSp>
        <p:nvGrpSpPr>
          <p:cNvPr id="12" name="组合 11">
            <a:extLst>
              <a:ext uri="{FF2B5EF4-FFF2-40B4-BE49-F238E27FC236}">
                <a16:creationId xmlns:a16="http://schemas.microsoft.com/office/drawing/2014/main" id="{C2680765-7168-4EE5-BC0E-A1DF37CD0738}"/>
              </a:ext>
            </a:extLst>
          </p:cNvPr>
          <p:cNvGrpSpPr/>
          <p:nvPr/>
        </p:nvGrpSpPr>
        <p:grpSpPr>
          <a:xfrm>
            <a:off x="3477939" y="2298922"/>
            <a:ext cx="494046" cy="563727"/>
            <a:chOff x="1873679" y="2146522"/>
            <a:chExt cx="494046" cy="563727"/>
          </a:xfrm>
        </p:grpSpPr>
        <p:pic>
          <p:nvPicPr>
            <p:cNvPr id="13" name="图形 12" descr="监视器">
              <a:extLst>
                <a:ext uri="{FF2B5EF4-FFF2-40B4-BE49-F238E27FC236}">
                  <a16:creationId xmlns:a16="http://schemas.microsoft.com/office/drawing/2014/main" id="{38F7E422-46DE-CF4B-6F49-9A328ADFB0D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14" name="文本框 13">
              <a:extLst>
                <a:ext uri="{FF2B5EF4-FFF2-40B4-BE49-F238E27FC236}">
                  <a16:creationId xmlns:a16="http://schemas.microsoft.com/office/drawing/2014/main" id="{FF030B0F-0D21-D0EC-A7D1-594803567DEF}"/>
                </a:ext>
              </a:extLst>
            </p:cNvPr>
            <p:cNvSpPr txBox="1"/>
            <p:nvPr/>
          </p:nvSpPr>
          <p:spPr>
            <a:xfrm>
              <a:off x="1873679" y="2433250"/>
              <a:ext cx="494046" cy="276999"/>
            </a:xfrm>
            <a:prstGeom prst="rect">
              <a:avLst/>
            </a:prstGeom>
            <a:noFill/>
          </p:spPr>
          <p:txBody>
            <a:bodyPr wrap="none" rtlCol="0">
              <a:spAutoFit/>
            </a:bodyPr>
            <a:lstStyle/>
            <a:p>
              <a:pPr algn="ctr"/>
              <a:r>
                <a:rPr lang="en-US" altLang="zh-CN" sz="1200" dirty="0">
                  <a:latin typeface="Montserrat" panose="00000500000000000000" pitchFamily="2" charset="0"/>
                </a:rPr>
                <a:t>PC2</a:t>
              </a:r>
              <a:endParaRPr lang="zh-CN" altLang="en-US" sz="1200" dirty="0">
                <a:latin typeface="Montserrat" panose="00000500000000000000" pitchFamily="2" charset="0"/>
              </a:endParaRPr>
            </a:p>
          </p:txBody>
        </p:sp>
      </p:grpSp>
      <p:grpSp>
        <p:nvGrpSpPr>
          <p:cNvPr id="15" name="组合 14">
            <a:extLst>
              <a:ext uri="{FF2B5EF4-FFF2-40B4-BE49-F238E27FC236}">
                <a16:creationId xmlns:a16="http://schemas.microsoft.com/office/drawing/2014/main" id="{2B2445FD-CE8D-5336-F9F8-8DD4E8BA8746}"/>
              </a:ext>
            </a:extLst>
          </p:cNvPr>
          <p:cNvGrpSpPr/>
          <p:nvPr/>
        </p:nvGrpSpPr>
        <p:grpSpPr>
          <a:xfrm>
            <a:off x="5180830" y="2298922"/>
            <a:ext cx="492443" cy="563727"/>
            <a:chOff x="1874481" y="2146522"/>
            <a:chExt cx="492443" cy="563727"/>
          </a:xfrm>
        </p:grpSpPr>
        <p:pic>
          <p:nvPicPr>
            <p:cNvPr id="16" name="图形 15" descr="监视器">
              <a:extLst>
                <a:ext uri="{FF2B5EF4-FFF2-40B4-BE49-F238E27FC236}">
                  <a16:creationId xmlns:a16="http://schemas.microsoft.com/office/drawing/2014/main" id="{9FDFAB45-C390-DD07-9C9D-0E648DA3FD4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17" name="文本框 16">
              <a:extLst>
                <a:ext uri="{FF2B5EF4-FFF2-40B4-BE49-F238E27FC236}">
                  <a16:creationId xmlns:a16="http://schemas.microsoft.com/office/drawing/2014/main" id="{3752A5D8-BC59-1394-C0AC-F06081F3D873}"/>
                </a:ext>
              </a:extLst>
            </p:cNvPr>
            <p:cNvSpPr txBox="1"/>
            <p:nvPr/>
          </p:nvSpPr>
          <p:spPr>
            <a:xfrm>
              <a:off x="1874481" y="2433250"/>
              <a:ext cx="492443" cy="276999"/>
            </a:xfrm>
            <a:prstGeom prst="rect">
              <a:avLst/>
            </a:prstGeom>
            <a:noFill/>
          </p:spPr>
          <p:txBody>
            <a:bodyPr wrap="none" rtlCol="0">
              <a:spAutoFit/>
            </a:bodyPr>
            <a:lstStyle/>
            <a:p>
              <a:pPr algn="ctr"/>
              <a:r>
                <a:rPr lang="en-US" altLang="zh-CN" sz="1200" dirty="0">
                  <a:latin typeface="Montserrat" panose="00000500000000000000" pitchFamily="2" charset="0"/>
                </a:rPr>
                <a:t>PC3</a:t>
              </a:r>
              <a:endParaRPr lang="zh-CN" altLang="en-US" sz="1200" dirty="0">
                <a:latin typeface="Montserrat" panose="00000500000000000000" pitchFamily="2" charset="0"/>
              </a:endParaRPr>
            </a:p>
          </p:txBody>
        </p:sp>
      </p:grpSp>
      <p:grpSp>
        <p:nvGrpSpPr>
          <p:cNvPr id="18" name="组合 17">
            <a:extLst>
              <a:ext uri="{FF2B5EF4-FFF2-40B4-BE49-F238E27FC236}">
                <a16:creationId xmlns:a16="http://schemas.microsoft.com/office/drawing/2014/main" id="{A56AEF11-1D07-217A-1BD3-197772A51094}"/>
              </a:ext>
            </a:extLst>
          </p:cNvPr>
          <p:cNvGrpSpPr/>
          <p:nvPr/>
        </p:nvGrpSpPr>
        <p:grpSpPr>
          <a:xfrm>
            <a:off x="6875706" y="2298922"/>
            <a:ext cx="506870" cy="563727"/>
            <a:chOff x="1867267" y="2146522"/>
            <a:chExt cx="506870" cy="563727"/>
          </a:xfrm>
        </p:grpSpPr>
        <p:pic>
          <p:nvPicPr>
            <p:cNvPr id="19" name="图形 18" descr="监视器">
              <a:extLst>
                <a:ext uri="{FF2B5EF4-FFF2-40B4-BE49-F238E27FC236}">
                  <a16:creationId xmlns:a16="http://schemas.microsoft.com/office/drawing/2014/main" id="{8FC8DC26-FFAE-E4CB-380A-FE97185455F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20" name="文本框 19">
              <a:extLst>
                <a:ext uri="{FF2B5EF4-FFF2-40B4-BE49-F238E27FC236}">
                  <a16:creationId xmlns:a16="http://schemas.microsoft.com/office/drawing/2014/main" id="{84C8D7B2-CDA3-8911-7ECD-0FAD2415862D}"/>
                </a:ext>
              </a:extLst>
            </p:cNvPr>
            <p:cNvSpPr txBox="1"/>
            <p:nvPr/>
          </p:nvSpPr>
          <p:spPr>
            <a:xfrm>
              <a:off x="1867267" y="2433250"/>
              <a:ext cx="506870" cy="276999"/>
            </a:xfrm>
            <a:prstGeom prst="rect">
              <a:avLst/>
            </a:prstGeom>
            <a:noFill/>
          </p:spPr>
          <p:txBody>
            <a:bodyPr wrap="none" rtlCol="0">
              <a:spAutoFit/>
            </a:bodyPr>
            <a:lstStyle/>
            <a:p>
              <a:pPr algn="ctr"/>
              <a:r>
                <a:rPr lang="en-US" altLang="zh-CN" sz="1200" dirty="0">
                  <a:latin typeface="Montserrat" panose="00000500000000000000" pitchFamily="2" charset="0"/>
                </a:rPr>
                <a:t>PC4</a:t>
              </a:r>
              <a:endParaRPr lang="zh-CN" altLang="en-US" sz="1200" dirty="0">
                <a:latin typeface="Montserrat" panose="00000500000000000000" pitchFamily="2" charset="0"/>
              </a:endParaRPr>
            </a:p>
          </p:txBody>
        </p:sp>
      </p:grpSp>
      <p:cxnSp>
        <p:nvCxnSpPr>
          <p:cNvPr id="22" name="直接连接符 21">
            <a:extLst>
              <a:ext uri="{FF2B5EF4-FFF2-40B4-BE49-F238E27FC236}">
                <a16:creationId xmlns:a16="http://schemas.microsoft.com/office/drawing/2014/main" id="{0643ADBE-9F28-7E8D-E691-93C7E94F88AC}"/>
              </a:ext>
            </a:extLst>
          </p:cNvPr>
          <p:cNvCxnSpPr>
            <a:cxnSpLocks/>
          </p:cNvCxnSpPr>
          <p:nvPr/>
        </p:nvCxnSpPr>
        <p:spPr>
          <a:xfrm>
            <a:off x="1365206" y="2142126"/>
            <a:ext cx="6413589"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D8147B7B-EE9E-48BA-59CA-84C92FB36507}"/>
              </a:ext>
            </a:extLst>
          </p:cNvPr>
          <p:cNvSpPr txBox="1"/>
          <p:nvPr/>
        </p:nvSpPr>
        <p:spPr>
          <a:xfrm>
            <a:off x="1342238" y="2848659"/>
            <a:ext cx="1361270" cy="461665"/>
          </a:xfrm>
          <a:prstGeom prst="rect">
            <a:avLst/>
          </a:prstGeom>
          <a:noFill/>
        </p:spPr>
        <p:txBody>
          <a:bodyPr wrap="none" rtlCol="0">
            <a:spAutoFit/>
          </a:bodyPr>
          <a:lstStyle/>
          <a:p>
            <a:pPr algn="ctr"/>
            <a:r>
              <a:rPr lang="pt-BR" altLang="zh-CN" sz="1200" dirty="0">
                <a:latin typeface="Montserrat" panose="00000500000000000000" pitchFamily="2" charset="0"/>
              </a:rPr>
              <a:t>192.168.0.1</a:t>
            </a:r>
          </a:p>
          <a:p>
            <a:pPr algn="ctr"/>
            <a:r>
              <a:rPr lang="pt-BR" altLang="zh-CN" sz="1200" dirty="0">
                <a:solidFill>
                  <a:srgbClr val="00B2FD"/>
                </a:solidFill>
                <a:latin typeface="Montserrat" panose="00000500000000000000" pitchFamily="2" charset="0"/>
              </a:rPr>
              <a:t>00D0.5857.5331</a:t>
            </a:r>
            <a:endParaRPr lang="zh-CN" altLang="en-US" sz="1200" dirty="0">
              <a:solidFill>
                <a:srgbClr val="00B2FD"/>
              </a:solidFill>
              <a:latin typeface="Montserrat" panose="00000500000000000000" pitchFamily="2" charset="0"/>
            </a:endParaRPr>
          </a:p>
        </p:txBody>
      </p:sp>
      <p:sp>
        <p:nvSpPr>
          <p:cNvPr id="25" name="文本框 24">
            <a:extLst>
              <a:ext uri="{FF2B5EF4-FFF2-40B4-BE49-F238E27FC236}">
                <a16:creationId xmlns:a16="http://schemas.microsoft.com/office/drawing/2014/main" id="{CF3A3B9F-57A2-D50A-C29D-8F58FE65B681}"/>
              </a:ext>
            </a:extLst>
          </p:cNvPr>
          <p:cNvSpPr txBox="1"/>
          <p:nvPr/>
        </p:nvSpPr>
        <p:spPr>
          <a:xfrm>
            <a:off x="2964978" y="2848659"/>
            <a:ext cx="1519968" cy="461665"/>
          </a:xfrm>
          <a:prstGeom prst="rect">
            <a:avLst/>
          </a:prstGeom>
          <a:noFill/>
        </p:spPr>
        <p:txBody>
          <a:bodyPr wrap="none" rtlCol="0">
            <a:spAutoFit/>
          </a:bodyPr>
          <a:lstStyle/>
          <a:p>
            <a:pPr algn="ctr"/>
            <a:r>
              <a:rPr lang="pt-BR" altLang="zh-CN" sz="1200" dirty="0">
                <a:latin typeface="Montserrat" panose="00000500000000000000" pitchFamily="2" charset="0"/>
              </a:rPr>
              <a:t>192.168.0.2</a:t>
            </a:r>
          </a:p>
          <a:p>
            <a:pPr algn="ctr"/>
            <a:r>
              <a:rPr lang="pt-BR" altLang="zh-CN" sz="1200" dirty="0">
                <a:latin typeface="Montserrat" panose="00000500000000000000" pitchFamily="2" charset="0"/>
              </a:rPr>
              <a:t>00D0.D3CA.D578</a:t>
            </a:r>
            <a:endParaRPr lang="zh-CN" altLang="en-US" sz="1200" dirty="0">
              <a:latin typeface="Montserrat" panose="00000500000000000000" pitchFamily="2" charset="0"/>
            </a:endParaRPr>
          </a:p>
        </p:txBody>
      </p:sp>
      <p:sp>
        <p:nvSpPr>
          <p:cNvPr id="26" name="文本框 25">
            <a:extLst>
              <a:ext uri="{FF2B5EF4-FFF2-40B4-BE49-F238E27FC236}">
                <a16:creationId xmlns:a16="http://schemas.microsoft.com/office/drawing/2014/main" id="{F87E222D-75FB-AE39-E9A5-3F1A5722D668}"/>
              </a:ext>
            </a:extLst>
          </p:cNvPr>
          <p:cNvSpPr txBox="1"/>
          <p:nvPr/>
        </p:nvSpPr>
        <p:spPr>
          <a:xfrm>
            <a:off x="4719966" y="2848659"/>
            <a:ext cx="1414170" cy="461665"/>
          </a:xfrm>
          <a:prstGeom prst="rect">
            <a:avLst/>
          </a:prstGeom>
          <a:noFill/>
        </p:spPr>
        <p:txBody>
          <a:bodyPr wrap="none" rtlCol="0">
            <a:spAutoFit/>
          </a:bodyPr>
          <a:lstStyle/>
          <a:p>
            <a:pPr algn="ctr"/>
            <a:r>
              <a:rPr lang="pt-BR" altLang="zh-CN" sz="1200" dirty="0">
                <a:latin typeface="Montserrat" panose="00000500000000000000" pitchFamily="2" charset="0"/>
              </a:rPr>
              <a:t>192.168.0.3 </a:t>
            </a:r>
          </a:p>
          <a:p>
            <a:pPr algn="ctr"/>
            <a:r>
              <a:rPr lang="pt-BR" altLang="zh-CN" sz="1200" dirty="0">
                <a:solidFill>
                  <a:srgbClr val="00B2FD"/>
                </a:solidFill>
                <a:latin typeface="Montserrat" panose="00000500000000000000" pitchFamily="2" charset="0"/>
              </a:rPr>
              <a:t>0030.A313.6DA4</a:t>
            </a:r>
            <a:endParaRPr lang="zh-CN" altLang="en-US" sz="1200" dirty="0">
              <a:solidFill>
                <a:srgbClr val="00B2FD"/>
              </a:solidFill>
              <a:latin typeface="Montserrat" panose="00000500000000000000" pitchFamily="2" charset="0"/>
            </a:endParaRPr>
          </a:p>
        </p:txBody>
      </p:sp>
      <p:cxnSp>
        <p:nvCxnSpPr>
          <p:cNvPr id="28" name="直接连接符 27">
            <a:extLst>
              <a:ext uri="{FF2B5EF4-FFF2-40B4-BE49-F238E27FC236}">
                <a16:creationId xmlns:a16="http://schemas.microsoft.com/office/drawing/2014/main" id="{CA432427-C9D7-9C27-0633-DCD3B38056DC}"/>
              </a:ext>
            </a:extLst>
          </p:cNvPr>
          <p:cNvCxnSpPr>
            <a:cxnSpLocks/>
          </p:cNvCxnSpPr>
          <p:nvPr/>
        </p:nvCxnSpPr>
        <p:spPr>
          <a:xfrm flipV="1">
            <a:off x="2022873"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346937D7-F712-9B34-79FB-7CEB0FCDEEA6}"/>
              </a:ext>
            </a:extLst>
          </p:cNvPr>
          <p:cNvCxnSpPr>
            <a:cxnSpLocks/>
          </p:cNvCxnSpPr>
          <p:nvPr/>
        </p:nvCxnSpPr>
        <p:spPr>
          <a:xfrm flipV="1">
            <a:off x="3724962"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D66FA45F-FBB9-7080-23DF-1C02238AB016}"/>
              </a:ext>
            </a:extLst>
          </p:cNvPr>
          <p:cNvCxnSpPr>
            <a:cxnSpLocks/>
          </p:cNvCxnSpPr>
          <p:nvPr/>
        </p:nvCxnSpPr>
        <p:spPr>
          <a:xfrm flipV="1">
            <a:off x="5427051"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BA73C290-76B8-78A9-A23C-C7EA0EF8A20C}"/>
              </a:ext>
            </a:extLst>
          </p:cNvPr>
          <p:cNvCxnSpPr>
            <a:cxnSpLocks/>
          </p:cNvCxnSpPr>
          <p:nvPr/>
        </p:nvCxnSpPr>
        <p:spPr>
          <a:xfrm flipV="1">
            <a:off x="7129141"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231A3263-F877-5501-CC74-32A8992AFDB8}"/>
              </a:ext>
            </a:extLst>
          </p:cNvPr>
          <p:cNvSpPr txBox="1"/>
          <p:nvPr/>
        </p:nvSpPr>
        <p:spPr>
          <a:xfrm>
            <a:off x="6406026" y="1212974"/>
            <a:ext cx="1446230" cy="461665"/>
          </a:xfrm>
          <a:prstGeom prst="rect">
            <a:avLst/>
          </a:prstGeom>
          <a:noFill/>
        </p:spPr>
        <p:txBody>
          <a:bodyPr wrap="none" rtlCol="0">
            <a:spAutoFit/>
          </a:bodyPr>
          <a:lstStyle/>
          <a:p>
            <a:pPr algn="ctr"/>
            <a:r>
              <a:rPr lang="pt-BR" altLang="zh-CN" sz="1200" dirty="0">
                <a:latin typeface="Montserrat" panose="00000500000000000000" pitchFamily="2" charset="0"/>
              </a:rPr>
              <a:t>192.168.0.4</a:t>
            </a:r>
          </a:p>
          <a:p>
            <a:pPr algn="ctr"/>
            <a:r>
              <a:rPr lang="pt-BR" altLang="zh-CN" sz="1200" dirty="0">
                <a:latin typeface="Montserrat" panose="00000500000000000000" pitchFamily="2" charset="0"/>
              </a:rPr>
              <a:t>0007.ECEC.A552</a:t>
            </a:r>
            <a:endParaRPr lang="zh-CN" altLang="en-US" sz="1200" dirty="0">
              <a:latin typeface="Montserrat" panose="00000500000000000000" pitchFamily="2" charset="0"/>
            </a:endParaRPr>
          </a:p>
        </p:txBody>
      </p:sp>
      <p:grpSp>
        <p:nvGrpSpPr>
          <p:cNvPr id="33" name="组合 32">
            <a:extLst>
              <a:ext uri="{FF2B5EF4-FFF2-40B4-BE49-F238E27FC236}">
                <a16:creationId xmlns:a16="http://schemas.microsoft.com/office/drawing/2014/main" id="{61355865-A448-4D55-424D-297F0602CD47}"/>
              </a:ext>
            </a:extLst>
          </p:cNvPr>
          <p:cNvGrpSpPr/>
          <p:nvPr/>
        </p:nvGrpSpPr>
        <p:grpSpPr>
          <a:xfrm>
            <a:off x="1791880" y="663237"/>
            <a:ext cx="461986" cy="563727"/>
            <a:chOff x="1889709" y="2146522"/>
            <a:chExt cx="461986" cy="563727"/>
          </a:xfrm>
        </p:grpSpPr>
        <p:pic>
          <p:nvPicPr>
            <p:cNvPr id="34" name="图形 33" descr="监视器">
              <a:extLst>
                <a:ext uri="{FF2B5EF4-FFF2-40B4-BE49-F238E27FC236}">
                  <a16:creationId xmlns:a16="http://schemas.microsoft.com/office/drawing/2014/main" id="{A61D991C-8D3B-EBB3-E890-03272A8D861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35" name="文本框 34">
              <a:extLst>
                <a:ext uri="{FF2B5EF4-FFF2-40B4-BE49-F238E27FC236}">
                  <a16:creationId xmlns:a16="http://schemas.microsoft.com/office/drawing/2014/main" id="{4D7F4F16-AB1E-E17E-C03E-D507AFA175B6}"/>
                </a:ext>
              </a:extLst>
            </p:cNvPr>
            <p:cNvSpPr txBox="1"/>
            <p:nvPr/>
          </p:nvSpPr>
          <p:spPr>
            <a:xfrm>
              <a:off x="1889709" y="2433250"/>
              <a:ext cx="461986" cy="276999"/>
            </a:xfrm>
            <a:prstGeom prst="rect">
              <a:avLst/>
            </a:prstGeom>
            <a:noFill/>
          </p:spPr>
          <p:txBody>
            <a:bodyPr wrap="none" rtlCol="0">
              <a:spAutoFit/>
            </a:bodyPr>
            <a:lstStyle/>
            <a:p>
              <a:pPr algn="ctr"/>
              <a:r>
                <a:rPr lang="en-US" altLang="zh-CN" sz="1200" dirty="0">
                  <a:latin typeface="Montserrat" panose="00000500000000000000" pitchFamily="2" charset="0"/>
                </a:rPr>
                <a:t>PC1</a:t>
              </a:r>
              <a:endParaRPr lang="zh-CN" altLang="en-US" sz="1200" dirty="0">
                <a:latin typeface="Montserrat" panose="00000500000000000000" pitchFamily="2" charset="0"/>
              </a:endParaRPr>
            </a:p>
          </p:txBody>
        </p:sp>
      </p:grpSp>
      <p:grpSp>
        <p:nvGrpSpPr>
          <p:cNvPr id="36" name="组合 35">
            <a:extLst>
              <a:ext uri="{FF2B5EF4-FFF2-40B4-BE49-F238E27FC236}">
                <a16:creationId xmlns:a16="http://schemas.microsoft.com/office/drawing/2014/main" id="{97541FFC-13D6-9289-7384-4BE8435DE58E}"/>
              </a:ext>
            </a:extLst>
          </p:cNvPr>
          <p:cNvGrpSpPr/>
          <p:nvPr/>
        </p:nvGrpSpPr>
        <p:grpSpPr>
          <a:xfrm>
            <a:off x="3477939" y="663237"/>
            <a:ext cx="494046" cy="563727"/>
            <a:chOff x="1873679" y="2146522"/>
            <a:chExt cx="494046" cy="563727"/>
          </a:xfrm>
        </p:grpSpPr>
        <p:pic>
          <p:nvPicPr>
            <p:cNvPr id="37" name="图形 36" descr="监视器">
              <a:extLst>
                <a:ext uri="{FF2B5EF4-FFF2-40B4-BE49-F238E27FC236}">
                  <a16:creationId xmlns:a16="http://schemas.microsoft.com/office/drawing/2014/main" id="{B0340FD1-983E-D848-D221-356FBC1083C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38" name="文本框 37">
              <a:extLst>
                <a:ext uri="{FF2B5EF4-FFF2-40B4-BE49-F238E27FC236}">
                  <a16:creationId xmlns:a16="http://schemas.microsoft.com/office/drawing/2014/main" id="{3B244DFC-BA8B-5CE3-7D3C-3ABE072CC40F}"/>
                </a:ext>
              </a:extLst>
            </p:cNvPr>
            <p:cNvSpPr txBox="1"/>
            <p:nvPr/>
          </p:nvSpPr>
          <p:spPr>
            <a:xfrm>
              <a:off x="1873679" y="2433250"/>
              <a:ext cx="494046" cy="276999"/>
            </a:xfrm>
            <a:prstGeom prst="rect">
              <a:avLst/>
            </a:prstGeom>
            <a:noFill/>
          </p:spPr>
          <p:txBody>
            <a:bodyPr wrap="none" rtlCol="0">
              <a:spAutoFit/>
            </a:bodyPr>
            <a:lstStyle/>
            <a:p>
              <a:pPr algn="ctr"/>
              <a:r>
                <a:rPr lang="en-US" altLang="zh-CN" sz="1200" dirty="0">
                  <a:latin typeface="Montserrat" panose="00000500000000000000" pitchFamily="2" charset="0"/>
                </a:rPr>
                <a:t>PC2</a:t>
              </a:r>
              <a:endParaRPr lang="zh-CN" altLang="en-US" sz="1200" dirty="0">
                <a:latin typeface="Montserrat" panose="00000500000000000000" pitchFamily="2" charset="0"/>
              </a:endParaRPr>
            </a:p>
          </p:txBody>
        </p:sp>
      </p:grpSp>
      <p:grpSp>
        <p:nvGrpSpPr>
          <p:cNvPr id="39" name="组合 38">
            <a:extLst>
              <a:ext uri="{FF2B5EF4-FFF2-40B4-BE49-F238E27FC236}">
                <a16:creationId xmlns:a16="http://schemas.microsoft.com/office/drawing/2014/main" id="{A704197E-3E4F-4897-4EFB-EA0D8142D055}"/>
              </a:ext>
            </a:extLst>
          </p:cNvPr>
          <p:cNvGrpSpPr/>
          <p:nvPr/>
        </p:nvGrpSpPr>
        <p:grpSpPr>
          <a:xfrm>
            <a:off x="5180830" y="663237"/>
            <a:ext cx="492443" cy="563727"/>
            <a:chOff x="1874481" y="2146522"/>
            <a:chExt cx="492443" cy="563727"/>
          </a:xfrm>
        </p:grpSpPr>
        <p:pic>
          <p:nvPicPr>
            <p:cNvPr id="40" name="图形 39" descr="监视器">
              <a:extLst>
                <a:ext uri="{FF2B5EF4-FFF2-40B4-BE49-F238E27FC236}">
                  <a16:creationId xmlns:a16="http://schemas.microsoft.com/office/drawing/2014/main" id="{E2B601CA-1AD1-9716-DAF9-858190F0915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41" name="文本框 40">
              <a:extLst>
                <a:ext uri="{FF2B5EF4-FFF2-40B4-BE49-F238E27FC236}">
                  <a16:creationId xmlns:a16="http://schemas.microsoft.com/office/drawing/2014/main" id="{D1BACBA0-15A4-3256-95B0-8D74E070050D}"/>
                </a:ext>
              </a:extLst>
            </p:cNvPr>
            <p:cNvSpPr txBox="1"/>
            <p:nvPr/>
          </p:nvSpPr>
          <p:spPr>
            <a:xfrm>
              <a:off x="1874481" y="2433250"/>
              <a:ext cx="492443" cy="276999"/>
            </a:xfrm>
            <a:prstGeom prst="rect">
              <a:avLst/>
            </a:prstGeom>
            <a:noFill/>
          </p:spPr>
          <p:txBody>
            <a:bodyPr wrap="none" rtlCol="0">
              <a:spAutoFit/>
            </a:bodyPr>
            <a:lstStyle/>
            <a:p>
              <a:pPr algn="ctr"/>
              <a:r>
                <a:rPr lang="en-US" altLang="zh-CN" sz="1200" dirty="0">
                  <a:latin typeface="Montserrat" panose="00000500000000000000" pitchFamily="2" charset="0"/>
                </a:rPr>
                <a:t>PC3</a:t>
              </a:r>
              <a:endParaRPr lang="zh-CN" altLang="en-US" sz="1200" dirty="0">
                <a:latin typeface="Montserrat" panose="00000500000000000000" pitchFamily="2" charset="0"/>
              </a:endParaRPr>
            </a:p>
          </p:txBody>
        </p:sp>
      </p:grpSp>
      <p:grpSp>
        <p:nvGrpSpPr>
          <p:cNvPr id="42" name="组合 41">
            <a:extLst>
              <a:ext uri="{FF2B5EF4-FFF2-40B4-BE49-F238E27FC236}">
                <a16:creationId xmlns:a16="http://schemas.microsoft.com/office/drawing/2014/main" id="{E193C0FA-784E-B76C-DFEF-BD3057428BFE}"/>
              </a:ext>
            </a:extLst>
          </p:cNvPr>
          <p:cNvGrpSpPr/>
          <p:nvPr/>
        </p:nvGrpSpPr>
        <p:grpSpPr>
          <a:xfrm>
            <a:off x="6875706" y="663237"/>
            <a:ext cx="506870" cy="563727"/>
            <a:chOff x="1867267" y="2146522"/>
            <a:chExt cx="506870" cy="563727"/>
          </a:xfrm>
        </p:grpSpPr>
        <p:pic>
          <p:nvPicPr>
            <p:cNvPr id="43" name="图形 42" descr="监视器">
              <a:extLst>
                <a:ext uri="{FF2B5EF4-FFF2-40B4-BE49-F238E27FC236}">
                  <a16:creationId xmlns:a16="http://schemas.microsoft.com/office/drawing/2014/main" id="{0E5EE834-CE57-11B1-F35F-110816EC492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44" name="文本框 43">
              <a:extLst>
                <a:ext uri="{FF2B5EF4-FFF2-40B4-BE49-F238E27FC236}">
                  <a16:creationId xmlns:a16="http://schemas.microsoft.com/office/drawing/2014/main" id="{4E52439C-DC28-F9D0-6FC5-F11C4799EC88}"/>
                </a:ext>
              </a:extLst>
            </p:cNvPr>
            <p:cNvSpPr txBox="1"/>
            <p:nvPr/>
          </p:nvSpPr>
          <p:spPr>
            <a:xfrm>
              <a:off x="1867267" y="2433250"/>
              <a:ext cx="506870" cy="276999"/>
            </a:xfrm>
            <a:prstGeom prst="rect">
              <a:avLst/>
            </a:prstGeom>
            <a:noFill/>
          </p:spPr>
          <p:txBody>
            <a:bodyPr wrap="none" rtlCol="0">
              <a:spAutoFit/>
            </a:bodyPr>
            <a:lstStyle/>
            <a:p>
              <a:pPr algn="ctr"/>
              <a:r>
                <a:rPr lang="en-US" altLang="zh-CN" sz="1200" dirty="0">
                  <a:latin typeface="Montserrat" panose="00000500000000000000" pitchFamily="2" charset="0"/>
                </a:rPr>
                <a:t>PC4</a:t>
              </a:r>
              <a:endParaRPr lang="zh-CN" altLang="en-US" sz="1200" dirty="0">
                <a:latin typeface="Montserrat" panose="00000500000000000000" pitchFamily="2" charset="0"/>
              </a:endParaRPr>
            </a:p>
          </p:txBody>
        </p:sp>
      </p:grpSp>
      <p:cxnSp>
        <p:nvCxnSpPr>
          <p:cNvPr id="45" name="直接连接符 44">
            <a:extLst>
              <a:ext uri="{FF2B5EF4-FFF2-40B4-BE49-F238E27FC236}">
                <a16:creationId xmlns:a16="http://schemas.microsoft.com/office/drawing/2014/main" id="{0027C3B8-0E8D-8716-B40F-91C912BFE718}"/>
              </a:ext>
            </a:extLst>
          </p:cNvPr>
          <p:cNvCxnSpPr>
            <a:cxnSpLocks/>
          </p:cNvCxnSpPr>
          <p:nvPr/>
        </p:nvCxnSpPr>
        <p:spPr>
          <a:xfrm>
            <a:off x="1365206" y="506441"/>
            <a:ext cx="6413589"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D7FBD380-773C-116C-A806-8D91FD942C5D}"/>
              </a:ext>
            </a:extLst>
          </p:cNvPr>
          <p:cNvSpPr txBox="1"/>
          <p:nvPr/>
        </p:nvSpPr>
        <p:spPr>
          <a:xfrm>
            <a:off x="1342238" y="1212974"/>
            <a:ext cx="1361270" cy="461665"/>
          </a:xfrm>
          <a:prstGeom prst="rect">
            <a:avLst/>
          </a:prstGeom>
          <a:noFill/>
        </p:spPr>
        <p:txBody>
          <a:bodyPr wrap="none" rtlCol="0">
            <a:spAutoFit/>
          </a:bodyPr>
          <a:lstStyle/>
          <a:p>
            <a:pPr algn="ctr"/>
            <a:r>
              <a:rPr lang="pt-BR" altLang="zh-CN" sz="1200" dirty="0">
                <a:latin typeface="Montserrat" panose="00000500000000000000" pitchFamily="2" charset="0"/>
              </a:rPr>
              <a:t>192.168.0.1</a:t>
            </a:r>
          </a:p>
          <a:p>
            <a:pPr algn="ctr"/>
            <a:r>
              <a:rPr lang="pt-BR" altLang="zh-CN" sz="1200" dirty="0">
                <a:solidFill>
                  <a:srgbClr val="00B2FD"/>
                </a:solidFill>
                <a:latin typeface="Montserrat" panose="00000500000000000000" pitchFamily="2" charset="0"/>
              </a:rPr>
              <a:t>00D0.5857.5331</a:t>
            </a:r>
            <a:endParaRPr lang="zh-CN" altLang="en-US" sz="1200" dirty="0">
              <a:solidFill>
                <a:srgbClr val="00B2FD"/>
              </a:solidFill>
              <a:latin typeface="Montserrat" panose="00000500000000000000" pitchFamily="2" charset="0"/>
            </a:endParaRPr>
          </a:p>
        </p:txBody>
      </p:sp>
      <p:sp>
        <p:nvSpPr>
          <p:cNvPr id="47" name="文本框 46">
            <a:extLst>
              <a:ext uri="{FF2B5EF4-FFF2-40B4-BE49-F238E27FC236}">
                <a16:creationId xmlns:a16="http://schemas.microsoft.com/office/drawing/2014/main" id="{E6E510A5-D221-4E07-84AC-7DCD2898ED7E}"/>
              </a:ext>
            </a:extLst>
          </p:cNvPr>
          <p:cNvSpPr txBox="1"/>
          <p:nvPr/>
        </p:nvSpPr>
        <p:spPr>
          <a:xfrm>
            <a:off x="2964978" y="1212974"/>
            <a:ext cx="1519968" cy="461665"/>
          </a:xfrm>
          <a:prstGeom prst="rect">
            <a:avLst/>
          </a:prstGeom>
          <a:noFill/>
        </p:spPr>
        <p:txBody>
          <a:bodyPr wrap="none" rtlCol="0">
            <a:spAutoFit/>
          </a:bodyPr>
          <a:lstStyle/>
          <a:p>
            <a:pPr algn="ctr"/>
            <a:r>
              <a:rPr lang="pt-BR" altLang="zh-CN" sz="1200" dirty="0">
                <a:latin typeface="Montserrat" panose="00000500000000000000" pitchFamily="2" charset="0"/>
              </a:rPr>
              <a:t>192.168.0.2</a:t>
            </a:r>
          </a:p>
          <a:p>
            <a:pPr algn="ctr"/>
            <a:r>
              <a:rPr lang="pt-BR" altLang="zh-CN" sz="1200" dirty="0">
                <a:latin typeface="Montserrat" panose="00000500000000000000" pitchFamily="2" charset="0"/>
              </a:rPr>
              <a:t>00D0.D3CA.D578</a:t>
            </a:r>
            <a:endParaRPr lang="zh-CN" altLang="en-US" sz="1200" dirty="0">
              <a:latin typeface="Montserrat" panose="00000500000000000000" pitchFamily="2" charset="0"/>
            </a:endParaRPr>
          </a:p>
        </p:txBody>
      </p:sp>
      <p:sp>
        <p:nvSpPr>
          <p:cNvPr id="48" name="文本框 47">
            <a:extLst>
              <a:ext uri="{FF2B5EF4-FFF2-40B4-BE49-F238E27FC236}">
                <a16:creationId xmlns:a16="http://schemas.microsoft.com/office/drawing/2014/main" id="{B6ED94E0-C7B2-8954-67D5-AB0C9EC294A9}"/>
              </a:ext>
            </a:extLst>
          </p:cNvPr>
          <p:cNvSpPr txBox="1"/>
          <p:nvPr/>
        </p:nvSpPr>
        <p:spPr>
          <a:xfrm>
            <a:off x="4719966" y="1212974"/>
            <a:ext cx="1414170" cy="461665"/>
          </a:xfrm>
          <a:prstGeom prst="rect">
            <a:avLst/>
          </a:prstGeom>
          <a:noFill/>
        </p:spPr>
        <p:txBody>
          <a:bodyPr wrap="none" rtlCol="0">
            <a:spAutoFit/>
          </a:bodyPr>
          <a:lstStyle/>
          <a:p>
            <a:pPr algn="ctr"/>
            <a:r>
              <a:rPr lang="pt-BR" altLang="zh-CN" sz="1200" dirty="0">
                <a:latin typeface="Montserrat" panose="00000500000000000000" pitchFamily="2" charset="0"/>
              </a:rPr>
              <a:t>192.168.0.3 </a:t>
            </a:r>
          </a:p>
          <a:p>
            <a:pPr algn="ctr"/>
            <a:r>
              <a:rPr lang="pt-BR" altLang="zh-CN" sz="1200" dirty="0">
                <a:solidFill>
                  <a:srgbClr val="00B2FD"/>
                </a:solidFill>
                <a:latin typeface="Montserrat" panose="00000500000000000000" pitchFamily="2" charset="0"/>
              </a:rPr>
              <a:t>0030.A313.6DA4</a:t>
            </a:r>
            <a:endParaRPr lang="zh-CN" altLang="en-US" sz="1200" dirty="0">
              <a:solidFill>
                <a:srgbClr val="00B2FD"/>
              </a:solidFill>
              <a:latin typeface="Montserrat" panose="00000500000000000000" pitchFamily="2" charset="0"/>
            </a:endParaRPr>
          </a:p>
        </p:txBody>
      </p:sp>
      <p:cxnSp>
        <p:nvCxnSpPr>
          <p:cNvPr id="49" name="直接连接符 48">
            <a:extLst>
              <a:ext uri="{FF2B5EF4-FFF2-40B4-BE49-F238E27FC236}">
                <a16:creationId xmlns:a16="http://schemas.microsoft.com/office/drawing/2014/main" id="{058ABB1F-986F-E88A-813A-BDFE5796AF80}"/>
              </a:ext>
            </a:extLst>
          </p:cNvPr>
          <p:cNvCxnSpPr>
            <a:cxnSpLocks/>
          </p:cNvCxnSpPr>
          <p:nvPr/>
        </p:nvCxnSpPr>
        <p:spPr>
          <a:xfrm flipV="1">
            <a:off x="2022873"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853A1909-3A57-0C72-79EE-FDF0B5E65235}"/>
              </a:ext>
            </a:extLst>
          </p:cNvPr>
          <p:cNvCxnSpPr>
            <a:cxnSpLocks/>
          </p:cNvCxnSpPr>
          <p:nvPr/>
        </p:nvCxnSpPr>
        <p:spPr>
          <a:xfrm flipV="1">
            <a:off x="3724962"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A99B97BD-CFA2-0549-9425-F526DAFD5E75}"/>
              </a:ext>
            </a:extLst>
          </p:cNvPr>
          <p:cNvCxnSpPr>
            <a:cxnSpLocks/>
          </p:cNvCxnSpPr>
          <p:nvPr/>
        </p:nvCxnSpPr>
        <p:spPr>
          <a:xfrm flipV="1">
            <a:off x="5427051"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E7F4C331-D756-D781-CE44-E35DF47BA5BA}"/>
              </a:ext>
            </a:extLst>
          </p:cNvPr>
          <p:cNvCxnSpPr>
            <a:cxnSpLocks/>
          </p:cNvCxnSpPr>
          <p:nvPr/>
        </p:nvCxnSpPr>
        <p:spPr>
          <a:xfrm flipV="1">
            <a:off x="7129141"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nvGrpSpPr>
          <p:cNvPr id="53" name="Group 46">
            <a:extLst>
              <a:ext uri="{FF2B5EF4-FFF2-40B4-BE49-F238E27FC236}">
                <a16:creationId xmlns:a16="http://schemas.microsoft.com/office/drawing/2014/main" id="{4163FBCA-7EBC-DDB3-835C-D393D0E1C1CA}"/>
              </a:ext>
            </a:extLst>
          </p:cNvPr>
          <p:cNvGrpSpPr>
            <a:grpSpLocks/>
          </p:cNvGrpSpPr>
          <p:nvPr/>
        </p:nvGrpSpPr>
        <p:grpSpPr bwMode="auto">
          <a:xfrm>
            <a:off x="2454852" y="1973917"/>
            <a:ext cx="248872" cy="107976"/>
            <a:chOff x="2064" y="1776"/>
            <a:chExt cx="171" cy="66"/>
          </a:xfrm>
          <a:solidFill>
            <a:srgbClr val="CC00CC"/>
          </a:solidFill>
        </p:grpSpPr>
        <p:sp>
          <p:nvSpPr>
            <p:cNvPr id="54" name="Rectangle 47">
              <a:extLst>
                <a:ext uri="{FF2B5EF4-FFF2-40B4-BE49-F238E27FC236}">
                  <a16:creationId xmlns:a16="http://schemas.microsoft.com/office/drawing/2014/main" id="{568BDA3E-BA56-50BF-D29C-14122BC669DD}"/>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5" name="Line 48">
              <a:extLst>
                <a:ext uri="{FF2B5EF4-FFF2-40B4-BE49-F238E27FC236}">
                  <a16:creationId xmlns:a16="http://schemas.microsoft.com/office/drawing/2014/main" id="{09BAC4DD-4501-5AF0-4907-54E17318C764}"/>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56" name="Group 46">
            <a:extLst>
              <a:ext uri="{FF2B5EF4-FFF2-40B4-BE49-F238E27FC236}">
                <a16:creationId xmlns:a16="http://schemas.microsoft.com/office/drawing/2014/main" id="{4002B000-1DB6-C913-FA0E-21406A8FEAF8}"/>
              </a:ext>
            </a:extLst>
          </p:cNvPr>
          <p:cNvGrpSpPr>
            <a:grpSpLocks/>
          </p:cNvGrpSpPr>
          <p:nvPr/>
        </p:nvGrpSpPr>
        <p:grpSpPr bwMode="auto">
          <a:xfrm rot="5400000">
            <a:off x="3849044" y="2272808"/>
            <a:ext cx="248872" cy="107976"/>
            <a:chOff x="2064" y="1776"/>
            <a:chExt cx="171" cy="66"/>
          </a:xfrm>
          <a:solidFill>
            <a:srgbClr val="CC00CC"/>
          </a:solidFill>
        </p:grpSpPr>
        <p:sp>
          <p:nvSpPr>
            <p:cNvPr id="57" name="Rectangle 47">
              <a:extLst>
                <a:ext uri="{FF2B5EF4-FFF2-40B4-BE49-F238E27FC236}">
                  <a16:creationId xmlns:a16="http://schemas.microsoft.com/office/drawing/2014/main" id="{151E52F2-980C-475A-517D-65D1C4D383C8}"/>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8" name="Line 48">
              <a:extLst>
                <a:ext uri="{FF2B5EF4-FFF2-40B4-BE49-F238E27FC236}">
                  <a16:creationId xmlns:a16="http://schemas.microsoft.com/office/drawing/2014/main" id="{468D9845-95B6-DECB-1F02-9B1934DBD3D6}"/>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59" name="Group 46">
            <a:extLst>
              <a:ext uri="{FF2B5EF4-FFF2-40B4-BE49-F238E27FC236}">
                <a16:creationId xmlns:a16="http://schemas.microsoft.com/office/drawing/2014/main" id="{7CFA795A-3DAF-C3EC-E324-63571A421860}"/>
              </a:ext>
            </a:extLst>
          </p:cNvPr>
          <p:cNvGrpSpPr>
            <a:grpSpLocks/>
          </p:cNvGrpSpPr>
          <p:nvPr/>
        </p:nvGrpSpPr>
        <p:grpSpPr bwMode="auto">
          <a:xfrm rot="5400000">
            <a:off x="5515492" y="2272808"/>
            <a:ext cx="248872" cy="107976"/>
            <a:chOff x="2064" y="1776"/>
            <a:chExt cx="171" cy="66"/>
          </a:xfrm>
          <a:solidFill>
            <a:srgbClr val="CC00CC"/>
          </a:solidFill>
        </p:grpSpPr>
        <p:sp>
          <p:nvSpPr>
            <p:cNvPr id="60" name="Rectangle 47">
              <a:extLst>
                <a:ext uri="{FF2B5EF4-FFF2-40B4-BE49-F238E27FC236}">
                  <a16:creationId xmlns:a16="http://schemas.microsoft.com/office/drawing/2014/main" id="{7CA50101-B3F3-FAAF-0C8C-2EC9D73A6182}"/>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61" name="Line 48">
              <a:extLst>
                <a:ext uri="{FF2B5EF4-FFF2-40B4-BE49-F238E27FC236}">
                  <a16:creationId xmlns:a16="http://schemas.microsoft.com/office/drawing/2014/main" id="{E74F8C17-7792-E19A-92D6-9A6123367D4C}"/>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62" name="Group 46">
            <a:extLst>
              <a:ext uri="{FF2B5EF4-FFF2-40B4-BE49-F238E27FC236}">
                <a16:creationId xmlns:a16="http://schemas.microsoft.com/office/drawing/2014/main" id="{E2FCB33A-78C1-DDEE-769F-F33A83E207AB}"/>
              </a:ext>
            </a:extLst>
          </p:cNvPr>
          <p:cNvGrpSpPr>
            <a:grpSpLocks/>
          </p:cNvGrpSpPr>
          <p:nvPr/>
        </p:nvGrpSpPr>
        <p:grpSpPr bwMode="auto">
          <a:xfrm rot="5400000">
            <a:off x="7181940" y="2272808"/>
            <a:ext cx="248872" cy="107976"/>
            <a:chOff x="2064" y="1776"/>
            <a:chExt cx="171" cy="66"/>
          </a:xfrm>
          <a:solidFill>
            <a:srgbClr val="CC00CC"/>
          </a:solidFill>
        </p:grpSpPr>
        <p:sp>
          <p:nvSpPr>
            <p:cNvPr id="63" name="Rectangle 47">
              <a:extLst>
                <a:ext uri="{FF2B5EF4-FFF2-40B4-BE49-F238E27FC236}">
                  <a16:creationId xmlns:a16="http://schemas.microsoft.com/office/drawing/2014/main" id="{236514E5-DAA0-F2F8-A7FD-FB8E31F94288}"/>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64" name="Line 48">
              <a:extLst>
                <a:ext uri="{FF2B5EF4-FFF2-40B4-BE49-F238E27FC236}">
                  <a16:creationId xmlns:a16="http://schemas.microsoft.com/office/drawing/2014/main" id="{8B851AE3-9ED1-0793-48A0-4C9F3FE569DC}"/>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Tree>
    <p:extLst>
      <p:ext uri="{BB962C8B-B14F-4D97-AF65-F5344CB8AC3E}">
        <p14:creationId xmlns:p14="http://schemas.microsoft.com/office/powerpoint/2010/main" val="26866276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907307" y="581433"/>
            <a:ext cx="33480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地址与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地址的区别</a:t>
            </a:r>
          </a:p>
        </p:txBody>
      </p:sp>
      <p:sp>
        <p:nvSpPr>
          <p:cNvPr id="4" name="圆角矩形 3"/>
          <p:cNvSpPr/>
          <p:nvPr/>
        </p:nvSpPr>
        <p:spPr>
          <a:xfrm>
            <a:off x="545144" y="1170432"/>
            <a:ext cx="8053712" cy="3200399"/>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Line 5"/>
          <p:cNvSpPr>
            <a:spLocks noChangeShapeType="1"/>
          </p:cNvSpPr>
          <p:nvPr/>
        </p:nvSpPr>
        <p:spPr bwMode="auto">
          <a:xfrm>
            <a:off x="2391321" y="3280921"/>
            <a:ext cx="3899100"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 name="Line 6"/>
          <p:cNvSpPr>
            <a:spLocks noChangeShapeType="1"/>
          </p:cNvSpPr>
          <p:nvPr/>
        </p:nvSpPr>
        <p:spPr bwMode="auto">
          <a:xfrm>
            <a:off x="2912547" y="2607995"/>
            <a:ext cx="2856649"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Line 7"/>
          <p:cNvSpPr>
            <a:spLocks noChangeShapeType="1"/>
          </p:cNvSpPr>
          <p:nvPr/>
        </p:nvSpPr>
        <p:spPr bwMode="auto">
          <a:xfrm>
            <a:off x="3415963" y="1860543"/>
            <a:ext cx="2367481"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8"/>
          <p:cNvSpPr>
            <a:spLocks noChangeArrowheads="1"/>
          </p:cNvSpPr>
          <p:nvPr/>
        </p:nvSpPr>
        <p:spPr bwMode="auto">
          <a:xfrm>
            <a:off x="4220953" y="1773962"/>
            <a:ext cx="778870" cy="12494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Text Box 9"/>
          <p:cNvSpPr txBox="1">
            <a:spLocks noChangeArrowheads="1"/>
          </p:cNvSpPr>
          <p:nvPr/>
        </p:nvSpPr>
        <p:spPr bwMode="auto">
          <a:xfrm>
            <a:off x="4176757" y="1717157"/>
            <a:ext cx="834266"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TCP </a:t>
            </a:r>
            <a:r>
              <a:rPr kumimoji="1" lang="zh-CN" altLang="en-US" sz="1200" b="1" dirty="0">
                <a:solidFill>
                  <a:srgbClr val="0000CC"/>
                </a:solidFill>
                <a:latin typeface="微软雅黑" pitchFamily="34" charset="-122"/>
                <a:ea typeface="微软雅黑" pitchFamily="34" charset="-122"/>
              </a:rPr>
              <a:t>报文</a:t>
            </a:r>
          </a:p>
        </p:txBody>
      </p:sp>
      <p:sp>
        <p:nvSpPr>
          <p:cNvPr id="10" name="Rectangle 10"/>
          <p:cNvSpPr>
            <a:spLocks noChangeArrowheads="1"/>
          </p:cNvSpPr>
          <p:nvPr/>
        </p:nvSpPr>
        <p:spPr bwMode="auto">
          <a:xfrm>
            <a:off x="3984681" y="2536757"/>
            <a:ext cx="723067" cy="11946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 name="Text Box 11"/>
          <p:cNvSpPr txBox="1">
            <a:spLocks noChangeArrowheads="1"/>
          </p:cNvSpPr>
          <p:nvPr/>
        </p:nvSpPr>
        <p:spPr bwMode="auto">
          <a:xfrm>
            <a:off x="3977892" y="2463899"/>
            <a:ext cx="845103"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 name="Rectangle 12"/>
          <p:cNvSpPr>
            <a:spLocks noChangeArrowheads="1"/>
          </p:cNvSpPr>
          <p:nvPr/>
        </p:nvSpPr>
        <p:spPr bwMode="auto">
          <a:xfrm>
            <a:off x="4028611" y="3218451"/>
            <a:ext cx="613836" cy="12603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 name="Text Box 13"/>
          <p:cNvSpPr txBox="1">
            <a:spLocks noChangeArrowheads="1"/>
          </p:cNvSpPr>
          <p:nvPr/>
        </p:nvSpPr>
        <p:spPr bwMode="auto">
          <a:xfrm>
            <a:off x="3997727" y="3133151"/>
            <a:ext cx="760849"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MAC </a:t>
            </a:r>
            <a:r>
              <a:rPr kumimoji="1" lang="zh-CN" altLang="en-US" sz="1200" b="1" dirty="0">
                <a:solidFill>
                  <a:srgbClr val="0000CC"/>
                </a:solidFill>
                <a:latin typeface="微软雅黑" pitchFamily="34" charset="-122"/>
                <a:ea typeface="微软雅黑" pitchFamily="34" charset="-122"/>
              </a:rPr>
              <a:t>帧</a:t>
            </a:r>
          </a:p>
        </p:txBody>
      </p:sp>
      <p:sp>
        <p:nvSpPr>
          <p:cNvPr id="14" name="Line 18"/>
          <p:cNvSpPr>
            <a:spLocks noChangeShapeType="1"/>
          </p:cNvSpPr>
          <p:nvPr/>
        </p:nvSpPr>
        <p:spPr bwMode="auto">
          <a:xfrm>
            <a:off x="2912547"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Line 19"/>
          <p:cNvSpPr>
            <a:spLocks noChangeShapeType="1"/>
          </p:cNvSpPr>
          <p:nvPr/>
        </p:nvSpPr>
        <p:spPr bwMode="auto">
          <a:xfrm>
            <a:off x="5769195"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20"/>
          <p:cNvSpPr>
            <a:spLocks noChangeShapeType="1"/>
          </p:cNvSpPr>
          <p:nvPr/>
        </p:nvSpPr>
        <p:spPr bwMode="auto">
          <a:xfrm>
            <a:off x="3425461" y="1718067"/>
            <a:ext cx="9498"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21"/>
          <p:cNvSpPr>
            <a:spLocks noChangeShapeType="1"/>
          </p:cNvSpPr>
          <p:nvPr/>
        </p:nvSpPr>
        <p:spPr bwMode="auto">
          <a:xfrm>
            <a:off x="5769195" y="1718067"/>
            <a:ext cx="0"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8" name="Line 22"/>
          <p:cNvSpPr>
            <a:spLocks noChangeShapeType="1"/>
          </p:cNvSpPr>
          <p:nvPr/>
        </p:nvSpPr>
        <p:spPr bwMode="auto">
          <a:xfrm flipV="1">
            <a:off x="6043463" y="2620051"/>
            <a:ext cx="1722775" cy="0"/>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9" name="Rectangle 23"/>
          <p:cNvSpPr>
            <a:spLocks noChangeArrowheads="1"/>
          </p:cNvSpPr>
          <p:nvPr/>
        </p:nvSpPr>
        <p:spPr bwMode="auto">
          <a:xfrm>
            <a:off x="3425461" y="1376124"/>
            <a:ext cx="2343734" cy="336463"/>
          </a:xfrm>
          <a:prstGeom prst="rect">
            <a:avLst/>
          </a:prstGeom>
          <a:solidFill>
            <a:srgbClr val="66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24"/>
          <p:cNvSpPr>
            <a:spLocks noChangeShapeType="1"/>
          </p:cNvSpPr>
          <p:nvPr/>
        </p:nvSpPr>
        <p:spPr bwMode="auto">
          <a:xfrm flipH="1">
            <a:off x="3938376" y="1376124"/>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Text Box 25"/>
          <p:cNvSpPr txBox="1">
            <a:spLocks noChangeArrowheads="1"/>
          </p:cNvSpPr>
          <p:nvPr/>
        </p:nvSpPr>
        <p:spPr bwMode="auto">
          <a:xfrm>
            <a:off x="4315937" y="1386273"/>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应用层数据</a:t>
            </a:r>
          </a:p>
        </p:txBody>
      </p:sp>
      <p:sp>
        <p:nvSpPr>
          <p:cNvPr id="22" name="Text Box 26"/>
          <p:cNvSpPr txBox="1">
            <a:spLocks noChangeArrowheads="1"/>
          </p:cNvSpPr>
          <p:nvPr/>
        </p:nvSpPr>
        <p:spPr bwMode="auto">
          <a:xfrm>
            <a:off x="3406464" y="138737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首部</a:t>
            </a:r>
          </a:p>
        </p:txBody>
      </p:sp>
      <p:sp>
        <p:nvSpPr>
          <p:cNvPr id="23" name="Rectangle 27"/>
          <p:cNvSpPr>
            <a:spLocks noChangeArrowheads="1"/>
          </p:cNvSpPr>
          <p:nvPr/>
        </p:nvSpPr>
        <p:spPr bwMode="auto">
          <a:xfrm>
            <a:off x="2912547" y="2103849"/>
            <a:ext cx="2856649" cy="336463"/>
          </a:xfrm>
          <a:prstGeom prst="rect">
            <a:avLst/>
          </a:prstGeom>
          <a:solidFill>
            <a:srgbClr val="FF99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8"/>
          <p:cNvSpPr>
            <a:spLocks noChangeShapeType="1"/>
          </p:cNvSpPr>
          <p:nvPr/>
        </p:nvSpPr>
        <p:spPr bwMode="auto">
          <a:xfrm>
            <a:off x="3425461" y="210384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Text Box 29"/>
          <p:cNvSpPr txBox="1">
            <a:spLocks noChangeArrowheads="1"/>
          </p:cNvSpPr>
          <p:nvPr/>
        </p:nvSpPr>
        <p:spPr bwMode="auto">
          <a:xfrm>
            <a:off x="2894737" y="2107422"/>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sp>
        <p:nvSpPr>
          <p:cNvPr id="26" name="Rectangle 30"/>
          <p:cNvSpPr>
            <a:spLocks noChangeArrowheads="1"/>
          </p:cNvSpPr>
          <p:nvPr/>
        </p:nvSpPr>
        <p:spPr bwMode="auto">
          <a:xfrm>
            <a:off x="2407944" y="2796502"/>
            <a:ext cx="511727" cy="315640"/>
          </a:xfrm>
          <a:prstGeom prst="rect">
            <a:avLst/>
          </a:prstGeom>
          <a:solidFill>
            <a:srgbClr val="66FF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7" name="Rectangle 31"/>
          <p:cNvSpPr>
            <a:spLocks noChangeArrowheads="1"/>
          </p:cNvSpPr>
          <p:nvPr/>
        </p:nvSpPr>
        <p:spPr bwMode="auto">
          <a:xfrm>
            <a:off x="2400820" y="2775679"/>
            <a:ext cx="3881290" cy="336463"/>
          </a:xfrm>
          <a:prstGeom prst="rect">
            <a:avLst/>
          </a:prstGeom>
          <a:solidFill>
            <a:srgbClr val="66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8" name="Line 32"/>
          <p:cNvSpPr>
            <a:spLocks noChangeShapeType="1"/>
          </p:cNvSpPr>
          <p:nvPr/>
        </p:nvSpPr>
        <p:spPr bwMode="auto">
          <a:xfrm>
            <a:off x="2912547"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Line 33"/>
          <p:cNvSpPr>
            <a:spLocks noChangeShapeType="1"/>
          </p:cNvSpPr>
          <p:nvPr/>
        </p:nvSpPr>
        <p:spPr bwMode="auto">
          <a:xfrm>
            <a:off x="5769195"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Text Box 34"/>
          <p:cNvSpPr txBox="1">
            <a:spLocks noChangeArrowheads="1"/>
          </p:cNvSpPr>
          <p:nvPr/>
        </p:nvSpPr>
        <p:spPr bwMode="auto">
          <a:xfrm>
            <a:off x="5745762" y="277712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尾部</a:t>
            </a:r>
          </a:p>
        </p:txBody>
      </p:sp>
      <p:sp>
        <p:nvSpPr>
          <p:cNvPr id="31" name="Text Box 35"/>
          <p:cNvSpPr txBox="1">
            <a:spLocks noChangeArrowheads="1"/>
          </p:cNvSpPr>
          <p:nvPr/>
        </p:nvSpPr>
        <p:spPr bwMode="auto">
          <a:xfrm>
            <a:off x="2392508" y="27814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grpSp>
        <p:nvGrpSpPr>
          <p:cNvPr id="32" name="Group 49"/>
          <p:cNvGrpSpPr>
            <a:grpSpLocks/>
          </p:cNvGrpSpPr>
          <p:nvPr/>
        </p:nvGrpSpPr>
        <p:grpSpPr bwMode="auto">
          <a:xfrm>
            <a:off x="1299003" y="2314278"/>
            <a:ext cx="6227405" cy="1154058"/>
            <a:chOff x="155" y="2425"/>
            <a:chExt cx="5245" cy="1053"/>
          </a:xfrm>
        </p:grpSpPr>
        <p:grpSp>
          <p:nvGrpSpPr>
            <p:cNvPr id="33" name="Group 45"/>
            <p:cNvGrpSpPr>
              <a:grpSpLocks/>
            </p:cNvGrpSpPr>
            <p:nvPr/>
          </p:nvGrpSpPr>
          <p:grpSpPr bwMode="auto">
            <a:xfrm>
              <a:off x="4467" y="2709"/>
              <a:ext cx="933" cy="769"/>
              <a:chOff x="4467" y="2709"/>
              <a:chExt cx="933" cy="769"/>
            </a:xfrm>
          </p:grpSpPr>
          <p:sp>
            <p:nvSpPr>
              <p:cNvPr id="37" name="AutoShape 15"/>
              <p:cNvSpPr>
                <a:spLocks noChangeArrowheads="1"/>
              </p:cNvSpPr>
              <p:nvPr/>
            </p:nvSpPr>
            <p:spPr bwMode="auto">
              <a:xfrm flipV="1">
                <a:off x="4831" y="2709"/>
                <a:ext cx="186" cy="358"/>
              </a:xfrm>
              <a:prstGeom prst="upArrow">
                <a:avLst>
                  <a:gd name="adj1" fmla="val 50000"/>
                  <a:gd name="adj2" fmla="val 81801"/>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38" name="Text Box 17"/>
              <p:cNvSpPr txBox="1">
                <a:spLocks noChangeArrowheads="1"/>
              </p:cNvSpPr>
              <p:nvPr/>
            </p:nvSpPr>
            <p:spPr bwMode="auto">
              <a:xfrm>
                <a:off x="4467" y="3057"/>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数据链路层</a:t>
                </a:r>
              </a:p>
              <a:p>
                <a:pPr algn="ctr"/>
                <a:r>
                  <a:rPr kumimoji="1" lang="zh-CN" altLang="en-US" sz="1200" b="1" dirty="0">
                    <a:solidFill>
                      <a:srgbClr val="0000CC"/>
                    </a:solidFill>
                    <a:latin typeface="微软雅黑" pitchFamily="34" charset="-122"/>
                    <a:ea typeface="微软雅黑" pitchFamily="34" charset="-122"/>
                  </a:rPr>
                  <a:t>使用硬件地址</a:t>
                </a:r>
              </a:p>
            </p:txBody>
          </p:sp>
        </p:grpSp>
        <p:grpSp>
          <p:nvGrpSpPr>
            <p:cNvPr id="34" name="Group 47"/>
            <p:cNvGrpSpPr>
              <a:grpSpLocks/>
            </p:cNvGrpSpPr>
            <p:nvPr/>
          </p:nvGrpSpPr>
          <p:grpSpPr bwMode="auto">
            <a:xfrm>
              <a:off x="155" y="2425"/>
              <a:ext cx="870" cy="281"/>
              <a:chOff x="155" y="2425"/>
              <a:chExt cx="870" cy="281"/>
            </a:xfrm>
          </p:grpSpPr>
          <p:sp>
            <p:nvSpPr>
              <p:cNvPr id="35" name="AutoShape 37"/>
              <p:cNvSpPr>
                <a:spLocks noChangeArrowheads="1"/>
              </p:cNvSpPr>
              <p:nvPr/>
            </p:nvSpPr>
            <p:spPr bwMode="auto">
              <a:xfrm>
                <a:off x="182" y="2427"/>
                <a:ext cx="802" cy="273"/>
              </a:xfrm>
              <a:prstGeom prst="wedgeRoundRectCallout">
                <a:avLst>
                  <a:gd name="adj1" fmla="val 72116"/>
                  <a:gd name="adj2" fmla="val 129167"/>
                  <a:gd name="adj3" fmla="val 16667"/>
                </a:avLst>
              </a:prstGeom>
              <a:solidFill>
                <a:srgbClr val="66FF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36" name="Text Box 38"/>
              <p:cNvSpPr txBox="1">
                <a:spLocks noChangeArrowheads="1"/>
              </p:cNvSpPr>
              <p:nvPr/>
            </p:nvSpPr>
            <p:spPr bwMode="auto">
              <a:xfrm>
                <a:off x="155" y="2425"/>
                <a:ext cx="870"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MAC </a:t>
                </a:r>
                <a:r>
                  <a:rPr kumimoji="1" lang="zh-CN" altLang="en-US" sz="1400" b="1" dirty="0">
                    <a:solidFill>
                      <a:srgbClr val="0000CC"/>
                    </a:solidFill>
                    <a:latin typeface="微软雅黑" pitchFamily="34" charset="-122"/>
                    <a:ea typeface="微软雅黑" pitchFamily="34" charset="-122"/>
                  </a:rPr>
                  <a:t>地址</a:t>
                </a:r>
              </a:p>
            </p:txBody>
          </p:sp>
        </p:grpSp>
      </p:grpSp>
      <p:grpSp>
        <p:nvGrpSpPr>
          <p:cNvPr id="39" name="Group 48"/>
          <p:cNvGrpSpPr>
            <a:grpSpLocks/>
          </p:cNvGrpSpPr>
          <p:nvPr/>
        </p:nvGrpSpPr>
        <p:grpSpPr bwMode="auto">
          <a:xfrm>
            <a:off x="2208477" y="1657788"/>
            <a:ext cx="5307246" cy="967742"/>
            <a:chOff x="921" y="1826"/>
            <a:chExt cx="4470" cy="883"/>
          </a:xfrm>
        </p:grpSpPr>
        <p:grpSp>
          <p:nvGrpSpPr>
            <p:cNvPr id="40" name="Group 44"/>
            <p:cNvGrpSpPr>
              <a:grpSpLocks/>
            </p:cNvGrpSpPr>
            <p:nvPr/>
          </p:nvGrpSpPr>
          <p:grpSpPr bwMode="auto">
            <a:xfrm>
              <a:off x="4458" y="1990"/>
              <a:ext cx="933" cy="719"/>
              <a:chOff x="4458" y="1990"/>
              <a:chExt cx="933" cy="719"/>
            </a:xfrm>
          </p:grpSpPr>
          <p:sp>
            <p:nvSpPr>
              <p:cNvPr id="44" name="AutoShape 14"/>
              <p:cNvSpPr>
                <a:spLocks noChangeArrowheads="1"/>
              </p:cNvSpPr>
              <p:nvPr/>
            </p:nvSpPr>
            <p:spPr bwMode="auto">
              <a:xfrm>
                <a:off x="4831" y="2352"/>
                <a:ext cx="186" cy="357"/>
              </a:xfrm>
              <a:prstGeom prst="upArrow">
                <a:avLst>
                  <a:gd name="adj1" fmla="val 50000"/>
                  <a:gd name="adj2" fmla="val 69479"/>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6"/>
              <p:cNvSpPr txBox="1">
                <a:spLocks noChangeArrowheads="1"/>
              </p:cNvSpPr>
              <p:nvPr/>
            </p:nvSpPr>
            <p:spPr bwMode="auto">
              <a:xfrm>
                <a:off x="4458" y="1990"/>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网络层及以上</a:t>
                </a:r>
              </a:p>
              <a:p>
                <a:pPr algn="ctr"/>
                <a:r>
                  <a:rPr kumimoji="1" lang="zh-CN" altLang="en-US" sz="1200" b="1" dirty="0">
                    <a:solidFill>
                      <a:srgbClr val="0000CC"/>
                    </a:solidFill>
                    <a:latin typeface="微软雅黑" pitchFamily="34" charset="-122"/>
                    <a:ea typeface="微软雅黑" pitchFamily="34" charset="-122"/>
                  </a:rPr>
                  <a:t> 使用 </a:t>
                </a: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地址</a:t>
                </a:r>
              </a:p>
            </p:txBody>
          </p:sp>
        </p:grpSp>
        <p:grpSp>
          <p:nvGrpSpPr>
            <p:cNvPr id="41" name="Group 46"/>
            <p:cNvGrpSpPr>
              <a:grpSpLocks/>
            </p:cNvGrpSpPr>
            <p:nvPr/>
          </p:nvGrpSpPr>
          <p:grpSpPr bwMode="auto">
            <a:xfrm>
              <a:off x="921" y="1826"/>
              <a:ext cx="763" cy="326"/>
              <a:chOff x="921" y="1826"/>
              <a:chExt cx="763" cy="326"/>
            </a:xfrm>
          </p:grpSpPr>
          <p:sp>
            <p:nvSpPr>
              <p:cNvPr id="42" name="AutoShape 40"/>
              <p:cNvSpPr>
                <a:spLocks noChangeArrowheads="1"/>
              </p:cNvSpPr>
              <p:nvPr/>
            </p:nvSpPr>
            <p:spPr bwMode="auto">
              <a:xfrm>
                <a:off x="921" y="1826"/>
                <a:ext cx="654" cy="254"/>
              </a:xfrm>
              <a:prstGeom prst="wedgeRoundRectCallout">
                <a:avLst>
                  <a:gd name="adj1" fmla="val 72171"/>
                  <a:gd name="adj2" fmla="val 129134"/>
                  <a:gd name="adj3" fmla="val 16667"/>
                </a:avLst>
              </a:prstGeom>
              <a:solidFill>
                <a:srgbClr val="FF99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927" y="1827"/>
                <a:ext cx="757" cy="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grpSp>
      </p:grpSp>
      <p:sp>
        <p:nvSpPr>
          <p:cNvPr id="46" name="Rectangle 43"/>
          <p:cNvSpPr>
            <a:spLocks noChangeArrowheads="1"/>
          </p:cNvSpPr>
          <p:nvPr/>
        </p:nvSpPr>
        <p:spPr bwMode="auto">
          <a:xfrm>
            <a:off x="2927981" y="2796503"/>
            <a:ext cx="2841214" cy="299200"/>
          </a:xfrm>
          <a:prstGeom prst="rect">
            <a:avLst/>
          </a:prstGeom>
          <a:solidFill>
            <a:srgbClr val="FFFF99"/>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矩形 46"/>
          <p:cNvSpPr/>
          <p:nvPr/>
        </p:nvSpPr>
        <p:spPr>
          <a:xfrm>
            <a:off x="2407944" y="3587964"/>
            <a:ext cx="4010710" cy="646331"/>
          </a:xfrm>
          <a:prstGeom prst="rect">
            <a:avLst/>
          </a:prstGeom>
          <a:solidFill>
            <a:srgbClr val="0000CC"/>
          </a:solidFill>
        </p:spPr>
        <p:txBody>
          <a:bodyPr wrap="square">
            <a:spAutoFit/>
          </a:bodyPr>
          <a:lstStyle/>
          <a:p>
            <a:r>
              <a:rPr lang="en-US" altLang="zh-CN" b="1" dirty="0">
                <a:solidFill>
                  <a:schemeClr val="bg1"/>
                </a:solidFill>
                <a:latin typeface="微软雅黑" pitchFamily="34" charset="-122"/>
                <a:ea typeface="微软雅黑" pitchFamily="34" charset="-122"/>
              </a:rPr>
              <a:t>IP </a:t>
            </a:r>
            <a:r>
              <a:rPr lang="zh-CN" altLang="zh-CN" b="1" dirty="0">
                <a:solidFill>
                  <a:schemeClr val="bg1"/>
                </a:solidFill>
                <a:latin typeface="微软雅黑" pitchFamily="34" charset="-122"/>
                <a:ea typeface="微软雅黑" pitchFamily="34" charset="-122"/>
              </a:rPr>
              <a:t>地址放在</a:t>
            </a:r>
            <a:r>
              <a:rPr lang="en-US" altLang="zh-CN" b="1" dirty="0">
                <a:solidFill>
                  <a:schemeClr val="bg1"/>
                </a:solidFill>
                <a:latin typeface="微软雅黑" pitchFamily="34" charset="-122"/>
                <a:ea typeface="微软雅黑" pitchFamily="34" charset="-122"/>
              </a:rPr>
              <a:t> IP </a:t>
            </a:r>
            <a:r>
              <a:rPr lang="zh-CN" altLang="zh-CN" b="1" dirty="0">
                <a:solidFill>
                  <a:schemeClr val="bg1"/>
                </a:solidFill>
                <a:latin typeface="微软雅黑" pitchFamily="34" charset="-122"/>
                <a:ea typeface="微软雅黑" pitchFamily="34" charset="-122"/>
              </a:rPr>
              <a:t>数据报的首部，</a:t>
            </a:r>
            <a:endParaRPr lang="en-US" altLang="zh-CN" b="1" dirty="0">
              <a:solidFill>
                <a:schemeClr val="bg1"/>
              </a:solidFill>
              <a:latin typeface="微软雅黑" pitchFamily="34" charset="-122"/>
              <a:ea typeface="微软雅黑" pitchFamily="34" charset="-122"/>
            </a:endParaRPr>
          </a:p>
          <a:p>
            <a:r>
              <a:rPr lang="en-US" altLang="zh-CN" b="1" dirty="0">
                <a:solidFill>
                  <a:schemeClr val="bg1"/>
                </a:solidFill>
                <a:latin typeface="微软雅黑" pitchFamily="34" charset="-122"/>
                <a:ea typeface="微软雅黑" pitchFamily="34" charset="-122"/>
              </a:rPr>
              <a:t>MAC </a:t>
            </a:r>
            <a:r>
              <a:rPr lang="zh-CN" altLang="zh-CN" b="1" dirty="0">
                <a:solidFill>
                  <a:schemeClr val="bg1"/>
                </a:solidFill>
                <a:latin typeface="微软雅黑" pitchFamily="34" charset="-122"/>
                <a:ea typeface="微软雅黑" pitchFamily="34" charset="-122"/>
              </a:rPr>
              <a:t>地址则放在</a:t>
            </a:r>
            <a:r>
              <a:rPr lang="en-US" altLang="zh-CN" b="1" dirty="0">
                <a:solidFill>
                  <a:schemeClr val="bg1"/>
                </a:solidFill>
                <a:latin typeface="微软雅黑" pitchFamily="34" charset="-122"/>
                <a:ea typeface="微软雅黑" pitchFamily="34" charset="-122"/>
              </a:rPr>
              <a:t> MAC </a:t>
            </a:r>
            <a:r>
              <a:rPr lang="zh-CN" altLang="zh-CN" b="1" dirty="0">
                <a:solidFill>
                  <a:schemeClr val="bg1"/>
                </a:solidFill>
                <a:latin typeface="微软雅黑" pitchFamily="34" charset="-122"/>
                <a:ea typeface="微软雅黑" pitchFamily="34" charset="-122"/>
              </a:rPr>
              <a:t>帧的首部</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8259427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3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3" name="Text Box 108"/>
          <p:cNvSpPr txBox="1">
            <a:spLocks noChangeArrowheads="1"/>
          </p:cNvSpPr>
          <p:nvPr/>
        </p:nvSpPr>
        <p:spPr bwMode="auto">
          <a:xfrm>
            <a:off x="2491015" y="2110053"/>
            <a:ext cx="4265911" cy="701731"/>
          </a:xfrm>
          <a:prstGeom prst="rect">
            <a:avLst/>
          </a:prstGeom>
          <a:solidFill>
            <a:srgbClr val="0000CC"/>
          </a:solidFill>
          <a:ln w="9525">
            <a:solidFill>
              <a:srgbClr val="333399"/>
            </a:solidFill>
            <a:miter lim="800000"/>
            <a:headEnd/>
            <a:tailEnd/>
          </a:ln>
          <a:effectLst/>
        </p:spPr>
        <p:txBody>
          <a:bodyPr wrap="non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p>
          <a:p>
            <a:pPr algn="ctr">
              <a:lnSpc>
                <a:spcPct val="110000"/>
              </a:lnSpc>
              <a:spcAft>
                <a:spcPct val="30000"/>
              </a:spcAft>
            </a:pP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转发→再经过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2 </a:t>
            </a:r>
            <a:r>
              <a:rPr lang="zh-CN" altLang="en-US" b="1" dirty="0">
                <a:solidFill>
                  <a:schemeClr val="bg1"/>
                </a:solidFill>
                <a:latin typeface="微软雅黑" pitchFamily="34" charset="-122"/>
                <a:ea typeface="微软雅黑" pitchFamily="34" charset="-122"/>
              </a:rPr>
              <a:t>转发→</a:t>
            </a: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2</a:t>
            </a:r>
            <a:endParaRPr lang="en-US" altLang="zh-CN" b="1" dirty="0">
              <a:solidFill>
                <a:schemeClr val="bg1"/>
              </a:solidFill>
              <a:latin typeface="微软雅黑" pitchFamily="34" charset="-122"/>
              <a:ea typeface="微软雅黑" pitchFamily="34" charset="-122"/>
            </a:endParaRPr>
          </a:p>
        </p:txBody>
      </p:sp>
      <p:sp>
        <p:nvSpPr>
          <p:cNvPr id="138" name="Text Box 112"/>
          <p:cNvSpPr txBox="1">
            <a:spLocks noChangeArrowheads="1"/>
          </p:cNvSpPr>
          <p:nvPr/>
        </p:nvSpPr>
        <p:spPr bwMode="auto">
          <a:xfrm>
            <a:off x="28849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sp>
        <p:nvSpPr>
          <p:cNvPr id="139" name="Text Box 113"/>
          <p:cNvSpPr txBox="1">
            <a:spLocks noChangeArrowheads="1"/>
          </p:cNvSpPr>
          <p:nvPr/>
        </p:nvSpPr>
        <p:spPr bwMode="auto">
          <a:xfrm>
            <a:off x="47766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grpSp>
        <p:nvGrpSpPr>
          <p:cNvPr id="2" name="组合 1"/>
          <p:cNvGrpSpPr/>
          <p:nvPr/>
        </p:nvGrpSpPr>
        <p:grpSpPr>
          <a:xfrm>
            <a:off x="1414301" y="708834"/>
            <a:ext cx="6169421" cy="1001954"/>
            <a:chOff x="1414301" y="708834"/>
            <a:chExt cx="6169421" cy="1001954"/>
          </a:xfrm>
        </p:grpSpPr>
        <p:sp>
          <p:nvSpPr>
            <p:cNvPr id="38"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0"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2"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4"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45"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46"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7"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50"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1"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2" name="AutoShape 23"/>
            <p:cNvSpPr>
              <a:spLocks noChangeArrowheads="1"/>
            </p:cNvSpPr>
            <p:nvPr/>
          </p:nvSpPr>
          <p:spPr bwMode="auto">
            <a:xfrm flipV="1">
              <a:off x="2026444" y="1105322"/>
              <a:ext cx="824144" cy="183094"/>
            </a:xfrm>
            <a:prstGeom prst="wedgeRoundRectCallout">
              <a:avLst>
                <a:gd name="adj1" fmla="val -45890"/>
                <a:gd name="adj2" fmla="val -153208"/>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地址</a:t>
              </a:r>
            </a:p>
          </p:txBody>
        </p:sp>
        <p:sp>
          <p:nvSpPr>
            <p:cNvPr id="53"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54"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5"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6"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7"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58"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59"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60"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61"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62"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6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4"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6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6"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sp>
          <p:nvSpPr>
            <p:cNvPr id="67" name="AutoShape 23"/>
            <p:cNvSpPr>
              <a:spLocks noChangeArrowheads="1"/>
            </p:cNvSpPr>
            <p:nvPr/>
          </p:nvSpPr>
          <p:spPr bwMode="auto">
            <a:xfrm flipV="1">
              <a:off x="2022885" y="708834"/>
              <a:ext cx="824144" cy="183094"/>
            </a:xfrm>
            <a:prstGeom prst="wedgeRoundRectCallout">
              <a:avLst>
                <a:gd name="adj1" fmla="val -77292"/>
                <a:gd name="adj2" fmla="val -176765"/>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地址</a:t>
              </a:r>
            </a:p>
          </p:txBody>
        </p:sp>
      </p:grpSp>
      <p:sp>
        <p:nvSpPr>
          <p:cNvPr id="134" name="Arc 109"/>
          <p:cNvSpPr>
            <a:spLocks/>
          </p:cNvSpPr>
          <p:nvPr/>
        </p:nvSpPr>
        <p:spPr bwMode="auto">
          <a:xfrm rot="2182693" flipV="1">
            <a:off x="1915570" y="1039536"/>
            <a:ext cx="1261851" cy="1017922"/>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
        <p:nvSpPr>
          <p:cNvPr id="135" name="Arc 110"/>
          <p:cNvSpPr>
            <a:spLocks/>
          </p:cNvSpPr>
          <p:nvPr/>
        </p:nvSpPr>
        <p:spPr bwMode="auto">
          <a:xfrm rot="2655715" flipV="1">
            <a:off x="3778906" y="913805"/>
            <a:ext cx="1209604" cy="1233693"/>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
        <p:nvSpPr>
          <p:cNvPr id="136" name="Arc 111"/>
          <p:cNvSpPr>
            <a:spLocks/>
          </p:cNvSpPr>
          <p:nvPr/>
        </p:nvSpPr>
        <p:spPr bwMode="auto">
          <a:xfrm rot="2655715" flipV="1">
            <a:off x="5727497" y="879465"/>
            <a:ext cx="1254695" cy="1263786"/>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Tree>
    <p:extLst>
      <p:ext uri="{BB962C8B-B14F-4D97-AF65-F5344CB8AC3E}">
        <p14:creationId xmlns:p14="http://schemas.microsoft.com/office/powerpoint/2010/main" val="865098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33"/>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1" presetClass="entr" presetSubtype="0" fill="hold" grpId="0" nodeType="afterEffect">
                                  <p:stCondLst>
                                    <p:cond delay="0"/>
                                  </p:stCondLst>
                                  <p:childTnLst>
                                    <p:set>
                                      <p:cBhvr>
                                        <p:cTn id="9" dur="1" fill="hold">
                                          <p:stCondLst>
                                            <p:cond delay="0"/>
                                          </p:stCondLst>
                                        </p:cTn>
                                        <p:tgtEl>
                                          <p:spTgt spid="134"/>
                                        </p:tgtEl>
                                        <p:attrNameLst>
                                          <p:attrName>style.visibility</p:attrName>
                                        </p:attrNameLst>
                                      </p:cBhvr>
                                      <p:to>
                                        <p:strVal val="visible"/>
                                      </p:to>
                                    </p:set>
                                  </p:childTnLst>
                                </p:cTn>
                              </p:par>
                            </p:childTnLst>
                          </p:cTn>
                        </p:par>
                        <p:par>
                          <p:cTn id="10" fill="hold">
                            <p:stCondLst>
                              <p:cond delay="3000"/>
                            </p:stCondLst>
                            <p:childTnLst>
                              <p:par>
                                <p:cTn id="11" presetID="22" presetClass="entr" presetSubtype="8" fill="hold" grpId="1" nodeType="afterEffect">
                                  <p:stCondLst>
                                    <p:cond delay="0"/>
                                  </p:stCondLst>
                                  <p:childTnLst>
                                    <p:set>
                                      <p:cBhvr>
                                        <p:cTn id="12" dur="1" fill="hold">
                                          <p:stCondLst>
                                            <p:cond delay="0"/>
                                          </p:stCondLst>
                                        </p:cTn>
                                        <p:tgtEl>
                                          <p:spTgt spid="134"/>
                                        </p:tgtEl>
                                        <p:attrNameLst>
                                          <p:attrName>style.visibility</p:attrName>
                                        </p:attrNameLst>
                                      </p:cBhvr>
                                      <p:to>
                                        <p:strVal val="visible"/>
                                      </p:to>
                                    </p:set>
                                    <p:animEffect transition="in" filter="wipe(left)">
                                      <p:cBhvr>
                                        <p:cTn id="13" dur="1000"/>
                                        <p:tgtEl>
                                          <p:spTgt spid="134"/>
                                        </p:tgtEl>
                                      </p:cBhvr>
                                    </p:animEffect>
                                  </p:childTnLst>
                                </p:cTn>
                              </p:par>
                            </p:childTnLst>
                          </p:cTn>
                        </p:par>
                        <p:par>
                          <p:cTn id="14" fill="hold">
                            <p:stCondLst>
                              <p:cond delay="4000"/>
                            </p:stCondLst>
                            <p:childTnLst>
                              <p:par>
                                <p:cTn id="15" presetID="1" presetClass="entr" presetSubtype="0" fill="hold" grpId="0" nodeType="afterEffect">
                                  <p:stCondLst>
                                    <p:cond delay="250"/>
                                  </p:stCondLst>
                                  <p:childTnLst>
                                    <p:set>
                                      <p:cBhvr>
                                        <p:cTn id="16" dur="1" fill="hold">
                                          <p:stCondLst>
                                            <p:cond delay="0"/>
                                          </p:stCondLst>
                                        </p:cTn>
                                        <p:tgtEl>
                                          <p:spTgt spid="138"/>
                                        </p:tgtEl>
                                        <p:attrNameLst>
                                          <p:attrName>style.visibility</p:attrName>
                                        </p:attrNameLst>
                                      </p:cBhvr>
                                      <p:to>
                                        <p:strVal val="visible"/>
                                      </p:to>
                                    </p:set>
                                  </p:childTnLst>
                                </p:cTn>
                              </p:par>
                            </p:childTnLst>
                          </p:cTn>
                        </p:par>
                        <p:par>
                          <p:cTn id="17" fill="hold">
                            <p:stCondLst>
                              <p:cond delay="4250"/>
                            </p:stCondLst>
                            <p:childTnLst>
                              <p:par>
                                <p:cTn id="18" presetID="35" presetClass="emph" presetSubtype="0" repeatCount="3000" fill="hold" grpId="1" nodeType="afterEffect">
                                  <p:stCondLst>
                                    <p:cond delay="0"/>
                                  </p:stCondLst>
                                  <p:childTnLst>
                                    <p:anim calcmode="discrete" valueType="str">
                                      <p:cBhvr>
                                        <p:cTn id="19" dur="500" fill="hold"/>
                                        <p:tgtEl>
                                          <p:spTgt spid="138"/>
                                        </p:tgtEl>
                                        <p:attrNameLst>
                                          <p:attrName>style.visibility</p:attrName>
                                        </p:attrNameLst>
                                      </p:cBhvr>
                                      <p:tavLst>
                                        <p:tav tm="0">
                                          <p:val>
                                            <p:strVal val="hidden"/>
                                          </p:val>
                                        </p:tav>
                                        <p:tav tm="50000">
                                          <p:val>
                                            <p:strVal val="visible"/>
                                          </p:val>
                                        </p:tav>
                                      </p:tavLst>
                                    </p:anim>
                                  </p:childTnLst>
                                </p:cTn>
                              </p:par>
                            </p:childTnLst>
                          </p:cTn>
                        </p:par>
                        <p:par>
                          <p:cTn id="20" fill="hold">
                            <p:stCondLst>
                              <p:cond delay="5750"/>
                            </p:stCondLst>
                            <p:childTnLst>
                              <p:par>
                                <p:cTn id="21" presetID="1" presetClass="entr" presetSubtype="0" fill="hold" grpId="0" nodeType="afterEffect">
                                  <p:stCondLst>
                                    <p:cond delay="0"/>
                                  </p:stCondLst>
                                  <p:childTnLst>
                                    <p:set>
                                      <p:cBhvr>
                                        <p:cTn id="22" dur="1" fill="hold">
                                          <p:stCondLst>
                                            <p:cond delay="0"/>
                                          </p:stCondLst>
                                        </p:cTn>
                                        <p:tgtEl>
                                          <p:spTgt spid="135"/>
                                        </p:tgtEl>
                                        <p:attrNameLst>
                                          <p:attrName>style.visibility</p:attrName>
                                        </p:attrNameLst>
                                      </p:cBhvr>
                                      <p:to>
                                        <p:strVal val="visible"/>
                                      </p:to>
                                    </p:set>
                                  </p:childTnLst>
                                </p:cTn>
                              </p:par>
                            </p:childTnLst>
                          </p:cTn>
                        </p:par>
                        <p:par>
                          <p:cTn id="23" fill="hold">
                            <p:stCondLst>
                              <p:cond delay="5750"/>
                            </p:stCondLst>
                            <p:childTnLst>
                              <p:par>
                                <p:cTn id="24" presetID="22" presetClass="entr" presetSubtype="8" fill="hold" grpId="1" nodeType="afterEffect">
                                  <p:stCondLst>
                                    <p:cond delay="0"/>
                                  </p:stCondLst>
                                  <p:childTnLst>
                                    <p:set>
                                      <p:cBhvr>
                                        <p:cTn id="25" dur="1" fill="hold">
                                          <p:stCondLst>
                                            <p:cond delay="0"/>
                                          </p:stCondLst>
                                        </p:cTn>
                                        <p:tgtEl>
                                          <p:spTgt spid="135"/>
                                        </p:tgtEl>
                                        <p:attrNameLst>
                                          <p:attrName>style.visibility</p:attrName>
                                        </p:attrNameLst>
                                      </p:cBhvr>
                                      <p:to>
                                        <p:strVal val="visible"/>
                                      </p:to>
                                    </p:set>
                                    <p:animEffect transition="in" filter="wipe(left)">
                                      <p:cBhvr>
                                        <p:cTn id="26" dur="1000"/>
                                        <p:tgtEl>
                                          <p:spTgt spid="135"/>
                                        </p:tgtEl>
                                      </p:cBhvr>
                                    </p:animEffect>
                                  </p:childTnLst>
                                </p:cTn>
                              </p:par>
                            </p:childTnLst>
                          </p:cTn>
                        </p:par>
                        <p:par>
                          <p:cTn id="27" fill="hold">
                            <p:stCondLst>
                              <p:cond delay="6750"/>
                            </p:stCondLst>
                            <p:childTnLst>
                              <p:par>
                                <p:cTn id="28" presetID="1" presetClass="entr" presetSubtype="0" fill="hold" grpId="0" nodeType="afterEffect">
                                  <p:stCondLst>
                                    <p:cond delay="250"/>
                                  </p:stCondLst>
                                  <p:childTnLst>
                                    <p:set>
                                      <p:cBhvr>
                                        <p:cTn id="29" dur="1" fill="hold">
                                          <p:stCondLst>
                                            <p:cond delay="0"/>
                                          </p:stCondLst>
                                        </p:cTn>
                                        <p:tgtEl>
                                          <p:spTgt spid="139"/>
                                        </p:tgtEl>
                                        <p:attrNameLst>
                                          <p:attrName>style.visibility</p:attrName>
                                        </p:attrNameLst>
                                      </p:cBhvr>
                                      <p:to>
                                        <p:strVal val="visible"/>
                                      </p:to>
                                    </p:set>
                                  </p:childTnLst>
                                </p:cTn>
                              </p:par>
                            </p:childTnLst>
                          </p:cTn>
                        </p:par>
                        <p:par>
                          <p:cTn id="30" fill="hold">
                            <p:stCondLst>
                              <p:cond delay="7000"/>
                            </p:stCondLst>
                            <p:childTnLst>
                              <p:par>
                                <p:cTn id="31" presetID="35" presetClass="emph" presetSubtype="0" repeatCount="3000" fill="hold" grpId="1" nodeType="afterEffect">
                                  <p:stCondLst>
                                    <p:cond delay="0"/>
                                  </p:stCondLst>
                                  <p:childTnLst>
                                    <p:anim calcmode="discrete" valueType="str">
                                      <p:cBhvr>
                                        <p:cTn id="32" dur="500" fill="hold"/>
                                        <p:tgtEl>
                                          <p:spTgt spid="139"/>
                                        </p:tgtEl>
                                        <p:attrNameLst>
                                          <p:attrName>style.visibility</p:attrName>
                                        </p:attrNameLst>
                                      </p:cBhvr>
                                      <p:tavLst>
                                        <p:tav tm="0">
                                          <p:val>
                                            <p:strVal val="hidden"/>
                                          </p:val>
                                        </p:tav>
                                        <p:tav tm="50000">
                                          <p:val>
                                            <p:strVal val="visible"/>
                                          </p:val>
                                        </p:tav>
                                      </p:tavLst>
                                    </p:anim>
                                  </p:childTnLst>
                                </p:cTn>
                              </p:par>
                            </p:childTnLst>
                          </p:cTn>
                        </p:par>
                        <p:par>
                          <p:cTn id="33" fill="hold">
                            <p:stCondLst>
                              <p:cond delay="8500"/>
                            </p:stCondLst>
                            <p:childTnLst>
                              <p:par>
                                <p:cTn id="34" presetID="22" presetClass="entr" presetSubtype="8" fill="hold" grpId="0" nodeType="afterEffect">
                                  <p:stCondLst>
                                    <p:cond delay="250"/>
                                  </p:stCondLst>
                                  <p:childTnLst>
                                    <p:set>
                                      <p:cBhvr>
                                        <p:cTn id="35" dur="1" fill="hold">
                                          <p:stCondLst>
                                            <p:cond delay="0"/>
                                          </p:stCondLst>
                                        </p:cTn>
                                        <p:tgtEl>
                                          <p:spTgt spid="136"/>
                                        </p:tgtEl>
                                        <p:attrNameLst>
                                          <p:attrName>style.visibility</p:attrName>
                                        </p:attrNameLst>
                                      </p:cBhvr>
                                      <p:to>
                                        <p:strVal val="visible"/>
                                      </p:to>
                                    </p:set>
                                    <p:animEffect transition="in" filter="wipe(left)">
                                      <p:cBhvr>
                                        <p:cTn id="36" dur="1000"/>
                                        <p:tgtEl>
                                          <p:spTgt spid="1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3" grpId="0" animBg="1"/>
      <p:bldP spid="138" grpId="0" animBg="1"/>
      <p:bldP spid="138" grpId="1" animBg="1"/>
      <p:bldP spid="139" grpId="0" animBg="1"/>
      <p:bldP spid="139" grpId="1" animBg="1"/>
      <p:bldP spid="134" grpId="0" animBg="1"/>
      <p:bldP spid="134" grpId="1" animBg="1"/>
      <p:bldP spid="135" grpId="0" animBg="1"/>
      <p:bldP spid="135" grpId="1" animBg="1"/>
      <p:bldP spid="136"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564396" y="728414"/>
            <a:ext cx="4004494"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从协议栈的层次上看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地址和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地址</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59"/>
          <p:cNvSpPr>
            <a:spLocks noChangeShapeType="1"/>
          </p:cNvSpPr>
          <p:nvPr/>
        </p:nvSpPr>
        <p:spPr bwMode="auto">
          <a:xfrm>
            <a:off x="1670048" y="2214466"/>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1"/>
          <p:cNvSpPr>
            <a:spLocks noChangeShapeType="1"/>
          </p:cNvSpPr>
          <p:nvPr/>
        </p:nvSpPr>
        <p:spPr bwMode="auto">
          <a:xfrm>
            <a:off x="1670048"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63"/>
          <p:cNvSpPr>
            <a:spLocks noChangeShapeType="1"/>
          </p:cNvSpPr>
          <p:nvPr/>
        </p:nvSpPr>
        <p:spPr bwMode="auto">
          <a:xfrm flipV="1">
            <a:off x="3296825"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Line 164"/>
          <p:cNvSpPr>
            <a:spLocks noChangeShapeType="1"/>
          </p:cNvSpPr>
          <p:nvPr/>
        </p:nvSpPr>
        <p:spPr bwMode="auto">
          <a:xfrm>
            <a:off x="3444714"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1" name="Line 165"/>
          <p:cNvSpPr>
            <a:spLocks noChangeShapeType="1"/>
          </p:cNvSpPr>
          <p:nvPr/>
        </p:nvSpPr>
        <p:spPr bwMode="auto">
          <a:xfrm>
            <a:off x="3692646"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2" name="Line 168"/>
          <p:cNvSpPr>
            <a:spLocks noChangeShapeType="1"/>
          </p:cNvSpPr>
          <p:nvPr/>
        </p:nvSpPr>
        <p:spPr bwMode="auto">
          <a:xfrm flipV="1">
            <a:off x="5122599"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3" name="Line 169"/>
          <p:cNvSpPr>
            <a:spLocks noChangeShapeType="1"/>
          </p:cNvSpPr>
          <p:nvPr/>
        </p:nvSpPr>
        <p:spPr bwMode="auto">
          <a:xfrm>
            <a:off x="5270488"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4" name="Line 170"/>
          <p:cNvSpPr>
            <a:spLocks noChangeShapeType="1"/>
          </p:cNvSpPr>
          <p:nvPr/>
        </p:nvSpPr>
        <p:spPr bwMode="auto">
          <a:xfrm>
            <a:off x="5714155" y="3704112"/>
            <a:ext cx="128206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5" name="Line 171"/>
          <p:cNvSpPr>
            <a:spLocks noChangeShapeType="1"/>
          </p:cNvSpPr>
          <p:nvPr/>
        </p:nvSpPr>
        <p:spPr bwMode="auto">
          <a:xfrm flipV="1">
            <a:off x="7095175" y="2253349"/>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1033841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1"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up)">
                                      <p:cBhvr>
                                        <p:cTn id="10" dur="1000"/>
                                        <p:tgtEl>
                                          <p:spTgt spid="137"/>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5000"/>
                            </p:stCondLst>
                            <p:childTnLst>
                              <p:par>
                                <p:cTn id="16" presetID="22" presetClass="entr" presetSubtype="4"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down)">
                                      <p:cBhvr>
                                        <p:cTn id="18" dur="1000"/>
                                        <p:tgtEl>
                                          <p:spTgt spid="139"/>
                                        </p:tgtEl>
                                      </p:cBhvr>
                                    </p:animEffect>
                                  </p:childTnLst>
                                </p:cTn>
                              </p:par>
                            </p:childTnLst>
                          </p:cTn>
                        </p:par>
                        <p:par>
                          <p:cTn id="19" fill="hold">
                            <p:stCondLst>
                              <p:cond delay="6000"/>
                            </p:stCondLst>
                            <p:childTnLst>
                              <p:par>
                                <p:cTn id="20" presetID="22" presetClass="entr" presetSubtype="1"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wipe(up)">
                                      <p:cBhvr>
                                        <p:cTn id="22" dur="1000"/>
                                        <p:tgtEl>
                                          <p:spTgt spid="140"/>
                                        </p:tgtEl>
                                      </p:cBhvr>
                                    </p:animEffect>
                                  </p:childTnLst>
                                </p:cTn>
                              </p:par>
                            </p:childTnLst>
                          </p:cTn>
                        </p:par>
                        <p:par>
                          <p:cTn id="23" fill="hold">
                            <p:stCondLst>
                              <p:cond delay="7000"/>
                            </p:stCondLst>
                            <p:childTnLst>
                              <p:par>
                                <p:cTn id="24" presetID="22" presetClass="entr" presetSubtype="8" fill="hold" grpId="0" nodeType="afterEffect">
                                  <p:stCondLst>
                                    <p:cond delay="0"/>
                                  </p:stCondLst>
                                  <p:childTnLst>
                                    <p:set>
                                      <p:cBhvr>
                                        <p:cTn id="25" dur="1" fill="hold">
                                          <p:stCondLst>
                                            <p:cond delay="0"/>
                                          </p:stCondLst>
                                        </p:cTn>
                                        <p:tgtEl>
                                          <p:spTgt spid="141"/>
                                        </p:tgtEl>
                                        <p:attrNameLst>
                                          <p:attrName>style.visibility</p:attrName>
                                        </p:attrNameLst>
                                      </p:cBhvr>
                                      <p:to>
                                        <p:strVal val="visible"/>
                                      </p:to>
                                    </p:set>
                                    <p:animEffect transition="in" filter="wipe(left)">
                                      <p:cBhvr>
                                        <p:cTn id="26" dur="1000"/>
                                        <p:tgtEl>
                                          <p:spTgt spid="141"/>
                                        </p:tgtEl>
                                      </p:cBhvr>
                                    </p:animEffect>
                                  </p:childTnLst>
                                </p:cTn>
                              </p:par>
                            </p:childTnLst>
                          </p:cTn>
                        </p:par>
                        <p:par>
                          <p:cTn id="27" fill="hold">
                            <p:stCondLst>
                              <p:cond delay="8000"/>
                            </p:stCondLst>
                            <p:childTnLst>
                              <p:par>
                                <p:cTn id="28" presetID="22" presetClass="entr" presetSubtype="4" fill="hold" grpId="0" nodeType="afterEffect">
                                  <p:stCondLst>
                                    <p:cond delay="0"/>
                                  </p:stCondLst>
                                  <p:childTnLst>
                                    <p:set>
                                      <p:cBhvr>
                                        <p:cTn id="29" dur="1" fill="hold">
                                          <p:stCondLst>
                                            <p:cond delay="0"/>
                                          </p:stCondLst>
                                        </p:cTn>
                                        <p:tgtEl>
                                          <p:spTgt spid="142"/>
                                        </p:tgtEl>
                                        <p:attrNameLst>
                                          <p:attrName>style.visibility</p:attrName>
                                        </p:attrNameLst>
                                      </p:cBhvr>
                                      <p:to>
                                        <p:strVal val="visible"/>
                                      </p:to>
                                    </p:set>
                                    <p:animEffect transition="in" filter="wipe(down)">
                                      <p:cBhvr>
                                        <p:cTn id="30" dur="1000"/>
                                        <p:tgtEl>
                                          <p:spTgt spid="142"/>
                                        </p:tgtEl>
                                      </p:cBhvr>
                                    </p:animEffect>
                                  </p:childTnLst>
                                </p:cTn>
                              </p:par>
                            </p:childTnLst>
                          </p:cTn>
                        </p:par>
                        <p:par>
                          <p:cTn id="31" fill="hold">
                            <p:stCondLst>
                              <p:cond delay="9000"/>
                            </p:stCondLst>
                            <p:childTnLst>
                              <p:par>
                                <p:cTn id="32" presetID="22" presetClass="entr" presetSubtype="1" fill="hold" grpId="0" nodeType="afterEffect">
                                  <p:stCondLst>
                                    <p:cond delay="0"/>
                                  </p:stCondLst>
                                  <p:childTnLst>
                                    <p:set>
                                      <p:cBhvr>
                                        <p:cTn id="33" dur="1" fill="hold">
                                          <p:stCondLst>
                                            <p:cond delay="0"/>
                                          </p:stCondLst>
                                        </p:cTn>
                                        <p:tgtEl>
                                          <p:spTgt spid="143"/>
                                        </p:tgtEl>
                                        <p:attrNameLst>
                                          <p:attrName>style.visibility</p:attrName>
                                        </p:attrNameLst>
                                      </p:cBhvr>
                                      <p:to>
                                        <p:strVal val="visible"/>
                                      </p:to>
                                    </p:set>
                                    <p:animEffect transition="in" filter="wipe(up)">
                                      <p:cBhvr>
                                        <p:cTn id="34" dur="1000"/>
                                        <p:tgtEl>
                                          <p:spTgt spid="143"/>
                                        </p:tgtEl>
                                      </p:cBhvr>
                                    </p:animEffect>
                                  </p:childTnLst>
                                </p:cTn>
                              </p:par>
                            </p:childTnLst>
                          </p:cTn>
                        </p:par>
                        <p:par>
                          <p:cTn id="35" fill="hold">
                            <p:stCondLst>
                              <p:cond delay="10000"/>
                            </p:stCondLst>
                            <p:childTnLst>
                              <p:par>
                                <p:cTn id="36" presetID="22" presetClass="entr" presetSubtype="8" fill="hold" grpId="0" nodeType="afterEffect">
                                  <p:stCondLst>
                                    <p:cond delay="0"/>
                                  </p:stCondLst>
                                  <p:childTnLst>
                                    <p:set>
                                      <p:cBhvr>
                                        <p:cTn id="37" dur="1" fill="hold">
                                          <p:stCondLst>
                                            <p:cond delay="0"/>
                                          </p:stCondLst>
                                        </p:cTn>
                                        <p:tgtEl>
                                          <p:spTgt spid="144"/>
                                        </p:tgtEl>
                                        <p:attrNameLst>
                                          <p:attrName>style.visibility</p:attrName>
                                        </p:attrNameLst>
                                      </p:cBhvr>
                                      <p:to>
                                        <p:strVal val="visible"/>
                                      </p:to>
                                    </p:set>
                                    <p:animEffect transition="in" filter="wipe(left)">
                                      <p:cBhvr>
                                        <p:cTn id="38" dur="1000"/>
                                        <p:tgtEl>
                                          <p:spTgt spid="144"/>
                                        </p:tgtEl>
                                      </p:cBhvr>
                                    </p:animEffect>
                                  </p:childTnLst>
                                </p:cTn>
                              </p:par>
                            </p:childTnLst>
                          </p:cTn>
                        </p:par>
                        <p:par>
                          <p:cTn id="39" fill="hold">
                            <p:stCondLst>
                              <p:cond delay="11000"/>
                            </p:stCondLst>
                            <p:childTnLst>
                              <p:par>
                                <p:cTn id="40" presetID="22" presetClass="entr" presetSubtype="4" fill="hold" grpId="0" nodeType="afterEffect">
                                  <p:stCondLst>
                                    <p:cond delay="0"/>
                                  </p:stCondLst>
                                  <p:childTnLst>
                                    <p:set>
                                      <p:cBhvr>
                                        <p:cTn id="41" dur="1" fill="hold">
                                          <p:stCondLst>
                                            <p:cond delay="0"/>
                                          </p:stCondLst>
                                        </p:cTn>
                                        <p:tgtEl>
                                          <p:spTgt spid="145"/>
                                        </p:tgtEl>
                                        <p:attrNameLst>
                                          <p:attrName>style.visibility</p:attrName>
                                        </p:attrNameLst>
                                      </p:cBhvr>
                                      <p:to>
                                        <p:strVal val="visible"/>
                                      </p:to>
                                    </p:set>
                                    <p:animEffect transition="in" filter="wipe(down)">
                                      <p:cBhvr>
                                        <p:cTn id="42" dur="1000"/>
                                        <p:tgtEl>
                                          <p:spTgt spid="1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P spid="141" grpId="0" animBg="1"/>
      <p:bldP spid="142" grpId="0" animBg="1"/>
      <p:bldP spid="143" grpId="0" animBg="1"/>
      <p:bldP spid="144" grpId="0" animBg="1"/>
      <p:bldP spid="145" grpId="0" animBg="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404834" y="728414"/>
            <a:ext cx="4323620"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层抽象的互联网上只能看到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60" name="Line 161"/>
          <p:cNvSpPr>
            <a:spLocks noChangeShapeType="1"/>
          </p:cNvSpPr>
          <p:nvPr/>
        </p:nvSpPr>
        <p:spPr bwMode="auto">
          <a:xfrm>
            <a:off x="1861661" y="2665434"/>
            <a:ext cx="1585771"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76" name="Line 165"/>
          <p:cNvSpPr>
            <a:spLocks noChangeShapeType="1"/>
          </p:cNvSpPr>
          <p:nvPr/>
        </p:nvSpPr>
        <p:spPr bwMode="auto">
          <a:xfrm>
            <a:off x="3565904" y="2665434"/>
            <a:ext cx="167087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6" name="Line 170"/>
          <p:cNvSpPr>
            <a:spLocks noChangeShapeType="1"/>
          </p:cNvSpPr>
          <p:nvPr/>
        </p:nvSpPr>
        <p:spPr bwMode="auto">
          <a:xfrm>
            <a:off x="5324876" y="2665434"/>
            <a:ext cx="182375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 name="矩形 4"/>
          <p:cNvSpPr/>
          <p:nvPr/>
        </p:nvSpPr>
        <p:spPr>
          <a:xfrm>
            <a:off x="4424727" y="1816579"/>
            <a:ext cx="1642294" cy="461665"/>
          </a:xfrm>
          <a:prstGeom prst="rect">
            <a:avLst/>
          </a:prstGeom>
          <a:solidFill>
            <a:srgbClr val="FF99FF"/>
          </a:solidFill>
        </p:spPr>
        <p:txBody>
          <a:bodyPr wrap="square">
            <a:spAutoFit/>
          </a:bodyPr>
          <a:lstStyle/>
          <a:p>
            <a:r>
              <a:rPr lang="zh-CN" altLang="en-US" sz="1200" b="1" dirty="0">
                <a:latin typeface="微软雅黑" panose="020B0503020204020204" pitchFamily="34" charset="-122"/>
                <a:ea typeface="微软雅黑" panose="020B0503020204020204" pitchFamily="34" charset="-122"/>
              </a:rPr>
              <a:t>路由器只根据</a:t>
            </a:r>
            <a:r>
              <a:rPr lang="zh-CN" altLang="en-US" sz="1200" b="1" dirty="0">
                <a:solidFill>
                  <a:srgbClr val="C00000"/>
                </a:solidFill>
                <a:latin typeface="微软雅黑" panose="020B0503020204020204" pitchFamily="34" charset="-122"/>
                <a:ea typeface="微软雅黑" panose="020B0503020204020204" pitchFamily="34" charset="-122"/>
              </a:rPr>
              <a:t>目的站的 </a:t>
            </a:r>
            <a:r>
              <a:rPr lang="en-US" altLang="zh-CN" sz="1200" b="1" dirty="0">
                <a:solidFill>
                  <a:srgbClr val="C00000"/>
                </a:solidFill>
                <a:latin typeface="微软雅黑" panose="020B0503020204020204" pitchFamily="34" charset="-122"/>
                <a:ea typeface="微软雅黑" panose="020B0503020204020204" pitchFamily="34" charset="-122"/>
              </a:rPr>
              <a:t>IP </a:t>
            </a:r>
            <a:r>
              <a:rPr lang="zh-CN" altLang="en-US" sz="1200" b="1" dirty="0">
                <a:solidFill>
                  <a:srgbClr val="C00000"/>
                </a:solidFill>
                <a:latin typeface="微软雅黑" panose="020B0503020204020204" pitchFamily="34" charset="-122"/>
                <a:ea typeface="微软雅黑" panose="020B0503020204020204" pitchFamily="34" charset="-122"/>
              </a:rPr>
              <a:t>地址</a:t>
            </a:r>
            <a:r>
              <a:rPr lang="zh-CN" altLang="en-US" sz="1200" b="1" dirty="0">
                <a:latin typeface="微软雅黑" panose="020B0503020204020204" pitchFamily="34" charset="-122"/>
                <a:ea typeface="微软雅黑" panose="020B0503020204020204" pitchFamily="34" charset="-122"/>
              </a:rPr>
              <a:t>进行转发。</a:t>
            </a:r>
          </a:p>
        </p:txBody>
      </p:sp>
      <p:sp>
        <p:nvSpPr>
          <p:cNvPr id="217" name="矩形 216"/>
          <p:cNvSpPr/>
          <p:nvPr/>
        </p:nvSpPr>
        <p:spPr>
          <a:xfrm>
            <a:off x="2662683" y="4250411"/>
            <a:ext cx="3639530"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注意：数据报中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地址是否有变化？</a:t>
            </a:r>
          </a:p>
        </p:txBody>
      </p:sp>
    </p:spTree>
    <p:extLst>
      <p:ext uri="{BB962C8B-B14F-4D97-AF65-F5344CB8AC3E}">
        <p14:creationId xmlns:p14="http://schemas.microsoft.com/office/powerpoint/2010/main" val="18031161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8" fill="hold" grpId="0" nodeType="afterEffect">
                                  <p:stCondLst>
                                    <p:cond delay="0"/>
                                  </p:stCondLst>
                                  <p:childTnLst>
                                    <p:set>
                                      <p:cBhvr>
                                        <p:cTn id="9" dur="1" fill="hold">
                                          <p:stCondLst>
                                            <p:cond delay="0"/>
                                          </p:stCondLst>
                                        </p:cTn>
                                        <p:tgtEl>
                                          <p:spTgt spid="160"/>
                                        </p:tgtEl>
                                        <p:attrNameLst>
                                          <p:attrName>style.visibility</p:attrName>
                                        </p:attrNameLst>
                                      </p:cBhvr>
                                      <p:to>
                                        <p:strVal val="visible"/>
                                      </p:to>
                                    </p:set>
                                    <p:animEffect transition="in" filter="wipe(left)">
                                      <p:cBhvr>
                                        <p:cTn id="10" dur="1000"/>
                                        <p:tgtEl>
                                          <p:spTgt spid="160"/>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76"/>
                                        </p:tgtEl>
                                        <p:attrNameLst>
                                          <p:attrName>style.visibility</p:attrName>
                                        </p:attrNameLst>
                                      </p:cBhvr>
                                      <p:to>
                                        <p:strVal val="visible"/>
                                      </p:to>
                                    </p:set>
                                    <p:animEffect transition="in" filter="wipe(left)">
                                      <p:cBhvr>
                                        <p:cTn id="14" dur="1000"/>
                                        <p:tgtEl>
                                          <p:spTgt spid="176"/>
                                        </p:tgtEl>
                                      </p:cBhvr>
                                    </p:animEffect>
                                  </p:childTnLst>
                                </p:cTn>
                              </p:par>
                            </p:childTnLst>
                          </p:cTn>
                        </p:par>
                        <p:par>
                          <p:cTn id="15" fill="hold">
                            <p:stCondLst>
                              <p:cond delay="5000"/>
                            </p:stCondLst>
                            <p:childTnLst>
                              <p:par>
                                <p:cTn id="16" presetID="22" presetClass="entr" presetSubtype="8" fill="hold" grpId="0" nodeType="afterEffect">
                                  <p:stCondLst>
                                    <p:cond delay="0"/>
                                  </p:stCondLst>
                                  <p:childTnLst>
                                    <p:set>
                                      <p:cBhvr>
                                        <p:cTn id="17" dur="1" fill="hold">
                                          <p:stCondLst>
                                            <p:cond delay="0"/>
                                          </p:stCondLst>
                                        </p:cTn>
                                        <p:tgtEl>
                                          <p:spTgt spid="216"/>
                                        </p:tgtEl>
                                        <p:attrNameLst>
                                          <p:attrName>style.visibility</p:attrName>
                                        </p:attrNameLst>
                                      </p:cBhvr>
                                      <p:to>
                                        <p:strVal val="visible"/>
                                      </p:to>
                                    </p:set>
                                    <p:animEffect transition="in" filter="wipe(left)">
                                      <p:cBhvr>
                                        <p:cTn id="18" dur="1000"/>
                                        <p:tgtEl>
                                          <p:spTgt spid="216"/>
                                        </p:tgtEl>
                                      </p:cBhvr>
                                    </p:animEffect>
                                  </p:childTnLst>
                                </p:cTn>
                              </p:par>
                            </p:childTnLst>
                          </p:cTn>
                        </p:par>
                        <p:par>
                          <p:cTn id="19" fill="hold">
                            <p:stCondLst>
                              <p:cond delay="6000"/>
                            </p:stCondLst>
                            <p:childTnLst>
                              <p:par>
                                <p:cTn id="20" presetID="10" presetClass="entr" presetSubtype="0" repeatCount="3000" fill="hold" grpId="0" nodeType="after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1000"/>
                                        <p:tgtEl>
                                          <p:spTgt spid="5"/>
                                        </p:tgtEl>
                                      </p:cBhvr>
                                    </p:animEffect>
                                  </p:childTnLst>
                                </p:cTn>
                              </p:par>
                            </p:childTnLst>
                          </p:cTn>
                        </p:par>
                        <p:par>
                          <p:cTn id="23" fill="hold">
                            <p:stCondLst>
                              <p:cond delay="9000"/>
                            </p:stCondLst>
                            <p:childTnLst>
                              <p:par>
                                <p:cTn id="24" presetID="10" presetClass="entr" presetSubtype="0" fill="hold" grpId="0" nodeType="afterEffect">
                                  <p:stCondLst>
                                    <p:cond delay="0"/>
                                  </p:stCondLst>
                                  <p:childTnLst>
                                    <p:set>
                                      <p:cBhvr>
                                        <p:cTn id="25" dur="1" fill="hold">
                                          <p:stCondLst>
                                            <p:cond delay="0"/>
                                          </p:stCondLst>
                                        </p:cTn>
                                        <p:tgtEl>
                                          <p:spTgt spid="217"/>
                                        </p:tgtEl>
                                        <p:attrNameLst>
                                          <p:attrName>style.visibility</p:attrName>
                                        </p:attrNameLst>
                                      </p:cBhvr>
                                      <p:to>
                                        <p:strVal val="visible"/>
                                      </p:to>
                                    </p:set>
                                    <p:animEffect transition="in" filter="fade">
                                      <p:cBhvr>
                                        <p:cTn id="26" dur="1000"/>
                                        <p:tgtEl>
                                          <p:spTgt spid="2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60" grpId="0" animBg="1"/>
      <p:bldP spid="176" grpId="0" animBg="1"/>
      <p:bldP spid="216" grpId="0" animBg="1"/>
      <p:bldP spid="5" grpId="0" animBg="1"/>
      <p:bldP spid="217"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624511" y="728414"/>
            <a:ext cx="3884268"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在局域网的链路层，只能看见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帧。</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61"/>
          <p:cNvSpPr>
            <a:spLocks noChangeShapeType="1"/>
          </p:cNvSpPr>
          <p:nvPr/>
        </p:nvSpPr>
        <p:spPr bwMode="auto">
          <a:xfrm>
            <a:off x="1664610" y="3701670"/>
            <a:ext cx="130272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5"/>
          <p:cNvSpPr>
            <a:spLocks noChangeShapeType="1"/>
          </p:cNvSpPr>
          <p:nvPr/>
        </p:nvSpPr>
        <p:spPr bwMode="auto">
          <a:xfrm>
            <a:off x="3854670" y="3701670"/>
            <a:ext cx="88733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70"/>
          <p:cNvSpPr>
            <a:spLocks noChangeShapeType="1"/>
          </p:cNvSpPr>
          <p:nvPr/>
        </p:nvSpPr>
        <p:spPr bwMode="auto">
          <a:xfrm>
            <a:off x="5639122" y="3701670"/>
            <a:ext cx="142373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矩形 139"/>
          <p:cNvSpPr/>
          <p:nvPr/>
        </p:nvSpPr>
        <p:spPr>
          <a:xfrm>
            <a:off x="2104802" y="4266739"/>
            <a:ext cx="5150223"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注意：帧中 </a:t>
            </a: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地址是否有变化？对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层有何影响？</a:t>
            </a:r>
          </a:p>
        </p:txBody>
      </p:sp>
    </p:spTree>
    <p:extLst>
      <p:ext uri="{BB962C8B-B14F-4D97-AF65-F5344CB8AC3E}">
        <p14:creationId xmlns:p14="http://schemas.microsoft.com/office/powerpoint/2010/main" val="8000762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22" presetClass="entr" presetSubtype="8"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left)">
                                      <p:cBhvr>
                                        <p:cTn id="10" dur="1000"/>
                                        <p:tgtEl>
                                          <p:spTgt spid="137"/>
                                        </p:tgtEl>
                                      </p:cBhvr>
                                    </p:animEffect>
                                  </p:childTnLst>
                                </p:cTn>
                              </p:par>
                            </p:childTnLst>
                          </p:cTn>
                        </p:par>
                        <p:par>
                          <p:cTn id="11" fill="hold">
                            <p:stCondLst>
                              <p:cond delay="5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6000"/>
                            </p:stCondLst>
                            <p:childTnLst>
                              <p:par>
                                <p:cTn id="16" presetID="22" presetClass="entr" presetSubtype="8"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left)">
                                      <p:cBhvr>
                                        <p:cTn id="18" dur="1000"/>
                                        <p:tgtEl>
                                          <p:spTgt spid="139"/>
                                        </p:tgtEl>
                                      </p:cBhvr>
                                    </p:animEffect>
                                  </p:childTnLst>
                                </p:cTn>
                              </p:par>
                            </p:childTnLst>
                          </p:cTn>
                        </p:par>
                        <p:par>
                          <p:cTn id="19" fill="hold">
                            <p:stCondLst>
                              <p:cond delay="7000"/>
                            </p:stCondLst>
                            <p:childTnLst>
                              <p:par>
                                <p:cTn id="20" presetID="10" presetClass="entr" presetSubtype="0"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fade">
                                      <p:cBhvr>
                                        <p:cTn id="22" dur="10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45145" y="61010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3" name="Rectangle 6"/>
          <p:cNvSpPr>
            <a:spLocks noChangeArrowheads="1"/>
          </p:cNvSpPr>
          <p:nvPr/>
        </p:nvSpPr>
        <p:spPr bwMode="auto">
          <a:xfrm>
            <a:off x="1924215" y="576891"/>
            <a:ext cx="53142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不同层次、不同区间使用的源地址和目的地址</a:t>
            </a:r>
          </a:p>
        </p:txBody>
      </p:sp>
      <p:graphicFrame>
        <p:nvGraphicFramePr>
          <p:cNvPr id="25" name="内容占位符 3"/>
          <p:cNvGraphicFramePr>
            <a:graphicFrameLocks/>
          </p:cNvGraphicFramePr>
          <p:nvPr>
            <p:extLst>
              <p:ext uri="{D42A27DB-BD31-4B8C-83A1-F6EECF244321}">
                <p14:modId xmlns:p14="http://schemas.microsoft.com/office/powerpoint/2010/main" val="576427055"/>
              </p:ext>
            </p:extLst>
          </p:nvPr>
        </p:nvGraphicFramePr>
        <p:xfrm>
          <a:off x="840060" y="1195745"/>
          <a:ext cx="7530788" cy="2199993"/>
        </p:xfrm>
        <a:graphic>
          <a:graphicData uri="http://schemas.openxmlformats.org/drawingml/2006/table">
            <a:tbl>
              <a:tblPr>
                <a:tableStyleId>{5C22544A-7EE6-4342-B048-85BDC9FD1C3A}</a:tableStyleId>
              </a:tblPr>
              <a:tblGrid>
                <a:gridCol w="1613208">
                  <a:extLst>
                    <a:ext uri="{9D8B030D-6E8A-4147-A177-3AD203B41FA5}">
                      <a16:colId xmlns:a16="http://schemas.microsoft.com/office/drawing/2014/main" val="20000"/>
                    </a:ext>
                  </a:extLst>
                </a:gridCol>
                <a:gridCol w="1501698">
                  <a:extLst>
                    <a:ext uri="{9D8B030D-6E8A-4147-A177-3AD203B41FA5}">
                      <a16:colId xmlns:a16="http://schemas.microsoft.com/office/drawing/2014/main" val="20001"/>
                    </a:ext>
                  </a:extLst>
                </a:gridCol>
                <a:gridCol w="1505860">
                  <a:extLst>
                    <a:ext uri="{9D8B030D-6E8A-4147-A177-3AD203B41FA5}">
                      <a16:colId xmlns:a16="http://schemas.microsoft.com/office/drawing/2014/main" val="20002"/>
                    </a:ext>
                  </a:extLst>
                </a:gridCol>
                <a:gridCol w="1455011">
                  <a:extLst>
                    <a:ext uri="{9D8B030D-6E8A-4147-A177-3AD203B41FA5}">
                      <a16:colId xmlns:a16="http://schemas.microsoft.com/office/drawing/2014/main" val="20003"/>
                    </a:ext>
                  </a:extLst>
                </a:gridCol>
                <a:gridCol w="1455011">
                  <a:extLst>
                    <a:ext uri="{9D8B030D-6E8A-4147-A177-3AD203B41FA5}">
                      <a16:colId xmlns:a16="http://schemas.microsoft.com/office/drawing/2014/main" val="20004"/>
                    </a:ext>
                  </a:extLst>
                </a:gridCol>
              </a:tblGrid>
              <a:tr h="610109">
                <a:tc rowSpan="2">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 </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在网络层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IP </a:t>
                      </a:r>
                      <a:r>
                        <a:rPr lang="zh-CN" sz="1600" b="1" dirty="0">
                          <a:solidFill>
                            <a:schemeClr val="bg1"/>
                          </a:solidFill>
                          <a:effectLst/>
                          <a:latin typeface="微软雅黑" pitchFamily="34" charset="-122"/>
                          <a:ea typeface="微软雅黑" pitchFamily="34" charset="-122"/>
                        </a:rPr>
                        <a:t>数据报首部的地址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99"/>
                    </a:solidFill>
                  </a:tcPr>
                </a:tc>
                <a:tc hMerge="1">
                  <a:txBody>
                    <a:bodyPr/>
                    <a:lstStyle/>
                    <a:p>
                      <a:endParaRPr lang="zh-CN" altLang="en-US"/>
                    </a:p>
                  </a:txBody>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在数据链路层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MAC </a:t>
                      </a:r>
                      <a:r>
                        <a:rPr lang="zh-CN" sz="1600" b="1" dirty="0">
                          <a:solidFill>
                            <a:schemeClr val="bg1"/>
                          </a:solidFill>
                          <a:effectLst/>
                          <a:latin typeface="微软雅黑" pitchFamily="34" charset="-122"/>
                          <a:ea typeface="微软雅黑" pitchFamily="34" charset="-122"/>
                        </a:rPr>
                        <a:t>帧首部的地址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3300"/>
                    </a:solidFill>
                  </a:tcPr>
                </a:tc>
                <a:tc hMerge="1">
                  <a:txBody>
                    <a:bodyPr/>
                    <a:lstStyle/>
                    <a:p>
                      <a:endParaRPr lang="zh-CN" altLang="en-US"/>
                    </a:p>
                  </a:txBody>
                  <a:tcPr/>
                </a:tc>
                <a:extLst>
                  <a:ext uri="{0D108BD9-81ED-4DB2-BD59-A6C34878D82A}">
                    <a16:rowId xmlns:a16="http://schemas.microsoft.com/office/drawing/2014/main" val="10000"/>
                  </a:ext>
                </a:extLst>
              </a:tr>
              <a:tr h="397471">
                <a:tc vMerge="1">
                  <a:txBody>
                    <a:bodyPr/>
                    <a:lstStyle/>
                    <a:p>
                      <a:endParaRPr lang="zh-CN" altLang="en-US"/>
                    </a:p>
                  </a:txBody>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1"/>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2"/>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4</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3"/>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6</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4479945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45145" y="61010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3" name="Rectangle 6"/>
          <p:cNvSpPr>
            <a:spLocks noChangeArrowheads="1"/>
          </p:cNvSpPr>
          <p:nvPr/>
        </p:nvSpPr>
        <p:spPr bwMode="auto">
          <a:xfrm>
            <a:off x="1924215" y="576891"/>
            <a:ext cx="53142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不同层次、不同区间使用的源地址和目的地址</a:t>
            </a:r>
          </a:p>
        </p:txBody>
      </p:sp>
      <p:sp>
        <p:nvSpPr>
          <p:cNvPr id="2" name="矩形 1"/>
          <p:cNvSpPr/>
          <p:nvPr/>
        </p:nvSpPr>
        <p:spPr>
          <a:xfrm>
            <a:off x="545145" y="972534"/>
            <a:ext cx="8053712"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尽管互连在一起的网络的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地址体系各不相同，但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层抽象的互联网却</a:t>
            </a:r>
            <a:r>
              <a:rPr lang="zh-CN" altLang="en-US" sz="2000" b="1" dirty="0">
                <a:solidFill>
                  <a:srgbClr val="C00000"/>
                </a:solidFill>
                <a:latin typeface="微软雅黑" pitchFamily="34" charset="-122"/>
                <a:ea typeface="微软雅黑" pitchFamily="34" charset="-122"/>
              </a:rPr>
              <a:t>屏蔽</a:t>
            </a:r>
            <a:r>
              <a:rPr lang="zh-CN" altLang="en-US" sz="2000" b="1" dirty="0">
                <a:latin typeface="微软雅黑" pitchFamily="34" charset="-122"/>
                <a:ea typeface="微软雅黑" pitchFamily="34" charset="-122"/>
              </a:rPr>
              <a:t>了下层这些很复杂的细节。</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只要我们在网络层上讨论问题，就能够使用统一的、抽象的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地址研究主机和主机或路由器之间的通信。</a:t>
            </a:r>
          </a:p>
        </p:txBody>
      </p:sp>
      <p:sp>
        <p:nvSpPr>
          <p:cNvPr id="3" name="矩形 2"/>
          <p:cNvSpPr/>
          <p:nvPr/>
        </p:nvSpPr>
        <p:spPr>
          <a:xfrm>
            <a:off x="1730829" y="2892398"/>
            <a:ext cx="5796642" cy="1169551"/>
          </a:xfrm>
          <a:prstGeom prst="rect">
            <a:avLst/>
          </a:prstGeom>
          <a:ln/>
        </p:spPr>
        <p:style>
          <a:lnRef idx="1">
            <a:schemeClr val="accent2"/>
          </a:lnRef>
          <a:fillRef idx="2">
            <a:schemeClr val="accent2"/>
          </a:fillRef>
          <a:effectRef idx="1">
            <a:schemeClr val="accent2"/>
          </a:effectRef>
          <a:fontRef idx="minor">
            <a:schemeClr val="dk1"/>
          </a:fontRef>
        </p:style>
        <p:txBody>
          <a:bodyPr wrap="square">
            <a:spAutoFit/>
          </a:bodyPr>
          <a:lstStyle/>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问题：</a:t>
            </a:r>
            <a:endParaRPr lang="en-US" altLang="zh-CN" sz="2000" b="1" dirty="0">
              <a:solidFill>
                <a:srgbClr val="000099"/>
              </a:solidFill>
              <a:latin typeface="微软雅黑" panose="020B0503020204020204" pitchFamily="34" charset="-122"/>
              <a:ea typeface="微软雅黑" panose="020B0503020204020204" pitchFamily="34" charset="-122"/>
            </a:endParaRPr>
          </a:p>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主机或路由器怎样知道应当在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帧的首部填入什么样的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地址？</a:t>
            </a:r>
          </a:p>
        </p:txBody>
      </p:sp>
    </p:spTree>
    <p:extLst>
      <p:ext uri="{BB962C8B-B14F-4D97-AF65-F5344CB8AC3E}">
        <p14:creationId xmlns:p14="http://schemas.microsoft.com/office/powerpoint/2010/main" val="37857656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2141432"/>
            <a:ext cx="8053711" cy="201770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45144" y="605027"/>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723580" y="572956"/>
            <a:ext cx="36968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4.2.4  </a:t>
            </a:r>
            <a:r>
              <a:rPr lang="zh-CN" altLang="en-US" sz="2400" b="1" dirty="0">
                <a:solidFill>
                  <a:schemeClr val="bg1"/>
                </a:solidFill>
                <a:latin typeface="微软雅黑" pitchFamily="34" charset="-122"/>
                <a:ea typeface="微软雅黑" pitchFamily="34" charset="-122"/>
              </a:rPr>
              <a:t>地址解析协议 </a:t>
            </a:r>
            <a:r>
              <a:rPr lang="en-US" altLang="zh-CN" sz="2400" b="1" dirty="0">
                <a:solidFill>
                  <a:schemeClr val="bg1"/>
                </a:solidFill>
                <a:latin typeface="微软雅黑" pitchFamily="34" charset="-122"/>
                <a:ea typeface="微软雅黑" pitchFamily="34" charset="-122"/>
              </a:rPr>
              <a:t>ARP</a:t>
            </a:r>
            <a:endParaRPr lang="zh-CN" altLang="en-US" sz="2400" b="1" dirty="0">
              <a:solidFill>
                <a:schemeClr val="bg1"/>
              </a:solidFill>
              <a:latin typeface="微软雅黑" pitchFamily="34" charset="-122"/>
              <a:ea typeface="微软雅黑" pitchFamily="34" charset="-122"/>
            </a:endParaRPr>
          </a:p>
        </p:txBody>
      </p:sp>
      <p:sp>
        <p:nvSpPr>
          <p:cNvPr id="7" name="Rectangle 8"/>
          <p:cNvSpPr>
            <a:spLocks noChangeArrowheads="1"/>
          </p:cNvSpPr>
          <p:nvPr/>
        </p:nvSpPr>
        <p:spPr bwMode="auto">
          <a:xfrm>
            <a:off x="545144" y="996098"/>
            <a:ext cx="7665002" cy="11695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2800"/>
              </a:lnSpc>
              <a:buClr>
                <a:srgbClr val="0070C0"/>
              </a:buClr>
              <a:buFont typeface="Wingdings" pitchFamily="2" charset="2"/>
              <a:buChar char="l"/>
            </a:pPr>
            <a:r>
              <a:rPr lang="zh-CN" altLang="en-US" sz="2000" b="1" dirty="0">
                <a:latin typeface="微软雅黑" pitchFamily="34" charset="-122"/>
                <a:ea typeface="微软雅黑" pitchFamily="34" charset="-122"/>
              </a:rPr>
              <a:t>实现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通信时使用了两个地址：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地址（网络层地址）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地址（数据链路层地址）</a:t>
            </a:r>
          </a:p>
        </p:txBody>
      </p:sp>
      <p:sp>
        <p:nvSpPr>
          <p:cNvPr id="14" name="矩形 13"/>
          <p:cNvSpPr/>
          <p:nvPr/>
        </p:nvSpPr>
        <p:spPr>
          <a:xfrm>
            <a:off x="5370849" y="2304398"/>
            <a:ext cx="1444626" cy="307777"/>
          </a:xfrm>
          <a:prstGeom prst="rect">
            <a:avLst/>
          </a:prstGeom>
        </p:spPr>
        <p:txBody>
          <a:bodyPr wrap="none">
            <a:spAutoFit/>
          </a:bodyPr>
          <a:lstStyle/>
          <a:p>
            <a:r>
              <a:rPr lang="en-US" altLang="zh-CN" sz="1400" b="1" dirty="0">
                <a:solidFill>
                  <a:srgbClr val="CC00CC"/>
                </a:solidFill>
                <a:latin typeface="微软雅黑" pitchFamily="34" charset="-122"/>
                <a:ea typeface="微软雅黑" pitchFamily="34" charset="-122"/>
              </a:rPr>
              <a:t>220.168.10.10</a:t>
            </a:r>
            <a:endParaRPr lang="zh-CN" altLang="en-US" sz="1400" b="1" dirty="0">
              <a:solidFill>
                <a:srgbClr val="CC00CC"/>
              </a:solidFill>
              <a:latin typeface="微软雅黑" pitchFamily="34" charset="-122"/>
              <a:ea typeface="微软雅黑" pitchFamily="34" charset="-122"/>
            </a:endParaRPr>
          </a:p>
        </p:txBody>
      </p:sp>
      <p:sp>
        <p:nvSpPr>
          <p:cNvPr id="15" name="矩形 14"/>
          <p:cNvSpPr/>
          <p:nvPr/>
        </p:nvSpPr>
        <p:spPr>
          <a:xfrm>
            <a:off x="5370849" y="2550255"/>
            <a:ext cx="1937453" cy="307777"/>
          </a:xfrm>
          <a:prstGeom prst="rect">
            <a:avLst/>
          </a:prstGeom>
        </p:spPr>
        <p:txBody>
          <a:bodyPr wrap="none">
            <a:spAutoFit/>
          </a:bodyPr>
          <a:lstStyle/>
          <a:p>
            <a:r>
              <a:rPr lang="en-US" altLang="zh-CN" sz="1400" b="1" dirty="0">
                <a:solidFill>
                  <a:srgbClr val="0000FF"/>
                </a:solidFill>
                <a:latin typeface="微软雅黑" pitchFamily="34" charset="-122"/>
                <a:ea typeface="微软雅黑" pitchFamily="34" charset="-122"/>
              </a:rPr>
              <a:t>00-15-C5-C6-CC-07</a:t>
            </a:r>
            <a:endParaRPr lang="zh-CN" altLang="en-US" sz="1400" b="1" dirty="0">
              <a:solidFill>
                <a:srgbClr val="0000FF"/>
              </a:solidFill>
              <a:latin typeface="微软雅黑" pitchFamily="34" charset="-122"/>
              <a:ea typeface="微软雅黑" pitchFamily="34" charset="-122"/>
            </a:endParaRPr>
          </a:p>
        </p:txBody>
      </p:sp>
      <p:sp>
        <p:nvSpPr>
          <p:cNvPr id="16" name="矩形 15"/>
          <p:cNvSpPr/>
          <p:nvPr/>
        </p:nvSpPr>
        <p:spPr>
          <a:xfrm>
            <a:off x="559201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220.168.10.20</a:t>
            </a:r>
            <a:endParaRPr lang="zh-CN" altLang="en-US" sz="1400" b="1" dirty="0">
              <a:solidFill>
                <a:srgbClr val="CC00CC"/>
              </a:solidFill>
              <a:latin typeface="微软雅黑" pitchFamily="34" charset="-122"/>
              <a:ea typeface="微软雅黑" pitchFamily="34" charset="-122"/>
            </a:endParaRPr>
          </a:p>
        </p:txBody>
      </p:sp>
      <p:sp>
        <p:nvSpPr>
          <p:cNvPr id="17" name="矩形 16"/>
          <p:cNvSpPr/>
          <p:nvPr/>
        </p:nvSpPr>
        <p:spPr>
          <a:xfrm>
            <a:off x="5356431"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00-15-C5-C8-C4-95</a:t>
            </a:r>
            <a:endParaRPr lang="zh-CN" altLang="en-US" sz="1400" b="1" dirty="0">
              <a:solidFill>
                <a:srgbClr val="0000FF"/>
              </a:solidFill>
              <a:latin typeface="微软雅黑" pitchFamily="34" charset="-122"/>
              <a:ea typeface="微软雅黑" pitchFamily="34" charset="-122"/>
            </a:endParaRPr>
          </a:p>
        </p:txBody>
      </p:sp>
      <p:sp>
        <p:nvSpPr>
          <p:cNvPr id="18" name="矩形 17"/>
          <p:cNvSpPr/>
          <p:nvPr/>
        </p:nvSpPr>
        <p:spPr>
          <a:xfrm>
            <a:off x="244363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220.168.10.16</a:t>
            </a:r>
            <a:endParaRPr lang="zh-CN" altLang="en-US" sz="1400" b="1" dirty="0">
              <a:solidFill>
                <a:srgbClr val="CC00CC"/>
              </a:solidFill>
              <a:latin typeface="微软雅黑" pitchFamily="34" charset="-122"/>
              <a:ea typeface="微软雅黑" pitchFamily="34" charset="-122"/>
            </a:endParaRPr>
          </a:p>
        </p:txBody>
      </p:sp>
      <p:sp>
        <p:nvSpPr>
          <p:cNvPr id="19" name="矩形 18"/>
          <p:cNvSpPr/>
          <p:nvPr/>
        </p:nvSpPr>
        <p:spPr>
          <a:xfrm>
            <a:off x="2113960"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00-15-C5-C6-C8-11</a:t>
            </a:r>
            <a:endParaRPr lang="zh-CN" altLang="en-US" sz="1400" b="1" dirty="0">
              <a:solidFill>
                <a:srgbClr val="0000FF"/>
              </a:solidFill>
              <a:latin typeface="微软雅黑" pitchFamily="34" charset="-122"/>
              <a:ea typeface="微软雅黑" pitchFamily="34" charset="-122"/>
            </a:endParaRPr>
          </a:p>
        </p:txBody>
      </p:sp>
      <p:sp>
        <p:nvSpPr>
          <p:cNvPr id="20" name="矩形标注 19"/>
          <p:cNvSpPr/>
          <p:nvPr/>
        </p:nvSpPr>
        <p:spPr bwMode="auto">
          <a:xfrm>
            <a:off x="7272518" y="2347356"/>
            <a:ext cx="719810" cy="252220"/>
          </a:xfrm>
          <a:prstGeom prst="wedgeRectCallout">
            <a:avLst>
              <a:gd name="adj1" fmla="val -115132"/>
              <a:gd name="adj2" fmla="val 7547"/>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IP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sp>
        <p:nvSpPr>
          <p:cNvPr id="21" name="矩形标注 20"/>
          <p:cNvSpPr/>
          <p:nvPr/>
        </p:nvSpPr>
        <p:spPr bwMode="auto">
          <a:xfrm>
            <a:off x="7148331" y="2987786"/>
            <a:ext cx="968183" cy="252220"/>
          </a:xfrm>
          <a:prstGeom prst="wedgeRectCallout">
            <a:avLst>
              <a:gd name="adj1" fmla="val -79440"/>
              <a:gd name="adj2" fmla="val -134079"/>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altLang="zh-CN" sz="1200" b="1" dirty="0">
                <a:latin typeface="微软雅黑" pitchFamily="34" charset="-122"/>
                <a:ea typeface="微软雅黑" pitchFamily="34" charset="-122"/>
              </a:rPr>
              <a:t>MAC</a:t>
            </a: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cxnSp>
        <p:nvCxnSpPr>
          <p:cNvPr id="22" name="直接箭头连接符 21"/>
          <p:cNvCxnSpPr/>
          <p:nvPr/>
        </p:nvCxnSpPr>
        <p:spPr bwMode="auto">
          <a:xfrm flipH="1">
            <a:off x="5146813" y="2433126"/>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直接箭头连接符 22"/>
          <p:cNvCxnSpPr/>
          <p:nvPr/>
        </p:nvCxnSpPr>
        <p:spPr bwMode="auto">
          <a:xfrm flipH="1">
            <a:off x="5146813" y="2693672"/>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4" name="椭圆 23"/>
          <p:cNvSpPr/>
          <p:nvPr/>
        </p:nvSpPr>
        <p:spPr bwMode="auto">
          <a:xfrm>
            <a:off x="4200086" y="3152056"/>
            <a:ext cx="1198354" cy="719012"/>
          </a:xfrm>
          <a:prstGeom prst="ellipse">
            <a:avLst/>
          </a:prstGeom>
          <a:solidFill>
            <a:srgbClr val="99FFCC"/>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400" b="1" i="0" u="none" strike="noStrike" cap="none" normalizeH="0" baseline="0" dirty="0">
                <a:ln>
                  <a:noFill/>
                </a:ln>
                <a:solidFill>
                  <a:schemeClr val="tx1"/>
                </a:solidFill>
                <a:effectLst/>
                <a:latin typeface="微软雅黑" pitchFamily="34" charset="-122"/>
                <a:ea typeface="微软雅黑" pitchFamily="34" charset="-122"/>
              </a:rPr>
              <a:t>LAN</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endParaRPr>
          </a:p>
        </p:txBody>
      </p:sp>
      <p:cxnSp>
        <p:nvCxnSpPr>
          <p:cNvPr id="25" name="直接连接符 24"/>
          <p:cNvCxnSpPr>
            <a:stCxn id="29" idx="3"/>
            <a:endCxn id="24" idx="2"/>
          </p:cNvCxnSpPr>
          <p:nvPr/>
        </p:nvCxnSpPr>
        <p:spPr bwMode="auto">
          <a:xfrm flipV="1">
            <a:off x="3458827" y="3511562"/>
            <a:ext cx="741259"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直接连接符 25"/>
          <p:cNvCxnSpPr>
            <a:stCxn id="33" idx="1"/>
            <a:endCxn id="24" idx="6"/>
          </p:cNvCxnSpPr>
          <p:nvPr/>
        </p:nvCxnSpPr>
        <p:spPr bwMode="auto">
          <a:xfrm flipH="1" flipV="1">
            <a:off x="5398440" y="3511562"/>
            <a:ext cx="593008"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7" name="直接连接符 26"/>
          <p:cNvCxnSpPr>
            <a:stCxn id="36" idx="2"/>
            <a:endCxn id="24" idx="0"/>
          </p:cNvCxnSpPr>
          <p:nvPr/>
        </p:nvCxnSpPr>
        <p:spPr bwMode="auto">
          <a:xfrm>
            <a:off x="4795730" y="2839354"/>
            <a:ext cx="3533" cy="312702"/>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pic>
        <p:nvPicPr>
          <p:cNvPr id="2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56830"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91448"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44731" y="2337357"/>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11268"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70513"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3276354"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4806309" y="2548171"/>
            <a:ext cx="324555" cy="2887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83991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圆角矩形 229"/>
          <p:cNvSpPr/>
          <p:nvPr/>
        </p:nvSpPr>
        <p:spPr>
          <a:xfrm>
            <a:off x="556963" y="1790549"/>
            <a:ext cx="8048776" cy="2427316"/>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8" name="AutoShape 5"/>
          <p:cNvSpPr>
            <a:spLocks noChangeArrowheads="1"/>
          </p:cNvSpPr>
          <p:nvPr/>
        </p:nvSpPr>
        <p:spPr bwMode="auto">
          <a:xfrm>
            <a:off x="556963" y="60475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9" name="Rectangle 6"/>
          <p:cNvSpPr>
            <a:spLocks noChangeArrowheads="1"/>
          </p:cNvSpPr>
          <p:nvPr/>
        </p:nvSpPr>
        <p:spPr bwMode="auto">
          <a:xfrm>
            <a:off x="2987805" y="571548"/>
            <a:ext cx="318709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地址解析协议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的作用</a:t>
            </a:r>
          </a:p>
        </p:txBody>
      </p:sp>
      <p:sp>
        <p:nvSpPr>
          <p:cNvPr id="210" name="Rectangle 68"/>
          <p:cNvSpPr>
            <a:spLocks noChangeArrowheads="1"/>
          </p:cNvSpPr>
          <p:nvPr/>
        </p:nvSpPr>
        <p:spPr bwMode="auto">
          <a:xfrm>
            <a:off x="448327" y="987056"/>
            <a:ext cx="8306380" cy="78483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7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已经知道了一个机器（主机或路由器）的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地址，如何找出其相应的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a:t>
            </a:r>
          </a:p>
        </p:txBody>
      </p:sp>
      <p:grpSp>
        <p:nvGrpSpPr>
          <p:cNvPr id="5" name="组合 4"/>
          <p:cNvGrpSpPr/>
          <p:nvPr/>
        </p:nvGrpSpPr>
        <p:grpSpPr>
          <a:xfrm>
            <a:off x="1954375" y="2005187"/>
            <a:ext cx="4434604" cy="1495690"/>
            <a:chOff x="2054734" y="2247807"/>
            <a:chExt cx="4434604" cy="1495690"/>
          </a:xfrm>
        </p:grpSpPr>
        <p:sp>
          <p:nvSpPr>
            <p:cNvPr id="218" name="Line 16"/>
            <p:cNvSpPr>
              <a:spLocks noChangeShapeType="1"/>
            </p:cNvSpPr>
            <p:nvPr/>
          </p:nvSpPr>
          <p:spPr bwMode="auto">
            <a:xfrm>
              <a:off x="6127397" y="2247807"/>
              <a:ext cx="0" cy="1495690"/>
            </a:xfrm>
            <a:prstGeom prst="line">
              <a:avLst/>
            </a:prstGeom>
            <a:noFill/>
            <a:ln w="19050">
              <a:solidFill>
                <a:srgbClr val="0000CC"/>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19" name="Text Box 17"/>
            <p:cNvSpPr txBox="1">
              <a:spLocks noChangeArrowheads="1"/>
            </p:cNvSpPr>
            <p:nvPr/>
          </p:nvSpPr>
          <p:spPr bwMode="auto">
            <a:xfrm>
              <a:off x="5766063" y="2823150"/>
              <a:ext cx="723275"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网络层</a:t>
              </a:r>
            </a:p>
          </p:txBody>
        </p:sp>
        <p:sp>
          <p:nvSpPr>
            <p:cNvPr id="220" name="Rectangle 18"/>
            <p:cNvSpPr>
              <a:spLocks noChangeArrowheads="1"/>
            </p:cNvSpPr>
            <p:nvPr/>
          </p:nvSpPr>
          <p:spPr bwMode="auto">
            <a:xfrm>
              <a:off x="2054734" y="2247808"/>
              <a:ext cx="3750687" cy="1418325"/>
            </a:xfrm>
            <a:prstGeom prst="rect">
              <a:avLst/>
            </a:prstGeom>
            <a:solidFill>
              <a:srgbClr val="00FFFF"/>
            </a:solidFill>
            <a:ln w="12700">
              <a:solidFill>
                <a:schemeClr val="tx1"/>
              </a:solidFill>
              <a:miter lim="800000"/>
              <a:headEnd/>
              <a:tailEnd/>
            </a:ln>
            <a:effectLst/>
          </p:spPr>
          <p:txBody>
            <a:bodyPr wrap="none" anchor="ctr"/>
            <a:lstStyle/>
            <a:p>
              <a:pPr algn="ctr"/>
              <a:r>
                <a:rPr lang="en-US" altLang="zh-CN" sz="1600" b="1">
                  <a:solidFill>
                    <a:srgbClr val="000099"/>
                  </a:solidFill>
                  <a:latin typeface="微软雅黑" pitchFamily="34" charset="-122"/>
                  <a:ea typeface="微软雅黑" pitchFamily="34" charset="-122"/>
                </a:rPr>
                <a:t>ARP</a:t>
              </a:r>
            </a:p>
            <a:p>
              <a:pPr algn="ctr"/>
              <a:endParaRPr lang="en-US" altLang="zh-CN" sz="1600" b="1">
                <a:solidFill>
                  <a:srgbClr val="000099"/>
                </a:solidFill>
                <a:latin typeface="微软雅黑" pitchFamily="34" charset="-122"/>
                <a:ea typeface="微软雅黑" pitchFamily="34" charset="-122"/>
              </a:endParaRPr>
            </a:p>
          </p:txBody>
        </p:sp>
        <p:sp>
          <p:nvSpPr>
            <p:cNvPr id="223" name="Rectangle 22"/>
            <p:cNvSpPr>
              <a:spLocks noChangeArrowheads="1"/>
            </p:cNvSpPr>
            <p:nvPr/>
          </p:nvSpPr>
          <p:spPr bwMode="auto">
            <a:xfrm>
              <a:off x="2892584" y="2664967"/>
              <a:ext cx="1899428" cy="562775"/>
            </a:xfrm>
            <a:prstGeom prst="rect">
              <a:avLst/>
            </a:prstGeom>
            <a:solidFill>
              <a:srgbClr val="0000CC"/>
            </a:solidFill>
            <a:ln w="9525">
              <a:solidFill>
                <a:schemeClr val="tx1"/>
              </a:solidFill>
              <a:miter lim="800000"/>
              <a:headEnd/>
              <a:tailEnd/>
            </a:ln>
            <a:effectLst/>
          </p:spPr>
          <p:txBody>
            <a:bodyPr wrap="none" anchor="ctr"/>
            <a:lstStyle/>
            <a:p>
              <a:pPr algn="ctr"/>
              <a:r>
                <a:rPr lang="en-US" altLang="zh-CN" sz="2000" b="1" dirty="0">
                  <a:solidFill>
                    <a:schemeClr val="bg1"/>
                  </a:solidFill>
                  <a:latin typeface="微软雅黑" pitchFamily="34" charset="-122"/>
                  <a:ea typeface="微软雅黑" pitchFamily="34" charset="-122"/>
                </a:rPr>
                <a:t>IP</a:t>
              </a:r>
            </a:p>
          </p:txBody>
        </p:sp>
        <p:sp>
          <p:nvSpPr>
            <p:cNvPr id="224" name="Rectangle 24"/>
            <p:cNvSpPr>
              <a:spLocks noChangeArrowheads="1"/>
            </p:cNvSpPr>
            <p:nvPr/>
          </p:nvSpPr>
          <p:spPr bwMode="auto">
            <a:xfrm>
              <a:off x="3009888"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IGMP</a:t>
              </a:r>
            </a:p>
          </p:txBody>
        </p:sp>
        <p:sp>
          <p:nvSpPr>
            <p:cNvPr id="227" name="Rectangle 29"/>
            <p:cNvSpPr>
              <a:spLocks noChangeArrowheads="1"/>
            </p:cNvSpPr>
            <p:nvPr/>
          </p:nvSpPr>
          <p:spPr bwMode="auto">
            <a:xfrm>
              <a:off x="2226045"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ICMP</a:t>
              </a:r>
            </a:p>
          </p:txBody>
        </p:sp>
        <p:sp>
          <p:nvSpPr>
            <p:cNvPr id="228" name="Rectangle 30"/>
            <p:cNvSpPr>
              <a:spLocks noChangeArrowheads="1"/>
            </p:cNvSpPr>
            <p:nvPr/>
          </p:nvSpPr>
          <p:spPr bwMode="auto">
            <a:xfrm>
              <a:off x="4957970" y="3227741"/>
              <a:ext cx="641150" cy="309453"/>
            </a:xfrm>
            <a:prstGeom prst="rect">
              <a:avLst/>
            </a:prstGeom>
            <a:solidFill>
              <a:srgbClr val="FFC000"/>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ARP</a:t>
              </a:r>
            </a:p>
          </p:txBody>
        </p:sp>
      </p:grpSp>
      <p:sp>
        <p:nvSpPr>
          <p:cNvPr id="229" name="矩形 228"/>
          <p:cNvSpPr/>
          <p:nvPr/>
        </p:nvSpPr>
        <p:spPr>
          <a:xfrm>
            <a:off x="6358891" y="2046518"/>
            <a:ext cx="2037916" cy="1446550"/>
          </a:xfrm>
          <a:prstGeom prst="rect">
            <a:avLst/>
          </a:prstGeom>
          <a:solidFill>
            <a:schemeClr val="bg1"/>
          </a:solidFill>
        </p:spPr>
        <p:txBody>
          <a:bodyPr wrap="square">
            <a:spAutoFit/>
          </a:bodyPr>
          <a:lstStyle/>
          <a:p>
            <a:pPr>
              <a:lnSpc>
                <a:spcPct val="110000"/>
              </a:lnSpc>
            </a:pPr>
            <a:r>
              <a:rPr lang="en-US" altLang="zh-CN" sz="1600" b="1" dirty="0">
                <a:solidFill>
                  <a:srgbClr val="0000FF"/>
                </a:solidFill>
                <a:latin typeface="微软雅黑" pitchFamily="34" charset="-122"/>
                <a:ea typeface="微软雅黑" pitchFamily="34" charset="-122"/>
              </a:rPr>
              <a:t>ARP </a:t>
            </a:r>
            <a:r>
              <a:rPr lang="en-US" altLang="zh-CN" sz="1600" b="1" dirty="0">
                <a:latin typeface="微软雅黑" pitchFamily="34" charset="-122"/>
                <a:ea typeface="微软雅黑" pitchFamily="34" charset="-122"/>
              </a:rPr>
              <a:t>(Address Resolution Protocol ) </a:t>
            </a:r>
            <a:r>
              <a:rPr lang="zh-CN" altLang="en-US" sz="1600" b="1" dirty="0">
                <a:solidFill>
                  <a:srgbClr val="C00000"/>
                </a:solidFill>
                <a:latin typeface="微软雅黑" pitchFamily="34" charset="-122"/>
                <a:ea typeface="微软雅黑" pitchFamily="34" charset="-122"/>
              </a:rPr>
              <a:t>作用：</a:t>
            </a:r>
            <a:endParaRPr lang="en-US" altLang="zh-CN" sz="1600" b="1" dirty="0">
              <a:solidFill>
                <a:srgbClr val="C00000"/>
              </a:solidFill>
              <a:latin typeface="微软雅黑" pitchFamily="34" charset="-122"/>
              <a:ea typeface="微软雅黑" pitchFamily="34" charset="-122"/>
            </a:endParaRPr>
          </a:p>
          <a:p>
            <a:pPr>
              <a:lnSpc>
                <a:spcPct val="110000"/>
              </a:lnSpc>
            </a:pPr>
            <a:r>
              <a:rPr lang="zh-CN" altLang="zh-CN" sz="1600" b="1" dirty="0">
                <a:latin typeface="微软雅黑" pitchFamily="34" charset="-122"/>
                <a:ea typeface="微软雅黑" pitchFamily="34" charset="-122"/>
              </a:rPr>
              <a:t>从</a:t>
            </a:r>
            <a:r>
              <a:rPr lang="en-US" altLang="zh-CN" sz="1600" b="1" dirty="0">
                <a:latin typeface="微软雅黑" pitchFamily="34" charset="-122"/>
                <a:ea typeface="微软雅黑" pitchFamily="34" charset="-122"/>
              </a:rPr>
              <a:t> IP </a:t>
            </a:r>
            <a:r>
              <a:rPr lang="zh-CN" altLang="zh-CN" sz="1600" b="1" dirty="0">
                <a:latin typeface="微软雅黑" pitchFamily="34" charset="-122"/>
                <a:ea typeface="微软雅黑" pitchFamily="34" charset="-122"/>
              </a:rPr>
              <a:t>地址解析出</a:t>
            </a:r>
            <a:r>
              <a:rPr lang="en-US" altLang="zh-CN" sz="1600" b="1" dirty="0">
                <a:latin typeface="微软雅黑" pitchFamily="34" charset="-122"/>
                <a:ea typeface="微软雅黑" pitchFamily="34" charset="-122"/>
              </a:rPr>
              <a:t> MAC </a:t>
            </a:r>
            <a:r>
              <a:rPr lang="zh-CN" altLang="zh-CN" sz="1600" b="1" dirty="0">
                <a:latin typeface="微软雅黑" pitchFamily="34" charset="-122"/>
                <a:ea typeface="微软雅黑" pitchFamily="34" charset="-122"/>
              </a:rPr>
              <a:t>地址</a:t>
            </a:r>
            <a:r>
              <a:rPr lang="zh-CN" altLang="en-US" sz="1600" b="1" dirty="0">
                <a:latin typeface="微软雅黑" pitchFamily="34" charset="-122"/>
                <a:ea typeface="微软雅黑" pitchFamily="34" charset="-122"/>
              </a:rPr>
              <a:t>。</a:t>
            </a:r>
          </a:p>
        </p:txBody>
      </p:sp>
      <p:grpSp>
        <p:nvGrpSpPr>
          <p:cNvPr id="3" name="组合 2"/>
          <p:cNvGrpSpPr/>
          <p:nvPr/>
        </p:nvGrpSpPr>
        <p:grpSpPr>
          <a:xfrm>
            <a:off x="779168" y="3079482"/>
            <a:ext cx="2425120" cy="1043117"/>
            <a:chOff x="879527" y="3322102"/>
            <a:chExt cx="2425120" cy="1043117"/>
          </a:xfrm>
        </p:grpSpPr>
        <p:sp>
          <p:nvSpPr>
            <p:cNvPr id="21" name="任意多边形 20"/>
            <p:cNvSpPr/>
            <p:nvPr/>
          </p:nvSpPr>
          <p:spPr>
            <a:xfrm>
              <a:off x="1316167" y="3534154"/>
              <a:ext cx="1737929" cy="312193"/>
            </a:xfrm>
            <a:custGeom>
              <a:avLst/>
              <a:gdLst>
                <a:gd name="connsiteX0" fmla="*/ 0 w 2159541"/>
                <a:gd name="connsiteY0" fmla="*/ 0 h 505838"/>
                <a:gd name="connsiteX1" fmla="*/ 1186775 w 2159541"/>
                <a:gd name="connsiteY1" fmla="*/ 505838 h 505838"/>
                <a:gd name="connsiteX2" fmla="*/ 1726660 w 2159541"/>
                <a:gd name="connsiteY2" fmla="*/ 500974 h 505838"/>
                <a:gd name="connsiteX3" fmla="*/ 2159541 w 2159541"/>
                <a:gd name="connsiteY3" fmla="*/ 9727 h 505838"/>
                <a:gd name="connsiteX4" fmla="*/ 0 w 2159541"/>
                <a:gd name="connsiteY4" fmla="*/ 0 h 5058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59541" h="505838">
                  <a:moveTo>
                    <a:pt x="0" y="0"/>
                  </a:moveTo>
                  <a:lnTo>
                    <a:pt x="1186775" y="505838"/>
                  </a:lnTo>
                  <a:lnTo>
                    <a:pt x="1726660" y="500974"/>
                  </a:lnTo>
                  <a:lnTo>
                    <a:pt x="2159541" y="9727"/>
                  </a:lnTo>
                  <a:lnTo>
                    <a:pt x="0" y="0"/>
                  </a:lnTo>
                  <a:close/>
                </a:path>
              </a:pathLst>
            </a:custGeom>
            <a:gradFill flip="none" rotWithShape="1">
              <a:gsLst>
                <a:gs pos="0">
                  <a:srgbClr val="FFC000">
                    <a:shade val="30000"/>
                    <a:satMod val="115000"/>
                  </a:srgbClr>
                </a:gs>
                <a:gs pos="50000">
                  <a:srgbClr val="FFC000">
                    <a:shade val="67500"/>
                    <a:satMod val="115000"/>
                  </a:srgbClr>
                </a:gs>
                <a:gs pos="100000">
                  <a:srgbClr val="FFC000">
                    <a:shade val="100000"/>
                    <a:satMod val="115000"/>
                  </a:srgb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3" name="矩形 22"/>
            <p:cNvSpPr/>
            <p:nvPr/>
          </p:nvSpPr>
          <p:spPr>
            <a:xfrm>
              <a:off x="1317443" y="3322102"/>
              <a:ext cx="1737930" cy="212053"/>
            </a:xfrm>
            <a:prstGeom prst="rect">
              <a:avLst/>
            </a:prstGeom>
            <a:solidFill>
              <a:srgbClr val="FF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ARP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请求或回答分组</a:t>
              </a:r>
            </a:p>
          </p:txBody>
        </p:sp>
        <p:sp>
          <p:nvSpPr>
            <p:cNvPr id="25" name="右箭头 24"/>
            <p:cNvSpPr/>
            <p:nvPr/>
          </p:nvSpPr>
          <p:spPr>
            <a:xfrm flipH="1">
              <a:off x="1200718" y="3884150"/>
              <a:ext cx="178235" cy="128293"/>
            </a:xfrm>
            <a:prstGeom prst="righ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32" name="Text Box 7"/>
            <p:cNvSpPr txBox="1">
              <a:spLocks noChangeArrowheads="1"/>
            </p:cNvSpPr>
            <p:nvPr/>
          </p:nvSpPr>
          <p:spPr bwMode="auto">
            <a:xfrm>
              <a:off x="879527" y="3661063"/>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solidFill>
                    <a:srgbClr val="0000FF"/>
                  </a:solidFill>
                  <a:latin typeface="微软雅黑" panose="020B0503020204020204" pitchFamily="34" charset="-122"/>
                  <a:ea typeface="微软雅黑" panose="020B0503020204020204" pitchFamily="34" charset="-122"/>
                </a:rPr>
                <a:t>发送</a:t>
              </a:r>
            </a:p>
          </p:txBody>
        </p:sp>
        <p:sp>
          <p:nvSpPr>
            <p:cNvPr id="22" name="矩形 21"/>
            <p:cNvSpPr/>
            <p:nvPr/>
          </p:nvSpPr>
          <p:spPr>
            <a:xfrm>
              <a:off x="1360860" y="3838192"/>
              <a:ext cx="1809439" cy="21088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4" name="Text Box 7"/>
            <p:cNvSpPr txBox="1">
              <a:spLocks noChangeArrowheads="1"/>
            </p:cNvSpPr>
            <p:nvPr/>
          </p:nvSpPr>
          <p:spPr bwMode="auto">
            <a:xfrm>
              <a:off x="1210804" y="4088220"/>
              <a:ext cx="20938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ARP </a:t>
              </a:r>
              <a:r>
                <a:rPr lang="zh-CN" altLang="en-US" sz="1200" b="1" dirty="0">
                  <a:latin typeface="微软雅黑" panose="020B0503020204020204" pitchFamily="34" charset="-122"/>
                  <a:ea typeface="微软雅黑" panose="020B0503020204020204" pitchFamily="34" charset="-122"/>
                </a:rPr>
                <a:t>分组封装在以太网帧中</a:t>
              </a:r>
            </a:p>
          </p:txBody>
        </p:sp>
        <p:cxnSp>
          <p:nvCxnSpPr>
            <p:cNvPr id="27" name="直接连接符 26"/>
            <p:cNvCxnSpPr/>
            <p:nvPr/>
          </p:nvCxnSpPr>
          <p:spPr>
            <a:xfrm>
              <a:off x="2692720"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矩形 27"/>
            <p:cNvSpPr/>
            <p:nvPr/>
          </p:nvSpPr>
          <p:spPr>
            <a:xfrm>
              <a:off x="2231740" y="3842853"/>
              <a:ext cx="458426" cy="200401"/>
            </a:xfrm>
            <a:prstGeom prst="rect">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9" name="Text Box 7"/>
            <p:cNvSpPr txBox="1">
              <a:spLocks noChangeArrowheads="1"/>
            </p:cNvSpPr>
            <p:nvPr/>
          </p:nvSpPr>
          <p:spPr bwMode="auto">
            <a:xfrm>
              <a:off x="2212586" y="3814225"/>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latin typeface="微软雅黑" panose="020B0503020204020204" pitchFamily="34" charset="-122"/>
                  <a:ea typeface="微软雅黑" panose="020B0503020204020204" pitchFamily="34" charset="-122"/>
                </a:rPr>
                <a:t>数据</a:t>
              </a:r>
            </a:p>
          </p:txBody>
        </p:sp>
        <p:sp>
          <p:nvSpPr>
            <p:cNvPr id="31" name="Text Box 7"/>
            <p:cNvSpPr txBox="1">
              <a:spLocks noChangeArrowheads="1"/>
            </p:cNvSpPr>
            <p:nvPr/>
          </p:nvSpPr>
          <p:spPr bwMode="auto">
            <a:xfrm>
              <a:off x="2701659" y="3821881"/>
              <a:ext cx="46839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FCS</a:t>
              </a:r>
              <a:endParaRPr lang="zh-CN" altLang="en-US" sz="1200" b="1" dirty="0">
                <a:latin typeface="微软雅黑" panose="020B0503020204020204" pitchFamily="34" charset="-122"/>
                <a:ea typeface="微软雅黑" panose="020B0503020204020204" pitchFamily="34" charset="-122"/>
              </a:endParaRPr>
            </a:p>
          </p:txBody>
        </p:sp>
        <p:cxnSp>
          <p:nvCxnSpPr>
            <p:cNvPr id="26" name="直接连接符 25"/>
            <p:cNvCxnSpPr/>
            <p:nvPr/>
          </p:nvCxnSpPr>
          <p:spPr>
            <a:xfrm>
              <a:off x="2233017"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Text Box 7"/>
            <p:cNvSpPr txBox="1">
              <a:spLocks noChangeArrowheads="1"/>
            </p:cNvSpPr>
            <p:nvPr/>
          </p:nvSpPr>
          <p:spPr bwMode="auto">
            <a:xfrm>
              <a:off x="1360268" y="3828871"/>
              <a:ext cx="91382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100" b="1" dirty="0">
                  <a:latin typeface="微软雅黑" panose="020B0503020204020204" pitchFamily="34" charset="-122"/>
                  <a:ea typeface="微软雅黑" panose="020B0503020204020204" pitchFamily="34" charset="-122"/>
                </a:rPr>
                <a:t>以太网首部</a:t>
              </a:r>
            </a:p>
          </p:txBody>
        </p:sp>
      </p:grpSp>
      <p:grpSp>
        <p:nvGrpSpPr>
          <p:cNvPr id="6" name="组合 5"/>
          <p:cNvGrpSpPr/>
          <p:nvPr/>
        </p:nvGrpSpPr>
        <p:grpSpPr>
          <a:xfrm>
            <a:off x="4459616" y="2417791"/>
            <a:ext cx="1269385" cy="1494330"/>
            <a:chOff x="4559975" y="2660411"/>
            <a:chExt cx="1269385" cy="1494330"/>
          </a:xfrm>
        </p:grpSpPr>
        <p:sp>
          <p:nvSpPr>
            <p:cNvPr id="221" name="Text Box 19"/>
            <p:cNvSpPr txBox="1">
              <a:spLocks noChangeArrowheads="1"/>
            </p:cNvSpPr>
            <p:nvPr/>
          </p:nvSpPr>
          <p:spPr bwMode="auto">
            <a:xfrm>
              <a:off x="4883197" y="2660411"/>
              <a:ext cx="776175" cy="307777"/>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defRPr sz="2000" b="1">
                  <a:solidFill>
                    <a:srgbClr val="0000CC"/>
                  </a:solidFill>
                  <a:latin typeface="+mn-lt"/>
                  <a:ea typeface="黑体" pitchFamily="2" charset="-122"/>
                </a:defRPr>
              </a:lvl1pPr>
            </a:lstStyle>
            <a:p>
              <a:r>
                <a:rPr lang="en-US" altLang="zh-CN" sz="1400" dirty="0">
                  <a:solidFill>
                    <a:schemeClr val="tx1"/>
                  </a:solidFill>
                  <a:latin typeface="微软雅黑" pitchFamily="34" charset="-122"/>
                  <a:ea typeface="微软雅黑" pitchFamily="34" charset="-122"/>
                </a:rPr>
                <a:t>IP </a:t>
              </a:r>
              <a:r>
                <a:rPr lang="zh-CN" altLang="en-US" sz="1400" dirty="0">
                  <a:solidFill>
                    <a:schemeClr val="tx1"/>
                  </a:solidFill>
                  <a:latin typeface="微软雅黑" pitchFamily="34" charset="-122"/>
                  <a:ea typeface="微软雅黑" pitchFamily="34" charset="-122"/>
                </a:rPr>
                <a:t>地址</a:t>
              </a:r>
            </a:p>
          </p:txBody>
        </p:sp>
        <p:sp>
          <p:nvSpPr>
            <p:cNvPr id="222" name="Text Box 20"/>
            <p:cNvSpPr txBox="1">
              <a:spLocks noChangeArrowheads="1"/>
            </p:cNvSpPr>
            <p:nvPr/>
          </p:nvSpPr>
          <p:spPr bwMode="auto">
            <a:xfrm>
              <a:off x="4796385" y="3846964"/>
              <a:ext cx="1032975" cy="307777"/>
            </a:xfrm>
            <a:prstGeom prst="rect">
              <a:avLst/>
            </a:prstGeom>
            <a:noFill/>
            <a:ln>
              <a:noFill/>
            </a:ln>
            <a:effectLst/>
            <a:extLst>
              <a:ext uri="{909E8E84-426E-40DD-AFC4-6F175D3DCCD1}">
                <a14:hiddenFill xmlns:a14="http://schemas.microsoft.com/office/drawing/2010/main">
                  <a:solidFill>
                    <a:srgbClr val="FFFF99"/>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MAC </a:t>
              </a:r>
              <a:r>
                <a:rPr lang="zh-CN" altLang="en-US" sz="1400" b="1" dirty="0">
                  <a:latin typeface="微软雅黑" pitchFamily="34" charset="-122"/>
                  <a:ea typeface="微软雅黑" pitchFamily="34" charset="-122"/>
                </a:rPr>
                <a:t>地址</a:t>
              </a:r>
            </a:p>
          </p:txBody>
        </p:sp>
        <p:sp>
          <p:nvSpPr>
            <p:cNvPr id="225" name="Freeform 25"/>
            <p:cNvSpPr>
              <a:spLocks/>
            </p:cNvSpPr>
            <p:nvPr/>
          </p:nvSpPr>
          <p:spPr bwMode="auto">
            <a:xfrm>
              <a:off x="4559975" y="2969864"/>
              <a:ext cx="725528" cy="257878"/>
            </a:xfrm>
            <a:custGeom>
              <a:avLst/>
              <a:gdLst>
                <a:gd name="T0" fmla="*/ 0 w 500"/>
                <a:gd name="T1" fmla="*/ 0 h 203"/>
                <a:gd name="T2" fmla="*/ 497 w 500"/>
                <a:gd name="T3" fmla="*/ 0 h 203"/>
                <a:gd name="T4" fmla="*/ 500 w 500"/>
                <a:gd name="T5" fmla="*/ 203 h 203"/>
              </a:gdLst>
              <a:ahLst/>
              <a:cxnLst>
                <a:cxn ang="0">
                  <a:pos x="T0" y="T1"/>
                </a:cxn>
                <a:cxn ang="0">
                  <a:pos x="T2" y="T3"/>
                </a:cxn>
                <a:cxn ang="0">
                  <a:pos x="T4" y="T5"/>
                </a:cxn>
              </a:cxnLst>
              <a:rect l="0" t="0" r="r" b="b"/>
              <a:pathLst>
                <a:path w="500" h="203">
                  <a:moveTo>
                    <a:pt x="0" y="0"/>
                  </a:moveTo>
                  <a:lnTo>
                    <a:pt x="497" y="0"/>
                  </a:lnTo>
                  <a:lnTo>
                    <a:pt x="500" y="203"/>
                  </a:lnTo>
                </a:path>
              </a:pathLst>
            </a:custGeom>
            <a:noFill/>
            <a:ln w="28575" cmpd="sng">
              <a:solidFill>
                <a:srgbClr val="0000FF"/>
              </a:solidFill>
              <a:round/>
              <a:headEnd type="none" w="med" len="med"/>
              <a:tailEnd type="triangle" w="med" len="med"/>
            </a:ln>
            <a:effectLst/>
          </p:spPr>
          <p:txBody>
            <a:bodyPr/>
            <a:lstStyle/>
            <a:p>
              <a:endParaRPr lang="zh-CN" altLang="en-US" sz="1600" b="1">
                <a:solidFill>
                  <a:srgbClr val="000099"/>
                </a:solidFill>
                <a:latin typeface="微软雅黑" pitchFamily="34" charset="-122"/>
                <a:ea typeface="微软雅黑" pitchFamily="34" charset="-122"/>
              </a:endParaRPr>
            </a:p>
          </p:txBody>
        </p:sp>
        <p:sp>
          <p:nvSpPr>
            <p:cNvPr id="226" name="Line 26"/>
            <p:cNvSpPr>
              <a:spLocks noChangeShapeType="1"/>
            </p:cNvSpPr>
            <p:nvPr/>
          </p:nvSpPr>
          <p:spPr bwMode="auto">
            <a:xfrm>
              <a:off x="5289667" y="3532638"/>
              <a:ext cx="0" cy="31432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grpSp>
    </p:spTree>
    <p:extLst>
      <p:ext uri="{BB962C8B-B14F-4D97-AF65-F5344CB8AC3E}">
        <p14:creationId xmlns:p14="http://schemas.microsoft.com/office/powerpoint/2010/main" val="535776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229"/>
                                        </p:tgtEl>
                                        <p:attrNameLst>
                                          <p:attrName>style.visibility</p:attrName>
                                        </p:attrNameLst>
                                      </p:cBhvr>
                                      <p:to>
                                        <p:strVal val="visible"/>
                                      </p:to>
                                    </p:set>
                                    <p:animEffect transition="in" filter="wipe(up)">
                                      <p:cBhvr>
                                        <p:cTn id="7" dur="1000"/>
                                        <p:tgtEl>
                                          <p:spTgt spid="229"/>
                                        </p:tgtEl>
                                      </p:cBhvr>
                                    </p:animEffect>
                                  </p:childTnLst>
                                </p:cTn>
                              </p:par>
                              <p:par>
                                <p:cTn id="8" presetID="22" presetClass="entr" presetSubtype="1"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up)">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wipe(up)">
                                      <p:cBhvr>
                                        <p:cTn id="15"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9" grpId="0"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2354620" y="569913"/>
            <a:ext cx="445346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1</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 </a:t>
            </a:r>
            <a:r>
              <a:rPr lang="en-US" altLang="zh-CN" sz="2000" b="1" dirty="0">
                <a:solidFill>
                  <a:schemeClr val="bg1"/>
                </a:solidFill>
                <a:latin typeface="微软雅黑" pitchFamily="34" charset="-122"/>
                <a:ea typeface="微软雅黑" pitchFamily="34" charset="-122"/>
              </a:rPr>
              <a:t>(ARP cache)</a:t>
            </a:r>
            <a:endParaRPr lang="zh-CN" altLang="en-US" sz="2000" b="1" dirty="0">
              <a:solidFill>
                <a:schemeClr val="bg1"/>
              </a:solidFill>
              <a:latin typeface="微软雅黑" pitchFamily="34" charset="-122"/>
              <a:ea typeface="微软雅黑" pitchFamily="34" charset="-122"/>
            </a:endParaRPr>
          </a:p>
        </p:txBody>
      </p:sp>
      <p:sp>
        <p:nvSpPr>
          <p:cNvPr id="67" name="Rectangle 68"/>
          <p:cNvSpPr>
            <a:spLocks noChangeArrowheads="1"/>
          </p:cNvSpPr>
          <p:nvPr/>
        </p:nvSpPr>
        <p:spPr bwMode="auto">
          <a:xfrm>
            <a:off x="448327" y="958787"/>
            <a:ext cx="8306380" cy="122084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8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ARP </a:t>
            </a:r>
            <a:r>
              <a:rPr lang="zh-CN" altLang="en-US" sz="2000" b="1" dirty="0">
                <a:solidFill>
                  <a:srgbClr val="C00000"/>
                </a:solidFill>
                <a:latin typeface="微软雅黑" pitchFamily="34" charset="-122"/>
                <a:ea typeface="微软雅黑" pitchFamily="34" charset="-122"/>
              </a:rPr>
              <a:t>高速缓存 </a:t>
            </a:r>
            <a:r>
              <a:rPr lang="en-US" altLang="zh-CN" sz="2000" b="1" dirty="0">
                <a:latin typeface="微软雅黑" pitchFamily="34" charset="-122"/>
                <a:ea typeface="微软雅黑" pitchFamily="34" charset="-122"/>
              </a:rPr>
              <a:t>(ARP cache)</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存放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地址的映射表。</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映射表动态更新（新增或超时删除）。</a:t>
            </a:r>
          </a:p>
        </p:txBody>
      </p:sp>
      <p:sp>
        <p:nvSpPr>
          <p:cNvPr id="84" name="Rectangle 4"/>
          <p:cNvSpPr>
            <a:spLocks noChangeArrowheads="1"/>
          </p:cNvSpPr>
          <p:nvPr/>
        </p:nvSpPr>
        <p:spPr bwMode="auto">
          <a:xfrm>
            <a:off x="1802552" y="2183603"/>
            <a:ext cx="6627740" cy="369332"/>
          </a:xfrm>
          <a:prstGeom prst="rect">
            <a:avLst/>
          </a:prstGeom>
          <a:solidFill>
            <a:srgbClr val="00FFFF"/>
          </a:solidFill>
          <a:ln w="12700">
            <a:solidFill>
              <a:schemeClr val="tx1"/>
            </a:solidFill>
          </a:ln>
          <a:effectLst/>
        </p:spPr>
        <p:txBody>
          <a:bodyPr wrap="square">
            <a:spAutoFit/>
          </a:bodyPr>
          <a:lstStyle/>
          <a:p>
            <a:pPr algn="ctr"/>
            <a:r>
              <a:rPr kumimoji="0" lang="en-US" altLang="zh-CN" b="1" dirty="0">
                <a:solidFill>
                  <a:srgbClr val="0000CC"/>
                </a:solidFill>
                <a:latin typeface="微软雅黑" pitchFamily="34" charset="-122"/>
                <a:ea typeface="微软雅黑" pitchFamily="34" charset="-122"/>
              </a:rPr>
              <a:t>&lt; IP </a:t>
            </a:r>
            <a:r>
              <a:rPr lang="zh-CN" altLang="en-US" b="1" dirty="0">
                <a:solidFill>
                  <a:srgbClr val="0000CC"/>
                </a:solidFill>
                <a:latin typeface="微软雅黑" pitchFamily="34" charset="-122"/>
                <a:ea typeface="微软雅黑" pitchFamily="34" charset="-122"/>
              </a:rPr>
              <a:t>地址</a:t>
            </a:r>
            <a:r>
              <a:rPr kumimoji="0" lang="zh-CN" altLang="en-US" b="1" dirty="0">
                <a:solidFill>
                  <a:srgbClr val="0000CC"/>
                </a:solidFill>
                <a:latin typeface="微软雅黑" pitchFamily="34" charset="-122"/>
                <a:ea typeface="微软雅黑" pitchFamily="34" charset="-122"/>
              </a:rPr>
              <a:t>；</a:t>
            </a:r>
            <a:r>
              <a:rPr kumimoji="0" lang="en-US" altLang="zh-CN" b="1" dirty="0">
                <a:solidFill>
                  <a:srgbClr val="0000CC"/>
                </a:solidFill>
                <a:latin typeface="微软雅黑" pitchFamily="34" charset="-122"/>
                <a:ea typeface="微软雅黑" pitchFamily="34" charset="-122"/>
              </a:rPr>
              <a:t>MAC </a:t>
            </a:r>
            <a:r>
              <a:rPr kumimoji="0" lang="zh-CN" altLang="en-US" b="1" dirty="0">
                <a:solidFill>
                  <a:srgbClr val="0000CC"/>
                </a:solidFill>
                <a:latin typeface="微软雅黑" pitchFamily="34" charset="-122"/>
                <a:ea typeface="微软雅黑" pitchFamily="34" charset="-122"/>
              </a:rPr>
              <a:t>地址</a:t>
            </a:r>
            <a:r>
              <a:rPr lang="zh-CN" altLang="en-US" b="1" dirty="0">
                <a:solidFill>
                  <a:srgbClr val="0000CC"/>
                </a:solidFill>
                <a:latin typeface="微软雅黑" pitchFamily="34" charset="-122"/>
                <a:ea typeface="微软雅黑" pitchFamily="34" charset="-122"/>
              </a:rPr>
              <a:t>；生存时间 </a:t>
            </a:r>
            <a:r>
              <a:rPr lang="en-US" altLang="zh-CN" b="1" dirty="0">
                <a:solidFill>
                  <a:srgbClr val="0000CC"/>
                </a:solidFill>
                <a:latin typeface="微软雅黑" pitchFamily="34" charset="-122"/>
                <a:ea typeface="微软雅黑" pitchFamily="34" charset="-122"/>
              </a:rPr>
              <a:t>(Age)</a:t>
            </a:r>
            <a:r>
              <a:rPr lang="zh-CN" altLang="en-US" b="1" dirty="0">
                <a:solidFill>
                  <a:srgbClr val="0000CC"/>
                </a:solidFill>
                <a:latin typeface="微软雅黑" pitchFamily="34" charset="-122"/>
                <a:ea typeface="微软雅黑" pitchFamily="34" charset="-122"/>
              </a:rPr>
              <a:t>；</a:t>
            </a:r>
            <a:r>
              <a:rPr kumimoji="0" lang="zh-CN" altLang="en-US" b="1" dirty="0">
                <a:solidFill>
                  <a:srgbClr val="0000CC"/>
                </a:solidFill>
                <a:latin typeface="微软雅黑" pitchFamily="34" charset="-122"/>
                <a:ea typeface="微软雅黑" pitchFamily="34" charset="-122"/>
              </a:rPr>
              <a:t>类型等</a:t>
            </a:r>
            <a:r>
              <a:rPr kumimoji="0" lang="en-US" altLang="zh-CN" b="1" dirty="0">
                <a:solidFill>
                  <a:srgbClr val="0000CC"/>
                </a:solidFill>
                <a:latin typeface="微软雅黑" pitchFamily="34" charset="-122"/>
                <a:ea typeface="微软雅黑" pitchFamily="34" charset="-122"/>
              </a:rPr>
              <a:t> &gt;</a:t>
            </a:r>
          </a:p>
        </p:txBody>
      </p:sp>
      <p:graphicFrame>
        <p:nvGraphicFramePr>
          <p:cNvPr id="3" name="表格 2"/>
          <p:cNvGraphicFramePr>
            <a:graphicFrameLocks noGrp="1"/>
          </p:cNvGraphicFramePr>
          <p:nvPr>
            <p:extLst>
              <p:ext uri="{D42A27DB-BD31-4B8C-83A1-F6EECF244321}">
                <p14:modId xmlns:p14="http://schemas.microsoft.com/office/powerpoint/2010/main" val="219214929"/>
              </p:ext>
            </p:extLst>
          </p:nvPr>
        </p:nvGraphicFramePr>
        <p:xfrm>
          <a:off x="1026530" y="2592094"/>
          <a:ext cx="6924198" cy="1483360"/>
        </p:xfrm>
        <a:graphic>
          <a:graphicData uri="http://schemas.openxmlformats.org/drawingml/2006/table">
            <a:tbl>
              <a:tblPr firstRow="1" bandRow="1">
                <a:tableStyleId>{5C22544A-7EE6-4342-B048-85BDC9FD1C3A}</a:tableStyleId>
              </a:tblPr>
              <a:tblGrid>
                <a:gridCol w="1286217">
                  <a:extLst>
                    <a:ext uri="{9D8B030D-6E8A-4147-A177-3AD203B41FA5}">
                      <a16:colId xmlns:a16="http://schemas.microsoft.com/office/drawing/2014/main" val="2806046851"/>
                    </a:ext>
                  </a:extLst>
                </a:gridCol>
                <a:gridCol w="2073784">
                  <a:extLst>
                    <a:ext uri="{9D8B030D-6E8A-4147-A177-3AD203B41FA5}">
                      <a16:colId xmlns:a16="http://schemas.microsoft.com/office/drawing/2014/main" val="2108766633"/>
                    </a:ext>
                  </a:extLst>
                </a:gridCol>
                <a:gridCol w="1565357">
                  <a:extLst>
                    <a:ext uri="{9D8B030D-6E8A-4147-A177-3AD203B41FA5}">
                      <a16:colId xmlns:a16="http://schemas.microsoft.com/office/drawing/2014/main" val="2463580703"/>
                    </a:ext>
                  </a:extLst>
                </a:gridCol>
                <a:gridCol w="1228203">
                  <a:extLst>
                    <a:ext uri="{9D8B030D-6E8A-4147-A177-3AD203B41FA5}">
                      <a16:colId xmlns:a16="http://schemas.microsoft.com/office/drawing/2014/main" val="2395055679"/>
                    </a:ext>
                  </a:extLst>
                </a:gridCol>
                <a:gridCol w="770637">
                  <a:extLst>
                    <a:ext uri="{9D8B030D-6E8A-4147-A177-3AD203B41FA5}">
                      <a16:colId xmlns:a16="http://schemas.microsoft.com/office/drawing/2014/main" val="949142939"/>
                    </a:ext>
                  </a:extLst>
                </a:gridCol>
              </a:tblGrid>
              <a:tr h="370840">
                <a:tc>
                  <a:txBody>
                    <a:bodyPr/>
                    <a:lstStyle/>
                    <a:p>
                      <a:pPr algn="ct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生存时间 </a:t>
                      </a:r>
                      <a:r>
                        <a:rPr lang="en-US" altLang="zh-CN" sz="1600" b="1" dirty="0">
                          <a:latin typeface="微软雅黑" panose="020B0503020204020204" pitchFamily="34" charset="-122"/>
                          <a:ea typeface="微软雅黑" panose="020B0503020204020204" pitchFamily="34" charset="-122"/>
                        </a:rPr>
                        <a:t>(Age)</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类型</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其他</a:t>
                      </a:r>
                    </a:p>
                  </a:txBody>
                  <a:tcPr anchor="ctr"/>
                </a:tc>
                <a:extLst>
                  <a:ext uri="{0D108BD9-81ED-4DB2-BD59-A6C34878D82A}">
                    <a16:rowId xmlns:a16="http://schemas.microsoft.com/office/drawing/2014/main" val="3622401503"/>
                  </a:ext>
                </a:extLst>
              </a:tr>
              <a:tr h="370840">
                <a:tc>
                  <a:txBody>
                    <a:bodyPr/>
                    <a:lstStyle/>
                    <a:p>
                      <a:r>
                        <a:rPr lang="en-US" altLang="zh-CN" sz="1600" b="1" dirty="0">
                          <a:latin typeface="微软雅黑" panose="020B0503020204020204" pitchFamily="34" charset="-122"/>
                          <a:ea typeface="微软雅黑" panose="020B0503020204020204" pitchFamily="34" charset="-122"/>
                        </a:rPr>
                        <a:t>10.4.9.2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0030.7131.abfc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00:08:55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4025832959"/>
                  </a:ext>
                </a:extLst>
              </a:tr>
              <a:tr h="370840">
                <a:tc>
                  <a:txBody>
                    <a:bodyPr/>
                    <a:lstStyle/>
                    <a:p>
                      <a:r>
                        <a:rPr lang="en-US" altLang="zh-CN" sz="1600" b="1" dirty="0">
                          <a:latin typeface="微软雅黑" panose="020B0503020204020204" pitchFamily="34" charset="-122"/>
                          <a:ea typeface="微软雅黑" panose="020B0503020204020204" pitchFamily="34" charset="-122"/>
                        </a:rPr>
                        <a:t>10.4.9.1</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0000.0c07.ac24</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00:02:55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899956322"/>
                  </a:ext>
                </a:extLst>
              </a:tr>
              <a:tr h="370840">
                <a:tc>
                  <a:txBody>
                    <a:bodyPr/>
                    <a:lstStyle/>
                    <a:p>
                      <a:r>
                        <a:rPr lang="en-US" altLang="zh-CN" sz="1600" b="1" dirty="0">
                          <a:latin typeface="微软雅黑" panose="020B0503020204020204" pitchFamily="34" charset="-122"/>
                          <a:ea typeface="微软雅黑" panose="020B0503020204020204" pitchFamily="34" charset="-122"/>
                        </a:rPr>
                        <a:t>10.4.9.99</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0007.ebea.44d0 </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00:06:12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2031722197"/>
                  </a:ext>
                </a:extLst>
              </a:tr>
            </a:tbl>
          </a:graphicData>
        </a:graphic>
      </p:graphicFrame>
      <p:sp>
        <p:nvSpPr>
          <p:cNvPr id="4" name="矩形 3"/>
          <p:cNvSpPr/>
          <p:nvPr/>
        </p:nvSpPr>
        <p:spPr>
          <a:xfrm>
            <a:off x="933809" y="4127607"/>
            <a:ext cx="7109639" cy="369332"/>
          </a:xfrm>
          <a:prstGeom prst="rect">
            <a:avLst/>
          </a:prstGeom>
        </p:spPr>
        <p:style>
          <a:lnRef idx="1">
            <a:schemeClr val="accent2"/>
          </a:lnRef>
          <a:fillRef idx="3">
            <a:schemeClr val="accent2"/>
          </a:fillRef>
          <a:effectRef idx="2">
            <a:schemeClr val="accent2"/>
          </a:effectRef>
          <a:fontRef idx="minor">
            <a:schemeClr val="lt1"/>
          </a:fontRef>
        </p:style>
        <p:txBody>
          <a:bodyPr wrap="none">
            <a:spAutoFit/>
          </a:bodyPr>
          <a:lstStyle/>
          <a:p>
            <a:r>
              <a:rPr lang="zh-CN" altLang="en-US" b="1" dirty="0">
                <a:solidFill>
                  <a:srgbClr val="FFFF00"/>
                </a:solidFill>
                <a:latin typeface="微软雅黑" panose="020B0503020204020204" pitchFamily="34" charset="-122"/>
                <a:ea typeface="微软雅黑" panose="020B0503020204020204" pitchFamily="34" charset="-122"/>
              </a:rPr>
              <a:t>超过生存时间</a:t>
            </a:r>
            <a:r>
              <a:rPr lang="zh-CN" altLang="en-US" b="1" dirty="0">
                <a:latin typeface="微软雅黑" panose="020B0503020204020204" pitchFamily="34" charset="-122"/>
                <a:ea typeface="微软雅黑" panose="020B0503020204020204" pitchFamily="34" charset="-122"/>
              </a:rPr>
              <a:t>的项目都从高速缓存中删除，以适应网络适配器变化。</a:t>
            </a:r>
          </a:p>
        </p:txBody>
      </p:sp>
      <p:sp>
        <p:nvSpPr>
          <p:cNvPr id="5" name="矩形 4"/>
          <p:cNvSpPr/>
          <p:nvPr/>
        </p:nvSpPr>
        <p:spPr>
          <a:xfrm>
            <a:off x="843764" y="2170609"/>
            <a:ext cx="877163"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映射表</a:t>
            </a:r>
          </a:p>
        </p:txBody>
      </p:sp>
    </p:spTree>
    <p:extLst>
      <p:ext uri="{BB962C8B-B14F-4D97-AF65-F5344CB8AC3E}">
        <p14:creationId xmlns:p14="http://schemas.microsoft.com/office/powerpoint/2010/main" val="9809236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3421418" y="569913"/>
            <a:ext cx="231986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2</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工作</a:t>
            </a:r>
          </a:p>
        </p:txBody>
      </p:sp>
      <p:sp>
        <p:nvSpPr>
          <p:cNvPr id="9" name="Rectangle 68"/>
          <p:cNvSpPr>
            <a:spLocks noChangeArrowheads="1"/>
          </p:cNvSpPr>
          <p:nvPr/>
        </p:nvSpPr>
        <p:spPr bwMode="auto">
          <a:xfrm>
            <a:off x="448327" y="945279"/>
            <a:ext cx="8306380" cy="51552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欲向</a:t>
            </a:r>
            <a:r>
              <a:rPr lang="zh-CN" altLang="en-US" sz="2000" b="1" dirty="0">
                <a:solidFill>
                  <a:srgbClr val="C00000"/>
                </a:solidFill>
                <a:latin typeface="微软雅黑" pitchFamily="34" charset="-122"/>
                <a:ea typeface="微软雅黑" pitchFamily="34" charset="-122"/>
              </a:rPr>
              <a:t>本局域网上</a:t>
            </a:r>
            <a:r>
              <a:rPr lang="zh-CN" altLang="en-US" sz="2000" b="1" dirty="0">
                <a:latin typeface="微软雅黑" pitchFamily="34" charset="-122"/>
                <a:ea typeface="微软雅黑" pitchFamily="34" charset="-122"/>
              </a:rPr>
              <a:t>的某个主机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发送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数据报时：</a:t>
            </a:r>
          </a:p>
        </p:txBody>
      </p:sp>
      <p:sp>
        <p:nvSpPr>
          <p:cNvPr id="2" name="矩形 1"/>
          <p:cNvSpPr/>
          <p:nvPr/>
        </p:nvSpPr>
        <p:spPr>
          <a:xfrm>
            <a:off x="2242713" y="1399251"/>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在其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查找主机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IP </a:t>
            </a:r>
            <a:r>
              <a:rPr lang="zh-CN" altLang="en-US" sz="1400" b="1" dirty="0">
                <a:latin typeface="微软雅黑" panose="020B0503020204020204" pitchFamily="34" charset="-122"/>
                <a:ea typeface="微软雅黑" panose="020B0503020204020204" pitchFamily="34" charset="-122"/>
              </a:rPr>
              <a:t>地址</a:t>
            </a:r>
          </a:p>
        </p:txBody>
      </p:sp>
      <p:sp>
        <p:nvSpPr>
          <p:cNvPr id="3" name="菱形 2"/>
          <p:cNvSpPr/>
          <p:nvPr/>
        </p:nvSpPr>
        <p:spPr>
          <a:xfrm>
            <a:off x="2449393" y="2112758"/>
            <a:ext cx="2054268" cy="469625"/>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找到？</a:t>
            </a:r>
          </a:p>
        </p:txBody>
      </p:sp>
      <p:sp>
        <p:nvSpPr>
          <p:cNvPr id="7" name="矩形 6"/>
          <p:cNvSpPr/>
          <p:nvPr/>
        </p:nvSpPr>
        <p:spPr>
          <a:xfrm>
            <a:off x="2242713" y="2776294"/>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取出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p>
        </p:txBody>
      </p:sp>
      <p:sp>
        <p:nvSpPr>
          <p:cNvPr id="8" name="矩形 7"/>
          <p:cNvSpPr/>
          <p:nvPr/>
        </p:nvSpPr>
        <p:spPr>
          <a:xfrm>
            <a:off x="2242713" y="349265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将该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地址写入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帧的目的地址</a:t>
            </a:r>
          </a:p>
        </p:txBody>
      </p:sp>
      <p:sp>
        <p:nvSpPr>
          <p:cNvPr id="10" name="矩形 9"/>
          <p:cNvSpPr/>
          <p:nvPr/>
        </p:nvSpPr>
        <p:spPr>
          <a:xfrm>
            <a:off x="2242713" y="420901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发送该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a:t>
            </a:r>
          </a:p>
        </p:txBody>
      </p:sp>
      <p:cxnSp>
        <p:nvCxnSpPr>
          <p:cNvPr id="5" name="直接箭头连接符 4"/>
          <p:cNvCxnSpPr>
            <a:stCxn id="2" idx="2"/>
            <a:endCxn id="3" idx="0"/>
          </p:cNvCxnSpPr>
          <p:nvPr/>
        </p:nvCxnSpPr>
        <p:spPr>
          <a:xfrm>
            <a:off x="3476527" y="1899503"/>
            <a:ext cx="0" cy="213255"/>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p:cNvCxnSpPr>
            <a:stCxn id="3" idx="2"/>
            <a:endCxn id="7" idx="0"/>
          </p:cNvCxnSpPr>
          <p:nvPr/>
        </p:nvCxnSpPr>
        <p:spPr>
          <a:xfrm>
            <a:off x="3476527" y="2582383"/>
            <a:ext cx="0" cy="193911"/>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7" idx="2"/>
            <a:endCxn id="8" idx="0"/>
          </p:cNvCxnSpPr>
          <p:nvPr/>
        </p:nvCxnSpPr>
        <p:spPr>
          <a:xfrm>
            <a:off x="3476527" y="3276546"/>
            <a:ext cx="0" cy="216109"/>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a:stCxn id="8" idx="2"/>
            <a:endCxn id="10" idx="0"/>
          </p:cNvCxnSpPr>
          <p:nvPr/>
        </p:nvCxnSpPr>
        <p:spPr>
          <a:xfrm>
            <a:off x="3476527" y="3992907"/>
            <a:ext cx="0" cy="216108"/>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0" name="文本框 19"/>
          <p:cNvSpPr txBox="1"/>
          <p:nvPr/>
        </p:nvSpPr>
        <p:spPr>
          <a:xfrm>
            <a:off x="3038116" y="2518640"/>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是</a:t>
            </a:r>
          </a:p>
        </p:txBody>
      </p:sp>
      <p:sp>
        <p:nvSpPr>
          <p:cNvPr id="25" name="矩形 24"/>
          <p:cNvSpPr/>
          <p:nvPr/>
        </p:nvSpPr>
        <p:spPr>
          <a:xfrm>
            <a:off x="5299064" y="1899503"/>
            <a:ext cx="2467628" cy="896135"/>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自动运行 </a:t>
            </a:r>
            <a:r>
              <a:rPr lang="en-US" altLang="zh-CN" sz="1400" b="1" dirty="0">
                <a:latin typeface="微软雅黑" panose="020B0503020204020204" pitchFamily="34" charset="-122"/>
                <a:ea typeface="微软雅黑" panose="020B0503020204020204" pitchFamily="34" charset="-122"/>
              </a:rPr>
              <a:t>ARP</a:t>
            </a:r>
            <a:r>
              <a:rPr lang="zh-CN" altLang="en-US" sz="1400" b="1" dirty="0">
                <a:latin typeface="微软雅黑" panose="020B0503020204020204" pitchFamily="34" charset="-122"/>
                <a:ea typeface="微软雅黑" panose="020B0503020204020204" pitchFamily="34" charset="-122"/>
              </a:rPr>
              <a:t>，找出主机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cxnSp>
        <p:nvCxnSpPr>
          <p:cNvPr id="26" name="直接箭头连接符 25"/>
          <p:cNvCxnSpPr>
            <a:stCxn id="3" idx="3"/>
            <a:endCxn id="25" idx="1"/>
          </p:cNvCxnSpPr>
          <p:nvPr/>
        </p:nvCxnSpPr>
        <p:spPr>
          <a:xfrm>
            <a:off x="4503661" y="2347571"/>
            <a:ext cx="795403" cy="0"/>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9" name="肘形连接符 28"/>
          <p:cNvCxnSpPr>
            <a:stCxn id="25" idx="2"/>
          </p:cNvCxnSpPr>
          <p:nvPr/>
        </p:nvCxnSpPr>
        <p:spPr>
          <a:xfrm rot="5400000">
            <a:off x="4724819" y="1559873"/>
            <a:ext cx="572294" cy="3043824"/>
          </a:xfrm>
          <a:prstGeom prst="bentConnector2">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p:cNvSpPr txBox="1"/>
          <p:nvPr/>
        </p:nvSpPr>
        <p:spPr>
          <a:xfrm>
            <a:off x="4400321" y="2110088"/>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否</a:t>
            </a:r>
          </a:p>
        </p:txBody>
      </p:sp>
    </p:spTree>
    <p:extLst>
      <p:ext uri="{BB962C8B-B14F-4D97-AF65-F5344CB8AC3E}">
        <p14:creationId xmlns:p14="http://schemas.microsoft.com/office/powerpoint/2010/main" val="3461840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1967954" y="569913"/>
            <a:ext cx="522681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3</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地址对应的 </a:t>
            </a:r>
            <a:r>
              <a:rPr lang="en-US" altLang="zh-CN" sz="2000" b="1" dirty="0">
                <a:solidFill>
                  <a:schemeClr val="bg1"/>
                </a:solidFill>
                <a:latin typeface="微软雅黑" pitchFamily="34" charset="-122"/>
                <a:ea typeface="微软雅黑" pitchFamily="34" charset="-122"/>
              </a:rPr>
              <a:t>MAC</a:t>
            </a:r>
            <a:r>
              <a:rPr lang="zh-CN" altLang="en-US" sz="2000" b="1" dirty="0">
                <a:solidFill>
                  <a:schemeClr val="bg1"/>
                </a:solidFill>
                <a:latin typeface="微软雅黑" pitchFamily="34" charset="-122"/>
                <a:ea typeface="微软雅黑" pitchFamily="34" charset="-122"/>
              </a:rPr>
              <a:t>地址</a:t>
            </a:r>
          </a:p>
        </p:txBody>
      </p:sp>
      <p:sp>
        <p:nvSpPr>
          <p:cNvPr id="22" name="Rectangle 68"/>
          <p:cNvSpPr>
            <a:spLocks noChangeArrowheads="1"/>
          </p:cNvSpPr>
          <p:nvPr/>
        </p:nvSpPr>
        <p:spPr bwMode="auto">
          <a:xfrm>
            <a:off x="448327" y="960417"/>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本局域网上广播发送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a:t>
            </a:r>
            <a:r>
              <a:rPr lang="zh-CN" altLang="en-US" sz="2000" b="1" dirty="0">
                <a:latin typeface="微软雅黑" pitchFamily="34" charset="-122"/>
                <a:ea typeface="微软雅黑" pitchFamily="34" charset="-122"/>
              </a:rPr>
              <a:t>（路由器不转发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未知时填 </a:t>
            </a:r>
            <a:r>
              <a:rPr lang="en-US" altLang="zh-CN" sz="2000" b="1" dirty="0">
                <a:latin typeface="微软雅黑" pitchFamily="34" charset="-122"/>
                <a:ea typeface="微软雅黑" pitchFamily="34" charset="-122"/>
              </a:rPr>
              <a:t>0) /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zh-CN" altLang="zh-CN" sz="2000" b="1" dirty="0">
                <a:solidFill>
                  <a:srgbClr val="C00000"/>
                </a:solidFill>
                <a:latin typeface="微软雅黑" pitchFamily="34" charset="-122"/>
                <a:ea typeface="微软雅黑" pitchFamily="34" charset="-122"/>
              </a:rPr>
              <a:t>单播</a:t>
            </a:r>
            <a:r>
              <a:rPr lang="en-US" altLang="zh-CN" sz="2000" b="1" dirty="0">
                <a:solidFill>
                  <a:srgbClr val="C00000"/>
                </a:solidFill>
                <a:latin typeface="微软雅黑" pitchFamily="34" charset="-122"/>
                <a:ea typeface="微软雅黑" pitchFamily="34" charset="-122"/>
              </a:rPr>
              <a:t>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响应分组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分组封装在以太网帧中传输。</a:t>
            </a:r>
          </a:p>
        </p:txBody>
      </p:sp>
    </p:spTree>
    <p:extLst>
      <p:ext uri="{BB962C8B-B14F-4D97-AF65-F5344CB8AC3E}">
        <p14:creationId xmlns:p14="http://schemas.microsoft.com/office/powerpoint/2010/main" val="23763278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606582"/>
            <a:ext cx="8048776" cy="3797829"/>
          </a:xfrm>
          <a:prstGeom prst="roundRect">
            <a:avLst/>
          </a:prstGeom>
          <a:solidFill>
            <a:srgbClr val="C5E5FB"/>
          </a:solidFill>
          <a:ln w="38100">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Line 74"/>
          <p:cNvSpPr>
            <a:spLocks noChangeShapeType="1"/>
          </p:cNvSpPr>
          <p:nvPr/>
        </p:nvSpPr>
        <p:spPr bwMode="auto">
          <a:xfrm rot="5400000">
            <a:off x="3363448"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6" name="Line 75"/>
          <p:cNvSpPr>
            <a:spLocks noChangeShapeType="1"/>
          </p:cNvSpPr>
          <p:nvPr/>
        </p:nvSpPr>
        <p:spPr bwMode="auto">
          <a:xfrm rot="5400000">
            <a:off x="4687066" y="3619861"/>
            <a:ext cx="357050"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7" name="Line 76"/>
          <p:cNvSpPr>
            <a:spLocks noChangeShapeType="1"/>
          </p:cNvSpPr>
          <p:nvPr/>
        </p:nvSpPr>
        <p:spPr bwMode="auto">
          <a:xfrm rot="5400000">
            <a:off x="5825021"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8" name="Line 77"/>
          <p:cNvSpPr>
            <a:spLocks noChangeShapeType="1"/>
          </p:cNvSpPr>
          <p:nvPr/>
        </p:nvSpPr>
        <p:spPr bwMode="auto">
          <a:xfrm rot="5400000">
            <a:off x="7166844"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9" name="Line 78"/>
          <p:cNvSpPr>
            <a:spLocks noChangeShapeType="1"/>
          </p:cNvSpPr>
          <p:nvPr/>
        </p:nvSpPr>
        <p:spPr bwMode="auto">
          <a:xfrm rot="5400000">
            <a:off x="2504347" y="3625155"/>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rot="5400000">
            <a:off x="4671827" y="1830533"/>
            <a:ext cx="357049"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rot="5400000">
            <a:off x="5809783"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Line 10"/>
          <p:cNvSpPr>
            <a:spLocks noChangeShapeType="1"/>
          </p:cNvSpPr>
          <p:nvPr/>
        </p:nvSpPr>
        <p:spPr bwMode="auto">
          <a:xfrm rot="5400000">
            <a:off x="7151605"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Line 11"/>
          <p:cNvSpPr>
            <a:spLocks noChangeShapeType="1"/>
          </p:cNvSpPr>
          <p:nvPr/>
        </p:nvSpPr>
        <p:spPr bwMode="auto">
          <a:xfrm rot="5400000">
            <a:off x="24891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166706" y="1657784"/>
            <a:ext cx="5637326"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Text Box 56"/>
          <p:cNvSpPr txBox="1">
            <a:spLocks noChangeArrowheads="1"/>
          </p:cNvSpPr>
          <p:nvPr/>
        </p:nvSpPr>
        <p:spPr bwMode="auto">
          <a:xfrm>
            <a:off x="5961762" y="17290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80" name="组合 79"/>
          <p:cNvGrpSpPr/>
          <p:nvPr/>
        </p:nvGrpSpPr>
        <p:grpSpPr>
          <a:xfrm>
            <a:off x="2456122" y="3717885"/>
            <a:ext cx="5040745" cy="404587"/>
            <a:chOff x="2456122" y="1949511"/>
            <a:chExt cx="5040745" cy="404587"/>
          </a:xfrm>
        </p:grpSpPr>
        <p:pic>
          <p:nvPicPr>
            <p:cNvPr id="8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94"/>
          <p:cNvGrpSpPr>
            <a:grpSpLocks/>
          </p:cNvGrpSpPr>
          <p:nvPr/>
        </p:nvGrpSpPr>
        <p:grpSpPr bwMode="auto">
          <a:xfrm>
            <a:off x="4600771" y="3089097"/>
            <a:ext cx="1044683" cy="277171"/>
            <a:chOff x="249" y="627"/>
            <a:chExt cx="1002" cy="288"/>
          </a:xfrm>
          <a:solidFill>
            <a:srgbClr val="00FFFF"/>
          </a:solidFill>
        </p:grpSpPr>
        <p:sp>
          <p:nvSpPr>
            <p:cNvPr id="8"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10" name="Line 7"/>
          <p:cNvSpPr>
            <a:spLocks noChangeShapeType="1"/>
          </p:cNvSpPr>
          <p:nvPr/>
        </p:nvSpPr>
        <p:spPr bwMode="auto">
          <a:xfrm rot="5400000">
            <a:off x="33482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 name="Text Box 17"/>
          <p:cNvSpPr txBox="1">
            <a:spLocks noChangeArrowheads="1"/>
          </p:cNvSpPr>
          <p:nvPr/>
        </p:nvSpPr>
        <p:spPr bwMode="auto">
          <a:xfrm>
            <a:off x="3656578" y="19676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21" name="Text Box 18"/>
          <p:cNvSpPr txBox="1">
            <a:spLocks noChangeArrowheads="1"/>
          </p:cNvSpPr>
          <p:nvPr/>
        </p:nvSpPr>
        <p:spPr bwMode="auto">
          <a:xfrm>
            <a:off x="496295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22" name="Text Box 19"/>
          <p:cNvSpPr txBox="1">
            <a:spLocks noChangeArrowheads="1"/>
          </p:cNvSpPr>
          <p:nvPr/>
        </p:nvSpPr>
        <p:spPr bwMode="auto">
          <a:xfrm>
            <a:off x="2784965" y="1892609"/>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23" name="Text Box 20"/>
          <p:cNvSpPr txBox="1">
            <a:spLocks noChangeArrowheads="1"/>
          </p:cNvSpPr>
          <p:nvPr/>
        </p:nvSpPr>
        <p:spPr bwMode="auto">
          <a:xfrm>
            <a:off x="6105639" y="19676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24" name="Text Box 21"/>
          <p:cNvSpPr txBox="1">
            <a:spLocks noChangeArrowheads="1"/>
          </p:cNvSpPr>
          <p:nvPr/>
        </p:nvSpPr>
        <p:spPr bwMode="auto">
          <a:xfrm>
            <a:off x="745163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25" name="Text Box 45"/>
          <p:cNvSpPr txBox="1">
            <a:spLocks noChangeArrowheads="1"/>
          </p:cNvSpPr>
          <p:nvPr/>
        </p:nvSpPr>
        <p:spPr bwMode="auto">
          <a:xfrm>
            <a:off x="831848" y="2597710"/>
            <a:ext cx="2159566"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B </a:t>
            </a:r>
            <a:r>
              <a:rPr kumimoji="1" lang="zh-CN" altLang="en-US" sz="1600" b="1" dirty="0">
                <a:solidFill>
                  <a:srgbClr val="0000FF"/>
                </a:solidFill>
                <a:latin typeface="微软雅黑" pitchFamily="34" charset="-122"/>
                <a:ea typeface="微软雅黑" pitchFamily="34" charset="-122"/>
              </a:rPr>
              <a:t>向 </a:t>
            </a:r>
            <a:r>
              <a:rPr kumimoji="1" lang="en-US" altLang="zh-CN" sz="1600" b="1" dirty="0">
                <a:solidFill>
                  <a:srgbClr val="0000FF"/>
                </a:solidFill>
                <a:latin typeface="微软雅黑" pitchFamily="34" charset="-122"/>
                <a:ea typeface="微软雅黑" pitchFamily="34" charset="-122"/>
              </a:rPr>
              <a:t>A </a:t>
            </a:r>
            <a:r>
              <a:rPr kumimoji="1" lang="zh-CN" altLang="en-US" sz="1600" b="1" dirty="0">
                <a:solidFill>
                  <a:srgbClr val="C00000"/>
                </a:solidFill>
                <a:latin typeface="微软雅黑" pitchFamily="34" charset="-122"/>
                <a:ea typeface="微软雅黑" pitchFamily="34" charset="-122"/>
              </a:rPr>
              <a:t>单播</a:t>
            </a:r>
            <a:r>
              <a:rPr kumimoji="1" lang="zh-CN" altLang="en-US" sz="1600" b="1" dirty="0">
                <a:solidFill>
                  <a:srgbClr val="0000FF"/>
                </a:solidFill>
                <a:latin typeface="微软雅黑" pitchFamily="34" charset="-122"/>
                <a:ea typeface="微软雅黑" pitchFamily="34" charset="-122"/>
              </a:rPr>
              <a:t>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响应分组 </a:t>
            </a:r>
          </a:p>
        </p:txBody>
      </p:sp>
      <p:sp>
        <p:nvSpPr>
          <p:cNvPr id="26" name="Text Box 46"/>
          <p:cNvSpPr txBox="1">
            <a:spLocks noChangeArrowheads="1"/>
          </p:cNvSpPr>
          <p:nvPr/>
        </p:nvSpPr>
        <p:spPr bwMode="auto">
          <a:xfrm>
            <a:off x="835148" y="707252"/>
            <a:ext cx="2717411"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A</a:t>
            </a:r>
            <a:r>
              <a:rPr kumimoji="1" lang="en-US" altLang="zh-CN" sz="1600" b="1" dirty="0">
                <a:solidFill>
                  <a:srgbClr val="CC00CC"/>
                </a:solidFill>
                <a:latin typeface="微软雅黑" pitchFamily="34" charset="-122"/>
                <a:ea typeface="微软雅黑" pitchFamily="34" charset="-122"/>
              </a:rPr>
              <a:t> </a:t>
            </a:r>
            <a:r>
              <a:rPr kumimoji="1" lang="zh-CN" altLang="en-US" sz="1600" b="1" dirty="0">
                <a:solidFill>
                  <a:srgbClr val="C00000"/>
                </a:solidFill>
                <a:latin typeface="微软雅黑" pitchFamily="34" charset="-122"/>
                <a:ea typeface="微软雅黑" pitchFamily="34" charset="-122"/>
              </a:rPr>
              <a:t>本局域网上广播发送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请求分组 </a:t>
            </a:r>
          </a:p>
        </p:txBody>
      </p:sp>
      <p:sp>
        <p:nvSpPr>
          <p:cNvPr id="27" name="Text Box 48"/>
          <p:cNvSpPr txBox="1">
            <a:spLocks noChangeArrowheads="1"/>
          </p:cNvSpPr>
          <p:nvPr/>
        </p:nvSpPr>
        <p:spPr bwMode="auto">
          <a:xfrm>
            <a:off x="370992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8" name="AutoShape 49"/>
          <p:cNvSpPr>
            <a:spLocks noChangeArrowheads="1"/>
          </p:cNvSpPr>
          <p:nvPr/>
        </p:nvSpPr>
        <p:spPr bwMode="auto">
          <a:xfrm>
            <a:off x="4568005" y="1386387"/>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Text Box 50"/>
          <p:cNvSpPr txBox="1">
            <a:spLocks noChangeArrowheads="1"/>
          </p:cNvSpPr>
          <p:nvPr/>
        </p:nvSpPr>
        <p:spPr bwMode="auto">
          <a:xfrm>
            <a:off x="497355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a:latin typeface="微软雅黑" pitchFamily="34" charset="-122"/>
                <a:ea typeface="微软雅黑" pitchFamily="34" charset="-122"/>
              </a:rPr>
              <a:t>ARP </a:t>
            </a:r>
            <a:r>
              <a:rPr kumimoji="1" lang="zh-CN" altLang="en-US" sz="1200" b="1">
                <a:latin typeface="微软雅黑" pitchFamily="34" charset="-122"/>
                <a:ea typeface="微软雅黑" pitchFamily="34" charset="-122"/>
              </a:rPr>
              <a:t>请求</a:t>
            </a:r>
          </a:p>
        </p:txBody>
      </p:sp>
      <p:sp>
        <p:nvSpPr>
          <p:cNvPr id="30" name="AutoShape 51"/>
          <p:cNvSpPr>
            <a:spLocks noChangeArrowheads="1"/>
          </p:cNvSpPr>
          <p:nvPr/>
        </p:nvSpPr>
        <p:spPr bwMode="auto">
          <a:xfrm>
            <a:off x="5824523" y="1401785"/>
            <a:ext cx="142836" cy="133773"/>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52"/>
          <p:cNvSpPr txBox="1">
            <a:spLocks noChangeArrowheads="1"/>
          </p:cNvSpPr>
          <p:nvPr/>
        </p:nvSpPr>
        <p:spPr bwMode="auto">
          <a:xfrm>
            <a:off x="6212164"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32" name="AutoShape 53"/>
          <p:cNvSpPr>
            <a:spLocks noChangeArrowheads="1"/>
          </p:cNvSpPr>
          <p:nvPr/>
        </p:nvSpPr>
        <p:spPr bwMode="auto">
          <a:xfrm>
            <a:off x="7076684" y="1379650"/>
            <a:ext cx="142836" cy="133774"/>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33" name="Group 93"/>
          <p:cNvGrpSpPr>
            <a:grpSpLocks/>
          </p:cNvGrpSpPr>
          <p:nvPr/>
        </p:nvGrpSpPr>
        <p:grpSpPr bwMode="auto">
          <a:xfrm>
            <a:off x="2426312" y="1335381"/>
            <a:ext cx="1044683" cy="277171"/>
            <a:chOff x="249" y="663"/>
            <a:chExt cx="1002" cy="288"/>
          </a:xfrm>
          <a:solidFill>
            <a:srgbClr val="99FFCC"/>
          </a:solidFill>
        </p:grpSpPr>
        <p:sp>
          <p:nvSpPr>
            <p:cNvPr id="34" name="AutoShape 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Text Box 54"/>
            <p:cNvSpPr txBox="1">
              <a:spLocks noChangeArrowheads="1"/>
            </p:cNvSpPr>
            <p:nvPr/>
          </p:nvSpPr>
          <p:spPr bwMode="auto">
            <a:xfrm flipH="1">
              <a:off x="386" y="663"/>
              <a:ext cx="865" cy="288"/>
            </a:xfrm>
            <a:prstGeom prst="rect">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grpSp>
      <p:sp>
        <p:nvSpPr>
          <p:cNvPr id="38" name="Text Box 57"/>
          <p:cNvSpPr txBox="1">
            <a:spLocks noChangeArrowheads="1"/>
          </p:cNvSpPr>
          <p:nvPr/>
        </p:nvSpPr>
        <p:spPr bwMode="auto">
          <a:xfrm>
            <a:off x="2705191" y="2256606"/>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39" name="Text Box 58"/>
          <p:cNvSpPr txBox="1">
            <a:spLocks noChangeArrowheads="1"/>
          </p:cNvSpPr>
          <p:nvPr/>
        </p:nvSpPr>
        <p:spPr bwMode="auto">
          <a:xfrm>
            <a:off x="5247842" y="4107201"/>
            <a:ext cx="16754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08-00-2B-00-EE-0A</a:t>
            </a:r>
          </a:p>
        </p:txBody>
      </p:sp>
      <p:sp>
        <p:nvSpPr>
          <p:cNvPr id="40" name="AutoShape 59"/>
          <p:cNvSpPr>
            <a:spLocks noChangeArrowheads="1"/>
          </p:cNvSpPr>
          <p:nvPr/>
        </p:nvSpPr>
        <p:spPr bwMode="auto">
          <a:xfrm>
            <a:off x="4169536" y="700916"/>
            <a:ext cx="3700997" cy="43058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1" name="Text Box 60"/>
          <p:cNvSpPr txBox="1">
            <a:spLocks noChangeArrowheads="1"/>
          </p:cNvSpPr>
          <p:nvPr/>
        </p:nvSpPr>
        <p:spPr bwMode="auto">
          <a:xfrm>
            <a:off x="4225505" y="682810"/>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我想知道主机 </a:t>
            </a:r>
            <a:r>
              <a:rPr kumimoji="1" lang="en-US" altLang="zh-CN" sz="1200" b="1" dirty="0">
                <a:latin typeface="微软雅黑" pitchFamily="34" charset="-122"/>
                <a:ea typeface="微软雅黑" pitchFamily="34" charset="-122"/>
              </a:rPr>
              <a:t>209.0.0.6 </a:t>
            </a:r>
            <a:r>
              <a:rPr kumimoji="1" lang="zh-CN" altLang="en-US" sz="1200" b="1" dirty="0">
                <a:latin typeface="微软雅黑" pitchFamily="34" charset="-122"/>
                <a:ea typeface="微软雅黑" pitchFamily="34" charset="-122"/>
              </a:rPr>
              <a:t>的硬件地址。</a:t>
            </a:r>
          </a:p>
        </p:txBody>
      </p:sp>
      <p:sp>
        <p:nvSpPr>
          <p:cNvPr id="42" name="AutoShape 61"/>
          <p:cNvSpPr>
            <a:spLocks noChangeArrowheads="1"/>
          </p:cNvSpPr>
          <p:nvPr/>
        </p:nvSpPr>
        <p:spPr bwMode="auto">
          <a:xfrm>
            <a:off x="5359782" y="2602126"/>
            <a:ext cx="2637492" cy="440778"/>
          </a:xfrm>
          <a:prstGeom prst="wedgeRoundRectCallout">
            <a:avLst>
              <a:gd name="adj1" fmla="val -41387"/>
              <a:gd name="adj2" fmla="val 83711"/>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3" name="Text Box 62"/>
          <p:cNvSpPr txBox="1">
            <a:spLocks noChangeArrowheads="1"/>
          </p:cNvSpPr>
          <p:nvPr/>
        </p:nvSpPr>
        <p:spPr bwMode="auto">
          <a:xfrm>
            <a:off x="5437698" y="2602125"/>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54" name="Line 83"/>
          <p:cNvSpPr>
            <a:spLocks noChangeShapeType="1"/>
          </p:cNvSpPr>
          <p:nvPr/>
        </p:nvSpPr>
        <p:spPr bwMode="auto">
          <a:xfrm>
            <a:off x="2181944" y="3447110"/>
            <a:ext cx="5637325"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5" name="Text Box 84"/>
          <p:cNvSpPr txBox="1">
            <a:spLocks noChangeArrowheads="1"/>
          </p:cNvSpPr>
          <p:nvPr/>
        </p:nvSpPr>
        <p:spPr bwMode="auto">
          <a:xfrm>
            <a:off x="3671817" y="3757003"/>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56" name="Text Box 85"/>
          <p:cNvSpPr txBox="1">
            <a:spLocks noChangeArrowheads="1"/>
          </p:cNvSpPr>
          <p:nvPr/>
        </p:nvSpPr>
        <p:spPr bwMode="auto">
          <a:xfrm>
            <a:off x="4978192"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57" name="Text Box 86"/>
          <p:cNvSpPr txBox="1">
            <a:spLocks noChangeArrowheads="1"/>
          </p:cNvSpPr>
          <p:nvPr/>
        </p:nvSpPr>
        <p:spPr bwMode="auto">
          <a:xfrm>
            <a:off x="2800204" y="3681935"/>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58" name="Text Box 87"/>
          <p:cNvSpPr txBox="1">
            <a:spLocks noChangeArrowheads="1"/>
          </p:cNvSpPr>
          <p:nvPr/>
        </p:nvSpPr>
        <p:spPr bwMode="auto">
          <a:xfrm>
            <a:off x="6120878" y="3757003"/>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59" name="Text Box 88"/>
          <p:cNvSpPr txBox="1">
            <a:spLocks noChangeArrowheads="1"/>
          </p:cNvSpPr>
          <p:nvPr/>
        </p:nvSpPr>
        <p:spPr bwMode="auto">
          <a:xfrm>
            <a:off x="7466873"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60" name="Text Box 89"/>
          <p:cNvSpPr txBox="1">
            <a:spLocks noChangeArrowheads="1"/>
          </p:cNvSpPr>
          <p:nvPr/>
        </p:nvSpPr>
        <p:spPr bwMode="auto">
          <a:xfrm>
            <a:off x="3565472" y="3582809"/>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209.0.0.5</a:t>
            </a:r>
          </a:p>
        </p:txBody>
      </p:sp>
      <p:sp>
        <p:nvSpPr>
          <p:cNvPr id="62" name="Text Box 91"/>
          <p:cNvSpPr txBox="1">
            <a:spLocks noChangeArrowheads="1"/>
          </p:cNvSpPr>
          <p:nvPr/>
        </p:nvSpPr>
        <p:spPr bwMode="auto">
          <a:xfrm>
            <a:off x="2637324" y="4127412"/>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68" name="Freeform 103"/>
          <p:cNvSpPr>
            <a:spLocks/>
          </p:cNvSpPr>
          <p:nvPr/>
        </p:nvSpPr>
        <p:spPr bwMode="auto">
          <a:xfrm flipH="1">
            <a:off x="3515426" y="349523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cxnSp>
        <p:nvCxnSpPr>
          <p:cNvPr id="71" name="直接连接符 70"/>
          <p:cNvCxnSpPr/>
          <p:nvPr/>
        </p:nvCxnSpPr>
        <p:spPr>
          <a:xfrm>
            <a:off x="556963" y="2497224"/>
            <a:ext cx="8048776" cy="0"/>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sp>
        <p:nvSpPr>
          <p:cNvPr id="72" name="Text Box 90"/>
          <p:cNvSpPr txBox="1">
            <a:spLocks noChangeArrowheads="1"/>
          </p:cNvSpPr>
          <p:nvPr/>
        </p:nvSpPr>
        <p:spPr bwMode="auto">
          <a:xfrm>
            <a:off x="5976999" y="3528838"/>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79" name="组合 78"/>
          <p:cNvGrpSpPr/>
          <p:nvPr/>
        </p:nvGrpSpPr>
        <p:grpSpPr>
          <a:xfrm>
            <a:off x="2456122" y="1913299"/>
            <a:ext cx="5040745" cy="404587"/>
            <a:chOff x="2456122" y="1949511"/>
            <a:chExt cx="5040745" cy="404587"/>
          </a:xfrm>
        </p:grpSpPr>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sp>
        <p:nvSpPr>
          <p:cNvPr id="64" name="Freeform 97"/>
          <p:cNvSpPr>
            <a:spLocks/>
          </p:cNvSpPr>
          <p:nvPr/>
        </p:nvSpPr>
        <p:spPr bwMode="auto">
          <a:xfrm>
            <a:off x="3514784" y="1704940"/>
            <a:ext cx="1276140"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5" name="Freeform 98"/>
          <p:cNvSpPr>
            <a:spLocks/>
          </p:cNvSpPr>
          <p:nvPr/>
        </p:nvSpPr>
        <p:spPr bwMode="auto">
          <a:xfrm>
            <a:off x="3513741" y="170494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Freeform 101"/>
          <p:cNvSpPr>
            <a:spLocks/>
          </p:cNvSpPr>
          <p:nvPr/>
        </p:nvSpPr>
        <p:spPr bwMode="auto">
          <a:xfrm>
            <a:off x="3513741" y="1704940"/>
            <a:ext cx="3831547"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7" name="Freeform 102"/>
          <p:cNvSpPr>
            <a:spLocks/>
          </p:cNvSpPr>
          <p:nvPr/>
        </p:nvSpPr>
        <p:spPr bwMode="auto">
          <a:xfrm flipH="1">
            <a:off x="2616065" y="1704940"/>
            <a:ext cx="897676"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6" name="Text Box 55"/>
          <p:cNvSpPr txBox="1">
            <a:spLocks noChangeArrowheads="1"/>
          </p:cNvSpPr>
          <p:nvPr/>
        </p:nvSpPr>
        <p:spPr bwMode="auto">
          <a:xfrm>
            <a:off x="3573444" y="1772461"/>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69" name="矩形 68"/>
          <p:cNvSpPr/>
          <p:nvPr/>
        </p:nvSpPr>
        <p:spPr>
          <a:xfrm>
            <a:off x="5207382" y="2331604"/>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
        <p:nvSpPr>
          <p:cNvPr id="70" name="矩形 69"/>
          <p:cNvSpPr/>
          <p:nvPr/>
        </p:nvSpPr>
        <p:spPr>
          <a:xfrm>
            <a:off x="2655951" y="4350900"/>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Tree>
    <p:extLst>
      <p:ext uri="{BB962C8B-B14F-4D97-AF65-F5344CB8AC3E}">
        <p14:creationId xmlns:p14="http://schemas.microsoft.com/office/powerpoint/2010/main" val="562256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2" fill="hold" grpId="0" nodeType="afterEffect">
                                  <p:stCondLst>
                                    <p:cond delay="250"/>
                                  </p:stCondLst>
                                  <p:childTnLst>
                                    <p:set>
                                      <p:cBhvr>
                                        <p:cTn id="9" dur="1" fill="hold">
                                          <p:stCondLst>
                                            <p:cond delay="0"/>
                                          </p:stCondLst>
                                        </p:cTn>
                                        <p:tgtEl>
                                          <p:spTgt spid="67"/>
                                        </p:tgtEl>
                                        <p:attrNameLst>
                                          <p:attrName>style.visibility</p:attrName>
                                        </p:attrNameLst>
                                      </p:cBhvr>
                                      <p:to>
                                        <p:strVal val="visible"/>
                                      </p:to>
                                    </p:set>
                                    <p:animEffect transition="in" filter="wipe(right)">
                                      <p:cBhvr>
                                        <p:cTn id="10" dur="1000"/>
                                        <p:tgtEl>
                                          <p:spTgt spid="67"/>
                                        </p:tgtEl>
                                      </p:cBhvr>
                                    </p:animEffect>
                                  </p:childTnLst>
                                </p:cTn>
                              </p:par>
                              <p:par>
                                <p:cTn id="11" presetID="22" presetClass="entr" presetSubtype="8" fill="hold" grpId="0" nodeType="withEffect">
                                  <p:stCondLst>
                                    <p:cond delay="250"/>
                                  </p:stCondLst>
                                  <p:childTnLst>
                                    <p:set>
                                      <p:cBhvr>
                                        <p:cTn id="12" dur="1" fill="hold">
                                          <p:stCondLst>
                                            <p:cond delay="0"/>
                                          </p:stCondLst>
                                        </p:cTn>
                                        <p:tgtEl>
                                          <p:spTgt spid="64"/>
                                        </p:tgtEl>
                                        <p:attrNameLst>
                                          <p:attrName>style.visibility</p:attrName>
                                        </p:attrNameLst>
                                      </p:cBhvr>
                                      <p:to>
                                        <p:strVal val="visible"/>
                                      </p:to>
                                    </p:set>
                                    <p:animEffect transition="in" filter="wipe(left)">
                                      <p:cBhvr>
                                        <p:cTn id="13" dur="1000"/>
                                        <p:tgtEl>
                                          <p:spTgt spid="64"/>
                                        </p:tgtEl>
                                      </p:cBhvr>
                                    </p:animEffect>
                                  </p:childTnLst>
                                </p:cTn>
                              </p:par>
                              <p:par>
                                <p:cTn id="14" presetID="22" presetClass="entr" presetSubtype="8" fill="hold" grpId="0" nodeType="withEffect">
                                  <p:stCondLst>
                                    <p:cond delay="250"/>
                                  </p:stCondLst>
                                  <p:childTnLst>
                                    <p:set>
                                      <p:cBhvr>
                                        <p:cTn id="15" dur="1" fill="hold">
                                          <p:stCondLst>
                                            <p:cond delay="0"/>
                                          </p:stCondLst>
                                        </p:cTn>
                                        <p:tgtEl>
                                          <p:spTgt spid="65"/>
                                        </p:tgtEl>
                                        <p:attrNameLst>
                                          <p:attrName>style.visibility</p:attrName>
                                        </p:attrNameLst>
                                      </p:cBhvr>
                                      <p:to>
                                        <p:strVal val="visible"/>
                                      </p:to>
                                    </p:set>
                                    <p:animEffect transition="in" filter="wipe(left)">
                                      <p:cBhvr>
                                        <p:cTn id="16" dur="1250"/>
                                        <p:tgtEl>
                                          <p:spTgt spid="65"/>
                                        </p:tgtEl>
                                      </p:cBhvr>
                                    </p:animEffect>
                                  </p:childTnLst>
                                </p:cTn>
                              </p:par>
                              <p:par>
                                <p:cTn id="17" presetID="22" presetClass="entr" presetSubtype="8" fill="hold" grpId="0" nodeType="withEffect">
                                  <p:stCondLst>
                                    <p:cond delay="250"/>
                                  </p:stCondLst>
                                  <p:childTnLst>
                                    <p:set>
                                      <p:cBhvr>
                                        <p:cTn id="18" dur="1" fill="hold">
                                          <p:stCondLst>
                                            <p:cond delay="0"/>
                                          </p:stCondLst>
                                        </p:cTn>
                                        <p:tgtEl>
                                          <p:spTgt spid="66"/>
                                        </p:tgtEl>
                                        <p:attrNameLst>
                                          <p:attrName>style.visibility</p:attrName>
                                        </p:attrNameLst>
                                      </p:cBhvr>
                                      <p:to>
                                        <p:strVal val="visible"/>
                                      </p:to>
                                    </p:set>
                                    <p:animEffect transition="in" filter="wipe(left)">
                                      <p:cBhvr>
                                        <p:cTn id="19" dur="1500"/>
                                        <p:tgtEl>
                                          <p:spTgt spid="66"/>
                                        </p:tgtEl>
                                      </p:cBhvr>
                                    </p:animEffect>
                                  </p:childTnLst>
                                </p:cTn>
                              </p:par>
                            </p:childTnLst>
                          </p:cTn>
                        </p:par>
                        <p:par>
                          <p:cTn id="20" fill="hold">
                            <p:stCondLst>
                              <p:cond delay="4750"/>
                            </p:stCondLst>
                            <p:childTnLst>
                              <p:par>
                                <p:cTn id="21" presetID="10" presetClass="entr" presetSubtype="0" repeatCount="3000" fill="hold" grpId="0" nodeType="afterEffect">
                                  <p:stCondLst>
                                    <p:cond delay="0"/>
                                  </p:stCondLst>
                                  <p:childTnLst>
                                    <p:set>
                                      <p:cBhvr>
                                        <p:cTn id="22" dur="1" fill="hold">
                                          <p:stCondLst>
                                            <p:cond delay="0"/>
                                          </p:stCondLst>
                                        </p:cTn>
                                        <p:tgtEl>
                                          <p:spTgt spid="69"/>
                                        </p:tgtEl>
                                        <p:attrNameLst>
                                          <p:attrName>style.visibility</p:attrName>
                                        </p:attrNameLst>
                                      </p:cBhvr>
                                      <p:to>
                                        <p:strVal val="visible"/>
                                      </p:to>
                                    </p:set>
                                    <p:animEffect transition="in" filter="fade">
                                      <p:cBhvr>
                                        <p:cTn id="23" dur="500"/>
                                        <p:tgtEl>
                                          <p:spTgt spid="69"/>
                                        </p:tgtEl>
                                      </p:cBhvr>
                                    </p:animEffect>
                                  </p:childTnLst>
                                </p:cTn>
                              </p:par>
                            </p:childTnLst>
                          </p:cTn>
                        </p:par>
                      </p:childTnLst>
                    </p:cTn>
                  </p:par>
                  <p:par>
                    <p:cTn id="24" fill="hold">
                      <p:stCondLst>
                        <p:cond delay="indefinite"/>
                      </p:stCondLst>
                      <p:childTnLst>
                        <p:par>
                          <p:cTn id="25" fill="hold">
                            <p:stCondLst>
                              <p:cond delay="0"/>
                            </p:stCondLst>
                            <p:childTnLst>
                              <p:par>
                                <p:cTn id="26" presetID="35" presetClass="emph" presetSubtype="0" repeatCount="3000" fill="hold" grpId="0" nodeType="clickEffect">
                                  <p:stCondLst>
                                    <p:cond delay="0"/>
                                  </p:stCondLst>
                                  <p:childTnLst>
                                    <p:anim calcmode="discrete" valueType="str">
                                      <p:cBhvr>
                                        <p:cTn id="27" dur="1000" fill="hold"/>
                                        <p:tgtEl>
                                          <p:spTgt spid="25"/>
                                        </p:tgtEl>
                                        <p:attrNameLst>
                                          <p:attrName>style.visibility</p:attrName>
                                        </p:attrNameLst>
                                      </p:cBhvr>
                                      <p:tavLst>
                                        <p:tav tm="0">
                                          <p:val>
                                            <p:strVal val="hidden"/>
                                          </p:val>
                                        </p:tav>
                                        <p:tav tm="50000">
                                          <p:val>
                                            <p:strVal val="visible"/>
                                          </p:val>
                                        </p:tav>
                                      </p:tavLst>
                                    </p:anim>
                                  </p:childTnLst>
                                </p:cTn>
                              </p:par>
                            </p:childTnLst>
                          </p:cTn>
                        </p:par>
                        <p:par>
                          <p:cTn id="28" fill="hold">
                            <p:stCondLst>
                              <p:cond delay="3000"/>
                            </p:stCondLst>
                            <p:childTnLst>
                              <p:par>
                                <p:cTn id="29" presetID="22" presetClass="entr" presetSubtype="2" fill="hold" grpId="0" nodeType="afterEffect">
                                  <p:stCondLst>
                                    <p:cond delay="250"/>
                                  </p:stCondLst>
                                  <p:childTnLst>
                                    <p:set>
                                      <p:cBhvr>
                                        <p:cTn id="30" dur="1" fill="hold">
                                          <p:stCondLst>
                                            <p:cond delay="0"/>
                                          </p:stCondLst>
                                        </p:cTn>
                                        <p:tgtEl>
                                          <p:spTgt spid="68"/>
                                        </p:tgtEl>
                                        <p:attrNameLst>
                                          <p:attrName>style.visibility</p:attrName>
                                        </p:attrNameLst>
                                      </p:cBhvr>
                                      <p:to>
                                        <p:strVal val="visible"/>
                                      </p:to>
                                    </p:set>
                                    <p:animEffect transition="in" filter="wipe(right)">
                                      <p:cBhvr>
                                        <p:cTn id="31" dur="1250"/>
                                        <p:tgtEl>
                                          <p:spTgt spid="68"/>
                                        </p:tgtEl>
                                      </p:cBhvr>
                                    </p:animEffect>
                                  </p:childTnLst>
                                </p:cTn>
                              </p:par>
                            </p:childTnLst>
                          </p:cTn>
                        </p:par>
                        <p:par>
                          <p:cTn id="32" fill="hold">
                            <p:stCondLst>
                              <p:cond delay="4500"/>
                            </p:stCondLst>
                            <p:childTnLst>
                              <p:par>
                                <p:cTn id="33" presetID="10" presetClass="entr" presetSubtype="0" repeatCount="3000" fill="hold" grpId="0" nodeType="afterEffect">
                                  <p:stCondLst>
                                    <p:cond delay="0"/>
                                  </p:stCondLst>
                                  <p:childTnLst>
                                    <p:set>
                                      <p:cBhvr>
                                        <p:cTn id="34" dur="1" fill="hold">
                                          <p:stCondLst>
                                            <p:cond delay="0"/>
                                          </p:stCondLst>
                                        </p:cTn>
                                        <p:tgtEl>
                                          <p:spTgt spid="70"/>
                                        </p:tgtEl>
                                        <p:attrNameLst>
                                          <p:attrName>style.visibility</p:attrName>
                                        </p:attrNameLst>
                                      </p:cBhvr>
                                      <p:to>
                                        <p:strVal val="visible"/>
                                      </p:to>
                                    </p:set>
                                    <p:animEffect transition="in" filter="fade">
                                      <p:cBhvr>
                                        <p:cTn id="35" dur="5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68" grpId="0" animBg="1"/>
      <p:bldP spid="64" grpId="0" animBg="1"/>
      <p:bldP spid="65" grpId="0" animBg="1"/>
      <p:bldP spid="66" grpId="0" animBg="1"/>
      <p:bldP spid="67" grpId="0" animBg="1"/>
      <p:bldP spid="69" grpId="0" animBg="1"/>
      <p:bldP spid="70"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59163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282757" y="558426"/>
            <a:ext cx="259718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高速缓存的作用</a:t>
            </a:r>
          </a:p>
        </p:txBody>
      </p:sp>
      <p:sp>
        <p:nvSpPr>
          <p:cNvPr id="7" name="Rectangle 68"/>
          <p:cNvSpPr>
            <a:spLocks noChangeArrowheads="1"/>
          </p:cNvSpPr>
          <p:nvPr/>
        </p:nvSpPr>
        <p:spPr bwMode="auto">
          <a:xfrm>
            <a:off x="556963" y="935834"/>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存放最近获得的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地址的绑定。</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广播的通信量。</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为进一步减少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通信量，主机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在发送其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请求分组时，就将自己的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a:t>
            </a:r>
            <a:r>
              <a:rPr lang="en-US" altLang="zh-CN" sz="2000" b="1" dirty="0">
                <a:latin typeface="微软雅黑" pitchFamily="34" charset="-122"/>
                <a:ea typeface="微软雅黑" pitchFamily="34" charset="-122"/>
              </a:rPr>
              <a:t> MAC </a:t>
            </a:r>
            <a:r>
              <a:rPr lang="zh-CN" altLang="en-US" sz="2000" b="1" dirty="0">
                <a:latin typeface="微软雅黑" pitchFamily="34" charset="-122"/>
                <a:ea typeface="微软雅黑" pitchFamily="34" charset="-122"/>
              </a:rPr>
              <a:t>地址的映射写入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收到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地址及其对应的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地址映射写入主机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自己的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高速缓存中。不必在发送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p:txBody>
      </p:sp>
    </p:spTree>
    <p:extLst>
      <p:ext uri="{BB962C8B-B14F-4D97-AF65-F5344CB8AC3E}">
        <p14:creationId xmlns:p14="http://schemas.microsoft.com/office/powerpoint/2010/main" val="2436903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2" name="组合 1"/>
          <p:cNvGrpSpPr/>
          <p:nvPr/>
        </p:nvGrpSpPr>
        <p:grpSpPr>
          <a:xfrm>
            <a:off x="1495251" y="1800409"/>
            <a:ext cx="6014215" cy="1152477"/>
            <a:chOff x="1422400" y="1686109"/>
            <a:chExt cx="6014215" cy="1152477"/>
          </a:xfrm>
        </p:grpSpPr>
        <p:sp>
          <p:nvSpPr>
            <p:cNvPr id="9"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14"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5"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18"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2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31"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32"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3"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34"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0"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
        <p:nvSpPr>
          <p:cNvPr id="29" name="Rectangle 68"/>
          <p:cNvSpPr>
            <a:spLocks noChangeArrowheads="1"/>
          </p:cNvSpPr>
          <p:nvPr/>
        </p:nvSpPr>
        <p:spPr bwMode="auto">
          <a:xfrm>
            <a:off x="556963" y="935834"/>
            <a:ext cx="8048776"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用于解决</a:t>
            </a:r>
            <a:r>
              <a:rPr lang="zh-CN" altLang="en-US" sz="2000" b="1" dirty="0">
                <a:solidFill>
                  <a:srgbClr val="C00000"/>
                </a:solidFill>
                <a:latin typeface="微软雅黑" pitchFamily="34" charset="-122"/>
                <a:ea typeface="微软雅黑" pitchFamily="34" charset="-122"/>
              </a:rPr>
              <a:t>同一个局域网上</a:t>
            </a:r>
            <a:r>
              <a:rPr lang="zh-CN" altLang="en-US" sz="2000" b="1" dirty="0">
                <a:latin typeface="微软雅黑" pitchFamily="34" charset="-122"/>
                <a:ea typeface="微软雅黑" pitchFamily="34" charset="-122"/>
              </a:rPr>
              <a:t>的主机或路由器的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地址和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地址的映射问题。</a:t>
            </a:r>
          </a:p>
        </p:txBody>
      </p:sp>
    </p:spTree>
    <p:extLst>
      <p:ext uri="{BB962C8B-B14F-4D97-AF65-F5344CB8AC3E}">
        <p14:creationId xmlns:p14="http://schemas.microsoft.com/office/powerpoint/2010/main" val="10294653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2890855"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3350462" y="1092622"/>
            <a:ext cx="3700997" cy="51386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3406431"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209.0.0.1 </a:t>
            </a:r>
            <a:r>
              <a:rPr kumimoji="1" lang="zh-CN" altLang="en-US" sz="1200" b="1" dirty="0">
                <a:latin typeface="微软雅黑" pitchFamily="34" charset="-122"/>
                <a:ea typeface="微软雅黑" pitchFamily="34" charset="-122"/>
              </a:rPr>
              <a:t>的硬件地址。</a:t>
            </a:r>
          </a:p>
        </p:txBody>
      </p:sp>
      <p:sp>
        <p:nvSpPr>
          <p:cNvPr id="27" name="任意多边形 26"/>
          <p:cNvSpPr/>
          <p:nvPr/>
        </p:nvSpPr>
        <p:spPr>
          <a:xfrm>
            <a:off x="1412319" y="2161672"/>
            <a:ext cx="93656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任意多边形 27"/>
          <p:cNvSpPr/>
          <p:nvPr/>
        </p:nvSpPr>
        <p:spPr>
          <a:xfrm flipH="1">
            <a:off x="2348651" y="2161672"/>
            <a:ext cx="190291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9"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5183420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2" fill="hold" grpId="0" nodeType="withEffect">
                                  <p:stCondLst>
                                    <p:cond delay="250"/>
                                  </p:stCondLst>
                                  <p:childTnLst>
                                    <p:set>
                                      <p:cBhvr>
                                        <p:cTn id="9" dur="1" fill="hold">
                                          <p:stCondLst>
                                            <p:cond delay="0"/>
                                          </p:stCondLst>
                                        </p:cTn>
                                        <p:tgtEl>
                                          <p:spTgt spid="27"/>
                                        </p:tgtEl>
                                        <p:attrNameLst>
                                          <p:attrName>style.visibility</p:attrName>
                                        </p:attrNameLst>
                                      </p:cBhvr>
                                      <p:to>
                                        <p:strVal val="visible"/>
                                      </p:to>
                                    </p:set>
                                    <p:animEffect transition="in" filter="wipe(right)">
                                      <p:cBhvr>
                                        <p:cTn id="10" dur="1000"/>
                                        <p:tgtEl>
                                          <p:spTgt spid="27"/>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flipH="1">
            <a:off x="2410859" y="2161671"/>
            <a:ext cx="182571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2764977"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523988" y="1175499"/>
            <a:ext cx="2637492" cy="440778"/>
          </a:xfrm>
          <a:prstGeom prst="wedgeRoundRectCallout">
            <a:avLst>
              <a:gd name="adj1" fmla="val -42524"/>
              <a:gd name="adj2" fmla="val 104116"/>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541944"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209.0.0.1</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0C-05-20-01-2F-0D</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5"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667498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5" grpId="0"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5334251"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2250553" y="1092622"/>
            <a:ext cx="3700997" cy="513863"/>
          </a:xfrm>
          <a:prstGeom prst="wedgeRoundRectCallout">
            <a:avLst>
              <a:gd name="adj1" fmla="val 42609"/>
              <a:gd name="adj2" fmla="val 95930"/>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2306522"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219.1.0.1</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219.1.0.6 </a:t>
            </a:r>
            <a:r>
              <a:rPr kumimoji="1" lang="zh-CN" altLang="en-US" sz="1200" b="1" dirty="0">
                <a:latin typeface="微软雅黑" pitchFamily="34" charset="-122"/>
                <a:ea typeface="微软雅黑" pitchFamily="34" charset="-122"/>
              </a:rPr>
              <a:t>的硬件地址。</a:t>
            </a:r>
          </a:p>
        </p:txBody>
      </p:sp>
      <p:sp>
        <p:nvSpPr>
          <p:cNvPr id="28" name="任意多边形 27"/>
          <p:cNvSpPr/>
          <p:nvPr/>
        </p:nvSpPr>
        <p:spPr>
          <a:xfrm>
            <a:off x="4865546" y="2161671"/>
            <a:ext cx="1535289"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cxnSp>
        <p:nvCxnSpPr>
          <p:cNvPr id="4" name="直接箭头连接符 3"/>
          <p:cNvCxnSpPr/>
          <p:nvPr/>
        </p:nvCxnSpPr>
        <p:spPr>
          <a:xfrm>
            <a:off x="4901785" y="2176661"/>
            <a:ext cx="2173573" cy="0"/>
          </a:xfrm>
          <a:prstGeom prst="straightConnector1">
            <a:avLst/>
          </a:prstGeom>
          <a:ln w="38100">
            <a:solidFill>
              <a:srgbClr val="CC00CC"/>
            </a:solidFill>
            <a:tailEnd type="triangle"/>
          </a:ln>
        </p:spPr>
        <p:style>
          <a:lnRef idx="1">
            <a:schemeClr val="accent1"/>
          </a:lnRef>
          <a:fillRef idx="0">
            <a:schemeClr val="accent1"/>
          </a:fillRef>
          <a:effectRef idx="0">
            <a:schemeClr val="accent1"/>
          </a:effectRef>
          <a:fontRef idx="minor">
            <a:schemeClr val="tx1"/>
          </a:fontRef>
        </p:style>
      </p:cxnSp>
      <p:sp>
        <p:nvSpPr>
          <p:cNvPr id="27"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3475093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1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7"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a:off x="4891866" y="2161671"/>
            <a:ext cx="157789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5245984"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719445" y="1175499"/>
            <a:ext cx="2637492" cy="440778"/>
          </a:xfrm>
          <a:prstGeom prst="wedgeRoundRectCallout">
            <a:avLst>
              <a:gd name="adj1" fmla="val 33066"/>
              <a:gd name="adj2" fmla="val 100715"/>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737401"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6"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399484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6" grpId="0"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810478"/>
          </a:xfrm>
          <a:prstGeom prst="rect">
            <a:avLst/>
          </a:prstGeom>
        </p:spPr>
        <p:txBody>
          <a:bodyPr wrap="square">
            <a:spAutoFit/>
          </a:bodyPr>
          <a:lstStyle/>
          <a:p>
            <a:pPr marL="342900" indent="-342900">
              <a:lnSpc>
                <a:spcPts val="2800"/>
              </a:lnSpc>
              <a:buClr>
                <a:srgbClr val="990099"/>
              </a:buClr>
              <a:buFont typeface="+mj-lt"/>
              <a:buAutoNum type="arabicPeriod"/>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本网络上的另一个主机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2"/>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找到本网络上的一个路由器的硬件地址。剩下的工作由这个路由器来完成。 </a:t>
            </a:r>
          </a:p>
        </p:txBody>
      </p:sp>
    </p:spTree>
    <p:extLst>
      <p:ext uri="{BB962C8B-B14F-4D97-AF65-F5344CB8AC3E}">
        <p14:creationId xmlns:p14="http://schemas.microsoft.com/office/powerpoint/2010/main" val="28250895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781752"/>
          </a:xfrm>
          <a:prstGeom prst="rect">
            <a:avLst/>
          </a:prstGeom>
        </p:spPr>
        <p:txBody>
          <a:bodyPr wrap="square">
            <a:spAutoFit/>
          </a:bodyPr>
          <a:lstStyle/>
          <a:p>
            <a:pPr marL="342900" indent="-342900">
              <a:lnSpc>
                <a:spcPts val="2800"/>
              </a:lnSpc>
              <a:buClr>
                <a:srgbClr val="990099"/>
              </a:buClr>
              <a:buFont typeface="+mj-lt"/>
              <a:buAutoNum type="arabicPeriod" startAt="3"/>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本网络上的一个主机。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1106274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4"/>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找到本网络上另一个路由器的硬件地址。剩下的工作由这个路由器来完成。 </a:t>
            </a:r>
          </a:p>
        </p:txBody>
      </p:sp>
    </p:spTree>
    <p:extLst>
      <p:ext uri="{BB962C8B-B14F-4D97-AF65-F5344CB8AC3E}">
        <p14:creationId xmlns:p14="http://schemas.microsoft.com/office/powerpoint/2010/main" val="2204041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 name="AutoShape 5"/>
          <p:cNvSpPr>
            <a:spLocks noChangeArrowheads="1"/>
          </p:cNvSpPr>
          <p:nvPr/>
        </p:nvSpPr>
        <p:spPr bwMode="auto">
          <a:xfrm>
            <a:off x="556963" y="60232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8" name="Rectangle 6"/>
          <p:cNvSpPr>
            <a:spLocks noChangeArrowheads="1"/>
          </p:cNvSpPr>
          <p:nvPr/>
        </p:nvSpPr>
        <p:spPr bwMode="auto">
          <a:xfrm>
            <a:off x="1753141" y="569114"/>
            <a:ext cx="56564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rgbClr val="FFFF00"/>
                </a:solidFill>
                <a:latin typeface="微软雅黑" pitchFamily="34" charset="-122"/>
                <a:ea typeface="微软雅黑" pitchFamily="34" charset="-122"/>
              </a:rPr>
              <a:t>为什么要使用两种地址：</a:t>
            </a:r>
            <a:r>
              <a:rPr lang="en-US" altLang="zh-CN" sz="2000" b="1" dirty="0">
                <a:solidFill>
                  <a:srgbClr val="FFFF00"/>
                </a:solidFill>
                <a:latin typeface="微软雅黑" pitchFamily="34" charset="-122"/>
                <a:ea typeface="微软雅黑" pitchFamily="34" charset="-122"/>
              </a:rPr>
              <a:t>IP </a:t>
            </a:r>
            <a:r>
              <a:rPr lang="zh-CN" altLang="en-US" sz="2000" b="1" dirty="0">
                <a:solidFill>
                  <a:srgbClr val="FFFF00"/>
                </a:solidFill>
                <a:latin typeface="微软雅黑" pitchFamily="34" charset="-122"/>
                <a:ea typeface="微软雅黑" pitchFamily="34" charset="-122"/>
              </a:rPr>
              <a:t>地址和 </a:t>
            </a:r>
            <a:r>
              <a:rPr lang="en-US" altLang="zh-CN" sz="2000" b="1" dirty="0">
                <a:solidFill>
                  <a:srgbClr val="FFFF00"/>
                </a:solidFill>
                <a:latin typeface="微软雅黑" pitchFamily="34" charset="-122"/>
                <a:ea typeface="微软雅黑" pitchFamily="34" charset="-122"/>
              </a:rPr>
              <a:t>MAC </a:t>
            </a:r>
            <a:r>
              <a:rPr lang="zh-CN" altLang="en-US" sz="2000" b="1" dirty="0">
                <a:solidFill>
                  <a:srgbClr val="FFFF00"/>
                </a:solidFill>
                <a:latin typeface="微软雅黑" pitchFamily="34" charset="-122"/>
                <a:ea typeface="微软雅黑" pitchFamily="34" charset="-122"/>
              </a:rPr>
              <a:t>地址？</a:t>
            </a:r>
          </a:p>
        </p:txBody>
      </p:sp>
      <p:sp>
        <p:nvSpPr>
          <p:cNvPr id="5" name="Rectangle 68"/>
          <p:cNvSpPr>
            <a:spLocks noChangeArrowheads="1"/>
          </p:cNvSpPr>
          <p:nvPr/>
        </p:nvSpPr>
        <p:spPr bwMode="auto">
          <a:xfrm>
            <a:off x="556963" y="962998"/>
            <a:ext cx="8048776" cy="31700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不同使用不同的 </a:t>
            </a:r>
            <a:r>
              <a:rPr lang="en-US" altLang="zh-CN" sz="2000" b="1" dirty="0">
                <a:latin typeface="微软雅黑" pitchFamily="34" charset="-122"/>
                <a:ea typeface="微软雅黑" pitchFamily="34" charset="-122"/>
              </a:rPr>
              <a:t>MAC</a:t>
            </a:r>
            <a:r>
              <a:rPr lang="zh-CN" altLang="en-US" sz="2000" b="1" dirty="0">
                <a:latin typeface="微软雅黑" pitchFamily="34" charset="-122"/>
                <a:ea typeface="微软雅黑" pitchFamily="34" charset="-122"/>
              </a:rPr>
              <a:t> 地址。</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地址之间的转换非常复杂。</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对以太网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地址进行寻址也是极其困难的。</a:t>
            </a:r>
          </a:p>
          <a:p>
            <a:pPr marL="268288" indent="-268288">
              <a:lnSpc>
                <a:spcPts val="30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编址把这个复杂问题解决了。</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连接到互联网的主机只需各自拥有一个唯一的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地址，它们之间的通信就像连接在同一个网络上那样简单方便，即使必须多次调用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来找到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地址，但这个过程都是由计算机软件自动进行的，对用户来说是看不见的。</a:t>
            </a:r>
          </a:p>
          <a:p>
            <a:pPr marL="268288" indent="-268288">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因此，在虚拟的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网络上用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地址进行通信非常方便。</a:t>
            </a:r>
          </a:p>
        </p:txBody>
      </p:sp>
    </p:spTree>
    <p:extLst>
      <p:ext uri="{BB962C8B-B14F-4D97-AF65-F5344CB8AC3E}">
        <p14:creationId xmlns:p14="http://schemas.microsoft.com/office/powerpoint/2010/main" val="3294599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8" name="圆角矩形 7"/>
          <p:cNvSpPr/>
          <p:nvPr/>
        </p:nvSpPr>
        <p:spPr>
          <a:xfrm>
            <a:off x="974360" y="1045561"/>
            <a:ext cx="725524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209902" y="3159734"/>
            <a:ext cx="83917" cy="41064"/>
            <a:chOff x="833" y="3024"/>
            <a:chExt cx="78" cy="51"/>
          </a:xfrm>
        </p:grpSpPr>
        <p:sp>
          <p:nvSpPr>
            <p:cNvPr id="49"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0"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1"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2" name="Group 50"/>
          <p:cNvGrpSpPr>
            <a:grpSpLocks/>
          </p:cNvGrpSpPr>
          <p:nvPr/>
        </p:nvGrpSpPr>
        <p:grpSpPr bwMode="auto">
          <a:xfrm>
            <a:off x="7220650" y="3165334"/>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6"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7"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59"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a:t>
            </a:r>
          </a:p>
        </p:txBody>
      </p:sp>
      <p:sp>
        <p:nvSpPr>
          <p:cNvPr id="60"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61"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2" name="Group 100"/>
          <p:cNvGrpSpPr>
            <a:grpSpLocks/>
          </p:cNvGrpSpPr>
          <p:nvPr/>
        </p:nvGrpSpPr>
        <p:grpSpPr bwMode="auto">
          <a:xfrm>
            <a:off x="1912655" y="4199400"/>
            <a:ext cx="1059578" cy="454504"/>
            <a:chOff x="380" y="3475"/>
            <a:chExt cx="1048" cy="487"/>
          </a:xfrm>
        </p:grpSpPr>
        <p:sp>
          <p:nvSpPr>
            <p:cNvPr id="63"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4"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65" name="矩形 64"/>
          <p:cNvSpPr/>
          <p:nvPr/>
        </p:nvSpPr>
        <p:spPr>
          <a:xfrm>
            <a:off x="2920480" y="1127693"/>
            <a:ext cx="3321743" cy="338554"/>
          </a:xfrm>
          <a:prstGeom prst="rect">
            <a:avLst/>
          </a:prstGeom>
          <a:solidFill>
            <a:srgbClr val="0000CC"/>
          </a:solidFill>
          <a:ln w="9525">
            <a:noFill/>
            <a:miter lim="800000"/>
            <a:headEnd/>
            <a:tailEnd/>
          </a:ln>
          <a:effectLst/>
        </p:spPr>
        <p:txBody>
          <a:bodyPr wrap="none">
            <a:spAutoFit/>
          </a:bodyPr>
          <a:lstStyle/>
          <a:p>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数据报由</a:t>
            </a:r>
            <a:r>
              <a:rPr lang="zh-CN" altLang="en-US" sz="1600" b="1" dirty="0">
                <a:solidFill>
                  <a:srgbClr val="FFFF00"/>
                </a:solidFill>
                <a:latin typeface="微软雅黑" pitchFamily="34" charset="-122"/>
                <a:ea typeface="微软雅黑" pitchFamily="34" charset="-122"/>
              </a:rPr>
              <a:t>首部</a:t>
            </a:r>
            <a:r>
              <a:rPr lang="zh-CN" altLang="en-US" sz="1600" b="1" dirty="0">
                <a:solidFill>
                  <a:schemeClr val="bg1"/>
                </a:solidFill>
                <a:latin typeface="微软雅黑" pitchFamily="34" charset="-122"/>
                <a:ea typeface="微软雅黑" pitchFamily="34" charset="-122"/>
              </a:rPr>
              <a:t>和</a:t>
            </a:r>
            <a:r>
              <a:rPr lang="zh-CN" altLang="en-US" sz="1600" b="1" dirty="0">
                <a:solidFill>
                  <a:srgbClr val="FFFF00"/>
                </a:solidFill>
                <a:latin typeface="微软雅黑" pitchFamily="34" charset="-122"/>
                <a:ea typeface="微软雅黑" pitchFamily="34" charset="-122"/>
              </a:rPr>
              <a:t>数据</a:t>
            </a:r>
            <a:r>
              <a:rPr lang="zh-CN" altLang="en-US" sz="1600" b="1" dirty="0">
                <a:solidFill>
                  <a:schemeClr val="bg1"/>
                </a:solidFill>
                <a:latin typeface="微软雅黑" pitchFamily="34" charset="-122"/>
                <a:ea typeface="微软雅黑" pitchFamily="34" charset="-122"/>
              </a:rPr>
              <a:t>两部分组成</a:t>
            </a:r>
          </a:p>
        </p:txBody>
      </p:sp>
      <p:grpSp>
        <p:nvGrpSpPr>
          <p:cNvPr id="66" name="组合 65"/>
          <p:cNvGrpSpPr/>
          <p:nvPr/>
        </p:nvGrpSpPr>
        <p:grpSpPr>
          <a:xfrm>
            <a:off x="1444206" y="1744891"/>
            <a:ext cx="5822950" cy="2411581"/>
            <a:chOff x="1444206" y="1385131"/>
            <a:chExt cx="5822950" cy="2411581"/>
          </a:xfrm>
        </p:grpSpPr>
        <p:grpSp>
          <p:nvGrpSpPr>
            <p:cNvPr id="67" name="Group 94"/>
            <p:cNvGrpSpPr>
              <a:grpSpLocks/>
            </p:cNvGrpSpPr>
            <p:nvPr/>
          </p:nvGrpSpPr>
          <p:grpSpPr bwMode="auto">
            <a:xfrm>
              <a:off x="1444206" y="1385131"/>
              <a:ext cx="336679" cy="1566034"/>
              <a:chOff x="-127" y="845"/>
              <a:chExt cx="333" cy="1678"/>
            </a:xfrm>
          </p:grpSpPr>
          <p:sp>
            <p:nvSpPr>
              <p:cNvPr id="7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68"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Rectangle 92"/>
            <p:cNvSpPr>
              <a:spLocks noChangeArrowheads="1"/>
            </p:cNvSpPr>
            <p:nvPr/>
          </p:nvSpPr>
          <p:spPr bwMode="auto">
            <a:xfrm>
              <a:off x="2248865" y="1397262"/>
              <a:ext cx="5018291" cy="1553323"/>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21519059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6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72" name="圆角矩形 71"/>
          <p:cNvSpPr/>
          <p:nvPr/>
        </p:nvSpPr>
        <p:spPr>
          <a:xfrm>
            <a:off x="959371"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4"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5"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7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77"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8"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0"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1"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2"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3"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4"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6"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7"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8"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9"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0"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1"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92"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93"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94"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95"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96"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97"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98"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99"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00"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01"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02"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03"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04"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05"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06"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07"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08"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09"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10"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11"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12" name="Group 46"/>
          <p:cNvGrpSpPr>
            <a:grpSpLocks/>
          </p:cNvGrpSpPr>
          <p:nvPr/>
        </p:nvGrpSpPr>
        <p:grpSpPr bwMode="auto">
          <a:xfrm>
            <a:off x="2209902" y="3159734"/>
            <a:ext cx="83917" cy="41064"/>
            <a:chOff x="833" y="3024"/>
            <a:chExt cx="78" cy="51"/>
          </a:xfrm>
        </p:grpSpPr>
        <p:sp>
          <p:nvSpPr>
            <p:cNvPr id="113"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4"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5"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16" name="Group 50"/>
          <p:cNvGrpSpPr>
            <a:grpSpLocks/>
          </p:cNvGrpSpPr>
          <p:nvPr/>
        </p:nvGrpSpPr>
        <p:grpSpPr bwMode="auto">
          <a:xfrm>
            <a:off x="7220650" y="3165334"/>
            <a:ext cx="83917" cy="39198"/>
            <a:chOff x="5432" y="3030"/>
            <a:chExt cx="78" cy="51"/>
          </a:xfrm>
        </p:grpSpPr>
        <p:sp>
          <p:nvSpPr>
            <p:cNvPr id="11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20"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21"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2"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123"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124"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5"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126" name="Group 100"/>
          <p:cNvGrpSpPr>
            <a:grpSpLocks/>
          </p:cNvGrpSpPr>
          <p:nvPr/>
        </p:nvGrpSpPr>
        <p:grpSpPr bwMode="auto">
          <a:xfrm>
            <a:off x="1912655" y="4199400"/>
            <a:ext cx="1059578" cy="454504"/>
            <a:chOff x="380" y="3475"/>
            <a:chExt cx="1048" cy="487"/>
          </a:xfrm>
        </p:grpSpPr>
        <p:sp>
          <p:nvSpPr>
            <p:cNvPr id="127"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8"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129" name="矩形 128"/>
          <p:cNvSpPr/>
          <p:nvPr/>
        </p:nvSpPr>
        <p:spPr>
          <a:xfrm>
            <a:off x="1163588" y="1127693"/>
            <a:ext cx="6835526" cy="338554"/>
          </a:xfrm>
          <a:prstGeom prst="rect">
            <a:avLst/>
          </a:prstGeom>
          <a:solidFill>
            <a:srgbClr val="0000CC"/>
          </a:solidFill>
          <a:ln w="9525">
            <a:noFill/>
            <a:miter lim="800000"/>
            <a:headEnd/>
            <a:tailEnd/>
          </a:ln>
          <a:effectLst/>
        </p:spPr>
        <p:txBody>
          <a:bodyPr wrap="none">
            <a:spAutoFit/>
          </a:bodyPr>
          <a:lstStyle/>
          <a:p>
            <a:r>
              <a:rPr lang="zh-CN" altLang="en-US" sz="1600" b="1" dirty="0">
                <a:solidFill>
                  <a:schemeClr val="bg1"/>
                </a:solidFill>
                <a:latin typeface="微软雅黑" pitchFamily="34" charset="-122"/>
                <a:ea typeface="微软雅黑" pitchFamily="34" charset="-122"/>
              </a:rPr>
              <a:t>首部的前一部分是</a:t>
            </a:r>
            <a:r>
              <a:rPr lang="zh-CN" altLang="en-US" sz="1600" b="1" dirty="0">
                <a:solidFill>
                  <a:srgbClr val="FFFF00"/>
                </a:solidFill>
                <a:latin typeface="微软雅黑" pitchFamily="34" charset="-122"/>
                <a:ea typeface="微软雅黑" pitchFamily="34" charset="-122"/>
              </a:rPr>
              <a:t>固定长度</a:t>
            </a:r>
            <a:r>
              <a:rPr lang="zh-CN" altLang="en-US" sz="1600" b="1" dirty="0">
                <a:solidFill>
                  <a:schemeClr val="bg1"/>
                </a:solidFill>
                <a:latin typeface="微软雅黑" pitchFamily="34" charset="-122"/>
                <a:ea typeface="微软雅黑" pitchFamily="34" charset="-122"/>
              </a:rPr>
              <a:t>，</a:t>
            </a:r>
            <a:r>
              <a:rPr lang="zh-CN" altLang="en-US" sz="1600" b="1" dirty="0">
                <a:solidFill>
                  <a:srgbClr val="FFFF00"/>
                </a:solidFill>
                <a:latin typeface="微软雅黑" pitchFamily="34" charset="-122"/>
                <a:ea typeface="微软雅黑" pitchFamily="34" charset="-122"/>
              </a:rPr>
              <a:t>共 </a:t>
            </a:r>
            <a:r>
              <a:rPr lang="en-US" altLang="zh-CN" sz="1600" b="1" dirty="0">
                <a:solidFill>
                  <a:srgbClr val="FFFF00"/>
                </a:solidFill>
                <a:latin typeface="微软雅黑" pitchFamily="34" charset="-122"/>
                <a:ea typeface="微软雅黑" pitchFamily="34" charset="-122"/>
              </a:rPr>
              <a:t>20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，是所有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数据报必须具有的。</a:t>
            </a:r>
          </a:p>
        </p:txBody>
      </p:sp>
      <p:grpSp>
        <p:nvGrpSpPr>
          <p:cNvPr id="130" name="组合 129"/>
          <p:cNvGrpSpPr/>
          <p:nvPr/>
        </p:nvGrpSpPr>
        <p:grpSpPr>
          <a:xfrm>
            <a:off x="1444206" y="1744891"/>
            <a:ext cx="5822950" cy="2411581"/>
            <a:chOff x="1444206" y="1385131"/>
            <a:chExt cx="5822950" cy="2411581"/>
          </a:xfrm>
        </p:grpSpPr>
        <p:grpSp>
          <p:nvGrpSpPr>
            <p:cNvPr id="131" name="Group 94"/>
            <p:cNvGrpSpPr>
              <a:grpSpLocks/>
            </p:cNvGrpSpPr>
            <p:nvPr/>
          </p:nvGrpSpPr>
          <p:grpSpPr bwMode="auto">
            <a:xfrm>
              <a:off x="1444206" y="1385131"/>
              <a:ext cx="336679" cy="1566034"/>
              <a:chOff x="-127" y="845"/>
              <a:chExt cx="333" cy="1678"/>
            </a:xfrm>
          </p:grpSpPr>
          <p:sp>
            <p:nvSpPr>
              <p:cNvPr id="13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32"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3" name="Rectangle 92"/>
            <p:cNvSpPr>
              <a:spLocks noChangeArrowheads="1"/>
            </p:cNvSpPr>
            <p:nvPr/>
          </p:nvSpPr>
          <p:spPr bwMode="auto">
            <a:xfrm>
              <a:off x="2248865" y="1397262"/>
              <a:ext cx="5018291" cy="13056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8113606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13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68" name="圆角矩形 67"/>
          <p:cNvSpPr/>
          <p:nvPr/>
        </p:nvSpPr>
        <p:spPr>
          <a:xfrm>
            <a:off x="946703"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3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7"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8"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9"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0"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1"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2"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3"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4"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5"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6"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150"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151"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152"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153"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154"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155"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156"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157"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58"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59"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60"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61"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62"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63"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64"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65"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66"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67"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68"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69"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70" name="Group 46"/>
          <p:cNvGrpSpPr>
            <a:grpSpLocks/>
          </p:cNvGrpSpPr>
          <p:nvPr/>
        </p:nvGrpSpPr>
        <p:grpSpPr bwMode="auto">
          <a:xfrm>
            <a:off x="2209902" y="3159734"/>
            <a:ext cx="83917" cy="41064"/>
            <a:chOff x="833" y="3024"/>
            <a:chExt cx="78" cy="51"/>
          </a:xfrm>
        </p:grpSpPr>
        <p:sp>
          <p:nvSpPr>
            <p:cNvPr id="171"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2"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3"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74" name="Group 50"/>
          <p:cNvGrpSpPr>
            <a:grpSpLocks/>
          </p:cNvGrpSpPr>
          <p:nvPr/>
        </p:nvGrpSpPr>
        <p:grpSpPr bwMode="auto">
          <a:xfrm>
            <a:off x="7220650" y="3165334"/>
            <a:ext cx="83917" cy="39198"/>
            <a:chOff x="5432" y="3030"/>
            <a:chExt cx="78" cy="51"/>
          </a:xfrm>
        </p:grpSpPr>
        <p:sp>
          <p:nvSpPr>
            <p:cNvPr id="17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78"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79"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0" name="矩形 179"/>
          <p:cNvSpPr/>
          <p:nvPr/>
        </p:nvSpPr>
        <p:spPr>
          <a:xfrm>
            <a:off x="3257912" y="1127693"/>
            <a:ext cx="2646878" cy="338554"/>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可选字段，其长度是</a:t>
            </a:r>
            <a:r>
              <a:rPr lang="zh-CN" altLang="en-US" sz="1600" b="1" dirty="0">
                <a:solidFill>
                  <a:srgbClr val="FFFF00"/>
                </a:solidFill>
                <a:latin typeface="微软雅黑" pitchFamily="34" charset="-122"/>
                <a:ea typeface="微软雅黑" pitchFamily="34" charset="-122"/>
              </a:rPr>
              <a:t>可变</a:t>
            </a:r>
            <a:r>
              <a:rPr lang="zh-CN" altLang="en-US" sz="1600" b="1" dirty="0">
                <a:solidFill>
                  <a:schemeClr val="bg1"/>
                </a:solidFill>
                <a:latin typeface="微软雅黑" pitchFamily="34" charset="-122"/>
                <a:ea typeface="微软雅黑" pitchFamily="34" charset="-122"/>
              </a:rPr>
              <a:t>的</a:t>
            </a:r>
          </a:p>
        </p:txBody>
      </p:sp>
      <p:grpSp>
        <p:nvGrpSpPr>
          <p:cNvPr id="181" name="组合 180"/>
          <p:cNvGrpSpPr/>
          <p:nvPr/>
        </p:nvGrpSpPr>
        <p:grpSpPr>
          <a:xfrm>
            <a:off x="1444206" y="1744891"/>
            <a:ext cx="5822950" cy="1566034"/>
            <a:chOff x="1444206" y="1385131"/>
            <a:chExt cx="5822950" cy="1566034"/>
          </a:xfrm>
        </p:grpSpPr>
        <p:grpSp>
          <p:nvGrpSpPr>
            <p:cNvPr id="182" name="Group 94"/>
            <p:cNvGrpSpPr>
              <a:grpSpLocks/>
            </p:cNvGrpSpPr>
            <p:nvPr/>
          </p:nvGrpSpPr>
          <p:grpSpPr bwMode="auto">
            <a:xfrm>
              <a:off x="1444206" y="1385131"/>
              <a:ext cx="336679" cy="1566034"/>
              <a:chOff x="-127" y="845"/>
              <a:chExt cx="333" cy="1678"/>
            </a:xfrm>
          </p:grpSpPr>
          <p:sp>
            <p:nvSpPr>
              <p:cNvPr id="18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8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83" name="Rectangle 92"/>
            <p:cNvSpPr>
              <a:spLocks noChangeArrowheads="1"/>
            </p:cNvSpPr>
            <p:nvPr/>
          </p:nvSpPr>
          <p:spPr bwMode="auto">
            <a:xfrm flipV="1">
              <a:off x="2248865" y="2702913"/>
              <a:ext cx="5018291" cy="2482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04"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5"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6"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7"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208"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209"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grpSp>
        <p:nvGrpSpPr>
          <p:cNvPr id="210" name="Group 100"/>
          <p:cNvGrpSpPr>
            <a:grpSpLocks/>
          </p:cNvGrpSpPr>
          <p:nvPr/>
        </p:nvGrpSpPr>
        <p:grpSpPr bwMode="auto">
          <a:xfrm>
            <a:off x="1912655" y="4199400"/>
            <a:ext cx="1059578" cy="454504"/>
            <a:chOff x="380" y="3475"/>
            <a:chExt cx="1048" cy="487"/>
          </a:xfrm>
        </p:grpSpPr>
        <p:sp>
          <p:nvSpPr>
            <p:cNvPr id="211"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2"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213" name="Rectangle 92"/>
          <p:cNvSpPr>
            <a:spLocks noChangeArrowheads="1"/>
          </p:cNvSpPr>
          <p:nvPr/>
        </p:nvSpPr>
        <p:spPr bwMode="auto">
          <a:xfrm>
            <a:off x="2970210" y="389142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348089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18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21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3"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8" name="圆角矩形 7"/>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61" name="组合 60"/>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47"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0" name="Group 50"/>
            <p:cNvGrpSpPr>
              <a:grpSpLocks/>
            </p:cNvGrpSpPr>
            <p:nvPr/>
          </p:nvGrpSpPr>
          <p:grpSpPr bwMode="auto">
            <a:xfrm>
              <a:off x="7169086" y="3305588"/>
              <a:ext cx="83917" cy="39198"/>
              <a:chOff x="5432" y="3030"/>
              <a:chExt cx="78" cy="51"/>
            </a:xfrm>
          </p:grpSpPr>
          <p:sp>
            <p:nvSpPr>
              <p:cNvPr id="51"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2"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3"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4"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5"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7" name="Group 94"/>
            <p:cNvGrpSpPr>
              <a:grpSpLocks/>
            </p:cNvGrpSpPr>
            <p:nvPr/>
          </p:nvGrpSpPr>
          <p:grpSpPr bwMode="auto">
            <a:xfrm>
              <a:off x="1392642" y="1885145"/>
              <a:ext cx="336679" cy="1566034"/>
              <a:chOff x="-127" y="845"/>
              <a:chExt cx="333" cy="1678"/>
            </a:xfrm>
          </p:grpSpPr>
          <p:sp>
            <p:nvSpPr>
              <p:cNvPr id="59"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0"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2" name="矩形 61"/>
          <p:cNvSpPr/>
          <p:nvPr/>
        </p:nvSpPr>
        <p:spPr>
          <a:xfrm>
            <a:off x="3006163" y="3505490"/>
            <a:ext cx="368562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位，指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协议的版本。</a:t>
            </a:r>
          </a:p>
          <a:p>
            <a:pPr algn="ctr"/>
            <a:r>
              <a:rPr lang="zh-CN" altLang="en-US" sz="1600" b="1" dirty="0">
                <a:solidFill>
                  <a:schemeClr val="bg1"/>
                </a:solidFill>
                <a:latin typeface="微软雅黑" pitchFamily="34" charset="-122"/>
                <a:ea typeface="微软雅黑" pitchFamily="34" charset="-122"/>
              </a:rPr>
              <a:t>目前的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协议版本号为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即 </a:t>
            </a:r>
            <a:r>
              <a:rPr lang="en-US" altLang="zh-CN" sz="1600" b="1" dirty="0">
                <a:solidFill>
                  <a:schemeClr val="bg1"/>
                </a:solidFill>
                <a:latin typeface="微软雅黑" pitchFamily="34" charset="-122"/>
                <a:ea typeface="微软雅黑" pitchFamily="34" charset="-122"/>
              </a:rPr>
              <a:t>IPv4)</a:t>
            </a:r>
            <a:r>
              <a:rPr lang="zh-CN" altLang="en-US" sz="1600" b="1" dirty="0">
                <a:solidFill>
                  <a:schemeClr val="bg1"/>
                </a:solidFill>
                <a:latin typeface="微软雅黑" pitchFamily="34" charset="-122"/>
                <a:ea typeface="微软雅黑" pitchFamily="34" charset="-122"/>
              </a:rPr>
              <a:t>。</a:t>
            </a:r>
          </a:p>
        </p:txBody>
      </p:sp>
      <p:sp>
        <p:nvSpPr>
          <p:cNvPr id="114" name="Rectangle 92"/>
          <p:cNvSpPr>
            <a:spLocks noChangeArrowheads="1"/>
          </p:cNvSpPr>
          <p:nvPr/>
        </p:nvSpPr>
        <p:spPr bwMode="auto">
          <a:xfrm flipV="1">
            <a:off x="2442280" y="1322244"/>
            <a:ext cx="6167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1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animBg="1"/>
      <p:bldP spid="114"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930874" y="3369695"/>
            <a:ext cx="3962944"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位，可表示的最大数值</a:t>
            </a:r>
          </a:p>
          <a:p>
            <a:pPr algn="ctr"/>
            <a:r>
              <a:rPr lang="zh-CN" altLang="en-US" sz="1600" b="1" dirty="0">
                <a:solidFill>
                  <a:schemeClr val="bg1"/>
                </a:solidFill>
                <a:latin typeface="微软雅黑" pitchFamily="34" charset="-122"/>
                <a:ea typeface="微软雅黑" pitchFamily="34" charset="-122"/>
              </a:rPr>
              <a:t>是 </a:t>
            </a:r>
            <a:r>
              <a:rPr lang="en-US" altLang="zh-CN" sz="1600" b="1" dirty="0">
                <a:solidFill>
                  <a:schemeClr val="bg1"/>
                </a:solidFill>
                <a:latin typeface="微软雅黑" pitchFamily="34" charset="-122"/>
                <a:ea typeface="微软雅黑" pitchFamily="34" charset="-122"/>
              </a:rPr>
              <a:t>15 </a:t>
            </a:r>
            <a:r>
              <a:rPr lang="zh-CN" altLang="en-US" sz="1600" b="1" dirty="0">
                <a:solidFill>
                  <a:schemeClr val="bg1"/>
                </a:solidFill>
                <a:latin typeface="微软雅黑" pitchFamily="34" charset="-122"/>
                <a:ea typeface="微软雅黑" pitchFamily="34" charset="-122"/>
              </a:rPr>
              <a:t>个单位</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一个单位为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因此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的首部长度的</a:t>
            </a:r>
            <a:r>
              <a:rPr lang="zh-CN" altLang="en-US" sz="1600" b="1" dirty="0">
                <a:solidFill>
                  <a:srgbClr val="FFFF00"/>
                </a:solidFill>
                <a:latin typeface="微软雅黑" pitchFamily="34" charset="-122"/>
                <a:ea typeface="微软雅黑" pitchFamily="34" charset="-122"/>
              </a:rPr>
              <a:t>最大值是 </a:t>
            </a:r>
            <a:r>
              <a:rPr lang="en-US" altLang="zh-CN" sz="1600" b="1" dirty="0">
                <a:solidFill>
                  <a:srgbClr val="FFFF00"/>
                </a:solidFill>
                <a:latin typeface="微软雅黑" pitchFamily="34" charset="-122"/>
                <a:ea typeface="微软雅黑" pitchFamily="34" charset="-122"/>
              </a:rPr>
              <a:t>60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a:t>
            </a:r>
          </a:p>
        </p:txBody>
      </p:sp>
      <p:sp>
        <p:nvSpPr>
          <p:cNvPr id="62" name="Rectangle 92"/>
          <p:cNvSpPr>
            <a:spLocks noChangeArrowheads="1"/>
          </p:cNvSpPr>
          <p:nvPr/>
        </p:nvSpPr>
        <p:spPr bwMode="auto">
          <a:xfrm flipV="1">
            <a:off x="3059018" y="1322242"/>
            <a:ext cx="670739"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148428" y="3371926"/>
            <a:ext cx="5545942"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区分服务</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位，用来获得更好的服务。</a:t>
            </a:r>
          </a:p>
          <a:p>
            <a:pPr algn="ctr"/>
            <a:r>
              <a:rPr lang="zh-CN" altLang="en-US" sz="1600" b="1" dirty="0">
                <a:solidFill>
                  <a:schemeClr val="bg1"/>
                </a:solidFill>
                <a:latin typeface="微软雅黑" pitchFamily="34" charset="-122"/>
                <a:ea typeface="微软雅黑" pitchFamily="34" charset="-122"/>
              </a:rPr>
              <a:t>只有在使用区分服务（</a:t>
            </a:r>
            <a:r>
              <a:rPr lang="en-US" altLang="zh-CN" sz="1600" b="1" dirty="0" err="1">
                <a:solidFill>
                  <a:schemeClr val="bg1"/>
                </a:solidFill>
                <a:latin typeface="微软雅黑" pitchFamily="34" charset="-122"/>
                <a:ea typeface="微软雅黑" pitchFamily="34" charset="-122"/>
              </a:rPr>
              <a:t>DiffServ</a:t>
            </a:r>
            <a:r>
              <a:rPr lang="zh-CN" altLang="en-US" sz="1600" b="1" dirty="0">
                <a:solidFill>
                  <a:schemeClr val="bg1"/>
                </a:solidFill>
                <a:latin typeface="微软雅黑" pitchFamily="34" charset="-122"/>
                <a:ea typeface="微软雅黑" pitchFamily="34" charset="-122"/>
              </a:rPr>
              <a:t>）时，这个字段才起作用。</a:t>
            </a:r>
          </a:p>
          <a:p>
            <a:pPr algn="ctr"/>
            <a:r>
              <a:rPr lang="zh-CN" altLang="en-US" sz="1600" b="1" dirty="0">
                <a:solidFill>
                  <a:schemeClr val="bg1"/>
                </a:solidFill>
                <a:latin typeface="微软雅黑" pitchFamily="34" charset="-122"/>
                <a:ea typeface="微软雅黑" pitchFamily="34" charset="-122"/>
              </a:rPr>
              <a:t>在一般的情况下都不使用这个字段 </a:t>
            </a:r>
          </a:p>
        </p:txBody>
      </p:sp>
      <p:sp>
        <p:nvSpPr>
          <p:cNvPr id="60" name="Rectangle 92"/>
          <p:cNvSpPr>
            <a:spLocks noChangeArrowheads="1"/>
          </p:cNvSpPr>
          <p:nvPr/>
        </p:nvSpPr>
        <p:spPr bwMode="auto">
          <a:xfrm flipV="1">
            <a:off x="3729758" y="1322240"/>
            <a:ext cx="12128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390662" y="3369695"/>
            <a:ext cx="5043368"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总长度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位，指首部和数据之和的长度，</a:t>
            </a:r>
          </a:p>
          <a:p>
            <a:pPr algn="ctr"/>
            <a:r>
              <a:rPr lang="zh-CN" altLang="en-US" sz="1600" b="1" dirty="0">
                <a:solidFill>
                  <a:schemeClr val="bg1"/>
                </a:solidFill>
                <a:latin typeface="微软雅黑" pitchFamily="34" charset="-122"/>
                <a:ea typeface="微软雅黑" pitchFamily="34" charset="-122"/>
              </a:rPr>
              <a:t>单位为字节，因此数据报的最大长度为 </a:t>
            </a:r>
            <a:r>
              <a:rPr lang="en-US" altLang="zh-CN" sz="1600" b="1" dirty="0">
                <a:solidFill>
                  <a:schemeClr val="bg1"/>
                </a:solidFill>
                <a:latin typeface="微软雅黑" pitchFamily="34" charset="-122"/>
                <a:ea typeface="微软雅黑" pitchFamily="34" charset="-122"/>
              </a:rPr>
              <a:t>65535 </a:t>
            </a:r>
            <a:r>
              <a:rPr lang="zh-CN" altLang="en-US" sz="1600" b="1" dirty="0">
                <a:solidFill>
                  <a:schemeClr val="bg1"/>
                </a:solidFill>
                <a:latin typeface="微软雅黑" pitchFamily="34" charset="-122"/>
                <a:ea typeface="微软雅黑" pitchFamily="34" charset="-122"/>
              </a:rPr>
              <a:t>字节。</a:t>
            </a:r>
          </a:p>
          <a:p>
            <a:pPr algn="ctr"/>
            <a:r>
              <a:rPr lang="zh-CN" altLang="en-US" sz="1600" b="1" dirty="0">
                <a:solidFill>
                  <a:srgbClr val="FFFF00"/>
                </a:solidFill>
                <a:latin typeface="微软雅黑" pitchFamily="34" charset="-122"/>
                <a:ea typeface="微软雅黑" pitchFamily="34" charset="-122"/>
              </a:rPr>
              <a:t>总长度必须不超过最大传送单元 </a:t>
            </a:r>
            <a:r>
              <a:rPr lang="en-US" altLang="zh-CN" sz="1600" b="1" dirty="0">
                <a:solidFill>
                  <a:srgbClr val="FFFF00"/>
                </a:solidFill>
                <a:latin typeface="微软雅黑" pitchFamily="34" charset="-122"/>
                <a:ea typeface="微软雅黑" pitchFamily="34" charset="-122"/>
              </a:rPr>
              <a:t>MTU</a:t>
            </a:r>
            <a:r>
              <a:rPr lang="zh-CN" altLang="en-US" sz="1600" b="1" dirty="0">
                <a:solidFill>
                  <a:srgbClr val="FFFF00"/>
                </a:solidFill>
                <a:latin typeface="微软雅黑" pitchFamily="34" charset="-122"/>
                <a:ea typeface="微软雅黑" pitchFamily="34" charset="-122"/>
              </a:rPr>
              <a:t>。 </a:t>
            </a:r>
          </a:p>
        </p:txBody>
      </p:sp>
      <p:sp>
        <p:nvSpPr>
          <p:cNvPr id="62" name="Rectangle 92"/>
          <p:cNvSpPr>
            <a:spLocks noChangeArrowheads="1"/>
          </p:cNvSpPr>
          <p:nvPr/>
        </p:nvSpPr>
        <p:spPr bwMode="auto">
          <a:xfrm flipV="1">
            <a:off x="4942598" y="1322240"/>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76489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677599" y="3387638"/>
            <a:ext cx="4469493"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标识 </a:t>
            </a:r>
            <a:r>
              <a:rPr lang="en-US" altLang="zh-CN" sz="1600" b="1" dirty="0">
                <a:solidFill>
                  <a:schemeClr val="bg1"/>
                </a:solidFill>
                <a:latin typeface="微软雅黑" pitchFamily="34" charset="-122"/>
                <a:ea typeface="微软雅黑" pitchFamily="34" charset="-122"/>
              </a:rPr>
              <a:t>(identification) ——</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a:t>
            </a:r>
          </a:p>
          <a:p>
            <a:pPr algn="ctr"/>
            <a:r>
              <a:rPr lang="zh-CN" altLang="en-US" sz="1600" b="1" dirty="0">
                <a:solidFill>
                  <a:schemeClr val="bg1"/>
                </a:solidFill>
                <a:latin typeface="微软雅黑" pitchFamily="34" charset="-122"/>
                <a:ea typeface="微软雅黑" pitchFamily="34" charset="-122"/>
              </a:rPr>
              <a:t>它是一个计数器，用来产生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数据报的标识。 </a:t>
            </a:r>
          </a:p>
        </p:txBody>
      </p:sp>
      <p:sp>
        <p:nvSpPr>
          <p:cNvPr id="62" name="Rectangle 92"/>
          <p:cNvSpPr>
            <a:spLocks noChangeArrowheads="1"/>
          </p:cNvSpPr>
          <p:nvPr/>
        </p:nvSpPr>
        <p:spPr bwMode="auto">
          <a:xfrm flipV="1">
            <a:off x="2443756" y="1591638"/>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552262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408917" y="3336009"/>
            <a:ext cx="5084293" cy="1246495"/>
          </a:xfrm>
          <a:prstGeom prst="rect">
            <a:avLst/>
          </a:prstGeom>
          <a:solidFill>
            <a:srgbClr val="0000CC"/>
          </a:solidFill>
          <a:ln w="9525">
            <a:noFill/>
            <a:miter lim="800000"/>
            <a:headEnd/>
            <a:tailEnd/>
          </a:ln>
          <a:effectLst/>
        </p:spPr>
        <p:txBody>
          <a:bodyPr wrap="square">
            <a:spAutoFit/>
          </a:bodyPr>
          <a:lstStyle/>
          <a:p>
            <a:pPr algn="ctr">
              <a:lnSpc>
                <a:spcPts val="1800"/>
              </a:lnSpc>
            </a:pPr>
            <a:r>
              <a:rPr lang="zh-CN" altLang="en-US" sz="1400" b="1" dirty="0">
                <a:solidFill>
                  <a:schemeClr val="bg1"/>
                </a:solidFill>
                <a:latin typeface="微软雅黑" pitchFamily="34" charset="-122"/>
                <a:ea typeface="微软雅黑" pitchFamily="34" charset="-122"/>
              </a:rPr>
              <a:t>标志</a:t>
            </a:r>
            <a:r>
              <a:rPr lang="en-US" altLang="zh-CN" sz="1400" b="1" dirty="0">
                <a:solidFill>
                  <a:schemeClr val="bg1"/>
                </a:solidFill>
                <a:latin typeface="微软雅黑" pitchFamily="34" charset="-122"/>
                <a:ea typeface="微软雅黑" pitchFamily="34" charset="-122"/>
              </a:rPr>
              <a:t>(flag) ——</a:t>
            </a:r>
            <a:r>
              <a:rPr lang="zh-CN" altLang="en-US" sz="1400" b="1" dirty="0">
                <a:solidFill>
                  <a:schemeClr val="bg1"/>
                </a:solidFill>
                <a:latin typeface="微软雅黑" pitchFamily="34" charset="-122"/>
                <a:ea typeface="微软雅黑" pitchFamily="34" charset="-122"/>
              </a:rPr>
              <a:t>占 </a:t>
            </a:r>
            <a:r>
              <a:rPr lang="en-US" altLang="zh-CN" sz="1400" b="1" dirty="0">
                <a:solidFill>
                  <a:schemeClr val="bg1"/>
                </a:solidFill>
                <a:latin typeface="微软雅黑" pitchFamily="34" charset="-122"/>
                <a:ea typeface="微软雅黑" pitchFamily="34" charset="-122"/>
              </a:rPr>
              <a:t>3 </a:t>
            </a:r>
            <a:r>
              <a:rPr lang="zh-CN" altLang="en-US" sz="1400" b="1" dirty="0">
                <a:solidFill>
                  <a:schemeClr val="bg1"/>
                </a:solidFill>
                <a:latin typeface="微软雅黑" pitchFamily="34" charset="-122"/>
                <a:ea typeface="微软雅黑" pitchFamily="34" charset="-122"/>
              </a:rPr>
              <a:t>位，目前只有前两位有意义。</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标志字段的最低位是 </a:t>
            </a:r>
            <a:r>
              <a:rPr lang="en-US" altLang="zh-CN" sz="1400" b="1" dirty="0">
                <a:solidFill>
                  <a:srgbClr val="FFFF00"/>
                </a:solidFill>
                <a:latin typeface="微软雅黑" pitchFamily="34" charset="-122"/>
                <a:ea typeface="微软雅黑" pitchFamily="34" charset="-122"/>
              </a:rPr>
              <a:t>MF</a:t>
            </a:r>
            <a:r>
              <a:rPr lang="en-US" altLang="zh-CN" sz="1400" b="1" dirty="0">
                <a:solidFill>
                  <a:schemeClr val="bg1"/>
                </a:solidFill>
                <a:latin typeface="微软雅黑" pitchFamily="34" charset="-122"/>
                <a:ea typeface="微软雅黑" pitchFamily="34" charset="-122"/>
              </a:rPr>
              <a:t> (More Fragment)</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en-US" altLang="zh-CN" sz="1400" b="1" dirty="0">
                <a:solidFill>
                  <a:schemeClr val="bg1"/>
                </a:solidFill>
                <a:latin typeface="微软雅黑" pitchFamily="34" charset="-122"/>
                <a:ea typeface="微软雅黑" pitchFamily="34" charset="-122"/>
              </a:rPr>
              <a:t>MF=1 </a:t>
            </a:r>
            <a:r>
              <a:rPr lang="zh-CN" altLang="en-US" sz="1400" b="1" dirty="0">
                <a:solidFill>
                  <a:schemeClr val="bg1"/>
                </a:solidFill>
                <a:latin typeface="微软雅黑" pitchFamily="34" charset="-122"/>
                <a:ea typeface="微软雅黑" pitchFamily="34" charset="-122"/>
              </a:rPr>
              <a:t>表示后面还有分片，</a:t>
            </a:r>
            <a:r>
              <a:rPr lang="en-US" altLang="zh-CN" sz="1400" b="1" dirty="0">
                <a:solidFill>
                  <a:schemeClr val="bg1"/>
                </a:solidFill>
                <a:latin typeface="微软雅黑" pitchFamily="34" charset="-122"/>
                <a:ea typeface="微软雅黑" pitchFamily="34" charset="-122"/>
              </a:rPr>
              <a:t>MF=0 </a:t>
            </a:r>
            <a:r>
              <a:rPr lang="zh-CN" altLang="en-US" sz="1400" b="1" dirty="0">
                <a:solidFill>
                  <a:schemeClr val="bg1"/>
                </a:solidFill>
                <a:latin typeface="微软雅黑" pitchFamily="34" charset="-122"/>
                <a:ea typeface="微软雅黑" pitchFamily="34" charset="-122"/>
              </a:rPr>
              <a:t>表示最后一个分片。</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标志字段中间的一位是 </a:t>
            </a:r>
            <a:r>
              <a:rPr lang="en-US" altLang="zh-CN" sz="1400" b="1" dirty="0">
                <a:solidFill>
                  <a:srgbClr val="FFFF00"/>
                </a:solidFill>
                <a:latin typeface="微软雅黑" pitchFamily="34" charset="-122"/>
                <a:ea typeface="微软雅黑" pitchFamily="34" charset="-122"/>
              </a:rPr>
              <a:t>DF</a:t>
            </a:r>
            <a:r>
              <a:rPr lang="en-US" altLang="zh-CN" sz="1400" b="1" dirty="0">
                <a:solidFill>
                  <a:schemeClr val="bg1"/>
                </a:solidFill>
                <a:latin typeface="微软雅黑" pitchFamily="34" charset="-122"/>
                <a:ea typeface="微软雅黑" pitchFamily="34" charset="-122"/>
              </a:rPr>
              <a:t> (Don't Fragment) </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zh-CN" altLang="en-US" sz="1400" b="1" dirty="0">
                <a:solidFill>
                  <a:schemeClr val="bg1"/>
                </a:solidFill>
                <a:latin typeface="微软雅黑" pitchFamily="34" charset="-122"/>
                <a:ea typeface="微软雅黑" pitchFamily="34" charset="-122"/>
              </a:rPr>
              <a:t>只有当 </a:t>
            </a:r>
            <a:r>
              <a:rPr lang="en-US" altLang="zh-CN" sz="1400" b="1" dirty="0">
                <a:solidFill>
                  <a:schemeClr val="bg1"/>
                </a:solidFill>
                <a:latin typeface="微软雅黑" pitchFamily="34" charset="-122"/>
                <a:ea typeface="微软雅黑" pitchFamily="34" charset="-122"/>
              </a:rPr>
              <a:t>DF=0 </a:t>
            </a:r>
            <a:r>
              <a:rPr lang="zh-CN" altLang="en-US" sz="1400" b="1" dirty="0">
                <a:solidFill>
                  <a:schemeClr val="bg1"/>
                </a:solidFill>
                <a:latin typeface="微软雅黑" pitchFamily="34" charset="-122"/>
                <a:ea typeface="微软雅黑" pitchFamily="34" charset="-122"/>
              </a:rPr>
              <a:t>时才允许分片。 </a:t>
            </a:r>
          </a:p>
        </p:txBody>
      </p:sp>
      <p:sp>
        <p:nvSpPr>
          <p:cNvPr id="60" name="Rectangle 92"/>
          <p:cNvSpPr>
            <a:spLocks noChangeArrowheads="1"/>
          </p:cNvSpPr>
          <p:nvPr/>
        </p:nvSpPr>
        <p:spPr bwMode="auto">
          <a:xfrm flipH="1" flipV="1">
            <a:off x="4961261" y="1591637"/>
            <a:ext cx="496205"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573640" y="3369695"/>
            <a:ext cx="4695517"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片偏移</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13 </a:t>
            </a:r>
            <a:r>
              <a:rPr lang="zh-CN" altLang="en-US" sz="1600" b="1" dirty="0">
                <a:solidFill>
                  <a:schemeClr val="bg1"/>
                </a:solidFill>
                <a:latin typeface="微软雅黑" pitchFamily="34" charset="-122"/>
                <a:ea typeface="微软雅黑" pitchFamily="34" charset="-122"/>
              </a:rPr>
              <a:t>位，指出：较长的分组在分片后</a:t>
            </a:r>
          </a:p>
          <a:p>
            <a:pPr algn="ctr"/>
            <a:r>
              <a:rPr lang="zh-CN" altLang="en-US" sz="1600" b="1" dirty="0">
                <a:solidFill>
                  <a:schemeClr val="bg1"/>
                </a:solidFill>
                <a:latin typeface="微软雅黑" pitchFamily="34" charset="-122"/>
                <a:ea typeface="微软雅黑" pitchFamily="34" charset="-122"/>
              </a:rPr>
              <a:t>某片在原分组中的相对位置。</a:t>
            </a:r>
          </a:p>
          <a:p>
            <a:pPr algn="ctr"/>
            <a:r>
              <a:rPr lang="zh-CN" altLang="en-US" sz="1600" b="1" dirty="0">
                <a:solidFill>
                  <a:schemeClr val="bg1"/>
                </a:solidFill>
                <a:latin typeface="微软雅黑" pitchFamily="34" charset="-122"/>
                <a:ea typeface="微软雅黑" pitchFamily="34" charset="-122"/>
              </a:rPr>
              <a:t>片偏移以 </a:t>
            </a:r>
            <a:r>
              <a:rPr lang="en-US" altLang="zh-CN" sz="1600" b="1" dirty="0">
                <a:solidFill>
                  <a:srgbClr val="FFFF00"/>
                </a:solidFill>
                <a:latin typeface="微软雅黑" pitchFamily="34" charset="-122"/>
                <a:ea typeface="微软雅黑" pitchFamily="34" charset="-122"/>
              </a:rPr>
              <a:t>8 </a:t>
            </a:r>
            <a:r>
              <a:rPr lang="zh-CN" altLang="en-US" sz="1600" b="1" dirty="0">
                <a:solidFill>
                  <a:srgbClr val="FFFF00"/>
                </a:solidFill>
                <a:latin typeface="微软雅黑" pitchFamily="34" charset="-122"/>
                <a:ea typeface="微软雅黑" pitchFamily="34" charset="-122"/>
              </a:rPr>
              <a:t>个字节</a:t>
            </a:r>
            <a:r>
              <a:rPr lang="zh-CN" altLang="en-US" sz="1600" b="1" dirty="0">
                <a:solidFill>
                  <a:schemeClr val="bg1"/>
                </a:solidFill>
                <a:latin typeface="微软雅黑" pitchFamily="34" charset="-122"/>
                <a:ea typeface="微软雅黑" pitchFamily="34" charset="-122"/>
              </a:rPr>
              <a:t>为偏移单位。</a:t>
            </a:r>
          </a:p>
        </p:txBody>
      </p:sp>
      <p:sp>
        <p:nvSpPr>
          <p:cNvPr id="60" name="Rectangle 92"/>
          <p:cNvSpPr>
            <a:spLocks noChangeArrowheads="1"/>
          </p:cNvSpPr>
          <p:nvPr/>
        </p:nvSpPr>
        <p:spPr bwMode="auto">
          <a:xfrm flipV="1">
            <a:off x="5457465" y="1591636"/>
            <a:ext cx="2002638"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083077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3484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76076"/>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8" name="圆角矩形 7"/>
          <p:cNvSpPr/>
          <p:nvPr/>
        </p:nvSpPr>
        <p:spPr>
          <a:xfrm>
            <a:off x="556963" y="1023043"/>
            <a:ext cx="8041892" cy="332959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252831" y="1797916"/>
            <a:ext cx="3324816" cy="2450865"/>
            <a:chOff x="344488" y="2380134"/>
            <a:chExt cx="4755225" cy="3505282"/>
          </a:xfrm>
        </p:grpSpPr>
        <p:sp>
          <p:nvSpPr>
            <p:cNvPr id="10" name="Text Box 5"/>
            <p:cNvSpPr txBox="1">
              <a:spLocks noChangeArrowheads="1"/>
            </p:cNvSpPr>
            <p:nvPr/>
          </p:nvSpPr>
          <p:spPr bwMode="auto">
            <a:xfrm>
              <a:off x="704528" y="5445226"/>
              <a:ext cx="2066136"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0/8 = 0</a:t>
              </a:r>
            </a:p>
          </p:txBody>
        </p:sp>
        <p:sp>
          <p:nvSpPr>
            <p:cNvPr id="11" name="Rectangle 11"/>
            <p:cNvSpPr>
              <a:spLocks noChangeArrowheads="1"/>
            </p:cNvSpPr>
            <p:nvPr/>
          </p:nvSpPr>
          <p:spPr bwMode="auto">
            <a:xfrm>
              <a:off x="1295534"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 name="Line 12"/>
            <p:cNvSpPr>
              <a:spLocks noChangeShapeType="1"/>
            </p:cNvSpPr>
            <p:nvPr/>
          </p:nvSpPr>
          <p:spPr bwMode="auto">
            <a:xfrm>
              <a:off x="148471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3"/>
            <p:cNvSpPr>
              <a:spLocks noChangeShapeType="1"/>
            </p:cNvSpPr>
            <p:nvPr/>
          </p:nvSpPr>
          <p:spPr bwMode="auto">
            <a:xfrm>
              <a:off x="16756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Line 14"/>
            <p:cNvSpPr>
              <a:spLocks noChangeShapeType="1"/>
            </p:cNvSpPr>
            <p:nvPr/>
          </p:nvSpPr>
          <p:spPr bwMode="auto">
            <a:xfrm>
              <a:off x="18665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 name="Line 15"/>
            <p:cNvSpPr>
              <a:spLocks noChangeShapeType="1"/>
            </p:cNvSpPr>
            <p:nvPr/>
          </p:nvSpPr>
          <p:spPr bwMode="auto">
            <a:xfrm>
              <a:off x="30050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Line 21"/>
            <p:cNvSpPr>
              <a:spLocks noChangeShapeType="1"/>
            </p:cNvSpPr>
            <p:nvPr/>
          </p:nvSpPr>
          <p:spPr bwMode="auto">
            <a:xfrm flipV="1">
              <a:off x="3101314"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Text Box 30"/>
            <p:cNvSpPr txBox="1">
              <a:spLocks noChangeArrowheads="1"/>
            </p:cNvSpPr>
            <p:nvPr/>
          </p:nvSpPr>
          <p:spPr bwMode="auto">
            <a:xfrm>
              <a:off x="2629894" y="4625603"/>
              <a:ext cx="896885"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1399</a:t>
              </a:r>
            </a:p>
          </p:txBody>
        </p:sp>
        <p:sp>
          <p:nvSpPr>
            <p:cNvPr id="18" name="Text Box 33"/>
            <p:cNvSpPr txBox="1">
              <a:spLocks noChangeArrowheads="1"/>
            </p:cNvSpPr>
            <p:nvPr/>
          </p:nvSpPr>
          <p:spPr bwMode="auto">
            <a:xfrm>
              <a:off x="990013" y="5072535"/>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1</a:t>
              </a:r>
            </a:p>
          </p:txBody>
        </p:sp>
        <p:sp>
          <p:nvSpPr>
            <p:cNvPr id="19" name="Rectangle 36"/>
            <p:cNvSpPr>
              <a:spLocks noChangeArrowheads="1"/>
            </p:cNvSpPr>
            <p:nvPr/>
          </p:nvSpPr>
          <p:spPr bwMode="auto">
            <a:xfrm>
              <a:off x="344488"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39"/>
            <p:cNvSpPr>
              <a:spLocks noChangeShapeType="1"/>
            </p:cNvSpPr>
            <p:nvPr/>
          </p:nvSpPr>
          <p:spPr bwMode="auto">
            <a:xfrm flipV="1">
              <a:off x="1295534" y="2380134"/>
              <a:ext cx="1900369"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Line 40"/>
            <p:cNvSpPr>
              <a:spLocks noChangeShapeType="1"/>
            </p:cNvSpPr>
            <p:nvPr/>
          </p:nvSpPr>
          <p:spPr bwMode="auto">
            <a:xfrm flipV="1">
              <a:off x="3195903" y="2380134"/>
              <a:ext cx="1903810"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59"/>
            <p:cNvSpPr txBox="1">
              <a:spLocks noChangeArrowheads="1"/>
            </p:cNvSpPr>
            <p:nvPr/>
          </p:nvSpPr>
          <p:spPr bwMode="auto">
            <a:xfrm>
              <a:off x="344488" y="3869209"/>
              <a:ext cx="1040474"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1</a:t>
              </a:r>
            </a:p>
          </p:txBody>
        </p:sp>
        <p:sp>
          <p:nvSpPr>
            <p:cNvPr id="23" name="Line 62"/>
            <p:cNvSpPr>
              <a:spLocks noChangeShapeType="1"/>
            </p:cNvSpPr>
            <p:nvPr/>
          </p:nvSpPr>
          <p:spPr bwMode="auto">
            <a:xfrm flipV="1">
              <a:off x="1384962"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 name="Text Box 63"/>
            <p:cNvSpPr txBox="1">
              <a:spLocks noChangeArrowheads="1"/>
            </p:cNvSpPr>
            <p:nvPr/>
          </p:nvSpPr>
          <p:spPr bwMode="auto">
            <a:xfrm>
              <a:off x="564621" y="4626445"/>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字节 </a:t>
              </a:r>
              <a:r>
                <a:rPr kumimoji="1" lang="en-US" altLang="zh-CN" sz="1400" b="1" dirty="0">
                  <a:latin typeface="微软雅黑" pitchFamily="34" charset="-122"/>
                  <a:ea typeface="微软雅黑" pitchFamily="34" charset="-122"/>
                </a:rPr>
                <a:t>0</a:t>
              </a:r>
            </a:p>
          </p:txBody>
        </p:sp>
      </p:grpSp>
      <p:grpSp>
        <p:nvGrpSpPr>
          <p:cNvPr id="25" name="组合 24"/>
          <p:cNvGrpSpPr/>
          <p:nvPr/>
        </p:nvGrpSpPr>
        <p:grpSpPr>
          <a:xfrm>
            <a:off x="3557956" y="1797916"/>
            <a:ext cx="2349616" cy="2450863"/>
            <a:chOff x="3641329" y="2380134"/>
            <a:chExt cx="3360473" cy="3505278"/>
          </a:xfrm>
        </p:grpSpPr>
        <p:sp>
          <p:nvSpPr>
            <p:cNvPr id="26" name="Text Box 17"/>
            <p:cNvSpPr txBox="1">
              <a:spLocks noChangeArrowheads="1"/>
            </p:cNvSpPr>
            <p:nvPr/>
          </p:nvSpPr>
          <p:spPr bwMode="auto">
            <a:xfrm>
              <a:off x="3653972"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1400/8 = 175</a:t>
              </a:r>
            </a:p>
          </p:txBody>
        </p:sp>
        <p:sp>
          <p:nvSpPr>
            <p:cNvPr id="27" name="Line 22"/>
            <p:cNvSpPr>
              <a:spLocks noChangeShapeType="1"/>
            </p:cNvSpPr>
            <p:nvPr/>
          </p:nvSpPr>
          <p:spPr bwMode="auto">
            <a:xfrm flipV="1">
              <a:off x="4717918"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3"/>
            <p:cNvSpPr>
              <a:spLocks noChangeShapeType="1"/>
            </p:cNvSpPr>
            <p:nvPr/>
          </p:nvSpPr>
          <p:spPr bwMode="auto">
            <a:xfrm flipV="1">
              <a:off x="6430831"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26"/>
            <p:cNvSpPr txBox="1">
              <a:spLocks noChangeArrowheads="1"/>
            </p:cNvSpPr>
            <p:nvPr/>
          </p:nvSpPr>
          <p:spPr bwMode="auto">
            <a:xfrm>
              <a:off x="4246497" y="4660776"/>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1400</a:t>
              </a:r>
            </a:p>
          </p:txBody>
        </p:sp>
        <p:sp>
          <p:nvSpPr>
            <p:cNvPr id="30" name="Text Box 29"/>
            <p:cNvSpPr txBox="1">
              <a:spLocks noChangeArrowheads="1"/>
            </p:cNvSpPr>
            <p:nvPr/>
          </p:nvSpPr>
          <p:spPr bwMode="auto">
            <a:xfrm>
              <a:off x="5968920" y="4638550"/>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2799</a:t>
              </a:r>
            </a:p>
          </p:txBody>
        </p:sp>
        <p:sp>
          <p:nvSpPr>
            <p:cNvPr id="31" name="Rectangle 41"/>
            <p:cNvSpPr>
              <a:spLocks noChangeArrowheads="1"/>
            </p:cNvSpPr>
            <p:nvPr/>
          </p:nvSpPr>
          <p:spPr bwMode="auto">
            <a:xfrm>
              <a:off x="4625050"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42"/>
            <p:cNvSpPr>
              <a:spLocks noChangeShapeType="1"/>
            </p:cNvSpPr>
            <p:nvPr/>
          </p:nvSpPr>
          <p:spPr bwMode="auto">
            <a:xfrm>
              <a:off x="4814227"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43"/>
            <p:cNvSpPr>
              <a:spLocks noChangeShapeType="1"/>
            </p:cNvSpPr>
            <p:nvPr/>
          </p:nvSpPr>
          <p:spPr bwMode="auto">
            <a:xfrm>
              <a:off x="50034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44"/>
            <p:cNvSpPr>
              <a:spLocks noChangeShapeType="1"/>
            </p:cNvSpPr>
            <p:nvPr/>
          </p:nvSpPr>
          <p:spPr bwMode="auto">
            <a:xfrm>
              <a:off x="519430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45"/>
            <p:cNvSpPr>
              <a:spLocks noChangeShapeType="1"/>
            </p:cNvSpPr>
            <p:nvPr/>
          </p:nvSpPr>
          <p:spPr bwMode="auto">
            <a:xfrm>
              <a:off x="6334522"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46"/>
            <p:cNvSpPr>
              <a:spLocks noChangeArrowheads="1"/>
            </p:cNvSpPr>
            <p:nvPr/>
          </p:nvSpPr>
          <p:spPr bwMode="auto">
            <a:xfrm>
              <a:off x="3674004"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Line 47"/>
            <p:cNvSpPr>
              <a:spLocks noChangeShapeType="1"/>
            </p:cNvSpPr>
            <p:nvPr/>
          </p:nvSpPr>
          <p:spPr bwMode="auto">
            <a:xfrm flipV="1">
              <a:off x="4625049" y="2380134"/>
              <a:ext cx="47466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48"/>
            <p:cNvSpPr>
              <a:spLocks noChangeShapeType="1"/>
            </p:cNvSpPr>
            <p:nvPr/>
          </p:nvSpPr>
          <p:spPr bwMode="auto">
            <a:xfrm flipV="1">
              <a:off x="6525419" y="2380134"/>
              <a:ext cx="47638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60"/>
            <p:cNvSpPr txBox="1">
              <a:spLocks noChangeArrowheads="1"/>
            </p:cNvSpPr>
            <p:nvPr/>
          </p:nvSpPr>
          <p:spPr bwMode="auto">
            <a:xfrm>
              <a:off x="3641329"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2</a:t>
              </a:r>
            </a:p>
          </p:txBody>
        </p:sp>
        <p:sp>
          <p:nvSpPr>
            <p:cNvPr id="40" name="Text Box 64"/>
            <p:cNvSpPr txBox="1">
              <a:spLocks noChangeArrowheads="1"/>
            </p:cNvSpPr>
            <p:nvPr/>
          </p:nvSpPr>
          <p:spPr bwMode="auto">
            <a:xfrm>
              <a:off x="4254178" y="5067770"/>
              <a:ext cx="1525072"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2</a:t>
              </a:r>
            </a:p>
          </p:txBody>
        </p:sp>
      </p:grpSp>
      <p:grpSp>
        <p:nvGrpSpPr>
          <p:cNvPr id="41" name="组合 40"/>
          <p:cNvGrpSpPr/>
          <p:nvPr/>
        </p:nvGrpSpPr>
        <p:grpSpPr>
          <a:xfrm>
            <a:off x="5834448" y="1797916"/>
            <a:ext cx="2024564" cy="2450863"/>
            <a:chOff x="6897216" y="2380134"/>
            <a:chExt cx="2895574" cy="3505278"/>
          </a:xfrm>
        </p:grpSpPr>
        <p:sp>
          <p:nvSpPr>
            <p:cNvPr id="42" name="Text Box 18"/>
            <p:cNvSpPr txBox="1">
              <a:spLocks noChangeArrowheads="1"/>
            </p:cNvSpPr>
            <p:nvPr/>
          </p:nvSpPr>
          <p:spPr bwMode="auto">
            <a:xfrm>
              <a:off x="6897216"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2800/8 = 350</a:t>
              </a:r>
            </a:p>
          </p:txBody>
        </p:sp>
        <p:sp>
          <p:nvSpPr>
            <p:cNvPr id="43" name="Line 24"/>
            <p:cNvSpPr>
              <a:spLocks noChangeShapeType="1"/>
            </p:cNvSpPr>
            <p:nvPr/>
          </p:nvSpPr>
          <p:spPr bwMode="auto">
            <a:xfrm flipV="1">
              <a:off x="8126545"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25"/>
            <p:cNvSpPr>
              <a:spLocks noChangeShapeType="1"/>
            </p:cNvSpPr>
            <p:nvPr/>
          </p:nvSpPr>
          <p:spPr bwMode="auto">
            <a:xfrm flipV="1">
              <a:off x="9380273"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Text Box 27"/>
            <p:cNvSpPr txBox="1">
              <a:spLocks noChangeArrowheads="1"/>
            </p:cNvSpPr>
            <p:nvPr/>
          </p:nvSpPr>
          <p:spPr bwMode="auto">
            <a:xfrm>
              <a:off x="7657655" y="4647828"/>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2800</a:t>
              </a:r>
            </a:p>
          </p:txBody>
        </p:sp>
        <p:sp>
          <p:nvSpPr>
            <p:cNvPr id="46" name="Text Box 28"/>
            <p:cNvSpPr txBox="1">
              <a:spLocks noChangeArrowheads="1"/>
            </p:cNvSpPr>
            <p:nvPr/>
          </p:nvSpPr>
          <p:spPr bwMode="auto">
            <a:xfrm>
              <a:off x="8895905" y="4625602"/>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3799</a:t>
              </a:r>
            </a:p>
          </p:txBody>
        </p:sp>
        <p:sp>
          <p:nvSpPr>
            <p:cNvPr id="47" name="Rectangle 49"/>
            <p:cNvSpPr>
              <a:spLocks noChangeArrowheads="1"/>
            </p:cNvSpPr>
            <p:nvPr/>
          </p:nvSpPr>
          <p:spPr bwMode="auto">
            <a:xfrm>
              <a:off x="8047436" y="3869208"/>
              <a:ext cx="1427427"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50"/>
            <p:cNvSpPr>
              <a:spLocks noChangeShapeType="1"/>
            </p:cNvSpPr>
            <p:nvPr/>
          </p:nvSpPr>
          <p:spPr bwMode="auto">
            <a:xfrm>
              <a:off x="8238331"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51"/>
            <p:cNvSpPr>
              <a:spLocks noChangeShapeType="1"/>
            </p:cNvSpPr>
            <p:nvPr/>
          </p:nvSpPr>
          <p:spPr bwMode="auto">
            <a:xfrm>
              <a:off x="8429229"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Line 52"/>
            <p:cNvSpPr>
              <a:spLocks noChangeShapeType="1"/>
            </p:cNvSpPr>
            <p:nvPr/>
          </p:nvSpPr>
          <p:spPr bwMode="auto">
            <a:xfrm>
              <a:off x="862012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1" name="Line 53"/>
            <p:cNvSpPr>
              <a:spLocks noChangeShapeType="1"/>
            </p:cNvSpPr>
            <p:nvPr/>
          </p:nvSpPr>
          <p:spPr bwMode="auto">
            <a:xfrm>
              <a:off x="928568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Rectangle 54"/>
            <p:cNvSpPr>
              <a:spLocks noChangeArrowheads="1"/>
            </p:cNvSpPr>
            <p:nvPr/>
          </p:nvSpPr>
          <p:spPr bwMode="auto">
            <a:xfrm>
              <a:off x="7098110" y="3869208"/>
              <a:ext cx="94932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3" name="Line 55"/>
            <p:cNvSpPr>
              <a:spLocks noChangeShapeType="1"/>
            </p:cNvSpPr>
            <p:nvPr/>
          </p:nvSpPr>
          <p:spPr bwMode="auto">
            <a:xfrm flipH="1" flipV="1">
              <a:off x="8429229"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56"/>
            <p:cNvSpPr>
              <a:spLocks noChangeShapeType="1"/>
            </p:cNvSpPr>
            <p:nvPr/>
          </p:nvSpPr>
          <p:spPr bwMode="auto">
            <a:xfrm flipH="1" flipV="1">
              <a:off x="7001802"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61"/>
            <p:cNvSpPr txBox="1">
              <a:spLocks noChangeArrowheads="1"/>
            </p:cNvSpPr>
            <p:nvPr/>
          </p:nvSpPr>
          <p:spPr bwMode="auto">
            <a:xfrm>
              <a:off x="7065433"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3</a:t>
              </a:r>
            </a:p>
          </p:txBody>
        </p:sp>
        <p:sp>
          <p:nvSpPr>
            <p:cNvPr id="56" name="Text Box 65"/>
            <p:cNvSpPr txBox="1">
              <a:spLocks noChangeArrowheads="1"/>
            </p:cNvSpPr>
            <p:nvPr/>
          </p:nvSpPr>
          <p:spPr bwMode="auto">
            <a:xfrm>
              <a:off x="7450799" y="5067770"/>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3</a:t>
              </a:r>
            </a:p>
          </p:txBody>
        </p:sp>
      </p:grpSp>
      <p:grpSp>
        <p:nvGrpSpPr>
          <p:cNvPr id="57" name="组合 56"/>
          <p:cNvGrpSpPr/>
          <p:nvPr/>
        </p:nvGrpSpPr>
        <p:grpSpPr>
          <a:xfrm>
            <a:off x="1682184" y="1126924"/>
            <a:ext cx="6333437" cy="1184111"/>
            <a:chOff x="958554" y="1420467"/>
            <a:chExt cx="9058225" cy="1693542"/>
          </a:xfrm>
        </p:grpSpPr>
        <p:sp>
          <p:nvSpPr>
            <p:cNvPr id="58" name="Rectangle 4"/>
            <p:cNvSpPr>
              <a:spLocks noChangeArrowheads="1"/>
            </p:cNvSpPr>
            <p:nvPr/>
          </p:nvSpPr>
          <p:spPr bwMode="auto">
            <a:xfrm>
              <a:off x="3195902" y="1916583"/>
              <a:ext cx="5233327" cy="463550"/>
            </a:xfrm>
            <a:prstGeom prst="rect">
              <a:avLst/>
            </a:prstGeom>
            <a:solidFill>
              <a:srgbClr val="DDDDDD"/>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9" name="Rectangle 6"/>
            <p:cNvSpPr>
              <a:spLocks noChangeArrowheads="1"/>
            </p:cNvSpPr>
            <p:nvPr/>
          </p:nvSpPr>
          <p:spPr bwMode="auto">
            <a:xfrm>
              <a:off x="2244858" y="1916583"/>
              <a:ext cx="6184371" cy="463550"/>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28398" dir="1593903"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Line 7"/>
            <p:cNvSpPr>
              <a:spLocks noChangeShapeType="1"/>
            </p:cNvSpPr>
            <p:nvPr/>
          </p:nvSpPr>
          <p:spPr bwMode="auto">
            <a:xfrm>
              <a:off x="3386800"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8"/>
            <p:cNvSpPr>
              <a:spLocks noChangeShapeType="1"/>
            </p:cNvSpPr>
            <p:nvPr/>
          </p:nvSpPr>
          <p:spPr bwMode="auto">
            <a:xfrm>
              <a:off x="3577696"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9"/>
            <p:cNvSpPr>
              <a:spLocks noChangeShapeType="1"/>
            </p:cNvSpPr>
            <p:nvPr/>
          </p:nvSpPr>
          <p:spPr bwMode="auto">
            <a:xfrm>
              <a:off x="3768593"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Line 10"/>
            <p:cNvSpPr>
              <a:spLocks noChangeShapeType="1"/>
            </p:cNvSpPr>
            <p:nvPr/>
          </p:nvSpPr>
          <p:spPr bwMode="auto">
            <a:xfrm>
              <a:off x="8238331"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4" name="Text Box 16"/>
            <p:cNvSpPr txBox="1">
              <a:spLocks noChangeArrowheads="1"/>
            </p:cNvSpPr>
            <p:nvPr/>
          </p:nvSpPr>
          <p:spPr bwMode="auto">
            <a:xfrm>
              <a:off x="8455025" y="1810221"/>
              <a:ext cx="1561754" cy="717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0/8</a:t>
              </a:r>
            </a:p>
            <a:p>
              <a:pPr>
                <a:lnSpc>
                  <a:spcPct val="90000"/>
                </a:lnSpc>
              </a:pPr>
              <a:r>
                <a:rPr kumimoji="1" lang="en-US" altLang="zh-CN" sz="1400" b="1">
                  <a:solidFill>
                    <a:srgbClr val="0000CC"/>
                  </a:solidFill>
                  <a:latin typeface="微软雅黑" pitchFamily="34" charset="-122"/>
                  <a:ea typeface="微软雅黑" pitchFamily="34" charset="-122"/>
                </a:rPr>
                <a:t>= 0</a:t>
              </a:r>
            </a:p>
          </p:txBody>
        </p:sp>
        <p:sp>
          <p:nvSpPr>
            <p:cNvPr id="65" name="Line 19"/>
            <p:cNvSpPr>
              <a:spLocks noChangeShapeType="1"/>
            </p:cNvSpPr>
            <p:nvPr/>
          </p:nvSpPr>
          <p:spPr bwMode="auto">
            <a:xfrm flipV="1">
              <a:off x="831744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20"/>
            <p:cNvSpPr>
              <a:spLocks noChangeShapeType="1"/>
            </p:cNvSpPr>
            <p:nvPr/>
          </p:nvSpPr>
          <p:spPr bwMode="auto">
            <a:xfrm flipV="1">
              <a:off x="328705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Text Box 31"/>
            <p:cNvSpPr txBox="1">
              <a:spLocks noChangeArrowheads="1"/>
            </p:cNvSpPr>
            <p:nvPr/>
          </p:nvSpPr>
          <p:spPr bwMode="auto">
            <a:xfrm>
              <a:off x="7874448" y="263413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3799</a:t>
              </a:r>
            </a:p>
          </p:txBody>
        </p:sp>
        <p:sp>
          <p:nvSpPr>
            <p:cNvPr id="68" name="Text Box 32"/>
            <p:cNvSpPr txBox="1">
              <a:spLocks noChangeArrowheads="1"/>
            </p:cNvSpPr>
            <p:nvPr/>
          </p:nvSpPr>
          <p:spPr bwMode="auto">
            <a:xfrm>
              <a:off x="958554" y="1788988"/>
              <a:ext cx="1291221" cy="748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CC00CC"/>
                  </a:solidFill>
                  <a:latin typeface="微软雅黑" pitchFamily="34" charset="-122"/>
                  <a:ea typeface="微软雅黑" pitchFamily="34" charset="-122"/>
                </a:rPr>
                <a:t>需分片的</a:t>
              </a:r>
            </a:p>
            <a:p>
              <a:pPr algn="ctr"/>
              <a:r>
                <a:rPr kumimoji="1" lang="zh-CN" altLang="en-US" sz="1400" b="1" dirty="0">
                  <a:solidFill>
                    <a:srgbClr val="CC00CC"/>
                  </a:solidFill>
                  <a:latin typeface="微软雅黑" pitchFamily="34" charset="-122"/>
                  <a:ea typeface="微软雅黑" pitchFamily="34" charset="-122"/>
                </a:rPr>
                <a:t>数据报</a:t>
              </a:r>
            </a:p>
          </p:txBody>
        </p:sp>
        <p:sp>
          <p:nvSpPr>
            <p:cNvPr id="69" name="Rectangle 76"/>
            <p:cNvSpPr>
              <a:spLocks noChangeArrowheads="1"/>
            </p:cNvSpPr>
            <p:nvPr/>
          </p:nvSpPr>
          <p:spPr bwMode="auto">
            <a:xfrm>
              <a:off x="2259192" y="1934045"/>
              <a:ext cx="925248" cy="446086"/>
            </a:xfrm>
            <a:prstGeom prst="rect">
              <a:avLst/>
            </a:prstGeom>
            <a:solidFill>
              <a:srgbClr val="0000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Text Box 34"/>
            <p:cNvSpPr txBox="1">
              <a:spLocks noChangeArrowheads="1"/>
            </p:cNvSpPr>
            <p:nvPr/>
          </p:nvSpPr>
          <p:spPr bwMode="auto">
            <a:xfrm>
              <a:off x="2344606" y="1948770"/>
              <a:ext cx="777668"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a:t>
              </a:r>
            </a:p>
          </p:txBody>
        </p:sp>
        <p:sp>
          <p:nvSpPr>
            <p:cNvPr id="71" name="Line 35"/>
            <p:cNvSpPr>
              <a:spLocks noChangeShapeType="1"/>
            </p:cNvSpPr>
            <p:nvPr/>
          </p:nvSpPr>
          <p:spPr bwMode="auto">
            <a:xfrm>
              <a:off x="31959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37"/>
            <p:cNvSpPr>
              <a:spLocks noChangeShapeType="1"/>
            </p:cNvSpPr>
            <p:nvPr/>
          </p:nvSpPr>
          <p:spPr bwMode="auto">
            <a:xfrm>
              <a:off x="509971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38"/>
            <p:cNvSpPr>
              <a:spLocks noChangeShapeType="1"/>
            </p:cNvSpPr>
            <p:nvPr/>
          </p:nvSpPr>
          <p:spPr bwMode="auto">
            <a:xfrm>
              <a:off x="70018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57"/>
            <p:cNvSpPr>
              <a:spLocks noChangeShapeType="1"/>
            </p:cNvSpPr>
            <p:nvPr/>
          </p:nvSpPr>
          <p:spPr bwMode="auto">
            <a:xfrm>
              <a:off x="3178704" y="1648280"/>
              <a:ext cx="523160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Text Box 58"/>
            <p:cNvSpPr txBox="1">
              <a:spLocks noChangeArrowheads="1"/>
            </p:cNvSpPr>
            <p:nvPr/>
          </p:nvSpPr>
          <p:spPr bwMode="auto">
            <a:xfrm>
              <a:off x="4150388" y="1420467"/>
              <a:ext cx="2845637" cy="44019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数据部分共 </a:t>
              </a:r>
              <a:r>
                <a:rPr kumimoji="1" lang="en-US" altLang="zh-CN" sz="1400" b="1" dirty="0">
                  <a:solidFill>
                    <a:srgbClr val="0000CC"/>
                  </a:solidFill>
                  <a:latin typeface="微软雅黑" pitchFamily="34" charset="-122"/>
                  <a:ea typeface="微软雅黑" pitchFamily="34" charset="-122"/>
                </a:rPr>
                <a:t>3800 </a:t>
              </a:r>
              <a:r>
                <a:rPr kumimoji="1" lang="zh-CN" altLang="en-US" sz="1400" b="1" dirty="0">
                  <a:solidFill>
                    <a:srgbClr val="0000CC"/>
                  </a:solidFill>
                  <a:latin typeface="微软雅黑" pitchFamily="34" charset="-122"/>
                  <a:ea typeface="微软雅黑" pitchFamily="34" charset="-122"/>
                </a:rPr>
                <a:t>字节</a:t>
              </a:r>
            </a:p>
          </p:txBody>
        </p:sp>
        <p:sp>
          <p:nvSpPr>
            <p:cNvPr id="76" name="Line 66"/>
            <p:cNvSpPr>
              <a:spLocks noChangeShapeType="1"/>
            </p:cNvSpPr>
            <p:nvPr/>
          </p:nvSpPr>
          <p:spPr bwMode="auto">
            <a:xfrm flipV="1">
              <a:off x="517710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7" name="Text Box 67"/>
            <p:cNvSpPr txBox="1">
              <a:spLocks noChangeArrowheads="1"/>
            </p:cNvSpPr>
            <p:nvPr/>
          </p:nvSpPr>
          <p:spPr bwMode="auto">
            <a:xfrm>
              <a:off x="473157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1400</a:t>
              </a:r>
            </a:p>
          </p:txBody>
        </p:sp>
        <p:sp>
          <p:nvSpPr>
            <p:cNvPr id="78" name="Line 68"/>
            <p:cNvSpPr>
              <a:spLocks noChangeShapeType="1"/>
            </p:cNvSpPr>
            <p:nvPr/>
          </p:nvSpPr>
          <p:spPr bwMode="auto">
            <a:xfrm flipV="1">
              <a:off x="708091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9" name="Text Box 69"/>
            <p:cNvSpPr txBox="1">
              <a:spLocks noChangeArrowheads="1"/>
            </p:cNvSpPr>
            <p:nvPr/>
          </p:nvSpPr>
          <p:spPr bwMode="auto">
            <a:xfrm>
              <a:off x="663791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2800</a:t>
              </a:r>
            </a:p>
          </p:txBody>
        </p:sp>
        <p:sp>
          <p:nvSpPr>
            <p:cNvPr id="80" name="Line 70"/>
            <p:cNvSpPr>
              <a:spLocks noChangeShapeType="1"/>
            </p:cNvSpPr>
            <p:nvPr/>
          </p:nvSpPr>
          <p:spPr bwMode="auto">
            <a:xfrm>
              <a:off x="7190979"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1"/>
            <p:cNvSpPr>
              <a:spLocks noChangeShapeType="1"/>
            </p:cNvSpPr>
            <p:nvPr/>
          </p:nvSpPr>
          <p:spPr bwMode="auto">
            <a:xfrm>
              <a:off x="5290608"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Text Box 72"/>
            <p:cNvSpPr txBox="1">
              <a:spLocks noChangeArrowheads="1"/>
            </p:cNvSpPr>
            <p:nvPr/>
          </p:nvSpPr>
          <p:spPr bwMode="auto">
            <a:xfrm>
              <a:off x="2779177" y="2673819"/>
              <a:ext cx="1011517"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字节 </a:t>
              </a:r>
              <a:r>
                <a:rPr kumimoji="1" lang="en-US" altLang="zh-CN" sz="1400" b="1">
                  <a:solidFill>
                    <a:srgbClr val="0000CC"/>
                  </a:solidFill>
                  <a:latin typeface="微软雅黑" pitchFamily="34" charset="-122"/>
                  <a:ea typeface="微软雅黑" pitchFamily="34" charset="-122"/>
                </a:rPr>
                <a:t>0</a:t>
              </a:r>
            </a:p>
          </p:txBody>
        </p:sp>
      </p:grpSp>
    </p:spTree>
    <p:extLst>
      <p:ext uri="{BB962C8B-B14F-4D97-AF65-F5344CB8AC3E}">
        <p14:creationId xmlns:p14="http://schemas.microsoft.com/office/powerpoint/2010/main" val="2203628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par>
                          <p:cTn id="7" fill="hold">
                            <p:stCondLst>
                              <p:cond delay="0"/>
                            </p:stCondLst>
                            <p:childTnLst>
                              <p:par>
                                <p:cTn id="8" presetID="22" presetClass="entr" presetSubtype="1" fill="hold"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up)">
                                      <p:cBhvr>
                                        <p:cTn id="10" dur="30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wipe(up)">
                                      <p:cBhvr>
                                        <p:cTn id="18" dur="300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1"/>
                                        </p:tgtEl>
                                        <p:attrNameLst>
                                          <p:attrName>style.visibility</p:attrName>
                                        </p:attrNameLst>
                                      </p:cBhvr>
                                      <p:to>
                                        <p:strVal val="visible"/>
                                      </p:to>
                                    </p:set>
                                  </p:childTnLst>
                                </p:cTn>
                              </p:par>
                            </p:childTnLst>
                          </p:cTn>
                        </p:par>
                        <p:par>
                          <p:cTn id="23" fill="hold">
                            <p:stCondLst>
                              <p:cond delay="0"/>
                            </p:stCondLst>
                            <p:childTnLst>
                              <p:par>
                                <p:cTn id="24" presetID="22" presetClass="entr" presetSubtype="1" fill="hold" nodeType="afterEffect">
                                  <p:stCondLst>
                                    <p:cond delay="0"/>
                                  </p:stCondLst>
                                  <p:childTnLst>
                                    <p:set>
                                      <p:cBhvr>
                                        <p:cTn id="25" dur="1" fill="hold">
                                          <p:stCondLst>
                                            <p:cond delay="0"/>
                                          </p:stCondLst>
                                        </p:cTn>
                                        <p:tgtEl>
                                          <p:spTgt spid="41"/>
                                        </p:tgtEl>
                                        <p:attrNameLst>
                                          <p:attrName>style.visibility</p:attrName>
                                        </p:attrNameLst>
                                      </p:cBhvr>
                                      <p:to>
                                        <p:strVal val="visible"/>
                                      </p:to>
                                    </p:set>
                                    <p:animEffect transition="in" filter="wipe(up)">
                                      <p:cBhvr>
                                        <p:cTn id="26" dur="30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24856"/>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83672"/>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7" name="矩形 6"/>
          <p:cNvSpPr/>
          <p:nvPr/>
        </p:nvSpPr>
        <p:spPr>
          <a:xfrm>
            <a:off x="2747622" y="1136776"/>
            <a:ext cx="3648756"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数据报首部中与分片有关的字段中的数值</a:t>
            </a:r>
          </a:p>
        </p:txBody>
      </p:sp>
      <p:graphicFrame>
        <p:nvGraphicFramePr>
          <p:cNvPr id="8" name="表格 7"/>
          <p:cNvGraphicFramePr>
            <a:graphicFrameLocks noGrp="1"/>
          </p:cNvGraphicFramePr>
          <p:nvPr>
            <p:extLst>
              <p:ext uri="{D42A27DB-BD31-4B8C-83A1-F6EECF244321}">
                <p14:modId xmlns:p14="http://schemas.microsoft.com/office/powerpoint/2010/main" val="3214580070"/>
              </p:ext>
            </p:extLst>
          </p:nvPr>
        </p:nvGraphicFramePr>
        <p:xfrm>
          <a:off x="545140" y="1510998"/>
          <a:ext cx="8053715" cy="1807405"/>
        </p:xfrm>
        <a:graphic>
          <a:graphicData uri="http://schemas.openxmlformats.org/drawingml/2006/table">
            <a:tbl>
              <a:tblPr>
                <a:tableStyleId>{5C22544A-7EE6-4342-B048-85BDC9FD1C3A}</a:tableStyleId>
              </a:tblPr>
              <a:tblGrid>
                <a:gridCol w="1698705">
                  <a:extLst>
                    <a:ext uri="{9D8B030D-6E8A-4147-A177-3AD203B41FA5}">
                      <a16:colId xmlns:a16="http://schemas.microsoft.com/office/drawing/2014/main" val="20000"/>
                    </a:ext>
                  </a:extLst>
                </a:gridCol>
                <a:gridCol w="1271002">
                  <a:extLst>
                    <a:ext uri="{9D8B030D-6E8A-4147-A177-3AD203B41FA5}">
                      <a16:colId xmlns:a16="http://schemas.microsoft.com/office/drawing/2014/main" val="20001"/>
                    </a:ext>
                  </a:extLst>
                </a:gridCol>
                <a:gridCol w="1271002">
                  <a:extLst>
                    <a:ext uri="{9D8B030D-6E8A-4147-A177-3AD203B41FA5}">
                      <a16:colId xmlns:a16="http://schemas.microsoft.com/office/drawing/2014/main" val="20002"/>
                    </a:ext>
                  </a:extLst>
                </a:gridCol>
                <a:gridCol w="1271002">
                  <a:extLst>
                    <a:ext uri="{9D8B030D-6E8A-4147-A177-3AD203B41FA5}">
                      <a16:colId xmlns:a16="http://schemas.microsoft.com/office/drawing/2014/main" val="20003"/>
                    </a:ext>
                  </a:extLst>
                </a:gridCol>
                <a:gridCol w="1271002">
                  <a:extLst>
                    <a:ext uri="{9D8B030D-6E8A-4147-A177-3AD203B41FA5}">
                      <a16:colId xmlns:a16="http://schemas.microsoft.com/office/drawing/2014/main" val="20004"/>
                    </a:ext>
                  </a:extLst>
                </a:gridCol>
                <a:gridCol w="1271002">
                  <a:extLst>
                    <a:ext uri="{9D8B030D-6E8A-4147-A177-3AD203B41FA5}">
                      <a16:colId xmlns:a16="http://schemas.microsoft.com/office/drawing/2014/main" val="20005"/>
                    </a:ext>
                  </a:extLst>
                </a:gridCol>
              </a:tblGrid>
              <a:tr h="361481">
                <a:tc>
                  <a:txBody>
                    <a:bodyPr/>
                    <a:lstStyle/>
                    <a:p>
                      <a:pPr algn="just">
                        <a:lnSpc>
                          <a:spcPct val="100000"/>
                        </a:lnSpc>
                        <a:spcAft>
                          <a:spcPts val="0"/>
                        </a:spcAft>
                      </a:pPr>
                      <a:r>
                        <a:rPr lang="en-US" sz="1400" b="1" dirty="0">
                          <a:solidFill>
                            <a:schemeClr val="bg1"/>
                          </a:solidFill>
                          <a:effectLst/>
                          <a:latin typeface="微软雅黑" pitchFamily="34" charset="-122"/>
                          <a:ea typeface="微软雅黑" pitchFamily="34" charset="-122"/>
                        </a:rPr>
                        <a:t> </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总长度</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标识</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MF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DF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片偏移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extLst>
                  <a:ext uri="{0D108BD9-81ED-4DB2-BD59-A6C34878D82A}">
                    <a16:rowId xmlns:a16="http://schemas.microsoft.com/office/drawing/2014/main" val="10000"/>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原始数据报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tabLst>
                          <a:tab pos="2637155" algn="ctr"/>
                          <a:tab pos="5274310" algn="r"/>
                          <a:tab pos="266700" algn="l"/>
                        </a:tabLst>
                      </a:pPr>
                      <a:r>
                        <a:rPr lang="en-US" sz="1400" b="1" dirty="0">
                          <a:solidFill>
                            <a:schemeClr val="tx1"/>
                          </a:solidFill>
                          <a:effectLst/>
                          <a:latin typeface="微软雅黑" pitchFamily="34" charset="-122"/>
                          <a:ea typeface="微软雅黑" pitchFamily="34" charset="-122"/>
                        </a:rPr>
                        <a:t>3820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175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kern="1200" dirty="0">
                          <a:solidFill>
                            <a:schemeClr val="tx1"/>
                          </a:solidFill>
                          <a:effectLst/>
                          <a:latin typeface="微软雅黑" pitchFamily="34" charset="-122"/>
                          <a:ea typeface="微软雅黑" pitchFamily="34" charset="-122"/>
                          <a:cs typeface="+mn-cs"/>
                        </a:rPr>
                        <a:t>1020</a:t>
                      </a:r>
                      <a:endParaRPr lang="zh-CN" sz="14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350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4214370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487334" y="3469278"/>
            <a:ext cx="4868129"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生存时间</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位，记为 </a:t>
            </a:r>
            <a:r>
              <a:rPr lang="en-US" altLang="zh-CN" sz="1600" b="1" dirty="0">
                <a:solidFill>
                  <a:schemeClr val="bg1"/>
                </a:solidFill>
                <a:latin typeface="微软雅黑" pitchFamily="34" charset="-122"/>
                <a:ea typeface="微软雅黑" pitchFamily="34" charset="-122"/>
              </a:rPr>
              <a:t>TTL (Time To Live)</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指示数据报在网络中可通过的路由器数的最大值。</a:t>
            </a:r>
          </a:p>
        </p:txBody>
      </p:sp>
      <p:sp>
        <p:nvSpPr>
          <p:cNvPr id="62" name="Rectangle 92"/>
          <p:cNvSpPr>
            <a:spLocks noChangeArrowheads="1"/>
          </p:cNvSpPr>
          <p:nvPr/>
        </p:nvSpPr>
        <p:spPr bwMode="auto">
          <a:xfrm flipV="1">
            <a:off x="2453697" y="1855635"/>
            <a:ext cx="1276061"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09341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66A4BED-617A-96CD-BA97-15DA649C3CA7}"/>
              </a:ext>
            </a:extLst>
          </p:cNvPr>
          <p:cNvSpPr>
            <a:spLocks noGrp="1"/>
          </p:cNvSpPr>
          <p:nvPr>
            <p:ph type="title"/>
          </p:nvPr>
        </p:nvSpPr>
        <p:spPr>
          <a:xfrm>
            <a:off x="486000" y="550723"/>
            <a:ext cx="8172000" cy="338554"/>
          </a:xfrm>
        </p:spPr>
        <p:txBody>
          <a:bodyPr/>
          <a:lstStyle/>
          <a:p>
            <a:r>
              <a:rPr lang="zh-CN" altLang="en-US" dirty="0"/>
              <a:t>协议 </a:t>
            </a:r>
            <a:r>
              <a:rPr lang="en-US" altLang="zh-CN" dirty="0"/>
              <a:t>Protocol</a:t>
            </a:r>
            <a:endParaRPr lang="zh-CN" altLang="en-US" dirty="0"/>
          </a:p>
        </p:txBody>
      </p:sp>
      <p:sp>
        <p:nvSpPr>
          <p:cNvPr id="5" name="内容占位符 4">
            <a:extLst>
              <a:ext uri="{FF2B5EF4-FFF2-40B4-BE49-F238E27FC236}">
                <a16:creationId xmlns:a16="http://schemas.microsoft.com/office/drawing/2014/main" id="{56882466-9C1E-9C07-C2EB-0BAF3E59B769}"/>
              </a:ext>
            </a:extLst>
          </p:cNvPr>
          <p:cNvSpPr>
            <a:spLocks noGrp="1"/>
          </p:cNvSpPr>
          <p:nvPr>
            <p:ph sz="quarter" idx="11"/>
          </p:nvPr>
        </p:nvSpPr>
        <p:spPr>
          <a:xfrm>
            <a:off x="486000" y="900000"/>
            <a:ext cx="8172000" cy="3703500"/>
          </a:xfrm>
        </p:spPr>
        <p:txBody>
          <a:bodyPr/>
          <a:lstStyle/>
          <a:p>
            <a:r>
              <a:rPr lang="zh-CN" altLang="en-US" dirty="0"/>
              <a:t>协议</a:t>
            </a:r>
            <a:r>
              <a:rPr lang="en-US" altLang="zh-CN" dirty="0"/>
              <a:t>——</a:t>
            </a:r>
            <a:r>
              <a:rPr lang="zh-CN" altLang="en-US" dirty="0"/>
              <a:t>占 </a:t>
            </a:r>
            <a:r>
              <a:rPr lang="en-US" altLang="zh-CN" dirty="0"/>
              <a:t>8 </a:t>
            </a:r>
            <a:r>
              <a:rPr lang="zh-CN" altLang="en-US" dirty="0"/>
              <a:t>位，指出此数据报携带的数据使用何种协议，</a:t>
            </a:r>
          </a:p>
          <a:p>
            <a:r>
              <a:rPr lang="zh-CN" altLang="en-US" dirty="0"/>
              <a:t>以便目的主机的 </a:t>
            </a:r>
            <a:r>
              <a:rPr lang="en-US" altLang="zh-CN" dirty="0"/>
              <a:t>IP </a:t>
            </a:r>
            <a:r>
              <a:rPr lang="zh-CN" altLang="en-US" dirty="0"/>
              <a:t>层将数据部分上交给那个处理过程</a:t>
            </a:r>
          </a:p>
          <a:p>
            <a:endParaRPr lang="zh-CN" altLang="en-US" dirty="0"/>
          </a:p>
        </p:txBody>
      </p:sp>
      <p:sp>
        <p:nvSpPr>
          <p:cNvPr id="38" name="Rectangle 10"/>
          <p:cNvSpPr>
            <a:spLocks noChangeArrowheads="1"/>
          </p:cNvSpPr>
          <p:nvPr/>
        </p:nvSpPr>
        <p:spPr bwMode="auto">
          <a:xfrm>
            <a:off x="2279059" y="2026122"/>
            <a:ext cx="5008725" cy="1553902"/>
          </a:xfrm>
          <a:prstGeom prst="rect">
            <a:avLst/>
          </a:prstGeom>
          <a:solidFill>
            <a:schemeClr val="bg1"/>
          </a:solidFill>
          <a:ln w="25400">
            <a:solidFill>
              <a:schemeClr val="tx1"/>
            </a:solidFill>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39" name="Rectangle 44"/>
          <p:cNvSpPr>
            <a:spLocks noChangeArrowheads="1"/>
          </p:cNvSpPr>
          <p:nvPr/>
        </p:nvSpPr>
        <p:spPr bwMode="auto">
          <a:xfrm>
            <a:off x="2831091" y="20320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首部长度</a:t>
            </a:r>
          </a:p>
        </p:txBody>
      </p:sp>
      <p:sp>
        <p:nvSpPr>
          <p:cNvPr id="40" name="Rectangle 45"/>
          <p:cNvSpPr>
            <a:spLocks noChangeArrowheads="1"/>
          </p:cNvSpPr>
          <p:nvPr/>
        </p:nvSpPr>
        <p:spPr bwMode="auto">
          <a:xfrm>
            <a:off x="1831906" y="22678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固</a:t>
            </a:r>
          </a:p>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定</a:t>
            </a:r>
          </a:p>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部</a:t>
            </a:r>
          </a:p>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分</a:t>
            </a:r>
          </a:p>
        </p:txBody>
      </p:sp>
      <p:sp>
        <p:nvSpPr>
          <p:cNvPr id="41" name="Rectangle 54"/>
          <p:cNvSpPr>
            <a:spLocks noChangeArrowheads="1"/>
          </p:cNvSpPr>
          <p:nvPr/>
        </p:nvSpPr>
        <p:spPr bwMode="auto">
          <a:xfrm>
            <a:off x="1758314" y="32412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可变</a:t>
            </a:r>
          </a:p>
          <a:p>
            <a:pPr defTabSz="762000" eaLnBrk="0" hangingPunct="0"/>
            <a:r>
              <a:rPr kumimoji="1" lang="zh-CN" altLang="en-US" sz="1200">
                <a:latin typeface="Montserrat" panose="00000500000000000000" pitchFamily="2" charset="0"/>
                <a:ea typeface="微软雅黑 Light" panose="020B0502040204020203" pitchFamily="34" charset="-122"/>
              </a:rPr>
              <a:t>部分</a:t>
            </a:r>
          </a:p>
        </p:txBody>
      </p:sp>
      <p:sp>
        <p:nvSpPr>
          <p:cNvPr id="42" name="Rectangle 11"/>
          <p:cNvSpPr>
            <a:spLocks noChangeArrowheads="1"/>
          </p:cNvSpPr>
          <p:nvPr/>
        </p:nvSpPr>
        <p:spPr bwMode="auto">
          <a:xfrm>
            <a:off x="2288159" y="3586557"/>
            <a:ext cx="4988504" cy="400375"/>
          </a:xfrm>
          <a:prstGeom prst="rect">
            <a:avLst/>
          </a:prstGeom>
          <a:solidFill>
            <a:schemeClr val="bg1"/>
          </a:solidFill>
          <a:ln w="28575">
            <a:solidFill>
              <a:schemeClr val="tx1"/>
            </a:solidFill>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3" name="Line 12"/>
          <p:cNvSpPr>
            <a:spLocks noChangeShapeType="1"/>
          </p:cNvSpPr>
          <p:nvPr/>
        </p:nvSpPr>
        <p:spPr bwMode="auto">
          <a:xfrm>
            <a:off x="2276026" y="22911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4" name="Line 13"/>
          <p:cNvSpPr>
            <a:spLocks noChangeShapeType="1"/>
          </p:cNvSpPr>
          <p:nvPr/>
        </p:nvSpPr>
        <p:spPr bwMode="auto">
          <a:xfrm>
            <a:off x="2276026" y="25515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5" name="Line 14"/>
          <p:cNvSpPr>
            <a:spLocks noChangeShapeType="1"/>
          </p:cNvSpPr>
          <p:nvPr/>
        </p:nvSpPr>
        <p:spPr bwMode="auto">
          <a:xfrm>
            <a:off x="2276026" y="28128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6" name="Line 15"/>
          <p:cNvSpPr>
            <a:spLocks noChangeShapeType="1"/>
          </p:cNvSpPr>
          <p:nvPr/>
        </p:nvSpPr>
        <p:spPr bwMode="auto">
          <a:xfrm>
            <a:off x="2276026" y="3070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7" name="Line 16"/>
          <p:cNvSpPr>
            <a:spLocks noChangeShapeType="1"/>
          </p:cNvSpPr>
          <p:nvPr/>
        </p:nvSpPr>
        <p:spPr bwMode="auto">
          <a:xfrm>
            <a:off x="2276026" y="3331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8" name="Line 17"/>
          <p:cNvSpPr>
            <a:spLocks noChangeShapeType="1"/>
          </p:cNvSpPr>
          <p:nvPr/>
        </p:nvSpPr>
        <p:spPr bwMode="auto">
          <a:xfrm>
            <a:off x="2892765" y="20307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9" name="Line 18"/>
          <p:cNvSpPr>
            <a:spLocks noChangeShapeType="1"/>
          </p:cNvSpPr>
          <p:nvPr/>
        </p:nvSpPr>
        <p:spPr bwMode="auto">
          <a:xfrm>
            <a:off x="3563504" y="20307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0" name="Line 19"/>
          <p:cNvSpPr>
            <a:spLocks noChangeShapeType="1"/>
          </p:cNvSpPr>
          <p:nvPr/>
        </p:nvSpPr>
        <p:spPr bwMode="auto">
          <a:xfrm>
            <a:off x="3563504" y="25571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1" name="Line 20"/>
          <p:cNvSpPr>
            <a:spLocks noChangeShapeType="1"/>
          </p:cNvSpPr>
          <p:nvPr/>
        </p:nvSpPr>
        <p:spPr bwMode="auto">
          <a:xfrm>
            <a:off x="4776344" y="20307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2" name="Line 21"/>
          <p:cNvSpPr>
            <a:spLocks noChangeShapeType="1"/>
          </p:cNvSpPr>
          <p:nvPr/>
        </p:nvSpPr>
        <p:spPr bwMode="auto">
          <a:xfrm flipV="1">
            <a:off x="6032064" y="33289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3" name="Line 22"/>
          <p:cNvSpPr>
            <a:spLocks noChangeShapeType="1"/>
          </p:cNvSpPr>
          <p:nvPr/>
        </p:nvSpPr>
        <p:spPr bwMode="auto">
          <a:xfrm>
            <a:off x="5286923" y="22967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4" name="Rectangle 23"/>
          <p:cNvSpPr>
            <a:spLocks noChangeArrowheads="1"/>
          </p:cNvSpPr>
          <p:nvPr/>
        </p:nvSpPr>
        <p:spPr bwMode="auto">
          <a:xfrm>
            <a:off x="2242663" y="1803070"/>
            <a:ext cx="28533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0</a:t>
            </a:r>
          </a:p>
        </p:txBody>
      </p:sp>
      <p:sp>
        <p:nvSpPr>
          <p:cNvPr id="55" name="Rectangle 24"/>
          <p:cNvSpPr>
            <a:spLocks noChangeArrowheads="1"/>
          </p:cNvSpPr>
          <p:nvPr/>
        </p:nvSpPr>
        <p:spPr bwMode="auto">
          <a:xfrm>
            <a:off x="2838169" y="1803070"/>
            <a:ext cx="28373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4</a:t>
            </a:r>
          </a:p>
        </p:txBody>
      </p:sp>
      <p:sp>
        <p:nvSpPr>
          <p:cNvPr id="56" name="Rectangle 25"/>
          <p:cNvSpPr>
            <a:spLocks noChangeArrowheads="1"/>
          </p:cNvSpPr>
          <p:nvPr/>
        </p:nvSpPr>
        <p:spPr bwMode="auto">
          <a:xfrm>
            <a:off x="3472095" y="1803070"/>
            <a:ext cx="28052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8</a:t>
            </a:r>
          </a:p>
        </p:txBody>
      </p:sp>
      <p:sp>
        <p:nvSpPr>
          <p:cNvPr id="57" name="Rectangle 26"/>
          <p:cNvSpPr>
            <a:spLocks noChangeArrowheads="1"/>
          </p:cNvSpPr>
          <p:nvPr/>
        </p:nvSpPr>
        <p:spPr bwMode="auto">
          <a:xfrm>
            <a:off x="4714671" y="1803070"/>
            <a:ext cx="33182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16</a:t>
            </a:r>
          </a:p>
        </p:txBody>
      </p:sp>
      <p:sp>
        <p:nvSpPr>
          <p:cNvPr id="58" name="Rectangle 27"/>
          <p:cNvSpPr>
            <a:spLocks noChangeArrowheads="1"/>
          </p:cNvSpPr>
          <p:nvPr/>
        </p:nvSpPr>
        <p:spPr bwMode="auto">
          <a:xfrm>
            <a:off x="5222215" y="1803070"/>
            <a:ext cx="33182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19</a:t>
            </a:r>
          </a:p>
        </p:txBody>
      </p:sp>
      <p:sp>
        <p:nvSpPr>
          <p:cNvPr id="59" name="Rectangle 28"/>
          <p:cNvSpPr>
            <a:spLocks noChangeArrowheads="1"/>
          </p:cNvSpPr>
          <p:nvPr/>
        </p:nvSpPr>
        <p:spPr bwMode="auto">
          <a:xfrm>
            <a:off x="5970391" y="18030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24</a:t>
            </a:r>
          </a:p>
        </p:txBody>
      </p:sp>
      <p:sp>
        <p:nvSpPr>
          <p:cNvPr id="60" name="Rectangle 29"/>
          <p:cNvSpPr>
            <a:spLocks noChangeArrowheads="1"/>
          </p:cNvSpPr>
          <p:nvPr/>
        </p:nvSpPr>
        <p:spPr bwMode="auto">
          <a:xfrm>
            <a:off x="7061310" y="1803070"/>
            <a:ext cx="32701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31</a:t>
            </a:r>
          </a:p>
        </p:txBody>
      </p:sp>
      <p:sp>
        <p:nvSpPr>
          <p:cNvPr id="61" name="Rectangle 30"/>
          <p:cNvSpPr>
            <a:spLocks noChangeArrowheads="1"/>
          </p:cNvSpPr>
          <p:nvPr/>
        </p:nvSpPr>
        <p:spPr bwMode="auto">
          <a:xfrm>
            <a:off x="2337700" y="20320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版 本</a:t>
            </a:r>
          </a:p>
        </p:txBody>
      </p:sp>
      <p:sp>
        <p:nvSpPr>
          <p:cNvPr id="62" name="Rectangle 31"/>
          <p:cNvSpPr>
            <a:spLocks noChangeArrowheads="1"/>
          </p:cNvSpPr>
          <p:nvPr/>
        </p:nvSpPr>
        <p:spPr bwMode="auto">
          <a:xfrm>
            <a:off x="4813752" y="22973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标志</a:t>
            </a:r>
          </a:p>
        </p:txBody>
      </p:sp>
      <p:sp>
        <p:nvSpPr>
          <p:cNvPr id="63" name="Rectangle 32"/>
          <p:cNvSpPr>
            <a:spLocks noChangeArrowheads="1"/>
          </p:cNvSpPr>
          <p:nvPr/>
        </p:nvSpPr>
        <p:spPr bwMode="auto">
          <a:xfrm>
            <a:off x="2463071" y="25499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生 存 时 间</a:t>
            </a:r>
          </a:p>
        </p:txBody>
      </p:sp>
      <p:sp>
        <p:nvSpPr>
          <p:cNvPr id="64" name="Rectangle 33"/>
          <p:cNvSpPr>
            <a:spLocks noChangeArrowheads="1"/>
          </p:cNvSpPr>
          <p:nvPr/>
        </p:nvSpPr>
        <p:spPr bwMode="auto">
          <a:xfrm>
            <a:off x="3819894" y="25499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协    议</a:t>
            </a:r>
          </a:p>
        </p:txBody>
      </p:sp>
      <p:sp>
        <p:nvSpPr>
          <p:cNvPr id="65" name="Rectangle 34"/>
          <p:cNvSpPr>
            <a:spLocks noChangeArrowheads="1"/>
          </p:cNvSpPr>
          <p:nvPr/>
        </p:nvSpPr>
        <p:spPr bwMode="auto">
          <a:xfrm>
            <a:off x="3192035" y="22973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标    识</a:t>
            </a:r>
          </a:p>
        </p:txBody>
      </p:sp>
      <p:sp>
        <p:nvSpPr>
          <p:cNvPr id="66" name="Rectangle 35"/>
          <p:cNvSpPr>
            <a:spLocks noChangeArrowheads="1"/>
          </p:cNvSpPr>
          <p:nvPr/>
        </p:nvSpPr>
        <p:spPr bwMode="auto">
          <a:xfrm>
            <a:off x="3708679" y="20320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区 分 服 务</a:t>
            </a:r>
          </a:p>
        </p:txBody>
      </p:sp>
      <p:sp>
        <p:nvSpPr>
          <p:cNvPr id="67" name="Rectangle 36"/>
          <p:cNvSpPr>
            <a:spLocks noChangeArrowheads="1"/>
          </p:cNvSpPr>
          <p:nvPr/>
        </p:nvSpPr>
        <p:spPr bwMode="auto">
          <a:xfrm>
            <a:off x="5553131" y="2032024"/>
            <a:ext cx="88485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总   长   度</a:t>
            </a:r>
          </a:p>
        </p:txBody>
      </p:sp>
      <p:sp>
        <p:nvSpPr>
          <p:cNvPr id="68" name="Rectangle 37"/>
          <p:cNvSpPr>
            <a:spLocks noChangeArrowheads="1"/>
          </p:cNvSpPr>
          <p:nvPr/>
        </p:nvSpPr>
        <p:spPr bwMode="auto">
          <a:xfrm>
            <a:off x="5872320" y="2297377"/>
            <a:ext cx="88485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片   偏   移</a:t>
            </a:r>
          </a:p>
        </p:txBody>
      </p:sp>
      <p:sp>
        <p:nvSpPr>
          <p:cNvPr id="69" name="Rectangle 38"/>
          <p:cNvSpPr>
            <a:spLocks noChangeArrowheads="1"/>
          </p:cNvSpPr>
          <p:nvPr/>
        </p:nvSpPr>
        <p:spPr bwMode="auto">
          <a:xfrm>
            <a:off x="6333355" y="33165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填    充</a:t>
            </a:r>
          </a:p>
        </p:txBody>
      </p:sp>
      <p:sp>
        <p:nvSpPr>
          <p:cNvPr id="70" name="Rectangle 39"/>
          <p:cNvSpPr>
            <a:spLocks noChangeArrowheads="1"/>
          </p:cNvSpPr>
          <p:nvPr/>
        </p:nvSpPr>
        <p:spPr bwMode="auto">
          <a:xfrm>
            <a:off x="5329388" y="2549991"/>
            <a:ext cx="143308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首   部   检   验   和</a:t>
            </a:r>
          </a:p>
        </p:txBody>
      </p:sp>
      <p:sp>
        <p:nvSpPr>
          <p:cNvPr id="71" name="Rectangle 40"/>
          <p:cNvSpPr>
            <a:spLocks noChangeArrowheads="1"/>
          </p:cNvSpPr>
          <p:nvPr/>
        </p:nvSpPr>
        <p:spPr bwMode="auto">
          <a:xfrm>
            <a:off x="4367882" y="2812392"/>
            <a:ext cx="88485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源   地   址</a:t>
            </a:r>
          </a:p>
        </p:txBody>
      </p:sp>
      <p:sp>
        <p:nvSpPr>
          <p:cNvPr id="72" name="Rectangle 41"/>
          <p:cNvSpPr>
            <a:spLocks noChangeArrowheads="1"/>
          </p:cNvSpPr>
          <p:nvPr/>
        </p:nvSpPr>
        <p:spPr bwMode="auto">
          <a:xfrm>
            <a:off x="4205103" y="3071842"/>
            <a:ext cx="11589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目   的   地   址</a:t>
            </a:r>
          </a:p>
        </p:txBody>
      </p:sp>
      <p:sp>
        <p:nvSpPr>
          <p:cNvPr id="73" name="Rectangle 42"/>
          <p:cNvSpPr>
            <a:spLocks noChangeArrowheads="1"/>
          </p:cNvSpPr>
          <p:nvPr/>
        </p:nvSpPr>
        <p:spPr bwMode="auto">
          <a:xfrm>
            <a:off x="2974660" y="3316511"/>
            <a:ext cx="252312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可   选   字   段  （长   度   可   变）</a:t>
            </a:r>
          </a:p>
        </p:txBody>
      </p:sp>
      <p:grpSp>
        <p:nvGrpSpPr>
          <p:cNvPr id="75" name="Group 46"/>
          <p:cNvGrpSpPr>
            <a:grpSpLocks/>
          </p:cNvGrpSpPr>
          <p:nvPr/>
        </p:nvGrpSpPr>
        <p:grpSpPr bwMode="auto">
          <a:xfrm>
            <a:off x="2236595" y="3428834"/>
            <a:ext cx="83917" cy="41064"/>
            <a:chOff x="833" y="3024"/>
            <a:chExt cx="78" cy="51"/>
          </a:xfrm>
        </p:grpSpPr>
        <p:sp>
          <p:nvSpPr>
            <p:cNvPr id="85"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6"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7"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grpSp>
      <p:grpSp>
        <p:nvGrpSpPr>
          <p:cNvPr id="76" name="Group 50"/>
          <p:cNvGrpSpPr>
            <a:grpSpLocks/>
          </p:cNvGrpSpPr>
          <p:nvPr/>
        </p:nvGrpSpPr>
        <p:grpSpPr bwMode="auto">
          <a:xfrm>
            <a:off x="7247343" y="3434434"/>
            <a:ext cx="83917" cy="39198"/>
            <a:chOff x="5432" y="3030"/>
            <a:chExt cx="78" cy="51"/>
          </a:xfrm>
        </p:grpSpPr>
        <p:sp>
          <p:nvSpPr>
            <p:cNvPr id="82"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3"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4"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grpSp>
      <p:sp>
        <p:nvSpPr>
          <p:cNvPr id="77" name="Rectangle 75"/>
          <p:cNvSpPr>
            <a:spLocks noChangeArrowheads="1"/>
          </p:cNvSpPr>
          <p:nvPr/>
        </p:nvSpPr>
        <p:spPr bwMode="auto">
          <a:xfrm>
            <a:off x="3982674" y="36576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dirty="0">
                <a:latin typeface="Montserrat" panose="00000500000000000000" pitchFamily="2" charset="0"/>
                <a:ea typeface="微软雅黑 Light" panose="020B0502040204020203" pitchFamily="34" charset="-122"/>
              </a:rPr>
              <a:t>数   据   部   分</a:t>
            </a:r>
          </a:p>
        </p:txBody>
      </p:sp>
      <p:sp>
        <p:nvSpPr>
          <p:cNvPr id="78" name="AutoShape 97"/>
          <p:cNvSpPr>
            <a:spLocks/>
          </p:cNvSpPr>
          <p:nvPr/>
        </p:nvSpPr>
        <p:spPr bwMode="auto">
          <a:xfrm>
            <a:off x="2124247" y="20559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grpSp>
        <p:nvGrpSpPr>
          <p:cNvPr id="79" name="Group 94"/>
          <p:cNvGrpSpPr>
            <a:grpSpLocks/>
          </p:cNvGrpSpPr>
          <p:nvPr/>
        </p:nvGrpSpPr>
        <p:grpSpPr bwMode="auto">
          <a:xfrm>
            <a:off x="1470899" y="2013991"/>
            <a:ext cx="336679" cy="1566034"/>
            <a:chOff x="-127" y="845"/>
            <a:chExt cx="333" cy="1678"/>
          </a:xfrm>
        </p:grpSpPr>
        <p:sp>
          <p:nvSpPr>
            <p:cNvPr id="8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首</a:t>
              </a:r>
            </a:p>
            <a:p>
              <a:pPr defTabSz="762000" eaLnBrk="0" hangingPunct="0"/>
              <a:r>
                <a:rPr kumimoji="1" lang="zh-CN" altLang="en-US" sz="1200" dirty="0">
                  <a:latin typeface="Montserrat" panose="00000500000000000000" pitchFamily="2" charset="0"/>
                  <a:ea typeface="微软雅黑 Light" panose="020B0502040204020203" pitchFamily="34" charset="-122"/>
                </a:rPr>
                <a:t>部</a:t>
              </a:r>
            </a:p>
          </p:txBody>
        </p:sp>
      </p:grpSp>
    </p:spTree>
    <p:extLst>
      <p:ext uri="{BB962C8B-B14F-4D97-AF65-F5344CB8AC3E}">
        <p14:creationId xmlns:p14="http://schemas.microsoft.com/office/powerpoint/2010/main" val="19615528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6"/>
          <p:cNvSpPr>
            <a:spLocks noChangeArrowheads="1"/>
          </p:cNvSpPr>
          <p:nvPr/>
        </p:nvSpPr>
        <p:spPr bwMode="auto">
          <a:xfrm>
            <a:off x="2167869" y="63372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11" name="标题 10">
            <a:extLst>
              <a:ext uri="{FF2B5EF4-FFF2-40B4-BE49-F238E27FC236}">
                <a16:creationId xmlns:a16="http://schemas.microsoft.com/office/drawing/2014/main" id="{ACC866A3-F04E-C53F-06F2-C0FBF814CD03}"/>
              </a:ext>
            </a:extLst>
          </p:cNvPr>
          <p:cNvSpPr>
            <a:spLocks noGrp="1"/>
          </p:cNvSpPr>
          <p:nvPr>
            <p:ph type="title"/>
          </p:nvPr>
        </p:nvSpPr>
        <p:spPr>
          <a:xfrm>
            <a:off x="486000" y="550723"/>
            <a:ext cx="8172000" cy="338554"/>
          </a:xfrm>
        </p:spPr>
        <p:txBody>
          <a:bodyPr/>
          <a:lstStyle/>
          <a:p>
            <a:r>
              <a:rPr lang="zh-CN" altLang="en-US" dirty="0"/>
              <a:t>协议 </a:t>
            </a:r>
            <a:r>
              <a:rPr lang="en-US" altLang="zh-CN" dirty="0"/>
              <a:t>Protocol</a:t>
            </a:r>
            <a:endParaRPr lang="zh-CN" altLang="en-US" dirty="0"/>
          </a:p>
        </p:txBody>
      </p:sp>
      <p:sp>
        <p:nvSpPr>
          <p:cNvPr id="5" name="内容占位符 4">
            <a:extLst>
              <a:ext uri="{FF2B5EF4-FFF2-40B4-BE49-F238E27FC236}">
                <a16:creationId xmlns:a16="http://schemas.microsoft.com/office/drawing/2014/main" id="{E4240A4D-B816-04E2-C425-05BFDA2AC24E}"/>
              </a:ext>
            </a:extLst>
          </p:cNvPr>
          <p:cNvSpPr>
            <a:spLocks noGrp="1"/>
          </p:cNvSpPr>
          <p:nvPr>
            <p:ph sz="quarter" idx="11"/>
          </p:nvPr>
        </p:nvSpPr>
        <p:spPr>
          <a:xfrm>
            <a:off x="486000" y="900000"/>
            <a:ext cx="8172000" cy="3703500"/>
          </a:xfrm>
        </p:spPr>
        <p:txBody>
          <a:bodyPr/>
          <a:lstStyle/>
          <a:p>
            <a:r>
              <a:rPr lang="en-US" altLang="zh-CN" dirty="0"/>
              <a:t>IP </a:t>
            </a:r>
            <a:r>
              <a:rPr lang="zh-CN" altLang="en-US" dirty="0"/>
              <a:t>协议支持多种协议，</a:t>
            </a:r>
            <a:r>
              <a:rPr lang="en-US" altLang="zh-CN" dirty="0"/>
              <a:t>IP </a:t>
            </a:r>
            <a:r>
              <a:rPr lang="zh-CN" altLang="en-US" dirty="0"/>
              <a:t>数据报可以封装多种协议 </a:t>
            </a:r>
            <a:r>
              <a:rPr lang="en-US" altLang="zh-CN" dirty="0"/>
              <a:t>PDU</a:t>
            </a:r>
          </a:p>
          <a:p>
            <a:r>
              <a:rPr lang="zh-CN" altLang="en-US" dirty="0"/>
              <a:t>协议字段指出应将数据</a:t>
            </a:r>
          </a:p>
          <a:p>
            <a:r>
              <a:rPr lang="zh-CN" altLang="en-US" dirty="0"/>
              <a:t>部分交给哪一个进程</a:t>
            </a:r>
          </a:p>
          <a:p>
            <a:endParaRPr lang="zh-CN" altLang="en-US" dirty="0"/>
          </a:p>
        </p:txBody>
      </p:sp>
      <p:sp>
        <p:nvSpPr>
          <p:cNvPr id="61" name="Rectangle 4"/>
          <p:cNvSpPr>
            <a:spLocks noChangeArrowheads="1"/>
          </p:cNvSpPr>
          <p:nvPr/>
        </p:nvSpPr>
        <p:spPr bwMode="auto">
          <a:xfrm>
            <a:off x="1773858" y="2092019"/>
            <a:ext cx="5806747" cy="598240"/>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运输层</a:t>
            </a:r>
          </a:p>
        </p:txBody>
      </p:sp>
      <p:sp>
        <p:nvSpPr>
          <p:cNvPr id="62" name="Rectangle 5"/>
          <p:cNvSpPr>
            <a:spLocks noChangeArrowheads="1"/>
          </p:cNvSpPr>
          <p:nvPr/>
        </p:nvSpPr>
        <p:spPr bwMode="auto">
          <a:xfrm>
            <a:off x="1773858" y="2690259"/>
            <a:ext cx="5806747" cy="1266528"/>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网络层</a:t>
            </a:r>
          </a:p>
        </p:txBody>
      </p:sp>
      <p:sp>
        <p:nvSpPr>
          <p:cNvPr id="63" name="Rectangle 11"/>
          <p:cNvSpPr>
            <a:spLocks noChangeArrowheads="1"/>
          </p:cNvSpPr>
          <p:nvPr/>
        </p:nvSpPr>
        <p:spPr bwMode="auto">
          <a:xfrm>
            <a:off x="2751961" y="3284762"/>
            <a:ext cx="3850543" cy="302268"/>
          </a:xfrm>
          <a:prstGeom prst="rect">
            <a:avLst/>
          </a:prstGeom>
          <a:solidFill>
            <a:schemeClr val="bg1"/>
          </a:solidFill>
          <a:ln w="6350">
            <a:solidFill>
              <a:schemeClr val="tx1"/>
            </a:solidFill>
            <a:miter lim="800000"/>
            <a:headEnd/>
            <a:tailEnd/>
          </a:ln>
          <a:effec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64" name="Rectangle 6"/>
          <p:cNvSpPr>
            <a:spLocks noChangeArrowheads="1"/>
          </p:cNvSpPr>
          <p:nvPr/>
        </p:nvSpPr>
        <p:spPr bwMode="auto">
          <a:xfrm>
            <a:off x="2790326" y="3291953"/>
            <a:ext cx="855488" cy="291137"/>
          </a:xfrm>
          <a:prstGeom prst="rect">
            <a:avLst/>
          </a:prstGeom>
          <a:solidFill>
            <a:schemeClr val="bg1"/>
          </a:solidFill>
          <a:ln>
            <a:noFill/>
          </a:ln>
          <a:effec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67" name="Line 9"/>
          <p:cNvSpPr>
            <a:spLocks noChangeShapeType="1"/>
          </p:cNvSpPr>
          <p:nvPr/>
        </p:nvSpPr>
        <p:spPr bwMode="auto">
          <a:xfrm>
            <a:off x="3613799" y="3284762"/>
            <a:ext cx="0" cy="30226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68" name="Text Box 10"/>
          <p:cNvSpPr txBox="1">
            <a:spLocks noChangeArrowheads="1"/>
          </p:cNvSpPr>
          <p:nvPr/>
        </p:nvSpPr>
        <p:spPr bwMode="auto">
          <a:xfrm>
            <a:off x="2933485" y="3297397"/>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首部</a:t>
            </a:r>
          </a:p>
        </p:txBody>
      </p:sp>
      <p:sp>
        <p:nvSpPr>
          <p:cNvPr id="69" name="Rectangle 13"/>
          <p:cNvSpPr>
            <a:spLocks noChangeArrowheads="1"/>
          </p:cNvSpPr>
          <p:nvPr/>
        </p:nvSpPr>
        <p:spPr bwMode="auto">
          <a:xfrm>
            <a:off x="4419107" y="2387006"/>
            <a:ext cx="689044"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TCP</a:t>
            </a:r>
          </a:p>
        </p:txBody>
      </p:sp>
      <p:sp>
        <p:nvSpPr>
          <p:cNvPr id="71" name="Rectangle 15"/>
          <p:cNvSpPr>
            <a:spLocks noChangeArrowheads="1"/>
          </p:cNvSpPr>
          <p:nvPr/>
        </p:nvSpPr>
        <p:spPr bwMode="auto">
          <a:xfrm>
            <a:off x="5280945" y="2387006"/>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UDP</a:t>
            </a:r>
          </a:p>
        </p:txBody>
      </p:sp>
      <p:sp>
        <p:nvSpPr>
          <p:cNvPr id="73" name="Rectangle 17"/>
          <p:cNvSpPr>
            <a:spLocks noChangeArrowheads="1"/>
          </p:cNvSpPr>
          <p:nvPr/>
        </p:nvSpPr>
        <p:spPr bwMode="auto">
          <a:xfrm>
            <a:off x="2981286" y="2770994"/>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ICMP</a:t>
            </a:r>
          </a:p>
        </p:txBody>
      </p:sp>
      <p:sp>
        <p:nvSpPr>
          <p:cNvPr id="75" name="Rectangle 19"/>
          <p:cNvSpPr>
            <a:spLocks noChangeArrowheads="1"/>
          </p:cNvSpPr>
          <p:nvPr/>
        </p:nvSpPr>
        <p:spPr bwMode="auto">
          <a:xfrm>
            <a:off x="3786594" y="2770994"/>
            <a:ext cx="689044"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IGMP</a:t>
            </a:r>
          </a:p>
        </p:txBody>
      </p:sp>
      <p:sp>
        <p:nvSpPr>
          <p:cNvPr id="77" name="Rectangle 21"/>
          <p:cNvSpPr>
            <a:spLocks noChangeArrowheads="1"/>
          </p:cNvSpPr>
          <p:nvPr/>
        </p:nvSpPr>
        <p:spPr bwMode="auto">
          <a:xfrm>
            <a:off x="6176917" y="2770994"/>
            <a:ext cx="689044"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OSPF</a:t>
            </a:r>
          </a:p>
        </p:txBody>
      </p:sp>
      <p:sp>
        <p:nvSpPr>
          <p:cNvPr id="84" name="Text Box 31"/>
          <p:cNvSpPr txBox="1">
            <a:spLocks noChangeArrowheads="1"/>
          </p:cNvSpPr>
          <p:nvPr/>
        </p:nvSpPr>
        <p:spPr bwMode="auto">
          <a:xfrm>
            <a:off x="4207392" y="3297397"/>
            <a:ext cx="93968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数 据 部 分</a:t>
            </a:r>
          </a:p>
        </p:txBody>
      </p:sp>
      <p:sp>
        <p:nvSpPr>
          <p:cNvPr id="85" name="Line 32"/>
          <p:cNvSpPr>
            <a:spLocks noChangeShapeType="1"/>
          </p:cNvSpPr>
          <p:nvPr/>
        </p:nvSpPr>
        <p:spPr bwMode="auto">
          <a:xfrm>
            <a:off x="2751961" y="3775276"/>
            <a:ext cx="3850543" cy="0"/>
          </a:xfrm>
          <a:prstGeom prst="line">
            <a:avLst/>
          </a:prstGeom>
          <a:noFill/>
          <a:ln w="9525">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86" name="Text Box 33"/>
          <p:cNvSpPr txBox="1">
            <a:spLocks noChangeArrowheads="1"/>
          </p:cNvSpPr>
          <p:nvPr/>
        </p:nvSpPr>
        <p:spPr bwMode="auto">
          <a:xfrm>
            <a:off x="4245246" y="3636777"/>
            <a:ext cx="843501" cy="276999"/>
          </a:xfrm>
          <a:prstGeom prst="rect">
            <a:avLst/>
          </a:prstGeom>
          <a:solidFill>
            <a:schemeClr val="bg1"/>
          </a:solidFill>
          <a:ln>
            <a:noFill/>
          </a:ln>
          <a:effec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数据报</a:t>
            </a:r>
          </a:p>
        </p:txBody>
      </p:sp>
      <p:cxnSp>
        <p:nvCxnSpPr>
          <p:cNvPr id="19" name="直接箭头连接符 18">
            <a:extLst>
              <a:ext uri="{FF2B5EF4-FFF2-40B4-BE49-F238E27FC236}">
                <a16:creationId xmlns:a16="http://schemas.microsoft.com/office/drawing/2014/main" id="{938454AE-3C7B-D92F-D831-BE9ABD8EB474}"/>
              </a:ext>
            </a:extLst>
          </p:cNvPr>
          <p:cNvCxnSpPr>
            <a:stCxn id="84" idx="0"/>
            <a:endCxn id="73" idx="2"/>
          </p:cNvCxnSpPr>
          <p:nvPr/>
        </p:nvCxnSpPr>
        <p:spPr>
          <a:xfrm flipH="1" flipV="1">
            <a:off x="3326342" y="2987602"/>
            <a:ext cx="1350891" cy="30979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6822949D-0CE3-7E76-27A7-71385F2C0BE2}"/>
              </a:ext>
            </a:extLst>
          </p:cNvPr>
          <p:cNvCxnSpPr>
            <a:stCxn id="84" idx="0"/>
            <a:endCxn id="75" idx="2"/>
          </p:cNvCxnSpPr>
          <p:nvPr/>
        </p:nvCxnSpPr>
        <p:spPr>
          <a:xfrm flipH="1" flipV="1">
            <a:off x="4131116" y="2987602"/>
            <a:ext cx="546117" cy="30979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EDF97EBE-2771-EA78-A083-64B2B5EEA036}"/>
              </a:ext>
            </a:extLst>
          </p:cNvPr>
          <p:cNvCxnSpPr>
            <a:cxnSpLocks/>
            <a:stCxn id="63" idx="0"/>
            <a:endCxn id="69" idx="2"/>
          </p:cNvCxnSpPr>
          <p:nvPr/>
        </p:nvCxnSpPr>
        <p:spPr>
          <a:xfrm flipV="1">
            <a:off x="4677233" y="2603614"/>
            <a:ext cx="86396" cy="681148"/>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A363F632-B0C4-4BD5-D647-F3EADB015FD3}"/>
              </a:ext>
            </a:extLst>
          </p:cNvPr>
          <p:cNvCxnSpPr>
            <a:stCxn id="84" idx="0"/>
            <a:endCxn id="71" idx="2"/>
          </p:cNvCxnSpPr>
          <p:nvPr/>
        </p:nvCxnSpPr>
        <p:spPr>
          <a:xfrm flipV="1">
            <a:off x="4677233" y="2603614"/>
            <a:ext cx="948768" cy="693783"/>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E39D7145-1647-2E9C-1615-3A4B9DEE0E93}"/>
              </a:ext>
            </a:extLst>
          </p:cNvPr>
          <p:cNvCxnSpPr>
            <a:stCxn id="84" idx="0"/>
            <a:endCxn id="77" idx="2"/>
          </p:cNvCxnSpPr>
          <p:nvPr/>
        </p:nvCxnSpPr>
        <p:spPr>
          <a:xfrm flipV="1">
            <a:off x="4677233" y="2987602"/>
            <a:ext cx="1844206" cy="30979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385053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表格 7"/>
          <p:cNvGraphicFramePr>
            <a:graphicFrameLocks noGrp="1"/>
          </p:cNvGraphicFramePr>
          <p:nvPr>
            <p:extLst>
              <p:ext uri="{D42A27DB-BD31-4B8C-83A1-F6EECF244321}">
                <p14:modId xmlns:p14="http://schemas.microsoft.com/office/powerpoint/2010/main" val="2777011087"/>
              </p:ext>
            </p:extLst>
          </p:nvPr>
        </p:nvGraphicFramePr>
        <p:xfrm>
          <a:off x="569628" y="1375850"/>
          <a:ext cx="8036107" cy="1996940"/>
        </p:xfrm>
        <a:graphic>
          <a:graphicData uri="http://schemas.openxmlformats.org/drawingml/2006/table">
            <a:tbl>
              <a:tblPr firstRow="1" firstCol="1">
                <a:tableStyleId>{00A15C55-8517-42AA-B614-E9B94910E393}</a:tableStyleId>
              </a:tblPr>
              <a:tblGrid>
                <a:gridCol w="653583">
                  <a:extLst>
                    <a:ext uri="{9D8B030D-6E8A-4147-A177-3AD203B41FA5}">
                      <a16:colId xmlns:a16="http://schemas.microsoft.com/office/drawing/2014/main" val="492773900"/>
                    </a:ext>
                  </a:extLst>
                </a:gridCol>
                <a:gridCol w="665550">
                  <a:extLst>
                    <a:ext uri="{9D8B030D-6E8A-4147-A177-3AD203B41FA5}">
                      <a16:colId xmlns:a16="http://schemas.microsoft.com/office/drawing/2014/main" val="2915053018"/>
                    </a:ext>
                  </a:extLst>
                </a:gridCol>
                <a:gridCol w="641618">
                  <a:extLst>
                    <a:ext uri="{9D8B030D-6E8A-4147-A177-3AD203B41FA5}">
                      <a16:colId xmlns:a16="http://schemas.microsoft.com/office/drawing/2014/main" val="2611645043"/>
                    </a:ext>
                  </a:extLst>
                </a:gridCol>
                <a:gridCol w="511898">
                  <a:extLst>
                    <a:ext uri="{9D8B030D-6E8A-4147-A177-3AD203B41FA5}">
                      <a16:colId xmlns:a16="http://schemas.microsoft.com/office/drawing/2014/main" val="4082806152"/>
                    </a:ext>
                  </a:extLst>
                </a:gridCol>
                <a:gridCol w="618162">
                  <a:extLst>
                    <a:ext uri="{9D8B030D-6E8A-4147-A177-3AD203B41FA5}">
                      <a16:colId xmlns:a16="http://schemas.microsoft.com/office/drawing/2014/main" val="4075642411"/>
                    </a:ext>
                  </a:extLst>
                </a:gridCol>
                <a:gridCol w="618162">
                  <a:extLst>
                    <a:ext uri="{9D8B030D-6E8A-4147-A177-3AD203B41FA5}">
                      <a16:colId xmlns:a16="http://schemas.microsoft.com/office/drawing/2014/main" val="674548363"/>
                    </a:ext>
                  </a:extLst>
                </a:gridCol>
                <a:gridCol w="618162">
                  <a:extLst>
                    <a:ext uri="{9D8B030D-6E8A-4147-A177-3AD203B41FA5}">
                      <a16:colId xmlns:a16="http://schemas.microsoft.com/office/drawing/2014/main" val="2604799252"/>
                    </a:ext>
                  </a:extLst>
                </a:gridCol>
                <a:gridCol w="618162">
                  <a:extLst>
                    <a:ext uri="{9D8B030D-6E8A-4147-A177-3AD203B41FA5}">
                      <a16:colId xmlns:a16="http://schemas.microsoft.com/office/drawing/2014/main" val="3948079557"/>
                    </a:ext>
                  </a:extLst>
                </a:gridCol>
                <a:gridCol w="618162">
                  <a:extLst>
                    <a:ext uri="{9D8B030D-6E8A-4147-A177-3AD203B41FA5}">
                      <a16:colId xmlns:a16="http://schemas.microsoft.com/office/drawing/2014/main" val="3850063060"/>
                    </a:ext>
                  </a:extLst>
                </a:gridCol>
                <a:gridCol w="618162">
                  <a:extLst>
                    <a:ext uri="{9D8B030D-6E8A-4147-A177-3AD203B41FA5}">
                      <a16:colId xmlns:a16="http://schemas.microsoft.com/office/drawing/2014/main" val="479985350"/>
                    </a:ext>
                  </a:extLst>
                </a:gridCol>
                <a:gridCol w="618162">
                  <a:extLst>
                    <a:ext uri="{9D8B030D-6E8A-4147-A177-3AD203B41FA5}">
                      <a16:colId xmlns:a16="http://schemas.microsoft.com/office/drawing/2014/main" val="374653691"/>
                    </a:ext>
                  </a:extLst>
                </a:gridCol>
                <a:gridCol w="618162">
                  <a:extLst>
                    <a:ext uri="{9D8B030D-6E8A-4147-A177-3AD203B41FA5}">
                      <a16:colId xmlns:a16="http://schemas.microsoft.com/office/drawing/2014/main" val="3917342776"/>
                    </a:ext>
                  </a:extLst>
                </a:gridCol>
                <a:gridCol w="618162">
                  <a:extLst>
                    <a:ext uri="{9D8B030D-6E8A-4147-A177-3AD203B41FA5}">
                      <a16:colId xmlns:a16="http://schemas.microsoft.com/office/drawing/2014/main" val="2157057431"/>
                    </a:ext>
                  </a:extLst>
                </a:gridCol>
              </a:tblGrid>
              <a:tr h="901661">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协议名</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ICMP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TCP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UDP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ESP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AH</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ICMP-IPv6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OSPF</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743841133"/>
                  </a:ext>
                </a:extLst>
              </a:tr>
              <a:tr h="1095279">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协议字段值</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1</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6</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9</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17</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89</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54531033"/>
                  </a:ext>
                </a:extLst>
              </a:tr>
            </a:tbl>
          </a:graphicData>
        </a:graphic>
      </p:graphicFrame>
      <p:sp>
        <p:nvSpPr>
          <p:cNvPr id="12" name="矩形 11"/>
          <p:cNvSpPr/>
          <p:nvPr/>
        </p:nvSpPr>
        <p:spPr>
          <a:xfrm>
            <a:off x="2705621" y="1006518"/>
            <a:ext cx="3877985"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常用的一些协议和相应的协议字段值</a:t>
            </a:r>
          </a:p>
        </p:txBody>
      </p:sp>
    </p:spTree>
    <p:extLst>
      <p:ext uri="{BB962C8B-B14F-4D97-AF65-F5344CB8AC3E}">
        <p14:creationId xmlns:p14="http://schemas.microsoft.com/office/powerpoint/2010/main" val="20463005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1759732" y="3469278"/>
            <a:ext cx="632333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首部检验和</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位，只检验数据报的首部，</a:t>
            </a:r>
          </a:p>
          <a:p>
            <a:pPr algn="ctr"/>
            <a:r>
              <a:rPr lang="zh-CN" altLang="en-US" sz="1600" b="1" dirty="0">
                <a:solidFill>
                  <a:srgbClr val="FFFF00"/>
                </a:solidFill>
                <a:latin typeface="微软雅黑" pitchFamily="34" charset="-122"/>
                <a:ea typeface="微软雅黑" pitchFamily="34" charset="-122"/>
              </a:rPr>
              <a:t>不检验数据部分。</a:t>
            </a:r>
            <a:r>
              <a:rPr lang="zh-CN" altLang="en-US" sz="1600" b="1" dirty="0">
                <a:solidFill>
                  <a:schemeClr val="bg1"/>
                </a:solidFill>
                <a:latin typeface="微软雅黑" pitchFamily="34" charset="-122"/>
                <a:ea typeface="微软雅黑" pitchFamily="34" charset="-122"/>
              </a:rPr>
              <a:t>这里不采用 </a:t>
            </a:r>
            <a:r>
              <a:rPr lang="en-US" altLang="zh-CN" sz="1600" b="1" dirty="0">
                <a:solidFill>
                  <a:schemeClr val="bg1"/>
                </a:solidFill>
                <a:latin typeface="微软雅黑" pitchFamily="34" charset="-122"/>
                <a:ea typeface="微软雅黑" pitchFamily="34" charset="-122"/>
              </a:rPr>
              <a:t>CRC </a:t>
            </a:r>
            <a:r>
              <a:rPr lang="zh-CN" altLang="en-US" sz="1600" b="1" dirty="0">
                <a:solidFill>
                  <a:schemeClr val="bg1"/>
                </a:solidFill>
                <a:latin typeface="微软雅黑" pitchFamily="34" charset="-122"/>
                <a:ea typeface="微软雅黑" pitchFamily="34" charset="-122"/>
              </a:rPr>
              <a:t>检验码而采用简单的计算方法。 </a:t>
            </a:r>
          </a:p>
        </p:txBody>
      </p:sp>
      <p:sp>
        <p:nvSpPr>
          <p:cNvPr id="60" name="Rectangle 92"/>
          <p:cNvSpPr>
            <a:spLocks noChangeArrowheads="1"/>
          </p:cNvSpPr>
          <p:nvPr/>
        </p:nvSpPr>
        <p:spPr bwMode="auto">
          <a:xfrm flipV="1">
            <a:off x="4951192" y="1855633"/>
            <a:ext cx="2508912"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269546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66"/>
          <p:cNvSpPr>
            <a:spLocks noChangeArrowheads="1"/>
          </p:cNvSpPr>
          <p:nvPr/>
        </p:nvSpPr>
        <p:spPr bwMode="auto">
          <a:xfrm>
            <a:off x="4102040" y="3457735"/>
            <a:ext cx="1136515" cy="520751"/>
          </a:xfrm>
          <a:prstGeom prst="rect">
            <a:avLst/>
          </a:prstGeom>
          <a:solidFill>
            <a:srgbClr val="00FF99"/>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Text Box 4"/>
          <p:cNvSpPr txBox="1">
            <a:spLocks noChangeArrowheads="1"/>
          </p:cNvSpPr>
          <p:nvPr/>
        </p:nvSpPr>
        <p:spPr bwMode="auto">
          <a:xfrm>
            <a:off x="2094129" y="769558"/>
            <a:ext cx="1491032" cy="307777"/>
          </a:xfrm>
          <a:prstGeom prst="rect">
            <a:avLst/>
          </a:prstGeom>
          <a:solidFill>
            <a:srgbClr val="0000FF"/>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发送端</a:t>
            </a:r>
          </a:p>
        </p:txBody>
      </p:sp>
      <p:sp>
        <p:nvSpPr>
          <p:cNvPr id="17" name="Text Box 5"/>
          <p:cNvSpPr txBox="1">
            <a:spLocks noChangeArrowheads="1"/>
          </p:cNvSpPr>
          <p:nvPr/>
        </p:nvSpPr>
        <p:spPr bwMode="auto">
          <a:xfrm>
            <a:off x="5682474" y="769558"/>
            <a:ext cx="1444791" cy="307777"/>
          </a:xfrm>
          <a:prstGeom prst="rect">
            <a:avLst/>
          </a:prstGeom>
          <a:solidFill>
            <a:srgbClr val="00B050"/>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接收端</a:t>
            </a:r>
          </a:p>
        </p:txBody>
      </p:sp>
      <p:sp>
        <p:nvSpPr>
          <p:cNvPr id="18" name="Rectangle 6"/>
          <p:cNvSpPr>
            <a:spLocks noChangeArrowheads="1"/>
          </p:cNvSpPr>
          <p:nvPr/>
        </p:nvSpPr>
        <p:spPr bwMode="auto">
          <a:xfrm>
            <a:off x="2707601" y="1142336"/>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19" name="Text Box 7"/>
          <p:cNvSpPr txBox="1">
            <a:spLocks noChangeArrowheads="1"/>
          </p:cNvSpPr>
          <p:nvPr/>
        </p:nvSpPr>
        <p:spPr bwMode="auto">
          <a:xfrm>
            <a:off x="2261626"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20" name="Rectangle 8"/>
          <p:cNvSpPr>
            <a:spLocks noChangeArrowheads="1"/>
          </p:cNvSpPr>
          <p:nvPr/>
        </p:nvSpPr>
        <p:spPr bwMode="auto">
          <a:xfrm>
            <a:off x="2707601" y="1391804"/>
            <a:ext cx="874479" cy="176429"/>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1" name="Text Box 9"/>
          <p:cNvSpPr txBox="1">
            <a:spLocks noChangeArrowheads="1"/>
          </p:cNvSpPr>
          <p:nvPr/>
        </p:nvSpPr>
        <p:spPr bwMode="auto">
          <a:xfrm>
            <a:off x="2261626"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22" name="Group 67"/>
          <p:cNvGrpSpPr>
            <a:grpSpLocks/>
          </p:cNvGrpSpPr>
          <p:nvPr/>
        </p:nvGrpSpPr>
        <p:grpSpPr bwMode="auto">
          <a:xfrm>
            <a:off x="2094129" y="1710515"/>
            <a:ext cx="1487950" cy="264644"/>
            <a:chOff x="295" y="1111"/>
            <a:chExt cx="1448" cy="279"/>
          </a:xfrm>
        </p:grpSpPr>
        <p:sp>
          <p:nvSpPr>
            <p:cNvPr id="23" name="Rectangle 10"/>
            <p:cNvSpPr>
              <a:spLocks noChangeArrowheads="1"/>
            </p:cNvSpPr>
            <p:nvPr/>
          </p:nvSpPr>
          <p:spPr bwMode="auto">
            <a:xfrm>
              <a:off x="892"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solidFill>
                    <a:schemeClr val="bg1"/>
                  </a:solidFill>
                  <a:latin typeface="微软雅黑" pitchFamily="34" charset="-122"/>
                  <a:ea typeface="微软雅黑" pitchFamily="34" charset="-122"/>
                </a:rPr>
                <a:t>置为全 </a:t>
              </a:r>
              <a:r>
                <a:rPr kumimoji="1" lang="en-US" altLang="zh-CN" sz="1200" b="1">
                  <a:solidFill>
                    <a:schemeClr val="bg1"/>
                  </a:solidFill>
                  <a:latin typeface="微软雅黑" pitchFamily="34" charset="-122"/>
                  <a:ea typeface="微软雅黑" pitchFamily="34" charset="-122"/>
                </a:rPr>
                <a:t>0</a:t>
              </a:r>
            </a:p>
          </p:txBody>
        </p:sp>
        <p:sp>
          <p:nvSpPr>
            <p:cNvPr id="24" name="Text Box 11"/>
            <p:cNvSpPr txBox="1">
              <a:spLocks noChangeArrowheads="1"/>
            </p:cNvSpPr>
            <p:nvPr/>
          </p:nvSpPr>
          <p:spPr bwMode="auto">
            <a:xfrm>
              <a:off x="295" y="1111"/>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25" name="Rectangle 12"/>
          <p:cNvSpPr>
            <a:spLocks noChangeArrowheads="1"/>
          </p:cNvSpPr>
          <p:nvPr/>
        </p:nvSpPr>
        <p:spPr bwMode="auto">
          <a:xfrm>
            <a:off x="2707601" y="2118389"/>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6" name="Text Box 13"/>
          <p:cNvSpPr txBox="1">
            <a:spLocks noChangeArrowheads="1"/>
          </p:cNvSpPr>
          <p:nvPr/>
        </p:nvSpPr>
        <p:spPr bwMode="auto">
          <a:xfrm>
            <a:off x="2261626"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27" name="Group 68"/>
          <p:cNvGrpSpPr>
            <a:grpSpLocks/>
          </p:cNvGrpSpPr>
          <p:nvPr/>
        </p:nvGrpSpPr>
        <p:grpSpPr bwMode="auto">
          <a:xfrm>
            <a:off x="1961570" y="2443740"/>
            <a:ext cx="1620510" cy="441073"/>
            <a:chOff x="166" y="1884"/>
            <a:chExt cx="1577" cy="465"/>
          </a:xfrm>
        </p:grpSpPr>
        <p:sp>
          <p:nvSpPr>
            <p:cNvPr id="28" name="Rectangle 14"/>
            <p:cNvSpPr>
              <a:spLocks noChangeArrowheads="1"/>
            </p:cNvSpPr>
            <p:nvPr/>
          </p:nvSpPr>
          <p:spPr bwMode="auto">
            <a:xfrm>
              <a:off x="892" y="2000"/>
              <a:ext cx="851" cy="188"/>
            </a:xfrm>
            <a:prstGeom prst="rect">
              <a:avLst/>
            </a:prstGeom>
            <a:solidFill>
              <a:srgbClr val="00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9" name="Text Box 15"/>
            <p:cNvSpPr txBox="1">
              <a:spLocks noChangeArrowheads="1"/>
            </p:cNvSpPr>
            <p:nvPr/>
          </p:nvSpPr>
          <p:spPr bwMode="auto">
            <a:xfrm>
              <a:off x="166" y="1884"/>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solidFill>
                    <a:srgbClr val="C00000"/>
                  </a:solidFill>
                  <a:latin typeface="微软雅黑" pitchFamily="34" charset="-122"/>
                  <a:ea typeface="微软雅黑" pitchFamily="34" charset="-122"/>
                </a:rPr>
                <a:t>反码算术</a:t>
              </a:r>
            </a:p>
            <a:p>
              <a:r>
                <a:rPr kumimoji="1" lang="zh-CN" altLang="en-US" sz="1100" b="1" dirty="0">
                  <a:solidFill>
                    <a:srgbClr val="C00000"/>
                  </a:solidFill>
                  <a:latin typeface="微软雅黑" pitchFamily="34" charset="-122"/>
                  <a:ea typeface="微软雅黑" pitchFamily="34" charset="-122"/>
                </a:rPr>
                <a:t>运算求和</a:t>
              </a:r>
            </a:p>
          </p:txBody>
        </p:sp>
      </p:grpSp>
      <p:sp>
        <p:nvSpPr>
          <p:cNvPr id="30" name="Text Box 19"/>
          <p:cNvSpPr txBox="1">
            <a:spLocks noChangeArrowheads="1"/>
          </p:cNvSpPr>
          <p:nvPr/>
        </p:nvSpPr>
        <p:spPr bwMode="auto">
          <a:xfrm>
            <a:off x="2936754"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1" name="Text Box 20"/>
          <p:cNvSpPr txBox="1">
            <a:spLocks noChangeArrowheads="1"/>
          </p:cNvSpPr>
          <p:nvPr/>
        </p:nvSpPr>
        <p:spPr bwMode="auto">
          <a:xfrm>
            <a:off x="2926478"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2" name="Line 21"/>
          <p:cNvSpPr>
            <a:spLocks noChangeShapeType="1"/>
          </p:cNvSpPr>
          <p:nvPr/>
        </p:nvSpPr>
        <p:spPr bwMode="auto">
          <a:xfrm>
            <a:off x="2151674" y="2377341"/>
            <a:ext cx="1749986"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33" name="Group 69"/>
          <p:cNvGrpSpPr>
            <a:grpSpLocks/>
          </p:cNvGrpSpPr>
          <p:nvPr/>
        </p:nvGrpSpPr>
        <p:grpSpPr bwMode="auto">
          <a:xfrm>
            <a:off x="2552437" y="2778579"/>
            <a:ext cx="671017" cy="314917"/>
            <a:chOff x="741" y="2237"/>
            <a:chExt cx="653" cy="332"/>
          </a:xfrm>
        </p:grpSpPr>
        <p:sp>
          <p:nvSpPr>
            <p:cNvPr id="34" name="AutoShape 18"/>
            <p:cNvSpPr>
              <a:spLocks noChangeArrowheads="1"/>
            </p:cNvSpPr>
            <p:nvPr/>
          </p:nvSpPr>
          <p:spPr bwMode="auto">
            <a:xfrm>
              <a:off x="1293" y="225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Text Box 22"/>
            <p:cNvSpPr txBox="1">
              <a:spLocks noChangeArrowheads="1"/>
            </p:cNvSpPr>
            <p:nvPr/>
          </p:nvSpPr>
          <p:spPr bwMode="auto">
            <a:xfrm>
              <a:off x="741" y="2237"/>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36" name="AutoShape 23"/>
          <p:cNvSpPr>
            <a:spLocks/>
          </p:cNvSpPr>
          <p:nvPr/>
        </p:nvSpPr>
        <p:spPr bwMode="auto">
          <a:xfrm>
            <a:off x="2047888" y="1150874"/>
            <a:ext cx="103787" cy="1154379"/>
          </a:xfrm>
          <a:prstGeom prst="leftBrace">
            <a:avLst>
              <a:gd name="adj1" fmla="val 10041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Text Box 24"/>
          <p:cNvSpPr txBox="1">
            <a:spLocks noChangeArrowheads="1"/>
          </p:cNvSpPr>
          <p:nvPr/>
        </p:nvSpPr>
        <p:spPr bwMode="auto">
          <a:xfrm>
            <a:off x="1756486" y="1222280"/>
            <a:ext cx="323209" cy="96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数</a:t>
            </a:r>
          </a:p>
          <a:p>
            <a:r>
              <a:rPr kumimoji="1" lang="zh-CN" altLang="en-US" sz="1200" b="1" dirty="0">
                <a:latin typeface="微软雅黑" pitchFamily="34" charset="-122"/>
                <a:ea typeface="微软雅黑" pitchFamily="34" charset="-122"/>
              </a:rPr>
              <a:t>据</a:t>
            </a:r>
          </a:p>
          <a:p>
            <a:r>
              <a:rPr kumimoji="1" lang="zh-CN" altLang="en-US" sz="1200" b="1" dirty="0">
                <a:latin typeface="微软雅黑" pitchFamily="34" charset="-122"/>
                <a:ea typeface="微软雅黑" pitchFamily="34" charset="-122"/>
              </a:rPr>
              <a:t>报</a:t>
            </a:r>
          </a:p>
          <a:p>
            <a:r>
              <a:rPr kumimoji="1" lang="zh-CN" altLang="en-US" sz="1200" b="1" dirty="0">
                <a:latin typeface="微软雅黑" pitchFamily="34" charset="-122"/>
                <a:ea typeface="微软雅黑" pitchFamily="34" charset="-122"/>
              </a:rPr>
              <a:t>首</a:t>
            </a:r>
          </a:p>
          <a:p>
            <a:r>
              <a:rPr kumimoji="1" lang="zh-CN" altLang="en-US" sz="1200" b="1" dirty="0">
                <a:latin typeface="微软雅黑" pitchFamily="34" charset="-122"/>
                <a:ea typeface="微软雅黑" pitchFamily="34" charset="-122"/>
              </a:rPr>
              <a:t>部</a:t>
            </a:r>
          </a:p>
        </p:txBody>
      </p:sp>
      <p:sp>
        <p:nvSpPr>
          <p:cNvPr id="38" name="Rectangle 25"/>
          <p:cNvSpPr>
            <a:spLocks noChangeArrowheads="1"/>
          </p:cNvSpPr>
          <p:nvPr/>
        </p:nvSpPr>
        <p:spPr bwMode="auto">
          <a:xfrm>
            <a:off x="4107178" y="3007175"/>
            <a:ext cx="1131377" cy="443919"/>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39" name="Rectangle 26"/>
          <p:cNvSpPr>
            <a:spLocks noChangeArrowheads="1"/>
          </p:cNvSpPr>
          <p:nvPr/>
        </p:nvSpPr>
        <p:spPr bwMode="auto">
          <a:xfrm>
            <a:off x="4679546" y="3190245"/>
            <a:ext cx="553871" cy="80626"/>
          </a:xfrm>
          <a:prstGeom prst="rect">
            <a:avLst/>
          </a:prstGeom>
          <a:solidFill>
            <a:srgbClr val="CC00CC"/>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0" name="Text Box 27"/>
          <p:cNvSpPr txBox="1">
            <a:spLocks noChangeArrowheads="1"/>
          </p:cNvSpPr>
          <p:nvPr/>
        </p:nvSpPr>
        <p:spPr bwMode="auto">
          <a:xfrm>
            <a:off x="4234657" y="2716298"/>
            <a:ext cx="80679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数据报</a:t>
            </a:r>
          </a:p>
        </p:txBody>
      </p:sp>
      <p:sp>
        <p:nvSpPr>
          <p:cNvPr id="41" name="Line 28"/>
          <p:cNvSpPr>
            <a:spLocks noChangeShapeType="1"/>
          </p:cNvSpPr>
          <p:nvPr/>
        </p:nvSpPr>
        <p:spPr bwMode="auto">
          <a:xfrm>
            <a:off x="4107178" y="3095390"/>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2" name="Line 29"/>
          <p:cNvSpPr>
            <a:spLocks noChangeShapeType="1"/>
          </p:cNvSpPr>
          <p:nvPr/>
        </p:nvSpPr>
        <p:spPr bwMode="auto">
          <a:xfrm>
            <a:off x="4107178" y="318550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3" name="Line 30"/>
          <p:cNvSpPr>
            <a:spLocks noChangeShapeType="1"/>
          </p:cNvSpPr>
          <p:nvPr/>
        </p:nvSpPr>
        <p:spPr bwMode="auto">
          <a:xfrm>
            <a:off x="4107178" y="3273716"/>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4" name="Line 31"/>
          <p:cNvSpPr>
            <a:spLocks noChangeShapeType="1"/>
          </p:cNvSpPr>
          <p:nvPr/>
        </p:nvSpPr>
        <p:spPr bwMode="auto">
          <a:xfrm>
            <a:off x="4107178" y="336193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5" name="Line 32"/>
          <p:cNvSpPr>
            <a:spLocks noChangeShapeType="1"/>
          </p:cNvSpPr>
          <p:nvPr/>
        </p:nvSpPr>
        <p:spPr bwMode="auto">
          <a:xfrm>
            <a:off x="4107178" y="3451094"/>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6" name="Line 33"/>
          <p:cNvSpPr>
            <a:spLocks noChangeShapeType="1"/>
          </p:cNvSpPr>
          <p:nvPr/>
        </p:nvSpPr>
        <p:spPr bwMode="auto">
          <a:xfrm>
            <a:off x="4673380" y="3007175"/>
            <a:ext cx="0" cy="26654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7" name="Line 34"/>
          <p:cNvSpPr>
            <a:spLocks noChangeShapeType="1"/>
          </p:cNvSpPr>
          <p:nvPr/>
        </p:nvSpPr>
        <p:spPr bwMode="auto">
          <a:xfrm>
            <a:off x="4415455" y="3185501"/>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8" name="Line 35"/>
          <p:cNvSpPr>
            <a:spLocks noChangeShapeType="1"/>
          </p:cNvSpPr>
          <p:nvPr/>
        </p:nvSpPr>
        <p:spPr bwMode="auto">
          <a:xfrm>
            <a:off x="4415455"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9" name="Line 36"/>
          <p:cNvSpPr>
            <a:spLocks noChangeShapeType="1"/>
          </p:cNvSpPr>
          <p:nvPr/>
        </p:nvSpPr>
        <p:spPr bwMode="auto">
          <a:xfrm>
            <a:off x="4262344"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0" name="Line 37"/>
          <p:cNvSpPr>
            <a:spLocks noChangeShapeType="1"/>
          </p:cNvSpPr>
          <p:nvPr/>
        </p:nvSpPr>
        <p:spPr bwMode="auto">
          <a:xfrm>
            <a:off x="4759698" y="3095390"/>
            <a:ext cx="0" cy="9011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38"/>
          <p:cNvSpPr>
            <a:spLocks noChangeShapeType="1"/>
          </p:cNvSpPr>
          <p:nvPr/>
        </p:nvSpPr>
        <p:spPr bwMode="auto">
          <a:xfrm>
            <a:off x="4930278" y="3361931"/>
            <a:ext cx="0" cy="891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52" name="Group 71"/>
          <p:cNvGrpSpPr>
            <a:grpSpLocks/>
          </p:cNvGrpSpPr>
          <p:nvPr/>
        </p:nvGrpSpPr>
        <p:grpSpPr bwMode="auto">
          <a:xfrm>
            <a:off x="2119819" y="3098235"/>
            <a:ext cx="1462261" cy="264644"/>
            <a:chOff x="320" y="2574"/>
            <a:chExt cx="1423" cy="279"/>
          </a:xfrm>
        </p:grpSpPr>
        <p:sp>
          <p:nvSpPr>
            <p:cNvPr id="53" name="Rectangle 16"/>
            <p:cNvSpPr>
              <a:spLocks noChangeArrowheads="1"/>
            </p:cNvSpPr>
            <p:nvPr/>
          </p:nvSpPr>
          <p:spPr bwMode="auto">
            <a:xfrm>
              <a:off x="892"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4" name="Text Box 17"/>
            <p:cNvSpPr txBox="1">
              <a:spLocks noChangeArrowheads="1"/>
            </p:cNvSpPr>
            <p:nvPr/>
          </p:nvSpPr>
          <p:spPr bwMode="auto">
            <a:xfrm>
              <a:off x="320" y="257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55" name="Line 39"/>
          <p:cNvSpPr>
            <a:spLocks noChangeShapeType="1"/>
          </p:cNvSpPr>
          <p:nvPr/>
        </p:nvSpPr>
        <p:spPr bwMode="auto">
          <a:xfrm>
            <a:off x="3593383" y="3236723"/>
            <a:ext cx="1388274" cy="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6" name="Rectangle 40"/>
          <p:cNvSpPr>
            <a:spLocks noChangeArrowheads="1"/>
          </p:cNvSpPr>
          <p:nvPr/>
        </p:nvSpPr>
        <p:spPr bwMode="auto">
          <a:xfrm>
            <a:off x="6243538" y="1142336"/>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7" name="Text Box 41"/>
          <p:cNvSpPr txBox="1">
            <a:spLocks noChangeArrowheads="1"/>
          </p:cNvSpPr>
          <p:nvPr/>
        </p:nvSpPr>
        <p:spPr bwMode="auto">
          <a:xfrm>
            <a:off x="5796537"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58" name="Rectangle 42"/>
          <p:cNvSpPr>
            <a:spLocks noChangeArrowheads="1"/>
          </p:cNvSpPr>
          <p:nvPr/>
        </p:nvSpPr>
        <p:spPr bwMode="auto">
          <a:xfrm>
            <a:off x="6243538" y="1391804"/>
            <a:ext cx="874479" cy="176429"/>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9" name="Text Box 43"/>
          <p:cNvSpPr txBox="1">
            <a:spLocks noChangeArrowheads="1"/>
          </p:cNvSpPr>
          <p:nvPr/>
        </p:nvSpPr>
        <p:spPr bwMode="auto">
          <a:xfrm>
            <a:off x="5796537"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60" name="Group 73"/>
          <p:cNvGrpSpPr>
            <a:grpSpLocks/>
          </p:cNvGrpSpPr>
          <p:nvPr/>
        </p:nvGrpSpPr>
        <p:grpSpPr bwMode="auto">
          <a:xfrm>
            <a:off x="5648563" y="1701978"/>
            <a:ext cx="1469454" cy="264644"/>
            <a:chOff x="3754" y="1102"/>
            <a:chExt cx="1430" cy="279"/>
          </a:xfrm>
        </p:grpSpPr>
        <p:sp>
          <p:nvSpPr>
            <p:cNvPr id="61" name="Rectangle 44"/>
            <p:cNvSpPr>
              <a:spLocks noChangeArrowheads="1"/>
            </p:cNvSpPr>
            <p:nvPr/>
          </p:nvSpPr>
          <p:spPr bwMode="auto">
            <a:xfrm>
              <a:off x="4333"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2" name="Text Box 45"/>
            <p:cNvSpPr txBox="1">
              <a:spLocks noChangeArrowheads="1"/>
            </p:cNvSpPr>
            <p:nvPr/>
          </p:nvSpPr>
          <p:spPr bwMode="auto">
            <a:xfrm>
              <a:off x="3754" y="1102"/>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63" name="Rectangle 46"/>
          <p:cNvSpPr>
            <a:spLocks noChangeArrowheads="1"/>
          </p:cNvSpPr>
          <p:nvPr/>
        </p:nvSpPr>
        <p:spPr bwMode="auto">
          <a:xfrm>
            <a:off x="6243538" y="2118389"/>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4" name="Text Box 47"/>
          <p:cNvSpPr txBox="1">
            <a:spLocks noChangeArrowheads="1"/>
          </p:cNvSpPr>
          <p:nvPr/>
        </p:nvSpPr>
        <p:spPr bwMode="auto">
          <a:xfrm>
            <a:off x="5796537"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65" name="Group 74"/>
          <p:cNvGrpSpPr>
            <a:grpSpLocks/>
          </p:cNvGrpSpPr>
          <p:nvPr/>
        </p:nvGrpSpPr>
        <p:grpSpPr bwMode="auto">
          <a:xfrm>
            <a:off x="5496480" y="2435203"/>
            <a:ext cx="1621537" cy="441073"/>
            <a:chOff x="3606" y="1875"/>
            <a:chExt cx="1578" cy="465"/>
          </a:xfrm>
        </p:grpSpPr>
        <p:sp>
          <p:nvSpPr>
            <p:cNvPr id="66" name="Rectangle 48"/>
            <p:cNvSpPr>
              <a:spLocks noChangeArrowheads="1"/>
            </p:cNvSpPr>
            <p:nvPr/>
          </p:nvSpPr>
          <p:spPr bwMode="auto">
            <a:xfrm>
              <a:off x="4333" y="2000"/>
              <a:ext cx="851" cy="188"/>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7" name="Text Box 49"/>
            <p:cNvSpPr txBox="1">
              <a:spLocks noChangeArrowheads="1"/>
            </p:cNvSpPr>
            <p:nvPr/>
          </p:nvSpPr>
          <p:spPr bwMode="auto">
            <a:xfrm>
              <a:off x="3606" y="1875"/>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反码算术</a:t>
              </a:r>
            </a:p>
            <a:p>
              <a:r>
                <a:rPr kumimoji="1" lang="zh-CN" altLang="en-US" sz="1100" b="1" dirty="0">
                  <a:latin typeface="微软雅黑" pitchFamily="34" charset="-122"/>
                  <a:ea typeface="微软雅黑" pitchFamily="34" charset="-122"/>
                </a:rPr>
                <a:t>运算求和</a:t>
              </a:r>
            </a:p>
          </p:txBody>
        </p:sp>
      </p:grpSp>
      <p:grpSp>
        <p:nvGrpSpPr>
          <p:cNvPr id="68" name="Group 76"/>
          <p:cNvGrpSpPr>
            <a:grpSpLocks/>
          </p:cNvGrpSpPr>
          <p:nvPr/>
        </p:nvGrpSpPr>
        <p:grpSpPr bwMode="auto">
          <a:xfrm>
            <a:off x="5820171" y="3098235"/>
            <a:ext cx="1297846" cy="264644"/>
            <a:chOff x="3921" y="2574"/>
            <a:chExt cx="1263" cy="279"/>
          </a:xfrm>
        </p:grpSpPr>
        <p:sp>
          <p:nvSpPr>
            <p:cNvPr id="69" name="Rectangle 50"/>
            <p:cNvSpPr>
              <a:spLocks noChangeArrowheads="1"/>
            </p:cNvSpPr>
            <p:nvPr/>
          </p:nvSpPr>
          <p:spPr bwMode="auto">
            <a:xfrm>
              <a:off x="4333"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70" name="Text Box 51"/>
            <p:cNvSpPr txBox="1">
              <a:spLocks noChangeArrowheads="1"/>
            </p:cNvSpPr>
            <p:nvPr/>
          </p:nvSpPr>
          <p:spPr bwMode="auto">
            <a:xfrm>
              <a:off x="3921" y="2574"/>
              <a:ext cx="458"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结果</a:t>
              </a:r>
            </a:p>
          </p:txBody>
        </p:sp>
      </p:grpSp>
      <p:sp>
        <p:nvSpPr>
          <p:cNvPr id="71" name="Text Box 53"/>
          <p:cNvSpPr txBox="1">
            <a:spLocks noChangeArrowheads="1"/>
          </p:cNvSpPr>
          <p:nvPr/>
        </p:nvSpPr>
        <p:spPr bwMode="auto">
          <a:xfrm>
            <a:off x="6472690"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2" name="Text Box 54"/>
          <p:cNvSpPr txBox="1">
            <a:spLocks noChangeArrowheads="1"/>
          </p:cNvSpPr>
          <p:nvPr/>
        </p:nvSpPr>
        <p:spPr bwMode="auto">
          <a:xfrm>
            <a:off x="6462414"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3" name="Line 55"/>
          <p:cNvSpPr>
            <a:spLocks noChangeShapeType="1"/>
          </p:cNvSpPr>
          <p:nvPr/>
        </p:nvSpPr>
        <p:spPr bwMode="auto">
          <a:xfrm>
            <a:off x="5763653" y="2377341"/>
            <a:ext cx="167291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74" name="Group 75"/>
          <p:cNvGrpSpPr>
            <a:grpSpLocks/>
          </p:cNvGrpSpPr>
          <p:nvPr/>
        </p:nvGrpSpPr>
        <p:grpSpPr bwMode="auto">
          <a:xfrm>
            <a:off x="6055489" y="2793753"/>
            <a:ext cx="701844" cy="299740"/>
            <a:chOff x="4150" y="2253"/>
            <a:chExt cx="683" cy="316"/>
          </a:xfrm>
        </p:grpSpPr>
        <p:sp>
          <p:nvSpPr>
            <p:cNvPr id="75" name="AutoShape 52"/>
            <p:cNvSpPr>
              <a:spLocks noChangeArrowheads="1"/>
            </p:cNvSpPr>
            <p:nvPr/>
          </p:nvSpPr>
          <p:spPr bwMode="auto">
            <a:xfrm>
              <a:off x="4733" y="2253"/>
              <a:ext cx="100" cy="316"/>
            </a:xfrm>
            <a:prstGeom prst="downArrow">
              <a:avLst>
                <a:gd name="adj1" fmla="val 50000"/>
                <a:gd name="adj2" fmla="val 79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6" name="Text Box 56"/>
            <p:cNvSpPr txBox="1">
              <a:spLocks noChangeArrowheads="1"/>
            </p:cNvSpPr>
            <p:nvPr/>
          </p:nvSpPr>
          <p:spPr bwMode="auto">
            <a:xfrm>
              <a:off x="4150" y="226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77" name="AutoShape 57"/>
          <p:cNvSpPr>
            <a:spLocks/>
          </p:cNvSpPr>
          <p:nvPr/>
        </p:nvSpPr>
        <p:spPr bwMode="auto">
          <a:xfrm>
            <a:off x="5635204" y="1150874"/>
            <a:ext cx="102759" cy="1154379"/>
          </a:xfrm>
          <a:prstGeom prst="leftBrace">
            <a:avLst>
              <a:gd name="adj1" fmla="val 101417"/>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zh-CN" sz="1200" b="1">
              <a:latin typeface="微软雅黑" pitchFamily="34" charset="-122"/>
              <a:ea typeface="微软雅黑" pitchFamily="34" charset="-122"/>
            </a:endParaRPr>
          </a:p>
        </p:txBody>
      </p:sp>
      <p:sp>
        <p:nvSpPr>
          <p:cNvPr id="78" name="Text Box 58"/>
          <p:cNvSpPr txBox="1">
            <a:spLocks noChangeArrowheads="1"/>
          </p:cNvSpPr>
          <p:nvPr/>
        </p:nvSpPr>
        <p:spPr bwMode="auto">
          <a:xfrm>
            <a:off x="4312696" y="3585789"/>
            <a:ext cx="76394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数据部分</a:t>
            </a:r>
          </a:p>
        </p:txBody>
      </p:sp>
      <p:sp>
        <p:nvSpPr>
          <p:cNvPr id="79" name="AutoShape 59"/>
          <p:cNvSpPr>
            <a:spLocks/>
          </p:cNvSpPr>
          <p:nvPr/>
        </p:nvSpPr>
        <p:spPr bwMode="auto">
          <a:xfrm>
            <a:off x="5238555" y="3015712"/>
            <a:ext cx="103786" cy="443919"/>
          </a:xfrm>
          <a:prstGeom prst="rightBrace">
            <a:avLst>
              <a:gd name="adj1" fmla="val 38614"/>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Freeform 60"/>
          <p:cNvSpPr>
            <a:spLocks/>
          </p:cNvSpPr>
          <p:nvPr/>
        </p:nvSpPr>
        <p:spPr bwMode="auto">
          <a:xfrm>
            <a:off x="5342341" y="1727588"/>
            <a:ext cx="293890" cy="1509135"/>
          </a:xfrm>
          <a:custGeom>
            <a:avLst/>
            <a:gdLst>
              <a:gd name="T0" fmla="*/ 0 w 464"/>
              <a:gd name="T1" fmla="*/ 1624 h 1624"/>
              <a:gd name="T2" fmla="*/ 56 w 464"/>
              <a:gd name="T3" fmla="*/ 1624 h 1624"/>
              <a:gd name="T4" fmla="*/ 56 w 464"/>
              <a:gd name="T5" fmla="*/ 0 h 1624"/>
              <a:gd name="T6" fmla="*/ 464 w 464"/>
              <a:gd name="T7" fmla="*/ 0 h 1624"/>
            </a:gdLst>
            <a:ahLst/>
            <a:cxnLst>
              <a:cxn ang="0">
                <a:pos x="T0" y="T1"/>
              </a:cxn>
              <a:cxn ang="0">
                <a:pos x="T2" y="T3"/>
              </a:cxn>
              <a:cxn ang="0">
                <a:pos x="T4" y="T5"/>
              </a:cxn>
              <a:cxn ang="0">
                <a:pos x="T6" y="T7"/>
              </a:cxn>
            </a:cxnLst>
            <a:rect l="0" t="0" r="r" b="b"/>
            <a:pathLst>
              <a:path w="464" h="1624">
                <a:moveTo>
                  <a:pt x="0" y="1624"/>
                </a:moveTo>
                <a:lnTo>
                  <a:pt x="56" y="1624"/>
                </a:lnTo>
                <a:lnTo>
                  <a:pt x="56" y="0"/>
                </a:lnTo>
                <a:lnTo>
                  <a:pt x="464" y="0"/>
                </a:lnTo>
              </a:path>
            </a:pathLst>
          </a:custGeom>
          <a:noFill/>
          <a:ln w="19050" cmpd="sng">
            <a:solidFill>
              <a:schemeClr val="tx1"/>
            </a:solidFill>
            <a:round/>
            <a:headEnd type="none" w="med" len="med"/>
            <a:tailEnd type="triangle" w="sm"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81" name="Group 77"/>
          <p:cNvGrpSpPr>
            <a:grpSpLocks/>
          </p:cNvGrpSpPr>
          <p:nvPr/>
        </p:nvGrpSpPr>
        <p:grpSpPr bwMode="auto">
          <a:xfrm>
            <a:off x="5944509" y="3381851"/>
            <a:ext cx="1603040" cy="829976"/>
            <a:chOff x="4042" y="2873"/>
            <a:chExt cx="1560" cy="875"/>
          </a:xfrm>
        </p:grpSpPr>
        <p:sp>
          <p:nvSpPr>
            <p:cNvPr id="82" name="AutoShape 61"/>
            <p:cNvSpPr>
              <a:spLocks noChangeArrowheads="1"/>
            </p:cNvSpPr>
            <p:nvPr/>
          </p:nvSpPr>
          <p:spPr bwMode="auto">
            <a:xfrm>
              <a:off x="4742" y="287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Rectangle 62"/>
            <p:cNvSpPr>
              <a:spLocks noChangeArrowheads="1"/>
            </p:cNvSpPr>
            <p:nvPr/>
          </p:nvSpPr>
          <p:spPr bwMode="auto">
            <a:xfrm>
              <a:off x="4042" y="3235"/>
              <a:ext cx="1560" cy="513"/>
            </a:xfrm>
            <a:prstGeom prst="rect">
              <a:avLst/>
            </a:prstGeom>
            <a:solidFill>
              <a:srgbClr val="00FFFF"/>
            </a:solidFill>
            <a:ln w="12700">
              <a:solidFill>
                <a:srgbClr val="333399"/>
              </a:solidFill>
              <a:miter lim="800000"/>
              <a:headEnd/>
              <a:tailEnd/>
            </a:ln>
            <a:effectLst/>
          </p:spPr>
          <p:txBody>
            <a:bodyPr wrap="none" anchor="ctr"/>
            <a:lstStyle/>
            <a:p>
              <a:r>
                <a:rPr kumimoji="1" lang="zh-CN" altLang="en-US" sz="1200" b="1" dirty="0">
                  <a:latin typeface="微软雅黑" pitchFamily="34" charset="-122"/>
                  <a:ea typeface="微软雅黑" pitchFamily="34" charset="-122"/>
                </a:rPr>
                <a:t>若结果为 </a:t>
              </a:r>
              <a:r>
                <a:rPr kumimoji="1" lang="en-US" altLang="zh-CN" sz="1200" b="1" dirty="0">
                  <a:latin typeface="微软雅黑" pitchFamily="34" charset="-122"/>
                  <a:ea typeface="微软雅黑" pitchFamily="34" charset="-122"/>
                </a:rPr>
                <a:t>0, </a:t>
              </a:r>
              <a:r>
                <a:rPr kumimoji="1" lang="zh-CN" altLang="en-US" sz="1200" b="1" dirty="0">
                  <a:latin typeface="微软雅黑" pitchFamily="34" charset="-122"/>
                  <a:ea typeface="微软雅黑" pitchFamily="34" charset="-122"/>
                </a:rPr>
                <a:t>则保留；</a:t>
              </a:r>
            </a:p>
            <a:p>
              <a:r>
                <a:rPr kumimoji="1" lang="zh-CN" altLang="en-US" sz="1200" b="1" dirty="0">
                  <a:latin typeface="微软雅黑" pitchFamily="34" charset="-122"/>
                  <a:ea typeface="微软雅黑" pitchFamily="34" charset="-122"/>
                </a:rPr>
                <a:t>否则，丢弃该数据报</a:t>
              </a:r>
            </a:p>
          </p:txBody>
        </p:sp>
      </p:grpSp>
      <p:grpSp>
        <p:nvGrpSpPr>
          <p:cNvPr id="84" name="Group 72"/>
          <p:cNvGrpSpPr>
            <a:grpSpLocks/>
          </p:cNvGrpSpPr>
          <p:nvPr/>
        </p:nvGrpSpPr>
        <p:grpSpPr bwMode="auto">
          <a:xfrm>
            <a:off x="2340751" y="3577253"/>
            <a:ext cx="1907207" cy="461942"/>
            <a:chOff x="535" y="3079"/>
            <a:chExt cx="1856" cy="487"/>
          </a:xfrm>
        </p:grpSpPr>
        <p:sp>
          <p:nvSpPr>
            <p:cNvPr id="85" name="Text Box 63"/>
            <p:cNvSpPr txBox="1">
              <a:spLocks noChangeArrowheads="1"/>
            </p:cNvSpPr>
            <p:nvPr/>
          </p:nvSpPr>
          <p:spPr bwMode="auto">
            <a:xfrm>
              <a:off x="535" y="3079"/>
              <a:ext cx="1528" cy="48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数据部分</a:t>
              </a:r>
            </a:p>
            <a:p>
              <a:pPr algn="ctr"/>
              <a:r>
                <a:rPr kumimoji="1" lang="zh-CN" altLang="en-US" sz="1200" b="1" dirty="0">
                  <a:solidFill>
                    <a:srgbClr val="0000FF"/>
                  </a:solidFill>
                  <a:latin typeface="微软雅黑" pitchFamily="34" charset="-122"/>
                  <a:ea typeface="微软雅黑" pitchFamily="34" charset="-122"/>
                </a:rPr>
                <a:t>不参与检验和的计算</a:t>
              </a:r>
            </a:p>
          </p:txBody>
        </p:sp>
        <p:sp>
          <p:nvSpPr>
            <p:cNvPr id="86" name="Line 64"/>
            <p:cNvSpPr>
              <a:spLocks noChangeShapeType="1"/>
            </p:cNvSpPr>
            <p:nvPr/>
          </p:nvSpPr>
          <p:spPr bwMode="auto">
            <a:xfrm>
              <a:off x="2020" y="3266"/>
              <a:ext cx="37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矩形 1"/>
          <p:cNvSpPr/>
          <p:nvPr/>
        </p:nvSpPr>
        <p:spPr>
          <a:xfrm>
            <a:off x="1064300" y="4362985"/>
            <a:ext cx="6777000"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数据报每经过一个路由器，路由器都要重新计算一下首部检验和</a:t>
            </a:r>
          </a:p>
        </p:txBody>
      </p:sp>
    </p:spTree>
    <p:extLst>
      <p:ext uri="{BB962C8B-B14F-4D97-AF65-F5344CB8AC3E}">
        <p14:creationId xmlns:p14="http://schemas.microsoft.com/office/powerpoint/2010/main" val="35142942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2000" fill="hold" nodeType="clickEffect">
                                  <p:stCondLst>
                                    <p:cond delay="0"/>
                                  </p:stCondLst>
                                  <p:childTnLst>
                                    <p:anim calcmode="discrete" valueType="str">
                                      <p:cBhvr>
                                        <p:cTn id="6" dur="1000" fill="hold"/>
                                        <p:tgtEl>
                                          <p:spTgt spid="22"/>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2000" fill="hold" nodeType="clickEffect">
                                  <p:stCondLst>
                                    <p:cond delay="0"/>
                                  </p:stCondLst>
                                  <p:childTnLst>
                                    <p:anim calcmode="discrete" valueType="str">
                                      <p:cBhvr>
                                        <p:cTn id="10"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2000" fill="hold" nodeType="clickEffect">
                                  <p:stCondLst>
                                    <p:cond delay="0"/>
                                  </p:stCondLst>
                                  <p:childTnLst>
                                    <p:anim calcmode="discrete" valueType="str">
                                      <p:cBhvr>
                                        <p:cTn id="14" dur="1000" fill="hold"/>
                                        <p:tgtEl>
                                          <p:spTgt spid="27"/>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repeatCount="2000" fill="hold" nodeType="clickEffect">
                                  <p:stCondLst>
                                    <p:cond delay="0"/>
                                  </p:stCondLst>
                                  <p:childTnLst>
                                    <p:anim calcmode="discrete" valueType="str">
                                      <p:cBhvr>
                                        <p:cTn id="18" dur="1000" fill="hold"/>
                                        <p:tgtEl>
                                          <p:spTgt spid="33"/>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35" presetClass="emph" presetSubtype="0" repeatCount="2000" fill="hold" nodeType="clickEffect">
                                  <p:stCondLst>
                                    <p:cond delay="0"/>
                                  </p:stCondLst>
                                  <p:childTnLst>
                                    <p:anim calcmode="discrete" valueType="str">
                                      <p:cBhvr>
                                        <p:cTn id="22" dur="1000" fill="hold"/>
                                        <p:tgtEl>
                                          <p:spTgt spid="52"/>
                                        </p:tgtEl>
                                        <p:attrNameLst>
                                          <p:attrName>style.visibility</p:attrName>
                                        </p:attrNameLst>
                                      </p:cBhvr>
                                      <p:tavLst>
                                        <p:tav tm="0">
                                          <p:val>
                                            <p:strVal val="hidden"/>
                                          </p:val>
                                        </p:tav>
                                        <p:tav tm="50000">
                                          <p:val>
                                            <p:strVal val="visible"/>
                                          </p:val>
                                        </p:tav>
                                      </p:tavLst>
                                    </p:anim>
                                  </p:childTnLst>
                                </p:cTn>
                              </p:par>
                            </p:childTnLst>
                          </p:cTn>
                        </p:par>
                        <p:par>
                          <p:cTn id="23" fill="hold">
                            <p:stCondLst>
                              <p:cond delay="2000"/>
                            </p:stCondLst>
                            <p:childTnLst>
                              <p:par>
                                <p:cTn id="24" presetID="1" presetClass="entr" presetSubtype="0" fill="hold" grpId="0" nodeType="afterEffect">
                                  <p:stCondLst>
                                    <p:cond delay="0"/>
                                  </p:stCondLst>
                                  <p:childTnLst>
                                    <p:set>
                                      <p:cBhvr>
                                        <p:cTn id="25" dur="1" fill="hold">
                                          <p:stCondLst>
                                            <p:cond delay="0"/>
                                          </p:stCondLst>
                                        </p:cTn>
                                        <p:tgtEl>
                                          <p:spTgt spid="55"/>
                                        </p:tgtEl>
                                        <p:attrNameLst>
                                          <p:attrName>style.visibility</p:attrName>
                                        </p:attrNameLst>
                                      </p:cBhvr>
                                      <p:to>
                                        <p:strVal val="visible"/>
                                      </p:to>
                                    </p:set>
                                  </p:childTnLst>
                                </p:cTn>
                              </p:par>
                            </p:childTnLst>
                          </p:cTn>
                        </p:par>
                        <p:par>
                          <p:cTn id="26" fill="hold">
                            <p:stCondLst>
                              <p:cond delay="2000"/>
                            </p:stCondLst>
                            <p:childTnLst>
                              <p:par>
                                <p:cTn id="27" presetID="22" presetClass="entr" presetSubtype="8" fill="hold" grpId="1" nodeType="afterEffect">
                                  <p:stCondLst>
                                    <p:cond delay="0"/>
                                  </p:stCondLst>
                                  <p:childTnLst>
                                    <p:set>
                                      <p:cBhvr>
                                        <p:cTn id="28" dur="1" fill="hold">
                                          <p:stCondLst>
                                            <p:cond delay="0"/>
                                          </p:stCondLst>
                                        </p:cTn>
                                        <p:tgtEl>
                                          <p:spTgt spid="55"/>
                                        </p:tgtEl>
                                        <p:attrNameLst>
                                          <p:attrName>style.visibility</p:attrName>
                                        </p:attrNameLst>
                                      </p:cBhvr>
                                      <p:to>
                                        <p:strVal val="visible"/>
                                      </p:to>
                                    </p:set>
                                    <p:animEffect transition="in" filter="wipe(left)">
                                      <p:cBhvr>
                                        <p:cTn id="29" dur="1000"/>
                                        <p:tgtEl>
                                          <p:spTgt spid="55"/>
                                        </p:tgtEl>
                                      </p:cBhvr>
                                    </p:animEffect>
                                  </p:childTnLst>
                                </p:cTn>
                              </p:par>
                            </p:childTnLst>
                          </p:cTn>
                        </p:par>
                      </p:childTnLst>
                    </p:cTn>
                  </p:par>
                  <p:par>
                    <p:cTn id="30" fill="hold">
                      <p:stCondLst>
                        <p:cond delay="indefinite"/>
                      </p:stCondLst>
                      <p:childTnLst>
                        <p:par>
                          <p:cTn id="31" fill="hold">
                            <p:stCondLst>
                              <p:cond delay="0"/>
                            </p:stCondLst>
                            <p:childTnLst>
                              <p:par>
                                <p:cTn id="32" presetID="35" presetClass="emph" presetSubtype="0" repeatCount="2000" fill="hold" nodeType="clickEffect">
                                  <p:stCondLst>
                                    <p:cond delay="0"/>
                                  </p:stCondLst>
                                  <p:childTnLst>
                                    <p:anim calcmode="discrete" valueType="str">
                                      <p:cBhvr>
                                        <p:cTn id="33" dur="1000" fill="hold"/>
                                        <p:tgtEl>
                                          <p:spTgt spid="60"/>
                                        </p:tgtEl>
                                        <p:attrNameLst>
                                          <p:attrName>style.visibility</p:attrName>
                                        </p:attrNameLst>
                                      </p:cBhvr>
                                      <p:tavLst>
                                        <p:tav tm="0">
                                          <p:val>
                                            <p:strVal val="hidden"/>
                                          </p:val>
                                        </p:tav>
                                        <p:tav tm="50000">
                                          <p:val>
                                            <p:strVal val="visible"/>
                                          </p:val>
                                        </p:tav>
                                      </p:tavLst>
                                    </p:anim>
                                  </p:childTnLst>
                                </p:cTn>
                              </p:par>
                            </p:childTnLst>
                          </p:cTn>
                        </p:par>
                      </p:childTnLst>
                    </p:cTn>
                  </p:par>
                  <p:par>
                    <p:cTn id="34" fill="hold">
                      <p:stCondLst>
                        <p:cond delay="indefinite"/>
                      </p:stCondLst>
                      <p:childTnLst>
                        <p:par>
                          <p:cTn id="35" fill="hold">
                            <p:stCondLst>
                              <p:cond delay="0"/>
                            </p:stCondLst>
                            <p:childTnLst>
                              <p:par>
                                <p:cTn id="36" presetID="35" presetClass="emph" presetSubtype="0" repeatCount="2000" fill="hold" nodeType="clickEffect">
                                  <p:stCondLst>
                                    <p:cond delay="0"/>
                                  </p:stCondLst>
                                  <p:childTnLst>
                                    <p:anim calcmode="discrete" valueType="str">
                                      <p:cBhvr>
                                        <p:cTn id="37" dur="1000" fill="hold"/>
                                        <p:tgtEl>
                                          <p:spTgt spid="65"/>
                                        </p:tgtEl>
                                        <p:attrNameLst>
                                          <p:attrName>style.visibility</p:attrName>
                                        </p:attrNameLst>
                                      </p:cBhvr>
                                      <p:tavLst>
                                        <p:tav tm="0">
                                          <p:val>
                                            <p:strVal val="hidden"/>
                                          </p:val>
                                        </p:tav>
                                        <p:tav tm="50000">
                                          <p:val>
                                            <p:strVal val="visible"/>
                                          </p:val>
                                        </p:tav>
                                      </p:tavLst>
                                    </p:anim>
                                  </p:childTnLst>
                                </p:cTn>
                              </p:par>
                            </p:childTnLst>
                          </p:cTn>
                        </p:par>
                      </p:childTnLst>
                    </p:cTn>
                  </p:par>
                  <p:par>
                    <p:cTn id="38" fill="hold">
                      <p:stCondLst>
                        <p:cond delay="indefinite"/>
                      </p:stCondLst>
                      <p:childTnLst>
                        <p:par>
                          <p:cTn id="39" fill="hold">
                            <p:stCondLst>
                              <p:cond delay="0"/>
                            </p:stCondLst>
                            <p:childTnLst>
                              <p:par>
                                <p:cTn id="40" presetID="35" presetClass="emph" presetSubtype="0" repeatCount="2000" fill="hold" nodeType="clickEffect">
                                  <p:stCondLst>
                                    <p:cond delay="0"/>
                                  </p:stCondLst>
                                  <p:childTnLst>
                                    <p:anim calcmode="discrete" valueType="str">
                                      <p:cBhvr>
                                        <p:cTn id="41" dur="1000" fill="hold"/>
                                        <p:tgtEl>
                                          <p:spTgt spid="74"/>
                                        </p:tgtEl>
                                        <p:attrNameLst>
                                          <p:attrName>style.visibility</p:attrName>
                                        </p:attrNameLst>
                                      </p:cBhvr>
                                      <p:tavLst>
                                        <p:tav tm="0">
                                          <p:val>
                                            <p:strVal val="hidden"/>
                                          </p:val>
                                        </p:tav>
                                        <p:tav tm="50000">
                                          <p:val>
                                            <p:strVal val="visible"/>
                                          </p:val>
                                        </p:tav>
                                      </p:tavLst>
                                    </p:anim>
                                  </p:childTnLst>
                                </p:cTn>
                              </p:par>
                            </p:childTnLst>
                          </p:cTn>
                        </p:par>
                      </p:childTnLst>
                    </p:cTn>
                  </p:par>
                  <p:par>
                    <p:cTn id="42" fill="hold">
                      <p:stCondLst>
                        <p:cond delay="indefinite"/>
                      </p:stCondLst>
                      <p:childTnLst>
                        <p:par>
                          <p:cTn id="43" fill="hold">
                            <p:stCondLst>
                              <p:cond delay="0"/>
                            </p:stCondLst>
                            <p:childTnLst>
                              <p:par>
                                <p:cTn id="44" presetID="35" presetClass="emph" presetSubtype="0" repeatCount="2000" fill="hold" nodeType="clickEffect">
                                  <p:stCondLst>
                                    <p:cond delay="0"/>
                                  </p:stCondLst>
                                  <p:childTnLst>
                                    <p:anim calcmode="discrete" valueType="str">
                                      <p:cBhvr>
                                        <p:cTn id="45" dur="1000" fill="hold"/>
                                        <p:tgtEl>
                                          <p:spTgt spid="68"/>
                                        </p:tgtEl>
                                        <p:attrNameLst>
                                          <p:attrName>style.visibility</p:attrName>
                                        </p:attrNameLst>
                                      </p:cBhvr>
                                      <p:tavLst>
                                        <p:tav tm="0">
                                          <p:val>
                                            <p:strVal val="hidden"/>
                                          </p:val>
                                        </p:tav>
                                        <p:tav tm="50000">
                                          <p:val>
                                            <p:strVal val="visible"/>
                                          </p:val>
                                        </p:tav>
                                      </p:tavLst>
                                    </p:anim>
                                  </p:childTnLst>
                                </p:cTn>
                              </p:par>
                            </p:childTnLst>
                          </p:cTn>
                        </p:par>
                      </p:childTnLst>
                    </p:cTn>
                  </p:par>
                  <p:par>
                    <p:cTn id="46" fill="hold">
                      <p:stCondLst>
                        <p:cond delay="indefinite"/>
                      </p:stCondLst>
                      <p:childTnLst>
                        <p:par>
                          <p:cTn id="47" fill="hold">
                            <p:stCondLst>
                              <p:cond delay="0"/>
                            </p:stCondLst>
                            <p:childTnLst>
                              <p:par>
                                <p:cTn id="48" presetID="35" presetClass="emph" presetSubtype="0" repeatCount="2000" fill="hold" nodeType="clickEffect">
                                  <p:stCondLst>
                                    <p:cond delay="0"/>
                                  </p:stCondLst>
                                  <p:childTnLst>
                                    <p:anim calcmode="discrete" valueType="str">
                                      <p:cBhvr>
                                        <p:cTn id="49" dur="1000" fill="hold"/>
                                        <p:tgtEl>
                                          <p:spTgt spid="8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5" grpId="1"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grpSp>
        <p:nvGrpSpPr>
          <p:cNvPr id="22" name="组合 21"/>
          <p:cNvGrpSpPr/>
          <p:nvPr/>
        </p:nvGrpSpPr>
        <p:grpSpPr>
          <a:xfrm>
            <a:off x="1637153" y="1084892"/>
            <a:ext cx="5962309" cy="2192261"/>
            <a:chOff x="1392642" y="1665825"/>
            <a:chExt cx="5962309" cy="2192261"/>
          </a:xfrm>
        </p:grpSpPr>
        <p:sp>
          <p:nvSpPr>
            <p:cNvPr id="23"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25"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26"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27"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8"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0"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2"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3"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4"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6"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7"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40"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41"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42"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43"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44"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45"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46"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47"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48"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49"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50"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51"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52"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53"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54"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55"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56"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57"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58"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59"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60" name="Group 46"/>
            <p:cNvGrpSpPr>
              <a:grpSpLocks/>
            </p:cNvGrpSpPr>
            <p:nvPr/>
          </p:nvGrpSpPr>
          <p:grpSpPr bwMode="auto">
            <a:xfrm>
              <a:off x="2158338" y="3299988"/>
              <a:ext cx="83917" cy="41064"/>
              <a:chOff x="833" y="3024"/>
              <a:chExt cx="78" cy="51"/>
            </a:xfrm>
          </p:grpSpPr>
          <p:sp>
            <p:nvSpPr>
              <p:cNvPr id="70"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1"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2"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61" name="Group 50"/>
            <p:cNvGrpSpPr>
              <a:grpSpLocks/>
            </p:cNvGrpSpPr>
            <p:nvPr/>
          </p:nvGrpSpPr>
          <p:grpSpPr bwMode="auto">
            <a:xfrm>
              <a:off x="7169086" y="3305588"/>
              <a:ext cx="83917" cy="39198"/>
              <a:chOff x="5432" y="3030"/>
              <a:chExt cx="78" cy="51"/>
            </a:xfrm>
          </p:grpSpPr>
          <p:sp>
            <p:nvSpPr>
              <p:cNvPr id="6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62"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63"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4" name="Group 94"/>
            <p:cNvGrpSpPr>
              <a:grpSpLocks/>
            </p:cNvGrpSpPr>
            <p:nvPr/>
          </p:nvGrpSpPr>
          <p:grpSpPr bwMode="auto">
            <a:xfrm>
              <a:off x="1392642" y="1885145"/>
              <a:ext cx="336679" cy="1566034"/>
              <a:chOff x="-127" y="845"/>
              <a:chExt cx="333" cy="1678"/>
            </a:xfrm>
          </p:grpSpPr>
          <p:sp>
            <p:nvSpPr>
              <p:cNvPr id="65"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73" name="矩形 72"/>
          <p:cNvSpPr/>
          <p:nvPr/>
        </p:nvSpPr>
        <p:spPr>
          <a:xfrm>
            <a:off x="2442280" y="3469278"/>
            <a:ext cx="5017824" cy="338554"/>
          </a:xfrm>
          <a:prstGeom prst="rect">
            <a:avLst/>
          </a:prstGeom>
          <a:solidFill>
            <a:srgbClr val="0000CC"/>
          </a:solidFill>
          <a:ln w="9525">
            <a:noFill/>
            <a:miter lim="800000"/>
            <a:headEnd/>
            <a:tailEnd/>
          </a:ln>
          <a:effectLst/>
        </p:spPr>
        <p:txBody>
          <a:bodyPr wrap="square">
            <a:spAutoFit/>
          </a:bodyPr>
          <a:lstStyle/>
          <a:p>
            <a:pPr algn="ctr"/>
            <a:r>
              <a:rPr lang="zh-CN" altLang="en-US" sz="1600" b="1" dirty="0">
                <a:solidFill>
                  <a:schemeClr val="bg1"/>
                </a:solidFill>
                <a:latin typeface="微软雅黑" pitchFamily="34" charset="-122"/>
                <a:ea typeface="微软雅黑" pitchFamily="34" charset="-122"/>
              </a:rPr>
              <a:t>源地址和目的地址都各占 </a:t>
            </a:r>
            <a:r>
              <a:rPr lang="en-US" altLang="zh-CN" sz="1600" b="1" dirty="0">
                <a:solidFill>
                  <a:schemeClr val="bg1"/>
                </a:solidFill>
                <a:latin typeface="微软雅黑" pitchFamily="34" charset="-122"/>
                <a:ea typeface="微软雅黑" pitchFamily="34" charset="-122"/>
              </a:rPr>
              <a:t>32 </a:t>
            </a:r>
            <a:r>
              <a:rPr lang="zh-CN" altLang="en-US" sz="1600" b="1" dirty="0">
                <a:solidFill>
                  <a:schemeClr val="bg1"/>
                </a:solidFill>
                <a:latin typeface="微软雅黑" pitchFamily="34" charset="-122"/>
                <a:ea typeface="微软雅黑" pitchFamily="34" charset="-122"/>
              </a:rPr>
              <a:t>位。</a:t>
            </a:r>
          </a:p>
        </p:txBody>
      </p:sp>
      <p:sp>
        <p:nvSpPr>
          <p:cNvPr id="74" name="Rectangle 92"/>
          <p:cNvSpPr>
            <a:spLocks noChangeArrowheads="1"/>
          </p:cNvSpPr>
          <p:nvPr/>
        </p:nvSpPr>
        <p:spPr bwMode="auto">
          <a:xfrm flipV="1">
            <a:off x="2454413" y="2114646"/>
            <a:ext cx="5005691" cy="5218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655628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7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7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555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809070" y="572346"/>
            <a:ext cx="354456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IP </a:t>
            </a:r>
            <a:r>
              <a:rPr lang="zh-CN" altLang="en-US" sz="2000" b="1" dirty="0">
                <a:solidFill>
                  <a:schemeClr val="bg1"/>
                </a:solidFill>
                <a:latin typeface="微软雅黑" pitchFamily="34" charset="-122"/>
                <a:ea typeface="微软雅黑" pitchFamily="34" charset="-122"/>
              </a:rPr>
              <a:t>数据报首部的可变部分</a:t>
            </a:r>
          </a:p>
        </p:txBody>
      </p:sp>
      <p:sp>
        <p:nvSpPr>
          <p:cNvPr id="7" name="Rectangle 68"/>
          <p:cNvSpPr>
            <a:spLocks noChangeArrowheads="1"/>
          </p:cNvSpPr>
          <p:nvPr/>
        </p:nvSpPr>
        <p:spPr bwMode="auto">
          <a:xfrm>
            <a:off x="448327" y="943894"/>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首部的可变部分就是一个选项字段，用来支持排错、测量以及安全等措施，内容很丰富。</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长度可变：</a:t>
            </a:r>
            <a:r>
              <a:rPr lang="zh-CN" altLang="en-US" sz="2000" b="1" dirty="0">
                <a:solidFill>
                  <a:srgbClr val="0000FF"/>
                </a:solidFill>
                <a:latin typeface="微软雅黑" pitchFamily="34" charset="-122"/>
                <a:ea typeface="微软雅黑" pitchFamily="34" charset="-122"/>
              </a:rPr>
              <a:t>从 </a:t>
            </a:r>
            <a:r>
              <a:rPr lang="en-US" altLang="zh-CN" sz="2000" b="1" dirty="0">
                <a:solidFill>
                  <a:srgbClr val="0000FF"/>
                </a:solidFill>
                <a:latin typeface="微软雅黑" pitchFamily="34" charset="-122"/>
                <a:ea typeface="微软雅黑" pitchFamily="34" charset="-122"/>
              </a:rPr>
              <a:t>1 </a:t>
            </a:r>
            <a:r>
              <a:rPr lang="zh-CN" altLang="en-US" sz="2000" b="1" dirty="0">
                <a:solidFill>
                  <a:srgbClr val="0000FF"/>
                </a:solidFill>
                <a:latin typeface="微软雅黑" pitchFamily="34" charset="-122"/>
                <a:ea typeface="微软雅黑" pitchFamily="34" charset="-122"/>
              </a:rPr>
              <a:t>个字节到 </a:t>
            </a:r>
            <a:r>
              <a:rPr lang="en-US" altLang="zh-CN" sz="2000" b="1" dirty="0">
                <a:solidFill>
                  <a:srgbClr val="0000FF"/>
                </a:solidFill>
                <a:latin typeface="微软雅黑" pitchFamily="34" charset="-122"/>
                <a:ea typeface="微软雅黑" pitchFamily="34" charset="-122"/>
              </a:rPr>
              <a:t>40 </a:t>
            </a:r>
            <a:r>
              <a:rPr lang="zh-CN" altLang="en-US" sz="2000" b="1" dirty="0">
                <a:solidFill>
                  <a:srgbClr val="0000FF"/>
                </a:solidFill>
                <a:latin typeface="微软雅黑" pitchFamily="34" charset="-122"/>
                <a:ea typeface="微软雅黑" pitchFamily="34" charset="-122"/>
              </a:rPr>
              <a:t>个字节不等</a:t>
            </a:r>
            <a:r>
              <a:rPr lang="zh-CN" altLang="en-US" sz="2000" b="1" dirty="0">
                <a:latin typeface="微软雅黑" pitchFamily="34" charset="-122"/>
                <a:ea typeface="微软雅黑" pitchFamily="34" charset="-122"/>
              </a:rPr>
              <a:t>，取决于所选择的项目。</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增加了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数据报的功能，但这同时也使得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数据报的首部长度成为可变的，增加了每一个路由器处理数据报的开销。</a:t>
            </a: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实际上这些选项很少被使用。</a:t>
            </a:r>
          </a:p>
        </p:txBody>
      </p:sp>
    </p:spTree>
    <p:extLst>
      <p:ext uri="{BB962C8B-B14F-4D97-AF65-F5344CB8AC3E}">
        <p14:creationId xmlns:p14="http://schemas.microsoft.com/office/powerpoint/2010/main" val="23638706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9"/>
          <p:cNvSpPr>
            <a:spLocks noChangeArrowheads="1"/>
          </p:cNvSpPr>
          <p:nvPr/>
        </p:nvSpPr>
        <p:spPr bwMode="auto">
          <a:xfrm>
            <a:off x="2629135" y="1295097"/>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901522"/>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51905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863446"/>
            <a:ext cx="0" cy="289921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00573" y="1260553"/>
            <a:ext cx="5574294"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4.3.1                                       </a:t>
            </a:r>
            <a:r>
              <a:rPr lang="zh-CN" altLang="en-US" sz="2000" b="1" dirty="0">
                <a:solidFill>
                  <a:schemeClr val="bg1"/>
                </a:solidFill>
                <a:latin typeface="微软雅黑" pitchFamily="34" charset="-122"/>
                <a:ea typeface="微软雅黑" pitchFamily="34" charset="-122"/>
              </a:rPr>
              <a:t>基于终点的转发</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4.3.2                                          </a:t>
            </a:r>
            <a:r>
              <a:rPr lang="zh-CN" altLang="en-US" sz="2000" b="1" dirty="0">
                <a:solidFill>
                  <a:schemeClr val="bg1"/>
                </a:solidFill>
                <a:latin typeface="微软雅黑" pitchFamily="34" charset="-122"/>
                <a:ea typeface="微软雅黑" pitchFamily="34" charset="-122"/>
              </a:rPr>
              <a:t>最长前缀匹配</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4.3.3                             </a:t>
            </a:r>
            <a:r>
              <a:rPr lang="zh-CN" altLang="en-US" sz="2000" b="1" dirty="0">
                <a:solidFill>
                  <a:schemeClr val="bg1"/>
                </a:solidFill>
                <a:latin typeface="微软雅黑" pitchFamily="34" charset="-122"/>
                <a:ea typeface="微软雅黑" pitchFamily="34" charset="-122"/>
              </a:rPr>
              <a:t>使用二叉线索查找转发表</a:t>
            </a:r>
          </a:p>
        </p:txBody>
      </p:sp>
      <p:sp>
        <p:nvSpPr>
          <p:cNvPr id="16" name="Rectangle 27"/>
          <p:cNvSpPr>
            <a:spLocks noChangeArrowheads="1"/>
          </p:cNvSpPr>
          <p:nvPr/>
        </p:nvSpPr>
        <p:spPr bwMode="auto">
          <a:xfrm>
            <a:off x="639730" y="1295097"/>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390029"/>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4.3</a:t>
            </a:r>
          </a:p>
          <a:p>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层转发分组的过程</a:t>
            </a:r>
          </a:p>
        </p:txBody>
      </p:sp>
    </p:spTree>
    <p:extLst>
      <p:ext uri="{BB962C8B-B14F-4D97-AF65-F5344CB8AC3E}">
        <p14:creationId xmlns:p14="http://schemas.microsoft.com/office/powerpoint/2010/main" val="14537615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18" name="Rectangle 6"/>
          <p:cNvSpPr>
            <a:spLocks noChangeArrowheads="1"/>
          </p:cNvSpPr>
          <p:nvPr/>
        </p:nvSpPr>
        <p:spPr bwMode="auto">
          <a:xfrm>
            <a:off x="2939184" y="571120"/>
            <a:ext cx="326563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4.3.1  </a:t>
            </a:r>
            <a:r>
              <a:rPr lang="zh-CN" altLang="en-US" sz="2400" b="1" dirty="0">
                <a:solidFill>
                  <a:schemeClr val="bg1"/>
                </a:solidFill>
                <a:latin typeface="微软雅黑" pitchFamily="34" charset="-122"/>
                <a:ea typeface="微软雅黑" pitchFamily="34" charset="-122"/>
              </a:rPr>
              <a:t>基于终点的转发</a:t>
            </a:r>
          </a:p>
        </p:txBody>
      </p:sp>
      <p:sp>
        <p:nvSpPr>
          <p:cNvPr id="19" name="Rectangle 8"/>
          <p:cNvSpPr>
            <a:spLocks noChangeArrowheads="1"/>
          </p:cNvSpPr>
          <p:nvPr/>
        </p:nvSpPr>
        <p:spPr bwMode="auto">
          <a:xfrm>
            <a:off x="545144" y="1016867"/>
            <a:ext cx="8053712" cy="938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分组在互联网中是</a:t>
            </a:r>
            <a:r>
              <a:rPr lang="zh-CN" altLang="en-US" sz="2000" b="1" dirty="0">
                <a:solidFill>
                  <a:srgbClr val="C00000"/>
                </a:solidFill>
                <a:latin typeface="微软雅黑" pitchFamily="34" charset="-122"/>
                <a:ea typeface="微软雅黑" pitchFamily="34" charset="-122"/>
              </a:rPr>
              <a:t>逐跳转发</a:t>
            </a:r>
            <a:r>
              <a:rPr lang="zh-CN" altLang="en-US" sz="2000" b="1" dirty="0">
                <a:latin typeface="微软雅黑" pitchFamily="34" charset="-122"/>
                <a:ea typeface="微软雅黑" pitchFamily="34" charset="-122"/>
              </a:rPr>
              <a:t>的。</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基于终点的转发：基于分组首部中的</a:t>
            </a:r>
            <a:r>
              <a:rPr lang="zh-CN" altLang="en-US" sz="2000" b="1" dirty="0">
                <a:solidFill>
                  <a:srgbClr val="C00000"/>
                </a:solidFill>
                <a:latin typeface="微软雅黑" pitchFamily="34" charset="-122"/>
                <a:ea typeface="微软雅黑" pitchFamily="34" charset="-122"/>
              </a:rPr>
              <a:t>目的地址</a:t>
            </a:r>
            <a:r>
              <a:rPr lang="zh-CN" altLang="en-US" sz="2000" b="1" dirty="0">
                <a:latin typeface="微软雅黑" pitchFamily="34" charset="-122"/>
                <a:ea typeface="微软雅黑" pitchFamily="34" charset="-122"/>
              </a:rPr>
              <a:t>传送和转发。</a:t>
            </a:r>
            <a:endParaRPr lang="en-US" altLang="zh-CN" sz="2000" b="1" dirty="0">
              <a:latin typeface="微软雅黑" pitchFamily="34" charset="-122"/>
              <a:ea typeface="微软雅黑" pitchFamily="34" charset="-122"/>
            </a:endParaRPr>
          </a:p>
        </p:txBody>
      </p:sp>
      <p:sp>
        <p:nvSpPr>
          <p:cNvPr id="5" name="圆角矩形 4"/>
          <p:cNvSpPr/>
          <p:nvPr/>
        </p:nvSpPr>
        <p:spPr>
          <a:xfrm>
            <a:off x="556963" y="1973310"/>
            <a:ext cx="8048776" cy="159397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9" name="组合 8"/>
          <p:cNvGrpSpPr/>
          <p:nvPr/>
        </p:nvGrpSpPr>
        <p:grpSpPr>
          <a:xfrm>
            <a:off x="645100" y="2179356"/>
            <a:ext cx="7879255" cy="1021469"/>
            <a:chOff x="645100" y="1324921"/>
            <a:chExt cx="7879255" cy="1021469"/>
          </a:xfrm>
        </p:grpSpPr>
        <p:sp>
          <p:nvSpPr>
            <p:cNvPr id="10"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20"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1" name="组合 20"/>
            <p:cNvGrpSpPr/>
            <p:nvPr/>
          </p:nvGrpSpPr>
          <p:grpSpPr>
            <a:xfrm>
              <a:off x="1195777" y="1324921"/>
              <a:ext cx="856156" cy="940368"/>
              <a:chOff x="1204403" y="1807995"/>
              <a:chExt cx="856156" cy="940368"/>
            </a:xfrm>
          </p:grpSpPr>
          <p:sp>
            <p:nvSpPr>
              <p:cNvPr id="43" name="弧形 4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2" name="组合 21"/>
            <p:cNvGrpSpPr/>
            <p:nvPr/>
          </p:nvGrpSpPr>
          <p:grpSpPr>
            <a:xfrm>
              <a:off x="2346779" y="1324921"/>
              <a:ext cx="856156" cy="940368"/>
              <a:chOff x="1204403" y="1807995"/>
              <a:chExt cx="856156" cy="940368"/>
            </a:xfrm>
          </p:grpSpPr>
          <p:sp>
            <p:nvSpPr>
              <p:cNvPr id="41" name="弧形 40"/>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2"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3" name="组合 22"/>
            <p:cNvGrpSpPr/>
            <p:nvPr/>
          </p:nvGrpSpPr>
          <p:grpSpPr>
            <a:xfrm>
              <a:off x="3546083" y="1324921"/>
              <a:ext cx="856156" cy="940368"/>
              <a:chOff x="1204403" y="1807995"/>
              <a:chExt cx="856156" cy="940368"/>
            </a:xfrm>
          </p:grpSpPr>
          <p:sp>
            <p:nvSpPr>
              <p:cNvPr id="39" name="弧形 3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0"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4" name="组合 23"/>
            <p:cNvGrpSpPr/>
            <p:nvPr/>
          </p:nvGrpSpPr>
          <p:grpSpPr>
            <a:xfrm>
              <a:off x="4697085" y="1324921"/>
              <a:ext cx="856156" cy="940368"/>
              <a:chOff x="1204403" y="1807995"/>
              <a:chExt cx="856156" cy="940368"/>
            </a:xfrm>
          </p:grpSpPr>
          <p:sp>
            <p:nvSpPr>
              <p:cNvPr id="37" name="弧形 3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5" name="组合 24"/>
            <p:cNvGrpSpPr/>
            <p:nvPr/>
          </p:nvGrpSpPr>
          <p:grpSpPr>
            <a:xfrm>
              <a:off x="5888545" y="1324921"/>
              <a:ext cx="856156" cy="940368"/>
              <a:chOff x="1204403" y="1807995"/>
              <a:chExt cx="856156" cy="940368"/>
            </a:xfrm>
          </p:grpSpPr>
          <p:sp>
            <p:nvSpPr>
              <p:cNvPr id="35" name="弧形 34"/>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6"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6" name="组合 25"/>
            <p:cNvGrpSpPr/>
            <p:nvPr/>
          </p:nvGrpSpPr>
          <p:grpSpPr>
            <a:xfrm>
              <a:off x="7039547" y="1324921"/>
              <a:ext cx="856156" cy="940368"/>
              <a:chOff x="1204403" y="1807995"/>
              <a:chExt cx="856156" cy="940368"/>
            </a:xfrm>
          </p:grpSpPr>
          <p:sp>
            <p:nvSpPr>
              <p:cNvPr id="33" name="弧形 3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27"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28"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29"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0"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1"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2"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grpSp>
      <p:grpSp>
        <p:nvGrpSpPr>
          <p:cNvPr id="3" name="组合 2"/>
          <p:cNvGrpSpPr/>
          <p:nvPr/>
        </p:nvGrpSpPr>
        <p:grpSpPr>
          <a:xfrm>
            <a:off x="1559922" y="3205968"/>
            <a:ext cx="5987060" cy="338554"/>
            <a:chOff x="1559922" y="3985455"/>
            <a:chExt cx="5987060" cy="338554"/>
          </a:xfrm>
        </p:grpSpPr>
        <p:sp>
          <p:nvSpPr>
            <p:cNvPr id="2" name="矩形 1"/>
            <p:cNvSpPr/>
            <p:nvPr/>
          </p:nvSpPr>
          <p:spPr>
            <a:xfrm>
              <a:off x="1559922"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2" name="矩形 51"/>
            <p:cNvSpPr/>
            <p:nvPr/>
          </p:nvSpPr>
          <p:spPr>
            <a:xfrm>
              <a:off x="274403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3" name="矩形 52"/>
            <p:cNvSpPr/>
            <p:nvPr/>
          </p:nvSpPr>
          <p:spPr>
            <a:xfrm>
              <a:off x="395621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4" name="矩形 53"/>
            <p:cNvSpPr/>
            <p:nvPr/>
          </p:nvSpPr>
          <p:spPr>
            <a:xfrm>
              <a:off x="5140330"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5" name="矩形 54"/>
            <p:cNvSpPr/>
            <p:nvPr/>
          </p:nvSpPr>
          <p:spPr>
            <a:xfrm>
              <a:off x="6336394"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grpSp>
    </p:spTree>
    <p:extLst>
      <p:ext uri="{BB962C8B-B14F-4D97-AF65-F5344CB8AC3E}">
        <p14:creationId xmlns:p14="http://schemas.microsoft.com/office/powerpoint/2010/main" val="32997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000"/>
                                        <p:tgtEl>
                                          <p:spTgt spid="9"/>
                                        </p:tgtEl>
                                      </p:cBhvr>
                                    </p:animEffect>
                                  </p:childTnLst>
                                </p:cTn>
                              </p:par>
                              <p:par>
                                <p:cTn id="8" presetID="22" presetClass="entr" presetSubtype="8" fill="hold" nodeType="withEffect">
                                  <p:stCondLst>
                                    <p:cond delay="500"/>
                                  </p:stCondLst>
                                  <p:childTnLst>
                                    <p:set>
                                      <p:cBhvr>
                                        <p:cTn id="9" dur="1" fill="hold">
                                          <p:stCondLst>
                                            <p:cond delay="0"/>
                                          </p:stCondLst>
                                        </p:cTn>
                                        <p:tgtEl>
                                          <p:spTgt spid="3"/>
                                        </p:tgtEl>
                                        <p:attrNameLst>
                                          <p:attrName>style.visibility</p:attrName>
                                        </p:attrNameLst>
                                      </p:cBhvr>
                                      <p:to>
                                        <p:strVal val="visible"/>
                                      </p:to>
                                    </p:set>
                                    <p:animEffect transition="in" filter="wipe(left)">
                                      <p:cBhvr>
                                        <p:cTn id="10" dur="175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1463515" y="2138648"/>
            <a:ext cx="6321113" cy="2404494"/>
            <a:chOff x="1283635" y="1688948"/>
            <a:chExt cx="6321113" cy="2404494"/>
          </a:xfrm>
        </p:grpSpPr>
        <p:sp>
          <p:nvSpPr>
            <p:cNvPr id="44" name="Freeform 4"/>
            <p:cNvSpPr>
              <a:spLocks/>
            </p:cNvSpPr>
            <p:nvPr/>
          </p:nvSpPr>
          <p:spPr bwMode="auto">
            <a:xfrm>
              <a:off x="2769018" y="2252656"/>
              <a:ext cx="3507555" cy="659992"/>
            </a:xfrm>
            <a:custGeom>
              <a:avLst/>
              <a:gdLst>
                <a:gd name="T0" fmla="*/ 0 w 3024"/>
                <a:gd name="T1" fmla="*/ 636 h 636"/>
                <a:gd name="T2" fmla="*/ 1520 w 3024"/>
                <a:gd name="T3" fmla="*/ 0 h 636"/>
                <a:gd name="T4" fmla="*/ 3024 w 3024"/>
                <a:gd name="T5" fmla="*/ 636 h 636"/>
                <a:gd name="T6" fmla="*/ 0 w 3024"/>
                <a:gd name="T7" fmla="*/ 636 h 636"/>
              </a:gdLst>
              <a:ahLst/>
              <a:cxnLst>
                <a:cxn ang="0">
                  <a:pos x="T0" y="T1"/>
                </a:cxn>
                <a:cxn ang="0">
                  <a:pos x="T2" y="T3"/>
                </a:cxn>
                <a:cxn ang="0">
                  <a:pos x="T4" y="T5"/>
                </a:cxn>
                <a:cxn ang="0">
                  <a:pos x="T6" y="T7"/>
                </a:cxn>
              </a:cxnLst>
              <a:rect l="0" t="0" r="r" b="b"/>
              <a:pathLst>
                <a:path w="3024" h="636">
                  <a:moveTo>
                    <a:pt x="0" y="636"/>
                  </a:moveTo>
                  <a:lnTo>
                    <a:pt x="1520" y="0"/>
                  </a:lnTo>
                  <a:lnTo>
                    <a:pt x="3024" y="636"/>
                  </a:lnTo>
                  <a:lnTo>
                    <a:pt x="0" y="636"/>
                  </a:lnTo>
                  <a:close/>
                </a:path>
              </a:pathLst>
            </a:custGeom>
            <a:gradFill rotWithShape="1">
              <a:gsLst>
                <a:gs pos="0">
                  <a:srgbClr val="92D050"/>
                </a:gs>
                <a:gs pos="100000">
                  <a:srgbClr val="99FFCC"/>
                </a:gs>
              </a:gsLst>
              <a:lin ang="5400000" scaled="1"/>
            </a:gradFill>
            <a:ln>
              <a:noFill/>
            </a:ln>
            <a:effectLst/>
          </p:spPr>
          <p:txBody>
            <a:bodyPr/>
            <a:lstStyle/>
            <a:p>
              <a:endParaRPr lang="zh-CN" altLang="en-US" sz="1200" b="1">
                <a:latin typeface="微软雅黑" pitchFamily="34" charset="-122"/>
                <a:ea typeface="微软雅黑" pitchFamily="34" charset="-122"/>
              </a:endParaRPr>
            </a:p>
          </p:txBody>
        </p:sp>
        <p:grpSp>
          <p:nvGrpSpPr>
            <p:cNvPr id="45" name="Group 5"/>
            <p:cNvGrpSpPr>
              <a:grpSpLocks/>
            </p:cNvGrpSpPr>
            <p:nvPr/>
          </p:nvGrpSpPr>
          <p:grpSpPr bwMode="auto">
            <a:xfrm>
              <a:off x="1283635" y="1931727"/>
              <a:ext cx="886282" cy="587568"/>
              <a:chOff x="912" y="768"/>
              <a:chExt cx="2400" cy="1584"/>
            </a:xfrm>
            <a:solidFill>
              <a:schemeClr val="bg1"/>
            </a:solidFill>
          </p:grpSpPr>
          <p:sp>
            <p:nvSpPr>
              <p:cNvPr id="174" name="Oval 6"/>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5" name="Oval 7"/>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6" name="Oval 8"/>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7" name="Oval 9"/>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8" name="Oval 10"/>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9" name="Oval 11"/>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0" name="Oval 12"/>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1" name="Oval 13"/>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2" name="Oval 14"/>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83" name="Group 15"/>
              <p:cNvGrpSpPr>
                <a:grpSpLocks/>
              </p:cNvGrpSpPr>
              <p:nvPr/>
            </p:nvGrpSpPr>
            <p:grpSpPr bwMode="auto">
              <a:xfrm>
                <a:off x="912" y="768"/>
                <a:ext cx="2386" cy="1553"/>
                <a:chOff x="912" y="768"/>
                <a:chExt cx="2386" cy="1553"/>
              </a:xfrm>
              <a:grpFill/>
            </p:grpSpPr>
            <p:sp>
              <p:nvSpPr>
                <p:cNvPr id="184" name="Oval 16"/>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5" name="Oval 17"/>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6" name="Oval 18"/>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7" name="Oval 19"/>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8" name="Oval 20"/>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9" name="Oval 21"/>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0" name="Oval 22"/>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1" name="Oval 23"/>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2" name="Oval 24"/>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46" name="Line 25"/>
            <p:cNvSpPr>
              <a:spLocks noChangeShapeType="1"/>
            </p:cNvSpPr>
            <p:nvPr/>
          </p:nvSpPr>
          <p:spPr bwMode="auto">
            <a:xfrm>
              <a:off x="2169916" y="2208169"/>
              <a:ext cx="470436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47" name="Group 26"/>
            <p:cNvGrpSpPr>
              <a:grpSpLocks/>
            </p:cNvGrpSpPr>
            <p:nvPr/>
          </p:nvGrpSpPr>
          <p:grpSpPr bwMode="auto">
            <a:xfrm>
              <a:off x="6718466" y="1931727"/>
              <a:ext cx="886282" cy="587568"/>
              <a:chOff x="912" y="768"/>
              <a:chExt cx="2400" cy="1584"/>
            </a:xfrm>
            <a:solidFill>
              <a:schemeClr val="bg1"/>
            </a:solidFill>
          </p:grpSpPr>
          <p:sp>
            <p:nvSpPr>
              <p:cNvPr id="155" name="Oval 2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6" name="Oval 2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7" name="Oval 2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8" name="Oval 3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9" name="Oval 3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0" name="Oval 3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1" name="Oval 3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2" name="Oval 3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3" name="Oval 3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64" name="Group 36"/>
              <p:cNvGrpSpPr>
                <a:grpSpLocks/>
              </p:cNvGrpSpPr>
              <p:nvPr/>
            </p:nvGrpSpPr>
            <p:grpSpPr bwMode="auto">
              <a:xfrm>
                <a:off x="912" y="768"/>
                <a:ext cx="2386" cy="1553"/>
                <a:chOff x="912" y="768"/>
                <a:chExt cx="2386" cy="1553"/>
              </a:xfrm>
              <a:grpFill/>
            </p:grpSpPr>
            <p:sp>
              <p:nvSpPr>
                <p:cNvPr id="165" name="Oval 3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6" name="Oval 3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7" name="Oval 3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8" name="Oval 4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9" name="Oval 4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0" name="Oval 4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1" name="Oval 4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2" name="Oval 4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3" name="Oval 4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8" name="Group 46"/>
            <p:cNvGrpSpPr>
              <a:grpSpLocks/>
            </p:cNvGrpSpPr>
            <p:nvPr/>
          </p:nvGrpSpPr>
          <p:grpSpPr bwMode="auto">
            <a:xfrm>
              <a:off x="4968004" y="1954169"/>
              <a:ext cx="886282" cy="588587"/>
              <a:chOff x="912" y="768"/>
              <a:chExt cx="2400" cy="1584"/>
            </a:xfrm>
            <a:solidFill>
              <a:schemeClr val="bg1"/>
            </a:solidFill>
          </p:grpSpPr>
          <p:sp>
            <p:nvSpPr>
              <p:cNvPr id="136" name="Oval 4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7" name="Oval 4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8" name="Oval 4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9" name="Oval 5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0" name="Oval 5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1" name="Oval 5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2" name="Oval 5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3" name="Oval 5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4" name="Oval 5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45" name="Group 56"/>
              <p:cNvGrpSpPr>
                <a:grpSpLocks/>
              </p:cNvGrpSpPr>
              <p:nvPr/>
            </p:nvGrpSpPr>
            <p:grpSpPr bwMode="auto">
              <a:xfrm>
                <a:off x="912" y="768"/>
                <a:ext cx="2386" cy="1553"/>
                <a:chOff x="912" y="768"/>
                <a:chExt cx="2386" cy="1553"/>
              </a:xfrm>
              <a:grpFill/>
            </p:grpSpPr>
            <p:sp>
              <p:nvSpPr>
                <p:cNvPr id="146" name="Oval 5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7" name="Oval 5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8" name="Oval 5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9" name="Oval 6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0" name="Oval 6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1" name="Oval 6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2" name="Oval 6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3" name="Oval 6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4" name="Oval 6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9" name="Group 66"/>
            <p:cNvGrpSpPr>
              <a:grpSpLocks/>
            </p:cNvGrpSpPr>
            <p:nvPr/>
          </p:nvGrpSpPr>
          <p:grpSpPr bwMode="auto">
            <a:xfrm>
              <a:off x="3146816" y="1931727"/>
              <a:ext cx="886282" cy="587568"/>
              <a:chOff x="912" y="768"/>
              <a:chExt cx="2400" cy="1584"/>
            </a:xfrm>
            <a:solidFill>
              <a:schemeClr val="bg1"/>
            </a:solidFill>
          </p:grpSpPr>
          <p:sp>
            <p:nvSpPr>
              <p:cNvPr id="117" name="Oval 6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8" name="Oval 6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9" name="Oval 6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0" name="Oval 7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1" name="Oval 7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2" name="Oval 7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3" name="Oval 7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4" name="Oval 7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5" name="Oval 7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26" name="Group 76"/>
              <p:cNvGrpSpPr>
                <a:grpSpLocks/>
              </p:cNvGrpSpPr>
              <p:nvPr/>
            </p:nvGrpSpPr>
            <p:grpSpPr bwMode="auto">
              <a:xfrm>
                <a:off x="912" y="768"/>
                <a:ext cx="2386" cy="1553"/>
                <a:chOff x="912" y="768"/>
                <a:chExt cx="2386" cy="1553"/>
              </a:xfrm>
              <a:grpFill/>
            </p:grpSpPr>
            <p:sp>
              <p:nvSpPr>
                <p:cNvPr id="127" name="Oval 7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8" name="Oval 7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9" name="Oval 7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0" name="Oval 8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1" name="Oval 8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2" name="Oval 8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3" name="Oval 8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4" name="Oval 8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5" name="Oval 8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50" name="Text Box 86"/>
            <p:cNvSpPr txBox="1">
              <a:spLocks noChangeArrowheads="1"/>
            </p:cNvSpPr>
            <p:nvPr/>
          </p:nvSpPr>
          <p:spPr bwMode="auto">
            <a:xfrm>
              <a:off x="1368727"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1</a:t>
              </a:r>
            </a:p>
            <a:p>
              <a:pPr algn="ctr"/>
              <a:r>
                <a:rPr kumimoji="1" lang="en-US" altLang="zh-CN" sz="1100" b="1" dirty="0">
                  <a:solidFill>
                    <a:srgbClr val="0000CC"/>
                  </a:solidFill>
                  <a:latin typeface="微软雅黑" pitchFamily="34" charset="-122"/>
                  <a:ea typeface="微软雅黑" pitchFamily="34" charset="-122"/>
                </a:rPr>
                <a:t>15.0.0.0</a:t>
              </a:r>
            </a:p>
          </p:txBody>
        </p:sp>
        <p:sp>
          <p:nvSpPr>
            <p:cNvPr id="51" name="Text Box 87"/>
            <p:cNvSpPr txBox="1">
              <a:spLocks noChangeArrowheads="1"/>
            </p:cNvSpPr>
            <p:nvPr/>
          </p:nvSpPr>
          <p:spPr bwMode="auto">
            <a:xfrm>
              <a:off x="683807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4</a:t>
              </a:r>
            </a:p>
            <a:p>
              <a:pPr algn="ctr"/>
              <a:r>
                <a:rPr kumimoji="1" lang="en-US" altLang="zh-CN" sz="1100" b="1" dirty="0">
                  <a:solidFill>
                    <a:srgbClr val="0000CC"/>
                  </a:solidFill>
                  <a:latin typeface="微软雅黑" pitchFamily="34" charset="-122"/>
                  <a:ea typeface="微软雅黑" pitchFamily="34" charset="-122"/>
                </a:rPr>
                <a:t>40.0.0.0</a:t>
              </a:r>
            </a:p>
          </p:txBody>
        </p:sp>
        <p:sp>
          <p:nvSpPr>
            <p:cNvPr id="52" name="Text Box 88"/>
            <p:cNvSpPr txBox="1">
              <a:spLocks noChangeArrowheads="1"/>
            </p:cNvSpPr>
            <p:nvPr/>
          </p:nvSpPr>
          <p:spPr bwMode="auto">
            <a:xfrm>
              <a:off x="506525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3</a:t>
              </a:r>
            </a:p>
            <a:p>
              <a:pPr algn="ctr"/>
              <a:r>
                <a:rPr kumimoji="1" lang="en-US" altLang="zh-CN" sz="1100" b="1" dirty="0">
                  <a:solidFill>
                    <a:srgbClr val="0000CC"/>
                  </a:solidFill>
                  <a:latin typeface="微软雅黑" pitchFamily="34" charset="-122"/>
                  <a:ea typeface="微软雅黑" pitchFamily="34" charset="-122"/>
                </a:rPr>
                <a:t>30.0.0.0</a:t>
              </a:r>
            </a:p>
          </p:txBody>
        </p:sp>
        <p:sp>
          <p:nvSpPr>
            <p:cNvPr id="53" name="Text Box 89"/>
            <p:cNvSpPr txBox="1">
              <a:spLocks noChangeArrowheads="1"/>
            </p:cNvSpPr>
            <p:nvPr/>
          </p:nvSpPr>
          <p:spPr bwMode="auto">
            <a:xfrm>
              <a:off x="3244063"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2</a:t>
              </a:r>
            </a:p>
            <a:p>
              <a:pPr algn="ctr"/>
              <a:r>
                <a:rPr kumimoji="1" lang="en-US" altLang="zh-CN" sz="1100" b="1" dirty="0">
                  <a:solidFill>
                    <a:srgbClr val="0000CC"/>
                  </a:solidFill>
                  <a:latin typeface="微软雅黑" pitchFamily="34" charset="-122"/>
                  <a:ea typeface="微软雅黑" pitchFamily="34" charset="-122"/>
                </a:rPr>
                <a:t>20.0.0.0</a:t>
              </a:r>
            </a:p>
          </p:txBody>
        </p:sp>
        <p:sp>
          <p:nvSpPr>
            <p:cNvPr id="54" name="Text Box 90"/>
            <p:cNvSpPr txBox="1">
              <a:spLocks noChangeArrowheads="1"/>
            </p:cNvSpPr>
            <p:nvPr/>
          </p:nvSpPr>
          <p:spPr bwMode="auto">
            <a:xfrm>
              <a:off x="18096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15.0.0.4</a:t>
              </a:r>
            </a:p>
          </p:txBody>
        </p:sp>
        <p:sp>
          <p:nvSpPr>
            <p:cNvPr id="55" name="Text Box 91"/>
            <p:cNvSpPr txBox="1">
              <a:spLocks noChangeArrowheads="1"/>
            </p:cNvSpPr>
            <p:nvPr/>
          </p:nvSpPr>
          <p:spPr bwMode="auto">
            <a:xfrm>
              <a:off x="63040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40.0.0.4</a:t>
              </a:r>
            </a:p>
          </p:txBody>
        </p:sp>
        <p:sp>
          <p:nvSpPr>
            <p:cNvPr id="56" name="Text Box 92"/>
            <p:cNvSpPr txBox="1">
              <a:spLocks noChangeArrowheads="1"/>
            </p:cNvSpPr>
            <p:nvPr/>
          </p:nvSpPr>
          <p:spPr bwMode="auto">
            <a:xfrm>
              <a:off x="4595590"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30.0.0.2</a:t>
              </a:r>
            </a:p>
          </p:txBody>
        </p:sp>
        <p:sp>
          <p:nvSpPr>
            <p:cNvPr id="57" name="Text Box 93"/>
            <p:cNvSpPr txBox="1">
              <a:spLocks noChangeArrowheads="1"/>
            </p:cNvSpPr>
            <p:nvPr/>
          </p:nvSpPr>
          <p:spPr bwMode="auto">
            <a:xfrm>
              <a:off x="3724779"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20.0.0.9</a:t>
              </a:r>
            </a:p>
          </p:txBody>
        </p:sp>
        <p:sp>
          <p:nvSpPr>
            <p:cNvPr id="58" name="Text Box 94"/>
            <p:cNvSpPr txBox="1">
              <a:spLocks noChangeArrowheads="1"/>
            </p:cNvSpPr>
            <p:nvPr/>
          </p:nvSpPr>
          <p:spPr bwMode="auto">
            <a:xfrm>
              <a:off x="266168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59" name="Line 95"/>
            <p:cNvSpPr>
              <a:spLocks noChangeShapeType="1"/>
            </p:cNvSpPr>
            <p:nvPr/>
          </p:nvSpPr>
          <p:spPr bwMode="auto">
            <a:xfrm>
              <a:off x="2279321"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0" name="Line 96"/>
            <p:cNvSpPr>
              <a:spLocks noChangeShapeType="1"/>
            </p:cNvSpPr>
            <p:nvPr/>
          </p:nvSpPr>
          <p:spPr bwMode="auto">
            <a:xfrm>
              <a:off x="3046253"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Line 97"/>
            <p:cNvSpPr>
              <a:spLocks noChangeShapeType="1"/>
            </p:cNvSpPr>
            <p:nvPr/>
          </p:nvSpPr>
          <p:spPr bwMode="auto">
            <a:xfrm>
              <a:off x="5896278"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Line 98"/>
            <p:cNvSpPr>
              <a:spLocks noChangeShapeType="1"/>
            </p:cNvSpPr>
            <p:nvPr/>
          </p:nvSpPr>
          <p:spPr bwMode="auto">
            <a:xfrm>
              <a:off x="4161544"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Line 99"/>
            <p:cNvSpPr>
              <a:spLocks noChangeShapeType="1"/>
            </p:cNvSpPr>
            <p:nvPr/>
          </p:nvSpPr>
          <p:spPr bwMode="auto">
            <a:xfrm>
              <a:off x="6664316" y="1934787"/>
              <a:ext cx="0" cy="25910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4" name="Line 100"/>
            <p:cNvSpPr>
              <a:spLocks noChangeShapeType="1"/>
            </p:cNvSpPr>
            <p:nvPr/>
          </p:nvSpPr>
          <p:spPr bwMode="auto">
            <a:xfrm>
              <a:off x="4910539"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5" name="Rectangle 101"/>
            <p:cNvSpPr>
              <a:spLocks noChangeArrowheads="1"/>
            </p:cNvSpPr>
            <p:nvPr/>
          </p:nvSpPr>
          <p:spPr bwMode="auto">
            <a:xfrm>
              <a:off x="2769018" y="2912648"/>
              <a:ext cx="3507555" cy="1142492"/>
            </a:xfrm>
            <a:prstGeom prst="rect">
              <a:avLst/>
            </a:prstGeom>
            <a:solidFill>
              <a:srgbClr val="00FFFF"/>
            </a:solidFill>
            <a:ln w="28575">
              <a:solidFill>
                <a:srgbClr val="009900"/>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6" name="Line 102"/>
            <p:cNvSpPr>
              <a:spLocks noChangeShapeType="1"/>
            </p:cNvSpPr>
            <p:nvPr/>
          </p:nvSpPr>
          <p:spPr bwMode="auto">
            <a:xfrm>
              <a:off x="2739038" y="322479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7" name="Text Box 103"/>
            <p:cNvSpPr txBox="1">
              <a:spLocks noChangeArrowheads="1"/>
            </p:cNvSpPr>
            <p:nvPr/>
          </p:nvSpPr>
          <p:spPr bwMode="auto">
            <a:xfrm>
              <a:off x="2821722" y="2927950"/>
              <a:ext cx="15696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目的主机所在的网络</a:t>
              </a:r>
            </a:p>
          </p:txBody>
        </p:sp>
        <p:sp>
          <p:nvSpPr>
            <p:cNvPr id="68" name="Text Box 104"/>
            <p:cNvSpPr txBox="1">
              <a:spLocks noChangeArrowheads="1"/>
            </p:cNvSpPr>
            <p:nvPr/>
          </p:nvSpPr>
          <p:spPr bwMode="auto">
            <a:xfrm>
              <a:off x="4857494" y="292488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下一跳地址</a:t>
              </a:r>
            </a:p>
          </p:txBody>
        </p:sp>
        <p:sp>
          <p:nvSpPr>
            <p:cNvPr id="69" name="Line 105"/>
            <p:cNvSpPr>
              <a:spLocks noChangeShapeType="1"/>
            </p:cNvSpPr>
            <p:nvPr/>
          </p:nvSpPr>
          <p:spPr bwMode="auto">
            <a:xfrm>
              <a:off x="4492815" y="2912648"/>
              <a:ext cx="0" cy="1142492"/>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Line 106"/>
            <p:cNvSpPr>
              <a:spLocks noChangeShapeType="1"/>
            </p:cNvSpPr>
            <p:nvPr/>
          </p:nvSpPr>
          <p:spPr bwMode="auto">
            <a:xfrm>
              <a:off x="2739038" y="3431870"/>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Line 107"/>
            <p:cNvSpPr>
              <a:spLocks noChangeShapeType="1"/>
            </p:cNvSpPr>
            <p:nvPr/>
          </p:nvSpPr>
          <p:spPr bwMode="auto">
            <a:xfrm>
              <a:off x="2739038" y="3639967"/>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2" name="Line 108"/>
            <p:cNvSpPr>
              <a:spLocks noChangeShapeType="1"/>
            </p:cNvSpPr>
            <p:nvPr/>
          </p:nvSpPr>
          <p:spPr bwMode="auto">
            <a:xfrm>
              <a:off x="2739038" y="384806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3" name="Text Box 109"/>
            <p:cNvSpPr txBox="1">
              <a:spLocks noChangeArrowheads="1"/>
            </p:cNvSpPr>
            <p:nvPr/>
          </p:nvSpPr>
          <p:spPr bwMode="auto">
            <a:xfrm>
              <a:off x="3213121" y="319215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20.0.0.0</a:t>
              </a:r>
            </a:p>
          </p:txBody>
        </p:sp>
        <p:sp>
          <p:nvSpPr>
            <p:cNvPr id="74" name="Text Box 110"/>
            <p:cNvSpPr txBox="1">
              <a:spLocks noChangeArrowheads="1"/>
            </p:cNvSpPr>
            <p:nvPr/>
          </p:nvSpPr>
          <p:spPr bwMode="auto">
            <a:xfrm>
              <a:off x="3213121" y="339412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30.0.0.0</a:t>
              </a:r>
            </a:p>
          </p:txBody>
        </p:sp>
        <p:sp>
          <p:nvSpPr>
            <p:cNvPr id="75" name="Text Box 111"/>
            <p:cNvSpPr txBox="1">
              <a:spLocks noChangeArrowheads="1"/>
            </p:cNvSpPr>
            <p:nvPr/>
          </p:nvSpPr>
          <p:spPr bwMode="auto">
            <a:xfrm>
              <a:off x="3213121" y="361650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15.0.0.0</a:t>
              </a:r>
            </a:p>
          </p:txBody>
        </p:sp>
        <p:sp>
          <p:nvSpPr>
            <p:cNvPr id="76" name="Text Box 112"/>
            <p:cNvSpPr txBox="1">
              <a:spLocks noChangeArrowheads="1"/>
            </p:cNvSpPr>
            <p:nvPr/>
          </p:nvSpPr>
          <p:spPr bwMode="auto">
            <a:xfrm>
              <a:off x="3213121" y="380828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40.0.0.0</a:t>
              </a:r>
            </a:p>
          </p:txBody>
        </p:sp>
        <p:sp>
          <p:nvSpPr>
            <p:cNvPr id="77" name="Text Box 113"/>
            <p:cNvSpPr txBox="1">
              <a:spLocks noChangeArrowheads="1"/>
            </p:cNvSpPr>
            <p:nvPr/>
          </p:nvSpPr>
          <p:spPr bwMode="auto">
            <a:xfrm>
              <a:off x="4922696" y="3608345"/>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78" name="Text Box 114"/>
            <p:cNvSpPr txBox="1">
              <a:spLocks noChangeArrowheads="1"/>
            </p:cNvSpPr>
            <p:nvPr/>
          </p:nvSpPr>
          <p:spPr bwMode="auto">
            <a:xfrm>
              <a:off x="4922696" y="3816443"/>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sp>
          <p:nvSpPr>
            <p:cNvPr id="79" name="Text Box 115"/>
            <p:cNvSpPr txBox="1">
              <a:spLocks noChangeArrowheads="1"/>
            </p:cNvSpPr>
            <p:nvPr/>
          </p:nvSpPr>
          <p:spPr bwMode="auto">
            <a:xfrm>
              <a:off x="4616584" y="3411468"/>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1</a:t>
              </a:r>
            </a:p>
          </p:txBody>
        </p:sp>
        <p:sp>
          <p:nvSpPr>
            <p:cNvPr id="80" name="Text Box 116"/>
            <p:cNvSpPr txBox="1">
              <a:spLocks noChangeArrowheads="1"/>
            </p:cNvSpPr>
            <p:nvPr/>
          </p:nvSpPr>
          <p:spPr bwMode="auto">
            <a:xfrm>
              <a:off x="4616584" y="3190112"/>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0</a:t>
              </a:r>
            </a:p>
          </p:txBody>
        </p:sp>
        <p:sp>
          <p:nvSpPr>
            <p:cNvPr id="81" name="Text Box 117"/>
            <p:cNvSpPr txBox="1">
              <a:spLocks noChangeArrowheads="1"/>
            </p:cNvSpPr>
            <p:nvPr/>
          </p:nvSpPr>
          <p:spPr bwMode="auto">
            <a:xfrm>
              <a:off x="3630742" y="2579704"/>
              <a:ext cx="174599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2</a:t>
              </a:r>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的转发表</a:t>
              </a:r>
            </a:p>
          </p:txBody>
        </p:sp>
        <p:sp>
          <p:nvSpPr>
            <p:cNvPr id="82" name="Text Box 118"/>
            <p:cNvSpPr txBox="1">
              <a:spLocks noChangeArrowheads="1"/>
            </p:cNvSpPr>
            <p:nvPr/>
          </p:nvSpPr>
          <p:spPr bwMode="auto">
            <a:xfrm>
              <a:off x="548187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pic>
          <p:nvPicPr>
            <p:cNvPr id="101" name="Picture 13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43978" y="2090860"/>
              <a:ext cx="499501" cy="2366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2" name="Text Box 140"/>
            <p:cNvSpPr txBox="1">
              <a:spLocks noChangeArrowheads="1"/>
            </p:cNvSpPr>
            <p:nvPr/>
          </p:nvSpPr>
          <p:spPr bwMode="auto">
            <a:xfrm>
              <a:off x="4371512"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2</a:t>
              </a:r>
              <a:endParaRPr kumimoji="1" lang="en-US" altLang="zh-CN" sz="1200" b="1" dirty="0">
                <a:solidFill>
                  <a:srgbClr val="0000CC"/>
                </a:solidFill>
                <a:latin typeface="微软雅黑" pitchFamily="34" charset="-122"/>
                <a:ea typeface="微软雅黑" pitchFamily="34" charset="-122"/>
              </a:endParaRPr>
            </a:p>
          </p:txBody>
        </p:sp>
        <p:sp>
          <p:nvSpPr>
            <p:cNvPr id="103" name="Text Box 141"/>
            <p:cNvSpPr txBox="1">
              <a:spLocks noChangeArrowheads="1"/>
            </p:cNvSpPr>
            <p:nvPr/>
          </p:nvSpPr>
          <p:spPr bwMode="auto">
            <a:xfrm>
              <a:off x="6115811"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3</a:t>
              </a:r>
              <a:endParaRPr kumimoji="1" lang="en-US" altLang="zh-CN" sz="1200" b="1" dirty="0">
                <a:solidFill>
                  <a:srgbClr val="0000CC"/>
                </a:solidFill>
                <a:latin typeface="微软雅黑" pitchFamily="34" charset="-122"/>
                <a:ea typeface="微软雅黑" pitchFamily="34" charset="-122"/>
              </a:endParaRPr>
            </a:p>
          </p:txBody>
        </p:sp>
        <p:sp>
          <p:nvSpPr>
            <p:cNvPr id="104" name="Text Box 142"/>
            <p:cNvSpPr txBox="1">
              <a:spLocks noChangeArrowheads="1"/>
            </p:cNvSpPr>
            <p:nvPr/>
          </p:nvSpPr>
          <p:spPr bwMode="auto">
            <a:xfrm>
              <a:off x="2516915"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1</a:t>
              </a:r>
              <a:endParaRPr kumimoji="1" lang="en-US" altLang="zh-CN" sz="1200" b="1" dirty="0">
                <a:solidFill>
                  <a:srgbClr val="0000CC"/>
                </a:solidFill>
                <a:latin typeface="微软雅黑" pitchFamily="34" charset="-122"/>
                <a:ea typeface="微软雅黑" pitchFamily="34" charset="-122"/>
              </a:endParaRPr>
            </a:p>
          </p:txBody>
        </p:sp>
        <p:sp>
          <p:nvSpPr>
            <p:cNvPr id="105" name="Text Box 146"/>
            <p:cNvSpPr txBox="1">
              <a:spLocks noChangeArrowheads="1"/>
            </p:cNvSpPr>
            <p:nvPr/>
          </p:nvSpPr>
          <p:spPr bwMode="auto">
            <a:xfrm>
              <a:off x="4025618" y="217348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a:t>
              </a:r>
            </a:p>
          </p:txBody>
        </p:sp>
        <p:sp>
          <p:nvSpPr>
            <p:cNvPr id="106" name="Text Box 147"/>
            <p:cNvSpPr txBox="1">
              <a:spLocks noChangeArrowheads="1"/>
            </p:cNvSpPr>
            <p:nvPr/>
          </p:nvSpPr>
          <p:spPr bwMode="auto">
            <a:xfrm>
              <a:off x="4765773" y="2177567"/>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1</a:t>
              </a:r>
            </a:p>
          </p:txBody>
        </p:sp>
        <p:pic>
          <p:nvPicPr>
            <p:cNvPr id="107" name="Picture 1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76217" y="2076579"/>
              <a:ext cx="500606"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1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5466" y="2080659"/>
              <a:ext cx="499501"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93" name="Text Box 155"/>
          <p:cNvSpPr txBox="1">
            <a:spLocks noChangeArrowheads="1"/>
          </p:cNvSpPr>
          <p:nvPr/>
        </p:nvSpPr>
        <p:spPr bwMode="auto">
          <a:xfrm>
            <a:off x="1342352" y="739971"/>
            <a:ext cx="6557464" cy="1311128"/>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为了压缩转发表的大小，</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转发表中最主要的路由是（目的网络地址，下一跳地址） ，</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而不是（目的地址，下一跳地址）。</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rgbClr val="FFFF00"/>
                </a:solidFill>
                <a:latin typeface="微软雅黑" pitchFamily="34" charset="-122"/>
                <a:ea typeface="微软雅黑" pitchFamily="34" charset="-122"/>
              </a:rPr>
              <a:t>查找转发表的过程就是逐行寻找前缀匹配。</a:t>
            </a:r>
          </a:p>
        </p:txBody>
      </p:sp>
    </p:spTree>
    <p:extLst>
      <p:ext uri="{BB962C8B-B14F-4D97-AF65-F5344CB8AC3E}">
        <p14:creationId xmlns:p14="http://schemas.microsoft.com/office/powerpoint/2010/main" val="10293895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9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3" grpId="0"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椭圆 3"/>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8" name="Group 125"/>
          <p:cNvGraphicFramePr>
            <a:graphicFrameLocks noGrp="1"/>
          </p:cNvGraphicFramePr>
          <p:nvPr>
            <p:extLst>
              <p:ext uri="{D42A27DB-BD31-4B8C-83A1-F6EECF244321}">
                <p14:modId xmlns:p14="http://schemas.microsoft.com/office/powerpoint/2010/main" val="255871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 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grpSp>
        <p:nvGrpSpPr>
          <p:cNvPr id="5" name="组合 62"/>
          <p:cNvGrpSpPr/>
          <p:nvPr/>
        </p:nvGrpSpPr>
        <p:grpSpPr>
          <a:xfrm>
            <a:off x="354487" y="816458"/>
            <a:ext cx="7304424" cy="3440748"/>
            <a:chOff x="354487" y="816458"/>
            <a:chExt cx="7304424" cy="3440748"/>
          </a:xfrm>
        </p:grpSpPr>
        <p:grpSp>
          <p:nvGrpSpPr>
            <p:cNvPr id="24" name="组合 67"/>
            <p:cNvGrpSpPr/>
            <p:nvPr/>
          </p:nvGrpSpPr>
          <p:grpSpPr>
            <a:xfrm>
              <a:off x="354487" y="816458"/>
              <a:ext cx="7304424" cy="3440748"/>
              <a:chOff x="354487" y="816458"/>
              <a:chExt cx="7304424" cy="3440748"/>
            </a:xfrm>
          </p:grpSpPr>
          <p:sp>
            <p:nvSpPr>
              <p:cNvPr id="65" name="直角三角形 64"/>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椭圆 1"/>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3" name="椭圆 2"/>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6"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3"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15"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16" name="Text Box 10"/>
              <p:cNvSpPr txBox="1">
                <a:spLocks noChangeArrowheads="1"/>
              </p:cNvSpPr>
              <p:nvPr/>
            </p:nvSpPr>
            <p:spPr bwMode="auto">
              <a:xfrm>
                <a:off x="590769" y="1099476"/>
                <a:ext cx="1726756"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17"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2" name="Group 18"/>
              <p:cNvGrpSpPr>
                <a:grpSpLocks/>
              </p:cNvGrpSpPr>
              <p:nvPr/>
            </p:nvGrpSpPr>
            <p:grpSpPr bwMode="auto">
              <a:xfrm>
                <a:off x="3943605" y="2125684"/>
                <a:ext cx="531842" cy="303367"/>
                <a:chOff x="864" y="1824"/>
                <a:chExt cx="432" cy="288"/>
              </a:xfrm>
            </p:grpSpPr>
            <p:pic>
              <p:nvPicPr>
                <p:cNvPr id="25"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27"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29"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0"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31"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0" name="Group 28"/>
              <p:cNvGrpSpPr>
                <a:grpSpLocks/>
              </p:cNvGrpSpPr>
              <p:nvPr/>
            </p:nvGrpSpPr>
            <p:grpSpPr bwMode="auto">
              <a:xfrm>
                <a:off x="3032567" y="3427224"/>
                <a:ext cx="531841" cy="303366"/>
                <a:chOff x="864" y="1824"/>
                <a:chExt cx="432" cy="288"/>
              </a:xfrm>
            </p:grpSpPr>
            <p:pic>
              <p:nvPicPr>
                <p:cNvPr id="33"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4"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5"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36"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7"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39"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40"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1"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2"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3"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4"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5"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46"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47"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8"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5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5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7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61" name="组合 68"/>
          <p:cNvGrpSpPr/>
          <p:nvPr/>
        </p:nvGrpSpPr>
        <p:grpSpPr>
          <a:xfrm>
            <a:off x="1172946" y="1165057"/>
            <a:ext cx="6897628" cy="3551016"/>
            <a:chOff x="1172946" y="1165057"/>
            <a:chExt cx="6897628" cy="3551016"/>
          </a:xfrm>
        </p:grpSpPr>
        <p:sp>
          <p:nvSpPr>
            <p:cNvPr id="67" name="矩形 66"/>
            <p:cNvSpPr/>
            <p:nvPr/>
          </p:nvSpPr>
          <p:spPr>
            <a:xfrm>
              <a:off x="1172946" y="4346741"/>
              <a:ext cx="6897628"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主机 </a:t>
              </a:r>
              <a:r>
                <a:rPr lang="en-US" altLang="zh-CN" b="1" dirty="0">
                  <a:solidFill>
                    <a:srgbClr val="C00000"/>
                  </a:solidFill>
                  <a:latin typeface="微软雅黑" panose="020B0503020204020204" pitchFamily="34" charset="-122"/>
                  <a:ea typeface="微软雅黑" panose="020B0503020204020204" pitchFamily="34" charset="-122"/>
                </a:rPr>
                <a:t>H</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发送出的、目的地址是 </a:t>
              </a:r>
              <a:r>
                <a:rPr lang="en-US" altLang="zh-CN" b="1" dirty="0">
                  <a:solidFill>
                    <a:srgbClr val="C00000"/>
                  </a:solidFill>
                  <a:latin typeface="微软雅黑" panose="020B0503020204020204" pitchFamily="34" charset="-122"/>
                  <a:ea typeface="微软雅黑" panose="020B0503020204020204" pitchFamily="34" charset="-122"/>
                </a:rPr>
                <a:t>128.1.2.132 </a:t>
              </a:r>
              <a:r>
                <a:rPr lang="zh-CN" altLang="en-US" b="1" dirty="0">
                  <a:solidFill>
                    <a:srgbClr val="C00000"/>
                  </a:solidFill>
                  <a:latin typeface="微软雅黑" panose="020B0503020204020204" pitchFamily="34" charset="-122"/>
                  <a:ea typeface="微软雅黑" panose="020B0503020204020204" pitchFamily="34" charset="-122"/>
                </a:rPr>
                <a:t>的分组是如何转发的？</a:t>
              </a:r>
            </a:p>
          </p:txBody>
        </p:sp>
        <p:sp>
          <p:nvSpPr>
            <p:cNvPr id="49" name="Line 126"/>
            <p:cNvSpPr>
              <a:spLocks noChangeShapeType="1"/>
            </p:cNvSpPr>
            <p:nvPr/>
          </p:nvSpPr>
          <p:spPr bwMode="auto">
            <a:xfrm>
              <a:off x="3730473" y="1165057"/>
              <a:ext cx="1829419" cy="1971537"/>
            </a:xfrm>
            <a:prstGeom prst="line">
              <a:avLst/>
            </a:prstGeom>
            <a:noFill/>
            <a:ln w="57150" cap="rnd">
              <a:solidFill>
                <a:srgbClr val="C00000">
                  <a:alpha val="96000"/>
                </a:srgbClr>
              </a:solidFill>
              <a:prstDash val="sysDot"/>
              <a:round/>
              <a:headEnd/>
              <a:tailEnd type="triangle" w="med" len="me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33979919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1064302" y="1093145"/>
            <a:ext cx="7150307" cy="3059130"/>
          </a:xfrm>
          <a:prstGeom prst="rect">
            <a:avLst/>
          </a:prstGeom>
          <a:solidFill>
            <a:srgbClr val="C3E3F9"/>
          </a:solidFill>
          <a:ln w="2857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Text Box 64"/>
          <p:cNvSpPr txBox="1">
            <a:spLocks noChangeArrowheads="1"/>
          </p:cNvSpPr>
          <p:nvPr/>
        </p:nvSpPr>
        <p:spPr bwMode="auto">
          <a:xfrm>
            <a:off x="2159286" y="1283392"/>
            <a:ext cx="4753224"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lvl="0">
              <a:lnSpc>
                <a:spcPts val="2600"/>
              </a:lnSpc>
              <a:defRPr/>
            </a:pPr>
            <a:r>
              <a:rPr lang="en-US" altLang="zh-CN" b="1" kern="0" dirty="0">
                <a:latin typeface="微软雅黑" pitchFamily="34" charset="-122"/>
                <a:ea typeface="微软雅黑" pitchFamily="34" charset="-122"/>
              </a:rPr>
              <a:t>N</a:t>
            </a:r>
            <a:r>
              <a:rPr lang="en-US" altLang="zh-CN" b="1" kern="0" baseline="-25000" dirty="0">
                <a:latin typeface="微软雅黑" pitchFamily="34" charset="-122"/>
                <a:ea typeface="微软雅黑" pitchFamily="34" charset="-122"/>
              </a:rPr>
              <a:t>1</a:t>
            </a:r>
            <a:r>
              <a:rPr lang="en-US" altLang="zh-CN" b="1" kern="0" dirty="0">
                <a:latin typeface="微软雅黑" pitchFamily="34" charset="-122"/>
                <a:ea typeface="微软雅黑" pitchFamily="34" charset="-122"/>
              </a:rPr>
              <a:t> </a:t>
            </a:r>
            <a:r>
              <a:rPr lang="zh-CN" altLang="en-US" b="1" kern="0" dirty="0">
                <a:latin typeface="微软雅黑" pitchFamily="34" charset="-122"/>
                <a:ea typeface="微软雅黑" pitchFamily="34" charset="-122"/>
              </a:rPr>
              <a:t>的网络地址为 </a:t>
            </a:r>
            <a:r>
              <a:rPr lang="en-US" altLang="zh-CN" b="1" kern="0" dirty="0">
                <a:solidFill>
                  <a:srgbClr val="C00000"/>
                </a:solidFill>
                <a:latin typeface="微软雅黑" pitchFamily="34" charset="-122"/>
                <a:ea typeface="微软雅黑" pitchFamily="34" charset="-122"/>
              </a:rPr>
              <a:t>128.1.2.192</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lvl="0">
              <a:lnSpc>
                <a:spcPts val="2600"/>
              </a:lnSpc>
              <a:defRPr/>
            </a:pPr>
            <a:r>
              <a:rPr kumimoji="0" lang="en-US" altLang="zh-CN" b="1" i="0" u="none" strike="noStrike" kern="0" cap="none" spc="0" normalizeH="0" baseline="0" noProof="0" dirty="0">
                <a:ln>
                  <a:noFill/>
                </a:ln>
                <a:effectLst/>
                <a:uLnTx/>
                <a:uFillTx/>
                <a:latin typeface="微软雅黑" pitchFamily="34" charset="-122"/>
                <a:ea typeface="微软雅黑" pitchFamily="34" charset="-122"/>
              </a:rPr>
              <a:t>N</a:t>
            </a:r>
            <a:r>
              <a:rPr kumimoji="0" lang="en-US" altLang="zh-CN" b="1" i="0" u="none" strike="noStrike" kern="0" cap="none" spc="0" normalizeH="0" baseline="-25000" noProof="0" dirty="0">
                <a:ln>
                  <a:noFill/>
                </a:ln>
                <a:effectLst/>
                <a:uLnTx/>
                <a:uFillTx/>
                <a:latin typeface="微软雅黑" pitchFamily="34" charset="-122"/>
                <a:ea typeface="微软雅黑" pitchFamily="34" charset="-122"/>
              </a:rPr>
              <a:t>1</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b="1" i="0" u="none" strike="noStrike" kern="0" cap="none" spc="0" normalizeH="0" baseline="0" noProof="0" dirty="0">
                <a:ln>
                  <a:noFill/>
                </a:ln>
                <a:effectLst/>
                <a:uLnTx/>
                <a:uFillTx/>
                <a:latin typeface="微软雅黑" pitchFamily="34" charset="-122"/>
                <a:ea typeface="微软雅黑" pitchFamily="34" charset="-122"/>
              </a:rPr>
              <a:t>的网络掩码为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/26 </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255.255.255.192 </a:t>
            </a:r>
            <a:endParaRPr kumimoji="0" lang="zh-CN" altLang="en-US" b="1" i="0" u="none" strike="noStrike" kern="0" cap="none" spc="0" normalizeH="0" baseline="0" noProof="0" dirty="0">
              <a:ln>
                <a:noFill/>
              </a:ln>
              <a:effectLst/>
              <a:uLnTx/>
              <a:uFillTx/>
              <a:latin typeface="微软雅黑" pitchFamily="34" charset="-122"/>
              <a:ea typeface="微软雅黑" pitchFamily="34" charset="-122"/>
            </a:endParaRPr>
          </a:p>
        </p:txBody>
      </p:sp>
      <p:grpSp>
        <p:nvGrpSpPr>
          <p:cNvPr id="5" name="组合 4"/>
          <p:cNvGrpSpPr/>
          <p:nvPr/>
        </p:nvGrpSpPr>
        <p:grpSpPr>
          <a:xfrm>
            <a:off x="3613546" y="2110175"/>
            <a:ext cx="2228581" cy="1200006"/>
            <a:chOff x="3613546" y="2110175"/>
            <a:chExt cx="2228581" cy="1200006"/>
          </a:xfrm>
        </p:grpSpPr>
        <p:sp>
          <p:nvSpPr>
            <p:cNvPr id="10" name="Text Box 72"/>
            <p:cNvSpPr txBox="1">
              <a:spLocks noChangeArrowheads="1"/>
            </p:cNvSpPr>
            <p:nvPr/>
          </p:nvSpPr>
          <p:spPr bwMode="auto">
            <a:xfrm>
              <a:off x="3628136" y="2110175"/>
              <a:ext cx="2093843"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ts val="2600"/>
                </a:lnSpc>
                <a:defRPr/>
              </a:pPr>
              <a:r>
                <a:rPr lang="en-US" altLang="zh-CN" b="1" kern="0" dirty="0">
                  <a:solidFill>
                    <a:srgbClr val="CC0099"/>
                  </a:solidFill>
                  <a:latin typeface="微软雅黑" pitchFamily="34" charset="-122"/>
                  <a:ea typeface="微软雅黑" pitchFamily="34" charset="-122"/>
                </a:rPr>
                <a:t>128.  1  .  </a:t>
              </a:r>
              <a:r>
                <a:rPr lang="en-US" altLang="zh-CN" sz="500" b="1" kern="0" dirty="0">
                  <a:solidFill>
                    <a:srgbClr val="CC0099"/>
                  </a:solidFill>
                  <a:latin typeface="微软雅黑" pitchFamily="34" charset="-122"/>
                  <a:ea typeface="微软雅黑" pitchFamily="34" charset="-122"/>
                </a:rPr>
                <a:t> </a:t>
              </a:r>
              <a:r>
                <a:rPr lang="en-US" altLang="zh-CN" b="1" kern="0" dirty="0">
                  <a:solidFill>
                    <a:srgbClr val="CC0099"/>
                  </a:solidFill>
                  <a:latin typeface="微软雅黑" pitchFamily="34" charset="-122"/>
                  <a:ea typeface="微软雅黑" pitchFamily="34" charset="-122"/>
                </a:rPr>
                <a:t>2  .132</a:t>
              </a:r>
            </a:p>
            <a:p>
              <a:pPr marL="0" marR="0" lvl="0" indent="0" defTabSz="914400" eaLnBrk="1" fontAlgn="auto" latinLnBrk="0" hangingPunct="1">
                <a:lnSpc>
                  <a:spcPts val="26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255.255.255.192</a:t>
              </a:r>
            </a:p>
          </p:txBody>
        </p:sp>
        <p:sp>
          <p:nvSpPr>
            <p:cNvPr id="11" name="Text Box 73"/>
            <p:cNvSpPr txBox="1">
              <a:spLocks noChangeArrowheads="1"/>
            </p:cNvSpPr>
            <p:nvPr/>
          </p:nvSpPr>
          <p:spPr bwMode="auto">
            <a:xfrm>
              <a:off x="3628136" y="2940878"/>
              <a:ext cx="2101832" cy="3693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128.  1  .  </a:t>
              </a:r>
              <a:r>
                <a:rPr kumimoji="0" lang="en-US" altLang="zh-CN" sz="7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 </a:t>
              </a: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2  .128</a:t>
              </a:r>
            </a:p>
          </p:txBody>
        </p:sp>
        <p:sp>
          <p:nvSpPr>
            <p:cNvPr id="12" name="Line 74"/>
            <p:cNvSpPr>
              <a:spLocks noChangeShapeType="1"/>
            </p:cNvSpPr>
            <p:nvPr/>
          </p:nvSpPr>
          <p:spPr bwMode="auto">
            <a:xfrm>
              <a:off x="3613546" y="2873401"/>
              <a:ext cx="2228581"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13" name="Text Box 75"/>
          <p:cNvSpPr txBox="1">
            <a:spLocks noChangeArrowheads="1"/>
          </p:cNvSpPr>
          <p:nvPr/>
        </p:nvSpPr>
        <p:spPr bwMode="auto">
          <a:xfrm>
            <a:off x="1319312" y="2154856"/>
            <a:ext cx="2294234" cy="7076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目的地址与网络掩码</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逐比特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AND</a:t>
            </a:r>
            <a:endPar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p:txBody>
      </p:sp>
      <p:sp>
        <p:nvSpPr>
          <p:cNvPr id="16" name="Text Box 78"/>
          <p:cNvSpPr txBox="1">
            <a:spLocks noChangeArrowheads="1"/>
          </p:cNvSpPr>
          <p:nvPr/>
        </p:nvSpPr>
        <p:spPr bwMode="auto">
          <a:xfrm>
            <a:off x="5840992" y="2849167"/>
            <a:ext cx="204254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2400"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H</a:t>
            </a:r>
            <a:r>
              <a:rPr kumimoji="0" lang="en-US" altLang="zh-CN" b="1" i="0" u="none" strike="noStrike" kern="0" cap="none" spc="0" normalizeH="0" baseline="-25000" noProof="0" dirty="0">
                <a:ln>
                  <a:noFill/>
                </a:ln>
                <a:solidFill>
                  <a:srgbClr val="CC0099"/>
                </a:solidFill>
                <a:effectLst/>
                <a:uLnTx/>
                <a:uFillTx/>
                <a:latin typeface="微软雅黑" pitchFamily="34" charset="-122"/>
                <a:ea typeface="微软雅黑" pitchFamily="34" charset="-122"/>
                <a:sym typeface="Symbol" pitchFamily="18" charset="2"/>
              </a:rPr>
              <a:t>1</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zh-CN" altLang="en-US"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的网络地址</a:t>
            </a:r>
          </a:p>
        </p:txBody>
      </p:sp>
      <p:sp>
        <p:nvSpPr>
          <p:cNvPr id="19" name="矩形 18"/>
          <p:cNvSpPr/>
          <p:nvPr/>
        </p:nvSpPr>
        <p:spPr>
          <a:xfrm>
            <a:off x="1841928" y="3327462"/>
            <a:ext cx="5575852" cy="826637"/>
          </a:xfrm>
          <a:prstGeom prst="rect">
            <a:avLst/>
          </a:prstGeom>
        </p:spPr>
        <p:txBody>
          <a:bodyPr wrap="square">
            <a:spAutoFit/>
          </a:bodyPr>
          <a:lstStyle/>
          <a:p>
            <a:pPr algn="ctr">
              <a:lnSpc>
                <a:spcPts val="3000"/>
              </a:lnSpc>
            </a:pPr>
            <a:r>
              <a:rPr lang="en-US" altLang="zh-CN" sz="2000" b="1" dirty="0">
                <a:latin typeface="微软雅黑" panose="020B0503020204020204" pitchFamily="34" charset="-122"/>
                <a:ea typeface="微软雅黑" panose="020B0503020204020204" pitchFamily="34" charset="-122"/>
              </a:rPr>
              <a:t>128.1.2.132 </a:t>
            </a:r>
            <a:r>
              <a:rPr lang="zh-CN" altLang="en-US" sz="2000" b="1" dirty="0">
                <a:latin typeface="微软雅黑" panose="020B0503020204020204" pitchFamily="34" charset="-122"/>
                <a:ea typeface="微软雅黑" panose="020B0503020204020204" pitchFamily="34" charset="-122"/>
              </a:rPr>
              <a:t>不在本地网络上。</a:t>
            </a:r>
            <a:endParaRPr lang="en-US" altLang="zh-CN" sz="2000" b="1" dirty="0">
              <a:latin typeface="微软雅黑" panose="020B0503020204020204" pitchFamily="34" charset="-122"/>
              <a:ea typeface="微软雅黑" panose="020B0503020204020204" pitchFamily="34" charset="-122"/>
            </a:endParaRPr>
          </a:p>
          <a:p>
            <a:pPr algn="ctr">
              <a:lnSpc>
                <a:spcPts val="3000"/>
              </a:lnSpc>
            </a:pPr>
            <a:r>
              <a:rPr lang="zh-CN" altLang="en-US" sz="2000" b="1" dirty="0">
                <a:latin typeface="微软雅黑" panose="020B0503020204020204" pitchFamily="34" charset="-122"/>
                <a:ea typeface="微软雅黑" panose="020B0503020204020204" pitchFamily="34" charset="-122"/>
              </a:rPr>
              <a:t>源主机 </a:t>
            </a:r>
            <a:r>
              <a:rPr lang="en-US" altLang="zh-CN" sz="2000" b="1" dirty="0">
                <a:latin typeface="微软雅黑" panose="020B0503020204020204" pitchFamily="34" charset="-122"/>
                <a:ea typeface="微软雅黑" panose="020B0503020204020204" pitchFamily="34" charset="-122"/>
              </a:rPr>
              <a:t>H</a:t>
            </a:r>
            <a:r>
              <a:rPr lang="en-US" altLang="zh-CN" sz="2000" b="1" baseline="-25000" dirty="0">
                <a:latin typeface="微软雅黑" panose="020B0503020204020204" pitchFamily="34" charset="-122"/>
                <a:ea typeface="微软雅黑" panose="020B0503020204020204" pitchFamily="34" charset="-122"/>
              </a:rPr>
              <a:t>1</a:t>
            </a:r>
            <a:r>
              <a:rPr lang="en-US" altLang="zh-CN" sz="2000" b="1" dirty="0">
                <a:latin typeface="微软雅黑" panose="020B0503020204020204" pitchFamily="34" charset="-122"/>
                <a:ea typeface="微软雅黑" panose="020B0503020204020204" pitchFamily="34" charset="-122"/>
              </a:rPr>
              <a:t> </a:t>
            </a:r>
            <a:r>
              <a:rPr lang="zh-CN" altLang="en-US" sz="2000" b="1" dirty="0">
                <a:latin typeface="微软雅黑" panose="020B0503020204020204" pitchFamily="34" charset="-122"/>
                <a:ea typeface="微软雅黑" panose="020B0503020204020204" pitchFamily="34" charset="-122"/>
              </a:rPr>
              <a:t>必须把分组发送给路由器 </a:t>
            </a:r>
            <a:r>
              <a:rPr lang="en-US" altLang="zh-CN" sz="2000" b="1" dirty="0">
                <a:latin typeface="微软雅黑" panose="020B0503020204020204" pitchFamily="34" charset="-122"/>
                <a:ea typeface="微软雅黑" panose="020B0503020204020204" pitchFamily="34" charset="-122"/>
              </a:rPr>
              <a:t>R</a:t>
            </a:r>
            <a:r>
              <a:rPr lang="en-US" altLang="zh-CN" sz="2000" b="1" baseline="-25000" dirty="0">
                <a:latin typeface="微软雅黑" panose="020B0503020204020204" pitchFamily="34" charset="-122"/>
                <a:ea typeface="微软雅黑" panose="020B0503020204020204" pitchFamily="34" charset="-122"/>
              </a:rPr>
              <a:t>1</a:t>
            </a:r>
            <a:r>
              <a:rPr lang="zh-CN" altLang="en-US" sz="2000" b="1" dirty="0">
                <a:latin typeface="微软雅黑" panose="020B0503020204020204" pitchFamily="34" charset="-122"/>
                <a:ea typeface="微软雅黑" panose="020B0503020204020204" pitchFamily="34" charset="-122"/>
              </a:rPr>
              <a:t>。</a:t>
            </a:r>
          </a:p>
        </p:txBody>
      </p:sp>
      <p:sp>
        <p:nvSpPr>
          <p:cNvPr id="2" name="Text Box 155"/>
          <p:cNvSpPr txBox="1">
            <a:spLocks noChangeArrowheads="1"/>
          </p:cNvSpPr>
          <p:nvPr/>
        </p:nvSpPr>
        <p:spPr bwMode="auto">
          <a:xfrm>
            <a:off x="1333007" y="610084"/>
            <a:ext cx="6593695"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 </a:t>
            </a:r>
            <a:r>
              <a:rPr lang="en-US" altLang="zh-CN" sz="1600" b="1" dirty="0">
                <a:solidFill>
                  <a:schemeClr val="bg1"/>
                </a:solidFill>
                <a:latin typeface="微软雅黑" pitchFamily="34" charset="-122"/>
                <a:ea typeface="微软雅黑" pitchFamily="34" charset="-122"/>
              </a:rPr>
              <a:t>H</a:t>
            </a:r>
            <a:r>
              <a:rPr lang="en-US" altLang="zh-CN" sz="1600" b="1" baseline="-25000" dirty="0">
                <a:solidFill>
                  <a:schemeClr val="bg1"/>
                </a:solidFill>
                <a:latin typeface="微软雅黑" pitchFamily="34" charset="-122"/>
                <a:ea typeface="微软雅黑" pitchFamily="34" charset="-122"/>
              </a:rPr>
              <a:t>1</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首先检查 </a:t>
            </a:r>
            <a:r>
              <a:rPr lang="en-US" altLang="zh-CN" sz="1600" b="1" dirty="0">
                <a:solidFill>
                  <a:srgbClr val="FFFF00"/>
                </a:solidFill>
                <a:latin typeface="微软雅黑" pitchFamily="34" charset="-122"/>
                <a:ea typeface="微软雅黑" pitchFamily="34" charset="-122"/>
              </a:rPr>
              <a:t>128.1.2.132</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是否连接在本网络上。</a:t>
            </a:r>
          </a:p>
          <a:p>
            <a:pPr algn="ctr">
              <a:lnSpc>
                <a:spcPct val="110000"/>
              </a:lnSpc>
            </a:pPr>
            <a:r>
              <a:rPr lang="zh-CN" altLang="en-US" sz="1600" b="1" dirty="0">
                <a:solidFill>
                  <a:schemeClr val="bg1"/>
                </a:solidFill>
                <a:latin typeface="微软雅黑" pitchFamily="34" charset="-122"/>
                <a:ea typeface="微软雅黑" pitchFamily="34" charset="-122"/>
              </a:rPr>
              <a:t>如果是，则直接交付；否则，就送交路由器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13353151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1"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16"/>
                                        </p:tgtEl>
                                        <p:attrNameLst>
                                          <p:attrName>style.visibility</p:attrName>
                                        </p:attrNameLst>
                                      </p:cBhvr>
                                      <p:to>
                                        <p:strVal val="visible"/>
                                      </p:to>
                                    </p:set>
                                  </p:childTnLst>
                                </p:cTn>
                              </p:par>
                            </p:childTnLst>
                          </p:cTn>
                        </p:par>
                        <p:par>
                          <p:cTn id="16" fill="hold">
                            <p:stCondLst>
                              <p:cond delay="0"/>
                            </p:stCondLst>
                            <p:childTnLst>
                              <p:par>
                                <p:cTn id="17" presetID="35" presetClass="emph" presetSubtype="0" repeatCount="3000" fill="hold" grpId="1" nodeType="afterEffect">
                                  <p:stCondLst>
                                    <p:cond delay="0"/>
                                  </p:stCondLst>
                                  <p:childTnLst>
                                    <p:anim calcmode="discrete" valueType="str">
                                      <p:cBhvr>
                                        <p:cTn id="18" dur="1000" fill="hold"/>
                                        <p:tgtEl>
                                          <p:spTgt spid="16"/>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p:bldP spid="16" grpId="1"/>
      <p:bldP spid="19"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87931669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128.1.2.128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4" name="组合 3"/>
          <p:cNvGrpSpPr/>
          <p:nvPr/>
        </p:nvGrpSpPr>
        <p:grpSpPr>
          <a:xfrm>
            <a:off x="354487" y="816458"/>
            <a:ext cx="7304424" cy="3440748"/>
            <a:chOff x="354487" y="816458"/>
            <a:chExt cx="7304424" cy="3440748"/>
          </a:xfrm>
        </p:grpSpPr>
        <p:grpSp>
          <p:nvGrpSpPr>
            <p:cNvPr id="5"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6"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7"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2" name="任意多边形 1"/>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Tree>
    <p:extLst>
      <p:ext uri="{BB962C8B-B14F-4D97-AF65-F5344CB8AC3E}">
        <p14:creationId xmlns:p14="http://schemas.microsoft.com/office/powerpoint/2010/main" val="596017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128" grpId="0" animBg="1"/>
      <p:bldP spid="128" grpId="1" animBg="1"/>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1705004336"/>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8" y="4333600"/>
            <a:ext cx="6865200"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16458"/>
            <a:ext cx="7304424" cy="3440748"/>
            <a:chOff x="354487" y="816458"/>
            <a:chExt cx="7304424" cy="3440748"/>
          </a:xfrm>
        </p:grpSpPr>
        <p:grpSp>
          <p:nvGrpSpPr>
            <p:cNvPr id="4"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130" name="任意多边形 129"/>
          <p:cNvSpPr/>
          <p:nvPr/>
        </p:nvSpPr>
        <p:spPr>
          <a:xfrm>
            <a:off x="4487288" y="2442641"/>
            <a:ext cx="1057969" cy="655366"/>
          </a:xfrm>
          <a:custGeom>
            <a:avLst/>
            <a:gdLst>
              <a:gd name="connsiteX0" fmla="*/ 2833 w 1057969"/>
              <a:gd name="connsiteY0" fmla="*/ 0 h 655366"/>
              <a:gd name="connsiteX1" fmla="*/ 17823 w 1057969"/>
              <a:gd name="connsiteY1" fmla="*/ 164892 h 655366"/>
              <a:gd name="connsiteX2" fmla="*/ 137744 w 1057969"/>
              <a:gd name="connsiteY2" fmla="*/ 314793 h 655366"/>
              <a:gd name="connsiteX3" fmla="*/ 977194 w 1057969"/>
              <a:gd name="connsiteY3" fmla="*/ 629587 h 655366"/>
              <a:gd name="connsiteX4" fmla="*/ 977194 w 1057969"/>
              <a:gd name="connsiteY4" fmla="*/ 614597 h 6553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7969" h="655366">
                <a:moveTo>
                  <a:pt x="2833" y="0"/>
                </a:moveTo>
                <a:cubicBezTo>
                  <a:pt x="-915" y="56213"/>
                  <a:pt x="-4662" y="112427"/>
                  <a:pt x="17823" y="164892"/>
                </a:cubicBezTo>
                <a:cubicBezTo>
                  <a:pt x="40308" y="217358"/>
                  <a:pt x="-22151" y="237344"/>
                  <a:pt x="137744" y="314793"/>
                </a:cubicBezTo>
                <a:cubicBezTo>
                  <a:pt x="297639" y="392242"/>
                  <a:pt x="977194" y="629587"/>
                  <a:pt x="977194" y="629587"/>
                </a:cubicBezTo>
                <a:cubicBezTo>
                  <a:pt x="1117102" y="679554"/>
                  <a:pt x="1047148" y="647075"/>
                  <a:pt x="977194" y="614597"/>
                </a:cubicBez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9" name="任意多边形 128"/>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6" name="AutoShape 63"/>
          <p:cNvSpPr>
            <a:spLocks noChangeArrowheads="1"/>
          </p:cNvSpPr>
          <p:nvPr/>
        </p:nvSpPr>
        <p:spPr bwMode="auto">
          <a:xfrm>
            <a:off x="5047836" y="178310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8"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121" name="Text Box 155"/>
          <p:cNvSpPr txBox="1">
            <a:spLocks noChangeArrowheads="1"/>
          </p:cNvSpPr>
          <p:nvPr/>
        </p:nvSpPr>
        <p:spPr bwMode="auto">
          <a:xfrm>
            <a:off x="1196428" y="4680631"/>
            <a:ext cx="6865200" cy="375809"/>
          </a:xfrm>
          <a:prstGeom prst="rect">
            <a:avLst/>
          </a:prstGeom>
          <a:solidFill>
            <a:srgbClr val="0070C0"/>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进行分组的直接交付（通过路由器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的接口 </a:t>
            </a:r>
            <a:r>
              <a:rPr lang="en-US" altLang="zh-CN" b="1"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9725955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bg/>
                                          </p:spTgt>
                                        </p:tgtEl>
                                        <p:attrNameLst>
                                          <p:attrName>style.visibility</p:attrName>
                                        </p:attrNameLst>
                                      </p:cBhvr>
                                      <p:to>
                                        <p:strVal val="visible"/>
                                      </p:to>
                                    </p:set>
                                    <p:animEffect transition="in" filter="wipe(up)">
                                      <p:cBhvr>
                                        <p:cTn id="13" dur="1000"/>
                                        <p:tgtEl>
                                          <p:spTgt spid="51">
                                            <p:bg/>
                                          </p:spTgt>
                                        </p:tgtEl>
                                      </p:cBhvr>
                                    </p:animEffect>
                                  </p:childTnLst>
                                </p:cTn>
                              </p:par>
                            </p:childTnLst>
                          </p:cTn>
                        </p:par>
                        <p:par>
                          <p:cTn id="14" fill="hold">
                            <p:stCondLst>
                              <p:cond delay="4000"/>
                            </p:stCondLst>
                            <p:childTnLst>
                              <p:par>
                                <p:cTn id="15" presetID="22" presetClass="entr" presetSubtype="1" fill="hold" grpId="0" nodeType="afterEffect">
                                  <p:stCondLst>
                                    <p:cond delay="0"/>
                                  </p:stCondLst>
                                  <p:childTnLst>
                                    <p:set>
                                      <p:cBhvr>
                                        <p:cTn id="16" dur="1" fill="hold">
                                          <p:stCondLst>
                                            <p:cond delay="0"/>
                                          </p:stCondLst>
                                        </p:cTn>
                                        <p:tgtEl>
                                          <p:spTgt spid="51">
                                            <p:txEl>
                                              <p:pRg st="0" end="0"/>
                                            </p:txEl>
                                          </p:spTgt>
                                        </p:tgtEl>
                                        <p:attrNameLst>
                                          <p:attrName>style.visibility</p:attrName>
                                        </p:attrNameLst>
                                      </p:cBhvr>
                                      <p:to>
                                        <p:strVal val="visible"/>
                                      </p:to>
                                    </p:set>
                                    <p:animEffect transition="in" filter="wipe(up)">
                                      <p:cBhvr>
                                        <p:cTn id="17" dur="1000"/>
                                        <p:tgtEl>
                                          <p:spTgt spid="51">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grpId="0" nodeType="clickEffect">
                                  <p:stCondLst>
                                    <p:cond delay="0"/>
                                  </p:stCondLst>
                                  <p:childTnLst>
                                    <p:set>
                                      <p:cBhvr>
                                        <p:cTn id="21" dur="1" fill="hold">
                                          <p:stCondLst>
                                            <p:cond delay="0"/>
                                          </p:stCondLst>
                                        </p:cTn>
                                        <p:tgtEl>
                                          <p:spTgt spid="121">
                                            <p:bg/>
                                          </p:spTgt>
                                        </p:tgtEl>
                                        <p:attrNameLst>
                                          <p:attrName>style.visibility</p:attrName>
                                        </p:attrNameLst>
                                      </p:cBhvr>
                                      <p:to>
                                        <p:strVal val="visible"/>
                                      </p:to>
                                    </p:set>
                                    <p:animEffect transition="in" filter="wipe(up)">
                                      <p:cBhvr>
                                        <p:cTn id="22" dur="1000"/>
                                        <p:tgtEl>
                                          <p:spTgt spid="121">
                                            <p:bg/>
                                          </p:spTgt>
                                        </p:tgtEl>
                                      </p:cBhvr>
                                    </p:animEffect>
                                  </p:childTnLst>
                                </p:cTn>
                              </p:par>
                            </p:childTnLst>
                          </p:cTn>
                        </p:par>
                        <p:par>
                          <p:cTn id="23" fill="hold">
                            <p:stCondLst>
                              <p:cond delay="1000"/>
                            </p:stCondLst>
                            <p:childTnLst>
                              <p:par>
                                <p:cTn id="24" presetID="22" presetClass="entr" presetSubtype="1" fill="hold" grpId="0" nodeType="afterEffect">
                                  <p:stCondLst>
                                    <p:cond delay="0"/>
                                  </p:stCondLst>
                                  <p:childTnLst>
                                    <p:set>
                                      <p:cBhvr>
                                        <p:cTn id="25" dur="1" fill="hold">
                                          <p:stCondLst>
                                            <p:cond delay="0"/>
                                          </p:stCondLst>
                                        </p:cTn>
                                        <p:tgtEl>
                                          <p:spTgt spid="121">
                                            <p:txEl>
                                              <p:pRg st="0" end="0"/>
                                            </p:txEl>
                                          </p:spTgt>
                                        </p:tgtEl>
                                        <p:attrNameLst>
                                          <p:attrName>style.visibility</p:attrName>
                                        </p:attrNameLst>
                                      </p:cBhvr>
                                      <p:to>
                                        <p:strVal val="visible"/>
                                      </p:to>
                                    </p:set>
                                    <p:animEffect transition="in" filter="wipe(up)">
                                      <p:cBhvr>
                                        <p:cTn id="26" dur="1000"/>
                                        <p:tgtEl>
                                          <p:spTgt spid="121">
                                            <p:txEl>
                                              <p:pRg st="0" end="0"/>
                                            </p:txEl>
                                          </p:spTgt>
                                        </p:tgtEl>
                                      </p:cBhvr>
                                    </p:animEffect>
                                  </p:childTnLst>
                                </p:cTn>
                              </p:par>
                            </p:childTnLst>
                          </p:cTn>
                        </p:par>
                        <p:par>
                          <p:cTn id="27" fill="hold">
                            <p:stCondLst>
                              <p:cond delay="2000"/>
                            </p:stCondLst>
                            <p:childTnLst>
                              <p:par>
                                <p:cTn id="28" presetID="22" presetClass="entr" presetSubtype="8" fill="hold" grpId="0" nodeType="afterEffect">
                                  <p:stCondLst>
                                    <p:cond delay="0"/>
                                  </p:stCondLst>
                                  <p:childTnLst>
                                    <p:set>
                                      <p:cBhvr>
                                        <p:cTn id="29" dur="1" fill="hold">
                                          <p:stCondLst>
                                            <p:cond delay="0"/>
                                          </p:stCondLst>
                                        </p:cTn>
                                        <p:tgtEl>
                                          <p:spTgt spid="130"/>
                                        </p:tgtEl>
                                        <p:attrNameLst>
                                          <p:attrName>style.visibility</p:attrName>
                                        </p:attrNameLst>
                                      </p:cBhvr>
                                      <p:to>
                                        <p:strVal val="visible"/>
                                      </p:to>
                                    </p:set>
                                    <p:animEffect transition="in" filter="wipe(left)">
                                      <p:cBhvr>
                                        <p:cTn id="30" dur="20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animBg="1"/>
      <p:bldP spid="130" grpId="0" animBg="1"/>
      <p:bldP spid="66" grpId="0" animBg="1"/>
      <p:bldP spid="66" grpId="1" animBg="1"/>
      <p:bldP spid="121" grpId="0" build="p"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8"/>
          <p:cNvSpPr>
            <a:spLocks noChangeArrowheads="1"/>
          </p:cNvSpPr>
          <p:nvPr/>
        </p:nvSpPr>
        <p:spPr bwMode="auto">
          <a:xfrm>
            <a:off x="545143" y="1039691"/>
            <a:ext cx="8053711" cy="2208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使用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时，在查找转发表时可能会得到</a:t>
            </a:r>
            <a:r>
              <a:rPr lang="zh-CN" altLang="en-US" sz="2000" b="1" dirty="0">
                <a:solidFill>
                  <a:srgbClr val="C00000"/>
                </a:solidFill>
                <a:latin typeface="微软雅黑" pitchFamily="34" charset="-122"/>
                <a:ea typeface="微软雅黑" pitchFamily="34" charset="-122"/>
              </a:rPr>
              <a:t>不止一个匹配结果。 </a:t>
            </a:r>
          </a:p>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最长前缀匹配 </a:t>
            </a:r>
            <a:r>
              <a:rPr lang="en-US" altLang="zh-CN" sz="2000" b="1" dirty="0">
                <a:latin typeface="微软雅黑" pitchFamily="34" charset="-122"/>
                <a:ea typeface="微软雅黑" pitchFamily="34" charset="-122"/>
              </a:rPr>
              <a:t>(longest-prefix matching) </a:t>
            </a:r>
            <a:r>
              <a:rPr lang="zh-CN" altLang="en-US" sz="2000" b="1" dirty="0">
                <a:solidFill>
                  <a:srgbClr val="C00000"/>
                </a:solidFill>
                <a:latin typeface="微软雅黑" pitchFamily="34" charset="-122"/>
                <a:ea typeface="微软雅黑" pitchFamily="34" charset="-122"/>
              </a:rPr>
              <a:t>原则：</a:t>
            </a:r>
            <a:r>
              <a:rPr lang="zh-CN" altLang="en-US" sz="2000" b="1" dirty="0">
                <a:latin typeface="微软雅黑" pitchFamily="34" charset="-122"/>
                <a:ea typeface="微软雅黑" pitchFamily="34" charset="-122"/>
              </a:rPr>
              <a:t>选择前缀最长的一个作为匹配的前缀。</a:t>
            </a: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网络前缀越长，其地址块就越小，因而路由就越具体。</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可以把前缀最长的排在转发表的第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行。</a:t>
            </a:r>
            <a:endParaRPr lang="en-US" altLang="zh-CN" sz="2000" b="1" dirty="0">
              <a:latin typeface="微软雅黑" pitchFamily="34" charset="-122"/>
              <a:ea typeface="微软雅黑" pitchFamily="34" charset="-122"/>
            </a:endParaRPr>
          </a:p>
        </p:txBody>
      </p:sp>
      <p:sp>
        <p:nvSpPr>
          <p:cNvPr id="8"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9"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spTree>
    <p:extLst>
      <p:ext uri="{BB962C8B-B14F-4D97-AF65-F5344CB8AC3E}">
        <p14:creationId xmlns:p14="http://schemas.microsoft.com/office/powerpoint/2010/main" val="10223777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椭圆 10"/>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12" name="Group 125"/>
          <p:cNvGraphicFramePr>
            <a:graphicFrameLocks noGrp="1"/>
          </p:cNvGraphicFramePr>
          <p:nvPr>
            <p:extLst>
              <p:ext uri="{D42A27DB-BD31-4B8C-83A1-F6EECF244321}">
                <p14:modId xmlns:p14="http://schemas.microsoft.com/office/powerpoint/2010/main" val="12841387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73" name="矩形 72"/>
          <p:cNvSpPr/>
          <p:nvPr/>
        </p:nvSpPr>
        <p:spPr>
          <a:xfrm>
            <a:off x="1172946" y="4361731"/>
            <a:ext cx="6718453"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路由器 </a:t>
            </a:r>
            <a:r>
              <a:rPr lang="en-US" altLang="zh-CN" b="1" dirty="0">
                <a:solidFill>
                  <a:srgbClr val="C00000"/>
                </a:solidFill>
                <a:latin typeface="微软雅黑" panose="020B0503020204020204" pitchFamily="34" charset="-122"/>
                <a:ea typeface="微软雅黑" panose="020B0503020204020204" pitchFamily="34" charset="-122"/>
              </a:rPr>
              <a:t>R</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如何转发目的地址是 </a:t>
            </a:r>
            <a:r>
              <a:rPr lang="en-US" altLang="zh-CN" b="1" dirty="0">
                <a:solidFill>
                  <a:srgbClr val="0000FF"/>
                </a:solidFill>
                <a:latin typeface="微软雅黑" panose="020B0503020204020204" pitchFamily="34" charset="-122"/>
                <a:ea typeface="微软雅黑" panose="020B0503020204020204" pitchFamily="34" charset="-122"/>
              </a:rPr>
              <a:t>128.1.2.196</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的分组？</a:t>
            </a:r>
          </a:p>
        </p:txBody>
      </p:sp>
      <p:grpSp>
        <p:nvGrpSpPr>
          <p:cNvPr id="2" name="组合 1"/>
          <p:cNvGrpSpPr/>
          <p:nvPr/>
        </p:nvGrpSpPr>
        <p:grpSpPr>
          <a:xfrm>
            <a:off x="354487" y="824458"/>
            <a:ext cx="7304424" cy="3432748"/>
            <a:chOff x="354487" y="824458"/>
            <a:chExt cx="7304424" cy="3432748"/>
          </a:xfrm>
        </p:grpSpPr>
        <p:grpSp>
          <p:nvGrpSpPr>
            <p:cNvPr id="3" name="组合 12"/>
            <p:cNvGrpSpPr/>
            <p:nvPr/>
          </p:nvGrpSpPr>
          <p:grpSpPr>
            <a:xfrm>
              <a:off x="354487" y="824458"/>
              <a:ext cx="7304424" cy="3432748"/>
              <a:chOff x="354487" y="824458"/>
              <a:chExt cx="7304424" cy="3432748"/>
            </a:xfrm>
          </p:grpSpPr>
          <p:sp>
            <p:nvSpPr>
              <p:cNvPr id="14" name="直角三角形 13"/>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6" name="椭圆 15"/>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7"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18"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9"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25"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26"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 name="Group 18"/>
              <p:cNvGrpSpPr>
                <a:grpSpLocks/>
              </p:cNvGrpSpPr>
              <p:nvPr/>
            </p:nvGrpSpPr>
            <p:grpSpPr bwMode="auto">
              <a:xfrm>
                <a:off x="3943605" y="2125684"/>
                <a:ext cx="531842" cy="303367"/>
                <a:chOff x="864" y="1824"/>
                <a:chExt cx="432" cy="288"/>
              </a:xfrm>
            </p:grpSpPr>
            <p:pic>
              <p:nvPicPr>
                <p:cNvPr id="70"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34"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36"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7"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38"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5" name="Group 28"/>
              <p:cNvGrpSpPr>
                <a:grpSpLocks/>
              </p:cNvGrpSpPr>
              <p:nvPr/>
            </p:nvGrpSpPr>
            <p:grpSpPr bwMode="auto">
              <a:xfrm>
                <a:off x="3032567" y="3427224"/>
                <a:ext cx="531841" cy="303366"/>
                <a:chOff x="864" y="1824"/>
                <a:chExt cx="432" cy="288"/>
              </a:xfrm>
            </p:grpSpPr>
            <p:pic>
              <p:nvPicPr>
                <p:cNvPr id="68"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9"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0"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41"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42"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4"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45"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6"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7"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8"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9"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51"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52"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53"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4"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8"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9"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0"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1"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62"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63"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67"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sp>
            <p:nvSpPr>
              <p:cNvPr id="66"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grpSp>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4"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5"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Tree>
    <p:extLst>
      <p:ext uri="{BB962C8B-B14F-4D97-AF65-F5344CB8AC3E}">
        <p14:creationId xmlns:p14="http://schemas.microsoft.com/office/powerpoint/2010/main" val="1387492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2862905405"/>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24458"/>
            <a:ext cx="7304424" cy="3432748"/>
            <a:chOff x="354487" y="824458"/>
            <a:chExt cx="7304424" cy="3432748"/>
          </a:xfrm>
        </p:grpSpPr>
        <p:grpSp>
          <p:nvGrpSpPr>
            <p:cNvPr id="4" name="组合 68"/>
            <p:cNvGrpSpPr/>
            <p:nvPr/>
          </p:nvGrpSpPr>
          <p:grpSpPr>
            <a:xfrm>
              <a:off x="354487" y="824458"/>
              <a:ext cx="7304424" cy="3432748"/>
              <a:chOff x="354487" y="824458"/>
              <a:chExt cx="7304424"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128.1.3.68</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44325"/>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122"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1315010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2"/>
                                        </p:tgtEl>
                                        <p:attrNameLst>
                                          <p:attrName>style.visibility</p:attrName>
                                        </p:attrNameLst>
                                      </p:cBhvr>
                                      <p:to>
                                        <p:strVal val="visible"/>
                                      </p:to>
                                    </p:set>
                                    <p:animEffect transition="in" filter="wipe(up)">
                                      <p:cBhvr>
                                        <p:cTn id="13"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8" grpId="0" animBg="1"/>
      <p:bldP spid="128" grpId="1" animBg="1"/>
      <p:bldP spid="122" grpId="0"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1624065583"/>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7"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66" name="AutoShape 63"/>
          <p:cNvSpPr>
            <a:spLocks noChangeArrowheads="1"/>
          </p:cNvSpPr>
          <p:nvPr/>
        </p:nvSpPr>
        <p:spPr bwMode="auto">
          <a:xfrm>
            <a:off x="5047835" y="1781707"/>
            <a:ext cx="547529" cy="143764"/>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69"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8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5"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121"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6163896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66" grpId="0" animBg="1"/>
      <p:bldP spid="66" grpId="1"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219544502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21688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66" name="AutoShape 63"/>
          <p:cNvSpPr>
            <a:spLocks noChangeArrowheads="1"/>
          </p:cNvSpPr>
          <p:nvPr/>
        </p:nvSpPr>
        <p:spPr bwMode="auto">
          <a:xfrm>
            <a:off x="5047836" y="200795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3 </a:t>
            </a:r>
            <a:r>
              <a:rPr lang="zh-CN" altLang="en-US" dirty="0"/>
              <a:t>行。 </a:t>
            </a:r>
          </a:p>
        </p:txBody>
      </p:sp>
      <p:sp>
        <p:nvSpPr>
          <p:cNvPr id="121" name="Text Box 155"/>
          <p:cNvSpPr txBox="1">
            <a:spLocks noChangeArrowheads="1"/>
          </p:cNvSpPr>
          <p:nvPr/>
        </p:nvSpPr>
        <p:spPr bwMode="auto">
          <a:xfrm>
            <a:off x="1196428"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95"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22"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Tree>
    <p:extLst>
      <p:ext uri="{BB962C8B-B14F-4D97-AF65-F5344CB8AC3E}">
        <p14:creationId xmlns:p14="http://schemas.microsoft.com/office/powerpoint/2010/main" val="31064001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1"/>
                                        </p:tgtEl>
                                        <p:attrNameLst>
                                          <p:attrName>style.visibility</p:attrName>
                                        </p:attrNameLst>
                                      </p:cBhvr>
                                      <p:to>
                                        <p:strVal val="visible"/>
                                      </p:to>
                                    </p:set>
                                    <p:animEffect transition="in" filter="wipe(up)">
                                      <p:cBhvr>
                                        <p:cTn id="13" dur="500"/>
                                        <p:tgtEl>
                                          <p:spTgt spid="1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66" grpId="1" animBg="1"/>
      <p:bldP spid="121"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1039691"/>
            <a:ext cx="8053711" cy="5155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en-US" altLang="zh-CN" sz="2000" b="1" dirty="0">
                <a:latin typeface="微软雅黑" pitchFamily="34" charset="-122"/>
                <a:ea typeface="微软雅黑" pitchFamily="34" charset="-122"/>
              </a:rPr>
              <a:t>R</a:t>
            </a:r>
            <a:r>
              <a:rPr lang="en-US" altLang="zh-CN" sz="2000" b="1" baseline="-25000" dirty="0">
                <a:latin typeface="微软雅黑" pitchFamily="34" charset="-122"/>
                <a:ea typeface="微软雅黑" pitchFamily="34" charset="-122"/>
              </a:rPr>
              <a:t>1</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从哪个接口向外转发分组？</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2177631" y="1710526"/>
            <a:ext cx="5247735" cy="1148300"/>
            <a:chOff x="1524000" y="1321631"/>
            <a:chExt cx="6096000" cy="1148300"/>
          </a:xfrm>
        </p:grpSpPr>
        <p:sp>
          <p:nvSpPr>
            <p:cNvPr id="7" name="任意多边形 6"/>
            <p:cNvSpPr/>
            <p:nvPr/>
          </p:nvSpPr>
          <p:spPr>
            <a:xfrm>
              <a:off x="1524000" y="1321631"/>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A.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0 </a:t>
              </a:r>
              <a:r>
                <a:rPr lang="zh-CN" altLang="en-US" b="1" dirty="0">
                  <a:solidFill>
                    <a:schemeClr val="tx1"/>
                  </a:solidFill>
                  <a:latin typeface="微软雅黑" panose="020B0503020204020204" pitchFamily="34" charset="-122"/>
                  <a:ea typeface="微软雅黑" panose="020B0503020204020204" pitchFamily="34" charset="-122"/>
                </a:rPr>
                <a:t>？</a:t>
              </a:r>
            </a:p>
          </p:txBody>
        </p:sp>
        <p:sp>
          <p:nvSpPr>
            <p:cNvPr id="8" name="任意多边形 7"/>
            <p:cNvSpPr/>
            <p:nvPr/>
          </p:nvSpPr>
          <p:spPr>
            <a:xfrm>
              <a:off x="1524000" y="2029985"/>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B.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1 </a:t>
              </a:r>
              <a:r>
                <a:rPr lang="zh-CN" altLang="en-US" b="1" dirty="0">
                  <a:solidFill>
                    <a:schemeClr val="tx1"/>
                  </a:solidFill>
                  <a:latin typeface="微软雅黑" panose="020B0503020204020204" pitchFamily="34" charset="-122"/>
                  <a:ea typeface="微软雅黑" panose="020B0503020204020204" pitchFamily="34" charset="-122"/>
                </a:rPr>
                <a:t>？</a:t>
              </a:r>
            </a:p>
          </p:txBody>
        </p:sp>
      </p:grpSp>
      <p:sp>
        <p:nvSpPr>
          <p:cNvPr id="9" name="任意多边形 8"/>
          <p:cNvSpPr/>
          <p:nvPr/>
        </p:nvSpPr>
        <p:spPr>
          <a:xfrm>
            <a:off x="3777832" y="1710526"/>
            <a:ext cx="3298830" cy="439946"/>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ctr" anchorCtr="0">
            <a:noAutofit/>
          </a:bodyPr>
          <a:lstStyle/>
          <a:p>
            <a:pPr marL="0" lvl="1" defTabSz="800100">
              <a:spcBef>
                <a:spcPct val="0"/>
              </a:spcBef>
              <a:spcAft>
                <a:spcPts val="600"/>
              </a:spcAft>
            </a:pPr>
            <a:r>
              <a:rPr lang="zh-CN" altLang="en-US" b="1" dirty="0">
                <a:solidFill>
                  <a:srgbClr val="0000CC"/>
                </a:solidFill>
                <a:latin typeface="微软雅黑" pitchFamily="34" charset="-122"/>
                <a:ea typeface="微软雅黑" pitchFamily="34" charset="-122"/>
              </a:rPr>
              <a:t>匹配的前缀最长 </a:t>
            </a:r>
            <a:endParaRPr lang="en-US" altLang="zh-CN" b="1" dirty="0">
              <a:solidFill>
                <a:srgbClr val="0000CC"/>
              </a:solidFill>
              <a:latin typeface="微软雅黑" panose="020B0503020204020204" pitchFamily="34" charset="-122"/>
              <a:ea typeface="微软雅黑" panose="020B0503020204020204" pitchFamily="34" charset="-122"/>
            </a:endParaRPr>
          </a:p>
        </p:txBody>
      </p:sp>
      <p:grpSp>
        <p:nvGrpSpPr>
          <p:cNvPr id="6" name="组合 9"/>
          <p:cNvGrpSpPr/>
          <p:nvPr/>
        </p:nvGrpSpPr>
        <p:grpSpPr>
          <a:xfrm>
            <a:off x="1698355" y="1727583"/>
            <a:ext cx="432614" cy="1131243"/>
            <a:chOff x="1044723" y="1338688"/>
            <a:chExt cx="432614" cy="1131243"/>
          </a:xfrm>
        </p:grpSpPr>
        <p:pic>
          <p:nvPicPr>
            <p:cNvPr id="11" name="图片 1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44723" y="1338688"/>
              <a:ext cx="405830" cy="405832"/>
            </a:xfrm>
            <a:prstGeom prst="rect">
              <a:avLst/>
            </a:prstGeom>
          </p:spPr>
        </p:pic>
        <p:pic>
          <p:nvPicPr>
            <p:cNvPr id="12" name="图片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44723" y="2029985"/>
              <a:ext cx="432614" cy="439946"/>
            </a:xfrm>
            <a:prstGeom prst="rect">
              <a:avLst/>
            </a:prstGeom>
          </p:spPr>
        </p:pic>
      </p:grpSp>
      <p:sp>
        <p:nvSpPr>
          <p:cNvPr id="10" name="矩形 9"/>
          <p:cNvSpPr/>
          <p:nvPr/>
        </p:nvSpPr>
        <p:spPr>
          <a:xfrm>
            <a:off x="1151066" y="3277849"/>
            <a:ext cx="6841863" cy="1052596"/>
          </a:xfrm>
          <a:prstGeom prst="rect">
            <a:avLst/>
          </a:prstGeom>
        </p:spPr>
        <p:txBody>
          <a:bodyPr wrap="square">
            <a:spAutoFit/>
          </a:bodyPr>
          <a:lstStyle/>
          <a:p>
            <a:pPr algn="ctr">
              <a:lnSpc>
                <a:spcPct val="130000"/>
              </a:lnSpc>
            </a:pPr>
            <a:r>
              <a:rPr lang="zh-CN" altLang="en-US" sz="2400" b="1" dirty="0">
                <a:solidFill>
                  <a:srgbClr val="CC0099"/>
                </a:solidFill>
                <a:latin typeface="微软雅黑" panose="020B0503020204020204" pitchFamily="34" charset="-122"/>
                <a:ea typeface="微软雅黑" panose="020B0503020204020204" pitchFamily="34" charset="-122"/>
              </a:rPr>
              <a:t>最长前缀匹配：</a:t>
            </a:r>
            <a:endParaRPr lang="en-US" altLang="zh-CN" sz="2400" b="1" dirty="0">
              <a:solidFill>
                <a:srgbClr val="CC0099"/>
              </a:solidFill>
              <a:latin typeface="微软雅黑" panose="020B0503020204020204" pitchFamily="34" charset="-122"/>
              <a:ea typeface="微软雅黑" panose="020B0503020204020204" pitchFamily="34" charset="-122"/>
            </a:endParaRPr>
          </a:p>
          <a:p>
            <a:pPr algn="ctr">
              <a:lnSpc>
                <a:spcPct val="130000"/>
              </a:lnSpc>
            </a:pPr>
            <a:r>
              <a:rPr lang="zh-CN" altLang="en-US" sz="2400" b="1" dirty="0">
                <a:latin typeface="微软雅黑" panose="020B0503020204020204" pitchFamily="34" charset="-122"/>
                <a:ea typeface="微软雅黑" panose="020B0503020204020204" pitchFamily="34" charset="-122"/>
              </a:rPr>
              <a:t>选择前缀最长的一个作为匹配的前缀</a:t>
            </a:r>
          </a:p>
        </p:txBody>
      </p:sp>
    </p:spTree>
    <p:extLst>
      <p:ext uri="{BB962C8B-B14F-4D97-AF65-F5344CB8AC3E}">
        <p14:creationId xmlns:p14="http://schemas.microsoft.com/office/powerpoint/2010/main" val="20852289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1051877" y="1046121"/>
            <a:ext cx="7949612" cy="759182"/>
            <a:chOff x="515164" y="1143523"/>
            <a:chExt cx="7949612" cy="759182"/>
          </a:xfrm>
        </p:grpSpPr>
        <p:sp>
          <p:nvSpPr>
            <p:cNvPr id="20" name="矩形 19"/>
            <p:cNvSpPr/>
            <p:nvPr/>
          </p:nvSpPr>
          <p:spPr>
            <a:xfrm>
              <a:off x="3137152" y="1482161"/>
              <a:ext cx="4108334" cy="396647"/>
            </a:xfrm>
            <a:prstGeom prst="rect">
              <a:avLst/>
            </a:prstGeom>
            <a:solidFill>
              <a:schemeClr val="accent6">
                <a:lumMod val="60000"/>
                <a:lumOff val="40000"/>
              </a:schemeClr>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21" name="TextBox 11"/>
            <p:cNvSpPr txBox="1"/>
            <p:nvPr/>
          </p:nvSpPr>
          <p:spPr>
            <a:xfrm>
              <a:off x="515164" y="1143523"/>
              <a:ext cx="7949612" cy="759182"/>
            </a:xfrm>
            <a:prstGeom prst="rect">
              <a:avLst/>
            </a:prstGeom>
            <a:noFill/>
          </p:spPr>
          <p:txBody>
            <a:bodyPr wrap="none" rtlCol="0">
              <a:spAutoFit/>
            </a:bodyPr>
            <a:lstStyle/>
            <a:p>
              <a:pPr>
                <a:lnSpc>
                  <a:spcPts val="2600"/>
                </a:lnSpc>
              </a:pPr>
              <a:r>
                <a:rPr lang="en-US" altLang="zh-CN" b="1" dirty="0">
                  <a:latin typeface="微软雅黑" panose="020B0503020204020204" pitchFamily="34" charset="-122"/>
                  <a:ea typeface="微软雅黑" panose="020B0503020204020204" pitchFamily="34" charset="-122"/>
                </a:rPr>
                <a:t>                                         128      .         1       .         2       .      196</a:t>
              </a:r>
            </a:p>
            <a:p>
              <a:pPr>
                <a:lnSpc>
                  <a:spcPts val="2600"/>
                </a:lnSpc>
              </a:pPr>
              <a:r>
                <a:rPr lang="zh-CN" altLang="en-US" b="1" dirty="0">
                  <a:solidFill>
                    <a:srgbClr val="C00000"/>
                  </a:solidFill>
                  <a:latin typeface="微软雅黑" panose="020B0503020204020204" pitchFamily="34" charset="-122"/>
                  <a:ea typeface="微软雅黑" panose="020B0503020204020204" pitchFamily="34" charset="-122"/>
                </a:rPr>
                <a:t>       目的主机 </a:t>
              </a:r>
              <a:r>
                <a:rPr lang="en-US" altLang="zh-CN" b="1" dirty="0">
                  <a:solidFill>
                    <a:srgbClr val="C00000"/>
                  </a:solidFill>
                  <a:latin typeface="微软雅黑" panose="020B0503020204020204" pitchFamily="34" charset="-122"/>
                  <a:ea typeface="微软雅黑" panose="020B0503020204020204" pitchFamily="34" charset="-122"/>
                </a:rPr>
                <a:t>IP </a:t>
              </a:r>
              <a:r>
                <a:rPr lang="zh-CN" altLang="en-US" b="1" dirty="0">
                  <a:solidFill>
                    <a:srgbClr val="C00000"/>
                  </a:solidFill>
                  <a:latin typeface="微软雅黑" panose="020B0503020204020204" pitchFamily="34" charset="-122"/>
                  <a:ea typeface="微软雅黑" panose="020B0503020204020204" pitchFamily="34" charset="-122"/>
                </a:rPr>
                <a:t>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00000001  00000010  11000100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p:txBody>
        </p:sp>
      </p:grpSp>
      <p:grpSp>
        <p:nvGrpSpPr>
          <p:cNvPr id="6" name="组合 7"/>
          <p:cNvGrpSpPr/>
          <p:nvPr/>
        </p:nvGrpSpPr>
        <p:grpSpPr>
          <a:xfrm>
            <a:off x="327990" y="1838207"/>
            <a:ext cx="8428383" cy="1644040"/>
            <a:chOff x="327990" y="2111474"/>
            <a:chExt cx="8428383" cy="1644040"/>
          </a:xfrm>
        </p:grpSpPr>
        <p:sp>
          <p:nvSpPr>
            <p:cNvPr id="13" name="矩形 12"/>
            <p:cNvSpPr/>
            <p:nvPr/>
          </p:nvSpPr>
          <p:spPr>
            <a:xfrm>
              <a:off x="3687561" y="3000368"/>
              <a:ext cx="397551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4" name="矩形 13"/>
            <p:cNvSpPr/>
            <p:nvPr/>
          </p:nvSpPr>
          <p:spPr>
            <a:xfrm>
              <a:off x="3691387" y="2177601"/>
              <a:ext cx="411069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5" name="TextBox 11"/>
            <p:cNvSpPr txBox="1"/>
            <p:nvPr/>
          </p:nvSpPr>
          <p:spPr>
            <a:xfrm>
              <a:off x="327990" y="2111474"/>
              <a:ext cx="8428383" cy="1644040"/>
            </a:xfrm>
            <a:prstGeom prst="rect">
              <a:avLst/>
            </a:prstGeom>
            <a:noFill/>
          </p:spPr>
          <p:txBody>
            <a:bodyPr wrap="square" rtlCol="0">
              <a:spAutoFit/>
            </a:bodyPr>
            <a:lstStyle/>
            <a:p>
              <a:pPr>
                <a:lnSpc>
                  <a:spcPts val="2800"/>
                </a:lnSpc>
              </a:pPr>
              <a:r>
                <a:rPr lang="en-US" altLang="zh-CN" b="1" dirty="0">
                  <a:latin typeface="微软雅黑" panose="020B0503020204020204" pitchFamily="34" charset="-122"/>
                  <a:ea typeface="微软雅黑" panose="020B0503020204020204" pitchFamily="34" charset="-122"/>
                </a:rPr>
                <a:t>128.1.2.192/26 </a:t>
              </a:r>
              <a:r>
                <a:rPr lang="zh-CN" altLang="en-US" b="1" dirty="0">
                  <a:latin typeface="微软雅黑" panose="020B0503020204020204" pitchFamily="34" charset="-122"/>
                  <a:ea typeface="微软雅黑" panose="020B0503020204020204" pitchFamily="34" charset="-122"/>
                </a:rPr>
                <a:t>的最小地址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00000001  00000010  11000000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128.1.2.192/26</a:t>
              </a:r>
              <a:r>
                <a:rPr lang="en-US" altLang="zh-CN" b="1" baseline="-25000"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00000001  00000010  11111111</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的最小地址</a:t>
              </a:r>
              <a:r>
                <a:rPr lang="zh-CN" altLang="en-US" sz="7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10000000  00000001  00000010  10000000</a:t>
              </a: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10000000  00000001  00000010  10111111</a:t>
              </a:r>
            </a:p>
          </p:txBody>
        </p:sp>
      </p:grpSp>
      <p:sp>
        <p:nvSpPr>
          <p:cNvPr id="2" name="矩形 1"/>
          <p:cNvSpPr/>
          <p:nvPr/>
        </p:nvSpPr>
        <p:spPr>
          <a:xfrm>
            <a:off x="871369" y="3989054"/>
            <a:ext cx="7282928" cy="46166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可以把前缀最长的排在转发表的第 </a:t>
            </a:r>
            <a:r>
              <a:rPr lang="en-US" altLang="zh-CN" sz="2400" b="1" dirty="0">
                <a:latin typeface="微软雅黑" panose="020B0503020204020204" pitchFamily="34" charset="-122"/>
                <a:ea typeface="微软雅黑" panose="020B0503020204020204" pitchFamily="34" charset="-122"/>
              </a:rPr>
              <a:t>1 </a:t>
            </a:r>
            <a:r>
              <a:rPr lang="zh-CN" altLang="en-US" sz="2400" b="1" dirty="0">
                <a:latin typeface="微软雅黑" panose="020B0503020204020204" pitchFamily="34" charset="-122"/>
                <a:ea typeface="微软雅黑" panose="020B0503020204020204" pitchFamily="34" charset="-122"/>
              </a:rPr>
              <a:t>行，以加快查表</a:t>
            </a:r>
          </a:p>
        </p:txBody>
      </p:sp>
      <p:sp>
        <p:nvSpPr>
          <p:cNvPr id="16" name="矩形 15"/>
          <p:cNvSpPr/>
          <p:nvPr/>
        </p:nvSpPr>
        <p:spPr>
          <a:xfrm>
            <a:off x="0" y="3469385"/>
            <a:ext cx="9144000" cy="461665"/>
          </a:xfrm>
          <a:prstGeom prst="rect">
            <a:avLst/>
          </a:prstGeom>
          <a:solidFill>
            <a:srgbClr val="92D050"/>
          </a:solidFill>
          <a:ln>
            <a:noFill/>
          </a:ln>
        </p:spPr>
        <p:style>
          <a:lnRef idx="1">
            <a:schemeClr val="accent5"/>
          </a:lnRef>
          <a:fillRef idx="2">
            <a:schemeClr val="accent5"/>
          </a:fillRef>
          <a:effectRef idx="1">
            <a:schemeClr val="accent5"/>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网络前缀越长，其地址块就越小，路由就越具体</a:t>
            </a:r>
            <a:r>
              <a:rPr lang="en-US" altLang="zh-CN" sz="2400" b="1" dirty="0">
                <a:latin typeface="微软雅黑" panose="020B0503020204020204" pitchFamily="34" charset="-122"/>
                <a:ea typeface="微软雅黑" panose="020B0503020204020204" pitchFamily="34" charset="-122"/>
              </a:rPr>
              <a:t>(more specific)</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3892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6"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14">
            <a:extLst>
              <a:ext uri="{FF2B5EF4-FFF2-40B4-BE49-F238E27FC236}">
                <a16:creationId xmlns:a16="http://schemas.microsoft.com/office/drawing/2014/main" id="{2C7C4C6D-36ED-8C12-C8C3-1FD5A8297097}"/>
              </a:ext>
            </a:extLst>
          </p:cNvPr>
          <p:cNvSpPr txBox="1">
            <a:spLocks/>
          </p:cNvSpPr>
          <p:nvPr/>
        </p:nvSpPr>
        <p:spPr>
          <a:xfrm>
            <a:off x="397362" y="1786169"/>
            <a:ext cx="5257800" cy="830997"/>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endParaRPr lang="zh-CN" altLang="en-US" dirty="0"/>
          </a:p>
        </p:txBody>
      </p:sp>
      <p:sp>
        <p:nvSpPr>
          <p:cNvPr id="4" name="文本占位符 15">
            <a:extLst>
              <a:ext uri="{FF2B5EF4-FFF2-40B4-BE49-F238E27FC236}">
                <a16:creationId xmlns:a16="http://schemas.microsoft.com/office/drawing/2014/main" id="{18501CB8-DA71-E628-E0A8-B4BFB6BF62E0}"/>
              </a:ext>
            </a:extLst>
          </p:cNvPr>
          <p:cNvSpPr txBox="1">
            <a:spLocks/>
          </p:cNvSpPr>
          <p:nvPr/>
        </p:nvSpPr>
        <p:spPr>
          <a:xfrm>
            <a:off x="233056" y="2571750"/>
            <a:ext cx="5257800" cy="64633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endParaRPr lang="zh-CN" altLang="en-US" dirty="0"/>
          </a:p>
        </p:txBody>
      </p:sp>
      <p:pic>
        <p:nvPicPr>
          <p:cNvPr id="22" name="图片占位符 21">
            <a:extLst>
              <a:ext uri="{FF2B5EF4-FFF2-40B4-BE49-F238E27FC236}">
                <a16:creationId xmlns:a16="http://schemas.microsoft.com/office/drawing/2014/main" id="{CBE71458-C4C8-C445-C8E7-E20611FA311E}"/>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518" r="13518"/>
          <a:stretch/>
        </p:blipFill>
        <p:spPr>
          <a:xfrm>
            <a:off x="5079431" y="1178017"/>
            <a:ext cx="3600000" cy="2787466"/>
          </a:xfrm>
        </p:spPr>
      </p:pic>
      <p:sp>
        <p:nvSpPr>
          <p:cNvPr id="24" name="标题 23">
            <a:extLst>
              <a:ext uri="{FF2B5EF4-FFF2-40B4-BE49-F238E27FC236}">
                <a16:creationId xmlns:a16="http://schemas.microsoft.com/office/drawing/2014/main" id="{985BB151-0C0B-AC7E-1698-F2C9176E267A}"/>
              </a:ext>
            </a:extLst>
          </p:cNvPr>
          <p:cNvSpPr>
            <a:spLocks noGrp="1"/>
          </p:cNvSpPr>
          <p:nvPr>
            <p:ph type="title"/>
          </p:nvPr>
        </p:nvSpPr>
        <p:spPr>
          <a:xfrm>
            <a:off x="628650" y="1790739"/>
            <a:ext cx="4320000" cy="553998"/>
          </a:xfrm>
        </p:spPr>
        <p:txBody>
          <a:bodyPr/>
          <a:lstStyle/>
          <a:p>
            <a:r>
              <a:rPr lang="zh-CN" altLang="en-US" dirty="0"/>
              <a:t>默认路由</a:t>
            </a:r>
          </a:p>
        </p:txBody>
      </p:sp>
      <p:sp>
        <p:nvSpPr>
          <p:cNvPr id="25" name="文本占位符 24">
            <a:extLst>
              <a:ext uri="{FF2B5EF4-FFF2-40B4-BE49-F238E27FC236}">
                <a16:creationId xmlns:a16="http://schemas.microsoft.com/office/drawing/2014/main" id="{AA0582E4-5805-58DF-3E11-BAD154CA206F}"/>
              </a:ext>
            </a:extLst>
          </p:cNvPr>
          <p:cNvSpPr>
            <a:spLocks noGrp="1"/>
          </p:cNvSpPr>
          <p:nvPr>
            <p:ph type="body" sz="quarter" idx="11"/>
          </p:nvPr>
        </p:nvSpPr>
        <p:spPr>
          <a:xfrm>
            <a:off x="628100" y="2344736"/>
            <a:ext cx="4320000" cy="1870075"/>
          </a:xfrm>
        </p:spPr>
        <p:txBody>
          <a:bodyPr/>
          <a:lstStyle/>
          <a:p>
            <a:r>
              <a:rPr lang="en-US" altLang="zh-CN" dirty="0"/>
              <a:t>Default Router</a:t>
            </a:r>
          </a:p>
          <a:p>
            <a:r>
              <a:rPr lang="en-US" altLang="zh-CN" dirty="0"/>
              <a:t>0.0.0.0/0 </a:t>
            </a:r>
            <a:endParaRPr lang="zh-CN" altLang="en-US" dirty="0"/>
          </a:p>
          <a:p>
            <a:endParaRPr lang="zh-CN" altLang="en-US" dirty="0"/>
          </a:p>
        </p:txBody>
      </p:sp>
    </p:spTree>
    <p:extLst>
      <p:ext uri="{BB962C8B-B14F-4D97-AF65-F5344CB8AC3E}">
        <p14:creationId xmlns:p14="http://schemas.microsoft.com/office/powerpoint/2010/main" val="31546552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1421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922084" y="581006"/>
            <a:ext cx="33185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转发表中的 </a:t>
            </a: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种特殊的路由</a:t>
            </a:r>
          </a:p>
        </p:txBody>
      </p:sp>
      <p:sp>
        <p:nvSpPr>
          <p:cNvPr id="5" name="Rectangle 68"/>
          <p:cNvSpPr>
            <a:spLocks noChangeArrowheads="1"/>
          </p:cNvSpPr>
          <p:nvPr/>
        </p:nvSpPr>
        <p:spPr bwMode="auto">
          <a:xfrm>
            <a:off x="556963" y="981522"/>
            <a:ext cx="8197744" cy="324704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主机路由 </a:t>
            </a:r>
            <a:r>
              <a:rPr lang="en-US" altLang="zh-CN" sz="2000" b="1" dirty="0">
                <a:solidFill>
                  <a:srgbClr val="C00000"/>
                </a:solidFill>
                <a:latin typeface="微软雅黑" pitchFamily="34" charset="-122"/>
                <a:ea typeface="微软雅黑" pitchFamily="34" charset="-122"/>
              </a:rPr>
              <a:t>(host route) </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又叫做</a:t>
            </a:r>
            <a:r>
              <a:rPr lang="zh-CN" altLang="en-US" sz="2000" b="1" dirty="0">
                <a:solidFill>
                  <a:srgbClr val="0000FF"/>
                </a:solidFill>
                <a:latin typeface="微软雅黑" pitchFamily="34" charset="-122"/>
                <a:ea typeface="微软雅黑" pitchFamily="34" charset="-122"/>
              </a:rPr>
              <a:t>特定主机路由。</a:t>
            </a:r>
            <a:endParaRPr lang="en-US" altLang="zh-CN" sz="2000" b="1" dirty="0">
              <a:solidFill>
                <a:srgbClr val="0000FF"/>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是对特定目的主机的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地址专门指明的一个路由。</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网络前缀就是 </a:t>
            </a:r>
            <a:r>
              <a:rPr lang="en-US" altLang="zh-CN" sz="2000" b="1" dirty="0" err="1">
                <a:solidFill>
                  <a:srgbClr val="0000FF"/>
                </a:solidFill>
                <a:latin typeface="微软雅黑" pitchFamily="34" charset="-122"/>
                <a:ea typeface="微软雅黑" pitchFamily="34" charset="-122"/>
              </a:rPr>
              <a:t>a.b.c.d</a:t>
            </a:r>
            <a:r>
              <a:rPr lang="en-US" altLang="zh-CN" sz="2000" b="1" dirty="0">
                <a:solidFill>
                  <a:srgbClr val="0000FF"/>
                </a:solidFill>
                <a:latin typeface="微软雅黑" pitchFamily="34" charset="-122"/>
                <a:ea typeface="微软雅黑" pitchFamily="34" charset="-122"/>
              </a:rPr>
              <a:t>/32</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放在转发表的</a:t>
            </a:r>
            <a:r>
              <a:rPr lang="zh-CN" altLang="en-US" sz="2000" b="1" dirty="0">
                <a:solidFill>
                  <a:srgbClr val="0000FF"/>
                </a:solidFill>
                <a:latin typeface="微软雅黑" pitchFamily="34" charset="-122"/>
                <a:ea typeface="微软雅黑" pitchFamily="34" charset="-122"/>
              </a:rPr>
              <a:t>最前面。</a:t>
            </a:r>
            <a:endParaRPr lang="en-US" altLang="zh-CN" sz="2000" b="1" dirty="0">
              <a:solidFill>
                <a:srgbClr val="0000FF"/>
              </a:solidFill>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默认路由 </a:t>
            </a:r>
            <a:r>
              <a:rPr lang="en-US" altLang="zh-CN" sz="2000" b="1" dirty="0">
                <a:solidFill>
                  <a:srgbClr val="C00000"/>
                </a:solidFill>
                <a:latin typeface="微软雅黑" pitchFamily="34" charset="-122"/>
                <a:ea typeface="微软雅黑" pitchFamily="34" charset="-122"/>
              </a:rPr>
              <a:t>(default route)</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不管分组的最终目的网络在哪里，都由指定的路由器 </a:t>
            </a:r>
            <a:r>
              <a:rPr lang="en-US" altLang="zh-CN" sz="2000" b="1" dirty="0">
                <a:latin typeface="微软雅黑" pitchFamily="34" charset="-122"/>
                <a:ea typeface="微软雅黑" pitchFamily="34" charset="-122"/>
              </a:rPr>
              <a:t>R </a:t>
            </a:r>
            <a:r>
              <a:rPr lang="zh-CN" altLang="en-US" sz="2000" b="1" dirty="0">
                <a:latin typeface="微软雅黑" pitchFamily="34" charset="-122"/>
                <a:ea typeface="微软雅黑" pitchFamily="34" charset="-122"/>
              </a:rPr>
              <a:t>来处理</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用特殊前缀 </a:t>
            </a:r>
            <a:r>
              <a:rPr lang="en-US" altLang="zh-CN" sz="2000" b="1" dirty="0">
                <a:solidFill>
                  <a:srgbClr val="0000FF"/>
                </a:solidFill>
                <a:latin typeface="微软雅黑" pitchFamily="34" charset="-122"/>
                <a:ea typeface="微软雅黑" pitchFamily="34" charset="-122"/>
              </a:rPr>
              <a:t>0.0.0.0/0</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表示。</a:t>
            </a:r>
            <a:endParaRPr lang="en-US" altLang="zh-CN" sz="2000" b="1" dirty="0">
              <a:latin typeface="微软雅黑" pitchFamily="34" charset="-122"/>
              <a:ea typeface="微软雅黑" pitchFamily="34" charset="-122"/>
            </a:endParaRPr>
          </a:p>
        </p:txBody>
      </p:sp>
    </p:spTree>
    <p:extLst>
      <p:ext uri="{BB962C8B-B14F-4D97-AF65-F5344CB8AC3E}">
        <p14:creationId xmlns:p14="http://schemas.microsoft.com/office/powerpoint/2010/main" val="19782744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196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719575" y="588754"/>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默认路由举例</a:t>
            </a:r>
          </a:p>
        </p:txBody>
      </p:sp>
      <p:sp>
        <p:nvSpPr>
          <p:cNvPr id="7" name="圆角矩形 6"/>
          <p:cNvSpPr/>
          <p:nvPr/>
        </p:nvSpPr>
        <p:spPr>
          <a:xfrm>
            <a:off x="556963" y="1059553"/>
            <a:ext cx="8048776" cy="228147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Line 4"/>
          <p:cNvSpPr>
            <a:spLocks noChangeShapeType="1"/>
          </p:cNvSpPr>
          <p:nvPr/>
        </p:nvSpPr>
        <p:spPr bwMode="auto">
          <a:xfrm flipV="1">
            <a:off x="4975616" y="1432111"/>
            <a:ext cx="453405"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0" name="Line 5"/>
          <p:cNvSpPr>
            <a:spLocks noChangeShapeType="1"/>
          </p:cNvSpPr>
          <p:nvPr/>
        </p:nvSpPr>
        <p:spPr bwMode="auto">
          <a:xfrm flipV="1">
            <a:off x="4652499" y="1714015"/>
            <a:ext cx="259536"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1" name="Line 6"/>
          <p:cNvSpPr>
            <a:spLocks noChangeShapeType="1"/>
          </p:cNvSpPr>
          <p:nvPr/>
        </p:nvSpPr>
        <p:spPr bwMode="auto">
          <a:xfrm flipV="1">
            <a:off x="4858877" y="2084437"/>
            <a:ext cx="743167" cy="1347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7"/>
          <p:cNvSpPr>
            <a:spLocks noChangeShapeType="1"/>
          </p:cNvSpPr>
          <p:nvPr/>
        </p:nvSpPr>
        <p:spPr bwMode="auto">
          <a:xfrm flipH="1">
            <a:off x="4006267" y="2165255"/>
            <a:ext cx="38773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8"/>
          <p:cNvSpPr>
            <a:spLocks noChangeShapeType="1"/>
          </p:cNvSpPr>
          <p:nvPr/>
        </p:nvSpPr>
        <p:spPr bwMode="auto">
          <a:xfrm>
            <a:off x="4652500" y="2221059"/>
            <a:ext cx="19386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9"/>
          <p:cNvSpPr>
            <a:spLocks noChangeShapeType="1"/>
          </p:cNvSpPr>
          <p:nvPr/>
        </p:nvSpPr>
        <p:spPr bwMode="auto">
          <a:xfrm flipV="1">
            <a:off x="3746733" y="2109452"/>
            <a:ext cx="518027" cy="558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pic>
        <p:nvPicPr>
          <p:cNvPr id="75"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05904" y="2029595"/>
            <a:ext cx="337709" cy="1693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6" name="Text Box 31"/>
          <p:cNvSpPr txBox="1">
            <a:spLocks noChangeArrowheads="1"/>
          </p:cNvSpPr>
          <p:nvPr/>
        </p:nvSpPr>
        <p:spPr bwMode="auto">
          <a:xfrm>
            <a:off x="5053940" y="1757267"/>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CC"/>
                </a:solidFill>
                <a:latin typeface="微软雅黑" pitchFamily="34" charset="-122"/>
                <a:ea typeface="微软雅黑" pitchFamily="34" charset="-122"/>
              </a:rPr>
              <a:t>R</a:t>
            </a:r>
            <a:r>
              <a:rPr lang="en-US" altLang="zh-CN" sz="1400" b="1" baseline="-25000">
                <a:solidFill>
                  <a:srgbClr val="0000CC"/>
                </a:solidFill>
                <a:latin typeface="微软雅黑" pitchFamily="34" charset="-122"/>
                <a:ea typeface="微软雅黑" pitchFamily="34" charset="-122"/>
              </a:rPr>
              <a:t>1</a:t>
            </a:r>
          </a:p>
        </p:txBody>
      </p:sp>
      <p:graphicFrame>
        <p:nvGraphicFramePr>
          <p:cNvPr id="77" name="Object 32"/>
          <p:cNvGraphicFramePr>
            <a:graphicFrameLocks noChangeAspect="1"/>
          </p:cNvGraphicFramePr>
          <p:nvPr>
            <p:extLst>
              <p:ext uri="{D42A27DB-BD31-4B8C-83A1-F6EECF244321}">
                <p14:modId xmlns:p14="http://schemas.microsoft.com/office/powerpoint/2010/main" val="563585180"/>
              </p:ext>
            </p:extLst>
          </p:nvPr>
        </p:nvGraphicFramePr>
        <p:xfrm>
          <a:off x="5558347" y="1629981"/>
          <a:ext cx="2004120" cy="1190156"/>
        </p:xfrm>
        <a:graphic>
          <a:graphicData uri="http://schemas.openxmlformats.org/presentationml/2006/ole">
            <mc:AlternateContent xmlns:mc="http://schemas.openxmlformats.org/markup-compatibility/2006">
              <mc:Choice xmlns:v="urn:schemas-microsoft-com:vml" Requires="v">
                <p:oleObj name="Visio" r:id="rId3" imgW="1689885" imgH="964337" progId="">
                  <p:embed/>
                </p:oleObj>
              </mc:Choice>
              <mc:Fallback>
                <p:oleObj name="Visio" r:id="rId3" imgW="1689885" imgH="964337" progId="">
                  <p:embed/>
                  <p:pic>
                    <p:nvPicPr>
                      <p:cNvPr id="0" name="Picture 39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58347" y="1629981"/>
                        <a:ext cx="2004120" cy="1190156"/>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78" name="Text Box 33"/>
          <p:cNvSpPr txBox="1">
            <a:spLocks noChangeArrowheads="1"/>
          </p:cNvSpPr>
          <p:nvPr/>
        </p:nvSpPr>
        <p:spPr bwMode="auto">
          <a:xfrm>
            <a:off x="6169329" y="202093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互联网</a:t>
            </a:r>
            <a:endParaRPr lang="zh-CN" altLang="en-US" sz="1400" b="1" baseline="-25000" dirty="0">
              <a:latin typeface="微软雅黑" pitchFamily="34" charset="-122"/>
              <a:ea typeface="微软雅黑" pitchFamily="34" charset="-122"/>
            </a:endParaRPr>
          </a:p>
        </p:txBody>
      </p:sp>
      <p:sp>
        <p:nvSpPr>
          <p:cNvPr id="80" name="Text Box 40"/>
          <p:cNvSpPr txBox="1">
            <a:spLocks noChangeArrowheads="1"/>
          </p:cNvSpPr>
          <p:nvPr/>
        </p:nvSpPr>
        <p:spPr bwMode="auto">
          <a:xfrm>
            <a:off x="1860412" y="1405325"/>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CC"/>
                </a:solidFill>
                <a:latin typeface="微软雅黑" pitchFamily="34" charset="-122"/>
                <a:ea typeface="微软雅黑" pitchFamily="34" charset="-122"/>
              </a:rPr>
              <a:t>主机路由表</a:t>
            </a:r>
            <a:endParaRPr lang="zh-CN" altLang="en-US" sz="1400" b="1" baseline="-25000" dirty="0">
              <a:solidFill>
                <a:srgbClr val="0000CC"/>
              </a:solidFill>
              <a:latin typeface="微软雅黑" pitchFamily="34" charset="-122"/>
              <a:ea typeface="微软雅黑" pitchFamily="34" charset="-122"/>
            </a:endParaRPr>
          </a:p>
        </p:txBody>
      </p:sp>
      <p:sp>
        <p:nvSpPr>
          <p:cNvPr id="81" name="Freeform 41"/>
          <p:cNvSpPr>
            <a:spLocks/>
          </p:cNvSpPr>
          <p:nvPr/>
        </p:nvSpPr>
        <p:spPr bwMode="auto">
          <a:xfrm>
            <a:off x="3255830" y="1685151"/>
            <a:ext cx="417942" cy="886123"/>
          </a:xfrm>
          <a:custGeom>
            <a:avLst/>
            <a:gdLst>
              <a:gd name="T0" fmla="*/ 4 w 368"/>
              <a:gd name="T1" fmla="*/ 0 h 524"/>
              <a:gd name="T2" fmla="*/ 368 w 368"/>
              <a:gd name="T3" fmla="*/ 256 h 524"/>
              <a:gd name="T4" fmla="*/ 367 w 368"/>
              <a:gd name="T5" fmla="*/ 277 h 524"/>
              <a:gd name="T6" fmla="*/ 0 w 368"/>
              <a:gd name="T7" fmla="*/ 524 h 524"/>
              <a:gd name="T8" fmla="*/ 4 w 368"/>
              <a:gd name="T9" fmla="*/ 0 h 524"/>
            </a:gdLst>
            <a:ahLst/>
            <a:cxnLst>
              <a:cxn ang="0">
                <a:pos x="T0" y="T1"/>
              </a:cxn>
              <a:cxn ang="0">
                <a:pos x="T2" y="T3"/>
              </a:cxn>
              <a:cxn ang="0">
                <a:pos x="T4" y="T5"/>
              </a:cxn>
              <a:cxn ang="0">
                <a:pos x="T6" y="T7"/>
              </a:cxn>
              <a:cxn ang="0">
                <a:pos x="T8" y="T9"/>
              </a:cxn>
            </a:cxnLst>
            <a:rect l="0" t="0" r="r" b="b"/>
            <a:pathLst>
              <a:path w="368" h="524">
                <a:moveTo>
                  <a:pt x="4" y="0"/>
                </a:moveTo>
                <a:lnTo>
                  <a:pt x="368" y="256"/>
                </a:lnTo>
                <a:lnTo>
                  <a:pt x="367" y="277"/>
                </a:lnTo>
                <a:lnTo>
                  <a:pt x="0" y="524"/>
                </a:lnTo>
                <a:lnTo>
                  <a:pt x="4" y="0"/>
                </a:lnTo>
                <a:close/>
              </a:path>
            </a:pathLst>
          </a:custGeom>
          <a:gradFill>
            <a:gsLst>
              <a:gs pos="0">
                <a:srgbClr val="00FFFF"/>
              </a:gs>
              <a:gs pos="100000">
                <a:srgbClr val="0000CC"/>
              </a:gs>
            </a:gsLst>
            <a:lin ang="0" scaled="0"/>
          </a:gradFill>
          <a:ln>
            <a:noFill/>
          </a:ln>
          <a:effec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84" name="Group 44"/>
          <p:cNvGrpSpPr>
            <a:grpSpLocks/>
          </p:cNvGrpSpPr>
          <p:nvPr/>
        </p:nvGrpSpPr>
        <p:grpSpPr bwMode="auto">
          <a:xfrm>
            <a:off x="5105904" y="1206973"/>
            <a:ext cx="717109" cy="425262"/>
            <a:chOff x="1776" y="2768"/>
            <a:chExt cx="1824" cy="736"/>
          </a:xfrm>
          <a:solidFill>
            <a:srgbClr val="00B0F0"/>
          </a:solidFill>
        </p:grpSpPr>
        <p:grpSp>
          <p:nvGrpSpPr>
            <p:cNvPr id="85" name="Group 45"/>
            <p:cNvGrpSpPr>
              <a:grpSpLocks/>
            </p:cNvGrpSpPr>
            <p:nvPr/>
          </p:nvGrpSpPr>
          <p:grpSpPr bwMode="auto">
            <a:xfrm>
              <a:off x="1787" y="2783"/>
              <a:ext cx="1813" cy="721"/>
              <a:chOff x="1787" y="2783"/>
              <a:chExt cx="1813" cy="721"/>
            </a:xfrm>
            <a:grpFill/>
          </p:grpSpPr>
          <p:sp>
            <p:nvSpPr>
              <p:cNvPr id="9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8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4" name="Text Box 64"/>
          <p:cNvSpPr txBox="1">
            <a:spLocks noChangeArrowheads="1"/>
          </p:cNvSpPr>
          <p:nvPr/>
        </p:nvSpPr>
        <p:spPr bwMode="auto">
          <a:xfrm>
            <a:off x="5292478" y="1261814"/>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N</a:t>
            </a:r>
            <a:r>
              <a:rPr lang="en-US" altLang="zh-CN" sz="1400" b="1" baseline="-25000">
                <a:latin typeface="微软雅黑" pitchFamily="34" charset="-122"/>
                <a:ea typeface="微软雅黑" pitchFamily="34" charset="-122"/>
              </a:rPr>
              <a:t>2</a:t>
            </a:r>
          </a:p>
        </p:txBody>
      </p:sp>
      <p:pic>
        <p:nvPicPr>
          <p:cNvPr id="105" name="Picture 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81746" y="1602409"/>
            <a:ext cx="338751" cy="1683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6" name="Text Box 66"/>
          <p:cNvSpPr txBox="1">
            <a:spLocks noChangeArrowheads="1"/>
          </p:cNvSpPr>
          <p:nvPr/>
        </p:nvSpPr>
        <p:spPr bwMode="auto">
          <a:xfrm>
            <a:off x="4626442" y="13060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CC"/>
                </a:solidFill>
                <a:latin typeface="微软雅黑" pitchFamily="34" charset="-122"/>
                <a:ea typeface="微软雅黑" pitchFamily="34" charset="-122"/>
              </a:rPr>
              <a:t>R</a:t>
            </a:r>
            <a:r>
              <a:rPr lang="en-US" altLang="zh-CN" sz="1400" b="1" baseline="-25000" dirty="0">
                <a:solidFill>
                  <a:srgbClr val="0000CC"/>
                </a:solidFill>
                <a:latin typeface="微软雅黑" pitchFamily="34" charset="-122"/>
                <a:ea typeface="微软雅黑" pitchFamily="34" charset="-122"/>
              </a:rPr>
              <a:t>2</a:t>
            </a:r>
          </a:p>
        </p:txBody>
      </p:sp>
      <p:grpSp>
        <p:nvGrpSpPr>
          <p:cNvPr id="107" name="Group 44"/>
          <p:cNvGrpSpPr>
            <a:grpSpLocks/>
          </p:cNvGrpSpPr>
          <p:nvPr/>
        </p:nvGrpSpPr>
        <p:grpSpPr bwMode="auto">
          <a:xfrm>
            <a:off x="4085442" y="1773668"/>
            <a:ext cx="872414" cy="556337"/>
            <a:chOff x="1776" y="2768"/>
            <a:chExt cx="1824" cy="736"/>
          </a:xfrm>
          <a:solidFill>
            <a:srgbClr val="00B0F0"/>
          </a:solidFill>
        </p:grpSpPr>
        <p:grpSp>
          <p:nvGrpSpPr>
            <p:cNvPr id="108" name="Group 45"/>
            <p:cNvGrpSpPr>
              <a:grpSpLocks/>
            </p:cNvGrpSpPr>
            <p:nvPr/>
          </p:nvGrpSpPr>
          <p:grpSpPr bwMode="auto">
            <a:xfrm>
              <a:off x="1787" y="2783"/>
              <a:ext cx="1813" cy="721"/>
              <a:chOff x="1787" y="2783"/>
              <a:chExt cx="1813" cy="721"/>
            </a:xfrm>
            <a:grpFill/>
          </p:grpSpPr>
          <p:sp>
            <p:nvSpPr>
              <p:cNvPr id="118"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9"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0"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1"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2"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9"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1"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2"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3"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4"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27" name="Text Box 30"/>
          <p:cNvSpPr txBox="1">
            <a:spLocks noChangeArrowheads="1"/>
          </p:cNvSpPr>
          <p:nvPr/>
        </p:nvSpPr>
        <p:spPr bwMode="auto">
          <a:xfrm>
            <a:off x="4348742" y="1892753"/>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N</a:t>
            </a:r>
            <a:r>
              <a:rPr lang="en-US" altLang="zh-CN" sz="1400" b="1" baseline="-25000" dirty="0">
                <a:latin typeface="微软雅黑" pitchFamily="34" charset="-122"/>
                <a:ea typeface="微软雅黑" pitchFamily="34" charset="-122"/>
              </a:rPr>
              <a:t>1</a:t>
            </a:r>
          </a:p>
        </p:txBody>
      </p:sp>
      <p:sp>
        <p:nvSpPr>
          <p:cNvPr id="128" name="Rectangle 36"/>
          <p:cNvSpPr>
            <a:spLocks noChangeArrowheads="1"/>
          </p:cNvSpPr>
          <p:nvPr/>
        </p:nvSpPr>
        <p:spPr bwMode="auto">
          <a:xfrm>
            <a:off x="1514007" y="1688038"/>
            <a:ext cx="1741823" cy="87072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2" name="Line 39"/>
          <p:cNvSpPr>
            <a:spLocks noChangeShapeType="1"/>
          </p:cNvSpPr>
          <p:nvPr/>
        </p:nvSpPr>
        <p:spPr bwMode="auto">
          <a:xfrm>
            <a:off x="2609598" y="1688038"/>
            <a:ext cx="3127" cy="8591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2" name="组合 1"/>
          <p:cNvGrpSpPr/>
          <p:nvPr/>
        </p:nvGrpSpPr>
        <p:grpSpPr>
          <a:xfrm>
            <a:off x="1514007" y="1909328"/>
            <a:ext cx="1741823" cy="425263"/>
            <a:chOff x="1834120" y="1909328"/>
            <a:chExt cx="1421710" cy="425263"/>
          </a:xfrm>
        </p:grpSpPr>
        <p:sp>
          <p:nvSpPr>
            <p:cNvPr id="130" name="Line 37"/>
            <p:cNvSpPr>
              <a:spLocks noChangeShapeType="1"/>
            </p:cNvSpPr>
            <p:nvPr/>
          </p:nvSpPr>
          <p:spPr bwMode="auto">
            <a:xfrm>
              <a:off x="1834120" y="1909328"/>
              <a:ext cx="1421710" cy="0"/>
            </a:xfrm>
            <a:prstGeom prst="line">
              <a:avLst/>
            </a:prstGeom>
            <a:ln>
              <a:solidFill>
                <a:schemeClr val="tx1"/>
              </a:solidFill>
              <a:headEnd/>
              <a:tailEnd/>
            </a:ln>
          </p:spPr>
          <p:style>
            <a:lnRef idx="1">
              <a:schemeClr val="dk1"/>
            </a:lnRef>
            <a:fillRef idx="0">
              <a:schemeClr val="dk1"/>
            </a:fillRef>
            <a:effectRef idx="0">
              <a:schemeClr val="dk1"/>
            </a:effectRef>
            <a:fontRef idx="minor">
              <a:schemeClr val="tx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Line 38"/>
            <p:cNvSpPr>
              <a:spLocks noChangeShapeType="1"/>
            </p:cNvSpPr>
            <p:nvPr/>
          </p:nvSpPr>
          <p:spPr bwMode="auto">
            <a:xfrm>
              <a:off x="1834120" y="2130619"/>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3" name="Line 67"/>
            <p:cNvSpPr>
              <a:spLocks noChangeShapeType="1"/>
            </p:cNvSpPr>
            <p:nvPr/>
          </p:nvSpPr>
          <p:spPr bwMode="auto">
            <a:xfrm>
              <a:off x="1834120" y="2334591"/>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36" name="矩形 135"/>
          <p:cNvSpPr/>
          <p:nvPr/>
        </p:nvSpPr>
        <p:spPr>
          <a:xfrm>
            <a:off x="1001438" y="3385219"/>
            <a:ext cx="7360078" cy="753220"/>
          </a:xfrm>
          <a:prstGeom prst="rect">
            <a:avLst/>
          </a:prstGeom>
        </p:spPr>
        <p:txBody>
          <a:bodyPr wrap="square">
            <a:spAutoFit/>
          </a:bodyPr>
          <a:lstStyle/>
          <a:p>
            <a:pPr>
              <a:lnSpc>
                <a:spcPts val="2700"/>
              </a:lnSpc>
            </a:pPr>
            <a:r>
              <a:rPr lang="zh-CN" altLang="en-US" b="1" dirty="0">
                <a:latin typeface="微软雅黑" pitchFamily="34" charset="-122"/>
                <a:ea typeface="微软雅黑" pitchFamily="34" charset="-122"/>
              </a:rPr>
              <a:t>只要目的网络不是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和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2</a:t>
            </a:r>
            <a:r>
              <a:rPr lang="zh-CN" altLang="en-US" b="1" dirty="0">
                <a:latin typeface="微软雅黑" pitchFamily="34" charset="-122"/>
                <a:ea typeface="微软雅黑" pitchFamily="34" charset="-122"/>
              </a:rPr>
              <a:t>，就一律选择默认路由，把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数据报先间接交付默认路由器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zh-CN" altLang="en-US" b="1" dirty="0">
                <a:latin typeface="微软雅黑" pitchFamily="34" charset="-122"/>
                <a:ea typeface="微软雅黑" pitchFamily="34" charset="-122"/>
              </a:rPr>
              <a:t>，让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再转发给下一个路由器。 </a:t>
            </a:r>
          </a:p>
        </p:txBody>
      </p:sp>
      <p:sp>
        <p:nvSpPr>
          <p:cNvPr id="137" name="矩形 136"/>
          <p:cNvSpPr/>
          <p:nvPr/>
        </p:nvSpPr>
        <p:spPr>
          <a:xfrm>
            <a:off x="2068643" y="2945065"/>
            <a:ext cx="5171606" cy="369332"/>
          </a:xfrm>
          <a:prstGeom prst="rect">
            <a:avLst/>
          </a:prstGeom>
        </p:spPr>
        <p:txBody>
          <a:bodyPr wrap="square">
            <a:spAutoFit/>
          </a:bodyPr>
          <a:lstStyle/>
          <a:p>
            <a:pPr algn="ctr"/>
            <a:r>
              <a:rPr lang="zh-CN" altLang="zh-CN" b="1" dirty="0">
                <a:latin typeface="微软雅黑" pitchFamily="34" charset="-122"/>
                <a:ea typeface="微软雅黑" pitchFamily="34" charset="-122"/>
              </a:rPr>
              <a:t>路由器</a:t>
            </a:r>
            <a:r>
              <a:rPr lang="en-US" altLang="zh-CN" b="1" dirty="0">
                <a:latin typeface="微软雅黑" pitchFamily="34" charset="-122"/>
                <a:ea typeface="微软雅黑" pitchFamily="34" charset="-122"/>
              </a:rPr>
              <a:t> R</a:t>
            </a:r>
            <a:r>
              <a:rPr lang="en-US" altLang="zh-CN" b="1" baseline="-25000" dirty="0">
                <a:latin typeface="微软雅黑" pitchFamily="34" charset="-122"/>
                <a:ea typeface="微软雅黑" pitchFamily="34" charset="-122"/>
              </a:rPr>
              <a:t>1 </a:t>
            </a:r>
            <a:r>
              <a:rPr lang="zh-CN" altLang="zh-CN" b="1" dirty="0">
                <a:latin typeface="微软雅黑" pitchFamily="34" charset="-122"/>
                <a:ea typeface="微软雅黑" pitchFamily="34" charset="-122"/>
              </a:rPr>
              <a:t>充当</a:t>
            </a:r>
            <a:r>
              <a:rPr lang="zh-CN" altLang="en-US" b="1" dirty="0">
                <a:latin typeface="微软雅黑" pitchFamily="34" charset="-122"/>
                <a:ea typeface="微软雅黑" pitchFamily="34" charset="-122"/>
              </a:rPr>
              <a:t>到达互联网</a:t>
            </a:r>
            <a:r>
              <a:rPr lang="zh-CN" altLang="zh-CN" b="1" dirty="0">
                <a:latin typeface="微软雅黑" pitchFamily="34" charset="-122"/>
                <a:ea typeface="微软雅黑" pitchFamily="34" charset="-122"/>
              </a:rPr>
              <a:t>的默认路由器</a:t>
            </a:r>
            <a:endParaRPr lang="zh-CN" altLang="en-US" b="1" dirty="0">
              <a:latin typeface="微软雅黑" pitchFamily="34" charset="-122"/>
              <a:ea typeface="微软雅黑" pitchFamily="34" charset="-122"/>
            </a:endParaRPr>
          </a:p>
        </p:txBody>
      </p:sp>
      <p:sp>
        <p:nvSpPr>
          <p:cNvPr id="138" name="Text Box 35"/>
          <p:cNvSpPr txBox="1">
            <a:spLocks noChangeArrowheads="1"/>
          </p:cNvSpPr>
          <p:nvPr/>
        </p:nvSpPr>
        <p:spPr bwMode="auto">
          <a:xfrm>
            <a:off x="1539180" y="1647509"/>
            <a:ext cx="1710415" cy="9787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ct val="120000"/>
              </a:lnSpc>
            </a:pPr>
            <a:r>
              <a:rPr lang="zh-CN" altLang="en-US" sz="1200" b="1" dirty="0">
                <a:latin typeface="微软雅黑" pitchFamily="34" charset="-122"/>
                <a:ea typeface="微软雅黑" pitchFamily="34" charset="-122"/>
              </a:rPr>
              <a:t>  网络前缀        下一跳</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直接 </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2</a:t>
            </a:r>
          </a:p>
          <a:p>
            <a:pPr>
              <a:lnSpc>
                <a:spcPct val="120000"/>
              </a:lnSpc>
            </a:pPr>
            <a:r>
              <a:rPr lang="en-US" altLang="zh-CN" sz="1200" b="1" dirty="0">
                <a:latin typeface="微软雅黑" pitchFamily="34" charset="-122"/>
                <a:ea typeface="微软雅黑" pitchFamily="34" charset="-122"/>
              </a:rPr>
              <a:t>  0.0.0.0/0</a:t>
            </a: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p>
        </p:txBody>
      </p:sp>
      <p:pic>
        <p:nvPicPr>
          <p:cNvPr id="13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52444" y="1984580"/>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0"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779912" y="2454772"/>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1"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644008" y="2454772"/>
            <a:ext cx="370473" cy="3704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378610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 name="Rectangle 6"/>
          <p:cNvSpPr>
            <a:spLocks noChangeArrowheads="1"/>
          </p:cNvSpPr>
          <p:nvPr/>
        </p:nvSpPr>
        <p:spPr bwMode="auto">
          <a:xfrm>
            <a:off x="3296383" y="582227"/>
            <a:ext cx="25699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路由器分组转发算法</a:t>
            </a:r>
          </a:p>
        </p:txBody>
      </p:sp>
      <p:sp>
        <p:nvSpPr>
          <p:cNvPr id="2" name="矩形 1"/>
          <p:cNvSpPr/>
          <p:nvPr/>
        </p:nvSpPr>
        <p:spPr>
          <a:xfrm>
            <a:off x="681941" y="1392030"/>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提取目的地址 </a:t>
            </a:r>
            <a:r>
              <a:rPr lang="en-US" altLang="zh-CN" sz="1400" b="1" dirty="0">
                <a:solidFill>
                  <a:schemeClr val="bg1"/>
                </a:solidFill>
                <a:latin typeface="微软雅黑" panose="020B0503020204020204" pitchFamily="34" charset="-122"/>
                <a:ea typeface="微软雅黑" panose="020B0503020204020204" pitchFamily="34" charset="-122"/>
              </a:rPr>
              <a:t>IP </a:t>
            </a:r>
            <a:r>
              <a:rPr lang="zh-CN" altLang="en-US" sz="1400" b="1" dirty="0">
                <a:solidFill>
                  <a:schemeClr val="bg1"/>
                </a:solidFill>
                <a:latin typeface="微软雅黑" panose="020B0503020204020204" pitchFamily="34" charset="-122"/>
                <a:ea typeface="微软雅黑" panose="020B0503020204020204" pitchFamily="34" charset="-122"/>
              </a:rPr>
              <a:t>地址</a:t>
            </a:r>
            <a:r>
              <a:rPr lang="en-US" altLang="zh-CN" sz="1400" b="1" dirty="0">
                <a:solidFill>
                  <a:schemeClr val="bg1"/>
                </a:solidFill>
                <a:latin typeface="微软雅黑" panose="020B0503020204020204" pitchFamily="34" charset="-122"/>
                <a:ea typeface="微软雅黑" panose="020B0503020204020204" pitchFamily="34" charset="-122"/>
              </a:rPr>
              <a:t> D</a:t>
            </a:r>
            <a:endParaRPr lang="zh-CN" altLang="en-US" sz="1400" b="1" dirty="0">
              <a:solidFill>
                <a:schemeClr val="bg1"/>
              </a:solidFill>
              <a:latin typeface="微软雅黑" panose="020B0503020204020204" pitchFamily="34" charset="-122"/>
              <a:ea typeface="微软雅黑" panose="020B0503020204020204" pitchFamily="34" charset="-122"/>
            </a:endParaRPr>
          </a:p>
        </p:txBody>
      </p:sp>
      <p:sp>
        <p:nvSpPr>
          <p:cNvPr id="3" name="菱形 2"/>
          <p:cNvSpPr/>
          <p:nvPr/>
        </p:nvSpPr>
        <p:spPr>
          <a:xfrm>
            <a:off x="4080677" y="1422924"/>
            <a:ext cx="2662533"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的特定主机路由 ？</a:t>
            </a:r>
          </a:p>
        </p:txBody>
      </p:sp>
      <p:sp>
        <p:nvSpPr>
          <p:cNvPr id="9" name="菱形 8"/>
          <p:cNvSpPr/>
          <p:nvPr/>
        </p:nvSpPr>
        <p:spPr>
          <a:xfrm>
            <a:off x="4080676" y="2270681"/>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的最长前缀匹配 ？</a:t>
            </a:r>
          </a:p>
        </p:txBody>
      </p:sp>
      <p:sp>
        <p:nvSpPr>
          <p:cNvPr id="10" name="菱形 9"/>
          <p:cNvSpPr/>
          <p:nvPr/>
        </p:nvSpPr>
        <p:spPr>
          <a:xfrm>
            <a:off x="4080676" y="3118439"/>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找到默认路由？</a:t>
            </a:r>
          </a:p>
        </p:txBody>
      </p:sp>
      <p:sp>
        <p:nvSpPr>
          <p:cNvPr id="11" name="矩形 10"/>
          <p:cNvSpPr/>
          <p:nvPr/>
        </p:nvSpPr>
        <p:spPr>
          <a:xfrm>
            <a:off x="6466437" y="3927627"/>
            <a:ext cx="2219913" cy="441235"/>
          </a:xfrm>
          <a:prstGeom prst="rect">
            <a:avLst/>
          </a:prstGeom>
          <a:solidFill>
            <a:srgbClr val="99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转发分组到下一跳路由器</a:t>
            </a:r>
          </a:p>
        </p:txBody>
      </p:sp>
      <p:sp>
        <p:nvSpPr>
          <p:cNvPr id="12" name="矩形 11"/>
          <p:cNvSpPr/>
          <p:nvPr/>
        </p:nvSpPr>
        <p:spPr>
          <a:xfrm>
            <a:off x="4422480" y="3927628"/>
            <a:ext cx="1978926" cy="441235"/>
          </a:xfrm>
          <a:prstGeom prst="rect">
            <a:avLst/>
          </a:prstGeom>
          <a:solidFill>
            <a:srgbClr val="0099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丢弃分组</a:t>
            </a:r>
          </a:p>
        </p:txBody>
      </p:sp>
      <p:cxnSp>
        <p:nvCxnSpPr>
          <p:cNvPr id="15" name="直接箭头连接符 14"/>
          <p:cNvCxnSpPr/>
          <p:nvPr/>
        </p:nvCxnSpPr>
        <p:spPr>
          <a:xfrm flipH="1">
            <a:off x="5411943" y="1969092"/>
            <a:ext cx="1" cy="301589"/>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p:cNvCxnSpPr/>
          <p:nvPr/>
        </p:nvCxnSpPr>
        <p:spPr>
          <a:xfrm>
            <a:off x="5411943" y="2816849"/>
            <a:ext cx="0" cy="30159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681940" y="2174485"/>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查找转发表</a:t>
            </a:r>
          </a:p>
        </p:txBody>
      </p:sp>
      <p:cxnSp>
        <p:nvCxnSpPr>
          <p:cNvPr id="43" name="直接箭头连接符 42"/>
          <p:cNvCxnSpPr>
            <a:stCxn id="2" idx="2"/>
            <a:endCxn id="31" idx="0"/>
          </p:cNvCxnSpPr>
          <p:nvPr/>
        </p:nvCxnSpPr>
        <p:spPr>
          <a:xfrm flipH="1">
            <a:off x="2132046" y="1833265"/>
            <a:ext cx="1" cy="34122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48" name="肘形连接符 47"/>
          <p:cNvCxnSpPr>
            <a:stCxn id="31" idx="2"/>
            <a:endCxn id="3" idx="0"/>
          </p:cNvCxnSpPr>
          <p:nvPr/>
        </p:nvCxnSpPr>
        <p:spPr>
          <a:xfrm rot="5400000" flipH="1" flipV="1">
            <a:off x="3175597" y="379373"/>
            <a:ext cx="1192796" cy="3279898"/>
          </a:xfrm>
          <a:prstGeom prst="bentConnector5">
            <a:avLst>
              <a:gd name="adj1" fmla="val -19165"/>
              <a:gd name="adj2" fmla="val 53893"/>
              <a:gd name="adj3" fmla="val 119165"/>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0" name="直接箭头连接符 49"/>
          <p:cNvCxnSpPr/>
          <p:nvPr/>
        </p:nvCxnSpPr>
        <p:spPr>
          <a:xfrm>
            <a:off x="5411943" y="3664607"/>
            <a:ext cx="0" cy="263021"/>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8" name="肘形连接符 57"/>
          <p:cNvCxnSpPr>
            <a:stCxn id="3" idx="3"/>
            <a:endCxn id="11" idx="0"/>
          </p:cNvCxnSpPr>
          <p:nvPr/>
        </p:nvCxnSpPr>
        <p:spPr>
          <a:xfrm>
            <a:off x="6743210" y="1696008"/>
            <a:ext cx="833184" cy="2231619"/>
          </a:xfrm>
          <a:prstGeom prst="bentConnector2">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接箭头连接符 58"/>
          <p:cNvCxnSpPr>
            <a:stCxn id="9" idx="3"/>
          </p:cNvCxnSpPr>
          <p:nvPr/>
        </p:nvCxnSpPr>
        <p:spPr>
          <a:xfrm>
            <a:off x="6743210" y="2543765"/>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接箭头连接符 62"/>
          <p:cNvCxnSpPr>
            <a:stCxn id="10" idx="3"/>
          </p:cNvCxnSpPr>
          <p:nvPr/>
        </p:nvCxnSpPr>
        <p:spPr>
          <a:xfrm>
            <a:off x="6743210" y="3391523"/>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77" name="矩形 76"/>
          <p:cNvSpPr/>
          <p:nvPr/>
        </p:nvSpPr>
        <p:spPr>
          <a:xfrm>
            <a:off x="6772090" y="1421493"/>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78" name="矩形 77"/>
          <p:cNvSpPr/>
          <p:nvPr/>
        </p:nvSpPr>
        <p:spPr>
          <a:xfrm>
            <a:off x="5047741" y="1946714"/>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79" name="矩形 78"/>
          <p:cNvSpPr/>
          <p:nvPr/>
        </p:nvSpPr>
        <p:spPr>
          <a:xfrm>
            <a:off x="5047741" y="2813755"/>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0" name="矩形 79"/>
          <p:cNvSpPr/>
          <p:nvPr/>
        </p:nvSpPr>
        <p:spPr>
          <a:xfrm>
            <a:off x="5047741" y="3642458"/>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1" name="矩形 80"/>
          <p:cNvSpPr/>
          <p:nvPr/>
        </p:nvSpPr>
        <p:spPr>
          <a:xfrm>
            <a:off x="6772090" y="2275140"/>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82" name="矩形 81"/>
          <p:cNvSpPr/>
          <p:nvPr/>
        </p:nvSpPr>
        <p:spPr>
          <a:xfrm>
            <a:off x="6772090" y="3135531"/>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Tree>
    <p:extLst>
      <p:ext uri="{BB962C8B-B14F-4D97-AF65-F5344CB8AC3E}">
        <p14:creationId xmlns:p14="http://schemas.microsoft.com/office/powerpoint/2010/main" val="15035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369317" y="571120"/>
            <a:ext cx="440537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4.3.3 </a:t>
            </a:r>
            <a:r>
              <a:rPr lang="zh-CN" altLang="en-US" sz="2400" b="1" dirty="0">
                <a:solidFill>
                  <a:schemeClr val="bg1"/>
                </a:solidFill>
                <a:latin typeface="微软雅黑" pitchFamily="34" charset="-122"/>
                <a:ea typeface="微软雅黑" pitchFamily="34" charset="-122"/>
              </a:rPr>
              <a:t>使用二叉线索查找转发表</a:t>
            </a:r>
          </a:p>
        </p:txBody>
      </p:sp>
      <p:sp>
        <p:nvSpPr>
          <p:cNvPr id="4" name="Rectangle 8"/>
          <p:cNvSpPr>
            <a:spLocks noChangeArrowheads="1"/>
          </p:cNvSpPr>
          <p:nvPr/>
        </p:nvSpPr>
        <p:spPr bwMode="auto">
          <a:xfrm>
            <a:off x="545143" y="969791"/>
            <a:ext cx="8053711"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二叉线索 </a:t>
            </a:r>
            <a:r>
              <a:rPr lang="en-US" altLang="zh-CN" sz="2000" b="1" dirty="0">
                <a:latin typeface="微软雅黑" pitchFamily="34" charset="-122"/>
                <a:ea typeface="微软雅黑" pitchFamily="34" charset="-122"/>
              </a:rPr>
              <a:t>(binary </a:t>
            </a:r>
            <a:r>
              <a:rPr lang="en-US" altLang="zh-CN" sz="2000" b="1" dirty="0" err="1">
                <a:latin typeface="微软雅黑" pitchFamily="34" charset="-122"/>
                <a:ea typeface="微软雅黑" pitchFamily="34" charset="-122"/>
              </a:rPr>
              <a:t>trie</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：一种特殊结构的树，可以快速在转发表中找到匹配的叶节点。</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从二叉线索的根节点</a:t>
            </a:r>
            <a:r>
              <a:rPr lang="zh-CN" altLang="en-US" sz="2000" b="1" dirty="0">
                <a:solidFill>
                  <a:srgbClr val="C00000"/>
                </a:solidFill>
                <a:latin typeface="微软雅黑" pitchFamily="34" charset="-122"/>
                <a:ea typeface="微软雅黑" pitchFamily="34" charset="-122"/>
              </a:rPr>
              <a:t>自顶向下</a:t>
            </a:r>
            <a:r>
              <a:rPr lang="zh-CN" altLang="en-US" sz="2000" b="1" dirty="0">
                <a:latin typeface="微软雅黑" pitchFamily="34" charset="-122"/>
                <a:ea typeface="微软雅黑" pitchFamily="34" charset="-122"/>
              </a:rPr>
              <a:t>的深度最多有 </a:t>
            </a:r>
            <a:r>
              <a:rPr lang="en-US" altLang="zh-CN" sz="2000" b="1" dirty="0">
                <a:solidFill>
                  <a:srgbClr val="C00000"/>
                </a:solidFill>
                <a:latin typeface="微软雅黑" pitchFamily="34" charset="-122"/>
                <a:ea typeface="微软雅黑" pitchFamily="34" charset="-122"/>
              </a:rPr>
              <a:t>32</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层，每一层对应于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地址中的一位。</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为简化二叉线索的结构，可以用</a:t>
            </a:r>
            <a:r>
              <a:rPr lang="zh-CN" altLang="en-US" sz="2000" b="1" dirty="0">
                <a:solidFill>
                  <a:srgbClr val="C00000"/>
                </a:solidFill>
                <a:latin typeface="微软雅黑" pitchFamily="34" charset="-122"/>
                <a:ea typeface="微软雅黑" pitchFamily="34" charset="-122"/>
              </a:rPr>
              <a:t>唯一前缀 </a:t>
            </a:r>
            <a:r>
              <a:rPr lang="en-US" altLang="zh-CN" sz="2000" b="1" dirty="0">
                <a:latin typeface="微软雅黑" pitchFamily="34" charset="-122"/>
                <a:ea typeface="微软雅黑" pitchFamily="34" charset="-122"/>
              </a:rPr>
              <a:t>(unique prefix) </a:t>
            </a:r>
            <a:r>
              <a:rPr lang="zh-CN" altLang="en-US" sz="2000" b="1" dirty="0">
                <a:latin typeface="微软雅黑" pitchFamily="34" charset="-122"/>
                <a:ea typeface="微软雅黑" pitchFamily="34" charset="-122"/>
              </a:rPr>
              <a:t>来构造二叉线索。</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为了提高二叉线索的查找速度，广泛使用了各种</a:t>
            </a:r>
            <a:r>
              <a:rPr lang="zh-CN" altLang="en-US" sz="2000" b="1" dirty="0">
                <a:solidFill>
                  <a:srgbClr val="C00000"/>
                </a:solidFill>
                <a:latin typeface="微软雅黑" pitchFamily="34" charset="-122"/>
                <a:ea typeface="微软雅黑" pitchFamily="34" charset="-122"/>
              </a:rPr>
              <a:t>压缩</a:t>
            </a:r>
            <a:r>
              <a:rPr lang="zh-CN" altLang="en-US" sz="2000" b="1" dirty="0">
                <a:latin typeface="微软雅黑" pitchFamily="34" charset="-122"/>
                <a:ea typeface="微软雅黑" pitchFamily="34" charset="-122"/>
              </a:rPr>
              <a:t>技术。 </a:t>
            </a:r>
          </a:p>
        </p:txBody>
      </p:sp>
    </p:spTree>
    <p:extLst>
      <p:ext uri="{BB962C8B-B14F-4D97-AF65-F5344CB8AC3E}">
        <p14:creationId xmlns:p14="http://schemas.microsoft.com/office/powerpoint/2010/main" val="10769485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矩形 12"/>
          <p:cNvSpPr/>
          <p:nvPr/>
        </p:nvSpPr>
        <p:spPr>
          <a:xfrm>
            <a:off x="682385" y="3073260"/>
            <a:ext cx="7766343" cy="1040285"/>
          </a:xfrm>
          <a:prstGeom prst="rect">
            <a:avLst/>
          </a:prstGeom>
          <a:solidFill>
            <a:srgbClr val="00FF99"/>
          </a:solidFill>
          <a:ln>
            <a:solidFill>
              <a:srgbClr val="000099"/>
            </a:solidFill>
          </a:ln>
        </p:spPr>
        <p:txBody>
          <a:bodyPr wrap="square">
            <a:spAutoFit/>
          </a:bodyPr>
          <a:lstStyle/>
          <a:p>
            <a:pPr>
              <a:lnSpc>
                <a:spcPct val="110000"/>
              </a:lnSpc>
            </a:pPr>
            <a:r>
              <a:rPr lang="zh-CN" altLang="en-US" sz="1400" b="1" dirty="0">
                <a:solidFill>
                  <a:srgbClr val="0000FF"/>
                </a:solidFill>
                <a:latin typeface="微软雅黑" pitchFamily="34" charset="-122"/>
                <a:ea typeface="微软雅黑" pitchFamily="34" charset="-122"/>
              </a:rPr>
              <a:t>规则：</a:t>
            </a:r>
            <a:r>
              <a:rPr lang="zh-CN" altLang="en-US" sz="1400" b="1" dirty="0">
                <a:latin typeface="微软雅黑" pitchFamily="34" charset="-122"/>
                <a:ea typeface="微软雅黑" pitchFamily="34" charset="-122"/>
              </a:rPr>
              <a:t>先检查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地址左边的第一位，如为 </a:t>
            </a:r>
            <a:r>
              <a:rPr lang="en-US" altLang="zh-CN" sz="1400" b="1" dirty="0">
                <a:latin typeface="微软雅黑" pitchFamily="34" charset="-122"/>
                <a:ea typeface="微软雅黑" pitchFamily="34" charset="-122"/>
              </a:rPr>
              <a:t>0</a:t>
            </a:r>
            <a:r>
              <a:rPr lang="zh-CN" altLang="en-US" sz="1400" b="1" dirty="0">
                <a:latin typeface="微软雅黑" pitchFamily="34" charset="-122"/>
                <a:ea typeface="微软雅黑" pitchFamily="34" charset="-122"/>
              </a:rPr>
              <a:t>，则第一层的节点就在根节点的左下方；如为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，则在右下方。然后再检查地址的第二位，构造出第二层的节点。依此类推，直到唯一前缀的最后一位。每个叶节点代表一个唯一前缀。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为检查网络前缀是否匹配，必须使二叉线索中的每一个叶节点</a:t>
            </a:r>
            <a:r>
              <a:rPr lang="zh-CN" altLang="en-US" sz="1400" b="1" dirty="0">
                <a:solidFill>
                  <a:srgbClr val="C00000"/>
                </a:solidFill>
                <a:latin typeface="微软雅黑" pitchFamily="34" charset="-122"/>
                <a:ea typeface="微软雅黑" pitchFamily="34" charset="-122"/>
              </a:rPr>
              <a:t>包含</a:t>
            </a:r>
            <a:r>
              <a:rPr lang="zh-CN" altLang="en-US" sz="1400" b="1" dirty="0">
                <a:latin typeface="微软雅黑" pitchFamily="34" charset="-122"/>
                <a:ea typeface="微软雅黑" pitchFamily="34" charset="-122"/>
              </a:rPr>
              <a:t>所对应的网络前缀和子网掩码。</a:t>
            </a:r>
          </a:p>
        </p:txBody>
      </p:sp>
      <p:sp>
        <p:nvSpPr>
          <p:cNvPr id="14" name="Text Box 4"/>
          <p:cNvSpPr txBox="1">
            <a:spLocks noChangeArrowheads="1"/>
          </p:cNvSpPr>
          <p:nvPr/>
        </p:nvSpPr>
        <p:spPr bwMode="auto">
          <a:xfrm>
            <a:off x="607293" y="1159625"/>
            <a:ext cx="5525872" cy="18128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400" b="1" dirty="0">
                <a:latin typeface="微软雅黑" pitchFamily="34" charset="-122"/>
                <a:ea typeface="微软雅黑" pitchFamily="34" charset="-122"/>
              </a:rPr>
              <a:t>                     </a:t>
            </a:r>
            <a:r>
              <a:rPr kumimoji="1" lang="en-US" altLang="zh-CN" sz="1600" b="1" dirty="0">
                <a:latin typeface="微软雅黑" pitchFamily="34" charset="-122"/>
                <a:ea typeface="微软雅黑" pitchFamily="34" charset="-122"/>
              </a:rPr>
              <a:t>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                              唯一前缀</a:t>
            </a:r>
          </a:p>
          <a:p>
            <a:pPr>
              <a:lnSpc>
                <a:spcPct val="130000"/>
              </a:lnSpc>
            </a:pPr>
            <a:r>
              <a:rPr kumimoji="1" lang="en-US" altLang="zh-CN" sz="1400" b="1" dirty="0">
                <a:solidFill>
                  <a:srgbClr val="0000CC"/>
                </a:solidFill>
                <a:latin typeface="微软雅黑" pitchFamily="34" charset="-122"/>
                <a:ea typeface="微软雅黑" pitchFamily="34" charset="-122"/>
              </a:rPr>
              <a:t>  </a:t>
            </a:r>
            <a:r>
              <a:rPr kumimoji="1" lang="en-US" altLang="zh-CN" sz="1400" b="1" dirty="0">
                <a:solidFill>
                  <a:srgbClr val="0000FF"/>
                </a:solidFill>
                <a:latin typeface="微软雅黑" pitchFamily="34" charset="-122"/>
                <a:ea typeface="微软雅黑" pitchFamily="34" charset="-122"/>
              </a:rPr>
              <a:t>01000110 00000000 00000000 00000000	0100</a:t>
            </a:r>
          </a:p>
          <a:p>
            <a:pPr>
              <a:lnSpc>
                <a:spcPct val="130000"/>
              </a:lnSpc>
            </a:pPr>
            <a:r>
              <a:rPr kumimoji="1" lang="en-US" altLang="zh-CN" sz="1400" b="1" dirty="0">
                <a:solidFill>
                  <a:srgbClr val="0000FF"/>
                </a:solidFill>
                <a:latin typeface="微软雅黑" pitchFamily="34" charset="-122"/>
                <a:ea typeface="微软雅黑" pitchFamily="34" charset="-122"/>
              </a:rPr>
              <a:t>  01010110 00000000 00000000 00000000	0101</a:t>
            </a:r>
          </a:p>
          <a:p>
            <a:pPr>
              <a:lnSpc>
                <a:spcPct val="130000"/>
              </a:lnSpc>
            </a:pPr>
            <a:r>
              <a:rPr kumimoji="1" lang="en-US" altLang="zh-CN" sz="1400" b="1" dirty="0">
                <a:solidFill>
                  <a:srgbClr val="0000FF"/>
                </a:solidFill>
                <a:latin typeface="微软雅黑" pitchFamily="34" charset="-122"/>
                <a:ea typeface="微软雅黑" pitchFamily="34" charset="-122"/>
              </a:rPr>
              <a:t>  01100001 00000000 00000000 00000000	011</a:t>
            </a:r>
          </a:p>
          <a:p>
            <a:pPr>
              <a:lnSpc>
                <a:spcPct val="130000"/>
              </a:lnSpc>
            </a:pPr>
            <a:r>
              <a:rPr kumimoji="1" lang="en-US" altLang="zh-CN" sz="1400" b="1" dirty="0">
                <a:solidFill>
                  <a:srgbClr val="0000FF"/>
                </a:solidFill>
                <a:latin typeface="微软雅黑" pitchFamily="34" charset="-122"/>
                <a:ea typeface="微软雅黑" pitchFamily="34" charset="-122"/>
              </a:rPr>
              <a:t>  10110000 00000010 00000000 00000000	10110</a:t>
            </a:r>
          </a:p>
          <a:p>
            <a:pPr>
              <a:lnSpc>
                <a:spcPct val="130000"/>
              </a:lnSpc>
            </a:pPr>
            <a:r>
              <a:rPr kumimoji="1" lang="en-US" altLang="zh-CN" sz="1400" b="1" dirty="0">
                <a:solidFill>
                  <a:srgbClr val="0000FF"/>
                </a:solidFill>
                <a:latin typeface="微软雅黑" pitchFamily="34" charset="-122"/>
                <a:ea typeface="微软雅黑" pitchFamily="34" charset="-122"/>
              </a:rPr>
              <a:t>  10111011 00001010 00000000 00000000	10111</a:t>
            </a:r>
            <a:endParaRPr kumimoji="1" lang="en-US" altLang="zh-CN" sz="14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634346" y="582227"/>
            <a:ext cx="389401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用 </a:t>
            </a:r>
            <a:r>
              <a:rPr lang="en-US" altLang="zh-CN" sz="2000" b="1" dirty="0">
                <a:solidFill>
                  <a:schemeClr val="bg1"/>
                </a:solidFill>
                <a:latin typeface="微软雅黑" pitchFamily="34" charset="-122"/>
                <a:ea typeface="微软雅黑" pitchFamily="34" charset="-122"/>
              </a:rPr>
              <a:t>5 </a:t>
            </a:r>
            <a:r>
              <a:rPr lang="zh-CN" altLang="en-US" sz="2000" b="1" dirty="0">
                <a:solidFill>
                  <a:schemeClr val="bg1"/>
                </a:solidFill>
                <a:latin typeface="微软雅黑" pitchFamily="34" charset="-122"/>
                <a:ea typeface="微软雅黑" pitchFamily="34" charset="-122"/>
              </a:rPr>
              <a:t>个唯一前缀构成的二叉线索</a:t>
            </a:r>
          </a:p>
        </p:txBody>
      </p:sp>
      <p:grpSp>
        <p:nvGrpSpPr>
          <p:cNvPr id="2" name="组合 1"/>
          <p:cNvGrpSpPr/>
          <p:nvPr/>
        </p:nvGrpSpPr>
        <p:grpSpPr>
          <a:xfrm>
            <a:off x="6375275" y="1309581"/>
            <a:ext cx="1842271" cy="1595833"/>
            <a:chOff x="6375275" y="1309581"/>
            <a:chExt cx="1842271" cy="1595833"/>
          </a:xfrm>
        </p:grpSpPr>
        <p:sp>
          <p:nvSpPr>
            <p:cNvPr id="78"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79" name="组合 78"/>
            <p:cNvGrpSpPr/>
            <p:nvPr/>
          </p:nvGrpSpPr>
          <p:grpSpPr>
            <a:xfrm>
              <a:off x="6375275" y="1309581"/>
              <a:ext cx="1842271" cy="1595833"/>
              <a:chOff x="6375275" y="1309581"/>
              <a:chExt cx="1842271" cy="1595833"/>
            </a:xfrm>
          </p:grpSpPr>
          <p:sp>
            <p:nvSpPr>
              <p:cNvPr id="80"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1"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2"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3"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4"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5"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6"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7"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89"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0"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1"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2"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3"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4"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95"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96"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7"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8"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9"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0"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1"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2"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3"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4"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5"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6"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7"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8"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spTree>
    <p:extLst>
      <p:ext uri="{BB962C8B-B14F-4D97-AF65-F5344CB8AC3E}">
        <p14:creationId xmlns:p14="http://schemas.microsoft.com/office/powerpoint/2010/main" val="32792301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矩形 12"/>
          <p:cNvSpPr/>
          <p:nvPr/>
        </p:nvSpPr>
        <p:spPr>
          <a:xfrm>
            <a:off x="1058078" y="2115412"/>
            <a:ext cx="4433248" cy="1717393"/>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找到了一个叶节点。</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将目的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地址和该叶节点的子网掩码进行按位 </a:t>
            </a:r>
            <a:r>
              <a:rPr lang="en-US" altLang="zh-CN" sz="1600" b="1" dirty="0">
                <a:latin typeface="微软雅黑" pitchFamily="34" charset="-122"/>
                <a:ea typeface="微软雅黑" pitchFamily="34" charset="-122"/>
              </a:rPr>
              <a:t>AND </a:t>
            </a:r>
            <a:r>
              <a:rPr lang="zh-CN" altLang="en-US" sz="1600" b="1" dirty="0">
                <a:latin typeface="微软雅黑" pitchFamily="34" charset="-122"/>
                <a:ea typeface="微软雅黑" pitchFamily="34" charset="-122"/>
              </a:rPr>
              <a:t>运算，看结果是否与叶节点的网络前缀相匹配。</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若匹配，就按下一跳的接口转发该分组。否则，就丢弃该分组。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01010110 01111010 00000000 00000000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49" name="组合 48"/>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51" name="组合 50"/>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4" name="组合 3"/>
          <p:cNvGrpSpPr/>
          <p:nvPr/>
        </p:nvGrpSpPr>
        <p:grpSpPr>
          <a:xfrm>
            <a:off x="6478712" y="1393425"/>
            <a:ext cx="756725" cy="1226974"/>
            <a:chOff x="6478712" y="2744561"/>
            <a:chExt cx="756725" cy="1226974"/>
          </a:xfrm>
        </p:grpSpPr>
        <p:sp>
          <p:nvSpPr>
            <p:cNvPr id="42" name="Rectangle 32"/>
            <p:cNvSpPr>
              <a:spLocks noChangeArrowheads="1"/>
            </p:cNvSpPr>
            <p:nvPr/>
          </p:nvSpPr>
          <p:spPr bwMode="auto">
            <a:xfrm>
              <a:off x="6795557" y="3872583"/>
              <a:ext cx="104526" cy="98952"/>
            </a:xfrm>
            <a:prstGeom prst="rect">
              <a:avLst/>
            </a:prstGeom>
            <a:solidFill>
              <a:srgbClr val="C00000"/>
            </a:solidFill>
            <a:ln w="19050">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Freeform 7"/>
            <p:cNvSpPr>
              <a:spLocks/>
            </p:cNvSpPr>
            <p:nvPr/>
          </p:nvSpPr>
          <p:spPr bwMode="auto">
            <a:xfrm>
              <a:off x="6478712" y="2744561"/>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spTree>
    <p:extLst>
      <p:ext uri="{BB962C8B-B14F-4D97-AF65-F5344CB8AC3E}">
        <p14:creationId xmlns:p14="http://schemas.microsoft.com/office/powerpoint/2010/main" val="1365009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000"/>
                                        <p:tgtEl>
                                          <p:spTgt spid="4"/>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矩形 12"/>
          <p:cNvSpPr/>
          <p:nvPr/>
        </p:nvSpPr>
        <p:spPr>
          <a:xfrm>
            <a:off x="1058078" y="2115412"/>
            <a:ext cx="4433248" cy="1175706"/>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查到第三个字符 </a:t>
            </a:r>
            <a:r>
              <a:rPr lang="en-US" altLang="zh-CN" sz="1600" b="1" dirty="0">
                <a:latin typeface="微软雅黑" pitchFamily="34" charset="-122"/>
                <a:ea typeface="微软雅黑" pitchFamily="34" charset="-122"/>
              </a:rPr>
              <a:t>0 </a:t>
            </a:r>
            <a:r>
              <a:rPr lang="zh-CN" altLang="en-US" sz="1600" b="1" dirty="0">
                <a:latin typeface="微软雅黑" pitchFamily="34" charset="-122"/>
                <a:ea typeface="微软雅黑" pitchFamily="34" charset="-122"/>
              </a:rPr>
              <a:t>时，在二叉线索中找不到匹配的。说明这个地址不在这个二叉线索中。</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检查是否存在默认路由。若有，把分组传送到指明的默认路由器，否则丢弃该分组。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10011011 01111010 00000000 00000000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3" name="组合 2"/>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2" name="组合 1"/>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11" name="组合 10"/>
          <p:cNvGrpSpPr/>
          <p:nvPr/>
        </p:nvGrpSpPr>
        <p:grpSpPr>
          <a:xfrm>
            <a:off x="7235437" y="1403535"/>
            <a:ext cx="816065" cy="590805"/>
            <a:chOff x="7219105" y="1375249"/>
            <a:chExt cx="861251" cy="590805"/>
          </a:xfrm>
        </p:grpSpPr>
        <p:cxnSp>
          <p:nvCxnSpPr>
            <p:cNvPr id="7" name="直接连接符 6"/>
            <p:cNvCxnSpPr>
              <a:stCxn id="75" idx="0"/>
            </p:cNvCxnSpPr>
            <p:nvPr/>
          </p:nvCxnSpPr>
          <p:spPr>
            <a:xfrm>
              <a:off x="7219105" y="1375249"/>
              <a:ext cx="861251" cy="286063"/>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cxnSp>
          <p:nvCxnSpPr>
            <p:cNvPr id="10" name="直接连接符 9"/>
            <p:cNvCxnSpPr>
              <a:endCxn id="68" idx="6"/>
            </p:cNvCxnSpPr>
            <p:nvPr/>
          </p:nvCxnSpPr>
          <p:spPr>
            <a:xfrm flipH="1">
              <a:off x="7613327" y="1661312"/>
              <a:ext cx="453813" cy="304742"/>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234713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up)">
                                      <p:cBhvr>
                                        <p:cTn id="7" dur="1000"/>
                                        <p:tgtEl>
                                          <p:spTgt spid="11"/>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Line 16"/>
          <p:cNvSpPr>
            <a:spLocks noChangeShapeType="1"/>
          </p:cNvSpPr>
          <p:nvPr/>
        </p:nvSpPr>
        <p:spPr bwMode="auto">
          <a:xfrm>
            <a:off x="3637198" y="1162334"/>
            <a:ext cx="0" cy="114330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pic>
        <p:nvPicPr>
          <p:cNvPr id="64" name="图片占位符 63">
            <a:extLst>
              <a:ext uri="{FF2B5EF4-FFF2-40B4-BE49-F238E27FC236}">
                <a16:creationId xmlns:a16="http://schemas.microsoft.com/office/drawing/2014/main" id="{49253946-B472-F1AB-B1D0-4F0136FFF9EF}"/>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1D9D089D-373B-684B-C5CD-496B479A4BD6}"/>
              </a:ext>
            </a:extLst>
          </p:cNvPr>
          <p:cNvSpPr>
            <a:spLocks noGrp="1"/>
          </p:cNvSpPr>
          <p:nvPr>
            <p:ph type="title"/>
          </p:nvPr>
        </p:nvSpPr>
        <p:spPr>
          <a:xfrm>
            <a:off x="628650" y="1790739"/>
            <a:ext cx="4320000" cy="553998"/>
          </a:xfrm>
        </p:spPr>
        <p:txBody>
          <a:bodyPr/>
          <a:lstStyle/>
          <a:p>
            <a:r>
              <a:rPr lang="fr-FR" altLang="zh-CN"/>
              <a:t>4.4 </a:t>
            </a:r>
            <a:r>
              <a:rPr lang="zh-CN" altLang="en-US"/>
              <a:t>网际控制报文协议</a:t>
            </a:r>
            <a:endParaRPr lang="zh-CN" altLang="en-US" dirty="0"/>
          </a:p>
        </p:txBody>
      </p:sp>
      <p:sp>
        <p:nvSpPr>
          <p:cNvPr id="6" name="文本占位符 5">
            <a:extLst>
              <a:ext uri="{FF2B5EF4-FFF2-40B4-BE49-F238E27FC236}">
                <a16:creationId xmlns:a16="http://schemas.microsoft.com/office/drawing/2014/main" id="{5D1D3DA5-FB56-607C-3D7F-FDA8AE0B9619}"/>
              </a:ext>
            </a:extLst>
          </p:cNvPr>
          <p:cNvSpPr>
            <a:spLocks noGrp="1"/>
          </p:cNvSpPr>
          <p:nvPr>
            <p:ph type="body" sz="quarter" idx="11"/>
          </p:nvPr>
        </p:nvSpPr>
        <p:spPr>
          <a:xfrm>
            <a:off x="628100" y="2344736"/>
            <a:ext cx="4320000" cy="1870075"/>
          </a:xfrm>
        </p:spPr>
        <p:txBody>
          <a:bodyPr/>
          <a:lstStyle/>
          <a:p>
            <a:r>
              <a:rPr lang="en-US" altLang="zh-CN"/>
              <a:t>ICMP</a:t>
            </a:r>
          </a:p>
          <a:p>
            <a:r>
              <a:rPr lang="en-US" altLang="zh-CN"/>
              <a:t>Internet Control Message Protocol</a:t>
            </a:r>
          </a:p>
          <a:p>
            <a:r>
              <a:rPr lang="en-US" altLang="zh-CN"/>
              <a:t>· ICMP </a:t>
            </a:r>
            <a:r>
              <a:rPr lang="zh-CN" altLang="en-US"/>
              <a:t>报文的种类</a:t>
            </a:r>
            <a:endParaRPr lang="en-US" altLang="zh-CN"/>
          </a:p>
          <a:p>
            <a:r>
              <a:rPr lang="en-US" altLang="zh-CN"/>
              <a:t>· ICMP </a:t>
            </a:r>
            <a:r>
              <a:rPr lang="zh-CN" altLang="en-US"/>
              <a:t>的应用举例</a:t>
            </a:r>
            <a:endParaRPr lang="zh-CN" altLang="en-US" dirty="0"/>
          </a:p>
        </p:txBody>
      </p:sp>
    </p:spTree>
    <p:extLst>
      <p:ext uri="{BB962C8B-B14F-4D97-AF65-F5344CB8AC3E}">
        <p14:creationId xmlns:p14="http://schemas.microsoft.com/office/powerpoint/2010/main" val="25330570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p:cNvGrpSpPr/>
          <p:nvPr/>
        </p:nvGrpSpPr>
        <p:grpSpPr>
          <a:xfrm>
            <a:off x="4516339" y="1918791"/>
            <a:ext cx="3416249" cy="2751241"/>
            <a:chOff x="2372076" y="1403136"/>
            <a:chExt cx="4224107" cy="2751241"/>
          </a:xfrm>
        </p:grpSpPr>
        <p:sp>
          <p:nvSpPr>
            <p:cNvPr id="10" name="Text Box 9"/>
            <p:cNvSpPr txBox="1">
              <a:spLocks noChangeArrowheads="1"/>
            </p:cNvSpPr>
            <p:nvPr/>
          </p:nvSpPr>
          <p:spPr bwMode="auto">
            <a:xfrm>
              <a:off x="2372076" y="3355900"/>
              <a:ext cx="1047082"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b="1">
                  <a:latin typeface="微软雅黑" pitchFamily="34" charset="-122"/>
                  <a:ea typeface="微软雅黑" pitchFamily="34" charset="-122"/>
                </a:rPr>
                <a:t>  </a:t>
              </a:r>
              <a:r>
                <a:rPr kumimoji="1" lang="zh-CN" altLang="en-US" sz="1200" b="1">
                  <a:latin typeface="微软雅黑" pitchFamily="34" charset="-122"/>
                  <a:ea typeface="微软雅黑" pitchFamily="34" charset="-122"/>
                </a:rPr>
                <a:t>网络接口层</a:t>
              </a:r>
            </a:p>
          </p:txBody>
        </p:sp>
        <p:sp>
          <p:nvSpPr>
            <p:cNvPr id="11" name="Text Box 13"/>
            <p:cNvSpPr txBox="1">
              <a:spLocks noChangeArrowheads="1"/>
            </p:cNvSpPr>
            <p:nvPr/>
          </p:nvSpPr>
          <p:spPr bwMode="auto">
            <a:xfrm>
              <a:off x="2714268" y="197746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运输层</a:t>
              </a:r>
            </a:p>
          </p:txBody>
        </p:sp>
        <p:sp>
          <p:nvSpPr>
            <p:cNvPr id="12" name="Text Box 15"/>
            <p:cNvSpPr txBox="1">
              <a:spLocks noChangeArrowheads="1"/>
            </p:cNvSpPr>
            <p:nvPr/>
          </p:nvSpPr>
          <p:spPr bwMode="auto">
            <a:xfrm>
              <a:off x="2747925" y="152075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应用层</a:t>
              </a:r>
            </a:p>
          </p:txBody>
        </p:sp>
        <p:sp>
          <p:nvSpPr>
            <p:cNvPr id="13" name="Line 22"/>
            <p:cNvSpPr>
              <a:spLocks noChangeShapeType="1"/>
            </p:cNvSpPr>
            <p:nvPr/>
          </p:nvSpPr>
          <p:spPr bwMode="auto">
            <a:xfrm>
              <a:off x="2562806" y="1959860"/>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4" name="Line 23"/>
            <p:cNvSpPr>
              <a:spLocks noChangeShapeType="1"/>
            </p:cNvSpPr>
            <p:nvPr/>
          </p:nvSpPr>
          <p:spPr bwMode="auto">
            <a:xfrm>
              <a:off x="2562806" y="2313013"/>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 name="Line 24"/>
            <p:cNvSpPr>
              <a:spLocks noChangeShapeType="1"/>
            </p:cNvSpPr>
            <p:nvPr/>
          </p:nvSpPr>
          <p:spPr bwMode="auto">
            <a:xfrm>
              <a:off x="2581879" y="3270978"/>
              <a:ext cx="1079307"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6" name="Line 25"/>
            <p:cNvSpPr>
              <a:spLocks noChangeShapeType="1"/>
            </p:cNvSpPr>
            <p:nvPr/>
          </p:nvSpPr>
          <p:spPr bwMode="auto">
            <a:xfrm>
              <a:off x="3094606" y="231301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7" name="Text Box 26"/>
            <p:cNvSpPr txBox="1">
              <a:spLocks noChangeArrowheads="1"/>
            </p:cNvSpPr>
            <p:nvPr/>
          </p:nvSpPr>
          <p:spPr bwMode="auto">
            <a:xfrm>
              <a:off x="2514069" y="2497357"/>
              <a:ext cx="1165222" cy="461665"/>
            </a:xfrm>
            <a:prstGeom prst="rect">
              <a:avLst/>
            </a:prstGeom>
            <a:solidFill>
              <a:srgbClr val="C3E3F9"/>
            </a:solidFill>
            <a:ln>
              <a:noFill/>
            </a:ln>
            <a:effectLst/>
          </p:spPr>
          <p:txBody>
            <a:bodyPr wrap="square">
              <a:spAutoFit/>
            </a:bodyPr>
            <a:lstStyle/>
            <a:p>
              <a:pPr algn="ctr"/>
              <a:r>
                <a:rPr kumimoji="1" lang="zh-CN" altLang="en-US" sz="1200" b="1" dirty="0">
                  <a:solidFill>
                    <a:srgbClr val="0000FF"/>
                  </a:solidFill>
                  <a:latin typeface="微软雅黑" pitchFamily="34" charset="-122"/>
                  <a:ea typeface="微软雅黑" pitchFamily="34" charset="-122"/>
                </a:rPr>
                <a:t>网络层</a:t>
              </a:r>
              <a:endParaRPr kumimoji="1" lang="en-US" altLang="zh-CN" sz="1200" b="1" dirty="0">
                <a:solidFill>
                  <a:srgbClr val="0000FF"/>
                </a:solidFill>
                <a:latin typeface="微软雅黑" pitchFamily="34" charset="-122"/>
                <a:ea typeface="微软雅黑" pitchFamily="34" charset="-122"/>
              </a:endParaRPr>
            </a:p>
            <a:p>
              <a:pPr algn="ctr"/>
              <a:r>
                <a:rPr kumimoji="1" lang="zh-CN" altLang="en-US" sz="1200" b="1" dirty="0">
                  <a:solidFill>
                    <a:srgbClr val="CC00CC"/>
                  </a:solidFill>
                  <a:latin typeface="微软雅黑" pitchFamily="34" charset="-122"/>
                  <a:ea typeface="微软雅黑" pitchFamily="34" charset="-122"/>
                </a:rPr>
                <a:t>（网际层）</a:t>
              </a:r>
            </a:p>
          </p:txBody>
        </p:sp>
        <p:grpSp>
          <p:nvGrpSpPr>
            <p:cNvPr id="18" name="组合 17"/>
            <p:cNvGrpSpPr/>
            <p:nvPr/>
          </p:nvGrpSpPr>
          <p:grpSpPr>
            <a:xfrm>
              <a:off x="3718405" y="1403136"/>
              <a:ext cx="2877778" cy="2751241"/>
              <a:chOff x="3718405" y="1403136"/>
              <a:chExt cx="2877778" cy="2751241"/>
            </a:xfrm>
          </p:grpSpPr>
          <p:sp>
            <p:nvSpPr>
              <p:cNvPr id="21" name="Rectangle 5"/>
              <p:cNvSpPr>
                <a:spLocks noChangeArrowheads="1"/>
              </p:cNvSpPr>
              <p:nvPr/>
            </p:nvSpPr>
            <p:spPr bwMode="auto">
              <a:xfrm>
                <a:off x="3721771" y="1403723"/>
                <a:ext cx="2874412" cy="2223514"/>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b="1">
                  <a:solidFill>
                    <a:srgbClr val="000099"/>
                  </a:solidFill>
                  <a:latin typeface="微软雅黑" pitchFamily="34" charset="-122"/>
                  <a:ea typeface="微软雅黑" pitchFamily="34" charset="-122"/>
                </a:endParaRPr>
              </a:p>
            </p:txBody>
          </p:sp>
          <p:sp>
            <p:nvSpPr>
              <p:cNvPr id="22" name="矩形 21"/>
              <p:cNvSpPr/>
              <p:nvPr/>
            </p:nvSpPr>
            <p:spPr>
              <a:xfrm>
                <a:off x="3721771" y="2313013"/>
                <a:ext cx="2874412"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23" name="Rectangle 4"/>
              <p:cNvSpPr>
                <a:spLocks noChangeArrowheads="1"/>
              </p:cNvSpPr>
              <p:nvPr/>
            </p:nvSpPr>
            <p:spPr bwMode="auto">
              <a:xfrm>
                <a:off x="3721771" y="2313013"/>
                <a:ext cx="2874412" cy="960036"/>
              </a:xfrm>
              <a:prstGeom prst="rect">
                <a:avLst/>
              </a:prstGeom>
              <a:solidFill>
                <a:srgbClr val="FFFF66"/>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4" name="Line 6"/>
              <p:cNvSpPr>
                <a:spLocks noChangeShapeType="1"/>
              </p:cNvSpPr>
              <p:nvPr/>
            </p:nvSpPr>
            <p:spPr bwMode="auto">
              <a:xfrm>
                <a:off x="3721771" y="1959860"/>
                <a:ext cx="287441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7"/>
              <p:cNvSpPr>
                <a:spLocks noChangeShapeType="1"/>
              </p:cNvSpPr>
              <p:nvPr/>
            </p:nvSpPr>
            <p:spPr bwMode="auto">
              <a:xfrm>
                <a:off x="3721771" y="2313013"/>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Text Box 8"/>
              <p:cNvSpPr txBox="1">
                <a:spLocks noChangeArrowheads="1"/>
              </p:cNvSpPr>
              <p:nvPr/>
            </p:nvSpPr>
            <p:spPr bwMode="auto">
              <a:xfrm>
                <a:off x="4410642" y="1403136"/>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各种应用层协议</a:t>
                </a:r>
              </a:p>
            </p:txBody>
          </p:sp>
          <p:sp>
            <p:nvSpPr>
              <p:cNvPr id="27" name="Text Box 10"/>
              <p:cNvSpPr txBox="1">
                <a:spLocks noChangeArrowheads="1"/>
              </p:cNvSpPr>
              <p:nvPr/>
            </p:nvSpPr>
            <p:spPr bwMode="auto">
              <a:xfrm>
                <a:off x="4044889" y="1645744"/>
                <a:ext cx="17843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(HTTP, FTP, SMTP </a:t>
                </a:r>
                <a:r>
                  <a:rPr kumimoji="1" lang="zh-CN" altLang="zh-CN" sz="1200" b="1" dirty="0">
                    <a:latin typeface="微软雅黑" pitchFamily="34" charset="-122"/>
                    <a:ea typeface="微软雅黑" pitchFamily="34" charset="-122"/>
                  </a:rPr>
                  <a:t>等</a:t>
                </a:r>
                <a:r>
                  <a:rPr kumimoji="1" lang="en-US" altLang="zh-CN" sz="1200" b="1" dirty="0">
                    <a:latin typeface="微软雅黑" pitchFamily="34" charset="-122"/>
                    <a:ea typeface="微软雅黑" pitchFamily="34" charset="-122"/>
                  </a:rPr>
                  <a:t>)</a:t>
                </a:r>
              </a:p>
            </p:txBody>
          </p:sp>
          <p:sp>
            <p:nvSpPr>
              <p:cNvPr id="28" name="Rectangle 11"/>
              <p:cNvSpPr>
                <a:spLocks noChangeArrowheads="1"/>
              </p:cNvSpPr>
              <p:nvPr/>
            </p:nvSpPr>
            <p:spPr bwMode="auto">
              <a:xfrm>
                <a:off x="3718405" y="3677984"/>
                <a:ext cx="2877778"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9" name="Text Box 12"/>
              <p:cNvSpPr txBox="1">
                <a:spLocks noChangeArrowheads="1"/>
              </p:cNvSpPr>
              <p:nvPr/>
            </p:nvSpPr>
            <p:spPr bwMode="auto">
              <a:xfrm>
                <a:off x="4661957" y="376058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物理硬件</a:t>
                </a:r>
              </a:p>
            </p:txBody>
          </p:sp>
          <p:sp>
            <p:nvSpPr>
              <p:cNvPr id="30" name="Text Box 14"/>
              <p:cNvSpPr txBox="1">
                <a:spLocks noChangeArrowheads="1"/>
              </p:cNvSpPr>
              <p:nvPr/>
            </p:nvSpPr>
            <p:spPr bwMode="auto">
              <a:xfrm>
                <a:off x="4739371" y="1984375"/>
                <a:ext cx="8845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UDP</a:t>
                </a:r>
              </a:p>
            </p:txBody>
          </p:sp>
          <p:sp>
            <p:nvSpPr>
              <p:cNvPr id="31" name="Rectangle 16"/>
              <p:cNvSpPr>
                <a:spLocks noChangeArrowheads="1"/>
              </p:cNvSpPr>
              <p:nvPr/>
            </p:nvSpPr>
            <p:spPr bwMode="auto">
              <a:xfrm>
                <a:off x="3781234" y="2343046"/>
                <a:ext cx="685505"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dirty="0">
                    <a:solidFill>
                      <a:srgbClr val="0000FF"/>
                    </a:solidFill>
                    <a:latin typeface="微软雅黑" pitchFamily="34" charset="-122"/>
                    <a:ea typeface="微软雅黑" pitchFamily="34" charset="-122"/>
                  </a:rPr>
                  <a:t>ICMP</a:t>
                </a:r>
              </a:p>
            </p:txBody>
          </p:sp>
          <p:sp>
            <p:nvSpPr>
              <p:cNvPr id="32" name="Text Box 17"/>
              <p:cNvSpPr txBox="1">
                <a:spLocks noChangeArrowheads="1"/>
              </p:cNvSpPr>
              <p:nvPr/>
            </p:nvSpPr>
            <p:spPr bwMode="auto">
              <a:xfrm>
                <a:off x="4975193" y="2674159"/>
                <a:ext cx="38824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99"/>
                    </a:solidFill>
                    <a:latin typeface="微软雅黑" pitchFamily="34" charset="-122"/>
                    <a:ea typeface="微软雅黑" pitchFamily="34" charset="-122"/>
                  </a:rPr>
                  <a:t>IP</a:t>
                </a:r>
              </a:p>
            </p:txBody>
          </p:sp>
          <p:sp>
            <p:nvSpPr>
              <p:cNvPr id="33" name="Rectangle 19"/>
              <p:cNvSpPr>
                <a:spLocks noChangeArrowheads="1"/>
              </p:cNvSpPr>
              <p:nvPr/>
            </p:nvSpPr>
            <p:spPr bwMode="auto">
              <a:xfrm>
                <a:off x="5910678" y="2970643"/>
                <a:ext cx="624920"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ARP</a:t>
                </a:r>
              </a:p>
            </p:txBody>
          </p:sp>
          <p:sp>
            <p:nvSpPr>
              <p:cNvPr id="34" name="Text Box 20"/>
              <p:cNvSpPr txBox="1">
                <a:spLocks noChangeArrowheads="1"/>
              </p:cNvSpPr>
              <p:nvPr/>
            </p:nvSpPr>
            <p:spPr bwMode="auto">
              <a:xfrm>
                <a:off x="4375862" y="3290337"/>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与各种网络接口</a:t>
                </a:r>
              </a:p>
            </p:txBody>
          </p:sp>
          <p:sp>
            <p:nvSpPr>
              <p:cNvPr id="35" name="Line 21"/>
              <p:cNvSpPr>
                <a:spLocks noChangeShapeType="1"/>
              </p:cNvSpPr>
              <p:nvPr/>
            </p:nvSpPr>
            <p:spPr bwMode="auto">
              <a:xfrm>
                <a:off x="3721771" y="3273049"/>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Rectangle 27"/>
              <p:cNvSpPr>
                <a:spLocks noChangeArrowheads="1"/>
              </p:cNvSpPr>
              <p:nvPr/>
            </p:nvSpPr>
            <p:spPr bwMode="auto">
              <a:xfrm>
                <a:off x="4500398" y="2343046"/>
                <a:ext cx="684384"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IGMP</a:t>
                </a:r>
              </a:p>
            </p:txBody>
          </p:sp>
        </p:grpSp>
        <p:sp>
          <p:nvSpPr>
            <p:cNvPr id="19" name="Line 28"/>
            <p:cNvSpPr>
              <a:spLocks noChangeShapeType="1"/>
            </p:cNvSpPr>
            <p:nvPr/>
          </p:nvSpPr>
          <p:spPr bwMode="auto">
            <a:xfrm flipV="1">
              <a:off x="2571782" y="1403723"/>
              <a:ext cx="1089404"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0" name="Line 29"/>
            <p:cNvSpPr>
              <a:spLocks noChangeShapeType="1"/>
            </p:cNvSpPr>
            <p:nvPr/>
          </p:nvSpPr>
          <p:spPr bwMode="auto">
            <a:xfrm>
              <a:off x="2552708" y="3627237"/>
              <a:ext cx="110847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B08DB0C0-04CE-1950-5A25-2BE0A0B49182}"/>
              </a:ext>
            </a:extLst>
          </p:cNvPr>
          <p:cNvSpPr>
            <a:spLocks noGrp="1"/>
          </p:cNvSpPr>
          <p:nvPr>
            <p:ph type="title"/>
          </p:nvPr>
        </p:nvSpPr>
        <p:spPr>
          <a:xfrm>
            <a:off x="486000" y="550723"/>
            <a:ext cx="8172000" cy="338554"/>
          </a:xfrm>
        </p:spPr>
        <p:txBody>
          <a:bodyPr/>
          <a:lstStyle/>
          <a:p>
            <a:r>
              <a:rPr lang="en-US" altLang="zh-CN" dirty="0"/>
              <a:t>4.4  </a:t>
            </a:r>
            <a:r>
              <a:rPr lang="zh-CN" altLang="en-US" dirty="0"/>
              <a:t>网际控制报文协议 </a:t>
            </a:r>
            <a:r>
              <a:rPr lang="en-US" altLang="zh-CN" dirty="0"/>
              <a:t>ICMP </a:t>
            </a:r>
            <a:endParaRPr lang="zh-CN" altLang="en-US" dirty="0"/>
          </a:p>
        </p:txBody>
      </p:sp>
      <p:sp>
        <p:nvSpPr>
          <p:cNvPr id="3" name="内容占位符 2">
            <a:extLst>
              <a:ext uri="{FF2B5EF4-FFF2-40B4-BE49-F238E27FC236}">
                <a16:creationId xmlns:a16="http://schemas.microsoft.com/office/drawing/2014/main" id="{2D506078-B116-FFA9-9749-95272D9050BC}"/>
              </a:ext>
            </a:extLst>
          </p:cNvPr>
          <p:cNvSpPr>
            <a:spLocks noGrp="1"/>
          </p:cNvSpPr>
          <p:nvPr>
            <p:ph sz="quarter" idx="11"/>
          </p:nvPr>
        </p:nvSpPr>
        <p:spPr>
          <a:xfrm>
            <a:off x="486000" y="900000"/>
            <a:ext cx="8172000" cy="3703500"/>
          </a:xfrm>
        </p:spPr>
        <p:txBody>
          <a:bodyPr/>
          <a:lstStyle/>
          <a:p>
            <a:r>
              <a:rPr lang="en-US" altLang="zh-CN" dirty="0"/>
              <a:t>ICMP - Internet Control Message Protocol</a:t>
            </a:r>
          </a:p>
          <a:p>
            <a:r>
              <a:rPr lang="zh-CN" altLang="en-US" dirty="0"/>
              <a:t>允许主机或路由器报告差错情况和提供有关异常情况的报告。</a:t>
            </a:r>
            <a:endParaRPr lang="en-US" altLang="zh-CN" dirty="0"/>
          </a:p>
          <a:p>
            <a:r>
              <a:rPr lang="en-US" altLang="zh-CN" dirty="0"/>
              <a:t>ICMP</a:t>
            </a:r>
            <a:r>
              <a:rPr lang="zh-CN" altLang="en-US" dirty="0"/>
              <a:t>是互联网的标准协议</a:t>
            </a:r>
            <a:endParaRPr lang="en-US" altLang="zh-CN" dirty="0"/>
          </a:p>
          <a:p>
            <a:r>
              <a:rPr lang="zh-CN" altLang="en-US" dirty="0"/>
              <a:t>但</a:t>
            </a:r>
            <a:r>
              <a:rPr lang="en-US" altLang="zh-CN" dirty="0"/>
              <a:t>ICMP</a:t>
            </a:r>
            <a:r>
              <a:rPr lang="zh-CN" altLang="en-US" dirty="0"/>
              <a:t>不是高层协议</a:t>
            </a:r>
            <a:endParaRPr lang="en-US" altLang="zh-CN" dirty="0"/>
          </a:p>
          <a:p>
            <a:r>
              <a:rPr lang="zh-CN" altLang="en-US" dirty="0"/>
              <a:t>而是 </a:t>
            </a:r>
            <a:r>
              <a:rPr lang="en-US" altLang="zh-CN" dirty="0"/>
              <a:t>IP </a:t>
            </a:r>
            <a:r>
              <a:rPr lang="zh-CN" altLang="en-US" dirty="0"/>
              <a:t>层的协议</a:t>
            </a:r>
          </a:p>
        </p:txBody>
      </p:sp>
    </p:spTree>
    <p:extLst>
      <p:ext uri="{BB962C8B-B14F-4D97-AF65-F5344CB8AC3E}">
        <p14:creationId xmlns:p14="http://schemas.microsoft.com/office/powerpoint/2010/main" val="7753687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utoShape 31"/>
          <p:cNvSpPr>
            <a:spLocks noChangeArrowheads="1"/>
          </p:cNvSpPr>
          <p:nvPr/>
        </p:nvSpPr>
        <p:spPr bwMode="auto">
          <a:xfrm rot="5400000">
            <a:off x="2370617" y="3475756"/>
            <a:ext cx="226595" cy="397890"/>
          </a:xfrm>
          <a:prstGeom prst="downArrow">
            <a:avLst>
              <a:gd name="adj1" fmla="val 47222"/>
              <a:gd name="adj2" fmla="val 83745"/>
            </a:avLst>
          </a:prstGeom>
          <a:solidFill>
            <a:srgbClr val="00FFFF"/>
          </a:solidFill>
          <a:ln w="9525">
            <a:solidFill>
              <a:schemeClr val="tx1"/>
            </a:solid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10" name="Rectangle 2"/>
          <p:cNvSpPr>
            <a:spLocks noChangeArrowheads="1"/>
          </p:cNvSpPr>
          <p:nvPr/>
        </p:nvSpPr>
        <p:spPr bwMode="auto">
          <a:xfrm>
            <a:off x="2659930" y="3535258"/>
            <a:ext cx="3609335" cy="306277"/>
          </a:xfrm>
          <a:prstGeom prst="rect">
            <a:avLst/>
          </a:prstGeom>
          <a:solidFill>
            <a:srgbClr val="0000FF"/>
          </a:solidFill>
          <a:ln>
            <a:headEnd/>
            <a:tailEnd/>
          </a:ln>
        </p:spPr>
        <p:style>
          <a:lnRef idx="2">
            <a:schemeClr val="dk1"/>
          </a:lnRef>
          <a:fillRef idx="1">
            <a:schemeClr val="lt1"/>
          </a:fillRef>
          <a:effectRef idx="0">
            <a:schemeClr val="dk1"/>
          </a:effectRef>
          <a:fontRef idx="minor">
            <a:schemeClr val="dk1"/>
          </a:fontRef>
        </p:style>
        <p:txBody>
          <a:bodyPr wrap="none" anchor="ctr"/>
          <a:lstStyle/>
          <a:p>
            <a:pPr algn="ctr"/>
            <a:endParaRPr lang="zh-CN" altLang="en-US" sz="1400" b="1">
              <a:latin typeface="微软雅黑" pitchFamily="34" charset="-122"/>
              <a:ea typeface="微软雅黑" pitchFamily="34" charset="-122"/>
            </a:endParaRPr>
          </a:p>
        </p:txBody>
      </p:sp>
      <p:sp>
        <p:nvSpPr>
          <p:cNvPr id="11" name="Rectangle 4"/>
          <p:cNvSpPr>
            <a:spLocks noChangeArrowheads="1"/>
          </p:cNvSpPr>
          <p:nvPr/>
        </p:nvSpPr>
        <p:spPr bwMode="auto">
          <a:xfrm>
            <a:off x="3674373" y="3569576"/>
            <a:ext cx="2581244" cy="244521"/>
          </a:xfrm>
          <a:prstGeom prst="rect">
            <a:avLst/>
          </a:prstGeom>
          <a:solidFill>
            <a:srgbClr val="00FFFF"/>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12" name="Freeform 5"/>
          <p:cNvSpPr>
            <a:spLocks/>
          </p:cNvSpPr>
          <p:nvPr/>
        </p:nvSpPr>
        <p:spPr bwMode="auto">
          <a:xfrm>
            <a:off x="2680162" y="2577832"/>
            <a:ext cx="4769285" cy="367283"/>
          </a:xfrm>
          <a:custGeom>
            <a:avLst/>
            <a:gdLst>
              <a:gd name="T0" fmla="*/ 0 w 2790"/>
              <a:gd name="T1" fmla="*/ 6 h 279"/>
              <a:gd name="T2" fmla="*/ 561 w 2790"/>
              <a:gd name="T3" fmla="*/ 279 h 279"/>
              <a:gd name="T4" fmla="*/ 2100 w 2790"/>
              <a:gd name="T5" fmla="*/ 276 h 279"/>
              <a:gd name="T6" fmla="*/ 2790 w 2790"/>
              <a:gd name="T7" fmla="*/ 0 h 279"/>
              <a:gd name="T8" fmla="*/ 0 w 2790"/>
              <a:gd name="T9" fmla="*/ 6 h 279"/>
            </a:gdLst>
            <a:ahLst/>
            <a:cxnLst>
              <a:cxn ang="0">
                <a:pos x="T0" y="T1"/>
              </a:cxn>
              <a:cxn ang="0">
                <a:pos x="T2" y="T3"/>
              </a:cxn>
              <a:cxn ang="0">
                <a:pos x="T4" y="T5"/>
              </a:cxn>
              <a:cxn ang="0">
                <a:pos x="T6" y="T7"/>
              </a:cxn>
              <a:cxn ang="0">
                <a:pos x="T8" y="T9"/>
              </a:cxn>
            </a:cxnLst>
            <a:rect l="0" t="0" r="r" b="b"/>
            <a:pathLst>
              <a:path w="2790" h="279">
                <a:moveTo>
                  <a:pt x="0" y="6"/>
                </a:moveTo>
                <a:lnTo>
                  <a:pt x="561" y="279"/>
                </a:lnTo>
                <a:lnTo>
                  <a:pt x="2100" y="276"/>
                </a:lnTo>
                <a:lnTo>
                  <a:pt x="2790" y="0"/>
                </a:lnTo>
                <a:lnTo>
                  <a:pt x="0" y="6"/>
                </a:lnTo>
                <a:close/>
              </a:path>
            </a:pathLst>
          </a:custGeom>
          <a:gradFill flip="none" rotWithShape="1">
            <a:gsLst>
              <a:gs pos="0">
                <a:srgbClr val="00B0F0"/>
              </a:gs>
              <a:gs pos="100000">
                <a:srgbClr val="99FFCC"/>
              </a:gs>
            </a:gsLst>
            <a:lin ang="16200000" scaled="1"/>
            <a:tileRect/>
          </a:gradFill>
          <a:ln>
            <a:noFill/>
          </a:ln>
          <a:effectLst/>
        </p:spPr>
        <p:txBody>
          <a:bodyPr/>
          <a:lstStyle/>
          <a:p>
            <a:pPr algn="ctr"/>
            <a:endParaRPr lang="zh-CN" altLang="en-US" sz="1400" b="1">
              <a:latin typeface="微软雅黑" pitchFamily="34" charset="-122"/>
              <a:ea typeface="微软雅黑" pitchFamily="34" charset="-122"/>
            </a:endParaRPr>
          </a:p>
        </p:txBody>
      </p:sp>
      <p:sp>
        <p:nvSpPr>
          <p:cNvPr id="13" name="Line 6"/>
          <p:cNvSpPr>
            <a:spLocks noChangeShapeType="1"/>
          </p:cNvSpPr>
          <p:nvPr/>
        </p:nvSpPr>
        <p:spPr bwMode="auto">
          <a:xfrm>
            <a:off x="2659930" y="4024554"/>
            <a:ext cx="3609335" cy="0"/>
          </a:xfrm>
          <a:prstGeom prst="line">
            <a:avLst/>
          </a:prstGeom>
          <a:noFill/>
          <a:ln w="28575">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4" name="Text Box 7"/>
          <p:cNvSpPr txBox="1">
            <a:spLocks noChangeArrowheads="1"/>
          </p:cNvSpPr>
          <p:nvPr/>
        </p:nvSpPr>
        <p:spPr bwMode="auto">
          <a:xfrm>
            <a:off x="2844543" y="3532768"/>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chemeClr val="bg1"/>
                </a:solidFill>
                <a:latin typeface="微软雅黑" pitchFamily="34" charset="-122"/>
                <a:ea typeface="微软雅黑" pitchFamily="34" charset="-122"/>
              </a:rPr>
              <a:t>首  部</a:t>
            </a:r>
          </a:p>
        </p:txBody>
      </p:sp>
      <p:sp>
        <p:nvSpPr>
          <p:cNvPr id="15" name="Rectangle 8"/>
          <p:cNvSpPr>
            <a:spLocks noChangeArrowheads="1"/>
          </p:cNvSpPr>
          <p:nvPr/>
        </p:nvSpPr>
        <p:spPr bwMode="auto">
          <a:xfrm>
            <a:off x="3644540" y="2926439"/>
            <a:ext cx="2624726" cy="307521"/>
          </a:xfrm>
          <a:prstGeom prst="rect">
            <a:avLst/>
          </a:prstGeom>
          <a:solidFill>
            <a:srgbClr val="99FFCC"/>
          </a:solidFill>
          <a:ln w="9525">
            <a:solidFill>
              <a:schemeClr val="tx1"/>
            </a:solidFill>
            <a:miter lim="800000"/>
            <a:headEnd/>
            <a:tailEnd/>
          </a:ln>
          <a:effectLst/>
        </p:spPr>
        <p:txBody>
          <a:bodyPr wrap="none" anchor="ctr"/>
          <a:lstStyle/>
          <a:p>
            <a:pPr algn="ctr"/>
            <a:r>
              <a:rPr kumimoji="1" lang="en-US" altLang="zh-CN" sz="1400" b="1">
                <a:latin typeface="微软雅黑" pitchFamily="34" charset="-122"/>
                <a:ea typeface="微软雅黑" pitchFamily="34" charset="-122"/>
              </a:rPr>
              <a:t>ICMP </a:t>
            </a:r>
            <a:r>
              <a:rPr kumimoji="1" lang="zh-CN" altLang="en-US" sz="1400" b="1">
                <a:latin typeface="微软雅黑" pitchFamily="34" charset="-122"/>
                <a:ea typeface="微软雅黑" pitchFamily="34" charset="-122"/>
              </a:rPr>
              <a:t>报文</a:t>
            </a:r>
          </a:p>
        </p:txBody>
      </p:sp>
      <p:sp>
        <p:nvSpPr>
          <p:cNvPr id="16" name="Text Box 9"/>
          <p:cNvSpPr txBox="1">
            <a:spLocks noChangeArrowheads="1"/>
          </p:cNvSpPr>
          <p:nvPr/>
        </p:nvSpPr>
        <p:spPr bwMode="auto">
          <a:xfrm>
            <a:off x="253733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0</a:t>
            </a:r>
          </a:p>
        </p:txBody>
      </p:sp>
      <p:sp>
        <p:nvSpPr>
          <p:cNvPr id="17" name="Line 10"/>
          <p:cNvSpPr>
            <a:spLocks noChangeShapeType="1"/>
          </p:cNvSpPr>
          <p:nvPr/>
        </p:nvSpPr>
        <p:spPr bwMode="auto">
          <a:xfrm>
            <a:off x="3644540" y="3535258"/>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8" name="Text Box 11"/>
          <p:cNvSpPr txBox="1">
            <a:spLocks noChangeArrowheads="1"/>
          </p:cNvSpPr>
          <p:nvPr/>
        </p:nvSpPr>
        <p:spPr bwMode="auto">
          <a:xfrm>
            <a:off x="4406029" y="3532768"/>
            <a:ext cx="12202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数  据  部  分</a:t>
            </a:r>
          </a:p>
        </p:txBody>
      </p:sp>
      <p:sp>
        <p:nvSpPr>
          <p:cNvPr id="19" name="AutoShape 12"/>
          <p:cNvSpPr>
            <a:spLocks noChangeArrowheads="1"/>
          </p:cNvSpPr>
          <p:nvPr/>
        </p:nvSpPr>
        <p:spPr bwMode="auto">
          <a:xfrm>
            <a:off x="4792351" y="3233961"/>
            <a:ext cx="245478" cy="367283"/>
          </a:xfrm>
          <a:prstGeom prst="downArrow">
            <a:avLst>
              <a:gd name="adj1" fmla="val 47222"/>
              <a:gd name="adj2" fmla="val 83746"/>
            </a:avLst>
          </a:prstGeom>
          <a:solidFill>
            <a:srgbClr val="CC00CC"/>
          </a:solidFill>
          <a:ln w="9525">
            <a:no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23" name="Line 16"/>
          <p:cNvSpPr>
            <a:spLocks noChangeShapeType="1"/>
          </p:cNvSpPr>
          <p:nvPr/>
        </p:nvSpPr>
        <p:spPr bwMode="auto">
          <a:xfrm flipV="1">
            <a:off x="5037828" y="1351480"/>
            <a:ext cx="0" cy="306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9" name="Text Box 22"/>
          <p:cNvSpPr txBox="1">
            <a:spLocks noChangeArrowheads="1"/>
          </p:cNvSpPr>
          <p:nvPr/>
        </p:nvSpPr>
        <p:spPr bwMode="auto">
          <a:xfrm>
            <a:off x="371077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8</a:t>
            </a:r>
          </a:p>
        </p:txBody>
      </p:sp>
      <p:sp>
        <p:nvSpPr>
          <p:cNvPr id="30" name="Text Box 23"/>
          <p:cNvSpPr txBox="1">
            <a:spLocks noChangeArrowheads="1"/>
          </p:cNvSpPr>
          <p:nvPr/>
        </p:nvSpPr>
        <p:spPr bwMode="auto">
          <a:xfrm>
            <a:off x="4871758"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16</a:t>
            </a:r>
          </a:p>
        </p:txBody>
      </p:sp>
      <p:sp>
        <p:nvSpPr>
          <p:cNvPr id="31" name="Rectangle 24"/>
          <p:cNvSpPr>
            <a:spLocks noChangeArrowheads="1"/>
          </p:cNvSpPr>
          <p:nvPr/>
        </p:nvSpPr>
        <p:spPr bwMode="auto">
          <a:xfrm>
            <a:off x="3875181" y="3902541"/>
            <a:ext cx="1081721" cy="224105"/>
          </a:xfrm>
          <a:prstGeom prst="rect">
            <a:avLst/>
          </a:prstGeom>
          <a:solidFill>
            <a:srgbClr val="C3E3F9"/>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32" name="Text Box 25"/>
          <p:cNvSpPr txBox="1">
            <a:spLocks noChangeArrowheads="1"/>
          </p:cNvSpPr>
          <p:nvPr/>
        </p:nvSpPr>
        <p:spPr bwMode="auto">
          <a:xfrm>
            <a:off x="7166832"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31</a:t>
            </a:r>
          </a:p>
        </p:txBody>
      </p:sp>
      <p:sp>
        <p:nvSpPr>
          <p:cNvPr id="33" name="Text Box 26"/>
          <p:cNvSpPr txBox="1">
            <a:spLocks noChangeArrowheads="1"/>
          </p:cNvSpPr>
          <p:nvPr/>
        </p:nvSpPr>
        <p:spPr bwMode="auto">
          <a:xfrm>
            <a:off x="3959214" y="3855077"/>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a:t>
            </a:r>
          </a:p>
        </p:txBody>
      </p:sp>
      <p:grpSp>
        <p:nvGrpSpPr>
          <p:cNvPr id="2" name="组合 1"/>
          <p:cNvGrpSpPr/>
          <p:nvPr/>
        </p:nvGrpSpPr>
        <p:grpSpPr>
          <a:xfrm>
            <a:off x="2659930" y="1347840"/>
            <a:ext cx="4758495" cy="1226352"/>
            <a:chOff x="2659930" y="1470672"/>
            <a:chExt cx="4758495" cy="1226352"/>
          </a:xfrm>
        </p:grpSpPr>
        <p:sp>
          <p:nvSpPr>
            <p:cNvPr id="20" name="Rectangle 13"/>
            <p:cNvSpPr>
              <a:spLocks noChangeArrowheads="1"/>
            </p:cNvSpPr>
            <p:nvPr/>
          </p:nvSpPr>
          <p:spPr bwMode="auto">
            <a:xfrm>
              <a:off x="2659930" y="1470672"/>
              <a:ext cx="4758495" cy="1226352"/>
            </a:xfrm>
            <a:prstGeom prst="rect">
              <a:avLst/>
            </a:prstGeom>
            <a:solidFill>
              <a:srgbClr val="99FFCC"/>
            </a:solidFill>
            <a:ln w="19050">
              <a:solidFill>
                <a:schemeClr val="tx1"/>
              </a:solidFill>
              <a:miter lim="800000"/>
              <a:headEnd/>
              <a:tailEnd/>
            </a:ln>
            <a:effectLst/>
          </p:spPr>
          <p:txBody>
            <a:bodyPr wrap="none" anchor="ctr"/>
            <a:lstStyle/>
            <a:p>
              <a:pPr algn="ctr"/>
              <a:endParaRPr lang="zh-CN" altLang="en-US" sz="1400" b="1">
                <a:latin typeface="微软雅黑" pitchFamily="34" charset="-122"/>
                <a:ea typeface="微软雅黑" pitchFamily="34" charset="-122"/>
              </a:endParaRPr>
            </a:p>
          </p:txBody>
        </p:sp>
        <p:sp>
          <p:nvSpPr>
            <p:cNvPr id="21" name="Line 14"/>
            <p:cNvSpPr>
              <a:spLocks noChangeShapeType="1"/>
            </p:cNvSpPr>
            <p:nvPr/>
          </p:nvSpPr>
          <p:spPr bwMode="auto">
            <a:xfrm rot="5400000" flipV="1">
              <a:off x="5039178" y="-598660"/>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2" name="Line 15"/>
            <p:cNvSpPr>
              <a:spLocks noChangeShapeType="1"/>
            </p:cNvSpPr>
            <p:nvPr/>
          </p:nvSpPr>
          <p:spPr bwMode="auto">
            <a:xfrm flipV="1">
              <a:off x="3848205"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4" name="Line 17"/>
            <p:cNvSpPr>
              <a:spLocks noChangeShapeType="1"/>
            </p:cNvSpPr>
            <p:nvPr/>
          </p:nvSpPr>
          <p:spPr bwMode="auto">
            <a:xfrm flipV="1">
              <a:off x="5037828"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34" name="Line 27"/>
            <p:cNvSpPr>
              <a:spLocks noChangeShapeType="1"/>
            </p:cNvSpPr>
            <p:nvPr/>
          </p:nvSpPr>
          <p:spPr bwMode="auto">
            <a:xfrm rot="16200000">
              <a:off x="5039178" y="-291137"/>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grpSp>
      <p:sp>
        <p:nvSpPr>
          <p:cNvPr id="36" name="Text Box 29"/>
          <p:cNvSpPr txBox="1">
            <a:spLocks noChangeArrowheads="1"/>
          </p:cNvSpPr>
          <p:nvPr/>
        </p:nvSpPr>
        <p:spPr bwMode="auto">
          <a:xfrm>
            <a:off x="3566280" y="2120907"/>
            <a:ext cx="323518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的数据部分（长度取决于类型）</a:t>
            </a:r>
          </a:p>
        </p:txBody>
      </p:sp>
      <p:grpSp>
        <p:nvGrpSpPr>
          <p:cNvPr id="39" name="组合 38"/>
          <p:cNvGrpSpPr/>
          <p:nvPr/>
        </p:nvGrpSpPr>
        <p:grpSpPr>
          <a:xfrm>
            <a:off x="1227936" y="1277546"/>
            <a:ext cx="5387714" cy="480131"/>
            <a:chOff x="1227936" y="1400378"/>
            <a:chExt cx="5387714" cy="480131"/>
          </a:xfrm>
        </p:grpSpPr>
        <p:sp>
          <p:nvSpPr>
            <p:cNvPr id="25" name="Text Box 18"/>
            <p:cNvSpPr txBox="1">
              <a:spLocks noChangeArrowheads="1"/>
            </p:cNvSpPr>
            <p:nvPr/>
          </p:nvSpPr>
          <p:spPr bwMode="auto">
            <a:xfrm>
              <a:off x="5892375" y="148831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检验和</a:t>
              </a:r>
            </a:p>
          </p:txBody>
        </p:sp>
        <p:sp>
          <p:nvSpPr>
            <p:cNvPr id="26" name="Text Box 19"/>
            <p:cNvSpPr txBox="1">
              <a:spLocks noChangeArrowheads="1"/>
            </p:cNvSpPr>
            <p:nvPr/>
          </p:nvSpPr>
          <p:spPr bwMode="auto">
            <a:xfrm>
              <a:off x="2982352"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类型</a:t>
              </a:r>
            </a:p>
          </p:txBody>
        </p:sp>
        <p:sp>
          <p:nvSpPr>
            <p:cNvPr id="27" name="Text Box 20"/>
            <p:cNvSpPr txBox="1">
              <a:spLocks noChangeArrowheads="1"/>
            </p:cNvSpPr>
            <p:nvPr/>
          </p:nvSpPr>
          <p:spPr bwMode="auto">
            <a:xfrm>
              <a:off x="4239415"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代码</a:t>
              </a:r>
            </a:p>
          </p:txBody>
        </p:sp>
        <p:sp>
          <p:nvSpPr>
            <p:cNvPr id="35" name="Text Box 28"/>
            <p:cNvSpPr txBox="1">
              <a:spLocks noChangeArrowheads="1"/>
            </p:cNvSpPr>
            <p:nvPr/>
          </p:nvSpPr>
          <p:spPr bwMode="auto">
            <a:xfrm>
              <a:off x="1227936" y="1400378"/>
              <a:ext cx="1119217" cy="480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400" b="1" dirty="0">
                  <a:solidFill>
                    <a:srgbClr val="CC00CC"/>
                  </a:solidFill>
                  <a:latin typeface="微软雅黑" pitchFamily="34" charset="-122"/>
                  <a:ea typeface="微软雅黑" pitchFamily="34" charset="-122"/>
                </a:rPr>
                <a:t>前 </a:t>
              </a:r>
              <a:r>
                <a:rPr kumimoji="1" lang="en-US" altLang="zh-CN" sz="1400" b="1" dirty="0">
                  <a:solidFill>
                    <a:srgbClr val="CC00CC"/>
                  </a:solidFill>
                  <a:latin typeface="微软雅黑" pitchFamily="34" charset="-122"/>
                  <a:ea typeface="微软雅黑" pitchFamily="34" charset="-122"/>
                </a:rPr>
                <a:t>4 </a:t>
              </a:r>
              <a:r>
                <a:rPr kumimoji="1" lang="zh-CN" altLang="en-US" sz="1400" b="1" dirty="0">
                  <a:solidFill>
                    <a:srgbClr val="CC00CC"/>
                  </a:solidFill>
                  <a:latin typeface="微软雅黑" pitchFamily="34" charset="-122"/>
                  <a:ea typeface="微软雅黑" pitchFamily="34" charset="-122"/>
                </a:rPr>
                <a:t>个字节</a:t>
              </a:r>
            </a:p>
            <a:p>
              <a:pPr algn="ctr">
                <a:lnSpc>
                  <a:spcPct val="90000"/>
                </a:lnSpc>
              </a:pPr>
              <a:r>
                <a:rPr kumimoji="1" lang="zh-CN" altLang="en-US" sz="1400" b="1" dirty="0">
                  <a:solidFill>
                    <a:srgbClr val="CC00CC"/>
                  </a:solidFill>
                  <a:latin typeface="微软雅黑" pitchFamily="34" charset="-122"/>
                  <a:ea typeface="微软雅黑" pitchFamily="34" charset="-122"/>
                </a:rPr>
                <a:t>是统一格式</a:t>
              </a:r>
            </a:p>
          </p:txBody>
        </p:sp>
        <p:sp>
          <p:nvSpPr>
            <p:cNvPr id="37" name="Line 30"/>
            <p:cNvSpPr>
              <a:spLocks noChangeShapeType="1"/>
            </p:cNvSpPr>
            <p:nvPr/>
          </p:nvSpPr>
          <p:spPr bwMode="auto">
            <a:xfrm>
              <a:off x="2248552" y="1631492"/>
              <a:ext cx="411378"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400" b="1">
                <a:latin typeface="微软雅黑" pitchFamily="34" charset="-122"/>
                <a:ea typeface="微软雅黑" pitchFamily="34" charset="-122"/>
              </a:endParaRPr>
            </a:p>
          </p:txBody>
        </p:sp>
      </p:grpSp>
      <p:sp>
        <p:nvSpPr>
          <p:cNvPr id="28" name="Text Box 21"/>
          <p:cNvSpPr txBox="1">
            <a:spLocks noChangeArrowheads="1"/>
          </p:cNvSpPr>
          <p:nvPr/>
        </p:nvSpPr>
        <p:spPr bwMode="auto">
          <a:xfrm>
            <a:off x="3370925" y="1676740"/>
            <a:ext cx="35044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（这 </a:t>
            </a:r>
            <a:r>
              <a:rPr kumimoji="1" lang="en-US" altLang="zh-CN" sz="1400" b="1" dirty="0">
                <a:latin typeface="微软雅黑" pitchFamily="34" charset="-122"/>
                <a:ea typeface="微软雅黑" pitchFamily="34" charset="-122"/>
              </a:rPr>
              <a:t>4 </a:t>
            </a:r>
            <a:r>
              <a:rPr kumimoji="1" lang="zh-CN" altLang="en-US" sz="1400" b="1" dirty="0">
                <a:latin typeface="微软雅黑" pitchFamily="34" charset="-122"/>
                <a:ea typeface="微软雅黑" pitchFamily="34" charset="-122"/>
              </a:rPr>
              <a:t>个字节取决于 </a:t>
            </a: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报文的类型）</a:t>
            </a:r>
          </a:p>
        </p:txBody>
      </p:sp>
      <p:sp>
        <p:nvSpPr>
          <p:cNvPr id="3" name="标题 2">
            <a:extLst>
              <a:ext uri="{FF2B5EF4-FFF2-40B4-BE49-F238E27FC236}">
                <a16:creationId xmlns:a16="http://schemas.microsoft.com/office/drawing/2014/main" id="{17A437DC-0B0F-6717-B87C-985F1DE39539}"/>
              </a:ext>
            </a:extLst>
          </p:cNvPr>
          <p:cNvSpPr>
            <a:spLocks noGrp="1"/>
          </p:cNvSpPr>
          <p:nvPr>
            <p:ph type="title"/>
          </p:nvPr>
        </p:nvSpPr>
        <p:spPr>
          <a:xfrm>
            <a:off x="486000" y="550723"/>
            <a:ext cx="8172000" cy="338554"/>
          </a:xfrm>
        </p:spPr>
        <p:txBody>
          <a:bodyPr/>
          <a:lstStyle/>
          <a:p>
            <a:r>
              <a:rPr lang="en-US" altLang="zh-CN" dirty="0"/>
              <a:t>ICMP </a:t>
            </a:r>
            <a:r>
              <a:rPr lang="zh-CN" altLang="en-US" dirty="0"/>
              <a:t>报文的格式 </a:t>
            </a:r>
          </a:p>
        </p:txBody>
      </p:sp>
    </p:spTree>
    <p:extLst>
      <p:ext uri="{BB962C8B-B14F-4D97-AF65-F5344CB8AC3E}">
        <p14:creationId xmlns:p14="http://schemas.microsoft.com/office/powerpoint/2010/main" val="11282640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p:cNvGraphicFramePr>
            <a:graphicFrameLocks noGrp="1"/>
          </p:cNvGraphicFramePr>
          <p:nvPr>
            <p:extLst>
              <p:ext uri="{D42A27DB-BD31-4B8C-83A1-F6EECF244321}">
                <p14:modId xmlns:p14="http://schemas.microsoft.com/office/powerpoint/2010/main" val="2854757506"/>
              </p:ext>
            </p:extLst>
          </p:nvPr>
        </p:nvGraphicFramePr>
        <p:xfrm>
          <a:off x="1242000" y="2069204"/>
          <a:ext cx="6660000" cy="2534582"/>
        </p:xfrm>
        <a:graphic>
          <a:graphicData uri="http://schemas.openxmlformats.org/drawingml/2006/table">
            <a:tbl>
              <a:tblPr firstRow="1" firstCol="1">
                <a:tableStyleId>{5C22544A-7EE6-4342-B048-85BDC9FD1C3A}</a:tableStyleId>
              </a:tblPr>
              <a:tblGrid>
                <a:gridCol w="1599405">
                  <a:extLst>
                    <a:ext uri="{9D8B030D-6E8A-4147-A177-3AD203B41FA5}">
                      <a16:colId xmlns:a16="http://schemas.microsoft.com/office/drawing/2014/main" val="2577757187"/>
                    </a:ext>
                  </a:extLst>
                </a:gridCol>
                <a:gridCol w="1312007">
                  <a:extLst>
                    <a:ext uri="{9D8B030D-6E8A-4147-A177-3AD203B41FA5}">
                      <a16:colId xmlns:a16="http://schemas.microsoft.com/office/drawing/2014/main" val="2504039375"/>
                    </a:ext>
                  </a:extLst>
                </a:gridCol>
                <a:gridCol w="3748588">
                  <a:extLst>
                    <a:ext uri="{9D8B030D-6E8A-4147-A177-3AD203B41FA5}">
                      <a16:colId xmlns:a16="http://schemas.microsoft.com/office/drawing/2014/main" val="4253697781"/>
                    </a:ext>
                  </a:extLst>
                </a:gridCol>
              </a:tblGrid>
              <a:tr h="464024">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 </a:t>
                      </a:r>
                      <a:r>
                        <a:rPr lang="zh-CN" sz="1400" b="0" kern="500" dirty="0">
                          <a:effectLst/>
                          <a:latin typeface="微软雅黑" panose="020B0503020204020204" pitchFamily="34" charset="-122"/>
                          <a:ea typeface="微软雅黑" panose="020B0503020204020204" pitchFamily="34" charset="-122"/>
                        </a:rPr>
                        <a:t>报文种类</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类型的值</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a:t>
                      </a:r>
                      <a:r>
                        <a:rPr lang="zh-CN" sz="1400" b="0" kern="500" dirty="0">
                          <a:effectLst/>
                          <a:latin typeface="微软雅黑" panose="020B0503020204020204" pitchFamily="34" charset="-122"/>
                          <a:ea typeface="微软雅黑" panose="020B0503020204020204" pitchFamily="34" charset="-122"/>
                        </a:rPr>
                        <a:t>报文的类型</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901984704"/>
                  </a:ext>
                </a:extLst>
              </a:tr>
              <a:tr h="345093">
                <a:tc rowSpan="4">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差错报告报文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 3</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终点不可达</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722480891"/>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11</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时间超过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425218434"/>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12</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参数问题</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743133543"/>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5</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改变路由</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(Redirect)</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321176566"/>
                  </a:ext>
                </a:extLst>
              </a:tr>
              <a:tr h="345093">
                <a:tc rowSpan="2">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询问报文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8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0</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回送</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(Echo)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266132482"/>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13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14</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时间戳</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(Timestamp)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810166473"/>
                  </a:ext>
                </a:extLst>
              </a:tr>
            </a:tbl>
          </a:graphicData>
        </a:graphic>
      </p:graphicFrame>
      <p:sp>
        <p:nvSpPr>
          <p:cNvPr id="4" name="标题 3">
            <a:extLst>
              <a:ext uri="{FF2B5EF4-FFF2-40B4-BE49-F238E27FC236}">
                <a16:creationId xmlns:a16="http://schemas.microsoft.com/office/drawing/2014/main" id="{E4AEE9B4-0FE4-2218-83BF-37524128FF71}"/>
              </a:ext>
            </a:extLst>
          </p:cNvPr>
          <p:cNvSpPr>
            <a:spLocks noGrp="1"/>
          </p:cNvSpPr>
          <p:nvPr>
            <p:ph type="title"/>
          </p:nvPr>
        </p:nvSpPr>
        <p:spPr>
          <a:xfrm>
            <a:off x="486000" y="550723"/>
            <a:ext cx="8172000" cy="338554"/>
          </a:xfrm>
        </p:spPr>
        <p:txBody>
          <a:bodyPr/>
          <a:lstStyle/>
          <a:p>
            <a:r>
              <a:rPr lang="en-US" altLang="zh-CN" dirty="0"/>
              <a:t>4.4.1  ICMP </a:t>
            </a:r>
            <a:r>
              <a:rPr lang="zh-CN" altLang="en-US" dirty="0"/>
              <a:t>报文的种类</a:t>
            </a:r>
          </a:p>
        </p:txBody>
      </p:sp>
      <p:sp>
        <p:nvSpPr>
          <p:cNvPr id="5" name="内容占位符 4">
            <a:extLst>
              <a:ext uri="{FF2B5EF4-FFF2-40B4-BE49-F238E27FC236}">
                <a16:creationId xmlns:a16="http://schemas.microsoft.com/office/drawing/2014/main" id="{30FB9D83-ABB4-2107-6430-655AFA7EC268}"/>
              </a:ext>
            </a:extLst>
          </p:cNvPr>
          <p:cNvSpPr>
            <a:spLocks noGrp="1"/>
          </p:cNvSpPr>
          <p:nvPr>
            <p:ph sz="quarter" idx="11"/>
          </p:nvPr>
        </p:nvSpPr>
        <p:spPr>
          <a:xfrm>
            <a:off x="486000" y="900000"/>
            <a:ext cx="8172000" cy="3703500"/>
          </a:xfrm>
        </p:spPr>
        <p:txBody>
          <a:bodyPr>
            <a:spAutoFit/>
          </a:bodyPr>
          <a:lstStyle/>
          <a:p>
            <a:r>
              <a:rPr lang="zh-CN" altLang="en-US" dirty="0"/>
              <a:t>差错报告报文</a:t>
            </a:r>
            <a:endParaRPr lang="en-US" altLang="zh-CN" dirty="0"/>
          </a:p>
          <a:p>
            <a:r>
              <a:rPr lang="zh-CN" altLang="en-US" dirty="0"/>
              <a:t>询问报文</a:t>
            </a:r>
          </a:p>
          <a:p>
            <a:endParaRPr lang="zh-CN" altLang="en-US" dirty="0"/>
          </a:p>
        </p:txBody>
      </p:sp>
    </p:spTree>
    <p:extLst>
      <p:ext uri="{BB962C8B-B14F-4D97-AF65-F5344CB8AC3E}">
        <p14:creationId xmlns:p14="http://schemas.microsoft.com/office/powerpoint/2010/main" val="20514126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094465" y="1176792"/>
            <a:ext cx="6987704" cy="2958454"/>
            <a:chOff x="650435" y="1556792"/>
            <a:chExt cx="8695053" cy="3681310"/>
          </a:xfrm>
        </p:grpSpPr>
        <p:sp>
          <p:nvSpPr>
            <p:cNvPr id="36" name="Rectangle 2"/>
            <p:cNvSpPr>
              <a:spLocks noChangeArrowheads="1"/>
            </p:cNvSpPr>
            <p:nvPr/>
          </p:nvSpPr>
          <p:spPr bwMode="auto">
            <a:xfrm>
              <a:off x="662260" y="4195216"/>
              <a:ext cx="4531651" cy="596900"/>
            </a:xfrm>
            <a:prstGeom prst="rect">
              <a:avLst/>
            </a:prstGeom>
            <a:solidFill>
              <a:srgbClr val="00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5"/>
            <p:cNvSpPr>
              <a:spLocks noChangeArrowheads="1"/>
            </p:cNvSpPr>
            <p:nvPr/>
          </p:nvSpPr>
          <p:spPr bwMode="auto">
            <a:xfrm>
              <a:off x="1412089" y="4195216"/>
              <a:ext cx="3781821" cy="596900"/>
            </a:xfrm>
            <a:prstGeom prst="rect">
              <a:avLst/>
            </a:prstGeom>
            <a:solidFill>
              <a:srgbClr val="00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6"/>
            <p:cNvSpPr>
              <a:spLocks noChangeShapeType="1"/>
            </p:cNvSpPr>
            <p:nvPr/>
          </p:nvSpPr>
          <p:spPr bwMode="auto">
            <a:xfrm>
              <a:off x="662260" y="5001667"/>
              <a:ext cx="4531651" cy="20637"/>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Text Box 7"/>
            <p:cNvSpPr txBox="1">
              <a:spLocks noChangeArrowheads="1"/>
            </p:cNvSpPr>
            <p:nvPr/>
          </p:nvSpPr>
          <p:spPr bwMode="auto">
            <a:xfrm>
              <a:off x="702315" y="4323803"/>
              <a:ext cx="67659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zh-CN" altLang="en-US" sz="1400" b="1" dirty="0">
                  <a:solidFill>
                    <a:schemeClr val="bg1"/>
                  </a:solidFill>
                  <a:latin typeface="微软雅黑" pitchFamily="34" charset="-122"/>
                  <a:ea typeface="微软雅黑" pitchFamily="34" charset="-122"/>
                </a:rPr>
                <a:t>首部</a:t>
              </a:r>
            </a:p>
          </p:txBody>
        </p:sp>
        <p:sp>
          <p:nvSpPr>
            <p:cNvPr id="40" name="Line 8"/>
            <p:cNvSpPr>
              <a:spLocks noChangeShapeType="1"/>
            </p:cNvSpPr>
            <p:nvPr/>
          </p:nvSpPr>
          <p:spPr bwMode="auto">
            <a:xfrm>
              <a:off x="1412089" y="4195216"/>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Text Box 10"/>
            <p:cNvSpPr txBox="1">
              <a:spLocks noChangeArrowheads="1"/>
            </p:cNvSpPr>
            <p:nvPr/>
          </p:nvSpPr>
          <p:spPr bwMode="auto">
            <a:xfrm>
              <a:off x="2362324" y="4816827"/>
              <a:ext cx="1324863" cy="421275"/>
            </a:xfrm>
            <a:prstGeom prst="rect">
              <a:avLst/>
            </a:prstGeom>
            <a:solidFill>
              <a:srgbClr val="C1E1F7"/>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CC"/>
                  </a:solidFill>
                  <a:latin typeface="微软雅黑" pitchFamily="34" charset="-122"/>
                  <a:ea typeface="微软雅黑" pitchFamily="34" charset="-122"/>
                </a:rPr>
                <a:t>IP </a:t>
              </a:r>
              <a:r>
                <a:rPr kumimoji="1" lang="zh-CN" altLang="en-US" sz="1600" b="1" dirty="0">
                  <a:solidFill>
                    <a:srgbClr val="0000CC"/>
                  </a:solidFill>
                  <a:latin typeface="微软雅黑" pitchFamily="34" charset="-122"/>
                  <a:ea typeface="微软雅黑" pitchFamily="34" charset="-122"/>
                </a:rPr>
                <a:t>数据报</a:t>
              </a:r>
            </a:p>
          </p:txBody>
        </p:sp>
        <p:sp>
          <p:nvSpPr>
            <p:cNvPr id="43" name="Rectangle 11"/>
            <p:cNvSpPr>
              <a:spLocks noChangeArrowheads="1"/>
            </p:cNvSpPr>
            <p:nvPr/>
          </p:nvSpPr>
          <p:spPr bwMode="auto">
            <a:xfrm>
              <a:off x="1412089" y="3174454"/>
              <a:ext cx="3781821" cy="607000"/>
            </a:xfrm>
            <a:prstGeom prst="rect">
              <a:avLst/>
            </a:prstGeom>
            <a:solidFill>
              <a:srgbClr val="DDDDDD"/>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12"/>
            <p:cNvSpPr>
              <a:spLocks noChangeArrowheads="1"/>
            </p:cNvSpPr>
            <p:nvPr/>
          </p:nvSpPr>
          <p:spPr bwMode="auto">
            <a:xfrm>
              <a:off x="1412089" y="3174454"/>
              <a:ext cx="3781821" cy="595313"/>
            </a:xfrm>
            <a:prstGeom prst="rect">
              <a:avLst/>
            </a:prstGeom>
            <a:solidFill>
              <a:srgbClr val="00FF99"/>
            </a:solidFill>
            <a:ln w="12700">
              <a:solidFill>
                <a:schemeClr val="tx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3"/>
            <p:cNvSpPr txBox="1">
              <a:spLocks noChangeArrowheads="1"/>
            </p:cNvSpPr>
            <p:nvPr/>
          </p:nvSpPr>
          <p:spPr bwMode="auto">
            <a:xfrm>
              <a:off x="1531703" y="3145153"/>
              <a:ext cx="1169279"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a:t>
              </a:r>
            </a:p>
            <a:p>
              <a:pPr algn="ctr"/>
              <a:r>
                <a:rPr kumimoji="1" lang="zh-CN" altLang="en-US" sz="1400" b="1" dirty="0">
                  <a:latin typeface="微软雅黑" pitchFamily="34" charset="-122"/>
                  <a:ea typeface="微软雅黑" pitchFamily="34" charset="-122"/>
                </a:rPr>
                <a:t>前 </a:t>
              </a:r>
              <a:r>
                <a:rPr kumimoji="1" lang="en-US" altLang="zh-CN" sz="1400" b="1" dirty="0">
                  <a:latin typeface="微软雅黑" pitchFamily="34" charset="-122"/>
                  <a:ea typeface="微软雅黑" pitchFamily="34" charset="-122"/>
                </a:rPr>
                <a:t>8 </a:t>
              </a:r>
              <a:r>
                <a:rPr kumimoji="1" lang="zh-CN" altLang="en-US" sz="1400" b="1" dirty="0">
                  <a:latin typeface="微软雅黑" pitchFamily="34" charset="-122"/>
                  <a:ea typeface="微软雅黑" pitchFamily="34" charset="-122"/>
                </a:rPr>
                <a:t>字节</a:t>
              </a:r>
            </a:p>
          </p:txBody>
        </p:sp>
        <p:sp>
          <p:nvSpPr>
            <p:cNvPr id="46" name="Line 14"/>
            <p:cNvSpPr>
              <a:spLocks noChangeShapeType="1"/>
            </p:cNvSpPr>
            <p:nvPr/>
          </p:nvSpPr>
          <p:spPr bwMode="auto">
            <a:xfrm>
              <a:off x="2794801" y="3174454"/>
              <a:ext cx="0" cy="5953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Text Box 15"/>
            <p:cNvSpPr txBox="1">
              <a:spLocks noChangeArrowheads="1"/>
            </p:cNvSpPr>
            <p:nvPr/>
          </p:nvSpPr>
          <p:spPr bwMode="auto">
            <a:xfrm>
              <a:off x="5297521" y="4293642"/>
              <a:ext cx="3517010"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C00CC"/>
                  </a:solidFill>
                  <a:latin typeface="微软雅黑" pitchFamily="34" charset="-122"/>
                  <a:ea typeface="微软雅黑" pitchFamily="34" charset="-122"/>
                </a:rPr>
                <a:t>装入 </a:t>
              </a:r>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报文的 </a:t>
              </a:r>
              <a:r>
                <a:rPr kumimoji="1" lang="en-US" altLang="zh-CN" sz="1600" b="1" dirty="0">
                  <a:solidFill>
                    <a:srgbClr val="CC00CC"/>
                  </a:solidFill>
                  <a:latin typeface="微软雅黑" pitchFamily="34" charset="-122"/>
                  <a:ea typeface="微软雅黑" pitchFamily="34" charset="-122"/>
                </a:rPr>
                <a:t>IP </a:t>
              </a:r>
              <a:r>
                <a:rPr kumimoji="1" lang="zh-CN" altLang="en-US" sz="1600" b="1" dirty="0">
                  <a:solidFill>
                    <a:srgbClr val="CC00CC"/>
                  </a:solidFill>
                  <a:latin typeface="微软雅黑" pitchFamily="34" charset="-122"/>
                  <a:ea typeface="微软雅黑" pitchFamily="34" charset="-122"/>
                </a:rPr>
                <a:t>数据报</a:t>
              </a:r>
            </a:p>
          </p:txBody>
        </p:sp>
        <p:sp>
          <p:nvSpPr>
            <p:cNvPr id="48" name="Rectangle 16"/>
            <p:cNvSpPr>
              <a:spLocks noChangeArrowheads="1"/>
            </p:cNvSpPr>
            <p:nvPr/>
          </p:nvSpPr>
          <p:spPr bwMode="auto">
            <a:xfrm>
              <a:off x="2794802" y="2152103"/>
              <a:ext cx="6550686" cy="5969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Text Box 17"/>
            <p:cNvSpPr txBox="1">
              <a:spLocks noChangeArrowheads="1"/>
            </p:cNvSpPr>
            <p:nvPr/>
          </p:nvSpPr>
          <p:spPr bwMode="auto">
            <a:xfrm>
              <a:off x="2838563" y="2296087"/>
              <a:ext cx="1648910"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0" name="Line 18"/>
            <p:cNvSpPr>
              <a:spLocks noChangeShapeType="1"/>
            </p:cNvSpPr>
            <p:nvPr/>
          </p:nvSpPr>
          <p:spPr bwMode="auto">
            <a:xfrm>
              <a:off x="4547269" y="2152103"/>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Text Box 19"/>
            <p:cNvSpPr txBox="1">
              <a:spLocks noChangeArrowheads="1"/>
            </p:cNvSpPr>
            <p:nvPr/>
          </p:nvSpPr>
          <p:spPr bwMode="auto">
            <a:xfrm>
              <a:off x="5317247" y="3285579"/>
              <a:ext cx="2525658"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差错报告报文</a:t>
              </a:r>
            </a:p>
          </p:txBody>
        </p:sp>
        <p:sp>
          <p:nvSpPr>
            <p:cNvPr id="52" name="Text Box 20"/>
            <p:cNvSpPr txBox="1">
              <a:spLocks noChangeArrowheads="1"/>
            </p:cNvSpPr>
            <p:nvPr/>
          </p:nvSpPr>
          <p:spPr bwMode="auto">
            <a:xfrm>
              <a:off x="4551210" y="2120164"/>
              <a:ext cx="676594"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3" name="Line 21"/>
            <p:cNvSpPr>
              <a:spLocks noChangeShapeType="1"/>
            </p:cNvSpPr>
            <p:nvPr/>
          </p:nvSpPr>
          <p:spPr bwMode="auto">
            <a:xfrm>
              <a:off x="5193910" y="2152103"/>
              <a:ext cx="0" cy="59690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4" name="Text Box 22"/>
            <p:cNvSpPr txBox="1">
              <a:spLocks noChangeArrowheads="1"/>
            </p:cNvSpPr>
            <p:nvPr/>
          </p:nvSpPr>
          <p:spPr bwMode="auto">
            <a:xfrm>
              <a:off x="650435" y="2251783"/>
              <a:ext cx="2166616"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00000"/>
                  </a:solidFill>
                  <a:latin typeface="微软雅黑" pitchFamily="34" charset="-122"/>
                  <a:ea typeface="微软雅黑" pitchFamily="34" charset="-122"/>
                </a:rPr>
                <a:t>收到的 </a:t>
              </a:r>
              <a:r>
                <a:rPr kumimoji="1" lang="en-US" altLang="zh-CN" sz="1600" b="1" dirty="0">
                  <a:solidFill>
                    <a:srgbClr val="C00000"/>
                  </a:solidFill>
                  <a:latin typeface="微软雅黑" pitchFamily="34" charset="-122"/>
                  <a:ea typeface="微软雅黑" pitchFamily="34" charset="-122"/>
                </a:rPr>
                <a:t>IP </a:t>
              </a:r>
              <a:r>
                <a:rPr kumimoji="1" lang="zh-CN" altLang="en-US" sz="1600" b="1" dirty="0">
                  <a:solidFill>
                    <a:srgbClr val="C00000"/>
                  </a:solidFill>
                  <a:latin typeface="微软雅黑" pitchFamily="34" charset="-122"/>
                  <a:ea typeface="微软雅黑" pitchFamily="34" charset="-122"/>
                </a:rPr>
                <a:t>数据报</a:t>
              </a:r>
            </a:p>
          </p:txBody>
        </p:sp>
        <p:sp>
          <p:nvSpPr>
            <p:cNvPr id="55" name="Line 23"/>
            <p:cNvSpPr>
              <a:spLocks noChangeShapeType="1"/>
            </p:cNvSpPr>
            <p:nvPr/>
          </p:nvSpPr>
          <p:spPr bwMode="auto">
            <a:xfrm>
              <a:off x="5193910"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6" name="Line 24"/>
            <p:cNvSpPr>
              <a:spLocks noChangeShapeType="1"/>
            </p:cNvSpPr>
            <p:nvPr/>
          </p:nvSpPr>
          <p:spPr bwMode="auto">
            <a:xfrm>
              <a:off x="4547269" y="3174454"/>
              <a:ext cx="0" cy="595313"/>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Text Box 25"/>
            <p:cNvSpPr txBox="1">
              <a:spLocks noChangeArrowheads="1"/>
            </p:cNvSpPr>
            <p:nvPr/>
          </p:nvSpPr>
          <p:spPr bwMode="auto">
            <a:xfrm>
              <a:off x="2865968" y="3335372"/>
              <a:ext cx="1636033"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8" name="Text Box 26"/>
            <p:cNvSpPr txBox="1">
              <a:spLocks noChangeArrowheads="1"/>
            </p:cNvSpPr>
            <p:nvPr/>
          </p:nvSpPr>
          <p:spPr bwMode="auto">
            <a:xfrm>
              <a:off x="4559816" y="3196678"/>
              <a:ext cx="676594" cy="597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9" name="AutoShape 27"/>
            <p:cNvSpPr>
              <a:spLocks noChangeArrowheads="1"/>
            </p:cNvSpPr>
            <p:nvPr/>
          </p:nvSpPr>
          <p:spPr bwMode="auto">
            <a:xfrm>
              <a:off x="3441444" y="2720428"/>
              <a:ext cx="276886" cy="509588"/>
            </a:xfrm>
            <a:prstGeom prst="downArrow">
              <a:avLst>
                <a:gd name="adj1" fmla="val 47222"/>
                <a:gd name="adj2" fmla="val 103013"/>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0" name="AutoShape 28"/>
            <p:cNvSpPr>
              <a:spLocks noChangeArrowheads="1"/>
            </p:cNvSpPr>
            <p:nvPr/>
          </p:nvSpPr>
          <p:spPr bwMode="auto">
            <a:xfrm>
              <a:off x="4763962" y="2720428"/>
              <a:ext cx="275167" cy="509588"/>
            </a:xfrm>
            <a:prstGeom prst="downArrow">
              <a:avLst>
                <a:gd name="adj1" fmla="val 47222"/>
                <a:gd name="adj2" fmla="val 103656"/>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1" name="Text Box 29"/>
            <p:cNvSpPr txBox="1">
              <a:spLocks noChangeArrowheads="1"/>
            </p:cNvSpPr>
            <p:nvPr/>
          </p:nvSpPr>
          <p:spPr bwMode="auto">
            <a:xfrm>
              <a:off x="2183406" y="4334744"/>
              <a:ext cx="223842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差错报告报文</a:t>
              </a:r>
            </a:p>
          </p:txBody>
        </p:sp>
        <p:sp>
          <p:nvSpPr>
            <p:cNvPr id="62" name="Text Box 30"/>
            <p:cNvSpPr txBox="1">
              <a:spLocks noChangeArrowheads="1"/>
            </p:cNvSpPr>
            <p:nvPr/>
          </p:nvSpPr>
          <p:spPr bwMode="auto">
            <a:xfrm>
              <a:off x="5721222" y="1556792"/>
              <a:ext cx="2306243" cy="3829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数据报的数据字段</a:t>
              </a:r>
            </a:p>
          </p:txBody>
        </p:sp>
        <p:sp>
          <p:nvSpPr>
            <p:cNvPr id="63" name="AutoShape 31"/>
            <p:cNvSpPr>
              <a:spLocks/>
            </p:cNvSpPr>
            <p:nvPr/>
          </p:nvSpPr>
          <p:spPr bwMode="auto">
            <a:xfrm rot="5400000">
              <a:off x="6815013" y="-371228"/>
              <a:ext cx="169862" cy="4705350"/>
            </a:xfrm>
            <a:prstGeom prst="leftBrace">
              <a:avLst>
                <a:gd name="adj1" fmla="val 21308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Line 32"/>
            <p:cNvSpPr>
              <a:spLocks noChangeShapeType="1"/>
            </p:cNvSpPr>
            <p:nvPr/>
          </p:nvSpPr>
          <p:spPr bwMode="auto">
            <a:xfrm>
              <a:off x="2794801"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5" name="Line 33"/>
            <p:cNvSpPr>
              <a:spLocks noChangeShapeType="1"/>
            </p:cNvSpPr>
            <p:nvPr/>
          </p:nvSpPr>
          <p:spPr bwMode="auto">
            <a:xfrm>
              <a:off x="1412089"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34"/>
            <p:cNvSpPr>
              <a:spLocks noChangeShapeType="1"/>
            </p:cNvSpPr>
            <p:nvPr/>
          </p:nvSpPr>
          <p:spPr bwMode="auto">
            <a:xfrm>
              <a:off x="5193910"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AutoShape 35"/>
            <p:cNvSpPr>
              <a:spLocks noChangeArrowheads="1"/>
            </p:cNvSpPr>
            <p:nvPr/>
          </p:nvSpPr>
          <p:spPr bwMode="auto">
            <a:xfrm>
              <a:off x="3127239" y="3817772"/>
              <a:ext cx="278606" cy="511176"/>
            </a:xfrm>
            <a:prstGeom prst="downArrow">
              <a:avLst>
                <a:gd name="adj1" fmla="val 47222"/>
                <a:gd name="adj2" fmla="val 102695"/>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6A19B83-759F-EA47-F970-32ED915B21F8}"/>
              </a:ext>
            </a:extLst>
          </p:cNvPr>
          <p:cNvSpPr>
            <a:spLocks noGrp="1"/>
          </p:cNvSpPr>
          <p:nvPr>
            <p:ph type="title"/>
          </p:nvPr>
        </p:nvSpPr>
        <p:spPr>
          <a:xfrm>
            <a:off x="486000" y="550723"/>
            <a:ext cx="8172000" cy="338554"/>
          </a:xfrm>
        </p:spPr>
        <p:txBody>
          <a:bodyPr/>
          <a:lstStyle/>
          <a:p>
            <a:r>
              <a:rPr lang="en-US" altLang="zh-CN" dirty="0"/>
              <a:t>ICMP </a:t>
            </a:r>
            <a:r>
              <a:rPr lang="zh-CN" altLang="en-US" dirty="0"/>
              <a:t>差错报告报文的数据字段的内容</a:t>
            </a:r>
          </a:p>
        </p:txBody>
      </p:sp>
    </p:spTree>
    <p:extLst>
      <p:ext uri="{BB962C8B-B14F-4D97-AF65-F5344CB8AC3E}">
        <p14:creationId xmlns:p14="http://schemas.microsoft.com/office/powerpoint/2010/main" val="23766583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160728F-A407-8887-0DD2-4518550BE030}"/>
              </a:ext>
            </a:extLst>
          </p:cNvPr>
          <p:cNvSpPr>
            <a:spLocks noGrp="1"/>
          </p:cNvSpPr>
          <p:nvPr>
            <p:ph type="title"/>
          </p:nvPr>
        </p:nvSpPr>
        <p:spPr>
          <a:xfrm>
            <a:off x="486000" y="550723"/>
            <a:ext cx="8172000" cy="338554"/>
          </a:xfrm>
        </p:spPr>
        <p:txBody>
          <a:bodyPr/>
          <a:lstStyle/>
          <a:p>
            <a:r>
              <a:rPr lang="zh-CN" altLang="en-US" dirty="0"/>
              <a:t>不应发送 </a:t>
            </a:r>
            <a:r>
              <a:rPr lang="en-US" altLang="zh-CN" dirty="0"/>
              <a:t>ICMP </a:t>
            </a:r>
            <a:r>
              <a:rPr lang="zh-CN" altLang="en-US" dirty="0"/>
              <a:t>差错报告报文的几种情况</a:t>
            </a:r>
          </a:p>
        </p:txBody>
      </p:sp>
      <p:sp>
        <p:nvSpPr>
          <p:cNvPr id="3" name="内容占位符 2">
            <a:extLst>
              <a:ext uri="{FF2B5EF4-FFF2-40B4-BE49-F238E27FC236}">
                <a16:creationId xmlns:a16="http://schemas.microsoft.com/office/drawing/2014/main" id="{88558A31-52ED-18E8-7E7A-7B492D94C989}"/>
              </a:ext>
            </a:extLst>
          </p:cNvPr>
          <p:cNvSpPr>
            <a:spLocks noGrp="1"/>
          </p:cNvSpPr>
          <p:nvPr>
            <p:ph sz="quarter" idx="11"/>
          </p:nvPr>
        </p:nvSpPr>
        <p:spPr>
          <a:xfrm>
            <a:off x="486000" y="900000"/>
            <a:ext cx="8172000" cy="3703500"/>
          </a:xfrm>
        </p:spPr>
        <p:txBody>
          <a:bodyPr/>
          <a:lstStyle/>
          <a:p>
            <a:r>
              <a:rPr lang="zh-CN" altLang="en-US" dirty="0"/>
              <a:t>对 </a:t>
            </a:r>
            <a:r>
              <a:rPr lang="en-US" altLang="zh-CN" dirty="0"/>
              <a:t>ICMP </a:t>
            </a:r>
            <a:r>
              <a:rPr lang="zh-CN" altLang="en-US" dirty="0"/>
              <a:t>差错报告报文不再发送 </a:t>
            </a:r>
            <a:r>
              <a:rPr lang="en-US" altLang="zh-CN" dirty="0"/>
              <a:t>ICMP </a:t>
            </a:r>
            <a:r>
              <a:rPr lang="zh-CN" altLang="en-US" dirty="0"/>
              <a:t>差错报告报文</a:t>
            </a:r>
          </a:p>
          <a:p>
            <a:r>
              <a:rPr lang="zh-CN" altLang="en-US" dirty="0"/>
              <a:t>对第一个分片的数据报片的所有后续数据报片都不发送 </a:t>
            </a:r>
            <a:r>
              <a:rPr lang="en-US" altLang="zh-CN" dirty="0"/>
              <a:t>ICMP </a:t>
            </a:r>
            <a:r>
              <a:rPr lang="zh-CN" altLang="en-US" dirty="0"/>
              <a:t>差错报告报文</a:t>
            </a:r>
          </a:p>
          <a:p>
            <a:r>
              <a:rPr lang="zh-CN" altLang="en-US" dirty="0"/>
              <a:t>对具有多播地址的数据报都不发送 </a:t>
            </a:r>
            <a:r>
              <a:rPr lang="en-US" altLang="zh-CN" dirty="0"/>
              <a:t>ICMP </a:t>
            </a:r>
            <a:r>
              <a:rPr lang="zh-CN" altLang="en-US" dirty="0"/>
              <a:t>差错报告报文</a:t>
            </a:r>
          </a:p>
          <a:p>
            <a:r>
              <a:rPr lang="zh-CN" altLang="en-US" dirty="0"/>
              <a:t>对具有特殊地址（如</a:t>
            </a:r>
            <a:r>
              <a:rPr lang="en-US" altLang="zh-CN" dirty="0"/>
              <a:t>127.0.0.0 </a:t>
            </a:r>
            <a:r>
              <a:rPr lang="zh-CN" altLang="en-US" dirty="0"/>
              <a:t>或 </a:t>
            </a:r>
            <a:r>
              <a:rPr lang="en-US" altLang="zh-CN" dirty="0"/>
              <a:t>0.0.0.0</a:t>
            </a:r>
            <a:r>
              <a:rPr lang="zh-CN" altLang="en-US" dirty="0"/>
              <a:t>）的数据报不发送 </a:t>
            </a:r>
            <a:r>
              <a:rPr lang="en-US" altLang="zh-CN" dirty="0"/>
              <a:t>ICMP </a:t>
            </a:r>
            <a:r>
              <a:rPr lang="zh-CN" altLang="en-US" dirty="0"/>
              <a:t>差错报告报文</a:t>
            </a:r>
          </a:p>
          <a:p>
            <a:endParaRPr lang="zh-CN" altLang="en-US" dirty="0"/>
          </a:p>
        </p:txBody>
      </p:sp>
    </p:spTree>
    <p:extLst>
      <p:ext uri="{BB962C8B-B14F-4D97-AF65-F5344CB8AC3E}">
        <p14:creationId xmlns:p14="http://schemas.microsoft.com/office/powerpoint/2010/main" val="29290711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EE7302D-8879-42FD-2D4A-4F7047D74E55}"/>
              </a:ext>
            </a:extLst>
          </p:cNvPr>
          <p:cNvSpPr>
            <a:spLocks noGrp="1"/>
          </p:cNvSpPr>
          <p:nvPr>
            <p:ph type="title"/>
          </p:nvPr>
        </p:nvSpPr>
        <p:spPr>
          <a:xfrm>
            <a:off x="486000" y="550723"/>
            <a:ext cx="8172000" cy="338554"/>
          </a:xfrm>
        </p:spPr>
        <p:txBody>
          <a:bodyPr/>
          <a:lstStyle/>
          <a:p>
            <a:r>
              <a:rPr lang="en-US" altLang="zh-CN" dirty="0"/>
              <a:t>ICMP </a:t>
            </a:r>
            <a:r>
              <a:rPr lang="zh-CN" altLang="en-US" dirty="0"/>
              <a:t>询问报文</a:t>
            </a:r>
          </a:p>
        </p:txBody>
      </p:sp>
      <p:sp>
        <p:nvSpPr>
          <p:cNvPr id="3" name="内容占位符 2">
            <a:extLst>
              <a:ext uri="{FF2B5EF4-FFF2-40B4-BE49-F238E27FC236}">
                <a16:creationId xmlns:a16="http://schemas.microsoft.com/office/drawing/2014/main" id="{BE7C8FCF-79BA-C5B2-349A-87E6FD37B764}"/>
              </a:ext>
            </a:extLst>
          </p:cNvPr>
          <p:cNvSpPr>
            <a:spLocks noGrp="1"/>
          </p:cNvSpPr>
          <p:nvPr>
            <p:ph sz="quarter" idx="11"/>
          </p:nvPr>
        </p:nvSpPr>
        <p:spPr>
          <a:xfrm>
            <a:off x="486000" y="900000"/>
            <a:ext cx="8172000" cy="3703500"/>
          </a:xfrm>
        </p:spPr>
        <p:txBody>
          <a:bodyPr/>
          <a:lstStyle/>
          <a:p>
            <a:r>
              <a:rPr lang="en-US" altLang="zh-CN" dirty="0"/>
              <a:t>(1) </a:t>
            </a:r>
            <a:r>
              <a:rPr lang="zh-CN" altLang="en-US" dirty="0"/>
              <a:t>回送请求和回答</a:t>
            </a:r>
            <a:endParaRPr lang="en-US" altLang="zh-CN" dirty="0"/>
          </a:p>
          <a:p>
            <a:pPr lvl="1"/>
            <a:r>
              <a:rPr lang="zh-CN" altLang="en-US" dirty="0"/>
              <a:t>由主机或路由器向一个特定的目的主机发出的询问。</a:t>
            </a:r>
            <a:endParaRPr lang="en-US" altLang="zh-CN" dirty="0"/>
          </a:p>
          <a:p>
            <a:pPr lvl="1"/>
            <a:r>
              <a:rPr lang="zh-CN" altLang="en-US" dirty="0"/>
              <a:t>收到此报文的主机必须给源主机或路由器发送 </a:t>
            </a:r>
            <a:r>
              <a:rPr lang="en-US" altLang="zh-CN" dirty="0"/>
              <a:t>ICMP </a:t>
            </a:r>
            <a:r>
              <a:rPr lang="zh-CN" altLang="en-US" dirty="0"/>
              <a:t>回送回答报文。</a:t>
            </a:r>
            <a:endParaRPr lang="en-US" altLang="zh-CN" dirty="0"/>
          </a:p>
          <a:p>
            <a:pPr lvl="1"/>
            <a:r>
              <a:rPr lang="zh-CN" altLang="en-US" dirty="0"/>
              <a:t>这种询问报文用来测试目的站是否可达，以及了解其有关状态。</a:t>
            </a:r>
          </a:p>
          <a:p>
            <a:r>
              <a:rPr lang="en-US" altLang="zh-CN" dirty="0"/>
              <a:t>(2) </a:t>
            </a:r>
            <a:r>
              <a:rPr lang="zh-CN" altLang="en-US" dirty="0"/>
              <a:t>时间戳请求和回答：</a:t>
            </a:r>
            <a:endParaRPr lang="en-US" altLang="zh-CN" dirty="0"/>
          </a:p>
          <a:p>
            <a:pPr lvl="1"/>
            <a:r>
              <a:rPr lang="zh-CN" altLang="en-US" dirty="0"/>
              <a:t>请某台主机或路由器回答当前的日期和时间。</a:t>
            </a:r>
            <a:endParaRPr lang="en-US" altLang="zh-CN" dirty="0"/>
          </a:p>
          <a:p>
            <a:pPr lvl="1"/>
            <a:r>
              <a:rPr lang="zh-CN" altLang="en-US" dirty="0"/>
              <a:t>时间戳回答报文中有一个 </a:t>
            </a:r>
            <a:r>
              <a:rPr lang="en-US" altLang="zh-CN" dirty="0"/>
              <a:t>32 </a:t>
            </a:r>
            <a:r>
              <a:rPr lang="zh-CN" altLang="en-US" dirty="0"/>
              <a:t>位的字段，其中写入的整数代表从</a:t>
            </a:r>
            <a:r>
              <a:rPr lang="en-US" altLang="zh-CN" dirty="0"/>
              <a:t>1900 </a:t>
            </a:r>
            <a:r>
              <a:rPr lang="zh-CN" altLang="en-US" dirty="0"/>
              <a:t>年 </a:t>
            </a:r>
            <a:r>
              <a:rPr lang="en-US" altLang="zh-CN" dirty="0"/>
              <a:t>1 </a:t>
            </a:r>
            <a:r>
              <a:rPr lang="zh-CN" altLang="en-US" dirty="0"/>
              <a:t>月 </a:t>
            </a:r>
            <a:r>
              <a:rPr lang="en-US" altLang="zh-CN" dirty="0"/>
              <a:t>1 </a:t>
            </a:r>
            <a:r>
              <a:rPr lang="zh-CN" altLang="en-US" dirty="0"/>
              <a:t>日起到当前时刻一共有多少秒。</a:t>
            </a:r>
            <a:endParaRPr lang="en-US" altLang="zh-CN" dirty="0"/>
          </a:p>
          <a:p>
            <a:pPr lvl="1"/>
            <a:r>
              <a:rPr lang="zh-CN" altLang="en-US" dirty="0"/>
              <a:t>时间戳请求与回答可用于时钟同步和时间测量。</a:t>
            </a:r>
          </a:p>
          <a:p>
            <a:endParaRPr lang="zh-CN" altLang="en-US" dirty="0"/>
          </a:p>
        </p:txBody>
      </p:sp>
    </p:spTree>
    <p:extLst>
      <p:ext uri="{BB962C8B-B14F-4D97-AF65-F5344CB8AC3E}">
        <p14:creationId xmlns:p14="http://schemas.microsoft.com/office/powerpoint/2010/main" val="88834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60E8699-CCF6-EDCE-78A3-EDC63583996C}"/>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
        <p:nvSpPr>
          <p:cNvPr id="3" name="内容占位符 2">
            <a:extLst>
              <a:ext uri="{FF2B5EF4-FFF2-40B4-BE49-F238E27FC236}">
                <a16:creationId xmlns:a16="http://schemas.microsoft.com/office/drawing/2014/main" id="{F6786F88-DFB7-24C9-30B2-8F1FDBB6A86A}"/>
              </a:ext>
            </a:extLst>
          </p:cNvPr>
          <p:cNvSpPr>
            <a:spLocks noGrp="1"/>
          </p:cNvSpPr>
          <p:nvPr>
            <p:ph sz="quarter" idx="11"/>
          </p:nvPr>
        </p:nvSpPr>
        <p:spPr>
          <a:xfrm>
            <a:off x="486000" y="900000"/>
            <a:ext cx="8172000" cy="3703500"/>
          </a:xfrm>
        </p:spPr>
        <p:txBody>
          <a:bodyPr/>
          <a:lstStyle/>
          <a:p>
            <a:r>
              <a:rPr lang="en-US" altLang="zh-CN" dirty="0"/>
              <a:t>PING</a:t>
            </a:r>
          </a:p>
          <a:p>
            <a:pPr lvl="1"/>
            <a:r>
              <a:rPr lang="en-US" altLang="zh-CN" dirty="0"/>
              <a:t>Packet </a:t>
            </a:r>
            <a:r>
              <a:rPr lang="en-US" altLang="zh-CN" dirty="0" err="1"/>
              <a:t>InterNet</a:t>
            </a:r>
            <a:r>
              <a:rPr lang="en-US" altLang="zh-CN" dirty="0"/>
              <a:t> Groper</a:t>
            </a:r>
          </a:p>
          <a:p>
            <a:pPr lvl="1"/>
            <a:r>
              <a:rPr lang="zh-CN" altLang="en-US" dirty="0"/>
              <a:t>用来测试两个主机之间的连通性</a:t>
            </a:r>
          </a:p>
          <a:p>
            <a:pPr lvl="1"/>
            <a:r>
              <a:rPr lang="zh-CN" altLang="en-US" dirty="0"/>
              <a:t>使用了 </a:t>
            </a:r>
            <a:r>
              <a:rPr lang="en-US" altLang="zh-CN" dirty="0"/>
              <a:t>ICMP </a:t>
            </a:r>
            <a:r>
              <a:rPr lang="zh-CN" altLang="en-US" dirty="0"/>
              <a:t>回送请求与回送回答报文</a:t>
            </a:r>
          </a:p>
          <a:p>
            <a:pPr lvl="1"/>
            <a:r>
              <a:rPr lang="zh-CN" altLang="en-US" dirty="0"/>
              <a:t>是应用层直接使用网络层 </a:t>
            </a:r>
            <a:r>
              <a:rPr lang="en-US" altLang="zh-CN" dirty="0"/>
              <a:t>ICMP </a:t>
            </a:r>
            <a:r>
              <a:rPr lang="zh-CN" altLang="en-US" dirty="0"/>
              <a:t>的例子，没有通过运输层的 </a:t>
            </a:r>
            <a:r>
              <a:rPr lang="en-US" altLang="zh-CN" dirty="0"/>
              <a:t>TCP </a:t>
            </a:r>
            <a:r>
              <a:rPr lang="zh-CN" altLang="en-US" dirty="0"/>
              <a:t>或 </a:t>
            </a:r>
            <a:r>
              <a:rPr lang="en-US" altLang="zh-CN" dirty="0"/>
              <a:t>UDP</a:t>
            </a:r>
            <a:endParaRPr lang="zh-CN" altLang="en-US" dirty="0"/>
          </a:p>
        </p:txBody>
      </p:sp>
    </p:spTree>
    <p:extLst>
      <p:ext uri="{BB962C8B-B14F-4D97-AF65-F5344CB8AC3E}">
        <p14:creationId xmlns:p14="http://schemas.microsoft.com/office/powerpoint/2010/main" val="2524377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矩形 107"/>
          <p:cNvSpPr/>
          <p:nvPr/>
        </p:nvSpPr>
        <p:spPr>
          <a:xfrm>
            <a:off x="1932338" y="4308390"/>
            <a:ext cx="5298024"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用</a:t>
            </a:r>
            <a:r>
              <a:rPr lang="en-US" altLang="zh-CN" sz="1400" b="1" dirty="0">
                <a:latin typeface="微软雅黑" pitchFamily="34" charset="-122"/>
                <a:ea typeface="微软雅黑" pitchFamily="34" charset="-122"/>
              </a:rPr>
              <a:t> PING </a:t>
            </a:r>
            <a:r>
              <a:rPr lang="zh-CN" altLang="zh-CN" sz="1400" b="1" dirty="0">
                <a:latin typeface="微软雅黑" pitchFamily="34" charset="-122"/>
                <a:ea typeface="微软雅黑" pitchFamily="34" charset="-122"/>
              </a:rPr>
              <a:t>测试</a:t>
            </a:r>
            <a:r>
              <a:rPr lang="zh-CN" altLang="en-US" sz="1400" b="1" dirty="0">
                <a:latin typeface="微软雅黑" pitchFamily="34" charset="-122"/>
                <a:ea typeface="微软雅黑" pitchFamily="34" charset="-122"/>
              </a:rPr>
              <a:t>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的连通性</a:t>
            </a:r>
          </a:p>
        </p:txBody>
      </p:sp>
      <p:sp>
        <p:nvSpPr>
          <p:cNvPr id="2" name="标题 1">
            <a:extLst>
              <a:ext uri="{FF2B5EF4-FFF2-40B4-BE49-F238E27FC236}">
                <a16:creationId xmlns:a16="http://schemas.microsoft.com/office/drawing/2014/main" id="{B8D42235-0C2D-1A8D-8684-99DDCC2DBD2E}"/>
              </a:ext>
            </a:extLst>
          </p:cNvPr>
          <p:cNvSpPr>
            <a:spLocks noGrp="1"/>
          </p:cNvSpPr>
          <p:nvPr>
            <p:ph type="title"/>
          </p:nvPr>
        </p:nvSpPr>
        <p:spPr>
          <a:xfrm>
            <a:off x="486000" y="550723"/>
            <a:ext cx="8172000" cy="338554"/>
          </a:xfrm>
        </p:spPr>
        <p:txBody>
          <a:bodyPr/>
          <a:lstStyle/>
          <a:p>
            <a:r>
              <a:rPr lang="en-US" altLang="zh-CN" dirty="0"/>
              <a:t>PING </a:t>
            </a:r>
            <a:r>
              <a:rPr lang="zh-CN" altLang="en-US" dirty="0"/>
              <a:t>的应用举例</a:t>
            </a:r>
          </a:p>
        </p:txBody>
      </p:sp>
      <p:sp>
        <p:nvSpPr>
          <p:cNvPr id="3" name="文本框 2">
            <a:extLst>
              <a:ext uri="{FF2B5EF4-FFF2-40B4-BE49-F238E27FC236}">
                <a16:creationId xmlns:a16="http://schemas.microsoft.com/office/drawing/2014/main" id="{1736B96D-1B74-AB10-F7BA-563759E5BF0D}"/>
              </a:ext>
            </a:extLst>
          </p:cNvPr>
          <p:cNvSpPr txBox="1"/>
          <p:nvPr/>
        </p:nvSpPr>
        <p:spPr>
          <a:xfrm>
            <a:off x="486587" y="900101"/>
            <a:ext cx="8170827" cy="2677656"/>
          </a:xfrm>
          <a:prstGeom prst="rect">
            <a:avLst/>
          </a:prstGeom>
          <a:solidFill>
            <a:schemeClr val="tx1"/>
          </a:solidFill>
        </p:spPr>
        <p:txBody>
          <a:bodyPr wrap="none" rtlCol="0">
            <a:spAutoFit/>
          </a:bodyPr>
          <a:lstStyle/>
          <a:p>
            <a:r>
              <a:rPr lang="en-US" altLang="zh-CN" sz="1200" dirty="0">
                <a:solidFill>
                  <a:schemeClr val="bg1"/>
                </a:solidFill>
                <a:latin typeface="Courier New" panose="02070309020205020404" pitchFamily="49" charset="0"/>
                <a:ea typeface="微软雅黑 Light" panose="020B0502040204020203" pitchFamily="34" charset="-122"/>
              </a:rPr>
              <a:t>C:\Users\huawei&gt;ping mail.sina.com.cn</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zh-CN" altLang="en-US" sz="1200" dirty="0">
                <a:solidFill>
                  <a:schemeClr val="bg1"/>
                </a:solidFill>
                <a:latin typeface="Courier New" panose="02070309020205020404" pitchFamily="49" charset="0"/>
                <a:ea typeface="微软雅黑 Light" panose="020B0502040204020203" pitchFamily="34" charset="-122"/>
              </a:rPr>
              <a:t>正在 </a:t>
            </a:r>
            <a:r>
              <a:rPr lang="en-US" altLang="zh-CN" sz="1200" dirty="0">
                <a:solidFill>
                  <a:schemeClr val="bg1"/>
                </a:solidFill>
                <a:latin typeface="Courier New" panose="02070309020205020404" pitchFamily="49" charset="0"/>
                <a:ea typeface="微软雅黑 Light" panose="020B0502040204020203" pitchFamily="34" charset="-122"/>
              </a:rPr>
              <a:t>Ping sinamail-webface-6882369721c.cae.sina.com.cn [116.133.8.61] </a:t>
            </a:r>
            <a:r>
              <a:rPr lang="zh-CN" altLang="en-US" sz="1200" dirty="0">
                <a:solidFill>
                  <a:schemeClr val="bg1"/>
                </a:solidFill>
                <a:latin typeface="Courier New" panose="02070309020205020404" pitchFamily="49" charset="0"/>
                <a:ea typeface="微软雅黑 Light" panose="020B0502040204020203" pitchFamily="34" charset="-122"/>
              </a:rPr>
              <a:t>具有 </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字节的数据</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=49ms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=53ms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 </a:t>
            </a:r>
            <a:r>
              <a:rPr lang="en-US" altLang="zh-CN" sz="1200" dirty="0">
                <a:solidFill>
                  <a:schemeClr val="bg1"/>
                </a:solidFill>
                <a:latin typeface="Courier New" panose="02070309020205020404" pitchFamily="49" charset="0"/>
                <a:ea typeface="微软雅黑 Light" panose="020B0502040204020203" pitchFamily="34" charset="-122"/>
              </a:rPr>
              <a:t>Ping </a:t>
            </a:r>
            <a:r>
              <a:rPr lang="zh-CN" altLang="en-US" sz="1200" dirty="0">
                <a:solidFill>
                  <a:schemeClr val="bg1"/>
                </a:solidFill>
                <a:latin typeface="Courier New" panose="02070309020205020404" pitchFamily="49" charset="0"/>
                <a:ea typeface="微软雅黑 Light" panose="020B0502040204020203" pitchFamily="34" charset="-122"/>
              </a:rPr>
              <a:t>统计信息</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数据包</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已发送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，已接收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，丢失 </a:t>
            </a:r>
            <a:r>
              <a:rPr lang="en-US" altLang="zh-CN" sz="1200" dirty="0">
                <a:solidFill>
                  <a:schemeClr val="bg1"/>
                </a:solidFill>
                <a:latin typeface="Courier New" panose="02070309020205020404" pitchFamily="49" charset="0"/>
                <a:ea typeface="微软雅黑 Light" panose="020B0502040204020203" pitchFamily="34" charset="-122"/>
              </a:rPr>
              <a:t>= 0 (0% </a:t>
            </a:r>
            <a:r>
              <a:rPr lang="zh-CN" altLang="en-US" sz="1200" dirty="0">
                <a:solidFill>
                  <a:schemeClr val="bg1"/>
                </a:solidFill>
                <a:latin typeface="Courier New" panose="02070309020205020404" pitchFamily="49" charset="0"/>
                <a:ea typeface="微软雅黑 Light" panose="020B0502040204020203" pitchFamily="34" charset="-122"/>
              </a:rPr>
              <a:t>丢失</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往返行程的估计时间</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以毫秒为单位</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最短 </a:t>
            </a:r>
            <a:r>
              <a:rPr lang="en-US" altLang="zh-CN" sz="1200" dirty="0">
                <a:solidFill>
                  <a:schemeClr val="bg1"/>
                </a:solidFill>
                <a:latin typeface="Courier New" panose="02070309020205020404" pitchFamily="49" charset="0"/>
                <a:ea typeface="微软雅黑 Light" panose="020B0502040204020203" pitchFamily="34" charset="-122"/>
              </a:rPr>
              <a:t>= 49ms</a:t>
            </a:r>
            <a:r>
              <a:rPr lang="zh-CN" altLang="en-US" sz="1200" dirty="0">
                <a:solidFill>
                  <a:schemeClr val="bg1"/>
                </a:solidFill>
                <a:latin typeface="Courier New" panose="02070309020205020404" pitchFamily="49" charset="0"/>
                <a:ea typeface="微软雅黑 Light" panose="020B0502040204020203" pitchFamily="34" charset="-122"/>
              </a:rPr>
              <a:t>，最长 </a:t>
            </a:r>
            <a:r>
              <a:rPr lang="en-US" altLang="zh-CN" sz="1200" dirty="0">
                <a:solidFill>
                  <a:schemeClr val="bg1"/>
                </a:solidFill>
                <a:latin typeface="Courier New" panose="02070309020205020404" pitchFamily="49" charset="0"/>
                <a:ea typeface="微软雅黑 Light" panose="020B0502040204020203" pitchFamily="34" charset="-122"/>
              </a:rPr>
              <a:t>= 53ms</a:t>
            </a:r>
            <a:r>
              <a:rPr lang="zh-CN" altLang="en-US" sz="1200" dirty="0">
                <a:solidFill>
                  <a:schemeClr val="bg1"/>
                </a:solidFill>
                <a:latin typeface="Courier New" panose="02070309020205020404" pitchFamily="49" charset="0"/>
                <a:ea typeface="微软雅黑 Light" panose="020B0502040204020203" pitchFamily="34" charset="-122"/>
              </a:rPr>
              <a:t>，平均 </a:t>
            </a:r>
            <a:r>
              <a:rPr lang="en-US" altLang="zh-CN" sz="1200" dirty="0">
                <a:solidFill>
                  <a:schemeClr val="bg1"/>
                </a:solidFill>
                <a:latin typeface="Courier New" panose="02070309020205020404" pitchFamily="49" charset="0"/>
                <a:ea typeface="微软雅黑 Light" panose="020B0502040204020203" pitchFamily="34" charset="-122"/>
              </a:rPr>
              <a:t>= 51ms</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C:\Users\huawei&gt;</a:t>
            </a:r>
            <a:endParaRPr lang="zh-CN" altLang="en-US" sz="1200" dirty="0">
              <a:solidFill>
                <a:schemeClr val="bg1"/>
              </a:solidFill>
              <a:latin typeface="Courier New" panose="02070309020205020404" pitchFamily="49" charset="0"/>
              <a:ea typeface="微软雅黑 Light" panose="020B0502040204020203" pitchFamily="34" charset="-122"/>
            </a:endParaRPr>
          </a:p>
        </p:txBody>
      </p:sp>
    </p:spTree>
    <p:extLst>
      <p:ext uri="{BB962C8B-B14F-4D97-AF65-F5344CB8AC3E}">
        <p14:creationId xmlns:p14="http://schemas.microsoft.com/office/powerpoint/2010/main" val="3004579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B54F10C-EF05-6325-2E8B-2E70F4FA3274}"/>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
        <p:nvSpPr>
          <p:cNvPr id="7" name="内容占位符 6">
            <a:extLst>
              <a:ext uri="{FF2B5EF4-FFF2-40B4-BE49-F238E27FC236}">
                <a16:creationId xmlns:a16="http://schemas.microsoft.com/office/drawing/2014/main" id="{512E3664-D17C-7D72-B302-AD2A87572830}"/>
              </a:ext>
            </a:extLst>
          </p:cNvPr>
          <p:cNvSpPr>
            <a:spLocks noGrp="1"/>
          </p:cNvSpPr>
          <p:nvPr>
            <p:ph sz="quarter" idx="11"/>
          </p:nvPr>
        </p:nvSpPr>
        <p:spPr>
          <a:xfrm>
            <a:off x="486000" y="900000"/>
            <a:ext cx="8172000" cy="3703500"/>
          </a:xfrm>
        </p:spPr>
        <p:txBody>
          <a:bodyPr/>
          <a:lstStyle/>
          <a:p>
            <a:r>
              <a:rPr lang="en-US" altLang="zh-CN" dirty="0" err="1"/>
              <a:t>Tracert</a:t>
            </a:r>
            <a:endParaRPr lang="zh-CN" altLang="en-US" dirty="0"/>
          </a:p>
          <a:p>
            <a:pPr lvl="1"/>
            <a:r>
              <a:rPr lang="zh-CN" altLang="en-US" dirty="0"/>
              <a:t>用来跟踪一个分组从源点到终点的路径</a:t>
            </a:r>
          </a:p>
          <a:p>
            <a:pPr lvl="1"/>
            <a:r>
              <a:rPr lang="zh-CN" altLang="en-US" dirty="0"/>
              <a:t>它利用 </a:t>
            </a:r>
            <a:r>
              <a:rPr lang="en-US" altLang="zh-CN" dirty="0"/>
              <a:t>IP </a:t>
            </a:r>
            <a:r>
              <a:rPr lang="zh-CN" altLang="en-US" dirty="0"/>
              <a:t>数据报中的 </a:t>
            </a:r>
            <a:r>
              <a:rPr lang="en-US" altLang="zh-CN" dirty="0"/>
              <a:t>TTL </a:t>
            </a:r>
            <a:r>
              <a:rPr lang="zh-CN" altLang="en-US" dirty="0"/>
              <a:t>字段、</a:t>
            </a:r>
            <a:r>
              <a:rPr lang="en-US" altLang="zh-CN" dirty="0"/>
              <a:t>ICMP </a:t>
            </a:r>
            <a:r>
              <a:rPr lang="zh-CN" altLang="en-US" dirty="0"/>
              <a:t>时间超过差错报告报文和</a:t>
            </a:r>
            <a:r>
              <a:rPr lang="en-US" altLang="zh-CN" dirty="0"/>
              <a:t>ICMP </a:t>
            </a:r>
            <a:r>
              <a:rPr lang="zh-CN" altLang="en-US" dirty="0"/>
              <a:t>终点不可达差错报告报文实现对从源点到终点的路径的跟踪</a:t>
            </a:r>
            <a:endParaRPr lang="en-US" altLang="zh-CN" dirty="0"/>
          </a:p>
          <a:p>
            <a:pPr lvl="1"/>
            <a:r>
              <a:rPr lang="en-US" altLang="zh-CN" dirty="0"/>
              <a:t>UNIX</a:t>
            </a:r>
            <a:r>
              <a:rPr lang="zh-CN" altLang="en-US" dirty="0"/>
              <a:t>操作系统命令是</a:t>
            </a:r>
            <a:r>
              <a:rPr lang="en-US" altLang="zh-CN" dirty="0"/>
              <a:t>Traceroute</a:t>
            </a:r>
            <a:endParaRPr lang="zh-CN" altLang="en-US" dirty="0"/>
          </a:p>
        </p:txBody>
      </p:sp>
    </p:spTree>
    <p:extLst>
      <p:ext uri="{BB962C8B-B14F-4D97-AF65-F5344CB8AC3E}">
        <p14:creationId xmlns:p14="http://schemas.microsoft.com/office/powerpoint/2010/main" val="1601099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504332" y="4353117"/>
            <a:ext cx="6151905"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用 </a:t>
            </a:r>
            <a:r>
              <a:rPr lang="en-US" altLang="zh-CN" sz="1400" b="1" dirty="0" err="1">
                <a:latin typeface="微软雅黑" pitchFamily="34" charset="-122"/>
                <a:ea typeface="微软雅黑" pitchFamily="34" charset="-122"/>
              </a:rPr>
              <a:t>tracert</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命令获得到新浪网的邮件服务器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的路由信息</a:t>
            </a:r>
          </a:p>
        </p:txBody>
      </p:sp>
      <p:sp>
        <p:nvSpPr>
          <p:cNvPr id="2" name="文本框 1">
            <a:extLst>
              <a:ext uri="{FF2B5EF4-FFF2-40B4-BE49-F238E27FC236}">
                <a16:creationId xmlns:a16="http://schemas.microsoft.com/office/drawing/2014/main" id="{AAB99540-0BA9-A3EA-573E-798791588AE3}"/>
              </a:ext>
            </a:extLst>
          </p:cNvPr>
          <p:cNvSpPr txBox="1"/>
          <p:nvPr/>
        </p:nvSpPr>
        <p:spPr>
          <a:xfrm>
            <a:off x="486587" y="900101"/>
            <a:ext cx="8170827" cy="2677656"/>
          </a:xfrm>
          <a:prstGeom prst="rect">
            <a:avLst/>
          </a:prstGeom>
          <a:solidFill>
            <a:schemeClr val="tx1"/>
          </a:solidFill>
        </p:spPr>
        <p:txBody>
          <a:bodyPr wrap="none" rtlCol="0">
            <a:spAutoFit/>
          </a:bodyPr>
          <a:lstStyle/>
          <a:p>
            <a:r>
              <a:rPr lang="en-US" altLang="zh-CN" sz="1200" dirty="0">
                <a:solidFill>
                  <a:schemeClr val="bg1"/>
                </a:solidFill>
                <a:latin typeface="Courier New" panose="02070309020205020404" pitchFamily="49" charset="0"/>
                <a:ea typeface="微软雅黑 Light" panose="020B0502040204020203" pitchFamily="34" charset="-122"/>
              </a:rPr>
              <a:t>C:\Users\huawei&gt;ping mail.sina.com.cn</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zh-CN" altLang="en-US" sz="1200" dirty="0">
                <a:solidFill>
                  <a:schemeClr val="bg1"/>
                </a:solidFill>
                <a:latin typeface="Courier New" panose="02070309020205020404" pitchFamily="49" charset="0"/>
                <a:ea typeface="微软雅黑 Light" panose="020B0502040204020203" pitchFamily="34" charset="-122"/>
              </a:rPr>
              <a:t>正在 </a:t>
            </a:r>
            <a:r>
              <a:rPr lang="en-US" altLang="zh-CN" sz="1200" dirty="0">
                <a:solidFill>
                  <a:schemeClr val="bg1"/>
                </a:solidFill>
                <a:latin typeface="Courier New" panose="02070309020205020404" pitchFamily="49" charset="0"/>
                <a:ea typeface="微软雅黑 Light" panose="020B0502040204020203" pitchFamily="34" charset="-122"/>
              </a:rPr>
              <a:t>Ping sinamail-webface-6882369721c.cae.sina.com.cn [116.133.8.61] </a:t>
            </a:r>
            <a:r>
              <a:rPr lang="zh-CN" altLang="en-US" sz="1200" dirty="0">
                <a:solidFill>
                  <a:schemeClr val="bg1"/>
                </a:solidFill>
                <a:latin typeface="Courier New" panose="02070309020205020404" pitchFamily="49" charset="0"/>
                <a:ea typeface="微软雅黑 Light" panose="020B0502040204020203" pitchFamily="34" charset="-122"/>
              </a:rPr>
              <a:t>具有 </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字节的数据</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=49ms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=53ms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 </a:t>
            </a:r>
            <a:r>
              <a:rPr lang="en-US" altLang="zh-CN" sz="1200" dirty="0">
                <a:solidFill>
                  <a:schemeClr val="bg1"/>
                </a:solidFill>
                <a:latin typeface="Courier New" panose="02070309020205020404" pitchFamily="49" charset="0"/>
                <a:ea typeface="微软雅黑 Light" panose="020B0502040204020203" pitchFamily="34" charset="-122"/>
              </a:rPr>
              <a:t>Ping </a:t>
            </a:r>
            <a:r>
              <a:rPr lang="zh-CN" altLang="en-US" sz="1200" dirty="0">
                <a:solidFill>
                  <a:schemeClr val="bg1"/>
                </a:solidFill>
                <a:latin typeface="Courier New" panose="02070309020205020404" pitchFamily="49" charset="0"/>
                <a:ea typeface="微软雅黑 Light" panose="020B0502040204020203" pitchFamily="34" charset="-122"/>
              </a:rPr>
              <a:t>统计信息</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数据包</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已发送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，已接收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，丢失 </a:t>
            </a:r>
            <a:r>
              <a:rPr lang="en-US" altLang="zh-CN" sz="1200" dirty="0">
                <a:solidFill>
                  <a:schemeClr val="bg1"/>
                </a:solidFill>
                <a:latin typeface="Courier New" panose="02070309020205020404" pitchFamily="49" charset="0"/>
                <a:ea typeface="微软雅黑 Light" panose="020B0502040204020203" pitchFamily="34" charset="-122"/>
              </a:rPr>
              <a:t>= 0 (0% </a:t>
            </a:r>
            <a:r>
              <a:rPr lang="zh-CN" altLang="en-US" sz="1200" dirty="0">
                <a:solidFill>
                  <a:schemeClr val="bg1"/>
                </a:solidFill>
                <a:latin typeface="Courier New" panose="02070309020205020404" pitchFamily="49" charset="0"/>
                <a:ea typeface="微软雅黑 Light" panose="020B0502040204020203" pitchFamily="34" charset="-122"/>
              </a:rPr>
              <a:t>丢失</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往返行程的估计时间</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以毫秒为单位</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最短 </a:t>
            </a:r>
            <a:r>
              <a:rPr lang="en-US" altLang="zh-CN" sz="1200" dirty="0">
                <a:solidFill>
                  <a:schemeClr val="bg1"/>
                </a:solidFill>
                <a:latin typeface="Courier New" panose="02070309020205020404" pitchFamily="49" charset="0"/>
                <a:ea typeface="微软雅黑 Light" panose="020B0502040204020203" pitchFamily="34" charset="-122"/>
              </a:rPr>
              <a:t>= 49ms</a:t>
            </a:r>
            <a:r>
              <a:rPr lang="zh-CN" altLang="en-US" sz="1200" dirty="0">
                <a:solidFill>
                  <a:schemeClr val="bg1"/>
                </a:solidFill>
                <a:latin typeface="Courier New" panose="02070309020205020404" pitchFamily="49" charset="0"/>
                <a:ea typeface="微软雅黑 Light" panose="020B0502040204020203" pitchFamily="34" charset="-122"/>
              </a:rPr>
              <a:t>，最长 </a:t>
            </a:r>
            <a:r>
              <a:rPr lang="en-US" altLang="zh-CN" sz="1200" dirty="0">
                <a:solidFill>
                  <a:schemeClr val="bg1"/>
                </a:solidFill>
                <a:latin typeface="Courier New" panose="02070309020205020404" pitchFamily="49" charset="0"/>
                <a:ea typeface="微软雅黑 Light" panose="020B0502040204020203" pitchFamily="34" charset="-122"/>
              </a:rPr>
              <a:t>= 53ms</a:t>
            </a:r>
            <a:r>
              <a:rPr lang="zh-CN" altLang="en-US" sz="1200" dirty="0">
                <a:solidFill>
                  <a:schemeClr val="bg1"/>
                </a:solidFill>
                <a:latin typeface="Courier New" panose="02070309020205020404" pitchFamily="49" charset="0"/>
                <a:ea typeface="微软雅黑 Light" panose="020B0502040204020203" pitchFamily="34" charset="-122"/>
              </a:rPr>
              <a:t>，平均 </a:t>
            </a:r>
            <a:r>
              <a:rPr lang="en-US" altLang="zh-CN" sz="1200" dirty="0">
                <a:solidFill>
                  <a:schemeClr val="bg1"/>
                </a:solidFill>
                <a:latin typeface="Courier New" panose="02070309020205020404" pitchFamily="49" charset="0"/>
                <a:ea typeface="微软雅黑 Light" panose="020B0502040204020203" pitchFamily="34" charset="-122"/>
              </a:rPr>
              <a:t>= 51ms</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C:\Users\huawei&gt;</a:t>
            </a:r>
            <a:endParaRPr lang="zh-CN" altLang="en-US" sz="1200" dirty="0">
              <a:solidFill>
                <a:schemeClr val="bg1"/>
              </a:solidFill>
              <a:latin typeface="Courier New" panose="02070309020205020404" pitchFamily="49" charset="0"/>
              <a:ea typeface="微软雅黑 Light" panose="020B0502040204020203" pitchFamily="34" charset="-122"/>
            </a:endParaRPr>
          </a:p>
        </p:txBody>
      </p:sp>
      <p:sp>
        <p:nvSpPr>
          <p:cNvPr id="3" name="标题 2">
            <a:extLst>
              <a:ext uri="{FF2B5EF4-FFF2-40B4-BE49-F238E27FC236}">
                <a16:creationId xmlns:a16="http://schemas.microsoft.com/office/drawing/2014/main" id="{BCFF20FA-2FDD-523F-5BEA-09D2B5669D7C}"/>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Tree>
    <p:extLst>
      <p:ext uri="{BB962C8B-B14F-4D97-AF65-F5344CB8AC3E}">
        <p14:creationId xmlns:p14="http://schemas.microsoft.com/office/powerpoint/2010/main" val="12390357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5C7F8505-9D93-0A63-3BAE-BB48A12476AD}"/>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a:fillRect/>
          </a:stretch>
        </p:blipFill>
        <p:spPr/>
      </p:pic>
      <p:sp>
        <p:nvSpPr>
          <p:cNvPr id="2" name="标题 1">
            <a:extLst>
              <a:ext uri="{FF2B5EF4-FFF2-40B4-BE49-F238E27FC236}">
                <a16:creationId xmlns:a16="http://schemas.microsoft.com/office/drawing/2014/main" id="{E7B2B071-D6BC-047B-C797-F1D9B14C1F2E}"/>
              </a:ext>
            </a:extLst>
          </p:cNvPr>
          <p:cNvSpPr>
            <a:spLocks noGrp="1"/>
          </p:cNvSpPr>
          <p:nvPr>
            <p:ph type="title"/>
          </p:nvPr>
        </p:nvSpPr>
        <p:spPr>
          <a:xfrm>
            <a:off x="628650" y="1790739"/>
            <a:ext cx="4320000" cy="553998"/>
          </a:xfrm>
        </p:spPr>
        <p:txBody>
          <a:bodyPr/>
          <a:lstStyle/>
          <a:p>
            <a:r>
              <a:rPr lang="fr-FR" altLang="zh-CN" dirty="0"/>
              <a:t>4.</a:t>
            </a:r>
            <a:r>
              <a:rPr lang="en-US" altLang="zh-CN" dirty="0"/>
              <a:t>5 IPv6</a:t>
            </a:r>
            <a:endParaRPr lang="zh-CN" altLang="en-US" dirty="0"/>
          </a:p>
        </p:txBody>
      </p:sp>
      <p:sp>
        <p:nvSpPr>
          <p:cNvPr id="3" name="文本占位符 2">
            <a:extLst>
              <a:ext uri="{FF2B5EF4-FFF2-40B4-BE49-F238E27FC236}">
                <a16:creationId xmlns:a16="http://schemas.microsoft.com/office/drawing/2014/main" id="{8462FEF6-AA2E-7BF8-B358-B9E4F0479D1F}"/>
              </a:ext>
            </a:extLst>
          </p:cNvPr>
          <p:cNvSpPr>
            <a:spLocks noGrp="1"/>
          </p:cNvSpPr>
          <p:nvPr>
            <p:ph type="body" sz="quarter" idx="11"/>
          </p:nvPr>
        </p:nvSpPr>
        <p:spPr>
          <a:xfrm>
            <a:off x="628100" y="2344736"/>
            <a:ext cx="4320000" cy="1870075"/>
          </a:xfrm>
        </p:spPr>
        <p:txBody>
          <a:bodyPr/>
          <a:lstStyle/>
          <a:p>
            <a:r>
              <a:rPr lang="en-US" altLang="zh-CN" dirty="0"/>
              <a:t>· IPv6 </a:t>
            </a:r>
            <a:r>
              <a:rPr lang="zh-CN" altLang="en-US" dirty="0"/>
              <a:t>的基本首部</a:t>
            </a:r>
            <a:endParaRPr lang="en-US" altLang="zh-CN" dirty="0"/>
          </a:p>
          <a:p>
            <a:r>
              <a:rPr lang="en-US" altLang="zh-CN" dirty="0"/>
              <a:t>· IPv6 </a:t>
            </a:r>
            <a:r>
              <a:rPr lang="zh-CN" altLang="en-US" dirty="0"/>
              <a:t>的地址</a:t>
            </a:r>
            <a:endParaRPr lang="en-US" altLang="zh-CN" dirty="0"/>
          </a:p>
          <a:p>
            <a:r>
              <a:rPr lang="en-US" altLang="zh-CN" dirty="0"/>
              <a:t>·</a:t>
            </a:r>
            <a:r>
              <a:rPr lang="zh-CN" altLang="en-US" dirty="0"/>
              <a:t>从 </a:t>
            </a:r>
            <a:r>
              <a:rPr lang="en-US" altLang="zh-CN" dirty="0"/>
              <a:t>IPv4 </a:t>
            </a:r>
            <a:r>
              <a:rPr lang="zh-CN" altLang="en-US" dirty="0"/>
              <a:t>向 </a:t>
            </a:r>
            <a:r>
              <a:rPr lang="en-US" altLang="zh-CN" dirty="0"/>
              <a:t>IPv6 </a:t>
            </a:r>
            <a:r>
              <a:rPr lang="zh-CN" altLang="en-US" dirty="0"/>
              <a:t>过渡</a:t>
            </a:r>
            <a:endParaRPr lang="en-US" altLang="zh-CN" dirty="0"/>
          </a:p>
          <a:p>
            <a:r>
              <a:rPr lang="en-US" altLang="zh-CN" dirty="0"/>
              <a:t>· ICMPv6</a:t>
            </a:r>
          </a:p>
          <a:p>
            <a:endParaRPr lang="zh-CN" altLang="en-US" dirty="0"/>
          </a:p>
        </p:txBody>
      </p:sp>
    </p:spTree>
    <p:extLst>
      <p:ext uri="{BB962C8B-B14F-4D97-AF65-F5344CB8AC3E}">
        <p14:creationId xmlns:p14="http://schemas.microsoft.com/office/powerpoint/2010/main" val="38963179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FEF7265B-BAE8-AB86-BBCB-169C85AC5DF8}"/>
              </a:ext>
            </a:extLst>
          </p:cNvPr>
          <p:cNvSpPr>
            <a:spLocks noGrp="1"/>
          </p:cNvSpPr>
          <p:nvPr>
            <p:ph type="title"/>
          </p:nvPr>
        </p:nvSpPr>
        <p:spPr>
          <a:xfrm>
            <a:off x="486000" y="550723"/>
            <a:ext cx="8172000" cy="338554"/>
          </a:xfrm>
        </p:spPr>
        <p:txBody>
          <a:bodyPr/>
          <a:lstStyle/>
          <a:p>
            <a:r>
              <a:rPr lang="en-US" altLang="zh-CN" dirty="0"/>
              <a:t>4.5  IPv6</a:t>
            </a:r>
            <a:endParaRPr lang="zh-CN" altLang="en-US" dirty="0"/>
          </a:p>
        </p:txBody>
      </p:sp>
      <p:sp>
        <p:nvSpPr>
          <p:cNvPr id="4" name="内容占位符 3">
            <a:extLst>
              <a:ext uri="{FF2B5EF4-FFF2-40B4-BE49-F238E27FC236}">
                <a16:creationId xmlns:a16="http://schemas.microsoft.com/office/drawing/2014/main" id="{C3A377CD-EB42-5157-04E4-1E49A1C23FF7}"/>
              </a:ext>
            </a:extLst>
          </p:cNvPr>
          <p:cNvSpPr>
            <a:spLocks noGrp="1"/>
          </p:cNvSpPr>
          <p:nvPr>
            <p:ph sz="quarter" idx="11"/>
          </p:nvPr>
        </p:nvSpPr>
        <p:spPr>
          <a:xfrm>
            <a:off x="486000" y="900000"/>
            <a:ext cx="8172000" cy="3703500"/>
          </a:xfrm>
        </p:spPr>
        <p:txBody>
          <a:bodyPr/>
          <a:lstStyle/>
          <a:p>
            <a:r>
              <a:rPr lang="en-US" altLang="zh-CN" dirty="0"/>
              <a:t>IP </a:t>
            </a:r>
            <a:r>
              <a:rPr lang="zh-CN" altLang="en-US" dirty="0"/>
              <a:t>是互联网的核心协议</a:t>
            </a:r>
          </a:p>
          <a:p>
            <a:r>
              <a:rPr lang="en-US" altLang="zh-CN" dirty="0"/>
              <a:t>IPv4 </a:t>
            </a:r>
            <a:r>
              <a:rPr lang="zh-CN" altLang="en-US" dirty="0"/>
              <a:t>地址耗尽问题：</a:t>
            </a:r>
            <a:endParaRPr lang="en-US" altLang="zh-CN" dirty="0"/>
          </a:p>
          <a:p>
            <a:pPr lvl="1"/>
            <a:r>
              <a:rPr lang="zh-CN" altLang="en-US" dirty="0"/>
              <a:t>到 </a:t>
            </a:r>
            <a:r>
              <a:rPr lang="en-US" altLang="zh-CN" dirty="0"/>
              <a:t>2011 </a:t>
            </a:r>
            <a:r>
              <a:rPr lang="zh-CN" altLang="en-US" dirty="0"/>
              <a:t>年 </a:t>
            </a:r>
            <a:r>
              <a:rPr lang="en-US" altLang="zh-CN" dirty="0"/>
              <a:t>2 </a:t>
            </a:r>
            <a:r>
              <a:rPr lang="zh-CN" altLang="en-US" dirty="0"/>
              <a:t>月，</a:t>
            </a:r>
            <a:r>
              <a:rPr lang="en-US" altLang="zh-CN" dirty="0"/>
              <a:t>IANA IPv4 </a:t>
            </a:r>
            <a:r>
              <a:rPr lang="zh-CN" altLang="en-US" dirty="0"/>
              <a:t>的 </a:t>
            </a:r>
            <a:r>
              <a:rPr lang="en-US" altLang="zh-CN" dirty="0"/>
              <a:t>32 </a:t>
            </a:r>
            <a:r>
              <a:rPr lang="zh-CN" altLang="en-US" dirty="0"/>
              <a:t>位地址已经耗尽</a:t>
            </a:r>
            <a:endParaRPr lang="en-US" altLang="zh-CN" dirty="0"/>
          </a:p>
          <a:p>
            <a:pPr lvl="1"/>
            <a:r>
              <a:rPr lang="zh-CN" altLang="en-US" dirty="0"/>
              <a:t>各地区互联网地址分配机构也相继宣布地址耗尽</a:t>
            </a:r>
          </a:p>
          <a:p>
            <a:pPr lvl="1"/>
            <a:r>
              <a:rPr lang="zh-CN" altLang="en-US" dirty="0"/>
              <a:t>我国在 </a:t>
            </a:r>
            <a:r>
              <a:rPr lang="en-US" altLang="zh-CN" dirty="0"/>
              <a:t>2014 – 2015 </a:t>
            </a:r>
            <a:r>
              <a:rPr lang="zh-CN" altLang="en-US" dirty="0"/>
              <a:t>年也逐步停止了向新用户和应用分配 </a:t>
            </a:r>
            <a:r>
              <a:rPr lang="en-US" altLang="zh-CN" dirty="0"/>
              <a:t>IPv4 </a:t>
            </a:r>
            <a:r>
              <a:rPr lang="zh-CN" altLang="en-US" dirty="0"/>
              <a:t>地址</a:t>
            </a:r>
          </a:p>
          <a:p>
            <a:r>
              <a:rPr lang="zh-CN" altLang="en-US" dirty="0"/>
              <a:t>根本解决措施：采用具有更大地址空间的新版本的 </a:t>
            </a:r>
            <a:r>
              <a:rPr lang="en-US" altLang="zh-CN" dirty="0"/>
              <a:t>IP</a:t>
            </a:r>
            <a:r>
              <a:rPr lang="zh-CN" altLang="en-US" dirty="0"/>
              <a:t>，即 </a:t>
            </a:r>
            <a:r>
              <a:rPr lang="en-US" altLang="zh-CN" dirty="0"/>
              <a:t>IPv6</a:t>
            </a:r>
            <a:endParaRPr lang="zh-CN" altLang="en-US" dirty="0"/>
          </a:p>
          <a:p>
            <a:endParaRPr lang="zh-CN" altLang="en-US" dirty="0"/>
          </a:p>
        </p:txBody>
      </p:sp>
    </p:spTree>
    <p:extLst>
      <p:ext uri="{BB962C8B-B14F-4D97-AF65-F5344CB8AC3E}">
        <p14:creationId xmlns:p14="http://schemas.microsoft.com/office/powerpoint/2010/main" val="4214158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C7D09FA-A3F0-1A6A-877A-8E3B508BC3E2}"/>
              </a:ext>
            </a:extLst>
          </p:cNvPr>
          <p:cNvSpPr>
            <a:spLocks noGrp="1"/>
          </p:cNvSpPr>
          <p:nvPr>
            <p:ph type="title"/>
          </p:nvPr>
        </p:nvSpPr>
        <p:spPr>
          <a:xfrm>
            <a:off x="486000" y="550723"/>
            <a:ext cx="8172000" cy="338554"/>
          </a:xfrm>
        </p:spPr>
        <p:txBody>
          <a:bodyPr/>
          <a:lstStyle/>
          <a:p>
            <a:r>
              <a:rPr lang="en-US" altLang="zh-CN" dirty="0"/>
              <a:t>4.5.1  IPv6 </a:t>
            </a:r>
            <a:r>
              <a:rPr lang="zh-CN" altLang="en-US" dirty="0"/>
              <a:t>的基本首部</a:t>
            </a:r>
          </a:p>
        </p:txBody>
      </p:sp>
      <p:sp>
        <p:nvSpPr>
          <p:cNvPr id="3" name="内容占位符 2">
            <a:extLst>
              <a:ext uri="{FF2B5EF4-FFF2-40B4-BE49-F238E27FC236}">
                <a16:creationId xmlns:a16="http://schemas.microsoft.com/office/drawing/2014/main" id="{EB9A386A-4819-78E4-D9F0-86BE8EC650F0}"/>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仍支持无连接的传送</a:t>
            </a:r>
            <a:endParaRPr lang="en-US" altLang="zh-CN" dirty="0"/>
          </a:p>
          <a:p>
            <a:r>
              <a:rPr lang="zh-CN" altLang="en-US" dirty="0"/>
              <a:t>将协议数据单元 </a:t>
            </a:r>
            <a:r>
              <a:rPr lang="en-US" altLang="zh-CN" dirty="0"/>
              <a:t>PDU </a:t>
            </a:r>
            <a:r>
              <a:rPr lang="zh-CN" altLang="en-US" dirty="0"/>
              <a:t>称为分组 </a:t>
            </a:r>
            <a:r>
              <a:rPr lang="en-US" altLang="zh-CN" dirty="0"/>
              <a:t>packet</a:t>
            </a:r>
            <a:endParaRPr lang="zh-CN" altLang="en-US" dirty="0"/>
          </a:p>
          <a:p>
            <a:r>
              <a:rPr lang="zh-CN" altLang="en-US" dirty="0"/>
              <a:t>主要变化</a:t>
            </a:r>
          </a:p>
          <a:p>
            <a:pPr lvl="1"/>
            <a:r>
              <a:rPr lang="zh-CN" altLang="en-US" dirty="0"/>
              <a:t>更大的地址空间。</a:t>
            </a:r>
            <a:r>
              <a:rPr lang="en-US" altLang="zh-CN" dirty="0"/>
              <a:t> </a:t>
            </a:r>
            <a:r>
              <a:rPr lang="zh-CN" altLang="en-US" dirty="0"/>
              <a:t>将地址从 </a:t>
            </a:r>
            <a:r>
              <a:rPr lang="en-US" altLang="zh-CN" dirty="0"/>
              <a:t>IPv4 </a:t>
            </a:r>
            <a:r>
              <a:rPr lang="zh-CN" altLang="en-US" dirty="0"/>
              <a:t>的 </a:t>
            </a:r>
            <a:r>
              <a:rPr lang="en-US" altLang="zh-CN" dirty="0"/>
              <a:t>32 </a:t>
            </a:r>
            <a:r>
              <a:rPr lang="zh-CN" altLang="en-US" dirty="0"/>
              <a:t>位 增大到了 </a:t>
            </a:r>
            <a:r>
              <a:rPr lang="en-US" altLang="zh-CN" dirty="0"/>
              <a:t>128 </a:t>
            </a:r>
            <a:r>
              <a:rPr lang="zh-CN" altLang="en-US" dirty="0"/>
              <a:t>位</a:t>
            </a:r>
          </a:p>
          <a:p>
            <a:pPr lvl="1"/>
            <a:r>
              <a:rPr lang="zh-CN" altLang="en-US" dirty="0"/>
              <a:t>扩展的地址层次结构。可以划分为更多的层次</a:t>
            </a:r>
          </a:p>
          <a:p>
            <a:pPr lvl="1"/>
            <a:r>
              <a:rPr lang="zh-CN" altLang="en-US" dirty="0"/>
              <a:t>灵活的首部格式。定义了许多可选的扩展首部</a:t>
            </a:r>
          </a:p>
          <a:p>
            <a:pPr lvl="1"/>
            <a:r>
              <a:rPr lang="zh-CN" altLang="en-US" dirty="0"/>
              <a:t>改进的选项。允许数据报包含有选项的控制信息，其选项放在有效载荷中</a:t>
            </a:r>
            <a:endParaRPr lang="en-US" altLang="zh-CN" dirty="0"/>
          </a:p>
          <a:p>
            <a:pPr lvl="1"/>
            <a:r>
              <a:rPr lang="zh-CN" altLang="en-US" dirty="0"/>
              <a:t>允许协议继续扩充。更好地适应新的应用</a:t>
            </a:r>
          </a:p>
          <a:p>
            <a:pPr lvl="1"/>
            <a:r>
              <a:rPr lang="zh-CN" altLang="en-US" dirty="0"/>
              <a:t>支持即插即用（即自动配置）。不需要使用 </a:t>
            </a:r>
            <a:r>
              <a:rPr lang="en-US" altLang="zh-CN" dirty="0"/>
              <a:t>DHCP</a:t>
            </a:r>
            <a:endParaRPr lang="zh-CN" altLang="en-US" dirty="0"/>
          </a:p>
          <a:p>
            <a:pPr lvl="1"/>
            <a:r>
              <a:rPr lang="zh-CN" altLang="en-US" dirty="0"/>
              <a:t>支持资源的预分配。支持实时视像等要求保证一定的带宽和时延的应用</a:t>
            </a:r>
          </a:p>
          <a:p>
            <a:pPr lvl="1"/>
            <a:r>
              <a:rPr lang="en-US" altLang="zh-CN" dirty="0"/>
              <a:t>IPv6 </a:t>
            </a:r>
            <a:r>
              <a:rPr lang="zh-CN" altLang="en-US" dirty="0"/>
              <a:t>首部改为 </a:t>
            </a:r>
            <a:r>
              <a:rPr lang="en-US" altLang="zh-CN" dirty="0"/>
              <a:t>8 </a:t>
            </a:r>
            <a:r>
              <a:rPr lang="zh-CN" altLang="en-US" dirty="0"/>
              <a:t>字节对齐。首部长度必须是 </a:t>
            </a:r>
            <a:r>
              <a:rPr lang="en-US" altLang="zh-CN" dirty="0"/>
              <a:t>8 </a:t>
            </a:r>
            <a:r>
              <a:rPr lang="zh-CN" altLang="en-US" dirty="0"/>
              <a:t>字节的整数倍</a:t>
            </a:r>
          </a:p>
        </p:txBody>
      </p:sp>
    </p:spTree>
    <p:extLst>
      <p:ext uri="{BB962C8B-B14F-4D97-AF65-F5344CB8AC3E}">
        <p14:creationId xmlns:p14="http://schemas.microsoft.com/office/powerpoint/2010/main" val="19723107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8" name="组合 37"/>
          <p:cNvGrpSpPr/>
          <p:nvPr/>
        </p:nvGrpSpPr>
        <p:grpSpPr>
          <a:xfrm>
            <a:off x="1688153" y="2690135"/>
            <a:ext cx="5586407" cy="1680982"/>
            <a:chOff x="1688153" y="2730775"/>
            <a:chExt cx="5586407" cy="1680982"/>
          </a:xfrm>
        </p:grpSpPr>
        <p:sp>
          <p:nvSpPr>
            <p:cNvPr id="5" name="Rectangle 2"/>
            <p:cNvSpPr>
              <a:spLocks noChangeArrowheads="1"/>
            </p:cNvSpPr>
            <p:nvPr/>
          </p:nvSpPr>
          <p:spPr bwMode="auto">
            <a:xfrm>
              <a:off x="2725001" y="3008694"/>
              <a:ext cx="4548321" cy="373441"/>
            </a:xfrm>
            <a:prstGeom prst="rect">
              <a:avLst/>
            </a:prstGeom>
            <a:solidFill>
              <a:srgbClr val="0000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6" name="Rectangle 30"/>
            <p:cNvSpPr>
              <a:spLocks noChangeArrowheads="1"/>
            </p:cNvSpPr>
            <p:nvPr/>
          </p:nvSpPr>
          <p:spPr bwMode="auto">
            <a:xfrm>
              <a:off x="3541048" y="3761052"/>
              <a:ext cx="3732273" cy="372323"/>
            </a:xfrm>
            <a:prstGeom prst="rect">
              <a:avLst/>
            </a:prstGeom>
            <a:solidFill>
              <a:srgbClr val="00FF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7" name="Line 3"/>
            <p:cNvSpPr>
              <a:spLocks noChangeShapeType="1"/>
            </p:cNvSpPr>
            <p:nvPr/>
          </p:nvSpPr>
          <p:spPr bwMode="auto">
            <a:xfrm>
              <a:off x="353733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8" name="Line 4"/>
            <p:cNvSpPr>
              <a:spLocks noChangeShapeType="1"/>
            </p:cNvSpPr>
            <p:nvPr/>
          </p:nvSpPr>
          <p:spPr bwMode="auto">
            <a:xfrm>
              <a:off x="407228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9" name="Line 5"/>
            <p:cNvSpPr>
              <a:spLocks noChangeShapeType="1"/>
            </p:cNvSpPr>
            <p:nvPr/>
          </p:nvSpPr>
          <p:spPr bwMode="auto">
            <a:xfrm>
              <a:off x="4410343"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0" name="Line 6"/>
            <p:cNvSpPr>
              <a:spLocks noChangeShapeType="1"/>
            </p:cNvSpPr>
            <p:nvPr/>
          </p:nvSpPr>
          <p:spPr bwMode="auto">
            <a:xfrm>
              <a:off x="4971299"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 name="Text Box 15"/>
            <p:cNvSpPr txBox="1">
              <a:spLocks noChangeArrowheads="1"/>
            </p:cNvSpPr>
            <p:nvPr/>
          </p:nvSpPr>
          <p:spPr bwMode="auto">
            <a:xfrm>
              <a:off x="2636456" y="3062081"/>
              <a:ext cx="999889"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zh-CN" altLang="en-US" sz="1400" b="1" dirty="0">
                  <a:solidFill>
                    <a:schemeClr val="bg1"/>
                  </a:solidFill>
                  <a:latin typeface="微软雅黑" pitchFamily="34" charset="-122"/>
                  <a:ea typeface="微软雅黑" pitchFamily="34" charset="-122"/>
                </a:rPr>
                <a:t>基本首部</a:t>
              </a:r>
            </a:p>
          </p:txBody>
        </p:sp>
        <p:sp>
          <p:nvSpPr>
            <p:cNvPr id="12" name="Text Box 16"/>
            <p:cNvSpPr txBox="1">
              <a:spLocks noChangeArrowheads="1"/>
            </p:cNvSpPr>
            <p:nvPr/>
          </p:nvSpPr>
          <p:spPr bwMode="auto">
            <a:xfrm>
              <a:off x="3499559" y="3758003"/>
              <a:ext cx="659018"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1</a:t>
              </a:r>
            </a:p>
          </p:txBody>
        </p:sp>
        <p:sp>
          <p:nvSpPr>
            <p:cNvPr id="13" name="Text Box 17"/>
            <p:cNvSpPr txBox="1">
              <a:spLocks noChangeArrowheads="1"/>
            </p:cNvSpPr>
            <p:nvPr/>
          </p:nvSpPr>
          <p:spPr bwMode="auto">
            <a:xfrm>
              <a:off x="4340305" y="3749058"/>
              <a:ext cx="696301"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N</a:t>
              </a:r>
            </a:p>
          </p:txBody>
        </p:sp>
        <p:sp>
          <p:nvSpPr>
            <p:cNvPr id="14" name="Text Box 18"/>
            <p:cNvSpPr txBox="1">
              <a:spLocks noChangeArrowheads="1"/>
            </p:cNvSpPr>
            <p:nvPr/>
          </p:nvSpPr>
          <p:spPr bwMode="auto">
            <a:xfrm>
              <a:off x="4033335" y="3786109"/>
              <a:ext cx="40159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99"/>
                  </a:solidFill>
                  <a:latin typeface="微软雅黑" pitchFamily="34" charset="-122"/>
                  <a:ea typeface="微软雅黑" pitchFamily="34" charset="-122"/>
                </a:rPr>
                <a:t> …</a:t>
              </a:r>
            </a:p>
          </p:txBody>
        </p:sp>
        <p:sp>
          <p:nvSpPr>
            <p:cNvPr id="15" name="Text Box 19"/>
            <p:cNvSpPr txBox="1">
              <a:spLocks noChangeArrowheads="1"/>
            </p:cNvSpPr>
            <p:nvPr/>
          </p:nvSpPr>
          <p:spPr bwMode="auto">
            <a:xfrm>
              <a:off x="5462456" y="3829410"/>
              <a:ext cx="1383371"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latin typeface="微软雅黑" pitchFamily="34" charset="-122"/>
                  <a:ea typeface="微软雅黑" pitchFamily="34" charset="-122"/>
                </a:rPr>
                <a:t>数    据    部    分</a:t>
              </a:r>
            </a:p>
          </p:txBody>
        </p:sp>
        <p:sp>
          <p:nvSpPr>
            <p:cNvPr id="16" name="Line 22"/>
            <p:cNvSpPr>
              <a:spLocks noChangeShapeType="1"/>
            </p:cNvSpPr>
            <p:nvPr/>
          </p:nvSpPr>
          <p:spPr bwMode="auto">
            <a:xfrm>
              <a:off x="3511329" y="4268663"/>
              <a:ext cx="1459971"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7" name="Text Box 23"/>
            <p:cNvSpPr txBox="1">
              <a:spLocks noChangeArrowheads="1"/>
            </p:cNvSpPr>
            <p:nvPr/>
          </p:nvSpPr>
          <p:spPr bwMode="auto">
            <a:xfrm>
              <a:off x="4012845" y="4150147"/>
              <a:ext cx="516988"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选项</a:t>
              </a:r>
            </a:p>
          </p:txBody>
        </p:sp>
        <p:grpSp>
          <p:nvGrpSpPr>
            <p:cNvPr id="18" name="组合 26"/>
            <p:cNvGrpSpPr>
              <a:grpSpLocks/>
            </p:cNvGrpSpPr>
            <p:nvPr/>
          </p:nvGrpSpPr>
          <p:grpSpPr bwMode="auto">
            <a:xfrm>
              <a:off x="2725001" y="2784185"/>
              <a:ext cx="4549559" cy="191192"/>
              <a:chOff x="1331640" y="1700808"/>
              <a:chExt cx="5832648" cy="344488"/>
            </a:xfrm>
          </p:grpSpPr>
          <p:sp>
            <p:nvSpPr>
              <p:cNvPr id="19" name="Line 25"/>
              <p:cNvSpPr>
                <a:spLocks noChangeShapeType="1"/>
              </p:cNvSpPr>
              <p:nvPr/>
            </p:nvSpPr>
            <p:spPr bwMode="auto">
              <a:xfrm>
                <a:off x="1331640" y="170080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0" name="Line 26"/>
              <p:cNvSpPr>
                <a:spLocks noChangeShapeType="1"/>
              </p:cNvSpPr>
              <p:nvPr/>
            </p:nvSpPr>
            <p:spPr bwMode="auto">
              <a:xfrm>
                <a:off x="7164288" y="170715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grpSp>
        <p:sp>
          <p:nvSpPr>
            <p:cNvPr id="21" name="Line 27"/>
            <p:cNvSpPr>
              <a:spLocks noChangeShapeType="1"/>
            </p:cNvSpPr>
            <p:nvPr/>
          </p:nvSpPr>
          <p:spPr bwMode="auto">
            <a:xfrm flipV="1">
              <a:off x="2725001" y="2876985"/>
              <a:ext cx="4540890"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2" name="Text Box 28"/>
            <p:cNvSpPr txBox="1">
              <a:spLocks noChangeArrowheads="1"/>
            </p:cNvSpPr>
            <p:nvPr/>
          </p:nvSpPr>
          <p:spPr bwMode="auto">
            <a:xfrm>
              <a:off x="4487119" y="2730775"/>
              <a:ext cx="1062029"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FF"/>
                  </a:solidFill>
                  <a:latin typeface="微软雅黑" pitchFamily="34" charset="-122"/>
                  <a:ea typeface="微软雅黑" pitchFamily="34" charset="-122"/>
                </a:rPr>
                <a:t>IPv6 </a:t>
              </a:r>
              <a:r>
                <a:rPr lang="zh-CN" altLang="en-US" sz="1100" b="1" dirty="0">
                  <a:solidFill>
                    <a:srgbClr val="0000FF"/>
                  </a:solidFill>
                  <a:latin typeface="微软雅黑" pitchFamily="34" charset="-122"/>
                  <a:ea typeface="微软雅黑" pitchFamily="34" charset="-122"/>
                </a:rPr>
                <a:t>数据报</a:t>
              </a:r>
            </a:p>
          </p:txBody>
        </p:sp>
        <p:cxnSp>
          <p:nvCxnSpPr>
            <p:cNvPr id="23" name="直接连接符 32"/>
            <p:cNvCxnSpPr>
              <a:cxnSpLocks noChangeShapeType="1"/>
            </p:cNvCxnSpPr>
            <p:nvPr/>
          </p:nvCxnSpPr>
          <p:spPr bwMode="auto">
            <a:xfrm>
              <a:off x="3545017"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24" name="直接连接符 34"/>
            <p:cNvCxnSpPr>
              <a:cxnSpLocks noChangeShapeType="1"/>
            </p:cNvCxnSpPr>
            <p:nvPr/>
          </p:nvCxnSpPr>
          <p:spPr bwMode="auto">
            <a:xfrm>
              <a:off x="7273321"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sp>
          <p:nvSpPr>
            <p:cNvPr id="25" name="Text Box 23"/>
            <p:cNvSpPr txBox="1">
              <a:spLocks noChangeArrowheads="1"/>
            </p:cNvSpPr>
            <p:nvPr/>
          </p:nvSpPr>
          <p:spPr bwMode="auto">
            <a:xfrm>
              <a:off x="2771341" y="3398014"/>
              <a:ext cx="728084" cy="276999"/>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200" b="1" dirty="0">
                  <a:solidFill>
                    <a:srgbClr val="CC0099"/>
                  </a:solidFill>
                  <a:latin typeface="微软雅黑" pitchFamily="34" charset="-122"/>
                  <a:ea typeface="微软雅黑" pitchFamily="34" charset="-122"/>
                </a:rPr>
                <a:t>40 </a:t>
              </a:r>
              <a:r>
                <a:rPr lang="zh-CN" altLang="en-US" sz="1200" b="1" dirty="0">
                  <a:solidFill>
                    <a:srgbClr val="CC0099"/>
                  </a:solidFill>
                  <a:latin typeface="微软雅黑" pitchFamily="34" charset="-122"/>
                  <a:ea typeface="微软雅黑" pitchFamily="34" charset="-122"/>
                </a:rPr>
                <a:t>字节</a:t>
              </a:r>
            </a:p>
          </p:txBody>
        </p:sp>
        <p:sp>
          <p:nvSpPr>
            <p:cNvPr id="26" name="Line 27"/>
            <p:cNvSpPr>
              <a:spLocks noChangeShapeType="1"/>
            </p:cNvSpPr>
            <p:nvPr/>
          </p:nvSpPr>
          <p:spPr bwMode="auto">
            <a:xfrm>
              <a:off x="3539810" y="3541129"/>
              <a:ext cx="3734750" cy="3355"/>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7" name="Text Box 23"/>
            <p:cNvSpPr txBox="1">
              <a:spLocks noChangeArrowheads="1"/>
            </p:cNvSpPr>
            <p:nvPr/>
          </p:nvSpPr>
          <p:spPr bwMode="auto">
            <a:xfrm>
              <a:off x="4593614" y="3412550"/>
              <a:ext cx="1557357"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a:solidFill>
                    <a:srgbClr val="0000FF"/>
                  </a:solidFill>
                  <a:latin typeface="微软雅黑" pitchFamily="34" charset="-122"/>
                  <a:ea typeface="微软雅黑" pitchFamily="34" charset="-122"/>
                </a:rPr>
                <a:t>不超过 </a:t>
              </a:r>
              <a:r>
                <a:rPr lang="en-US" altLang="zh-CN" sz="1100" b="1">
                  <a:solidFill>
                    <a:srgbClr val="0000FF"/>
                  </a:solidFill>
                  <a:latin typeface="微软雅黑" pitchFamily="34" charset="-122"/>
                  <a:ea typeface="微软雅黑" pitchFamily="34" charset="-122"/>
                </a:rPr>
                <a:t>65535 </a:t>
              </a:r>
              <a:r>
                <a:rPr lang="zh-CN" altLang="en-US" sz="1100" b="1">
                  <a:solidFill>
                    <a:srgbClr val="0000FF"/>
                  </a:solidFill>
                  <a:latin typeface="微软雅黑" pitchFamily="34" charset="-122"/>
                  <a:ea typeface="微软雅黑" pitchFamily="34" charset="-122"/>
                </a:rPr>
                <a:t>字节</a:t>
              </a:r>
            </a:p>
          </p:txBody>
        </p:sp>
        <p:sp>
          <p:nvSpPr>
            <p:cNvPr id="28" name="右箭头 28"/>
            <p:cNvSpPr>
              <a:spLocks noChangeArrowheads="1"/>
            </p:cNvSpPr>
            <p:nvPr/>
          </p:nvSpPr>
          <p:spPr bwMode="auto">
            <a:xfrm rot="10800000">
              <a:off x="2162806" y="3119157"/>
              <a:ext cx="562194" cy="143115"/>
            </a:xfrm>
            <a:prstGeom prst="rightArrow">
              <a:avLst>
                <a:gd name="adj1" fmla="val 50000"/>
                <a:gd name="adj2" fmla="val 162073"/>
              </a:avLst>
            </a:prstGeom>
            <a:solidFill>
              <a:srgbClr val="FF00FF"/>
            </a:solidFill>
            <a:ln w="9525" algn="ctr">
              <a:solidFill>
                <a:schemeClr val="tx1"/>
              </a:solidFill>
              <a:round/>
              <a:headEnd/>
              <a:tailEnd/>
            </a:ln>
          </p:spPr>
          <p:txBody>
            <a:bodyPr/>
            <a:lstStyle/>
            <a:p>
              <a:endParaRPr lang="zh-CN" altLang="en-US" sz="1100" b="1">
                <a:solidFill>
                  <a:srgbClr val="000099"/>
                </a:solidFill>
                <a:latin typeface="微软雅黑" pitchFamily="34" charset="-122"/>
                <a:ea typeface="微软雅黑" pitchFamily="34" charset="-122"/>
              </a:endParaRPr>
            </a:p>
          </p:txBody>
        </p:sp>
        <p:sp>
          <p:nvSpPr>
            <p:cNvPr id="29" name="Text Box 23"/>
            <p:cNvSpPr txBox="1">
              <a:spLocks noChangeArrowheads="1"/>
            </p:cNvSpPr>
            <p:nvPr/>
          </p:nvSpPr>
          <p:spPr bwMode="auto">
            <a:xfrm>
              <a:off x="1688153" y="3337862"/>
              <a:ext cx="82945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发送在前</a:t>
              </a:r>
            </a:p>
          </p:txBody>
        </p:sp>
        <p:sp>
          <p:nvSpPr>
            <p:cNvPr id="30" name="Line 3"/>
            <p:cNvSpPr>
              <a:spLocks noChangeShapeType="1"/>
            </p:cNvSpPr>
            <p:nvPr/>
          </p:nvSpPr>
          <p:spPr bwMode="auto">
            <a:xfrm>
              <a:off x="3537334" y="3006684"/>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31" name="矩形 30"/>
            <p:cNvSpPr/>
            <p:nvPr/>
          </p:nvSpPr>
          <p:spPr bwMode="auto">
            <a:xfrm>
              <a:off x="3543525" y="3017865"/>
              <a:ext cx="3722367" cy="362260"/>
            </a:xfrm>
            <a:prstGeom prst="rect">
              <a:avLst/>
            </a:prstGeom>
            <a:solidFill>
              <a:srgbClr val="99FFCC"/>
            </a:solidFill>
            <a:ln w="9525" cap="flat" cmpd="sng" algn="ctr">
              <a:noFill/>
              <a:prstDash val="solid"/>
              <a:round/>
              <a:headEnd type="none" w="med" len="med"/>
              <a:tailEnd type="none" w="med" len="med"/>
            </a:ln>
            <a:effectLst/>
          </p:spPr>
          <p:txBody>
            <a:bodyPr/>
            <a:lstStyle/>
            <a:p>
              <a:pPr>
                <a:defRPr/>
              </a:pPr>
              <a:endParaRPr lang="zh-CN" altLang="en-US" sz="1100" b="1">
                <a:solidFill>
                  <a:srgbClr val="000099"/>
                </a:solidFill>
                <a:latin typeface="微软雅黑" pitchFamily="34" charset="-122"/>
                <a:ea typeface="微软雅黑" pitchFamily="34" charset="-122"/>
              </a:endParaRPr>
            </a:p>
          </p:txBody>
        </p:sp>
        <p:sp>
          <p:nvSpPr>
            <p:cNvPr id="32" name="Text Box 33"/>
            <p:cNvSpPr txBox="1">
              <a:spLocks noChangeArrowheads="1"/>
            </p:cNvSpPr>
            <p:nvPr/>
          </p:nvSpPr>
          <p:spPr bwMode="auto">
            <a:xfrm>
              <a:off x="3894722" y="3046735"/>
              <a:ext cx="311882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r>
                <a:rPr lang="zh-CN" altLang="en-US" sz="1400" b="1" dirty="0">
                  <a:latin typeface="微软雅黑" pitchFamily="34" charset="-122"/>
                  <a:ea typeface="微软雅黑" pitchFamily="34" charset="-122"/>
                </a:rPr>
                <a:t>有     效     载     荷</a:t>
              </a:r>
            </a:p>
          </p:txBody>
        </p:sp>
      </p:grpSp>
      <p:sp>
        <p:nvSpPr>
          <p:cNvPr id="33" name="标题 32">
            <a:extLst>
              <a:ext uri="{FF2B5EF4-FFF2-40B4-BE49-F238E27FC236}">
                <a16:creationId xmlns:a16="http://schemas.microsoft.com/office/drawing/2014/main" id="{C52D1B8B-7381-1BF3-4664-17C7A8F52CDD}"/>
              </a:ext>
            </a:extLst>
          </p:cNvPr>
          <p:cNvSpPr>
            <a:spLocks noGrp="1"/>
          </p:cNvSpPr>
          <p:nvPr>
            <p:ph type="title"/>
          </p:nvPr>
        </p:nvSpPr>
        <p:spPr>
          <a:xfrm>
            <a:off x="486000" y="550723"/>
            <a:ext cx="8172000" cy="338554"/>
          </a:xfrm>
        </p:spPr>
        <p:txBody>
          <a:bodyPr/>
          <a:lstStyle/>
          <a:p>
            <a:r>
              <a:rPr lang="en-US" altLang="zh-CN" dirty="0"/>
              <a:t>IPv6 </a:t>
            </a:r>
            <a:r>
              <a:rPr lang="zh-CN" altLang="en-US" dirty="0"/>
              <a:t>数据报的一般形式</a:t>
            </a:r>
          </a:p>
        </p:txBody>
      </p:sp>
      <p:sp>
        <p:nvSpPr>
          <p:cNvPr id="34" name="内容占位符 33">
            <a:extLst>
              <a:ext uri="{FF2B5EF4-FFF2-40B4-BE49-F238E27FC236}">
                <a16:creationId xmlns:a16="http://schemas.microsoft.com/office/drawing/2014/main" id="{5E8737AB-86E0-AEF1-252D-06C412E6E46D}"/>
              </a:ext>
            </a:extLst>
          </p:cNvPr>
          <p:cNvSpPr>
            <a:spLocks noGrp="1"/>
          </p:cNvSpPr>
          <p:nvPr>
            <p:ph sz="quarter" idx="11"/>
          </p:nvPr>
        </p:nvSpPr>
        <p:spPr>
          <a:xfrm>
            <a:off x="486000" y="900000"/>
            <a:ext cx="8172000" cy="3703500"/>
          </a:xfrm>
        </p:spPr>
        <p:txBody>
          <a:bodyPr/>
          <a:lstStyle/>
          <a:p>
            <a:r>
              <a:rPr lang="zh-CN" altLang="en-US" dirty="0"/>
              <a:t>由两大部分组成：</a:t>
            </a:r>
          </a:p>
          <a:p>
            <a:pPr lvl="1"/>
            <a:r>
              <a:rPr lang="zh-CN" altLang="en-US" dirty="0"/>
              <a:t>基本首部 </a:t>
            </a:r>
            <a:r>
              <a:rPr lang="en-US" altLang="zh-CN" dirty="0"/>
              <a:t>(base header)</a:t>
            </a:r>
          </a:p>
          <a:p>
            <a:pPr lvl="1"/>
            <a:r>
              <a:rPr lang="zh-CN" altLang="en-US" dirty="0"/>
              <a:t>有效载荷 </a:t>
            </a:r>
            <a:r>
              <a:rPr lang="en-US" altLang="zh-CN" dirty="0"/>
              <a:t>(payload)</a:t>
            </a:r>
            <a:r>
              <a:rPr lang="zh-CN" altLang="en-US" dirty="0"/>
              <a:t>。有效载荷也称为净负荷。有效载荷允许有零个或多个扩展首部 </a:t>
            </a:r>
            <a:r>
              <a:rPr lang="en-US" altLang="zh-CN" dirty="0"/>
              <a:t>(extension header)</a:t>
            </a:r>
            <a:r>
              <a:rPr lang="zh-CN" altLang="en-US" dirty="0"/>
              <a:t>，再后面是数据部分。</a:t>
            </a:r>
          </a:p>
          <a:p>
            <a:endParaRPr lang="zh-CN" altLang="en-US" dirty="0"/>
          </a:p>
        </p:txBody>
      </p:sp>
    </p:spTree>
    <p:extLst>
      <p:ext uri="{BB962C8B-B14F-4D97-AF65-F5344CB8AC3E}">
        <p14:creationId xmlns:p14="http://schemas.microsoft.com/office/powerpoint/2010/main" val="1017495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A453A58-ACC5-0944-F51F-F5E998B1F008}"/>
              </a:ext>
            </a:extLst>
          </p:cNvPr>
          <p:cNvSpPr>
            <a:spLocks noGrp="1"/>
          </p:cNvSpPr>
          <p:nvPr>
            <p:ph type="title"/>
          </p:nvPr>
        </p:nvSpPr>
        <p:spPr>
          <a:xfrm>
            <a:off x="486000" y="550723"/>
            <a:ext cx="8172000" cy="338554"/>
          </a:xfrm>
        </p:spPr>
        <p:txBody>
          <a:bodyPr/>
          <a:lstStyle/>
          <a:p>
            <a:r>
              <a:rPr lang="en-US" altLang="zh-CN" dirty="0"/>
              <a:t>IPv6 </a:t>
            </a:r>
            <a:r>
              <a:rPr lang="zh-CN" altLang="en-US" dirty="0"/>
              <a:t>数据报的基本首部</a:t>
            </a:r>
          </a:p>
        </p:txBody>
      </p:sp>
      <p:sp>
        <p:nvSpPr>
          <p:cNvPr id="7" name="内容占位符 6">
            <a:extLst>
              <a:ext uri="{FF2B5EF4-FFF2-40B4-BE49-F238E27FC236}">
                <a16:creationId xmlns:a16="http://schemas.microsoft.com/office/drawing/2014/main" id="{007A8ADC-D942-7EF9-A0BA-B20B733E77BE}"/>
              </a:ext>
            </a:extLst>
          </p:cNvPr>
          <p:cNvSpPr>
            <a:spLocks noGrp="1"/>
          </p:cNvSpPr>
          <p:nvPr>
            <p:ph sz="quarter" idx="11"/>
          </p:nvPr>
        </p:nvSpPr>
        <p:spPr>
          <a:xfrm>
            <a:off x="486000" y="900000"/>
            <a:ext cx="8172000" cy="3703500"/>
          </a:xfrm>
        </p:spPr>
        <p:txBody>
          <a:bodyPr/>
          <a:lstStyle/>
          <a:p>
            <a:r>
              <a:rPr lang="zh-CN" altLang="en-US" dirty="0"/>
              <a:t>首部长度：固定的 </a:t>
            </a:r>
            <a:r>
              <a:rPr lang="en-US" altLang="zh-CN" dirty="0"/>
              <a:t>40 </a:t>
            </a:r>
            <a:r>
              <a:rPr lang="zh-CN" altLang="en-US" dirty="0"/>
              <a:t>字节，称为基本首部。</a:t>
            </a:r>
          </a:p>
          <a:p>
            <a:r>
              <a:rPr lang="zh-CN" altLang="en-US" dirty="0"/>
              <a:t>首部字段数：只有 </a:t>
            </a:r>
            <a:r>
              <a:rPr lang="en-US" altLang="zh-CN" dirty="0"/>
              <a:t>8 </a:t>
            </a:r>
            <a:r>
              <a:rPr lang="zh-CN" altLang="en-US" dirty="0"/>
              <a:t>个。</a:t>
            </a:r>
          </a:p>
          <a:p>
            <a:endParaRPr lang="zh-CN" altLang="en-US" dirty="0"/>
          </a:p>
        </p:txBody>
      </p:sp>
      <p:graphicFrame>
        <p:nvGraphicFramePr>
          <p:cNvPr id="35" name="表格 34"/>
          <p:cNvGraphicFramePr>
            <a:graphicFrameLocks noGrp="1"/>
          </p:cNvGraphicFramePr>
          <p:nvPr>
            <p:extLst>
              <p:ext uri="{D42A27DB-BD31-4B8C-83A1-F6EECF244321}">
                <p14:modId xmlns:p14="http://schemas.microsoft.com/office/powerpoint/2010/main" val="2902904346"/>
              </p:ext>
            </p:extLst>
          </p:nvPr>
        </p:nvGraphicFramePr>
        <p:xfrm>
          <a:off x="729313" y="2152261"/>
          <a:ext cx="7685374" cy="1822831"/>
        </p:xfrm>
        <a:graphic>
          <a:graphicData uri="http://schemas.openxmlformats.org/drawingml/2006/table">
            <a:tbl>
              <a:tblPr firstRow="1" bandRow="1">
                <a:tableStyleId>{5C22544A-7EE6-4342-B048-85BDC9FD1C3A}</a:tableStyleId>
              </a:tblPr>
              <a:tblGrid>
                <a:gridCol w="3599373">
                  <a:extLst>
                    <a:ext uri="{9D8B030D-6E8A-4147-A177-3AD203B41FA5}">
                      <a16:colId xmlns:a16="http://schemas.microsoft.com/office/drawing/2014/main" val="20000"/>
                    </a:ext>
                  </a:extLst>
                </a:gridCol>
                <a:gridCol w="4086001">
                  <a:extLst>
                    <a:ext uri="{9D8B030D-6E8A-4147-A177-3AD203B41FA5}">
                      <a16:colId xmlns:a16="http://schemas.microsoft.com/office/drawing/2014/main" val="20001"/>
                    </a:ext>
                  </a:extLst>
                </a:gridCol>
              </a:tblGrid>
              <a:tr h="1257129">
                <a:tc>
                  <a:txBody>
                    <a:bodyPr/>
                    <a:lstStyle/>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取消了首部长度字段</a:t>
                      </a:r>
                      <a:r>
                        <a:rPr lang="zh-CN" altLang="en-US" sz="1400" b="0" kern="1200" dirty="0">
                          <a:solidFill>
                            <a:schemeClr val="tx1"/>
                          </a:solidFill>
                          <a:latin typeface="微软雅黑" pitchFamily="34" charset="-122"/>
                          <a:ea typeface="微软雅黑" pitchFamily="34" charset="-122"/>
                          <a:cs typeface="+mn-cs"/>
                        </a:rPr>
                        <a:t>；</a:t>
                      </a:r>
                      <a:endParaRPr lang="en-US" altLang="zh-CN" sz="1400" b="0" kern="1200" dirty="0">
                        <a:solidFill>
                          <a:schemeClr val="tx1"/>
                        </a:solidFill>
                        <a:latin typeface="微软雅黑" pitchFamily="34" charset="-122"/>
                        <a:ea typeface="微软雅黑" pitchFamily="34" charset="-122"/>
                        <a:cs typeface="+mn-cs"/>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取消了服务类型字段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取消了总长度字段</a:t>
                      </a:r>
                      <a:r>
                        <a:rPr lang="zh-CN" altLang="en-US" sz="1400" b="0" dirty="0">
                          <a:solidFill>
                            <a:schemeClr val="tx1"/>
                          </a:solidFill>
                          <a:latin typeface="微软雅黑" pitchFamily="34" charset="-122"/>
                          <a:ea typeface="微软雅黑" pitchFamily="34" charset="-122"/>
                        </a:rPr>
                        <a:t>，</a:t>
                      </a:r>
                      <a:r>
                        <a:rPr lang="zh-CN" altLang="zh-CN" sz="1400" b="0" dirty="0">
                          <a:solidFill>
                            <a:schemeClr val="tx1"/>
                          </a:solidFill>
                          <a:latin typeface="微软雅黑" pitchFamily="34" charset="-122"/>
                          <a:ea typeface="微软雅黑" pitchFamily="34" charset="-122"/>
                        </a:rPr>
                        <a:t>改用有效载荷长度字段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marR="0" lvl="0" indent="-342900" algn="l" defTabSz="914400" rtl="0" eaLnBrk="1" fontAlgn="auto" latinLnBrk="0" hangingPunct="1">
                        <a:lnSpc>
                          <a:spcPts val="2800"/>
                        </a:lnSpc>
                        <a:spcBef>
                          <a:spcPts val="0"/>
                        </a:spcBef>
                        <a:spcAft>
                          <a:spcPts val="0"/>
                        </a:spcAft>
                        <a:buClr>
                          <a:srgbClr val="CC00CC"/>
                        </a:buClr>
                        <a:buSzPct val="80000"/>
                        <a:buFont typeface="Wingdings" pitchFamily="2" charset="2"/>
                        <a:buChar char="l"/>
                        <a:tabLst/>
                        <a:defRPr/>
                      </a:pPr>
                      <a:r>
                        <a:rPr lang="zh-CN" altLang="zh-CN" sz="1400" b="0" dirty="0">
                          <a:solidFill>
                            <a:schemeClr val="tx1"/>
                          </a:solidFill>
                          <a:latin typeface="微软雅黑" pitchFamily="34" charset="-122"/>
                          <a:ea typeface="微软雅黑" pitchFamily="34" charset="-122"/>
                        </a:rPr>
                        <a:t>把</a:t>
                      </a:r>
                      <a:r>
                        <a:rPr lang="en-US" altLang="zh-CN" sz="1400" b="0" dirty="0">
                          <a:solidFill>
                            <a:schemeClr val="tx1"/>
                          </a:solidFill>
                          <a:latin typeface="微软雅黑" pitchFamily="34" charset="-122"/>
                          <a:ea typeface="微软雅黑" pitchFamily="34" charset="-122"/>
                        </a:rPr>
                        <a:t> TTL </a:t>
                      </a:r>
                      <a:r>
                        <a:rPr lang="zh-CN" altLang="zh-CN" sz="1400" b="0" dirty="0">
                          <a:solidFill>
                            <a:schemeClr val="tx1"/>
                          </a:solidFill>
                          <a:latin typeface="微软雅黑" pitchFamily="34" charset="-122"/>
                          <a:ea typeface="微软雅黑" pitchFamily="34" charset="-122"/>
                        </a:rPr>
                        <a:t>字段改称为跳数限制字段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取消了协议字段，改用下一个首部字段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取消了检验和字段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取消了选项字段，而用扩展首部来实现选项功能。</a:t>
                      </a:r>
                      <a:endParaRPr lang="zh-CN" altLang="en-US" sz="1400" b="0" dirty="0">
                        <a:solidFill>
                          <a:schemeClr val="tx1"/>
                        </a:solidFill>
                        <a:latin typeface="微软雅黑" pitchFamily="34" charset="-122"/>
                        <a:ea typeface="微软雅黑" pitchFamily="34" charset="-122"/>
                      </a:endParaRPr>
                    </a:p>
                  </a:txBody>
                  <a:tcPr marL="1800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5" name="矩形 4"/>
          <p:cNvSpPr/>
          <p:nvPr/>
        </p:nvSpPr>
        <p:spPr>
          <a:xfrm>
            <a:off x="2012171" y="1803249"/>
            <a:ext cx="5119659" cy="369332"/>
          </a:xfrm>
          <a:prstGeom prst="rect">
            <a:avLst/>
          </a:prstGeom>
        </p:spPr>
        <p:txBody>
          <a:bodyPr wrap="square">
            <a:spAutoFit/>
          </a:bodyPr>
          <a:lstStyle/>
          <a:p>
            <a:pPr algn="ctr">
              <a:buClr>
                <a:srgbClr val="0070C0"/>
              </a:buClr>
            </a:pPr>
            <a:r>
              <a:rPr lang="en-US" altLang="zh-CN" dirty="0">
                <a:latin typeface="微软雅黑" pitchFamily="34" charset="-122"/>
                <a:ea typeface="微软雅黑" pitchFamily="34" charset="-122"/>
              </a:rPr>
              <a:t>IPv6 </a:t>
            </a:r>
            <a:r>
              <a:rPr lang="zh-CN" altLang="en-US" dirty="0">
                <a:latin typeface="微软雅黑" pitchFamily="34" charset="-122"/>
                <a:ea typeface="微软雅黑" pitchFamily="34" charset="-122"/>
              </a:rPr>
              <a:t>对首部的主要</a:t>
            </a:r>
            <a:r>
              <a:rPr lang="zh-CN" altLang="en-US" dirty="0">
                <a:solidFill>
                  <a:srgbClr val="0000FF"/>
                </a:solidFill>
                <a:latin typeface="微软雅黑" pitchFamily="34" charset="-122"/>
                <a:ea typeface="微软雅黑" pitchFamily="34" charset="-122"/>
              </a:rPr>
              <a:t>更改</a:t>
            </a:r>
            <a:endParaRPr lang="zh-CN" altLang="en-US" dirty="0">
              <a:latin typeface="微软雅黑" pitchFamily="34" charset="-122"/>
              <a:ea typeface="微软雅黑" pitchFamily="34" charset="-122"/>
            </a:endParaRPr>
          </a:p>
        </p:txBody>
      </p:sp>
    </p:spTree>
    <p:extLst>
      <p:ext uri="{BB962C8B-B14F-4D97-AF65-F5344CB8AC3E}">
        <p14:creationId xmlns:p14="http://schemas.microsoft.com/office/powerpoint/2010/main" val="39406747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3148312"/>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Rectangle 36"/>
          <p:cNvSpPr>
            <a:spLocks noChangeArrowheads="1"/>
          </p:cNvSpPr>
          <p:nvPr/>
        </p:nvSpPr>
        <p:spPr bwMode="auto">
          <a:xfrm>
            <a:off x="2652176" y="3196060"/>
            <a:ext cx="4005293" cy="779486"/>
          </a:xfrm>
          <a:prstGeom prst="rect">
            <a:avLst/>
          </a:prstGeom>
          <a:solidFill>
            <a:srgbClr val="00FFFF"/>
          </a:solidFill>
          <a:ln w="12700">
            <a:no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37"/>
          <p:cNvSpPr>
            <a:spLocks noChangeArrowheads="1"/>
          </p:cNvSpPr>
          <p:nvPr/>
        </p:nvSpPr>
        <p:spPr bwMode="auto">
          <a:xfrm>
            <a:off x="3453252" y="3245272"/>
            <a:ext cx="2194513" cy="274434"/>
          </a:xfrm>
          <a:prstGeom prst="rect">
            <a:avLst/>
          </a:prstGeom>
          <a:noFill/>
          <a:ln>
            <a:noFill/>
          </a:ln>
          <a:effec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有效载荷（扩展首部 </a:t>
            </a: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数据）</a:t>
            </a:r>
          </a:p>
        </p:txBody>
      </p:sp>
      <p:sp>
        <p:nvSpPr>
          <p:cNvPr id="39" name="Freeform 38"/>
          <p:cNvSpPr>
            <a:spLocks/>
          </p:cNvSpPr>
          <p:nvPr/>
        </p:nvSpPr>
        <p:spPr bwMode="auto">
          <a:xfrm>
            <a:off x="2585177" y="3550792"/>
            <a:ext cx="4090642" cy="165495"/>
          </a:xfrm>
          <a:custGeom>
            <a:avLst/>
            <a:gdLst>
              <a:gd name="T0" fmla="*/ 0 w 4778"/>
              <a:gd name="T1" fmla="*/ 203 h 214"/>
              <a:gd name="T2" fmla="*/ 475 w 4778"/>
              <a:gd name="T3" fmla="*/ 34 h 214"/>
              <a:gd name="T4" fmla="*/ 926 w 4778"/>
              <a:gd name="T5" fmla="*/ 214 h 214"/>
              <a:gd name="T6" fmla="*/ 1265 w 4778"/>
              <a:gd name="T7" fmla="*/ 113 h 214"/>
              <a:gd name="T8" fmla="*/ 1717 w 4778"/>
              <a:gd name="T9" fmla="*/ 214 h 214"/>
              <a:gd name="T10" fmla="*/ 2056 w 4778"/>
              <a:gd name="T11" fmla="*/ 68 h 214"/>
              <a:gd name="T12" fmla="*/ 2361 w 4778"/>
              <a:gd name="T13" fmla="*/ 169 h 214"/>
              <a:gd name="T14" fmla="*/ 2677 w 4778"/>
              <a:gd name="T15" fmla="*/ 68 h 214"/>
              <a:gd name="T16" fmla="*/ 2869 w 4778"/>
              <a:gd name="T17" fmla="*/ 180 h 214"/>
              <a:gd name="T18" fmla="*/ 3332 w 4778"/>
              <a:gd name="T19" fmla="*/ 11 h 214"/>
              <a:gd name="T20" fmla="*/ 3818 w 4778"/>
              <a:gd name="T21" fmla="*/ 192 h 214"/>
              <a:gd name="T22" fmla="*/ 3908 w 4778"/>
              <a:gd name="T23" fmla="*/ 11 h 214"/>
              <a:gd name="T24" fmla="*/ 4089 w 4778"/>
              <a:gd name="T25" fmla="*/ 180 h 214"/>
              <a:gd name="T26" fmla="*/ 4303 w 4778"/>
              <a:gd name="T27" fmla="*/ 11 h 214"/>
              <a:gd name="T28" fmla="*/ 4507 w 4778"/>
              <a:gd name="T29" fmla="*/ 135 h 214"/>
              <a:gd name="T30" fmla="*/ 4778 w 4778"/>
              <a:gd name="T31" fmla="*/ 0 h 214"/>
              <a:gd name="connsiteX0" fmla="*/ 0 w 9905"/>
              <a:gd name="connsiteY0" fmla="*/ 8972 h 9486"/>
              <a:gd name="connsiteX1" fmla="*/ 994 w 9905"/>
              <a:gd name="connsiteY1" fmla="*/ 1075 h 9486"/>
              <a:gd name="connsiteX2" fmla="*/ 1938 w 9905"/>
              <a:gd name="connsiteY2" fmla="*/ 9486 h 9486"/>
              <a:gd name="connsiteX3" fmla="*/ 2648 w 9905"/>
              <a:gd name="connsiteY3" fmla="*/ 4766 h 9486"/>
              <a:gd name="connsiteX4" fmla="*/ 3594 w 9905"/>
              <a:gd name="connsiteY4" fmla="*/ 9486 h 9486"/>
              <a:gd name="connsiteX5" fmla="*/ 4303 w 9905"/>
              <a:gd name="connsiteY5" fmla="*/ 2664 h 9486"/>
              <a:gd name="connsiteX6" fmla="*/ 4941 w 9905"/>
              <a:gd name="connsiteY6" fmla="*/ 7383 h 9486"/>
              <a:gd name="connsiteX7" fmla="*/ 5603 w 9905"/>
              <a:gd name="connsiteY7" fmla="*/ 2664 h 9486"/>
              <a:gd name="connsiteX8" fmla="*/ 6005 w 9905"/>
              <a:gd name="connsiteY8" fmla="*/ 7897 h 9486"/>
              <a:gd name="connsiteX9" fmla="*/ 6974 w 9905"/>
              <a:gd name="connsiteY9" fmla="*/ 0 h 9486"/>
              <a:gd name="connsiteX10" fmla="*/ 7991 w 9905"/>
              <a:gd name="connsiteY10" fmla="*/ 8458 h 9486"/>
              <a:gd name="connsiteX11" fmla="*/ 8179 w 9905"/>
              <a:gd name="connsiteY11" fmla="*/ 0 h 9486"/>
              <a:gd name="connsiteX12" fmla="*/ 8558 w 9905"/>
              <a:gd name="connsiteY12" fmla="*/ 7897 h 9486"/>
              <a:gd name="connsiteX13" fmla="*/ 9006 w 9905"/>
              <a:gd name="connsiteY13" fmla="*/ 0 h 9486"/>
              <a:gd name="connsiteX14" fmla="*/ 9433 w 9905"/>
              <a:gd name="connsiteY14" fmla="*/ 5794 h 9486"/>
              <a:gd name="connsiteX15" fmla="*/ 9905 w 9905"/>
              <a:gd name="connsiteY15" fmla="*/ 1778 h 9486"/>
              <a:gd name="connsiteX0" fmla="*/ 0 w 9828"/>
              <a:gd name="connsiteY0" fmla="*/ 9517 h 10059"/>
              <a:gd name="connsiteX1" fmla="*/ 1004 w 9828"/>
              <a:gd name="connsiteY1" fmla="*/ 1192 h 10059"/>
              <a:gd name="connsiteX2" fmla="*/ 1957 w 9828"/>
              <a:gd name="connsiteY2" fmla="*/ 10059 h 10059"/>
              <a:gd name="connsiteX3" fmla="*/ 2673 w 9828"/>
              <a:gd name="connsiteY3" fmla="*/ 5083 h 10059"/>
              <a:gd name="connsiteX4" fmla="*/ 3628 w 9828"/>
              <a:gd name="connsiteY4" fmla="*/ 10059 h 10059"/>
              <a:gd name="connsiteX5" fmla="*/ 4344 w 9828"/>
              <a:gd name="connsiteY5" fmla="*/ 2867 h 10059"/>
              <a:gd name="connsiteX6" fmla="*/ 4988 w 9828"/>
              <a:gd name="connsiteY6" fmla="*/ 7842 h 10059"/>
              <a:gd name="connsiteX7" fmla="*/ 5657 w 9828"/>
              <a:gd name="connsiteY7" fmla="*/ 2867 h 10059"/>
              <a:gd name="connsiteX8" fmla="*/ 6063 w 9828"/>
              <a:gd name="connsiteY8" fmla="*/ 8384 h 10059"/>
              <a:gd name="connsiteX9" fmla="*/ 7041 w 9828"/>
              <a:gd name="connsiteY9" fmla="*/ 59 h 10059"/>
              <a:gd name="connsiteX10" fmla="*/ 8068 w 9828"/>
              <a:gd name="connsiteY10" fmla="*/ 8975 h 10059"/>
              <a:gd name="connsiteX11" fmla="*/ 8257 w 9828"/>
              <a:gd name="connsiteY11" fmla="*/ 59 h 10059"/>
              <a:gd name="connsiteX12" fmla="*/ 8640 w 9828"/>
              <a:gd name="connsiteY12" fmla="*/ 8384 h 10059"/>
              <a:gd name="connsiteX13" fmla="*/ 9092 w 9828"/>
              <a:gd name="connsiteY13" fmla="*/ 59 h 10059"/>
              <a:gd name="connsiteX14" fmla="*/ 9523 w 9828"/>
              <a:gd name="connsiteY14" fmla="*/ 6167 h 10059"/>
              <a:gd name="connsiteX15" fmla="*/ 9828 w 9828"/>
              <a:gd name="connsiteY15" fmla="*/ 0 h 10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9828" h="10059">
                <a:moveTo>
                  <a:pt x="0" y="9517"/>
                </a:moveTo>
                <a:lnTo>
                  <a:pt x="1004" y="1192"/>
                </a:lnTo>
                <a:lnTo>
                  <a:pt x="1957" y="10059"/>
                </a:lnTo>
                <a:cubicBezTo>
                  <a:pt x="2196" y="8401"/>
                  <a:pt x="2434" y="6741"/>
                  <a:pt x="2673" y="5083"/>
                </a:cubicBezTo>
                <a:lnTo>
                  <a:pt x="3628" y="10059"/>
                </a:lnTo>
                <a:cubicBezTo>
                  <a:pt x="3867" y="7662"/>
                  <a:pt x="4106" y="5265"/>
                  <a:pt x="4344" y="2867"/>
                </a:cubicBezTo>
                <a:lnTo>
                  <a:pt x="4988" y="7842"/>
                </a:lnTo>
                <a:cubicBezTo>
                  <a:pt x="5212" y="6184"/>
                  <a:pt x="5434" y="4526"/>
                  <a:pt x="5657" y="2867"/>
                </a:cubicBezTo>
                <a:cubicBezTo>
                  <a:pt x="5792" y="4706"/>
                  <a:pt x="5928" y="6545"/>
                  <a:pt x="6063" y="8384"/>
                </a:cubicBezTo>
                <a:lnTo>
                  <a:pt x="7041" y="59"/>
                </a:lnTo>
                <a:lnTo>
                  <a:pt x="8068" y="8975"/>
                </a:lnTo>
                <a:cubicBezTo>
                  <a:pt x="8131" y="6004"/>
                  <a:pt x="8194" y="3031"/>
                  <a:pt x="8257" y="59"/>
                </a:cubicBezTo>
                <a:cubicBezTo>
                  <a:pt x="8385" y="2834"/>
                  <a:pt x="8513" y="5609"/>
                  <a:pt x="8640" y="8384"/>
                </a:cubicBezTo>
                <a:cubicBezTo>
                  <a:pt x="8791" y="5609"/>
                  <a:pt x="8942" y="2834"/>
                  <a:pt x="9092" y="59"/>
                </a:cubicBezTo>
                <a:cubicBezTo>
                  <a:pt x="9236" y="2095"/>
                  <a:pt x="9380" y="4131"/>
                  <a:pt x="9523" y="6167"/>
                </a:cubicBezTo>
                <a:cubicBezTo>
                  <a:pt x="9714" y="3950"/>
                  <a:pt x="9637" y="2217"/>
                  <a:pt x="9828" y="0"/>
                </a:cubicBezTo>
              </a:path>
            </a:pathLst>
          </a:custGeom>
          <a:noFill/>
          <a:ln w="57150" cap="flat" cmpd="sng">
            <a:solidFill>
              <a:schemeClr val="bg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41"/>
          <p:cNvSpPr>
            <a:spLocks/>
          </p:cNvSpPr>
          <p:nvPr/>
        </p:nvSpPr>
        <p:spPr bwMode="auto">
          <a:xfrm>
            <a:off x="2482170" y="3194210"/>
            <a:ext cx="126778" cy="801164"/>
          </a:xfrm>
          <a:prstGeom prst="leftBrace">
            <a:avLst>
              <a:gd name="adj1" fmla="val 5266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48" name="组合 47"/>
          <p:cNvGrpSpPr/>
          <p:nvPr/>
        </p:nvGrpSpPr>
        <p:grpSpPr>
          <a:xfrm>
            <a:off x="1711709" y="840899"/>
            <a:ext cx="4966450" cy="2333062"/>
            <a:chOff x="1711709" y="840899"/>
            <a:chExt cx="4966450" cy="2333062"/>
          </a:xfrm>
        </p:grpSpPr>
        <p:sp>
          <p:nvSpPr>
            <p:cNvPr id="40"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3" name="Rectangle 43"/>
            <p:cNvSpPr>
              <a:spLocks noChangeArrowheads="1"/>
            </p:cNvSpPr>
            <p:nvPr/>
          </p:nvSpPr>
          <p:spPr bwMode="auto">
            <a:xfrm>
              <a:off x="2635360" y="840899"/>
              <a:ext cx="4042799" cy="2333062"/>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4" name="矩形 43"/>
          <p:cNvSpPr/>
          <p:nvPr/>
        </p:nvSpPr>
        <p:spPr>
          <a:xfrm>
            <a:off x="3308876" y="4049822"/>
            <a:ext cx="2624501" cy="307777"/>
          </a:xfrm>
          <a:prstGeom prst="rect">
            <a:avLst/>
          </a:prstGeom>
        </p:spPr>
        <p:txBody>
          <a:bodyPr wrap="square">
            <a:spAutoFit/>
          </a:bodyPr>
          <a:lstStyle/>
          <a:p>
            <a:pPr algn="ctr"/>
            <a:endParaRPr lang="zh-CN" altLang="en-US" sz="1400" b="1" dirty="0">
              <a:latin typeface="微软雅黑" pitchFamily="34" charset="-122"/>
              <a:ea typeface="微软雅黑" pitchFamily="34" charset="-122"/>
            </a:endParaRPr>
          </a:p>
        </p:txBody>
      </p:sp>
      <p:sp>
        <p:nvSpPr>
          <p:cNvPr id="46" name="矩形 45"/>
          <p:cNvSpPr/>
          <p:nvPr/>
        </p:nvSpPr>
        <p:spPr>
          <a:xfrm>
            <a:off x="3382347" y="4008475"/>
            <a:ext cx="2395207"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40 </a:t>
            </a:r>
            <a:r>
              <a:rPr lang="zh-CN" altLang="zh-CN" sz="1400" b="1" dirty="0">
                <a:latin typeface="微软雅黑" pitchFamily="34" charset="-122"/>
                <a:ea typeface="微软雅黑" pitchFamily="34" charset="-122"/>
              </a:rPr>
              <a:t>字节长的</a:t>
            </a:r>
            <a:r>
              <a:rPr lang="en-US" altLang="zh-CN" sz="1400" b="1" dirty="0">
                <a:latin typeface="微软雅黑" pitchFamily="34" charset="-122"/>
                <a:ea typeface="微软雅黑" pitchFamily="34" charset="-122"/>
              </a:rPr>
              <a:t> IPv6 </a:t>
            </a:r>
            <a:r>
              <a:rPr lang="zh-CN" altLang="zh-CN" sz="1400" b="1" dirty="0">
                <a:latin typeface="微软雅黑" pitchFamily="34" charset="-122"/>
                <a:ea typeface="微软雅黑" pitchFamily="34" charset="-122"/>
              </a:rPr>
              <a:t>基本首部</a:t>
            </a:r>
            <a:endParaRPr lang="zh-CN" altLang="en-US" sz="1400" b="1" dirty="0">
              <a:latin typeface="微软雅黑" pitchFamily="34" charset="-122"/>
              <a:ea typeface="微软雅黑" pitchFamily="34" charset="-122"/>
            </a:endParaRPr>
          </a:p>
        </p:txBody>
      </p:sp>
      <p:sp>
        <p:nvSpPr>
          <p:cNvPr id="47" name="Rectangle 42"/>
          <p:cNvSpPr>
            <a:spLocks noChangeArrowheads="1"/>
          </p:cNvSpPr>
          <p:nvPr/>
        </p:nvSpPr>
        <p:spPr bwMode="auto">
          <a:xfrm>
            <a:off x="1570819" y="3290066"/>
            <a:ext cx="1056379"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有效载荷</a:t>
            </a:r>
          </a:p>
          <a:p>
            <a:pPr algn="ctr" defTabSz="762000" eaLnBrk="0" hangingPunct="0"/>
            <a:r>
              <a:rPr kumimoji="1" lang="zh-CN" altLang="en-US" sz="1100" b="1" dirty="0">
                <a:solidFill>
                  <a:srgbClr val="0000CC"/>
                </a:solidFill>
                <a:latin typeface="微软雅黑" pitchFamily="34" charset="-122"/>
                <a:ea typeface="微软雅黑" pitchFamily="34" charset="-122"/>
              </a:rPr>
              <a:t>（至 </a:t>
            </a:r>
            <a:r>
              <a:rPr kumimoji="1" lang="en-US" altLang="zh-CN" sz="1100" b="1" dirty="0">
                <a:solidFill>
                  <a:srgbClr val="0000CC"/>
                </a:solidFill>
                <a:latin typeface="微软雅黑" pitchFamily="34" charset="-122"/>
                <a:ea typeface="微软雅黑" pitchFamily="34" charset="-122"/>
              </a:rPr>
              <a:t>64 KB</a:t>
            </a:r>
            <a:r>
              <a:rPr kumimoji="1" lang="zh-CN" altLang="en-US" sz="1100" b="1" dirty="0">
                <a:solidFill>
                  <a:srgbClr val="0000CC"/>
                </a:solidFill>
                <a:latin typeface="微软雅黑" pitchFamily="34" charset="-122"/>
                <a:ea typeface="微软雅黑" pitchFamily="34" charset="-122"/>
              </a:rPr>
              <a:t>）</a:t>
            </a:r>
          </a:p>
        </p:txBody>
      </p:sp>
    </p:spTree>
    <p:extLst>
      <p:ext uri="{BB962C8B-B14F-4D97-AF65-F5344CB8AC3E}">
        <p14:creationId xmlns:p14="http://schemas.microsoft.com/office/powerpoint/2010/main" val="18214349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nodeType="afterEffect">
                                  <p:stCondLst>
                                    <p:cond delay="0"/>
                                  </p:stCondLst>
                                  <p:endCondLst>
                                    <p:cond evt="onNext" delay="0">
                                      <p:tgtEl>
                                        <p:sldTgt/>
                                      </p:tgtEl>
                                    </p:cond>
                                  </p:endCondLst>
                                  <p:childTnLst>
                                    <p:anim calcmode="discrete" valueType="str">
                                      <p:cBhvr>
                                        <p:cTn id="6"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4" name="Rectangle 43"/>
          <p:cNvSpPr>
            <a:spLocks noChangeArrowheads="1"/>
          </p:cNvSpPr>
          <p:nvPr/>
        </p:nvSpPr>
        <p:spPr bwMode="auto">
          <a:xfrm>
            <a:off x="2635360" y="840900"/>
            <a:ext cx="499187"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对角圆角矩形 47"/>
          <p:cNvSpPr/>
          <p:nvPr/>
        </p:nvSpPr>
        <p:spPr>
          <a:xfrm>
            <a:off x="1885750" y="3392007"/>
            <a:ext cx="5394293"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2086918" y="3435469"/>
            <a:ext cx="5060049"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(version)—— 4 </a:t>
            </a:r>
            <a:r>
              <a:rPr lang="zh-CN" altLang="en-US" sz="1600" b="1" dirty="0">
                <a:solidFill>
                  <a:schemeClr val="bg1"/>
                </a:solidFill>
                <a:latin typeface="微软雅黑" pitchFamily="34" charset="-122"/>
                <a:ea typeface="微软雅黑" pitchFamily="34" charset="-122"/>
              </a:rPr>
              <a:t>位。它指明了协议的版本，对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该字段总是 </a:t>
            </a:r>
            <a:r>
              <a:rPr lang="en-US" altLang="zh-CN" sz="1600" b="1" dirty="0">
                <a:solidFill>
                  <a:schemeClr val="bg1"/>
                </a:solidFill>
                <a:latin typeface="微软雅黑" pitchFamily="34" charset="-122"/>
                <a:ea typeface="微软雅黑" pitchFamily="34" charset="-122"/>
              </a:rPr>
              <a:t>6</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12022254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4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3134547" y="840900"/>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68955"/>
            <a:ext cx="6998676"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42" name="矩形 41"/>
          <p:cNvSpPr/>
          <p:nvPr/>
        </p:nvSpPr>
        <p:spPr>
          <a:xfrm>
            <a:off x="1169377" y="3412417"/>
            <a:ext cx="6875585"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通信量类</a:t>
            </a:r>
            <a:r>
              <a:rPr lang="en-US" altLang="zh-CN" sz="1600" b="1" dirty="0">
                <a:solidFill>
                  <a:schemeClr val="bg1"/>
                </a:solidFill>
                <a:latin typeface="微软雅黑" pitchFamily="34" charset="-122"/>
                <a:ea typeface="微软雅黑" pitchFamily="34" charset="-122"/>
              </a:rPr>
              <a:t>(traffic class)—— 8 </a:t>
            </a:r>
            <a:r>
              <a:rPr lang="zh-CN" altLang="en-US" sz="1600" b="1" dirty="0">
                <a:solidFill>
                  <a:schemeClr val="bg1"/>
                </a:solidFill>
                <a:latin typeface="微软雅黑" pitchFamily="34" charset="-122"/>
                <a:ea typeface="微软雅黑" pitchFamily="34" charset="-122"/>
              </a:rPr>
              <a:t>位。这是为了区分不同的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数据报的类别或优先级。目前正在进行不同的通信量类性能的实验。 </a:t>
            </a:r>
          </a:p>
        </p:txBody>
      </p:sp>
    </p:spTree>
    <p:extLst>
      <p:ext uri="{BB962C8B-B14F-4D97-AF65-F5344CB8AC3E}">
        <p14:creationId xmlns:p14="http://schemas.microsoft.com/office/powerpoint/2010/main" val="6014489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4142605" y="840900"/>
            <a:ext cx="2524894"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流标号</a:t>
            </a:r>
            <a:r>
              <a:rPr lang="en-US" altLang="zh-CN" sz="1600" b="1" dirty="0">
                <a:solidFill>
                  <a:schemeClr val="bg1"/>
                </a:solidFill>
                <a:latin typeface="微软雅黑" pitchFamily="34" charset="-122"/>
                <a:ea typeface="微软雅黑" pitchFamily="34" charset="-122"/>
              </a:rPr>
              <a:t>(flow label)—— 20 </a:t>
            </a:r>
            <a:r>
              <a:rPr lang="zh-CN" altLang="en-US" sz="1600" b="1" dirty="0">
                <a:solidFill>
                  <a:schemeClr val="bg1"/>
                </a:solidFill>
                <a:latin typeface="微软雅黑" pitchFamily="34" charset="-122"/>
                <a:ea typeface="微软雅黑" pitchFamily="34" charset="-122"/>
              </a:rPr>
              <a:t>位。 “流”是互联网络上从特定源点到特定终点的一系列数据报， “流”所经过的路径上的路由器都保证指明的服务质量。所有属于同一个流的数据报都具有同样的流标号。 </a:t>
            </a:r>
          </a:p>
        </p:txBody>
      </p:sp>
    </p:spTree>
    <p:extLst>
      <p:ext uri="{BB962C8B-B14F-4D97-AF65-F5344CB8AC3E}">
        <p14:creationId xmlns:p14="http://schemas.microsoft.com/office/powerpoint/2010/main" val="23910771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2630958" y="1071593"/>
            <a:ext cx="2029323"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306286" y="3344153"/>
            <a:ext cx="6615581"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有效载荷长度</a:t>
            </a:r>
            <a:r>
              <a:rPr lang="en-US" altLang="zh-CN" sz="1600" b="1" dirty="0">
                <a:solidFill>
                  <a:schemeClr val="bg1"/>
                </a:solidFill>
                <a:latin typeface="微软雅黑" pitchFamily="34" charset="-122"/>
                <a:ea typeface="微软雅黑" pitchFamily="34" charset="-122"/>
              </a:rPr>
              <a:t>(payload length)—— 16 </a:t>
            </a:r>
            <a:r>
              <a:rPr lang="zh-CN" altLang="en-US" sz="1600" b="1" dirty="0">
                <a:solidFill>
                  <a:schemeClr val="bg1"/>
                </a:solidFill>
                <a:latin typeface="微软雅黑" pitchFamily="34" charset="-122"/>
                <a:ea typeface="微软雅黑" pitchFamily="34" charset="-122"/>
              </a:rPr>
              <a:t>位。它指明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数据报除基本首部以外的字节数（所有扩展首部都算在有效载荷之内），其最大值是 </a:t>
            </a:r>
            <a:r>
              <a:rPr lang="en-US" altLang="zh-CN" sz="1600" b="1" dirty="0">
                <a:solidFill>
                  <a:schemeClr val="bg1"/>
                </a:solidFill>
                <a:latin typeface="微软雅黑" pitchFamily="34" charset="-122"/>
                <a:ea typeface="微软雅黑" pitchFamily="34" charset="-122"/>
              </a:rPr>
              <a:t>64 KB</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5299383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4656760" y="1062913"/>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84324"/>
            <a:ext cx="7198682" cy="537774"/>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27785"/>
            <a:ext cx="7075591" cy="438582"/>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下一个首部</a:t>
            </a:r>
            <a:r>
              <a:rPr lang="en-US" altLang="zh-CN" sz="1600" b="1" dirty="0">
                <a:solidFill>
                  <a:schemeClr val="bg1"/>
                </a:solidFill>
                <a:latin typeface="微软雅黑" pitchFamily="34" charset="-122"/>
                <a:ea typeface="微软雅黑" pitchFamily="34" charset="-122"/>
              </a:rPr>
              <a:t>(next header)—— 8 </a:t>
            </a:r>
            <a:r>
              <a:rPr lang="zh-CN" altLang="en-US" sz="1600" b="1" dirty="0">
                <a:solidFill>
                  <a:schemeClr val="bg1"/>
                </a:solidFill>
                <a:latin typeface="微软雅黑" pitchFamily="34" charset="-122"/>
                <a:ea typeface="微软雅黑" pitchFamily="34" charset="-122"/>
              </a:rPr>
              <a:t>位。相当于 </a:t>
            </a:r>
            <a:r>
              <a:rPr lang="en-US" altLang="zh-CN" sz="1600" b="1" dirty="0">
                <a:solidFill>
                  <a:schemeClr val="bg1"/>
                </a:solidFill>
                <a:latin typeface="微软雅黑" pitchFamily="34" charset="-122"/>
                <a:ea typeface="微软雅黑" pitchFamily="34" charset="-122"/>
              </a:rPr>
              <a:t>IPv4 </a:t>
            </a:r>
            <a:r>
              <a:rPr lang="zh-CN" altLang="en-US" sz="1600" b="1" dirty="0">
                <a:solidFill>
                  <a:schemeClr val="bg1"/>
                </a:solidFill>
                <a:latin typeface="微软雅黑" pitchFamily="34" charset="-122"/>
                <a:ea typeface="微软雅黑" pitchFamily="34" charset="-122"/>
              </a:rPr>
              <a:t>的协议字段或可选字段。 </a:t>
            </a:r>
          </a:p>
        </p:txBody>
      </p:sp>
    </p:spTree>
    <p:extLst>
      <p:ext uri="{BB962C8B-B14F-4D97-AF65-F5344CB8AC3E}">
        <p14:creationId xmlns:p14="http://schemas.microsoft.com/office/powerpoint/2010/main" val="18075798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0257"/>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5669221" y="1059683"/>
            <a:ext cx="998278"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跳数限制</a:t>
            </a:r>
            <a:r>
              <a:rPr lang="en-US" altLang="zh-CN" sz="1600" b="1" dirty="0">
                <a:solidFill>
                  <a:schemeClr val="bg1"/>
                </a:solidFill>
                <a:latin typeface="微软雅黑" pitchFamily="34" charset="-122"/>
                <a:ea typeface="微软雅黑" pitchFamily="34" charset="-122"/>
              </a:rPr>
              <a:t>(hop limit)—— 8 </a:t>
            </a:r>
            <a:r>
              <a:rPr lang="zh-CN" altLang="en-US" sz="1600" b="1" dirty="0">
                <a:solidFill>
                  <a:schemeClr val="bg1"/>
                </a:solidFill>
                <a:latin typeface="微软雅黑" pitchFamily="34" charset="-122"/>
                <a:ea typeface="微软雅黑" pitchFamily="34" charset="-122"/>
              </a:rPr>
              <a:t>位。源站在数据报发出时即设定跳数限制。路由器在转发数据报时将跳数限制字段中的值减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。当跳数限制的值为零时，就要将此数据报丢弃。 </a:t>
            </a:r>
          </a:p>
        </p:txBody>
      </p:sp>
    </p:spTree>
    <p:extLst>
      <p:ext uri="{BB962C8B-B14F-4D97-AF65-F5344CB8AC3E}">
        <p14:creationId xmlns:p14="http://schemas.microsoft.com/office/powerpoint/2010/main" val="36740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2630515" y="1300662"/>
            <a:ext cx="4035411" cy="93127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源地址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位。是数据报的发送站的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 </a:t>
            </a:r>
          </a:p>
        </p:txBody>
      </p:sp>
    </p:spTree>
    <p:extLst>
      <p:ext uri="{BB962C8B-B14F-4D97-AF65-F5344CB8AC3E}">
        <p14:creationId xmlns:p14="http://schemas.microsoft.com/office/powerpoint/2010/main" val="29956421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flipV="1">
            <a:off x="2630514" y="2231931"/>
            <a:ext cx="4035411" cy="942029"/>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对角圆角矩形 42"/>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矩形 43"/>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目的地址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位。是数据报的接收站的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a:t>
            </a:r>
          </a:p>
        </p:txBody>
      </p:sp>
    </p:spTree>
    <p:extLst>
      <p:ext uri="{BB962C8B-B14F-4D97-AF65-F5344CB8AC3E}">
        <p14:creationId xmlns:p14="http://schemas.microsoft.com/office/powerpoint/2010/main" val="21668268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A63C551-C42C-5ACE-2C95-3EF5D29616A8}"/>
              </a:ext>
            </a:extLst>
          </p:cNvPr>
          <p:cNvSpPr>
            <a:spLocks noGrp="1"/>
          </p:cNvSpPr>
          <p:nvPr>
            <p:ph type="title"/>
          </p:nvPr>
        </p:nvSpPr>
        <p:spPr>
          <a:xfrm>
            <a:off x="486000" y="550723"/>
            <a:ext cx="8172000" cy="338554"/>
          </a:xfrm>
        </p:spPr>
        <p:txBody>
          <a:bodyPr/>
          <a:lstStyle/>
          <a:p>
            <a:r>
              <a:rPr lang="en-US" altLang="zh-CN" dirty="0"/>
              <a:t>IPv6 </a:t>
            </a:r>
            <a:r>
              <a:rPr lang="zh-CN" altLang="en-US" dirty="0"/>
              <a:t>的六种扩展首部</a:t>
            </a:r>
          </a:p>
        </p:txBody>
      </p:sp>
      <p:sp>
        <p:nvSpPr>
          <p:cNvPr id="6" name="内容占位符 5">
            <a:extLst>
              <a:ext uri="{FF2B5EF4-FFF2-40B4-BE49-F238E27FC236}">
                <a16:creationId xmlns:a16="http://schemas.microsoft.com/office/drawing/2014/main" id="{6A49FB16-81E4-61C4-908C-4AA2952E6793}"/>
              </a:ext>
            </a:extLst>
          </p:cNvPr>
          <p:cNvSpPr>
            <a:spLocks noGrp="1"/>
          </p:cNvSpPr>
          <p:nvPr>
            <p:ph sz="quarter" idx="11"/>
          </p:nvPr>
        </p:nvSpPr>
        <p:spPr>
          <a:xfrm>
            <a:off x="486000" y="900000"/>
            <a:ext cx="8172000" cy="3703500"/>
          </a:xfrm>
        </p:spPr>
        <p:txBody>
          <a:bodyPr/>
          <a:lstStyle/>
          <a:p>
            <a:r>
              <a:rPr lang="zh-CN" altLang="en-US" dirty="0"/>
              <a:t>逐跳选项</a:t>
            </a:r>
          </a:p>
          <a:p>
            <a:r>
              <a:rPr lang="zh-CN" altLang="en-US" dirty="0"/>
              <a:t>路由选择</a:t>
            </a:r>
          </a:p>
          <a:p>
            <a:r>
              <a:rPr lang="zh-CN" altLang="en-US" dirty="0"/>
              <a:t>分片</a:t>
            </a:r>
          </a:p>
          <a:p>
            <a:r>
              <a:rPr lang="zh-CN" altLang="en-US" dirty="0"/>
              <a:t>鉴别</a:t>
            </a:r>
          </a:p>
          <a:p>
            <a:r>
              <a:rPr lang="zh-CN" altLang="en-US" dirty="0"/>
              <a:t>封装安全有效载荷</a:t>
            </a:r>
          </a:p>
          <a:p>
            <a:r>
              <a:rPr lang="zh-CN" altLang="en-US" dirty="0"/>
              <a:t>目的站选项 </a:t>
            </a:r>
          </a:p>
          <a:p>
            <a:endParaRPr lang="zh-CN" altLang="en-US" dirty="0"/>
          </a:p>
        </p:txBody>
      </p:sp>
    </p:spTree>
    <p:extLst>
      <p:ext uri="{BB962C8B-B14F-4D97-AF65-F5344CB8AC3E}">
        <p14:creationId xmlns:p14="http://schemas.microsoft.com/office/powerpoint/2010/main" val="3646108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25B7E4B-1CFA-8F96-DFEE-DE02AF300605}"/>
              </a:ext>
            </a:extLst>
          </p:cNvPr>
          <p:cNvSpPr>
            <a:spLocks noGrp="1"/>
          </p:cNvSpPr>
          <p:nvPr>
            <p:ph type="title"/>
          </p:nvPr>
        </p:nvSpPr>
        <p:spPr>
          <a:xfrm>
            <a:off x="486000" y="550723"/>
            <a:ext cx="8172000" cy="338554"/>
          </a:xfrm>
        </p:spPr>
        <p:txBody>
          <a:bodyPr/>
          <a:lstStyle/>
          <a:p>
            <a:r>
              <a:rPr lang="en-US" altLang="zh-CN" dirty="0"/>
              <a:t>4.5.2  IPv6 </a:t>
            </a:r>
            <a:r>
              <a:rPr lang="zh-CN" altLang="en-US" dirty="0"/>
              <a:t>的地址</a:t>
            </a:r>
          </a:p>
        </p:txBody>
      </p:sp>
      <p:sp>
        <p:nvSpPr>
          <p:cNvPr id="6" name="内容占位符 5">
            <a:extLst>
              <a:ext uri="{FF2B5EF4-FFF2-40B4-BE49-F238E27FC236}">
                <a16:creationId xmlns:a16="http://schemas.microsoft.com/office/drawing/2014/main" id="{3D1E84BD-C4F4-8DE8-300E-6E2DB78A24E7}"/>
              </a:ext>
            </a:extLst>
          </p:cNvPr>
          <p:cNvSpPr>
            <a:spLocks noGrp="1"/>
          </p:cNvSpPr>
          <p:nvPr>
            <p:ph sz="quarter" idx="11"/>
          </p:nvPr>
        </p:nvSpPr>
        <p:spPr>
          <a:xfrm>
            <a:off x="486000" y="900000"/>
            <a:ext cx="8172000" cy="3703500"/>
          </a:xfrm>
        </p:spPr>
        <p:txBody>
          <a:bodyPr/>
          <a:lstStyle/>
          <a:p>
            <a:r>
              <a:rPr lang="zh-CN" altLang="en-US" dirty="0"/>
              <a:t>三种基本类型：</a:t>
            </a:r>
          </a:p>
          <a:p>
            <a:pPr lvl="1"/>
            <a:r>
              <a:rPr lang="zh-CN" altLang="en-US" dirty="0"/>
              <a:t>单播 </a:t>
            </a:r>
            <a:r>
              <a:rPr lang="en-US" altLang="zh-CN" dirty="0"/>
              <a:t>(unicast)</a:t>
            </a:r>
            <a:r>
              <a:rPr lang="zh-CN" altLang="en-US" dirty="0"/>
              <a:t>：传统的点对点通信</a:t>
            </a:r>
          </a:p>
          <a:p>
            <a:pPr lvl="1"/>
            <a:r>
              <a:rPr lang="zh-CN" altLang="en-US" dirty="0"/>
              <a:t>多播 </a:t>
            </a:r>
            <a:r>
              <a:rPr lang="en-US" altLang="zh-CN" dirty="0"/>
              <a:t>(multicast)</a:t>
            </a:r>
            <a:r>
              <a:rPr lang="zh-CN" altLang="en-US" dirty="0"/>
              <a:t>：一点对多点的通信</a:t>
            </a:r>
          </a:p>
          <a:p>
            <a:pPr lvl="1"/>
            <a:r>
              <a:rPr lang="zh-CN" altLang="en-US" dirty="0"/>
              <a:t>任播 </a:t>
            </a:r>
            <a:r>
              <a:rPr lang="en-US" altLang="zh-CN" dirty="0"/>
              <a:t>(anycast)</a:t>
            </a:r>
            <a:r>
              <a:rPr lang="zh-CN" altLang="en-US" dirty="0"/>
              <a:t>：</a:t>
            </a:r>
            <a:r>
              <a:rPr lang="en-US" altLang="zh-CN" dirty="0"/>
              <a:t>IPv6 </a:t>
            </a:r>
            <a:r>
              <a:rPr lang="zh-CN" altLang="en-US" dirty="0"/>
              <a:t>增加的一种类型。任播的终点是一组计算机，但数据报在交付时只交付其中的一个。通常是按照路由算法得出的距离最近的一个</a:t>
            </a:r>
          </a:p>
          <a:p>
            <a:endParaRPr lang="zh-CN" altLang="en-US" dirty="0"/>
          </a:p>
        </p:txBody>
      </p:sp>
    </p:spTree>
    <p:extLst>
      <p:ext uri="{BB962C8B-B14F-4D97-AF65-F5344CB8AC3E}">
        <p14:creationId xmlns:p14="http://schemas.microsoft.com/office/powerpoint/2010/main" val="151321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3D7BBBC-8FA9-9648-60CF-FB8297252EDF}"/>
              </a:ext>
            </a:extLst>
          </p:cNvPr>
          <p:cNvSpPr>
            <a:spLocks noGrp="1"/>
          </p:cNvSpPr>
          <p:nvPr>
            <p:ph type="title"/>
          </p:nvPr>
        </p:nvSpPr>
        <p:spPr>
          <a:xfrm>
            <a:off x="486000" y="550723"/>
            <a:ext cx="8172000" cy="338554"/>
          </a:xfrm>
        </p:spPr>
        <p:txBody>
          <a:bodyPr/>
          <a:lstStyle/>
          <a:p>
            <a:r>
              <a:rPr lang="zh-CN" altLang="en-US" dirty="0"/>
              <a:t>节点与接口</a:t>
            </a:r>
          </a:p>
        </p:txBody>
      </p:sp>
      <p:sp>
        <p:nvSpPr>
          <p:cNvPr id="6" name="内容占位符 5">
            <a:extLst>
              <a:ext uri="{FF2B5EF4-FFF2-40B4-BE49-F238E27FC236}">
                <a16:creationId xmlns:a16="http://schemas.microsoft.com/office/drawing/2014/main" id="{19DA3A2C-DAFF-4927-219D-7C32E52B47FF}"/>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将实现 </a:t>
            </a:r>
            <a:r>
              <a:rPr lang="en-US" altLang="zh-CN" dirty="0"/>
              <a:t>IPv6 </a:t>
            </a:r>
            <a:r>
              <a:rPr lang="zh-CN" altLang="en-US" dirty="0"/>
              <a:t>的主机和路由器均称为节点</a:t>
            </a:r>
          </a:p>
          <a:p>
            <a:r>
              <a:rPr lang="zh-CN" altLang="en-US" dirty="0"/>
              <a:t>一个节点可能有多个与链路相连的接口</a:t>
            </a:r>
          </a:p>
          <a:p>
            <a:r>
              <a:rPr lang="en-US" altLang="zh-CN" dirty="0"/>
              <a:t>IPv6 </a:t>
            </a:r>
            <a:r>
              <a:rPr lang="zh-CN" altLang="en-US" dirty="0"/>
              <a:t>地址是分配给节点上接口的</a:t>
            </a:r>
          </a:p>
          <a:p>
            <a:r>
              <a:rPr lang="zh-CN" altLang="en-US" dirty="0"/>
              <a:t>一个具有多个接口的节点可以有多个单播地址</a:t>
            </a:r>
          </a:p>
          <a:p>
            <a:r>
              <a:rPr lang="zh-CN" altLang="en-US" dirty="0"/>
              <a:t>其中的任何一个地址都可以当作到达该节点的目的地址</a:t>
            </a:r>
          </a:p>
          <a:p>
            <a:endParaRPr lang="zh-CN" altLang="en-US" dirty="0"/>
          </a:p>
        </p:txBody>
      </p:sp>
    </p:spTree>
    <p:extLst>
      <p:ext uri="{BB962C8B-B14F-4D97-AF65-F5344CB8AC3E}">
        <p14:creationId xmlns:p14="http://schemas.microsoft.com/office/powerpoint/2010/main" val="2017317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2270929" y="2830608"/>
            <a:ext cx="660786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104.230.140.100.255.255.255.255.0.0.17.128.150.10.255.255</a:t>
            </a:r>
            <a:endParaRPr lang="zh-CN" altLang="zh-CN" sz="1400" dirty="0">
              <a:solidFill>
                <a:srgbClr val="0000FF"/>
              </a:solidFill>
              <a:latin typeface="微软雅黑" pitchFamily="34" charset="-122"/>
              <a:ea typeface="微软雅黑" pitchFamily="34" charset="-122"/>
            </a:endParaRPr>
          </a:p>
        </p:txBody>
      </p:sp>
      <p:sp>
        <p:nvSpPr>
          <p:cNvPr id="12" name="矩形 11"/>
          <p:cNvSpPr/>
          <p:nvPr/>
        </p:nvSpPr>
        <p:spPr>
          <a:xfrm>
            <a:off x="485775" y="2799042"/>
            <a:ext cx="1800493" cy="307777"/>
          </a:xfrm>
          <a:prstGeom prst="rect">
            <a:avLst/>
          </a:prstGeom>
        </p:spPr>
        <p:txBody>
          <a:bodyPr wrap="none">
            <a:spAutoFit/>
          </a:bodyPr>
          <a:lstStyle/>
          <a:p>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点分十进制数记法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grpSp>
        <p:nvGrpSpPr>
          <p:cNvPr id="11" name="组合 10"/>
          <p:cNvGrpSpPr/>
          <p:nvPr/>
        </p:nvGrpSpPr>
        <p:grpSpPr>
          <a:xfrm>
            <a:off x="2921403" y="3165304"/>
            <a:ext cx="5234307" cy="546346"/>
            <a:chOff x="2052959" y="2863156"/>
            <a:chExt cx="5234307" cy="546346"/>
          </a:xfrm>
        </p:grpSpPr>
        <p:sp>
          <p:nvSpPr>
            <p:cNvPr id="8" name="矩形 7"/>
            <p:cNvSpPr/>
            <p:nvPr/>
          </p:nvSpPr>
          <p:spPr>
            <a:xfrm>
              <a:off x="2052959" y="3101725"/>
              <a:ext cx="5234307"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68E6:8C64:FFFF:FFFF:0000:1180:960A:FFFF</a:t>
              </a:r>
            </a:p>
          </p:txBody>
        </p:sp>
        <p:sp>
          <p:nvSpPr>
            <p:cNvPr id="10" name="下箭头 9"/>
            <p:cNvSpPr/>
            <p:nvPr/>
          </p:nvSpPr>
          <p:spPr>
            <a:xfrm>
              <a:off x="4840940" y="2863156"/>
              <a:ext cx="207469" cy="286235"/>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grpSp>
      <p:sp>
        <p:nvSpPr>
          <p:cNvPr id="13" name="矩形 12"/>
          <p:cNvSpPr/>
          <p:nvPr/>
        </p:nvSpPr>
        <p:spPr>
          <a:xfrm>
            <a:off x="485775" y="3403873"/>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4" name="矩形 13"/>
          <p:cNvSpPr/>
          <p:nvPr/>
        </p:nvSpPr>
        <p:spPr>
          <a:xfrm>
            <a:off x="5552994" y="3451539"/>
            <a:ext cx="50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p:cNvSpPr/>
          <p:nvPr/>
        </p:nvSpPr>
        <p:spPr>
          <a:xfrm>
            <a:off x="5750479" y="3972581"/>
            <a:ext cx="14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7" name="组合 6"/>
          <p:cNvGrpSpPr/>
          <p:nvPr/>
        </p:nvGrpSpPr>
        <p:grpSpPr>
          <a:xfrm>
            <a:off x="3188794" y="3686250"/>
            <a:ext cx="4743142" cy="555186"/>
            <a:chOff x="1902550" y="2800118"/>
            <a:chExt cx="5278446" cy="555186"/>
          </a:xfrm>
        </p:grpSpPr>
        <p:sp>
          <p:nvSpPr>
            <p:cNvPr id="5" name="下箭头 4"/>
            <p:cNvSpPr/>
            <p:nvPr/>
          </p:nvSpPr>
          <p:spPr>
            <a:xfrm>
              <a:off x="4707604" y="2800118"/>
              <a:ext cx="230884" cy="296547"/>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6" name="矩形 5"/>
            <p:cNvSpPr/>
            <p:nvPr/>
          </p:nvSpPr>
          <p:spPr>
            <a:xfrm>
              <a:off x="1902550" y="3047527"/>
              <a:ext cx="527844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68E6:8C64:FFFF:FFFF:0:1180:960A:FFFF</a:t>
              </a:r>
            </a:p>
          </p:txBody>
        </p:sp>
      </p:grpSp>
      <p:sp>
        <p:nvSpPr>
          <p:cNvPr id="17" name="矩形 16"/>
          <p:cNvSpPr/>
          <p:nvPr/>
        </p:nvSpPr>
        <p:spPr>
          <a:xfrm>
            <a:off x="485775" y="3920659"/>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9" name="矩形 18"/>
          <p:cNvSpPr/>
          <p:nvPr/>
        </p:nvSpPr>
        <p:spPr>
          <a:xfrm>
            <a:off x="2940784" y="4521099"/>
            <a:ext cx="3262432" cy="2769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wrap="none">
            <a:spAutoFit/>
          </a:bodyPr>
          <a:lstStyle/>
          <a:p>
            <a:pPr algn="ctr"/>
            <a:r>
              <a:rPr lang="zh-CN" altLang="en-US" sz="1200" dirty="0">
                <a:solidFill>
                  <a:srgbClr val="C00000"/>
                </a:solidFill>
                <a:latin typeface="微软雅黑" panose="020B0503020204020204" pitchFamily="34" charset="-122"/>
                <a:ea typeface="微软雅黑" panose="020B0503020204020204" pitchFamily="34" charset="-122"/>
              </a:rPr>
              <a:t>两个技术：</a:t>
            </a:r>
            <a:r>
              <a:rPr lang="zh-CN" altLang="en-US" sz="1200" dirty="0">
                <a:latin typeface="微软雅黑" panose="020B0503020204020204" pitchFamily="34" charset="-122"/>
                <a:ea typeface="微软雅黑" panose="020B0503020204020204" pitchFamily="34" charset="-122"/>
              </a:rPr>
              <a:t>零压缩，点分十进制记法的后缀。</a:t>
            </a:r>
          </a:p>
        </p:txBody>
      </p:sp>
      <p:sp>
        <p:nvSpPr>
          <p:cNvPr id="21" name="标题 20">
            <a:extLst>
              <a:ext uri="{FF2B5EF4-FFF2-40B4-BE49-F238E27FC236}">
                <a16:creationId xmlns:a16="http://schemas.microsoft.com/office/drawing/2014/main" id="{BAB8CF85-2CAA-9FBA-BC19-1F3279124908}"/>
              </a:ext>
            </a:extLst>
          </p:cNvPr>
          <p:cNvSpPr>
            <a:spLocks noGrp="1"/>
          </p:cNvSpPr>
          <p:nvPr>
            <p:ph type="title"/>
          </p:nvPr>
        </p:nvSpPr>
        <p:spPr>
          <a:xfrm>
            <a:off x="486000" y="550723"/>
            <a:ext cx="8172000" cy="338554"/>
          </a:xfrm>
        </p:spPr>
        <p:txBody>
          <a:bodyPr/>
          <a:lstStyle/>
          <a:p>
            <a:r>
              <a:rPr lang="zh-CN" altLang="en-US" dirty="0"/>
              <a:t>冒号十六进制记法</a:t>
            </a:r>
          </a:p>
        </p:txBody>
      </p:sp>
      <p:sp>
        <p:nvSpPr>
          <p:cNvPr id="22" name="内容占位符 21">
            <a:extLst>
              <a:ext uri="{FF2B5EF4-FFF2-40B4-BE49-F238E27FC236}">
                <a16:creationId xmlns:a16="http://schemas.microsoft.com/office/drawing/2014/main" id="{06243B95-734F-0A61-F309-7CAFC179BAAA}"/>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中，每个地址占 </a:t>
            </a:r>
            <a:r>
              <a:rPr lang="en-US" altLang="zh-CN" dirty="0"/>
              <a:t>128 </a:t>
            </a:r>
            <a:r>
              <a:rPr lang="zh-CN" altLang="en-US" dirty="0"/>
              <a:t>位，地址空间大于 </a:t>
            </a:r>
            <a:r>
              <a:rPr lang="en-US" altLang="zh-CN" dirty="0"/>
              <a:t>3.4</a:t>
            </a:r>
            <a:r>
              <a:rPr lang="en-US" altLang="zh-CN" dirty="0">
                <a:sym typeface="Symbol"/>
              </a:rPr>
              <a:t>  </a:t>
            </a:r>
            <a:r>
              <a:rPr lang="en-US" altLang="zh-CN" dirty="0"/>
              <a:t>1038</a:t>
            </a:r>
            <a:endParaRPr lang="zh-CN" altLang="en-US" dirty="0"/>
          </a:p>
          <a:p>
            <a:r>
              <a:rPr lang="zh-CN" altLang="en-US" dirty="0"/>
              <a:t>使用冒号十六进制记法</a:t>
            </a:r>
            <a:endParaRPr lang="en-US" altLang="zh-CN" dirty="0"/>
          </a:p>
          <a:p>
            <a:pPr lvl="1"/>
            <a:r>
              <a:rPr lang="en-US" altLang="zh-CN" dirty="0"/>
              <a:t>colon hexadecimal notation - colon hex </a:t>
            </a:r>
          </a:p>
          <a:p>
            <a:pPr lvl="1"/>
            <a:r>
              <a:rPr lang="en-US" altLang="zh-CN" dirty="0"/>
              <a:t>16 </a:t>
            </a:r>
            <a:r>
              <a:rPr lang="zh-CN" altLang="en-US" dirty="0"/>
              <a:t>位的值用十六进制值表示，各值之间用冒号分隔</a:t>
            </a:r>
          </a:p>
          <a:p>
            <a:endParaRPr lang="zh-CN" altLang="en-US" dirty="0"/>
          </a:p>
        </p:txBody>
      </p:sp>
    </p:spTree>
    <p:extLst>
      <p:ext uri="{BB962C8B-B14F-4D97-AF65-F5344CB8AC3E}">
        <p14:creationId xmlns:p14="http://schemas.microsoft.com/office/powerpoint/2010/main" val="2338434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
                                        </p:tgtEl>
                                        <p:attrNameLst>
                                          <p:attrName>style.visibility</p:attrName>
                                        </p:attrNameLst>
                                      </p:cBhvr>
                                      <p:tavLst>
                                        <p:tav tm="0">
                                          <p:val>
                                            <p:strVal val="hidden"/>
                                          </p:val>
                                        </p:tav>
                                        <p:tav tm="50000">
                                          <p:val>
                                            <p:strVal val="visible"/>
                                          </p:val>
                                        </p:tav>
                                      </p:tavLst>
                                    </p:anim>
                                  </p:childTnLst>
                                </p:cTn>
                              </p:par>
                            </p:childTnLst>
                          </p:cTn>
                        </p:par>
                        <p:par>
                          <p:cTn id="9" fill="hold">
                            <p:stCondLst>
                              <p:cond delay="3000"/>
                            </p:stCondLst>
                            <p:childTnLst>
                              <p:par>
                                <p:cTn id="10" presetID="1" presetClass="entr" presetSubtype="0" fill="hold" grpId="0" nodeType="afterEffect">
                                  <p:stCondLst>
                                    <p:cond delay="0"/>
                                  </p:stCondLst>
                                  <p:childTnLst>
                                    <p:set>
                                      <p:cBhvr>
                                        <p:cTn id="11" dur="1" fill="hold">
                                          <p:stCondLst>
                                            <p:cond delay="0"/>
                                          </p:stCondLst>
                                        </p:cTn>
                                        <p:tgtEl>
                                          <p:spTgt spid="15"/>
                                        </p:tgtEl>
                                        <p:attrNameLst>
                                          <p:attrName>style.visibility</p:attrName>
                                        </p:attrNameLst>
                                      </p:cBhvr>
                                      <p:to>
                                        <p:strVal val="visible"/>
                                      </p:to>
                                    </p:set>
                                  </p:childTnLst>
                                </p:cTn>
                              </p:par>
                            </p:childTnLst>
                          </p:cTn>
                        </p:par>
                        <p:par>
                          <p:cTn id="12" fill="hold">
                            <p:stCondLst>
                              <p:cond delay="3000"/>
                            </p:stCondLst>
                            <p:childTnLst>
                              <p:par>
                                <p:cTn id="13" presetID="35" presetClass="emph" presetSubtype="0" repeatCount="3000" fill="hold" grpId="1" nodeType="afterEffect">
                                  <p:stCondLst>
                                    <p:cond delay="0"/>
                                  </p:stCondLst>
                                  <p:childTnLst>
                                    <p:anim calcmode="discrete" valueType="str">
                                      <p:cBhvr>
                                        <p:cTn id="14" dur="1000" fill="hold"/>
                                        <p:tgtEl>
                                          <p:spTgt spid="15"/>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4" grpId="1" animBg="1"/>
      <p:bldP spid="15" grpId="0" animBg="1"/>
      <p:bldP spid="15" grpId="1" animBg="1"/>
      <p:bldP spid="19" grpId="0" animBg="1"/>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5146" y="2222363"/>
            <a:ext cx="8053710" cy="186934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7890"/>
            <a:ext cx="8053710" cy="461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2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零压缩 </a:t>
            </a:r>
            <a:r>
              <a:rPr lang="en-US" altLang="zh-CN" sz="2000" b="1" dirty="0">
                <a:latin typeface="微软雅黑" pitchFamily="34" charset="-122"/>
                <a:ea typeface="微软雅黑" pitchFamily="34" charset="-122"/>
              </a:rPr>
              <a:t>(zero compression)</a:t>
            </a:r>
            <a:r>
              <a:rPr lang="zh-CN" altLang="en-US" sz="2000" b="1" dirty="0">
                <a:latin typeface="微软雅黑" pitchFamily="34" charset="-122"/>
                <a:ea typeface="微软雅黑" pitchFamily="34" charset="-122"/>
              </a:rPr>
              <a:t>：一串连续的零可以用</a:t>
            </a:r>
            <a:r>
              <a:rPr lang="zh-CN" altLang="en-US" sz="2000" b="1" dirty="0">
                <a:solidFill>
                  <a:srgbClr val="C00000"/>
                </a:solidFill>
                <a:latin typeface="微软雅黑" pitchFamily="34" charset="-122"/>
                <a:ea typeface="微软雅黑" pitchFamily="34" charset="-122"/>
              </a:rPr>
              <a:t>一对冒号</a:t>
            </a:r>
            <a:r>
              <a:rPr lang="zh-CN" altLang="en-US" sz="2000" b="1" dirty="0">
                <a:latin typeface="微软雅黑" pitchFamily="34" charset="-122"/>
                <a:ea typeface="微软雅黑" pitchFamily="34" charset="-122"/>
              </a:rPr>
              <a:t>取代。</a:t>
            </a:r>
          </a:p>
        </p:txBody>
      </p:sp>
      <p:sp>
        <p:nvSpPr>
          <p:cNvPr id="3" name="AutoShape 5"/>
          <p:cNvSpPr>
            <a:spLocks noChangeArrowheads="1"/>
          </p:cNvSpPr>
          <p:nvPr/>
        </p:nvSpPr>
        <p:spPr bwMode="auto">
          <a:xfrm>
            <a:off x="545145" y="621601"/>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8390"/>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零压缩</a:t>
            </a:r>
          </a:p>
        </p:txBody>
      </p:sp>
      <p:sp>
        <p:nvSpPr>
          <p:cNvPr id="5" name="矩形 4"/>
          <p:cNvSpPr/>
          <p:nvPr/>
        </p:nvSpPr>
        <p:spPr>
          <a:xfrm>
            <a:off x="3081294" y="1430076"/>
            <a:ext cx="3265713" cy="810478"/>
          </a:xfrm>
          <a:prstGeom prst="rect">
            <a:avLst/>
          </a:prstGeom>
        </p:spPr>
        <p:txBody>
          <a:bodyPr wrap="square">
            <a:spAutoFit/>
          </a:bodyPr>
          <a:lstStyle/>
          <a:p>
            <a:pPr>
              <a:lnSpc>
                <a:spcPts val="2800"/>
              </a:lnSpc>
              <a:buClr>
                <a:srgbClr val="0070C0"/>
              </a:buClr>
            </a:pPr>
            <a:r>
              <a:rPr lang="en-US" altLang="zh-CN" sz="2000" b="1" dirty="0">
                <a:solidFill>
                  <a:srgbClr val="0000FF"/>
                </a:solidFill>
                <a:latin typeface="微软雅黑" pitchFamily="34" charset="-122"/>
                <a:ea typeface="微软雅黑" pitchFamily="34" charset="-122"/>
              </a:rPr>
              <a:t>FF05:0:0:0:0:0:0:B3</a:t>
            </a:r>
            <a:endParaRPr lang="zh-CN" altLang="en-US" sz="2000" b="1" dirty="0">
              <a:solidFill>
                <a:srgbClr val="0000FF"/>
              </a:solidFill>
              <a:latin typeface="微软雅黑" pitchFamily="34" charset="-122"/>
              <a:ea typeface="微软雅黑" pitchFamily="34" charset="-122"/>
            </a:endParaRPr>
          </a:p>
          <a:p>
            <a:pPr>
              <a:lnSpc>
                <a:spcPts val="2800"/>
              </a:lnSpc>
              <a:buClr>
                <a:srgbClr val="0070C0"/>
              </a:buClr>
            </a:pPr>
            <a:r>
              <a:rPr lang="en-US" altLang="zh-CN" sz="2000" b="1" dirty="0">
                <a:solidFill>
                  <a:srgbClr val="0000FF"/>
                </a:solidFill>
                <a:latin typeface="微软雅黑" pitchFamily="34" charset="-122"/>
                <a:ea typeface="微软雅黑" pitchFamily="34" charset="-122"/>
              </a:rPr>
              <a:t>FF05::B3</a:t>
            </a:r>
          </a:p>
        </p:txBody>
      </p:sp>
      <p:sp>
        <p:nvSpPr>
          <p:cNvPr id="6" name="矩形 5"/>
          <p:cNvSpPr/>
          <p:nvPr/>
        </p:nvSpPr>
        <p:spPr>
          <a:xfrm>
            <a:off x="1709969" y="4172335"/>
            <a:ext cx="5611437" cy="369332"/>
          </a:xfrm>
          <a:prstGeom prst="rect">
            <a:avLst/>
          </a:prstGeom>
        </p:spPr>
        <p:style>
          <a:lnRef idx="1">
            <a:schemeClr val="accent2"/>
          </a:lnRef>
          <a:fillRef idx="2">
            <a:schemeClr val="accent2"/>
          </a:fillRef>
          <a:effectRef idx="1">
            <a:schemeClr val="accent2"/>
          </a:effectRef>
          <a:fontRef idx="minor">
            <a:schemeClr val="dk1"/>
          </a:fontRef>
        </p:style>
        <p:txBody>
          <a:bodyPr wrap="square">
            <a:spAutoFit/>
          </a:bodyPr>
          <a:lstStyle/>
          <a:p>
            <a:pPr algn="ctr">
              <a:buClr>
                <a:srgbClr val="0070C0"/>
              </a:buClr>
            </a:pPr>
            <a:r>
              <a:rPr lang="zh-CN" altLang="en-US" b="1" dirty="0">
                <a:solidFill>
                  <a:schemeClr val="tx1"/>
                </a:solidFill>
                <a:latin typeface="微软雅黑" pitchFamily="34" charset="-122"/>
                <a:ea typeface="微软雅黑" pitchFamily="34" charset="-122"/>
              </a:rPr>
              <a:t>注意：在任一地址中，只能使用一次零压缩。</a:t>
            </a:r>
          </a:p>
        </p:txBody>
      </p:sp>
      <p:sp>
        <p:nvSpPr>
          <p:cNvPr id="7" name="矩形 6"/>
          <p:cNvSpPr/>
          <p:nvPr/>
        </p:nvSpPr>
        <p:spPr>
          <a:xfrm>
            <a:off x="1743852" y="1791264"/>
            <a:ext cx="1544914" cy="400110"/>
          </a:xfrm>
          <a:prstGeom prst="rect">
            <a:avLst/>
          </a:prstGeom>
        </p:spPr>
        <p:txBody>
          <a:bodyPr wrap="square">
            <a:spAutoFit/>
          </a:bodyPr>
          <a:lstStyle/>
          <a:p>
            <a:pPr algn="r"/>
            <a:r>
              <a:rPr lang="zh-CN" altLang="en-US" sz="2000" b="1" dirty="0">
                <a:latin typeface="微软雅黑" pitchFamily="34" charset="-122"/>
                <a:ea typeface="微软雅黑" pitchFamily="34" charset="-122"/>
              </a:rPr>
              <a:t>可压缩为： </a:t>
            </a:r>
            <a:endParaRPr lang="zh-CN" altLang="en-US" sz="2000" dirty="0"/>
          </a:p>
        </p:txBody>
      </p:sp>
      <p:sp>
        <p:nvSpPr>
          <p:cNvPr id="8" name="矩形 7"/>
          <p:cNvSpPr/>
          <p:nvPr/>
        </p:nvSpPr>
        <p:spPr>
          <a:xfrm>
            <a:off x="873889" y="2222363"/>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9" name="矩形 8"/>
          <p:cNvSpPr/>
          <p:nvPr/>
        </p:nvSpPr>
        <p:spPr>
          <a:xfrm>
            <a:off x="5109936" y="2222363"/>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10" name="矩形 9"/>
          <p:cNvSpPr/>
          <p:nvPr/>
        </p:nvSpPr>
        <p:spPr>
          <a:xfrm>
            <a:off x="873889" y="2580384"/>
            <a:ext cx="3467616"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1080:0:0:0:8:800:200C:417A </a:t>
            </a:r>
            <a:endParaRPr lang="zh-CN" altLang="en-US" b="1" dirty="0">
              <a:solidFill>
                <a:srgbClr val="0000FF"/>
              </a:solidFill>
              <a:latin typeface="微软雅黑" pitchFamily="34" charset="-122"/>
              <a:ea typeface="微软雅黑" pitchFamily="34" charset="-122"/>
            </a:endParaRPr>
          </a:p>
        </p:txBody>
      </p:sp>
      <p:sp>
        <p:nvSpPr>
          <p:cNvPr id="11" name="矩形 10"/>
          <p:cNvSpPr/>
          <p:nvPr/>
        </p:nvSpPr>
        <p:spPr>
          <a:xfrm>
            <a:off x="873889" y="2938405"/>
            <a:ext cx="385554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FF01:0:0:0:0:0:0:101</a:t>
            </a:r>
            <a:r>
              <a:rPr lang="zh-CN" altLang="en-US" b="1" dirty="0">
                <a:solidFill>
                  <a:srgbClr val="0000FF"/>
                </a:solidFill>
                <a:latin typeface="微软雅黑" pitchFamily="34" charset="-122"/>
                <a:ea typeface="微软雅黑" pitchFamily="34" charset="-122"/>
              </a:rPr>
              <a:t>（多播地址）</a:t>
            </a:r>
          </a:p>
        </p:txBody>
      </p:sp>
      <p:sp>
        <p:nvSpPr>
          <p:cNvPr id="12" name="矩形 11"/>
          <p:cNvSpPr/>
          <p:nvPr/>
        </p:nvSpPr>
        <p:spPr>
          <a:xfrm>
            <a:off x="873889" y="3296426"/>
            <a:ext cx="3171061"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0:0:0:0:0:0:0:1</a:t>
            </a:r>
            <a:r>
              <a:rPr lang="zh-CN" altLang="en-US" b="1" dirty="0">
                <a:solidFill>
                  <a:srgbClr val="0000FF"/>
                </a:solidFill>
                <a:latin typeface="微软雅黑" pitchFamily="34" charset="-122"/>
                <a:ea typeface="微软雅黑" pitchFamily="34" charset="-122"/>
              </a:rPr>
              <a:t>（环回地址）</a:t>
            </a:r>
          </a:p>
        </p:txBody>
      </p:sp>
      <p:sp>
        <p:nvSpPr>
          <p:cNvPr id="13" name="矩形 12"/>
          <p:cNvSpPr/>
          <p:nvPr/>
        </p:nvSpPr>
        <p:spPr>
          <a:xfrm>
            <a:off x="873889" y="3654448"/>
            <a:ext cx="340189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0:0:0:0:0:0:0:0</a:t>
            </a:r>
            <a:r>
              <a:rPr lang="zh-CN" altLang="en-US" b="1" dirty="0">
                <a:solidFill>
                  <a:srgbClr val="0000FF"/>
                </a:solidFill>
                <a:latin typeface="微软雅黑" pitchFamily="34" charset="-122"/>
                <a:ea typeface="微软雅黑" pitchFamily="34" charset="-122"/>
              </a:rPr>
              <a:t>（未指明地址）</a:t>
            </a:r>
          </a:p>
        </p:txBody>
      </p:sp>
      <p:sp>
        <p:nvSpPr>
          <p:cNvPr id="14" name="矩形 13"/>
          <p:cNvSpPr/>
          <p:nvPr/>
        </p:nvSpPr>
        <p:spPr>
          <a:xfrm>
            <a:off x="5109936" y="2580384"/>
            <a:ext cx="283923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1080::8:800:200C:417A</a:t>
            </a:r>
            <a:endParaRPr lang="zh-CN" altLang="en-US" b="1" dirty="0">
              <a:solidFill>
                <a:srgbClr val="0000FF"/>
              </a:solidFill>
              <a:latin typeface="微软雅黑" pitchFamily="34" charset="-122"/>
              <a:ea typeface="微软雅黑" pitchFamily="34" charset="-122"/>
            </a:endParaRPr>
          </a:p>
        </p:txBody>
      </p:sp>
      <p:sp>
        <p:nvSpPr>
          <p:cNvPr id="15" name="矩形 14"/>
          <p:cNvSpPr/>
          <p:nvPr/>
        </p:nvSpPr>
        <p:spPr>
          <a:xfrm>
            <a:off x="5109936" y="2938405"/>
            <a:ext cx="128592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FF01::101</a:t>
            </a:r>
          </a:p>
        </p:txBody>
      </p:sp>
      <p:sp>
        <p:nvSpPr>
          <p:cNvPr id="16" name="矩形 15"/>
          <p:cNvSpPr/>
          <p:nvPr/>
        </p:nvSpPr>
        <p:spPr>
          <a:xfrm>
            <a:off x="5109936" y="3296426"/>
            <a:ext cx="458780"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a:t>
            </a:r>
            <a:endParaRPr lang="zh-CN" altLang="en-US" b="1" dirty="0">
              <a:solidFill>
                <a:srgbClr val="0000FF"/>
              </a:solidFill>
              <a:latin typeface="微软雅黑" pitchFamily="34" charset="-122"/>
              <a:ea typeface="微软雅黑" pitchFamily="34" charset="-122"/>
            </a:endParaRPr>
          </a:p>
        </p:txBody>
      </p:sp>
      <p:sp>
        <p:nvSpPr>
          <p:cNvPr id="17" name="矩形 16"/>
          <p:cNvSpPr/>
          <p:nvPr/>
        </p:nvSpPr>
        <p:spPr>
          <a:xfrm>
            <a:off x="5109936" y="3654448"/>
            <a:ext cx="31611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a:t>
            </a:r>
          </a:p>
        </p:txBody>
      </p:sp>
      <p:sp>
        <p:nvSpPr>
          <p:cNvPr id="18" name="右箭头 17"/>
          <p:cNvSpPr/>
          <p:nvPr/>
        </p:nvSpPr>
        <p:spPr>
          <a:xfrm>
            <a:off x="4664210" y="2317573"/>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右箭头 18"/>
          <p:cNvSpPr/>
          <p:nvPr/>
        </p:nvSpPr>
        <p:spPr>
          <a:xfrm>
            <a:off x="4664210" y="2675595"/>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右箭头 19"/>
          <p:cNvSpPr/>
          <p:nvPr/>
        </p:nvSpPr>
        <p:spPr>
          <a:xfrm>
            <a:off x="4664210" y="30336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右箭头 20"/>
          <p:cNvSpPr/>
          <p:nvPr/>
        </p:nvSpPr>
        <p:spPr>
          <a:xfrm>
            <a:off x="4664210" y="3391639"/>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右箭头 21"/>
          <p:cNvSpPr/>
          <p:nvPr/>
        </p:nvSpPr>
        <p:spPr>
          <a:xfrm>
            <a:off x="4664210" y="3749661"/>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0993563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11"/>
          <p:cNvSpPr/>
          <p:nvPr/>
        </p:nvSpPr>
        <p:spPr>
          <a:xfrm>
            <a:off x="572855" y="3367672"/>
            <a:ext cx="7730636" cy="11383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4134"/>
            <a:ext cx="8053710" cy="2169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结合使用点分十进制记法的</a:t>
            </a:r>
            <a:r>
              <a:rPr lang="zh-CN" altLang="en-US" b="1" dirty="0">
                <a:solidFill>
                  <a:srgbClr val="C00000"/>
                </a:solidFill>
                <a:latin typeface="微软雅黑" pitchFamily="34" charset="-122"/>
                <a:ea typeface="微软雅黑" pitchFamily="34" charset="-122"/>
              </a:rPr>
              <a:t>后缀</a:t>
            </a:r>
            <a:r>
              <a:rPr lang="zh-CN" altLang="en-US" b="1" dirty="0">
                <a:latin typeface="微软雅黑" pitchFamily="34" charset="-122"/>
                <a:ea typeface="微软雅黑" pitchFamily="34" charset="-122"/>
              </a:rPr>
              <a:t>在 </a:t>
            </a:r>
            <a:r>
              <a:rPr lang="en-US" altLang="zh-CN" b="1" dirty="0">
                <a:latin typeface="微软雅黑" pitchFamily="34" charset="-122"/>
                <a:ea typeface="微软雅黑" pitchFamily="34" charset="-122"/>
              </a:rPr>
              <a:t>IPv4 </a:t>
            </a:r>
            <a:r>
              <a:rPr lang="zh-CN" altLang="en-US" b="1" dirty="0">
                <a:latin typeface="微软雅黑" pitchFamily="34" charset="-122"/>
                <a:ea typeface="微软雅黑" pitchFamily="34" charset="-122"/>
              </a:rPr>
              <a:t>向 </a:t>
            </a:r>
            <a:r>
              <a:rPr lang="en-US" altLang="zh-CN" b="1" dirty="0">
                <a:latin typeface="微软雅黑" pitchFamily="34" charset="-122"/>
                <a:ea typeface="微软雅黑" pitchFamily="34" charset="-122"/>
              </a:rPr>
              <a:t>IPv6 </a:t>
            </a:r>
            <a:r>
              <a:rPr lang="zh-CN" altLang="en-US" b="1" dirty="0">
                <a:latin typeface="微软雅黑" pitchFamily="34" charset="-122"/>
                <a:ea typeface="微软雅黑" pitchFamily="34" charset="-122"/>
              </a:rPr>
              <a:t>的转换阶段特别有用。</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endParaRPr lang="en-US" altLang="zh-CN"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的</a:t>
            </a:r>
            <a:r>
              <a:rPr lang="zh-CN" altLang="en-US" b="1" dirty="0">
                <a:solidFill>
                  <a:srgbClr val="C00000"/>
                </a:solidFill>
                <a:latin typeface="微软雅黑" pitchFamily="34" charset="-122"/>
                <a:ea typeface="微软雅黑" pitchFamily="34" charset="-122"/>
              </a:rPr>
              <a:t>斜线表示法</a:t>
            </a:r>
            <a:r>
              <a:rPr lang="zh-CN" altLang="en-US" b="1" dirty="0">
                <a:latin typeface="微软雅黑" pitchFamily="34" charset="-122"/>
                <a:ea typeface="微软雅黑" pitchFamily="34" charset="-122"/>
              </a:rPr>
              <a:t>仍然可用，</a:t>
            </a:r>
            <a:r>
              <a:rPr lang="zh-CN" altLang="en-US" b="1" dirty="0">
                <a:solidFill>
                  <a:srgbClr val="C00000"/>
                </a:solidFill>
                <a:latin typeface="微软雅黑" pitchFamily="34" charset="-122"/>
                <a:ea typeface="微软雅黑" pitchFamily="34" charset="-122"/>
              </a:rPr>
              <a:t>但取消了子网掩码。</a:t>
            </a:r>
            <a:endParaRPr lang="en-US" altLang="zh-CN" b="1" dirty="0">
              <a:solidFill>
                <a:srgbClr val="C00000"/>
              </a:solidFill>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r>
              <a:rPr lang="en-US" altLang="zh-CN" b="1" dirty="0">
                <a:latin typeface="微软雅黑" pitchFamily="34" charset="-122"/>
                <a:ea typeface="微软雅黑" pitchFamily="34" charset="-122"/>
              </a:rPr>
              <a:t>60 </a:t>
            </a:r>
            <a:r>
              <a:rPr lang="zh-CN" altLang="en-US" b="1" dirty="0">
                <a:latin typeface="微软雅黑" pitchFamily="34" charset="-122"/>
                <a:ea typeface="微软雅黑" pitchFamily="34" charset="-122"/>
              </a:rPr>
              <a:t>位的前缀 </a:t>
            </a:r>
            <a:r>
              <a:rPr lang="en-US" altLang="zh-CN" b="1" dirty="0">
                <a:latin typeface="微软雅黑" pitchFamily="34" charset="-122"/>
                <a:ea typeface="微软雅黑" pitchFamily="34" charset="-122"/>
              </a:rPr>
              <a:t>12AB00000000CD3 </a:t>
            </a:r>
            <a:r>
              <a:rPr lang="zh-CN" altLang="en-US" b="1" dirty="0">
                <a:latin typeface="微软雅黑" pitchFamily="34" charset="-122"/>
                <a:ea typeface="微软雅黑" pitchFamily="34" charset="-122"/>
              </a:rPr>
              <a:t>可记为：</a:t>
            </a:r>
          </a:p>
          <a:p>
            <a:pPr marL="285750" indent="-285750">
              <a:lnSpc>
                <a:spcPts val="2700"/>
              </a:lnSpc>
              <a:buClr>
                <a:srgbClr val="0070C0"/>
              </a:buClr>
              <a:buFont typeface="Wingdings" pitchFamily="2" charset="2"/>
              <a:buChar char="l"/>
            </a:pPr>
            <a:endParaRPr lang="zh-CN" altLang="en-US"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endParaRPr lang="en-US" altLang="zh-CN" b="1" dirty="0">
              <a:latin typeface="微软雅黑" pitchFamily="34" charset="-122"/>
              <a:ea typeface="微软雅黑" pitchFamily="34" charset="-122"/>
            </a:endParaRPr>
          </a:p>
        </p:txBody>
      </p:sp>
      <p:sp>
        <p:nvSpPr>
          <p:cNvPr id="3" name="AutoShape 5"/>
          <p:cNvSpPr>
            <a:spLocks noChangeArrowheads="1"/>
          </p:cNvSpPr>
          <p:nvPr/>
        </p:nvSpPr>
        <p:spPr bwMode="auto">
          <a:xfrm>
            <a:off x="545145" y="625529"/>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92318"/>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点分十进制记法的后缀</a:t>
            </a:r>
          </a:p>
        </p:txBody>
      </p:sp>
      <p:sp>
        <p:nvSpPr>
          <p:cNvPr id="5" name="矩形 4"/>
          <p:cNvSpPr/>
          <p:nvPr/>
        </p:nvSpPr>
        <p:spPr>
          <a:xfrm>
            <a:off x="1644934" y="1406707"/>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6" name="矩形 5"/>
          <p:cNvSpPr/>
          <p:nvPr/>
        </p:nvSpPr>
        <p:spPr>
          <a:xfrm>
            <a:off x="4751433" y="1406707"/>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8" name="矩形 7"/>
          <p:cNvSpPr/>
          <p:nvPr/>
        </p:nvSpPr>
        <p:spPr>
          <a:xfrm>
            <a:off x="1678750" y="2387715"/>
            <a:ext cx="5771132"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12AB:0000:0000:CD30:0000:0000:0000:0000</a:t>
            </a:r>
            <a:r>
              <a:rPr lang="en-US" altLang="zh-CN" b="1" dirty="0">
                <a:solidFill>
                  <a:srgbClr val="C00000"/>
                </a:solidFill>
                <a:latin typeface="微软雅黑" pitchFamily="34" charset="-122"/>
                <a:ea typeface="微软雅黑" pitchFamily="34" charset="-122"/>
              </a:rPr>
              <a:t>/60</a:t>
            </a:r>
            <a:endParaRPr lang="zh-CN" altLang="en-US" b="1" dirty="0">
              <a:solidFill>
                <a:srgbClr val="C00000"/>
              </a:solidFill>
              <a:latin typeface="微软雅黑" pitchFamily="34" charset="-122"/>
              <a:ea typeface="微软雅黑" pitchFamily="34" charset="-122"/>
            </a:endParaRPr>
          </a:p>
        </p:txBody>
      </p:sp>
      <p:sp>
        <p:nvSpPr>
          <p:cNvPr id="16" name="右箭头 15"/>
          <p:cNvSpPr/>
          <p:nvPr/>
        </p:nvSpPr>
        <p:spPr>
          <a:xfrm>
            <a:off x="4305707" y="15019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p:cNvSpPr/>
          <p:nvPr/>
        </p:nvSpPr>
        <p:spPr>
          <a:xfrm>
            <a:off x="1381661" y="2704934"/>
            <a:ext cx="4305987" cy="369332"/>
          </a:xfrm>
          <a:prstGeom prst="rect">
            <a:avLst/>
          </a:prstGeom>
        </p:spPr>
        <p:txBody>
          <a:bodyPr wrap="none">
            <a:spAutoFit/>
          </a:bodyPr>
          <a:lstStyle/>
          <a:p>
            <a:pPr>
              <a:buClr>
                <a:srgbClr val="0070C0"/>
              </a:buClr>
            </a:pPr>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12AB::CD30:0:0:0:0</a:t>
            </a:r>
            <a:r>
              <a:rPr lang="en-US" altLang="zh-CN" b="1" dirty="0">
                <a:solidFill>
                  <a:srgbClr val="C00000"/>
                </a:solidFill>
                <a:latin typeface="微软雅黑" pitchFamily="34" charset="-122"/>
                <a:ea typeface="微软雅黑" pitchFamily="34" charset="-122"/>
              </a:rPr>
              <a:t>/60</a:t>
            </a:r>
            <a:r>
              <a:rPr lang="en-US" altLang="zh-CN" b="1" dirty="0">
                <a:solidFill>
                  <a:srgbClr val="0000FF"/>
                </a:solidFill>
                <a:latin typeface="微软雅黑" pitchFamily="34" charset="-122"/>
                <a:ea typeface="微软雅黑" pitchFamily="34" charset="-122"/>
              </a:rPr>
              <a:t> </a:t>
            </a:r>
            <a:r>
              <a:rPr lang="zh-CN" altLang="en-US" b="1" dirty="0">
                <a:solidFill>
                  <a:srgbClr val="0000FF"/>
                </a:solidFill>
                <a:latin typeface="微软雅黑" pitchFamily="34" charset="-122"/>
                <a:ea typeface="微软雅黑" pitchFamily="34" charset="-122"/>
              </a:rPr>
              <a:t>（零压缩）</a:t>
            </a:r>
          </a:p>
        </p:txBody>
      </p:sp>
      <p:sp>
        <p:nvSpPr>
          <p:cNvPr id="23" name="矩形 22"/>
          <p:cNvSpPr/>
          <p:nvPr/>
        </p:nvSpPr>
        <p:spPr>
          <a:xfrm>
            <a:off x="1384397" y="3035339"/>
            <a:ext cx="3954929" cy="369332"/>
          </a:xfrm>
          <a:prstGeom prst="rect">
            <a:avLst/>
          </a:prstGeom>
        </p:spPr>
        <p:txBody>
          <a:bodyPr wrap="none">
            <a:spAutoFit/>
          </a:bodyPr>
          <a:lstStyle/>
          <a:p>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12AB:0:0:CD30</a:t>
            </a:r>
            <a:r>
              <a:rPr lang="en-US" altLang="zh-CN" b="1" dirty="0">
                <a:solidFill>
                  <a:srgbClr val="C00000"/>
                </a:solidFill>
                <a:latin typeface="微软雅黑" pitchFamily="34" charset="-122"/>
                <a:ea typeface="微软雅黑" pitchFamily="34" charset="-122"/>
              </a:rPr>
              <a:t>::/60 </a:t>
            </a:r>
            <a:r>
              <a:rPr lang="zh-CN" altLang="en-US" b="1" dirty="0">
                <a:solidFill>
                  <a:srgbClr val="0000FF"/>
                </a:solidFill>
                <a:latin typeface="微软雅黑" pitchFamily="34" charset="-122"/>
                <a:ea typeface="微软雅黑" pitchFamily="34" charset="-122"/>
              </a:rPr>
              <a:t>（零压缩）</a:t>
            </a:r>
            <a:endParaRPr lang="zh-CN" altLang="en-US" dirty="0"/>
          </a:p>
        </p:txBody>
      </p:sp>
      <p:sp>
        <p:nvSpPr>
          <p:cNvPr id="24" name="矩形 23"/>
          <p:cNvSpPr/>
          <p:nvPr/>
        </p:nvSpPr>
        <p:spPr>
          <a:xfrm>
            <a:off x="766816" y="3382893"/>
            <a:ext cx="7388891" cy="1092607"/>
          </a:xfrm>
          <a:prstGeom prst="rect">
            <a:avLst/>
          </a:prstGeom>
          <a:noFill/>
        </p:spPr>
        <p:txBody>
          <a:bodyPr wrap="square">
            <a:spAutoFit/>
          </a:bodyPr>
          <a:lstStyle/>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CIDR </a:t>
            </a:r>
            <a:r>
              <a:rPr lang="zh-CN" altLang="zh-CN" sz="1600" b="1" kern="500" dirty="0">
                <a:solidFill>
                  <a:srgbClr val="000000"/>
                </a:solidFill>
                <a:latin typeface="微软雅黑" panose="020B0503020204020204" pitchFamily="34" charset="-122"/>
                <a:ea typeface="微软雅黑" panose="020B0503020204020204" pitchFamily="34" charset="-122"/>
              </a:rPr>
              <a:t>记法</a:t>
            </a:r>
            <a:r>
              <a:rPr lang="zh-CN" altLang="en-US" sz="1600" b="1" kern="500" dirty="0">
                <a:solidFill>
                  <a:srgbClr val="000000"/>
                </a:solidFill>
                <a:latin typeface="微软雅黑" panose="020B0503020204020204" pitchFamily="34" charset="-122"/>
                <a:ea typeface="微软雅黑" panose="020B0503020204020204" pitchFamily="34" charset="-122"/>
              </a:rPr>
              <a:t>地址：</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2001:0DB8:0:CD30:123:4567:89AB:CDEF/60</a:t>
            </a:r>
            <a:r>
              <a:rPr lang="zh-CN" altLang="zh-CN" sz="1600" b="1" kern="500" dirty="0">
                <a:solidFill>
                  <a:srgbClr val="000000"/>
                </a:solidFill>
                <a:latin typeface="微软雅黑" panose="020B0503020204020204" pitchFamily="34" charset="-122"/>
                <a:ea typeface="微软雅黑" panose="020B0503020204020204" pitchFamily="34" charset="-122"/>
              </a:rPr>
              <a:t>，表示</a:t>
            </a:r>
            <a:r>
              <a:rPr lang="zh-CN" altLang="en-US" sz="1600" b="1" kern="500" dirty="0">
                <a:solidFill>
                  <a:srgbClr val="000000"/>
                </a:solidFill>
                <a:latin typeface="微软雅黑" panose="020B0503020204020204" pitchFamily="34" charset="-122"/>
                <a:ea typeface="微软雅黑" panose="020B0503020204020204" pitchFamily="34" charset="-122"/>
              </a:rPr>
              <a:t>：</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IPv6 </a:t>
            </a:r>
            <a:r>
              <a:rPr lang="zh-CN" altLang="zh-CN" sz="1600" b="1" kern="500" dirty="0">
                <a:solidFill>
                  <a:srgbClr val="000000"/>
                </a:solidFill>
                <a:latin typeface="微软雅黑" panose="020B0503020204020204" pitchFamily="34" charset="-122"/>
                <a:ea typeface="微软雅黑" panose="020B0503020204020204" pitchFamily="34" charset="-122"/>
              </a:rPr>
              <a:t>的地址是：</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zh-CN" altLang="zh-CN" sz="1600" b="1" kern="500" dirty="0">
                <a:latin typeface="微软雅黑" panose="020B0503020204020204" pitchFamily="34" charset="-122"/>
                <a:ea typeface="微软雅黑" panose="020B0503020204020204" pitchFamily="34" charset="-122"/>
              </a:rPr>
              <a:t>其子网号是：</a:t>
            </a:r>
            <a:r>
              <a:rPr lang="en-US" altLang="zh-CN" sz="1600" b="1" kern="500" dirty="0">
                <a:latin typeface="微软雅黑" panose="020B0503020204020204" pitchFamily="34" charset="-122"/>
                <a:ea typeface="微软雅黑" panose="020B0503020204020204" pitchFamily="34" charset="-122"/>
              </a:rPr>
              <a:t>	</a:t>
            </a:r>
            <a:r>
              <a:rPr lang="en-US" altLang="zh-CN" sz="1600" b="1" kern="500" dirty="0">
                <a:solidFill>
                  <a:srgbClr val="000000"/>
                </a:solidFill>
                <a:latin typeface="微软雅黑" panose="020B0503020204020204" pitchFamily="34" charset="-122"/>
                <a:ea typeface="微软雅黑" panose="020B0503020204020204" pitchFamily="34" charset="-122"/>
              </a:rPr>
              <a:t>2001:0DB8:0:CD30::/60</a:t>
            </a:r>
            <a:endParaRPr lang="zh-CN" altLang="zh-CN" sz="1600" b="1" kern="5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5233245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内容占位符 3"/>
          <p:cNvGraphicFramePr>
            <a:graphicFrameLocks/>
          </p:cNvGraphicFramePr>
          <p:nvPr>
            <p:extLst>
              <p:ext uri="{D42A27DB-BD31-4B8C-83A1-F6EECF244321}">
                <p14:modId xmlns:p14="http://schemas.microsoft.com/office/powerpoint/2010/main" val="4287544903"/>
              </p:ext>
            </p:extLst>
          </p:nvPr>
        </p:nvGraphicFramePr>
        <p:xfrm>
          <a:off x="486000" y="1119916"/>
          <a:ext cx="8172000" cy="2569095"/>
        </p:xfrm>
        <a:graphic>
          <a:graphicData uri="http://schemas.openxmlformats.org/drawingml/2006/table">
            <a:tbl>
              <a:tblPr firstRow="1" firstCol="1" bandCol="1">
                <a:tableStyleId>{7DF18680-E054-41AD-8BC1-D1AEF772440D}</a:tableStyleId>
              </a:tblPr>
              <a:tblGrid>
                <a:gridCol w="1844427">
                  <a:extLst>
                    <a:ext uri="{9D8B030D-6E8A-4147-A177-3AD203B41FA5}">
                      <a16:colId xmlns:a16="http://schemas.microsoft.com/office/drawing/2014/main" val="20000"/>
                    </a:ext>
                  </a:extLst>
                </a:gridCol>
                <a:gridCol w="3990492">
                  <a:extLst>
                    <a:ext uri="{9D8B030D-6E8A-4147-A177-3AD203B41FA5}">
                      <a16:colId xmlns:a16="http://schemas.microsoft.com/office/drawing/2014/main" val="20001"/>
                    </a:ext>
                  </a:extLst>
                </a:gridCol>
                <a:gridCol w="2337081">
                  <a:extLst>
                    <a:ext uri="{9D8B030D-6E8A-4147-A177-3AD203B41FA5}">
                      <a16:colId xmlns:a16="http://schemas.microsoft.com/office/drawing/2014/main" val="20002"/>
                    </a:ext>
                  </a:extLst>
                </a:gridCol>
              </a:tblGrid>
              <a:tr h="396471">
                <a:tc>
                  <a:txBody>
                    <a:bodyPr/>
                    <a:lstStyle/>
                    <a:p>
                      <a:pPr algn="ctr">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地址类型</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二进制前缀</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en-US" altLang="zh-CN" sz="1400" b="0" baseline="0" dirty="0" err="1">
                          <a:solidFill>
                            <a:schemeClr val="bg1"/>
                          </a:solidFill>
                          <a:latin typeface="Courier New" panose="02070309020205020404" pitchFamily="49" charset="0"/>
                          <a:ea typeface="微软雅黑 Light" panose="020B0502040204020203" pitchFamily="34" charset="-122"/>
                        </a:rPr>
                        <a:t>IPv6</a:t>
                      </a:r>
                      <a:r>
                        <a:rPr lang="zh-CN" altLang="en-US" sz="1400" b="0" baseline="0" dirty="0">
                          <a:solidFill>
                            <a:schemeClr val="bg1"/>
                          </a:solidFill>
                          <a:latin typeface="Courier New" panose="02070309020205020404" pitchFamily="49" charset="0"/>
                          <a:ea typeface="微软雅黑 Light" panose="020B0502040204020203" pitchFamily="34" charset="-122"/>
                        </a:rPr>
                        <a:t>记法</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0"/>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未指明地址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00…0</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128</a:t>
                      </a:r>
                      <a:r>
                        <a:rPr lang="zh-CN" sz="1400" b="0" baseline="0" dirty="0">
                          <a:effectLst/>
                          <a:latin typeface="Courier New" panose="02070309020205020404" pitchFamily="49" charset="0"/>
                          <a:ea typeface="微软雅黑 Light" panose="020B0502040204020203" pitchFamily="34" charset="-122"/>
                        </a:rPr>
                        <a:t>位），</a:t>
                      </a:r>
                      <a:r>
                        <a:rPr lang="zh-CN" altLang="en-US" sz="1400" b="0" baseline="0" dirty="0">
                          <a:solidFill>
                            <a:srgbClr val="C00000"/>
                          </a:solidFill>
                          <a:latin typeface="Courier New" panose="02070309020205020404" pitchFamily="49" charset="0"/>
                          <a:ea typeface="微软雅黑 Light" panose="020B0502040204020203" pitchFamily="34" charset="-122"/>
                        </a:rPr>
                        <a:t>仅此一个</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::/128</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1"/>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环回地址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00…1</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128</a:t>
                      </a:r>
                      <a:r>
                        <a:rPr lang="zh-CN" sz="1400" b="0" baseline="0" dirty="0">
                          <a:effectLst/>
                          <a:latin typeface="Courier New" panose="02070309020205020404" pitchFamily="49" charset="0"/>
                          <a:ea typeface="微软雅黑 Light" panose="020B0502040204020203" pitchFamily="34" charset="-122"/>
                        </a:rPr>
                        <a:t>位），</a:t>
                      </a:r>
                      <a:r>
                        <a:rPr lang="zh-CN" altLang="en-US" sz="1400" b="0" baseline="0" dirty="0">
                          <a:solidFill>
                            <a:srgbClr val="C00000"/>
                          </a:solidFill>
                          <a:latin typeface="Courier New" panose="02070309020205020404" pitchFamily="49" charset="0"/>
                          <a:ea typeface="微软雅黑 Light" panose="020B0502040204020203" pitchFamily="34" charset="-122"/>
                        </a:rPr>
                        <a:t>仅此一个</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::1/128</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2"/>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多播地址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a:effectLst/>
                          <a:latin typeface="Courier New" panose="02070309020205020404" pitchFamily="49" charset="0"/>
                          <a:ea typeface="微软雅黑 Light" panose="020B0502040204020203" pitchFamily="34" charset="-122"/>
                        </a:rPr>
                        <a:t>11111111</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8</a:t>
                      </a:r>
                      <a:r>
                        <a:rPr lang="zh-CN" sz="1400" b="0" baseline="0" dirty="0">
                          <a:effectLst/>
                          <a:latin typeface="Courier New" panose="02070309020205020404" pitchFamily="49" charset="0"/>
                          <a:ea typeface="微软雅黑 Light" panose="020B0502040204020203" pitchFamily="34" charset="-122"/>
                        </a:rPr>
                        <a:t>位），</a:t>
                      </a:r>
                      <a:r>
                        <a:rPr lang="zh-CN" altLang="en-US" sz="1400" b="0" kern="1200" baseline="0" dirty="0">
                          <a:solidFill>
                            <a:srgbClr val="C00000"/>
                          </a:solidFill>
                          <a:latin typeface="Courier New" panose="02070309020205020404" pitchFamily="49" charset="0"/>
                          <a:ea typeface="微软雅黑 Light" panose="020B0502040204020203" pitchFamily="34" charset="-122"/>
                        </a:rPr>
                        <a:t>功能和 </a:t>
                      </a:r>
                      <a:r>
                        <a:rPr lang="en-US" altLang="zh-CN" sz="1400" b="0" kern="1200" baseline="0" dirty="0" err="1">
                          <a:solidFill>
                            <a:srgbClr val="C00000"/>
                          </a:solidFill>
                          <a:latin typeface="Courier New" panose="02070309020205020404" pitchFamily="49" charset="0"/>
                          <a:ea typeface="微软雅黑 Light" panose="020B0502040204020203" pitchFamily="34" charset="-122"/>
                        </a:rPr>
                        <a:t>IPv4</a:t>
                      </a:r>
                      <a:r>
                        <a:rPr lang="en-US" altLang="zh-CN" sz="1400" b="0" kern="1200" baseline="0" dirty="0">
                          <a:solidFill>
                            <a:srgbClr val="C00000"/>
                          </a:solidFill>
                          <a:latin typeface="Courier New" panose="02070309020205020404" pitchFamily="49" charset="0"/>
                          <a:ea typeface="微软雅黑 Light" panose="020B0502040204020203" pitchFamily="34" charset="-122"/>
                        </a:rPr>
                        <a:t> </a:t>
                      </a:r>
                      <a:r>
                        <a:rPr lang="zh-CN" altLang="en-US" sz="1400" b="0" kern="1200" baseline="0" dirty="0">
                          <a:solidFill>
                            <a:srgbClr val="C00000"/>
                          </a:solidFill>
                          <a:latin typeface="Courier New" panose="02070309020205020404" pitchFamily="49" charset="0"/>
                          <a:ea typeface="微软雅黑 Light" panose="020B0502040204020203" pitchFamily="34" charset="-122"/>
                        </a:rPr>
                        <a:t>的一样</a:t>
                      </a:r>
                      <a:endParaRPr lang="zh-CN" altLang="en-US" sz="1400" b="0" kern="1200" baseline="0" dirty="0">
                        <a:solidFill>
                          <a:srgbClr val="C00000"/>
                        </a:solidFill>
                        <a:latin typeface="Courier New" panose="02070309020205020404" pitchFamily="49" charset="0"/>
                        <a:ea typeface="微软雅黑 Light" panose="020B0502040204020203" pitchFamily="34" charset="-122"/>
                        <a:cs typeface="+mn-cs"/>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err="1">
                          <a:effectLst/>
                          <a:latin typeface="Courier New" panose="02070309020205020404" pitchFamily="49" charset="0"/>
                          <a:ea typeface="微软雅黑 Light" panose="020B0502040204020203" pitchFamily="34" charset="-122"/>
                        </a:rPr>
                        <a:t>FF00</a:t>
                      </a:r>
                      <a:r>
                        <a:rPr lang="en-US" sz="1400" b="0" baseline="0" dirty="0">
                          <a:effectLst/>
                          <a:latin typeface="Courier New" panose="02070309020205020404" pitchFamily="49" charset="0"/>
                          <a:ea typeface="微软雅黑 Light" panose="020B0502040204020203" pitchFamily="34" charset="-122"/>
                        </a:rPr>
                        <a:t>::/8</a:t>
                      </a:r>
                      <a:endParaRPr lang="zh-CN" altLang="en-US" sz="1400" b="0" kern="1200" baseline="0" dirty="0">
                        <a:solidFill>
                          <a:srgbClr val="C00000"/>
                        </a:solidFill>
                        <a:latin typeface="Courier New" panose="02070309020205020404" pitchFamily="49" charset="0"/>
                        <a:ea typeface="微软雅黑 Light" panose="020B0502040204020203" pitchFamily="34" charset="-122"/>
                        <a:cs typeface="+mn-cs"/>
                      </a:endParaRPr>
                    </a:p>
                  </a:txBody>
                  <a:tcPr marL="68580" marR="68580" marT="0" marB="0" anchor="ctr"/>
                </a:tc>
                <a:extLst>
                  <a:ext uri="{0D108BD9-81ED-4DB2-BD59-A6C34878D82A}">
                    <a16:rowId xmlns:a16="http://schemas.microsoft.com/office/drawing/2014/main" val="10003"/>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本地链路单播地址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1111111010</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10</a:t>
                      </a:r>
                      <a:r>
                        <a:rPr lang="zh-CN" sz="1400" b="0" baseline="0" dirty="0">
                          <a:effectLst/>
                          <a:latin typeface="Courier New" panose="02070309020205020404" pitchFamily="49" charset="0"/>
                          <a:ea typeface="微软雅黑 Light" panose="020B0502040204020203" pitchFamily="34" charset="-122"/>
                        </a:rPr>
                        <a:t>位）</a:t>
                      </a:r>
                      <a:r>
                        <a:rPr lang="en-US" sz="1400" b="0" baseline="0" dirty="0">
                          <a:effectLst/>
                          <a:latin typeface="Courier New" panose="02070309020205020404" pitchFamily="49" charset="0"/>
                          <a:ea typeface="微软雅黑 Light" panose="020B0502040204020203" pitchFamily="34" charset="-122"/>
                        </a:rPr>
                        <a:t>, </a:t>
                      </a:r>
                      <a:r>
                        <a:rPr lang="zh-CN" altLang="en-US" sz="1400" b="0" baseline="0" dirty="0">
                          <a:solidFill>
                            <a:srgbClr val="C00000"/>
                          </a:solidFill>
                          <a:latin typeface="Courier New" panose="02070309020205020404" pitchFamily="49" charset="0"/>
                          <a:ea typeface="微软雅黑 Light" panose="020B0502040204020203" pitchFamily="34" charset="-122"/>
                        </a:rPr>
                        <a:t>未连接到互联网，不能和互联网上的其他主机通信</a:t>
                      </a:r>
                    </a:p>
                  </a:txBody>
                  <a:tcPr marL="68580" marR="68580" marT="0" marB="0" anchor="ctr"/>
                </a:tc>
                <a:tc>
                  <a:txBody>
                    <a:bodyPr/>
                    <a:lstStyle/>
                    <a:p>
                      <a:pPr algn="just">
                        <a:lnSpc>
                          <a:spcPts val="2400"/>
                        </a:lnSpc>
                        <a:spcAft>
                          <a:spcPts val="0"/>
                        </a:spcAft>
                      </a:pPr>
                      <a:r>
                        <a:rPr lang="en-US" sz="1400" b="0" baseline="0" dirty="0" err="1">
                          <a:effectLst/>
                          <a:latin typeface="Courier New" panose="02070309020205020404" pitchFamily="49" charset="0"/>
                          <a:ea typeface="微软雅黑 Light" panose="020B0502040204020203" pitchFamily="34" charset="-122"/>
                        </a:rPr>
                        <a:t>FE80</a:t>
                      </a:r>
                      <a:r>
                        <a:rPr lang="en-US" sz="1400" b="0" baseline="0" dirty="0">
                          <a:effectLst/>
                          <a:latin typeface="Courier New" panose="02070309020205020404" pitchFamily="49" charset="0"/>
                          <a:ea typeface="微软雅黑 Light" panose="020B0502040204020203" pitchFamily="34" charset="-122"/>
                        </a:rPr>
                        <a:t>::/10</a:t>
                      </a:r>
                      <a:endParaRPr lang="zh-CN" altLang="en-US" sz="1400" b="0" baseline="0" dirty="0">
                        <a:solidFill>
                          <a:srgbClr val="C00000"/>
                        </a:solidFill>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4"/>
                  </a:ext>
                </a:extLst>
              </a:tr>
              <a:tr h="396471">
                <a:tc>
                  <a:txBody>
                    <a:bodyPr/>
                    <a:lstStyle/>
                    <a:p>
                      <a:pPr algn="just">
                        <a:lnSpc>
                          <a:spcPts val="2400"/>
                        </a:lnSpc>
                        <a:spcAft>
                          <a:spcPts val="0"/>
                        </a:spcAft>
                      </a:pPr>
                      <a:r>
                        <a:rPr lang="zh-CN" sz="1400" b="0" baseline="0">
                          <a:effectLst/>
                          <a:latin typeface="Courier New" panose="02070309020205020404" pitchFamily="49" charset="0"/>
                          <a:ea typeface="微软雅黑 Light" panose="020B0502040204020203" pitchFamily="34" charset="-122"/>
                        </a:rPr>
                        <a:t>全球单播地址</a:t>
                      </a:r>
                      <a:endParaRPr lang="zh-CN" sz="1400" b="0" baseline="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gridSpan="2">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除上述四种外，所有其他的二进制前缀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hMerge="1">
                  <a:txBody>
                    <a:bodyPr/>
                    <a:lstStyle/>
                    <a:p>
                      <a:pPr algn="just">
                        <a:lnSpc>
                          <a:spcPts val="2400"/>
                        </a:lnSpc>
                        <a:spcAft>
                          <a:spcPts val="0"/>
                        </a:spcAft>
                      </a:pPr>
                      <a:endParaRPr lang="zh-CN" sz="16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5"/>
                  </a:ext>
                </a:extLst>
              </a:tr>
            </a:tbl>
          </a:graphicData>
        </a:graphic>
      </p:graphicFrame>
      <p:sp>
        <p:nvSpPr>
          <p:cNvPr id="5" name="标题 4">
            <a:extLst>
              <a:ext uri="{FF2B5EF4-FFF2-40B4-BE49-F238E27FC236}">
                <a16:creationId xmlns:a16="http://schemas.microsoft.com/office/drawing/2014/main" id="{10500D6D-EEC5-3704-AB2A-AB6D9105CE69}"/>
              </a:ext>
            </a:extLst>
          </p:cNvPr>
          <p:cNvSpPr>
            <a:spLocks noGrp="1"/>
          </p:cNvSpPr>
          <p:nvPr>
            <p:ph type="title"/>
          </p:nvPr>
        </p:nvSpPr>
        <p:spPr>
          <a:xfrm>
            <a:off x="486000" y="550723"/>
            <a:ext cx="8172000" cy="338554"/>
          </a:xfrm>
        </p:spPr>
        <p:txBody>
          <a:bodyPr/>
          <a:lstStyle/>
          <a:p>
            <a:r>
              <a:rPr lang="en-US" altLang="zh-CN" dirty="0"/>
              <a:t>IPv6 </a:t>
            </a:r>
            <a:r>
              <a:rPr lang="zh-CN" altLang="en-US" dirty="0"/>
              <a:t>地址分类</a:t>
            </a:r>
          </a:p>
        </p:txBody>
      </p:sp>
    </p:spTree>
    <p:extLst>
      <p:ext uri="{BB962C8B-B14F-4D97-AF65-F5344CB8AC3E}">
        <p14:creationId xmlns:p14="http://schemas.microsoft.com/office/powerpoint/2010/main" val="38367565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 name="组合 22"/>
          <p:cNvGrpSpPr/>
          <p:nvPr/>
        </p:nvGrpSpPr>
        <p:grpSpPr>
          <a:xfrm>
            <a:off x="998507" y="1410676"/>
            <a:ext cx="7174153" cy="1390651"/>
            <a:chOff x="933855" y="1761657"/>
            <a:chExt cx="7174153" cy="1390651"/>
          </a:xfrm>
        </p:grpSpPr>
        <p:sp>
          <p:nvSpPr>
            <p:cNvPr id="6" name="Rectangle 2"/>
            <p:cNvSpPr>
              <a:spLocks noChangeArrowheads="1"/>
            </p:cNvSpPr>
            <p:nvPr/>
          </p:nvSpPr>
          <p:spPr bwMode="auto">
            <a:xfrm>
              <a:off x="933855" y="2806529"/>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dirty="0">
                <a:solidFill>
                  <a:srgbClr val="000099"/>
                </a:solidFill>
                <a:latin typeface="微软雅黑" pitchFamily="34" charset="-122"/>
                <a:ea typeface="微软雅黑" pitchFamily="34" charset="-122"/>
              </a:endParaRPr>
            </a:p>
          </p:txBody>
        </p:sp>
        <p:sp>
          <p:nvSpPr>
            <p:cNvPr id="7" name="Rectangle 110"/>
            <p:cNvSpPr>
              <a:spLocks noChangeArrowheads="1"/>
            </p:cNvSpPr>
            <p:nvPr/>
          </p:nvSpPr>
          <p:spPr bwMode="auto">
            <a:xfrm>
              <a:off x="5504730" y="2837799"/>
              <a:ext cx="260327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a:t>
              </a:r>
              <a:r>
                <a:rPr lang="en-US" altLang="zh-CN" sz="1400" b="1" i="1" dirty="0">
                  <a:solidFill>
                    <a:schemeClr val="bg1"/>
                  </a:solidFill>
                  <a:latin typeface="微软雅黑" pitchFamily="34" charset="-122"/>
                  <a:ea typeface="微软雅黑" pitchFamily="34" charset="-122"/>
                </a:rPr>
                <a:t>m</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8" name="Line 165"/>
            <p:cNvSpPr>
              <a:spLocks noChangeShapeType="1"/>
            </p:cNvSpPr>
            <p:nvPr/>
          </p:nvSpPr>
          <p:spPr bwMode="auto">
            <a:xfrm>
              <a:off x="3664655" y="2806529"/>
              <a:ext cx="1435" cy="345779"/>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166"/>
            <p:cNvSpPr>
              <a:spLocks noChangeShapeType="1"/>
            </p:cNvSpPr>
            <p:nvPr/>
          </p:nvSpPr>
          <p:spPr bwMode="auto">
            <a:xfrm>
              <a:off x="5552120" y="2806529"/>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Rectangle 2"/>
            <p:cNvSpPr>
              <a:spLocks noChangeArrowheads="1"/>
            </p:cNvSpPr>
            <p:nvPr/>
          </p:nvSpPr>
          <p:spPr bwMode="auto">
            <a:xfrm>
              <a:off x="933855" y="2294550"/>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1" name="Rectangle 2"/>
            <p:cNvSpPr>
              <a:spLocks noChangeArrowheads="1"/>
            </p:cNvSpPr>
            <p:nvPr/>
          </p:nvSpPr>
          <p:spPr bwMode="auto">
            <a:xfrm>
              <a:off x="933855" y="1774261"/>
              <a:ext cx="7172653" cy="335566"/>
            </a:xfrm>
            <a:prstGeom prst="rect">
              <a:avLst/>
            </a:prstGeom>
            <a:solidFill>
              <a:srgbClr val="00FF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2" name="Rectangle 126"/>
            <p:cNvSpPr>
              <a:spLocks noChangeArrowheads="1"/>
            </p:cNvSpPr>
            <p:nvPr/>
          </p:nvSpPr>
          <p:spPr bwMode="auto">
            <a:xfrm>
              <a:off x="2660076" y="1761657"/>
              <a:ext cx="3879272" cy="3359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algn="ctr" defTabSz="762000"/>
              <a:r>
                <a:rPr lang="zh-CN" altLang="en-US" sz="1600" b="1" dirty="0">
                  <a:latin typeface="微软雅黑" pitchFamily="34" charset="-122"/>
                  <a:ea typeface="微软雅黑" pitchFamily="34" charset="-122"/>
                </a:rPr>
                <a:t>节 点 地 址 </a:t>
              </a:r>
              <a:r>
                <a:rPr lang="en-US" altLang="zh-CN" sz="1600" b="1" dirty="0">
                  <a:latin typeface="微软雅黑" pitchFamily="34" charset="-122"/>
                  <a:ea typeface="微软雅黑" pitchFamily="34" charset="-122"/>
                </a:rPr>
                <a:t>(128 bit)</a:t>
              </a:r>
              <a:endParaRPr lang="zh-CN" altLang="en-US" sz="1600" b="1" dirty="0">
                <a:latin typeface="微软雅黑" pitchFamily="34" charset="-122"/>
                <a:ea typeface="微软雅黑" pitchFamily="34" charset="-122"/>
              </a:endParaRPr>
            </a:p>
          </p:txBody>
        </p:sp>
        <p:sp>
          <p:nvSpPr>
            <p:cNvPr id="13" name="Line 166"/>
            <p:cNvSpPr>
              <a:spLocks noChangeShapeType="1"/>
            </p:cNvSpPr>
            <p:nvPr/>
          </p:nvSpPr>
          <p:spPr bwMode="auto">
            <a:xfrm>
              <a:off x="4788632" y="2294550"/>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Rectangle 110"/>
            <p:cNvSpPr>
              <a:spLocks noChangeArrowheads="1"/>
            </p:cNvSpPr>
            <p:nvPr/>
          </p:nvSpPr>
          <p:spPr bwMode="auto">
            <a:xfrm>
              <a:off x="5293811" y="2321286"/>
              <a:ext cx="227786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 </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15" name="矩形 14"/>
            <p:cNvSpPr/>
            <p:nvPr/>
          </p:nvSpPr>
          <p:spPr bwMode="auto">
            <a:xfrm>
              <a:off x="963629" y="2309803"/>
              <a:ext cx="3795720"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6" name="Rectangle 126"/>
            <p:cNvSpPr>
              <a:spLocks noChangeArrowheads="1"/>
            </p:cNvSpPr>
            <p:nvPr/>
          </p:nvSpPr>
          <p:spPr bwMode="auto">
            <a:xfrm>
              <a:off x="2123587" y="2319438"/>
              <a:ext cx="1511633"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7" name="矩形 16"/>
            <p:cNvSpPr/>
            <p:nvPr/>
          </p:nvSpPr>
          <p:spPr bwMode="auto">
            <a:xfrm>
              <a:off x="3695998" y="2823875"/>
              <a:ext cx="1829473"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8" name="Rectangle 126"/>
            <p:cNvSpPr>
              <a:spLocks noChangeArrowheads="1"/>
            </p:cNvSpPr>
            <p:nvPr/>
          </p:nvSpPr>
          <p:spPr bwMode="auto">
            <a:xfrm>
              <a:off x="3726694" y="2837798"/>
              <a:ext cx="1750480"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子网标识符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m</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9" name="矩形 18"/>
            <p:cNvSpPr/>
            <p:nvPr/>
          </p:nvSpPr>
          <p:spPr bwMode="auto">
            <a:xfrm>
              <a:off x="963629" y="2824700"/>
              <a:ext cx="2675206" cy="304236"/>
            </a:xfrm>
            <a:prstGeom prst="rect">
              <a:avLst/>
            </a:prstGeom>
            <a:solidFill>
              <a:srgbClr val="00FF99"/>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20" name="Rectangle 126"/>
            <p:cNvSpPr>
              <a:spLocks noChangeArrowheads="1"/>
            </p:cNvSpPr>
            <p:nvPr/>
          </p:nvSpPr>
          <p:spPr bwMode="auto">
            <a:xfrm>
              <a:off x="1172893" y="2837798"/>
              <a:ext cx="2229779"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全球路由选择前缀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9A44C0A7-DDF9-79CC-BB3B-7AD53A26CE19}"/>
              </a:ext>
            </a:extLst>
          </p:cNvPr>
          <p:cNvSpPr>
            <a:spLocks noGrp="1"/>
          </p:cNvSpPr>
          <p:nvPr>
            <p:ph type="title"/>
          </p:nvPr>
        </p:nvSpPr>
        <p:spPr>
          <a:xfrm>
            <a:off x="486000" y="550723"/>
            <a:ext cx="8172000" cy="338554"/>
          </a:xfrm>
        </p:spPr>
        <p:txBody>
          <a:bodyPr/>
          <a:lstStyle/>
          <a:p>
            <a:r>
              <a:rPr lang="en-US" altLang="zh-CN" dirty="0"/>
              <a:t>IPv6 </a:t>
            </a:r>
            <a:r>
              <a:rPr lang="zh-CN" altLang="en-US" dirty="0"/>
              <a:t>单播地址的划分方法</a:t>
            </a:r>
          </a:p>
        </p:txBody>
      </p:sp>
    </p:spTree>
    <p:extLst>
      <p:ext uri="{BB962C8B-B14F-4D97-AF65-F5344CB8AC3E}">
        <p14:creationId xmlns:p14="http://schemas.microsoft.com/office/powerpoint/2010/main" val="3275345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B3E5241-4FFD-25E6-C881-6FA25F7A9CA1}"/>
              </a:ext>
            </a:extLst>
          </p:cNvPr>
          <p:cNvSpPr>
            <a:spLocks noGrp="1"/>
          </p:cNvSpPr>
          <p:nvPr>
            <p:ph type="title"/>
          </p:nvPr>
        </p:nvSpPr>
        <p:spPr>
          <a:xfrm>
            <a:off x="486000" y="550723"/>
            <a:ext cx="8172000" cy="338554"/>
          </a:xfrm>
        </p:spPr>
        <p:txBody>
          <a:bodyPr/>
          <a:lstStyle/>
          <a:p>
            <a:r>
              <a:rPr lang="en-US" altLang="zh-CN" dirty="0"/>
              <a:t>4.5.3  </a:t>
            </a:r>
            <a:r>
              <a:rPr lang="zh-CN" altLang="en-US" dirty="0"/>
              <a:t>从 </a:t>
            </a:r>
            <a:r>
              <a:rPr lang="en-US" altLang="zh-CN" dirty="0"/>
              <a:t>IPv4 </a:t>
            </a:r>
            <a:r>
              <a:rPr lang="zh-CN" altLang="en-US" dirty="0"/>
              <a:t>向 </a:t>
            </a:r>
            <a:r>
              <a:rPr lang="en-US" altLang="zh-CN" dirty="0"/>
              <a:t>IPv6 </a:t>
            </a:r>
            <a:r>
              <a:rPr lang="zh-CN" altLang="en-US" dirty="0"/>
              <a:t>过渡</a:t>
            </a:r>
          </a:p>
        </p:txBody>
      </p:sp>
      <p:sp>
        <p:nvSpPr>
          <p:cNvPr id="6" name="内容占位符 5">
            <a:extLst>
              <a:ext uri="{FF2B5EF4-FFF2-40B4-BE49-F238E27FC236}">
                <a16:creationId xmlns:a16="http://schemas.microsoft.com/office/drawing/2014/main" id="{11145FBD-3AC7-09F9-710B-0EA41C9E2E1D}"/>
              </a:ext>
            </a:extLst>
          </p:cNvPr>
          <p:cNvSpPr>
            <a:spLocks noGrp="1"/>
          </p:cNvSpPr>
          <p:nvPr>
            <p:ph sz="quarter" idx="11"/>
          </p:nvPr>
        </p:nvSpPr>
        <p:spPr>
          <a:xfrm>
            <a:off x="486000" y="900000"/>
            <a:ext cx="8172000" cy="3703500"/>
          </a:xfrm>
        </p:spPr>
        <p:txBody>
          <a:bodyPr/>
          <a:lstStyle/>
          <a:p>
            <a:r>
              <a:rPr lang="zh-CN" altLang="en-US" dirty="0"/>
              <a:t>方法：</a:t>
            </a:r>
            <a:endParaRPr lang="en-US" altLang="zh-CN" dirty="0"/>
          </a:p>
          <a:p>
            <a:pPr lvl="1"/>
            <a:r>
              <a:rPr lang="zh-CN" altLang="en-US" dirty="0"/>
              <a:t>逐步演进</a:t>
            </a:r>
            <a:endParaRPr lang="en-US" altLang="zh-CN" dirty="0"/>
          </a:p>
          <a:p>
            <a:pPr lvl="1"/>
            <a:r>
              <a:rPr lang="zh-CN" altLang="en-US" dirty="0"/>
              <a:t>向后兼容</a:t>
            </a:r>
            <a:endParaRPr lang="en-US" altLang="zh-CN" dirty="0"/>
          </a:p>
          <a:p>
            <a:r>
              <a:rPr lang="zh-CN" altLang="en-US" dirty="0"/>
              <a:t>向后兼容：</a:t>
            </a:r>
            <a:endParaRPr lang="en-US" altLang="zh-CN" dirty="0"/>
          </a:p>
          <a:p>
            <a:pPr lvl="1"/>
            <a:r>
              <a:rPr lang="en-US" altLang="zh-CN" dirty="0"/>
              <a:t>IPv6 </a:t>
            </a:r>
            <a:r>
              <a:rPr lang="zh-CN" altLang="en-US" dirty="0"/>
              <a:t>系统必须能够接收和转发 </a:t>
            </a:r>
            <a:r>
              <a:rPr lang="en-US" altLang="zh-CN" dirty="0"/>
              <a:t>IPv4 </a:t>
            </a:r>
            <a:r>
              <a:rPr lang="zh-CN" altLang="en-US" dirty="0"/>
              <a:t>分组，并且能够为 </a:t>
            </a:r>
            <a:r>
              <a:rPr lang="en-US" altLang="zh-CN" dirty="0"/>
              <a:t>IPv4 </a:t>
            </a:r>
            <a:r>
              <a:rPr lang="zh-CN" altLang="en-US" dirty="0"/>
              <a:t>分组选择路由</a:t>
            </a:r>
          </a:p>
          <a:p>
            <a:r>
              <a:rPr lang="zh-CN" altLang="en-US" dirty="0"/>
              <a:t>两种过渡策略：</a:t>
            </a:r>
          </a:p>
          <a:p>
            <a:pPr lvl="1"/>
            <a:r>
              <a:rPr lang="zh-CN" altLang="en-US" dirty="0"/>
              <a:t>使用双协议栈</a:t>
            </a:r>
          </a:p>
          <a:p>
            <a:pPr lvl="1"/>
            <a:r>
              <a:rPr lang="zh-CN" altLang="en-US" dirty="0"/>
              <a:t>使用隧道技术</a:t>
            </a:r>
          </a:p>
          <a:p>
            <a:endParaRPr lang="zh-CN" altLang="en-US" dirty="0"/>
          </a:p>
        </p:txBody>
      </p:sp>
    </p:spTree>
    <p:extLst>
      <p:ext uri="{BB962C8B-B14F-4D97-AF65-F5344CB8AC3E}">
        <p14:creationId xmlns:p14="http://schemas.microsoft.com/office/powerpoint/2010/main" val="79617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7"/>
          <p:cNvSpPr>
            <a:spLocks noChangeArrowheads="1"/>
          </p:cNvSpPr>
          <p:nvPr/>
        </p:nvSpPr>
        <p:spPr bwMode="auto">
          <a:xfrm>
            <a:off x="3042946" y="1321524"/>
            <a:ext cx="3097212" cy="1584325"/>
          </a:xfrm>
          <a:prstGeom prst="rect">
            <a:avLst/>
          </a:prstGeom>
          <a:solidFill>
            <a:schemeClr val="bg1"/>
          </a:solidFill>
          <a:ln w="28575">
            <a:solidFill>
              <a:schemeClr val="tx1"/>
            </a:solidFill>
            <a:miter lim="800000"/>
            <a:headEnd/>
            <a:tailEnd/>
          </a:ln>
          <a:effectLst/>
        </p:spPr>
        <p:txBody>
          <a:bodyPr wrap="none" anchor="ctr"/>
          <a:lstStyle/>
          <a:p>
            <a:pPr>
              <a:defRPr/>
            </a:pPr>
            <a:endParaRPr lang="zh-CN" altLang="en-US" b="1">
              <a:latin typeface="微软雅黑" panose="020B0503020204020204" pitchFamily="34" charset="-122"/>
              <a:ea typeface="微软雅黑" panose="020B0503020204020204" pitchFamily="34" charset="-122"/>
            </a:endParaRPr>
          </a:p>
        </p:txBody>
      </p:sp>
      <p:sp>
        <p:nvSpPr>
          <p:cNvPr id="6" name="Line 89"/>
          <p:cNvSpPr>
            <a:spLocks noChangeShapeType="1"/>
          </p:cNvSpPr>
          <p:nvPr/>
        </p:nvSpPr>
        <p:spPr bwMode="auto">
          <a:xfrm>
            <a:off x="3042946" y="204224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7" name="Text Box 90"/>
          <p:cNvSpPr txBox="1">
            <a:spLocks noChangeArrowheads="1"/>
          </p:cNvSpPr>
          <p:nvPr/>
        </p:nvSpPr>
        <p:spPr bwMode="auto">
          <a:xfrm>
            <a:off x="3395371" y="1704111"/>
            <a:ext cx="80010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运输层</a:t>
            </a:r>
          </a:p>
        </p:txBody>
      </p:sp>
      <p:sp>
        <p:nvSpPr>
          <p:cNvPr id="8" name="Line 89"/>
          <p:cNvSpPr>
            <a:spLocks noChangeShapeType="1"/>
          </p:cNvSpPr>
          <p:nvPr/>
        </p:nvSpPr>
        <p:spPr bwMode="auto">
          <a:xfrm>
            <a:off x="3042946" y="246769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cxnSp>
        <p:nvCxnSpPr>
          <p:cNvPr id="9" name="直接连接符 69"/>
          <p:cNvCxnSpPr>
            <a:cxnSpLocks noChangeShapeType="1"/>
          </p:cNvCxnSpPr>
          <p:nvPr/>
        </p:nvCxnSpPr>
        <p:spPr bwMode="auto">
          <a:xfrm>
            <a:off x="4593933" y="2048599"/>
            <a:ext cx="1588" cy="4381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10" name="Rectangle 47"/>
          <p:cNvSpPr>
            <a:spLocks noChangeArrowheads="1"/>
          </p:cNvSpPr>
          <p:nvPr/>
        </p:nvSpPr>
        <p:spPr bwMode="auto">
          <a:xfrm>
            <a:off x="3149308" y="2110511"/>
            <a:ext cx="1360488" cy="271463"/>
          </a:xfrm>
          <a:prstGeom prst="rect">
            <a:avLst/>
          </a:prstGeom>
          <a:solidFill>
            <a:srgbClr val="00B0F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IPv4</a:t>
            </a:r>
            <a:endParaRPr lang="zh-CN" altLang="en-US" sz="1600" b="1" dirty="0">
              <a:latin typeface="微软雅黑" panose="020B0503020204020204" pitchFamily="34" charset="-122"/>
              <a:ea typeface="微软雅黑" panose="020B0503020204020204" pitchFamily="34" charset="-122"/>
            </a:endParaRPr>
          </a:p>
        </p:txBody>
      </p:sp>
      <p:sp>
        <p:nvSpPr>
          <p:cNvPr id="11" name="Rectangle 47"/>
          <p:cNvSpPr>
            <a:spLocks noChangeArrowheads="1"/>
          </p:cNvSpPr>
          <p:nvPr/>
        </p:nvSpPr>
        <p:spPr bwMode="auto">
          <a:xfrm>
            <a:off x="4700296" y="2113686"/>
            <a:ext cx="1358900" cy="273050"/>
          </a:xfrm>
          <a:prstGeom prst="rect">
            <a:avLst/>
          </a:prstGeom>
          <a:solidFill>
            <a:srgbClr val="00B05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IPv6</a:t>
            </a:r>
            <a:endParaRPr lang="zh-CN" altLang="en-US" sz="1600" b="1" dirty="0">
              <a:latin typeface="微软雅黑" panose="020B0503020204020204" pitchFamily="34" charset="-122"/>
              <a:ea typeface="微软雅黑" panose="020B0503020204020204" pitchFamily="34" charset="-122"/>
            </a:endParaRPr>
          </a:p>
        </p:txBody>
      </p:sp>
      <p:sp>
        <p:nvSpPr>
          <p:cNvPr id="12" name="Text Box 90"/>
          <p:cNvSpPr txBox="1">
            <a:spLocks noChangeArrowheads="1"/>
          </p:cNvSpPr>
          <p:nvPr/>
        </p:nvSpPr>
        <p:spPr bwMode="auto">
          <a:xfrm>
            <a:off x="2989980" y="2545486"/>
            <a:ext cx="141605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链路层和以下</a:t>
            </a:r>
          </a:p>
        </p:txBody>
      </p:sp>
      <p:sp>
        <p:nvSpPr>
          <p:cNvPr id="13" name="Line 89"/>
          <p:cNvSpPr>
            <a:spLocks noChangeShapeType="1"/>
          </p:cNvSpPr>
          <p:nvPr/>
        </p:nvSpPr>
        <p:spPr bwMode="auto">
          <a:xfrm>
            <a:off x="3042946" y="1681886"/>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Text Box 90"/>
          <p:cNvSpPr txBox="1">
            <a:spLocks noChangeArrowheads="1"/>
          </p:cNvSpPr>
          <p:nvPr/>
        </p:nvSpPr>
        <p:spPr bwMode="auto">
          <a:xfrm>
            <a:off x="3395371" y="1321524"/>
            <a:ext cx="80010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应用层</a:t>
            </a:r>
          </a:p>
        </p:txBody>
      </p:sp>
      <p:sp>
        <p:nvSpPr>
          <p:cNvPr id="15" name="Text Box 18"/>
          <p:cNvSpPr txBox="1">
            <a:spLocks noChangeArrowheads="1"/>
          </p:cNvSpPr>
          <p:nvPr/>
        </p:nvSpPr>
        <p:spPr bwMode="auto">
          <a:xfrm>
            <a:off x="200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到 </a:t>
            </a:r>
            <a:r>
              <a:rPr lang="en-US" altLang="zh-CN" sz="1600" b="1" dirty="0">
                <a:latin typeface="微软雅黑" panose="020B0503020204020204" pitchFamily="34" charset="-122"/>
                <a:ea typeface="微软雅黑" panose="020B0503020204020204" pitchFamily="34" charset="-122"/>
              </a:rPr>
              <a:t>IPv4 </a:t>
            </a:r>
            <a:r>
              <a:rPr lang="zh-CN" altLang="en-US" sz="1600" b="1" dirty="0">
                <a:latin typeface="微软雅黑" panose="020B0503020204020204" pitchFamily="34" charset="-122"/>
                <a:ea typeface="微软雅黑" panose="020B0503020204020204" pitchFamily="34" charset="-122"/>
              </a:rPr>
              <a:t>系统</a:t>
            </a:r>
            <a:endParaRPr lang="en-US" altLang="zh-CN" sz="1600" b="1" dirty="0">
              <a:latin typeface="微软雅黑" panose="020B0503020204020204" pitchFamily="34" charset="-122"/>
              <a:ea typeface="微软雅黑" panose="020B0503020204020204" pitchFamily="34" charset="-122"/>
            </a:endParaRPr>
          </a:p>
        </p:txBody>
      </p:sp>
      <p:sp>
        <p:nvSpPr>
          <p:cNvPr id="16" name="Text Box 18"/>
          <p:cNvSpPr txBox="1">
            <a:spLocks noChangeArrowheads="1"/>
          </p:cNvSpPr>
          <p:nvPr/>
        </p:nvSpPr>
        <p:spPr bwMode="auto">
          <a:xfrm>
            <a:off x="581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a:latin typeface="微软雅黑" panose="020B0503020204020204" pitchFamily="34" charset="-122"/>
                <a:ea typeface="微软雅黑" panose="020B0503020204020204" pitchFamily="34" charset="-122"/>
              </a:rPr>
              <a:t>到 </a:t>
            </a:r>
            <a:r>
              <a:rPr lang="en-US" altLang="zh-CN" sz="1600" b="1">
                <a:latin typeface="微软雅黑" panose="020B0503020204020204" pitchFamily="34" charset="-122"/>
                <a:ea typeface="微软雅黑" panose="020B0503020204020204" pitchFamily="34" charset="-122"/>
              </a:rPr>
              <a:t>IPv6 </a:t>
            </a:r>
            <a:r>
              <a:rPr lang="zh-CN" altLang="en-US" sz="1600" b="1">
                <a:latin typeface="微软雅黑" panose="020B0503020204020204" pitchFamily="34" charset="-122"/>
                <a:ea typeface="微软雅黑" panose="020B0503020204020204" pitchFamily="34" charset="-122"/>
              </a:rPr>
              <a:t>系统</a:t>
            </a:r>
            <a:endParaRPr lang="en-US" altLang="zh-CN" sz="1600" b="1">
              <a:latin typeface="微软雅黑" panose="020B0503020204020204" pitchFamily="34" charset="-122"/>
              <a:ea typeface="微软雅黑" panose="020B0503020204020204" pitchFamily="34" charset="-122"/>
            </a:endParaRPr>
          </a:p>
        </p:txBody>
      </p:sp>
      <p:sp>
        <p:nvSpPr>
          <p:cNvPr id="17" name="任意多边形 87"/>
          <p:cNvSpPr>
            <a:spLocks/>
          </p:cNvSpPr>
          <p:nvPr/>
        </p:nvSpPr>
        <p:spPr bwMode="auto">
          <a:xfrm>
            <a:off x="4801896" y="1470749"/>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8" name="任意多边形 88"/>
          <p:cNvSpPr>
            <a:spLocks/>
          </p:cNvSpPr>
          <p:nvPr/>
        </p:nvSpPr>
        <p:spPr bwMode="auto">
          <a:xfrm flipH="1">
            <a:off x="3269958" y="1465986"/>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0" name="矩形 19"/>
          <p:cNvSpPr/>
          <p:nvPr/>
        </p:nvSpPr>
        <p:spPr>
          <a:xfrm>
            <a:off x="2305552" y="3497228"/>
            <a:ext cx="4896480" cy="338554"/>
          </a:xfrm>
          <a:prstGeom prst="rect">
            <a:avLst/>
          </a:prstGeom>
        </p:spPr>
        <p:txBody>
          <a:bodyPr wrap="square">
            <a:spAutoFit/>
          </a:bodyPr>
          <a:lstStyle/>
          <a:p>
            <a:pPr algn="ctr">
              <a:buClr>
                <a:srgbClr val="0070C0"/>
              </a:buClr>
            </a:pPr>
            <a:r>
              <a:rPr lang="en-US" altLang="zh-CN" sz="1600" b="1" dirty="0">
                <a:latin typeface="微软雅黑" pitchFamily="34" charset="-122"/>
                <a:ea typeface="微软雅黑" pitchFamily="34" charset="-122"/>
              </a:rPr>
              <a:t>IPv6/IPv4 </a:t>
            </a:r>
            <a:r>
              <a:rPr lang="zh-CN" altLang="en-US" sz="1600" b="1" dirty="0">
                <a:latin typeface="微软雅黑" pitchFamily="34" charset="-122"/>
                <a:ea typeface="微软雅黑" pitchFamily="34" charset="-122"/>
              </a:rPr>
              <a:t>双协议栈主机（或路由器）</a:t>
            </a:r>
            <a:endParaRPr lang="en-US" altLang="zh-CN" sz="1600" b="1" dirty="0">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358C9699-AC70-37A5-B57C-6200998FBE14}"/>
              </a:ext>
            </a:extLst>
          </p:cNvPr>
          <p:cNvSpPr>
            <a:spLocks noGrp="1"/>
          </p:cNvSpPr>
          <p:nvPr>
            <p:ph type="title"/>
          </p:nvPr>
        </p:nvSpPr>
        <p:spPr>
          <a:xfrm>
            <a:off x="486000" y="550723"/>
            <a:ext cx="8172000" cy="338554"/>
          </a:xfrm>
        </p:spPr>
        <p:txBody>
          <a:bodyPr/>
          <a:lstStyle/>
          <a:p>
            <a:r>
              <a:rPr lang="zh-CN" altLang="en-US" dirty="0"/>
              <a:t>双协议栈</a:t>
            </a:r>
          </a:p>
        </p:txBody>
      </p:sp>
    </p:spTree>
    <p:extLst>
      <p:ext uri="{BB962C8B-B14F-4D97-AF65-F5344CB8AC3E}">
        <p14:creationId xmlns:p14="http://schemas.microsoft.com/office/powerpoint/2010/main" val="24137191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3"/>
          <p:cNvGrpSpPr>
            <a:grpSpLocks/>
          </p:cNvGrpSpPr>
          <p:nvPr/>
        </p:nvGrpSpPr>
        <p:grpSpPr bwMode="auto">
          <a:xfrm>
            <a:off x="3194398" y="1277486"/>
            <a:ext cx="2864834" cy="802708"/>
            <a:chOff x="912" y="768"/>
            <a:chExt cx="2400" cy="1584"/>
          </a:xfrm>
          <a:solidFill>
            <a:srgbClr val="3399FF"/>
          </a:solidFill>
        </p:grpSpPr>
        <p:sp>
          <p:nvSpPr>
            <p:cNvPr id="6" name="Oval 4"/>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7" name="Oval 5"/>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8" name="Oval 6"/>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9" name="Oval 7"/>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0" name="Oval 8"/>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 name="Oval 9"/>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 name="Oval 10"/>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 name="Oval 11"/>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 name="Oval 12"/>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5" name="Group 13"/>
            <p:cNvGrpSpPr>
              <a:grpSpLocks/>
            </p:cNvGrpSpPr>
            <p:nvPr/>
          </p:nvGrpSpPr>
          <p:grpSpPr bwMode="auto">
            <a:xfrm>
              <a:off x="912" y="768"/>
              <a:ext cx="2386" cy="1553"/>
              <a:chOff x="912" y="768"/>
              <a:chExt cx="2386" cy="1553"/>
            </a:xfrm>
            <a:grpFill/>
          </p:grpSpPr>
          <p:sp>
            <p:nvSpPr>
              <p:cNvPr id="16" name="Oval 14"/>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 name="Oval 15"/>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 name="Oval 16"/>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 name="Oval 17"/>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0" name="Oval 18"/>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1" name="Oval 19"/>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2" name="Oval 20"/>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3" name="Oval 21"/>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4" name="Oval 22"/>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25" name="Freeform 23"/>
          <p:cNvSpPr>
            <a:spLocks/>
          </p:cNvSpPr>
          <p:nvPr/>
        </p:nvSpPr>
        <p:spPr bwMode="auto">
          <a:xfrm flipH="1">
            <a:off x="6087429" y="2181184"/>
            <a:ext cx="491759"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6" name="Freeform 24"/>
          <p:cNvSpPr>
            <a:spLocks/>
          </p:cNvSpPr>
          <p:nvPr/>
        </p:nvSpPr>
        <p:spPr bwMode="auto">
          <a:xfrm>
            <a:off x="2559398" y="2185348"/>
            <a:ext cx="649663"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7" name="Line 25"/>
          <p:cNvSpPr>
            <a:spLocks noChangeShapeType="1"/>
          </p:cNvSpPr>
          <p:nvPr/>
        </p:nvSpPr>
        <p:spPr bwMode="auto">
          <a:xfrm>
            <a:off x="1814992" y="1773062"/>
            <a:ext cx="573869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pic>
        <p:nvPicPr>
          <p:cNvPr id="29" name="Picture 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664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0" name="Text Box 28"/>
          <p:cNvSpPr txBox="1">
            <a:spLocks noChangeArrowheads="1"/>
          </p:cNvSpPr>
          <p:nvPr/>
        </p:nvSpPr>
        <p:spPr bwMode="auto">
          <a:xfrm>
            <a:off x="2588859"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pic>
        <p:nvPicPr>
          <p:cNvPr id="31"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89559"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2" name="Picture 3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64053"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3"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0245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5" name="Text Box 33"/>
          <p:cNvSpPr txBox="1">
            <a:spLocks noChangeArrowheads="1"/>
          </p:cNvSpPr>
          <p:nvPr/>
        </p:nvSpPr>
        <p:spPr bwMode="auto">
          <a:xfrm>
            <a:off x="1484142"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6" name="Text Box 34"/>
          <p:cNvSpPr txBox="1">
            <a:spLocks noChangeArrowheads="1"/>
          </p:cNvSpPr>
          <p:nvPr/>
        </p:nvSpPr>
        <p:spPr bwMode="auto">
          <a:xfrm>
            <a:off x="7234950"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7" name="Text Box 35"/>
          <p:cNvSpPr txBox="1">
            <a:spLocks noChangeArrowheads="1"/>
          </p:cNvSpPr>
          <p:nvPr/>
        </p:nvSpPr>
        <p:spPr bwMode="auto">
          <a:xfrm>
            <a:off x="4334692" y="1291831"/>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sp>
        <p:nvSpPr>
          <p:cNvPr id="38" name="Text Box 36"/>
          <p:cNvSpPr txBox="1">
            <a:spLocks noChangeArrowheads="1"/>
          </p:cNvSpPr>
          <p:nvPr/>
        </p:nvSpPr>
        <p:spPr bwMode="auto">
          <a:xfrm>
            <a:off x="1294888" y="1565536"/>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39" name="Text Box 37"/>
          <p:cNvSpPr txBox="1">
            <a:spLocks noChangeArrowheads="1"/>
          </p:cNvSpPr>
          <p:nvPr/>
        </p:nvSpPr>
        <p:spPr bwMode="auto">
          <a:xfrm>
            <a:off x="2830091" y="1558247"/>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40" name="Text Box 38"/>
          <p:cNvSpPr txBox="1">
            <a:spLocks noChangeArrowheads="1"/>
          </p:cNvSpPr>
          <p:nvPr/>
        </p:nvSpPr>
        <p:spPr bwMode="auto">
          <a:xfrm>
            <a:off x="3753831" y="1550960"/>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41" name="Text Box 39"/>
          <p:cNvSpPr txBox="1">
            <a:spLocks noChangeArrowheads="1"/>
          </p:cNvSpPr>
          <p:nvPr/>
        </p:nvSpPr>
        <p:spPr bwMode="auto">
          <a:xfrm>
            <a:off x="4739169" y="154367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42" name="Text Box 40"/>
          <p:cNvSpPr txBox="1">
            <a:spLocks noChangeArrowheads="1"/>
          </p:cNvSpPr>
          <p:nvPr/>
        </p:nvSpPr>
        <p:spPr bwMode="auto">
          <a:xfrm>
            <a:off x="6175205" y="1545620"/>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43" name="Text Box 41"/>
          <p:cNvSpPr txBox="1">
            <a:spLocks noChangeArrowheads="1"/>
          </p:cNvSpPr>
          <p:nvPr/>
        </p:nvSpPr>
        <p:spPr bwMode="auto">
          <a:xfrm>
            <a:off x="7109090" y="152909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44" name="Rectangle 42"/>
          <p:cNvSpPr>
            <a:spLocks noChangeArrowheads="1"/>
          </p:cNvSpPr>
          <p:nvPr/>
        </p:nvSpPr>
        <p:spPr bwMode="auto">
          <a:xfrm>
            <a:off x="1640170"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5" name="Rectangle 43"/>
          <p:cNvSpPr>
            <a:spLocks noChangeArrowheads="1"/>
          </p:cNvSpPr>
          <p:nvPr/>
        </p:nvSpPr>
        <p:spPr bwMode="auto">
          <a:xfrm>
            <a:off x="1663856" y="2193678"/>
            <a:ext cx="897798"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7" name="Rectangle 45"/>
          <p:cNvSpPr>
            <a:spLocks noChangeArrowheads="1"/>
          </p:cNvSpPr>
          <p:nvPr/>
        </p:nvSpPr>
        <p:spPr bwMode="auto">
          <a:xfrm>
            <a:off x="6579188"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6"/>
          <p:cNvSpPr>
            <a:spLocks noChangeArrowheads="1"/>
          </p:cNvSpPr>
          <p:nvPr/>
        </p:nvSpPr>
        <p:spPr bwMode="auto">
          <a:xfrm>
            <a:off x="6592722" y="2193678"/>
            <a:ext cx="906822"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50" name="Line 48"/>
          <p:cNvSpPr>
            <a:spLocks noChangeShapeType="1"/>
          </p:cNvSpPr>
          <p:nvPr/>
        </p:nvSpPr>
        <p:spPr bwMode="auto">
          <a:xfrm>
            <a:off x="176085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49"/>
          <p:cNvSpPr>
            <a:spLocks noChangeShapeType="1"/>
          </p:cNvSpPr>
          <p:nvPr/>
        </p:nvSpPr>
        <p:spPr bwMode="auto">
          <a:xfrm>
            <a:off x="327673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2" name="Line 50"/>
          <p:cNvSpPr>
            <a:spLocks noChangeShapeType="1"/>
          </p:cNvSpPr>
          <p:nvPr/>
        </p:nvSpPr>
        <p:spPr bwMode="auto">
          <a:xfrm>
            <a:off x="5279862"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3" name="Line 51"/>
          <p:cNvSpPr>
            <a:spLocks noChangeShapeType="1"/>
          </p:cNvSpPr>
          <p:nvPr/>
        </p:nvSpPr>
        <p:spPr bwMode="auto">
          <a:xfrm>
            <a:off x="674160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4" name="Text Box 52"/>
          <p:cNvSpPr txBox="1">
            <a:spLocks noChangeArrowheads="1"/>
          </p:cNvSpPr>
          <p:nvPr/>
        </p:nvSpPr>
        <p:spPr bwMode="auto">
          <a:xfrm>
            <a:off x="5838303"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55" name="Text Box 53"/>
          <p:cNvSpPr txBox="1">
            <a:spLocks noChangeArrowheads="1"/>
          </p:cNvSpPr>
          <p:nvPr/>
        </p:nvSpPr>
        <p:spPr bwMode="auto">
          <a:xfrm>
            <a:off x="4486957" y="2358176"/>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56" name="Text Box 54"/>
          <p:cNvSpPr txBox="1">
            <a:spLocks noChangeArrowheads="1"/>
          </p:cNvSpPr>
          <p:nvPr/>
        </p:nvSpPr>
        <p:spPr bwMode="auto">
          <a:xfrm>
            <a:off x="1607054"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grpSp>
        <p:nvGrpSpPr>
          <p:cNvPr id="57" name="组合 56"/>
          <p:cNvGrpSpPr/>
          <p:nvPr/>
        </p:nvGrpSpPr>
        <p:grpSpPr>
          <a:xfrm>
            <a:off x="3132831" y="1885536"/>
            <a:ext cx="3031761" cy="1936219"/>
            <a:chOff x="2822251" y="2637309"/>
            <a:chExt cx="4622801" cy="2590800"/>
          </a:xfrm>
        </p:grpSpPr>
        <p:sp>
          <p:nvSpPr>
            <p:cNvPr id="58" name="Line 55"/>
            <p:cNvSpPr>
              <a:spLocks noChangeShapeType="1"/>
            </p:cNvSpPr>
            <p:nvPr/>
          </p:nvSpPr>
          <p:spPr bwMode="auto">
            <a:xfrm>
              <a:off x="2822251"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9" name="Line 56"/>
            <p:cNvSpPr>
              <a:spLocks noChangeShapeType="1"/>
            </p:cNvSpPr>
            <p:nvPr/>
          </p:nvSpPr>
          <p:spPr bwMode="auto">
            <a:xfrm>
              <a:off x="7445052"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60" name="Text Box 57"/>
          <p:cNvSpPr txBox="1">
            <a:spLocks noChangeArrowheads="1"/>
          </p:cNvSpPr>
          <p:nvPr/>
        </p:nvSpPr>
        <p:spPr bwMode="auto">
          <a:xfrm>
            <a:off x="6556223"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IPv6 </a:t>
            </a:r>
            <a:r>
              <a:rPr kumimoji="1" lang="zh-CN" altLang="en-US" sz="1200" b="1">
                <a:latin typeface="微软雅黑" pitchFamily="34" charset="-122"/>
                <a:ea typeface="微软雅黑" pitchFamily="34" charset="-122"/>
              </a:rPr>
              <a:t>数据报</a:t>
            </a:r>
          </a:p>
        </p:txBody>
      </p:sp>
      <p:sp>
        <p:nvSpPr>
          <p:cNvPr id="61" name="Line 58"/>
          <p:cNvSpPr>
            <a:spLocks noChangeShapeType="1"/>
          </p:cNvSpPr>
          <p:nvPr/>
        </p:nvSpPr>
        <p:spPr bwMode="auto">
          <a:xfrm>
            <a:off x="1652577"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2" name="Line 59"/>
          <p:cNvSpPr>
            <a:spLocks noChangeShapeType="1"/>
          </p:cNvSpPr>
          <p:nvPr/>
        </p:nvSpPr>
        <p:spPr bwMode="auto">
          <a:xfrm>
            <a:off x="6579188"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3" name="Rectangle 60"/>
          <p:cNvSpPr>
            <a:spLocks noChangeArrowheads="1"/>
          </p:cNvSpPr>
          <p:nvPr/>
        </p:nvSpPr>
        <p:spPr bwMode="auto">
          <a:xfrm>
            <a:off x="3210189"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4" name="Rectangle 61"/>
          <p:cNvSpPr>
            <a:spLocks noChangeArrowheads="1"/>
          </p:cNvSpPr>
          <p:nvPr/>
        </p:nvSpPr>
        <p:spPr bwMode="auto">
          <a:xfrm>
            <a:off x="3219212" y="2186390"/>
            <a:ext cx="906822"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66" name="Line 63"/>
          <p:cNvSpPr>
            <a:spLocks noChangeShapeType="1"/>
          </p:cNvSpPr>
          <p:nvPr/>
        </p:nvSpPr>
        <p:spPr bwMode="auto">
          <a:xfrm>
            <a:off x="3222596"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7" name="Text Box 64"/>
          <p:cNvSpPr txBox="1">
            <a:spLocks noChangeArrowheads="1"/>
          </p:cNvSpPr>
          <p:nvPr/>
        </p:nvSpPr>
        <p:spPr bwMode="auto">
          <a:xfrm>
            <a:off x="3308112"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68" name="Rectangle 65"/>
          <p:cNvSpPr>
            <a:spLocks noChangeArrowheads="1"/>
          </p:cNvSpPr>
          <p:nvPr/>
        </p:nvSpPr>
        <p:spPr bwMode="auto">
          <a:xfrm>
            <a:off x="5159178"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9" name="Rectangle 66"/>
          <p:cNvSpPr>
            <a:spLocks noChangeArrowheads="1"/>
          </p:cNvSpPr>
          <p:nvPr/>
        </p:nvSpPr>
        <p:spPr bwMode="auto">
          <a:xfrm>
            <a:off x="5174968" y="2190554"/>
            <a:ext cx="896670"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1" name="Line 68"/>
          <p:cNvSpPr>
            <a:spLocks noChangeShapeType="1"/>
          </p:cNvSpPr>
          <p:nvPr/>
        </p:nvSpPr>
        <p:spPr bwMode="auto">
          <a:xfrm>
            <a:off x="5171585"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2" name="Text Box 69"/>
          <p:cNvSpPr txBox="1">
            <a:spLocks noChangeArrowheads="1"/>
          </p:cNvSpPr>
          <p:nvPr/>
        </p:nvSpPr>
        <p:spPr bwMode="auto">
          <a:xfrm>
            <a:off x="5274685"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73" name="Line 70"/>
          <p:cNvSpPr>
            <a:spLocks noChangeShapeType="1"/>
          </p:cNvSpPr>
          <p:nvPr/>
        </p:nvSpPr>
        <p:spPr bwMode="auto">
          <a:xfrm>
            <a:off x="3132831" y="3699266"/>
            <a:ext cx="3031761"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4" name="Text Box 71"/>
          <p:cNvSpPr txBox="1">
            <a:spLocks noChangeArrowheads="1"/>
          </p:cNvSpPr>
          <p:nvPr/>
        </p:nvSpPr>
        <p:spPr bwMode="auto">
          <a:xfrm>
            <a:off x="4265230" y="3579536"/>
            <a:ext cx="873957" cy="276999"/>
          </a:xfrm>
          <a:prstGeom prst="rect">
            <a:avLst/>
          </a:prstGeom>
          <a:solidFill>
            <a:srgbClr val="C3E3F9"/>
          </a:solidFill>
          <a:ln>
            <a:noFill/>
          </a:ln>
          <a:effectLst/>
        </p:spPr>
        <p:txBody>
          <a:bodyPr wrap="none">
            <a:spAutoFit/>
          </a:bodyPr>
          <a:lstStyle/>
          <a:p>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a:t>
            </a:r>
          </a:p>
        </p:txBody>
      </p:sp>
      <p:sp>
        <p:nvSpPr>
          <p:cNvPr id="75" name="矩形 74"/>
          <p:cNvSpPr/>
          <p:nvPr/>
        </p:nvSpPr>
        <p:spPr>
          <a:xfrm>
            <a:off x="2471888" y="4054943"/>
            <a:ext cx="4460639" cy="338554"/>
          </a:xfrm>
          <a:prstGeom prst="rect">
            <a:avLst/>
          </a:prstGeom>
        </p:spPr>
        <p:txBody>
          <a:bodyPr wrap="square">
            <a:spAutoFit/>
          </a:bodyPr>
          <a:lstStyle/>
          <a:p>
            <a:pPr algn="ctr"/>
            <a:r>
              <a:rPr lang="zh-CN" altLang="zh-CN" sz="1600" b="1" dirty="0">
                <a:latin typeface="微软雅黑" pitchFamily="34" charset="-122"/>
                <a:ea typeface="微软雅黑" pitchFamily="34" charset="-122"/>
              </a:rPr>
              <a:t>使用双协议栈进行从</a:t>
            </a:r>
            <a:r>
              <a:rPr lang="en-US" altLang="zh-CN" sz="1600" b="1" dirty="0">
                <a:latin typeface="微软雅黑" pitchFamily="34" charset="-122"/>
                <a:ea typeface="微软雅黑" pitchFamily="34" charset="-122"/>
              </a:rPr>
              <a:t> IPv4 </a:t>
            </a:r>
            <a:r>
              <a:rPr lang="zh-CN" altLang="zh-CN" sz="1600" b="1" dirty="0">
                <a:latin typeface="微软雅黑" pitchFamily="34" charset="-122"/>
                <a:ea typeface="微软雅黑" pitchFamily="34" charset="-122"/>
              </a:rPr>
              <a:t>到</a:t>
            </a:r>
            <a:r>
              <a:rPr lang="en-US" altLang="zh-CN" sz="1600" b="1" dirty="0">
                <a:latin typeface="微软雅黑" pitchFamily="34" charset="-122"/>
                <a:ea typeface="微软雅黑" pitchFamily="34" charset="-122"/>
              </a:rPr>
              <a:t> IPv6 </a:t>
            </a:r>
            <a:r>
              <a:rPr lang="zh-CN" altLang="zh-CN" sz="1600" b="1" dirty="0">
                <a:latin typeface="微软雅黑" pitchFamily="34" charset="-122"/>
                <a:ea typeface="微软雅黑" pitchFamily="34" charset="-122"/>
              </a:rPr>
              <a:t>的过渡</a:t>
            </a:r>
            <a:endParaRPr lang="zh-CN" altLang="en-US" sz="1600" b="1" dirty="0">
              <a:latin typeface="微软雅黑" pitchFamily="34" charset="-122"/>
              <a:ea typeface="微软雅黑" pitchFamily="34" charset="-122"/>
            </a:endParaRPr>
          </a:p>
        </p:txBody>
      </p:sp>
      <p:sp>
        <p:nvSpPr>
          <p:cNvPr id="76" name="Text Box 64"/>
          <p:cNvSpPr txBox="1">
            <a:spLocks noChangeArrowheads="1"/>
          </p:cNvSpPr>
          <p:nvPr/>
        </p:nvSpPr>
        <p:spPr bwMode="auto">
          <a:xfrm>
            <a:off x="3168063"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77" name="Text Box 65"/>
          <p:cNvSpPr txBox="1">
            <a:spLocks noChangeArrowheads="1"/>
          </p:cNvSpPr>
          <p:nvPr/>
        </p:nvSpPr>
        <p:spPr bwMode="auto">
          <a:xfrm>
            <a:off x="5110286"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IPv4 </a:t>
            </a:r>
            <a:r>
              <a:rPr kumimoji="1" lang="zh-CN" altLang="en-US" sz="1200" b="1">
                <a:latin typeface="微软雅黑" pitchFamily="34" charset="-122"/>
                <a:ea typeface="微软雅黑" pitchFamily="34" charset="-122"/>
              </a:rPr>
              <a:t>数据报</a:t>
            </a:r>
          </a:p>
        </p:txBody>
      </p:sp>
      <p:sp>
        <p:nvSpPr>
          <p:cNvPr id="79" name="Text Box 44"/>
          <p:cNvSpPr txBox="1">
            <a:spLocks noChangeArrowheads="1"/>
          </p:cNvSpPr>
          <p:nvPr/>
        </p:nvSpPr>
        <p:spPr bwMode="auto">
          <a:xfrm>
            <a:off x="1587417" y="2180142"/>
            <a:ext cx="1065065"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0" name="Text Box 47"/>
          <p:cNvSpPr txBox="1">
            <a:spLocks noChangeArrowheads="1"/>
          </p:cNvSpPr>
          <p:nvPr/>
        </p:nvSpPr>
        <p:spPr bwMode="auto">
          <a:xfrm>
            <a:off x="6526436" y="2180142"/>
            <a:ext cx="1071287"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endParaRPr kumimoji="1" lang="zh-CN" altLang="en-US"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1" name="Text Box 62"/>
          <p:cNvSpPr txBox="1">
            <a:spLocks noChangeArrowheads="1"/>
          </p:cNvSpPr>
          <p:nvPr/>
        </p:nvSpPr>
        <p:spPr bwMode="auto">
          <a:xfrm>
            <a:off x="3157437" y="2180142"/>
            <a:ext cx="105504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sp>
        <p:nvSpPr>
          <p:cNvPr id="82" name="Text Box 67"/>
          <p:cNvSpPr txBox="1">
            <a:spLocks noChangeArrowheads="1"/>
          </p:cNvSpPr>
          <p:nvPr/>
        </p:nvSpPr>
        <p:spPr bwMode="auto">
          <a:xfrm>
            <a:off x="5106427" y="2180142"/>
            <a:ext cx="1049288"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59727" y="159298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36352" y="1592982"/>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28" name="标题 27">
            <a:extLst>
              <a:ext uri="{FF2B5EF4-FFF2-40B4-BE49-F238E27FC236}">
                <a16:creationId xmlns:a16="http://schemas.microsoft.com/office/drawing/2014/main" id="{4F30AFCF-8E36-B936-368F-7DD025E3051F}"/>
              </a:ext>
            </a:extLst>
          </p:cNvPr>
          <p:cNvSpPr>
            <a:spLocks noGrp="1"/>
          </p:cNvSpPr>
          <p:nvPr>
            <p:ph type="title"/>
          </p:nvPr>
        </p:nvSpPr>
        <p:spPr>
          <a:xfrm>
            <a:off x="486000" y="550723"/>
            <a:ext cx="8172000" cy="338554"/>
          </a:xfrm>
        </p:spPr>
        <p:txBody>
          <a:bodyPr/>
          <a:lstStyle/>
          <a:p>
            <a:r>
              <a:rPr lang="zh-CN" altLang="en-US" dirty="0"/>
              <a:t>双协议栈</a:t>
            </a:r>
          </a:p>
        </p:txBody>
      </p:sp>
    </p:spTree>
    <p:extLst>
      <p:ext uri="{BB962C8B-B14F-4D97-AF65-F5344CB8AC3E}">
        <p14:creationId xmlns:p14="http://schemas.microsoft.com/office/powerpoint/2010/main" val="1063593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 name="矩形 68"/>
          <p:cNvSpPr/>
          <p:nvPr/>
        </p:nvSpPr>
        <p:spPr>
          <a:xfrm>
            <a:off x="2412325" y="3969844"/>
            <a:ext cx="4460639"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使用隧道技术进行从 </a:t>
            </a:r>
            <a:r>
              <a:rPr lang="en-US" altLang="zh-CN" sz="1400" b="1" dirty="0">
                <a:latin typeface="微软雅黑" pitchFamily="34" charset="-122"/>
                <a:ea typeface="微软雅黑" pitchFamily="34" charset="-122"/>
              </a:rPr>
              <a:t>IPv4 </a:t>
            </a:r>
            <a:r>
              <a:rPr lang="zh-CN" altLang="en-US" sz="1400" b="1" dirty="0">
                <a:latin typeface="微软雅黑" pitchFamily="34" charset="-122"/>
                <a:ea typeface="微软雅黑" pitchFamily="34" charset="-122"/>
              </a:rPr>
              <a:t>到 </a:t>
            </a:r>
            <a:r>
              <a:rPr lang="en-US" altLang="zh-CN" sz="1400" b="1" dirty="0">
                <a:latin typeface="微软雅黑" pitchFamily="34" charset="-122"/>
                <a:ea typeface="微软雅黑" pitchFamily="34" charset="-122"/>
              </a:rPr>
              <a:t>IPv6 </a:t>
            </a:r>
            <a:r>
              <a:rPr lang="zh-CN" altLang="en-US" sz="1400" b="1" dirty="0">
                <a:latin typeface="微软雅黑" pitchFamily="34" charset="-122"/>
                <a:ea typeface="微软雅黑" pitchFamily="34" charset="-122"/>
              </a:rPr>
              <a:t>的过渡</a:t>
            </a:r>
          </a:p>
        </p:txBody>
      </p:sp>
      <p:grpSp>
        <p:nvGrpSpPr>
          <p:cNvPr id="78" name="Group 23"/>
          <p:cNvGrpSpPr>
            <a:grpSpLocks/>
          </p:cNvGrpSpPr>
          <p:nvPr/>
        </p:nvGrpSpPr>
        <p:grpSpPr bwMode="auto">
          <a:xfrm>
            <a:off x="2917282" y="1265316"/>
            <a:ext cx="3307033" cy="744129"/>
            <a:chOff x="904" y="768"/>
            <a:chExt cx="2569" cy="1584"/>
          </a:xfrm>
          <a:solidFill>
            <a:srgbClr val="3399FF"/>
          </a:solidFill>
          <a:effectLst/>
        </p:grpSpPr>
        <p:sp>
          <p:nvSpPr>
            <p:cNvPr id="79" name="Oval 24"/>
            <p:cNvSpPr>
              <a:spLocks noChangeArrowheads="1"/>
            </p:cNvSpPr>
            <p:nvPr/>
          </p:nvSpPr>
          <p:spPr bwMode="auto">
            <a:xfrm>
              <a:off x="1751" y="799"/>
              <a:ext cx="1026" cy="62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0" name="Oval 25"/>
            <p:cNvSpPr>
              <a:spLocks noChangeArrowheads="1"/>
            </p:cNvSpPr>
            <p:nvPr/>
          </p:nvSpPr>
          <p:spPr bwMode="auto">
            <a:xfrm>
              <a:off x="1172" y="972"/>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1" name="Oval 26"/>
            <p:cNvSpPr>
              <a:spLocks noChangeArrowheads="1"/>
            </p:cNvSpPr>
            <p:nvPr/>
          </p:nvSpPr>
          <p:spPr bwMode="auto">
            <a:xfrm>
              <a:off x="926" y="1364"/>
              <a:ext cx="521" cy="50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2" name="Oval 27"/>
            <p:cNvSpPr>
              <a:spLocks noChangeArrowheads="1"/>
            </p:cNvSpPr>
            <p:nvPr/>
          </p:nvSpPr>
          <p:spPr bwMode="auto">
            <a:xfrm>
              <a:off x="1085" y="1599"/>
              <a:ext cx="796" cy="5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3" name="Oval 28"/>
            <p:cNvSpPr>
              <a:spLocks noChangeArrowheads="1"/>
            </p:cNvSpPr>
            <p:nvPr/>
          </p:nvSpPr>
          <p:spPr bwMode="auto">
            <a:xfrm>
              <a:off x="1664" y="1693"/>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4" name="Oval 29"/>
            <p:cNvSpPr>
              <a:spLocks noChangeArrowheads="1"/>
            </p:cNvSpPr>
            <p:nvPr/>
          </p:nvSpPr>
          <p:spPr bwMode="auto">
            <a:xfrm>
              <a:off x="2445" y="988"/>
              <a:ext cx="751"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5" name="Oval 30"/>
            <p:cNvSpPr>
              <a:spLocks noChangeArrowheads="1"/>
            </p:cNvSpPr>
            <p:nvPr/>
          </p:nvSpPr>
          <p:spPr bwMode="auto">
            <a:xfrm>
              <a:off x="2560" y="1317"/>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6" name="Oval 31"/>
            <p:cNvSpPr>
              <a:spLocks noChangeArrowheads="1"/>
            </p:cNvSpPr>
            <p:nvPr/>
          </p:nvSpPr>
          <p:spPr bwMode="auto">
            <a:xfrm>
              <a:off x="2488" y="1427"/>
              <a:ext cx="752"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7" name="Oval 32"/>
            <p:cNvSpPr>
              <a:spLocks noChangeArrowheads="1"/>
            </p:cNvSpPr>
            <p:nvPr/>
          </p:nvSpPr>
          <p:spPr bwMode="auto">
            <a:xfrm>
              <a:off x="1360" y="1176"/>
              <a:ext cx="1547"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nvGrpSpPr>
            <p:cNvPr id="88" name="Group 33"/>
            <p:cNvGrpSpPr>
              <a:grpSpLocks/>
            </p:cNvGrpSpPr>
            <p:nvPr/>
          </p:nvGrpSpPr>
          <p:grpSpPr bwMode="auto">
            <a:xfrm>
              <a:off x="904" y="768"/>
              <a:ext cx="2569" cy="1553"/>
              <a:chOff x="904" y="768"/>
              <a:chExt cx="2569" cy="1553"/>
            </a:xfrm>
            <a:grpFill/>
          </p:grpSpPr>
          <p:sp>
            <p:nvSpPr>
              <p:cNvPr id="89" name="Oval 34"/>
              <p:cNvSpPr>
                <a:spLocks noChangeArrowheads="1"/>
              </p:cNvSpPr>
              <p:nvPr/>
            </p:nvSpPr>
            <p:spPr bwMode="auto">
              <a:xfrm>
                <a:off x="1736" y="768"/>
                <a:ext cx="1027"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0" name="Oval 35"/>
              <p:cNvSpPr>
                <a:spLocks noChangeArrowheads="1"/>
              </p:cNvSpPr>
              <p:nvPr/>
            </p:nvSpPr>
            <p:spPr bwMode="auto">
              <a:xfrm>
                <a:off x="1158" y="941"/>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1" name="Oval 36"/>
              <p:cNvSpPr>
                <a:spLocks noChangeArrowheads="1"/>
              </p:cNvSpPr>
              <p:nvPr/>
            </p:nvSpPr>
            <p:spPr bwMode="auto">
              <a:xfrm>
                <a:off x="912" y="1333"/>
                <a:ext cx="520" cy="50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2" name="Oval 38"/>
              <p:cNvSpPr>
                <a:spLocks noChangeArrowheads="1"/>
              </p:cNvSpPr>
              <p:nvPr/>
            </p:nvSpPr>
            <p:spPr bwMode="auto">
              <a:xfrm>
                <a:off x="1649" y="1662"/>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3" name="Oval 39"/>
              <p:cNvSpPr>
                <a:spLocks noChangeArrowheads="1"/>
              </p:cNvSpPr>
              <p:nvPr/>
            </p:nvSpPr>
            <p:spPr bwMode="auto">
              <a:xfrm>
                <a:off x="2430" y="95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4" name="Oval 40"/>
              <p:cNvSpPr>
                <a:spLocks noChangeArrowheads="1"/>
              </p:cNvSpPr>
              <p:nvPr/>
            </p:nvSpPr>
            <p:spPr bwMode="auto">
              <a:xfrm>
                <a:off x="2546" y="128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5" name="Oval 41"/>
              <p:cNvSpPr>
                <a:spLocks noChangeArrowheads="1"/>
              </p:cNvSpPr>
              <p:nvPr/>
            </p:nvSpPr>
            <p:spPr bwMode="auto">
              <a:xfrm>
                <a:off x="2473" y="1395"/>
                <a:ext cx="752"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6" name="Oval 42"/>
              <p:cNvSpPr>
                <a:spLocks noChangeArrowheads="1"/>
              </p:cNvSpPr>
              <p:nvPr/>
            </p:nvSpPr>
            <p:spPr bwMode="auto">
              <a:xfrm>
                <a:off x="1346" y="1144"/>
                <a:ext cx="1547"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7" name="Oval 37"/>
              <p:cNvSpPr>
                <a:spLocks noChangeArrowheads="1"/>
              </p:cNvSpPr>
              <p:nvPr/>
            </p:nvSpPr>
            <p:spPr bwMode="auto">
              <a:xfrm>
                <a:off x="904" y="1175"/>
                <a:ext cx="922" cy="66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8" name="Oval 37"/>
              <p:cNvSpPr>
                <a:spLocks noChangeArrowheads="1"/>
              </p:cNvSpPr>
              <p:nvPr/>
            </p:nvSpPr>
            <p:spPr bwMode="auto">
              <a:xfrm>
                <a:off x="1776" y="1175"/>
                <a:ext cx="984" cy="72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9" name="Oval 37"/>
              <p:cNvSpPr>
                <a:spLocks noChangeArrowheads="1"/>
              </p:cNvSpPr>
              <p:nvPr/>
            </p:nvSpPr>
            <p:spPr bwMode="auto">
              <a:xfrm>
                <a:off x="2533" y="1175"/>
                <a:ext cx="940" cy="7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grpSp>
      </p:grpSp>
      <p:sp>
        <p:nvSpPr>
          <p:cNvPr id="100" name="Line 44"/>
          <p:cNvSpPr>
            <a:spLocks noChangeShapeType="1"/>
          </p:cNvSpPr>
          <p:nvPr/>
        </p:nvSpPr>
        <p:spPr bwMode="auto">
          <a:xfrm>
            <a:off x="1824567" y="1751606"/>
            <a:ext cx="564806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3" name="Text Box 51"/>
          <p:cNvSpPr txBox="1">
            <a:spLocks noChangeArrowheads="1"/>
          </p:cNvSpPr>
          <p:nvPr/>
        </p:nvSpPr>
        <p:spPr bwMode="auto">
          <a:xfrm>
            <a:off x="156754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4" name="Text Box 52"/>
          <p:cNvSpPr txBox="1">
            <a:spLocks noChangeArrowheads="1"/>
          </p:cNvSpPr>
          <p:nvPr/>
        </p:nvSpPr>
        <p:spPr bwMode="auto">
          <a:xfrm>
            <a:off x="712440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5" name="Text Box 53"/>
          <p:cNvSpPr txBox="1">
            <a:spLocks noChangeArrowheads="1"/>
          </p:cNvSpPr>
          <p:nvPr/>
        </p:nvSpPr>
        <p:spPr bwMode="auto">
          <a:xfrm>
            <a:off x="1419191" y="1548671"/>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106" name="Text Box 58"/>
          <p:cNvSpPr txBox="1">
            <a:spLocks noChangeArrowheads="1"/>
          </p:cNvSpPr>
          <p:nvPr/>
        </p:nvSpPr>
        <p:spPr bwMode="auto">
          <a:xfrm>
            <a:off x="6988576" y="151280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107" name="Line 59"/>
          <p:cNvSpPr>
            <a:spLocks noChangeShapeType="1"/>
          </p:cNvSpPr>
          <p:nvPr/>
        </p:nvSpPr>
        <p:spPr bwMode="auto">
          <a:xfrm>
            <a:off x="177128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8" name="Line 60"/>
          <p:cNvSpPr>
            <a:spLocks noChangeShapeType="1"/>
          </p:cNvSpPr>
          <p:nvPr/>
        </p:nvSpPr>
        <p:spPr bwMode="auto">
          <a:xfrm>
            <a:off x="326322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9" name="Line 61"/>
          <p:cNvSpPr>
            <a:spLocks noChangeShapeType="1"/>
          </p:cNvSpPr>
          <p:nvPr/>
        </p:nvSpPr>
        <p:spPr bwMode="auto">
          <a:xfrm>
            <a:off x="5234717"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0" name="Line 62"/>
          <p:cNvSpPr>
            <a:spLocks noChangeShapeType="1"/>
          </p:cNvSpPr>
          <p:nvPr/>
        </p:nvSpPr>
        <p:spPr bwMode="auto">
          <a:xfrm>
            <a:off x="667337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1" name="Text Box 63"/>
          <p:cNvSpPr txBox="1">
            <a:spLocks noChangeArrowheads="1"/>
          </p:cNvSpPr>
          <p:nvPr/>
        </p:nvSpPr>
        <p:spPr bwMode="auto">
          <a:xfrm>
            <a:off x="4484306" y="248114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112" name="Text Box 64"/>
          <p:cNvSpPr txBox="1">
            <a:spLocks noChangeArrowheads="1"/>
          </p:cNvSpPr>
          <p:nvPr/>
        </p:nvSpPr>
        <p:spPr bwMode="auto">
          <a:xfrm>
            <a:off x="3158345"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3" name="Text Box 65"/>
          <p:cNvSpPr txBox="1">
            <a:spLocks noChangeArrowheads="1"/>
          </p:cNvSpPr>
          <p:nvPr/>
        </p:nvSpPr>
        <p:spPr bwMode="auto">
          <a:xfrm>
            <a:off x="5025934"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4" name="Rectangle 80"/>
          <p:cNvSpPr>
            <a:spLocks noChangeArrowheads="1"/>
          </p:cNvSpPr>
          <p:nvPr/>
        </p:nvSpPr>
        <p:spPr bwMode="auto">
          <a:xfrm>
            <a:off x="3197730"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5" name="Text Box 81"/>
          <p:cNvSpPr txBox="1">
            <a:spLocks noChangeArrowheads="1"/>
          </p:cNvSpPr>
          <p:nvPr/>
        </p:nvSpPr>
        <p:spPr bwMode="auto">
          <a:xfrm>
            <a:off x="3197729"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latin typeface="微软雅黑" pitchFamily="34" charset="-122"/>
                <a:ea typeface="微软雅黑" pitchFamily="34" charset="-122"/>
              </a:rPr>
              <a:t>源地址：</a:t>
            </a:r>
            <a:r>
              <a:rPr kumimoji="1" lang="en-US" altLang="zh-CN" sz="1100" b="1" dirty="0">
                <a:latin typeface="微软雅黑" pitchFamily="34" charset="-122"/>
                <a:ea typeface="微软雅黑" pitchFamily="34" charset="-122"/>
              </a:rPr>
              <a:t>B</a:t>
            </a:r>
          </a:p>
          <a:p>
            <a:r>
              <a:rPr kumimoji="1" lang="zh-CN" altLang="en-US" sz="1100" b="1" dirty="0">
                <a:latin typeface="微软雅黑" pitchFamily="34" charset="-122"/>
                <a:ea typeface="微软雅黑" pitchFamily="34" charset="-122"/>
              </a:rPr>
              <a:t>目的地址：</a:t>
            </a:r>
            <a:r>
              <a:rPr kumimoji="1" lang="en-US" altLang="zh-CN" sz="1100" b="1" dirty="0">
                <a:latin typeface="微软雅黑" pitchFamily="34" charset="-122"/>
                <a:ea typeface="微软雅黑" pitchFamily="34" charset="-122"/>
              </a:rPr>
              <a:t>E</a:t>
            </a:r>
          </a:p>
          <a:p>
            <a:endParaRPr kumimoji="1" lang="en-US" altLang="zh-CN" sz="1100" b="1" dirty="0">
              <a:latin typeface="微软雅黑" pitchFamily="34" charset="-122"/>
              <a:ea typeface="微软雅黑" pitchFamily="34" charset="-122"/>
            </a:endParaRPr>
          </a:p>
          <a:p>
            <a:endParaRPr kumimoji="1" lang="en-US" altLang="zh-CN" sz="1100" b="1" dirty="0">
              <a:latin typeface="微软雅黑" pitchFamily="34" charset="-122"/>
              <a:ea typeface="微软雅黑" pitchFamily="34" charset="-122"/>
            </a:endParaRPr>
          </a:p>
        </p:txBody>
      </p:sp>
      <p:sp>
        <p:nvSpPr>
          <p:cNvPr id="116" name="Rectangle 82"/>
          <p:cNvSpPr>
            <a:spLocks noChangeArrowheads="1"/>
          </p:cNvSpPr>
          <p:nvPr/>
        </p:nvSpPr>
        <p:spPr bwMode="auto">
          <a:xfrm>
            <a:off x="3274324"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7" name="Text Box 83"/>
          <p:cNvSpPr txBox="1">
            <a:spLocks noChangeArrowheads="1"/>
          </p:cNvSpPr>
          <p:nvPr/>
        </p:nvSpPr>
        <p:spPr bwMode="auto">
          <a:xfrm>
            <a:off x="3314153"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IPv6</a:t>
            </a:r>
          </a:p>
          <a:p>
            <a:pPr algn="ctr"/>
            <a:r>
              <a:rPr kumimoji="1" lang="zh-CN" altLang="en-US" sz="1200" b="1" dirty="0">
                <a:latin typeface="微软雅黑" pitchFamily="34" charset="-122"/>
                <a:ea typeface="微软雅黑" pitchFamily="34" charset="-122"/>
              </a:rPr>
              <a:t>数据报</a:t>
            </a:r>
          </a:p>
        </p:txBody>
      </p:sp>
      <p:sp>
        <p:nvSpPr>
          <p:cNvPr id="119" name="Text Box 88"/>
          <p:cNvSpPr txBox="1">
            <a:spLocks noChangeArrowheads="1"/>
          </p:cNvSpPr>
          <p:nvPr/>
        </p:nvSpPr>
        <p:spPr bwMode="auto">
          <a:xfrm>
            <a:off x="5823499" y="1128268"/>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120" name="Rectangle 90"/>
          <p:cNvSpPr>
            <a:spLocks noChangeArrowheads="1"/>
          </p:cNvSpPr>
          <p:nvPr/>
        </p:nvSpPr>
        <p:spPr bwMode="auto">
          <a:xfrm>
            <a:off x="1652506"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1" name="Text Box 91"/>
          <p:cNvSpPr txBox="1">
            <a:spLocks noChangeArrowheads="1"/>
          </p:cNvSpPr>
          <p:nvPr/>
        </p:nvSpPr>
        <p:spPr bwMode="auto">
          <a:xfrm>
            <a:off x="1652505" y="2212409"/>
            <a:ext cx="1105389"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2" name="Text Box 92"/>
          <p:cNvSpPr txBox="1">
            <a:spLocks noChangeArrowheads="1"/>
          </p:cNvSpPr>
          <p:nvPr/>
        </p:nvSpPr>
        <p:spPr bwMode="auto">
          <a:xfrm>
            <a:off x="1584791" y="3220563"/>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3" name="Line 93"/>
          <p:cNvSpPr>
            <a:spLocks noChangeShapeType="1"/>
          </p:cNvSpPr>
          <p:nvPr/>
        </p:nvSpPr>
        <p:spPr bwMode="auto">
          <a:xfrm>
            <a:off x="1664717"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Line 94"/>
          <p:cNvSpPr>
            <a:spLocks noChangeShapeType="1"/>
          </p:cNvSpPr>
          <p:nvPr/>
        </p:nvSpPr>
        <p:spPr bwMode="auto">
          <a:xfrm>
            <a:off x="2570539" y="2211650"/>
            <a:ext cx="692686" cy="40799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5" name="Line 95"/>
          <p:cNvSpPr>
            <a:spLocks noChangeShapeType="1"/>
          </p:cNvSpPr>
          <p:nvPr/>
        </p:nvSpPr>
        <p:spPr bwMode="auto">
          <a:xfrm flipV="1">
            <a:off x="2570538" y="3148803"/>
            <a:ext cx="703786" cy="103926"/>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6" name="Rectangle 96"/>
          <p:cNvSpPr>
            <a:spLocks noChangeArrowheads="1"/>
          </p:cNvSpPr>
          <p:nvPr/>
        </p:nvSpPr>
        <p:spPr bwMode="auto">
          <a:xfrm>
            <a:off x="6513523"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7" name="Text Box 97"/>
          <p:cNvSpPr txBox="1">
            <a:spLocks noChangeArrowheads="1"/>
          </p:cNvSpPr>
          <p:nvPr/>
        </p:nvSpPr>
        <p:spPr bwMode="auto">
          <a:xfrm>
            <a:off x="6513523" y="2212409"/>
            <a:ext cx="994627"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8" name="Text Box 98"/>
          <p:cNvSpPr txBox="1">
            <a:spLocks noChangeArrowheads="1"/>
          </p:cNvSpPr>
          <p:nvPr/>
        </p:nvSpPr>
        <p:spPr bwMode="auto">
          <a:xfrm>
            <a:off x="6463393" y="3216106"/>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9" name="Line 99"/>
          <p:cNvSpPr>
            <a:spLocks noChangeShapeType="1"/>
          </p:cNvSpPr>
          <p:nvPr/>
        </p:nvSpPr>
        <p:spPr bwMode="auto">
          <a:xfrm>
            <a:off x="6525734"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0" name="Rectangle 100"/>
          <p:cNvSpPr>
            <a:spLocks noChangeArrowheads="1"/>
          </p:cNvSpPr>
          <p:nvPr/>
        </p:nvSpPr>
        <p:spPr bwMode="auto">
          <a:xfrm>
            <a:off x="5062655"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1" name="Text Box 101"/>
          <p:cNvSpPr txBox="1">
            <a:spLocks noChangeArrowheads="1"/>
          </p:cNvSpPr>
          <p:nvPr/>
        </p:nvSpPr>
        <p:spPr bwMode="auto">
          <a:xfrm>
            <a:off x="5062655"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a:latin typeface="微软雅黑" pitchFamily="34" charset="-122"/>
                <a:ea typeface="微软雅黑" pitchFamily="34" charset="-122"/>
              </a:rPr>
              <a:t>源地址：</a:t>
            </a:r>
            <a:r>
              <a:rPr kumimoji="1" lang="en-US" altLang="zh-CN" sz="1100" b="1">
                <a:latin typeface="微软雅黑" pitchFamily="34" charset="-122"/>
                <a:ea typeface="微软雅黑" pitchFamily="34" charset="-122"/>
              </a:rPr>
              <a:t>B</a:t>
            </a:r>
          </a:p>
          <a:p>
            <a:r>
              <a:rPr kumimoji="1" lang="zh-CN" altLang="en-US" sz="1100" b="1">
                <a:latin typeface="微软雅黑" pitchFamily="34" charset="-122"/>
                <a:ea typeface="微软雅黑" pitchFamily="34" charset="-122"/>
              </a:rPr>
              <a:t>目的地址：</a:t>
            </a:r>
            <a:r>
              <a:rPr kumimoji="1" lang="en-US" altLang="zh-CN" sz="1100" b="1">
                <a:latin typeface="微软雅黑" pitchFamily="34" charset="-122"/>
                <a:ea typeface="微软雅黑" pitchFamily="34" charset="-122"/>
              </a:rPr>
              <a:t>E</a:t>
            </a:r>
          </a:p>
          <a:p>
            <a:endParaRPr kumimoji="1" lang="en-US" altLang="zh-CN" sz="1100" b="1">
              <a:latin typeface="微软雅黑" pitchFamily="34" charset="-122"/>
              <a:ea typeface="微软雅黑" pitchFamily="34" charset="-122"/>
            </a:endParaRPr>
          </a:p>
          <a:p>
            <a:endParaRPr kumimoji="1" lang="en-US" altLang="zh-CN" sz="1100" b="1">
              <a:latin typeface="微软雅黑" pitchFamily="34" charset="-122"/>
              <a:ea typeface="微软雅黑" pitchFamily="34" charset="-122"/>
            </a:endParaRPr>
          </a:p>
        </p:txBody>
      </p:sp>
      <p:sp>
        <p:nvSpPr>
          <p:cNvPr id="132" name="Rectangle 102"/>
          <p:cNvSpPr>
            <a:spLocks noChangeArrowheads="1"/>
          </p:cNvSpPr>
          <p:nvPr/>
        </p:nvSpPr>
        <p:spPr bwMode="auto">
          <a:xfrm>
            <a:off x="5139250"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3" name="Text Box 103"/>
          <p:cNvSpPr txBox="1">
            <a:spLocks noChangeArrowheads="1"/>
          </p:cNvSpPr>
          <p:nvPr/>
        </p:nvSpPr>
        <p:spPr bwMode="auto">
          <a:xfrm>
            <a:off x="5179080"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latin typeface="微软雅黑" pitchFamily="34" charset="-122"/>
                <a:ea typeface="微软雅黑" pitchFamily="34" charset="-122"/>
              </a:rPr>
              <a:t>IPv6</a:t>
            </a:r>
          </a:p>
          <a:p>
            <a:pPr algn="ctr"/>
            <a:r>
              <a:rPr kumimoji="1" lang="zh-CN" altLang="en-US" sz="1200" b="1">
                <a:latin typeface="微软雅黑" pitchFamily="34" charset="-122"/>
                <a:ea typeface="微软雅黑" pitchFamily="34" charset="-122"/>
              </a:rPr>
              <a:t>数据报</a:t>
            </a:r>
          </a:p>
        </p:txBody>
      </p:sp>
      <p:sp>
        <p:nvSpPr>
          <p:cNvPr id="134" name="Line 104"/>
          <p:cNvSpPr>
            <a:spLocks noChangeShapeType="1"/>
          </p:cNvSpPr>
          <p:nvPr/>
        </p:nvSpPr>
        <p:spPr bwMode="auto">
          <a:xfrm flipV="1">
            <a:off x="5885220" y="2195254"/>
            <a:ext cx="643844" cy="424385"/>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5" name="Line 105"/>
          <p:cNvSpPr>
            <a:spLocks noChangeShapeType="1"/>
          </p:cNvSpPr>
          <p:nvPr/>
        </p:nvSpPr>
        <p:spPr bwMode="auto">
          <a:xfrm>
            <a:off x="5885220" y="3148803"/>
            <a:ext cx="616092" cy="9880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cxnSp>
        <p:nvCxnSpPr>
          <p:cNvPr id="137" name="直接连接符 136"/>
          <p:cNvCxnSpPr/>
          <p:nvPr/>
        </p:nvCxnSpPr>
        <p:spPr bwMode="auto">
          <a:xfrm>
            <a:off x="2945603" y="1745201"/>
            <a:ext cx="3242113" cy="0"/>
          </a:xfrm>
          <a:prstGeom prst="line">
            <a:avLst/>
          </a:prstGeom>
          <a:solidFill>
            <a:schemeClr val="accent1"/>
          </a:solidFill>
          <a:ln w="76200" cap="flat" cmpd="sng" algn="ctr">
            <a:solidFill>
              <a:srgbClr val="CC00CC"/>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38" name="Text Box 43"/>
          <p:cNvSpPr txBox="1">
            <a:spLocks noChangeArrowheads="1"/>
          </p:cNvSpPr>
          <p:nvPr/>
        </p:nvSpPr>
        <p:spPr bwMode="auto">
          <a:xfrm>
            <a:off x="4246313" y="1253448"/>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pic>
        <p:nvPicPr>
          <p:cNvPr id="13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7895"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64791"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1"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23896"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2"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66723"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3" name="Text Box 54"/>
          <p:cNvSpPr txBox="1">
            <a:spLocks noChangeArrowheads="1"/>
          </p:cNvSpPr>
          <p:nvPr/>
        </p:nvSpPr>
        <p:spPr bwMode="auto">
          <a:xfrm>
            <a:off x="2531341" y="1520751"/>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144" name="Text Box 55"/>
          <p:cNvSpPr txBox="1">
            <a:spLocks noChangeArrowheads="1"/>
          </p:cNvSpPr>
          <p:nvPr/>
        </p:nvSpPr>
        <p:spPr bwMode="auto">
          <a:xfrm>
            <a:off x="3995350" y="1376532"/>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145" name="Text Box 56"/>
          <p:cNvSpPr txBox="1">
            <a:spLocks noChangeArrowheads="1"/>
          </p:cNvSpPr>
          <p:nvPr/>
        </p:nvSpPr>
        <p:spPr bwMode="auto">
          <a:xfrm>
            <a:off x="4953403" y="137653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146" name="Text Box 57"/>
          <p:cNvSpPr txBox="1">
            <a:spLocks noChangeArrowheads="1"/>
          </p:cNvSpPr>
          <p:nvPr/>
        </p:nvSpPr>
        <p:spPr bwMode="auto">
          <a:xfrm>
            <a:off x="6357889" y="1510099"/>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147" name="Text Box 87"/>
          <p:cNvSpPr txBox="1">
            <a:spLocks noChangeArrowheads="1"/>
          </p:cNvSpPr>
          <p:nvPr/>
        </p:nvSpPr>
        <p:spPr bwMode="auto">
          <a:xfrm>
            <a:off x="2439456" y="1127144"/>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grpSp>
        <p:nvGrpSpPr>
          <p:cNvPr id="148" name="组合 147"/>
          <p:cNvGrpSpPr/>
          <p:nvPr/>
        </p:nvGrpSpPr>
        <p:grpSpPr>
          <a:xfrm>
            <a:off x="2902885" y="1884639"/>
            <a:ext cx="3384042" cy="2045077"/>
            <a:chOff x="2922487" y="2420888"/>
            <a:chExt cx="4622801" cy="2590800"/>
          </a:xfrm>
        </p:grpSpPr>
        <p:sp>
          <p:nvSpPr>
            <p:cNvPr id="149" name="Line 55"/>
            <p:cNvSpPr>
              <a:spLocks noChangeShapeType="1"/>
            </p:cNvSpPr>
            <p:nvPr/>
          </p:nvSpPr>
          <p:spPr bwMode="auto">
            <a:xfrm>
              <a:off x="2922487"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0" name="Line 56"/>
            <p:cNvSpPr>
              <a:spLocks noChangeShapeType="1"/>
            </p:cNvSpPr>
            <p:nvPr/>
          </p:nvSpPr>
          <p:spPr bwMode="auto">
            <a:xfrm>
              <a:off x="7545288"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51" name="Line 70"/>
          <p:cNvSpPr>
            <a:spLocks noChangeShapeType="1"/>
          </p:cNvSpPr>
          <p:nvPr/>
        </p:nvSpPr>
        <p:spPr bwMode="auto">
          <a:xfrm>
            <a:off x="2912657" y="3726851"/>
            <a:ext cx="3332255"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2" name="Text Box 66"/>
          <p:cNvSpPr txBox="1">
            <a:spLocks noChangeArrowheads="1"/>
          </p:cNvSpPr>
          <p:nvPr/>
        </p:nvSpPr>
        <p:spPr bwMode="auto">
          <a:xfrm>
            <a:off x="4190523" y="3587415"/>
            <a:ext cx="988835" cy="276999"/>
          </a:xfrm>
          <a:prstGeom prst="rect">
            <a:avLst/>
          </a:prstGeom>
          <a:solidFill>
            <a:srgbClr val="C3E3F9"/>
          </a:solidFill>
          <a:ln>
            <a:noFill/>
          </a:ln>
          <a:effectLst/>
        </p:spPr>
        <p:txBody>
          <a:bodyPr wrap="square">
            <a:spAutoFit/>
          </a:bodyPr>
          <a:lstStyle/>
          <a:p>
            <a:pPr algn="ctr"/>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 </a:t>
            </a:r>
          </a:p>
        </p:txBody>
      </p:sp>
      <p:pic>
        <p:nvPicPr>
          <p:cNvPr id="15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648126" y="1586140"/>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15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228408" y="1586140"/>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118" name="AutoShape 84"/>
          <p:cNvSpPr>
            <a:spLocks noChangeArrowheads="1"/>
          </p:cNvSpPr>
          <p:nvPr/>
        </p:nvSpPr>
        <p:spPr bwMode="auto">
          <a:xfrm>
            <a:off x="2623821" y="2777275"/>
            <a:ext cx="799254" cy="147555"/>
          </a:xfrm>
          <a:prstGeom prst="rightArrow">
            <a:avLst>
              <a:gd name="adj1" fmla="val 50000"/>
              <a:gd name="adj2" fmla="val 125000"/>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6" name="AutoShape 106"/>
          <p:cNvSpPr>
            <a:spLocks noChangeArrowheads="1"/>
          </p:cNvSpPr>
          <p:nvPr/>
        </p:nvSpPr>
        <p:spPr bwMode="auto">
          <a:xfrm>
            <a:off x="5826600" y="2777275"/>
            <a:ext cx="702464" cy="147555"/>
          </a:xfrm>
          <a:prstGeom prst="rightArrow">
            <a:avLst>
              <a:gd name="adj1" fmla="val 50000"/>
              <a:gd name="adj2" fmla="val 99132"/>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9D098262-B62A-811D-2256-CD9327FE5041}"/>
              </a:ext>
            </a:extLst>
          </p:cNvPr>
          <p:cNvSpPr>
            <a:spLocks noGrp="1"/>
          </p:cNvSpPr>
          <p:nvPr>
            <p:ph type="title"/>
          </p:nvPr>
        </p:nvSpPr>
        <p:spPr>
          <a:xfrm>
            <a:off x="486000" y="550723"/>
            <a:ext cx="8172000" cy="338554"/>
          </a:xfrm>
        </p:spPr>
        <p:txBody>
          <a:bodyPr/>
          <a:lstStyle/>
          <a:p>
            <a:r>
              <a:rPr lang="zh-CN" altLang="en-US" dirty="0"/>
              <a:t>隧道技术</a:t>
            </a:r>
          </a:p>
        </p:txBody>
      </p:sp>
    </p:spTree>
    <p:extLst>
      <p:ext uri="{BB962C8B-B14F-4D97-AF65-F5344CB8AC3E}">
        <p14:creationId xmlns:p14="http://schemas.microsoft.com/office/powerpoint/2010/main" val="29019112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4"/>
          <p:cNvSpPr txBox="1">
            <a:spLocks noChangeArrowheads="1"/>
          </p:cNvSpPr>
          <p:nvPr/>
        </p:nvSpPr>
        <p:spPr bwMode="auto">
          <a:xfrm>
            <a:off x="1524425" y="2890390"/>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4 </a:t>
            </a:r>
            <a:r>
              <a:rPr kumimoji="1" lang="zh-CN" altLang="en-US" sz="1600" b="1" dirty="0">
                <a:solidFill>
                  <a:srgbClr val="0000FF"/>
                </a:solidFill>
                <a:latin typeface="微软雅黑" pitchFamily="34" charset="-122"/>
                <a:ea typeface="微软雅黑" pitchFamily="34" charset="-122"/>
              </a:rPr>
              <a:t>中的网络层</a:t>
            </a:r>
          </a:p>
        </p:txBody>
      </p:sp>
      <p:sp>
        <p:nvSpPr>
          <p:cNvPr id="7" name="Rectangle 6"/>
          <p:cNvSpPr>
            <a:spLocks noChangeArrowheads="1"/>
          </p:cNvSpPr>
          <p:nvPr/>
        </p:nvSpPr>
        <p:spPr bwMode="auto">
          <a:xfrm>
            <a:off x="1293090" y="1843114"/>
            <a:ext cx="2481774" cy="1054335"/>
          </a:xfrm>
          <a:prstGeom prst="rect">
            <a:avLst/>
          </a:prstGeom>
          <a:solidFill>
            <a:srgbClr val="00FFFF"/>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8" name="Rectangle 7"/>
          <p:cNvSpPr>
            <a:spLocks noChangeArrowheads="1"/>
          </p:cNvSpPr>
          <p:nvPr/>
        </p:nvSpPr>
        <p:spPr bwMode="auto">
          <a:xfrm>
            <a:off x="1413812" y="1890499"/>
            <a:ext cx="591870"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a:t>
            </a:r>
          </a:p>
        </p:txBody>
      </p:sp>
      <p:sp>
        <p:nvSpPr>
          <p:cNvPr id="9" name="Text Box 8"/>
          <p:cNvSpPr txBox="1">
            <a:spLocks noChangeArrowheads="1"/>
          </p:cNvSpPr>
          <p:nvPr/>
        </p:nvSpPr>
        <p:spPr bwMode="auto">
          <a:xfrm>
            <a:off x="2178160" y="2290740"/>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IPv4</a:t>
            </a:r>
          </a:p>
        </p:txBody>
      </p:sp>
      <p:sp>
        <p:nvSpPr>
          <p:cNvPr id="10" name="Rectangle 9"/>
          <p:cNvSpPr>
            <a:spLocks noChangeArrowheads="1"/>
          </p:cNvSpPr>
          <p:nvPr/>
        </p:nvSpPr>
        <p:spPr bwMode="auto">
          <a:xfrm>
            <a:off x="3105745" y="2599882"/>
            <a:ext cx="538806" cy="260622"/>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a:solidFill>
                  <a:srgbClr val="0000FF"/>
                </a:solidFill>
                <a:latin typeface="微软雅黑" pitchFamily="34" charset="-122"/>
                <a:ea typeface="微软雅黑" pitchFamily="34" charset="-122"/>
              </a:rPr>
              <a:t>ARP</a:t>
            </a:r>
          </a:p>
        </p:txBody>
      </p:sp>
      <p:sp>
        <p:nvSpPr>
          <p:cNvPr id="11" name="Rectangle 10"/>
          <p:cNvSpPr>
            <a:spLocks noChangeArrowheads="1"/>
          </p:cNvSpPr>
          <p:nvPr/>
        </p:nvSpPr>
        <p:spPr bwMode="auto">
          <a:xfrm>
            <a:off x="2008163" y="1890499"/>
            <a:ext cx="59084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IGMP</a:t>
            </a:r>
          </a:p>
        </p:txBody>
      </p:sp>
      <p:sp>
        <p:nvSpPr>
          <p:cNvPr id="12" name="Text Box 11"/>
          <p:cNvSpPr txBox="1">
            <a:spLocks noChangeArrowheads="1"/>
          </p:cNvSpPr>
          <p:nvPr/>
        </p:nvSpPr>
        <p:spPr bwMode="auto">
          <a:xfrm>
            <a:off x="4370409" y="2886158"/>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6 </a:t>
            </a:r>
            <a:r>
              <a:rPr kumimoji="1" lang="zh-CN" altLang="en-US" sz="1600" b="1" dirty="0">
                <a:solidFill>
                  <a:srgbClr val="0000FF"/>
                </a:solidFill>
                <a:latin typeface="微软雅黑" pitchFamily="34" charset="-122"/>
                <a:ea typeface="微软雅黑" pitchFamily="34" charset="-122"/>
              </a:rPr>
              <a:t>中的网络层</a:t>
            </a:r>
          </a:p>
        </p:txBody>
      </p:sp>
      <p:sp>
        <p:nvSpPr>
          <p:cNvPr id="13" name="Rectangle 13"/>
          <p:cNvSpPr>
            <a:spLocks noChangeArrowheads="1"/>
          </p:cNvSpPr>
          <p:nvPr/>
        </p:nvSpPr>
        <p:spPr bwMode="auto">
          <a:xfrm>
            <a:off x="4091605" y="1843114"/>
            <a:ext cx="2481774" cy="1054335"/>
          </a:xfrm>
          <a:prstGeom prst="rect">
            <a:avLst/>
          </a:prstGeom>
          <a:solidFill>
            <a:srgbClr val="99FFCC"/>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14" name="Rectangle 14"/>
          <p:cNvSpPr>
            <a:spLocks noChangeArrowheads="1"/>
          </p:cNvSpPr>
          <p:nvPr/>
        </p:nvSpPr>
        <p:spPr bwMode="auto">
          <a:xfrm>
            <a:off x="4221976" y="1886269"/>
            <a:ext cx="94188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ICMPv6</a:t>
            </a:r>
          </a:p>
        </p:txBody>
      </p:sp>
      <p:sp>
        <p:nvSpPr>
          <p:cNvPr id="15" name="Text Box 15"/>
          <p:cNvSpPr txBox="1">
            <a:spLocks noChangeArrowheads="1"/>
          </p:cNvSpPr>
          <p:nvPr/>
        </p:nvSpPr>
        <p:spPr bwMode="auto">
          <a:xfrm>
            <a:off x="5038220" y="2286509"/>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IPv6</a:t>
            </a:r>
          </a:p>
        </p:txBody>
      </p:sp>
      <p:sp>
        <p:nvSpPr>
          <p:cNvPr id="16" name="矩形 15"/>
          <p:cNvSpPr/>
          <p:nvPr/>
        </p:nvSpPr>
        <p:spPr>
          <a:xfrm>
            <a:off x="2285999" y="3451731"/>
            <a:ext cx="3984171" cy="369332"/>
          </a:xfrm>
          <a:prstGeom prst="rect">
            <a:avLst/>
          </a:prstGeom>
        </p:spPr>
        <p:txBody>
          <a:bodyPr wrap="square">
            <a:spAutoFit/>
          </a:bodyPr>
          <a:lstStyle/>
          <a:p>
            <a:pPr algn="ctr"/>
            <a:r>
              <a:rPr lang="zh-CN" altLang="zh-CN" b="1" dirty="0">
                <a:latin typeface="微软雅黑" pitchFamily="34" charset="-122"/>
                <a:ea typeface="微软雅黑" pitchFamily="34" charset="-122"/>
              </a:rPr>
              <a:t>新旧版本中的网络层的比较</a:t>
            </a:r>
            <a:endParaRPr lang="zh-CN" altLang="en-US" b="1" dirty="0">
              <a:latin typeface="微软雅黑" pitchFamily="34" charset="-122"/>
              <a:ea typeface="微软雅黑" pitchFamily="34" charset="-122"/>
            </a:endParaRPr>
          </a:p>
        </p:txBody>
      </p:sp>
      <p:sp>
        <p:nvSpPr>
          <p:cNvPr id="17" name="矩形 16"/>
          <p:cNvSpPr/>
          <p:nvPr/>
        </p:nvSpPr>
        <p:spPr>
          <a:xfrm>
            <a:off x="6756326" y="1862449"/>
            <a:ext cx="1691367" cy="1015663"/>
          </a:xfrm>
          <a:prstGeom prst="rect">
            <a:avLst/>
          </a:prstGeom>
          <a:solidFill>
            <a:schemeClr val="bg1"/>
          </a:solidFill>
        </p:spPr>
        <p:txBody>
          <a:bodyPr wrap="square">
            <a:spAutoFit/>
          </a:bodyPr>
          <a:lstStyle/>
          <a:p>
            <a:pPr algn="ctr">
              <a:lnSpc>
                <a:spcPts val="2400"/>
              </a:lnSpc>
              <a:buClr>
                <a:srgbClr val="0070C0"/>
              </a:buClr>
            </a:pPr>
            <a:r>
              <a:rPr lang="en-US" altLang="zh-CN" sz="1600" b="1" dirty="0">
                <a:latin typeface="微软雅黑" pitchFamily="34" charset="-122"/>
                <a:ea typeface="微软雅黑" pitchFamily="34" charset="-122"/>
              </a:rPr>
              <a:t>ICMPv6 </a:t>
            </a:r>
            <a:r>
              <a:rPr lang="zh-CN" altLang="en-US" sz="1600" b="1" dirty="0">
                <a:latin typeface="微软雅黑" pitchFamily="34" charset="-122"/>
                <a:ea typeface="微软雅黑" pitchFamily="34" charset="-122"/>
              </a:rPr>
              <a:t>包含了 </a:t>
            </a:r>
            <a:r>
              <a:rPr lang="en-US" altLang="zh-CN" sz="1600" b="1" dirty="0">
                <a:latin typeface="微软雅黑" pitchFamily="34" charset="-122"/>
                <a:ea typeface="微软雅黑" pitchFamily="34" charset="-122"/>
              </a:rPr>
              <a:t>ARP </a:t>
            </a:r>
            <a:r>
              <a:rPr lang="zh-CN" altLang="en-US" sz="1600" b="1" dirty="0">
                <a:latin typeface="微软雅黑" pitchFamily="34" charset="-122"/>
                <a:ea typeface="微软雅黑" pitchFamily="34" charset="-122"/>
              </a:rPr>
              <a:t>和 </a:t>
            </a:r>
            <a:r>
              <a:rPr lang="en-US" altLang="zh-CN" sz="1600" b="1" dirty="0">
                <a:latin typeface="微软雅黑" pitchFamily="34" charset="-122"/>
                <a:ea typeface="微软雅黑" pitchFamily="34" charset="-122"/>
              </a:rPr>
              <a:t>IGMP </a:t>
            </a:r>
            <a:r>
              <a:rPr lang="zh-CN" altLang="en-US" sz="1600" b="1" dirty="0">
                <a:latin typeface="微软雅黑" pitchFamily="34" charset="-122"/>
                <a:ea typeface="微软雅黑" pitchFamily="34" charset="-122"/>
              </a:rPr>
              <a:t>协议的功能中。</a:t>
            </a:r>
          </a:p>
        </p:txBody>
      </p:sp>
      <p:sp>
        <p:nvSpPr>
          <p:cNvPr id="19" name="标题 18">
            <a:extLst>
              <a:ext uri="{FF2B5EF4-FFF2-40B4-BE49-F238E27FC236}">
                <a16:creationId xmlns:a16="http://schemas.microsoft.com/office/drawing/2014/main" id="{FF9D6FC7-E2B9-6099-2C29-F7FB16ECBAC6}"/>
              </a:ext>
            </a:extLst>
          </p:cNvPr>
          <p:cNvSpPr>
            <a:spLocks noGrp="1"/>
          </p:cNvSpPr>
          <p:nvPr>
            <p:ph type="title"/>
          </p:nvPr>
        </p:nvSpPr>
        <p:spPr>
          <a:xfrm>
            <a:off x="486000" y="550723"/>
            <a:ext cx="8172000" cy="338554"/>
          </a:xfrm>
        </p:spPr>
        <p:txBody>
          <a:bodyPr/>
          <a:lstStyle/>
          <a:p>
            <a:r>
              <a:rPr lang="en-US" altLang="zh-CN" dirty="0"/>
              <a:t>4.5.4  ICMPv6</a:t>
            </a:r>
            <a:endParaRPr lang="zh-CN" altLang="en-US" dirty="0"/>
          </a:p>
        </p:txBody>
      </p:sp>
      <p:sp>
        <p:nvSpPr>
          <p:cNvPr id="20" name="内容占位符 19">
            <a:extLst>
              <a:ext uri="{FF2B5EF4-FFF2-40B4-BE49-F238E27FC236}">
                <a16:creationId xmlns:a16="http://schemas.microsoft.com/office/drawing/2014/main" id="{3065E77E-7809-E5EC-32C7-E54B5CD9A90B}"/>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也需要使用 </a:t>
            </a:r>
            <a:r>
              <a:rPr lang="en-US" altLang="zh-CN" dirty="0"/>
              <a:t>ICMP </a:t>
            </a:r>
            <a:r>
              <a:rPr lang="zh-CN" altLang="en-US" dirty="0"/>
              <a:t>来反馈一些差错信息。新的版本称为 </a:t>
            </a:r>
            <a:r>
              <a:rPr lang="en-US" altLang="zh-CN" dirty="0"/>
              <a:t>ICMPv6</a:t>
            </a:r>
            <a:endParaRPr lang="zh-CN" altLang="en-US" dirty="0"/>
          </a:p>
          <a:p>
            <a:endParaRPr lang="zh-CN" altLang="en-US" dirty="0"/>
          </a:p>
        </p:txBody>
      </p:sp>
    </p:spTree>
    <p:extLst>
      <p:ext uri="{BB962C8B-B14F-4D97-AF65-F5344CB8AC3E}">
        <p14:creationId xmlns:p14="http://schemas.microsoft.com/office/powerpoint/2010/main" val="9111879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274619" y="1271070"/>
            <a:ext cx="6660441" cy="2181976"/>
            <a:chOff x="1274619" y="1271070"/>
            <a:chExt cx="6660441" cy="2181976"/>
          </a:xfrm>
        </p:grpSpPr>
        <p:sp>
          <p:nvSpPr>
            <p:cNvPr id="20" name="Rectangle 5"/>
            <p:cNvSpPr>
              <a:spLocks noChangeArrowheads="1"/>
            </p:cNvSpPr>
            <p:nvPr/>
          </p:nvSpPr>
          <p:spPr bwMode="auto">
            <a:xfrm>
              <a:off x="3516598" y="1271070"/>
              <a:ext cx="1448135" cy="340023"/>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1600" b="1" dirty="0">
                  <a:latin typeface="微软雅黑" pitchFamily="34" charset="-122"/>
                  <a:ea typeface="微软雅黑" pitchFamily="34" charset="-122"/>
                </a:rPr>
                <a:t>ICMPv6 </a:t>
              </a:r>
              <a:r>
                <a:rPr kumimoji="1" lang="zh-CN" altLang="en-US" sz="1600" b="1" dirty="0">
                  <a:latin typeface="微软雅黑" pitchFamily="34" charset="-122"/>
                  <a:ea typeface="微软雅黑" pitchFamily="34" charset="-122"/>
                </a:rPr>
                <a:t>报文</a:t>
              </a:r>
            </a:p>
          </p:txBody>
        </p:sp>
        <p:sp>
          <p:nvSpPr>
            <p:cNvPr id="21" name="Rectangle 6"/>
            <p:cNvSpPr>
              <a:spLocks noChangeArrowheads="1"/>
            </p:cNvSpPr>
            <p:nvPr/>
          </p:nvSpPr>
          <p:spPr bwMode="auto">
            <a:xfrm>
              <a:off x="1274619"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dirty="0">
                  <a:latin typeface="微软雅黑" pitchFamily="34" charset="-122"/>
                  <a:ea typeface="微软雅黑" pitchFamily="34" charset="-122"/>
                </a:rPr>
                <a:t>差错报文</a:t>
              </a:r>
            </a:p>
          </p:txBody>
        </p:sp>
        <p:sp>
          <p:nvSpPr>
            <p:cNvPr id="22" name="Rectangle 7"/>
            <p:cNvSpPr>
              <a:spLocks noChangeArrowheads="1"/>
            </p:cNvSpPr>
            <p:nvPr/>
          </p:nvSpPr>
          <p:spPr bwMode="auto">
            <a:xfrm>
              <a:off x="5995034" y="2002206"/>
              <a:ext cx="1828162"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组成员关系报文</a:t>
              </a:r>
            </a:p>
          </p:txBody>
        </p:sp>
        <p:sp>
          <p:nvSpPr>
            <p:cNvPr id="23" name="Rectangle 8"/>
            <p:cNvSpPr>
              <a:spLocks noChangeArrowheads="1"/>
            </p:cNvSpPr>
            <p:nvPr/>
          </p:nvSpPr>
          <p:spPr bwMode="auto">
            <a:xfrm>
              <a:off x="4300371" y="2002206"/>
              <a:ext cx="1566173"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邻站发现报文</a:t>
              </a:r>
            </a:p>
          </p:txBody>
        </p:sp>
        <p:sp>
          <p:nvSpPr>
            <p:cNvPr id="24" name="Rectangle 9"/>
            <p:cNvSpPr>
              <a:spLocks noChangeArrowheads="1"/>
            </p:cNvSpPr>
            <p:nvPr/>
          </p:nvSpPr>
          <p:spPr bwMode="auto">
            <a:xfrm>
              <a:off x="2793376"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信息报文</a:t>
              </a:r>
            </a:p>
          </p:txBody>
        </p:sp>
        <p:sp>
          <p:nvSpPr>
            <p:cNvPr id="25" name="Freeform 10"/>
            <p:cNvSpPr>
              <a:spLocks/>
            </p:cNvSpPr>
            <p:nvPr/>
          </p:nvSpPr>
          <p:spPr bwMode="auto">
            <a:xfrm>
              <a:off x="1958110" y="1806649"/>
              <a:ext cx="4922982" cy="195557"/>
            </a:xfrm>
            <a:custGeom>
              <a:avLst/>
              <a:gdLst>
                <a:gd name="T0" fmla="*/ 0 w 3311"/>
                <a:gd name="T1" fmla="*/ 136 h 136"/>
                <a:gd name="T2" fmla="*/ 0 w 3311"/>
                <a:gd name="T3" fmla="*/ 0 h 136"/>
                <a:gd name="T4" fmla="*/ 3311 w 3311"/>
                <a:gd name="T5" fmla="*/ 0 h 136"/>
                <a:gd name="T6" fmla="*/ 3311 w 3311"/>
                <a:gd name="T7" fmla="*/ 136 h 136"/>
              </a:gdLst>
              <a:ahLst/>
              <a:cxnLst>
                <a:cxn ang="0">
                  <a:pos x="T0" y="T1"/>
                </a:cxn>
                <a:cxn ang="0">
                  <a:pos x="T2" y="T3"/>
                </a:cxn>
                <a:cxn ang="0">
                  <a:pos x="T4" y="T5"/>
                </a:cxn>
                <a:cxn ang="0">
                  <a:pos x="T6" y="T7"/>
                </a:cxn>
              </a:cxnLst>
              <a:rect l="0" t="0" r="r" b="b"/>
              <a:pathLst>
                <a:path w="3311" h="136">
                  <a:moveTo>
                    <a:pt x="0" y="136"/>
                  </a:moveTo>
                  <a:lnTo>
                    <a:pt x="0" y="0"/>
                  </a:lnTo>
                  <a:lnTo>
                    <a:pt x="3311" y="0"/>
                  </a:lnTo>
                  <a:lnTo>
                    <a:pt x="3311" y="136"/>
                  </a:lnTo>
                </a:path>
              </a:pathLst>
            </a:custGeom>
            <a:noFill/>
            <a:ln w="28575">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6" name="Line 11"/>
            <p:cNvSpPr>
              <a:spLocks noChangeShapeType="1"/>
            </p:cNvSpPr>
            <p:nvPr/>
          </p:nvSpPr>
          <p:spPr bwMode="auto">
            <a:xfrm>
              <a:off x="3461722"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7" name="Line 12"/>
            <p:cNvSpPr>
              <a:spLocks noChangeShapeType="1"/>
            </p:cNvSpPr>
            <p:nvPr/>
          </p:nvSpPr>
          <p:spPr bwMode="auto">
            <a:xfrm>
              <a:off x="5006400"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8" name="Line 13"/>
            <p:cNvSpPr>
              <a:spLocks noChangeShapeType="1"/>
            </p:cNvSpPr>
            <p:nvPr/>
          </p:nvSpPr>
          <p:spPr bwMode="auto">
            <a:xfrm>
              <a:off x="4231115" y="1611093"/>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9" name="Text Box 14"/>
            <p:cNvSpPr txBox="1">
              <a:spLocks noChangeArrowheads="1"/>
            </p:cNvSpPr>
            <p:nvPr/>
          </p:nvSpPr>
          <p:spPr bwMode="auto">
            <a:xfrm>
              <a:off x="4440705" y="2350570"/>
              <a:ext cx="1212667"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ND </a:t>
              </a:r>
              <a:r>
                <a:rPr kumimoji="1" lang="zh-CN" altLang="en-US" sz="1600" b="1" dirty="0">
                  <a:solidFill>
                    <a:srgbClr val="CC00CC"/>
                  </a:solidFill>
                  <a:latin typeface="微软雅黑" pitchFamily="34" charset="-122"/>
                  <a:ea typeface="微软雅黑" pitchFamily="34" charset="-122"/>
                </a:rPr>
                <a:t>协议</a:t>
              </a:r>
            </a:p>
          </p:txBody>
        </p:sp>
        <p:sp>
          <p:nvSpPr>
            <p:cNvPr id="30" name="Text Box 15"/>
            <p:cNvSpPr txBox="1">
              <a:spLocks noChangeArrowheads="1"/>
            </p:cNvSpPr>
            <p:nvPr/>
          </p:nvSpPr>
          <p:spPr bwMode="auto">
            <a:xfrm>
              <a:off x="6195082" y="2350570"/>
              <a:ext cx="1394802"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MLD </a:t>
              </a:r>
              <a:r>
                <a:rPr kumimoji="1" lang="zh-CN" altLang="en-US" sz="1600" b="1" dirty="0">
                  <a:solidFill>
                    <a:srgbClr val="CC00CC"/>
                  </a:solidFill>
                  <a:latin typeface="微软雅黑" pitchFamily="34" charset="-122"/>
                  <a:ea typeface="微软雅黑" pitchFamily="34" charset="-122"/>
                </a:rPr>
                <a:t>协议</a:t>
              </a:r>
            </a:p>
          </p:txBody>
        </p:sp>
        <p:sp>
          <p:nvSpPr>
            <p:cNvPr id="19" name="矩形 18"/>
            <p:cNvSpPr/>
            <p:nvPr/>
          </p:nvSpPr>
          <p:spPr>
            <a:xfrm>
              <a:off x="1723280" y="2745160"/>
              <a:ext cx="6211780" cy="707886"/>
            </a:xfrm>
            <a:prstGeom prst="rect">
              <a:avLst/>
            </a:prstGeom>
          </p:spPr>
          <p:txBody>
            <a:bodyPr wrap="square">
              <a:spAutoFit/>
            </a:bodyPr>
            <a:lstStyle/>
            <a:p>
              <a:pPr>
                <a:lnSpc>
                  <a:spcPts val="2400"/>
                </a:lnSpc>
              </a:pPr>
              <a:r>
                <a:rPr lang="en-US" altLang="zh-CN" sz="1600" b="1" dirty="0">
                  <a:solidFill>
                    <a:srgbClr val="0000FF"/>
                  </a:solidFill>
                  <a:latin typeface="微软雅黑" pitchFamily="34" charset="-122"/>
                  <a:ea typeface="微软雅黑" pitchFamily="34" charset="-122"/>
                </a:rPr>
                <a:t>ND (Neighbor-Discovery)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邻站发现</a:t>
              </a:r>
              <a:endParaRPr lang="en-US" altLang="zh-CN" sz="1600" b="1" dirty="0">
                <a:solidFill>
                  <a:srgbClr val="0000FF"/>
                </a:solidFill>
                <a:latin typeface="微软雅黑" pitchFamily="34" charset="-122"/>
                <a:ea typeface="微软雅黑" pitchFamily="34" charset="-122"/>
              </a:endParaRPr>
            </a:p>
            <a:p>
              <a:pPr>
                <a:lnSpc>
                  <a:spcPts val="2400"/>
                </a:lnSpc>
              </a:pPr>
              <a:r>
                <a:rPr lang="en-US" altLang="zh-CN" sz="1600" b="1" dirty="0">
                  <a:solidFill>
                    <a:srgbClr val="0000FF"/>
                  </a:solidFill>
                  <a:latin typeface="微软雅黑" pitchFamily="34" charset="-122"/>
                  <a:ea typeface="微软雅黑" pitchFamily="34" charset="-122"/>
                </a:rPr>
                <a:t>MLD (Multicast Listener Delivery)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多播听众交付</a:t>
              </a:r>
              <a:endParaRPr lang="zh-CN" altLang="en-US" sz="1600" b="1" dirty="0">
                <a:solidFill>
                  <a:srgbClr val="0000FF"/>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53C29D5-39D3-FE54-C5CA-C9321CE9B234}"/>
              </a:ext>
            </a:extLst>
          </p:cNvPr>
          <p:cNvSpPr>
            <a:spLocks noGrp="1"/>
          </p:cNvSpPr>
          <p:nvPr>
            <p:ph type="title"/>
          </p:nvPr>
        </p:nvSpPr>
        <p:spPr>
          <a:xfrm>
            <a:off x="486000" y="550723"/>
            <a:ext cx="8172000" cy="338554"/>
          </a:xfrm>
        </p:spPr>
        <p:txBody>
          <a:bodyPr/>
          <a:lstStyle/>
          <a:p>
            <a:r>
              <a:rPr lang="en-US" altLang="zh-CN" dirty="0"/>
              <a:t>ICMPv6 </a:t>
            </a:r>
            <a:r>
              <a:rPr lang="zh-CN" altLang="en-US" dirty="0"/>
              <a:t>报文的分类</a:t>
            </a:r>
          </a:p>
        </p:txBody>
      </p:sp>
    </p:spTree>
    <p:extLst>
      <p:ext uri="{BB962C8B-B14F-4D97-AF65-F5344CB8AC3E}">
        <p14:creationId xmlns:p14="http://schemas.microsoft.com/office/powerpoint/2010/main" val="9937712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图片占位符 12">
            <a:extLst>
              <a:ext uri="{FF2B5EF4-FFF2-40B4-BE49-F238E27FC236}">
                <a16:creationId xmlns:a16="http://schemas.microsoft.com/office/drawing/2014/main" id="{7C7D3BDD-A824-6246-FC7C-51F5A6F463A0}"/>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3" name="标题 2">
            <a:extLst>
              <a:ext uri="{FF2B5EF4-FFF2-40B4-BE49-F238E27FC236}">
                <a16:creationId xmlns:a16="http://schemas.microsoft.com/office/drawing/2014/main" id="{D3AEA63E-0C8C-5E8B-0556-1E5AA3055627}"/>
              </a:ext>
            </a:extLst>
          </p:cNvPr>
          <p:cNvSpPr>
            <a:spLocks noGrp="1"/>
          </p:cNvSpPr>
          <p:nvPr>
            <p:ph type="title"/>
          </p:nvPr>
        </p:nvSpPr>
        <p:spPr>
          <a:xfrm>
            <a:off x="628650" y="1790739"/>
            <a:ext cx="4320000" cy="553998"/>
          </a:xfrm>
        </p:spPr>
        <p:txBody>
          <a:bodyPr/>
          <a:lstStyle/>
          <a:p>
            <a:r>
              <a:rPr lang="fr-FR" altLang="zh-CN" dirty="0"/>
              <a:t>4.</a:t>
            </a:r>
            <a:r>
              <a:rPr lang="en-US" altLang="zh-CN" dirty="0"/>
              <a:t>6</a:t>
            </a:r>
            <a:r>
              <a:rPr lang="zh-CN" altLang="en-US" dirty="0"/>
              <a:t>路由选择协议</a:t>
            </a:r>
          </a:p>
        </p:txBody>
      </p:sp>
      <p:sp>
        <p:nvSpPr>
          <p:cNvPr id="4" name="文本占位符 3">
            <a:extLst>
              <a:ext uri="{FF2B5EF4-FFF2-40B4-BE49-F238E27FC236}">
                <a16:creationId xmlns:a16="http://schemas.microsoft.com/office/drawing/2014/main" id="{4754544C-7CD0-8972-E484-BB618F32501A}"/>
              </a:ext>
            </a:extLst>
          </p:cNvPr>
          <p:cNvSpPr>
            <a:spLocks noGrp="1"/>
          </p:cNvSpPr>
          <p:nvPr>
            <p:ph type="body" sz="quarter" idx="11"/>
          </p:nvPr>
        </p:nvSpPr>
        <p:spPr>
          <a:xfrm>
            <a:off x="628100" y="2344736"/>
            <a:ext cx="4320000" cy="1870075"/>
          </a:xfrm>
        </p:spPr>
        <p:txBody>
          <a:bodyPr/>
          <a:lstStyle/>
          <a:p>
            <a:r>
              <a:rPr lang="en-US" altLang="zh-CN" dirty="0"/>
              <a:t>· </a:t>
            </a:r>
            <a:r>
              <a:rPr lang="zh-CN" altLang="en-US" dirty="0"/>
              <a:t>几个基本概念</a:t>
            </a:r>
            <a:endParaRPr lang="en-US" altLang="zh-CN" dirty="0"/>
          </a:p>
          <a:p>
            <a:r>
              <a:rPr lang="en-US" altLang="zh-CN" dirty="0"/>
              <a:t>· </a:t>
            </a:r>
            <a:r>
              <a:rPr lang="zh-CN" altLang="en-US" dirty="0"/>
              <a:t>内部网关协议 </a:t>
            </a:r>
            <a:r>
              <a:rPr lang="en-US" altLang="zh-CN" dirty="0"/>
              <a:t>RIP</a:t>
            </a:r>
          </a:p>
          <a:p>
            <a:r>
              <a:rPr lang="en-US" altLang="zh-CN" dirty="0"/>
              <a:t>· </a:t>
            </a:r>
            <a:r>
              <a:rPr lang="zh-CN" altLang="en-US" dirty="0"/>
              <a:t>内部网关协议 </a:t>
            </a:r>
            <a:r>
              <a:rPr lang="en-US" altLang="zh-CN" dirty="0"/>
              <a:t>OSPF</a:t>
            </a:r>
          </a:p>
          <a:p>
            <a:r>
              <a:rPr lang="en-US" altLang="zh-CN" dirty="0"/>
              <a:t>· </a:t>
            </a:r>
            <a:r>
              <a:rPr lang="zh-CN" altLang="en-US" dirty="0"/>
              <a:t>外部网关协议 </a:t>
            </a:r>
            <a:r>
              <a:rPr lang="en-US" altLang="zh-CN" dirty="0"/>
              <a:t>BGP</a:t>
            </a:r>
          </a:p>
          <a:p>
            <a:r>
              <a:rPr lang="en-US" altLang="zh-CN" dirty="0"/>
              <a:t>· </a:t>
            </a:r>
            <a:r>
              <a:rPr lang="zh-CN" altLang="en-US" dirty="0"/>
              <a:t>路由器的构成</a:t>
            </a:r>
          </a:p>
          <a:p>
            <a:endParaRPr lang="zh-CN" altLang="en-US" dirty="0"/>
          </a:p>
        </p:txBody>
      </p:sp>
    </p:spTree>
    <p:extLst>
      <p:ext uri="{BB962C8B-B14F-4D97-AF65-F5344CB8AC3E}">
        <p14:creationId xmlns:p14="http://schemas.microsoft.com/office/powerpoint/2010/main" val="12923953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26220"/>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1708076" y="585357"/>
            <a:ext cx="572785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4.6.1  </a:t>
            </a:r>
            <a:r>
              <a:rPr lang="zh-CN" altLang="en-US" sz="2400" b="1" dirty="0">
                <a:solidFill>
                  <a:schemeClr val="bg1"/>
                </a:solidFill>
                <a:latin typeface="微软雅黑" pitchFamily="34" charset="-122"/>
                <a:ea typeface="微软雅黑" pitchFamily="34" charset="-122"/>
              </a:rPr>
              <a:t>有关路由选择协议的几个基本概念</a:t>
            </a:r>
          </a:p>
        </p:txBody>
      </p:sp>
      <p:grpSp>
        <p:nvGrpSpPr>
          <p:cNvPr id="8" name="组合 7"/>
          <p:cNvGrpSpPr/>
          <p:nvPr/>
        </p:nvGrpSpPr>
        <p:grpSpPr>
          <a:xfrm>
            <a:off x="957532" y="1300244"/>
            <a:ext cx="7040366" cy="2667520"/>
            <a:chOff x="957532" y="1263300"/>
            <a:chExt cx="7040366" cy="2667520"/>
          </a:xfrm>
        </p:grpSpPr>
        <p:sp>
          <p:nvSpPr>
            <p:cNvPr id="9"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0"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1"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2"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3"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5"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609787" y="3427534"/>
              <a:ext cx="520700" cy="287337"/>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5642481" y="3283443"/>
              <a:ext cx="520700" cy="287337"/>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5066417" y="3643483"/>
              <a:ext cx="520700" cy="287337"/>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6722874" y="3500559"/>
              <a:ext cx="520700" cy="287337"/>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418345" y="2635371"/>
              <a:ext cx="520700" cy="287338"/>
            </a:xfrm>
            <a:prstGeom prst="rect">
              <a:avLst/>
            </a:prstGeom>
            <a:noFill/>
            <a:ln w="12699">
              <a:noFill/>
              <a:miter lim="800000"/>
              <a:headEnd/>
              <a:tailEnd/>
            </a:ln>
          </p:spPr>
        </p:pic>
        <p:pic>
          <p:nvPicPr>
            <p:cNvPr id="23" name="Picture 113"/>
            <p:cNvPicPr>
              <a:picLocks noChangeArrowheads="1"/>
            </p:cNvPicPr>
            <p:nvPr/>
          </p:nvPicPr>
          <p:blipFill>
            <a:blip r:embed="rId3" cstate="print"/>
            <a:srcRect/>
            <a:stretch>
              <a:fillRect/>
            </a:stretch>
          </p:blipFill>
          <p:spPr bwMode="auto">
            <a:xfrm>
              <a:off x="3557370" y="1365789"/>
              <a:ext cx="351656" cy="189462"/>
            </a:xfrm>
            <a:prstGeom prst="rect">
              <a:avLst/>
            </a:prstGeom>
            <a:noFill/>
            <a:ln w="12699">
              <a:noFill/>
              <a:miter lim="800000"/>
              <a:headEnd/>
              <a:tailEnd/>
            </a:ln>
          </p:spPr>
        </p:pic>
        <p:sp>
          <p:nvSpPr>
            <p:cNvPr id="24" name="矩形 23"/>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25" name="直接连接符 24"/>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椭圆 29"/>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31" name="下箭头 30"/>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32" name="Picture 113"/>
            <p:cNvPicPr>
              <a:picLocks noChangeArrowheads="1"/>
            </p:cNvPicPr>
            <p:nvPr/>
          </p:nvPicPr>
          <p:blipFill>
            <a:blip r:embed="rId3" cstate="print"/>
            <a:srcRect/>
            <a:stretch>
              <a:fillRect/>
            </a:stretch>
          </p:blipFill>
          <p:spPr bwMode="auto">
            <a:xfrm>
              <a:off x="4423607" y="1365789"/>
              <a:ext cx="351656" cy="189462"/>
            </a:xfrm>
            <a:prstGeom prst="rect">
              <a:avLst/>
            </a:prstGeom>
            <a:noFill/>
            <a:ln w="12699">
              <a:noFill/>
              <a:miter lim="800000"/>
              <a:headEnd/>
              <a:tailEnd/>
            </a:ln>
          </p:spPr>
        </p:pic>
        <p:sp>
          <p:nvSpPr>
            <p:cNvPr id="33" name="矩形 32"/>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34" name="直接连接符 33"/>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直接连接符 37"/>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9" name="椭圆 38"/>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0" name="下箭头 39"/>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41" name="Picture 113"/>
            <p:cNvPicPr>
              <a:picLocks noChangeArrowheads="1"/>
            </p:cNvPicPr>
            <p:nvPr/>
          </p:nvPicPr>
          <p:blipFill>
            <a:blip r:embed="rId3" cstate="print"/>
            <a:srcRect/>
            <a:stretch>
              <a:fillRect/>
            </a:stretch>
          </p:blipFill>
          <p:spPr bwMode="auto">
            <a:xfrm>
              <a:off x="5143687" y="1365789"/>
              <a:ext cx="351656" cy="189462"/>
            </a:xfrm>
            <a:prstGeom prst="rect">
              <a:avLst/>
            </a:prstGeom>
            <a:noFill/>
            <a:ln w="12699">
              <a:noFill/>
              <a:miter lim="800000"/>
              <a:headEnd/>
              <a:tailEnd/>
            </a:ln>
          </p:spPr>
        </p:pic>
        <p:sp>
          <p:nvSpPr>
            <p:cNvPr id="42" name="矩形 41"/>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43" name="直接连接符 42"/>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椭圆 47"/>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9" name="下箭头 48"/>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0" name="Picture 113"/>
            <p:cNvPicPr>
              <a:picLocks noChangeArrowheads="1"/>
            </p:cNvPicPr>
            <p:nvPr/>
          </p:nvPicPr>
          <p:blipFill>
            <a:blip r:embed="rId3" cstate="print"/>
            <a:srcRect/>
            <a:stretch>
              <a:fillRect/>
            </a:stretch>
          </p:blipFill>
          <p:spPr bwMode="auto">
            <a:xfrm>
              <a:off x="6727863" y="1365789"/>
              <a:ext cx="351656" cy="189462"/>
            </a:xfrm>
            <a:prstGeom prst="rect">
              <a:avLst/>
            </a:prstGeom>
            <a:noFill/>
            <a:ln w="12699">
              <a:noFill/>
              <a:miter lim="800000"/>
              <a:headEnd/>
              <a:tailEnd/>
            </a:ln>
          </p:spPr>
        </p:pic>
        <p:sp>
          <p:nvSpPr>
            <p:cNvPr id="51" name="矩形 50"/>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52" name="直接连接符 51"/>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7" name="椭圆 56"/>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58" name="下箭头 57"/>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9" name="Picture 113"/>
            <p:cNvPicPr>
              <a:picLocks noChangeArrowheads="1"/>
            </p:cNvPicPr>
            <p:nvPr/>
          </p:nvPicPr>
          <p:blipFill>
            <a:blip r:embed="rId3" cstate="print"/>
            <a:srcRect/>
            <a:stretch>
              <a:fillRect/>
            </a:stretch>
          </p:blipFill>
          <p:spPr bwMode="auto">
            <a:xfrm>
              <a:off x="5791759" y="1365789"/>
              <a:ext cx="351656" cy="189462"/>
            </a:xfrm>
            <a:prstGeom prst="rect">
              <a:avLst/>
            </a:prstGeom>
            <a:noFill/>
            <a:ln w="12699">
              <a:noFill/>
              <a:miter lim="800000"/>
              <a:headEnd/>
              <a:tailEnd/>
            </a:ln>
          </p:spPr>
        </p:pic>
        <p:sp>
          <p:nvSpPr>
            <p:cNvPr id="60" name="矩形 59"/>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61" name="直接连接符 60"/>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直接连接符 64"/>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6" name="椭圆 65"/>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7" name="下箭头 66"/>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8" name="TextBox 175"/>
            <p:cNvSpPr txBox="1"/>
            <p:nvPr/>
          </p:nvSpPr>
          <p:spPr>
            <a:xfrm>
              <a:off x="2453417" y="1339227"/>
              <a:ext cx="902811" cy="523220"/>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路由选择</a:t>
              </a:r>
              <a:endParaRPr lang="en-US" altLang="zh-CN" sz="1400" b="1" dirty="0">
                <a:solidFill>
                  <a:srgbClr val="0000FF"/>
                </a:solidFill>
                <a:latin typeface="微软雅黑" panose="020B0503020204020204" pitchFamily="34" charset="-122"/>
                <a:ea typeface="微软雅黑" panose="020B0503020204020204" pitchFamily="34" charset="-122"/>
              </a:endParaRPr>
            </a:p>
            <a:p>
              <a:pPr algn="ctr"/>
              <a:r>
                <a:rPr lang="zh-CN" altLang="en-US" sz="1400" b="1" dirty="0">
                  <a:solidFill>
                    <a:srgbClr val="0000FF"/>
                  </a:solidFill>
                  <a:latin typeface="微软雅黑" panose="020B0503020204020204" pitchFamily="34" charset="-122"/>
                  <a:ea typeface="微软雅黑" panose="020B0503020204020204" pitchFamily="34" charset="-122"/>
                </a:rPr>
                <a:t>算法</a:t>
              </a:r>
            </a:p>
          </p:txBody>
        </p:sp>
        <p:sp>
          <p:nvSpPr>
            <p:cNvPr id="69" name="TextBox 176"/>
            <p:cNvSpPr txBox="1"/>
            <p:nvPr/>
          </p:nvSpPr>
          <p:spPr>
            <a:xfrm>
              <a:off x="2549711" y="2103292"/>
              <a:ext cx="723275" cy="307777"/>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转发表</a:t>
              </a:r>
            </a:p>
          </p:txBody>
        </p:sp>
        <p:cxnSp>
          <p:nvCxnSpPr>
            <p:cNvPr id="70" name="直接连接符 69"/>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1" name="TextBox 179"/>
            <p:cNvSpPr txBox="1"/>
            <p:nvPr/>
          </p:nvSpPr>
          <p:spPr>
            <a:xfrm>
              <a:off x="1249993" y="1559485"/>
              <a:ext cx="1049536" cy="338554"/>
            </a:xfrm>
            <a:prstGeom prst="rect">
              <a:avLst/>
            </a:prstGeom>
            <a:solidFill>
              <a:srgbClr val="33CC33"/>
            </a:solidFill>
            <a:ln>
              <a:noFill/>
            </a:ln>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控制层面</a:t>
              </a:r>
            </a:p>
          </p:txBody>
        </p:sp>
        <p:sp>
          <p:nvSpPr>
            <p:cNvPr id="72" name="TextBox 180"/>
            <p:cNvSpPr txBox="1"/>
            <p:nvPr/>
          </p:nvSpPr>
          <p:spPr>
            <a:xfrm>
              <a:off x="1249993" y="1932543"/>
              <a:ext cx="1049536" cy="338554"/>
            </a:xfrm>
            <a:prstGeom prst="rect">
              <a:avLst/>
            </a:prstGeom>
            <a:solidFill>
              <a:schemeClr val="accent6">
                <a:lumMod val="75000"/>
              </a:schemeClr>
            </a:solid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数据层面</a:t>
              </a:r>
            </a:p>
          </p:txBody>
        </p:sp>
        <p:cxnSp>
          <p:nvCxnSpPr>
            <p:cNvPr id="73" name="直接箭头连接符 72"/>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a:endCxn id="21"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8" name="直接箭头连接符 77"/>
            <p:cNvCxnSpPr/>
            <p:nvPr/>
          </p:nvCxnSpPr>
          <p:spPr>
            <a:xfrm flipV="1">
              <a:off x="3212645" y="224918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nvGrpSpPr>
            <p:cNvPr id="84" name="组合 83"/>
            <p:cNvGrpSpPr/>
            <p:nvPr/>
          </p:nvGrpSpPr>
          <p:grpSpPr>
            <a:xfrm>
              <a:off x="1062847" y="1267219"/>
              <a:ext cx="206062" cy="1296144"/>
              <a:chOff x="199861" y="1988840"/>
              <a:chExt cx="288414" cy="1440160"/>
            </a:xfrm>
          </p:grpSpPr>
          <p:sp>
            <p:nvSpPr>
              <p:cNvPr id="88" name="上箭头 87"/>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9" name="上箭头 88"/>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pic>
          <p:nvPicPr>
            <p:cNvPr id="8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87" name="直接箭头连接符 86"/>
            <p:cNvCxnSpPr/>
            <p:nvPr/>
          </p:nvCxnSpPr>
          <p:spPr>
            <a:xfrm flipV="1">
              <a:off x="3212645" y="168836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90" name="矩形 89"/>
          <p:cNvSpPr/>
          <p:nvPr/>
        </p:nvSpPr>
        <p:spPr>
          <a:xfrm>
            <a:off x="2453417" y="4209242"/>
            <a:ext cx="4965299" cy="369332"/>
          </a:xfrm>
          <a:prstGeom prst="rect">
            <a:avLst/>
          </a:prstGeom>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路由选择协议属于</a:t>
            </a:r>
            <a:r>
              <a:rPr lang="zh-CN" altLang="en-US" b="1" dirty="0">
                <a:solidFill>
                  <a:srgbClr val="C00000"/>
                </a:solidFill>
                <a:latin typeface="微软雅黑" panose="020B0503020204020204" pitchFamily="34" charset="-122"/>
                <a:ea typeface="微软雅黑" panose="020B0503020204020204" pitchFamily="34" charset="-122"/>
              </a:rPr>
              <a:t>网络层控制层面</a:t>
            </a:r>
            <a:r>
              <a:rPr lang="zh-CN" altLang="en-US" b="1" dirty="0">
                <a:latin typeface="微软雅黑" panose="020B0503020204020204" pitchFamily="34" charset="-122"/>
                <a:ea typeface="微软雅黑" panose="020B0503020204020204" pitchFamily="34" charset="-122"/>
              </a:rPr>
              <a:t>的内容</a:t>
            </a:r>
          </a:p>
        </p:txBody>
      </p:sp>
    </p:spTree>
    <p:extLst>
      <p:ext uri="{BB962C8B-B14F-4D97-AF65-F5344CB8AC3E}">
        <p14:creationId xmlns:p14="http://schemas.microsoft.com/office/powerpoint/2010/main" val="1610816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30148"/>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96937"/>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理想的路由算法</a:t>
            </a:r>
          </a:p>
        </p:txBody>
      </p:sp>
      <p:graphicFrame>
        <p:nvGraphicFramePr>
          <p:cNvPr id="16" name="图示 15"/>
          <p:cNvGraphicFramePr/>
          <p:nvPr>
            <p:extLst>
              <p:ext uri="{D42A27DB-BD31-4B8C-83A1-F6EECF244321}">
                <p14:modId xmlns:p14="http://schemas.microsoft.com/office/powerpoint/2010/main" val="949914576"/>
              </p:ext>
            </p:extLst>
          </p:nvPr>
        </p:nvGraphicFramePr>
        <p:xfrm>
          <a:off x="2382983" y="1154546"/>
          <a:ext cx="4819049" cy="28632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9676219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2055392491"/>
              </p:ext>
            </p:extLst>
          </p:nvPr>
        </p:nvGraphicFramePr>
        <p:xfrm>
          <a:off x="1440873" y="613640"/>
          <a:ext cx="6520872" cy="347806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8761701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2091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87701"/>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路由算法分类（自适应）</a:t>
            </a:r>
          </a:p>
        </p:txBody>
      </p:sp>
      <p:graphicFrame>
        <p:nvGraphicFramePr>
          <p:cNvPr id="2" name="图示 1"/>
          <p:cNvGraphicFramePr/>
          <p:nvPr>
            <p:extLst>
              <p:ext uri="{D42A27DB-BD31-4B8C-83A1-F6EECF244321}">
                <p14:modId xmlns:p14="http://schemas.microsoft.com/office/powerpoint/2010/main" val="2406667029"/>
              </p:ext>
            </p:extLst>
          </p:nvPr>
        </p:nvGraphicFramePr>
        <p:xfrm>
          <a:off x="992908" y="1200729"/>
          <a:ext cx="7449128" cy="208741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42625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977168"/>
            <a:ext cx="8053711" cy="36317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互联网：</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采用自适应的（即动态的）、分布式路由选择协议。</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把整个互联网划分为许多较小的自治系统 </a:t>
            </a:r>
            <a:r>
              <a:rPr lang="en-US" altLang="zh-CN" sz="2000" b="1" dirty="0">
                <a:latin typeface="微软雅黑" pitchFamily="34" charset="-122"/>
                <a:ea typeface="微软雅黑" pitchFamily="34" charset="-122"/>
              </a:rPr>
              <a:t>AS</a:t>
            </a:r>
            <a:r>
              <a:rPr lang="zh-CN" altLang="en-US" sz="2000" b="1" dirty="0">
                <a:latin typeface="微软雅黑" pitchFamily="34" charset="-122"/>
                <a:ea typeface="微软雅黑" pitchFamily="34" charset="-122"/>
              </a:rPr>
              <a:t>，采用分层次的路由选择协议。</a:t>
            </a:r>
            <a:endParaRPr lang="en-US" altLang="zh-CN" sz="2000" b="1" dirty="0">
              <a:latin typeface="微软雅黑" pitchFamily="34" charset="-122"/>
              <a:ea typeface="微软雅黑" pitchFamily="34" charset="-122"/>
            </a:endParaRPr>
          </a:p>
          <a:p>
            <a:pPr marL="285750" lvl="1" indent="-285750">
              <a:lnSpc>
                <a:spcPts val="3300"/>
              </a:lnSpc>
              <a:buClr>
                <a:srgbClr val="0070C0"/>
              </a:buClr>
              <a:buSzPct val="75000"/>
              <a:buFont typeface="Wingdings" pitchFamily="2" charset="2"/>
              <a:buChar char="l"/>
            </a:pPr>
            <a:r>
              <a:rPr lang="zh-CN" altLang="en-US" sz="2000" b="1" dirty="0">
                <a:solidFill>
                  <a:srgbClr val="C00000"/>
                </a:solidFill>
                <a:latin typeface="微软雅黑" pitchFamily="34" charset="-122"/>
                <a:ea typeface="微软雅黑" pitchFamily="34" charset="-122"/>
              </a:rPr>
              <a:t>分为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个层次：</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自治系统之间的路由选择 或 </a:t>
            </a:r>
            <a:r>
              <a:rPr lang="zh-CN" altLang="en-US" sz="2000" b="1" dirty="0">
                <a:solidFill>
                  <a:srgbClr val="0000FF"/>
                </a:solidFill>
                <a:latin typeface="微软雅黑" pitchFamily="34" charset="-122"/>
                <a:ea typeface="微软雅黑" pitchFamily="34" charset="-122"/>
              </a:rPr>
              <a:t>域间路由选择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interdomain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自治系统内部的路由选择 或 </a:t>
            </a:r>
            <a:r>
              <a:rPr lang="zh-CN" altLang="en-US" sz="2000" b="1" dirty="0">
                <a:solidFill>
                  <a:srgbClr val="0000FF"/>
                </a:solidFill>
                <a:latin typeface="微软雅黑" pitchFamily="34" charset="-122"/>
                <a:ea typeface="微软雅黑" pitchFamily="34" charset="-122"/>
              </a:rPr>
              <a:t>域内路由选择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intradomain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20824"/>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7613"/>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分层次的路由选择协议</a:t>
            </a:r>
          </a:p>
        </p:txBody>
      </p:sp>
    </p:spTree>
    <p:extLst>
      <p:ext uri="{BB962C8B-B14F-4D97-AF65-F5344CB8AC3E}">
        <p14:creationId xmlns:p14="http://schemas.microsoft.com/office/powerpoint/2010/main" val="31413079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992200"/>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4" y="62085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70883"/>
            <a:ext cx="4670317" cy="400110"/>
          </a:xfrm>
          <a:prstGeom prst="rect">
            <a:avLst/>
          </a:prstGeom>
        </p:spPr>
        <p:txBody>
          <a:bodyPr wrap="none">
            <a:spAutoFit/>
          </a:bodyPr>
          <a:lstStyle/>
          <a:p>
            <a:r>
              <a:rPr lang="zh-CN" altLang="en-US" sz="2000" b="1" dirty="0">
                <a:latin typeface="微软雅黑" pitchFamily="34" charset="-122"/>
                <a:ea typeface="微软雅黑" pitchFamily="34" charset="-122"/>
              </a:rPr>
              <a:t>自治系统 </a:t>
            </a:r>
            <a:r>
              <a:rPr lang="en-US" altLang="zh-CN" sz="2000" b="1" dirty="0">
                <a:latin typeface="微软雅黑" pitchFamily="34" charset="-122"/>
                <a:ea typeface="微软雅黑" pitchFamily="34" charset="-122"/>
              </a:rPr>
              <a:t>AS (Autonomous System) </a:t>
            </a:r>
            <a:endParaRPr lang="zh-CN" altLang="en-US" sz="2000" b="1" dirty="0">
              <a:latin typeface="微软雅黑" pitchFamily="34" charset="-122"/>
              <a:ea typeface="微软雅黑" pitchFamily="34" charset="-122"/>
            </a:endParaRPr>
          </a:p>
        </p:txBody>
      </p:sp>
      <p:grpSp>
        <p:nvGrpSpPr>
          <p:cNvPr id="128" name="组合 127"/>
          <p:cNvGrpSpPr/>
          <p:nvPr/>
        </p:nvGrpSpPr>
        <p:grpSpPr>
          <a:xfrm>
            <a:off x="862523" y="1086132"/>
            <a:ext cx="4615393" cy="3173300"/>
            <a:chOff x="862523" y="1132312"/>
            <a:chExt cx="4615393" cy="3173300"/>
          </a:xfrm>
        </p:grpSpPr>
        <p:sp>
          <p:nvSpPr>
            <p:cNvPr id="8" name="Text Box 7"/>
            <p:cNvSpPr txBox="1">
              <a:spLocks noChangeArrowheads="1"/>
            </p:cNvSpPr>
            <p:nvPr/>
          </p:nvSpPr>
          <p:spPr bwMode="auto">
            <a:xfrm>
              <a:off x="2183407" y="1644965"/>
              <a:ext cx="419876" cy="3078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R1</a:t>
              </a:r>
            </a:p>
          </p:txBody>
        </p:sp>
        <p:grpSp>
          <p:nvGrpSpPr>
            <p:cNvPr id="9" name="Group 8"/>
            <p:cNvGrpSpPr>
              <a:grpSpLocks/>
            </p:cNvGrpSpPr>
            <p:nvPr/>
          </p:nvGrpSpPr>
          <p:grpSpPr bwMode="auto">
            <a:xfrm>
              <a:off x="862523" y="2861677"/>
              <a:ext cx="2084903" cy="1443935"/>
              <a:chOff x="672" y="2304"/>
              <a:chExt cx="1872" cy="1290"/>
            </a:xfrm>
          </p:grpSpPr>
          <p:sp>
            <p:nvSpPr>
              <p:cNvPr id="94" name="Rectangle 9"/>
              <p:cNvSpPr>
                <a:spLocks noChangeArrowheads="1"/>
              </p:cNvSpPr>
              <p:nvPr/>
            </p:nvSpPr>
            <p:spPr bwMode="auto">
              <a:xfrm>
                <a:off x="672" y="2304"/>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5" name="Oval 10"/>
              <p:cNvSpPr>
                <a:spLocks noChangeArrowheads="1"/>
              </p:cNvSpPr>
              <p:nvPr/>
            </p:nvSpPr>
            <p:spPr bwMode="auto">
              <a:xfrm>
                <a:off x="1008" y="2448"/>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6" name="Group 11"/>
              <p:cNvGrpSpPr>
                <a:grpSpLocks/>
              </p:cNvGrpSpPr>
              <p:nvPr/>
            </p:nvGrpSpPr>
            <p:grpSpPr bwMode="auto">
              <a:xfrm>
                <a:off x="2064" y="2880"/>
                <a:ext cx="320" cy="184"/>
                <a:chOff x="1000" y="3128"/>
                <a:chExt cx="320" cy="184"/>
              </a:xfrm>
            </p:grpSpPr>
            <p:sp>
              <p:nvSpPr>
                <p:cNvPr id="124" name="AutoShape 1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5" name="Line 1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6" name="Line 1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97" name="Oval 15"/>
              <p:cNvSpPr>
                <a:spLocks noChangeArrowheads="1"/>
              </p:cNvSpPr>
              <p:nvPr/>
            </p:nvSpPr>
            <p:spPr bwMode="auto">
              <a:xfrm>
                <a:off x="960" y="302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9" name="Group 17"/>
              <p:cNvGrpSpPr>
                <a:grpSpLocks/>
              </p:cNvGrpSpPr>
              <p:nvPr/>
            </p:nvGrpSpPr>
            <p:grpSpPr bwMode="auto">
              <a:xfrm>
                <a:off x="864" y="2736"/>
                <a:ext cx="240" cy="96"/>
                <a:chOff x="1000" y="3128"/>
                <a:chExt cx="320" cy="184"/>
              </a:xfrm>
            </p:grpSpPr>
            <p:sp>
              <p:nvSpPr>
                <p:cNvPr id="121" name="AutoShape 1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2" name="Line 1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3" name="Line 2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0" name="Line 21"/>
              <p:cNvSpPr>
                <a:spLocks noChangeShapeType="1"/>
              </p:cNvSpPr>
              <p:nvPr/>
            </p:nvSpPr>
            <p:spPr bwMode="auto">
              <a:xfrm>
                <a:off x="1200" y="2496"/>
                <a:ext cx="81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1" name="Line 22"/>
              <p:cNvSpPr>
                <a:spLocks noChangeShapeType="1"/>
              </p:cNvSpPr>
              <p:nvPr/>
            </p:nvSpPr>
            <p:spPr bwMode="auto">
              <a:xfrm flipH="1">
                <a:off x="1008" y="2544"/>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2" name="Line 23"/>
              <p:cNvSpPr>
                <a:spLocks noChangeShapeType="1"/>
              </p:cNvSpPr>
              <p:nvPr/>
            </p:nvSpPr>
            <p:spPr bwMode="auto">
              <a:xfrm>
                <a:off x="1008" y="2832"/>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3" name="Line 24"/>
              <p:cNvSpPr>
                <a:spLocks noChangeShapeType="1"/>
              </p:cNvSpPr>
              <p:nvPr/>
            </p:nvSpPr>
            <p:spPr bwMode="auto">
              <a:xfrm>
                <a:off x="1152" y="3072"/>
                <a:ext cx="33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4" name="Line 25"/>
              <p:cNvSpPr>
                <a:spLocks noChangeShapeType="1"/>
              </p:cNvSpPr>
              <p:nvPr/>
            </p:nvSpPr>
            <p:spPr bwMode="auto">
              <a:xfrm flipV="1">
                <a:off x="1680" y="2976"/>
                <a:ext cx="384" cy="9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5" name="Oval 26"/>
              <p:cNvSpPr>
                <a:spLocks noChangeArrowheads="1"/>
              </p:cNvSpPr>
              <p:nvPr/>
            </p:nvSpPr>
            <p:spPr bwMode="auto">
              <a:xfrm>
                <a:off x="1296" y="2832"/>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6" name="Oval 27"/>
              <p:cNvSpPr>
                <a:spLocks noChangeArrowheads="1"/>
              </p:cNvSpPr>
              <p:nvPr/>
            </p:nvSpPr>
            <p:spPr bwMode="auto">
              <a:xfrm>
                <a:off x="1488" y="302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7" name="Line 28"/>
              <p:cNvSpPr>
                <a:spLocks noChangeShapeType="1"/>
              </p:cNvSpPr>
              <p:nvPr/>
            </p:nvSpPr>
            <p:spPr bwMode="auto">
              <a:xfrm>
                <a:off x="1152" y="2544"/>
                <a:ext cx="192" cy="28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08" name="Group 29"/>
              <p:cNvGrpSpPr>
                <a:grpSpLocks/>
              </p:cNvGrpSpPr>
              <p:nvPr/>
            </p:nvGrpSpPr>
            <p:grpSpPr bwMode="auto">
              <a:xfrm>
                <a:off x="1152" y="2640"/>
                <a:ext cx="240" cy="96"/>
                <a:chOff x="1000" y="3128"/>
                <a:chExt cx="320" cy="184"/>
              </a:xfrm>
            </p:grpSpPr>
            <p:sp>
              <p:nvSpPr>
                <p:cNvPr id="118" name="AutoShape 3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9" name="Line 3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0" name="Line 3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9" name="Line 33"/>
              <p:cNvSpPr>
                <a:spLocks noChangeShapeType="1"/>
              </p:cNvSpPr>
              <p:nvPr/>
            </p:nvSpPr>
            <p:spPr bwMode="auto">
              <a:xfrm flipV="1">
                <a:off x="1488" y="2784"/>
                <a:ext cx="240" cy="9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0" name="Line 34"/>
              <p:cNvSpPr>
                <a:spLocks noChangeShapeType="1"/>
              </p:cNvSpPr>
              <p:nvPr/>
            </p:nvSpPr>
            <p:spPr bwMode="auto">
              <a:xfrm flipH="1">
                <a:off x="1632" y="2544"/>
                <a:ext cx="384" cy="48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11" name="Group 35"/>
              <p:cNvGrpSpPr>
                <a:grpSpLocks/>
              </p:cNvGrpSpPr>
              <p:nvPr/>
            </p:nvGrpSpPr>
            <p:grpSpPr bwMode="auto">
              <a:xfrm>
                <a:off x="1728" y="2736"/>
                <a:ext cx="240" cy="96"/>
                <a:chOff x="1000" y="3128"/>
                <a:chExt cx="320" cy="184"/>
              </a:xfrm>
            </p:grpSpPr>
            <p:sp>
              <p:nvSpPr>
                <p:cNvPr id="115" name="AutoShape 36"/>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6" name="Line 37"/>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7" name="Line 38"/>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12" name="Line 39"/>
              <p:cNvSpPr>
                <a:spLocks noChangeShapeType="1"/>
              </p:cNvSpPr>
              <p:nvPr/>
            </p:nvSpPr>
            <p:spPr bwMode="auto">
              <a:xfrm>
                <a:off x="2064" y="2544"/>
                <a:ext cx="144" cy="33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3" name="Text Box 40"/>
              <p:cNvSpPr txBox="1">
                <a:spLocks noChangeArrowheads="1"/>
              </p:cNvSpPr>
              <p:nvPr/>
            </p:nvSpPr>
            <p:spPr bwMode="auto">
              <a:xfrm>
                <a:off x="1920" y="3041"/>
                <a:ext cx="377"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R4</a:t>
                </a:r>
              </a:p>
            </p:txBody>
          </p:sp>
          <p:sp>
            <p:nvSpPr>
              <p:cNvPr id="114" name="Text Box 41"/>
              <p:cNvSpPr txBox="1">
                <a:spLocks noChangeArrowheads="1"/>
              </p:cNvSpPr>
              <p:nvPr/>
            </p:nvSpPr>
            <p:spPr bwMode="auto">
              <a:xfrm>
                <a:off x="1164" y="3319"/>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sp>
            <p:nvSpPr>
              <p:cNvPr id="98" name="Oval 16"/>
              <p:cNvSpPr>
                <a:spLocks noChangeArrowheads="1"/>
              </p:cNvSpPr>
              <p:nvPr/>
            </p:nvSpPr>
            <p:spPr bwMode="auto">
              <a:xfrm>
                <a:off x="1920" y="2448"/>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grpSp>
          <p:nvGrpSpPr>
            <p:cNvPr id="10" name="Group 126"/>
            <p:cNvGrpSpPr>
              <a:grpSpLocks/>
            </p:cNvGrpSpPr>
            <p:nvPr/>
          </p:nvGrpSpPr>
          <p:grpSpPr bwMode="auto">
            <a:xfrm>
              <a:off x="3393013" y="2861677"/>
              <a:ext cx="2084903" cy="1443935"/>
              <a:chOff x="3153" y="2625"/>
              <a:chExt cx="1872" cy="1290"/>
            </a:xfrm>
          </p:grpSpPr>
          <p:sp>
            <p:nvSpPr>
              <p:cNvPr id="69" name="Rectangle 43"/>
              <p:cNvSpPr>
                <a:spLocks noChangeArrowheads="1"/>
              </p:cNvSpPr>
              <p:nvPr/>
            </p:nvSpPr>
            <p:spPr bwMode="auto">
              <a:xfrm>
                <a:off x="3153" y="2625"/>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2" name="Oval 46"/>
              <p:cNvSpPr>
                <a:spLocks noChangeArrowheads="1"/>
              </p:cNvSpPr>
              <p:nvPr/>
            </p:nvSpPr>
            <p:spPr bwMode="auto">
              <a:xfrm>
                <a:off x="4689" y="3057"/>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3" name="Line 47"/>
              <p:cNvSpPr>
                <a:spLocks noChangeShapeType="1"/>
              </p:cNvSpPr>
              <p:nvPr/>
            </p:nvSpPr>
            <p:spPr bwMode="auto">
              <a:xfrm>
                <a:off x="3489" y="2865"/>
                <a:ext cx="432" cy="0"/>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4" name="Line 48"/>
              <p:cNvSpPr>
                <a:spLocks noChangeShapeType="1"/>
              </p:cNvSpPr>
              <p:nvPr/>
            </p:nvSpPr>
            <p:spPr bwMode="auto">
              <a:xfrm>
                <a:off x="3537" y="3441"/>
                <a:ext cx="57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5" name="Line 49"/>
              <p:cNvSpPr>
                <a:spLocks noChangeShapeType="1"/>
              </p:cNvSpPr>
              <p:nvPr/>
            </p:nvSpPr>
            <p:spPr bwMode="auto">
              <a:xfrm flipV="1">
                <a:off x="4257" y="3345"/>
                <a:ext cx="288" cy="9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6" name="Oval 50"/>
              <p:cNvSpPr>
                <a:spLocks noChangeArrowheads="1"/>
              </p:cNvSpPr>
              <p:nvPr/>
            </p:nvSpPr>
            <p:spPr bwMode="auto">
              <a:xfrm>
                <a:off x="4113" y="3393"/>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77" name="Group 51"/>
              <p:cNvGrpSpPr>
                <a:grpSpLocks/>
              </p:cNvGrpSpPr>
              <p:nvPr/>
            </p:nvGrpSpPr>
            <p:grpSpPr bwMode="auto">
              <a:xfrm>
                <a:off x="3729" y="3393"/>
                <a:ext cx="240" cy="96"/>
                <a:chOff x="1000" y="3128"/>
                <a:chExt cx="320" cy="184"/>
              </a:xfrm>
            </p:grpSpPr>
            <p:sp>
              <p:nvSpPr>
                <p:cNvPr id="91" name="AutoShape 5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2" name="Line 5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3" name="Line 5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78" name="Line 55"/>
              <p:cNvSpPr>
                <a:spLocks noChangeShapeType="1"/>
              </p:cNvSpPr>
              <p:nvPr/>
            </p:nvSpPr>
            <p:spPr bwMode="auto">
              <a:xfrm flipV="1">
                <a:off x="4641" y="3153"/>
                <a:ext cx="144" cy="14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9" name="Line 56"/>
              <p:cNvSpPr>
                <a:spLocks noChangeShapeType="1"/>
              </p:cNvSpPr>
              <p:nvPr/>
            </p:nvSpPr>
            <p:spPr bwMode="auto">
              <a:xfrm flipH="1">
                <a:off x="3441" y="2950"/>
                <a:ext cx="553" cy="491"/>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80" name="Group 57"/>
              <p:cNvGrpSpPr>
                <a:grpSpLocks/>
              </p:cNvGrpSpPr>
              <p:nvPr/>
            </p:nvGrpSpPr>
            <p:grpSpPr bwMode="auto">
              <a:xfrm>
                <a:off x="4449" y="3297"/>
                <a:ext cx="240" cy="96"/>
                <a:chOff x="1000" y="3128"/>
                <a:chExt cx="320" cy="184"/>
              </a:xfrm>
            </p:grpSpPr>
            <p:sp>
              <p:nvSpPr>
                <p:cNvPr id="88" name="AutoShape 5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89" name="Line 5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0" name="Line 6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81" name="Line 61"/>
              <p:cNvSpPr>
                <a:spLocks noChangeShapeType="1"/>
              </p:cNvSpPr>
              <p:nvPr/>
            </p:nvSpPr>
            <p:spPr bwMode="auto">
              <a:xfrm>
                <a:off x="4209" y="2913"/>
                <a:ext cx="480"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82" name="Group 62"/>
              <p:cNvGrpSpPr>
                <a:grpSpLocks/>
              </p:cNvGrpSpPr>
              <p:nvPr/>
            </p:nvGrpSpPr>
            <p:grpSpPr bwMode="auto">
              <a:xfrm>
                <a:off x="3921" y="2769"/>
                <a:ext cx="320" cy="184"/>
                <a:chOff x="1000" y="3128"/>
                <a:chExt cx="320" cy="184"/>
              </a:xfrm>
            </p:grpSpPr>
            <p:sp>
              <p:nvSpPr>
                <p:cNvPr id="85" name="AutoShape 63"/>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86" name="Line 64"/>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87" name="Line 65"/>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83" name="Text Box 66"/>
              <p:cNvSpPr txBox="1">
                <a:spLocks noChangeArrowheads="1"/>
              </p:cNvSpPr>
              <p:nvPr/>
            </p:nvSpPr>
            <p:spPr bwMode="auto">
              <a:xfrm>
                <a:off x="4209" y="2642"/>
                <a:ext cx="377"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R3</a:t>
                </a:r>
              </a:p>
            </p:txBody>
          </p:sp>
          <p:sp>
            <p:nvSpPr>
              <p:cNvPr id="84" name="Text Box 67"/>
              <p:cNvSpPr txBox="1">
                <a:spLocks noChangeArrowheads="1"/>
              </p:cNvSpPr>
              <p:nvPr/>
            </p:nvSpPr>
            <p:spPr bwMode="auto">
              <a:xfrm>
                <a:off x="3729" y="3640"/>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sp>
            <p:nvSpPr>
              <p:cNvPr id="70" name="Oval 44"/>
              <p:cNvSpPr>
                <a:spLocks noChangeArrowheads="1"/>
              </p:cNvSpPr>
              <p:nvPr/>
            </p:nvSpPr>
            <p:spPr bwMode="auto">
              <a:xfrm>
                <a:off x="3297" y="2817"/>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1" name="Oval 45"/>
              <p:cNvSpPr>
                <a:spLocks noChangeArrowheads="1"/>
              </p:cNvSpPr>
              <p:nvPr/>
            </p:nvSpPr>
            <p:spPr bwMode="auto">
              <a:xfrm>
                <a:off x="3345" y="3393"/>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grpSp>
          <p:nvGrpSpPr>
            <p:cNvPr id="11" name="Group 68"/>
            <p:cNvGrpSpPr>
              <a:grpSpLocks/>
            </p:cNvGrpSpPr>
            <p:nvPr/>
          </p:nvGrpSpPr>
          <p:grpSpPr bwMode="auto">
            <a:xfrm>
              <a:off x="862523" y="1132312"/>
              <a:ext cx="2084903" cy="1406998"/>
              <a:chOff x="672" y="759"/>
              <a:chExt cx="1872" cy="1257"/>
            </a:xfrm>
          </p:grpSpPr>
          <p:sp>
            <p:nvSpPr>
              <p:cNvPr id="46" name="Rectangle 69"/>
              <p:cNvSpPr>
                <a:spLocks noChangeArrowheads="1"/>
              </p:cNvSpPr>
              <p:nvPr/>
            </p:nvSpPr>
            <p:spPr bwMode="auto">
              <a:xfrm>
                <a:off x="672" y="1008"/>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7" name="Oval 70"/>
              <p:cNvSpPr>
                <a:spLocks noChangeArrowheads="1"/>
              </p:cNvSpPr>
              <p:nvPr/>
            </p:nvSpPr>
            <p:spPr bwMode="auto">
              <a:xfrm>
                <a:off x="1008" y="1152"/>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48" name="Group 71"/>
              <p:cNvGrpSpPr>
                <a:grpSpLocks/>
              </p:cNvGrpSpPr>
              <p:nvPr/>
            </p:nvGrpSpPr>
            <p:grpSpPr bwMode="auto">
              <a:xfrm>
                <a:off x="2016" y="1104"/>
                <a:ext cx="320" cy="184"/>
                <a:chOff x="1000" y="3128"/>
                <a:chExt cx="320" cy="184"/>
              </a:xfrm>
            </p:grpSpPr>
            <p:sp>
              <p:nvSpPr>
                <p:cNvPr id="66" name="AutoShape 7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7" name="Line 7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8" name="Line 7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49" name="Oval 75"/>
              <p:cNvSpPr>
                <a:spLocks noChangeArrowheads="1"/>
              </p:cNvSpPr>
              <p:nvPr/>
            </p:nvSpPr>
            <p:spPr bwMode="auto">
              <a:xfrm>
                <a:off x="960" y="1728"/>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50" name="Oval 76"/>
              <p:cNvSpPr>
                <a:spLocks noChangeArrowheads="1"/>
              </p:cNvSpPr>
              <p:nvPr/>
            </p:nvSpPr>
            <p:spPr bwMode="auto">
              <a:xfrm>
                <a:off x="2064" y="1632"/>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51" name="Group 77"/>
              <p:cNvGrpSpPr>
                <a:grpSpLocks/>
              </p:cNvGrpSpPr>
              <p:nvPr/>
            </p:nvGrpSpPr>
            <p:grpSpPr bwMode="auto">
              <a:xfrm>
                <a:off x="864" y="1440"/>
                <a:ext cx="240" cy="96"/>
                <a:chOff x="1000" y="3128"/>
                <a:chExt cx="320" cy="184"/>
              </a:xfrm>
            </p:grpSpPr>
            <p:sp>
              <p:nvSpPr>
                <p:cNvPr id="63" name="AutoShape 7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4" name="Line 7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5" name="Line 8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52" name="Group 81"/>
              <p:cNvGrpSpPr>
                <a:grpSpLocks/>
              </p:cNvGrpSpPr>
              <p:nvPr/>
            </p:nvGrpSpPr>
            <p:grpSpPr bwMode="auto">
              <a:xfrm>
                <a:off x="1488" y="1776"/>
                <a:ext cx="240" cy="96"/>
                <a:chOff x="1000" y="3128"/>
                <a:chExt cx="320" cy="184"/>
              </a:xfrm>
            </p:grpSpPr>
            <p:sp>
              <p:nvSpPr>
                <p:cNvPr id="60" name="AutoShape 8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1" name="Line 8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2" name="Line 8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53" name="Line 85"/>
              <p:cNvSpPr>
                <a:spLocks noChangeShapeType="1"/>
              </p:cNvSpPr>
              <p:nvPr/>
            </p:nvSpPr>
            <p:spPr bwMode="auto">
              <a:xfrm>
                <a:off x="1200" y="1200"/>
                <a:ext cx="81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4" name="Line 86"/>
              <p:cNvSpPr>
                <a:spLocks noChangeShapeType="1"/>
              </p:cNvSpPr>
              <p:nvPr/>
            </p:nvSpPr>
            <p:spPr bwMode="auto">
              <a:xfrm flipH="1">
                <a:off x="1008" y="1248"/>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5" name="Line 87"/>
              <p:cNvSpPr>
                <a:spLocks noChangeShapeType="1"/>
              </p:cNvSpPr>
              <p:nvPr/>
            </p:nvSpPr>
            <p:spPr bwMode="auto">
              <a:xfrm>
                <a:off x="1008" y="1536"/>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6" name="Line 88"/>
              <p:cNvSpPr>
                <a:spLocks noChangeShapeType="1"/>
              </p:cNvSpPr>
              <p:nvPr/>
            </p:nvSpPr>
            <p:spPr bwMode="auto">
              <a:xfrm>
                <a:off x="1152" y="1776"/>
                <a:ext cx="336" cy="4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7" name="Line 89"/>
              <p:cNvSpPr>
                <a:spLocks noChangeShapeType="1"/>
              </p:cNvSpPr>
              <p:nvPr/>
            </p:nvSpPr>
            <p:spPr bwMode="auto">
              <a:xfrm flipV="1">
                <a:off x="1728" y="1680"/>
                <a:ext cx="336" cy="14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8" name="Line 90"/>
              <p:cNvSpPr>
                <a:spLocks noChangeShapeType="1"/>
              </p:cNvSpPr>
              <p:nvPr/>
            </p:nvSpPr>
            <p:spPr bwMode="auto">
              <a:xfrm>
                <a:off x="2160" y="1296"/>
                <a:ext cx="0" cy="336"/>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9" name="Text Box 91"/>
              <p:cNvSpPr txBox="1">
                <a:spLocks noChangeArrowheads="1"/>
              </p:cNvSpPr>
              <p:nvPr/>
            </p:nvSpPr>
            <p:spPr bwMode="auto">
              <a:xfrm>
                <a:off x="1212" y="759"/>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grpSp>
        <p:grpSp>
          <p:nvGrpSpPr>
            <p:cNvPr id="12" name="Group 92"/>
            <p:cNvGrpSpPr>
              <a:grpSpLocks/>
            </p:cNvGrpSpPr>
            <p:nvPr/>
          </p:nvGrpSpPr>
          <p:grpSpPr bwMode="auto">
            <a:xfrm>
              <a:off x="3393013" y="1132312"/>
              <a:ext cx="2084903" cy="1406998"/>
              <a:chOff x="3168" y="759"/>
              <a:chExt cx="1872" cy="1257"/>
            </a:xfrm>
          </p:grpSpPr>
          <p:sp>
            <p:nvSpPr>
              <p:cNvPr id="16" name="Rectangle 93"/>
              <p:cNvSpPr>
                <a:spLocks noChangeArrowheads="1"/>
              </p:cNvSpPr>
              <p:nvPr/>
            </p:nvSpPr>
            <p:spPr bwMode="auto">
              <a:xfrm>
                <a:off x="3168" y="1008"/>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7" name="Oval 94"/>
              <p:cNvSpPr>
                <a:spLocks noChangeArrowheads="1"/>
              </p:cNvSpPr>
              <p:nvPr/>
            </p:nvSpPr>
            <p:spPr bwMode="auto">
              <a:xfrm>
                <a:off x="3360" y="134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9" name="Oval 96"/>
              <p:cNvSpPr>
                <a:spLocks noChangeArrowheads="1"/>
              </p:cNvSpPr>
              <p:nvPr/>
            </p:nvSpPr>
            <p:spPr bwMode="auto">
              <a:xfrm>
                <a:off x="4704" y="1776"/>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0" name="Line 97"/>
              <p:cNvSpPr>
                <a:spLocks noChangeShapeType="1"/>
              </p:cNvSpPr>
              <p:nvPr/>
            </p:nvSpPr>
            <p:spPr bwMode="auto">
              <a:xfrm>
                <a:off x="4224" y="1200"/>
                <a:ext cx="528" cy="57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1" name="Line 98"/>
              <p:cNvSpPr>
                <a:spLocks noChangeShapeType="1"/>
              </p:cNvSpPr>
              <p:nvPr/>
            </p:nvSpPr>
            <p:spPr bwMode="auto">
              <a:xfrm flipH="1">
                <a:off x="3504" y="1152"/>
                <a:ext cx="624" cy="24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2" name="Line 99"/>
              <p:cNvSpPr>
                <a:spLocks noChangeShapeType="1"/>
              </p:cNvSpPr>
              <p:nvPr/>
            </p:nvSpPr>
            <p:spPr bwMode="auto">
              <a:xfrm>
                <a:off x="4752" y="1200"/>
                <a:ext cx="48" cy="62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3" name="Line 100"/>
              <p:cNvSpPr>
                <a:spLocks noChangeShapeType="1"/>
              </p:cNvSpPr>
              <p:nvPr/>
            </p:nvSpPr>
            <p:spPr bwMode="auto">
              <a:xfrm>
                <a:off x="3648" y="1824"/>
                <a:ext cx="33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4" name="Line 101"/>
              <p:cNvSpPr>
                <a:spLocks noChangeShapeType="1"/>
              </p:cNvSpPr>
              <p:nvPr/>
            </p:nvSpPr>
            <p:spPr bwMode="auto">
              <a:xfrm flipV="1">
                <a:off x="4080" y="1152"/>
                <a:ext cx="624" cy="62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25" name="Group 102"/>
              <p:cNvGrpSpPr>
                <a:grpSpLocks/>
              </p:cNvGrpSpPr>
              <p:nvPr/>
            </p:nvGrpSpPr>
            <p:grpSpPr bwMode="auto">
              <a:xfrm>
                <a:off x="4304" y="1392"/>
                <a:ext cx="240" cy="96"/>
                <a:chOff x="1000" y="3128"/>
                <a:chExt cx="320" cy="184"/>
              </a:xfrm>
            </p:grpSpPr>
            <p:sp>
              <p:nvSpPr>
                <p:cNvPr id="43" name="AutoShape 103"/>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4" name="Line 104"/>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5" name="Line 105"/>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26" name="Line 106"/>
              <p:cNvSpPr>
                <a:spLocks noChangeShapeType="1"/>
              </p:cNvSpPr>
              <p:nvPr/>
            </p:nvSpPr>
            <p:spPr bwMode="auto">
              <a:xfrm flipH="1">
                <a:off x="3456" y="1440"/>
                <a:ext cx="0" cy="28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7" name="Oval 107"/>
              <p:cNvSpPr>
                <a:spLocks noChangeArrowheads="1"/>
              </p:cNvSpPr>
              <p:nvPr/>
            </p:nvSpPr>
            <p:spPr bwMode="auto">
              <a:xfrm>
                <a:off x="4080" y="110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8" name="Oval 108"/>
              <p:cNvSpPr>
                <a:spLocks noChangeArrowheads="1"/>
              </p:cNvSpPr>
              <p:nvPr/>
            </p:nvSpPr>
            <p:spPr bwMode="auto">
              <a:xfrm>
                <a:off x="4656" y="110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29" name="Group 109"/>
              <p:cNvGrpSpPr>
                <a:grpSpLocks/>
              </p:cNvGrpSpPr>
              <p:nvPr/>
            </p:nvGrpSpPr>
            <p:grpSpPr bwMode="auto">
              <a:xfrm>
                <a:off x="3696" y="1200"/>
                <a:ext cx="240" cy="96"/>
                <a:chOff x="1000" y="3128"/>
                <a:chExt cx="320" cy="184"/>
              </a:xfrm>
            </p:grpSpPr>
            <p:sp>
              <p:nvSpPr>
                <p:cNvPr id="40" name="AutoShape 11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1" name="Line 11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2" name="Line 11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30" name="Group 113"/>
              <p:cNvGrpSpPr>
                <a:grpSpLocks/>
              </p:cNvGrpSpPr>
              <p:nvPr/>
            </p:nvGrpSpPr>
            <p:grpSpPr bwMode="auto">
              <a:xfrm>
                <a:off x="4656" y="1392"/>
                <a:ext cx="240" cy="96"/>
                <a:chOff x="1000" y="3128"/>
                <a:chExt cx="320" cy="184"/>
              </a:xfrm>
            </p:grpSpPr>
            <p:sp>
              <p:nvSpPr>
                <p:cNvPr id="37" name="AutoShape 114"/>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8" name="Line 115"/>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39" name="Line 116"/>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31" name="Group 117"/>
              <p:cNvGrpSpPr>
                <a:grpSpLocks/>
              </p:cNvGrpSpPr>
              <p:nvPr/>
            </p:nvGrpSpPr>
            <p:grpSpPr bwMode="auto">
              <a:xfrm>
                <a:off x="3328" y="1688"/>
                <a:ext cx="320" cy="184"/>
                <a:chOff x="1000" y="3128"/>
                <a:chExt cx="320" cy="184"/>
              </a:xfrm>
            </p:grpSpPr>
            <p:sp>
              <p:nvSpPr>
                <p:cNvPr id="34" name="AutoShape 11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5" name="Line 11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36" name="Line 12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32" name="Text Box 121"/>
              <p:cNvSpPr txBox="1">
                <a:spLocks noChangeArrowheads="1"/>
              </p:cNvSpPr>
              <p:nvPr/>
            </p:nvSpPr>
            <p:spPr bwMode="auto">
              <a:xfrm>
                <a:off x="3586" y="1505"/>
                <a:ext cx="377"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R2</a:t>
                </a:r>
              </a:p>
            </p:txBody>
          </p:sp>
          <p:sp>
            <p:nvSpPr>
              <p:cNvPr id="33" name="Text Box 122"/>
              <p:cNvSpPr txBox="1">
                <a:spLocks noChangeArrowheads="1"/>
              </p:cNvSpPr>
              <p:nvPr/>
            </p:nvSpPr>
            <p:spPr bwMode="auto">
              <a:xfrm>
                <a:off x="3704" y="759"/>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sp>
            <p:nvSpPr>
              <p:cNvPr id="18" name="Oval 95"/>
              <p:cNvSpPr>
                <a:spLocks noChangeArrowheads="1"/>
              </p:cNvSpPr>
              <p:nvPr/>
            </p:nvSpPr>
            <p:spPr bwMode="auto">
              <a:xfrm>
                <a:off x="3936" y="1776"/>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sp>
          <p:nvSpPr>
            <p:cNvPr id="13" name="Line 123"/>
            <p:cNvSpPr>
              <a:spLocks noChangeShapeType="1"/>
            </p:cNvSpPr>
            <p:nvPr/>
          </p:nvSpPr>
          <p:spPr bwMode="auto">
            <a:xfrm>
              <a:off x="2656741" y="1663314"/>
              <a:ext cx="938971" cy="553629"/>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4" name="Line 124"/>
            <p:cNvSpPr>
              <a:spLocks noChangeShapeType="1"/>
            </p:cNvSpPr>
            <p:nvPr/>
          </p:nvSpPr>
          <p:spPr bwMode="auto">
            <a:xfrm>
              <a:off x="3838505" y="2349705"/>
              <a:ext cx="481132" cy="698462"/>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5" name="Line 125"/>
            <p:cNvSpPr>
              <a:spLocks noChangeShapeType="1"/>
            </p:cNvSpPr>
            <p:nvPr/>
          </p:nvSpPr>
          <p:spPr bwMode="auto">
            <a:xfrm flipH="1">
              <a:off x="2787049" y="3191879"/>
              <a:ext cx="1488772" cy="421986"/>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7" name="Rectangle 249"/>
          <p:cNvSpPr>
            <a:spLocks noChangeArrowheads="1"/>
          </p:cNvSpPr>
          <p:nvPr/>
        </p:nvSpPr>
        <p:spPr bwMode="auto">
          <a:xfrm>
            <a:off x="2055328" y="1650274"/>
            <a:ext cx="419876" cy="3078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R1</a:t>
            </a:r>
          </a:p>
        </p:txBody>
      </p:sp>
      <p:sp>
        <p:nvSpPr>
          <p:cNvPr id="127" name="矩形 126"/>
          <p:cNvSpPr/>
          <p:nvPr/>
        </p:nvSpPr>
        <p:spPr>
          <a:xfrm>
            <a:off x="5703920" y="1250108"/>
            <a:ext cx="2570739" cy="2862322"/>
          </a:xfrm>
          <a:prstGeom prst="rect">
            <a:avLst/>
          </a:prstGeom>
          <a:solidFill>
            <a:schemeClr val="bg1"/>
          </a:solidFill>
        </p:spPr>
        <p:txBody>
          <a:bodyPr wrap="square">
            <a:spAutoFit/>
          </a:bodyPr>
          <a:lstStyle/>
          <a:p>
            <a:pPr>
              <a:lnSpc>
                <a:spcPts val="2400"/>
              </a:lnSpc>
            </a:pPr>
            <a:r>
              <a:rPr lang="zh-CN" altLang="en-US" sz="1600" b="1" dirty="0">
                <a:solidFill>
                  <a:srgbClr val="C00000"/>
                </a:solidFill>
                <a:latin typeface="微软雅黑" panose="020B0503020204020204" pitchFamily="34" charset="-122"/>
                <a:ea typeface="微软雅黑" panose="020B0503020204020204" pitchFamily="34" charset="-122"/>
              </a:rPr>
              <a:t>自治系统 </a:t>
            </a:r>
            <a:r>
              <a:rPr lang="en-US" altLang="zh-CN" sz="1600" b="1" dirty="0">
                <a:solidFill>
                  <a:srgbClr val="C00000"/>
                </a:solidFill>
                <a:latin typeface="微软雅黑" panose="020B0503020204020204" pitchFamily="34" charset="-122"/>
                <a:ea typeface="微软雅黑" panose="020B0503020204020204" pitchFamily="34" charset="-122"/>
              </a:rPr>
              <a:t>AS </a:t>
            </a:r>
            <a:r>
              <a:rPr lang="zh-CN" altLang="en-US" sz="1600" b="1" dirty="0">
                <a:solidFill>
                  <a:srgbClr val="C00000"/>
                </a:solidFill>
                <a:latin typeface="微软雅黑" panose="020B0503020204020204" pitchFamily="34" charset="-122"/>
                <a:ea typeface="微软雅黑" panose="020B0503020204020204" pitchFamily="34" charset="-122"/>
              </a:rPr>
              <a:t>：</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是在单一技术管理下的许多网络、</a:t>
            </a:r>
            <a:r>
              <a:rPr lang="en-US" altLang="zh-CN" sz="1600" b="1" dirty="0">
                <a:latin typeface="微软雅黑" panose="020B0503020204020204" pitchFamily="34" charset="-122"/>
                <a:ea typeface="微软雅黑" panose="020B0503020204020204" pitchFamily="34" charset="-122"/>
              </a:rPr>
              <a:t>IP</a:t>
            </a:r>
            <a:r>
              <a:rPr lang="zh-CN" altLang="en-US" sz="1600" b="1" dirty="0">
                <a:latin typeface="微软雅黑" panose="020B0503020204020204" pitchFamily="34" charset="-122"/>
                <a:ea typeface="微软雅黑" panose="020B0503020204020204" pitchFamily="34" charset="-122"/>
              </a:rPr>
              <a:t>地址以及路由器，而这些路由器使用一种自治系统内部的路由选择协议和共同的度量。每一个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对其他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表现出的是一个</a:t>
            </a:r>
            <a:r>
              <a:rPr lang="zh-CN" altLang="en-US" sz="1600" b="1" dirty="0">
                <a:solidFill>
                  <a:srgbClr val="C00000"/>
                </a:solidFill>
                <a:latin typeface="微软雅黑" panose="020B0503020204020204" pitchFamily="34" charset="-122"/>
                <a:ea typeface="微软雅黑" panose="020B0503020204020204" pitchFamily="34" charset="-122"/>
              </a:rPr>
              <a:t>单一的和一致的</a:t>
            </a:r>
            <a:r>
              <a:rPr lang="zh-CN" altLang="en-US" sz="1600" b="1" dirty="0">
                <a:latin typeface="微软雅黑" panose="020B0503020204020204" pitchFamily="34" charset="-122"/>
                <a:ea typeface="微软雅黑" panose="020B0503020204020204" pitchFamily="34" charset="-122"/>
              </a:rPr>
              <a:t>路由选择策略。</a:t>
            </a:r>
          </a:p>
        </p:txBody>
      </p:sp>
    </p:spTree>
    <p:extLst>
      <p:ext uri="{BB962C8B-B14F-4D97-AF65-F5344CB8AC3E}">
        <p14:creationId xmlns:p14="http://schemas.microsoft.com/office/powerpoint/2010/main" val="5044002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954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69568"/>
            <a:ext cx="2472152" cy="400110"/>
          </a:xfrm>
          <a:prstGeom prst="rect">
            <a:avLst/>
          </a:prstGeom>
        </p:spPr>
        <p:txBody>
          <a:bodyPr wrap="none">
            <a:spAutoFit/>
          </a:bodyPr>
          <a:lstStyle/>
          <a:p>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大类路由选择协议</a:t>
            </a:r>
          </a:p>
        </p:txBody>
      </p:sp>
      <p:graphicFrame>
        <p:nvGraphicFramePr>
          <p:cNvPr id="6" name="图示 5"/>
          <p:cNvGraphicFramePr/>
          <p:nvPr>
            <p:extLst>
              <p:ext uri="{D42A27DB-BD31-4B8C-83A1-F6EECF244321}">
                <p14:modId xmlns:p14="http://schemas.microsoft.com/office/powerpoint/2010/main" val="3572960983"/>
              </p:ext>
            </p:extLst>
          </p:nvPr>
        </p:nvGraphicFramePr>
        <p:xfrm>
          <a:off x="992908" y="1191492"/>
          <a:ext cx="7449128" cy="28540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337019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085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79675"/>
            <a:ext cx="4878259" cy="400110"/>
          </a:xfrm>
          <a:prstGeom prst="rect">
            <a:avLst/>
          </a:prstGeom>
        </p:spPr>
        <p:txBody>
          <a:bodyPr wrap="none">
            <a:spAutoFit/>
          </a:bodyPr>
          <a:lstStyle/>
          <a:p>
            <a:r>
              <a:rPr lang="zh-CN" altLang="en-US" sz="2000" b="1" dirty="0">
                <a:latin typeface="微软雅黑" pitchFamily="34" charset="-122"/>
                <a:ea typeface="微软雅黑" pitchFamily="34" charset="-122"/>
              </a:rPr>
              <a:t>自治系统和内部网关协议、外部网关协议 </a:t>
            </a:r>
          </a:p>
        </p:txBody>
      </p:sp>
      <p:grpSp>
        <p:nvGrpSpPr>
          <p:cNvPr id="8" name="Group 136"/>
          <p:cNvGrpSpPr>
            <a:grpSpLocks/>
          </p:cNvGrpSpPr>
          <p:nvPr/>
        </p:nvGrpSpPr>
        <p:grpSpPr bwMode="auto">
          <a:xfrm>
            <a:off x="1026144" y="1753094"/>
            <a:ext cx="2192014" cy="1263027"/>
            <a:chOff x="912" y="768"/>
            <a:chExt cx="2400" cy="1584"/>
          </a:xfrm>
          <a:solidFill>
            <a:srgbClr val="009900"/>
          </a:solidFill>
          <a:effectLst/>
        </p:grpSpPr>
        <p:sp>
          <p:nvSpPr>
            <p:cNvPr id="39" name="Oval 13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Oval 13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Oval 13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Oval 14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Oval 14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Oval 14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Oval 14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Oval 14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Oval 14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48" name="Group 146"/>
            <p:cNvGrpSpPr>
              <a:grpSpLocks/>
            </p:cNvGrpSpPr>
            <p:nvPr/>
          </p:nvGrpSpPr>
          <p:grpSpPr bwMode="auto">
            <a:xfrm>
              <a:off x="912" y="768"/>
              <a:ext cx="2386" cy="1553"/>
              <a:chOff x="912" y="768"/>
              <a:chExt cx="2386" cy="1553"/>
            </a:xfrm>
            <a:grpFill/>
          </p:grpSpPr>
          <p:sp>
            <p:nvSpPr>
              <p:cNvPr id="49" name="Oval 14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Oval 14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1" name="Oval 14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Oval 15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3" name="Oval 15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Oval 15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Oval 15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6" name="Oval 15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7" name="Oval 15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grpSp>
        <p:nvGrpSpPr>
          <p:cNvPr id="9" name="Group 156"/>
          <p:cNvGrpSpPr>
            <a:grpSpLocks/>
          </p:cNvGrpSpPr>
          <p:nvPr/>
        </p:nvGrpSpPr>
        <p:grpSpPr bwMode="auto">
          <a:xfrm>
            <a:off x="5581205" y="1659064"/>
            <a:ext cx="2404550" cy="1453410"/>
            <a:chOff x="912" y="768"/>
            <a:chExt cx="2400" cy="1584"/>
          </a:xfrm>
          <a:solidFill>
            <a:srgbClr val="009900"/>
          </a:solidFill>
          <a:effectLst/>
        </p:grpSpPr>
        <p:sp>
          <p:nvSpPr>
            <p:cNvPr id="20" name="Oval 15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Oval 15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Oval 15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 name="Oval 16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 name="Oval 16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Oval 16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Oval 16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Oval 16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Oval 16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29" name="Group 166"/>
            <p:cNvGrpSpPr>
              <a:grpSpLocks/>
            </p:cNvGrpSpPr>
            <p:nvPr/>
          </p:nvGrpSpPr>
          <p:grpSpPr bwMode="auto">
            <a:xfrm>
              <a:off x="912" y="768"/>
              <a:ext cx="2386" cy="1553"/>
              <a:chOff x="912" y="768"/>
              <a:chExt cx="2386" cy="1553"/>
            </a:xfrm>
            <a:grpFill/>
          </p:grpSpPr>
          <p:sp>
            <p:nvSpPr>
              <p:cNvPr id="30" name="Oval 16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1" name="Oval 16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Oval 16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Oval 17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Oval 17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Oval 17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Oval 17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7" name="Oval 17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Oval 17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sp>
        <p:nvSpPr>
          <p:cNvPr id="10" name="Text Box 176"/>
          <p:cNvSpPr txBox="1">
            <a:spLocks noChangeArrowheads="1"/>
          </p:cNvSpPr>
          <p:nvPr/>
        </p:nvSpPr>
        <p:spPr bwMode="auto">
          <a:xfrm>
            <a:off x="1373103" y="2158383"/>
            <a:ext cx="1494319"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chemeClr val="bg1"/>
                </a:solidFill>
                <a:latin typeface="微软雅黑" pitchFamily="34" charset="-122"/>
                <a:ea typeface="微软雅黑" pitchFamily="34" charset="-122"/>
              </a:rPr>
              <a:t> </a:t>
            </a:r>
            <a:r>
              <a:rPr kumimoji="1" lang="zh-CN" altLang="en-US" sz="1400" b="1" dirty="0">
                <a:solidFill>
                  <a:schemeClr val="bg1"/>
                </a:solidFill>
                <a:latin typeface="微软雅黑" pitchFamily="34" charset="-122"/>
                <a:ea typeface="微软雅黑" pitchFamily="34" charset="-122"/>
              </a:rPr>
              <a:t>用内部网关协议</a:t>
            </a:r>
          </a:p>
          <a:p>
            <a:pPr algn="ctr"/>
            <a:r>
              <a:rPr kumimoji="1" lang="zh-CN" altLang="en-US" sz="1400" b="1" dirty="0">
                <a:solidFill>
                  <a:schemeClr val="bg1"/>
                </a:solidFill>
                <a:latin typeface="微软雅黑" pitchFamily="34" charset="-122"/>
                <a:ea typeface="微软雅黑" pitchFamily="34" charset="-122"/>
              </a:rPr>
              <a:t>（例如，</a:t>
            </a:r>
            <a:r>
              <a:rPr kumimoji="1" lang="en-US" altLang="zh-CN" sz="1400" b="1" dirty="0">
                <a:solidFill>
                  <a:schemeClr val="bg1"/>
                </a:solidFill>
                <a:latin typeface="微软雅黑" pitchFamily="34" charset="-122"/>
                <a:ea typeface="微软雅黑" pitchFamily="34" charset="-122"/>
              </a:rPr>
              <a:t>RIP</a:t>
            </a:r>
            <a:r>
              <a:rPr kumimoji="1" lang="zh-CN" altLang="en-US" sz="1400" b="1" dirty="0">
                <a:solidFill>
                  <a:schemeClr val="bg1"/>
                </a:solidFill>
                <a:latin typeface="微软雅黑" pitchFamily="34" charset="-122"/>
                <a:ea typeface="微软雅黑" pitchFamily="34" charset="-122"/>
              </a:rPr>
              <a:t>）</a:t>
            </a:r>
          </a:p>
        </p:txBody>
      </p:sp>
      <p:sp>
        <p:nvSpPr>
          <p:cNvPr id="11" name="Text Box 177"/>
          <p:cNvSpPr txBox="1">
            <a:spLocks noChangeArrowheads="1"/>
          </p:cNvSpPr>
          <p:nvPr/>
        </p:nvSpPr>
        <p:spPr bwMode="auto">
          <a:xfrm>
            <a:off x="6293188" y="1359251"/>
            <a:ext cx="10791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CC00CC"/>
                </a:solidFill>
                <a:latin typeface="微软雅黑" pitchFamily="34" charset="-122"/>
                <a:ea typeface="微软雅黑" pitchFamily="34" charset="-122"/>
              </a:rPr>
              <a:t>自治系统 </a:t>
            </a:r>
            <a:r>
              <a:rPr kumimoji="1" lang="en-US" altLang="zh-CN" sz="1400" b="1">
                <a:solidFill>
                  <a:srgbClr val="CC00CC"/>
                </a:solidFill>
                <a:latin typeface="微软雅黑" pitchFamily="34" charset="-122"/>
                <a:ea typeface="微软雅黑" pitchFamily="34" charset="-122"/>
              </a:rPr>
              <a:t>B</a:t>
            </a:r>
          </a:p>
        </p:txBody>
      </p:sp>
      <p:sp>
        <p:nvSpPr>
          <p:cNvPr id="12" name="Text Box 178"/>
          <p:cNvSpPr txBox="1">
            <a:spLocks noChangeArrowheads="1"/>
          </p:cNvSpPr>
          <p:nvPr/>
        </p:nvSpPr>
        <p:spPr bwMode="auto">
          <a:xfrm>
            <a:off x="1553257" y="1453282"/>
            <a:ext cx="109036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自治系统 </a:t>
            </a:r>
            <a:r>
              <a:rPr kumimoji="1" lang="en-US" altLang="zh-CN" sz="1400" b="1" dirty="0">
                <a:solidFill>
                  <a:srgbClr val="CC00CC"/>
                </a:solidFill>
                <a:latin typeface="微软雅黑" pitchFamily="34" charset="-122"/>
                <a:ea typeface="微软雅黑" pitchFamily="34" charset="-122"/>
              </a:rPr>
              <a:t>A</a:t>
            </a:r>
          </a:p>
        </p:txBody>
      </p:sp>
      <p:pic>
        <p:nvPicPr>
          <p:cNvPr id="13" name="Picture 17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05621" y="2044474"/>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 name="Picture 18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68670" y="2044473"/>
            <a:ext cx="523165" cy="329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5" name="Text Box 181"/>
          <p:cNvSpPr txBox="1">
            <a:spLocks noChangeArrowheads="1"/>
          </p:cNvSpPr>
          <p:nvPr/>
        </p:nvSpPr>
        <p:spPr bwMode="auto">
          <a:xfrm>
            <a:off x="3733221" y="1734368"/>
            <a:ext cx="1439817"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用外部网关协议</a:t>
            </a:r>
          </a:p>
          <a:p>
            <a:pPr algn="ctr"/>
            <a:r>
              <a:rPr kumimoji="1" lang="zh-CN" altLang="en-US" sz="1200" b="1" dirty="0">
                <a:latin typeface="微软雅黑" pitchFamily="34" charset="-122"/>
                <a:ea typeface="微软雅黑" pitchFamily="34" charset="-122"/>
              </a:rPr>
              <a:t>（例如，</a:t>
            </a:r>
            <a:r>
              <a:rPr kumimoji="1" lang="en-US" altLang="zh-CN" sz="1200" b="1" dirty="0">
                <a:latin typeface="微软雅黑" pitchFamily="34" charset="-122"/>
                <a:ea typeface="微软雅黑" pitchFamily="34" charset="-122"/>
              </a:rPr>
              <a:t>BGP-4</a:t>
            </a:r>
            <a:r>
              <a:rPr kumimoji="1" lang="zh-CN" altLang="en-US" sz="1200" b="1" dirty="0">
                <a:latin typeface="微软雅黑" pitchFamily="34" charset="-122"/>
                <a:ea typeface="微软雅黑" pitchFamily="34" charset="-122"/>
              </a:rPr>
              <a:t>）</a:t>
            </a:r>
          </a:p>
        </p:txBody>
      </p:sp>
      <p:sp>
        <p:nvSpPr>
          <p:cNvPr id="16" name="Text Box 182"/>
          <p:cNvSpPr txBox="1">
            <a:spLocks noChangeArrowheads="1"/>
          </p:cNvSpPr>
          <p:nvPr/>
        </p:nvSpPr>
        <p:spPr bwMode="auto">
          <a:xfrm>
            <a:off x="3040789" y="174845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R</a:t>
            </a:r>
            <a:r>
              <a:rPr kumimoji="1" lang="en-US" altLang="zh-CN" sz="1400" b="1" baseline="-25000" dirty="0">
                <a:solidFill>
                  <a:srgbClr val="0000CC"/>
                </a:solidFill>
                <a:latin typeface="微软雅黑" pitchFamily="34" charset="-122"/>
                <a:ea typeface="微软雅黑" pitchFamily="34" charset="-122"/>
              </a:rPr>
              <a:t>1</a:t>
            </a:r>
          </a:p>
        </p:txBody>
      </p:sp>
      <p:sp>
        <p:nvSpPr>
          <p:cNvPr id="17" name="Text Box 183"/>
          <p:cNvSpPr txBox="1">
            <a:spLocks noChangeArrowheads="1"/>
          </p:cNvSpPr>
          <p:nvPr/>
        </p:nvSpPr>
        <p:spPr bwMode="auto">
          <a:xfrm>
            <a:off x="5518370" y="1768187"/>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R</a:t>
            </a:r>
            <a:r>
              <a:rPr kumimoji="1" lang="en-US" altLang="zh-CN" sz="1400" b="1" baseline="-25000" dirty="0">
                <a:solidFill>
                  <a:srgbClr val="0000CC"/>
                </a:solidFill>
                <a:latin typeface="微软雅黑" pitchFamily="34" charset="-122"/>
                <a:ea typeface="微软雅黑" pitchFamily="34" charset="-122"/>
              </a:rPr>
              <a:t>2</a:t>
            </a:r>
          </a:p>
        </p:txBody>
      </p:sp>
      <p:sp>
        <p:nvSpPr>
          <p:cNvPr id="18" name="Text Box 184"/>
          <p:cNvSpPr txBox="1">
            <a:spLocks noChangeArrowheads="1"/>
          </p:cNvSpPr>
          <p:nvPr/>
        </p:nvSpPr>
        <p:spPr bwMode="auto">
          <a:xfrm>
            <a:off x="6111959" y="2149096"/>
            <a:ext cx="1556836"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chemeClr val="bg1"/>
                </a:solidFill>
                <a:latin typeface="微软雅黑" pitchFamily="34" charset="-122"/>
                <a:ea typeface="微软雅黑" pitchFamily="34" charset="-122"/>
              </a:rPr>
              <a:t> </a:t>
            </a:r>
            <a:r>
              <a:rPr kumimoji="1" lang="zh-CN" altLang="en-US" sz="1400" b="1" dirty="0">
                <a:solidFill>
                  <a:schemeClr val="bg1"/>
                </a:solidFill>
                <a:latin typeface="微软雅黑" pitchFamily="34" charset="-122"/>
                <a:ea typeface="微软雅黑" pitchFamily="34" charset="-122"/>
              </a:rPr>
              <a:t>用内部网关协议</a:t>
            </a:r>
          </a:p>
          <a:p>
            <a:pPr algn="ctr"/>
            <a:r>
              <a:rPr kumimoji="1" lang="zh-CN" altLang="en-US" sz="1400" b="1" dirty="0">
                <a:solidFill>
                  <a:schemeClr val="bg1"/>
                </a:solidFill>
                <a:latin typeface="微软雅黑" pitchFamily="34" charset="-122"/>
                <a:ea typeface="微软雅黑" pitchFamily="34" charset="-122"/>
              </a:rPr>
              <a:t>（例如，</a:t>
            </a:r>
            <a:r>
              <a:rPr kumimoji="1" lang="en-US" altLang="zh-CN" sz="1400" b="1" dirty="0">
                <a:solidFill>
                  <a:schemeClr val="bg1"/>
                </a:solidFill>
                <a:latin typeface="微软雅黑" pitchFamily="34" charset="-122"/>
                <a:ea typeface="微软雅黑" pitchFamily="34" charset="-122"/>
              </a:rPr>
              <a:t>OSPF</a:t>
            </a:r>
            <a:r>
              <a:rPr kumimoji="1" lang="zh-CN" altLang="en-US" sz="1400" b="1" dirty="0">
                <a:solidFill>
                  <a:schemeClr val="bg1"/>
                </a:solidFill>
                <a:latin typeface="微软雅黑" pitchFamily="34" charset="-122"/>
                <a:ea typeface="微软雅黑" pitchFamily="34" charset="-122"/>
              </a:rPr>
              <a:t>）</a:t>
            </a:r>
          </a:p>
        </p:txBody>
      </p:sp>
      <p:sp>
        <p:nvSpPr>
          <p:cNvPr id="19" name="Line 185"/>
          <p:cNvSpPr>
            <a:spLocks noChangeShapeType="1"/>
          </p:cNvSpPr>
          <p:nvPr/>
        </p:nvSpPr>
        <p:spPr bwMode="auto">
          <a:xfrm>
            <a:off x="3493574" y="2213961"/>
            <a:ext cx="1925401" cy="2322"/>
          </a:xfrm>
          <a:prstGeom prst="line">
            <a:avLst/>
          </a:prstGeom>
          <a:noFill/>
          <a:ln w="571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8" name="矩形 57"/>
          <p:cNvSpPr/>
          <p:nvPr/>
        </p:nvSpPr>
        <p:spPr>
          <a:xfrm>
            <a:off x="847676" y="3297868"/>
            <a:ext cx="7448648" cy="757130"/>
          </a:xfrm>
          <a:prstGeom prst="rect">
            <a:avLst/>
          </a:prstGeom>
          <a:solidFill>
            <a:srgbClr val="99FFCC"/>
          </a:solidFill>
          <a:ln>
            <a:solidFill>
              <a:srgbClr val="000099"/>
            </a:solidFill>
          </a:ln>
        </p:spPr>
        <p:txBody>
          <a:bodyPr wrap="square">
            <a:spAutoFit/>
          </a:bodyPr>
          <a:lstStyle/>
          <a:p>
            <a:pPr>
              <a:lnSpc>
                <a:spcPct val="120000"/>
              </a:lnSpc>
            </a:pPr>
            <a:r>
              <a:rPr lang="zh-CN" altLang="en-US" b="1" dirty="0">
                <a:latin typeface="微软雅黑" pitchFamily="34" charset="-122"/>
                <a:ea typeface="微软雅黑" pitchFamily="34" charset="-122"/>
              </a:rPr>
              <a:t>自治系统之间的路由选择也叫做</a:t>
            </a:r>
            <a:r>
              <a:rPr lang="zh-CN" altLang="en-US" b="1" dirty="0">
                <a:solidFill>
                  <a:srgbClr val="0000FF"/>
                </a:solidFill>
                <a:latin typeface="微软雅黑" pitchFamily="34" charset="-122"/>
                <a:ea typeface="微软雅黑" pitchFamily="34" charset="-122"/>
              </a:rPr>
              <a:t>域间路由选择 </a:t>
            </a:r>
            <a:r>
              <a:rPr lang="en-US" altLang="zh-CN" b="1" dirty="0">
                <a:latin typeface="微软雅黑" pitchFamily="34" charset="-122"/>
                <a:ea typeface="微软雅黑" pitchFamily="34" charset="-122"/>
              </a:rPr>
              <a:t>(</a:t>
            </a:r>
            <a:r>
              <a:rPr lang="en-US" altLang="zh-CN" b="1" dirty="0" err="1">
                <a:latin typeface="微软雅黑" pitchFamily="34" charset="-122"/>
                <a:ea typeface="微软雅黑" pitchFamily="34" charset="-122"/>
              </a:rPr>
              <a:t>interdomain</a:t>
            </a:r>
            <a:r>
              <a:rPr lang="en-US" altLang="zh-CN" b="1" dirty="0">
                <a:latin typeface="微软雅黑" pitchFamily="34" charset="-122"/>
                <a:ea typeface="微软雅黑" pitchFamily="34" charset="-122"/>
              </a:rPr>
              <a:t> routing)</a:t>
            </a:r>
            <a:r>
              <a:rPr lang="zh-CN" altLang="en-US"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a:lnSpc>
                <a:spcPct val="120000"/>
              </a:lnSpc>
            </a:pPr>
            <a:r>
              <a:rPr lang="zh-CN" altLang="en-US" b="1" dirty="0">
                <a:latin typeface="微软雅黑" pitchFamily="34" charset="-122"/>
                <a:ea typeface="微软雅黑" pitchFamily="34" charset="-122"/>
              </a:rPr>
              <a:t>自治系统内部的路由选择叫做</a:t>
            </a:r>
            <a:r>
              <a:rPr lang="zh-CN" altLang="en-US" b="1" dirty="0">
                <a:solidFill>
                  <a:srgbClr val="0000FF"/>
                </a:solidFill>
                <a:latin typeface="微软雅黑" pitchFamily="34" charset="-122"/>
                <a:ea typeface="微软雅黑" pitchFamily="34" charset="-122"/>
              </a:rPr>
              <a:t>域内路由选择</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a:t>
            </a:r>
            <a:r>
              <a:rPr lang="en-US" altLang="zh-CN" b="1" dirty="0" err="1">
                <a:latin typeface="微软雅黑" pitchFamily="34" charset="-122"/>
                <a:ea typeface="微软雅黑" pitchFamily="34" charset="-122"/>
              </a:rPr>
              <a:t>intradomain</a:t>
            </a:r>
            <a:r>
              <a:rPr lang="en-US" altLang="zh-CN" b="1" dirty="0">
                <a:latin typeface="微软雅黑" pitchFamily="34" charset="-122"/>
                <a:ea typeface="微软雅黑" pitchFamily="34" charset="-122"/>
              </a:rPr>
              <a:t> routing) </a:t>
            </a:r>
            <a:r>
              <a:rPr lang="zh-CN" altLang="en-US" b="1" dirty="0">
                <a:latin typeface="微软雅黑" pitchFamily="34" charset="-122"/>
                <a:ea typeface="微软雅黑" pitchFamily="34" charset="-122"/>
              </a:rPr>
              <a:t>。</a:t>
            </a:r>
          </a:p>
        </p:txBody>
      </p:sp>
    </p:spTree>
    <p:extLst>
      <p:ext uri="{BB962C8B-B14F-4D97-AF65-F5344CB8AC3E}">
        <p14:creationId xmlns:p14="http://schemas.microsoft.com/office/powerpoint/2010/main" val="31554207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Lst>
  </p:timing>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a:extLst>
              <a:ext uri="{FF2B5EF4-FFF2-40B4-BE49-F238E27FC236}">
                <a16:creationId xmlns:a16="http://schemas.microsoft.com/office/drawing/2014/main" id="{F15D87C0-186E-8407-CB86-4B7410D0CA1D}"/>
              </a:ext>
            </a:extLst>
          </p:cNvPr>
          <p:cNvGrpSpPr/>
          <p:nvPr/>
        </p:nvGrpSpPr>
        <p:grpSpPr>
          <a:xfrm>
            <a:off x="1442748" y="1587428"/>
            <a:ext cx="6258503" cy="2717359"/>
            <a:chOff x="1113847" y="1369650"/>
            <a:chExt cx="6258503" cy="2717359"/>
          </a:xfrm>
        </p:grpSpPr>
        <p:sp>
          <p:nvSpPr>
            <p:cNvPr id="5" name="矩形 4">
              <a:extLst>
                <a:ext uri="{FF2B5EF4-FFF2-40B4-BE49-F238E27FC236}">
                  <a16:creationId xmlns:a16="http://schemas.microsoft.com/office/drawing/2014/main" id="{1D115E11-96A7-3720-0419-6A6EC3997285}"/>
                </a:ext>
              </a:extLst>
            </p:cNvPr>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6" name="矩形 5">
              <a:extLst>
                <a:ext uri="{FF2B5EF4-FFF2-40B4-BE49-F238E27FC236}">
                  <a16:creationId xmlns:a16="http://schemas.microsoft.com/office/drawing/2014/main" id="{1BBE7A6F-BA32-D983-B623-55AFEAB117BD}"/>
                </a:ext>
              </a:extLst>
            </p:cNvPr>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7" name="矩形 6">
              <a:extLst>
                <a:ext uri="{FF2B5EF4-FFF2-40B4-BE49-F238E27FC236}">
                  <a16:creationId xmlns:a16="http://schemas.microsoft.com/office/drawing/2014/main" id="{3D2C4BD9-79D4-897A-6E4A-B7EF942D0C61}"/>
                </a:ext>
              </a:extLst>
            </p:cNvPr>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9" name="矩形 8">
              <a:extLst>
                <a:ext uri="{FF2B5EF4-FFF2-40B4-BE49-F238E27FC236}">
                  <a16:creationId xmlns:a16="http://schemas.microsoft.com/office/drawing/2014/main" id="{5735AA3C-14AC-C509-C255-BA82C175B113}"/>
                </a:ext>
              </a:extLst>
            </p:cNvPr>
            <p:cNvSpPr/>
            <p:nvPr/>
          </p:nvSpPr>
          <p:spPr>
            <a:xfrm>
              <a:off x="1113847" y="3109407"/>
              <a:ext cx="1802444" cy="670653"/>
            </a:xfrm>
            <a:prstGeom prst="rect">
              <a:avLst/>
            </a:prstGeom>
            <a:solidFill>
              <a:srgbClr val="FF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距离向量</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(Distance Vector)</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6" name="矩形 15">
              <a:extLst>
                <a:ext uri="{FF2B5EF4-FFF2-40B4-BE49-F238E27FC236}">
                  <a16:creationId xmlns:a16="http://schemas.microsoft.com/office/drawing/2014/main" id="{E42E8357-4874-DC19-C519-1E71D423BD0D}"/>
                </a:ext>
              </a:extLst>
            </p:cNvPr>
            <p:cNvSpPr/>
            <p:nvPr/>
          </p:nvSpPr>
          <p:spPr>
            <a:xfrm>
              <a:off x="3220430" y="3109408"/>
              <a:ext cx="1802444" cy="670653"/>
            </a:xfrm>
            <a:prstGeom prst="rect">
              <a:avLst/>
            </a:prstGeom>
            <a:solidFill>
              <a:schemeClr val="bg1"/>
            </a:solid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链路状态</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(Link State)</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18" name="矩形 17">
              <a:extLst>
                <a:ext uri="{FF2B5EF4-FFF2-40B4-BE49-F238E27FC236}">
                  <a16:creationId xmlns:a16="http://schemas.microsoft.com/office/drawing/2014/main" id="{B14E0978-513A-8994-BAE8-0762C53E1687}"/>
                </a:ext>
              </a:extLst>
            </p:cNvPr>
            <p:cNvSpPr/>
            <p:nvPr/>
          </p:nvSpPr>
          <p:spPr>
            <a:xfrm>
              <a:off x="5569907" y="3109408"/>
              <a:ext cx="1802443" cy="671608"/>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路径向量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(Path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cxnSp>
          <p:nvCxnSpPr>
            <p:cNvPr id="20" name="直接连接符 19">
              <a:extLst>
                <a:ext uri="{FF2B5EF4-FFF2-40B4-BE49-F238E27FC236}">
                  <a16:creationId xmlns:a16="http://schemas.microsoft.com/office/drawing/2014/main" id="{75B4A99A-713C-62CA-8003-58779AE70125}"/>
                </a:ext>
              </a:extLst>
            </p:cNvPr>
            <p:cNvCxnSpPr>
              <a:endCxn id="6"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a:extLst>
                <a:ext uri="{FF2B5EF4-FFF2-40B4-BE49-F238E27FC236}">
                  <a16:creationId xmlns:a16="http://schemas.microsoft.com/office/drawing/2014/main" id="{369C7DBA-9CC8-FC49-E3E7-CB7F3256CCD7}"/>
                </a:ext>
              </a:extLst>
            </p:cNvPr>
            <p:cNvCxnSpPr>
              <a:endCxn id="7"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42499B94-CC61-A6C7-481B-3E0EEA364E3B}"/>
                </a:ext>
              </a:extLst>
            </p:cNvPr>
            <p:cNvCxnSpPr>
              <a:stCxn id="6"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EB3C1800-6955-CF60-8BD0-026359CC7B4B}"/>
                </a:ext>
              </a:extLst>
            </p:cNvPr>
            <p:cNvCxnSpPr>
              <a:stCxn id="6" idx="2"/>
              <a:endCxn id="16"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6AC98E0C-D148-54B4-C782-610D89AC3FBB}"/>
                </a:ext>
              </a:extLst>
            </p:cNvPr>
            <p:cNvCxnSpPr>
              <a:stCxn id="7" idx="2"/>
              <a:endCxn id="18"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965457BF-EA83-7B25-8F72-A07EB6485514}"/>
                </a:ext>
              </a:extLst>
            </p:cNvPr>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32" name="矩形 31">
              <a:extLst>
                <a:ext uri="{FF2B5EF4-FFF2-40B4-BE49-F238E27FC236}">
                  <a16:creationId xmlns:a16="http://schemas.microsoft.com/office/drawing/2014/main" id="{FCE4CF24-237E-2295-B8AE-078B463281BE}"/>
                </a:ext>
              </a:extLst>
            </p:cNvPr>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33" name="矩形 32">
              <a:extLst>
                <a:ext uri="{FF2B5EF4-FFF2-40B4-BE49-F238E27FC236}">
                  <a16:creationId xmlns:a16="http://schemas.microsoft.com/office/drawing/2014/main" id="{DBBC1380-D5F1-90A9-F00C-9903750E0A65}"/>
                </a:ext>
              </a:extLst>
            </p:cNvPr>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
        <p:nvSpPr>
          <p:cNvPr id="34" name="标题 33">
            <a:extLst>
              <a:ext uri="{FF2B5EF4-FFF2-40B4-BE49-F238E27FC236}">
                <a16:creationId xmlns:a16="http://schemas.microsoft.com/office/drawing/2014/main" id="{1F08EB1E-B0DD-54C4-FB24-F51809F9B656}"/>
              </a:ext>
            </a:extLst>
          </p:cNvPr>
          <p:cNvSpPr>
            <a:spLocks noGrp="1"/>
          </p:cNvSpPr>
          <p:nvPr>
            <p:ph type="title"/>
          </p:nvPr>
        </p:nvSpPr>
        <p:spPr>
          <a:xfrm>
            <a:off x="486000" y="550723"/>
            <a:ext cx="8172000" cy="338554"/>
          </a:xfrm>
        </p:spPr>
        <p:txBody>
          <a:bodyPr/>
          <a:lstStyle/>
          <a:p>
            <a:r>
              <a:rPr lang="en-US" altLang="zh-CN" dirty="0"/>
              <a:t>4.6.2  </a:t>
            </a:r>
            <a:r>
              <a:rPr lang="zh-CN" altLang="en-US" dirty="0"/>
              <a:t>内部网关协议 </a:t>
            </a:r>
            <a:r>
              <a:rPr lang="en-US" altLang="zh-CN" dirty="0"/>
              <a:t>RIP</a:t>
            </a:r>
            <a:endParaRPr lang="zh-CN" altLang="en-US" dirty="0"/>
          </a:p>
        </p:txBody>
      </p:sp>
    </p:spTree>
    <p:extLst>
      <p:ext uri="{BB962C8B-B14F-4D97-AF65-F5344CB8AC3E}">
        <p14:creationId xmlns:p14="http://schemas.microsoft.com/office/powerpoint/2010/main" val="3685004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66557C5-98A3-6374-006E-3F666E3DF17E}"/>
              </a:ext>
            </a:extLst>
          </p:cNvPr>
          <p:cNvSpPr>
            <a:spLocks noGrp="1"/>
          </p:cNvSpPr>
          <p:nvPr>
            <p:ph type="title"/>
          </p:nvPr>
        </p:nvSpPr>
        <p:spPr>
          <a:xfrm>
            <a:off x="486000" y="550723"/>
            <a:ext cx="8172000" cy="338554"/>
          </a:xfrm>
        </p:spPr>
        <p:txBody>
          <a:bodyPr/>
          <a:lstStyle/>
          <a:p>
            <a:r>
              <a:rPr lang="en-US" altLang="zh-CN" dirty="0"/>
              <a:t>1. </a:t>
            </a:r>
            <a:r>
              <a:rPr lang="zh-CN" altLang="en-US" dirty="0"/>
              <a:t>协议 </a:t>
            </a:r>
            <a:r>
              <a:rPr lang="en-US" altLang="zh-CN" dirty="0"/>
              <a:t>RIP </a:t>
            </a:r>
            <a:r>
              <a:rPr lang="zh-CN" altLang="en-US" dirty="0"/>
              <a:t>的工作原理</a:t>
            </a:r>
          </a:p>
        </p:txBody>
      </p:sp>
      <p:sp>
        <p:nvSpPr>
          <p:cNvPr id="3" name="内容占位符 2">
            <a:extLst>
              <a:ext uri="{FF2B5EF4-FFF2-40B4-BE49-F238E27FC236}">
                <a16:creationId xmlns:a16="http://schemas.microsoft.com/office/drawing/2014/main" id="{C8B745CA-E9F4-CCCE-A49C-8C842FE1D0FD}"/>
              </a:ext>
            </a:extLst>
          </p:cNvPr>
          <p:cNvSpPr>
            <a:spLocks noGrp="1"/>
          </p:cNvSpPr>
          <p:nvPr>
            <p:ph sz="quarter" idx="11"/>
          </p:nvPr>
        </p:nvSpPr>
        <p:spPr>
          <a:xfrm>
            <a:off x="486000" y="900000"/>
            <a:ext cx="8172000" cy="3703500"/>
          </a:xfrm>
        </p:spPr>
        <p:txBody>
          <a:bodyPr/>
          <a:lstStyle/>
          <a:p>
            <a:r>
              <a:rPr lang="zh-CN" altLang="en-US" dirty="0"/>
              <a:t>路由信息协议 </a:t>
            </a:r>
            <a:r>
              <a:rPr lang="en-US" altLang="zh-CN" dirty="0"/>
              <a:t>RIP</a:t>
            </a:r>
          </a:p>
          <a:p>
            <a:pPr lvl="1"/>
            <a:r>
              <a:rPr lang="en-US" altLang="zh-CN" dirty="0"/>
              <a:t>Routing Information Protocol</a:t>
            </a:r>
          </a:p>
          <a:p>
            <a:pPr lvl="1"/>
            <a:r>
              <a:rPr lang="zh-CN" altLang="en-US" dirty="0"/>
              <a:t>分布式</a:t>
            </a:r>
            <a:endParaRPr lang="en-US" altLang="zh-CN" dirty="0"/>
          </a:p>
          <a:p>
            <a:pPr lvl="1"/>
            <a:r>
              <a:rPr lang="zh-CN" altLang="en-US" dirty="0"/>
              <a:t>基于距离向量</a:t>
            </a:r>
            <a:endParaRPr lang="en-US" altLang="zh-CN" dirty="0"/>
          </a:p>
          <a:p>
            <a:r>
              <a:rPr lang="zh-CN" altLang="en-US" dirty="0"/>
              <a:t>互联网的标准协议</a:t>
            </a:r>
            <a:endParaRPr lang="en-US" altLang="zh-CN" dirty="0"/>
          </a:p>
          <a:p>
            <a:r>
              <a:rPr lang="zh-CN" altLang="en-US" dirty="0"/>
              <a:t>最大优点：简单</a:t>
            </a:r>
          </a:p>
          <a:p>
            <a:r>
              <a:rPr lang="zh-CN" altLang="en-US" dirty="0"/>
              <a:t>要求网络中的每个路由器都要维护从它自己到其他每一个目的网络的距离记录</a:t>
            </a:r>
          </a:p>
          <a:p>
            <a:endParaRPr lang="zh-CN" altLang="en-US" dirty="0"/>
          </a:p>
        </p:txBody>
      </p:sp>
    </p:spTree>
    <p:extLst>
      <p:ext uri="{BB962C8B-B14F-4D97-AF65-F5344CB8AC3E}">
        <p14:creationId xmlns:p14="http://schemas.microsoft.com/office/powerpoint/2010/main" val="42095016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 name="圆角矩形 164"/>
          <p:cNvSpPr/>
          <p:nvPr/>
        </p:nvSpPr>
        <p:spPr>
          <a:xfrm>
            <a:off x="545144" y="2417498"/>
            <a:ext cx="8053712" cy="179670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4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dirty="0">
                  <a:latin typeface="Times New Roman" pitchFamily="18" charset="0"/>
                  <a:ea typeface="微软雅黑"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0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5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pic>
          <p:nvPicPr>
            <p:cNvPr id="56"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58" name="Text Box 178"/>
            <p:cNvSpPr txBox="1">
              <a:spLocks noChangeArrowheads="1"/>
            </p:cNvSpPr>
            <p:nvPr/>
          </p:nvSpPr>
          <p:spPr bwMode="auto">
            <a:xfrm>
              <a:off x="4410798" y="2420607"/>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p>
          </p:txBody>
        </p:sp>
        <p:sp>
          <p:nvSpPr>
            <p:cNvPr id="59" name="Text Box 178"/>
            <p:cNvSpPr txBox="1">
              <a:spLocks noChangeArrowheads="1"/>
            </p:cNvSpPr>
            <p:nvPr/>
          </p:nvSpPr>
          <p:spPr bwMode="auto">
            <a:xfrm>
              <a:off x="3578563" y="2864869"/>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60" name="Text Box 178"/>
            <p:cNvSpPr txBox="1">
              <a:spLocks noChangeArrowheads="1"/>
            </p:cNvSpPr>
            <p:nvPr/>
          </p:nvSpPr>
          <p:spPr bwMode="auto">
            <a:xfrm>
              <a:off x="4976249" y="2872273"/>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2955477" y="1837177"/>
              <a:ext cx="1027085" cy="3653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657135" y="985903"/>
                <a:ext cx="1027085" cy="3653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pic>
          <p:nvPicPr>
            <p:cNvPr id="67"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E</a:t>
              </a:r>
            </a:p>
          </p:txBody>
        </p:sp>
      </p:grpSp>
      <p:sp>
        <p:nvSpPr>
          <p:cNvPr id="164" name="Text Box 178"/>
          <p:cNvSpPr txBox="1">
            <a:spLocks noChangeArrowheads="1"/>
          </p:cNvSpPr>
          <p:nvPr/>
        </p:nvSpPr>
        <p:spPr bwMode="auto">
          <a:xfrm>
            <a:off x="2474311" y="4206537"/>
            <a:ext cx="4195379"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zh-CN" altLang="en-US" sz="1400" dirty="0">
                <a:latin typeface="Montserrat" panose="00000500000000000000" pitchFamily="2" charset="0"/>
                <a:ea typeface="微软雅黑 Light" panose="020B0502040204020203" pitchFamily="34" charset="-122"/>
              </a:rPr>
              <a:t>路由 </a:t>
            </a:r>
            <a:r>
              <a:rPr kumimoji="1" lang="en-US" altLang="zh-CN" sz="1400" dirty="0">
                <a:latin typeface="Montserrat" panose="00000500000000000000" pitchFamily="2" charset="0"/>
                <a:ea typeface="微软雅黑 Light" panose="020B0502040204020203" pitchFamily="34" charset="-122"/>
              </a:rPr>
              <a:t>A-B-E </a:t>
            </a:r>
            <a:r>
              <a:rPr kumimoji="1" lang="zh-CN" altLang="en-US" sz="1400" dirty="0">
                <a:latin typeface="Montserrat" panose="00000500000000000000" pitchFamily="2" charset="0"/>
                <a:ea typeface="微软雅黑 Light" panose="020B0502040204020203" pitchFamily="34" charset="-122"/>
              </a:rPr>
              <a:t>的距离 </a:t>
            </a:r>
            <a:r>
              <a:rPr kumimoji="1" lang="en-US" altLang="zh-CN" sz="1400" dirty="0">
                <a:latin typeface="Montserrat" panose="00000500000000000000" pitchFamily="2" charset="0"/>
                <a:ea typeface="微软雅黑 Light" panose="020B0502040204020203" pitchFamily="34" charset="-122"/>
              </a:rPr>
              <a:t>= 2</a:t>
            </a:r>
            <a:r>
              <a:rPr kumimoji="1" lang="zh-CN" altLang="en-US" sz="1400" dirty="0">
                <a:latin typeface="Montserrat" panose="00000500000000000000" pitchFamily="2" charset="0"/>
                <a:ea typeface="微软雅黑 Light" panose="020B0502040204020203" pitchFamily="34" charset="-122"/>
              </a:rPr>
              <a:t>，路由 </a:t>
            </a:r>
            <a:r>
              <a:rPr kumimoji="1" lang="en-US" altLang="zh-CN" sz="1400" dirty="0">
                <a:latin typeface="Montserrat" panose="00000500000000000000" pitchFamily="2" charset="0"/>
                <a:ea typeface="微软雅黑 Light" panose="020B0502040204020203" pitchFamily="34" charset="-122"/>
              </a:rPr>
              <a:t>A-C-D-E </a:t>
            </a:r>
            <a:r>
              <a:rPr kumimoji="1" lang="zh-CN" altLang="en-US" sz="1400" dirty="0">
                <a:latin typeface="Montserrat" panose="00000500000000000000" pitchFamily="2" charset="0"/>
                <a:ea typeface="微软雅黑 Light" panose="020B0502040204020203" pitchFamily="34" charset="-122"/>
              </a:rPr>
              <a:t>的距离 </a:t>
            </a:r>
            <a:r>
              <a:rPr kumimoji="1" lang="en-US" altLang="zh-CN" sz="1400" dirty="0">
                <a:latin typeface="Montserrat" panose="00000500000000000000" pitchFamily="2" charset="0"/>
                <a:ea typeface="微软雅黑 Light" panose="020B0502040204020203" pitchFamily="34" charset="-122"/>
              </a:rPr>
              <a:t>= 3</a:t>
            </a:r>
          </a:p>
        </p:txBody>
      </p:sp>
      <p:sp>
        <p:nvSpPr>
          <p:cNvPr id="166" name="标题 165">
            <a:extLst>
              <a:ext uri="{FF2B5EF4-FFF2-40B4-BE49-F238E27FC236}">
                <a16:creationId xmlns:a16="http://schemas.microsoft.com/office/drawing/2014/main" id="{A507821A-ED01-39C4-7B22-546928BB71CC}"/>
              </a:ext>
            </a:extLst>
          </p:cNvPr>
          <p:cNvSpPr>
            <a:spLocks noGrp="1"/>
          </p:cNvSpPr>
          <p:nvPr>
            <p:ph type="title"/>
          </p:nvPr>
        </p:nvSpPr>
        <p:spPr>
          <a:xfrm>
            <a:off x="486000" y="550723"/>
            <a:ext cx="8172000" cy="338554"/>
          </a:xfrm>
        </p:spPr>
        <p:txBody>
          <a:bodyPr/>
          <a:lstStyle/>
          <a:p>
            <a:r>
              <a:rPr lang="zh-CN" altLang="en-US" dirty="0"/>
              <a:t>距离</a:t>
            </a:r>
          </a:p>
        </p:txBody>
      </p:sp>
      <p:sp>
        <p:nvSpPr>
          <p:cNvPr id="167" name="内容占位符 166">
            <a:extLst>
              <a:ext uri="{FF2B5EF4-FFF2-40B4-BE49-F238E27FC236}">
                <a16:creationId xmlns:a16="http://schemas.microsoft.com/office/drawing/2014/main" id="{84069894-C2C2-F71C-F28E-0396C0166152}"/>
              </a:ext>
            </a:extLst>
          </p:cNvPr>
          <p:cNvSpPr>
            <a:spLocks noGrp="1"/>
          </p:cNvSpPr>
          <p:nvPr>
            <p:ph sz="quarter" idx="11"/>
          </p:nvPr>
        </p:nvSpPr>
        <p:spPr>
          <a:xfrm>
            <a:off x="486000" y="900000"/>
            <a:ext cx="8172000" cy="3703500"/>
          </a:xfrm>
        </p:spPr>
        <p:txBody>
          <a:bodyPr/>
          <a:lstStyle/>
          <a:p>
            <a:r>
              <a:rPr lang="zh-CN" altLang="en-US" dirty="0"/>
              <a:t>路由器到直接连接的网络的距离 </a:t>
            </a:r>
            <a:r>
              <a:rPr lang="en-US" altLang="zh-CN" dirty="0"/>
              <a:t>= 1</a:t>
            </a:r>
            <a:endParaRPr lang="zh-CN" altLang="en-US" dirty="0"/>
          </a:p>
          <a:p>
            <a:r>
              <a:rPr lang="zh-CN" altLang="en-US" dirty="0"/>
              <a:t>路由器到非直接连接的网络的距离 </a:t>
            </a:r>
            <a:r>
              <a:rPr lang="en-US" altLang="zh-CN" dirty="0"/>
              <a:t>= </a:t>
            </a:r>
            <a:r>
              <a:rPr lang="zh-CN" altLang="en-US" dirty="0"/>
              <a:t>所经过的路由器数 </a:t>
            </a:r>
            <a:r>
              <a:rPr lang="en-US" altLang="zh-CN" dirty="0"/>
              <a:t>+</a:t>
            </a:r>
            <a:r>
              <a:rPr lang="zh-CN" altLang="en-US" dirty="0"/>
              <a:t> </a:t>
            </a:r>
            <a:r>
              <a:rPr lang="en-US" altLang="zh-CN" dirty="0"/>
              <a:t>1</a:t>
            </a:r>
            <a:endParaRPr lang="zh-CN" altLang="en-US" dirty="0"/>
          </a:p>
          <a:p>
            <a:r>
              <a:rPr lang="en-US" altLang="zh-CN" dirty="0"/>
              <a:t>RIP </a:t>
            </a:r>
            <a:r>
              <a:rPr lang="zh-CN" altLang="en-US" dirty="0"/>
              <a:t>协议中的“距离”也称为“跳数”</a:t>
            </a:r>
            <a:r>
              <a:rPr lang="en-US" altLang="zh-CN" dirty="0"/>
              <a:t>(hop count)</a:t>
            </a:r>
            <a:r>
              <a:rPr lang="zh-CN" altLang="en-US" dirty="0"/>
              <a:t>，每经过一个路由器，跳数就加 </a:t>
            </a:r>
            <a:r>
              <a:rPr lang="en-US" altLang="zh-CN" dirty="0"/>
              <a:t>1</a:t>
            </a:r>
            <a:endParaRPr lang="zh-CN" altLang="en-US" dirty="0"/>
          </a:p>
        </p:txBody>
      </p:sp>
    </p:spTree>
    <p:extLst>
      <p:ext uri="{BB962C8B-B14F-4D97-AF65-F5344CB8AC3E}">
        <p14:creationId xmlns:p14="http://schemas.microsoft.com/office/powerpoint/2010/main" val="2382856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dirty="0">
                  <a:latin typeface="Montserrat" panose="00000500000000000000" pitchFamily="2" charset="0"/>
                  <a:ea typeface="微软雅黑 Light" panose="020B0502040204020203"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14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5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5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4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4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dirty="0">
                  <a:latin typeface="Montserrat" panose="00000500000000000000" pitchFamily="2" charset="0"/>
                  <a:ea typeface="微软雅黑 Light" panose="020B0502040204020203"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10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1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1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0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0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5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pic>
          <p:nvPicPr>
            <p:cNvPr id="56"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32811"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A</a:t>
              </a:r>
            </a:p>
          </p:txBody>
        </p:sp>
        <p:sp>
          <p:nvSpPr>
            <p:cNvPr id="58" name="Text Box 178"/>
            <p:cNvSpPr txBox="1">
              <a:spLocks noChangeArrowheads="1"/>
            </p:cNvSpPr>
            <p:nvPr/>
          </p:nvSpPr>
          <p:spPr bwMode="auto">
            <a:xfrm>
              <a:off x="4410797" y="2420607"/>
              <a:ext cx="330975"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B</a:t>
              </a:r>
            </a:p>
          </p:txBody>
        </p:sp>
        <p:sp>
          <p:nvSpPr>
            <p:cNvPr id="59" name="Text Box 178"/>
            <p:cNvSpPr txBox="1">
              <a:spLocks noChangeArrowheads="1"/>
            </p:cNvSpPr>
            <p:nvPr/>
          </p:nvSpPr>
          <p:spPr bwMode="auto">
            <a:xfrm>
              <a:off x="3578563" y="2864869"/>
              <a:ext cx="325464"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C</a:t>
              </a:r>
            </a:p>
          </p:txBody>
        </p:sp>
        <p:sp>
          <p:nvSpPr>
            <p:cNvPr id="60" name="Text Box 178"/>
            <p:cNvSpPr txBox="1">
              <a:spLocks noChangeArrowheads="1"/>
            </p:cNvSpPr>
            <p:nvPr/>
          </p:nvSpPr>
          <p:spPr bwMode="auto">
            <a:xfrm>
              <a:off x="4976249" y="2872273"/>
              <a:ext cx="345669"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3084963" y="1864576"/>
              <a:ext cx="768110"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dirty="0">
                  <a:solidFill>
                    <a:srgbClr val="0000FF"/>
                  </a:solidFill>
                  <a:latin typeface="Montserrat" panose="00000500000000000000" pitchFamily="2" charset="0"/>
                  <a:ea typeface="微软雅黑 Light" panose="020B0502040204020203" pitchFamily="34" charset="-122"/>
                </a:rPr>
                <a:t>跳数 </a:t>
              </a:r>
              <a:r>
                <a:rPr kumimoji="1" lang="en-US" altLang="zh-CN" sz="1100" dirty="0">
                  <a:solidFill>
                    <a:srgbClr val="0000FF"/>
                  </a:solidFill>
                  <a:latin typeface="Montserrat" panose="00000500000000000000" pitchFamily="2" charset="0"/>
                  <a:ea typeface="微软雅黑 Light" panose="020B0502040204020203"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786624" y="1013301"/>
                <a:ext cx="768110" cy="310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dirty="0">
                    <a:solidFill>
                      <a:srgbClr val="0000FF"/>
                    </a:solidFill>
                    <a:latin typeface="Montserrat" panose="00000500000000000000" pitchFamily="2" charset="0"/>
                    <a:ea typeface="微软雅黑 Light" panose="020B0502040204020203" pitchFamily="34" charset="-122"/>
                  </a:rPr>
                  <a:t>跳数 </a:t>
                </a:r>
                <a:r>
                  <a:rPr kumimoji="1" lang="en-US" altLang="zh-CN" sz="1100" dirty="0">
                    <a:solidFill>
                      <a:srgbClr val="0000FF"/>
                    </a:solidFill>
                    <a:latin typeface="Montserrat" panose="00000500000000000000" pitchFamily="2" charset="0"/>
                    <a:ea typeface="微软雅黑 Light" panose="020B0502040204020203" pitchFamily="34" charset="-122"/>
                  </a:rPr>
                  <a:t>= 1</a:t>
                </a:r>
              </a:p>
            </p:txBody>
          </p:sp>
        </p:grpSp>
        <p:pic>
          <p:nvPicPr>
            <p:cNvPr id="67"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318117"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E</a:t>
              </a:r>
            </a:p>
          </p:txBody>
        </p:sp>
      </p:grpSp>
      <p:sp>
        <p:nvSpPr>
          <p:cNvPr id="166" name="标题 165">
            <a:extLst>
              <a:ext uri="{FF2B5EF4-FFF2-40B4-BE49-F238E27FC236}">
                <a16:creationId xmlns:a16="http://schemas.microsoft.com/office/drawing/2014/main" id="{DC60B5BD-5108-DFC1-0108-B653F2C0EFD7}"/>
              </a:ext>
            </a:extLst>
          </p:cNvPr>
          <p:cNvSpPr>
            <a:spLocks noGrp="1"/>
          </p:cNvSpPr>
          <p:nvPr>
            <p:ph type="title"/>
          </p:nvPr>
        </p:nvSpPr>
        <p:spPr>
          <a:xfrm>
            <a:off x="486000" y="550723"/>
            <a:ext cx="8172000" cy="338554"/>
          </a:xfrm>
        </p:spPr>
        <p:txBody>
          <a:bodyPr/>
          <a:lstStyle/>
          <a:p>
            <a:r>
              <a:rPr lang="en-US" altLang="zh-CN" dirty="0"/>
              <a:t>RIP</a:t>
            </a:r>
            <a:r>
              <a:rPr lang="zh-CN" altLang="en-US" dirty="0"/>
              <a:t>“距离”的定义</a:t>
            </a:r>
          </a:p>
        </p:txBody>
      </p:sp>
      <p:sp>
        <p:nvSpPr>
          <p:cNvPr id="167" name="内容占位符 166">
            <a:extLst>
              <a:ext uri="{FF2B5EF4-FFF2-40B4-BE49-F238E27FC236}">
                <a16:creationId xmlns:a16="http://schemas.microsoft.com/office/drawing/2014/main" id="{20F6A1EC-CA83-150A-807F-8400731BF490}"/>
              </a:ext>
            </a:extLst>
          </p:cNvPr>
          <p:cNvSpPr>
            <a:spLocks noGrp="1"/>
          </p:cNvSpPr>
          <p:nvPr>
            <p:ph sz="quarter" idx="11"/>
          </p:nvPr>
        </p:nvSpPr>
        <p:spPr>
          <a:xfrm>
            <a:off x="485775" y="900113"/>
            <a:ext cx="8172450" cy="3703637"/>
          </a:xfr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dirty="0"/>
              <a:t>好路由 </a:t>
            </a:r>
            <a:r>
              <a:rPr lang="en-US" altLang="zh-CN"/>
              <a:t>= </a:t>
            </a:r>
            <a:r>
              <a:rPr lang="zh-CN" altLang="en-US"/>
              <a:t>距离</a:t>
            </a:r>
            <a:r>
              <a:rPr lang="zh-CN" altLang="en-US" dirty="0"/>
              <a:t>短的路由；最佳路由 </a:t>
            </a:r>
            <a:r>
              <a:rPr lang="en-US" altLang="zh-CN"/>
              <a:t>= </a:t>
            </a:r>
            <a:r>
              <a:rPr lang="zh-CN" altLang="en-US"/>
              <a:t>距离</a:t>
            </a:r>
            <a:r>
              <a:rPr lang="zh-CN" altLang="en-US" dirty="0"/>
              <a:t>最短的路由</a:t>
            </a:r>
            <a:endParaRPr lang="en-US" altLang="zh-CN"/>
          </a:p>
          <a:p>
            <a:r>
              <a:rPr lang="zh-CN" altLang="en-US"/>
              <a:t>一</a:t>
            </a:r>
            <a:r>
              <a:rPr lang="zh-CN" altLang="en-US" dirty="0"/>
              <a:t>条路径最多只能包含 </a:t>
            </a:r>
            <a:r>
              <a:rPr lang="en-US" altLang="zh-CN"/>
              <a:t>15 </a:t>
            </a:r>
            <a:r>
              <a:rPr lang="zh-CN" altLang="en-US"/>
              <a:t>个</a:t>
            </a:r>
            <a:r>
              <a:rPr lang="zh-CN" altLang="en-US" dirty="0"/>
              <a:t>路由器</a:t>
            </a:r>
            <a:endParaRPr lang="en-US" altLang="zh-CN"/>
          </a:p>
          <a:p>
            <a:r>
              <a:rPr lang="zh-CN" altLang="en-US"/>
              <a:t>距离</a:t>
            </a:r>
            <a:r>
              <a:rPr lang="zh-CN" altLang="en-US" dirty="0"/>
              <a:t>最大值为 </a:t>
            </a:r>
            <a:r>
              <a:rPr lang="en-US" altLang="zh-CN"/>
              <a:t>16 </a:t>
            </a:r>
            <a:r>
              <a:rPr lang="zh-CN" altLang="en-US"/>
              <a:t>时</a:t>
            </a:r>
            <a:r>
              <a:rPr lang="zh-CN" altLang="en-US" dirty="0"/>
              <a:t>即相当于不可达</a:t>
            </a:r>
            <a:endParaRPr lang="en-US" altLang="zh-CN"/>
          </a:p>
          <a:p>
            <a:r>
              <a:rPr lang="en-US" altLang="zh-CN"/>
              <a:t>RIP </a:t>
            </a:r>
            <a:r>
              <a:rPr lang="zh-CN" altLang="en-US"/>
              <a:t>不能</a:t>
            </a:r>
            <a:r>
              <a:rPr lang="zh-CN" altLang="en-US" dirty="0"/>
              <a:t>在两个网络之间同时使用多条路由，只选择距离最短的路由</a:t>
            </a:r>
          </a:p>
          <a:p>
            <a:endParaRPr lang="zh-CN" altLang="en-US" dirty="0"/>
          </a:p>
        </p:txBody>
      </p:sp>
      <p:sp>
        <p:nvSpPr>
          <p:cNvPr id="170" name="Text Box 178"/>
          <p:cNvSpPr txBox="1">
            <a:spLocks noChangeArrowheads="1"/>
          </p:cNvSpPr>
          <p:nvPr/>
        </p:nvSpPr>
        <p:spPr bwMode="auto">
          <a:xfrm>
            <a:off x="2474311" y="4206537"/>
            <a:ext cx="4195379"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zh-CN" altLang="en-US" dirty="0"/>
              <a:t>路由 </a:t>
            </a:r>
            <a:r>
              <a:rPr lang="en-US" altLang="zh-CN" dirty="0"/>
              <a:t>A-B-E </a:t>
            </a:r>
            <a:r>
              <a:rPr lang="zh-CN" altLang="en-US" dirty="0"/>
              <a:t>的距离 </a:t>
            </a:r>
            <a:r>
              <a:rPr lang="en-US" altLang="zh-CN" dirty="0"/>
              <a:t>= 2</a:t>
            </a:r>
            <a:r>
              <a:rPr lang="zh-CN" altLang="en-US" dirty="0"/>
              <a:t>，路由 </a:t>
            </a:r>
            <a:r>
              <a:rPr lang="en-US" altLang="zh-CN" dirty="0"/>
              <a:t>A-C-D-E </a:t>
            </a:r>
            <a:r>
              <a:rPr lang="zh-CN" altLang="en-US" dirty="0"/>
              <a:t>的距离 </a:t>
            </a:r>
            <a:r>
              <a:rPr lang="en-US" altLang="zh-CN" dirty="0"/>
              <a:t>= 3</a:t>
            </a:r>
          </a:p>
          <a:p>
            <a:r>
              <a:rPr lang="zh-CN" altLang="en-US" dirty="0"/>
              <a:t>最佳路由为 </a:t>
            </a:r>
            <a:r>
              <a:rPr lang="en-US" altLang="zh-CN" dirty="0"/>
              <a:t>A-B-E</a:t>
            </a:r>
            <a:r>
              <a:rPr lang="zh-CN" altLang="en-US" dirty="0"/>
              <a:t>。</a:t>
            </a:r>
            <a:endParaRPr lang="en-US" altLang="zh-CN" dirty="0"/>
          </a:p>
        </p:txBody>
      </p:sp>
    </p:spTree>
    <p:extLst>
      <p:ext uri="{BB962C8B-B14F-4D97-AF65-F5344CB8AC3E}">
        <p14:creationId xmlns:p14="http://schemas.microsoft.com/office/powerpoint/2010/main" val="18551232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616085" y="616488"/>
            <a:ext cx="7853464"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 name="标题 4">
            <a:extLst>
              <a:ext uri="{FF2B5EF4-FFF2-40B4-BE49-F238E27FC236}">
                <a16:creationId xmlns:a16="http://schemas.microsoft.com/office/drawing/2014/main" id="{335FE39E-50AB-9BCB-F6B4-849A79C6F6E7}"/>
              </a:ext>
            </a:extLst>
          </p:cNvPr>
          <p:cNvSpPr>
            <a:spLocks noGrp="1"/>
          </p:cNvSpPr>
          <p:nvPr>
            <p:ph type="title"/>
          </p:nvPr>
        </p:nvSpPr>
        <p:spPr>
          <a:xfrm>
            <a:off x="486000" y="550723"/>
            <a:ext cx="8172000" cy="338554"/>
          </a:xfrm>
        </p:spPr>
        <p:txBody>
          <a:bodyPr/>
          <a:lstStyle/>
          <a:p>
            <a:r>
              <a:rPr lang="en-US" altLang="zh-CN" dirty="0"/>
              <a:t>RIP </a:t>
            </a:r>
            <a:r>
              <a:rPr lang="zh-CN" altLang="en-US" dirty="0"/>
              <a:t>协议的三个特点</a:t>
            </a:r>
          </a:p>
        </p:txBody>
      </p:sp>
      <p:sp>
        <p:nvSpPr>
          <p:cNvPr id="6" name="内容占位符 5">
            <a:extLst>
              <a:ext uri="{FF2B5EF4-FFF2-40B4-BE49-F238E27FC236}">
                <a16:creationId xmlns:a16="http://schemas.microsoft.com/office/drawing/2014/main" id="{45233FBD-623A-7D39-B644-C39679B42236}"/>
              </a:ext>
            </a:extLst>
          </p:cNvPr>
          <p:cNvSpPr>
            <a:spLocks noGrp="1"/>
          </p:cNvSpPr>
          <p:nvPr>
            <p:ph sz="quarter" idx="11"/>
          </p:nvPr>
        </p:nvSpPr>
        <p:spPr>
          <a:xfrm>
            <a:off x="486000" y="900000"/>
            <a:ext cx="8172000" cy="3703500"/>
          </a:xfrm>
        </p:spPr>
        <p:txBody>
          <a:bodyPr/>
          <a:lstStyle/>
          <a:p>
            <a:r>
              <a:rPr lang="zh-CN" altLang="en-US" dirty="0"/>
              <a:t>仅和相邻路由器交换信息。 </a:t>
            </a:r>
          </a:p>
          <a:p>
            <a:r>
              <a:rPr lang="zh-CN" altLang="en-US" dirty="0"/>
              <a:t>交换的信息是当前本路由器所知道的全部信息，即自己的路由表。 </a:t>
            </a:r>
          </a:p>
          <a:p>
            <a:r>
              <a:rPr lang="zh-CN" altLang="en-US" dirty="0"/>
              <a:t>按固定时间间隔交换路由信息，例如，每隔 </a:t>
            </a:r>
            <a:r>
              <a:rPr lang="en-US" altLang="zh-CN" dirty="0"/>
              <a:t>30 </a:t>
            </a:r>
            <a:r>
              <a:rPr lang="zh-CN" altLang="en-US" dirty="0"/>
              <a:t>秒。当网络拓扑发生变化时，路由器也及时向相邻路由器通告拓扑变化后的路由信息。</a:t>
            </a:r>
          </a:p>
          <a:p>
            <a:endParaRPr lang="zh-CN" altLang="en-US" dirty="0"/>
          </a:p>
        </p:txBody>
      </p:sp>
    </p:spTree>
    <p:extLst>
      <p:ext uri="{BB962C8B-B14F-4D97-AF65-F5344CB8AC3E}">
        <p14:creationId xmlns:p14="http://schemas.microsoft.com/office/powerpoint/2010/main" val="3860626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6870"/>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 name="标题 1">
            <a:extLst>
              <a:ext uri="{FF2B5EF4-FFF2-40B4-BE49-F238E27FC236}">
                <a16:creationId xmlns:a16="http://schemas.microsoft.com/office/drawing/2014/main" id="{4B04BC04-3C64-4A74-4919-86C18D078976}"/>
              </a:ext>
            </a:extLst>
          </p:cNvPr>
          <p:cNvSpPr>
            <a:spLocks noGrp="1"/>
          </p:cNvSpPr>
          <p:nvPr>
            <p:ph type="title"/>
          </p:nvPr>
        </p:nvSpPr>
        <p:spPr>
          <a:xfrm>
            <a:off x="486000" y="550723"/>
            <a:ext cx="8172000" cy="338554"/>
          </a:xfrm>
        </p:spPr>
        <p:txBody>
          <a:bodyPr/>
          <a:lstStyle/>
          <a:p>
            <a:r>
              <a:rPr lang="zh-CN" altLang="en-US" dirty="0"/>
              <a:t>路由表的建立</a:t>
            </a:r>
          </a:p>
        </p:txBody>
      </p:sp>
      <p:sp>
        <p:nvSpPr>
          <p:cNvPr id="3" name="内容占位符 2">
            <a:extLst>
              <a:ext uri="{FF2B5EF4-FFF2-40B4-BE49-F238E27FC236}">
                <a16:creationId xmlns:a16="http://schemas.microsoft.com/office/drawing/2014/main" id="{98D8B9E3-5974-3C52-D059-363BFA3FC39F}"/>
              </a:ext>
            </a:extLst>
          </p:cNvPr>
          <p:cNvSpPr>
            <a:spLocks noGrp="1"/>
          </p:cNvSpPr>
          <p:nvPr>
            <p:ph sz="quarter" idx="11"/>
          </p:nvPr>
        </p:nvSpPr>
        <p:spPr>
          <a:xfrm>
            <a:off x="486000" y="900000"/>
            <a:ext cx="8172000" cy="3703500"/>
          </a:xfrm>
        </p:spPr>
        <p:txBody>
          <a:bodyPr/>
          <a:lstStyle/>
          <a:p>
            <a:r>
              <a:rPr lang="zh-CN" altLang="en-US" dirty="0"/>
              <a:t>路由器在刚刚开始工作时，路由表是空的</a:t>
            </a:r>
            <a:endParaRPr lang="en-US" altLang="zh-CN" dirty="0"/>
          </a:p>
          <a:p>
            <a:r>
              <a:rPr lang="zh-CN" altLang="en-US" dirty="0"/>
              <a:t>然后，得到直接连接的网络的距离 </a:t>
            </a:r>
            <a:r>
              <a:rPr lang="en-US" altLang="zh-CN" dirty="0"/>
              <a:t>- 1</a:t>
            </a:r>
            <a:endParaRPr lang="zh-CN" altLang="en-US" dirty="0"/>
          </a:p>
          <a:p>
            <a:r>
              <a:rPr lang="zh-CN" altLang="en-US" dirty="0"/>
              <a:t>之后，每一个路由器也只和数目非常有限的相邻路由器交换并更新路由信息</a:t>
            </a:r>
          </a:p>
          <a:p>
            <a:r>
              <a:rPr lang="zh-CN" altLang="en-US" dirty="0"/>
              <a:t>经过若干次更新后，所有的路由器最终都会知道到达本自治系统中任何一个网络的最短距离和下一跳路由器的地址</a:t>
            </a:r>
          </a:p>
          <a:p>
            <a:r>
              <a:rPr lang="en-US" altLang="zh-CN" dirty="0"/>
              <a:t>RIP </a:t>
            </a:r>
            <a:r>
              <a:rPr lang="zh-CN" altLang="en-US" dirty="0"/>
              <a:t>协议的收敛 </a:t>
            </a:r>
            <a:r>
              <a:rPr lang="en-US" altLang="zh-CN" dirty="0"/>
              <a:t>(convergence) </a:t>
            </a:r>
            <a:r>
              <a:rPr lang="zh-CN" altLang="en-US" dirty="0"/>
              <a:t>过程较快</a:t>
            </a:r>
            <a:endParaRPr lang="en-US" altLang="zh-CN" dirty="0"/>
          </a:p>
          <a:p>
            <a:pPr lvl="1"/>
            <a:r>
              <a:rPr lang="zh-CN" altLang="en-US" dirty="0"/>
              <a:t>收敛：就是在自治系统中所有的结点都得到正确的路由选择信息的过程</a:t>
            </a:r>
          </a:p>
        </p:txBody>
      </p:sp>
    </p:spTree>
    <p:extLst>
      <p:ext uri="{BB962C8B-B14F-4D97-AF65-F5344CB8AC3E}">
        <p14:creationId xmlns:p14="http://schemas.microsoft.com/office/powerpoint/2010/main" val="8108327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5B155928-6077-9203-56A5-D511658576C7}"/>
              </a:ext>
            </a:extLst>
          </p:cNvPr>
          <p:cNvSpPr>
            <a:spLocks noGrp="1"/>
          </p:cNvSpPr>
          <p:nvPr>
            <p:ph type="title"/>
          </p:nvPr>
        </p:nvSpPr>
        <p:spPr>
          <a:xfrm>
            <a:off x="486000" y="550723"/>
            <a:ext cx="8172000" cy="338554"/>
          </a:xfrm>
        </p:spPr>
        <p:txBody>
          <a:bodyPr/>
          <a:lstStyle/>
          <a:p>
            <a:r>
              <a:rPr lang="zh-CN" altLang="en-US" dirty="0"/>
              <a:t>路由表主要信息和更新规则</a:t>
            </a:r>
          </a:p>
        </p:txBody>
      </p:sp>
      <p:sp>
        <p:nvSpPr>
          <p:cNvPr id="4" name="内容占位符 3">
            <a:extLst>
              <a:ext uri="{FF2B5EF4-FFF2-40B4-BE49-F238E27FC236}">
                <a16:creationId xmlns:a16="http://schemas.microsoft.com/office/drawing/2014/main" id="{76B968A9-B704-AE2E-6CB0-ECE16CCC4C73}"/>
              </a:ext>
            </a:extLst>
          </p:cNvPr>
          <p:cNvSpPr>
            <a:spLocks noGrp="1"/>
          </p:cNvSpPr>
          <p:nvPr>
            <p:ph sz="quarter" idx="11"/>
          </p:nvPr>
        </p:nvSpPr>
        <p:spPr>
          <a:xfrm>
            <a:off x="486000" y="900000"/>
            <a:ext cx="8172000" cy="3703500"/>
          </a:xfrm>
        </p:spPr>
        <p:txBody>
          <a:bodyPr/>
          <a:lstStyle/>
          <a:p>
            <a:r>
              <a:rPr lang="zh-CN" altLang="en-US" dirty="0"/>
              <a:t>路由表主要信息：</a:t>
            </a:r>
            <a:endParaRPr lang="en-US" altLang="zh-CN" dirty="0"/>
          </a:p>
          <a:p>
            <a:endParaRPr lang="en-US" altLang="zh-CN" dirty="0"/>
          </a:p>
          <a:p>
            <a:endParaRPr lang="en-US" altLang="zh-CN" dirty="0"/>
          </a:p>
          <a:p>
            <a:endParaRPr lang="en-US" altLang="zh-CN" dirty="0"/>
          </a:p>
          <a:p>
            <a:endParaRPr lang="en-US" altLang="zh-CN" dirty="0"/>
          </a:p>
          <a:p>
            <a:endParaRPr lang="en-US" altLang="zh-CN" dirty="0"/>
          </a:p>
          <a:p>
            <a:r>
              <a:rPr lang="zh-CN" altLang="en-US" dirty="0"/>
              <a:t>路由表更新规则：</a:t>
            </a:r>
            <a:endParaRPr lang="en-US" altLang="zh-CN" dirty="0"/>
          </a:p>
          <a:p>
            <a:pPr lvl="1"/>
            <a:r>
              <a:rPr lang="zh-CN" altLang="en-US" dirty="0"/>
              <a:t>使用距离向量算法找出到达每个目的网络的最短距离。</a:t>
            </a:r>
          </a:p>
          <a:p>
            <a:endParaRPr lang="zh-CN" altLang="en-US" dirty="0"/>
          </a:p>
        </p:txBody>
      </p:sp>
      <p:graphicFrame>
        <p:nvGraphicFramePr>
          <p:cNvPr id="10" name="表格 9"/>
          <p:cNvGraphicFramePr>
            <a:graphicFrameLocks noGrp="1"/>
          </p:cNvGraphicFramePr>
          <p:nvPr>
            <p:extLst>
              <p:ext uri="{D42A27DB-BD31-4B8C-83A1-F6EECF244321}">
                <p14:modId xmlns:p14="http://schemas.microsoft.com/office/powerpoint/2010/main" val="2200455562"/>
              </p:ext>
            </p:extLst>
          </p:nvPr>
        </p:nvGraphicFramePr>
        <p:xfrm>
          <a:off x="1413164" y="1314183"/>
          <a:ext cx="6096000" cy="1219200"/>
        </p:xfrm>
        <a:graphic>
          <a:graphicData uri="http://schemas.openxmlformats.org/drawingml/2006/table">
            <a:tbl>
              <a:tblPr firstRow="1" bandRow="1">
                <a:tableStyleId>{7DF18680-E054-41AD-8BC1-D1AEF772440D}</a:tableStyleId>
              </a:tblPr>
              <a:tblGrid>
                <a:gridCol w="2032000">
                  <a:extLst>
                    <a:ext uri="{9D8B030D-6E8A-4147-A177-3AD203B41FA5}">
                      <a16:colId xmlns:a16="http://schemas.microsoft.com/office/drawing/2014/main" val="4066635892"/>
                    </a:ext>
                  </a:extLst>
                </a:gridCol>
                <a:gridCol w="2032000">
                  <a:extLst>
                    <a:ext uri="{9D8B030D-6E8A-4147-A177-3AD203B41FA5}">
                      <a16:colId xmlns:a16="http://schemas.microsoft.com/office/drawing/2014/main" val="2958364535"/>
                    </a:ext>
                  </a:extLst>
                </a:gridCol>
                <a:gridCol w="2032000">
                  <a:extLst>
                    <a:ext uri="{9D8B030D-6E8A-4147-A177-3AD203B41FA5}">
                      <a16:colId xmlns:a16="http://schemas.microsoft.com/office/drawing/2014/main" val="3111467422"/>
                    </a:ext>
                  </a:extLst>
                </a:gridCol>
              </a:tblGrid>
              <a:tr h="283008">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目的网络</a:t>
                      </a:r>
                    </a:p>
                  </a:txBody>
                  <a:tcPr anchor="ctr"/>
                </a:tc>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距离（最短）</a:t>
                      </a:r>
                    </a:p>
                  </a:txBody>
                  <a:tcPr anchor="ctr"/>
                </a:tc>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下一跳地址</a:t>
                      </a:r>
                    </a:p>
                  </a:txBody>
                  <a:tcPr anchor="ctr"/>
                </a:tc>
                <a:extLst>
                  <a:ext uri="{0D108BD9-81ED-4DB2-BD59-A6C34878D82A}">
                    <a16:rowId xmlns:a16="http://schemas.microsoft.com/office/drawing/2014/main" val="687519655"/>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01858409"/>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dirty="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888851160"/>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dirty="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02472287"/>
                  </a:ext>
                </a:extLst>
              </a:tr>
            </a:tbl>
          </a:graphicData>
        </a:graphic>
      </p:graphicFrame>
    </p:spTree>
    <p:extLst>
      <p:ext uri="{BB962C8B-B14F-4D97-AF65-F5344CB8AC3E}">
        <p14:creationId xmlns:p14="http://schemas.microsoft.com/office/powerpoint/2010/main" val="4865856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40769E1-E7DD-8608-D6D5-747FAE025745}"/>
              </a:ext>
            </a:extLst>
          </p:cNvPr>
          <p:cNvSpPr>
            <a:spLocks noGrp="1"/>
          </p:cNvSpPr>
          <p:nvPr>
            <p:ph type="title"/>
          </p:nvPr>
        </p:nvSpPr>
        <p:spPr>
          <a:xfrm>
            <a:off x="486000" y="550723"/>
            <a:ext cx="8172000" cy="338554"/>
          </a:xfrm>
        </p:spPr>
        <p:txBody>
          <a:bodyPr/>
          <a:lstStyle/>
          <a:p>
            <a:r>
              <a:rPr lang="en-US" altLang="zh-CN" dirty="0"/>
              <a:t>2. </a:t>
            </a:r>
            <a:r>
              <a:rPr lang="zh-CN" altLang="en-US" dirty="0"/>
              <a:t>距离向量算法</a:t>
            </a:r>
          </a:p>
        </p:txBody>
      </p:sp>
      <p:sp>
        <p:nvSpPr>
          <p:cNvPr id="8" name="内容占位符 7">
            <a:extLst>
              <a:ext uri="{FF2B5EF4-FFF2-40B4-BE49-F238E27FC236}">
                <a16:creationId xmlns:a16="http://schemas.microsoft.com/office/drawing/2014/main" id="{AC87D980-CA69-D619-845D-7DC0C9B664C4}"/>
              </a:ext>
            </a:extLst>
          </p:cNvPr>
          <p:cNvSpPr>
            <a:spLocks noGrp="1"/>
          </p:cNvSpPr>
          <p:nvPr>
            <p:ph sz="quarter" idx="11"/>
          </p:nvPr>
        </p:nvSpPr>
        <p:spPr>
          <a:xfrm>
            <a:off x="486000" y="900000"/>
            <a:ext cx="8172000" cy="3703500"/>
          </a:xfrm>
        </p:spPr>
        <p:txBody>
          <a:bodyPr/>
          <a:lstStyle/>
          <a:p>
            <a:r>
              <a:rPr lang="zh-CN" altLang="en-US" dirty="0"/>
              <a:t>对每个相邻路由器（假设其地址为 </a:t>
            </a:r>
            <a:r>
              <a:rPr lang="en-US" altLang="zh-CN" dirty="0"/>
              <a:t>X</a:t>
            </a:r>
            <a:r>
              <a:rPr lang="zh-CN" altLang="en-US" dirty="0"/>
              <a:t>）发送过来的 </a:t>
            </a:r>
            <a:r>
              <a:rPr lang="en-US" altLang="zh-CN" dirty="0"/>
              <a:t>RIP </a:t>
            </a:r>
            <a:r>
              <a:rPr lang="zh-CN" altLang="en-US" dirty="0"/>
              <a:t>报文，路由器：</a:t>
            </a:r>
          </a:p>
          <a:p>
            <a:r>
              <a:rPr lang="en-US" altLang="zh-CN" dirty="0"/>
              <a:t>(1) </a:t>
            </a:r>
            <a:r>
              <a:rPr lang="zh-CN" altLang="en-US" dirty="0"/>
              <a:t>修改 </a:t>
            </a:r>
            <a:r>
              <a:rPr lang="en-US" altLang="zh-CN" dirty="0"/>
              <a:t>RIP </a:t>
            </a:r>
            <a:r>
              <a:rPr lang="zh-CN" altLang="en-US" dirty="0"/>
              <a:t>报文中的所有项目：把“下一跳”字段中的地址都改为 </a:t>
            </a:r>
            <a:r>
              <a:rPr lang="en-US" altLang="zh-CN" dirty="0"/>
              <a:t>X</a:t>
            </a:r>
            <a:r>
              <a:rPr lang="zh-CN" altLang="en-US" dirty="0"/>
              <a:t>，并把所有的距离字段的值加 </a:t>
            </a:r>
            <a:r>
              <a:rPr lang="en-US" altLang="zh-CN" dirty="0"/>
              <a:t>1</a:t>
            </a:r>
            <a:endParaRPr lang="zh-CN" altLang="en-US" dirty="0"/>
          </a:p>
          <a:p>
            <a:r>
              <a:rPr lang="en-US" altLang="zh-CN" dirty="0"/>
              <a:t>(2) </a:t>
            </a:r>
            <a:r>
              <a:rPr lang="zh-CN" altLang="en-US" dirty="0"/>
              <a:t>对修改后的 </a:t>
            </a:r>
            <a:r>
              <a:rPr lang="en-US" altLang="zh-CN" dirty="0"/>
              <a:t>RIP </a:t>
            </a:r>
            <a:r>
              <a:rPr lang="zh-CN" altLang="en-US" dirty="0"/>
              <a:t>报文中的每一个项目，重复以下步骤：</a:t>
            </a:r>
            <a:endParaRPr lang="en-US" altLang="zh-CN" dirty="0"/>
          </a:p>
          <a:p>
            <a:pPr lvl="1"/>
            <a:r>
              <a:rPr lang="zh-CN" altLang="en-US" dirty="0"/>
              <a:t>若路由表中没有目的网络</a:t>
            </a:r>
            <a:r>
              <a:rPr lang="en-US" altLang="zh-CN" dirty="0"/>
              <a:t>N</a:t>
            </a:r>
            <a:r>
              <a:rPr lang="zh-CN" altLang="en-US" dirty="0"/>
              <a:t>，则把该项目添加到路由表中。否则</a:t>
            </a:r>
            <a:endParaRPr lang="en-US" altLang="zh-CN" dirty="0"/>
          </a:p>
          <a:p>
            <a:pPr lvl="1"/>
            <a:r>
              <a:rPr lang="zh-CN" altLang="en-US" dirty="0"/>
              <a:t>若路由表中网络 </a:t>
            </a:r>
            <a:r>
              <a:rPr lang="en-US" altLang="zh-CN" dirty="0"/>
              <a:t>N </a:t>
            </a:r>
            <a:r>
              <a:rPr lang="zh-CN" altLang="en-US" dirty="0"/>
              <a:t>的下一跳路由器为 </a:t>
            </a:r>
            <a:r>
              <a:rPr lang="en-US" altLang="zh-CN" dirty="0"/>
              <a:t>X</a:t>
            </a:r>
            <a:r>
              <a:rPr lang="zh-CN" altLang="en-US" dirty="0"/>
              <a:t>，则用收到的项目替换原路由表中的项目。否则</a:t>
            </a:r>
            <a:endParaRPr lang="en-US" altLang="zh-CN" dirty="0"/>
          </a:p>
          <a:p>
            <a:pPr lvl="1"/>
            <a:r>
              <a:rPr lang="zh-CN" altLang="en-US" dirty="0"/>
              <a:t>若收到项目中的距离小于路由表中的距离，则用收到项目更新原路由表中的项目。否则</a:t>
            </a:r>
            <a:endParaRPr lang="en-US" altLang="zh-CN" dirty="0"/>
          </a:p>
          <a:p>
            <a:pPr lvl="1"/>
            <a:r>
              <a:rPr lang="zh-CN" altLang="en-US" dirty="0"/>
              <a:t>什么也不做</a:t>
            </a:r>
          </a:p>
          <a:p>
            <a:r>
              <a:rPr lang="en-US" altLang="zh-CN" dirty="0"/>
              <a:t>(3) </a:t>
            </a:r>
            <a:r>
              <a:rPr lang="zh-CN" altLang="en-US" dirty="0"/>
              <a:t>若 </a:t>
            </a:r>
            <a:r>
              <a:rPr lang="en-US" altLang="zh-CN" dirty="0"/>
              <a:t>3 </a:t>
            </a:r>
            <a:r>
              <a:rPr lang="zh-CN" altLang="en-US" dirty="0"/>
              <a:t>分钟还未收到相邻路由器的更新路由表，则把此相邻路由器记为不可达路由器，即将距离置为 </a:t>
            </a:r>
            <a:r>
              <a:rPr lang="en-US" altLang="zh-CN" dirty="0"/>
              <a:t>16</a:t>
            </a:r>
            <a:r>
              <a:rPr lang="zh-CN" altLang="en-US" dirty="0"/>
              <a:t>（表示不可达）</a:t>
            </a:r>
          </a:p>
          <a:p>
            <a:r>
              <a:rPr lang="en-US" altLang="zh-CN" dirty="0"/>
              <a:t>(4) </a:t>
            </a:r>
            <a:r>
              <a:rPr lang="zh-CN" altLang="en-US" dirty="0"/>
              <a:t>返回</a:t>
            </a:r>
          </a:p>
        </p:txBody>
      </p:sp>
    </p:spTree>
    <p:extLst>
      <p:ext uri="{BB962C8B-B14F-4D97-AF65-F5344CB8AC3E}">
        <p14:creationId xmlns:p14="http://schemas.microsoft.com/office/powerpoint/2010/main" val="47950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组合 27"/>
          <p:cNvGrpSpPr/>
          <p:nvPr/>
        </p:nvGrpSpPr>
        <p:grpSpPr>
          <a:xfrm>
            <a:off x="2726509" y="2981560"/>
            <a:ext cx="3480976" cy="670591"/>
            <a:chOff x="2488044" y="3332202"/>
            <a:chExt cx="3480976" cy="670591"/>
          </a:xfrm>
        </p:grpSpPr>
        <p:cxnSp>
          <p:nvCxnSpPr>
            <p:cNvPr id="9" name="直接连接符 8"/>
            <p:cNvCxnSpPr/>
            <p:nvPr/>
          </p:nvCxnSpPr>
          <p:spPr>
            <a:xfrm>
              <a:off x="2530761" y="4002793"/>
              <a:ext cx="3438259" cy="0"/>
            </a:xfrm>
            <a:prstGeom prst="line">
              <a:avLst/>
            </a:prstGeom>
            <a:ln w="38100">
              <a:solidFill>
                <a:srgbClr val="CC0099"/>
              </a:solidFill>
            </a:ln>
          </p:spPr>
          <p:style>
            <a:lnRef idx="1">
              <a:schemeClr val="dk1"/>
            </a:lnRef>
            <a:fillRef idx="0">
              <a:schemeClr val="dk1"/>
            </a:fillRef>
            <a:effectRef idx="0">
              <a:schemeClr val="dk1"/>
            </a:effectRef>
            <a:fontRef idx="minor">
              <a:schemeClr val="tx1"/>
            </a:fontRef>
          </p:style>
        </p:cxnSp>
        <p:sp>
          <p:nvSpPr>
            <p:cNvPr id="10" name="右大括号 9"/>
            <p:cNvSpPr/>
            <p:nvPr/>
          </p:nvSpPr>
          <p:spPr>
            <a:xfrm rot="16200000" flipV="1">
              <a:off x="4106156" y="2032715"/>
              <a:ext cx="202035" cy="3438259"/>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11" name="文本框 10"/>
            <p:cNvSpPr txBox="1"/>
            <p:nvPr/>
          </p:nvSpPr>
          <p:spPr>
            <a:xfrm>
              <a:off x="3701007" y="3332202"/>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17" name="椭圆 16"/>
          <p:cNvSpPr/>
          <p:nvPr/>
        </p:nvSpPr>
        <p:spPr>
          <a:xfrm>
            <a:off x="2861611" y="2828453"/>
            <a:ext cx="404068" cy="404068"/>
          </a:xfrm>
          <a:prstGeom prst="ellipse">
            <a:avLst/>
          </a:prstGeom>
          <a:solidFill>
            <a:schemeClr val="accent1">
              <a:lumMod val="40000"/>
              <a:lumOff val="60000"/>
            </a:schemeClr>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Z</a:t>
            </a:r>
            <a:endParaRPr lang="zh-CN" altLang="en-US" b="1" dirty="0">
              <a:solidFill>
                <a:schemeClr val="tx1"/>
              </a:solidFill>
              <a:latin typeface="微软雅黑" panose="020B0503020204020204" pitchFamily="34" charset="-122"/>
              <a:ea typeface="微软雅黑" panose="020B0503020204020204" pitchFamily="34" charset="-122"/>
            </a:endParaRPr>
          </a:p>
        </p:txBody>
      </p:sp>
      <p:cxnSp>
        <p:nvCxnSpPr>
          <p:cNvPr id="18" name="直接连接符 17"/>
          <p:cNvCxnSpPr>
            <a:stCxn id="5" idx="0"/>
            <a:endCxn id="17" idx="3"/>
          </p:cNvCxnSpPr>
          <p:nvPr/>
        </p:nvCxnSpPr>
        <p:spPr>
          <a:xfrm flipV="1">
            <a:off x="2507156" y="3173347"/>
            <a:ext cx="413629" cy="253677"/>
          </a:xfrm>
          <a:prstGeom prst="line">
            <a:avLst/>
          </a:prstGeom>
          <a:ln w="19050">
            <a:solidFill>
              <a:srgbClr val="0000FF"/>
            </a:solidFill>
            <a:prstDash val="sysDash"/>
          </a:ln>
        </p:spPr>
        <p:style>
          <a:lnRef idx="1">
            <a:schemeClr val="dk1"/>
          </a:lnRef>
          <a:fillRef idx="0">
            <a:schemeClr val="dk1"/>
          </a:fillRef>
          <a:effectRef idx="0">
            <a:schemeClr val="dk1"/>
          </a:effectRef>
          <a:fontRef idx="minor">
            <a:schemeClr val="tx1"/>
          </a:fontRef>
        </p:style>
      </p:cxnSp>
      <p:grpSp>
        <p:nvGrpSpPr>
          <p:cNvPr id="29" name="组合 28"/>
          <p:cNvGrpSpPr/>
          <p:nvPr/>
        </p:nvGrpSpPr>
        <p:grpSpPr>
          <a:xfrm>
            <a:off x="2706532" y="3728368"/>
            <a:ext cx="1379246" cy="608079"/>
            <a:chOff x="2468067" y="4079010"/>
            <a:chExt cx="1379246" cy="608079"/>
          </a:xfrm>
        </p:grpSpPr>
        <p:cxnSp>
          <p:nvCxnSpPr>
            <p:cNvPr id="12" name="直接连接符 11"/>
            <p:cNvCxnSpPr/>
            <p:nvPr/>
          </p:nvCxnSpPr>
          <p:spPr>
            <a:xfrm>
              <a:off x="2468067" y="4079010"/>
              <a:ext cx="1379246" cy="0"/>
            </a:xfrm>
            <a:prstGeom prst="line">
              <a:avLst/>
            </a:prstGeom>
            <a:ln w="38100">
              <a:solidFill>
                <a:srgbClr val="0000FF"/>
              </a:solidFill>
            </a:ln>
          </p:spPr>
          <p:style>
            <a:lnRef idx="1">
              <a:schemeClr val="dk1"/>
            </a:lnRef>
            <a:fillRef idx="0">
              <a:schemeClr val="dk1"/>
            </a:fillRef>
            <a:effectRef idx="0">
              <a:schemeClr val="dk1"/>
            </a:effectRef>
            <a:fontRef idx="minor">
              <a:schemeClr val="tx1"/>
            </a:fontRef>
          </p:style>
        </p:cxnSp>
        <p:sp>
          <p:nvSpPr>
            <p:cNvPr id="24" name="右大括号 23"/>
            <p:cNvSpPr/>
            <p:nvPr/>
          </p:nvSpPr>
          <p:spPr>
            <a:xfrm rot="5400000">
              <a:off x="3066283" y="3621244"/>
              <a:ext cx="158583" cy="1315062"/>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5" name="文本框 24"/>
            <p:cNvSpPr txBox="1"/>
            <p:nvPr/>
          </p:nvSpPr>
          <p:spPr>
            <a:xfrm>
              <a:off x="2654988"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grpSp>
        <p:nvGrpSpPr>
          <p:cNvPr id="30" name="组合 29"/>
          <p:cNvGrpSpPr/>
          <p:nvPr/>
        </p:nvGrpSpPr>
        <p:grpSpPr>
          <a:xfrm>
            <a:off x="4316583" y="3728368"/>
            <a:ext cx="1971268" cy="608079"/>
            <a:chOff x="4078118" y="4079010"/>
            <a:chExt cx="1971268" cy="608079"/>
          </a:xfrm>
        </p:grpSpPr>
        <p:cxnSp>
          <p:nvCxnSpPr>
            <p:cNvPr id="15" name="直接连接符 14"/>
            <p:cNvCxnSpPr/>
            <p:nvPr/>
          </p:nvCxnSpPr>
          <p:spPr>
            <a:xfrm>
              <a:off x="4078118" y="4079010"/>
              <a:ext cx="1971268" cy="0"/>
            </a:xfrm>
            <a:prstGeom prst="line">
              <a:avLst/>
            </a:prstGeom>
            <a:ln w="38100">
              <a:solidFill>
                <a:srgbClr val="993300"/>
              </a:solidFill>
            </a:ln>
          </p:spPr>
          <p:style>
            <a:lnRef idx="1">
              <a:schemeClr val="dk1"/>
            </a:lnRef>
            <a:fillRef idx="0">
              <a:schemeClr val="dk1"/>
            </a:fillRef>
            <a:effectRef idx="0">
              <a:schemeClr val="dk1"/>
            </a:effectRef>
            <a:fontRef idx="minor">
              <a:schemeClr val="tx1"/>
            </a:fontRef>
          </p:style>
        </p:cxnSp>
        <p:sp>
          <p:nvSpPr>
            <p:cNvPr id="26" name="右大括号 25"/>
            <p:cNvSpPr/>
            <p:nvPr/>
          </p:nvSpPr>
          <p:spPr>
            <a:xfrm rot="5400000">
              <a:off x="5002603" y="3382121"/>
              <a:ext cx="149052" cy="1783781"/>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7" name="文本框 26"/>
            <p:cNvSpPr txBox="1"/>
            <p:nvPr/>
          </p:nvSpPr>
          <p:spPr>
            <a:xfrm>
              <a:off x="4536910"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5" name="椭圆 4"/>
          <p:cNvSpPr/>
          <p:nvPr/>
        </p:nvSpPr>
        <p:spPr>
          <a:xfrm>
            <a:off x="2245085" y="3427024"/>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A</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6" name="椭圆 5"/>
          <p:cNvSpPr/>
          <p:nvPr/>
        </p:nvSpPr>
        <p:spPr>
          <a:xfrm>
            <a:off x="6207485" y="3427024"/>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B</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7" name="椭圆 6"/>
          <p:cNvSpPr/>
          <p:nvPr/>
        </p:nvSpPr>
        <p:spPr>
          <a:xfrm>
            <a:off x="4041571" y="3487060"/>
            <a:ext cx="404068" cy="404068"/>
          </a:xfrm>
          <a:prstGeom prst="ellipse">
            <a:avLst/>
          </a:prstGeom>
          <a:solidFill>
            <a:srgbClr val="FFFF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X</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16" name="标题 15">
            <a:extLst>
              <a:ext uri="{FF2B5EF4-FFF2-40B4-BE49-F238E27FC236}">
                <a16:creationId xmlns:a16="http://schemas.microsoft.com/office/drawing/2014/main" id="{8EE5D33E-A0C8-D975-7AD8-55A6C84E7FF6}"/>
              </a:ext>
            </a:extLst>
          </p:cNvPr>
          <p:cNvSpPr>
            <a:spLocks noGrp="1"/>
          </p:cNvSpPr>
          <p:nvPr>
            <p:ph type="title"/>
          </p:nvPr>
        </p:nvSpPr>
        <p:spPr>
          <a:xfrm>
            <a:off x="486000" y="550723"/>
            <a:ext cx="8172000" cy="338554"/>
          </a:xfrm>
        </p:spPr>
        <p:txBody>
          <a:bodyPr/>
          <a:lstStyle/>
          <a:p>
            <a:r>
              <a:rPr lang="en-US" altLang="zh-CN" dirty="0"/>
              <a:t>2. </a:t>
            </a:r>
            <a:r>
              <a:rPr lang="zh-CN" altLang="en-US" dirty="0"/>
              <a:t>距离向量算法</a:t>
            </a:r>
          </a:p>
        </p:txBody>
      </p:sp>
      <p:sp>
        <p:nvSpPr>
          <p:cNvPr id="13" name="内容占位符 12">
            <a:extLst>
              <a:ext uri="{FF2B5EF4-FFF2-40B4-BE49-F238E27FC236}">
                <a16:creationId xmlns:a16="http://schemas.microsoft.com/office/drawing/2014/main" id="{81B552A7-0A5C-1826-CE39-F3F96768799F}"/>
              </a:ext>
            </a:extLst>
          </p:cNvPr>
          <p:cNvSpPr>
            <a:spLocks noGrp="1"/>
          </p:cNvSpPr>
          <p:nvPr>
            <p:ph sz="quarter" idx="11"/>
          </p:nvPr>
        </p:nvSpPr>
        <p:spPr>
          <a:xfrm>
            <a:off x="486000" y="900000"/>
            <a:ext cx="8172000" cy="3703500"/>
          </a:xfrm>
        </p:spPr>
        <p:txBody>
          <a:bodyPr/>
          <a:lstStyle/>
          <a:p>
            <a:r>
              <a:rPr lang="zh-CN" altLang="en-US" dirty="0"/>
              <a:t>算法基础：</a:t>
            </a:r>
            <a:endParaRPr lang="en-US" altLang="zh-CN" dirty="0"/>
          </a:p>
          <a:p>
            <a:pPr lvl="1"/>
            <a:r>
              <a:rPr lang="en-US" altLang="zh-CN" dirty="0"/>
              <a:t>Bellman-Ford </a:t>
            </a:r>
            <a:r>
              <a:rPr lang="zh-CN" altLang="en-US" dirty="0"/>
              <a:t>算法（或 </a:t>
            </a:r>
            <a:r>
              <a:rPr lang="en-US" altLang="zh-CN" dirty="0"/>
              <a:t>Ford-Fulkerson </a:t>
            </a:r>
            <a:r>
              <a:rPr lang="zh-CN" altLang="en-US" dirty="0"/>
              <a:t>算法）</a:t>
            </a:r>
            <a:endParaRPr lang="en-US" altLang="zh-CN" dirty="0"/>
          </a:p>
          <a:p>
            <a:r>
              <a:rPr lang="zh-CN" altLang="en-US" dirty="0"/>
              <a:t>算法要点：</a:t>
            </a:r>
          </a:p>
          <a:p>
            <a:pPr lvl="1"/>
            <a:r>
              <a:rPr lang="zh-CN" altLang="en-US" dirty="0"/>
              <a:t>设 </a:t>
            </a:r>
            <a:r>
              <a:rPr lang="en-US" altLang="zh-CN" dirty="0"/>
              <a:t>X </a:t>
            </a:r>
            <a:r>
              <a:rPr lang="zh-CN" altLang="en-US" dirty="0"/>
              <a:t>是结点 </a:t>
            </a:r>
            <a:r>
              <a:rPr lang="en-US" altLang="zh-CN" dirty="0"/>
              <a:t>A </a:t>
            </a:r>
            <a:r>
              <a:rPr lang="zh-CN" altLang="en-US" dirty="0"/>
              <a:t>到 </a:t>
            </a:r>
            <a:r>
              <a:rPr lang="en-US" altLang="zh-CN" dirty="0"/>
              <a:t>B </a:t>
            </a:r>
            <a:r>
              <a:rPr lang="zh-CN" altLang="en-US" dirty="0"/>
              <a:t>的最短路径上的一个结点。</a:t>
            </a:r>
          </a:p>
          <a:p>
            <a:pPr lvl="1"/>
            <a:r>
              <a:rPr lang="zh-CN" altLang="en-US" dirty="0"/>
              <a:t>若把路径 </a:t>
            </a:r>
            <a:r>
              <a:rPr lang="en-US" altLang="zh-CN" dirty="0"/>
              <a:t>A→B </a:t>
            </a:r>
            <a:r>
              <a:rPr lang="zh-CN" altLang="en-US" dirty="0"/>
              <a:t>拆成两段路径 </a:t>
            </a:r>
            <a:r>
              <a:rPr lang="en-US" altLang="zh-CN" dirty="0"/>
              <a:t>A→X </a:t>
            </a:r>
            <a:r>
              <a:rPr lang="zh-CN" altLang="en-US" dirty="0"/>
              <a:t>和 </a:t>
            </a:r>
            <a:r>
              <a:rPr lang="en-US" altLang="zh-CN" dirty="0"/>
              <a:t>X→B</a:t>
            </a:r>
            <a:r>
              <a:rPr lang="zh-CN" altLang="en-US" dirty="0"/>
              <a:t>，则每一段路径 </a:t>
            </a:r>
            <a:r>
              <a:rPr lang="en-US" altLang="zh-CN" dirty="0"/>
              <a:t>A→X </a:t>
            </a:r>
            <a:r>
              <a:rPr lang="zh-CN" altLang="en-US" dirty="0"/>
              <a:t>和 </a:t>
            </a:r>
            <a:r>
              <a:rPr lang="en-US" altLang="zh-CN" dirty="0"/>
              <a:t>X→B </a:t>
            </a:r>
            <a:r>
              <a:rPr lang="zh-CN" altLang="en-US" dirty="0"/>
              <a:t>也都分别是结点 </a:t>
            </a:r>
            <a:r>
              <a:rPr lang="en-US" altLang="zh-CN" dirty="0"/>
              <a:t>A </a:t>
            </a:r>
            <a:r>
              <a:rPr lang="zh-CN" altLang="en-US" dirty="0"/>
              <a:t>到 </a:t>
            </a:r>
            <a:r>
              <a:rPr lang="en-US" altLang="zh-CN" dirty="0"/>
              <a:t>X </a:t>
            </a:r>
            <a:r>
              <a:rPr lang="zh-CN" altLang="en-US" dirty="0"/>
              <a:t>和结点 </a:t>
            </a:r>
            <a:r>
              <a:rPr lang="en-US" altLang="zh-CN" dirty="0"/>
              <a:t>X </a:t>
            </a:r>
            <a:r>
              <a:rPr lang="zh-CN" altLang="en-US" dirty="0"/>
              <a:t>到 </a:t>
            </a:r>
            <a:r>
              <a:rPr lang="en-US" altLang="zh-CN" dirty="0"/>
              <a:t>B </a:t>
            </a:r>
            <a:r>
              <a:rPr lang="zh-CN" altLang="en-US" dirty="0"/>
              <a:t>的最短路径</a:t>
            </a:r>
          </a:p>
          <a:p>
            <a:endParaRPr lang="zh-CN" altLang="en-US" dirty="0"/>
          </a:p>
        </p:txBody>
      </p:sp>
    </p:spTree>
    <p:extLst>
      <p:ext uri="{BB962C8B-B14F-4D97-AF65-F5344CB8AC3E}">
        <p14:creationId xmlns:p14="http://schemas.microsoft.com/office/powerpoint/2010/main" val="7122914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081454" y="723313"/>
            <a:ext cx="6980782" cy="634020"/>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已知路由器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有表 </a:t>
            </a:r>
            <a:r>
              <a:rPr lang="en-US" altLang="zh-CN" sz="1600" b="1" dirty="0">
                <a:solidFill>
                  <a:schemeClr val="bg1"/>
                </a:solidFill>
                <a:latin typeface="微软雅黑" pitchFamily="34" charset="-122"/>
                <a:ea typeface="微软雅黑" pitchFamily="34" charset="-122"/>
              </a:rPr>
              <a:t>4-8(a) </a:t>
            </a:r>
            <a:r>
              <a:rPr lang="zh-CN" altLang="en-US" sz="1600" b="1" dirty="0">
                <a:solidFill>
                  <a:schemeClr val="bg1"/>
                </a:solidFill>
                <a:latin typeface="微软雅黑" pitchFamily="34" charset="-122"/>
                <a:ea typeface="微软雅黑" pitchFamily="34" charset="-122"/>
              </a:rPr>
              <a:t>所示的路由表。现在收到相邻路由器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发来的路由更新信息，如表 </a:t>
            </a:r>
            <a:r>
              <a:rPr lang="en-US" altLang="zh-CN" sz="1600" b="1" dirty="0">
                <a:solidFill>
                  <a:schemeClr val="bg1"/>
                </a:solidFill>
                <a:latin typeface="微软雅黑" pitchFamily="34" charset="-122"/>
                <a:ea typeface="微软雅黑" pitchFamily="34" charset="-122"/>
              </a:rPr>
              <a:t>4-8(b) </a:t>
            </a:r>
            <a:r>
              <a:rPr lang="zh-CN" altLang="en-US" sz="1600" b="1" dirty="0">
                <a:solidFill>
                  <a:schemeClr val="bg1"/>
                </a:solidFill>
                <a:latin typeface="微软雅黑" pitchFamily="34" charset="-122"/>
                <a:ea typeface="微软雅黑" pitchFamily="34" charset="-122"/>
              </a:rPr>
              <a:t>所示。试更新路由器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的路由表。</a:t>
            </a:r>
          </a:p>
        </p:txBody>
      </p:sp>
      <p:graphicFrame>
        <p:nvGraphicFramePr>
          <p:cNvPr id="51" name="表格 50"/>
          <p:cNvGraphicFramePr>
            <a:graphicFrameLocks noGrp="1"/>
          </p:cNvGraphicFramePr>
          <p:nvPr>
            <p:extLst>
              <p:ext uri="{D42A27DB-BD31-4B8C-83A1-F6EECF244321}">
                <p14:modId xmlns:p14="http://schemas.microsoft.com/office/powerpoint/2010/main" val="3916673970"/>
              </p:ext>
            </p:extLst>
          </p:nvPr>
        </p:nvGraphicFramePr>
        <p:xfrm>
          <a:off x="980316"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3</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5" name="矩形 64"/>
          <p:cNvSpPr/>
          <p:nvPr/>
        </p:nvSpPr>
        <p:spPr>
          <a:xfrm>
            <a:off x="1322029" y="1373208"/>
            <a:ext cx="2265364" cy="276999"/>
          </a:xfrm>
          <a:prstGeom prst="rect">
            <a:avLst/>
          </a:prstGeom>
        </p:spPr>
        <p:txBody>
          <a:bodyPr wrap="none">
            <a:spAutoFit/>
          </a:bodyPr>
          <a:lstStyle/>
          <a:p>
            <a:pPr algn="ctr"/>
            <a:r>
              <a:rPr lang="zh-CN" altLang="zh-CN" sz="1200" b="1" dirty="0">
                <a:latin typeface="微软雅黑" pitchFamily="34" charset="-122"/>
                <a:ea typeface="微软雅黑" pitchFamily="34" charset="-122"/>
              </a:rPr>
              <a:t>表</a:t>
            </a:r>
            <a:r>
              <a:rPr lang="en-US" altLang="zh-CN" sz="1200" b="1" dirty="0">
                <a:latin typeface="微软雅黑" pitchFamily="34" charset="-122"/>
                <a:ea typeface="微软雅黑" pitchFamily="34" charset="-122"/>
              </a:rPr>
              <a:t> 4-8(a)  </a:t>
            </a:r>
            <a:r>
              <a:rPr lang="zh-CN" altLang="zh-CN" sz="1200" b="1" dirty="0">
                <a:latin typeface="微软雅黑" pitchFamily="34" charset="-122"/>
                <a:ea typeface="微软雅黑" pitchFamily="34" charset="-122"/>
              </a:rPr>
              <a:t>路由器</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6 </a:t>
            </a:r>
            <a:r>
              <a:rPr lang="zh-CN" altLang="zh-CN" sz="1200" b="1" dirty="0">
                <a:latin typeface="微软雅黑" pitchFamily="34" charset="-122"/>
                <a:ea typeface="微软雅黑" pitchFamily="34" charset="-122"/>
              </a:rPr>
              <a:t>的路由表</a:t>
            </a:r>
            <a:endParaRPr lang="zh-CN" altLang="en-US" sz="1200" b="1" dirty="0">
              <a:latin typeface="微软雅黑" pitchFamily="34" charset="-122"/>
              <a:ea typeface="微软雅黑" pitchFamily="34" charset="-122"/>
            </a:endParaRPr>
          </a:p>
        </p:txBody>
      </p:sp>
      <p:graphicFrame>
        <p:nvGraphicFramePr>
          <p:cNvPr id="66" name="表格 65"/>
          <p:cNvGraphicFramePr>
            <a:graphicFrameLocks noGrp="1"/>
          </p:cNvGraphicFramePr>
          <p:nvPr>
            <p:extLst>
              <p:ext uri="{D42A27DB-BD31-4B8C-83A1-F6EECF244321}">
                <p14:modId xmlns:p14="http://schemas.microsoft.com/office/powerpoint/2010/main" val="4227897987"/>
              </p:ext>
            </p:extLst>
          </p:nvPr>
        </p:nvGraphicFramePr>
        <p:xfrm>
          <a:off x="5258087"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1</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zh-CN" sz="1200" b="1" dirty="0">
                          <a:solidFill>
                            <a:schemeClr val="tx1"/>
                          </a:solidFill>
                          <a:effectLst/>
                          <a:latin typeface="微软雅黑" pitchFamily="34" charset="-122"/>
                          <a:ea typeface="微软雅黑" pitchFamily="34" charset="-122"/>
                        </a:rPr>
                        <a:t>直接交付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7" name="矩形 66"/>
          <p:cNvSpPr/>
          <p:nvPr/>
        </p:nvSpPr>
        <p:spPr>
          <a:xfrm>
            <a:off x="5437897" y="1373208"/>
            <a:ext cx="2589170"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4-8(b)  R4 </a:t>
            </a:r>
            <a:r>
              <a:rPr lang="zh-CN" altLang="en-US" sz="1200" b="1" dirty="0">
                <a:latin typeface="微软雅黑" pitchFamily="34" charset="-122"/>
                <a:ea typeface="微软雅黑" pitchFamily="34" charset="-122"/>
              </a:rPr>
              <a:t>发来的路由更新信息</a:t>
            </a:r>
          </a:p>
        </p:txBody>
      </p:sp>
      <p:graphicFrame>
        <p:nvGraphicFramePr>
          <p:cNvPr id="68" name="表格 67"/>
          <p:cNvGraphicFramePr>
            <a:graphicFrameLocks noGrp="1"/>
          </p:cNvGraphicFramePr>
          <p:nvPr>
            <p:extLst>
              <p:ext uri="{D42A27DB-BD31-4B8C-83A1-F6EECF244321}">
                <p14:modId xmlns:p14="http://schemas.microsoft.com/office/powerpoint/2010/main" val="2582743477"/>
              </p:ext>
            </p:extLst>
          </p:nvPr>
        </p:nvGraphicFramePr>
        <p:xfrm>
          <a:off x="5258087" y="3250629"/>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9" name="矩形 68"/>
          <p:cNvSpPr/>
          <p:nvPr/>
        </p:nvSpPr>
        <p:spPr>
          <a:xfrm>
            <a:off x="5619035" y="2968914"/>
            <a:ext cx="2226893"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4-8(c)  </a:t>
            </a:r>
            <a:r>
              <a:rPr lang="zh-CN" altLang="en-US" sz="1200" b="1" dirty="0">
                <a:latin typeface="微软雅黑" pitchFamily="34" charset="-122"/>
                <a:ea typeface="微软雅黑" pitchFamily="34" charset="-122"/>
              </a:rPr>
              <a:t>修改后的表 </a:t>
            </a:r>
            <a:r>
              <a:rPr lang="en-US" altLang="zh-CN" sz="1200" b="1" dirty="0">
                <a:latin typeface="微软雅黑" pitchFamily="34" charset="-122"/>
                <a:ea typeface="微软雅黑" pitchFamily="34" charset="-122"/>
              </a:rPr>
              <a:t>4-9(b)</a:t>
            </a:r>
          </a:p>
        </p:txBody>
      </p:sp>
      <p:graphicFrame>
        <p:nvGraphicFramePr>
          <p:cNvPr id="70" name="表格 69"/>
          <p:cNvGraphicFramePr>
            <a:graphicFrameLocks noGrp="1"/>
          </p:cNvGraphicFramePr>
          <p:nvPr>
            <p:extLst>
              <p:ext uri="{D42A27DB-BD31-4B8C-83A1-F6EECF244321}">
                <p14:modId xmlns:p14="http://schemas.microsoft.com/office/powerpoint/2010/main" val="1738129026"/>
              </p:ext>
            </p:extLst>
          </p:nvPr>
        </p:nvGraphicFramePr>
        <p:xfrm>
          <a:off x="980316" y="3056921"/>
          <a:ext cx="2948791" cy="1158145"/>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
        <p:nvSpPr>
          <p:cNvPr id="71" name="矩形 70"/>
          <p:cNvSpPr/>
          <p:nvPr/>
        </p:nvSpPr>
        <p:spPr>
          <a:xfrm>
            <a:off x="864183" y="2775206"/>
            <a:ext cx="2741456"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4-8(d)  </a:t>
            </a:r>
            <a:r>
              <a:rPr lang="zh-CN" altLang="en-US" sz="1200" b="1" dirty="0">
                <a:latin typeface="微软雅黑" pitchFamily="34" charset="-122"/>
                <a:ea typeface="微软雅黑" pitchFamily="34" charset="-122"/>
              </a:rPr>
              <a:t>路由器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6 </a:t>
            </a:r>
            <a:r>
              <a:rPr lang="zh-CN" altLang="en-US" sz="1200" b="1" dirty="0">
                <a:latin typeface="微软雅黑" pitchFamily="34" charset="-122"/>
                <a:ea typeface="微软雅黑" pitchFamily="34" charset="-122"/>
              </a:rPr>
              <a:t>更新后的路由表</a:t>
            </a:r>
          </a:p>
        </p:txBody>
      </p:sp>
      <p:grpSp>
        <p:nvGrpSpPr>
          <p:cNvPr id="7" name="组合 6"/>
          <p:cNvGrpSpPr/>
          <p:nvPr/>
        </p:nvGrpSpPr>
        <p:grpSpPr>
          <a:xfrm>
            <a:off x="3578156" y="1953579"/>
            <a:ext cx="1653268" cy="1768676"/>
            <a:chOff x="3578156" y="1953579"/>
            <a:chExt cx="1653268" cy="1768676"/>
          </a:xfrm>
        </p:grpSpPr>
        <p:grpSp>
          <p:nvGrpSpPr>
            <p:cNvPr id="72" name="组合 71"/>
            <p:cNvGrpSpPr/>
            <p:nvPr/>
          </p:nvGrpSpPr>
          <p:grpSpPr>
            <a:xfrm>
              <a:off x="3578156" y="1953579"/>
              <a:ext cx="1653268" cy="1768676"/>
              <a:chOff x="3239516" y="1802855"/>
              <a:chExt cx="2342104" cy="2505589"/>
            </a:xfrm>
          </p:grpSpPr>
          <p:sp>
            <p:nvSpPr>
              <p:cNvPr id="61" name="椭圆 60"/>
              <p:cNvSpPr/>
              <p:nvPr/>
            </p:nvSpPr>
            <p:spPr bwMode="auto">
              <a:xfrm>
                <a:off x="4146775" y="2403831"/>
                <a:ext cx="1180985" cy="936105"/>
              </a:xfrm>
              <a:prstGeom prst="ellipse">
                <a:avLst/>
              </a:prstGeom>
              <a:solidFill>
                <a:srgbClr val="99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r>
                  <a:rPr kumimoji="0" lang="zh-CN" altLang="en-US" sz="1400" b="1" i="0" u="none" strike="noStrike" cap="none" normalizeH="0" baseline="0" dirty="0">
                    <a:ln>
                      <a:noFill/>
                    </a:ln>
                    <a:effectLst/>
                    <a:latin typeface="微软雅黑" pitchFamily="34" charset="-122"/>
                    <a:ea typeface="微软雅黑" pitchFamily="34" charset="-122"/>
                  </a:rPr>
                  <a:t>计算更新</a:t>
                </a:r>
              </a:p>
            </p:txBody>
          </p:sp>
          <p:sp>
            <p:nvSpPr>
              <p:cNvPr id="62" name="直角上箭头 61"/>
              <p:cNvSpPr/>
              <p:nvPr/>
            </p:nvSpPr>
            <p:spPr bwMode="auto">
              <a:xfrm flipH="1">
                <a:off x="4552757" y="3359220"/>
                <a:ext cx="1028863" cy="949224"/>
              </a:xfrm>
              <a:prstGeom prst="bentUpArrow">
                <a:avLst>
                  <a:gd name="adj1" fmla="val 17604"/>
                  <a:gd name="adj2" fmla="val 26017"/>
                  <a:gd name="adj3" fmla="val 33446"/>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3" name="直角上箭头 62"/>
              <p:cNvSpPr/>
              <p:nvPr/>
            </p:nvSpPr>
            <p:spPr bwMode="auto">
              <a:xfrm flipV="1">
                <a:off x="3706033" y="1802855"/>
                <a:ext cx="1196826" cy="576064"/>
              </a:xfrm>
              <a:prstGeom prst="bentUpArrow">
                <a:avLst>
                  <a:gd name="adj1" fmla="val 25000"/>
                  <a:gd name="adj2" fmla="val 37144"/>
                  <a:gd name="adj3" fmla="val 42348"/>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4" name="直角上箭头 63"/>
              <p:cNvSpPr/>
              <p:nvPr/>
            </p:nvSpPr>
            <p:spPr bwMode="auto">
              <a:xfrm flipH="1" flipV="1">
                <a:off x="3239516" y="2838050"/>
                <a:ext cx="906865" cy="521169"/>
              </a:xfrm>
              <a:prstGeom prst="bentUpArrow">
                <a:avLst>
                  <a:gd name="adj1" fmla="val 28080"/>
                  <a:gd name="adj2" fmla="val 37144"/>
                  <a:gd name="adj3" fmla="val 42348"/>
                </a:avLst>
              </a:prstGeom>
              <a:solidFill>
                <a:srgbClr val="990099"/>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grpSp>
        <p:sp>
          <p:nvSpPr>
            <p:cNvPr id="20" name="矩形 19"/>
            <p:cNvSpPr/>
            <p:nvPr/>
          </p:nvSpPr>
          <p:spPr>
            <a:xfrm>
              <a:off x="4160240" y="2523927"/>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2000" dirty="0">
                <a:solidFill>
                  <a:srgbClr val="0000FF"/>
                </a:solidFill>
              </a:endParaRPr>
            </a:p>
          </p:txBody>
        </p:sp>
      </p:grpSp>
      <p:grpSp>
        <p:nvGrpSpPr>
          <p:cNvPr id="6" name="组合 5"/>
          <p:cNvGrpSpPr/>
          <p:nvPr/>
        </p:nvGrpSpPr>
        <p:grpSpPr>
          <a:xfrm>
            <a:off x="5682698" y="2571145"/>
            <a:ext cx="2722681" cy="443441"/>
            <a:chOff x="6638192" y="2560871"/>
            <a:chExt cx="2722681" cy="443441"/>
          </a:xfrm>
        </p:grpSpPr>
        <p:sp>
          <p:nvSpPr>
            <p:cNvPr id="73" name="下箭头 72"/>
            <p:cNvSpPr/>
            <p:nvPr/>
          </p:nvSpPr>
          <p:spPr bwMode="auto">
            <a:xfrm>
              <a:off x="6638192" y="2560871"/>
              <a:ext cx="253526" cy="443441"/>
            </a:xfrm>
            <a:prstGeom prst="downArrow">
              <a:avLst/>
            </a:prstGeom>
            <a:solidFill>
              <a:srgbClr val="00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Arial" charset="0"/>
              </a:endParaRPr>
            </a:p>
          </p:txBody>
        </p:sp>
        <p:sp>
          <p:nvSpPr>
            <p:cNvPr id="4" name="矩形 3"/>
            <p:cNvSpPr/>
            <p:nvPr/>
          </p:nvSpPr>
          <p:spPr>
            <a:xfrm>
              <a:off x="6814308" y="2574385"/>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1600" dirty="0"/>
            </a:p>
          </p:txBody>
        </p:sp>
        <p:sp>
          <p:nvSpPr>
            <p:cNvPr id="5" name="矩形 4"/>
            <p:cNvSpPr/>
            <p:nvPr/>
          </p:nvSpPr>
          <p:spPr>
            <a:xfrm>
              <a:off x="7057037" y="2617395"/>
              <a:ext cx="2303836" cy="307777"/>
            </a:xfrm>
            <a:prstGeom prst="rect">
              <a:avLst/>
            </a:prstGeom>
          </p:spPr>
          <p:txBody>
            <a:bodyPr wrap="none">
              <a:spAutoFit/>
            </a:bodyPr>
            <a:lstStyle/>
            <a:p>
              <a:r>
                <a:rPr lang="zh-CN" altLang="en-US" sz="1400" b="1" dirty="0">
                  <a:latin typeface="微软雅黑" pitchFamily="34" charset="-122"/>
                  <a:ea typeface="微软雅黑" pitchFamily="34" charset="-122"/>
                  <a:sym typeface="Wingdings 2" panose="05020102010507070707" pitchFamily="18" charset="2"/>
                </a:rPr>
                <a:t>距离</a:t>
              </a:r>
              <a:r>
                <a:rPr lang="en-US" altLang="zh-CN" sz="1400" b="1" dirty="0">
                  <a:latin typeface="微软雅黑" pitchFamily="34" charset="-122"/>
                  <a:ea typeface="微软雅黑" pitchFamily="34" charset="-122"/>
                  <a:sym typeface="Wingdings 2" panose="05020102010507070707" pitchFamily="18" charset="2"/>
                </a:rPr>
                <a:t>+1</a:t>
              </a:r>
              <a:r>
                <a:rPr lang="zh-CN" altLang="en-US" sz="1400" b="1" dirty="0">
                  <a:latin typeface="微软雅黑" pitchFamily="34" charset="-122"/>
                  <a:ea typeface="微软雅黑" pitchFamily="34" charset="-122"/>
                  <a:sym typeface="Wingdings 2" panose="05020102010507070707" pitchFamily="18" charset="2"/>
                </a:rPr>
                <a:t>，修改下一跳地址</a:t>
              </a:r>
              <a:endParaRPr lang="zh-CN" altLang="en-US" sz="1400" dirty="0"/>
            </a:p>
          </p:txBody>
        </p:sp>
      </p:grpSp>
    </p:spTree>
    <p:extLst>
      <p:ext uri="{BB962C8B-B14F-4D97-AF65-F5344CB8AC3E}">
        <p14:creationId xmlns:p14="http://schemas.microsoft.com/office/powerpoint/2010/main" val="3430182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1000"/>
                                        <p:tgtEl>
                                          <p:spTgt spid="6"/>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69"/>
                                        </p:tgtEl>
                                        <p:attrNameLst>
                                          <p:attrName>style.visibility</p:attrName>
                                        </p:attrNameLst>
                                      </p:cBhvr>
                                      <p:to>
                                        <p:strVal val="visible"/>
                                      </p:to>
                                    </p:set>
                                    <p:animEffect transition="in" filter="wipe(up)">
                                      <p:cBhvr>
                                        <p:cTn id="11" dur="1000"/>
                                        <p:tgtEl>
                                          <p:spTgt spid="69"/>
                                        </p:tgtEl>
                                      </p:cBhvr>
                                    </p:animEffect>
                                  </p:childTnLst>
                                </p:cTn>
                              </p:par>
                            </p:childTnLst>
                          </p:cTn>
                        </p:par>
                        <p:par>
                          <p:cTn id="12" fill="hold">
                            <p:stCondLst>
                              <p:cond delay="2000"/>
                            </p:stCondLst>
                            <p:childTnLst>
                              <p:par>
                                <p:cTn id="13" presetID="22" presetClass="entr" presetSubtype="1" fill="hold" nodeType="afterEffect">
                                  <p:stCondLst>
                                    <p:cond delay="0"/>
                                  </p:stCondLst>
                                  <p:childTnLst>
                                    <p:set>
                                      <p:cBhvr>
                                        <p:cTn id="14" dur="1" fill="hold">
                                          <p:stCondLst>
                                            <p:cond delay="0"/>
                                          </p:stCondLst>
                                        </p:cTn>
                                        <p:tgtEl>
                                          <p:spTgt spid="68"/>
                                        </p:tgtEl>
                                        <p:attrNameLst>
                                          <p:attrName>style.visibility</p:attrName>
                                        </p:attrNameLst>
                                      </p:cBhvr>
                                      <p:to>
                                        <p:strVal val="visible"/>
                                      </p:to>
                                    </p:set>
                                    <p:animEffect transition="in" filter="wipe(up)">
                                      <p:cBhvr>
                                        <p:cTn id="15" dur="1000"/>
                                        <p:tgtEl>
                                          <p:spTgt spid="68"/>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6" fill="hold" nodeType="click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barn(inHorizontal)">
                                      <p:cBhvr>
                                        <p:cTn id="20" dur="1000"/>
                                        <p:tgtEl>
                                          <p:spTgt spid="7"/>
                                        </p:tgtEl>
                                      </p:cBhvr>
                                    </p:animEffect>
                                  </p:childTnLst>
                                </p:cTn>
                              </p:par>
                            </p:childTnLst>
                          </p:cTn>
                        </p:par>
                        <p:par>
                          <p:cTn id="21" fill="hold">
                            <p:stCondLst>
                              <p:cond delay="1000"/>
                            </p:stCondLst>
                            <p:childTnLst>
                              <p:par>
                                <p:cTn id="22" presetID="22" presetClass="entr" presetSubtype="1" fill="hold" grpId="0" nodeType="afterEffect">
                                  <p:stCondLst>
                                    <p:cond delay="0"/>
                                  </p:stCondLst>
                                  <p:childTnLst>
                                    <p:set>
                                      <p:cBhvr>
                                        <p:cTn id="23" dur="1" fill="hold">
                                          <p:stCondLst>
                                            <p:cond delay="0"/>
                                          </p:stCondLst>
                                        </p:cTn>
                                        <p:tgtEl>
                                          <p:spTgt spid="71"/>
                                        </p:tgtEl>
                                        <p:attrNameLst>
                                          <p:attrName>style.visibility</p:attrName>
                                        </p:attrNameLst>
                                      </p:cBhvr>
                                      <p:to>
                                        <p:strVal val="visible"/>
                                      </p:to>
                                    </p:set>
                                    <p:animEffect transition="in" filter="wipe(up)">
                                      <p:cBhvr>
                                        <p:cTn id="24" dur="1000"/>
                                        <p:tgtEl>
                                          <p:spTgt spid="71"/>
                                        </p:tgtEl>
                                      </p:cBhvr>
                                    </p:animEffect>
                                  </p:childTnLst>
                                </p:cTn>
                              </p:par>
                            </p:childTnLst>
                          </p:cTn>
                        </p:par>
                        <p:par>
                          <p:cTn id="25" fill="hold">
                            <p:stCondLst>
                              <p:cond delay="2000"/>
                            </p:stCondLst>
                            <p:childTnLst>
                              <p:par>
                                <p:cTn id="26" presetID="22" presetClass="entr" presetSubtype="1" fill="hold" nodeType="afterEffect">
                                  <p:stCondLst>
                                    <p:cond delay="0"/>
                                  </p:stCondLst>
                                  <p:childTnLst>
                                    <p:set>
                                      <p:cBhvr>
                                        <p:cTn id="27" dur="1" fill="hold">
                                          <p:stCondLst>
                                            <p:cond delay="0"/>
                                          </p:stCondLst>
                                        </p:cTn>
                                        <p:tgtEl>
                                          <p:spTgt spid="70"/>
                                        </p:tgtEl>
                                        <p:attrNameLst>
                                          <p:attrName>style.visibility</p:attrName>
                                        </p:attrNameLst>
                                      </p:cBhvr>
                                      <p:to>
                                        <p:strVal val="visible"/>
                                      </p:to>
                                    </p:set>
                                    <p:animEffect transition="in" filter="wipe(up)">
                                      <p:cBhvr>
                                        <p:cTn id="28" dur="10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 grpId="0"/>
      <p:bldP spid="71" grpId="0"/>
    </p:bldLst>
  </p:timing>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7" name="Group 20"/>
          <p:cNvGrpSpPr>
            <a:grpSpLocks/>
          </p:cNvGrpSpPr>
          <p:nvPr/>
        </p:nvGrpSpPr>
        <p:grpSpPr bwMode="auto">
          <a:xfrm>
            <a:off x="977270" y="1172666"/>
            <a:ext cx="7032940" cy="2968515"/>
            <a:chOff x="-451" y="756"/>
            <a:chExt cx="6411" cy="2706"/>
          </a:xfrm>
        </p:grpSpPr>
        <p:sp>
          <p:nvSpPr>
            <p:cNvPr id="128" name="Rectangle 6"/>
            <p:cNvSpPr>
              <a:spLocks noChangeArrowheads="1"/>
            </p:cNvSpPr>
            <p:nvPr/>
          </p:nvSpPr>
          <p:spPr bwMode="auto">
            <a:xfrm>
              <a:off x="37" y="1008"/>
              <a:ext cx="1384"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8</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3</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5</a:t>
              </a:r>
            </a:p>
          </p:txBody>
        </p:sp>
        <p:sp>
          <p:nvSpPr>
            <p:cNvPr id="129" name="Rectangle 7"/>
            <p:cNvSpPr>
              <a:spLocks noChangeArrowheads="1"/>
            </p:cNvSpPr>
            <p:nvPr/>
          </p:nvSpPr>
          <p:spPr bwMode="auto">
            <a:xfrm>
              <a:off x="1924" y="1200"/>
              <a:ext cx="1211"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9</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6</a:t>
              </a:r>
            </a:p>
          </p:txBody>
        </p:sp>
        <p:sp>
          <p:nvSpPr>
            <p:cNvPr id="130" name="Rectangle 8"/>
            <p:cNvSpPr>
              <a:spLocks noChangeArrowheads="1"/>
            </p:cNvSpPr>
            <p:nvPr/>
          </p:nvSpPr>
          <p:spPr bwMode="auto">
            <a:xfrm>
              <a:off x="-451" y="2448"/>
              <a:ext cx="2044" cy="1008"/>
            </a:xfrm>
            <a:prstGeom prst="rect">
              <a:avLst/>
            </a:prstGeom>
            <a:solidFill>
              <a:srgbClr val="66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2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8	F</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4	F</a:t>
              </a:r>
            </a:p>
          </p:txBody>
        </p:sp>
        <p:sp>
          <p:nvSpPr>
            <p:cNvPr id="131" name="Text Box 9"/>
            <p:cNvSpPr txBox="1">
              <a:spLocks noChangeArrowheads="1"/>
            </p:cNvSpPr>
            <p:nvPr/>
          </p:nvSpPr>
          <p:spPr bwMode="auto">
            <a:xfrm>
              <a:off x="-8" y="756"/>
              <a:ext cx="1469"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2" name="Text Box 10"/>
            <p:cNvSpPr txBox="1">
              <a:spLocks noChangeArrowheads="1"/>
            </p:cNvSpPr>
            <p:nvPr/>
          </p:nvSpPr>
          <p:spPr bwMode="auto">
            <a:xfrm>
              <a:off x="1803" y="768"/>
              <a:ext cx="1469" cy="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增加跳数以后</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3" name="Text Box 11"/>
            <p:cNvSpPr txBox="1">
              <a:spLocks noChangeArrowheads="1"/>
            </p:cNvSpPr>
            <p:nvPr/>
          </p:nvSpPr>
          <p:spPr bwMode="auto">
            <a:xfrm>
              <a:off x="214" y="2208"/>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旧路由表</a:t>
              </a:r>
            </a:p>
          </p:txBody>
        </p:sp>
        <p:sp>
          <p:nvSpPr>
            <p:cNvPr id="134" name="Rectangle 12"/>
            <p:cNvSpPr>
              <a:spLocks noChangeArrowheads="1"/>
            </p:cNvSpPr>
            <p:nvPr/>
          </p:nvSpPr>
          <p:spPr bwMode="auto">
            <a:xfrm>
              <a:off x="1881" y="2544"/>
              <a:ext cx="1104" cy="384"/>
            </a:xfrm>
            <a:prstGeom prst="rect">
              <a:avLst/>
            </a:prstGeom>
            <a:solidFill>
              <a:schemeClr val="accent6">
                <a:lumMod val="60000"/>
                <a:lumOff val="40000"/>
              </a:schemeClr>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更新算法</a:t>
              </a:r>
            </a:p>
          </p:txBody>
        </p:sp>
        <p:sp>
          <p:nvSpPr>
            <p:cNvPr id="135" name="Rectangle 13"/>
            <p:cNvSpPr>
              <a:spLocks noChangeArrowheads="1"/>
            </p:cNvSpPr>
            <p:nvPr/>
          </p:nvSpPr>
          <p:spPr bwMode="auto">
            <a:xfrm>
              <a:off x="3321" y="2310"/>
              <a:ext cx="2016" cy="1152"/>
            </a:xfrm>
            <a:prstGeom prst="rect">
              <a:avLst/>
            </a:prstGeom>
            <a:solidFill>
              <a:srgbClr val="0000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Net2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Net3	9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Net6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Net9	4	F</a:t>
              </a:r>
            </a:p>
          </p:txBody>
        </p:sp>
        <p:sp>
          <p:nvSpPr>
            <p:cNvPr id="136" name="Text Box 14"/>
            <p:cNvSpPr txBox="1">
              <a:spLocks noChangeArrowheads="1"/>
            </p:cNvSpPr>
            <p:nvPr/>
          </p:nvSpPr>
          <p:spPr bwMode="auto">
            <a:xfrm>
              <a:off x="4011" y="2076"/>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solidFill>
                    <a:srgbClr val="0000CC"/>
                  </a:solidFill>
                  <a:effectLst/>
                  <a:uLnTx/>
                  <a:uFillTx/>
                  <a:latin typeface="微软雅黑" pitchFamily="34" charset="-122"/>
                  <a:ea typeface="微软雅黑" pitchFamily="34" charset="-122"/>
                </a:rPr>
                <a:t>新路由表</a:t>
              </a:r>
            </a:p>
          </p:txBody>
        </p:sp>
        <p:sp>
          <p:nvSpPr>
            <p:cNvPr id="137" name="AutoShape 15"/>
            <p:cNvSpPr>
              <a:spLocks noChangeArrowheads="1"/>
            </p:cNvSpPr>
            <p:nvPr/>
          </p:nvSpPr>
          <p:spPr bwMode="auto">
            <a:xfrm>
              <a:off x="164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AutoShape 16"/>
            <p:cNvSpPr>
              <a:spLocks noChangeArrowheads="1"/>
            </p:cNvSpPr>
            <p:nvPr/>
          </p:nvSpPr>
          <p:spPr bwMode="auto">
            <a:xfrm>
              <a:off x="308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AutoShape 17"/>
            <p:cNvSpPr>
              <a:spLocks noChangeArrowheads="1"/>
            </p:cNvSpPr>
            <p:nvPr/>
          </p:nvSpPr>
          <p:spPr bwMode="auto">
            <a:xfrm>
              <a:off x="2361" y="2304"/>
              <a:ext cx="144" cy="192"/>
            </a:xfrm>
            <a:prstGeom prst="down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AutoShape 18"/>
            <p:cNvSpPr>
              <a:spLocks noChangeArrowheads="1"/>
            </p:cNvSpPr>
            <p:nvPr/>
          </p:nvSpPr>
          <p:spPr bwMode="auto">
            <a:xfrm>
              <a:off x="1497" y="1584"/>
              <a:ext cx="384" cy="144"/>
            </a:xfrm>
            <a:prstGeom prst="rightArrow">
              <a:avLst>
                <a:gd name="adj1" fmla="val 50000"/>
                <a:gd name="adj2" fmla="val 66667"/>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Rectangle 19"/>
            <p:cNvSpPr>
              <a:spLocks noChangeArrowheads="1"/>
            </p:cNvSpPr>
            <p:nvPr/>
          </p:nvSpPr>
          <p:spPr bwMode="auto">
            <a:xfrm>
              <a:off x="3330" y="786"/>
              <a:ext cx="2630" cy="123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没有新信息，不变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相同的下一跳，替换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一条新路由，增加</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不同的下一跳，新跳数小，替换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不同的下一跳，跳数相同，不变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不同的下一跳，新跳数大，不变</a:t>
              </a:r>
            </a:p>
          </p:txBody>
        </p:sp>
      </p:grpSp>
      <p:sp>
        <p:nvSpPr>
          <p:cNvPr id="20" name="Text Box 155"/>
          <p:cNvSpPr txBox="1">
            <a:spLocks noChangeArrowheads="1"/>
          </p:cNvSpPr>
          <p:nvPr/>
        </p:nvSpPr>
        <p:spPr bwMode="auto">
          <a:xfrm>
            <a:off x="1081454" y="723313"/>
            <a:ext cx="6980782" cy="344325"/>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路由表更新。</a:t>
            </a:r>
          </a:p>
        </p:txBody>
      </p:sp>
    </p:spTree>
    <p:extLst>
      <p:ext uri="{BB962C8B-B14F-4D97-AF65-F5344CB8AC3E}">
        <p14:creationId xmlns:p14="http://schemas.microsoft.com/office/powerpoint/2010/main" val="3464374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4"/>
          <p:cNvSpPr>
            <a:spLocks noChangeArrowheads="1"/>
          </p:cNvSpPr>
          <p:nvPr/>
        </p:nvSpPr>
        <p:spPr bwMode="auto">
          <a:xfrm rot="5400000">
            <a:off x="1301693" y="3407501"/>
            <a:ext cx="144795" cy="301338"/>
          </a:xfrm>
          <a:prstGeom prst="downArrow">
            <a:avLst>
              <a:gd name="adj1" fmla="val 50000"/>
              <a:gd name="adj2" fmla="val 48026"/>
            </a:avLst>
          </a:prstGeom>
          <a:solidFill>
            <a:srgbClr val="FFFF00"/>
          </a:solidFill>
          <a:ln w="9525">
            <a:solidFill>
              <a:srgbClr val="000099"/>
            </a:solidFill>
            <a:miter lim="800000"/>
            <a:headEnd/>
            <a:tailEnd/>
          </a:ln>
          <a:effectLst/>
        </p:spPr>
        <p:txBody>
          <a:bodyPr vert="eaVert" wrap="none" anchor="ctr"/>
          <a:lstStyle/>
          <a:p>
            <a:endParaRPr lang="zh-CN" altLang="en-US" sz="1200" b="1">
              <a:latin typeface="微软雅黑" pitchFamily="34" charset="-122"/>
              <a:ea typeface="微软雅黑" pitchFamily="34" charset="-122"/>
            </a:endParaRPr>
          </a:p>
        </p:txBody>
      </p:sp>
      <p:sp>
        <p:nvSpPr>
          <p:cNvPr id="9" name="Line 2"/>
          <p:cNvSpPr>
            <a:spLocks noChangeShapeType="1"/>
          </p:cNvSpPr>
          <p:nvPr/>
        </p:nvSpPr>
        <p:spPr bwMode="auto">
          <a:xfrm>
            <a:off x="3615552" y="1282988"/>
            <a:ext cx="235910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Text Box 3"/>
          <p:cNvSpPr txBox="1">
            <a:spLocks noChangeArrowheads="1"/>
          </p:cNvSpPr>
          <p:nvPr/>
        </p:nvSpPr>
        <p:spPr bwMode="auto">
          <a:xfrm>
            <a:off x="4562910" y="115405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11" name="Rectangle 4"/>
          <p:cNvSpPr>
            <a:spLocks noChangeArrowheads="1"/>
          </p:cNvSpPr>
          <p:nvPr/>
        </p:nvSpPr>
        <p:spPr bwMode="auto">
          <a:xfrm>
            <a:off x="1512376" y="3367650"/>
            <a:ext cx="3756408" cy="388660"/>
          </a:xfrm>
          <a:prstGeom prst="rect">
            <a:avLst/>
          </a:prstGeom>
          <a:solidFill>
            <a:srgbClr val="FF66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 name="Line 5"/>
          <p:cNvSpPr>
            <a:spLocks noChangeShapeType="1"/>
          </p:cNvSpPr>
          <p:nvPr/>
        </p:nvSpPr>
        <p:spPr bwMode="auto">
          <a:xfrm flipV="1">
            <a:off x="2788939" y="3227402"/>
            <a:ext cx="247571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Text Box 6"/>
          <p:cNvSpPr txBox="1">
            <a:spLocks noChangeArrowheads="1"/>
          </p:cNvSpPr>
          <p:nvPr/>
        </p:nvSpPr>
        <p:spPr bwMode="auto">
          <a:xfrm>
            <a:off x="3619680" y="3105988"/>
            <a:ext cx="747320"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RIP </a:t>
            </a:r>
            <a:r>
              <a:rPr kumimoji="1" lang="zh-CN" altLang="en-US" sz="1050" b="1" dirty="0">
                <a:solidFill>
                  <a:srgbClr val="0000FF"/>
                </a:solidFill>
                <a:latin typeface="微软雅黑" pitchFamily="34" charset="-122"/>
                <a:ea typeface="微软雅黑" pitchFamily="34" charset="-122"/>
              </a:rPr>
              <a:t>报文</a:t>
            </a:r>
          </a:p>
        </p:txBody>
      </p:sp>
      <p:sp>
        <p:nvSpPr>
          <p:cNvPr id="14" name="Freeform 8"/>
          <p:cNvSpPr>
            <a:spLocks/>
          </p:cNvSpPr>
          <p:nvPr/>
        </p:nvSpPr>
        <p:spPr bwMode="auto">
          <a:xfrm>
            <a:off x="3243006" y="2601226"/>
            <a:ext cx="2786623" cy="125958"/>
          </a:xfrm>
          <a:custGeom>
            <a:avLst/>
            <a:gdLst>
              <a:gd name="T0" fmla="*/ 306 w 2328"/>
              <a:gd name="T1" fmla="*/ 6 h 204"/>
              <a:gd name="T2" fmla="*/ 2328 w 2328"/>
              <a:gd name="T3" fmla="*/ 0 h 204"/>
              <a:gd name="T4" fmla="*/ 1716 w 2328"/>
              <a:gd name="T5" fmla="*/ 204 h 204"/>
              <a:gd name="T6" fmla="*/ 0 w 2328"/>
              <a:gd name="T7" fmla="*/ 204 h 204"/>
              <a:gd name="T8" fmla="*/ 306 w 2328"/>
              <a:gd name="T9" fmla="*/ 6 h 204"/>
            </a:gdLst>
            <a:ahLst/>
            <a:cxnLst>
              <a:cxn ang="0">
                <a:pos x="T0" y="T1"/>
              </a:cxn>
              <a:cxn ang="0">
                <a:pos x="T2" y="T3"/>
              </a:cxn>
              <a:cxn ang="0">
                <a:pos x="T4" y="T5"/>
              </a:cxn>
              <a:cxn ang="0">
                <a:pos x="T6" y="T7"/>
              </a:cxn>
              <a:cxn ang="0">
                <a:pos x="T8" y="T9"/>
              </a:cxn>
            </a:cxnLst>
            <a:rect l="0" t="0" r="r" b="b"/>
            <a:pathLst>
              <a:path w="2328" h="204">
                <a:moveTo>
                  <a:pt x="306" y="6"/>
                </a:moveTo>
                <a:lnTo>
                  <a:pt x="2328" y="0"/>
                </a:lnTo>
                <a:lnTo>
                  <a:pt x="1716" y="204"/>
                </a:lnTo>
                <a:lnTo>
                  <a:pt x="0" y="204"/>
                </a:lnTo>
                <a:lnTo>
                  <a:pt x="306" y="6"/>
                </a:lnTo>
                <a:close/>
              </a:path>
            </a:pathLst>
          </a:custGeom>
          <a:gradFill>
            <a:gsLst>
              <a:gs pos="0">
                <a:srgbClr val="3399FF"/>
              </a:gs>
              <a:gs pos="100000">
                <a:srgbClr val="00FF99"/>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15" name="Rectangle 9"/>
          <p:cNvSpPr>
            <a:spLocks noChangeArrowheads="1"/>
          </p:cNvSpPr>
          <p:nvPr/>
        </p:nvSpPr>
        <p:spPr bwMode="auto">
          <a:xfrm>
            <a:off x="3609360" y="1384759"/>
            <a:ext cx="2385938" cy="1216467"/>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Line 10"/>
          <p:cNvSpPr>
            <a:spLocks noChangeShapeType="1"/>
          </p:cNvSpPr>
          <p:nvPr/>
        </p:nvSpPr>
        <p:spPr bwMode="auto">
          <a:xfrm>
            <a:off x="2285328" y="3900760"/>
            <a:ext cx="2975200"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1"/>
          <p:cNvSpPr txBox="1">
            <a:spLocks noChangeArrowheads="1"/>
          </p:cNvSpPr>
          <p:nvPr/>
        </p:nvSpPr>
        <p:spPr bwMode="auto">
          <a:xfrm>
            <a:off x="5974659" y="3012113"/>
            <a:ext cx="1673904" cy="830997"/>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路由信息</a:t>
            </a:r>
          </a:p>
          <a:p>
            <a:pPr algn="ctr"/>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20 </a:t>
            </a:r>
            <a:r>
              <a:rPr kumimoji="1" lang="zh-CN" altLang="en-US" sz="1200" b="1" dirty="0">
                <a:latin typeface="微软雅黑" pitchFamily="34" charset="-122"/>
                <a:ea typeface="微软雅黑" pitchFamily="34" charset="-122"/>
              </a:rPr>
              <a:t>字节</a:t>
            </a:r>
            <a:r>
              <a:rPr kumimoji="1" lang="en-US" altLang="zh-CN" sz="1200" b="1" dirty="0">
                <a:latin typeface="微软雅黑" pitchFamily="34" charset="-122"/>
                <a:ea typeface="微软雅黑" pitchFamily="34" charset="-122"/>
              </a:rPr>
              <a:t>/</a:t>
            </a:r>
            <a:r>
              <a:rPr kumimoji="1" lang="zh-CN" altLang="en-US" sz="1200" b="1" dirty="0">
                <a:latin typeface="微软雅黑" pitchFamily="34" charset="-122"/>
                <a:ea typeface="微软雅黑" pitchFamily="34" charset="-122"/>
              </a:rPr>
              <a:t>路由）</a:t>
            </a:r>
          </a:p>
          <a:p>
            <a:pPr algn="ctr"/>
            <a:r>
              <a:rPr kumimoji="1" lang="zh-CN" altLang="en-US" sz="1200" b="1" dirty="0">
                <a:latin typeface="微软雅黑" pitchFamily="34" charset="-122"/>
                <a:ea typeface="微软雅黑" pitchFamily="34" charset="-122"/>
              </a:rPr>
              <a:t>可重复出现</a:t>
            </a:r>
          </a:p>
          <a:p>
            <a:pPr algn="ctr"/>
            <a:r>
              <a:rPr kumimoji="1" lang="zh-CN" altLang="en-US" sz="1200" b="1" dirty="0">
                <a:latin typeface="微软雅黑" pitchFamily="34" charset="-122"/>
                <a:ea typeface="微软雅黑" pitchFamily="34" charset="-122"/>
              </a:rPr>
              <a:t>最多 </a:t>
            </a:r>
            <a:r>
              <a:rPr kumimoji="1" lang="en-US" altLang="zh-CN" sz="1200" b="1" dirty="0">
                <a:latin typeface="微软雅黑" pitchFamily="34" charset="-122"/>
                <a:ea typeface="微软雅黑" pitchFamily="34" charset="-122"/>
              </a:rPr>
              <a:t>25 </a:t>
            </a:r>
            <a:r>
              <a:rPr kumimoji="1" lang="zh-CN" altLang="en-US" sz="1200" b="1" dirty="0">
                <a:latin typeface="微软雅黑" pitchFamily="34" charset="-122"/>
                <a:ea typeface="微软雅黑" pitchFamily="34" charset="-122"/>
              </a:rPr>
              <a:t>个</a:t>
            </a:r>
          </a:p>
        </p:txBody>
      </p:sp>
      <p:sp>
        <p:nvSpPr>
          <p:cNvPr id="18" name="Rectangle 12"/>
          <p:cNvSpPr>
            <a:spLocks noChangeArrowheads="1"/>
          </p:cNvSpPr>
          <p:nvPr/>
        </p:nvSpPr>
        <p:spPr bwMode="auto">
          <a:xfrm>
            <a:off x="2764168" y="2743379"/>
            <a:ext cx="2496361" cy="372466"/>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Freeform 13"/>
          <p:cNvSpPr>
            <a:spLocks/>
          </p:cNvSpPr>
          <p:nvPr/>
        </p:nvSpPr>
        <p:spPr bwMode="auto">
          <a:xfrm>
            <a:off x="984002" y="2157317"/>
            <a:ext cx="2343627" cy="586062"/>
          </a:xfrm>
          <a:custGeom>
            <a:avLst/>
            <a:gdLst>
              <a:gd name="T0" fmla="*/ 0 w 1992"/>
              <a:gd name="T1" fmla="*/ 12 h 612"/>
              <a:gd name="T2" fmla="*/ 1992 w 1992"/>
              <a:gd name="T3" fmla="*/ 0 h 612"/>
              <a:gd name="T4" fmla="*/ 1890 w 1992"/>
              <a:gd name="T5" fmla="*/ 606 h 612"/>
              <a:gd name="T6" fmla="*/ 1506 w 1992"/>
              <a:gd name="T7" fmla="*/ 612 h 612"/>
              <a:gd name="T8" fmla="*/ 0 w 1992"/>
              <a:gd name="T9" fmla="*/ 12 h 612"/>
            </a:gdLst>
            <a:ahLst/>
            <a:cxnLst>
              <a:cxn ang="0">
                <a:pos x="T0" y="T1"/>
              </a:cxn>
              <a:cxn ang="0">
                <a:pos x="T2" y="T3"/>
              </a:cxn>
              <a:cxn ang="0">
                <a:pos x="T4" y="T5"/>
              </a:cxn>
              <a:cxn ang="0">
                <a:pos x="T6" y="T7"/>
              </a:cxn>
              <a:cxn ang="0">
                <a:pos x="T8" y="T9"/>
              </a:cxn>
            </a:cxnLst>
            <a:rect l="0" t="0" r="r" b="b"/>
            <a:pathLst>
              <a:path w="1992" h="612">
                <a:moveTo>
                  <a:pt x="0" y="12"/>
                </a:moveTo>
                <a:lnTo>
                  <a:pt x="1992" y="0"/>
                </a:lnTo>
                <a:lnTo>
                  <a:pt x="1890" y="606"/>
                </a:lnTo>
                <a:lnTo>
                  <a:pt x="1506" y="612"/>
                </a:lnTo>
                <a:lnTo>
                  <a:pt x="0" y="12"/>
                </a:lnTo>
                <a:close/>
              </a:path>
            </a:pathLst>
          </a:custGeom>
          <a:gradFill>
            <a:gsLst>
              <a:gs pos="0">
                <a:srgbClr val="0000FF"/>
              </a:gs>
              <a:gs pos="100000">
                <a:srgbClr val="00FFFF"/>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20" name="Rectangle 14"/>
          <p:cNvSpPr>
            <a:spLocks noChangeArrowheads="1"/>
          </p:cNvSpPr>
          <p:nvPr/>
        </p:nvSpPr>
        <p:spPr bwMode="auto">
          <a:xfrm>
            <a:off x="2764168" y="2735758"/>
            <a:ext cx="2504616" cy="387707"/>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 name="Line 15"/>
          <p:cNvSpPr>
            <a:spLocks noChangeShapeType="1"/>
          </p:cNvSpPr>
          <p:nvPr/>
        </p:nvSpPr>
        <p:spPr bwMode="auto">
          <a:xfrm>
            <a:off x="1512375"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 name="Rectangle 16"/>
          <p:cNvSpPr>
            <a:spLocks noChangeArrowheads="1"/>
          </p:cNvSpPr>
          <p:nvPr/>
        </p:nvSpPr>
        <p:spPr bwMode="auto">
          <a:xfrm>
            <a:off x="3390581" y="3849403"/>
            <a:ext cx="930846" cy="16765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3" name="Line 17"/>
          <p:cNvSpPr>
            <a:spLocks noChangeShapeType="1"/>
          </p:cNvSpPr>
          <p:nvPr/>
        </p:nvSpPr>
        <p:spPr bwMode="auto">
          <a:xfrm>
            <a:off x="1512376" y="4110059"/>
            <a:ext cx="3756408"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4" name="Text Box 18"/>
          <p:cNvSpPr txBox="1">
            <a:spLocks noChangeArrowheads="1"/>
          </p:cNvSpPr>
          <p:nvPr/>
        </p:nvSpPr>
        <p:spPr bwMode="auto">
          <a:xfrm>
            <a:off x="2400056" y="3986696"/>
            <a:ext cx="790601"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IP </a:t>
            </a:r>
            <a:r>
              <a:rPr kumimoji="1" lang="zh-CN" altLang="en-US" sz="1050" b="1" dirty="0">
                <a:solidFill>
                  <a:srgbClr val="0000FF"/>
                </a:solidFill>
                <a:latin typeface="微软雅黑" pitchFamily="34" charset="-122"/>
                <a:ea typeface="微软雅黑" pitchFamily="34" charset="-122"/>
              </a:rPr>
              <a:t>数据报</a:t>
            </a:r>
          </a:p>
        </p:txBody>
      </p:sp>
      <p:sp>
        <p:nvSpPr>
          <p:cNvPr id="25" name="Line 19"/>
          <p:cNvSpPr>
            <a:spLocks noChangeShapeType="1"/>
          </p:cNvSpPr>
          <p:nvPr/>
        </p:nvSpPr>
        <p:spPr bwMode="auto">
          <a:xfrm>
            <a:off x="3616583" y="1618146"/>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0"/>
          <p:cNvSpPr>
            <a:spLocks noChangeShapeType="1"/>
          </p:cNvSpPr>
          <p:nvPr/>
        </p:nvSpPr>
        <p:spPr bwMode="auto">
          <a:xfrm>
            <a:off x="3616583" y="187248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Line 21"/>
          <p:cNvSpPr>
            <a:spLocks noChangeShapeType="1"/>
          </p:cNvSpPr>
          <p:nvPr/>
        </p:nvSpPr>
        <p:spPr bwMode="auto">
          <a:xfrm>
            <a:off x="3616583" y="211444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8" name="Line 22"/>
          <p:cNvSpPr>
            <a:spLocks noChangeShapeType="1"/>
          </p:cNvSpPr>
          <p:nvPr/>
        </p:nvSpPr>
        <p:spPr bwMode="auto">
          <a:xfrm>
            <a:off x="3616583" y="2344977"/>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3"/>
          <p:cNvSpPr>
            <a:spLocks noChangeShapeType="1"/>
          </p:cNvSpPr>
          <p:nvPr/>
        </p:nvSpPr>
        <p:spPr bwMode="auto">
          <a:xfrm rot="5400000" flipH="1">
            <a:off x="4690954" y="1510979"/>
            <a:ext cx="23719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Text Box 24"/>
          <p:cNvSpPr txBox="1">
            <a:spLocks noChangeArrowheads="1"/>
          </p:cNvSpPr>
          <p:nvPr/>
        </p:nvSpPr>
        <p:spPr bwMode="auto">
          <a:xfrm>
            <a:off x="5086123" y="134665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路由标记</a:t>
            </a:r>
          </a:p>
        </p:txBody>
      </p:sp>
      <p:sp>
        <p:nvSpPr>
          <p:cNvPr id="31" name="Text Box 25"/>
          <p:cNvSpPr txBox="1">
            <a:spLocks noChangeArrowheads="1"/>
          </p:cNvSpPr>
          <p:nvPr/>
        </p:nvSpPr>
        <p:spPr bwMode="auto">
          <a:xfrm>
            <a:off x="4442167" y="159909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网络地址</a:t>
            </a:r>
          </a:p>
        </p:txBody>
      </p:sp>
      <p:sp>
        <p:nvSpPr>
          <p:cNvPr id="32" name="Text Box 26"/>
          <p:cNvSpPr txBox="1">
            <a:spLocks noChangeArrowheads="1"/>
          </p:cNvSpPr>
          <p:nvPr/>
        </p:nvSpPr>
        <p:spPr bwMode="auto">
          <a:xfrm>
            <a:off x="3730101" y="1358087"/>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地址族标识符</a:t>
            </a:r>
          </a:p>
        </p:txBody>
      </p:sp>
      <p:sp>
        <p:nvSpPr>
          <p:cNvPr id="33" name="Text Box 27"/>
          <p:cNvSpPr txBox="1">
            <a:spLocks noChangeArrowheads="1"/>
          </p:cNvSpPr>
          <p:nvPr/>
        </p:nvSpPr>
        <p:spPr bwMode="auto">
          <a:xfrm>
            <a:off x="4407081" y="2346883"/>
            <a:ext cx="100860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距离 </a:t>
            </a:r>
            <a:r>
              <a:rPr kumimoji="1" lang="en-US" altLang="zh-CN" sz="1200" b="1">
                <a:latin typeface="微软雅黑" pitchFamily="34" charset="-122"/>
                <a:ea typeface="微软雅黑" pitchFamily="34" charset="-122"/>
              </a:rPr>
              <a:t>(1-16)</a:t>
            </a:r>
          </a:p>
        </p:txBody>
      </p:sp>
      <p:sp>
        <p:nvSpPr>
          <p:cNvPr id="34" name="Rectangle 28"/>
          <p:cNvSpPr>
            <a:spLocks noChangeArrowheads="1"/>
          </p:cNvSpPr>
          <p:nvPr/>
        </p:nvSpPr>
        <p:spPr bwMode="auto">
          <a:xfrm>
            <a:off x="2764168" y="3375271"/>
            <a:ext cx="2496361" cy="37341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29"/>
          <p:cNvSpPr>
            <a:spLocks noChangeShapeType="1"/>
          </p:cNvSpPr>
          <p:nvPr/>
        </p:nvSpPr>
        <p:spPr bwMode="auto">
          <a:xfrm>
            <a:off x="2294617" y="3367650"/>
            <a:ext cx="0" cy="3886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Text Box 30"/>
          <p:cNvSpPr txBox="1">
            <a:spLocks noChangeArrowheads="1"/>
          </p:cNvSpPr>
          <p:nvPr/>
        </p:nvSpPr>
        <p:spPr bwMode="auto">
          <a:xfrm>
            <a:off x="1675429" y="3369847"/>
            <a:ext cx="492443"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  IP </a:t>
            </a:r>
          </a:p>
          <a:p>
            <a:pPr>
              <a:lnSpc>
                <a:spcPct val="90000"/>
              </a:lnSpc>
            </a:pPr>
            <a:r>
              <a:rPr kumimoji="1" lang="zh-CN" altLang="en-US" sz="1200" b="1" dirty="0">
                <a:latin typeface="微软雅黑" pitchFamily="34" charset="-122"/>
                <a:ea typeface="微软雅黑" pitchFamily="34" charset="-122"/>
              </a:rPr>
              <a:t>首部</a:t>
            </a:r>
          </a:p>
        </p:txBody>
      </p:sp>
      <p:sp>
        <p:nvSpPr>
          <p:cNvPr id="37" name="AutoShape 32"/>
          <p:cNvSpPr>
            <a:spLocks noChangeArrowheads="1"/>
          </p:cNvSpPr>
          <p:nvPr/>
        </p:nvSpPr>
        <p:spPr bwMode="auto">
          <a:xfrm>
            <a:off x="3883984" y="3310367"/>
            <a:ext cx="125648" cy="237949"/>
          </a:xfrm>
          <a:prstGeom prst="downArrow">
            <a:avLst>
              <a:gd name="adj1" fmla="val 50000"/>
              <a:gd name="adj2" fmla="val 48026"/>
            </a:avLst>
          </a:prstGeom>
          <a:solidFill>
            <a:srgbClr val="FFFF00"/>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38" name="Text Box 33"/>
          <p:cNvSpPr txBox="1">
            <a:spLocks noChangeArrowheads="1"/>
          </p:cNvSpPr>
          <p:nvPr/>
        </p:nvSpPr>
        <p:spPr bwMode="auto">
          <a:xfrm>
            <a:off x="2281998" y="3369847"/>
            <a:ext cx="574196"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UDP </a:t>
            </a:r>
          </a:p>
          <a:p>
            <a:pPr>
              <a:lnSpc>
                <a:spcPct val="90000"/>
              </a:lnSpc>
            </a:pPr>
            <a:r>
              <a:rPr kumimoji="1" lang="zh-CN" altLang="en-US" sz="1200" b="1" dirty="0">
                <a:latin typeface="微软雅黑" pitchFamily="34" charset="-122"/>
                <a:ea typeface="微软雅黑" pitchFamily="34" charset="-122"/>
              </a:rPr>
              <a:t>首部</a:t>
            </a:r>
          </a:p>
        </p:txBody>
      </p:sp>
      <p:sp>
        <p:nvSpPr>
          <p:cNvPr id="39" name="Line 34"/>
          <p:cNvSpPr>
            <a:spLocks noChangeShapeType="1"/>
          </p:cNvSpPr>
          <p:nvPr/>
        </p:nvSpPr>
        <p:spPr bwMode="auto">
          <a:xfrm>
            <a:off x="2764168" y="3375271"/>
            <a:ext cx="0" cy="38770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0" name="AutoShape 35"/>
          <p:cNvSpPr>
            <a:spLocks/>
          </p:cNvSpPr>
          <p:nvPr/>
        </p:nvSpPr>
        <p:spPr bwMode="auto">
          <a:xfrm>
            <a:off x="6029629" y="1395239"/>
            <a:ext cx="159957" cy="1185983"/>
          </a:xfrm>
          <a:prstGeom prst="rightBrace">
            <a:avLst>
              <a:gd name="adj1" fmla="val 66936"/>
              <a:gd name="adj2" fmla="val 50000"/>
            </a:avLst>
          </a:prstGeom>
          <a:noFill/>
          <a:ln w="19050">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1" name="Line 36"/>
          <p:cNvSpPr>
            <a:spLocks noChangeShapeType="1"/>
          </p:cNvSpPr>
          <p:nvPr/>
        </p:nvSpPr>
        <p:spPr bwMode="auto">
          <a:xfrm>
            <a:off x="3205855" y="2733853"/>
            <a:ext cx="0" cy="38770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2" name="Line 37"/>
          <p:cNvSpPr>
            <a:spLocks noChangeShapeType="1"/>
          </p:cNvSpPr>
          <p:nvPr/>
        </p:nvSpPr>
        <p:spPr bwMode="auto">
          <a:xfrm>
            <a:off x="2764168" y="3115874"/>
            <a:ext cx="0" cy="193378"/>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3" name="Line 38"/>
          <p:cNvSpPr>
            <a:spLocks noChangeShapeType="1"/>
          </p:cNvSpPr>
          <p:nvPr/>
        </p:nvSpPr>
        <p:spPr bwMode="auto">
          <a:xfrm>
            <a:off x="5269853" y="3097775"/>
            <a:ext cx="0" cy="193377"/>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Text Box 40"/>
          <p:cNvSpPr txBox="1">
            <a:spLocks noChangeArrowheads="1"/>
          </p:cNvSpPr>
          <p:nvPr/>
        </p:nvSpPr>
        <p:spPr bwMode="auto">
          <a:xfrm>
            <a:off x="3766221" y="2779691"/>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路由部分</a:t>
            </a:r>
          </a:p>
        </p:txBody>
      </p:sp>
      <p:sp>
        <p:nvSpPr>
          <p:cNvPr id="45" name="Line 47"/>
          <p:cNvSpPr>
            <a:spLocks noChangeShapeType="1"/>
          </p:cNvSpPr>
          <p:nvPr/>
        </p:nvSpPr>
        <p:spPr bwMode="auto">
          <a:xfrm>
            <a:off x="990194" y="1801498"/>
            <a:ext cx="2358074"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6" name="Text Box 48"/>
          <p:cNvSpPr txBox="1">
            <a:spLocks noChangeArrowheads="1"/>
          </p:cNvSpPr>
          <p:nvPr/>
        </p:nvSpPr>
        <p:spPr bwMode="auto">
          <a:xfrm>
            <a:off x="1936519" y="167256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47" name="Text Box 49"/>
          <p:cNvSpPr txBox="1">
            <a:spLocks noChangeArrowheads="1"/>
          </p:cNvSpPr>
          <p:nvPr/>
        </p:nvSpPr>
        <p:spPr bwMode="auto">
          <a:xfrm>
            <a:off x="4442167" y="1858201"/>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子网掩码</a:t>
            </a:r>
          </a:p>
        </p:txBody>
      </p:sp>
      <p:sp>
        <p:nvSpPr>
          <p:cNvPr id="48" name="Text Box 50"/>
          <p:cNvSpPr txBox="1">
            <a:spLocks noChangeArrowheads="1"/>
          </p:cNvSpPr>
          <p:nvPr/>
        </p:nvSpPr>
        <p:spPr bwMode="auto">
          <a:xfrm>
            <a:off x="4186237" y="2087777"/>
            <a:ext cx="14157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下一跳路由器地址</a:t>
            </a:r>
          </a:p>
        </p:txBody>
      </p:sp>
      <p:sp>
        <p:nvSpPr>
          <p:cNvPr id="49" name="Text Box 51"/>
          <p:cNvSpPr txBox="1">
            <a:spLocks noChangeArrowheads="1"/>
          </p:cNvSpPr>
          <p:nvPr/>
        </p:nvSpPr>
        <p:spPr bwMode="auto">
          <a:xfrm>
            <a:off x="3225464" y="3789122"/>
            <a:ext cx="1196161" cy="253916"/>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UDP </a:t>
            </a:r>
            <a:r>
              <a:rPr kumimoji="1" lang="zh-CN" altLang="en-US" sz="1050" b="1" dirty="0">
                <a:solidFill>
                  <a:srgbClr val="0000FF"/>
                </a:solidFill>
                <a:latin typeface="微软雅黑" pitchFamily="34" charset="-122"/>
                <a:ea typeface="微软雅黑" pitchFamily="34" charset="-122"/>
              </a:rPr>
              <a:t>用户数据报</a:t>
            </a:r>
          </a:p>
        </p:txBody>
      </p:sp>
      <p:sp>
        <p:nvSpPr>
          <p:cNvPr id="50" name="Line 52"/>
          <p:cNvSpPr>
            <a:spLocks noChangeShapeType="1"/>
          </p:cNvSpPr>
          <p:nvPr/>
        </p:nvSpPr>
        <p:spPr bwMode="auto">
          <a:xfrm>
            <a:off x="2296681" y="3733187"/>
            <a:ext cx="0" cy="200045"/>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2" name="矩形 51"/>
          <p:cNvSpPr/>
          <p:nvPr/>
        </p:nvSpPr>
        <p:spPr bwMode="auto">
          <a:xfrm>
            <a:off x="2764168" y="2743379"/>
            <a:ext cx="441687" cy="370561"/>
          </a:xfrm>
          <a:prstGeom prst="rect">
            <a:avLst/>
          </a:prstGeom>
          <a:solidFill>
            <a:srgbClr val="0000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微软雅黑" pitchFamily="34" charset="-122"/>
              <a:ea typeface="微软雅黑" pitchFamily="34" charset="-122"/>
            </a:endParaRPr>
          </a:p>
        </p:txBody>
      </p:sp>
      <p:sp>
        <p:nvSpPr>
          <p:cNvPr id="53" name="Text Box 39"/>
          <p:cNvSpPr txBox="1">
            <a:spLocks noChangeArrowheads="1"/>
          </p:cNvSpPr>
          <p:nvPr/>
        </p:nvSpPr>
        <p:spPr bwMode="auto">
          <a:xfrm>
            <a:off x="2749184" y="2799710"/>
            <a:ext cx="49244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首部</a:t>
            </a:r>
          </a:p>
        </p:txBody>
      </p:sp>
      <p:sp>
        <p:nvSpPr>
          <p:cNvPr id="54" name="Line 15"/>
          <p:cNvSpPr>
            <a:spLocks noChangeShapeType="1"/>
          </p:cNvSpPr>
          <p:nvPr/>
        </p:nvSpPr>
        <p:spPr bwMode="auto">
          <a:xfrm>
            <a:off x="5269853"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5" name="Rectangle 41"/>
          <p:cNvSpPr>
            <a:spLocks noChangeArrowheads="1"/>
          </p:cNvSpPr>
          <p:nvPr/>
        </p:nvSpPr>
        <p:spPr bwMode="auto">
          <a:xfrm>
            <a:off x="976778" y="1916309"/>
            <a:ext cx="2359107" cy="241007"/>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6" name="Line 42"/>
          <p:cNvSpPr>
            <a:spLocks noChangeShapeType="1"/>
          </p:cNvSpPr>
          <p:nvPr/>
        </p:nvSpPr>
        <p:spPr bwMode="auto">
          <a:xfrm rot="16200000">
            <a:off x="1444106" y="2038241"/>
            <a:ext cx="24386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7" name="Line 43"/>
          <p:cNvSpPr>
            <a:spLocks noChangeShapeType="1"/>
          </p:cNvSpPr>
          <p:nvPr/>
        </p:nvSpPr>
        <p:spPr bwMode="auto">
          <a:xfrm rot="16200000">
            <a:off x="2033923" y="2038718"/>
            <a:ext cx="24481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8" name="Text Box 44"/>
          <p:cNvSpPr txBox="1">
            <a:spLocks noChangeArrowheads="1"/>
          </p:cNvSpPr>
          <p:nvPr/>
        </p:nvSpPr>
        <p:spPr bwMode="auto">
          <a:xfrm>
            <a:off x="2458702" y="1915395"/>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必为 </a:t>
            </a:r>
            <a:r>
              <a:rPr kumimoji="1" lang="en-US" altLang="zh-CN" sz="1200" b="1">
                <a:latin typeface="微软雅黑" pitchFamily="34" charset="-122"/>
                <a:ea typeface="微软雅黑" pitchFamily="34" charset="-122"/>
              </a:rPr>
              <a:t>0</a:t>
            </a:r>
          </a:p>
        </p:txBody>
      </p:sp>
      <p:sp>
        <p:nvSpPr>
          <p:cNvPr id="59" name="Text Box 45"/>
          <p:cNvSpPr txBox="1">
            <a:spLocks noChangeArrowheads="1"/>
          </p:cNvSpPr>
          <p:nvPr/>
        </p:nvSpPr>
        <p:spPr bwMode="auto">
          <a:xfrm>
            <a:off x="1647565" y="191158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版本</a:t>
            </a:r>
          </a:p>
        </p:txBody>
      </p:sp>
      <p:sp>
        <p:nvSpPr>
          <p:cNvPr id="60" name="Text Box 46"/>
          <p:cNvSpPr txBox="1">
            <a:spLocks noChangeArrowheads="1"/>
          </p:cNvSpPr>
          <p:nvPr/>
        </p:nvSpPr>
        <p:spPr bwMode="auto">
          <a:xfrm>
            <a:off x="1046953" y="190491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命令</a:t>
            </a:r>
          </a:p>
        </p:txBody>
      </p:sp>
      <p:cxnSp>
        <p:nvCxnSpPr>
          <p:cNvPr id="63" name="肘形连接符 62"/>
          <p:cNvCxnSpPr/>
          <p:nvPr/>
        </p:nvCxnSpPr>
        <p:spPr>
          <a:xfrm rot="16200000" flipH="1">
            <a:off x="5960690" y="2217125"/>
            <a:ext cx="1023883" cy="566091"/>
          </a:xfrm>
          <a:prstGeom prst="bentConnector3">
            <a:avLst/>
          </a:prstGeom>
          <a:ln w="12700">
            <a:solidFill>
              <a:srgbClr val="0070C0"/>
            </a:solidFill>
          </a:ln>
        </p:spPr>
        <p:style>
          <a:lnRef idx="1">
            <a:schemeClr val="accent1"/>
          </a:lnRef>
          <a:fillRef idx="0">
            <a:schemeClr val="accent1"/>
          </a:fillRef>
          <a:effectRef idx="0">
            <a:schemeClr val="accent1"/>
          </a:effectRef>
          <a:fontRef idx="minor">
            <a:schemeClr val="tx1"/>
          </a:fontRef>
        </p:style>
      </p:cxnSp>
      <p:sp>
        <p:nvSpPr>
          <p:cNvPr id="2" name="矩形 1"/>
          <p:cNvSpPr/>
          <p:nvPr/>
        </p:nvSpPr>
        <p:spPr>
          <a:xfrm>
            <a:off x="6341744" y="1253822"/>
            <a:ext cx="2036373" cy="1077218"/>
          </a:xfrm>
          <a:prstGeom prst="rect">
            <a:avLst/>
          </a:prstGeom>
          <a:solidFill>
            <a:schemeClr val="bg1"/>
          </a:solidFill>
        </p:spPr>
        <p:txBody>
          <a:bodyPr wrap="square">
            <a:spAutoFit/>
          </a:bodyPr>
          <a:lstStyle/>
          <a:p>
            <a:r>
              <a:rPr lang="en-US" altLang="zh-CN" sz="1600" b="1" dirty="0">
                <a:latin typeface="微软雅黑" panose="020B0503020204020204" pitchFamily="34" charset="-122"/>
                <a:ea typeface="微软雅黑" panose="020B0503020204020204" pitchFamily="34" charset="-122"/>
              </a:rPr>
              <a:t>RIP2 </a:t>
            </a:r>
            <a:r>
              <a:rPr lang="zh-CN" altLang="en-US" sz="1600" b="1" dirty="0">
                <a:latin typeface="微软雅黑" panose="020B0503020204020204" pitchFamily="34" charset="-122"/>
                <a:ea typeface="微软雅黑" panose="020B0503020204020204" pitchFamily="34" charset="-122"/>
              </a:rPr>
              <a:t>支持无分类域间路由选择 </a:t>
            </a:r>
            <a:r>
              <a:rPr lang="en-US" altLang="zh-CN" sz="1600" b="1" dirty="0">
                <a:latin typeface="微软雅黑" panose="020B0503020204020204" pitchFamily="34" charset="-122"/>
                <a:ea typeface="微软雅黑" panose="020B0503020204020204" pitchFamily="34" charset="-122"/>
              </a:rPr>
              <a:t>CIDR</a:t>
            </a:r>
            <a:r>
              <a:rPr lang="zh-CN" altLang="en-US" sz="1600" b="1" dirty="0">
                <a:latin typeface="微软雅黑" panose="020B0503020204020204" pitchFamily="34" charset="-122"/>
                <a:ea typeface="微软雅黑" panose="020B0503020204020204" pitchFamily="34" charset="-122"/>
              </a:rPr>
              <a:t>，提供简单的鉴别，支持多播。</a:t>
            </a:r>
          </a:p>
        </p:txBody>
      </p:sp>
      <p:sp>
        <p:nvSpPr>
          <p:cNvPr id="3" name="矩形 2"/>
          <p:cNvSpPr/>
          <p:nvPr/>
        </p:nvSpPr>
        <p:spPr>
          <a:xfrm>
            <a:off x="2820559" y="4331211"/>
            <a:ext cx="3502882"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en-US" altLang="zh-CN" sz="1400" dirty="0">
                <a:latin typeface="Montserrat" panose="00000500000000000000" pitchFamily="2" charset="0"/>
                <a:ea typeface="微软雅黑 Light" panose="020B0502040204020203" pitchFamily="34" charset="-122"/>
              </a:rPr>
              <a:t>RIP2 </a:t>
            </a:r>
            <a:r>
              <a:rPr kumimoji="1" lang="zh-CN" altLang="en-US" sz="1400" dirty="0">
                <a:latin typeface="Montserrat" panose="00000500000000000000" pitchFamily="2" charset="0"/>
                <a:ea typeface="微软雅黑 Light" panose="020B0502040204020203" pitchFamily="34" charset="-122"/>
              </a:rPr>
              <a:t>的报文用使用 </a:t>
            </a:r>
            <a:r>
              <a:rPr kumimoji="1" lang="en-US" altLang="zh-CN" sz="1400" dirty="0">
                <a:latin typeface="Montserrat" panose="00000500000000000000" pitchFamily="2" charset="0"/>
                <a:ea typeface="微软雅黑 Light" panose="020B0502040204020203" pitchFamily="34" charset="-122"/>
              </a:rPr>
              <a:t>UDP </a:t>
            </a:r>
            <a:r>
              <a:rPr kumimoji="1" lang="zh-CN" altLang="en-US" sz="1400" dirty="0">
                <a:latin typeface="Montserrat" panose="00000500000000000000" pitchFamily="2" charset="0"/>
                <a:ea typeface="微软雅黑 Light" panose="020B0502040204020203" pitchFamily="34" charset="-122"/>
              </a:rPr>
              <a:t>传送；端口 </a:t>
            </a:r>
            <a:r>
              <a:rPr kumimoji="1" lang="en-US" altLang="zh-CN" sz="1400" dirty="0">
                <a:latin typeface="Montserrat" panose="00000500000000000000" pitchFamily="2" charset="0"/>
                <a:ea typeface="微软雅黑 Light" panose="020B0502040204020203" pitchFamily="34" charset="-122"/>
              </a:rPr>
              <a:t>520</a:t>
            </a:r>
            <a:endParaRPr kumimoji="1" lang="zh-CN" altLang="en-US" sz="1400" dirty="0">
              <a:latin typeface="Montserrat" panose="00000500000000000000" pitchFamily="2" charset="0"/>
              <a:ea typeface="微软雅黑 Light" panose="020B0502040204020203" pitchFamily="34" charset="-122"/>
            </a:endParaRPr>
          </a:p>
        </p:txBody>
      </p:sp>
      <p:sp>
        <p:nvSpPr>
          <p:cNvPr id="4" name="标题 3">
            <a:extLst>
              <a:ext uri="{FF2B5EF4-FFF2-40B4-BE49-F238E27FC236}">
                <a16:creationId xmlns:a16="http://schemas.microsoft.com/office/drawing/2014/main" id="{0CE638F9-5D69-78D0-3315-54C9A36676C4}"/>
              </a:ext>
            </a:extLst>
          </p:cNvPr>
          <p:cNvSpPr>
            <a:spLocks noGrp="1"/>
          </p:cNvSpPr>
          <p:nvPr>
            <p:ph type="title"/>
          </p:nvPr>
        </p:nvSpPr>
        <p:spPr>
          <a:xfrm>
            <a:off x="486000" y="550723"/>
            <a:ext cx="8172000" cy="338554"/>
          </a:xfrm>
        </p:spPr>
        <p:txBody>
          <a:bodyPr/>
          <a:lstStyle/>
          <a:p>
            <a:r>
              <a:rPr lang="en-US" altLang="zh-CN" dirty="0"/>
              <a:t>RIP2 </a:t>
            </a:r>
            <a:r>
              <a:rPr lang="zh-CN" altLang="en-US" dirty="0"/>
              <a:t>报文</a:t>
            </a:r>
          </a:p>
        </p:txBody>
      </p:sp>
    </p:spTree>
    <p:extLst>
      <p:ext uri="{BB962C8B-B14F-4D97-AF65-F5344CB8AC3E}">
        <p14:creationId xmlns:p14="http://schemas.microsoft.com/office/powerpoint/2010/main" val="18072110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0" y="425714"/>
            <a:ext cx="184731" cy="400110"/>
          </a:xfrm>
          <a:prstGeom prst="rect">
            <a:avLst/>
          </a:prstGeom>
        </p:spPr>
        <p:txBody>
          <a:bodyPr wrap="none">
            <a:spAutoFit/>
          </a:bodyPr>
          <a:lstStyle/>
          <a:p>
            <a:endParaRPr lang="zh-CN" altLang="en-US" sz="2000" b="1" dirty="0">
              <a:latin typeface="微软雅黑" pitchFamily="34" charset="-122"/>
              <a:ea typeface="微软雅黑" pitchFamily="34" charset="-122"/>
            </a:endParaRPr>
          </a:p>
        </p:txBody>
      </p:sp>
      <p:sp>
        <p:nvSpPr>
          <p:cNvPr id="5" name="标题 4">
            <a:extLst>
              <a:ext uri="{FF2B5EF4-FFF2-40B4-BE49-F238E27FC236}">
                <a16:creationId xmlns:a16="http://schemas.microsoft.com/office/drawing/2014/main" id="{809C51C1-88F7-237E-F2F6-20CA5C906DE5}"/>
              </a:ext>
            </a:extLst>
          </p:cNvPr>
          <p:cNvSpPr>
            <a:spLocks noGrp="1"/>
          </p:cNvSpPr>
          <p:nvPr>
            <p:ph type="title"/>
          </p:nvPr>
        </p:nvSpPr>
        <p:spPr>
          <a:xfrm>
            <a:off x="486000" y="550723"/>
            <a:ext cx="8172000" cy="338554"/>
          </a:xfrm>
        </p:spPr>
        <p:txBody>
          <a:bodyPr/>
          <a:lstStyle/>
          <a:p>
            <a:r>
              <a:rPr lang="en-US" altLang="zh-CN" dirty="0"/>
              <a:t>RIP2 </a:t>
            </a:r>
            <a:r>
              <a:rPr lang="zh-CN" altLang="en-US" dirty="0"/>
              <a:t>报文</a:t>
            </a:r>
          </a:p>
        </p:txBody>
      </p:sp>
      <p:sp>
        <p:nvSpPr>
          <p:cNvPr id="6" name="内容占位符 5">
            <a:extLst>
              <a:ext uri="{FF2B5EF4-FFF2-40B4-BE49-F238E27FC236}">
                <a16:creationId xmlns:a16="http://schemas.microsoft.com/office/drawing/2014/main" id="{089D5042-00BA-928B-7848-15938DC37FD3}"/>
              </a:ext>
            </a:extLst>
          </p:cNvPr>
          <p:cNvSpPr>
            <a:spLocks noGrp="1"/>
          </p:cNvSpPr>
          <p:nvPr>
            <p:ph sz="quarter" idx="11"/>
          </p:nvPr>
        </p:nvSpPr>
        <p:spPr>
          <a:xfrm>
            <a:off x="486000" y="900000"/>
            <a:ext cx="8172000" cy="3703500"/>
          </a:xfrm>
        </p:spPr>
        <p:txBody>
          <a:bodyPr/>
          <a:lstStyle/>
          <a:p>
            <a:r>
              <a:rPr lang="zh-CN" altLang="en-US" dirty="0"/>
              <a:t>组成：首部和路由 </a:t>
            </a:r>
            <a:r>
              <a:rPr lang="en-US" altLang="zh-CN" dirty="0"/>
              <a:t>2 </a:t>
            </a:r>
            <a:r>
              <a:rPr lang="zh-CN" altLang="en-US" dirty="0"/>
              <a:t>个部分</a:t>
            </a:r>
          </a:p>
          <a:p>
            <a:r>
              <a:rPr lang="zh-CN" altLang="en-US" dirty="0"/>
              <a:t>路由部分：由若干个路由信息组成。每个路由信息共 </a:t>
            </a:r>
            <a:r>
              <a:rPr lang="en-US" altLang="zh-CN" dirty="0"/>
              <a:t>20 </a:t>
            </a:r>
            <a:r>
              <a:rPr lang="zh-CN" altLang="en-US" dirty="0"/>
              <a:t>个字节</a:t>
            </a:r>
            <a:endParaRPr lang="en-US" altLang="zh-CN" dirty="0"/>
          </a:p>
          <a:p>
            <a:pPr lvl="1"/>
            <a:r>
              <a:rPr lang="zh-CN" altLang="en-US" dirty="0"/>
              <a:t>地址族标识符（又称为地址类别）字段用来标志所使用的地址协议</a:t>
            </a:r>
          </a:p>
          <a:p>
            <a:pPr lvl="1"/>
            <a:r>
              <a:rPr lang="zh-CN" altLang="en-US" dirty="0"/>
              <a:t>路由标记填入自治系统的号码</a:t>
            </a:r>
          </a:p>
          <a:p>
            <a:pPr lvl="1"/>
            <a:r>
              <a:rPr lang="zh-CN" altLang="en-US" dirty="0"/>
              <a:t>后面为具体路由，指出某个网络地址、该网络的子网掩码、下一跳路由器地址以及到此网络的距离 </a:t>
            </a:r>
            <a:endParaRPr lang="en-US" altLang="zh-CN" dirty="0"/>
          </a:p>
          <a:p>
            <a:r>
              <a:rPr lang="zh-CN" altLang="en-US" dirty="0"/>
              <a:t>一个 </a:t>
            </a:r>
            <a:r>
              <a:rPr lang="en-US" altLang="zh-CN" dirty="0"/>
              <a:t>RIP </a:t>
            </a:r>
            <a:r>
              <a:rPr lang="zh-CN" altLang="en-US" dirty="0"/>
              <a:t>报文最多可包括 </a:t>
            </a:r>
            <a:r>
              <a:rPr lang="en-US" altLang="zh-CN" dirty="0"/>
              <a:t>25 </a:t>
            </a:r>
            <a:r>
              <a:rPr lang="zh-CN" altLang="en-US" dirty="0"/>
              <a:t>个路由，因而 </a:t>
            </a:r>
            <a:r>
              <a:rPr lang="en-US" altLang="zh-CN" dirty="0"/>
              <a:t>RIP </a:t>
            </a:r>
            <a:r>
              <a:rPr lang="zh-CN" altLang="en-US" dirty="0"/>
              <a:t>报文的最大长度是 </a:t>
            </a:r>
            <a:r>
              <a:rPr lang="en-US" altLang="zh-CN" dirty="0"/>
              <a:t>4+20 x25=504 </a:t>
            </a:r>
            <a:r>
              <a:rPr lang="zh-CN" altLang="en-US" dirty="0"/>
              <a:t>字节如超过，必须再用一个 </a:t>
            </a:r>
            <a:r>
              <a:rPr lang="en-US" altLang="zh-CN" dirty="0"/>
              <a:t>RIP </a:t>
            </a:r>
            <a:r>
              <a:rPr lang="zh-CN" altLang="en-US" dirty="0"/>
              <a:t>报文来传送</a:t>
            </a:r>
          </a:p>
          <a:p>
            <a:r>
              <a:rPr lang="en-US" altLang="zh-CN" dirty="0"/>
              <a:t>RIP2 </a:t>
            </a:r>
            <a:r>
              <a:rPr lang="zh-CN" altLang="en-US" dirty="0"/>
              <a:t>具有简单的鉴别功能</a:t>
            </a:r>
          </a:p>
          <a:p>
            <a:endParaRPr lang="zh-CN" altLang="en-US" dirty="0"/>
          </a:p>
        </p:txBody>
      </p:sp>
    </p:spTree>
    <p:extLst>
      <p:ext uri="{BB962C8B-B14F-4D97-AF65-F5344CB8AC3E}">
        <p14:creationId xmlns:p14="http://schemas.microsoft.com/office/powerpoint/2010/main" val="1447518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5D96CA47-40FD-825B-1CD7-FDF4A8F282CA}"/>
              </a:ext>
            </a:extLst>
          </p:cNvPr>
          <p:cNvSpPr>
            <a:spLocks noGrp="1"/>
          </p:cNvSpPr>
          <p:nvPr>
            <p:ph type="title"/>
          </p:nvPr>
        </p:nvSpPr>
        <p:spPr>
          <a:xfrm>
            <a:off x="486000" y="550723"/>
            <a:ext cx="8172000" cy="338554"/>
          </a:xfrm>
        </p:spPr>
        <p:txBody>
          <a:bodyPr/>
          <a:lstStyle/>
          <a:p>
            <a:r>
              <a:rPr lang="en-US" altLang="zh-CN" dirty="0"/>
              <a:t>3. </a:t>
            </a:r>
            <a:r>
              <a:rPr lang="zh-CN" altLang="en-US" dirty="0"/>
              <a:t>坏消息传播得慢</a:t>
            </a:r>
          </a:p>
        </p:txBody>
      </p:sp>
      <p:sp>
        <p:nvSpPr>
          <p:cNvPr id="6" name="内容占位符 5">
            <a:extLst>
              <a:ext uri="{FF2B5EF4-FFF2-40B4-BE49-F238E27FC236}">
                <a16:creationId xmlns:a16="http://schemas.microsoft.com/office/drawing/2014/main" id="{8A42E13A-2D72-6CF6-B62B-BD3F40DE78B1}"/>
              </a:ext>
            </a:extLst>
          </p:cNvPr>
          <p:cNvSpPr>
            <a:spLocks noGrp="1"/>
          </p:cNvSpPr>
          <p:nvPr>
            <p:ph sz="quarter" idx="11"/>
          </p:nvPr>
        </p:nvSpPr>
        <p:spPr>
          <a:xfrm>
            <a:off x="486000" y="900000"/>
            <a:ext cx="8172000" cy="3703500"/>
          </a:xfrm>
        </p:spPr>
        <p:txBody>
          <a:bodyPr/>
          <a:lstStyle/>
          <a:p>
            <a:r>
              <a:rPr lang="en-US" altLang="zh-CN" dirty="0"/>
              <a:t>RIP </a:t>
            </a:r>
            <a:r>
              <a:rPr lang="zh-CN" altLang="en-US" dirty="0"/>
              <a:t>协议特点：</a:t>
            </a:r>
            <a:endParaRPr lang="en-US" altLang="zh-CN" dirty="0"/>
          </a:p>
          <a:p>
            <a:pPr lvl="1"/>
            <a:r>
              <a:rPr lang="zh-CN" altLang="en-US" dirty="0"/>
              <a:t>好消息传播得快，坏消息传播得慢 </a:t>
            </a:r>
            <a:r>
              <a:rPr lang="en-US" altLang="zh-CN" dirty="0"/>
              <a:t>- </a:t>
            </a:r>
            <a:r>
              <a:rPr lang="zh-CN" altLang="en-US" dirty="0"/>
              <a:t>慢收敛</a:t>
            </a:r>
          </a:p>
          <a:p>
            <a:pPr lvl="1"/>
            <a:r>
              <a:rPr lang="zh-CN" altLang="en-US" dirty="0"/>
              <a:t>当网络出现故障时，要经过比较长的时间才能将此信息（坏消息）传送到所有的路由器</a:t>
            </a:r>
          </a:p>
          <a:p>
            <a:endParaRPr lang="zh-CN" altLang="en-US" dirty="0"/>
          </a:p>
        </p:txBody>
      </p:sp>
    </p:spTree>
    <p:extLst>
      <p:ext uri="{BB962C8B-B14F-4D97-AF65-F5344CB8AC3E}">
        <p14:creationId xmlns:p14="http://schemas.microsoft.com/office/powerpoint/2010/main" val="1801613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ine 2"/>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6" name="Picture 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 name="Text Box 4"/>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8" name="Text Box 5"/>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9" name="Picture 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0" name="Group 7"/>
          <p:cNvGrpSpPr>
            <a:grpSpLocks/>
          </p:cNvGrpSpPr>
          <p:nvPr/>
        </p:nvGrpSpPr>
        <p:grpSpPr bwMode="auto">
          <a:xfrm>
            <a:off x="1793796" y="968576"/>
            <a:ext cx="783138" cy="526361"/>
            <a:chOff x="4830" y="1752"/>
            <a:chExt cx="667" cy="477"/>
          </a:xfrm>
          <a:solidFill>
            <a:schemeClr val="bg1"/>
          </a:solidFill>
        </p:grpSpPr>
        <p:grpSp>
          <p:nvGrpSpPr>
            <p:cNvPr id="11" name="Group 8"/>
            <p:cNvGrpSpPr>
              <a:grpSpLocks/>
            </p:cNvGrpSpPr>
            <p:nvPr/>
          </p:nvGrpSpPr>
          <p:grpSpPr bwMode="auto">
            <a:xfrm>
              <a:off x="4830" y="1752"/>
              <a:ext cx="667" cy="477"/>
              <a:chOff x="2949" y="196"/>
              <a:chExt cx="941" cy="598"/>
            </a:xfrm>
            <a:grpFill/>
          </p:grpSpPr>
          <p:sp>
            <p:nvSpPr>
              <p:cNvPr id="13" name="Oval 9"/>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 name="Oval 10"/>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 name="Oval 11"/>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 name="Oval 12"/>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7" name="Oval 13"/>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 name="Oval 14"/>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 name="Oval 15"/>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 name="Oval 16"/>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 name="Freeform 1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 name="Freeform 1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3" name="Freeform 1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2" name="Text Box 20"/>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24" name="Group 21"/>
          <p:cNvGrpSpPr>
            <a:grpSpLocks/>
          </p:cNvGrpSpPr>
          <p:nvPr/>
        </p:nvGrpSpPr>
        <p:grpSpPr bwMode="auto">
          <a:xfrm>
            <a:off x="6444139" y="968580"/>
            <a:ext cx="783138" cy="526362"/>
            <a:chOff x="4830" y="1752"/>
            <a:chExt cx="667" cy="477"/>
          </a:xfrm>
          <a:solidFill>
            <a:schemeClr val="bg1"/>
          </a:solidFill>
        </p:grpSpPr>
        <p:grpSp>
          <p:nvGrpSpPr>
            <p:cNvPr id="25" name="Group 22"/>
            <p:cNvGrpSpPr>
              <a:grpSpLocks/>
            </p:cNvGrpSpPr>
            <p:nvPr/>
          </p:nvGrpSpPr>
          <p:grpSpPr bwMode="auto">
            <a:xfrm>
              <a:off x="4830" y="1752"/>
              <a:ext cx="667" cy="477"/>
              <a:chOff x="2949" y="196"/>
              <a:chExt cx="941" cy="598"/>
            </a:xfrm>
            <a:grpFill/>
          </p:grpSpPr>
          <p:sp>
            <p:nvSpPr>
              <p:cNvPr id="27" name="Oval 23"/>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 name="Oval 24"/>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 name="Oval 25"/>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 name="Oval 26"/>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 name="Oval 27"/>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2" name="Oval 28"/>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3" name="Oval 29"/>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4" name="Oval 30"/>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5" name="Freeform 31"/>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6" name="Freeform 32"/>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7" name="Freeform 33"/>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6" name="Text Box 34"/>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38" name="Group 35"/>
          <p:cNvGrpSpPr>
            <a:grpSpLocks/>
          </p:cNvGrpSpPr>
          <p:nvPr/>
        </p:nvGrpSpPr>
        <p:grpSpPr bwMode="auto">
          <a:xfrm>
            <a:off x="4099995" y="968580"/>
            <a:ext cx="783138" cy="526362"/>
            <a:chOff x="4830" y="1752"/>
            <a:chExt cx="667" cy="477"/>
          </a:xfrm>
          <a:solidFill>
            <a:schemeClr val="bg1"/>
          </a:solidFill>
        </p:grpSpPr>
        <p:grpSp>
          <p:nvGrpSpPr>
            <p:cNvPr id="39" name="Group 36"/>
            <p:cNvGrpSpPr>
              <a:grpSpLocks/>
            </p:cNvGrpSpPr>
            <p:nvPr/>
          </p:nvGrpSpPr>
          <p:grpSpPr bwMode="auto">
            <a:xfrm>
              <a:off x="4830" y="1752"/>
              <a:ext cx="667" cy="477"/>
              <a:chOff x="2949" y="196"/>
              <a:chExt cx="941" cy="598"/>
            </a:xfrm>
            <a:grpFill/>
          </p:grpSpPr>
          <p:sp>
            <p:nvSpPr>
              <p:cNvPr id="41" name="Oval 37"/>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2" name="Oval 38"/>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3" name="Oval 39"/>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4" name="Oval 40"/>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5" name="Oval 41"/>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6" name="Oval 42"/>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7" name="Oval 43"/>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8" name="Oval 44"/>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9" name="Freeform 4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50" name="Freeform 4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51" name="Freeform 4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40" name="Text Box 48"/>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2" name="表格 1">
            <a:extLst>
              <a:ext uri="{FF2B5EF4-FFF2-40B4-BE49-F238E27FC236}">
                <a16:creationId xmlns:a16="http://schemas.microsoft.com/office/drawing/2014/main" id="{C26FBE48-E7D3-74FE-E2B4-A85378AC92BE}"/>
              </a:ext>
            </a:extLst>
          </p:cNvPr>
          <p:cNvGraphicFramePr>
            <a:graphicFrameLocks noGrp="1"/>
          </p:cNvGraphicFramePr>
          <p:nvPr>
            <p:extLst>
              <p:ext uri="{D42A27DB-BD31-4B8C-83A1-F6EECF244321}">
                <p14:modId xmlns:p14="http://schemas.microsoft.com/office/powerpoint/2010/main" val="184842878"/>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 name="表格 2">
            <a:extLst>
              <a:ext uri="{FF2B5EF4-FFF2-40B4-BE49-F238E27FC236}">
                <a16:creationId xmlns:a16="http://schemas.microsoft.com/office/drawing/2014/main" id="{77202735-62C2-C7A6-39E0-F6BC8C707BB4}"/>
              </a:ext>
            </a:extLst>
          </p:cNvPr>
          <p:cNvGraphicFramePr>
            <a:graphicFrameLocks noGrp="1"/>
          </p:cNvGraphicFramePr>
          <p:nvPr>
            <p:extLst>
              <p:ext uri="{D42A27DB-BD31-4B8C-83A1-F6EECF244321}">
                <p14:modId xmlns:p14="http://schemas.microsoft.com/office/powerpoint/2010/main" val="2416151093"/>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41300469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Line 50"/>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51" name="Picture 5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2" name="Text Box 52"/>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53" name="Text Box 53"/>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54" name="Picture 5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55" name="Group 55"/>
          <p:cNvGrpSpPr>
            <a:grpSpLocks/>
          </p:cNvGrpSpPr>
          <p:nvPr/>
        </p:nvGrpSpPr>
        <p:grpSpPr bwMode="auto">
          <a:xfrm>
            <a:off x="1793796" y="1810273"/>
            <a:ext cx="783138" cy="526362"/>
            <a:chOff x="4830" y="1752"/>
            <a:chExt cx="667" cy="477"/>
          </a:xfrm>
          <a:solidFill>
            <a:srgbClr val="FF0000"/>
          </a:solidFill>
        </p:grpSpPr>
        <p:grpSp>
          <p:nvGrpSpPr>
            <p:cNvPr id="56" name="Group 56"/>
            <p:cNvGrpSpPr>
              <a:grpSpLocks/>
            </p:cNvGrpSpPr>
            <p:nvPr/>
          </p:nvGrpSpPr>
          <p:grpSpPr bwMode="auto">
            <a:xfrm>
              <a:off x="4830" y="1752"/>
              <a:ext cx="667" cy="477"/>
              <a:chOff x="2949" y="196"/>
              <a:chExt cx="941" cy="598"/>
            </a:xfrm>
            <a:grpFill/>
          </p:grpSpPr>
          <p:sp>
            <p:nvSpPr>
              <p:cNvPr id="58" name="Oval 57"/>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59" name="Oval 58"/>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0" name="Oval 59"/>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1" name="Oval 60"/>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2" name="Oval 61"/>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3" name="Oval 62"/>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4" name="Oval 63"/>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5" name="Oval 64"/>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6" name="Freeform 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67" name="Freeform 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68" name="Freeform 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57" name="Text Box 68"/>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69" name="Group 69"/>
          <p:cNvGrpSpPr>
            <a:grpSpLocks/>
          </p:cNvGrpSpPr>
          <p:nvPr/>
        </p:nvGrpSpPr>
        <p:grpSpPr bwMode="auto">
          <a:xfrm>
            <a:off x="6444139" y="1810273"/>
            <a:ext cx="783138" cy="526362"/>
            <a:chOff x="4830" y="1752"/>
            <a:chExt cx="667" cy="477"/>
          </a:xfrm>
          <a:solidFill>
            <a:schemeClr val="bg1"/>
          </a:solidFill>
        </p:grpSpPr>
        <p:grpSp>
          <p:nvGrpSpPr>
            <p:cNvPr id="70" name="Group 70"/>
            <p:cNvGrpSpPr>
              <a:grpSpLocks/>
            </p:cNvGrpSpPr>
            <p:nvPr/>
          </p:nvGrpSpPr>
          <p:grpSpPr bwMode="auto">
            <a:xfrm>
              <a:off x="4830" y="1752"/>
              <a:ext cx="667" cy="477"/>
              <a:chOff x="2949" y="196"/>
              <a:chExt cx="941" cy="598"/>
            </a:xfrm>
            <a:grpFill/>
          </p:grpSpPr>
          <p:sp>
            <p:nvSpPr>
              <p:cNvPr id="72" name="Oval 71"/>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3" name="Oval 72"/>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4" name="Oval 73"/>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5" name="Oval 74"/>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6" name="Oval 75"/>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7" name="Oval 76"/>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8" name="Oval 77"/>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9" name="Oval 78"/>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80" name="Freeform 7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81" name="Freeform 8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82" name="Freeform 8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71" name="Text Box 82"/>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83" name="Group 83"/>
          <p:cNvGrpSpPr>
            <a:grpSpLocks/>
          </p:cNvGrpSpPr>
          <p:nvPr/>
        </p:nvGrpSpPr>
        <p:grpSpPr bwMode="auto">
          <a:xfrm>
            <a:off x="4099995" y="1810273"/>
            <a:ext cx="783138" cy="526362"/>
            <a:chOff x="4830" y="1752"/>
            <a:chExt cx="667" cy="477"/>
          </a:xfrm>
          <a:solidFill>
            <a:schemeClr val="bg1"/>
          </a:solidFill>
        </p:grpSpPr>
        <p:grpSp>
          <p:nvGrpSpPr>
            <p:cNvPr id="84" name="Group 84"/>
            <p:cNvGrpSpPr>
              <a:grpSpLocks/>
            </p:cNvGrpSpPr>
            <p:nvPr/>
          </p:nvGrpSpPr>
          <p:grpSpPr bwMode="auto">
            <a:xfrm>
              <a:off x="4830" y="1752"/>
              <a:ext cx="667" cy="477"/>
              <a:chOff x="2949" y="196"/>
              <a:chExt cx="941" cy="598"/>
            </a:xfrm>
            <a:grpFill/>
          </p:grpSpPr>
          <p:sp>
            <p:nvSpPr>
              <p:cNvPr id="86" name="Oval 85"/>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87" name="Oval 86"/>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88" name="Oval 87"/>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89" name="Oval 88"/>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0" name="Oval 89"/>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1" name="Oval 90"/>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2" name="Oval 91"/>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3" name="Oval 92"/>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4" name="Freeform 9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95" name="Freeform 9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96" name="Freeform 9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85" name="Text Box 96"/>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125" name="Text Box 120"/>
          <p:cNvSpPr txBox="1">
            <a:spLocks noChangeArrowheads="1"/>
          </p:cNvSpPr>
          <p:nvPr/>
        </p:nvSpPr>
        <p:spPr bwMode="auto">
          <a:xfrm>
            <a:off x="972000" y="3469443"/>
            <a:ext cx="7200000" cy="3600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zh-CN" altLang="en-US" dirty="0"/>
              <a:t> </a:t>
            </a:r>
            <a:r>
              <a:rPr lang="en-US" altLang="zh-CN" dirty="0"/>
              <a:t>R2</a:t>
            </a:r>
            <a:r>
              <a:rPr lang="zh-CN" altLang="en-US" dirty="0"/>
              <a:t>：在收到 </a:t>
            </a:r>
            <a:r>
              <a:rPr lang="en-US" altLang="zh-CN" dirty="0"/>
              <a:t>R1 </a:t>
            </a:r>
            <a:r>
              <a:rPr lang="zh-CN" altLang="en-US" dirty="0"/>
              <a:t>的更新报文之前，还发送原来的报文 </a:t>
            </a:r>
            <a:r>
              <a:rPr lang="en-US" altLang="zh-CN" dirty="0"/>
              <a:t>- </a:t>
            </a:r>
            <a:r>
              <a:rPr lang="zh-CN" altLang="en-US" dirty="0"/>
              <a:t>因为这时 </a:t>
            </a:r>
            <a:r>
              <a:rPr lang="en-US" altLang="zh-CN" dirty="0"/>
              <a:t>R2 </a:t>
            </a:r>
            <a:r>
              <a:rPr lang="zh-CN" altLang="en-US" dirty="0"/>
              <a:t>并不知道 </a:t>
            </a:r>
            <a:r>
              <a:rPr lang="en-US" altLang="zh-CN" dirty="0"/>
              <a:t>R1 </a:t>
            </a:r>
            <a:r>
              <a:rPr lang="zh-CN" altLang="en-US" dirty="0"/>
              <a:t>出了故障</a:t>
            </a:r>
          </a:p>
        </p:txBody>
      </p:sp>
      <p:sp>
        <p:nvSpPr>
          <p:cNvPr id="121" name="Line 2">
            <a:extLst>
              <a:ext uri="{FF2B5EF4-FFF2-40B4-BE49-F238E27FC236}">
                <a16:creationId xmlns:a16="http://schemas.microsoft.com/office/drawing/2014/main" id="{7ADE1852-AEE8-6381-2F71-0CD2943B2ED3}"/>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22" name="Picture 3">
            <a:extLst>
              <a:ext uri="{FF2B5EF4-FFF2-40B4-BE49-F238E27FC236}">
                <a16:creationId xmlns:a16="http://schemas.microsoft.com/office/drawing/2014/main" id="{13706816-908F-BE18-61BD-A3DB7A17A21E}"/>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24" name="Text Box 4">
            <a:extLst>
              <a:ext uri="{FF2B5EF4-FFF2-40B4-BE49-F238E27FC236}">
                <a16:creationId xmlns:a16="http://schemas.microsoft.com/office/drawing/2014/main" id="{5333C775-3FB2-7A27-4547-A3D723F43869}"/>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28" name="Text Box 5">
            <a:extLst>
              <a:ext uri="{FF2B5EF4-FFF2-40B4-BE49-F238E27FC236}">
                <a16:creationId xmlns:a16="http://schemas.microsoft.com/office/drawing/2014/main" id="{3185134A-C0CD-5414-5434-FD3D4793F58E}"/>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29" name="Picture 6">
            <a:extLst>
              <a:ext uri="{FF2B5EF4-FFF2-40B4-BE49-F238E27FC236}">
                <a16:creationId xmlns:a16="http://schemas.microsoft.com/office/drawing/2014/main" id="{3192F2F5-BC06-68EF-1B37-E9DD245E63F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0" name="Group 7">
            <a:extLst>
              <a:ext uri="{FF2B5EF4-FFF2-40B4-BE49-F238E27FC236}">
                <a16:creationId xmlns:a16="http://schemas.microsoft.com/office/drawing/2014/main" id="{20965CB8-3B73-E334-72D1-43BB816EAD30}"/>
              </a:ext>
            </a:extLst>
          </p:cNvPr>
          <p:cNvGrpSpPr>
            <a:grpSpLocks/>
          </p:cNvGrpSpPr>
          <p:nvPr/>
        </p:nvGrpSpPr>
        <p:grpSpPr bwMode="auto">
          <a:xfrm>
            <a:off x="1793796" y="968576"/>
            <a:ext cx="783138" cy="526361"/>
            <a:chOff x="4830" y="1752"/>
            <a:chExt cx="667" cy="477"/>
          </a:xfrm>
          <a:solidFill>
            <a:schemeClr val="bg1"/>
          </a:solidFill>
        </p:grpSpPr>
        <p:grpSp>
          <p:nvGrpSpPr>
            <p:cNvPr id="131" name="Group 8">
              <a:extLst>
                <a:ext uri="{FF2B5EF4-FFF2-40B4-BE49-F238E27FC236}">
                  <a16:creationId xmlns:a16="http://schemas.microsoft.com/office/drawing/2014/main" id="{E3D10AE8-DACE-96F5-5F6F-58A4D29AB61E}"/>
                </a:ext>
              </a:extLst>
            </p:cNvPr>
            <p:cNvGrpSpPr>
              <a:grpSpLocks/>
            </p:cNvGrpSpPr>
            <p:nvPr/>
          </p:nvGrpSpPr>
          <p:grpSpPr bwMode="auto">
            <a:xfrm>
              <a:off x="4830" y="1752"/>
              <a:ext cx="667" cy="477"/>
              <a:chOff x="2949" y="196"/>
              <a:chExt cx="941" cy="598"/>
            </a:xfrm>
            <a:grpFill/>
          </p:grpSpPr>
          <p:sp>
            <p:nvSpPr>
              <p:cNvPr id="133" name="Oval 9">
                <a:extLst>
                  <a:ext uri="{FF2B5EF4-FFF2-40B4-BE49-F238E27FC236}">
                    <a16:creationId xmlns:a16="http://schemas.microsoft.com/office/drawing/2014/main" id="{BE612460-69AE-DB9F-DD2E-A7DDE7A4419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4" name="Oval 10">
                <a:extLst>
                  <a:ext uri="{FF2B5EF4-FFF2-40B4-BE49-F238E27FC236}">
                    <a16:creationId xmlns:a16="http://schemas.microsoft.com/office/drawing/2014/main" id="{0445ABE0-D7CA-A0AA-8EA1-D8E245098242}"/>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5" name="Oval 11">
                <a:extLst>
                  <a:ext uri="{FF2B5EF4-FFF2-40B4-BE49-F238E27FC236}">
                    <a16:creationId xmlns:a16="http://schemas.microsoft.com/office/drawing/2014/main" id="{F47D0175-956F-EBE7-B913-F1918BEA0E68}"/>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6" name="Oval 12">
                <a:extLst>
                  <a:ext uri="{FF2B5EF4-FFF2-40B4-BE49-F238E27FC236}">
                    <a16:creationId xmlns:a16="http://schemas.microsoft.com/office/drawing/2014/main" id="{DAA72EF4-9CD8-E65B-0AD5-68736D14E1E5}"/>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7" name="Oval 13">
                <a:extLst>
                  <a:ext uri="{FF2B5EF4-FFF2-40B4-BE49-F238E27FC236}">
                    <a16:creationId xmlns:a16="http://schemas.microsoft.com/office/drawing/2014/main" id="{3EB8AE1B-DC11-6810-FF10-691EB4329881}"/>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8" name="Oval 14">
                <a:extLst>
                  <a:ext uri="{FF2B5EF4-FFF2-40B4-BE49-F238E27FC236}">
                    <a16:creationId xmlns:a16="http://schemas.microsoft.com/office/drawing/2014/main" id="{9B61A1F9-7B8E-C7DA-D798-1042EB15ACFD}"/>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9" name="Oval 15">
                <a:extLst>
                  <a:ext uri="{FF2B5EF4-FFF2-40B4-BE49-F238E27FC236}">
                    <a16:creationId xmlns:a16="http://schemas.microsoft.com/office/drawing/2014/main" id="{106A8E67-1647-56AF-81AA-3D8A58C7A7B0}"/>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0" name="Oval 16">
                <a:extLst>
                  <a:ext uri="{FF2B5EF4-FFF2-40B4-BE49-F238E27FC236}">
                    <a16:creationId xmlns:a16="http://schemas.microsoft.com/office/drawing/2014/main" id="{F8E897A8-7111-0A21-AB8D-2E2A8B5096DA}"/>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1" name="Freeform 17">
                <a:extLst>
                  <a:ext uri="{FF2B5EF4-FFF2-40B4-BE49-F238E27FC236}">
                    <a16:creationId xmlns:a16="http://schemas.microsoft.com/office/drawing/2014/main" id="{EA7EA7B8-158A-91F1-8C30-F5BE96503731}"/>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42" name="Freeform 18">
                <a:extLst>
                  <a:ext uri="{FF2B5EF4-FFF2-40B4-BE49-F238E27FC236}">
                    <a16:creationId xmlns:a16="http://schemas.microsoft.com/office/drawing/2014/main" id="{65239048-D6AE-6A7F-AA8D-FC02A058C7A3}"/>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43" name="Freeform 19">
                <a:extLst>
                  <a:ext uri="{FF2B5EF4-FFF2-40B4-BE49-F238E27FC236}">
                    <a16:creationId xmlns:a16="http://schemas.microsoft.com/office/drawing/2014/main" id="{A23E73AE-E856-B048-CD11-050068E04C8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32" name="Text Box 20">
              <a:extLst>
                <a:ext uri="{FF2B5EF4-FFF2-40B4-BE49-F238E27FC236}">
                  <a16:creationId xmlns:a16="http://schemas.microsoft.com/office/drawing/2014/main" id="{EAF36E11-973B-5D87-DFC8-81CD255B02DC}"/>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144" name="Group 21">
            <a:extLst>
              <a:ext uri="{FF2B5EF4-FFF2-40B4-BE49-F238E27FC236}">
                <a16:creationId xmlns:a16="http://schemas.microsoft.com/office/drawing/2014/main" id="{712C44C5-096C-F564-DDC7-C0427C2845A0}"/>
              </a:ext>
            </a:extLst>
          </p:cNvPr>
          <p:cNvGrpSpPr>
            <a:grpSpLocks/>
          </p:cNvGrpSpPr>
          <p:nvPr/>
        </p:nvGrpSpPr>
        <p:grpSpPr bwMode="auto">
          <a:xfrm>
            <a:off x="6444139" y="968580"/>
            <a:ext cx="783138" cy="526362"/>
            <a:chOff x="4830" y="1752"/>
            <a:chExt cx="667" cy="477"/>
          </a:xfrm>
          <a:solidFill>
            <a:schemeClr val="bg1"/>
          </a:solidFill>
        </p:grpSpPr>
        <p:grpSp>
          <p:nvGrpSpPr>
            <p:cNvPr id="145" name="Group 22">
              <a:extLst>
                <a:ext uri="{FF2B5EF4-FFF2-40B4-BE49-F238E27FC236}">
                  <a16:creationId xmlns:a16="http://schemas.microsoft.com/office/drawing/2014/main" id="{A7182D46-A141-1D64-CCEC-CB552CCE89A7}"/>
                </a:ext>
              </a:extLst>
            </p:cNvPr>
            <p:cNvGrpSpPr>
              <a:grpSpLocks/>
            </p:cNvGrpSpPr>
            <p:nvPr/>
          </p:nvGrpSpPr>
          <p:grpSpPr bwMode="auto">
            <a:xfrm>
              <a:off x="4830" y="1752"/>
              <a:ext cx="667" cy="477"/>
              <a:chOff x="2949" y="196"/>
              <a:chExt cx="941" cy="598"/>
            </a:xfrm>
            <a:grpFill/>
          </p:grpSpPr>
          <p:sp>
            <p:nvSpPr>
              <p:cNvPr id="147" name="Oval 23">
                <a:extLst>
                  <a:ext uri="{FF2B5EF4-FFF2-40B4-BE49-F238E27FC236}">
                    <a16:creationId xmlns:a16="http://schemas.microsoft.com/office/drawing/2014/main" id="{0260E580-1CB1-7F02-0D54-DA6A0EBE31BA}"/>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8" name="Oval 24">
                <a:extLst>
                  <a:ext uri="{FF2B5EF4-FFF2-40B4-BE49-F238E27FC236}">
                    <a16:creationId xmlns:a16="http://schemas.microsoft.com/office/drawing/2014/main" id="{3A0A93BC-E783-FD8E-1BE0-78BB3754A9EA}"/>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9" name="Oval 25">
                <a:extLst>
                  <a:ext uri="{FF2B5EF4-FFF2-40B4-BE49-F238E27FC236}">
                    <a16:creationId xmlns:a16="http://schemas.microsoft.com/office/drawing/2014/main" id="{73F330BB-AEC7-8EA6-EE08-44341BB0BBE0}"/>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0" name="Oval 26">
                <a:extLst>
                  <a:ext uri="{FF2B5EF4-FFF2-40B4-BE49-F238E27FC236}">
                    <a16:creationId xmlns:a16="http://schemas.microsoft.com/office/drawing/2014/main" id="{A343D6D2-40BF-B206-BB55-DA0F8F25633C}"/>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1" name="Oval 27">
                <a:extLst>
                  <a:ext uri="{FF2B5EF4-FFF2-40B4-BE49-F238E27FC236}">
                    <a16:creationId xmlns:a16="http://schemas.microsoft.com/office/drawing/2014/main" id="{B6AB8291-CC31-AD2F-ED86-77B60DADDF12}"/>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2" name="Oval 28">
                <a:extLst>
                  <a:ext uri="{FF2B5EF4-FFF2-40B4-BE49-F238E27FC236}">
                    <a16:creationId xmlns:a16="http://schemas.microsoft.com/office/drawing/2014/main" id="{1696E4B9-4014-14A1-1892-C34376C3C6F2}"/>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3" name="Oval 29">
                <a:extLst>
                  <a:ext uri="{FF2B5EF4-FFF2-40B4-BE49-F238E27FC236}">
                    <a16:creationId xmlns:a16="http://schemas.microsoft.com/office/drawing/2014/main" id="{47D2831B-1FEF-DDA6-246E-4CC3B847E3B7}"/>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4" name="Oval 30">
                <a:extLst>
                  <a:ext uri="{FF2B5EF4-FFF2-40B4-BE49-F238E27FC236}">
                    <a16:creationId xmlns:a16="http://schemas.microsoft.com/office/drawing/2014/main" id="{5598F5B0-0893-1210-CB66-59D6C510B766}"/>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5" name="Freeform 31">
                <a:extLst>
                  <a:ext uri="{FF2B5EF4-FFF2-40B4-BE49-F238E27FC236}">
                    <a16:creationId xmlns:a16="http://schemas.microsoft.com/office/drawing/2014/main" id="{A560072B-7E0B-80F4-DA3C-E42D9303C3A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56" name="Freeform 32">
                <a:extLst>
                  <a:ext uri="{FF2B5EF4-FFF2-40B4-BE49-F238E27FC236}">
                    <a16:creationId xmlns:a16="http://schemas.microsoft.com/office/drawing/2014/main" id="{60E09A01-8EF2-B100-4A11-A9C1AB7FACE2}"/>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57" name="Freeform 33">
                <a:extLst>
                  <a:ext uri="{FF2B5EF4-FFF2-40B4-BE49-F238E27FC236}">
                    <a16:creationId xmlns:a16="http://schemas.microsoft.com/office/drawing/2014/main" id="{2AF1CF48-41A4-2022-A19B-128CB1CE4142}"/>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46" name="Text Box 34">
              <a:extLst>
                <a:ext uri="{FF2B5EF4-FFF2-40B4-BE49-F238E27FC236}">
                  <a16:creationId xmlns:a16="http://schemas.microsoft.com/office/drawing/2014/main" id="{92F00CED-29EC-7394-B681-0C170B4E2215}"/>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158" name="Group 35">
            <a:extLst>
              <a:ext uri="{FF2B5EF4-FFF2-40B4-BE49-F238E27FC236}">
                <a16:creationId xmlns:a16="http://schemas.microsoft.com/office/drawing/2014/main" id="{A0DCE220-431C-5231-F09C-7AF89C18D8F1}"/>
              </a:ext>
            </a:extLst>
          </p:cNvPr>
          <p:cNvGrpSpPr>
            <a:grpSpLocks/>
          </p:cNvGrpSpPr>
          <p:nvPr/>
        </p:nvGrpSpPr>
        <p:grpSpPr bwMode="auto">
          <a:xfrm>
            <a:off x="4099995" y="968580"/>
            <a:ext cx="783138" cy="526362"/>
            <a:chOff x="4830" y="1752"/>
            <a:chExt cx="667" cy="477"/>
          </a:xfrm>
          <a:solidFill>
            <a:schemeClr val="bg1"/>
          </a:solidFill>
        </p:grpSpPr>
        <p:grpSp>
          <p:nvGrpSpPr>
            <p:cNvPr id="159" name="Group 36">
              <a:extLst>
                <a:ext uri="{FF2B5EF4-FFF2-40B4-BE49-F238E27FC236}">
                  <a16:creationId xmlns:a16="http://schemas.microsoft.com/office/drawing/2014/main" id="{9398C334-9EC6-1EF6-3F05-6CC5B44B4A44}"/>
                </a:ext>
              </a:extLst>
            </p:cNvPr>
            <p:cNvGrpSpPr>
              <a:grpSpLocks/>
            </p:cNvGrpSpPr>
            <p:nvPr/>
          </p:nvGrpSpPr>
          <p:grpSpPr bwMode="auto">
            <a:xfrm>
              <a:off x="4830" y="1752"/>
              <a:ext cx="667" cy="477"/>
              <a:chOff x="2949" y="196"/>
              <a:chExt cx="941" cy="598"/>
            </a:xfrm>
            <a:grpFill/>
          </p:grpSpPr>
          <p:sp>
            <p:nvSpPr>
              <p:cNvPr id="161" name="Oval 37">
                <a:extLst>
                  <a:ext uri="{FF2B5EF4-FFF2-40B4-BE49-F238E27FC236}">
                    <a16:creationId xmlns:a16="http://schemas.microsoft.com/office/drawing/2014/main" id="{E0CAD468-4743-E036-222A-07EF4EE77A72}"/>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2" name="Oval 38">
                <a:extLst>
                  <a:ext uri="{FF2B5EF4-FFF2-40B4-BE49-F238E27FC236}">
                    <a16:creationId xmlns:a16="http://schemas.microsoft.com/office/drawing/2014/main" id="{B509D772-2F34-DC0F-B7E9-08682E5EAF14}"/>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3" name="Oval 39">
                <a:extLst>
                  <a:ext uri="{FF2B5EF4-FFF2-40B4-BE49-F238E27FC236}">
                    <a16:creationId xmlns:a16="http://schemas.microsoft.com/office/drawing/2014/main" id="{4287320D-7397-6D10-5CE8-B07B0E745336}"/>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4" name="Oval 40">
                <a:extLst>
                  <a:ext uri="{FF2B5EF4-FFF2-40B4-BE49-F238E27FC236}">
                    <a16:creationId xmlns:a16="http://schemas.microsoft.com/office/drawing/2014/main" id="{418E78E8-2058-473B-2161-D4767F58F72F}"/>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5" name="Oval 41">
                <a:extLst>
                  <a:ext uri="{FF2B5EF4-FFF2-40B4-BE49-F238E27FC236}">
                    <a16:creationId xmlns:a16="http://schemas.microsoft.com/office/drawing/2014/main" id="{D443B72C-200B-D933-99C4-D4D99530C907}"/>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6" name="Oval 42">
                <a:extLst>
                  <a:ext uri="{FF2B5EF4-FFF2-40B4-BE49-F238E27FC236}">
                    <a16:creationId xmlns:a16="http://schemas.microsoft.com/office/drawing/2014/main" id="{C2186737-C1CD-8B08-A46B-20B6722EC3E2}"/>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7" name="Oval 43">
                <a:extLst>
                  <a:ext uri="{FF2B5EF4-FFF2-40B4-BE49-F238E27FC236}">
                    <a16:creationId xmlns:a16="http://schemas.microsoft.com/office/drawing/2014/main" id="{EAB8DC1D-F071-19CE-9FAD-D1433E057E8C}"/>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8" name="Oval 44">
                <a:extLst>
                  <a:ext uri="{FF2B5EF4-FFF2-40B4-BE49-F238E27FC236}">
                    <a16:creationId xmlns:a16="http://schemas.microsoft.com/office/drawing/2014/main" id="{4F324675-C4A5-87FD-6B21-139D25E00D63}"/>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9" name="Freeform 45">
                <a:extLst>
                  <a:ext uri="{FF2B5EF4-FFF2-40B4-BE49-F238E27FC236}">
                    <a16:creationId xmlns:a16="http://schemas.microsoft.com/office/drawing/2014/main" id="{DDF88CB6-D525-0AAD-511A-9615AEECF9C0}"/>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70" name="Freeform 46">
                <a:extLst>
                  <a:ext uri="{FF2B5EF4-FFF2-40B4-BE49-F238E27FC236}">
                    <a16:creationId xmlns:a16="http://schemas.microsoft.com/office/drawing/2014/main" id="{42D232AA-98BF-70A4-D9D5-163BF0767364}"/>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71" name="Freeform 47">
                <a:extLst>
                  <a:ext uri="{FF2B5EF4-FFF2-40B4-BE49-F238E27FC236}">
                    <a16:creationId xmlns:a16="http://schemas.microsoft.com/office/drawing/2014/main" id="{849E04E8-6993-64F2-DC58-9D9C078FE5CC}"/>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60" name="Text Box 48">
              <a:extLst>
                <a:ext uri="{FF2B5EF4-FFF2-40B4-BE49-F238E27FC236}">
                  <a16:creationId xmlns:a16="http://schemas.microsoft.com/office/drawing/2014/main" id="{BEA14784-38CE-7127-171D-F2744EAD4EFD}"/>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173" name="表格 172">
            <a:extLst>
              <a:ext uri="{FF2B5EF4-FFF2-40B4-BE49-F238E27FC236}">
                <a16:creationId xmlns:a16="http://schemas.microsoft.com/office/drawing/2014/main" id="{43050D7B-FF43-3D7B-2815-A7194C13966D}"/>
              </a:ext>
            </a:extLst>
          </p:cNvPr>
          <p:cNvGraphicFramePr>
            <a:graphicFrameLocks noGrp="1"/>
          </p:cNvGraphicFramePr>
          <p:nvPr>
            <p:extLst>
              <p:ext uri="{D42A27DB-BD31-4B8C-83A1-F6EECF244321}">
                <p14:modId xmlns:p14="http://schemas.microsoft.com/office/powerpoint/2010/main" val="3935176098"/>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74" name="表格 173">
            <a:extLst>
              <a:ext uri="{FF2B5EF4-FFF2-40B4-BE49-F238E27FC236}">
                <a16:creationId xmlns:a16="http://schemas.microsoft.com/office/drawing/2014/main" id="{B09D678B-D552-DDE1-64A8-9BEC11860950}"/>
              </a:ext>
            </a:extLst>
          </p:cNvPr>
          <p:cNvGraphicFramePr>
            <a:graphicFrameLocks noGrp="1"/>
          </p:cNvGraphicFramePr>
          <p:nvPr>
            <p:extLst>
              <p:ext uri="{D42A27DB-BD31-4B8C-83A1-F6EECF244321}">
                <p14:modId xmlns:p14="http://schemas.microsoft.com/office/powerpoint/2010/main" val="3185040380"/>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75" name="表格 174">
            <a:extLst>
              <a:ext uri="{FF2B5EF4-FFF2-40B4-BE49-F238E27FC236}">
                <a16:creationId xmlns:a16="http://schemas.microsoft.com/office/drawing/2014/main" id="{DA4CFF5E-B84F-96C0-D57D-7B8AB8CF5F8F}"/>
              </a:ext>
            </a:extLst>
          </p:cNvPr>
          <p:cNvGraphicFramePr>
            <a:graphicFrameLocks noGrp="1"/>
          </p:cNvGraphicFramePr>
          <p:nvPr>
            <p:extLst>
              <p:ext uri="{D42A27DB-BD31-4B8C-83A1-F6EECF244321}">
                <p14:modId xmlns:p14="http://schemas.microsoft.com/office/powerpoint/2010/main" val="3549308206"/>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76" name="表格 175">
            <a:extLst>
              <a:ext uri="{FF2B5EF4-FFF2-40B4-BE49-F238E27FC236}">
                <a16:creationId xmlns:a16="http://schemas.microsoft.com/office/drawing/2014/main" id="{442421CE-93C8-C714-E0B1-492A1097D4AA}"/>
              </a:ext>
            </a:extLst>
          </p:cNvPr>
          <p:cNvGraphicFramePr>
            <a:graphicFrameLocks noGrp="1"/>
          </p:cNvGraphicFramePr>
          <p:nvPr>
            <p:extLst>
              <p:ext uri="{D42A27DB-BD31-4B8C-83A1-F6EECF244321}">
                <p14:modId xmlns:p14="http://schemas.microsoft.com/office/powerpoint/2010/main" val="4240212321"/>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14024309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Lst>
  </p:timing>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2905773"/>
            <a:ext cx="7200000" cy="5808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en-US" altLang="zh-CN" dirty="0"/>
              <a:t>R1 </a:t>
            </a:r>
            <a:r>
              <a:rPr lang="zh-CN" altLang="en-US" dirty="0"/>
              <a:t>收到 </a:t>
            </a:r>
            <a:r>
              <a:rPr lang="en-US" altLang="zh-CN" dirty="0"/>
              <a:t>R2 </a:t>
            </a:r>
            <a:r>
              <a:rPr lang="zh-CN" altLang="en-US" dirty="0"/>
              <a:t>的更新报文后，误认为可经过 </a:t>
            </a:r>
            <a:r>
              <a:rPr lang="en-US" altLang="zh-CN" dirty="0"/>
              <a:t>R2 </a:t>
            </a:r>
            <a:r>
              <a:rPr lang="zh-CN" altLang="en-US" dirty="0"/>
              <a:t>到达网 </a:t>
            </a:r>
            <a:r>
              <a:rPr lang="en-US" altLang="zh-CN" dirty="0"/>
              <a:t>1</a:t>
            </a:r>
            <a:r>
              <a:rPr lang="zh-CN" altLang="en-US" dirty="0"/>
              <a:t>，于是更新自己的路由表，说：“我到网 </a:t>
            </a:r>
            <a:r>
              <a:rPr lang="en-US" altLang="zh-CN" dirty="0"/>
              <a:t>1 </a:t>
            </a:r>
            <a:r>
              <a:rPr lang="zh-CN" altLang="en-US" dirty="0"/>
              <a:t>的距离是 </a:t>
            </a:r>
            <a:r>
              <a:rPr lang="en-US" altLang="zh-CN" dirty="0"/>
              <a:t>3</a:t>
            </a:r>
            <a:r>
              <a:rPr lang="zh-CN" altLang="en-US" dirty="0"/>
              <a:t>，下一跳经过 </a:t>
            </a:r>
            <a:r>
              <a:rPr lang="en-US" altLang="zh-CN" dirty="0"/>
              <a:t>R2”</a:t>
            </a:r>
            <a:r>
              <a:rPr lang="zh-CN" altLang="en-US" dirty="0"/>
              <a:t>。然后将此更新信息发送给 </a:t>
            </a:r>
            <a:r>
              <a:rPr lang="en-US" altLang="zh-CN" dirty="0"/>
              <a:t>R2</a:t>
            </a:r>
            <a:endParaRPr lang="zh-CN" altLang="en-US" dirty="0"/>
          </a:p>
        </p:txBody>
      </p:sp>
      <p:sp>
        <p:nvSpPr>
          <p:cNvPr id="224" name="Line 50">
            <a:extLst>
              <a:ext uri="{FF2B5EF4-FFF2-40B4-BE49-F238E27FC236}">
                <a16:creationId xmlns:a16="http://schemas.microsoft.com/office/drawing/2014/main" id="{491F0B4E-656C-0A2F-9078-74C1740AC9A5}"/>
              </a:ext>
            </a:extLst>
          </p:cNvPr>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225" name="Picture 51">
            <a:extLst>
              <a:ext uri="{FF2B5EF4-FFF2-40B4-BE49-F238E27FC236}">
                <a16:creationId xmlns:a16="http://schemas.microsoft.com/office/drawing/2014/main" id="{E5FCE365-D365-12FB-ABCC-CF0F8EBF09B2}"/>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26" name="Text Box 52">
            <a:extLst>
              <a:ext uri="{FF2B5EF4-FFF2-40B4-BE49-F238E27FC236}">
                <a16:creationId xmlns:a16="http://schemas.microsoft.com/office/drawing/2014/main" id="{F180604E-2D7B-1BB1-513B-27DA7DE76D44}"/>
              </a:ext>
            </a:extLst>
          </p:cNvPr>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227" name="Text Box 53">
            <a:extLst>
              <a:ext uri="{FF2B5EF4-FFF2-40B4-BE49-F238E27FC236}">
                <a16:creationId xmlns:a16="http://schemas.microsoft.com/office/drawing/2014/main" id="{6FD87D70-4A94-EB50-1397-1E5ED19CF3FC}"/>
              </a:ext>
            </a:extLst>
          </p:cNvPr>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228" name="Picture 54">
            <a:extLst>
              <a:ext uri="{FF2B5EF4-FFF2-40B4-BE49-F238E27FC236}">
                <a16:creationId xmlns:a16="http://schemas.microsoft.com/office/drawing/2014/main" id="{B2F50305-7708-94B0-2718-CA7CA1D139CE}"/>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29" name="Group 55">
            <a:extLst>
              <a:ext uri="{FF2B5EF4-FFF2-40B4-BE49-F238E27FC236}">
                <a16:creationId xmlns:a16="http://schemas.microsoft.com/office/drawing/2014/main" id="{A858EF9A-B44D-4368-0752-2B5A402C27D0}"/>
              </a:ext>
            </a:extLst>
          </p:cNvPr>
          <p:cNvGrpSpPr>
            <a:grpSpLocks/>
          </p:cNvGrpSpPr>
          <p:nvPr/>
        </p:nvGrpSpPr>
        <p:grpSpPr bwMode="auto">
          <a:xfrm>
            <a:off x="1793796" y="1810273"/>
            <a:ext cx="783138" cy="526362"/>
            <a:chOff x="4830" y="1752"/>
            <a:chExt cx="667" cy="477"/>
          </a:xfrm>
          <a:solidFill>
            <a:srgbClr val="FF0000"/>
          </a:solidFill>
        </p:grpSpPr>
        <p:grpSp>
          <p:nvGrpSpPr>
            <p:cNvPr id="230" name="Group 56">
              <a:extLst>
                <a:ext uri="{FF2B5EF4-FFF2-40B4-BE49-F238E27FC236}">
                  <a16:creationId xmlns:a16="http://schemas.microsoft.com/office/drawing/2014/main" id="{2986FCD3-8005-BC5D-55C0-97DBB511435B}"/>
                </a:ext>
              </a:extLst>
            </p:cNvPr>
            <p:cNvGrpSpPr>
              <a:grpSpLocks/>
            </p:cNvGrpSpPr>
            <p:nvPr/>
          </p:nvGrpSpPr>
          <p:grpSpPr bwMode="auto">
            <a:xfrm>
              <a:off x="4830" y="1752"/>
              <a:ext cx="667" cy="477"/>
              <a:chOff x="2949" y="196"/>
              <a:chExt cx="941" cy="598"/>
            </a:xfrm>
            <a:grpFill/>
          </p:grpSpPr>
          <p:sp>
            <p:nvSpPr>
              <p:cNvPr id="232" name="Oval 57">
                <a:extLst>
                  <a:ext uri="{FF2B5EF4-FFF2-40B4-BE49-F238E27FC236}">
                    <a16:creationId xmlns:a16="http://schemas.microsoft.com/office/drawing/2014/main" id="{F637EBA4-8323-6069-4A63-E0737BF9DB51}"/>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3" name="Oval 58">
                <a:extLst>
                  <a:ext uri="{FF2B5EF4-FFF2-40B4-BE49-F238E27FC236}">
                    <a16:creationId xmlns:a16="http://schemas.microsoft.com/office/drawing/2014/main" id="{BEE03D22-9CDA-B361-D84E-E35F65A10FDB}"/>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4" name="Oval 59">
                <a:extLst>
                  <a:ext uri="{FF2B5EF4-FFF2-40B4-BE49-F238E27FC236}">
                    <a16:creationId xmlns:a16="http://schemas.microsoft.com/office/drawing/2014/main" id="{ED70078C-F681-27DE-0543-E594E2615680}"/>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5" name="Oval 60">
                <a:extLst>
                  <a:ext uri="{FF2B5EF4-FFF2-40B4-BE49-F238E27FC236}">
                    <a16:creationId xmlns:a16="http://schemas.microsoft.com/office/drawing/2014/main" id="{8E4F8E28-809B-B78E-B7E0-FFE683FC7B9C}"/>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6" name="Oval 61">
                <a:extLst>
                  <a:ext uri="{FF2B5EF4-FFF2-40B4-BE49-F238E27FC236}">
                    <a16:creationId xmlns:a16="http://schemas.microsoft.com/office/drawing/2014/main" id="{E0937D56-ACDE-59B3-F731-C2DBEB631281}"/>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7" name="Oval 62">
                <a:extLst>
                  <a:ext uri="{FF2B5EF4-FFF2-40B4-BE49-F238E27FC236}">
                    <a16:creationId xmlns:a16="http://schemas.microsoft.com/office/drawing/2014/main" id="{91757A44-3B8B-D976-7B38-E2262F7552C0}"/>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8" name="Oval 63">
                <a:extLst>
                  <a:ext uri="{FF2B5EF4-FFF2-40B4-BE49-F238E27FC236}">
                    <a16:creationId xmlns:a16="http://schemas.microsoft.com/office/drawing/2014/main" id="{FBEC54E1-8DA3-CB17-164B-27FC2B38C318}"/>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9" name="Oval 64">
                <a:extLst>
                  <a:ext uri="{FF2B5EF4-FFF2-40B4-BE49-F238E27FC236}">
                    <a16:creationId xmlns:a16="http://schemas.microsoft.com/office/drawing/2014/main" id="{99404132-0B0D-36A3-6C85-3D84E540B37E}"/>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40" name="Freeform 65">
                <a:extLst>
                  <a:ext uri="{FF2B5EF4-FFF2-40B4-BE49-F238E27FC236}">
                    <a16:creationId xmlns:a16="http://schemas.microsoft.com/office/drawing/2014/main" id="{3DEFC866-4638-8A8C-E1C8-BB83E7A4E5E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241" name="Freeform 66">
                <a:extLst>
                  <a:ext uri="{FF2B5EF4-FFF2-40B4-BE49-F238E27FC236}">
                    <a16:creationId xmlns:a16="http://schemas.microsoft.com/office/drawing/2014/main" id="{CBCC7CAE-D9A8-98F8-12D7-BD820092CB9B}"/>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242" name="Freeform 67">
                <a:extLst>
                  <a:ext uri="{FF2B5EF4-FFF2-40B4-BE49-F238E27FC236}">
                    <a16:creationId xmlns:a16="http://schemas.microsoft.com/office/drawing/2014/main" id="{2926C3B6-1120-7DE2-5859-4F9A10E833AD}"/>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231" name="Text Box 68">
              <a:extLst>
                <a:ext uri="{FF2B5EF4-FFF2-40B4-BE49-F238E27FC236}">
                  <a16:creationId xmlns:a16="http://schemas.microsoft.com/office/drawing/2014/main" id="{B9B116EB-1D6E-7270-450B-166B6A68C49A}"/>
                </a:ext>
              </a:extLst>
            </p:cNvPr>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243" name="Group 69">
            <a:extLst>
              <a:ext uri="{FF2B5EF4-FFF2-40B4-BE49-F238E27FC236}">
                <a16:creationId xmlns:a16="http://schemas.microsoft.com/office/drawing/2014/main" id="{39EDFF35-CB84-297A-0AAF-A559D1488082}"/>
              </a:ext>
            </a:extLst>
          </p:cNvPr>
          <p:cNvGrpSpPr>
            <a:grpSpLocks/>
          </p:cNvGrpSpPr>
          <p:nvPr/>
        </p:nvGrpSpPr>
        <p:grpSpPr bwMode="auto">
          <a:xfrm>
            <a:off x="6444139" y="1810273"/>
            <a:ext cx="783138" cy="526362"/>
            <a:chOff x="4830" y="1752"/>
            <a:chExt cx="667" cy="477"/>
          </a:xfrm>
          <a:solidFill>
            <a:schemeClr val="bg1"/>
          </a:solidFill>
        </p:grpSpPr>
        <p:grpSp>
          <p:nvGrpSpPr>
            <p:cNvPr id="244" name="Group 70">
              <a:extLst>
                <a:ext uri="{FF2B5EF4-FFF2-40B4-BE49-F238E27FC236}">
                  <a16:creationId xmlns:a16="http://schemas.microsoft.com/office/drawing/2014/main" id="{BB6DF740-CD51-0376-832B-78FFA3E07EC1}"/>
                </a:ext>
              </a:extLst>
            </p:cNvPr>
            <p:cNvGrpSpPr>
              <a:grpSpLocks/>
            </p:cNvGrpSpPr>
            <p:nvPr/>
          </p:nvGrpSpPr>
          <p:grpSpPr bwMode="auto">
            <a:xfrm>
              <a:off x="4830" y="1752"/>
              <a:ext cx="667" cy="477"/>
              <a:chOff x="2949" y="196"/>
              <a:chExt cx="941" cy="598"/>
            </a:xfrm>
            <a:grpFill/>
          </p:grpSpPr>
          <p:sp>
            <p:nvSpPr>
              <p:cNvPr id="246" name="Oval 71">
                <a:extLst>
                  <a:ext uri="{FF2B5EF4-FFF2-40B4-BE49-F238E27FC236}">
                    <a16:creationId xmlns:a16="http://schemas.microsoft.com/office/drawing/2014/main" id="{34EB5EE5-054C-5148-07F1-03F96269A3AE}"/>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47" name="Oval 72">
                <a:extLst>
                  <a:ext uri="{FF2B5EF4-FFF2-40B4-BE49-F238E27FC236}">
                    <a16:creationId xmlns:a16="http://schemas.microsoft.com/office/drawing/2014/main" id="{6B5CAA75-FC64-6097-7E5D-BF7FABA8BA4D}"/>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48" name="Oval 73">
                <a:extLst>
                  <a:ext uri="{FF2B5EF4-FFF2-40B4-BE49-F238E27FC236}">
                    <a16:creationId xmlns:a16="http://schemas.microsoft.com/office/drawing/2014/main" id="{B1223DF3-2FF3-D36E-7E1C-CA9416495E0F}"/>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49" name="Oval 74">
                <a:extLst>
                  <a:ext uri="{FF2B5EF4-FFF2-40B4-BE49-F238E27FC236}">
                    <a16:creationId xmlns:a16="http://schemas.microsoft.com/office/drawing/2014/main" id="{912FEA74-1113-5D07-BB3A-9B831397F980}"/>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0" name="Oval 75">
                <a:extLst>
                  <a:ext uri="{FF2B5EF4-FFF2-40B4-BE49-F238E27FC236}">
                    <a16:creationId xmlns:a16="http://schemas.microsoft.com/office/drawing/2014/main" id="{16E4040B-634E-A4F5-CA7A-14608754CC8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1" name="Oval 76">
                <a:extLst>
                  <a:ext uri="{FF2B5EF4-FFF2-40B4-BE49-F238E27FC236}">
                    <a16:creationId xmlns:a16="http://schemas.microsoft.com/office/drawing/2014/main" id="{1425AC6A-AA16-2AFF-773D-6A593AEBF5BA}"/>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2" name="Oval 77">
                <a:extLst>
                  <a:ext uri="{FF2B5EF4-FFF2-40B4-BE49-F238E27FC236}">
                    <a16:creationId xmlns:a16="http://schemas.microsoft.com/office/drawing/2014/main" id="{4C86681C-C2BC-0ED6-D172-9E337F5EF5A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3" name="Oval 78">
                <a:extLst>
                  <a:ext uri="{FF2B5EF4-FFF2-40B4-BE49-F238E27FC236}">
                    <a16:creationId xmlns:a16="http://schemas.microsoft.com/office/drawing/2014/main" id="{406AFE9C-DCD6-3623-8459-12D78D0CEA5C}"/>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4" name="Freeform 79">
                <a:extLst>
                  <a:ext uri="{FF2B5EF4-FFF2-40B4-BE49-F238E27FC236}">
                    <a16:creationId xmlns:a16="http://schemas.microsoft.com/office/drawing/2014/main" id="{2A04EF16-474A-FF8B-E368-859793187FE4}"/>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255" name="Freeform 80">
                <a:extLst>
                  <a:ext uri="{FF2B5EF4-FFF2-40B4-BE49-F238E27FC236}">
                    <a16:creationId xmlns:a16="http://schemas.microsoft.com/office/drawing/2014/main" id="{9B3E3E12-C4A7-3433-EB33-6CBD1F016429}"/>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256" name="Freeform 81">
                <a:extLst>
                  <a:ext uri="{FF2B5EF4-FFF2-40B4-BE49-F238E27FC236}">
                    <a16:creationId xmlns:a16="http://schemas.microsoft.com/office/drawing/2014/main" id="{3156E50E-61A4-A79C-6AA1-4E0BB63E9224}"/>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245" name="Text Box 82">
              <a:extLst>
                <a:ext uri="{FF2B5EF4-FFF2-40B4-BE49-F238E27FC236}">
                  <a16:creationId xmlns:a16="http://schemas.microsoft.com/office/drawing/2014/main" id="{E4C3C02A-4175-0ED7-7CD7-BA993B341471}"/>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257" name="Group 83">
            <a:extLst>
              <a:ext uri="{FF2B5EF4-FFF2-40B4-BE49-F238E27FC236}">
                <a16:creationId xmlns:a16="http://schemas.microsoft.com/office/drawing/2014/main" id="{4EFCBD09-EB86-5EE7-0EDB-7B316D4EE6C3}"/>
              </a:ext>
            </a:extLst>
          </p:cNvPr>
          <p:cNvGrpSpPr>
            <a:grpSpLocks/>
          </p:cNvGrpSpPr>
          <p:nvPr/>
        </p:nvGrpSpPr>
        <p:grpSpPr bwMode="auto">
          <a:xfrm>
            <a:off x="4099995" y="1810273"/>
            <a:ext cx="783138" cy="526362"/>
            <a:chOff x="4830" y="1752"/>
            <a:chExt cx="667" cy="477"/>
          </a:xfrm>
          <a:solidFill>
            <a:schemeClr val="bg1"/>
          </a:solidFill>
        </p:grpSpPr>
        <p:grpSp>
          <p:nvGrpSpPr>
            <p:cNvPr id="258" name="Group 84">
              <a:extLst>
                <a:ext uri="{FF2B5EF4-FFF2-40B4-BE49-F238E27FC236}">
                  <a16:creationId xmlns:a16="http://schemas.microsoft.com/office/drawing/2014/main" id="{9CBA263E-D888-1578-58D1-44310B75C439}"/>
                </a:ext>
              </a:extLst>
            </p:cNvPr>
            <p:cNvGrpSpPr>
              <a:grpSpLocks/>
            </p:cNvGrpSpPr>
            <p:nvPr/>
          </p:nvGrpSpPr>
          <p:grpSpPr bwMode="auto">
            <a:xfrm>
              <a:off x="4830" y="1752"/>
              <a:ext cx="667" cy="477"/>
              <a:chOff x="2949" y="196"/>
              <a:chExt cx="941" cy="598"/>
            </a:xfrm>
            <a:grpFill/>
          </p:grpSpPr>
          <p:sp>
            <p:nvSpPr>
              <p:cNvPr id="260" name="Oval 85">
                <a:extLst>
                  <a:ext uri="{FF2B5EF4-FFF2-40B4-BE49-F238E27FC236}">
                    <a16:creationId xmlns:a16="http://schemas.microsoft.com/office/drawing/2014/main" id="{2076BE17-F009-A8EC-1F90-ADA947B7F652}"/>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1" name="Oval 86">
                <a:extLst>
                  <a:ext uri="{FF2B5EF4-FFF2-40B4-BE49-F238E27FC236}">
                    <a16:creationId xmlns:a16="http://schemas.microsoft.com/office/drawing/2014/main" id="{0A3CB3C6-6551-7A73-A571-79E2BAD7CB30}"/>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2" name="Oval 87">
                <a:extLst>
                  <a:ext uri="{FF2B5EF4-FFF2-40B4-BE49-F238E27FC236}">
                    <a16:creationId xmlns:a16="http://schemas.microsoft.com/office/drawing/2014/main" id="{C7F5B806-FC61-6B53-3250-0A3F8E00C7E9}"/>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3" name="Oval 88">
                <a:extLst>
                  <a:ext uri="{FF2B5EF4-FFF2-40B4-BE49-F238E27FC236}">
                    <a16:creationId xmlns:a16="http://schemas.microsoft.com/office/drawing/2014/main" id="{41083931-3315-6769-6626-705AEAB1F500}"/>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4" name="Oval 89">
                <a:extLst>
                  <a:ext uri="{FF2B5EF4-FFF2-40B4-BE49-F238E27FC236}">
                    <a16:creationId xmlns:a16="http://schemas.microsoft.com/office/drawing/2014/main" id="{AE5C5555-B44C-AA0B-025C-9FBA832BB996}"/>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5" name="Oval 90">
                <a:extLst>
                  <a:ext uri="{FF2B5EF4-FFF2-40B4-BE49-F238E27FC236}">
                    <a16:creationId xmlns:a16="http://schemas.microsoft.com/office/drawing/2014/main" id="{DCEBE9BA-5E85-A122-F9E2-CFDC043257A0}"/>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6" name="Oval 91">
                <a:extLst>
                  <a:ext uri="{FF2B5EF4-FFF2-40B4-BE49-F238E27FC236}">
                    <a16:creationId xmlns:a16="http://schemas.microsoft.com/office/drawing/2014/main" id="{C2AFD9FE-A429-E4E2-E080-5529F1ABD00F}"/>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7" name="Oval 92">
                <a:extLst>
                  <a:ext uri="{FF2B5EF4-FFF2-40B4-BE49-F238E27FC236}">
                    <a16:creationId xmlns:a16="http://schemas.microsoft.com/office/drawing/2014/main" id="{B70B396D-A2A1-A3F7-8106-5D0B8BF841AC}"/>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8" name="Freeform 93">
                <a:extLst>
                  <a:ext uri="{FF2B5EF4-FFF2-40B4-BE49-F238E27FC236}">
                    <a16:creationId xmlns:a16="http://schemas.microsoft.com/office/drawing/2014/main" id="{8F7DE884-9AFE-A125-1E62-D2EEDC17172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269" name="Freeform 94">
                <a:extLst>
                  <a:ext uri="{FF2B5EF4-FFF2-40B4-BE49-F238E27FC236}">
                    <a16:creationId xmlns:a16="http://schemas.microsoft.com/office/drawing/2014/main" id="{8727BBDC-3366-CC8F-93EC-9E02F146989E}"/>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270" name="Freeform 95">
                <a:extLst>
                  <a:ext uri="{FF2B5EF4-FFF2-40B4-BE49-F238E27FC236}">
                    <a16:creationId xmlns:a16="http://schemas.microsoft.com/office/drawing/2014/main" id="{47F3F0A6-9052-9DE1-2AC6-35ECDAF34821}"/>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259" name="Text Box 96">
              <a:extLst>
                <a:ext uri="{FF2B5EF4-FFF2-40B4-BE49-F238E27FC236}">
                  <a16:creationId xmlns:a16="http://schemas.microsoft.com/office/drawing/2014/main" id="{34AA0909-308A-8361-5522-B3061FBDD23A}"/>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271" name="Line 2">
            <a:extLst>
              <a:ext uri="{FF2B5EF4-FFF2-40B4-BE49-F238E27FC236}">
                <a16:creationId xmlns:a16="http://schemas.microsoft.com/office/drawing/2014/main" id="{D63DDA0E-C4EA-5032-66F1-78BCFA5494BC}"/>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272" name="Picture 3">
            <a:extLst>
              <a:ext uri="{FF2B5EF4-FFF2-40B4-BE49-F238E27FC236}">
                <a16:creationId xmlns:a16="http://schemas.microsoft.com/office/drawing/2014/main" id="{56C12564-0374-20E0-D76D-2F98D325FD5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73" name="Text Box 4">
            <a:extLst>
              <a:ext uri="{FF2B5EF4-FFF2-40B4-BE49-F238E27FC236}">
                <a16:creationId xmlns:a16="http://schemas.microsoft.com/office/drawing/2014/main" id="{45291C63-0605-63F0-CCC1-AE753D675C1F}"/>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274" name="Text Box 5">
            <a:extLst>
              <a:ext uri="{FF2B5EF4-FFF2-40B4-BE49-F238E27FC236}">
                <a16:creationId xmlns:a16="http://schemas.microsoft.com/office/drawing/2014/main" id="{F1A3C555-E8A3-A4D9-6168-206286C6E6E8}"/>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275" name="Picture 6">
            <a:extLst>
              <a:ext uri="{FF2B5EF4-FFF2-40B4-BE49-F238E27FC236}">
                <a16:creationId xmlns:a16="http://schemas.microsoft.com/office/drawing/2014/main" id="{D534FB26-72E1-0D3F-59D0-8B4F222D0856}"/>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76" name="Group 7">
            <a:extLst>
              <a:ext uri="{FF2B5EF4-FFF2-40B4-BE49-F238E27FC236}">
                <a16:creationId xmlns:a16="http://schemas.microsoft.com/office/drawing/2014/main" id="{8A05CFCC-E2C7-353F-B2E6-4362E8D0076F}"/>
              </a:ext>
            </a:extLst>
          </p:cNvPr>
          <p:cNvGrpSpPr>
            <a:grpSpLocks/>
          </p:cNvGrpSpPr>
          <p:nvPr/>
        </p:nvGrpSpPr>
        <p:grpSpPr bwMode="auto">
          <a:xfrm>
            <a:off x="1793796" y="968576"/>
            <a:ext cx="783138" cy="526361"/>
            <a:chOff x="4830" y="1752"/>
            <a:chExt cx="667" cy="477"/>
          </a:xfrm>
          <a:solidFill>
            <a:schemeClr val="bg1"/>
          </a:solidFill>
        </p:grpSpPr>
        <p:grpSp>
          <p:nvGrpSpPr>
            <p:cNvPr id="277" name="Group 8">
              <a:extLst>
                <a:ext uri="{FF2B5EF4-FFF2-40B4-BE49-F238E27FC236}">
                  <a16:creationId xmlns:a16="http://schemas.microsoft.com/office/drawing/2014/main" id="{91B43265-217C-00F4-BAB9-2588AC159216}"/>
                </a:ext>
              </a:extLst>
            </p:cNvPr>
            <p:cNvGrpSpPr>
              <a:grpSpLocks/>
            </p:cNvGrpSpPr>
            <p:nvPr/>
          </p:nvGrpSpPr>
          <p:grpSpPr bwMode="auto">
            <a:xfrm>
              <a:off x="4830" y="1752"/>
              <a:ext cx="667" cy="477"/>
              <a:chOff x="2949" y="196"/>
              <a:chExt cx="941" cy="598"/>
            </a:xfrm>
            <a:grpFill/>
          </p:grpSpPr>
          <p:sp>
            <p:nvSpPr>
              <p:cNvPr id="279" name="Oval 9">
                <a:extLst>
                  <a:ext uri="{FF2B5EF4-FFF2-40B4-BE49-F238E27FC236}">
                    <a16:creationId xmlns:a16="http://schemas.microsoft.com/office/drawing/2014/main" id="{2CF6EB1C-1095-E44E-B95D-54063948A906}"/>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0" name="Oval 10">
                <a:extLst>
                  <a:ext uri="{FF2B5EF4-FFF2-40B4-BE49-F238E27FC236}">
                    <a16:creationId xmlns:a16="http://schemas.microsoft.com/office/drawing/2014/main" id="{CC3396C4-F10C-0238-3BB2-99908771C193}"/>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1" name="Oval 11">
                <a:extLst>
                  <a:ext uri="{FF2B5EF4-FFF2-40B4-BE49-F238E27FC236}">
                    <a16:creationId xmlns:a16="http://schemas.microsoft.com/office/drawing/2014/main" id="{D7E275D2-2754-D0FB-C663-6E2638D25343}"/>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2" name="Oval 12">
                <a:extLst>
                  <a:ext uri="{FF2B5EF4-FFF2-40B4-BE49-F238E27FC236}">
                    <a16:creationId xmlns:a16="http://schemas.microsoft.com/office/drawing/2014/main" id="{8E94DF9A-9B02-C14F-6823-11AF28627C66}"/>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3" name="Oval 13">
                <a:extLst>
                  <a:ext uri="{FF2B5EF4-FFF2-40B4-BE49-F238E27FC236}">
                    <a16:creationId xmlns:a16="http://schemas.microsoft.com/office/drawing/2014/main" id="{0B94AC66-2B89-A95F-C005-E2AB27E61880}"/>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4" name="Oval 14">
                <a:extLst>
                  <a:ext uri="{FF2B5EF4-FFF2-40B4-BE49-F238E27FC236}">
                    <a16:creationId xmlns:a16="http://schemas.microsoft.com/office/drawing/2014/main" id="{8E7FBF59-EF4A-69E5-3258-DB5A000BAFEB}"/>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5" name="Oval 15">
                <a:extLst>
                  <a:ext uri="{FF2B5EF4-FFF2-40B4-BE49-F238E27FC236}">
                    <a16:creationId xmlns:a16="http://schemas.microsoft.com/office/drawing/2014/main" id="{5BB1C62B-056E-1C16-3216-3F086283D5F2}"/>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6" name="Oval 16">
                <a:extLst>
                  <a:ext uri="{FF2B5EF4-FFF2-40B4-BE49-F238E27FC236}">
                    <a16:creationId xmlns:a16="http://schemas.microsoft.com/office/drawing/2014/main" id="{A33E389E-B4CF-CD65-2E15-D30254959D0C}"/>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7" name="Freeform 17">
                <a:extLst>
                  <a:ext uri="{FF2B5EF4-FFF2-40B4-BE49-F238E27FC236}">
                    <a16:creationId xmlns:a16="http://schemas.microsoft.com/office/drawing/2014/main" id="{44EC6FE5-34C7-41FC-282E-A465AE2AF75B}"/>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88" name="Freeform 18">
                <a:extLst>
                  <a:ext uri="{FF2B5EF4-FFF2-40B4-BE49-F238E27FC236}">
                    <a16:creationId xmlns:a16="http://schemas.microsoft.com/office/drawing/2014/main" id="{6469230D-4C44-BF19-26AB-32C8C0DCD804}"/>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89" name="Freeform 19">
                <a:extLst>
                  <a:ext uri="{FF2B5EF4-FFF2-40B4-BE49-F238E27FC236}">
                    <a16:creationId xmlns:a16="http://schemas.microsoft.com/office/drawing/2014/main" id="{70EEC011-B52A-7080-0020-00C59552EE8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78" name="Text Box 20">
              <a:extLst>
                <a:ext uri="{FF2B5EF4-FFF2-40B4-BE49-F238E27FC236}">
                  <a16:creationId xmlns:a16="http://schemas.microsoft.com/office/drawing/2014/main" id="{51C1AEB6-1466-B35B-6B74-25F25E31EDF9}"/>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290" name="Group 21">
            <a:extLst>
              <a:ext uri="{FF2B5EF4-FFF2-40B4-BE49-F238E27FC236}">
                <a16:creationId xmlns:a16="http://schemas.microsoft.com/office/drawing/2014/main" id="{AB8F7E9B-A281-51DA-59D3-88731E0DF29A}"/>
              </a:ext>
            </a:extLst>
          </p:cNvPr>
          <p:cNvGrpSpPr>
            <a:grpSpLocks/>
          </p:cNvGrpSpPr>
          <p:nvPr/>
        </p:nvGrpSpPr>
        <p:grpSpPr bwMode="auto">
          <a:xfrm>
            <a:off x="6444139" y="968580"/>
            <a:ext cx="783138" cy="526362"/>
            <a:chOff x="4830" y="1752"/>
            <a:chExt cx="667" cy="477"/>
          </a:xfrm>
          <a:solidFill>
            <a:schemeClr val="bg1"/>
          </a:solidFill>
        </p:grpSpPr>
        <p:grpSp>
          <p:nvGrpSpPr>
            <p:cNvPr id="291" name="Group 22">
              <a:extLst>
                <a:ext uri="{FF2B5EF4-FFF2-40B4-BE49-F238E27FC236}">
                  <a16:creationId xmlns:a16="http://schemas.microsoft.com/office/drawing/2014/main" id="{EA2CCAFB-7491-75B6-8140-49866CFBF497}"/>
                </a:ext>
              </a:extLst>
            </p:cNvPr>
            <p:cNvGrpSpPr>
              <a:grpSpLocks/>
            </p:cNvGrpSpPr>
            <p:nvPr/>
          </p:nvGrpSpPr>
          <p:grpSpPr bwMode="auto">
            <a:xfrm>
              <a:off x="4830" y="1752"/>
              <a:ext cx="667" cy="477"/>
              <a:chOff x="2949" y="196"/>
              <a:chExt cx="941" cy="598"/>
            </a:xfrm>
            <a:grpFill/>
          </p:grpSpPr>
          <p:sp>
            <p:nvSpPr>
              <p:cNvPr id="293" name="Oval 23">
                <a:extLst>
                  <a:ext uri="{FF2B5EF4-FFF2-40B4-BE49-F238E27FC236}">
                    <a16:creationId xmlns:a16="http://schemas.microsoft.com/office/drawing/2014/main" id="{40029C7C-6043-3488-1C18-4DDA98D744CC}"/>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4" name="Oval 24">
                <a:extLst>
                  <a:ext uri="{FF2B5EF4-FFF2-40B4-BE49-F238E27FC236}">
                    <a16:creationId xmlns:a16="http://schemas.microsoft.com/office/drawing/2014/main" id="{C1441EDE-350A-7F3F-247E-097C2318DDF8}"/>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5" name="Oval 25">
                <a:extLst>
                  <a:ext uri="{FF2B5EF4-FFF2-40B4-BE49-F238E27FC236}">
                    <a16:creationId xmlns:a16="http://schemas.microsoft.com/office/drawing/2014/main" id="{536D963C-78AC-4488-A909-244960E70218}"/>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6" name="Oval 26">
                <a:extLst>
                  <a:ext uri="{FF2B5EF4-FFF2-40B4-BE49-F238E27FC236}">
                    <a16:creationId xmlns:a16="http://schemas.microsoft.com/office/drawing/2014/main" id="{8AAAC55E-DED6-E891-D1FC-CC99C1F9B14A}"/>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7" name="Oval 27">
                <a:extLst>
                  <a:ext uri="{FF2B5EF4-FFF2-40B4-BE49-F238E27FC236}">
                    <a16:creationId xmlns:a16="http://schemas.microsoft.com/office/drawing/2014/main" id="{3349F5EB-7C6B-A32F-A583-DEDF234E485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8" name="Oval 28">
                <a:extLst>
                  <a:ext uri="{FF2B5EF4-FFF2-40B4-BE49-F238E27FC236}">
                    <a16:creationId xmlns:a16="http://schemas.microsoft.com/office/drawing/2014/main" id="{BD08A205-07B6-57CC-01F8-F989D7ED6393}"/>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9" name="Oval 29">
                <a:extLst>
                  <a:ext uri="{FF2B5EF4-FFF2-40B4-BE49-F238E27FC236}">
                    <a16:creationId xmlns:a16="http://schemas.microsoft.com/office/drawing/2014/main" id="{36D2018E-412C-F61A-C0E4-8C374F5BC11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0" name="Oval 30">
                <a:extLst>
                  <a:ext uri="{FF2B5EF4-FFF2-40B4-BE49-F238E27FC236}">
                    <a16:creationId xmlns:a16="http://schemas.microsoft.com/office/drawing/2014/main" id="{B77713F8-8D46-B69A-B956-5923747E41D0}"/>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1" name="Freeform 31">
                <a:extLst>
                  <a:ext uri="{FF2B5EF4-FFF2-40B4-BE49-F238E27FC236}">
                    <a16:creationId xmlns:a16="http://schemas.microsoft.com/office/drawing/2014/main" id="{A3F68655-73B8-B60B-D7CE-F5BA85F823C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02" name="Freeform 32">
                <a:extLst>
                  <a:ext uri="{FF2B5EF4-FFF2-40B4-BE49-F238E27FC236}">
                    <a16:creationId xmlns:a16="http://schemas.microsoft.com/office/drawing/2014/main" id="{769D8EC8-0E17-8AC2-2887-1DAC4FFC8D87}"/>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03" name="Freeform 33">
                <a:extLst>
                  <a:ext uri="{FF2B5EF4-FFF2-40B4-BE49-F238E27FC236}">
                    <a16:creationId xmlns:a16="http://schemas.microsoft.com/office/drawing/2014/main" id="{D0C02672-F5C9-C40D-82EB-685C577375C9}"/>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92" name="Text Box 34">
              <a:extLst>
                <a:ext uri="{FF2B5EF4-FFF2-40B4-BE49-F238E27FC236}">
                  <a16:creationId xmlns:a16="http://schemas.microsoft.com/office/drawing/2014/main" id="{81658672-E164-D7EB-EACB-54209A1D7E31}"/>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304" name="Group 35">
            <a:extLst>
              <a:ext uri="{FF2B5EF4-FFF2-40B4-BE49-F238E27FC236}">
                <a16:creationId xmlns:a16="http://schemas.microsoft.com/office/drawing/2014/main" id="{EB86D931-9C3A-7C40-AECE-2ADA01E0C081}"/>
              </a:ext>
            </a:extLst>
          </p:cNvPr>
          <p:cNvGrpSpPr>
            <a:grpSpLocks/>
          </p:cNvGrpSpPr>
          <p:nvPr/>
        </p:nvGrpSpPr>
        <p:grpSpPr bwMode="auto">
          <a:xfrm>
            <a:off x="4099995" y="968580"/>
            <a:ext cx="783138" cy="526362"/>
            <a:chOff x="4830" y="1752"/>
            <a:chExt cx="667" cy="477"/>
          </a:xfrm>
          <a:solidFill>
            <a:schemeClr val="bg1"/>
          </a:solidFill>
        </p:grpSpPr>
        <p:grpSp>
          <p:nvGrpSpPr>
            <p:cNvPr id="305" name="Group 36">
              <a:extLst>
                <a:ext uri="{FF2B5EF4-FFF2-40B4-BE49-F238E27FC236}">
                  <a16:creationId xmlns:a16="http://schemas.microsoft.com/office/drawing/2014/main" id="{3ABDE53B-4642-EF3F-C554-E21EC817A581}"/>
                </a:ext>
              </a:extLst>
            </p:cNvPr>
            <p:cNvGrpSpPr>
              <a:grpSpLocks/>
            </p:cNvGrpSpPr>
            <p:nvPr/>
          </p:nvGrpSpPr>
          <p:grpSpPr bwMode="auto">
            <a:xfrm>
              <a:off x="4830" y="1752"/>
              <a:ext cx="667" cy="477"/>
              <a:chOff x="2949" y="196"/>
              <a:chExt cx="941" cy="598"/>
            </a:xfrm>
            <a:grpFill/>
          </p:grpSpPr>
          <p:sp>
            <p:nvSpPr>
              <p:cNvPr id="307" name="Oval 37">
                <a:extLst>
                  <a:ext uri="{FF2B5EF4-FFF2-40B4-BE49-F238E27FC236}">
                    <a16:creationId xmlns:a16="http://schemas.microsoft.com/office/drawing/2014/main" id="{B5B2A996-4C5A-1CD7-BC63-7C74D51D898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8" name="Oval 38">
                <a:extLst>
                  <a:ext uri="{FF2B5EF4-FFF2-40B4-BE49-F238E27FC236}">
                    <a16:creationId xmlns:a16="http://schemas.microsoft.com/office/drawing/2014/main" id="{4C684547-4063-86B2-2425-72E79A642D7F}"/>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9" name="Oval 39">
                <a:extLst>
                  <a:ext uri="{FF2B5EF4-FFF2-40B4-BE49-F238E27FC236}">
                    <a16:creationId xmlns:a16="http://schemas.microsoft.com/office/drawing/2014/main" id="{412E2577-222A-BFA8-5D6C-4CA068888A39}"/>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0" name="Oval 40">
                <a:extLst>
                  <a:ext uri="{FF2B5EF4-FFF2-40B4-BE49-F238E27FC236}">
                    <a16:creationId xmlns:a16="http://schemas.microsoft.com/office/drawing/2014/main" id="{51E7121C-FEFA-CF34-B958-8432E8F092DE}"/>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1" name="Oval 41">
                <a:extLst>
                  <a:ext uri="{FF2B5EF4-FFF2-40B4-BE49-F238E27FC236}">
                    <a16:creationId xmlns:a16="http://schemas.microsoft.com/office/drawing/2014/main" id="{E203B0A7-0554-337B-64E1-B0965D418784}"/>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2" name="Oval 42">
                <a:extLst>
                  <a:ext uri="{FF2B5EF4-FFF2-40B4-BE49-F238E27FC236}">
                    <a16:creationId xmlns:a16="http://schemas.microsoft.com/office/drawing/2014/main" id="{79B151A9-9B02-8D33-5B02-36757A09574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3" name="Oval 43">
                <a:extLst>
                  <a:ext uri="{FF2B5EF4-FFF2-40B4-BE49-F238E27FC236}">
                    <a16:creationId xmlns:a16="http://schemas.microsoft.com/office/drawing/2014/main" id="{09B76D82-F6D3-65E9-A26F-FAFFFD00A1BB}"/>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4" name="Oval 44">
                <a:extLst>
                  <a:ext uri="{FF2B5EF4-FFF2-40B4-BE49-F238E27FC236}">
                    <a16:creationId xmlns:a16="http://schemas.microsoft.com/office/drawing/2014/main" id="{90572815-C013-DA15-C3DC-A5AA9E92B501}"/>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5" name="Freeform 45">
                <a:extLst>
                  <a:ext uri="{FF2B5EF4-FFF2-40B4-BE49-F238E27FC236}">
                    <a16:creationId xmlns:a16="http://schemas.microsoft.com/office/drawing/2014/main" id="{501212DF-1647-20FB-3713-A9511774F382}"/>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16" name="Freeform 46">
                <a:extLst>
                  <a:ext uri="{FF2B5EF4-FFF2-40B4-BE49-F238E27FC236}">
                    <a16:creationId xmlns:a16="http://schemas.microsoft.com/office/drawing/2014/main" id="{3510351F-C17E-201B-24D4-3B680DBEF56E}"/>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17" name="Freeform 47">
                <a:extLst>
                  <a:ext uri="{FF2B5EF4-FFF2-40B4-BE49-F238E27FC236}">
                    <a16:creationId xmlns:a16="http://schemas.microsoft.com/office/drawing/2014/main" id="{CADD30B7-B5DC-E79A-E7A1-CFBCAED85E24}"/>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306" name="Text Box 48">
              <a:extLst>
                <a:ext uri="{FF2B5EF4-FFF2-40B4-BE49-F238E27FC236}">
                  <a16:creationId xmlns:a16="http://schemas.microsoft.com/office/drawing/2014/main" id="{01C73E42-E01E-364A-7BA2-B062348CE7AA}"/>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318" name="表格 317">
            <a:extLst>
              <a:ext uri="{FF2B5EF4-FFF2-40B4-BE49-F238E27FC236}">
                <a16:creationId xmlns:a16="http://schemas.microsoft.com/office/drawing/2014/main" id="{A80D8C91-ACE9-AA27-4B63-6CB056241B1A}"/>
              </a:ext>
            </a:extLst>
          </p:cNvPr>
          <p:cNvGraphicFramePr>
            <a:graphicFrameLocks noGrp="1"/>
          </p:cNvGraphicFramePr>
          <p:nvPr>
            <p:extLst>
              <p:ext uri="{D42A27DB-BD31-4B8C-83A1-F6EECF244321}">
                <p14:modId xmlns:p14="http://schemas.microsoft.com/office/powerpoint/2010/main" val="372702064"/>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19" name="表格 318">
            <a:extLst>
              <a:ext uri="{FF2B5EF4-FFF2-40B4-BE49-F238E27FC236}">
                <a16:creationId xmlns:a16="http://schemas.microsoft.com/office/drawing/2014/main" id="{99D0F2FD-6D31-0542-8EEE-E926F683E165}"/>
              </a:ext>
            </a:extLst>
          </p:cNvPr>
          <p:cNvGraphicFramePr>
            <a:graphicFrameLocks noGrp="1"/>
          </p:cNvGraphicFramePr>
          <p:nvPr>
            <p:extLst>
              <p:ext uri="{D42A27DB-BD31-4B8C-83A1-F6EECF244321}">
                <p14:modId xmlns:p14="http://schemas.microsoft.com/office/powerpoint/2010/main" val="3713630121"/>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20" name="表格 319">
            <a:extLst>
              <a:ext uri="{FF2B5EF4-FFF2-40B4-BE49-F238E27FC236}">
                <a16:creationId xmlns:a16="http://schemas.microsoft.com/office/drawing/2014/main" id="{708EE40D-B60B-8B8F-E189-96D75672FA87}"/>
              </a:ext>
            </a:extLst>
          </p:cNvPr>
          <p:cNvGraphicFramePr>
            <a:graphicFrameLocks noGrp="1"/>
          </p:cNvGraphicFramePr>
          <p:nvPr>
            <p:extLst>
              <p:ext uri="{D42A27DB-BD31-4B8C-83A1-F6EECF244321}">
                <p14:modId xmlns:p14="http://schemas.microsoft.com/office/powerpoint/2010/main" val="678578313"/>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21" name="表格 320">
            <a:extLst>
              <a:ext uri="{FF2B5EF4-FFF2-40B4-BE49-F238E27FC236}">
                <a16:creationId xmlns:a16="http://schemas.microsoft.com/office/drawing/2014/main" id="{002C4C8B-D101-13ED-170A-C6C643F6F1AD}"/>
              </a:ext>
            </a:extLst>
          </p:cNvPr>
          <p:cNvGraphicFramePr>
            <a:graphicFrameLocks noGrp="1"/>
          </p:cNvGraphicFramePr>
          <p:nvPr>
            <p:extLst>
              <p:ext uri="{D42A27DB-BD31-4B8C-83A1-F6EECF244321}">
                <p14:modId xmlns:p14="http://schemas.microsoft.com/office/powerpoint/2010/main" val="1078456559"/>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22" name="表格 321">
            <a:extLst>
              <a:ext uri="{FF2B5EF4-FFF2-40B4-BE49-F238E27FC236}">
                <a16:creationId xmlns:a16="http://schemas.microsoft.com/office/drawing/2014/main" id="{17489632-99BD-6A0B-BD7A-B4EF0F7D45E0}"/>
              </a:ext>
            </a:extLst>
          </p:cNvPr>
          <p:cNvGraphicFramePr>
            <a:graphicFrameLocks noGrp="1"/>
          </p:cNvGraphicFramePr>
          <p:nvPr>
            <p:extLst>
              <p:ext uri="{D42A27DB-BD31-4B8C-83A1-F6EECF244321}">
                <p14:modId xmlns:p14="http://schemas.microsoft.com/office/powerpoint/2010/main" val="2897245779"/>
              </p:ext>
            </p:extLst>
          </p:nvPr>
        </p:nvGraphicFramePr>
        <p:xfrm>
          <a:off x="2553388" y="367171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1121721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Lst>
  </p:timing>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3034013"/>
            <a:ext cx="7200000" cy="324320"/>
          </a:xfrm>
          <a:prstGeom prst="rect">
            <a:avLst/>
          </a:prstGeom>
          <a:solidFill>
            <a:srgbClr val="00FF99"/>
          </a:solidFill>
          <a:ln w="9525">
            <a:noFill/>
            <a:miter lim="800000"/>
            <a:headEnd/>
            <a:tailEnd/>
          </a:ln>
          <a:effectLst/>
        </p:spPr>
        <p:txBody>
          <a:bodyPr wrap="square">
            <a:spAutoFit/>
          </a:bodyPr>
          <a:lstStyle/>
          <a:p>
            <a:pPr algn="just">
              <a:lnSpc>
                <a:spcPts val="2000"/>
              </a:lnSpc>
            </a:pPr>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2</a:t>
            </a:r>
            <a:r>
              <a:rPr kumimoji="1" lang="en-US" altLang="zh-CN" sz="1300" dirty="0">
                <a:latin typeface="Montserrat" panose="00000500000000000000" pitchFamily="2" charset="0"/>
                <a:ea typeface="微软雅黑" pitchFamily="34" charset="-122"/>
              </a:rPr>
              <a:t> </a:t>
            </a:r>
            <a:r>
              <a:rPr kumimoji="1" lang="zh-CN" altLang="en-US" sz="1300" dirty="0">
                <a:latin typeface="Montserrat" panose="00000500000000000000" pitchFamily="2" charset="0"/>
                <a:ea typeface="微软雅黑" pitchFamily="34" charset="-122"/>
              </a:rPr>
              <a:t>又更新自己的路由表为“</a:t>
            </a:r>
            <a:r>
              <a:rPr kumimoji="1" lang="en-US" altLang="zh-CN" sz="1300" dirty="0">
                <a:latin typeface="Montserrat" panose="00000500000000000000" pitchFamily="2" charset="0"/>
                <a:ea typeface="微软雅黑" pitchFamily="34" charset="-122"/>
              </a:rPr>
              <a:t>1, 4, R</a:t>
            </a:r>
            <a:r>
              <a:rPr kumimoji="1" lang="en-US" altLang="zh-CN" sz="1300" baseline="-25000" dirty="0">
                <a:latin typeface="Montserrat" panose="00000500000000000000" pitchFamily="2" charset="0"/>
                <a:ea typeface="微软雅黑" pitchFamily="34" charset="-122"/>
              </a:rPr>
              <a:t>1</a:t>
            </a:r>
            <a:r>
              <a:rPr kumimoji="1" lang="en-US" altLang="zh-CN" sz="1300" dirty="0">
                <a:latin typeface="Montserrat" panose="00000500000000000000" pitchFamily="2" charset="0"/>
                <a:ea typeface="微软雅黑" pitchFamily="34" charset="-122"/>
              </a:rPr>
              <a:t>”</a:t>
            </a:r>
            <a:r>
              <a:rPr kumimoji="1" lang="zh-CN" altLang="en-US" sz="1300" dirty="0">
                <a:latin typeface="Montserrat" panose="00000500000000000000" pitchFamily="2" charset="0"/>
                <a:ea typeface="微软雅黑" pitchFamily="34" charset="-122"/>
              </a:rPr>
              <a:t>，表明 “我到网 </a:t>
            </a:r>
            <a:r>
              <a:rPr kumimoji="1" lang="en-US" altLang="zh-CN" sz="1300" dirty="0">
                <a:latin typeface="Montserrat" panose="00000500000000000000" pitchFamily="2" charset="0"/>
                <a:ea typeface="微软雅黑" pitchFamily="34" charset="-122"/>
              </a:rPr>
              <a:t>1 </a:t>
            </a:r>
            <a:r>
              <a:rPr kumimoji="1" lang="zh-CN" altLang="en-US" sz="1300" dirty="0">
                <a:latin typeface="Montserrat" panose="00000500000000000000" pitchFamily="2" charset="0"/>
                <a:ea typeface="微软雅黑" pitchFamily="34" charset="-122"/>
              </a:rPr>
              <a:t>距离是 </a:t>
            </a:r>
            <a:r>
              <a:rPr kumimoji="1" lang="en-US" altLang="zh-CN" sz="1300" dirty="0">
                <a:latin typeface="Montserrat" panose="00000500000000000000" pitchFamily="2" charset="0"/>
                <a:ea typeface="微软雅黑" pitchFamily="34" charset="-122"/>
              </a:rPr>
              <a:t>4</a:t>
            </a:r>
            <a:r>
              <a:rPr kumimoji="1" lang="zh-CN" altLang="en-US" sz="1300" dirty="0">
                <a:latin typeface="Montserrat" panose="00000500000000000000" pitchFamily="2" charset="0"/>
                <a:ea typeface="微软雅黑" pitchFamily="34" charset="-122"/>
              </a:rPr>
              <a:t>，下一跳经过 </a:t>
            </a:r>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r>
              <a:rPr kumimoji="1" lang="en-US" altLang="zh-CN" sz="1300" dirty="0">
                <a:latin typeface="Montserrat" panose="00000500000000000000" pitchFamily="2" charset="0"/>
                <a:ea typeface="微软雅黑" pitchFamily="34" charset="-122"/>
              </a:rPr>
              <a:t>”</a:t>
            </a:r>
            <a:r>
              <a:rPr kumimoji="1" lang="zh-CN" altLang="en-US" sz="1300" dirty="0">
                <a:latin typeface="Montserrat" panose="00000500000000000000" pitchFamily="2" charset="0"/>
                <a:ea typeface="微软雅黑" pitchFamily="34" charset="-122"/>
              </a:rPr>
              <a:t> </a:t>
            </a:r>
          </a:p>
        </p:txBody>
      </p:sp>
      <p:sp>
        <p:nvSpPr>
          <p:cNvPr id="2" name="Line 50">
            <a:extLst>
              <a:ext uri="{FF2B5EF4-FFF2-40B4-BE49-F238E27FC236}">
                <a16:creationId xmlns:a16="http://schemas.microsoft.com/office/drawing/2014/main" id="{CBD0C040-363B-6CD7-7D68-B35358EC5405}"/>
              </a:ext>
            </a:extLst>
          </p:cNvPr>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00" name="Picture 51">
            <a:extLst>
              <a:ext uri="{FF2B5EF4-FFF2-40B4-BE49-F238E27FC236}">
                <a16:creationId xmlns:a16="http://schemas.microsoft.com/office/drawing/2014/main" id="{B973064B-34FA-D3D0-D1EE-650070A7F8C0}"/>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33" name="Text Box 52">
            <a:extLst>
              <a:ext uri="{FF2B5EF4-FFF2-40B4-BE49-F238E27FC236}">
                <a16:creationId xmlns:a16="http://schemas.microsoft.com/office/drawing/2014/main" id="{7CA6675A-F0CB-7CD6-F664-504CB7990916}"/>
              </a:ext>
            </a:extLst>
          </p:cNvPr>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134" name="Text Box 53">
            <a:extLst>
              <a:ext uri="{FF2B5EF4-FFF2-40B4-BE49-F238E27FC236}">
                <a16:creationId xmlns:a16="http://schemas.microsoft.com/office/drawing/2014/main" id="{8FAD9B39-FEF2-CD10-8F3E-1275662EA0C3}"/>
              </a:ext>
            </a:extLst>
          </p:cNvPr>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135" name="Picture 54">
            <a:extLst>
              <a:ext uri="{FF2B5EF4-FFF2-40B4-BE49-F238E27FC236}">
                <a16:creationId xmlns:a16="http://schemas.microsoft.com/office/drawing/2014/main" id="{E4CD02E8-3AFA-5981-3AD5-BCAF8A1CA4E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6" name="Group 55">
            <a:extLst>
              <a:ext uri="{FF2B5EF4-FFF2-40B4-BE49-F238E27FC236}">
                <a16:creationId xmlns:a16="http://schemas.microsoft.com/office/drawing/2014/main" id="{6CDEF1AE-77E1-3D83-CB80-0C44B874EA0D}"/>
              </a:ext>
            </a:extLst>
          </p:cNvPr>
          <p:cNvGrpSpPr>
            <a:grpSpLocks/>
          </p:cNvGrpSpPr>
          <p:nvPr/>
        </p:nvGrpSpPr>
        <p:grpSpPr bwMode="auto">
          <a:xfrm>
            <a:off x="1793796" y="1810273"/>
            <a:ext cx="783138" cy="526362"/>
            <a:chOff x="4830" y="1752"/>
            <a:chExt cx="667" cy="477"/>
          </a:xfrm>
          <a:solidFill>
            <a:srgbClr val="FF0000"/>
          </a:solidFill>
        </p:grpSpPr>
        <p:grpSp>
          <p:nvGrpSpPr>
            <p:cNvPr id="137" name="Group 56">
              <a:extLst>
                <a:ext uri="{FF2B5EF4-FFF2-40B4-BE49-F238E27FC236}">
                  <a16:creationId xmlns:a16="http://schemas.microsoft.com/office/drawing/2014/main" id="{A574DFB9-4F33-6A38-C290-B94FAADB5348}"/>
                </a:ext>
              </a:extLst>
            </p:cNvPr>
            <p:cNvGrpSpPr>
              <a:grpSpLocks/>
            </p:cNvGrpSpPr>
            <p:nvPr/>
          </p:nvGrpSpPr>
          <p:grpSpPr bwMode="auto">
            <a:xfrm>
              <a:off x="4830" y="1752"/>
              <a:ext cx="667" cy="477"/>
              <a:chOff x="2949" y="196"/>
              <a:chExt cx="941" cy="598"/>
            </a:xfrm>
            <a:grpFill/>
          </p:grpSpPr>
          <p:sp>
            <p:nvSpPr>
              <p:cNvPr id="139" name="Oval 57">
                <a:extLst>
                  <a:ext uri="{FF2B5EF4-FFF2-40B4-BE49-F238E27FC236}">
                    <a16:creationId xmlns:a16="http://schemas.microsoft.com/office/drawing/2014/main" id="{15E5C1D0-B9BE-E64A-5F2D-5EF91C37230F}"/>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0" name="Oval 58">
                <a:extLst>
                  <a:ext uri="{FF2B5EF4-FFF2-40B4-BE49-F238E27FC236}">
                    <a16:creationId xmlns:a16="http://schemas.microsoft.com/office/drawing/2014/main" id="{CF391DF3-2F64-821F-EC6B-C9355E3ADDE6}"/>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1" name="Oval 59">
                <a:extLst>
                  <a:ext uri="{FF2B5EF4-FFF2-40B4-BE49-F238E27FC236}">
                    <a16:creationId xmlns:a16="http://schemas.microsoft.com/office/drawing/2014/main" id="{9923C206-3D9F-DA38-810F-B6BCC83D8F02}"/>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2" name="Oval 60">
                <a:extLst>
                  <a:ext uri="{FF2B5EF4-FFF2-40B4-BE49-F238E27FC236}">
                    <a16:creationId xmlns:a16="http://schemas.microsoft.com/office/drawing/2014/main" id="{8385B523-905D-25D7-D14E-2387E1E92A3E}"/>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3" name="Oval 61">
                <a:extLst>
                  <a:ext uri="{FF2B5EF4-FFF2-40B4-BE49-F238E27FC236}">
                    <a16:creationId xmlns:a16="http://schemas.microsoft.com/office/drawing/2014/main" id="{D5047B15-76E9-F07F-64B2-1A8AEB85AFF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4" name="Oval 62">
                <a:extLst>
                  <a:ext uri="{FF2B5EF4-FFF2-40B4-BE49-F238E27FC236}">
                    <a16:creationId xmlns:a16="http://schemas.microsoft.com/office/drawing/2014/main" id="{10C6F091-380A-8EBC-454B-4F9AD52BE7BA}"/>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5" name="Oval 63">
                <a:extLst>
                  <a:ext uri="{FF2B5EF4-FFF2-40B4-BE49-F238E27FC236}">
                    <a16:creationId xmlns:a16="http://schemas.microsoft.com/office/drawing/2014/main" id="{7A78BBDD-1C00-1F0F-7EF5-304B8BBC1F77}"/>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6" name="Oval 64">
                <a:extLst>
                  <a:ext uri="{FF2B5EF4-FFF2-40B4-BE49-F238E27FC236}">
                    <a16:creationId xmlns:a16="http://schemas.microsoft.com/office/drawing/2014/main" id="{0FCDFE13-EB04-16C8-A033-D656B7E8A327}"/>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7" name="Freeform 65">
                <a:extLst>
                  <a:ext uri="{FF2B5EF4-FFF2-40B4-BE49-F238E27FC236}">
                    <a16:creationId xmlns:a16="http://schemas.microsoft.com/office/drawing/2014/main" id="{455B7129-10B3-0648-863D-DCA80BE8ED61}"/>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148" name="Freeform 66">
                <a:extLst>
                  <a:ext uri="{FF2B5EF4-FFF2-40B4-BE49-F238E27FC236}">
                    <a16:creationId xmlns:a16="http://schemas.microsoft.com/office/drawing/2014/main" id="{9803ED3D-041C-4B6F-D4AC-3B564CE98F48}"/>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149" name="Freeform 67">
                <a:extLst>
                  <a:ext uri="{FF2B5EF4-FFF2-40B4-BE49-F238E27FC236}">
                    <a16:creationId xmlns:a16="http://schemas.microsoft.com/office/drawing/2014/main" id="{5E6A50A2-CDBC-7FEC-1886-2F5A8AD2BDED}"/>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138" name="Text Box 68">
              <a:extLst>
                <a:ext uri="{FF2B5EF4-FFF2-40B4-BE49-F238E27FC236}">
                  <a16:creationId xmlns:a16="http://schemas.microsoft.com/office/drawing/2014/main" id="{F1C0FFEB-A4AA-1522-3465-7D6C42D50525}"/>
                </a:ext>
              </a:extLst>
            </p:cNvPr>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150" name="Group 69">
            <a:extLst>
              <a:ext uri="{FF2B5EF4-FFF2-40B4-BE49-F238E27FC236}">
                <a16:creationId xmlns:a16="http://schemas.microsoft.com/office/drawing/2014/main" id="{DD0F7675-32AC-AB78-2B39-3E13AC7B47B7}"/>
              </a:ext>
            </a:extLst>
          </p:cNvPr>
          <p:cNvGrpSpPr>
            <a:grpSpLocks/>
          </p:cNvGrpSpPr>
          <p:nvPr/>
        </p:nvGrpSpPr>
        <p:grpSpPr bwMode="auto">
          <a:xfrm>
            <a:off x="6444139" y="1810273"/>
            <a:ext cx="783138" cy="526362"/>
            <a:chOff x="4830" y="1752"/>
            <a:chExt cx="667" cy="477"/>
          </a:xfrm>
          <a:solidFill>
            <a:schemeClr val="bg1"/>
          </a:solidFill>
        </p:grpSpPr>
        <p:grpSp>
          <p:nvGrpSpPr>
            <p:cNvPr id="151" name="Group 70">
              <a:extLst>
                <a:ext uri="{FF2B5EF4-FFF2-40B4-BE49-F238E27FC236}">
                  <a16:creationId xmlns:a16="http://schemas.microsoft.com/office/drawing/2014/main" id="{DDEDA95F-F153-A8EA-1381-5CEA5C410765}"/>
                </a:ext>
              </a:extLst>
            </p:cNvPr>
            <p:cNvGrpSpPr>
              <a:grpSpLocks/>
            </p:cNvGrpSpPr>
            <p:nvPr/>
          </p:nvGrpSpPr>
          <p:grpSpPr bwMode="auto">
            <a:xfrm>
              <a:off x="4830" y="1752"/>
              <a:ext cx="667" cy="477"/>
              <a:chOff x="2949" y="196"/>
              <a:chExt cx="941" cy="598"/>
            </a:xfrm>
            <a:grpFill/>
          </p:grpSpPr>
          <p:sp>
            <p:nvSpPr>
              <p:cNvPr id="153" name="Oval 71">
                <a:extLst>
                  <a:ext uri="{FF2B5EF4-FFF2-40B4-BE49-F238E27FC236}">
                    <a16:creationId xmlns:a16="http://schemas.microsoft.com/office/drawing/2014/main" id="{1BCFE63B-3456-B4C2-5740-0565E020750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4" name="Oval 72">
                <a:extLst>
                  <a:ext uri="{FF2B5EF4-FFF2-40B4-BE49-F238E27FC236}">
                    <a16:creationId xmlns:a16="http://schemas.microsoft.com/office/drawing/2014/main" id="{417C8573-A71B-5475-7EC0-7281073DC78B}"/>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5" name="Oval 73">
                <a:extLst>
                  <a:ext uri="{FF2B5EF4-FFF2-40B4-BE49-F238E27FC236}">
                    <a16:creationId xmlns:a16="http://schemas.microsoft.com/office/drawing/2014/main" id="{3193A053-B9FF-AD66-48C3-F45A69C9F1AA}"/>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6" name="Oval 74">
                <a:extLst>
                  <a:ext uri="{FF2B5EF4-FFF2-40B4-BE49-F238E27FC236}">
                    <a16:creationId xmlns:a16="http://schemas.microsoft.com/office/drawing/2014/main" id="{7E687FBA-36BE-830B-1A9B-C7118DD62700}"/>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7" name="Oval 75">
                <a:extLst>
                  <a:ext uri="{FF2B5EF4-FFF2-40B4-BE49-F238E27FC236}">
                    <a16:creationId xmlns:a16="http://schemas.microsoft.com/office/drawing/2014/main" id="{3E0D5E3F-3B46-C721-DB26-86C6D826A179}"/>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8" name="Oval 76">
                <a:extLst>
                  <a:ext uri="{FF2B5EF4-FFF2-40B4-BE49-F238E27FC236}">
                    <a16:creationId xmlns:a16="http://schemas.microsoft.com/office/drawing/2014/main" id="{964D7616-65EA-06FD-2DFC-82C4DE92C59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9" name="Oval 77">
                <a:extLst>
                  <a:ext uri="{FF2B5EF4-FFF2-40B4-BE49-F238E27FC236}">
                    <a16:creationId xmlns:a16="http://schemas.microsoft.com/office/drawing/2014/main" id="{46926DE8-0133-AFD8-7AB3-CCB2C0A6A885}"/>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60" name="Oval 78">
                <a:extLst>
                  <a:ext uri="{FF2B5EF4-FFF2-40B4-BE49-F238E27FC236}">
                    <a16:creationId xmlns:a16="http://schemas.microsoft.com/office/drawing/2014/main" id="{0FB894E7-69C8-0747-D0A7-61D3C7720C39}"/>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61" name="Freeform 79">
                <a:extLst>
                  <a:ext uri="{FF2B5EF4-FFF2-40B4-BE49-F238E27FC236}">
                    <a16:creationId xmlns:a16="http://schemas.microsoft.com/office/drawing/2014/main" id="{C87D7682-02E9-083A-BE2C-9E6C95EE7E80}"/>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162" name="Freeform 80">
                <a:extLst>
                  <a:ext uri="{FF2B5EF4-FFF2-40B4-BE49-F238E27FC236}">
                    <a16:creationId xmlns:a16="http://schemas.microsoft.com/office/drawing/2014/main" id="{F2657A3F-2410-6963-5A96-7922E1D2C680}"/>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163" name="Freeform 81">
                <a:extLst>
                  <a:ext uri="{FF2B5EF4-FFF2-40B4-BE49-F238E27FC236}">
                    <a16:creationId xmlns:a16="http://schemas.microsoft.com/office/drawing/2014/main" id="{233B5663-25DA-CD43-5658-D801CCAF939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152" name="Text Box 82">
              <a:extLst>
                <a:ext uri="{FF2B5EF4-FFF2-40B4-BE49-F238E27FC236}">
                  <a16:creationId xmlns:a16="http://schemas.microsoft.com/office/drawing/2014/main" id="{9A74BF5C-5117-5832-68BC-74B0D8B3CB41}"/>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164" name="Group 83">
            <a:extLst>
              <a:ext uri="{FF2B5EF4-FFF2-40B4-BE49-F238E27FC236}">
                <a16:creationId xmlns:a16="http://schemas.microsoft.com/office/drawing/2014/main" id="{83F6CFFA-179D-8185-7FC6-FA958CE02C1C}"/>
              </a:ext>
            </a:extLst>
          </p:cNvPr>
          <p:cNvGrpSpPr>
            <a:grpSpLocks/>
          </p:cNvGrpSpPr>
          <p:nvPr/>
        </p:nvGrpSpPr>
        <p:grpSpPr bwMode="auto">
          <a:xfrm>
            <a:off x="4099995" y="1810273"/>
            <a:ext cx="783138" cy="526362"/>
            <a:chOff x="4830" y="1752"/>
            <a:chExt cx="667" cy="477"/>
          </a:xfrm>
          <a:solidFill>
            <a:schemeClr val="bg1"/>
          </a:solidFill>
        </p:grpSpPr>
        <p:grpSp>
          <p:nvGrpSpPr>
            <p:cNvPr id="165" name="Group 84">
              <a:extLst>
                <a:ext uri="{FF2B5EF4-FFF2-40B4-BE49-F238E27FC236}">
                  <a16:creationId xmlns:a16="http://schemas.microsoft.com/office/drawing/2014/main" id="{F8D3EBF7-9CC6-97C5-5B78-2F29A5EBDC95}"/>
                </a:ext>
              </a:extLst>
            </p:cNvPr>
            <p:cNvGrpSpPr>
              <a:grpSpLocks/>
            </p:cNvGrpSpPr>
            <p:nvPr/>
          </p:nvGrpSpPr>
          <p:grpSpPr bwMode="auto">
            <a:xfrm>
              <a:off x="4830" y="1752"/>
              <a:ext cx="667" cy="477"/>
              <a:chOff x="2949" y="196"/>
              <a:chExt cx="941" cy="598"/>
            </a:xfrm>
            <a:grpFill/>
          </p:grpSpPr>
          <p:sp>
            <p:nvSpPr>
              <p:cNvPr id="167" name="Oval 85">
                <a:extLst>
                  <a:ext uri="{FF2B5EF4-FFF2-40B4-BE49-F238E27FC236}">
                    <a16:creationId xmlns:a16="http://schemas.microsoft.com/office/drawing/2014/main" id="{A422086C-5BA0-9AE2-DE81-37D97C5CA9E1}"/>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68" name="Oval 86">
                <a:extLst>
                  <a:ext uri="{FF2B5EF4-FFF2-40B4-BE49-F238E27FC236}">
                    <a16:creationId xmlns:a16="http://schemas.microsoft.com/office/drawing/2014/main" id="{9FE6B166-2EE9-9A37-0EF4-9F3C728D9842}"/>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69" name="Oval 87">
                <a:extLst>
                  <a:ext uri="{FF2B5EF4-FFF2-40B4-BE49-F238E27FC236}">
                    <a16:creationId xmlns:a16="http://schemas.microsoft.com/office/drawing/2014/main" id="{B365235D-CE4D-AA92-BB18-A3F1D05C5943}"/>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0" name="Oval 88">
                <a:extLst>
                  <a:ext uri="{FF2B5EF4-FFF2-40B4-BE49-F238E27FC236}">
                    <a16:creationId xmlns:a16="http://schemas.microsoft.com/office/drawing/2014/main" id="{2F84834A-B0ED-615C-3406-520A8BE6B883}"/>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1" name="Oval 89">
                <a:extLst>
                  <a:ext uri="{FF2B5EF4-FFF2-40B4-BE49-F238E27FC236}">
                    <a16:creationId xmlns:a16="http://schemas.microsoft.com/office/drawing/2014/main" id="{8B3F3AAA-884F-DADF-AD15-837F1B7482C9}"/>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2" name="Oval 90">
                <a:extLst>
                  <a:ext uri="{FF2B5EF4-FFF2-40B4-BE49-F238E27FC236}">
                    <a16:creationId xmlns:a16="http://schemas.microsoft.com/office/drawing/2014/main" id="{FE81865D-6217-CE0D-59E9-49ED3D41AFC0}"/>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3" name="Oval 91">
                <a:extLst>
                  <a:ext uri="{FF2B5EF4-FFF2-40B4-BE49-F238E27FC236}">
                    <a16:creationId xmlns:a16="http://schemas.microsoft.com/office/drawing/2014/main" id="{D6461B01-F357-2729-3802-DFD479256036}"/>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4" name="Oval 92">
                <a:extLst>
                  <a:ext uri="{FF2B5EF4-FFF2-40B4-BE49-F238E27FC236}">
                    <a16:creationId xmlns:a16="http://schemas.microsoft.com/office/drawing/2014/main" id="{3C59DB4D-0E52-5682-9AF3-87914A04FC84}"/>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5" name="Freeform 93">
                <a:extLst>
                  <a:ext uri="{FF2B5EF4-FFF2-40B4-BE49-F238E27FC236}">
                    <a16:creationId xmlns:a16="http://schemas.microsoft.com/office/drawing/2014/main" id="{9844358A-F55F-DCCD-30F0-4A88547978E8}"/>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176" name="Freeform 94">
                <a:extLst>
                  <a:ext uri="{FF2B5EF4-FFF2-40B4-BE49-F238E27FC236}">
                    <a16:creationId xmlns:a16="http://schemas.microsoft.com/office/drawing/2014/main" id="{10E473F3-E789-3CE5-FA70-2E290A8ACB20}"/>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177" name="Freeform 95">
                <a:extLst>
                  <a:ext uri="{FF2B5EF4-FFF2-40B4-BE49-F238E27FC236}">
                    <a16:creationId xmlns:a16="http://schemas.microsoft.com/office/drawing/2014/main" id="{06BE0C67-11EB-917B-1C8A-354528C6FDE9}"/>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166" name="Text Box 96">
              <a:extLst>
                <a:ext uri="{FF2B5EF4-FFF2-40B4-BE49-F238E27FC236}">
                  <a16:creationId xmlns:a16="http://schemas.microsoft.com/office/drawing/2014/main" id="{FA51BCA4-78E7-0DCC-4D58-0E5EBFD4BB4E}"/>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178" name="Line 2">
            <a:extLst>
              <a:ext uri="{FF2B5EF4-FFF2-40B4-BE49-F238E27FC236}">
                <a16:creationId xmlns:a16="http://schemas.microsoft.com/office/drawing/2014/main" id="{0B253F46-451A-485D-6863-EE5B9C7C8658}"/>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79" name="Picture 3">
            <a:extLst>
              <a:ext uri="{FF2B5EF4-FFF2-40B4-BE49-F238E27FC236}">
                <a16:creationId xmlns:a16="http://schemas.microsoft.com/office/drawing/2014/main" id="{486CFA3F-21B7-A1FF-2090-5C5C123B4948}"/>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0" name="Text Box 4">
            <a:extLst>
              <a:ext uri="{FF2B5EF4-FFF2-40B4-BE49-F238E27FC236}">
                <a16:creationId xmlns:a16="http://schemas.microsoft.com/office/drawing/2014/main" id="{6D4DA6BB-052E-83D8-7C19-B68B4231F56F}"/>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81" name="Text Box 5">
            <a:extLst>
              <a:ext uri="{FF2B5EF4-FFF2-40B4-BE49-F238E27FC236}">
                <a16:creationId xmlns:a16="http://schemas.microsoft.com/office/drawing/2014/main" id="{647A87A0-8E91-45CA-BBE1-64E4523ED158}"/>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82" name="Picture 6">
            <a:extLst>
              <a:ext uri="{FF2B5EF4-FFF2-40B4-BE49-F238E27FC236}">
                <a16:creationId xmlns:a16="http://schemas.microsoft.com/office/drawing/2014/main" id="{28749127-209A-8904-C869-D58796FC513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83" name="Group 7">
            <a:extLst>
              <a:ext uri="{FF2B5EF4-FFF2-40B4-BE49-F238E27FC236}">
                <a16:creationId xmlns:a16="http://schemas.microsoft.com/office/drawing/2014/main" id="{F6F1DE82-CC1E-60C3-C9DA-BE961CC30C21}"/>
              </a:ext>
            </a:extLst>
          </p:cNvPr>
          <p:cNvGrpSpPr>
            <a:grpSpLocks/>
          </p:cNvGrpSpPr>
          <p:nvPr/>
        </p:nvGrpSpPr>
        <p:grpSpPr bwMode="auto">
          <a:xfrm>
            <a:off x="1793796" y="968576"/>
            <a:ext cx="783138" cy="526361"/>
            <a:chOff x="4830" y="1752"/>
            <a:chExt cx="667" cy="477"/>
          </a:xfrm>
          <a:solidFill>
            <a:schemeClr val="bg1"/>
          </a:solidFill>
        </p:grpSpPr>
        <p:grpSp>
          <p:nvGrpSpPr>
            <p:cNvPr id="184" name="Group 8">
              <a:extLst>
                <a:ext uri="{FF2B5EF4-FFF2-40B4-BE49-F238E27FC236}">
                  <a16:creationId xmlns:a16="http://schemas.microsoft.com/office/drawing/2014/main" id="{3CB62DE0-1BAD-B088-CCC5-061005CB2A6B}"/>
                </a:ext>
              </a:extLst>
            </p:cNvPr>
            <p:cNvGrpSpPr>
              <a:grpSpLocks/>
            </p:cNvGrpSpPr>
            <p:nvPr/>
          </p:nvGrpSpPr>
          <p:grpSpPr bwMode="auto">
            <a:xfrm>
              <a:off x="4830" y="1752"/>
              <a:ext cx="667" cy="477"/>
              <a:chOff x="2949" y="196"/>
              <a:chExt cx="941" cy="598"/>
            </a:xfrm>
            <a:grpFill/>
          </p:grpSpPr>
          <p:sp>
            <p:nvSpPr>
              <p:cNvPr id="186" name="Oval 9">
                <a:extLst>
                  <a:ext uri="{FF2B5EF4-FFF2-40B4-BE49-F238E27FC236}">
                    <a16:creationId xmlns:a16="http://schemas.microsoft.com/office/drawing/2014/main" id="{C24CC004-46D0-A49B-CE70-8304B3F92E55}"/>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7" name="Oval 10">
                <a:extLst>
                  <a:ext uri="{FF2B5EF4-FFF2-40B4-BE49-F238E27FC236}">
                    <a16:creationId xmlns:a16="http://schemas.microsoft.com/office/drawing/2014/main" id="{8A82DD35-C3EE-2A82-EC63-B1FC453E8678}"/>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8" name="Oval 11">
                <a:extLst>
                  <a:ext uri="{FF2B5EF4-FFF2-40B4-BE49-F238E27FC236}">
                    <a16:creationId xmlns:a16="http://schemas.microsoft.com/office/drawing/2014/main" id="{F25830C5-998B-7D6B-6652-B506E0C06C37}"/>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9" name="Oval 12">
                <a:extLst>
                  <a:ext uri="{FF2B5EF4-FFF2-40B4-BE49-F238E27FC236}">
                    <a16:creationId xmlns:a16="http://schemas.microsoft.com/office/drawing/2014/main" id="{54190984-B099-3560-484E-7B07B9A9BD3E}"/>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0" name="Oval 13">
                <a:extLst>
                  <a:ext uri="{FF2B5EF4-FFF2-40B4-BE49-F238E27FC236}">
                    <a16:creationId xmlns:a16="http://schemas.microsoft.com/office/drawing/2014/main" id="{21542A0E-4804-F86E-9383-3CBB74144007}"/>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1" name="Oval 14">
                <a:extLst>
                  <a:ext uri="{FF2B5EF4-FFF2-40B4-BE49-F238E27FC236}">
                    <a16:creationId xmlns:a16="http://schemas.microsoft.com/office/drawing/2014/main" id="{FC30A7E3-621C-0120-798F-4477B3D2D611}"/>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2" name="Oval 15">
                <a:extLst>
                  <a:ext uri="{FF2B5EF4-FFF2-40B4-BE49-F238E27FC236}">
                    <a16:creationId xmlns:a16="http://schemas.microsoft.com/office/drawing/2014/main" id="{045314FB-EB19-7FDD-35F3-A9E2D766D684}"/>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3" name="Oval 16">
                <a:extLst>
                  <a:ext uri="{FF2B5EF4-FFF2-40B4-BE49-F238E27FC236}">
                    <a16:creationId xmlns:a16="http://schemas.microsoft.com/office/drawing/2014/main" id="{D1065264-54A9-AF43-EFF7-3458C8188A7D}"/>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4" name="Freeform 17">
                <a:extLst>
                  <a:ext uri="{FF2B5EF4-FFF2-40B4-BE49-F238E27FC236}">
                    <a16:creationId xmlns:a16="http://schemas.microsoft.com/office/drawing/2014/main" id="{02DE6179-8EB5-EFC6-11EC-C82426144D31}"/>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95" name="Freeform 18">
                <a:extLst>
                  <a:ext uri="{FF2B5EF4-FFF2-40B4-BE49-F238E27FC236}">
                    <a16:creationId xmlns:a16="http://schemas.microsoft.com/office/drawing/2014/main" id="{C8F3CEE4-57DE-AAB0-6688-3BE48A85F7A7}"/>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96" name="Freeform 19">
                <a:extLst>
                  <a:ext uri="{FF2B5EF4-FFF2-40B4-BE49-F238E27FC236}">
                    <a16:creationId xmlns:a16="http://schemas.microsoft.com/office/drawing/2014/main" id="{9088A7D8-1580-2E92-50A5-8529F6A0ED5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85" name="Text Box 20">
              <a:extLst>
                <a:ext uri="{FF2B5EF4-FFF2-40B4-BE49-F238E27FC236}">
                  <a16:creationId xmlns:a16="http://schemas.microsoft.com/office/drawing/2014/main" id="{D3D74A00-5772-5E2E-7100-D0B05043EA13}"/>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197" name="Group 21">
            <a:extLst>
              <a:ext uri="{FF2B5EF4-FFF2-40B4-BE49-F238E27FC236}">
                <a16:creationId xmlns:a16="http://schemas.microsoft.com/office/drawing/2014/main" id="{B5A80012-1C37-6CD0-56D3-747503096052}"/>
              </a:ext>
            </a:extLst>
          </p:cNvPr>
          <p:cNvGrpSpPr>
            <a:grpSpLocks/>
          </p:cNvGrpSpPr>
          <p:nvPr/>
        </p:nvGrpSpPr>
        <p:grpSpPr bwMode="auto">
          <a:xfrm>
            <a:off x="6444139" y="968580"/>
            <a:ext cx="783138" cy="526362"/>
            <a:chOff x="4830" y="1752"/>
            <a:chExt cx="667" cy="477"/>
          </a:xfrm>
          <a:solidFill>
            <a:schemeClr val="bg1"/>
          </a:solidFill>
        </p:grpSpPr>
        <p:grpSp>
          <p:nvGrpSpPr>
            <p:cNvPr id="198" name="Group 22">
              <a:extLst>
                <a:ext uri="{FF2B5EF4-FFF2-40B4-BE49-F238E27FC236}">
                  <a16:creationId xmlns:a16="http://schemas.microsoft.com/office/drawing/2014/main" id="{E93BBE06-C4AA-6C5C-F396-31D5D8AC8974}"/>
                </a:ext>
              </a:extLst>
            </p:cNvPr>
            <p:cNvGrpSpPr>
              <a:grpSpLocks/>
            </p:cNvGrpSpPr>
            <p:nvPr/>
          </p:nvGrpSpPr>
          <p:grpSpPr bwMode="auto">
            <a:xfrm>
              <a:off x="4830" y="1752"/>
              <a:ext cx="667" cy="477"/>
              <a:chOff x="2949" y="196"/>
              <a:chExt cx="941" cy="598"/>
            </a:xfrm>
            <a:grpFill/>
          </p:grpSpPr>
          <p:sp>
            <p:nvSpPr>
              <p:cNvPr id="200" name="Oval 23">
                <a:extLst>
                  <a:ext uri="{FF2B5EF4-FFF2-40B4-BE49-F238E27FC236}">
                    <a16:creationId xmlns:a16="http://schemas.microsoft.com/office/drawing/2014/main" id="{98C05F75-2CEA-D11D-3DAA-23DEBACE874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1" name="Oval 24">
                <a:extLst>
                  <a:ext uri="{FF2B5EF4-FFF2-40B4-BE49-F238E27FC236}">
                    <a16:creationId xmlns:a16="http://schemas.microsoft.com/office/drawing/2014/main" id="{449F0A64-E169-08B4-6A69-FF25C8CDCC0C}"/>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2" name="Oval 25">
                <a:extLst>
                  <a:ext uri="{FF2B5EF4-FFF2-40B4-BE49-F238E27FC236}">
                    <a16:creationId xmlns:a16="http://schemas.microsoft.com/office/drawing/2014/main" id="{D14F0D3F-65BC-193C-9675-A2CD0238D0CD}"/>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3" name="Oval 26">
                <a:extLst>
                  <a:ext uri="{FF2B5EF4-FFF2-40B4-BE49-F238E27FC236}">
                    <a16:creationId xmlns:a16="http://schemas.microsoft.com/office/drawing/2014/main" id="{AFAD1ABC-89D4-F128-E85C-985721AA5207}"/>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4" name="Oval 27">
                <a:extLst>
                  <a:ext uri="{FF2B5EF4-FFF2-40B4-BE49-F238E27FC236}">
                    <a16:creationId xmlns:a16="http://schemas.microsoft.com/office/drawing/2014/main" id="{46BA3457-805C-66FB-FB84-B60C72B43D37}"/>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5" name="Oval 28">
                <a:extLst>
                  <a:ext uri="{FF2B5EF4-FFF2-40B4-BE49-F238E27FC236}">
                    <a16:creationId xmlns:a16="http://schemas.microsoft.com/office/drawing/2014/main" id="{D6E478B0-0FE8-976F-3EF8-7419A7B4AE8A}"/>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6" name="Oval 29">
                <a:extLst>
                  <a:ext uri="{FF2B5EF4-FFF2-40B4-BE49-F238E27FC236}">
                    <a16:creationId xmlns:a16="http://schemas.microsoft.com/office/drawing/2014/main" id="{B146A1F4-FB22-07F0-344C-34C634C8F1B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7" name="Oval 30">
                <a:extLst>
                  <a:ext uri="{FF2B5EF4-FFF2-40B4-BE49-F238E27FC236}">
                    <a16:creationId xmlns:a16="http://schemas.microsoft.com/office/drawing/2014/main" id="{DD5967F1-3CB9-102D-4CBC-AFA5259CF5DF}"/>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8" name="Freeform 31">
                <a:extLst>
                  <a:ext uri="{FF2B5EF4-FFF2-40B4-BE49-F238E27FC236}">
                    <a16:creationId xmlns:a16="http://schemas.microsoft.com/office/drawing/2014/main" id="{A216401B-05BC-53DE-3ECD-CD5A6ADA788A}"/>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09" name="Freeform 32">
                <a:extLst>
                  <a:ext uri="{FF2B5EF4-FFF2-40B4-BE49-F238E27FC236}">
                    <a16:creationId xmlns:a16="http://schemas.microsoft.com/office/drawing/2014/main" id="{5F72ABA9-9DD0-D84E-CD03-2703F29A857E}"/>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10" name="Freeform 33">
                <a:extLst>
                  <a:ext uri="{FF2B5EF4-FFF2-40B4-BE49-F238E27FC236}">
                    <a16:creationId xmlns:a16="http://schemas.microsoft.com/office/drawing/2014/main" id="{64C83A67-47F9-7E33-6D22-D7ACEDF3A437}"/>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99" name="Text Box 34">
              <a:extLst>
                <a:ext uri="{FF2B5EF4-FFF2-40B4-BE49-F238E27FC236}">
                  <a16:creationId xmlns:a16="http://schemas.microsoft.com/office/drawing/2014/main" id="{67D8E7A7-59A5-FD80-51D9-9143F434F360}"/>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211" name="Group 35">
            <a:extLst>
              <a:ext uri="{FF2B5EF4-FFF2-40B4-BE49-F238E27FC236}">
                <a16:creationId xmlns:a16="http://schemas.microsoft.com/office/drawing/2014/main" id="{5E1D9F62-C643-F9D7-9FAE-CC12491C771D}"/>
              </a:ext>
            </a:extLst>
          </p:cNvPr>
          <p:cNvGrpSpPr>
            <a:grpSpLocks/>
          </p:cNvGrpSpPr>
          <p:nvPr/>
        </p:nvGrpSpPr>
        <p:grpSpPr bwMode="auto">
          <a:xfrm>
            <a:off x="4099995" y="968580"/>
            <a:ext cx="783138" cy="526362"/>
            <a:chOff x="4830" y="1752"/>
            <a:chExt cx="667" cy="477"/>
          </a:xfrm>
          <a:solidFill>
            <a:schemeClr val="bg1"/>
          </a:solidFill>
        </p:grpSpPr>
        <p:grpSp>
          <p:nvGrpSpPr>
            <p:cNvPr id="212" name="Group 36">
              <a:extLst>
                <a:ext uri="{FF2B5EF4-FFF2-40B4-BE49-F238E27FC236}">
                  <a16:creationId xmlns:a16="http://schemas.microsoft.com/office/drawing/2014/main" id="{70676801-EE91-19AF-38D3-B20B3285B4DB}"/>
                </a:ext>
              </a:extLst>
            </p:cNvPr>
            <p:cNvGrpSpPr>
              <a:grpSpLocks/>
            </p:cNvGrpSpPr>
            <p:nvPr/>
          </p:nvGrpSpPr>
          <p:grpSpPr bwMode="auto">
            <a:xfrm>
              <a:off x="4830" y="1752"/>
              <a:ext cx="667" cy="477"/>
              <a:chOff x="2949" y="196"/>
              <a:chExt cx="941" cy="598"/>
            </a:xfrm>
            <a:grpFill/>
          </p:grpSpPr>
          <p:sp>
            <p:nvSpPr>
              <p:cNvPr id="214" name="Oval 37">
                <a:extLst>
                  <a:ext uri="{FF2B5EF4-FFF2-40B4-BE49-F238E27FC236}">
                    <a16:creationId xmlns:a16="http://schemas.microsoft.com/office/drawing/2014/main" id="{81E53A76-7072-631C-47D9-AACCB0E1A3B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5" name="Oval 38">
                <a:extLst>
                  <a:ext uri="{FF2B5EF4-FFF2-40B4-BE49-F238E27FC236}">
                    <a16:creationId xmlns:a16="http://schemas.microsoft.com/office/drawing/2014/main" id="{08430628-BBEB-1051-F96C-60DA650A3F9D}"/>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6" name="Oval 39">
                <a:extLst>
                  <a:ext uri="{FF2B5EF4-FFF2-40B4-BE49-F238E27FC236}">
                    <a16:creationId xmlns:a16="http://schemas.microsoft.com/office/drawing/2014/main" id="{11B5B494-041A-813D-8FD8-1531568F7D7C}"/>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7" name="Oval 40">
                <a:extLst>
                  <a:ext uri="{FF2B5EF4-FFF2-40B4-BE49-F238E27FC236}">
                    <a16:creationId xmlns:a16="http://schemas.microsoft.com/office/drawing/2014/main" id="{A61D0005-D1B5-99E9-C5DA-83172890D8FA}"/>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8" name="Oval 41">
                <a:extLst>
                  <a:ext uri="{FF2B5EF4-FFF2-40B4-BE49-F238E27FC236}">
                    <a16:creationId xmlns:a16="http://schemas.microsoft.com/office/drawing/2014/main" id="{8F93A139-705E-9AF0-0905-5B5957EC993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9" name="Oval 42">
                <a:extLst>
                  <a:ext uri="{FF2B5EF4-FFF2-40B4-BE49-F238E27FC236}">
                    <a16:creationId xmlns:a16="http://schemas.microsoft.com/office/drawing/2014/main" id="{A35859C3-6900-5C25-CAEE-5D8876B5013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0" name="Oval 43">
                <a:extLst>
                  <a:ext uri="{FF2B5EF4-FFF2-40B4-BE49-F238E27FC236}">
                    <a16:creationId xmlns:a16="http://schemas.microsoft.com/office/drawing/2014/main" id="{16F57ADA-DE04-B007-FC60-D29B64917177}"/>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1" name="Oval 44">
                <a:extLst>
                  <a:ext uri="{FF2B5EF4-FFF2-40B4-BE49-F238E27FC236}">
                    <a16:creationId xmlns:a16="http://schemas.microsoft.com/office/drawing/2014/main" id="{93188E93-CFA1-82B9-92BF-D2E58F0039A4}"/>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2" name="Freeform 45">
                <a:extLst>
                  <a:ext uri="{FF2B5EF4-FFF2-40B4-BE49-F238E27FC236}">
                    <a16:creationId xmlns:a16="http://schemas.microsoft.com/office/drawing/2014/main" id="{EB416DA8-7B13-BB38-0251-BA490290BE0D}"/>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3" name="Freeform 46">
                <a:extLst>
                  <a:ext uri="{FF2B5EF4-FFF2-40B4-BE49-F238E27FC236}">
                    <a16:creationId xmlns:a16="http://schemas.microsoft.com/office/drawing/2014/main" id="{345556F5-F1C8-0781-BF6C-74026DDF3A0C}"/>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4" name="Freeform 47">
                <a:extLst>
                  <a:ext uri="{FF2B5EF4-FFF2-40B4-BE49-F238E27FC236}">
                    <a16:creationId xmlns:a16="http://schemas.microsoft.com/office/drawing/2014/main" id="{34A9C9E7-6D89-4E39-2882-37F313508642}"/>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13" name="Text Box 48">
              <a:extLst>
                <a:ext uri="{FF2B5EF4-FFF2-40B4-BE49-F238E27FC236}">
                  <a16:creationId xmlns:a16="http://schemas.microsoft.com/office/drawing/2014/main" id="{387A7CB5-49B2-F707-D284-252E9AFF7D2E}"/>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225" name="表格 224">
            <a:extLst>
              <a:ext uri="{FF2B5EF4-FFF2-40B4-BE49-F238E27FC236}">
                <a16:creationId xmlns:a16="http://schemas.microsoft.com/office/drawing/2014/main" id="{6204C94E-39E7-3080-E92E-EFC6322ACB5B}"/>
              </a:ext>
            </a:extLst>
          </p:cNvPr>
          <p:cNvGraphicFramePr>
            <a:graphicFrameLocks noGrp="1"/>
          </p:cNvGraphicFramePr>
          <p:nvPr>
            <p:extLst>
              <p:ext uri="{D42A27DB-BD31-4B8C-83A1-F6EECF244321}">
                <p14:modId xmlns:p14="http://schemas.microsoft.com/office/powerpoint/2010/main" val="1500418713"/>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6" name="表格 225">
            <a:extLst>
              <a:ext uri="{FF2B5EF4-FFF2-40B4-BE49-F238E27FC236}">
                <a16:creationId xmlns:a16="http://schemas.microsoft.com/office/drawing/2014/main" id="{653243A3-3D91-E6B1-1BAF-BF9731ED4080}"/>
              </a:ext>
            </a:extLst>
          </p:cNvPr>
          <p:cNvGraphicFramePr>
            <a:graphicFrameLocks noGrp="1"/>
          </p:cNvGraphicFramePr>
          <p:nvPr>
            <p:extLst>
              <p:ext uri="{D42A27DB-BD31-4B8C-83A1-F6EECF244321}">
                <p14:modId xmlns:p14="http://schemas.microsoft.com/office/powerpoint/2010/main" val="2834516961"/>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7" name="表格 226">
            <a:extLst>
              <a:ext uri="{FF2B5EF4-FFF2-40B4-BE49-F238E27FC236}">
                <a16:creationId xmlns:a16="http://schemas.microsoft.com/office/drawing/2014/main" id="{C73B636B-4213-CAEF-156A-5BFB6AE025EA}"/>
              </a:ext>
            </a:extLst>
          </p:cNvPr>
          <p:cNvGraphicFramePr>
            <a:graphicFrameLocks noGrp="1"/>
          </p:cNvGraphicFramePr>
          <p:nvPr>
            <p:extLst>
              <p:ext uri="{D42A27DB-BD31-4B8C-83A1-F6EECF244321}">
                <p14:modId xmlns:p14="http://schemas.microsoft.com/office/powerpoint/2010/main" val="3975548880"/>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8" name="表格 227">
            <a:extLst>
              <a:ext uri="{FF2B5EF4-FFF2-40B4-BE49-F238E27FC236}">
                <a16:creationId xmlns:a16="http://schemas.microsoft.com/office/drawing/2014/main" id="{56BEC80B-CBDD-6F78-C648-F41540B45F12}"/>
              </a:ext>
            </a:extLst>
          </p:cNvPr>
          <p:cNvGraphicFramePr>
            <a:graphicFrameLocks noGrp="1"/>
          </p:cNvGraphicFramePr>
          <p:nvPr>
            <p:extLst>
              <p:ext uri="{D42A27DB-BD31-4B8C-83A1-F6EECF244321}">
                <p14:modId xmlns:p14="http://schemas.microsoft.com/office/powerpoint/2010/main" val="1479547621"/>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9" name="表格 228">
            <a:extLst>
              <a:ext uri="{FF2B5EF4-FFF2-40B4-BE49-F238E27FC236}">
                <a16:creationId xmlns:a16="http://schemas.microsoft.com/office/drawing/2014/main" id="{D0DF799C-2712-C4D6-F0EB-F2B7DD0E4DB4}"/>
              </a:ext>
            </a:extLst>
          </p:cNvPr>
          <p:cNvGraphicFramePr>
            <a:graphicFrameLocks noGrp="1"/>
          </p:cNvGraphicFramePr>
          <p:nvPr>
            <p:extLst>
              <p:ext uri="{D42A27DB-BD31-4B8C-83A1-F6EECF244321}">
                <p14:modId xmlns:p14="http://schemas.microsoft.com/office/powerpoint/2010/main" val="24721287"/>
              </p:ext>
            </p:extLst>
          </p:nvPr>
        </p:nvGraphicFramePr>
        <p:xfrm>
          <a:off x="2553388" y="367171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31" name="表格 230">
            <a:extLst>
              <a:ext uri="{FF2B5EF4-FFF2-40B4-BE49-F238E27FC236}">
                <a16:creationId xmlns:a16="http://schemas.microsoft.com/office/drawing/2014/main" id="{A19CAE6B-DDD2-6DA7-89B2-00C48AB89AA3}"/>
              </a:ext>
            </a:extLst>
          </p:cNvPr>
          <p:cNvGraphicFramePr>
            <a:graphicFrameLocks noGrp="1"/>
          </p:cNvGraphicFramePr>
          <p:nvPr>
            <p:extLst>
              <p:ext uri="{D42A27DB-BD31-4B8C-83A1-F6EECF244321}">
                <p14:modId xmlns:p14="http://schemas.microsoft.com/office/powerpoint/2010/main" val="2168112474"/>
              </p:ext>
            </p:extLst>
          </p:nvPr>
        </p:nvGraphicFramePr>
        <p:xfrm>
          <a:off x="4897954" y="367171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615205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1512000" y="4055865"/>
            <a:ext cx="6120000" cy="5808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zh-CN" altLang="en-US" dirty="0"/>
              <a:t>这样不断</a:t>
            </a:r>
            <a:r>
              <a:rPr lang="zh-CN" altLang="en-US"/>
              <a:t>更新下去</a:t>
            </a:r>
            <a:endParaRPr lang="en-US" altLang="zh-CN" dirty="0"/>
          </a:p>
          <a:p>
            <a:pPr algn="just"/>
            <a:r>
              <a:rPr lang="zh-CN" altLang="en-US"/>
              <a:t>直到 </a:t>
            </a:r>
            <a:r>
              <a:rPr lang="en-US" altLang="zh-CN"/>
              <a:t>R1</a:t>
            </a:r>
            <a:r>
              <a:rPr lang="en-US" altLang="zh-CN" dirty="0"/>
              <a:t> </a:t>
            </a:r>
            <a:r>
              <a:rPr lang="zh-CN" altLang="en-US"/>
              <a:t>和 </a:t>
            </a:r>
            <a:r>
              <a:rPr lang="en-US" altLang="zh-CN"/>
              <a:t>R</a:t>
            </a:r>
            <a:r>
              <a:rPr lang="en-US" altLang="zh-CN" dirty="0"/>
              <a:t>2 </a:t>
            </a:r>
            <a:r>
              <a:rPr lang="zh-CN" altLang="en-US" dirty="0"/>
              <a:t>到</a:t>
            </a:r>
            <a:r>
              <a:rPr lang="zh-CN" altLang="en-US"/>
              <a:t>网 </a:t>
            </a:r>
            <a:r>
              <a:rPr lang="en-US" altLang="zh-CN" dirty="0"/>
              <a:t>1 </a:t>
            </a:r>
            <a:r>
              <a:rPr lang="zh-CN" altLang="en-US" dirty="0"/>
              <a:t>的距离都增大</a:t>
            </a:r>
            <a:r>
              <a:rPr lang="zh-CN" altLang="en-US"/>
              <a:t>到 </a:t>
            </a:r>
            <a:r>
              <a:rPr lang="en-US" altLang="zh-CN" dirty="0"/>
              <a:t>16 </a:t>
            </a:r>
            <a:r>
              <a:rPr lang="zh-CN" altLang="en-US"/>
              <a:t>时，</a:t>
            </a:r>
            <a:r>
              <a:rPr lang="en-US" altLang="zh-CN"/>
              <a:t> R1</a:t>
            </a:r>
            <a:r>
              <a:rPr lang="en-US" altLang="zh-CN" dirty="0"/>
              <a:t> </a:t>
            </a:r>
            <a:r>
              <a:rPr lang="zh-CN" altLang="en-US"/>
              <a:t>和 </a:t>
            </a:r>
            <a:r>
              <a:rPr lang="en-US" altLang="zh-CN"/>
              <a:t>R</a:t>
            </a:r>
            <a:r>
              <a:rPr lang="en-US" altLang="zh-CN" dirty="0"/>
              <a:t>2 </a:t>
            </a:r>
            <a:r>
              <a:rPr lang="zh-CN" altLang="en-US" dirty="0"/>
              <a:t>才知道</a:t>
            </a:r>
            <a:r>
              <a:rPr lang="zh-CN" altLang="en-US"/>
              <a:t>网 </a:t>
            </a:r>
            <a:r>
              <a:rPr lang="en-US" altLang="zh-CN" dirty="0"/>
              <a:t>1 </a:t>
            </a:r>
            <a:r>
              <a:rPr lang="zh-CN" altLang="en-US" dirty="0"/>
              <a:t>是不可达的</a:t>
            </a:r>
          </a:p>
        </p:txBody>
      </p:sp>
      <p:sp>
        <p:nvSpPr>
          <p:cNvPr id="2" name="Line 50">
            <a:extLst>
              <a:ext uri="{FF2B5EF4-FFF2-40B4-BE49-F238E27FC236}">
                <a16:creationId xmlns:a16="http://schemas.microsoft.com/office/drawing/2014/main" id="{2D816868-C59D-FD52-E4CB-DC54FD0A843D}"/>
              </a:ext>
            </a:extLst>
          </p:cNvPr>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3" name="Picture 51">
            <a:extLst>
              <a:ext uri="{FF2B5EF4-FFF2-40B4-BE49-F238E27FC236}">
                <a16:creationId xmlns:a16="http://schemas.microsoft.com/office/drawing/2014/main" id="{51D21563-5B2B-0DE0-15F6-BB20CFD45F3F}"/>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 name="Text Box 52">
            <a:extLst>
              <a:ext uri="{FF2B5EF4-FFF2-40B4-BE49-F238E27FC236}">
                <a16:creationId xmlns:a16="http://schemas.microsoft.com/office/drawing/2014/main" id="{ECD52007-BB3D-2B0D-11EE-D58DF472C05F}"/>
              </a:ext>
            </a:extLst>
          </p:cNvPr>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5" name="Text Box 53">
            <a:extLst>
              <a:ext uri="{FF2B5EF4-FFF2-40B4-BE49-F238E27FC236}">
                <a16:creationId xmlns:a16="http://schemas.microsoft.com/office/drawing/2014/main" id="{B07ABBE8-4AAB-853A-8B18-DBCD7816B9DE}"/>
              </a:ext>
            </a:extLst>
          </p:cNvPr>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6" name="Picture 54">
            <a:extLst>
              <a:ext uri="{FF2B5EF4-FFF2-40B4-BE49-F238E27FC236}">
                <a16:creationId xmlns:a16="http://schemas.microsoft.com/office/drawing/2014/main" id="{592B28FD-F666-005D-141D-8A14BDAAC21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7" name="Group 55">
            <a:extLst>
              <a:ext uri="{FF2B5EF4-FFF2-40B4-BE49-F238E27FC236}">
                <a16:creationId xmlns:a16="http://schemas.microsoft.com/office/drawing/2014/main" id="{CE73DF66-136C-392A-A630-4A573A8A5738}"/>
              </a:ext>
            </a:extLst>
          </p:cNvPr>
          <p:cNvGrpSpPr>
            <a:grpSpLocks/>
          </p:cNvGrpSpPr>
          <p:nvPr/>
        </p:nvGrpSpPr>
        <p:grpSpPr bwMode="auto">
          <a:xfrm>
            <a:off x="1793796" y="1810273"/>
            <a:ext cx="783138" cy="526362"/>
            <a:chOff x="4830" y="1752"/>
            <a:chExt cx="667" cy="477"/>
          </a:xfrm>
          <a:solidFill>
            <a:srgbClr val="FF0000"/>
          </a:solidFill>
        </p:grpSpPr>
        <p:grpSp>
          <p:nvGrpSpPr>
            <p:cNvPr id="8" name="Group 56">
              <a:extLst>
                <a:ext uri="{FF2B5EF4-FFF2-40B4-BE49-F238E27FC236}">
                  <a16:creationId xmlns:a16="http://schemas.microsoft.com/office/drawing/2014/main" id="{D9DC8D39-047F-4EEE-7083-7417049829EE}"/>
                </a:ext>
              </a:extLst>
            </p:cNvPr>
            <p:cNvGrpSpPr>
              <a:grpSpLocks/>
            </p:cNvGrpSpPr>
            <p:nvPr/>
          </p:nvGrpSpPr>
          <p:grpSpPr bwMode="auto">
            <a:xfrm>
              <a:off x="4830" y="1752"/>
              <a:ext cx="667" cy="477"/>
              <a:chOff x="2949" y="196"/>
              <a:chExt cx="941" cy="598"/>
            </a:xfrm>
            <a:grpFill/>
          </p:grpSpPr>
          <p:sp>
            <p:nvSpPr>
              <p:cNvPr id="10" name="Oval 57">
                <a:extLst>
                  <a:ext uri="{FF2B5EF4-FFF2-40B4-BE49-F238E27FC236}">
                    <a16:creationId xmlns:a16="http://schemas.microsoft.com/office/drawing/2014/main" id="{7B59ADFC-AB32-37BE-821D-786F88B52D4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1" name="Oval 58">
                <a:extLst>
                  <a:ext uri="{FF2B5EF4-FFF2-40B4-BE49-F238E27FC236}">
                    <a16:creationId xmlns:a16="http://schemas.microsoft.com/office/drawing/2014/main" id="{8DE9298B-D2DA-905B-46E2-44A01211BD46}"/>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2" name="Oval 59">
                <a:extLst>
                  <a:ext uri="{FF2B5EF4-FFF2-40B4-BE49-F238E27FC236}">
                    <a16:creationId xmlns:a16="http://schemas.microsoft.com/office/drawing/2014/main" id="{08DE0A9B-9EDF-B0D6-B44C-A8D783DBD754}"/>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3" name="Oval 60">
                <a:extLst>
                  <a:ext uri="{FF2B5EF4-FFF2-40B4-BE49-F238E27FC236}">
                    <a16:creationId xmlns:a16="http://schemas.microsoft.com/office/drawing/2014/main" id="{D4D80C85-93C8-BEA4-8A1C-FC79098F01F1}"/>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 name="Oval 61">
                <a:extLst>
                  <a:ext uri="{FF2B5EF4-FFF2-40B4-BE49-F238E27FC236}">
                    <a16:creationId xmlns:a16="http://schemas.microsoft.com/office/drawing/2014/main" id="{323D1948-009F-A94B-C5FC-22496323658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5" name="Oval 62">
                <a:extLst>
                  <a:ext uri="{FF2B5EF4-FFF2-40B4-BE49-F238E27FC236}">
                    <a16:creationId xmlns:a16="http://schemas.microsoft.com/office/drawing/2014/main" id="{95A16759-61E5-62E4-C785-E31099E5D903}"/>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6" name="Oval 63">
                <a:extLst>
                  <a:ext uri="{FF2B5EF4-FFF2-40B4-BE49-F238E27FC236}">
                    <a16:creationId xmlns:a16="http://schemas.microsoft.com/office/drawing/2014/main" id="{6245B138-811A-9EA6-B170-7AC03A8231FE}"/>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7" name="Oval 64">
                <a:extLst>
                  <a:ext uri="{FF2B5EF4-FFF2-40B4-BE49-F238E27FC236}">
                    <a16:creationId xmlns:a16="http://schemas.microsoft.com/office/drawing/2014/main" id="{6317B961-C4A4-1FFE-D367-55CC0E007304}"/>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8" name="Freeform 65">
                <a:extLst>
                  <a:ext uri="{FF2B5EF4-FFF2-40B4-BE49-F238E27FC236}">
                    <a16:creationId xmlns:a16="http://schemas.microsoft.com/office/drawing/2014/main" id="{2261C643-CA70-FDF4-B6A2-1F591765B9A7}"/>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19" name="Freeform 66">
                <a:extLst>
                  <a:ext uri="{FF2B5EF4-FFF2-40B4-BE49-F238E27FC236}">
                    <a16:creationId xmlns:a16="http://schemas.microsoft.com/office/drawing/2014/main" id="{2FADB40B-ED27-C5AB-4E09-8DF32AA7CB68}"/>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20" name="Freeform 67">
                <a:extLst>
                  <a:ext uri="{FF2B5EF4-FFF2-40B4-BE49-F238E27FC236}">
                    <a16:creationId xmlns:a16="http://schemas.microsoft.com/office/drawing/2014/main" id="{B3CE208A-662C-2E9A-E594-3681212FB57B}"/>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9" name="Text Box 68">
              <a:extLst>
                <a:ext uri="{FF2B5EF4-FFF2-40B4-BE49-F238E27FC236}">
                  <a16:creationId xmlns:a16="http://schemas.microsoft.com/office/drawing/2014/main" id="{D2DEBD6C-3888-2425-46B5-2D0153BEDB21}"/>
                </a:ext>
              </a:extLst>
            </p:cNvPr>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21" name="Group 69">
            <a:extLst>
              <a:ext uri="{FF2B5EF4-FFF2-40B4-BE49-F238E27FC236}">
                <a16:creationId xmlns:a16="http://schemas.microsoft.com/office/drawing/2014/main" id="{7CB0ACAA-F89D-1541-8083-33F2CDD36817}"/>
              </a:ext>
            </a:extLst>
          </p:cNvPr>
          <p:cNvGrpSpPr>
            <a:grpSpLocks/>
          </p:cNvGrpSpPr>
          <p:nvPr/>
        </p:nvGrpSpPr>
        <p:grpSpPr bwMode="auto">
          <a:xfrm>
            <a:off x="6444139" y="1810273"/>
            <a:ext cx="783138" cy="526362"/>
            <a:chOff x="4830" y="1752"/>
            <a:chExt cx="667" cy="477"/>
          </a:xfrm>
          <a:solidFill>
            <a:schemeClr val="bg1"/>
          </a:solidFill>
        </p:grpSpPr>
        <p:grpSp>
          <p:nvGrpSpPr>
            <p:cNvPr id="22" name="Group 70">
              <a:extLst>
                <a:ext uri="{FF2B5EF4-FFF2-40B4-BE49-F238E27FC236}">
                  <a16:creationId xmlns:a16="http://schemas.microsoft.com/office/drawing/2014/main" id="{6F402298-90BC-E10A-2D51-22BEC1872D54}"/>
                </a:ext>
              </a:extLst>
            </p:cNvPr>
            <p:cNvGrpSpPr>
              <a:grpSpLocks/>
            </p:cNvGrpSpPr>
            <p:nvPr/>
          </p:nvGrpSpPr>
          <p:grpSpPr bwMode="auto">
            <a:xfrm>
              <a:off x="4830" y="1752"/>
              <a:ext cx="667" cy="477"/>
              <a:chOff x="2949" y="196"/>
              <a:chExt cx="941" cy="598"/>
            </a:xfrm>
            <a:grpFill/>
          </p:grpSpPr>
          <p:sp>
            <p:nvSpPr>
              <p:cNvPr id="24" name="Oval 71">
                <a:extLst>
                  <a:ext uri="{FF2B5EF4-FFF2-40B4-BE49-F238E27FC236}">
                    <a16:creationId xmlns:a16="http://schemas.microsoft.com/office/drawing/2014/main" id="{1A2C4791-A3B6-2E00-9E15-F8E0947CC87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 name="Oval 72">
                <a:extLst>
                  <a:ext uri="{FF2B5EF4-FFF2-40B4-BE49-F238E27FC236}">
                    <a16:creationId xmlns:a16="http://schemas.microsoft.com/office/drawing/2014/main" id="{94D96474-2FA0-00ED-C749-CE960D245A0E}"/>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6" name="Oval 73">
                <a:extLst>
                  <a:ext uri="{FF2B5EF4-FFF2-40B4-BE49-F238E27FC236}">
                    <a16:creationId xmlns:a16="http://schemas.microsoft.com/office/drawing/2014/main" id="{879D0C30-4CCF-15DE-EBD5-7DE1D401F557}"/>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7" name="Oval 74">
                <a:extLst>
                  <a:ext uri="{FF2B5EF4-FFF2-40B4-BE49-F238E27FC236}">
                    <a16:creationId xmlns:a16="http://schemas.microsoft.com/office/drawing/2014/main" id="{ACD47717-00B7-1E01-E4C4-FF37BDBB2FD8}"/>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8" name="Oval 75">
                <a:extLst>
                  <a:ext uri="{FF2B5EF4-FFF2-40B4-BE49-F238E27FC236}">
                    <a16:creationId xmlns:a16="http://schemas.microsoft.com/office/drawing/2014/main" id="{3115CEE0-9C96-97A1-823B-909DCF1BCAE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9" name="Oval 76">
                <a:extLst>
                  <a:ext uri="{FF2B5EF4-FFF2-40B4-BE49-F238E27FC236}">
                    <a16:creationId xmlns:a16="http://schemas.microsoft.com/office/drawing/2014/main" id="{EB6A81BA-3D89-2A3B-53B2-B71862D92A2C}"/>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30" name="Oval 77">
                <a:extLst>
                  <a:ext uri="{FF2B5EF4-FFF2-40B4-BE49-F238E27FC236}">
                    <a16:creationId xmlns:a16="http://schemas.microsoft.com/office/drawing/2014/main" id="{8693E5A9-38C8-DDF5-9C7C-CDFABE2C2499}"/>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31" name="Oval 78">
                <a:extLst>
                  <a:ext uri="{FF2B5EF4-FFF2-40B4-BE49-F238E27FC236}">
                    <a16:creationId xmlns:a16="http://schemas.microsoft.com/office/drawing/2014/main" id="{B37D866E-84A9-5FD6-FDE3-83E7F65F2748}"/>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32" name="Freeform 79">
                <a:extLst>
                  <a:ext uri="{FF2B5EF4-FFF2-40B4-BE49-F238E27FC236}">
                    <a16:creationId xmlns:a16="http://schemas.microsoft.com/office/drawing/2014/main" id="{24663935-21BA-E02F-77B3-34F7612CAFA3}"/>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33" name="Freeform 80">
                <a:extLst>
                  <a:ext uri="{FF2B5EF4-FFF2-40B4-BE49-F238E27FC236}">
                    <a16:creationId xmlns:a16="http://schemas.microsoft.com/office/drawing/2014/main" id="{E7C3E124-3307-DF09-BAB9-2F09DE59ABAD}"/>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34" name="Freeform 81">
                <a:extLst>
                  <a:ext uri="{FF2B5EF4-FFF2-40B4-BE49-F238E27FC236}">
                    <a16:creationId xmlns:a16="http://schemas.microsoft.com/office/drawing/2014/main" id="{A3E5DE04-B441-5CB6-1FE4-49B9E02E1FF6}"/>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23" name="Text Box 82">
              <a:extLst>
                <a:ext uri="{FF2B5EF4-FFF2-40B4-BE49-F238E27FC236}">
                  <a16:creationId xmlns:a16="http://schemas.microsoft.com/office/drawing/2014/main" id="{560A06C9-9149-6FDA-63E2-2F309E2FEF46}"/>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35" name="Group 83">
            <a:extLst>
              <a:ext uri="{FF2B5EF4-FFF2-40B4-BE49-F238E27FC236}">
                <a16:creationId xmlns:a16="http://schemas.microsoft.com/office/drawing/2014/main" id="{FEC5E58E-293F-F500-8296-0D70C342F319}"/>
              </a:ext>
            </a:extLst>
          </p:cNvPr>
          <p:cNvGrpSpPr>
            <a:grpSpLocks/>
          </p:cNvGrpSpPr>
          <p:nvPr/>
        </p:nvGrpSpPr>
        <p:grpSpPr bwMode="auto">
          <a:xfrm>
            <a:off x="4099995" y="1810273"/>
            <a:ext cx="783138" cy="526362"/>
            <a:chOff x="4830" y="1752"/>
            <a:chExt cx="667" cy="477"/>
          </a:xfrm>
          <a:solidFill>
            <a:schemeClr val="bg1"/>
          </a:solidFill>
        </p:grpSpPr>
        <p:grpSp>
          <p:nvGrpSpPr>
            <p:cNvPr id="36" name="Group 84">
              <a:extLst>
                <a:ext uri="{FF2B5EF4-FFF2-40B4-BE49-F238E27FC236}">
                  <a16:creationId xmlns:a16="http://schemas.microsoft.com/office/drawing/2014/main" id="{2AA756E8-C5DA-3966-A905-37A677A79312}"/>
                </a:ext>
              </a:extLst>
            </p:cNvPr>
            <p:cNvGrpSpPr>
              <a:grpSpLocks/>
            </p:cNvGrpSpPr>
            <p:nvPr/>
          </p:nvGrpSpPr>
          <p:grpSpPr bwMode="auto">
            <a:xfrm>
              <a:off x="4830" y="1752"/>
              <a:ext cx="667" cy="477"/>
              <a:chOff x="2949" y="196"/>
              <a:chExt cx="941" cy="598"/>
            </a:xfrm>
            <a:grpFill/>
          </p:grpSpPr>
          <p:sp>
            <p:nvSpPr>
              <p:cNvPr id="38" name="Oval 85">
                <a:extLst>
                  <a:ext uri="{FF2B5EF4-FFF2-40B4-BE49-F238E27FC236}">
                    <a16:creationId xmlns:a16="http://schemas.microsoft.com/office/drawing/2014/main" id="{A087B0D8-F89B-0AED-507F-B11E1ED7D4DB}"/>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39" name="Oval 86">
                <a:extLst>
                  <a:ext uri="{FF2B5EF4-FFF2-40B4-BE49-F238E27FC236}">
                    <a16:creationId xmlns:a16="http://schemas.microsoft.com/office/drawing/2014/main" id="{E629185D-DAF5-6001-8624-3CACBE71C061}"/>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0" name="Oval 87">
                <a:extLst>
                  <a:ext uri="{FF2B5EF4-FFF2-40B4-BE49-F238E27FC236}">
                    <a16:creationId xmlns:a16="http://schemas.microsoft.com/office/drawing/2014/main" id="{5BB3ACBE-6F0B-AC33-0754-280BC9D01CB7}"/>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1" name="Oval 88">
                <a:extLst>
                  <a:ext uri="{FF2B5EF4-FFF2-40B4-BE49-F238E27FC236}">
                    <a16:creationId xmlns:a16="http://schemas.microsoft.com/office/drawing/2014/main" id="{F8B697A1-6E05-228B-79A1-04CA35AB25DA}"/>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2" name="Oval 89">
                <a:extLst>
                  <a:ext uri="{FF2B5EF4-FFF2-40B4-BE49-F238E27FC236}">
                    <a16:creationId xmlns:a16="http://schemas.microsoft.com/office/drawing/2014/main" id="{55D8A365-5F1B-8F6A-F8A1-4D5B4F909DA1}"/>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3" name="Oval 90">
                <a:extLst>
                  <a:ext uri="{FF2B5EF4-FFF2-40B4-BE49-F238E27FC236}">
                    <a16:creationId xmlns:a16="http://schemas.microsoft.com/office/drawing/2014/main" id="{7E8C1AD9-5A76-D9B2-1104-80CEEC59A4AD}"/>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4" name="Oval 91">
                <a:extLst>
                  <a:ext uri="{FF2B5EF4-FFF2-40B4-BE49-F238E27FC236}">
                    <a16:creationId xmlns:a16="http://schemas.microsoft.com/office/drawing/2014/main" id="{588D5DDF-F0A4-1B2C-132A-0678B9B4DBF5}"/>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5" name="Oval 92">
                <a:extLst>
                  <a:ext uri="{FF2B5EF4-FFF2-40B4-BE49-F238E27FC236}">
                    <a16:creationId xmlns:a16="http://schemas.microsoft.com/office/drawing/2014/main" id="{A91C8174-74E8-504D-27E4-D60E28E86C7B}"/>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6" name="Freeform 93">
                <a:extLst>
                  <a:ext uri="{FF2B5EF4-FFF2-40B4-BE49-F238E27FC236}">
                    <a16:creationId xmlns:a16="http://schemas.microsoft.com/office/drawing/2014/main" id="{2E57013A-DDC5-40E2-B473-4A125A7794AD}"/>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47" name="Freeform 94">
                <a:extLst>
                  <a:ext uri="{FF2B5EF4-FFF2-40B4-BE49-F238E27FC236}">
                    <a16:creationId xmlns:a16="http://schemas.microsoft.com/office/drawing/2014/main" id="{5767509E-0172-ACC8-B4E1-0CC9149E956A}"/>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48" name="Freeform 95">
                <a:extLst>
                  <a:ext uri="{FF2B5EF4-FFF2-40B4-BE49-F238E27FC236}">
                    <a16:creationId xmlns:a16="http://schemas.microsoft.com/office/drawing/2014/main" id="{8138AB92-217A-B944-5787-E071A83B8DA0}"/>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37" name="Text Box 96">
              <a:extLst>
                <a:ext uri="{FF2B5EF4-FFF2-40B4-BE49-F238E27FC236}">
                  <a16:creationId xmlns:a16="http://schemas.microsoft.com/office/drawing/2014/main" id="{1C1E2622-7044-7E4A-EDA8-EA46AB541A86}"/>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49" name="Line 2">
            <a:extLst>
              <a:ext uri="{FF2B5EF4-FFF2-40B4-BE49-F238E27FC236}">
                <a16:creationId xmlns:a16="http://schemas.microsoft.com/office/drawing/2014/main" id="{263A7A80-988B-3AE8-6E04-EBF71AF49E85}"/>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01" name="Picture 3">
            <a:extLst>
              <a:ext uri="{FF2B5EF4-FFF2-40B4-BE49-F238E27FC236}">
                <a16:creationId xmlns:a16="http://schemas.microsoft.com/office/drawing/2014/main" id="{9BF21CBC-DCB9-EBEC-D14F-6E6E66721E4F}"/>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2" name="Text Box 4">
            <a:extLst>
              <a:ext uri="{FF2B5EF4-FFF2-40B4-BE49-F238E27FC236}">
                <a16:creationId xmlns:a16="http://schemas.microsoft.com/office/drawing/2014/main" id="{92D147B2-9390-040E-A9A5-177C899F4E08}"/>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03" name="Text Box 5">
            <a:extLst>
              <a:ext uri="{FF2B5EF4-FFF2-40B4-BE49-F238E27FC236}">
                <a16:creationId xmlns:a16="http://schemas.microsoft.com/office/drawing/2014/main" id="{F200D996-3FE8-AEF1-4227-EB9524353ABA}"/>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04" name="Picture 6">
            <a:extLst>
              <a:ext uri="{FF2B5EF4-FFF2-40B4-BE49-F238E27FC236}">
                <a16:creationId xmlns:a16="http://schemas.microsoft.com/office/drawing/2014/main" id="{E92E3AFA-7098-8EAB-15C1-6FFF2B4FBD7C}"/>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05" name="Group 7">
            <a:extLst>
              <a:ext uri="{FF2B5EF4-FFF2-40B4-BE49-F238E27FC236}">
                <a16:creationId xmlns:a16="http://schemas.microsoft.com/office/drawing/2014/main" id="{0EF93B31-D2DB-0E9F-FF1E-B6D7C0C16D5F}"/>
              </a:ext>
            </a:extLst>
          </p:cNvPr>
          <p:cNvGrpSpPr>
            <a:grpSpLocks/>
          </p:cNvGrpSpPr>
          <p:nvPr/>
        </p:nvGrpSpPr>
        <p:grpSpPr bwMode="auto">
          <a:xfrm>
            <a:off x="1793796" y="968576"/>
            <a:ext cx="783138" cy="526361"/>
            <a:chOff x="4830" y="1752"/>
            <a:chExt cx="667" cy="477"/>
          </a:xfrm>
          <a:solidFill>
            <a:schemeClr val="bg1"/>
          </a:solidFill>
        </p:grpSpPr>
        <p:grpSp>
          <p:nvGrpSpPr>
            <p:cNvPr id="111" name="Group 8">
              <a:extLst>
                <a:ext uri="{FF2B5EF4-FFF2-40B4-BE49-F238E27FC236}">
                  <a16:creationId xmlns:a16="http://schemas.microsoft.com/office/drawing/2014/main" id="{3A9369F9-E57D-F123-5D7E-0E7886D41050}"/>
                </a:ext>
              </a:extLst>
            </p:cNvPr>
            <p:cNvGrpSpPr>
              <a:grpSpLocks/>
            </p:cNvGrpSpPr>
            <p:nvPr/>
          </p:nvGrpSpPr>
          <p:grpSpPr bwMode="auto">
            <a:xfrm>
              <a:off x="4830" y="1752"/>
              <a:ext cx="667" cy="477"/>
              <a:chOff x="2949" y="196"/>
              <a:chExt cx="941" cy="598"/>
            </a:xfrm>
            <a:grpFill/>
          </p:grpSpPr>
          <p:sp>
            <p:nvSpPr>
              <p:cNvPr id="113" name="Oval 9">
                <a:extLst>
                  <a:ext uri="{FF2B5EF4-FFF2-40B4-BE49-F238E27FC236}">
                    <a16:creationId xmlns:a16="http://schemas.microsoft.com/office/drawing/2014/main" id="{6A047547-F136-3375-A181-F0C4EA80348E}"/>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14" name="Oval 10">
                <a:extLst>
                  <a:ext uri="{FF2B5EF4-FFF2-40B4-BE49-F238E27FC236}">
                    <a16:creationId xmlns:a16="http://schemas.microsoft.com/office/drawing/2014/main" id="{9B5DBF59-26B0-D1E6-5090-5EF2ECEBBF1F}"/>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7" name="Oval 11">
                <a:extLst>
                  <a:ext uri="{FF2B5EF4-FFF2-40B4-BE49-F238E27FC236}">
                    <a16:creationId xmlns:a16="http://schemas.microsoft.com/office/drawing/2014/main" id="{F9E67B38-2CDB-AC60-DF6A-379CBF54688C}"/>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8" name="Oval 12">
                <a:extLst>
                  <a:ext uri="{FF2B5EF4-FFF2-40B4-BE49-F238E27FC236}">
                    <a16:creationId xmlns:a16="http://schemas.microsoft.com/office/drawing/2014/main" id="{EF493470-EBBF-3093-908D-02059FE2E626}"/>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9" name="Oval 13">
                <a:extLst>
                  <a:ext uri="{FF2B5EF4-FFF2-40B4-BE49-F238E27FC236}">
                    <a16:creationId xmlns:a16="http://schemas.microsoft.com/office/drawing/2014/main" id="{2B55FE50-4888-DD85-7626-3D23FE3BCF6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0" name="Oval 14">
                <a:extLst>
                  <a:ext uri="{FF2B5EF4-FFF2-40B4-BE49-F238E27FC236}">
                    <a16:creationId xmlns:a16="http://schemas.microsoft.com/office/drawing/2014/main" id="{BBCFE6B7-E0B4-0B75-0631-D0F9547A7E1B}"/>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1" name="Oval 15">
                <a:extLst>
                  <a:ext uri="{FF2B5EF4-FFF2-40B4-BE49-F238E27FC236}">
                    <a16:creationId xmlns:a16="http://schemas.microsoft.com/office/drawing/2014/main" id="{4C0D245E-8225-2E61-0A04-F3941E6805B6}"/>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2" name="Oval 16">
                <a:extLst>
                  <a:ext uri="{FF2B5EF4-FFF2-40B4-BE49-F238E27FC236}">
                    <a16:creationId xmlns:a16="http://schemas.microsoft.com/office/drawing/2014/main" id="{82E898B0-3A7F-490A-D5D3-0305E08434FE}"/>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3" name="Freeform 17">
                <a:extLst>
                  <a:ext uri="{FF2B5EF4-FFF2-40B4-BE49-F238E27FC236}">
                    <a16:creationId xmlns:a16="http://schemas.microsoft.com/office/drawing/2014/main" id="{B0F1EA5D-8E6C-EBE0-F18B-D06D3282516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14" name="Freeform 18">
                <a:extLst>
                  <a:ext uri="{FF2B5EF4-FFF2-40B4-BE49-F238E27FC236}">
                    <a16:creationId xmlns:a16="http://schemas.microsoft.com/office/drawing/2014/main" id="{810C22E1-1E82-AD04-6627-FF290ABDF8F7}"/>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15" name="Freeform 19">
                <a:extLst>
                  <a:ext uri="{FF2B5EF4-FFF2-40B4-BE49-F238E27FC236}">
                    <a16:creationId xmlns:a16="http://schemas.microsoft.com/office/drawing/2014/main" id="{D37C3CF3-1BE4-2689-351E-B290EB17B60D}"/>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12" name="Text Box 20">
              <a:extLst>
                <a:ext uri="{FF2B5EF4-FFF2-40B4-BE49-F238E27FC236}">
                  <a16:creationId xmlns:a16="http://schemas.microsoft.com/office/drawing/2014/main" id="{3210D4F2-3FBA-32C8-38F4-300CAD89E301}"/>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216" name="Group 21">
            <a:extLst>
              <a:ext uri="{FF2B5EF4-FFF2-40B4-BE49-F238E27FC236}">
                <a16:creationId xmlns:a16="http://schemas.microsoft.com/office/drawing/2014/main" id="{0B38A457-E693-2932-A337-01206B105068}"/>
              </a:ext>
            </a:extLst>
          </p:cNvPr>
          <p:cNvGrpSpPr>
            <a:grpSpLocks/>
          </p:cNvGrpSpPr>
          <p:nvPr/>
        </p:nvGrpSpPr>
        <p:grpSpPr bwMode="auto">
          <a:xfrm>
            <a:off x="6444139" y="968580"/>
            <a:ext cx="783138" cy="526362"/>
            <a:chOff x="4830" y="1752"/>
            <a:chExt cx="667" cy="477"/>
          </a:xfrm>
          <a:solidFill>
            <a:schemeClr val="bg1"/>
          </a:solidFill>
        </p:grpSpPr>
        <p:grpSp>
          <p:nvGrpSpPr>
            <p:cNvPr id="217" name="Group 22">
              <a:extLst>
                <a:ext uri="{FF2B5EF4-FFF2-40B4-BE49-F238E27FC236}">
                  <a16:creationId xmlns:a16="http://schemas.microsoft.com/office/drawing/2014/main" id="{121271E3-3143-A32A-E28E-A0A0DDF0C2D4}"/>
                </a:ext>
              </a:extLst>
            </p:cNvPr>
            <p:cNvGrpSpPr>
              <a:grpSpLocks/>
            </p:cNvGrpSpPr>
            <p:nvPr/>
          </p:nvGrpSpPr>
          <p:grpSpPr bwMode="auto">
            <a:xfrm>
              <a:off x="4830" y="1752"/>
              <a:ext cx="667" cy="477"/>
              <a:chOff x="2949" y="196"/>
              <a:chExt cx="941" cy="598"/>
            </a:xfrm>
            <a:grpFill/>
          </p:grpSpPr>
          <p:sp>
            <p:nvSpPr>
              <p:cNvPr id="219" name="Oval 23">
                <a:extLst>
                  <a:ext uri="{FF2B5EF4-FFF2-40B4-BE49-F238E27FC236}">
                    <a16:creationId xmlns:a16="http://schemas.microsoft.com/office/drawing/2014/main" id="{82407CC3-07C7-5FB8-4ACC-EDC78A6DD219}"/>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0" name="Oval 24">
                <a:extLst>
                  <a:ext uri="{FF2B5EF4-FFF2-40B4-BE49-F238E27FC236}">
                    <a16:creationId xmlns:a16="http://schemas.microsoft.com/office/drawing/2014/main" id="{3771443F-DDBB-3B1F-6C19-27CABBB77804}"/>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1" name="Oval 25">
                <a:extLst>
                  <a:ext uri="{FF2B5EF4-FFF2-40B4-BE49-F238E27FC236}">
                    <a16:creationId xmlns:a16="http://schemas.microsoft.com/office/drawing/2014/main" id="{795D7D6A-D4A7-874E-D43F-148D5745FBDF}"/>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2" name="Oval 26">
                <a:extLst>
                  <a:ext uri="{FF2B5EF4-FFF2-40B4-BE49-F238E27FC236}">
                    <a16:creationId xmlns:a16="http://schemas.microsoft.com/office/drawing/2014/main" id="{34A2FC5E-DC26-2B69-2148-A67464BA4CDC}"/>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3" name="Oval 27">
                <a:extLst>
                  <a:ext uri="{FF2B5EF4-FFF2-40B4-BE49-F238E27FC236}">
                    <a16:creationId xmlns:a16="http://schemas.microsoft.com/office/drawing/2014/main" id="{AE04E374-AA6C-7A04-BF32-A5E00AD90BA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4" name="Oval 28">
                <a:extLst>
                  <a:ext uri="{FF2B5EF4-FFF2-40B4-BE49-F238E27FC236}">
                    <a16:creationId xmlns:a16="http://schemas.microsoft.com/office/drawing/2014/main" id="{477D7C3B-6219-3E2C-8E54-21E11C20A50F}"/>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5" name="Oval 29">
                <a:extLst>
                  <a:ext uri="{FF2B5EF4-FFF2-40B4-BE49-F238E27FC236}">
                    <a16:creationId xmlns:a16="http://schemas.microsoft.com/office/drawing/2014/main" id="{C81F391E-1015-99A3-E487-D54BFB3EE23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6" name="Oval 30">
                <a:extLst>
                  <a:ext uri="{FF2B5EF4-FFF2-40B4-BE49-F238E27FC236}">
                    <a16:creationId xmlns:a16="http://schemas.microsoft.com/office/drawing/2014/main" id="{63F38DFF-5518-4D0F-9CBE-C0A8074CBDE2}"/>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7" name="Freeform 31">
                <a:extLst>
                  <a:ext uri="{FF2B5EF4-FFF2-40B4-BE49-F238E27FC236}">
                    <a16:creationId xmlns:a16="http://schemas.microsoft.com/office/drawing/2014/main" id="{0F655A98-3597-83FB-EB3A-658680746FA8}"/>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8" name="Freeform 32">
                <a:extLst>
                  <a:ext uri="{FF2B5EF4-FFF2-40B4-BE49-F238E27FC236}">
                    <a16:creationId xmlns:a16="http://schemas.microsoft.com/office/drawing/2014/main" id="{CFACCB14-F78E-F034-06BA-BB8FECA096AD}"/>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9" name="Freeform 33">
                <a:extLst>
                  <a:ext uri="{FF2B5EF4-FFF2-40B4-BE49-F238E27FC236}">
                    <a16:creationId xmlns:a16="http://schemas.microsoft.com/office/drawing/2014/main" id="{0EE7AF1C-F9AF-95F7-7ACC-141EDF2CFAB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18" name="Text Box 34">
              <a:extLst>
                <a:ext uri="{FF2B5EF4-FFF2-40B4-BE49-F238E27FC236}">
                  <a16:creationId xmlns:a16="http://schemas.microsoft.com/office/drawing/2014/main" id="{136F5817-BAEC-95EA-D1A8-882859E4E7A3}"/>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230" name="Group 35">
            <a:extLst>
              <a:ext uri="{FF2B5EF4-FFF2-40B4-BE49-F238E27FC236}">
                <a16:creationId xmlns:a16="http://schemas.microsoft.com/office/drawing/2014/main" id="{DCDBD7AE-A969-80FD-6A93-0914AD30F8B2}"/>
              </a:ext>
            </a:extLst>
          </p:cNvPr>
          <p:cNvGrpSpPr>
            <a:grpSpLocks/>
          </p:cNvGrpSpPr>
          <p:nvPr/>
        </p:nvGrpSpPr>
        <p:grpSpPr bwMode="auto">
          <a:xfrm>
            <a:off x="4099995" y="968580"/>
            <a:ext cx="783138" cy="526362"/>
            <a:chOff x="4830" y="1752"/>
            <a:chExt cx="667" cy="477"/>
          </a:xfrm>
          <a:solidFill>
            <a:schemeClr val="bg1"/>
          </a:solidFill>
        </p:grpSpPr>
        <p:grpSp>
          <p:nvGrpSpPr>
            <p:cNvPr id="231" name="Group 36">
              <a:extLst>
                <a:ext uri="{FF2B5EF4-FFF2-40B4-BE49-F238E27FC236}">
                  <a16:creationId xmlns:a16="http://schemas.microsoft.com/office/drawing/2014/main" id="{CDF1AE72-B242-4D37-6203-B1166126FB2F}"/>
                </a:ext>
              </a:extLst>
            </p:cNvPr>
            <p:cNvGrpSpPr>
              <a:grpSpLocks/>
            </p:cNvGrpSpPr>
            <p:nvPr/>
          </p:nvGrpSpPr>
          <p:grpSpPr bwMode="auto">
            <a:xfrm>
              <a:off x="4830" y="1752"/>
              <a:ext cx="667" cy="477"/>
              <a:chOff x="2949" y="196"/>
              <a:chExt cx="941" cy="598"/>
            </a:xfrm>
            <a:grpFill/>
          </p:grpSpPr>
          <p:sp>
            <p:nvSpPr>
              <p:cNvPr id="233" name="Oval 37">
                <a:extLst>
                  <a:ext uri="{FF2B5EF4-FFF2-40B4-BE49-F238E27FC236}">
                    <a16:creationId xmlns:a16="http://schemas.microsoft.com/office/drawing/2014/main" id="{A8984857-254E-1CFC-2AFC-FA508AA71DD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4" name="Oval 38">
                <a:extLst>
                  <a:ext uri="{FF2B5EF4-FFF2-40B4-BE49-F238E27FC236}">
                    <a16:creationId xmlns:a16="http://schemas.microsoft.com/office/drawing/2014/main" id="{5DF6151C-34CF-9F7A-C651-CFF9024F31B4}"/>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5" name="Oval 39">
                <a:extLst>
                  <a:ext uri="{FF2B5EF4-FFF2-40B4-BE49-F238E27FC236}">
                    <a16:creationId xmlns:a16="http://schemas.microsoft.com/office/drawing/2014/main" id="{1EB3CC33-3F21-8F6C-383A-1DBA0B77AF32}"/>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6" name="Oval 40">
                <a:extLst>
                  <a:ext uri="{FF2B5EF4-FFF2-40B4-BE49-F238E27FC236}">
                    <a16:creationId xmlns:a16="http://schemas.microsoft.com/office/drawing/2014/main" id="{329B9932-E9C9-A2F0-637F-8E07B0BF5BB6}"/>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7" name="Oval 41">
                <a:extLst>
                  <a:ext uri="{FF2B5EF4-FFF2-40B4-BE49-F238E27FC236}">
                    <a16:creationId xmlns:a16="http://schemas.microsoft.com/office/drawing/2014/main" id="{84F67169-2C58-E597-A635-1A17B36FBA20}"/>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8" name="Oval 42">
                <a:extLst>
                  <a:ext uri="{FF2B5EF4-FFF2-40B4-BE49-F238E27FC236}">
                    <a16:creationId xmlns:a16="http://schemas.microsoft.com/office/drawing/2014/main" id="{17CEB103-1218-9B04-E6A3-CA7CE3AF6E8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9" name="Oval 43">
                <a:extLst>
                  <a:ext uri="{FF2B5EF4-FFF2-40B4-BE49-F238E27FC236}">
                    <a16:creationId xmlns:a16="http://schemas.microsoft.com/office/drawing/2014/main" id="{87A4CB8A-9F90-FFE1-E1BE-EC1A9E3F2E21}"/>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40" name="Oval 44">
                <a:extLst>
                  <a:ext uri="{FF2B5EF4-FFF2-40B4-BE49-F238E27FC236}">
                    <a16:creationId xmlns:a16="http://schemas.microsoft.com/office/drawing/2014/main" id="{E9112950-6771-36F2-F42C-ECE96F45EC75}"/>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41" name="Freeform 45">
                <a:extLst>
                  <a:ext uri="{FF2B5EF4-FFF2-40B4-BE49-F238E27FC236}">
                    <a16:creationId xmlns:a16="http://schemas.microsoft.com/office/drawing/2014/main" id="{C96C1E10-B97F-A981-71F5-78C31A631CFC}"/>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42" name="Freeform 46">
                <a:extLst>
                  <a:ext uri="{FF2B5EF4-FFF2-40B4-BE49-F238E27FC236}">
                    <a16:creationId xmlns:a16="http://schemas.microsoft.com/office/drawing/2014/main" id="{E757EAA4-7381-BDA8-6030-93F9A09CA1BB}"/>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43" name="Freeform 47">
                <a:extLst>
                  <a:ext uri="{FF2B5EF4-FFF2-40B4-BE49-F238E27FC236}">
                    <a16:creationId xmlns:a16="http://schemas.microsoft.com/office/drawing/2014/main" id="{1E06A38B-0F08-D05A-9C90-516DA8ED709C}"/>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32" name="Text Box 48">
              <a:extLst>
                <a:ext uri="{FF2B5EF4-FFF2-40B4-BE49-F238E27FC236}">
                  <a16:creationId xmlns:a16="http://schemas.microsoft.com/office/drawing/2014/main" id="{ACDBBC54-495E-1FB8-D3DD-8DF9427A3C87}"/>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244" name="表格 243">
            <a:extLst>
              <a:ext uri="{FF2B5EF4-FFF2-40B4-BE49-F238E27FC236}">
                <a16:creationId xmlns:a16="http://schemas.microsoft.com/office/drawing/2014/main" id="{F96982B4-8951-592E-C093-F07627A7EE69}"/>
              </a:ext>
            </a:extLst>
          </p:cNvPr>
          <p:cNvGraphicFramePr>
            <a:graphicFrameLocks noGrp="1"/>
          </p:cNvGraphicFramePr>
          <p:nvPr>
            <p:extLst>
              <p:ext uri="{D42A27DB-BD31-4B8C-83A1-F6EECF244321}">
                <p14:modId xmlns:p14="http://schemas.microsoft.com/office/powerpoint/2010/main" val="1228947717"/>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5" name="表格 244">
            <a:extLst>
              <a:ext uri="{FF2B5EF4-FFF2-40B4-BE49-F238E27FC236}">
                <a16:creationId xmlns:a16="http://schemas.microsoft.com/office/drawing/2014/main" id="{6F58DB11-1B50-59DB-A9CF-EAA95EB0C53B}"/>
              </a:ext>
            </a:extLst>
          </p:cNvPr>
          <p:cNvGraphicFramePr>
            <a:graphicFrameLocks noGrp="1"/>
          </p:cNvGraphicFramePr>
          <p:nvPr>
            <p:extLst>
              <p:ext uri="{D42A27DB-BD31-4B8C-83A1-F6EECF244321}">
                <p14:modId xmlns:p14="http://schemas.microsoft.com/office/powerpoint/2010/main" val="237083960"/>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6" name="表格 245">
            <a:extLst>
              <a:ext uri="{FF2B5EF4-FFF2-40B4-BE49-F238E27FC236}">
                <a16:creationId xmlns:a16="http://schemas.microsoft.com/office/drawing/2014/main" id="{8EF5BF7F-BC52-F625-4042-F495D302BD03}"/>
              </a:ext>
            </a:extLst>
          </p:cNvPr>
          <p:cNvGraphicFramePr>
            <a:graphicFrameLocks noGrp="1"/>
          </p:cNvGraphicFramePr>
          <p:nvPr>
            <p:extLst>
              <p:ext uri="{D42A27DB-BD31-4B8C-83A1-F6EECF244321}">
                <p14:modId xmlns:p14="http://schemas.microsoft.com/office/powerpoint/2010/main" val="471634576"/>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7" name="表格 246">
            <a:extLst>
              <a:ext uri="{FF2B5EF4-FFF2-40B4-BE49-F238E27FC236}">
                <a16:creationId xmlns:a16="http://schemas.microsoft.com/office/drawing/2014/main" id="{C0102673-BED8-A676-12F2-77C6A4A68B18}"/>
              </a:ext>
            </a:extLst>
          </p:cNvPr>
          <p:cNvGraphicFramePr>
            <a:graphicFrameLocks noGrp="1"/>
          </p:cNvGraphicFramePr>
          <p:nvPr>
            <p:extLst>
              <p:ext uri="{D42A27DB-BD31-4B8C-83A1-F6EECF244321}">
                <p14:modId xmlns:p14="http://schemas.microsoft.com/office/powerpoint/2010/main" val="938954286"/>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8" name="表格 247">
            <a:extLst>
              <a:ext uri="{FF2B5EF4-FFF2-40B4-BE49-F238E27FC236}">
                <a16:creationId xmlns:a16="http://schemas.microsoft.com/office/drawing/2014/main" id="{5FDD7419-F343-AE87-19E8-6B6322E91A5A}"/>
              </a:ext>
            </a:extLst>
          </p:cNvPr>
          <p:cNvGraphicFramePr>
            <a:graphicFrameLocks noGrp="1"/>
          </p:cNvGraphicFramePr>
          <p:nvPr>
            <p:extLst>
              <p:ext uri="{D42A27DB-BD31-4B8C-83A1-F6EECF244321}">
                <p14:modId xmlns:p14="http://schemas.microsoft.com/office/powerpoint/2010/main" val="1497200685"/>
              </p:ext>
            </p:extLst>
          </p:nvPr>
        </p:nvGraphicFramePr>
        <p:xfrm>
          <a:off x="2553388" y="277649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9" name="表格 248">
            <a:extLst>
              <a:ext uri="{FF2B5EF4-FFF2-40B4-BE49-F238E27FC236}">
                <a16:creationId xmlns:a16="http://schemas.microsoft.com/office/drawing/2014/main" id="{3E127D8F-1A04-067A-623A-AA70E7062D89}"/>
              </a:ext>
            </a:extLst>
          </p:cNvPr>
          <p:cNvGraphicFramePr>
            <a:graphicFrameLocks noGrp="1"/>
          </p:cNvGraphicFramePr>
          <p:nvPr>
            <p:extLst>
              <p:ext uri="{D42A27DB-BD31-4B8C-83A1-F6EECF244321}">
                <p14:modId xmlns:p14="http://schemas.microsoft.com/office/powerpoint/2010/main" val="2843286138"/>
              </p:ext>
            </p:extLst>
          </p:nvPr>
        </p:nvGraphicFramePr>
        <p:xfrm>
          <a:off x="4897954" y="277649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0" name="表格 249">
            <a:extLst>
              <a:ext uri="{FF2B5EF4-FFF2-40B4-BE49-F238E27FC236}">
                <a16:creationId xmlns:a16="http://schemas.microsoft.com/office/drawing/2014/main" id="{D3DB74FA-E7C6-B11E-66FC-A1A8E1773CE9}"/>
              </a:ext>
            </a:extLst>
          </p:cNvPr>
          <p:cNvGraphicFramePr>
            <a:graphicFrameLocks noGrp="1"/>
          </p:cNvGraphicFramePr>
          <p:nvPr>
            <p:extLst>
              <p:ext uri="{D42A27DB-BD31-4B8C-83A1-F6EECF244321}">
                <p14:modId xmlns:p14="http://schemas.microsoft.com/office/powerpoint/2010/main" val="3516004655"/>
              </p:ext>
            </p:extLst>
          </p:nvPr>
        </p:nvGraphicFramePr>
        <p:xfrm>
          <a:off x="2553388" y="312712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1" name="表格 250">
            <a:extLst>
              <a:ext uri="{FF2B5EF4-FFF2-40B4-BE49-F238E27FC236}">
                <a16:creationId xmlns:a16="http://schemas.microsoft.com/office/drawing/2014/main" id="{1498BE12-CDB6-AE3D-F3DF-850B13EBDD7F}"/>
              </a:ext>
            </a:extLst>
          </p:cNvPr>
          <p:cNvGraphicFramePr>
            <a:graphicFrameLocks noGrp="1"/>
          </p:cNvGraphicFramePr>
          <p:nvPr>
            <p:extLst>
              <p:ext uri="{D42A27DB-BD31-4B8C-83A1-F6EECF244321}">
                <p14:modId xmlns:p14="http://schemas.microsoft.com/office/powerpoint/2010/main" val="3909295978"/>
              </p:ext>
            </p:extLst>
          </p:nvPr>
        </p:nvGraphicFramePr>
        <p:xfrm>
          <a:off x="4897954" y="312712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5</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2" name="表格 251">
            <a:extLst>
              <a:ext uri="{FF2B5EF4-FFF2-40B4-BE49-F238E27FC236}">
                <a16:creationId xmlns:a16="http://schemas.microsoft.com/office/drawing/2014/main" id="{50B95536-DFDD-4D34-4EDE-60D60B1B4303}"/>
              </a:ext>
            </a:extLst>
          </p:cNvPr>
          <p:cNvGraphicFramePr>
            <a:graphicFrameLocks noGrp="1"/>
          </p:cNvGraphicFramePr>
          <p:nvPr>
            <p:extLst>
              <p:ext uri="{D42A27DB-BD31-4B8C-83A1-F6EECF244321}">
                <p14:modId xmlns:p14="http://schemas.microsoft.com/office/powerpoint/2010/main" val="510985077"/>
              </p:ext>
            </p:extLst>
          </p:nvPr>
        </p:nvGraphicFramePr>
        <p:xfrm>
          <a:off x="2553388" y="3472420"/>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3" name="表格 252">
            <a:extLst>
              <a:ext uri="{FF2B5EF4-FFF2-40B4-BE49-F238E27FC236}">
                <a16:creationId xmlns:a16="http://schemas.microsoft.com/office/drawing/2014/main" id="{6E572B80-BE9C-95BE-33BC-F78F253C2CE6}"/>
              </a:ext>
            </a:extLst>
          </p:cNvPr>
          <p:cNvGraphicFramePr>
            <a:graphicFrameLocks noGrp="1"/>
          </p:cNvGraphicFramePr>
          <p:nvPr>
            <p:extLst>
              <p:ext uri="{D42A27DB-BD31-4B8C-83A1-F6EECF244321}">
                <p14:modId xmlns:p14="http://schemas.microsoft.com/office/powerpoint/2010/main" val="1578829279"/>
              </p:ext>
            </p:extLst>
          </p:nvPr>
        </p:nvGraphicFramePr>
        <p:xfrm>
          <a:off x="4897954" y="3472420"/>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pic>
        <p:nvPicPr>
          <p:cNvPr id="50" name="Picture 200" descr="jisuanji">
            <a:extLst>
              <a:ext uri="{FF2B5EF4-FFF2-40B4-BE49-F238E27FC236}">
                <a16:creationId xmlns:a16="http://schemas.microsoft.com/office/drawing/2014/main" id="{5B366E7C-6CCF-3822-4C77-DDC69AA93AD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05417" y="2432635"/>
            <a:ext cx="415544" cy="3868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9900723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998DA65-F12A-F1D6-AD0E-04C21FBB2341}"/>
              </a:ext>
            </a:extLst>
          </p:cNvPr>
          <p:cNvSpPr>
            <a:spLocks noGrp="1"/>
          </p:cNvSpPr>
          <p:nvPr>
            <p:ph type="title"/>
          </p:nvPr>
        </p:nvSpPr>
        <p:spPr>
          <a:xfrm>
            <a:off x="486000" y="550723"/>
            <a:ext cx="8172000" cy="338554"/>
          </a:xfrm>
        </p:spPr>
        <p:txBody>
          <a:bodyPr/>
          <a:lstStyle/>
          <a:p>
            <a:r>
              <a:rPr lang="en-US" altLang="zh-CN" dirty="0"/>
              <a:t>RIP </a:t>
            </a:r>
            <a:r>
              <a:rPr lang="zh-CN" altLang="en-US" dirty="0"/>
              <a:t>协议的优缺点</a:t>
            </a:r>
          </a:p>
        </p:txBody>
      </p:sp>
      <p:sp>
        <p:nvSpPr>
          <p:cNvPr id="6" name="内容占位符 5">
            <a:extLst>
              <a:ext uri="{FF2B5EF4-FFF2-40B4-BE49-F238E27FC236}">
                <a16:creationId xmlns:a16="http://schemas.microsoft.com/office/drawing/2014/main" id="{76D2C7DC-BA91-3575-3D7E-F7916537FEAD}"/>
              </a:ext>
            </a:extLst>
          </p:cNvPr>
          <p:cNvSpPr>
            <a:spLocks noGrp="1"/>
          </p:cNvSpPr>
          <p:nvPr>
            <p:ph sz="quarter" idx="11"/>
          </p:nvPr>
        </p:nvSpPr>
        <p:spPr>
          <a:xfrm>
            <a:off x="486000" y="900000"/>
            <a:ext cx="8172000" cy="3703500"/>
          </a:xfrm>
        </p:spPr>
        <p:txBody>
          <a:bodyPr/>
          <a:lstStyle/>
          <a:p>
            <a:r>
              <a:rPr lang="zh-CN" altLang="en-US" dirty="0"/>
              <a:t>优点：</a:t>
            </a:r>
          </a:p>
          <a:p>
            <a:pPr lvl="1"/>
            <a:r>
              <a:rPr lang="zh-CN" altLang="en-US" dirty="0"/>
              <a:t>实现简单，开销较小</a:t>
            </a:r>
          </a:p>
          <a:p>
            <a:r>
              <a:rPr lang="zh-CN" altLang="en-US" dirty="0"/>
              <a:t>缺点：</a:t>
            </a:r>
          </a:p>
          <a:p>
            <a:pPr lvl="1"/>
            <a:r>
              <a:rPr lang="zh-CN" altLang="en-US" dirty="0"/>
              <a:t>网络规模有限。最大距离为 </a:t>
            </a:r>
            <a:r>
              <a:rPr lang="en-US" altLang="zh-CN" dirty="0"/>
              <a:t>15</a:t>
            </a:r>
            <a:r>
              <a:rPr lang="zh-CN" altLang="en-US" dirty="0"/>
              <a:t>（</a:t>
            </a:r>
            <a:r>
              <a:rPr lang="en-US" altLang="zh-CN" dirty="0"/>
              <a:t>16 </a:t>
            </a:r>
            <a:r>
              <a:rPr lang="zh-CN" altLang="en-US" dirty="0"/>
              <a:t>表示不可达）</a:t>
            </a:r>
          </a:p>
          <a:p>
            <a:pPr lvl="1"/>
            <a:r>
              <a:rPr lang="zh-CN" altLang="en-US" dirty="0"/>
              <a:t>交换的路由信息为完整路由表，开销较大</a:t>
            </a:r>
          </a:p>
          <a:p>
            <a:pPr lvl="1"/>
            <a:r>
              <a:rPr lang="zh-CN" altLang="en-US" dirty="0"/>
              <a:t>坏消息传播得慢，收敛时间过长</a:t>
            </a:r>
          </a:p>
          <a:p>
            <a:endParaRPr lang="zh-CN" altLang="en-US" dirty="0"/>
          </a:p>
        </p:txBody>
      </p:sp>
    </p:spTree>
    <p:extLst>
      <p:ext uri="{BB962C8B-B14F-4D97-AF65-F5344CB8AC3E}">
        <p14:creationId xmlns:p14="http://schemas.microsoft.com/office/powerpoint/2010/main" val="11606837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442748" y="1587428"/>
            <a:ext cx="6258503" cy="2717359"/>
            <a:chOff x="1113847" y="1369650"/>
            <a:chExt cx="6258503" cy="2717359"/>
          </a:xfrm>
        </p:grpSpPr>
        <p:sp>
          <p:nvSpPr>
            <p:cNvPr id="6" name="矩形 5"/>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7" name="矩形 6"/>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8" name="矩形 7"/>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9" name="矩形 8"/>
            <p:cNvSpPr/>
            <p:nvPr/>
          </p:nvSpPr>
          <p:spPr>
            <a:xfrm>
              <a:off x="1113847" y="3109407"/>
              <a:ext cx="1802444" cy="67065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距离向量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(Distance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10" name="矩形 9"/>
            <p:cNvSpPr/>
            <p:nvPr/>
          </p:nvSpPr>
          <p:spPr>
            <a:xfrm>
              <a:off x="3220430" y="3109408"/>
              <a:ext cx="1802444" cy="670653"/>
            </a:xfrm>
            <a:prstGeom prst="rect">
              <a:avLst/>
            </a:prstGeom>
            <a:solidFill>
              <a:srgbClr val="C0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链路状态</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(Link State)</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1" name="矩形 10"/>
            <p:cNvSpPr/>
            <p:nvPr/>
          </p:nvSpPr>
          <p:spPr>
            <a:xfrm>
              <a:off x="5569907" y="3109408"/>
              <a:ext cx="1802443" cy="671608"/>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路径向量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(Path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cxnSp>
          <p:nvCxnSpPr>
            <p:cNvPr id="12" name="直接连接符 11"/>
            <p:cNvCxnSpPr>
              <a:endCxn id="7"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a:endCxn id="8"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a:stCxn id="7"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a:stCxn id="7" idx="2"/>
              <a:endCxn id="10"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a:stCxn id="8" idx="2"/>
              <a:endCxn id="11"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矩形 16"/>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18" name="矩形 17"/>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19" name="矩形 18"/>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
        <p:nvSpPr>
          <p:cNvPr id="4" name="标题 3">
            <a:extLst>
              <a:ext uri="{FF2B5EF4-FFF2-40B4-BE49-F238E27FC236}">
                <a16:creationId xmlns:a16="http://schemas.microsoft.com/office/drawing/2014/main" id="{2BF913F9-C7D9-9EC1-BAE2-67197782863D}"/>
              </a:ext>
            </a:extLst>
          </p:cNvPr>
          <p:cNvSpPr>
            <a:spLocks noGrp="1"/>
          </p:cNvSpPr>
          <p:nvPr>
            <p:ph type="title"/>
          </p:nvPr>
        </p:nvSpPr>
        <p:spPr>
          <a:xfrm>
            <a:off x="486000" y="550723"/>
            <a:ext cx="8172000" cy="338554"/>
          </a:xfrm>
        </p:spPr>
        <p:txBody>
          <a:bodyPr/>
          <a:lstStyle/>
          <a:p>
            <a:r>
              <a:rPr lang="en-US" altLang="zh-CN" dirty="0"/>
              <a:t>4.6.3  </a:t>
            </a:r>
            <a:r>
              <a:rPr lang="zh-CN" altLang="en-US" dirty="0"/>
              <a:t>内部网关协议 </a:t>
            </a:r>
            <a:r>
              <a:rPr lang="en-US" altLang="zh-CN" dirty="0"/>
              <a:t>OSPF</a:t>
            </a:r>
            <a:endParaRPr lang="zh-CN" altLang="en-US" dirty="0"/>
          </a:p>
        </p:txBody>
      </p:sp>
    </p:spTree>
    <p:extLst>
      <p:ext uri="{BB962C8B-B14F-4D97-AF65-F5344CB8AC3E}">
        <p14:creationId xmlns:p14="http://schemas.microsoft.com/office/powerpoint/2010/main" val="41608671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7E40E5B-510E-3AA8-E497-9DA51FA36EC7}"/>
              </a:ext>
            </a:extLst>
          </p:cNvPr>
          <p:cNvSpPr>
            <a:spLocks noGrp="1"/>
          </p:cNvSpPr>
          <p:nvPr>
            <p:ph type="title"/>
          </p:nvPr>
        </p:nvSpPr>
        <p:spPr>
          <a:xfrm>
            <a:off x="486000" y="550723"/>
            <a:ext cx="8172000" cy="338554"/>
          </a:xfrm>
        </p:spPr>
        <p:txBody>
          <a:bodyPr/>
          <a:lstStyle/>
          <a:p>
            <a:r>
              <a:rPr lang="en-US" altLang="zh-CN" dirty="0"/>
              <a:t>4.6.3  </a:t>
            </a:r>
            <a:r>
              <a:rPr lang="zh-CN" altLang="en-US" dirty="0"/>
              <a:t>内部网关协议 </a:t>
            </a:r>
            <a:r>
              <a:rPr lang="en-US" altLang="zh-CN" dirty="0"/>
              <a:t>OSPF</a:t>
            </a:r>
            <a:endParaRPr lang="zh-CN" altLang="en-US" dirty="0"/>
          </a:p>
        </p:txBody>
      </p:sp>
      <p:sp>
        <p:nvSpPr>
          <p:cNvPr id="6" name="内容占位符 5">
            <a:extLst>
              <a:ext uri="{FF2B5EF4-FFF2-40B4-BE49-F238E27FC236}">
                <a16:creationId xmlns:a16="http://schemas.microsoft.com/office/drawing/2014/main" id="{74E14C42-CBD2-594E-3580-B6A3176C5E0D}"/>
              </a:ext>
            </a:extLst>
          </p:cNvPr>
          <p:cNvSpPr>
            <a:spLocks noGrp="1"/>
          </p:cNvSpPr>
          <p:nvPr>
            <p:ph sz="quarter" idx="11"/>
          </p:nvPr>
        </p:nvSpPr>
        <p:spPr>
          <a:xfrm>
            <a:off x="486000" y="900000"/>
            <a:ext cx="8172000" cy="3703500"/>
          </a:xfrm>
        </p:spPr>
        <p:txBody>
          <a:bodyPr/>
          <a:lstStyle/>
          <a:p>
            <a:r>
              <a:rPr lang="zh-CN" altLang="en-US" dirty="0"/>
              <a:t>开放最短路径优先</a:t>
            </a:r>
            <a:endParaRPr lang="en-US" altLang="zh-CN" dirty="0"/>
          </a:p>
          <a:p>
            <a:pPr lvl="1"/>
            <a:r>
              <a:rPr lang="en-US" altLang="zh-CN" dirty="0"/>
              <a:t>OSPF - Open Shortest Path First</a:t>
            </a:r>
          </a:p>
          <a:p>
            <a:r>
              <a:rPr lang="zh-CN" altLang="en-US" dirty="0"/>
              <a:t>是为克服 </a:t>
            </a:r>
            <a:r>
              <a:rPr lang="en-US" altLang="zh-CN" dirty="0"/>
              <a:t>RIP </a:t>
            </a:r>
            <a:r>
              <a:rPr lang="zh-CN" altLang="en-US" dirty="0"/>
              <a:t>的缺点</a:t>
            </a:r>
            <a:endParaRPr lang="en-US" altLang="zh-CN" dirty="0"/>
          </a:p>
          <a:p>
            <a:pPr lvl="1"/>
            <a:r>
              <a:rPr lang="zh-CN" altLang="en-US" dirty="0"/>
              <a:t>坏消息传播得慢</a:t>
            </a:r>
            <a:endParaRPr lang="en-US" altLang="zh-CN" dirty="0"/>
          </a:p>
          <a:p>
            <a:pPr lvl="1"/>
            <a:r>
              <a:rPr lang="zh-CN" altLang="en-US" dirty="0"/>
              <a:t>小型网络</a:t>
            </a:r>
            <a:endParaRPr lang="en-US" altLang="zh-CN" dirty="0"/>
          </a:p>
          <a:p>
            <a:r>
              <a:rPr lang="en-US" altLang="zh-CN" dirty="0"/>
              <a:t>1989 </a:t>
            </a:r>
            <a:r>
              <a:rPr lang="zh-CN" altLang="en-US" dirty="0"/>
              <a:t>年开发出来的</a:t>
            </a:r>
          </a:p>
          <a:p>
            <a:r>
              <a:rPr lang="zh-CN" altLang="en-US" dirty="0"/>
              <a:t>原理很简单，但实现很复杂</a:t>
            </a:r>
            <a:endParaRPr lang="en-US" altLang="zh-CN" dirty="0"/>
          </a:p>
          <a:p>
            <a:r>
              <a:rPr lang="zh-CN" altLang="en-US" dirty="0"/>
              <a:t>使用了 </a:t>
            </a:r>
            <a:r>
              <a:rPr lang="en-US" altLang="zh-CN" dirty="0"/>
              <a:t>Dijkstra </a:t>
            </a:r>
            <a:r>
              <a:rPr lang="zh-CN" altLang="en-US" dirty="0"/>
              <a:t>提出的最短路径算法 </a:t>
            </a:r>
            <a:r>
              <a:rPr lang="en-US" altLang="zh-CN" dirty="0"/>
              <a:t>SPF</a:t>
            </a:r>
          </a:p>
          <a:p>
            <a:r>
              <a:rPr lang="zh-CN" altLang="en-US" dirty="0"/>
              <a:t>采用分布式的链路状态协议 </a:t>
            </a:r>
            <a:r>
              <a:rPr lang="en-US" altLang="zh-CN" dirty="0"/>
              <a:t>link state protocol</a:t>
            </a:r>
            <a:endParaRPr lang="zh-CN" altLang="en-US" dirty="0"/>
          </a:p>
          <a:p>
            <a:r>
              <a:rPr lang="zh-CN" altLang="en-US" dirty="0"/>
              <a:t>现在使用 </a:t>
            </a:r>
            <a:r>
              <a:rPr lang="en-US" altLang="zh-CN" dirty="0"/>
              <a:t>OSPF v2</a:t>
            </a:r>
            <a:endParaRPr lang="zh-CN" altLang="en-US" dirty="0"/>
          </a:p>
          <a:p>
            <a:endParaRPr lang="zh-CN" altLang="en-US" dirty="0"/>
          </a:p>
        </p:txBody>
      </p:sp>
    </p:spTree>
    <p:extLst>
      <p:ext uri="{BB962C8B-B14F-4D97-AF65-F5344CB8AC3E}">
        <p14:creationId xmlns:p14="http://schemas.microsoft.com/office/powerpoint/2010/main" val="36184603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351FAA3-79DE-1144-FADC-1A95B41C6084}"/>
              </a:ext>
            </a:extLst>
          </p:cNvPr>
          <p:cNvSpPr>
            <a:spLocks noGrp="1"/>
          </p:cNvSpPr>
          <p:nvPr>
            <p:ph type="title"/>
          </p:nvPr>
        </p:nvSpPr>
        <p:spPr>
          <a:xfrm>
            <a:off x="486000" y="550723"/>
            <a:ext cx="8172000" cy="338554"/>
          </a:xfrm>
        </p:spPr>
        <p:txBody>
          <a:bodyPr/>
          <a:lstStyle/>
          <a:p>
            <a:r>
              <a:rPr lang="zh-CN" altLang="en-US" dirty="0"/>
              <a:t>三个主要特点</a:t>
            </a:r>
          </a:p>
        </p:txBody>
      </p:sp>
      <p:sp>
        <p:nvSpPr>
          <p:cNvPr id="6" name="内容占位符 5">
            <a:extLst>
              <a:ext uri="{FF2B5EF4-FFF2-40B4-BE49-F238E27FC236}">
                <a16:creationId xmlns:a16="http://schemas.microsoft.com/office/drawing/2014/main" id="{94628B50-46E3-8911-7FDE-BB5DF06FC484}"/>
              </a:ext>
            </a:extLst>
          </p:cNvPr>
          <p:cNvSpPr>
            <a:spLocks noGrp="1"/>
          </p:cNvSpPr>
          <p:nvPr>
            <p:ph sz="quarter" idx="11"/>
          </p:nvPr>
        </p:nvSpPr>
        <p:spPr>
          <a:xfrm>
            <a:off x="486000" y="900000"/>
            <a:ext cx="8172000" cy="3703500"/>
          </a:xfrm>
        </p:spPr>
        <p:txBody>
          <a:bodyPr/>
          <a:lstStyle/>
          <a:p>
            <a:r>
              <a:rPr lang="zh-CN" altLang="en-US" dirty="0"/>
              <a:t>采用洪泛法 </a:t>
            </a:r>
            <a:r>
              <a:rPr lang="en-US" altLang="zh-CN" dirty="0"/>
              <a:t>flooding </a:t>
            </a:r>
            <a:r>
              <a:rPr lang="zh-CN" altLang="en-US" dirty="0"/>
              <a:t>向本自治系统中所有路由器发送信息</a:t>
            </a:r>
          </a:p>
          <a:p>
            <a:r>
              <a:rPr lang="zh-CN" altLang="en-US" dirty="0"/>
              <a:t>发送的信息是与本路由器相邻的所有路由器的链路状态</a:t>
            </a:r>
            <a:endParaRPr lang="en-US" altLang="zh-CN" dirty="0"/>
          </a:p>
          <a:p>
            <a:pPr lvl="1"/>
            <a:r>
              <a:rPr lang="zh-CN" altLang="en-US" dirty="0"/>
              <a:t>当前路由器所知道的部分信息</a:t>
            </a:r>
            <a:r>
              <a:rPr lang="en-US" altLang="zh-CN" dirty="0"/>
              <a:t>/</a:t>
            </a:r>
            <a:r>
              <a:rPr lang="zh-CN" altLang="en-US" dirty="0"/>
              <a:t>网络情况</a:t>
            </a:r>
          </a:p>
          <a:p>
            <a:pPr lvl="1"/>
            <a:r>
              <a:rPr lang="zh-CN" altLang="en-US" dirty="0"/>
              <a:t>链路状态：说明本路由器都和哪些路由器相邻，以及该链路的度量 </a:t>
            </a:r>
            <a:r>
              <a:rPr lang="en-US" altLang="zh-CN" dirty="0"/>
              <a:t>metric</a:t>
            </a:r>
            <a:endParaRPr lang="zh-CN" altLang="en-US" dirty="0"/>
          </a:p>
          <a:p>
            <a:r>
              <a:rPr lang="zh-CN" altLang="en-US" dirty="0"/>
              <a:t>当链路状态发生变化或每隔一段时间（如</a:t>
            </a:r>
            <a:r>
              <a:rPr lang="en-US" altLang="zh-CN" dirty="0"/>
              <a:t>30</a:t>
            </a:r>
            <a:r>
              <a:rPr lang="zh-CN" altLang="en-US" dirty="0"/>
              <a:t>分钟），路由器才用洪泛法向所有路由器发送此信息</a:t>
            </a:r>
          </a:p>
          <a:p>
            <a:endParaRPr lang="zh-CN" altLang="en-US" dirty="0"/>
          </a:p>
        </p:txBody>
      </p:sp>
    </p:spTree>
    <p:extLst>
      <p:ext uri="{BB962C8B-B14F-4D97-AF65-F5344CB8AC3E}">
        <p14:creationId xmlns:p14="http://schemas.microsoft.com/office/powerpoint/2010/main" val="14492843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C98B77A6-839D-CB18-E491-384990A8DDEA}"/>
              </a:ext>
            </a:extLst>
          </p:cNvPr>
          <p:cNvSpPr>
            <a:spLocks noGrp="1"/>
          </p:cNvSpPr>
          <p:nvPr>
            <p:ph type="title"/>
          </p:nvPr>
        </p:nvSpPr>
        <p:spPr>
          <a:xfrm>
            <a:off x="486000" y="550723"/>
            <a:ext cx="8172000" cy="338554"/>
          </a:xfrm>
        </p:spPr>
        <p:txBody>
          <a:bodyPr/>
          <a:lstStyle/>
          <a:p>
            <a:r>
              <a:rPr lang="zh-CN" altLang="en-US" dirty="0"/>
              <a:t>链路状态数据库 </a:t>
            </a:r>
            <a:r>
              <a:rPr lang="en-US" altLang="zh-CN" dirty="0"/>
              <a:t>link-state database</a:t>
            </a:r>
            <a:endParaRPr lang="zh-CN" altLang="en-US" dirty="0"/>
          </a:p>
        </p:txBody>
      </p:sp>
      <p:sp>
        <p:nvSpPr>
          <p:cNvPr id="8" name="内容占位符 7">
            <a:extLst>
              <a:ext uri="{FF2B5EF4-FFF2-40B4-BE49-F238E27FC236}">
                <a16:creationId xmlns:a16="http://schemas.microsoft.com/office/drawing/2014/main" id="{4E5646B2-4C85-E353-3393-9CAE1957BF4C}"/>
              </a:ext>
            </a:extLst>
          </p:cNvPr>
          <p:cNvSpPr>
            <a:spLocks noGrp="1"/>
          </p:cNvSpPr>
          <p:nvPr>
            <p:ph sz="quarter" idx="11"/>
          </p:nvPr>
        </p:nvSpPr>
        <p:spPr>
          <a:xfrm>
            <a:off x="486000" y="900000"/>
            <a:ext cx="8172000" cy="3703500"/>
          </a:xfrm>
        </p:spPr>
        <p:txBody>
          <a:bodyPr/>
          <a:lstStyle/>
          <a:p>
            <a:r>
              <a:rPr lang="zh-CN" altLang="en-US" dirty="0"/>
              <a:t>每个路由器最终都能建立全网的拓扑结构图</a:t>
            </a:r>
            <a:endParaRPr lang="en-US" altLang="zh-CN" dirty="0"/>
          </a:p>
          <a:p>
            <a:r>
              <a:rPr lang="zh-CN" altLang="en-US" dirty="0"/>
              <a:t>在全网范围内是一致的 </a:t>
            </a:r>
            <a:r>
              <a:rPr lang="en-US" altLang="zh-CN" dirty="0"/>
              <a:t>- </a:t>
            </a:r>
            <a:r>
              <a:rPr lang="zh-CN" altLang="en-US" dirty="0"/>
              <a:t>称为链路状态数据库的同步</a:t>
            </a:r>
          </a:p>
          <a:p>
            <a:r>
              <a:rPr lang="zh-CN" altLang="en-US" dirty="0"/>
              <a:t>每个路由器使用链路状态数据库中的数据构造自己的路由表（例如，使用</a:t>
            </a:r>
            <a:r>
              <a:rPr lang="en-US" altLang="zh-CN" dirty="0"/>
              <a:t>Dijkstra</a:t>
            </a:r>
            <a:r>
              <a:rPr lang="zh-CN" altLang="en-US" dirty="0"/>
              <a:t>的最短路径路由算法）</a:t>
            </a:r>
            <a:endParaRPr lang="en-US" altLang="zh-CN" dirty="0"/>
          </a:p>
          <a:p>
            <a:r>
              <a:rPr lang="zh-CN" altLang="en-US" dirty="0"/>
              <a:t>链路状态数据库能较快地进行更新，使各个路由器能及时更新其路由表</a:t>
            </a:r>
          </a:p>
          <a:p>
            <a:r>
              <a:rPr lang="zh-CN" altLang="en-US" dirty="0"/>
              <a:t>重要优点：</a:t>
            </a:r>
            <a:endParaRPr lang="en-US" altLang="zh-CN" dirty="0"/>
          </a:p>
          <a:p>
            <a:pPr lvl="1"/>
            <a:r>
              <a:rPr lang="zh-CN" altLang="en-US" dirty="0"/>
              <a:t>更新过程收敛速度快</a:t>
            </a:r>
          </a:p>
          <a:p>
            <a:endParaRPr lang="en-US" altLang="zh-CN" dirty="0"/>
          </a:p>
          <a:p>
            <a:endParaRPr lang="zh-CN" altLang="en-US" dirty="0"/>
          </a:p>
        </p:txBody>
      </p:sp>
    </p:spTree>
    <p:extLst>
      <p:ext uri="{BB962C8B-B14F-4D97-AF65-F5344CB8AC3E}">
        <p14:creationId xmlns:p14="http://schemas.microsoft.com/office/powerpoint/2010/main" val="27030776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D9A941F-F5E4-50CA-FD2D-7A997FF5E84F}"/>
              </a:ext>
            </a:extLst>
          </p:cNvPr>
          <p:cNvSpPr>
            <a:spLocks noGrp="1"/>
          </p:cNvSpPr>
          <p:nvPr>
            <p:ph type="title"/>
          </p:nvPr>
        </p:nvSpPr>
        <p:spPr>
          <a:xfrm>
            <a:off x="486000" y="550723"/>
            <a:ext cx="8172000" cy="338554"/>
          </a:xfrm>
        </p:spPr>
        <p:txBody>
          <a:bodyPr/>
          <a:lstStyle/>
          <a:p>
            <a:r>
              <a:rPr lang="en-US" altLang="zh-CN" dirty="0"/>
              <a:t>OSPF </a:t>
            </a:r>
            <a:r>
              <a:rPr lang="zh-CN" altLang="en-US" dirty="0"/>
              <a:t>自治系统</a:t>
            </a:r>
          </a:p>
        </p:txBody>
      </p:sp>
      <p:sp>
        <p:nvSpPr>
          <p:cNvPr id="11" name="内容占位符 10">
            <a:extLst>
              <a:ext uri="{FF2B5EF4-FFF2-40B4-BE49-F238E27FC236}">
                <a16:creationId xmlns:a16="http://schemas.microsoft.com/office/drawing/2014/main" id="{9981C447-EF45-A04B-8CFC-F70B151209E8}"/>
              </a:ext>
            </a:extLst>
          </p:cNvPr>
          <p:cNvSpPr>
            <a:spLocks noGrp="1"/>
          </p:cNvSpPr>
          <p:nvPr>
            <p:ph sz="quarter" idx="11"/>
          </p:nvPr>
        </p:nvSpPr>
        <p:spPr>
          <a:xfrm>
            <a:off x="486000" y="900000"/>
            <a:ext cx="8172000" cy="3703500"/>
          </a:xfrm>
        </p:spPr>
        <p:txBody>
          <a:bodyPr/>
          <a:lstStyle/>
          <a:p>
            <a:r>
              <a:rPr lang="zh-CN" altLang="en-US" dirty="0"/>
              <a:t>自治系统边界路由器 </a:t>
            </a:r>
            <a:r>
              <a:rPr lang="en-US" altLang="zh-CN" dirty="0"/>
              <a:t>ASBR - AS Border Router</a:t>
            </a:r>
            <a:r>
              <a:rPr lang="zh-CN" altLang="en-US" dirty="0"/>
              <a:t>；</a:t>
            </a:r>
            <a:r>
              <a:rPr lang="en-US" altLang="zh-CN" dirty="0"/>
              <a:t>R6</a:t>
            </a:r>
          </a:p>
          <a:p>
            <a:r>
              <a:rPr lang="zh-CN" altLang="en-US" dirty="0"/>
              <a:t>主干路由器 </a:t>
            </a:r>
            <a:r>
              <a:rPr lang="en-US" altLang="zh-CN" dirty="0"/>
              <a:t>BR -Backbone Router</a:t>
            </a:r>
            <a:r>
              <a:rPr lang="zh-CN" altLang="en-US" dirty="0"/>
              <a:t>；</a:t>
            </a:r>
            <a:r>
              <a:rPr lang="en-US" altLang="zh-CN" dirty="0"/>
              <a:t>R3 R4 R5 R6 R7</a:t>
            </a:r>
          </a:p>
          <a:p>
            <a:r>
              <a:rPr lang="zh-CN" altLang="en-US" dirty="0"/>
              <a:t>区域边界路由器 </a:t>
            </a:r>
            <a:r>
              <a:rPr lang="en-US" altLang="zh-CN" dirty="0"/>
              <a:t>ABR  - Area Border Router</a:t>
            </a:r>
            <a:r>
              <a:rPr lang="zh-CN" altLang="en-US" dirty="0"/>
              <a:t>；</a:t>
            </a:r>
            <a:r>
              <a:rPr lang="en-US" altLang="zh-CN" dirty="0"/>
              <a:t>R3 R4 R7</a:t>
            </a:r>
          </a:p>
        </p:txBody>
      </p:sp>
      <p:sp>
        <p:nvSpPr>
          <p:cNvPr id="21" name="AutoShape 3"/>
          <p:cNvSpPr>
            <a:spLocks noChangeArrowheads="1"/>
          </p:cNvSpPr>
          <p:nvPr/>
        </p:nvSpPr>
        <p:spPr bwMode="auto">
          <a:xfrm>
            <a:off x="993058" y="2042247"/>
            <a:ext cx="7086532" cy="2764456"/>
          </a:xfrm>
          <a:prstGeom prst="roundRect">
            <a:avLst>
              <a:gd name="adj" fmla="val 3945"/>
            </a:avLst>
          </a:prstGeom>
          <a:noFill/>
          <a:ln w="12700">
            <a:solidFill>
              <a:schemeClr val="bg1">
                <a:lumMod val="75000"/>
              </a:schemeClr>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2" name="Text Box 4"/>
          <p:cNvSpPr txBox="1">
            <a:spLocks noChangeArrowheads="1"/>
          </p:cNvSpPr>
          <p:nvPr/>
        </p:nvSpPr>
        <p:spPr bwMode="auto">
          <a:xfrm>
            <a:off x="6877976" y="2052796"/>
            <a:ext cx="1197169" cy="308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自治系统 </a:t>
            </a:r>
            <a:r>
              <a:rPr kumimoji="1" lang="en-US" altLang="zh-CN" sz="1400" b="1" dirty="0">
                <a:latin typeface="微软雅黑" pitchFamily="34" charset="-122"/>
                <a:ea typeface="微软雅黑" pitchFamily="34" charset="-122"/>
              </a:rPr>
              <a:t>AS</a:t>
            </a:r>
          </a:p>
        </p:txBody>
      </p:sp>
      <p:sp>
        <p:nvSpPr>
          <p:cNvPr id="24" name="Oval 7"/>
          <p:cNvSpPr>
            <a:spLocks noChangeArrowheads="1"/>
          </p:cNvSpPr>
          <p:nvPr/>
        </p:nvSpPr>
        <p:spPr bwMode="auto">
          <a:xfrm>
            <a:off x="1075577" y="2412559"/>
            <a:ext cx="2532718"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6" name="Text Box 9"/>
          <p:cNvSpPr txBox="1">
            <a:spLocks noChangeArrowheads="1"/>
          </p:cNvSpPr>
          <p:nvPr/>
        </p:nvSpPr>
        <p:spPr bwMode="auto">
          <a:xfrm>
            <a:off x="1939050" y="4169202"/>
            <a:ext cx="88838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 </a:t>
            </a:r>
            <a:r>
              <a:rPr lang="en-US" altLang="zh-CN" dirty="0"/>
              <a:t>Area</a:t>
            </a:r>
          </a:p>
          <a:p>
            <a:r>
              <a:rPr lang="zh-CN" altLang="en-US" dirty="0"/>
              <a:t> </a:t>
            </a:r>
            <a:r>
              <a:rPr lang="en-US" altLang="zh-CN" dirty="0"/>
              <a:t>0.0.0.1</a:t>
            </a:r>
          </a:p>
        </p:txBody>
      </p:sp>
      <p:sp>
        <p:nvSpPr>
          <p:cNvPr id="25" name="Oval 8"/>
          <p:cNvSpPr>
            <a:spLocks noChangeArrowheads="1"/>
          </p:cNvSpPr>
          <p:nvPr/>
        </p:nvSpPr>
        <p:spPr bwMode="auto">
          <a:xfrm>
            <a:off x="6069919" y="2412559"/>
            <a:ext cx="1923343"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7" name="Text Box 10"/>
          <p:cNvSpPr txBox="1">
            <a:spLocks noChangeArrowheads="1"/>
          </p:cNvSpPr>
          <p:nvPr/>
        </p:nvSpPr>
        <p:spPr bwMode="auto">
          <a:xfrm>
            <a:off x="6643604" y="4221936"/>
            <a:ext cx="848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a:t>
            </a:r>
            <a:r>
              <a:rPr lang="en-US" altLang="zh-CN" dirty="0"/>
              <a:t>Area</a:t>
            </a:r>
          </a:p>
          <a:p>
            <a:r>
              <a:rPr lang="zh-CN" altLang="en-US" dirty="0"/>
              <a:t> </a:t>
            </a:r>
            <a:r>
              <a:rPr lang="en-US" altLang="zh-CN" dirty="0"/>
              <a:t>0.0.0.3</a:t>
            </a:r>
          </a:p>
        </p:txBody>
      </p:sp>
      <p:sp>
        <p:nvSpPr>
          <p:cNvPr id="23" name="Oval 6"/>
          <p:cNvSpPr>
            <a:spLocks noChangeArrowheads="1"/>
          </p:cNvSpPr>
          <p:nvPr/>
        </p:nvSpPr>
        <p:spPr bwMode="auto">
          <a:xfrm>
            <a:off x="3694623" y="2464122"/>
            <a:ext cx="2314358" cy="1115626"/>
          </a:xfrm>
          <a:prstGeom prst="ellipse">
            <a:avLst/>
          </a:prstGeom>
          <a:solidFill>
            <a:srgbClr val="FFCCFF"/>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8" name="Text Box 11"/>
          <p:cNvSpPr txBox="1">
            <a:spLocks noChangeArrowheads="1"/>
          </p:cNvSpPr>
          <p:nvPr/>
        </p:nvSpPr>
        <p:spPr bwMode="auto">
          <a:xfrm>
            <a:off x="3707142" y="2008049"/>
            <a:ext cx="238558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just"/>
            <a:r>
              <a:rPr kumimoji="1" lang="zh-CN" altLang="en-US" sz="1200" dirty="0">
                <a:latin typeface="Montserrat" panose="00000500000000000000" pitchFamily="2" charset="0"/>
                <a:ea typeface="微软雅黑 Light" panose="020B0502040204020203" pitchFamily="34" charset="-122"/>
              </a:rPr>
              <a:t>主干区域 </a:t>
            </a:r>
            <a:r>
              <a:rPr kumimoji="1" lang="en-US" altLang="zh-CN" sz="1200" dirty="0">
                <a:latin typeface="Montserrat" panose="00000500000000000000" pitchFamily="2" charset="0"/>
                <a:ea typeface="微软雅黑 Light" panose="020B0502040204020203" pitchFamily="34" charset="-122"/>
              </a:rPr>
              <a:t>BA -</a:t>
            </a:r>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B</a:t>
            </a:r>
            <a:r>
              <a:rPr lang="en-US" altLang="zh-CN" sz="1200" dirty="0">
                <a:latin typeface="Montserrat" panose="00000500000000000000" pitchFamily="2" charset="0"/>
                <a:ea typeface="微软雅黑 Light" panose="020B0502040204020203" pitchFamily="34" charset="-122"/>
              </a:rPr>
              <a:t>ackbone Area</a:t>
            </a:r>
            <a:endParaRPr kumimoji="1" lang="en-US" altLang="zh-CN" sz="1200" dirty="0">
              <a:latin typeface="Montserrat" panose="00000500000000000000" pitchFamily="2" charset="0"/>
              <a:ea typeface="微软雅黑 Light" panose="020B0502040204020203" pitchFamily="34" charset="-122"/>
            </a:endParaRPr>
          </a:p>
          <a:p>
            <a:pPr algn="just"/>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0.0.0.0</a:t>
            </a:r>
          </a:p>
        </p:txBody>
      </p:sp>
      <p:sp>
        <p:nvSpPr>
          <p:cNvPr id="29" name="Line 12"/>
          <p:cNvSpPr>
            <a:spLocks noChangeShapeType="1"/>
          </p:cNvSpPr>
          <p:nvPr/>
        </p:nvSpPr>
        <p:spPr bwMode="auto">
          <a:xfrm flipV="1">
            <a:off x="5021108" y="1764852"/>
            <a:ext cx="1719123" cy="829348"/>
          </a:xfrm>
          <a:prstGeom prst="line">
            <a:avLst/>
          </a:prstGeom>
          <a:noFill/>
          <a:ln w="28575">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0" name="Text Box 13"/>
          <p:cNvSpPr txBox="1">
            <a:spLocks noChangeArrowheads="1"/>
          </p:cNvSpPr>
          <p:nvPr/>
        </p:nvSpPr>
        <p:spPr bwMode="auto">
          <a:xfrm>
            <a:off x="6633725" y="1616688"/>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至其他自治系统</a:t>
            </a:r>
          </a:p>
        </p:txBody>
      </p:sp>
      <p:sp>
        <p:nvSpPr>
          <p:cNvPr id="31" name="Line 14"/>
          <p:cNvSpPr>
            <a:spLocks noChangeShapeType="1"/>
          </p:cNvSpPr>
          <p:nvPr/>
        </p:nvSpPr>
        <p:spPr bwMode="auto">
          <a:xfrm>
            <a:off x="6069918" y="3072326"/>
            <a:ext cx="670313" cy="20156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15"/>
          <p:cNvSpPr>
            <a:spLocks noChangeShapeType="1"/>
          </p:cNvSpPr>
          <p:nvPr/>
        </p:nvSpPr>
        <p:spPr bwMode="auto">
          <a:xfrm flipV="1">
            <a:off x="6862107" y="3224671"/>
            <a:ext cx="608107" cy="100781"/>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16"/>
          <p:cNvSpPr>
            <a:spLocks noChangeShapeType="1"/>
          </p:cNvSpPr>
          <p:nvPr/>
        </p:nvSpPr>
        <p:spPr bwMode="auto">
          <a:xfrm>
            <a:off x="7166795" y="2717247"/>
            <a:ext cx="303419" cy="50742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7"/>
          <p:cNvSpPr>
            <a:spLocks noChangeShapeType="1"/>
          </p:cNvSpPr>
          <p:nvPr/>
        </p:nvSpPr>
        <p:spPr bwMode="auto">
          <a:xfrm flipH="1">
            <a:off x="7104588" y="3273890"/>
            <a:ext cx="365625"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8"/>
          <p:cNvSpPr>
            <a:spLocks noChangeShapeType="1"/>
          </p:cNvSpPr>
          <p:nvPr/>
        </p:nvSpPr>
        <p:spPr bwMode="auto">
          <a:xfrm flipV="1">
            <a:off x="5155855" y="3072326"/>
            <a:ext cx="790920"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9"/>
          <p:cNvSpPr>
            <a:spLocks noChangeShapeType="1"/>
          </p:cNvSpPr>
          <p:nvPr/>
        </p:nvSpPr>
        <p:spPr bwMode="auto">
          <a:xfrm>
            <a:off x="4913375" y="2666857"/>
            <a:ext cx="120605" cy="455860"/>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Line 20"/>
          <p:cNvSpPr>
            <a:spLocks noChangeShapeType="1"/>
          </p:cNvSpPr>
          <p:nvPr/>
        </p:nvSpPr>
        <p:spPr bwMode="auto">
          <a:xfrm flipH="1">
            <a:off x="4852437" y="3224670"/>
            <a:ext cx="181543" cy="355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8" name="Line 21"/>
          <p:cNvSpPr>
            <a:spLocks noChangeShapeType="1"/>
          </p:cNvSpPr>
          <p:nvPr/>
        </p:nvSpPr>
        <p:spPr bwMode="auto">
          <a:xfrm>
            <a:off x="3572748" y="2971545"/>
            <a:ext cx="1279689" cy="202734"/>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22"/>
          <p:cNvSpPr>
            <a:spLocks noChangeShapeType="1"/>
          </p:cNvSpPr>
          <p:nvPr/>
        </p:nvSpPr>
        <p:spPr bwMode="auto">
          <a:xfrm flipV="1">
            <a:off x="3633686" y="2717247"/>
            <a:ext cx="1157814"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0" name="Line 23"/>
          <p:cNvSpPr>
            <a:spLocks noChangeShapeType="1"/>
          </p:cNvSpPr>
          <p:nvPr/>
        </p:nvSpPr>
        <p:spPr bwMode="auto">
          <a:xfrm flipH="1">
            <a:off x="1684952" y="2717247"/>
            <a:ext cx="912795"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Line 24"/>
          <p:cNvSpPr>
            <a:spLocks noChangeShapeType="1"/>
          </p:cNvSpPr>
          <p:nvPr/>
        </p:nvSpPr>
        <p:spPr bwMode="auto">
          <a:xfrm>
            <a:off x="2597747" y="2766466"/>
            <a:ext cx="366894"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Line 25"/>
          <p:cNvSpPr>
            <a:spLocks noChangeShapeType="1"/>
          </p:cNvSpPr>
          <p:nvPr/>
        </p:nvSpPr>
        <p:spPr bwMode="auto">
          <a:xfrm flipV="1">
            <a:off x="3024310" y="3020764"/>
            <a:ext cx="548438"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3" name="Line 26"/>
          <p:cNvSpPr>
            <a:spLocks noChangeShapeType="1"/>
          </p:cNvSpPr>
          <p:nvPr/>
        </p:nvSpPr>
        <p:spPr bwMode="auto">
          <a:xfrm flipH="1">
            <a:off x="2110246" y="3377014"/>
            <a:ext cx="793457"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Line 27"/>
          <p:cNvSpPr>
            <a:spLocks noChangeShapeType="1"/>
          </p:cNvSpPr>
          <p:nvPr/>
        </p:nvSpPr>
        <p:spPr bwMode="auto">
          <a:xfrm>
            <a:off x="2110246" y="3528186"/>
            <a:ext cx="305957"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45" name="Group 28"/>
          <p:cNvGrpSpPr>
            <a:grpSpLocks/>
          </p:cNvGrpSpPr>
          <p:nvPr/>
        </p:nvGrpSpPr>
        <p:grpSpPr bwMode="auto">
          <a:xfrm>
            <a:off x="2719622" y="3174280"/>
            <a:ext cx="548438" cy="353907"/>
            <a:chOff x="2949" y="196"/>
            <a:chExt cx="941" cy="598"/>
          </a:xfrm>
          <a:solidFill>
            <a:srgbClr val="00FFFF"/>
          </a:solidFill>
        </p:grpSpPr>
        <p:sp>
          <p:nvSpPr>
            <p:cNvPr id="46" name="Oval 29"/>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7" name="Oval 30"/>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8" name="Oval 31"/>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9" name="Oval 32"/>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0" name="Oval 33"/>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1" name="Oval 34"/>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2" name="Oval 35"/>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3" name="Oval 36"/>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4" name="Freeform 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5" name="Freeform 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6" name="Freeform 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57" name="Picture 4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06827" y="3377015"/>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4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55266" y="2615294"/>
            <a:ext cx="416407" cy="233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89935" y="2869591"/>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68354" y="2564904"/>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1" name="Picture 4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2437" y="3072326"/>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2" name="Picture 4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88670" y="3122717"/>
            <a:ext cx="415137" cy="233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26169" y="2971545"/>
            <a:ext cx="415137" cy="2308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64" name="Group 47"/>
          <p:cNvGrpSpPr>
            <a:grpSpLocks/>
          </p:cNvGrpSpPr>
          <p:nvPr/>
        </p:nvGrpSpPr>
        <p:grpSpPr bwMode="auto">
          <a:xfrm>
            <a:off x="2171184" y="3681703"/>
            <a:ext cx="548438" cy="353907"/>
            <a:chOff x="2949" y="196"/>
            <a:chExt cx="941" cy="598"/>
          </a:xfrm>
          <a:solidFill>
            <a:srgbClr val="00FFFF"/>
          </a:solidFill>
        </p:grpSpPr>
        <p:sp>
          <p:nvSpPr>
            <p:cNvPr id="65" name="Oval 4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Oval 4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Oval 5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8" name="Oval 5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9" name="Oval 5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0" name="Oval 5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1" name="Oval 5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2" name="Oval 5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Freeform 5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4" name="Freeform 5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5" name="Freeform 5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6" name="Group 59"/>
          <p:cNvGrpSpPr>
            <a:grpSpLocks/>
          </p:cNvGrpSpPr>
          <p:nvPr/>
        </p:nvGrpSpPr>
        <p:grpSpPr bwMode="auto">
          <a:xfrm>
            <a:off x="1441202" y="2818029"/>
            <a:ext cx="548438" cy="356250"/>
            <a:chOff x="2949" y="196"/>
            <a:chExt cx="941" cy="598"/>
          </a:xfrm>
          <a:solidFill>
            <a:srgbClr val="00FFFF"/>
          </a:solidFill>
        </p:grpSpPr>
        <p:sp>
          <p:nvSpPr>
            <p:cNvPr id="77" name="Oval 6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8" name="Oval 6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Oval 6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Oval 6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Oval 6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2" name="Oval 6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3" name="Oval 6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4" name="Oval 6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5" name="Freeform 6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Freeform 6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7" name="Freeform 7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8" name="Group 71"/>
          <p:cNvGrpSpPr>
            <a:grpSpLocks/>
          </p:cNvGrpSpPr>
          <p:nvPr/>
        </p:nvGrpSpPr>
        <p:grpSpPr bwMode="auto">
          <a:xfrm>
            <a:off x="6862107" y="2514513"/>
            <a:ext cx="547169" cy="355078"/>
            <a:chOff x="2949" y="196"/>
            <a:chExt cx="941" cy="598"/>
          </a:xfrm>
          <a:solidFill>
            <a:srgbClr val="00FFFF"/>
          </a:solidFill>
        </p:grpSpPr>
        <p:sp>
          <p:nvSpPr>
            <p:cNvPr id="89" name="Oval 7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Oval 7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1" name="Oval 7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2" name="Oval 7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3" name="Oval 7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4" name="Oval 7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5" name="Oval 7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6" name="Oval 7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7" name="Freeform 8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8" name="Freeform 8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9" name="Freeform 8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00" name="Group 83"/>
          <p:cNvGrpSpPr>
            <a:grpSpLocks/>
          </p:cNvGrpSpPr>
          <p:nvPr/>
        </p:nvGrpSpPr>
        <p:grpSpPr bwMode="auto">
          <a:xfrm>
            <a:off x="6801169" y="3681703"/>
            <a:ext cx="548438" cy="353907"/>
            <a:chOff x="2949" y="196"/>
            <a:chExt cx="941" cy="598"/>
          </a:xfrm>
          <a:solidFill>
            <a:srgbClr val="00FFFF"/>
          </a:solidFill>
        </p:grpSpPr>
        <p:sp>
          <p:nvSpPr>
            <p:cNvPr id="101" name="Oval 8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Oval 8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3" name="Oval 8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4" name="Oval 8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5" name="Oval 8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6" name="Oval 8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7" name="Oval 9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8" name="Oval 9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9" name="Freeform 9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0" name="Freeform 9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1" name="Freeform 9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12" name="Group 95"/>
          <p:cNvGrpSpPr>
            <a:grpSpLocks/>
          </p:cNvGrpSpPr>
          <p:nvPr/>
        </p:nvGrpSpPr>
        <p:grpSpPr bwMode="auto">
          <a:xfrm>
            <a:off x="6495212" y="3122716"/>
            <a:ext cx="548438" cy="356250"/>
            <a:chOff x="2949" y="196"/>
            <a:chExt cx="941" cy="598"/>
          </a:xfrm>
          <a:solidFill>
            <a:srgbClr val="00FFFF"/>
          </a:solidFill>
        </p:grpSpPr>
        <p:sp>
          <p:nvSpPr>
            <p:cNvPr id="113" name="Oval 9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4" name="Oval 9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5" name="Oval 9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6" name="Oval 9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7" name="Oval 10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8" name="Oval 10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9" name="Oval 10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0" name="Oval 10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1" name="Freeform 10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Freeform 10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Freeform 10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24" name="Text Box 107"/>
          <p:cNvSpPr txBox="1">
            <a:spLocks noChangeArrowheads="1"/>
          </p:cNvSpPr>
          <p:nvPr/>
        </p:nvSpPr>
        <p:spPr bwMode="auto">
          <a:xfrm>
            <a:off x="7501952" y="285201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9</a:t>
            </a:r>
          </a:p>
        </p:txBody>
      </p:sp>
      <p:sp>
        <p:nvSpPr>
          <p:cNvPr id="125" name="Text Box 108"/>
          <p:cNvSpPr txBox="1">
            <a:spLocks noChangeArrowheads="1"/>
          </p:cNvSpPr>
          <p:nvPr/>
        </p:nvSpPr>
        <p:spPr bwMode="auto">
          <a:xfrm>
            <a:off x="5901012" y="2634146"/>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7</a:t>
            </a:r>
          </a:p>
        </p:txBody>
      </p:sp>
      <p:sp>
        <p:nvSpPr>
          <p:cNvPr id="126" name="Text Box 109"/>
          <p:cNvSpPr txBox="1">
            <a:spLocks noChangeArrowheads="1"/>
          </p:cNvSpPr>
          <p:nvPr/>
        </p:nvSpPr>
        <p:spPr bwMode="auto">
          <a:xfrm>
            <a:off x="5131529" y="251904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6</a:t>
            </a:r>
          </a:p>
        </p:txBody>
      </p:sp>
      <p:sp>
        <p:nvSpPr>
          <p:cNvPr id="127" name="Text Box 110"/>
          <p:cNvSpPr txBox="1">
            <a:spLocks noChangeArrowheads="1"/>
          </p:cNvSpPr>
          <p:nvPr/>
        </p:nvSpPr>
        <p:spPr bwMode="auto">
          <a:xfrm>
            <a:off x="4617573" y="2807483"/>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5</a:t>
            </a:r>
          </a:p>
        </p:txBody>
      </p:sp>
      <p:sp>
        <p:nvSpPr>
          <p:cNvPr id="128" name="Text Box 111"/>
          <p:cNvSpPr txBox="1">
            <a:spLocks noChangeArrowheads="1"/>
          </p:cNvSpPr>
          <p:nvPr/>
        </p:nvSpPr>
        <p:spPr bwMode="auto">
          <a:xfrm>
            <a:off x="4120270" y="341611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4</a:t>
            </a:r>
          </a:p>
        </p:txBody>
      </p:sp>
      <p:sp>
        <p:nvSpPr>
          <p:cNvPr id="129" name="Text Box 112"/>
          <p:cNvSpPr txBox="1">
            <a:spLocks noChangeArrowheads="1"/>
          </p:cNvSpPr>
          <p:nvPr/>
        </p:nvSpPr>
        <p:spPr bwMode="auto">
          <a:xfrm>
            <a:off x="3396283" y="257310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3</a:t>
            </a:r>
          </a:p>
        </p:txBody>
      </p:sp>
      <p:sp>
        <p:nvSpPr>
          <p:cNvPr id="130" name="Text Box 113"/>
          <p:cNvSpPr txBox="1">
            <a:spLocks noChangeArrowheads="1"/>
          </p:cNvSpPr>
          <p:nvPr/>
        </p:nvSpPr>
        <p:spPr bwMode="auto">
          <a:xfrm>
            <a:off x="1499601" y="328795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p>
        </p:txBody>
      </p:sp>
      <p:sp>
        <p:nvSpPr>
          <p:cNvPr id="131" name="Text Box 114"/>
          <p:cNvSpPr txBox="1">
            <a:spLocks noChangeArrowheads="1"/>
          </p:cNvSpPr>
          <p:nvPr/>
        </p:nvSpPr>
        <p:spPr bwMode="auto">
          <a:xfrm>
            <a:off x="2082317" y="2403185"/>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p>
        </p:txBody>
      </p:sp>
      <p:sp>
        <p:nvSpPr>
          <p:cNvPr id="138" name="Oval 121"/>
          <p:cNvSpPr>
            <a:spLocks noChangeArrowheads="1"/>
          </p:cNvSpPr>
          <p:nvPr/>
        </p:nvSpPr>
        <p:spPr bwMode="auto">
          <a:xfrm>
            <a:off x="3572748" y="3643030"/>
            <a:ext cx="2497171" cy="767579"/>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39" name="Text Box 122"/>
          <p:cNvSpPr txBox="1">
            <a:spLocks noChangeArrowheads="1"/>
          </p:cNvSpPr>
          <p:nvPr/>
        </p:nvSpPr>
        <p:spPr bwMode="auto">
          <a:xfrm>
            <a:off x="4452230" y="4381312"/>
            <a:ext cx="848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a:t>
            </a:r>
            <a:r>
              <a:rPr lang="en-US" altLang="zh-CN" dirty="0"/>
              <a:t>Area</a:t>
            </a:r>
          </a:p>
          <a:p>
            <a:r>
              <a:rPr lang="zh-CN" altLang="en-US" dirty="0"/>
              <a:t> </a:t>
            </a:r>
            <a:r>
              <a:rPr lang="en-US" altLang="zh-CN" dirty="0"/>
              <a:t>0.0.0.2</a:t>
            </a:r>
          </a:p>
        </p:txBody>
      </p:sp>
      <p:sp>
        <p:nvSpPr>
          <p:cNvPr id="140" name="Line 123"/>
          <p:cNvSpPr>
            <a:spLocks noChangeShapeType="1"/>
          </p:cNvSpPr>
          <p:nvPr/>
        </p:nvSpPr>
        <p:spPr bwMode="auto">
          <a:xfrm>
            <a:off x="4791500" y="3579748"/>
            <a:ext cx="729981" cy="38437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1" name="Line 124"/>
          <p:cNvSpPr>
            <a:spLocks noChangeShapeType="1"/>
          </p:cNvSpPr>
          <p:nvPr/>
        </p:nvSpPr>
        <p:spPr bwMode="auto">
          <a:xfrm flipV="1">
            <a:off x="4913375" y="4027405"/>
            <a:ext cx="669044" cy="1921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42" name="Group 125"/>
          <p:cNvGrpSpPr>
            <a:grpSpLocks/>
          </p:cNvGrpSpPr>
          <p:nvPr/>
        </p:nvGrpSpPr>
        <p:grpSpPr bwMode="auto">
          <a:xfrm>
            <a:off x="5339938" y="3770764"/>
            <a:ext cx="547168" cy="448828"/>
            <a:chOff x="2949" y="196"/>
            <a:chExt cx="941" cy="598"/>
          </a:xfrm>
          <a:solidFill>
            <a:srgbClr val="00FFFF"/>
          </a:solidFill>
        </p:grpSpPr>
        <p:sp>
          <p:nvSpPr>
            <p:cNvPr id="143" name="Oval 12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4" name="Oval 12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5" name="Oval 12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6" name="Oval 12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7" name="Oval 13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8" name="Oval 13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9" name="Oval 13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0" name="Oval 13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1" name="Freeform 13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2" name="Freeform 13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3" name="Freeform 13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55" name="Line 138"/>
          <p:cNvSpPr>
            <a:spLocks noChangeShapeType="1"/>
          </p:cNvSpPr>
          <p:nvPr/>
        </p:nvSpPr>
        <p:spPr bwMode="auto">
          <a:xfrm>
            <a:off x="4058979" y="4089515"/>
            <a:ext cx="732521" cy="130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56" name="Group 139"/>
          <p:cNvGrpSpPr>
            <a:grpSpLocks/>
          </p:cNvGrpSpPr>
          <p:nvPr/>
        </p:nvGrpSpPr>
        <p:grpSpPr bwMode="auto">
          <a:xfrm>
            <a:off x="3816498" y="3834046"/>
            <a:ext cx="548438" cy="448828"/>
            <a:chOff x="2949" y="196"/>
            <a:chExt cx="941" cy="598"/>
          </a:xfrm>
          <a:solidFill>
            <a:srgbClr val="00FFFF"/>
          </a:solidFill>
        </p:grpSpPr>
        <p:sp>
          <p:nvSpPr>
            <p:cNvPr id="157" name="Oval 14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8" name="Oval 14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9" name="Oval 14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0" name="Oval 14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1" name="Oval 14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2" name="Oval 14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3" name="Oval 14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4" name="Oval 14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5" name="Freeform 14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6" name="Freeform 14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7" name="Freeform 15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169" name="Picture 1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68354" y="4054358"/>
            <a:ext cx="416407" cy="2941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0" name="Text Box 153"/>
          <p:cNvSpPr txBox="1">
            <a:spLocks noChangeArrowheads="1"/>
          </p:cNvSpPr>
          <p:nvPr/>
        </p:nvSpPr>
        <p:spPr bwMode="auto">
          <a:xfrm>
            <a:off x="4433492" y="382349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8</a:t>
            </a:r>
          </a:p>
        </p:txBody>
      </p:sp>
      <p:pic>
        <p:nvPicPr>
          <p:cNvPr id="171" name="Picture 1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17573" y="3481311"/>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3" name="Text Box 115"/>
          <p:cNvSpPr txBox="1">
            <a:spLocks noChangeArrowheads="1"/>
          </p:cNvSpPr>
          <p:nvPr/>
        </p:nvSpPr>
        <p:spPr bwMode="auto">
          <a:xfrm>
            <a:off x="6836234" y="370748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8</a:t>
            </a:r>
          </a:p>
        </p:txBody>
      </p:sp>
      <p:sp>
        <p:nvSpPr>
          <p:cNvPr id="174" name="Text Box 116"/>
          <p:cNvSpPr txBox="1">
            <a:spLocks noChangeArrowheads="1"/>
          </p:cNvSpPr>
          <p:nvPr/>
        </p:nvSpPr>
        <p:spPr bwMode="auto">
          <a:xfrm>
            <a:off x="6889650" y="2543816"/>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6</a:t>
            </a:r>
          </a:p>
        </p:txBody>
      </p:sp>
      <p:sp>
        <p:nvSpPr>
          <p:cNvPr id="175" name="Text Box 117"/>
          <p:cNvSpPr txBox="1">
            <a:spLocks noChangeArrowheads="1"/>
          </p:cNvSpPr>
          <p:nvPr/>
        </p:nvSpPr>
        <p:spPr bwMode="auto">
          <a:xfrm>
            <a:off x="2212406" y="371685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3</a:t>
            </a:r>
          </a:p>
        </p:txBody>
      </p:sp>
      <p:sp>
        <p:nvSpPr>
          <p:cNvPr id="176" name="Text Box 118"/>
          <p:cNvSpPr txBox="1">
            <a:spLocks noChangeArrowheads="1"/>
          </p:cNvSpPr>
          <p:nvPr/>
        </p:nvSpPr>
        <p:spPr bwMode="auto">
          <a:xfrm>
            <a:off x="2763573" y="3194196"/>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2</a:t>
            </a:r>
          </a:p>
        </p:txBody>
      </p:sp>
      <p:sp>
        <p:nvSpPr>
          <p:cNvPr id="177" name="Text Box 119"/>
          <p:cNvSpPr txBox="1">
            <a:spLocks noChangeArrowheads="1"/>
          </p:cNvSpPr>
          <p:nvPr/>
        </p:nvSpPr>
        <p:spPr bwMode="auto">
          <a:xfrm>
            <a:off x="1480169" y="2840295"/>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1</a:t>
            </a:r>
          </a:p>
        </p:txBody>
      </p:sp>
      <p:sp>
        <p:nvSpPr>
          <p:cNvPr id="178" name="Text Box 120"/>
          <p:cNvSpPr txBox="1">
            <a:spLocks noChangeArrowheads="1"/>
          </p:cNvSpPr>
          <p:nvPr/>
        </p:nvSpPr>
        <p:spPr bwMode="auto">
          <a:xfrm>
            <a:off x="6524820" y="3161395"/>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7</a:t>
            </a:r>
          </a:p>
        </p:txBody>
      </p:sp>
      <p:sp>
        <p:nvSpPr>
          <p:cNvPr id="179" name="Text Box 137"/>
          <p:cNvSpPr txBox="1">
            <a:spLocks noChangeArrowheads="1"/>
          </p:cNvSpPr>
          <p:nvPr/>
        </p:nvSpPr>
        <p:spPr bwMode="auto">
          <a:xfrm>
            <a:off x="5382335" y="3857501"/>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4</a:t>
            </a:r>
          </a:p>
        </p:txBody>
      </p:sp>
      <p:sp>
        <p:nvSpPr>
          <p:cNvPr id="180" name="Text Box 151"/>
          <p:cNvSpPr txBox="1">
            <a:spLocks noChangeArrowheads="1"/>
          </p:cNvSpPr>
          <p:nvPr/>
        </p:nvSpPr>
        <p:spPr bwMode="auto">
          <a:xfrm>
            <a:off x="3847280" y="391724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5</a:t>
            </a:r>
          </a:p>
        </p:txBody>
      </p:sp>
    </p:spTree>
    <p:extLst>
      <p:ext uri="{BB962C8B-B14F-4D97-AF65-F5344CB8AC3E}">
        <p14:creationId xmlns:p14="http://schemas.microsoft.com/office/powerpoint/2010/main" val="9327772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22C4EA3-28E7-F7C8-627C-A917DA95FC28}"/>
              </a:ext>
            </a:extLst>
          </p:cNvPr>
          <p:cNvSpPr>
            <a:spLocks noGrp="1"/>
          </p:cNvSpPr>
          <p:nvPr>
            <p:ph type="title"/>
          </p:nvPr>
        </p:nvSpPr>
        <p:spPr>
          <a:xfrm>
            <a:off x="486000" y="550723"/>
            <a:ext cx="8172000" cy="338554"/>
          </a:xfrm>
        </p:spPr>
        <p:txBody>
          <a:bodyPr/>
          <a:lstStyle/>
          <a:p>
            <a:r>
              <a:rPr lang="zh-CN" altLang="en-US" dirty="0"/>
              <a:t>划分区域优点和缺点</a:t>
            </a:r>
          </a:p>
        </p:txBody>
      </p:sp>
      <p:sp>
        <p:nvSpPr>
          <p:cNvPr id="7" name="内容占位符 6">
            <a:extLst>
              <a:ext uri="{FF2B5EF4-FFF2-40B4-BE49-F238E27FC236}">
                <a16:creationId xmlns:a16="http://schemas.microsoft.com/office/drawing/2014/main" id="{D371B39F-3077-6706-43FB-231CA7BC2BD5}"/>
              </a:ext>
            </a:extLst>
          </p:cNvPr>
          <p:cNvSpPr>
            <a:spLocks noGrp="1"/>
          </p:cNvSpPr>
          <p:nvPr>
            <p:ph sz="quarter" idx="11"/>
          </p:nvPr>
        </p:nvSpPr>
        <p:spPr>
          <a:xfrm>
            <a:off x="486000" y="900000"/>
            <a:ext cx="8172000" cy="3703500"/>
          </a:xfrm>
        </p:spPr>
        <p:txBody>
          <a:bodyPr/>
          <a:lstStyle/>
          <a:p>
            <a:r>
              <a:rPr lang="zh-CN" altLang="en-US" dirty="0"/>
              <a:t>分层次划分区域使每一个区域内部交换路由信息的通信量大大减小，因而使 </a:t>
            </a:r>
            <a:r>
              <a:rPr lang="en-US" altLang="zh-CN" dirty="0"/>
              <a:t>OSPF </a:t>
            </a:r>
            <a:r>
              <a:rPr lang="zh-CN" altLang="en-US" dirty="0"/>
              <a:t>协议能够用于规模很大的自治系统中</a:t>
            </a:r>
          </a:p>
          <a:p>
            <a:r>
              <a:rPr lang="zh-CN" altLang="en-US" dirty="0"/>
              <a:t>优点：</a:t>
            </a:r>
            <a:endParaRPr lang="en-US" altLang="zh-CN" dirty="0"/>
          </a:p>
          <a:p>
            <a:pPr lvl="1"/>
            <a:r>
              <a:rPr lang="zh-CN" altLang="en-US" dirty="0"/>
              <a:t>减少了整个网络上的通信量</a:t>
            </a:r>
          </a:p>
          <a:p>
            <a:pPr lvl="1"/>
            <a:r>
              <a:rPr lang="zh-CN" altLang="en-US" dirty="0"/>
              <a:t>减少了需要维护的状态数量</a:t>
            </a:r>
          </a:p>
          <a:p>
            <a:r>
              <a:rPr lang="zh-CN" altLang="en-US" dirty="0"/>
              <a:t>缺点：</a:t>
            </a:r>
            <a:endParaRPr lang="en-US" altLang="zh-CN" dirty="0"/>
          </a:p>
          <a:p>
            <a:pPr lvl="1"/>
            <a:r>
              <a:rPr lang="zh-CN" altLang="en-US" dirty="0"/>
              <a:t>交换信息的种类增多了</a:t>
            </a:r>
            <a:endParaRPr lang="en-US" altLang="zh-CN" dirty="0"/>
          </a:p>
          <a:p>
            <a:pPr lvl="1"/>
            <a:r>
              <a:rPr lang="zh-CN" altLang="en-US" dirty="0"/>
              <a:t>使 </a:t>
            </a:r>
            <a:r>
              <a:rPr lang="en-US" altLang="zh-CN" dirty="0"/>
              <a:t>OSPF </a:t>
            </a:r>
            <a:r>
              <a:rPr lang="zh-CN" altLang="en-US" dirty="0"/>
              <a:t>协议更加复杂了</a:t>
            </a:r>
            <a:endParaRPr lang="en-US" altLang="zh-CN" dirty="0"/>
          </a:p>
          <a:p>
            <a:pPr lvl="1"/>
            <a:endParaRPr lang="en-US" altLang="zh-CN" dirty="0"/>
          </a:p>
          <a:p>
            <a:endParaRPr lang="zh-CN" altLang="en-US" dirty="0"/>
          </a:p>
        </p:txBody>
      </p:sp>
    </p:spTree>
    <p:extLst>
      <p:ext uri="{BB962C8B-B14F-4D97-AF65-F5344CB8AC3E}">
        <p14:creationId xmlns:p14="http://schemas.microsoft.com/office/powerpoint/2010/main" val="24613690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64B2448-299C-4771-C302-F21A91CAE546}"/>
              </a:ext>
            </a:extLst>
          </p:cNvPr>
          <p:cNvSpPr>
            <a:spLocks noGrp="1"/>
          </p:cNvSpPr>
          <p:nvPr>
            <p:ph type="title"/>
          </p:nvPr>
        </p:nvSpPr>
        <p:spPr>
          <a:xfrm>
            <a:off x="486000" y="550723"/>
            <a:ext cx="8172000" cy="338554"/>
          </a:xfrm>
        </p:spPr>
        <p:txBody>
          <a:bodyPr/>
          <a:lstStyle/>
          <a:p>
            <a:r>
              <a:rPr lang="zh-CN" altLang="en-US" dirty="0"/>
              <a:t>其他特点</a:t>
            </a:r>
          </a:p>
        </p:txBody>
      </p:sp>
      <p:sp>
        <p:nvSpPr>
          <p:cNvPr id="6" name="内容占位符 5">
            <a:extLst>
              <a:ext uri="{FF2B5EF4-FFF2-40B4-BE49-F238E27FC236}">
                <a16:creationId xmlns:a16="http://schemas.microsoft.com/office/drawing/2014/main" id="{2801FFA5-77A5-8FAF-C9FC-04BFD19963B2}"/>
              </a:ext>
            </a:extLst>
          </p:cNvPr>
          <p:cNvSpPr>
            <a:spLocks noGrp="1"/>
          </p:cNvSpPr>
          <p:nvPr>
            <p:ph sz="quarter" idx="11"/>
          </p:nvPr>
        </p:nvSpPr>
        <p:spPr>
          <a:xfrm>
            <a:off x="486000" y="900000"/>
            <a:ext cx="8172000" cy="3703500"/>
          </a:xfrm>
        </p:spPr>
        <p:txBody>
          <a:bodyPr/>
          <a:lstStyle/>
          <a:p>
            <a:r>
              <a:rPr lang="zh-CN" altLang="en-US" dirty="0"/>
              <a:t>对于不同类型的业务可计算出不同的路由</a:t>
            </a:r>
          </a:p>
          <a:p>
            <a:r>
              <a:rPr lang="zh-CN" altLang="en-US" dirty="0"/>
              <a:t>可实现多路径间的负载均衡（</a:t>
            </a:r>
            <a:r>
              <a:rPr lang="en-US" altLang="zh-CN" dirty="0"/>
              <a:t>load balancing</a:t>
            </a:r>
            <a:r>
              <a:rPr lang="zh-CN" altLang="en-US" dirty="0"/>
              <a:t>）</a:t>
            </a:r>
            <a:endParaRPr lang="en-US" altLang="zh-CN" dirty="0"/>
          </a:p>
          <a:p>
            <a:r>
              <a:rPr lang="zh-CN" altLang="en-US" dirty="0"/>
              <a:t>所有在 </a:t>
            </a:r>
            <a:r>
              <a:rPr lang="en-US" altLang="zh-CN" dirty="0"/>
              <a:t>OSPF </a:t>
            </a:r>
            <a:r>
              <a:rPr lang="zh-CN" altLang="en-US" dirty="0"/>
              <a:t>路由器之间交换的分组都具有鉴别的功能</a:t>
            </a:r>
          </a:p>
          <a:p>
            <a:r>
              <a:rPr lang="zh-CN" altLang="en-US" dirty="0"/>
              <a:t>支持可变长度的子网划分和无分类编址 </a:t>
            </a:r>
            <a:r>
              <a:rPr lang="en-US" altLang="zh-CN" dirty="0"/>
              <a:t>CIDR</a:t>
            </a:r>
            <a:endParaRPr lang="zh-CN" altLang="en-US" dirty="0"/>
          </a:p>
          <a:p>
            <a:r>
              <a:rPr lang="en-US" altLang="zh-CN" dirty="0"/>
              <a:t>32 </a:t>
            </a:r>
            <a:r>
              <a:rPr lang="zh-CN" altLang="en-US" dirty="0"/>
              <a:t>位的序号，序号越大状态就越新。全部序号空间在 </a:t>
            </a:r>
            <a:r>
              <a:rPr lang="en-US" altLang="zh-CN" dirty="0"/>
              <a:t>600 </a:t>
            </a:r>
            <a:r>
              <a:rPr lang="zh-CN" altLang="en-US" dirty="0"/>
              <a:t>年内不会产生重复号</a:t>
            </a:r>
          </a:p>
          <a:p>
            <a:endParaRPr lang="zh-CN" altLang="en-US" dirty="0"/>
          </a:p>
        </p:txBody>
      </p:sp>
    </p:spTree>
    <p:extLst>
      <p:ext uri="{BB962C8B-B14F-4D97-AF65-F5344CB8AC3E}">
        <p14:creationId xmlns:p14="http://schemas.microsoft.com/office/powerpoint/2010/main" val="3637492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E192401-7CA2-9BE5-1590-CFFEBAF2E441}"/>
              </a:ext>
            </a:extLst>
          </p:cNvPr>
          <p:cNvSpPr>
            <a:spLocks noGrp="1"/>
          </p:cNvSpPr>
          <p:nvPr>
            <p:ph type="title"/>
          </p:nvPr>
        </p:nvSpPr>
        <p:spPr>
          <a:xfrm>
            <a:off x="486000" y="550723"/>
            <a:ext cx="8172000" cy="338554"/>
          </a:xfrm>
        </p:spPr>
        <p:txBody>
          <a:bodyPr/>
          <a:lstStyle/>
          <a:p>
            <a:r>
              <a:rPr lang="en-US" altLang="zh-CN" dirty="0"/>
              <a:t>2. OSPF </a:t>
            </a:r>
            <a:r>
              <a:rPr lang="zh-CN" altLang="en-US" dirty="0"/>
              <a:t>的五种分组类型</a:t>
            </a:r>
          </a:p>
        </p:txBody>
      </p:sp>
      <p:sp>
        <p:nvSpPr>
          <p:cNvPr id="6" name="内容占位符 5">
            <a:extLst>
              <a:ext uri="{FF2B5EF4-FFF2-40B4-BE49-F238E27FC236}">
                <a16:creationId xmlns:a16="http://schemas.microsoft.com/office/drawing/2014/main" id="{7D9589C9-4B47-86B1-C6B4-2046AD0747BF}"/>
              </a:ext>
            </a:extLst>
          </p:cNvPr>
          <p:cNvSpPr>
            <a:spLocks noGrp="1"/>
          </p:cNvSpPr>
          <p:nvPr>
            <p:ph sz="quarter" idx="11"/>
          </p:nvPr>
        </p:nvSpPr>
        <p:spPr>
          <a:xfrm>
            <a:off x="486000" y="900000"/>
            <a:ext cx="8172000" cy="3703500"/>
          </a:xfrm>
        </p:spPr>
        <p:txBody>
          <a:bodyPr/>
          <a:lstStyle/>
          <a:p>
            <a:r>
              <a:rPr lang="zh-CN" altLang="en-US" dirty="0"/>
              <a:t>问候分组</a:t>
            </a:r>
            <a:endParaRPr lang="en-US" altLang="zh-CN" dirty="0"/>
          </a:p>
          <a:p>
            <a:pPr lvl="1"/>
            <a:r>
              <a:rPr lang="en-US" altLang="zh-CN" dirty="0"/>
              <a:t>Hello</a:t>
            </a:r>
            <a:endParaRPr lang="zh-CN" altLang="en-US" dirty="0"/>
          </a:p>
          <a:p>
            <a:r>
              <a:rPr lang="zh-CN" altLang="en-US" dirty="0"/>
              <a:t>数据库描述分组</a:t>
            </a:r>
            <a:endParaRPr lang="en-US" altLang="zh-CN" dirty="0"/>
          </a:p>
          <a:p>
            <a:pPr lvl="1"/>
            <a:r>
              <a:rPr lang="en-US" altLang="zh-CN" dirty="0"/>
              <a:t>Database Description</a:t>
            </a:r>
            <a:endParaRPr lang="zh-CN" altLang="en-US" dirty="0"/>
          </a:p>
          <a:p>
            <a:r>
              <a:rPr lang="zh-CN" altLang="en-US" dirty="0"/>
              <a:t>链路状态请求分组</a:t>
            </a:r>
            <a:endParaRPr lang="en-US" altLang="zh-CN" dirty="0"/>
          </a:p>
          <a:p>
            <a:pPr lvl="1"/>
            <a:r>
              <a:rPr lang="en-US" altLang="zh-CN" dirty="0"/>
              <a:t>Link State Request</a:t>
            </a:r>
            <a:endParaRPr lang="zh-CN" altLang="en-US" dirty="0"/>
          </a:p>
          <a:p>
            <a:r>
              <a:rPr lang="zh-CN" altLang="en-US" dirty="0"/>
              <a:t>链路状态更新分组</a:t>
            </a:r>
            <a:endParaRPr lang="en-US" altLang="zh-CN" dirty="0"/>
          </a:p>
          <a:p>
            <a:pPr lvl="1"/>
            <a:r>
              <a:rPr lang="en-US" altLang="zh-CN" dirty="0"/>
              <a:t>Link State Update</a:t>
            </a:r>
            <a:endParaRPr lang="zh-CN" altLang="en-US" dirty="0"/>
          </a:p>
          <a:p>
            <a:r>
              <a:rPr lang="zh-CN" altLang="en-US" dirty="0"/>
              <a:t>链路状态确认分组</a:t>
            </a:r>
            <a:endParaRPr lang="en-US" altLang="zh-CN" dirty="0"/>
          </a:p>
          <a:p>
            <a:pPr lvl="1"/>
            <a:r>
              <a:rPr lang="en-US" altLang="zh-CN" dirty="0"/>
              <a:t>Link State Acknowledgment</a:t>
            </a:r>
            <a:r>
              <a:rPr lang="zh-CN" altLang="en-US" dirty="0"/>
              <a:t> </a:t>
            </a:r>
          </a:p>
          <a:p>
            <a:endParaRPr lang="zh-CN" altLang="en-US" dirty="0"/>
          </a:p>
        </p:txBody>
      </p:sp>
    </p:spTree>
    <p:extLst>
      <p:ext uri="{BB962C8B-B14F-4D97-AF65-F5344CB8AC3E}">
        <p14:creationId xmlns:p14="http://schemas.microsoft.com/office/powerpoint/2010/main" val="10704058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 name="AutoShape 47"/>
          <p:cNvSpPr>
            <a:spLocks noChangeArrowheads="1"/>
          </p:cNvSpPr>
          <p:nvPr/>
        </p:nvSpPr>
        <p:spPr bwMode="auto">
          <a:xfrm>
            <a:off x="2607443" y="3484571"/>
            <a:ext cx="402414" cy="120451"/>
          </a:xfrm>
          <a:prstGeom prst="leftArrow">
            <a:avLst>
              <a:gd name="adj1" fmla="val 50000"/>
              <a:gd name="adj2" fmla="val 77098"/>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61" name="Line 2"/>
          <p:cNvSpPr>
            <a:spLocks noChangeShapeType="1"/>
          </p:cNvSpPr>
          <p:nvPr/>
        </p:nvSpPr>
        <p:spPr bwMode="auto">
          <a:xfrm>
            <a:off x="3031265" y="3857293"/>
            <a:ext cx="3296871" cy="0"/>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2" name="Text Box 3"/>
          <p:cNvSpPr txBox="1">
            <a:spLocks noChangeArrowheads="1"/>
          </p:cNvSpPr>
          <p:nvPr/>
        </p:nvSpPr>
        <p:spPr bwMode="auto">
          <a:xfrm>
            <a:off x="4316069" y="3722525"/>
            <a:ext cx="845103" cy="276999"/>
          </a:xfrm>
          <a:prstGeom prst="rect">
            <a:avLst/>
          </a:prstGeom>
          <a:solidFill>
            <a:schemeClr val="bg1"/>
          </a:solidFill>
          <a:ln>
            <a:noFill/>
          </a:ln>
          <a:effectLst/>
        </p:spPr>
        <p:txBody>
          <a:bodyPr wrap="none">
            <a:spAutoFit/>
          </a:bodyPr>
          <a:lstStyle/>
          <a:p>
            <a:r>
              <a:rPr kumimoji="1" lang="en-US" altLang="zh-CN" sz="1200">
                <a:latin typeface="微软雅黑 Light" panose="020B0502040204020203" pitchFamily="34" charset="-122"/>
                <a:ea typeface="微软雅黑 Light" panose="020B0502040204020203" pitchFamily="34" charset="-122"/>
              </a:rPr>
              <a:t>IP </a:t>
            </a:r>
            <a:r>
              <a:rPr kumimoji="1" lang="zh-CN" altLang="en-US" sz="1200">
                <a:latin typeface="微软雅黑 Light" panose="020B0502040204020203" pitchFamily="34" charset="-122"/>
                <a:ea typeface="微软雅黑 Light" panose="020B0502040204020203" pitchFamily="34" charset="-122"/>
              </a:rPr>
              <a:t>数据报</a:t>
            </a:r>
          </a:p>
        </p:txBody>
      </p:sp>
      <p:sp>
        <p:nvSpPr>
          <p:cNvPr id="163" name="Freeform 5"/>
          <p:cNvSpPr>
            <a:spLocks/>
          </p:cNvSpPr>
          <p:nvPr/>
        </p:nvSpPr>
        <p:spPr bwMode="auto">
          <a:xfrm>
            <a:off x="2208189" y="2511448"/>
            <a:ext cx="4652849" cy="339972"/>
          </a:xfrm>
          <a:custGeom>
            <a:avLst/>
            <a:gdLst>
              <a:gd name="T0" fmla="*/ 48 w 4608"/>
              <a:gd name="T1" fmla="*/ 0 h 576"/>
              <a:gd name="T2" fmla="*/ 4608 w 4608"/>
              <a:gd name="T3" fmla="*/ 0 h 576"/>
              <a:gd name="T4" fmla="*/ 2208 w 4608"/>
              <a:gd name="T5" fmla="*/ 576 h 576"/>
              <a:gd name="T6" fmla="*/ 1152 w 4608"/>
              <a:gd name="T7" fmla="*/ 576 h 576"/>
              <a:gd name="T8" fmla="*/ 0 w 4608"/>
              <a:gd name="T9" fmla="*/ 0 h 576"/>
            </a:gdLst>
            <a:ahLst/>
            <a:cxnLst>
              <a:cxn ang="0">
                <a:pos x="T0" y="T1"/>
              </a:cxn>
              <a:cxn ang="0">
                <a:pos x="T2" y="T3"/>
              </a:cxn>
              <a:cxn ang="0">
                <a:pos x="T4" y="T5"/>
              </a:cxn>
              <a:cxn ang="0">
                <a:pos x="T6" y="T7"/>
              </a:cxn>
              <a:cxn ang="0">
                <a:pos x="T8" y="T9"/>
              </a:cxn>
            </a:cxnLst>
            <a:rect l="0" t="0" r="r" b="b"/>
            <a:pathLst>
              <a:path w="4608" h="576">
                <a:moveTo>
                  <a:pt x="48" y="0"/>
                </a:moveTo>
                <a:lnTo>
                  <a:pt x="4608" y="0"/>
                </a:lnTo>
                <a:lnTo>
                  <a:pt x="2208" y="576"/>
                </a:lnTo>
                <a:lnTo>
                  <a:pt x="1152" y="576"/>
                </a:lnTo>
                <a:lnTo>
                  <a:pt x="0" y="0"/>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4" name="Freeform 6"/>
          <p:cNvSpPr>
            <a:spLocks/>
          </p:cNvSpPr>
          <p:nvPr/>
        </p:nvSpPr>
        <p:spPr bwMode="auto">
          <a:xfrm>
            <a:off x="3396266" y="3171497"/>
            <a:ext cx="3464768" cy="216631"/>
          </a:xfrm>
          <a:custGeom>
            <a:avLst/>
            <a:gdLst>
              <a:gd name="T0" fmla="*/ 0 w 3240"/>
              <a:gd name="T1" fmla="*/ 0 h 369"/>
              <a:gd name="T2" fmla="*/ 564 w 3240"/>
              <a:gd name="T3" fmla="*/ 369 h 369"/>
              <a:gd name="T4" fmla="*/ 2922 w 3240"/>
              <a:gd name="T5" fmla="*/ 363 h 369"/>
              <a:gd name="T6" fmla="*/ 3240 w 3240"/>
              <a:gd name="T7" fmla="*/ 9 h 369"/>
              <a:gd name="T8" fmla="*/ 0 w 3240"/>
              <a:gd name="T9" fmla="*/ 3 h 369"/>
            </a:gdLst>
            <a:ahLst/>
            <a:cxnLst>
              <a:cxn ang="0">
                <a:pos x="T0" y="T1"/>
              </a:cxn>
              <a:cxn ang="0">
                <a:pos x="T2" y="T3"/>
              </a:cxn>
              <a:cxn ang="0">
                <a:pos x="T4" y="T5"/>
              </a:cxn>
              <a:cxn ang="0">
                <a:pos x="T6" y="T7"/>
              </a:cxn>
              <a:cxn ang="0">
                <a:pos x="T8" y="T9"/>
              </a:cxn>
            </a:cxnLst>
            <a:rect l="0" t="0" r="r" b="b"/>
            <a:pathLst>
              <a:path w="3240" h="369">
                <a:moveTo>
                  <a:pt x="0" y="0"/>
                </a:moveTo>
                <a:lnTo>
                  <a:pt x="564" y="369"/>
                </a:lnTo>
                <a:lnTo>
                  <a:pt x="2922" y="363"/>
                </a:lnTo>
                <a:lnTo>
                  <a:pt x="3240" y="9"/>
                </a:lnTo>
                <a:lnTo>
                  <a:pt x="0" y="3"/>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5" name="Rectangle 7"/>
          <p:cNvSpPr>
            <a:spLocks noChangeArrowheads="1"/>
          </p:cNvSpPr>
          <p:nvPr/>
        </p:nvSpPr>
        <p:spPr bwMode="auto">
          <a:xfrm>
            <a:off x="3031265" y="3388127"/>
            <a:ext cx="3464766" cy="313339"/>
          </a:xfrm>
          <a:prstGeom prst="rect">
            <a:avLst/>
          </a:prstGeom>
          <a:no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7" name="Line 9"/>
          <p:cNvSpPr>
            <a:spLocks noChangeShapeType="1"/>
          </p:cNvSpPr>
          <p:nvPr/>
        </p:nvSpPr>
        <p:spPr bwMode="auto">
          <a:xfrm>
            <a:off x="4060048" y="3388127"/>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8" name="Text Box 10"/>
          <p:cNvSpPr txBox="1">
            <a:spLocks noChangeArrowheads="1"/>
          </p:cNvSpPr>
          <p:nvPr/>
        </p:nvSpPr>
        <p:spPr bwMode="auto">
          <a:xfrm>
            <a:off x="2976378" y="3417214"/>
            <a:ext cx="11272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微软雅黑 Light" panose="020B0502040204020203" pitchFamily="34" charset="-122"/>
                <a:ea typeface="微软雅黑 Light" panose="020B0502040204020203" pitchFamily="34" charset="-122"/>
              </a:rPr>
              <a:t>IP </a:t>
            </a:r>
            <a:r>
              <a:rPr kumimoji="1" lang="zh-CN" altLang="zh-CN" sz="1200" dirty="0">
                <a:solidFill>
                  <a:sysClr val="windowText" lastClr="000000"/>
                </a:solidFill>
                <a:latin typeface="微软雅黑 Light" panose="020B0502040204020203" pitchFamily="34" charset="-122"/>
                <a:ea typeface="微软雅黑 Light" panose="020B0502040204020203" pitchFamily="34" charset="-122"/>
              </a:rPr>
              <a:t>数据报首部</a:t>
            </a:r>
            <a:endParaRPr kumimoji="1" lang="zh-CN" altLang="en-US" sz="1200" dirty="0">
              <a:solidFill>
                <a:sysClr val="windowText" lastClr="000000"/>
              </a:solidFill>
              <a:latin typeface="微软雅黑 Light" panose="020B0502040204020203" pitchFamily="34" charset="-122"/>
              <a:ea typeface="微软雅黑 Light" panose="020B0502040204020203" pitchFamily="34" charset="-122"/>
            </a:endParaRPr>
          </a:p>
        </p:txBody>
      </p:sp>
      <p:sp>
        <p:nvSpPr>
          <p:cNvPr id="169" name="Text Box 11"/>
          <p:cNvSpPr txBox="1">
            <a:spLocks noChangeArrowheads="1"/>
          </p:cNvSpPr>
          <p:nvPr/>
        </p:nvSpPr>
        <p:spPr bwMode="auto">
          <a:xfrm>
            <a:off x="4602054" y="3414388"/>
            <a:ext cx="94609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微软雅黑 Light" panose="020B0502040204020203" pitchFamily="34" charset="-122"/>
                <a:ea typeface="微软雅黑 Light" panose="020B0502040204020203" pitchFamily="34" charset="-122"/>
              </a:rPr>
              <a:t>OSPF </a:t>
            </a:r>
            <a:r>
              <a:rPr kumimoji="1" lang="zh-CN" altLang="en-US" sz="1200" dirty="0">
                <a:solidFill>
                  <a:sysClr val="windowText" lastClr="000000"/>
                </a:solidFill>
                <a:latin typeface="微软雅黑 Light" panose="020B0502040204020203" pitchFamily="34" charset="-122"/>
                <a:ea typeface="微软雅黑 Light" panose="020B0502040204020203" pitchFamily="34" charset="-122"/>
              </a:rPr>
              <a:t>分组</a:t>
            </a:r>
          </a:p>
        </p:txBody>
      </p:sp>
      <p:sp>
        <p:nvSpPr>
          <p:cNvPr id="170" name="Rectangle 12"/>
          <p:cNvSpPr>
            <a:spLocks noChangeArrowheads="1"/>
          </p:cNvSpPr>
          <p:nvPr/>
        </p:nvSpPr>
        <p:spPr bwMode="auto">
          <a:xfrm>
            <a:off x="3371629" y="2851418"/>
            <a:ext cx="3489408" cy="313339"/>
          </a:xfrm>
          <a:prstGeom prst="rect">
            <a:avLst/>
          </a:prstGeom>
          <a:no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71" name="Line 13"/>
          <p:cNvSpPr>
            <a:spLocks noChangeShapeType="1"/>
          </p:cNvSpPr>
          <p:nvPr/>
        </p:nvSpPr>
        <p:spPr bwMode="auto">
          <a:xfrm>
            <a:off x="6328136" y="3701467"/>
            <a:ext cx="0" cy="19625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3" name="Line 15"/>
          <p:cNvSpPr>
            <a:spLocks noChangeShapeType="1"/>
          </p:cNvSpPr>
          <p:nvPr/>
        </p:nvSpPr>
        <p:spPr bwMode="auto">
          <a:xfrm>
            <a:off x="4438344" y="2851418"/>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4" name="Text Box 16"/>
          <p:cNvSpPr txBox="1">
            <a:spLocks noChangeArrowheads="1"/>
          </p:cNvSpPr>
          <p:nvPr/>
        </p:nvSpPr>
        <p:spPr bwMode="auto">
          <a:xfrm>
            <a:off x="3327695" y="2877282"/>
            <a:ext cx="116249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solidFill>
                  <a:sysClr val="windowText" lastClr="000000"/>
                </a:solidFill>
                <a:latin typeface="微软雅黑 Light" panose="020B0502040204020203" pitchFamily="34" charset="-122"/>
                <a:ea typeface="微软雅黑 Light" panose="020B0502040204020203" pitchFamily="34" charset="-122"/>
              </a:rPr>
              <a:t>OSPF </a:t>
            </a:r>
            <a:r>
              <a:rPr kumimoji="1" lang="zh-CN" altLang="en-US" sz="1100" dirty="0">
                <a:solidFill>
                  <a:sysClr val="windowText" lastClr="000000"/>
                </a:solidFill>
                <a:latin typeface="微软雅黑 Light" panose="020B0502040204020203" pitchFamily="34" charset="-122"/>
                <a:ea typeface="微软雅黑 Light" panose="020B0502040204020203" pitchFamily="34" charset="-122"/>
              </a:rPr>
              <a:t>分组首部</a:t>
            </a:r>
          </a:p>
        </p:txBody>
      </p:sp>
      <p:sp>
        <p:nvSpPr>
          <p:cNvPr id="176" name="Line 18"/>
          <p:cNvSpPr>
            <a:spLocks noChangeShapeType="1"/>
          </p:cNvSpPr>
          <p:nvPr/>
        </p:nvSpPr>
        <p:spPr bwMode="auto">
          <a:xfrm>
            <a:off x="3031265" y="3740213"/>
            <a:ext cx="0" cy="15751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7" name="Line 19"/>
          <p:cNvSpPr>
            <a:spLocks noChangeShapeType="1"/>
          </p:cNvSpPr>
          <p:nvPr/>
        </p:nvSpPr>
        <p:spPr bwMode="auto">
          <a:xfrm>
            <a:off x="3371629"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8" name="Line 20"/>
          <p:cNvSpPr>
            <a:spLocks noChangeShapeType="1"/>
          </p:cNvSpPr>
          <p:nvPr/>
        </p:nvSpPr>
        <p:spPr bwMode="auto">
          <a:xfrm>
            <a:off x="4438344"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9" name="Line 21"/>
          <p:cNvSpPr>
            <a:spLocks noChangeShapeType="1"/>
          </p:cNvSpPr>
          <p:nvPr/>
        </p:nvSpPr>
        <p:spPr bwMode="auto">
          <a:xfrm flipV="1">
            <a:off x="4146343" y="2751183"/>
            <a:ext cx="288351" cy="0"/>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0" name="Text Box 22"/>
          <p:cNvSpPr txBox="1">
            <a:spLocks noChangeArrowheads="1"/>
          </p:cNvSpPr>
          <p:nvPr/>
        </p:nvSpPr>
        <p:spPr bwMode="auto">
          <a:xfrm>
            <a:off x="3728059" y="2623994"/>
            <a:ext cx="413896" cy="276999"/>
          </a:xfrm>
          <a:prstGeom prst="rect">
            <a:avLst/>
          </a:prstGeom>
          <a:noFill/>
          <a:ln>
            <a:noFill/>
          </a:ln>
          <a:effectLst/>
          <a:extLst>
            <a:ext uri="{909E8E84-426E-40DD-AFC4-6F175D3DCCD1}">
              <a14:hiddenFill xmlns:a14="http://schemas.microsoft.com/office/drawing/2010/main">
                <a:gradFill rotWithShape="0">
                  <a:gsLst>
                    <a:gs pos="0">
                      <a:srgbClr val="EAEAEA">
                        <a:gamma/>
                        <a:tint val="69804"/>
                        <a:invGamma/>
                      </a:srgbClr>
                    </a:gs>
                    <a:gs pos="100000">
                      <a:srgbClr val="EAEAEA"/>
                    </a:gs>
                  </a:gsLst>
                  <a:lin ang="540000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cs typeface="Mongolian Baiti" panose="03000500000000000000" pitchFamily="66" charset="0"/>
              </a:rPr>
              <a:t>24 </a:t>
            </a:r>
            <a:endParaRPr kumimoji="1" lang="zh-CN" altLang="en-US" sz="1200" dirty="0">
              <a:latin typeface="Montserrat" panose="00000500000000000000" pitchFamily="2" charset="0"/>
              <a:ea typeface="微软雅黑 Light" panose="020B0502040204020203" pitchFamily="34" charset="-122"/>
              <a:cs typeface="Mongolian Baiti" panose="03000500000000000000" pitchFamily="66" charset="0"/>
            </a:endParaRPr>
          </a:p>
        </p:txBody>
      </p:sp>
      <p:sp>
        <p:nvSpPr>
          <p:cNvPr id="181" name="Rectangle 23"/>
          <p:cNvSpPr>
            <a:spLocks noChangeArrowheads="1"/>
          </p:cNvSpPr>
          <p:nvPr/>
        </p:nvSpPr>
        <p:spPr bwMode="auto">
          <a:xfrm>
            <a:off x="2217313" y="1327160"/>
            <a:ext cx="4643724" cy="1184287"/>
          </a:xfrm>
          <a:prstGeom prst="rect">
            <a:avLst/>
          </a:prstGeom>
          <a:noFill/>
          <a:ln w="9525">
            <a:solidFill>
              <a:schemeClr val="tx1"/>
            </a:solidFill>
            <a:miter lim="800000"/>
            <a:headEnd/>
            <a:tailEnd/>
          </a:ln>
          <a:effectLst/>
        </p:spPr>
        <p:txBody>
          <a:bodyPr wrap="none" anchor="ctr"/>
          <a:lstStyle/>
          <a:p>
            <a:endParaRPr lang="zh-CN" altLang="en-US" sz="1000" dirty="0">
              <a:latin typeface="微软雅黑 Light" panose="020B0502040204020203" pitchFamily="34" charset="-122"/>
              <a:ea typeface="微软雅黑 Light" panose="020B0502040204020203" pitchFamily="34" charset="-122"/>
            </a:endParaRPr>
          </a:p>
        </p:txBody>
      </p:sp>
      <p:sp>
        <p:nvSpPr>
          <p:cNvPr id="182" name="Line 24"/>
          <p:cNvSpPr>
            <a:spLocks noChangeShapeType="1"/>
          </p:cNvSpPr>
          <p:nvPr/>
        </p:nvSpPr>
        <p:spPr bwMode="auto">
          <a:xfrm>
            <a:off x="2212751" y="1557374"/>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3" name="Line 25"/>
          <p:cNvSpPr>
            <a:spLocks noChangeShapeType="1"/>
          </p:cNvSpPr>
          <p:nvPr/>
        </p:nvSpPr>
        <p:spPr bwMode="auto">
          <a:xfrm>
            <a:off x="2212751" y="17527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4" name="Line 26"/>
          <p:cNvSpPr>
            <a:spLocks noChangeShapeType="1"/>
          </p:cNvSpPr>
          <p:nvPr/>
        </p:nvSpPr>
        <p:spPr bwMode="auto">
          <a:xfrm>
            <a:off x="2212751" y="19498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5" name="Line 27"/>
          <p:cNvSpPr>
            <a:spLocks noChangeShapeType="1"/>
          </p:cNvSpPr>
          <p:nvPr/>
        </p:nvSpPr>
        <p:spPr bwMode="auto">
          <a:xfrm>
            <a:off x="2212751" y="2145306"/>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6" name="Line 28"/>
          <p:cNvSpPr>
            <a:spLocks noChangeShapeType="1"/>
          </p:cNvSpPr>
          <p:nvPr/>
        </p:nvSpPr>
        <p:spPr bwMode="auto">
          <a:xfrm>
            <a:off x="2212751" y="2342407"/>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7" name="Line 29"/>
          <p:cNvSpPr>
            <a:spLocks noChangeShapeType="1"/>
          </p:cNvSpPr>
          <p:nvPr/>
        </p:nvSpPr>
        <p:spPr bwMode="auto">
          <a:xfrm>
            <a:off x="3371629" y="1327160"/>
            <a:ext cx="0" cy="23021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8" name="Line 30"/>
          <p:cNvSpPr>
            <a:spLocks noChangeShapeType="1"/>
          </p:cNvSpPr>
          <p:nvPr/>
        </p:nvSpPr>
        <p:spPr bwMode="auto">
          <a:xfrm>
            <a:off x="4535069" y="1326317"/>
            <a:ext cx="0" cy="23105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9" name="Rectangle 31"/>
          <p:cNvSpPr>
            <a:spLocks noChangeArrowheads="1"/>
          </p:cNvSpPr>
          <p:nvPr/>
        </p:nvSpPr>
        <p:spPr bwMode="auto">
          <a:xfrm>
            <a:off x="2105335" y="1141273"/>
            <a:ext cx="27571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0</a:t>
            </a:r>
          </a:p>
        </p:txBody>
      </p:sp>
      <p:sp>
        <p:nvSpPr>
          <p:cNvPr id="190" name="Rectangle 32"/>
          <p:cNvSpPr>
            <a:spLocks noChangeArrowheads="1"/>
          </p:cNvSpPr>
          <p:nvPr/>
        </p:nvSpPr>
        <p:spPr bwMode="auto">
          <a:xfrm>
            <a:off x="3244138" y="1141273"/>
            <a:ext cx="27251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8</a:t>
            </a:r>
          </a:p>
        </p:txBody>
      </p:sp>
      <p:sp>
        <p:nvSpPr>
          <p:cNvPr id="191" name="Rectangle 33"/>
          <p:cNvSpPr>
            <a:spLocks noChangeArrowheads="1"/>
          </p:cNvSpPr>
          <p:nvPr/>
        </p:nvSpPr>
        <p:spPr bwMode="auto">
          <a:xfrm>
            <a:off x="4394804" y="1141273"/>
            <a:ext cx="32060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a:latin typeface="Montserrat" panose="00000500000000000000" pitchFamily="2" charset="0"/>
                <a:ea typeface="微软雅黑" pitchFamily="34" charset="-122"/>
              </a:rPr>
              <a:t>16</a:t>
            </a:r>
          </a:p>
        </p:txBody>
      </p:sp>
      <p:sp>
        <p:nvSpPr>
          <p:cNvPr id="192" name="Rectangle 34"/>
          <p:cNvSpPr>
            <a:spLocks noChangeArrowheads="1"/>
          </p:cNvSpPr>
          <p:nvPr/>
        </p:nvSpPr>
        <p:spPr bwMode="auto">
          <a:xfrm>
            <a:off x="6630840" y="1141273"/>
            <a:ext cx="31419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31</a:t>
            </a:r>
          </a:p>
        </p:txBody>
      </p:sp>
      <p:sp>
        <p:nvSpPr>
          <p:cNvPr id="193" name="Rectangle 35"/>
          <p:cNvSpPr>
            <a:spLocks noChangeArrowheads="1"/>
          </p:cNvSpPr>
          <p:nvPr/>
        </p:nvSpPr>
        <p:spPr bwMode="auto">
          <a:xfrm>
            <a:off x="2545815" y="1352693"/>
            <a:ext cx="59311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版    本</a:t>
            </a:r>
          </a:p>
        </p:txBody>
      </p:sp>
      <p:sp>
        <p:nvSpPr>
          <p:cNvPr id="194" name="Rectangle 36"/>
          <p:cNvSpPr>
            <a:spLocks noChangeArrowheads="1"/>
          </p:cNvSpPr>
          <p:nvPr/>
        </p:nvSpPr>
        <p:spPr bwMode="auto">
          <a:xfrm>
            <a:off x="3662717" y="1540264"/>
            <a:ext cx="172162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路    由    器    标    识    符</a:t>
            </a:r>
          </a:p>
        </p:txBody>
      </p:sp>
      <p:sp>
        <p:nvSpPr>
          <p:cNvPr id="195" name="Rectangle 37"/>
          <p:cNvSpPr>
            <a:spLocks noChangeArrowheads="1"/>
          </p:cNvSpPr>
          <p:nvPr/>
        </p:nvSpPr>
        <p:spPr bwMode="auto">
          <a:xfrm>
            <a:off x="3728417" y="1326317"/>
            <a:ext cx="59311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类    型</a:t>
            </a:r>
          </a:p>
        </p:txBody>
      </p:sp>
      <p:sp>
        <p:nvSpPr>
          <p:cNvPr id="196" name="Rectangle 38"/>
          <p:cNvSpPr>
            <a:spLocks noChangeArrowheads="1"/>
          </p:cNvSpPr>
          <p:nvPr/>
        </p:nvSpPr>
        <p:spPr bwMode="auto">
          <a:xfrm>
            <a:off x="5133671" y="1326317"/>
            <a:ext cx="11573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分    组    长    度</a:t>
            </a:r>
          </a:p>
        </p:txBody>
      </p:sp>
      <p:sp>
        <p:nvSpPr>
          <p:cNvPr id="197" name="Rectangle 39"/>
          <p:cNvSpPr>
            <a:spLocks noChangeArrowheads="1"/>
          </p:cNvSpPr>
          <p:nvPr/>
        </p:nvSpPr>
        <p:spPr bwMode="auto">
          <a:xfrm>
            <a:off x="2990203" y="1932780"/>
            <a:ext cx="79829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检   验   和</a:t>
            </a:r>
          </a:p>
        </p:txBody>
      </p:sp>
      <p:sp>
        <p:nvSpPr>
          <p:cNvPr id="198" name="Rectangle 40"/>
          <p:cNvSpPr>
            <a:spLocks noChangeArrowheads="1"/>
          </p:cNvSpPr>
          <p:nvPr/>
        </p:nvSpPr>
        <p:spPr bwMode="auto">
          <a:xfrm>
            <a:off x="4129006" y="2119773"/>
            <a:ext cx="90088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鉴            别</a:t>
            </a:r>
          </a:p>
        </p:txBody>
      </p:sp>
      <p:sp>
        <p:nvSpPr>
          <p:cNvPr id="200" name="Rectangle 42"/>
          <p:cNvSpPr>
            <a:spLocks noChangeArrowheads="1"/>
          </p:cNvSpPr>
          <p:nvPr/>
        </p:nvSpPr>
        <p:spPr bwMode="auto">
          <a:xfrm>
            <a:off x="4129006" y="2316031"/>
            <a:ext cx="90088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鉴            别</a:t>
            </a:r>
          </a:p>
        </p:txBody>
      </p:sp>
      <p:sp>
        <p:nvSpPr>
          <p:cNvPr id="201" name="Rectangle 43"/>
          <p:cNvSpPr>
            <a:spLocks noChangeArrowheads="1"/>
          </p:cNvSpPr>
          <p:nvPr/>
        </p:nvSpPr>
        <p:spPr bwMode="auto">
          <a:xfrm>
            <a:off x="3838831" y="1735679"/>
            <a:ext cx="143949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区    域    标    识    符</a:t>
            </a:r>
          </a:p>
        </p:txBody>
      </p:sp>
      <p:sp>
        <p:nvSpPr>
          <p:cNvPr id="202" name="Rectangle 44"/>
          <p:cNvSpPr>
            <a:spLocks noChangeArrowheads="1"/>
          </p:cNvSpPr>
          <p:nvPr/>
        </p:nvSpPr>
        <p:spPr bwMode="auto">
          <a:xfrm>
            <a:off x="5146446" y="1932780"/>
            <a:ext cx="11573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鉴    别    类    型</a:t>
            </a:r>
          </a:p>
        </p:txBody>
      </p:sp>
      <p:sp>
        <p:nvSpPr>
          <p:cNvPr id="203" name="Line 45"/>
          <p:cNvSpPr>
            <a:spLocks noChangeShapeType="1"/>
          </p:cNvSpPr>
          <p:nvPr/>
        </p:nvSpPr>
        <p:spPr bwMode="auto">
          <a:xfrm flipH="1">
            <a:off x="4537807" y="1949890"/>
            <a:ext cx="0" cy="1954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204" name="Line 46"/>
          <p:cNvSpPr>
            <a:spLocks noChangeShapeType="1"/>
          </p:cNvSpPr>
          <p:nvPr/>
        </p:nvSpPr>
        <p:spPr bwMode="auto">
          <a:xfrm flipH="1" flipV="1">
            <a:off x="3371629" y="2757079"/>
            <a:ext cx="287438" cy="843"/>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7" name="Text Box 17"/>
          <p:cNvSpPr txBox="1">
            <a:spLocks noChangeArrowheads="1"/>
          </p:cNvSpPr>
          <p:nvPr/>
        </p:nvSpPr>
        <p:spPr bwMode="auto">
          <a:xfrm>
            <a:off x="4526454" y="2869588"/>
            <a:ext cx="2207622" cy="276999"/>
          </a:xfrm>
          <a:prstGeom prst="rect">
            <a:avLst/>
          </a:prstGeom>
          <a:noFill/>
          <a:ln w="9525">
            <a:noFill/>
            <a:miter lim="800000"/>
            <a:headEnd/>
            <a:tailEnd/>
          </a:ln>
          <a:effectLst/>
        </p:spPr>
        <p:txBody>
          <a:bodyPr wrap="none" anchor="ctr"/>
          <a:lstStyle>
            <a:defPPr>
              <a:defRPr lang="zh-CN"/>
            </a:defPPr>
            <a:lvl1pPr>
              <a:defRPr sz="1200" b="1">
                <a:latin typeface="微软雅黑" pitchFamily="34" charset="-122"/>
                <a:ea typeface="微软雅黑" pitchFamily="34" charset="-122"/>
              </a:defRPr>
            </a:lvl1pPr>
          </a:lstStyle>
          <a:p>
            <a:r>
              <a:rPr lang="zh-CN" altLang="en-US" b="0" dirty="0">
                <a:solidFill>
                  <a:sysClr val="windowText" lastClr="000000"/>
                </a:solidFill>
                <a:latin typeface="微软雅黑 Light" panose="020B0502040204020203" pitchFamily="34" charset="-122"/>
                <a:ea typeface="微软雅黑 Light" panose="020B0502040204020203" pitchFamily="34" charset="-122"/>
              </a:rPr>
              <a:t>类型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1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至类型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5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的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OSPF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分组</a:t>
            </a:r>
          </a:p>
        </p:txBody>
      </p:sp>
      <p:sp>
        <p:nvSpPr>
          <p:cNvPr id="5" name="矩形 4"/>
          <p:cNvSpPr/>
          <p:nvPr/>
        </p:nvSpPr>
        <p:spPr>
          <a:xfrm>
            <a:off x="942579" y="2638755"/>
            <a:ext cx="1390796" cy="738664"/>
          </a:xfrm>
          <a:prstGeom prst="rect">
            <a:avLst/>
          </a:prstGeom>
          <a:solidFill>
            <a:schemeClr val="bg1"/>
          </a:solidFill>
        </p:spPr>
        <p:txBody>
          <a:bodyPr wrap="square">
            <a:spAutoFit/>
          </a:bodyPr>
          <a:lstStyle/>
          <a:p>
            <a:r>
              <a:rPr lang="zh-CN" altLang="en-US" sz="1400" dirty="0">
                <a:latin typeface="微软雅黑" panose="020B0503020204020204" pitchFamily="34" charset="-122"/>
                <a:ea typeface="微软雅黑" panose="020B0503020204020204" pitchFamily="34" charset="-122"/>
              </a:rPr>
              <a:t>其 </a:t>
            </a:r>
            <a:r>
              <a:rPr lang="en-US" altLang="zh-CN" sz="1400" dirty="0">
                <a:latin typeface="微软雅黑" panose="020B0503020204020204" pitchFamily="34" charset="-122"/>
                <a:ea typeface="微软雅黑" panose="020B0503020204020204" pitchFamily="34" charset="-122"/>
              </a:rPr>
              <a:t>IP </a:t>
            </a:r>
            <a:r>
              <a:rPr lang="zh-CN" altLang="en-US" sz="1400" dirty="0">
                <a:latin typeface="微软雅黑" panose="020B0503020204020204" pitchFamily="34" charset="-122"/>
                <a:ea typeface="微软雅黑" panose="020B0503020204020204" pitchFamily="34" charset="-122"/>
              </a:rPr>
              <a:t>数据报首部的协议字段值为 </a:t>
            </a:r>
            <a:r>
              <a:rPr lang="en-US" altLang="zh-CN" sz="1400" dirty="0">
                <a:latin typeface="微软雅黑" panose="020B0503020204020204" pitchFamily="34" charset="-122"/>
                <a:ea typeface="微软雅黑" panose="020B0503020204020204" pitchFamily="34" charset="-122"/>
              </a:rPr>
              <a:t>89</a:t>
            </a:r>
            <a:endParaRPr lang="zh-CN" altLang="en-US" sz="1400" dirty="0">
              <a:latin typeface="微软雅黑" panose="020B0503020204020204" pitchFamily="34" charset="-122"/>
              <a:ea typeface="微软雅黑" panose="020B0503020204020204" pitchFamily="34" charset="-122"/>
            </a:endParaRPr>
          </a:p>
        </p:txBody>
      </p:sp>
      <p:cxnSp>
        <p:nvCxnSpPr>
          <p:cNvPr id="7" name="直接箭头连接符 6"/>
          <p:cNvCxnSpPr/>
          <p:nvPr/>
        </p:nvCxnSpPr>
        <p:spPr>
          <a:xfrm flipH="1" flipV="1">
            <a:off x="2138994" y="3029226"/>
            <a:ext cx="1614240" cy="406167"/>
          </a:xfrm>
          <a:prstGeom prst="straightConnector1">
            <a:avLst/>
          </a:prstGeom>
          <a:ln w="19050">
            <a:solidFill>
              <a:srgbClr val="990099"/>
            </a:solidFill>
            <a:tailEnd type="triangle"/>
          </a:ln>
        </p:spPr>
        <p:style>
          <a:lnRef idx="1">
            <a:schemeClr val="accent1"/>
          </a:lnRef>
          <a:fillRef idx="0">
            <a:schemeClr val="accent1"/>
          </a:fillRef>
          <a:effectRef idx="0">
            <a:schemeClr val="accent1"/>
          </a:effectRef>
          <a:fontRef idx="minor">
            <a:schemeClr val="tx1"/>
          </a:fontRef>
        </p:style>
      </p:cxnSp>
      <p:sp>
        <p:nvSpPr>
          <p:cNvPr id="6" name="标题 5">
            <a:extLst>
              <a:ext uri="{FF2B5EF4-FFF2-40B4-BE49-F238E27FC236}">
                <a16:creationId xmlns:a16="http://schemas.microsoft.com/office/drawing/2014/main" id="{BA8FBD6D-D031-96BE-B20E-E9507606D631}"/>
              </a:ext>
            </a:extLst>
          </p:cNvPr>
          <p:cNvSpPr>
            <a:spLocks noGrp="1"/>
          </p:cNvSpPr>
          <p:nvPr>
            <p:ph type="title"/>
          </p:nvPr>
        </p:nvSpPr>
        <p:spPr>
          <a:xfrm>
            <a:off x="486000" y="550723"/>
            <a:ext cx="8172000" cy="338554"/>
          </a:xfrm>
        </p:spPr>
        <p:txBody>
          <a:bodyPr/>
          <a:lstStyle/>
          <a:p>
            <a:r>
              <a:rPr lang="en-US" altLang="zh-CN" dirty="0"/>
              <a:t>OSPF </a:t>
            </a:r>
            <a:r>
              <a:rPr lang="zh-CN" altLang="en-US" dirty="0"/>
              <a:t>分组用 </a:t>
            </a:r>
            <a:r>
              <a:rPr lang="en-US" altLang="zh-CN" dirty="0"/>
              <a:t>IP </a:t>
            </a:r>
            <a:r>
              <a:rPr lang="zh-CN" altLang="en-US" dirty="0"/>
              <a:t>数据报传送</a:t>
            </a:r>
          </a:p>
        </p:txBody>
      </p:sp>
    </p:spTree>
    <p:extLst>
      <p:ext uri="{BB962C8B-B14F-4D97-AF65-F5344CB8AC3E}">
        <p14:creationId xmlns:p14="http://schemas.microsoft.com/office/powerpoint/2010/main" val="639269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F3DE3C1-32C9-C3ED-68E1-0A884DA881FD}"/>
              </a:ext>
            </a:extLst>
          </p:cNvPr>
          <p:cNvSpPr>
            <a:spLocks noGrp="1"/>
          </p:cNvSpPr>
          <p:nvPr>
            <p:ph type="title"/>
          </p:nvPr>
        </p:nvSpPr>
        <p:spPr>
          <a:xfrm>
            <a:off x="486000" y="550723"/>
            <a:ext cx="8172000" cy="338554"/>
          </a:xfrm>
        </p:spPr>
        <p:txBody>
          <a:bodyPr/>
          <a:lstStyle/>
          <a:p>
            <a:r>
              <a:rPr lang="en-US" altLang="zh-CN" dirty="0"/>
              <a:t>OSPF </a:t>
            </a:r>
            <a:r>
              <a:rPr lang="zh-CN" altLang="en-US" dirty="0"/>
              <a:t>工作过程</a:t>
            </a:r>
          </a:p>
        </p:txBody>
      </p:sp>
      <p:sp>
        <p:nvSpPr>
          <p:cNvPr id="5" name="内容占位符 4">
            <a:extLst>
              <a:ext uri="{FF2B5EF4-FFF2-40B4-BE49-F238E27FC236}">
                <a16:creationId xmlns:a16="http://schemas.microsoft.com/office/drawing/2014/main" id="{42CFBF53-1807-4EEB-6AD7-5E421BE114DB}"/>
              </a:ext>
            </a:extLst>
          </p:cNvPr>
          <p:cNvSpPr>
            <a:spLocks noGrp="1"/>
          </p:cNvSpPr>
          <p:nvPr>
            <p:ph sz="quarter" idx="11"/>
          </p:nvPr>
        </p:nvSpPr>
        <p:spPr>
          <a:xfrm>
            <a:off x="486000" y="900000"/>
            <a:ext cx="8172000" cy="3703500"/>
          </a:xfrm>
        </p:spPr>
        <p:txBody>
          <a:bodyPr/>
          <a:lstStyle/>
          <a:p>
            <a:r>
              <a:rPr lang="zh-CN" altLang="en-US" dirty="0"/>
              <a:t>确定邻站可达</a:t>
            </a:r>
            <a:endParaRPr lang="en-US" altLang="zh-CN" dirty="0"/>
          </a:p>
          <a:p>
            <a:pPr lvl="1"/>
            <a:r>
              <a:rPr lang="zh-CN" altLang="en-US" dirty="0"/>
              <a:t>相邻路由器每隔 </a:t>
            </a:r>
            <a:r>
              <a:rPr lang="en-US" altLang="zh-CN" dirty="0"/>
              <a:t>10 </a:t>
            </a:r>
            <a:r>
              <a:rPr lang="zh-CN" altLang="en-US" dirty="0"/>
              <a:t>秒钟要交换一次问候分组</a:t>
            </a:r>
            <a:endParaRPr lang="en-US" altLang="zh-CN" dirty="0"/>
          </a:p>
          <a:p>
            <a:pPr lvl="1"/>
            <a:r>
              <a:rPr lang="zh-CN" altLang="en-US" dirty="0"/>
              <a:t>若有 </a:t>
            </a:r>
            <a:r>
              <a:rPr lang="en-US" altLang="zh-CN" dirty="0"/>
              <a:t>40 </a:t>
            </a:r>
            <a:r>
              <a:rPr lang="zh-CN" altLang="en-US" dirty="0"/>
              <a:t>秒钟没有收到某个相邻路由器发来的问候分组，则可认为该相邻路由器是不可达的</a:t>
            </a:r>
            <a:endParaRPr lang="en-US" altLang="zh-CN" dirty="0"/>
          </a:p>
          <a:p>
            <a:r>
              <a:rPr lang="zh-CN" altLang="en-US" dirty="0"/>
              <a:t>同步链路状态数据库</a:t>
            </a:r>
            <a:endParaRPr lang="en-US" altLang="zh-CN" dirty="0"/>
          </a:p>
          <a:p>
            <a:pPr lvl="1"/>
            <a:r>
              <a:rPr lang="zh-CN" altLang="en-US" dirty="0"/>
              <a:t>同步：指不同路由器的链路状态数据库的内容是一样的</a:t>
            </a:r>
            <a:endParaRPr lang="en-US" altLang="zh-CN" dirty="0"/>
          </a:p>
          <a:p>
            <a:pPr lvl="1"/>
            <a:r>
              <a:rPr lang="zh-CN" altLang="en-US" dirty="0"/>
              <a:t>两个同步的路由器叫做完全邻接的 </a:t>
            </a:r>
            <a:r>
              <a:rPr lang="en-US" altLang="zh-CN" dirty="0"/>
              <a:t>(fully adjacent) </a:t>
            </a:r>
            <a:r>
              <a:rPr lang="zh-CN" altLang="en-US" dirty="0"/>
              <a:t>路由器</a:t>
            </a:r>
            <a:endParaRPr lang="en-US" altLang="zh-CN" dirty="0"/>
          </a:p>
          <a:p>
            <a:pPr lvl="1"/>
            <a:r>
              <a:rPr lang="zh-CN" altLang="en-US" dirty="0"/>
              <a:t>不是完全邻接的路由器：它们虽然在物理上是相邻的，但其链路状态数据库并没有达到一致</a:t>
            </a:r>
            <a:endParaRPr lang="en-US" altLang="zh-CN" dirty="0"/>
          </a:p>
          <a:p>
            <a:pPr lvl="1"/>
            <a:r>
              <a:rPr lang="zh-CN" altLang="en-US" dirty="0"/>
              <a:t>链路状态只涉及相邻路由器，与整个互联网的规模并无直接关系，因此当互联网规模很大时，</a:t>
            </a:r>
            <a:r>
              <a:rPr lang="en-US" altLang="zh-CN" dirty="0"/>
              <a:t>OSPF </a:t>
            </a:r>
            <a:r>
              <a:rPr lang="zh-CN" altLang="en-US" dirty="0"/>
              <a:t>协议要比距离向量协议 </a:t>
            </a:r>
            <a:r>
              <a:rPr lang="en-US" altLang="zh-CN" dirty="0"/>
              <a:t>RIP </a:t>
            </a:r>
            <a:r>
              <a:rPr lang="zh-CN" altLang="en-US" dirty="0"/>
              <a:t>好得多</a:t>
            </a:r>
            <a:endParaRPr lang="en-US" altLang="zh-CN" dirty="0"/>
          </a:p>
          <a:p>
            <a:r>
              <a:rPr lang="zh-CN" altLang="en-US" dirty="0"/>
              <a:t>更新链路状态</a:t>
            </a:r>
            <a:endParaRPr lang="en-US" altLang="zh-CN" dirty="0"/>
          </a:p>
          <a:p>
            <a:pPr lvl="1"/>
            <a:r>
              <a:rPr lang="zh-CN" altLang="en-US" dirty="0"/>
              <a:t>只要链路状态发生变化，路由器就使用链路状态更新分组，采用可靠的洪泛法向全网更新链路状态</a:t>
            </a:r>
            <a:endParaRPr lang="en-US" altLang="zh-CN" dirty="0"/>
          </a:p>
          <a:p>
            <a:pPr lvl="1"/>
            <a:r>
              <a:rPr lang="zh-CN" altLang="en-US" dirty="0"/>
              <a:t>为确保链路状态数据库与全网的状态保持一致，</a:t>
            </a:r>
            <a:r>
              <a:rPr lang="en-US" altLang="zh-CN" dirty="0"/>
              <a:t>OSPF </a:t>
            </a:r>
            <a:r>
              <a:rPr lang="zh-CN" altLang="en-US" dirty="0"/>
              <a:t>还规定：每隔一段时间，如 </a:t>
            </a:r>
            <a:r>
              <a:rPr lang="en-US" altLang="zh-CN" dirty="0"/>
              <a:t>30 </a:t>
            </a:r>
            <a:r>
              <a:rPr lang="zh-CN" altLang="en-US" dirty="0"/>
              <a:t>分钟，要刷新一次数据库中的链路状态</a:t>
            </a:r>
          </a:p>
        </p:txBody>
      </p:sp>
    </p:spTree>
    <p:extLst>
      <p:ext uri="{BB962C8B-B14F-4D97-AF65-F5344CB8AC3E}">
        <p14:creationId xmlns:p14="http://schemas.microsoft.com/office/powerpoint/2010/main" val="2025306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2"/>
          <p:cNvSpPr>
            <a:spLocks noChangeArrowheads="1"/>
          </p:cNvSpPr>
          <p:nvPr/>
        </p:nvSpPr>
        <p:spPr bwMode="auto">
          <a:xfrm>
            <a:off x="1345098" y="2013851"/>
            <a:ext cx="6644146" cy="1209846"/>
          </a:xfrm>
          <a:prstGeom prst="rect">
            <a:avLst/>
          </a:prstGeom>
          <a:solidFill>
            <a:schemeClr val="accent6">
              <a:lumMod val="40000"/>
              <a:lumOff val="60000"/>
            </a:schemeClr>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AutoShape 6"/>
          <p:cNvSpPr>
            <a:spLocks noChangeArrowheads="1"/>
          </p:cNvSpPr>
          <p:nvPr/>
        </p:nvSpPr>
        <p:spPr bwMode="auto">
          <a:xfrm rot="16200000">
            <a:off x="5132802" y="-147017"/>
            <a:ext cx="66788" cy="2904817"/>
          </a:xfrm>
          <a:prstGeom prst="can">
            <a:avLst>
              <a:gd name="adj" fmla="val 105945"/>
            </a:avLst>
          </a:prstGeom>
          <a:solidFill>
            <a:srgbClr val="CC00CC"/>
          </a:solidFill>
          <a:ln w="9525">
            <a:no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pic>
        <p:nvPicPr>
          <p:cNvPr id="9" name="Picture 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29117" y="1153273"/>
            <a:ext cx="568153"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 name="Picture 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6270" y="1153273"/>
            <a:ext cx="566967"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 name="Group 9"/>
          <p:cNvGrpSpPr>
            <a:grpSpLocks/>
          </p:cNvGrpSpPr>
          <p:nvPr/>
        </p:nvGrpSpPr>
        <p:grpSpPr bwMode="auto">
          <a:xfrm>
            <a:off x="3783768" y="1371158"/>
            <a:ext cx="2906003" cy="307663"/>
            <a:chOff x="2056" y="1482"/>
            <a:chExt cx="2450" cy="281"/>
          </a:xfrm>
        </p:grpSpPr>
        <p:sp>
          <p:nvSpPr>
            <p:cNvPr id="12" name="Text Box 10"/>
            <p:cNvSpPr txBox="1">
              <a:spLocks noChangeArrowheads="1"/>
            </p:cNvSpPr>
            <p:nvPr/>
          </p:nvSpPr>
          <p:spPr bwMode="auto">
            <a:xfrm>
              <a:off x="2991" y="1482"/>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sp>
          <p:nvSpPr>
            <p:cNvPr id="13" name="Line 11"/>
            <p:cNvSpPr>
              <a:spLocks noChangeShapeType="1"/>
            </p:cNvSpPr>
            <p:nvPr/>
          </p:nvSpPr>
          <p:spPr bwMode="auto">
            <a:xfrm>
              <a:off x="2056" y="1731"/>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14" name="Group 12"/>
          <p:cNvGrpSpPr>
            <a:grpSpLocks/>
          </p:cNvGrpSpPr>
          <p:nvPr/>
        </p:nvGrpSpPr>
        <p:grpSpPr bwMode="auto">
          <a:xfrm>
            <a:off x="3783768" y="1635022"/>
            <a:ext cx="2906003" cy="307662"/>
            <a:chOff x="2056" y="1723"/>
            <a:chExt cx="2450" cy="281"/>
          </a:xfrm>
        </p:grpSpPr>
        <p:sp>
          <p:nvSpPr>
            <p:cNvPr id="15" name="Line 13"/>
            <p:cNvSpPr>
              <a:spLocks noChangeShapeType="1"/>
            </p:cNvSpPr>
            <p:nvPr/>
          </p:nvSpPr>
          <p:spPr bwMode="auto">
            <a:xfrm flipH="1">
              <a:off x="2056" y="198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Text Box 14"/>
            <p:cNvSpPr txBox="1">
              <a:spLocks noChangeArrowheads="1"/>
            </p:cNvSpPr>
            <p:nvPr/>
          </p:nvSpPr>
          <p:spPr bwMode="auto">
            <a:xfrm>
              <a:off x="2987" y="1723"/>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grpSp>
      <p:grpSp>
        <p:nvGrpSpPr>
          <p:cNvPr id="17" name="Group 15"/>
          <p:cNvGrpSpPr>
            <a:grpSpLocks/>
          </p:cNvGrpSpPr>
          <p:nvPr/>
        </p:nvGrpSpPr>
        <p:grpSpPr bwMode="auto">
          <a:xfrm>
            <a:off x="3783768" y="2023708"/>
            <a:ext cx="2906003" cy="307663"/>
            <a:chOff x="2056" y="2078"/>
            <a:chExt cx="2450" cy="281"/>
          </a:xfrm>
        </p:grpSpPr>
        <p:sp>
          <p:nvSpPr>
            <p:cNvPr id="18" name="Line 16"/>
            <p:cNvSpPr>
              <a:spLocks noChangeShapeType="1"/>
            </p:cNvSpPr>
            <p:nvPr/>
          </p:nvSpPr>
          <p:spPr bwMode="auto">
            <a:xfrm>
              <a:off x="2056" y="2328"/>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Text Box 17"/>
            <p:cNvSpPr txBox="1">
              <a:spLocks noChangeArrowheads="1"/>
            </p:cNvSpPr>
            <p:nvPr/>
          </p:nvSpPr>
          <p:spPr bwMode="auto">
            <a:xfrm>
              <a:off x="2713" y="2078"/>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数据库描述</a:t>
              </a:r>
            </a:p>
          </p:txBody>
        </p:sp>
      </p:grpSp>
      <p:grpSp>
        <p:nvGrpSpPr>
          <p:cNvPr id="20" name="Group 18"/>
          <p:cNvGrpSpPr>
            <a:grpSpLocks/>
          </p:cNvGrpSpPr>
          <p:nvPr/>
        </p:nvGrpSpPr>
        <p:grpSpPr bwMode="auto">
          <a:xfrm>
            <a:off x="3783768" y="2288666"/>
            <a:ext cx="2906003" cy="307663"/>
            <a:chOff x="2056" y="2320"/>
            <a:chExt cx="2450" cy="281"/>
          </a:xfrm>
        </p:grpSpPr>
        <p:sp>
          <p:nvSpPr>
            <p:cNvPr id="21" name="Line 19"/>
            <p:cNvSpPr>
              <a:spLocks noChangeShapeType="1"/>
            </p:cNvSpPr>
            <p:nvPr/>
          </p:nvSpPr>
          <p:spPr bwMode="auto">
            <a:xfrm flipH="1">
              <a:off x="2056" y="2577"/>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20"/>
            <p:cNvSpPr txBox="1">
              <a:spLocks noChangeArrowheads="1"/>
            </p:cNvSpPr>
            <p:nvPr/>
          </p:nvSpPr>
          <p:spPr bwMode="auto">
            <a:xfrm>
              <a:off x="2713" y="2320"/>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3" name="Group 21"/>
          <p:cNvGrpSpPr>
            <a:grpSpLocks/>
          </p:cNvGrpSpPr>
          <p:nvPr/>
        </p:nvGrpSpPr>
        <p:grpSpPr bwMode="auto">
          <a:xfrm>
            <a:off x="3783768" y="2561296"/>
            <a:ext cx="2906003" cy="307663"/>
            <a:chOff x="2056" y="2569"/>
            <a:chExt cx="2450" cy="281"/>
          </a:xfrm>
        </p:grpSpPr>
        <p:sp>
          <p:nvSpPr>
            <p:cNvPr id="24" name="Line 22"/>
            <p:cNvSpPr>
              <a:spLocks noChangeShapeType="1"/>
            </p:cNvSpPr>
            <p:nvPr/>
          </p:nvSpPr>
          <p:spPr bwMode="auto">
            <a:xfrm>
              <a:off x="2056" y="282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Text Box 23"/>
            <p:cNvSpPr txBox="1">
              <a:spLocks noChangeArrowheads="1"/>
            </p:cNvSpPr>
            <p:nvPr/>
          </p:nvSpPr>
          <p:spPr bwMode="auto">
            <a:xfrm>
              <a:off x="2713" y="2569"/>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6" name="Group 24"/>
          <p:cNvGrpSpPr>
            <a:grpSpLocks/>
          </p:cNvGrpSpPr>
          <p:nvPr/>
        </p:nvGrpSpPr>
        <p:grpSpPr bwMode="auto">
          <a:xfrm>
            <a:off x="3783768" y="2827349"/>
            <a:ext cx="2906003" cy="307663"/>
            <a:chOff x="2056" y="2812"/>
            <a:chExt cx="2450" cy="281"/>
          </a:xfrm>
        </p:grpSpPr>
        <p:sp>
          <p:nvSpPr>
            <p:cNvPr id="27" name="Line 25"/>
            <p:cNvSpPr>
              <a:spLocks noChangeShapeType="1"/>
            </p:cNvSpPr>
            <p:nvPr/>
          </p:nvSpPr>
          <p:spPr bwMode="auto">
            <a:xfrm flipH="1">
              <a:off x="2056" y="307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Text Box 26"/>
            <p:cNvSpPr txBox="1">
              <a:spLocks noChangeArrowheads="1"/>
            </p:cNvSpPr>
            <p:nvPr/>
          </p:nvSpPr>
          <p:spPr bwMode="auto">
            <a:xfrm>
              <a:off x="2713" y="2812"/>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9" name="Group 27"/>
          <p:cNvGrpSpPr>
            <a:grpSpLocks/>
          </p:cNvGrpSpPr>
          <p:nvPr/>
        </p:nvGrpSpPr>
        <p:grpSpPr bwMode="auto">
          <a:xfrm>
            <a:off x="3783768" y="3232459"/>
            <a:ext cx="2906003" cy="307663"/>
            <a:chOff x="2056" y="3182"/>
            <a:chExt cx="2450" cy="281"/>
          </a:xfrm>
        </p:grpSpPr>
        <p:sp>
          <p:nvSpPr>
            <p:cNvPr id="30" name="Line 28"/>
            <p:cNvSpPr>
              <a:spLocks noChangeShapeType="1"/>
            </p:cNvSpPr>
            <p:nvPr/>
          </p:nvSpPr>
          <p:spPr bwMode="auto">
            <a:xfrm>
              <a:off x="2056" y="3423"/>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1" name="Text Box 29"/>
            <p:cNvSpPr txBox="1">
              <a:spLocks noChangeArrowheads="1"/>
            </p:cNvSpPr>
            <p:nvPr/>
          </p:nvSpPr>
          <p:spPr bwMode="auto">
            <a:xfrm>
              <a:off x="2624" y="318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链路状态请求</a:t>
              </a:r>
            </a:p>
          </p:txBody>
        </p:sp>
      </p:grpSp>
      <p:grpSp>
        <p:nvGrpSpPr>
          <p:cNvPr id="32" name="Group 30"/>
          <p:cNvGrpSpPr>
            <a:grpSpLocks/>
          </p:cNvGrpSpPr>
          <p:nvPr/>
        </p:nvGrpSpPr>
        <p:grpSpPr bwMode="auto">
          <a:xfrm>
            <a:off x="3783768" y="3506184"/>
            <a:ext cx="2906003" cy="307663"/>
            <a:chOff x="2056" y="3432"/>
            <a:chExt cx="2450" cy="281"/>
          </a:xfrm>
        </p:grpSpPr>
        <p:sp>
          <p:nvSpPr>
            <p:cNvPr id="33" name="Line 31"/>
            <p:cNvSpPr>
              <a:spLocks noChangeShapeType="1"/>
            </p:cNvSpPr>
            <p:nvPr/>
          </p:nvSpPr>
          <p:spPr bwMode="auto">
            <a:xfrm flipH="1">
              <a:off x="2056" y="3672"/>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Text Box 32"/>
            <p:cNvSpPr txBox="1">
              <a:spLocks noChangeArrowheads="1"/>
            </p:cNvSpPr>
            <p:nvPr/>
          </p:nvSpPr>
          <p:spPr bwMode="auto">
            <a:xfrm>
              <a:off x="2629" y="343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链路状态更新</a:t>
              </a:r>
            </a:p>
          </p:txBody>
        </p:sp>
      </p:grpSp>
      <p:sp>
        <p:nvSpPr>
          <p:cNvPr id="35" name="Line 33"/>
          <p:cNvSpPr>
            <a:spLocks noChangeShapeType="1"/>
          </p:cNvSpPr>
          <p:nvPr/>
        </p:nvSpPr>
        <p:spPr bwMode="auto">
          <a:xfrm>
            <a:off x="1633326" y="3232455"/>
            <a:ext cx="5764562"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34"/>
          <p:cNvSpPr>
            <a:spLocks noChangeShapeType="1"/>
          </p:cNvSpPr>
          <p:nvPr/>
        </p:nvSpPr>
        <p:spPr bwMode="auto">
          <a:xfrm>
            <a:off x="1657048" y="2025894"/>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37" name="Group 35"/>
          <p:cNvGrpSpPr>
            <a:grpSpLocks/>
          </p:cNvGrpSpPr>
          <p:nvPr/>
        </p:nvGrpSpPr>
        <p:grpSpPr bwMode="auto">
          <a:xfrm>
            <a:off x="3783768" y="3777716"/>
            <a:ext cx="2906003" cy="307663"/>
            <a:chOff x="2056" y="3680"/>
            <a:chExt cx="2450" cy="281"/>
          </a:xfrm>
        </p:grpSpPr>
        <p:sp>
          <p:nvSpPr>
            <p:cNvPr id="38" name="Line 36"/>
            <p:cNvSpPr>
              <a:spLocks noChangeShapeType="1"/>
            </p:cNvSpPr>
            <p:nvPr/>
          </p:nvSpPr>
          <p:spPr bwMode="auto">
            <a:xfrm>
              <a:off x="2056" y="392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37"/>
            <p:cNvSpPr txBox="1">
              <a:spLocks noChangeArrowheads="1"/>
            </p:cNvSpPr>
            <p:nvPr/>
          </p:nvSpPr>
          <p:spPr bwMode="auto">
            <a:xfrm>
              <a:off x="2629" y="3680"/>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链路状态确认</a:t>
              </a:r>
            </a:p>
          </p:txBody>
        </p:sp>
      </p:grpSp>
      <p:grpSp>
        <p:nvGrpSpPr>
          <p:cNvPr id="52" name="组合 51"/>
          <p:cNvGrpSpPr/>
          <p:nvPr/>
        </p:nvGrpSpPr>
        <p:grpSpPr>
          <a:xfrm>
            <a:off x="1899017" y="1317505"/>
            <a:ext cx="1087676" cy="708389"/>
            <a:chOff x="1899017" y="1317505"/>
            <a:chExt cx="1087676" cy="708389"/>
          </a:xfrm>
          <a:noFill/>
        </p:grpSpPr>
        <p:sp>
          <p:nvSpPr>
            <p:cNvPr id="6" name="Line 4"/>
            <p:cNvSpPr>
              <a:spLocks noChangeShapeType="1"/>
            </p:cNvSpPr>
            <p:nvPr/>
          </p:nvSpPr>
          <p:spPr bwMode="auto">
            <a:xfrm>
              <a:off x="2437518" y="1317505"/>
              <a:ext cx="0" cy="708389"/>
            </a:xfrm>
            <a:prstGeom prst="line">
              <a:avLst/>
            </a:prstGeom>
            <a:grpFill/>
            <a:ln w="28575">
              <a:solidFill>
                <a:srgbClr val="333399"/>
              </a:solidFill>
              <a:round/>
              <a:headEnd type="triangle" w="med" len="lg"/>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 name="Rectangle 5"/>
            <p:cNvSpPr>
              <a:spLocks noChangeArrowheads="1"/>
            </p:cNvSpPr>
            <p:nvPr/>
          </p:nvSpPr>
          <p:spPr bwMode="auto">
            <a:xfrm>
              <a:off x="1919181" y="1527723"/>
              <a:ext cx="1067512" cy="224451"/>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0" name="Text Box 38"/>
            <p:cNvSpPr txBox="1">
              <a:spLocks noChangeArrowheads="1"/>
            </p:cNvSpPr>
            <p:nvPr/>
          </p:nvSpPr>
          <p:spPr bwMode="auto">
            <a:xfrm>
              <a:off x="1899017" y="1490496"/>
              <a:ext cx="1082348"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确定可达性</a:t>
              </a:r>
            </a:p>
          </p:txBody>
        </p:sp>
      </p:grpSp>
      <p:grpSp>
        <p:nvGrpSpPr>
          <p:cNvPr id="41" name="Group 39"/>
          <p:cNvGrpSpPr>
            <a:grpSpLocks/>
          </p:cNvGrpSpPr>
          <p:nvPr/>
        </p:nvGrpSpPr>
        <p:grpSpPr bwMode="auto">
          <a:xfrm>
            <a:off x="1600114" y="2025895"/>
            <a:ext cx="1800536" cy="1198897"/>
            <a:chOff x="215" y="2080"/>
            <a:chExt cx="1518" cy="1095"/>
          </a:xfrm>
        </p:grpSpPr>
        <p:sp>
          <p:nvSpPr>
            <p:cNvPr id="42" name="Line 40"/>
            <p:cNvSpPr>
              <a:spLocks noChangeShapeType="1"/>
            </p:cNvSpPr>
            <p:nvPr/>
          </p:nvSpPr>
          <p:spPr bwMode="auto">
            <a:xfrm>
              <a:off x="921" y="2080"/>
              <a:ext cx="0" cy="109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215" y="2469"/>
              <a:ext cx="1518" cy="281"/>
            </a:xfrm>
            <a:prstGeom prst="rect">
              <a:avLst/>
            </a:prstGeom>
            <a:solidFill>
              <a:schemeClr val="accent6">
                <a:lumMod val="40000"/>
                <a:lumOff val="6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同步链路状态数据库</a:t>
              </a:r>
            </a:p>
          </p:txBody>
        </p:sp>
      </p:grpSp>
      <p:sp>
        <p:nvSpPr>
          <p:cNvPr id="44" name="Line 42"/>
          <p:cNvSpPr>
            <a:spLocks noChangeShapeType="1"/>
          </p:cNvSpPr>
          <p:nvPr/>
        </p:nvSpPr>
        <p:spPr bwMode="auto">
          <a:xfrm>
            <a:off x="1657048" y="4149967"/>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43"/>
          <p:cNvSpPr>
            <a:spLocks noChangeShapeType="1"/>
          </p:cNvSpPr>
          <p:nvPr/>
        </p:nvSpPr>
        <p:spPr bwMode="auto">
          <a:xfrm>
            <a:off x="1657048" y="1326741"/>
            <a:ext cx="1702088"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46" name="Group 44"/>
          <p:cNvGrpSpPr>
            <a:grpSpLocks/>
          </p:cNvGrpSpPr>
          <p:nvPr/>
        </p:nvGrpSpPr>
        <p:grpSpPr bwMode="auto">
          <a:xfrm>
            <a:off x="1736519" y="3224792"/>
            <a:ext cx="1262035" cy="925176"/>
            <a:chOff x="330" y="3175"/>
            <a:chExt cx="1064" cy="845"/>
          </a:xfrm>
        </p:grpSpPr>
        <p:sp>
          <p:nvSpPr>
            <p:cNvPr id="47" name="Line 45"/>
            <p:cNvSpPr>
              <a:spLocks noChangeShapeType="1"/>
            </p:cNvSpPr>
            <p:nvPr/>
          </p:nvSpPr>
          <p:spPr bwMode="auto">
            <a:xfrm>
              <a:off x="921" y="3175"/>
              <a:ext cx="0" cy="84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Text Box 46"/>
            <p:cNvSpPr txBox="1">
              <a:spLocks noChangeArrowheads="1"/>
            </p:cNvSpPr>
            <p:nvPr/>
          </p:nvSpPr>
          <p:spPr bwMode="auto">
            <a:xfrm>
              <a:off x="330" y="3414"/>
              <a:ext cx="1064" cy="28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更新链路状态</a:t>
              </a:r>
            </a:p>
          </p:txBody>
        </p:sp>
      </p:grpSp>
      <p:sp>
        <p:nvSpPr>
          <p:cNvPr id="49" name="标题 48">
            <a:extLst>
              <a:ext uri="{FF2B5EF4-FFF2-40B4-BE49-F238E27FC236}">
                <a16:creationId xmlns:a16="http://schemas.microsoft.com/office/drawing/2014/main" id="{247F0B10-1A99-6E48-C25F-26FCA8B3BADD}"/>
              </a:ext>
            </a:extLst>
          </p:cNvPr>
          <p:cNvSpPr>
            <a:spLocks noGrp="1"/>
          </p:cNvSpPr>
          <p:nvPr>
            <p:ph type="title"/>
          </p:nvPr>
        </p:nvSpPr>
        <p:spPr>
          <a:xfrm>
            <a:off x="486000" y="550723"/>
            <a:ext cx="8172000" cy="338554"/>
          </a:xfrm>
        </p:spPr>
        <p:txBody>
          <a:bodyPr/>
          <a:lstStyle/>
          <a:p>
            <a:r>
              <a:rPr lang="en-US" altLang="zh-CN" dirty="0"/>
              <a:t>OSPF </a:t>
            </a:r>
            <a:r>
              <a:rPr lang="zh-CN" altLang="en-US" dirty="0"/>
              <a:t>工作过程</a:t>
            </a:r>
          </a:p>
        </p:txBody>
      </p:sp>
    </p:spTree>
    <p:extLst>
      <p:ext uri="{BB962C8B-B14F-4D97-AF65-F5344CB8AC3E}">
        <p14:creationId xmlns:p14="http://schemas.microsoft.com/office/powerpoint/2010/main" val="113004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2000"/>
                                        <p:tgtEl>
                                          <p:spTgt spid="11"/>
                                        </p:tgtEl>
                                      </p:cBhvr>
                                    </p:animEffect>
                                  </p:childTnLst>
                                </p:cTn>
                              </p:par>
                            </p:childTnLst>
                          </p:cTn>
                        </p:par>
                        <p:par>
                          <p:cTn id="8" fill="hold">
                            <p:stCondLst>
                              <p:cond delay="2000"/>
                            </p:stCondLst>
                            <p:childTnLst>
                              <p:par>
                                <p:cTn id="9" presetID="22" presetClass="entr" presetSubtype="2" fill="hold"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wipe(right)">
                                      <p:cBhvr>
                                        <p:cTn id="11" dur="2000"/>
                                        <p:tgtEl>
                                          <p:spTgt spid="1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left)">
                                      <p:cBhvr>
                                        <p:cTn id="16" dur="2000"/>
                                        <p:tgtEl>
                                          <p:spTgt spid="17"/>
                                        </p:tgtEl>
                                      </p:cBhvr>
                                    </p:animEffect>
                                  </p:childTnLst>
                                </p:cTn>
                              </p:par>
                            </p:childTnLst>
                          </p:cTn>
                        </p:par>
                        <p:par>
                          <p:cTn id="17" fill="hold">
                            <p:stCondLst>
                              <p:cond delay="2000"/>
                            </p:stCondLst>
                            <p:childTnLst>
                              <p:par>
                                <p:cTn id="18" presetID="22" presetClass="entr" presetSubtype="2" fill="hold" nodeType="afterEffect">
                                  <p:stCondLst>
                                    <p:cond delay="0"/>
                                  </p:stCondLst>
                                  <p:childTnLst>
                                    <p:set>
                                      <p:cBhvr>
                                        <p:cTn id="19" dur="1" fill="hold">
                                          <p:stCondLst>
                                            <p:cond delay="0"/>
                                          </p:stCondLst>
                                        </p:cTn>
                                        <p:tgtEl>
                                          <p:spTgt spid="20"/>
                                        </p:tgtEl>
                                        <p:attrNameLst>
                                          <p:attrName>style.visibility</p:attrName>
                                        </p:attrNameLst>
                                      </p:cBhvr>
                                      <p:to>
                                        <p:strVal val="visible"/>
                                      </p:to>
                                    </p:set>
                                    <p:animEffect transition="in" filter="wipe(right)">
                                      <p:cBhvr>
                                        <p:cTn id="20" dur="2000"/>
                                        <p:tgtEl>
                                          <p:spTgt spid="20"/>
                                        </p:tgtEl>
                                      </p:cBhvr>
                                    </p:animEffect>
                                  </p:childTnLst>
                                </p:cTn>
                              </p:par>
                            </p:childTnLst>
                          </p:cTn>
                        </p:par>
                        <p:par>
                          <p:cTn id="21" fill="hold">
                            <p:stCondLst>
                              <p:cond delay="4000"/>
                            </p:stCondLst>
                            <p:childTnLst>
                              <p:par>
                                <p:cTn id="22" presetID="22" presetClass="entr" presetSubtype="8" fill="hold" nodeType="afterEffect">
                                  <p:stCondLst>
                                    <p:cond delay="0"/>
                                  </p:stCondLst>
                                  <p:childTnLst>
                                    <p:set>
                                      <p:cBhvr>
                                        <p:cTn id="23" dur="1" fill="hold">
                                          <p:stCondLst>
                                            <p:cond delay="0"/>
                                          </p:stCondLst>
                                        </p:cTn>
                                        <p:tgtEl>
                                          <p:spTgt spid="23"/>
                                        </p:tgtEl>
                                        <p:attrNameLst>
                                          <p:attrName>style.visibility</p:attrName>
                                        </p:attrNameLst>
                                      </p:cBhvr>
                                      <p:to>
                                        <p:strVal val="visible"/>
                                      </p:to>
                                    </p:set>
                                    <p:animEffect transition="in" filter="wipe(left)">
                                      <p:cBhvr>
                                        <p:cTn id="24" dur="2000"/>
                                        <p:tgtEl>
                                          <p:spTgt spid="23"/>
                                        </p:tgtEl>
                                      </p:cBhvr>
                                    </p:animEffect>
                                  </p:childTnLst>
                                </p:cTn>
                              </p:par>
                            </p:childTnLst>
                          </p:cTn>
                        </p:par>
                        <p:par>
                          <p:cTn id="25" fill="hold">
                            <p:stCondLst>
                              <p:cond delay="6000"/>
                            </p:stCondLst>
                            <p:childTnLst>
                              <p:par>
                                <p:cTn id="26" presetID="22" presetClass="entr" presetSubtype="2" fill="hold" nodeType="after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wipe(right)">
                                      <p:cBhvr>
                                        <p:cTn id="28" dur="2000"/>
                                        <p:tgtEl>
                                          <p:spTgt spid="26"/>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wipe(left)">
                                      <p:cBhvr>
                                        <p:cTn id="33" dur="2000"/>
                                        <p:tgtEl>
                                          <p:spTgt spid="29"/>
                                        </p:tgtEl>
                                      </p:cBhvr>
                                    </p:animEffect>
                                  </p:childTnLst>
                                </p:cTn>
                              </p:par>
                            </p:childTnLst>
                          </p:cTn>
                        </p:par>
                        <p:par>
                          <p:cTn id="34" fill="hold">
                            <p:stCondLst>
                              <p:cond delay="2000"/>
                            </p:stCondLst>
                            <p:childTnLst>
                              <p:par>
                                <p:cTn id="35" presetID="22" presetClass="entr" presetSubtype="2" fill="hold" nodeType="after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wipe(right)">
                                      <p:cBhvr>
                                        <p:cTn id="37" dur="2000"/>
                                        <p:tgtEl>
                                          <p:spTgt spid="32"/>
                                        </p:tgtEl>
                                      </p:cBhvr>
                                    </p:animEffect>
                                  </p:childTnLst>
                                </p:cTn>
                              </p:par>
                            </p:childTnLst>
                          </p:cTn>
                        </p:par>
                        <p:par>
                          <p:cTn id="38" fill="hold">
                            <p:stCondLst>
                              <p:cond delay="4000"/>
                            </p:stCondLst>
                            <p:childTnLst>
                              <p:par>
                                <p:cTn id="39" presetID="22" presetClass="entr" presetSubtype="8" fill="hold" nodeType="after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wipe(left)">
                                      <p:cBhvr>
                                        <p:cTn id="41" dur="20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Line 37"/>
          <p:cNvSpPr>
            <a:spLocks noChangeShapeType="1"/>
          </p:cNvSpPr>
          <p:nvPr/>
        </p:nvSpPr>
        <p:spPr bwMode="auto">
          <a:xfrm>
            <a:off x="2498611" y="903919"/>
            <a:ext cx="0" cy="3149801"/>
          </a:xfrm>
          <a:prstGeom prst="line">
            <a:avLst/>
          </a:prstGeom>
          <a:noFill/>
          <a:ln w="1270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3" name="Text Box 38"/>
          <p:cNvSpPr txBox="1">
            <a:spLocks noChangeArrowheads="1"/>
          </p:cNvSpPr>
          <p:nvPr/>
        </p:nvSpPr>
        <p:spPr bwMode="auto">
          <a:xfrm>
            <a:off x="2406423" y="4005239"/>
            <a:ext cx="2568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t</a:t>
            </a:r>
          </a:p>
        </p:txBody>
      </p:sp>
      <p:grpSp>
        <p:nvGrpSpPr>
          <p:cNvPr id="77" name="组合 76">
            <a:extLst>
              <a:ext uri="{FF2B5EF4-FFF2-40B4-BE49-F238E27FC236}">
                <a16:creationId xmlns:a16="http://schemas.microsoft.com/office/drawing/2014/main" id="{AE9D463F-3105-B368-CA30-C6E1C19E4DF3}"/>
              </a:ext>
            </a:extLst>
          </p:cNvPr>
          <p:cNvGrpSpPr/>
          <p:nvPr/>
        </p:nvGrpSpPr>
        <p:grpSpPr>
          <a:xfrm>
            <a:off x="3470795" y="3576113"/>
            <a:ext cx="3531856" cy="828639"/>
            <a:chOff x="3470795" y="3480863"/>
            <a:chExt cx="3531856" cy="828639"/>
          </a:xfrm>
        </p:grpSpPr>
        <p:sp>
          <p:nvSpPr>
            <p:cNvPr id="24" name="Line 24"/>
            <p:cNvSpPr>
              <a:spLocks noChangeShapeType="1"/>
            </p:cNvSpPr>
            <p:nvPr/>
          </p:nvSpPr>
          <p:spPr bwMode="auto">
            <a:xfrm>
              <a:off x="3627919" y="3603096"/>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5" name="Freeform 25"/>
            <p:cNvSpPr>
              <a:spLocks/>
            </p:cNvSpPr>
            <p:nvPr/>
          </p:nvSpPr>
          <p:spPr bwMode="auto">
            <a:xfrm>
              <a:off x="3620014" y="3603097"/>
              <a:ext cx="3218594" cy="566471"/>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6" name="Line 26"/>
            <p:cNvSpPr>
              <a:spLocks noChangeShapeType="1"/>
            </p:cNvSpPr>
            <p:nvPr/>
          </p:nvSpPr>
          <p:spPr bwMode="auto">
            <a:xfrm>
              <a:off x="4640833" y="3603097"/>
              <a:ext cx="0" cy="56647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7" name="Line 27"/>
            <p:cNvSpPr>
              <a:spLocks noChangeShapeType="1"/>
            </p:cNvSpPr>
            <p:nvPr/>
          </p:nvSpPr>
          <p:spPr bwMode="auto">
            <a:xfrm>
              <a:off x="5832612" y="3603097"/>
              <a:ext cx="0" cy="56647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36" name="Group 73"/>
            <p:cNvGrpSpPr>
              <a:grpSpLocks/>
            </p:cNvGrpSpPr>
            <p:nvPr/>
          </p:nvGrpSpPr>
          <p:grpSpPr bwMode="auto">
            <a:xfrm>
              <a:off x="4089413" y="3712560"/>
              <a:ext cx="2344030" cy="410487"/>
              <a:chOff x="1803" y="3719"/>
              <a:chExt cx="2372" cy="450"/>
            </a:xfrm>
            <a:solidFill>
              <a:schemeClr val="bg1">
                <a:lumMod val="65000"/>
              </a:schemeClr>
            </a:solidFill>
          </p:grpSpPr>
          <p:sp>
            <p:nvSpPr>
              <p:cNvPr id="37" name="AutoShape 32"/>
              <p:cNvSpPr>
                <a:spLocks noChangeArrowheads="1"/>
              </p:cNvSpPr>
              <p:nvPr/>
            </p:nvSpPr>
            <p:spPr bwMode="auto">
              <a:xfrm>
                <a:off x="2399" y="3726"/>
                <a:ext cx="120" cy="292"/>
              </a:xfrm>
              <a:prstGeom prst="downArrow">
                <a:avLst>
                  <a:gd name="adj1" fmla="val 50000"/>
                  <a:gd name="adj2" fmla="val 80458"/>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8" name="AutoShape 33"/>
              <p:cNvSpPr>
                <a:spLocks noChangeArrowheads="1"/>
              </p:cNvSpPr>
              <p:nvPr/>
            </p:nvSpPr>
            <p:spPr bwMode="auto">
              <a:xfrm>
                <a:off x="3627" y="3719"/>
                <a:ext cx="121" cy="292"/>
              </a:xfrm>
              <a:prstGeom prst="downArrow">
                <a:avLst>
                  <a:gd name="adj1" fmla="val 50000"/>
                  <a:gd name="adj2" fmla="val 79793"/>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9" name="AutoShape 34"/>
              <p:cNvSpPr>
                <a:spLocks noChangeArrowheads="1"/>
              </p:cNvSpPr>
              <p:nvPr/>
            </p:nvSpPr>
            <p:spPr bwMode="auto">
              <a:xfrm rot="5400000">
                <a:off x="2862" y="3957"/>
                <a:ext cx="113" cy="312"/>
              </a:xfrm>
              <a:prstGeom prst="downArrow">
                <a:avLst>
                  <a:gd name="adj1" fmla="val 50000"/>
                  <a:gd name="adj2" fmla="val 91294"/>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0" name="AutoShape 35"/>
              <p:cNvSpPr>
                <a:spLocks noChangeArrowheads="1"/>
              </p:cNvSpPr>
              <p:nvPr/>
            </p:nvSpPr>
            <p:spPr bwMode="auto">
              <a:xfrm rot="3308442">
                <a:off x="3963" y="3674"/>
                <a:ext cx="113" cy="311"/>
              </a:xfrm>
              <a:prstGeom prst="downArrow">
                <a:avLst>
                  <a:gd name="adj1" fmla="val 50000"/>
                  <a:gd name="adj2" fmla="val 91001"/>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1" name="AutoShape 36"/>
              <p:cNvSpPr>
                <a:spLocks noChangeArrowheads="1"/>
              </p:cNvSpPr>
              <p:nvPr/>
            </p:nvSpPr>
            <p:spPr bwMode="auto">
              <a:xfrm rot="-3458995">
                <a:off x="1902" y="3702"/>
                <a:ext cx="113" cy="312"/>
              </a:xfrm>
              <a:prstGeom prst="downArrow">
                <a:avLst>
                  <a:gd name="adj1" fmla="val 50000"/>
                  <a:gd name="adj2" fmla="val 91294"/>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44" name="Text Box 40"/>
            <p:cNvSpPr txBox="1">
              <a:spLocks noChangeArrowheads="1"/>
            </p:cNvSpPr>
            <p:nvPr/>
          </p:nvSpPr>
          <p:spPr bwMode="auto">
            <a:xfrm>
              <a:off x="4811793" y="3733539"/>
              <a:ext cx="93006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ACK</a:t>
              </a:r>
              <a:r>
                <a:rPr kumimoji="1" lang="zh-CN" altLang="en-US" sz="1400">
                  <a:latin typeface="Montserrat" panose="00000500000000000000" pitchFamily="2" charset="0"/>
                  <a:ea typeface="微软雅黑 Light" panose="020B0502040204020203" pitchFamily="34" charset="-122"/>
                </a:rPr>
                <a:t>报文</a:t>
              </a:r>
            </a:p>
          </p:txBody>
        </p:sp>
        <p:pic>
          <p:nvPicPr>
            <p:cNvPr id="4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4047334"/>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0" name="Picture 5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3480863"/>
              <a:ext cx="335991"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1" name="Picture 5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348086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348086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3" name="Picture 5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70795" y="3480863"/>
              <a:ext cx="335991"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8" name="Picture 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4047334"/>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0" name="Text Box 66"/>
            <p:cNvSpPr txBox="1">
              <a:spLocks noChangeArrowheads="1"/>
            </p:cNvSpPr>
            <p:nvPr/>
          </p:nvSpPr>
          <p:spPr bwMode="auto">
            <a:xfrm>
              <a:off x="4199512" y="4001725"/>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6" name="组合 75">
            <a:extLst>
              <a:ext uri="{FF2B5EF4-FFF2-40B4-BE49-F238E27FC236}">
                <a16:creationId xmlns:a16="http://schemas.microsoft.com/office/drawing/2014/main" id="{0F489BEF-7577-DA1B-9D68-592E23482F55}"/>
              </a:ext>
            </a:extLst>
          </p:cNvPr>
          <p:cNvGrpSpPr/>
          <p:nvPr/>
        </p:nvGrpSpPr>
        <p:grpSpPr>
          <a:xfrm>
            <a:off x="3489571" y="2624244"/>
            <a:ext cx="3494305" cy="809483"/>
            <a:chOff x="3508346" y="2604245"/>
            <a:chExt cx="3494305" cy="809483"/>
          </a:xfrm>
        </p:grpSpPr>
        <p:sp>
          <p:nvSpPr>
            <p:cNvPr id="20" name="Line 19"/>
            <p:cNvSpPr>
              <a:spLocks noChangeShapeType="1"/>
            </p:cNvSpPr>
            <p:nvPr/>
          </p:nvSpPr>
          <p:spPr bwMode="auto">
            <a:xfrm>
              <a:off x="3627920" y="2720095"/>
              <a:ext cx="3207724" cy="912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1" name="Freeform 20"/>
            <p:cNvSpPr>
              <a:spLocks/>
            </p:cNvSpPr>
            <p:nvPr/>
          </p:nvSpPr>
          <p:spPr bwMode="auto">
            <a:xfrm>
              <a:off x="3627919" y="2720095"/>
              <a:ext cx="3217606" cy="567384"/>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2" name="Line 21"/>
            <p:cNvSpPr>
              <a:spLocks noChangeShapeType="1"/>
            </p:cNvSpPr>
            <p:nvPr/>
          </p:nvSpPr>
          <p:spPr bwMode="auto">
            <a:xfrm>
              <a:off x="4640833" y="2720095"/>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3" name="Line 22"/>
            <p:cNvSpPr>
              <a:spLocks noChangeShapeType="1"/>
            </p:cNvSpPr>
            <p:nvPr/>
          </p:nvSpPr>
          <p:spPr bwMode="auto">
            <a:xfrm>
              <a:off x="5832612" y="2720095"/>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32" name="Group 72"/>
            <p:cNvGrpSpPr>
              <a:grpSpLocks/>
            </p:cNvGrpSpPr>
            <p:nvPr/>
          </p:nvGrpSpPr>
          <p:grpSpPr bwMode="auto">
            <a:xfrm>
              <a:off x="5057857" y="2656241"/>
              <a:ext cx="1340998" cy="0"/>
              <a:chOff x="2783" y="2561"/>
              <a:chExt cx="1357" cy="0"/>
            </a:xfrm>
          </p:grpSpPr>
          <p:sp>
            <p:nvSpPr>
              <p:cNvPr id="33" name="Line 23"/>
              <p:cNvSpPr>
                <a:spLocks noChangeShapeType="1"/>
              </p:cNvSpPr>
              <p:nvPr/>
            </p:nvSpPr>
            <p:spPr bwMode="auto">
              <a:xfrm flipH="1">
                <a:off x="2783" y="256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4" name="Line 30"/>
              <p:cNvSpPr>
                <a:spLocks noChangeShapeType="1"/>
              </p:cNvSpPr>
              <p:nvPr/>
            </p:nvSpPr>
            <p:spPr bwMode="auto">
              <a:xfrm>
                <a:off x="3838" y="256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35" name="Line 31"/>
            <p:cNvSpPr>
              <a:spLocks noChangeShapeType="1"/>
            </p:cNvSpPr>
            <p:nvPr/>
          </p:nvSpPr>
          <p:spPr bwMode="auto">
            <a:xfrm flipH="1">
              <a:off x="6131052" y="2793070"/>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46" name="Picture 4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2604245"/>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7" name="Picture 4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8346" y="2604245"/>
              <a:ext cx="335002"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4" name="Picture 6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3171630"/>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5" name="Picture 6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3171630"/>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6" name="Picture 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2604245"/>
              <a:ext cx="335991"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7" name="Picture 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2604245"/>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1" name="Text Box 67"/>
            <p:cNvSpPr txBox="1">
              <a:spLocks noChangeArrowheads="1"/>
            </p:cNvSpPr>
            <p:nvPr/>
          </p:nvSpPr>
          <p:spPr bwMode="auto">
            <a:xfrm>
              <a:off x="4188641" y="3105951"/>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8" name="组合 77">
            <a:extLst>
              <a:ext uri="{FF2B5EF4-FFF2-40B4-BE49-F238E27FC236}">
                <a16:creationId xmlns:a16="http://schemas.microsoft.com/office/drawing/2014/main" id="{2C0733DE-482C-06F1-C17C-3DEC5DD89444}"/>
              </a:ext>
            </a:extLst>
          </p:cNvPr>
          <p:cNvGrpSpPr/>
          <p:nvPr/>
        </p:nvGrpSpPr>
        <p:grpSpPr>
          <a:xfrm>
            <a:off x="3500936" y="699524"/>
            <a:ext cx="3471575" cy="821341"/>
            <a:chOff x="3500936" y="851924"/>
            <a:chExt cx="3471575" cy="821341"/>
          </a:xfrm>
        </p:grpSpPr>
        <p:sp>
          <p:nvSpPr>
            <p:cNvPr id="5" name="Text Box 39"/>
            <p:cNvSpPr txBox="1">
              <a:spLocks noChangeArrowheads="1"/>
            </p:cNvSpPr>
            <p:nvPr/>
          </p:nvSpPr>
          <p:spPr bwMode="auto">
            <a:xfrm>
              <a:off x="4720385" y="113561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Montserrat" panose="00000500000000000000" pitchFamily="2" charset="0"/>
                  <a:ea typeface="微软雅黑 Light" panose="020B0502040204020203" pitchFamily="34" charset="-122"/>
                </a:rPr>
                <a:t>更新报文</a:t>
              </a:r>
            </a:p>
          </p:txBody>
        </p:sp>
        <p:sp>
          <p:nvSpPr>
            <p:cNvPr id="6" name="Line 5"/>
            <p:cNvSpPr>
              <a:spLocks noChangeShapeType="1"/>
            </p:cNvSpPr>
            <p:nvPr/>
          </p:nvSpPr>
          <p:spPr bwMode="auto">
            <a:xfrm>
              <a:off x="3597779" y="955002"/>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7" name="Freeform 6"/>
            <p:cNvSpPr>
              <a:spLocks/>
            </p:cNvSpPr>
            <p:nvPr/>
          </p:nvSpPr>
          <p:spPr bwMode="auto">
            <a:xfrm>
              <a:off x="3597779" y="955002"/>
              <a:ext cx="3217606" cy="567384"/>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8" name="Line 7"/>
            <p:cNvSpPr>
              <a:spLocks noChangeShapeType="1"/>
            </p:cNvSpPr>
            <p:nvPr/>
          </p:nvSpPr>
          <p:spPr bwMode="auto">
            <a:xfrm>
              <a:off x="4610693" y="955002"/>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9" name="Line 8"/>
            <p:cNvSpPr>
              <a:spLocks noChangeShapeType="1"/>
            </p:cNvSpPr>
            <p:nvPr/>
          </p:nvSpPr>
          <p:spPr bwMode="auto">
            <a:xfrm>
              <a:off x="5802472" y="955002"/>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0" name="Line 9"/>
            <p:cNvSpPr>
              <a:spLocks noChangeShapeType="1"/>
            </p:cNvSpPr>
            <p:nvPr/>
          </p:nvSpPr>
          <p:spPr bwMode="auto">
            <a:xfrm>
              <a:off x="4809323" y="1462181"/>
              <a:ext cx="298439"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1" name="Line 10"/>
            <p:cNvSpPr>
              <a:spLocks noChangeShapeType="1"/>
            </p:cNvSpPr>
            <p:nvPr/>
          </p:nvSpPr>
          <p:spPr bwMode="auto">
            <a:xfrm rot="12726376">
              <a:off x="4157106" y="1256938"/>
              <a:ext cx="298439" cy="912"/>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2" name="Line 11"/>
            <p:cNvSpPr>
              <a:spLocks noChangeShapeType="1"/>
            </p:cNvSpPr>
            <p:nvPr/>
          </p:nvSpPr>
          <p:spPr bwMode="auto">
            <a:xfrm rot="16200000">
              <a:off x="4564095" y="1219538"/>
              <a:ext cx="257238"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54" name="Picture 5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31827" y="1419308"/>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5" name="Picture 5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3607" y="1419308"/>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6" name="Picture 5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36520" y="851924"/>
              <a:ext cx="335991"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7" name="Picture 5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3607"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5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31827"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0936"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65"/>
            <p:cNvSpPr txBox="1">
              <a:spLocks noChangeArrowheads="1"/>
            </p:cNvSpPr>
            <p:nvPr/>
          </p:nvSpPr>
          <p:spPr bwMode="auto">
            <a:xfrm>
              <a:off x="4188148" y="1365488"/>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9" name="组合 78">
            <a:extLst>
              <a:ext uri="{FF2B5EF4-FFF2-40B4-BE49-F238E27FC236}">
                <a16:creationId xmlns:a16="http://schemas.microsoft.com/office/drawing/2014/main" id="{6B33FFCE-630B-4A37-ECB3-D041F3B9E888}"/>
              </a:ext>
            </a:extLst>
          </p:cNvPr>
          <p:cNvGrpSpPr/>
          <p:nvPr/>
        </p:nvGrpSpPr>
        <p:grpSpPr>
          <a:xfrm>
            <a:off x="3519712" y="1663252"/>
            <a:ext cx="3434023" cy="818605"/>
            <a:chOff x="3519712" y="1728541"/>
            <a:chExt cx="3434023" cy="818605"/>
          </a:xfrm>
        </p:grpSpPr>
        <p:sp>
          <p:nvSpPr>
            <p:cNvPr id="13" name="Line 12"/>
            <p:cNvSpPr>
              <a:spLocks noChangeShapeType="1"/>
            </p:cNvSpPr>
            <p:nvPr/>
          </p:nvSpPr>
          <p:spPr bwMode="auto">
            <a:xfrm>
              <a:off x="3616555" y="1838004"/>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4" name="Freeform 13"/>
            <p:cNvSpPr>
              <a:spLocks/>
            </p:cNvSpPr>
            <p:nvPr/>
          </p:nvSpPr>
          <p:spPr bwMode="auto">
            <a:xfrm>
              <a:off x="3616555" y="1838004"/>
              <a:ext cx="3217606" cy="566472"/>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5" name="Line 14"/>
            <p:cNvSpPr>
              <a:spLocks noChangeShapeType="1"/>
            </p:cNvSpPr>
            <p:nvPr/>
          </p:nvSpPr>
          <p:spPr bwMode="auto">
            <a:xfrm>
              <a:off x="4629469" y="1838004"/>
              <a:ext cx="0" cy="56647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6" name="Line 15"/>
            <p:cNvSpPr>
              <a:spLocks noChangeShapeType="1"/>
            </p:cNvSpPr>
            <p:nvPr/>
          </p:nvSpPr>
          <p:spPr bwMode="auto">
            <a:xfrm>
              <a:off x="5821248" y="1838004"/>
              <a:ext cx="0" cy="56647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17" name="Group 71"/>
            <p:cNvGrpSpPr>
              <a:grpSpLocks/>
            </p:cNvGrpSpPr>
            <p:nvPr/>
          </p:nvGrpSpPr>
          <p:grpSpPr bwMode="auto">
            <a:xfrm>
              <a:off x="5901293" y="1960238"/>
              <a:ext cx="666053" cy="258151"/>
              <a:chOff x="3648" y="1798"/>
              <a:chExt cx="674" cy="283"/>
            </a:xfrm>
          </p:grpSpPr>
          <p:sp>
            <p:nvSpPr>
              <p:cNvPr id="18" name="Line 17"/>
              <p:cNvSpPr>
                <a:spLocks noChangeShapeType="1"/>
              </p:cNvSpPr>
              <p:nvPr/>
            </p:nvSpPr>
            <p:spPr bwMode="auto">
              <a:xfrm rot="-2260875">
                <a:off x="4021" y="2023"/>
                <a:ext cx="301" cy="1"/>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9" name="Line 18"/>
              <p:cNvSpPr>
                <a:spLocks noChangeShapeType="1"/>
              </p:cNvSpPr>
              <p:nvPr/>
            </p:nvSpPr>
            <p:spPr bwMode="auto">
              <a:xfrm rot="-5400000">
                <a:off x="3506" y="1940"/>
                <a:ext cx="283"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grpSp>
          <p:nvGrpSpPr>
            <p:cNvPr id="28" name="Group 70"/>
            <p:cNvGrpSpPr>
              <a:grpSpLocks/>
            </p:cNvGrpSpPr>
            <p:nvPr/>
          </p:nvGrpSpPr>
          <p:grpSpPr bwMode="auto">
            <a:xfrm>
              <a:off x="3963417" y="1771414"/>
              <a:ext cx="1361751" cy="137741"/>
              <a:chOff x="1687" y="1591"/>
              <a:chExt cx="1378" cy="151"/>
            </a:xfrm>
          </p:grpSpPr>
          <p:sp>
            <p:nvSpPr>
              <p:cNvPr id="29" name="Line 16"/>
              <p:cNvSpPr>
                <a:spLocks noChangeShapeType="1"/>
              </p:cNvSpPr>
              <p:nvPr/>
            </p:nvSpPr>
            <p:spPr bwMode="auto">
              <a:xfrm flipH="1">
                <a:off x="1687" y="159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0" name="Line 28"/>
              <p:cNvSpPr>
                <a:spLocks noChangeShapeType="1"/>
              </p:cNvSpPr>
              <p:nvPr/>
            </p:nvSpPr>
            <p:spPr bwMode="auto">
              <a:xfrm>
                <a:off x="2763" y="1742"/>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31" name="Line 29"/>
            <p:cNvSpPr>
              <a:spLocks noChangeShapeType="1"/>
            </p:cNvSpPr>
            <p:nvPr/>
          </p:nvSpPr>
          <p:spPr bwMode="auto">
            <a:xfrm>
              <a:off x="3994051" y="1909155"/>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48" name="Picture 4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42383" y="229501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9" name="Picture 4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50603" y="229501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0" name="Picture 4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18732"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1" name="Picture 4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42383"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2" name="Picture 4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50603"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3" name="Picture 4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19712"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2" name="Text Box 68"/>
            <p:cNvSpPr txBox="1">
              <a:spLocks noChangeArrowheads="1"/>
            </p:cNvSpPr>
            <p:nvPr/>
          </p:nvSpPr>
          <p:spPr bwMode="auto">
            <a:xfrm>
              <a:off x="4188148" y="2239369"/>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R</a:t>
              </a:r>
            </a:p>
          </p:txBody>
        </p:sp>
      </p:grpSp>
      <p:sp>
        <p:nvSpPr>
          <p:cNvPr id="73" name="Text Box 69"/>
          <p:cNvSpPr txBox="1">
            <a:spLocks noChangeArrowheads="1"/>
          </p:cNvSpPr>
          <p:nvPr/>
        </p:nvSpPr>
        <p:spPr bwMode="auto">
          <a:xfrm>
            <a:off x="2801656" y="1051695"/>
            <a:ext cx="335348" cy="30209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1</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2</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3</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4</a:t>
            </a:r>
            <a:endParaRPr kumimoji="1" lang="en-US" altLang="zh-CN" sz="1400" dirty="0">
              <a:latin typeface="Montserrat" panose="00000500000000000000" pitchFamily="2" charset="0"/>
              <a:ea typeface="微软雅黑 Light" panose="020B0502040204020203" pitchFamily="34" charset="-122"/>
            </a:endParaRPr>
          </a:p>
        </p:txBody>
      </p:sp>
      <p:sp>
        <p:nvSpPr>
          <p:cNvPr id="75" name="Text Box 155"/>
          <p:cNvSpPr txBox="1">
            <a:spLocks noChangeArrowheads="1"/>
          </p:cNvSpPr>
          <p:nvPr/>
        </p:nvSpPr>
        <p:spPr bwMode="auto">
          <a:xfrm>
            <a:off x="2817188" y="4479707"/>
            <a:ext cx="3509624" cy="314381"/>
          </a:xfrm>
          <a:prstGeom prst="rect">
            <a:avLst/>
          </a:prstGeom>
          <a:solidFill>
            <a:schemeClr val="bg1"/>
          </a:solidFill>
          <a:ln w="9525">
            <a:noFill/>
            <a:miter lim="800000"/>
            <a:headEnd/>
            <a:tailEnd/>
          </a:ln>
          <a:effectLst/>
        </p:spPr>
        <p:txBody>
          <a:bodyPr wrap="square">
            <a:spAutoFit/>
          </a:bodyPr>
          <a:lstStyle/>
          <a:p>
            <a:pPr algn="ctr">
              <a:lnSpc>
                <a:spcPct val="110000"/>
              </a:lnSpc>
            </a:pPr>
            <a:r>
              <a:rPr lang="en-US" altLang="zh-CN" sz="1400" dirty="0">
                <a:latin typeface="Montserrat" panose="00000500000000000000" pitchFamily="2" charset="0"/>
                <a:ea typeface="微软雅黑 Light" panose="020B0502040204020203" pitchFamily="34" charset="-122"/>
              </a:rPr>
              <a:t>OSPF </a:t>
            </a:r>
            <a:r>
              <a:rPr lang="zh-CN" altLang="en-US" sz="1400" dirty="0">
                <a:latin typeface="Montserrat" panose="00000500000000000000" pitchFamily="2" charset="0"/>
                <a:ea typeface="微软雅黑 Light" panose="020B0502040204020203" pitchFamily="34" charset="-122"/>
              </a:rPr>
              <a:t>使用</a:t>
            </a:r>
            <a:r>
              <a:rPr lang="zh-CN" altLang="en-US" sz="1400" dirty="0">
                <a:solidFill>
                  <a:srgbClr val="C00000"/>
                </a:solidFill>
                <a:latin typeface="Montserrat" panose="00000500000000000000" pitchFamily="2" charset="0"/>
                <a:ea typeface="微软雅黑 Light" panose="020B0502040204020203" pitchFamily="34" charset="-122"/>
              </a:rPr>
              <a:t>可靠的洪泛法</a:t>
            </a:r>
            <a:r>
              <a:rPr lang="zh-CN" altLang="en-US" sz="1400" dirty="0">
                <a:latin typeface="Montserrat" panose="00000500000000000000" pitchFamily="2" charset="0"/>
                <a:ea typeface="微软雅黑 Light" panose="020B0502040204020203" pitchFamily="34" charset="-122"/>
              </a:rPr>
              <a:t>发送更新分组 </a:t>
            </a:r>
          </a:p>
        </p:txBody>
      </p:sp>
    </p:spTree>
    <p:extLst>
      <p:ext uri="{BB962C8B-B14F-4D97-AF65-F5344CB8AC3E}">
        <p14:creationId xmlns:p14="http://schemas.microsoft.com/office/powerpoint/2010/main" val="4228372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16C559A-3F0C-17C1-D641-2F4A4A29613D}"/>
              </a:ext>
            </a:extLst>
          </p:cNvPr>
          <p:cNvSpPr>
            <a:spLocks noGrp="1"/>
          </p:cNvSpPr>
          <p:nvPr>
            <p:ph type="title"/>
          </p:nvPr>
        </p:nvSpPr>
        <p:spPr>
          <a:xfrm>
            <a:off x="486000" y="550723"/>
            <a:ext cx="8172000" cy="338554"/>
          </a:xfrm>
        </p:spPr>
        <p:txBody>
          <a:bodyPr/>
          <a:lstStyle/>
          <a:p>
            <a:r>
              <a:rPr lang="zh-CN" altLang="en-US" dirty="0"/>
              <a:t>指定路由器 </a:t>
            </a:r>
            <a:r>
              <a:rPr lang="en-US" altLang="zh-CN" dirty="0"/>
              <a:t>DR </a:t>
            </a:r>
            <a:endParaRPr lang="zh-CN" altLang="en-US" dirty="0"/>
          </a:p>
        </p:txBody>
      </p:sp>
      <p:sp>
        <p:nvSpPr>
          <p:cNvPr id="6" name="内容占位符 5">
            <a:extLst>
              <a:ext uri="{FF2B5EF4-FFF2-40B4-BE49-F238E27FC236}">
                <a16:creationId xmlns:a16="http://schemas.microsoft.com/office/drawing/2014/main" id="{999BF953-B2DA-5601-8212-8EACCF665848}"/>
              </a:ext>
            </a:extLst>
          </p:cNvPr>
          <p:cNvSpPr>
            <a:spLocks noGrp="1"/>
          </p:cNvSpPr>
          <p:nvPr>
            <p:ph sz="quarter" idx="11"/>
          </p:nvPr>
        </p:nvSpPr>
        <p:spPr>
          <a:xfrm>
            <a:off x="486000" y="900000"/>
            <a:ext cx="8172000" cy="3703500"/>
          </a:xfrm>
        </p:spPr>
        <p:txBody>
          <a:bodyPr/>
          <a:lstStyle/>
          <a:p>
            <a:r>
              <a:rPr lang="zh-CN" altLang="en-US" dirty="0"/>
              <a:t>多点接入的局域网采用了指定路由器 </a:t>
            </a:r>
            <a:r>
              <a:rPr lang="en-US" altLang="zh-CN" dirty="0"/>
              <a:t>DR </a:t>
            </a:r>
            <a:r>
              <a:rPr lang="zh-CN" altLang="en-US" dirty="0"/>
              <a:t>的方法，使广播的信息量大大减少</a:t>
            </a:r>
            <a:endParaRPr lang="en-US" altLang="zh-CN" dirty="0"/>
          </a:p>
          <a:p>
            <a:pPr lvl="1"/>
            <a:r>
              <a:rPr lang="en-US" altLang="zh-CN" dirty="0"/>
              <a:t>DR - designated router</a:t>
            </a:r>
            <a:endParaRPr lang="zh-CN" altLang="en-US" dirty="0"/>
          </a:p>
          <a:p>
            <a:r>
              <a:rPr lang="zh-CN" altLang="en-US" dirty="0"/>
              <a:t>指定路由器 </a:t>
            </a:r>
            <a:r>
              <a:rPr lang="en-US" altLang="zh-CN" dirty="0"/>
              <a:t>DR </a:t>
            </a:r>
            <a:r>
              <a:rPr lang="zh-CN" altLang="en-US" dirty="0"/>
              <a:t>代表该局域网上所有的链路向连接到该网络上的各路由器发送状态信息</a:t>
            </a:r>
          </a:p>
        </p:txBody>
      </p:sp>
    </p:spTree>
    <p:extLst>
      <p:ext uri="{BB962C8B-B14F-4D97-AF65-F5344CB8AC3E}">
        <p14:creationId xmlns:p14="http://schemas.microsoft.com/office/powerpoint/2010/main" val="21943480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AB4DA2B-A54E-4D13-7AF4-0B533D793097}"/>
              </a:ext>
            </a:extLst>
          </p:cNvPr>
          <p:cNvSpPr>
            <a:spLocks noGrp="1"/>
          </p:cNvSpPr>
          <p:nvPr>
            <p:ph type="title"/>
          </p:nvPr>
        </p:nvSpPr>
        <p:spPr>
          <a:xfrm>
            <a:off x="486000" y="550723"/>
            <a:ext cx="8172000" cy="338554"/>
          </a:xfrm>
        </p:spPr>
        <p:txBody>
          <a:bodyPr/>
          <a:lstStyle/>
          <a:p>
            <a:r>
              <a:rPr lang="en-US" altLang="zh-CN" dirty="0"/>
              <a:t>4.6.4  </a:t>
            </a:r>
            <a:r>
              <a:rPr lang="zh-CN" altLang="en-US" dirty="0"/>
              <a:t>外部网关协议 </a:t>
            </a:r>
            <a:r>
              <a:rPr lang="en-US" altLang="zh-CN" dirty="0"/>
              <a:t>BGP</a:t>
            </a:r>
            <a:endParaRPr lang="zh-CN" altLang="en-US" dirty="0"/>
          </a:p>
        </p:txBody>
      </p:sp>
      <p:grpSp>
        <p:nvGrpSpPr>
          <p:cNvPr id="2" name="组合 1">
            <a:extLst>
              <a:ext uri="{FF2B5EF4-FFF2-40B4-BE49-F238E27FC236}">
                <a16:creationId xmlns:a16="http://schemas.microsoft.com/office/drawing/2014/main" id="{8D42F90F-047F-F713-93D5-4A26C57DB339}"/>
              </a:ext>
            </a:extLst>
          </p:cNvPr>
          <p:cNvGrpSpPr/>
          <p:nvPr/>
        </p:nvGrpSpPr>
        <p:grpSpPr>
          <a:xfrm>
            <a:off x="1442748" y="1587428"/>
            <a:ext cx="6258503" cy="2717359"/>
            <a:chOff x="1113847" y="1369650"/>
            <a:chExt cx="6258503" cy="2717359"/>
          </a:xfrm>
        </p:grpSpPr>
        <p:sp>
          <p:nvSpPr>
            <p:cNvPr id="3" name="矩形 2">
              <a:extLst>
                <a:ext uri="{FF2B5EF4-FFF2-40B4-BE49-F238E27FC236}">
                  <a16:creationId xmlns:a16="http://schemas.microsoft.com/office/drawing/2014/main" id="{C25ED8E8-5C62-A394-397F-1254F80A55A3}"/>
                </a:ext>
              </a:extLst>
            </p:cNvPr>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互联网路由选择协议</a:t>
              </a:r>
            </a:p>
          </p:txBody>
        </p:sp>
        <p:sp>
          <p:nvSpPr>
            <p:cNvPr id="20" name="矩形 19">
              <a:extLst>
                <a:ext uri="{FF2B5EF4-FFF2-40B4-BE49-F238E27FC236}">
                  <a16:creationId xmlns:a16="http://schemas.microsoft.com/office/drawing/2014/main" id="{D6D95636-3E8B-0B13-DAC7-427B3C1ADCFC}"/>
                </a:ext>
              </a:extLst>
            </p:cNvPr>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域内路由选择 </a:t>
              </a:r>
              <a:r>
                <a:rPr lang="en-US" altLang="zh-CN" sz="1400" dirty="0">
                  <a:solidFill>
                    <a:schemeClr val="tx1"/>
                  </a:solidFill>
                  <a:latin typeface="Montserrat" panose="00000500000000000000" pitchFamily="2" charset="0"/>
                  <a:ea typeface="微软雅黑" panose="020B0503020204020204" pitchFamily="34" charset="-122"/>
                </a:rPr>
                <a:t>IGP</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1" name="矩形 20">
              <a:extLst>
                <a:ext uri="{FF2B5EF4-FFF2-40B4-BE49-F238E27FC236}">
                  <a16:creationId xmlns:a16="http://schemas.microsoft.com/office/drawing/2014/main" id="{2E85D120-6E93-18B1-A449-0FA63F1E2E65}"/>
                </a:ext>
              </a:extLst>
            </p:cNvPr>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域间路由选择 </a:t>
              </a:r>
              <a:r>
                <a:rPr lang="en-US" altLang="zh-CN" sz="1400" dirty="0">
                  <a:solidFill>
                    <a:schemeClr val="tx1"/>
                  </a:solidFill>
                  <a:latin typeface="Montserrat" panose="00000500000000000000" pitchFamily="2" charset="0"/>
                  <a:ea typeface="微软雅黑" panose="020B0503020204020204" pitchFamily="34" charset="-122"/>
                </a:rPr>
                <a:t>EGP</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2" name="矩形 21">
              <a:extLst>
                <a:ext uri="{FF2B5EF4-FFF2-40B4-BE49-F238E27FC236}">
                  <a16:creationId xmlns:a16="http://schemas.microsoft.com/office/drawing/2014/main" id="{5BA4D49D-3952-D666-DCE3-E4FDDCBCC756}"/>
                </a:ext>
              </a:extLst>
            </p:cNvPr>
            <p:cNvSpPr/>
            <p:nvPr/>
          </p:nvSpPr>
          <p:spPr>
            <a:xfrm>
              <a:off x="1113847" y="3109407"/>
              <a:ext cx="1802444" cy="67065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距离向量</a:t>
              </a:r>
              <a:endParaRPr lang="en-US" altLang="zh-CN" sz="1400" dirty="0">
                <a:solidFill>
                  <a:schemeClr val="tx1"/>
                </a:solidFill>
                <a:latin typeface="Montserrat" panose="00000500000000000000" pitchFamily="2" charset="0"/>
                <a:ea typeface="微软雅黑" panose="020B0503020204020204" pitchFamily="34" charset="-122"/>
              </a:endParaRPr>
            </a:p>
            <a:p>
              <a:pPr algn="ctr"/>
              <a:r>
                <a:rPr lang="en-US" altLang="zh-CN" sz="1400" dirty="0">
                  <a:solidFill>
                    <a:schemeClr val="tx1"/>
                  </a:solidFill>
                  <a:latin typeface="Montserrat" panose="00000500000000000000" pitchFamily="2" charset="0"/>
                  <a:ea typeface="微软雅黑" panose="020B0503020204020204" pitchFamily="34" charset="-122"/>
                </a:rPr>
                <a:t>(Distance Vector)</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3" name="矩形 22">
              <a:extLst>
                <a:ext uri="{FF2B5EF4-FFF2-40B4-BE49-F238E27FC236}">
                  <a16:creationId xmlns:a16="http://schemas.microsoft.com/office/drawing/2014/main" id="{953185BB-A10C-0DEF-5B39-DDB8401B47C8}"/>
                </a:ext>
              </a:extLst>
            </p:cNvPr>
            <p:cNvSpPr/>
            <p:nvPr/>
          </p:nvSpPr>
          <p:spPr>
            <a:xfrm>
              <a:off x="3220430" y="3109408"/>
              <a:ext cx="1802444" cy="670653"/>
            </a:xfrm>
            <a:prstGeom prst="rect">
              <a:avLst/>
            </a:prstGeom>
            <a:solidFill>
              <a:schemeClr val="bg1"/>
            </a:solid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链路状态</a:t>
              </a:r>
              <a:endParaRPr lang="en-US" altLang="zh-CN" sz="1400" dirty="0">
                <a:solidFill>
                  <a:schemeClr val="tx1"/>
                </a:solidFill>
                <a:latin typeface="Montserrat" panose="00000500000000000000" pitchFamily="2" charset="0"/>
                <a:ea typeface="微软雅黑" panose="020B0503020204020204" pitchFamily="34" charset="-122"/>
              </a:endParaRPr>
            </a:p>
            <a:p>
              <a:pPr algn="ctr"/>
              <a:r>
                <a:rPr lang="en-US" altLang="zh-CN" sz="1400" dirty="0">
                  <a:solidFill>
                    <a:schemeClr val="tx1"/>
                  </a:solidFill>
                  <a:latin typeface="Montserrat" panose="00000500000000000000" pitchFamily="2" charset="0"/>
                  <a:ea typeface="微软雅黑" panose="020B0503020204020204" pitchFamily="34" charset="-122"/>
                </a:rPr>
                <a:t>(Link State)</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4" name="矩形 23">
              <a:extLst>
                <a:ext uri="{FF2B5EF4-FFF2-40B4-BE49-F238E27FC236}">
                  <a16:creationId xmlns:a16="http://schemas.microsoft.com/office/drawing/2014/main" id="{BCE7F5AC-4380-AE4F-B30F-D9256A7F63F5}"/>
                </a:ext>
              </a:extLst>
            </p:cNvPr>
            <p:cNvSpPr/>
            <p:nvPr/>
          </p:nvSpPr>
          <p:spPr>
            <a:xfrm>
              <a:off x="5569907" y="3109408"/>
              <a:ext cx="1802443" cy="671608"/>
            </a:xfrm>
            <a:prstGeom prst="rect">
              <a:avLst/>
            </a:prstGeom>
            <a:solidFill>
              <a:srgbClr val="C0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Montserrat" panose="00000500000000000000" pitchFamily="2" charset="0"/>
                  <a:ea typeface="微软雅黑" panose="020B0503020204020204" pitchFamily="34" charset="-122"/>
                </a:rPr>
                <a:t>路径向量</a:t>
              </a:r>
              <a:endParaRPr lang="en-US" altLang="zh-CN" sz="1400" dirty="0">
                <a:solidFill>
                  <a:schemeClr val="bg1"/>
                </a:solidFill>
                <a:latin typeface="Montserrat" panose="00000500000000000000" pitchFamily="2" charset="0"/>
                <a:ea typeface="微软雅黑" panose="020B0503020204020204" pitchFamily="34" charset="-122"/>
              </a:endParaRPr>
            </a:p>
            <a:p>
              <a:pPr algn="ctr"/>
              <a:r>
                <a:rPr lang="en-US" altLang="zh-CN" sz="1400" dirty="0">
                  <a:solidFill>
                    <a:schemeClr val="bg1"/>
                  </a:solidFill>
                  <a:latin typeface="Montserrat" panose="00000500000000000000" pitchFamily="2" charset="0"/>
                  <a:ea typeface="微软雅黑" panose="020B0503020204020204" pitchFamily="34" charset="-122"/>
                </a:rPr>
                <a:t>(Path Vector)</a:t>
              </a:r>
              <a:endParaRPr lang="zh-CN" altLang="en-US" sz="1400" dirty="0">
                <a:solidFill>
                  <a:schemeClr val="bg1"/>
                </a:solidFill>
                <a:latin typeface="Montserrat" panose="00000500000000000000" pitchFamily="2" charset="0"/>
                <a:ea typeface="微软雅黑" panose="020B0503020204020204" pitchFamily="34" charset="-122"/>
              </a:endParaRPr>
            </a:p>
          </p:txBody>
        </p:sp>
        <p:cxnSp>
          <p:nvCxnSpPr>
            <p:cNvPr id="25" name="直接连接符 24">
              <a:extLst>
                <a:ext uri="{FF2B5EF4-FFF2-40B4-BE49-F238E27FC236}">
                  <a16:creationId xmlns:a16="http://schemas.microsoft.com/office/drawing/2014/main" id="{A85F00AB-C671-B80F-B772-5D97A1E74440}"/>
                </a:ext>
              </a:extLst>
            </p:cNvPr>
            <p:cNvCxnSpPr>
              <a:endCxn id="20"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75937C7B-FCEE-7787-B14B-4931D1FC435A}"/>
                </a:ext>
              </a:extLst>
            </p:cNvPr>
            <p:cNvCxnSpPr>
              <a:endCxn id="21"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35AC1431-AA84-F510-8435-F930AE687EB4}"/>
                </a:ext>
              </a:extLst>
            </p:cNvPr>
            <p:cNvCxnSpPr>
              <a:stCxn id="20" idx="2"/>
              <a:endCxn id="22"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99D3B2F2-5B34-F66F-BFBF-F4F22E289223}"/>
                </a:ext>
              </a:extLst>
            </p:cNvPr>
            <p:cNvCxnSpPr>
              <a:stCxn id="20" idx="2"/>
              <a:endCxn id="23"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7A2190EB-1A1F-C965-E033-B6A004A3C48E}"/>
                </a:ext>
              </a:extLst>
            </p:cNvPr>
            <p:cNvCxnSpPr>
              <a:stCxn id="21" idx="2"/>
              <a:endCxn id="24"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矩形 29">
              <a:extLst>
                <a:ext uri="{FF2B5EF4-FFF2-40B4-BE49-F238E27FC236}">
                  <a16:creationId xmlns:a16="http://schemas.microsoft.com/office/drawing/2014/main" id="{B4DBB890-CFB3-6911-FEC4-38759CBE609A}"/>
                </a:ext>
              </a:extLst>
            </p:cNvPr>
            <p:cNvSpPr/>
            <p:nvPr/>
          </p:nvSpPr>
          <p:spPr>
            <a:xfrm>
              <a:off x="1727169" y="3779232"/>
              <a:ext cx="497252"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RIP</a:t>
              </a:r>
              <a:endParaRPr lang="zh-CN" altLang="en-US" sz="1400" dirty="0">
                <a:latin typeface="Montserrat" panose="00000500000000000000" pitchFamily="2" charset="0"/>
              </a:endParaRPr>
            </a:p>
          </p:txBody>
        </p:sp>
        <p:sp>
          <p:nvSpPr>
            <p:cNvPr id="31" name="矩形 30">
              <a:extLst>
                <a:ext uri="{FF2B5EF4-FFF2-40B4-BE49-F238E27FC236}">
                  <a16:creationId xmlns:a16="http://schemas.microsoft.com/office/drawing/2014/main" id="{45C82B71-35A2-6EF6-86C2-525F0608EFB0}"/>
                </a:ext>
              </a:extLst>
            </p:cNvPr>
            <p:cNvSpPr/>
            <p:nvPr/>
          </p:nvSpPr>
          <p:spPr>
            <a:xfrm>
              <a:off x="3691886" y="3779232"/>
              <a:ext cx="688009"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OSPF</a:t>
              </a:r>
              <a:endParaRPr lang="zh-CN" altLang="en-US" sz="1400" dirty="0">
                <a:latin typeface="Montserrat" panose="00000500000000000000" pitchFamily="2" charset="0"/>
              </a:endParaRPr>
            </a:p>
          </p:txBody>
        </p:sp>
        <p:sp>
          <p:nvSpPr>
            <p:cNvPr id="32" name="矩形 31">
              <a:extLst>
                <a:ext uri="{FF2B5EF4-FFF2-40B4-BE49-F238E27FC236}">
                  <a16:creationId xmlns:a16="http://schemas.microsoft.com/office/drawing/2014/main" id="{3489A2D7-EF89-F196-D525-2EDADE72EE50}"/>
                </a:ext>
              </a:extLst>
            </p:cNvPr>
            <p:cNvSpPr/>
            <p:nvPr/>
          </p:nvSpPr>
          <p:spPr>
            <a:xfrm>
              <a:off x="5974036" y="3779232"/>
              <a:ext cx="774571"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BGP-4</a:t>
              </a:r>
              <a:endParaRPr lang="zh-CN" altLang="en-US" sz="1400" dirty="0">
                <a:latin typeface="Montserrat" panose="00000500000000000000" pitchFamily="2" charset="0"/>
              </a:endParaRPr>
            </a:p>
          </p:txBody>
        </p:sp>
      </p:grpSp>
    </p:spTree>
    <p:extLst>
      <p:ext uri="{BB962C8B-B14F-4D97-AF65-F5344CB8AC3E}">
        <p14:creationId xmlns:p14="http://schemas.microsoft.com/office/powerpoint/2010/main" val="965133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2677AB6-894C-F765-7171-1A6CB0D4A414}"/>
              </a:ext>
            </a:extLst>
          </p:cNvPr>
          <p:cNvSpPr>
            <a:spLocks noGrp="1"/>
          </p:cNvSpPr>
          <p:nvPr>
            <p:ph type="title"/>
          </p:nvPr>
        </p:nvSpPr>
        <p:spPr>
          <a:xfrm>
            <a:off x="486000" y="550723"/>
            <a:ext cx="8172000" cy="338554"/>
          </a:xfrm>
        </p:spPr>
        <p:txBody>
          <a:bodyPr/>
          <a:lstStyle/>
          <a:p>
            <a:r>
              <a:rPr lang="en-US" altLang="zh-CN" dirty="0"/>
              <a:t>4.6.4  </a:t>
            </a:r>
            <a:r>
              <a:rPr lang="zh-CN" altLang="en-US" dirty="0"/>
              <a:t>外部网关协议 </a:t>
            </a:r>
            <a:r>
              <a:rPr lang="en-US" altLang="zh-CN" dirty="0"/>
              <a:t>BGP</a:t>
            </a:r>
            <a:endParaRPr lang="zh-CN" altLang="en-US" dirty="0"/>
          </a:p>
        </p:txBody>
      </p:sp>
      <p:sp>
        <p:nvSpPr>
          <p:cNvPr id="6" name="内容占位符 5">
            <a:extLst>
              <a:ext uri="{FF2B5EF4-FFF2-40B4-BE49-F238E27FC236}">
                <a16:creationId xmlns:a16="http://schemas.microsoft.com/office/drawing/2014/main" id="{7F1EEB5B-A6B4-9CE2-C1FB-4669420B7276}"/>
              </a:ext>
            </a:extLst>
          </p:cNvPr>
          <p:cNvSpPr>
            <a:spLocks noGrp="1"/>
          </p:cNvSpPr>
          <p:nvPr>
            <p:ph sz="quarter" idx="11"/>
          </p:nvPr>
        </p:nvSpPr>
        <p:spPr>
          <a:xfrm>
            <a:off x="486000" y="900000"/>
            <a:ext cx="8172000" cy="3703500"/>
          </a:xfrm>
        </p:spPr>
        <p:txBody>
          <a:bodyPr/>
          <a:lstStyle/>
          <a:p>
            <a:r>
              <a:rPr lang="zh-CN" altLang="en-US" dirty="0"/>
              <a:t>互联网的规模太大，使得自治系统</a:t>
            </a:r>
            <a:r>
              <a:rPr lang="en-US" altLang="zh-CN" dirty="0"/>
              <a:t>AS</a:t>
            </a:r>
            <a:r>
              <a:rPr lang="zh-CN" altLang="en-US" dirty="0"/>
              <a:t>之间路由选择非常困难</a:t>
            </a:r>
            <a:endParaRPr lang="en-US" altLang="zh-CN" dirty="0"/>
          </a:p>
          <a:p>
            <a:pPr lvl="1"/>
            <a:r>
              <a:rPr lang="zh-CN" altLang="en-US" dirty="0"/>
              <a:t>自治系统</a:t>
            </a:r>
            <a:r>
              <a:rPr lang="en-US" altLang="zh-CN" dirty="0"/>
              <a:t>AS</a:t>
            </a:r>
            <a:r>
              <a:rPr lang="zh-CN" altLang="en-US" dirty="0"/>
              <a:t>之间的路由选择必须考虑有关策略</a:t>
            </a:r>
            <a:endParaRPr lang="en-US" altLang="zh-CN" dirty="0"/>
          </a:p>
          <a:p>
            <a:r>
              <a:rPr lang="zh-CN" altLang="en-US" dirty="0"/>
              <a:t>不同自治系统</a:t>
            </a:r>
            <a:r>
              <a:rPr lang="en-US" altLang="zh-CN" dirty="0"/>
              <a:t>AS</a:t>
            </a:r>
            <a:r>
              <a:rPr lang="zh-CN" altLang="en-US" dirty="0"/>
              <a:t>的路由器之间交换路由信息的协议</a:t>
            </a:r>
            <a:endParaRPr lang="en-US" altLang="zh-CN" dirty="0"/>
          </a:p>
          <a:p>
            <a:pPr lvl="1"/>
            <a:r>
              <a:rPr lang="zh-CN" altLang="en-US" dirty="0"/>
              <a:t>力求选择出一条能够到达目的网络且比较好的路由，而并非要计算出一条最佳路由</a:t>
            </a:r>
            <a:endParaRPr lang="en-US" altLang="zh-CN" dirty="0"/>
          </a:p>
          <a:p>
            <a:pPr lvl="1"/>
            <a:r>
              <a:rPr lang="zh-CN" altLang="en-US" dirty="0"/>
              <a:t>不能兜圈子</a:t>
            </a:r>
            <a:endParaRPr lang="en-US" altLang="zh-CN" dirty="0"/>
          </a:p>
          <a:p>
            <a:pPr lvl="1"/>
            <a:r>
              <a:rPr lang="zh-CN" altLang="en-US" dirty="0"/>
              <a:t>采用了</a:t>
            </a:r>
            <a:r>
              <a:rPr lang="zh-CN" altLang="en-US" dirty="0">
                <a:solidFill>
                  <a:srgbClr val="C00000"/>
                </a:solidFill>
              </a:rPr>
              <a:t>路径向量 </a:t>
            </a:r>
            <a:r>
              <a:rPr lang="en-US" altLang="zh-CN" dirty="0"/>
              <a:t>Path Vector </a:t>
            </a:r>
            <a:r>
              <a:rPr lang="zh-CN" altLang="en-US" dirty="0"/>
              <a:t>路由选择协议</a:t>
            </a:r>
            <a:endParaRPr lang="en-US" altLang="zh-CN" dirty="0"/>
          </a:p>
          <a:p>
            <a:r>
              <a:rPr lang="zh-CN" altLang="en-US" dirty="0"/>
              <a:t>新版本是</a:t>
            </a:r>
            <a:r>
              <a:rPr lang="en-US" altLang="zh-CN" dirty="0"/>
              <a:t>BGP </a:t>
            </a:r>
            <a:r>
              <a:rPr lang="zh-CN" altLang="en-US" dirty="0"/>
              <a:t>第 </a:t>
            </a:r>
            <a:r>
              <a:rPr lang="en-US" altLang="zh-CN" dirty="0"/>
              <a:t>4 </a:t>
            </a:r>
            <a:r>
              <a:rPr lang="zh-CN" altLang="en-US" dirty="0"/>
              <a:t>个版本的 </a:t>
            </a:r>
            <a:r>
              <a:rPr lang="en-US" altLang="zh-CN" dirty="0"/>
              <a:t>BGP-4</a:t>
            </a:r>
          </a:p>
          <a:p>
            <a:pPr lvl="1"/>
            <a:r>
              <a:rPr lang="en-US" altLang="zh-CN" dirty="0"/>
              <a:t>RFC 4271 ~ 4278</a:t>
            </a:r>
            <a:endParaRPr lang="zh-CN" altLang="en-US" dirty="0"/>
          </a:p>
          <a:p>
            <a:pPr lvl="1"/>
            <a:r>
              <a:rPr lang="en-US" altLang="zh-CN" dirty="0"/>
              <a:t>BGP-4 </a:t>
            </a:r>
            <a:r>
              <a:rPr lang="zh-CN" altLang="en-US" dirty="0"/>
              <a:t>简写为 </a:t>
            </a:r>
            <a:r>
              <a:rPr lang="en-US" altLang="zh-CN" dirty="0"/>
              <a:t>BGP</a:t>
            </a:r>
          </a:p>
          <a:p>
            <a:pPr lvl="1"/>
            <a:r>
              <a:rPr lang="en-US" altLang="zh-CN" dirty="0"/>
              <a:t>2006 </a:t>
            </a:r>
            <a:r>
              <a:rPr lang="zh-CN" altLang="en-US" dirty="0"/>
              <a:t>年 </a:t>
            </a:r>
            <a:r>
              <a:rPr lang="en-US" altLang="zh-CN" dirty="0"/>
              <a:t>1 </a:t>
            </a:r>
            <a:r>
              <a:rPr lang="zh-CN" altLang="en-US" dirty="0"/>
              <a:t>月发布</a:t>
            </a:r>
          </a:p>
          <a:p>
            <a:endParaRPr lang="zh-CN" altLang="en-US" dirty="0"/>
          </a:p>
        </p:txBody>
      </p:sp>
    </p:spTree>
    <p:extLst>
      <p:ext uri="{BB962C8B-B14F-4D97-AF65-F5344CB8AC3E}">
        <p14:creationId xmlns:p14="http://schemas.microsoft.com/office/powerpoint/2010/main" val="25450228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4" name="Text Box 173"/>
          <p:cNvSpPr txBox="1">
            <a:spLocks noChangeArrowheads="1"/>
          </p:cNvSpPr>
          <p:nvPr/>
        </p:nvSpPr>
        <p:spPr bwMode="auto">
          <a:xfrm>
            <a:off x="2360497" y="4187334"/>
            <a:ext cx="4423006"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zh-CN" altLang="en-US" dirty="0"/>
              <a:t>对等 </a:t>
            </a:r>
            <a:r>
              <a:rPr lang="en-US" altLang="zh-CN" dirty="0"/>
              <a:t>BGP </a:t>
            </a:r>
            <a:r>
              <a:rPr lang="zh-CN" altLang="en-US" dirty="0"/>
              <a:t>发言者（边界路由器）在 </a:t>
            </a:r>
            <a:r>
              <a:rPr lang="en-US" altLang="zh-CN" dirty="0"/>
              <a:t>AS </a:t>
            </a:r>
            <a:r>
              <a:rPr lang="zh-CN" altLang="en-US" dirty="0"/>
              <a:t>之间交换信息</a:t>
            </a:r>
            <a:endParaRPr lang="en-US" altLang="zh-CN" dirty="0"/>
          </a:p>
        </p:txBody>
      </p:sp>
      <p:grpSp>
        <p:nvGrpSpPr>
          <p:cNvPr id="191" name="Group 206"/>
          <p:cNvGrpSpPr>
            <a:grpSpLocks/>
          </p:cNvGrpSpPr>
          <p:nvPr/>
        </p:nvGrpSpPr>
        <p:grpSpPr bwMode="auto">
          <a:xfrm>
            <a:off x="1088578" y="2015050"/>
            <a:ext cx="1591238" cy="82430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2" name="Oval 207"/>
            <p:cNvSpPr>
              <a:spLocks noChangeArrowheads="1"/>
            </p:cNvSpPr>
            <p:nvPr/>
          </p:nvSpPr>
          <p:spPr bwMode="auto">
            <a:xfrm>
              <a:off x="1751" y="799"/>
              <a:ext cx="1026" cy="628"/>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3" name="Oval 208"/>
            <p:cNvSpPr>
              <a:spLocks noChangeArrowheads="1"/>
            </p:cNvSpPr>
            <p:nvPr/>
          </p:nvSpPr>
          <p:spPr bwMode="auto">
            <a:xfrm>
              <a:off x="1172" y="972"/>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4" name="Oval 209"/>
            <p:cNvSpPr>
              <a:spLocks noChangeArrowheads="1"/>
            </p:cNvSpPr>
            <p:nvPr/>
          </p:nvSpPr>
          <p:spPr bwMode="auto">
            <a:xfrm>
              <a:off x="926" y="1364"/>
              <a:ext cx="521" cy="502"/>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5" name="Oval 210"/>
            <p:cNvSpPr>
              <a:spLocks noChangeArrowheads="1"/>
            </p:cNvSpPr>
            <p:nvPr/>
          </p:nvSpPr>
          <p:spPr bwMode="auto">
            <a:xfrm>
              <a:off x="1085" y="1599"/>
              <a:ext cx="796"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6" name="Oval 211"/>
            <p:cNvSpPr>
              <a:spLocks noChangeArrowheads="1"/>
            </p:cNvSpPr>
            <p:nvPr/>
          </p:nvSpPr>
          <p:spPr bwMode="auto">
            <a:xfrm>
              <a:off x="1664" y="1693"/>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7" name="Oval 212"/>
            <p:cNvSpPr>
              <a:spLocks noChangeArrowheads="1"/>
            </p:cNvSpPr>
            <p:nvPr/>
          </p:nvSpPr>
          <p:spPr bwMode="auto">
            <a:xfrm>
              <a:off x="2445" y="988"/>
              <a:ext cx="751"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8" name="Oval 213"/>
            <p:cNvSpPr>
              <a:spLocks noChangeArrowheads="1"/>
            </p:cNvSpPr>
            <p:nvPr/>
          </p:nvSpPr>
          <p:spPr bwMode="auto">
            <a:xfrm>
              <a:off x="2560" y="1317"/>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9" name="Oval 214"/>
            <p:cNvSpPr>
              <a:spLocks noChangeArrowheads="1"/>
            </p:cNvSpPr>
            <p:nvPr/>
          </p:nvSpPr>
          <p:spPr bwMode="auto">
            <a:xfrm>
              <a:off x="2488" y="1427"/>
              <a:ext cx="752"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0" name="Oval 215"/>
            <p:cNvSpPr>
              <a:spLocks noChangeArrowheads="1"/>
            </p:cNvSpPr>
            <p:nvPr/>
          </p:nvSpPr>
          <p:spPr bwMode="auto">
            <a:xfrm>
              <a:off x="1360" y="1176"/>
              <a:ext cx="1547"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01" name="Group 216"/>
            <p:cNvGrpSpPr>
              <a:grpSpLocks/>
            </p:cNvGrpSpPr>
            <p:nvPr/>
          </p:nvGrpSpPr>
          <p:grpSpPr bwMode="auto">
            <a:xfrm>
              <a:off x="912" y="768"/>
              <a:ext cx="2386" cy="1553"/>
              <a:chOff x="912" y="768"/>
              <a:chExt cx="2386" cy="1553"/>
            </a:xfrm>
            <a:grpFill/>
          </p:grpSpPr>
          <p:sp>
            <p:nvSpPr>
              <p:cNvPr id="202" name="Oval 217"/>
              <p:cNvSpPr>
                <a:spLocks noChangeArrowheads="1"/>
              </p:cNvSpPr>
              <p:nvPr/>
            </p:nvSpPr>
            <p:spPr bwMode="auto">
              <a:xfrm>
                <a:off x="1736" y="768"/>
                <a:ext cx="1027"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3" name="Oval 218"/>
              <p:cNvSpPr>
                <a:spLocks noChangeArrowheads="1"/>
              </p:cNvSpPr>
              <p:nvPr/>
            </p:nvSpPr>
            <p:spPr bwMode="auto">
              <a:xfrm>
                <a:off x="1158" y="941"/>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4" name="Oval 219"/>
              <p:cNvSpPr>
                <a:spLocks noChangeArrowheads="1"/>
              </p:cNvSpPr>
              <p:nvPr/>
            </p:nvSpPr>
            <p:spPr bwMode="auto">
              <a:xfrm>
                <a:off x="912" y="1333"/>
                <a:ext cx="520" cy="501"/>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5" name="Oval 220"/>
              <p:cNvSpPr>
                <a:spLocks noChangeArrowheads="1"/>
              </p:cNvSpPr>
              <p:nvPr/>
            </p:nvSpPr>
            <p:spPr bwMode="auto">
              <a:xfrm>
                <a:off x="1071" y="1568"/>
                <a:ext cx="795"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6" name="Oval 221"/>
              <p:cNvSpPr>
                <a:spLocks noChangeArrowheads="1"/>
              </p:cNvSpPr>
              <p:nvPr/>
            </p:nvSpPr>
            <p:spPr bwMode="auto">
              <a:xfrm>
                <a:off x="1649" y="1662"/>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7" name="Oval 222"/>
              <p:cNvSpPr>
                <a:spLocks noChangeArrowheads="1"/>
              </p:cNvSpPr>
              <p:nvPr/>
            </p:nvSpPr>
            <p:spPr bwMode="auto">
              <a:xfrm>
                <a:off x="2430" y="95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8" name="Oval 223"/>
              <p:cNvSpPr>
                <a:spLocks noChangeArrowheads="1"/>
              </p:cNvSpPr>
              <p:nvPr/>
            </p:nvSpPr>
            <p:spPr bwMode="auto">
              <a:xfrm>
                <a:off x="2546" y="128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9" name="Oval 224"/>
              <p:cNvSpPr>
                <a:spLocks noChangeArrowheads="1"/>
              </p:cNvSpPr>
              <p:nvPr/>
            </p:nvSpPr>
            <p:spPr bwMode="auto">
              <a:xfrm>
                <a:off x="2473" y="1395"/>
                <a:ext cx="752"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0" name="Oval 225"/>
              <p:cNvSpPr>
                <a:spLocks noChangeArrowheads="1"/>
              </p:cNvSpPr>
              <p:nvPr/>
            </p:nvSpPr>
            <p:spPr bwMode="auto">
              <a:xfrm>
                <a:off x="1346" y="1144"/>
                <a:ext cx="1547"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11" name="Group 206"/>
          <p:cNvGrpSpPr>
            <a:grpSpLocks/>
          </p:cNvGrpSpPr>
          <p:nvPr/>
        </p:nvGrpSpPr>
        <p:grpSpPr bwMode="auto">
          <a:xfrm>
            <a:off x="3370927" y="1540954"/>
            <a:ext cx="1868903"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21" name="Group 216"/>
            <p:cNvGrpSpPr>
              <a:grpSpLocks/>
            </p:cNvGrpSpPr>
            <p:nvPr/>
          </p:nvGrpSpPr>
          <p:grpSpPr bwMode="auto">
            <a:xfrm>
              <a:off x="912" y="768"/>
              <a:ext cx="2386" cy="1553"/>
              <a:chOff x="912" y="768"/>
              <a:chExt cx="2386" cy="1553"/>
            </a:xfrm>
            <a:grpFill/>
          </p:grpSpPr>
          <p:sp>
            <p:nvSpPr>
              <p:cNvPr id="22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31" name="Group 206"/>
          <p:cNvGrpSpPr>
            <a:grpSpLocks/>
          </p:cNvGrpSpPr>
          <p:nvPr/>
        </p:nvGrpSpPr>
        <p:grpSpPr bwMode="auto">
          <a:xfrm>
            <a:off x="5793636" y="2089387"/>
            <a:ext cx="1867377"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41" name="Group 216"/>
            <p:cNvGrpSpPr>
              <a:grpSpLocks/>
            </p:cNvGrpSpPr>
            <p:nvPr/>
          </p:nvGrpSpPr>
          <p:grpSpPr bwMode="auto">
            <a:xfrm>
              <a:off x="912" y="768"/>
              <a:ext cx="2386" cy="1553"/>
              <a:chOff x="912" y="768"/>
              <a:chExt cx="2386" cy="1553"/>
            </a:xfrm>
            <a:grpFill/>
          </p:grpSpPr>
          <p:sp>
            <p:nvSpPr>
              <p:cNvPr id="24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5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251" name="Line 208"/>
          <p:cNvSpPr>
            <a:spLocks noChangeShapeType="1"/>
          </p:cNvSpPr>
          <p:nvPr/>
        </p:nvSpPr>
        <p:spPr bwMode="auto">
          <a:xfrm>
            <a:off x="6069776" y="2689028"/>
            <a:ext cx="622459" cy="15032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2" name="Line 152"/>
          <p:cNvSpPr>
            <a:spLocks noChangeShapeType="1"/>
          </p:cNvSpPr>
          <p:nvPr/>
        </p:nvSpPr>
        <p:spPr bwMode="auto">
          <a:xfrm flipH="1">
            <a:off x="6831067" y="2390033"/>
            <a:ext cx="691113" cy="44931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3" name="Line 154"/>
          <p:cNvSpPr>
            <a:spLocks noChangeShapeType="1"/>
          </p:cNvSpPr>
          <p:nvPr/>
        </p:nvSpPr>
        <p:spPr bwMode="auto">
          <a:xfrm flipV="1">
            <a:off x="2609636" y="1939063"/>
            <a:ext cx="831471" cy="599642"/>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4" name="Line 155"/>
          <p:cNvSpPr>
            <a:spLocks noChangeShapeType="1"/>
          </p:cNvSpPr>
          <p:nvPr/>
        </p:nvSpPr>
        <p:spPr bwMode="auto">
          <a:xfrm>
            <a:off x="5238304" y="1939063"/>
            <a:ext cx="762817" cy="675630"/>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5" name="Line 158"/>
          <p:cNvSpPr>
            <a:spLocks noChangeShapeType="1"/>
          </p:cNvSpPr>
          <p:nvPr/>
        </p:nvSpPr>
        <p:spPr bwMode="auto">
          <a:xfrm flipH="1">
            <a:off x="4409885" y="1915936"/>
            <a:ext cx="759766"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6" name="Line 159"/>
          <p:cNvSpPr>
            <a:spLocks noChangeShapeType="1"/>
          </p:cNvSpPr>
          <p:nvPr/>
        </p:nvSpPr>
        <p:spPr bwMode="auto">
          <a:xfrm>
            <a:off x="4617372" y="1540954"/>
            <a:ext cx="483626"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7" name="Line 163"/>
          <p:cNvSpPr>
            <a:spLocks noChangeShapeType="1"/>
          </p:cNvSpPr>
          <p:nvPr/>
        </p:nvSpPr>
        <p:spPr bwMode="auto">
          <a:xfrm>
            <a:off x="6762414" y="2165374"/>
            <a:ext cx="761291" cy="2246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8" name="Line 165"/>
          <p:cNvSpPr>
            <a:spLocks noChangeShapeType="1"/>
          </p:cNvSpPr>
          <p:nvPr/>
        </p:nvSpPr>
        <p:spPr bwMode="auto">
          <a:xfrm>
            <a:off x="1848344" y="2165374"/>
            <a:ext cx="750612" cy="39480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57232" y="2165374"/>
            <a:ext cx="692638" cy="29899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225885" y="2538705"/>
            <a:ext cx="761292"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8398" y="2390033"/>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2" name="Text Box 173"/>
          <p:cNvSpPr txBox="1">
            <a:spLocks noChangeArrowheads="1"/>
          </p:cNvSpPr>
          <p:nvPr/>
        </p:nvSpPr>
        <p:spPr bwMode="auto">
          <a:xfrm>
            <a:off x="87956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263" name="Text Box 174"/>
          <p:cNvSpPr txBox="1">
            <a:spLocks noChangeArrowheads="1"/>
          </p:cNvSpPr>
          <p:nvPr/>
        </p:nvSpPr>
        <p:spPr bwMode="auto">
          <a:xfrm>
            <a:off x="606977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264" name="Text Box 175"/>
          <p:cNvSpPr txBox="1">
            <a:spLocks noChangeArrowheads="1"/>
          </p:cNvSpPr>
          <p:nvPr/>
        </p:nvSpPr>
        <p:spPr bwMode="auto">
          <a:xfrm>
            <a:off x="3985759" y="1265085"/>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26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11037"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6" name="Line 194"/>
          <p:cNvSpPr>
            <a:spLocks noChangeShapeType="1"/>
          </p:cNvSpPr>
          <p:nvPr/>
        </p:nvSpPr>
        <p:spPr bwMode="auto">
          <a:xfrm flipH="1">
            <a:off x="3496029" y="1540954"/>
            <a:ext cx="1121342" cy="3518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7"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763364"/>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8"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84873" y="2314046"/>
            <a:ext cx="286819"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9"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78538" y="1466618"/>
            <a:ext cx="285294" cy="1701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71" name="Line 153"/>
          <p:cNvSpPr>
            <a:spLocks noChangeShapeType="1"/>
          </p:cNvSpPr>
          <p:nvPr/>
        </p:nvSpPr>
        <p:spPr bwMode="auto">
          <a:xfrm>
            <a:off x="3578414" y="1915936"/>
            <a:ext cx="692638"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00873" y="2165374"/>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3"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9870" y="274188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17" name="组合 316"/>
          <p:cNvGrpSpPr/>
          <p:nvPr/>
        </p:nvGrpSpPr>
        <p:grpSpPr>
          <a:xfrm>
            <a:off x="7199673" y="2544678"/>
            <a:ext cx="485152" cy="374983"/>
            <a:chOff x="7142297" y="3911572"/>
            <a:chExt cx="485152" cy="374983"/>
          </a:xfrm>
        </p:grpSpPr>
        <p:sp>
          <p:nvSpPr>
            <p:cNvPr id="277" name="AutoShape 229"/>
            <p:cNvSpPr>
              <a:spLocks noChangeAspect="1" noChangeArrowheads="1" noTextEdit="1"/>
            </p:cNvSpPr>
            <p:nvPr/>
          </p:nvSpPr>
          <p:spPr bwMode="auto">
            <a:xfrm>
              <a:off x="7142297" y="3911572"/>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78" name="Oval 231"/>
            <p:cNvSpPr>
              <a:spLocks noChangeArrowheads="1"/>
            </p:cNvSpPr>
            <p:nvPr/>
          </p:nvSpPr>
          <p:spPr bwMode="auto">
            <a:xfrm>
              <a:off x="7308329" y="3916021"/>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79" name="Oval 232"/>
            <p:cNvSpPr>
              <a:spLocks noChangeArrowheads="1"/>
            </p:cNvSpPr>
            <p:nvPr/>
          </p:nvSpPr>
          <p:spPr bwMode="auto">
            <a:xfrm>
              <a:off x="7193514" y="3955426"/>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0" name="Oval 233"/>
            <p:cNvSpPr>
              <a:spLocks noChangeArrowheads="1"/>
            </p:cNvSpPr>
            <p:nvPr/>
          </p:nvSpPr>
          <p:spPr bwMode="auto">
            <a:xfrm>
              <a:off x="7144548" y="4046947"/>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1" name="Oval 234"/>
            <p:cNvSpPr>
              <a:spLocks noChangeArrowheads="1"/>
            </p:cNvSpPr>
            <p:nvPr/>
          </p:nvSpPr>
          <p:spPr bwMode="auto">
            <a:xfrm>
              <a:off x="7177192" y="4100970"/>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2" name="Oval 235"/>
            <p:cNvSpPr>
              <a:spLocks noChangeArrowheads="1"/>
            </p:cNvSpPr>
            <p:nvPr/>
          </p:nvSpPr>
          <p:spPr bwMode="auto">
            <a:xfrm>
              <a:off x="7292007" y="4123215"/>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3" name="Oval 236"/>
            <p:cNvSpPr>
              <a:spLocks noChangeArrowheads="1"/>
            </p:cNvSpPr>
            <p:nvPr/>
          </p:nvSpPr>
          <p:spPr bwMode="auto">
            <a:xfrm>
              <a:off x="7446221" y="3959875"/>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4" name="Oval 237"/>
            <p:cNvSpPr>
              <a:spLocks noChangeArrowheads="1"/>
            </p:cNvSpPr>
            <p:nvPr/>
          </p:nvSpPr>
          <p:spPr bwMode="auto">
            <a:xfrm>
              <a:off x="7469859" y="4036778"/>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5" name="Oval 238"/>
            <p:cNvSpPr>
              <a:spLocks noChangeArrowheads="1"/>
            </p:cNvSpPr>
            <p:nvPr/>
          </p:nvSpPr>
          <p:spPr bwMode="auto">
            <a:xfrm>
              <a:off x="7455788" y="4061565"/>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6" name="Oval 239"/>
            <p:cNvSpPr>
              <a:spLocks noChangeArrowheads="1"/>
            </p:cNvSpPr>
            <p:nvPr/>
          </p:nvSpPr>
          <p:spPr bwMode="auto">
            <a:xfrm>
              <a:off x="7231786" y="4002458"/>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87" name="Group 257"/>
            <p:cNvGrpSpPr>
              <a:grpSpLocks/>
            </p:cNvGrpSpPr>
            <p:nvPr/>
          </p:nvGrpSpPr>
          <p:grpSpPr bwMode="auto">
            <a:xfrm>
              <a:off x="7143423" y="3912843"/>
              <a:ext cx="481775" cy="369898"/>
              <a:chOff x="3063" y="302"/>
              <a:chExt cx="856" cy="582"/>
            </a:xfrm>
            <a:solidFill>
              <a:schemeClr val="bg1"/>
            </a:solidFill>
          </p:grpSpPr>
          <p:sp>
            <p:nvSpPr>
              <p:cNvPr id="28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8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grpSp>
      <p:sp>
        <p:nvSpPr>
          <p:cNvPr id="276"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305" name="Text Box 42"/>
          <p:cNvSpPr txBox="1">
            <a:spLocks noChangeArrowheads="1"/>
          </p:cNvSpPr>
          <p:nvPr/>
        </p:nvSpPr>
        <p:spPr bwMode="auto">
          <a:xfrm>
            <a:off x="1364718"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BGP </a:t>
            </a:r>
            <a:r>
              <a:rPr lang="zh-CN" altLang="en-US" sz="1600" b="1" dirty="0">
                <a:latin typeface="微软雅黑" panose="020B0503020204020204" pitchFamily="34" charset="-122"/>
                <a:ea typeface="微软雅黑" panose="020B0503020204020204" pitchFamily="34" charset="-122"/>
              </a:rPr>
              <a:t>发言者（边界路由器）</a:t>
            </a:r>
          </a:p>
        </p:txBody>
      </p:sp>
      <p:sp>
        <p:nvSpPr>
          <p:cNvPr id="306" name="Text Box 42"/>
          <p:cNvSpPr txBox="1">
            <a:spLocks noChangeArrowheads="1"/>
          </p:cNvSpPr>
          <p:nvPr/>
        </p:nvSpPr>
        <p:spPr bwMode="auto">
          <a:xfrm>
            <a:off x="5308484"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BGP </a:t>
            </a:r>
            <a:r>
              <a:rPr lang="zh-CN" altLang="en-US" sz="1600" b="1" dirty="0">
                <a:latin typeface="微软雅黑" panose="020B0503020204020204" pitchFamily="34" charset="-122"/>
                <a:ea typeface="微软雅黑" panose="020B0503020204020204" pitchFamily="34" charset="-122"/>
              </a:rPr>
              <a:t>发言者（边界路由器）</a:t>
            </a:r>
          </a:p>
        </p:txBody>
      </p:sp>
      <p:cxnSp>
        <p:nvCxnSpPr>
          <p:cNvPr id="307" name="直接箭头连接符 331"/>
          <p:cNvCxnSpPr>
            <a:cxnSpLocks noChangeShapeType="1"/>
          </p:cNvCxnSpPr>
          <p:nvPr/>
        </p:nvCxnSpPr>
        <p:spPr bwMode="auto">
          <a:xfrm>
            <a:off x="2739314" y="1565732"/>
            <a:ext cx="562960" cy="33698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8" name="直接箭头连接符 331"/>
          <p:cNvCxnSpPr>
            <a:cxnSpLocks noChangeShapeType="1"/>
          </p:cNvCxnSpPr>
          <p:nvPr/>
        </p:nvCxnSpPr>
        <p:spPr bwMode="auto">
          <a:xfrm>
            <a:off x="2609636" y="1565732"/>
            <a:ext cx="24410" cy="898637"/>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9" name="直接箭头连接符 331"/>
          <p:cNvCxnSpPr>
            <a:cxnSpLocks noChangeShapeType="1"/>
          </p:cNvCxnSpPr>
          <p:nvPr/>
        </p:nvCxnSpPr>
        <p:spPr bwMode="auto">
          <a:xfrm flipH="1">
            <a:off x="5320689" y="1582251"/>
            <a:ext cx="512613" cy="264305"/>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10" name="直接箭头连接符 331"/>
          <p:cNvCxnSpPr>
            <a:cxnSpLocks noChangeShapeType="1"/>
          </p:cNvCxnSpPr>
          <p:nvPr/>
        </p:nvCxnSpPr>
        <p:spPr bwMode="auto">
          <a:xfrm>
            <a:off x="5930943" y="1565732"/>
            <a:ext cx="120526" cy="97297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11"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72329" y="246436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20582" y="1825082"/>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6921" y="1800303"/>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65341" y="2565136"/>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5"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316"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5" name="标题 4">
            <a:extLst>
              <a:ext uri="{FF2B5EF4-FFF2-40B4-BE49-F238E27FC236}">
                <a16:creationId xmlns:a16="http://schemas.microsoft.com/office/drawing/2014/main" id="{630B8D04-9B0D-A5CA-59E6-7A57A205A2C5}"/>
              </a:ext>
            </a:extLst>
          </p:cNvPr>
          <p:cNvSpPr>
            <a:spLocks noGrp="1"/>
          </p:cNvSpPr>
          <p:nvPr>
            <p:ph type="title"/>
          </p:nvPr>
        </p:nvSpPr>
        <p:spPr>
          <a:xfrm>
            <a:off x="486000" y="550723"/>
            <a:ext cx="8172000" cy="338554"/>
          </a:xfrm>
        </p:spPr>
        <p:txBody>
          <a:bodyPr/>
          <a:lstStyle/>
          <a:p>
            <a:r>
              <a:rPr lang="en-US" altLang="zh-CN" dirty="0"/>
              <a:t>BGP </a:t>
            </a:r>
            <a:r>
              <a:rPr lang="zh-CN" altLang="en-US" dirty="0"/>
              <a:t>发言者 </a:t>
            </a:r>
            <a:r>
              <a:rPr lang="en-US" altLang="zh-CN" dirty="0"/>
              <a:t>(BGP speaker)</a:t>
            </a:r>
            <a:endParaRPr lang="zh-CN" altLang="en-US" dirty="0"/>
          </a:p>
        </p:txBody>
      </p:sp>
    </p:spTree>
    <p:extLst>
      <p:ext uri="{BB962C8B-B14F-4D97-AF65-F5344CB8AC3E}">
        <p14:creationId xmlns:p14="http://schemas.microsoft.com/office/powerpoint/2010/main" val="2269954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0" name="Group 206"/>
          <p:cNvGrpSpPr>
            <a:grpSpLocks/>
          </p:cNvGrpSpPr>
          <p:nvPr/>
        </p:nvGrpSpPr>
        <p:grpSpPr bwMode="auto">
          <a:xfrm>
            <a:off x="835242" y="3689902"/>
            <a:ext cx="1597041" cy="832398"/>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3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40" name="Group 216"/>
            <p:cNvGrpSpPr>
              <a:grpSpLocks/>
            </p:cNvGrpSpPr>
            <p:nvPr/>
          </p:nvGrpSpPr>
          <p:grpSpPr bwMode="auto">
            <a:xfrm>
              <a:off x="912" y="768"/>
              <a:ext cx="2386" cy="1553"/>
              <a:chOff x="912" y="768"/>
              <a:chExt cx="2386" cy="1553"/>
            </a:xfrm>
            <a:grpFill/>
          </p:grpSpPr>
          <p:sp>
            <p:nvSpPr>
              <p:cNvPr id="14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50" name="Group 206"/>
          <p:cNvGrpSpPr>
            <a:grpSpLocks/>
          </p:cNvGrpSpPr>
          <p:nvPr/>
        </p:nvGrpSpPr>
        <p:grpSpPr bwMode="auto">
          <a:xfrm>
            <a:off x="3125915" y="3211148"/>
            <a:ext cx="1875719"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5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60" name="Group 216"/>
            <p:cNvGrpSpPr>
              <a:grpSpLocks/>
            </p:cNvGrpSpPr>
            <p:nvPr/>
          </p:nvGrpSpPr>
          <p:grpSpPr bwMode="auto">
            <a:xfrm>
              <a:off x="912" y="768"/>
              <a:ext cx="2386" cy="1553"/>
              <a:chOff x="912" y="768"/>
              <a:chExt cx="2386" cy="1553"/>
            </a:xfrm>
            <a:grpFill/>
          </p:grpSpPr>
          <p:sp>
            <p:nvSpPr>
              <p:cNvPr id="16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70" name="Group 206"/>
          <p:cNvGrpSpPr>
            <a:grpSpLocks/>
          </p:cNvGrpSpPr>
          <p:nvPr/>
        </p:nvGrpSpPr>
        <p:grpSpPr bwMode="auto">
          <a:xfrm>
            <a:off x="5557459" y="3764968"/>
            <a:ext cx="1874187"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7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80" name="Group 216"/>
            <p:cNvGrpSpPr>
              <a:grpSpLocks/>
            </p:cNvGrpSpPr>
            <p:nvPr/>
          </p:nvGrpSpPr>
          <p:grpSpPr bwMode="auto">
            <a:xfrm>
              <a:off x="912" y="768"/>
              <a:ext cx="2386" cy="1553"/>
              <a:chOff x="912" y="768"/>
              <a:chExt cx="2386" cy="1553"/>
            </a:xfrm>
            <a:grpFill/>
          </p:grpSpPr>
          <p:sp>
            <p:nvSpPr>
              <p:cNvPr id="18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190" name="Line 208"/>
          <p:cNvSpPr>
            <a:spLocks noChangeShapeType="1"/>
          </p:cNvSpPr>
          <p:nvPr/>
        </p:nvSpPr>
        <p:spPr bwMode="auto">
          <a:xfrm>
            <a:off x="5834606" y="4370500"/>
            <a:ext cx="624729" cy="15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74" name="Text Box 42"/>
          <p:cNvSpPr txBox="1">
            <a:spLocks noChangeArrowheads="1"/>
          </p:cNvSpPr>
          <p:nvPr/>
        </p:nvSpPr>
        <p:spPr bwMode="auto">
          <a:xfrm>
            <a:off x="1778460" y="3017644"/>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eBGP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sp>
        <p:nvSpPr>
          <p:cNvPr id="275" name="Line 152"/>
          <p:cNvSpPr>
            <a:spLocks noChangeShapeType="1"/>
          </p:cNvSpPr>
          <p:nvPr/>
        </p:nvSpPr>
        <p:spPr bwMode="auto">
          <a:xfrm flipH="1">
            <a:off x="6598674" y="4068567"/>
            <a:ext cx="693634"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8" name="Line 154"/>
          <p:cNvSpPr>
            <a:spLocks noChangeShapeType="1"/>
          </p:cNvSpPr>
          <p:nvPr/>
        </p:nvSpPr>
        <p:spPr bwMode="auto">
          <a:xfrm flipV="1">
            <a:off x="2361847" y="3614836"/>
            <a:ext cx="834503" cy="605532"/>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9" name="Line 155"/>
          <p:cNvSpPr>
            <a:spLocks noChangeShapeType="1"/>
          </p:cNvSpPr>
          <p:nvPr/>
        </p:nvSpPr>
        <p:spPr bwMode="auto">
          <a:xfrm>
            <a:off x="5000102" y="3614836"/>
            <a:ext cx="765599" cy="680598"/>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0" name="Line 158"/>
          <p:cNvSpPr>
            <a:spLocks noChangeShapeType="1"/>
          </p:cNvSpPr>
          <p:nvPr/>
        </p:nvSpPr>
        <p:spPr bwMode="auto">
          <a:xfrm flipH="1">
            <a:off x="4168662" y="3589814"/>
            <a:ext cx="762537" cy="32695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1" name="Line 159"/>
          <p:cNvSpPr>
            <a:spLocks noChangeShapeType="1"/>
          </p:cNvSpPr>
          <p:nvPr/>
        </p:nvSpPr>
        <p:spPr bwMode="auto">
          <a:xfrm>
            <a:off x="4376905" y="3211148"/>
            <a:ext cx="48539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2" name="Line 163"/>
          <p:cNvSpPr>
            <a:spLocks noChangeShapeType="1"/>
          </p:cNvSpPr>
          <p:nvPr/>
        </p:nvSpPr>
        <p:spPr bwMode="auto">
          <a:xfrm>
            <a:off x="6529770" y="3841701"/>
            <a:ext cx="76406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3" name="Line 165"/>
          <p:cNvSpPr>
            <a:spLocks noChangeShapeType="1"/>
          </p:cNvSpPr>
          <p:nvPr/>
        </p:nvSpPr>
        <p:spPr bwMode="auto">
          <a:xfrm flipV="1">
            <a:off x="1738649" y="4295434"/>
            <a:ext cx="62319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4" name="Line 167"/>
          <p:cNvSpPr>
            <a:spLocks noChangeShapeType="1"/>
          </p:cNvSpPr>
          <p:nvPr/>
        </p:nvSpPr>
        <p:spPr bwMode="auto">
          <a:xfrm>
            <a:off x="924052" y="4183669"/>
            <a:ext cx="813067" cy="33863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5" name="Line 169"/>
          <p:cNvSpPr>
            <a:spLocks noChangeShapeType="1"/>
          </p:cNvSpPr>
          <p:nvPr/>
        </p:nvSpPr>
        <p:spPr bwMode="auto">
          <a:xfrm flipV="1">
            <a:off x="904146" y="3841701"/>
            <a:ext cx="695164" cy="30193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6" name="Line 170"/>
          <p:cNvSpPr>
            <a:spLocks noChangeShapeType="1"/>
          </p:cNvSpPr>
          <p:nvPr/>
        </p:nvSpPr>
        <p:spPr bwMode="auto">
          <a:xfrm>
            <a:off x="1599311" y="3841701"/>
            <a:ext cx="762537" cy="3786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7" name="Text Box 173"/>
          <p:cNvSpPr txBox="1">
            <a:spLocks noChangeArrowheads="1"/>
          </p:cNvSpPr>
          <p:nvPr/>
        </p:nvSpPr>
        <p:spPr bwMode="auto">
          <a:xfrm>
            <a:off x="625468" y="3591482"/>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328" name="Text Box 174"/>
          <p:cNvSpPr txBox="1">
            <a:spLocks noChangeArrowheads="1"/>
          </p:cNvSpPr>
          <p:nvPr/>
        </p:nvSpPr>
        <p:spPr bwMode="auto">
          <a:xfrm>
            <a:off x="5695266" y="3514748"/>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329" name="Text Box 175"/>
          <p:cNvSpPr txBox="1">
            <a:spLocks noChangeArrowheads="1"/>
          </p:cNvSpPr>
          <p:nvPr/>
        </p:nvSpPr>
        <p:spPr bwMode="auto">
          <a:xfrm>
            <a:off x="3674084" y="2910884"/>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sp>
        <p:nvSpPr>
          <p:cNvPr id="330" name="Line 194"/>
          <p:cNvSpPr>
            <a:spLocks noChangeShapeType="1"/>
          </p:cNvSpPr>
          <p:nvPr/>
        </p:nvSpPr>
        <p:spPr bwMode="auto">
          <a:xfrm flipH="1">
            <a:off x="3265255" y="3211148"/>
            <a:ext cx="111165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1" name="Line 209"/>
          <p:cNvSpPr>
            <a:spLocks noChangeShapeType="1"/>
          </p:cNvSpPr>
          <p:nvPr/>
        </p:nvSpPr>
        <p:spPr bwMode="auto">
          <a:xfrm flipV="1">
            <a:off x="5834606" y="3841701"/>
            <a:ext cx="624729"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2" name="Line 153"/>
          <p:cNvSpPr>
            <a:spLocks noChangeShapeType="1"/>
          </p:cNvSpPr>
          <p:nvPr/>
        </p:nvSpPr>
        <p:spPr bwMode="auto">
          <a:xfrm>
            <a:off x="3300472" y="3649866"/>
            <a:ext cx="728850" cy="266901"/>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3" name="Text Box 42"/>
          <p:cNvSpPr txBox="1">
            <a:spLocks noChangeArrowheads="1"/>
          </p:cNvSpPr>
          <p:nvPr/>
        </p:nvSpPr>
        <p:spPr bwMode="auto">
          <a:xfrm>
            <a:off x="6941662" y="3104388"/>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pic>
        <p:nvPicPr>
          <p:cNvPr id="33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99311" y="4423881"/>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6" name="Line 169"/>
          <p:cNvSpPr>
            <a:spLocks noChangeShapeType="1"/>
          </p:cNvSpPr>
          <p:nvPr/>
        </p:nvSpPr>
        <p:spPr bwMode="auto">
          <a:xfrm>
            <a:off x="948551" y="4170324"/>
            <a:ext cx="1413296" cy="10175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6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807" y="4068567"/>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8"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59971" y="3764968"/>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9" name="Line 169"/>
          <p:cNvSpPr>
            <a:spLocks noChangeShapeType="1"/>
          </p:cNvSpPr>
          <p:nvPr/>
        </p:nvSpPr>
        <p:spPr bwMode="auto">
          <a:xfrm flipH="1" flipV="1">
            <a:off x="1597778" y="3895081"/>
            <a:ext cx="139340" cy="60386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0" name="Line 194"/>
          <p:cNvSpPr>
            <a:spLocks noChangeShapeType="1"/>
          </p:cNvSpPr>
          <p:nvPr/>
        </p:nvSpPr>
        <p:spPr bwMode="auto">
          <a:xfrm flipH="1">
            <a:off x="4098227" y="3212817"/>
            <a:ext cx="278678" cy="6822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1" name="Line 194"/>
          <p:cNvSpPr>
            <a:spLocks noChangeShapeType="1"/>
          </p:cNvSpPr>
          <p:nvPr/>
        </p:nvSpPr>
        <p:spPr bwMode="auto">
          <a:xfrm flipH="1">
            <a:off x="3334158" y="3591482"/>
            <a:ext cx="1598571"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37565" y="3136083"/>
            <a:ext cx="286335" cy="1718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58887" y="3841701"/>
            <a:ext cx="286335"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74" name="Line 209"/>
          <p:cNvSpPr>
            <a:spLocks noChangeShapeType="1"/>
          </p:cNvSpPr>
          <p:nvPr/>
        </p:nvSpPr>
        <p:spPr bwMode="auto">
          <a:xfrm flipV="1">
            <a:off x="6459335" y="3916768"/>
            <a:ext cx="32155" cy="65891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5" name="Line 209"/>
          <p:cNvSpPr>
            <a:spLocks noChangeShapeType="1"/>
          </p:cNvSpPr>
          <p:nvPr/>
        </p:nvSpPr>
        <p:spPr bwMode="auto">
          <a:xfrm flipV="1">
            <a:off x="5834606" y="4045213"/>
            <a:ext cx="1459232"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6"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9996" y="4445566"/>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7"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54500" y="3991833"/>
            <a:ext cx="28786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8"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9996" y="3764968"/>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379" name="直接箭头连接符 328"/>
          <p:cNvCxnSpPr>
            <a:cxnSpLocks noChangeShapeType="1"/>
          </p:cNvCxnSpPr>
          <p:nvPr/>
        </p:nvCxnSpPr>
        <p:spPr bwMode="auto">
          <a:xfrm flipH="1">
            <a:off x="6852852" y="3439682"/>
            <a:ext cx="509890"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80" name="直接箭头连接符 329"/>
          <p:cNvCxnSpPr>
            <a:cxnSpLocks noChangeShapeType="1"/>
          </p:cNvCxnSpPr>
          <p:nvPr/>
        </p:nvCxnSpPr>
        <p:spPr bwMode="auto">
          <a:xfrm flipH="1">
            <a:off x="5258875" y="3317908"/>
            <a:ext cx="509889"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1" name="Text Box 42"/>
          <p:cNvSpPr txBox="1">
            <a:spLocks noChangeArrowheads="1"/>
          </p:cNvSpPr>
          <p:nvPr/>
        </p:nvSpPr>
        <p:spPr bwMode="auto">
          <a:xfrm>
            <a:off x="5487023" y="2985951"/>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cxnSp>
        <p:nvCxnSpPr>
          <p:cNvPr id="382" name="直接箭头连接符 331"/>
          <p:cNvCxnSpPr>
            <a:cxnSpLocks noChangeShapeType="1"/>
          </p:cNvCxnSpPr>
          <p:nvPr/>
        </p:nvCxnSpPr>
        <p:spPr bwMode="auto">
          <a:xfrm>
            <a:off x="2345004" y="3369621"/>
            <a:ext cx="379737" cy="58050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3" name="Text Box 42"/>
          <p:cNvSpPr txBox="1">
            <a:spLocks noChangeArrowheads="1"/>
          </p:cNvSpPr>
          <p:nvPr/>
        </p:nvSpPr>
        <p:spPr bwMode="auto">
          <a:xfrm>
            <a:off x="3057012" y="4272080"/>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iBGP </a:t>
            </a:r>
            <a:r>
              <a:rPr lang="zh-CN" altLang="en-US" sz="1600" b="1">
                <a:latin typeface="微软雅黑" panose="020B0503020204020204" pitchFamily="34" charset="-122"/>
                <a:ea typeface="微软雅黑" panose="020B0503020204020204" pitchFamily="34" charset="-122"/>
              </a:rPr>
              <a:t>连接</a:t>
            </a:r>
          </a:p>
        </p:txBody>
      </p:sp>
      <p:cxnSp>
        <p:nvCxnSpPr>
          <p:cNvPr id="384" name="直接箭头连接符 335"/>
          <p:cNvCxnSpPr>
            <a:cxnSpLocks noChangeShapeType="1"/>
          </p:cNvCxnSpPr>
          <p:nvPr/>
        </p:nvCxnSpPr>
        <p:spPr bwMode="auto">
          <a:xfrm flipV="1">
            <a:off x="3497997" y="3816680"/>
            <a:ext cx="237336" cy="532134"/>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5" name="Text Box 42"/>
          <p:cNvSpPr txBox="1">
            <a:spLocks noChangeArrowheads="1"/>
          </p:cNvSpPr>
          <p:nvPr/>
        </p:nvSpPr>
        <p:spPr bwMode="auto">
          <a:xfrm>
            <a:off x="513690" y="3051007"/>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386" name="直接箭头连接符 339"/>
          <p:cNvCxnSpPr>
            <a:cxnSpLocks noChangeShapeType="1"/>
          </p:cNvCxnSpPr>
          <p:nvPr/>
        </p:nvCxnSpPr>
        <p:spPr bwMode="auto">
          <a:xfrm>
            <a:off x="1181292" y="3364616"/>
            <a:ext cx="139340" cy="60553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8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18260" y="3493062"/>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14852" y="4175328"/>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4639" y="3494730"/>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9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363" y="4272080"/>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1" name="组合 10"/>
          <p:cNvGrpSpPr/>
          <p:nvPr/>
        </p:nvGrpSpPr>
        <p:grpSpPr>
          <a:xfrm>
            <a:off x="6937503" y="4236360"/>
            <a:ext cx="1223891" cy="519766"/>
            <a:chOff x="7199673" y="2544678"/>
            <a:chExt cx="1223891" cy="519766"/>
          </a:xfrm>
        </p:grpSpPr>
        <p:sp>
          <p:nvSpPr>
            <p:cNvPr id="426"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27"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8"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9"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36" name="Group 257"/>
            <p:cNvGrpSpPr>
              <a:grpSpLocks/>
            </p:cNvGrpSpPr>
            <p:nvPr/>
          </p:nvGrpSpPr>
          <p:grpSpPr bwMode="auto">
            <a:xfrm>
              <a:off x="7200799" y="2545949"/>
              <a:ext cx="481775" cy="369898"/>
              <a:chOff x="3063" y="302"/>
              <a:chExt cx="856" cy="582"/>
            </a:xfrm>
            <a:solidFill>
              <a:schemeClr val="bg1"/>
            </a:solidFill>
          </p:grpSpPr>
          <p:sp>
            <p:nvSpPr>
              <p:cNvPr id="437"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8"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5"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6"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7"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8"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9"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0"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51"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2"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sp>
          <p:nvSpPr>
            <p:cNvPr id="453"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454"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455"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5" name="标题 4">
            <a:extLst>
              <a:ext uri="{FF2B5EF4-FFF2-40B4-BE49-F238E27FC236}">
                <a16:creationId xmlns:a16="http://schemas.microsoft.com/office/drawing/2014/main" id="{ACA7CE5F-FA4D-28F2-3766-15FA2575BCEE}"/>
              </a:ext>
            </a:extLst>
          </p:cNvPr>
          <p:cNvSpPr>
            <a:spLocks noGrp="1"/>
          </p:cNvSpPr>
          <p:nvPr>
            <p:ph type="title"/>
          </p:nvPr>
        </p:nvSpPr>
        <p:spPr>
          <a:xfrm>
            <a:off x="486000" y="550723"/>
            <a:ext cx="8172000" cy="338554"/>
          </a:xfrm>
        </p:spPr>
        <p:txBody>
          <a:bodyPr/>
          <a:lstStyle/>
          <a:p>
            <a:r>
              <a:rPr lang="en-US" altLang="zh-CN" dirty="0"/>
              <a:t>eBGP </a:t>
            </a:r>
            <a:r>
              <a:rPr lang="zh-CN" altLang="en-US" dirty="0"/>
              <a:t>连接和 </a:t>
            </a:r>
            <a:r>
              <a:rPr lang="en-US" altLang="zh-CN" dirty="0"/>
              <a:t>iBGP </a:t>
            </a:r>
            <a:r>
              <a:rPr lang="zh-CN" altLang="en-US" dirty="0"/>
              <a:t>连接</a:t>
            </a:r>
          </a:p>
        </p:txBody>
      </p:sp>
      <p:sp>
        <p:nvSpPr>
          <p:cNvPr id="7" name="内容占位符 6">
            <a:extLst>
              <a:ext uri="{FF2B5EF4-FFF2-40B4-BE49-F238E27FC236}">
                <a16:creationId xmlns:a16="http://schemas.microsoft.com/office/drawing/2014/main" id="{2AC88470-EF00-F195-E018-E18A0B414256}"/>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AS </a:t>
            </a:r>
            <a:r>
              <a:rPr lang="zh-CN" altLang="en-US" dirty="0"/>
              <a:t>之间， </a:t>
            </a:r>
            <a:r>
              <a:rPr lang="en-US" altLang="zh-CN" dirty="0"/>
              <a:t>BGP </a:t>
            </a:r>
            <a:r>
              <a:rPr lang="zh-CN" altLang="en-US" dirty="0"/>
              <a:t>发言者在半永久性 </a:t>
            </a:r>
            <a:r>
              <a:rPr lang="en-US" altLang="zh-CN" dirty="0"/>
              <a:t>TCP </a:t>
            </a:r>
            <a:r>
              <a:rPr lang="zh-CN" altLang="en-US" dirty="0"/>
              <a:t>连接（端口号为</a:t>
            </a:r>
            <a:r>
              <a:rPr lang="en-US" altLang="zh-CN" dirty="0"/>
              <a:t>179</a:t>
            </a:r>
            <a:r>
              <a:rPr lang="zh-CN" altLang="en-US" dirty="0"/>
              <a:t>）上建立 </a:t>
            </a:r>
            <a:r>
              <a:rPr lang="en-US" altLang="zh-CN" dirty="0"/>
              <a:t>BGP </a:t>
            </a:r>
            <a:r>
              <a:rPr lang="zh-CN" altLang="en-US" dirty="0"/>
              <a:t>会话</a:t>
            </a:r>
            <a:r>
              <a:rPr lang="en-US" altLang="zh-CN" dirty="0"/>
              <a:t>(session)</a:t>
            </a:r>
            <a:r>
              <a:rPr lang="zh-CN" altLang="en-US" dirty="0"/>
              <a:t>。这种连接又称为 </a:t>
            </a:r>
            <a:r>
              <a:rPr lang="en-US" altLang="zh-CN" dirty="0"/>
              <a:t>eBGP </a:t>
            </a:r>
            <a:r>
              <a:rPr lang="zh-CN" altLang="en-US" dirty="0"/>
              <a:t>连接。</a:t>
            </a:r>
            <a:endParaRPr lang="en-US" altLang="zh-CN" dirty="0"/>
          </a:p>
          <a:p>
            <a:r>
              <a:rPr lang="zh-CN" altLang="en-US" dirty="0"/>
              <a:t>在 </a:t>
            </a:r>
            <a:r>
              <a:rPr lang="en-US" altLang="zh-CN" dirty="0"/>
              <a:t>AS </a:t>
            </a:r>
            <a:r>
              <a:rPr lang="zh-CN" altLang="en-US" dirty="0"/>
              <a:t>内部，任何相互通信的两个路由器之间必须有一个逻辑连接（也使用 </a:t>
            </a:r>
            <a:r>
              <a:rPr lang="en-US" altLang="zh-CN" dirty="0"/>
              <a:t>TCP </a:t>
            </a:r>
            <a:r>
              <a:rPr lang="zh-CN" altLang="en-US" dirty="0"/>
              <a:t>连接）</a:t>
            </a:r>
            <a:endParaRPr lang="en-US" altLang="zh-CN" dirty="0"/>
          </a:p>
          <a:p>
            <a:r>
              <a:rPr lang="en-US" altLang="zh-CN" dirty="0"/>
              <a:t>AS </a:t>
            </a:r>
            <a:r>
              <a:rPr lang="zh-CN" altLang="en-US" dirty="0"/>
              <a:t>内部所有的路由器之间的通信是全连通的。这种连接常称为 </a:t>
            </a:r>
            <a:r>
              <a:rPr lang="en-US" altLang="zh-CN" dirty="0"/>
              <a:t>iBGP </a:t>
            </a:r>
            <a:r>
              <a:rPr lang="zh-CN" altLang="en-US" dirty="0"/>
              <a:t>连接</a:t>
            </a:r>
            <a:endParaRPr lang="en-US" altLang="zh-CN" dirty="0"/>
          </a:p>
          <a:p>
            <a:pPr lvl="1"/>
            <a:r>
              <a:rPr lang="en-US" altLang="zh-CN" dirty="0"/>
              <a:t>eBGP (external BGP) </a:t>
            </a:r>
            <a:r>
              <a:rPr lang="zh-CN" altLang="en-US" dirty="0"/>
              <a:t>连接：运行 </a:t>
            </a:r>
            <a:r>
              <a:rPr lang="en-US" altLang="zh-CN" dirty="0"/>
              <a:t>eBGP </a:t>
            </a:r>
            <a:r>
              <a:rPr lang="zh-CN" altLang="en-US" dirty="0"/>
              <a:t>协议，在不同 </a:t>
            </a:r>
            <a:r>
              <a:rPr lang="en-US" altLang="zh-CN" dirty="0"/>
              <a:t>AS </a:t>
            </a:r>
            <a:r>
              <a:rPr lang="zh-CN" altLang="en-US" dirty="0"/>
              <a:t>之间交换路由信息。</a:t>
            </a:r>
            <a:endParaRPr lang="en-US" altLang="zh-CN" dirty="0"/>
          </a:p>
          <a:p>
            <a:pPr lvl="1"/>
            <a:r>
              <a:rPr lang="en-US" altLang="zh-CN" dirty="0"/>
              <a:t>iBGP (internal BGP) </a:t>
            </a:r>
            <a:r>
              <a:rPr lang="zh-CN" altLang="en-US" dirty="0"/>
              <a:t>连接：运行 </a:t>
            </a:r>
            <a:r>
              <a:rPr lang="en-US" altLang="zh-CN" dirty="0"/>
              <a:t>iBGP </a:t>
            </a:r>
            <a:r>
              <a:rPr lang="zh-CN" altLang="en-US" dirty="0"/>
              <a:t>协议， 在 </a:t>
            </a:r>
            <a:r>
              <a:rPr lang="en-US" altLang="zh-CN" dirty="0"/>
              <a:t>AS </a:t>
            </a:r>
            <a:r>
              <a:rPr lang="zh-CN" altLang="en-US" dirty="0"/>
              <a:t>内部的路由器之间交换 </a:t>
            </a:r>
            <a:r>
              <a:rPr lang="en-US" altLang="zh-CN" dirty="0"/>
              <a:t>BGP </a:t>
            </a:r>
            <a:r>
              <a:rPr lang="zh-CN" altLang="en-US" dirty="0"/>
              <a:t>路由信息。</a:t>
            </a:r>
            <a:endParaRPr lang="en-US" altLang="zh-CN" dirty="0"/>
          </a:p>
          <a:p>
            <a:endParaRPr lang="zh-CN" altLang="en-US" dirty="0"/>
          </a:p>
        </p:txBody>
      </p:sp>
    </p:spTree>
    <p:extLst>
      <p:ext uri="{BB962C8B-B14F-4D97-AF65-F5344CB8AC3E}">
        <p14:creationId xmlns:p14="http://schemas.microsoft.com/office/powerpoint/2010/main" val="3404024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664955-B2A9-682B-8075-A831E22C9DFB}"/>
              </a:ext>
            </a:extLst>
          </p:cNvPr>
          <p:cNvSpPr>
            <a:spLocks noGrp="1"/>
          </p:cNvSpPr>
          <p:nvPr>
            <p:ph type="title"/>
          </p:nvPr>
        </p:nvSpPr>
        <p:spPr>
          <a:xfrm>
            <a:off x="486000" y="550723"/>
            <a:ext cx="8172000" cy="338554"/>
          </a:xfrm>
        </p:spPr>
        <p:txBody>
          <a:bodyPr/>
          <a:lstStyle/>
          <a:p>
            <a:r>
              <a:rPr lang="en-US" altLang="zh-CN" dirty="0"/>
              <a:t>IGP vs iBGP vs</a:t>
            </a:r>
            <a:r>
              <a:rPr lang="zh-CN" altLang="en-US" dirty="0"/>
              <a:t> </a:t>
            </a:r>
            <a:r>
              <a:rPr lang="en-US" altLang="zh-CN" dirty="0"/>
              <a:t>eBGP</a:t>
            </a:r>
            <a:endParaRPr lang="zh-CN" altLang="en-US" dirty="0"/>
          </a:p>
        </p:txBody>
      </p:sp>
      <p:sp>
        <p:nvSpPr>
          <p:cNvPr id="8" name="内容占位符 7">
            <a:extLst>
              <a:ext uri="{FF2B5EF4-FFF2-40B4-BE49-F238E27FC236}">
                <a16:creationId xmlns:a16="http://schemas.microsoft.com/office/drawing/2014/main" id="{EE514790-3D86-D633-5002-46C40C83E80E}"/>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AS </a:t>
            </a:r>
            <a:r>
              <a:rPr lang="zh-CN" altLang="en-US" dirty="0"/>
              <a:t>内部运行：</a:t>
            </a:r>
            <a:endParaRPr lang="en-US" altLang="zh-CN" dirty="0"/>
          </a:p>
          <a:p>
            <a:pPr lvl="1"/>
            <a:r>
              <a:rPr lang="zh-CN" altLang="en-US" dirty="0"/>
              <a:t>内部网关协议 </a:t>
            </a:r>
            <a:r>
              <a:rPr lang="en-US" altLang="zh-CN" dirty="0"/>
              <a:t>IGP -</a:t>
            </a:r>
            <a:r>
              <a:rPr lang="zh-CN" altLang="en-US" dirty="0"/>
              <a:t> </a:t>
            </a:r>
            <a:r>
              <a:rPr lang="en-US" altLang="zh-CN" dirty="0"/>
              <a:t>OSPF </a:t>
            </a:r>
            <a:r>
              <a:rPr lang="zh-CN" altLang="en-US" dirty="0"/>
              <a:t>或 </a:t>
            </a:r>
            <a:r>
              <a:rPr lang="en-US" altLang="zh-CN" dirty="0"/>
              <a:t>RIP</a:t>
            </a:r>
          </a:p>
          <a:p>
            <a:pPr lvl="1"/>
            <a:r>
              <a:rPr lang="zh-CN" altLang="en-US" dirty="0"/>
              <a:t>协议 </a:t>
            </a:r>
            <a:r>
              <a:rPr lang="en-US" altLang="zh-CN" dirty="0"/>
              <a:t>iBGP</a:t>
            </a:r>
          </a:p>
          <a:p>
            <a:r>
              <a:rPr lang="zh-CN" altLang="en-US" dirty="0"/>
              <a:t>在 </a:t>
            </a:r>
            <a:r>
              <a:rPr lang="en-US" altLang="zh-CN" dirty="0"/>
              <a:t>AS </a:t>
            </a:r>
            <a:r>
              <a:rPr lang="zh-CN" altLang="en-US" dirty="0"/>
              <a:t>之间运行：</a:t>
            </a:r>
            <a:endParaRPr lang="en-US" altLang="zh-CN" dirty="0"/>
          </a:p>
          <a:p>
            <a:pPr lvl="1"/>
            <a:r>
              <a:rPr lang="zh-CN" altLang="en-US" dirty="0"/>
              <a:t>协议 </a:t>
            </a:r>
            <a:r>
              <a:rPr lang="en-US" altLang="zh-CN" dirty="0"/>
              <a:t>eBGP</a:t>
            </a:r>
          </a:p>
        </p:txBody>
      </p:sp>
      <p:sp>
        <p:nvSpPr>
          <p:cNvPr id="191" name="矩形 190"/>
          <p:cNvSpPr/>
          <p:nvPr/>
        </p:nvSpPr>
        <p:spPr>
          <a:xfrm>
            <a:off x="2973150" y="3344515"/>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2" name="矩形 191"/>
          <p:cNvSpPr/>
          <p:nvPr/>
        </p:nvSpPr>
        <p:spPr>
          <a:xfrm>
            <a:off x="4725750" y="3337162"/>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3" name="矩形 192"/>
          <p:cNvSpPr/>
          <p:nvPr/>
        </p:nvSpPr>
        <p:spPr>
          <a:xfrm>
            <a:off x="6478350" y="3340538"/>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4" name="矩形 193"/>
          <p:cNvSpPr/>
          <p:nvPr/>
        </p:nvSpPr>
        <p:spPr>
          <a:xfrm>
            <a:off x="1211171" y="3325116"/>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5" name="Line 6"/>
          <p:cNvSpPr>
            <a:spLocks noChangeShapeType="1"/>
          </p:cNvSpPr>
          <p:nvPr/>
        </p:nvSpPr>
        <p:spPr bwMode="auto">
          <a:xfrm>
            <a:off x="12076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196" name="Text Box 9"/>
          <p:cNvSpPr txBox="1">
            <a:spLocks noChangeArrowheads="1"/>
          </p:cNvSpPr>
          <p:nvPr/>
        </p:nvSpPr>
        <p:spPr bwMode="auto">
          <a:xfrm>
            <a:off x="1735543"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dirty="0">
                <a:latin typeface="Montserrat" panose="00000500000000000000" pitchFamily="2" charset="0"/>
                <a:ea typeface="微软雅黑" panose="020B0503020204020204" pitchFamily="34" charset="-122"/>
                <a:cs typeface="Times New Roman" pitchFamily="18" charset="0"/>
              </a:rPr>
              <a:t>IGP</a:t>
            </a:r>
            <a:endParaRPr lang="en-GB" altLang="zh-CN" sz="1200" dirty="0">
              <a:latin typeface="Montserrat" panose="00000500000000000000" pitchFamily="2" charset="0"/>
              <a:ea typeface="微软雅黑" panose="020B0503020204020204" pitchFamily="34" charset="-122"/>
              <a:cs typeface="Times New Roman" pitchFamily="18" charset="0"/>
            </a:endParaRPr>
          </a:p>
        </p:txBody>
      </p:sp>
      <p:sp>
        <p:nvSpPr>
          <p:cNvPr id="197" name="Text Box 11"/>
          <p:cNvSpPr txBox="1">
            <a:spLocks noChangeArrowheads="1"/>
          </p:cNvSpPr>
          <p:nvPr/>
        </p:nvSpPr>
        <p:spPr bwMode="auto">
          <a:xfrm>
            <a:off x="1680239"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198" name="Line 14"/>
          <p:cNvSpPr>
            <a:spLocks noChangeShapeType="1"/>
          </p:cNvSpPr>
          <p:nvPr/>
        </p:nvSpPr>
        <p:spPr bwMode="auto">
          <a:xfrm>
            <a:off x="29602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199" name="Text Box 17"/>
          <p:cNvSpPr txBox="1">
            <a:spLocks noChangeArrowheads="1"/>
          </p:cNvSpPr>
          <p:nvPr/>
        </p:nvSpPr>
        <p:spPr bwMode="auto">
          <a:xfrm>
            <a:off x="34975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0" name="Text Box 19"/>
          <p:cNvSpPr txBox="1">
            <a:spLocks noChangeArrowheads="1"/>
          </p:cNvSpPr>
          <p:nvPr/>
        </p:nvSpPr>
        <p:spPr bwMode="auto">
          <a:xfrm>
            <a:off x="34422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1" name="Line 22"/>
          <p:cNvSpPr>
            <a:spLocks noChangeShapeType="1"/>
          </p:cNvSpPr>
          <p:nvPr/>
        </p:nvSpPr>
        <p:spPr bwMode="auto">
          <a:xfrm>
            <a:off x="47128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2" name="Text Box 25"/>
          <p:cNvSpPr txBox="1">
            <a:spLocks noChangeArrowheads="1"/>
          </p:cNvSpPr>
          <p:nvPr/>
        </p:nvSpPr>
        <p:spPr bwMode="auto">
          <a:xfrm>
            <a:off x="52501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3" name="Text Box 27"/>
          <p:cNvSpPr txBox="1">
            <a:spLocks noChangeArrowheads="1"/>
          </p:cNvSpPr>
          <p:nvPr/>
        </p:nvSpPr>
        <p:spPr bwMode="auto">
          <a:xfrm>
            <a:off x="51948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4" name="Line 30"/>
          <p:cNvSpPr>
            <a:spLocks noChangeShapeType="1"/>
          </p:cNvSpPr>
          <p:nvPr/>
        </p:nvSpPr>
        <p:spPr bwMode="auto">
          <a:xfrm>
            <a:off x="64654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grpSp>
        <p:nvGrpSpPr>
          <p:cNvPr id="205" name="组合 204"/>
          <p:cNvGrpSpPr/>
          <p:nvPr/>
        </p:nvGrpSpPr>
        <p:grpSpPr>
          <a:xfrm>
            <a:off x="1207654" y="3325116"/>
            <a:ext cx="6781800" cy="994048"/>
            <a:chOff x="1143000" y="4038600"/>
            <a:chExt cx="6781800" cy="1752600"/>
          </a:xfrm>
        </p:grpSpPr>
        <p:sp>
          <p:nvSpPr>
            <p:cNvPr id="206" name="Line 5"/>
            <p:cNvSpPr>
              <a:spLocks noChangeShapeType="1"/>
            </p:cNvSpPr>
            <p:nvPr/>
          </p:nvSpPr>
          <p:spPr bwMode="auto">
            <a:xfrm>
              <a:off x="1143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7" name="Line 8"/>
            <p:cNvSpPr>
              <a:spLocks noChangeShapeType="1"/>
            </p:cNvSpPr>
            <p:nvPr/>
          </p:nvSpPr>
          <p:spPr bwMode="auto">
            <a:xfrm>
              <a:off x="2667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8" name="Line 13"/>
            <p:cNvSpPr>
              <a:spLocks noChangeShapeType="1"/>
            </p:cNvSpPr>
            <p:nvPr/>
          </p:nvSpPr>
          <p:spPr bwMode="auto">
            <a:xfrm>
              <a:off x="2895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9" name="Line 16"/>
            <p:cNvSpPr>
              <a:spLocks noChangeShapeType="1"/>
            </p:cNvSpPr>
            <p:nvPr/>
          </p:nvSpPr>
          <p:spPr bwMode="auto">
            <a:xfrm>
              <a:off x="4419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0" name="Line 21"/>
            <p:cNvSpPr>
              <a:spLocks noChangeShapeType="1"/>
            </p:cNvSpPr>
            <p:nvPr/>
          </p:nvSpPr>
          <p:spPr bwMode="auto">
            <a:xfrm>
              <a:off x="4648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1" name="Line 24"/>
            <p:cNvSpPr>
              <a:spLocks noChangeShapeType="1"/>
            </p:cNvSpPr>
            <p:nvPr/>
          </p:nvSpPr>
          <p:spPr bwMode="auto">
            <a:xfrm>
              <a:off x="6172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2" name="Line 29"/>
            <p:cNvSpPr>
              <a:spLocks noChangeShapeType="1"/>
            </p:cNvSpPr>
            <p:nvPr/>
          </p:nvSpPr>
          <p:spPr bwMode="auto">
            <a:xfrm>
              <a:off x="6400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3" name="Line 32"/>
            <p:cNvSpPr>
              <a:spLocks noChangeShapeType="1"/>
            </p:cNvSpPr>
            <p:nvPr/>
          </p:nvSpPr>
          <p:spPr bwMode="auto">
            <a:xfrm>
              <a:off x="7924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grpSp>
      <p:sp>
        <p:nvSpPr>
          <p:cNvPr id="214" name="Text Box 33"/>
          <p:cNvSpPr txBox="1">
            <a:spLocks noChangeArrowheads="1"/>
          </p:cNvSpPr>
          <p:nvPr/>
        </p:nvSpPr>
        <p:spPr bwMode="auto">
          <a:xfrm>
            <a:off x="70027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15" name="Text Box 35"/>
          <p:cNvSpPr txBox="1">
            <a:spLocks noChangeArrowheads="1"/>
          </p:cNvSpPr>
          <p:nvPr/>
        </p:nvSpPr>
        <p:spPr bwMode="auto">
          <a:xfrm>
            <a:off x="69474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16" name="Text Box 39"/>
          <p:cNvSpPr txBox="1">
            <a:spLocks noChangeArrowheads="1"/>
          </p:cNvSpPr>
          <p:nvPr/>
        </p:nvSpPr>
        <p:spPr bwMode="auto">
          <a:xfrm>
            <a:off x="24764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dirty="0" err="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17" name="Text Box 42"/>
          <p:cNvSpPr txBox="1">
            <a:spLocks noChangeArrowheads="1"/>
          </p:cNvSpPr>
          <p:nvPr/>
        </p:nvSpPr>
        <p:spPr bwMode="auto">
          <a:xfrm>
            <a:off x="42290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grpSp>
        <p:nvGrpSpPr>
          <p:cNvPr id="218" name="组合 217"/>
          <p:cNvGrpSpPr/>
          <p:nvPr/>
        </p:nvGrpSpPr>
        <p:grpSpPr>
          <a:xfrm>
            <a:off x="2503054" y="3037084"/>
            <a:ext cx="4191000" cy="432048"/>
            <a:chOff x="2438400" y="4255368"/>
            <a:chExt cx="4191000" cy="685800"/>
          </a:xfrm>
        </p:grpSpPr>
        <p:sp>
          <p:nvSpPr>
            <p:cNvPr id="219" name="Freeform 38"/>
            <p:cNvSpPr>
              <a:spLocks/>
            </p:cNvSpPr>
            <p:nvPr/>
          </p:nvSpPr>
          <p:spPr bwMode="auto">
            <a:xfrm>
              <a:off x="24384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0" name="Freeform 41"/>
            <p:cNvSpPr>
              <a:spLocks/>
            </p:cNvSpPr>
            <p:nvPr/>
          </p:nvSpPr>
          <p:spPr bwMode="auto">
            <a:xfrm>
              <a:off x="41910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1" name="Freeform 44"/>
            <p:cNvSpPr>
              <a:spLocks/>
            </p:cNvSpPr>
            <p:nvPr/>
          </p:nvSpPr>
          <p:spPr bwMode="auto">
            <a:xfrm>
              <a:off x="59436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grpSp>
      <p:sp>
        <p:nvSpPr>
          <p:cNvPr id="222" name="Text Box 45"/>
          <p:cNvSpPr txBox="1">
            <a:spLocks noChangeArrowheads="1"/>
          </p:cNvSpPr>
          <p:nvPr/>
        </p:nvSpPr>
        <p:spPr bwMode="auto">
          <a:xfrm>
            <a:off x="59816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23" name="Text Box 46"/>
          <p:cNvSpPr txBox="1">
            <a:spLocks noChangeArrowheads="1"/>
          </p:cNvSpPr>
          <p:nvPr/>
        </p:nvSpPr>
        <p:spPr bwMode="auto">
          <a:xfrm>
            <a:off x="1638013"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1</a:t>
            </a:r>
          </a:p>
        </p:txBody>
      </p:sp>
      <p:sp>
        <p:nvSpPr>
          <p:cNvPr id="224" name="Text Box 47"/>
          <p:cNvSpPr txBox="1">
            <a:spLocks noChangeArrowheads="1"/>
          </p:cNvSpPr>
          <p:nvPr/>
        </p:nvSpPr>
        <p:spPr bwMode="auto">
          <a:xfrm>
            <a:off x="33999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2</a:t>
            </a:r>
          </a:p>
        </p:txBody>
      </p:sp>
      <p:sp>
        <p:nvSpPr>
          <p:cNvPr id="225" name="Text Box 48"/>
          <p:cNvSpPr txBox="1">
            <a:spLocks noChangeArrowheads="1"/>
          </p:cNvSpPr>
          <p:nvPr/>
        </p:nvSpPr>
        <p:spPr bwMode="auto">
          <a:xfrm>
            <a:off x="51525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3</a:t>
            </a:r>
          </a:p>
        </p:txBody>
      </p:sp>
      <p:sp>
        <p:nvSpPr>
          <p:cNvPr id="226" name="Text Box 49"/>
          <p:cNvSpPr txBox="1">
            <a:spLocks noChangeArrowheads="1"/>
          </p:cNvSpPr>
          <p:nvPr/>
        </p:nvSpPr>
        <p:spPr bwMode="auto">
          <a:xfrm>
            <a:off x="69051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4</a:t>
            </a:r>
          </a:p>
        </p:txBody>
      </p:sp>
      <p:cxnSp>
        <p:nvCxnSpPr>
          <p:cNvPr id="227" name="直接箭头连接符 226"/>
          <p:cNvCxnSpPr>
            <a:cxnSpLocks/>
          </p:cNvCxnSpPr>
          <p:nvPr/>
        </p:nvCxnSpPr>
        <p:spPr>
          <a:xfrm>
            <a:off x="1240195"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8" name="直接箭头连接符 227"/>
          <p:cNvCxnSpPr>
            <a:cxnSpLocks/>
          </p:cNvCxnSpPr>
          <p:nvPr/>
        </p:nvCxnSpPr>
        <p:spPr>
          <a:xfrm>
            <a:off x="6507374" y="404912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9" name="直接箭头连接符 228"/>
          <p:cNvCxnSpPr>
            <a:cxnSpLocks/>
          </p:cNvCxnSpPr>
          <p:nvPr/>
        </p:nvCxnSpPr>
        <p:spPr>
          <a:xfrm>
            <a:off x="4754774"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0" name="直接箭头连接符 229"/>
          <p:cNvCxnSpPr>
            <a:cxnSpLocks/>
          </p:cNvCxnSpPr>
          <p:nvPr/>
        </p:nvCxnSpPr>
        <p:spPr>
          <a:xfrm>
            <a:off x="3002174"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1" name="直接箭头连接符 230"/>
          <p:cNvCxnSpPr>
            <a:cxnSpLocks/>
          </p:cNvCxnSpPr>
          <p:nvPr/>
        </p:nvCxnSpPr>
        <p:spPr>
          <a:xfrm>
            <a:off x="1240195"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2" name="直接箭头连接符 231"/>
          <p:cNvCxnSpPr>
            <a:cxnSpLocks/>
          </p:cNvCxnSpPr>
          <p:nvPr/>
        </p:nvCxnSpPr>
        <p:spPr>
          <a:xfrm>
            <a:off x="6507374" y="368908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3" name="直接箭头连接符 232"/>
          <p:cNvCxnSpPr>
            <a:cxnSpLocks/>
          </p:cNvCxnSpPr>
          <p:nvPr/>
        </p:nvCxnSpPr>
        <p:spPr>
          <a:xfrm>
            <a:off x="4754774"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4" name="直接箭头连接符 233"/>
          <p:cNvCxnSpPr>
            <a:cxnSpLocks/>
          </p:cNvCxnSpPr>
          <p:nvPr/>
        </p:nvCxnSpPr>
        <p:spPr>
          <a:xfrm>
            <a:off x="3002174"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220974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6B921522-19A3-9F0E-23CE-737338A5FC27}"/>
              </a:ext>
            </a:extLst>
          </p:cNvPr>
          <p:cNvSpPr>
            <a:spLocks noGrp="1"/>
          </p:cNvSpPr>
          <p:nvPr>
            <p:ph type="title"/>
          </p:nvPr>
        </p:nvSpPr>
        <p:spPr>
          <a:xfrm>
            <a:off x="486000" y="550723"/>
            <a:ext cx="8172000" cy="338554"/>
          </a:xfrm>
        </p:spPr>
        <p:txBody>
          <a:bodyPr/>
          <a:lstStyle/>
          <a:p>
            <a:r>
              <a:rPr lang="zh-CN" altLang="en-US" dirty="0"/>
              <a:t> </a:t>
            </a:r>
            <a:r>
              <a:rPr lang="en-US" altLang="zh-CN" dirty="0"/>
              <a:t>eBGP vs</a:t>
            </a:r>
            <a:r>
              <a:rPr lang="zh-CN" altLang="en-US" dirty="0"/>
              <a:t> </a:t>
            </a:r>
            <a:r>
              <a:rPr lang="en-US" altLang="zh-CN" dirty="0"/>
              <a:t>iBGP</a:t>
            </a:r>
            <a:endParaRPr lang="zh-CN" altLang="en-US" dirty="0"/>
          </a:p>
        </p:txBody>
      </p:sp>
      <p:sp>
        <p:nvSpPr>
          <p:cNvPr id="5" name="内容占位符 4">
            <a:extLst>
              <a:ext uri="{FF2B5EF4-FFF2-40B4-BE49-F238E27FC236}">
                <a16:creationId xmlns:a16="http://schemas.microsoft.com/office/drawing/2014/main" id="{1A71437D-2219-04BE-4F39-76C61A881068}"/>
              </a:ext>
            </a:extLst>
          </p:cNvPr>
          <p:cNvSpPr>
            <a:spLocks noGrp="1"/>
          </p:cNvSpPr>
          <p:nvPr>
            <p:ph sz="quarter" idx="11"/>
          </p:nvPr>
        </p:nvSpPr>
        <p:spPr>
          <a:xfrm>
            <a:off x="486000" y="900000"/>
            <a:ext cx="8172000" cy="3703500"/>
          </a:xfrm>
        </p:spPr>
        <p:txBody>
          <a:bodyPr/>
          <a:lstStyle/>
          <a:p>
            <a:r>
              <a:rPr lang="zh-CN" altLang="en-US" dirty="0"/>
              <a:t>同一个协议 </a:t>
            </a:r>
            <a:r>
              <a:rPr lang="en-US" altLang="zh-CN" dirty="0"/>
              <a:t>BGP</a:t>
            </a:r>
          </a:p>
          <a:p>
            <a:pPr lvl="1"/>
            <a:r>
              <a:rPr lang="zh-CN" altLang="en-US" dirty="0"/>
              <a:t>报文类型相同</a:t>
            </a:r>
            <a:endParaRPr lang="en-US" altLang="zh-CN" dirty="0"/>
          </a:p>
          <a:p>
            <a:pPr lvl="1"/>
            <a:r>
              <a:rPr lang="zh-CN" altLang="en-US" dirty="0"/>
              <a:t>属性相同</a:t>
            </a:r>
            <a:endParaRPr lang="en-US" altLang="zh-CN" dirty="0"/>
          </a:p>
          <a:p>
            <a:pPr lvl="1"/>
            <a:r>
              <a:rPr lang="zh-CN" altLang="en-US" dirty="0"/>
              <a:t>状态机相同</a:t>
            </a:r>
            <a:endParaRPr lang="en-US" altLang="zh-CN" dirty="0"/>
          </a:p>
          <a:p>
            <a:r>
              <a:rPr lang="zh-CN" altLang="en-US" dirty="0"/>
              <a:t>但它们在通报前缀时采用的规则不同：</a:t>
            </a:r>
            <a:endParaRPr lang="en-US" altLang="zh-CN" dirty="0"/>
          </a:p>
          <a:p>
            <a:pPr lvl="1"/>
            <a:r>
              <a:rPr lang="zh-CN" altLang="en-US" dirty="0"/>
              <a:t>在 </a:t>
            </a:r>
            <a:r>
              <a:rPr lang="en-US" altLang="zh-CN" dirty="0"/>
              <a:t>eBGP </a:t>
            </a:r>
            <a:r>
              <a:rPr lang="zh-CN" altLang="en-US" dirty="0"/>
              <a:t>连接的对等端得知的前缀信息，可以通报给一个 </a:t>
            </a:r>
            <a:r>
              <a:rPr lang="en-US" altLang="zh-CN" dirty="0"/>
              <a:t>iBGP </a:t>
            </a:r>
            <a:r>
              <a:rPr lang="zh-CN" altLang="en-US" dirty="0"/>
              <a:t>连接的对等端。反过来也是可以的</a:t>
            </a:r>
            <a:endParaRPr lang="en-US" altLang="zh-CN" dirty="0"/>
          </a:p>
          <a:p>
            <a:pPr lvl="1"/>
            <a:r>
              <a:rPr lang="zh-CN" altLang="en-US" dirty="0"/>
              <a:t>但从 </a:t>
            </a:r>
            <a:r>
              <a:rPr lang="en-US" altLang="zh-CN" dirty="0"/>
              <a:t>iBGP </a:t>
            </a:r>
            <a:r>
              <a:rPr lang="zh-CN" altLang="en-US" dirty="0"/>
              <a:t>连接的对等端得知的前缀信息，则不能够通报给另一个 </a:t>
            </a:r>
            <a:r>
              <a:rPr lang="en-US" altLang="zh-CN" dirty="0"/>
              <a:t>iBGP </a:t>
            </a:r>
            <a:r>
              <a:rPr lang="zh-CN" altLang="en-US" dirty="0"/>
              <a:t>连接的对等端</a:t>
            </a:r>
          </a:p>
          <a:p>
            <a:endParaRPr lang="zh-CN" altLang="en-US" dirty="0"/>
          </a:p>
        </p:txBody>
      </p:sp>
    </p:spTree>
    <p:extLst>
      <p:ext uri="{BB962C8B-B14F-4D97-AF65-F5344CB8AC3E}">
        <p14:creationId xmlns:p14="http://schemas.microsoft.com/office/powerpoint/2010/main" val="25069613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F5DE46C-4480-CEE7-6350-363A8F8C3E13}"/>
              </a:ext>
            </a:extLst>
          </p:cNvPr>
          <p:cNvSpPr>
            <a:spLocks noGrp="1"/>
          </p:cNvSpPr>
          <p:nvPr>
            <p:ph type="title"/>
          </p:nvPr>
        </p:nvSpPr>
        <p:spPr>
          <a:xfrm>
            <a:off x="486000" y="550723"/>
            <a:ext cx="8172000" cy="338554"/>
          </a:xfrm>
        </p:spPr>
        <p:txBody>
          <a:bodyPr/>
          <a:lstStyle/>
          <a:p>
            <a:r>
              <a:rPr lang="zh-CN" altLang="en-US" dirty="0"/>
              <a:t> </a:t>
            </a:r>
            <a:r>
              <a:rPr lang="en-US" altLang="zh-CN" dirty="0"/>
              <a:t>eBGP vs</a:t>
            </a:r>
            <a:r>
              <a:rPr lang="zh-CN" altLang="en-US" dirty="0"/>
              <a:t> </a:t>
            </a:r>
            <a:r>
              <a:rPr lang="en-US" altLang="zh-CN" dirty="0"/>
              <a:t>iBGP</a:t>
            </a:r>
            <a:endParaRPr lang="zh-CN" altLang="en-US" dirty="0"/>
          </a:p>
        </p:txBody>
      </p:sp>
      <p:sp>
        <p:nvSpPr>
          <p:cNvPr id="5" name="内容占位符 4">
            <a:extLst>
              <a:ext uri="{FF2B5EF4-FFF2-40B4-BE49-F238E27FC236}">
                <a16:creationId xmlns:a16="http://schemas.microsoft.com/office/drawing/2014/main" id="{713C8776-5ED8-6FD1-3A0A-D3D8C4FE8640}"/>
              </a:ext>
            </a:extLst>
          </p:cNvPr>
          <p:cNvSpPr>
            <a:spLocks noGrp="1"/>
          </p:cNvSpPr>
          <p:nvPr>
            <p:ph sz="quarter" idx="11"/>
          </p:nvPr>
        </p:nvSpPr>
        <p:spPr>
          <a:xfrm>
            <a:off x="486000" y="900000"/>
            <a:ext cx="8172000" cy="3703500"/>
          </a:xfrm>
        </p:spPr>
        <p:txBody>
          <a:bodyPr/>
          <a:lstStyle/>
          <a:p>
            <a:r>
              <a:rPr lang="en-US" altLang="zh-CN" dirty="0"/>
              <a:t>R3 </a:t>
            </a:r>
            <a:r>
              <a:rPr lang="zh-CN" altLang="en-US" dirty="0"/>
              <a:t>从 </a:t>
            </a:r>
            <a:r>
              <a:rPr lang="en-US" altLang="zh-CN" dirty="0"/>
              <a:t>eBGP </a:t>
            </a:r>
            <a:r>
              <a:rPr lang="zh-CN" altLang="en-US" dirty="0"/>
              <a:t>连接的对等端 </a:t>
            </a:r>
            <a:r>
              <a:rPr lang="en-US" altLang="zh-CN" dirty="0"/>
              <a:t>R4 </a:t>
            </a:r>
            <a:r>
              <a:rPr lang="zh-CN" altLang="en-US" dirty="0"/>
              <a:t>得到的前缀信息可以通报给 </a:t>
            </a:r>
            <a:r>
              <a:rPr lang="en-US" altLang="zh-CN" dirty="0"/>
              <a:t>iBGP </a:t>
            </a:r>
            <a:r>
              <a:rPr lang="zh-CN" altLang="en-US" dirty="0"/>
              <a:t>连接的对等端 </a:t>
            </a:r>
            <a:r>
              <a:rPr lang="en-US" altLang="zh-CN" dirty="0"/>
              <a:t>R1 </a:t>
            </a:r>
            <a:r>
              <a:rPr lang="zh-CN" altLang="en-US" dirty="0"/>
              <a:t>或 </a:t>
            </a:r>
            <a:r>
              <a:rPr lang="en-US" altLang="zh-CN" dirty="0"/>
              <a:t>R2</a:t>
            </a:r>
          </a:p>
          <a:p>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和 </a:t>
            </a:r>
            <a:r>
              <a:rPr lang="en-US" altLang="zh-CN" dirty="0"/>
              <a:t>R2 </a:t>
            </a:r>
            <a:r>
              <a:rPr lang="zh-CN" altLang="en-US" dirty="0"/>
              <a:t>得到的前缀信息可以通报给 </a:t>
            </a:r>
            <a:r>
              <a:rPr lang="en-US" altLang="zh-CN" dirty="0"/>
              <a:t>eBGP </a:t>
            </a:r>
            <a:r>
              <a:rPr lang="zh-CN" altLang="en-US" dirty="0"/>
              <a:t>连接的对等端 </a:t>
            </a:r>
            <a:r>
              <a:rPr lang="en-US" altLang="zh-CN" dirty="0"/>
              <a:t>R4</a:t>
            </a:r>
          </a:p>
          <a:p>
            <a:r>
              <a:rPr lang="zh-CN" altLang="en-US" dirty="0"/>
              <a:t>但 </a:t>
            </a:r>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得到的前缀信息不允许再通报给另一个 </a:t>
            </a:r>
            <a:r>
              <a:rPr lang="en-US" altLang="zh-CN" dirty="0"/>
              <a:t>iBGP </a:t>
            </a:r>
            <a:r>
              <a:rPr lang="zh-CN" altLang="en-US" dirty="0"/>
              <a:t>连接的对等端 </a:t>
            </a:r>
            <a:r>
              <a:rPr lang="en-US" altLang="zh-CN" dirty="0"/>
              <a:t>R2</a:t>
            </a:r>
          </a:p>
          <a:p>
            <a:endParaRPr lang="zh-CN" altLang="en-US" dirty="0"/>
          </a:p>
        </p:txBody>
      </p:sp>
      <p:grpSp>
        <p:nvGrpSpPr>
          <p:cNvPr id="6" name="Group 206"/>
          <p:cNvGrpSpPr>
            <a:grpSpLocks/>
          </p:cNvGrpSpPr>
          <p:nvPr/>
        </p:nvGrpSpPr>
        <p:grpSpPr bwMode="auto">
          <a:xfrm>
            <a:off x="2191907" y="2964110"/>
            <a:ext cx="1655763"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6" name="Group 216"/>
            <p:cNvGrpSpPr>
              <a:grpSpLocks/>
            </p:cNvGrpSpPr>
            <p:nvPr/>
          </p:nvGrpSpPr>
          <p:grpSpPr bwMode="auto">
            <a:xfrm>
              <a:off x="912" y="768"/>
              <a:ext cx="2386" cy="1553"/>
              <a:chOff x="912" y="768"/>
              <a:chExt cx="2386" cy="1553"/>
            </a:xfrm>
            <a:grpFill/>
          </p:grpSpPr>
          <p:sp>
            <p:nvSpPr>
              <p:cNvPr id="1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6" name="Group 206"/>
          <p:cNvGrpSpPr>
            <a:grpSpLocks/>
          </p:cNvGrpSpPr>
          <p:nvPr/>
        </p:nvGrpSpPr>
        <p:grpSpPr bwMode="auto">
          <a:xfrm>
            <a:off x="5043057" y="3156198"/>
            <a:ext cx="1944688"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6" name="Group 216"/>
            <p:cNvGrpSpPr>
              <a:grpSpLocks/>
            </p:cNvGrpSpPr>
            <p:nvPr/>
          </p:nvGrpSpPr>
          <p:grpSpPr bwMode="auto">
            <a:xfrm>
              <a:off x="912" y="768"/>
              <a:ext cx="2386" cy="1553"/>
              <a:chOff x="912" y="768"/>
              <a:chExt cx="2386" cy="1553"/>
            </a:xfrm>
            <a:grpFill/>
          </p:grpSpPr>
          <p:sp>
            <p:nvSpPr>
              <p:cNvPr id="3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6" name="Line 154"/>
          <p:cNvSpPr>
            <a:spLocks noChangeShapeType="1"/>
          </p:cNvSpPr>
          <p:nvPr/>
        </p:nvSpPr>
        <p:spPr bwMode="auto">
          <a:xfrm flipV="1">
            <a:off x="3774645" y="3518148"/>
            <a:ext cx="1368425" cy="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7" name="Line 165"/>
          <p:cNvSpPr>
            <a:spLocks noChangeShapeType="1"/>
          </p:cNvSpPr>
          <p:nvPr/>
        </p:nvSpPr>
        <p:spPr bwMode="auto">
          <a:xfrm flipV="1">
            <a:off x="3126945" y="3540373"/>
            <a:ext cx="647700" cy="193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8" name="Line 170"/>
          <p:cNvSpPr>
            <a:spLocks noChangeShapeType="1"/>
          </p:cNvSpPr>
          <p:nvPr/>
        </p:nvSpPr>
        <p:spPr bwMode="auto">
          <a:xfrm>
            <a:off x="2984070" y="3108573"/>
            <a:ext cx="790575" cy="3603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9" name="Text Box 173"/>
          <p:cNvSpPr txBox="1">
            <a:spLocks noChangeArrowheads="1"/>
          </p:cNvSpPr>
          <p:nvPr/>
        </p:nvSpPr>
        <p:spPr bwMode="auto">
          <a:xfrm>
            <a:off x="3323795" y="2756148"/>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50" name="Text Box 175"/>
          <p:cNvSpPr txBox="1">
            <a:spLocks noChangeArrowheads="1"/>
          </p:cNvSpPr>
          <p:nvPr/>
        </p:nvSpPr>
        <p:spPr bwMode="auto">
          <a:xfrm>
            <a:off x="5690757" y="2799010"/>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51"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84070" y="3662610"/>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2" name="Text Box 173"/>
          <p:cNvSpPr txBox="1">
            <a:spLocks noChangeArrowheads="1"/>
          </p:cNvSpPr>
          <p:nvPr/>
        </p:nvSpPr>
        <p:spPr bwMode="auto">
          <a:xfrm>
            <a:off x="3703207" y="3086348"/>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3</a:t>
            </a:r>
          </a:p>
        </p:txBody>
      </p:sp>
      <p:sp>
        <p:nvSpPr>
          <p:cNvPr id="53" name="Text Box 173"/>
          <p:cNvSpPr txBox="1">
            <a:spLocks noChangeArrowheads="1"/>
          </p:cNvSpPr>
          <p:nvPr/>
        </p:nvSpPr>
        <p:spPr bwMode="auto">
          <a:xfrm>
            <a:off x="4827157" y="310857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4</a:t>
            </a:r>
          </a:p>
        </p:txBody>
      </p:sp>
      <p:pic>
        <p:nvPicPr>
          <p:cNvPr id="5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39607" y="3035548"/>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5120" y="3424485"/>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22245" y="3426073"/>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7" name="Text Box 173"/>
          <p:cNvSpPr txBox="1">
            <a:spLocks noChangeArrowheads="1"/>
          </p:cNvSpPr>
          <p:nvPr/>
        </p:nvSpPr>
        <p:spPr bwMode="auto">
          <a:xfrm>
            <a:off x="2982482" y="3734048"/>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2</a:t>
            </a:r>
          </a:p>
        </p:txBody>
      </p:sp>
      <p:sp>
        <p:nvSpPr>
          <p:cNvPr id="58" name="Text Box 173"/>
          <p:cNvSpPr txBox="1">
            <a:spLocks noChangeArrowheads="1"/>
          </p:cNvSpPr>
          <p:nvPr/>
        </p:nvSpPr>
        <p:spPr bwMode="auto">
          <a:xfrm>
            <a:off x="2766582" y="2725985"/>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1</a:t>
            </a:r>
          </a:p>
        </p:txBody>
      </p:sp>
      <p:cxnSp>
        <p:nvCxnSpPr>
          <p:cNvPr id="59" name="直接箭头连接符 329"/>
          <p:cNvCxnSpPr>
            <a:cxnSpLocks noChangeShapeType="1"/>
          </p:cNvCxnSpPr>
          <p:nvPr/>
        </p:nvCxnSpPr>
        <p:spPr bwMode="auto">
          <a:xfrm flipH="1">
            <a:off x="4409645" y="2932360"/>
            <a:ext cx="363537" cy="57943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60" name="Text Box 42"/>
          <p:cNvSpPr txBox="1">
            <a:spLocks noChangeArrowheads="1"/>
          </p:cNvSpPr>
          <p:nvPr/>
        </p:nvSpPr>
        <p:spPr bwMode="auto">
          <a:xfrm>
            <a:off x="4376307" y="2641848"/>
            <a:ext cx="120898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sp>
        <p:nvSpPr>
          <p:cNvPr id="61" name="Text Box 42"/>
          <p:cNvSpPr txBox="1">
            <a:spLocks noChangeArrowheads="1"/>
          </p:cNvSpPr>
          <p:nvPr/>
        </p:nvSpPr>
        <p:spPr bwMode="auto">
          <a:xfrm>
            <a:off x="1090719" y="2914139"/>
            <a:ext cx="11496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62" name="直接箭头连接符 339"/>
          <p:cNvCxnSpPr>
            <a:cxnSpLocks noChangeShapeType="1"/>
            <a:stCxn id="61" idx="3"/>
          </p:cNvCxnSpPr>
          <p:nvPr/>
        </p:nvCxnSpPr>
        <p:spPr bwMode="auto">
          <a:xfrm>
            <a:off x="2240393" y="3083416"/>
            <a:ext cx="1083665" cy="22342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63" name="直接箭头连接符 339"/>
          <p:cNvCxnSpPr>
            <a:cxnSpLocks noChangeShapeType="1"/>
          </p:cNvCxnSpPr>
          <p:nvPr/>
        </p:nvCxnSpPr>
        <p:spPr bwMode="auto">
          <a:xfrm>
            <a:off x="2181119" y="3178537"/>
            <a:ext cx="1169663" cy="452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Tree>
    <p:extLst>
      <p:ext uri="{BB962C8B-B14F-4D97-AF65-F5344CB8AC3E}">
        <p14:creationId xmlns:p14="http://schemas.microsoft.com/office/powerpoint/2010/main" val="2602256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B63924C1-6948-1557-D278-EDAB4590C670}"/>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
        <p:nvSpPr>
          <p:cNvPr id="11" name="内容占位符 10">
            <a:extLst>
              <a:ext uri="{FF2B5EF4-FFF2-40B4-BE49-F238E27FC236}">
                <a16:creationId xmlns:a16="http://schemas.microsoft.com/office/drawing/2014/main" id="{E6231B1D-2232-F74A-E2DC-E0181DC18A5B}"/>
              </a:ext>
            </a:extLst>
          </p:cNvPr>
          <p:cNvSpPr>
            <a:spLocks noGrp="1"/>
          </p:cNvSpPr>
          <p:nvPr>
            <p:ph sz="quarter" idx="11"/>
          </p:nvPr>
        </p:nvSpPr>
        <p:spPr>
          <a:xfrm>
            <a:off x="486000" y="900000"/>
            <a:ext cx="8172000" cy="3703500"/>
          </a:xfrm>
        </p:spPr>
        <p:txBody>
          <a:bodyPr/>
          <a:lstStyle/>
          <a:p>
            <a:r>
              <a:rPr lang="en-US" altLang="zh-CN" dirty="0"/>
              <a:t>BGP </a:t>
            </a:r>
            <a:r>
              <a:rPr lang="zh-CN" altLang="en-US" dirty="0"/>
              <a:t>路由 </a:t>
            </a:r>
            <a:r>
              <a:rPr lang="en-US" altLang="zh-CN" dirty="0"/>
              <a:t>= [ </a:t>
            </a:r>
            <a:r>
              <a:rPr lang="zh-CN" altLang="en-US" dirty="0"/>
              <a:t>前缀</a:t>
            </a:r>
            <a:r>
              <a:rPr lang="en-US" altLang="zh-CN" dirty="0"/>
              <a:t>, BGP</a:t>
            </a:r>
            <a:r>
              <a:rPr lang="zh-CN" altLang="en-US" dirty="0"/>
              <a:t>属性 </a:t>
            </a:r>
            <a:r>
              <a:rPr lang="en-US" altLang="zh-CN" dirty="0"/>
              <a:t>] = [ </a:t>
            </a:r>
            <a:r>
              <a:rPr lang="zh-CN" altLang="en-US" dirty="0"/>
              <a:t>前缀</a:t>
            </a:r>
            <a:r>
              <a:rPr lang="en-US" altLang="zh-CN" dirty="0"/>
              <a:t>, AS-PATH, NEXT-HOP ]</a:t>
            </a:r>
            <a:endParaRPr lang="zh-CN" altLang="en-US" dirty="0"/>
          </a:p>
          <a:p>
            <a:r>
              <a:rPr lang="zh-CN" altLang="en-US" dirty="0"/>
              <a:t>前缀：指明到哪一个子网；用 </a:t>
            </a:r>
            <a:r>
              <a:rPr lang="en-US" altLang="zh-CN" dirty="0"/>
              <a:t>CIDR </a:t>
            </a:r>
            <a:r>
              <a:rPr lang="zh-CN" altLang="en-US" dirty="0"/>
              <a:t>记法表示</a:t>
            </a:r>
          </a:p>
          <a:p>
            <a:r>
              <a:rPr lang="en-US" altLang="zh-CN" dirty="0"/>
              <a:t>BGP </a:t>
            </a:r>
            <a:r>
              <a:rPr lang="zh-CN" altLang="en-US" dirty="0"/>
              <a:t>属性：最重要的两个属性是</a:t>
            </a:r>
            <a:endParaRPr lang="en-US" altLang="zh-CN" dirty="0"/>
          </a:p>
          <a:p>
            <a:pPr lvl="1"/>
            <a:r>
              <a:rPr lang="zh-CN" altLang="en-US" dirty="0"/>
              <a:t>自治系统路径 </a:t>
            </a:r>
            <a:r>
              <a:rPr lang="en-US" altLang="zh-CN" dirty="0"/>
              <a:t>AS-PATH </a:t>
            </a:r>
          </a:p>
          <a:p>
            <a:pPr lvl="1"/>
            <a:r>
              <a:rPr lang="zh-CN" altLang="en-US" dirty="0"/>
              <a:t>下一跳 </a:t>
            </a:r>
            <a:r>
              <a:rPr lang="en-US" altLang="zh-CN" dirty="0"/>
              <a:t>NEXT-HOP</a:t>
            </a:r>
            <a:r>
              <a:rPr lang="zh-CN" altLang="en-US" dirty="0"/>
              <a:t>。</a:t>
            </a:r>
          </a:p>
          <a:p>
            <a:endParaRPr lang="zh-CN" altLang="en-US" dirty="0"/>
          </a:p>
        </p:txBody>
      </p:sp>
      <p:sp>
        <p:nvSpPr>
          <p:cNvPr id="3" name="Line 155">
            <a:extLst>
              <a:ext uri="{FF2B5EF4-FFF2-40B4-BE49-F238E27FC236}">
                <a16:creationId xmlns:a16="http://schemas.microsoft.com/office/drawing/2014/main" id="{4C18F1E2-CC4E-8C71-4022-19C16990B14C}"/>
              </a:ext>
            </a:extLst>
          </p:cNvPr>
          <p:cNvSpPr>
            <a:spLocks noChangeShapeType="1"/>
          </p:cNvSpPr>
          <p:nvPr/>
        </p:nvSpPr>
        <p:spPr bwMode="auto">
          <a:xfrm flipV="1">
            <a:off x="3705815" y="2982247"/>
            <a:ext cx="1732370" cy="18145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4" name="Group 206">
            <a:extLst>
              <a:ext uri="{FF2B5EF4-FFF2-40B4-BE49-F238E27FC236}">
                <a16:creationId xmlns:a16="http://schemas.microsoft.com/office/drawing/2014/main" id="{B48ADB22-F3D4-053C-08EB-62AA75D3D2D1}"/>
              </a:ext>
            </a:extLst>
          </p:cNvPr>
          <p:cNvGrpSpPr>
            <a:grpSpLocks/>
          </p:cNvGrpSpPr>
          <p:nvPr/>
        </p:nvGrpSpPr>
        <p:grpSpPr bwMode="auto">
          <a:xfrm>
            <a:off x="5243380" y="2770359"/>
            <a:ext cx="1157263" cy="714104"/>
            <a:chOff x="912" y="768"/>
            <a:chExt cx="2400" cy="1584"/>
          </a:xfrm>
          <a:solidFill>
            <a:schemeClr val="bg2"/>
          </a:solidFill>
          <a:effectLst>
            <a:outerShdw blurRad="50800" dist="38100" dir="2700000" algn="tl" rotWithShape="0">
              <a:prstClr val="black">
                <a:alpha val="40000"/>
              </a:prstClr>
            </a:outerShdw>
          </a:effectLst>
        </p:grpSpPr>
        <p:sp>
          <p:nvSpPr>
            <p:cNvPr id="5" name="Oval 207">
              <a:extLst>
                <a:ext uri="{FF2B5EF4-FFF2-40B4-BE49-F238E27FC236}">
                  <a16:creationId xmlns:a16="http://schemas.microsoft.com/office/drawing/2014/main" id="{E7A36D97-B1C1-DD34-A96B-27DCB1892458}"/>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 name="Oval 208">
              <a:extLst>
                <a:ext uri="{FF2B5EF4-FFF2-40B4-BE49-F238E27FC236}">
                  <a16:creationId xmlns:a16="http://schemas.microsoft.com/office/drawing/2014/main" id="{88BA768B-934A-D104-FE97-A298CF986590}"/>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Oval 209">
              <a:extLst>
                <a:ext uri="{FF2B5EF4-FFF2-40B4-BE49-F238E27FC236}">
                  <a16:creationId xmlns:a16="http://schemas.microsoft.com/office/drawing/2014/main" id="{5E432B62-77D6-0EAF-5FC6-393C744AD22A}"/>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 name="Oval 210">
              <a:extLst>
                <a:ext uri="{FF2B5EF4-FFF2-40B4-BE49-F238E27FC236}">
                  <a16:creationId xmlns:a16="http://schemas.microsoft.com/office/drawing/2014/main" id="{56CC1E02-AFA3-FD80-D18A-FB2220254CD5}"/>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 name="Oval 211">
              <a:extLst>
                <a:ext uri="{FF2B5EF4-FFF2-40B4-BE49-F238E27FC236}">
                  <a16:creationId xmlns:a16="http://schemas.microsoft.com/office/drawing/2014/main" id="{34162DE1-1E03-51FC-A17E-6A52DEB951C1}"/>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Oval 212">
              <a:extLst>
                <a:ext uri="{FF2B5EF4-FFF2-40B4-BE49-F238E27FC236}">
                  <a16:creationId xmlns:a16="http://schemas.microsoft.com/office/drawing/2014/main" id="{49637663-01BE-387E-876F-9CB060BC8479}"/>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Oval 213">
              <a:extLst>
                <a:ext uri="{FF2B5EF4-FFF2-40B4-BE49-F238E27FC236}">
                  <a16:creationId xmlns:a16="http://schemas.microsoft.com/office/drawing/2014/main" id="{5C117F7D-2427-31E1-99B6-A4F5BB8EF799}"/>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214">
              <a:extLst>
                <a:ext uri="{FF2B5EF4-FFF2-40B4-BE49-F238E27FC236}">
                  <a16:creationId xmlns:a16="http://schemas.microsoft.com/office/drawing/2014/main" id="{4F8C2AEC-F97F-647F-DE36-10EDCF113FBF}"/>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5" name="Oval 215">
              <a:extLst>
                <a:ext uri="{FF2B5EF4-FFF2-40B4-BE49-F238E27FC236}">
                  <a16:creationId xmlns:a16="http://schemas.microsoft.com/office/drawing/2014/main" id="{03348136-42DD-5092-1400-574D3FD6E576}"/>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6" name="Group 216">
              <a:extLst>
                <a:ext uri="{FF2B5EF4-FFF2-40B4-BE49-F238E27FC236}">
                  <a16:creationId xmlns:a16="http://schemas.microsoft.com/office/drawing/2014/main" id="{D6D4EB4D-C71F-41E2-C9EE-2832CED7FE7C}"/>
                </a:ext>
              </a:extLst>
            </p:cNvPr>
            <p:cNvGrpSpPr>
              <a:grpSpLocks/>
            </p:cNvGrpSpPr>
            <p:nvPr/>
          </p:nvGrpSpPr>
          <p:grpSpPr bwMode="auto">
            <a:xfrm>
              <a:off x="912" y="768"/>
              <a:ext cx="2386" cy="1553"/>
              <a:chOff x="912" y="768"/>
              <a:chExt cx="2386" cy="1553"/>
            </a:xfrm>
            <a:grpFill/>
          </p:grpSpPr>
          <p:sp>
            <p:nvSpPr>
              <p:cNvPr id="17" name="Oval 217">
                <a:extLst>
                  <a:ext uri="{FF2B5EF4-FFF2-40B4-BE49-F238E27FC236}">
                    <a16:creationId xmlns:a16="http://schemas.microsoft.com/office/drawing/2014/main" id="{36ABEEE3-7D60-6708-0138-4A7F161FFCCC}"/>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8" name="Oval 218">
                <a:extLst>
                  <a:ext uri="{FF2B5EF4-FFF2-40B4-BE49-F238E27FC236}">
                    <a16:creationId xmlns:a16="http://schemas.microsoft.com/office/drawing/2014/main" id="{1C864DC4-4E7F-E75B-BCD8-4DE5F4188A59}"/>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 name="Oval 219">
                <a:extLst>
                  <a:ext uri="{FF2B5EF4-FFF2-40B4-BE49-F238E27FC236}">
                    <a16:creationId xmlns:a16="http://schemas.microsoft.com/office/drawing/2014/main" id="{6DF607AB-0E93-29CB-99C3-CC247A292EC5}"/>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 name="Oval 220">
                <a:extLst>
                  <a:ext uri="{FF2B5EF4-FFF2-40B4-BE49-F238E27FC236}">
                    <a16:creationId xmlns:a16="http://schemas.microsoft.com/office/drawing/2014/main" id="{00F5F373-23A9-2800-E61A-CB3B5576C5D5}"/>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 name="Oval 221">
                <a:extLst>
                  <a:ext uri="{FF2B5EF4-FFF2-40B4-BE49-F238E27FC236}">
                    <a16:creationId xmlns:a16="http://schemas.microsoft.com/office/drawing/2014/main" id="{3E3AAD03-DDD1-1BC8-FA35-0C7625AD937E}"/>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 name="Oval 222">
                <a:extLst>
                  <a:ext uri="{FF2B5EF4-FFF2-40B4-BE49-F238E27FC236}">
                    <a16:creationId xmlns:a16="http://schemas.microsoft.com/office/drawing/2014/main" id="{F921A229-906F-2E93-8230-C7A151B4984D}"/>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 name="Oval 223">
                <a:extLst>
                  <a:ext uri="{FF2B5EF4-FFF2-40B4-BE49-F238E27FC236}">
                    <a16:creationId xmlns:a16="http://schemas.microsoft.com/office/drawing/2014/main" id="{F15C1981-E949-1B99-91DA-D5F49EDB76B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 name="Oval 224">
                <a:extLst>
                  <a:ext uri="{FF2B5EF4-FFF2-40B4-BE49-F238E27FC236}">
                    <a16:creationId xmlns:a16="http://schemas.microsoft.com/office/drawing/2014/main" id="{C0AD020C-8212-A312-D7EF-12222EC05BC5}"/>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 name="Oval 225">
                <a:extLst>
                  <a:ext uri="{FF2B5EF4-FFF2-40B4-BE49-F238E27FC236}">
                    <a16:creationId xmlns:a16="http://schemas.microsoft.com/office/drawing/2014/main" id="{C0AE5282-8991-5DC6-144C-F981214F8331}"/>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7" name="Text Box 175">
            <a:extLst>
              <a:ext uri="{FF2B5EF4-FFF2-40B4-BE49-F238E27FC236}">
                <a16:creationId xmlns:a16="http://schemas.microsoft.com/office/drawing/2014/main" id="{B353FB37-97AC-1F7C-1BB3-7D0B7C2C3787}"/>
              </a:ext>
            </a:extLst>
          </p:cNvPr>
          <p:cNvSpPr txBox="1">
            <a:spLocks noChangeArrowheads="1"/>
          </p:cNvSpPr>
          <p:nvPr/>
        </p:nvSpPr>
        <p:spPr bwMode="auto">
          <a:xfrm>
            <a:off x="5552068" y="3129471"/>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50" name="任意多边形: 形状 49">
            <a:extLst>
              <a:ext uri="{FF2B5EF4-FFF2-40B4-BE49-F238E27FC236}">
                <a16:creationId xmlns:a16="http://schemas.microsoft.com/office/drawing/2014/main" id="{62B7A8A0-5C2F-A914-21E6-A66577337C61}"/>
              </a:ext>
            </a:extLst>
          </p:cNvPr>
          <p:cNvSpPr>
            <a:spLocks noChangeArrowheads="1"/>
          </p:cNvSpPr>
          <p:nvPr/>
        </p:nvSpPr>
        <p:spPr bwMode="auto">
          <a:xfrm>
            <a:off x="1911487" y="2973411"/>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 name="Text Box 173">
            <a:extLst>
              <a:ext uri="{FF2B5EF4-FFF2-40B4-BE49-F238E27FC236}">
                <a16:creationId xmlns:a16="http://schemas.microsoft.com/office/drawing/2014/main" id="{513A538C-AAB7-CCD9-FB01-4ED369D23628}"/>
              </a:ext>
            </a:extLst>
          </p:cNvPr>
          <p:cNvSpPr txBox="1">
            <a:spLocks noChangeArrowheads="1"/>
          </p:cNvSpPr>
          <p:nvPr/>
        </p:nvSpPr>
        <p:spPr bwMode="auto">
          <a:xfrm>
            <a:off x="2544671" y="4035299"/>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54" name="云形 53">
            <a:extLst>
              <a:ext uri="{FF2B5EF4-FFF2-40B4-BE49-F238E27FC236}">
                <a16:creationId xmlns:a16="http://schemas.microsoft.com/office/drawing/2014/main" id="{D9818E91-3D52-B35B-F267-A488D1C6DFA6}"/>
              </a:ext>
            </a:extLst>
          </p:cNvPr>
          <p:cNvSpPr/>
          <p:nvPr/>
        </p:nvSpPr>
        <p:spPr>
          <a:xfrm>
            <a:off x="6003360" y="3039140"/>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sp>
        <p:nvSpPr>
          <p:cNvPr id="56" name="Text Box 173">
            <a:extLst>
              <a:ext uri="{FF2B5EF4-FFF2-40B4-BE49-F238E27FC236}">
                <a16:creationId xmlns:a16="http://schemas.microsoft.com/office/drawing/2014/main" id="{0D40B8E1-EECE-C158-3FC2-2678985577AB}"/>
              </a:ext>
            </a:extLst>
          </p:cNvPr>
          <p:cNvSpPr txBox="1">
            <a:spLocks noChangeArrowheads="1"/>
          </p:cNvSpPr>
          <p:nvPr/>
        </p:nvSpPr>
        <p:spPr bwMode="auto">
          <a:xfrm>
            <a:off x="2912101" y="4182450"/>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57" name="Text Box 173">
            <a:extLst>
              <a:ext uri="{FF2B5EF4-FFF2-40B4-BE49-F238E27FC236}">
                <a16:creationId xmlns:a16="http://schemas.microsoft.com/office/drawing/2014/main" id="{2E76D123-1003-372D-DD8F-01CEA32DA218}"/>
              </a:ext>
            </a:extLst>
          </p:cNvPr>
          <p:cNvSpPr txBox="1">
            <a:spLocks noChangeArrowheads="1"/>
          </p:cNvSpPr>
          <p:nvPr/>
        </p:nvSpPr>
        <p:spPr bwMode="auto">
          <a:xfrm>
            <a:off x="3256504" y="282753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58" name="Text Box 173">
            <a:extLst>
              <a:ext uri="{FF2B5EF4-FFF2-40B4-BE49-F238E27FC236}">
                <a16:creationId xmlns:a16="http://schemas.microsoft.com/office/drawing/2014/main" id="{6E5B2AC9-B1D1-D2D8-29EC-243F779D9299}"/>
              </a:ext>
            </a:extLst>
          </p:cNvPr>
          <p:cNvSpPr txBox="1">
            <a:spLocks noChangeArrowheads="1"/>
          </p:cNvSpPr>
          <p:nvPr/>
        </p:nvSpPr>
        <p:spPr bwMode="auto">
          <a:xfrm>
            <a:off x="1849063" y="360001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59" name="Text Box 173">
            <a:extLst>
              <a:ext uri="{FF2B5EF4-FFF2-40B4-BE49-F238E27FC236}">
                <a16:creationId xmlns:a16="http://schemas.microsoft.com/office/drawing/2014/main" id="{D8660EE5-6BFE-484B-0235-26ADD65E432A}"/>
              </a:ext>
            </a:extLst>
          </p:cNvPr>
          <p:cNvSpPr txBox="1">
            <a:spLocks noChangeArrowheads="1"/>
          </p:cNvSpPr>
          <p:nvPr/>
        </p:nvSpPr>
        <p:spPr bwMode="auto">
          <a:xfrm>
            <a:off x="2442342" y="289159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81" name="Line 154">
            <a:extLst>
              <a:ext uri="{FF2B5EF4-FFF2-40B4-BE49-F238E27FC236}">
                <a16:creationId xmlns:a16="http://schemas.microsoft.com/office/drawing/2014/main" id="{DCB66E13-9837-FFB2-8B95-1C81FEC2484B}"/>
              </a:ext>
            </a:extLst>
          </p:cNvPr>
          <p:cNvSpPr>
            <a:spLocks noChangeShapeType="1"/>
          </p:cNvSpPr>
          <p:nvPr/>
        </p:nvSpPr>
        <p:spPr bwMode="auto">
          <a:xfrm flipV="1">
            <a:off x="2181702" y="3279921"/>
            <a:ext cx="362969" cy="6440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82" name="Line 154">
            <a:extLst>
              <a:ext uri="{FF2B5EF4-FFF2-40B4-BE49-F238E27FC236}">
                <a16:creationId xmlns:a16="http://schemas.microsoft.com/office/drawing/2014/main" id="{1C2746E4-5AA4-9EF0-74E7-2033B0F3953B}"/>
              </a:ext>
            </a:extLst>
          </p:cNvPr>
          <p:cNvSpPr>
            <a:spLocks noChangeShapeType="1"/>
          </p:cNvSpPr>
          <p:nvPr/>
        </p:nvSpPr>
        <p:spPr bwMode="auto">
          <a:xfrm>
            <a:off x="2311901" y="3983463"/>
            <a:ext cx="704254" cy="863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83" name="Line 154">
            <a:extLst>
              <a:ext uri="{FF2B5EF4-FFF2-40B4-BE49-F238E27FC236}">
                <a16:creationId xmlns:a16="http://schemas.microsoft.com/office/drawing/2014/main" id="{AF34721C-495D-D988-1D45-52C3C2F6A76E}"/>
              </a:ext>
            </a:extLst>
          </p:cNvPr>
          <p:cNvSpPr>
            <a:spLocks noChangeShapeType="1"/>
          </p:cNvSpPr>
          <p:nvPr/>
        </p:nvSpPr>
        <p:spPr bwMode="auto">
          <a:xfrm flipV="1">
            <a:off x="2627671" y="3163705"/>
            <a:ext cx="896838" cy="5356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84" name="Picture 52">
            <a:extLst>
              <a:ext uri="{FF2B5EF4-FFF2-40B4-BE49-F238E27FC236}">
                <a16:creationId xmlns:a16="http://schemas.microsoft.com/office/drawing/2014/main" id="{32E8576D-9346-B5FE-B19F-5F12C201E45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89898" y="314972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6" name="Picture 46">
            <a:extLst>
              <a:ext uri="{FF2B5EF4-FFF2-40B4-BE49-F238E27FC236}">
                <a16:creationId xmlns:a16="http://schemas.microsoft.com/office/drawing/2014/main" id="{906E3461-D119-E5B1-BE7D-C1913428C2B2}"/>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32230" y="286232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87" name="Text Box 173">
            <a:extLst>
              <a:ext uri="{FF2B5EF4-FFF2-40B4-BE49-F238E27FC236}">
                <a16:creationId xmlns:a16="http://schemas.microsoft.com/office/drawing/2014/main" id="{EFF78654-85CE-0E77-F855-59A69FFFC555}"/>
              </a:ext>
            </a:extLst>
          </p:cNvPr>
          <p:cNvSpPr txBox="1">
            <a:spLocks noChangeArrowheads="1"/>
          </p:cNvSpPr>
          <p:nvPr/>
        </p:nvSpPr>
        <p:spPr bwMode="auto">
          <a:xfrm>
            <a:off x="5198630" y="2571750"/>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55" name="Picture 52">
            <a:extLst>
              <a:ext uri="{FF2B5EF4-FFF2-40B4-BE49-F238E27FC236}">
                <a16:creationId xmlns:a16="http://schemas.microsoft.com/office/drawing/2014/main" id="{2DC7A4AD-77C6-7602-8517-827041817714}"/>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49646" y="397940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3" name="Picture 52">
            <a:extLst>
              <a:ext uri="{FF2B5EF4-FFF2-40B4-BE49-F238E27FC236}">
                <a16:creationId xmlns:a16="http://schemas.microsoft.com/office/drawing/2014/main" id="{167CE67A-9568-26C9-6C72-5ED286905252}"/>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31402" y="306392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5" name="Picture 52">
            <a:extLst>
              <a:ext uri="{FF2B5EF4-FFF2-40B4-BE49-F238E27FC236}">
                <a16:creationId xmlns:a16="http://schemas.microsoft.com/office/drawing/2014/main" id="{9F05E02A-1B3A-4B96-B51F-05A60402FA7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9669" y="385480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95" name="箭头: 下 94">
            <a:extLst>
              <a:ext uri="{FF2B5EF4-FFF2-40B4-BE49-F238E27FC236}">
                <a16:creationId xmlns:a16="http://schemas.microsoft.com/office/drawing/2014/main" id="{3790E83D-80F0-3574-82EC-A7BA46B9251D}"/>
              </a:ext>
            </a:extLst>
          </p:cNvPr>
          <p:cNvSpPr/>
          <p:nvPr/>
        </p:nvSpPr>
        <p:spPr>
          <a:xfrm rot="5037174">
            <a:off x="4438595" y="2673814"/>
            <a:ext cx="150014" cy="560961"/>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6" name="Text Box 173">
            <a:extLst>
              <a:ext uri="{FF2B5EF4-FFF2-40B4-BE49-F238E27FC236}">
                <a16:creationId xmlns:a16="http://schemas.microsoft.com/office/drawing/2014/main" id="{CE3A6145-3045-664E-EC58-0A7F0C3B3F38}"/>
              </a:ext>
            </a:extLst>
          </p:cNvPr>
          <p:cNvSpPr txBox="1">
            <a:spLocks noChangeArrowheads="1"/>
          </p:cNvSpPr>
          <p:nvPr/>
        </p:nvSpPr>
        <p:spPr bwMode="auto">
          <a:xfrm rot="21201464">
            <a:off x="4213560" y="2638881"/>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eBGP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12" name="Text Box 173">
            <a:extLst>
              <a:ext uri="{FF2B5EF4-FFF2-40B4-BE49-F238E27FC236}">
                <a16:creationId xmlns:a16="http://schemas.microsoft.com/office/drawing/2014/main" id="{A950BC91-1854-BC43-CA92-72EC48AD6228}"/>
              </a:ext>
            </a:extLst>
          </p:cNvPr>
          <p:cNvSpPr txBox="1">
            <a:spLocks noChangeArrowheads="1"/>
          </p:cNvSpPr>
          <p:nvPr/>
        </p:nvSpPr>
        <p:spPr bwMode="auto">
          <a:xfrm>
            <a:off x="2878681" y="3292678"/>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iBGP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cxnSp>
        <p:nvCxnSpPr>
          <p:cNvPr id="113" name="直接箭头连接符 112">
            <a:extLst>
              <a:ext uri="{FF2B5EF4-FFF2-40B4-BE49-F238E27FC236}">
                <a16:creationId xmlns:a16="http://schemas.microsoft.com/office/drawing/2014/main" id="{24D0A8B8-57D8-D320-7384-724505792074}"/>
              </a:ext>
            </a:extLst>
          </p:cNvPr>
          <p:cNvCxnSpPr>
            <a:cxnSpLocks/>
          </p:cNvCxnSpPr>
          <p:nvPr/>
        </p:nvCxnSpPr>
        <p:spPr>
          <a:xfrm flipH="1">
            <a:off x="2791374" y="3295728"/>
            <a:ext cx="612069" cy="36758"/>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4" name="Text Box 173">
            <a:extLst>
              <a:ext uri="{FF2B5EF4-FFF2-40B4-BE49-F238E27FC236}">
                <a16:creationId xmlns:a16="http://schemas.microsoft.com/office/drawing/2014/main" id="{1538CD34-72EA-868A-3D12-AF8F08EB96A7}"/>
              </a:ext>
            </a:extLst>
          </p:cNvPr>
          <p:cNvSpPr txBox="1">
            <a:spLocks noChangeArrowheads="1"/>
          </p:cNvSpPr>
          <p:nvPr/>
        </p:nvSpPr>
        <p:spPr bwMode="auto">
          <a:xfrm rot="18317965">
            <a:off x="3205046" y="3584824"/>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iBGP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cxnSp>
        <p:nvCxnSpPr>
          <p:cNvPr id="115" name="直接箭头连接符 114">
            <a:extLst>
              <a:ext uri="{FF2B5EF4-FFF2-40B4-BE49-F238E27FC236}">
                <a16:creationId xmlns:a16="http://schemas.microsoft.com/office/drawing/2014/main" id="{56564E67-F38B-E0E2-304C-9049061E2A02}"/>
              </a:ext>
            </a:extLst>
          </p:cNvPr>
          <p:cNvCxnSpPr>
            <a:cxnSpLocks/>
          </p:cNvCxnSpPr>
          <p:nvPr/>
        </p:nvCxnSpPr>
        <p:spPr>
          <a:xfrm flipH="1">
            <a:off x="3218284" y="3452458"/>
            <a:ext cx="306225" cy="424552"/>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6" name="Text Box 173">
            <a:extLst>
              <a:ext uri="{FF2B5EF4-FFF2-40B4-BE49-F238E27FC236}">
                <a16:creationId xmlns:a16="http://schemas.microsoft.com/office/drawing/2014/main" id="{B47A9BA5-FBE0-A882-B2B9-B3E903529495}"/>
              </a:ext>
            </a:extLst>
          </p:cNvPr>
          <p:cNvSpPr txBox="1">
            <a:spLocks noChangeArrowheads="1"/>
          </p:cNvSpPr>
          <p:nvPr/>
        </p:nvSpPr>
        <p:spPr bwMode="auto">
          <a:xfrm rot="20579599">
            <a:off x="2479349" y="3673222"/>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iBGP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cxnSp>
        <p:nvCxnSpPr>
          <p:cNvPr id="117" name="直接箭头连接符 116">
            <a:extLst>
              <a:ext uri="{FF2B5EF4-FFF2-40B4-BE49-F238E27FC236}">
                <a16:creationId xmlns:a16="http://schemas.microsoft.com/office/drawing/2014/main" id="{039F1E30-1C03-2FBD-12F6-CD129E7292ED}"/>
              </a:ext>
            </a:extLst>
          </p:cNvPr>
          <p:cNvCxnSpPr>
            <a:cxnSpLocks/>
          </p:cNvCxnSpPr>
          <p:nvPr/>
        </p:nvCxnSpPr>
        <p:spPr>
          <a:xfrm flipH="1">
            <a:off x="2413009" y="3436031"/>
            <a:ext cx="1024839" cy="405742"/>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99053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1241601" y="3122318"/>
            <a:ext cx="6660798"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8" name="左箭头 7"/>
          <p:cNvSpPr/>
          <p:nvPr/>
        </p:nvSpPr>
        <p:spPr>
          <a:xfrm rot="2560597">
            <a:off x="5542504" y="2178632"/>
            <a:ext cx="345677" cy="165457"/>
          </a:xfrm>
          <a:prstGeom prst="leftArrow">
            <a:avLst/>
          </a:prstGeom>
          <a:solidFill>
            <a:srgbClr val="000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AACB3BA6-5279-7206-4C0D-930FE823E7BE}"/>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15320085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right)">
                                      <p:cBhvr>
                                        <p:cTn id="7" dur="1000"/>
                                        <p:tgtEl>
                                          <p:spTgt spid="8"/>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8" grpId="0" animBg="1"/>
    </p:bldLst>
  </p:timing>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416460"/>
            <a:ext cx="7662674"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19785818">
            <a:off x="3131269" y="2152137"/>
            <a:ext cx="345677" cy="165457"/>
          </a:xfrm>
          <a:prstGeom prst="lef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E5AB4279-02A7-EAF7-8A62-91B84021AC13}"/>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9076616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122318"/>
            <a:ext cx="7662674"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a:p>
            <a:r>
              <a:rPr lang="zh-CN" altLang="en-US" dirty="0"/>
              <a:t>路由</a:t>
            </a:r>
            <a:r>
              <a:rPr lang="en-US" altLang="zh-CN" dirty="0"/>
              <a:t>2</a:t>
            </a:r>
            <a:r>
              <a:rPr lang="zh-CN" altLang="en-US" dirty="0"/>
              <a:t>：</a:t>
            </a:r>
            <a:r>
              <a:rPr lang="en-US" altLang="zh-CN" dirty="0"/>
              <a:t>AS1 </a:t>
            </a:r>
            <a:r>
              <a:rPr lang="zh-CN" altLang="zh-CN" dirty="0"/>
              <a:t>可经</a:t>
            </a:r>
            <a:r>
              <a:rPr lang="en-US" altLang="zh-CN" dirty="0"/>
              <a:t> IP3c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IP3c]</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a:off x="4302002" y="2614169"/>
            <a:ext cx="345677" cy="165457"/>
          </a:xfrm>
          <a:prstGeom prst="leftArrow">
            <a:avLst/>
          </a:prstGeom>
          <a:solidFill>
            <a:srgbClr val="CC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2A8E5CCC-BC0B-7D18-E199-DF7D5E5C91AC}"/>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8625520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122318"/>
            <a:ext cx="7662674" cy="14767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a:p>
            <a:r>
              <a:rPr lang="zh-CN" altLang="en-US" dirty="0"/>
              <a:t>路由</a:t>
            </a:r>
            <a:r>
              <a:rPr lang="en-US" altLang="zh-CN" dirty="0"/>
              <a:t>2</a:t>
            </a:r>
            <a:r>
              <a:rPr lang="zh-CN" altLang="en-US" dirty="0"/>
              <a:t>：</a:t>
            </a:r>
            <a:r>
              <a:rPr lang="en-US" altLang="zh-CN" dirty="0"/>
              <a:t>AS1 </a:t>
            </a:r>
            <a:r>
              <a:rPr lang="zh-CN" altLang="zh-CN" dirty="0"/>
              <a:t>可经</a:t>
            </a:r>
            <a:r>
              <a:rPr lang="en-US" altLang="zh-CN" dirty="0"/>
              <a:t> IP3c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IP3c]</a:t>
            </a:r>
          </a:p>
          <a:p>
            <a:r>
              <a:rPr lang="zh-CN" altLang="zh-CN" dirty="0"/>
              <a:t>路由器</a:t>
            </a:r>
            <a:r>
              <a:rPr lang="en-US" altLang="zh-CN" dirty="0"/>
              <a:t> R1a </a:t>
            </a:r>
            <a:r>
              <a:rPr lang="zh-CN" altLang="zh-CN" dirty="0"/>
              <a:t>的转发表中，沿</a:t>
            </a:r>
            <a:r>
              <a:rPr lang="en-US" altLang="zh-CN" dirty="0"/>
              <a:t> BGP </a:t>
            </a:r>
            <a:r>
              <a:rPr lang="zh-CN" altLang="zh-CN" dirty="0"/>
              <a:t>路由</a:t>
            </a:r>
            <a:r>
              <a:rPr lang="en-US" altLang="zh-CN" dirty="0"/>
              <a:t> 1 </a:t>
            </a:r>
            <a:r>
              <a:rPr lang="zh-CN" altLang="zh-CN" dirty="0"/>
              <a:t>到达前缀</a:t>
            </a:r>
            <a:r>
              <a:rPr lang="en-US" altLang="zh-CN" dirty="0"/>
              <a:t> X </a:t>
            </a:r>
            <a:r>
              <a:rPr lang="zh-CN" altLang="zh-CN" dirty="0"/>
              <a:t>的项目是：</a:t>
            </a:r>
            <a:endParaRPr lang="en-US" altLang="zh-CN" dirty="0"/>
          </a:p>
          <a:p>
            <a:r>
              <a:rPr lang="en-US" altLang="zh-CN" dirty="0"/>
              <a:t>           </a:t>
            </a:r>
            <a:r>
              <a:rPr lang="zh-CN" altLang="zh-CN" dirty="0"/>
              <a:t>（匹配前缀</a:t>
            </a:r>
            <a:r>
              <a:rPr lang="en-US" altLang="zh-CN" dirty="0"/>
              <a:t>X</a:t>
            </a:r>
            <a:r>
              <a:rPr lang="zh-CN" altLang="zh-CN" dirty="0"/>
              <a:t>，下一跳路由器</a:t>
            </a:r>
            <a:r>
              <a:rPr lang="en-US" altLang="zh-CN" dirty="0"/>
              <a:t> R1b</a:t>
            </a:r>
            <a:r>
              <a:rPr lang="zh-CN" altLang="zh-CN" dirty="0"/>
              <a:t>）或（匹配前缀</a:t>
            </a:r>
            <a:r>
              <a:rPr lang="en-US" altLang="zh-CN" dirty="0"/>
              <a:t>X</a:t>
            </a:r>
            <a:r>
              <a:rPr lang="zh-CN" altLang="zh-CN" dirty="0"/>
              <a:t>，转发接口</a:t>
            </a:r>
            <a:r>
              <a:rPr lang="en-US" altLang="zh-CN" dirty="0"/>
              <a:t> 0</a:t>
            </a:r>
            <a:r>
              <a:rPr lang="zh-CN" altLang="zh-CN" dirty="0"/>
              <a:t>）</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21414281">
            <a:off x="2214874" y="2288219"/>
            <a:ext cx="235520" cy="94651"/>
          </a:xfrm>
          <a:prstGeom prst="leftArrow">
            <a:avLst/>
          </a:prstGeom>
          <a:solidFill>
            <a:srgbClr val="99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C8F2FC2F-66C1-14A1-39A2-EA5180DCA439}"/>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621919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0954CEB-2D20-9374-1189-AE10B6F99C6E}"/>
              </a:ext>
            </a:extLst>
          </p:cNvPr>
          <p:cNvSpPr>
            <a:spLocks noGrp="1"/>
          </p:cNvSpPr>
          <p:nvPr>
            <p:ph type="title"/>
          </p:nvPr>
        </p:nvSpPr>
        <p:spPr>
          <a:xfrm>
            <a:off x="486000" y="550723"/>
            <a:ext cx="8172000" cy="338554"/>
          </a:xfrm>
        </p:spPr>
        <p:txBody>
          <a:bodyPr/>
          <a:lstStyle/>
          <a:p>
            <a:r>
              <a:rPr lang="en-US" altLang="zh-CN" dirty="0"/>
              <a:t>3. </a:t>
            </a:r>
            <a:r>
              <a:rPr lang="zh-CN" altLang="en-US" dirty="0"/>
              <a:t>三种不同的自治系统 </a:t>
            </a:r>
            <a:r>
              <a:rPr lang="en-US" altLang="zh-CN" dirty="0"/>
              <a:t>AS</a:t>
            </a:r>
            <a:endParaRPr lang="zh-CN" altLang="en-US" dirty="0"/>
          </a:p>
        </p:txBody>
      </p:sp>
      <p:sp>
        <p:nvSpPr>
          <p:cNvPr id="7" name="内容占位符 6">
            <a:extLst>
              <a:ext uri="{FF2B5EF4-FFF2-40B4-BE49-F238E27FC236}">
                <a16:creationId xmlns:a16="http://schemas.microsoft.com/office/drawing/2014/main" id="{EB14CAF2-835D-87DD-A898-A491BC1CC335}"/>
              </a:ext>
            </a:extLst>
          </p:cNvPr>
          <p:cNvSpPr>
            <a:spLocks noGrp="1"/>
          </p:cNvSpPr>
          <p:nvPr>
            <p:ph sz="quarter" idx="11"/>
          </p:nvPr>
        </p:nvSpPr>
        <p:spPr>
          <a:xfrm>
            <a:off x="486000" y="900000"/>
            <a:ext cx="8172000" cy="3703500"/>
          </a:xfrm>
        </p:spPr>
        <p:txBody>
          <a:bodyPr/>
          <a:lstStyle/>
          <a:p>
            <a:r>
              <a:rPr lang="zh-CN" altLang="en-US" dirty="0"/>
              <a:t>末梢 </a:t>
            </a:r>
            <a:r>
              <a:rPr lang="en-US" altLang="zh-CN" dirty="0"/>
              <a:t>AS</a:t>
            </a:r>
            <a:r>
              <a:rPr lang="zh-CN" altLang="en-US" dirty="0"/>
              <a:t>：不会把来自其他 </a:t>
            </a:r>
            <a:r>
              <a:rPr lang="en-US" altLang="zh-CN" dirty="0"/>
              <a:t>AS </a:t>
            </a:r>
            <a:r>
              <a:rPr lang="zh-CN" altLang="en-US" dirty="0"/>
              <a:t>的分组再转发到另一个 </a:t>
            </a:r>
            <a:r>
              <a:rPr lang="en-US" altLang="zh-CN" dirty="0"/>
              <a:t>AS</a:t>
            </a:r>
            <a:r>
              <a:rPr lang="zh-CN" altLang="en-US" dirty="0"/>
              <a:t>。必须向所连接的 </a:t>
            </a:r>
            <a:r>
              <a:rPr lang="en-US" altLang="zh-CN" dirty="0"/>
              <a:t>AS </a:t>
            </a:r>
            <a:r>
              <a:rPr lang="zh-CN" altLang="en-US" dirty="0"/>
              <a:t>付费</a:t>
            </a:r>
            <a:endParaRPr lang="en-US" altLang="zh-CN" dirty="0"/>
          </a:p>
          <a:p>
            <a:r>
              <a:rPr lang="zh-CN" altLang="en-US" dirty="0"/>
              <a:t>多归属 </a:t>
            </a:r>
            <a:r>
              <a:rPr lang="en-US" altLang="zh-CN" dirty="0"/>
              <a:t>AS (multihomed AS)</a:t>
            </a:r>
            <a:r>
              <a:rPr lang="zh-CN" altLang="en-US" dirty="0"/>
              <a:t>：同时连接到两个或两个以上的 </a:t>
            </a:r>
            <a:r>
              <a:rPr lang="en-US" altLang="zh-CN" dirty="0"/>
              <a:t>AS</a:t>
            </a:r>
            <a:r>
              <a:rPr lang="zh-CN" altLang="en-US" dirty="0"/>
              <a:t>。增加连接的可靠性</a:t>
            </a:r>
            <a:endParaRPr lang="en-US" altLang="zh-CN" dirty="0"/>
          </a:p>
          <a:p>
            <a:r>
              <a:rPr lang="zh-CN" altLang="en-US" dirty="0"/>
              <a:t>穿越 </a:t>
            </a:r>
            <a:r>
              <a:rPr lang="en-US" altLang="zh-CN" dirty="0"/>
              <a:t>AS</a:t>
            </a:r>
            <a:r>
              <a:rPr lang="zh-CN" altLang="en-US" dirty="0"/>
              <a:t>：为其他 </a:t>
            </a:r>
            <a:r>
              <a:rPr lang="en-US" altLang="zh-CN" dirty="0"/>
              <a:t>AS </a:t>
            </a:r>
            <a:r>
              <a:rPr lang="zh-CN" altLang="en-US" dirty="0"/>
              <a:t>有偿转发分组</a:t>
            </a:r>
            <a:endParaRPr lang="en-US" altLang="zh-CN" dirty="0"/>
          </a:p>
          <a:p>
            <a:r>
              <a:rPr lang="zh-CN" altLang="en-US" dirty="0"/>
              <a:t>对等 </a:t>
            </a:r>
            <a:r>
              <a:rPr lang="en-US" altLang="zh-CN" dirty="0"/>
              <a:t>AS</a:t>
            </a:r>
            <a:r>
              <a:rPr lang="zh-CN" altLang="en-US" dirty="0"/>
              <a:t>：经过事先协商的两个 </a:t>
            </a:r>
            <a:r>
              <a:rPr lang="en-US" altLang="zh-CN" dirty="0"/>
              <a:t>AS</a:t>
            </a:r>
            <a:r>
              <a:rPr lang="zh-CN" altLang="en-US" dirty="0"/>
              <a:t>，彼此之间的发送或接收分组都不收费</a:t>
            </a:r>
            <a:endParaRPr lang="en-US" altLang="zh-CN" dirty="0"/>
          </a:p>
          <a:p>
            <a:endParaRPr lang="zh-CN" altLang="en-US" dirty="0"/>
          </a:p>
        </p:txBody>
      </p:sp>
      <p:grpSp>
        <p:nvGrpSpPr>
          <p:cNvPr id="200" name="组合 199"/>
          <p:cNvGrpSpPr/>
          <p:nvPr/>
        </p:nvGrpSpPr>
        <p:grpSpPr>
          <a:xfrm>
            <a:off x="1125758" y="2634309"/>
            <a:ext cx="6892484" cy="1955886"/>
            <a:chOff x="1115438" y="1127761"/>
            <a:chExt cx="6892484" cy="1955886"/>
          </a:xfrm>
        </p:grpSpPr>
        <p:sp>
          <p:nvSpPr>
            <p:cNvPr id="5" name="Line 154"/>
            <p:cNvSpPr>
              <a:spLocks noChangeShapeType="1"/>
            </p:cNvSpPr>
            <p:nvPr/>
          </p:nvSpPr>
          <p:spPr bwMode="auto">
            <a:xfrm flipV="1">
              <a:off x="4635971" y="1495571"/>
              <a:ext cx="1237138" cy="543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6" name="Line 154"/>
            <p:cNvSpPr>
              <a:spLocks noChangeShapeType="1"/>
            </p:cNvSpPr>
            <p:nvPr/>
          </p:nvSpPr>
          <p:spPr bwMode="auto">
            <a:xfrm>
              <a:off x="2553503" y="1440011"/>
              <a:ext cx="1106535" cy="10991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3" name="Line 154"/>
            <p:cNvSpPr>
              <a:spLocks noChangeShapeType="1"/>
            </p:cNvSpPr>
            <p:nvPr/>
          </p:nvSpPr>
          <p:spPr bwMode="auto">
            <a:xfrm>
              <a:off x="2682671" y="2316896"/>
              <a:ext cx="1367740"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4" name="Line 154"/>
            <p:cNvSpPr>
              <a:spLocks noChangeShapeType="1"/>
            </p:cNvSpPr>
            <p:nvPr/>
          </p:nvSpPr>
          <p:spPr bwMode="auto">
            <a:xfrm flipV="1">
              <a:off x="2292298" y="2316896"/>
              <a:ext cx="66019" cy="49279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5" name="Line 154"/>
            <p:cNvSpPr>
              <a:spLocks noChangeShapeType="1"/>
            </p:cNvSpPr>
            <p:nvPr/>
          </p:nvSpPr>
          <p:spPr bwMode="auto">
            <a:xfrm flipH="1" flipV="1">
              <a:off x="5937693" y="2372456"/>
              <a:ext cx="66019" cy="4372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Line 154"/>
            <p:cNvSpPr>
              <a:spLocks noChangeShapeType="1"/>
            </p:cNvSpPr>
            <p:nvPr/>
          </p:nvSpPr>
          <p:spPr bwMode="auto">
            <a:xfrm flipV="1">
              <a:off x="4310182" y="2316896"/>
              <a:ext cx="1432325"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7" name="Line 155"/>
            <p:cNvSpPr>
              <a:spLocks noChangeShapeType="1"/>
            </p:cNvSpPr>
            <p:nvPr/>
          </p:nvSpPr>
          <p:spPr bwMode="auto">
            <a:xfrm>
              <a:off x="4716342" y="1607131"/>
              <a:ext cx="961581" cy="4911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8" name="Line 154"/>
            <p:cNvSpPr>
              <a:spLocks noChangeShapeType="1"/>
            </p:cNvSpPr>
            <p:nvPr/>
          </p:nvSpPr>
          <p:spPr bwMode="auto">
            <a:xfrm flipV="1">
              <a:off x="2553503" y="1604276"/>
              <a:ext cx="1040516" cy="49400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40" name="Group 206"/>
            <p:cNvGrpSpPr>
              <a:grpSpLocks/>
            </p:cNvGrpSpPr>
            <p:nvPr/>
          </p:nvGrpSpPr>
          <p:grpSpPr bwMode="auto">
            <a:xfrm>
              <a:off x="3203646" y="1274539"/>
              <a:ext cx="1758114" cy="60270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 name="Group 216"/>
              <p:cNvGrpSpPr>
                <a:grpSpLocks/>
              </p:cNvGrpSpPr>
              <p:nvPr/>
            </p:nvGrpSpPr>
            <p:grpSpPr bwMode="auto">
              <a:xfrm>
                <a:off x="912" y="768"/>
                <a:ext cx="2386" cy="1553"/>
                <a:chOff x="912" y="768"/>
                <a:chExt cx="2386" cy="1553"/>
              </a:xfrm>
              <a:grpFill/>
            </p:grpSpPr>
            <p:sp>
              <p:nvSpPr>
                <p:cNvPr id="5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0" name="Text Box 173"/>
            <p:cNvSpPr txBox="1">
              <a:spLocks noChangeArrowheads="1"/>
            </p:cNvSpPr>
            <p:nvPr/>
          </p:nvSpPr>
          <p:spPr bwMode="auto">
            <a:xfrm>
              <a:off x="3912602" y="136076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cxnSp>
          <p:nvCxnSpPr>
            <p:cNvPr id="83" name="直接箭头连接符 329"/>
            <p:cNvCxnSpPr>
              <a:cxnSpLocks noChangeShapeType="1"/>
            </p:cNvCxnSpPr>
            <p:nvPr/>
          </p:nvCxnSpPr>
          <p:spPr bwMode="auto">
            <a:xfrm flipV="1">
              <a:off x="2928089" y="2093802"/>
              <a:ext cx="2419739" cy="7247"/>
            </a:xfrm>
            <a:prstGeom prst="straightConnector1">
              <a:avLst/>
            </a:prstGeom>
            <a:noFill/>
            <a:ln w="9525" algn="ctr">
              <a:solidFill>
                <a:schemeClr val="tx1"/>
              </a:solidFill>
              <a:round/>
              <a:headEnd type="triangle" w="sm" len="lg"/>
              <a:tailEnd type="triangle" w="sm" len="lg"/>
            </a:ln>
            <a:extLst>
              <a:ext uri="{909E8E84-426E-40DD-AFC4-6F175D3DCCD1}">
                <a14:hiddenFill xmlns:a14="http://schemas.microsoft.com/office/drawing/2010/main">
                  <a:noFill/>
                </a14:hiddenFill>
              </a:ext>
            </a:extLst>
          </p:spPr>
        </p:cxnSp>
        <p:grpSp>
          <p:nvGrpSpPr>
            <p:cNvPr id="84" name="Group 206"/>
            <p:cNvGrpSpPr>
              <a:grpSpLocks/>
            </p:cNvGrpSpPr>
            <p:nvPr/>
          </p:nvGrpSpPr>
          <p:grpSpPr bwMode="auto">
            <a:xfrm>
              <a:off x="1901925" y="2700986"/>
              <a:ext cx="650143"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8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94" name="Group 216"/>
              <p:cNvGrpSpPr>
                <a:grpSpLocks/>
              </p:cNvGrpSpPr>
              <p:nvPr/>
            </p:nvGrpSpPr>
            <p:grpSpPr bwMode="auto">
              <a:xfrm>
                <a:off x="912" y="768"/>
                <a:ext cx="2386" cy="1553"/>
                <a:chOff x="912" y="768"/>
                <a:chExt cx="2386" cy="1553"/>
              </a:xfrm>
              <a:grpFill/>
            </p:grpSpPr>
            <p:sp>
              <p:nvSpPr>
                <p:cNvPr id="9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4" name="Group 206"/>
            <p:cNvGrpSpPr>
              <a:grpSpLocks/>
            </p:cNvGrpSpPr>
            <p:nvPr/>
          </p:nvGrpSpPr>
          <p:grpSpPr bwMode="auto">
            <a:xfrm>
              <a:off x="3789206" y="2700986"/>
              <a:ext cx="651579"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0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14" name="Group 216"/>
              <p:cNvGrpSpPr>
                <a:grpSpLocks/>
              </p:cNvGrpSpPr>
              <p:nvPr/>
            </p:nvGrpSpPr>
            <p:grpSpPr bwMode="auto">
              <a:xfrm>
                <a:off x="912" y="768"/>
                <a:ext cx="2386" cy="1553"/>
                <a:chOff x="912" y="768"/>
                <a:chExt cx="2386" cy="1553"/>
              </a:xfrm>
              <a:grpFill/>
            </p:grpSpPr>
            <p:sp>
              <p:nvSpPr>
                <p:cNvPr id="11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24" name="Group 206"/>
            <p:cNvGrpSpPr>
              <a:grpSpLocks/>
            </p:cNvGrpSpPr>
            <p:nvPr/>
          </p:nvGrpSpPr>
          <p:grpSpPr bwMode="auto">
            <a:xfrm>
              <a:off x="5677923" y="2700986"/>
              <a:ext cx="650144"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2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34" name="Group 216"/>
              <p:cNvGrpSpPr>
                <a:grpSpLocks/>
              </p:cNvGrpSpPr>
              <p:nvPr/>
            </p:nvGrpSpPr>
            <p:grpSpPr bwMode="auto">
              <a:xfrm>
                <a:off x="912" y="768"/>
                <a:ext cx="2386" cy="1553"/>
                <a:chOff x="912" y="768"/>
                <a:chExt cx="2386" cy="1553"/>
              </a:xfrm>
              <a:grpFill/>
            </p:grpSpPr>
            <p:sp>
              <p:nvSpPr>
                <p:cNvPr id="13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144" name="Text Box 174"/>
            <p:cNvSpPr txBox="1">
              <a:spLocks noChangeArrowheads="1"/>
            </p:cNvSpPr>
            <p:nvPr/>
          </p:nvSpPr>
          <p:spPr bwMode="auto">
            <a:xfrm>
              <a:off x="5792738" y="2695445"/>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6</a:t>
              </a:r>
            </a:p>
          </p:txBody>
        </p:sp>
        <p:sp>
          <p:nvSpPr>
            <p:cNvPr id="145" name="Text Box 174"/>
            <p:cNvSpPr txBox="1">
              <a:spLocks noChangeArrowheads="1"/>
            </p:cNvSpPr>
            <p:nvPr/>
          </p:nvSpPr>
          <p:spPr bwMode="auto">
            <a:xfrm>
              <a:off x="3885921" y="2711857"/>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146" name="Text Box 174"/>
            <p:cNvSpPr txBox="1">
              <a:spLocks noChangeArrowheads="1"/>
            </p:cNvSpPr>
            <p:nvPr/>
          </p:nvSpPr>
          <p:spPr bwMode="auto">
            <a:xfrm>
              <a:off x="1992899" y="271633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sp>
          <p:nvSpPr>
            <p:cNvPr id="147" name="Text Box 173"/>
            <p:cNvSpPr txBox="1">
              <a:spLocks noChangeArrowheads="1"/>
            </p:cNvSpPr>
            <p:nvPr/>
          </p:nvSpPr>
          <p:spPr bwMode="auto">
            <a:xfrm>
              <a:off x="3247748" y="1929035"/>
              <a:ext cx="1846074" cy="294793"/>
            </a:xfrm>
            <a:prstGeom prst="rect">
              <a:avLst/>
            </a:prstGeom>
            <a:solidFill>
              <a:srgbClr val="C3E3F9"/>
            </a:solid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solidFill>
                    <a:srgbClr val="C00000"/>
                  </a:solidFill>
                  <a:latin typeface="微软雅黑" panose="020B0503020204020204" pitchFamily="34" charset="-122"/>
                  <a:ea typeface="微软雅黑" panose="020B0503020204020204" pitchFamily="34" charset="-122"/>
                </a:rPr>
                <a:t>对等 </a:t>
              </a:r>
              <a:r>
                <a:rPr lang="en-US" altLang="zh-CN" sz="1200" b="1" dirty="0">
                  <a:solidFill>
                    <a:srgbClr val="C00000"/>
                  </a:solidFill>
                  <a:latin typeface="微软雅黑" panose="020B0503020204020204" pitchFamily="34" charset="-122"/>
                  <a:ea typeface="微软雅黑" panose="020B0503020204020204" pitchFamily="34" charset="-122"/>
                </a:rPr>
                <a:t>AS</a:t>
              </a:r>
              <a:r>
                <a:rPr lang="en-US" altLang="zh-CN" sz="1200" b="1" dirty="0">
                  <a:latin typeface="微软雅黑" panose="020B0503020204020204" pitchFamily="34" charset="-122"/>
                  <a:ea typeface="微软雅黑" panose="020B0503020204020204" pitchFamily="34" charset="-122"/>
                </a:rPr>
                <a:t> (Peering AS)</a:t>
              </a:r>
            </a:p>
          </p:txBody>
        </p:sp>
        <p:sp>
          <p:nvSpPr>
            <p:cNvPr id="148" name="Text Box 173"/>
            <p:cNvSpPr txBox="1">
              <a:spLocks noChangeArrowheads="1"/>
            </p:cNvSpPr>
            <p:nvPr/>
          </p:nvSpPr>
          <p:spPr bwMode="auto">
            <a:xfrm>
              <a:off x="4352328" y="1127761"/>
              <a:ext cx="2124745"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0000FF"/>
                  </a:solidFill>
                  <a:latin typeface="微软雅黑" panose="020B0503020204020204" pitchFamily="34" charset="-122"/>
                  <a:ea typeface="微软雅黑" panose="020B0503020204020204" pitchFamily="34" charset="-122"/>
                </a:rPr>
                <a:t>穿越 </a:t>
              </a:r>
              <a:r>
                <a:rPr lang="en-US" altLang="zh-CN" sz="1400" b="1" dirty="0">
                  <a:solidFill>
                    <a:srgbClr val="0000FF"/>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(transit AS)</a:t>
              </a:r>
            </a:p>
          </p:txBody>
        </p:sp>
        <p:sp>
          <p:nvSpPr>
            <p:cNvPr id="149" name="Text Box 173"/>
            <p:cNvSpPr txBox="1">
              <a:spLocks noChangeArrowheads="1"/>
            </p:cNvSpPr>
            <p:nvPr/>
          </p:nvSpPr>
          <p:spPr bwMode="auto">
            <a:xfrm>
              <a:off x="1115438" y="2740845"/>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0" name="Text Box 173"/>
            <p:cNvSpPr txBox="1">
              <a:spLocks noChangeArrowheads="1"/>
            </p:cNvSpPr>
            <p:nvPr/>
          </p:nvSpPr>
          <p:spPr bwMode="auto">
            <a:xfrm>
              <a:off x="6274779" y="2727557"/>
              <a:ext cx="1733143"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(stub AS)</a:t>
              </a:r>
            </a:p>
          </p:txBody>
        </p:sp>
        <p:sp>
          <p:nvSpPr>
            <p:cNvPr id="151" name="Text Box 173"/>
            <p:cNvSpPr txBox="1">
              <a:spLocks noChangeArrowheads="1"/>
            </p:cNvSpPr>
            <p:nvPr/>
          </p:nvSpPr>
          <p:spPr bwMode="auto">
            <a:xfrm>
              <a:off x="3016030" y="2775870"/>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2" name="Text Box 173"/>
            <p:cNvSpPr txBox="1">
              <a:spLocks noChangeArrowheads="1"/>
            </p:cNvSpPr>
            <p:nvPr/>
          </p:nvSpPr>
          <p:spPr bwMode="auto">
            <a:xfrm>
              <a:off x="4367590" y="2772248"/>
              <a:ext cx="111514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660033"/>
                  </a:solidFill>
                  <a:latin typeface="微软雅黑" panose="020B0503020204020204" pitchFamily="34" charset="-122"/>
                  <a:ea typeface="微软雅黑" panose="020B0503020204020204" pitchFamily="34" charset="-122"/>
                </a:rPr>
                <a:t>多归属 </a:t>
              </a:r>
              <a:r>
                <a:rPr lang="en-US" altLang="zh-CN" sz="1400" b="1" dirty="0">
                  <a:solidFill>
                    <a:srgbClr val="660033"/>
                  </a:solidFill>
                  <a:latin typeface="微软雅黑" panose="020B0503020204020204" pitchFamily="34" charset="-122"/>
                  <a:ea typeface="微软雅黑" panose="020B0503020204020204" pitchFamily="34" charset="-122"/>
                </a:rPr>
                <a:t>AS</a:t>
              </a:r>
            </a:p>
          </p:txBody>
        </p:sp>
        <p:sp>
          <p:nvSpPr>
            <p:cNvPr id="153" name="Text Box 173"/>
            <p:cNvSpPr txBox="1">
              <a:spLocks noChangeArrowheads="1"/>
            </p:cNvSpPr>
            <p:nvPr/>
          </p:nvSpPr>
          <p:spPr bwMode="auto">
            <a:xfrm>
              <a:off x="3497535" y="2258638"/>
              <a:ext cx="1174443" cy="294793"/>
            </a:xfrm>
            <a:prstGeom prst="rect">
              <a:avLst/>
            </a:prstGeom>
            <a:no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latin typeface="微软雅黑" panose="020B0503020204020204" pitchFamily="34" charset="-122"/>
                  <a:ea typeface="微软雅黑" panose="020B0503020204020204" pitchFamily="34" charset="-122"/>
                </a:rPr>
                <a:t>（免费）</a:t>
              </a:r>
              <a:endParaRPr lang="en-US" altLang="zh-CN" sz="1200" b="1" dirty="0">
                <a:latin typeface="微软雅黑" panose="020B0503020204020204" pitchFamily="34" charset="-122"/>
                <a:ea typeface="微软雅黑" panose="020B0503020204020204" pitchFamily="34" charset="-122"/>
              </a:endParaRPr>
            </a:p>
          </p:txBody>
        </p:sp>
        <p:sp>
          <p:nvSpPr>
            <p:cNvPr id="155" name="文本框 154"/>
            <p:cNvSpPr txBox="1"/>
            <p:nvPr/>
          </p:nvSpPr>
          <p:spPr>
            <a:xfrm>
              <a:off x="2283944" y="243623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6" name="文本框 155"/>
            <p:cNvSpPr txBox="1"/>
            <p:nvPr/>
          </p:nvSpPr>
          <p:spPr>
            <a:xfrm>
              <a:off x="3219464" y="2344823"/>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7" name="文本框 156"/>
            <p:cNvSpPr txBox="1"/>
            <p:nvPr/>
          </p:nvSpPr>
          <p:spPr>
            <a:xfrm>
              <a:off x="4795729" y="235405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8" name="文本框 157"/>
            <p:cNvSpPr txBox="1"/>
            <p:nvPr/>
          </p:nvSpPr>
          <p:spPr>
            <a:xfrm>
              <a:off x="5690560" y="2480222"/>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9" name="文本框 158"/>
            <p:cNvSpPr txBox="1"/>
            <p:nvPr/>
          </p:nvSpPr>
          <p:spPr>
            <a:xfrm>
              <a:off x="2765103" y="1666394"/>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60" name="文本框 159"/>
            <p:cNvSpPr txBox="1"/>
            <p:nvPr/>
          </p:nvSpPr>
          <p:spPr>
            <a:xfrm>
              <a:off x="5132852" y="1638686"/>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cxnSp>
          <p:nvCxnSpPr>
            <p:cNvPr id="163" name="直接箭头连接符 162"/>
            <p:cNvCxnSpPr/>
            <p:nvPr/>
          </p:nvCxnSpPr>
          <p:spPr>
            <a:xfrm flipV="1">
              <a:off x="2228440" y="2463591"/>
              <a:ext cx="40164" cy="19684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4" name="直接箭头连接符 163"/>
            <p:cNvCxnSpPr/>
            <p:nvPr/>
          </p:nvCxnSpPr>
          <p:spPr>
            <a:xfrm flipH="1" flipV="1">
              <a:off x="6032702" y="2494276"/>
              <a:ext cx="44868" cy="18021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7" name="直接箭头连接符 166"/>
            <p:cNvCxnSpPr/>
            <p:nvPr/>
          </p:nvCxnSpPr>
          <p:spPr>
            <a:xfrm flipV="1">
              <a:off x="3039429" y="1844484"/>
              <a:ext cx="179045" cy="9887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9" name="直接箭头连接符 168"/>
            <p:cNvCxnSpPr/>
            <p:nvPr/>
          </p:nvCxnSpPr>
          <p:spPr>
            <a:xfrm flipH="1" flipV="1">
              <a:off x="5078788" y="1862922"/>
              <a:ext cx="186144" cy="10249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1" name="直接箭头连接符 170"/>
            <p:cNvCxnSpPr/>
            <p:nvPr/>
          </p:nvCxnSpPr>
          <p:spPr>
            <a:xfrm flipV="1">
              <a:off x="4909018" y="2617688"/>
              <a:ext cx="202049" cy="8329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2" name="直接箭头连接符 171"/>
            <p:cNvCxnSpPr/>
            <p:nvPr/>
          </p:nvCxnSpPr>
          <p:spPr>
            <a:xfrm flipH="1" flipV="1">
              <a:off x="3219614" y="2607983"/>
              <a:ext cx="205944" cy="8996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193" name="任意多边形 192"/>
            <p:cNvSpPr/>
            <p:nvPr/>
          </p:nvSpPr>
          <p:spPr>
            <a:xfrm>
              <a:off x="3385758" y="1618819"/>
              <a:ext cx="1469785" cy="94945"/>
            </a:xfrm>
            <a:custGeom>
              <a:avLst/>
              <a:gdLst>
                <a:gd name="connsiteX0" fmla="*/ 0 w 1727200"/>
                <a:gd name="connsiteY0" fmla="*/ 123185 h 123185"/>
                <a:gd name="connsiteX1" fmla="*/ 369454 w 1727200"/>
                <a:gd name="connsiteY1" fmla="*/ 40057 h 123185"/>
                <a:gd name="connsiteX2" fmla="*/ 683491 w 1727200"/>
                <a:gd name="connsiteY2" fmla="*/ 3112 h 123185"/>
                <a:gd name="connsiteX3" fmla="*/ 942109 w 1727200"/>
                <a:gd name="connsiteY3" fmla="*/ 3112 h 123185"/>
                <a:gd name="connsiteX4" fmla="*/ 1191491 w 1727200"/>
                <a:gd name="connsiteY4" fmla="*/ 12348 h 123185"/>
                <a:gd name="connsiteX5" fmla="*/ 1514763 w 1727200"/>
                <a:gd name="connsiteY5" fmla="*/ 30821 h 123185"/>
                <a:gd name="connsiteX6" fmla="*/ 1727200 w 1727200"/>
                <a:gd name="connsiteY6" fmla="*/ 86239 h 12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27200" h="123185">
                  <a:moveTo>
                    <a:pt x="0" y="123185"/>
                  </a:moveTo>
                  <a:cubicBezTo>
                    <a:pt x="127769" y="91627"/>
                    <a:pt x="255539" y="60069"/>
                    <a:pt x="369454" y="40057"/>
                  </a:cubicBezTo>
                  <a:cubicBezTo>
                    <a:pt x="483369" y="20045"/>
                    <a:pt x="588049" y="9269"/>
                    <a:pt x="683491" y="3112"/>
                  </a:cubicBezTo>
                  <a:cubicBezTo>
                    <a:pt x="778934" y="-3046"/>
                    <a:pt x="857442" y="1573"/>
                    <a:pt x="942109" y="3112"/>
                  </a:cubicBezTo>
                  <a:cubicBezTo>
                    <a:pt x="1026776" y="4651"/>
                    <a:pt x="1191491" y="12348"/>
                    <a:pt x="1191491" y="12348"/>
                  </a:cubicBezTo>
                  <a:cubicBezTo>
                    <a:pt x="1286933" y="16966"/>
                    <a:pt x="1425478" y="18506"/>
                    <a:pt x="1514763" y="30821"/>
                  </a:cubicBezTo>
                  <a:cubicBezTo>
                    <a:pt x="1604048" y="43136"/>
                    <a:pt x="1665624" y="64687"/>
                    <a:pt x="1727200" y="86239"/>
                  </a:cubicBezTo>
                </a:path>
              </a:pathLst>
            </a:custGeom>
            <a:ln w="19050">
              <a:solidFill>
                <a:srgbClr val="0000FF"/>
              </a:solidFill>
              <a:prstDash val="sysDot"/>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600"/>
            </a:p>
          </p:txBody>
        </p:sp>
        <p:cxnSp>
          <p:nvCxnSpPr>
            <p:cNvPr id="194" name="直接箭头连接符 193"/>
            <p:cNvCxnSpPr/>
            <p:nvPr/>
          </p:nvCxnSpPr>
          <p:spPr>
            <a:xfrm flipH="1">
              <a:off x="3661833" y="2284406"/>
              <a:ext cx="844924" cy="0"/>
            </a:xfrm>
            <a:prstGeom prst="straightConnector1">
              <a:avLst/>
            </a:prstGeom>
            <a:ln w="38100">
              <a:solidFill>
                <a:srgbClr val="000066"/>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9" name="Line 154"/>
            <p:cNvSpPr>
              <a:spLocks noChangeShapeType="1"/>
            </p:cNvSpPr>
            <p:nvPr/>
          </p:nvSpPr>
          <p:spPr bwMode="auto">
            <a:xfrm flipV="1">
              <a:off x="2682671" y="2206984"/>
              <a:ext cx="2864649"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0" name="Group 206"/>
            <p:cNvGrpSpPr>
              <a:grpSpLocks/>
            </p:cNvGrpSpPr>
            <p:nvPr/>
          </p:nvGrpSpPr>
          <p:grpSpPr bwMode="auto">
            <a:xfrm>
              <a:off x="1771322" y="1934014"/>
              <a:ext cx="1107971" cy="508496"/>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0" name="Group 216"/>
              <p:cNvGrpSpPr>
                <a:grpSpLocks/>
              </p:cNvGrpSpPr>
              <p:nvPr/>
            </p:nvGrpSpPr>
            <p:grpSpPr bwMode="auto">
              <a:xfrm>
                <a:off x="912" y="768"/>
                <a:ext cx="2386" cy="1553"/>
                <a:chOff x="912" y="768"/>
                <a:chExt cx="2386" cy="1553"/>
              </a:xfrm>
              <a:grpFill/>
            </p:grpSpPr>
            <p:sp>
              <p:nvSpPr>
                <p:cNvPr id="3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60" name="Group 206"/>
            <p:cNvGrpSpPr>
              <a:grpSpLocks/>
            </p:cNvGrpSpPr>
            <p:nvPr/>
          </p:nvGrpSpPr>
          <p:grpSpPr bwMode="auto">
            <a:xfrm>
              <a:off x="5287550" y="1934014"/>
              <a:ext cx="1235703" cy="54714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6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70" name="Group 216"/>
              <p:cNvGrpSpPr>
                <a:grpSpLocks/>
              </p:cNvGrpSpPr>
              <p:nvPr/>
            </p:nvGrpSpPr>
            <p:grpSpPr bwMode="auto">
              <a:xfrm>
                <a:off x="912" y="768"/>
                <a:ext cx="2386" cy="1553"/>
                <a:chOff x="912" y="768"/>
                <a:chExt cx="2386" cy="1553"/>
              </a:xfrm>
              <a:grpFill/>
            </p:grpSpPr>
            <p:sp>
              <p:nvSpPr>
                <p:cNvPr id="7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1" name="Text Box 174"/>
            <p:cNvSpPr txBox="1">
              <a:spLocks noChangeArrowheads="1"/>
            </p:cNvSpPr>
            <p:nvPr/>
          </p:nvSpPr>
          <p:spPr bwMode="auto">
            <a:xfrm>
              <a:off x="5742507"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3</a:t>
              </a:r>
            </a:p>
          </p:txBody>
        </p:sp>
        <p:sp>
          <p:nvSpPr>
            <p:cNvPr id="82" name="Text Box 175"/>
            <p:cNvSpPr txBox="1">
              <a:spLocks noChangeArrowheads="1"/>
            </p:cNvSpPr>
            <p:nvPr/>
          </p:nvSpPr>
          <p:spPr bwMode="auto">
            <a:xfrm>
              <a:off x="2097111"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2</a:t>
              </a:r>
            </a:p>
          </p:txBody>
        </p:sp>
      </p:grpSp>
    </p:spTree>
    <p:extLst>
      <p:ext uri="{BB962C8B-B14F-4D97-AF65-F5344CB8AC3E}">
        <p14:creationId xmlns:p14="http://schemas.microsoft.com/office/powerpoint/2010/main" val="28789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C09EE14-8E0A-DE6D-8F4F-074498AD3996}"/>
              </a:ext>
            </a:extLst>
          </p:cNvPr>
          <p:cNvSpPr>
            <a:spLocks noGrp="1"/>
          </p:cNvSpPr>
          <p:nvPr>
            <p:ph type="title"/>
          </p:nvPr>
        </p:nvSpPr>
        <p:spPr>
          <a:xfrm>
            <a:off x="486000" y="550723"/>
            <a:ext cx="8172000" cy="338554"/>
          </a:xfrm>
        </p:spPr>
        <p:txBody>
          <a:bodyPr/>
          <a:lstStyle/>
          <a:p>
            <a:r>
              <a:rPr lang="en-US" altLang="zh-CN" dirty="0"/>
              <a:t>BGP </a:t>
            </a:r>
            <a:r>
              <a:rPr lang="zh-CN" altLang="en-US" dirty="0"/>
              <a:t>路由如何避免兜圈子？</a:t>
            </a:r>
          </a:p>
        </p:txBody>
      </p:sp>
      <p:sp>
        <p:nvSpPr>
          <p:cNvPr id="6" name="内容占位符 5">
            <a:extLst>
              <a:ext uri="{FF2B5EF4-FFF2-40B4-BE49-F238E27FC236}">
                <a16:creationId xmlns:a16="http://schemas.microsoft.com/office/drawing/2014/main" id="{0B663AC2-E8AD-3772-4308-BC36D205FCF9}"/>
              </a:ext>
            </a:extLst>
          </p:cNvPr>
          <p:cNvSpPr>
            <a:spLocks noGrp="1"/>
          </p:cNvSpPr>
          <p:nvPr>
            <p:ph sz="quarter" idx="11"/>
          </p:nvPr>
        </p:nvSpPr>
        <p:spPr>
          <a:xfrm>
            <a:off x="486000" y="900000"/>
            <a:ext cx="8172000" cy="3703500"/>
          </a:xfrm>
        </p:spPr>
        <p:txBody>
          <a:bodyPr/>
          <a:lstStyle/>
          <a:p>
            <a:r>
              <a:rPr lang="en-US" altLang="zh-CN" dirty="0"/>
              <a:t>AS3 </a:t>
            </a:r>
            <a:r>
              <a:rPr lang="zh-CN" altLang="en-US" dirty="0"/>
              <a:t>检查收到的 </a:t>
            </a:r>
            <a:r>
              <a:rPr lang="en-US" altLang="zh-CN" dirty="0"/>
              <a:t>BGP </a:t>
            </a:r>
            <a:r>
              <a:rPr lang="zh-CN" altLang="en-US" dirty="0"/>
              <a:t>路由的 </a:t>
            </a:r>
            <a:r>
              <a:rPr lang="en-US" altLang="zh-CN" dirty="0"/>
              <a:t>AS-PATH </a:t>
            </a:r>
            <a:r>
              <a:rPr lang="zh-CN" altLang="en-US" dirty="0"/>
              <a:t>中已经有了自己，立即删除掉这条路由，从而避免兜圈子路由的出现</a:t>
            </a:r>
            <a:endParaRPr lang="en-US" altLang="zh-CN" dirty="0"/>
          </a:p>
          <a:p>
            <a:endParaRPr lang="zh-CN" altLang="en-US" dirty="0"/>
          </a:p>
        </p:txBody>
      </p:sp>
      <p:grpSp>
        <p:nvGrpSpPr>
          <p:cNvPr id="68" name="组合 67"/>
          <p:cNvGrpSpPr/>
          <p:nvPr/>
        </p:nvGrpSpPr>
        <p:grpSpPr>
          <a:xfrm>
            <a:off x="2829539" y="1677230"/>
            <a:ext cx="3789242" cy="2378424"/>
            <a:chOff x="1772261" y="1277177"/>
            <a:chExt cx="3789242" cy="2378424"/>
          </a:xfrm>
        </p:grpSpPr>
        <p:sp>
          <p:nvSpPr>
            <p:cNvPr id="9" name="Line 22"/>
            <p:cNvSpPr>
              <a:spLocks noChangeShapeType="1"/>
            </p:cNvSpPr>
            <p:nvPr/>
          </p:nvSpPr>
          <p:spPr bwMode="auto">
            <a:xfrm flipV="1">
              <a:off x="2014741" y="2515534"/>
              <a:ext cx="3342358" cy="0"/>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23"/>
            <p:cNvSpPr>
              <a:spLocks noChangeShapeType="1"/>
            </p:cNvSpPr>
            <p:nvPr/>
          </p:nvSpPr>
          <p:spPr bwMode="auto">
            <a:xfrm flipH="1" flipV="1">
              <a:off x="3500590" y="1447411"/>
              <a:ext cx="1671782" cy="931893"/>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24"/>
            <p:cNvSpPr>
              <a:spLocks noChangeShapeType="1"/>
            </p:cNvSpPr>
            <p:nvPr/>
          </p:nvSpPr>
          <p:spPr bwMode="auto">
            <a:xfrm flipV="1">
              <a:off x="2087426" y="1476735"/>
              <a:ext cx="1413164" cy="925152"/>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26"/>
            <p:cNvSpPr>
              <a:spLocks noChangeShapeType="1"/>
            </p:cNvSpPr>
            <p:nvPr/>
          </p:nvSpPr>
          <p:spPr bwMode="auto">
            <a:xfrm flipH="1">
              <a:off x="5292444" y="2505478"/>
              <a:ext cx="0" cy="994675"/>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Oval 28"/>
            <p:cNvSpPr>
              <a:spLocks noChangeArrowheads="1"/>
            </p:cNvSpPr>
            <p:nvPr/>
          </p:nvSpPr>
          <p:spPr bwMode="auto">
            <a:xfrm>
              <a:off x="3294877" y="1277177"/>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a:latin typeface="微软雅黑" pitchFamily="34" charset="-122"/>
                  <a:ea typeface="微软雅黑" pitchFamily="34" charset="-122"/>
                </a:rPr>
                <a:t>AS</a:t>
              </a:r>
              <a:r>
                <a:rPr kumimoji="1" lang="en-US" altLang="zh-CN" sz="1400" b="1" baseline="-25000">
                  <a:latin typeface="微软雅黑" pitchFamily="34" charset="-122"/>
                  <a:ea typeface="微软雅黑" pitchFamily="34" charset="-122"/>
                </a:rPr>
                <a:t>1</a:t>
              </a:r>
            </a:p>
          </p:txBody>
        </p:sp>
        <p:sp>
          <p:nvSpPr>
            <p:cNvPr id="16" name="Oval 29"/>
            <p:cNvSpPr>
              <a:spLocks noChangeArrowheads="1"/>
            </p:cNvSpPr>
            <p:nvPr/>
          </p:nvSpPr>
          <p:spPr bwMode="auto">
            <a:xfrm>
              <a:off x="5020612" y="2243495"/>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3</a:t>
              </a:r>
            </a:p>
          </p:txBody>
        </p:sp>
        <p:sp>
          <p:nvSpPr>
            <p:cNvPr id="17" name="Oval 30"/>
            <p:cNvSpPr>
              <a:spLocks noChangeArrowheads="1"/>
            </p:cNvSpPr>
            <p:nvPr/>
          </p:nvSpPr>
          <p:spPr bwMode="auto">
            <a:xfrm>
              <a:off x="1772261" y="2243496"/>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2</a:t>
              </a:r>
            </a:p>
          </p:txBody>
        </p:sp>
        <p:sp>
          <p:nvSpPr>
            <p:cNvPr id="19" name="Oval 32"/>
            <p:cNvSpPr>
              <a:spLocks noChangeArrowheads="1"/>
            </p:cNvSpPr>
            <p:nvPr/>
          </p:nvSpPr>
          <p:spPr bwMode="auto">
            <a:xfrm>
              <a:off x="5031462" y="3072172"/>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6</a:t>
              </a:r>
            </a:p>
          </p:txBody>
        </p:sp>
        <p:grpSp>
          <p:nvGrpSpPr>
            <p:cNvPr id="52" name="组合 51"/>
            <p:cNvGrpSpPr/>
            <p:nvPr/>
          </p:nvGrpSpPr>
          <p:grpSpPr>
            <a:xfrm>
              <a:off x="4722965" y="3347824"/>
              <a:ext cx="504825" cy="307777"/>
              <a:chOff x="5609648" y="3394004"/>
              <a:chExt cx="504825" cy="307777"/>
            </a:xfrm>
          </p:grpSpPr>
          <p:grpSp>
            <p:nvGrpSpPr>
              <p:cNvPr id="23" name="组合 22"/>
              <p:cNvGrpSpPr/>
              <p:nvPr/>
            </p:nvGrpSpPr>
            <p:grpSpPr>
              <a:xfrm>
                <a:off x="5609648" y="3395474"/>
                <a:ext cx="504825" cy="286663"/>
                <a:chOff x="8075758" y="2677682"/>
                <a:chExt cx="504825" cy="360363"/>
              </a:xfrm>
            </p:grpSpPr>
            <p:sp>
              <p:nvSpPr>
                <p:cNvPr id="25"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grpSp>
              <p:nvGrpSpPr>
                <p:cNvPr id="35" name="Group 257"/>
                <p:cNvGrpSpPr>
                  <a:grpSpLocks/>
                </p:cNvGrpSpPr>
                <p:nvPr/>
              </p:nvGrpSpPr>
              <p:grpSpPr bwMode="auto">
                <a:xfrm>
                  <a:off x="8076929" y="2678904"/>
                  <a:ext cx="501311" cy="355477"/>
                  <a:chOff x="3063" y="302"/>
                  <a:chExt cx="856" cy="582"/>
                </a:xfrm>
                <a:solidFill>
                  <a:schemeClr val="bg1"/>
                </a:solidFill>
              </p:grpSpPr>
              <p:sp>
                <p:nvSpPr>
                  <p:cNvPr id="3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grpSp>
          </p:grpSp>
          <p:sp>
            <p:nvSpPr>
              <p:cNvPr id="24" name="Text Box 173"/>
              <p:cNvSpPr txBox="1">
                <a:spLocks noChangeArrowheads="1"/>
              </p:cNvSpPr>
              <p:nvPr/>
            </p:nvSpPr>
            <p:spPr bwMode="auto">
              <a:xfrm>
                <a:off x="5723276" y="3394004"/>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grpSp>
      <p:grpSp>
        <p:nvGrpSpPr>
          <p:cNvPr id="63" name="组合 62"/>
          <p:cNvGrpSpPr/>
          <p:nvPr/>
        </p:nvGrpSpPr>
        <p:grpSpPr>
          <a:xfrm>
            <a:off x="5277024" y="1931414"/>
            <a:ext cx="1628215" cy="536724"/>
            <a:chOff x="5106429" y="1577541"/>
            <a:chExt cx="1628215" cy="536724"/>
          </a:xfrm>
        </p:grpSpPr>
        <p:cxnSp>
          <p:nvCxnSpPr>
            <p:cNvPr id="53" name="直接箭头连接符 52"/>
            <p:cNvCxnSpPr/>
            <p:nvPr/>
          </p:nvCxnSpPr>
          <p:spPr>
            <a:xfrm flipH="1" flipV="1">
              <a:off x="5106429" y="1746809"/>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5333298" y="1577541"/>
              <a:ext cx="1401346" cy="372025"/>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4" name="组合 63"/>
          <p:cNvGrpSpPr/>
          <p:nvPr/>
        </p:nvGrpSpPr>
        <p:grpSpPr>
          <a:xfrm>
            <a:off x="2036538" y="1934092"/>
            <a:ext cx="2031647" cy="541863"/>
            <a:chOff x="1921359" y="1534039"/>
            <a:chExt cx="2031647" cy="541863"/>
          </a:xfrm>
        </p:grpSpPr>
        <p:cxnSp>
          <p:nvCxnSpPr>
            <p:cNvPr id="58" name="直接箭头连接符 57"/>
            <p:cNvCxnSpPr/>
            <p:nvPr/>
          </p:nvCxnSpPr>
          <p:spPr>
            <a:xfrm flipH="1">
              <a:off x="3346753" y="1708446"/>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9" name="矩形 58"/>
            <p:cNvSpPr/>
            <p:nvPr/>
          </p:nvSpPr>
          <p:spPr>
            <a:xfrm>
              <a:off x="1921359" y="1534039"/>
              <a:ext cx="1824538"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5" name="组合 64"/>
          <p:cNvGrpSpPr/>
          <p:nvPr/>
        </p:nvGrpSpPr>
        <p:grpSpPr>
          <a:xfrm>
            <a:off x="3550725" y="3004956"/>
            <a:ext cx="2247731" cy="400110"/>
            <a:chOff x="3333950" y="2651083"/>
            <a:chExt cx="2247731" cy="400110"/>
          </a:xfrm>
        </p:grpSpPr>
        <p:cxnSp>
          <p:nvCxnSpPr>
            <p:cNvPr id="60" name="直接箭头连接符 59"/>
            <p:cNvCxnSpPr/>
            <p:nvPr/>
          </p:nvCxnSpPr>
          <p:spPr>
            <a:xfrm flipV="1">
              <a:off x="3838224" y="2670542"/>
              <a:ext cx="1085411" cy="274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2" name="矩形 61"/>
            <p:cNvSpPr/>
            <p:nvPr/>
          </p:nvSpPr>
          <p:spPr>
            <a:xfrm>
              <a:off x="3333950" y="2651083"/>
              <a:ext cx="2247731"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2</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sp>
        <p:nvSpPr>
          <p:cNvPr id="67" name="矩形 66"/>
          <p:cNvSpPr/>
          <p:nvPr/>
        </p:nvSpPr>
        <p:spPr>
          <a:xfrm>
            <a:off x="2155313" y="4431150"/>
            <a:ext cx="4833374"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zh-CN" altLang="en-US" sz="1400" dirty="0">
                <a:solidFill>
                  <a:schemeClr val="tx1"/>
                </a:solidFill>
                <a:latin typeface="Montserrat" panose="00000500000000000000" pitchFamily="2" charset="0"/>
                <a:ea typeface="微软雅黑 Light" panose="020B0502040204020203" pitchFamily="34" charset="-122"/>
              </a:rPr>
              <a:t>请记住：在属性 </a:t>
            </a:r>
            <a:r>
              <a:rPr kumimoji="1" lang="en-US" altLang="zh-CN" sz="1400" dirty="0">
                <a:solidFill>
                  <a:schemeClr val="tx1"/>
                </a:solidFill>
                <a:latin typeface="Montserrat" panose="00000500000000000000" pitchFamily="2" charset="0"/>
                <a:ea typeface="微软雅黑 Light" panose="020B0502040204020203" pitchFamily="34" charset="-122"/>
              </a:rPr>
              <a:t>AS-PATH </a:t>
            </a:r>
            <a:r>
              <a:rPr kumimoji="1" lang="zh-CN" altLang="en-US" sz="1400" dirty="0">
                <a:solidFill>
                  <a:schemeClr val="tx1"/>
                </a:solidFill>
                <a:latin typeface="Montserrat" panose="00000500000000000000" pitchFamily="2" charset="0"/>
                <a:ea typeface="微软雅黑 Light" panose="020B0502040204020203" pitchFamily="34" charset="-122"/>
              </a:rPr>
              <a:t>中，不允许出现相同的 </a:t>
            </a:r>
            <a:r>
              <a:rPr kumimoji="1" lang="en-US" altLang="zh-CN" sz="1400" dirty="0">
                <a:solidFill>
                  <a:schemeClr val="tx1"/>
                </a:solidFill>
                <a:latin typeface="Montserrat" panose="00000500000000000000" pitchFamily="2" charset="0"/>
                <a:ea typeface="微软雅黑 Light" panose="020B0502040204020203" pitchFamily="34" charset="-122"/>
              </a:rPr>
              <a:t>AS </a:t>
            </a:r>
            <a:r>
              <a:rPr kumimoji="1" lang="zh-CN" altLang="en-US" sz="1400" dirty="0">
                <a:solidFill>
                  <a:schemeClr val="tx1"/>
                </a:solidFill>
                <a:latin typeface="Montserrat" panose="00000500000000000000" pitchFamily="2" charset="0"/>
                <a:ea typeface="微软雅黑 Light" panose="020B0502040204020203" pitchFamily="34" charset="-122"/>
              </a:rPr>
              <a:t>号</a:t>
            </a:r>
          </a:p>
        </p:txBody>
      </p:sp>
    </p:spTree>
    <p:extLst>
      <p:ext uri="{BB962C8B-B14F-4D97-AF65-F5344CB8AC3E}">
        <p14:creationId xmlns:p14="http://schemas.microsoft.com/office/powerpoint/2010/main" val="39741410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63"/>
                                        </p:tgtEl>
                                        <p:attrNameLst>
                                          <p:attrName>style.visibility</p:attrName>
                                        </p:attrNameLst>
                                      </p:cBhvr>
                                      <p:to>
                                        <p:strVal val="visible"/>
                                      </p:to>
                                    </p:set>
                                    <p:animEffect transition="in" filter="wipe(down)">
                                      <p:cBhvr>
                                        <p:cTn id="7" dur="1000"/>
                                        <p:tgtEl>
                                          <p:spTgt spid="6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2" fill="hold" nodeType="clickEffect">
                                  <p:stCondLst>
                                    <p:cond delay="0"/>
                                  </p:stCondLst>
                                  <p:childTnLst>
                                    <p:set>
                                      <p:cBhvr>
                                        <p:cTn id="11" dur="1" fill="hold">
                                          <p:stCondLst>
                                            <p:cond delay="0"/>
                                          </p:stCondLst>
                                        </p:cTn>
                                        <p:tgtEl>
                                          <p:spTgt spid="64"/>
                                        </p:tgtEl>
                                        <p:attrNameLst>
                                          <p:attrName>style.visibility</p:attrName>
                                        </p:attrNameLst>
                                      </p:cBhvr>
                                      <p:to>
                                        <p:strVal val="visible"/>
                                      </p:to>
                                    </p:set>
                                    <p:animEffect transition="in" filter="wipe(right)">
                                      <p:cBhvr>
                                        <p:cTn id="12" dur="1000"/>
                                        <p:tgtEl>
                                          <p:spTgt spid="6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wipe(up)">
                                      <p:cBhvr>
                                        <p:cTn id="17" dur="1000"/>
                                        <p:tgtEl>
                                          <p:spTgt spid="6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7"/>
                                        </p:tgtEl>
                                        <p:attrNameLst>
                                          <p:attrName>style.visibility</p:attrName>
                                        </p:attrNameLst>
                                      </p:cBhvr>
                                      <p:to>
                                        <p:strVal val="visible"/>
                                      </p:to>
                                    </p:set>
                                    <p:animEffect transition="in" filter="fade">
                                      <p:cBhvr>
                                        <p:cTn id="22" dur="10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animBg="1"/>
    </p:bldLst>
  </p:timing>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3909366172"/>
              </p:ext>
            </p:extLst>
          </p:nvPr>
        </p:nvGraphicFramePr>
        <p:xfrm>
          <a:off x="1228436" y="1145306"/>
          <a:ext cx="6862618" cy="32696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标题 4">
            <a:extLst>
              <a:ext uri="{FF2B5EF4-FFF2-40B4-BE49-F238E27FC236}">
                <a16:creationId xmlns:a16="http://schemas.microsoft.com/office/drawing/2014/main" id="{5E216312-D15A-180C-C417-C5E7CD047CA5}"/>
              </a:ext>
            </a:extLst>
          </p:cNvPr>
          <p:cNvSpPr>
            <a:spLocks noGrp="1"/>
          </p:cNvSpPr>
          <p:nvPr>
            <p:ph type="title"/>
          </p:nvPr>
        </p:nvSpPr>
        <p:spPr>
          <a:xfrm>
            <a:off x="486000" y="550723"/>
            <a:ext cx="8172000" cy="338554"/>
          </a:xfrm>
        </p:spPr>
        <p:txBody>
          <a:bodyPr/>
          <a:lstStyle/>
          <a:p>
            <a:r>
              <a:rPr lang="en-US" altLang="zh-CN" dirty="0"/>
              <a:t>4. BGP </a:t>
            </a:r>
            <a:r>
              <a:rPr lang="zh-CN" altLang="en-US" dirty="0"/>
              <a:t>的路由选择</a:t>
            </a:r>
          </a:p>
        </p:txBody>
      </p:sp>
    </p:spTree>
    <p:extLst>
      <p:ext uri="{BB962C8B-B14F-4D97-AF65-F5344CB8AC3E}">
        <p14:creationId xmlns:p14="http://schemas.microsoft.com/office/powerpoint/2010/main" val="4001469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2670678" y="4116301"/>
            <a:ext cx="3802644"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R1d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401" name="Text Box 173"/>
          <p:cNvSpPr txBox="1">
            <a:spLocks noChangeArrowheads="1"/>
          </p:cNvSpPr>
          <p:nvPr/>
        </p:nvSpPr>
        <p:spPr bwMode="auto">
          <a:xfrm>
            <a:off x="877725" y="3014631"/>
            <a:ext cx="35058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4</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100 , IP</a:t>
            </a:r>
            <a:r>
              <a:rPr lang="en-US" altLang="zh-CN" sz="1400" baseline="-25000" dirty="0">
                <a:solidFill>
                  <a:srgbClr val="C00000"/>
                </a:solidFill>
                <a:latin typeface="Montserrat" panose="00000500000000000000" pitchFamily="2" charset="0"/>
                <a:ea typeface="微软雅黑" panose="020B0503020204020204" pitchFamily="34" charset="-122"/>
              </a:rPr>
              <a:t>4a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402" name="Text Box 173"/>
          <p:cNvSpPr txBox="1">
            <a:spLocks noChangeArrowheads="1"/>
          </p:cNvSpPr>
          <p:nvPr/>
        </p:nvSpPr>
        <p:spPr bwMode="auto">
          <a:xfrm>
            <a:off x="877725" y="1126614"/>
            <a:ext cx="386035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2</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3</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200, IP</a:t>
            </a:r>
            <a:r>
              <a:rPr lang="en-US" altLang="zh-CN" sz="1400" baseline="-25000" dirty="0">
                <a:solidFill>
                  <a:srgbClr val="C00000"/>
                </a:solidFill>
                <a:latin typeface="Montserrat" panose="00000500000000000000" pitchFamily="2" charset="0"/>
                <a:ea typeface="微软雅黑" panose="020B0503020204020204" pitchFamily="34" charset="-122"/>
              </a:rPr>
              <a:t>2a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770FD601-2E13-CC4C-A114-E13C4CFB90FB}"/>
              </a:ext>
            </a:extLst>
          </p:cNvPr>
          <p:cNvSpPr>
            <a:spLocks noGrp="1"/>
          </p:cNvSpPr>
          <p:nvPr>
            <p:ph type="title"/>
          </p:nvPr>
        </p:nvSpPr>
        <p:spPr>
          <a:xfrm>
            <a:off x="486000" y="550723"/>
            <a:ext cx="8172000" cy="338554"/>
          </a:xfrm>
        </p:spPr>
        <p:txBody>
          <a:bodyPr/>
          <a:lstStyle/>
          <a:p>
            <a:r>
              <a:rPr lang="zh-CN" altLang="en-US" dirty="0"/>
              <a:t>本地偏好 </a:t>
            </a:r>
            <a:r>
              <a:rPr lang="en-US" altLang="zh-CN" dirty="0"/>
              <a:t>(local preference) </a:t>
            </a:r>
            <a:r>
              <a:rPr lang="zh-CN" altLang="en-US" dirty="0"/>
              <a:t>值最高</a:t>
            </a:r>
          </a:p>
        </p:txBody>
      </p:sp>
    </p:spTree>
    <p:extLst>
      <p:ext uri="{BB962C8B-B14F-4D97-AF65-F5344CB8AC3E}">
        <p14:creationId xmlns:p14="http://schemas.microsoft.com/office/powerpoint/2010/main" val="2851117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47388D-02D2-6E47-45D5-56373E427207}"/>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588285C2-7691-89DE-F1B4-C0E38C14B4BA}"/>
              </a:ext>
            </a:extLst>
          </p:cNvPr>
          <p:cNvSpPr>
            <a:spLocks noChangeShapeType="1"/>
          </p:cNvSpPr>
          <p:nvPr/>
        </p:nvSpPr>
        <p:spPr bwMode="auto">
          <a:xfrm flipV="1">
            <a:off x="580318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9AFA72E7-3E22-A886-0DE7-7C9F5191A491}"/>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375F1D99-E55B-AB20-C3C7-6BFA318A54AD}"/>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9D81CDCF-987E-2E1C-496E-9EA56C37353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D0D4B835-F1D7-32EA-55AF-3F60C04A6B3E}"/>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542C5840-74D4-DF03-E5F5-3A252135B307}"/>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8DAA8EE4-6C1E-4F50-7B54-9882FB4D7DFF}"/>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F16BAA78-0EC9-43E3-6202-311B31756C4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04F4E1A3-A0A9-4BA5-69B8-585347381D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2459B40B-9F30-1D21-40F2-111552E61585}"/>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4F8101C2-F1A5-099C-64F2-4404A04DF16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337EF59F-85A3-59EC-A00E-4B55C1F45AA4}"/>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0D5AFBB9-D8C9-8CBE-A6A5-5CDE5C70EA73}"/>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5445AE41-969D-9AE7-E4CC-4AC148EBE47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71111759-7A45-97A6-93FD-A9764742621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F1FC4FE9-77DE-DE9A-CDA2-A6C7CE11A0CF}"/>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F5B2F522-22BB-5C73-59C7-99AE53ADA33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A9AA67CF-8F63-9C27-4BC8-80971AB99287}"/>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8BE953DA-7F6A-AABB-FD6C-2A955C95D939}"/>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3D9F0D6B-F651-5F62-A62B-A00C119B109F}"/>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D2B3C98F-2660-8BD2-2819-F6737B55BAF3}"/>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A66C04C2-ED6E-E249-3071-63EA78B7E949}"/>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8A832793-3E09-DA1E-C757-6BCD4C603863}"/>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F89BB258-0921-4FEE-951C-FE09E7B618D0}"/>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D46BA665-C169-6B04-A133-B3CE92F3421C}"/>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020B7C20-AA49-1C7B-E00E-E1A232F42970}"/>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7C59FEBC-4343-B59D-9032-7217D4023C1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1AB0E536-543C-2EC6-34E2-E8E04AA9078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2633A7F5-1C54-5B3C-B5A4-A7CF7FF54E95}"/>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F29B73F8-CB06-1D75-4E7F-FA70F264094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156E35B6-2AB8-96AA-9341-83E7D1322398}"/>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64BF7403-6E51-E70F-A3A7-7C13E89973F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E25B7698-4073-65BB-F0C8-326CF0CA33DF}"/>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C9837D68-FEC6-2E6B-3320-6E760D20BE2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5F3B7DAF-CBBD-0B51-96E6-3F11B017587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63F7E124-EFD3-1205-6CA3-77A64ABD769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DC6D5266-584F-64E4-D562-DDCB87878813}"/>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09C1AE12-C7BE-FA1E-D2D8-B740A6966AC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35F309A9-0645-1083-2B72-6C3CDAFEE26C}"/>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E2055C40-CD30-7F13-8DAF-05356757FAF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5A52A325-1481-102B-621F-3DC154A4674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4DD40094-4F41-990F-03F4-BC05CBD78AD0}"/>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62" name="Text Box 174">
            <a:extLst>
              <a:ext uri="{FF2B5EF4-FFF2-40B4-BE49-F238E27FC236}">
                <a16:creationId xmlns:a16="http://schemas.microsoft.com/office/drawing/2014/main" id="{FFC70637-3B9D-35C1-4B09-3187459D6925}"/>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sp>
        <p:nvSpPr>
          <p:cNvPr id="263" name="Text Box 175">
            <a:extLst>
              <a:ext uri="{FF2B5EF4-FFF2-40B4-BE49-F238E27FC236}">
                <a16:creationId xmlns:a16="http://schemas.microsoft.com/office/drawing/2014/main" id="{85D2FCF6-51A7-C6EA-00A2-153E0BA8BAD6}"/>
              </a:ext>
            </a:extLst>
          </p:cNvPr>
          <p:cNvSpPr txBox="1">
            <a:spLocks noChangeArrowheads="1"/>
          </p:cNvSpPr>
          <p:nvPr/>
        </p:nvSpPr>
        <p:spPr bwMode="auto">
          <a:xfrm>
            <a:off x="5001744" y="1541227"/>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387" name="Line 155">
            <a:extLst>
              <a:ext uri="{FF2B5EF4-FFF2-40B4-BE49-F238E27FC236}">
                <a16:creationId xmlns:a16="http://schemas.microsoft.com/office/drawing/2014/main" id="{4101E173-5014-1F16-1472-73F0880AC952}"/>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1739D8B2-8F03-FC84-939D-81C206BB211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225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4D8AC693-035D-EA17-FC14-243FB525BCB7}"/>
              </a:ext>
            </a:extLst>
          </p:cNvPr>
          <p:cNvGrpSpPr>
            <a:grpSpLocks/>
          </p:cNvGrpSpPr>
          <p:nvPr/>
        </p:nvGrpSpPr>
        <p:grpSpPr bwMode="auto">
          <a:xfrm>
            <a:off x="4653602" y="2551068"/>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A6DE387E-B419-7B86-7757-FB34D21BCBEC}"/>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326B2443-C006-52C2-93A0-407D31397ECD}"/>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6C7D2BAE-C0B3-EB64-9EB4-6D660484924D}"/>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9B767317-EB13-AB04-84E1-E7DBB62DB43B}"/>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BAF66359-2331-A11C-AF87-4D934BE4E851}"/>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44B1F431-6560-AB5F-39C7-95CBD88FCC4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856B73AA-2629-30F8-B7DA-DF511B8D1476}"/>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7C5FC47C-978D-3A89-D98E-FBDC59886D2C}"/>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E283CB81-FDDD-7B42-F9A9-07D31F08990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E08B6015-2C11-EC4C-517B-EF95BCCEEE28}"/>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D9237FD4-4603-B2AA-CE2C-00B738ADC211}"/>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1559CB33-9CD8-89B4-FD0F-65DA32F04D2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DC5CD113-8132-C263-B32C-4B8F38243B12}"/>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83230A13-32BA-9AA2-A8EA-F9FCBF8CA9A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CDFD72CA-8C17-00A7-95E9-5CAE0D7FE435}"/>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C628D044-1D08-F943-EA15-059ACB973BB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F2B2DFA2-7DEC-0873-6E24-67C009624A3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DE3A5278-8D52-FD9B-3EE8-DE1BE4A1BA9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2AB466AD-11D3-8D9D-DAC7-B4BFBA44B05A}"/>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D9D9CB82-A1C2-0E6F-3385-51D8F1E24FEE}"/>
              </a:ext>
            </a:extLst>
          </p:cNvPr>
          <p:cNvSpPr txBox="1">
            <a:spLocks noChangeArrowheads="1"/>
          </p:cNvSpPr>
          <p:nvPr/>
        </p:nvSpPr>
        <p:spPr bwMode="auto">
          <a:xfrm>
            <a:off x="5122904" y="2691373"/>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401" name="Text Box 173">
            <a:extLst>
              <a:ext uri="{FF2B5EF4-FFF2-40B4-BE49-F238E27FC236}">
                <a16:creationId xmlns:a16="http://schemas.microsoft.com/office/drawing/2014/main" id="{357E0560-BCC7-D5F2-46DE-344849F6A98B}"/>
              </a:ext>
            </a:extLst>
          </p:cNvPr>
          <p:cNvSpPr txBox="1">
            <a:spLocks noChangeArrowheads="1"/>
          </p:cNvSpPr>
          <p:nvPr/>
        </p:nvSpPr>
        <p:spPr bwMode="auto">
          <a:xfrm>
            <a:off x="1321709" y="3683318"/>
            <a:ext cx="30524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AS3, R5, LOCAL-PREF = 200 ]</a:t>
            </a:r>
          </a:p>
        </p:txBody>
      </p:sp>
      <p:sp>
        <p:nvSpPr>
          <p:cNvPr id="402" name="Text Box 173">
            <a:extLst>
              <a:ext uri="{FF2B5EF4-FFF2-40B4-BE49-F238E27FC236}">
                <a16:creationId xmlns:a16="http://schemas.microsoft.com/office/drawing/2014/main" id="{62811A8B-B067-2699-BA01-10845A4F735B}"/>
              </a:ext>
            </a:extLst>
          </p:cNvPr>
          <p:cNvSpPr txBox="1">
            <a:spLocks noChangeArrowheads="1"/>
          </p:cNvSpPr>
          <p:nvPr/>
        </p:nvSpPr>
        <p:spPr bwMode="auto">
          <a:xfrm>
            <a:off x="1321709" y="512687"/>
            <a:ext cx="300595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R3, LOCAL-PREF = 300]</a:t>
            </a:r>
          </a:p>
        </p:txBody>
      </p:sp>
      <p:sp>
        <p:nvSpPr>
          <p:cNvPr id="2" name="任意多边形: 形状 1">
            <a:extLst>
              <a:ext uri="{FF2B5EF4-FFF2-40B4-BE49-F238E27FC236}">
                <a16:creationId xmlns:a16="http://schemas.microsoft.com/office/drawing/2014/main" id="{1FCB6922-2D97-4C2C-B216-B5B40CA918C1}"/>
              </a:ext>
            </a:extLst>
          </p:cNvPr>
          <p:cNvSpPr>
            <a:spLocks noChangeArrowheads="1"/>
          </p:cNvSpPr>
          <p:nvPr/>
        </p:nvSpPr>
        <p:spPr bwMode="auto">
          <a:xfrm>
            <a:off x="1321709" y="1300066"/>
            <a:ext cx="1937125" cy="18160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dirty="0">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5FA11AC0-3DEC-34C5-C6B1-C483A44581F4}"/>
              </a:ext>
            </a:extLst>
          </p:cNvPr>
          <p:cNvSpPr txBox="1">
            <a:spLocks noChangeArrowheads="1"/>
          </p:cNvSpPr>
          <p:nvPr/>
        </p:nvSpPr>
        <p:spPr bwMode="auto">
          <a:xfrm>
            <a:off x="1988974" y="215192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5C8BE4E7-FE0E-0B65-5FA5-324EF0852B58}"/>
              </a:ext>
            </a:extLst>
          </p:cNvPr>
          <p:cNvSpPr>
            <a:spLocks noChangeShapeType="1"/>
          </p:cNvSpPr>
          <p:nvPr/>
        </p:nvSpPr>
        <p:spPr bwMode="auto">
          <a:xfrm>
            <a:off x="3201624" y="2820184"/>
            <a:ext cx="1456672" cy="3044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524C92D9-E9A3-0857-35C3-006DBA1BB18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41624"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96608BC8-139A-DB2A-F5FA-3188658FE8D5}"/>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3" name="Picture 52">
            <a:extLst>
              <a:ext uri="{FF2B5EF4-FFF2-40B4-BE49-F238E27FC236}">
                <a16:creationId xmlns:a16="http://schemas.microsoft.com/office/drawing/2014/main" id="{09ABCB11-C20A-437F-296F-51D8D63CEFBA}"/>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76573" y="2724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D99DF86E-8D18-ED06-E2FE-511D4E2A560A}"/>
              </a:ext>
            </a:extLst>
          </p:cNvPr>
          <p:cNvSpPr txBox="1">
            <a:spLocks noChangeArrowheads="1"/>
          </p:cNvSpPr>
          <p:nvPr/>
        </p:nvSpPr>
        <p:spPr bwMode="auto">
          <a:xfrm>
            <a:off x="2524170" y="261929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7" name="Text Box 173">
            <a:extLst>
              <a:ext uri="{FF2B5EF4-FFF2-40B4-BE49-F238E27FC236}">
                <a16:creationId xmlns:a16="http://schemas.microsoft.com/office/drawing/2014/main" id="{663F9F01-76DF-2A12-A532-B3B4423CFA1B}"/>
              </a:ext>
            </a:extLst>
          </p:cNvPr>
          <p:cNvSpPr txBox="1">
            <a:spLocks noChangeArrowheads="1"/>
          </p:cNvSpPr>
          <p:nvPr/>
        </p:nvSpPr>
        <p:spPr bwMode="auto">
          <a:xfrm>
            <a:off x="2524170" y="159066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8" name="Text Box 173">
            <a:extLst>
              <a:ext uri="{FF2B5EF4-FFF2-40B4-BE49-F238E27FC236}">
                <a16:creationId xmlns:a16="http://schemas.microsoft.com/office/drawing/2014/main" id="{9D7B125A-280E-C6D4-644B-C720E06D3FC2}"/>
              </a:ext>
            </a:extLst>
          </p:cNvPr>
          <p:cNvSpPr txBox="1">
            <a:spLocks noChangeArrowheads="1"/>
          </p:cNvSpPr>
          <p:nvPr/>
        </p:nvSpPr>
        <p:spPr bwMode="auto">
          <a:xfrm>
            <a:off x="3187805" y="2920427"/>
            <a:ext cx="102143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low speed</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9" name="Text Box 173">
            <a:extLst>
              <a:ext uri="{FF2B5EF4-FFF2-40B4-BE49-F238E27FC236}">
                <a16:creationId xmlns:a16="http://schemas.microsoft.com/office/drawing/2014/main" id="{7E76D7F0-3963-5110-EB29-DE1A379E81FF}"/>
              </a:ext>
            </a:extLst>
          </p:cNvPr>
          <p:cNvSpPr txBox="1">
            <a:spLocks noChangeArrowheads="1"/>
          </p:cNvSpPr>
          <p:nvPr/>
        </p:nvSpPr>
        <p:spPr bwMode="auto">
          <a:xfrm>
            <a:off x="3196914" y="1474081"/>
            <a:ext cx="1114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high speed</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4" name="Text Box 173">
            <a:extLst>
              <a:ext uri="{FF2B5EF4-FFF2-40B4-BE49-F238E27FC236}">
                <a16:creationId xmlns:a16="http://schemas.microsoft.com/office/drawing/2014/main" id="{204558CD-4BFB-E527-756E-E84511A1FDDD}"/>
              </a:ext>
            </a:extLst>
          </p:cNvPr>
          <p:cNvSpPr txBox="1">
            <a:spLocks noChangeArrowheads="1"/>
          </p:cNvSpPr>
          <p:nvPr/>
        </p:nvSpPr>
        <p:spPr bwMode="auto">
          <a:xfrm>
            <a:off x="6235186" y="184531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R7</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0" name="Picture 46">
            <a:extLst>
              <a:ext uri="{FF2B5EF4-FFF2-40B4-BE49-F238E27FC236}">
                <a16:creationId xmlns:a16="http://schemas.microsoft.com/office/drawing/2014/main" id="{0D62C29E-4BD1-90D5-861E-D4C768D3E66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2188" y="158992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1" name="Text Box 173">
            <a:extLst>
              <a:ext uri="{FF2B5EF4-FFF2-40B4-BE49-F238E27FC236}">
                <a16:creationId xmlns:a16="http://schemas.microsoft.com/office/drawing/2014/main" id="{AFFF1725-EB22-68F2-20F1-61CA908DCA6B}"/>
              </a:ext>
            </a:extLst>
          </p:cNvPr>
          <p:cNvSpPr txBox="1">
            <a:spLocks noChangeArrowheads="1"/>
          </p:cNvSpPr>
          <p:nvPr/>
        </p:nvSpPr>
        <p:spPr bwMode="auto">
          <a:xfrm>
            <a:off x="4605119" y="133362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2" name="Picture 46">
            <a:extLst>
              <a:ext uri="{FF2B5EF4-FFF2-40B4-BE49-F238E27FC236}">
                <a16:creationId xmlns:a16="http://schemas.microsoft.com/office/drawing/2014/main" id="{B8675846-F7CA-6B1F-DB9A-6C36C35B5CDA}"/>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598566" y="270634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3" name="Text Box 173">
            <a:extLst>
              <a:ext uri="{FF2B5EF4-FFF2-40B4-BE49-F238E27FC236}">
                <a16:creationId xmlns:a16="http://schemas.microsoft.com/office/drawing/2014/main" id="{51C26441-62D2-DE4F-D42D-F5C252554944}"/>
              </a:ext>
            </a:extLst>
          </p:cNvPr>
          <p:cNvSpPr txBox="1">
            <a:spLocks noChangeArrowheads="1"/>
          </p:cNvSpPr>
          <p:nvPr/>
        </p:nvSpPr>
        <p:spPr bwMode="auto">
          <a:xfrm>
            <a:off x="4571497" y="245004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4" name="Picture 46">
            <a:extLst>
              <a:ext uri="{FF2B5EF4-FFF2-40B4-BE49-F238E27FC236}">
                <a16:creationId xmlns:a16="http://schemas.microsoft.com/office/drawing/2014/main" id="{3FE90344-B914-E18E-63AE-8DEC73FAC7C1}"/>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52903" y="258031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5" name="Text Box 173">
            <a:extLst>
              <a:ext uri="{FF2B5EF4-FFF2-40B4-BE49-F238E27FC236}">
                <a16:creationId xmlns:a16="http://schemas.microsoft.com/office/drawing/2014/main" id="{D7084750-5815-3F9F-EE04-629A8609EB23}"/>
              </a:ext>
            </a:extLst>
          </p:cNvPr>
          <p:cNvSpPr txBox="1">
            <a:spLocks noChangeArrowheads="1"/>
          </p:cNvSpPr>
          <p:nvPr/>
        </p:nvSpPr>
        <p:spPr bwMode="auto">
          <a:xfrm>
            <a:off x="5625834" y="232401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R6</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6" name="Picture 46">
            <a:extLst>
              <a:ext uri="{FF2B5EF4-FFF2-40B4-BE49-F238E27FC236}">
                <a16:creationId xmlns:a16="http://schemas.microsoft.com/office/drawing/2014/main" id="{C76F9532-0B6B-722C-FF1C-B8EAAE1EB8F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59314" y="171022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7" name="Text Box 173">
            <a:extLst>
              <a:ext uri="{FF2B5EF4-FFF2-40B4-BE49-F238E27FC236}">
                <a16:creationId xmlns:a16="http://schemas.microsoft.com/office/drawing/2014/main" id="{BCB98C01-94CC-E172-96E3-4E98AC599CED}"/>
              </a:ext>
            </a:extLst>
          </p:cNvPr>
          <p:cNvSpPr txBox="1">
            <a:spLocks noChangeArrowheads="1"/>
          </p:cNvSpPr>
          <p:nvPr/>
        </p:nvSpPr>
        <p:spPr bwMode="auto">
          <a:xfrm>
            <a:off x="5532245" y="145393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846449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 name="Text Box 173"/>
          <p:cNvSpPr txBox="1">
            <a:spLocks noChangeArrowheads="1"/>
          </p:cNvSpPr>
          <p:nvPr/>
        </p:nvSpPr>
        <p:spPr bwMode="auto">
          <a:xfrm>
            <a:off x="882387" y="2968451"/>
            <a:ext cx="317106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AS-PATH, LOCAL-PREF = 100 ]</a:t>
            </a:r>
          </a:p>
        </p:txBody>
      </p:sp>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2369314" y="3762028"/>
            <a:ext cx="4405372"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R1c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a:p>
            <a:r>
              <a:rPr lang="zh-CN" altLang="en-US" dirty="0"/>
              <a:t>但事实上，分组在 </a:t>
            </a:r>
            <a:r>
              <a:rPr lang="en-US" altLang="zh-CN" dirty="0"/>
              <a:t>AS4 </a:t>
            </a:r>
            <a:r>
              <a:rPr lang="zh-CN" altLang="en-US" dirty="0"/>
              <a:t>中反而要经过更多次数的转发</a:t>
            </a:r>
            <a:endParaRPr lang="en-US" altLang="zh-CN" dirty="0"/>
          </a:p>
          <a:p>
            <a:r>
              <a:rPr lang="zh-CN" altLang="en-US" dirty="0"/>
              <a:t>说明协议 </a:t>
            </a:r>
            <a:r>
              <a:rPr lang="en-US" altLang="zh-CN" dirty="0"/>
              <a:t>BGP </a:t>
            </a:r>
            <a:r>
              <a:rPr lang="zh-CN" altLang="en-US" dirty="0"/>
              <a:t>不存在真正的最佳路由选择</a:t>
            </a:r>
            <a:endParaRPr lang="en-US" altLang="zh-CN" dirty="0"/>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389" name="Text Box 173"/>
          <p:cNvSpPr txBox="1">
            <a:spLocks noChangeArrowheads="1"/>
          </p:cNvSpPr>
          <p:nvPr/>
        </p:nvSpPr>
        <p:spPr bwMode="auto">
          <a:xfrm>
            <a:off x="877725" y="1126614"/>
            <a:ext cx="317106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AS-PATH, LOCAL-PREF = 100 ]</a:t>
            </a:r>
          </a:p>
        </p:txBody>
      </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14979" y="2637020"/>
            <a:ext cx="185549" cy="331431"/>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2" name="标题 1">
            <a:extLst>
              <a:ext uri="{FF2B5EF4-FFF2-40B4-BE49-F238E27FC236}">
                <a16:creationId xmlns:a16="http://schemas.microsoft.com/office/drawing/2014/main" id="{1207A25C-E9D0-D701-B2BF-447EEBD40A5F}"/>
              </a:ext>
            </a:extLst>
          </p:cNvPr>
          <p:cNvSpPr>
            <a:spLocks noGrp="1"/>
          </p:cNvSpPr>
          <p:nvPr>
            <p:ph type="title"/>
          </p:nvPr>
        </p:nvSpPr>
        <p:spPr>
          <a:xfrm>
            <a:off x="486000" y="550723"/>
            <a:ext cx="8172000" cy="338554"/>
          </a:xfrm>
        </p:spPr>
        <p:txBody>
          <a:bodyPr/>
          <a:lstStyle/>
          <a:p>
            <a:r>
              <a:rPr lang="en-US" altLang="zh-CN" dirty="0"/>
              <a:t>AS </a:t>
            </a:r>
            <a:r>
              <a:rPr lang="zh-CN" altLang="en-US" dirty="0"/>
              <a:t>跳数最小</a:t>
            </a:r>
          </a:p>
        </p:txBody>
      </p:sp>
      <p:sp>
        <p:nvSpPr>
          <p:cNvPr id="3" name="文本框 2">
            <a:extLst>
              <a:ext uri="{FF2B5EF4-FFF2-40B4-BE49-F238E27FC236}">
                <a16:creationId xmlns:a16="http://schemas.microsoft.com/office/drawing/2014/main" id="{C8667C06-CC7E-CC3E-E7B7-9A657F2811EB}"/>
              </a:ext>
            </a:extLst>
          </p:cNvPr>
          <p:cNvSpPr txBox="1"/>
          <p:nvPr/>
        </p:nvSpPr>
        <p:spPr>
          <a:xfrm>
            <a:off x="7829550" y="3276228"/>
            <a:ext cx="304892" cy="369332"/>
          </a:xfrm>
          <a:prstGeom prst="rect">
            <a:avLst/>
          </a:prstGeom>
          <a:noFill/>
        </p:spPr>
        <p:txBody>
          <a:bodyPr wrap="none" rtlCol="0">
            <a:spAutoFit/>
          </a:bodyPr>
          <a:lstStyle/>
          <a:p>
            <a:r>
              <a:rPr lang="en-US" altLang="zh-CN" dirty="0"/>
              <a:t>X</a:t>
            </a:r>
            <a:endParaRPr lang="zh-CN" altLang="en-US" dirty="0"/>
          </a:p>
        </p:txBody>
      </p:sp>
    </p:spTree>
    <p:extLst>
      <p:ext uri="{BB962C8B-B14F-4D97-AF65-F5344CB8AC3E}">
        <p14:creationId xmlns:p14="http://schemas.microsoft.com/office/powerpoint/2010/main" val="24501872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2369314" y="3682454"/>
            <a:ext cx="4405372"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R1c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a:p>
            <a:r>
              <a:rPr lang="zh-CN" altLang="en-US" dirty="0"/>
              <a:t>但事实上，分组在 </a:t>
            </a:r>
            <a:r>
              <a:rPr lang="en-US" altLang="zh-CN" dirty="0"/>
              <a:t>AS4 </a:t>
            </a:r>
            <a:r>
              <a:rPr lang="zh-CN" altLang="en-US" dirty="0"/>
              <a:t>中反而要经过更多次数的转发</a:t>
            </a:r>
            <a:endParaRPr lang="en-US" altLang="zh-CN" dirty="0"/>
          </a:p>
          <a:p>
            <a:r>
              <a:rPr lang="zh-CN" altLang="en-US" dirty="0"/>
              <a:t>说明协议 </a:t>
            </a:r>
            <a:r>
              <a:rPr lang="en-US" altLang="zh-CN" dirty="0"/>
              <a:t>BGP </a:t>
            </a:r>
            <a:r>
              <a:rPr lang="zh-CN" altLang="en-US" dirty="0"/>
              <a:t>不存在真正的最佳路由选择</a:t>
            </a:r>
            <a:endParaRPr lang="en-US" altLang="zh-CN" dirty="0"/>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6"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492"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2" name="Group 216"/>
            <p:cNvGrpSpPr>
              <a:grpSpLocks/>
            </p:cNvGrpSpPr>
            <p:nvPr/>
          </p:nvGrpSpPr>
          <p:grpSpPr bwMode="auto">
            <a:xfrm>
              <a:off x="912" y="768"/>
              <a:ext cx="2386" cy="1553"/>
              <a:chOff x="912" y="768"/>
              <a:chExt cx="2386" cy="1553"/>
            </a:xfrm>
            <a:grpFill/>
          </p:grpSpPr>
          <p:sp>
            <p:nvSpPr>
              <p:cNvPr id="5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512"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513" name="Text Box 173"/>
          <p:cNvSpPr txBox="1">
            <a:spLocks noChangeArrowheads="1"/>
          </p:cNvSpPr>
          <p:nvPr/>
        </p:nvSpPr>
        <p:spPr bwMode="auto">
          <a:xfrm>
            <a:off x="877725" y="3014631"/>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514" name="Text Box 173"/>
          <p:cNvSpPr txBox="1">
            <a:spLocks noChangeArrowheads="1"/>
          </p:cNvSpPr>
          <p:nvPr/>
        </p:nvSpPr>
        <p:spPr bwMode="auto">
          <a:xfrm>
            <a:off x="877725" y="1126614"/>
            <a:ext cx="403411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AS5 , LOCAL-PREF = 100, IP2a ]</a:t>
            </a:r>
          </a:p>
        </p:txBody>
      </p:sp>
      <p:sp>
        <p:nvSpPr>
          <p:cNvPr id="2" name="标题 1">
            <a:extLst>
              <a:ext uri="{FF2B5EF4-FFF2-40B4-BE49-F238E27FC236}">
                <a16:creationId xmlns:a16="http://schemas.microsoft.com/office/drawing/2014/main" id="{32583D21-68B1-94E9-23EB-9C8FF2E00C77}"/>
              </a:ext>
            </a:extLst>
          </p:cNvPr>
          <p:cNvSpPr>
            <a:spLocks noGrp="1"/>
          </p:cNvSpPr>
          <p:nvPr>
            <p:ph type="title"/>
          </p:nvPr>
        </p:nvSpPr>
        <p:spPr>
          <a:xfrm>
            <a:off x="486000" y="550723"/>
            <a:ext cx="8172000" cy="338554"/>
          </a:xfrm>
        </p:spPr>
        <p:txBody>
          <a:bodyPr/>
          <a:lstStyle/>
          <a:p>
            <a:r>
              <a:rPr lang="en-US" altLang="zh-CN" dirty="0"/>
              <a:t>AS </a:t>
            </a:r>
            <a:r>
              <a:rPr lang="zh-CN" altLang="en-US" dirty="0"/>
              <a:t>跳数最小</a:t>
            </a:r>
          </a:p>
        </p:txBody>
      </p:sp>
    </p:spTree>
    <p:extLst>
      <p:ext uri="{BB962C8B-B14F-4D97-AF65-F5344CB8AC3E}">
        <p14:creationId xmlns:p14="http://schemas.microsoft.com/office/powerpoint/2010/main" val="39880558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8E562-5CDC-5D1A-B71C-3AAA9995436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C7BAF33F-4144-7F70-429F-2D1818E12D9C}"/>
              </a:ext>
            </a:extLst>
          </p:cNvPr>
          <p:cNvSpPr>
            <a:spLocks noChangeShapeType="1"/>
          </p:cNvSpPr>
          <p:nvPr/>
        </p:nvSpPr>
        <p:spPr bwMode="auto">
          <a:xfrm flipV="1">
            <a:off x="580318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70BB8B13-C355-038C-9F3B-F3E4C3302AE7}"/>
              </a:ext>
            </a:extLst>
          </p:cNvPr>
          <p:cNvSpPr>
            <a:spLocks noChangeShapeType="1"/>
          </p:cNvSpPr>
          <p:nvPr/>
        </p:nvSpPr>
        <p:spPr bwMode="auto">
          <a:xfrm>
            <a:off x="3952711" y="1669599"/>
            <a:ext cx="1100449" cy="35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92773C05-B6F3-230C-5C68-6D4397A452AF}"/>
              </a:ext>
            </a:extLst>
          </p:cNvPr>
          <p:cNvGrpSpPr>
            <a:grpSpLocks/>
          </p:cNvGrpSpPr>
          <p:nvPr/>
        </p:nvGrpSpPr>
        <p:grpSpPr bwMode="auto">
          <a:xfrm>
            <a:off x="2983987"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71E8ADF7-A595-7600-B1DE-9C105F1EA038}"/>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A6466785-5CD8-BA93-1617-F4A6D9D7304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7FAF7D59-420F-7CD7-C1A3-0709CEE83848}"/>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DF5B212F-7DA2-9324-7557-58B46AFFDA06}"/>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86FB5970-FD1E-A060-D0FD-7CFB3A0B1154}"/>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6FF19455-219B-BF9C-C920-97074F18495A}"/>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C57F31D6-B558-A080-E2A6-C9B077A6BA9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DD4B6527-A2C8-8BEC-B0D8-F20873633AE7}"/>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5FCF571D-A84D-9AF0-E511-BBFD02272FA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18EC02E6-4A96-5229-AEA2-B5D8F193C1D6}"/>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95C6A5A8-CEA1-5AE4-49D9-8FFE0F5F57FF}"/>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742B1C38-5083-1F8E-B66D-672CAFF3104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E9577A07-8C94-5A8B-F22B-8892E7B2D90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A834B11F-90E6-3D85-725A-AB0A99F97056}"/>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dirty="0">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48C11AAF-071E-B98B-340D-91FD7C2BA40B}"/>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62E73EE2-1255-DFAC-6620-4C65602043ED}"/>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E9456E2A-5E5B-DA4D-B2EB-9C97C0E3B4B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4A60D51E-3410-D318-E02F-00F556668B92}"/>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0D86A336-9077-975F-3271-6275DF15C382}"/>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568D59A9-A874-735E-2767-F68F89F84D4F}"/>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080C02B9-285A-D8C0-8D63-115E1B80B11F}"/>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E2FAEC07-AE63-DA78-69CF-6E220C17BA8A}"/>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288DB8EB-C885-CF9F-EADA-425CCF7AC5E5}"/>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F41BA155-94E3-6A12-D746-1DDC2DE70F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B407FBA9-087C-254F-CF26-9DE23A1143F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EDF84AC6-DD03-D8C8-227E-BC964F98E0F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DC567F66-7666-A159-E90B-15E99C68CF9F}"/>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E434AD7F-60AA-8622-B132-ED0CB84A8BA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81F25DCD-6844-AC98-432E-D3B40A1CC52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8CECC4B3-30A9-BB1A-2E53-CD34B226B3AB}"/>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3894B156-21AC-FFA6-AB47-EEA326FA2CE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298F289B-36D9-3319-8141-043545B30E5B}"/>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30172F7E-CC09-956D-BA91-AFD8ECFA52A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2A29891B-D219-3A35-1098-CD8CF66D3C1A}"/>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DCA0E9FD-0542-5897-B39D-69E5E62AA38D}"/>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AA1B8D05-D420-21DB-36A8-855D99634920}"/>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79F9F59F-7F08-B16B-10C3-C069D3BAF853}"/>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48013D22-B916-1FAC-190A-3573C9A9017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7EB19CA4-3A00-16E1-9AAE-7D76772B887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a:extLst>
              <a:ext uri="{FF2B5EF4-FFF2-40B4-BE49-F238E27FC236}">
                <a16:creationId xmlns:a16="http://schemas.microsoft.com/office/drawing/2014/main" id="{76FBFF4B-02DE-6CC1-C9B9-1C185A9C8400}"/>
              </a:ext>
            </a:extLst>
          </p:cNvPr>
          <p:cNvSpPr>
            <a:spLocks noChangeShapeType="1"/>
          </p:cNvSpPr>
          <p:nvPr/>
        </p:nvSpPr>
        <p:spPr bwMode="auto">
          <a:xfrm flipV="1">
            <a:off x="2465347" y="1758876"/>
            <a:ext cx="537655" cy="30777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2" name="Text Box 174">
            <a:extLst>
              <a:ext uri="{FF2B5EF4-FFF2-40B4-BE49-F238E27FC236}">
                <a16:creationId xmlns:a16="http://schemas.microsoft.com/office/drawing/2014/main" id="{3ABE11A1-B038-B68C-6E94-C389E868B676}"/>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5</a:t>
            </a:r>
          </a:p>
        </p:txBody>
      </p:sp>
      <p:sp>
        <p:nvSpPr>
          <p:cNvPr id="263" name="Text Box 175">
            <a:extLst>
              <a:ext uri="{FF2B5EF4-FFF2-40B4-BE49-F238E27FC236}">
                <a16:creationId xmlns:a16="http://schemas.microsoft.com/office/drawing/2014/main" id="{B5291AB7-CB76-2D3D-0588-CA9940CFF078}"/>
              </a:ext>
            </a:extLst>
          </p:cNvPr>
          <p:cNvSpPr txBox="1">
            <a:spLocks noChangeArrowheads="1"/>
          </p:cNvSpPr>
          <p:nvPr/>
        </p:nvSpPr>
        <p:spPr bwMode="auto">
          <a:xfrm>
            <a:off x="3332129" y="15229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grpSp>
        <p:nvGrpSpPr>
          <p:cNvPr id="332" name="Group 206">
            <a:extLst>
              <a:ext uri="{FF2B5EF4-FFF2-40B4-BE49-F238E27FC236}">
                <a16:creationId xmlns:a16="http://schemas.microsoft.com/office/drawing/2014/main" id="{01411C18-DEBE-9471-BA57-E5D7E2725F32}"/>
              </a:ext>
            </a:extLst>
          </p:cNvPr>
          <p:cNvGrpSpPr>
            <a:grpSpLocks/>
          </p:cNvGrpSpPr>
          <p:nvPr/>
        </p:nvGrpSpPr>
        <p:grpSpPr bwMode="auto">
          <a:xfrm>
            <a:off x="2912774" y="2117278"/>
            <a:ext cx="2951162" cy="935037"/>
            <a:chOff x="912" y="768"/>
            <a:chExt cx="2400" cy="1584"/>
          </a:xfrm>
          <a:solidFill>
            <a:schemeClr val="bg2"/>
          </a:solidFill>
          <a:effectLst>
            <a:outerShdw blurRad="50800" dist="38100" dir="2700000" algn="tl" rotWithShape="0">
              <a:prstClr val="black">
                <a:alpha val="40000"/>
              </a:prstClr>
            </a:outerShdw>
          </a:effectLst>
        </p:grpSpPr>
        <p:sp>
          <p:nvSpPr>
            <p:cNvPr id="333" name="Oval 207">
              <a:extLst>
                <a:ext uri="{FF2B5EF4-FFF2-40B4-BE49-F238E27FC236}">
                  <a16:creationId xmlns:a16="http://schemas.microsoft.com/office/drawing/2014/main" id="{F7C9EB07-F800-296A-8515-E7DA1C239085}"/>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a:extLst>
                <a:ext uri="{FF2B5EF4-FFF2-40B4-BE49-F238E27FC236}">
                  <a16:creationId xmlns:a16="http://schemas.microsoft.com/office/drawing/2014/main" id="{C929320C-8ECA-4F85-B5E7-1146AB8951C3}"/>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a:extLst>
                <a:ext uri="{FF2B5EF4-FFF2-40B4-BE49-F238E27FC236}">
                  <a16:creationId xmlns:a16="http://schemas.microsoft.com/office/drawing/2014/main" id="{B671A2A6-78C3-8D6A-3D10-F6F1089EC336}"/>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a:extLst>
                <a:ext uri="{FF2B5EF4-FFF2-40B4-BE49-F238E27FC236}">
                  <a16:creationId xmlns:a16="http://schemas.microsoft.com/office/drawing/2014/main" id="{33764A9C-9705-4883-6193-0AC1B9DDB1B0}"/>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a:extLst>
                <a:ext uri="{FF2B5EF4-FFF2-40B4-BE49-F238E27FC236}">
                  <a16:creationId xmlns:a16="http://schemas.microsoft.com/office/drawing/2014/main" id="{B19370FC-8F39-B7C5-5793-DE94EDB7AB0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a:extLst>
                <a:ext uri="{FF2B5EF4-FFF2-40B4-BE49-F238E27FC236}">
                  <a16:creationId xmlns:a16="http://schemas.microsoft.com/office/drawing/2014/main" id="{2B9D2C3D-843F-E7F7-0F42-6472E3AB276F}"/>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a:extLst>
                <a:ext uri="{FF2B5EF4-FFF2-40B4-BE49-F238E27FC236}">
                  <a16:creationId xmlns:a16="http://schemas.microsoft.com/office/drawing/2014/main" id="{C6C90B9F-7C1A-BC83-FC7C-F799AC5E450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a:extLst>
                <a:ext uri="{FF2B5EF4-FFF2-40B4-BE49-F238E27FC236}">
                  <a16:creationId xmlns:a16="http://schemas.microsoft.com/office/drawing/2014/main" id="{04EF7848-8063-A434-784E-C51090E7FD7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a:extLst>
                <a:ext uri="{FF2B5EF4-FFF2-40B4-BE49-F238E27FC236}">
                  <a16:creationId xmlns:a16="http://schemas.microsoft.com/office/drawing/2014/main" id="{236154F8-E622-406E-25CF-797D54E19183}"/>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a:extLst>
                <a:ext uri="{FF2B5EF4-FFF2-40B4-BE49-F238E27FC236}">
                  <a16:creationId xmlns:a16="http://schemas.microsoft.com/office/drawing/2014/main" id="{9D045B59-D61F-6C92-712D-633964B2E40D}"/>
                </a:ext>
              </a:extLst>
            </p:cNvPr>
            <p:cNvGrpSpPr>
              <a:grpSpLocks/>
            </p:cNvGrpSpPr>
            <p:nvPr/>
          </p:nvGrpSpPr>
          <p:grpSpPr bwMode="auto">
            <a:xfrm>
              <a:off x="912" y="768"/>
              <a:ext cx="2386" cy="1553"/>
              <a:chOff x="912" y="768"/>
              <a:chExt cx="2386" cy="1553"/>
            </a:xfrm>
            <a:grpFill/>
          </p:grpSpPr>
          <p:sp>
            <p:nvSpPr>
              <p:cNvPr id="343" name="Oval 217">
                <a:extLst>
                  <a:ext uri="{FF2B5EF4-FFF2-40B4-BE49-F238E27FC236}">
                    <a16:creationId xmlns:a16="http://schemas.microsoft.com/office/drawing/2014/main" id="{F58D92AF-315C-F1E0-3B07-AAEC30F9F3F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a:extLst>
                  <a:ext uri="{FF2B5EF4-FFF2-40B4-BE49-F238E27FC236}">
                    <a16:creationId xmlns:a16="http://schemas.microsoft.com/office/drawing/2014/main" id="{76CD80C8-1663-B1D6-C612-FE0E29C11C5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a:extLst>
                  <a:ext uri="{FF2B5EF4-FFF2-40B4-BE49-F238E27FC236}">
                    <a16:creationId xmlns:a16="http://schemas.microsoft.com/office/drawing/2014/main" id="{B3541248-5D35-85D8-0067-611C055BC55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a:extLst>
                  <a:ext uri="{FF2B5EF4-FFF2-40B4-BE49-F238E27FC236}">
                    <a16:creationId xmlns:a16="http://schemas.microsoft.com/office/drawing/2014/main" id="{D915899D-FB3A-B071-A2A7-13ACF72D08DE}"/>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a:extLst>
                  <a:ext uri="{FF2B5EF4-FFF2-40B4-BE49-F238E27FC236}">
                    <a16:creationId xmlns:a16="http://schemas.microsoft.com/office/drawing/2014/main" id="{7D9E64F2-3A64-10DE-C54E-DE9DA039FAF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a:extLst>
                  <a:ext uri="{FF2B5EF4-FFF2-40B4-BE49-F238E27FC236}">
                    <a16:creationId xmlns:a16="http://schemas.microsoft.com/office/drawing/2014/main" id="{6F21F29F-CFB5-AE60-D5F7-DD3BB061676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a:extLst>
                  <a:ext uri="{FF2B5EF4-FFF2-40B4-BE49-F238E27FC236}">
                    <a16:creationId xmlns:a16="http://schemas.microsoft.com/office/drawing/2014/main" id="{44060C3C-942E-0155-C1E1-6C2C9C6B6C3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a:extLst>
                  <a:ext uri="{FF2B5EF4-FFF2-40B4-BE49-F238E27FC236}">
                    <a16:creationId xmlns:a16="http://schemas.microsoft.com/office/drawing/2014/main" id="{44C9F9D9-AC1E-343B-9CD4-4C1343735E7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a:extLst>
                  <a:ext uri="{FF2B5EF4-FFF2-40B4-BE49-F238E27FC236}">
                    <a16:creationId xmlns:a16="http://schemas.microsoft.com/office/drawing/2014/main" id="{948C8DFC-D81C-58CE-DA6F-68A447AA35A1}"/>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a:extLst>
              <a:ext uri="{FF2B5EF4-FFF2-40B4-BE49-F238E27FC236}">
                <a16:creationId xmlns:a16="http://schemas.microsoft.com/office/drawing/2014/main" id="{325F63FC-CB11-83FE-CF93-ECD5DFFA0AA6}"/>
              </a:ext>
            </a:extLst>
          </p:cNvPr>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a:extLst>
              <a:ext uri="{FF2B5EF4-FFF2-40B4-BE49-F238E27FC236}">
                <a16:creationId xmlns:a16="http://schemas.microsoft.com/office/drawing/2014/main" id="{0C10A878-C502-05E8-C1AB-907F1EEAAAA8}"/>
              </a:ext>
            </a:extLst>
          </p:cNvPr>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a:extLst>
              <a:ext uri="{FF2B5EF4-FFF2-40B4-BE49-F238E27FC236}">
                <a16:creationId xmlns:a16="http://schemas.microsoft.com/office/drawing/2014/main" id="{F35C38F3-4477-9535-085B-6FDF7E010E93}"/>
              </a:ext>
            </a:extLst>
          </p:cNvPr>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a:extLst>
              <a:ext uri="{FF2B5EF4-FFF2-40B4-BE49-F238E27FC236}">
                <a16:creationId xmlns:a16="http://schemas.microsoft.com/office/drawing/2014/main" id="{D3F78A02-A150-4AE8-71A0-75468EF148CB}"/>
              </a:ext>
            </a:extLst>
          </p:cNvPr>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a:extLst>
              <a:ext uri="{FF2B5EF4-FFF2-40B4-BE49-F238E27FC236}">
                <a16:creationId xmlns:a16="http://schemas.microsoft.com/office/drawing/2014/main" id="{CDFCD593-3B1F-ADCF-4DD7-C6F702F9D152}"/>
              </a:ext>
            </a:extLst>
          </p:cNvPr>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a:extLst>
              <a:ext uri="{FF2B5EF4-FFF2-40B4-BE49-F238E27FC236}">
                <a16:creationId xmlns:a16="http://schemas.microsoft.com/office/drawing/2014/main" id="{2B44C9B6-8F29-6BCD-AFCE-F603D6E63288}"/>
              </a:ext>
            </a:extLst>
          </p:cNvPr>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a:extLst>
              <a:ext uri="{FF2B5EF4-FFF2-40B4-BE49-F238E27FC236}">
                <a16:creationId xmlns:a16="http://schemas.microsoft.com/office/drawing/2014/main" id="{DFAAE722-D047-E3F1-20A5-3DFE28250F31}"/>
              </a:ext>
            </a:extLst>
          </p:cNvPr>
          <p:cNvSpPr txBox="1">
            <a:spLocks noChangeArrowheads="1"/>
          </p:cNvSpPr>
          <p:nvPr/>
        </p:nvSpPr>
        <p:spPr bwMode="auto">
          <a:xfrm>
            <a:off x="4330641" y="2769365"/>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pic>
        <p:nvPicPr>
          <p:cNvPr id="360" name="Picture 46">
            <a:extLst>
              <a:ext uri="{FF2B5EF4-FFF2-40B4-BE49-F238E27FC236}">
                <a16:creationId xmlns:a16="http://schemas.microsoft.com/office/drawing/2014/main" id="{08E3AC5D-8851-73EC-28D6-2070DCE0DA9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a:extLst>
              <a:ext uri="{FF2B5EF4-FFF2-40B4-BE49-F238E27FC236}">
                <a16:creationId xmlns:a16="http://schemas.microsoft.com/office/drawing/2014/main" id="{53705126-7420-9221-04D0-90B577B1607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a:extLst>
              <a:ext uri="{FF2B5EF4-FFF2-40B4-BE49-F238E27FC236}">
                <a16:creationId xmlns:a16="http://schemas.microsoft.com/office/drawing/2014/main" id="{7DDC0483-D717-2DA3-941A-7226542355D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5" y="226015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a:extLst>
              <a:ext uri="{FF2B5EF4-FFF2-40B4-BE49-F238E27FC236}">
                <a16:creationId xmlns:a16="http://schemas.microsoft.com/office/drawing/2014/main" id="{972FE1FC-EB74-1C36-83D0-551B24A3E1A8}"/>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a:extLst>
              <a:ext uri="{FF2B5EF4-FFF2-40B4-BE49-F238E27FC236}">
                <a16:creationId xmlns:a16="http://schemas.microsoft.com/office/drawing/2014/main" id="{80871C5E-3D1D-ABEF-F644-C2C7257C9F4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5" y="262051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a:extLst>
              <a:ext uri="{FF2B5EF4-FFF2-40B4-BE49-F238E27FC236}">
                <a16:creationId xmlns:a16="http://schemas.microsoft.com/office/drawing/2014/main" id="{9A5E7F47-4BFB-0B6B-8F19-284FB9281E24}"/>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a:extLst>
              <a:ext uri="{FF2B5EF4-FFF2-40B4-BE49-F238E27FC236}">
                <a16:creationId xmlns:a16="http://schemas.microsoft.com/office/drawing/2014/main" id="{B6F15B90-94FF-F3E2-53B8-CE5493F7977C}"/>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1B798DBA-5C63-719D-7B0A-42BCDA302FD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E546788A-C97B-8C23-5567-A79764DAA7B1}"/>
              </a:ext>
            </a:extLst>
          </p:cNvPr>
          <p:cNvGrpSpPr>
            <a:grpSpLocks/>
          </p:cNvGrpSpPr>
          <p:nvPr/>
        </p:nvGrpSpPr>
        <p:grpSpPr bwMode="auto">
          <a:xfrm>
            <a:off x="4690551"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2D9D9E69-5F5B-5FF6-B341-1541010F1572}"/>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08153885-4D60-7051-AA59-6D6FF4A63BD9}"/>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5B83AD88-5EB2-8F85-2188-845F64E7B29E}"/>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3050D7D8-7528-B0A6-FB3D-B0EEB18314F5}"/>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6CC27B3E-29AE-5CCB-6A74-B522E47860B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D125257A-3C5D-04E6-5A44-4D36C5778409}"/>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A5993FC8-410F-4F38-7992-CC19FB07B209}"/>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8019EAA6-3D32-EF7E-054D-1B711FBB25EB}"/>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3DA286B1-6922-FB73-7064-4C853C809786}"/>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0ED8DD65-CBE6-D838-2BD6-B98F1D7E5A96}"/>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5880221E-DBC8-99B1-A049-ADDD631E028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7149B65E-8090-378B-5F42-848BD2D35F1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6D17B907-29A3-AE02-C5D2-E72D939E3D9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ED2E911B-DEDC-40CA-3659-0ACF7F33707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A27ECC5F-ECF4-3B01-75A1-4CE819A02FB8}"/>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985E681C-D12D-6883-837B-B4B958A301C8}"/>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518859E8-0A82-9566-9395-F98DEB2B61BA}"/>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0B59CB1B-822D-C8A7-C088-F9833532B83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800E06FC-31E8-96DF-6C2F-E2D17675619E}"/>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334C8B37-589B-6CBF-A7FC-37676C88E078}"/>
              </a:ext>
            </a:extLst>
          </p:cNvPr>
          <p:cNvSpPr txBox="1">
            <a:spLocks noChangeArrowheads="1"/>
          </p:cNvSpPr>
          <p:nvPr/>
        </p:nvSpPr>
        <p:spPr bwMode="auto">
          <a:xfrm>
            <a:off x="5132604" y="1550966"/>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401" name="Text Box 173">
            <a:extLst>
              <a:ext uri="{FF2B5EF4-FFF2-40B4-BE49-F238E27FC236}">
                <a16:creationId xmlns:a16="http://schemas.microsoft.com/office/drawing/2014/main" id="{D9DC2B77-90F5-69D2-F479-44DF29046DB3}"/>
              </a:ext>
            </a:extLst>
          </p:cNvPr>
          <p:cNvSpPr txBox="1">
            <a:spLocks noChangeArrowheads="1"/>
          </p:cNvSpPr>
          <p:nvPr/>
        </p:nvSpPr>
        <p:spPr bwMode="auto">
          <a:xfrm>
            <a:off x="877725" y="3385505"/>
            <a:ext cx="343715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4</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R6, LOCAL-PREF = 200 ]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402" name="Text Box 173">
            <a:extLst>
              <a:ext uri="{FF2B5EF4-FFF2-40B4-BE49-F238E27FC236}">
                <a16:creationId xmlns:a16="http://schemas.microsoft.com/office/drawing/2014/main" id="{BF0333C6-9DEB-04E2-BA1E-19BAA7D9E0FF}"/>
              </a:ext>
            </a:extLst>
          </p:cNvPr>
          <p:cNvSpPr txBox="1">
            <a:spLocks noChangeArrowheads="1"/>
          </p:cNvSpPr>
          <p:nvPr/>
        </p:nvSpPr>
        <p:spPr bwMode="auto">
          <a:xfrm>
            <a:off x="877725" y="794106"/>
            <a:ext cx="391004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2</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3</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R2, LOCAL-PREF = 200 ]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2" name="任意多边形: 形状 1">
            <a:extLst>
              <a:ext uri="{FF2B5EF4-FFF2-40B4-BE49-F238E27FC236}">
                <a16:creationId xmlns:a16="http://schemas.microsoft.com/office/drawing/2014/main" id="{C8DE29F7-BB87-F495-8B81-040A1C21BA4C}"/>
              </a:ext>
            </a:extLst>
          </p:cNvPr>
          <p:cNvSpPr>
            <a:spLocks noChangeArrowheads="1"/>
          </p:cNvSpPr>
          <p:nvPr/>
        </p:nvSpPr>
        <p:spPr bwMode="auto">
          <a:xfrm>
            <a:off x="1127190" y="1813268"/>
            <a:ext cx="1261489" cy="591058"/>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FE6D3EC8-0584-6FC3-261D-5749A97E2B89}"/>
              </a:ext>
            </a:extLst>
          </p:cNvPr>
          <p:cNvSpPr txBox="1">
            <a:spLocks noChangeArrowheads="1"/>
          </p:cNvSpPr>
          <p:nvPr/>
        </p:nvSpPr>
        <p:spPr bwMode="auto">
          <a:xfrm>
            <a:off x="1623514" y="197015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1A58BFF5-316A-6D4D-1880-7E0099883210}"/>
              </a:ext>
            </a:extLst>
          </p:cNvPr>
          <p:cNvSpPr>
            <a:spLocks noChangeShapeType="1"/>
          </p:cNvSpPr>
          <p:nvPr/>
        </p:nvSpPr>
        <p:spPr bwMode="auto">
          <a:xfrm>
            <a:off x="2366040" y="2147013"/>
            <a:ext cx="710991" cy="49191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8EC5E5FC-FE27-C34F-6102-D265E1C14F8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7" y="201877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0" name="Picture 47">
            <a:extLst>
              <a:ext uri="{FF2B5EF4-FFF2-40B4-BE49-F238E27FC236}">
                <a16:creationId xmlns:a16="http://schemas.microsoft.com/office/drawing/2014/main" id="{A2F32AAF-1242-19F1-1B9E-9F7263CCFB9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3CB912E8-687C-C797-5409-9240564B6228}"/>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4" name="Picture 46">
            <a:extLst>
              <a:ext uri="{FF2B5EF4-FFF2-40B4-BE49-F238E27FC236}">
                <a16:creationId xmlns:a16="http://schemas.microsoft.com/office/drawing/2014/main" id="{84122827-87E5-8A97-072F-D90EF7598B5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333" y="160238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E053A3D4-4332-5214-A731-E29193D77BC9}"/>
              </a:ext>
            </a:extLst>
          </p:cNvPr>
          <p:cNvSpPr txBox="1">
            <a:spLocks noChangeArrowheads="1"/>
          </p:cNvSpPr>
          <p:nvPr/>
        </p:nvSpPr>
        <p:spPr bwMode="auto">
          <a:xfrm>
            <a:off x="2885264" y="134608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7" name="Picture 46">
            <a:extLst>
              <a:ext uri="{FF2B5EF4-FFF2-40B4-BE49-F238E27FC236}">
                <a16:creationId xmlns:a16="http://schemas.microsoft.com/office/drawing/2014/main" id="{53C330BB-7A2D-42A2-EFC8-EE4033CCA53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7705"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8" name="Text Box 173">
            <a:extLst>
              <a:ext uri="{FF2B5EF4-FFF2-40B4-BE49-F238E27FC236}">
                <a16:creationId xmlns:a16="http://schemas.microsoft.com/office/drawing/2014/main" id="{F33A1A26-DFB8-3269-6FFC-F07C3A398FB2}"/>
              </a:ext>
            </a:extLst>
          </p:cNvPr>
          <p:cNvSpPr txBox="1">
            <a:spLocks noChangeArrowheads="1"/>
          </p:cNvSpPr>
          <p:nvPr/>
        </p:nvSpPr>
        <p:spPr bwMode="auto">
          <a:xfrm>
            <a:off x="3770636" y="124024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9" name="Picture 46">
            <a:extLst>
              <a:ext uri="{FF2B5EF4-FFF2-40B4-BE49-F238E27FC236}">
                <a16:creationId xmlns:a16="http://schemas.microsoft.com/office/drawing/2014/main" id="{A73183F8-3FD4-28C0-5276-01E15D77F3F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5921"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0" name="Text Box 173">
            <a:extLst>
              <a:ext uri="{FF2B5EF4-FFF2-40B4-BE49-F238E27FC236}">
                <a16:creationId xmlns:a16="http://schemas.microsoft.com/office/drawing/2014/main" id="{522032AC-2E47-D458-B7C8-A2F1C635222F}"/>
              </a:ext>
            </a:extLst>
          </p:cNvPr>
          <p:cNvSpPr txBox="1">
            <a:spLocks noChangeArrowheads="1"/>
          </p:cNvSpPr>
          <p:nvPr/>
        </p:nvSpPr>
        <p:spPr bwMode="auto">
          <a:xfrm>
            <a:off x="4608852" y="124024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1" name="Picture 46">
            <a:extLst>
              <a:ext uri="{FF2B5EF4-FFF2-40B4-BE49-F238E27FC236}">
                <a16:creationId xmlns:a16="http://schemas.microsoft.com/office/drawing/2014/main" id="{45CE8796-6EC9-0CC6-6931-849CB916A8E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864" y="167635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2" name="Text Box 173">
            <a:extLst>
              <a:ext uri="{FF2B5EF4-FFF2-40B4-BE49-F238E27FC236}">
                <a16:creationId xmlns:a16="http://schemas.microsoft.com/office/drawing/2014/main" id="{108ED48D-CBD5-EADC-9E84-FC5F0D55363D}"/>
              </a:ext>
            </a:extLst>
          </p:cNvPr>
          <p:cNvSpPr txBox="1">
            <a:spLocks noChangeArrowheads="1"/>
          </p:cNvSpPr>
          <p:nvPr/>
        </p:nvSpPr>
        <p:spPr bwMode="auto">
          <a:xfrm>
            <a:off x="5781859" y="142958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3" name="Text Box 173">
            <a:extLst>
              <a:ext uri="{FF2B5EF4-FFF2-40B4-BE49-F238E27FC236}">
                <a16:creationId xmlns:a16="http://schemas.microsoft.com/office/drawing/2014/main" id="{979EEDD4-563C-E71E-831D-6A1F81064C05}"/>
              </a:ext>
            </a:extLst>
          </p:cNvPr>
          <p:cNvSpPr txBox="1">
            <a:spLocks noChangeArrowheads="1"/>
          </p:cNvSpPr>
          <p:nvPr/>
        </p:nvSpPr>
        <p:spPr bwMode="auto">
          <a:xfrm>
            <a:off x="2246992" y="173593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4" name="Text Box 173">
            <a:extLst>
              <a:ext uri="{FF2B5EF4-FFF2-40B4-BE49-F238E27FC236}">
                <a16:creationId xmlns:a16="http://schemas.microsoft.com/office/drawing/2014/main" id="{68DD7B70-1CC4-9F13-2848-93245D4591C0}"/>
              </a:ext>
            </a:extLst>
          </p:cNvPr>
          <p:cNvSpPr txBox="1">
            <a:spLocks noChangeArrowheads="1"/>
          </p:cNvSpPr>
          <p:nvPr/>
        </p:nvSpPr>
        <p:spPr bwMode="auto">
          <a:xfrm>
            <a:off x="6227094" y="190545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R8</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5" name="Text Box 173">
            <a:extLst>
              <a:ext uri="{FF2B5EF4-FFF2-40B4-BE49-F238E27FC236}">
                <a16:creationId xmlns:a16="http://schemas.microsoft.com/office/drawing/2014/main" id="{87A75086-36C9-E54C-7BCF-235BACD83233}"/>
              </a:ext>
            </a:extLst>
          </p:cNvPr>
          <p:cNvSpPr txBox="1">
            <a:spLocks noChangeArrowheads="1"/>
          </p:cNvSpPr>
          <p:nvPr/>
        </p:nvSpPr>
        <p:spPr bwMode="auto">
          <a:xfrm>
            <a:off x="2712610" y="264078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R6</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6" name="Text Box 173">
            <a:extLst>
              <a:ext uri="{FF2B5EF4-FFF2-40B4-BE49-F238E27FC236}">
                <a16:creationId xmlns:a16="http://schemas.microsoft.com/office/drawing/2014/main" id="{5CFE95DF-5D3A-DE38-F2FE-C8DF946EBB13}"/>
              </a:ext>
            </a:extLst>
          </p:cNvPr>
          <p:cNvSpPr txBox="1">
            <a:spLocks noChangeArrowheads="1"/>
          </p:cNvSpPr>
          <p:nvPr/>
        </p:nvSpPr>
        <p:spPr bwMode="auto">
          <a:xfrm>
            <a:off x="5758400" y="278449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R7</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4111562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1299309" y="3778369"/>
            <a:ext cx="6545382"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R1a </a:t>
            </a:r>
            <a:r>
              <a:rPr lang="zh-CN" altLang="en-US" dirty="0"/>
              <a:t>选择 </a:t>
            </a:r>
            <a:r>
              <a:rPr lang="en-US" altLang="zh-CN" dirty="0"/>
              <a:t>R1c </a:t>
            </a:r>
            <a:r>
              <a:rPr lang="zh-CN" altLang="en-US" dirty="0"/>
              <a:t>作为离开 </a:t>
            </a:r>
            <a:r>
              <a:rPr lang="en-US" altLang="zh-CN" dirty="0"/>
              <a:t>AS1 </a:t>
            </a:r>
            <a:r>
              <a:rPr lang="zh-CN" altLang="en-US" dirty="0"/>
              <a:t>的最佳选择：（匹配前缀 </a:t>
            </a:r>
            <a:r>
              <a:rPr lang="en-US" altLang="zh-CN" dirty="0"/>
              <a:t>X</a:t>
            </a:r>
            <a:r>
              <a:rPr lang="zh-CN" altLang="en-US" dirty="0"/>
              <a:t>，下一跳路由器 </a:t>
            </a:r>
            <a:r>
              <a:rPr lang="en-US" altLang="zh-CN" dirty="0"/>
              <a:t>R1c</a:t>
            </a:r>
            <a:r>
              <a:rPr lang="zh-CN" altLang="en-US" dirty="0"/>
              <a:t>）</a:t>
            </a:r>
          </a:p>
          <a:p>
            <a:r>
              <a:rPr lang="en-US" altLang="zh-CN" dirty="0"/>
              <a:t>R1b </a:t>
            </a:r>
            <a:r>
              <a:rPr lang="zh-CN" altLang="en-US" dirty="0"/>
              <a:t>选择 </a:t>
            </a:r>
            <a:r>
              <a:rPr lang="en-US" altLang="zh-CN" dirty="0"/>
              <a:t>R1d </a:t>
            </a:r>
            <a:r>
              <a:rPr lang="zh-CN" altLang="en-US" dirty="0"/>
              <a:t>作为离开 </a:t>
            </a:r>
            <a:r>
              <a:rPr lang="en-US" altLang="zh-CN" dirty="0"/>
              <a:t>AS1 </a:t>
            </a:r>
            <a:r>
              <a:rPr lang="zh-CN" altLang="en-US" dirty="0"/>
              <a:t>的最佳选择：（匹配前缀 </a:t>
            </a:r>
            <a:r>
              <a:rPr lang="en-US" altLang="zh-CN" dirty="0"/>
              <a:t>X</a:t>
            </a:r>
            <a:r>
              <a:rPr lang="zh-CN" altLang="en-US" dirty="0"/>
              <a:t>，下一跳路由器 </a:t>
            </a:r>
            <a:r>
              <a:rPr lang="en-US" altLang="zh-CN" dirty="0"/>
              <a:t>R1d</a:t>
            </a:r>
            <a:r>
              <a:rPr lang="zh-CN" altLang="en-US" dirty="0"/>
              <a:t>）</a:t>
            </a:r>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2400528" cy="5280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80" name="Text Box 173"/>
          <p:cNvSpPr txBox="1">
            <a:spLocks noChangeArrowheads="1"/>
          </p:cNvSpPr>
          <p:nvPr/>
        </p:nvSpPr>
        <p:spPr bwMode="auto">
          <a:xfrm>
            <a:off x="882387" y="3014631"/>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181" name="Text Box 173"/>
          <p:cNvSpPr txBox="1">
            <a:spLocks noChangeArrowheads="1"/>
          </p:cNvSpPr>
          <p:nvPr/>
        </p:nvSpPr>
        <p:spPr bwMode="auto">
          <a:xfrm>
            <a:off x="877725" y="1126614"/>
            <a:ext cx="367985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AS5 , LOCAL-PREF = 200, IP2a ]</a:t>
            </a:r>
          </a:p>
        </p:txBody>
      </p:sp>
      <p:sp>
        <p:nvSpPr>
          <p:cNvPr id="2" name="标题 1">
            <a:extLst>
              <a:ext uri="{FF2B5EF4-FFF2-40B4-BE49-F238E27FC236}">
                <a16:creationId xmlns:a16="http://schemas.microsoft.com/office/drawing/2014/main" id="{37473CCE-9C49-A873-6410-AF15D085FF1F}"/>
              </a:ext>
            </a:extLst>
          </p:cNvPr>
          <p:cNvSpPr>
            <a:spLocks noGrp="1"/>
          </p:cNvSpPr>
          <p:nvPr>
            <p:ph type="title"/>
          </p:nvPr>
        </p:nvSpPr>
        <p:spPr>
          <a:xfrm>
            <a:off x="486000" y="550723"/>
            <a:ext cx="8172000" cy="338554"/>
          </a:xfrm>
        </p:spPr>
        <p:txBody>
          <a:bodyPr/>
          <a:lstStyle/>
          <a:p>
            <a:r>
              <a:rPr lang="zh-CN" altLang="en-US" dirty="0"/>
              <a:t>热土豆路由选择算法</a:t>
            </a:r>
          </a:p>
        </p:txBody>
      </p:sp>
    </p:spTree>
    <p:extLst>
      <p:ext uri="{BB962C8B-B14F-4D97-AF65-F5344CB8AC3E}">
        <p14:creationId xmlns:p14="http://schemas.microsoft.com/office/powerpoint/2010/main" val="33679814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DB387C-0DD2-CC1E-5CEE-4F34E982451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2F6C3191-72EB-94E0-A454-165CC4406111}"/>
              </a:ext>
            </a:extLst>
          </p:cNvPr>
          <p:cNvSpPr>
            <a:spLocks noChangeShapeType="1"/>
          </p:cNvSpPr>
          <p:nvPr/>
        </p:nvSpPr>
        <p:spPr bwMode="auto">
          <a:xfrm flipV="1">
            <a:off x="5013494" y="2219397"/>
            <a:ext cx="1375711" cy="63043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46DB3CC7-F46F-1119-725D-1BFDC7EB9F32}"/>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3E381288-32F1-7A7D-022F-BE7196EB9F14}"/>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43E9C5D2-8799-066A-CD10-5B6AE3D079EE}"/>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EB6FEADA-0A51-6C32-E9C9-31102249890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4FA6D9FF-79FD-8710-F3AF-D67F24E8183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ED9AFB12-7A0B-27F5-3771-F2A51F45EA7E}"/>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66620B41-383F-7E01-96FA-6398DA2DE5EB}"/>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5FDA0235-939C-E519-1F92-15BEB5F297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BCA736F4-7B7D-103F-587E-8B30B4A27F22}"/>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EF9468DA-C62F-F947-4DAA-CD25626FA94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FBF1512C-C564-F3FA-5F04-E0CF7D25321D}"/>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20AA038F-7F32-E217-C04E-3E4B0A07BBBB}"/>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E5B87577-D52E-3588-6402-3DAF25AF6DC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A2897535-BDDC-CC0E-50BD-9E4DEC4AA8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BF4B1240-070E-11F3-2022-8D751752F38B}"/>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F74003A4-9B18-8E86-CDF8-0DA4E0E668C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3194281A-0F62-65A5-6243-F20C8CFCBFFC}"/>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E02A5370-E6B7-8E6E-1BB2-D933BA734265}"/>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230973CD-DE0A-C3AB-0311-70BB50E1720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05B15676-29BD-F92D-F577-D145DCF8DD9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6ACC9EB8-4420-F4CC-3A35-C3A65DB40484}"/>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AD92F79D-93FC-53B3-05CD-9154DE5A9128}"/>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7AADBA17-4CF7-D2DC-B668-A5C645909B9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28F8F4AE-3122-9E32-24D1-D4F6BC6388D1}"/>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F38A5643-82AD-FB17-5640-119AFBA3457B}"/>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4B73C508-C07D-3A86-EAE0-E165C5988D4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F1793206-EA07-C00B-7FE7-14B0704135F0}"/>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AF05E44A-D006-1D7B-5A2A-BF128CA63E7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85755600-48CB-9E3D-7954-60A2E77F1843}"/>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2156E309-D2AB-31C4-744E-EC68496D50FA}"/>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F668C8F2-F446-8008-6872-1F57D6093942}"/>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3F30D6C0-122D-6332-70D5-FD13C9B88E72}"/>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7311B8B1-4B09-C3ED-D14E-65017AB795F4}"/>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B6B6401D-3409-C938-9711-1B8A97248B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0D5785E4-A6FC-88BE-7707-A4FA2BE025AE}"/>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A5FD863C-55F5-F447-DD74-AB51980E2D7C}"/>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5B754981-C94B-CF43-2D5D-DBB1D25DD06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6A21110F-BE37-A1E0-6187-B04971ED1396}"/>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F996865D-9AA5-CB1C-0950-A02ABA32355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079F96FF-25E4-FA66-73DC-EED5C2E35E4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1CF8ACDF-9167-8B11-E55A-90D98D1A70B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62" name="Text Box 174">
            <a:extLst>
              <a:ext uri="{FF2B5EF4-FFF2-40B4-BE49-F238E27FC236}">
                <a16:creationId xmlns:a16="http://schemas.microsoft.com/office/drawing/2014/main" id="{42EF20A2-7A4A-6352-29B5-5A43B7E64C6B}"/>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sp>
        <p:nvSpPr>
          <p:cNvPr id="263" name="Text Box 175">
            <a:extLst>
              <a:ext uri="{FF2B5EF4-FFF2-40B4-BE49-F238E27FC236}">
                <a16:creationId xmlns:a16="http://schemas.microsoft.com/office/drawing/2014/main" id="{B4017B90-33E9-614E-C225-D6AC0CF0A9E4}"/>
              </a:ext>
            </a:extLst>
          </p:cNvPr>
          <p:cNvSpPr txBox="1">
            <a:spLocks noChangeArrowheads="1"/>
          </p:cNvSpPr>
          <p:nvPr/>
        </p:nvSpPr>
        <p:spPr bwMode="auto">
          <a:xfrm>
            <a:off x="5001744" y="1541227"/>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387" name="Line 155">
            <a:extLst>
              <a:ext uri="{FF2B5EF4-FFF2-40B4-BE49-F238E27FC236}">
                <a16:creationId xmlns:a16="http://schemas.microsoft.com/office/drawing/2014/main" id="{539831DE-BFDF-B45C-5394-F1D383FDE63E}"/>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959C5AEB-1AFF-56B7-1677-2A79E50FEAD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225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01" name="Text Box 173">
            <a:extLst>
              <a:ext uri="{FF2B5EF4-FFF2-40B4-BE49-F238E27FC236}">
                <a16:creationId xmlns:a16="http://schemas.microsoft.com/office/drawing/2014/main" id="{CE056CEE-0FE6-44F0-832C-3E528D234A53}"/>
              </a:ext>
            </a:extLst>
          </p:cNvPr>
          <p:cNvSpPr txBox="1">
            <a:spLocks noChangeArrowheads="1"/>
          </p:cNvSpPr>
          <p:nvPr/>
        </p:nvSpPr>
        <p:spPr bwMode="auto">
          <a:xfrm>
            <a:off x="877725" y="3642680"/>
            <a:ext cx="35157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AS3 AS4 , R7, LOCAL-PREF = 200 ]</a:t>
            </a:r>
          </a:p>
        </p:txBody>
      </p:sp>
      <p:sp>
        <p:nvSpPr>
          <p:cNvPr id="402" name="Text Box 173">
            <a:extLst>
              <a:ext uri="{FF2B5EF4-FFF2-40B4-BE49-F238E27FC236}">
                <a16:creationId xmlns:a16="http://schemas.microsoft.com/office/drawing/2014/main" id="{76C04CB4-9960-B1DD-1CDD-ECC1F8D91627}"/>
              </a:ext>
            </a:extLst>
          </p:cNvPr>
          <p:cNvSpPr txBox="1">
            <a:spLocks noChangeArrowheads="1"/>
          </p:cNvSpPr>
          <p:nvPr/>
        </p:nvSpPr>
        <p:spPr bwMode="auto">
          <a:xfrm>
            <a:off x="877725" y="613131"/>
            <a:ext cx="389080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AS4 , R5,</a:t>
            </a:r>
            <a:r>
              <a:rPr lang="zh-CN" altLang="en-US" dirty="0"/>
              <a:t> </a:t>
            </a:r>
            <a:r>
              <a:rPr lang="en-US" altLang="zh-CN" dirty="0"/>
              <a:t>LOCAL-PREF = 200 ]</a:t>
            </a:r>
          </a:p>
        </p:txBody>
      </p:sp>
      <p:sp>
        <p:nvSpPr>
          <p:cNvPr id="2" name="任意多边形: 形状 1">
            <a:extLst>
              <a:ext uri="{FF2B5EF4-FFF2-40B4-BE49-F238E27FC236}">
                <a16:creationId xmlns:a16="http://schemas.microsoft.com/office/drawing/2014/main" id="{E5E3C0B2-B331-201B-A112-162704B18996}"/>
              </a:ext>
            </a:extLst>
          </p:cNvPr>
          <p:cNvSpPr>
            <a:spLocks noChangeArrowheads="1"/>
          </p:cNvSpPr>
          <p:nvPr/>
        </p:nvSpPr>
        <p:spPr bwMode="auto">
          <a:xfrm>
            <a:off x="1321709" y="1641909"/>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539739F1-A806-1F58-E03A-FDE8A3B6D8A6}"/>
              </a:ext>
            </a:extLst>
          </p:cNvPr>
          <p:cNvSpPr txBox="1">
            <a:spLocks noChangeArrowheads="1"/>
          </p:cNvSpPr>
          <p:nvPr/>
        </p:nvSpPr>
        <p:spPr bwMode="auto">
          <a:xfrm>
            <a:off x="2217773" y="2152961"/>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67E89455-8DC0-7D5D-502A-E81391A497A4}"/>
              </a:ext>
            </a:extLst>
          </p:cNvPr>
          <p:cNvSpPr>
            <a:spLocks noChangeShapeType="1"/>
          </p:cNvSpPr>
          <p:nvPr/>
        </p:nvSpPr>
        <p:spPr bwMode="auto">
          <a:xfrm>
            <a:off x="3201624" y="2820184"/>
            <a:ext cx="1459336" cy="5705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5C5C9D54-F425-CA27-BBD3-B62E33B8354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41624"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D8AFA444-B6A7-C271-7C8D-BBAFEF2A89D3}"/>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3" name="Picture 52">
            <a:extLst>
              <a:ext uri="{FF2B5EF4-FFF2-40B4-BE49-F238E27FC236}">
                <a16:creationId xmlns:a16="http://schemas.microsoft.com/office/drawing/2014/main" id="{F69E04DD-A66D-6D9B-8A4F-8A02289DF3F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76573" y="2724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02B93C6E-16BA-0FF8-41C4-1E471F4732B1}"/>
              </a:ext>
            </a:extLst>
          </p:cNvPr>
          <p:cNvSpPr txBox="1">
            <a:spLocks noChangeArrowheads="1"/>
          </p:cNvSpPr>
          <p:nvPr/>
        </p:nvSpPr>
        <p:spPr bwMode="auto">
          <a:xfrm>
            <a:off x="2657419" y="247741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7" name="Text Box 173">
            <a:extLst>
              <a:ext uri="{FF2B5EF4-FFF2-40B4-BE49-F238E27FC236}">
                <a16:creationId xmlns:a16="http://schemas.microsoft.com/office/drawing/2014/main" id="{754BAB43-AB90-4848-9D11-31C6C81D1F8F}"/>
              </a:ext>
            </a:extLst>
          </p:cNvPr>
          <p:cNvSpPr txBox="1">
            <a:spLocks noChangeArrowheads="1"/>
          </p:cNvSpPr>
          <p:nvPr/>
        </p:nvSpPr>
        <p:spPr bwMode="auto">
          <a:xfrm>
            <a:off x="2666726" y="1496030"/>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4" name="Text Box 173">
            <a:extLst>
              <a:ext uri="{FF2B5EF4-FFF2-40B4-BE49-F238E27FC236}">
                <a16:creationId xmlns:a16="http://schemas.microsoft.com/office/drawing/2014/main" id="{EA6985D4-4E44-B184-BCCC-5B634C83BF1E}"/>
              </a:ext>
            </a:extLst>
          </p:cNvPr>
          <p:cNvSpPr txBox="1">
            <a:spLocks noChangeArrowheads="1"/>
          </p:cNvSpPr>
          <p:nvPr/>
        </p:nvSpPr>
        <p:spPr bwMode="auto">
          <a:xfrm>
            <a:off x="1259285" y="2268509"/>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3" name="Text Box 173">
            <a:extLst>
              <a:ext uri="{FF2B5EF4-FFF2-40B4-BE49-F238E27FC236}">
                <a16:creationId xmlns:a16="http://schemas.microsoft.com/office/drawing/2014/main" id="{461D4202-21A6-B73A-3075-D59DCE89EA33}"/>
              </a:ext>
            </a:extLst>
          </p:cNvPr>
          <p:cNvSpPr txBox="1">
            <a:spLocks noChangeArrowheads="1"/>
          </p:cNvSpPr>
          <p:nvPr/>
        </p:nvSpPr>
        <p:spPr bwMode="auto">
          <a:xfrm>
            <a:off x="1852564" y="1560094"/>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grpSp>
        <p:nvGrpSpPr>
          <p:cNvPr id="366" name="Group 206">
            <a:extLst>
              <a:ext uri="{FF2B5EF4-FFF2-40B4-BE49-F238E27FC236}">
                <a16:creationId xmlns:a16="http://schemas.microsoft.com/office/drawing/2014/main" id="{7F477235-6308-50C2-0EF3-71B6D4A16727}"/>
              </a:ext>
            </a:extLst>
          </p:cNvPr>
          <p:cNvGrpSpPr>
            <a:grpSpLocks/>
          </p:cNvGrpSpPr>
          <p:nvPr/>
        </p:nvGrpSpPr>
        <p:grpSpPr bwMode="auto">
          <a:xfrm>
            <a:off x="3939650" y="2580715"/>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178FEC7E-6E78-AB95-979F-9659414BF221}"/>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E27E746F-509F-E1E7-FD76-1B74314634BF}"/>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4DC93FA0-6A4A-4684-F76A-33F2C550A1B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D3CF3C66-3965-7C43-CAA2-FC9CC40350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D5D25C51-43B8-C3BE-E45A-F479B4AD9A0F}"/>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4EEBA3AC-489F-104B-C0F7-8DCA8636E15D}"/>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2BA5CF68-8CB3-4A04-0690-FB8A553A724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161EA331-5196-87A8-809A-8339525A013F}"/>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88AF05B2-B80D-46DA-F11C-2124EE7B7E58}"/>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B3222B07-D89A-A531-192A-442E2EF5FF10}"/>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748440EA-B377-D843-D15E-1779F6D59876}"/>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A97EC9DF-975F-E8D9-97A8-BFF9451EB88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84BD4553-668E-CB65-06B2-35253AE3EAF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F85F632B-2B4E-477C-87D4-AF4369BFEEE4}"/>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76E01998-F3F3-5533-08E4-8857F44AC0E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DE4D3FD5-00DE-6D55-889A-3CB3F4B1588A}"/>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476214D8-295A-3D11-2313-8C5CD1292311}"/>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E9DAC305-1DC8-EB9C-F05A-DB77470A2B2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18580FBD-B3C2-37FD-DA1B-0E012A2B82E7}"/>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A47384F1-01D5-C2AE-26DF-1A442591E82B}"/>
              </a:ext>
            </a:extLst>
          </p:cNvPr>
          <p:cNvSpPr txBox="1">
            <a:spLocks noChangeArrowheads="1"/>
          </p:cNvSpPr>
          <p:nvPr/>
        </p:nvSpPr>
        <p:spPr bwMode="auto">
          <a:xfrm>
            <a:off x="4503779" y="2719948"/>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14" name="Line 154">
            <a:extLst>
              <a:ext uri="{FF2B5EF4-FFF2-40B4-BE49-F238E27FC236}">
                <a16:creationId xmlns:a16="http://schemas.microsoft.com/office/drawing/2014/main" id="{ABD747ED-987F-679F-1DF5-B04F4CC47FFD}"/>
              </a:ext>
            </a:extLst>
          </p:cNvPr>
          <p:cNvSpPr>
            <a:spLocks noChangeShapeType="1"/>
          </p:cNvSpPr>
          <p:nvPr/>
        </p:nvSpPr>
        <p:spPr bwMode="auto">
          <a:xfrm flipV="1">
            <a:off x="1591924" y="1948419"/>
            <a:ext cx="362969" cy="6440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5" name="Line 154">
            <a:extLst>
              <a:ext uri="{FF2B5EF4-FFF2-40B4-BE49-F238E27FC236}">
                <a16:creationId xmlns:a16="http://schemas.microsoft.com/office/drawing/2014/main" id="{C0F09BE0-FEED-0B43-C1F7-53C0FB250162}"/>
              </a:ext>
            </a:extLst>
          </p:cNvPr>
          <p:cNvSpPr>
            <a:spLocks noChangeShapeType="1"/>
          </p:cNvSpPr>
          <p:nvPr/>
        </p:nvSpPr>
        <p:spPr bwMode="auto">
          <a:xfrm>
            <a:off x="1769890" y="2651961"/>
            <a:ext cx="1146275" cy="16822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Line 154">
            <a:extLst>
              <a:ext uri="{FF2B5EF4-FFF2-40B4-BE49-F238E27FC236}">
                <a16:creationId xmlns:a16="http://schemas.microsoft.com/office/drawing/2014/main" id="{02D63B9B-DAB1-8D04-B567-893DE20F4104}"/>
              </a:ext>
            </a:extLst>
          </p:cNvPr>
          <p:cNvSpPr>
            <a:spLocks noChangeShapeType="1"/>
          </p:cNvSpPr>
          <p:nvPr/>
        </p:nvSpPr>
        <p:spPr bwMode="auto">
          <a:xfrm flipV="1">
            <a:off x="2037893" y="1832203"/>
            <a:ext cx="896838" cy="5356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10" name="Picture 52">
            <a:extLst>
              <a:ext uri="{FF2B5EF4-FFF2-40B4-BE49-F238E27FC236}">
                <a16:creationId xmlns:a16="http://schemas.microsoft.com/office/drawing/2014/main" id="{4476C66F-8178-93B7-8E34-3F42380A6B1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00120" y="181822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 name="Picture 52">
            <a:extLst>
              <a:ext uri="{FF2B5EF4-FFF2-40B4-BE49-F238E27FC236}">
                <a16:creationId xmlns:a16="http://schemas.microsoft.com/office/drawing/2014/main" id="{4DCDC15D-2BB6-BA49-CF55-D39C08FDDC30}"/>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09891" y="25233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7" name="Picture 46">
            <a:extLst>
              <a:ext uri="{FF2B5EF4-FFF2-40B4-BE49-F238E27FC236}">
                <a16:creationId xmlns:a16="http://schemas.microsoft.com/office/drawing/2014/main" id="{723CDB76-C522-40E0-6ED4-96BDA9D1816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5921"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8" name="Text Box 173">
            <a:extLst>
              <a:ext uri="{FF2B5EF4-FFF2-40B4-BE49-F238E27FC236}">
                <a16:creationId xmlns:a16="http://schemas.microsoft.com/office/drawing/2014/main" id="{3A5EC2E5-B7CB-EDB3-FDF1-C475B19682ED}"/>
              </a:ext>
            </a:extLst>
          </p:cNvPr>
          <p:cNvSpPr txBox="1">
            <a:spLocks noChangeArrowheads="1"/>
          </p:cNvSpPr>
          <p:nvPr/>
        </p:nvSpPr>
        <p:spPr bwMode="auto">
          <a:xfrm>
            <a:off x="4608852" y="124024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9" name="Picture 46">
            <a:extLst>
              <a:ext uri="{FF2B5EF4-FFF2-40B4-BE49-F238E27FC236}">
                <a16:creationId xmlns:a16="http://schemas.microsoft.com/office/drawing/2014/main" id="{BF21E560-D471-27A0-3E13-60CA4C81451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346" y="163941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0" name="Text Box 173">
            <a:extLst>
              <a:ext uri="{FF2B5EF4-FFF2-40B4-BE49-F238E27FC236}">
                <a16:creationId xmlns:a16="http://schemas.microsoft.com/office/drawing/2014/main" id="{F6AB9206-CF5A-EADA-593A-59A500A76515}"/>
              </a:ext>
            </a:extLst>
          </p:cNvPr>
          <p:cNvSpPr txBox="1">
            <a:spLocks noChangeArrowheads="1"/>
          </p:cNvSpPr>
          <p:nvPr/>
        </p:nvSpPr>
        <p:spPr bwMode="auto">
          <a:xfrm>
            <a:off x="5599277" y="138312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R6</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21" name="Picture 46">
            <a:extLst>
              <a:ext uri="{FF2B5EF4-FFF2-40B4-BE49-F238E27FC236}">
                <a16:creationId xmlns:a16="http://schemas.microsoft.com/office/drawing/2014/main" id="{3DCD0AE4-B38B-40A6-DB72-EB33337B34C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91975" y="272710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2" name="Text Box 173">
            <a:extLst>
              <a:ext uri="{FF2B5EF4-FFF2-40B4-BE49-F238E27FC236}">
                <a16:creationId xmlns:a16="http://schemas.microsoft.com/office/drawing/2014/main" id="{3FE67324-DA70-92ED-A41B-95A9974BF9B8}"/>
              </a:ext>
            </a:extLst>
          </p:cNvPr>
          <p:cNvSpPr txBox="1">
            <a:spLocks noChangeArrowheads="1"/>
          </p:cNvSpPr>
          <p:nvPr/>
        </p:nvSpPr>
        <p:spPr bwMode="auto">
          <a:xfrm>
            <a:off x="3864906" y="247080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R7</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23" name="Picture 46">
            <a:extLst>
              <a:ext uri="{FF2B5EF4-FFF2-40B4-BE49-F238E27FC236}">
                <a16:creationId xmlns:a16="http://schemas.microsoft.com/office/drawing/2014/main" id="{499C4E85-D817-A8BB-D5C4-9EF12553BEC5}"/>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77775" y="268613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4" name="Text Box 173">
            <a:extLst>
              <a:ext uri="{FF2B5EF4-FFF2-40B4-BE49-F238E27FC236}">
                <a16:creationId xmlns:a16="http://schemas.microsoft.com/office/drawing/2014/main" id="{BE6832DB-FBFD-5344-E27D-432B22B5DE6E}"/>
              </a:ext>
            </a:extLst>
          </p:cNvPr>
          <p:cNvSpPr txBox="1">
            <a:spLocks noChangeArrowheads="1"/>
          </p:cNvSpPr>
          <p:nvPr/>
        </p:nvSpPr>
        <p:spPr bwMode="auto">
          <a:xfrm>
            <a:off x="4950706" y="242983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R8</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25" name="Text Box 173">
            <a:extLst>
              <a:ext uri="{FF2B5EF4-FFF2-40B4-BE49-F238E27FC236}">
                <a16:creationId xmlns:a16="http://schemas.microsoft.com/office/drawing/2014/main" id="{6154DE0B-183A-124E-9C91-4979D28D81C4}"/>
              </a:ext>
            </a:extLst>
          </p:cNvPr>
          <p:cNvSpPr txBox="1">
            <a:spLocks noChangeArrowheads="1"/>
          </p:cNvSpPr>
          <p:nvPr/>
        </p:nvSpPr>
        <p:spPr bwMode="auto">
          <a:xfrm>
            <a:off x="6183576" y="1829584"/>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R9</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2535839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任意多边形: 形状 7">
            <a:extLst>
              <a:ext uri="{FF2B5EF4-FFF2-40B4-BE49-F238E27FC236}">
                <a16:creationId xmlns:a16="http://schemas.microsoft.com/office/drawing/2014/main" id="{EC7E59E6-241D-8A30-BE71-62E5799CA454}"/>
              </a:ext>
            </a:extLst>
          </p:cNvPr>
          <p:cNvSpPr/>
          <p:nvPr/>
        </p:nvSpPr>
        <p:spPr>
          <a:xfrm>
            <a:off x="3115923" y="121301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用来与相邻的另一个 </a:t>
            </a:r>
            <a:r>
              <a:rPr lang="en-US" altLang="en-US" sz="1400" b="0" kern="1200" dirty="0">
                <a:latin typeface="微软雅黑" panose="020B0503020204020204" pitchFamily="34" charset="-122"/>
                <a:ea typeface="微软雅黑" panose="020B0503020204020204" pitchFamily="34" charset="-122"/>
              </a:rPr>
              <a:t>BGP </a:t>
            </a:r>
            <a:r>
              <a:rPr lang="zh-CN" altLang="en-US" sz="1400" b="0" kern="1200" dirty="0">
                <a:latin typeface="微软雅黑" panose="020B0503020204020204" pitchFamily="34" charset="-122"/>
                <a:ea typeface="微软雅黑" panose="020B0503020204020204" pitchFamily="34" charset="-122"/>
              </a:rPr>
              <a:t>发言者建立关系，使通信初始化</a:t>
            </a:r>
          </a:p>
        </p:txBody>
      </p:sp>
      <p:sp>
        <p:nvSpPr>
          <p:cNvPr id="9" name="任意多边形: 形状 8">
            <a:extLst>
              <a:ext uri="{FF2B5EF4-FFF2-40B4-BE49-F238E27FC236}">
                <a16:creationId xmlns:a16="http://schemas.microsoft.com/office/drawing/2014/main" id="{395A428C-771A-78A7-3F49-4A077D27D088}"/>
              </a:ext>
            </a:extLst>
          </p:cNvPr>
          <p:cNvSpPr/>
          <p:nvPr/>
        </p:nvSpPr>
        <p:spPr>
          <a:xfrm>
            <a:off x="485775" y="113763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OPEN (</a:t>
            </a:r>
            <a:r>
              <a:rPr lang="zh-CN" altLang="en-US" sz="1400" b="0" kern="1200" dirty="0">
                <a:latin typeface="微软雅黑" panose="020B0503020204020204" pitchFamily="34" charset="-122"/>
                <a:ea typeface="微软雅黑" panose="020B0503020204020204" pitchFamily="34" charset="-122"/>
              </a:rPr>
              <a:t>打开</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0" name="任意多边形: 形状 9">
            <a:extLst>
              <a:ext uri="{FF2B5EF4-FFF2-40B4-BE49-F238E27FC236}">
                <a16:creationId xmlns:a16="http://schemas.microsoft.com/office/drawing/2014/main" id="{CFF9D064-9A53-F3B1-D015-FA87B97C22F5}"/>
              </a:ext>
            </a:extLst>
          </p:cNvPr>
          <p:cNvSpPr/>
          <p:nvPr/>
        </p:nvSpPr>
        <p:spPr>
          <a:xfrm>
            <a:off x="3115923" y="200443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1315237"/>
              <a:satOff val="7386"/>
              <a:lumOff val="469"/>
              <a:alphaOff val="0"/>
            </a:schemeClr>
          </a:lnRef>
          <a:fillRef idx="1">
            <a:schemeClr val="accent4">
              <a:tint val="40000"/>
              <a:alpha val="90000"/>
              <a:hueOff val="-1315237"/>
              <a:satOff val="7386"/>
              <a:lumOff val="469"/>
              <a:alphaOff val="0"/>
            </a:schemeClr>
          </a:fillRef>
          <a:effectRef idx="0">
            <a:schemeClr val="accent4">
              <a:tint val="40000"/>
              <a:alpha val="90000"/>
              <a:hueOff val="-1315237"/>
              <a:satOff val="7386"/>
              <a:lumOff val="46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用来通告某一路由的信息，以及列出要撤销的多条路由</a:t>
            </a:r>
          </a:p>
        </p:txBody>
      </p:sp>
      <p:sp>
        <p:nvSpPr>
          <p:cNvPr id="11" name="任意多边形: 形状 10">
            <a:extLst>
              <a:ext uri="{FF2B5EF4-FFF2-40B4-BE49-F238E27FC236}">
                <a16:creationId xmlns:a16="http://schemas.microsoft.com/office/drawing/2014/main" id="{B88E3742-AFC5-245C-8021-02B80592EBB6}"/>
              </a:ext>
            </a:extLst>
          </p:cNvPr>
          <p:cNvSpPr/>
          <p:nvPr/>
        </p:nvSpPr>
        <p:spPr>
          <a:xfrm>
            <a:off x="485775" y="192905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1488257"/>
              <a:satOff val="8966"/>
              <a:lumOff val="719"/>
              <a:alphaOff val="0"/>
            </a:schemeClr>
          </a:fillRef>
          <a:effectRef idx="2">
            <a:schemeClr val="accent4">
              <a:hueOff val="-1488257"/>
              <a:satOff val="8966"/>
              <a:lumOff val="719"/>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UPDATE (</a:t>
            </a:r>
            <a:r>
              <a:rPr lang="zh-CN" altLang="en-US" sz="1400" b="0" kern="1200" dirty="0">
                <a:latin typeface="微软雅黑" panose="020B0503020204020204" pitchFamily="34" charset="-122"/>
                <a:ea typeface="微软雅黑" panose="020B0503020204020204" pitchFamily="34" charset="-122"/>
              </a:rPr>
              <a:t>更新</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2" name="任意多边形: 形状 11">
            <a:extLst>
              <a:ext uri="{FF2B5EF4-FFF2-40B4-BE49-F238E27FC236}">
                <a16:creationId xmlns:a16="http://schemas.microsoft.com/office/drawing/2014/main" id="{65BF0FFF-6C75-608E-4952-BC6C488882BF}"/>
              </a:ext>
            </a:extLst>
          </p:cNvPr>
          <p:cNvSpPr/>
          <p:nvPr/>
        </p:nvSpPr>
        <p:spPr>
          <a:xfrm>
            <a:off x="3115923" y="279585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2630473"/>
              <a:satOff val="14771"/>
              <a:lumOff val="939"/>
              <a:alphaOff val="0"/>
            </a:schemeClr>
          </a:lnRef>
          <a:fillRef idx="1">
            <a:schemeClr val="accent4">
              <a:tint val="40000"/>
              <a:alpha val="90000"/>
              <a:hueOff val="-2630473"/>
              <a:satOff val="14771"/>
              <a:lumOff val="939"/>
              <a:alphaOff val="0"/>
            </a:schemeClr>
          </a:fillRef>
          <a:effectRef idx="0">
            <a:schemeClr val="accent4">
              <a:tint val="40000"/>
              <a:alpha val="90000"/>
              <a:hueOff val="-2630473"/>
              <a:satOff val="14771"/>
              <a:lumOff val="93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用来周期性地证实邻站的连通性</a:t>
            </a:r>
          </a:p>
        </p:txBody>
      </p:sp>
      <p:sp>
        <p:nvSpPr>
          <p:cNvPr id="13" name="任意多边形: 形状 12">
            <a:extLst>
              <a:ext uri="{FF2B5EF4-FFF2-40B4-BE49-F238E27FC236}">
                <a16:creationId xmlns:a16="http://schemas.microsoft.com/office/drawing/2014/main" id="{CA6F9ADC-6F47-A23C-F190-C3990BBBC990}"/>
              </a:ext>
            </a:extLst>
          </p:cNvPr>
          <p:cNvSpPr/>
          <p:nvPr/>
        </p:nvSpPr>
        <p:spPr>
          <a:xfrm>
            <a:off x="485775" y="272047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2976513"/>
              <a:satOff val="17933"/>
              <a:lumOff val="1437"/>
              <a:alphaOff val="0"/>
            </a:schemeClr>
          </a:fillRef>
          <a:effectRef idx="2">
            <a:schemeClr val="accent4">
              <a:hueOff val="-2976513"/>
              <a:satOff val="17933"/>
              <a:lumOff val="1437"/>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KEEPALIVE (</a:t>
            </a:r>
            <a:r>
              <a:rPr lang="zh-CN" altLang="en-US" sz="1400" b="0" kern="1200" dirty="0">
                <a:latin typeface="微软雅黑" panose="020B0503020204020204" pitchFamily="34" charset="-122"/>
                <a:ea typeface="微软雅黑" panose="020B0503020204020204" pitchFamily="34" charset="-122"/>
              </a:rPr>
              <a:t>保活</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4" name="任意多边形: 形状 13">
            <a:extLst>
              <a:ext uri="{FF2B5EF4-FFF2-40B4-BE49-F238E27FC236}">
                <a16:creationId xmlns:a16="http://schemas.microsoft.com/office/drawing/2014/main" id="{25A47934-1CA4-E95C-17F6-1E14336B8282}"/>
              </a:ext>
            </a:extLst>
          </p:cNvPr>
          <p:cNvSpPr/>
          <p:nvPr/>
        </p:nvSpPr>
        <p:spPr>
          <a:xfrm>
            <a:off x="3115923" y="3587272"/>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247651" tIns="153260" rIns="277084" bIns="153260"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用来发送检测到的差错</a:t>
            </a:r>
          </a:p>
        </p:txBody>
      </p:sp>
      <p:sp>
        <p:nvSpPr>
          <p:cNvPr id="15" name="任意多边形: 形状 14">
            <a:extLst>
              <a:ext uri="{FF2B5EF4-FFF2-40B4-BE49-F238E27FC236}">
                <a16:creationId xmlns:a16="http://schemas.microsoft.com/office/drawing/2014/main" id="{28A3E49D-30DF-3308-9A66-7452E432BCA2}"/>
              </a:ext>
            </a:extLst>
          </p:cNvPr>
          <p:cNvSpPr/>
          <p:nvPr/>
        </p:nvSpPr>
        <p:spPr>
          <a:xfrm>
            <a:off x="485775" y="351189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4464770"/>
              <a:satOff val="26899"/>
              <a:lumOff val="2156"/>
              <a:alphaOff val="0"/>
            </a:schemeClr>
          </a:fillRef>
          <a:effectRef idx="2">
            <a:schemeClr val="accent4">
              <a:hueOff val="-4464770"/>
              <a:satOff val="26899"/>
              <a:lumOff val="2156"/>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NOTIFICATION (</a:t>
            </a:r>
            <a:r>
              <a:rPr lang="zh-CN" altLang="en-US" sz="1400" b="0" kern="1200" dirty="0">
                <a:latin typeface="微软雅黑" panose="020B0503020204020204" pitchFamily="34" charset="-122"/>
                <a:ea typeface="微软雅黑" panose="020B0503020204020204" pitchFamily="34" charset="-122"/>
              </a:rPr>
              <a:t>通知</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8EC6ED83-CC7F-0BE5-82B9-4C50F89595FC}"/>
              </a:ext>
            </a:extLst>
          </p:cNvPr>
          <p:cNvSpPr>
            <a:spLocks noGrp="1"/>
          </p:cNvSpPr>
          <p:nvPr>
            <p:ph type="title"/>
          </p:nvPr>
        </p:nvSpPr>
        <p:spPr>
          <a:xfrm>
            <a:off x="486000" y="550723"/>
            <a:ext cx="8172000" cy="338554"/>
          </a:xfrm>
        </p:spPr>
        <p:txBody>
          <a:bodyPr/>
          <a:lstStyle/>
          <a:p>
            <a:r>
              <a:rPr lang="en-US" altLang="zh-CN" dirty="0"/>
              <a:t>5.  BGP-4 </a:t>
            </a:r>
            <a:r>
              <a:rPr lang="zh-CN" altLang="en-US" dirty="0"/>
              <a:t>的四种报文</a:t>
            </a:r>
          </a:p>
        </p:txBody>
      </p:sp>
    </p:spTree>
    <p:extLst>
      <p:ext uri="{BB962C8B-B14F-4D97-AF65-F5344CB8AC3E}">
        <p14:creationId xmlns:p14="http://schemas.microsoft.com/office/powerpoint/2010/main" val="14137447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Rectangle 40"/>
          <p:cNvSpPr>
            <a:spLocks noChangeArrowheads="1"/>
          </p:cNvSpPr>
          <p:nvPr/>
        </p:nvSpPr>
        <p:spPr bwMode="auto">
          <a:xfrm>
            <a:off x="3294529" y="2292248"/>
            <a:ext cx="4211169" cy="335667"/>
          </a:xfrm>
          <a:prstGeom prst="rect">
            <a:avLst/>
          </a:prstGeom>
          <a:noFill/>
          <a:ln w="9525">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5" name="AutoShape 37"/>
          <p:cNvSpPr>
            <a:spLocks noChangeArrowheads="1"/>
          </p:cNvSpPr>
          <p:nvPr/>
        </p:nvSpPr>
        <p:spPr bwMode="auto">
          <a:xfrm rot="5400000">
            <a:off x="1369244" y="3579607"/>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6" name="Freeform 38"/>
          <p:cNvSpPr>
            <a:spLocks/>
          </p:cNvSpPr>
          <p:nvPr/>
        </p:nvSpPr>
        <p:spPr bwMode="auto">
          <a:xfrm>
            <a:off x="2612115" y="1885742"/>
            <a:ext cx="3162955" cy="404327"/>
          </a:xfrm>
          <a:custGeom>
            <a:avLst/>
            <a:gdLst>
              <a:gd name="T0" fmla="*/ 45 w 2313"/>
              <a:gd name="T1" fmla="*/ 0 h 272"/>
              <a:gd name="T2" fmla="*/ 2313 w 2313"/>
              <a:gd name="T3" fmla="*/ 0 h 272"/>
              <a:gd name="T4" fmla="*/ 1723 w 2313"/>
              <a:gd name="T5" fmla="*/ 272 h 272"/>
              <a:gd name="T6" fmla="*/ 499 w 2313"/>
              <a:gd name="T7" fmla="*/ 272 h 272"/>
              <a:gd name="T8" fmla="*/ 0 w 2313"/>
              <a:gd name="T9" fmla="*/ 0 h 272"/>
            </a:gdLst>
            <a:ahLst/>
            <a:cxnLst>
              <a:cxn ang="0">
                <a:pos x="T0" y="T1"/>
              </a:cxn>
              <a:cxn ang="0">
                <a:pos x="T2" y="T3"/>
              </a:cxn>
              <a:cxn ang="0">
                <a:pos x="T4" y="T5"/>
              </a:cxn>
              <a:cxn ang="0">
                <a:pos x="T6" y="T7"/>
              </a:cxn>
              <a:cxn ang="0">
                <a:pos x="T8" y="T9"/>
              </a:cxn>
            </a:cxnLst>
            <a:rect l="0" t="0" r="r" b="b"/>
            <a:pathLst>
              <a:path w="2313" h="272">
                <a:moveTo>
                  <a:pt x="45" y="0"/>
                </a:moveTo>
                <a:lnTo>
                  <a:pt x="2313" y="0"/>
                </a:lnTo>
                <a:lnTo>
                  <a:pt x="1723" y="272"/>
                </a:lnTo>
                <a:lnTo>
                  <a:pt x="499" y="272"/>
                </a:lnTo>
                <a:lnTo>
                  <a:pt x="0" y="0"/>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7" name="Rectangle 39"/>
          <p:cNvSpPr>
            <a:spLocks noChangeArrowheads="1"/>
          </p:cNvSpPr>
          <p:nvPr/>
        </p:nvSpPr>
        <p:spPr bwMode="auto">
          <a:xfrm>
            <a:off x="2885298" y="1241286"/>
            <a:ext cx="268022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just" defTabSz="762000" eaLnBrk="0" hangingPunct="0"/>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16                      2                1</a:t>
            </a:r>
          </a:p>
        </p:txBody>
      </p:sp>
      <p:sp>
        <p:nvSpPr>
          <p:cNvPr id="39" name="Rectangle 43"/>
          <p:cNvSpPr>
            <a:spLocks noChangeArrowheads="1"/>
          </p:cNvSpPr>
          <p:nvPr/>
        </p:nvSpPr>
        <p:spPr bwMode="auto">
          <a:xfrm>
            <a:off x="5426779" y="2322864"/>
            <a:ext cx="14907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BGP </a:t>
            </a:r>
            <a:r>
              <a:rPr kumimoji="1" lang="zh-CN" altLang="en-US" sz="1200">
                <a:latin typeface="Montserrat" panose="00000500000000000000" pitchFamily="2" charset="0"/>
                <a:ea typeface="微软雅黑 Light" panose="020B0502040204020203" pitchFamily="34" charset="-122"/>
              </a:rPr>
              <a:t>报文主体部分</a:t>
            </a:r>
          </a:p>
        </p:txBody>
      </p:sp>
      <p:sp>
        <p:nvSpPr>
          <p:cNvPr id="40" name="Line 44"/>
          <p:cNvSpPr>
            <a:spLocks noChangeShapeType="1"/>
          </p:cNvSpPr>
          <p:nvPr/>
        </p:nvSpPr>
        <p:spPr bwMode="auto">
          <a:xfrm>
            <a:off x="4907295" y="2290069"/>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1" name="Rectangle 45"/>
          <p:cNvSpPr>
            <a:spLocks noChangeArrowheads="1"/>
          </p:cNvSpPr>
          <p:nvPr/>
        </p:nvSpPr>
        <p:spPr bwMode="auto">
          <a:xfrm>
            <a:off x="2612115" y="1547895"/>
            <a:ext cx="3162955" cy="336757"/>
          </a:xfrm>
          <a:prstGeom prst="rect">
            <a:avLst/>
          </a:prstGeom>
          <a:noFill/>
          <a:ln w="9525">
            <a:solidFill>
              <a:srgbClr val="C00000"/>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2" name="Rectangle 46"/>
          <p:cNvSpPr>
            <a:spLocks noChangeArrowheads="1"/>
          </p:cNvSpPr>
          <p:nvPr/>
        </p:nvSpPr>
        <p:spPr bwMode="auto">
          <a:xfrm>
            <a:off x="5200221" y="1579056"/>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solidFill>
                  <a:srgbClr val="C00000"/>
                </a:solidFill>
                <a:latin typeface="Montserrat" panose="00000500000000000000" pitchFamily="2" charset="0"/>
                <a:ea typeface="微软雅黑 Light" panose="020B0502040204020203" pitchFamily="34" charset="-122"/>
              </a:rPr>
              <a:t>类 型</a:t>
            </a:r>
          </a:p>
        </p:txBody>
      </p:sp>
      <p:sp>
        <p:nvSpPr>
          <p:cNvPr id="43" name="Rectangle 47"/>
          <p:cNvSpPr>
            <a:spLocks noChangeArrowheads="1"/>
          </p:cNvSpPr>
          <p:nvPr/>
        </p:nvSpPr>
        <p:spPr bwMode="auto">
          <a:xfrm>
            <a:off x="4383866" y="1579056"/>
            <a:ext cx="5834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solidFill>
                  <a:srgbClr val="C00000"/>
                </a:solidFill>
                <a:latin typeface="Montserrat" panose="00000500000000000000" pitchFamily="2" charset="0"/>
                <a:ea typeface="微软雅黑 Light" panose="020B0502040204020203" pitchFamily="34" charset="-122"/>
              </a:rPr>
              <a:t>长  度</a:t>
            </a:r>
          </a:p>
        </p:txBody>
      </p:sp>
      <p:sp>
        <p:nvSpPr>
          <p:cNvPr id="44" name="Line 48"/>
          <p:cNvSpPr>
            <a:spLocks noChangeShapeType="1"/>
          </p:cNvSpPr>
          <p:nvPr/>
        </p:nvSpPr>
        <p:spPr bwMode="auto">
          <a:xfrm>
            <a:off x="5217805"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5" name="Line 49"/>
          <p:cNvSpPr>
            <a:spLocks noChangeShapeType="1"/>
          </p:cNvSpPr>
          <p:nvPr/>
        </p:nvSpPr>
        <p:spPr bwMode="auto">
          <a:xfrm>
            <a:off x="4224880"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6" name="Rectangle 50"/>
          <p:cNvSpPr>
            <a:spLocks noChangeArrowheads="1"/>
          </p:cNvSpPr>
          <p:nvPr/>
        </p:nvSpPr>
        <p:spPr bwMode="auto">
          <a:xfrm>
            <a:off x="2994588" y="1579056"/>
            <a:ext cx="77104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solidFill>
                  <a:srgbClr val="C00000"/>
                </a:solidFill>
                <a:latin typeface="Montserrat" panose="00000500000000000000" pitchFamily="2" charset="0"/>
                <a:ea typeface="微软雅黑 Light" panose="020B0502040204020203" pitchFamily="34" charset="-122"/>
              </a:rPr>
              <a:t>标       记</a:t>
            </a:r>
          </a:p>
        </p:txBody>
      </p:sp>
      <p:sp>
        <p:nvSpPr>
          <p:cNvPr id="57" name="Rectangle 63"/>
          <p:cNvSpPr>
            <a:spLocks noChangeArrowheads="1"/>
          </p:cNvSpPr>
          <p:nvPr/>
        </p:nvSpPr>
        <p:spPr bwMode="auto">
          <a:xfrm>
            <a:off x="2486966" y="2965763"/>
            <a:ext cx="5018728" cy="336757"/>
          </a:xfrm>
          <a:prstGeom prst="rect">
            <a:avLst/>
          </a:prstGeom>
          <a:noFill/>
          <a:ln w="9525">
            <a:solidFill>
              <a:schemeClr val="tx1"/>
            </a:solidFill>
            <a:miter lim="800000"/>
            <a:headEnd/>
            <a:tailEnd/>
          </a:ln>
          <a:effectLst/>
        </p:spPr>
        <p:txBody>
          <a:bodyPr wrap="none" anchor="ctr"/>
          <a:lstStyle/>
          <a:p>
            <a:pPr algn="r"/>
            <a:endParaRPr lang="zh-CN" altLang="en-US" sz="1200" dirty="0">
              <a:latin typeface="Montserrat" panose="00000500000000000000" pitchFamily="2" charset="0"/>
              <a:ea typeface="微软雅黑 Light" panose="020B0502040204020203" pitchFamily="34" charset="-122"/>
            </a:endParaRPr>
          </a:p>
        </p:txBody>
      </p:sp>
      <p:sp>
        <p:nvSpPr>
          <p:cNvPr id="58" name="Line 64"/>
          <p:cNvSpPr>
            <a:spLocks noChangeShapeType="1"/>
          </p:cNvSpPr>
          <p:nvPr/>
        </p:nvSpPr>
        <p:spPr bwMode="auto">
          <a:xfrm>
            <a:off x="3294530" y="2964672"/>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59" name="Rectangle 65"/>
          <p:cNvSpPr>
            <a:spLocks noChangeArrowheads="1"/>
          </p:cNvSpPr>
          <p:nvPr/>
        </p:nvSpPr>
        <p:spPr bwMode="auto">
          <a:xfrm>
            <a:off x="2481181" y="2996924"/>
            <a:ext cx="83234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TCP </a:t>
            </a:r>
            <a:r>
              <a:rPr kumimoji="1" lang="zh-CN" altLang="en-US" sz="1200" dirty="0">
                <a:latin typeface="Montserrat" panose="00000500000000000000" pitchFamily="2" charset="0"/>
                <a:ea typeface="微软雅黑 Light" panose="020B0502040204020203" pitchFamily="34" charset="-122"/>
              </a:rPr>
              <a:t>首部</a:t>
            </a:r>
          </a:p>
        </p:txBody>
      </p:sp>
      <p:sp>
        <p:nvSpPr>
          <p:cNvPr id="60" name="AutoShape 66"/>
          <p:cNvSpPr>
            <a:spLocks noChangeArrowheads="1"/>
          </p:cNvSpPr>
          <p:nvPr/>
        </p:nvSpPr>
        <p:spPr bwMode="auto">
          <a:xfrm>
            <a:off x="5279198" y="2560346"/>
            <a:ext cx="185362" cy="472986"/>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1" name="Rectangle 67"/>
          <p:cNvSpPr>
            <a:spLocks noChangeArrowheads="1"/>
          </p:cNvSpPr>
          <p:nvPr/>
        </p:nvSpPr>
        <p:spPr bwMode="auto">
          <a:xfrm>
            <a:off x="1680583" y="3641456"/>
            <a:ext cx="5825101" cy="336757"/>
          </a:xfrm>
          <a:prstGeom prst="rect">
            <a:avLst/>
          </a:prstGeom>
          <a:noFill/>
          <a:ln w="9525">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3" name="Line 69"/>
          <p:cNvSpPr>
            <a:spLocks noChangeShapeType="1"/>
          </p:cNvSpPr>
          <p:nvPr/>
        </p:nvSpPr>
        <p:spPr bwMode="auto">
          <a:xfrm>
            <a:off x="2486966" y="3640366"/>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5" name="Rectangle 71"/>
          <p:cNvSpPr>
            <a:spLocks noChangeArrowheads="1"/>
          </p:cNvSpPr>
          <p:nvPr/>
        </p:nvSpPr>
        <p:spPr bwMode="auto">
          <a:xfrm>
            <a:off x="4947437" y="2996924"/>
            <a:ext cx="8704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BGP </a:t>
            </a:r>
            <a:r>
              <a:rPr kumimoji="1" lang="zh-CN" altLang="en-US" sz="1200">
                <a:latin typeface="Montserrat" panose="00000500000000000000" pitchFamily="2" charset="0"/>
                <a:ea typeface="微软雅黑 Light" panose="020B0502040204020203" pitchFamily="34" charset="-122"/>
              </a:rPr>
              <a:t>报文</a:t>
            </a:r>
          </a:p>
        </p:txBody>
      </p:sp>
      <p:sp>
        <p:nvSpPr>
          <p:cNvPr id="73" name="Rectangle 42"/>
          <p:cNvSpPr>
            <a:spLocks noChangeArrowheads="1"/>
          </p:cNvSpPr>
          <p:nvPr/>
        </p:nvSpPr>
        <p:spPr bwMode="auto">
          <a:xfrm>
            <a:off x="3347196" y="2322864"/>
            <a:ext cx="14907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BGP </a:t>
            </a:r>
            <a:r>
              <a:rPr kumimoji="1" lang="zh-CN" altLang="en-US" sz="1200" dirty="0">
                <a:latin typeface="Montserrat" panose="00000500000000000000" pitchFamily="2" charset="0"/>
                <a:ea typeface="微软雅黑 Light" panose="020B0502040204020203" pitchFamily="34" charset="-122"/>
              </a:rPr>
              <a:t>报文通用首部</a:t>
            </a:r>
          </a:p>
        </p:txBody>
      </p:sp>
      <p:sp>
        <p:nvSpPr>
          <p:cNvPr id="62" name="Rectangle 68"/>
          <p:cNvSpPr>
            <a:spLocks noChangeArrowheads="1"/>
          </p:cNvSpPr>
          <p:nvPr/>
        </p:nvSpPr>
        <p:spPr bwMode="auto">
          <a:xfrm>
            <a:off x="1744394" y="3671638"/>
            <a:ext cx="68929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首部</a:t>
            </a:r>
          </a:p>
        </p:txBody>
      </p:sp>
      <p:sp>
        <p:nvSpPr>
          <p:cNvPr id="64" name="AutoShape 70"/>
          <p:cNvSpPr>
            <a:spLocks noChangeArrowheads="1"/>
          </p:cNvSpPr>
          <p:nvPr/>
        </p:nvSpPr>
        <p:spPr bwMode="auto">
          <a:xfrm>
            <a:off x="5031262" y="3236040"/>
            <a:ext cx="186542" cy="472986"/>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6" name="Rectangle 72"/>
          <p:cNvSpPr>
            <a:spLocks noChangeArrowheads="1"/>
          </p:cNvSpPr>
          <p:nvPr/>
        </p:nvSpPr>
        <p:spPr bwMode="auto">
          <a:xfrm>
            <a:off x="4720752" y="3671638"/>
            <a:ext cx="83234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TCP </a:t>
            </a:r>
            <a:r>
              <a:rPr kumimoji="1" lang="zh-CN" altLang="en-US" sz="1200" dirty="0">
                <a:latin typeface="Montserrat" panose="00000500000000000000" pitchFamily="2" charset="0"/>
                <a:ea typeface="微软雅黑 Light" panose="020B0502040204020203" pitchFamily="34" charset="-122"/>
              </a:rPr>
              <a:t>报文</a:t>
            </a:r>
          </a:p>
        </p:txBody>
      </p:sp>
      <p:sp>
        <p:nvSpPr>
          <p:cNvPr id="6" name="标题 5">
            <a:extLst>
              <a:ext uri="{FF2B5EF4-FFF2-40B4-BE49-F238E27FC236}">
                <a16:creationId xmlns:a16="http://schemas.microsoft.com/office/drawing/2014/main" id="{B3407B2C-4B34-ADF7-A96F-1F3FAC8E0ACE}"/>
              </a:ext>
            </a:extLst>
          </p:cNvPr>
          <p:cNvSpPr>
            <a:spLocks noGrp="1"/>
          </p:cNvSpPr>
          <p:nvPr>
            <p:ph type="title"/>
          </p:nvPr>
        </p:nvSpPr>
        <p:spPr>
          <a:xfrm>
            <a:off x="486000" y="550723"/>
            <a:ext cx="8172000" cy="338554"/>
          </a:xfrm>
        </p:spPr>
        <p:txBody>
          <a:bodyPr/>
          <a:lstStyle/>
          <a:p>
            <a:r>
              <a:rPr lang="en-US" altLang="zh-CN" dirty="0"/>
              <a:t>BGP </a:t>
            </a:r>
            <a:r>
              <a:rPr lang="zh-CN" altLang="en-US" dirty="0"/>
              <a:t>报文具有通用首部</a:t>
            </a:r>
          </a:p>
        </p:txBody>
      </p:sp>
    </p:spTree>
    <p:extLst>
      <p:ext uri="{BB962C8B-B14F-4D97-AF65-F5344CB8AC3E}">
        <p14:creationId xmlns:p14="http://schemas.microsoft.com/office/powerpoint/2010/main" val="10916274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E6F7A13D-46BA-D6BB-FA93-BF8DF76C6633}"/>
              </a:ext>
            </a:extLst>
          </p:cNvPr>
          <p:cNvSpPr>
            <a:spLocks noGrp="1"/>
          </p:cNvSpPr>
          <p:nvPr>
            <p:ph type="title"/>
          </p:nvPr>
        </p:nvSpPr>
        <p:spPr>
          <a:xfrm>
            <a:off x="486000" y="550723"/>
            <a:ext cx="8172000" cy="338554"/>
          </a:xfrm>
        </p:spPr>
        <p:txBody>
          <a:bodyPr/>
          <a:lstStyle/>
          <a:p>
            <a:r>
              <a:rPr lang="en-US" altLang="zh-CN" dirty="0"/>
              <a:t>4.6.5  </a:t>
            </a:r>
            <a:r>
              <a:rPr lang="zh-CN" altLang="en-US" dirty="0"/>
              <a:t>路由器的构成</a:t>
            </a:r>
          </a:p>
        </p:txBody>
      </p:sp>
      <p:sp>
        <p:nvSpPr>
          <p:cNvPr id="7" name="内容占位符 6">
            <a:extLst>
              <a:ext uri="{FF2B5EF4-FFF2-40B4-BE49-F238E27FC236}">
                <a16:creationId xmlns:a16="http://schemas.microsoft.com/office/drawing/2014/main" id="{42CB0AB6-6D65-86BB-A688-EADB542891E0}"/>
              </a:ext>
            </a:extLst>
          </p:cNvPr>
          <p:cNvSpPr>
            <a:spLocks noGrp="1"/>
          </p:cNvSpPr>
          <p:nvPr>
            <p:ph sz="quarter" idx="11"/>
          </p:nvPr>
        </p:nvSpPr>
        <p:spPr>
          <a:xfrm>
            <a:off x="486000" y="900000"/>
            <a:ext cx="8172000" cy="3703500"/>
          </a:xfrm>
        </p:spPr>
        <p:txBody>
          <a:bodyPr/>
          <a:lstStyle/>
          <a:p>
            <a:r>
              <a:rPr lang="zh-CN" altLang="en-US" dirty="0"/>
              <a:t>路由器工作在网络层，用于互连网络</a:t>
            </a:r>
            <a:endParaRPr lang="en-US" altLang="zh-CN" dirty="0"/>
          </a:p>
          <a:p>
            <a:r>
              <a:rPr lang="zh-CN" altLang="en-US" dirty="0"/>
              <a:t>是互联网中的关键设备</a:t>
            </a:r>
            <a:endParaRPr lang="en-US" altLang="zh-CN" dirty="0"/>
          </a:p>
          <a:p>
            <a:r>
              <a:rPr lang="zh-CN" altLang="en-US" dirty="0"/>
              <a:t>路由器的主要工作：转发分组</a:t>
            </a:r>
          </a:p>
          <a:p>
            <a:r>
              <a:rPr lang="zh-CN" altLang="en-US" dirty="0"/>
              <a:t>把从某个输入端口收到的分组，按照分组要去的目的地（即目的网络），把该分组从路由器的某个合适的输出端口转发给下一跳路由器</a:t>
            </a:r>
          </a:p>
          <a:p>
            <a:endParaRPr lang="zh-CN" altLang="en-US" dirty="0"/>
          </a:p>
        </p:txBody>
      </p:sp>
    </p:spTree>
    <p:extLst>
      <p:ext uri="{BB962C8B-B14F-4D97-AF65-F5344CB8AC3E}">
        <p14:creationId xmlns:p14="http://schemas.microsoft.com/office/powerpoint/2010/main" val="28606629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页脚占位符 4"/>
          <p:cNvSpPr txBox="1">
            <a:spLocks/>
          </p:cNvSpPr>
          <p:nvPr/>
        </p:nvSpPr>
        <p:spPr>
          <a:xfrm>
            <a:off x="3361520" y="3975210"/>
            <a:ext cx="1947094" cy="283787"/>
          </a:xfrm>
          <a:prstGeom prst="rect">
            <a:avLst/>
          </a:prstGeom>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1200" b="1">
                <a:solidFill>
                  <a:srgbClr val="0000CC"/>
                </a:solidFill>
                <a:latin typeface="微软雅黑" pitchFamily="34" charset="-122"/>
                <a:ea typeface="微软雅黑" pitchFamily="34" charset="-122"/>
              </a:rPr>
              <a:t>课件制作人：谢希仁</a:t>
            </a:r>
          </a:p>
        </p:txBody>
      </p:sp>
      <p:sp>
        <p:nvSpPr>
          <p:cNvPr id="8" name="Rectangle 60"/>
          <p:cNvSpPr>
            <a:spLocks noChangeArrowheads="1"/>
          </p:cNvSpPr>
          <p:nvPr/>
        </p:nvSpPr>
        <p:spPr bwMode="auto">
          <a:xfrm>
            <a:off x="1260709" y="2359309"/>
            <a:ext cx="5408194" cy="1877225"/>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 name="Rectangle 3"/>
          <p:cNvSpPr>
            <a:spLocks noChangeArrowheads="1"/>
          </p:cNvSpPr>
          <p:nvPr/>
        </p:nvSpPr>
        <p:spPr bwMode="auto">
          <a:xfrm>
            <a:off x="3185386" y="1162175"/>
            <a:ext cx="1612970" cy="991284"/>
          </a:xfrm>
          <a:prstGeom prst="rect">
            <a:avLst/>
          </a:prstGeom>
          <a:noFill/>
          <a:ln w="12700">
            <a:solidFill>
              <a:schemeClr val="tx1"/>
            </a:solidFill>
            <a:miter lim="800000"/>
            <a:headEnd/>
            <a:tailEnd/>
          </a:ln>
          <a:effectLst/>
        </p:spPr>
        <p:txBody>
          <a:bodyPr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 name="Line 5"/>
          <p:cNvSpPr>
            <a:spLocks noChangeShapeType="1"/>
          </p:cNvSpPr>
          <p:nvPr/>
        </p:nvSpPr>
        <p:spPr bwMode="auto">
          <a:xfrm>
            <a:off x="6953145" y="1124731"/>
            <a:ext cx="0" cy="1212993"/>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1" name="Text Box 6"/>
          <p:cNvSpPr txBox="1">
            <a:spLocks noChangeArrowheads="1"/>
          </p:cNvSpPr>
          <p:nvPr/>
        </p:nvSpPr>
        <p:spPr bwMode="auto">
          <a:xfrm>
            <a:off x="6716608" y="1603739"/>
            <a:ext cx="1350698" cy="424732"/>
          </a:xfrm>
          <a:prstGeom prst="rect">
            <a:avLst/>
          </a:prstGeom>
          <a:solidFill>
            <a:srgbClr val="C3E3F9"/>
          </a:solidFill>
          <a:ln>
            <a:noFill/>
          </a:ln>
          <a:effectLst/>
        </p:spPr>
        <p:txBody>
          <a:bodyPr wrap="square">
            <a:spAutoFit/>
          </a:bodyPr>
          <a:lstStyle/>
          <a:p>
            <a:pPr>
              <a:lnSpc>
                <a:spcPct val="90000"/>
              </a:lnSpc>
            </a:pPr>
            <a:r>
              <a:rPr kumimoji="1" lang="zh-CN" altLang="en-US" sz="1200" dirty="0">
                <a:solidFill>
                  <a:srgbClr val="0000CC"/>
                </a:solidFill>
                <a:latin typeface="微软雅黑" pitchFamily="34" charset="-122"/>
                <a:ea typeface="微软雅黑" pitchFamily="34" charset="-122"/>
              </a:rPr>
              <a:t>路由选择、管理</a:t>
            </a:r>
            <a:endParaRPr kumimoji="1" lang="en-US" altLang="zh-CN" sz="1200" dirty="0">
              <a:solidFill>
                <a:srgbClr val="0000CC"/>
              </a:solidFill>
              <a:latin typeface="微软雅黑" pitchFamily="34" charset="-122"/>
              <a:ea typeface="微软雅黑" pitchFamily="34" charset="-122"/>
            </a:endParaRPr>
          </a:p>
          <a:p>
            <a:pPr>
              <a:lnSpc>
                <a:spcPct val="90000"/>
              </a:lnSpc>
            </a:pPr>
            <a:r>
              <a:rPr kumimoji="1" lang="zh-CN" altLang="en-US" sz="1200" dirty="0">
                <a:solidFill>
                  <a:srgbClr val="C00000"/>
                </a:solidFill>
                <a:latin typeface="微软雅黑" pitchFamily="34" charset="-122"/>
                <a:ea typeface="微软雅黑" pitchFamily="34" charset="-122"/>
              </a:rPr>
              <a:t>控制层面</a:t>
            </a:r>
            <a:r>
              <a:rPr kumimoji="1" lang="zh-CN" altLang="en-US" sz="1200" dirty="0">
                <a:solidFill>
                  <a:srgbClr val="0000CC"/>
                </a:solidFill>
                <a:latin typeface="微软雅黑" pitchFamily="34" charset="-122"/>
                <a:ea typeface="微软雅黑" pitchFamily="34" charset="-122"/>
              </a:rPr>
              <a:t>（软件）</a:t>
            </a:r>
          </a:p>
        </p:txBody>
      </p:sp>
      <p:sp>
        <p:nvSpPr>
          <p:cNvPr id="12" name="Text Box 7"/>
          <p:cNvSpPr txBox="1">
            <a:spLocks noChangeArrowheads="1"/>
          </p:cNvSpPr>
          <p:nvPr/>
        </p:nvSpPr>
        <p:spPr bwMode="auto">
          <a:xfrm>
            <a:off x="3221680" y="1130643"/>
            <a:ext cx="15073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dirty="0">
                <a:latin typeface="微软雅黑" pitchFamily="34" charset="-122"/>
                <a:ea typeface="微软雅黑" pitchFamily="34" charset="-122"/>
              </a:rPr>
              <a:t>路由选择处理机</a:t>
            </a:r>
          </a:p>
        </p:txBody>
      </p:sp>
      <p:sp>
        <p:nvSpPr>
          <p:cNvPr id="13" name="Line 8"/>
          <p:cNvSpPr>
            <a:spLocks noChangeShapeType="1"/>
          </p:cNvSpPr>
          <p:nvPr/>
        </p:nvSpPr>
        <p:spPr bwMode="auto">
          <a:xfrm>
            <a:off x="3991337" y="1638110"/>
            <a:ext cx="0" cy="14682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Rectangle 9"/>
          <p:cNvSpPr>
            <a:spLocks noChangeArrowheads="1"/>
          </p:cNvSpPr>
          <p:nvPr/>
        </p:nvSpPr>
        <p:spPr bwMode="auto">
          <a:xfrm>
            <a:off x="3419165" y="1455816"/>
            <a:ext cx="1144345" cy="242401"/>
          </a:xfrm>
          <a:prstGeom prst="rect">
            <a:avLst/>
          </a:prstGeom>
          <a:noFill/>
          <a:ln w="12700">
            <a:solidFill>
              <a:schemeClr val="tx1"/>
            </a:solidFill>
            <a:miter lim="800000"/>
            <a:headEnd/>
            <a:tailEnd/>
          </a:ln>
          <a:effectLst/>
        </p:spPr>
        <p:txBody>
          <a:bodyPr wrap="none" anchor="ctr"/>
          <a:lstStyle/>
          <a:p>
            <a:pPr algn="ctr"/>
            <a:r>
              <a:rPr kumimoji="1" lang="zh-CN" altLang="en-US" sz="1200" dirty="0">
                <a:latin typeface="微软雅黑" pitchFamily="34" charset="-122"/>
                <a:ea typeface="微软雅黑" pitchFamily="34" charset="-122"/>
              </a:rPr>
              <a:t>路由选择协议</a:t>
            </a:r>
          </a:p>
        </p:txBody>
      </p:sp>
      <p:sp>
        <p:nvSpPr>
          <p:cNvPr id="15" name="Rectangle 10"/>
          <p:cNvSpPr>
            <a:spLocks noChangeArrowheads="1"/>
          </p:cNvSpPr>
          <p:nvPr/>
        </p:nvSpPr>
        <p:spPr bwMode="auto">
          <a:xfrm>
            <a:off x="3601705" y="1786900"/>
            <a:ext cx="780331" cy="256197"/>
          </a:xfrm>
          <a:prstGeom prst="rect">
            <a:avLst/>
          </a:prstGeom>
          <a:noFill/>
          <a:ln w="12700">
            <a:solidFill>
              <a:schemeClr val="tx1"/>
            </a:solidFill>
            <a:miter lim="800000"/>
            <a:headEnd/>
            <a:tailEnd/>
          </a:ln>
          <a:effectLst/>
        </p:spPr>
        <p:txBody>
          <a:bodyPr wrap="none" anchor="ctr"/>
          <a:lstStyle/>
          <a:p>
            <a:pPr algn="ctr"/>
            <a:r>
              <a:rPr kumimoji="1" lang="zh-CN" altLang="en-US" sz="1200">
                <a:latin typeface="微软雅黑" pitchFamily="34" charset="-122"/>
                <a:ea typeface="微软雅黑" pitchFamily="34" charset="-122"/>
              </a:rPr>
              <a:t>路由表</a:t>
            </a:r>
          </a:p>
        </p:txBody>
      </p:sp>
      <p:sp>
        <p:nvSpPr>
          <p:cNvPr id="16" name="Rectangle 11"/>
          <p:cNvSpPr>
            <a:spLocks noChangeArrowheads="1"/>
          </p:cNvSpPr>
          <p:nvPr/>
        </p:nvSpPr>
        <p:spPr bwMode="auto">
          <a:xfrm>
            <a:off x="1520109" y="2600726"/>
            <a:ext cx="1560664" cy="450314"/>
          </a:xfrm>
          <a:prstGeom prst="rect">
            <a:avLst/>
          </a:prstGeom>
          <a:solidFill>
            <a:srgbClr val="66FFFF"/>
          </a:solidFill>
          <a:ln w="12700" cmpd="sng">
            <a:solidFill>
              <a:schemeClr val="tx1"/>
            </a:solidFill>
            <a:prstDash val="dash"/>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Rectangle 12"/>
          <p:cNvSpPr>
            <a:spLocks noChangeArrowheads="1"/>
          </p:cNvSpPr>
          <p:nvPr/>
        </p:nvSpPr>
        <p:spPr bwMode="auto">
          <a:xfrm>
            <a:off x="2664453" y="2702218"/>
            <a:ext cx="313841" cy="245358"/>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18" name="Line 13"/>
          <p:cNvSpPr>
            <a:spLocks noChangeShapeType="1"/>
          </p:cNvSpPr>
          <p:nvPr/>
        </p:nvSpPr>
        <p:spPr bwMode="auto">
          <a:xfrm flipV="1">
            <a:off x="1417630" y="2825390"/>
            <a:ext cx="23911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19" name="Line 14"/>
          <p:cNvSpPr>
            <a:spLocks noChangeShapeType="1"/>
          </p:cNvSpPr>
          <p:nvPr/>
        </p:nvSpPr>
        <p:spPr bwMode="auto">
          <a:xfrm>
            <a:off x="1954900" y="2825390"/>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0" name="Line 15"/>
          <p:cNvSpPr>
            <a:spLocks noChangeShapeType="1"/>
          </p:cNvSpPr>
          <p:nvPr/>
        </p:nvSpPr>
        <p:spPr bwMode="auto">
          <a:xfrm>
            <a:off x="2466597" y="2825390"/>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1" name="Line 16"/>
          <p:cNvSpPr>
            <a:spLocks noChangeShapeType="1"/>
          </p:cNvSpPr>
          <p:nvPr/>
        </p:nvSpPr>
        <p:spPr bwMode="auto">
          <a:xfrm>
            <a:off x="2978294" y="2825390"/>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2" name="Text Box 17"/>
          <p:cNvSpPr txBox="1">
            <a:spLocks noChangeArrowheads="1"/>
          </p:cNvSpPr>
          <p:nvPr/>
        </p:nvSpPr>
        <p:spPr bwMode="auto">
          <a:xfrm>
            <a:off x="1881011"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CC"/>
                </a:solidFill>
                <a:latin typeface="微软雅黑" pitchFamily="34" charset="-122"/>
                <a:ea typeface="微软雅黑" pitchFamily="34" charset="-122"/>
              </a:rPr>
              <a:t>输入端口</a:t>
            </a:r>
          </a:p>
        </p:txBody>
      </p:sp>
      <p:sp>
        <p:nvSpPr>
          <p:cNvPr id="23" name="Rectangle 18"/>
          <p:cNvSpPr>
            <a:spLocks noChangeArrowheads="1"/>
          </p:cNvSpPr>
          <p:nvPr/>
        </p:nvSpPr>
        <p:spPr bwMode="auto">
          <a:xfrm>
            <a:off x="1520109" y="3577228"/>
            <a:ext cx="1560664" cy="450315"/>
          </a:xfrm>
          <a:prstGeom prst="rect">
            <a:avLst/>
          </a:prstGeom>
          <a:solidFill>
            <a:srgbClr val="00FFFF"/>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Rectangle 19"/>
          <p:cNvSpPr>
            <a:spLocks noChangeArrowheads="1"/>
          </p:cNvSpPr>
          <p:nvPr/>
        </p:nvSpPr>
        <p:spPr bwMode="auto">
          <a:xfrm>
            <a:off x="2664453" y="3678722"/>
            <a:ext cx="313841" cy="246343"/>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25" name="Line 20"/>
          <p:cNvSpPr>
            <a:spLocks noChangeShapeType="1"/>
          </p:cNvSpPr>
          <p:nvPr/>
        </p:nvSpPr>
        <p:spPr bwMode="auto">
          <a:xfrm flipV="1">
            <a:off x="1417630" y="3801893"/>
            <a:ext cx="23911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6" name="Line 21"/>
          <p:cNvSpPr>
            <a:spLocks noChangeShapeType="1"/>
          </p:cNvSpPr>
          <p:nvPr/>
        </p:nvSpPr>
        <p:spPr bwMode="auto">
          <a:xfrm>
            <a:off x="1954900" y="3801893"/>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7" name="Line 22"/>
          <p:cNvSpPr>
            <a:spLocks noChangeShapeType="1"/>
          </p:cNvSpPr>
          <p:nvPr/>
        </p:nvSpPr>
        <p:spPr bwMode="auto">
          <a:xfrm>
            <a:off x="2466597" y="3801893"/>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8" name="Line 23"/>
          <p:cNvSpPr>
            <a:spLocks noChangeShapeType="1"/>
          </p:cNvSpPr>
          <p:nvPr/>
        </p:nvSpPr>
        <p:spPr bwMode="auto">
          <a:xfrm>
            <a:off x="2978294" y="3801893"/>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9" name="Rectangle 24"/>
          <p:cNvSpPr>
            <a:spLocks noChangeArrowheads="1"/>
          </p:cNvSpPr>
          <p:nvPr/>
        </p:nvSpPr>
        <p:spPr bwMode="auto">
          <a:xfrm>
            <a:off x="3185386" y="2600725"/>
            <a:ext cx="1612970" cy="1434701"/>
          </a:xfrm>
          <a:prstGeom prst="rect">
            <a:avLst/>
          </a:prstGeom>
          <a:solidFill>
            <a:srgbClr val="FFCC00"/>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0" name="Rectangle 25"/>
          <p:cNvSpPr>
            <a:spLocks noChangeArrowheads="1"/>
          </p:cNvSpPr>
          <p:nvPr/>
        </p:nvSpPr>
        <p:spPr bwMode="auto">
          <a:xfrm flipH="1">
            <a:off x="4902969" y="2600726"/>
            <a:ext cx="1558529" cy="450314"/>
          </a:xfrm>
          <a:prstGeom prst="rect">
            <a:avLst/>
          </a:prstGeom>
          <a:solidFill>
            <a:srgbClr val="00FFFF"/>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微软雅黑" pitchFamily="34" charset="-122"/>
              <a:ea typeface="微软雅黑" pitchFamily="34" charset="-122"/>
            </a:endParaRPr>
          </a:p>
        </p:txBody>
      </p:sp>
      <p:sp>
        <p:nvSpPr>
          <p:cNvPr id="31" name="Line 26"/>
          <p:cNvSpPr>
            <a:spLocks noChangeShapeType="1"/>
          </p:cNvSpPr>
          <p:nvPr/>
        </p:nvSpPr>
        <p:spPr bwMode="auto">
          <a:xfrm flipV="1">
            <a:off x="6351548" y="2825390"/>
            <a:ext cx="214565"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2" name="Line 27"/>
          <p:cNvSpPr>
            <a:spLocks noChangeShapeType="1"/>
          </p:cNvSpPr>
          <p:nvPr/>
        </p:nvSpPr>
        <p:spPr bwMode="auto">
          <a:xfrm rot="10800000" flipH="1">
            <a:off x="5838087" y="2825390"/>
            <a:ext cx="208160"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3" name="Line 28"/>
          <p:cNvSpPr>
            <a:spLocks noChangeShapeType="1"/>
          </p:cNvSpPr>
          <p:nvPr/>
        </p:nvSpPr>
        <p:spPr bwMode="auto">
          <a:xfrm>
            <a:off x="5335626" y="2825390"/>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4" name="Line 29"/>
          <p:cNvSpPr>
            <a:spLocks noChangeShapeType="1"/>
          </p:cNvSpPr>
          <p:nvPr/>
        </p:nvSpPr>
        <p:spPr bwMode="auto">
          <a:xfrm>
            <a:off x="4798356" y="2825390"/>
            <a:ext cx="248724"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5" name="Rectangle 30"/>
          <p:cNvSpPr>
            <a:spLocks noChangeArrowheads="1"/>
          </p:cNvSpPr>
          <p:nvPr/>
        </p:nvSpPr>
        <p:spPr bwMode="auto">
          <a:xfrm flipH="1">
            <a:off x="4902969" y="3577228"/>
            <a:ext cx="1558529" cy="450315"/>
          </a:xfrm>
          <a:prstGeom prst="rect">
            <a:avLst/>
          </a:prstGeom>
          <a:solidFill>
            <a:srgbClr val="00FFFF"/>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微软雅黑" pitchFamily="34" charset="-122"/>
              <a:ea typeface="微软雅黑" pitchFamily="34" charset="-122"/>
            </a:endParaRPr>
          </a:p>
        </p:txBody>
      </p:sp>
      <p:sp>
        <p:nvSpPr>
          <p:cNvPr id="36" name="Line 31"/>
          <p:cNvSpPr>
            <a:spLocks noChangeShapeType="1"/>
          </p:cNvSpPr>
          <p:nvPr/>
        </p:nvSpPr>
        <p:spPr bwMode="auto">
          <a:xfrm flipV="1">
            <a:off x="6351548" y="3801893"/>
            <a:ext cx="214565"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7" name="Line 32"/>
          <p:cNvSpPr>
            <a:spLocks noChangeShapeType="1"/>
          </p:cNvSpPr>
          <p:nvPr/>
        </p:nvSpPr>
        <p:spPr bwMode="auto">
          <a:xfrm>
            <a:off x="5838087" y="3801893"/>
            <a:ext cx="208160"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8" name="Line 33"/>
          <p:cNvSpPr>
            <a:spLocks noChangeShapeType="1"/>
          </p:cNvSpPr>
          <p:nvPr/>
        </p:nvSpPr>
        <p:spPr bwMode="auto">
          <a:xfrm>
            <a:off x="5335626" y="3801893"/>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9" name="Line 34"/>
          <p:cNvSpPr>
            <a:spLocks noChangeShapeType="1"/>
          </p:cNvSpPr>
          <p:nvPr/>
        </p:nvSpPr>
        <p:spPr bwMode="auto">
          <a:xfrm flipV="1">
            <a:off x="4798356" y="3801893"/>
            <a:ext cx="240185"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0" name="Text Box 35"/>
          <p:cNvSpPr txBox="1">
            <a:spLocks noChangeArrowheads="1"/>
          </p:cNvSpPr>
          <p:nvPr/>
        </p:nvSpPr>
        <p:spPr bwMode="auto">
          <a:xfrm>
            <a:off x="3615941" y="321245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交换结构</a:t>
            </a:r>
          </a:p>
        </p:txBody>
      </p:sp>
      <p:sp>
        <p:nvSpPr>
          <p:cNvPr id="41" name="Text Box 36"/>
          <p:cNvSpPr txBox="1">
            <a:spLocks noChangeArrowheads="1"/>
          </p:cNvSpPr>
          <p:nvPr/>
        </p:nvSpPr>
        <p:spPr bwMode="auto">
          <a:xfrm>
            <a:off x="1936427"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rgbClr val="0000CC"/>
                </a:solidFill>
                <a:latin typeface="微软雅黑" pitchFamily="34" charset="-122"/>
                <a:ea typeface="微软雅黑" pitchFamily="34" charset="-122"/>
              </a:rPr>
              <a:t>输入端口</a:t>
            </a:r>
          </a:p>
        </p:txBody>
      </p:sp>
      <p:sp>
        <p:nvSpPr>
          <p:cNvPr id="42" name="Text Box 37"/>
          <p:cNvSpPr txBox="1">
            <a:spLocks noChangeArrowheads="1"/>
          </p:cNvSpPr>
          <p:nvPr/>
        </p:nvSpPr>
        <p:spPr bwMode="auto">
          <a:xfrm>
            <a:off x="5317154"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rgbClr val="0000CC"/>
                </a:solidFill>
                <a:latin typeface="微软雅黑" pitchFamily="34" charset="-122"/>
                <a:ea typeface="微软雅黑" pitchFamily="34" charset="-122"/>
              </a:rPr>
              <a:t>输出端口</a:t>
            </a:r>
          </a:p>
        </p:txBody>
      </p:sp>
      <p:sp>
        <p:nvSpPr>
          <p:cNvPr id="43" name="Line 38"/>
          <p:cNvSpPr>
            <a:spLocks noChangeShapeType="1"/>
          </p:cNvSpPr>
          <p:nvPr/>
        </p:nvSpPr>
        <p:spPr bwMode="auto">
          <a:xfrm>
            <a:off x="1025236" y="2345606"/>
            <a:ext cx="7305964" cy="0"/>
          </a:xfrm>
          <a:prstGeom prst="line">
            <a:avLst/>
          </a:prstGeom>
          <a:noFill/>
          <a:ln w="28575">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4" name="Line 39"/>
          <p:cNvSpPr>
            <a:spLocks noChangeShapeType="1"/>
          </p:cNvSpPr>
          <p:nvPr/>
        </p:nvSpPr>
        <p:spPr bwMode="auto">
          <a:xfrm>
            <a:off x="6953145" y="2345606"/>
            <a:ext cx="0" cy="1890928"/>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5" name="Text Box 40"/>
          <p:cNvSpPr txBox="1">
            <a:spLocks noChangeArrowheads="1"/>
          </p:cNvSpPr>
          <p:nvPr/>
        </p:nvSpPr>
        <p:spPr bwMode="auto">
          <a:xfrm>
            <a:off x="6716608" y="3113945"/>
            <a:ext cx="1305865" cy="424732"/>
          </a:xfrm>
          <a:prstGeom prst="rect">
            <a:avLst/>
          </a:prstGeom>
          <a:solidFill>
            <a:srgbClr val="C3E3F9"/>
          </a:solidFill>
          <a:ln>
            <a:noFill/>
          </a:ln>
          <a:effectLst/>
        </p:spPr>
        <p:txBody>
          <a:bodyPr wrap="square">
            <a:spAutoFit/>
          </a:bodyPr>
          <a:lstStyle/>
          <a:p>
            <a:pPr>
              <a:lnSpc>
                <a:spcPct val="90000"/>
              </a:lnSpc>
            </a:pPr>
            <a:r>
              <a:rPr kumimoji="1" lang="zh-CN" altLang="en-US" sz="1200" dirty="0">
                <a:solidFill>
                  <a:srgbClr val="0000CC"/>
                </a:solidFill>
                <a:latin typeface="微软雅黑" pitchFamily="34" charset="-122"/>
                <a:ea typeface="微软雅黑" pitchFamily="34" charset="-122"/>
              </a:rPr>
              <a:t>分组转发</a:t>
            </a:r>
            <a:endParaRPr kumimoji="1" lang="en-US" altLang="zh-CN" sz="1200" dirty="0">
              <a:solidFill>
                <a:srgbClr val="0000CC"/>
              </a:solidFill>
              <a:latin typeface="微软雅黑" pitchFamily="34" charset="-122"/>
              <a:ea typeface="微软雅黑" pitchFamily="34" charset="-122"/>
            </a:endParaRPr>
          </a:p>
          <a:p>
            <a:pPr>
              <a:lnSpc>
                <a:spcPct val="90000"/>
              </a:lnSpc>
            </a:pPr>
            <a:r>
              <a:rPr kumimoji="1" lang="zh-CN" altLang="en-US" sz="1200" dirty="0">
                <a:solidFill>
                  <a:srgbClr val="C00000"/>
                </a:solidFill>
                <a:latin typeface="微软雅黑" pitchFamily="34" charset="-122"/>
                <a:ea typeface="微软雅黑" pitchFamily="34" charset="-122"/>
              </a:rPr>
              <a:t>数据层面</a:t>
            </a:r>
            <a:r>
              <a:rPr kumimoji="1" lang="zh-CN" altLang="en-US" sz="1200" dirty="0">
                <a:solidFill>
                  <a:srgbClr val="0000CC"/>
                </a:solidFill>
                <a:latin typeface="微软雅黑" pitchFamily="34" charset="-122"/>
                <a:ea typeface="微软雅黑" pitchFamily="34" charset="-122"/>
              </a:rPr>
              <a:t>（硬件）</a:t>
            </a:r>
          </a:p>
        </p:txBody>
      </p:sp>
      <p:sp>
        <p:nvSpPr>
          <p:cNvPr id="49" name="Text Box 44"/>
          <p:cNvSpPr txBox="1">
            <a:spLocks noChangeArrowheads="1"/>
          </p:cNvSpPr>
          <p:nvPr/>
        </p:nvSpPr>
        <p:spPr bwMode="auto">
          <a:xfrm>
            <a:off x="5317154"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rgbClr val="0000CC"/>
                </a:solidFill>
                <a:latin typeface="微软雅黑" pitchFamily="34" charset="-122"/>
                <a:ea typeface="微软雅黑" pitchFamily="34" charset="-122"/>
              </a:rPr>
              <a:t>输出端口</a:t>
            </a:r>
          </a:p>
        </p:txBody>
      </p:sp>
      <p:sp>
        <p:nvSpPr>
          <p:cNvPr id="50" name="Text Box 45"/>
          <p:cNvSpPr txBox="1">
            <a:spLocks noChangeArrowheads="1"/>
          </p:cNvSpPr>
          <p:nvPr/>
        </p:nvSpPr>
        <p:spPr bwMode="auto">
          <a:xfrm rot="5400000">
            <a:off x="2250725" y="309237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t>
            </a:r>
          </a:p>
        </p:txBody>
      </p:sp>
      <p:sp>
        <p:nvSpPr>
          <p:cNvPr id="51" name="Text Box 46"/>
          <p:cNvSpPr txBox="1">
            <a:spLocks noChangeArrowheads="1"/>
          </p:cNvSpPr>
          <p:nvPr/>
        </p:nvSpPr>
        <p:spPr bwMode="auto">
          <a:xfrm rot="5400000">
            <a:off x="5615439" y="309237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t>
            </a:r>
          </a:p>
        </p:txBody>
      </p:sp>
      <p:sp>
        <p:nvSpPr>
          <p:cNvPr id="54" name="Rectangle 49"/>
          <p:cNvSpPr>
            <a:spLocks noChangeArrowheads="1"/>
          </p:cNvSpPr>
          <p:nvPr/>
        </p:nvSpPr>
        <p:spPr bwMode="auto">
          <a:xfrm>
            <a:off x="6043044" y="2744590"/>
            <a:ext cx="311706" cy="175396"/>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55" name="Rectangle 50"/>
          <p:cNvSpPr>
            <a:spLocks noChangeArrowheads="1"/>
          </p:cNvSpPr>
          <p:nvPr/>
        </p:nvSpPr>
        <p:spPr bwMode="auto">
          <a:xfrm>
            <a:off x="6059057" y="3712224"/>
            <a:ext cx="311706" cy="17736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56" name="Rectangle 51"/>
          <p:cNvSpPr>
            <a:spLocks noChangeArrowheads="1"/>
          </p:cNvSpPr>
          <p:nvPr/>
        </p:nvSpPr>
        <p:spPr bwMode="auto">
          <a:xfrm>
            <a:off x="1673826" y="3712224"/>
            <a:ext cx="311706" cy="17736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57" name="Rectangle 52"/>
          <p:cNvSpPr>
            <a:spLocks noChangeArrowheads="1"/>
          </p:cNvSpPr>
          <p:nvPr/>
        </p:nvSpPr>
        <p:spPr bwMode="auto">
          <a:xfrm flipH="1">
            <a:off x="5037473" y="2702218"/>
            <a:ext cx="311706" cy="245358"/>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58" name="Rectangle 53"/>
          <p:cNvSpPr>
            <a:spLocks noChangeArrowheads="1"/>
          </p:cNvSpPr>
          <p:nvPr/>
        </p:nvSpPr>
        <p:spPr bwMode="auto">
          <a:xfrm flipH="1">
            <a:off x="5037473" y="3678722"/>
            <a:ext cx="311706" cy="246343"/>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59" name="Rectangle 54"/>
          <p:cNvSpPr>
            <a:spLocks noChangeArrowheads="1"/>
          </p:cNvSpPr>
          <p:nvPr/>
        </p:nvSpPr>
        <p:spPr bwMode="auto">
          <a:xfrm>
            <a:off x="1673826" y="2744590"/>
            <a:ext cx="311706" cy="175396"/>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60" name="Rectangle 55"/>
          <p:cNvSpPr>
            <a:spLocks noChangeArrowheads="1"/>
          </p:cNvSpPr>
          <p:nvPr/>
        </p:nvSpPr>
        <p:spPr bwMode="auto">
          <a:xfrm>
            <a:off x="2169139" y="2723896"/>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1" name="Rectangle 56"/>
          <p:cNvSpPr>
            <a:spLocks noChangeArrowheads="1"/>
          </p:cNvSpPr>
          <p:nvPr/>
        </p:nvSpPr>
        <p:spPr bwMode="auto">
          <a:xfrm>
            <a:off x="2169139" y="3699414"/>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2" name="Rectangle 57"/>
          <p:cNvSpPr>
            <a:spLocks noChangeArrowheads="1"/>
          </p:cNvSpPr>
          <p:nvPr/>
        </p:nvSpPr>
        <p:spPr bwMode="auto">
          <a:xfrm flipH="1">
            <a:off x="5540259" y="2723896"/>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3" name="Rectangle 58"/>
          <p:cNvSpPr>
            <a:spLocks noChangeArrowheads="1"/>
          </p:cNvSpPr>
          <p:nvPr/>
        </p:nvSpPr>
        <p:spPr bwMode="auto">
          <a:xfrm flipH="1">
            <a:off x="5547731" y="3699414"/>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4" name="AutoShape 4"/>
          <p:cNvSpPr>
            <a:spLocks noChangeArrowheads="1"/>
          </p:cNvSpPr>
          <p:nvPr/>
        </p:nvSpPr>
        <p:spPr bwMode="auto">
          <a:xfrm>
            <a:off x="3835484" y="2108132"/>
            <a:ext cx="311706" cy="491701"/>
          </a:xfrm>
          <a:prstGeom prst="upDownArrow">
            <a:avLst>
              <a:gd name="adj1" fmla="val 50000"/>
              <a:gd name="adj2" fmla="val 34178"/>
            </a:avLst>
          </a:prstGeom>
          <a:solidFill>
            <a:srgbClr val="CC00CC"/>
          </a:solidFill>
          <a:ln w="2857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cxnSp>
        <p:nvCxnSpPr>
          <p:cNvPr id="67" name="肘形连接符 66"/>
          <p:cNvCxnSpPr>
            <a:stCxn id="9" idx="1"/>
            <a:endCxn id="17" idx="0"/>
          </p:cNvCxnSpPr>
          <p:nvPr/>
        </p:nvCxnSpPr>
        <p:spPr>
          <a:xfrm rot="10800000" flipV="1">
            <a:off x="2821374" y="1657816"/>
            <a:ext cx="364012" cy="1044401"/>
          </a:xfrm>
          <a:prstGeom prst="bentConnector2">
            <a:avLst/>
          </a:prstGeom>
          <a:ln w="12700">
            <a:prstDash val="sysDash"/>
            <a:tailEnd type="triangle" w="med" len="lg"/>
          </a:ln>
        </p:spPr>
        <p:style>
          <a:lnRef idx="1">
            <a:schemeClr val="dk1"/>
          </a:lnRef>
          <a:fillRef idx="0">
            <a:schemeClr val="dk1"/>
          </a:fillRef>
          <a:effectRef idx="0">
            <a:schemeClr val="dk1"/>
          </a:effectRef>
          <a:fontRef idx="minor">
            <a:schemeClr val="tx1"/>
          </a:fontRef>
        </p:style>
      </p:cxnSp>
      <p:sp>
        <p:nvSpPr>
          <p:cNvPr id="68" name="矩形 67"/>
          <p:cNvSpPr/>
          <p:nvPr/>
        </p:nvSpPr>
        <p:spPr>
          <a:xfrm>
            <a:off x="7013806" y="1269142"/>
            <a:ext cx="1415772" cy="338554"/>
          </a:xfrm>
          <a:prstGeom prst="rect">
            <a:avLst/>
          </a:prstGeom>
        </p:spPr>
        <p:txBody>
          <a:bodyPr wrap="none">
            <a:spAutoFit/>
          </a:bodyPr>
          <a:lstStyle/>
          <a:p>
            <a:r>
              <a:rPr lang="zh-CN" altLang="en-US" sz="1600" dirty="0">
                <a:latin typeface="微软雅黑" panose="020B0503020204020204" pitchFamily="34" charset="-122"/>
                <a:ea typeface="微软雅黑" panose="020B0503020204020204" pitchFamily="34" charset="-122"/>
              </a:rPr>
              <a:t>路由选择部分</a:t>
            </a:r>
            <a:endParaRPr lang="en-US" altLang="zh-CN" sz="1600" dirty="0">
              <a:latin typeface="微软雅黑" panose="020B0503020204020204" pitchFamily="34" charset="-122"/>
              <a:ea typeface="微软雅黑" panose="020B0503020204020204" pitchFamily="34" charset="-122"/>
            </a:endParaRPr>
          </a:p>
        </p:txBody>
      </p:sp>
      <p:sp>
        <p:nvSpPr>
          <p:cNvPr id="69" name="矩形 68"/>
          <p:cNvSpPr/>
          <p:nvPr/>
        </p:nvSpPr>
        <p:spPr>
          <a:xfrm>
            <a:off x="7013806" y="2501155"/>
            <a:ext cx="1415772" cy="338554"/>
          </a:xfrm>
          <a:prstGeom prst="rect">
            <a:avLst/>
          </a:prstGeom>
        </p:spPr>
        <p:txBody>
          <a:bodyPr wrap="none">
            <a:spAutoFit/>
          </a:bodyPr>
          <a:lstStyle/>
          <a:p>
            <a:r>
              <a:rPr lang="zh-CN" altLang="en-US" sz="1600" dirty="0">
                <a:latin typeface="微软雅黑" panose="020B0503020204020204" pitchFamily="34" charset="-122"/>
                <a:ea typeface="微软雅黑" panose="020B0503020204020204" pitchFamily="34" charset="-122"/>
              </a:rPr>
              <a:t>分组转发部分</a:t>
            </a:r>
          </a:p>
        </p:txBody>
      </p:sp>
      <p:cxnSp>
        <p:nvCxnSpPr>
          <p:cNvPr id="71" name="直接箭头连接符 70"/>
          <p:cNvCxnSpPr/>
          <p:nvPr/>
        </p:nvCxnSpPr>
        <p:spPr>
          <a:xfrm>
            <a:off x="2821373" y="2947576"/>
            <a:ext cx="0" cy="731146"/>
          </a:xfrm>
          <a:prstGeom prst="straightConnector1">
            <a:avLst/>
          </a:prstGeom>
          <a:ln w="12700">
            <a:solidFill>
              <a:schemeClr val="tx1"/>
            </a:solidFill>
            <a:prstDash val="sysDash"/>
            <a:tailEnd type="triangle" w="med" len="lg"/>
          </a:ln>
        </p:spPr>
        <p:style>
          <a:lnRef idx="1">
            <a:schemeClr val="accent1"/>
          </a:lnRef>
          <a:fillRef idx="0">
            <a:schemeClr val="accent1"/>
          </a:fillRef>
          <a:effectRef idx="0">
            <a:schemeClr val="accent1"/>
          </a:effectRef>
          <a:fontRef idx="minor">
            <a:schemeClr val="tx1"/>
          </a:fontRef>
        </p:style>
      </p:cxnSp>
      <p:sp>
        <p:nvSpPr>
          <p:cNvPr id="2" name="标题 1">
            <a:extLst>
              <a:ext uri="{FF2B5EF4-FFF2-40B4-BE49-F238E27FC236}">
                <a16:creationId xmlns:a16="http://schemas.microsoft.com/office/drawing/2014/main" id="{5FEF60FA-4A08-73C1-464B-EBDE0E9D8114}"/>
              </a:ext>
            </a:extLst>
          </p:cNvPr>
          <p:cNvSpPr>
            <a:spLocks noGrp="1"/>
          </p:cNvSpPr>
          <p:nvPr>
            <p:ph type="title"/>
          </p:nvPr>
        </p:nvSpPr>
        <p:spPr>
          <a:xfrm>
            <a:off x="486000" y="550723"/>
            <a:ext cx="8172000" cy="338554"/>
          </a:xfrm>
        </p:spPr>
        <p:txBody>
          <a:bodyPr/>
          <a:lstStyle/>
          <a:p>
            <a:r>
              <a:rPr lang="en-US" altLang="zh-CN" dirty="0"/>
              <a:t>1. </a:t>
            </a:r>
            <a:r>
              <a:rPr lang="zh-CN" altLang="en-US" dirty="0"/>
              <a:t>路由器的结构</a:t>
            </a:r>
          </a:p>
        </p:txBody>
      </p:sp>
    </p:spTree>
    <p:extLst>
      <p:ext uri="{BB962C8B-B14F-4D97-AF65-F5344CB8AC3E}">
        <p14:creationId xmlns:p14="http://schemas.microsoft.com/office/powerpoint/2010/main" val="543701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任意多边形 5"/>
          <p:cNvSpPr/>
          <p:nvPr/>
        </p:nvSpPr>
        <p:spPr>
          <a:xfrm>
            <a:off x="485776" y="1039603"/>
            <a:ext cx="3773516"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转发</a:t>
            </a:r>
          </a:p>
        </p:txBody>
      </p:sp>
      <p:sp>
        <p:nvSpPr>
          <p:cNvPr id="7" name="任意多边形 6"/>
          <p:cNvSpPr/>
          <p:nvPr/>
        </p:nvSpPr>
        <p:spPr>
          <a:xfrm>
            <a:off x="485776" y="1615602"/>
            <a:ext cx="3773516"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根据转发表将用户的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数据报从合适的端口转发出去</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仅涉及到一个路由器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转发表是从路由表得出的</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转发表必须包含完成转发功能所必需的信息，每一行必须包含从要到达的目的网络到输出端口和某些 </a:t>
            </a:r>
            <a:r>
              <a:rPr lang="en-US" altLang="en-US" sz="1400" kern="1200" dirty="0">
                <a:latin typeface="微软雅黑" panose="020B0503020204020204" pitchFamily="34" charset="-122"/>
                <a:ea typeface="微软雅黑" panose="020B0503020204020204" pitchFamily="34" charset="-122"/>
              </a:rPr>
              <a:t>MAC </a:t>
            </a:r>
            <a:r>
              <a:rPr lang="zh-CN" altLang="en-US" sz="1400" kern="1200" dirty="0">
                <a:latin typeface="微软雅黑" panose="020B0503020204020204" pitchFamily="34" charset="-122"/>
                <a:ea typeface="微软雅黑" panose="020B0503020204020204" pitchFamily="34" charset="-122"/>
              </a:rPr>
              <a:t>地址信息（如下一跳的以太网地址）的映射</a:t>
            </a:r>
          </a:p>
          <a:p>
            <a:pPr marL="114300" lvl="1" indent="-114300" algn="l" defTabSz="622300">
              <a:lnSpc>
                <a:spcPts val="2400"/>
              </a:lnSpc>
              <a:spcBef>
                <a:spcPct val="0"/>
              </a:spcBef>
              <a:spcAft>
                <a:spcPct val="15000"/>
              </a:spcAft>
              <a:buChar char="••"/>
            </a:pPr>
            <a:endParaRPr lang="zh-CN" altLang="en-US" sz="1400" kern="1200" dirty="0">
              <a:latin typeface="微软雅黑" panose="020B0503020204020204" pitchFamily="34" charset="-122"/>
              <a:ea typeface="微软雅黑" panose="020B0503020204020204" pitchFamily="34" charset="-122"/>
            </a:endParaRPr>
          </a:p>
        </p:txBody>
      </p:sp>
      <p:sp>
        <p:nvSpPr>
          <p:cNvPr id="8" name="任意多边形 7"/>
          <p:cNvSpPr/>
          <p:nvPr/>
        </p:nvSpPr>
        <p:spPr>
          <a:xfrm>
            <a:off x="4737800" y="1039603"/>
            <a:ext cx="3920424"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4464770"/>
              <a:satOff val="26899"/>
              <a:lumOff val="2156"/>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路由选择</a:t>
            </a:r>
          </a:p>
        </p:txBody>
      </p:sp>
      <p:sp>
        <p:nvSpPr>
          <p:cNvPr id="9" name="任意多边形 8"/>
          <p:cNvSpPr/>
          <p:nvPr/>
        </p:nvSpPr>
        <p:spPr>
          <a:xfrm>
            <a:off x="4737800" y="1615602"/>
            <a:ext cx="3920424"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按照路由选择算法，根据网络拓扑的变化情况，动态地改变所选择的路由，并由此构造出整个的路由表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涉及到很多路由器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路由表一般仅包含从目的网络到下一跳（用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地址表示）的映射</a:t>
            </a:r>
          </a:p>
        </p:txBody>
      </p:sp>
      <p:sp>
        <p:nvSpPr>
          <p:cNvPr id="5" name="标题 4">
            <a:extLst>
              <a:ext uri="{FF2B5EF4-FFF2-40B4-BE49-F238E27FC236}">
                <a16:creationId xmlns:a16="http://schemas.microsoft.com/office/drawing/2014/main" id="{724BF971-2839-8F08-BB8B-71891226FB34}"/>
              </a:ext>
            </a:extLst>
          </p:cNvPr>
          <p:cNvSpPr>
            <a:spLocks noGrp="1"/>
          </p:cNvSpPr>
          <p:nvPr>
            <p:ph type="title"/>
          </p:nvPr>
        </p:nvSpPr>
        <p:spPr>
          <a:xfrm>
            <a:off x="486000" y="550723"/>
            <a:ext cx="8172000" cy="338554"/>
          </a:xfrm>
        </p:spPr>
        <p:txBody>
          <a:bodyPr/>
          <a:lstStyle/>
          <a:p>
            <a:r>
              <a:rPr lang="zh-CN" altLang="en-US" dirty="0"/>
              <a:t>转发和路由选择</a:t>
            </a:r>
          </a:p>
        </p:txBody>
      </p:sp>
    </p:spTree>
    <p:extLst>
      <p:ext uri="{BB962C8B-B14F-4D97-AF65-F5344CB8AC3E}">
        <p14:creationId xmlns:p14="http://schemas.microsoft.com/office/powerpoint/2010/main" val="27420985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组合 27"/>
          <p:cNvGrpSpPr/>
          <p:nvPr/>
        </p:nvGrpSpPr>
        <p:grpSpPr>
          <a:xfrm>
            <a:off x="1425510" y="1021794"/>
            <a:ext cx="6290279" cy="2445310"/>
            <a:chOff x="1064568" y="1661804"/>
            <a:chExt cx="8347806" cy="3245159"/>
          </a:xfrm>
        </p:grpSpPr>
        <p:sp>
          <p:nvSpPr>
            <p:cNvPr id="6" name="Rectangle 4"/>
            <p:cNvSpPr>
              <a:spLocks noChangeArrowheads="1"/>
            </p:cNvSpPr>
            <p:nvPr/>
          </p:nvSpPr>
          <p:spPr bwMode="auto">
            <a:xfrm>
              <a:off x="1723381" y="2073275"/>
              <a:ext cx="6691312" cy="266223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latin typeface="微软雅黑" pitchFamily="34" charset="-122"/>
                <a:ea typeface="微软雅黑" pitchFamily="34" charset="-122"/>
              </a:endParaRPr>
            </a:p>
          </p:txBody>
        </p:sp>
        <p:sp>
          <p:nvSpPr>
            <p:cNvPr id="7" name="Rectangle 5"/>
            <p:cNvSpPr>
              <a:spLocks noChangeArrowheads="1"/>
            </p:cNvSpPr>
            <p:nvPr/>
          </p:nvSpPr>
          <p:spPr bwMode="auto">
            <a:xfrm>
              <a:off x="2167881" y="3133725"/>
              <a:ext cx="1339850" cy="798513"/>
            </a:xfrm>
            <a:prstGeom prst="rect">
              <a:avLst/>
            </a:prstGeom>
            <a:noFill/>
            <a:ln w="19050">
              <a:solidFill>
                <a:schemeClr val="tx1"/>
              </a:solidFill>
              <a:miter lim="800000"/>
              <a:headEnd/>
              <a:tailEnd/>
            </a:ln>
            <a:effectLst/>
          </p:spPr>
          <p:txBody>
            <a:bodyPr wrap="none" anchor="ctr"/>
            <a:lstStyle/>
            <a:p>
              <a:pPr algn="ctr"/>
              <a:r>
                <a:rPr kumimoji="1" lang="zh-CN" altLang="en-US" sz="1400" dirty="0">
                  <a:latin typeface="微软雅黑" pitchFamily="34" charset="-122"/>
                  <a:ea typeface="微软雅黑" pitchFamily="34" charset="-122"/>
                </a:rPr>
                <a:t>物理层处理</a:t>
              </a:r>
            </a:p>
          </p:txBody>
        </p:sp>
        <p:sp>
          <p:nvSpPr>
            <p:cNvPr id="8" name="Rectangle 6"/>
            <p:cNvSpPr>
              <a:spLocks noChangeArrowheads="1"/>
            </p:cNvSpPr>
            <p:nvPr/>
          </p:nvSpPr>
          <p:spPr bwMode="auto">
            <a:xfrm>
              <a:off x="4069706" y="2870200"/>
              <a:ext cx="1338262" cy="1327150"/>
            </a:xfrm>
            <a:prstGeom prst="rect">
              <a:avLst/>
            </a:prstGeom>
            <a:noFill/>
            <a:ln w="19050">
              <a:solidFill>
                <a:schemeClr val="tx1"/>
              </a:solidFill>
              <a:miter lim="800000"/>
              <a:headEnd/>
              <a:tailEnd/>
            </a:ln>
            <a:effectLst/>
          </p:spPr>
          <p:txBody>
            <a:bodyPr wrap="none" anchor="ctr"/>
            <a:lstStyle/>
            <a:p>
              <a:pPr algn="ctr"/>
              <a:r>
                <a:rPr kumimoji="1" lang="zh-CN" altLang="en-US" sz="1400" dirty="0">
                  <a:latin typeface="微软雅黑" pitchFamily="34" charset="-122"/>
                  <a:ea typeface="微软雅黑" pitchFamily="34" charset="-122"/>
                </a:rPr>
                <a:t>数据链路层</a:t>
              </a:r>
            </a:p>
            <a:p>
              <a:pPr algn="ctr"/>
              <a:r>
                <a:rPr kumimoji="1" lang="zh-CN" altLang="en-US" sz="1400" dirty="0">
                  <a:latin typeface="微软雅黑" pitchFamily="34" charset="-122"/>
                  <a:ea typeface="微软雅黑" pitchFamily="34" charset="-122"/>
                </a:rPr>
                <a:t>处理</a:t>
              </a:r>
            </a:p>
          </p:txBody>
        </p:sp>
        <p:sp>
          <p:nvSpPr>
            <p:cNvPr id="9" name="Rectangle 7"/>
            <p:cNvSpPr>
              <a:spLocks noChangeArrowheads="1"/>
            </p:cNvSpPr>
            <p:nvPr/>
          </p:nvSpPr>
          <p:spPr bwMode="auto">
            <a:xfrm>
              <a:off x="6066781" y="2330450"/>
              <a:ext cx="1901825" cy="2060575"/>
            </a:xfrm>
            <a:prstGeom prst="rect">
              <a:avLst/>
            </a:prstGeom>
            <a:noFill/>
            <a:ln w="19050">
              <a:solidFill>
                <a:schemeClr val="tx1"/>
              </a:solidFill>
              <a:miter lim="800000"/>
              <a:headEnd/>
              <a:tailEnd/>
            </a:ln>
            <a:effectLst/>
          </p:spPr>
          <p:txBody>
            <a:bodyPr wrap="none" anchor="ctr"/>
            <a:lstStyle/>
            <a:p>
              <a:endParaRPr lang="zh-CN" altLang="en-US" sz="1400">
                <a:latin typeface="微软雅黑" pitchFamily="34" charset="-122"/>
                <a:ea typeface="微软雅黑" pitchFamily="34" charset="-122"/>
              </a:endParaRPr>
            </a:p>
          </p:txBody>
        </p:sp>
        <p:sp>
          <p:nvSpPr>
            <p:cNvPr id="10" name="Line 8"/>
            <p:cNvSpPr>
              <a:spLocks noChangeShapeType="1"/>
            </p:cNvSpPr>
            <p:nvPr/>
          </p:nvSpPr>
          <p:spPr bwMode="auto">
            <a:xfrm flipV="1">
              <a:off x="1482081" y="3533775"/>
              <a:ext cx="712787" cy="4763"/>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9"/>
            <p:cNvSpPr>
              <a:spLocks noChangeShapeType="1"/>
            </p:cNvSpPr>
            <p:nvPr/>
          </p:nvSpPr>
          <p:spPr bwMode="auto">
            <a:xfrm>
              <a:off x="3507731" y="3533775"/>
              <a:ext cx="5619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10"/>
            <p:cNvSpPr>
              <a:spLocks noChangeShapeType="1"/>
            </p:cNvSpPr>
            <p:nvPr/>
          </p:nvSpPr>
          <p:spPr bwMode="auto">
            <a:xfrm>
              <a:off x="5428606" y="3533775"/>
              <a:ext cx="647700"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7968606" y="3533775"/>
              <a:ext cx="8921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8860781" y="1901825"/>
              <a:ext cx="0" cy="3005138"/>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Freeform 13"/>
            <p:cNvSpPr>
              <a:spLocks/>
            </p:cNvSpPr>
            <p:nvPr/>
          </p:nvSpPr>
          <p:spPr bwMode="auto">
            <a:xfrm>
              <a:off x="6384281" y="3189288"/>
              <a:ext cx="1358900" cy="687387"/>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noFill/>
            <a:ln w="28575"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a:off x="758284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a:off x="742409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72621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7"/>
            <p:cNvSpPr>
              <a:spLocks noChangeShapeType="1"/>
            </p:cNvSpPr>
            <p:nvPr/>
          </p:nvSpPr>
          <p:spPr bwMode="auto">
            <a:xfrm>
              <a:off x="710341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8"/>
            <p:cNvSpPr>
              <a:spLocks noChangeShapeType="1"/>
            </p:cNvSpPr>
            <p:nvPr/>
          </p:nvSpPr>
          <p:spPr bwMode="auto">
            <a:xfrm>
              <a:off x="69446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9"/>
            <p:cNvSpPr>
              <a:spLocks noChangeShapeType="1"/>
            </p:cNvSpPr>
            <p:nvPr/>
          </p:nvSpPr>
          <p:spPr bwMode="auto">
            <a:xfrm>
              <a:off x="6784331"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2" name="Text Box 20"/>
            <p:cNvSpPr txBox="1">
              <a:spLocks noChangeArrowheads="1"/>
            </p:cNvSpPr>
            <p:nvPr/>
          </p:nvSpPr>
          <p:spPr bwMode="auto">
            <a:xfrm>
              <a:off x="6346182" y="2405062"/>
              <a:ext cx="1436380" cy="6943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网络层处理</a:t>
              </a:r>
            </a:p>
            <a:p>
              <a:r>
                <a:rPr kumimoji="1" lang="zh-CN" altLang="en-US" sz="1400" dirty="0">
                  <a:latin typeface="微软雅黑" pitchFamily="34" charset="-122"/>
                  <a:ea typeface="微软雅黑" pitchFamily="34" charset="-122"/>
                </a:rPr>
                <a:t>  分组排队</a:t>
              </a:r>
            </a:p>
          </p:txBody>
        </p:sp>
        <p:sp>
          <p:nvSpPr>
            <p:cNvPr id="23" name="Text Box 21"/>
            <p:cNvSpPr txBox="1">
              <a:spLocks noChangeArrowheads="1"/>
            </p:cNvSpPr>
            <p:nvPr/>
          </p:nvSpPr>
          <p:spPr bwMode="auto">
            <a:xfrm>
              <a:off x="6465243" y="3870325"/>
              <a:ext cx="385474"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  </a:t>
              </a:r>
            </a:p>
          </p:txBody>
        </p:sp>
        <p:sp>
          <p:nvSpPr>
            <p:cNvPr id="24" name="Text Box 22"/>
            <p:cNvSpPr txBox="1">
              <a:spLocks noChangeArrowheads="1"/>
            </p:cNvSpPr>
            <p:nvPr/>
          </p:nvSpPr>
          <p:spPr bwMode="auto">
            <a:xfrm>
              <a:off x="8929043" y="2825640"/>
              <a:ext cx="483331" cy="12661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sp>
          <p:nvSpPr>
            <p:cNvPr id="25" name="Text Box 23"/>
            <p:cNvSpPr txBox="1">
              <a:spLocks noChangeArrowheads="1"/>
            </p:cNvSpPr>
            <p:nvPr/>
          </p:nvSpPr>
          <p:spPr bwMode="auto">
            <a:xfrm>
              <a:off x="3938885" y="1661804"/>
              <a:ext cx="2053307" cy="408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输入端口的处理</a:t>
              </a:r>
            </a:p>
          </p:txBody>
        </p:sp>
        <p:sp>
          <p:nvSpPr>
            <p:cNvPr id="26" name="Text Box 24"/>
            <p:cNvSpPr txBox="1">
              <a:spLocks noChangeArrowheads="1"/>
            </p:cNvSpPr>
            <p:nvPr/>
          </p:nvSpPr>
          <p:spPr bwMode="auto">
            <a:xfrm>
              <a:off x="1064568" y="2549802"/>
              <a:ext cx="483331" cy="19237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从</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接</a:t>
              </a:r>
            </a:p>
            <a:p>
              <a:pPr>
                <a:lnSpc>
                  <a:spcPct val="90000"/>
                </a:lnSpc>
              </a:pPr>
              <a:r>
                <a:rPr kumimoji="1" lang="zh-CN" altLang="en-US" sz="1400" b="1" dirty="0">
                  <a:latin typeface="微软雅黑" pitchFamily="34" charset="-122"/>
                  <a:ea typeface="微软雅黑" pitchFamily="34" charset="-122"/>
                </a:rPr>
                <a:t>收</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27" name="Text Box 25"/>
            <p:cNvSpPr txBox="1">
              <a:spLocks noChangeArrowheads="1"/>
            </p:cNvSpPr>
            <p:nvPr/>
          </p:nvSpPr>
          <p:spPr bwMode="auto">
            <a:xfrm>
              <a:off x="6396982" y="3898900"/>
              <a:ext cx="1436380"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查表和转发</a:t>
              </a:r>
            </a:p>
          </p:txBody>
        </p:sp>
      </p:grpSp>
      <p:grpSp>
        <p:nvGrpSpPr>
          <p:cNvPr id="51" name="组合 50"/>
          <p:cNvGrpSpPr/>
          <p:nvPr/>
        </p:nvGrpSpPr>
        <p:grpSpPr>
          <a:xfrm>
            <a:off x="850357" y="2742176"/>
            <a:ext cx="1711052" cy="1489636"/>
            <a:chOff x="850357" y="2742176"/>
            <a:chExt cx="1711052" cy="1489636"/>
          </a:xfrm>
        </p:grpSpPr>
        <p:sp>
          <p:nvSpPr>
            <p:cNvPr id="31" name="矩形 30"/>
            <p:cNvSpPr/>
            <p:nvPr/>
          </p:nvSpPr>
          <p:spPr>
            <a:xfrm>
              <a:off x="850357"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从输入端口接收比特</a:t>
              </a:r>
            </a:p>
          </p:txBody>
        </p:sp>
        <p:cxnSp>
          <p:nvCxnSpPr>
            <p:cNvPr id="36" name="直接箭头连接符 35"/>
            <p:cNvCxnSpPr/>
            <p:nvPr/>
          </p:nvCxnSpPr>
          <p:spPr>
            <a:xfrm flipH="1">
              <a:off x="1485301" y="2742176"/>
              <a:ext cx="1076108" cy="1003019"/>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2" name="组合 51"/>
          <p:cNvGrpSpPr/>
          <p:nvPr/>
        </p:nvGrpSpPr>
        <p:grpSpPr>
          <a:xfrm>
            <a:off x="2077670" y="2760742"/>
            <a:ext cx="1612286" cy="1474367"/>
            <a:chOff x="2077670" y="2760742"/>
            <a:chExt cx="1612286" cy="1474367"/>
          </a:xfrm>
        </p:grpSpPr>
        <p:sp>
          <p:nvSpPr>
            <p:cNvPr id="32" name="矩形 31"/>
            <p:cNvSpPr/>
            <p:nvPr/>
          </p:nvSpPr>
          <p:spPr>
            <a:xfrm>
              <a:off x="2077670" y="3741649"/>
              <a:ext cx="1207296"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剥去帧的</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首部和尾部</a:t>
              </a:r>
            </a:p>
          </p:txBody>
        </p:sp>
        <p:cxnSp>
          <p:nvCxnSpPr>
            <p:cNvPr id="40" name="直接箭头连接符 39"/>
            <p:cNvCxnSpPr/>
            <p:nvPr/>
          </p:nvCxnSpPr>
          <p:spPr>
            <a:xfrm flipH="1">
              <a:off x="2719279" y="2760742"/>
              <a:ext cx="970677" cy="970726"/>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3680497" y="3076509"/>
            <a:ext cx="1763119" cy="1590103"/>
            <a:chOff x="3680497" y="3076509"/>
            <a:chExt cx="1763119" cy="1590103"/>
          </a:xfrm>
        </p:grpSpPr>
        <p:sp>
          <p:nvSpPr>
            <p:cNvPr id="33" name="矩形 32"/>
            <p:cNvSpPr/>
            <p:nvPr/>
          </p:nvSpPr>
          <p:spPr>
            <a:xfrm>
              <a:off x="3680497" y="3646399"/>
              <a:ext cx="1558061" cy="1020213"/>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若收到的分组是交换</a:t>
              </a:r>
              <a:r>
                <a:rPr lang="zh-CN" altLang="en-US" sz="1400" dirty="0">
                  <a:solidFill>
                    <a:srgbClr val="C00000"/>
                  </a:solidFill>
                  <a:latin typeface="微软雅黑" panose="020B0503020204020204" pitchFamily="34" charset="-122"/>
                  <a:ea typeface="微软雅黑" panose="020B0503020204020204" pitchFamily="34" charset="-122"/>
                </a:rPr>
                <a:t>路由信息的分组，</a:t>
              </a:r>
              <a:r>
                <a:rPr lang="zh-CN" altLang="en-US" sz="1400" dirty="0">
                  <a:solidFill>
                    <a:schemeClr val="tx1"/>
                  </a:solidFill>
                  <a:latin typeface="微软雅黑" panose="020B0503020204020204" pitchFamily="34" charset="-122"/>
                  <a:ea typeface="微软雅黑" panose="020B0503020204020204" pitchFamily="34" charset="-122"/>
                </a:rPr>
                <a:t>送交</a:t>
              </a:r>
              <a:r>
                <a:rPr lang="zh-CN" altLang="en-US" sz="1400" dirty="0">
                  <a:solidFill>
                    <a:srgbClr val="C00000"/>
                  </a:solidFill>
                  <a:latin typeface="微软雅黑" panose="020B0503020204020204" pitchFamily="34" charset="-122"/>
                  <a:ea typeface="微软雅黑" panose="020B0503020204020204" pitchFamily="34" charset="-122"/>
                </a:rPr>
                <a:t>路由选择处理机。</a:t>
              </a:r>
            </a:p>
          </p:txBody>
        </p:sp>
        <p:cxnSp>
          <p:nvCxnSpPr>
            <p:cNvPr id="43" name="直接箭头连接符 42"/>
            <p:cNvCxnSpPr/>
            <p:nvPr/>
          </p:nvCxnSpPr>
          <p:spPr>
            <a:xfrm flipH="1">
              <a:off x="4918866" y="3076509"/>
              <a:ext cx="524750" cy="571457"/>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4" name="组合 53"/>
          <p:cNvGrpSpPr/>
          <p:nvPr/>
        </p:nvGrpSpPr>
        <p:grpSpPr>
          <a:xfrm>
            <a:off x="5124259" y="3076509"/>
            <a:ext cx="3174326" cy="1577244"/>
            <a:chOff x="5124259" y="3076509"/>
            <a:chExt cx="3174326" cy="1577244"/>
          </a:xfrm>
        </p:grpSpPr>
        <p:sp>
          <p:nvSpPr>
            <p:cNvPr id="34" name="矩形 33"/>
            <p:cNvSpPr/>
            <p:nvPr/>
          </p:nvSpPr>
          <p:spPr>
            <a:xfrm>
              <a:off x="5124259" y="3646399"/>
              <a:ext cx="3174326" cy="100735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若收到的是</a:t>
              </a:r>
              <a:r>
                <a:rPr lang="zh-CN" altLang="en-US" sz="1400" dirty="0">
                  <a:solidFill>
                    <a:srgbClr val="C00000"/>
                  </a:solidFill>
                  <a:latin typeface="微软雅黑" panose="020B0503020204020204" pitchFamily="34" charset="-122"/>
                  <a:ea typeface="微软雅黑" panose="020B0503020204020204" pitchFamily="34" charset="-122"/>
                </a:rPr>
                <a:t>数据分组，</a:t>
              </a:r>
              <a:r>
                <a:rPr lang="zh-CN" altLang="en-US" sz="1400" dirty="0">
                  <a:solidFill>
                    <a:schemeClr val="tx1"/>
                  </a:solidFill>
                  <a:latin typeface="微软雅黑" panose="020B0503020204020204" pitchFamily="34" charset="-122"/>
                  <a:ea typeface="微软雅黑" panose="020B0503020204020204" pitchFamily="34" charset="-122"/>
                </a:rPr>
                <a:t>按目的地址查找转发表，根据得出的结果，经</a:t>
              </a:r>
              <a:r>
                <a:rPr lang="zh-CN" altLang="en-US" sz="1400" dirty="0">
                  <a:solidFill>
                    <a:srgbClr val="C00000"/>
                  </a:solidFill>
                  <a:latin typeface="微软雅黑" panose="020B0503020204020204" pitchFamily="34" charset="-122"/>
                  <a:ea typeface="微软雅黑" panose="020B0503020204020204" pitchFamily="34" charset="-122"/>
                </a:rPr>
                <a:t>交换结构</a:t>
              </a:r>
              <a:r>
                <a:rPr lang="zh-CN" altLang="en-US" sz="1400" dirty="0">
                  <a:solidFill>
                    <a:schemeClr val="tx1"/>
                  </a:solidFill>
                  <a:latin typeface="微软雅黑" panose="020B0503020204020204" pitchFamily="34" charset="-122"/>
                  <a:ea typeface="微软雅黑" panose="020B0503020204020204" pitchFamily="34" charset="-122"/>
                </a:rPr>
                <a:t>到达合适的输出端口。若某分组正在查找转发表，该分组排队等待。</a:t>
              </a:r>
            </a:p>
          </p:txBody>
        </p:sp>
        <p:cxnSp>
          <p:nvCxnSpPr>
            <p:cNvPr id="45" name="直接箭头连接符 44"/>
            <p:cNvCxnSpPr>
              <a:endCxn id="34" idx="0"/>
            </p:cNvCxnSpPr>
            <p:nvPr/>
          </p:nvCxnSpPr>
          <p:spPr>
            <a:xfrm>
              <a:off x="6217570" y="3076509"/>
              <a:ext cx="493852" cy="569890"/>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05D16D35-18AE-CD17-6538-1C61D96737AD}"/>
              </a:ext>
            </a:extLst>
          </p:cNvPr>
          <p:cNvSpPr>
            <a:spLocks noGrp="1"/>
          </p:cNvSpPr>
          <p:nvPr>
            <p:ph type="title"/>
          </p:nvPr>
        </p:nvSpPr>
        <p:spPr>
          <a:xfrm>
            <a:off x="486000" y="550723"/>
            <a:ext cx="8172000" cy="338554"/>
          </a:xfrm>
        </p:spPr>
        <p:txBody>
          <a:bodyPr/>
          <a:lstStyle/>
          <a:p>
            <a:r>
              <a:rPr lang="zh-CN" altLang="en-US" dirty="0"/>
              <a:t>输入端口对线路上收到的分组的处理 </a:t>
            </a:r>
          </a:p>
        </p:txBody>
      </p:sp>
    </p:spTree>
    <p:extLst>
      <p:ext uri="{BB962C8B-B14F-4D97-AF65-F5344CB8AC3E}">
        <p14:creationId xmlns:p14="http://schemas.microsoft.com/office/powerpoint/2010/main" val="28459486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1"/>
                                        </p:tgtEl>
                                        <p:attrNameLst>
                                          <p:attrName>style.visibility</p:attrName>
                                        </p:attrNameLst>
                                      </p:cBhvr>
                                      <p:to>
                                        <p:strVal val="visible"/>
                                      </p:to>
                                    </p:set>
                                    <p:animEffect transition="in" filter="wipe(up)">
                                      <p:cBhvr>
                                        <p:cTn id="7" dur="1000"/>
                                        <p:tgtEl>
                                          <p:spTgt spid="5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2"/>
                                        </p:tgtEl>
                                        <p:attrNameLst>
                                          <p:attrName>style.visibility</p:attrName>
                                        </p:attrNameLst>
                                      </p:cBhvr>
                                      <p:to>
                                        <p:strVal val="visible"/>
                                      </p:to>
                                    </p:set>
                                    <p:animEffect transition="in" filter="wipe(up)">
                                      <p:cBhvr>
                                        <p:cTn id="12" dur="1000"/>
                                        <p:tgtEl>
                                          <p:spTgt spid="5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54"/>
                                        </p:tgtEl>
                                        <p:attrNameLst>
                                          <p:attrName>style.visibility</p:attrName>
                                        </p:attrNameLst>
                                      </p:cBhvr>
                                      <p:to>
                                        <p:strVal val="visible"/>
                                      </p:to>
                                    </p:set>
                                    <p:animEffect transition="in" filter="wipe(up)">
                                      <p:cBhvr>
                                        <p:cTn id="22" dur="10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Rectangle 4"/>
          <p:cNvSpPr>
            <a:spLocks noChangeArrowheads="1"/>
          </p:cNvSpPr>
          <p:nvPr/>
        </p:nvSpPr>
        <p:spPr bwMode="auto">
          <a:xfrm>
            <a:off x="1981858" y="1356850"/>
            <a:ext cx="5227810" cy="192751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solidFill>
                <a:schemeClr val="dk1"/>
              </a:solidFill>
              <a:latin typeface="微软雅黑" pitchFamily="34" charset="-122"/>
              <a:ea typeface="微软雅黑" pitchFamily="34" charset="-122"/>
            </a:endParaRPr>
          </a:p>
        </p:txBody>
      </p:sp>
      <p:sp>
        <p:nvSpPr>
          <p:cNvPr id="29" name="Rectangle 5"/>
          <p:cNvSpPr>
            <a:spLocks noChangeArrowheads="1"/>
          </p:cNvSpPr>
          <p:nvPr/>
        </p:nvSpPr>
        <p:spPr bwMode="auto">
          <a:xfrm>
            <a:off x="5816744" y="2124647"/>
            <a:ext cx="1044072" cy="577568"/>
          </a:xfrm>
          <a:prstGeom prst="rect">
            <a:avLst/>
          </a:prstGeom>
          <a:noFill/>
          <a:ln w="19050">
            <a:solidFill>
              <a:schemeClr val="tx1"/>
            </a:solidFill>
            <a:miter lim="800000"/>
            <a:headEnd/>
            <a:tailEnd/>
          </a:ln>
          <a:effectLst/>
        </p:spPr>
        <p:txBody>
          <a:bodyPr wrap="none" anchor="ctr"/>
          <a:lstStyle/>
          <a:p>
            <a:pPr algn="ctr"/>
            <a:r>
              <a:rPr kumimoji="1" lang="zh-CN" altLang="en-US" sz="1400">
                <a:latin typeface="微软雅黑" pitchFamily="34" charset="-122"/>
                <a:ea typeface="微软雅黑" pitchFamily="34" charset="-122"/>
              </a:rPr>
              <a:t>物理层处理</a:t>
            </a:r>
          </a:p>
        </p:txBody>
      </p:sp>
      <p:sp>
        <p:nvSpPr>
          <p:cNvPr id="30" name="Rectangle 6"/>
          <p:cNvSpPr>
            <a:spLocks noChangeArrowheads="1"/>
          </p:cNvSpPr>
          <p:nvPr/>
        </p:nvSpPr>
        <p:spPr bwMode="auto">
          <a:xfrm>
            <a:off x="4331952" y="1934417"/>
            <a:ext cx="1044072" cy="960321"/>
          </a:xfrm>
          <a:prstGeom prst="rect">
            <a:avLst/>
          </a:prstGeom>
          <a:noFill/>
          <a:ln w="19050">
            <a:solidFill>
              <a:schemeClr val="tx1"/>
            </a:solidFill>
            <a:miter lim="800000"/>
            <a:headEnd/>
            <a:tailEnd/>
          </a:ln>
          <a:effectLst/>
        </p:spPr>
        <p:txBody>
          <a:bodyPr wrap="none" anchor="ctr"/>
          <a:lstStyle/>
          <a:p>
            <a:pPr algn="ctr"/>
            <a:r>
              <a:rPr kumimoji="1" lang="zh-CN" altLang="en-US" sz="1400">
                <a:latin typeface="微软雅黑" pitchFamily="34" charset="-122"/>
                <a:ea typeface="微软雅黑" pitchFamily="34" charset="-122"/>
              </a:rPr>
              <a:t>数据链路层</a:t>
            </a:r>
          </a:p>
          <a:p>
            <a:pPr algn="ctr"/>
            <a:r>
              <a:rPr kumimoji="1" lang="zh-CN" altLang="en-US" sz="1400">
                <a:latin typeface="微软雅黑" pitchFamily="34" charset="-122"/>
                <a:ea typeface="微软雅黑" pitchFamily="34" charset="-122"/>
              </a:rPr>
              <a:t>处理</a:t>
            </a:r>
          </a:p>
        </p:txBody>
      </p:sp>
      <p:sp>
        <p:nvSpPr>
          <p:cNvPr id="31" name="Rectangle 7"/>
          <p:cNvSpPr>
            <a:spLocks noChangeArrowheads="1"/>
          </p:cNvSpPr>
          <p:nvPr/>
        </p:nvSpPr>
        <p:spPr bwMode="auto">
          <a:xfrm>
            <a:off x="2330710" y="1542497"/>
            <a:ext cx="1486033" cy="1492050"/>
          </a:xfrm>
          <a:prstGeom prst="rect">
            <a:avLst/>
          </a:prstGeom>
          <a:noFill/>
          <a:ln w="19050">
            <a:solidFill>
              <a:schemeClr val="tx1"/>
            </a:solidFill>
            <a:miter lim="800000"/>
            <a:headEnd/>
            <a:tailEnd/>
          </a:ln>
          <a:effectLst/>
        </p:spPr>
        <p:txBody>
          <a:bodyPr wrap="none" anchor="ctr"/>
          <a:lstStyle/>
          <a:p>
            <a:pPr algn="ctr"/>
            <a:endParaRPr kumimoji="1" lang="zh-CN" altLang="en-US" sz="1400" b="1">
              <a:latin typeface="微软雅黑" pitchFamily="34" charset="-122"/>
              <a:ea typeface="微软雅黑" pitchFamily="34" charset="-122"/>
            </a:endParaRPr>
          </a:p>
        </p:txBody>
      </p:sp>
      <p:sp>
        <p:nvSpPr>
          <p:cNvPr id="32" name="Line 8"/>
          <p:cNvSpPr>
            <a:spLocks noChangeShapeType="1"/>
          </p:cNvSpPr>
          <p:nvPr/>
        </p:nvSpPr>
        <p:spPr bwMode="auto">
          <a:xfrm flipV="1">
            <a:off x="6857295" y="2414578"/>
            <a:ext cx="531347"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9"/>
          <p:cNvSpPr>
            <a:spLocks noChangeShapeType="1"/>
          </p:cNvSpPr>
          <p:nvPr/>
        </p:nvSpPr>
        <p:spPr bwMode="auto">
          <a:xfrm>
            <a:off x="5376024" y="2414578"/>
            <a:ext cx="440721"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0"/>
          <p:cNvSpPr>
            <a:spLocks noChangeShapeType="1"/>
          </p:cNvSpPr>
          <p:nvPr/>
        </p:nvSpPr>
        <p:spPr bwMode="auto">
          <a:xfrm>
            <a:off x="3809294" y="2414578"/>
            <a:ext cx="506518"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1"/>
          <p:cNvSpPr>
            <a:spLocks noChangeShapeType="1"/>
          </p:cNvSpPr>
          <p:nvPr/>
        </p:nvSpPr>
        <p:spPr bwMode="auto">
          <a:xfrm>
            <a:off x="1634247" y="2414578"/>
            <a:ext cx="696463"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2"/>
          <p:cNvSpPr>
            <a:spLocks noChangeShapeType="1"/>
          </p:cNvSpPr>
          <p:nvPr/>
        </p:nvSpPr>
        <p:spPr bwMode="auto">
          <a:xfrm>
            <a:off x="1634247" y="1233085"/>
            <a:ext cx="0" cy="2175047"/>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Freeform 13"/>
          <p:cNvSpPr>
            <a:spLocks/>
          </p:cNvSpPr>
          <p:nvPr/>
        </p:nvSpPr>
        <p:spPr bwMode="auto">
          <a:xfrm>
            <a:off x="2506998" y="2164757"/>
            <a:ext cx="1060211" cy="497350"/>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noFill/>
          <a:ln w="28575"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14"/>
          <p:cNvSpPr>
            <a:spLocks noChangeShapeType="1"/>
          </p:cNvSpPr>
          <p:nvPr/>
        </p:nvSpPr>
        <p:spPr bwMode="auto">
          <a:xfrm>
            <a:off x="2824813"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15"/>
          <p:cNvSpPr>
            <a:spLocks noChangeShapeType="1"/>
          </p:cNvSpPr>
          <p:nvPr/>
        </p:nvSpPr>
        <p:spPr bwMode="auto">
          <a:xfrm>
            <a:off x="2948959"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16"/>
          <p:cNvSpPr>
            <a:spLocks noChangeShapeType="1"/>
          </p:cNvSpPr>
          <p:nvPr/>
        </p:nvSpPr>
        <p:spPr bwMode="auto">
          <a:xfrm>
            <a:off x="3074347"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17"/>
          <p:cNvSpPr>
            <a:spLocks noChangeShapeType="1"/>
          </p:cNvSpPr>
          <p:nvPr/>
        </p:nvSpPr>
        <p:spPr bwMode="auto">
          <a:xfrm>
            <a:off x="3199735"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18"/>
          <p:cNvSpPr>
            <a:spLocks noChangeShapeType="1"/>
          </p:cNvSpPr>
          <p:nvPr/>
        </p:nvSpPr>
        <p:spPr bwMode="auto">
          <a:xfrm>
            <a:off x="3322640"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Line 19"/>
          <p:cNvSpPr>
            <a:spLocks noChangeShapeType="1"/>
          </p:cNvSpPr>
          <p:nvPr/>
        </p:nvSpPr>
        <p:spPr bwMode="auto">
          <a:xfrm>
            <a:off x="3448028"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Text Box 20"/>
          <p:cNvSpPr txBox="1">
            <a:spLocks noChangeArrowheads="1"/>
          </p:cNvSpPr>
          <p:nvPr/>
        </p:nvSpPr>
        <p:spPr bwMode="auto">
          <a:xfrm>
            <a:off x="2499549" y="1625006"/>
            <a:ext cx="1082348" cy="501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5000"/>
              </a:lnSpc>
            </a:pPr>
            <a:r>
              <a:rPr kumimoji="1" lang="zh-CN" altLang="en-US" sz="1400" dirty="0">
                <a:latin typeface="微软雅黑" pitchFamily="34" charset="-122"/>
                <a:ea typeface="微软雅黑" pitchFamily="34" charset="-122"/>
              </a:rPr>
              <a:t>网络层处理</a:t>
            </a:r>
          </a:p>
          <a:p>
            <a:pPr>
              <a:lnSpc>
                <a:spcPct val="95000"/>
              </a:lnSpc>
            </a:pPr>
            <a:r>
              <a:rPr kumimoji="1" lang="zh-CN" altLang="en-US" sz="1400" dirty="0">
                <a:latin typeface="微软雅黑" pitchFamily="34" charset="-122"/>
                <a:ea typeface="微软雅黑" pitchFamily="34" charset="-122"/>
              </a:rPr>
              <a:t>  分组排队 </a:t>
            </a:r>
          </a:p>
        </p:txBody>
      </p:sp>
      <p:sp>
        <p:nvSpPr>
          <p:cNvPr id="45" name="Text Box 21"/>
          <p:cNvSpPr txBox="1">
            <a:spLocks noChangeArrowheads="1"/>
          </p:cNvSpPr>
          <p:nvPr/>
        </p:nvSpPr>
        <p:spPr bwMode="auto">
          <a:xfrm>
            <a:off x="3738531" y="1051086"/>
            <a:ext cx="1547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输出端口的处理</a:t>
            </a:r>
          </a:p>
        </p:txBody>
      </p:sp>
      <p:sp>
        <p:nvSpPr>
          <p:cNvPr id="46" name="Text Box 22"/>
          <p:cNvSpPr txBox="1">
            <a:spLocks noChangeArrowheads="1"/>
          </p:cNvSpPr>
          <p:nvPr/>
        </p:nvSpPr>
        <p:spPr bwMode="auto">
          <a:xfrm>
            <a:off x="7371058" y="1681879"/>
            <a:ext cx="364202" cy="144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向</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发</a:t>
            </a:r>
          </a:p>
          <a:p>
            <a:pPr>
              <a:lnSpc>
                <a:spcPct val="90000"/>
              </a:lnSpc>
            </a:pPr>
            <a:r>
              <a:rPr kumimoji="1" lang="zh-CN" altLang="en-US" sz="1400" b="1" dirty="0">
                <a:latin typeface="微软雅黑" pitchFamily="34" charset="-122"/>
                <a:ea typeface="微软雅黑" pitchFamily="34" charset="-122"/>
              </a:rPr>
              <a:t>送</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47" name="Text Box 23"/>
          <p:cNvSpPr txBox="1">
            <a:spLocks noChangeArrowheads="1"/>
          </p:cNvSpPr>
          <p:nvPr/>
        </p:nvSpPr>
        <p:spPr bwMode="auto">
          <a:xfrm>
            <a:off x="2632385" y="265752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缓存管理</a:t>
            </a:r>
          </a:p>
        </p:txBody>
      </p:sp>
      <p:sp>
        <p:nvSpPr>
          <p:cNvPr id="48" name="Text Box 24"/>
          <p:cNvSpPr txBox="1">
            <a:spLocks noChangeArrowheads="1"/>
          </p:cNvSpPr>
          <p:nvPr/>
        </p:nvSpPr>
        <p:spPr bwMode="auto">
          <a:xfrm>
            <a:off x="1260566" y="1932978"/>
            <a:ext cx="364202"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grpSp>
        <p:nvGrpSpPr>
          <p:cNvPr id="26" name="组合 25"/>
          <p:cNvGrpSpPr/>
          <p:nvPr/>
        </p:nvGrpSpPr>
        <p:grpSpPr>
          <a:xfrm>
            <a:off x="6338780" y="2702215"/>
            <a:ext cx="1804986" cy="1515755"/>
            <a:chOff x="462266" y="2716057"/>
            <a:chExt cx="1804986" cy="1515755"/>
          </a:xfrm>
        </p:grpSpPr>
        <p:sp>
          <p:nvSpPr>
            <p:cNvPr id="27" name="矩形 26"/>
            <p:cNvSpPr/>
            <p:nvPr/>
          </p:nvSpPr>
          <p:spPr>
            <a:xfrm>
              <a:off x="1044314"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发送到输出线路上。</a:t>
              </a:r>
            </a:p>
          </p:txBody>
        </p:sp>
        <p:cxnSp>
          <p:nvCxnSpPr>
            <p:cNvPr id="49" name="直接箭头连接符 48"/>
            <p:cNvCxnSpPr/>
            <p:nvPr/>
          </p:nvCxnSpPr>
          <p:spPr>
            <a:xfrm>
              <a:off x="462266" y="2716057"/>
              <a:ext cx="1023035" cy="1029138"/>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0" name="组合 49"/>
          <p:cNvGrpSpPr/>
          <p:nvPr/>
        </p:nvGrpSpPr>
        <p:grpSpPr>
          <a:xfrm>
            <a:off x="5059184" y="2894738"/>
            <a:ext cx="1775713" cy="1340371"/>
            <a:chOff x="2400931" y="2894738"/>
            <a:chExt cx="1775713" cy="1340371"/>
          </a:xfrm>
        </p:grpSpPr>
        <p:sp>
          <p:nvSpPr>
            <p:cNvPr id="51" name="矩形 50"/>
            <p:cNvSpPr/>
            <p:nvPr/>
          </p:nvSpPr>
          <p:spPr>
            <a:xfrm>
              <a:off x="2400931" y="3741649"/>
              <a:ext cx="1775713"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给分组加上链路层的首部和尾部。</a:t>
              </a:r>
            </a:p>
          </p:txBody>
        </p:sp>
        <p:cxnSp>
          <p:nvCxnSpPr>
            <p:cNvPr id="52" name="直接箭头连接符 51"/>
            <p:cNvCxnSpPr>
              <a:endCxn id="51" idx="0"/>
            </p:cNvCxnSpPr>
            <p:nvPr/>
          </p:nvCxnSpPr>
          <p:spPr>
            <a:xfrm>
              <a:off x="2520217" y="2894738"/>
              <a:ext cx="768571" cy="846911"/>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1260566" y="3034547"/>
            <a:ext cx="3789375" cy="1662964"/>
            <a:chOff x="3288556" y="3034547"/>
            <a:chExt cx="3789375" cy="1662964"/>
          </a:xfrm>
        </p:grpSpPr>
        <p:sp>
          <p:nvSpPr>
            <p:cNvPr id="54" name="矩形 53"/>
            <p:cNvSpPr/>
            <p:nvPr/>
          </p:nvSpPr>
          <p:spPr>
            <a:xfrm>
              <a:off x="3288556" y="3600219"/>
              <a:ext cx="3789375" cy="1097292"/>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从交换结构接收分组。当交换结构传送的分组的速率</a:t>
              </a:r>
              <a:r>
                <a:rPr lang="zh-CN" altLang="en-US" sz="1400" dirty="0">
                  <a:solidFill>
                    <a:srgbClr val="0000FF"/>
                  </a:solidFill>
                  <a:latin typeface="微软雅黑" panose="020B0503020204020204" pitchFamily="34" charset="-122"/>
                  <a:ea typeface="微软雅黑" panose="020B0503020204020204" pitchFamily="34" charset="-122"/>
                </a:rPr>
                <a:t>超过</a:t>
              </a:r>
              <a:r>
                <a:rPr lang="zh-CN" altLang="en-US" sz="1400" dirty="0">
                  <a:solidFill>
                    <a:schemeClr val="tx1"/>
                  </a:solidFill>
                  <a:latin typeface="微软雅黑" panose="020B0503020204020204" pitchFamily="34" charset="-122"/>
                  <a:ea typeface="微软雅黑" panose="020B0503020204020204" pitchFamily="34" charset="-122"/>
                </a:rPr>
                <a:t>输出链路的发送速率时，来不及发送的分组就必须</a:t>
              </a:r>
              <a:r>
                <a:rPr lang="zh-CN" altLang="en-US" sz="1400" dirty="0">
                  <a:solidFill>
                    <a:srgbClr val="C00000"/>
                  </a:solidFill>
                  <a:latin typeface="微软雅黑" panose="020B0503020204020204" pitchFamily="34" charset="-122"/>
                  <a:ea typeface="微软雅黑" panose="020B0503020204020204" pitchFamily="34" charset="-122"/>
                </a:rPr>
                <a:t>缓存</a:t>
              </a:r>
              <a:r>
                <a:rPr lang="zh-CN" altLang="en-US" sz="1400" dirty="0">
                  <a:solidFill>
                    <a:schemeClr val="tx1"/>
                  </a:solidFill>
                  <a:latin typeface="微软雅黑" panose="020B0503020204020204" pitchFamily="34" charset="-122"/>
                  <a:ea typeface="微软雅黑" panose="020B0503020204020204" pitchFamily="34" charset="-122"/>
                </a:rPr>
                <a:t>在队列中。若分组处理的速率</a:t>
              </a:r>
              <a:r>
                <a:rPr lang="zh-CN" altLang="en-US" sz="1400" dirty="0">
                  <a:solidFill>
                    <a:srgbClr val="0000FF"/>
                  </a:solidFill>
                  <a:latin typeface="微软雅黑" panose="020B0503020204020204" pitchFamily="34" charset="-122"/>
                  <a:ea typeface="微软雅黑" panose="020B0503020204020204" pitchFamily="34" charset="-122"/>
                </a:rPr>
                <a:t>赶不上</a:t>
              </a:r>
              <a:r>
                <a:rPr lang="zh-CN" altLang="en-US" sz="1400" dirty="0">
                  <a:solidFill>
                    <a:schemeClr val="tx1"/>
                  </a:solidFill>
                  <a:latin typeface="微软雅黑" panose="020B0503020204020204" pitchFamily="34" charset="-122"/>
                  <a:ea typeface="微软雅黑" panose="020B0503020204020204" pitchFamily="34" charset="-122"/>
                </a:rPr>
                <a:t>分组进入队列的速率，队列满时，</a:t>
              </a:r>
              <a:r>
                <a:rPr lang="zh-CN" altLang="en-US" sz="1400" dirty="0">
                  <a:solidFill>
                    <a:srgbClr val="C00000"/>
                  </a:solidFill>
                  <a:latin typeface="微软雅黑" panose="020B0503020204020204" pitchFamily="34" charset="-122"/>
                  <a:ea typeface="微软雅黑" panose="020B0503020204020204" pitchFamily="34" charset="-122"/>
                </a:rPr>
                <a:t>丢弃</a:t>
              </a:r>
              <a:r>
                <a:rPr lang="zh-CN" altLang="en-US" sz="1400" dirty="0">
                  <a:solidFill>
                    <a:schemeClr val="tx1"/>
                  </a:solidFill>
                  <a:latin typeface="微软雅黑" panose="020B0503020204020204" pitchFamily="34" charset="-122"/>
                  <a:ea typeface="微软雅黑" panose="020B0503020204020204" pitchFamily="34" charset="-122"/>
                </a:rPr>
                <a:t>后面进入的分组。</a:t>
              </a:r>
              <a:endParaRPr lang="en-US" altLang="zh-CN" sz="1400" dirty="0">
                <a:solidFill>
                  <a:schemeClr val="tx1"/>
                </a:solidFill>
                <a:latin typeface="微软雅黑" panose="020B0503020204020204" pitchFamily="34" charset="-122"/>
                <a:ea typeface="微软雅黑" panose="020B0503020204020204" pitchFamily="34" charset="-122"/>
              </a:endParaRPr>
            </a:p>
          </p:txBody>
        </p:sp>
        <p:cxnSp>
          <p:nvCxnSpPr>
            <p:cNvPr id="55" name="直接箭头连接符 54"/>
            <p:cNvCxnSpPr>
              <a:endCxn id="54" idx="0"/>
            </p:cNvCxnSpPr>
            <p:nvPr/>
          </p:nvCxnSpPr>
          <p:spPr>
            <a:xfrm>
              <a:off x="4866953" y="3034547"/>
              <a:ext cx="316291" cy="565672"/>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469C4B4E-BCF7-C8F9-B857-C3302B78EA21}"/>
              </a:ext>
            </a:extLst>
          </p:cNvPr>
          <p:cNvSpPr>
            <a:spLocks noGrp="1"/>
          </p:cNvSpPr>
          <p:nvPr>
            <p:ph type="title"/>
          </p:nvPr>
        </p:nvSpPr>
        <p:spPr>
          <a:xfrm>
            <a:off x="486000" y="550723"/>
            <a:ext cx="8172000" cy="338554"/>
          </a:xfrm>
        </p:spPr>
        <p:txBody>
          <a:bodyPr/>
          <a:lstStyle/>
          <a:p>
            <a:r>
              <a:rPr lang="zh-CN" altLang="en-US" dirty="0"/>
              <a:t>输出端口将交换结构传送来的分组发送到线路 </a:t>
            </a:r>
          </a:p>
        </p:txBody>
      </p:sp>
    </p:spTree>
    <p:extLst>
      <p:ext uri="{BB962C8B-B14F-4D97-AF65-F5344CB8AC3E}">
        <p14:creationId xmlns:p14="http://schemas.microsoft.com/office/powerpoint/2010/main" val="1646380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10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0"/>
                                        </p:tgtEl>
                                        <p:attrNameLst>
                                          <p:attrName>style.visibility</p:attrName>
                                        </p:attrNameLst>
                                      </p:cBhvr>
                                      <p:to>
                                        <p:strVal val="visible"/>
                                      </p:to>
                                    </p:set>
                                    <p:animEffect transition="in" filter="wipe(up)">
                                      <p:cBhvr>
                                        <p:cTn id="12" dur="1000"/>
                                        <p:tgtEl>
                                          <p:spTgt spid="5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3"/>
          <p:cNvSpPr>
            <a:spLocks noChangeArrowheads="1"/>
          </p:cNvSpPr>
          <p:nvPr/>
        </p:nvSpPr>
        <p:spPr bwMode="auto">
          <a:xfrm>
            <a:off x="1408148" y="1700147"/>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Rectangle 4"/>
          <p:cNvSpPr>
            <a:spLocks noChangeArrowheads="1"/>
          </p:cNvSpPr>
          <p:nvPr/>
        </p:nvSpPr>
        <p:spPr bwMode="auto">
          <a:xfrm>
            <a:off x="1712955" y="1671822"/>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
          <p:cNvSpPr>
            <a:spLocks noChangeArrowheads="1"/>
          </p:cNvSpPr>
          <p:nvPr/>
        </p:nvSpPr>
        <p:spPr bwMode="auto">
          <a:xfrm>
            <a:off x="2019808" y="1658603"/>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Line 6"/>
          <p:cNvSpPr>
            <a:spLocks noChangeShapeType="1"/>
          </p:cNvSpPr>
          <p:nvPr/>
        </p:nvSpPr>
        <p:spPr bwMode="auto">
          <a:xfrm flipV="1">
            <a:off x="1284384"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 name="Line 7"/>
          <p:cNvSpPr>
            <a:spLocks noChangeShapeType="1"/>
          </p:cNvSpPr>
          <p:nvPr/>
        </p:nvSpPr>
        <p:spPr bwMode="auto">
          <a:xfrm>
            <a:off x="1591237" y="174357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a:off x="189706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a:off x="220289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Rectangle 10"/>
          <p:cNvSpPr>
            <a:spLocks noChangeArrowheads="1"/>
          </p:cNvSpPr>
          <p:nvPr/>
        </p:nvSpPr>
        <p:spPr bwMode="auto">
          <a:xfrm>
            <a:off x="1408148" y="2395050"/>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 name="Rectangle 11"/>
          <p:cNvSpPr>
            <a:spLocks noChangeArrowheads="1"/>
          </p:cNvSpPr>
          <p:nvPr/>
        </p:nvSpPr>
        <p:spPr bwMode="auto">
          <a:xfrm>
            <a:off x="1712955" y="2366725"/>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2"/>
          <p:cNvSpPr>
            <a:spLocks noChangeArrowheads="1"/>
          </p:cNvSpPr>
          <p:nvPr/>
        </p:nvSpPr>
        <p:spPr bwMode="auto">
          <a:xfrm>
            <a:off x="2019808" y="2351618"/>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13"/>
          <p:cNvSpPr>
            <a:spLocks noChangeShapeType="1"/>
          </p:cNvSpPr>
          <p:nvPr/>
        </p:nvSpPr>
        <p:spPr bwMode="auto">
          <a:xfrm flipV="1">
            <a:off x="1284384"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Line 14"/>
          <p:cNvSpPr>
            <a:spLocks noChangeShapeType="1"/>
          </p:cNvSpPr>
          <p:nvPr/>
        </p:nvSpPr>
        <p:spPr bwMode="auto">
          <a:xfrm>
            <a:off x="1591237" y="243753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5"/>
          <p:cNvSpPr>
            <a:spLocks noChangeShapeType="1"/>
          </p:cNvSpPr>
          <p:nvPr/>
        </p:nvSpPr>
        <p:spPr bwMode="auto">
          <a:xfrm>
            <a:off x="189706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20289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Rectangle 17"/>
          <p:cNvSpPr>
            <a:spLocks noChangeArrowheads="1"/>
          </p:cNvSpPr>
          <p:nvPr/>
        </p:nvSpPr>
        <p:spPr bwMode="auto">
          <a:xfrm>
            <a:off x="2325637" y="1572684"/>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Rectangle 18"/>
          <p:cNvSpPr>
            <a:spLocks noChangeArrowheads="1"/>
          </p:cNvSpPr>
          <p:nvPr/>
        </p:nvSpPr>
        <p:spPr bwMode="auto">
          <a:xfrm flipH="1">
            <a:off x="3501907" y="1700147"/>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9"/>
          <p:cNvSpPr>
            <a:spLocks noChangeArrowheads="1"/>
          </p:cNvSpPr>
          <p:nvPr/>
        </p:nvSpPr>
        <p:spPr bwMode="auto">
          <a:xfrm flipH="1">
            <a:off x="3197099" y="1671822"/>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20"/>
          <p:cNvSpPr>
            <a:spLocks noChangeArrowheads="1"/>
          </p:cNvSpPr>
          <p:nvPr/>
        </p:nvSpPr>
        <p:spPr bwMode="auto">
          <a:xfrm flipH="1">
            <a:off x="2889223" y="165860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1"/>
          <p:cNvSpPr>
            <a:spLocks noChangeShapeType="1"/>
          </p:cNvSpPr>
          <p:nvPr/>
        </p:nvSpPr>
        <p:spPr bwMode="auto">
          <a:xfrm flipV="1">
            <a:off x="3681926"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22"/>
          <p:cNvSpPr>
            <a:spLocks noChangeShapeType="1"/>
          </p:cNvSpPr>
          <p:nvPr/>
        </p:nvSpPr>
        <p:spPr bwMode="auto">
          <a:xfrm rot="10800000" flipH="1">
            <a:off x="3380188" y="174357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3"/>
          <p:cNvSpPr>
            <a:spLocks noChangeShapeType="1"/>
          </p:cNvSpPr>
          <p:nvPr/>
        </p:nvSpPr>
        <p:spPr bwMode="auto">
          <a:xfrm>
            <a:off x="3073336" y="174357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4"/>
          <p:cNvSpPr>
            <a:spLocks noChangeShapeType="1"/>
          </p:cNvSpPr>
          <p:nvPr/>
        </p:nvSpPr>
        <p:spPr bwMode="auto">
          <a:xfrm>
            <a:off x="2768529" y="174357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25"/>
          <p:cNvSpPr>
            <a:spLocks noChangeArrowheads="1"/>
          </p:cNvSpPr>
          <p:nvPr/>
        </p:nvSpPr>
        <p:spPr bwMode="auto">
          <a:xfrm flipH="1">
            <a:off x="3501907" y="2395050"/>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26"/>
          <p:cNvSpPr>
            <a:spLocks noChangeArrowheads="1"/>
          </p:cNvSpPr>
          <p:nvPr/>
        </p:nvSpPr>
        <p:spPr bwMode="auto">
          <a:xfrm flipH="1">
            <a:off x="3197099" y="2366725"/>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7"/>
          <p:cNvSpPr>
            <a:spLocks noChangeArrowheads="1"/>
          </p:cNvSpPr>
          <p:nvPr/>
        </p:nvSpPr>
        <p:spPr bwMode="auto">
          <a:xfrm flipH="1">
            <a:off x="2889223" y="2351618"/>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28"/>
          <p:cNvSpPr>
            <a:spLocks noChangeShapeType="1"/>
          </p:cNvSpPr>
          <p:nvPr/>
        </p:nvSpPr>
        <p:spPr bwMode="auto">
          <a:xfrm flipV="1">
            <a:off x="3681926"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29"/>
          <p:cNvSpPr>
            <a:spLocks noChangeShapeType="1"/>
          </p:cNvSpPr>
          <p:nvPr/>
        </p:nvSpPr>
        <p:spPr bwMode="auto">
          <a:xfrm>
            <a:off x="3380188" y="243753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30"/>
          <p:cNvSpPr>
            <a:spLocks noChangeShapeType="1"/>
          </p:cNvSpPr>
          <p:nvPr/>
        </p:nvSpPr>
        <p:spPr bwMode="auto">
          <a:xfrm>
            <a:off x="3073336" y="243753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1"/>
          <p:cNvSpPr>
            <a:spLocks noChangeShapeType="1"/>
          </p:cNvSpPr>
          <p:nvPr/>
        </p:nvSpPr>
        <p:spPr bwMode="auto">
          <a:xfrm>
            <a:off x="2768529" y="243753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32"/>
          <p:cNvSpPr>
            <a:spLocks noChangeArrowheads="1"/>
          </p:cNvSpPr>
          <p:nvPr/>
        </p:nvSpPr>
        <p:spPr bwMode="auto">
          <a:xfrm>
            <a:off x="1408148" y="2040045"/>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33"/>
          <p:cNvSpPr>
            <a:spLocks noChangeArrowheads="1"/>
          </p:cNvSpPr>
          <p:nvPr/>
        </p:nvSpPr>
        <p:spPr bwMode="auto">
          <a:xfrm>
            <a:off x="1712955" y="2011720"/>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4"/>
          <p:cNvSpPr>
            <a:spLocks noChangeArrowheads="1"/>
          </p:cNvSpPr>
          <p:nvPr/>
        </p:nvSpPr>
        <p:spPr bwMode="auto">
          <a:xfrm>
            <a:off x="2019808" y="1998501"/>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35"/>
          <p:cNvSpPr>
            <a:spLocks noChangeShapeType="1"/>
          </p:cNvSpPr>
          <p:nvPr/>
        </p:nvSpPr>
        <p:spPr bwMode="auto">
          <a:xfrm flipV="1">
            <a:off x="1284384"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36"/>
          <p:cNvSpPr>
            <a:spLocks noChangeShapeType="1"/>
          </p:cNvSpPr>
          <p:nvPr/>
        </p:nvSpPr>
        <p:spPr bwMode="auto">
          <a:xfrm>
            <a:off x="1591237" y="208347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7"/>
          <p:cNvSpPr>
            <a:spLocks noChangeShapeType="1"/>
          </p:cNvSpPr>
          <p:nvPr/>
        </p:nvSpPr>
        <p:spPr bwMode="auto">
          <a:xfrm>
            <a:off x="189706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8"/>
          <p:cNvSpPr>
            <a:spLocks noChangeShapeType="1"/>
          </p:cNvSpPr>
          <p:nvPr/>
        </p:nvSpPr>
        <p:spPr bwMode="auto">
          <a:xfrm>
            <a:off x="220289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39"/>
          <p:cNvSpPr>
            <a:spLocks noChangeArrowheads="1"/>
          </p:cNvSpPr>
          <p:nvPr/>
        </p:nvSpPr>
        <p:spPr bwMode="auto">
          <a:xfrm flipH="1">
            <a:off x="3501907" y="2040045"/>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flipH="1">
            <a:off x="3197099" y="2011720"/>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1"/>
          <p:cNvSpPr>
            <a:spLocks noChangeArrowheads="1"/>
          </p:cNvSpPr>
          <p:nvPr/>
        </p:nvSpPr>
        <p:spPr bwMode="auto">
          <a:xfrm flipH="1">
            <a:off x="2889223" y="1998501"/>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42"/>
          <p:cNvSpPr>
            <a:spLocks noChangeShapeType="1"/>
          </p:cNvSpPr>
          <p:nvPr/>
        </p:nvSpPr>
        <p:spPr bwMode="auto">
          <a:xfrm flipV="1">
            <a:off x="3681926"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43"/>
          <p:cNvSpPr>
            <a:spLocks noChangeShapeType="1"/>
          </p:cNvSpPr>
          <p:nvPr/>
        </p:nvSpPr>
        <p:spPr bwMode="auto">
          <a:xfrm rot="10800000" flipH="1">
            <a:off x="3380188" y="208347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4"/>
          <p:cNvSpPr>
            <a:spLocks noChangeShapeType="1"/>
          </p:cNvSpPr>
          <p:nvPr/>
        </p:nvSpPr>
        <p:spPr bwMode="auto">
          <a:xfrm>
            <a:off x="3073336" y="208347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5"/>
          <p:cNvSpPr>
            <a:spLocks noChangeShapeType="1"/>
          </p:cNvSpPr>
          <p:nvPr/>
        </p:nvSpPr>
        <p:spPr bwMode="auto">
          <a:xfrm>
            <a:off x="2768529" y="208347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46"/>
          <p:cNvSpPr txBox="1">
            <a:spLocks noChangeArrowheads="1"/>
          </p:cNvSpPr>
          <p:nvPr/>
        </p:nvSpPr>
        <p:spPr bwMode="auto">
          <a:xfrm>
            <a:off x="1147416" y="1415266"/>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0" name="Text Box 47"/>
          <p:cNvSpPr txBox="1">
            <a:spLocks noChangeArrowheads="1"/>
          </p:cNvSpPr>
          <p:nvPr/>
        </p:nvSpPr>
        <p:spPr bwMode="auto">
          <a:xfrm>
            <a:off x="1146392" y="210450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48"/>
          <p:cNvSpPr txBox="1">
            <a:spLocks noChangeArrowheads="1"/>
          </p:cNvSpPr>
          <p:nvPr/>
        </p:nvSpPr>
        <p:spPr bwMode="auto">
          <a:xfrm>
            <a:off x="1146392" y="174572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49"/>
          <p:cNvSpPr txBox="1">
            <a:spLocks noChangeArrowheads="1"/>
          </p:cNvSpPr>
          <p:nvPr/>
        </p:nvSpPr>
        <p:spPr bwMode="auto">
          <a:xfrm>
            <a:off x="3700958" y="1474739"/>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3" name="Text Box 50"/>
          <p:cNvSpPr txBox="1">
            <a:spLocks noChangeArrowheads="1"/>
          </p:cNvSpPr>
          <p:nvPr/>
        </p:nvSpPr>
        <p:spPr bwMode="auto">
          <a:xfrm>
            <a:off x="3700958" y="183446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Text Box 52"/>
          <p:cNvSpPr txBox="1">
            <a:spLocks noChangeArrowheads="1"/>
          </p:cNvSpPr>
          <p:nvPr/>
        </p:nvSpPr>
        <p:spPr bwMode="auto">
          <a:xfrm>
            <a:off x="2367355" y="1715519"/>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5" name="Rectangle 53"/>
          <p:cNvSpPr>
            <a:spLocks noChangeArrowheads="1"/>
          </p:cNvSpPr>
          <p:nvPr/>
        </p:nvSpPr>
        <p:spPr bwMode="auto">
          <a:xfrm>
            <a:off x="1475656" y="3352138"/>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6" name="Rectangle 54"/>
          <p:cNvSpPr>
            <a:spLocks noChangeArrowheads="1"/>
          </p:cNvSpPr>
          <p:nvPr/>
        </p:nvSpPr>
        <p:spPr bwMode="auto">
          <a:xfrm>
            <a:off x="1780463" y="3323813"/>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Rectangle 55"/>
          <p:cNvSpPr>
            <a:spLocks noChangeArrowheads="1"/>
          </p:cNvSpPr>
          <p:nvPr/>
        </p:nvSpPr>
        <p:spPr bwMode="auto">
          <a:xfrm>
            <a:off x="2087316" y="3310594"/>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8" name="Line 56"/>
          <p:cNvSpPr>
            <a:spLocks noChangeShapeType="1"/>
          </p:cNvSpPr>
          <p:nvPr/>
        </p:nvSpPr>
        <p:spPr bwMode="auto">
          <a:xfrm flipV="1">
            <a:off x="1351892"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57"/>
          <p:cNvSpPr>
            <a:spLocks noChangeShapeType="1"/>
          </p:cNvSpPr>
          <p:nvPr/>
        </p:nvSpPr>
        <p:spPr bwMode="auto">
          <a:xfrm>
            <a:off x="1658745"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58"/>
          <p:cNvSpPr>
            <a:spLocks noChangeShapeType="1"/>
          </p:cNvSpPr>
          <p:nvPr/>
        </p:nvSpPr>
        <p:spPr bwMode="auto">
          <a:xfrm>
            <a:off x="1964574"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59"/>
          <p:cNvSpPr>
            <a:spLocks noChangeShapeType="1"/>
          </p:cNvSpPr>
          <p:nvPr/>
        </p:nvSpPr>
        <p:spPr bwMode="auto">
          <a:xfrm>
            <a:off x="2270404"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1475656" y="4047041"/>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3" name="Rectangle 61"/>
          <p:cNvSpPr>
            <a:spLocks noChangeArrowheads="1"/>
          </p:cNvSpPr>
          <p:nvPr/>
        </p:nvSpPr>
        <p:spPr bwMode="auto">
          <a:xfrm>
            <a:off x="1780463" y="4018716"/>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Rectangle 62"/>
          <p:cNvSpPr>
            <a:spLocks noChangeArrowheads="1"/>
          </p:cNvSpPr>
          <p:nvPr/>
        </p:nvSpPr>
        <p:spPr bwMode="auto">
          <a:xfrm>
            <a:off x="2087316" y="4003609"/>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Line 63"/>
          <p:cNvSpPr>
            <a:spLocks noChangeShapeType="1"/>
          </p:cNvSpPr>
          <p:nvPr/>
        </p:nvSpPr>
        <p:spPr bwMode="auto">
          <a:xfrm flipV="1">
            <a:off x="1351892"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64"/>
          <p:cNvSpPr>
            <a:spLocks noChangeShapeType="1"/>
          </p:cNvSpPr>
          <p:nvPr/>
        </p:nvSpPr>
        <p:spPr bwMode="auto">
          <a:xfrm>
            <a:off x="1658745"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Line 65"/>
          <p:cNvSpPr>
            <a:spLocks noChangeShapeType="1"/>
          </p:cNvSpPr>
          <p:nvPr/>
        </p:nvSpPr>
        <p:spPr bwMode="auto">
          <a:xfrm>
            <a:off x="1964574"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8" name="Line 66"/>
          <p:cNvSpPr>
            <a:spLocks noChangeShapeType="1"/>
          </p:cNvSpPr>
          <p:nvPr/>
        </p:nvSpPr>
        <p:spPr bwMode="auto">
          <a:xfrm>
            <a:off x="2270404"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9" name="Rectangle 67"/>
          <p:cNvSpPr>
            <a:spLocks noChangeArrowheads="1"/>
          </p:cNvSpPr>
          <p:nvPr/>
        </p:nvSpPr>
        <p:spPr bwMode="auto">
          <a:xfrm flipH="1">
            <a:off x="3204260" y="3352138"/>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68"/>
          <p:cNvSpPr>
            <a:spLocks noChangeArrowheads="1"/>
          </p:cNvSpPr>
          <p:nvPr/>
        </p:nvSpPr>
        <p:spPr bwMode="auto">
          <a:xfrm flipH="1">
            <a:off x="2899453" y="3323813"/>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Rectangle 69"/>
          <p:cNvSpPr>
            <a:spLocks noChangeArrowheads="1"/>
          </p:cNvSpPr>
          <p:nvPr/>
        </p:nvSpPr>
        <p:spPr bwMode="auto">
          <a:xfrm flipH="1">
            <a:off x="2591578" y="3310594"/>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Line 70"/>
          <p:cNvSpPr>
            <a:spLocks noChangeShapeType="1"/>
          </p:cNvSpPr>
          <p:nvPr/>
        </p:nvSpPr>
        <p:spPr bwMode="auto">
          <a:xfrm flipV="1">
            <a:off x="3384280"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71"/>
          <p:cNvSpPr>
            <a:spLocks noChangeShapeType="1"/>
          </p:cNvSpPr>
          <p:nvPr/>
        </p:nvSpPr>
        <p:spPr bwMode="auto">
          <a:xfrm rot="10800000" flipH="1">
            <a:off x="3082541"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72"/>
          <p:cNvSpPr>
            <a:spLocks noChangeShapeType="1"/>
          </p:cNvSpPr>
          <p:nvPr/>
        </p:nvSpPr>
        <p:spPr bwMode="auto">
          <a:xfrm>
            <a:off x="2776711"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Line 73"/>
          <p:cNvSpPr>
            <a:spLocks noChangeShapeType="1"/>
          </p:cNvSpPr>
          <p:nvPr/>
        </p:nvSpPr>
        <p:spPr bwMode="auto">
          <a:xfrm>
            <a:off x="2470882" y="3395569"/>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6" name="Rectangle 74"/>
          <p:cNvSpPr>
            <a:spLocks noChangeArrowheads="1"/>
          </p:cNvSpPr>
          <p:nvPr/>
        </p:nvSpPr>
        <p:spPr bwMode="auto">
          <a:xfrm flipH="1">
            <a:off x="3204260" y="4047041"/>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7" name="Rectangle 75"/>
          <p:cNvSpPr>
            <a:spLocks noChangeArrowheads="1"/>
          </p:cNvSpPr>
          <p:nvPr/>
        </p:nvSpPr>
        <p:spPr bwMode="auto">
          <a:xfrm flipH="1">
            <a:off x="2899453" y="4018716"/>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8" name="Rectangle 76"/>
          <p:cNvSpPr>
            <a:spLocks noChangeArrowheads="1"/>
          </p:cNvSpPr>
          <p:nvPr/>
        </p:nvSpPr>
        <p:spPr bwMode="auto">
          <a:xfrm flipH="1">
            <a:off x="2591578" y="4003609"/>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77"/>
          <p:cNvSpPr>
            <a:spLocks noChangeShapeType="1"/>
          </p:cNvSpPr>
          <p:nvPr/>
        </p:nvSpPr>
        <p:spPr bwMode="auto">
          <a:xfrm flipV="1">
            <a:off x="3384280"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0" name="Line 78"/>
          <p:cNvSpPr>
            <a:spLocks noChangeShapeType="1"/>
          </p:cNvSpPr>
          <p:nvPr/>
        </p:nvSpPr>
        <p:spPr bwMode="auto">
          <a:xfrm>
            <a:off x="3082541"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9"/>
          <p:cNvSpPr>
            <a:spLocks noChangeShapeType="1"/>
          </p:cNvSpPr>
          <p:nvPr/>
        </p:nvSpPr>
        <p:spPr bwMode="auto">
          <a:xfrm>
            <a:off x="2776711"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Line 80"/>
          <p:cNvSpPr>
            <a:spLocks noChangeShapeType="1"/>
          </p:cNvSpPr>
          <p:nvPr/>
        </p:nvSpPr>
        <p:spPr bwMode="auto">
          <a:xfrm>
            <a:off x="2470882" y="4089528"/>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3" name="Rectangle 81"/>
          <p:cNvSpPr>
            <a:spLocks noChangeArrowheads="1"/>
          </p:cNvSpPr>
          <p:nvPr/>
        </p:nvSpPr>
        <p:spPr bwMode="auto">
          <a:xfrm>
            <a:off x="1475656" y="3692036"/>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4" name="Rectangle 82"/>
          <p:cNvSpPr>
            <a:spLocks noChangeArrowheads="1"/>
          </p:cNvSpPr>
          <p:nvPr/>
        </p:nvSpPr>
        <p:spPr bwMode="auto">
          <a:xfrm>
            <a:off x="1780463" y="366371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5" name="Rectangle 83"/>
          <p:cNvSpPr>
            <a:spLocks noChangeArrowheads="1"/>
          </p:cNvSpPr>
          <p:nvPr/>
        </p:nvSpPr>
        <p:spPr bwMode="auto">
          <a:xfrm>
            <a:off x="2087316" y="3650492"/>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6" name="Line 84"/>
          <p:cNvSpPr>
            <a:spLocks noChangeShapeType="1"/>
          </p:cNvSpPr>
          <p:nvPr/>
        </p:nvSpPr>
        <p:spPr bwMode="auto">
          <a:xfrm flipV="1">
            <a:off x="1351892"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Line 85"/>
          <p:cNvSpPr>
            <a:spLocks noChangeShapeType="1"/>
          </p:cNvSpPr>
          <p:nvPr/>
        </p:nvSpPr>
        <p:spPr bwMode="auto">
          <a:xfrm>
            <a:off x="1658745"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Line 86"/>
          <p:cNvSpPr>
            <a:spLocks noChangeShapeType="1"/>
          </p:cNvSpPr>
          <p:nvPr/>
        </p:nvSpPr>
        <p:spPr bwMode="auto">
          <a:xfrm>
            <a:off x="1964574"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Line 87"/>
          <p:cNvSpPr>
            <a:spLocks noChangeShapeType="1"/>
          </p:cNvSpPr>
          <p:nvPr/>
        </p:nvSpPr>
        <p:spPr bwMode="auto">
          <a:xfrm>
            <a:off x="2270404"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Rectangle 88"/>
          <p:cNvSpPr>
            <a:spLocks noChangeArrowheads="1"/>
          </p:cNvSpPr>
          <p:nvPr/>
        </p:nvSpPr>
        <p:spPr bwMode="auto">
          <a:xfrm flipH="1">
            <a:off x="3204260" y="3692036"/>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1" name="Rectangle 89"/>
          <p:cNvSpPr>
            <a:spLocks noChangeArrowheads="1"/>
          </p:cNvSpPr>
          <p:nvPr/>
        </p:nvSpPr>
        <p:spPr bwMode="auto">
          <a:xfrm flipH="1">
            <a:off x="2899453" y="366371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2" name="Rectangle 90"/>
          <p:cNvSpPr>
            <a:spLocks noChangeArrowheads="1"/>
          </p:cNvSpPr>
          <p:nvPr/>
        </p:nvSpPr>
        <p:spPr bwMode="auto">
          <a:xfrm flipH="1">
            <a:off x="2591578" y="3650492"/>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3" name="Line 91"/>
          <p:cNvSpPr>
            <a:spLocks noChangeShapeType="1"/>
          </p:cNvSpPr>
          <p:nvPr/>
        </p:nvSpPr>
        <p:spPr bwMode="auto">
          <a:xfrm flipV="1">
            <a:off x="3384280"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Line 92"/>
          <p:cNvSpPr>
            <a:spLocks noChangeShapeType="1"/>
          </p:cNvSpPr>
          <p:nvPr/>
        </p:nvSpPr>
        <p:spPr bwMode="auto">
          <a:xfrm rot="10800000" flipH="1">
            <a:off x="3082541"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5" name="Line 93"/>
          <p:cNvSpPr>
            <a:spLocks noChangeShapeType="1"/>
          </p:cNvSpPr>
          <p:nvPr/>
        </p:nvSpPr>
        <p:spPr bwMode="auto">
          <a:xfrm>
            <a:off x="2776711"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Line 94"/>
          <p:cNvSpPr>
            <a:spLocks noChangeShapeType="1"/>
          </p:cNvSpPr>
          <p:nvPr/>
        </p:nvSpPr>
        <p:spPr bwMode="auto">
          <a:xfrm>
            <a:off x="2470882" y="373546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Text Box 95"/>
          <p:cNvSpPr txBox="1">
            <a:spLocks noChangeArrowheads="1"/>
          </p:cNvSpPr>
          <p:nvPr/>
        </p:nvSpPr>
        <p:spPr bwMode="auto">
          <a:xfrm>
            <a:off x="1207763" y="308519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98" name="Text Box 96"/>
          <p:cNvSpPr txBox="1">
            <a:spLocks noChangeArrowheads="1"/>
          </p:cNvSpPr>
          <p:nvPr/>
        </p:nvSpPr>
        <p:spPr bwMode="auto">
          <a:xfrm>
            <a:off x="1206740" y="3773490"/>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99" name="Text Box 97"/>
          <p:cNvSpPr txBox="1">
            <a:spLocks noChangeArrowheads="1"/>
          </p:cNvSpPr>
          <p:nvPr/>
        </p:nvSpPr>
        <p:spPr bwMode="auto">
          <a:xfrm>
            <a:off x="1206740" y="341470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100" name="Text Box 98"/>
          <p:cNvSpPr txBox="1">
            <a:spLocks noChangeArrowheads="1"/>
          </p:cNvSpPr>
          <p:nvPr/>
        </p:nvSpPr>
        <p:spPr bwMode="auto">
          <a:xfrm>
            <a:off x="3385923" y="312673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101" name="Text Box 99"/>
          <p:cNvSpPr txBox="1">
            <a:spLocks noChangeArrowheads="1"/>
          </p:cNvSpPr>
          <p:nvPr/>
        </p:nvSpPr>
        <p:spPr bwMode="auto">
          <a:xfrm>
            <a:off x="3386946" y="3486456"/>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102" name="AutoShape 100"/>
          <p:cNvSpPr>
            <a:spLocks noChangeArrowheads="1"/>
          </p:cNvSpPr>
          <p:nvPr/>
        </p:nvSpPr>
        <p:spPr bwMode="auto">
          <a:xfrm>
            <a:off x="2310296" y="3097213"/>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103" name="Rectangle 102"/>
          <p:cNvSpPr>
            <a:spLocks noChangeArrowheads="1"/>
          </p:cNvSpPr>
          <p:nvPr/>
        </p:nvSpPr>
        <p:spPr bwMode="auto">
          <a:xfrm>
            <a:off x="4916434" y="198200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4" name="Rectangle 103"/>
          <p:cNvSpPr>
            <a:spLocks noChangeArrowheads="1"/>
          </p:cNvSpPr>
          <p:nvPr/>
        </p:nvSpPr>
        <p:spPr bwMode="auto">
          <a:xfrm>
            <a:off x="5222264" y="1954629"/>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5" name="Rectangle 104"/>
          <p:cNvSpPr>
            <a:spLocks noChangeArrowheads="1"/>
          </p:cNvSpPr>
          <p:nvPr/>
        </p:nvSpPr>
        <p:spPr bwMode="auto">
          <a:xfrm>
            <a:off x="5528093" y="194046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6" name="Line 105"/>
          <p:cNvSpPr>
            <a:spLocks noChangeShapeType="1"/>
          </p:cNvSpPr>
          <p:nvPr/>
        </p:nvSpPr>
        <p:spPr bwMode="auto">
          <a:xfrm flipV="1">
            <a:off x="4793693" y="2025441"/>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7" name="Line 106"/>
          <p:cNvSpPr>
            <a:spLocks noChangeShapeType="1"/>
          </p:cNvSpPr>
          <p:nvPr/>
        </p:nvSpPr>
        <p:spPr bwMode="auto">
          <a:xfrm>
            <a:off x="5099523"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8" name="Line 107"/>
          <p:cNvSpPr>
            <a:spLocks noChangeShapeType="1"/>
          </p:cNvSpPr>
          <p:nvPr/>
        </p:nvSpPr>
        <p:spPr bwMode="auto">
          <a:xfrm>
            <a:off x="5405352"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9" name="Line 108"/>
          <p:cNvSpPr>
            <a:spLocks noChangeShapeType="1"/>
          </p:cNvSpPr>
          <p:nvPr/>
        </p:nvSpPr>
        <p:spPr bwMode="auto">
          <a:xfrm>
            <a:off x="5712205" y="202544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Text Box 109"/>
          <p:cNvSpPr txBox="1">
            <a:spLocks noChangeArrowheads="1"/>
          </p:cNvSpPr>
          <p:nvPr/>
        </p:nvSpPr>
        <p:spPr bwMode="auto">
          <a:xfrm>
            <a:off x="4640359" y="1715068"/>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111" name="Rectangle 110"/>
          <p:cNvSpPr>
            <a:spLocks noChangeArrowheads="1"/>
          </p:cNvSpPr>
          <p:nvPr/>
        </p:nvSpPr>
        <p:spPr bwMode="auto">
          <a:xfrm>
            <a:off x="4919503" y="2655197"/>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2" name="Rectangle 111"/>
          <p:cNvSpPr>
            <a:spLocks noChangeArrowheads="1"/>
          </p:cNvSpPr>
          <p:nvPr/>
        </p:nvSpPr>
        <p:spPr bwMode="auto">
          <a:xfrm>
            <a:off x="5226356" y="262781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3" name="Rectangle 112"/>
          <p:cNvSpPr>
            <a:spLocks noChangeArrowheads="1"/>
          </p:cNvSpPr>
          <p:nvPr/>
        </p:nvSpPr>
        <p:spPr bwMode="auto">
          <a:xfrm>
            <a:off x="5531162" y="261365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4" name="Line 113"/>
          <p:cNvSpPr>
            <a:spLocks noChangeShapeType="1"/>
          </p:cNvSpPr>
          <p:nvPr/>
        </p:nvSpPr>
        <p:spPr bwMode="auto">
          <a:xfrm flipV="1">
            <a:off x="4797784" y="26986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Line 114"/>
          <p:cNvSpPr>
            <a:spLocks noChangeShapeType="1"/>
          </p:cNvSpPr>
          <p:nvPr/>
        </p:nvSpPr>
        <p:spPr bwMode="auto">
          <a:xfrm>
            <a:off x="510361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Line 115"/>
          <p:cNvSpPr>
            <a:spLocks noChangeShapeType="1"/>
          </p:cNvSpPr>
          <p:nvPr/>
        </p:nvSpPr>
        <p:spPr bwMode="auto">
          <a:xfrm>
            <a:off x="5409444" y="2698628"/>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Line 116"/>
          <p:cNvSpPr>
            <a:spLocks noChangeShapeType="1"/>
          </p:cNvSpPr>
          <p:nvPr/>
        </p:nvSpPr>
        <p:spPr bwMode="auto">
          <a:xfrm>
            <a:off x="571527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8" name="Text Box 117"/>
          <p:cNvSpPr txBox="1">
            <a:spLocks noChangeArrowheads="1"/>
          </p:cNvSpPr>
          <p:nvPr/>
        </p:nvSpPr>
        <p:spPr bwMode="auto">
          <a:xfrm>
            <a:off x="4633199" y="240430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119" name="Rectangle 118"/>
          <p:cNvSpPr>
            <a:spLocks noChangeArrowheads="1"/>
          </p:cNvSpPr>
          <p:nvPr/>
        </p:nvSpPr>
        <p:spPr bwMode="auto">
          <a:xfrm>
            <a:off x="4916434" y="232285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0" name="Rectangle 119"/>
          <p:cNvSpPr>
            <a:spLocks noChangeArrowheads="1"/>
          </p:cNvSpPr>
          <p:nvPr/>
        </p:nvSpPr>
        <p:spPr bwMode="auto">
          <a:xfrm>
            <a:off x="5222264" y="229452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1" name="Rectangle 120"/>
          <p:cNvSpPr>
            <a:spLocks noChangeArrowheads="1"/>
          </p:cNvSpPr>
          <p:nvPr/>
        </p:nvSpPr>
        <p:spPr bwMode="auto">
          <a:xfrm>
            <a:off x="5528093" y="2280365"/>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2" name="Line 121"/>
          <p:cNvSpPr>
            <a:spLocks noChangeShapeType="1"/>
          </p:cNvSpPr>
          <p:nvPr/>
        </p:nvSpPr>
        <p:spPr bwMode="auto">
          <a:xfrm flipV="1">
            <a:off x="4793693" y="2365339"/>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Line 122"/>
          <p:cNvSpPr>
            <a:spLocks noChangeShapeType="1"/>
          </p:cNvSpPr>
          <p:nvPr/>
        </p:nvSpPr>
        <p:spPr bwMode="auto">
          <a:xfrm>
            <a:off x="5099523"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Line 123"/>
          <p:cNvSpPr>
            <a:spLocks noChangeShapeType="1"/>
          </p:cNvSpPr>
          <p:nvPr/>
        </p:nvSpPr>
        <p:spPr bwMode="auto">
          <a:xfrm>
            <a:off x="5405352"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Line 124"/>
          <p:cNvSpPr>
            <a:spLocks noChangeShapeType="1"/>
          </p:cNvSpPr>
          <p:nvPr/>
        </p:nvSpPr>
        <p:spPr bwMode="auto">
          <a:xfrm>
            <a:off x="5712205" y="2365339"/>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Text Box 125"/>
          <p:cNvSpPr txBox="1">
            <a:spLocks noChangeArrowheads="1"/>
          </p:cNvSpPr>
          <p:nvPr/>
        </p:nvSpPr>
        <p:spPr bwMode="auto">
          <a:xfrm>
            <a:off x="4638313" y="204646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127" name="Group 126"/>
          <p:cNvGrpSpPr>
            <a:grpSpLocks/>
          </p:cNvGrpSpPr>
          <p:nvPr/>
        </p:nvGrpSpPr>
        <p:grpSpPr bwMode="auto">
          <a:xfrm>
            <a:off x="6028264" y="2826090"/>
            <a:ext cx="191272" cy="924334"/>
            <a:chOff x="2919" y="2867"/>
            <a:chExt cx="192" cy="1044"/>
          </a:xfrm>
        </p:grpSpPr>
        <p:sp>
          <p:nvSpPr>
            <p:cNvPr id="128"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9"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0"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1"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2"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3"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4"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35" name="Text Box 134"/>
          <p:cNvSpPr txBox="1">
            <a:spLocks noChangeArrowheads="1"/>
          </p:cNvSpPr>
          <p:nvPr/>
        </p:nvSpPr>
        <p:spPr bwMode="auto">
          <a:xfrm>
            <a:off x="6163279" y="355120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136" name="Group 135"/>
          <p:cNvGrpSpPr>
            <a:grpSpLocks/>
          </p:cNvGrpSpPr>
          <p:nvPr/>
        </p:nvGrpSpPr>
        <p:grpSpPr bwMode="auto">
          <a:xfrm>
            <a:off x="6465014" y="2826091"/>
            <a:ext cx="548490" cy="1027287"/>
            <a:chOff x="3357" y="2859"/>
            <a:chExt cx="551" cy="1159"/>
          </a:xfrm>
        </p:grpSpPr>
        <p:sp>
          <p:nvSpPr>
            <p:cNvPr id="137"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8"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9"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0"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1"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2"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3"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4"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145" name="Rectangle 144"/>
          <p:cNvSpPr>
            <a:spLocks noChangeArrowheads="1"/>
          </p:cNvSpPr>
          <p:nvPr/>
        </p:nvSpPr>
        <p:spPr bwMode="auto">
          <a:xfrm rot="5400000" flipH="1">
            <a:off x="6911645" y="3512614"/>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6" name="Rectangle 145"/>
          <p:cNvSpPr>
            <a:spLocks noChangeArrowheads="1"/>
          </p:cNvSpPr>
          <p:nvPr/>
        </p:nvSpPr>
        <p:spPr bwMode="auto">
          <a:xfrm rot="5400000" flipH="1">
            <a:off x="6911646" y="3207020"/>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7" name="Rectangle 146"/>
          <p:cNvSpPr>
            <a:spLocks noChangeArrowheads="1"/>
          </p:cNvSpPr>
          <p:nvPr/>
        </p:nvSpPr>
        <p:spPr bwMode="auto">
          <a:xfrm rot="5400000" flipH="1">
            <a:off x="6911646" y="2919759"/>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8" name="Line 147"/>
          <p:cNvSpPr>
            <a:spLocks noChangeShapeType="1"/>
          </p:cNvSpPr>
          <p:nvPr/>
        </p:nvSpPr>
        <p:spPr bwMode="auto">
          <a:xfrm rot="5400000" flipV="1">
            <a:off x="6937177" y="3693775"/>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9" name="Line 148"/>
          <p:cNvSpPr>
            <a:spLocks noChangeShapeType="1"/>
          </p:cNvSpPr>
          <p:nvPr/>
        </p:nvSpPr>
        <p:spPr bwMode="auto">
          <a:xfrm rot="16200000" flipH="1">
            <a:off x="6939065" y="3423744"/>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0" name="Line 149"/>
          <p:cNvSpPr>
            <a:spLocks noChangeShapeType="1"/>
          </p:cNvSpPr>
          <p:nvPr/>
        </p:nvSpPr>
        <p:spPr bwMode="auto">
          <a:xfrm rot="5400000">
            <a:off x="6939538" y="3151354"/>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1" name="Line 150"/>
          <p:cNvSpPr>
            <a:spLocks noChangeShapeType="1"/>
          </p:cNvSpPr>
          <p:nvPr/>
        </p:nvSpPr>
        <p:spPr bwMode="auto">
          <a:xfrm rot="5400000">
            <a:off x="6940010" y="2879908"/>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2" name="Text Box 151"/>
          <p:cNvSpPr txBox="1">
            <a:spLocks noChangeArrowheads="1"/>
          </p:cNvSpPr>
          <p:nvPr/>
        </p:nvSpPr>
        <p:spPr bwMode="auto">
          <a:xfrm>
            <a:off x="7062357" y="355120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53" name="Text Box 153"/>
          <p:cNvSpPr txBox="1">
            <a:spLocks noChangeArrowheads="1"/>
          </p:cNvSpPr>
          <p:nvPr/>
        </p:nvSpPr>
        <p:spPr bwMode="auto">
          <a:xfrm>
            <a:off x="1885815" y="2662248"/>
            <a:ext cx="13805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(a) </a:t>
            </a:r>
            <a:r>
              <a:rPr kumimoji="1" lang="zh-CN" altLang="en-US" sz="1400" dirty="0">
                <a:latin typeface="微软雅黑" pitchFamily="34" charset="-122"/>
                <a:ea typeface="微软雅黑" pitchFamily="34" charset="-122"/>
              </a:rPr>
              <a:t>通过存储器</a:t>
            </a:r>
          </a:p>
        </p:txBody>
      </p:sp>
      <p:sp>
        <p:nvSpPr>
          <p:cNvPr id="154" name="Text Box 154"/>
          <p:cNvSpPr txBox="1">
            <a:spLocks noChangeArrowheads="1"/>
          </p:cNvSpPr>
          <p:nvPr/>
        </p:nvSpPr>
        <p:spPr bwMode="auto">
          <a:xfrm>
            <a:off x="5377249" y="3844366"/>
            <a:ext cx="154882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(c) </a:t>
            </a:r>
            <a:r>
              <a:rPr kumimoji="1" lang="zh-CN" altLang="en-US" sz="1400" dirty="0">
                <a:latin typeface="微软雅黑" pitchFamily="34" charset="-122"/>
                <a:ea typeface="微软雅黑" pitchFamily="34" charset="-122"/>
              </a:rPr>
              <a:t>通过互连网络</a:t>
            </a:r>
          </a:p>
        </p:txBody>
      </p:sp>
      <p:sp>
        <p:nvSpPr>
          <p:cNvPr id="155" name="Text Box 155"/>
          <p:cNvSpPr txBox="1">
            <a:spLocks noChangeArrowheads="1"/>
          </p:cNvSpPr>
          <p:nvPr/>
        </p:nvSpPr>
        <p:spPr bwMode="auto">
          <a:xfrm>
            <a:off x="2007677" y="4294300"/>
            <a:ext cx="12170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(b) </a:t>
            </a:r>
            <a:r>
              <a:rPr kumimoji="1" lang="zh-CN" altLang="en-US" sz="1400" dirty="0">
                <a:latin typeface="微软雅黑" pitchFamily="34" charset="-122"/>
                <a:ea typeface="微软雅黑" pitchFamily="34" charset="-122"/>
              </a:rPr>
              <a:t>通过总线</a:t>
            </a:r>
          </a:p>
        </p:txBody>
      </p:sp>
      <p:sp>
        <p:nvSpPr>
          <p:cNvPr id="156" name="Line 156"/>
          <p:cNvSpPr>
            <a:spLocks noChangeShapeType="1"/>
          </p:cNvSpPr>
          <p:nvPr/>
        </p:nvSpPr>
        <p:spPr bwMode="auto">
          <a:xfrm>
            <a:off x="5894271" y="202544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7" name="Line 157"/>
          <p:cNvSpPr>
            <a:spLocks noChangeShapeType="1"/>
          </p:cNvSpPr>
          <p:nvPr/>
        </p:nvSpPr>
        <p:spPr bwMode="auto">
          <a:xfrm>
            <a:off x="5894271" y="2365339"/>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8" name="Line 158"/>
          <p:cNvSpPr>
            <a:spLocks noChangeShapeType="1"/>
          </p:cNvSpPr>
          <p:nvPr/>
        </p:nvSpPr>
        <p:spPr bwMode="auto">
          <a:xfrm>
            <a:off x="5894271" y="270618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9" name="Line 159"/>
          <p:cNvSpPr>
            <a:spLocks noChangeShapeType="1"/>
          </p:cNvSpPr>
          <p:nvPr/>
        </p:nvSpPr>
        <p:spPr bwMode="auto">
          <a:xfrm rot="16200000">
            <a:off x="5750759"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0" name="Line 160"/>
          <p:cNvSpPr>
            <a:spLocks noChangeShapeType="1"/>
          </p:cNvSpPr>
          <p:nvPr/>
        </p:nvSpPr>
        <p:spPr bwMode="auto">
          <a:xfrm rot="16200000">
            <a:off x="6181376"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1" name="Line 161"/>
          <p:cNvSpPr>
            <a:spLocks noChangeShapeType="1"/>
          </p:cNvSpPr>
          <p:nvPr/>
        </p:nvSpPr>
        <p:spPr bwMode="auto">
          <a:xfrm rot="16200000">
            <a:off x="6611992"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2" name="Oval 162"/>
          <p:cNvSpPr>
            <a:spLocks noChangeArrowheads="1"/>
          </p:cNvSpPr>
          <p:nvPr/>
        </p:nvSpPr>
        <p:spPr bwMode="auto">
          <a:xfrm>
            <a:off x="6951890"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3" name="Oval 163"/>
          <p:cNvSpPr>
            <a:spLocks noChangeArrowheads="1"/>
          </p:cNvSpPr>
          <p:nvPr/>
        </p:nvSpPr>
        <p:spPr bwMode="auto">
          <a:xfrm>
            <a:off x="6951890"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4" name="Oval 164"/>
          <p:cNvSpPr>
            <a:spLocks noChangeArrowheads="1"/>
          </p:cNvSpPr>
          <p:nvPr/>
        </p:nvSpPr>
        <p:spPr bwMode="auto">
          <a:xfrm>
            <a:off x="6951890"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5" name="Oval 165"/>
          <p:cNvSpPr>
            <a:spLocks noChangeArrowheads="1"/>
          </p:cNvSpPr>
          <p:nvPr/>
        </p:nvSpPr>
        <p:spPr bwMode="auto">
          <a:xfrm>
            <a:off x="6521274" y="267124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6" name="Oval 166"/>
          <p:cNvSpPr>
            <a:spLocks noChangeArrowheads="1"/>
          </p:cNvSpPr>
          <p:nvPr/>
        </p:nvSpPr>
        <p:spPr bwMode="auto">
          <a:xfrm>
            <a:off x="6521274" y="2330405"/>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7" name="Oval 167"/>
          <p:cNvSpPr>
            <a:spLocks noChangeArrowheads="1"/>
          </p:cNvSpPr>
          <p:nvPr/>
        </p:nvSpPr>
        <p:spPr bwMode="auto">
          <a:xfrm>
            <a:off x="6521274" y="1993340"/>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8" name="Oval 168"/>
          <p:cNvSpPr>
            <a:spLocks noChangeArrowheads="1"/>
          </p:cNvSpPr>
          <p:nvPr/>
        </p:nvSpPr>
        <p:spPr bwMode="auto">
          <a:xfrm>
            <a:off x="6090657"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9" name="Oval 169"/>
          <p:cNvSpPr>
            <a:spLocks noChangeArrowheads="1"/>
          </p:cNvSpPr>
          <p:nvPr/>
        </p:nvSpPr>
        <p:spPr bwMode="auto">
          <a:xfrm>
            <a:off x="6090657"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0" name="Oval 170"/>
          <p:cNvSpPr>
            <a:spLocks noChangeArrowheads="1"/>
          </p:cNvSpPr>
          <p:nvPr/>
        </p:nvSpPr>
        <p:spPr bwMode="auto">
          <a:xfrm>
            <a:off x="6090657"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1" name="Text Box 171"/>
          <p:cNvSpPr txBox="1">
            <a:spLocks noChangeArrowheads="1"/>
          </p:cNvSpPr>
          <p:nvPr/>
        </p:nvSpPr>
        <p:spPr bwMode="auto">
          <a:xfrm>
            <a:off x="2710227" y="29428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172" name="Line 172"/>
          <p:cNvSpPr>
            <a:spLocks noChangeShapeType="1"/>
          </p:cNvSpPr>
          <p:nvPr/>
        </p:nvSpPr>
        <p:spPr bwMode="auto">
          <a:xfrm flipV="1">
            <a:off x="2422809" y="3100067"/>
            <a:ext cx="301311" cy="821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3" name="Text Box 173"/>
          <p:cNvSpPr txBox="1">
            <a:spLocks noChangeArrowheads="1"/>
          </p:cNvSpPr>
          <p:nvPr/>
        </p:nvSpPr>
        <p:spPr bwMode="auto">
          <a:xfrm>
            <a:off x="6464516" y="154038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174" name="Line 174"/>
          <p:cNvSpPr>
            <a:spLocks noChangeShapeType="1"/>
          </p:cNvSpPr>
          <p:nvPr/>
        </p:nvSpPr>
        <p:spPr bwMode="auto">
          <a:xfrm flipV="1">
            <a:off x="6815568" y="1796765"/>
            <a:ext cx="115866" cy="3912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5" name="Text Box 175"/>
          <p:cNvSpPr txBox="1">
            <a:spLocks noChangeArrowheads="1"/>
          </p:cNvSpPr>
          <p:nvPr/>
        </p:nvSpPr>
        <p:spPr bwMode="auto">
          <a:xfrm>
            <a:off x="3401265" y="384523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6" name="Text Box 176"/>
          <p:cNvSpPr txBox="1">
            <a:spLocks noChangeArrowheads="1"/>
          </p:cNvSpPr>
          <p:nvPr/>
        </p:nvSpPr>
        <p:spPr bwMode="auto">
          <a:xfrm>
            <a:off x="3717324" y="219324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7" name="Freeform 177"/>
          <p:cNvSpPr>
            <a:spLocks/>
          </p:cNvSpPr>
          <p:nvPr/>
        </p:nvSpPr>
        <p:spPr bwMode="auto">
          <a:xfrm>
            <a:off x="1190282" y="1682497"/>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8" name="Freeform 178"/>
          <p:cNvSpPr>
            <a:spLocks/>
          </p:cNvSpPr>
          <p:nvPr/>
        </p:nvSpPr>
        <p:spPr bwMode="auto">
          <a:xfrm>
            <a:off x="1408148" y="3334488"/>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9" name="Line 179"/>
          <p:cNvSpPr>
            <a:spLocks noChangeShapeType="1"/>
          </p:cNvSpPr>
          <p:nvPr/>
        </p:nvSpPr>
        <p:spPr bwMode="auto">
          <a:xfrm>
            <a:off x="4790624" y="1954180"/>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0" name="Line 180"/>
          <p:cNvSpPr>
            <a:spLocks noChangeShapeType="1"/>
          </p:cNvSpPr>
          <p:nvPr/>
        </p:nvSpPr>
        <p:spPr bwMode="auto">
          <a:xfrm rot="16200000" flipH="1">
            <a:off x="5847215" y="2865623"/>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1" name="标题 180">
            <a:extLst>
              <a:ext uri="{FF2B5EF4-FFF2-40B4-BE49-F238E27FC236}">
                <a16:creationId xmlns:a16="http://schemas.microsoft.com/office/drawing/2014/main" id="{32045E38-6013-8E4D-9AE7-A1005403B12A}"/>
              </a:ext>
            </a:extLst>
          </p:cNvPr>
          <p:cNvSpPr>
            <a:spLocks noGrp="1"/>
          </p:cNvSpPr>
          <p:nvPr>
            <p:ph type="title"/>
          </p:nvPr>
        </p:nvSpPr>
        <p:spPr>
          <a:xfrm>
            <a:off x="486000" y="550723"/>
            <a:ext cx="8172000" cy="338554"/>
          </a:xfrm>
        </p:spPr>
        <p:txBody>
          <a:bodyPr/>
          <a:lstStyle/>
          <a:p>
            <a:r>
              <a:rPr lang="en-US" altLang="zh-CN" dirty="0"/>
              <a:t>2. </a:t>
            </a:r>
            <a:r>
              <a:rPr lang="zh-CN" altLang="en-US" dirty="0"/>
              <a:t>交换结构</a:t>
            </a:r>
          </a:p>
        </p:txBody>
      </p:sp>
      <p:sp>
        <p:nvSpPr>
          <p:cNvPr id="182" name="内容占位符 181">
            <a:extLst>
              <a:ext uri="{FF2B5EF4-FFF2-40B4-BE49-F238E27FC236}">
                <a16:creationId xmlns:a16="http://schemas.microsoft.com/office/drawing/2014/main" id="{41FAB2B3-E0E8-66F4-70E2-BFC24F545478}"/>
              </a:ext>
            </a:extLst>
          </p:cNvPr>
          <p:cNvSpPr>
            <a:spLocks noGrp="1"/>
          </p:cNvSpPr>
          <p:nvPr>
            <p:ph sz="quarter" idx="11"/>
          </p:nvPr>
        </p:nvSpPr>
        <p:spPr>
          <a:xfrm>
            <a:off x="486000" y="900000"/>
            <a:ext cx="8172000" cy="3703500"/>
          </a:xfrm>
        </p:spPr>
        <p:txBody>
          <a:bodyPr/>
          <a:lstStyle/>
          <a:p>
            <a:r>
              <a:rPr lang="zh-CN" altLang="en-US" dirty="0"/>
              <a:t>常用交换方法有三种：通过存储器、通过总线、通过纵横交换结构。</a:t>
            </a:r>
          </a:p>
          <a:p>
            <a:endParaRPr lang="zh-CN" altLang="en-US" dirty="0"/>
          </a:p>
        </p:txBody>
      </p:sp>
    </p:spTree>
    <p:extLst>
      <p:ext uri="{BB962C8B-B14F-4D97-AF65-F5344CB8AC3E}">
        <p14:creationId xmlns:p14="http://schemas.microsoft.com/office/powerpoint/2010/main" val="4217648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77"/>
                                        </p:tgtEl>
                                        <p:attrNameLst>
                                          <p:attrName>style.visibility</p:attrName>
                                        </p:attrNameLst>
                                      </p:cBhvr>
                                      <p:to>
                                        <p:strVal val="visible"/>
                                      </p:to>
                                    </p:set>
                                    <p:animEffect transition="in" filter="wipe(left)">
                                      <p:cBhvr>
                                        <p:cTn id="7" dur="2500"/>
                                        <p:tgtEl>
                                          <p:spTgt spid="177"/>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178"/>
                                        </p:tgtEl>
                                        <p:attrNameLst>
                                          <p:attrName>style.visibility</p:attrName>
                                        </p:attrNameLst>
                                      </p:cBhvr>
                                      <p:to>
                                        <p:strVal val="visible"/>
                                      </p:to>
                                    </p:set>
                                    <p:animEffect transition="in" filter="wipe(left)">
                                      <p:cBhvr>
                                        <p:cTn id="11" dur="2500"/>
                                        <p:tgtEl>
                                          <p:spTgt spid="178"/>
                                        </p:tgtEl>
                                      </p:cBhvr>
                                    </p:animEffect>
                                  </p:childTnLst>
                                </p:cTn>
                              </p:par>
                            </p:childTnLst>
                          </p:cTn>
                        </p:par>
                        <p:par>
                          <p:cTn id="12" fill="hold">
                            <p:stCondLst>
                              <p:cond delay="5000"/>
                            </p:stCondLst>
                            <p:childTnLst>
                              <p:par>
                                <p:cTn id="13" presetID="22" presetClass="entr" presetSubtype="8" fill="hold" grpId="0" nodeType="afterEffect">
                                  <p:stCondLst>
                                    <p:cond delay="0"/>
                                  </p:stCondLst>
                                  <p:childTnLst>
                                    <p:set>
                                      <p:cBhvr>
                                        <p:cTn id="14" dur="1" fill="hold">
                                          <p:stCondLst>
                                            <p:cond delay="0"/>
                                          </p:stCondLst>
                                        </p:cTn>
                                        <p:tgtEl>
                                          <p:spTgt spid="179"/>
                                        </p:tgtEl>
                                        <p:attrNameLst>
                                          <p:attrName>style.visibility</p:attrName>
                                        </p:attrNameLst>
                                      </p:cBhvr>
                                      <p:to>
                                        <p:strVal val="visible"/>
                                      </p:to>
                                    </p:set>
                                    <p:animEffect transition="in" filter="wipe(left)">
                                      <p:cBhvr>
                                        <p:cTn id="15" dur="1500"/>
                                        <p:tgtEl>
                                          <p:spTgt spid="179"/>
                                        </p:tgtEl>
                                      </p:cBhvr>
                                    </p:animEffect>
                                  </p:childTnLst>
                                </p:cTn>
                              </p:par>
                            </p:childTnLst>
                          </p:cTn>
                        </p:par>
                        <p:par>
                          <p:cTn id="16" fill="hold">
                            <p:stCondLst>
                              <p:cond delay="6500"/>
                            </p:stCondLst>
                            <p:childTnLst>
                              <p:par>
                                <p:cTn id="17" presetID="22" presetClass="entr" presetSubtype="1" fill="hold" grpId="0" nodeType="afterEffect">
                                  <p:stCondLst>
                                    <p:cond delay="0"/>
                                  </p:stCondLst>
                                  <p:childTnLst>
                                    <p:set>
                                      <p:cBhvr>
                                        <p:cTn id="18" dur="1" fill="hold">
                                          <p:stCondLst>
                                            <p:cond delay="0"/>
                                          </p:stCondLst>
                                        </p:cTn>
                                        <p:tgtEl>
                                          <p:spTgt spid="180"/>
                                        </p:tgtEl>
                                        <p:attrNameLst>
                                          <p:attrName>style.visibility</p:attrName>
                                        </p:attrNameLst>
                                      </p:cBhvr>
                                      <p:to>
                                        <p:strVal val="visible"/>
                                      </p:to>
                                    </p:set>
                                    <p:animEffect transition="in" filter="wipe(up)">
                                      <p:cBhvr>
                                        <p:cTn id="19" dur="1250"/>
                                        <p:tgtEl>
                                          <p:spTgt spid="1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7" grpId="0" animBg="1"/>
      <p:bldP spid="178" grpId="0" animBg="1"/>
      <p:bldP spid="179" grpId="0" animBg="1"/>
      <p:bldP spid="180" grpId="0" animBg="1"/>
    </p:bldLst>
  </p:timing>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3"/>
          <p:cNvSpPr>
            <a:spLocks noChangeArrowheads="1"/>
          </p:cNvSpPr>
          <p:nvPr/>
        </p:nvSpPr>
        <p:spPr bwMode="auto">
          <a:xfrm>
            <a:off x="5808548" y="2300866"/>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4"/>
          <p:cNvSpPr>
            <a:spLocks noChangeArrowheads="1"/>
          </p:cNvSpPr>
          <p:nvPr/>
        </p:nvSpPr>
        <p:spPr bwMode="auto">
          <a:xfrm>
            <a:off x="6113355" y="227254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
          <p:cNvSpPr>
            <a:spLocks noChangeArrowheads="1"/>
          </p:cNvSpPr>
          <p:nvPr/>
        </p:nvSpPr>
        <p:spPr bwMode="auto">
          <a:xfrm>
            <a:off x="6420208" y="2259322"/>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6"/>
          <p:cNvSpPr>
            <a:spLocks noChangeShapeType="1"/>
          </p:cNvSpPr>
          <p:nvPr/>
        </p:nvSpPr>
        <p:spPr bwMode="auto">
          <a:xfrm flipV="1">
            <a:off x="5684784" y="234429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7"/>
          <p:cNvSpPr>
            <a:spLocks noChangeShapeType="1"/>
          </p:cNvSpPr>
          <p:nvPr/>
        </p:nvSpPr>
        <p:spPr bwMode="auto">
          <a:xfrm>
            <a:off x="5991637" y="234429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8"/>
          <p:cNvSpPr>
            <a:spLocks noChangeShapeType="1"/>
          </p:cNvSpPr>
          <p:nvPr/>
        </p:nvSpPr>
        <p:spPr bwMode="auto">
          <a:xfrm>
            <a:off x="6297466" y="234429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9"/>
          <p:cNvSpPr>
            <a:spLocks noChangeShapeType="1"/>
          </p:cNvSpPr>
          <p:nvPr/>
        </p:nvSpPr>
        <p:spPr bwMode="auto">
          <a:xfrm>
            <a:off x="6603296" y="234429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0"/>
          <p:cNvSpPr>
            <a:spLocks noChangeArrowheads="1"/>
          </p:cNvSpPr>
          <p:nvPr/>
        </p:nvSpPr>
        <p:spPr bwMode="auto">
          <a:xfrm>
            <a:off x="5808548" y="2995769"/>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6113355" y="2967444"/>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2"/>
          <p:cNvSpPr>
            <a:spLocks noChangeArrowheads="1"/>
          </p:cNvSpPr>
          <p:nvPr/>
        </p:nvSpPr>
        <p:spPr bwMode="auto">
          <a:xfrm>
            <a:off x="6420208" y="2952337"/>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flipV="1">
            <a:off x="5684784" y="303825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5991637" y="303825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6297466" y="303825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6603296" y="303825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17"/>
          <p:cNvSpPr>
            <a:spLocks noChangeArrowheads="1"/>
          </p:cNvSpPr>
          <p:nvPr/>
        </p:nvSpPr>
        <p:spPr bwMode="auto">
          <a:xfrm>
            <a:off x="6726037" y="2173403"/>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8"/>
          <p:cNvSpPr>
            <a:spLocks noChangeArrowheads="1"/>
          </p:cNvSpPr>
          <p:nvPr/>
        </p:nvSpPr>
        <p:spPr bwMode="auto">
          <a:xfrm flipH="1">
            <a:off x="7902307" y="2300866"/>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9"/>
          <p:cNvSpPr>
            <a:spLocks noChangeArrowheads="1"/>
          </p:cNvSpPr>
          <p:nvPr/>
        </p:nvSpPr>
        <p:spPr bwMode="auto">
          <a:xfrm flipH="1">
            <a:off x="7597499" y="227254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20"/>
          <p:cNvSpPr>
            <a:spLocks noChangeArrowheads="1"/>
          </p:cNvSpPr>
          <p:nvPr/>
        </p:nvSpPr>
        <p:spPr bwMode="auto">
          <a:xfrm flipH="1">
            <a:off x="7289623" y="2259322"/>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8082326" y="234429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rot="10800000" flipH="1">
            <a:off x="7780588" y="234429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3"/>
          <p:cNvSpPr>
            <a:spLocks noChangeShapeType="1"/>
          </p:cNvSpPr>
          <p:nvPr/>
        </p:nvSpPr>
        <p:spPr bwMode="auto">
          <a:xfrm>
            <a:off x="7473736" y="234429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4"/>
          <p:cNvSpPr>
            <a:spLocks noChangeShapeType="1"/>
          </p:cNvSpPr>
          <p:nvPr/>
        </p:nvSpPr>
        <p:spPr bwMode="auto">
          <a:xfrm>
            <a:off x="7168929" y="234429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Rectangle 25"/>
          <p:cNvSpPr>
            <a:spLocks noChangeArrowheads="1"/>
          </p:cNvSpPr>
          <p:nvPr/>
        </p:nvSpPr>
        <p:spPr bwMode="auto">
          <a:xfrm flipH="1">
            <a:off x="7902307" y="299576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6"/>
          <p:cNvSpPr>
            <a:spLocks noChangeArrowheads="1"/>
          </p:cNvSpPr>
          <p:nvPr/>
        </p:nvSpPr>
        <p:spPr bwMode="auto">
          <a:xfrm flipH="1">
            <a:off x="7597499" y="2967444"/>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Rectangle 27"/>
          <p:cNvSpPr>
            <a:spLocks noChangeArrowheads="1"/>
          </p:cNvSpPr>
          <p:nvPr/>
        </p:nvSpPr>
        <p:spPr bwMode="auto">
          <a:xfrm flipH="1">
            <a:off x="7289623" y="2952337"/>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28"/>
          <p:cNvSpPr>
            <a:spLocks noChangeShapeType="1"/>
          </p:cNvSpPr>
          <p:nvPr/>
        </p:nvSpPr>
        <p:spPr bwMode="auto">
          <a:xfrm flipV="1">
            <a:off x="8082326" y="303825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29"/>
          <p:cNvSpPr>
            <a:spLocks noChangeShapeType="1"/>
          </p:cNvSpPr>
          <p:nvPr/>
        </p:nvSpPr>
        <p:spPr bwMode="auto">
          <a:xfrm>
            <a:off x="7780588" y="303825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0"/>
          <p:cNvSpPr>
            <a:spLocks noChangeShapeType="1"/>
          </p:cNvSpPr>
          <p:nvPr/>
        </p:nvSpPr>
        <p:spPr bwMode="auto">
          <a:xfrm>
            <a:off x="7473736" y="303825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31"/>
          <p:cNvSpPr>
            <a:spLocks noChangeShapeType="1"/>
          </p:cNvSpPr>
          <p:nvPr/>
        </p:nvSpPr>
        <p:spPr bwMode="auto">
          <a:xfrm>
            <a:off x="7168929" y="303825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32"/>
          <p:cNvSpPr>
            <a:spLocks noChangeArrowheads="1"/>
          </p:cNvSpPr>
          <p:nvPr/>
        </p:nvSpPr>
        <p:spPr bwMode="auto">
          <a:xfrm>
            <a:off x="5808548" y="2640764"/>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3"/>
          <p:cNvSpPr>
            <a:spLocks noChangeArrowheads="1"/>
          </p:cNvSpPr>
          <p:nvPr/>
        </p:nvSpPr>
        <p:spPr bwMode="auto">
          <a:xfrm>
            <a:off x="6113355" y="2612439"/>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Rectangle 34"/>
          <p:cNvSpPr>
            <a:spLocks noChangeArrowheads="1"/>
          </p:cNvSpPr>
          <p:nvPr/>
        </p:nvSpPr>
        <p:spPr bwMode="auto">
          <a:xfrm>
            <a:off x="6420208" y="2599220"/>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Line 35"/>
          <p:cNvSpPr>
            <a:spLocks noChangeShapeType="1"/>
          </p:cNvSpPr>
          <p:nvPr/>
        </p:nvSpPr>
        <p:spPr bwMode="auto">
          <a:xfrm flipV="1">
            <a:off x="5684784" y="26841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6"/>
          <p:cNvSpPr>
            <a:spLocks noChangeShapeType="1"/>
          </p:cNvSpPr>
          <p:nvPr/>
        </p:nvSpPr>
        <p:spPr bwMode="auto">
          <a:xfrm>
            <a:off x="5991637" y="2684195"/>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7"/>
          <p:cNvSpPr>
            <a:spLocks noChangeShapeType="1"/>
          </p:cNvSpPr>
          <p:nvPr/>
        </p:nvSpPr>
        <p:spPr bwMode="auto">
          <a:xfrm>
            <a:off x="6297466" y="26841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38"/>
          <p:cNvSpPr>
            <a:spLocks noChangeShapeType="1"/>
          </p:cNvSpPr>
          <p:nvPr/>
        </p:nvSpPr>
        <p:spPr bwMode="auto">
          <a:xfrm>
            <a:off x="6603296" y="26841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Rectangle 39"/>
          <p:cNvSpPr>
            <a:spLocks noChangeArrowheads="1"/>
          </p:cNvSpPr>
          <p:nvPr/>
        </p:nvSpPr>
        <p:spPr bwMode="auto">
          <a:xfrm flipH="1">
            <a:off x="7902307" y="2640764"/>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0"/>
          <p:cNvSpPr>
            <a:spLocks noChangeArrowheads="1"/>
          </p:cNvSpPr>
          <p:nvPr/>
        </p:nvSpPr>
        <p:spPr bwMode="auto">
          <a:xfrm flipH="1">
            <a:off x="7597499" y="2612439"/>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Rectangle 41"/>
          <p:cNvSpPr>
            <a:spLocks noChangeArrowheads="1"/>
          </p:cNvSpPr>
          <p:nvPr/>
        </p:nvSpPr>
        <p:spPr bwMode="auto">
          <a:xfrm flipH="1">
            <a:off x="7289623" y="2599220"/>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6" name="Line 42"/>
          <p:cNvSpPr>
            <a:spLocks noChangeShapeType="1"/>
          </p:cNvSpPr>
          <p:nvPr/>
        </p:nvSpPr>
        <p:spPr bwMode="auto">
          <a:xfrm flipV="1">
            <a:off x="8082326" y="26841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3"/>
          <p:cNvSpPr>
            <a:spLocks noChangeShapeType="1"/>
          </p:cNvSpPr>
          <p:nvPr/>
        </p:nvSpPr>
        <p:spPr bwMode="auto">
          <a:xfrm rot="10800000" flipH="1">
            <a:off x="7780588" y="2684195"/>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4"/>
          <p:cNvSpPr>
            <a:spLocks noChangeShapeType="1"/>
          </p:cNvSpPr>
          <p:nvPr/>
        </p:nvSpPr>
        <p:spPr bwMode="auto">
          <a:xfrm>
            <a:off x="7473736" y="2684195"/>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45"/>
          <p:cNvSpPr>
            <a:spLocks noChangeShapeType="1"/>
          </p:cNvSpPr>
          <p:nvPr/>
        </p:nvSpPr>
        <p:spPr bwMode="auto">
          <a:xfrm>
            <a:off x="7168929" y="2684195"/>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Text Box 46"/>
          <p:cNvSpPr txBox="1">
            <a:spLocks noChangeArrowheads="1"/>
          </p:cNvSpPr>
          <p:nvPr/>
        </p:nvSpPr>
        <p:spPr bwMode="auto">
          <a:xfrm>
            <a:off x="5547816" y="2015985"/>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1" name="Text Box 47"/>
          <p:cNvSpPr txBox="1">
            <a:spLocks noChangeArrowheads="1"/>
          </p:cNvSpPr>
          <p:nvPr/>
        </p:nvSpPr>
        <p:spPr bwMode="auto">
          <a:xfrm>
            <a:off x="5546792" y="270522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2" name="Text Box 48"/>
          <p:cNvSpPr txBox="1">
            <a:spLocks noChangeArrowheads="1"/>
          </p:cNvSpPr>
          <p:nvPr/>
        </p:nvSpPr>
        <p:spPr bwMode="auto">
          <a:xfrm>
            <a:off x="5546792" y="234644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3" name="Text Box 49"/>
          <p:cNvSpPr txBox="1">
            <a:spLocks noChangeArrowheads="1"/>
          </p:cNvSpPr>
          <p:nvPr/>
        </p:nvSpPr>
        <p:spPr bwMode="auto">
          <a:xfrm>
            <a:off x="8101358" y="207545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4" name="Text Box 50"/>
          <p:cNvSpPr txBox="1">
            <a:spLocks noChangeArrowheads="1"/>
          </p:cNvSpPr>
          <p:nvPr/>
        </p:nvSpPr>
        <p:spPr bwMode="auto">
          <a:xfrm>
            <a:off x="8101358" y="2435184"/>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5" name="Text Box 52"/>
          <p:cNvSpPr txBox="1">
            <a:spLocks noChangeArrowheads="1"/>
          </p:cNvSpPr>
          <p:nvPr/>
        </p:nvSpPr>
        <p:spPr bwMode="auto">
          <a:xfrm>
            <a:off x="6767755" y="2316238"/>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7" name="Text Box 176"/>
          <p:cNvSpPr txBox="1">
            <a:spLocks noChangeArrowheads="1"/>
          </p:cNvSpPr>
          <p:nvPr/>
        </p:nvSpPr>
        <p:spPr bwMode="auto">
          <a:xfrm>
            <a:off x="8117724" y="2793966"/>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8" name="Freeform 177"/>
          <p:cNvSpPr>
            <a:spLocks/>
          </p:cNvSpPr>
          <p:nvPr/>
        </p:nvSpPr>
        <p:spPr bwMode="auto">
          <a:xfrm>
            <a:off x="5590682" y="2283216"/>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BFEC340-BB85-E5A5-9B6E-CEBB3375455F}"/>
              </a:ext>
            </a:extLst>
          </p:cNvPr>
          <p:cNvSpPr>
            <a:spLocks noGrp="1"/>
          </p:cNvSpPr>
          <p:nvPr>
            <p:ph type="title"/>
          </p:nvPr>
        </p:nvSpPr>
        <p:spPr>
          <a:xfrm>
            <a:off x="486000" y="550723"/>
            <a:ext cx="8172000" cy="338554"/>
          </a:xfrm>
        </p:spPr>
        <p:txBody>
          <a:bodyPr/>
          <a:lstStyle/>
          <a:p>
            <a:r>
              <a:rPr lang="zh-CN" altLang="en-US" dirty="0"/>
              <a:t>通过存储器</a:t>
            </a:r>
          </a:p>
        </p:txBody>
      </p:sp>
      <p:sp>
        <p:nvSpPr>
          <p:cNvPr id="59" name="内容占位符 58">
            <a:extLst>
              <a:ext uri="{FF2B5EF4-FFF2-40B4-BE49-F238E27FC236}">
                <a16:creationId xmlns:a16="http://schemas.microsoft.com/office/drawing/2014/main" id="{EA2510F5-CC78-EBE7-DA69-09B538B8B93C}"/>
              </a:ext>
            </a:extLst>
          </p:cNvPr>
          <p:cNvSpPr>
            <a:spLocks noGrp="1"/>
          </p:cNvSpPr>
          <p:nvPr>
            <p:ph sz="quarter" idx="11"/>
          </p:nvPr>
        </p:nvSpPr>
        <p:spPr>
          <a:xfrm>
            <a:off x="485999" y="900000"/>
            <a:ext cx="4086001" cy="3703500"/>
          </a:xfrm>
        </p:spPr>
        <p:txBody>
          <a:bodyPr/>
          <a:lstStyle/>
          <a:p>
            <a:r>
              <a:rPr lang="zh-CN" altLang="en-US" dirty="0"/>
              <a:t>当路由器的某个输入端口收到一个分组时，就用中断方式通知路由选择处理机。然后分组就从输入端口复制到存储器中</a:t>
            </a:r>
            <a:endParaRPr lang="en-US" altLang="zh-CN" dirty="0"/>
          </a:p>
          <a:p>
            <a:r>
              <a:rPr lang="zh-CN" altLang="en-US" dirty="0"/>
              <a:t>路由器处理机从分组首部提取目的地址，查找路由表，再将分组复制到合适的输出端口的缓存中</a:t>
            </a:r>
            <a:endParaRPr lang="en-US" altLang="zh-CN" dirty="0"/>
          </a:p>
          <a:p>
            <a:r>
              <a:rPr lang="zh-CN" altLang="en-US" dirty="0"/>
              <a:t>若存储器的带宽（读或写）为每秒 </a:t>
            </a:r>
            <a:r>
              <a:rPr lang="en-US" altLang="zh-CN" dirty="0"/>
              <a:t>M </a:t>
            </a:r>
            <a:r>
              <a:rPr lang="zh-CN" altLang="en-US" dirty="0"/>
              <a:t>个分组，那么路由器的交换速率（即分组从输入端口传送到输出端口的速率）一定小于 </a:t>
            </a:r>
            <a:r>
              <a:rPr lang="en-US" altLang="zh-CN" dirty="0"/>
              <a:t>M/2</a:t>
            </a:r>
            <a:endParaRPr lang="zh-CN" altLang="en-US" dirty="0"/>
          </a:p>
          <a:p>
            <a:endParaRPr lang="zh-CN" altLang="en-US" dirty="0"/>
          </a:p>
        </p:txBody>
      </p:sp>
    </p:spTree>
    <p:extLst>
      <p:ext uri="{BB962C8B-B14F-4D97-AF65-F5344CB8AC3E}">
        <p14:creationId xmlns:p14="http://schemas.microsoft.com/office/powerpoint/2010/main" val="15795574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5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Lst>
  </p:timing>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3"/>
          <p:cNvSpPr>
            <a:spLocks noChangeArrowheads="1"/>
          </p:cNvSpPr>
          <p:nvPr/>
        </p:nvSpPr>
        <p:spPr bwMode="auto">
          <a:xfrm>
            <a:off x="6120295" y="2277843"/>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4"/>
          <p:cNvSpPr>
            <a:spLocks noChangeArrowheads="1"/>
          </p:cNvSpPr>
          <p:nvPr/>
        </p:nvSpPr>
        <p:spPr bwMode="auto">
          <a:xfrm>
            <a:off x="6425102" y="2249518"/>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5"/>
          <p:cNvSpPr>
            <a:spLocks noChangeArrowheads="1"/>
          </p:cNvSpPr>
          <p:nvPr/>
        </p:nvSpPr>
        <p:spPr bwMode="auto">
          <a:xfrm>
            <a:off x="6731955" y="2236299"/>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56"/>
          <p:cNvSpPr>
            <a:spLocks noChangeShapeType="1"/>
          </p:cNvSpPr>
          <p:nvPr/>
        </p:nvSpPr>
        <p:spPr bwMode="auto">
          <a:xfrm flipV="1">
            <a:off x="5996531" y="232127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57"/>
          <p:cNvSpPr>
            <a:spLocks noChangeShapeType="1"/>
          </p:cNvSpPr>
          <p:nvPr/>
        </p:nvSpPr>
        <p:spPr bwMode="auto">
          <a:xfrm>
            <a:off x="6303384"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58"/>
          <p:cNvSpPr>
            <a:spLocks noChangeShapeType="1"/>
          </p:cNvSpPr>
          <p:nvPr/>
        </p:nvSpPr>
        <p:spPr bwMode="auto">
          <a:xfrm>
            <a:off x="6609213" y="232127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59"/>
          <p:cNvSpPr>
            <a:spLocks noChangeShapeType="1"/>
          </p:cNvSpPr>
          <p:nvPr/>
        </p:nvSpPr>
        <p:spPr bwMode="auto">
          <a:xfrm>
            <a:off x="6915043"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60"/>
          <p:cNvSpPr>
            <a:spLocks noChangeArrowheads="1"/>
          </p:cNvSpPr>
          <p:nvPr/>
        </p:nvSpPr>
        <p:spPr bwMode="auto">
          <a:xfrm>
            <a:off x="6120295" y="2972746"/>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61"/>
          <p:cNvSpPr>
            <a:spLocks noChangeArrowheads="1"/>
          </p:cNvSpPr>
          <p:nvPr/>
        </p:nvSpPr>
        <p:spPr bwMode="auto">
          <a:xfrm>
            <a:off x="6425102" y="294442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62"/>
          <p:cNvSpPr>
            <a:spLocks noChangeArrowheads="1"/>
          </p:cNvSpPr>
          <p:nvPr/>
        </p:nvSpPr>
        <p:spPr bwMode="auto">
          <a:xfrm>
            <a:off x="6731955" y="2929314"/>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63"/>
          <p:cNvSpPr>
            <a:spLocks noChangeShapeType="1"/>
          </p:cNvSpPr>
          <p:nvPr/>
        </p:nvSpPr>
        <p:spPr bwMode="auto">
          <a:xfrm flipV="1">
            <a:off x="5996531" y="30152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64"/>
          <p:cNvSpPr>
            <a:spLocks noChangeShapeType="1"/>
          </p:cNvSpPr>
          <p:nvPr/>
        </p:nvSpPr>
        <p:spPr bwMode="auto">
          <a:xfrm>
            <a:off x="6303384"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65"/>
          <p:cNvSpPr>
            <a:spLocks noChangeShapeType="1"/>
          </p:cNvSpPr>
          <p:nvPr/>
        </p:nvSpPr>
        <p:spPr bwMode="auto">
          <a:xfrm>
            <a:off x="6609213" y="30152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66"/>
          <p:cNvSpPr>
            <a:spLocks noChangeShapeType="1"/>
          </p:cNvSpPr>
          <p:nvPr/>
        </p:nvSpPr>
        <p:spPr bwMode="auto">
          <a:xfrm>
            <a:off x="6915043"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67"/>
          <p:cNvSpPr>
            <a:spLocks noChangeArrowheads="1"/>
          </p:cNvSpPr>
          <p:nvPr/>
        </p:nvSpPr>
        <p:spPr bwMode="auto">
          <a:xfrm flipH="1">
            <a:off x="7848899" y="2277843"/>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68"/>
          <p:cNvSpPr>
            <a:spLocks noChangeArrowheads="1"/>
          </p:cNvSpPr>
          <p:nvPr/>
        </p:nvSpPr>
        <p:spPr bwMode="auto">
          <a:xfrm flipH="1">
            <a:off x="7544092" y="2249518"/>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69"/>
          <p:cNvSpPr>
            <a:spLocks noChangeArrowheads="1"/>
          </p:cNvSpPr>
          <p:nvPr/>
        </p:nvSpPr>
        <p:spPr bwMode="auto">
          <a:xfrm flipH="1">
            <a:off x="7236217" y="2236299"/>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70"/>
          <p:cNvSpPr>
            <a:spLocks noChangeShapeType="1"/>
          </p:cNvSpPr>
          <p:nvPr/>
        </p:nvSpPr>
        <p:spPr bwMode="auto">
          <a:xfrm flipV="1">
            <a:off x="8028919" y="232127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71"/>
          <p:cNvSpPr>
            <a:spLocks noChangeShapeType="1"/>
          </p:cNvSpPr>
          <p:nvPr/>
        </p:nvSpPr>
        <p:spPr bwMode="auto">
          <a:xfrm rot="10800000" flipH="1">
            <a:off x="7727180"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72"/>
          <p:cNvSpPr>
            <a:spLocks noChangeShapeType="1"/>
          </p:cNvSpPr>
          <p:nvPr/>
        </p:nvSpPr>
        <p:spPr bwMode="auto">
          <a:xfrm>
            <a:off x="7421350" y="232127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73"/>
          <p:cNvSpPr>
            <a:spLocks noChangeShapeType="1"/>
          </p:cNvSpPr>
          <p:nvPr/>
        </p:nvSpPr>
        <p:spPr bwMode="auto">
          <a:xfrm>
            <a:off x="7115521" y="2321274"/>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74"/>
          <p:cNvSpPr>
            <a:spLocks noChangeArrowheads="1"/>
          </p:cNvSpPr>
          <p:nvPr/>
        </p:nvSpPr>
        <p:spPr bwMode="auto">
          <a:xfrm flipH="1">
            <a:off x="7848899" y="2972746"/>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75"/>
          <p:cNvSpPr>
            <a:spLocks noChangeArrowheads="1"/>
          </p:cNvSpPr>
          <p:nvPr/>
        </p:nvSpPr>
        <p:spPr bwMode="auto">
          <a:xfrm flipH="1">
            <a:off x="7544092" y="294442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76"/>
          <p:cNvSpPr>
            <a:spLocks noChangeArrowheads="1"/>
          </p:cNvSpPr>
          <p:nvPr/>
        </p:nvSpPr>
        <p:spPr bwMode="auto">
          <a:xfrm flipH="1">
            <a:off x="7236217" y="2929314"/>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77"/>
          <p:cNvSpPr>
            <a:spLocks noChangeShapeType="1"/>
          </p:cNvSpPr>
          <p:nvPr/>
        </p:nvSpPr>
        <p:spPr bwMode="auto">
          <a:xfrm flipV="1">
            <a:off x="8028919" y="30152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78"/>
          <p:cNvSpPr>
            <a:spLocks noChangeShapeType="1"/>
          </p:cNvSpPr>
          <p:nvPr/>
        </p:nvSpPr>
        <p:spPr bwMode="auto">
          <a:xfrm>
            <a:off x="7727180"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79"/>
          <p:cNvSpPr>
            <a:spLocks noChangeShapeType="1"/>
          </p:cNvSpPr>
          <p:nvPr/>
        </p:nvSpPr>
        <p:spPr bwMode="auto">
          <a:xfrm>
            <a:off x="7421350" y="30152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80"/>
          <p:cNvSpPr>
            <a:spLocks noChangeShapeType="1"/>
          </p:cNvSpPr>
          <p:nvPr/>
        </p:nvSpPr>
        <p:spPr bwMode="auto">
          <a:xfrm>
            <a:off x="7115521" y="3015233"/>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81"/>
          <p:cNvSpPr>
            <a:spLocks noChangeArrowheads="1"/>
          </p:cNvSpPr>
          <p:nvPr/>
        </p:nvSpPr>
        <p:spPr bwMode="auto">
          <a:xfrm>
            <a:off x="6120295" y="2617741"/>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82"/>
          <p:cNvSpPr>
            <a:spLocks noChangeArrowheads="1"/>
          </p:cNvSpPr>
          <p:nvPr/>
        </p:nvSpPr>
        <p:spPr bwMode="auto">
          <a:xfrm>
            <a:off x="6425102" y="2589416"/>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83"/>
          <p:cNvSpPr>
            <a:spLocks noChangeArrowheads="1"/>
          </p:cNvSpPr>
          <p:nvPr/>
        </p:nvSpPr>
        <p:spPr bwMode="auto">
          <a:xfrm>
            <a:off x="6731955" y="2576197"/>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84"/>
          <p:cNvSpPr>
            <a:spLocks noChangeShapeType="1"/>
          </p:cNvSpPr>
          <p:nvPr/>
        </p:nvSpPr>
        <p:spPr bwMode="auto">
          <a:xfrm flipV="1">
            <a:off x="5996531" y="266117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85"/>
          <p:cNvSpPr>
            <a:spLocks noChangeShapeType="1"/>
          </p:cNvSpPr>
          <p:nvPr/>
        </p:nvSpPr>
        <p:spPr bwMode="auto">
          <a:xfrm>
            <a:off x="6303384"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86"/>
          <p:cNvSpPr>
            <a:spLocks noChangeShapeType="1"/>
          </p:cNvSpPr>
          <p:nvPr/>
        </p:nvSpPr>
        <p:spPr bwMode="auto">
          <a:xfrm>
            <a:off x="6609213" y="266117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87"/>
          <p:cNvSpPr>
            <a:spLocks noChangeShapeType="1"/>
          </p:cNvSpPr>
          <p:nvPr/>
        </p:nvSpPr>
        <p:spPr bwMode="auto">
          <a:xfrm>
            <a:off x="6915043"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88"/>
          <p:cNvSpPr>
            <a:spLocks noChangeArrowheads="1"/>
          </p:cNvSpPr>
          <p:nvPr/>
        </p:nvSpPr>
        <p:spPr bwMode="auto">
          <a:xfrm flipH="1">
            <a:off x="7848899" y="2617741"/>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89"/>
          <p:cNvSpPr>
            <a:spLocks noChangeArrowheads="1"/>
          </p:cNvSpPr>
          <p:nvPr/>
        </p:nvSpPr>
        <p:spPr bwMode="auto">
          <a:xfrm flipH="1">
            <a:off x="7544092" y="2589416"/>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90"/>
          <p:cNvSpPr>
            <a:spLocks noChangeArrowheads="1"/>
          </p:cNvSpPr>
          <p:nvPr/>
        </p:nvSpPr>
        <p:spPr bwMode="auto">
          <a:xfrm flipH="1">
            <a:off x="7236217" y="2576197"/>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91"/>
          <p:cNvSpPr>
            <a:spLocks noChangeShapeType="1"/>
          </p:cNvSpPr>
          <p:nvPr/>
        </p:nvSpPr>
        <p:spPr bwMode="auto">
          <a:xfrm flipV="1">
            <a:off x="8028919" y="266117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92"/>
          <p:cNvSpPr>
            <a:spLocks noChangeShapeType="1"/>
          </p:cNvSpPr>
          <p:nvPr/>
        </p:nvSpPr>
        <p:spPr bwMode="auto">
          <a:xfrm rot="10800000" flipH="1">
            <a:off x="7727180"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93"/>
          <p:cNvSpPr>
            <a:spLocks noChangeShapeType="1"/>
          </p:cNvSpPr>
          <p:nvPr/>
        </p:nvSpPr>
        <p:spPr bwMode="auto">
          <a:xfrm>
            <a:off x="7421350" y="266117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94"/>
          <p:cNvSpPr>
            <a:spLocks noChangeShapeType="1"/>
          </p:cNvSpPr>
          <p:nvPr/>
        </p:nvSpPr>
        <p:spPr bwMode="auto">
          <a:xfrm>
            <a:off x="7115521" y="2661172"/>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95"/>
          <p:cNvSpPr txBox="1">
            <a:spLocks noChangeArrowheads="1"/>
          </p:cNvSpPr>
          <p:nvPr/>
        </p:nvSpPr>
        <p:spPr bwMode="auto">
          <a:xfrm>
            <a:off x="5852402" y="201090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50" name="Text Box 96"/>
          <p:cNvSpPr txBox="1">
            <a:spLocks noChangeArrowheads="1"/>
          </p:cNvSpPr>
          <p:nvPr/>
        </p:nvSpPr>
        <p:spPr bwMode="auto">
          <a:xfrm>
            <a:off x="5851379" y="2699195"/>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97"/>
          <p:cNvSpPr txBox="1">
            <a:spLocks noChangeArrowheads="1"/>
          </p:cNvSpPr>
          <p:nvPr/>
        </p:nvSpPr>
        <p:spPr bwMode="auto">
          <a:xfrm>
            <a:off x="5851379" y="234041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98"/>
          <p:cNvSpPr txBox="1">
            <a:spLocks noChangeArrowheads="1"/>
          </p:cNvSpPr>
          <p:nvPr/>
        </p:nvSpPr>
        <p:spPr bwMode="auto">
          <a:xfrm>
            <a:off x="8030562" y="205243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53" name="Text Box 99"/>
          <p:cNvSpPr txBox="1">
            <a:spLocks noChangeArrowheads="1"/>
          </p:cNvSpPr>
          <p:nvPr/>
        </p:nvSpPr>
        <p:spPr bwMode="auto">
          <a:xfrm>
            <a:off x="8031585" y="2412161"/>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AutoShape 100"/>
          <p:cNvSpPr>
            <a:spLocks noChangeArrowheads="1"/>
          </p:cNvSpPr>
          <p:nvPr/>
        </p:nvSpPr>
        <p:spPr bwMode="auto">
          <a:xfrm>
            <a:off x="6954935" y="2022918"/>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56" name="Text Box 171"/>
          <p:cNvSpPr txBox="1">
            <a:spLocks noChangeArrowheads="1"/>
          </p:cNvSpPr>
          <p:nvPr/>
        </p:nvSpPr>
        <p:spPr bwMode="auto">
          <a:xfrm>
            <a:off x="7302702" y="170287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57" name="Line 172"/>
          <p:cNvSpPr>
            <a:spLocks noChangeShapeType="1"/>
          </p:cNvSpPr>
          <p:nvPr/>
        </p:nvSpPr>
        <p:spPr bwMode="auto">
          <a:xfrm flipV="1">
            <a:off x="7067448" y="1942159"/>
            <a:ext cx="304404" cy="16573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Text Box 175"/>
          <p:cNvSpPr txBox="1">
            <a:spLocks noChangeArrowheads="1"/>
          </p:cNvSpPr>
          <p:nvPr/>
        </p:nvSpPr>
        <p:spPr bwMode="auto">
          <a:xfrm>
            <a:off x="8045904" y="2770943"/>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9" name="Freeform 178"/>
          <p:cNvSpPr>
            <a:spLocks/>
          </p:cNvSpPr>
          <p:nvPr/>
        </p:nvSpPr>
        <p:spPr bwMode="auto">
          <a:xfrm>
            <a:off x="6052787" y="2260193"/>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2CECBF1-33B3-F456-33A0-04D83F87E6A3}"/>
              </a:ext>
            </a:extLst>
          </p:cNvPr>
          <p:cNvSpPr>
            <a:spLocks noGrp="1"/>
          </p:cNvSpPr>
          <p:nvPr>
            <p:ph type="title"/>
          </p:nvPr>
        </p:nvSpPr>
        <p:spPr>
          <a:xfrm>
            <a:off x="486000" y="550723"/>
            <a:ext cx="8172000" cy="338554"/>
          </a:xfrm>
        </p:spPr>
        <p:txBody>
          <a:bodyPr/>
          <a:lstStyle/>
          <a:p>
            <a:r>
              <a:rPr lang="zh-CN" altLang="en-US" dirty="0"/>
              <a:t>通过总线 </a:t>
            </a:r>
            <a:r>
              <a:rPr lang="en-US" altLang="zh-CN" dirty="0"/>
              <a:t>BUS</a:t>
            </a:r>
            <a:endParaRPr lang="zh-CN" altLang="en-US" dirty="0"/>
          </a:p>
        </p:txBody>
      </p:sp>
      <p:sp>
        <p:nvSpPr>
          <p:cNvPr id="61" name="内容占位符 60">
            <a:extLst>
              <a:ext uri="{FF2B5EF4-FFF2-40B4-BE49-F238E27FC236}">
                <a16:creationId xmlns:a16="http://schemas.microsoft.com/office/drawing/2014/main" id="{71A6B7B1-C390-ABF4-EC46-CD637C6BDA1D}"/>
              </a:ext>
            </a:extLst>
          </p:cNvPr>
          <p:cNvSpPr>
            <a:spLocks noGrp="1"/>
          </p:cNvSpPr>
          <p:nvPr>
            <p:ph sz="quarter" idx="11"/>
          </p:nvPr>
        </p:nvSpPr>
        <p:spPr>
          <a:xfrm>
            <a:off x="485999" y="900000"/>
            <a:ext cx="4086001" cy="3703500"/>
          </a:xfrm>
        </p:spPr>
        <p:txBody>
          <a:bodyPr lIns="0" rIns="0"/>
          <a:lstStyle/>
          <a:p>
            <a:r>
              <a:rPr lang="zh-CN" altLang="en-US" dirty="0"/>
              <a:t>数据报从输入端口通过共享的总线直接传送到合适的输出端口，而不需要路由选择处理机的干预</a:t>
            </a:r>
          </a:p>
          <a:p>
            <a:r>
              <a:rPr lang="zh-CN" altLang="en-US" dirty="0"/>
              <a:t>当分组到达输入端口时若发现总线忙，则被阻塞而不能通过交换结构，并在输入端口排队等待</a:t>
            </a:r>
            <a:endParaRPr lang="en-US" altLang="zh-CN" dirty="0"/>
          </a:p>
          <a:p>
            <a:r>
              <a:rPr lang="zh-CN" altLang="en-US" dirty="0"/>
              <a:t>因为每一个要转发的分组都要通过这一条总线，因此路由器的转发带宽就受总线速率的限制</a:t>
            </a:r>
          </a:p>
          <a:p>
            <a:endParaRPr lang="zh-CN" altLang="en-US" dirty="0"/>
          </a:p>
        </p:txBody>
      </p:sp>
    </p:spTree>
    <p:extLst>
      <p:ext uri="{BB962C8B-B14F-4D97-AF65-F5344CB8AC3E}">
        <p14:creationId xmlns:p14="http://schemas.microsoft.com/office/powerpoint/2010/main" val="1724586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wipe(left)">
                                      <p:cBhvr>
                                        <p:cTn id="7" dur="25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Lst>
  </p:timing>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2"/>
          <p:cNvSpPr>
            <a:spLocks noChangeArrowheads="1"/>
          </p:cNvSpPr>
          <p:nvPr/>
        </p:nvSpPr>
        <p:spPr bwMode="auto">
          <a:xfrm>
            <a:off x="5973144" y="202540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103"/>
          <p:cNvSpPr>
            <a:spLocks noChangeArrowheads="1"/>
          </p:cNvSpPr>
          <p:nvPr/>
        </p:nvSpPr>
        <p:spPr bwMode="auto">
          <a:xfrm>
            <a:off x="6278974" y="1998022"/>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104"/>
          <p:cNvSpPr>
            <a:spLocks noChangeArrowheads="1"/>
          </p:cNvSpPr>
          <p:nvPr/>
        </p:nvSpPr>
        <p:spPr bwMode="auto">
          <a:xfrm>
            <a:off x="6584803" y="1983859"/>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105"/>
          <p:cNvSpPr>
            <a:spLocks noChangeShapeType="1"/>
          </p:cNvSpPr>
          <p:nvPr/>
        </p:nvSpPr>
        <p:spPr bwMode="auto">
          <a:xfrm flipV="1">
            <a:off x="5850403" y="2068834"/>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106"/>
          <p:cNvSpPr>
            <a:spLocks noChangeShapeType="1"/>
          </p:cNvSpPr>
          <p:nvPr/>
        </p:nvSpPr>
        <p:spPr bwMode="auto">
          <a:xfrm>
            <a:off x="6156233" y="206883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107"/>
          <p:cNvSpPr>
            <a:spLocks noChangeShapeType="1"/>
          </p:cNvSpPr>
          <p:nvPr/>
        </p:nvSpPr>
        <p:spPr bwMode="auto">
          <a:xfrm>
            <a:off x="6462062" y="206883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08"/>
          <p:cNvSpPr>
            <a:spLocks noChangeShapeType="1"/>
          </p:cNvSpPr>
          <p:nvPr/>
        </p:nvSpPr>
        <p:spPr bwMode="auto">
          <a:xfrm>
            <a:off x="6768915" y="2068834"/>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10"/>
          <p:cNvSpPr>
            <a:spLocks noChangeArrowheads="1"/>
          </p:cNvSpPr>
          <p:nvPr/>
        </p:nvSpPr>
        <p:spPr bwMode="auto">
          <a:xfrm>
            <a:off x="5976213" y="2698590"/>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1"/>
          <p:cNvSpPr>
            <a:spLocks noChangeArrowheads="1"/>
          </p:cNvSpPr>
          <p:nvPr/>
        </p:nvSpPr>
        <p:spPr bwMode="auto">
          <a:xfrm>
            <a:off x="6283066" y="2671210"/>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12"/>
          <p:cNvSpPr>
            <a:spLocks noChangeArrowheads="1"/>
          </p:cNvSpPr>
          <p:nvPr/>
        </p:nvSpPr>
        <p:spPr bwMode="auto">
          <a:xfrm>
            <a:off x="6587872" y="265704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13"/>
          <p:cNvSpPr>
            <a:spLocks noChangeShapeType="1"/>
          </p:cNvSpPr>
          <p:nvPr/>
        </p:nvSpPr>
        <p:spPr bwMode="auto">
          <a:xfrm flipV="1">
            <a:off x="5854494" y="2742021"/>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14"/>
          <p:cNvSpPr>
            <a:spLocks noChangeShapeType="1"/>
          </p:cNvSpPr>
          <p:nvPr/>
        </p:nvSpPr>
        <p:spPr bwMode="auto">
          <a:xfrm>
            <a:off x="6160324" y="274202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15"/>
          <p:cNvSpPr>
            <a:spLocks noChangeShapeType="1"/>
          </p:cNvSpPr>
          <p:nvPr/>
        </p:nvSpPr>
        <p:spPr bwMode="auto">
          <a:xfrm>
            <a:off x="6466154" y="274202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16"/>
          <p:cNvSpPr>
            <a:spLocks noChangeShapeType="1"/>
          </p:cNvSpPr>
          <p:nvPr/>
        </p:nvSpPr>
        <p:spPr bwMode="auto">
          <a:xfrm>
            <a:off x="6771984" y="274202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Text Box 117"/>
          <p:cNvSpPr txBox="1">
            <a:spLocks noChangeArrowheads="1"/>
          </p:cNvSpPr>
          <p:nvPr/>
        </p:nvSpPr>
        <p:spPr bwMode="auto">
          <a:xfrm>
            <a:off x="5689909" y="2447700"/>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22" name="Rectangle 118"/>
          <p:cNvSpPr>
            <a:spLocks noChangeArrowheads="1"/>
          </p:cNvSpPr>
          <p:nvPr/>
        </p:nvSpPr>
        <p:spPr bwMode="auto">
          <a:xfrm>
            <a:off x="5973144" y="2366245"/>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19"/>
          <p:cNvSpPr>
            <a:spLocks noChangeArrowheads="1"/>
          </p:cNvSpPr>
          <p:nvPr/>
        </p:nvSpPr>
        <p:spPr bwMode="auto">
          <a:xfrm>
            <a:off x="6278974" y="2337920"/>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120"/>
          <p:cNvSpPr>
            <a:spLocks noChangeArrowheads="1"/>
          </p:cNvSpPr>
          <p:nvPr/>
        </p:nvSpPr>
        <p:spPr bwMode="auto">
          <a:xfrm>
            <a:off x="6584803" y="2323758"/>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121"/>
          <p:cNvSpPr>
            <a:spLocks noChangeShapeType="1"/>
          </p:cNvSpPr>
          <p:nvPr/>
        </p:nvSpPr>
        <p:spPr bwMode="auto">
          <a:xfrm flipV="1">
            <a:off x="5850403" y="2408732"/>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122"/>
          <p:cNvSpPr>
            <a:spLocks noChangeShapeType="1"/>
          </p:cNvSpPr>
          <p:nvPr/>
        </p:nvSpPr>
        <p:spPr bwMode="auto">
          <a:xfrm>
            <a:off x="6156233" y="240873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123"/>
          <p:cNvSpPr>
            <a:spLocks noChangeShapeType="1"/>
          </p:cNvSpPr>
          <p:nvPr/>
        </p:nvSpPr>
        <p:spPr bwMode="auto">
          <a:xfrm>
            <a:off x="6462062" y="240873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124"/>
          <p:cNvSpPr>
            <a:spLocks noChangeShapeType="1"/>
          </p:cNvSpPr>
          <p:nvPr/>
        </p:nvSpPr>
        <p:spPr bwMode="auto">
          <a:xfrm>
            <a:off x="6768915" y="2408732"/>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125"/>
          <p:cNvSpPr txBox="1">
            <a:spLocks noChangeArrowheads="1"/>
          </p:cNvSpPr>
          <p:nvPr/>
        </p:nvSpPr>
        <p:spPr bwMode="auto">
          <a:xfrm>
            <a:off x="5695023" y="208986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30" name="Group 126"/>
          <p:cNvGrpSpPr>
            <a:grpSpLocks/>
          </p:cNvGrpSpPr>
          <p:nvPr/>
        </p:nvGrpSpPr>
        <p:grpSpPr bwMode="auto">
          <a:xfrm>
            <a:off x="7084974" y="2869483"/>
            <a:ext cx="191272" cy="924334"/>
            <a:chOff x="2919" y="2867"/>
            <a:chExt cx="192" cy="1044"/>
          </a:xfrm>
        </p:grpSpPr>
        <p:sp>
          <p:nvSpPr>
            <p:cNvPr id="31"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3"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4"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7"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38" name="Text Box 134"/>
          <p:cNvSpPr txBox="1">
            <a:spLocks noChangeArrowheads="1"/>
          </p:cNvSpPr>
          <p:nvPr/>
        </p:nvSpPr>
        <p:spPr bwMode="auto">
          <a:xfrm>
            <a:off x="7219989" y="359460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39" name="Group 135"/>
          <p:cNvGrpSpPr>
            <a:grpSpLocks/>
          </p:cNvGrpSpPr>
          <p:nvPr/>
        </p:nvGrpSpPr>
        <p:grpSpPr bwMode="auto">
          <a:xfrm>
            <a:off x="7521724" y="2869484"/>
            <a:ext cx="548490" cy="1027287"/>
            <a:chOff x="3357" y="2859"/>
            <a:chExt cx="551" cy="1159"/>
          </a:xfrm>
        </p:grpSpPr>
        <p:sp>
          <p:nvSpPr>
            <p:cNvPr id="40"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48" name="Rectangle 144"/>
          <p:cNvSpPr>
            <a:spLocks noChangeArrowheads="1"/>
          </p:cNvSpPr>
          <p:nvPr/>
        </p:nvSpPr>
        <p:spPr bwMode="auto">
          <a:xfrm rot="5400000" flipH="1">
            <a:off x="7968355" y="3556007"/>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145"/>
          <p:cNvSpPr>
            <a:spLocks noChangeArrowheads="1"/>
          </p:cNvSpPr>
          <p:nvPr/>
        </p:nvSpPr>
        <p:spPr bwMode="auto">
          <a:xfrm rot="5400000" flipH="1">
            <a:off x="7968356" y="3250413"/>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0" name="Rectangle 146"/>
          <p:cNvSpPr>
            <a:spLocks noChangeArrowheads="1"/>
          </p:cNvSpPr>
          <p:nvPr/>
        </p:nvSpPr>
        <p:spPr bwMode="auto">
          <a:xfrm rot="5400000" flipH="1">
            <a:off x="7968356" y="2963152"/>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Line 147"/>
          <p:cNvSpPr>
            <a:spLocks noChangeShapeType="1"/>
          </p:cNvSpPr>
          <p:nvPr/>
        </p:nvSpPr>
        <p:spPr bwMode="auto">
          <a:xfrm rot="5400000" flipV="1">
            <a:off x="7993887" y="3737168"/>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Line 148"/>
          <p:cNvSpPr>
            <a:spLocks noChangeShapeType="1"/>
          </p:cNvSpPr>
          <p:nvPr/>
        </p:nvSpPr>
        <p:spPr bwMode="auto">
          <a:xfrm rot="16200000" flipH="1">
            <a:off x="7995775" y="3467137"/>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3" name="Line 149"/>
          <p:cNvSpPr>
            <a:spLocks noChangeShapeType="1"/>
          </p:cNvSpPr>
          <p:nvPr/>
        </p:nvSpPr>
        <p:spPr bwMode="auto">
          <a:xfrm rot="5400000">
            <a:off x="7996248" y="3194747"/>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150"/>
          <p:cNvSpPr>
            <a:spLocks noChangeShapeType="1"/>
          </p:cNvSpPr>
          <p:nvPr/>
        </p:nvSpPr>
        <p:spPr bwMode="auto">
          <a:xfrm rot="5400000">
            <a:off x="7996720" y="2923301"/>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151"/>
          <p:cNvSpPr txBox="1">
            <a:spLocks noChangeArrowheads="1"/>
          </p:cNvSpPr>
          <p:nvPr/>
        </p:nvSpPr>
        <p:spPr bwMode="auto">
          <a:xfrm>
            <a:off x="8119067" y="3594601"/>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7" name="Line 156"/>
          <p:cNvSpPr>
            <a:spLocks noChangeShapeType="1"/>
          </p:cNvSpPr>
          <p:nvPr/>
        </p:nvSpPr>
        <p:spPr bwMode="auto">
          <a:xfrm>
            <a:off x="6950981" y="2068834"/>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Line 157"/>
          <p:cNvSpPr>
            <a:spLocks noChangeShapeType="1"/>
          </p:cNvSpPr>
          <p:nvPr/>
        </p:nvSpPr>
        <p:spPr bwMode="auto">
          <a:xfrm>
            <a:off x="6950981" y="2408732"/>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158"/>
          <p:cNvSpPr>
            <a:spLocks noChangeShapeType="1"/>
          </p:cNvSpPr>
          <p:nvPr/>
        </p:nvSpPr>
        <p:spPr bwMode="auto">
          <a:xfrm>
            <a:off x="6950981" y="2749574"/>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159"/>
          <p:cNvSpPr>
            <a:spLocks noChangeShapeType="1"/>
          </p:cNvSpPr>
          <p:nvPr/>
        </p:nvSpPr>
        <p:spPr bwMode="auto">
          <a:xfrm rot="16200000">
            <a:off x="6807469"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160"/>
          <p:cNvSpPr>
            <a:spLocks noChangeShapeType="1"/>
          </p:cNvSpPr>
          <p:nvPr/>
        </p:nvSpPr>
        <p:spPr bwMode="auto">
          <a:xfrm rot="16200000">
            <a:off x="7238086"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161"/>
          <p:cNvSpPr>
            <a:spLocks noChangeShapeType="1"/>
          </p:cNvSpPr>
          <p:nvPr/>
        </p:nvSpPr>
        <p:spPr bwMode="auto">
          <a:xfrm rot="16200000">
            <a:off x="7668702"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Oval 162"/>
          <p:cNvSpPr>
            <a:spLocks noChangeArrowheads="1"/>
          </p:cNvSpPr>
          <p:nvPr/>
        </p:nvSpPr>
        <p:spPr bwMode="auto">
          <a:xfrm>
            <a:off x="8008600" y="237379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Oval 163"/>
          <p:cNvSpPr>
            <a:spLocks noChangeArrowheads="1"/>
          </p:cNvSpPr>
          <p:nvPr/>
        </p:nvSpPr>
        <p:spPr bwMode="auto">
          <a:xfrm>
            <a:off x="8008600" y="2714641"/>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Oval 164"/>
          <p:cNvSpPr>
            <a:spLocks noChangeArrowheads="1"/>
          </p:cNvSpPr>
          <p:nvPr/>
        </p:nvSpPr>
        <p:spPr bwMode="auto">
          <a:xfrm>
            <a:off x="8008600" y="2036733"/>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Oval 165"/>
          <p:cNvSpPr>
            <a:spLocks noChangeArrowheads="1"/>
          </p:cNvSpPr>
          <p:nvPr/>
        </p:nvSpPr>
        <p:spPr bwMode="auto">
          <a:xfrm>
            <a:off x="7577984" y="2714641"/>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Oval 166"/>
          <p:cNvSpPr>
            <a:spLocks noChangeArrowheads="1"/>
          </p:cNvSpPr>
          <p:nvPr/>
        </p:nvSpPr>
        <p:spPr bwMode="auto">
          <a:xfrm>
            <a:off x="7577984" y="237379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8" name="Oval 167"/>
          <p:cNvSpPr>
            <a:spLocks noChangeArrowheads="1"/>
          </p:cNvSpPr>
          <p:nvPr/>
        </p:nvSpPr>
        <p:spPr bwMode="auto">
          <a:xfrm>
            <a:off x="7577984" y="2036733"/>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Oval 168"/>
          <p:cNvSpPr>
            <a:spLocks noChangeArrowheads="1"/>
          </p:cNvSpPr>
          <p:nvPr/>
        </p:nvSpPr>
        <p:spPr bwMode="auto">
          <a:xfrm>
            <a:off x="7147367" y="2714641"/>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Oval 169"/>
          <p:cNvSpPr>
            <a:spLocks noChangeArrowheads="1"/>
          </p:cNvSpPr>
          <p:nvPr/>
        </p:nvSpPr>
        <p:spPr bwMode="auto">
          <a:xfrm>
            <a:off x="7147367" y="237379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Oval 170"/>
          <p:cNvSpPr>
            <a:spLocks noChangeArrowheads="1"/>
          </p:cNvSpPr>
          <p:nvPr/>
        </p:nvSpPr>
        <p:spPr bwMode="auto">
          <a:xfrm>
            <a:off x="7147367" y="2036733"/>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Text Box 173"/>
          <p:cNvSpPr txBox="1">
            <a:spLocks noChangeArrowheads="1"/>
          </p:cNvSpPr>
          <p:nvPr/>
        </p:nvSpPr>
        <p:spPr bwMode="auto">
          <a:xfrm>
            <a:off x="7542940" y="154343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73" name="Line 174"/>
          <p:cNvSpPr>
            <a:spLocks noChangeShapeType="1"/>
          </p:cNvSpPr>
          <p:nvPr/>
        </p:nvSpPr>
        <p:spPr bwMode="auto">
          <a:xfrm flipV="1">
            <a:off x="7833343" y="1821958"/>
            <a:ext cx="161003" cy="4324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179"/>
          <p:cNvSpPr>
            <a:spLocks noChangeShapeType="1"/>
          </p:cNvSpPr>
          <p:nvPr/>
        </p:nvSpPr>
        <p:spPr bwMode="auto">
          <a:xfrm>
            <a:off x="5847334" y="1997573"/>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75" name="Line 180"/>
          <p:cNvSpPr>
            <a:spLocks noChangeShapeType="1"/>
          </p:cNvSpPr>
          <p:nvPr/>
        </p:nvSpPr>
        <p:spPr bwMode="auto">
          <a:xfrm rot="16200000" flipH="1">
            <a:off x="6903925" y="2909016"/>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75BB4B5C-C22B-FBC0-D1FE-3EEA6468A269}"/>
              </a:ext>
            </a:extLst>
          </p:cNvPr>
          <p:cNvSpPr>
            <a:spLocks noGrp="1"/>
          </p:cNvSpPr>
          <p:nvPr>
            <p:ph type="title"/>
          </p:nvPr>
        </p:nvSpPr>
        <p:spPr>
          <a:xfrm>
            <a:off x="486000" y="550723"/>
            <a:ext cx="8172000" cy="338554"/>
          </a:xfrm>
        </p:spPr>
        <p:txBody>
          <a:bodyPr/>
          <a:lstStyle/>
          <a:p>
            <a:r>
              <a:rPr lang="zh-CN" altLang="en-US" dirty="0"/>
              <a:t>通过纵横交换结构 </a:t>
            </a:r>
            <a:r>
              <a:rPr lang="en-US" altLang="zh-CN" dirty="0"/>
              <a:t>(crossbar switch fabric)</a:t>
            </a:r>
            <a:endParaRPr lang="zh-CN" altLang="en-US" dirty="0"/>
          </a:p>
        </p:txBody>
      </p:sp>
      <p:sp>
        <p:nvSpPr>
          <p:cNvPr id="78" name="内容占位符 77">
            <a:extLst>
              <a:ext uri="{FF2B5EF4-FFF2-40B4-BE49-F238E27FC236}">
                <a16:creationId xmlns:a16="http://schemas.microsoft.com/office/drawing/2014/main" id="{2D0BF46F-54D9-ABF7-EBE1-94C5072F28D0}"/>
              </a:ext>
            </a:extLst>
          </p:cNvPr>
          <p:cNvSpPr>
            <a:spLocks noGrp="1"/>
          </p:cNvSpPr>
          <p:nvPr>
            <p:ph sz="quarter" idx="11"/>
          </p:nvPr>
        </p:nvSpPr>
        <p:spPr>
          <a:xfrm>
            <a:off x="485999" y="900000"/>
            <a:ext cx="4086001" cy="3703500"/>
          </a:xfrm>
        </p:spPr>
        <p:txBody>
          <a:bodyPr/>
          <a:lstStyle/>
          <a:p>
            <a:r>
              <a:rPr lang="zh-CN" altLang="en-US" dirty="0"/>
              <a:t>常被称为互连网络 </a:t>
            </a:r>
            <a:r>
              <a:rPr lang="en-US" altLang="zh-CN" dirty="0"/>
              <a:t>(interconnection network)</a:t>
            </a:r>
          </a:p>
          <a:p>
            <a:r>
              <a:rPr lang="zh-CN" altLang="en-US" dirty="0"/>
              <a:t>它有 </a:t>
            </a:r>
            <a:r>
              <a:rPr lang="en-US" altLang="zh-CN" dirty="0"/>
              <a:t>2N </a:t>
            </a:r>
            <a:r>
              <a:rPr lang="zh-CN" altLang="en-US" dirty="0"/>
              <a:t>条总线，控制交叉节点可以使 </a:t>
            </a:r>
            <a:r>
              <a:rPr lang="en-US" altLang="zh-CN" dirty="0"/>
              <a:t>N </a:t>
            </a:r>
            <a:r>
              <a:rPr lang="zh-CN" altLang="en-US" dirty="0"/>
              <a:t>个输入端口和 </a:t>
            </a:r>
            <a:r>
              <a:rPr lang="en-US" altLang="zh-CN" dirty="0"/>
              <a:t>N </a:t>
            </a:r>
            <a:r>
              <a:rPr lang="zh-CN" altLang="en-US" dirty="0"/>
              <a:t>个输出端口相连接</a:t>
            </a:r>
          </a:p>
          <a:p>
            <a:r>
              <a:rPr lang="zh-CN" altLang="en-US" dirty="0"/>
              <a:t>当输入端口收到一个分组时，就将它发送到水平总线上</a:t>
            </a:r>
            <a:endParaRPr lang="en-US" altLang="zh-CN" dirty="0"/>
          </a:p>
          <a:p>
            <a:r>
              <a:rPr lang="zh-CN" altLang="en-US" dirty="0"/>
              <a:t>若通向输出端口的垂直总线空闲，则将垂直总线与水平总线接通，把该分组转发到这个输出端口。若输出端口已被占用，分组在输入端口排队等待</a:t>
            </a:r>
            <a:endParaRPr lang="en-US" altLang="zh-CN" dirty="0"/>
          </a:p>
          <a:p>
            <a:r>
              <a:rPr lang="zh-CN" altLang="en-US" dirty="0"/>
              <a:t>特点：是一种无阻塞的交换结构，分组可以转发到任何一个输出端口，只要这个输出端口没有被别的分组占用</a:t>
            </a:r>
          </a:p>
          <a:p>
            <a:endParaRPr lang="zh-CN" altLang="en-US" dirty="0"/>
          </a:p>
        </p:txBody>
      </p:sp>
    </p:spTree>
    <p:extLst>
      <p:ext uri="{BB962C8B-B14F-4D97-AF65-F5344CB8AC3E}">
        <p14:creationId xmlns:p14="http://schemas.microsoft.com/office/powerpoint/2010/main" val="2356395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1500"/>
                                        <p:tgtEl>
                                          <p:spTgt spid="74"/>
                                        </p:tgtEl>
                                      </p:cBhvr>
                                    </p:animEffect>
                                  </p:childTnLst>
                                </p:cTn>
                              </p:par>
                            </p:childTnLst>
                          </p:cTn>
                        </p:par>
                        <p:par>
                          <p:cTn id="8" fill="hold">
                            <p:stCondLst>
                              <p:cond delay="1500"/>
                            </p:stCondLst>
                            <p:childTnLst>
                              <p:par>
                                <p:cTn id="9" presetID="22" presetClass="entr" presetSubtype="1" fill="hold" grpId="0" nodeType="afterEffect">
                                  <p:stCondLst>
                                    <p:cond delay="1000"/>
                                  </p:stCondLst>
                                  <p:childTnLst>
                                    <p:set>
                                      <p:cBhvr>
                                        <p:cTn id="10" dur="1" fill="hold">
                                          <p:stCondLst>
                                            <p:cond delay="0"/>
                                          </p:stCondLst>
                                        </p:cTn>
                                        <p:tgtEl>
                                          <p:spTgt spid="75"/>
                                        </p:tgtEl>
                                        <p:attrNameLst>
                                          <p:attrName>style.visibility</p:attrName>
                                        </p:attrNameLst>
                                      </p:cBhvr>
                                      <p:to>
                                        <p:strVal val="visible"/>
                                      </p:to>
                                    </p:set>
                                    <p:animEffect transition="in" filter="wipe(up)">
                                      <p:cBhvr>
                                        <p:cTn id="11" dur="15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75" grpId="0" animBg="1"/>
    </p:bldLst>
  </p:timing>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60D22E8A-68CE-2CD6-6250-B672C8ADEB11}"/>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F9022018-0E25-F727-450F-2B20FB03F262}"/>
              </a:ext>
            </a:extLst>
          </p:cNvPr>
          <p:cNvSpPr>
            <a:spLocks noGrp="1"/>
          </p:cNvSpPr>
          <p:nvPr>
            <p:ph type="title"/>
          </p:nvPr>
        </p:nvSpPr>
        <p:spPr>
          <a:xfrm>
            <a:off x="628650" y="1790739"/>
            <a:ext cx="4320000" cy="553998"/>
          </a:xfrm>
        </p:spPr>
        <p:txBody>
          <a:bodyPr/>
          <a:lstStyle/>
          <a:p>
            <a:r>
              <a:rPr lang="fr-FR" altLang="zh-CN" dirty="0"/>
              <a:t>4.7 </a:t>
            </a:r>
            <a:r>
              <a:rPr lang="en-US" altLang="zh-CN" dirty="0"/>
              <a:t>IP</a:t>
            </a:r>
            <a:r>
              <a:rPr lang="zh-CN" altLang="en-US" dirty="0"/>
              <a:t>多播</a:t>
            </a:r>
          </a:p>
        </p:txBody>
      </p:sp>
      <p:sp>
        <p:nvSpPr>
          <p:cNvPr id="3" name="文本占位符 2">
            <a:extLst>
              <a:ext uri="{FF2B5EF4-FFF2-40B4-BE49-F238E27FC236}">
                <a16:creationId xmlns:a16="http://schemas.microsoft.com/office/drawing/2014/main" id="{1D20726E-06C7-A16D-F930-68FB02A9C098}"/>
              </a:ext>
            </a:extLst>
          </p:cNvPr>
          <p:cNvSpPr>
            <a:spLocks noGrp="1"/>
          </p:cNvSpPr>
          <p:nvPr>
            <p:ph type="body" sz="quarter" idx="11"/>
          </p:nvPr>
        </p:nvSpPr>
        <p:spPr>
          <a:xfrm>
            <a:off x="628100" y="2344736"/>
            <a:ext cx="4320000" cy="1870075"/>
          </a:xfrm>
        </p:spPr>
        <p:txBody>
          <a:bodyPr/>
          <a:lstStyle/>
          <a:p>
            <a:r>
              <a:rPr lang="en-US" altLang="zh-CN" dirty="0"/>
              <a:t>· IP </a:t>
            </a:r>
            <a:r>
              <a:rPr lang="zh-CN" altLang="en-US" dirty="0"/>
              <a:t>多播的基本概念</a:t>
            </a:r>
            <a:endParaRPr lang="en-US" altLang="zh-CN" dirty="0"/>
          </a:p>
          <a:p>
            <a:r>
              <a:rPr lang="en-US" altLang="zh-CN" dirty="0"/>
              <a:t>· </a:t>
            </a:r>
            <a:r>
              <a:rPr lang="zh-CN" altLang="en-US" dirty="0"/>
              <a:t>在局域网上进行硬件多播</a:t>
            </a:r>
            <a:endParaRPr lang="en-US" altLang="zh-CN" dirty="0"/>
          </a:p>
          <a:p>
            <a:r>
              <a:rPr lang="en-US" altLang="zh-CN" dirty="0"/>
              <a:t>· </a:t>
            </a:r>
            <a:r>
              <a:rPr lang="zh-CN" altLang="en-US" dirty="0"/>
              <a:t>网际组管理协议和多播路由选择协议</a:t>
            </a:r>
          </a:p>
        </p:txBody>
      </p:sp>
    </p:spTree>
    <p:extLst>
      <p:ext uri="{BB962C8B-B14F-4D97-AF65-F5344CB8AC3E}">
        <p14:creationId xmlns:p14="http://schemas.microsoft.com/office/powerpoint/2010/main" val="1154285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3F9EE33-648F-7F64-A8A5-3C03C5483E33}"/>
              </a:ext>
            </a:extLst>
          </p:cNvPr>
          <p:cNvSpPr>
            <a:spLocks noGrp="1"/>
          </p:cNvSpPr>
          <p:nvPr>
            <p:ph type="title"/>
          </p:nvPr>
        </p:nvSpPr>
        <p:spPr>
          <a:xfrm>
            <a:off x="486000" y="550723"/>
            <a:ext cx="8172000" cy="338554"/>
          </a:xfrm>
        </p:spPr>
        <p:txBody>
          <a:bodyPr/>
          <a:lstStyle/>
          <a:p>
            <a:r>
              <a:rPr lang="en-US" altLang="zh-CN" dirty="0"/>
              <a:t>4.7.1  IP </a:t>
            </a:r>
            <a:r>
              <a:rPr lang="zh-CN" altLang="en-US" dirty="0"/>
              <a:t>多播的基本概念</a:t>
            </a:r>
          </a:p>
        </p:txBody>
      </p:sp>
      <p:sp>
        <p:nvSpPr>
          <p:cNvPr id="6" name="内容占位符 5">
            <a:extLst>
              <a:ext uri="{FF2B5EF4-FFF2-40B4-BE49-F238E27FC236}">
                <a16:creationId xmlns:a16="http://schemas.microsoft.com/office/drawing/2014/main" id="{A2CD543C-20CB-8EB2-10E9-D3E9FB007514}"/>
              </a:ext>
            </a:extLst>
          </p:cNvPr>
          <p:cNvSpPr>
            <a:spLocks noGrp="1"/>
          </p:cNvSpPr>
          <p:nvPr>
            <p:ph sz="quarter" idx="11"/>
          </p:nvPr>
        </p:nvSpPr>
        <p:spPr>
          <a:xfrm>
            <a:off x="486000" y="900000"/>
            <a:ext cx="8172000" cy="3703500"/>
          </a:xfrm>
        </p:spPr>
        <p:txBody>
          <a:bodyPr/>
          <a:lstStyle/>
          <a:p>
            <a:r>
              <a:rPr lang="en-US" altLang="zh-CN" dirty="0"/>
              <a:t>1988 </a:t>
            </a:r>
            <a:r>
              <a:rPr lang="zh-CN" altLang="en-US" dirty="0"/>
              <a:t>年，</a:t>
            </a:r>
            <a:r>
              <a:rPr lang="en-US" altLang="zh-CN" dirty="0"/>
              <a:t>Steve Deering </a:t>
            </a:r>
            <a:r>
              <a:rPr lang="zh-CN" altLang="en-US" dirty="0"/>
              <a:t>首次提出 </a:t>
            </a:r>
            <a:r>
              <a:rPr lang="en-US" altLang="zh-CN" dirty="0"/>
              <a:t>IP </a:t>
            </a:r>
            <a:r>
              <a:rPr lang="zh-CN" altLang="en-US" dirty="0"/>
              <a:t>多播的概念</a:t>
            </a:r>
            <a:endParaRPr lang="en-US" altLang="zh-CN" dirty="0"/>
          </a:p>
          <a:p>
            <a:r>
              <a:rPr lang="zh-CN" altLang="en-US" dirty="0"/>
              <a:t>多播 </a:t>
            </a:r>
            <a:r>
              <a:rPr lang="en-US" altLang="zh-CN" dirty="0"/>
              <a:t>(multicast)</a:t>
            </a:r>
            <a:r>
              <a:rPr lang="zh-CN" altLang="en-US" dirty="0"/>
              <a:t>：以前曾译为组播</a:t>
            </a:r>
          </a:p>
          <a:p>
            <a:r>
              <a:rPr lang="zh-CN" altLang="en-US" dirty="0"/>
              <a:t>目的：更好地支持一对多通信</a:t>
            </a:r>
          </a:p>
          <a:p>
            <a:r>
              <a:rPr lang="zh-CN" altLang="en-US" dirty="0"/>
              <a:t>一对多通信：一个源点发送到许多个终点</a:t>
            </a:r>
          </a:p>
          <a:p>
            <a:endParaRPr lang="zh-CN" altLang="en-US" dirty="0"/>
          </a:p>
        </p:txBody>
      </p:sp>
    </p:spTree>
    <p:extLst>
      <p:ext uri="{BB962C8B-B14F-4D97-AF65-F5344CB8AC3E}">
        <p14:creationId xmlns:p14="http://schemas.microsoft.com/office/powerpoint/2010/main" val="2219620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Text Box 67"/>
          <p:cNvSpPr txBox="1">
            <a:spLocks noChangeArrowheads="1"/>
          </p:cNvSpPr>
          <p:nvPr/>
        </p:nvSpPr>
        <p:spPr bwMode="auto">
          <a:xfrm>
            <a:off x="3773887" y="1857497"/>
            <a:ext cx="1136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视频服务器 </a:t>
            </a:r>
            <a:r>
              <a:rPr kumimoji="1" lang="en-US" altLang="zh-CN" sz="1200" dirty="0">
                <a:solidFill>
                  <a:srgbClr val="0000FF"/>
                </a:solidFill>
                <a:latin typeface="微软雅黑 Light" panose="020B0502040204020203" pitchFamily="34" charset="-122"/>
                <a:ea typeface="微软雅黑 Light" panose="020B0502040204020203" pitchFamily="34" charset="-122"/>
              </a:rPr>
              <a:t>M</a:t>
            </a:r>
          </a:p>
        </p:txBody>
      </p:sp>
      <p:sp>
        <p:nvSpPr>
          <p:cNvPr id="5" name="标题 4">
            <a:extLst>
              <a:ext uri="{FF2B5EF4-FFF2-40B4-BE49-F238E27FC236}">
                <a16:creationId xmlns:a16="http://schemas.microsoft.com/office/drawing/2014/main" id="{3BFCB0D6-93DC-1BED-F871-A167B9817341}"/>
              </a:ext>
            </a:extLst>
          </p:cNvPr>
          <p:cNvSpPr>
            <a:spLocks noGrp="1"/>
          </p:cNvSpPr>
          <p:nvPr>
            <p:ph type="title"/>
          </p:nvPr>
        </p:nvSpPr>
        <p:spPr>
          <a:xfrm>
            <a:off x="486000" y="550723"/>
            <a:ext cx="8172000" cy="338554"/>
          </a:xfrm>
        </p:spPr>
        <p:txBody>
          <a:bodyPr/>
          <a:lstStyle/>
          <a:p>
            <a:r>
              <a:rPr lang="zh-CN" altLang="en-US" dirty="0"/>
              <a:t>多播可大大节约网络资源</a:t>
            </a:r>
          </a:p>
        </p:txBody>
      </p:sp>
      <p:sp>
        <p:nvSpPr>
          <p:cNvPr id="2" name="内容占位符 1">
            <a:extLst>
              <a:ext uri="{FF2B5EF4-FFF2-40B4-BE49-F238E27FC236}">
                <a16:creationId xmlns:a16="http://schemas.microsoft.com/office/drawing/2014/main" id="{9B26381C-8879-46E0-2C0B-33F7738C71BA}"/>
              </a:ext>
            </a:extLst>
          </p:cNvPr>
          <p:cNvSpPr>
            <a:spLocks noGrp="1"/>
          </p:cNvSpPr>
          <p:nvPr>
            <p:ph sz="quarter" idx="11"/>
          </p:nvPr>
        </p:nvSpPr>
        <p:spPr>
          <a:xfrm>
            <a:off x="486000" y="900000"/>
            <a:ext cx="8172000" cy="3703500"/>
          </a:xfrm>
        </p:spPr>
        <p:txBody>
          <a:bodyPr/>
          <a:lstStyle/>
          <a:p>
            <a:r>
              <a:rPr lang="zh-CN" altLang="zh-CN" dirty="0"/>
              <a:t>视频节目</a:t>
            </a:r>
            <a:r>
              <a:rPr lang="zh-CN" altLang="en-US" dirty="0"/>
              <a:t>订阅，如果采用</a:t>
            </a:r>
            <a:r>
              <a:rPr lang="zh-CN" altLang="zh-CN" dirty="0"/>
              <a:t>单播方式</a:t>
            </a:r>
            <a:r>
              <a:rPr lang="zh-CN" altLang="en-US" dirty="0"/>
              <a:t>，</a:t>
            </a:r>
            <a:r>
              <a:rPr lang="zh-CN" altLang="zh-CN" dirty="0"/>
              <a:t>向</a:t>
            </a:r>
            <a:r>
              <a:rPr lang="en-US" altLang="zh-CN" dirty="0"/>
              <a:t> 90 </a:t>
            </a:r>
            <a:r>
              <a:rPr lang="zh-CN" altLang="zh-CN" dirty="0"/>
              <a:t>台主机传送</a:t>
            </a:r>
            <a:r>
              <a:rPr lang="zh-CN" altLang="en-US" dirty="0"/>
              <a:t>，</a:t>
            </a:r>
            <a:r>
              <a:rPr lang="zh-CN" altLang="zh-CN" dirty="0"/>
              <a:t>需要发送</a:t>
            </a:r>
            <a:r>
              <a:rPr lang="en-US" altLang="zh-CN" dirty="0"/>
              <a:t> 90 </a:t>
            </a:r>
            <a:r>
              <a:rPr lang="zh-CN" altLang="zh-CN" dirty="0"/>
              <a:t>个单播</a:t>
            </a:r>
            <a:endParaRPr lang="zh-CN" altLang="en-US" dirty="0"/>
          </a:p>
          <a:p>
            <a:endParaRPr lang="zh-CN" altLang="en-US" dirty="0"/>
          </a:p>
        </p:txBody>
      </p:sp>
      <p:pic>
        <p:nvPicPr>
          <p:cNvPr id="85" name="图片 8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24816" y="1691988"/>
            <a:ext cx="430439" cy="602615"/>
          </a:xfrm>
          <a:prstGeom prst="rect">
            <a:avLst/>
          </a:prstGeom>
        </p:spPr>
      </p:pic>
      <p:sp>
        <p:nvSpPr>
          <p:cNvPr id="6" name="Line 77"/>
          <p:cNvSpPr>
            <a:spLocks noChangeShapeType="1"/>
          </p:cNvSpPr>
          <p:nvPr/>
        </p:nvSpPr>
        <p:spPr bwMode="auto">
          <a:xfrm>
            <a:off x="5044077" y="3911903"/>
            <a:ext cx="239164" cy="24657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8" name="Line 52"/>
          <p:cNvSpPr>
            <a:spLocks noChangeShapeType="1"/>
          </p:cNvSpPr>
          <p:nvPr/>
        </p:nvSpPr>
        <p:spPr bwMode="auto">
          <a:xfrm flipV="1">
            <a:off x="5092272" y="2516843"/>
            <a:ext cx="954839"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9" name="Line 53"/>
          <p:cNvSpPr>
            <a:spLocks noChangeShapeType="1"/>
          </p:cNvSpPr>
          <p:nvPr/>
        </p:nvSpPr>
        <p:spPr bwMode="auto">
          <a:xfrm flipV="1">
            <a:off x="6111548" y="1993295"/>
            <a:ext cx="0" cy="39918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10" name="Line 54"/>
          <p:cNvSpPr>
            <a:spLocks noChangeShapeType="1"/>
          </p:cNvSpPr>
          <p:nvPr/>
        </p:nvSpPr>
        <p:spPr bwMode="auto">
          <a:xfrm flipH="1" flipV="1">
            <a:off x="6111548" y="2516843"/>
            <a:ext cx="0"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11" name="Line 55"/>
          <p:cNvSpPr>
            <a:spLocks noChangeShapeType="1"/>
          </p:cNvSpPr>
          <p:nvPr/>
        </p:nvSpPr>
        <p:spPr bwMode="auto">
          <a:xfrm>
            <a:off x="7322962" y="3134356"/>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12" name="Line 56"/>
          <p:cNvSpPr>
            <a:spLocks noChangeShapeType="1"/>
          </p:cNvSpPr>
          <p:nvPr/>
        </p:nvSpPr>
        <p:spPr bwMode="auto">
          <a:xfrm flipV="1">
            <a:off x="6111548" y="3134356"/>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13" name="Line 57"/>
          <p:cNvSpPr>
            <a:spLocks noChangeShapeType="1"/>
          </p:cNvSpPr>
          <p:nvPr/>
        </p:nvSpPr>
        <p:spPr bwMode="auto">
          <a:xfrm>
            <a:off x="5029007" y="3134356"/>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14" name="Line 58"/>
          <p:cNvSpPr>
            <a:spLocks noChangeShapeType="1"/>
          </p:cNvSpPr>
          <p:nvPr/>
        </p:nvSpPr>
        <p:spPr bwMode="auto">
          <a:xfrm>
            <a:off x="6240421" y="2516843"/>
            <a:ext cx="1082541"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15" name="Text Box 59"/>
          <p:cNvSpPr txBox="1">
            <a:spLocks noChangeArrowheads="1"/>
          </p:cNvSpPr>
          <p:nvPr/>
        </p:nvSpPr>
        <p:spPr bwMode="auto">
          <a:xfrm>
            <a:off x="5139098" y="4524014"/>
            <a:ext cx="213712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微软雅黑 Light" panose="020B0502040204020203" pitchFamily="34" charset="-122"/>
                <a:ea typeface="微软雅黑 Light" panose="020B0502040204020203" pitchFamily="34" charset="-122"/>
              </a:rPr>
              <a:t>共有 </a:t>
            </a:r>
            <a:r>
              <a:rPr kumimoji="1" lang="en-US" altLang="zh-CN" sz="1200" dirty="0">
                <a:latin typeface="微软雅黑 Light" panose="020B0502040204020203" pitchFamily="34" charset="-122"/>
                <a:ea typeface="微软雅黑 Light" panose="020B0502040204020203" pitchFamily="34" charset="-122"/>
              </a:rPr>
              <a:t>90 </a:t>
            </a:r>
            <a:r>
              <a:rPr kumimoji="1" lang="zh-CN" altLang="en-US" sz="1200" dirty="0">
                <a:latin typeface="微软雅黑 Light" panose="020B0502040204020203" pitchFamily="34" charset="-122"/>
                <a:ea typeface="微软雅黑 Light" panose="020B0502040204020203" pitchFamily="34" charset="-122"/>
              </a:rPr>
              <a:t>个主机接收视频节目</a:t>
            </a:r>
          </a:p>
        </p:txBody>
      </p:sp>
      <p:sp>
        <p:nvSpPr>
          <p:cNvPr id="16" name="AutoShape 60"/>
          <p:cNvSpPr>
            <a:spLocks noChangeArrowheads="1"/>
          </p:cNvSpPr>
          <p:nvPr/>
        </p:nvSpPr>
        <p:spPr bwMode="auto">
          <a:xfrm rot="5400000">
            <a:off x="6042109" y="2093317"/>
            <a:ext cx="343904" cy="144105"/>
          </a:xfrm>
          <a:prstGeom prst="rightArrow">
            <a:avLst>
              <a:gd name="adj1" fmla="val 37500"/>
              <a:gd name="adj2" fmla="val 103881"/>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17" name="AutoShape 61"/>
          <p:cNvSpPr>
            <a:spLocks noChangeArrowheads="1"/>
          </p:cNvSpPr>
          <p:nvPr/>
        </p:nvSpPr>
        <p:spPr bwMode="auto">
          <a:xfrm rot="8740270">
            <a:off x="5345334" y="2673654"/>
            <a:ext cx="354989" cy="139509"/>
          </a:xfrm>
          <a:prstGeom prst="rightArrow">
            <a:avLst>
              <a:gd name="adj1" fmla="val 37500"/>
              <a:gd name="adj2" fmla="val 94377"/>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pic>
        <p:nvPicPr>
          <p:cNvPr id="18" name="Picture 6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40497" y="2381660"/>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9" name="Text Box 63"/>
          <p:cNvSpPr txBox="1">
            <a:spLocks noChangeArrowheads="1"/>
          </p:cNvSpPr>
          <p:nvPr/>
        </p:nvSpPr>
        <p:spPr bwMode="auto">
          <a:xfrm>
            <a:off x="5665176" y="2082096"/>
            <a:ext cx="31771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Light" panose="020B0502040204020203" pitchFamily="34" charset="-122"/>
                <a:ea typeface="微软雅黑 Light" panose="020B0502040204020203" pitchFamily="34" charset="-122"/>
              </a:rPr>
              <a:t>R</a:t>
            </a:r>
            <a:r>
              <a:rPr kumimoji="1" lang="en-US" altLang="zh-CN" sz="1200" b="1" baseline="-25000" dirty="0">
                <a:latin typeface="微软雅黑 Light" panose="020B0502040204020203" pitchFamily="34" charset="-122"/>
                <a:ea typeface="微软雅黑 Light" panose="020B0502040204020203" pitchFamily="34" charset="-122"/>
              </a:rPr>
              <a:t>1</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20" name="Text Box 64"/>
          <p:cNvSpPr txBox="1">
            <a:spLocks noChangeArrowheads="1"/>
          </p:cNvSpPr>
          <p:nvPr/>
        </p:nvSpPr>
        <p:spPr bwMode="auto">
          <a:xfrm>
            <a:off x="5628857" y="2865073"/>
            <a:ext cx="3353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Light" panose="020B0502040204020203" pitchFamily="34" charset="-122"/>
                <a:ea typeface="微软雅黑 Light" panose="020B0502040204020203" pitchFamily="34" charset="-122"/>
              </a:rPr>
              <a:t>R</a:t>
            </a:r>
            <a:r>
              <a:rPr kumimoji="1" lang="en-US" altLang="zh-CN" sz="1200" b="1" baseline="-25000">
                <a:latin typeface="微软雅黑 Light" panose="020B0502040204020203" pitchFamily="34" charset="-122"/>
                <a:ea typeface="微软雅黑 Light" panose="020B0502040204020203" pitchFamily="34" charset="-122"/>
              </a:rPr>
              <a:t>3</a:t>
            </a:r>
            <a:endParaRPr kumimoji="1" lang="en-US" altLang="zh-CN" sz="1200" b="1">
              <a:latin typeface="微软雅黑 Light" panose="020B0502040204020203" pitchFamily="34" charset="-122"/>
              <a:ea typeface="微软雅黑 Light" panose="020B0502040204020203" pitchFamily="34" charset="-122"/>
            </a:endParaRPr>
          </a:p>
        </p:txBody>
      </p:sp>
      <p:sp>
        <p:nvSpPr>
          <p:cNvPr id="21" name="Text Box 65"/>
          <p:cNvSpPr txBox="1">
            <a:spLocks noChangeArrowheads="1"/>
          </p:cNvSpPr>
          <p:nvPr/>
        </p:nvSpPr>
        <p:spPr bwMode="auto">
          <a:xfrm>
            <a:off x="6798093" y="2915900"/>
            <a:ext cx="3369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Light" panose="020B0502040204020203" pitchFamily="34" charset="-122"/>
                <a:ea typeface="微软雅黑 Light" panose="020B0502040204020203" pitchFamily="34" charset="-122"/>
              </a:rPr>
              <a:t>R</a:t>
            </a:r>
            <a:r>
              <a:rPr kumimoji="1" lang="en-US" altLang="zh-CN" sz="1200" b="1" baseline="-25000">
                <a:latin typeface="微软雅黑 Light" panose="020B0502040204020203" pitchFamily="34" charset="-122"/>
                <a:ea typeface="微软雅黑 Light" panose="020B0502040204020203" pitchFamily="34" charset="-122"/>
              </a:rPr>
              <a:t>4</a:t>
            </a:r>
            <a:endParaRPr kumimoji="1" lang="en-US" altLang="zh-CN" sz="1200" b="1">
              <a:latin typeface="微软雅黑 Light" panose="020B0502040204020203" pitchFamily="34" charset="-122"/>
              <a:ea typeface="微软雅黑 Light" panose="020B0502040204020203" pitchFamily="34" charset="-122"/>
            </a:endParaRPr>
          </a:p>
        </p:txBody>
      </p:sp>
      <p:sp>
        <p:nvSpPr>
          <p:cNvPr id="22" name="Text Box 66"/>
          <p:cNvSpPr txBox="1">
            <a:spLocks noChangeArrowheads="1"/>
          </p:cNvSpPr>
          <p:nvPr/>
        </p:nvSpPr>
        <p:spPr bwMode="auto">
          <a:xfrm>
            <a:off x="4519371" y="2884538"/>
            <a:ext cx="3353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Light" panose="020B0502040204020203" pitchFamily="34" charset="-122"/>
                <a:ea typeface="微软雅黑 Light" panose="020B0502040204020203" pitchFamily="34" charset="-122"/>
              </a:rPr>
              <a:t>R</a:t>
            </a:r>
            <a:r>
              <a:rPr kumimoji="1" lang="en-US" altLang="zh-CN" sz="1200" b="1" baseline="-25000">
                <a:latin typeface="微软雅黑 Light" panose="020B0502040204020203" pitchFamily="34" charset="-122"/>
                <a:ea typeface="微软雅黑 Light" panose="020B0502040204020203" pitchFamily="34" charset="-122"/>
              </a:rPr>
              <a:t>2</a:t>
            </a:r>
            <a:endParaRPr kumimoji="1" lang="en-US" altLang="zh-CN" sz="1200" b="1">
              <a:latin typeface="微软雅黑 Light" panose="020B0502040204020203" pitchFamily="34" charset="-122"/>
              <a:ea typeface="微软雅黑 Light" panose="020B0502040204020203" pitchFamily="34" charset="-122"/>
            </a:endParaRPr>
          </a:p>
        </p:txBody>
      </p:sp>
      <p:pic>
        <p:nvPicPr>
          <p:cNvPr id="24" name="Picture 6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31995" y="3038107"/>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6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40497" y="3038107"/>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7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38040" y="3060817"/>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1" name="AutoShape 75"/>
          <p:cNvSpPr>
            <a:spLocks noChangeArrowheads="1"/>
          </p:cNvSpPr>
          <p:nvPr/>
        </p:nvSpPr>
        <p:spPr bwMode="auto">
          <a:xfrm rot="1858546">
            <a:off x="6604783" y="2640129"/>
            <a:ext cx="356161" cy="140590"/>
          </a:xfrm>
          <a:prstGeom prst="rightArrow">
            <a:avLst>
              <a:gd name="adj1" fmla="val 37500"/>
              <a:gd name="adj2" fmla="val 93961"/>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32" name="Line 76"/>
          <p:cNvSpPr>
            <a:spLocks noChangeShapeType="1"/>
          </p:cNvSpPr>
          <p:nvPr/>
        </p:nvSpPr>
        <p:spPr bwMode="auto">
          <a:xfrm flipH="1">
            <a:off x="4647071" y="3898587"/>
            <a:ext cx="251687" cy="32261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33" name="Line 78"/>
          <p:cNvSpPr>
            <a:spLocks noChangeShapeType="1"/>
          </p:cNvSpPr>
          <p:nvPr/>
        </p:nvSpPr>
        <p:spPr bwMode="auto">
          <a:xfrm flipH="1">
            <a:off x="5792877" y="3911903"/>
            <a:ext cx="198040" cy="30929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34" name="Line 79"/>
          <p:cNvSpPr>
            <a:spLocks noChangeShapeType="1"/>
          </p:cNvSpPr>
          <p:nvPr/>
        </p:nvSpPr>
        <p:spPr bwMode="auto">
          <a:xfrm>
            <a:off x="6183296" y="3911069"/>
            <a:ext cx="311359" cy="24740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35" name="Line 80"/>
          <p:cNvSpPr>
            <a:spLocks noChangeShapeType="1"/>
          </p:cNvSpPr>
          <p:nvPr/>
        </p:nvSpPr>
        <p:spPr bwMode="auto">
          <a:xfrm flipH="1">
            <a:off x="7004291" y="3898587"/>
            <a:ext cx="253091" cy="25989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36" name="Line 81"/>
          <p:cNvSpPr>
            <a:spLocks noChangeShapeType="1"/>
          </p:cNvSpPr>
          <p:nvPr/>
        </p:nvSpPr>
        <p:spPr bwMode="auto">
          <a:xfrm>
            <a:off x="7428635" y="3909263"/>
            <a:ext cx="339527" cy="3119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42" name="Text Box 88"/>
          <p:cNvSpPr txBox="1">
            <a:spLocks noChangeArrowheads="1"/>
          </p:cNvSpPr>
          <p:nvPr/>
        </p:nvSpPr>
        <p:spPr bwMode="auto">
          <a:xfrm>
            <a:off x="4792390" y="3898586"/>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Light" panose="020B0502040204020203" pitchFamily="34" charset="-122"/>
                <a:ea typeface="微软雅黑 Light" panose="020B0502040204020203" pitchFamily="34" charset="-122"/>
              </a:rPr>
              <a:t>…</a:t>
            </a:r>
          </a:p>
        </p:txBody>
      </p:sp>
      <p:sp>
        <p:nvSpPr>
          <p:cNvPr id="43" name="Text Box 89"/>
          <p:cNvSpPr txBox="1">
            <a:spLocks noChangeArrowheads="1"/>
          </p:cNvSpPr>
          <p:nvPr/>
        </p:nvSpPr>
        <p:spPr bwMode="auto">
          <a:xfrm>
            <a:off x="7202331" y="3898586"/>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Light" panose="020B0502040204020203" pitchFamily="34" charset="-122"/>
                <a:ea typeface="微软雅黑 Light" panose="020B0502040204020203" pitchFamily="34" charset="-122"/>
              </a:rPr>
              <a:t>…</a:t>
            </a:r>
          </a:p>
        </p:txBody>
      </p:sp>
      <p:sp>
        <p:nvSpPr>
          <p:cNvPr id="44" name="Text Box 90"/>
          <p:cNvSpPr txBox="1">
            <a:spLocks noChangeArrowheads="1"/>
          </p:cNvSpPr>
          <p:nvPr/>
        </p:nvSpPr>
        <p:spPr bwMode="auto">
          <a:xfrm>
            <a:off x="5990917" y="4078950"/>
            <a:ext cx="4334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200" b="1">
                <a:latin typeface="微软雅黑 Light" panose="020B0502040204020203" pitchFamily="34" charset="-122"/>
                <a:ea typeface="微软雅黑 Light" panose="020B0502040204020203" pitchFamily="34" charset="-122"/>
              </a:rPr>
              <a:t>…</a:t>
            </a:r>
          </a:p>
        </p:txBody>
      </p:sp>
      <p:sp>
        <p:nvSpPr>
          <p:cNvPr id="45" name="Text Box 91"/>
          <p:cNvSpPr txBox="1">
            <a:spLocks noChangeArrowheads="1"/>
          </p:cNvSpPr>
          <p:nvPr/>
        </p:nvSpPr>
        <p:spPr bwMode="auto">
          <a:xfrm>
            <a:off x="5273868" y="3291167"/>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solidFill>
                  <a:srgbClr val="CC00CC"/>
                </a:solidFill>
                <a:latin typeface="微软雅黑 Light" panose="020B0502040204020203" pitchFamily="34" charset="-122"/>
                <a:ea typeface="微软雅黑 Light" panose="020B0502040204020203" pitchFamily="34" charset="-122"/>
              </a:rPr>
              <a:t>30 </a:t>
            </a:r>
            <a:r>
              <a:rPr kumimoji="1" lang="zh-CN" altLang="en-US" sz="1200">
                <a:solidFill>
                  <a:srgbClr val="CC00CC"/>
                </a:solidFill>
                <a:latin typeface="微软雅黑 Light" panose="020B0502040204020203" pitchFamily="34" charset="-122"/>
                <a:ea typeface="微软雅黑 Light" panose="020B0502040204020203" pitchFamily="34" charset="-122"/>
              </a:rPr>
              <a:t>个</a:t>
            </a:r>
          </a:p>
        </p:txBody>
      </p:sp>
      <p:sp>
        <p:nvSpPr>
          <p:cNvPr id="46" name="Text Box 92"/>
          <p:cNvSpPr txBox="1">
            <a:spLocks noChangeArrowheads="1"/>
          </p:cNvSpPr>
          <p:nvPr/>
        </p:nvSpPr>
        <p:spPr bwMode="auto">
          <a:xfrm>
            <a:off x="6320090" y="3258724"/>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solidFill>
                  <a:srgbClr val="CC00CC"/>
                </a:solidFill>
                <a:latin typeface="微软雅黑 Light" panose="020B0502040204020203" pitchFamily="34" charset="-122"/>
                <a:ea typeface="微软雅黑 Light" panose="020B0502040204020203" pitchFamily="34" charset="-122"/>
              </a:rPr>
              <a:t>30 </a:t>
            </a:r>
            <a:r>
              <a:rPr kumimoji="1" lang="zh-CN" altLang="en-US" sz="1200">
                <a:solidFill>
                  <a:srgbClr val="CC00CC"/>
                </a:solidFill>
                <a:latin typeface="微软雅黑 Light" panose="020B0502040204020203" pitchFamily="34" charset="-122"/>
                <a:ea typeface="微软雅黑 Light" panose="020B0502040204020203" pitchFamily="34" charset="-122"/>
              </a:rPr>
              <a:t>个</a:t>
            </a:r>
          </a:p>
        </p:txBody>
      </p:sp>
      <p:sp>
        <p:nvSpPr>
          <p:cNvPr id="47" name="Text Box 93"/>
          <p:cNvSpPr txBox="1">
            <a:spLocks noChangeArrowheads="1"/>
          </p:cNvSpPr>
          <p:nvPr/>
        </p:nvSpPr>
        <p:spPr bwMode="auto">
          <a:xfrm>
            <a:off x="7559622" y="3210057"/>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solidFill>
                  <a:srgbClr val="CC00CC"/>
                </a:solidFill>
                <a:latin typeface="微软雅黑 Light" panose="020B0502040204020203" pitchFamily="34" charset="-122"/>
                <a:ea typeface="微软雅黑 Light" panose="020B0502040204020203" pitchFamily="34" charset="-122"/>
              </a:rPr>
              <a:t>30 </a:t>
            </a:r>
            <a:r>
              <a:rPr kumimoji="1" lang="zh-CN" altLang="en-US" sz="1200">
                <a:solidFill>
                  <a:srgbClr val="CC00CC"/>
                </a:solidFill>
                <a:latin typeface="微软雅黑 Light" panose="020B0502040204020203" pitchFamily="34" charset="-122"/>
                <a:ea typeface="微软雅黑 Light" panose="020B0502040204020203" pitchFamily="34" charset="-122"/>
              </a:rPr>
              <a:t>个</a:t>
            </a:r>
          </a:p>
        </p:txBody>
      </p:sp>
      <p:sp>
        <p:nvSpPr>
          <p:cNvPr id="48" name="Text Box 94"/>
          <p:cNvSpPr txBox="1">
            <a:spLocks noChangeArrowheads="1"/>
          </p:cNvSpPr>
          <p:nvPr/>
        </p:nvSpPr>
        <p:spPr bwMode="auto">
          <a:xfrm>
            <a:off x="6904706" y="2376255"/>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solidFill>
                  <a:srgbClr val="CC00CC"/>
                </a:solidFill>
                <a:latin typeface="微软雅黑 Light" panose="020B0502040204020203" pitchFamily="34" charset="-122"/>
                <a:ea typeface="微软雅黑 Light" panose="020B0502040204020203" pitchFamily="34" charset="-122"/>
              </a:rPr>
              <a:t>30 </a:t>
            </a:r>
            <a:r>
              <a:rPr kumimoji="1" lang="zh-CN" altLang="en-US" sz="1200">
                <a:solidFill>
                  <a:srgbClr val="CC00CC"/>
                </a:solidFill>
                <a:latin typeface="微软雅黑 Light" panose="020B0502040204020203" pitchFamily="34" charset="-122"/>
                <a:ea typeface="微软雅黑 Light" panose="020B0502040204020203" pitchFamily="34" charset="-122"/>
              </a:rPr>
              <a:t>个</a:t>
            </a:r>
          </a:p>
        </p:txBody>
      </p:sp>
      <p:sp>
        <p:nvSpPr>
          <p:cNvPr id="49" name="Text Box 95"/>
          <p:cNvSpPr txBox="1">
            <a:spLocks noChangeArrowheads="1"/>
          </p:cNvSpPr>
          <p:nvPr/>
        </p:nvSpPr>
        <p:spPr bwMode="auto">
          <a:xfrm>
            <a:off x="6345864" y="2751519"/>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C00CC"/>
                </a:solidFill>
                <a:latin typeface="微软雅黑 Light" panose="020B0502040204020203" pitchFamily="34" charset="-122"/>
                <a:ea typeface="微软雅黑 Light" panose="020B0502040204020203" pitchFamily="34" charset="-122"/>
              </a:rPr>
              <a:t>30 </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50" name="Text Box 96"/>
          <p:cNvSpPr txBox="1">
            <a:spLocks noChangeArrowheads="1"/>
          </p:cNvSpPr>
          <p:nvPr/>
        </p:nvSpPr>
        <p:spPr bwMode="auto">
          <a:xfrm>
            <a:off x="4880834" y="2376255"/>
            <a:ext cx="5741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solidFill>
                  <a:srgbClr val="CC00CC"/>
                </a:solidFill>
                <a:latin typeface="微软雅黑 Light" panose="020B0502040204020203" pitchFamily="34" charset="-122"/>
                <a:ea typeface="微软雅黑 Light" panose="020B0502040204020203" pitchFamily="34" charset="-122"/>
              </a:rPr>
              <a:t>30 </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51" name="Text Box 97"/>
          <p:cNvSpPr txBox="1">
            <a:spLocks noChangeArrowheads="1"/>
          </p:cNvSpPr>
          <p:nvPr/>
        </p:nvSpPr>
        <p:spPr bwMode="auto">
          <a:xfrm>
            <a:off x="6390384" y="1854989"/>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C00CC"/>
                </a:solidFill>
                <a:latin typeface="微软雅黑 Light" panose="020B0502040204020203" pitchFamily="34" charset="-122"/>
                <a:ea typeface="微软雅黑 Light" panose="020B0502040204020203" pitchFamily="34" charset="-122"/>
              </a:rPr>
              <a:t>90 </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52" name="AutoShape 99"/>
          <p:cNvSpPr>
            <a:spLocks noChangeArrowheads="1"/>
          </p:cNvSpPr>
          <p:nvPr/>
        </p:nvSpPr>
        <p:spPr bwMode="auto">
          <a:xfrm rot="5400000">
            <a:off x="6110016" y="2136530"/>
            <a:ext cx="342823"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53" name="AutoShape 100"/>
          <p:cNvSpPr>
            <a:spLocks noChangeArrowheads="1"/>
          </p:cNvSpPr>
          <p:nvPr/>
        </p:nvSpPr>
        <p:spPr bwMode="auto">
          <a:xfrm rot="5400000">
            <a:off x="6177381" y="2179293"/>
            <a:ext cx="342822" cy="144104"/>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54" name="AutoShape 101"/>
          <p:cNvSpPr>
            <a:spLocks noChangeArrowheads="1"/>
          </p:cNvSpPr>
          <p:nvPr/>
        </p:nvSpPr>
        <p:spPr bwMode="auto">
          <a:xfrm rot="1858546">
            <a:off x="6685622" y="2622827"/>
            <a:ext cx="354989"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55" name="AutoShape 102"/>
          <p:cNvSpPr>
            <a:spLocks noChangeArrowheads="1"/>
          </p:cNvSpPr>
          <p:nvPr/>
        </p:nvSpPr>
        <p:spPr bwMode="auto">
          <a:xfrm rot="1858546">
            <a:off x="6765290" y="2605523"/>
            <a:ext cx="354989" cy="139508"/>
          </a:xfrm>
          <a:prstGeom prst="rightArrow">
            <a:avLst>
              <a:gd name="adj1" fmla="val 37500"/>
              <a:gd name="adj2" fmla="val 94378"/>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grpSp>
        <p:nvGrpSpPr>
          <p:cNvPr id="56" name="Group 103"/>
          <p:cNvGrpSpPr>
            <a:grpSpLocks/>
          </p:cNvGrpSpPr>
          <p:nvPr/>
        </p:nvGrpSpPr>
        <p:grpSpPr bwMode="auto">
          <a:xfrm>
            <a:off x="7354595" y="3268457"/>
            <a:ext cx="301096" cy="446643"/>
            <a:chOff x="2222" y="1578"/>
            <a:chExt cx="215" cy="328"/>
          </a:xfrm>
          <a:solidFill>
            <a:srgbClr val="00FF99"/>
          </a:solidFill>
        </p:grpSpPr>
        <p:sp>
          <p:nvSpPr>
            <p:cNvPr id="74" name="AutoShape 104"/>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75" name="AutoShape 105"/>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76" name="AutoShape 106"/>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grpSp>
      <p:sp>
        <p:nvSpPr>
          <p:cNvPr id="57" name="AutoShape 107"/>
          <p:cNvSpPr>
            <a:spLocks noChangeArrowheads="1"/>
          </p:cNvSpPr>
          <p:nvPr/>
        </p:nvSpPr>
        <p:spPr bwMode="auto">
          <a:xfrm rot="5400000">
            <a:off x="6244747" y="2221965"/>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58" name="AutoShape 108"/>
          <p:cNvSpPr>
            <a:spLocks noChangeArrowheads="1"/>
          </p:cNvSpPr>
          <p:nvPr/>
        </p:nvSpPr>
        <p:spPr bwMode="auto">
          <a:xfrm rot="5400000">
            <a:off x="6312113" y="2264728"/>
            <a:ext cx="342823" cy="144105"/>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59" name="AutoShape 109"/>
          <p:cNvSpPr>
            <a:spLocks noChangeArrowheads="1"/>
          </p:cNvSpPr>
          <p:nvPr/>
        </p:nvSpPr>
        <p:spPr bwMode="auto">
          <a:xfrm rot="5400000">
            <a:off x="6378307" y="2306319"/>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60" name="AutoShape 110"/>
          <p:cNvSpPr>
            <a:spLocks noChangeArrowheads="1"/>
          </p:cNvSpPr>
          <p:nvPr/>
        </p:nvSpPr>
        <p:spPr bwMode="auto">
          <a:xfrm rot="8740270">
            <a:off x="5283241" y="2648782"/>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61" name="AutoShape 111"/>
          <p:cNvSpPr>
            <a:spLocks noChangeArrowheads="1"/>
          </p:cNvSpPr>
          <p:nvPr/>
        </p:nvSpPr>
        <p:spPr bwMode="auto">
          <a:xfrm rot="8740270">
            <a:off x="5219975" y="2622827"/>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grpSp>
        <p:nvGrpSpPr>
          <p:cNvPr id="62" name="Group 112"/>
          <p:cNvGrpSpPr>
            <a:grpSpLocks/>
          </p:cNvGrpSpPr>
          <p:nvPr/>
        </p:nvGrpSpPr>
        <p:grpSpPr bwMode="auto">
          <a:xfrm>
            <a:off x="6111548" y="3257642"/>
            <a:ext cx="302268" cy="446643"/>
            <a:chOff x="2222" y="1578"/>
            <a:chExt cx="215" cy="328"/>
          </a:xfrm>
          <a:solidFill>
            <a:srgbClr val="00FF99"/>
          </a:solidFill>
        </p:grpSpPr>
        <p:sp>
          <p:nvSpPr>
            <p:cNvPr id="71" name="AutoShape 113"/>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72" name="AutoShape 114"/>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73" name="AutoShape 115"/>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grpSp>
      <p:grpSp>
        <p:nvGrpSpPr>
          <p:cNvPr id="63" name="Group 116"/>
          <p:cNvGrpSpPr>
            <a:grpSpLocks/>
          </p:cNvGrpSpPr>
          <p:nvPr/>
        </p:nvGrpSpPr>
        <p:grpSpPr bwMode="auto">
          <a:xfrm>
            <a:off x="5044239" y="3305226"/>
            <a:ext cx="302268" cy="446643"/>
            <a:chOff x="2222" y="1578"/>
            <a:chExt cx="215" cy="328"/>
          </a:xfrm>
          <a:solidFill>
            <a:srgbClr val="00FF99"/>
          </a:solidFill>
        </p:grpSpPr>
        <p:sp>
          <p:nvSpPr>
            <p:cNvPr id="68" name="AutoShape 117"/>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69" name="AutoShape 118"/>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70" name="AutoShape 119"/>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grpSp>
      <p:grpSp>
        <p:nvGrpSpPr>
          <p:cNvPr id="64" name="Group 120"/>
          <p:cNvGrpSpPr>
            <a:grpSpLocks/>
          </p:cNvGrpSpPr>
          <p:nvPr/>
        </p:nvGrpSpPr>
        <p:grpSpPr bwMode="auto">
          <a:xfrm>
            <a:off x="6111548" y="2626070"/>
            <a:ext cx="302268" cy="446643"/>
            <a:chOff x="2222" y="1578"/>
            <a:chExt cx="215" cy="328"/>
          </a:xfrm>
          <a:solidFill>
            <a:srgbClr val="00FF99"/>
          </a:solidFill>
        </p:grpSpPr>
        <p:sp>
          <p:nvSpPr>
            <p:cNvPr id="65" name="AutoShape 121"/>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66" name="AutoShape 122"/>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67" name="AutoShape 123"/>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grpSp>
      <p:pic>
        <p:nvPicPr>
          <p:cNvPr id="7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467619" y="4136627"/>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106800" y="4136627"/>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622374" y="4136627"/>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318214" y="4136627"/>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833038" y="4136627"/>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93604" y="4136627"/>
            <a:ext cx="352881" cy="352881"/>
          </a:xfrm>
          <a:prstGeom prst="rect">
            <a:avLst/>
          </a:prstGeom>
          <a:noFill/>
          <a:extLst>
            <a:ext uri="{909E8E84-426E-40DD-AFC4-6F175D3DCCD1}">
              <a14:hiddenFill xmlns:a14="http://schemas.microsoft.com/office/drawing/2010/main">
                <a:solidFill>
                  <a:srgbClr val="FFFFFF"/>
                </a:solidFill>
              </a14:hiddenFill>
            </a:ext>
          </a:extLst>
        </p:spPr>
      </p:pic>
      <p:cxnSp>
        <p:nvCxnSpPr>
          <p:cNvPr id="87" name="直接连接符 86"/>
          <p:cNvCxnSpPr>
            <a:stCxn id="9" idx="1"/>
            <a:endCxn id="85" idx="3"/>
          </p:cNvCxnSpPr>
          <p:nvPr/>
        </p:nvCxnSpPr>
        <p:spPr>
          <a:xfrm flipH="1">
            <a:off x="5455255" y="1993295"/>
            <a:ext cx="656294" cy="1"/>
          </a:xfrm>
          <a:prstGeom prst="line">
            <a:avLst/>
          </a:prstGeom>
          <a:ln w="28575">
            <a:solidFill>
              <a:srgbClr val="0000FF"/>
            </a:solidFill>
          </a:ln>
        </p:spPr>
        <p:style>
          <a:lnRef idx="1">
            <a:schemeClr val="accent1"/>
          </a:lnRef>
          <a:fillRef idx="0">
            <a:schemeClr val="accent1"/>
          </a:fillRef>
          <a:effectRef idx="0">
            <a:schemeClr val="accent1"/>
          </a:effectRef>
          <a:fontRef idx="minor">
            <a:schemeClr val="tx1"/>
          </a:fontRef>
        </p:style>
      </p:cxnSp>
      <p:pic>
        <p:nvPicPr>
          <p:cNvPr id="86"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811066"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919772"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30867"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1527426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7ACD3D4-C31C-1454-65F4-A48ACE808DFC}"/>
              </a:ext>
            </a:extLst>
          </p:cNvPr>
          <p:cNvSpPr>
            <a:spLocks noGrp="1"/>
          </p:cNvSpPr>
          <p:nvPr>
            <p:ph type="title"/>
          </p:nvPr>
        </p:nvSpPr>
        <p:spPr>
          <a:xfrm>
            <a:off x="486000" y="550723"/>
            <a:ext cx="8172000" cy="338554"/>
          </a:xfrm>
        </p:spPr>
        <p:txBody>
          <a:bodyPr/>
          <a:lstStyle/>
          <a:p>
            <a:r>
              <a:rPr lang="zh-CN" altLang="en-US" dirty="0"/>
              <a:t>多播可大大节约网络资源</a:t>
            </a:r>
          </a:p>
        </p:txBody>
      </p:sp>
      <p:sp>
        <p:nvSpPr>
          <p:cNvPr id="2" name="内容占位符 1">
            <a:extLst>
              <a:ext uri="{FF2B5EF4-FFF2-40B4-BE49-F238E27FC236}">
                <a16:creationId xmlns:a16="http://schemas.microsoft.com/office/drawing/2014/main" id="{43926205-444B-55D7-AE9F-0851A7FAF229}"/>
              </a:ext>
            </a:extLst>
          </p:cNvPr>
          <p:cNvSpPr>
            <a:spLocks noGrp="1"/>
          </p:cNvSpPr>
          <p:nvPr>
            <p:ph sz="quarter" idx="11"/>
          </p:nvPr>
        </p:nvSpPr>
        <p:spPr>
          <a:xfrm>
            <a:off x="486000" y="900000"/>
            <a:ext cx="8172000" cy="3703500"/>
          </a:xfrm>
        </p:spPr>
        <p:txBody>
          <a:bodyPr/>
          <a:lstStyle/>
          <a:p>
            <a:r>
              <a:rPr lang="zh-CN" altLang="en-US" dirty="0"/>
              <a:t>采用多播方式，只需发送一次到多播组</a:t>
            </a:r>
          </a:p>
          <a:p>
            <a:r>
              <a:rPr lang="zh-CN" altLang="en-US" dirty="0"/>
              <a:t>路由器复制分组。局域网具有硬件多播功能，不需要复制分组</a:t>
            </a:r>
            <a:endParaRPr lang="en-US" altLang="zh-CN" dirty="0"/>
          </a:p>
          <a:p>
            <a:r>
              <a:rPr lang="zh-CN" altLang="en-US" dirty="0"/>
              <a:t>当多播组的主机数很大时（如成千上万个），采用多播方式就可明显地减轻网络中各种资源的消耗。</a:t>
            </a:r>
          </a:p>
          <a:p>
            <a:endParaRPr lang="zh-CN" altLang="en-US" dirty="0"/>
          </a:p>
          <a:p>
            <a:endParaRPr lang="zh-CN" altLang="en-US" dirty="0"/>
          </a:p>
        </p:txBody>
      </p:sp>
      <p:pic>
        <p:nvPicPr>
          <p:cNvPr id="3" name="图片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11076" y="1723963"/>
            <a:ext cx="430439" cy="602615"/>
          </a:xfrm>
          <a:prstGeom prst="rect">
            <a:avLst/>
          </a:prstGeom>
        </p:spPr>
      </p:pic>
      <p:sp>
        <p:nvSpPr>
          <p:cNvPr id="7" name="Line 52"/>
          <p:cNvSpPr>
            <a:spLocks noChangeShapeType="1"/>
          </p:cNvSpPr>
          <p:nvPr/>
        </p:nvSpPr>
        <p:spPr bwMode="auto">
          <a:xfrm flipV="1">
            <a:off x="5078532" y="2548818"/>
            <a:ext cx="954839"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8" name="Line 53"/>
          <p:cNvSpPr>
            <a:spLocks noChangeShapeType="1"/>
          </p:cNvSpPr>
          <p:nvPr/>
        </p:nvSpPr>
        <p:spPr bwMode="auto">
          <a:xfrm flipV="1">
            <a:off x="6097808" y="2025270"/>
            <a:ext cx="0" cy="39918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9" name="Line 54"/>
          <p:cNvSpPr>
            <a:spLocks noChangeShapeType="1"/>
          </p:cNvSpPr>
          <p:nvPr/>
        </p:nvSpPr>
        <p:spPr bwMode="auto">
          <a:xfrm flipH="1" flipV="1">
            <a:off x="6097808" y="2548818"/>
            <a:ext cx="0"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0" name="Line 55"/>
          <p:cNvSpPr>
            <a:spLocks noChangeShapeType="1"/>
          </p:cNvSpPr>
          <p:nvPr/>
        </p:nvSpPr>
        <p:spPr bwMode="auto">
          <a:xfrm>
            <a:off x="7309222" y="3166331"/>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1" name="Line 56"/>
          <p:cNvSpPr>
            <a:spLocks noChangeShapeType="1"/>
          </p:cNvSpPr>
          <p:nvPr/>
        </p:nvSpPr>
        <p:spPr bwMode="auto">
          <a:xfrm flipV="1">
            <a:off x="6097808" y="3166331"/>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2" name="Line 57"/>
          <p:cNvSpPr>
            <a:spLocks noChangeShapeType="1"/>
          </p:cNvSpPr>
          <p:nvPr/>
        </p:nvSpPr>
        <p:spPr bwMode="auto">
          <a:xfrm>
            <a:off x="5015267" y="3166331"/>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3" name="Line 58"/>
          <p:cNvSpPr>
            <a:spLocks noChangeShapeType="1"/>
          </p:cNvSpPr>
          <p:nvPr/>
        </p:nvSpPr>
        <p:spPr bwMode="auto">
          <a:xfrm>
            <a:off x="6226681" y="2548818"/>
            <a:ext cx="1082541"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4" name="Text Box 59"/>
          <p:cNvSpPr txBox="1">
            <a:spLocks noChangeArrowheads="1"/>
          </p:cNvSpPr>
          <p:nvPr/>
        </p:nvSpPr>
        <p:spPr bwMode="auto">
          <a:xfrm>
            <a:off x="5256160" y="4547207"/>
            <a:ext cx="16754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微软雅黑 Light" panose="020B0502040204020203" pitchFamily="34" charset="-122"/>
                <a:ea typeface="微软雅黑 Light" panose="020B0502040204020203" pitchFamily="34" charset="-122"/>
              </a:rPr>
              <a:t>多播组成员共有 </a:t>
            </a:r>
            <a:r>
              <a:rPr kumimoji="1" lang="en-US" altLang="zh-CN" sz="1200" dirty="0">
                <a:latin typeface="微软雅黑 Light" panose="020B0502040204020203" pitchFamily="34" charset="-122"/>
                <a:ea typeface="微软雅黑 Light" panose="020B0502040204020203" pitchFamily="34" charset="-122"/>
              </a:rPr>
              <a:t>90 </a:t>
            </a:r>
            <a:r>
              <a:rPr kumimoji="1" lang="zh-CN" altLang="en-US" sz="1200" dirty="0">
                <a:latin typeface="微软雅黑 Light" panose="020B0502040204020203" pitchFamily="34" charset="-122"/>
                <a:ea typeface="微软雅黑 Light" panose="020B0502040204020203" pitchFamily="34" charset="-122"/>
              </a:rPr>
              <a:t>个</a:t>
            </a:r>
          </a:p>
        </p:txBody>
      </p:sp>
      <p:sp>
        <p:nvSpPr>
          <p:cNvPr id="15" name="AutoShape 60"/>
          <p:cNvSpPr>
            <a:spLocks noChangeArrowheads="1"/>
          </p:cNvSpPr>
          <p:nvPr/>
        </p:nvSpPr>
        <p:spPr bwMode="auto">
          <a:xfrm rot="5400000">
            <a:off x="6028369" y="2125292"/>
            <a:ext cx="343904" cy="144105"/>
          </a:xfrm>
          <a:prstGeom prst="rightArrow">
            <a:avLst>
              <a:gd name="adj1" fmla="val 37500"/>
              <a:gd name="adj2" fmla="val 103881"/>
            </a:avLst>
          </a:prstGeom>
          <a:solidFill>
            <a:srgbClr val="00FF99"/>
          </a:solidFill>
          <a:ln w="9525">
            <a:solidFill>
              <a:schemeClr val="tx1"/>
            </a:solidFill>
            <a:miter lim="800000"/>
            <a:headEnd/>
            <a:tailEnd/>
          </a:ln>
          <a:effec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6" name="AutoShape 61"/>
          <p:cNvSpPr>
            <a:spLocks noChangeArrowheads="1"/>
          </p:cNvSpPr>
          <p:nvPr/>
        </p:nvSpPr>
        <p:spPr bwMode="auto">
          <a:xfrm rot="8740270">
            <a:off x="5331594" y="2705629"/>
            <a:ext cx="354989" cy="139509"/>
          </a:xfrm>
          <a:prstGeom prst="rightArrow">
            <a:avLst>
              <a:gd name="adj1" fmla="val 37500"/>
              <a:gd name="adj2" fmla="val 94377"/>
            </a:avLst>
          </a:prstGeom>
          <a:solidFill>
            <a:srgbClr val="00FF99"/>
          </a:solidFill>
          <a:ln w="9525">
            <a:solidFill>
              <a:schemeClr val="tx1"/>
            </a:solidFill>
            <a:miter lim="800000"/>
            <a:headEnd/>
            <a:tailEnd/>
          </a:ln>
          <a:effec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pic>
        <p:nvPicPr>
          <p:cNvPr id="17" name="Picture 6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26757" y="2413635"/>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 name="Text Box 63"/>
          <p:cNvSpPr txBox="1">
            <a:spLocks noChangeArrowheads="1"/>
          </p:cNvSpPr>
          <p:nvPr/>
        </p:nvSpPr>
        <p:spPr bwMode="auto">
          <a:xfrm>
            <a:off x="5651436" y="2114071"/>
            <a:ext cx="31771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微软雅黑 Light" panose="020B0502040204020203" pitchFamily="34" charset="-122"/>
                <a:ea typeface="微软雅黑 Light" panose="020B0502040204020203" pitchFamily="34" charset="-122"/>
              </a:rPr>
              <a:t>R</a:t>
            </a:r>
            <a:r>
              <a:rPr kumimoji="1" lang="en-US" altLang="zh-CN" sz="1200" baseline="-25000" dirty="0">
                <a:latin typeface="微软雅黑 Light" panose="020B0502040204020203" pitchFamily="34" charset="-122"/>
                <a:ea typeface="微软雅黑 Light" panose="020B0502040204020203" pitchFamily="34" charset="-122"/>
              </a:rPr>
              <a:t>1</a:t>
            </a:r>
            <a:endParaRPr kumimoji="1" lang="en-US" altLang="zh-CN" sz="1200" dirty="0">
              <a:latin typeface="微软雅黑 Light" panose="020B0502040204020203" pitchFamily="34" charset="-122"/>
              <a:ea typeface="微软雅黑 Light" panose="020B0502040204020203" pitchFamily="34" charset="-122"/>
            </a:endParaRPr>
          </a:p>
        </p:txBody>
      </p:sp>
      <p:sp>
        <p:nvSpPr>
          <p:cNvPr id="19" name="Text Box 64"/>
          <p:cNvSpPr txBox="1">
            <a:spLocks noChangeArrowheads="1"/>
          </p:cNvSpPr>
          <p:nvPr/>
        </p:nvSpPr>
        <p:spPr bwMode="auto">
          <a:xfrm>
            <a:off x="5615117" y="2897048"/>
            <a:ext cx="3353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微软雅黑 Light" panose="020B0502040204020203" pitchFamily="34" charset="-122"/>
                <a:ea typeface="微软雅黑 Light" panose="020B0502040204020203" pitchFamily="34" charset="-122"/>
              </a:rPr>
              <a:t>R</a:t>
            </a:r>
            <a:r>
              <a:rPr kumimoji="1" lang="en-US" altLang="zh-CN" sz="1200" baseline="-25000" dirty="0">
                <a:latin typeface="微软雅黑 Light" panose="020B0502040204020203" pitchFamily="34" charset="-122"/>
                <a:ea typeface="微软雅黑 Light" panose="020B0502040204020203" pitchFamily="34" charset="-122"/>
              </a:rPr>
              <a:t>3</a:t>
            </a:r>
            <a:endParaRPr kumimoji="1" lang="en-US" altLang="zh-CN" sz="1200" dirty="0">
              <a:latin typeface="微软雅黑 Light" panose="020B0502040204020203" pitchFamily="34" charset="-122"/>
              <a:ea typeface="微软雅黑 Light" panose="020B0502040204020203" pitchFamily="34" charset="-122"/>
            </a:endParaRPr>
          </a:p>
        </p:txBody>
      </p:sp>
      <p:sp>
        <p:nvSpPr>
          <p:cNvPr id="20" name="Text Box 65"/>
          <p:cNvSpPr txBox="1">
            <a:spLocks noChangeArrowheads="1"/>
          </p:cNvSpPr>
          <p:nvPr/>
        </p:nvSpPr>
        <p:spPr bwMode="auto">
          <a:xfrm>
            <a:off x="6784353" y="2947875"/>
            <a:ext cx="3369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微软雅黑 Light" panose="020B0502040204020203" pitchFamily="34" charset="-122"/>
                <a:ea typeface="微软雅黑 Light" panose="020B0502040204020203" pitchFamily="34" charset="-122"/>
              </a:rPr>
              <a:t>R</a:t>
            </a:r>
            <a:r>
              <a:rPr kumimoji="1" lang="en-US" altLang="zh-CN" sz="1200" baseline="-25000">
                <a:latin typeface="微软雅黑 Light" panose="020B0502040204020203" pitchFamily="34" charset="-122"/>
                <a:ea typeface="微软雅黑 Light" panose="020B0502040204020203" pitchFamily="34" charset="-122"/>
              </a:rPr>
              <a:t>4</a:t>
            </a:r>
            <a:endParaRPr kumimoji="1" lang="en-US" altLang="zh-CN" sz="1200">
              <a:latin typeface="微软雅黑 Light" panose="020B0502040204020203" pitchFamily="34" charset="-122"/>
              <a:ea typeface="微软雅黑 Light" panose="020B0502040204020203" pitchFamily="34" charset="-122"/>
            </a:endParaRPr>
          </a:p>
        </p:txBody>
      </p:sp>
      <p:sp>
        <p:nvSpPr>
          <p:cNvPr id="21" name="Text Box 66"/>
          <p:cNvSpPr txBox="1">
            <a:spLocks noChangeArrowheads="1"/>
          </p:cNvSpPr>
          <p:nvPr/>
        </p:nvSpPr>
        <p:spPr bwMode="auto">
          <a:xfrm>
            <a:off x="4505631" y="2916513"/>
            <a:ext cx="3353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微软雅黑 Light" panose="020B0502040204020203" pitchFamily="34" charset="-122"/>
                <a:ea typeface="微软雅黑 Light" panose="020B0502040204020203" pitchFamily="34" charset="-122"/>
              </a:rPr>
              <a:t>R</a:t>
            </a:r>
            <a:r>
              <a:rPr kumimoji="1" lang="en-US" altLang="zh-CN" sz="1200" baseline="-25000">
                <a:latin typeface="微软雅黑 Light" panose="020B0502040204020203" pitchFamily="34" charset="-122"/>
                <a:ea typeface="微软雅黑 Light" panose="020B0502040204020203" pitchFamily="34" charset="-122"/>
              </a:rPr>
              <a:t>2</a:t>
            </a:r>
            <a:endParaRPr kumimoji="1" lang="en-US" altLang="zh-CN" sz="1200">
              <a:latin typeface="微软雅黑 Light" panose="020B0502040204020203" pitchFamily="34" charset="-122"/>
              <a:ea typeface="微软雅黑 Light" panose="020B0502040204020203" pitchFamily="34" charset="-122"/>
            </a:endParaRPr>
          </a:p>
        </p:txBody>
      </p:sp>
      <p:sp>
        <p:nvSpPr>
          <p:cNvPr id="22" name="Text Box 67"/>
          <p:cNvSpPr txBox="1">
            <a:spLocks noChangeArrowheads="1"/>
          </p:cNvSpPr>
          <p:nvPr/>
        </p:nvSpPr>
        <p:spPr bwMode="auto">
          <a:xfrm>
            <a:off x="3760147" y="1889472"/>
            <a:ext cx="1136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视频服务器 </a:t>
            </a:r>
            <a:r>
              <a:rPr kumimoji="1" lang="en-US" altLang="zh-CN" sz="1200" dirty="0">
                <a:solidFill>
                  <a:srgbClr val="0000FF"/>
                </a:solidFill>
                <a:latin typeface="微软雅黑 Light" panose="020B0502040204020203" pitchFamily="34" charset="-122"/>
                <a:ea typeface="微软雅黑 Light" panose="020B0502040204020203" pitchFamily="34" charset="-122"/>
              </a:rPr>
              <a:t>M</a:t>
            </a:r>
          </a:p>
        </p:txBody>
      </p:sp>
      <p:pic>
        <p:nvPicPr>
          <p:cNvPr id="23" name="Picture 6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18255" y="3070082"/>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6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26757" y="3070082"/>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7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24300" y="3092792"/>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9" name="AutoShape 75"/>
          <p:cNvSpPr>
            <a:spLocks noChangeArrowheads="1"/>
          </p:cNvSpPr>
          <p:nvPr/>
        </p:nvSpPr>
        <p:spPr bwMode="auto">
          <a:xfrm rot="1858546">
            <a:off x="6591043" y="2672104"/>
            <a:ext cx="356161" cy="140590"/>
          </a:xfrm>
          <a:prstGeom prst="rightArrow">
            <a:avLst>
              <a:gd name="adj1" fmla="val 37500"/>
              <a:gd name="adj2" fmla="val 93961"/>
            </a:avLst>
          </a:prstGeom>
          <a:solidFill>
            <a:srgbClr val="00FF99"/>
          </a:solidFill>
          <a:ln w="9525">
            <a:solidFill>
              <a:schemeClr val="tx1"/>
            </a:solidFill>
            <a:miter lim="800000"/>
            <a:headEnd/>
            <a:tailEnd/>
          </a:ln>
          <a:effec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38" name="Text Box 91"/>
          <p:cNvSpPr txBox="1">
            <a:spLocks noChangeArrowheads="1"/>
          </p:cNvSpPr>
          <p:nvPr/>
        </p:nvSpPr>
        <p:spPr bwMode="auto">
          <a:xfrm>
            <a:off x="5079264" y="3282587"/>
            <a:ext cx="39786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C00CC"/>
                </a:solidFill>
                <a:latin typeface="微软雅黑 Light" panose="020B0502040204020203" pitchFamily="34" charset="-122"/>
                <a:ea typeface="微软雅黑 Light" panose="020B0502040204020203" pitchFamily="34" charset="-122"/>
              </a:rPr>
              <a:t>1</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39" name="Text Box 92"/>
          <p:cNvSpPr txBox="1">
            <a:spLocks noChangeArrowheads="1"/>
          </p:cNvSpPr>
          <p:nvPr/>
        </p:nvSpPr>
        <p:spPr bwMode="auto">
          <a:xfrm>
            <a:off x="6195822" y="3282587"/>
            <a:ext cx="39786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C00CC"/>
                </a:solidFill>
                <a:latin typeface="微软雅黑 Light" panose="020B0502040204020203" pitchFamily="34" charset="-122"/>
                <a:ea typeface="微软雅黑 Light" panose="020B0502040204020203" pitchFamily="34" charset="-122"/>
              </a:rPr>
              <a:t>1</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40" name="Text Box 93"/>
          <p:cNvSpPr txBox="1">
            <a:spLocks noChangeArrowheads="1"/>
          </p:cNvSpPr>
          <p:nvPr/>
        </p:nvSpPr>
        <p:spPr bwMode="auto">
          <a:xfrm>
            <a:off x="7380090" y="3282587"/>
            <a:ext cx="4427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C00CC"/>
                </a:solidFill>
                <a:latin typeface="微软雅黑 Light" panose="020B0502040204020203" pitchFamily="34" charset="-122"/>
                <a:ea typeface="微软雅黑 Light" panose="020B0502040204020203" pitchFamily="34" charset="-122"/>
              </a:rPr>
              <a:t>1 </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41" name="Text Box 94"/>
          <p:cNvSpPr txBox="1">
            <a:spLocks noChangeArrowheads="1"/>
          </p:cNvSpPr>
          <p:nvPr/>
        </p:nvSpPr>
        <p:spPr bwMode="auto">
          <a:xfrm>
            <a:off x="6634742" y="2423302"/>
            <a:ext cx="39786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C00CC"/>
                </a:solidFill>
                <a:latin typeface="微软雅黑 Light" panose="020B0502040204020203" pitchFamily="34" charset="-122"/>
                <a:ea typeface="微软雅黑 Light" panose="020B0502040204020203" pitchFamily="34" charset="-122"/>
              </a:rPr>
              <a:t>1</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42" name="Text Box 95"/>
          <p:cNvSpPr txBox="1">
            <a:spLocks noChangeArrowheads="1"/>
          </p:cNvSpPr>
          <p:nvPr/>
        </p:nvSpPr>
        <p:spPr bwMode="auto">
          <a:xfrm>
            <a:off x="6176380" y="2652870"/>
            <a:ext cx="39786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C00CC"/>
                </a:solidFill>
                <a:latin typeface="微软雅黑 Light" panose="020B0502040204020203" pitchFamily="34" charset="-122"/>
                <a:ea typeface="微软雅黑 Light" panose="020B0502040204020203" pitchFamily="34" charset="-122"/>
              </a:rPr>
              <a:t>1</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43" name="Text Box 96"/>
          <p:cNvSpPr txBox="1">
            <a:spLocks noChangeArrowheads="1"/>
          </p:cNvSpPr>
          <p:nvPr/>
        </p:nvSpPr>
        <p:spPr bwMode="auto">
          <a:xfrm>
            <a:off x="5211482" y="2473542"/>
            <a:ext cx="39786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solidFill>
                  <a:srgbClr val="CC00CC"/>
                </a:solidFill>
                <a:latin typeface="微软雅黑 Light" panose="020B0502040204020203" pitchFamily="34" charset="-122"/>
                <a:ea typeface="微软雅黑 Light" panose="020B0502040204020203" pitchFamily="34" charset="-122"/>
              </a:rPr>
              <a:t>1</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44" name="Text Box 97"/>
          <p:cNvSpPr txBox="1">
            <a:spLocks noChangeArrowheads="1"/>
          </p:cNvSpPr>
          <p:nvPr/>
        </p:nvSpPr>
        <p:spPr bwMode="auto">
          <a:xfrm>
            <a:off x="6200804" y="1992468"/>
            <a:ext cx="4427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C00CC"/>
                </a:solidFill>
                <a:latin typeface="微软雅黑 Light" panose="020B0502040204020203" pitchFamily="34" charset="-122"/>
                <a:ea typeface="微软雅黑 Light" panose="020B0502040204020203" pitchFamily="34" charset="-122"/>
              </a:rPr>
              <a:t>1 </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50" name="AutoShape 104"/>
          <p:cNvSpPr>
            <a:spLocks noChangeArrowheads="1"/>
          </p:cNvSpPr>
          <p:nvPr/>
        </p:nvSpPr>
        <p:spPr bwMode="auto">
          <a:xfrm rot="5400000">
            <a:off x="7242102" y="3399208"/>
            <a:ext cx="343153" cy="144246"/>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59" name="AutoShape 113"/>
          <p:cNvSpPr>
            <a:spLocks noChangeArrowheads="1"/>
          </p:cNvSpPr>
          <p:nvPr/>
        </p:nvSpPr>
        <p:spPr bwMode="auto">
          <a:xfrm rot="5400000">
            <a:off x="6034518" y="3388112"/>
            <a:ext cx="343153" cy="144808"/>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63" name="AutoShape 117"/>
          <p:cNvSpPr>
            <a:spLocks noChangeArrowheads="1"/>
          </p:cNvSpPr>
          <p:nvPr/>
        </p:nvSpPr>
        <p:spPr bwMode="auto">
          <a:xfrm rot="5400000">
            <a:off x="4932041" y="3435696"/>
            <a:ext cx="343153" cy="144808"/>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67" name="AutoShape 121"/>
          <p:cNvSpPr>
            <a:spLocks noChangeArrowheads="1"/>
          </p:cNvSpPr>
          <p:nvPr/>
        </p:nvSpPr>
        <p:spPr bwMode="auto">
          <a:xfrm rot="5400000">
            <a:off x="6034518" y="2756540"/>
            <a:ext cx="343153" cy="144808"/>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cxnSp>
        <p:nvCxnSpPr>
          <p:cNvPr id="78" name="直接连接符 77"/>
          <p:cNvCxnSpPr>
            <a:stCxn id="8" idx="1"/>
            <a:endCxn id="3" idx="3"/>
          </p:cNvCxnSpPr>
          <p:nvPr/>
        </p:nvCxnSpPr>
        <p:spPr>
          <a:xfrm flipH="1">
            <a:off x="5441515" y="2025270"/>
            <a:ext cx="656294" cy="1"/>
          </a:xfrm>
          <a:prstGeom prst="line">
            <a:avLst/>
          </a:prstGeom>
          <a:ln w="28575">
            <a:solidFill>
              <a:srgbClr val="0000FF"/>
            </a:solidFill>
          </a:ln>
        </p:spPr>
        <p:style>
          <a:lnRef idx="1">
            <a:schemeClr val="accent1"/>
          </a:lnRef>
          <a:fillRef idx="0">
            <a:schemeClr val="accent1"/>
          </a:fillRef>
          <a:effectRef idx="0">
            <a:schemeClr val="accent1"/>
          </a:effectRef>
          <a:fontRef idx="minor">
            <a:schemeClr val="tx1"/>
          </a:fontRef>
        </p:style>
      </p:cxnSp>
      <p:sp>
        <p:nvSpPr>
          <p:cNvPr id="80" name="Text Box 64"/>
          <p:cNvSpPr txBox="1">
            <a:spLocks noChangeArrowheads="1"/>
          </p:cNvSpPr>
          <p:nvPr/>
        </p:nvSpPr>
        <p:spPr bwMode="auto">
          <a:xfrm>
            <a:off x="4439768" y="342705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多播</a:t>
            </a:r>
          </a:p>
        </p:txBody>
      </p:sp>
      <p:sp>
        <p:nvSpPr>
          <p:cNvPr id="81" name="Text Box 64"/>
          <p:cNvSpPr txBox="1">
            <a:spLocks noChangeArrowheads="1"/>
          </p:cNvSpPr>
          <p:nvPr/>
        </p:nvSpPr>
        <p:spPr bwMode="auto">
          <a:xfrm>
            <a:off x="5588552" y="342705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多播</a:t>
            </a:r>
          </a:p>
        </p:txBody>
      </p:sp>
      <p:sp>
        <p:nvSpPr>
          <p:cNvPr id="82" name="Text Box 64"/>
          <p:cNvSpPr txBox="1">
            <a:spLocks noChangeArrowheads="1"/>
          </p:cNvSpPr>
          <p:nvPr/>
        </p:nvSpPr>
        <p:spPr bwMode="auto">
          <a:xfrm>
            <a:off x="6800968" y="342705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多播</a:t>
            </a:r>
          </a:p>
        </p:txBody>
      </p:sp>
      <p:sp>
        <p:nvSpPr>
          <p:cNvPr id="62" name="Line 77"/>
          <p:cNvSpPr>
            <a:spLocks noChangeShapeType="1"/>
          </p:cNvSpPr>
          <p:nvPr/>
        </p:nvSpPr>
        <p:spPr bwMode="auto">
          <a:xfrm>
            <a:off x="5024475" y="3943878"/>
            <a:ext cx="239164" cy="24657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64" name="Line 76"/>
          <p:cNvSpPr>
            <a:spLocks noChangeShapeType="1"/>
          </p:cNvSpPr>
          <p:nvPr/>
        </p:nvSpPr>
        <p:spPr bwMode="auto">
          <a:xfrm flipH="1">
            <a:off x="4627469" y="3930562"/>
            <a:ext cx="251687" cy="32261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65" name="Line 78"/>
          <p:cNvSpPr>
            <a:spLocks noChangeShapeType="1"/>
          </p:cNvSpPr>
          <p:nvPr/>
        </p:nvSpPr>
        <p:spPr bwMode="auto">
          <a:xfrm flipH="1">
            <a:off x="5773275" y="3943878"/>
            <a:ext cx="198040" cy="30929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66" name="Line 79"/>
          <p:cNvSpPr>
            <a:spLocks noChangeShapeType="1"/>
          </p:cNvSpPr>
          <p:nvPr/>
        </p:nvSpPr>
        <p:spPr bwMode="auto">
          <a:xfrm>
            <a:off x="6163694" y="3943044"/>
            <a:ext cx="311359" cy="24740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68" name="Line 80"/>
          <p:cNvSpPr>
            <a:spLocks noChangeShapeType="1"/>
          </p:cNvSpPr>
          <p:nvPr/>
        </p:nvSpPr>
        <p:spPr bwMode="auto">
          <a:xfrm flipH="1">
            <a:off x="6984689" y="3930562"/>
            <a:ext cx="253091" cy="25989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69" name="Line 81"/>
          <p:cNvSpPr>
            <a:spLocks noChangeShapeType="1"/>
          </p:cNvSpPr>
          <p:nvPr/>
        </p:nvSpPr>
        <p:spPr bwMode="auto">
          <a:xfrm>
            <a:off x="7409033" y="3941238"/>
            <a:ext cx="339527" cy="3119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83" name="Text Box 88"/>
          <p:cNvSpPr txBox="1">
            <a:spLocks noChangeArrowheads="1"/>
          </p:cNvSpPr>
          <p:nvPr/>
        </p:nvSpPr>
        <p:spPr bwMode="auto">
          <a:xfrm>
            <a:off x="4772788" y="3930561"/>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微软雅黑 Light" panose="020B0502040204020203" pitchFamily="34" charset="-122"/>
                <a:ea typeface="微软雅黑 Light" panose="020B0502040204020203" pitchFamily="34" charset="-122"/>
              </a:rPr>
              <a:t>…</a:t>
            </a:r>
          </a:p>
        </p:txBody>
      </p:sp>
      <p:sp>
        <p:nvSpPr>
          <p:cNvPr id="84" name="Text Box 89"/>
          <p:cNvSpPr txBox="1">
            <a:spLocks noChangeArrowheads="1"/>
          </p:cNvSpPr>
          <p:nvPr/>
        </p:nvSpPr>
        <p:spPr bwMode="auto">
          <a:xfrm>
            <a:off x="7182729" y="3930561"/>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微软雅黑 Light" panose="020B0502040204020203" pitchFamily="34" charset="-122"/>
                <a:ea typeface="微软雅黑 Light" panose="020B0502040204020203" pitchFamily="34" charset="-122"/>
              </a:rPr>
              <a:t>…</a:t>
            </a:r>
          </a:p>
        </p:txBody>
      </p:sp>
      <p:sp>
        <p:nvSpPr>
          <p:cNvPr id="85" name="Text Box 90"/>
          <p:cNvSpPr txBox="1">
            <a:spLocks noChangeArrowheads="1"/>
          </p:cNvSpPr>
          <p:nvPr/>
        </p:nvSpPr>
        <p:spPr bwMode="auto">
          <a:xfrm>
            <a:off x="5971315" y="4110925"/>
            <a:ext cx="4334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200">
                <a:latin typeface="微软雅黑 Light" panose="020B0502040204020203" pitchFamily="34" charset="-122"/>
                <a:ea typeface="微软雅黑 Light" panose="020B0502040204020203" pitchFamily="34" charset="-122"/>
              </a:rPr>
              <a:t>…</a:t>
            </a:r>
          </a:p>
        </p:txBody>
      </p:sp>
      <p:pic>
        <p:nvPicPr>
          <p:cNvPr id="86"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448017" y="416860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7"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087198" y="416860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602772" y="416860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298612" y="416860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813436" y="416860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74002" y="416860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791464" y="3731987"/>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3"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900170" y="3731987"/>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4"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1265" y="3731987"/>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1595236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4F6054E-84BB-AF3D-24F8-51746016A50C}"/>
              </a:ext>
            </a:extLst>
          </p:cNvPr>
          <p:cNvSpPr>
            <a:spLocks noGrp="1"/>
          </p:cNvSpPr>
          <p:nvPr>
            <p:ph type="title"/>
          </p:nvPr>
        </p:nvSpPr>
        <p:spPr>
          <a:xfrm>
            <a:off x="486000" y="550723"/>
            <a:ext cx="8172000" cy="338554"/>
          </a:xfrm>
        </p:spPr>
        <p:txBody>
          <a:bodyPr/>
          <a:lstStyle/>
          <a:p>
            <a:r>
              <a:rPr lang="en-US" altLang="zh-CN" dirty="0"/>
              <a:t>IP </a:t>
            </a:r>
            <a:r>
              <a:rPr lang="zh-CN" altLang="en-US" dirty="0"/>
              <a:t>多播</a:t>
            </a:r>
          </a:p>
        </p:txBody>
      </p:sp>
      <p:sp>
        <p:nvSpPr>
          <p:cNvPr id="6" name="内容占位符 5">
            <a:extLst>
              <a:ext uri="{FF2B5EF4-FFF2-40B4-BE49-F238E27FC236}">
                <a16:creationId xmlns:a16="http://schemas.microsoft.com/office/drawing/2014/main" id="{F296C08B-7CDF-FECB-2BF7-3C001F0AD41E}"/>
              </a:ext>
            </a:extLst>
          </p:cNvPr>
          <p:cNvSpPr>
            <a:spLocks noGrp="1"/>
          </p:cNvSpPr>
          <p:nvPr>
            <p:ph sz="quarter" idx="11"/>
          </p:nvPr>
        </p:nvSpPr>
        <p:spPr>
          <a:xfrm>
            <a:off x="486000" y="900000"/>
            <a:ext cx="8172000" cy="3703500"/>
          </a:xfrm>
        </p:spPr>
        <p:txBody>
          <a:bodyPr/>
          <a:lstStyle/>
          <a:p>
            <a:r>
              <a:rPr lang="zh-CN" altLang="en-US" dirty="0"/>
              <a:t>在互联网上进行多播就叫做 </a:t>
            </a:r>
            <a:r>
              <a:rPr lang="en-US" altLang="zh-CN" dirty="0"/>
              <a:t>IP </a:t>
            </a:r>
            <a:r>
              <a:rPr lang="zh-CN" altLang="en-US" dirty="0"/>
              <a:t>多播</a:t>
            </a:r>
          </a:p>
          <a:p>
            <a:r>
              <a:rPr lang="zh-CN" altLang="en-US" dirty="0"/>
              <a:t>互联网范围的多播要靠路由器来实现</a:t>
            </a:r>
          </a:p>
          <a:p>
            <a:r>
              <a:rPr lang="zh-CN" altLang="en-US" dirty="0"/>
              <a:t>能够运行多播协议的路由器称为多播路由器 </a:t>
            </a:r>
            <a:r>
              <a:rPr lang="en-US" altLang="zh-CN" dirty="0"/>
              <a:t>multicast router</a:t>
            </a:r>
          </a:p>
          <a:p>
            <a:r>
              <a:rPr lang="zh-CN" altLang="en-US" dirty="0"/>
              <a:t>多播路由器也可以转发普通的单播 </a:t>
            </a:r>
            <a:r>
              <a:rPr lang="en-US" altLang="zh-CN" dirty="0"/>
              <a:t>IP </a:t>
            </a:r>
            <a:r>
              <a:rPr lang="zh-CN" altLang="en-US" dirty="0"/>
              <a:t>数据报</a:t>
            </a:r>
          </a:p>
          <a:p>
            <a:r>
              <a:rPr lang="zh-CN" altLang="en-US" dirty="0"/>
              <a:t>从 </a:t>
            </a:r>
            <a:r>
              <a:rPr lang="en-US" altLang="zh-CN" dirty="0"/>
              <a:t>1992 </a:t>
            </a:r>
            <a:r>
              <a:rPr lang="zh-CN" altLang="en-US" dirty="0"/>
              <a:t>年起，在互联网上开始试验虚拟的多播主干网 </a:t>
            </a:r>
            <a:r>
              <a:rPr lang="en-US" altLang="zh-CN" dirty="0"/>
              <a:t>MBONE (Multicast Backbone On the </a:t>
            </a:r>
            <a:r>
              <a:rPr lang="en-US" altLang="zh-CN" dirty="0" err="1"/>
              <a:t>InterNEt</a:t>
            </a:r>
            <a:r>
              <a:rPr lang="en-US" altLang="zh-CN" dirty="0"/>
              <a:t>)</a:t>
            </a:r>
          </a:p>
          <a:p>
            <a:endParaRPr lang="zh-CN" altLang="en-US" dirty="0"/>
          </a:p>
        </p:txBody>
      </p:sp>
    </p:spTree>
    <p:extLst>
      <p:ext uri="{BB962C8B-B14F-4D97-AF65-F5344CB8AC3E}">
        <p14:creationId xmlns:p14="http://schemas.microsoft.com/office/powerpoint/2010/main" val="19743701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9D60CC8-3A68-4122-A8AB-609C10977924}"/>
              </a:ext>
            </a:extLst>
          </p:cNvPr>
          <p:cNvSpPr>
            <a:spLocks noGrp="1"/>
          </p:cNvSpPr>
          <p:nvPr>
            <p:ph type="title"/>
          </p:nvPr>
        </p:nvSpPr>
        <p:spPr>
          <a:xfrm>
            <a:off x="486000" y="550723"/>
            <a:ext cx="8172000" cy="338554"/>
          </a:xfrm>
        </p:spPr>
        <p:txBody>
          <a:bodyPr/>
          <a:lstStyle/>
          <a:p>
            <a:r>
              <a:rPr lang="zh-CN" altLang="en-US" dirty="0"/>
              <a:t>多播 </a:t>
            </a:r>
            <a:r>
              <a:rPr lang="en-US" altLang="zh-CN" dirty="0"/>
              <a:t>IP </a:t>
            </a:r>
            <a:r>
              <a:rPr lang="zh-CN" altLang="en-US" dirty="0"/>
              <a:t>地址</a:t>
            </a:r>
          </a:p>
        </p:txBody>
      </p:sp>
      <p:sp>
        <p:nvSpPr>
          <p:cNvPr id="7" name="内容占位符 6">
            <a:extLst>
              <a:ext uri="{FF2B5EF4-FFF2-40B4-BE49-F238E27FC236}">
                <a16:creationId xmlns:a16="http://schemas.microsoft.com/office/drawing/2014/main" id="{3D094BF5-1A12-36F5-C82E-F8F264250075}"/>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IP </a:t>
            </a:r>
            <a:r>
              <a:rPr lang="zh-CN" altLang="en-US" dirty="0"/>
              <a:t>多播数据报的目的地址需要写入多播组的标识符</a:t>
            </a:r>
          </a:p>
          <a:p>
            <a:r>
              <a:rPr lang="zh-CN" altLang="en-US" dirty="0"/>
              <a:t>多播组的标识符就是 </a:t>
            </a:r>
            <a:r>
              <a:rPr lang="en-US" altLang="zh-CN" dirty="0"/>
              <a:t>IP </a:t>
            </a:r>
            <a:r>
              <a:rPr lang="zh-CN" altLang="en-US" dirty="0"/>
              <a:t>地址中的 </a:t>
            </a:r>
            <a:r>
              <a:rPr lang="en-US" altLang="zh-CN" dirty="0"/>
              <a:t>D </a:t>
            </a:r>
            <a:r>
              <a:rPr lang="zh-CN" altLang="en-US" dirty="0"/>
              <a:t>类地址（多播地址）</a:t>
            </a:r>
            <a:endParaRPr lang="en-US" altLang="zh-CN" dirty="0"/>
          </a:p>
          <a:p>
            <a:r>
              <a:rPr lang="zh-CN" altLang="en-US" dirty="0"/>
              <a:t>地址范围：</a:t>
            </a:r>
            <a:r>
              <a:rPr lang="en-US" altLang="zh-CN" dirty="0"/>
              <a:t>224.0.0.0 ~</a:t>
            </a:r>
            <a:r>
              <a:rPr lang="zh-CN" altLang="en-US" dirty="0"/>
              <a:t> </a:t>
            </a:r>
            <a:r>
              <a:rPr lang="en-US" altLang="zh-CN" dirty="0"/>
              <a:t>239.255.255.255</a:t>
            </a:r>
            <a:endParaRPr lang="zh-CN" altLang="en-US" dirty="0"/>
          </a:p>
          <a:p>
            <a:r>
              <a:rPr lang="zh-CN" altLang="en-US" dirty="0"/>
              <a:t>每一个 </a:t>
            </a:r>
            <a:r>
              <a:rPr lang="en-US" altLang="zh-CN" dirty="0"/>
              <a:t>D </a:t>
            </a:r>
            <a:r>
              <a:rPr lang="zh-CN" altLang="en-US" dirty="0"/>
              <a:t>类地址标志一个多播组</a:t>
            </a:r>
            <a:endParaRPr lang="en-US" altLang="zh-CN" dirty="0"/>
          </a:p>
          <a:p>
            <a:r>
              <a:rPr lang="zh-CN" altLang="en-US" dirty="0"/>
              <a:t>多播地址只能用于目的地址，不能用于源地址</a:t>
            </a:r>
          </a:p>
          <a:p>
            <a:endParaRPr lang="zh-CN" altLang="en-US" dirty="0"/>
          </a:p>
          <a:p>
            <a:endParaRPr lang="zh-CN" altLang="en-US" dirty="0"/>
          </a:p>
        </p:txBody>
      </p:sp>
    </p:spTree>
    <p:extLst>
      <p:ext uri="{BB962C8B-B14F-4D97-AF65-F5344CB8AC3E}">
        <p14:creationId xmlns:p14="http://schemas.microsoft.com/office/powerpoint/2010/main" val="37139014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ECCA241-671C-930D-3EC4-2416730040C6}"/>
              </a:ext>
            </a:extLst>
          </p:cNvPr>
          <p:cNvSpPr>
            <a:spLocks noGrp="1"/>
          </p:cNvSpPr>
          <p:nvPr>
            <p:ph type="title"/>
          </p:nvPr>
        </p:nvSpPr>
        <p:spPr>
          <a:xfrm>
            <a:off x="486000" y="550723"/>
            <a:ext cx="8172000" cy="338554"/>
          </a:xfrm>
        </p:spPr>
        <p:txBody>
          <a:bodyPr/>
          <a:lstStyle/>
          <a:p>
            <a:r>
              <a:rPr lang="zh-CN" altLang="en-US" dirty="0"/>
              <a:t>多播数据报</a:t>
            </a:r>
          </a:p>
        </p:txBody>
      </p:sp>
      <p:sp>
        <p:nvSpPr>
          <p:cNvPr id="6" name="内容占位符 5">
            <a:extLst>
              <a:ext uri="{FF2B5EF4-FFF2-40B4-BE49-F238E27FC236}">
                <a16:creationId xmlns:a16="http://schemas.microsoft.com/office/drawing/2014/main" id="{A4AEB114-7469-7CCE-E4C9-8CFF2E22D44E}"/>
              </a:ext>
            </a:extLst>
          </p:cNvPr>
          <p:cNvSpPr>
            <a:spLocks noGrp="1"/>
          </p:cNvSpPr>
          <p:nvPr>
            <p:ph sz="quarter" idx="11"/>
          </p:nvPr>
        </p:nvSpPr>
        <p:spPr>
          <a:xfrm>
            <a:off x="486000" y="900000"/>
            <a:ext cx="8172000" cy="3703500"/>
          </a:xfrm>
        </p:spPr>
        <p:txBody>
          <a:bodyPr/>
          <a:lstStyle/>
          <a:p>
            <a:r>
              <a:rPr lang="zh-CN" altLang="en-US" dirty="0"/>
              <a:t>多播数据报和一般的 </a:t>
            </a:r>
            <a:r>
              <a:rPr lang="en-US" altLang="zh-CN" dirty="0"/>
              <a:t>IP </a:t>
            </a:r>
            <a:r>
              <a:rPr lang="zh-CN" altLang="en-US" dirty="0"/>
              <a:t>数据报的区别</a:t>
            </a:r>
            <a:endParaRPr lang="en-US" altLang="zh-CN" dirty="0"/>
          </a:p>
          <a:p>
            <a:pPr lvl="1"/>
            <a:r>
              <a:rPr lang="zh-CN" altLang="en-US" dirty="0"/>
              <a:t>目的地址：使用 </a:t>
            </a:r>
            <a:r>
              <a:rPr lang="en-US" altLang="zh-CN" dirty="0"/>
              <a:t>D </a:t>
            </a:r>
            <a:r>
              <a:rPr lang="zh-CN" altLang="en-US" dirty="0"/>
              <a:t>类 </a:t>
            </a:r>
            <a:r>
              <a:rPr lang="en-US" altLang="zh-CN" dirty="0"/>
              <a:t>IP </a:t>
            </a:r>
            <a:r>
              <a:rPr lang="zh-CN" altLang="en-US" dirty="0"/>
              <a:t>地址</a:t>
            </a:r>
            <a:endParaRPr lang="en-US" altLang="zh-CN" dirty="0"/>
          </a:p>
          <a:p>
            <a:pPr lvl="1"/>
            <a:r>
              <a:rPr lang="zh-CN" altLang="en-US" dirty="0"/>
              <a:t>协议字段 </a:t>
            </a:r>
            <a:r>
              <a:rPr lang="en-US" altLang="zh-CN" dirty="0"/>
              <a:t>= 2</a:t>
            </a:r>
            <a:r>
              <a:rPr lang="zh-CN" altLang="en-US" dirty="0"/>
              <a:t>，表明使用网际组管理协议 </a:t>
            </a:r>
            <a:r>
              <a:rPr lang="en-US" altLang="zh-CN" dirty="0"/>
              <a:t>IGMP</a:t>
            </a:r>
            <a:endParaRPr lang="zh-CN" altLang="en-US" dirty="0"/>
          </a:p>
          <a:p>
            <a:r>
              <a:rPr lang="zh-CN" altLang="en-US" dirty="0"/>
              <a:t>尽最大努力交付，不保证一定能够交付多播组内的所有成员</a:t>
            </a:r>
          </a:p>
          <a:p>
            <a:r>
              <a:rPr lang="zh-CN" altLang="en-US" dirty="0"/>
              <a:t>多播数据报不产生 </a:t>
            </a:r>
            <a:r>
              <a:rPr lang="en-US" altLang="zh-CN" dirty="0"/>
              <a:t>ICMP </a:t>
            </a:r>
            <a:r>
              <a:rPr lang="zh-CN" altLang="en-US" dirty="0"/>
              <a:t>差错报文</a:t>
            </a:r>
            <a:endParaRPr lang="en-US" altLang="zh-CN" dirty="0"/>
          </a:p>
          <a:p>
            <a:pPr lvl="1"/>
            <a:r>
              <a:rPr lang="zh-CN" altLang="en-US" dirty="0"/>
              <a:t>在 </a:t>
            </a:r>
            <a:r>
              <a:rPr lang="en-US" altLang="zh-CN" dirty="0"/>
              <a:t>PING </a:t>
            </a:r>
            <a:r>
              <a:rPr lang="zh-CN" altLang="en-US" dirty="0"/>
              <a:t>命令后面键入多播地址，将永远不会收到响应</a:t>
            </a:r>
          </a:p>
          <a:p>
            <a:endParaRPr lang="zh-CN" altLang="en-US" dirty="0"/>
          </a:p>
        </p:txBody>
      </p:sp>
    </p:spTree>
    <p:extLst>
      <p:ext uri="{BB962C8B-B14F-4D97-AF65-F5344CB8AC3E}">
        <p14:creationId xmlns:p14="http://schemas.microsoft.com/office/powerpoint/2010/main" val="2816007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8F71A49-89C1-306E-1D85-E2E1104BC747}"/>
              </a:ext>
            </a:extLst>
          </p:cNvPr>
          <p:cNvSpPr>
            <a:spLocks noGrp="1"/>
          </p:cNvSpPr>
          <p:nvPr>
            <p:ph type="title"/>
          </p:nvPr>
        </p:nvSpPr>
        <p:spPr>
          <a:xfrm>
            <a:off x="486000" y="550723"/>
            <a:ext cx="8172000" cy="338554"/>
          </a:xfrm>
        </p:spPr>
        <p:txBody>
          <a:bodyPr/>
          <a:lstStyle/>
          <a:p>
            <a:r>
              <a:rPr lang="en-US" altLang="zh-CN" dirty="0"/>
              <a:t>4.7.2  </a:t>
            </a:r>
            <a:r>
              <a:rPr lang="zh-CN" altLang="en-US" dirty="0"/>
              <a:t>在局域网上进行硬件多播</a:t>
            </a:r>
          </a:p>
        </p:txBody>
      </p:sp>
      <p:sp>
        <p:nvSpPr>
          <p:cNvPr id="6" name="内容占位符 5">
            <a:extLst>
              <a:ext uri="{FF2B5EF4-FFF2-40B4-BE49-F238E27FC236}">
                <a16:creationId xmlns:a16="http://schemas.microsoft.com/office/drawing/2014/main" id="{DD6E017F-00A9-DEDD-A45D-6049DF29641C}"/>
              </a:ext>
            </a:extLst>
          </p:cNvPr>
          <p:cNvSpPr>
            <a:spLocks noGrp="1"/>
          </p:cNvSpPr>
          <p:nvPr>
            <p:ph sz="quarter" idx="11"/>
          </p:nvPr>
        </p:nvSpPr>
        <p:spPr>
          <a:xfrm>
            <a:off x="486000" y="900000"/>
            <a:ext cx="8172000" cy="3703500"/>
          </a:xfrm>
        </p:spPr>
        <p:txBody>
          <a:bodyPr/>
          <a:lstStyle/>
          <a:p>
            <a:r>
              <a:rPr lang="en-US" altLang="zh-CN" dirty="0"/>
              <a:t>IANA </a:t>
            </a:r>
            <a:r>
              <a:rPr lang="zh-CN" altLang="en-US" dirty="0"/>
              <a:t>拥有的以太网地址块的高 </a:t>
            </a:r>
            <a:r>
              <a:rPr lang="en-US" altLang="zh-CN" dirty="0"/>
              <a:t>24 </a:t>
            </a:r>
            <a:r>
              <a:rPr lang="zh-CN" altLang="en-US" dirty="0"/>
              <a:t>位为 </a:t>
            </a:r>
            <a:r>
              <a:rPr lang="en-US" altLang="zh-CN" dirty="0"/>
              <a:t>00-00-5E</a:t>
            </a:r>
            <a:endParaRPr lang="zh-CN" altLang="en-US" dirty="0"/>
          </a:p>
          <a:p>
            <a:r>
              <a:rPr lang="en-US" altLang="zh-CN" dirty="0"/>
              <a:t>TCP/IP </a:t>
            </a:r>
            <a:r>
              <a:rPr lang="zh-CN" altLang="en-US" dirty="0"/>
              <a:t>协议使用的以太网地址块的范围是：</a:t>
            </a:r>
            <a:r>
              <a:rPr lang="en-US" altLang="zh-CN" dirty="0"/>
              <a:t>00-00-5E-00-00-00 </a:t>
            </a:r>
            <a:r>
              <a:rPr lang="zh-CN" altLang="en-US" dirty="0"/>
              <a:t>到 </a:t>
            </a:r>
            <a:r>
              <a:rPr lang="en-US" altLang="zh-CN" dirty="0"/>
              <a:t>00-00-5E-FF-FF-FF </a:t>
            </a:r>
          </a:p>
          <a:p>
            <a:r>
              <a:rPr lang="en-US" altLang="zh-CN" dirty="0"/>
              <a:t>IANA </a:t>
            </a:r>
            <a:r>
              <a:rPr lang="zh-CN" altLang="en-US" dirty="0"/>
              <a:t>只拿出 </a:t>
            </a:r>
            <a:r>
              <a:rPr lang="en-US" altLang="zh-CN" dirty="0"/>
              <a:t>01-00-5E-00-00-00 </a:t>
            </a:r>
            <a:r>
              <a:rPr lang="zh-CN" altLang="en-US" dirty="0"/>
              <a:t>到 </a:t>
            </a:r>
            <a:r>
              <a:rPr lang="en-US" altLang="zh-CN" dirty="0"/>
              <a:t>01-00-5E-7F-FF-FF </a:t>
            </a:r>
            <a:r>
              <a:rPr lang="zh-CN" altLang="en-US" dirty="0"/>
              <a:t>（</a:t>
            </a:r>
            <a:r>
              <a:rPr lang="en-US" altLang="zh-CN" dirty="0"/>
              <a:t>223 </a:t>
            </a:r>
            <a:r>
              <a:rPr lang="zh-CN" altLang="en-US" dirty="0"/>
              <a:t>个地址）作为以太网多播地址</a:t>
            </a:r>
            <a:endParaRPr lang="en-US" altLang="zh-CN" dirty="0"/>
          </a:p>
          <a:p>
            <a:r>
              <a:rPr lang="zh-CN" altLang="en-US" dirty="0"/>
              <a:t>在 </a:t>
            </a:r>
            <a:r>
              <a:rPr lang="en-US" altLang="zh-CN" dirty="0"/>
              <a:t>48 </a:t>
            </a:r>
            <a:r>
              <a:rPr lang="zh-CN" altLang="en-US" dirty="0"/>
              <a:t>位的多播地址中，前 </a:t>
            </a:r>
            <a:r>
              <a:rPr lang="en-US" altLang="zh-CN" dirty="0"/>
              <a:t>25 </a:t>
            </a:r>
            <a:r>
              <a:rPr lang="zh-CN" altLang="en-US" dirty="0"/>
              <a:t>位都固定不变，只有后 </a:t>
            </a:r>
            <a:r>
              <a:rPr lang="en-US" altLang="zh-CN" dirty="0"/>
              <a:t>23 </a:t>
            </a:r>
            <a:r>
              <a:rPr lang="zh-CN" altLang="en-US" dirty="0"/>
              <a:t>位可用作多播</a:t>
            </a:r>
            <a:endParaRPr lang="en-US" altLang="zh-CN" dirty="0"/>
          </a:p>
          <a:p>
            <a:endParaRPr lang="zh-CN" altLang="en-US" dirty="0"/>
          </a:p>
        </p:txBody>
      </p:sp>
    </p:spTree>
    <p:extLst>
      <p:ext uri="{BB962C8B-B14F-4D97-AF65-F5344CB8AC3E}">
        <p14:creationId xmlns:p14="http://schemas.microsoft.com/office/powerpoint/2010/main" val="4214380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3"/>
          <p:cNvSpPr>
            <a:spLocks noChangeArrowheads="1"/>
          </p:cNvSpPr>
          <p:nvPr/>
        </p:nvSpPr>
        <p:spPr bwMode="auto">
          <a:xfrm>
            <a:off x="1290377" y="3462336"/>
            <a:ext cx="6220183" cy="380826"/>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 name="Line 4"/>
          <p:cNvSpPr>
            <a:spLocks noChangeShapeType="1"/>
          </p:cNvSpPr>
          <p:nvPr/>
        </p:nvSpPr>
        <p:spPr bwMode="auto">
          <a:xfrm>
            <a:off x="141996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 name="Line 5"/>
          <p:cNvSpPr>
            <a:spLocks noChangeShapeType="1"/>
          </p:cNvSpPr>
          <p:nvPr/>
        </p:nvSpPr>
        <p:spPr bwMode="auto">
          <a:xfrm>
            <a:off x="154955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 name="Line 6"/>
          <p:cNvSpPr>
            <a:spLocks noChangeShapeType="1"/>
          </p:cNvSpPr>
          <p:nvPr/>
        </p:nvSpPr>
        <p:spPr bwMode="auto">
          <a:xfrm>
            <a:off x="1679138"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 name="Line 7"/>
          <p:cNvSpPr>
            <a:spLocks noChangeShapeType="1"/>
          </p:cNvSpPr>
          <p:nvPr/>
        </p:nvSpPr>
        <p:spPr bwMode="auto">
          <a:xfrm>
            <a:off x="180872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1" name="Line 8"/>
          <p:cNvSpPr>
            <a:spLocks noChangeShapeType="1"/>
          </p:cNvSpPr>
          <p:nvPr/>
        </p:nvSpPr>
        <p:spPr bwMode="auto">
          <a:xfrm>
            <a:off x="193831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 name="Line 9"/>
          <p:cNvSpPr>
            <a:spLocks noChangeShapeType="1"/>
          </p:cNvSpPr>
          <p:nvPr/>
        </p:nvSpPr>
        <p:spPr bwMode="auto">
          <a:xfrm>
            <a:off x="206790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 name="Line 10"/>
          <p:cNvSpPr>
            <a:spLocks noChangeShapeType="1"/>
          </p:cNvSpPr>
          <p:nvPr/>
        </p:nvSpPr>
        <p:spPr bwMode="auto">
          <a:xfrm>
            <a:off x="219748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 name="Line 11"/>
          <p:cNvSpPr>
            <a:spLocks noChangeShapeType="1"/>
          </p:cNvSpPr>
          <p:nvPr/>
        </p:nvSpPr>
        <p:spPr bwMode="auto">
          <a:xfrm>
            <a:off x="232707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5" name="Line 12"/>
          <p:cNvSpPr>
            <a:spLocks noChangeShapeType="1"/>
          </p:cNvSpPr>
          <p:nvPr/>
        </p:nvSpPr>
        <p:spPr bwMode="auto">
          <a:xfrm>
            <a:off x="245666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6" name="Line 13"/>
          <p:cNvSpPr>
            <a:spLocks noChangeShapeType="1"/>
          </p:cNvSpPr>
          <p:nvPr/>
        </p:nvSpPr>
        <p:spPr bwMode="auto">
          <a:xfrm>
            <a:off x="258624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7" name="Line 14"/>
          <p:cNvSpPr>
            <a:spLocks noChangeShapeType="1"/>
          </p:cNvSpPr>
          <p:nvPr/>
        </p:nvSpPr>
        <p:spPr bwMode="auto">
          <a:xfrm>
            <a:off x="271583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8" name="Line 15"/>
          <p:cNvSpPr>
            <a:spLocks noChangeShapeType="1"/>
          </p:cNvSpPr>
          <p:nvPr/>
        </p:nvSpPr>
        <p:spPr bwMode="auto">
          <a:xfrm>
            <a:off x="284542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9" name="Line 16"/>
          <p:cNvSpPr>
            <a:spLocks noChangeShapeType="1"/>
          </p:cNvSpPr>
          <p:nvPr/>
        </p:nvSpPr>
        <p:spPr bwMode="auto">
          <a:xfrm>
            <a:off x="297501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0" name="Line 17"/>
          <p:cNvSpPr>
            <a:spLocks noChangeShapeType="1"/>
          </p:cNvSpPr>
          <p:nvPr/>
        </p:nvSpPr>
        <p:spPr bwMode="auto">
          <a:xfrm>
            <a:off x="310459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1" name="Line 18"/>
          <p:cNvSpPr>
            <a:spLocks noChangeShapeType="1"/>
          </p:cNvSpPr>
          <p:nvPr/>
        </p:nvSpPr>
        <p:spPr bwMode="auto">
          <a:xfrm>
            <a:off x="323418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2" name="Line 19"/>
          <p:cNvSpPr>
            <a:spLocks noChangeShapeType="1"/>
          </p:cNvSpPr>
          <p:nvPr/>
        </p:nvSpPr>
        <p:spPr bwMode="auto">
          <a:xfrm>
            <a:off x="336377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3" name="Line 20"/>
          <p:cNvSpPr>
            <a:spLocks noChangeShapeType="1"/>
          </p:cNvSpPr>
          <p:nvPr/>
        </p:nvSpPr>
        <p:spPr bwMode="auto">
          <a:xfrm>
            <a:off x="349335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4" name="Line 21"/>
          <p:cNvSpPr>
            <a:spLocks noChangeShapeType="1"/>
          </p:cNvSpPr>
          <p:nvPr/>
        </p:nvSpPr>
        <p:spPr bwMode="auto">
          <a:xfrm>
            <a:off x="362294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5" name="Line 22"/>
          <p:cNvSpPr>
            <a:spLocks noChangeShapeType="1"/>
          </p:cNvSpPr>
          <p:nvPr/>
        </p:nvSpPr>
        <p:spPr bwMode="auto">
          <a:xfrm>
            <a:off x="375253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6" name="Line 23"/>
          <p:cNvSpPr>
            <a:spLocks noChangeShapeType="1"/>
          </p:cNvSpPr>
          <p:nvPr/>
        </p:nvSpPr>
        <p:spPr bwMode="auto">
          <a:xfrm>
            <a:off x="388212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7" name="Line 24"/>
          <p:cNvSpPr>
            <a:spLocks noChangeShapeType="1"/>
          </p:cNvSpPr>
          <p:nvPr/>
        </p:nvSpPr>
        <p:spPr bwMode="auto">
          <a:xfrm>
            <a:off x="401170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8" name="Line 25"/>
          <p:cNvSpPr>
            <a:spLocks noChangeShapeType="1"/>
          </p:cNvSpPr>
          <p:nvPr/>
        </p:nvSpPr>
        <p:spPr bwMode="auto">
          <a:xfrm>
            <a:off x="414129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9" name="Line 26"/>
          <p:cNvSpPr>
            <a:spLocks noChangeShapeType="1"/>
          </p:cNvSpPr>
          <p:nvPr/>
        </p:nvSpPr>
        <p:spPr bwMode="auto">
          <a:xfrm>
            <a:off x="427088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0" name="Line 27"/>
          <p:cNvSpPr>
            <a:spLocks noChangeShapeType="1"/>
          </p:cNvSpPr>
          <p:nvPr/>
        </p:nvSpPr>
        <p:spPr bwMode="auto">
          <a:xfrm>
            <a:off x="440046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1" name="Rectangle 28"/>
          <p:cNvSpPr>
            <a:spLocks noChangeArrowheads="1"/>
          </p:cNvSpPr>
          <p:nvPr/>
        </p:nvSpPr>
        <p:spPr bwMode="auto">
          <a:xfrm>
            <a:off x="4535345" y="3480848"/>
            <a:ext cx="2968604" cy="354380"/>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32" name="Line 29"/>
          <p:cNvSpPr>
            <a:spLocks noChangeShapeType="1"/>
          </p:cNvSpPr>
          <p:nvPr/>
        </p:nvSpPr>
        <p:spPr bwMode="auto">
          <a:xfrm>
            <a:off x="4530056" y="3462336"/>
            <a:ext cx="0" cy="380826"/>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3" name="Line 30"/>
          <p:cNvSpPr>
            <a:spLocks noChangeShapeType="1"/>
          </p:cNvSpPr>
          <p:nvPr/>
        </p:nvSpPr>
        <p:spPr bwMode="auto">
          <a:xfrm>
            <a:off x="465964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4" name="Line 31"/>
          <p:cNvSpPr>
            <a:spLocks noChangeShapeType="1"/>
          </p:cNvSpPr>
          <p:nvPr/>
        </p:nvSpPr>
        <p:spPr bwMode="auto">
          <a:xfrm>
            <a:off x="478923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5" name="Line 32"/>
          <p:cNvSpPr>
            <a:spLocks noChangeShapeType="1"/>
          </p:cNvSpPr>
          <p:nvPr/>
        </p:nvSpPr>
        <p:spPr bwMode="auto">
          <a:xfrm>
            <a:off x="491881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6" name="Line 33"/>
          <p:cNvSpPr>
            <a:spLocks noChangeShapeType="1"/>
          </p:cNvSpPr>
          <p:nvPr/>
        </p:nvSpPr>
        <p:spPr bwMode="auto">
          <a:xfrm>
            <a:off x="504840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7" name="Line 34"/>
          <p:cNvSpPr>
            <a:spLocks noChangeShapeType="1"/>
          </p:cNvSpPr>
          <p:nvPr/>
        </p:nvSpPr>
        <p:spPr bwMode="auto">
          <a:xfrm>
            <a:off x="517799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8" name="Line 35"/>
          <p:cNvSpPr>
            <a:spLocks noChangeShapeType="1"/>
          </p:cNvSpPr>
          <p:nvPr/>
        </p:nvSpPr>
        <p:spPr bwMode="auto">
          <a:xfrm>
            <a:off x="530757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9" name="Line 36"/>
          <p:cNvSpPr>
            <a:spLocks noChangeShapeType="1"/>
          </p:cNvSpPr>
          <p:nvPr/>
        </p:nvSpPr>
        <p:spPr bwMode="auto">
          <a:xfrm>
            <a:off x="543716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0" name="Line 37"/>
          <p:cNvSpPr>
            <a:spLocks noChangeShapeType="1"/>
          </p:cNvSpPr>
          <p:nvPr/>
        </p:nvSpPr>
        <p:spPr bwMode="auto">
          <a:xfrm>
            <a:off x="556675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1" name="Line 38"/>
          <p:cNvSpPr>
            <a:spLocks noChangeShapeType="1"/>
          </p:cNvSpPr>
          <p:nvPr/>
        </p:nvSpPr>
        <p:spPr bwMode="auto">
          <a:xfrm>
            <a:off x="569634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2" name="Line 39"/>
          <p:cNvSpPr>
            <a:spLocks noChangeShapeType="1"/>
          </p:cNvSpPr>
          <p:nvPr/>
        </p:nvSpPr>
        <p:spPr bwMode="auto">
          <a:xfrm>
            <a:off x="582592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3" name="Line 40"/>
          <p:cNvSpPr>
            <a:spLocks noChangeShapeType="1"/>
          </p:cNvSpPr>
          <p:nvPr/>
        </p:nvSpPr>
        <p:spPr bwMode="auto">
          <a:xfrm>
            <a:off x="595551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4" name="Line 41"/>
          <p:cNvSpPr>
            <a:spLocks noChangeShapeType="1"/>
          </p:cNvSpPr>
          <p:nvPr/>
        </p:nvSpPr>
        <p:spPr bwMode="auto">
          <a:xfrm>
            <a:off x="608510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5" name="Line 42"/>
          <p:cNvSpPr>
            <a:spLocks noChangeShapeType="1"/>
          </p:cNvSpPr>
          <p:nvPr/>
        </p:nvSpPr>
        <p:spPr bwMode="auto">
          <a:xfrm>
            <a:off x="621468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6" name="Line 43"/>
          <p:cNvSpPr>
            <a:spLocks noChangeShapeType="1"/>
          </p:cNvSpPr>
          <p:nvPr/>
        </p:nvSpPr>
        <p:spPr bwMode="auto">
          <a:xfrm>
            <a:off x="634427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7" name="Line 44"/>
          <p:cNvSpPr>
            <a:spLocks noChangeShapeType="1"/>
          </p:cNvSpPr>
          <p:nvPr/>
        </p:nvSpPr>
        <p:spPr bwMode="auto">
          <a:xfrm>
            <a:off x="647386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8" name="Line 45"/>
          <p:cNvSpPr>
            <a:spLocks noChangeShapeType="1"/>
          </p:cNvSpPr>
          <p:nvPr/>
        </p:nvSpPr>
        <p:spPr bwMode="auto">
          <a:xfrm>
            <a:off x="660345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9" name="Line 46"/>
          <p:cNvSpPr>
            <a:spLocks noChangeShapeType="1"/>
          </p:cNvSpPr>
          <p:nvPr/>
        </p:nvSpPr>
        <p:spPr bwMode="auto">
          <a:xfrm>
            <a:off x="673303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0" name="Line 47"/>
          <p:cNvSpPr>
            <a:spLocks noChangeShapeType="1"/>
          </p:cNvSpPr>
          <p:nvPr/>
        </p:nvSpPr>
        <p:spPr bwMode="auto">
          <a:xfrm>
            <a:off x="6862625"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1" name="Line 48"/>
          <p:cNvSpPr>
            <a:spLocks noChangeShapeType="1"/>
          </p:cNvSpPr>
          <p:nvPr/>
        </p:nvSpPr>
        <p:spPr bwMode="auto">
          <a:xfrm>
            <a:off x="699221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2" name="Line 49"/>
          <p:cNvSpPr>
            <a:spLocks noChangeShapeType="1"/>
          </p:cNvSpPr>
          <p:nvPr/>
        </p:nvSpPr>
        <p:spPr bwMode="auto">
          <a:xfrm>
            <a:off x="712179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3" name="Line 50"/>
          <p:cNvSpPr>
            <a:spLocks noChangeShapeType="1"/>
          </p:cNvSpPr>
          <p:nvPr/>
        </p:nvSpPr>
        <p:spPr bwMode="auto">
          <a:xfrm>
            <a:off x="725138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4" name="Line 51"/>
          <p:cNvSpPr>
            <a:spLocks noChangeShapeType="1"/>
          </p:cNvSpPr>
          <p:nvPr/>
        </p:nvSpPr>
        <p:spPr bwMode="auto">
          <a:xfrm>
            <a:off x="738097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5" name="Rectangle 52"/>
          <p:cNvSpPr>
            <a:spLocks noChangeArrowheads="1"/>
          </p:cNvSpPr>
          <p:nvPr/>
        </p:nvSpPr>
        <p:spPr bwMode="auto">
          <a:xfrm>
            <a:off x="1355171"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6" name="Rectangle 53"/>
          <p:cNvSpPr>
            <a:spLocks noChangeArrowheads="1"/>
          </p:cNvSpPr>
          <p:nvPr/>
        </p:nvSpPr>
        <p:spPr bwMode="auto">
          <a:xfrm>
            <a:off x="1873520"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7" name="Rectangle 54"/>
          <p:cNvSpPr>
            <a:spLocks noChangeArrowheads="1"/>
          </p:cNvSpPr>
          <p:nvPr/>
        </p:nvSpPr>
        <p:spPr bwMode="auto">
          <a:xfrm>
            <a:off x="2391868"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8" name="Rectangle 55"/>
          <p:cNvSpPr>
            <a:spLocks noChangeArrowheads="1"/>
          </p:cNvSpPr>
          <p:nvPr/>
        </p:nvSpPr>
        <p:spPr bwMode="auto">
          <a:xfrm>
            <a:off x="2910217"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9" name="Rectangle 56"/>
          <p:cNvSpPr>
            <a:spLocks noChangeArrowheads="1"/>
          </p:cNvSpPr>
          <p:nvPr/>
        </p:nvSpPr>
        <p:spPr bwMode="auto">
          <a:xfrm>
            <a:off x="3428565"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0" name="Rectangle 57"/>
          <p:cNvSpPr>
            <a:spLocks noChangeArrowheads="1"/>
          </p:cNvSpPr>
          <p:nvPr/>
        </p:nvSpPr>
        <p:spPr bwMode="auto">
          <a:xfrm>
            <a:off x="3946914"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1" name="Rectangle 58"/>
          <p:cNvSpPr>
            <a:spLocks noChangeArrowheads="1"/>
          </p:cNvSpPr>
          <p:nvPr/>
        </p:nvSpPr>
        <p:spPr bwMode="auto">
          <a:xfrm>
            <a:off x="4536668" y="3525807"/>
            <a:ext cx="317356"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2" name="Rectangle 59"/>
          <p:cNvSpPr>
            <a:spLocks noChangeArrowheads="1"/>
          </p:cNvSpPr>
          <p:nvPr/>
        </p:nvSpPr>
        <p:spPr bwMode="auto">
          <a:xfrm>
            <a:off x="4983611"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3" name="Rectangle 60"/>
          <p:cNvSpPr>
            <a:spLocks noChangeArrowheads="1"/>
          </p:cNvSpPr>
          <p:nvPr/>
        </p:nvSpPr>
        <p:spPr bwMode="auto">
          <a:xfrm>
            <a:off x="5501960"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4" name="Rectangle 61"/>
          <p:cNvSpPr>
            <a:spLocks noChangeArrowheads="1"/>
          </p:cNvSpPr>
          <p:nvPr/>
        </p:nvSpPr>
        <p:spPr bwMode="auto">
          <a:xfrm>
            <a:off x="6020308"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5" name="Rectangle 62"/>
          <p:cNvSpPr>
            <a:spLocks noChangeArrowheads="1"/>
          </p:cNvSpPr>
          <p:nvPr/>
        </p:nvSpPr>
        <p:spPr bwMode="auto">
          <a:xfrm>
            <a:off x="6538657"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6" name="Rectangle 63"/>
          <p:cNvSpPr>
            <a:spLocks noChangeArrowheads="1"/>
          </p:cNvSpPr>
          <p:nvPr/>
        </p:nvSpPr>
        <p:spPr bwMode="auto">
          <a:xfrm>
            <a:off x="7057006"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7" name="Rectangle 64"/>
          <p:cNvSpPr>
            <a:spLocks noChangeArrowheads="1"/>
          </p:cNvSpPr>
          <p:nvPr/>
        </p:nvSpPr>
        <p:spPr bwMode="auto">
          <a:xfrm>
            <a:off x="1743932"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8" name="Rectangle 65"/>
          <p:cNvSpPr>
            <a:spLocks noChangeArrowheads="1"/>
          </p:cNvSpPr>
          <p:nvPr/>
        </p:nvSpPr>
        <p:spPr bwMode="auto">
          <a:xfrm>
            <a:off x="2780630"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9" name="Rectangle 66"/>
          <p:cNvSpPr>
            <a:spLocks noChangeArrowheads="1"/>
          </p:cNvSpPr>
          <p:nvPr/>
        </p:nvSpPr>
        <p:spPr bwMode="auto">
          <a:xfrm>
            <a:off x="3827905"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0" name="Rectangle 67"/>
          <p:cNvSpPr>
            <a:spLocks noChangeArrowheads="1"/>
          </p:cNvSpPr>
          <p:nvPr/>
        </p:nvSpPr>
        <p:spPr bwMode="auto">
          <a:xfrm>
            <a:off x="484344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1" name="Rectangle 68"/>
          <p:cNvSpPr>
            <a:spLocks noChangeArrowheads="1"/>
          </p:cNvSpPr>
          <p:nvPr/>
        </p:nvSpPr>
        <p:spPr bwMode="auto">
          <a:xfrm>
            <a:off x="585898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2" name="Rectangle 69"/>
          <p:cNvSpPr>
            <a:spLocks noChangeArrowheads="1"/>
          </p:cNvSpPr>
          <p:nvPr/>
        </p:nvSpPr>
        <p:spPr bwMode="auto">
          <a:xfrm>
            <a:off x="696047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3" name="Rectangle 70"/>
          <p:cNvSpPr>
            <a:spLocks noChangeArrowheads="1"/>
          </p:cNvSpPr>
          <p:nvPr/>
        </p:nvSpPr>
        <p:spPr bwMode="auto">
          <a:xfrm>
            <a:off x="3363771" y="2383329"/>
            <a:ext cx="4136210" cy="380826"/>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4" name="Line 71"/>
          <p:cNvSpPr>
            <a:spLocks noChangeShapeType="1"/>
          </p:cNvSpPr>
          <p:nvPr/>
        </p:nvSpPr>
        <p:spPr bwMode="auto">
          <a:xfrm>
            <a:off x="349335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5" name="Line 72"/>
          <p:cNvSpPr>
            <a:spLocks noChangeShapeType="1"/>
          </p:cNvSpPr>
          <p:nvPr/>
        </p:nvSpPr>
        <p:spPr bwMode="auto">
          <a:xfrm>
            <a:off x="362294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6" name="Line 73"/>
          <p:cNvSpPr>
            <a:spLocks noChangeShapeType="1"/>
          </p:cNvSpPr>
          <p:nvPr/>
        </p:nvSpPr>
        <p:spPr bwMode="auto">
          <a:xfrm>
            <a:off x="375121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7" name="Line 74"/>
          <p:cNvSpPr>
            <a:spLocks noChangeShapeType="1"/>
          </p:cNvSpPr>
          <p:nvPr/>
        </p:nvSpPr>
        <p:spPr bwMode="auto">
          <a:xfrm>
            <a:off x="388079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8" name="Line 75"/>
          <p:cNvSpPr>
            <a:spLocks noChangeShapeType="1"/>
          </p:cNvSpPr>
          <p:nvPr/>
        </p:nvSpPr>
        <p:spPr bwMode="auto">
          <a:xfrm>
            <a:off x="401038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9" name="Line 76"/>
          <p:cNvSpPr>
            <a:spLocks noChangeShapeType="1"/>
          </p:cNvSpPr>
          <p:nvPr/>
        </p:nvSpPr>
        <p:spPr bwMode="auto">
          <a:xfrm>
            <a:off x="4139972"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0" name="Line 77"/>
          <p:cNvSpPr>
            <a:spLocks noChangeShapeType="1"/>
          </p:cNvSpPr>
          <p:nvPr/>
        </p:nvSpPr>
        <p:spPr bwMode="auto">
          <a:xfrm>
            <a:off x="4268237"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1" name="Line 78"/>
          <p:cNvSpPr>
            <a:spLocks noChangeShapeType="1"/>
          </p:cNvSpPr>
          <p:nvPr/>
        </p:nvSpPr>
        <p:spPr bwMode="auto">
          <a:xfrm>
            <a:off x="4397822" y="2383332"/>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2" name="Line 79"/>
          <p:cNvSpPr>
            <a:spLocks noChangeShapeType="1"/>
          </p:cNvSpPr>
          <p:nvPr/>
        </p:nvSpPr>
        <p:spPr bwMode="auto">
          <a:xfrm>
            <a:off x="452741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3" name="Rectangle 80"/>
          <p:cNvSpPr>
            <a:spLocks noChangeArrowheads="1"/>
          </p:cNvSpPr>
          <p:nvPr/>
        </p:nvSpPr>
        <p:spPr bwMode="auto">
          <a:xfrm>
            <a:off x="4527411" y="2399197"/>
            <a:ext cx="2967281" cy="35702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84" name="Line 81"/>
          <p:cNvSpPr>
            <a:spLocks noChangeShapeType="1"/>
          </p:cNvSpPr>
          <p:nvPr/>
        </p:nvSpPr>
        <p:spPr bwMode="auto">
          <a:xfrm>
            <a:off x="465699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5" name="Line 82"/>
          <p:cNvSpPr>
            <a:spLocks noChangeShapeType="1"/>
          </p:cNvSpPr>
          <p:nvPr/>
        </p:nvSpPr>
        <p:spPr bwMode="auto">
          <a:xfrm>
            <a:off x="478526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6" name="Line 83"/>
          <p:cNvSpPr>
            <a:spLocks noChangeShapeType="1"/>
          </p:cNvSpPr>
          <p:nvPr/>
        </p:nvSpPr>
        <p:spPr bwMode="auto">
          <a:xfrm>
            <a:off x="491485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7" name="Line 84"/>
          <p:cNvSpPr>
            <a:spLocks noChangeShapeType="1"/>
          </p:cNvSpPr>
          <p:nvPr/>
        </p:nvSpPr>
        <p:spPr bwMode="auto">
          <a:xfrm>
            <a:off x="504443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8" name="Line 85"/>
          <p:cNvSpPr>
            <a:spLocks noChangeShapeType="1"/>
          </p:cNvSpPr>
          <p:nvPr/>
        </p:nvSpPr>
        <p:spPr bwMode="auto">
          <a:xfrm>
            <a:off x="517402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9" name="Line 86"/>
          <p:cNvSpPr>
            <a:spLocks noChangeShapeType="1"/>
          </p:cNvSpPr>
          <p:nvPr/>
        </p:nvSpPr>
        <p:spPr bwMode="auto">
          <a:xfrm>
            <a:off x="530228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0" name="Line 87"/>
          <p:cNvSpPr>
            <a:spLocks noChangeShapeType="1"/>
          </p:cNvSpPr>
          <p:nvPr/>
        </p:nvSpPr>
        <p:spPr bwMode="auto">
          <a:xfrm>
            <a:off x="5431877"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1" name="Line 88"/>
          <p:cNvSpPr>
            <a:spLocks noChangeShapeType="1"/>
          </p:cNvSpPr>
          <p:nvPr/>
        </p:nvSpPr>
        <p:spPr bwMode="auto">
          <a:xfrm>
            <a:off x="556146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2" name="Line 89"/>
          <p:cNvSpPr>
            <a:spLocks noChangeShapeType="1"/>
          </p:cNvSpPr>
          <p:nvPr/>
        </p:nvSpPr>
        <p:spPr bwMode="auto">
          <a:xfrm>
            <a:off x="569105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3" name="Line 90"/>
          <p:cNvSpPr>
            <a:spLocks noChangeShapeType="1"/>
          </p:cNvSpPr>
          <p:nvPr/>
        </p:nvSpPr>
        <p:spPr bwMode="auto">
          <a:xfrm>
            <a:off x="581931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4" name="Line 91"/>
          <p:cNvSpPr>
            <a:spLocks noChangeShapeType="1"/>
          </p:cNvSpPr>
          <p:nvPr/>
        </p:nvSpPr>
        <p:spPr bwMode="auto">
          <a:xfrm>
            <a:off x="5948903"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5" name="Line 92"/>
          <p:cNvSpPr>
            <a:spLocks noChangeShapeType="1"/>
          </p:cNvSpPr>
          <p:nvPr/>
        </p:nvSpPr>
        <p:spPr bwMode="auto">
          <a:xfrm>
            <a:off x="6078490"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6" name="Line 93"/>
          <p:cNvSpPr>
            <a:spLocks noChangeShapeType="1"/>
          </p:cNvSpPr>
          <p:nvPr/>
        </p:nvSpPr>
        <p:spPr bwMode="auto">
          <a:xfrm>
            <a:off x="620807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7" name="Line 94"/>
          <p:cNvSpPr>
            <a:spLocks noChangeShapeType="1"/>
          </p:cNvSpPr>
          <p:nvPr/>
        </p:nvSpPr>
        <p:spPr bwMode="auto">
          <a:xfrm>
            <a:off x="6336342"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8" name="Line 95"/>
          <p:cNvSpPr>
            <a:spLocks noChangeShapeType="1"/>
          </p:cNvSpPr>
          <p:nvPr/>
        </p:nvSpPr>
        <p:spPr bwMode="auto">
          <a:xfrm>
            <a:off x="646592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9" name="Line 96"/>
          <p:cNvSpPr>
            <a:spLocks noChangeShapeType="1"/>
          </p:cNvSpPr>
          <p:nvPr/>
        </p:nvSpPr>
        <p:spPr bwMode="auto">
          <a:xfrm>
            <a:off x="659551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0" name="Line 97"/>
          <p:cNvSpPr>
            <a:spLocks noChangeShapeType="1"/>
          </p:cNvSpPr>
          <p:nvPr/>
        </p:nvSpPr>
        <p:spPr bwMode="auto">
          <a:xfrm>
            <a:off x="672510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1" name="Line 98"/>
          <p:cNvSpPr>
            <a:spLocks noChangeShapeType="1"/>
          </p:cNvSpPr>
          <p:nvPr/>
        </p:nvSpPr>
        <p:spPr bwMode="auto">
          <a:xfrm>
            <a:off x="685336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2" name="Line 99"/>
          <p:cNvSpPr>
            <a:spLocks noChangeShapeType="1"/>
          </p:cNvSpPr>
          <p:nvPr/>
        </p:nvSpPr>
        <p:spPr bwMode="auto">
          <a:xfrm>
            <a:off x="698295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3" name="Line 100"/>
          <p:cNvSpPr>
            <a:spLocks noChangeShapeType="1"/>
          </p:cNvSpPr>
          <p:nvPr/>
        </p:nvSpPr>
        <p:spPr bwMode="auto">
          <a:xfrm>
            <a:off x="7112543"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4" name="Line 101"/>
          <p:cNvSpPr>
            <a:spLocks noChangeShapeType="1"/>
          </p:cNvSpPr>
          <p:nvPr/>
        </p:nvSpPr>
        <p:spPr bwMode="auto">
          <a:xfrm>
            <a:off x="7242130"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5" name="Line 102"/>
          <p:cNvSpPr>
            <a:spLocks noChangeShapeType="1"/>
          </p:cNvSpPr>
          <p:nvPr/>
        </p:nvSpPr>
        <p:spPr bwMode="auto">
          <a:xfrm>
            <a:off x="737039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6" name="Rectangle 103"/>
          <p:cNvSpPr>
            <a:spLocks noChangeArrowheads="1"/>
          </p:cNvSpPr>
          <p:nvPr/>
        </p:nvSpPr>
        <p:spPr bwMode="auto">
          <a:xfrm>
            <a:off x="3428565" y="2446800"/>
            <a:ext cx="387439"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7" name="Rectangle 104"/>
          <p:cNvSpPr>
            <a:spLocks noChangeArrowheads="1"/>
          </p:cNvSpPr>
          <p:nvPr/>
        </p:nvSpPr>
        <p:spPr bwMode="auto">
          <a:xfrm>
            <a:off x="4526089" y="2446800"/>
            <a:ext cx="323967"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08" name="Rectangle 105"/>
          <p:cNvSpPr>
            <a:spLocks noChangeArrowheads="1"/>
          </p:cNvSpPr>
          <p:nvPr/>
        </p:nvSpPr>
        <p:spPr bwMode="auto">
          <a:xfrm>
            <a:off x="3945591" y="2446800"/>
            <a:ext cx="499118"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9" name="Rectangle 106"/>
          <p:cNvSpPr>
            <a:spLocks noChangeArrowheads="1"/>
          </p:cNvSpPr>
          <p:nvPr/>
        </p:nvSpPr>
        <p:spPr bwMode="auto">
          <a:xfrm>
            <a:off x="4979644"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0" name="Rectangle 107"/>
          <p:cNvSpPr>
            <a:spLocks noChangeArrowheads="1"/>
          </p:cNvSpPr>
          <p:nvPr/>
        </p:nvSpPr>
        <p:spPr bwMode="auto">
          <a:xfrm>
            <a:off x="5496671" y="2446800"/>
            <a:ext cx="387439"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1" name="Rectangle 108"/>
          <p:cNvSpPr>
            <a:spLocks noChangeArrowheads="1"/>
          </p:cNvSpPr>
          <p:nvPr/>
        </p:nvSpPr>
        <p:spPr bwMode="auto">
          <a:xfrm>
            <a:off x="6013696"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2" name="Rectangle 109"/>
          <p:cNvSpPr>
            <a:spLocks noChangeArrowheads="1"/>
          </p:cNvSpPr>
          <p:nvPr/>
        </p:nvSpPr>
        <p:spPr bwMode="auto">
          <a:xfrm>
            <a:off x="6530723" y="2446800"/>
            <a:ext cx="387439"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3" name="Rectangle 110"/>
          <p:cNvSpPr>
            <a:spLocks noChangeArrowheads="1"/>
          </p:cNvSpPr>
          <p:nvPr/>
        </p:nvSpPr>
        <p:spPr bwMode="auto">
          <a:xfrm>
            <a:off x="7047749"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4" name="Rectangle 111"/>
          <p:cNvSpPr>
            <a:spLocks noChangeArrowheads="1"/>
          </p:cNvSpPr>
          <p:nvPr/>
        </p:nvSpPr>
        <p:spPr bwMode="auto">
          <a:xfrm>
            <a:off x="3826583" y="2478536"/>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15" name="Rectangle 112"/>
          <p:cNvSpPr>
            <a:spLocks noChangeArrowheads="1"/>
          </p:cNvSpPr>
          <p:nvPr/>
        </p:nvSpPr>
        <p:spPr bwMode="auto">
          <a:xfrm>
            <a:off x="4839478" y="2478536"/>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6" name="Rectangle 113"/>
          <p:cNvSpPr>
            <a:spLocks noChangeArrowheads="1"/>
          </p:cNvSpPr>
          <p:nvPr/>
        </p:nvSpPr>
        <p:spPr bwMode="auto">
          <a:xfrm>
            <a:off x="5852374" y="2478536"/>
            <a:ext cx="128265"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7" name="Rectangle 114"/>
          <p:cNvSpPr>
            <a:spLocks noChangeArrowheads="1"/>
          </p:cNvSpPr>
          <p:nvPr/>
        </p:nvSpPr>
        <p:spPr bwMode="auto">
          <a:xfrm>
            <a:off x="6951220" y="2478536"/>
            <a:ext cx="128264"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21" name="Text Box 118"/>
          <p:cNvSpPr txBox="1">
            <a:spLocks noChangeArrowheads="1"/>
          </p:cNvSpPr>
          <p:nvPr/>
        </p:nvSpPr>
        <p:spPr bwMode="auto">
          <a:xfrm>
            <a:off x="4322176" y="3496194"/>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00000"/>
                </a:solidFill>
                <a:latin typeface="Montserrat" panose="00000500000000000000" pitchFamily="2" charset="0"/>
                <a:ea typeface="微软雅黑" pitchFamily="34" charset="-122"/>
              </a:rPr>
              <a:t>0</a:t>
            </a:r>
          </a:p>
        </p:txBody>
      </p:sp>
      <p:sp>
        <p:nvSpPr>
          <p:cNvPr id="123" name="Line 120"/>
          <p:cNvSpPr>
            <a:spLocks noChangeShapeType="1"/>
          </p:cNvSpPr>
          <p:nvPr/>
        </p:nvSpPr>
        <p:spPr bwMode="auto">
          <a:xfrm>
            <a:off x="4527411" y="2827626"/>
            <a:ext cx="0" cy="634710"/>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4" name="Line 121"/>
          <p:cNvSpPr>
            <a:spLocks noChangeShapeType="1"/>
          </p:cNvSpPr>
          <p:nvPr/>
        </p:nvSpPr>
        <p:spPr bwMode="auto">
          <a:xfrm>
            <a:off x="7510560" y="2827626"/>
            <a:ext cx="0" cy="634710"/>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5" name="Text Box 122"/>
          <p:cNvSpPr txBox="1">
            <a:spLocks noChangeArrowheads="1"/>
          </p:cNvSpPr>
          <p:nvPr/>
        </p:nvSpPr>
        <p:spPr bwMode="auto">
          <a:xfrm>
            <a:off x="3263346" y="2107290"/>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0</a:t>
            </a:r>
          </a:p>
        </p:txBody>
      </p:sp>
      <p:sp>
        <p:nvSpPr>
          <p:cNvPr id="126" name="Text Box 123"/>
          <p:cNvSpPr txBox="1">
            <a:spLocks noChangeArrowheads="1"/>
          </p:cNvSpPr>
          <p:nvPr/>
        </p:nvSpPr>
        <p:spPr bwMode="auto">
          <a:xfrm>
            <a:off x="4300043" y="2107290"/>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8</a:t>
            </a:r>
          </a:p>
        </p:txBody>
      </p:sp>
      <p:sp>
        <p:nvSpPr>
          <p:cNvPr id="127" name="Text Box 124"/>
          <p:cNvSpPr txBox="1">
            <a:spLocks noChangeArrowheads="1"/>
          </p:cNvSpPr>
          <p:nvPr/>
        </p:nvSpPr>
        <p:spPr bwMode="auto">
          <a:xfrm>
            <a:off x="5326161" y="2107290"/>
            <a:ext cx="33374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16</a:t>
            </a:r>
          </a:p>
        </p:txBody>
      </p:sp>
      <p:sp>
        <p:nvSpPr>
          <p:cNvPr id="128" name="Text Box 125"/>
          <p:cNvSpPr txBox="1">
            <a:spLocks noChangeArrowheads="1"/>
          </p:cNvSpPr>
          <p:nvPr/>
        </p:nvSpPr>
        <p:spPr bwMode="auto">
          <a:xfrm>
            <a:off x="6341703" y="210729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24</a:t>
            </a:r>
          </a:p>
        </p:txBody>
      </p:sp>
      <p:sp>
        <p:nvSpPr>
          <p:cNvPr id="129" name="Text Box 126"/>
          <p:cNvSpPr txBox="1">
            <a:spLocks noChangeArrowheads="1"/>
          </p:cNvSpPr>
          <p:nvPr/>
        </p:nvSpPr>
        <p:spPr bwMode="auto">
          <a:xfrm>
            <a:off x="7240879" y="2107290"/>
            <a:ext cx="32733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31</a:t>
            </a:r>
          </a:p>
        </p:txBody>
      </p:sp>
      <p:sp>
        <p:nvSpPr>
          <p:cNvPr id="130" name="Text Box 127"/>
          <p:cNvSpPr txBox="1">
            <a:spLocks noChangeArrowheads="1"/>
          </p:cNvSpPr>
          <p:nvPr/>
        </p:nvSpPr>
        <p:spPr bwMode="auto">
          <a:xfrm>
            <a:off x="1906415" y="2403104"/>
            <a:ext cx="105990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D </a:t>
            </a:r>
            <a:r>
              <a:rPr kumimoji="1" lang="zh-CN" altLang="zh-CN" sz="1200" dirty="0">
                <a:latin typeface="Montserrat" panose="00000500000000000000" pitchFamily="2" charset="0"/>
                <a:ea typeface="微软雅黑" pitchFamily="34" charset="-122"/>
              </a:rPr>
              <a:t>类 </a:t>
            </a:r>
            <a:r>
              <a:rPr kumimoji="1" lang="en-US" altLang="zh-CN" sz="1200" dirty="0">
                <a:latin typeface="Montserrat" panose="00000500000000000000" pitchFamily="2" charset="0"/>
                <a:ea typeface="微软雅黑" pitchFamily="34" charset="-122"/>
              </a:rPr>
              <a:t>IP </a:t>
            </a:r>
            <a:r>
              <a:rPr kumimoji="1" lang="zh-CN" altLang="zh-CN" sz="1200" dirty="0">
                <a:latin typeface="Montserrat" panose="00000500000000000000" pitchFamily="2" charset="0"/>
                <a:ea typeface="微软雅黑" pitchFamily="34" charset="-122"/>
              </a:rPr>
              <a:t>地址</a:t>
            </a:r>
            <a:endParaRPr kumimoji="1" lang="zh-CN" altLang="en-US" sz="1200" dirty="0">
              <a:latin typeface="Montserrat" panose="00000500000000000000" pitchFamily="2" charset="0"/>
              <a:ea typeface="微软雅黑" pitchFamily="34" charset="-122"/>
            </a:endParaRPr>
          </a:p>
        </p:txBody>
      </p:sp>
      <p:sp>
        <p:nvSpPr>
          <p:cNvPr id="131" name="Line 128"/>
          <p:cNvSpPr>
            <a:spLocks noChangeShapeType="1"/>
          </p:cNvSpPr>
          <p:nvPr/>
        </p:nvSpPr>
        <p:spPr bwMode="auto">
          <a:xfrm flipV="1">
            <a:off x="3882120" y="2002504"/>
            <a:ext cx="0" cy="317355"/>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2" name="Line 129"/>
          <p:cNvSpPr>
            <a:spLocks noChangeShapeType="1"/>
          </p:cNvSpPr>
          <p:nvPr/>
        </p:nvSpPr>
        <p:spPr bwMode="auto">
          <a:xfrm flipV="1">
            <a:off x="4527411" y="2002504"/>
            <a:ext cx="0" cy="75636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3" name="Line 130"/>
          <p:cNvSpPr>
            <a:spLocks noChangeShapeType="1"/>
          </p:cNvSpPr>
          <p:nvPr/>
        </p:nvSpPr>
        <p:spPr bwMode="auto">
          <a:xfrm>
            <a:off x="3892699" y="2065974"/>
            <a:ext cx="634713"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4" name="Line 131"/>
          <p:cNvSpPr>
            <a:spLocks noChangeShapeType="1"/>
          </p:cNvSpPr>
          <p:nvPr/>
        </p:nvSpPr>
        <p:spPr bwMode="auto">
          <a:xfrm>
            <a:off x="4535345" y="4063988"/>
            <a:ext cx="2983149"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5" name="Text Box 133"/>
          <p:cNvSpPr txBox="1">
            <a:spLocks noChangeArrowheads="1"/>
          </p:cNvSpPr>
          <p:nvPr/>
        </p:nvSpPr>
        <p:spPr bwMode="auto">
          <a:xfrm>
            <a:off x="4578212" y="1706917"/>
            <a:ext cx="11416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C00000"/>
                </a:solidFill>
                <a:latin typeface="Montserrat" panose="00000500000000000000" pitchFamily="2" charset="0"/>
                <a:ea typeface="微软雅黑" pitchFamily="34" charset="-122"/>
              </a:rPr>
              <a:t>这</a:t>
            </a:r>
            <a:r>
              <a:rPr kumimoji="1" lang="zh-CN" altLang="zh-CN" sz="1200" dirty="0">
                <a:solidFill>
                  <a:srgbClr val="C00000"/>
                </a:solidFill>
                <a:latin typeface="Montserrat" panose="00000500000000000000" pitchFamily="2" charset="0"/>
                <a:ea typeface="微软雅黑" pitchFamily="34" charset="-122"/>
              </a:rPr>
              <a:t> 5</a:t>
            </a:r>
            <a:r>
              <a:rPr kumimoji="1" lang="en-US" altLang="zh-CN" sz="1200" dirty="0">
                <a:solidFill>
                  <a:srgbClr val="C00000"/>
                </a:solidFill>
                <a:latin typeface="Montserrat" panose="00000500000000000000" pitchFamily="2" charset="0"/>
                <a:ea typeface="微软雅黑" pitchFamily="34" charset="-122"/>
              </a:rPr>
              <a:t> </a:t>
            </a:r>
            <a:r>
              <a:rPr kumimoji="1" lang="zh-CN" altLang="en-US" sz="1200" dirty="0">
                <a:solidFill>
                  <a:srgbClr val="C00000"/>
                </a:solidFill>
                <a:latin typeface="Montserrat" panose="00000500000000000000" pitchFamily="2" charset="0"/>
                <a:ea typeface="微软雅黑" pitchFamily="34" charset="-122"/>
              </a:rPr>
              <a:t>位不使用</a:t>
            </a:r>
          </a:p>
        </p:txBody>
      </p:sp>
      <p:sp>
        <p:nvSpPr>
          <p:cNvPr id="136" name="Arc 134"/>
          <p:cNvSpPr>
            <a:spLocks/>
          </p:cNvSpPr>
          <p:nvPr/>
        </p:nvSpPr>
        <p:spPr bwMode="auto">
          <a:xfrm flipH="1">
            <a:off x="4211378" y="1875562"/>
            <a:ext cx="415208" cy="190413"/>
          </a:xfrm>
          <a:custGeom>
            <a:avLst/>
            <a:gdLst>
              <a:gd name="G0" fmla="+- 1956 0 0"/>
              <a:gd name="G1" fmla="+- 21600 0 0"/>
              <a:gd name="G2" fmla="+- 21600 0 0"/>
              <a:gd name="T0" fmla="*/ 0 w 23556"/>
              <a:gd name="T1" fmla="*/ 89 h 21600"/>
              <a:gd name="T2" fmla="*/ 23556 w 23556"/>
              <a:gd name="T3" fmla="*/ 21600 h 21600"/>
              <a:gd name="T4" fmla="*/ 1956 w 23556"/>
              <a:gd name="T5" fmla="*/ 21600 h 21600"/>
            </a:gdLst>
            <a:ahLst/>
            <a:cxnLst>
              <a:cxn ang="0">
                <a:pos x="T0" y="T1"/>
              </a:cxn>
              <a:cxn ang="0">
                <a:pos x="T2" y="T3"/>
              </a:cxn>
              <a:cxn ang="0">
                <a:pos x="T4" y="T5"/>
              </a:cxn>
            </a:cxnLst>
            <a:rect l="0" t="0" r="r" b="b"/>
            <a:pathLst>
              <a:path w="23556" h="21600" fill="none" extrusionOk="0">
                <a:moveTo>
                  <a:pt x="-1" y="88"/>
                </a:moveTo>
                <a:cubicBezTo>
                  <a:pt x="650" y="29"/>
                  <a:pt x="1302" y="-1"/>
                  <a:pt x="1956" y="0"/>
                </a:cubicBezTo>
                <a:cubicBezTo>
                  <a:pt x="13885" y="0"/>
                  <a:pt x="23556" y="9670"/>
                  <a:pt x="23556" y="21600"/>
                </a:cubicBezTo>
              </a:path>
              <a:path w="23556" h="21600" stroke="0" extrusionOk="0">
                <a:moveTo>
                  <a:pt x="-1" y="88"/>
                </a:moveTo>
                <a:cubicBezTo>
                  <a:pt x="650" y="29"/>
                  <a:pt x="1302" y="-1"/>
                  <a:pt x="1956" y="0"/>
                </a:cubicBezTo>
                <a:cubicBezTo>
                  <a:pt x="13885" y="0"/>
                  <a:pt x="23556" y="9670"/>
                  <a:pt x="23556" y="21600"/>
                </a:cubicBezTo>
                <a:lnTo>
                  <a:pt x="1956" y="21600"/>
                </a:lnTo>
                <a:close/>
              </a:path>
            </a:pathLst>
          </a:custGeom>
          <a:noFill/>
          <a:ln w="9525">
            <a:solidFill>
              <a:schemeClr val="tx1"/>
            </a:solidFill>
            <a:round/>
            <a:headEnd type="triangle" w="sm" len="me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7" name="Line 135"/>
          <p:cNvSpPr>
            <a:spLocks noChangeShapeType="1"/>
          </p:cNvSpPr>
          <p:nvPr/>
        </p:nvSpPr>
        <p:spPr bwMode="auto">
          <a:xfrm>
            <a:off x="1290377" y="3906633"/>
            <a:ext cx="0" cy="61752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8" name="Line 136"/>
          <p:cNvSpPr>
            <a:spLocks noChangeShapeType="1"/>
          </p:cNvSpPr>
          <p:nvPr/>
        </p:nvSpPr>
        <p:spPr bwMode="auto">
          <a:xfrm flipH="1">
            <a:off x="7506594" y="3906633"/>
            <a:ext cx="3967" cy="57520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9" name="Line 137"/>
          <p:cNvSpPr>
            <a:spLocks noChangeShapeType="1"/>
          </p:cNvSpPr>
          <p:nvPr/>
        </p:nvSpPr>
        <p:spPr bwMode="auto">
          <a:xfrm>
            <a:off x="1300956" y="4376054"/>
            <a:ext cx="6220183"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0" name="Text Box 138"/>
          <p:cNvSpPr txBox="1">
            <a:spLocks noChangeArrowheads="1"/>
          </p:cNvSpPr>
          <p:nvPr/>
        </p:nvSpPr>
        <p:spPr bwMode="auto">
          <a:xfrm>
            <a:off x="3608050" y="4240182"/>
            <a:ext cx="1343638" cy="27700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zh-CN" sz="1200" dirty="0">
                <a:solidFill>
                  <a:srgbClr val="0000FF"/>
                </a:solidFill>
                <a:latin typeface="Montserrat" panose="00000500000000000000" pitchFamily="2" charset="0"/>
                <a:ea typeface="微软雅黑" pitchFamily="34" charset="-122"/>
              </a:rPr>
              <a:t>48 </a:t>
            </a:r>
            <a:r>
              <a:rPr kumimoji="1" lang="zh-CN" altLang="en-US" sz="1200" dirty="0">
                <a:solidFill>
                  <a:srgbClr val="0000FF"/>
                </a:solidFill>
                <a:latin typeface="Montserrat" panose="00000500000000000000" pitchFamily="2" charset="0"/>
                <a:ea typeface="微软雅黑" pitchFamily="34" charset="-122"/>
              </a:rPr>
              <a:t>位</a:t>
            </a:r>
            <a:r>
              <a:rPr kumimoji="1" lang="zh-CN" altLang="zh-CN" sz="1200" dirty="0">
                <a:solidFill>
                  <a:srgbClr val="0000FF"/>
                </a:solidFill>
                <a:latin typeface="Montserrat" panose="00000500000000000000" pitchFamily="2" charset="0"/>
                <a:ea typeface="微软雅黑" pitchFamily="34" charset="-122"/>
              </a:rPr>
              <a:t>以太网地址</a:t>
            </a:r>
            <a:endParaRPr kumimoji="1" lang="zh-CN" altLang="en-US" sz="1200" dirty="0">
              <a:solidFill>
                <a:srgbClr val="0000FF"/>
              </a:solidFill>
              <a:latin typeface="Montserrat" panose="00000500000000000000" pitchFamily="2" charset="0"/>
              <a:ea typeface="微软雅黑" pitchFamily="34" charset="-122"/>
            </a:endParaRPr>
          </a:p>
        </p:txBody>
      </p:sp>
      <p:sp>
        <p:nvSpPr>
          <p:cNvPr id="141" name="Text Box 139"/>
          <p:cNvSpPr txBox="1">
            <a:spLocks noChangeArrowheads="1"/>
          </p:cNvSpPr>
          <p:nvPr/>
        </p:nvSpPr>
        <p:spPr bwMode="auto">
          <a:xfrm>
            <a:off x="1434510" y="3134404"/>
            <a:ext cx="19800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0      1      0      0       5      E</a:t>
            </a:r>
          </a:p>
        </p:txBody>
      </p:sp>
      <p:sp>
        <p:nvSpPr>
          <p:cNvPr id="142" name="Text Box 140"/>
          <p:cNvSpPr txBox="1">
            <a:spLocks noChangeArrowheads="1"/>
          </p:cNvSpPr>
          <p:nvPr/>
        </p:nvSpPr>
        <p:spPr bwMode="auto">
          <a:xfrm>
            <a:off x="1845052" y="395316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rgbClr val="990099"/>
                </a:solidFill>
                <a:latin typeface="Montserrat" panose="00000500000000000000" pitchFamily="2" charset="0"/>
                <a:ea typeface="微软雅黑" pitchFamily="34" charset="-122"/>
              </a:rPr>
              <a:t>表示多播</a:t>
            </a:r>
          </a:p>
        </p:txBody>
      </p:sp>
      <p:sp>
        <p:nvSpPr>
          <p:cNvPr id="143" name="Line 141"/>
          <p:cNvSpPr>
            <a:spLocks noChangeShapeType="1"/>
          </p:cNvSpPr>
          <p:nvPr/>
        </p:nvSpPr>
        <p:spPr bwMode="auto">
          <a:xfrm flipH="1" flipV="1">
            <a:off x="2273283" y="3758536"/>
            <a:ext cx="5289" cy="235372"/>
          </a:xfrm>
          <a:prstGeom prst="line">
            <a:avLst/>
          </a:prstGeom>
          <a:noFill/>
          <a:ln w="5715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pitchFamily="34" charset="-122"/>
            </a:endParaRPr>
          </a:p>
        </p:txBody>
      </p:sp>
      <p:sp>
        <p:nvSpPr>
          <p:cNvPr id="144" name="Text Box 132"/>
          <p:cNvSpPr txBox="1">
            <a:spLocks noChangeArrowheads="1"/>
          </p:cNvSpPr>
          <p:nvPr/>
        </p:nvSpPr>
        <p:spPr bwMode="auto">
          <a:xfrm>
            <a:off x="4992124" y="3907959"/>
            <a:ext cx="2157963" cy="27700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a:solidFill>
                  <a:srgbClr val="0000FF"/>
                </a:solidFill>
                <a:latin typeface="Montserrat" panose="00000500000000000000" pitchFamily="2" charset="0"/>
                <a:ea typeface="微软雅黑" pitchFamily="34" charset="-122"/>
              </a:rPr>
              <a:t>最</a:t>
            </a:r>
            <a:r>
              <a:rPr kumimoji="1" lang="zh-CN" altLang="zh-CN" sz="1200">
                <a:solidFill>
                  <a:srgbClr val="0000FF"/>
                </a:solidFill>
                <a:latin typeface="Montserrat" panose="00000500000000000000" pitchFamily="2" charset="0"/>
                <a:ea typeface="微软雅黑" pitchFamily="34" charset="-122"/>
              </a:rPr>
              <a:t>低 23</a:t>
            </a:r>
            <a:r>
              <a:rPr kumimoji="1" lang="en-US" altLang="zh-CN" sz="1200">
                <a:solidFill>
                  <a:srgbClr val="0000FF"/>
                </a:solidFill>
                <a:latin typeface="Montserrat" panose="00000500000000000000" pitchFamily="2" charset="0"/>
                <a:ea typeface="微软雅黑" pitchFamily="34" charset="-122"/>
              </a:rPr>
              <a:t> </a:t>
            </a:r>
            <a:r>
              <a:rPr kumimoji="1" lang="zh-CN" altLang="en-US" sz="1200">
                <a:solidFill>
                  <a:srgbClr val="0000FF"/>
                </a:solidFill>
                <a:latin typeface="Montserrat" panose="00000500000000000000" pitchFamily="2" charset="0"/>
                <a:ea typeface="微软雅黑" pitchFamily="34" charset="-122"/>
              </a:rPr>
              <a:t>位来自 </a:t>
            </a:r>
            <a:r>
              <a:rPr kumimoji="1" lang="en-US" altLang="zh-CN" sz="1200">
                <a:solidFill>
                  <a:srgbClr val="0000FF"/>
                </a:solidFill>
                <a:latin typeface="Montserrat" panose="00000500000000000000" pitchFamily="2" charset="0"/>
                <a:ea typeface="微软雅黑" pitchFamily="34" charset="-122"/>
              </a:rPr>
              <a:t>D </a:t>
            </a:r>
            <a:r>
              <a:rPr kumimoji="1" lang="zh-CN" altLang="en-US" sz="1200">
                <a:solidFill>
                  <a:srgbClr val="0000FF"/>
                </a:solidFill>
                <a:latin typeface="Montserrat" panose="00000500000000000000" pitchFamily="2" charset="0"/>
                <a:ea typeface="微软雅黑" pitchFamily="34" charset="-122"/>
              </a:rPr>
              <a:t>类 </a:t>
            </a:r>
            <a:r>
              <a:rPr kumimoji="1" lang="en-US" altLang="zh-CN" sz="1200">
                <a:solidFill>
                  <a:srgbClr val="0000FF"/>
                </a:solidFill>
                <a:latin typeface="Montserrat" panose="00000500000000000000" pitchFamily="2" charset="0"/>
                <a:ea typeface="微软雅黑" pitchFamily="34" charset="-122"/>
              </a:rPr>
              <a:t>IP </a:t>
            </a:r>
            <a:r>
              <a:rPr kumimoji="1" lang="zh-CN" altLang="zh-CN" sz="1200">
                <a:solidFill>
                  <a:srgbClr val="0000FF"/>
                </a:solidFill>
                <a:latin typeface="Montserrat" panose="00000500000000000000" pitchFamily="2" charset="0"/>
                <a:ea typeface="微软雅黑" pitchFamily="34" charset="-122"/>
              </a:rPr>
              <a:t>地址</a:t>
            </a:r>
            <a:endParaRPr kumimoji="1" lang="zh-CN" altLang="en-US" sz="1200">
              <a:solidFill>
                <a:srgbClr val="0000FF"/>
              </a:solidFill>
              <a:latin typeface="Montserrat" panose="00000500000000000000" pitchFamily="2" charset="0"/>
              <a:ea typeface="微软雅黑" pitchFamily="34" charset="-122"/>
            </a:endParaRPr>
          </a:p>
        </p:txBody>
      </p:sp>
      <p:sp>
        <p:nvSpPr>
          <p:cNvPr id="145" name="Line 142"/>
          <p:cNvSpPr>
            <a:spLocks noChangeShapeType="1"/>
          </p:cNvSpPr>
          <p:nvPr/>
        </p:nvSpPr>
        <p:spPr bwMode="auto">
          <a:xfrm>
            <a:off x="4531377" y="3896058"/>
            <a:ext cx="0" cy="253884"/>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6" name="AutoShape 143"/>
          <p:cNvSpPr>
            <a:spLocks noChangeArrowheads="1"/>
          </p:cNvSpPr>
          <p:nvPr/>
        </p:nvSpPr>
        <p:spPr bwMode="auto">
          <a:xfrm>
            <a:off x="5891818" y="2795893"/>
            <a:ext cx="278613" cy="650791"/>
          </a:xfrm>
          <a:prstGeom prst="downArrow">
            <a:avLst>
              <a:gd name="adj1" fmla="val 50000"/>
              <a:gd name="adj2" fmla="val 62500"/>
            </a:avLst>
          </a:prstGeom>
          <a:solidFill>
            <a:srgbClr val="0066FF"/>
          </a:solidFill>
          <a:ln w="9525">
            <a:solidFill>
              <a:schemeClr va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a:latin typeface="Montserrat" panose="00000500000000000000" pitchFamily="2" charset="0"/>
              <a:ea typeface="微软雅黑" pitchFamily="34" charset="-122"/>
            </a:endParaRPr>
          </a:p>
        </p:txBody>
      </p:sp>
      <p:sp>
        <p:nvSpPr>
          <p:cNvPr id="148" name="Text Box 119"/>
          <p:cNvSpPr txBox="1">
            <a:spLocks noChangeArrowheads="1"/>
          </p:cNvSpPr>
          <p:nvPr/>
        </p:nvSpPr>
        <p:spPr bwMode="auto">
          <a:xfrm>
            <a:off x="3272593" y="2433561"/>
            <a:ext cx="68865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20" dirty="0">
                <a:latin typeface="微软雅黑" pitchFamily="34" charset="-122"/>
                <a:ea typeface="微软雅黑" pitchFamily="34" charset="-122"/>
              </a:rPr>
              <a:t>1110</a:t>
            </a:r>
          </a:p>
        </p:txBody>
      </p:sp>
      <p:sp>
        <p:nvSpPr>
          <p:cNvPr id="147" name="Text Box 116"/>
          <p:cNvSpPr txBox="1">
            <a:spLocks noChangeArrowheads="1"/>
          </p:cNvSpPr>
          <p:nvPr/>
        </p:nvSpPr>
        <p:spPr bwMode="auto">
          <a:xfrm>
            <a:off x="1216782" y="3517861"/>
            <a:ext cx="120595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just"/>
            <a:r>
              <a:rPr kumimoji="1" lang="en-US" altLang="zh-CN" sz="1400" b="1" kern="0" spc="140" dirty="0">
                <a:latin typeface="微软雅黑" pitchFamily="34" charset="-122"/>
                <a:ea typeface="微软雅黑" pitchFamily="34" charset="-122"/>
              </a:rPr>
              <a:t>0000000</a:t>
            </a:r>
            <a:r>
              <a:rPr kumimoji="1" lang="en-US" altLang="zh-CN" sz="1400" b="1" kern="0" spc="140" dirty="0">
                <a:solidFill>
                  <a:srgbClr val="CC00CC"/>
                </a:solidFill>
                <a:latin typeface="微软雅黑" pitchFamily="34" charset="-122"/>
                <a:ea typeface="微软雅黑" pitchFamily="34" charset="-122"/>
              </a:rPr>
              <a:t>1</a:t>
            </a:r>
          </a:p>
        </p:txBody>
      </p:sp>
      <p:sp>
        <p:nvSpPr>
          <p:cNvPr id="152" name="Text Box 115"/>
          <p:cNvSpPr txBox="1">
            <a:spLocks noChangeArrowheads="1"/>
          </p:cNvSpPr>
          <p:nvPr/>
        </p:nvSpPr>
        <p:spPr bwMode="auto">
          <a:xfrm>
            <a:off x="2235895" y="3517861"/>
            <a:ext cx="12131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kern="0" spc="100" dirty="0">
                <a:latin typeface="微软雅黑" pitchFamily="34" charset="-122"/>
                <a:ea typeface="微软雅黑" pitchFamily="34" charset="-122"/>
              </a:rPr>
              <a:t>00000000</a:t>
            </a:r>
          </a:p>
        </p:txBody>
      </p:sp>
      <p:sp>
        <p:nvSpPr>
          <p:cNvPr id="153" name="Text Box 117"/>
          <p:cNvSpPr txBox="1">
            <a:spLocks noChangeArrowheads="1"/>
          </p:cNvSpPr>
          <p:nvPr/>
        </p:nvSpPr>
        <p:spPr bwMode="auto">
          <a:xfrm>
            <a:off x="3272593" y="3517861"/>
            <a:ext cx="117211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00" dirty="0">
                <a:latin typeface="微软雅黑" pitchFamily="34" charset="-122"/>
                <a:ea typeface="微软雅黑" pitchFamily="34" charset="-122"/>
              </a:rPr>
              <a:t>01011110</a:t>
            </a:r>
          </a:p>
        </p:txBody>
      </p:sp>
      <p:sp>
        <p:nvSpPr>
          <p:cNvPr id="119" name="乘号 118"/>
          <p:cNvSpPr/>
          <p:nvPr/>
        </p:nvSpPr>
        <p:spPr>
          <a:xfrm>
            <a:off x="4053909" y="2445369"/>
            <a:ext cx="332768" cy="263951"/>
          </a:xfrm>
          <a:prstGeom prst="mathMultiply">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9" name="矩形 148"/>
          <p:cNvSpPr/>
          <p:nvPr/>
        </p:nvSpPr>
        <p:spPr>
          <a:xfrm>
            <a:off x="7738636" y="2406175"/>
            <a:ext cx="485528" cy="1438855"/>
          </a:xfrm>
          <a:prstGeom prst="rect">
            <a:avLst/>
          </a:prstGeom>
        </p:spPr>
        <p:txBody>
          <a:bodyPr wrap="square">
            <a:spAutoFit/>
          </a:bodyPr>
          <a:lstStyle/>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32</a:t>
            </a: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zh-CN" altLang="en-US" b="1" dirty="0">
                <a:solidFill>
                  <a:srgbClr val="C00000"/>
                </a:solidFill>
                <a:latin typeface="微软雅黑" panose="020B0503020204020204" pitchFamily="34" charset="-122"/>
                <a:ea typeface="微软雅黑" panose="020B0503020204020204" pitchFamily="34" charset="-122"/>
              </a:rPr>
              <a:t>：</a:t>
            </a: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 1</a:t>
            </a:r>
            <a:endParaRPr lang="zh-CN" altLang="en-US" b="1" dirty="0">
              <a:solidFill>
                <a:srgbClr val="C00000"/>
              </a:solidFill>
              <a:latin typeface="微软雅黑" panose="020B0503020204020204" pitchFamily="34" charset="-122"/>
              <a:ea typeface="微软雅黑" panose="020B0503020204020204" pitchFamily="34" charset="-122"/>
            </a:endParaRPr>
          </a:p>
        </p:txBody>
      </p:sp>
      <p:sp>
        <p:nvSpPr>
          <p:cNvPr id="120" name="标题 119">
            <a:extLst>
              <a:ext uri="{FF2B5EF4-FFF2-40B4-BE49-F238E27FC236}">
                <a16:creationId xmlns:a16="http://schemas.microsoft.com/office/drawing/2014/main" id="{6B025FFD-EE52-3E5D-8140-4F0896925D8D}"/>
              </a:ext>
            </a:extLst>
          </p:cNvPr>
          <p:cNvSpPr>
            <a:spLocks noGrp="1"/>
          </p:cNvSpPr>
          <p:nvPr>
            <p:ph type="title"/>
          </p:nvPr>
        </p:nvSpPr>
        <p:spPr>
          <a:xfrm>
            <a:off x="486000" y="550723"/>
            <a:ext cx="8172000" cy="338554"/>
          </a:xfrm>
        </p:spPr>
        <p:txBody>
          <a:bodyPr/>
          <a:lstStyle/>
          <a:p>
            <a:r>
              <a:rPr lang="en-US" altLang="zh-CN" dirty="0"/>
              <a:t>D </a:t>
            </a:r>
            <a:r>
              <a:rPr lang="zh-CN" altLang="en-US" dirty="0"/>
              <a:t>类 </a:t>
            </a:r>
            <a:r>
              <a:rPr lang="en-US" altLang="zh-CN" dirty="0"/>
              <a:t>IP </a:t>
            </a:r>
            <a:r>
              <a:rPr lang="zh-CN" altLang="en-US" dirty="0"/>
              <a:t>地址与以太网多播地址的映射关系 </a:t>
            </a:r>
          </a:p>
        </p:txBody>
      </p:sp>
      <p:sp>
        <p:nvSpPr>
          <p:cNvPr id="2" name="内容占位符 1">
            <a:extLst>
              <a:ext uri="{FF2B5EF4-FFF2-40B4-BE49-F238E27FC236}">
                <a16:creationId xmlns:a16="http://schemas.microsoft.com/office/drawing/2014/main" id="{296E011A-347F-838F-2D18-981A747474DA}"/>
              </a:ext>
            </a:extLst>
          </p:cNvPr>
          <p:cNvSpPr>
            <a:spLocks noGrp="1"/>
          </p:cNvSpPr>
          <p:nvPr>
            <p:ph sz="quarter" idx="11"/>
          </p:nvPr>
        </p:nvSpPr>
        <p:spPr>
          <a:xfrm>
            <a:off x="486000" y="900000"/>
            <a:ext cx="8172000" cy="3703500"/>
          </a:xfrm>
        </p:spPr>
        <p:txBody>
          <a:bodyPr/>
          <a:lstStyle/>
          <a:p>
            <a:r>
              <a:rPr lang="zh-CN" altLang="en-US" dirty="0"/>
              <a:t>收到多播数据报的主机，还要在 </a:t>
            </a:r>
            <a:r>
              <a:rPr lang="en-US" altLang="zh-CN" dirty="0"/>
              <a:t>IP </a:t>
            </a:r>
            <a:r>
              <a:rPr lang="zh-CN" altLang="en-US" dirty="0"/>
              <a:t>层对 </a:t>
            </a:r>
            <a:r>
              <a:rPr lang="en-US" altLang="zh-CN" dirty="0"/>
              <a:t>IP </a:t>
            </a:r>
            <a:r>
              <a:rPr lang="zh-CN" altLang="en-US" dirty="0"/>
              <a:t>地址进行过滤，把不是本主机要接收的数据报丢弃</a:t>
            </a:r>
          </a:p>
        </p:txBody>
      </p:sp>
    </p:spTree>
    <p:extLst>
      <p:ext uri="{BB962C8B-B14F-4D97-AF65-F5344CB8AC3E}">
        <p14:creationId xmlns:p14="http://schemas.microsoft.com/office/powerpoint/2010/main" val="1067274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9"/>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9" grpId="0"/>
      <p:bldP spid="149" grpId="1"/>
    </p:bldLst>
  </p:timing>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41167ECE-8D64-1EFA-5B08-66928EA8366F}"/>
              </a:ext>
            </a:extLst>
          </p:cNvPr>
          <p:cNvSpPr>
            <a:spLocks noGrp="1"/>
          </p:cNvSpPr>
          <p:nvPr>
            <p:ph type="title"/>
          </p:nvPr>
        </p:nvSpPr>
        <p:spPr>
          <a:xfrm>
            <a:off x="486000" y="550723"/>
            <a:ext cx="8172000" cy="338554"/>
          </a:xfrm>
        </p:spPr>
        <p:txBody>
          <a:bodyPr/>
          <a:lstStyle/>
          <a:p>
            <a:r>
              <a:rPr lang="en-US" altLang="zh-CN" dirty="0"/>
              <a:t>4.7.3  </a:t>
            </a:r>
            <a:r>
              <a:rPr lang="zh-CN" altLang="en-US" dirty="0"/>
              <a:t>网际组管理协议 </a:t>
            </a:r>
            <a:r>
              <a:rPr lang="en-US" altLang="zh-CN" dirty="0"/>
              <a:t>IGMP </a:t>
            </a:r>
            <a:r>
              <a:rPr lang="zh-CN" altLang="en-US" dirty="0"/>
              <a:t>和多播路由选择协议</a:t>
            </a:r>
          </a:p>
        </p:txBody>
      </p:sp>
      <p:sp>
        <p:nvSpPr>
          <p:cNvPr id="8" name="内容占位符 7">
            <a:extLst>
              <a:ext uri="{FF2B5EF4-FFF2-40B4-BE49-F238E27FC236}">
                <a16:creationId xmlns:a16="http://schemas.microsoft.com/office/drawing/2014/main" id="{5B5B1762-4EB3-B5EF-4A68-77BCBDB3C506}"/>
              </a:ext>
            </a:extLst>
          </p:cNvPr>
          <p:cNvSpPr>
            <a:spLocks noGrp="1"/>
          </p:cNvSpPr>
          <p:nvPr>
            <p:ph sz="quarter" idx="11"/>
          </p:nvPr>
        </p:nvSpPr>
        <p:spPr>
          <a:xfrm>
            <a:off x="486000" y="900000"/>
            <a:ext cx="8172000" cy="3703500"/>
          </a:xfrm>
        </p:spPr>
        <p:txBody>
          <a:bodyPr/>
          <a:lstStyle/>
          <a:p>
            <a:r>
              <a:rPr lang="en-US" altLang="zh-CN" dirty="0"/>
              <a:t>1.IP </a:t>
            </a:r>
            <a:r>
              <a:rPr lang="zh-CN" altLang="en-US" dirty="0"/>
              <a:t>多播需要两种协议</a:t>
            </a:r>
          </a:p>
          <a:p>
            <a:r>
              <a:rPr lang="zh-CN" altLang="en-US" dirty="0"/>
              <a:t>网际组管理协议 </a:t>
            </a:r>
            <a:r>
              <a:rPr lang="en-US" altLang="zh-CN" dirty="0"/>
              <a:t>IGMP - Internet Group Management Protocol</a:t>
            </a:r>
          </a:p>
          <a:p>
            <a:pPr lvl="1"/>
            <a:r>
              <a:rPr lang="zh-CN" altLang="en-US" dirty="0"/>
              <a:t>使多播路由器知道多播组成员信息（有无成员）</a:t>
            </a:r>
          </a:p>
          <a:p>
            <a:r>
              <a:rPr lang="zh-CN" altLang="en-US" dirty="0"/>
              <a:t>多播路由选择协议</a:t>
            </a:r>
            <a:endParaRPr lang="en-US" altLang="zh-CN" dirty="0"/>
          </a:p>
          <a:p>
            <a:pPr lvl="1"/>
            <a:r>
              <a:rPr lang="zh-CN" altLang="en-US" dirty="0"/>
              <a:t>使多播路由器协同工作，把多播数据报用最小代价传送给多播组的所有成员</a:t>
            </a:r>
          </a:p>
          <a:p>
            <a:endParaRPr lang="zh-CN" altLang="en-US" dirty="0"/>
          </a:p>
        </p:txBody>
      </p:sp>
    </p:spTree>
    <p:extLst>
      <p:ext uri="{BB962C8B-B14F-4D97-AF65-F5344CB8AC3E}">
        <p14:creationId xmlns:p14="http://schemas.microsoft.com/office/powerpoint/2010/main" val="3307175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a:extLst>
              <a:ext uri="{FF2B5EF4-FFF2-40B4-BE49-F238E27FC236}">
                <a16:creationId xmlns:a16="http://schemas.microsoft.com/office/drawing/2014/main" id="{2561D0E6-A27E-D61A-5E89-5B0F8414ABB9}"/>
              </a:ext>
            </a:extLst>
          </p:cNvPr>
          <p:cNvSpPr>
            <a:spLocks noGrp="1"/>
          </p:cNvSpPr>
          <p:nvPr>
            <p:ph sz="quarter" idx="11"/>
          </p:nvPr>
        </p:nvSpPr>
        <p:spPr>
          <a:xfrm>
            <a:off x="486000" y="900000"/>
            <a:ext cx="8172000" cy="3703500"/>
          </a:xfrm>
        </p:spPr>
        <p:txBody>
          <a:bodyPr/>
          <a:lstStyle/>
          <a:p>
            <a:r>
              <a:rPr lang="en-US" altLang="zh-CN" dirty="0"/>
              <a:t>IGMP </a:t>
            </a:r>
            <a:r>
              <a:rPr lang="zh-CN" altLang="en-US" dirty="0"/>
              <a:t>协议是让连接在本地局域网上的多播路由器知道本局域网上是否有主机参加或退出了某个多播组</a:t>
            </a:r>
            <a:endParaRPr lang="en-US" altLang="zh-CN" dirty="0"/>
          </a:p>
          <a:p>
            <a:r>
              <a:rPr lang="en-US" altLang="zh-CN" dirty="0"/>
              <a:t>IGMP </a:t>
            </a:r>
            <a:r>
              <a:rPr lang="zh-CN" altLang="en-US" dirty="0"/>
              <a:t>不知道 </a:t>
            </a:r>
            <a:r>
              <a:rPr lang="en-US" altLang="zh-CN" dirty="0"/>
              <a:t>IP </a:t>
            </a:r>
            <a:r>
              <a:rPr lang="zh-CN" altLang="en-US" dirty="0"/>
              <a:t>多播组包含的成员数，也不知道这些成员都分布在哪些网络上</a:t>
            </a:r>
          </a:p>
          <a:p>
            <a:endParaRPr lang="zh-CN" altLang="en-US" dirty="0"/>
          </a:p>
        </p:txBody>
      </p:sp>
      <p:grpSp>
        <p:nvGrpSpPr>
          <p:cNvPr id="17" name="组合 16"/>
          <p:cNvGrpSpPr/>
          <p:nvPr/>
        </p:nvGrpSpPr>
        <p:grpSpPr>
          <a:xfrm>
            <a:off x="803470" y="1803902"/>
            <a:ext cx="7176610" cy="2788875"/>
            <a:chOff x="887807" y="1148065"/>
            <a:chExt cx="7293847" cy="3115769"/>
          </a:xfrm>
        </p:grpSpPr>
        <p:sp>
          <p:nvSpPr>
            <p:cNvPr id="86" name="Text Box 7"/>
            <p:cNvSpPr txBox="1">
              <a:spLocks noChangeArrowheads="1"/>
            </p:cNvSpPr>
            <p:nvPr/>
          </p:nvSpPr>
          <p:spPr bwMode="auto">
            <a:xfrm>
              <a:off x="3082055" y="1325308"/>
              <a:ext cx="656890" cy="515778"/>
            </a:xfrm>
            <a:prstGeom prst="rect">
              <a:avLst/>
            </a:prstGeom>
            <a:solidFill>
              <a:schemeClr val="accent6">
                <a:lumMod val="60000"/>
                <a:lumOff val="40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a:latin typeface="微软雅黑 Light" panose="020B0502040204020203" pitchFamily="34" charset="-122"/>
                  <a:ea typeface="微软雅黑 Light" panose="020B0502040204020203" pitchFamily="34" charset="-122"/>
                </a:rPr>
                <a:t>未参加</a:t>
              </a:r>
              <a:endParaRPr lang="en-US" altLang="zh-CN" sz="1200">
                <a:latin typeface="微软雅黑 Light" panose="020B0502040204020203" pitchFamily="34" charset="-122"/>
                <a:ea typeface="微软雅黑 Light" panose="020B0502040204020203" pitchFamily="34" charset="-122"/>
              </a:endParaRPr>
            </a:p>
            <a:p>
              <a:pPr algn="ctr" eaLnBrk="1" hangingPunct="1"/>
              <a:r>
                <a:rPr lang="zh-CN" altLang="en-US" sz="1200">
                  <a:latin typeface="微软雅黑 Light" panose="020B0502040204020203" pitchFamily="34" charset="-122"/>
                  <a:ea typeface="微软雅黑 Light" panose="020B0502040204020203" pitchFamily="34" charset="-122"/>
                </a:rPr>
                <a:t>多播组</a:t>
              </a:r>
              <a:endParaRPr lang="en-US" altLang="zh-CN" sz="1200">
                <a:latin typeface="微软雅黑 Light" panose="020B0502040204020203" pitchFamily="34" charset="-122"/>
                <a:ea typeface="微软雅黑 Light" panose="020B0502040204020203" pitchFamily="34" charset="-122"/>
              </a:endParaRPr>
            </a:p>
          </p:txBody>
        </p:sp>
        <p:sp>
          <p:nvSpPr>
            <p:cNvPr id="87" name="Text Box 7"/>
            <p:cNvSpPr txBox="1">
              <a:spLocks noChangeArrowheads="1"/>
            </p:cNvSpPr>
            <p:nvPr/>
          </p:nvSpPr>
          <p:spPr bwMode="auto">
            <a:xfrm>
              <a:off x="5292856" y="1366899"/>
              <a:ext cx="1109804" cy="515778"/>
            </a:xfrm>
            <a:prstGeom prst="rect">
              <a:avLst/>
            </a:prstGeom>
            <a:solidFill>
              <a:srgbClr val="99FFCC"/>
            </a:solidFill>
            <a:ln w="9525">
              <a:solidFill>
                <a:schemeClr val="tx1"/>
              </a:solidFill>
              <a:miter lim="800000"/>
              <a:headEnd/>
              <a:tailEnd/>
            </a:ln>
            <a:effectLst/>
          </p:spPr>
          <p:txBody>
            <a:bodyPr wrap="none">
              <a:spAutoFit/>
            </a:bodyPr>
            <a:lstStyle/>
            <a:p>
              <a:pPr algn="ctr">
                <a:defRPr/>
              </a:pPr>
              <a:r>
                <a:rPr lang="zh-CN" altLang="en-US" sz="1200" dirty="0">
                  <a:latin typeface="微软雅黑 Light" panose="020B0502040204020203" pitchFamily="34" charset="-122"/>
                  <a:ea typeface="微软雅黑 Light" panose="020B0502040204020203" pitchFamily="34" charset="-122"/>
                </a:rPr>
                <a:t>参加多播组</a:t>
              </a:r>
              <a:endParaRPr lang="en-US" altLang="zh-CN" sz="1200" dirty="0">
                <a:latin typeface="微软雅黑 Light" panose="020B0502040204020203" pitchFamily="34" charset="-122"/>
                <a:ea typeface="微软雅黑 Light" panose="020B0502040204020203" pitchFamily="34" charset="-122"/>
              </a:endParaRPr>
            </a:p>
            <a:p>
              <a:pPr algn="ctr">
                <a:defRPr/>
              </a:pPr>
              <a:r>
                <a:rPr lang="en-US" altLang="zh-CN" sz="1200" dirty="0">
                  <a:latin typeface="微软雅黑 Light" panose="020B0502040204020203" pitchFamily="34" charset="-122"/>
                  <a:ea typeface="微软雅黑 Light" panose="020B0502040204020203" pitchFamily="34" charset="-122"/>
                </a:rPr>
                <a:t>226.15.37.123</a:t>
              </a:r>
            </a:p>
          </p:txBody>
        </p:sp>
        <p:sp>
          <p:nvSpPr>
            <p:cNvPr id="88" name="Line 47"/>
            <p:cNvSpPr>
              <a:spLocks noChangeShapeType="1"/>
            </p:cNvSpPr>
            <p:nvPr/>
          </p:nvSpPr>
          <p:spPr bwMode="auto">
            <a:xfrm>
              <a:off x="4501286" y="3209812"/>
              <a:ext cx="0" cy="41313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89" name="Line 46"/>
            <p:cNvSpPr>
              <a:spLocks noChangeShapeType="1"/>
            </p:cNvSpPr>
            <p:nvPr/>
          </p:nvSpPr>
          <p:spPr bwMode="auto">
            <a:xfrm flipV="1">
              <a:off x="2373147" y="2872270"/>
              <a:ext cx="282797" cy="46265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0" name="Line 45"/>
            <p:cNvSpPr>
              <a:spLocks noChangeShapeType="1"/>
            </p:cNvSpPr>
            <p:nvPr/>
          </p:nvSpPr>
          <p:spPr bwMode="auto">
            <a:xfrm>
              <a:off x="2373147" y="2507359"/>
              <a:ext cx="294525" cy="35448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1" name="Line 44"/>
            <p:cNvSpPr>
              <a:spLocks noChangeShapeType="1"/>
            </p:cNvSpPr>
            <p:nvPr/>
          </p:nvSpPr>
          <p:spPr bwMode="auto">
            <a:xfrm>
              <a:off x="4501286" y="1974328"/>
              <a:ext cx="0" cy="41443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2" name="Line 43"/>
            <p:cNvSpPr>
              <a:spLocks noChangeShapeType="1"/>
            </p:cNvSpPr>
            <p:nvPr/>
          </p:nvSpPr>
          <p:spPr bwMode="auto">
            <a:xfrm>
              <a:off x="5268875" y="2861843"/>
              <a:ext cx="100607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3" name="Line 42"/>
            <p:cNvSpPr>
              <a:spLocks noChangeShapeType="1"/>
            </p:cNvSpPr>
            <p:nvPr/>
          </p:nvSpPr>
          <p:spPr bwMode="auto">
            <a:xfrm>
              <a:off x="2786264" y="2861843"/>
              <a:ext cx="94612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4" name="Line 37"/>
            <p:cNvSpPr>
              <a:spLocks noChangeShapeType="1"/>
            </p:cNvSpPr>
            <p:nvPr/>
          </p:nvSpPr>
          <p:spPr bwMode="auto">
            <a:xfrm>
              <a:off x="6333596" y="2920489"/>
              <a:ext cx="354473" cy="47308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5" name="Line 36"/>
            <p:cNvSpPr>
              <a:spLocks noChangeShapeType="1"/>
            </p:cNvSpPr>
            <p:nvPr/>
          </p:nvSpPr>
          <p:spPr bwMode="auto">
            <a:xfrm flipV="1">
              <a:off x="6333596" y="2566005"/>
              <a:ext cx="295828" cy="295839"/>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6" name="Line 31"/>
            <p:cNvSpPr>
              <a:spLocks noChangeShapeType="1"/>
            </p:cNvSpPr>
            <p:nvPr/>
          </p:nvSpPr>
          <p:spPr bwMode="auto">
            <a:xfrm flipV="1">
              <a:off x="4618575" y="1619843"/>
              <a:ext cx="354473" cy="295839"/>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7" name="Line 30"/>
            <p:cNvSpPr>
              <a:spLocks noChangeShapeType="1"/>
            </p:cNvSpPr>
            <p:nvPr/>
          </p:nvSpPr>
          <p:spPr bwMode="auto">
            <a:xfrm flipH="1" flipV="1">
              <a:off x="3909630" y="1619843"/>
              <a:ext cx="531709" cy="295839"/>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98" name="Picture 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84953" y="2051220"/>
              <a:ext cx="414420" cy="235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32393" y="1385257"/>
              <a:ext cx="410510" cy="371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0" name="Text Box 7"/>
            <p:cNvSpPr txBox="1">
              <a:spLocks noChangeArrowheads="1"/>
            </p:cNvSpPr>
            <p:nvPr/>
          </p:nvSpPr>
          <p:spPr bwMode="auto">
            <a:xfrm>
              <a:off x="4479132" y="1148065"/>
              <a:ext cx="116570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128.56.24.34</a:t>
              </a:r>
            </a:p>
          </p:txBody>
        </p:sp>
        <p:sp>
          <p:nvSpPr>
            <p:cNvPr id="101" name="Text Box 8"/>
            <p:cNvSpPr txBox="1">
              <a:spLocks noChangeArrowheads="1"/>
            </p:cNvSpPr>
            <p:nvPr/>
          </p:nvSpPr>
          <p:spPr bwMode="auto">
            <a:xfrm>
              <a:off x="1836225" y="2034277"/>
              <a:ext cx="116570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135.27.74.52</a:t>
              </a:r>
            </a:p>
          </p:txBody>
        </p:sp>
        <p:sp>
          <p:nvSpPr>
            <p:cNvPr id="102" name="Text Box 9"/>
            <p:cNvSpPr txBox="1">
              <a:spLocks noChangeArrowheads="1"/>
            </p:cNvSpPr>
            <p:nvPr/>
          </p:nvSpPr>
          <p:spPr bwMode="auto">
            <a:xfrm>
              <a:off x="6252797" y="2034277"/>
              <a:ext cx="116570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130.12.14.56</a:t>
              </a:r>
            </a:p>
          </p:txBody>
        </p:sp>
        <p:sp>
          <p:nvSpPr>
            <p:cNvPr id="103" name="Text Box 10"/>
            <p:cNvSpPr txBox="1">
              <a:spLocks noChangeArrowheads="1"/>
            </p:cNvSpPr>
            <p:nvPr/>
          </p:nvSpPr>
          <p:spPr bwMode="auto">
            <a:xfrm>
              <a:off x="6370086" y="2881392"/>
              <a:ext cx="116570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130.12.14.43</a:t>
              </a:r>
            </a:p>
          </p:txBody>
        </p:sp>
        <p:pic>
          <p:nvPicPr>
            <p:cNvPr id="104"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443" y="1374831"/>
              <a:ext cx="410511" cy="371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5"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77319" y="3099036"/>
              <a:ext cx="410510"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6"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08596" y="2262347"/>
              <a:ext cx="410510"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7" name="Picture 2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69476" y="3096429"/>
              <a:ext cx="410511"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8" name="Picture 2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21258" y="2262347"/>
              <a:ext cx="410510"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9" name="Line 32"/>
            <p:cNvSpPr>
              <a:spLocks noChangeShapeType="1"/>
            </p:cNvSpPr>
            <p:nvPr/>
          </p:nvSpPr>
          <p:spPr bwMode="auto">
            <a:xfrm flipV="1">
              <a:off x="4028221" y="3689409"/>
              <a:ext cx="413117" cy="22937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110"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30133" y="3748056"/>
              <a:ext cx="410511"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1" name="Line 34"/>
            <p:cNvSpPr>
              <a:spLocks noChangeShapeType="1"/>
            </p:cNvSpPr>
            <p:nvPr/>
          </p:nvSpPr>
          <p:spPr bwMode="auto">
            <a:xfrm flipH="1" flipV="1">
              <a:off x="4559930" y="3689409"/>
              <a:ext cx="473065" cy="22937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112" name="Picture 1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33604" y="3768908"/>
              <a:ext cx="410511"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3" name="Picture 3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4651" y="2743247"/>
              <a:ext cx="414420" cy="2358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4" name="Picture 4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84953" y="3289311"/>
              <a:ext cx="414420" cy="235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23448" y="2744551"/>
              <a:ext cx="414420" cy="235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16" name="Group 48"/>
            <p:cNvGrpSpPr>
              <a:grpSpLocks/>
            </p:cNvGrpSpPr>
            <p:nvPr/>
          </p:nvGrpSpPr>
          <p:grpSpPr bwMode="auto">
            <a:xfrm>
              <a:off x="3673749" y="2388762"/>
              <a:ext cx="1713719" cy="827566"/>
              <a:chOff x="912" y="768"/>
              <a:chExt cx="2400" cy="1584"/>
            </a:xfrm>
            <a:solidFill>
              <a:srgbClr val="0066FF"/>
            </a:solidFill>
          </p:grpSpPr>
          <p:sp>
            <p:nvSpPr>
              <p:cNvPr id="117" name="Oval 49"/>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8" name="Oval 50"/>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9" name="Oval 51"/>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0" name="Oval 52"/>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1" name="Oval 53"/>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2" name="Oval 54"/>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3" name="Oval 55"/>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4" name="Oval 56"/>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5" name="Oval 57"/>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26" name="Group 58"/>
              <p:cNvGrpSpPr>
                <a:grpSpLocks/>
              </p:cNvGrpSpPr>
              <p:nvPr/>
            </p:nvGrpSpPr>
            <p:grpSpPr bwMode="auto">
              <a:xfrm>
                <a:off x="912" y="768"/>
                <a:ext cx="2386" cy="1553"/>
                <a:chOff x="912" y="768"/>
                <a:chExt cx="2386" cy="1553"/>
              </a:xfrm>
              <a:grpFill/>
            </p:grpSpPr>
            <p:sp>
              <p:nvSpPr>
                <p:cNvPr id="127" name="Oval 59"/>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8" name="Oval 60"/>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9" name="Oval 61"/>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0" name="Oval 62"/>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1" name="Oval 63"/>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2" name="Oval 64"/>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3" name="Oval 65"/>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4" name="Oval 66"/>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5" name="Oval 67"/>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136" name="Text Box 68"/>
            <p:cNvSpPr txBox="1">
              <a:spLocks noChangeArrowheads="1"/>
            </p:cNvSpPr>
            <p:nvPr/>
          </p:nvSpPr>
          <p:spPr bwMode="auto">
            <a:xfrm>
              <a:off x="3919838" y="2552111"/>
              <a:ext cx="1338327" cy="515778"/>
            </a:xfrm>
            <a:prstGeom prst="rect">
              <a:avLst/>
            </a:prstGeom>
            <a:solidFill>
              <a:srgbClr val="99FFCC"/>
            </a:solidFill>
            <a:ln w="9525">
              <a:solidFill>
                <a:schemeClr val="tx1"/>
              </a:solidFill>
              <a:miter lim="800000"/>
              <a:headEnd/>
              <a:tailEnd/>
            </a:ln>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dirty="0">
                  <a:latin typeface="微软雅黑 Light" panose="020B0502040204020203" pitchFamily="34" charset="-122"/>
                  <a:ea typeface="微软雅黑 Light" panose="020B0502040204020203" pitchFamily="34" charset="-122"/>
                </a:rPr>
                <a:t>多播组</a:t>
              </a:r>
            </a:p>
            <a:p>
              <a:pPr algn="ctr" eaLnBrk="1" hangingPunct="1"/>
              <a:r>
                <a:rPr lang="en-US" altLang="zh-CN" sz="1200" dirty="0">
                  <a:latin typeface="微软雅黑 Light" panose="020B0502040204020203" pitchFamily="34" charset="-122"/>
                  <a:ea typeface="微软雅黑 Light" panose="020B0502040204020203" pitchFamily="34" charset="-122"/>
                </a:rPr>
                <a:t>226.15.37.123</a:t>
              </a:r>
            </a:p>
          </p:txBody>
        </p:sp>
        <p:sp>
          <p:nvSpPr>
            <p:cNvPr id="137" name="Text Box 74"/>
            <p:cNvSpPr txBox="1">
              <a:spLocks noChangeArrowheads="1"/>
            </p:cNvSpPr>
            <p:nvPr/>
          </p:nvSpPr>
          <p:spPr bwMode="auto">
            <a:xfrm>
              <a:off x="2727619" y="2388762"/>
              <a:ext cx="622677" cy="309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solidFill>
                    <a:srgbClr val="0000FF"/>
                  </a:solidFill>
                  <a:latin typeface="微软雅黑" panose="020B0503020204020204" pitchFamily="34" charset="-122"/>
                  <a:ea typeface="微软雅黑" panose="020B0503020204020204" pitchFamily="34" charset="-122"/>
                </a:rPr>
                <a:t>IGMP</a:t>
              </a:r>
            </a:p>
          </p:txBody>
        </p:sp>
        <p:sp>
          <p:nvSpPr>
            <p:cNvPr id="138" name="Text Box 77"/>
            <p:cNvSpPr txBox="1">
              <a:spLocks noChangeArrowheads="1"/>
            </p:cNvSpPr>
            <p:nvPr/>
          </p:nvSpPr>
          <p:spPr bwMode="auto">
            <a:xfrm>
              <a:off x="5831333" y="2373659"/>
              <a:ext cx="622677" cy="309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solidFill>
                    <a:srgbClr val="0000FF"/>
                  </a:solidFill>
                  <a:latin typeface="微软雅黑" panose="020B0503020204020204" pitchFamily="34" charset="-122"/>
                  <a:ea typeface="微软雅黑" panose="020B0503020204020204" pitchFamily="34" charset="-122"/>
                </a:rPr>
                <a:t>IGMP</a:t>
              </a:r>
            </a:p>
          </p:txBody>
        </p:sp>
        <p:sp>
          <p:nvSpPr>
            <p:cNvPr id="139" name="Text Box 78"/>
            <p:cNvSpPr txBox="1">
              <a:spLocks noChangeArrowheads="1"/>
            </p:cNvSpPr>
            <p:nvPr/>
          </p:nvSpPr>
          <p:spPr bwMode="auto">
            <a:xfrm>
              <a:off x="4726741" y="1837486"/>
              <a:ext cx="622677" cy="309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solidFill>
                    <a:srgbClr val="0000FF"/>
                  </a:solidFill>
                  <a:latin typeface="微软雅黑" panose="020B0503020204020204" pitchFamily="34" charset="-122"/>
                  <a:ea typeface="微软雅黑" panose="020B0503020204020204" pitchFamily="34" charset="-122"/>
                </a:rPr>
                <a:t>IGMP</a:t>
              </a:r>
            </a:p>
          </p:txBody>
        </p:sp>
        <p:sp>
          <p:nvSpPr>
            <p:cNvPr id="140" name="Text Box 79"/>
            <p:cNvSpPr txBox="1">
              <a:spLocks noChangeArrowheads="1"/>
            </p:cNvSpPr>
            <p:nvPr/>
          </p:nvSpPr>
          <p:spPr bwMode="auto">
            <a:xfrm>
              <a:off x="5768004" y="3109462"/>
              <a:ext cx="622677" cy="309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solidFill>
                    <a:srgbClr val="0000FF"/>
                  </a:solidFill>
                  <a:latin typeface="微软雅黑" panose="020B0503020204020204" pitchFamily="34" charset="-122"/>
                  <a:ea typeface="微软雅黑" panose="020B0503020204020204" pitchFamily="34" charset="-122"/>
                </a:rPr>
                <a:t>IGMP</a:t>
              </a:r>
            </a:p>
          </p:txBody>
        </p:sp>
        <p:sp>
          <p:nvSpPr>
            <p:cNvPr id="141" name="Text Box 81"/>
            <p:cNvSpPr txBox="1">
              <a:spLocks noChangeArrowheads="1"/>
            </p:cNvSpPr>
            <p:nvPr/>
          </p:nvSpPr>
          <p:spPr bwMode="auto">
            <a:xfrm>
              <a:off x="4028220" y="1974328"/>
              <a:ext cx="35458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R</a:t>
              </a:r>
              <a:r>
                <a:rPr lang="en-US" altLang="zh-CN" sz="1200" b="1" baseline="-25000">
                  <a:latin typeface="微软雅黑" panose="020B0503020204020204" pitchFamily="34" charset="-122"/>
                  <a:ea typeface="微软雅黑" panose="020B0503020204020204" pitchFamily="34" charset="-122"/>
                </a:rPr>
                <a:t>1</a:t>
              </a:r>
            </a:p>
          </p:txBody>
        </p:sp>
        <p:sp>
          <p:nvSpPr>
            <p:cNvPr id="142" name="Text Box 82"/>
            <p:cNvSpPr txBox="1">
              <a:spLocks noChangeArrowheads="1"/>
            </p:cNvSpPr>
            <p:nvPr/>
          </p:nvSpPr>
          <p:spPr bwMode="auto">
            <a:xfrm>
              <a:off x="4003461" y="3235877"/>
              <a:ext cx="35458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R</a:t>
              </a:r>
              <a:r>
                <a:rPr lang="en-US" altLang="zh-CN" sz="1200" b="1" baseline="-25000">
                  <a:latin typeface="微软雅黑" panose="020B0503020204020204" pitchFamily="34" charset="-122"/>
                  <a:ea typeface="微软雅黑" panose="020B0503020204020204" pitchFamily="34" charset="-122"/>
                </a:rPr>
                <a:t>4</a:t>
              </a:r>
            </a:p>
          </p:txBody>
        </p:sp>
        <p:sp>
          <p:nvSpPr>
            <p:cNvPr id="143" name="Text Box 83"/>
            <p:cNvSpPr txBox="1">
              <a:spLocks noChangeArrowheads="1"/>
            </p:cNvSpPr>
            <p:nvPr/>
          </p:nvSpPr>
          <p:spPr bwMode="auto">
            <a:xfrm>
              <a:off x="5422653" y="2526907"/>
              <a:ext cx="35458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R</a:t>
              </a:r>
              <a:r>
                <a:rPr lang="en-US" altLang="zh-CN" sz="1200" b="1" baseline="-25000">
                  <a:latin typeface="微软雅黑" panose="020B0503020204020204" pitchFamily="34" charset="-122"/>
                  <a:ea typeface="微软雅黑" panose="020B0503020204020204" pitchFamily="34" charset="-122"/>
                </a:rPr>
                <a:t>3</a:t>
              </a:r>
            </a:p>
          </p:txBody>
        </p:sp>
        <p:sp>
          <p:nvSpPr>
            <p:cNvPr id="144" name="Text Box 84"/>
            <p:cNvSpPr txBox="1">
              <a:spLocks noChangeArrowheads="1"/>
            </p:cNvSpPr>
            <p:nvPr/>
          </p:nvSpPr>
          <p:spPr bwMode="auto">
            <a:xfrm>
              <a:off x="3354463" y="2585554"/>
              <a:ext cx="35458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R</a:t>
              </a:r>
              <a:r>
                <a:rPr lang="en-US" altLang="zh-CN" sz="1200" b="1" baseline="-25000">
                  <a:latin typeface="微软雅黑" panose="020B0503020204020204" pitchFamily="34" charset="-122"/>
                  <a:ea typeface="微软雅黑" panose="020B0503020204020204" pitchFamily="34" charset="-122"/>
                </a:rPr>
                <a:t>2</a:t>
              </a:r>
            </a:p>
          </p:txBody>
        </p:sp>
        <p:sp>
          <p:nvSpPr>
            <p:cNvPr id="145" name="Text Box 7"/>
            <p:cNvSpPr txBox="1">
              <a:spLocks noChangeArrowheads="1"/>
            </p:cNvSpPr>
            <p:nvPr/>
          </p:nvSpPr>
          <p:spPr bwMode="auto">
            <a:xfrm>
              <a:off x="887807" y="2270166"/>
              <a:ext cx="1109804" cy="515778"/>
            </a:xfrm>
            <a:prstGeom prst="rect">
              <a:avLst/>
            </a:prstGeom>
            <a:solidFill>
              <a:srgbClr val="99FFCC"/>
            </a:solidFill>
            <a:ln w="9525">
              <a:solidFill>
                <a:schemeClr val="tx1"/>
              </a:solidFill>
              <a:miter lim="800000"/>
              <a:headEnd/>
              <a:tailEnd/>
            </a:ln>
            <a:effectLst/>
          </p:spPr>
          <p:txBody>
            <a:bodyPr wrap="none">
              <a:spAutoFit/>
            </a:bodyPr>
            <a:lstStyle/>
            <a:p>
              <a:pPr algn="ctr">
                <a:defRPr/>
              </a:pPr>
              <a:r>
                <a:rPr lang="zh-CN" altLang="en-US" sz="1200" dirty="0">
                  <a:latin typeface="微软雅黑 Light" panose="020B0502040204020203" pitchFamily="34" charset="-122"/>
                  <a:ea typeface="微软雅黑 Light" panose="020B0502040204020203" pitchFamily="34" charset="-122"/>
                </a:rPr>
                <a:t>参加多播组</a:t>
              </a:r>
              <a:endParaRPr lang="en-US" altLang="zh-CN" sz="1200" dirty="0">
                <a:latin typeface="微软雅黑 Light" panose="020B0502040204020203" pitchFamily="34" charset="-122"/>
                <a:ea typeface="微软雅黑 Light" panose="020B0502040204020203" pitchFamily="34" charset="-122"/>
              </a:endParaRPr>
            </a:p>
            <a:p>
              <a:pPr algn="ctr">
                <a:defRPr/>
              </a:pPr>
              <a:r>
                <a:rPr lang="en-US" altLang="zh-CN" sz="1200" dirty="0">
                  <a:latin typeface="微软雅黑 Light" panose="020B0502040204020203" pitchFamily="34" charset="-122"/>
                  <a:ea typeface="微软雅黑 Light" panose="020B0502040204020203" pitchFamily="34" charset="-122"/>
                </a:rPr>
                <a:t>226.15.37.123</a:t>
              </a:r>
            </a:p>
          </p:txBody>
        </p:sp>
        <p:sp>
          <p:nvSpPr>
            <p:cNvPr id="146" name="Text Box 7"/>
            <p:cNvSpPr txBox="1">
              <a:spLocks noChangeArrowheads="1"/>
            </p:cNvSpPr>
            <p:nvPr/>
          </p:nvSpPr>
          <p:spPr bwMode="auto">
            <a:xfrm>
              <a:off x="7071850" y="2270166"/>
              <a:ext cx="1109804" cy="515778"/>
            </a:xfrm>
            <a:prstGeom prst="rect">
              <a:avLst/>
            </a:prstGeom>
            <a:solidFill>
              <a:srgbClr val="99FFCC"/>
            </a:solidFill>
            <a:ln w="9525">
              <a:solidFill>
                <a:schemeClr val="tx1"/>
              </a:solidFill>
              <a:miter lim="800000"/>
              <a:headEnd/>
              <a:tailEnd/>
            </a:ln>
            <a:effectLst/>
          </p:spPr>
          <p:txBody>
            <a:bodyPr wrap="none">
              <a:spAutoFit/>
            </a:bodyPr>
            <a:lstStyle/>
            <a:p>
              <a:pPr algn="ctr">
                <a:defRPr/>
              </a:pPr>
              <a:r>
                <a:rPr lang="zh-CN" altLang="en-US" sz="1200" dirty="0">
                  <a:latin typeface="微软雅黑 Light" panose="020B0502040204020203" pitchFamily="34" charset="-122"/>
                  <a:ea typeface="微软雅黑 Light" panose="020B0502040204020203" pitchFamily="34" charset="-122"/>
                </a:rPr>
                <a:t>参加多播组</a:t>
              </a:r>
              <a:endParaRPr lang="en-US" altLang="zh-CN" sz="1200" dirty="0">
                <a:latin typeface="微软雅黑 Light" panose="020B0502040204020203" pitchFamily="34" charset="-122"/>
                <a:ea typeface="微软雅黑 Light" panose="020B0502040204020203" pitchFamily="34" charset="-122"/>
              </a:endParaRPr>
            </a:p>
            <a:p>
              <a:pPr algn="ctr">
                <a:defRPr/>
              </a:pPr>
              <a:r>
                <a:rPr lang="en-US" altLang="zh-CN" sz="1200" dirty="0">
                  <a:latin typeface="微软雅黑 Light" panose="020B0502040204020203" pitchFamily="34" charset="-122"/>
                  <a:ea typeface="微软雅黑 Light" panose="020B0502040204020203" pitchFamily="34" charset="-122"/>
                </a:rPr>
                <a:t>226.15.37.123</a:t>
              </a:r>
            </a:p>
          </p:txBody>
        </p:sp>
        <p:sp>
          <p:nvSpPr>
            <p:cNvPr id="147" name="Text Box 7"/>
            <p:cNvSpPr txBox="1">
              <a:spLocks noChangeArrowheads="1"/>
            </p:cNvSpPr>
            <p:nvPr/>
          </p:nvSpPr>
          <p:spPr bwMode="auto">
            <a:xfrm>
              <a:off x="5262323" y="3748056"/>
              <a:ext cx="656890" cy="515778"/>
            </a:xfrm>
            <a:prstGeom prst="rect">
              <a:avLst/>
            </a:prstGeom>
            <a:solidFill>
              <a:schemeClr val="accent6">
                <a:lumMod val="60000"/>
                <a:lumOff val="40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a:latin typeface="微软雅黑 Light" panose="020B0502040204020203" pitchFamily="34" charset="-122"/>
                  <a:ea typeface="微软雅黑 Light" panose="020B0502040204020203" pitchFamily="34" charset="-122"/>
                </a:rPr>
                <a:t>未参加</a:t>
              </a:r>
              <a:endParaRPr lang="en-US" altLang="zh-CN" sz="1200">
                <a:latin typeface="微软雅黑 Light" panose="020B0502040204020203" pitchFamily="34" charset="-122"/>
                <a:ea typeface="微软雅黑 Light" panose="020B0502040204020203" pitchFamily="34" charset="-122"/>
              </a:endParaRPr>
            </a:p>
            <a:p>
              <a:pPr algn="ctr" eaLnBrk="1" hangingPunct="1"/>
              <a:r>
                <a:rPr lang="zh-CN" altLang="en-US" sz="1200">
                  <a:latin typeface="微软雅黑 Light" panose="020B0502040204020203" pitchFamily="34" charset="-122"/>
                  <a:ea typeface="微软雅黑 Light" panose="020B0502040204020203" pitchFamily="34" charset="-122"/>
                </a:rPr>
                <a:t>多播组</a:t>
              </a:r>
              <a:endParaRPr lang="en-US" altLang="zh-CN" sz="1200">
                <a:latin typeface="微软雅黑 Light" panose="020B0502040204020203" pitchFamily="34" charset="-122"/>
                <a:ea typeface="微软雅黑 Light" panose="020B0502040204020203" pitchFamily="34" charset="-122"/>
              </a:endParaRPr>
            </a:p>
          </p:txBody>
        </p:sp>
        <p:sp>
          <p:nvSpPr>
            <p:cNvPr id="148" name="Text Box 7"/>
            <p:cNvSpPr txBox="1">
              <a:spLocks noChangeArrowheads="1"/>
            </p:cNvSpPr>
            <p:nvPr/>
          </p:nvSpPr>
          <p:spPr bwMode="auto">
            <a:xfrm>
              <a:off x="3140700" y="3741540"/>
              <a:ext cx="656890" cy="515778"/>
            </a:xfrm>
            <a:prstGeom prst="rect">
              <a:avLst/>
            </a:prstGeom>
            <a:solidFill>
              <a:schemeClr val="accent6">
                <a:lumMod val="60000"/>
                <a:lumOff val="40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a:latin typeface="微软雅黑 Light" panose="020B0502040204020203" pitchFamily="34" charset="-122"/>
                  <a:ea typeface="微软雅黑 Light" panose="020B0502040204020203" pitchFamily="34" charset="-122"/>
                </a:rPr>
                <a:t>未参加</a:t>
              </a:r>
              <a:endParaRPr lang="en-US" altLang="zh-CN" sz="1200">
                <a:latin typeface="微软雅黑 Light" panose="020B0502040204020203" pitchFamily="34" charset="-122"/>
                <a:ea typeface="微软雅黑 Light" panose="020B0502040204020203" pitchFamily="34" charset="-122"/>
              </a:endParaRPr>
            </a:p>
            <a:p>
              <a:pPr algn="ctr" eaLnBrk="1" hangingPunct="1"/>
              <a:r>
                <a:rPr lang="zh-CN" altLang="en-US" sz="1200">
                  <a:latin typeface="微软雅黑 Light" panose="020B0502040204020203" pitchFamily="34" charset="-122"/>
                  <a:ea typeface="微软雅黑 Light" panose="020B0502040204020203" pitchFamily="34" charset="-122"/>
                </a:rPr>
                <a:t>多播组</a:t>
              </a:r>
              <a:endParaRPr lang="en-US" altLang="zh-CN" sz="1200">
                <a:latin typeface="微软雅黑 Light" panose="020B0502040204020203" pitchFamily="34" charset="-122"/>
                <a:ea typeface="微软雅黑 Light" panose="020B0502040204020203" pitchFamily="34" charset="-122"/>
              </a:endParaRPr>
            </a:p>
          </p:txBody>
        </p:sp>
        <p:sp>
          <p:nvSpPr>
            <p:cNvPr id="149" name="Text Box 7"/>
            <p:cNvSpPr txBox="1">
              <a:spLocks noChangeArrowheads="1"/>
            </p:cNvSpPr>
            <p:nvPr/>
          </p:nvSpPr>
          <p:spPr bwMode="auto">
            <a:xfrm>
              <a:off x="1368338" y="3097732"/>
              <a:ext cx="656890" cy="515778"/>
            </a:xfrm>
            <a:prstGeom prst="rect">
              <a:avLst/>
            </a:prstGeom>
            <a:solidFill>
              <a:schemeClr val="accent6">
                <a:lumMod val="60000"/>
                <a:lumOff val="40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dirty="0">
                  <a:latin typeface="微软雅黑 Light" panose="020B0502040204020203" pitchFamily="34" charset="-122"/>
                  <a:ea typeface="微软雅黑 Light" panose="020B0502040204020203" pitchFamily="34" charset="-122"/>
                </a:rPr>
                <a:t>未参加</a:t>
              </a:r>
              <a:endParaRPr lang="en-US" altLang="zh-CN" sz="1200" dirty="0">
                <a:latin typeface="微软雅黑 Light" panose="020B0502040204020203" pitchFamily="34" charset="-122"/>
                <a:ea typeface="微软雅黑 Light" panose="020B0502040204020203" pitchFamily="34" charset="-122"/>
              </a:endParaRPr>
            </a:p>
            <a:p>
              <a:pPr algn="ctr" eaLnBrk="1" hangingPunct="1"/>
              <a:r>
                <a:rPr lang="zh-CN" altLang="en-US" sz="1200" dirty="0">
                  <a:latin typeface="微软雅黑 Light" panose="020B0502040204020203" pitchFamily="34" charset="-122"/>
                  <a:ea typeface="微软雅黑 Light" panose="020B0502040204020203" pitchFamily="34" charset="-122"/>
                </a:rPr>
                <a:t>多播组</a:t>
              </a:r>
              <a:endParaRPr lang="en-US" altLang="zh-CN" sz="1200" dirty="0">
                <a:latin typeface="微软雅黑 Light" panose="020B0502040204020203" pitchFamily="34" charset="-122"/>
                <a:ea typeface="微软雅黑 Light" panose="020B0502040204020203" pitchFamily="34" charset="-122"/>
              </a:endParaRPr>
            </a:p>
          </p:txBody>
        </p:sp>
        <p:sp>
          <p:nvSpPr>
            <p:cNvPr id="150" name="Text Box 7"/>
            <p:cNvSpPr txBox="1">
              <a:spLocks noChangeArrowheads="1"/>
            </p:cNvSpPr>
            <p:nvPr/>
          </p:nvSpPr>
          <p:spPr bwMode="auto">
            <a:xfrm>
              <a:off x="7071849" y="3157682"/>
              <a:ext cx="1109804" cy="515778"/>
            </a:xfrm>
            <a:prstGeom prst="rect">
              <a:avLst/>
            </a:prstGeom>
            <a:solidFill>
              <a:srgbClr val="99FFCC"/>
            </a:solidFill>
            <a:ln w="9525">
              <a:solidFill>
                <a:schemeClr val="tx1"/>
              </a:solidFill>
              <a:miter lim="800000"/>
              <a:headEnd/>
              <a:tailEnd/>
            </a:ln>
            <a:effectLst/>
          </p:spPr>
          <p:txBody>
            <a:bodyPr wrap="none">
              <a:spAutoFit/>
            </a:bodyPr>
            <a:lstStyle/>
            <a:p>
              <a:pPr algn="ctr">
                <a:defRPr/>
              </a:pPr>
              <a:r>
                <a:rPr lang="zh-CN" altLang="en-US" sz="1200" dirty="0">
                  <a:latin typeface="微软雅黑 Light" panose="020B0502040204020203" pitchFamily="34" charset="-122"/>
                  <a:ea typeface="微软雅黑 Light" panose="020B0502040204020203" pitchFamily="34" charset="-122"/>
                </a:rPr>
                <a:t>参加多播组</a:t>
              </a:r>
              <a:endParaRPr lang="en-US" altLang="zh-CN" sz="1200" dirty="0">
                <a:latin typeface="微软雅黑 Light" panose="020B0502040204020203" pitchFamily="34" charset="-122"/>
                <a:ea typeface="微软雅黑 Light" panose="020B0502040204020203" pitchFamily="34" charset="-122"/>
              </a:endParaRPr>
            </a:p>
            <a:p>
              <a:pPr algn="ctr">
                <a:defRPr/>
              </a:pPr>
              <a:r>
                <a:rPr lang="en-US" altLang="zh-CN" sz="1200" dirty="0">
                  <a:latin typeface="微软雅黑 Light" panose="020B0502040204020203" pitchFamily="34" charset="-122"/>
                  <a:ea typeface="微软雅黑 Light" panose="020B0502040204020203" pitchFamily="34" charset="-122"/>
                </a:rPr>
                <a:t>226.15.37.123</a:t>
              </a:r>
            </a:p>
          </p:txBody>
        </p:sp>
        <p:pic>
          <p:nvPicPr>
            <p:cNvPr id="151"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54023" y="1859641"/>
              <a:ext cx="327106" cy="135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2"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21173" y="2803197"/>
              <a:ext cx="328408" cy="135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3"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34475" y="3587755"/>
              <a:ext cx="327105" cy="135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4"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584267" y="2807107"/>
              <a:ext cx="327106" cy="135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155" name="直接箭头连接符 154"/>
            <p:cNvCxnSpPr>
              <a:endCxn id="104" idx="2"/>
            </p:cNvCxnSpPr>
            <p:nvPr/>
          </p:nvCxnSpPr>
          <p:spPr>
            <a:xfrm flipV="1">
              <a:off x="4559930" y="1746259"/>
              <a:ext cx="414420" cy="346665"/>
            </a:xfrm>
            <a:prstGeom prst="straightConnector1">
              <a:avLst/>
            </a:prstGeom>
            <a:ln w="38100">
              <a:solidFill>
                <a:srgbClr val="990099"/>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p:nvPr/>
          </p:nvCxnSpPr>
          <p:spPr>
            <a:xfrm flipV="1">
              <a:off x="6028646" y="2479990"/>
              <a:ext cx="518677" cy="337543"/>
            </a:xfrm>
            <a:prstGeom prst="straightConnector1">
              <a:avLst/>
            </a:prstGeom>
            <a:ln w="38100">
              <a:solidFill>
                <a:srgbClr val="990099"/>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a:stCxn id="106" idx="3"/>
            </p:cNvCxnSpPr>
            <p:nvPr/>
          </p:nvCxnSpPr>
          <p:spPr>
            <a:xfrm>
              <a:off x="2519106" y="2448712"/>
              <a:ext cx="504342" cy="354485"/>
            </a:xfrm>
            <a:prstGeom prst="straightConnector1">
              <a:avLst/>
            </a:prstGeom>
            <a:ln w="38100">
              <a:solidFill>
                <a:srgbClr val="990099"/>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8" name="直接箭头连接符 157"/>
            <p:cNvCxnSpPr/>
            <p:nvPr/>
          </p:nvCxnSpPr>
          <p:spPr>
            <a:xfrm>
              <a:off x="6018220" y="2993472"/>
              <a:ext cx="534315" cy="342756"/>
            </a:xfrm>
            <a:prstGeom prst="straightConnector1">
              <a:avLst/>
            </a:prstGeom>
            <a:ln w="38100">
              <a:solidFill>
                <a:srgbClr val="990099"/>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grpSp>
      <p:sp>
        <p:nvSpPr>
          <p:cNvPr id="4" name="标题 3">
            <a:extLst>
              <a:ext uri="{FF2B5EF4-FFF2-40B4-BE49-F238E27FC236}">
                <a16:creationId xmlns:a16="http://schemas.microsoft.com/office/drawing/2014/main" id="{8181FBD0-B82B-B8FC-8182-90630440A540}"/>
              </a:ext>
            </a:extLst>
          </p:cNvPr>
          <p:cNvSpPr>
            <a:spLocks noGrp="1"/>
          </p:cNvSpPr>
          <p:nvPr>
            <p:ph type="title"/>
          </p:nvPr>
        </p:nvSpPr>
        <p:spPr>
          <a:xfrm>
            <a:off x="486000" y="550723"/>
            <a:ext cx="8172000" cy="338554"/>
          </a:xfrm>
        </p:spPr>
        <p:txBody>
          <a:bodyPr/>
          <a:lstStyle/>
          <a:p>
            <a:r>
              <a:rPr lang="en-US" altLang="zh-CN" dirty="0"/>
              <a:t>IGMP </a:t>
            </a:r>
            <a:r>
              <a:rPr lang="zh-CN" altLang="en-US" dirty="0"/>
              <a:t>使多播路由器知道多播组成员信息 </a:t>
            </a:r>
          </a:p>
        </p:txBody>
      </p:sp>
    </p:spTree>
    <p:extLst>
      <p:ext uri="{BB962C8B-B14F-4D97-AF65-F5344CB8AC3E}">
        <p14:creationId xmlns:p14="http://schemas.microsoft.com/office/powerpoint/2010/main" val="38619154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Line 16"/>
          <p:cNvSpPr>
            <a:spLocks noChangeShapeType="1"/>
          </p:cNvSpPr>
          <p:nvPr/>
        </p:nvSpPr>
        <p:spPr bwMode="auto">
          <a:xfrm>
            <a:off x="2589919" y="3110129"/>
            <a:ext cx="535673" cy="839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 name="任意多边形 43"/>
          <p:cNvSpPr/>
          <p:nvPr/>
        </p:nvSpPr>
        <p:spPr>
          <a:xfrm>
            <a:off x="2000171" y="3108262"/>
            <a:ext cx="4351289" cy="1377058"/>
          </a:xfrm>
          <a:custGeom>
            <a:avLst/>
            <a:gdLst>
              <a:gd name="connsiteX0" fmla="*/ 147204 w 4266044"/>
              <a:gd name="connsiteY0" fmla="*/ 77932 h 1078345"/>
              <a:gd name="connsiteX1" fmla="*/ 337704 w 4266044"/>
              <a:gd name="connsiteY1" fmla="*/ 46759 h 1078345"/>
              <a:gd name="connsiteX2" fmla="*/ 393122 w 4266044"/>
              <a:gd name="connsiteY2" fmla="*/ 50223 h 1078345"/>
              <a:gd name="connsiteX3" fmla="*/ 642504 w 4266044"/>
              <a:gd name="connsiteY3" fmla="*/ 195696 h 1078345"/>
              <a:gd name="connsiteX4" fmla="*/ 749877 w 4266044"/>
              <a:gd name="connsiteY4" fmla="*/ 355023 h 1078345"/>
              <a:gd name="connsiteX5" fmla="*/ 749877 w 4266044"/>
              <a:gd name="connsiteY5" fmla="*/ 365414 h 1078345"/>
              <a:gd name="connsiteX6" fmla="*/ 819149 w 4266044"/>
              <a:gd name="connsiteY6" fmla="*/ 538596 h 1078345"/>
              <a:gd name="connsiteX7" fmla="*/ 954231 w 4266044"/>
              <a:gd name="connsiteY7" fmla="*/ 808759 h 1078345"/>
              <a:gd name="connsiteX8" fmla="*/ 1459922 w 4266044"/>
              <a:gd name="connsiteY8" fmla="*/ 947305 h 1078345"/>
              <a:gd name="connsiteX9" fmla="*/ 2530186 w 4266044"/>
              <a:gd name="connsiteY9" fmla="*/ 1016578 h 1078345"/>
              <a:gd name="connsiteX10" fmla="*/ 2744931 w 4266044"/>
              <a:gd name="connsiteY10" fmla="*/ 1013114 h 1078345"/>
              <a:gd name="connsiteX11" fmla="*/ 2873086 w 4266044"/>
              <a:gd name="connsiteY11" fmla="*/ 957696 h 1078345"/>
              <a:gd name="connsiteX12" fmla="*/ 2949286 w 4266044"/>
              <a:gd name="connsiteY12" fmla="*/ 697923 h 1078345"/>
              <a:gd name="connsiteX13" fmla="*/ 2945822 w 4266044"/>
              <a:gd name="connsiteY13" fmla="*/ 445078 h 1078345"/>
              <a:gd name="connsiteX14" fmla="*/ 3060122 w 4266044"/>
              <a:gd name="connsiteY14" fmla="*/ 126423 h 1078345"/>
              <a:gd name="connsiteX15" fmla="*/ 3784022 w 4266044"/>
              <a:gd name="connsiteY15" fmla="*/ 88323 h 1078345"/>
              <a:gd name="connsiteX16" fmla="*/ 4009159 w 4266044"/>
              <a:gd name="connsiteY16" fmla="*/ 126423 h 1078345"/>
              <a:gd name="connsiteX17" fmla="*/ 4109604 w 4266044"/>
              <a:gd name="connsiteY17" fmla="*/ 237259 h 1078345"/>
              <a:gd name="connsiteX18" fmla="*/ 4213513 w 4266044"/>
              <a:gd name="connsiteY18" fmla="*/ 427759 h 1078345"/>
              <a:gd name="connsiteX19" fmla="*/ 4258540 w 4266044"/>
              <a:gd name="connsiteY19" fmla="*/ 635578 h 1078345"/>
              <a:gd name="connsiteX20" fmla="*/ 4258540 w 4266044"/>
              <a:gd name="connsiteY20" fmla="*/ 791441 h 1078345"/>
              <a:gd name="connsiteX21" fmla="*/ 4251613 w 4266044"/>
              <a:gd name="connsiteY21" fmla="*/ 815687 h 1078345"/>
              <a:gd name="connsiteX22" fmla="*/ 4223904 w 4266044"/>
              <a:gd name="connsiteY22" fmla="*/ 871105 h 1078345"/>
              <a:gd name="connsiteX23" fmla="*/ 4137313 w 4266044"/>
              <a:gd name="connsiteY23" fmla="*/ 912668 h 1078345"/>
              <a:gd name="connsiteX24" fmla="*/ 3905249 w 4266044"/>
              <a:gd name="connsiteY24" fmla="*/ 964623 h 1078345"/>
              <a:gd name="connsiteX25" fmla="*/ 3448049 w 4266044"/>
              <a:gd name="connsiteY25" fmla="*/ 1033896 h 1078345"/>
              <a:gd name="connsiteX26" fmla="*/ 2734540 w 4266044"/>
              <a:gd name="connsiteY26" fmla="*/ 1065068 h 1078345"/>
              <a:gd name="connsiteX27" fmla="*/ 555913 w 4266044"/>
              <a:gd name="connsiteY27" fmla="*/ 954232 h 1078345"/>
              <a:gd name="connsiteX28" fmla="*/ 555913 w 4266044"/>
              <a:gd name="connsiteY28" fmla="*/ 954232 h 1078345"/>
              <a:gd name="connsiteX29" fmla="*/ 285749 w 4266044"/>
              <a:gd name="connsiteY29" fmla="*/ 919596 h 1078345"/>
              <a:gd name="connsiteX30" fmla="*/ 46759 w 4266044"/>
              <a:gd name="connsiteY30" fmla="*/ 774123 h 1078345"/>
              <a:gd name="connsiteX31" fmla="*/ 15586 w 4266044"/>
              <a:gd name="connsiteY31" fmla="*/ 514350 h 1078345"/>
              <a:gd name="connsiteX32" fmla="*/ 147204 w 4266044"/>
              <a:gd name="connsiteY32" fmla="*/ 77932 h 1078345"/>
              <a:gd name="connsiteX0" fmla="*/ 147204 w 4266044"/>
              <a:gd name="connsiteY0" fmla="*/ 77932 h 1122920"/>
              <a:gd name="connsiteX1" fmla="*/ 337704 w 4266044"/>
              <a:gd name="connsiteY1" fmla="*/ 46759 h 1122920"/>
              <a:gd name="connsiteX2" fmla="*/ 393122 w 4266044"/>
              <a:gd name="connsiteY2" fmla="*/ 50223 h 1122920"/>
              <a:gd name="connsiteX3" fmla="*/ 642504 w 4266044"/>
              <a:gd name="connsiteY3" fmla="*/ 195696 h 1122920"/>
              <a:gd name="connsiteX4" fmla="*/ 749877 w 4266044"/>
              <a:gd name="connsiteY4" fmla="*/ 355023 h 1122920"/>
              <a:gd name="connsiteX5" fmla="*/ 749877 w 4266044"/>
              <a:gd name="connsiteY5" fmla="*/ 365414 h 1122920"/>
              <a:gd name="connsiteX6" fmla="*/ 819149 w 4266044"/>
              <a:gd name="connsiteY6" fmla="*/ 538596 h 1122920"/>
              <a:gd name="connsiteX7" fmla="*/ 954231 w 4266044"/>
              <a:gd name="connsiteY7" fmla="*/ 808759 h 1122920"/>
              <a:gd name="connsiteX8" fmla="*/ 1459922 w 4266044"/>
              <a:gd name="connsiteY8" fmla="*/ 947305 h 1122920"/>
              <a:gd name="connsiteX9" fmla="*/ 2530186 w 4266044"/>
              <a:gd name="connsiteY9" fmla="*/ 1016578 h 1122920"/>
              <a:gd name="connsiteX10" fmla="*/ 2744931 w 4266044"/>
              <a:gd name="connsiteY10" fmla="*/ 1013114 h 1122920"/>
              <a:gd name="connsiteX11" fmla="*/ 2873086 w 4266044"/>
              <a:gd name="connsiteY11" fmla="*/ 957696 h 1122920"/>
              <a:gd name="connsiteX12" fmla="*/ 2949286 w 4266044"/>
              <a:gd name="connsiteY12" fmla="*/ 697923 h 1122920"/>
              <a:gd name="connsiteX13" fmla="*/ 2945822 w 4266044"/>
              <a:gd name="connsiteY13" fmla="*/ 445078 h 1122920"/>
              <a:gd name="connsiteX14" fmla="*/ 3060122 w 4266044"/>
              <a:gd name="connsiteY14" fmla="*/ 126423 h 1122920"/>
              <a:gd name="connsiteX15" fmla="*/ 3784022 w 4266044"/>
              <a:gd name="connsiteY15" fmla="*/ 88323 h 1122920"/>
              <a:gd name="connsiteX16" fmla="*/ 4009159 w 4266044"/>
              <a:gd name="connsiteY16" fmla="*/ 126423 h 1122920"/>
              <a:gd name="connsiteX17" fmla="*/ 4109604 w 4266044"/>
              <a:gd name="connsiteY17" fmla="*/ 237259 h 1122920"/>
              <a:gd name="connsiteX18" fmla="*/ 4213513 w 4266044"/>
              <a:gd name="connsiteY18" fmla="*/ 427759 h 1122920"/>
              <a:gd name="connsiteX19" fmla="*/ 4258540 w 4266044"/>
              <a:gd name="connsiteY19" fmla="*/ 635578 h 1122920"/>
              <a:gd name="connsiteX20" fmla="*/ 4258540 w 4266044"/>
              <a:gd name="connsiteY20" fmla="*/ 791441 h 1122920"/>
              <a:gd name="connsiteX21" fmla="*/ 4251613 w 4266044"/>
              <a:gd name="connsiteY21" fmla="*/ 815687 h 1122920"/>
              <a:gd name="connsiteX22" fmla="*/ 4223904 w 4266044"/>
              <a:gd name="connsiteY22" fmla="*/ 871105 h 1122920"/>
              <a:gd name="connsiteX23" fmla="*/ 4137313 w 4266044"/>
              <a:gd name="connsiteY23" fmla="*/ 912668 h 1122920"/>
              <a:gd name="connsiteX24" fmla="*/ 3905249 w 4266044"/>
              <a:gd name="connsiteY24" fmla="*/ 964623 h 1122920"/>
              <a:gd name="connsiteX25" fmla="*/ 3448049 w 4266044"/>
              <a:gd name="connsiteY25" fmla="*/ 1033896 h 1122920"/>
              <a:gd name="connsiteX26" fmla="*/ 2734540 w 4266044"/>
              <a:gd name="connsiteY26" fmla="*/ 1065068 h 1122920"/>
              <a:gd name="connsiteX27" fmla="*/ 1916200 w 4266044"/>
              <a:gd name="connsiteY27" fmla="*/ 1104447 h 1122920"/>
              <a:gd name="connsiteX28" fmla="*/ 555913 w 4266044"/>
              <a:gd name="connsiteY28" fmla="*/ 954232 h 1122920"/>
              <a:gd name="connsiteX29" fmla="*/ 555913 w 4266044"/>
              <a:gd name="connsiteY29" fmla="*/ 954232 h 1122920"/>
              <a:gd name="connsiteX30" fmla="*/ 285749 w 4266044"/>
              <a:gd name="connsiteY30" fmla="*/ 919596 h 1122920"/>
              <a:gd name="connsiteX31" fmla="*/ 46759 w 4266044"/>
              <a:gd name="connsiteY31" fmla="*/ 774123 h 1122920"/>
              <a:gd name="connsiteX32" fmla="*/ 15586 w 4266044"/>
              <a:gd name="connsiteY32" fmla="*/ 514350 h 1122920"/>
              <a:gd name="connsiteX33" fmla="*/ 147204 w 4266044"/>
              <a:gd name="connsiteY33" fmla="*/ 77932 h 1122920"/>
              <a:gd name="connsiteX0" fmla="*/ 147204 w 4266044"/>
              <a:gd name="connsiteY0" fmla="*/ 77932 h 1188212"/>
              <a:gd name="connsiteX1" fmla="*/ 337704 w 4266044"/>
              <a:gd name="connsiteY1" fmla="*/ 46759 h 1188212"/>
              <a:gd name="connsiteX2" fmla="*/ 393122 w 4266044"/>
              <a:gd name="connsiteY2" fmla="*/ 50223 h 1188212"/>
              <a:gd name="connsiteX3" fmla="*/ 642504 w 4266044"/>
              <a:gd name="connsiteY3" fmla="*/ 195696 h 1188212"/>
              <a:gd name="connsiteX4" fmla="*/ 749877 w 4266044"/>
              <a:gd name="connsiteY4" fmla="*/ 355023 h 1188212"/>
              <a:gd name="connsiteX5" fmla="*/ 749877 w 4266044"/>
              <a:gd name="connsiteY5" fmla="*/ 365414 h 1188212"/>
              <a:gd name="connsiteX6" fmla="*/ 819149 w 4266044"/>
              <a:gd name="connsiteY6" fmla="*/ 538596 h 1188212"/>
              <a:gd name="connsiteX7" fmla="*/ 954231 w 4266044"/>
              <a:gd name="connsiteY7" fmla="*/ 808759 h 1188212"/>
              <a:gd name="connsiteX8" fmla="*/ 1459922 w 4266044"/>
              <a:gd name="connsiteY8" fmla="*/ 947305 h 1188212"/>
              <a:gd name="connsiteX9" fmla="*/ 2530186 w 4266044"/>
              <a:gd name="connsiteY9" fmla="*/ 1016578 h 1188212"/>
              <a:gd name="connsiteX10" fmla="*/ 2744931 w 4266044"/>
              <a:gd name="connsiteY10" fmla="*/ 1013114 h 1188212"/>
              <a:gd name="connsiteX11" fmla="*/ 2873086 w 4266044"/>
              <a:gd name="connsiteY11" fmla="*/ 957696 h 1188212"/>
              <a:gd name="connsiteX12" fmla="*/ 2949286 w 4266044"/>
              <a:gd name="connsiteY12" fmla="*/ 697923 h 1188212"/>
              <a:gd name="connsiteX13" fmla="*/ 2945822 w 4266044"/>
              <a:gd name="connsiteY13" fmla="*/ 445078 h 1188212"/>
              <a:gd name="connsiteX14" fmla="*/ 3060122 w 4266044"/>
              <a:gd name="connsiteY14" fmla="*/ 126423 h 1188212"/>
              <a:gd name="connsiteX15" fmla="*/ 3784022 w 4266044"/>
              <a:gd name="connsiteY15" fmla="*/ 88323 h 1188212"/>
              <a:gd name="connsiteX16" fmla="*/ 4009159 w 4266044"/>
              <a:gd name="connsiteY16" fmla="*/ 126423 h 1188212"/>
              <a:gd name="connsiteX17" fmla="*/ 4109604 w 4266044"/>
              <a:gd name="connsiteY17" fmla="*/ 237259 h 1188212"/>
              <a:gd name="connsiteX18" fmla="*/ 4213513 w 4266044"/>
              <a:gd name="connsiteY18" fmla="*/ 427759 h 1188212"/>
              <a:gd name="connsiteX19" fmla="*/ 4258540 w 4266044"/>
              <a:gd name="connsiteY19" fmla="*/ 635578 h 1188212"/>
              <a:gd name="connsiteX20" fmla="*/ 4258540 w 4266044"/>
              <a:gd name="connsiteY20" fmla="*/ 791441 h 1188212"/>
              <a:gd name="connsiteX21" fmla="*/ 4251613 w 4266044"/>
              <a:gd name="connsiteY21" fmla="*/ 815687 h 1188212"/>
              <a:gd name="connsiteX22" fmla="*/ 4223904 w 4266044"/>
              <a:gd name="connsiteY22" fmla="*/ 871105 h 1188212"/>
              <a:gd name="connsiteX23" fmla="*/ 4137313 w 4266044"/>
              <a:gd name="connsiteY23" fmla="*/ 912668 h 1188212"/>
              <a:gd name="connsiteX24" fmla="*/ 3905249 w 4266044"/>
              <a:gd name="connsiteY24" fmla="*/ 964623 h 1188212"/>
              <a:gd name="connsiteX25" fmla="*/ 3448049 w 4266044"/>
              <a:gd name="connsiteY25" fmla="*/ 1033896 h 1188212"/>
              <a:gd name="connsiteX26" fmla="*/ 2780296 w 4266044"/>
              <a:gd name="connsiteY26" fmla="*/ 1176454 h 1188212"/>
              <a:gd name="connsiteX27" fmla="*/ 1916200 w 4266044"/>
              <a:gd name="connsiteY27" fmla="*/ 1104447 h 1188212"/>
              <a:gd name="connsiteX28" fmla="*/ 555913 w 4266044"/>
              <a:gd name="connsiteY28" fmla="*/ 954232 h 1188212"/>
              <a:gd name="connsiteX29" fmla="*/ 555913 w 4266044"/>
              <a:gd name="connsiteY29" fmla="*/ 954232 h 1188212"/>
              <a:gd name="connsiteX30" fmla="*/ 285749 w 4266044"/>
              <a:gd name="connsiteY30" fmla="*/ 919596 h 1188212"/>
              <a:gd name="connsiteX31" fmla="*/ 46759 w 4266044"/>
              <a:gd name="connsiteY31" fmla="*/ 774123 h 1188212"/>
              <a:gd name="connsiteX32" fmla="*/ 15586 w 4266044"/>
              <a:gd name="connsiteY32" fmla="*/ 514350 h 1188212"/>
              <a:gd name="connsiteX33" fmla="*/ 147204 w 4266044"/>
              <a:gd name="connsiteY33" fmla="*/ 77932 h 1188212"/>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05249 w 4266044"/>
              <a:gd name="connsiteY24" fmla="*/ 964623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555913 w 4266044"/>
              <a:gd name="connsiteY28" fmla="*/ 954232 h 1176454"/>
              <a:gd name="connsiteX29" fmla="*/ 555913 w 4266044"/>
              <a:gd name="connsiteY29" fmla="*/ 954232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32424 w 4266044"/>
              <a:gd name="connsiteY24" fmla="*/ 1032438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555913 w 4266044"/>
              <a:gd name="connsiteY28" fmla="*/ 954232 h 1176454"/>
              <a:gd name="connsiteX29" fmla="*/ 555913 w 4266044"/>
              <a:gd name="connsiteY29" fmla="*/ 954232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32424 w 4266044"/>
              <a:gd name="connsiteY24" fmla="*/ 1032438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555913 w 4266044"/>
              <a:gd name="connsiteY28" fmla="*/ 954232 h 1176454"/>
              <a:gd name="connsiteX29" fmla="*/ 548048 w 4266044"/>
              <a:gd name="connsiteY29" fmla="*/ 1032438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32424 w 4266044"/>
              <a:gd name="connsiteY24" fmla="*/ 1032438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764072 w 4266044"/>
              <a:gd name="connsiteY28" fmla="*/ 1032438 h 1176454"/>
              <a:gd name="connsiteX29" fmla="*/ 548048 w 4266044"/>
              <a:gd name="connsiteY29" fmla="*/ 1032438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32424 w 4266044"/>
              <a:gd name="connsiteY24" fmla="*/ 1032438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764072 w 4266044"/>
              <a:gd name="connsiteY28" fmla="*/ 1032438 h 1176454"/>
              <a:gd name="connsiteX29" fmla="*/ 548048 w 4266044"/>
              <a:gd name="connsiteY29" fmla="*/ 1032438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94927"/>
              <a:gd name="connsiteX1" fmla="*/ 337704 w 4266044"/>
              <a:gd name="connsiteY1" fmla="*/ 46759 h 1194927"/>
              <a:gd name="connsiteX2" fmla="*/ 393122 w 4266044"/>
              <a:gd name="connsiteY2" fmla="*/ 50223 h 1194927"/>
              <a:gd name="connsiteX3" fmla="*/ 642504 w 4266044"/>
              <a:gd name="connsiteY3" fmla="*/ 195696 h 1194927"/>
              <a:gd name="connsiteX4" fmla="*/ 749877 w 4266044"/>
              <a:gd name="connsiteY4" fmla="*/ 355023 h 1194927"/>
              <a:gd name="connsiteX5" fmla="*/ 749877 w 4266044"/>
              <a:gd name="connsiteY5" fmla="*/ 365414 h 1194927"/>
              <a:gd name="connsiteX6" fmla="*/ 819149 w 4266044"/>
              <a:gd name="connsiteY6" fmla="*/ 538596 h 1194927"/>
              <a:gd name="connsiteX7" fmla="*/ 954231 w 4266044"/>
              <a:gd name="connsiteY7" fmla="*/ 808759 h 1194927"/>
              <a:gd name="connsiteX8" fmla="*/ 1459922 w 4266044"/>
              <a:gd name="connsiteY8" fmla="*/ 947305 h 1194927"/>
              <a:gd name="connsiteX9" fmla="*/ 2530186 w 4266044"/>
              <a:gd name="connsiteY9" fmla="*/ 1016578 h 1194927"/>
              <a:gd name="connsiteX10" fmla="*/ 2744931 w 4266044"/>
              <a:gd name="connsiteY10" fmla="*/ 1013114 h 1194927"/>
              <a:gd name="connsiteX11" fmla="*/ 2873086 w 4266044"/>
              <a:gd name="connsiteY11" fmla="*/ 957696 h 1194927"/>
              <a:gd name="connsiteX12" fmla="*/ 2949286 w 4266044"/>
              <a:gd name="connsiteY12" fmla="*/ 697923 h 1194927"/>
              <a:gd name="connsiteX13" fmla="*/ 2945822 w 4266044"/>
              <a:gd name="connsiteY13" fmla="*/ 445078 h 1194927"/>
              <a:gd name="connsiteX14" fmla="*/ 3060122 w 4266044"/>
              <a:gd name="connsiteY14" fmla="*/ 126423 h 1194927"/>
              <a:gd name="connsiteX15" fmla="*/ 3784022 w 4266044"/>
              <a:gd name="connsiteY15" fmla="*/ 88323 h 1194927"/>
              <a:gd name="connsiteX16" fmla="*/ 4009159 w 4266044"/>
              <a:gd name="connsiteY16" fmla="*/ 126423 h 1194927"/>
              <a:gd name="connsiteX17" fmla="*/ 4109604 w 4266044"/>
              <a:gd name="connsiteY17" fmla="*/ 237259 h 1194927"/>
              <a:gd name="connsiteX18" fmla="*/ 4213513 w 4266044"/>
              <a:gd name="connsiteY18" fmla="*/ 427759 h 1194927"/>
              <a:gd name="connsiteX19" fmla="*/ 4258540 w 4266044"/>
              <a:gd name="connsiteY19" fmla="*/ 635578 h 1194927"/>
              <a:gd name="connsiteX20" fmla="*/ 4258540 w 4266044"/>
              <a:gd name="connsiteY20" fmla="*/ 791441 h 1194927"/>
              <a:gd name="connsiteX21" fmla="*/ 4251613 w 4266044"/>
              <a:gd name="connsiteY21" fmla="*/ 815687 h 1194927"/>
              <a:gd name="connsiteX22" fmla="*/ 4223904 w 4266044"/>
              <a:gd name="connsiteY22" fmla="*/ 871105 h 1194927"/>
              <a:gd name="connsiteX23" fmla="*/ 4137313 w 4266044"/>
              <a:gd name="connsiteY23" fmla="*/ 912668 h 1194927"/>
              <a:gd name="connsiteX24" fmla="*/ 3932424 w 4266044"/>
              <a:gd name="connsiteY24" fmla="*/ 1032438 h 1194927"/>
              <a:gd name="connsiteX25" fmla="*/ 3500376 w 4266044"/>
              <a:gd name="connsiteY25" fmla="*/ 1104446 h 1194927"/>
              <a:gd name="connsiteX26" fmla="*/ 2780296 w 4266044"/>
              <a:gd name="connsiteY26" fmla="*/ 1176454 h 1194927"/>
              <a:gd name="connsiteX27" fmla="*/ 1916200 w 4266044"/>
              <a:gd name="connsiteY27" fmla="*/ 1176454 h 1194927"/>
              <a:gd name="connsiteX28" fmla="*/ 764072 w 4266044"/>
              <a:gd name="connsiteY28" fmla="*/ 1032438 h 1194927"/>
              <a:gd name="connsiteX29" fmla="*/ 548048 w 4266044"/>
              <a:gd name="connsiteY29" fmla="*/ 1032438 h 1194927"/>
              <a:gd name="connsiteX30" fmla="*/ 285749 w 4266044"/>
              <a:gd name="connsiteY30" fmla="*/ 919596 h 1194927"/>
              <a:gd name="connsiteX31" fmla="*/ 46759 w 4266044"/>
              <a:gd name="connsiteY31" fmla="*/ 774123 h 1194927"/>
              <a:gd name="connsiteX32" fmla="*/ 15586 w 4266044"/>
              <a:gd name="connsiteY32" fmla="*/ 514350 h 1194927"/>
              <a:gd name="connsiteX33" fmla="*/ 147204 w 4266044"/>
              <a:gd name="connsiteY33" fmla="*/ 77932 h 1194927"/>
              <a:gd name="connsiteX0" fmla="*/ 147204 w 4266044"/>
              <a:gd name="connsiteY0" fmla="*/ 77932 h 1194927"/>
              <a:gd name="connsiteX1" fmla="*/ 337704 w 4266044"/>
              <a:gd name="connsiteY1" fmla="*/ 46759 h 1194927"/>
              <a:gd name="connsiteX2" fmla="*/ 393122 w 4266044"/>
              <a:gd name="connsiteY2" fmla="*/ 50223 h 1194927"/>
              <a:gd name="connsiteX3" fmla="*/ 642504 w 4266044"/>
              <a:gd name="connsiteY3" fmla="*/ 195696 h 1194927"/>
              <a:gd name="connsiteX4" fmla="*/ 749877 w 4266044"/>
              <a:gd name="connsiteY4" fmla="*/ 355023 h 1194927"/>
              <a:gd name="connsiteX5" fmla="*/ 749877 w 4266044"/>
              <a:gd name="connsiteY5" fmla="*/ 365414 h 1194927"/>
              <a:gd name="connsiteX6" fmla="*/ 819149 w 4266044"/>
              <a:gd name="connsiteY6" fmla="*/ 538596 h 1194927"/>
              <a:gd name="connsiteX7" fmla="*/ 954231 w 4266044"/>
              <a:gd name="connsiteY7" fmla="*/ 808759 h 1194927"/>
              <a:gd name="connsiteX8" fmla="*/ 1459922 w 4266044"/>
              <a:gd name="connsiteY8" fmla="*/ 947305 h 1194927"/>
              <a:gd name="connsiteX9" fmla="*/ 2530186 w 4266044"/>
              <a:gd name="connsiteY9" fmla="*/ 1016578 h 1194927"/>
              <a:gd name="connsiteX10" fmla="*/ 2744931 w 4266044"/>
              <a:gd name="connsiteY10" fmla="*/ 1013114 h 1194927"/>
              <a:gd name="connsiteX11" fmla="*/ 2873086 w 4266044"/>
              <a:gd name="connsiteY11" fmla="*/ 957696 h 1194927"/>
              <a:gd name="connsiteX12" fmla="*/ 2949286 w 4266044"/>
              <a:gd name="connsiteY12" fmla="*/ 697923 h 1194927"/>
              <a:gd name="connsiteX13" fmla="*/ 2945822 w 4266044"/>
              <a:gd name="connsiteY13" fmla="*/ 445078 h 1194927"/>
              <a:gd name="connsiteX14" fmla="*/ 3060122 w 4266044"/>
              <a:gd name="connsiteY14" fmla="*/ 126423 h 1194927"/>
              <a:gd name="connsiteX15" fmla="*/ 3784022 w 4266044"/>
              <a:gd name="connsiteY15" fmla="*/ 88323 h 1194927"/>
              <a:gd name="connsiteX16" fmla="*/ 4009159 w 4266044"/>
              <a:gd name="connsiteY16" fmla="*/ 126423 h 1194927"/>
              <a:gd name="connsiteX17" fmla="*/ 4109604 w 4266044"/>
              <a:gd name="connsiteY17" fmla="*/ 237259 h 1194927"/>
              <a:gd name="connsiteX18" fmla="*/ 4213513 w 4266044"/>
              <a:gd name="connsiteY18" fmla="*/ 427759 h 1194927"/>
              <a:gd name="connsiteX19" fmla="*/ 4258540 w 4266044"/>
              <a:gd name="connsiteY19" fmla="*/ 635578 h 1194927"/>
              <a:gd name="connsiteX20" fmla="*/ 4258540 w 4266044"/>
              <a:gd name="connsiteY20" fmla="*/ 791441 h 1194927"/>
              <a:gd name="connsiteX21" fmla="*/ 4251613 w 4266044"/>
              <a:gd name="connsiteY21" fmla="*/ 815687 h 1194927"/>
              <a:gd name="connsiteX22" fmla="*/ 4223904 w 4266044"/>
              <a:gd name="connsiteY22" fmla="*/ 871105 h 1194927"/>
              <a:gd name="connsiteX23" fmla="*/ 4137313 w 4266044"/>
              <a:gd name="connsiteY23" fmla="*/ 912668 h 1194927"/>
              <a:gd name="connsiteX24" fmla="*/ 3932424 w 4266044"/>
              <a:gd name="connsiteY24" fmla="*/ 1032438 h 1194927"/>
              <a:gd name="connsiteX25" fmla="*/ 3500376 w 4266044"/>
              <a:gd name="connsiteY25" fmla="*/ 1104446 h 1194927"/>
              <a:gd name="connsiteX26" fmla="*/ 2780296 w 4266044"/>
              <a:gd name="connsiteY26" fmla="*/ 1176454 h 1194927"/>
              <a:gd name="connsiteX27" fmla="*/ 1916200 w 4266044"/>
              <a:gd name="connsiteY27" fmla="*/ 1176454 h 1194927"/>
              <a:gd name="connsiteX28" fmla="*/ 764072 w 4266044"/>
              <a:gd name="connsiteY28" fmla="*/ 1032438 h 1194927"/>
              <a:gd name="connsiteX29" fmla="*/ 548048 w 4266044"/>
              <a:gd name="connsiteY29" fmla="*/ 1032438 h 1194927"/>
              <a:gd name="connsiteX30" fmla="*/ 285749 w 4266044"/>
              <a:gd name="connsiteY30" fmla="*/ 919596 h 1194927"/>
              <a:gd name="connsiteX31" fmla="*/ 46759 w 4266044"/>
              <a:gd name="connsiteY31" fmla="*/ 774123 h 1194927"/>
              <a:gd name="connsiteX32" fmla="*/ 15586 w 4266044"/>
              <a:gd name="connsiteY32" fmla="*/ 514350 h 1194927"/>
              <a:gd name="connsiteX33" fmla="*/ 147204 w 4266044"/>
              <a:gd name="connsiteY33" fmla="*/ 77932 h 1194927"/>
              <a:gd name="connsiteX0" fmla="*/ 147204 w 4266044"/>
              <a:gd name="connsiteY0" fmla="*/ 77932 h 1194927"/>
              <a:gd name="connsiteX1" fmla="*/ 337704 w 4266044"/>
              <a:gd name="connsiteY1" fmla="*/ 46759 h 1194927"/>
              <a:gd name="connsiteX2" fmla="*/ 393122 w 4266044"/>
              <a:gd name="connsiteY2" fmla="*/ 50223 h 1194927"/>
              <a:gd name="connsiteX3" fmla="*/ 642504 w 4266044"/>
              <a:gd name="connsiteY3" fmla="*/ 195696 h 1194927"/>
              <a:gd name="connsiteX4" fmla="*/ 749877 w 4266044"/>
              <a:gd name="connsiteY4" fmla="*/ 355023 h 1194927"/>
              <a:gd name="connsiteX5" fmla="*/ 749877 w 4266044"/>
              <a:gd name="connsiteY5" fmla="*/ 365414 h 1194927"/>
              <a:gd name="connsiteX6" fmla="*/ 819149 w 4266044"/>
              <a:gd name="connsiteY6" fmla="*/ 538596 h 1194927"/>
              <a:gd name="connsiteX7" fmla="*/ 954231 w 4266044"/>
              <a:gd name="connsiteY7" fmla="*/ 808759 h 1194927"/>
              <a:gd name="connsiteX8" fmla="*/ 1459922 w 4266044"/>
              <a:gd name="connsiteY8" fmla="*/ 947305 h 1194927"/>
              <a:gd name="connsiteX9" fmla="*/ 2530186 w 4266044"/>
              <a:gd name="connsiteY9" fmla="*/ 1016578 h 1194927"/>
              <a:gd name="connsiteX10" fmla="*/ 2744931 w 4266044"/>
              <a:gd name="connsiteY10" fmla="*/ 1013114 h 1194927"/>
              <a:gd name="connsiteX11" fmla="*/ 2873086 w 4266044"/>
              <a:gd name="connsiteY11" fmla="*/ 957696 h 1194927"/>
              <a:gd name="connsiteX12" fmla="*/ 2949286 w 4266044"/>
              <a:gd name="connsiteY12" fmla="*/ 697923 h 1194927"/>
              <a:gd name="connsiteX13" fmla="*/ 2945822 w 4266044"/>
              <a:gd name="connsiteY13" fmla="*/ 445078 h 1194927"/>
              <a:gd name="connsiteX14" fmla="*/ 3060122 w 4266044"/>
              <a:gd name="connsiteY14" fmla="*/ 126423 h 1194927"/>
              <a:gd name="connsiteX15" fmla="*/ 3784022 w 4266044"/>
              <a:gd name="connsiteY15" fmla="*/ 88323 h 1194927"/>
              <a:gd name="connsiteX16" fmla="*/ 4009159 w 4266044"/>
              <a:gd name="connsiteY16" fmla="*/ 126423 h 1194927"/>
              <a:gd name="connsiteX17" fmla="*/ 4109604 w 4266044"/>
              <a:gd name="connsiteY17" fmla="*/ 237259 h 1194927"/>
              <a:gd name="connsiteX18" fmla="*/ 4213513 w 4266044"/>
              <a:gd name="connsiteY18" fmla="*/ 427759 h 1194927"/>
              <a:gd name="connsiteX19" fmla="*/ 4258540 w 4266044"/>
              <a:gd name="connsiteY19" fmla="*/ 635578 h 1194927"/>
              <a:gd name="connsiteX20" fmla="*/ 4258540 w 4266044"/>
              <a:gd name="connsiteY20" fmla="*/ 791441 h 1194927"/>
              <a:gd name="connsiteX21" fmla="*/ 4251613 w 4266044"/>
              <a:gd name="connsiteY21" fmla="*/ 815687 h 1194927"/>
              <a:gd name="connsiteX22" fmla="*/ 4223904 w 4266044"/>
              <a:gd name="connsiteY22" fmla="*/ 871105 h 1194927"/>
              <a:gd name="connsiteX23" fmla="*/ 4137313 w 4266044"/>
              <a:gd name="connsiteY23" fmla="*/ 912668 h 1194927"/>
              <a:gd name="connsiteX24" fmla="*/ 3932424 w 4266044"/>
              <a:gd name="connsiteY24" fmla="*/ 1032438 h 1194927"/>
              <a:gd name="connsiteX25" fmla="*/ 3500376 w 4266044"/>
              <a:gd name="connsiteY25" fmla="*/ 1104446 h 1194927"/>
              <a:gd name="connsiteX26" fmla="*/ 2780296 w 4266044"/>
              <a:gd name="connsiteY26" fmla="*/ 1176454 h 1194927"/>
              <a:gd name="connsiteX27" fmla="*/ 1916200 w 4266044"/>
              <a:gd name="connsiteY27" fmla="*/ 1176454 h 1194927"/>
              <a:gd name="connsiteX28" fmla="*/ 836080 w 4266044"/>
              <a:gd name="connsiteY28" fmla="*/ 1104446 h 1194927"/>
              <a:gd name="connsiteX29" fmla="*/ 548048 w 4266044"/>
              <a:gd name="connsiteY29" fmla="*/ 1032438 h 1194927"/>
              <a:gd name="connsiteX30" fmla="*/ 285749 w 4266044"/>
              <a:gd name="connsiteY30" fmla="*/ 919596 h 1194927"/>
              <a:gd name="connsiteX31" fmla="*/ 46759 w 4266044"/>
              <a:gd name="connsiteY31" fmla="*/ 774123 h 1194927"/>
              <a:gd name="connsiteX32" fmla="*/ 15586 w 4266044"/>
              <a:gd name="connsiteY32" fmla="*/ 514350 h 1194927"/>
              <a:gd name="connsiteX33" fmla="*/ 147204 w 4266044"/>
              <a:gd name="connsiteY33" fmla="*/ 77932 h 1194927"/>
              <a:gd name="connsiteX0" fmla="*/ 147204 w 4266044"/>
              <a:gd name="connsiteY0" fmla="*/ 77932 h 1200457"/>
              <a:gd name="connsiteX1" fmla="*/ 337704 w 4266044"/>
              <a:gd name="connsiteY1" fmla="*/ 46759 h 1200457"/>
              <a:gd name="connsiteX2" fmla="*/ 393122 w 4266044"/>
              <a:gd name="connsiteY2" fmla="*/ 50223 h 1200457"/>
              <a:gd name="connsiteX3" fmla="*/ 642504 w 4266044"/>
              <a:gd name="connsiteY3" fmla="*/ 195696 h 1200457"/>
              <a:gd name="connsiteX4" fmla="*/ 749877 w 4266044"/>
              <a:gd name="connsiteY4" fmla="*/ 355023 h 1200457"/>
              <a:gd name="connsiteX5" fmla="*/ 749877 w 4266044"/>
              <a:gd name="connsiteY5" fmla="*/ 365414 h 1200457"/>
              <a:gd name="connsiteX6" fmla="*/ 819149 w 4266044"/>
              <a:gd name="connsiteY6" fmla="*/ 538596 h 1200457"/>
              <a:gd name="connsiteX7" fmla="*/ 954231 w 4266044"/>
              <a:gd name="connsiteY7" fmla="*/ 808759 h 1200457"/>
              <a:gd name="connsiteX8" fmla="*/ 1459922 w 4266044"/>
              <a:gd name="connsiteY8" fmla="*/ 947305 h 1200457"/>
              <a:gd name="connsiteX9" fmla="*/ 2530186 w 4266044"/>
              <a:gd name="connsiteY9" fmla="*/ 1016578 h 1200457"/>
              <a:gd name="connsiteX10" fmla="*/ 2744931 w 4266044"/>
              <a:gd name="connsiteY10" fmla="*/ 1013114 h 1200457"/>
              <a:gd name="connsiteX11" fmla="*/ 2873086 w 4266044"/>
              <a:gd name="connsiteY11" fmla="*/ 957696 h 1200457"/>
              <a:gd name="connsiteX12" fmla="*/ 2949286 w 4266044"/>
              <a:gd name="connsiteY12" fmla="*/ 697923 h 1200457"/>
              <a:gd name="connsiteX13" fmla="*/ 2945822 w 4266044"/>
              <a:gd name="connsiteY13" fmla="*/ 445078 h 1200457"/>
              <a:gd name="connsiteX14" fmla="*/ 3060122 w 4266044"/>
              <a:gd name="connsiteY14" fmla="*/ 126423 h 1200457"/>
              <a:gd name="connsiteX15" fmla="*/ 3784022 w 4266044"/>
              <a:gd name="connsiteY15" fmla="*/ 88323 h 1200457"/>
              <a:gd name="connsiteX16" fmla="*/ 4009159 w 4266044"/>
              <a:gd name="connsiteY16" fmla="*/ 126423 h 1200457"/>
              <a:gd name="connsiteX17" fmla="*/ 4109604 w 4266044"/>
              <a:gd name="connsiteY17" fmla="*/ 237259 h 1200457"/>
              <a:gd name="connsiteX18" fmla="*/ 4213513 w 4266044"/>
              <a:gd name="connsiteY18" fmla="*/ 427759 h 1200457"/>
              <a:gd name="connsiteX19" fmla="*/ 4258540 w 4266044"/>
              <a:gd name="connsiteY19" fmla="*/ 635578 h 1200457"/>
              <a:gd name="connsiteX20" fmla="*/ 4258540 w 4266044"/>
              <a:gd name="connsiteY20" fmla="*/ 791441 h 1200457"/>
              <a:gd name="connsiteX21" fmla="*/ 4251613 w 4266044"/>
              <a:gd name="connsiteY21" fmla="*/ 815687 h 1200457"/>
              <a:gd name="connsiteX22" fmla="*/ 4223904 w 4266044"/>
              <a:gd name="connsiteY22" fmla="*/ 871105 h 1200457"/>
              <a:gd name="connsiteX23" fmla="*/ 4137313 w 4266044"/>
              <a:gd name="connsiteY23" fmla="*/ 912668 h 1200457"/>
              <a:gd name="connsiteX24" fmla="*/ 3932424 w 4266044"/>
              <a:gd name="connsiteY24" fmla="*/ 1032438 h 1200457"/>
              <a:gd name="connsiteX25" fmla="*/ 3500376 w 4266044"/>
              <a:gd name="connsiteY25" fmla="*/ 1176454 h 1200457"/>
              <a:gd name="connsiteX26" fmla="*/ 2780296 w 4266044"/>
              <a:gd name="connsiteY26" fmla="*/ 1176454 h 1200457"/>
              <a:gd name="connsiteX27" fmla="*/ 1916200 w 4266044"/>
              <a:gd name="connsiteY27" fmla="*/ 1176454 h 1200457"/>
              <a:gd name="connsiteX28" fmla="*/ 836080 w 4266044"/>
              <a:gd name="connsiteY28" fmla="*/ 1104446 h 1200457"/>
              <a:gd name="connsiteX29" fmla="*/ 548048 w 4266044"/>
              <a:gd name="connsiteY29" fmla="*/ 1032438 h 1200457"/>
              <a:gd name="connsiteX30" fmla="*/ 285749 w 4266044"/>
              <a:gd name="connsiteY30" fmla="*/ 919596 h 1200457"/>
              <a:gd name="connsiteX31" fmla="*/ 46759 w 4266044"/>
              <a:gd name="connsiteY31" fmla="*/ 774123 h 1200457"/>
              <a:gd name="connsiteX32" fmla="*/ 15586 w 4266044"/>
              <a:gd name="connsiteY32" fmla="*/ 514350 h 1200457"/>
              <a:gd name="connsiteX33" fmla="*/ 147204 w 4266044"/>
              <a:gd name="connsiteY33" fmla="*/ 77932 h 1200457"/>
              <a:gd name="connsiteX0" fmla="*/ 147204 w 4266044"/>
              <a:gd name="connsiteY0" fmla="*/ 77932 h 1248462"/>
              <a:gd name="connsiteX1" fmla="*/ 337704 w 4266044"/>
              <a:gd name="connsiteY1" fmla="*/ 46759 h 1248462"/>
              <a:gd name="connsiteX2" fmla="*/ 393122 w 4266044"/>
              <a:gd name="connsiteY2" fmla="*/ 50223 h 1248462"/>
              <a:gd name="connsiteX3" fmla="*/ 642504 w 4266044"/>
              <a:gd name="connsiteY3" fmla="*/ 195696 h 1248462"/>
              <a:gd name="connsiteX4" fmla="*/ 749877 w 4266044"/>
              <a:gd name="connsiteY4" fmla="*/ 355023 h 1248462"/>
              <a:gd name="connsiteX5" fmla="*/ 749877 w 4266044"/>
              <a:gd name="connsiteY5" fmla="*/ 365414 h 1248462"/>
              <a:gd name="connsiteX6" fmla="*/ 819149 w 4266044"/>
              <a:gd name="connsiteY6" fmla="*/ 538596 h 1248462"/>
              <a:gd name="connsiteX7" fmla="*/ 954231 w 4266044"/>
              <a:gd name="connsiteY7" fmla="*/ 808759 h 1248462"/>
              <a:gd name="connsiteX8" fmla="*/ 1459922 w 4266044"/>
              <a:gd name="connsiteY8" fmla="*/ 947305 h 1248462"/>
              <a:gd name="connsiteX9" fmla="*/ 2530186 w 4266044"/>
              <a:gd name="connsiteY9" fmla="*/ 1016578 h 1248462"/>
              <a:gd name="connsiteX10" fmla="*/ 2744931 w 4266044"/>
              <a:gd name="connsiteY10" fmla="*/ 1013114 h 1248462"/>
              <a:gd name="connsiteX11" fmla="*/ 2873086 w 4266044"/>
              <a:gd name="connsiteY11" fmla="*/ 957696 h 1248462"/>
              <a:gd name="connsiteX12" fmla="*/ 2949286 w 4266044"/>
              <a:gd name="connsiteY12" fmla="*/ 697923 h 1248462"/>
              <a:gd name="connsiteX13" fmla="*/ 2945822 w 4266044"/>
              <a:gd name="connsiteY13" fmla="*/ 445078 h 1248462"/>
              <a:gd name="connsiteX14" fmla="*/ 3060122 w 4266044"/>
              <a:gd name="connsiteY14" fmla="*/ 126423 h 1248462"/>
              <a:gd name="connsiteX15" fmla="*/ 3784022 w 4266044"/>
              <a:gd name="connsiteY15" fmla="*/ 88323 h 1248462"/>
              <a:gd name="connsiteX16" fmla="*/ 4009159 w 4266044"/>
              <a:gd name="connsiteY16" fmla="*/ 126423 h 1248462"/>
              <a:gd name="connsiteX17" fmla="*/ 4109604 w 4266044"/>
              <a:gd name="connsiteY17" fmla="*/ 237259 h 1248462"/>
              <a:gd name="connsiteX18" fmla="*/ 4213513 w 4266044"/>
              <a:gd name="connsiteY18" fmla="*/ 427759 h 1248462"/>
              <a:gd name="connsiteX19" fmla="*/ 4258540 w 4266044"/>
              <a:gd name="connsiteY19" fmla="*/ 635578 h 1248462"/>
              <a:gd name="connsiteX20" fmla="*/ 4258540 w 4266044"/>
              <a:gd name="connsiteY20" fmla="*/ 791441 h 1248462"/>
              <a:gd name="connsiteX21" fmla="*/ 4251613 w 4266044"/>
              <a:gd name="connsiteY21" fmla="*/ 815687 h 1248462"/>
              <a:gd name="connsiteX22" fmla="*/ 4223904 w 4266044"/>
              <a:gd name="connsiteY22" fmla="*/ 871105 h 1248462"/>
              <a:gd name="connsiteX23" fmla="*/ 4137313 w 4266044"/>
              <a:gd name="connsiteY23" fmla="*/ 912668 h 1248462"/>
              <a:gd name="connsiteX24" fmla="*/ 3932424 w 4266044"/>
              <a:gd name="connsiteY24" fmla="*/ 1032438 h 1248462"/>
              <a:gd name="connsiteX25" fmla="*/ 3500376 w 4266044"/>
              <a:gd name="connsiteY25" fmla="*/ 1176454 h 1248462"/>
              <a:gd name="connsiteX26" fmla="*/ 2780296 w 4266044"/>
              <a:gd name="connsiteY26" fmla="*/ 1248462 h 1248462"/>
              <a:gd name="connsiteX27" fmla="*/ 1916200 w 4266044"/>
              <a:gd name="connsiteY27" fmla="*/ 1176454 h 1248462"/>
              <a:gd name="connsiteX28" fmla="*/ 836080 w 4266044"/>
              <a:gd name="connsiteY28" fmla="*/ 1104446 h 1248462"/>
              <a:gd name="connsiteX29" fmla="*/ 548048 w 4266044"/>
              <a:gd name="connsiteY29" fmla="*/ 1032438 h 1248462"/>
              <a:gd name="connsiteX30" fmla="*/ 285749 w 4266044"/>
              <a:gd name="connsiteY30" fmla="*/ 919596 h 1248462"/>
              <a:gd name="connsiteX31" fmla="*/ 46759 w 4266044"/>
              <a:gd name="connsiteY31" fmla="*/ 774123 h 1248462"/>
              <a:gd name="connsiteX32" fmla="*/ 15586 w 4266044"/>
              <a:gd name="connsiteY32" fmla="*/ 514350 h 1248462"/>
              <a:gd name="connsiteX33" fmla="*/ 147204 w 4266044"/>
              <a:gd name="connsiteY33" fmla="*/ 77932 h 1248462"/>
              <a:gd name="connsiteX0" fmla="*/ 147204 w 4266044"/>
              <a:gd name="connsiteY0" fmla="*/ 77932 h 1248462"/>
              <a:gd name="connsiteX1" fmla="*/ 337704 w 4266044"/>
              <a:gd name="connsiteY1" fmla="*/ 46759 h 1248462"/>
              <a:gd name="connsiteX2" fmla="*/ 393122 w 4266044"/>
              <a:gd name="connsiteY2" fmla="*/ 50223 h 1248462"/>
              <a:gd name="connsiteX3" fmla="*/ 642504 w 4266044"/>
              <a:gd name="connsiteY3" fmla="*/ 195696 h 1248462"/>
              <a:gd name="connsiteX4" fmla="*/ 749877 w 4266044"/>
              <a:gd name="connsiteY4" fmla="*/ 355023 h 1248462"/>
              <a:gd name="connsiteX5" fmla="*/ 749877 w 4266044"/>
              <a:gd name="connsiteY5" fmla="*/ 365414 h 1248462"/>
              <a:gd name="connsiteX6" fmla="*/ 819149 w 4266044"/>
              <a:gd name="connsiteY6" fmla="*/ 538596 h 1248462"/>
              <a:gd name="connsiteX7" fmla="*/ 954231 w 4266044"/>
              <a:gd name="connsiteY7" fmla="*/ 808759 h 1248462"/>
              <a:gd name="connsiteX8" fmla="*/ 1459922 w 4266044"/>
              <a:gd name="connsiteY8" fmla="*/ 947305 h 1248462"/>
              <a:gd name="connsiteX9" fmla="*/ 2530186 w 4266044"/>
              <a:gd name="connsiteY9" fmla="*/ 1016578 h 1248462"/>
              <a:gd name="connsiteX10" fmla="*/ 2744931 w 4266044"/>
              <a:gd name="connsiteY10" fmla="*/ 1013114 h 1248462"/>
              <a:gd name="connsiteX11" fmla="*/ 2873086 w 4266044"/>
              <a:gd name="connsiteY11" fmla="*/ 957696 h 1248462"/>
              <a:gd name="connsiteX12" fmla="*/ 2949286 w 4266044"/>
              <a:gd name="connsiteY12" fmla="*/ 697923 h 1248462"/>
              <a:gd name="connsiteX13" fmla="*/ 2945822 w 4266044"/>
              <a:gd name="connsiteY13" fmla="*/ 445078 h 1248462"/>
              <a:gd name="connsiteX14" fmla="*/ 3060122 w 4266044"/>
              <a:gd name="connsiteY14" fmla="*/ 126423 h 1248462"/>
              <a:gd name="connsiteX15" fmla="*/ 3784022 w 4266044"/>
              <a:gd name="connsiteY15" fmla="*/ 88323 h 1248462"/>
              <a:gd name="connsiteX16" fmla="*/ 4009159 w 4266044"/>
              <a:gd name="connsiteY16" fmla="*/ 126423 h 1248462"/>
              <a:gd name="connsiteX17" fmla="*/ 4109604 w 4266044"/>
              <a:gd name="connsiteY17" fmla="*/ 237259 h 1248462"/>
              <a:gd name="connsiteX18" fmla="*/ 4213513 w 4266044"/>
              <a:gd name="connsiteY18" fmla="*/ 427759 h 1248462"/>
              <a:gd name="connsiteX19" fmla="*/ 4258540 w 4266044"/>
              <a:gd name="connsiteY19" fmla="*/ 635578 h 1248462"/>
              <a:gd name="connsiteX20" fmla="*/ 4258540 w 4266044"/>
              <a:gd name="connsiteY20" fmla="*/ 791441 h 1248462"/>
              <a:gd name="connsiteX21" fmla="*/ 4251613 w 4266044"/>
              <a:gd name="connsiteY21" fmla="*/ 815687 h 1248462"/>
              <a:gd name="connsiteX22" fmla="*/ 4223904 w 4266044"/>
              <a:gd name="connsiteY22" fmla="*/ 871105 h 1248462"/>
              <a:gd name="connsiteX23" fmla="*/ 4137313 w 4266044"/>
              <a:gd name="connsiteY23" fmla="*/ 912668 h 1248462"/>
              <a:gd name="connsiteX24" fmla="*/ 3932424 w 4266044"/>
              <a:gd name="connsiteY24" fmla="*/ 1032438 h 1248462"/>
              <a:gd name="connsiteX25" fmla="*/ 3500376 w 4266044"/>
              <a:gd name="connsiteY25" fmla="*/ 1176454 h 1248462"/>
              <a:gd name="connsiteX26" fmla="*/ 2780296 w 4266044"/>
              <a:gd name="connsiteY26" fmla="*/ 1248462 h 1248462"/>
              <a:gd name="connsiteX27" fmla="*/ 1916200 w 4266044"/>
              <a:gd name="connsiteY27" fmla="*/ 1176453 h 1248462"/>
              <a:gd name="connsiteX28" fmla="*/ 836080 w 4266044"/>
              <a:gd name="connsiteY28" fmla="*/ 1104446 h 1248462"/>
              <a:gd name="connsiteX29" fmla="*/ 548048 w 4266044"/>
              <a:gd name="connsiteY29" fmla="*/ 1032438 h 1248462"/>
              <a:gd name="connsiteX30" fmla="*/ 285749 w 4266044"/>
              <a:gd name="connsiteY30" fmla="*/ 919596 h 1248462"/>
              <a:gd name="connsiteX31" fmla="*/ 46759 w 4266044"/>
              <a:gd name="connsiteY31" fmla="*/ 774123 h 1248462"/>
              <a:gd name="connsiteX32" fmla="*/ 15586 w 4266044"/>
              <a:gd name="connsiteY32" fmla="*/ 514350 h 1248462"/>
              <a:gd name="connsiteX33" fmla="*/ 147204 w 4266044"/>
              <a:gd name="connsiteY33" fmla="*/ 77932 h 1248462"/>
              <a:gd name="connsiteX0" fmla="*/ 147204 w 4266044"/>
              <a:gd name="connsiteY0" fmla="*/ 77932 h 1248462"/>
              <a:gd name="connsiteX1" fmla="*/ 337704 w 4266044"/>
              <a:gd name="connsiteY1" fmla="*/ 46759 h 1248462"/>
              <a:gd name="connsiteX2" fmla="*/ 642504 w 4266044"/>
              <a:gd name="connsiteY2" fmla="*/ 195696 h 1248462"/>
              <a:gd name="connsiteX3" fmla="*/ 749877 w 4266044"/>
              <a:gd name="connsiteY3" fmla="*/ 355023 h 1248462"/>
              <a:gd name="connsiteX4" fmla="*/ 749877 w 4266044"/>
              <a:gd name="connsiteY4" fmla="*/ 365414 h 1248462"/>
              <a:gd name="connsiteX5" fmla="*/ 819149 w 4266044"/>
              <a:gd name="connsiteY5" fmla="*/ 538596 h 1248462"/>
              <a:gd name="connsiteX6" fmla="*/ 954231 w 4266044"/>
              <a:gd name="connsiteY6" fmla="*/ 808759 h 1248462"/>
              <a:gd name="connsiteX7" fmla="*/ 1459922 w 4266044"/>
              <a:gd name="connsiteY7" fmla="*/ 947305 h 1248462"/>
              <a:gd name="connsiteX8" fmla="*/ 2530186 w 4266044"/>
              <a:gd name="connsiteY8" fmla="*/ 1016578 h 1248462"/>
              <a:gd name="connsiteX9" fmla="*/ 2744931 w 4266044"/>
              <a:gd name="connsiteY9" fmla="*/ 1013114 h 1248462"/>
              <a:gd name="connsiteX10" fmla="*/ 2873086 w 4266044"/>
              <a:gd name="connsiteY10" fmla="*/ 957696 h 1248462"/>
              <a:gd name="connsiteX11" fmla="*/ 2949286 w 4266044"/>
              <a:gd name="connsiteY11" fmla="*/ 697923 h 1248462"/>
              <a:gd name="connsiteX12" fmla="*/ 2945822 w 4266044"/>
              <a:gd name="connsiteY12" fmla="*/ 445078 h 1248462"/>
              <a:gd name="connsiteX13" fmla="*/ 3060122 w 4266044"/>
              <a:gd name="connsiteY13" fmla="*/ 126423 h 1248462"/>
              <a:gd name="connsiteX14" fmla="*/ 3784022 w 4266044"/>
              <a:gd name="connsiteY14" fmla="*/ 88323 h 1248462"/>
              <a:gd name="connsiteX15" fmla="*/ 4009159 w 4266044"/>
              <a:gd name="connsiteY15" fmla="*/ 126423 h 1248462"/>
              <a:gd name="connsiteX16" fmla="*/ 4109604 w 4266044"/>
              <a:gd name="connsiteY16" fmla="*/ 237259 h 1248462"/>
              <a:gd name="connsiteX17" fmla="*/ 4213513 w 4266044"/>
              <a:gd name="connsiteY17" fmla="*/ 427759 h 1248462"/>
              <a:gd name="connsiteX18" fmla="*/ 4258540 w 4266044"/>
              <a:gd name="connsiteY18" fmla="*/ 635578 h 1248462"/>
              <a:gd name="connsiteX19" fmla="*/ 4258540 w 4266044"/>
              <a:gd name="connsiteY19" fmla="*/ 791441 h 1248462"/>
              <a:gd name="connsiteX20" fmla="*/ 4251613 w 4266044"/>
              <a:gd name="connsiteY20" fmla="*/ 815687 h 1248462"/>
              <a:gd name="connsiteX21" fmla="*/ 4223904 w 4266044"/>
              <a:gd name="connsiteY21" fmla="*/ 871105 h 1248462"/>
              <a:gd name="connsiteX22" fmla="*/ 4137313 w 4266044"/>
              <a:gd name="connsiteY22" fmla="*/ 912668 h 1248462"/>
              <a:gd name="connsiteX23" fmla="*/ 3932424 w 4266044"/>
              <a:gd name="connsiteY23" fmla="*/ 1032438 h 1248462"/>
              <a:gd name="connsiteX24" fmla="*/ 3500376 w 4266044"/>
              <a:gd name="connsiteY24" fmla="*/ 1176454 h 1248462"/>
              <a:gd name="connsiteX25" fmla="*/ 2780296 w 4266044"/>
              <a:gd name="connsiteY25" fmla="*/ 1248462 h 1248462"/>
              <a:gd name="connsiteX26" fmla="*/ 1916200 w 4266044"/>
              <a:gd name="connsiteY26" fmla="*/ 1176453 h 1248462"/>
              <a:gd name="connsiteX27" fmla="*/ 836080 w 4266044"/>
              <a:gd name="connsiteY27" fmla="*/ 1104446 h 1248462"/>
              <a:gd name="connsiteX28" fmla="*/ 548048 w 4266044"/>
              <a:gd name="connsiteY28" fmla="*/ 1032438 h 1248462"/>
              <a:gd name="connsiteX29" fmla="*/ 285749 w 4266044"/>
              <a:gd name="connsiteY29" fmla="*/ 919596 h 1248462"/>
              <a:gd name="connsiteX30" fmla="*/ 46759 w 4266044"/>
              <a:gd name="connsiteY30" fmla="*/ 774123 h 1248462"/>
              <a:gd name="connsiteX31" fmla="*/ 15586 w 4266044"/>
              <a:gd name="connsiteY31" fmla="*/ 514350 h 1248462"/>
              <a:gd name="connsiteX32" fmla="*/ 147204 w 4266044"/>
              <a:gd name="connsiteY32" fmla="*/ 77932 h 1248462"/>
              <a:gd name="connsiteX0" fmla="*/ 114268 w 4264312"/>
              <a:gd name="connsiteY0" fmla="*/ 126142 h 1206262"/>
              <a:gd name="connsiteX1" fmla="*/ 335972 w 4264312"/>
              <a:gd name="connsiteY1" fmla="*/ 4559 h 1206262"/>
              <a:gd name="connsiteX2" fmla="*/ 640772 w 4264312"/>
              <a:gd name="connsiteY2" fmla="*/ 153496 h 1206262"/>
              <a:gd name="connsiteX3" fmla="*/ 748145 w 4264312"/>
              <a:gd name="connsiteY3" fmla="*/ 312823 h 1206262"/>
              <a:gd name="connsiteX4" fmla="*/ 748145 w 4264312"/>
              <a:gd name="connsiteY4" fmla="*/ 323214 h 1206262"/>
              <a:gd name="connsiteX5" fmla="*/ 817417 w 4264312"/>
              <a:gd name="connsiteY5" fmla="*/ 496396 h 1206262"/>
              <a:gd name="connsiteX6" fmla="*/ 952499 w 4264312"/>
              <a:gd name="connsiteY6" fmla="*/ 766559 h 1206262"/>
              <a:gd name="connsiteX7" fmla="*/ 1458190 w 4264312"/>
              <a:gd name="connsiteY7" fmla="*/ 905105 h 1206262"/>
              <a:gd name="connsiteX8" fmla="*/ 2528454 w 4264312"/>
              <a:gd name="connsiteY8" fmla="*/ 974378 h 1206262"/>
              <a:gd name="connsiteX9" fmla="*/ 2743199 w 4264312"/>
              <a:gd name="connsiteY9" fmla="*/ 970914 h 1206262"/>
              <a:gd name="connsiteX10" fmla="*/ 2871354 w 4264312"/>
              <a:gd name="connsiteY10" fmla="*/ 915496 h 1206262"/>
              <a:gd name="connsiteX11" fmla="*/ 2947554 w 4264312"/>
              <a:gd name="connsiteY11" fmla="*/ 655723 h 1206262"/>
              <a:gd name="connsiteX12" fmla="*/ 2944090 w 4264312"/>
              <a:gd name="connsiteY12" fmla="*/ 402878 h 1206262"/>
              <a:gd name="connsiteX13" fmla="*/ 3058390 w 4264312"/>
              <a:gd name="connsiteY13" fmla="*/ 84223 h 1206262"/>
              <a:gd name="connsiteX14" fmla="*/ 3782290 w 4264312"/>
              <a:gd name="connsiteY14" fmla="*/ 46123 h 1206262"/>
              <a:gd name="connsiteX15" fmla="*/ 4007427 w 4264312"/>
              <a:gd name="connsiteY15" fmla="*/ 84223 h 1206262"/>
              <a:gd name="connsiteX16" fmla="*/ 4107872 w 4264312"/>
              <a:gd name="connsiteY16" fmla="*/ 195059 h 1206262"/>
              <a:gd name="connsiteX17" fmla="*/ 4211781 w 4264312"/>
              <a:gd name="connsiteY17" fmla="*/ 385559 h 1206262"/>
              <a:gd name="connsiteX18" fmla="*/ 4256808 w 4264312"/>
              <a:gd name="connsiteY18" fmla="*/ 593378 h 1206262"/>
              <a:gd name="connsiteX19" fmla="*/ 4256808 w 4264312"/>
              <a:gd name="connsiteY19" fmla="*/ 749241 h 1206262"/>
              <a:gd name="connsiteX20" fmla="*/ 4249881 w 4264312"/>
              <a:gd name="connsiteY20" fmla="*/ 773487 h 1206262"/>
              <a:gd name="connsiteX21" fmla="*/ 4222172 w 4264312"/>
              <a:gd name="connsiteY21" fmla="*/ 828905 h 1206262"/>
              <a:gd name="connsiteX22" fmla="*/ 4135581 w 4264312"/>
              <a:gd name="connsiteY22" fmla="*/ 870468 h 1206262"/>
              <a:gd name="connsiteX23" fmla="*/ 3930692 w 4264312"/>
              <a:gd name="connsiteY23" fmla="*/ 990238 h 1206262"/>
              <a:gd name="connsiteX24" fmla="*/ 3498644 w 4264312"/>
              <a:gd name="connsiteY24" fmla="*/ 1134254 h 1206262"/>
              <a:gd name="connsiteX25" fmla="*/ 2778564 w 4264312"/>
              <a:gd name="connsiteY25" fmla="*/ 1206262 h 1206262"/>
              <a:gd name="connsiteX26" fmla="*/ 1914468 w 4264312"/>
              <a:gd name="connsiteY26" fmla="*/ 1134253 h 1206262"/>
              <a:gd name="connsiteX27" fmla="*/ 834348 w 4264312"/>
              <a:gd name="connsiteY27" fmla="*/ 1062246 h 1206262"/>
              <a:gd name="connsiteX28" fmla="*/ 546316 w 4264312"/>
              <a:gd name="connsiteY28" fmla="*/ 990238 h 1206262"/>
              <a:gd name="connsiteX29" fmla="*/ 284017 w 4264312"/>
              <a:gd name="connsiteY29" fmla="*/ 877396 h 1206262"/>
              <a:gd name="connsiteX30" fmla="*/ 45027 w 4264312"/>
              <a:gd name="connsiteY30" fmla="*/ 731923 h 1206262"/>
              <a:gd name="connsiteX31" fmla="*/ 13854 w 4264312"/>
              <a:gd name="connsiteY31" fmla="*/ 472150 h 1206262"/>
              <a:gd name="connsiteX32" fmla="*/ 114268 w 4264312"/>
              <a:gd name="connsiteY32" fmla="*/ 126142 h 1206262"/>
              <a:gd name="connsiteX0" fmla="*/ 121981 w 4272025"/>
              <a:gd name="connsiteY0" fmla="*/ 126142 h 1206262"/>
              <a:gd name="connsiteX1" fmla="*/ 343685 w 4272025"/>
              <a:gd name="connsiteY1" fmla="*/ 4559 h 1206262"/>
              <a:gd name="connsiteX2" fmla="*/ 648485 w 4272025"/>
              <a:gd name="connsiteY2" fmla="*/ 153496 h 1206262"/>
              <a:gd name="connsiteX3" fmla="*/ 755858 w 4272025"/>
              <a:gd name="connsiteY3" fmla="*/ 312823 h 1206262"/>
              <a:gd name="connsiteX4" fmla="*/ 755858 w 4272025"/>
              <a:gd name="connsiteY4" fmla="*/ 323214 h 1206262"/>
              <a:gd name="connsiteX5" fmla="*/ 825130 w 4272025"/>
              <a:gd name="connsiteY5" fmla="*/ 496396 h 1206262"/>
              <a:gd name="connsiteX6" fmla="*/ 960212 w 4272025"/>
              <a:gd name="connsiteY6" fmla="*/ 766559 h 1206262"/>
              <a:gd name="connsiteX7" fmla="*/ 1465903 w 4272025"/>
              <a:gd name="connsiteY7" fmla="*/ 905105 h 1206262"/>
              <a:gd name="connsiteX8" fmla="*/ 2536167 w 4272025"/>
              <a:gd name="connsiteY8" fmla="*/ 974378 h 1206262"/>
              <a:gd name="connsiteX9" fmla="*/ 2750912 w 4272025"/>
              <a:gd name="connsiteY9" fmla="*/ 970914 h 1206262"/>
              <a:gd name="connsiteX10" fmla="*/ 2879067 w 4272025"/>
              <a:gd name="connsiteY10" fmla="*/ 915496 h 1206262"/>
              <a:gd name="connsiteX11" fmla="*/ 2955267 w 4272025"/>
              <a:gd name="connsiteY11" fmla="*/ 655723 h 1206262"/>
              <a:gd name="connsiteX12" fmla="*/ 2951803 w 4272025"/>
              <a:gd name="connsiteY12" fmla="*/ 402878 h 1206262"/>
              <a:gd name="connsiteX13" fmla="*/ 3066103 w 4272025"/>
              <a:gd name="connsiteY13" fmla="*/ 84223 h 1206262"/>
              <a:gd name="connsiteX14" fmla="*/ 3790003 w 4272025"/>
              <a:gd name="connsiteY14" fmla="*/ 46123 h 1206262"/>
              <a:gd name="connsiteX15" fmla="*/ 4015140 w 4272025"/>
              <a:gd name="connsiteY15" fmla="*/ 84223 h 1206262"/>
              <a:gd name="connsiteX16" fmla="*/ 4115585 w 4272025"/>
              <a:gd name="connsiteY16" fmla="*/ 195059 h 1206262"/>
              <a:gd name="connsiteX17" fmla="*/ 4219494 w 4272025"/>
              <a:gd name="connsiteY17" fmla="*/ 385559 h 1206262"/>
              <a:gd name="connsiteX18" fmla="*/ 4264521 w 4272025"/>
              <a:gd name="connsiteY18" fmla="*/ 593378 h 1206262"/>
              <a:gd name="connsiteX19" fmla="*/ 4264521 w 4272025"/>
              <a:gd name="connsiteY19" fmla="*/ 749241 h 1206262"/>
              <a:gd name="connsiteX20" fmla="*/ 4257594 w 4272025"/>
              <a:gd name="connsiteY20" fmla="*/ 773487 h 1206262"/>
              <a:gd name="connsiteX21" fmla="*/ 4229885 w 4272025"/>
              <a:gd name="connsiteY21" fmla="*/ 828905 h 1206262"/>
              <a:gd name="connsiteX22" fmla="*/ 4143294 w 4272025"/>
              <a:gd name="connsiteY22" fmla="*/ 870468 h 1206262"/>
              <a:gd name="connsiteX23" fmla="*/ 3938405 w 4272025"/>
              <a:gd name="connsiteY23" fmla="*/ 990238 h 1206262"/>
              <a:gd name="connsiteX24" fmla="*/ 3506357 w 4272025"/>
              <a:gd name="connsiteY24" fmla="*/ 1134254 h 1206262"/>
              <a:gd name="connsiteX25" fmla="*/ 2786277 w 4272025"/>
              <a:gd name="connsiteY25" fmla="*/ 1206262 h 1206262"/>
              <a:gd name="connsiteX26" fmla="*/ 1922181 w 4272025"/>
              <a:gd name="connsiteY26" fmla="*/ 1134253 h 1206262"/>
              <a:gd name="connsiteX27" fmla="*/ 842061 w 4272025"/>
              <a:gd name="connsiteY27" fmla="*/ 1062246 h 1206262"/>
              <a:gd name="connsiteX28" fmla="*/ 554029 w 4272025"/>
              <a:gd name="connsiteY28" fmla="*/ 990238 h 1206262"/>
              <a:gd name="connsiteX29" fmla="*/ 338005 w 4272025"/>
              <a:gd name="connsiteY29" fmla="*/ 918230 h 1206262"/>
              <a:gd name="connsiteX30" fmla="*/ 52740 w 4272025"/>
              <a:gd name="connsiteY30" fmla="*/ 731923 h 1206262"/>
              <a:gd name="connsiteX31" fmla="*/ 21567 w 4272025"/>
              <a:gd name="connsiteY31" fmla="*/ 472150 h 1206262"/>
              <a:gd name="connsiteX32" fmla="*/ 121981 w 4272025"/>
              <a:gd name="connsiteY32" fmla="*/ 126142 h 1206262"/>
              <a:gd name="connsiteX0" fmla="*/ 121981 w 4272025"/>
              <a:gd name="connsiteY0" fmla="*/ 126142 h 1206262"/>
              <a:gd name="connsiteX1" fmla="*/ 343685 w 4272025"/>
              <a:gd name="connsiteY1" fmla="*/ 4559 h 1206262"/>
              <a:gd name="connsiteX2" fmla="*/ 648485 w 4272025"/>
              <a:gd name="connsiteY2" fmla="*/ 153496 h 1206262"/>
              <a:gd name="connsiteX3" fmla="*/ 755858 w 4272025"/>
              <a:gd name="connsiteY3" fmla="*/ 312823 h 1206262"/>
              <a:gd name="connsiteX4" fmla="*/ 755858 w 4272025"/>
              <a:gd name="connsiteY4" fmla="*/ 323214 h 1206262"/>
              <a:gd name="connsiteX5" fmla="*/ 825130 w 4272025"/>
              <a:gd name="connsiteY5" fmla="*/ 496396 h 1206262"/>
              <a:gd name="connsiteX6" fmla="*/ 960212 w 4272025"/>
              <a:gd name="connsiteY6" fmla="*/ 766559 h 1206262"/>
              <a:gd name="connsiteX7" fmla="*/ 1465903 w 4272025"/>
              <a:gd name="connsiteY7" fmla="*/ 905105 h 1206262"/>
              <a:gd name="connsiteX8" fmla="*/ 2536167 w 4272025"/>
              <a:gd name="connsiteY8" fmla="*/ 974378 h 1206262"/>
              <a:gd name="connsiteX9" fmla="*/ 2750912 w 4272025"/>
              <a:gd name="connsiteY9" fmla="*/ 970914 h 1206262"/>
              <a:gd name="connsiteX10" fmla="*/ 2879067 w 4272025"/>
              <a:gd name="connsiteY10" fmla="*/ 915496 h 1206262"/>
              <a:gd name="connsiteX11" fmla="*/ 2955267 w 4272025"/>
              <a:gd name="connsiteY11" fmla="*/ 655723 h 1206262"/>
              <a:gd name="connsiteX12" fmla="*/ 2951803 w 4272025"/>
              <a:gd name="connsiteY12" fmla="*/ 402878 h 1206262"/>
              <a:gd name="connsiteX13" fmla="*/ 3066103 w 4272025"/>
              <a:gd name="connsiteY13" fmla="*/ 84223 h 1206262"/>
              <a:gd name="connsiteX14" fmla="*/ 3790003 w 4272025"/>
              <a:gd name="connsiteY14" fmla="*/ 46123 h 1206262"/>
              <a:gd name="connsiteX15" fmla="*/ 4015140 w 4272025"/>
              <a:gd name="connsiteY15" fmla="*/ 84223 h 1206262"/>
              <a:gd name="connsiteX16" fmla="*/ 4115585 w 4272025"/>
              <a:gd name="connsiteY16" fmla="*/ 195059 h 1206262"/>
              <a:gd name="connsiteX17" fmla="*/ 4219494 w 4272025"/>
              <a:gd name="connsiteY17" fmla="*/ 385559 h 1206262"/>
              <a:gd name="connsiteX18" fmla="*/ 4264521 w 4272025"/>
              <a:gd name="connsiteY18" fmla="*/ 593378 h 1206262"/>
              <a:gd name="connsiteX19" fmla="*/ 4264521 w 4272025"/>
              <a:gd name="connsiteY19" fmla="*/ 749241 h 1206262"/>
              <a:gd name="connsiteX20" fmla="*/ 4257594 w 4272025"/>
              <a:gd name="connsiteY20" fmla="*/ 773487 h 1206262"/>
              <a:gd name="connsiteX21" fmla="*/ 4229885 w 4272025"/>
              <a:gd name="connsiteY21" fmla="*/ 828905 h 1206262"/>
              <a:gd name="connsiteX22" fmla="*/ 4143294 w 4272025"/>
              <a:gd name="connsiteY22" fmla="*/ 870468 h 1206262"/>
              <a:gd name="connsiteX23" fmla="*/ 3938405 w 4272025"/>
              <a:gd name="connsiteY23" fmla="*/ 990238 h 1206262"/>
              <a:gd name="connsiteX24" fmla="*/ 3506357 w 4272025"/>
              <a:gd name="connsiteY24" fmla="*/ 1134254 h 1206262"/>
              <a:gd name="connsiteX25" fmla="*/ 2786277 w 4272025"/>
              <a:gd name="connsiteY25" fmla="*/ 1206262 h 1206262"/>
              <a:gd name="connsiteX26" fmla="*/ 1922181 w 4272025"/>
              <a:gd name="connsiteY26" fmla="*/ 1134253 h 1206262"/>
              <a:gd name="connsiteX27" fmla="*/ 842061 w 4272025"/>
              <a:gd name="connsiteY27" fmla="*/ 1062246 h 1206262"/>
              <a:gd name="connsiteX28" fmla="*/ 554030 w 4272025"/>
              <a:gd name="connsiteY28" fmla="*/ 990238 h 1206262"/>
              <a:gd name="connsiteX29" fmla="*/ 338005 w 4272025"/>
              <a:gd name="connsiteY29" fmla="*/ 918230 h 1206262"/>
              <a:gd name="connsiteX30" fmla="*/ 52740 w 4272025"/>
              <a:gd name="connsiteY30" fmla="*/ 731923 h 1206262"/>
              <a:gd name="connsiteX31" fmla="*/ 21567 w 4272025"/>
              <a:gd name="connsiteY31" fmla="*/ 472150 h 1206262"/>
              <a:gd name="connsiteX32" fmla="*/ 121981 w 4272025"/>
              <a:gd name="connsiteY32" fmla="*/ 126142 h 1206262"/>
              <a:gd name="connsiteX0" fmla="*/ 121981 w 4272025"/>
              <a:gd name="connsiteY0" fmla="*/ 126142 h 1206262"/>
              <a:gd name="connsiteX1" fmla="*/ 343685 w 4272025"/>
              <a:gd name="connsiteY1" fmla="*/ 4559 h 1206262"/>
              <a:gd name="connsiteX2" fmla="*/ 648485 w 4272025"/>
              <a:gd name="connsiteY2" fmla="*/ 153496 h 1206262"/>
              <a:gd name="connsiteX3" fmla="*/ 755858 w 4272025"/>
              <a:gd name="connsiteY3" fmla="*/ 312823 h 1206262"/>
              <a:gd name="connsiteX4" fmla="*/ 755858 w 4272025"/>
              <a:gd name="connsiteY4" fmla="*/ 323214 h 1206262"/>
              <a:gd name="connsiteX5" fmla="*/ 825130 w 4272025"/>
              <a:gd name="connsiteY5" fmla="*/ 496396 h 1206262"/>
              <a:gd name="connsiteX6" fmla="*/ 960212 w 4272025"/>
              <a:gd name="connsiteY6" fmla="*/ 766559 h 1206262"/>
              <a:gd name="connsiteX7" fmla="*/ 1465903 w 4272025"/>
              <a:gd name="connsiteY7" fmla="*/ 905105 h 1206262"/>
              <a:gd name="connsiteX8" fmla="*/ 2536167 w 4272025"/>
              <a:gd name="connsiteY8" fmla="*/ 974378 h 1206262"/>
              <a:gd name="connsiteX9" fmla="*/ 2750912 w 4272025"/>
              <a:gd name="connsiteY9" fmla="*/ 970914 h 1206262"/>
              <a:gd name="connsiteX10" fmla="*/ 2879067 w 4272025"/>
              <a:gd name="connsiteY10" fmla="*/ 915496 h 1206262"/>
              <a:gd name="connsiteX11" fmla="*/ 2955267 w 4272025"/>
              <a:gd name="connsiteY11" fmla="*/ 655723 h 1206262"/>
              <a:gd name="connsiteX12" fmla="*/ 2951803 w 4272025"/>
              <a:gd name="connsiteY12" fmla="*/ 402878 h 1206262"/>
              <a:gd name="connsiteX13" fmla="*/ 3066103 w 4272025"/>
              <a:gd name="connsiteY13" fmla="*/ 84223 h 1206262"/>
              <a:gd name="connsiteX14" fmla="*/ 3790003 w 4272025"/>
              <a:gd name="connsiteY14" fmla="*/ 46123 h 1206262"/>
              <a:gd name="connsiteX15" fmla="*/ 4015140 w 4272025"/>
              <a:gd name="connsiteY15" fmla="*/ 84223 h 1206262"/>
              <a:gd name="connsiteX16" fmla="*/ 4115585 w 4272025"/>
              <a:gd name="connsiteY16" fmla="*/ 195059 h 1206262"/>
              <a:gd name="connsiteX17" fmla="*/ 4219494 w 4272025"/>
              <a:gd name="connsiteY17" fmla="*/ 385559 h 1206262"/>
              <a:gd name="connsiteX18" fmla="*/ 4264521 w 4272025"/>
              <a:gd name="connsiteY18" fmla="*/ 593378 h 1206262"/>
              <a:gd name="connsiteX19" fmla="*/ 4264521 w 4272025"/>
              <a:gd name="connsiteY19" fmla="*/ 749241 h 1206262"/>
              <a:gd name="connsiteX20" fmla="*/ 4257594 w 4272025"/>
              <a:gd name="connsiteY20" fmla="*/ 773487 h 1206262"/>
              <a:gd name="connsiteX21" fmla="*/ 4229885 w 4272025"/>
              <a:gd name="connsiteY21" fmla="*/ 828905 h 1206262"/>
              <a:gd name="connsiteX22" fmla="*/ 4143294 w 4272025"/>
              <a:gd name="connsiteY22" fmla="*/ 870468 h 1206262"/>
              <a:gd name="connsiteX23" fmla="*/ 3938405 w 4272025"/>
              <a:gd name="connsiteY23" fmla="*/ 990238 h 1206262"/>
              <a:gd name="connsiteX24" fmla="*/ 3506357 w 4272025"/>
              <a:gd name="connsiteY24" fmla="*/ 1134254 h 1206262"/>
              <a:gd name="connsiteX25" fmla="*/ 2786277 w 4272025"/>
              <a:gd name="connsiteY25" fmla="*/ 1206262 h 1206262"/>
              <a:gd name="connsiteX26" fmla="*/ 1922181 w 4272025"/>
              <a:gd name="connsiteY26" fmla="*/ 1134253 h 1206262"/>
              <a:gd name="connsiteX27" fmla="*/ 842061 w 4272025"/>
              <a:gd name="connsiteY27" fmla="*/ 1062246 h 1206262"/>
              <a:gd name="connsiteX28" fmla="*/ 554030 w 4272025"/>
              <a:gd name="connsiteY28" fmla="*/ 990238 h 1206262"/>
              <a:gd name="connsiteX29" fmla="*/ 338005 w 4272025"/>
              <a:gd name="connsiteY29" fmla="*/ 918230 h 1206262"/>
              <a:gd name="connsiteX30" fmla="*/ 52740 w 4272025"/>
              <a:gd name="connsiteY30" fmla="*/ 731923 h 1206262"/>
              <a:gd name="connsiteX31" fmla="*/ 21567 w 4272025"/>
              <a:gd name="connsiteY31" fmla="*/ 472150 h 1206262"/>
              <a:gd name="connsiteX32" fmla="*/ 121981 w 4272025"/>
              <a:gd name="connsiteY32" fmla="*/ 126142 h 1206262"/>
              <a:gd name="connsiteX0" fmla="*/ 121981 w 4272025"/>
              <a:gd name="connsiteY0" fmla="*/ 126142 h 1206262"/>
              <a:gd name="connsiteX1" fmla="*/ 343685 w 4272025"/>
              <a:gd name="connsiteY1" fmla="*/ 4559 h 1206262"/>
              <a:gd name="connsiteX2" fmla="*/ 648485 w 4272025"/>
              <a:gd name="connsiteY2" fmla="*/ 153496 h 1206262"/>
              <a:gd name="connsiteX3" fmla="*/ 755858 w 4272025"/>
              <a:gd name="connsiteY3" fmla="*/ 312823 h 1206262"/>
              <a:gd name="connsiteX4" fmla="*/ 755858 w 4272025"/>
              <a:gd name="connsiteY4" fmla="*/ 323214 h 1206262"/>
              <a:gd name="connsiteX5" fmla="*/ 825130 w 4272025"/>
              <a:gd name="connsiteY5" fmla="*/ 496396 h 1206262"/>
              <a:gd name="connsiteX6" fmla="*/ 960212 w 4272025"/>
              <a:gd name="connsiteY6" fmla="*/ 766559 h 1206262"/>
              <a:gd name="connsiteX7" fmla="*/ 1465903 w 4272025"/>
              <a:gd name="connsiteY7" fmla="*/ 905105 h 1206262"/>
              <a:gd name="connsiteX8" fmla="*/ 2536167 w 4272025"/>
              <a:gd name="connsiteY8" fmla="*/ 974378 h 1206262"/>
              <a:gd name="connsiteX9" fmla="*/ 2750912 w 4272025"/>
              <a:gd name="connsiteY9" fmla="*/ 970914 h 1206262"/>
              <a:gd name="connsiteX10" fmla="*/ 2879067 w 4272025"/>
              <a:gd name="connsiteY10" fmla="*/ 915496 h 1206262"/>
              <a:gd name="connsiteX11" fmla="*/ 2955267 w 4272025"/>
              <a:gd name="connsiteY11" fmla="*/ 655723 h 1206262"/>
              <a:gd name="connsiteX12" fmla="*/ 2951803 w 4272025"/>
              <a:gd name="connsiteY12" fmla="*/ 402878 h 1206262"/>
              <a:gd name="connsiteX13" fmla="*/ 3066103 w 4272025"/>
              <a:gd name="connsiteY13" fmla="*/ 84223 h 1206262"/>
              <a:gd name="connsiteX14" fmla="*/ 3790003 w 4272025"/>
              <a:gd name="connsiteY14" fmla="*/ 46123 h 1206262"/>
              <a:gd name="connsiteX15" fmla="*/ 4015140 w 4272025"/>
              <a:gd name="connsiteY15" fmla="*/ 84223 h 1206262"/>
              <a:gd name="connsiteX16" fmla="*/ 4115585 w 4272025"/>
              <a:gd name="connsiteY16" fmla="*/ 195059 h 1206262"/>
              <a:gd name="connsiteX17" fmla="*/ 4219494 w 4272025"/>
              <a:gd name="connsiteY17" fmla="*/ 385559 h 1206262"/>
              <a:gd name="connsiteX18" fmla="*/ 4264521 w 4272025"/>
              <a:gd name="connsiteY18" fmla="*/ 593378 h 1206262"/>
              <a:gd name="connsiteX19" fmla="*/ 4264521 w 4272025"/>
              <a:gd name="connsiteY19" fmla="*/ 749241 h 1206262"/>
              <a:gd name="connsiteX20" fmla="*/ 4257594 w 4272025"/>
              <a:gd name="connsiteY20" fmla="*/ 773487 h 1206262"/>
              <a:gd name="connsiteX21" fmla="*/ 4229885 w 4272025"/>
              <a:gd name="connsiteY21" fmla="*/ 828905 h 1206262"/>
              <a:gd name="connsiteX22" fmla="*/ 4143294 w 4272025"/>
              <a:gd name="connsiteY22" fmla="*/ 870468 h 1206262"/>
              <a:gd name="connsiteX23" fmla="*/ 3938405 w 4272025"/>
              <a:gd name="connsiteY23" fmla="*/ 990238 h 1206262"/>
              <a:gd name="connsiteX24" fmla="*/ 3506357 w 4272025"/>
              <a:gd name="connsiteY24" fmla="*/ 1134254 h 1206262"/>
              <a:gd name="connsiteX25" fmla="*/ 2786277 w 4272025"/>
              <a:gd name="connsiteY25" fmla="*/ 1206262 h 1206262"/>
              <a:gd name="connsiteX26" fmla="*/ 1922181 w 4272025"/>
              <a:gd name="connsiteY26" fmla="*/ 1134253 h 1206262"/>
              <a:gd name="connsiteX27" fmla="*/ 842062 w 4272025"/>
              <a:gd name="connsiteY27" fmla="*/ 1062246 h 1206262"/>
              <a:gd name="connsiteX28" fmla="*/ 554030 w 4272025"/>
              <a:gd name="connsiteY28" fmla="*/ 990238 h 1206262"/>
              <a:gd name="connsiteX29" fmla="*/ 338005 w 4272025"/>
              <a:gd name="connsiteY29" fmla="*/ 918230 h 1206262"/>
              <a:gd name="connsiteX30" fmla="*/ 52740 w 4272025"/>
              <a:gd name="connsiteY30" fmla="*/ 731923 h 1206262"/>
              <a:gd name="connsiteX31" fmla="*/ 21567 w 4272025"/>
              <a:gd name="connsiteY31" fmla="*/ 472150 h 1206262"/>
              <a:gd name="connsiteX32" fmla="*/ 121981 w 4272025"/>
              <a:gd name="connsiteY32" fmla="*/ 126142 h 1206262"/>
              <a:gd name="connsiteX0" fmla="*/ 121981 w 4272025"/>
              <a:gd name="connsiteY0" fmla="*/ 126142 h 1224735"/>
              <a:gd name="connsiteX1" fmla="*/ 343685 w 4272025"/>
              <a:gd name="connsiteY1" fmla="*/ 4559 h 1224735"/>
              <a:gd name="connsiteX2" fmla="*/ 648485 w 4272025"/>
              <a:gd name="connsiteY2" fmla="*/ 153496 h 1224735"/>
              <a:gd name="connsiteX3" fmla="*/ 755858 w 4272025"/>
              <a:gd name="connsiteY3" fmla="*/ 312823 h 1224735"/>
              <a:gd name="connsiteX4" fmla="*/ 755858 w 4272025"/>
              <a:gd name="connsiteY4" fmla="*/ 323214 h 1224735"/>
              <a:gd name="connsiteX5" fmla="*/ 825130 w 4272025"/>
              <a:gd name="connsiteY5" fmla="*/ 496396 h 1224735"/>
              <a:gd name="connsiteX6" fmla="*/ 960212 w 4272025"/>
              <a:gd name="connsiteY6" fmla="*/ 766559 h 1224735"/>
              <a:gd name="connsiteX7" fmla="*/ 1465903 w 4272025"/>
              <a:gd name="connsiteY7" fmla="*/ 905105 h 1224735"/>
              <a:gd name="connsiteX8" fmla="*/ 2536167 w 4272025"/>
              <a:gd name="connsiteY8" fmla="*/ 974378 h 1224735"/>
              <a:gd name="connsiteX9" fmla="*/ 2750912 w 4272025"/>
              <a:gd name="connsiteY9" fmla="*/ 970914 h 1224735"/>
              <a:gd name="connsiteX10" fmla="*/ 2879067 w 4272025"/>
              <a:gd name="connsiteY10" fmla="*/ 915496 h 1224735"/>
              <a:gd name="connsiteX11" fmla="*/ 2955267 w 4272025"/>
              <a:gd name="connsiteY11" fmla="*/ 655723 h 1224735"/>
              <a:gd name="connsiteX12" fmla="*/ 2951803 w 4272025"/>
              <a:gd name="connsiteY12" fmla="*/ 402878 h 1224735"/>
              <a:gd name="connsiteX13" fmla="*/ 3066103 w 4272025"/>
              <a:gd name="connsiteY13" fmla="*/ 84223 h 1224735"/>
              <a:gd name="connsiteX14" fmla="*/ 3790003 w 4272025"/>
              <a:gd name="connsiteY14" fmla="*/ 46123 h 1224735"/>
              <a:gd name="connsiteX15" fmla="*/ 4015140 w 4272025"/>
              <a:gd name="connsiteY15" fmla="*/ 84223 h 1224735"/>
              <a:gd name="connsiteX16" fmla="*/ 4115585 w 4272025"/>
              <a:gd name="connsiteY16" fmla="*/ 195059 h 1224735"/>
              <a:gd name="connsiteX17" fmla="*/ 4219494 w 4272025"/>
              <a:gd name="connsiteY17" fmla="*/ 385559 h 1224735"/>
              <a:gd name="connsiteX18" fmla="*/ 4264521 w 4272025"/>
              <a:gd name="connsiteY18" fmla="*/ 593378 h 1224735"/>
              <a:gd name="connsiteX19" fmla="*/ 4264521 w 4272025"/>
              <a:gd name="connsiteY19" fmla="*/ 749241 h 1224735"/>
              <a:gd name="connsiteX20" fmla="*/ 4257594 w 4272025"/>
              <a:gd name="connsiteY20" fmla="*/ 773487 h 1224735"/>
              <a:gd name="connsiteX21" fmla="*/ 4229885 w 4272025"/>
              <a:gd name="connsiteY21" fmla="*/ 828905 h 1224735"/>
              <a:gd name="connsiteX22" fmla="*/ 4143294 w 4272025"/>
              <a:gd name="connsiteY22" fmla="*/ 870468 h 1224735"/>
              <a:gd name="connsiteX23" fmla="*/ 3938405 w 4272025"/>
              <a:gd name="connsiteY23" fmla="*/ 990238 h 1224735"/>
              <a:gd name="connsiteX24" fmla="*/ 3506357 w 4272025"/>
              <a:gd name="connsiteY24" fmla="*/ 1134254 h 1224735"/>
              <a:gd name="connsiteX25" fmla="*/ 2786277 w 4272025"/>
              <a:gd name="connsiteY25" fmla="*/ 1206262 h 1224735"/>
              <a:gd name="connsiteX26" fmla="*/ 1922182 w 4272025"/>
              <a:gd name="connsiteY26" fmla="*/ 1206262 h 1224735"/>
              <a:gd name="connsiteX27" fmla="*/ 842062 w 4272025"/>
              <a:gd name="connsiteY27" fmla="*/ 1062246 h 1224735"/>
              <a:gd name="connsiteX28" fmla="*/ 554030 w 4272025"/>
              <a:gd name="connsiteY28" fmla="*/ 990238 h 1224735"/>
              <a:gd name="connsiteX29" fmla="*/ 338005 w 4272025"/>
              <a:gd name="connsiteY29" fmla="*/ 918230 h 1224735"/>
              <a:gd name="connsiteX30" fmla="*/ 52740 w 4272025"/>
              <a:gd name="connsiteY30" fmla="*/ 731923 h 1224735"/>
              <a:gd name="connsiteX31" fmla="*/ 21567 w 4272025"/>
              <a:gd name="connsiteY31" fmla="*/ 472150 h 1224735"/>
              <a:gd name="connsiteX32" fmla="*/ 121981 w 4272025"/>
              <a:gd name="connsiteY32" fmla="*/ 126142 h 1224735"/>
              <a:gd name="connsiteX0" fmla="*/ 121981 w 4272025"/>
              <a:gd name="connsiteY0" fmla="*/ 126142 h 1224128"/>
              <a:gd name="connsiteX1" fmla="*/ 343685 w 4272025"/>
              <a:gd name="connsiteY1" fmla="*/ 4559 h 1224128"/>
              <a:gd name="connsiteX2" fmla="*/ 648485 w 4272025"/>
              <a:gd name="connsiteY2" fmla="*/ 153496 h 1224128"/>
              <a:gd name="connsiteX3" fmla="*/ 755858 w 4272025"/>
              <a:gd name="connsiteY3" fmla="*/ 312823 h 1224128"/>
              <a:gd name="connsiteX4" fmla="*/ 755858 w 4272025"/>
              <a:gd name="connsiteY4" fmla="*/ 323214 h 1224128"/>
              <a:gd name="connsiteX5" fmla="*/ 825130 w 4272025"/>
              <a:gd name="connsiteY5" fmla="*/ 496396 h 1224128"/>
              <a:gd name="connsiteX6" fmla="*/ 960212 w 4272025"/>
              <a:gd name="connsiteY6" fmla="*/ 766559 h 1224128"/>
              <a:gd name="connsiteX7" fmla="*/ 1465903 w 4272025"/>
              <a:gd name="connsiteY7" fmla="*/ 905105 h 1224128"/>
              <a:gd name="connsiteX8" fmla="*/ 2536167 w 4272025"/>
              <a:gd name="connsiteY8" fmla="*/ 974378 h 1224128"/>
              <a:gd name="connsiteX9" fmla="*/ 2750912 w 4272025"/>
              <a:gd name="connsiteY9" fmla="*/ 970914 h 1224128"/>
              <a:gd name="connsiteX10" fmla="*/ 2879067 w 4272025"/>
              <a:gd name="connsiteY10" fmla="*/ 915496 h 1224128"/>
              <a:gd name="connsiteX11" fmla="*/ 2955267 w 4272025"/>
              <a:gd name="connsiteY11" fmla="*/ 655723 h 1224128"/>
              <a:gd name="connsiteX12" fmla="*/ 2951803 w 4272025"/>
              <a:gd name="connsiteY12" fmla="*/ 402878 h 1224128"/>
              <a:gd name="connsiteX13" fmla="*/ 3066103 w 4272025"/>
              <a:gd name="connsiteY13" fmla="*/ 84223 h 1224128"/>
              <a:gd name="connsiteX14" fmla="*/ 3790003 w 4272025"/>
              <a:gd name="connsiteY14" fmla="*/ 46123 h 1224128"/>
              <a:gd name="connsiteX15" fmla="*/ 4015140 w 4272025"/>
              <a:gd name="connsiteY15" fmla="*/ 84223 h 1224128"/>
              <a:gd name="connsiteX16" fmla="*/ 4115585 w 4272025"/>
              <a:gd name="connsiteY16" fmla="*/ 195059 h 1224128"/>
              <a:gd name="connsiteX17" fmla="*/ 4219494 w 4272025"/>
              <a:gd name="connsiteY17" fmla="*/ 385559 h 1224128"/>
              <a:gd name="connsiteX18" fmla="*/ 4264521 w 4272025"/>
              <a:gd name="connsiteY18" fmla="*/ 593378 h 1224128"/>
              <a:gd name="connsiteX19" fmla="*/ 4264521 w 4272025"/>
              <a:gd name="connsiteY19" fmla="*/ 749241 h 1224128"/>
              <a:gd name="connsiteX20" fmla="*/ 4257594 w 4272025"/>
              <a:gd name="connsiteY20" fmla="*/ 773487 h 1224128"/>
              <a:gd name="connsiteX21" fmla="*/ 4229885 w 4272025"/>
              <a:gd name="connsiteY21" fmla="*/ 828905 h 1224128"/>
              <a:gd name="connsiteX22" fmla="*/ 4143294 w 4272025"/>
              <a:gd name="connsiteY22" fmla="*/ 870468 h 1224128"/>
              <a:gd name="connsiteX23" fmla="*/ 3938405 w 4272025"/>
              <a:gd name="connsiteY23" fmla="*/ 990238 h 1224128"/>
              <a:gd name="connsiteX24" fmla="*/ 3506357 w 4272025"/>
              <a:gd name="connsiteY24" fmla="*/ 1134254 h 1224128"/>
              <a:gd name="connsiteX25" fmla="*/ 2786277 w 4272025"/>
              <a:gd name="connsiteY25" fmla="*/ 1206262 h 1224128"/>
              <a:gd name="connsiteX26" fmla="*/ 1922182 w 4272025"/>
              <a:gd name="connsiteY26" fmla="*/ 1206262 h 1224128"/>
              <a:gd name="connsiteX27" fmla="*/ 1130094 w 4272025"/>
              <a:gd name="connsiteY27" fmla="*/ 1062246 h 1224128"/>
              <a:gd name="connsiteX28" fmla="*/ 842062 w 4272025"/>
              <a:gd name="connsiteY28" fmla="*/ 1062246 h 1224128"/>
              <a:gd name="connsiteX29" fmla="*/ 554030 w 4272025"/>
              <a:gd name="connsiteY29" fmla="*/ 990238 h 1224128"/>
              <a:gd name="connsiteX30" fmla="*/ 338005 w 4272025"/>
              <a:gd name="connsiteY30" fmla="*/ 918230 h 1224128"/>
              <a:gd name="connsiteX31" fmla="*/ 52740 w 4272025"/>
              <a:gd name="connsiteY31" fmla="*/ 731923 h 1224128"/>
              <a:gd name="connsiteX32" fmla="*/ 21567 w 4272025"/>
              <a:gd name="connsiteY32" fmla="*/ 472150 h 1224128"/>
              <a:gd name="connsiteX33" fmla="*/ 121981 w 4272025"/>
              <a:gd name="connsiteY33" fmla="*/ 126142 h 1224128"/>
              <a:gd name="connsiteX0" fmla="*/ 121981 w 4272025"/>
              <a:gd name="connsiteY0" fmla="*/ 126142 h 1224128"/>
              <a:gd name="connsiteX1" fmla="*/ 343685 w 4272025"/>
              <a:gd name="connsiteY1" fmla="*/ 4559 h 1224128"/>
              <a:gd name="connsiteX2" fmla="*/ 648485 w 4272025"/>
              <a:gd name="connsiteY2" fmla="*/ 153496 h 1224128"/>
              <a:gd name="connsiteX3" fmla="*/ 755858 w 4272025"/>
              <a:gd name="connsiteY3" fmla="*/ 312823 h 1224128"/>
              <a:gd name="connsiteX4" fmla="*/ 755858 w 4272025"/>
              <a:gd name="connsiteY4" fmla="*/ 323214 h 1224128"/>
              <a:gd name="connsiteX5" fmla="*/ 825130 w 4272025"/>
              <a:gd name="connsiteY5" fmla="*/ 496396 h 1224128"/>
              <a:gd name="connsiteX6" fmla="*/ 960212 w 4272025"/>
              <a:gd name="connsiteY6" fmla="*/ 766559 h 1224128"/>
              <a:gd name="connsiteX7" fmla="*/ 1465903 w 4272025"/>
              <a:gd name="connsiteY7" fmla="*/ 905105 h 1224128"/>
              <a:gd name="connsiteX8" fmla="*/ 2536167 w 4272025"/>
              <a:gd name="connsiteY8" fmla="*/ 974378 h 1224128"/>
              <a:gd name="connsiteX9" fmla="*/ 2750912 w 4272025"/>
              <a:gd name="connsiteY9" fmla="*/ 970914 h 1224128"/>
              <a:gd name="connsiteX10" fmla="*/ 2879067 w 4272025"/>
              <a:gd name="connsiteY10" fmla="*/ 915496 h 1224128"/>
              <a:gd name="connsiteX11" fmla="*/ 2955267 w 4272025"/>
              <a:gd name="connsiteY11" fmla="*/ 655723 h 1224128"/>
              <a:gd name="connsiteX12" fmla="*/ 2951803 w 4272025"/>
              <a:gd name="connsiteY12" fmla="*/ 402878 h 1224128"/>
              <a:gd name="connsiteX13" fmla="*/ 3066103 w 4272025"/>
              <a:gd name="connsiteY13" fmla="*/ 84223 h 1224128"/>
              <a:gd name="connsiteX14" fmla="*/ 3790003 w 4272025"/>
              <a:gd name="connsiteY14" fmla="*/ 46123 h 1224128"/>
              <a:gd name="connsiteX15" fmla="*/ 4015140 w 4272025"/>
              <a:gd name="connsiteY15" fmla="*/ 84223 h 1224128"/>
              <a:gd name="connsiteX16" fmla="*/ 4115585 w 4272025"/>
              <a:gd name="connsiteY16" fmla="*/ 195059 h 1224128"/>
              <a:gd name="connsiteX17" fmla="*/ 4219494 w 4272025"/>
              <a:gd name="connsiteY17" fmla="*/ 385559 h 1224128"/>
              <a:gd name="connsiteX18" fmla="*/ 4264521 w 4272025"/>
              <a:gd name="connsiteY18" fmla="*/ 593378 h 1224128"/>
              <a:gd name="connsiteX19" fmla="*/ 4264521 w 4272025"/>
              <a:gd name="connsiteY19" fmla="*/ 749241 h 1224128"/>
              <a:gd name="connsiteX20" fmla="*/ 4257594 w 4272025"/>
              <a:gd name="connsiteY20" fmla="*/ 773487 h 1224128"/>
              <a:gd name="connsiteX21" fmla="*/ 4229885 w 4272025"/>
              <a:gd name="connsiteY21" fmla="*/ 828905 h 1224128"/>
              <a:gd name="connsiteX22" fmla="*/ 4143294 w 4272025"/>
              <a:gd name="connsiteY22" fmla="*/ 870468 h 1224128"/>
              <a:gd name="connsiteX23" fmla="*/ 3938405 w 4272025"/>
              <a:gd name="connsiteY23" fmla="*/ 990238 h 1224128"/>
              <a:gd name="connsiteX24" fmla="*/ 3506357 w 4272025"/>
              <a:gd name="connsiteY24" fmla="*/ 1134254 h 1224128"/>
              <a:gd name="connsiteX25" fmla="*/ 2786277 w 4272025"/>
              <a:gd name="connsiteY25" fmla="*/ 1206262 h 1224128"/>
              <a:gd name="connsiteX26" fmla="*/ 1922182 w 4272025"/>
              <a:gd name="connsiteY26" fmla="*/ 1206262 h 1224128"/>
              <a:gd name="connsiteX27" fmla="*/ 1130094 w 4272025"/>
              <a:gd name="connsiteY27" fmla="*/ 1134254 h 1224128"/>
              <a:gd name="connsiteX28" fmla="*/ 842062 w 4272025"/>
              <a:gd name="connsiteY28" fmla="*/ 1062246 h 1224128"/>
              <a:gd name="connsiteX29" fmla="*/ 554030 w 4272025"/>
              <a:gd name="connsiteY29" fmla="*/ 990238 h 1224128"/>
              <a:gd name="connsiteX30" fmla="*/ 338005 w 4272025"/>
              <a:gd name="connsiteY30" fmla="*/ 918230 h 1224128"/>
              <a:gd name="connsiteX31" fmla="*/ 52740 w 4272025"/>
              <a:gd name="connsiteY31" fmla="*/ 731923 h 1224128"/>
              <a:gd name="connsiteX32" fmla="*/ 21567 w 4272025"/>
              <a:gd name="connsiteY32" fmla="*/ 472150 h 1224128"/>
              <a:gd name="connsiteX33" fmla="*/ 121981 w 4272025"/>
              <a:gd name="connsiteY33" fmla="*/ 126142 h 1224128"/>
              <a:gd name="connsiteX0" fmla="*/ 121981 w 4272025"/>
              <a:gd name="connsiteY0" fmla="*/ 126142 h 1224128"/>
              <a:gd name="connsiteX1" fmla="*/ 343685 w 4272025"/>
              <a:gd name="connsiteY1" fmla="*/ 4559 h 1224128"/>
              <a:gd name="connsiteX2" fmla="*/ 648485 w 4272025"/>
              <a:gd name="connsiteY2" fmla="*/ 153496 h 1224128"/>
              <a:gd name="connsiteX3" fmla="*/ 755858 w 4272025"/>
              <a:gd name="connsiteY3" fmla="*/ 312823 h 1224128"/>
              <a:gd name="connsiteX4" fmla="*/ 755858 w 4272025"/>
              <a:gd name="connsiteY4" fmla="*/ 323214 h 1224128"/>
              <a:gd name="connsiteX5" fmla="*/ 825130 w 4272025"/>
              <a:gd name="connsiteY5" fmla="*/ 496396 h 1224128"/>
              <a:gd name="connsiteX6" fmla="*/ 960212 w 4272025"/>
              <a:gd name="connsiteY6" fmla="*/ 766559 h 1224128"/>
              <a:gd name="connsiteX7" fmla="*/ 1465903 w 4272025"/>
              <a:gd name="connsiteY7" fmla="*/ 905105 h 1224128"/>
              <a:gd name="connsiteX8" fmla="*/ 2536167 w 4272025"/>
              <a:gd name="connsiteY8" fmla="*/ 974378 h 1224128"/>
              <a:gd name="connsiteX9" fmla="*/ 2750912 w 4272025"/>
              <a:gd name="connsiteY9" fmla="*/ 970914 h 1224128"/>
              <a:gd name="connsiteX10" fmla="*/ 2879067 w 4272025"/>
              <a:gd name="connsiteY10" fmla="*/ 915496 h 1224128"/>
              <a:gd name="connsiteX11" fmla="*/ 2955267 w 4272025"/>
              <a:gd name="connsiteY11" fmla="*/ 655723 h 1224128"/>
              <a:gd name="connsiteX12" fmla="*/ 2951803 w 4272025"/>
              <a:gd name="connsiteY12" fmla="*/ 402878 h 1224128"/>
              <a:gd name="connsiteX13" fmla="*/ 3066103 w 4272025"/>
              <a:gd name="connsiteY13" fmla="*/ 84223 h 1224128"/>
              <a:gd name="connsiteX14" fmla="*/ 3790003 w 4272025"/>
              <a:gd name="connsiteY14" fmla="*/ 46123 h 1224128"/>
              <a:gd name="connsiteX15" fmla="*/ 4015140 w 4272025"/>
              <a:gd name="connsiteY15" fmla="*/ 84223 h 1224128"/>
              <a:gd name="connsiteX16" fmla="*/ 4115585 w 4272025"/>
              <a:gd name="connsiteY16" fmla="*/ 195059 h 1224128"/>
              <a:gd name="connsiteX17" fmla="*/ 4219494 w 4272025"/>
              <a:gd name="connsiteY17" fmla="*/ 385559 h 1224128"/>
              <a:gd name="connsiteX18" fmla="*/ 4264521 w 4272025"/>
              <a:gd name="connsiteY18" fmla="*/ 593378 h 1224128"/>
              <a:gd name="connsiteX19" fmla="*/ 4264521 w 4272025"/>
              <a:gd name="connsiteY19" fmla="*/ 749241 h 1224128"/>
              <a:gd name="connsiteX20" fmla="*/ 4257594 w 4272025"/>
              <a:gd name="connsiteY20" fmla="*/ 773487 h 1224128"/>
              <a:gd name="connsiteX21" fmla="*/ 4229885 w 4272025"/>
              <a:gd name="connsiteY21" fmla="*/ 828905 h 1224128"/>
              <a:gd name="connsiteX22" fmla="*/ 4143294 w 4272025"/>
              <a:gd name="connsiteY22" fmla="*/ 870468 h 1224128"/>
              <a:gd name="connsiteX23" fmla="*/ 3938405 w 4272025"/>
              <a:gd name="connsiteY23" fmla="*/ 990238 h 1224128"/>
              <a:gd name="connsiteX24" fmla="*/ 3506357 w 4272025"/>
              <a:gd name="connsiteY24" fmla="*/ 1134254 h 1224128"/>
              <a:gd name="connsiteX25" fmla="*/ 2786277 w 4272025"/>
              <a:gd name="connsiteY25" fmla="*/ 1206262 h 1224128"/>
              <a:gd name="connsiteX26" fmla="*/ 1922182 w 4272025"/>
              <a:gd name="connsiteY26" fmla="*/ 1206262 h 1224128"/>
              <a:gd name="connsiteX27" fmla="*/ 1130094 w 4272025"/>
              <a:gd name="connsiteY27" fmla="*/ 1134254 h 1224128"/>
              <a:gd name="connsiteX28" fmla="*/ 842062 w 4272025"/>
              <a:gd name="connsiteY28" fmla="*/ 1062246 h 1224128"/>
              <a:gd name="connsiteX29" fmla="*/ 554030 w 4272025"/>
              <a:gd name="connsiteY29" fmla="*/ 990238 h 1224128"/>
              <a:gd name="connsiteX30" fmla="*/ 338005 w 4272025"/>
              <a:gd name="connsiteY30" fmla="*/ 918230 h 1224128"/>
              <a:gd name="connsiteX31" fmla="*/ 52740 w 4272025"/>
              <a:gd name="connsiteY31" fmla="*/ 731923 h 1224128"/>
              <a:gd name="connsiteX32" fmla="*/ 21567 w 4272025"/>
              <a:gd name="connsiteY32" fmla="*/ 472150 h 1224128"/>
              <a:gd name="connsiteX33" fmla="*/ 121981 w 4272025"/>
              <a:gd name="connsiteY33" fmla="*/ 126142 h 1224128"/>
              <a:gd name="connsiteX0" fmla="*/ 121981 w 4272025"/>
              <a:gd name="connsiteY0" fmla="*/ 126142 h 1224128"/>
              <a:gd name="connsiteX1" fmla="*/ 343685 w 4272025"/>
              <a:gd name="connsiteY1" fmla="*/ 4559 h 1224128"/>
              <a:gd name="connsiteX2" fmla="*/ 648485 w 4272025"/>
              <a:gd name="connsiteY2" fmla="*/ 153496 h 1224128"/>
              <a:gd name="connsiteX3" fmla="*/ 755858 w 4272025"/>
              <a:gd name="connsiteY3" fmla="*/ 312823 h 1224128"/>
              <a:gd name="connsiteX4" fmla="*/ 755858 w 4272025"/>
              <a:gd name="connsiteY4" fmla="*/ 323214 h 1224128"/>
              <a:gd name="connsiteX5" fmla="*/ 825130 w 4272025"/>
              <a:gd name="connsiteY5" fmla="*/ 496396 h 1224128"/>
              <a:gd name="connsiteX6" fmla="*/ 960212 w 4272025"/>
              <a:gd name="connsiteY6" fmla="*/ 766559 h 1224128"/>
              <a:gd name="connsiteX7" fmla="*/ 1465903 w 4272025"/>
              <a:gd name="connsiteY7" fmla="*/ 905105 h 1224128"/>
              <a:gd name="connsiteX8" fmla="*/ 2536167 w 4272025"/>
              <a:gd name="connsiteY8" fmla="*/ 974378 h 1224128"/>
              <a:gd name="connsiteX9" fmla="*/ 2750912 w 4272025"/>
              <a:gd name="connsiteY9" fmla="*/ 970914 h 1224128"/>
              <a:gd name="connsiteX10" fmla="*/ 2879067 w 4272025"/>
              <a:gd name="connsiteY10" fmla="*/ 915496 h 1224128"/>
              <a:gd name="connsiteX11" fmla="*/ 2955267 w 4272025"/>
              <a:gd name="connsiteY11" fmla="*/ 655723 h 1224128"/>
              <a:gd name="connsiteX12" fmla="*/ 2951803 w 4272025"/>
              <a:gd name="connsiteY12" fmla="*/ 402878 h 1224128"/>
              <a:gd name="connsiteX13" fmla="*/ 3066103 w 4272025"/>
              <a:gd name="connsiteY13" fmla="*/ 84223 h 1224128"/>
              <a:gd name="connsiteX14" fmla="*/ 3790003 w 4272025"/>
              <a:gd name="connsiteY14" fmla="*/ 46123 h 1224128"/>
              <a:gd name="connsiteX15" fmla="*/ 4015140 w 4272025"/>
              <a:gd name="connsiteY15" fmla="*/ 84223 h 1224128"/>
              <a:gd name="connsiteX16" fmla="*/ 4115585 w 4272025"/>
              <a:gd name="connsiteY16" fmla="*/ 195059 h 1224128"/>
              <a:gd name="connsiteX17" fmla="*/ 4219494 w 4272025"/>
              <a:gd name="connsiteY17" fmla="*/ 385559 h 1224128"/>
              <a:gd name="connsiteX18" fmla="*/ 4264521 w 4272025"/>
              <a:gd name="connsiteY18" fmla="*/ 593378 h 1224128"/>
              <a:gd name="connsiteX19" fmla="*/ 4264521 w 4272025"/>
              <a:gd name="connsiteY19" fmla="*/ 749241 h 1224128"/>
              <a:gd name="connsiteX20" fmla="*/ 4257594 w 4272025"/>
              <a:gd name="connsiteY20" fmla="*/ 773487 h 1224128"/>
              <a:gd name="connsiteX21" fmla="*/ 4229885 w 4272025"/>
              <a:gd name="connsiteY21" fmla="*/ 828905 h 1224128"/>
              <a:gd name="connsiteX22" fmla="*/ 4143294 w 4272025"/>
              <a:gd name="connsiteY22" fmla="*/ 870468 h 1224128"/>
              <a:gd name="connsiteX23" fmla="*/ 3938405 w 4272025"/>
              <a:gd name="connsiteY23" fmla="*/ 990238 h 1224128"/>
              <a:gd name="connsiteX24" fmla="*/ 3506357 w 4272025"/>
              <a:gd name="connsiteY24" fmla="*/ 1134254 h 1224128"/>
              <a:gd name="connsiteX25" fmla="*/ 2786277 w 4272025"/>
              <a:gd name="connsiteY25" fmla="*/ 1206262 h 1224128"/>
              <a:gd name="connsiteX26" fmla="*/ 1922182 w 4272025"/>
              <a:gd name="connsiteY26" fmla="*/ 1206262 h 1224128"/>
              <a:gd name="connsiteX27" fmla="*/ 1130094 w 4272025"/>
              <a:gd name="connsiteY27" fmla="*/ 1134254 h 1224128"/>
              <a:gd name="connsiteX28" fmla="*/ 554030 w 4272025"/>
              <a:gd name="connsiteY28" fmla="*/ 990238 h 1224128"/>
              <a:gd name="connsiteX29" fmla="*/ 338005 w 4272025"/>
              <a:gd name="connsiteY29" fmla="*/ 918230 h 1224128"/>
              <a:gd name="connsiteX30" fmla="*/ 52740 w 4272025"/>
              <a:gd name="connsiteY30" fmla="*/ 731923 h 1224128"/>
              <a:gd name="connsiteX31" fmla="*/ 21567 w 4272025"/>
              <a:gd name="connsiteY31" fmla="*/ 472150 h 1224128"/>
              <a:gd name="connsiteX32" fmla="*/ 121981 w 4272025"/>
              <a:gd name="connsiteY32" fmla="*/ 126142 h 1224128"/>
              <a:gd name="connsiteX0" fmla="*/ 121981 w 4272025"/>
              <a:gd name="connsiteY0" fmla="*/ 101378 h 1199364"/>
              <a:gd name="connsiteX1" fmla="*/ 337225 w 4272025"/>
              <a:gd name="connsiteY1" fmla="*/ 173328 h 1199364"/>
              <a:gd name="connsiteX2" fmla="*/ 648485 w 4272025"/>
              <a:gd name="connsiteY2" fmla="*/ 128732 h 1199364"/>
              <a:gd name="connsiteX3" fmla="*/ 755858 w 4272025"/>
              <a:gd name="connsiteY3" fmla="*/ 288059 h 1199364"/>
              <a:gd name="connsiteX4" fmla="*/ 755858 w 4272025"/>
              <a:gd name="connsiteY4" fmla="*/ 298450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981 w 4272025"/>
              <a:gd name="connsiteY32" fmla="*/ 101378 h 1199364"/>
              <a:gd name="connsiteX0" fmla="*/ 121981 w 4272025"/>
              <a:gd name="connsiteY0" fmla="*/ 101378 h 1199364"/>
              <a:gd name="connsiteX1" fmla="*/ 337225 w 4272025"/>
              <a:gd name="connsiteY1" fmla="*/ 173328 h 1199364"/>
              <a:gd name="connsiteX2" fmla="*/ 697270 w 4272025"/>
              <a:gd name="connsiteY2" fmla="*/ 245345 h 1199364"/>
              <a:gd name="connsiteX3" fmla="*/ 755858 w 4272025"/>
              <a:gd name="connsiteY3" fmla="*/ 288059 h 1199364"/>
              <a:gd name="connsiteX4" fmla="*/ 755858 w 4272025"/>
              <a:gd name="connsiteY4" fmla="*/ 298450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981 w 4272025"/>
              <a:gd name="connsiteY32" fmla="*/ 101378 h 1199364"/>
              <a:gd name="connsiteX0" fmla="*/ 121198 w 4272025"/>
              <a:gd name="connsiteY0" fmla="*/ 245345 h 1199364"/>
              <a:gd name="connsiteX1" fmla="*/ 337225 w 4272025"/>
              <a:gd name="connsiteY1" fmla="*/ 173328 h 1199364"/>
              <a:gd name="connsiteX2" fmla="*/ 697270 w 4272025"/>
              <a:gd name="connsiteY2" fmla="*/ 245345 h 1199364"/>
              <a:gd name="connsiteX3" fmla="*/ 755858 w 4272025"/>
              <a:gd name="connsiteY3" fmla="*/ 288059 h 1199364"/>
              <a:gd name="connsiteX4" fmla="*/ 755858 w 4272025"/>
              <a:gd name="connsiteY4" fmla="*/ 298450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198 w 4272025"/>
              <a:gd name="connsiteY32" fmla="*/ 245345 h 1199364"/>
              <a:gd name="connsiteX0" fmla="*/ 121198 w 4272025"/>
              <a:gd name="connsiteY0" fmla="*/ 245345 h 1199364"/>
              <a:gd name="connsiteX1" fmla="*/ 337225 w 4272025"/>
              <a:gd name="connsiteY1" fmla="*/ 173328 h 1199364"/>
              <a:gd name="connsiteX2" fmla="*/ 625261 w 4272025"/>
              <a:gd name="connsiteY2" fmla="*/ 245345 h 1199364"/>
              <a:gd name="connsiteX3" fmla="*/ 755858 w 4272025"/>
              <a:gd name="connsiteY3" fmla="*/ 288059 h 1199364"/>
              <a:gd name="connsiteX4" fmla="*/ 755858 w 4272025"/>
              <a:gd name="connsiteY4" fmla="*/ 298450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198 w 4272025"/>
              <a:gd name="connsiteY32" fmla="*/ 245345 h 1199364"/>
              <a:gd name="connsiteX0" fmla="*/ 121198 w 4272025"/>
              <a:gd name="connsiteY0" fmla="*/ 245345 h 1199364"/>
              <a:gd name="connsiteX1" fmla="*/ 337225 w 4272025"/>
              <a:gd name="connsiteY1" fmla="*/ 173328 h 1199364"/>
              <a:gd name="connsiteX2" fmla="*/ 625261 w 4272025"/>
              <a:gd name="connsiteY2" fmla="*/ 245345 h 1199364"/>
              <a:gd name="connsiteX3" fmla="*/ 755858 w 4272025"/>
              <a:gd name="connsiteY3" fmla="*/ 288059 h 1199364"/>
              <a:gd name="connsiteX4" fmla="*/ 769279 w 4272025"/>
              <a:gd name="connsiteY4" fmla="*/ 317363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198 w 4272025"/>
              <a:gd name="connsiteY32" fmla="*/ 245345 h 1199364"/>
              <a:gd name="connsiteX0" fmla="*/ 121198 w 4272025"/>
              <a:gd name="connsiteY0" fmla="*/ 245345 h 1199364"/>
              <a:gd name="connsiteX1" fmla="*/ 337225 w 4272025"/>
              <a:gd name="connsiteY1" fmla="*/ 173328 h 1199364"/>
              <a:gd name="connsiteX2" fmla="*/ 625261 w 4272025"/>
              <a:gd name="connsiteY2" fmla="*/ 245345 h 1199364"/>
              <a:gd name="connsiteX3" fmla="*/ 755858 w 4272025"/>
              <a:gd name="connsiteY3" fmla="*/ 288059 h 1199364"/>
              <a:gd name="connsiteX4" fmla="*/ 769279 w 4272025"/>
              <a:gd name="connsiteY4" fmla="*/ 317363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198 w 4272025"/>
              <a:gd name="connsiteY32" fmla="*/ 245345 h 1199364"/>
              <a:gd name="connsiteX0" fmla="*/ 134201 w 4272025"/>
              <a:gd name="connsiteY0" fmla="*/ 271384 h 1199364"/>
              <a:gd name="connsiteX1" fmla="*/ 337225 w 4272025"/>
              <a:gd name="connsiteY1" fmla="*/ 173328 h 1199364"/>
              <a:gd name="connsiteX2" fmla="*/ 625261 w 4272025"/>
              <a:gd name="connsiteY2" fmla="*/ 245345 h 1199364"/>
              <a:gd name="connsiteX3" fmla="*/ 755858 w 4272025"/>
              <a:gd name="connsiteY3" fmla="*/ 288059 h 1199364"/>
              <a:gd name="connsiteX4" fmla="*/ 769279 w 4272025"/>
              <a:gd name="connsiteY4" fmla="*/ 317363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55858 w 4272025"/>
              <a:gd name="connsiteY3" fmla="*/ 288059 h 1199364"/>
              <a:gd name="connsiteX4" fmla="*/ 769279 w 4272025"/>
              <a:gd name="connsiteY4" fmla="*/ 317363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55858 w 4272025"/>
              <a:gd name="connsiteY3" fmla="*/ 288059 h 1199364"/>
              <a:gd name="connsiteX4" fmla="*/ 769279 w 4272025"/>
              <a:gd name="connsiteY4" fmla="*/ 389381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03277 w 4272025"/>
              <a:gd name="connsiteY3" fmla="*/ 275364 h 1199364"/>
              <a:gd name="connsiteX4" fmla="*/ 769279 w 4272025"/>
              <a:gd name="connsiteY4" fmla="*/ 389381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03277 w 4272025"/>
              <a:gd name="connsiteY3" fmla="*/ 275364 h 1199364"/>
              <a:gd name="connsiteX4" fmla="*/ 769279 w 4272025"/>
              <a:gd name="connsiteY4" fmla="*/ 389381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3972426 w 4272025"/>
              <a:gd name="connsiteY15" fmla="*/ 89425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03277 w 4272025"/>
              <a:gd name="connsiteY3" fmla="*/ 275364 h 1199364"/>
              <a:gd name="connsiteX4" fmla="*/ 769279 w 4272025"/>
              <a:gd name="connsiteY4" fmla="*/ 389381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3972426 w 4272025"/>
              <a:gd name="connsiteY15" fmla="*/ 89425 h 1199364"/>
              <a:gd name="connsiteX16" fmla="*/ 4024577 w 4272025"/>
              <a:gd name="connsiteY16" fmla="*/ 196314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94416"/>
              <a:gd name="connsiteY0" fmla="*/ 271384 h 1199364"/>
              <a:gd name="connsiteX1" fmla="*/ 332897 w 4294416"/>
              <a:gd name="connsiteY1" fmla="*/ 212360 h 1199364"/>
              <a:gd name="connsiteX2" fmla="*/ 625261 w 4294416"/>
              <a:gd name="connsiteY2" fmla="*/ 245345 h 1199364"/>
              <a:gd name="connsiteX3" fmla="*/ 703277 w 4294416"/>
              <a:gd name="connsiteY3" fmla="*/ 275364 h 1199364"/>
              <a:gd name="connsiteX4" fmla="*/ 769279 w 4294416"/>
              <a:gd name="connsiteY4" fmla="*/ 389381 h 1199364"/>
              <a:gd name="connsiteX5" fmla="*/ 825130 w 4294416"/>
              <a:gd name="connsiteY5" fmla="*/ 471632 h 1199364"/>
              <a:gd name="connsiteX6" fmla="*/ 960212 w 4294416"/>
              <a:gd name="connsiteY6" fmla="*/ 741795 h 1199364"/>
              <a:gd name="connsiteX7" fmla="*/ 1465903 w 4294416"/>
              <a:gd name="connsiteY7" fmla="*/ 880341 h 1199364"/>
              <a:gd name="connsiteX8" fmla="*/ 2536167 w 4294416"/>
              <a:gd name="connsiteY8" fmla="*/ 949614 h 1199364"/>
              <a:gd name="connsiteX9" fmla="*/ 2750912 w 4294416"/>
              <a:gd name="connsiteY9" fmla="*/ 946150 h 1199364"/>
              <a:gd name="connsiteX10" fmla="*/ 2879067 w 4294416"/>
              <a:gd name="connsiteY10" fmla="*/ 890732 h 1199364"/>
              <a:gd name="connsiteX11" fmla="*/ 2955267 w 4294416"/>
              <a:gd name="connsiteY11" fmla="*/ 630959 h 1199364"/>
              <a:gd name="connsiteX12" fmla="*/ 2951803 w 4294416"/>
              <a:gd name="connsiteY12" fmla="*/ 378114 h 1199364"/>
              <a:gd name="connsiteX13" fmla="*/ 3066103 w 4294416"/>
              <a:gd name="connsiteY13" fmla="*/ 59459 h 1199364"/>
              <a:gd name="connsiteX14" fmla="*/ 3790003 w 4294416"/>
              <a:gd name="connsiteY14" fmla="*/ 21359 h 1199364"/>
              <a:gd name="connsiteX15" fmla="*/ 3972426 w 4294416"/>
              <a:gd name="connsiteY15" fmla="*/ 89425 h 1199364"/>
              <a:gd name="connsiteX16" fmla="*/ 4024577 w 4294416"/>
              <a:gd name="connsiteY16" fmla="*/ 196314 h 1199364"/>
              <a:gd name="connsiteX17" fmla="*/ 4085149 w 4294416"/>
              <a:gd name="connsiteY17" fmla="*/ 391151 h 1199364"/>
              <a:gd name="connsiteX18" fmla="*/ 4264521 w 4294416"/>
              <a:gd name="connsiteY18" fmla="*/ 568614 h 1199364"/>
              <a:gd name="connsiteX19" fmla="*/ 4264521 w 4294416"/>
              <a:gd name="connsiteY19" fmla="*/ 724477 h 1199364"/>
              <a:gd name="connsiteX20" fmla="*/ 4257594 w 4294416"/>
              <a:gd name="connsiteY20" fmla="*/ 748723 h 1199364"/>
              <a:gd name="connsiteX21" fmla="*/ 4229885 w 4294416"/>
              <a:gd name="connsiteY21" fmla="*/ 804141 h 1199364"/>
              <a:gd name="connsiteX22" fmla="*/ 4143294 w 4294416"/>
              <a:gd name="connsiteY22" fmla="*/ 845704 h 1199364"/>
              <a:gd name="connsiteX23" fmla="*/ 3938405 w 4294416"/>
              <a:gd name="connsiteY23" fmla="*/ 965474 h 1199364"/>
              <a:gd name="connsiteX24" fmla="*/ 3506357 w 4294416"/>
              <a:gd name="connsiteY24" fmla="*/ 1109490 h 1199364"/>
              <a:gd name="connsiteX25" fmla="*/ 2786277 w 4294416"/>
              <a:gd name="connsiteY25" fmla="*/ 1181498 h 1199364"/>
              <a:gd name="connsiteX26" fmla="*/ 1922182 w 4294416"/>
              <a:gd name="connsiteY26" fmla="*/ 1181498 h 1199364"/>
              <a:gd name="connsiteX27" fmla="*/ 1130094 w 4294416"/>
              <a:gd name="connsiteY27" fmla="*/ 1109490 h 1199364"/>
              <a:gd name="connsiteX28" fmla="*/ 554030 w 4294416"/>
              <a:gd name="connsiteY28" fmla="*/ 965474 h 1199364"/>
              <a:gd name="connsiteX29" fmla="*/ 338005 w 4294416"/>
              <a:gd name="connsiteY29" fmla="*/ 893466 h 1199364"/>
              <a:gd name="connsiteX30" fmla="*/ 52740 w 4294416"/>
              <a:gd name="connsiteY30" fmla="*/ 707159 h 1199364"/>
              <a:gd name="connsiteX31" fmla="*/ 21567 w 4294416"/>
              <a:gd name="connsiteY31" fmla="*/ 447386 h 1199364"/>
              <a:gd name="connsiteX32" fmla="*/ 134201 w 4294416"/>
              <a:gd name="connsiteY32" fmla="*/ 271384 h 1199364"/>
              <a:gd name="connsiteX0" fmla="*/ 134201 w 4301068"/>
              <a:gd name="connsiteY0" fmla="*/ 271384 h 1199364"/>
              <a:gd name="connsiteX1" fmla="*/ 332897 w 4301068"/>
              <a:gd name="connsiteY1" fmla="*/ 212360 h 1199364"/>
              <a:gd name="connsiteX2" fmla="*/ 625261 w 4301068"/>
              <a:gd name="connsiteY2" fmla="*/ 245345 h 1199364"/>
              <a:gd name="connsiteX3" fmla="*/ 703277 w 4301068"/>
              <a:gd name="connsiteY3" fmla="*/ 275364 h 1199364"/>
              <a:gd name="connsiteX4" fmla="*/ 769279 w 4301068"/>
              <a:gd name="connsiteY4" fmla="*/ 389381 h 1199364"/>
              <a:gd name="connsiteX5" fmla="*/ 825130 w 4301068"/>
              <a:gd name="connsiteY5" fmla="*/ 471632 h 1199364"/>
              <a:gd name="connsiteX6" fmla="*/ 960212 w 4301068"/>
              <a:gd name="connsiteY6" fmla="*/ 741795 h 1199364"/>
              <a:gd name="connsiteX7" fmla="*/ 1465903 w 4301068"/>
              <a:gd name="connsiteY7" fmla="*/ 880341 h 1199364"/>
              <a:gd name="connsiteX8" fmla="*/ 2536167 w 4301068"/>
              <a:gd name="connsiteY8" fmla="*/ 949614 h 1199364"/>
              <a:gd name="connsiteX9" fmla="*/ 2750912 w 4301068"/>
              <a:gd name="connsiteY9" fmla="*/ 946150 h 1199364"/>
              <a:gd name="connsiteX10" fmla="*/ 2879067 w 4301068"/>
              <a:gd name="connsiteY10" fmla="*/ 890732 h 1199364"/>
              <a:gd name="connsiteX11" fmla="*/ 2955267 w 4301068"/>
              <a:gd name="connsiteY11" fmla="*/ 630959 h 1199364"/>
              <a:gd name="connsiteX12" fmla="*/ 2951803 w 4301068"/>
              <a:gd name="connsiteY12" fmla="*/ 378114 h 1199364"/>
              <a:gd name="connsiteX13" fmla="*/ 3066103 w 4301068"/>
              <a:gd name="connsiteY13" fmla="*/ 59459 h 1199364"/>
              <a:gd name="connsiteX14" fmla="*/ 3790003 w 4301068"/>
              <a:gd name="connsiteY14" fmla="*/ 21359 h 1199364"/>
              <a:gd name="connsiteX15" fmla="*/ 3972426 w 4301068"/>
              <a:gd name="connsiteY15" fmla="*/ 89425 h 1199364"/>
              <a:gd name="connsiteX16" fmla="*/ 4024577 w 4301068"/>
              <a:gd name="connsiteY16" fmla="*/ 196314 h 1199364"/>
              <a:gd name="connsiteX17" fmla="*/ 4085149 w 4301068"/>
              <a:gd name="connsiteY17" fmla="*/ 391151 h 1199364"/>
              <a:gd name="connsiteX18" fmla="*/ 4264521 w 4301068"/>
              <a:gd name="connsiteY18" fmla="*/ 568614 h 1199364"/>
              <a:gd name="connsiteX19" fmla="*/ 4264521 w 4301068"/>
              <a:gd name="connsiteY19" fmla="*/ 724477 h 1199364"/>
              <a:gd name="connsiteX20" fmla="*/ 4045242 w 4301068"/>
              <a:gd name="connsiteY20" fmla="*/ 670664 h 1199364"/>
              <a:gd name="connsiteX21" fmla="*/ 4229885 w 4301068"/>
              <a:gd name="connsiteY21" fmla="*/ 804141 h 1199364"/>
              <a:gd name="connsiteX22" fmla="*/ 4143294 w 4301068"/>
              <a:gd name="connsiteY22" fmla="*/ 845704 h 1199364"/>
              <a:gd name="connsiteX23" fmla="*/ 3938405 w 4301068"/>
              <a:gd name="connsiteY23" fmla="*/ 965474 h 1199364"/>
              <a:gd name="connsiteX24" fmla="*/ 3506357 w 4301068"/>
              <a:gd name="connsiteY24" fmla="*/ 1109490 h 1199364"/>
              <a:gd name="connsiteX25" fmla="*/ 2786277 w 4301068"/>
              <a:gd name="connsiteY25" fmla="*/ 1181498 h 1199364"/>
              <a:gd name="connsiteX26" fmla="*/ 1922182 w 4301068"/>
              <a:gd name="connsiteY26" fmla="*/ 1181498 h 1199364"/>
              <a:gd name="connsiteX27" fmla="*/ 1130094 w 4301068"/>
              <a:gd name="connsiteY27" fmla="*/ 1109490 h 1199364"/>
              <a:gd name="connsiteX28" fmla="*/ 554030 w 4301068"/>
              <a:gd name="connsiteY28" fmla="*/ 965474 h 1199364"/>
              <a:gd name="connsiteX29" fmla="*/ 338005 w 4301068"/>
              <a:gd name="connsiteY29" fmla="*/ 893466 h 1199364"/>
              <a:gd name="connsiteX30" fmla="*/ 52740 w 4301068"/>
              <a:gd name="connsiteY30" fmla="*/ 707159 h 1199364"/>
              <a:gd name="connsiteX31" fmla="*/ 21567 w 4301068"/>
              <a:gd name="connsiteY31" fmla="*/ 447386 h 1199364"/>
              <a:gd name="connsiteX32" fmla="*/ 134201 w 4301068"/>
              <a:gd name="connsiteY32" fmla="*/ 271384 h 1199364"/>
              <a:gd name="connsiteX0" fmla="*/ 134201 w 4277232"/>
              <a:gd name="connsiteY0" fmla="*/ 271384 h 1199364"/>
              <a:gd name="connsiteX1" fmla="*/ 332897 w 4277232"/>
              <a:gd name="connsiteY1" fmla="*/ 212360 h 1199364"/>
              <a:gd name="connsiteX2" fmla="*/ 625261 w 4277232"/>
              <a:gd name="connsiteY2" fmla="*/ 245345 h 1199364"/>
              <a:gd name="connsiteX3" fmla="*/ 703277 w 4277232"/>
              <a:gd name="connsiteY3" fmla="*/ 275364 h 1199364"/>
              <a:gd name="connsiteX4" fmla="*/ 769279 w 4277232"/>
              <a:gd name="connsiteY4" fmla="*/ 389381 h 1199364"/>
              <a:gd name="connsiteX5" fmla="*/ 825130 w 4277232"/>
              <a:gd name="connsiteY5" fmla="*/ 471632 h 1199364"/>
              <a:gd name="connsiteX6" fmla="*/ 960212 w 4277232"/>
              <a:gd name="connsiteY6" fmla="*/ 741795 h 1199364"/>
              <a:gd name="connsiteX7" fmla="*/ 1465903 w 4277232"/>
              <a:gd name="connsiteY7" fmla="*/ 880341 h 1199364"/>
              <a:gd name="connsiteX8" fmla="*/ 2536167 w 4277232"/>
              <a:gd name="connsiteY8" fmla="*/ 949614 h 1199364"/>
              <a:gd name="connsiteX9" fmla="*/ 2750912 w 4277232"/>
              <a:gd name="connsiteY9" fmla="*/ 946150 h 1199364"/>
              <a:gd name="connsiteX10" fmla="*/ 2879067 w 4277232"/>
              <a:gd name="connsiteY10" fmla="*/ 890732 h 1199364"/>
              <a:gd name="connsiteX11" fmla="*/ 2955267 w 4277232"/>
              <a:gd name="connsiteY11" fmla="*/ 630959 h 1199364"/>
              <a:gd name="connsiteX12" fmla="*/ 2951803 w 4277232"/>
              <a:gd name="connsiteY12" fmla="*/ 378114 h 1199364"/>
              <a:gd name="connsiteX13" fmla="*/ 3066103 w 4277232"/>
              <a:gd name="connsiteY13" fmla="*/ 59459 h 1199364"/>
              <a:gd name="connsiteX14" fmla="*/ 3790003 w 4277232"/>
              <a:gd name="connsiteY14" fmla="*/ 21359 h 1199364"/>
              <a:gd name="connsiteX15" fmla="*/ 3972426 w 4277232"/>
              <a:gd name="connsiteY15" fmla="*/ 89425 h 1199364"/>
              <a:gd name="connsiteX16" fmla="*/ 4024577 w 4277232"/>
              <a:gd name="connsiteY16" fmla="*/ 196314 h 1199364"/>
              <a:gd name="connsiteX17" fmla="*/ 4085149 w 4277232"/>
              <a:gd name="connsiteY17" fmla="*/ 391151 h 1199364"/>
              <a:gd name="connsiteX18" fmla="*/ 4121509 w 4277232"/>
              <a:gd name="connsiteY18" fmla="*/ 542595 h 1199364"/>
              <a:gd name="connsiteX19" fmla="*/ 4264521 w 4277232"/>
              <a:gd name="connsiteY19" fmla="*/ 724477 h 1199364"/>
              <a:gd name="connsiteX20" fmla="*/ 4045242 w 4277232"/>
              <a:gd name="connsiteY20" fmla="*/ 670664 h 1199364"/>
              <a:gd name="connsiteX21" fmla="*/ 4229885 w 4277232"/>
              <a:gd name="connsiteY21" fmla="*/ 804141 h 1199364"/>
              <a:gd name="connsiteX22" fmla="*/ 4143294 w 4277232"/>
              <a:gd name="connsiteY22" fmla="*/ 845704 h 1199364"/>
              <a:gd name="connsiteX23" fmla="*/ 3938405 w 4277232"/>
              <a:gd name="connsiteY23" fmla="*/ 965474 h 1199364"/>
              <a:gd name="connsiteX24" fmla="*/ 3506357 w 4277232"/>
              <a:gd name="connsiteY24" fmla="*/ 1109490 h 1199364"/>
              <a:gd name="connsiteX25" fmla="*/ 2786277 w 4277232"/>
              <a:gd name="connsiteY25" fmla="*/ 1181498 h 1199364"/>
              <a:gd name="connsiteX26" fmla="*/ 1922182 w 4277232"/>
              <a:gd name="connsiteY26" fmla="*/ 1181498 h 1199364"/>
              <a:gd name="connsiteX27" fmla="*/ 1130094 w 4277232"/>
              <a:gd name="connsiteY27" fmla="*/ 1109490 h 1199364"/>
              <a:gd name="connsiteX28" fmla="*/ 554030 w 4277232"/>
              <a:gd name="connsiteY28" fmla="*/ 965474 h 1199364"/>
              <a:gd name="connsiteX29" fmla="*/ 338005 w 4277232"/>
              <a:gd name="connsiteY29" fmla="*/ 893466 h 1199364"/>
              <a:gd name="connsiteX30" fmla="*/ 52740 w 4277232"/>
              <a:gd name="connsiteY30" fmla="*/ 707159 h 1199364"/>
              <a:gd name="connsiteX31" fmla="*/ 21567 w 4277232"/>
              <a:gd name="connsiteY31" fmla="*/ 447386 h 1199364"/>
              <a:gd name="connsiteX32" fmla="*/ 134201 w 4277232"/>
              <a:gd name="connsiteY32" fmla="*/ 271384 h 1199364"/>
              <a:gd name="connsiteX0" fmla="*/ 134201 w 4246227"/>
              <a:gd name="connsiteY0" fmla="*/ 271384 h 1199364"/>
              <a:gd name="connsiteX1" fmla="*/ 332897 w 4246227"/>
              <a:gd name="connsiteY1" fmla="*/ 212360 h 1199364"/>
              <a:gd name="connsiteX2" fmla="*/ 625261 w 4246227"/>
              <a:gd name="connsiteY2" fmla="*/ 245345 h 1199364"/>
              <a:gd name="connsiteX3" fmla="*/ 703277 w 4246227"/>
              <a:gd name="connsiteY3" fmla="*/ 275364 h 1199364"/>
              <a:gd name="connsiteX4" fmla="*/ 769279 w 4246227"/>
              <a:gd name="connsiteY4" fmla="*/ 389381 h 1199364"/>
              <a:gd name="connsiteX5" fmla="*/ 825130 w 4246227"/>
              <a:gd name="connsiteY5" fmla="*/ 471632 h 1199364"/>
              <a:gd name="connsiteX6" fmla="*/ 960212 w 4246227"/>
              <a:gd name="connsiteY6" fmla="*/ 741795 h 1199364"/>
              <a:gd name="connsiteX7" fmla="*/ 1465903 w 4246227"/>
              <a:gd name="connsiteY7" fmla="*/ 880341 h 1199364"/>
              <a:gd name="connsiteX8" fmla="*/ 2536167 w 4246227"/>
              <a:gd name="connsiteY8" fmla="*/ 949614 h 1199364"/>
              <a:gd name="connsiteX9" fmla="*/ 2750912 w 4246227"/>
              <a:gd name="connsiteY9" fmla="*/ 946150 h 1199364"/>
              <a:gd name="connsiteX10" fmla="*/ 2879067 w 4246227"/>
              <a:gd name="connsiteY10" fmla="*/ 890732 h 1199364"/>
              <a:gd name="connsiteX11" fmla="*/ 2955267 w 4246227"/>
              <a:gd name="connsiteY11" fmla="*/ 630959 h 1199364"/>
              <a:gd name="connsiteX12" fmla="*/ 2951803 w 4246227"/>
              <a:gd name="connsiteY12" fmla="*/ 378114 h 1199364"/>
              <a:gd name="connsiteX13" fmla="*/ 3066103 w 4246227"/>
              <a:gd name="connsiteY13" fmla="*/ 59459 h 1199364"/>
              <a:gd name="connsiteX14" fmla="*/ 3790003 w 4246227"/>
              <a:gd name="connsiteY14" fmla="*/ 21359 h 1199364"/>
              <a:gd name="connsiteX15" fmla="*/ 3972426 w 4246227"/>
              <a:gd name="connsiteY15" fmla="*/ 89425 h 1199364"/>
              <a:gd name="connsiteX16" fmla="*/ 4024577 w 4246227"/>
              <a:gd name="connsiteY16" fmla="*/ 196314 h 1199364"/>
              <a:gd name="connsiteX17" fmla="*/ 4085149 w 4246227"/>
              <a:gd name="connsiteY17" fmla="*/ 391151 h 1199364"/>
              <a:gd name="connsiteX18" fmla="*/ 4121509 w 4246227"/>
              <a:gd name="connsiteY18" fmla="*/ 542595 h 1199364"/>
              <a:gd name="connsiteX19" fmla="*/ 4045242 w 4246227"/>
              <a:gd name="connsiteY19" fmla="*/ 670664 h 1199364"/>
              <a:gd name="connsiteX20" fmla="*/ 4229885 w 4246227"/>
              <a:gd name="connsiteY20" fmla="*/ 804141 h 1199364"/>
              <a:gd name="connsiteX21" fmla="*/ 4143294 w 4246227"/>
              <a:gd name="connsiteY21" fmla="*/ 845704 h 1199364"/>
              <a:gd name="connsiteX22" fmla="*/ 3938405 w 4246227"/>
              <a:gd name="connsiteY22" fmla="*/ 965474 h 1199364"/>
              <a:gd name="connsiteX23" fmla="*/ 3506357 w 4246227"/>
              <a:gd name="connsiteY23" fmla="*/ 1109490 h 1199364"/>
              <a:gd name="connsiteX24" fmla="*/ 2786277 w 4246227"/>
              <a:gd name="connsiteY24" fmla="*/ 1181498 h 1199364"/>
              <a:gd name="connsiteX25" fmla="*/ 1922182 w 4246227"/>
              <a:gd name="connsiteY25" fmla="*/ 1181498 h 1199364"/>
              <a:gd name="connsiteX26" fmla="*/ 1130094 w 4246227"/>
              <a:gd name="connsiteY26" fmla="*/ 1109490 h 1199364"/>
              <a:gd name="connsiteX27" fmla="*/ 554030 w 4246227"/>
              <a:gd name="connsiteY27" fmla="*/ 965474 h 1199364"/>
              <a:gd name="connsiteX28" fmla="*/ 338005 w 4246227"/>
              <a:gd name="connsiteY28" fmla="*/ 893466 h 1199364"/>
              <a:gd name="connsiteX29" fmla="*/ 52740 w 4246227"/>
              <a:gd name="connsiteY29" fmla="*/ 707159 h 1199364"/>
              <a:gd name="connsiteX30" fmla="*/ 21567 w 4246227"/>
              <a:gd name="connsiteY30" fmla="*/ 447386 h 1199364"/>
              <a:gd name="connsiteX31" fmla="*/ 134201 w 4246227"/>
              <a:gd name="connsiteY31" fmla="*/ 271384 h 1199364"/>
              <a:gd name="connsiteX0" fmla="*/ 134201 w 4161100"/>
              <a:gd name="connsiteY0" fmla="*/ 271384 h 1199364"/>
              <a:gd name="connsiteX1" fmla="*/ 332897 w 4161100"/>
              <a:gd name="connsiteY1" fmla="*/ 212360 h 1199364"/>
              <a:gd name="connsiteX2" fmla="*/ 625261 w 4161100"/>
              <a:gd name="connsiteY2" fmla="*/ 245345 h 1199364"/>
              <a:gd name="connsiteX3" fmla="*/ 703277 w 4161100"/>
              <a:gd name="connsiteY3" fmla="*/ 275364 h 1199364"/>
              <a:gd name="connsiteX4" fmla="*/ 769279 w 4161100"/>
              <a:gd name="connsiteY4" fmla="*/ 389381 h 1199364"/>
              <a:gd name="connsiteX5" fmla="*/ 825130 w 4161100"/>
              <a:gd name="connsiteY5" fmla="*/ 471632 h 1199364"/>
              <a:gd name="connsiteX6" fmla="*/ 960212 w 4161100"/>
              <a:gd name="connsiteY6" fmla="*/ 741795 h 1199364"/>
              <a:gd name="connsiteX7" fmla="*/ 1465903 w 4161100"/>
              <a:gd name="connsiteY7" fmla="*/ 880341 h 1199364"/>
              <a:gd name="connsiteX8" fmla="*/ 2536167 w 4161100"/>
              <a:gd name="connsiteY8" fmla="*/ 949614 h 1199364"/>
              <a:gd name="connsiteX9" fmla="*/ 2750912 w 4161100"/>
              <a:gd name="connsiteY9" fmla="*/ 946150 h 1199364"/>
              <a:gd name="connsiteX10" fmla="*/ 2879067 w 4161100"/>
              <a:gd name="connsiteY10" fmla="*/ 890732 h 1199364"/>
              <a:gd name="connsiteX11" fmla="*/ 2955267 w 4161100"/>
              <a:gd name="connsiteY11" fmla="*/ 630959 h 1199364"/>
              <a:gd name="connsiteX12" fmla="*/ 2951803 w 4161100"/>
              <a:gd name="connsiteY12" fmla="*/ 378114 h 1199364"/>
              <a:gd name="connsiteX13" fmla="*/ 3066103 w 4161100"/>
              <a:gd name="connsiteY13" fmla="*/ 59459 h 1199364"/>
              <a:gd name="connsiteX14" fmla="*/ 3790003 w 4161100"/>
              <a:gd name="connsiteY14" fmla="*/ 21359 h 1199364"/>
              <a:gd name="connsiteX15" fmla="*/ 3972426 w 4161100"/>
              <a:gd name="connsiteY15" fmla="*/ 89425 h 1199364"/>
              <a:gd name="connsiteX16" fmla="*/ 4024577 w 4161100"/>
              <a:gd name="connsiteY16" fmla="*/ 196314 h 1199364"/>
              <a:gd name="connsiteX17" fmla="*/ 4085149 w 4161100"/>
              <a:gd name="connsiteY17" fmla="*/ 391151 h 1199364"/>
              <a:gd name="connsiteX18" fmla="*/ 4121509 w 4161100"/>
              <a:gd name="connsiteY18" fmla="*/ 542595 h 1199364"/>
              <a:gd name="connsiteX19" fmla="*/ 4045242 w 4161100"/>
              <a:gd name="connsiteY19" fmla="*/ 670664 h 1199364"/>
              <a:gd name="connsiteX20" fmla="*/ 4143294 w 4161100"/>
              <a:gd name="connsiteY20" fmla="*/ 845704 h 1199364"/>
              <a:gd name="connsiteX21" fmla="*/ 3938405 w 4161100"/>
              <a:gd name="connsiteY21" fmla="*/ 965474 h 1199364"/>
              <a:gd name="connsiteX22" fmla="*/ 3506357 w 4161100"/>
              <a:gd name="connsiteY22" fmla="*/ 1109490 h 1199364"/>
              <a:gd name="connsiteX23" fmla="*/ 2786277 w 4161100"/>
              <a:gd name="connsiteY23" fmla="*/ 1181498 h 1199364"/>
              <a:gd name="connsiteX24" fmla="*/ 1922182 w 4161100"/>
              <a:gd name="connsiteY24" fmla="*/ 1181498 h 1199364"/>
              <a:gd name="connsiteX25" fmla="*/ 1130094 w 4161100"/>
              <a:gd name="connsiteY25" fmla="*/ 1109490 h 1199364"/>
              <a:gd name="connsiteX26" fmla="*/ 554030 w 4161100"/>
              <a:gd name="connsiteY26" fmla="*/ 965474 h 1199364"/>
              <a:gd name="connsiteX27" fmla="*/ 338005 w 4161100"/>
              <a:gd name="connsiteY27" fmla="*/ 893466 h 1199364"/>
              <a:gd name="connsiteX28" fmla="*/ 52740 w 4161100"/>
              <a:gd name="connsiteY28" fmla="*/ 707159 h 1199364"/>
              <a:gd name="connsiteX29" fmla="*/ 21567 w 4161100"/>
              <a:gd name="connsiteY29" fmla="*/ 447386 h 1199364"/>
              <a:gd name="connsiteX30" fmla="*/ 134201 w 4161100"/>
              <a:gd name="connsiteY30" fmla="*/ 271384 h 1199364"/>
              <a:gd name="connsiteX0" fmla="*/ 134201 w 4128160"/>
              <a:gd name="connsiteY0" fmla="*/ 271384 h 1199364"/>
              <a:gd name="connsiteX1" fmla="*/ 332897 w 4128160"/>
              <a:gd name="connsiteY1" fmla="*/ 212360 h 1199364"/>
              <a:gd name="connsiteX2" fmla="*/ 625261 w 4128160"/>
              <a:gd name="connsiteY2" fmla="*/ 245345 h 1199364"/>
              <a:gd name="connsiteX3" fmla="*/ 703277 w 4128160"/>
              <a:gd name="connsiteY3" fmla="*/ 275364 h 1199364"/>
              <a:gd name="connsiteX4" fmla="*/ 769279 w 4128160"/>
              <a:gd name="connsiteY4" fmla="*/ 389381 h 1199364"/>
              <a:gd name="connsiteX5" fmla="*/ 825130 w 4128160"/>
              <a:gd name="connsiteY5" fmla="*/ 471632 h 1199364"/>
              <a:gd name="connsiteX6" fmla="*/ 960212 w 4128160"/>
              <a:gd name="connsiteY6" fmla="*/ 741795 h 1199364"/>
              <a:gd name="connsiteX7" fmla="*/ 1465903 w 4128160"/>
              <a:gd name="connsiteY7" fmla="*/ 880341 h 1199364"/>
              <a:gd name="connsiteX8" fmla="*/ 2536167 w 4128160"/>
              <a:gd name="connsiteY8" fmla="*/ 949614 h 1199364"/>
              <a:gd name="connsiteX9" fmla="*/ 2750912 w 4128160"/>
              <a:gd name="connsiteY9" fmla="*/ 946150 h 1199364"/>
              <a:gd name="connsiteX10" fmla="*/ 2879067 w 4128160"/>
              <a:gd name="connsiteY10" fmla="*/ 890732 h 1199364"/>
              <a:gd name="connsiteX11" fmla="*/ 2955267 w 4128160"/>
              <a:gd name="connsiteY11" fmla="*/ 630959 h 1199364"/>
              <a:gd name="connsiteX12" fmla="*/ 2951803 w 4128160"/>
              <a:gd name="connsiteY12" fmla="*/ 378114 h 1199364"/>
              <a:gd name="connsiteX13" fmla="*/ 3066103 w 4128160"/>
              <a:gd name="connsiteY13" fmla="*/ 59459 h 1199364"/>
              <a:gd name="connsiteX14" fmla="*/ 3790003 w 4128160"/>
              <a:gd name="connsiteY14" fmla="*/ 21359 h 1199364"/>
              <a:gd name="connsiteX15" fmla="*/ 3972426 w 4128160"/>
              <a:gd name="connsiteY15" fmla="*/ 89425 h 1199364"/>
              <a:gd name="connsiteX16" fmla="*/ 4024577 w 4128160"/>
              <a:gd name="connsiteY16" fmla="*/ 196314 h 1199364"/>
              <a:gd name="connsiteX17" fmla="*/ 4085149 w 4128160"/>
              <a:gd name="connsiteY17" fmla="*/ 391151 h 1199364"/>
              <a:gd name="connsiteX18" fmla="*/ 4121509 w 4128160"/>
              <a:gd name="connsiteY18" fmla="*/ 542595 h 1199364"/>
              <a:gd name="connsiteX19" fmla="*/ 4045242 w 4128160"/>
              <a:gd name="connsiteY19" fmla="*/ 670664 h 1199364"/>
              <a:gd name="connsiteX20" fmla="*/ 3938405 w 4128160"/>
              <a:gd name="connsiteY20" fmla="*/ 965474 h 1199364"/>
              <a:gd name="connsiteX21" fmla="*/ 3506357 w 4128160"/>
              <a:gd name="connsiteY21" fmla="*/ 1109490 h 1199364"/>
              <a:gd name="connsiteX22" fmla="*/ 2786277 w 4128160"/>
              <a:gd name="connsiteY22" fmla="*/ 1181498 h 1199364"/>
              <a:gd name="connsiteX23" fmla="*/ 1922182 w 4128160"/>
              <a:gd name="connsiteY23" fmla="*/ 1181498 h 1199364"/>
              <a:gd name="connsiteX24" fmla="*/ 1130094 w 4128160"/>
              <a:gd name="connsiteY24" fmla="*/ 1109490 h 1199364"/>
              <a:gd name="connsiteX25" fmla="*/ 554030 w 4128160"/>
              <a:gd name="connsiteY25" fmla="*/ 965474 h 1199364"/>
              <a:gd name="connsiteX26" fmla="*/ 338005 w 4128160"/>
              <a:gd name="connsiteY26" fmla="*/ 893466 h 1199364"/>
              <a:gd name="connsiteX27" fmla="*/ 52740 w 4128160"/>
              <a:gd name="connsiteY27" fmla="*/ 707159 h 1199364"/>
              <a:gd name="connsiteX28" fmla="*/ 21567 w 4128160"/>
              <a:gd name="connsiteY28" fmla="*/ 447386 h 1199364"/>
              <a:gd name="connsiteX29" fmla="*/ 134201 w 4128160"/>
              <a:gd name="connsiteY29" fmla="*/ 271384 h 1199364"/>
              <a:gd name="connsiteX0" fmla="*/ 134201 w 4088593"/>
              <a:gd name="connsiteY0" fmla="*/ 271384 h 1199364"/>
              <a:gd name="connsiteX1" fmla="*/ 332897 w 4088593"/>
              <a:gd name="connsiteY1" fmla="*/ 212360 h 1199364"/>
              <a:gd name="connsiteX2" fmla="*/ 625261 w 4088593"/>
              <a:gd name="connsiteY2" fmla="*/ 245345 h 1199364"/>
              <a:gd name="connsiteX3" fmla="*/ 703277 w 4088593"/>
              <a:gd name="connsiteY3" fmla="*/ 275364 h 1199364"/>
              <a:gd name="connsiteX4" fmla="*/ 769279 w 4088593"/>
              <a:gd name="connsiteY4" fmla="*/ 389381 h 1199364"/>
              <a:gd name="connsiteX5" fmla="*/ 825130 w 4088593"/>
              <a:gd name="connsiteY5" fmla="*/ 471632 h 1199364"/>
              <a:gd name="connsiteX6" fmla="*/ 960212 w 4088593"/>
              <a:gd name="connsiteY6" fmla="*/ 741795 h 1199364"/>
              <a:gd name="connsiteX7" fmla="*/ 1465903 w 4088593"/>
              <a:gd name="connsiteY7" fmla="*/ 880341 h 1199364"/>
              <a:gd name="connsiteX8" fmla="*/ 2536167 w 4088593"/>
              <a:gd name="connsiteY8" fmla="*/ 949614 h 1199364"/>
              <a:gd name="connsiteX9" fmla="*/ 2750912 w 4088593"/>
              <a:gd name="connsiteY9" fmla="*/ 946150 h 1199364"/>
              <a:gd name="connsiteX10" fmla="*/ 2879067 w 4088593"/>
              <a:gd name="connsiteY10" fmla="*/ 890732 h 1199364"/>
              <a:gd name="connsiteX11" fmla="*/ 2955267 w 4088593"/>
              <a:gd name="connsiteY11" fmla="*/ 630959 h 1199364"/>
              <a:gd name="connsiteX12" fmla="*/ 2951803 w 4088593"/>
              <a:gd name="connsiteY12" fmla="*/ 378114 h 1199364"/>
              <a:gd name="connsiteX13" fmla="*/ 3066103 w 4088593"/>
              <a:gd name="connsiteY13" fmla="*/ 59459 h 1199364"/>
              <a:gd name="connsiteX14" fmla="*/ 3790003 w 4088593"/>
              <a:gd name="connsiteY14" fmla="*/ 21359 h 1199364"/>
              <a:gd name="connsiteX15" fmla="*/ 3972426 w 4088593"/>
              <a:gd name="connsiteY15" fmla="*/ 89425 h 1199364"/>
              <a:gd name="connsiteX16" fmla="*/ 4024577 w 4088593"/>
              <a:gd name="connsiteY16" fmla="*/ 196314 h 1199364"/>
              <a:gd name="connsiteX17" fmla="*/ 4085149 w 4088593"/>
              <a:gd name="connsiteY17" fmla="*/ 391151 h 1199364"/>
              <a:gd name="connsiteX18" fmla="*/ 4045242 w 4088593"/>
              <a:gd name="connsiteY18" fmla="*/ 670664 h 1199364"/>
              <a:gd name="connsiteX19" fmla="*/ 3938405 w 4088593"/>
              <a:gd name="connsiteY19" fmla="*/ 965474 h 1199364"/>
              <a:gd name="connsiteX20" fmla="*/ 3506357 w 4088593"/>
              <a:gd name="connsiteY20" fmla="*/ 1109490 h 1199364"/>
              <a:gd name="connsiteX21" fmla="*/ 2786277 w 4088593"/>
              <a:gd name="connsiteY21" fmla="*/ 1181498 h 1199364"/>
              <a:gd name="connsiteX22" fmla="*/ 1922182 w 4088593"/>
              <a:gd name="connsiteY22" fmla="*/ 1181498 h 1199364"/>
              <a:gd name="connsiteX23" fmla="*/ 1130094 w 4088593"/>
              <a:gd name="connsiteY23" fmla="*/ 1109490 h 1199364"/>
              <a:gd name="connsiteX24" fmla="*/ 554030 w 4088593"/>
              <a:gd name="connsiteY24" fmla="*/ 965474 h 1199364"/>
              <a:gd name="connsiteX25" fmla="*/ 338005 w 4088593"/>
              <a:gd name="connsiteY25" fmla="*/ 893466 h 1199364"/>
              <a:gd name="connsiteX26" fmla="*/ 52740 w 4088593"/>
              <a:gd name="connsiteY26" fmla="*/ 707159 h 1199364"/>
              <a:gd name="connsiteX27" fmla="*/ 21567 w 4088593"/>
              <a:gd name="connsiteY27" fmla="*/ 447386 h 1199364"/>
              <a:gd name="connsiteX28" fmla="*/ 134201 w 4088593"/>
              <a:gd name="connsiteY28" fmla="*/ 271384 h 1199364"/>
              <a:gd name="connsiteX0" fmla="*/ 134201 w 4088593"/>
              <a:gd name="connsiteY0" fmla="*/ 271384 h 1199364"/>
              <a:gd name="connsiteX1" fmla="*/ 332897 w 4088593"/>
              <a:gd name="connsiteY1" fmla="*/ 212360 h 1199364"/>
              <a:gd name="connsiteX2" fmla="*/ 625261 w 4088593"/>
              <a:gd name="connsiteY2" fmla="*/ 245345 h 1199364"/>
              <a:gd name="connsiteX3" fmla="*/ 703277 w 4088593"/>
              <a:gd name="connsiteY3" fmla="*/ 275364 h 1199364"/>
              <a:gd name="connsiteX4" fmla="*/ 769279 w 4088593"/>
              <a:gd name="connsiteY4" fmla="*/ 389381 h 1199364"/>
              <a:gd name="connsiteX5" fmla="*/ 825130 w 4088593"/>
              <a:gd name="connsiteY5" fmla="*/ 471632 h 1199364"/>
              <a:gd name="connsiteX6" fmla="*/ 960212 w 4088593"/>
              <a:gd name="connsiteY6" fmla="*/ 741795 h 1199364"/>
              <a:gd name="connsiteX7" fmla="*/ 1465903 w 4088593"/>
              <a:gd name="connsiteY7" fmla="*/ 880341 h 1199364"/>
              <a:gd name="connsiteX8" fmla="*/ 2536167 w 4088593"/>
              <a:gd name="connsiteY8" fmla="*/ 949614 h 1199364"/>
              <a:gd name="connsiteX9" fmla="*/ 2750912 w 4088593"/>
              <a:gd name="connsiteY9" fmla="*/ 946150 h 1199364"/>
              <a:gd name="connsiteX10" fmla="*/ 2879067 w 4088593"/>
              <a:gd name="connsiteY10" fmla="*/ 890732 h 1199364"/>
              <a:gd name="connsiteX11" fmla="*/ 2955267 w 4088593"/>
              <a:gd name="connsiteY11" fmla="*/ 630959 h 1199364"/>
              <a:gd name="connsiteX12" fmla="*/ 2951803 w 4088593"/>
              <a:gd name="connsiteY12" fmla="*/ 378114 h 1199364"/>
              <a:gd name="connsiteX13" fmla="*/ 3066103 w 4088593"/>
              <a:gd name="connsiteY13" fmla="*/ 59459 h 1199364"/>
              <a:gd name="connsiteX14" fmla="*/ 3790003 w 4088593"/>
              <a:gd name="connsiteY14" fmla="*/ 21359 h 1199364"/>
              <a:gd name="connsiteX15" fmla="*/ 3946424 w 4088593"/>
              <a:gd name="connsiteY15" fmla="*/ 102433 h 1199364"/>
              <a:gd name="connsiteX16" fmla="*/ 4024577 w 4088593"/>
              <a:gd name="connsiteY16" fmla="*/ 196314 h 1199364"/>
              <a:gd name="connsiteX17" fmla="*/ 4085149 w 4088593"/>
              <a:gd name="connsiteY17" fmla="*/ 391151 h 1199364"/>
              <a:gd name="connsiteX18" fmla="*/ 4045242 w 4088593"/>
              <a:gd name="connsiteY18" fmla="*/ 670664 h 1199364"/>
              <a:gd name="connsiteX19" fmla="*/ 3938405 w 4088593"/>
              <a:gd name="connsiteY19" fmla="*/ 965474 h 1199364"/>
              <a:gd name="connsiteX20" fmla="*/ 3506357 w 4088593"/>
              <a:gd name="connsiteY20" fmla="*/ 1109490 h 1199364"/>
              <a:gd name="connsiteX21" fmla="*/ 2786277 w 4088593"/>
              <a:gd name="connsiteY21" fmla="*/ 1181498 h 1199364"/>
              <a:gd name="connsiteX22" fmla="*/ 1922182 w 4088593"/>
              <a:gd name="connsiteY22" fmla="*/ 1181498 h 1199364"/>
              <a:gd name="connsiteX23" fmla="*/ 1130094 w 4088593"/>
              <a:gd name="connsiteY23" fmla="*/ 1109490 h 1199364"/>
              <a:gd name="connsiteX24" fmla="*/ 554030 w 4088593"/>
              <a:gd name="connsiteY24" fmla="*/ 965474 h 1199364"/>
              <a:gd name="connsiteX25" fmla="*/ 338005 w 4088593"/>
              <a:gd name="connsiteY25" fmla="*/ 893466 h 1199364"/>
              <a:gd name="connsiteX26" fmla="*/ 52740 w 4088593"/>
              <a:gd name="connsiteY26" fmla="*/ 707159 h 1199364"/>
              <a:gd name="connsiteX27" fmla="*/ 21567 w 4088593"/>
              <a:gd name="connsiteY27" fmla="*/ 447386 h 1199364"/>
              <a:gd name="connsiteX28" fmla="*/ 134201 w 4088593"/>
              <a:gd name="connsiteY28" fmla="*/ 271384 h 1199364"/>
              <a:gd name="connsiteX0" fmla="*/ 134201 w 4088593"/>
              <a:gd name="connsiteY0" fmla="*/ 251916 h 1179896"/>
              <a:gd name="connsiteX1" fmla="*/ 332897 w 4088593"/>
              <a:gd name="connsiteY1" fmla="*/ 192892 h 1179896"/>
              <a:gd name="connsiteX2" fmla="*/ 625261 w 4088593"/>
              <a:gd name="connsiteY2" fmla="*/ 225877 h 1179896"/>
              <a:gd name="connsiteX3" fmla="*/ 703277 w 4088593"/>
              <a:gd name="connsiteY3" fmla="*/ 255896 h 1179896"/>
              <a:gd name="connsiteX4" fmla="*/ 769279 w 4088593"/>
              <a:gd name="connsiteY4" fmla="*/ 369913 h 1179896"/>
              <a:gd name="connsiteX5" fmla="*/ 825130 w 4088593"/>
              <a:gd name="connsiteY5" fmla="*/ 452164 h 1179896"/>
              <a:gd name="connsiteX6" fmla="*/ 960212 w 4088593"/>
              <a:gd name="connsiteY6" fmla="*/ 722327 h 1179896"/>
              <a:gd name="connsiteX7" fmla="*/ 1465903 w 4088593"/>
              <a:gd name="connsiteY7" fmla="*/ 860873 h 1179896"/>
              <a:gd name="connsiteX8" fmla="*/ 2536167 w 4088593"/>
              <a:gd name="connsiteY8" fmla="*/ 930146 h 1179896"/>
              <a:gd name="connsiteX9" fmla="*/ 2750912 w 4088593"/>
              <a:gd name="connsiteY9" fmla="*/ 926682 h 1179896"/>
              <a:gd name="connsiteX10" fmla="*/ 2879067 w 4088593"/>
              <a:gd name="connsiteY10" fmla="*/ 871264 h 1179896"/>
              <a:gd name="connsiteX11" fmla="*/ 2955267 w 4088593"/>
              <a:gd name="connsiteY11" fmla="*/ 611491 h 1179896"/>
              <a:gd name="connsiteX12" fmla="*/ 2951803 w 4088593"/>
              <a:gd name="connsiteY12" fmla="*/ 358646 h 1179896"/>
              <a:gd name="connsiteX13" fmla="*/ 3153435 w 4088593"/>
              <a:gd name="connsiteY13" fmla="*/ 94311 h 1179896"/>
              <a:gd name="connsiteX14" fmla="*/ 3790003 w 4088593"/>
              <a:gd name="connsiteY14" fmla="*/ 1891 h 1179896"/>
              <a:gd name="connsiteX15" fmla="*/ 3946424 w 4088593"/>
              <a:gd name="connsiteY15" fmla="*/ 82965 h 1179896"/>
              <a:gd name="connsiteX16" fmla="*/ 4024577 w 4088593"/>
              <a:gd name="connsiteY16" fmla="*/ 176846 h 1179896"/>
              <a:gd name="connsiteX17" fmla="*/ 4085149 w 4088593"/>
              <a:gd name="connsiteY17" fmla="*/ 371683 h 1179896"/>
              <a:gd name="connsiteX18" fmla="*/ 4045242 w 4088593"/>
              <a:gd name="connsiteY18" fmla="*/ 651196 h 1179896"/>
              <a:gd name="connsiteX19" fmla="*/ 3938405 w 4088593"/>
              <a:gd name="connsiteY19" fmla="*/ 946006 h 1179896"/>
              <a:gd name="connsiteX20" fmla="*/ 3506357 w 4088593"/>
              <a:gd name="connsiteY20" fmla="*/ 1090022 h 1179896"/>
              <a:gd name="connsiteX21" fmla="*/ 2786277 w 4088593"/>
              <a:gd name="connsiteY21" fmla="*/ 1162030 h 1179896"/>
              <a:gd name="connsiteX22" fmla="*/ 1922182 w 4088593"/>
              <a:gd name="connsiteY22" fmla="*/ 1162030 h 1179896"/>
              <a:gd name="connsiteX23" fmla="*/ 1130094 w 4088593"/>
              <a:gd name="connsiteY23" fmla="*/ 1090022 h 1179896"/>
              <a:gd name="connsiteX24" fmla="*/ 554030 w 4088593"/>
              <a:gd name="connsiteY24" fmla="*/ 946006 h 1179896"/>
              <a:gd name="connsiteX25" fmla="*/ 338005 w 4088593"/>
              <a:gd name="connsiteY25" fmla="*/ 873998 h 1179896"/>
              <a:gd name="connsiteX26" fmla="*/ 52740 w 4088593"/>
              <a:gd name="connsiteY26" fmla="*/ 687691 h 1179896"/>
              <a:gd name="connsiteX27" fmla="*/ 21567 w 4088593"/>
              <a:gd name="connsiteY27" fmla="*/ 427918 h 1179896"/>
              <a:gd name="connsiteX28" fmla="*/ 134201 w 4088593"/>
              <a:gd name="connsiteY28" fmla="*/ 251916 h 1179896"/>
              <a:gd name="connsiteX0" fmla="*/ 134201 w 4088593"/>
              <a:gd name="connsiteY0" fmla="*/ 251916 h 1179896"/>
              <a:gd name="connsiteX1" fmla="*/ 332897 w 4088593"/>
              <a:gd name="connsiteY1" fmla="*/ 192892 h 1179896"/>
              <a:gd name="connsiteX2" fmla="*/ 625261 w 4088593"/>
              <a:gd name="connsiteY2" fmla="*/ 225877 h 1179896"/>
              <a:gd name="connsiteX3" fmla="*/ 703277 w 4088593"/>
              <a:gd name="connsiteY3" fmla="*/ 255896 h 1179896"/>
              <a:gd name="connsiteX4" fmla="*/ 769279 w 4088593"/>
              <a:gd name="connsiteY4" fmla="*/ 369913 h 1179896"/>
              <a:gd name="connsiteX5" fmla="*/ 825130 w 4088593"/>
              <a:gd name="connsiteY5" fmla="*/ 452164 h 1179896"/>
              <a:gd name="connsiteX6" fmla="*/ 960212 w 4088593"/>
              <a:gd name="connsiteY6" fmla="*/ 722327 h 1179896"/>
              <a:gd name="connsiteX7" fmla="*/ 1465903 w 4088593"/>
              <a:gd name="connsiteY7" fmla="*/ 860873 h 1179896"/>
              <a:gd name="connsiteX8" fmla="*/ 2536167 w 4088593"/>
              <a:gd name="connsiteY8" fmla="*/ 930146 h 1179896"/>
              <a:gd name="connsiteX9" fmla="*/ 2750912 w 4088593"/>
              <a:gd name="connsiteY9" fmla="*/ 926682 h 1179896"/>
              <a:gd name="connsiteX10" fmla="*/ 2879067 w 4088593"/>
              <a:gd name="connsiteY10" fmla="*/ 871264 h 1179896"/>
              <a:gd name="connsiteX11" fmla="*/ 2955267 w 4088593"/>
              <a:gd name="connsiteY11" fmla="*/ 611491 h 1179896"/>
              <a:gd name="connsiteX12" fmla="*/ 2951803 w 4088593"/>
              <a:gd name="connsiteY12" fmla="*/ 358646 h 1179896"/>
              <a:gd name="connsiteX13" fmla="*/ 3153435 w 4088593"/>
              <a:gd name="connsiteY13" fmla="*/ 94311 h 1179896"/>
              <a:gd name="connsiteX14" fmla="*/ 3790003 w 4088593"/>
              <a:gd name="connsiteY14" fmla="*/ 1891 h 1179896"/>
              <a:gd name="connsiteX15" fmla="*/ 3946424 w 4088593"/>
              <a:gd name="connsiteY15" fmla="*/ 82965 h 1179896"/>
              <a:gd name="connsiteX16" fmla="*/ 4024577 w 4088593"/>
              <a:gd name="connsiteY16" fmla="*/ 176846 h 1179896"/>
              <a:gd name="connsiteX17" fmla="*/ 4085149 w 4088593"/>
              <a:gd name="connsiteY17" fmla="*/ 371683 h 1179896"/>
              <a:gd name="connsiteX18" fmla="*/ 4045242 w 4088593"/>
              <a:gd name="connsiteY18" fmla="*/ 651196 h 1179896"/>
              <a:gd name="connsiteX19" fmla="*/ 3908068 w 4088593"/>
              <a:gd name="connsiteY19" fmla="*/ 919987 h 1179896"/>
              <a:gd name="connsiteX20" fmla="*/ 3506357 w 4088593"/>
              <a:gd name="connsiteY20" fmla="*/ 1090022 h 1179896"/>
              <a:gd name="connsiteX21" fmla="*/ 2786277 w 4088593"/>
              <a:gd name="connsiteY21" fmla="*/ 1162030 h 1179896"/>
              <a:gd name="connsiteX22" fmla="*/ 1922182 w 4088593"/>
              <a:gd name="connsiteY22" fmla="*/ 1162030 h 1179896"/>
              <a:gd name="connsiteX23" fmla="*/ 1130094 w 4088593"/>
              <a:gd name="connsiteY23" fmla="*/ 1090022 h 1179896"/>
              <a:gd name="connsiteX24" fmla="*/ 554030 w 4088593"/>
              <a:gd name="connsiteY24" fmla="*/ 946006 h 1179896"/>
              <a:gd name="connsiteX25" fmla="*/ 338005 w 4088593"/>
              <a:gd name="connsiteY25" fmla="*/ 873998 h 1179896"/>
              <a:gd name="connsiteX26" fmla="*/ 52740 w 4088593"/>
              <a:gd name="connsiteY26" fmla="*/ 687691 h 1179896"/>
              <a:gd name="connsiteX27" fmla="*/ 21567 w 4088593"/>
              <a:gd name="connsiteY27" fmla="*/ 427918 h 1179896"/>
              <a:gd name="connsiteX28" fmla="*/ 134201 w 4088593"/>
              <a:gd name="connsiteY28" fmla="*/ 251916 h 1179896"/>
              <a:gd name="connsiteX0" fmla="*/ 134201 w 4088593"/>
              <a:gd name="connsiteY0" fmla="*/ 244607 h 1172587"/>
              <a:gd name="connsiteX1" fmla="*/ 332897 w 4088593"/>
              <a:gd name="connsiteY1" fmla="*/ 185583 h 1172587"/>
              <a:gd name="connsiteX2" fmla="*/ 625261 w 4088593"/>
              <a:gd name="connsiteY2" fmla="*/ 218568 h 1172587"/>
              <a:gd name="connsiteX3" fmla="*/ 703277 w 4088593"/>
              <a:gd name="connsiteY3" fmla="*/ 248587 h 1172587"/>
              <a:gd name="connsiteX4" fmla="*/ 769279 w 4088593"/>
              <a:gd name="connsiteY4" fmla="*/ 362604 h 1172587"/>
              <a:gd name="connsiteX5" fmla="*/ 825130 w 4088593"/>
              <a:gd name="connsiteY5" fmla="*/ 444855 h 1172587"/>
              <a:gd name="connsiteX6" fmla="*/ 960212 w 4088593"/>
              <a:gd name="connsiteY6" fmla="*/ 715018 h 1172587"/>
              <a:gd name="connsiteX7" fmla="*/ 1465903 w 4088593"/>
              <a:gd name="connsiteY7" fmla="*/ 853564 h 1172587"/>
              <a:gd name="connsiteX8" fmla="*/ 2536167 w 4088593"/>
              <a:gd name="connsiteY8" fmla="*/ 922837 h 1172587"/>
              <a:gd name="connsiteX9" fmla="*/ 2750912 w 4088593"/>
              <a:gd name="connsiteY9" fmla="*/ 919373 h 1172587"/>
              <a:gd name="connsiteX10" fmla="*/ 2879067 w 4088593"/>
              <a:gd name="connsiteY10" fmla="*/ 863955 h 1172587"/>
              <a:gd name="connsiteX11" fmla="*/ 2955267 w 4088593"/>
              <a:gd name="connsiteY11" fmla="*/ 604182 h 1172587"/>
              <a:gd name="connsiteX12" fmla="*/ 2951803 w 4088593"/>
              <a:gd name="connsiteY12" fmla="*/ 351337 h 1172587"/>
              <a:gd name="connsiteX13" fmla="*/ 3153435 w 4088593"/>
              <a:gd name="connsiteY13" fmla="*/ 87002 h 1172587"/>
              <a:gd name="connsiteX14" fmla="*/ 3721651 w 4088593"/>
              <a:gd name="connsiteY14" fmla="*/ 1891 h 1172587"/>
              <a:gd name="connsiteX15" fmla="*/ 3946424 w 4088593"/>
              <a:gd name="connsiteY15" fmla="*/ 75656 h 1172587"/>
              <a:gd name="connsiteX16" fmla="*/ 4024577 w 4088593"/>
              <a:gd name="connsiteY16" fmla="*/ 169537 h 1172587"/>
              <a:gd name="connsiteX17" fmla="*/ 4085149 w 4088593"/>
              <a:gd name="connsiteY17" fmla="*/ 364374 h 1172587"/>
              <a:gd name="connsiteX18" fmla="*/ 4045242 w 4088593"/>
              <a:gd name="connsiteY18" fmla="*/ 643887 h 1172587"/>
              <a:gd name="connsiteX19" fmla="*/ 3908068 w 4088593"/>
              <a:gd name="connsiteY19" fmla="*/ 912678 h 1172587"/>
              <a:gd name="connsiteX20" fmla="*/ 3506357 w 4088593"/>
              <a:gd name="connsiteY20" fmla="*/ 1082713 h 1172587"/>
              <a:gd name="connsiteX21" fmla="*/ 2786277 w 4088593"/>
              <a:gd name="connsiteY21" fmla="*/ 1154721 h 1172587"/>
              <a:gd name="connsiteX22" fmla="*/ 1922182 w 4088593"/>
              <a:gd name="connsiteY22" fmla="*/ 1154721 h 1172587"/>
              <a:gd name="connsiteX23" fmla="*/ 1130094 w 4088593"/>
              <a:gd name="connsiteY23" fmla="*/ 1082713 h 1172587"/>
              <a:gd name="connsiteX24" fmla="*/ 554030 w 4088593"/>
              <a:gd name="connsiteY24" fmla="*/ 938697 h 1172587"/>
              <a:gd name="connsiteX25" fmla="*/ 338005 w 4088593"/>
              <a:gd name="connsiteY25" fmla="*/ 866689 h 1172587"/>
              <a:gd name="connsiteX26" fmla="*/ 52740 w 4088593"/>
              <a:gd name="connsiteY26" fmla="*/ 680382 h 1172587"/>
              <a:gd name="connsiteX27" fmla="*/ 21567 w 4088593"/>
              <a:gd name="connsiteY27" fmla="*/ 420609 h 1172587"/>
              <a:gd name="connsiteX28" fmla="*/ 134201 w 4088593"/>
              <a:gd name="connsiteY28" fmla="*/ 244607 h 11725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4088593" h="1172587">
                <a:moveTo>
                  <a:pt x="134201" y="244607"/>
                </a:moveTo>
                <a:cubicBezTo>
                  <a:pt x="186089" y="205436"/>
                  <a:pt x="251054" y="189923"/>
                  <a:pt x="332897" y="185583"/>
                </a:cubicBezTo>
                <a:cubicBezTo>
                  <a:pt x="414740" y="181243"/>
                  <a:pt x="563531" y="208067"/>
                  <a:pt x="625261" y="218568"/>
                </a:cubicBezTo>
                <a:cubicBezTo>
                  <a:pt x="686991" y="229069"/>
                  <a:pt x="679274" y="224581"/>
                  <a:pt x="703277" y="248587"/>
                </a:cubicBezTo>
                <a:cubicBezTo>
                  <a:pt x="727280" y="272593"/>
                  <a:pt x="748970" y="329893"/>
                  <a:pt x="769279" y="362604"/>
                </a:cubicBezTo>
                <a:cubicBezTo>
                  <a:pt x="789588" y="395315"/>
                  <a:pt x="793308" y="386119"/>
                  <a:pt x="825130" y="444855"/>
                </a:cubicBezTo>
                <a:cubicBezTo>
                  <a:pt x="856952" y="503591"/>
                  <a:pt x="853417" y="646900"/>
                  <a:pt x="960212" y="715018"/>
                </a:cubicBezTo>
                <a:cubicBezTo>
                  <a:pt x="1067007" y="783136"/>
                  <a:pt x="1203244" y="818927"/>
                  <a:pt x="1465903" y="853564"/>
                </a:cubicBezTo>
                <a:cubicBezTo>
                  <a:pt x="1728562" y="888201"/>
                  <a:pt x="2321999" y="911869"/>
                  <a:pt x="2536167" y="922837"/>
                </a:cubicBezTo>
                <a:cubicBezTo>
                  <a:pt x="2750335" y="933805"/>
                  <a:pt x="2693762" y="929187"/>
                  <a:pt x="2750912" y="919373"/>
                </a:cubicBezTo>
                <a:cubicBezTo>
                  <a:pt x="2808062" y="909559"/>
                  <a:pt x="2845008" y="916487"/>
                  <a:pt x="2879067" y="863955"/>
                </a:cubicBezTo>
                <a:cubicBezTo>
                  <a:pt x="2913126" y="811423"/>
                  <a:pt x="2943144" y="689618"/>
                  <a:pt x="2955267" y="604182"/>
                </a:cubicBezTo>
                <a:cubicBezTo>
                  <a:pt x="2967390" y="518746"/>
                  <a:pt x="2918775" y="437534"/>
                  <a:pt x="2951803" y="351337"/>
                </a:cubicBezTo>
                <a:cubicBezTo>
                  <a:pt x="2984831" y="265140"/>
                  <a:pt x="3025127" y="145243"/>
                  <a:pt x="3153435" y="87002"/>
                </a:cubicBezTo>
                <a:cubicBezTo>
                  <a:pt x="3281743" y="28761"/>
                  <a:pt x="3589486" y="3782"/>
                  <a:pt x="3721651" y="1891"/>
                </a:cubicBezTo>
                <a:cubicBezTo>
                  <a:pt x="3853816" y="0"/>
                  <a:pt x="3895936" y="47715"/>
                  <a:pt x="3946424" y="75656"/>
                </a:cubicBezTo>
                <a:cubicBezTo>
                  <a:pt x="3996912" y="103597"/>
                  <a:pt x="4001456" y="121417"/>
                  <a:pt x="4024577" y="169537"/>
                </a:cubicBezTo>
                <a:cubicBezTo>
                  <a:pt x="4047698" y="217657"/>
                  <a:pt x="4081705" y="285316"/>
                  <a:pt x="4085149" y="364374"/>
                </a:cubicBezTo>
                <a:cubicBezTo>
                  <a:pt x="4088593" y="443432"/>
                  <a:pt x="4074756" y="552503"/>
                  <a:pt x="4045242" y="643887"/>
                </a:cubicBezTo>
                <a:cubicBezTo>
                  <a:pt x="4015729" y="735271"/>
                  <a:pt x="3997882" y="839540"/>
                  <a:pt x="3908068" y="912678"/>
                </a:cubicBezTo>
                <a:cubicBezTo>
                  <a:pt x="3818254" y="985816"/>
                  <a:pt x="3693322" y="1042373"/>
                  <a:pt x="3506357" y="1082713"/>
                </a:cubicBezTo>
                <a:cubicBezTo>
                  <a:pt x="3319392" y="1123054"/>
                  <a:pt x="3050306" y="1142720"/>
                  <a:pt x="2786277" y="1154721"/>
                </a:cubicBezTo>
                <a:cubicBezTo>
                  <a:pt x="2522248" y="1166722"/>
                  <a:pt x="2205744" y="1172587"/>
                  <a:pt x="1922182" y="1154721"/>
                </a:cubicBezTo>
                <a:lnTo>
                  <a:pt x="1130094" y="1082713"/>
                </a:lnTo>
                <a:lnTo>
                  <a:pt x="554030" y="938697"/>
                </a:lnTo>
                <a:cubicBezTo>
                  <a:pt x="509003" y="932924"/>
                  <a:pt x="421553" y="909742"/>
                  <a:pt x="338005" y="866689"/>
                </a:cubicBezTo>
                <a:cubicBezTo>
                  <a:pt x="254457" y="823637"/>
                  <a:pt x="105480" y="754729"/>
                  <a:pt x="52740" y="680382"/>
                </a:cubicBezTo>
                <a:cubicBezTo>
                  <a:pt x="0" y="606035"/>
                  <a:pt x="7990" y="493238"/>
                  <a:pt x="21567" y="420609"/>
                </a:cubicBezTo>
                <a:cubicBezTo>
                  <a:pt x="35144" y="347980"/>
                  <a:pt x="82313" y="283778"/>
                  <a:pt x="134201" y="244607"/>
                </a:cubicBezTo>
                <a:close/>
              </a:path>
            </a:pathLst>
          </a:custGeom>
          <a:solidFill>
            <a:srgbClr val="FFC000"/>
          </a:solidFill>
          <a:ln w="12700">
            <a:noFill/>
            <a:prstDash val="sysDot"/>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45" name="任意多边形 44"/>
          <p:cNvSpPr/>
          <p:nvPr/>
        </p:nvSpPr>
        <p:spPr>
          <a:xfrm>
            <a:off x="3497352" y="2164101"/>
            <a:ext cx="1505631" cy="1936838"/>
          </a:xfrm>
          <a:custGeom>
            <a:avLst/>
            <a:gdLst>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337878 w 1416401"/>
              <a:gd name="connsiteY77" fmla="*/ 1348154 h 1424354"/>
              <a:gd name="connsiteX78" fmla="*/ 320293 w 1416401"/>
              <a:gd name="connsiteY78" fmla="*/ 1342292 h 1424354"/>
              <a:gd name="connsiteX79" fmla="*/ 179616 w 1416401"/>
              <a:gd name="connsiteY79" fmla="*/ 1330569 h 1424354"/>
              <a:gd name="connsiteX80" fmla="*/ 144447 w 1416401"/>
              <a:gd name="connsiteY80" fmla="*/ 1324708 h 1424354"/>
              <a:gd name="connsiteX81" fmla="*/ 126862 w 1416401"/>
              <a:gd name="connsiteY81" fmla="*/ 1312985 h 1424354"/>
              <a:gd name="connsiteX82" fmla="*/ 109278 w 1416401"/>
              <a:gd name="connsiteY82" fmla="*/ 1307123 h 1424354"/>
              <a:gd name="connsiteX83" fmla="*/ 79970 w 1416401"/>
              <a:gd name="connsiteY83" fmla="*/ 1283677 h 1424354"/>
              <a:gd name="connsiteX84" fmla="*/ 50662 w 1416401"/>
              <a:gd name="connsiteY84" fmla="*/ 1248508 h 1424354"/>
              <a:gd name="connsiteX85" fmla="*/ 33078 w 1416401"/>
              <a:gd name="connsiteY85" fmla="*/ 1230923 h 1424354"/>
              <a:gd name="connsiteX86" fmla="*/ 21355 w 1416401"/>
              <a:gd name="connsiteY86" fmla="*/ 1189892 h 1424354"/>
              <a:gd name="connsiteX87" fmla="*/ 9632 w 1416401"/>
              <a:gd name="connsiteY87" fmla="*/ 1143000 h 1424354"/>
              <a:gd name="connsiteX88" fmla="*/ 9632 w 1416401"/>
              <a:gd name="connsiteY88" fmla="*/ 943708 h 1424354"/>
              <a:gd name="connsiteX89" fmla="*/ 15493 w 1416401"/>
              <a:gd name="connsiteY89" fmla="*/ 926123 h 1424354"/>
              <a:gd name="connsiteX90" fmla="*/ 21355 w 1416401"/>
              <a:gd name="connsiteY90" fmla="*/ 873369 h 1424354"/>
              <a:gd name="connsiteX91" fmla="*/ 27216 w 1416401"/>
              <a:gd name="connsiteY91" fmla="*/ 855785 h 1424354"/>
              <a:gd name="connsiteX92" fmla="*/ 33078 w 1416401"/>
              <a:gd name="connsiteY92" fmla="*/ 820615 h 1424354"/>
              <a:gd name="connsiteX93" fmla="*/ 50662 w 1416401"/>
              <a:gd name="connsiteY93" fmla="*/ 779585 h 1424354"/>
              <a:gd name="connsiteX94" fmla="*/ 62385 w 1416401"/>
              <a:gd name="connsiteY94" fmla="*/ 738554 h 1424354"/>
              <a:gd name="connsiteX95" fmla="*/ 74108 w 1416401"/>
              <a:gd name="connsiteY95" fmla="*/ 715108 h 1424354"/>
              <a:gd name="connsiteX96" fmla="*/ 85832 w 1416401"/>
              <a:gd name="connsiteY96" fmla="*/ 674077 h 1424354"/>
              <a:gd name="connsiteX97" fmla="*/ 91693 w 1416401"/>
              <a:gd name="connsiteY97" fmla="*/ 656492 h 1424354"/>
              <a:gd name="connsiteX98" fmla="*/ 97555 w 1416401"/>
              <a:gd name="connsiteY98" fmla="*/ 627185 h 1424354"/>
              <a:gd name="connsiteX99" fmla="*/ 103416 w 1416401"/>
              <a:gd name="connsiteY99" fmla="*/ 609600 h 1424354"/>
              <a:gd name="connsiteX100" fmla="*/ 109278 w 1416401"/>
              <a:gd name="connsiteY100" fmla="*/ 586154 h 1424354"/>
              <a:gd name="connsiteX101" fmla="*/ 115139 w 1416401"/>
              <a:gd name="connsiteY101" fmla="*/ 556846 h 1424354"/>
              <a:gd name="connsiteX102" fmla="*/ 126862 w 1416401"/>
              <a:gd name="connsiteY102" fmla="*/ 521677 h 1424354"/>
              <a:gd name="connsiteX103" fmla="*/ 121001 w 1416401"/>
              <a:gd name="connsiteY103" fmla="*/ 322385 h 1424354"/>
              <a:gd name="connsiteX104" fmla="*/ 115139 w 1416401"/>
              <a:gd name="connsiteY104" fmla="*/ 304800 h 1424354"/>
              <a:gd name="connsiteX105" fmla="*/ 103416 w 1416401"/>
              <a:gd name="connsiteY105" fmla="*/ 281354 h 1424354"/>
              <a:gd name="connsiteX106" fmla="*/ 85832 w 1416401"/>
              <a:gd name="connsiteY106" fmla="*/ 263769 h 1424354"/>
              <a:gd name="connsiteX107" fmla="*/ 79970 w 1416401"/>
              <a:gd name="connsiteY10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337878 w 1416401"/>
              <a:gd name="connsiteY77" fmla="*/ 1348154 h 1424354"/>
              <a:gd name="connsiteX78" fmla="*/ 320293 w 1416401"/>
              <a:gd name="connsiteY78" fmla="*/ 1342292 h 1424354"/>
              <a:gd name="connsiteX79" fmla="*/ 179616 w 1416401"/>
              <a:gd name="connsiteY79" fmla="*/ 1330569 h 1424354"/>
              <a:gd name="connsiteX80" fmla="*/ 155426 w 1416401"/>
              <a:gd name="connsiteY80" fmla="*/ 1371600 h 1424354"/>
              <a:gd name="connsiteX81" fmla="*/ 126862 w 1416401"/>
              <a:gd name="connsiteY81" fmla="*/ 1312985 h 1424354"/>
              <a:gd name="connsiteX82" fmla="*/ 109278 w 1416401"/>
              <a:gd name="connsiteY82" fmla="*/ 1307123 h 1424354"/>
              <a:gd name="connsiteX83" fmla="*/ 79970 w 1416401"/>
              <a:gd name="connsiteY83" fmla="*/ 1283677 h 1424354"/>
              <a:gd name="connsiteX84" fmla="*/ 50662 w 1416401"/>
              <a:gd name="connsiteY84" fmla="*/ 1248508 h 1424354"/>
              <a:gd name="connsiteX85" fmla="*/ 33078 w 1416401"/>
              <a:gd name="connsiteY85" fmla="*/ 1230923 h 1424354"/>
              <a:gd name="connsiteX86" fmla="*/ 21355 w 1416401"/>
              <a:gd name="connsiteY86" fmla="*/ 1189892 h 1424354"/>
              <a:gd name="connsiteX87" fmla="*/ 9632 w 1416401"/>
              <a:gd name="connsiteY87" fmla="*/ 1143000 h 1424354"/>
              <a:gd name="connsiteX88" fmla="*/ 9632 w 1416401"/>
              <a:gd name="connsiteY88" fmla="*/ 943708 h 1424354"/>
              <a:gd name="connsiteX89" fmla="*/ 15493 w 1416401"/>
              <a:gd name="connsiteY89" fmla="*/ 926123 h 1424354"/>
              <a:gd name="connsiteX90" fmla="*/ 21355 w 1416401"/>
              <a:gd name="connsiteY90" fmla="*/ 873369 h 1424354"/>
              <a:gd name="connsiteX91" fmla="*/ 27216 w 1416401"/>
              <a:gd name="connsiteY91" fmla="*/ 855785 h 1424354"/>
              <a:gd name="connsiteX92" fmla="*/ 33078 w 1416401"/>
              <a:gd name="connsiteY92" fmla="*/ 820615 h 1424354"/>
              <a:gd name="connsiteX93" fmla="*/ 50662 w 1416401"/>
              <a:gd name="connsiteY93" fmla="*/ 779585 h 1424354"/>
              <a:gd name="connsiteX94" fmla="*/ 62385 w 1416401"/>
              <a:gd name="connsiteY94" fmla="*/ 738554 h 1424354"/>
              <a:gd name="connsiteX95" fmla="*/ 74108 w 1416401"/>
              <a:gd name="connsiteY95" fmla="*/ 715108 h 1424354"/>
              <a:gd name="connsiteX96" fmla="*/ 85832 w 1416401"/>
              <a:gd name="connsiteY96" fmla="*/ 674077 h 1424354"/>
              <a:gd name="connsiteX97" fmla="*/ 91693 w 1416401"/>
              <a:gd name="connsiteY97" fmla="*/ 656492 h 1424354"/>
              <a:gd name="connsiteX98" fmla="*/ 97555 w 1416401"/>
              <a:gd name="connsiteY98" fmla="*/ 627185 h 1424354"/>
              <a:gd name="connsiteX99" fmla="*/ 103416 w 1416401"/>
              <a:gd name="connsiteY99" fmla="*/ 609600 h 1424354"/>
              <a:gd name="connsiteX100" fmla="*/ 109278 w 1416401"/>
              <a:gd name="connsiteY100" fmla="*/ 586154 h 1424354"/>
              <a:gd name="connsiteX101" fmla="*/ 115139 w 1416401"/>
              <a:gd name="connsiteY101" fmla="*/ 556846 h 1424354"/>
              <a:gd name="connsiteX102" fmla="*/ 126862 w 1416401"/>
              <a:gd name="connsiteY102" fmla="*/ 521677 h 1424354"/>
              <a:gd name="connsiteX103" fmla="*/ 121001 w 1416401"/>
              <a:gd name="connsiteY103" fmla="*/ 322385 h 1424354"/>
              <a:gd name="connsiteX104" fmla="*/ 115139 w 1416401"/>
              <a:gd name="connsiteY104" fmla="*/ 304800 h 1424354"/>
              <a:gd name="connsiteX105" fmla="*/ 103416 w 1416401"/>
              <a:gd name="connsiteY105" fmla="*/ 281354 h 1424354"/>
              <a:gd name="connsiteX106" fmla="*/ 85832 w 1416401"/>
              <a:gd name="connsiteY106" fmla="*/ 263769 h 1424354"/>
              <a:gd name="connsiteX107" fmla="*/ 79970 w 1416401"/>
              <a:gd name="connsiteY10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337878 w 1416401"/>
              <a:gd name="connsiteY77" fmla="*/ 1348154 h 1424354"/>
              <a:gd name="connsiteX78" fmla="*/ 179616 w 1416401"/>
              <a:gd name="connsiteY78" fmla="*/ 1330569 h 1424354"/>
              <a:gd name="connsiteX79" fmla="*/ 155426 w 1416401"/>
              <a:gd name="connsiteY79" fmla="*/ 1371600 h 1424354"/>
              <a:gd name="connsiteX80" fmla="*/ 126862 w 1416401"/>
              <a:gd name="connsiteY80" fmla="*/ 1312985 h 1424354"/>
              <a:gd name="connsiteX81" fmla="*/ 109278 w 1416401"/>
              <a:gd name="connsiteY81" fmla="*/ 1307123 h 1424354"/>
              <a:gd name="connsiteX82" fmla="*/ 79970 w 1416401"/>
              <a:gd name="connsiteY82" fmla="*/ 1283677 h 1424354"/>
              <a:gd name="connsiteX83" fmla="*/ 50662 w 1416401"/>
              <a:gd name="connsiteY83" fmla="*/ 1248508 h 1424354"/>
              <a:gd name="connsiteX84" fmla="*/ 33078 w 1416401"/>
              <a:gd name="connsiteY84" fmla="*/ 1230923 h 1424354"/>
              <a:gd name="connsiteX85" fmla="*/ 21355 w 1416401"/>
              <a:gd name="connsiteY85" fmla="*/ 1189892 h 1424354"/>
              <a:gd name="connsiteX86" fmla="*/ 9632 w 1416401"/>
              <a:gd name="connsiteY86" fmla="*/ 1143000 h 1424354"/>
              <a:gd name="connsiteX87" fmla="*/ 9632 w 1416401"/>
              <a:gd name="connsiteY87" fmla="*/ 943708 h 1424354"/>
              <a:gd name="connsiteX88" fmla="*/ 15493 w 1416401"/>
              <a:gd name="connsiteY88" fmla="*/ 926123 h 1424354"/>
              <a:gd name="connsiteX89" fmla="*/ 21355 w 1416401"/>
              <a:gd name="connsiteY89" fmla="*/ 873369 h 1424354"/>
              <a:gd name="connsiteX90" fmla="*/ 27216 w 1416401"/>
              <a:gd name="connsiteY90" fmla="*/ 855785 h 1424354"/>
              <a:gd name="connsiteX91" fmla="*/ 33078 w 1416401"/>
              <a:gd name="connsiteY91" fmla="*/ 820615 h 1424354"/>
              <a:gd name="connsiteX92" fmla="*/ 50662 w 1416401"/>
              <a:gd name="connsiteY92" fmla="*/ 779585 h 1424354"/>
              <a:gd name="connsiteX93" fmla="*/ 62385 w 1416401"/>
              <a:gd name="connsiteY93" fmla="*/ 738554 h 1424354"/>
              <a:gd name="connsiteX94" fmla="*/ 74108 w 1416401"/>
              <a:gd name="connsiteY94" fmla="*/ 715108 h 1424354"/>
              <a:gd name="connsiteX95" fmla="*/ 85832 w 1416401"/>
              <a:gd name="connsiteY95" fmla="*/ 674077 h 1424354"/>
              <a:gd name="connsiteX96" fmla="*/ 91693 w 1416401"/>
              <a:gd name="connsiteY96" fmla="*/ 656492 h 1424354"/>
              <a:gd name="connsiteX97" fmla="*/ 97555 w 1416401"/>
              <a:gd name="connsiteY97" fmla="*/ 627185 h 1424354"/>
              <a:gd name="connsiteX98" fmla="*/ 103416 w 1416401"/>
              <a:gd name="connsiteY98" fmla="*/ 609600 h 1424354"/>
              <a:gd name="connsiteX99" fmla="*/ 109278 w 1416401"/>
              <a:gd name="connsiteY99" fmla="*/ 586154 h 1424354"/>
              <a:gd name="connsiteX100" fmla="*/ 115139 w 1416401"/>
              <a:gd name="connsiteY100" fmla="*/ 556846 h 1424354"/>
              <a:gd name="connsiteX101" fmla="*/ 126862 w 1416401"/>
              <a:gd name="connsiteY101" fmla="*/ 521677 h 1424354"/>
              <a:gd name="connsiteX102" fmla="*/ 121001 w 1416401"/>
              <a:gd name="connsiteY102" fmla="*/ 322385 h 1424354"/>
              <a:gd name="connsiteX103" fmla="*/ 115139 w 1416401"/>
              <a:gd name="connsiteY103" fmla="*/ 304800 h 1424354"/>
              <a:gd name="connsiteX104" fmla="*/ 103416 w 1416401"/>
              <a:gd name="connsiteY104" fmla="*/ 281354 h 1424354"/>
              <a:gd name="connsiteX105" fmla="*/ 85832 w 1416401"/>
              <a:gd name="connsiteY105" fmla="*/ 263769 h 1424354"/>
              <a:gd name="connsiteX106" fmla="*/ 79970 w 1416401"/>
              <a:gd name="connsiteY106"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337878 w 1416401"/>
              <a:gd name="connsiteY77" fmla="*/ 1348154 h 1424354"/>
              <a:gd name="connsiteX78" fmla="*/ 155426 w 1416401"/>
              <a:gd name="connsiteY78" fmla="*/ 1371600 h 1424354"/>
              <a:gd name="connsiteX79" fmla="*/ 126862 w 1416401"/>
              <a:gd name="connsiteY79" fmla="*/ 1312985 h 1424354"/>
              <a:gd name="connsiteX80" fmla="*/ 109278 w 1416401"/>
              <a:gd name="connsiteY80" fmla="*/ 1307123 h 1424354"/>
              <a:gd name="connsiteX81" fmla="*/ 79970 w 1416401"/>
              <a:gd name="connsiteY81" fmla="*/ 1283677 h 1424354"/>
              <a:gd name="connsiteX82" fmla="*/ 50662 w 1416401"/>
              <a:gd name="connsiteY82" fmla="*/ 1248508 h 1424354"/>
              <a:gd name="connsiteX83" fmla="*/ 33078 w 1416401"/>
              <a:gd name="connsiteY83" fmla="*/ 1230923 h 1424354"/>
              <a:gd name="connsiteX84" fmla="*/ 21355 w 1416401"/>
              <a:gd name="connsiteY84" fmla="*/ 1189892 h 1424354"/>
              <a:gd name="connsiteX85" fmla="*/ 9632 w 1416401"/>
              <a:gd name="connsiteY85" fmla="*/ 1143000 h 1424354"/>
              <a:gd name="connsiteX86" fmla="*/ 9632 w 1416401"/>
              <a:gd name="connsiteY86" fmla="*/ 943708 h 1424354"/>
              <a:gd name="connsiteX87" fmla="*/ 15493 w 1416401"/>
              <a:gd name="connsiteY87" fmla="*/ 926123 h 1424354"/>
              <a:gd name="connsiteX88" fmla="*/ 21355 w 1416401"/>
              <a:gd name="connsiteY88" fmla="*/ 873369 h 1424354"/>
              <a:gd name="connsiteX89" fmla="*/ 27216 w 1416401"/>
              <a:gd name="connsiteY89" fmla="*/ 855785 h 1424354"/>
              <a:gd name="connsiteX90" fmla="*/ 33078 w 1416401"/>
              <a:gd name="connsiteY90" fmla="*/ 820615 h 1424354"/>
              <a:gd name="connsiteX91" fmla="*/ 50662 w 1416401"/>
              <a:gd name="connsiteY91" fmla="*/ 779585 h 1424354"/>
              <a:gd name="connsiteX92" fmla="*/ 62385 w 1416401"/>
              <a:gd name="connsiteY92" fmla="*/ 738554 h 1424354"/>
              <a:gd name="connsiteX93" fmla="*/ 74108 w 1416401"/>
              <a:gd name="connsiteY93" fmla="*/ 715108 h 1424354"/>
              <a:gd name="connsiteX94" fmla="*/ 85832 w 1416401"/>
              <a:gd name="connsiteY94" fmla="*/ 674077 h 1424354"/>
              <a:gd name="connsiteX95" fmla="*/ 91693 w 1416401"/>
              <a:gd name="connsiteY95" fmla="*/ 656492 h 1424354"/>
              <a:gd name="connsiteX96" fmla="*/ 97555 w 1416401"/>
              <a:gd name="connsiteY96" fmla="*/ 627185 h 1424354"/>
              <a:gd name="connsiteX97" fmla="*/ 103416 w 1416401"/>
              <a:gd name="connsiteY97" fmla="*/ 609600 h 1424354"/>
              <a:gd name="connsiteX98" fmla="*/ 109278 w 1416401"/>
              <a:gd name="connsiteY98" fmla="*/ 586154 h 1424354"/>
              <a:gd name="connsiteX99" fmla="*/ 115139 w 1416401"/>
              <a:gd name="connsiteY99" fmla="*/ 556846 h 1424354"/>
              <a:gd name="connsiteX100" fmla="*/ 126862 w 1416401"/>
              <a:gd name="connsiteY100" fmla="*/ 521677 h 1424354"/>
              <a:gd name="connsiteX101" fmla="*/ 121001 w 1416401"/>
              <a:gd name="connsiteY101" fmla="*/ 322385 h 1424354"/>
              <a:gd name="connsiteX102" fmla="*/ 115139 w 1416401"/>
              <a:gd name="connsiteY102" fmla="*/ 304800 h 1424354"/>
              <a:gd name="connsiteX103" fmla="*/ 103416 w 1416401"/>
              <a:gd name="connsiteY103" fmla="*/ 281354 h 1424354"/>
              <a:gd name="connsiteX104" fmla="*/ 85832 w 1416401"/>
              <a:gd name="connsiteY104" fmla="*/ 263769 h 1424354"/>
              <a:gd name="connsiteX105" fmla="*/ 79970 w 1416401"/>
              <a:gd name="connsiteY105"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155426 w 1416401"/>
              <a:gd name="connsiteY77" fmla="*/ 1371600 h 1424354"/>
              <a:gd name="connsiteX78" fmla="*/ 126862 w 1416401"/>
              <a:gd name="connsiteY78" fmla="*/ 1312985 h 1424354"/>
              <a:gd name="connsiteX79" fmla="*/ 109278 w 1416401"/>
              <a:gd name="connsiteY79" fmla="*/ 1307123 h 1424354"/>
              <a:gd name="connsiteX80" fmla="*/ 79970 w 1416401"/>
              <a:gd name="connsiteY80" fmla="*/ 1283677 h 1424354"/>
              <a:gd name="connsiteX81" fmla="*/ 50662 w 1416401"/>
              <a:gd name="connsiteY81" fmla="*/ 1248508 h 1424354"/>
              <a:gd name="connsiteX82" fmla="*/ 33078 w 1416401"/>
              <a:gd name="connsiteY82" fmla="*/ 1230923 h 1424354"/>
              <a:gd name="connsiteX83" fmla="*/ 21355 w 1416401"/>
              <a:gd name="connsiteY83" fmla="*/ 1189892 h 1424354"/>
              <a:gd name="connsiteX84" fmla="*/ 9632 w 1416401"/>
              <a:gd name="connsiteY84" fmla="*/ 1143000 h 1424354"/>
              <a:gd name="connsiteX85" fmla="*/ 9632 w 1416401"/>
              <a:gd name="connsiteY85" fmla="*/ 943708 h 1424354"/>
              <a:gd name="connsiteX86" fmla="*/ 15493 w 1416401"/>
              <a:gd name="connsiteY86" fmla="*/ 926123 h 1424354"/>
              <a:gd name="connsiteX87" fmla="*/ 21355 w 1416401"/>
              <a:gd name="connsiteY87" fmla="*/ 873369 h 1424354"/>
              <a:gd name="connsiteX88" fmla="*/ 27216 w 1416401"/>
              <a:gd name="connsiteY88" fmla="*/ 855785 h 1424354"/>
              <a:gd name="connsiteX89" fmla="*/ 33078 w 1416401"/>
              <a:gd name="connsiteY89" fmla="*/ 820615 h 1424354"/>
              <a:gd name="connsiteX90" fmla="*/ 50662 w 1416401"/>
              <a:gd name="connsiteY90" fmla="*/ 779585 h 1424354"/>
              <a:gd name="connsiteX91" fmla="*/ 62385 w 1416401"/>
              <a:gd name="connsiteY91" fmla="*/ 738554 h 1424354"/>
              <a:gd name="connsiteX92" fmla="*/ 74108 w 1416401"/>
              <a:gd name="connsiteY92" fmla="*/ 715108 h 1424354"/>
              <a:gd name="connsiteX93" fmla="*/ 85832 w 1416401"/>
              <a:gd name="connsiteY93" fmla="*/ 674077 h 1424354"/>
              <a:gd name="connsiteX94" fmla="*/ 91693 w 1416401"/>
              <a:gd name="connsiteY94" fmla="*/ 656492 h 1424354"/>
              <a:gd name="connsiteX95" fmla="*/ 97555 w 1416401"/>
              <a:gd name="connsiteY95" fmla="*/ 627185 h 1424354"/>
              <a:gd name="connsiteX96" fmla="*/ 103416 w 1416401"/>
              <a:gd name="connsiteY96" fmla="*/ 609600 h 1424354"/>
              <a:gd name="connsiteX97" fmla="*/ 109278 w 1416401"/>
              <a:gd name="connsiteY97" fmla="*/ 586154 h 1424354"/>
              <a:gd name="connsiteX98" fmla="*/ 115139 w 1416401"/>
              <a:gd name="connsiteY98" fmla="*/ 556846 h 1424354"/>
              <a:gd name="connsiteX99" fmla="*/ 126862 w 1416401"/>
              <a:gd name="connsiteY99" fmla="*/ 521677 h 1424354"/>
              <a:gd name="connsiteX100" fmla="*/ 121001 w 1416401"/>
              <a:gd name="connsiteY100" fmla="*/ 322385 h 1424354"/>
              <a:gd name="connsiteX101" fmla="*/ 115139 w 1416401"/>
              <a:gd name="connsiteY101" fmla="*/ 304800 h 1424354"/>
              <a:gd name="connsiteX102" fmla="*/ 103416 w 1416401"/>
              <a:gd name="connsiteY102" fmla="*/ 281354 h 1424354"/>
              <a:gd name="connsiteX103" fmla="*/ 85832 w 1416401"/>
              <a:gd name="connsiteY103" fmla="*/ 263769 h 1424354"/>
              <a:gd name="connsiteX104" fmla="*/ 79970 w 1416401"/>
              <a:gd name="connsiteY104"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361324 w 1416401"/>
              <a:gd name="connsiteY75" fmla="*/ 1354015 h 1424354"/>
              <a:gd name="connsiteX76" fmla="*/ 155426 w 1416401"/>
              <a:gd name="connsiteY76" fmla="*/ 1371600 h 1424354"/>
              <a:gd name="connsiteX77" fmla="*/ 126862 w 1416401"/>
              <a:gd name="connsiteY77" fmla="*/ 1312985 h 1424354"/>
              <a:gd name="connsiteX78" fmla="*/ 109278 w 1416401"/>
              <a:gd name="connsiteY78" fmla="*/ 1307123 h 1424354"/>
              <a:gd name="connsiteX79" fmla="*/ 79970 w 1416401"/>
              <a:gd name="connsiteY79" fmla="*/ 1283677 h 1424354"/>
              <a:gd name="connsiteX80" fmla="*/ 50662 w 1416401"/>
              <a:gd name="connsiteY80" fmla="*/ 1248508 h 1424354"/>
              <a:gd name="connsiteX81" fmla="*/ 33078 w 1416401"/>
              <a:gd name="connsiteY81" fmla="*/ 1230923 h 1424354"/>
              <a:gd name="connsiteX82" fmla="*/ 21355 w 1416401"/>
              <a:gd name="connsiteY82" fmla="*/ 1189892 h 1424354"/>
              <a:gd name="connsiteX83" fmla="*/ 9632 w 1416401"/>
              <a:gd name="connsiteY83" fmla="*/ 1143000 h 1424354"/>
              <a:gd name="connsiteX84" fmla="*/ 9632 w 1416401"/>
              <a:gd name="connsiteY84" fmla="*/ 943708 h 1424354"/>
              <a:gd name="connsiteX85" fmla="*/ 15493 w 1416401"/>
              <a:gd name="connsiteY85" fmla="*/ 926123 h 1424354"/>
              <a:gd name="connsiteX86" fmla="*/ 21355 w 1416401"/>
              <a:gd name="connsiteY86" fmla="*/ 873369 h 1424354"/>
              <a:gd name="connsiteX87" fmla="*/ 27216 w 1416401"/>
              <a:gd name="connsiteY87" fmla="*/ 855785 h 1424354"/>
              <a:gd name="connsiteX88" fmla="*/ 33078 w 1416401"/>
              <a:gd name="connsiteY88" fmla="*/ 820615 h 1424354"/>
              <a:gd name="connsiteX89" fmla="*/ 50662 w 1416401"/>
              <a:gd name="connsiteY89" fmla="*/ 779585 h 1424354"/>
              <a:gd name="connsiteX90" fmla="*/ 62385 w 1416401"/>
              <a:gd name="connsiteY90" fmla="*/ 738554 h 1424354"/>
              <a:gd name="connsiteX91" fmla="*/ 74108 w 1416401"/>
              <a:gd name="connsiteY91" fmla="*/ 715108 h 1424354"/>
              <a:gd name="connsiteX92" fmla="*/ 85832 w 1416401"/>
              <a:gd name="connsiteY92" fmla="*/ 674077 h 1424354"/>
              <a:gd name="connsiteX93" fmla="*/ 91693 w 1416401"/>
              <a:gd name="connsiteY93" fmla="*/ 656492 h 1424354"/>
              <a:gd name="connsiteX94" fmla="*/ 97555 w 1416401"/>
              <a:gd name="connsiteY94" fmla="*/ 627185 h 1424354"/>
              <a:gd name="connsiteX95" fmla="*/ 103416 w 1416401"/>
              <a:gd name="connsiteY95" fmla="*/ 609600 h 1424354"/>
              <a:gd name="connsiteX96" fmla="*/ 109278 w 1416401"/>
              <a:gd name="connsiteY96" fmla="*/ 586154 h 1424354"/>
              <a:gd name="connsiteX97" fmla="*/ 115139 w 1416401"/>
              <a:gd name="connsiteY97" fmla="*/ 556846 h 1424354"/>
              <a:gd name="connsiteX98" fmla="*/ 126862 w 1416401"/>
              <a:gd name="connsiteY98" fmla="*/ 521677 h 1424354"/>
              <a:gd name="connsiteX99" fmla="*/ 121001 w 1416401"/>
              <a:gd name="connsiteY99" fmla="*/ 322385 h 1424354"/>
              <a:gd name="connsiteX100" fmla="*/ 115139 w 1416401"/>
              <a:gd name="connsiteY100" fmla="*/ 304800 h 1424354"/>
              <a:gd name="connsiteX101" fmla="*/ 103416 w 1416401"/>
              <a:gd name="connsiteY101" fmla="*/ 281354 h 1424354"/>
              <a:gd name="connsiteX102" fmla="*/ 85832 w 1416401"/>
              <a:gd name="connsiteY102" fmla="*/ 263769 h 1424354"/>
              <a:gd name="connsiteX103" fmla="*/ 79970 w 1416401"/>
              <a:gd name="connsiteY103"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155426 w 1416401"/>
              <a:gd name="connsiteY75" fmla="*/ 1371600 h 1424354"/>
              <a:gd name="connsiteX76" fmla="*/ 126862 w 1416401"/>
              <a:gd name="connsiteY76" fmla="*/ 1312985 h 1424354"/>
              <a:gd name="connsiteX77" fmla="*/ 109278 w 1416401"/>
              <a:gd name="connsiteY77" fmla="*/ 1307123 h 1424354"/>
              <a:gd name="connsiteX78" fmla="*/ 79970 w 1416401"/>
              <a:gd name="connsiteY78" fmla="*/ 1283677 h 1424354"/>
              <a:gd name="connsiteX79" fmla="*/ 50662 w 1416401"/>
              <a:gd name="connsiteY79" fmla="*/ 1248508 h 1424354"/>
              <a:gd name="connsiteX80" fmla="*/ 33078 w 1416401"/>
              <a:gd name="connsiteY80" fmla="*/ 1230923 h 1424354"/>
              <a:gd name="connsiteX81" fmla="*/ 21355 w 1416401"/>
              <a:gd name="connsiteY81" fmla="*/ 1189892 h 1424354"/>
              <a:gd name="connsiteX82" fmla="*/ 9632 w 1416401"/>
              <a:gd name="connsiteY82" fmla="*/ 1143000 h 1424354"/>
              <a:gd name="connsiteX83" fmla="*/ 9632 w 1416401"/>
              <a:gd name="connsiteY83" fmla="*/ 943708 h 1424354"/>
              <a:gd name="connsiteX84" fmla="*/ 15493 w 1416401"/>
              <a:gd name="connsiteY84" fmla="*/ 926123 h 1424354"/>
              <a:gd name="connsiteX85" fmla="*/ 21355 w 1416401"/>
              <a:gd name="connsiteY85" fmla="*/ 873369 h 1424354"/>
              <a:gd name="connsiteX86" fmla="*/ 27216 w 1416401"/>
              <a:gd name="connsiteY86" fmla="*/ 855785 h 1424354"/>
              <a:gd name="connsiteX87" fmla="*/ 33078 w 1416401"/>
              <a:gd name="connsiteY87" fmla="*/ 820615 h 1424354"/>
              <a:gd name="connsiteX88" fmla="*/ 50662 w 1416401"/>
              <a:gd name="connsiteY88" fmla="*/ 779585 h 1424354"/>
              <a:gd name="connsiteX89" fmla="*/ 62385 w 1416401"/>
              <a:gd name="connsiteY89" fmla="*/ 738554 h 1424354"/>
              <a:gd name="connsiteX90" fmla="*/ 74108 w 1416401"/>
              <a:gd name="connsiteY90" fmla="*/ 715108 h 1424354"/>
              <a:gd name="connsiteX91" fmla="*/ 85832 w 1416401"/>
              <a:gd name="connsiteY91" fmla="*/ 674077 h 1424354"/>
              <a:gd name="connsiteX92" fmla="*/ 91693 w 1416401"/>
              <a:gd name="connsiteY92" fmla="*/ 656492 h 1424354"/>
              <a:gd name="connsiteX93" fmla="*/ 97555 w 1416401"/>
              <a:gd name="connsiteY93" fmla="*/ 627185 h 1424354"/>
              <a:gd name="connsiteX94" fmla="*/ 103416 w 1416401"/>
              <a:gd name="connsiteY94" fmla="*/ 609600 h 1424354"/>
              <a:gd name="connsiteX95" fmla="*/ 109278 w 1416401"/>
              <a:gd name="connsiteY95" fmla="*/ 586154 h 1424354"/>
              <a:gd name="connsiteX96" fmla="*/ 115139 w 1416401"/>
              <a:gd name="connsiteY96" fmla="*/ 556846 h 1424354"/>
              <a:gd name="connsiteX97" fmla="*/ 126862 w 1416401"/>
              <a:gd name="connsiteY97" fmla="*/ 521677 h 1424354"/>
              <a:gd name="connsiteX98" fmla="*/ 121001 w 1416401"/>
              <a:gd name="connsiteY98" fmla="*/ 322385 h 1424354"/>
              <a:gd name="connsiteX99" fmla="*/ 115139 w 1416401"/>
              <a:gd name="connsiteY99" fmla="*/ 304800 h 1424354"/>
              <a:gd name="connsiteX100" fmla="*/ 103416 w 1416401"/>
              <a:gd name="connsiteY100" fmla="*/ 281354 h 1424354"/>
              <a:gd name="connsiteX101" fmla="*/ 85832 w 1416401"/>
              <a:gd name="connsiteY101" fmla="*/ 263769 h 1424354"/>
              <a:gd name="connsiteX102" fmla="*/ 79970 w 1416401"/>
              <a:gd name="connsiteY102"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155426 w 1416401"/>
              <a:gd name="connsiteY74" fmla="*/ 1371600 h 1424354"/>
              <a:gd name="connsiteX75" fmla="*/ 126862 w 1416401"/>
              <a:gd name="connsiteY75" fmla="*/ 1312985 h 1424354"/>
              <a:gd name="connsiteX76" fmla="*/ 109278 w 1416401"/>
              <a:gd name="connsiteY76" fmla="*/ 1307123 h 1424354"/>
              <a:gd name="connsiteX77" fmla="*/ 79970 w 1416401"/>
              <a:gd name="connsiteY77" fmla="*/ 1283677 h 1424354"/>
              <a:gd name="connsiteX78" fmla="*/ 50662 w 1416401"/>
              <a:gd name="connsiteY78" fmla="*/ 1248508 h 1424354"/>
              <a:gd name="connsiteX79" fmla="*/ 33078 w 1416401"/>
              <a:gd name="connsiteY79" fmla="*/ 1230923 h 1424354"/>
              <a:gd name="connsiteX80" fmla="*/ 21355 w 1416401"/>
              <a:gd name="connsiteY80" fmla="*/ 1189892 h 1424354"/>
              <a:gd name="connsiteX81" fmla="*/ 9632 w 1416401"/>
              <a:gd name="connsiteY81" fmla="*/ 1143000 h 1424354"/>
              <a:gd name="connsiteX82" fmla="*/ 9632 w 1416401"/>
              <a:gd name="connsiteY82" fmla="*/ 943708 h 1424354"/>
              <a:gd name="connsiteX83" fmla="*/ 15493 w 1416401"/>
              <a:gd name="connsiteY83" fmla="*/ 926123 h 1424354"/>
              <a:gd name="connsiteX84" fmla="*/ 21355 w 1416401"/>
              <a:gd name="connsiteY84" fmla="*/ 873369 h 1424354"/>
              <a:gd name="connsiteX85" fmla="*/ 27216 w 1416401"/>
              <a:gd name="connsiteY85" fmla="*/ 855785 h 1424354"/>
              <a:gd name="connsiteX86" fmla="*/ 33078 w 1416401"/>
              <a:gd name="connsiteY86" fmla="*/ 820615 h 1424354"/>
              <a:gd name="connsiteX87" fmla="*/ 50662 w 1416401"/>
              <a:gd name="connsiteY87" fmla="*/ 779585 h 1424354"/>
              <a:gd name="connsiteX88" fmla="*/ 62385 w 1416401"/>
              <a:gd name="connsiteY88" fmla="*/ 738554 h 1424354"/>
              <a:gd name="connsiteX89" fmla="*/ 74108 w 1416401"/>
              <a:gd name="connsiteY89" fmla="*/ 715108 h 1424354"/>
              <a:gd name="connsiteX90" fmla="*/ 85832 w 1416401"/>
              <a:gd name="connsiteY90" fmla="*/ 674077 h 1424354"/>
              <a:gd name="connsiteX91" fmla="*/ 91693 w 1416401"/>
              <a:gd name="connsiteY91" fmla="*/ 656492 h 1424354"/>
              <a:gd name="connsiteX92" fmla="*/ 97555 w 1416401"/>
              <a:gd name="connsiteY92" fmla="*/ 627185 h 1424354"/>
              <a:gd name="connsiteX93" fmla="*/ 103416 w 1416401"/>
              <a:gd name="connsiteY93" fmla="*/ 609600 h 1424354"/>
              <a:gd name="connsiteX94" fmla="*/ 109278 w 1416401"/>
              <a:gd name="connsiteY94" fmla="*/ 586154 h 1424354"/>
              <a:gd name="connsiteX95" fmla="*/ 115139 w 1416401"/>
              <a:gd name="connsiteY95" fmla="*/ 556846 h 1424354"/>
              <a:gd name="connsiteX96" fmla="*/ 126862 w 1416401"/>
              <a:gd name="connsiteY96" fmla="*/ 521677 h 1424354"/>
              <a:gd name="connsiteX97" fmla="*/ 121001 w 1416401"/>
              <a:gd name="connsiteY97" fmla="*/ 322385 h 1424354"/>
              <a:gd name="connsiteX98" fmla="*/ 115139 w 1416401"/>
              <a:gd name="connsiteY98" fmla="*/ 304800 h 1424354"/>
              <a:gd name="connsiteX99" fmla="*/ 103416 w 1416401"/>
              <a:gd name="connsiteY99" fmla="*/ 281354 h 1424354"/>
              <a:gd name="connsiteX100" fmla="*/ 85832 w 1416401"/>
              <a:gd name="connsiteY100" fmla="*/ 263769 h 1424354"/>
              <a:gd name="connsiteX101" fmla="*/ 79970 w 1416401"/>
              <a:gd name="connsiteY101"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155426 w 1416401"/>
              <a:gd name="connsiteY73" fmla="*/ 1371600 h 1424354"/>
              <a:gd name="connsiteX74" fmla="*/ 126862 w 1416401"/>
              <a:gd name="connsiteY74" fmla="*/ 1312985 h 1424354"/>
              <a:gd name="connsiteX75" fmla="*/ 109278 w 1416401"/>
              <a:gd name="connsiteY75" fmla="*/ 1307123 h 1424354"/>
              <a:gd name="connsiteX76" fmla="*/ 79970 w 1416401"/>
              <a:gd name="connsiteY76" fmla="*/ 1283677 h 1424354"/>
              <a:gd name="connsiteX77" fmla="*/ 50662 w 1416401"/>
              <a:gd name="connsiteY77" fmla="*/ 1248508 h 1424354"/>
              <a:gd name="connsiteX78" fmla="*/ 33078 w 1416401"/>
              <a:gd name="connsiteY78" fmla="*/ 1230923 h 1424354"/>
              <a:gd name="connsiteX79" fmla="*/ 21355 w 1416401"/>
              <a:gd name="connsiteY79" fmla="*/ 1189892 h 1424354"/>
              <a:gd name="connsiteX80" fmla="*/ 9632 w 1416401"/>
              <a:gd name="connsiteY80" fmla="*/ 1143000 h 1424354"/>
              <a:gd name="connsiteX81" fmla="*/ 9632 w 1416401"/>
              <a:gd name="connsiteY81" fmla="*/ 943708 h 1424354"/>
              <a:gd name="connsiteX82" fmla="*/ 15493 w 1416401"/>
              <a:gd name="connsiteY82" fmla="*/ 926123 h 1424354"/>
              <a:gd name="connsiteX83" fmla="*/ 21355 w 1416401"/>
              <a:gd name="connsiteY83" fmla="*/ 873369 h 1424354"/>
              <a:gd name="connsiteX84" fmla="*/ 27216 w 1416401"/>
              <a:gd name="connsiteY84" fmla="*/ 855785 h 1424354"/>
              <a:gd name="connsiteX85" fmla="*/ 33078 w 1416401"/>
              <a:gd name="connsiteY85" fmla="*/ 820615 h 1424354"/>
              <a:gd name="connsiteX86" fmla="*/ 50662 w 1416401"/>
              <a:gd name="connsiteY86" fmla="*/ 779585 h 1424354"/>
              <a:gd name="connsiteX87" fmla="*/ 62385 w 1416401"/>
              <a:gd name="connsiteY87" fmla="*/ 738554 h 1424354"/>
              <a:gd name="connsiteX88" fmla="*/ 74108 w 1416401"/>
              <a:gd name="connsiteY88" fmla="*/ 715108 h 1424354"/>
              <a:gd name="connsiteX89" fmla="*/ 85832 w 1416401"/>
              <a:gd name="connsiteY89" fmla="*/ 674077 h 1424354"/>
              <a:gd name="connsiteX90" fmla="*/ 91693 w 1416401"/>
              <a:gd name="connsiteY90" fmla="*/ 656492 h 1424354"/>
              <a:gd name="connsiteX91" fmla="*/ 97555 w 1416401"/>
              <a:gd name="connsiteY91" fmla="*/ 627185 h 1424354"/>
              <a:gd name="connsiteX92" fmla="*/ 103416 w 1416401"/>
              <a:gd name="connsiteY92" fmla="*/ 609600 h 1424354"/>
              <a:gd name="connsiteX93" fmla="*/ 109278 w 1416401"/>
              <a:gd name="connsiteY93" fmla="*/ 586154 h 1424354"/>
              <a:gd name="connsiteX94" fmla="*/ 115139 w 1416401"/>
              <a:gd name="connsiteY94" fmla="*/ 556846 h 1424354"/>
              <a:gd name="connsiteX95" fmla="*/ 126862 w 1416401"/>
              <a:gd name="connsiteY95" fmla="*/ 521677 h 1424354"/>
              <a:gd name="connsiteX96" fmla="*/ 121001 w 1416401"/>
              <a:gd name="connsiteY96" fmla="*/ 322385 h 1424354"/>
              <a:gd name="connsiteX97" fmla="*/ 115139 w 1416401"/>
              <a:gd name="connsiteY97" fmla="*/ 304800 h 1424354"/>
              <a:gd name="connsiteX98" fmla="*/ 103416 w 1416401"/>
              <a:gd name="connsiteY98" fmla="*/ 281354 h 1424354"/>
              <a:gd name="connsiteX99" fmla="*/ 85832 w 1416401"/>
              <a:gd name="connsiteY99" fmla="*/ 263769 h 1424354"/>
              <a:gd name="connsiteX100" fmla="*/ 79970 w 1416401"/>
              <a:gd name="connsiteY100"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155426 w 1416401"/>
              <a:gd name="connsiteY72" fmla="*/ 1371600 h 1424354"/>
              <a:gd name="connsiteX73" fmla="*/ 126862 w 1416401"/>
              <a:gd name="connsiteY73" fmla="*/ 1312985 h 1424354"/>
              <a:gd name="connsiteX74" fmla="*/ 109278 w 1416401"/>
              <a:gd name="connsiteY74" fmla="*/ 1307123 h 1424354"/>
              <a:gd name="connsiteX75" fmla="*/ 79970 w 1416401"/>
              <a:gd name="connsiteY75" fmla="*/ 1283677 h 1424354"/>
              <a:gd name="connsiteX76" fmla="*/ 50662 w 1416401"/>
              <a:gd name="connsiteY76" fmla="*/ 1248508 h 1424354"/>
              <a:gd name="connsiteX77" fmla="*/ 33078 w 1416401"/>
              <a:gd name="connsiteY77" fmla="*/ 1230923 h 1424354"/>
              <a:gd name="connsiteX78" fmla="*/ 21355 w 1416401"/>
              <a:gd name="connsiteY78" fmla="*/ 1189892 h 1424354"/>
              <a:gd name="connsiteX79" fmla="*/ 9632 w 1416401"/>
              <a:gd name="connsiteY79" fmla="*/ 1143000 h 1424354"/>
              <a:gd name="connsiteX80" fmla="*/ 9632 w 1416401"/>
              <a:gd name="connsiteY80" fmla="*/ 943708 h 1424354"/>
              <a:gd name="connsiteX81" fmla="*/ 15493 w 1416401"/>
              <a:gd name="connsiteY81" fmla="*/ 926123 h 1424354"/>
              <a:gd name="connsiteX82" fmla="*/ 21355 w 1416401"/>
              <a:gd name="connsiteY82" fmla="*/ 873369 h 1424354"/>
              <a:gd name="connsiteX83" fmla="*/ 27216 w 1416401"/>
              <a:gd name="connsiteY83" fmla="*/ 855785 h 1424354"/>
              <a:gd name="connsiteX84" fmla="*/ 33078 w 1416401"/>
              <a:gd name="connsiteY84" fmla="*/ 820615 h 1424354"/>
              <a:gd name="connsiteX85" fmla="*/ 50662 w 1416401"/>
              <a:gd name="connsiteY85" fmla="*/ 779585 h 1424354"/>
              <a:gd name="connsiteX86" fmla="*/ 62385 w 1416401"/>
              <a:gd name="connsiteY86" fmla="*/ 738554 h 1424354"/>
              <a:gd name="connsiteX87" fmla="*/ 74108 w 1416401"/>
              <a:gd name="connsiteY87" fmla="*/ 715108 h 1424354"/>
              <a:gd name="connsiteX88" fmla="*/ 85832 w 1416401"/>
              <a:gd name="connsiteY88" fmla="*/ 674077 h 1424354"/>
              <a:gd name="connsiteX89" fmla="*/ 91693 w 1416401"/>
              <a:gd name="connsiteY89" fmla="*/ 656492 h 1424354"/>
              <a:gd name="connsiteX90" fmla="*/ 97555 w 1416401"/>
              <a:gd name="connsiteY90" fmla="*/ 627185 h 1424354"/>
              <a:gd name="connsiteX91" fmla="*/ 103416 w 1416401"/>
              <a:gd name="connsiteY91" fmla="*/ 609600 h 1424354"/>
              <a:gd name="connsiteX92" fmla="*/ 109278 w 1416401"/>
              <a:gd name="connsiteY92" fmla="*/ 586154 h 1424354"/>
              <a:gd name="connsiteX93" fmla="*/ 115139 w 1416401"/>
              <a:gd name="connsiteY93" fmla="*/ 556846 h 1424354"/>
              <a:gd name="connsiteX94" fmla="*/ 126862 w 1416401"/>
              <a:gd name="connsiteY94" fmla="*/ 521677 h 1424354"/>
              <a:gd name="connsiteX95" fmla="*/ 121001 w 1416401"/>
              <a:gd name="connsiteY95" fmla="*/ 322385 h 1424354"/>
              <a:gd name="connsiteX96" fmla="*/ 115139 w 1416401"/>
              <a:gd name="connsiteY96" fmla="*/ 304800 h 1424354"/>
              <a:gd name="connsiteX97" fmla="*/ 103416 w 1416401"/>
              <a:gd name="connsiteY97" fmla="*/ 281354 h 1424354"/>
              <a:gd name="connsiteX98" fmla="*/ 85832 w 1416401"/>
              <a:gd name="connsiteY98" fmla="*/ 263769 h 1424354"/>
              <a:gd name="connsiteX99" fmla="*/ 79970 w 1416401"/>
              <a:gd name="connsiteY99"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155426 w 1416401"/>
              <a:gd name="connsiteY72" fmla="*/ 1371600 h 1424354"/>
              <a:gd name="connsiteX73" fmla="*/ 126862 w 1416401"/>
              <a:gd name="connsiteY73" fmla="*/ 1312985 h 1424354"/>
              <a:gd name="connsiteX74" fmla="*/ 79970 w 1416401"/>
              <a:gd name="connsiteY74" fmla="*/ 1283677 h 1424354"/>
              <a:gd name="connsiteX75" fmla="*/ 50662 w 1416401"/>
              <a:gd name="connsiteY75" fmla="*/ 1248508 h 1424354"/>
              <a:gd name="connsiteX76" fmla="*/ 33078 w 1416401"/>
              <a:gd name="connsiteY76" fmla="*/ 1230923 h 1424354"/>
              <a:gd name="connsiteX77" fmla="*/ 21355 w 1416401"/>
              <a:gd name="connsiteY77" fmla="*/ 1189892 h 1424354"/>
              <a:gd name="connsiteX78" fmla="*/ 9632 w 1416401"/>
              <a:gd name="connsiteY78" fmla="*/ 1143000 h 1424354"/>
              <a:gd name="connsiteX79" fmla="*/ 9632 w 1416401"/>
              <a:gd name="connsiteY79" fmla="*/ 943708 h 1424354"/>
              <a:gd name="connsiteX80" fmla="*/ 15493 w 1416401"/>
              <a:gd name="connsiteY80" fmla="*/ 926123 h 1424354"/>
              <a:gd name="connsiteX81" fmla="*/ 21355 w 1416401"/>
              <a:gd name="connsiteY81" fmla="*/ 873369 h 1424354"/>
              <a:gd name="connsiteX82" fmla="*/ 27216 w 1416401"/>
              <a:gd name="connsiteY82" fmla="*/ 855785 h 1424354"/>
              <a:gd name="connsiteX83" fmla="*/ 33078 w 1416401"/>
              <a:gd name="connsiteY83" fmla="*/ 820615 h 1424354"/>
              <a:gd name="connsiteX84" fmla="*/ 50662 w 1416401"/>
              <a:gd name="connsiteY84" fmla="*/ 779585 h 1424354"/>
              <a:gd name="connsiteX85" fmla="*/ 62385 w 1416401"/>
              <a:gd name="connsiteY85" fmla="*/ 738554 h 1424354"/>
              <a:gd name="connsiteX86" fmla="*/ 74108 w 1416401"/>
              <a:gd name="connsiteY86" fmla="*/ 715108 h 1424354"/>
              <a:gd name="connsiteX87" fmla="*/ 85832 w 1416401"/>
              <a:gd name="connsiteY87" fmla="*/ 674077 h 1424354"/>
              <a:gd name="connsiteX88" fmla="*/ 91693 w 1416401"/>
              <a:gd name="connsiteY88" fmla="*/ 656492 h 1424354"/>
              <a:gd name="connsiteX89" fmla="*/ 97555 w 1416401"/>
              <a:gd name="connsiteY89" fmla="*/ 627185 h 1424354"/>
              <a:gd name="connsiteX90" fmla="*/ 103416 w 1416401"/>
              <a:gd name="connsiteY90" fmla="*/ 609600 h 1424354"/>
              <a:gd name="connsiteX91" fmla="*/ 109278 w 1416401"/>
              <a:gd name="connsiteY91" fmla="*/ 586154 h 1424354"/>
              <a:gd name="connsiteX92" fmla="*/ 115139 w 1416401"/>
              <a:gd name="connsiteY92" fmla="*/ 556846 h 1424354"/>
              <a:gd name="connsiteX93" fmla="*/ 126862 w 1416401"/>
              <a:gd name="connsiteY93" fmla="*/ 521677 h 1424354"/>
              <a:gd name="connsiteX94" fmla="*/ 121001 w 1416401"/>
              <a:gd name="connsiteY94" fmla="*/ 322385 h 1424354"/>
              <a:gd name="connsiteX95" fmla="*/ 115139 w 1416401"/>
              <a:gd name="connsiteY95" fmla="*/ 304800 h 1424354"/>
              <a:gd name="connsiteX96" fmla="*/ 103416 w 1416401"/>
              <a:gd name="connsiteY96" fmla="*/ 281354 h 1424354"/>
              <a:gd name="connsiteX97" fmla="*/ 85832 w 1416401"/>
              <a:gd name="connsiteY97" fmla="*/ 263769 h 1424354"/>
              <a:gd name="connsiteX98" fmla="*/ 79970 w 1416401"/>
              <a:gd name="connsiteY98"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155426 w 1416401"/>
              <a:gd name="connsiteY72" fmla="*/ 1371600 h 1424354"/>
              <a:gd name="connsiteX73" fmla="*/ 126862 w 1416401"/>
              <a:gd name="connsiteY73" fmla="*/ 1312985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115139 w 1416401"/>
              <a:gd name="connsiteY94" fmla="*/ 304800 h 1424354"/>
              <a:gd name="connsiteX95" fmla="*/ 103416 w 1416401"/>
              <a:gd name="connsiteY95" fmla="*/ 281354 h 1424354"/>
              <a:gd name="connsiteX96" fmla="*/ 85832 w 1416401"/>
              <a:gd name="connsiteY96" fmla="*/ 263769 h 1424354"/>
              <a:gd name="connsiteX97" fmla="*/ 79970 w 1416401"/>
              <a:gd name="connsiteY9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115139 w 1416401"/>
              <a:gd name="connsiteY94" fmla="*/ 304800 h 1424354"/>
              <a:gd name="connsiteX95" fmla="*/ 103416 w 1416401"/>
              <a:gd name="connsiteY95" fmla="*/ 281354 h 1424354"/>
              <a:gd name="connsiteX96" fmla="*/ 85832 w 1416401"/>
              <a:gd name="connsiteY96" fmla="*/ 263769 h 1424354"/>
              <a:gd name="connsiteX97" fmla="*/ 79970 w 1416401"/>
              <a:gd name="connsiteY9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115139 w 1416401"/>
              <a:gd name="connsiteY94" fmla="*/ 304800 h 1424354"/>
              <a:gd name="connsiteX95" fmla="*/ 103416 w 1416401"/>
              <a:gd name="connsiteY95" fmla="*/ 281354 h 1424354"/>
              <a:gd name="connsiteX96" fmla="*/ 85832 w 1416401"/>
              <a:gd name="connsiteY96" fmla="*/ 263769 h 1424354"/>
              <a:gd name="connsiteX97" fmla="*/ 79970 w 1416401"/>
              <a:gd name="connsiteY9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115139 w 1416401"/>
              <a:gd name="connsiteY94" fmla="*/ 304800 h 1424354"/>
              <a:gd name="connsiteX95" fmla="*/ 83418 w 1416401"/>
              <a:gd name="connsiteY95" fmla="*/ 291480 h 1424354"/>
              <a:gd name="connsiteX96" fmla="*/ 85832 w 1416401"/>
              <a:gd name="connsiteY96" fmla="*/ 263769 h 1424354"/>
              <a:gd name="connsiteX97" fmla="*/ 79970 w 1416401"/>
              <a:gd name="connsiteY9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83418 w 1416401"/>
              <a:gd name="connsiteY94" fmla="*/ 291480 h 1424354"/>
              <a:gd name="connsiteX95" fmla="*/ 85832 w 1416401"/>
              <a:gd name="connsiteY95" fmla="*/ 263769 h 1424354"/>
              <a:gd name="connsiteX96" fmla="*/ 79970 w 1416401"/>
              <a:gd name="connsiteY96"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83418 w 1416401"/>
              <a:gd name="connsiteY93" fmla="*/ 291480 h 1424354"/>
              <a:gd name="connsiteX94" fmla="*/ 85832 w 1416401"/>
              <a:gd name="connsiteY94" fmla="*/ 263769 h 1424354"/>
              <a:gd name="connsiteX95" fmla="*/ 79970 w 1416401"/>
              <a:gd name="connsiteY95"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83418 w 1416401"/>
              <a:gd name="connsiteY92" fmla="*/ 291480 h 1424354"/>
              <a:gd name="connsiteX93" fmla="*/ 85832 w 1416401"/>
              <a:gd name="connsiteY93" fmla="*/ 263769 h 1424354"/>
              <a:gd name="connsiteX94" fmla="*/ 79970 w 1416401"/>
              <a:gd name="connsiteY94"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83418 w 1416401"/>
              <a:gd name="connsiteY91" fmla="*/ 435496 h 1424354"/>
              <a:gd name="connsiteX92" fmla="*/ 83418 w 1416401"/>
              <a:gd name="connsiteY92" fmla="*/ 291480 h 1424354"/>
              <a:gd name="connsiteX93" fmla="*/ 85832 w 1416401"/>
              <a:gd name="connsiteY93" fmla="*/ 263769 h 1424354"/>
              <a:gd name="connsiteX94" fmla="*/ 79970 w 1416401"/>
              <a:gd name="connsiteY94"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2366 w 1416401"/>
              <a:gd name="connsiteY90" fmla="*/ 546969 h 1424354"/>
              <a:gd name="connsiteX91" fmla="*/ 83418 w 1416401"/>
              <a:gd name="connsiteY91" fmla="*/ 435496 h 1424354"/>
              <a:gd name="connsiteX92" fmla="*/ 83418 w 1416401"/>
              <a:gd name="connsiteY92" fmla="*/ 291480 h 1424354"/>
              <a:gd name="connsiteX93" fmla="*/ 85832 w 1416401"/>
              <a:gd name="connsiteY93" fmla="*/ 263769 h 1424354"/>
              <a:gd name="connsiteX94" fmla="*/ 79970 w 1416401"/>
              <a:gd name="connsiteY94"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87093 w 1416401"/>
              <a:gd name="connsiteY55" fmla="*/ 1219200 h 1424354"/>
              <a:gd name="connsiteX56" fmla="*/ 1381232 w 1416401"/>
              <a:gd name="connsiteY56" fmla="*/ 1289538 h 1424354"/>
              <a:gd name="connsiteX57" fmla="*/ 1351924 w 1416401"/>
              <a:gd name="connsiteY57" fmla="*/ 1330569 h 1424354"/>
              <a:gd name="connsiteX58" fmla="*/ 1322616 w 1416401"/>
              <a:gd name="connsiteY58" fmla="*/ 1359877 h 1424354"/>
              <a:gd name="connsiteX59" fmla="*/ 1287447 w 1416401"/>
              <a:gd name="connsiteY59" fmla="*/ 1383323 h 1424354"/>
              <a:gd name="connsiteX60" fmla="*/ 1269862 w 1416401"/>
              <a:gd name="connsiteY60" fmla="*/ 1395046 h 1424354"/>
              <a:gd name="connsiteX61" fmla="*/ 1234693 w 1416401"/>
              <a:gd name="connsiteY61" fmla="*/ 1406769 h 1424354"/>
              <a:gd name="connsiteX62" fmla="*/ 1217108 w 1416401"/>
              <a:gd name="connsiteY62" fmla="*/ 1412631 h 1424354"/>
              <a:gd name="connsiteX63" fmla="*/ 1176078 w 1416401"/>
              <a:gd name="connsiteY63" fmla="*/ 1418492 h 1424354"/>
              <a:gd name="connsiteX64" fmla="*/ 1140908 w 1416401"/>
              <a:gd name="connsiteY64" fmla="*/ 1424354 h 1424354"/>
              <a:gd name="connsiteX65" fmla="*/ 900585 w 1416401"/>
              <a:gd name="connsiteY65" fmla="*/ 1418492 h 1424354"/>
              <a:gd name="connsiteX66" fmla="*/ 883001 w 1416401"/>
              <a:gd name="connsiteY66" fmla="*/ 1412631 h 1424354"/>
              <a:gd name="connsiteX67" fmla="*/ 800939 w 1416401"/>
              <a:gd name="connsiteY67" fmla="*/ 1406769 h 1424354"/>
              <a:gd name="connsiteX68" fmla="*/ 630955 w 1416401"/>
              <a:gd name="connsiteY68" fmla="*/ 1400908 h 1424354"/>
              <a:gd name="connsiteX69" fmla="*/ 572339 w 1416401"/>
              <a:gd name="connsiteY69" fmla="*/ 1395046 h 1424354"/>
              <a:gd name="connsiteX70" fmla="*/ 476812 w 1416401"/>
              <a:gd name="connsiteY70" fmla="*/ 1400908 h 1424354"/>
              <a:gd name="connsiteX71" fmla="*/ 155426 w 1416401"/>
              <a:gd name="connsiteY71" fmla="*/ 1371600 h 1424354"/>
              <a:gd name="connsiteX72" fmla="*/ 83418 w 1416401"/>
              <a:gd name="connsiteY72" fmla="*/ 1299592 h 1424354"/>
              <a:gd name="connsiteX73" fmla="*/ 50662 w 1416401"/>
              <a:gd name="connsiteY73" fmla="*/ 1248508 h 1424354"/>
              <a:gd name="connsiteX74" fmla="*/ 33078 w 1416401"/>
              <a:gd name="connsiteY74" fmla="*/ 1230923 h 1424354"/>
              <a:gd name="connsiteX75" fmla="*/ 21355 w 1416401"/>
              <a:gd name="connsiteY75" fmla="*/ 1189892 h 1424354"/>
              <a:gd name="connsiteX76" fmla="*/ 9632 w 1416401"/>
              <a:gd name="connsiteY76" fmla="*/ 1143000 h 1424354"/>
              <a:gd name="connsiteX77" fmla="*/ 9632 w 1416401"/>
              <a:gd name="connsiteY77" fmla="*/ 943708 h 1424354"/>
              <a:gd name="connsiteX78" fmla="*/ 15493 w 1416401"/>
              <a:gd name="connsiteY78" fmla="*/ 926123 h 1424354"/>
              <a:gd name="connsiteX79" fmla="*/ 21355 w 1416401"/>
              <a:gd name="connsiteY79" fmla="*/ 873369 h 1424354"/>
              <a:gd name="connsiteX80" fmla="*/ 27216 w 1416401"/>
              <a:gd name="connsiteY80" fmla="*/ 855785 h 1424354"/>
              <a:gd name="connsiteX81" fmla="*/ 33078 w 1416401"/>
              <a:gd name="connsiteY81" fmla="*/ 820615 h 1424354"/>
              <a:gd name="connsiteX82" fmla="*/ 50662 w 1416401"/>
              <a:gd name="connsiteY82" fmla="*/ 779585 h 1424354"/>
              <a:gd name="connsiteX83" fmla="*/ 62385 w 1416401"/>
              <a:gd name="connsiteY83" fmla="*/ 738554 h 1424354"/>
              <a:gd name="connsiteX84" fmla="*/ 74108 w 1416401"/>
              <a:gd name="connsiteY84" fmla="*/ 715108 h 1424354"/>
              <a:gd name="connsiteX85" fmla="*/ 85832 w 1416401"/>
              <a:gd name="connsiteY85" fmla="*/ 674077 h 1424354"/>
              <a:gd name="connsiteX86" fmla="*/ 91693 w 1416401"/>
              <a:gd name="connsiteY86" fmla="*/ 656492 h 1424354"/>
              <a:gd name="connsiteX87" fmla="*/ 97555 w 1416401"/>
              <a:gd name="connsiteY87" fmla="*/ 627185 h 1424354"/>
              <a:gd name="connsiteX88" fmla="*/ 103416 w 1416401"/>
              <a:gd name="connsiteY88" fmla="*/ 609600 h 1424354"/>
              <a:gd name="connsiteX89" fmla="*/ 102366 w 1416401"/>
              <a:gd name="connsiteY89" fmla="*/ 546969 h 1424354"/>
              <a:gd name="connsiteX90" fmla="*/ 83418 w 1416401"/>
              <a:gd name="connsiteY90" fmla="*/ 435496 h 1424354"/>
              <a:gd name="connsiteX91" fmla="*/ 83418 w 1416401"/>
              <a:gd name="connsiteY91" fmla="*/ 291480 h 1424354"/>
              <a:gd name="connsiteX92" fmla="*/ 85832 w 1416401"/>
              <a:gd name="connsiteY92" fmla="*/ 263769 h 1424354"/>
              <a:gd name="connsiteX93" fmla="*/ 79970 w 1416401"/>
              <a:gd name="connsiteY93"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81232 w 1416401"/>
              <a:gd name="connsiteY55" fmla="*/ 1289538 h 1424354"/>
              <a:gd name="connsiteX56" fmla="*/ 1351924 w 1416401"/>
              <a:gd name="connsiteY56" fmla="*/ 1330569 h 1424354"/>
              <a:gd name="connsiteX57" fmla="*/ 1322616 w 1416401"/>
              <a:gd name="connsiteY57" fmla="*/ 1359877 h 1424354"/>
              <a:gd name="connsiteX58" fmla="*/ 1287447 w 1416401"/>
              <a:gd name="connsiteY58" fmla="*/ 1383323 h 1424354"/>
              <a:gd name="connsiteX59" fmla="*/ 1269862 w 1416401"/>
              <a:gd name="connsiteY59" fmla="*/ 1395046 h 1424354"/>
              <a:gd name="connsiteX60" fmla="*/ 1234693 w 1416401"/>
              <a:gd name="connsiteY60" fmla="*/ 1406769 h 1424354"/>
              <a:gd name="connsiteX61" fmla="*/ 1217108 w 1416401"/>
              <a:gd name="connsiteY61" fmla="*/ 1412631 h 1424354"/>
              <a:gd name="connsiteX62" fmla="*/ 1176078 w 1416401"/>
              <a:gd name="connsiteY62" fmla="*/ 1418492 h 1424354"/>
              <a:gd name="connsiteX63" fmla="*/ 1140908 w 1416401"/>
              <a:gd name="connsiteY63" fmla="*/ 1424354 h 1424354"/>
              <a:gd name="connsiteX64" fmla="*/ 900585 w 1416401"/>
              <a:gd name="connsiteY64" fmla="*/ 1418492 h 1424354"/>
              <a:gd name="connsiteX65" fmla="*/ 883001 w 1416401"/>
              <a:gd name="connsiteY65" fmla="*/ 1412631 h 1424354"/>
              <a:gd name="connsiteX66" fmla="*/ 800939 w 1416401"/>
              <a:gd name="connsiteY66" fmla="*/ 1406769 h 1424354"/>
              <a:gd name="connsiteX67" fmla="*/ 630955 w 1416401"/>
              <a:gd name="connsiteY67" fmla="*/ 1400908 h 1424354"/>
              <a:gd name="connsiteX68" fmla="*/ 572339 w 1416401"/>
              <a:gd name="connsiteY68" fmla="*/ 1395046 h 1424354"/>
              <a:gd name="connsiteX69" fmla="*/ 476812 w 1416401"/>
              <a:gd name="connsiteY69" fmla="*/ 1400908 h 1424354"/>
              <a:gd name="connsiteX70" fmla="*/ 155426 w 1416401"/>
              <a:gd name="connsiteY70" fmla="*/ 1371600 h 1424354"/>
              <a:gd name="connsiteX71" fmla="*/ 83418 w 1416401"/>
              <a:gd name="connsiteY71" fmla="*/ 1299592 h 1424354"/>
              <a:gd name="connsiteX72" fmla="*/ 50662 w 1416401"/>
              <a:gd name="connsiteY72" fmla="*/ 1248508 h 1424354"/>
              <a:gd name="connsiteX73" fmla="*/ 33078 w 1416401"/>
              <a:gd name="connsiteY73" fmla="*/ 1230923 h 1424354"/>
              <a:gd name="connsiteX74" fmla="*/ 21355 w 1416401"/>
              <a:gd name="connsiteY74" fmla="*/ 1189892 h 1424354"/>
              <a:gd name="connsiteX75" fmla="*/ 9632 w 1416401"/>
              <a:gd name="connsiteY75" fmla="*/ 1143000 h 1424354"/>
              <a:gd name="connsiteX76" fmla="*/ 9632 w 1416401"/>
              <a:gd name="connsiteY76" fmla="*/ 943708 h 1424354"/>
              <a:gd name="connsiteX77" fmla="*/ 15493 w 1416401"/>
              <a:gd name="connsiteY77" fmla="*/ 926123 h 1424354"/>
              <a:gd name="connsiteX78" fmla="*/ 21355 w 1416401"/>
              <a:gd name="connsiteY78" fmla="*/ 873369 h 1424354"/>
              <a:gd name="connsiteX79" fmla="*/ 27216 w 1416401"/>
              <a:gd name="connsiteY79" fmla="*/ 855785 h 1424354"/>
              <a:gd name="connsiteX80" fmla="*/ 33078 w 1416401"/>
              <a:gd name="connsiteY80" fmla="*/ 820615 h 1424354"/>
              <a:gd name="connsiteX81" fmla="*/ 50662 w 1416401"/>
              <a:gd name="connsiteY81" fmla="*/ 779585 h 1424354"/>
              <a:gd name="connsiteX82" fmla="*/ 62385 w 1416401"/>
              <a:gd name="connsiteY82" fmla="*/ 738554 h 1424354"/>
              <a:gd name="connsiteX83" fmla="*/ 74108 w 1416401"/>
              <a:gd name="connsiteY83" fmla="*/ 715108 h 1424354"/>
              <a:gd name="connsiteX84" fmla="*/ 85832 w 1416401"/>
              <a:gd name="connsiteY84" fmla="*/ 674077 h 1424354"/>
              <a:gd name="connsiteX85" fmla="*/ 91693 w 1416401"/>
              <a:gd name="connsiteY85" fmla="*/ 656492 h 1424354"/>
              <a:gd name="connsiteX86" fmla="*/ 97555 w 1416401"/>
              <a:gd name="connsiteY86" fmla="*/ 627185 h 1424354"/>
              <a:gd name="connsiteX87" fmla="*/ 103416 w 1416401"/>
              <a:gd name="connsiteY87" fmla="*/ 609600 h 1424354"/>
              <a:gd name="connsiteX88" fmla="*/ 102366 w 1416401"/>
              <a:gd name="connsiteY88" fmla="*/ 546969 h 1424354"/>
              <a:gd name="connsiteX89" fmla="*/ 83418 w 1416401"/>
              <a:gd name="connsiteY89" fmla="*/ 435496 h 1424354"/>
              <a:gd name="connsiteX90" fmla="*/ 83418 w 1416401"/>
              <a:gd name="connsiteY90" fmla="*/ 291480 h 1424354"/>
              <a:gd name="connsiteX91" fmla="*/ 85832 w 1416401"/>
              <a:gd name="connsiteY91" fmla="*/ 263769 h 1424354"/>
              <a:gd name="connsiteX92" fmla="*/ 79970 w 1416401"/>
              <a:gd name="connsiteY92"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81232 w 1416401"/>
              <a:gd name="connsiteY54" fmla="*/ 1289538 h 1424354"/>
              <a:gd name="connsiteX55" fmla="*/ 1351924 w 1416401"/>
              <a:gd name="connsiteY55" fmla="*/ 1330569 h 1424354"/>
              <a:gd name="connsiteX56" fmla="*/ 1322616 w 1416401"/>
              <a:gd name="connsiteY56" fmla="*/ 1359877 h 1424354"/>
              <a:gd name="connsiteX57" fmla="*/ 1287447 w 1416401"/>
              <a:gd name="connsiteY57" fmla="*/ 1383323 h 1424354"/>
              <a:gd name="connsiteX58" fmla="*/ 1269862 w 1416401"/>
              <a:gd name="connsiteY58" fmla="*/ 1395046 h 1424354"/>
              <a:gd name="connsiteX59" fmla="*/ 1234693 w 1416401"/>
              <a:gd name="connsiteY59" fmla="*/ 1406769 h 1424354"/>
              <a:gd name="connsiteX60" fmla="*/ 1217108 w 1416401"/>
              <a:gd name="connsiteY60" fmla="*/ 1412631 h 1424354"/>
              <a:gd name="connsiteX61" fmla="*/ 1176078 w 1416401"/>
              <a:gd name="connsiteY61" fmla="*/ 1418492 h 1424354"/>
              <a:gd name="connsiteX62" fmla="*/ 1140908 w 1416401"/>
              <a:gd name="connsiteY62" fmla="*/ 1424354 h 1424354"/>
              <a:gd name="connsiteX63" fmla="*/ 900585 w 1416401"/>
              <a:gd name="connsiteY63" fmla="*/ 1418492 h 1424354"/>
              <a:gd name="connsiteX64" fmla="*/ 883001 w 1416401"/>
              <a:gd name="connsiteY64" fmla="*/ 1412631 h 1424354"/>
              <a:gd name="connsiteX65" fmla="*/ 800939 w 1416401"/>
              <a:gd name="connsiteY65" fmla="*/ 1406769 h 1424354"/>
              <a:gd name="connsiteX66" fmla="*/ 630955 w 1416401"/>
              <a:gd name="connsiteY66" fmla="*/ 1400908 h 1424354"/>
              <a:gd name="connsiteX67" fmla="*/ 572339 w 1416401"/>
              <a:gd name="connsiteY67" fmla="*/ 1395046 h 1424354"/>
              <a:gd name="connsiteX68" fmla="*/ 476812 w 1416401"/>
              <a:gd name="connsiteY68" fmla="*/ 1400908 h 1424354"/>
              <a:gd name="connsiteX69" fmla="*/ 155426 w 1416401"/>
              <a:gd name="connsiteY69" fmla="*/ 1371600 h 1424354"/>
              <a:gd name="connsiteX70" fmla="*/ 83418 w 1416401"/>
              <a:gd name="connsiteY70" fmla="*/ 1299592 h 1424354"/>
              <a:gd name="connsiteX71" fmla="*/ 50662 w 1416401"/>
              <a:gd name="connsiteY71" fmla="*/ 1248508 h 1424354"/>
              <a:gd name="connsiteX72" fmla="*/ 33078 w 1416401"/>
              <a:gd name="connsiteY72" fmla="*/ 1230923 h 1424354"/>
              <a:gd name="connsiteX73" fmla="*/ 21355 w 1416401"/>
              <a:gd name="connsiteY73" fmla="*/ 1189892 h 1424354"/>
              <a:gd name="connsiteX74" fmla="*/ 9632 w 1416401"/>
              <a:gd name="connsiteY74" fmla="*/ 1143000 h 1424354"/>
              <a:gd name="connsiteX75" fmla="*/ 9632 w 1416401"/>
              <a:gd name="connsiteY75" fmla="*/ 943708 h 1424354"/>
              <a:gd name="connsiteX76" fmla="*/ 15493 w 1416401"/>
              <a:gd name="connsiteY76" fmla="*/ 926123 h 1424354"/>
              <a:gd name="connsiteX77" fmla="*/ 21355 w 1416401"/>
              <a:gd name="connsiteY77" fmla="*/ 873369 h 1424354"/>
              <a:gd name="connsiteX78" fmla="*/ 27216 w 1416401"/>
              <a:gd name="connsiteY78" fmla="*/ 855785 h 1424354"/>
              <a:gd name="connsiteX79" fmla="*/ 33078 w 1416401"/>
              <a:gd name="connsiteY79" fmla="*/ 820615 h 1424354"/>
              <a:gd name="connsiteX80" fmla="*/ 50662 w 1416401"/>
              <a:gd name="connsiteY80" fmla="*/ 779585 h 1424354"/>
              <a:gd name="connsiteX81" fmla="*/ 62385 w 1416401"/>
              <a:gd name="connsiteY81" fmla="*/ 738554 h 1424354"/>
              <a:gd name="connsiteX82" fmla="*/ 74108 w 1416401"/>
              <a:gd name="connsiteY82" fmla="*/ 715108 h 1424354"/>
              <a:gd name="connsiteX83" fmla="*/ 85832 w 1416401"/>
              <a:gd name="connsiteY83" fmla="*/ 674077 h 1424354"/>
              <a:gd name="connsiteX84" fmla="*/ 91693 w 1416401"/>
              <a:gd name="connsiteY84" fmla="*/ 656492 h 1424354"/>
              <a:gd name="connsiteX85" fmla="*/ 97555 w 1416401"/>
              <a:gd name="connsiteY85" fmla="*/ 627185 h 1424354"/>
              <a:gd name="connsiteX86" fmla="*/ 103416 w 1416401"/>
              <a:gd name="connsiteY86" fmla="*/ 609600 h 1424354"/>
              <a:gd name="connsiteX87" fmla="*/ 102366 w 1416401"/>
              <a:gd name="connsiteY87" fmla="*/ 546969 h 1424354"/>
              <a:gd name="connsiteX88" fmla="*/ 83418 w 1416401"/>
              <a:gd name="connsiteY88" fmla="*/ 435496 h 1424354"/>
              <a:gd name="connsiteX89" fmla="*/ 83418 w 1416401"/>
              <a:gd name="connsiteY89" fmla="*/ 291480 h 1424354"/>
              <a:gd name="connsiteX90" fmla="*/ 85832 w 1416401"/>
              <a:gd name="connsiteY90" fmla="*/ 263769 h 1424354"/>
              <a:gd name="connsiteX91" fmla="*/ 79970 w 1416401"/>
              <a:gd name="connsiteY91"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51924 w 1416401"/>
              <a:gd name="connsiteY54" fmla="*/ 1330569 h 1424354"/>
              <a:gd name="connsiteX55" fmla="*/ 1322616 w 1416401"/>
              <a:gd name="connsiteY55" fmla="*/ 1359877 h 1424354"/>
              <a:gd name="connsiteX56" fmla="*/ 1287447 w 1416401"/>
              <a:gd name="connsiteY56" fmla="*/ 1383323 h 1424354"/>
              <a:gd name="connsiteX57" fmla="*/ 1269862 w 1416401"/>
              <a:gd name="connsiteY57" fmla="*/ 1395046 h 1424354"/>
              <a:gd name="connsiteX58" fmla="*/ 1234693 w 1416401"/>
              <a:gd name="connsiteY58" fmla="*/ 1406769 h 1424354"/>
              <a:gd name="connsiteX59" fmla="*/ 1217108 w 1416401"/>
              <a:gd name="connsiteY59" fmla="*/ 1412631 h 1424354"/>
              <a:gd name="connsiteX60" fmla="*/ 1176078 w 1416401"/>
              <a:gd name="connsiteY60" fmla="*/ 1418492 h 1424354"/>
              <a:gd name="connsiteX61" fmla="*/ 1140908 w 1416401"/>
              <a:gd name="connsiteY61" fmla="*/ 1424354 h 1424354"/>
              <a:gd name="connsiteX62" fmla="*/ 900585 w 1416401"/>
              <a:gd name="connsiteY62" fmla="*/ 1418492 h 1424354"/>
              <a:gd name="connsiteX63" fmla="*/ 883001 w 1416401"/>
              <a:gd name="connsiteY63" fmla="*/ 1412631 h 1424354"/>
              <a:gd name="connsiteX64" fmla="*/ 800939 w 1416401"/>
              <a:gd name="connsiteY64" fmla="*/ 1406769 h 1424354"/>
              <a:gd name="connsiteX65" fmla="*/ 630955 w 1416401"/>
              <a:gd name="connsiteY65" fmla="*/ 1400908 h 1424354"/>
              <a:gd name="connsiteX66" fmla="*/ 572339 w 1416401"/>
              <a:gd name="connsiteY66" fmla="*/ 1395046 h 1424354"/>
              <a:gd name="connsiteX67" fmla="*/ 476812 w 1416401"/>
              <a:gd name="connsiteY67" fmla="*/ 1400908 h 1424354"/>
              <a:gd name="connsiteX68" fmla="*/ 155426 w 1416401"/>
              <a:gd name="connsiteY68" fmla="*/ 1371600 h 1424354"/>
              <a:gd name="connsiteX69" fmla="*/ 83418 w 1416401"/>
              <a:gd name="connsiteY69" fmla="*/ 1299592 h 1424354"/>
              <a:gd name="connsiteX70" fmla="*/ 50662 w 1416401"/>
              <a:gd name="connsiteY70" fmla="*/ 1248508 h 1424354"/>
              <a:gd name="connsiteX71" fmla="*/ 33078 w 1416401"/>
              <a:gd name="connsiteY71" fmla="*/ 1230923 h 1424354"/>
              <a:gd name="connsiteX72" fmla="*/ 21355 w 1416401"/>
              <a:gd name="connsiteY72" fmla="*/ 1189892 h 1424354"/>
              <a:gd name="connsiteX73" fmla="*/ 9632 w 1416401"/>
              <a:gd name="connsiteY73" fmla="*/ 1143000 h 1424354"/>
              <a:gd name="connsiteX74" fmla="*/ 9632 w 1416401"/>
              <a:gd name="connsiteY74" fmla="*/ 943708 h 1424354"/>
              <a:gd name="connsiteX75" fmla="*/ 15493 w 1416401"/>
              <a:gd name="connsiteY75" fmla="*/ 926123 h 1424354"/>
              <a:gd name="connsiteX76" fmla="*/ 21355 w 1416401"/>
              <a:gd name="connsiteY76" fmla="*/ 873369 h 1424354"/>
              <a:gd name="connsiteX77" fmla="*/ 27216 w 1416401"/>
              <a:gd name="connsiteY77" fmla="*/ 855785 h 1424354"/>
              <a:gd name="connsiteX78" fmla="*/ 33078 w 1416401"/>
              <a:gd name="connsiteY78" fmla="*/ 820615 h 1424354"/>
              <a:gd name="connsiteX79" fmla="*/ 50662 w 1416401"/>
              <a:gd name="connsiteY79" fmla="*/ 779585 h 1424354"/>
              <a:gd name="connsiteX80" fmla="*/ 62385 w 1416401"/>
              <a:gd name="connsiteY80" fmla="*/ 738554 h 1424354"/>
              <a:gd name="connsiteX81" fmla="*/ 74108 w 1416401"/>
              <a:gd name="connsiteY81" fmla="*/ 715108 h 1424354"/>
              <a:gd name="connsiteX82" fmla="*/ 85832 w 1416401"/>
              <a:gd name="connsiteY82" fmla="*/ 674077 h 1424354"/>
              <a:gd name="connsiteX83" fmla="*/ 91693 w 1416401"/>
              <a:gd name="connsiteY83" fmla="*/ 656492 h 1424354"/>
              <a:gd name="connsiteX84" fmla="*/ 97555 w 1416401"/>
              <a:gd name="connsiteY84" fmla="*/ 627185 h 1424354"/>
              <a:gd name="connsiteX85" fmla="*/ 103416 w 1416401"/>
              <a:gd name="connsiteY85" fmla="*/ 609600 h 1424354"/>
              <a:gd name="connsiteX86" fmla="*/ 102366 w 1416401"/>
              <a:gd name="connsiteY86" fmla="*/ 546969 h 1424354"/>
              <a:gd name="connsiteX87" fmla="*/ 83418 w 1416401"/>
              <a:gd name="connsiteY87" fmla="*/ 435496 h 1424354"/>
              <a:gd name="connsiteX88" fmla="*/ 83418 w 1416401"/>
              <a:gd name="connsiteY88" fmla="*/ 291480 h 1424354"/>
              <a:gd name="connsiteX89" fmla="*/ 85832 w 1416401"/>
              <a:gd name="connsiteY89" fmla="*/ 263769 h 1424354"/>
              <a:gd name="connsiteX90" fmla="*/ 79970 w 1416401"/>
              <a:gd name="connsiteY90"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22616 w 1416401"/>
              <a:gd name="connsiteY54" fmla="*/ 1359877 h 1424354"/>
              <a:gd name="connsiteX55" fmla="*/ 1287447 w 1416401"/>
              <a:gd name="connsiteY55" fmla="*/ 1383323 h 1424354"/>
              <a:gd name="connsiteX56" fmla="*/ 1269862 w 1416401"/>
              <a:gd name="connsiteY56" fmla="*/ 1395046 h 1424354"/>
              <a:gd name="connsiteX57" fmla="*/ 1234693 w 1416401"/>
              <a:gd name="connsiteY57" fmla="*/ 1406769 h 1424354"/>
              <a:gd name="connsiteX58" fmla="*/ 1217108 w 1416401"/>
              <a:gd name="connsiteY58" fmla="*/ 1412631 h 1424354"/>
              <a:gd name="connsiteX59" fmla="*/ 1176078 w 1416401"/>
              <a:gd name="connsiteY59" fmla="*/ 1418492 h 1424354"/>
              <a:gd name="connsiteX60" fmla="*/ 1140908 w 1416401"/>
              <a:gd name="connsiteY60" fmla="*/ 1424354 h 1424354"/>
              <a:gd name="connsiteX61" fmla="*/ 900585 w 1416401"/>
              <a:gd name="connsiteY61" fmla="*/ 1418492 h 1424354"/>
              <a:gd name="connsiteX62" fmla="*/ 883001 w 1416401"/>
              <a:gd name="connsiteY62" fmla="*/ 1412631 h 1424354"/>
              <a:gd name="connsiteX63" fmla="*/ 800939 w 1416401"/>
              <a:gd name="connsiteY63" fmla="*/ 1406769 h 1424354"/>
              <a:gd name="connsiteX64" fmla="*/ 630955 w 1416401"/>
              <a:gd name="connsiteY64" fmla="*/ 1400908 h 1424354"/>
              <a:gd name="connsiteX65" fmla="*/ 572339 w 1416401"/>
              <a:gd name="connsiteY65" fmla="*/ 1395046 h 1424354"/>
              <a:gd name="connsiteX66" fmla="*/ 476812 w 1416401"/>
              <a:gd name="connsiteY66" fmla="*/ 1400908 h 1424354"/>
              <a:gd name="connsiteX67" fmla="*/ 155426 w 1416401"/>
              <a:gd name="connsiteY67" fmla="*/ 1371600 h 1424354"/>
              <a:gd name="connsiteX68" fmla="*/ 83418 w 1416401"/>
              <a:gd name="connsiteY68" fmla="*/ 1299592 h 1424354"/>
              <a:gd name="connsiteX69" fmla="*/ 50662 w 1416401"/>
              <a:gd name="connsiteY69" fmla="*/ 1248508 h 1424354"/>
              <a:gd name="connsiteX70" fmla="*/ 33078 w 1416401"/>
              <a:gd name="connsiteY70" fmla="*/ 1230923 h 1424354"/>
              <a:gd name="connsiteX71" fmla="*/ 21355 w 1416401"/>
              <a:gd name="connsiteY71" fmla="*/ 1189892 h 1424354"/>
              <a:gd name="connsiteX72" fmla="*/ 9632 w 1416401"/>
              <a:gd name="connsiteY72" fmla="*/ 1143000 h 1424354"/>
              <a:gd name="connsiteX73" fmla="*/ 9632 w 1416401"/>
              <a:gd name="connsiteY73" fmla="*/ 943708 h 1424354"/>
              <a:gd name="connsiteX74" fmla="*/ 15493 w 1416401"/>
              <a:gd name="connsiteY74" fmla="*/ 926123 h 1424354"/>
              <a:gd name="connsiteX75" fmla="*/ 21355 w 1416401"/>
              <a:gd name="connsiteY75" fmla="*/ 873369 h 1424354"/>
              <a:gd name="connsiteX76" fmla="*/ 27216 w 1416401"/>
              <a:gd name="connsiteY76" fmla="*/ 855785 h 1424354"/>
              <a:gd name="connsiteX77" fmla="*/ 33078 w 1416401"/>
              <a:gd name="connsiteY77" fmla="*/ 820615 h 1424354"/>
              <a:gd name="connsiteX78" fmla="*/ 50662 w 1416401"/>
              <a:gd name="connsiteY78" fmla="*/ 779585 h 1424354"/>
              <a:gd name="connsiteX79" fmla="*/ 62385 w 1416401"/>
              <a:gd name="connsiteY79" fmla="*/ 738554 h 1424354"/>
              <a:gd name="connsiteX80" fmla="*/ 74108 w 1416401"/>
              <a:gd name="connsiteY80" fmla="*/ 715108 h 1424354"/>
              <a:gd name="connsiteX81" fmla="*/ 85832 w 1416401"/>
              <a:gd name="connsiteY81" fmla="*/ 674077 h 1424354"/>
              <a:gd name="connsiteX82" fmla="*/ 91693 w 1416401"/>
              <a:gd name="connsiteY82" fmla="*/ 656492 h 1424354"/>
              <a:gd name="connsiteX83" fmla="*/ 97555 w 1416401"/>
              <a:gd name="connsiteY83" fmla="*/ 627185 h 1424354"/>
              <a:gd name="connsiteX84" fmla="*/ 103416 w 1416401"/>
              <a:gd name="connsiteY84" fmla="*/ 609600 h 1424354"/>
              <a:gd name="connsiteX85" fmla="*/ 102366 w 1416401"/>
              <a:gd name="connsiteY85" fmla="*/ 546969 h 1424354"/>
              <a:gd name="connsiteX86" fmla="*/ 83418 w 1416401"/>
              <a:gd name="connsiteY86" fmla="*/ 435496 h 1424354"/>
              <a:gd name="connsiteX87" fmla="*/ 83418 w 1416401"/>
              <a:gd name="connsiteY87" fmla="*/ 291480 h 1424354"/>
              <a:gd name="connsiteX88" fmla="*/ 85832 w 1416401"/>
              <a:gd name="connsiteY88" fmla="*/ 263769 h 1424354"/>
              <a:gd name="connsiteX89" fmla="*/ 79970 w 1416401"/>
              <a:gd name="connsiteY89" fmla="*/ 246185 h 1424354"/>
              <a:gd name="connsiteX0" fmla="*/ 79970 w 1424802"/>
              <a:gd name="connsiteY0" fmla="*/ 246185 h 1424354"/>
              <a:gd name="connsiteX1" fmla="*/ 97555 w 1424802"/>
              <a:gd name="connsiteY1" fmla="*/ 193431 h 1424354"/>
              <a:gd name="connsiteX2" fmla="*/ 103416 w 1424802"/>
              <a:gd name="connsiteY2" fmla="*/ 175846 h 1424354"/>
              <a:gd name="connsiteX3" fmla="*/ 109278 w 1424802"/>
              <a:gd name="connsiteY3" fmla="*/ 152400 h 1424354"/>
              <a:gd name="connsiteX4" fmla="*/ 132724 w 1424802"/>
              <a:gd name="connsiteY4" fmla="*/ 117231 h 1424354"/>
              <a:gd name="connsiteX5" fmla="*/ 144447 w 1424802"/>
              <a:gd name="connsiteY5" fmla="*/ 99646 h 1424354"/>
              <a:gd name="connsiteX6" fmla="*/ 197201 w 1424802"/>
              <a:gd name="connsiteY6" fmla="*/ 70338 h 1424354"/>
              <a:gd name="connsiteX7" fmla="*/ 226508 w 1424802"/>
              <a:gd name="connsiteY7" fmla="*/ 52754 h 1424354"/>
              <a:gd name="connsiteX8" fmla="*/ 261678 w 1424802"/>
              <a:gd name="connsiteY8" fmla="*/ 41031 h 1424354"/>
              <a:gd name="connsiteX9" fmla="*/ 308570 w 1424802"/>
              <a:gd name="connsiteY9" fmla="*/ 23446 h 1424354"/>
              <a:gd name="connsiteX10" fmla="*/ 326155 w 1424802"/>
              <a:gd name="connsiteY10" fmla="*/ 17585 h 1424354"/>
              <a:gd name="connsiteX11" fmla="*/ 367185 w 1424802"/>
              <a:gd name="connsiteY11" fmla="*/ 11723 h 1424354"/>
              <a:gd name="connsiteX12" fmla="*/ 490278 w 1424802"/>
              <a:gd name="connsiteY12" fmla="*/ 0 h 1424354"/>
              <a:gd name="connsiteX13" fmla="*/ 607508 w 1424802"/>
              <a:gd name="connsiteY13" fmla="*/ 11723 h 1424354"/>
              <a:gd name="connsiteX14" fmla="*/ 625093 w 1424802"/>
              <a:gd name="connsiteY14" fmla="*/ 17585 h 1424354"/>
              <a:gd name="connsiteX15" fmla="*/ 671985 w 1424802"/>
              <a:gd name="connsiteY15" fmla="*/ 29308 h 1424354"/>
              <a:gd name="connsiteX16" fmla="*/ 695432 w 1424802"/>
              <a:gd name="connsiteY16" fmla="*/ 35169 h 1424354"/>
              <a:gd name="connsiteX17" fmla="*/ 718878 w 1424802"/>
              <a:gd name="connsiteY17" fmla="*/ 46892 h 1424354"/>
              <a:gd name="connsiteX18" fmla="*/ 754047 w 1424802"/>
              <a:gd name="connsiteY18" fmla="*/ 58615 h 1424354"/>
              <a:gd name="connsiteX19" fmla="*/ 771632 w 1424802"/>
              <a:gd name="connsiteY19" fmla="*/ 70338 h 1424354"/>
              <a:gd name="connsiteX20" fmla="*/ 789216 w 1424802"/>
              <a:gd name="connsiteY20" fmla="*/ 87923 h 1424354"/>
              <a:gd name="connsiteX21" fmla="*/ 824385 w 1424802"/>
              <a:gd name="connsiteY21" fmla="*/ 99646 h 1424354"/>
              <a:gd name="connsiteX22" fmla="*/ 841970 w 1424802"/>
              <a:gd name="connsiteY22" fmla="*/ 117231 h 1424354"/>
              <a:gd name="connsiteX23" fmla="*/ 847832 w 1424802"/>
              <a:gd name="connsiteY23" fmla="*/ 134815 h 1424354"/>
              <a:gd name="connsiteX24" fmla="*/ 865416 w 1424802"/>
              <a:gd name="connsiteY24" fmla="*/ 140677 h 1424354"/>
              <a:gd name="connsiteX25" fmla="*/ 906447 w 1424802"/>
              <a:gd name="connsiteY25" fmla="*/ 175846 h 1424354"/>
              <a:gd name="connsiteX26" fmla="*/ 918170 w 1424802"/>
              <a:gd name="connsiteY26" fmla="*/ 193431 h 1424354"/>
              <a:gd name="connsiteX27" fmla="*/ 935755 w 1424802"/>
              <a:gd name="connsiteY27" fmla="*/ 205154 h 1424354"/>
              <a:gd name="connsiteX28" fmla="*/ 959201 w 1424802"/>
              <a:gd name="connsiteY28" fmla="*/ 222738 h 1424354"/>
              <a:gd name="connsiteX29" fmla="*/ 976785 w 1424802"/>
              <a:gd name="connsiteY29" fmla="*/ 234462 h 1424354"/>
              <a:gd name="connsiteX30" fmla="*/ 994370 w 1424802"/>
              <a:gd name="connsiteY30" fmla="*/ 257908 h 1424354"/>
              <a:gd name="connsiteX31" fmla="*/ 1035401 w 1424802"/>
              <a:gd name="connsiteY31" fmla="*/ 281354 h 1424354"/>
              <a:gd name="connsiteX32" fmla="*/ 1058847 w 1424802"/>
              <a:gd name="connsiteY32" fmla="*/ 310662 h 1424354"/>
              <a:gd name="connsiteX33" fmla="*/ 1099878 w 1424802"/>
              <a:gd name="connsiteY33" fmla="*/ 345831 h 1424354"/>
              <a:gd name="connsiteX34" fmla="*/ 1129185 w 1424802"/>
              <a:gd name="connsiteY34" fmla="*/ 386862 h 1424354"/>
              <a:gd name="connsiteX35" fmla="*/ 1135047 w 1424802"/>
              <a:gd name="connsiteY35" fmla="*/ 404446 h 1424354"/>
              <a:gd name="connsiteX36" fmla="*/ 1170216 w 1424802"/>
              <a:gd name="connsiteY36" fmla="*/ 445477 h 1424354"/>
              <a:gd name="connsiteX37" fmla="*/ 1187801 w 1424802"/>
              <a:gd name="connsiteY37" fmla="*/ 468923 h 1424354"/>
              <a:gd name="connsiteX38" fmla="*/ 1211247 w 1424802"/>
              <a:gd name="connsiteY38" fmla="*/ 504092 h 1424354"/>
              <a:gd name="connsiteX39" fmla="*/ 1240555 w 1424802"/>
              <a:gd name="connsiteY39" fmla="*/ 545123 h 1424354"/>
              <a:gd name="connsiteX40" fmla="*/ 1264001 w 1424802"/>
              <a:gd name="connsiteY40" fmla="*/ 592015 h 1424354"/>
              <a:gd name="connsiteX41" fmla="*/ 1269862 w 1424802"/>
              <a:gd name="connsiteY41" fmla="*/ 609600 h 1424354"/>
              <a:gd name="connsiteX42" fmla="*/ 1287447 w 1424802"/>
              <a:gd name="connsiteY42" fmla="*/ 638908 h 1424354"/>
              <a:gd name="connsiteX43" fmla="*/ 1299170 w 1424802"/>
              <a:gd name="connsiteY43" fmla="*/ 662354 h 1424354"/>
              <a:gd name="connsiteX44" fmla="*/ 1316755 w 1424802"/>
              <a:gd name="connsiteY44" fmla="*/ 679938 h 1424354"/>
              <a:gd name="connsiteX45" fmla="*/ 1340201 w 1424802"/>
              <a:gd name="connsiteY45" fmla="*/ 720969 h 1424354"/>
              <a:gd name="connsiteX46" fmla="*/ 1351924 w 1424802"/>
              <a:gd name="connsiteY46" fmla="*/ 744415 h 1424354"/>
              <a:gd name="connsiteX47" fmla="*/ 1357785 w 1424802"/>
              <a:gd name="connsiteY47" fmla="*/ 762000 h 1424354"/>
              <a:gd name="connsiteX48" fmla="*/ 1369508 w 1424802"/>
              <a:gd name="connsiteY48" fmla="*/ 779585 h 1424354"/>
              <a:gd name="connsiteX49" fmla="*/ 1381232 w 1424802"/>
              <a:gd name="connsiteY49" fmla="*/ 808892 h 1424354"/>
              <a:gd name="connsiteX50" fmla="*/ 1398816 w 1424802"/>
              <a:gd name="connsiteY50" fmla="*/ 885092 h 1424354"/>
              <a:gd name="connsiteX51" fmla="*/ 1410539 w 1424802"/>
              <a:gd name="connsiteY51" fmla="*/ 955431 h 1424354"/>
              <a:gd name="connsiteX52" fmla="*/ 1416401 w 1424802"/>
              <a:gd name="connsiteY52" fmla="*/ 973015 h 1424354"/>
              <a:gd name="connsiteX53" fmla="*/ 1410539 w 1424802"/>
              <a:gd name="connsiteY53" fmla="*/ 1125415 h 1424354"/>
              <a:gd name="connsiteX54" fmla="*/ 1404287 w 1424802"/>
              <a:gd name="connsiteY54" fmla="*/ 1249041 h 1424354"/>
              <a:gd name="connsiteX55" fmla="*/ 1287447 w 1424802"/>
              <a:gd name="connsiteY55" fmla="*/ 1383323 h 1424354"/>
              <a:gd name="connsiteX56" fmla="*/ 1269862 w 1424802"/>
              <a:gd name="connsiteY56" fmla="*/ 1395046 h 1424354"/>
              <a:gd name="connsiteX57" fmla="*/ 1234693 w 1424802"/>
              <a:gd name="connsiteY57" fmla="*/ 1406769 h 1424354"/>
              <a:gd name="connsiteX58" fmla="*/ 1217108 w 1424802"/>
              <a:gd name="connsiteY58" fmla="*/ 1412631 h 1424354"/>
              <a:gd name="connsiteX59" fmla="*/ 1176078 w 1424802"/>
              <a:gd name="connsiteY59" fmla="*/ 1418492 h 1424354"/>
              <a:gd name="connsiteX60" fmla="*/ 1140908 w 1424802"/>
              <a:gd name="connsiteY60" fmla="*/ 1424354 h 1424354"/>
              <a:gd name="connsiteX61" fmla="*/ 900585 w 1424802"/>
              <a:gd name="connsiteY61" fmla="*/ 1418492 h 1424354"/>
              <a:gd name="connsiteX62" fmla="*/ 883001 w 1424802"/>
              <a:gd name="connsiteY62" fmla="*/ 1412631 h 1424354"/>
              <a:gd name="connsiteX63" fmla="*/ 800939 w 1424802"/>
              <a:gd name="connsiteY63" fmla="*/ 1406769 h 1424354"/>
              <a:gd name="connsiteX64" fmla="*/ 630955 w 1424802"/>
              <a:gd name="connsiteY64" fmla="*/ 1400908 h 1424354"/>
              <a:gd name="connsiteX65" fmla="*/ 572339 w 1424802"/>
              <a:gd name="connsiteY65" fmla="*/ 1395046 h 1424354"/>
              <a:gd name="connsiteX66" fmla="*/ 476812 w 1424802"/>
              <a:gd name="connsiteY66" fmla="*/ 1400908 h 1424354"/>
              <a:gd name="connsiteX67" fmla="*/ 155426 w 1424802"/>
              <a:gd name="connsiteY67" fmla="*/ 1371600 h 1424354"/>
              <a:gd name="connsiteX68" fmla="*/ 83418 w 1424802"/>
              <a:gd name="connsiteY68" fmla="*/ 1299592 h 1424354"/>
              <a:gd name="connsiteX69" fmla="*/ 50662 w 1424802"/>
              <a:gd name="connsiteY69" fmla="*/ 1248508 h 1424354"/>
              <a:gd name="connsiteX70" fmla="*/ 33078 w 1424802"/>
              <a:gd name="connsiteY70" fmla="*/ 1230923 h 1424354"/>
              <a:gd name="connsiteX71" fmla="*/ 21355 w 1424802"/>
              <a:gd name="connsiteY71" fmla="*/ 1189892 h 1424354"/>
              <a:gd name="connsiteX72" fmla="*/ 9632 w 1424802"/>
              <a:gd name="connsiteY72" fmla="*/ 1143000 h 1424354"/>
              <a:gd name="connsiteX73" fmla="*/ 9632 w 1424802"/>
              <a:gd name="connsiteY73" fmla="*/ 943708 h 1424354"/>
              <a:gd name="connsiteX74" fmla="*/ 15493 w 1424802"/>
              <a:gd name="connsiteY74" fmla="*/ 926123 h 1424354"/>
              <a:gd name="connsiteX75" fmla="*/ 21355 w 1424802"/>
              <a:gd name="connsiteY75" fmla="*/ 873369 h 1424354"/>
              <a:gd name="connsiteX76" fmla="*/ 27216 w 1424802"/>
              <a:gd name="connsiteY76" fmla="*/ 855785 h 1424354"/>
              <a:gd name="connsiteX77" fmla="*/ 33078 w 1424802"/>
              <a:gd name="connsiteY77" fmla="*/ 820615 h 1424354"/>
              <a:gd name="connsiteX78" fmla="*/ 50662 w 1424802"/>
              <a:gd name="connsiteY78" fmla="*/ 779585 h 1424354"/>
              <a:gd name="connsiteX79" fmla="*/ 62385 w 1424802"/>
              <a:gd name="connsiteY79" fmla="*/ 738554 h 1424354"/>
              <a:gd name="connsiteX80" fmla="*/ 74108 w 1424802"/>
              <a:gd name="connsiteY80" fmla="*/ 715108 h 1424354"/>
              <a:gd name="connsiteX81" fmla="*/ 85832 w 1424802"/>
              <a:gd name="connsiteY81" fmla="*/ 674077 h 1424354"/>
              <a:gd name="connsiteX82" fmla="*/ 91693 w 1424802"/>
              <a:gd name="connsiteY82" fmla="*/ 656492 h 1424354"/>
              <a:gd name="connsiteX83" fmla="*/ 97555 w 1424802"/>
              <a:gd name="connsiteY83" fmla="*/ 627185 h 1424354"/>
              <a:gd name="connsiteX84" fmla="*/ 103416 w 1424802"/>
              <a:gd name="connsiteY84" fmla="*/ 609600 h 1424354"/>
              <a:gd name="connsiteX85" fmla="*/ 102366 w 1424802"/>
              <a:gd name="connsiteY85" fmla="*/ 546969 h 1424354"/>
              <a:gd name="connsiteX86" fmla="*/ 83418 w 1424802"/>
              <a:gd name="connsiteY86" fmla="*/ 435496 h 1424354"/>
              <a:gd name="connsiteX87" fmla="*/ 83418 w 1424802"/>
              <a:gd name="connsiteY87" fmla="*/ 291480 h 1424354"/>
              <a:gd name="connsiteX88" fmla="*/ 85832 w 1424802"/>
              <a:gd name="connsiteY88" fmla="*/ 263769 h 1424354"/>
              <a:gd name="connsiteX89" fmla="*/ 79970 w 1424802"/>
              <a:gd name="connsiteY89" fmla="*/ 246185 h 1424354"/>
              <a:gd name="connsiteX0" fmla="*/ 79970 w 1424802"/>
              <a:gd name="connsiteY0" fmla="*/ 246185 h 1424354"/>
              <a:gd name="connsiteX1" fmla="*/ 97555 w 1424802"/>
              <a:gd name="connsiteY1" fmla="*/ 193431 h 1424354"/>
              <a:gd name="connsiteX2" fmla="*/ 103416 w 1424802"/>
              <a:gd name="connsiteY2" fmla="*/ 175846 h 1424354"/>
              <a:gd name="connsiteX3" fmla="*/ 109278 w 1424802"/>
              <a:gd name="connsiteY3" fmla="*/ 152400 h 1424354"/>
              <a:gd name="connsiteX4" fmla="*/ 132724 w 1424802"/>
              <a:gd name="connsiteY4" fmla="*/ 117231 h 1424354"/>
              <a:gd name="connsiteX5" fmla="*/ 144447 w 1424802"/>
              <a:gd name="connsiteY5" fmla="*/ 99646 h 1424354"/>
              <a:gd name="connsiteX6" fmla="*/ 197201 w 1424802"/>
              <a:gd name="connsiteY6" fmla="*/ 70338 h 1424354"/>
              <a:gd name="connsiteX7" fmla="*/ 226508 w 1424802"/>
              <a:gd name="connsiteY7" fmla="*/ 52754 h 1424354"/>
              <a:gd name="connsiteX8" fmla="*/ 261678 w 1424802"/>
              <a:gd name="connsiteY8" fmla="*/ 41031 h 1424354"/>
              <a:gd name="connsiteX9" fmla="*/ 308570 w 1424802"/>
              <a:gd name="connsiteY9" fmla="*/ 23446 h 1424354"/>
              <a:gd name="connsiteX10" fmla="*/ 326155 w 1424802"/>
              <a:gd name="connsiteY10" fmla="*/ 17585 h 1424354"/>
              <a:gd name="connsiteX11" fmla="*/ 367185 w 1424802"/>
              <a:gd name="connsiteY11" fmla="*/ 11723 h 1424354"/>
              <a:gd name="connsiteX12" fmla="*/ 490278 w 1424802"/>
              <a:gd name="connsiteY12" fmla="*/ 0 h 1424354"/>
              <a:gd name="connsiteX13" fmla="*/ 607508 w 1424802"/>
              <a:gd name="connsiteY13" fmla="*/ 11723 h 1424354"/>
              <a:gd name="connsiteX14" fmla="*/ 625093 w 1424802"/>
              <a:gd name="connsiteY14" fmla="*/ 17585 h 1424354"/>
              <a:gd name="connsiteX15" fmla="*/ 671985 w 1424802"/>
              <a:gd name="connsiteY15" fmla="*/ 29308 h 1424354"/>
              <a:gd name="connsiteX16" fmla="*/ 695432 w 1424802"/>
              <a:gd name="connsiteY16" fmla="*/ 35169 h 1424354"/>
              <a:gd name="connsiteX17" fmla="*/ 718878 w 1424802"/>
              <a:gd name="connsiteY17" fmla="*/ 46892 h 1424354"/>
              <a:gd name="connsiteX18" fmla="*/ 754047 w 1424802"/>
              <a:gd name="connsiteY18" fmla="*/ 58615 h 1424354"/>
              <a:gd name="connsiteX19" fmla="*/ 771632 w 1424802"/>
              <a:gd name="connsiteY19" fmla="*/ 70338 h 1424354"/>
              <a:gd name="connsiteX20" fmla="*/ 789216 w 1424802"/>
              <a:gd name="connsiteY20" fmla="*/ 87923 h 1424354"/>
              <a:gd name="connsiteX21" fmla="*/ 824385 w 1424802"/>
              <a:gd name="connsiteY21" fmla="*/ 99646 h 1424354"/>
              <a:gd name="connsiteX22" fmla="*/ 841970 w 1424802"/>
              <a:gd name="connsiteY22" fmla="*/ 117231 h 1424354"/>
              <a:gd name="connsiteX23" fmla="*/ 847832 w 1424802"/>
              <a:gd name="connsiteY23" fmla="*/ 134815 h 1424354"/>
              <a:gd name="connsiteX24" fmla="*/ 865416 w 1424802"/>
              <a:gd name="connsiteY24" fmla="*/ 140677 h 1424354"/>
              <a:gd name="connsiteX25" fmla="*/ 906447 w 1424802"/>
              <a:gd name="connsiteY25" fmla="*/ 175846 h 1424354"/>
              <a:gd name="connsiteX26" fmla="*/ 918170 w 1424802"/>
              <a:gd name="connsiteY26" fmla="*/ 193431 h 1424354"/>
              <a:gd name="connsiteX27" fmla="*/ 935755 w 1424802"/>
              <a:gd name="connsiteY27" fmla="*/ 205154 h 1424354"/>
              <a:gd name="connsiteX28" fmla="*/ 959201 w 1424802"/>
              <a:gd name="connsiteY28" fmla="*/ 222738 h 1424354"/>
              <a:gd name="connsiteX29" fmla="*/ 976785 w 1424802"/>
              <a:gd name="connsiteY29" fmla="*/ 234462 h 1424354"/>
              <a:gd name="connsiteX30" fmla="*/ 994370 w 1424802"/>
              <a:gd name="connsiteY30" fmla="*/ 257908 h 1424354"/>
              <a:gd name="connsiteX31" fmla="*/ 1035401 w 1424802"/>
              <a:gd name="connsiteY31" fmla="*/ 281354 h 1424354"/>
              <a:gd name="connsiteX32" fmla="*/ 1058847 w 1424802"/>
              <a:gd name="connsiteY32" fmla="*/ 310662 h 1424354"/>
              <a:gd name="connsiteX33" fmla="*/ 1099878 w 1424802"/>
              <a:gd name="connsiteY33" fmla="*/ 345831 h 1424354"/>
              <a:gd name="connsiteX34" fmla="*/ 1129185 w 1424802"/>
              <a:gd name="connsiteY34" fmla="*/ 386862 h 1424354"/>
              <a:gd name="connsiteX35" fmla="*/ 1135047 w 1424802"/>
              <a:gd name="connsiteY35" fmla="*/ 404446 h 1424354"/>
              <a:gd name="connsiteX36" fmla="*/ 1170216 w 1424802"/>
              <a:gd name="connsiteY36" fmla="*/ 445477 h 1424354"/>
              <a:gd name="connsiteX37" fmla="*/ 1187801 w 1424802"/>
              <a:gd name="connsiteY37" fmla="*/ 468923 h 1424354"/>
              <a:gd name="connsiteX38" fmla="*/ 1211247 w 1424802"/>
              <a:gd name="connsiteY38" fmla="*/ 504092 h 1424354"/>
              <a:gd name="connsiteX39" fmla="*/ 1240555 w 1424802"/>
              <a:gd name="connsiteY39" fmla="*/ 545123 h 1424354"/>
              <a:gd name="connsiteX40" fmla="*/ 1264001 w 1424802"/>
              <a:gd name="connsiteY40" fmla="*/ 592015 h 1424354"/>
              <a:gd name="connsiteX41" fmla="*/ 1269862 w 1424802"/>
              <a:gd name="connsiteY41" fmla="*/ 609600 h 1424354"/>
              <a:gd name="connsiteX42" fmla="*/ 1287447 w 1424802"/>
              <a:gd name="connsiteY42" fmla="*/ 638908 h 1424354"/>
              <a:gd name="connsiteX43" fmla="*/ 1299170 w 1424802"/>
              <a:gd name="connsiteY43" fmla="*/ 662354 h 1424354"/>
              <a:gd name="connsiteX44" fmla="*/ 1316755 w 1424802"/>
              <a:gd name="connsiteY44" fmla="*/ 679938 h 1424354"/>
              <a:gd name="connsiteX45" fmla="*/ 1340201 w 1424802"/>
              <a:gd name="connsiteY45" fmla="*/ 720969 h 1424354"/>
              <a:gd name="connsiteX46" fmla="*/ 1351924 w 1424802"/>
              <a:gd name="connsiteY46" fmla="*/ 744415 h 1424354"/>
              <a:gd name="connsiteX47" fmla="*/ 1357785 w 1424802"/>
              <a:gd name="connsiteY47" fmla="*/ 762000 h 1424354"/>
              <a:gd name="connsiteX48" fmla="*/ 1369508 w 1424802"/>
              <a:gd name="connsiteY48" fmla="*/ 779585 h 1424354"/>
              <a:gd name="connsiteX49" fmla="*/ 1381232 w 1424802"/>
              <a:gd name="connsiteY49" fmla="*/ 808892 h 1424354"/>
              <a:gd name="connsiteX50" fmla="*/ 1398816 w 1424802"/>
              <a:gd name="connsiteY50" fmla="*/ 885092 h 1424354"/>
              <a:gd name="connsiteX51" fmla="*/ 1410539 w 1424802"/>
              <a:gd name="connsiteY51" fmla="*/ 955431 h 1424354"/>
              <a:gd name="connsiteX52" fmla="*/ 1416401 w 1424802"/>
              <a:gd name="connsiteY52" fmla="*/ 973015 h 1424354"/>
              <a:gd name="connsiteX53" fmla="*/ 1410539 w 1424802"/>
              <a:gd name="connsiteY53" fmla="*/ 1125415 h 1424354"/>
              <a:gd name="connsiteX54" fmla="*/ 1404287 w 1424802"/>
              <a:gd name="connsiteY54" fmla="*/ 1249041 h 1424354"/>
              <a:gd name="connsiteX55" fmla="*/ 1287447 w 1424802"/>
              <a:gd name="connsiteY55" fmla="*/ 1383323 h 1424354"/>
              <a:gd name="connsiteX56" fmla="*/ 1269862 w 1424802"/>
              <a:gd name="connsiteY56" fmla="*/ 1395046 h 1424354"/>
              <a:gd name="connsiteX57" fmla="*/ 1234693 w 1424802"/>
              <a:gd name="connsiteY57" fmla="*/ 1406769 h 1424354"/>
              <a:gd name="connsiteX58" fmla="*/ 1217108 w 1424802"/>
              <a:gd name="connsiteY58" fmla="*/ 1412631 h 1424354"/>
              <a:gd name="connsiteX59" fmla="*/ 1176078 w 1424802"/>
              <a:gd name="connsiteY59" fmla="*/ 1418492 h 1424354"/>
              <a:gd name="connsiteX60" fmla="*/ 1140908 w 1424802"/>
              <a:gd name="connsiteY60" fmla="*/ 1424354 h 1424354"/>
              <a:gd name="connsiteX61" fmla="*/ 900585 w 1424802"/>
              <a:gd name="connsiteY61" fmla="*/ 1418492 h 1424354"/>
              <a:gd name="connsiteX62" fmla="*/ 883001 w 1424802"/>
              <a:gd name="connsiteY62" fmla="*/ 1412631 h 1424354"/>
              <a:gd name="connsiteX63" fmla="*/ 800939 w 1424802"/>
              <a:gd name="connsiteY63" fmla="*/ 1406769 h 1424354"/>
              <a:gd name="connsiteX64" fmla="*/ 630955 w 1424802"/>
              <a:gd name="connsiteY64" fmla="*/ 1400908 h 1424354"/>
              <a:gd name="connsiteX65" fmla="*/ 572339 w 1424802"/>
              <a:gd name="connsiteY65" fmla="*/ 1395046 h 1424354"/>
              <a:gd name="connsiteX66" fmla="*/ 476812 w 1424802"/>
              <a:gd name="connsiteY66" fmla="*/ 1400908 h 1424354"/>
              <a:gd name="connsiteX67" fmla="*/ 155426 w 1424802"/>
              <a:gd name="connsiteY67" fmla="*/ 1371600 h 1424354"/>
              <a:gd name="connsiteX68" fmla="*/ 83418 w 1424802"/>
              <a:gd name="connsiteY68" fmla="*/ 1299592 h 1424354"/>
              <a:gd name="connsiteX69" fmla="*/ 50662 w 1424802"/>
              <a:gd name="connsiteY69" fmla="*/ 1248508 h 1424354"/>
              <a:gd name="connsiteX70" fmla="*/ 33078 w 1424802"/>
              <a:gd name="connsiteY70" fmla="*/ 1230923 h 1424354"/>
              <a:gd name="connsiteX71" fmla="*/ 21355 w 1424802"/>
              <a:gd name="connsiteY71" fmla="*/ 1189892 h 1424354"/>
              <a:gd name="connsiteX72" fmla="*/ 9632 w 1424802"/>
              <a:gd name="connsiteY72" fmla="*/ 1143000 h 1424354"/>
              <a:gd name="connsiteX73" fmla="*/ 9632 w 1424802"/>
              <a:gd name="connsiteY73" fmla="*/ 943708 h 1424354"/>
              <a:gd name="connsiteX74" fmla="*/ 15493 w 1424802"/>
              <a:gd name="connsiteY74" fmla="*/ 926123 h 1424354"/>
              <a:gd name="connsiteX75" fmla="*/ 21355 w 1424802"/>
              <a:gd name="connsiteY75" fmla="*/ 873369 h 1424354"/>
              <a:gd name="connsiteX76" fmla="*/ 27216 w 1424802"/>
              <a:gd name="connsiteY76" fmla="*/ 855785 h 1424354"/>
              <a:gd name="connsiteX77" fmla="*/ 33078 w 1424802"/>
              <a:gd name="connsiteY77" fmla="*/ 820615 h 1424354"/>
              <a:gd name="connsiteX78" fmla="*/ 50662 w 1424802"/>
              <a:gd name="connsiteY78" fmla="*/ 779585 h 1424354"/>
              <a:gd name="connsiteX79" fmla="*/ 62385 w 1424802"/>
              <a:gd name="connsiteY79" fmla="*/ 738554 h 1424354"/>
              <a:gd name="connsiteX80" fmla="*/ 74108 w 1424802"/>
              <a:gd name="connsiteY80" fmla="*/ 715108 h 1424354"/>
              <a:gd name="connsiteX81" fmla="*/ 85832 w 1424802"/>
              <a:gd name="connsiteY81" fmla="*/ 674077 h 1424354"/>
              <a:gd name="connsiteX82" fmla="*/ 91693 w 1424802"/>
              <a:gd name="connsiteY82" fmla="*/ 656492 h 1424354"/>
              <a:gd name="connsiteX83" fmla="*/ 97555 w 1424802"/>
              <a:gd name="connsiteY83" fmla="*/ 627185 h 1424354"/>
              <a:gd name="connsiteX84" fmla="*/ 103416 w 1424802"/>
              <a:gd name="connsiteY84" fmla="*/ 609600 h 1424354"/>
              <a:gd name="connsiteX85" fmla="*/ 102366 w 1424802"/>
              <a:gd name="connsiteY85" fmla="*/ 546969 h 1424354"/>
              <a:gd name="connsiteX86" fmla="*/ 83418 w 1424802"/>
              <a:gd name="connsiteY86" fmla="*/ 435496 h 1424354"/>
              <a:gd name="connsiteX87" fmla="*/ 83418 w 1424802"/>
              <a:gd name="connsiteY87" fmla="*/ 291480 h 1424354"/>
              <a:gd name="connsiteX88" fmla="*/ 85832 w 1424802"/>
              <a:gd name="connsiteY88" fmla="*/ 263769 h 1424354"/>
              <a:gd name="connsiteX89" fmla="*/ 79970 w 1424802"/>
              <a:gd name="connsiteY89" fmla="*/ 246185 h 1424354"/>
              <a:gd name="connsiteX0" fmla="*/ 79970 w 1424802"/>
              <a:gd name="connsiteY0" fmla="*/ 246185 h 1424354"/>
              <a:gd name="connsiteX1" fmla="*/ 97555 w 1424802"/>
              <a:gd name="connsiteY1" fmla="*/ 193431 h 1424354"/>
              <a:gd name="connsiteX2" fmla="*/ 103416 w 1424802"/>
              <a:gd name="connsiteY2" fmla="*/ 175846 h 1424354"/>
              <a:gd name="connsiteX3" fmla="*/ 109278 w 1424802"/>
              <a:gd name="connsiteY3" fmla="*/ 152400 h 1424354"/>
              <a:gd name="connsiteX4" fmla="*/ 132724 w 1424802"/>
              <a:gd name="connsiteY4" fmla="*/ 117231 h 1424354"/>
              <a:gd name="connsiteX5" fmla="*/ 144447 w 1424802"/>
              <a:gd name="connsiteY5" fmla="*/ 99646 h 1424354"/>
              <a:gd name="connsiteX6" fmla="*/ 197201 w 1424802"/>
              <a:gd name="connsiteY6" fmla="*/ 70338 h 1424354"/>
              <a:gd name="connsiteX7" fmla="*/ 226508 w 1424802"/>
              <a:gd name="connsiteY7" fmla="*/ 52754 h 1424354"/>
              <a:gd name="connsiteX8" fmla="*/ 261678 w 1424802"/>
              <a:gd name="connsiteY8" fmla="*/ 41031 h 1424354"/>
              <a:gd name="connsiteX9" fmla="*/ 308570 w 1424802"/>
              <a:gd name="connsiteY9" fmla="*/ 23446 h 1424354"/>
              <a:gd name="connsiteX10" fmla="*/ 326155 w 1424802"/>
              <a:gd name="connsiteY10" fmla="*/ 17585 h 1424354"/>
              <a:gd name="connsiteX11" fmla="*/ 367185 w 1424802"/>
              <a:gd name="connsiteY11" fmla="*/ 11723 h 1424354"/>
              <a:gd name="connsiteX12" fmla="*/ 490278 w 1424802"/>
              <a:gd name="connsiteY12" fmla="*/ 0 h 1424354"/>
              <a:gd name="connsiteX13" fmla="*/ 607508 w 1424802"/>
              <a:gd name="connsiteY13" fmla="*/ 11723 h 1424354"/>
              <a:gd name="connsiteX14" fmla="*/ 625093 w 1424802"/>
              <a:gd name="connsiteY14" fmla="*/ 17585 h 1424354"/>
              <a:gd name="connsiteX15" fmla="*/ 671985 w 1424802"/>
              <a:gd name="connsiteY15" fmla="*/ 29308 h 1424354"/>
              <a:gd name="connsiteX16" fmla="*/ 695432 w 1424802"/>
              <a:gd name="connsiteY16" fmla="*/ 35169 h 1424354"/>
              <a:gd name="connsiteX17" fmla="*/ 718878 w 1424802"/>
              <a:gd name="connsiteY17" fmla="*/ 46892 h 1424354"/>
              <a:gd name="connsiteX18" fmla="*/ 754047 w 1424802"/>
              <a:gd name="connsiteY18" fmla="*/ 58615 h 1424354"/>
              <a:gd name="connsiteX19" fmla="*/ 771632 w 1424802"/>
              <a:gd name="connsiteY19" fmla="*/ 70338 h 1424354"/>
              <a:gd name="connsiteX20" fmla="*/ 789216 w 1424802"/>
              <a:gd name="connsiteY20" fmla="*/ 87923 h 1424354"/>
              <a:gd name="connsiteX21" fmla="*/ 824385 w 1424802"/>
              <a:gd name="connsiteY21" fmla="*/ 99646 h 1424354"/>
              <a:gd name="connsiteX22" fmla="*/ 841970 w 1424802"/>
              <a:gd name="connsiteY22" fmla="*/ 117231 h 1424354"/>
              <a:gd name="connsiteX23" fmla="*/ 847832 w 1424802"/>
              <a:gd name="connsiteY23" fmla="*/ 134815 h 1424354"/>
              <a:gd name="connsiteX24" fmla="*/ 865416 w 1424802"/>
              <a:gd name="connsiteY24" fmla="*/ 140677 h 1424354"/>
              <a:gd name="connsiteX25" fmla="*/ 906447 w 1424802"/>
              <a:gd name="connsiteY25" fmla="*/ 175846 h 1424354"/>
              <a:gd name="connsiteX26" fmla="*/ 918170 w 1424802"/>
              <a:gd name="connsiteY26" fmla="*/ 193431 h 1424354"/>
              <a:gd name="connsiteX27" fmla="*/ 935755 w 1424802"/>
              <a:gd name="connsiteY27" fmla="*/ 205154 h 1424354"/>
              <a:gd name="connsiteX28" fmla="*/ 959201 w 1424802"/>
              <a:gd name="connsiteY28" fmla="*/ 222738 h 1424354"/>
              <a:gd name="connsiteX29" fmla="*/ 976785 w 1424802"/>
              <a:gd name="connsiteY29" fmla="*/ 234462 h 1424354"/>
              <a:gd name="connsiteX30" fmla="*/ 994370 w 1424802"/>
              <a:gd name="connsiteY30" fmla="*/ 257908 h 1424354"/>
              <a:gd name="connsiteX31" fmla="*/ 1035401 w 1424802"/>
              <a:gd name="connsiteY31" fmla="*/ 281354 h 1424354"/>
              <a:gd name="connsiteX32" fmla="*/ 1058847 w 1424802"/>
              <a:gd name="connsiteY32" fmla="*/ 310662 h 1424354"/>
              <a:gd name="connsiteX33" fmla="*/ 1099878 w 1424802"/>
              <a:gd name="connsiteY33" fmla="*/ 345831 h 1424354"/>
              <a:gd name="connsiteX34" fmla="*/ 1129185 w 1424802"/>
              <a:gd name="connsiteY34" fmla="*/ 386862 h 1424354"/>
              <a:gd name="connsiteX35" fmla="*/ 1135047 w 1424802"/>
              <a:gd name="connsiteY35" fmla="*/ 404446 h 1424354"/>
              <a:gd name="connsiteX36" fmla="*/ 1170216 w 1424802"/>
              <a:gd name="connsiteY36" fmla="*/ 445477 h 1424354"/>
              <a:gd name="connsiteX37" fmla="*/ 1187801 w 1424802"/>
              <a:gd name="connsiteY37" fmla="*/ 468923 h 1424354"/>
              <a:gd name="connsiteX38" fmla="*/ 1211247 w 1424802"/>
              <a:gd name="connsiteY38" fmla="*/ 504092 h 1424354"/>
              <a:gd name="connsiteX39" fmla="*/ 1240555 w 1424802"/>
              <a:gd name="connsiteY39" fmla="*/ 545123 h 1424354"/>
              <a:gd name="connsiteX40" fmla="*/ 1264001 w 1424802"/>
              <a:gd name="connsiteY40" fmla="*/ 592015 h 1424354"/>
              <a:gd name="connsiteX41" fmla="*/ 1269862 w 1424802"/>
              <a:gd name="connsiteY41" fmla="*/ 609600 h 1424354"/>
              <a:gd name="connsiteX42" fmla="*/ 1287447 w 1424802"/>
              <a:gd name="connsiteY42" fmla="*/ 638908 h 1424354"/>
              <a:gd name="connsiteX43" fmla="*/ 1299170 w 1424802"/>
              <a:gd name="connsiteY43" fmla="*/ 662354 h 1424354"/>
              <a:gd name="connsiteX44" fmla="*/ 1316755 w 1424802"/>
              <a:gd name="connsiteY44" fmla="*/ 679938 h 1424354"/>
              <a:gd name="connsiteX45" fmla="*/ 1340201 w 1424802"/>
              <a:gd name="connsiteY45" fmla="*/ 720969 h 1424354"/>
              <a:gd name="connsiteX46" fmla="*/ 1351924 w 1424802"/>
              <a:gd name="connsiteY46" fmla="*/ 744415 h 1424354"/>
              <a:gd name="connsiteX47" fmla="*/ 1357785 w 1424802"/>
              <a:gd name="connsiteY47" fmla="*/ 762000 h 1424354"/>
              <a:gd name="connsiteX48" fmla="*/ 1369508 w 1424802"/>
              <a:gd name="connsiteY48" fmla="*/ 779585 h 1424354"/>
              <a:gd name="connsiteX49" fmla="*/ 1381232 w 1424802"/>
              <a:gd name="connsiteY49" fmla="*/ 808892 h 1424354"/>
              <a:gd name="connsiteX50" fmla="*/ 1398816 w 1424802"/>
              <a:gd name="connsiteY50" fmla="*/ 885092 h 1424354"/>
              <a:gd name="connsiteX51" fmla="*/ 1410539 w 1424802"/>
              <a:gd name="connsiteY51" fmla="*/ 955431 h 1424354"/>
              <a:gd name="connsiteX52" fmla="*/ 1416401 w 1424802"/>
              <a:gd name="connsiteY52" fmla="*/ 973015 h 1424354"/>
              <a:gd name="connsiteX53" fmla="*/ 1410539 w 1424802"/>
              <a:gd name="connsiteY53" fmla="*/ 1125415 h 1424354"/>
              <a:gd name="connsiteX54" fmla="*/ 1404287 w 1424802"/>
              <a:gd name="connsiteY54" fmla="*/ 1249041 h 1424354"/>
              <a:gd name="connsiteX55" fmla="*/ 1287447 w 1424802"/>
              <a:gd name="connsiteY55" fmla="*/ 1383323 h 1424354"/>
              <a:gd name="connsiteX56" fmla="*/ 1269862 w 1424802"/>
              <a:gd name="connsiteY56" fmla="*/ 1395046 h 1424354"/>
              <a:gd name="connsiteX57" fmla="*/ 1234693 w 1424802"/>
              <a:gd name="connsiteY57" fmla="*/ 1406769 h 1424354"/>
              <a:gd name="connsiteX58" fmla="*/ 1217108 w 1424802"/>
              <a:gd name="connsiteY58" fmla="*/ 1412631 h 1424354"/>
              <a:gd name="connsiteX59" fmla="*/ 1176078 w 1424802"/>
              <a:gd name="connsiteY59" fmla="*/ 1418492 h 1424354"/>
              <a:gd name="connsiteX60" fmla="*/ 1140908 w 1424802"/>
              <a:gd name="connsiteY60" fmla="*/ 1424354 h 1424354"/>
              <a:gd name="connsiteX61" fmla="*/ 900585 w 1424802"/>
              <a:gd name="connsiteY61" fmla="*/ 1418492 h 1424354"/>
              <a:gd name="connsiteX62" fmla="*/ 883001 w 1424802"/>
              <a:gd name="connsiteY62" fmla="*/ 1412631 h 1424354"/>
              <a:gd name="connsiteX63" fmla="*/ 800939 w 1424802"/>
              <a:gd name="connsiteY63" fmla="*/ 1406769 h 1424354"/>
              <a:gd name="connsiteX64" fmla="*/ 630955 w 1424802"/>
              <a:gd name="connsiteY64" fmla="*/ 1400908 h 1424354"/>
              <a:gd name="connsiteX65" fmla="*/ 572339 w 1424802"/>
              <a:gd name="connsiteY65" fmla="*/ 1395046 h 1424354"/>
              <a:gd name="connsiteX66" fmla="*/ 476812 w 1424802"/>
              <a:gd name="connsiteY66" fmla="*/ 1400908 h 1424354"/>
              <a:gd name="connsiteX67" fmla="*/ 155426 w 1424802"/>
              <a:gd name="connsiteY67" fmla="*/ 1371600 h 1424354"/>
              <a:gd name="connsiteX68" fmla="*/ 83418 w 1424802"/>
              <a:gd name="connsiteY68" fmla="*/ 1299592 h 1424354"/>
              <a:gd name="connsiteX69" fmla="*/ 50662 w 1424802"/>
              <a:gd name="connsiteY69" fmla="*/ 1248508 h 1424354"/>
              <a:gd name="connsiteX70" fmla="*/ 33078 w 1424802"/>
              <a:gd name="connsiteY70" fmla="*/ 1230923 h 1424354"/>
              <a:gd name="connsiteX71" fmla="*/ 21355 w 1424802"/>
              <a:gd name="connsiteY71" fmla="*/ 1189892 h 1424354"/>
              <a:gd name="connsiteX72" fmla="*/ 9632 w 1424802"/>
              <a:gd name="connsiteY72" fmla="*/ 1143000 h 1424354"/>
              <a:gd name="connsiteX73" fmla="*/ 9632 w 1424802"/>
              <a:gd name="connsiteY73" fmla="*/ 943708 h 1424354"/>
              <a:gd name="connsiteX74" fmla="*/ 15493 w 1424802"/>
              <a:gd name="connsiteY74" fmla="*/ 926123 h 1424354"/>
              <a:gd name="connsiteX75" fmla="*/ 21355 w 1424802"/>
              <a:gd name="connsiteY75" fmla="*/ 873369 h 1424354"/>
              <a:gd name="connsiteX76" fmla="*/ 27216 w 1424802"/>
              <a:gd name="connsiteY76" fmla="*/ 855785 h 1424354"/>
              <a:gd name="connsiteX77" fmla="*/ 33078 w 1424802"/>
              <a:gd name="connsiteY77" fmla="*/ 820615 h 1424354"/>
              <a:gd name="connsiteX78" fmla="*/ 50662 w 1424802"/>
              <a:gd name="connsiteY78" fmla="*/ 779585 h 1424354"/>
              <a:gd name="connsiteX79" fmla="*/ 62385 w 1424802"/>
              <a:gd name="connsiteY79" fmla="*/ 738554 h 1424354"/>
              <a:gd name="connsiteX80" fmla="*/ 74108 w 1424802"/>
              <a:gd name="connsiteY80" fmla="*/ 715108 h 1424354"/>
              <a:gd name="connsiteX81" fmla="*/ 85832 w 1424802"/>
              <a:gd name="connsiteY81" fmla="*/ 674077 h 1424354"/>
              <a:gd name="connsiteX82" fmla="*/ 91693 w 1424802"/>
              <a:gd name="connsiteY82" fmla="*/ 656492 h 1424354"/>
              <a:gd name="connsiteX83" fmla="*/ 97555 w 1424802"/>
              <a:gd name="connsiteY83" fmla="*/ 627185 h 1424354"/>
              <a:gd name="connsiteX84" fmla="*/ 103416 w 1424802"/>
              <a:gd name="connsiteY84" fmla="*/ 609600 h 1424354"/>
              <a:gd name="connsiteX85" fmla="*/ 102366 w 1424802"/>
              <a:gd name="connsiteY85" fmla="*/ 546969 h 1424354"/>
              <a:gd name="connsiteX86" fmla="*/ 83418 w 1424802"/>
              <a:gd name="connsiteY86" fmla="*/ 435496 h 1424354"/>
              <a:gd name="connsiteX87" fmla="*/ 83418 w 1424802"/>
              <a:gd name="connsiteY87" fmla="*/ 291480 h 1424354"/>
              <a:gd name="connsiteX88" fmla="*/ 85832 w 1424802"/>
              <a:gd name="connsiteY88" fmla="*/ 263769 h 1424354"/>
              <a:gd name="connsiteX89" fmla="*/ 79970 w 1424802"/>
              <a:gd name="connsiteY89" fmla="*/ 246185 h 1424354"/>
              <a:gd name="connsiteX0" fmla="*/ 79970 w 1424802"/>
              <a:gd name="connsiteY0" fmla="*/ 246185 h 1424354"/>
              <a:gd name="connsiteX1" fmla="*/ 97555 w 1424802"/>
              <a:gd name="connsiteY1" fmla="*/ 193431 h 1424354"/>
              <a:gd name="connsiteX2" fmla="*/ 103416 w 1424802"/>
              <a:gd name="connsiteY2" fmla="*/ 175846 h 1424354"/>
              <a:gd name="connsiteX3" fmla="*/ 109278 w 1424802"/>
              <a:gd name="connsiteY3" fmla="*/ 152400 h 1424354"/>
              <a:gd name="connsiteX4" fmla="*/ 132724 w 1424802"/>
              <a:gd name="connsiteY4" fmla="*/ 117231 h 1424354"/>
              <a:gd name="connsiteX5" fmla="*/ 82870 w 1424802"/>
              <a:gd name="connsiteY5" fmla="*/ 75475 h 1424354"/>
              <a:gd name="connsiteX6" fmla="*/ 197201 w 1424802"/>
              <a:gd name="connsiteY6" fmla="*/ 70338 h 1424354"/>
              <a:gd name="connsiteX7" fmla="*/ 226508 w 1424802"/>
              <a:gd name="connsiteY7" fmla="*/ 52754 h 1424354"/>
              <a:gd name="connsiteX8" fmla="*/ 261678 w 1424802"/>
              <a:gd name="connsiteY8" fmla="*/ 41031 h 1424354"/>
              <a:gd name="connsiteX9" fmla="*/ 308570 w 1424802"/>
              <a:gd name="connsiteY9" fmla="*/ 23446 h 1424354"/>
              <a:gd name="connsiteX10" fmla="*/ 326155 w 1424802"/>
              <a:gd name="connsiteY10" fmla="*/ 17585 h 1424354"/>
              <a:gd name="connsiteX11" fmla="*/ 367185 w 1424802"/>
              <a:gd name="connsiteY11" fmla="*/ 11723 h 1424354"/>
              <a:gd name="connsiteX12" fmla="*/ 490278 w 1424802"/>
              <a:gd name="connsiteY12" fmla="*/ 0 h 1424354"/>
              <a:gd name="connsiteX13" fmla="*/ 607508 w 1424802"/>
              <a:gd name="connsiteY13" fmla="*/ 11723 h 1424354"/>
              <a:gd name="connsiteX14" fmla="*/ 625093 w 1424802"/>
              <a:gd name="connsiteY14" fmla="*/ 17585 h 1424354"/>
              <a:gd name="connsiteX15" fmla="*/ 671985 w 1424802"/>
              <a:gd name="connsiteY15" fmla="*/ 29308 h 1424354"/>
              <a:gd name="connsiteX16" fmla="*/ 695432 w 1424802"/>
              <a:gd name="connsiteY16" fmla="*/ 35169 h 1424354"/>
              <a:gd name="connsiteX17" fmla="*/ 718878 w 1424802"/>
              <a:gd name="connsiteY17" fmla="*/ 46892 h 1424354"/>
              <a:gd name="connsiteX18" fmla="*/ 754047 w 1424802"/>
              <a:gd name="connsiteY18" fmla="*/ 58615 h 1424354"/>
              <a:gd name="connsiteX19" fmla="*/ 771632 w 1424802"/>
              <a:gd name="connsiteY19" fmla="*/ 70338 h 1424354"/>
              <a:gd name="connsiteX20" fmla="*/ 789216 w 1424802"/>
              <a:gd name="connsiteY20" fmla="*/ 87923 h 1424354"/>
              <a:gd name="connsiteX21" fmla="*/ 824385 w 1424802"/>
              <a:gd name="connsiteY21" fmla="*/ 99646 h 1424354"/>
              <a:gd name="connsiteX22" fmla="*/ 841970 w 1424802"/>
              <a:gd name="connsiteY22" fmla="*/ 117231 h 1424354"/>
              <a:gd name="connsiteX23" fmla="*/ 847832 w 1424802"/>
              <a:gd name="connsiteY23" fmla="*/ 134815 h 1424354"/>
              <a:gd name="connsiteX24" fmla="*/ 865416 w 1424802"/>
              <a:gd name="connsiteY24" fmla="*/ 140677 h 1424354"/>
              <a:gd name="connsiteX25" fmla="*/ 906447 w 1424802"/>
              <a:gd name="connsiteY25" fmla="*/ 175846 h 1424354"/>
              <a:gd name="connsiteX26" fmla="*/ 918170 w 1424802"/>
              <a:gd name="connsiteY26" fmla="*/ 193431 h 1424354"/>
              <a:gd name="connsiteX27" fmla="*/ 935755 w 1424802"/>
              <a:gd name="connsiteY27" fmla="*/ 205154 h 1424354"/>
              <a:gd name="connsiteX28" fmla="*/ 959201 w 1424802"/>
              <a:gd name="connsiteY28" fmla="*/ 222738 h 1424354"/>
              <a:gd name="connsiteX29" fmla="*/ 976785 w 1424802"/>
              <a:gd name="connsiteY29" fmla="*/ 234462 h 1424354"/>
              <a:gd name="connsiteX30" fmla="*/ 994370 w 1424802"/>
              <a:gd name="connsiteY30" fmla="*/ 257908 h 1424354"/>
              <a:gd name="connsiteX31" fmla="*/ 1035401 w 1424802"/>
              <a:gd name="connsiteY31" fmla="*/ 281354 h 1424354"/>
              <a:gd name="connsiteX32" fmla="*/ 1058847 w 1424802"/>
              <a:gd name="connsiteY32" fmla="*/ 310662 h 1424354"/>
              <a:gd name="connsiteX33" fmla="*/ 1099878 w 1424802"/>
              <a:gd name="connsiteY33" fmla="*/ 345831 h 1424354"/>
              <a:gd name="connsiteX34" fmla="*/ 1129185 w 1424802"/>
              <a:gd name="connsiteY34" fmla="*/ 386862 h 1424354"/>
              <a:gd name="connsiteX35" fmla="*/ 1135047 w 1424802"/>
              <a:gd name="connsiteY35" fmla="*/ 404446 h 1424354"/>
              <a:gd name="connsiteX36" fmla="*/ 1170216 w 1424802"/>
              <a:gd name="connsiteY36" fmla="*/ 445477 h 1424354"/>
              <a:gd name="connsiteX37" fmla="*/ 1187801 w 1424802"/>
              <a:gd name="connsiteY37" fmla="*/ 468923 h 1424354"/>
              <a:gd name="connsiteX38" fmla="*/ 1211247 w 1424802"/>
              <a:gd name="connsiteY38" fmla="*/ 504092 h 1424354"/>
              <a:gd name="connsiteX39" fmla="*/ 1240555 w 1424802"/>
              <a:gd name="connsiteY39" fmla="*/ 545123 h 1424354"/>
              <a:gd name="connsiteX40" fmla="*/ 1264001 w 1424802"/>
              <a:gd name="connsiteY40" fmla="*/ 592015 h 1424354"/>
              <a:gd name="connsiteX41" fmla="*/ 1269862 w 1424802"/>
              <a:gd name="connsiteY41" fmla="*/ 609600 h 1424354"/>
              <a:gd name="connsiteX42" fmla="*/ 1287447 w 1424802"/>
              <a:gd name="connsiteY42" fmla="*/ 638908 h 1424354"/>
              <a:gd name="connsiteX43" fmla="*/ 1299170 w 1424802"/>
              <a:gd name="connsiteY43" fmla="*/ 662354 h 1424354"/>
              <a:gd name="connsiteX44" fmla="*/ 1316755 w 1424802"/>
              <a:gd name="connsiteY44" fmla="*/ 679938 h 1424354"/>
              <a:gd name="connsiteX45" fmla="*/ 1340201 w 1424802"/>
              <a:gd name="connsiteY45" fmla="*/ 720969 h 1424354"/>
              <a:gd name="connsiteX46" fmla="*/ 1351924 w 1424802"/>
              <a:gd name="connsiteY46" fmla="*/ 744415 h 1424354"/>
              <a:gd name="connsiteX47" fmla="*/ 1357785 w 1424802"/>
              <a:gd name="connsiteY47" fmla="*/ 762000 h 1424354"/>
              <a:gd name="connsiteX48" fmla="*/ 1369508 w 1424802"/>
              <a:gd name="connsiteY48" fmla="*/ 779585 h 1424354"/>
              <a:gd name="connsiteX49" fmla="*/ 1381232 w 1424802"/>
              <a:gd name="connsiteY49" fmla="*/ 808892 h 1424354"/>
              <a:gd name="connsiteX50" fmla="*/ 1398816 w 1424802"/>
              <a:gd name="connsiteY50" fmla="*/ 885092 h 1424354"/>
              <a:gd name="connsiteX51" fmla="*/ 1410539 w 1424802"/>
              <a:gd name="connsiteY51" fmla="*/ 955431 h 1424354"/>
              <a:gd name="connsiteX52" fmla="*/ 1416401 w 1424802"/>
              <a:gd name="connsiteY52" fmla="*/ 973015 h 1424354"/>
              <a:gd name="connsiteX53" fmla="*/ 1410539 w 1424802"/>
              <a:gd name="connsiteY53" fmla="*/ 1125415 h 1424354"/>
              <a:gd name="connsiteX54" fmla="*/ 1404287 w 1424802"/>
              <a:gd name="connsiteY54" fmla="*/ 1249041 h 1424354"/>
              <a:gd name="connsiteX55" fmla="*/ 1287447 w 1424802"/>
              <a:gd name="connsiteY55" fmla="*/ 1383323 h 1424354"/>
              <a:gd name="connsiteX56" fmla="*/ 1269862 w 1424802"/>
              <a:gd name="connsiteY56" fmla="*/ 1395046 h 1424354"/>
              <a:gd name="connsiteX57" fmla="*/ 1234693 w 1424802"/>
              <a:gd name="connsiteY57" fmla="*/ 1406769 h 1424354"/>
              <a:gd name="connsiteX58" fmla="*/ 1217108 w 1424802"/>
              <a:gd name="connsiteY58" fmla="*/ 1412631 h 1424354"/>
              <a:gd name="connsiteX59" fmla="*/ 1176078 w 1424802"/>
              <a:gd name="connsiteY59" fmla="*/ 1418492 h 1424354"/>
              <a:gd name="connsiteX60" fmla="*/ 1140908 w 1424802"/>
              <a:gd name="connsiteY60" fmla="*/ 1424354 h 1424354"/>
              <a:gd name="connsiteX61" fmla="*/ 900585 w 1424802"/>
              <a:gd name="connsiteY61" fmla="*/ 1418492 h 1424354"/>
              <a:gd name="connsiteX62" fmla="*/ 883001 w 1424802"/>
              <a:gd name="connsiteY62" fmla="*/ 1412631 h 1424354"/>
              <a:gd name="connsiteX63" fmla="*/ 800939 w 1424802"/>
              <a:gd name="connsiteY63" fmla="*/ 1406769 h 1424354"/>
              <a:gd name="connsiteX64" fmla="*/ 630955 w 1424802"/>
              <a:gd name="connsiteY64" fmla="*/ 1400908 h 1424354"/>
              <a:gd name="connsiteX65" fmla="*/ 572339 w 1424802"/>
              <a:gd name="connsiteY65" fmla="*/ 1395046 h 1424354"/>
              <a:gd name="connsiteX66" fmla="*/ 476812 w 1424802"/>
              <a:gd name="connsiteY66" fmla="*/ 1400908 h 1424354"/>
              <a:gd name="connsiteX67" fmla="*/ 155426 w 1424802"/>
              <a:gd name="connsiteY67" fmla="*/ 1371600 h 1424354"/>
              <a:gd name="connsiteX68" fmla="*/ 83418 w 1424802"/>
              <a:gd name="connsiteY68" fmla="*/ 1299592 h 1424354"/>
              <a:gd name="connsiteX69" fmla="*/ 50662 w 1424802"/>
              <a:gd name="connsiteY69" fmla="*/ 1248508 h 1424354"/>
              <a:gd name="connsiteX70" fmla="*/ 33078 w 1424802"/>
              <a:gd name="connsiteY70" fmla="*/ 1230923 h 1424354"/>
              <a:gd name="connsiteX71" fmla="*/ 21355 w 1424802"/>
              <a:gd name="connsiteY71" fmla="*/ 1189892 h 1424354"/>
              <a:gd name="connsiteX72" fmla="*/ 9632 w 1424802"/>
              <a:gd name="connsiteY72" fmla="*/ 1143000 h 1424354"/>
              <a:gd name="connsiteX73" fmla="*/ 9632 w 1424802"/>
              <a:gd name="connsiteY73" fmla="*/ 943708 h 1424354"/>
              <a:gd name="connsiteX74" fmla="*/ 15493 w 1424802"/>
              <a:gd name="connsiteY74" fmla="*/ 926123 h 1424354"/>
              <a:gd name="connsiteX75" fmla="*/ 21355 w 1424802"/>
              <a:gd name="connsiteY75" fmla="*/ 873369 h 1424354"/>
              <a:gd name="connsiteX76" fmla="*/ 27216 w 1424802"/>
              <a:gd name="connsiteY76" fmla="*/ 855785 h 1424354"/>
              <a:gd name="connsiteX77" fmla="*/ 33078 w 1424802"/>
              <a:gd name="connsiteY77" fmla="*/ 820615 h 1424354"/>
              <a:gd name="connsiteX78" fmla="*/ 50662 w 1424802"/>
              <a:gd name="connsiteY78" fmla="*/ 779585 h 1424354"/>
              <a:gd name="connsiteX79" fmla="*/ 62385 w 1424802"/>
              <a:gd name="connsiteY79" fmla="*/ 738554 h 1424354"/>
              <a:gd name="connsiteX80" fmla="*/ 74108 w 1424802"/>
              <a:gd name="connsiteY80" fmla="*/ 715108 h 1424354"/>
              <a:gd name="connsiteX81" fmla="*/ 85832 w 1424802"/>
              <a:gd name="connsiteY81" fmla="*/ 674077 h 1424354"/>
              <a:gd name="connsiteX82" fmla="*/ 91693 w 1424802"/>
              <a:gd name="connsiteY82" fmla="*/ 656492 h 1424354"/>
              <a:gd name="connsiteX83" fmla="*/ 97555 w 1424802"/>
              <a:gd name="connsiteY83" fmla="*/ 627185 h 1424354"/>
              <a:gd name="connsiteX84" fmla="*/ 103416 w 1424802"/>
              <a:gd name="connsiteY84" fmla="*/ 609600 h 1424354"/>
              <a:gd name="connsiteX85" fmla="*/ 102366 w 1424802"/>
              <a:gd name="connsiteY85" fmla="*/ 546969 h 1424354"/>
              <a:gd name="connsiteX86" fmla="*/ 83418 w 1424802"/>
              <a:gd name="connsiteY86" fmla="*/ 435496 h 1424354"/>
              <a:gd name="connsiteX87" fmla="*/ 83418 w 1424802"/>
              <a:gd name="connsiteY87" fmla="*/ 291480 h 1424354"/>
              <a:gd name="connsiteX88" fmla="*/ 85832 w 1424802"/>
              <a:gd name="connsiteY88" fmla="*/ 263769 h 1424354"/>
              <a:gd name="connsiteX89" fmla="*/ 79970 w 1424802"/>
              <a:gd name="connsiteY89" fmla="*/ 246185 h 1424354"/>
              <a:gd name="connsiteX0" fmla="*/ 79970 w 1424802"/>
              <a:gd name="connsiteY0" fmla="*/ 316389 h 1494558"/>
              <a:gd name="connsiteX1" fmla="*/ 97555 w 1424802"/>
              <a:gd name="connsiteY1" fmla="*/ 263635 h 1494558"/>
              <a:gd name="connsiteX2" fmla="*/ 103416 w 1424802"/>
              <a:gd name="connsiteY2" fmla="*/ 246050 h 1494558"/>
              <a:gd name="connsiteX3" fmla="*/ 109278 w 1424802"/>
              <a:gd name="connsiteY3" fmla="*/ 222604 h 1494558"/>
              <a:gd name="connsiteX4" fmla="*/ 132724 w 1424802"/>
              <a:gd name="connsiteY4" fmla="*/ 187435 h 1494558"/>
              <a:gd name="connsiteX5" fmla="*/ 82870 w 1424802"/>
              <a:gd name="connsiteY5" fmla="*/ 145679 h 1494558"/>
              <a:gd name="connsiteX6" fmla="*/ 197201 w 1424802"/>
              <a:gd name="connsiteY6" fmla="*/ 140542 h 1494558"/>
              <a:gd name="connsiteX7" fmla="*/ 226508 w 1424802"/>
              <a:gd name="connsiteY7" fmla="*/ 122958 h 1494558"/>
              <a:gd name="connsiteX8" fmla="*/ 261678 w 1424802"/>
              <a:gd name="connsiteY8" fmla="*/ 111235 h 1494558"/>
              <a:gd name="connsiteX9" fmla="*/ 308570 w 1424802"/>
              <a:gd name="connsiteY9" fmla="*/ 93650 h 1494558"/>
              <a:gd name="connsiteX10" fmla="*/ 326155 w 1424802"/>
              <a:gd name="connsiteY10" fmla="*/ 87789 h 1494558"/>
              <a:gd name="connsiteX11" fmla="*/ 367185 w 1424802"/>
              <a:gd name="connsiteY11" fmla="*/ 81927 h 1494558"/>
              <a:gd name="connsiteX12" fmla="*/ 490278 w 1424802"/>
              <a:gd name="connsiteY12" fmla="*/ 70204 h 1494558"/>
              <a:gd name="connsiteX13" fmla="*/ 607508 w 1424802"/>
              <a:gd name="connsiteY13" fmla="*/ 81927 h 1494558"/>
              <a:gd name="connsiteX14" fmla="*/ 659264 w 1424802"/>
              <a:gd name="connsiteY14" fmla="*/ 1626 h 1494558"/>
              <a:gd name="connsiteX15" fmla="*/ 671985 w 1424802"/>
              <a:gd name="connsiteY15" fmla="*/ 99512 h 1494558"/>
              <a:gd name="connsiteX16" fmla="*/ 695432 w 1424802"/>
              <a:gd name="connsiteY16" fmla="*/ 105373 h 1494558"/>
              <a:gd name="connsiteX17" fmla="*/ 718878 w 1424802"/>
              <a:gd name="connsiteY17" fmla="*/ 117096 h 1494558"/>
              <a:gd name="connsiteX18" fmla="*/ 754047 w 1424802"/>
              <a:gd name="connsiteY18" fmla="*/ 128819 h 1494558"/>
              <a:gd name="connsiteX19" fmla="*/ 771632 w 1424802"/>
              <a:gd name="connsiteY19" fmla="*/ 140542 h 1494558"/>
              <a:gd name="connsiteX20" fmla="*/ 789216 w 1424802"/>
              <a:gd name="connsiteY20" fmla="*/ 158127 h 1494558"/>
              <a:gd name="connsiteX21" fmla="*/ 824385 w 1424802"/>
              <a:gd name="connsiteY21" fmla="*/ 169850 h 1494558"/>
              <a:gd name="connsiteX22" fmla="*/ 841970 w 1424802"/>
              <a:gd name="connsiteY22" fmla="*/ 187435 h 1494558"/>
              <a:gd name="connsiteX23" fmla="*/ 847832 w 1424802"/>
              <a:gd name="connsiteY23" fmla="*/ 205019 h 1494558"/>
              <a:gd name="connsiteX24" fmla="*/ 865416 w 1424802"/>
              <a:gd name="connsiteY24" fmla="*/ 210881 h 1494558"/>
              <a:gd name="connsiteX25" fmla="*/ 906447 w 1424802"/>
              <a:gd name="connsiteY25" fmla="*/ 246050 h 1494558"/>
              <a:gd name="connsiteX26" fmla="*/ 918170 w 1424802"/>
              <a:gd name="connsiteY26" fmla="*/ 263635 h 1494558"/>
              <a:gd name="connsiteX27" fmla="*/ 935755 w 1424802"/>
              <a:gd name="connsiteY27" fmla="*/ 275358 h 1494558"/>
              <a:gd name="connsiteX28" fmla="*/ 959201 w 1424802"/>
              <a:gd name="connsiteY28" fmla="*/ 292942 h 1494558"/>
              <a:gd name="connsiteX29" fmla="*/ 976785 w 1424802"/>
              <a:gd name="connsiteY29" fmla="*/ 304666 h 1494558"/>
              <a:gd name="connsiteX30" fmla="*/ 994370 w 1424802"/>
              <a:gd name="connsiteY30" fmla="*/ 328112 h 1494558"/>
              <a:gd name="connsiteX31" fmla="*/ 1035401 w 1424802"/>
              <a:gd name="connsiteY31" fmla="*/ 351558 h 1494558"/>
              <a:gd name="connsiteX32" fmla="*/ 1058847 w 1424802"/>
              <a:gd name="connsiteY32" fmla="*/ 380866 h 1494558"/>
              <a:gd name="connsiteX33" fmla="*/ 1099878 w 1424802"/>
              <a:gd name="connsiteY33" fmla="*/ 416035 h 1494558"/>
              <a:gd name="connsiteX34" fmla="*/ 1129185 w 1424802"/>
              <a:gd name="connsiteY34" fmla="*/ 457066 h 1494558"/>
              <a:gd name="connsiteX35" fmla="*/ 1135047 w 1424802"/>
              <a:gd name="connsiteY35" fmla="*/ 474650 h 1494558"/>
              <a:gd name="connsiteX36" fmla="*/ 1170216 w 1424802"/>
              <a:gd name="connsiteY36" fmla="*/ 515681 h 1494558"/>
              <a:gd name="connsiteX37" fmla="*/ 1187801 w 1424802"/>
              <a:gd name="connsiteY37" fmla="*/ 539127 h 1494558"/>
              <a:gd name="connsiteX38" fmla="*/ 1211247 w 1424802"/>
              <a:gd name="connsiteY38" fmla="*/ 574296 h 1494558"/>
              <a:gd name="connsiteX39" fmla="*/ 1240555 w 1424802"/>
              <a:gd name="connsiteY39" fmla="*/ 615327 h 1494558"/>
              <a:gd name="connsiteX40" fmla="*/ 1264001 w 1424802"/>
              <a:gd name="connsiteY40" fmla="*/ 662219 h 1494558"/>
              <a:gd name="connsiteX41" fmla="*/ 1269862 w 1424802"/>
              <a:gd name="connsiteY41" fmla="*/ 679804 h 1494558"/>
              <a:gd name="connsiteX42" fmla="*/ 1287447 w 1424802"/>
              <a:gd name="connsiteY42" fmla="*/ 709112 h 1494558"/>
              <a:gd name="connsiteX43" fmla="*/ 1299170 w 1424802"/>
              <a:gd name="connsiteY43" fmla="*/ 732558 h 1494558"/>
              <a:gd name="connsiteX44" fmla="*/ 1316755 w 1424802"/>
              <a:gd name="connsiteY44" fmla="*/ 750142 h 1494558"/>
              <a:gd name="connsiteX45" fmla="*/ 1340201 w 1424802"/>
              <a:gd name="connsiteY45" fmla="*/ 791173 h 1494558"/>
              <a:gd name="connsiteX46" fmla="*/ 1351924 w 1424802"/>
              <a:gd name="connsiteY46" fmla="*/ 814619 h 1494558"/>
              <a:gd name="connsiteX47" fmla="*/ 1357785 w 1424802"/>
              <a:gd name="connsiteY47" fmla="*/ 832204 h 1494558"/>
              <a:gd name="connsiteX48" fmla="*/ 1369508 w 1424802"/>
              <a:gd name="connsiteY48" fmla="*/ 849789 h 1494558"/>
              <a:gd name="connsiteX49" fmla="*/ 1381232 w 1424802"/>
              <a:gd name="connsiteY49" fmla="*/ 879096 h 1494558"/>
              <a:gd name="connsiteX50" fmla="*/ 1398816 w 1424802"/>
              <a:gd name="connsiteY50" fmla="*/ 955296 h 1494558"/>
              <a:gd name="connsiteX51" fmla="*/ 1410539 w 1424802"/>
              <a:gd name="connsiteY51" fmla="*/ 1025635 h 1494558"/>
              <a:gd name="connsiteX52" fmla="*/ 1416401 w 1424802"/>
              <a:gd name="connsiteY52" fmla="*/ 1043219 h 1494558"/>
              <a:gd name="connsiteX53" fmla="*/ 1410539 w 1424802"/>
              <a:gd name="connsiteY53" fmla="*/ 1195619 h 1494558"/>
              <a:gd name="connsiteX54" fmla="*/ 1404287 w 1424802"/>
              <a:gd name="connsiteY54" fmla="*/ 1319245 h 1494558"/>
              <a:gd name="connsiteX55" fmla="*/ 1287447 w 1424802"/>
              <a:gd name="connsiteY55" fmla="*/ 1453527 h 1494558"/>
              <a:gd name="connsiteX56" fmla="*/ 1269862 w 1424802"/>
              <a:gd name="connsiteY56" fmla="*/ 1465250 h 1494558"/>
              <a:gd name="connsiteX57" fmla="*/ 1234693 w 1424802"/>
              <a:gd name="connsiteY57" fmla="*/ 1476973 h 1494558"/>
              <a:gd name="connsiteX58" fmla="*/ 1217108 w 1424802"/>
              <a:gd name="connsiteY58" fmla="*/ 1482835 h 1494558"/>
              <a:gd name="connsiteX59" fmla="*/ 1176078 w 1424802"/>
              <a:gd name="connsiteY59" fmla="*/ 1488696 h 1494558"/>
              <a:gd name="connsiteX60" fmla="*/ 1140908 w 1424802"/>
              <a:gd name="connsiteY60" fmla="*/ 1494558 h 1494558"/>
              <a:gd name="connsiteX61" fmla="*/ 900585 w 1424802"/>
              <a:gd name="connsiteY61" fmla="*/ 1488696 h 1494558"/>
              <a:gd name="connsiteX62" fmla="*/ 883001 w 1424802"/>
              <a:gd name="connsiteY62" fmla="*/ 1482835 h 1494558"/>
              <a:gd name="connsiteX63" fmla="*/ 800939 w 1424802"/>
              <a:gd name="connsiteY63" fmla="*/ 1476973 h 1494558"/>
              <a:gd name="connsiteX64" fmla="*/ 630955 w 1424802"/>
              <a:gd name="connsiteY64" fmla="*/ 1471112 h 1494558"/>
              <a:gd name="connsiteX65" fmla="*/ 572339 w 1424802"/>
              <a:gd name="connsiteY65" fmla="*/ 1465250 h 1494558"/>
              <a:gd name="connsiteX66" fmla="*/ 476812 w 1424802"/>
              <a:gd name="connsiteY66" fmla="*/ 1471112 h 1494558"/>
              <a:gd name="connsiteX67" fmla="*/ 155426 w 1424802"/>
              <a:gd name="connsiteY67" fmla="*/ 1441804 h 1494558"/>
              <a:gd name="connsiteX68" fmla="*/ 83418 w 1424802"/>
              <a:gd name="connsiteY68" fmla="*/ 1369796 h 1494558"/>
              <a:gd name="connsiteX69" fmla="*/ 50662 w 1424802"/>
              <a:gd name="connsiteY69" fmla="*/ 1318712 h 1494558"/>
              <a:gd name="connsiteX70" fmla="*/ 33078 w 1424802"/>
              <a:gd name="connsiteY70" fmla="*/ 1301127 h 1494558"/>
              <a:gd name="connsiteX71" fmla="*/ 21355 w 1424802"/>
              <a:gd name="connsiteY71" fmla="*/ 1260096 h 1494558"/>
              <a:gd name="connsiteX72" fmla="*/ 9632 w 1424802"/>
              <a:gd name="connsiteY72" fmla="*/ 1213204 h 1494558"/>
              <a:gd name="connsiteX73" fmla="*/ 9632 w 1424802"/>
              <a:gd name="connsiteY73" fmla="*/ 1013912 h 1494558"/>
              <a:gd name="connsiteX74" fmla="*/ 15493 w 1424802"/>
              <a:gd name="connsiteY74" fmla="*/ 996327 h 1494558"/>
              <a:gd name="connsiteX75" fmla="*/ 21355 w 1424802"/>
              <a:gd name="connsiteY75" fmla="*/ 943573 h 1494558"/>
              <a:gd name="connsiteX76" fmla="*/ 27216 w 1424802"/>
              <a:gd name="connsiteY76" fmla="*/ 925989 h 1494558"/>
              <a:gd name="connsiteX77" fmla="*/ 33078 w 1424802"/>
              <a:gd name="connsiteY77" fmla="*/ 890819 h 1494558"/>
              <a:gd name="connsiteX78" fmla="*/ 50662 w 1424802"/>
              <a:gd name="connsiteY78" fmla="*/ 849789 h 1494558"/>
              <a:gd name="connsiteX79" fmla="*/ 62385 w 1424802"/>
              <a:gd name="connsiteY79" fmla="*/ 808758 h 1494558"/>
              <a:gd name="connsiteX80" fmla="*/ 74108 w 1424802"/>
              <a:gd name="connsiteY80" fmla="*/ 785312 h 1494558"/>
              <a:gd name="connsiteX81" fmla="*/ 85832 w 1424802"/>
              <a:gd name="connsiteY81" fmla="*/ 744281 h 1494558"/>
              <a:gd name="connsiteX82" fmla="*/ 91693 w 1424802"/>
              <a:gd name="connsiteY82" fmla="*/ 726696 h 1494558"/>
              <a:gd name="connsiteX83" fmla="*/ 97555 w 1424802"/>
              <a:gd name="connsiteY83" fmla="*/ 697389 h 1494558"/>
              <a:gd name="connsiteX84" fmla="*/ 103416 w 1424802"/>
              <a:gd name="connsiteY84" fmla="*/ 679804 h 1494558"/>
              <a:gd name="connsiteX85" fmla="*/ 102366 w 1424802"/>
              <a:gd name="connsiteY85" fmla="*/ 617173 h 1494558"/>
              <a:gd name="connsiteX86" fmla="*/ 83418 w 1424802"/>
              <a:gd name="connsiteY86" fmla="*/ 505700 h 1494558"/>
              <a:gd name="connsiteX87" fmla="*/ 83418 w 1424802"/>
              <a:gd name="connsiteY87" fmla="*/ 361684 h 1494558"/>
              <a:gd name="connsiteX88" fmla="*/ 85832 w 1424802"/>
              <a:gd name="connsiteY88" fmla="*/ 333973 h 1494558"/>
              <a:gd name="connsiteX89" fmla="*/ 79970 w 1424802"/>
              <a:gd name="connsiteY89" fmla="*/ 316389 h 1494558"/>
              <a:gd name="connsiteX0" fmla="*/ 79970 w 1424802"/>
              <a:gd name="connsiteY0" fmla="*/ 316389 h 1494558"/>
              <a:gd name="connsiteX1" fmla="*/ 97555 w 1424802"/>
              <a:gd name="connsiteY1" fmla="*/ 263635 h 1494558"/>
              <a:gd name="connsiteX2" fmla="*/ 103416 w 1424802"/>
              <a:gd name="connsiteY2" fmla="*/ 246050 h 1494558"/>
              <a:gd name="connsiteX3" fmla="*/ 109278 w 1424802"/>
              <a:gd name="connsiteY3" fmla="*/ 222604 h 1494558"/>
              <a:gd name="connsiteX4" fmla="*/ 132724 w 1424802"/>
              <a:gd name="connsiteY4" fmla="*/ 187435 h 1494558"/>
              <a:gd name="connsiteX5" fmla="*/ 82870 w 1424802"/>
              <a:gd name="connsiteY5" fmla="*/ 145679 h 1494558"/>
              <a:gd name="connsiteX6" fmla="*/ 197201 w 1424802"/>
              <a:gd name="connsiteY6" fmla="*/ 140542 h 1494558"/>
              <a:gd name="connsiteX7" fmla="*/ 226508 w 1424802"/>
              <a:gd name="connsiteY7" fmla="*/ 122958 h 1494558"/>
              <a:gd name="connsiteX8" fmla="*/ 261678 w 1424802"/>
              <a:gd name="connsiteY8" fmla="*/ 111235 h 1494558"/>
              <a:gd name="connsiteX9" fmla="*/ 308570 w 1424802"/>
              <a:gd name="connsiteY9" fmla="*/ 93650 h 1494558"/>
              <a:gd name="connsiteX10" fmla="*/ 326155 w 1424802"/>
              <a:gd name="connsiteY10" fmla="*/ 87789 h 1494558"/>
              <a:gd name="connsiteX11" fmla="*/ 367185 w 1424802"/>
              <a:gd name="connsiteY11" fmla="*/ 81927 h 1494558"/>
              <a:gd name="connsiteX12" fmla="*/ 443116 w 1424802"/>
              <a:gd name="connsiteY12" fmla="*/ 1626 h 1494558"/>
              <a:gd name="connsiteX13" fmla="*/ 607508 w 1424802"/>
              <a:gd name="connsiteY13" fmla="*/ 81927 h 1494558"/>
              <a:gd name="connsiteX14" fmla="*/ 659264 w 1424802"/>
              <a:gd name="connsiteY14" fmla="*/ 1626 h 1494558"/>
              <a:gd name="connsiteX15" fmla="*/ 671985 w 1424802"/>
              <a:gd name="connsiteY15" fmla="*/ 99512 h 1494558"/>
              <a:gd name="connsiteX16" fmla="*/ 695432 w 1424802"/>
              <a:gd name="connsiteY16" fmla="*/ 105373 h 1494558"/>
              <a:gd name="connsiteX17" fmla="*/ 718878 w 1424802"/>
              <a:gd name="connsiteY17" fmla="*/ 117096 h 1494558"/>
              <a:gd name="connsiteX18" fmla="*/ 754047 w 1424802"/>
              <a:gd name="connsiteY18" fmla="*/ 128819 h 1494558"/>
              <a:gd name="connsiteX19" fmla="*/ 771632 w 1424802"/>
              <a:gd name="connsiteY19" fmla="*/ 140542 h 1494558"/>
              <a:gd name="connsiteX20" fmla="*/ 789216 w 1424802"/>
              <a:gd name="connsiteY20" fmla="*/ 158127 h 1494558"/>
              <a:gd name="connsiteX21" fmla="*/ 824385 w 1424802"/>
              <a:gd name="connsiteY21" fmla="*/ 169850 h 1494558"/>
              <a:gd name="connsiteX22" fmla="*/ 841970 w 1424802"/>
              <a:gd name="connsiteY22" fmla="*/ 187435 h 1494558"/>
              <a:gd name="connsiteX23" fmla="*/ 847832 w 1424802"/>
              <a:gd name="connsiteY23" fmla="*/ 205019 h 1494558"/>
              <a:gd name="connsiteX24" fmla="*/ 865416 w 1424802"/>
              <a:gd name="connsiteY24" fmla="*/ 210881 h 1494558"/>
              <a:gd name="connsiteX25" fmla="*/ 906447 w 1424802"/>
              <a:gd name="connsiteY25" fmla="*/ 246050 h 1494558"/>
              <a:gd name="connsiteX26" fmla="*/ 918170 w 1424802"/>
              <a:gd name="connsiteY26" fmla="*/ 263635 h 1494558"/>
              <a:gd name="connsiteX27" fmla="*/ 935755 w 1424802"/>
              <a:gd name="connsiteY27" fmla="*/ 275358 h 1494558"/>
              <a:gd name="connsiteX28" fmla="*/ 959201 w 1424802"/>
              <a:gd name="connsiteY28" fmla="*/ 292942 h 1494558"/>
              <a:gd name="connsiteX29" fmla="*/ 976785 w 1424802"/>
              <a:gd name="connsiteY29" fmla="*/ 304666 h 1494558"/>
              <a:gd name="connsiteX30" fmla="*/ 994370 w 1424802"/>
              <a:gd name="connsiteY30" fmla="*/ 328112 h 1494558"/>
              <a:gd name="connsiteX31" fmla="*/ 1035401 w 1424802"/>
              <a:gd name="connsiteY31" fmla="*/ 351558 h 1494558"/>
              <a:gd name="connsiteX32" fmla="*/ 1058847 w 1424802"/>
              <a:gd name="connsiteY32" fmla="*/ 380866 h 1494558"/>
              <a:gd name="connsiteX33" fmla="*/ 1099878 w 1424802"/>
              <a:gd name="connsiteY33" fmla="*/ 416035 h 1494558"/>
              <a:gd name="connsiteX34" fmla="*/ 1129185 w 1424802"/>
              <a:gd name="connsiteY34" fmla="*/ 457066 h 1494558"/>
              <a:gd name="connsiteX35" fmla="*/ 1135047 w 1424802"/>
              <a:gd name="connsiteY35" fmla="*/ 474650 h 1494558"/>
              <a:gd name="connsiteX36" fmla="*/ 1170216 w 1424802"/>
              <a:gd name="connsiteY36" fmla="*/ 515681 h 1494558"/>
              <a:gd name="connsiteX37" fmla="*/ 1187801 w 1424802"/>
              <a:gd name="connsiteY37" fmla="*/ 539127 h 1494558"/>
              <a:gd name="connsiteX38" fmla="*/ 1211247 w 1424802"/>
              <a:gd name="connsiteY38" fmla="*/ 574296 h 1494558"/>
              <a:gd name="connsiteX39" fmla="*/ 1240555 w 1424802"/>
              <a:gd name="connsiteY39" fmla="*/ 615327 h 1494558"/>
              <a:gd name="connsiteX40" fmla="*/ 1264001 w 1424802"/>
              <a:gd name="connsiteY40" fmla="*/ 662219 h 1494558"/>
              <a:gd name="connsiteX41" fmla="*/ 1269862 w 1424802"/>
              <a:gd name="connsiteY41" fmla="*/ 679804 h 1494558"/>
              <a:gd name="connsiteX42" fmla="*/ 1287447 w 1424802"/>
              <a:gd name="connsiteY42" fmla="*/ 709112 h 1494558"/>
              <a:gd name="connsiteX43" fmla="*/ 1299170 w 1424802"/>
              <a:gd name="connsiteY43" fmla="*/ 732558 h 1494558"/>
              <a:gd name="connsiteX44" fmla="*/ 1316755 w 1424802"/>
              <a:gd name="connsiteY44" fmla="*/ 750142 h 1494558"/>
              <a:gd name="connsiteX45" fmla="*/ 1340201 w 1424802"/>
              <a:gd name="connsiteY45" fmla="*/ 791173 h 1494558"/>
              <a:gd name="connsiteX46" fmla="*/ 1351924 w 1424802"/>
              <a:gd name="connsiteY46" fmla="*/ 814619 h 1494558"/>
              <a:gd name="connsiteX47" fmla="*/ 1357785 w 1424802"/>
              <a:gd name="connsiteY47" fmla="*/ 832204 h 1494558"/>
              <a:gd name="connsiteX48" fmla="*/ 1369508 w 1424802"/>
              <a:gd name="connsiteY48" fmla="*/ 849789 h 1494558"/>
              <a:gd name="connsiteX49" fmla="*/ 1381232 w 1424802"/>
              <a:gd name="connsiteY49" fmla="*/ 879096 h 1494558"/>
              <a:gd name="connsiteX50" fmla="*/ 1398816 w 1424802"/>
              <a:gd name="connsiteY50" fmla="*/ 955296 h 1494558"/>
              <a:gd name="connsiteX51" fmla="*/ 1410539 w 1424802"/>
              <a:gd name="connsiteY51" fmla="*/ 1025635 h 1494558"/>
              <a:gd name="connsiteX52" fmla="*/ 1416401 w 1424802"/>
              <a:gd name="connsiteY52" fmla="*/ 1043219 h 1494558"/>
              <a:gd name="connsiteX53" fmla="*/ 1410539 w 1424802"/>
              <a:gd name="connsiteY53" fmla="*/ 1195619 h 1494558"/>
              <a:gd name="connsiteX54" fmla="*/ 1404287 w 1424802"/>
              <a:gd name="connsiteY54" fmla="*/ 1319245 h 1494558"/>
              <a:gd name="connsiteX55" fmla="*/ 1287447 w 1424802"/>
              <a:gd name="connsiteY55" fmla="*/ 1453527 h 1494558"/>
              <a:gd name="connsiteX56" fmla="*/ 1269862 w 1424802"/>
              <a:gd name="connsiteY56" fmla="*/ 1465250 h 1494558"/>
              <a:gd name="connsiteX57" fmla="*/ 1234693 w 1424802"/>
              <a:gd name="connsiteY57" fmla="*/ 1476973 h 1494558"/>
              <a:gd name="connsiteX58" fmla="*/ 1217108 w 1424802"/>
              <a:gd name="connsiteY58" fmla="*/ 1482835 h 1494558"/>
              <a:gd name="connsiteX59" fmla="*/ 1176078 w 1424802"/>
              <a:gd name="connsiteY59" fmla="*/ 1488696 h 1494558"/>
              <a:gd name="connsiteX60" fmla="*/ 1140908 w 1424802"/>
              <a:gd name="connsiteY60" fmla="*/ 1494558 h 1494558"/>
              <a:gd name="connsiteX61" fmla="*/ 900585 w 1424802"/>
              <a:gd name="connsiteY61" fmla="*/ 1488696 h 1494558"/>
              <a:gd name="connsiteX62" fmla="*/ 883001 w 1424802"/>
              <a:gd name="connsiteY62" fmla="*/ 1482835 h 1494558"/>
              <a:gd name="connsiteX63" fmla="*/ 800939 w 1424802"/>
              <a:gd name="connsiteY63" fmla="*/ 1476973 h 1494558"/>
              <a:gd name="connsiteX64" fmla="*/ 630955 w 1424802"/>
              <a:gd name="connsiteY64" fmla="*/ 1471112 h 1494558"/>
              <a:gd name="connsiteX65" fmla="*/ 572339 w 1424802"/>
              <a:gd name="connsiteY65" fmla="*/ 1465250 h 1494558"/>
              <a:gd name="connsiteX66" fmla="*/ 476812 w 1424802"/>
              <a:gd name="connsiteY66" fmla="*/ 1471112 h 1494558"/>
              <a:gd name="connsiteX67" fmla="*/ 155426 w 1424802"/>
              <a:gd name="connsiteY67" fmla="*/ 1441804 h 1494558"/>
              <a:gd name="connsiteX68" fmla="*/ 83418 w 1424802"/>
              <a:gd name="connsiteY68" fmla="*/ 1369796 h 1494558"/>
              <a:gd name="connsiteX69" fmla="*/ 50662 w 1424802"/>
              <a:gd name="connsiteY69" fmla="*/ 1318712 h 1494558"/>
              <a:gd name="connsiteX70" fmla="*/ 33078 w 1424802"/>
              <a:gd name="connsiteY70" fmla="*/ 1301127 h 1494558"/>
              <a:gd name="connsiteX71" fmla="*/ 21355 w 1424802"/>
              <a:gd name="connsiteY71" fmla="*/ 1260096 h 1494558"/>
              <a:gd name="connsiteX72" fmla="*/ 9632 w 1424802"/>
              <a:gd name="connsiteY72" fmla="*/ 1213204 h 1494558"/>
              <a:gd name="connsiteX73" fmla="*/ 9632 w 1424802"/>
              <a:gd name="connsiteY73" fmla="*/ 1013912 h 1494558"/>
              <a:gd name="connsiteX74" fmla="*/ 15493 w 1424802"/>
              <a:gd name="connsiteY74" fmla="*/ 996327 h 1494558"/>
              <a:gd name="connsiteX75" fmla="*/ 21355 w 1424802"/>
              <a:gd name="connsiteY75" fmla="*/ 943573 h 1494558"/>
              <a:gd name="connsiteX76" fmla="*/ 27216 w 1424802"/>
              <a:gd name="connsiteY76" fmla="*/ 925989 h 1494558"/>
              <a:gd name="connsiteX77" fmla="*/ 33078 w 1424802"/>
              <a:gd name="connsiteY77" fmla="*/ 890819 h 1494558"/>
              <a:gd name="connsiteX78" fmla="*/ 50662 w 1424802"/>
              <a:gd name="connsiteY78" fmla="*/ 849789 h 1494558"/>
              <a:gd name="connsiteX79" fmla="*/ 62385 w 1424802"/>
              <a:gd name="connsiteY79" fmla="*/ 808758 h 1494558"/>
              <a:gd name="connsiteX80" fmla="*/ 74108 w 1424802"/>
              <a:gd name="connsiteY80" fmla="*/ 785312 h 1494558"/>
              <a:gd name="connsiteX81" fmla="*/ 85832 w 1424802"/>
              <a:gd name="connsiteY81" fmla="*/ 744281 h 1494558"/>
              <a:gd name="connsiteX82" fmla="*/ 91693 w 1424802"/>
              <a:gd name="connsiteY82" fmla="*/ 726696 h 1494558"/>
              <a:gd name="connsiteX83" fmla="*/ 97555 w 1424802"/>
              <a:gd name="connsiteY83" fmla="*/ 697389 h 1494558"/>
              <a:gd name="connsiteX84" fmla="*/ 103416 w 1424802"/>
              <a:gd name="connsiteY84" fmla="*/ 679804 h 1494558"/>
              <a:gd name="connsiteX85" fmla="*/ 102366 w 1424802"/>
              <a:gd name="connsiteY85" fmla="*/ 617173 h 1494558"/>
              <a:gd name="connsiteX86" fmla="*/ 83418 w 1424802"/>
              <a:gd name="connsiteY86" fmla="*/ 505700 h 1494558"/>
              <a:gd name="connsiteX87" fmla="*/ 83418 w 1424802"/>
              <a:gd name="connsiteY87" fmla="*/ 361684 h 1494558"/>
              <a:gd name="connsiteX88" fmla="*/ 85832 w 1424802"/>
              <a:gd name="connsiteY88" fmla="*/ 333973 h 1494558"/>
              <a:gd name="connsiteX89" fmla="*/ 79970 w 1424802"/>
              <a:gd name="connsiteY89" fmla="*/ 316389 h 1494558"/>
              <a:gd name="connsiteX0" fmla="*/ 79970 w 1424802"/>
              <a:gd name="connsiteY0" fmla="*/ 317472 h 1495641"/>
              <a:gd name="connsiteX1" fmla="*/ 97555 w 1424802"/>
              <a:gd name="connsiteY1" fmla="*/ 264718 h 1495641"/>
              <a:gd name="connsiteX2" fmla="*/ 103416 w 1424802"/>
              <a:gd name="connsiteY2" fmla="*/ 247133 h 1495641"/>
              <a:gd name="connsiteX3" fmla="*/ 109278 w 1424802"/>
              <a:gd name="connsiteY3" fmla="*/ 223687 h 1495641"/>
              <a:gd name="connsiteX4" fmla="*/ 132724 w 1424802"/>
              <a:gd name="connsiteY4" fmla="*/ 188518 h 1495641"/>
              <a:gd name="connsiteX5" fmla="*/ 82870 w 1424802"/>
              <a:gd name="connsiteY5" fmla="*/ 146762 h 1495641"/>
              <a:gd name="connsiteX6" fmla="*/ 197201 w 1424802"/>
              <a:gd name="connsiteY6" fmla="*/ 141625 h 1495641"/>
              <a:gd name="connsiteX7" fmla="*/ 226508 w 1424802"/>
              <a:gd name="connsiteY7" fmla="*/ 124041 h 1495641"/>
              <a:gd name="connsiteX8" fmla="*/ 261678 w 1424802"/>
              <a:gd name="connsiteY8" fmla="*/ 112318 h 1495641"/>
              <a:gd name="connsiteX9" fmla="*/ 308570 w 1424802"/>
              <a:gd name="connsiteY9" fmla="*/ 94733 h 1495641"/>
              <a:gd name="connsiteX10" fmla="*/ 299018 w 1424802"/>
              <a:gd name="connsiteY10" fmla="*/ 2709 h 1495641"/>
              <a:gd name="connsiteX11" fmla="*/ 367185 w 1424802"/>
              <a:gd name="connsiteY11" fmla="*/ 83010 h 1495641"/>
              <a:gd name="connsiteX12" fmla="*/ 443116 w 1424802"/>
              <a:gd name="connsiteY12" fmla="*/ 2709 h 1495641"/>
              <a:gd name="connsiteX13" fmla="*/ 607508 w 1424802"/>
              <a:gd name="connsiteY13" fmla="*/ 83010 h 1495641"/>
              <a:gd name="connsiteX14" fmla="*/ 659264 w 1424802"/>
              <a:gd name="connsiteY14" fmla="*/ 2709 h 1495641"/>
              <a:gd name="connsiteX15" fmla="*/ 671985 w 1424802"/>
              <a:gd name="connsiteY15" fmla="*/ 100595 h 1495641"/>
              <a:gd name="connsiteX16" fmla="*/ 695432 w 1424802"/>
              <a:gd name="connsiteY16" fmla="*/ 106456 h 1495641"/>
              <a:gd name="connsiteX17" fmla="*/ 718878 w 1424802"/>
              <a:gd name="connsiteY17" fmla="*/ 118179 h 1495641"/>
              <a:gd name="connsiteX18" fmla="*/ 754047 w 1424802"/>
              <a:gd name="connsiteY18" fmla="*/ 129902 h 1495641"/>
              <a:gd name="connsiteX19" fmla="*/ 771632 w 1424802"/>
              <a:gd name="connsiteY19" fmla="*/ 141625 h 1495641"/>
              <a:gd name="connsiteX20" fmla="*/ 789216 w 1424802"/>
              <a:gd name="connsiteY20" fmla="*/ 159210 h 1495641"/>
              <a:gd name="connsiteX21" fmla="*/ 824385 w 1424802"/>
              <a:gd name="connsiteY21" fmla="*/ 170933 h 1495641"/>
              <a:gd name="connsiteX22" fmla="*/ 841970 w 1424802"/>
              <a:gd name="connsiteY22" fmla="*/ 188518 h 1495641"/>
              <a:gd name="connsiteX23" fmla="*/ 847832 w 1424802"/>
              <a:gd name="connsiteY23" fmla="*/ 206102 h 1495641"/>
              <a:gd name="connsiteX24" fmla="*/ 865416 w 1424802"/>
              <a:gd name="connsiteY24" fmla="*/ 211964 h 1495641"/>
              <a:gd name="connsiteX25" fmla="*/ 906447 w 1424802"/>
              <a:gd name="connsiteY25" fmla="*/ 247133 h 1495641"/>
              <a:gd name="connsiteX26" fmla="*/ 918170 w 1424802"/>
              <a:gd name="connsiteY26" fmla="*/ 264718 h 1495641"/>
              <a:gd name="connsiteX27" fmla="*/ 935755 w 1424802"/>
              <a:gd name="connsiteY27" fmla="*/ 276441 h 1495641"/>
              <a:gd name="connsiteX28" fmla="*/ 959201 w 1424802"/>
              <a:gd name="connsiteY28" fmla="*/ 294025 h 1495641"/>
              <a:gd name="connsiteX29" fmla="*/ 976785 w 1424802"/>
              <a:gd name="connsiteY29" fmla="*/ 305749 h 1495641"/>
              <a:gd name="connsiteX30" fmla="*/ 994370 w 1424802"/>
              <a:gd name="connsiteY30" fmla="*/ 329195 h 1495641"/>
              <a:gd name="connsiteX31" fmla="*/ 1035401 w 1424802"/>
              <a:gd name="connsiteY31" fmla="*/ 352641 h 1495641"/>
              <a:gd name="connsiteX32" fmla="*/ 1058847 w 1424802"/>
              <a:gd name="connsiteY32" fmla="*/ 381949 h 1495641"/>
              <a:gd name="connsiteX33" fmla="*/ 1099878 w 1424802"/>
              <a:gd name="connsiteY33" fmla="*/ 417118 h 1495641"/>
              <a:gd name="connsiteX34" fmla="*/ 1129185 w 1424802"/>
              <a:gd name="connsiteY34" fmla="*/ 458149 h 1495641"/>
              <a:gd name="connsiteX35" fmla="*/ 1135047 w 1424802"/>
              <a:gd name="connsiteY35" fmla="*/ 475733 h 1495641"/>
              <a:gd name="connsiteX36" fmla="*/ 1170216 w 1424802"/>
              <a:gd name="connsiteY36" fmla="*/ 516764 h 1495641"/>
              <a:gd name="connsiteX37" fmla="*/ 1187801 w 1424802"/>
              <a:gd name="connsiteY37" fmla="*/ 540210 h 1495641"/>
              <a:gd name="connsiteX38" fmla="*/ 1211247 w 1424802"/>
              <a:gd name="connsiteY38" fmla="*/ 575379 h 1495641"/>
              <a:gd name="connsiteX39" fmla="*/ 1240555 w 1424802"/>
              <a:gd name="connsiteY39" fmla="*/ 616410 h 1495641"/>
              <a:gd name="connsiteX40" fmla="*/ 1264001 w 1424802"/>
              <a:gd name="connsiteY40" fmla="*/ 663302 h 1495641"/>
              <a:gd name="connsiteX41" fmla="*/ 1269862 w 1424802"/>
              <a:gd name="connsiteY41" fmla="*/ 680887 h 1495641"/>
              <a:gd name="connsiteX42" fmla="*/ 1287447 w 1424802"/>
              <a:gd name="connsiteY42" fmla="*/ 710195 h 1495641"/>
              <a:gd name="connsiteX43" fmla="*/ 1299170 w 1424802"/>
              <a:gd name="connsiteY43" fmla="*/ 733641 h 1495641"/>
              <a:gd name="connsiteX44" fmla="*/ 1316755 w 1424802"/>
              <a:gd name="connsiteY44" fmla="*/ 751225 h 1495641"/>
              <a:gd name="connsiteX45" fmla="*/ 1340201 w 1424802"/>
              <a:gd name="connsiteY45" fmla="*/ 792256 h 1495641"/>
              <a:gd name="connsiteX46" fmla="*/ 1351924 w 1424802"/>
              <a:gd name="connsiteY46" fmla="*/ 815702 h 1495641"/>
              <a:gd name="connsiteX47" fmla="*/ 1357785 w 1424802"/>
              <a:gd name="connsiteY47" fmla="*/ 833287 h 1495641"/>
              <a:gd name="connsiteX48" fmla="*/ 1369508 w 1424802"/>
              <a:gd name="connsiteY48" fmla="*/ 850872 h 1495641"/>
              <a:gd name="connsiteX49" fmla="*/ 1381232 w 1424802"/>
              <a:gd name="connsiteY49" fmla="*/ 880179 h 1495641"/>
              <a:gd name="connsiteX50" fmla="*/ 1398816 w 1424802"/>
              <a:gd name="connsiteY50" fmla="*/ 956379 h 1495641"/>
              <a:gd name="connsiteX51" fmla="*/ 1410539 w 1424802"/>
              <a:gd name="connsiteY51" fmla="*/ 1026718 h 1495641"/>
              <a:gd name="connsiteX52" fmla="*/ 1416401 w 1424802"/>
              <a:gd name="connsiteY52" fmla="*/ 1044302 h 1495641"/>
              <a:gd name="connsiteX53" fmla="*/ 1410539 w 1424802"/>
              <a:gd name="connsiteY53" fmla="*/ 1196702 h 1495641"/>
              <a:gd name="connsiteX54" fmla="*/ 1404287 w 1424802"/>
              <a:gd name="connsiteY54" fmla="*/ 1320328 h 1495641"/>
              <a:gd name="connsiteX55" fmla="*/ 1287447 w 1424802"/>
              <a:gd name="connsiteY55" fmla="*/ 1454610 h 1495641"/>
              <a:gd name="connsiteX56" fmla="*/ 1269862 w 1424802"/>
              <a:gd name="connsiteY56" fmla="*/ 1466333 h 1495641"/>
              <a:gd name="connsiteX57" fmla="*/ 1234693 w 1424802"/>
              <a:gd name="connsiteY57" fmla="*/ 1478056 h 1495641"/>
              <a:gd name="connsiteX58" fmla="*/ 1217108 w 1424802"/>
              <a:gd name="connsiteY58" fmla="*/ 1483918 h 1495641"/>
              <a:gd name="connsiteX59" fmla="*/ 1176078 w 1424802"/>
              <a:gd name="connsiteY59" fmla="*/ 1489779 h 1495641"/>
              <a:gd name="connsiteX60" fmla="*/ 1140908 w 1424802"/>
              <a:gd name="connsiteY60" fmla="*/ 1495641 h 1495641"/>
              <a:gd name="connsiteX61" fmla="*/ 900585 w 1424802"/>
              <a:gd name="connsiteY61" fmla="*/ 1489779 h 1495641"/>
              <a:gd name="connsiteX62" fmla="*/ 883001 w 1424802"/>
              <a:gd name="connsiteY62" fmla="*/ 1483918 h 1495641"/>
              <a:gd name="connsiteX63" fmla="*/ 800939 w 1424802"/>
              <a:gd name="connsiteY63" fmla="*/ 1478056 h 1495641"/>
              <a:gd name="connsiteX64" fmla="*/ 630955 w 1424802"/>
              <a:gd name="connsiteY64" fmla="*/ 1472195 h 1495641"/>
              <a:gd name="connsiteX65" fmla="*/ 572339 w 1424802"/>
              <a:gd name="connsiteY65" fmla="*/ 1466333 h 1495641"/>
              <a:gd name="connsiteX66" fmla="*/ 476812 w 1424802"/>
              <a:gd name="connsiteY66" fmla="*/ 1472195 h 1495641"/>
              <a:gd name="connsiteX67" fmla="*/ 155426 w 1424802"/>
              <a:gd name="connsiteY67" fmla="*/ 1442887 h 1495641"/>
              <a:gd name="connsiteX68" fmla="*/ 83418 w 1424802"/>
              <a:gd name="connsiteY68" fmla="*/ 1370879 h 1495641"/>
              <a:gd name="connsiteX69" fmla="*/ 50662 w 1424802"/>
              <a:gd name="connsiteY69" fmla="*/ 1319795 h 1495641"/>
              <a:gd name="connsiteX70" fmla="*/ 33078 w 1424802"/>
              <a:gd name="connsiteY70" fmla="*/ 1302210 h 1495641"/>
              <a:gd name="connsiteX71" fmla="*/ 21355 w 1424802"/>
              <a:gd name="connsiteY71" fmla="*/ 1261179 h 1495641"/>
              <a:gd name="connsiteX72" fmla="*/ 9632 w 1424802"/>
              <a:gd name="connsiteY72" fmla="*/ 1214287 h 1495641"/>
              <a:gd name="connsiteX73" fmla="*/ 9632 w 1424802"/>
              <a:gd name="connsiteY73" fmla="*/ 1014995 h 1495641"/>
              <a:gd name="connsiteX74" fmla="*/ 15493 w 1424802"/>
              <a:gd name="connsiteY74" fmla="*/ 997410 h 1495641"/>
              <a:gd name="connsiteX75" fmla="*/ 21355 w 1424802"/>
              <a:gd name="connsiteY75" fmla="*/ 944656 h 1495641"/>
              <a:gd name="connsiteX76" fmla="*/ 27216 w 1424802"/>
              <a:gd name="connsiteY76" fmla="*/ 927072 h 1495641"/>
              <a:gd name="connsiteX77" fmla="*/ 33078 w 1424802"/>
              <a:gd name="connsiteY77" fmla="*/ 891902 h 1495641"/>
              <a:gd name="connsiteX78" fmla="*/ 50662 w 1424802"/>
              <a:gd name="connsiteY78" fmla="*/ 850872 h 1495641"/>
              <a:gd name="connsiteX79" fmla="*/ 62385 w 1424802"/>
              <a:gd name="connsiteY79" fmla="*/ 809841 h 1495641"/>
              <a:gd name="connsiteX80" fmla="*/ 74108 w 1424802"/>
              <a:gd name="connsiteY80" fmla="*/ 786395 h 1495641"/>
              <a:gd name="connsiteX81" fmla="*/ 85832 w 1424802"/>
              <a:gd name="connsiteY81" fmla="*/ 745364 h 1495641"/>
              <a:gd name="connsiteX82" fmla="*/ 91693 w 1424802"/>
              <a:gd name="connsiteY82" fmla="*/ 727779 h 1495641"/>
              <a:gd name="connsiteX83" fmla="*/ 97555 w 1424802"/>
              <a:gd name="connsiteY83" fmla="*/ 698472 h 1495641"/>
              <a:gd name="connsiteX84" fmla="*/ 103416 w 1424802"/>
              <a:gd name="connsiteY84" fmla="*/ 680887 h 1495641"/>
              <a:gd name="connsiteX85" fmla="*/ 102366 w 1424802"/>
              <a:gd name="connsiteY85" fmla="*/ 618256 h 1495641"/>
              <a:gd name="connsiteX86" fmla="*/ 83418 w 1424802"/>
              <a:gd name="connsiteY86" fmla="*/ 506783 h 1495641"/>
              <a:gd name="connsiteX87" fmla="*/ 83418 w 1424802"/>
              <a:gd name="connsiteY87" fmla="*/ 362767 h 1495641"/>
              <a:gd name="connsiteX88" fmla="*/ 85832 w 1424802"/>
              <a:gd name="connsiteY88" fmla="*/ 335056 h 1495641"/>
              <a:gd name="connsiteX89" fmla="*/ 79970 w 1424802"/>
              <a:gd name="connsiteY89" fmla="*/ 317472 h 1495641"/>
              <a:gd name="connsiteX0" fmla="*/ 79970 w 1424802"/>
              <a:gd name="connsiteY0" fmla="*/ 321103 h 1499272"/>
              <a:gd name="connsiteX1" fmla="*/ 97555 w 1424802"/>
              <a:gd name="connsiteY1" fmla="*/ 268349 h 1499272"/>
              <a:gd name="connsiteX2" fmla="*/ 103416 w 1424802"/>
              <a:gd name="connsiteY2" fmla="*/ 250764 h 1499272"/>
              <a:gd name="connsiteX3" fmla="*/ 109278 w 1424802"/>
              <a:gd name="connsiteY3" fmla="*/ 227318 h 1499272"/>
              <a:gd name="connsiteX4" fmla="*/ 132724 w 1424802"/>
              <a:gd name="connsiteY4" fmla="*/ 192149 h 1499272"/>
              <a:gd name="connsiteX5" fmla="*/ 82870 w 1424802"/>
              <a:gd name="connsiteY5" fmla="*/ 150393 h 1499272"/>
              <a:gd name="connsiteX6" fmla="*/ 197201 w 1424802"/>
              <a:gd name="connsiteY6" fmla="*/ 145256 h 1499272"/>
              <a:gd name="connsiteX7" fmla="*/ 226508 w 1424802"/>
              <a:gd name="connsiteY7" fmla="*/ 127672 h 1499272"/>
              <a:gd name="connsiteX8" fmla="*/ 261678 w 1424802"/>
              <a:gd name="connsiteY8" fmla="*/ 115949 h 1499272"/>
              <a:gd name="connsiteX9" fmla="*/ 308570 w 1424802"/>
              <a:gd name="connsiteY9" fmla="*/ 98364 h 1499272"/>
              <a:gd name="connsiteX10" fmla="*/ 299018 w 1424802"/>
              <a:gd name="connsiteY10" fmla="*/ 6340 h 1499272"/>
              <a:gd name="connsiteX11" fmla="*/ 371067 w 1424802"/>
              <a:gd name="connsiteY11" fmla="*/ 6342 h 1499272"/>
              <a:gd name="connsiteX12" fmla="*/ 443116 w 1424802"/>
              <a:gd name="connsiteY12" fmla="*/ 6340 h 1499272"/>
              <a:gd name="connsiteX13" fmla="*/ 607508 w 1424802"/>
              <a:gd name="connsiteY13" fmla="*/ 86641 h 1499272"/>
              <a:gd name="connsiteX14" fmla="*/ 659264 w 1424802"/>
              <a:gd name="connsiteY14" fmla="*/ 6340 h 1499272"/>
              <a:gd name="connsiteX15" fmla="*/ 671985 w 1424802"/>
              <a:gd name="connsiteY15" fmla="*/ 104226 h 1499272"/>
              <a:gd name="connsiteX16" fmla="*/ 695432 w 1424802"/>
              <a:gd name="connsiteY16" fmla="*/ 110087 h 1499272"/>
              <a:gd name="connsiteX17" fmla="*/ 718878 w 1424802"/>
              <a:gd name="connsiteY17" fmla="*/ 121810 h 1499272"/>
              <a:gd name="connsiteX18" fmla="*/ 754047 w 1424802"/>
              <a:gd name="connsiteY18" fmla="*/ 133533 h 1499272"/>
              <a:gd name="connsiteX19" fmla="*/ 771632 w 1424802"/>
              <a:gd name="connsiteY19" fmla="*/ 145256 h 1499272"/>
              <a:gd name="connsiteX20" fmla="*/ 789216 w 1424802"/>
              <a:gd name="connsiteY20" fmla="*/ 162841 h 1499272"/>
              <a:gd name="connsiteX21" fmla="*/ 824385 w 1424802"/>
              <a:gd name="connsiteY21" fmla="*/ 174564 h 1499272"/>
              <a:gd name="connsiteX22" fmla="*/ 841970 w 1424802"/>
              <a:gd name="connsiteY22" fmla="*/ 192149 h 1499272"/>
              <a:gd name="connsiteX23" fmla="*/ 847832 w 1424802"/>
              <a:gd name="connsiteY23" fmla="*/ 209733 h 1499272"/>
              <a:gd name="connsiteX24" fmla="*/ 865416 w 1424802"/>
              <a:gd name="connsiteY24" fmla="*/ 215595 h 1499272"/>
              <a:gd name="connsiteX25" fmla="*/ 906447 w 1424802"/>
              <a:gd name="connsiteY25" fmla="*/ 250764 h 1499272"/>
              <a:gd name="connsiteX26" fmla="*/ 918170 w 1424802"/>
              <a:gd name="connsiteY26" fmla="*/ 268349 h 1499272"/>
              <a:gd name="connsiteX27" fmla="*/ 935755 w 1424802"/>
              <a:gd name="connsiteY27" fmla="*/ 280072 h 1499272"/>
              <a:gd name="connsiteX28" fmla="*/ 959201 w 1424802"/>
              <a:gd name="connsiteY28" fmla="*/ 297656 h 1499272"/>
              <a:gd name="connsiteX29" fmla="*/ 976785 w 1424802"/>
              <a:gd name="connsiteY29" fmla="*/ 309380 h 1499272"/>
              <a:gd name="connsiteX30" fmla="*/ 994370 w 1424802"/>
              <a:gd name="connsiteY30" fmla="*/ 332826 h 1499272"/>
              <a:gd name="connsiteX31" fmla="*/ 1035401 w 1424802"/>
              <a:gd name="connsiteY31" fmla="*/ 356272 h 1499272"/>
              <a:gd name="connsiteX32" fmla="*/ 1058847 w 1424802"/>
              <a:gd name="connsiteY32" fmla="*/ 385580 h 1499272"/>
              <a:gd name="connsiteX33" fmla="*/ 1099878 w 1424802"/>
              <a:gd name="connsiteY33" fmla="*/ 420749 h 1499272"/>
              <a:gd name="connsiteX34" fmla="*/ 1129185 w 1424802"/>
              <a:gd name="connsiteY34" fmla="*/ 461780 h 1499272"/>
              <a:gd name="connsiteX35" fmla="*/ 1135047 w 1424802"/>
              <a:gd name="connsiteY35" fmla="*/ 479364 h 1499272"/>
              <a:gd name="connsiteX36" fmla="*/ 1170216 w 1424802"/>
              <a:gd name="connsiteY36" fmla="*/ 520395 h 1499272"/>
              <a:gd name="connsiteX37" fmla="*/ 1187801 w 1424802"/>
              <a:gd name="connsiteY37" fmla="*/ 543841 h 1499272"/>
              <a:gd name="connsiteX38" fmla="*/ 1211247 w 1424802"/>
              <a:gd name="connsiteY38" fmla="*/ 579010 h 1499272"/>
              <a:gd name="connsiteX39" fmla="*/ 1240555 w 1424802"/>
              <a:gd name="connsiteY39" fmla="*/ 620041 h 1499272"/>
              <a:gd name="connsiteX40" fmla="*/ 1264001 w 1424802"/>
              <a:gd name="connsiteY40" fmla="*/ 666933 h 1499272"/>
              <a:gd name="connsiteX41" fmla="*/ 1269862 w 1424802"/>
              <a:gd name="connsiteY41" fmla="*/ 684518 h 1499272"/>
              <a:gd name="connsiteX42" fmla="*/ 1287447 w 1424802"/>
              <a:gd name="connsiteY42" fmla="*/ 713826 h 1499272"/>
              <a:gd name="connsiteX43" fmla="*/ 1299170 w 1424802"/>
              <a:gd name="connsiteY43" fmla="*/ 737272 h 1499272"/>
              <a:gd name="connsiteX44" fmla="*/ 1316755 w 1424802"/>
              <a:gd name="connsiteY44" fmla="*/ 754856 h 1499272"/>
              <a:gd name="connsiteX45" fmla="*/ 1340201 w 1424802"/>
              <a:gd name="connsiteY45" fmla="*/ 795887 h 1499272"/>
              <a:gd name="connsiteX46" fmla="*/ 1351924 w 1424802"/>
              <a:gd name="connsiteY46" fmla="*/ 819333 h 1499272"/>
              <a:gd name="connsiteX47" fmla="*/ 1357785 w 1424802"/>
              <a:gd name="connsiteY47" fmla="*/ 836918 h 1499272"/>
              <a:gd name="connsiteX48" fmla="*/ 1369508 w 1424802"/>
              <a:gd name="connsiteY48" fmla="*/ 854503 h 1499272"/>
              <a:gd name="connsiteX49" fmla="*/ 1381232 w 1424802"/>
              <a:gd name="connsiteY49" fmla="*/ 883810 h 1499272"/>
              <a:gd name="connsiteX50" fmla="*/ 1398816 w 1424802"/>
              <a:gd name="connsiteY50" fmla="*/ 960010 h 1499272"/>
              <a:gd name="connsiteX51" fmla="*/ 1410539 w 1424802"/>
              <a:gd name="connsiteY51" fmla="*/ 1030349 h 1499272"/>
              <a:gd name="connsiteX52" fmla="*/ 1416401 w 1424802"/>
              <a:gd name="connsiteY52" fmla="*/ 1047933 h 1499272"/>
              <a:gd name="connsiteX53" fmla="*/ 1410539 w 1424802"/>
              <a:gd name="connsiteY53" fmla="*/ 1200333 h 1499272"/>
              <a:gd name="connsiteX54" fmla="*/ 1404287 w 1424802"/>
              <a:gd name="connsiteY54" fmla="*/ 1323959 h 1499272"/>
              <a:gd name="connsiteX55" fmla="*/ 1287447 w 1424802"/>
              <a:gd name="connsiteY55" fmla="*/ 1458241 h 1499272"/>
              <a:gd name="connsiteX56" fmla="*/ 1269862 w 1424802"/>
              <a:gd name="connsiteY56" fmla="*/ 1469964 h 1499272"/>
              <a:gd name="connsiteX57" fmla="*/ 1234693 w 1424802"/>
              <a:gd name="connsiteY57" fmla="*/ 1481687 h 1499272"/>
              <a:gd name="connsiteX58" fmla="*/ 1217108 w 1424802"/>
              <a:gd name="connsiteY58" fmla="*/ 1487549 h 1499272"/>
              <a:gd name="connsiteX59" fmla="*/ 1176078 w 1424802"/>
              <a:gd name="connsiteY59" fmla="*/ 1493410 h 1499272"/>
              <a:gd name="connsiteX60" fmla="*/ 1140908 w 1424802"/>
              <a:gd name="connsiteY60" fmla="*/ 1499272 h 1499272"/>
              <a:gd name="connsiteX61" fmla="*/ 900585 w 1424802"/>
              <a:gd name="connsiteY61" fmla="*/ 1493410 h 1499272"/>
              <a:gd name="connsiteX62" fmla="*/ 883001 w 1424802"/>
              <a:gd name="connsiteY62" fmla="*/ 1487549 h 1499272"/>
              <a:gd name="connsiteX63" fmla="*/ 800939 w 1424802"/>
              <a:gd name="connsiteY63" fmla="*/ 1481687 h 1499272"/>
              <a:gd name="connsiteX64" fmla="*/ 630955 w 1424802"/>
              <a:gd name="connsiteY64" fmla="*/ 1475826 h 1499272"/>
              <a:gd name="connsiteX65" fmla="*/ 572339 w 1424802"/>
              <a:gd name="connsiteY65" fmla="*/ 1469964 h 1499272"/>
              <a:gd name="connsiteX66" fmla="*/ 476812 w 1424802"/>
              <a:gd name="connsiteY66" fmla="*/ 1475826 h 1499272"/>
              <a:gd name="connsiteX67" fmla="*/ 155426 w 1424802"/>
              <a:gd name="connsiteY67" fmla="*/ 1446518 h 1499272"/>
              <a:gd name="connsiteX68" fmla="*/ 83418 w 1424802"/>
              <a:gd name="connsiteY68" fmla="*/ 1374510 h 1499272"/>
              <a:gd name="connsiteX69" fmla="*/ 50662 w 1424802"/>
              <a:gd name="connsiteY69" fmla="*/ 1323426 h 1499272"/>
              <a:gd name="connsiteX70" fmla="*/ 33078 w 1424802"/>
              <a:gd name="connsiteY70" fmla="*/ 1305841 h 1499272"/>
              <a:gd name="connsiteX71" fmla="*/ 21355 w 1424802"/>
              <a:gd name="connsiteY71" fmla="*/ 1264810 h 1499272"/>
              <a:gd name="connsiteX72" fmla="*/ 9632 w 1424802"/>
              <a:gd name="connsiteY72" fmla="*/ 1217918 h 1499272"/>
              <a:gd name="connsiteX73" fmla="*/ 9632 w 1424802"/>
              <a:gd name="connsiteY73" fmla="*/ 1018626 h 1499272"/>
              <a:gd name="connsiteX74" fmla="*/ 15493 w 1424802"/>
              <a:gd name="connsiteY74" fmla="*/ 1001041 h 1499272"/>
              <a:gd name="connsiteX75" fmla="*/ 21355 w 1424802"/>
              <a:gd name="connsiteY75" fmla="*/ 948287 h 1499272"/>
              <a:gd name="connsiteX76" fmla="*/ 27216 w 1424802"/>
              <a:gd name="connsiteY76" fmla="*/ 930703 h 1499272"/>
              <a:gd name="connsiteX77" fmla="*/ 33078 w 1424802"/>
              <a:gd name="connsiteY77" fmla="*/ 895533 h 1499272"/>
              <a:gd name="connsiteX78" fmla="*/ 50662 w 1424802"/>
              <a:gd name="connsiteY78" fmla="*/ 854503 h 1499272"/>
              <a:gd name="connsiteX79" fmla="*/ 62385 w 1424802"/>
              <a:gd name="connsiteY79" fmla="*/ 813472 h 1499272"/>
              <a:gd name="connsiteX80" fmla="*/ 74108 w 1424802"/>
              <a:gd name="connsiteY80" fmla="*/ 790026 h 1499272"/>
              <a:gd name="connsiteX81" fmla="*/ 85832 w 1424802"/>
              <a:gd name="connsiteY81" fmla="*/ 748995 h 1499272"/>
              <a:gd name="connsiteX82" fmla="*/ 91693 w 1424802"/>
              <a:gd name="connsiteY82" fmla="*/ 731410 h 1499272"/>
              <a:gd name="connsiteX83" fmla="*/ 97555 w 1424802"/>
              <a:gd name="connsiteY83" fmla="*/ 702103 h 1499272"/>
              <a:gd name="connsiteX84" fmla="*/ 103416 w 1424802"/>
              <a:gd name="connsiteY84" fmla="*/ 684518 h 1499272"/>
              <a:gd name="connsiteX85" fmla="*/ 102366 w 1424802"/>
              <a:gd name="connsiteY85" fmla="*/ 621887 h 1499272"/>
              <a:gd name="connsiteX86" fmla="*/ 83418 w 1424802"/>
              <a:gd name="connsiteY86" fmla="*/ 510414 h 1499272"/>
              <a:gd name="connsiteX87" fmla="*/ 83418 w 1424802"/>
              <a:gd name="connsiteY87" fmla="*/ 366398 h 1499272"/>
              <a:gd name="connsiteX88" fmla="*/ 85832 w 1424802"/>
              <a:gd name="connsiteY88" fmla="*/ 338687 h 1499272"/>
              <a:gd name="connsiteX89" fmla="*/ 79970 w 1424802"/>
              <a:gd name="connsiteY89" fmla="*/ 321103 h 1499272"/>
              <a:gd name="connsiteX0" fmla="*/ 79970 w 1424802"/>
              <a:gd name="connsiteY0" fmla="*/ 321103 h 1499272"/>
              <a:gd name="connsiteX1" fmla="*/ 97555 w 1424802"/>
              <a:gd name="connsiteY1" fmla="*/ 268349 h 1499272"/>
              <a:gd name="connsiteX2" fmla="*/ 103416 w 1424802"/>
              <a:gd name="connsiteY2" fmla="*/ 250764 h 1499272"/>
              <a:gd name="connsiteX3" fmla="*/ 109278 w 1424802"/>
              <a:gd name="connsiteY3" fmla="*/ 227318 h 1499272"/>
              <a:gd name="connsiteX4" fmla="*/ 132724 w 1424802"/>
              <a:gd name="connsiteY4" fmla="*/ 192149 h 1499272"/>
              <a:gd name="connsiteX5" fmla="*/ 82870 w 1424802"/>
              <a:gd name="connsiteY5" fmla="*/ 150393 h 1499272"/>
              <a:gd name="connsiteX6" fmla="*/ 197201 w 1424802"/>
              <a:gd name="connsiteY6" fmla="*/ 145256 h 1499272"/>
              <a:gd name="connsiteX7" fmla="*/ 226508 w 1424802"/>
              <a:gd name="connsiteY7" fmla="*/ 127672 h 1499272"/>
              <a:gd name="connsiteX8" fmla="*/ 226969 w 1424802"/>
              <a:gd name="connsiteY8" fmla="*/ 78368 h 1499272"/>
              <a:gd name="connsiteX9" fmla="*/ 308570 w 1424802"/>
              <a:gd name="connsiteY9" fmla="*/ 98364 h 1499272"/>
              <a:gd name="connsiteX10" fmla="*/ 299018 w 1424802"/>
              <a:gd name="connsiteY10" fmla="*/ 6340 h 1499272"/>
              <a:gd name="connsiteX11" fmla="*/ 371067 w 1424802"/>
              <a:gd name="connsiteY11" fmla="*/ 6342 h 1499272"/>
              <a:gd name="connsiteX12" fmla="*/ 443116 w 1424802"/>
              <a:gd name="connsiteY12" fmla="*/ 6340 h 1499272"/>
              <a:gd name="connsiteX13" fmla="*/ 607508 w 1424802"/>
              <a:gd name="connsiteY13" fmla="*/ 86641 h 1499272"/>
              <a:gd name="connsiteX14" fmla="*/ 659264 w 1424802"/>
              <a:gd name="connsiteY14" fmla="*/ 6340 h 1499272"/>
              <a:gd name="connsiteX15" fmla="*/ 671985 w 1424802"/>
              <a:gd name="connsiteY15" fmla="*/ 104226 h 1499272"/>
              <a:gd name="connsiteX16" fmla="*/ 695432 w 1424802"/>
              <a:gd name="connsiteY16" fmla="*/ 110087 h 1499272"/>
              <a:gd name="connsiteX17" fmla="*/ 718878 w 1424802"/>
              <a:gd name="connsiteY17" fmla="*/ 121810 h 1499272"/>
              <a:gd name="connsiteX18" fmla="*/ 754047 w 1424802"/>
              <a:gd name="connsiteY18" fmla="*/ 133533 h 1499272"/>
              <a:gd name="connsiteX19" fmla="*/ 771632 w 1424802"/>
              <a:gd name="connsiteY19" fmla="*/ 145256 h 1499272"/>
              <a:gd name="connsiteX20" fmla="*/ 789216 w 1424802"/>
              <a:gd name="connsiteY20" fmla="*/ 162841 h 1499272"/>
              <a:gd name="connsiteX21" fmla="*/ 824385 w 1424802"/>
              <a:gd name="connsiteY21" fmla="*/ 174564 h 1499272"/>
              <a:gd name="connsiteX22" fmla="*/ 841970 w 1424802"/>
              <a:gd name="connsiteY22" fmla="*/ 192149 h 1499272"/>
              <a:gd name="connsiteX23" fmla="*/ 847832 w 1424802"/>
              <a:gd name="connsiteY23" fmla="*/ 209733 h 1499272"/>
              <a:gd name="connsiteX24" fmla="*/ 865416 w 1424802"/>
              <a:gd name="connsiteY24" fmla="*/ 215595 h 1499272"/>
              <a:gd name="connsiteX25" fmla="*/ 906447 w 1424802"/>
              <a:gd name="connsiteY25" fmla="*/ 250764 h 1499272"/>
              <a:gd name="connsiteX26" fmla="*/ 918170 w 1424802"/>
              <a:gd name="connsiteY26" fmla="*/ 268349 h 1499272"/>
              <a:gd name="connsiteX27" fmla="*/ 935755 w 1424802"/>
              <a:gd name="connsiteY27" fmla="*/ 280072 h 1499272"/>
              <a:gd name="connsiteX28" fmla="*/ 959201 w 1424802"/>
              <a:gd name="connsiteY28" fmla="*/ 297656 h 1499272"/>
              <a:gd name="connsiteX29" fmla="*/ 976785 w 1424802"/>
              <a:gd name="connsiteY29" fmla="*/ 309380 h 1499272"/>
              <a:gd name="connsiteX30" fmla="*/ 994370 w 1424802"/>
              <a:gd name="connsiteY30" fmla="*/ 332826 h 1499272"/>
              <a:gd name="connsiteX31" fmla="*/ 1035401 w 1424802"/>
              <a:gd name="connsiteY31" fmla="*/ 356272 h 1499272"/>
              <a:gd name="connsiteX32" fmla="*/ 1058847 w 1424802"/>
              <a:gd name="connsiteY32" fmla="*/ 385580 h 1499272"/>
              <a:gd name="connsiteX33" fmla="*/ 1099878 w 1424802"/>
              <a:gd name="connsiteY33" fmla="*/ 420749 h 1499272"/>
              <a:gd name="connsiteX34" fmla="*/ 1129185 w 1424802"/>
              <a:gd name="connsiteY34" fmla="*/ 461780 h 1499272"/>
              <a:gd name="connsiteX35" fmla="*/ 1135047 w 1424802"/>
              <a:gd name="connsiteY35" fmla="*/ 479364 h 1499272"/>
              <a:gd name="connsiteX36" fmla="*/ 1170216 w 1424802"/>
              <a:gd name="connsiteY36" fmla="*/ 520395 h 1499272"/>
              <a:gd name="connsiteX37" fmla="*/ 1187801 w 1424802"/>
              <a:gd name="connsiteY37" fmla="*/ 543841 h 1499272"/>
              <a:gd name="connsiteX38" fmla="*/ 1211247 w 1424802"/>
              <a:gd name="connsiteY38" fmla="*/ 579010 h 1499272"/>
              <a:gd name="connsiteX39" fmla="*/ 1240555 w 1424802"/>
              <a:gd name="connsiteY39" fmla="*/ 620041 h 1499272"/>
              <a:gd name="connsiteX40" fmla="*/ 1264001 w 1424802"/>
              <a:gd name="connsiteY40" fmla="*/ 666933 h 1499272"/>
              <a:gd name="connsiteX41" fmla="*/ 1269862 w 1424802"/>
              <a:gd name="connsiteY41" fmla="*/ 684518 h 1499272"/>
              <a:gd name="connsiteX42" fmla="*/ 1287447 w 1424802"/>
              <a:gd name="connsiteY42" fmla="*/ 713826 h 1499272"/>
              <a:gd name="connsiteX43" fmla="*/ 1299170 w 1424802"/>
              <a:gd name="connsiteY43" fmla="*/ 737272 h 1499272"/>
              <a:gd name="connsiteX44" fmla="*/ 1316755 w 1424802"/>
              <a:gd name="connsiteY44" fmla="*/ 754856 h 1499272"/>
              <a:gd name="connsiteX45" fmla="*/ 1340201 w 1424802"/>
              <a:gd name="connsiteY45" fmla="*/ 795887 h 1499272"/>
              <a:gd name="connsiteX46" fmla="*/ 1351924 w 1424802"/>
              <a:gd name="connsiteY46" fmla="*/ 819333 h 1499272"/>
              <a:gd name="connsiteX47" fmla="*/ 1357785 w 1424802"/>
              <a:gd name="connsiteY47" fmla="*/ 836918 h 1499272"/>
              <a:gd name="connsiteX48" fmla="*/ 1369508 w 1424802"/>
              <a:gd name="connsiteY48" fmla="*/ 854503 h 1499272"/>
              <a:gd name="connsiteX49" fmla="*/ 1381232 w 1424802"/>
              <a:gd name="connsiteY49" fmla="*/ 883810 h 1499272"/>
              <a:gd name="connsiteX50" fmla="*/ 1398816 w 1424802"/>
              <a:gd name="connsiteY50" fmla="*/ 960010 h 1499272"/>
              <a:gd name="connsiteX51" fmla="*/ 1410539 w 1424802"/>
              <a:gd name="connsiteY51" fmla="*/ 1030349 h 1499272"/>
              <a:gd name="connsiteX52" fmla="*/ 1416401 w 1424802"/>
              <a:gd name="connsiteY52" fmla="*/ 1047933 h 1499272"/>
              <a:gd name="connsiteX53" fmla="*/ 1410539 w 1424802"/>
              <a:gd name="connsiteY53" fmla="*/ 1200333 h 1499272"/>
              <a:gd name="connsiteX54" fmla="*/ 1404287 w 1424802"/>
              <a:gd name="connsiteY54" fmla="*/ 1323959 h 1499272"/>
              <a:gd name="connsiteX55" fmla="*/ 1287447 w 1424802"/>
              <a:gd name="connsiteY55" fmla="*/ 1458241 h 1499272"/>
              <a:gd name="connsiteX56" fmla="*/ 1269862 w 1424802"/>
              <a:gd name="connsiteY56" fmla="*/ 1469964 h 1499272"/>
              <a:gd name="connsiteX57" fmla="*/ 1234693 w 1424802"/>
              <a:gd name="connsiteY57" fmla="*/ 1481687 h 1499272"/>
              <a:gd name="connsiteX58" fmla="*/ 1217108 w 1424802"/>
              <a:gd name="connsiteY58" fmla="*/ 1487549 h 1499272"/>
              <a:gd name="connsiteX59" fmla="*/ 1176078 w 1424802"/>
              <a:gd name="connsiteY59" fmla="*/ 1493410 h 1499272"/>
              <a:gd name="connsiteX60" fmla="*/ 1140908 w 1424802"/>
              <a:gd name="connsiteY60" fmla="*/ 1499272 h 1499272"/>
              <a:gd name="connsiteX61" fmla="*/ 900585 w 1424802"/>
              <a:gd name="connsiteY61" fmla="*/ 1493410 h 1499272"/>
              <a:gd name="connsiteX62" fmla="*/ 883001 w 1424802"/>
              <a:gd name="connsiteY62" fmla="*/ 1487549 h 1499272"/>
              <a:gd name="connsiteX63" fmla="*/ 800939 w 1424802"/>
              <a:gd name="connsiteY63" fmla="*/ 1481687 h 1499272"/>
              <a:gd name="connsiteX64" fmla="*/ 630955 w 1424802"/>
              <a:gd name="connsiteY64" fmla="*/ 1475826 h 1499272"/>
              <a:gd name="connsiteX65" fmla="*/ 572339 w 1424802"/>
              <a:gd name="connsiteY65" fmla="*/ 1469964 h 1499272"/>
              <a:gd name="connsiteX66" fmla="*/ 476812 w 1424802"/>
              <a:gd name="connsiteY66" fmla="*/ 1475826 h 1499272"/>
              <a:gd name="connsiteX67" fmla="*/ 155426 w 1424802"/>
              <a:gd name="connsiteY67" fmla="*/ 1446518 h 1499272"/>
              <a:gd name="connsiteX68" fmla="*/ 83418 w 1424802"/>
              <a:gd name="connsiteY68" fmla="*/ 1374510 h 1499272"/>
              <a:gd name="connsiteX69" fmla="*/ 50662 w 1424802"/>
              <a:gd name="connsiteY69" fmla="*/ 1323426 h 1499272"/>
              <a:gd name="connsiteX70" fmla="*/ 33078 w 1424802"/>
              <a:gd name="connsiteY70" fmla="*/ 1305841 h 1499272"/>
              <a:gd name="connsiteX71" fmla="*/ 21355 w 1424802"/>
              <a:gd name="connsiteY71" fmla="*/ 1264810 h 1499272"/>
              <a:gd name="connsiteX72" fmla="*/ 9632 w 1424802"/>
              <a:gd name="connsiteY72" fmla="*/ 1217918 h 1499272"/>
              <a:gd name="connsiteX73" fmla="*/ 9632 w 1424802"/>
              <a:gd name="connsiteY73" fmla="*/ 1018626 h 1499272"/>
              <a:gd name="connsiteX74" fmla="*/ 15493 w 1424802"/>
              <a:gd name="connsiteY74" fmla="*/ 1001041 h 1499272"/>
              <a:gd name="connsiteX75" fmla="*/ 21355 w 1424802"/>
              <a:gd name="connsiteY75" fmla="*/ 948287 h 1499272"/>
              <a:gd name="connsiteX76" fmla="*/ 27216 w 1424802"/>
              <a:gd name="connsiteY76" fmla="*/ 930703 h 1499272"/>
              <a:gd name="connsiteX77" fmla="*/ 33078 w 1424802"/>
              <a:gd name="connsiteY77" fmla="*/ 895533 h 1499272"/>
              <a:gd name="connsiteX78" fmla="*/ 50662 w 1424802"/>
              <a:gd name="connsiteY78" fmla="*/ 854503 h 1499272"/>
              <a:gd name="connsiteX79" fmla="*/ 62385 w 1424802"/>
              <a:gd name="connsiteY79" fmla="*/ 813472 h 1499272"/>
              <a:gd name="connsiteX80" fmla="*/ 74108 w 1424802"/>
              <a:gd name="connsiteY80" fmla="*/ 790026 h 1499272"/>
              <a:gd name="connsiteX81" fmla="*/ 85832 w 1424802"/>
              <a:gd name="connsiteY81" fmla="*/ 748995 h 1499272"/>
              <a:gd name="connsiteX82" fmla="*/ 91693 w 1424802"/>
              <a:gd name="connsiteY82" fmla="*/ 731410 h 1499272"/>
              <a:gd name="connsiteX83" fmla="*/ 97555 w 1424802"/>
              <a:gd name="connsiteY83" fmla="*/ 702103 h 1499272"/>
              <a:gd name="connsiteX84" fmla="*/ 103416 w 1424802"/>
              <a:gd name="connsiteY84" fmla="*/ 684518 h 1499272"/>
              <a:gd name="connsiteX85" fmla="*/ 102366 w 1424802"/>
              <a:gd name="connsiteY85" fmla="*/ 621887 h 1499272"/>
              <a:gd name="connsiteX86" fmla="*/ 83418 w 1424802"/>
              <a:gd name="connsiteY86" fmla="*/ 510414 h 1499272"/>
              <a:gd name="connsiteX87" fmla="*/ 83418 w 1424802"/>
              <a:gd name="connsiteY87" fmla="*/ 366398 h 1499272"/>
              <a:gd name="connsiteX88" fmla="*/ 85832 w 1424802"/>
              <a:gd name="connsiteY88" fmla="*/ 338687 h 1499272"/>
              <a:gd name="connsiteX89" fmla="*/ 79970 w 1424802"/>
              <a:gd name="connsiteY89" fmla="*/ 321103 h 1499272"/>
              <a:gd name="connsiteX0" fmla="*/ 79970 w 1424802"/>
              <a:gd name="connsiteY0" fmla="*/ 323492 h 1501661"/>
              <a:gd name="connsiteX1" fmla="*/ 97555 w 1424802"/>
              <a:gd name="connsiteY1" fmla="*/ 270738 h 1501661"/>
              <a:gd name="connsiteX2" fmla="*/ 103416 w 1424802"/>
              <a:gd name="connsiteY2" fmla="*/ 253153 h 1501661"/>
              <a:gd name="connsiteX3" fmla="*/ 109278 w 1424802"/>
              <a:gd name="connsiteY3" fmla="*/ 229707 h 1501661"/>
              <a:gd name="connsiteX4" fmla="*/ 132724 w 1424802"/>
              <a:gd name="connsiteY4" fmla="*/ 194538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695432 w 1424802"/>
              <a:gd name="connsiteY16" fmla="*/ 112476 h 1501661"/>
              <a:gd name="connsiteX17" fmla="*/ 718878 w 1424802"/>
              <a:gd name="connsiteY17" fmla="*/ 124199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103416 w 1424802"/>
              <a:gd name="connsiteY2" fmla="*/ 253153 h 1501661"/>
              <a:gd name="connsiteX3" fmla="*/ 109278 w 1424802"/>
              <a:gd name="connsiteY3" fmla="*/ 229707 h 1501661"/>
              <a:gd name="connsiteX4" fmla="*/ 132724 w 1424802"/>
              <a:gd name="connsiteY4" fmla="*/ 194538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695432 w 1424802"/>
              <a:gd name="connsiteY16" fmla="*/ 112476 h 1501661"/>
              <a:gd name="connsiteX17" fmla="*/ 731313 w 1424802"/>
              <a:gd name="connsiteY17" fmla="*/ 8730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103416 w 1424802"/>
              <a:gd name="connsiteY2" fmla="*/ 253153 h 1501661"/>
              <a:gd name="connsiteX3" fmla="*/ 109278 w 1424802"/>
              <a:gd name="connsiteY3" fmla="*/ 229707 h 1501661"/>
              <a:gd name="connsiteX4" fmla="*/ 132724 w 1424802"/>
              <a:gd name="connsiteY4" fmla="*/ 194538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731313 w 1424802"/>
              <a:gd name="connsiteY16" fmla="*/ 80757 h 1501661"/>
              <a:gd name="connsiteX17" fmla="*/ 731313 w 1424802"/>
              <a:gd name="connsiteY17" fmla="*/ 8730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103416 w 1424802"/>
              <a:gd name="connsiteY2" fmla="*/ 253153 h 1501661"/>
              <a:gd name="connsiteX3" fmla="*/ 109278 w 1424802"/>
              <a:gd name="connsiteY3" fmla="*/ 229707 h 1501661"/>
              <a:gd name="connsiteX4" fmla="*/ 82870 w 1424802"/>
              <a:gd name="connsiteY4" fmla="*/ 152783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731313 w 1424802"/>
              <a:gd name="connsiteY16" fmla="*/ 80757 h 1501661"/>
              <a:gd name="connsiteX17" fmla="*/ 731313 w 1424802"/>
              <a:gd name="connsiteY17" fmla="*/ 8730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103416 w 1424802"/>
              <a:gd name="connsiteY2" fmla="*/ 253153 h 1501661"/>
              <a:gd name="connsiteX3" fmla="*/ 82870 w 1424802"/>
              <a:gd name="connsiteY3" fmla="*/ 224810 h 1501661"/>
              <a:gd name="connsiteX4" fmla="*/ 82870 w 1424802"/>
              <a:gd name="connsiteY4" fmla="*/ 152783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731313 w 1424802"/>
              <a:gd name="connsiteY16" fmla="*/ 80757 h 1501661"/>
              <a:gd name="connsiteX17" fmla="*/ 731313 w 1424802"/>
              <a:gd name="connsiteY17" fmla="*/ 8730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82870 w 1424802"/>
              <a:gd name="connsiteY2" fmla="*/ 224810 h 1501661"/>
              <a:gd name="connsiteX3" fmla="*/ 82870 w 1424802"/>
              <a:gd name="connsiteY3" fmla="*/ 152783 h 1501661"/>
              <a:gd name="connsiteX4" fmla="*/ 82870 w 1424802"/>
              <a:gd name="connsiteY4" fmla="*/ 152782 h 1501661"/>
              <a:gd name="connsiteX5" fmla="*/ 197201 w 1424802"/>
              <a:gd name="connsiteY5" fmla="*/ 147645 h 1501661"/>
              <a:gd name="connsiteX6" fmla="*/ 226508 w 1424802"/>
              <a:gd name="connsiteY6" fmla="*/ 130061 h 1501661"/>
              <a:gd name="connsiteX7" fmla="*/ 226969 w 1424802"/>
              <a:gd name="connsiteY7" fmla="*/ 80757 h 1501661"/>
              <a:gd name="connsiteX8" fmla="*/ 308570 w 1424802"/>
              <a:gd name="connsiteY8" fmla="*/ 100753 h 1501661"/>
              <a:gd name="connsiteX9" fmla="*/ 299018 w 1424802"/>
              <a:gd name="connsiteY9" fmla="*/ 8729 h 1501661"/>
              <a:gd name="connsiteX10" fmla="*/ 371067 w 1424802"/>
              <a:gd name="connsiteY10" fmla="*/ 8731 h 1501661"/>
              <a:gd name="connsiteX11" fmla="*/ 443116 w 1424802"/>
              <a:gd name="connsiteY11" fmla="*/ 8729 h 1501661"/>
              <a:gd name="connsiteX12" fmla="*/ 587214 w 1424802"/>
              <a:gd name="connsiteY12" fmla="*/ 8731 h 1501661"/>
              <a:gd name="connsiteX13" fmla="*/ 659264 w 1424802"/>
              <a:gd name="connsiteY13" fmla="*/ 8729 h 1501661"/>
              <a:gd name="connsiteX14" fmla="*/ 671985 w 1424802"/>
              <a:gd name="connsiteY14" fmla="*/ 106615 h 1501661"/>
              <a:gd name="connsiteX15" fmla="*/ 731313 w 1424802"/>
              <a:gd name="connsiteY15" fmla="*/ 80757 h 1501661"/>
              <a:gd name="connsiteX16" fmla="*/ 731313 w 1424802"/>
              <a:gd name="connsiteY16" fmla="*/ 8730 h 1501661"/>
              <a:gd name="connsiteX17" fmla="*/ 754047 w 1424802"/>
              <a:gd name="connsiteY17" fmla="*/ 135922 h 1501661"/>
              <a:gd name="connsiteX18" fmla="*/ 771632 w 1424802"/>
              <a:gd name="connsiteY18" fmla="*/ 147645 h 1501661"/>
              <a:gd name="connsiteX19" fmla="*/ 789216 w 1424802"/>
              <a:gd name="connsiteY19" fmla="*/ 165230 h 1501661"/>
              <a:gd name="connsiteX20" fmla="*/ 824385 w 1424802"/>
              <a:gd name="connsiteY20" fmla="*/ 176953 h 1501661"/>
              <a:gd name="connsiteX21" fmla="*/ 841970 w 1424802"/>
              <a:gd name="connsiteY21" fmla="*/ 194538 h 1501661"/>
              <a:gd name="connsiteX22" fmla="*/ 847832 w 1424802"/>
              <a:gd name="connsiteY22" fmla="*/ 212122 h 1501661"/>
              <a:gd name="connsiteX23" fmla="*/ 865416 w 1424802"/>
              <a:gd name="connsiteY23" fmla="*/ 217984 h 1501661"/>
              <a:gd name="connsiteX24" fmla="*/ 906447 w 1424802"/>
              <a:gd name="connsiteY24" fmla="*/ 253153 h 1501661"/>
              <a:gd name="connsiteX25" fmla="*/ 918170 w 1424802"/>
              <a:gd name="connsiteY25" fmla="*/ 270738 h 1501661"/>
              <a:gd name="connsiteX26" fmla="*/ 935755 w 1424802"/>
              <a:gd name="connsiteY26" fmla="*/ 282461 h 1501661"/>
              <a:gd name="connsiteX27" fmla="*/ 959201 w 1424802"/>
              <a:gd name="connsiteY27" fmla="*/ 300045 h 1501661"/>
              <a:gd name="connsiteX28" fmla="*/ 976785 w 1424802"/>
              <a:gd name="connsiteY28" fmla="*/ 311769 h 1501661"/>
              <a:gd name="connsiteX29" fmla="*/ 994370 w 1424802"/>
              <a:gd name="connsiteY29" fmla="*/ 335215 h 1501661"/>
              <a:gd name="connsiteX30" fmla="*/ 1035401 w 1424802"/>
              <a:gd name="connsiteY30" fmla="*/ 358661 h 1501661"/>
              <a:gd name="connsiteX31" fmla="*/ 1058847 w 1424802"/>
              <a:gd name="connsiteY31" fmla="*/ 387969 h 1501661"/>
              <a:gd name="connsiteX32" fmla="*/ 1099878 w 1424802"/>
              <a:gd name="connsiteY32" fmla="*/ 423138 h 1501661"/>
              <a:gd name="connsiteX33" fmla="*/ 1129185 w 1424802"/>
              <a:gd name="connsiteY33" fmla="*/ 464169 h 1501661"/>
              <a:gd name="connsiteX34" fmla="*/ 1135047 w 1424802"/>
              <a:gd name="connsiteY34" fmla="*/ 481753 h 1501661"/>
              <a:gd name="connsiteX35" fmla="*/ 1170216 w 1424802"/>
              <a:gd name="connsiteY35" fmla="*/ 522784 h 1501661"/>
              <a:gd name="connsiteX36" fmla="*/ 1187801 w 1424802"/>
              <a:gd name="connsiteY36" fmla="*/ 546230 h 1501661"/>
              <a:gd name="connsiteX37" fmla="*/ 1211247 w 1424802"/>
              <a:gd name="connsiteY37" fmla="*/ 581399 h 1501661"/>
              <a:gd name="connsiteX38" fmla="*/ 1240555 w 1424802"/>
              <a:gd name="connsiteY38" fmla="*/ 622430 h 1501661"/>
              <a:gd name="connsiteX39" fmla="*/ 1264001 w 1424802"/>
              <a:gd name="connsiteY39" fmla="*/ 669322 h 1501661"/>
              <a:gd name="connsiteX40" fmla="*/ 1269862 w 1424802"/>
              <a:gd name="connsiteY40" fmla="*/ 686907 h 1501661"/>
              <a:gd name="connsiteX41" fmla="*/ 1287447 w 1424802"/>
              <a:gd name="connsiteY41" fmla="*/ 716215 h 1501661"/>
              <a:gd name="connsiteX42" fmla="*/ 1299170 w 1424802"/>
              <a:gd name="connsiteY42" fmla="*/ 739661 h 1501661"/>
              <a:gd name="connsiteX43" fmla="*/ 1316755 w 1424802"/>
              <a:gd name="connsiteY43" fmla="*/ 757245 h 1501661"/>
              <a:gd name="connsiteX44" fmla="*/ 1340201 w 1424802"/>
              <a:gd name="connsiteY44" fmla="*/ 798276 h 1501661"/>
              <a:gd name="connsiteX45" fmla="*/ 1351924 w 1424802"/>
              <a:gd name="connsiteY45" fmla="*/ 821722 h 1501661"/>
              <a:gd name="connsiteX46" fmla="*/ 1357785 w 1424802"/>
              <a:gd name="connsiteY46" fmla="*/ 839307 h 1501661"/>
              <a:gd name="connsiteX47" fmla="*/ 1369508 w 1424802"/>
              <a:gd name="connsiteY47" fmla="*/ 856892 h 1501661"/>
              <a:gd name="connsiteX48" fmla="*/ 1381232 w 1424802"/>
              <a:gd name="connsiteY48" fmla="*/ 886199 h 1501661"/>
              <a:gd name="connsiteX49" fmla="*/ 1398816 w 1424802"/>
              <a:gd name="connsiteY49" fmla="*/ 962399 h 1501661"/>
              <a:gd name="connsiteX50" fmla="*/ 1410539 w 1424802"/>
              <a:gd name="connsiteY50" fmla="*/ 1032738 h 1501661"/>
              <a:gd name="connsiteX51" fmla="*/ 1416401 w 1424802"/>
              <a:gd name="connsiteY51" fmla="*/ 1050322 h 1501661"/>
              <a:gd name="connsiteX52" fmla="*/ 1410539 w 1424802"/>
              <a:gd name="connsiteY52" fmla="*/ 1202722 h 1501661"/>
              <a:gd name="connsiteX53" fmla="*/ 1404287 w 1424802"/>
              <a:gd name="connsiteY53" fmla="*/ 1326348 h 1501661"/>
              <a:gd name="connsiteX54" fmla="*/ 1287447 w 1424802"/>
              <a:gd name="connsiteY54" fmla="*/ 1460630 h 1501661"/>
              <a:gd name="connsiteX55" fmla="*/ 1269862 w 1424802"/>
              <a:gd name="connsiteY55" fmla="*/ 1472353 h 1501661"/>
              <a:gd name="connsiteX56" fmla="*/ 1234693 w 1424802"/>
              <a:gd name="connsiteY56" fmla="*/ 1484076 h 1501661"/>
              <a:gd name="connsiteX57" fmla="*/ 1217108 w 1424802"/>
              <a:gd name="connsiteY57" fmla="*/ 1489938 h 1501661"/>
              <a:gd name="connsiteX58" fmla="*/ 1176078 w 1424802"/>
              <a:gd name="connsiteY58" fmla="*/ 1495799 h 1501661"/>
              <a:gd name="connsiteX59" fmla="*/ 1140908 w 1424802"/>
              <a:gd name="connsiteY59" fmla="*/ 1501661 h 1501661"/>
              <a:gd name="connsiteX60" fmla="*/ 900585 w 1424802"/>
              <a:gd name="connsiteY60" fmla="*/ 1495799 h 1501661"/>
              <a:gd name="connsiteX61" fmla="*/ 883001 w 1424802"/>
              <a:gd name="connsiteY61" fmla="*/ 1489938 h 1501661"/>
              <a:gd name="connsiteX62" fmla="*/ 800939 w 1424802"/>
              <a:gd name="connsiteY62" fmla="*/ 1484076 h 1501661"/>
              <a:gd name="connsiteX63" fmla="*/ 630955 w 1424802"/>
              <a:gd name="connsiteY63" fmla="*/ 1478215 h 1501661"/>
              <a:gd name="connsiteX64" fmla="*/ 572339 w 1424802"/>
              <a:gd name="connsiteY64" fmla="*/ 1472353 h 1501661"/>
              <a:gd name="connsiteX65" fmla="*/ 476812 w 1424802"/>
              <a:gd name="connsiteY65" fmla="*/ 1478215 h 1501661"/>
              <a:gd name="connsiteX66" fmla="*/ 155426 w 1424802"/>
              <a:gd name="connsiteY66" fmla="*/ 1448907 h 1501661"/>
              <a:gd name="connsiteX67" fmla="*/ 83418 w 1424802"/>
              <a:gd name="connsiteY67" fmla="*/ 1376899 h 1501661"/>
              <a:gd name="connsiteX68" fmla="*/ 50662 w 1424802"/>
              <a:gd name="connsiteY68" fmla="*/ 1325815 h 1501661"/>
              <a:gd name="connsiteX69" fmla="*/ 33078 w 1424802"/>
              <a:gd name="connsiteY69" fmla="*/ 1308230 h 1501661"/>
              <a:gd name="connsiteX70" fmla="*/ 21355 w 1424802"/>
              <a:gd name="connsiteY70" fmla="*/ 1267199 h 1501661"/>
              <a:gd name="connsiteX71" fmla="*/ 9632 w 1424802"/>
              <a:gd name="connsiteY71" fmla="*/ 1220307 h 1501661"/>
              <a:gd name="connsiteX72" fmla="*/ 9632 w 1424802"/>
              <a:gd name="connsiteY72" fmla="*/ 1021015 h 1501661"/>
              <a:gd name="connsiteX73" fmla="*/ 15493 w 1424802"/>
              <a:gd name="connsiteY73" fmla="*/ 1003430 h 1501661"/>
              <a:gd name="connsiteX74" fmla="*/ 21355 w 1424802"/>
              <a:gd name="connsiteY74" fmla="*/ 950676 h 1501661"/>
              <a:gd name="connsiteX75" fmla="*/ 27216 w 1424802"/>
              <a:gd name="connsiteY75" fmla="*/ 933092 h 1501661"/>
              <a:gd name="connsiteX76" fmla="*/ 33078 w 1424802"/>
              <a:gd name="connsiteY76" fmla="*/ 897922 h 1501661"/>
              <a:gd name="connsiteX77" fmla="*/ 50662 w 1424802"/>
              <a:gd name="connsiteY77" fmla="*/ 856892 h 1501661"/>
              <a:gd name="connsiteX78" fmla="*/ 62385 w 1424802"/>
              <a:gd name="connsiteY78" fmla="*/ 815861 h 1501661"/>
              <a:gd name="connsiteX79" fmla="*/ 74108 w 1424802"/>
              <a:gd name="connsiteY79" fmla="*/ 792415 h 1501661"/>
              <a:gd name="connsiteX80" fmla="*/ 85832 w 1424802"/>
              <a:gd name="connsiteY80" fmla="*/ 751384 h 1501661"/>
              <a:gd name="connsiteX81" fmla="*/ 91693 w 1424802"/>
              <a:gd name="connsiteY81" fmla="*/ 733799 h 1501661"/>
              <a:gd name="connsiteX82" fmla="*/ 97555 w 1424802"/>
              <a:gd name="connsiteY82" fmla="*/ 704492 h 1501661"/>
              <a:gd name="connsiteX83" fmla="*/ 103416 w 1424802"/>
              <a:gd name="connsiteY83" fmla="*/ 686907 h 1501661"/>
              <a:gd name="connsiteX84" fmla="*/ 102366 w 1424802"/>
              <a:gd name="connsiteY84" fmla="*/ 624276 h 1501661"/>
              <a:gd name="connsiteX85" fmla="*/ 83418 w 1424802"/>
              <a:gd name="connsiteY85" fmla="*/ 512803 h 1501661"/>
              <a:gd name="connsiteX86" fmla="*/ 83418 w 1424802"/>
              <a:gd name="connsiteY86" fmla="*/ 368787 h 1501661"/>
              <a:gd name="connsiteX87" fmla="*/ 85832 w 1424802"/>
              <a:gd name="connsiteY87" fmla="*/ 341076 h 1501661"/>
              <a:gd name="connsiteX88" fmla="*/ 79970 w 1424802"/>
              <a:gd name="connsiteY88" fmla="*/ 323492 h 1501661"/>
              <a:gd name="connsiteX0" fmla="*/ 79970 w 1424802"/>
              <a:gd name="connsiteY0" fmla="*/ 323492 h 1501661"/>
              <a:gd name="connsiteX1" fmla="*/ 82870 w 1424802"/>
              <a:gd name="connsiteY1" fmla="*/ 224810 h 1501661"/>
              <a:gd name="connsiteX2" fmla="*/ 82870 w 1424802"/>
              <a:gd name="connsiteY2" fmla="*/ 152783 h 1501661"/>
              <a:gd name="connsiteX3" fmla="*/ 82870 w 1424802"/>
              <a:gd name="connsiteY3" fmla="*/ 152782 h 1501661"/>
              <a:gd name="connsiteX4" fmla="*/ 197201 w 1424802"/>
              <a:gd name="connsiteY4" fmla="*/ 147645 h 1501661"/>
              <a:gd name="connsiteX5" fmla="*/ 226508 w 1424802"/>
              <a:gd name="connsiteY5" fmla="*/ 130061 h 1501661"/>
              <a:gd name="connsiteX6" fmla="*/ 226969 w 1424802"/>
              <a:gd name="connsiteY6" fmla="*/ 80757 h 1501661"/>
              <a:gd name="connsiteX7" fmla="*/ 308570 w 1424802"/>
              <a:gd name="connsiteY7" fmla="*/ 100753 h 1501661"/>
              <a:gd name="connsiteX8" fmla="*/ 299018 w 1424802"/>
              <a:gd name="connsiteY8" fmla="*/ 8729 h 1501661"/>
              <a:gd name="connsiteX9" fmla="*/ 371067 w 1424802"/>
              <a:gd name="connsiteY9" fmla="*/ 8731 h 1501661"/>
              <a:gd name="connsiteX10" fmla="*/ 443116 w 1424802"/>
              <a:gd name="connsiteY10" fmla="*/ 8729 h 1501661"/>
              <a:gd name="connsiteX11" fmla="*/ 587214 w 1424802"/>
              <a:gd name="connsiteY11" fmla="*/ 8731 h 1501661"/>
              <a:gd name="connsiteX12" fmla="*/ 659264 w 1424802"/>
              <a:gd name="connsiteY12" fmla="*/ 8729 h 1501661"/>
              <a:gd name="connsiteX13" fmla="*/ 671985 w 1424802"/>
              <a:gd name="connsiteY13" fmla="*/ 106615 h 1501661"/>
              <a:gd name="connsiteX14" fmla="*/ 731313 w 1424802"/>
              <a:gd name="connsiteY14" fmla="*/ 80757 h 1501661"/>
              <a:gd name="connsiteX15" fmla="*/ 731313 w 1424802"/>
              <a:gd name="connsiteY15" fmla="*/ 8730 h 1501661"/>
              <a:gd name="connsiteX16" fmla="*/ 754047 w 1424802"/>
              <a:gd name="connsiteY16" fmla="*/ 135922 h 1501661"/>
              <a:gd name="connsiteX17" fmla="*/ 771632 w 1424802"/>
              <a:gd name="connsiteY17" fmla="*/ 147645 h 1501661"/>
              <a:gd name="connsiteX18" fmla="*/ 789216 w 1424802"/>
              <a:gd name="connsiteY18" fmla="*/ 165230 h 1501661"/>
              <a:gd name="connsiteX19" fmla="*/ 824385 w 1424802"/>
              <a:gd name="connsiteY19" fmla="*/ 176953 h 1501661"/>
              <a:gd name="connsiteX20" fmla="*/ 841970 w 1424802"/>
              <a:gd name="connsiteY20" fmla="*/ 194538 h 1501661"/>
              <a:gd name="connsiteX21" fmla="*/ 847832 w 1424802"/>
              <a:gd name="connsiteY21" fmla="*/ 212122 h 1501661"/>
              <a:gd name="connsiteX22" fmla="*/ 865416 w 1424802"/>
              <a:gd name="connsiteY22" fmla="*/ 217984 h 1501661"/>
              <a:gd name="connsiteX23" fmla="*/ 906447 w 1424802"/>
              <a:gd name="connsiteY23" fmla="*/ 253153 h 1501661"/>
              <a:gd name="connsiteX24" fmla="*/ 918170 w 1424802"/>
              <a:gd name="connsiteY24" fmla="*/ 270738 h 1501661"/>
              <a:gd name="connsiteX25" fmla="*/ 935755 w 1424802"/>
              <a:gd name="connsiteY25" fmla="*/ 282461 h 1501661"/>
              <a:gd name="connsiteX26" fmla="*/ 959201 w 1424802"/>
              <a:gd name="connsiteY26" fmla="*/ 300045 h 1501661"/>
              <a:gd name="connsiteX27" fmla="*/ 976785 w 1424802"/>
              <a:gd name="connsiteY27" fmla="*/ 311769 h 1501661"/>
              <a:gd name="connsiteX28" fmla="*/ 994370 w 1424802"/>
              <a:gd name="connsiteY28" fmla="*/ 335215 h 1501661"/>
              <a:gd name="connsiteX29" fmla="*/ 1035401 w 1424802"/>
              <a:gd name="connsiteY29" fmla="*/ 358661 h 1501661"/>
              <a:gd name="connsiteX30" fmla="*/ 1058847 w 1424802"/>
              <a:gd name="connsiteY30" fmla="*/ 387969 h 1501661"/>
              <a:gd name="connsiteX31" fmla="*/ 1099878 w 1424802"/>
              <a:gd name="connsiteY31" fmla="*/ 423138 h 1501661"/>
              <a:gd name="connsiteX32" fmla="*/ 1129185 w 1424802"/>
              <a:gd name="connsiteY32" fmla="*/ 464169 h 1501661"/>
              <a:gd name="connsiteX33" fmla="*/ 1135047 w 1424802"/>
              <a:gd name="connsiteY33" fmla="*/ 481753 h 1501661"/>
              <a:gd name="connsiteX34" fmla="*/ 1170216 w 1424802"/>
              <a:gd name="connsiteY34" fmla="*/ 522784 h 1501661"/>
              <a:gd name="connsiteX35" fmla="*/ 1187801 w 1424802"/>
              <a:gd name="connsiteY35" fmla="*/ 546230 h 1501661"/>
              <a:gd name="connsiteX36" fmla="*/ 1211247 w 1424802"/>
              <a:gd name="connsiteY36" fmla="*/ 581399 h 1501661"/>
              <a:gd name="connsiteX37" fmla="*/ 1240555 w 1424802"/>
              <a:gd name="connsiteY37" fmla="*/ 622430 h 1501661"/>
              <a:gd name="connsiteX38" fmla="*/ 1264001 w 1424802"/>
              <a:gd name="connsiteY38" fmla="*/ 669322 h 1501661"/>
              <a:gd name="connsiteX39" fmla="*/ 1269862 w 1424802"/>
              <a:gd name="connsiteY39" fmla="*/ 686907 h 1501661"/>
              <a:gd name="connsiteX40" fmla="*/ 1287447 w 1424802"/>
              <a:gd name="connsiteY40" fmla="*/ 716215 h 1501661"/>
              <a:gd name="connsiteX41" fmla="*/ 1299170 w 1424802"/>
              <a:gd name="connsiteY41" fmla="*/ 739661 h 1501661"/>
              <a:gd name="connsiteX42" fmla="*/ 1316755 w 1424802"/>
              <a:gd name="connsiteY42" fmla="*/ 757245 h 1501661"/>
              <a:gd name="connsiteX43" fmla="*/ 1340201 w 1424802"/>
              <a:gd name="connsiteY43" fmla="*/ 798276 h 1501661"/>
              <a:gd name="connsiteX44" fmla="*/ 1351924 w 1424802"/>
              <a:gd name="connsiteY44" fmla="*/ 821722 h 1501661"/>
              <a:gd name="connsiteX45" fmla="*/ 1357785 w 1424802"/>
              <a:gd name="connsiteY45" fmla="*/ 839307 h 1501661"/>
              <a:gd name="connsiteX46" fmla="*/ 1369508 w 1424802"/>
              <a:gd name="connsiteY46" fmla="*/ 856892 h 1501661"/>
              <a:gd name="connsiteX47" fmla="*/ 1381232 w 1424802"/>
              <a:gd name="connsiteY47" fmla="*/ 886199 h 1501661"/>
              <a:gd name="connsiteX48" fmla="*/ 1398816 w 1424802"/>
              <a:gd name="connsiteY48" fmla="*/ 962399 h 1501661"/>
              <a:gd name="connsiteX49" fmla="*/ 1410539 w 1424802"/>
              <a:gd name="connsiteY49" fmla="*/ 1032738 h 1501661"/>
              <a:gd name="connsiteX50" fmla="*/ 1416401 w 1424802"/>
              <a:gd name="connsiteY50" fmla="*/ 1050322 h 1501661"/>
              <a:gd name="connsiteX51" fmla="*/ 1410539 w 1424802"/>
              <a:gd name="connsiteY51" fmla="*/ 1202722 h 1501661"/>
              <a:gd name="connsiteX52" fmla="*/ 1404287 w 1424802"/>
              <a:gd name="connsiteY52" fmla="*/ 1326348 h 1501661"/>
              <a:gd name="connsiteX53" fmla="*/ 1287447 w 1424802"/>
              <a:gd name="connsiteY53" fmla="*/ 1460630 h 1501661"/>
              <a:gd name="connsiteX54" fmla="*/ 1269862 w 1424802"/>
              <a:gd name="connsiteY54" fmla="*/ 1472353 h 1501661"/>
              <a:gd name="connsiteX55" fmla="*/ 1234693 w 1424802"/>
              <a:gd name="connsiteY55" fmla="*/ 1484076 h 1501661"/>
              <a:gd name="connsiteX56" fmla="*/ 1217108 w 1424802"/>
              <a:gd name="connsiteY56" fmla="*/ 1489938 h 1501661"/>
              <a:gd name="connsiteX57" fmla="*/ 1176078 w 1424802"/>
              <a:gd name="connsiteY57" fmla="*/ 1495799 h 1501661"/>
              <a:gd name="connsiteX58" fmla="*/ 1140908 w 1424802"/>
              <a:gd name="connsiteY58" fmla="*/ 1501661 h 1501661"/>
              <a:gd name="connsiteX59" fmla="*/ 900585 w 1424802"/>
              <a:gd name="connsiteY59" fmla="*/ 1495799 h 1501661"/>
              <a:gd name="connsiteX60" fmla="*/ 883001 w 1424802"/>
              <a:gd name="connsiteY60" fmla="*/ 1489938 h 1501661"/>
              <a:gd name="connsiteX61" fmla="*/ 800939 w 1424802"/>
              <a:gd name="connsiteY61" fmla="*/ 1484076 h 1501661"/>
              <a:gd name="connsiteX62" fmla="*/ 630955 w 1424802"/>
              <a:gd name="connsiteY62" fmla="*/ 1478215 h 1501661"/>
              <a:gd name="connsiteX63" fmla="*/ 572339 w 1424802"/>
              <a:gd name="connsiteY63" fmla="*/ 1472353 h 1501661"/>
              <a:gd name="connsiteX64" fmla="*/ 476812 w 1424802"/>
              <a:gd name="connsiteY64" fmla="*/ 1478215 h 1501661"/>
              <a:gd name="connsiteX65" fmla="*/ 155426 w 1424802"/>
              <a:gd name="connsiteY65" fmla="*/ 1448907 h 1501661"/>
              <a:gd name="connsiteX66" fmla="*/ 83418 w 1424802"/>
              <a:gd name="connsiteY66" fmla="*/ 1376899 h 1501661"/>
              <a:gd name="connsiteX67" fmla="*/ 50662 w 1424802"/>
              <a:gd name="connsiteY67" fmla="*/ 1325815 h 1501661"/>
              <a:gd name="connsiteX68" fmla="*/ 33078 w 1424802"/>
              <a:gd name="connsiteY68" fmla="*/ 1308230 h 1501661"/>
              <a:gd name="connsiteX69" fmla="*/ 21355 w 1424802"/>
              <a:gd name="connsiteY69" fmla="*/ 1267199 h 1501661"/>
              <a:gd name="connsiteX70" fmla="*/ 9632 w 1424802"/>
              <a:gd name="connsiteY70" fmla="*/ 1220307 h 1501661"/>
              <a:gd name="connsiteX71" fmla="*/ 9632 w 1424802"/>
              <a:gd name="connsiteY71" fmla="*/ 1021015 h 1501661"/>
              <a:gd name="connsiteX72" fmla="*/ 15493 w 1424802"/>
              <a:gd name="connsiteY72" fmla="*/ 1003430 h 1501661"/>
              <a:gd name="connsiteX73" fmla="*/ 21355 w 1424802"/>
              <a:gd name="connsiteY73" fmla="*/ 950676 h 1501661"/>
              <a:gd name="connsiteX74" fmla="*/ 27216 w 1424802"/>
              <a:gd name="connsiteY74" fmla="*/ 933092 h 1501661"/>
              <a:gd name="connsiteX75" fmla="*/ 33078 w 1424802"/>
              <a:gd name="connsiteY75" fmla="*/ 897922 h 1501661"/>
              <a:gd name="connsiteX76" fmla="*/ 50662 w 1424802"/>
              <a:gd name="connsiteY76" fmla="*/ 856892 h 1501661"/>
              <a:gd name="connsiteX77" fmla="*/ 62385 w 1424802"/>
              <a:gd name="connsiteY77" fmla="*/ 815861 h 1501661"/>
              <a:gd name="connsiteX78" fmla="*/ 74108 w 1424802"/>
              <a:gd name="connsiteY78" fmla="*/ 792415 h 1501661"/>
              <a:gd name="connsiteX79" fmla="*/ 85832 w 1424802"/>
              <a:gd name="connsiteY79" fmla="*/ 751384 h 1501661"/>
              <a:gd name="connsiteX80" fmla="*/ 91693 w 1424802"/>
              <a:gd name="connsiteY80" fmla="*/ 733799 h 1501661"/>
              <a:gd name="connsiteX81" fmla="*/ 97555 w 1424802"/>
              <a:gd name="connsiteY81" fmla="*/ 704492 h 1501661"/>
              <a:gd name="connsiteX82" fmla="*/ 103416 w 1424802"/>
              <a:gd name="connsiteY82" fmla="*/ 686907 h 1501661"/>
              <a:gd name="connsiteX83" fmla="*/ 102366 w 1424802"/>
              <a:gd name="connsiteY83" fmla="*/ 624276 h 1501661"/>
              <a:gd name="connsiteX84" fmla="*/ 83418 w 1424802"/>
              <a:gd name="connsiteY84" fmla="*/ 512803 h 1501661"/>
              <a:gd name="connsiteX85" fmla="*/ 83418 w 1424802"/>
              <a:gd name="connsiteY85" fmla="*/ 368787 h 1501661"/>
              <a:gd name="connsiteX86" fmla="*/ 85832 w 1424802"/>
              <a:gd name="connsiteY86" fmla="*/ 341076 h 1501661"/>
              <a:gd name="connsiteX87" fmla="*/ 79970 w 1424802"/>
              <a:gd name="connsiteY87" fmla="*/ 323492 h 1501661"/>
              <a:gd name="connsiteX0" fmla="*/ 79970 w 1424802"/>
              <a:gd name="connsiteY0" fmla="*/ 323492 h 1501661"/>
              <a:gd name="connsiteX1" fmla="*/ 82870 w 1424802"/>
              <a:gd name="connsiteY1" fmla="*/ 224810 h 1501661"/>
              <a:gd name="connsiteX2" fmla="*/ 82870 w 1424802"/>
              <a:gd name="connsiteY2" fmla="*/ 152783 h 1501661"/>
              <a:gd name="connsiteX3" fmla="*/ 82870 w 1424802"/>
              <a:gd name="connsiteY3" fmla="*/ 152782 h 1501661"/>
              <a:gd name="connsiteX4" fmla="*/ 226508 w 1424802"/>
              <a:gd name="connsiteY4" fmla="*/ 130061 h 1501661"/>
              <a:gd name="connsiteX5" fmla="*/ 226969 w 1424802"/>
              <a:gd name="connsiteY5" fmla="*/ 80757 h 1501661"/>
              <a:gd name="connsiteX6" fmla="*/ 308570 w 1424802"/>
              <a:gd name="connsiteY6" fmla="*/ 100753 h 1501661"/>
              <a:gd name="connsiteX7" fmla="*/ 299018 w 1424802"/>
              <a:gd name="connsiteY7" fmla="*/ 8729 h 1501661"/>
              <a:gd name="connsiteX8" fmla="*/ 371067 w 1424802"/>
              <a:gd name="connsiteY8" fmla="*/ 8731 h 1501661"/>
              <a:gd name="connsiteX9" fmla="*/ 443116 w 1424802"/>
              <a:gd name="connsiteY9" fmla="*/ 8729 h 1501661"/>
              <a:gd name="connsiteX10" fmla="*/ 587214 w 1424802"/>
              <a:gd name="connsiteY10" fmla="*/ 8731 h 1501661"/>
              <a:gd name="connsiteX11" fmla="*/ 659264 w 1424802"/>
              <a:gd name="connsiteY11" fmla="*/ 8729 h 1501661"/>
              <a:gd name="connsiteX12" fmla="*/ 671985 w 1424802"/>
              <a:gd name="connsiteY12" fmla="*/ 106615 h 1501661"/>
              <a:gd name="connsiteX13" fmla="*/ 731313 w 1424802"/>
              <a:gd name="connsiteY13" fmla="*/ 80757 h 1501661"/>
              <a:gd name="connsiteX14" fmla="*/ 731313 w 1424802"/>
              <a:gd name="connsiteY14" fmla="*/ 8730 h 1501661"/>
              <a:gd name="connsiteX15" fmla="*/ 754047 w 1424802"/>
              <a:gd name="connsiteY15" fmla="*/ 135922 h 1501661"/>
              <a:gd name="connsiteX16" fmla="*/ 771632 w 1424802"/>
              <a:gd name="connsiteY16" fmla="*/ 147645 h 1501661"/>
              <a:gd name="connsiteX17" fmla="*/ 789216 w 1424802"/>
              <a:gd name="connsiteY17" fmla="*/ 165230 h 1501661"/>
              <a:gd name="connsiteX18" fmla="*/ 824385 w 1424802"/>
              <a:gd name="connsiteY18" fmla="*/ 176953 h 1501661"/>
              <a:gd name="connsiteX19" fmla="*/ 841970 w 1424802"/>
              <a:gd name="connsiteY19" fmla="*/ 194538 h 1501661"/>
              <a:gd name="connsiteX20" fmla="*/ 847832 w 1424802"/>
              <a:gd name="connsiteY20" fmla="*/ 212122 h 1501661"/>
              <a:gd name="connsiteX21" fmla="*/ 865416 w 1424802"/>
              <a:gd name="connsiteY21" fmla="*/ 217984 h 1501661"/>
              <a:gd name="connsiteX22" fmla="*/ 906447 w 1424802"/>
              <a:gd name="connsiteY22" fmla="*/ 253153 h 1501661"/>
              <a:gd name="connsiteX23" fmla="*/ 918170 w 1424802"/>
              <a:gd name="connsiteY23" fmla="*/ 270738 h 1501661"/>
              <a:gd name="connsiteX24" fmla="*/ 935755 w 1424802"/>
              <a:gd name="connsiteY24" fmla="*/ 282461 h 1501661"/>
              <a:gd name="connsiteX25" fmla="*/ 959201 w 1424802"/>
              <a:gd name="connsiteY25" fmla="*/ 300045 h 1501661"/>
              <a:gd name="connsiteX26" fmla="*/ 976785 w 1424802"/>
              <a:gd name="connsiteY26" fmla="*/ 311769 h 1501661"/>
              <a:gd name="connsiteX27" fmla="*/ 994370 w 1424802"/>
              <a:gd name="connsiteY27" fmla="*/ 335215 h 1501661"/>
              <a:gd name="connsiteX28" fmla="*/ 1035401 w 1424802"/>
              <a:gd name="connsiteY28" fmla="*/ 358661 h 1501661"/>
              <a:gd name="connsiteX29" fmla="*/ 1058847 w 1424802"/>
              <a:gd name="connsiteY29" fmla="*/ 387969 h 1501661"/>
              <a:gd name="connsiteX30" fmla="*/ 1099878 w 1424802"/>
              <a:gd name="connsiteY30" fmla="*/ 423138 h 1501661"/>
              <a:gd name="connsiteX31" fmla="*/ 1129185 w 1424802"/>
              <a:gd name="connsiteY31" fmla="*/ 464169 h 1501661"/>
              <a:gd name="connsiteX32" fmla="*/ 1135047 w 1424802"/>
              <a:gd name="connsiteY32" fmla="*/ 481753 h 1501661"/>
              <a:gd name="connsiteX33" fmla="*/ 1170216 w 1424802"/>
              <a:gd name="connsiteY33" fmla="*/ 522784 h 1501661"/>
              <a:gd name="connsiteX34" fmla="*/ 1187801 w 1424802"/>
              <a:gd name="connsiteY34" fmla="*/ 546230 h 1501661"/>
              <a:gd name="connsiteX35" fmla="*/ 1211247 w 1424802"/>
              <a:gd name="connsiteY35" fmla="*/ 581399 h 1501661"/>
              <a:gd name="connsiteX36" fmla="*/ 1240555 w 1424802"/>
              <a:gd name="connsiteY36" fmla="*/ 622430 h 1501661"/>
              <a:gd name="connsiteX37" fmla="*/ 1264001 w 1424802"/>
              <a:gd name="connsiteY37" fmla="*/ 669322 h 1501661"/>
              <a:gd name="connsiteX38" fmla="*/ 1269862 w 1424802"/>
              <a:gd name="connsiteY38" fmla="*/ 686907 h 1501661"/>
              <a:gd name="connsiteX39" fmla="*/ 1287447 w 1424802"/>
              <a:gd name="connsiteY39" fmla="*/ 716215 h 1501661"/>
              <a:gd name="connsiteX40" fmla="*/ 1299170 w 1424802"/>
              <a:gd name="connsiteY40" fmla="*/ 739661 h 1501661"/>
              <a:gd name="connsiteX41" fmla="*/ 1316755 w 1424802"/>
              <a:gd name="connsiteY41" fmla="*/ 757245 h 1501661"/>
              <a:gd name="connsiteX42" fmla="*/ 1340201 w 1424802"/>
              <a:gd name="connsiteY42" fmla="*/ 798276 h 1501661"/>
              <a:gd name="connsiteX43" fmla="*/ 1351924 w 1424802"/>
              <a:gd name="connsiteY43" fmla="*/ 821722 h 1501661"/>
              <a:gd name="connsiteX44" fmla="*/ 1357785 w 1424802"/>
              <a:gd name="connsiteY44" fmla="*/ 839307 h 1501661"/>
              <a:gd name="connsiteX45" fmla="*/ 1369508 w 1424802"/>
              <a:gd name="connsiteY45" fmla="*/ 856892 h 1501661"/>
              <a:gd name="connsiteX46" fmla="*/ 1381232 w 1424802"/>
              <a:gd name="connsiteY46" fmla="*/ 886199 h 1501661"/>
              <a:gd name="connsiteX47" fmla="*/ 1398816 w 1424802"/>
              <a:gd name="connsiteY47" fmla="*/ 962399 h 1501661"/>
              <a:gd name="connsiteX48" fmla="*/ 1410539 w 1424802"/>
              <a:gd name="connsiteY48" fmla="*/ 1032738 h 1501661"/>
              <a:gd name="connsiteX49" fmla="*/ 1416401 w 1424802"/>
              <a:gd name="connsiteY49" fmla="*/ 1050322 h 1501661"/>
              <a:gd name="connsiteX50" fmla="*/ 1410539 w 1424802"/>
              <a:gd name="connsiteY50" fmla="*/ 1202722 h 1501661"/>
              <a:gd name="connsiteX51" fmla="*/ 1404287 w 1424802"/>
              <a:gd name="connsiteY51" fmla="*/ 1326348 h 1501661"/>
              <a:gd name="connsiteX52" fmla="*/ 1287447 w 1424802"/>
              <a:gd name="connsiteY52" fmla="*/ 1460630 h 1501661"/>
              <a:gd name="connsiteX53" fmla="*/ 1269862 w 1424802"/>
              <a:gd name="connsiteY53" fmla="*/ 1472353 h 1501661"/>
              <a:gd name="connsiteX54" fmla="*/ 1234693 w 1424802"/>
              <a:gd name="connsiteY54" fmla="*/ 1484076 h 1501661"/>
              <a:gd name="connsiteX55" fmla="*/ 1217108 w 1424802"/>
              <a:gd name="connsiteY55" fmla="*/ 1489938 h 1501661"/>
              <a:gd name="connsiteX56" fmla="*/ 1176078 w 1424802"/>
              <a:gd name="connsiteY56" fmla="*/ 1495799 h 1501661"/>
              <a:gd name="connsiteX57" fmla="*/ 1140908 w 1424802"/>
              <a:gd name="connsiteY57" fmla="*/ 1501661 h 1501661"/>
              <a:gd name="connsiteX58" fmla="*/ 900585 w 1424802"/>
              <a:gd name="connsiteY58" fmla="*/ 1495799 h 1501661"/>
              <a:gd name="connsiteX59" fmla="*/ 883001 w 1424802"/>
              <a:gd name="connsiteY59" fmla="*/ 1489938 h 1501661"/>
              <a:gd name="connsiteX60" fmla="*/ 800939 w 1424802"/>
              <a:gd name="connsiteY60" fmla="*/ 1484076 h 1501661"/>
              <a:gd name="connsiteX61" fmla="*/ 630955 w 1424802"/>
              <a:gd name="connsiteY61" fmla="*/ 1478215 h 1501661"/>
              <a:gd name="connsiteX62" fmla="*/ 572339 w 1424802"/>
              <a:gd name="connsiteY62" fmla="*/ 1472353 h 1501661"/>
              <a:gd name="connsiteX63" fmla="*/ 476812 w 1424802"/>
              <a:gd name="connsiteY63" fmla="*/ 1478215 h 1501661"/>
              <a:gd name="connsiteX64" fmla="*/ 155426 w 1424802"/>
              <a:gd name="connsiteY64" fmla="*/ 1448907 h 1501661"/>
              <a:gd name="connsiteX65" fmla="*/ 83418 w 1424802"/>
              <a:gd name="connsiteY65" fmla="*/ 1376899 h 1501661"/>
              <a:gd name="connsiteX66" fmla="*/ 50662 w 1424802"/>
              <a:gd name="connsiteY66" fmla="*/ 1325815 h 1501661"/>
              <a:gd name="connsiteX67" fmla="*/ 33078 w 1424802"/>
              <a:gd name="connsiteY67" fmla="*/ 1308230 h 1501661"/>
              <a:gd name="connsiteX68" fmla="*/ 21355 w 1424802"/>
              <a:gd name="connsiteY68" fmla="*/ 1267199 h 1501661"/>
              <a:gd name="connsiteX69" fmla="*/ 9632 w 1424802"/>
              <a:gd name="connsiteY69" fmla="*/ 1220307 h 1501661"/>
              <a:gd name="connsiteX70" fmla="*/ 9632 w 1424802"/>
              <a:gd name="connsiteY70" fmla="*/ 1021015 h 1501661"/>
              <a:gd name="connsiteX71" fmla="*/ 15493 w 1424802"/>
              <a:gd name="connsiteY71" fmla="*/ 1003430 h 1501661"/>
              <a:gd name="connsiteX72" fmla="*/ 21355 w 1424802"/>
              <a:gd name="connsiteY72" fmla="*/ 950676 h 1501661"/>
              <a:gd name="connsiteX73" fmla="*/ 27216 w 1424802"/>
              <a:gd name="connsiteY73" fmla="*/ 933092 h 1501661"/>
              <a:gd name="connsiteX74" fmla="*/ 33078 w 1424802"/>
              <a:gd name="connsiteY74" fmla="*/ 897922 h 1501661"/>
              <a:gd name="connsiteX75" fmla="*/ 50662 w 1424802"/>
              <a:gd name="connsiteY75" fmla="*/ 856892 h 1501661"/>
              <a:gd name="connsiteX76" fmla="*/ 62385 w 1424802"/>
              <a:gd name="connsiteY76" fmla="*/ 815861 h 1501661"/>
              <a:gd name="connsiteX77" fmla="*/ 74108 w 1424802"/>
              <a:gd name="connsiteY77" fmla="*/ 792415 h 1501661"/>
              <a:gd name="connsiteX78" fmla="*/ 85832 w 1424802"/>
              <a:gd name="connsiteY78" fmla="*/ 751384 h 1501661"/>
              <a:gd name="connsiteX79" fmla="*/ 91693 w 1424802"/>
              <a:gd name="connsiteY79" fmla="*/ 733799 h 1501661"/>
              <a:gd name="connsiteX80" fmla="*/ 97555 w 1424802"/>
              <a:gd name="connsiteY80" fmla="*/ 704492 h 1501661"/>
              <a:gd name="connsiteX81" fmla="*/ 103416 w 1424802"/>
              <a:gd name="connsiteY81" fmla="*/ 686907 h 1501661"/>
              <a:gd name="connsiteX82" fmla="*/ 102366 w 1424802"/>
              <a:gd name="connsiteY82" fmla="*/ 624276 h 1501661"/>
              <a:gd name="connsiteX83" fmla="*/ 83418 w 1424802"/>
              <a:gd name="connsiteY83" fmla="*/ 512803 h 1501661"/>
              <a:gd name="connsiteX84" fmla="*/ 83418 w 1424802"/>
              <a:gd name="connsiteY84" fmla="*/ 368787 h 1501661"/>
              <a:gd name="connsiteX85" fmla="*/ 85832 w 1424802"/>
              <a:gd name="connsiteY85" fmla="*/ 341076 h 1501661"/>
              <a:gd name="connsiteX86" fmla="*/ 79970 w 1424802"/>
              <a:gd name="connsiteY86" fmla="*/ 323492 h 1501661"/>
              <a:gd name="connsiteX0" fmla="*/ 79970 w 1424802"/>
              <a:gd name="connsiteY0" fmla="*/ 323492 h 1501661"/>
              <a:gd name="connsiteX1" fmla="*/ 82870 w 1424802"/>
              <a:gd name="connsiteY1" fmla="*/ 224810 h 1501661"/>
              <a:gd name="connsiteX2" fmla="*/ 82870 w 1424802"/>
              <a:gd name="connsiteY2" fmla="*/ 152783 h 1501661"/>
              <a:gd name="connsiteX3" fmla="*/ 82870 w 1424802"/>
              <a:gd name="connsiteY3" fmla="*/ 152782 h 1501661"/>
              <a:gd name="connsiteX4" fmla="*/ 226969 w 1424802"/>
              <a:gd name="connsiteY4" fmla="*/ 80757 h 1501661"/>
              <a:gd name="connsiteX5" fmla="*/ 308570 w 1424802"/>
              <a:gd name="connsiteY5" fmla="*/ 100753 h 1501661"/>
              <a:gd name="connsiteX6" fmla="*/ 299018 w 1424802"/>
              <a:gd name="connsiteY6" fmla="*/ 8729 h 1501661"/>
              <a:gd name="connsiteX7" fmla="*/ 371067 w 1424802"/>
              <a:gd name="connsiteY7" fmla="*/ 8731 h 1501661"/>
              <a:gd name="connsiteX8" fmla="*/ 443116 w 1424802"/>
              <a:gd name="connsiteY8" fmla="*/ 8729 h 1501661"/>
              <a:gd name="connsiteX9" fmla="*/ 587214 w 1424802"/>
              <a:gd name="connsiteY9" fmla="*/ 8731 h 1501661"/>
              <a:gd name="connsiteX10" fmla="*/ 659264 w 1424802"/>
              <a:gd name="connsiteY10" fmla="*/ 8729 h 1501661"/>
              <a:gd name="connsiteX11" fmla="*/ 671985 w 1424802"/>
              <a:gd name="connsiteY11" fmla="*/ 106615 h 1501661"/>
              <a:gd name="connsiteX12" fmla="*/ 731313 w 1424802"/>
              <a:gd name="connsiteY12" fmla="*/ 80757 h 1501661"/>
              <a:gd name="connsiteX13" fmla="*/ 731313 w 1424802"/>
              <a:gd name="connsiteY13" fmla="*/ 8730 h 1501661"/>
              <a:gd name="connsiteX14" fmla="*/ 754047 w 1424802"/>
              <a:gd name="connsiteY14" fmla="*/ 135922 h 1501661"/>
              <a:gd name="connsiteX15" fmla="*/ 771632 w 1424802"/>
              <a:gd name="connsiteY15" fmla="*/ 147645 h 1501661"/>
              <a:gd name="connsiteX16" fmla="*/ 789216 w 1424802"/>
              <a:gd name="connsiteY16" fmla="*/ 165230 h 1501661"/>
              <a:gd name="connsiteX17" fmla="*/ 824385 w 1424802"/>
              <a:gd name="connsiteY17" fmla="*/ 176953 h 1501661"/>
              <a:gd name="connsiteX18" fmla="*/ 841970 w 1424802"/>
              <a:gd name="connsiteY18" fmla="*/ 194538 h 1501661"/>
              <a:gd name="connsiteX19" fmla="*/ 847832 w 1424802"/>
              <a:gd name="connsiteY19" fmla="*/ 212122 h 1501661"/>
              <a:gd name="connsiteX20" fmla="*/ 865416 w 1424802"/>
              <a:gd name="connsiteY20" fmla="*/ 217984 h 1501661"/>
              <a:gd name="connsiteX21" fmla="*/ 906447 w 1424802"/>
              <a:gd name="connsiteY21" fmla="*/ 253153 h 1501661"/>
              <a:gd name="connsiteX22" fmla="*/ 918170 w 1424802"/>
              <a:gd name="connsiteY22" fmla="*/ 270738 h 1501661"/>
              <a:gd name="connsiteX23" fmla="*/ 935755 w 1424802"/>
              <a:gd name="connsiteY23" fmla="*/ 282461 h 1501661"/>
              <a:gd name="connsiteX24" fmla="*/ 959201 w 1424802"/>
              <a:gd name="connsiteY24" fmla="*/ 300045 h 1501661"/>
              <a:gd name="connsiteX25" fmla="*/ 976785 w 1424802"/>
              <a:gd name="connsiteY25" fmla="*/ 311769 h 1501661"/>
              <a:gd name="connsiteX26" fmla="*/ 994370 w 1424802"/>
              <a:gd name="connsiteY26" fmla="*/ 335215 h 1501661"/>
              <a:gd name="connsiteX27" fmla="*/ 1035401 w 1424802"/>
              <a:gd name="connsiteY27" fmla="*/ 358661 h 1501661"/>
              <a:gd name="connsiteX28" fmla="*/ 1058847 w 1424802"/>
              <a:gd name="connsiteY28" fmla="*/ 387969 h 1501661"/>
              <a:gd name="connsiteX29" fmla="*/ 1099878 w 1424802"/>
              <a:gd name="connsiteY29" fmla="*/ 423138 h 1501661"/>
              <a:gd name="connsiteX30" fmla="*/ 1129185 w 1424802"/>
              <a:gd name="connsiteY30" fmla="*/ 464169 h 1501661"/>
              <a:gd name="connsiteX31" fmla="*/ 1135047 w 1424802"/>
              <a:gd name="connsiteY31" fmla="*/ 481753 h 1501661"/>
              <a:gd name="connsiteX32" fmla="*/ 1170216 w 1424802"/>
              <a:gd name="connsiteY32" fmla="*/ 522784 h 1501661"/>
              <a:gd name="connsiteX33" fmla="*/ 1187801 w 1424802"/>
              <a:gd name="connsiteY33" fmla="*/ 546230 h 1501661"/>
              <a:gd name="connsiteX34" fmla="*/ 1211247 w 1424802"/>
              <a:gd name="connsiteY34" fmla="*/ 581399 h 1501661"/>
              <a:gd name="connsiteX35" fmla="*/ 1240555 w 1424802"/>
              <a:gd name="connsiteY35" fmla="*/ 622430 h 1501661"/>
              <a:gd name="connsiteX36" fmla="*/ 1264001 w 1424802"/>
              <a:gd name="connsiteY36" fmla="*/ 669322 h 1501661"/>
              <a:gd name="connsiteX37" fmla="*/ 1269862 w 1424802"/>
              <a:gd name="connsiteY37" fmla="*/ 686907 h 1501661"/>
              <a:gd name="connsiteX38" fmla="*/ 1287447 w 1424802"/>
              <a:gd name="connsiteY38" fmla="*/ 716215 h 1501661"/>
              <a:gd name="connsiteX39" fmla="*/ 1299170 w 1424802"/>
              <a:gd name="connsiteY39" fmla="*/ 739661 h 1501661"/>
              <a:gd name="connsiteX40" fmla="*/ 1316755 w 1424802"/>
              <a:gd name="connsiteY40" fmla="*/ 757245 h 1501661"/>
              <a:gd name="connsiteX41" fmla="*/ 1340201 w 1424802"/>
              <a:gd name="connsiteY41" fmla="*/ 798276 h 1501661"/>
              <a:gd name="connsiteX42" fmla="*/ 1351924 w 1424802"/>
              <a:gd name="connsiteY42" fmla="*/ 821722 h 1501661"/>
              <a:gd name="connsiteX43" fmla="*/ 1357785 w 1424802"/>
              <a:gd name="connsiteY43" fmla="*/ 839307 h 1501661"/>
              <a:gd name="connsiteX44" fmla="*/ 1369508 w 1424802"/>
              <a:gd name="connsiteY44" fmla="*/ 856892 h 1501661"/>
              <a:gd name="connsiteX45" fmla="*/ 1381232 w 1424802"/>
              <a:gd name="connsiteY45" fmla="*/ 886199 h 1501661"/>
              <a:gd name="connsiteX46" fmla="*/ 1398816 w 1424802"/>
              <a:gd name="connsiteY46" fmla="*/ 962399 h 1501661"/>
              <a:gd name="connsiteX47" fmla="*/ 1410539 w 1424802"/>
              <a:gd name="connsiteY47" fmla="*/ 1032738 h 1501661"/>
              <a:gd name="connsiteX48" fmla="*/ 1416401 w 1424802"/>
              <a:gd name="connsiteY48" fmla="*/ 1050322 h 1501661"/>
              <a:gd name="connsiteX49" fmla="*/ 1410539 w 1424802"/>
              <a:gd name="connsiteY49" fmla="*/ 1202722 h 1501661"/>
              <a:gd name="connsiteX50" fmla="*/ 1404287 w 1424802"/>
              <a:gd name="connsiteY50" fmla="*/ 1326348 h 1501661"/>
              <a:gd name="connsiteX51" fmla="*/ 1287447 w 1424802"/>
              <a:gd name="connsiteY51" fmla="*/ 1460630 h 1501661"/>
              <a:gd name="connsiteX52" fmla="*/ 1269862 w 1424802"/>
              <a:gd name="connsiteY52" fmla="*/ 1472353 h 1501661"/>
              <a:gd name="connsiteX53" fmla="*/ 1234693 w 1424802"/>
              <a:gd name="connsiteY53" fmla="*/ 1484076 h 1501661"/>
              <a:gd name="connsiteX54" fmla="*/ 1217108 w 1424802"/>
              <a:gd name="connsiteY54" fmla="*/ 1489938 h 1501661"/>
              <a:gd name="connsiteX55" fmla="*/ 1176078 w 1424802"/>
              <a:gd name="connsiteY55" fmla="*/ 1495799 h 1501661"/>
              <a:gd name="connsiteX56" fmla="*/ 1140908 w 1424802"/>
              <a:gd name="connsiteY56" fmla="*/ 1501661 h 1501661"/>
              <a:gd name="connsiteX57" fmla="*/ 900585 w 1424802"/>
              <a:gd name="connsiteY57" fmla="*/ 1495799 h 1501661"/>
              <a:gd name="connsiteX58" fmla="*/ 883001 w 1424802"/>
              <a:gd name="connsiteY58" fmla="*/ 1489938 h 1501661"/>
              <a:gd name="connsiteX59" fmla="*/ 800939 w 1424802"/>
              <a:gd name="connsiteY59" fmla="*/ 1484076 h 1501661"/>
              <a:gd name="connsiteX60" fmla="*/ 630955 w 1424802"/>
              <a:gd name="connsiteY60" fmla="*/ 1478215 h 1501661"/>
              <a:gd name="connsiteX61" fmla="*/ 572339 w 1424802"/>
              <a:gd name="connsiteY61" fmla="*/ 1472353 h 1501661"/>
              <a:gd name="connsiteX62" fmla="*/ 476812 w 1424802"/>
              <a:gd name="connsiteY62" fmla="*/ 1478215 h 1501661"/>
              <a:gd name="connsiteX63" fmla="*/ 155426 w 1424802"/>
              <a:gd name="connsiteY63" fmla="*/ 1448907 h 1501661"/>
              <a:gd name="connsiteX64" fmla="*/ 83418 w 1424802"/>
              <a:gd name="connsiteY64" fmla="*/ 1376899 h 1501661"/>
              <a:gd name="connsiteX65" fmla="*/ 50662 w 1424802"/>
              <a:gd name="connsiteY65" fmla="*/ 1325815 h 1501661"/>
              <a:gd name="connsiteX66" fmla="*/ 33078 w 1424802"/>
              <a:gd name="connsiteY66" fmla="*/ 1308230 h 1501661"/>
              <a:gd name="connsiteX67" fmla="*/ 21355 w 1424802"/>
              <a:gd name="connsiteY67" fmla="*/ 1267199 h 1501661"/>
              <a:gd name="connsiteX68" fmla="*/ 9632 w 1424802"/>
              <a:gd name="connsiteY68" fmla="*/ 1220307 h 1501661"/>
              <a:gd name="connsiteX69" fmla="*/ 9632 w 1424802"/>
              <a:gd name="connsiteY69" fmla="*/ 1021015 h 1501661"/>
              <a:gd name="connsiteX70" fmla="*/ 15493 w 1424802"/>
              <a:gd name="connsiteY70" fmla="*/ 1003430 h 1501661"/>
              <a:gd name="connsiteX71" fmla="*/ 21355 w 1424802"/>
              <a:gd name="connsiteY71" fmla="*/ 950676 h 1501661"/>
              <a:gd name="connsiteX72" fmla="*/ 27216 w 1424802"/>
              <a:gd name="connsiteY72" fmla="*/ 933092 h 1501661"/>
              <a:gd name="connsiteX73" fmla="*/ 33078 w 1424802"/>
              <a:gd name="connsiteY73" fmla="*/ 897922 h 1501661"/>
              <a:gd name="connsiteX74" fmla="*/ 50662 w 1424802"/>
              <a:gd name="connsiteY74" fmla="*/ 856892 h 1501661"/>
              <a:gd name="connsiteX75" fmla="*/ 62385 w 1424802"/>
              <a:gd name="connsiteY75" fmla="*/ 815861 h 1501661"/>
              <a:gd name="connsiteX76" fmla="*/ 74108 w 1424802"/>
              <a:gd name="connsiteY76" fmla="*/ 792415 h 1501661"/>
              <a:gd name="connsiteX77" fmla="*/ 85832 w 1424802"/>
              <a:gd name="connsiteY77" fmla="*/ 751384 h 1501661"/>
              <a:gd name="connsiteX78" fmla="*/ 91693 w 1424802"/>
              <a:gd name="connsiteY78" fmla="*/ 733799 h 1501661"/>
              <a:gd name="connsiteX79" fmla="*/ 97555 w 1424802"/>
              <a:gd name="connsiteY79" fmla="*/ 704492 h 1501661"/>
              <a:gd name="connsiteX80" fmla="*/ 103416 w 1424802"/>
              <a:gd name="connsiteY80" fmla="*/ 686907 h 1501661"/>
              <a:gd name="connsiteX81" fmla="*/ 102366 w 1424802"/>
              <a:gd name="connsiteY81" fmla="*/ 624276 h 1501661"/>
              <a:gd name="connsiteX82" fmla="*/ 83418 w 1424802"/>
              <a:gd name="connsiteY82" fmla="*/ 512803 h 1501661"/>
              <a:gd name="connsiteX83" fmla="*/ 83418 w 1424802"/>
              <a:gd name="connsiteY83" fmla="*/ 368787 h 1501661"/>
              <a:gd name="connsiteX84" fmla="*/ 85832 w 1424802"/>
              <a:gd name="connsiteY84" fmla="*/ 341076 h 1501661"/>
              <a:gd name="connsiteX85" fmla="*/ 79970 w 1424802"/>
              <a:gd name="connsiteY85" fmla="*/ 323492 h 1501661"/>
              <a:gd name="connsiteX0" fmla="*/ 79970 w 1424802"/>
              <a:gd name="connsiteY0" fmla="*/ 323492 h 1501661"/>
              <a:gd name="connsiteX1" fmla="*/ 82870 w 1424802"/>
              <a:gd name="connsiteY1" fmla="*/ 224810 h 1501661"/>
              <a:gd name="connsiteX2" fmla="*/ 82870 w 1424802"/>
              <a:gd name="connsiteY2" fmla="*/ 152783 h 1501661"/>
              <a:gd name="connsiteX3" fmla="*/ 82870 w 1424802"/>
              <a:gd name="connsiteY3" fmla="*/ 152782 h 1501661"/>
              <a:gd name="connsiteX4" fmla="*/ 226969 w 1424802"/>
              <a:gd name="connsiteY4" fmla="*/ 80757 h 1501661"/>
              <a:gd name="connsiteX5" fmla="*/ 299018 w 1424802"/>
              <a:gd name="connsiteY5" fmla="*/ 8729 h 1501661"/>
              <a:gd name="connsiteX6" fmla="*/ 371067 w 1424802"/>
              <a:gd name="connsiteY6" fmla="*/ 8731 h 1501661"/>
              <a:gd name="connsiteX7" fmla="*/ 443116 w 1424802"/>
              <a:gd name="connsiteY7" fmla="*/ 8729 h 1501661"/>
              <a:gd name="connsiteX8" fmla="*/ 587214 w 1424802"/>
              <a:gd name="connsiteY8" fmla="*/ 8731 h 1501661"/>
              <a:gd name="connsiteX9" fmla="*/ 659264 w 1424802"/>
              <a:gd name="connsiteY9" fmla="*/ 8729 h 1501661"/>
              <a:gd name="connsiteX10" fmla="*/ 671985 w 1424802"/>
              <a:gd name="connsiteY10" fmla="*/ 106615 h 1501661"/>
              <a:gd name="connsiteX11" fmla="*/ 731313 w 1424802"/>
              <a:gd name="connsiteY11" fmla="*/ 80757 h 1501661"/>
              <a:gd name="connsiteX12" fmla="*/ 731313 w 1424802"/>
              <a:gd name="connsiteY12" fmla="*/ 8730 h 1501661"/>
              <a:gd name="connsiteX13" fmla="*/ 754047 w 1424802"/>
              <a:gd name="connsiteY13" fmla="*/ 135922 h 1501661"/>
              <a:gd name="connsiteX14" fmla="*/ 771632 w 1424802"/>
              <a:gd name="connsiteY14" fmla="*/ 147645 h 1501661"/>
              <a:gd name="connsiteX15" fmla="*/ 789216 w 1424802"/>
              <a:gd name="connsiteY15" fmla="*/ 165230 h 1501661"/>
              <a:gd name="connsiteX16" fmla="*/ 824385 w 1424802"/>
              <a:gd name="connsiteY16" fmla="*/ 176953 h 1501661"/>
              <a:gd name="connsiteX17" fmla="*/ 841970 w 1424802"/>
              <a:gd name="connsiteY17" fmla="*/ 194538 h 1501661"/>
              <a:gd name="connsiteX18" fmla="*/ 847832 w 1424802"/>
              <a:gd name="connsiteY18" fmla="*/ 212122 h 1501661"/>
              <a:gd name="connsiteX19" fmla="*/ 865416 w 1424802"/>
              <a:gd name="connsiteY19" fmla="*/ 217984 h 1501661"/>
              <a:gd name="connsiteX20" fmla="*/ 906447 w 1424802"/>
              <a:gd name="connsiteY20" fmla="*/ 253153 h 1501661"/>
              <a:gd name="connsiteX21" fmla="*/ 918170 w 1424802"/>
              <a:gd name="connsiteY21" fmla="*/ 270738 h 1501661"/>
              <a:gd name="connsiteX22" fmla="*/ 935755 w 1424802"/>
              <a:gd name="connsiteY22" fmla="*/ 282461 h 1501661"/>
              <a:gd name="connsiteX23" fmla="*/ 959201 w 1424802"/>
              <a:gd name="connsiteY23" fmla="*/ 300045 h 1501661"/>
              <a:gd name="connsiteX24" fmla="*/ 976785 w 1424802"/>
              <a:gd name="connsiteY24" fmla="*/ 311769 h 1501661"/>
              <a:gd name="connsiteX25" fmla="*/ 994370 w 1424802"/>
              <a:gd name="connsiteY25" fmla="*/ 335215 h 1501661"/>
              <a:gd name="connsiteX26" fmla="*/ 1035401 w 1424802"/>
              <a:gd name="connsiteY26" fmla="*/ 358661 h 1501661"/>
              <a:gd name="connsiteX27" fmla="*/ 1058847 w 1424802"/>
              <a:gd name="connsiteY27" fmla="*/ 387969 h 1501661"/>
              <a:gd name="connsiteX28" fmla="*/ 1099878 w 1424802"/>
              <a:gd name="connsiteY28" fmla="*/ 423138 h 1501661"/>
              <a:gd name="connsiteX29" fmla="*/ 1129185 w 1424802"/>
              <a:gd name="connsiteY29" fmla="*/ 464169 h 1501661"/>
              <a:gd name="connsiteX30" fmla="*/ 1135047 w 1424802"/>
              <a:gd name="connsiteY30" fmla="*/ 481753 h 1501661"/>
              <a:gd name="connsiteX31" fmla="*/ 1170216 w 1424802"/>
              <a:gd name="connsiteY31" fmla="*/ 522784 h 1501661"/>
              <a:gd name="connsiteX32" fmla="*/ 1187801 w 1424802"/>
              <a:gd name="connsiteY32" fmla="*/ 546230 h 1501661"/>
              <a:gd name="connsiteX33" fmla="*/ 1211247 w 1424802"/>
              <a:gd name="connsiteY33" fmla="*/ 581399 h 1501661"/>
              <a:gd name="connsiteX34" fmla="*/ 1240555 w 1424802"/>
              <a:gd name="connsiteY34" fmla="*/ 622430 h 1501661"/>
              <a:gd name="connsiteX35" fmla="*/ 1264001 w 1424802"/>
              <a:gd name="connsiteY35" fmla="*/ 669322 h 1501661"/>
              <a:gd name="connsiteX36" fmla="*/ 1269862 w 1424802"/>
              <a:gd name="connsiteY36" fmla="*/ 686907 h 1501661"/>
              <a:gd name="connsiteX37" fmla="*/ 1287447 w 1424802"/>
              <a:gd name="connsiteY37" fmla="*/ 716215 h 1501661"/>
              <a:gd name="connsiteX38" fmla="*/ 1299170 w 1424802"/>
              <a:gd name="connsiteY38" fmla="*/ 739661 h 1501661"/>
              <a:gd name="connsiteX39" fmla="*/ 1316755 w 1424802"/>
              <a:gd name="connsiteY39" fmla="*/ 757245 h 1501661"/>
              <a:gd name="connsiteX40" fmla="*/ 1340201 w 1424802"/>
              <a:gd name="connsiteY40" fmla="*/ 798276 h 1501661"/>
              <a:gd name="connsiteX41" fmla="*/ 1351924 w 1424802"/>
              <a:gd name="connsiteY41" fmla="*/ 821722 h 1501661"/>
              <a:gd name="connsiteX42" fmla="*/ 1357785 w 1424802"/>
              <a:gd name="connsiteY42" fmla="*/ 839307 h 1501661"/>
              <a:gd name="connsiteX43" fmla="*/ 1369508 w 1424802"/>
              <a:gd name="connsiteY43" fmla="*/ 856892 h 1501661"/>
              <a:gd name="connsiteX44" fmla="*/ 1381232 w 1424802"/>
              <a:gd name="connsiteY44" fmla="*/ 886199 h 1501661"/>
              <a:gd name="connsiteX45" fmla="*/ 1398816 w 1424802"/>
              <a:gd name="connsiteY45" fmla="*/ 962399 h 1501661"/>
              <a:gd name="connsiteX46" fmla="*/ 1410539 w 1424802"/>
              <a:gd name="connsiteY46" fmla="*/ 1032738 h 1501661"/>
              <a:gd name="connsiteX47" fmla="*/ 1416401 w 1424802"/>
              <a:gd name="connsiteY47" fmla="*/ 1050322 h 1501661"/>
              <a:gd name="connsiteX48" fmla="*/ 1410539 w 1424802"/>
              <a:gd name="connsiteY48" fmla="*/ 1202722 h 1501661"/>
              <a:gd name="connsiteX49" fmla="*/ 1404287 w 1424802"/>
              <a:gd name="connsiteY49" fmla="*/ 1326348 h 1501661"/>
              <a:gd name="connsiteX50" fmla="*/ 1287447 w 1424802"/>
              <a:gd name="connsiteY50" fmla="*/ 1460630 h 1501661"/>
              <a:gd name="connsiteX51" fmla="*/ 1269862 w 1424802"/>
              <a:gd name="connsiteY51" fmla="*/ 1472353 h 1501661"/>
              <a:gd name="connsiteX52" fmla="*/ 1234693 w 1424802"/>
              <a:gd name="connsiteY52" fmla="*/ 1484076 h 1501661"/>
              <a:gd name="connsiteX53" fmla="*/ 1217108 w 1424802"/>
              <a:gd name="connsiteY53" fmla="*/ 1489938 h 1501661"/>
              <a:gd name="connsiteX54" fmla="*/ 1176078 w 1424802"/>
              <a:gd name="connsiteY54" fmla="*/ 1495799 h 1501661"/>
              <a:gd name="connsiteX55" fmla="*/ 1140908 w 1424802"/>
              <a:gd name="connsiteY55" fmla="*/ 1501661 h 1501661"/>
              <a:gd name="connsiteX56" fmla="*/ 900585 w 1424802"/>
              <a:gd name="connsiteY56" fmla="*/ 1495799 h 1501661"/>
              <a:gd name="connsiteX57" fmla="*/ 883001 w 1424802"/>
              <a:gd name="connsiteY57" fmla="*/ 1489938 h 1501661"/>
              <a:gd name="connsiteX58" fmla="*/ 800939 w 1424802"/>
              <a:gd name="connsiteY58" fmla="*/ 1484076 h 1501661"/>
              <a:gd name="connsiteX59" fmla="*/ 630955 w 1424802"/>
              <a:gd name="connsiteY59" fmla="*/ 1478215 h 1501661"/>
              <a:gd name="connsiteX60" fmla="*/ 572339 w 1424802"/>
              <a:gd name="connsiteY60" fmla="*/ 1472353 h 1501661"/>
              <a:gd name="connsiteX61" fmla="*/ 476812 w 1424802"/>
              <a:gd name="connsiteY61" fmla="*/ 1478215 h 1501661"/>
              <a:gd name="connsiteX62" fmla="*/ 155426 w 1424802"/>
              <a:gd name="connsiteY62" fmla="*/ 1448907 h 1501661"/>
              <a:gd name="connsiteX63" fmla="*/ 83418 w 1424802"/>
              <a:gd name="connsiteY63" fmla="*/ 1376899 h 1501661"/>
              <a:gd name="connsiteX64" fmla="*/ 50662 w 1424802"/>
              <a:gd name="connsiteY64" fmla="*/ 1325815 h 1501661"/>
              <a:gd name="connsiteX65" fmla="*/ 33078 w 1424802"/>
              <a:gd name="connsiteY65" fmla="*/ 1308230 h 1501661"/>
              <a:gd name="connsiteX66" fmla="*/ 21355 w 1424802"/>
              <a:gd name="connsiteY66" fmla="*/ 1267199 h 1501661"/>
              <a:gd name="connsiteX67" fmla="*/ 9632 w 1424802"/>
              <a:gd name="connsiteY67" fmla="*/ 1220307 h 1501661"/>
              <a:gd name="connsiteX68" fmla="*/ 9632 w 1424802"/>
              <a:gd name="connsiteY68" fmla="*/ 1021015 h 1501661"/>
              <a:gd name="connsiteX69" fmla="*/ 15493 w 1424802"/>
              <a:gd name="connsiteY69" fmla="*/ 1003430 h 1501661"/>
              <a:gd name="connsiteX70" fmla="*/ 21355 w 1424802"/>
              <a:gd name="connsiteY70" fmla="*/ 950676 h 1501661"/>
              <a:gd name="connsiteX71" fmla="*/ 27216 w 1424802"/>
              <a:gd name="connsiteY71" fmla="*/ 933092 h 1501661"/>
              <a:gd name="connsiteX72" fmla="*/ 33078 w 1424802"/>
              <a:gd name="connsiteY72" fmla="*/ 897922 h 1501661"/>
              <a:gd name="connsiteX73" fmla="*/ 50662 w 1424802"/>
              <a:gd name="connsiteY73" fmla="*/ 856892 h 1501661"/>
              <a:gd name="connsiteX74" fmla="*/ 62385 w 1424802"/>
              <a:gd name="connsiteY74" fmla="*/ 815861 h 1501661"/>
              <a:gd name="connsiteX75" fmla="*/ 74108 w 1424802"/>
              <a:gd name="connsiteY75" fmla="*/ 792415 h 1501661"/>
              <a:gd name="connsiteX76" fmla="*/ 85832 w 1424802"/>
              <a:gd name="connsiteY76" fmla="*/ 751384 h 1501661"/>
              <a:gd name="connsiteX77" fmla="*/ 91693 w 1424802"/>
              <a:gd name="connsiteY77" fmla="*/ 733799 h 1501661"/>
              <a:gd name="connsiteX78" fmla="*/ 97555 w 1424802"/>
              <a:gd name="connsiteY78" fmla="*/ 704492 h 1501661"/>
              <a:gd name="connsiteX79" fmla="*/ 103416 w 1424802"/>
              <a:gd name="connsiteY79" fmla="*/ 686907 h 1501661"/>
              <a:gd name="connsiteX80" fmla="*/ 102366 w 1424802"/>
              <a:gd name="connsiteY80" fmla="*/ 624276 h 1501661"/>
              <a:gd name="connsiteX81" fmla="*/ 83418 w 1424802"/>
              <a:gd name="connsiteY81" fmla="*/ 512803 h 1501661"/>
              <a:gd name="connsiteX82" fmla="*/ 83418 w 1424802"/>
              <a:gd name="connsiteY82" fmla="*/ 368787 h 1501661"/>
              <a:gd name="connsiteX83" fmla="*/ 85832 w 1424802"/>
              <a:gd name="connsiteY83" fmla="*/ 341076 h 1501661"/>
              <a:gd name="connsiteX84" fmla="*/ 79970 w 1424802"/>
              <a:gd name="connsiteY84" fmla="*/ 323492 h 1501661"/>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671985 w 1424802"/>
              <a:gd name="connsiteY10" fmla="*/ 121894 h 1516940"/>
              <a:gd name="connsiteX11" fmla="*/ 731313 w 1424802"/>
              <a:gd name="connsiteY11" fmla="*/ 96036 h 1516940"/>
              <a:gd name="connsiteX12" fmla="*/ 731313 w 1424802"/>
              <a:gd name="connsiteY12" fmla="*/ 24009 h 1516940"/>
              <a:gd name="connsiteX13" fmla="*/ 754047 w 1424802"/>
              <a:gd name="connsiteY13" fmla="*/ 151201 h 1516940"/>
              <a:gd name="connsiteX14" fmla="*/ 771632 w 1424802"/>
              <a:gd name="connsiteY14" fmla="*/ 162924 h 1516940"/>
              <a:gd name="connsiteX15" fmla="*/ 789216 w 1424802"/>
              <a:gd name="connsiteY15" fmla="*/ 180509 h 1516940"/>
              <a:gd name="connsiteX16" fmla="*/ 824385 w 1424802"/>
              <a:gd name="connsiteY16" fmla="*/ 192232 h 1516940"/>
              <a:gd name="connsiteX17" fmla="*/ 841970 w 1424802"/>
              <a:gd name="connsiteY17" fmla="*/ 209817 h 1516940"/>
              <a:gd name="connsiteX18" fmla="*/ 847832 w 1424802"/>
              <a:gd name="connsiteY18" fmla="*/ 227401 h 1516940"/>
              <a:gd name="connsiteX19" fmla="*/ 865416 w 1424802"/>
              <a:gd name="connsiteY19" fmla="*/ 233263 h 1516940"/>
              <a:gd name="connsiteX20" fmla="*/ 906447 w 1424802"/>
              <a:gd name="connsiteY20" fmla="*/ 268432 h 1516940"/>
              <a:gd name="connsiteX21" fmla="*/ 918170 w 1424802"/>
              <a:gd name="connsiteY21" fmla="*/ 286017 h 1516940"/>
              <a:gd name="connsiteX22" fmla="*/ 935755 w 1424802"/>
              <a:gd name="connsiteY22" fmla="*/ 297740 h 1516940"/>
              <a:gd name="connsiteX23" fmla="*/ 959201 w 1424802"/>
              <a:gd name="connsiteY23" fmla="*/ 315324 h 1516940"/>
              <a:gd name="connsiteX24" fmla="*/ 976785 w 1424802"/>
              <a:gd name="connsiteY24" fmla="*/ 327048 h 1516940"/>
              <a:gd name="connsiteX25" fmla="*/ 994370 w 1424802"/>
              <a:gd name="connsiteY25" fmla="*/ 350494 h 1516940"/>
              <a:gd name="connsiteX26" fmla="*/ 1035401 w 1424802"/>
              <a:gd name="connsiteY26" fmla="*/ 373940 h 1516940"/>
              <a:gd name="connsiteX27" fmla="*/ 1058847 w 1424802"/>
              <a:gd name="connsiteY27" fmla="*/ 403248 h 1516940"/>
              <a:gd name="connsiteX28" fmla="*/ 1099878 w 1424802"/>
              <a:gd name="connsiteY28" fmla="*/ 438417 h 1516940"/>
              <a:gd name="connsiteX29" fmla="*/ 1129185 w 1424802"/>
              <a:gd name="connsiteY29" fmla="*/ 479448 h 1516940"/>
              <a:gd name="connsiteX30" fmla="*/ 1135047 w 1424802"/>
              <a:gd name="connsiteY30" fmla="*/ 497032 h 1516940"/>
              <a:gd name="connsiteX31" fmla="*/ 1170216 w 1424802"/>
              <a:gd name="connsiteY31" fmla="*/ 538063 h 1516940"/>
              <a:gd name="connsiteX32" fmla="*/ 1187801 w 1424802"/>
              <a:gd name="connsiteY32" fmla="*/ 561509 h 1516940"/>
              <a:gd name="connsiteX33" fmla="*/ 1211247 w 1424802"/>
              <a:gd name="connsiteY33" fmla="*/ 596678 h 1516940"/>
              <a:gd name="connsiteX34" fmla="*/ 1240555 w 1424802"/>
              <a:gd name="connsiteY34" fmla="*/ 637709 h 1516940"/>
              <a:gd name="connsiteX35" fmla="*/ 1264001 w 1424802"/>
              <a:gd name="connsiteY35" fmla="*/ 684601 h 1516940"/>
              <a:gd name="connsiteX36" fmla="*/ 1269862 w 1424802"/>
              <a:gd name="connsiteY36" fmla="*/ 702186 h 1516940"/>
              <a:gd name="connsiteX37" fmla="*/ 1287447 w 1424802"/>
              <a:gd name="connsiteY37" fmla="*/ 731494 h 1516940"/>
              <a:gd name="connsiteX38" fmla="*/ 1299170 w 1424802"/>
              <a:gd name="connsiteY38" fmla="*/ 754940 h 1516940"/>
              <a:gd name="connsiteX39" fmla="*/ 1316755 w 1424802"/>
              <a:gd name="connsiteY39" fmla="*/ 772524 h 1516940"/>
              <a:gd name="connsiteX40" fmla="*/ 1340201 w 1424802"/>
              <a:gd name="connsiteY40" fmla="*/ 813555 h 1516940"/>
              <a:gd name="connsiteX41" fmla="*/ 1351924 w 1424802"/>
              <a:gd name="connsiteY41" fmla="*/ 837001 h 1516940"/>
              <a:gd name="connsiteX42" fmla="*/ 1357785 w 1424802"/>
              <a:gd name="connsiteY42" fmla="*/ 854586 h 1516940"/>
              <a:gd name="connsiteX43" fmla="*/ 1369508 w 1424802"/>
              <a:gd name="connsiteY43" fmla="*/ 872171 h 1516940"/>
              <a:gd name="connsiteX44" fmla="*/ 1381232 w 1424802"/>
              <a:gd name="connsiteY44" fmla="*/ 901478 h 1516940"/>
              <a:gd name="connsiteX45" fmla="*/ 1398816 w 1424802"/>
              <a:gd name="connsiteY45" fmla="*/ 977678 h 1516940"/>
              <a:gd name="connsiteX46" fmla="*/ 1410539 w 1424802"/>
              <a:gd name="connsiteY46" fmla="*/ 1048017 h 1516940"/>
              <a:gd name="connsiteX47" fmla="*/ 1416401 w 1424802"/>
              <a:gd name="connsiteY47" fmla="*/ 1065601 h 1516940"/>
              <a:gd name="connsiteX48" fmla="*/ 1410539 w 1424802"/>
              <a:gd name="connsiteY48" fmla="*/ 1218001 h 1516940"/>
              <a:gd name="connsiteX49" fmla="*/ 1404287 w 1424802"/>
              <a:gd name="connsiteY49" fmla="*/ 1341627 h 1516940"/>
              <a:gd name="connsiteX50" fmla="*/ 1287447 w 1424802"/>
              <a:gd name="connsiteY50" fmla="*/ 1475909 h 1516940"/>
              <a:gd name="connsiteX51" fmla="*/ 1269862 w 1424802"/>
              <a:gd name="connsiteY51" fmla="*/ 1487632 h 1516940"/>
              <a:gd name="connsiteX52" fmla="*/ 1234693 w 1424802"/>
              <a:gd name="connsiteY52" fmla="*/ 1499355 h 1516940"/>
              <a:gd name="connsiteX53" fmla="*/ 1217108 w 1424802"/>
              <a:gd name="connsiteY53" fmla="*/ 1505217 h 1516940"/>
              <a:gd name="connsiteX54" fmla="*/ 1176078 w 1424802"/>
              <a:gd name="connsiteY54" fmla="*/ 1511078 h 1516940"/>
              <a:gd name="connsiteX55" fmla="*/ 1140908 w 1424802"/>
              <a:gd name="connsiteY55" fmla="*/ 1516940 h 1516940"/>
              <a:gd name="connsiteX56" fmla="*/ 900585 w 1424802"/>
              <a:gd name="connsiteY56" fmla="*/ 1511078 h 1516940"/>
              <a:gd name="connsiteX57" fmla="*/ 883001 w 1424802"/>
              <a:gd name="connsiteY57" fmla="*/ 1505217 h 1516940"/>
              <a:gd name="connsiteX58" fmla="*/ 800939 w 1424802"/>
              <a:gd name="connsiteY58" fmla="*/ 1499355 h 1516940"/>
              <a:gd name="connsiteX59" fmla="*/ 630955 w 1424802"/>
              <a:gd name="connsiteY59" fmla="*/ 1493494 h 1516940"/>
              <a:gd name="connsiteX60" fmla="*/ 572339 w 1424802"/>
              <a:gd name="connsiteY60" fmla="*/ 1487632 h 1516940"/>
              <a:gd name="connsiteX61" fmla="*/ 476812 w 1424802"/>
              <a:gd name="connsiteY61" fmla="*/ 1493494 h 1516940"/>
              <a:gd name="connsiteX62" fmla="*/ 155426 w 1424802"/>
              <a:gd name="connsiteY62" fmla="*/ 1464186 h 1516940"/>
              <a:gd name="connsiteX63" fmla="*/ 83418 w 1424802"/>
              <a:gd name="connsiteY63" fmla="*/ 1392178 h 1516940"/>
              <a:gd name="connsiteX64" fmla="*/ 50662 w 1424802"/>
              <a:gd name="connsiteY64" fmla="*/ 1341094 h 1516940"/>
              <a:gd name="connsiteX65" fmla="*/ 33078 w 1424802"/>
              <a:gd name="connsiteY65" fmla="*/ 1323509 h 1516940"/>
              <a:gd name="connsiteX66" fmla="*/ 21355 w 1424802"/>
              <a:gd name="connsiteY66" fmla="*/ 1282478 h 1516940"/>
              <a:gd name="connsiteX67" fmla="*/ 9632 w 1424802"/>
              <a:gd name="connsiteY67" fmla="*/ 1235586 h 1516940"/>
              <a:gd name="connsiteX68" fmla="*/ 9632 w 1424802"/>
              <a:gd name="connsiteY68" fmla="*/ 1036294 h 1516940"/>
              <a:gd name="connsiteX69" fmla="*/ 15493 w 1424802"/>
              <a:gd name="connsiteY69" fmla="*/ 1018709 h 1516940"/>
              <a:gd name="connsiteX70" fmla="*/ 21355 w 1424802"/>
              <a:gd name="connsiteY70" fmla="*/ 965955 h 1516940"/>
              <a:gd name="connsiteX71" fmla="*/ 27216 w 1424802"/>
              <a:gd name="connsiteY71" fmla="*/ 948371 h 1516940"/>
              <a:gd name="connsiteX72" fmla="*/ 33078 w 1424802"/>
              <a:gd name="connsiteY72" fmla="*/ 913201 h 1516940"/>
              <a:gd name="connsiteX73" fmla="*/ 50662 w 1424802"/>
              <a:gd name="connsiteY73" fmla="*/ 872171 h 1516940"/>
              <a:gd name="connsiteX74" fmla="*/ 62385 w 1424802"/>
              <a:gd name="connsiteY74" fmla="*/ 831140 h 1516940"/>
              <a:gd name="connsiteX75" fmla="*/ 74108 w 1424802"/>
              <a:gd name="connsiteY75" fmla="*/ 807694 h 1516940"/>
              <a:gd name="connsiteX76" fmla="*/ 85832 w 1424802"/>
              <a:gd name="connsiteY76" fmla="*/ 766663 h 1516940"/>
              <a:gd name="connsiteX77" fmla="*/ 91693 w 1424802"/>
              <a:gd name="connsiteY77" fmla="*/ 749078 h 1516940"/>
              <a:gd name="connsiteX78" fmla="*/ 97555 w 1424802"/>
              <a:gd name="connsiteY78" fmla="*/ 719771 h 1516940"/>
              <a:gd name="connsiteX79" fmla="*/ 103416 w 1424802"/>
              <a:gd name="connsiteY79" fmla="*/ 702186 h 1516940"/>
              <a:gd name="connsiteX80" fmla="*/ 102366 w 1424802"/>
              <a:gd name="connsiteY80" fmla="*/ 639555 h 1516940"/>
              <a:gd name="connsiteX81" fmla="*/ 83418 w 1424802"/>
              <a:gd name="connsiteY81" fmla="*/ 528082 h 1516940"/>
              <a:gd name="connsiteX82" fmla="*/ 83418 w 1424802"/>
              <a:gd name="connsiteY82" fmla="*/ 384066 h 1516940"/>
              <a:gd name="connsiteX83" fmla="*/ 85832 w 1424802"/>
              <a:gd name="connsiteY83" fmla="*/ 356355 h 1516940"/>
              <a:gd name="connsiteX84" fmla="*/ 79970 w 1424802"/>
              <a:gd name="connsiteY84"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96036 h 1516940"/>
              <a:gd name="connsiteX11" fmla="*/ 731313 w 1424802"/>
              <a:gd name="connsiteY11" fmla="*/ 24009 h 1516940"/>
              <a:gd name="connsiteX12" fmla="*/ 754047 w 1424802"/>
              <a:gd name="connsiteY12" fmla="*/ 151201 h 1516940"/>
              <a:gd name="connsiteX13" fmla="*/ 771632 w 1424802"/>
              <a:gd name="connsiteY13" fmla="*/ 162924 h 1516940"/>
              <a:gd name="connsiteX14" fmla="*/ 789216 w 1424802"/>
              <a:gd name="connsiteY14" fmla="*/ 180509 h 1516940"/>
              <a:gd name="connsiteX15" fmla="*/ 824385 w 1424802"/>
              <a:gd name="connsiteY15" fmla="*/ 192232 h 1516940"/>
              <a:gd name="connsiteX16" fmla="*/ 841970 w 1424802"/>
              <a:gd name="connsiteY16" fmla="*/ 209817 h 1516940"/>
              <a:gd name="connsiteX17" fmla="*/ 847832 w 1424802"/>
              <a:gd name="connsiteY17" fmla="*/ 227401 h 1516940"/>
              <a:gd name="connsiteX18" fmla="*/ 865416 w 1424802"/>
              <a:gd name="connsiteY18" fmla="*/ 233263 h 1516940"/>
              <a:gd name="connsiteX19" fmla="*/ 906447 w 1424802"/>
              <a:gd name="connsiteY19" fmla="*/ 268432 h 1516940"/>
              <a:gd name="connsiteX20" fmla="*/ 918170 w 1424802"/>
              <a:gd name="connsiteY20" fmla="*/ 286017 h 1516940"/>
              <a:gd name="connsiteX21" fmla="*/ 935755 w 1424802"/>
              <a:gd name="connsiteY21" fmla="*/ 297740 h 1516940"/>
              <a:gd name="connsiteX22" fmla="*/ 959201 w 1424802"/>
              <a:gd name="connsiteY22" fmla="*/ 315324 h 1516940"/>
              <a:gd name="connsiteX23" fmla="*/ 976785 w 1424802"/>
              <a:gd name="connsiteY23" fmla="*/ 327048 h 1516940"/>
              <a:gd name="connsiteX24" fmla="*/ 994370 w 1424802"/>
              <a:gd name="connsiteY24" fmla="*/ 350494 h 1516940"/>
              <a:gd name="connsiteX25" fmla="*/ 1035401 w 1424802"/>
              <a:gd name="connsiteY25" fmla="*/ 373940 h 1516940"/>
              <a:gd name="connsiteX26" fmla="*/ 1058847 w 1424802"/>
              <a:gd name="connsiteY26" fmla="*/ 403248 h 1516940"/>
              <a:gd name="connsiteX27" fmla="*/ 1099878 w 1424802"/>
              <a:gd name="connsiteY27" fmla="*/ 438417 h 1516940"/>
              <a:gd name="connsiteX28" fmla="*/ 1129185 w 1424802"/>
              <a:gd name="connsiteY28" fmla="*/ 479448 h 1516940"/>
              <a:gd name="connsiteX29" fmla="*/ 1135047 w 1424802"/>
              <a:gd name="connsiteY29" fmla="*/ 497032 h 1516940"/>
              <a:gd name="connsiteX30" fmla="*/ 1170216 w 1424802"/>
              <a:gd name="connsiteY30" fmla="*/ 538063 h 1516940"/>
              <a:gd name="connsiteX31" fmla="*/ 1187801 w 1424802"/>
              <a:gd name="connsiteY31" fmla="*/ 561509 h 1516940"/>
              <a:gd name="connsiteX32" fmla="*/ 1211247 w 1424802"/>
              <a:gd name="connsiteY32" fmla="*/ 596678 h 1516940"/>
              <a:gd name="connsiteX33" fmla="*/ 1240555 w 1424802"/>
              <a:gd name="connsiteY33" fmla="*/ 637709 h 1516940"/>
              <a:gd name="connsiteX34" fmla="*/ 1264001 w 1424802"/>
              <a:gd name="connsiteY34" fmla="*/ 684601 h 1516940"/>
              <a:gd name="connsiteX35" fmla="*/ 1269862 w 1424802"/>
              <a:gd name="connsiteY35" fmla="*/ 702186 h 1516940"/>
              <a:gd name="connsiteX36" fmla="*/ 1287447 w 1424802"/>
              <a:gd name="connsiteY36" fmla="*/ 731494 h 1516940"/>
              <a:gd name="connsiteX37" fmla="*/ 1299170 w 1424802"/>
              <a:gd name="connsiteY37" fmla="*/ 754940 h 1516940"/>
              <a:gd name="connsiteX38" fmla="*/ 1316755 w 1424802"/>
              <a:gd name="connsiteY38" fmla="*/ 772524 h 1516940"/>
              <a:gd name="connsiteX39" fmla="*/ 1340201 w 1424802"/>
              <a:gd name="connsiteY39" fmla="*/ 813555 h 1516940"/>
              <a:gd name="connsiteX40" fmla="*/ 1351924 w 1424802"/>
              <a:gd name="connsiteY40" fmla="*/ 837001 h 1516940"/>
              <a:gd name="connsiteX41" fmla="*/ 1357785 w 1424802"/>
              <a:gd name="connsiteY41" fmla="*/ 854586 h 1516940"/>
              <a:gd name="connsiteX42" fmla="*/ 1369508 w 1424802"/>
              <a:gd name="connsiteY42" fmla="*/ 872171 h 1516940"/>
              <a:gd name="connsiteX43" fmla="*/ 1381232 w 1424802"/>
              <a:gd name="connsiteY43" fmla="*/ 901478 h 1516940"/>
              <a:gd name="connsiteX44" fmla="*/ 1398816 w 1424802"/>
              <a:gd name="connsiteY44" fmla="*/ 977678 h 1516940"/>
              <a:gd name="connsiteX45" fmla="*/ 1410539 w 1424802"/>
              <a:gd name="connsiteY45" fmla="*/ 1048017 h 1516940"/>
              <a:gd name="connsiteX46" fmla="*/ 1416401 w 1424802"/>
              <a:gd name="connsiteY46" fmla="*/ 1065601 h 1516940"/>
              <a:gd name="connsiteX47" fmla="*/ 1410539 w 1424802"/>
              <a:gd name="connsiteY47" fmla="*/ 1218001 h 1516940"/>
              <a:gd name="connsiteX48" fmla="*/ 1404287 w 1424802"/>
              <a:gd name="connsiteY48" fmla="*/ 1341627 h 1516940"/>
              <a:gd name="connsiteX49" fmla="*/ 1287447 w 1424802"/>
              <a:gd name="connsiteY49" fmla="*/ 1475909 h 1516940"/>
              <a:gd name="connsiteX50" fmla="*/ 1269862 w 1424802"/>
              <a:gd name="connsiteY50" fmla="*/ 1487632 h 1516940"/>
              <a:gd name="connsiteX51" fmla="*/ 1234693 w 1424802"/>
              <a:gd name="connsiteY51" fmla="*/ 1499355 h 1516940"/>
              <a:gd name="connsiteX52" fmla="*/ 1217108 w 1424802"/>
              <a:gd name="connsiteY52" fmla="*/ 1505217 h 1516940"/>
              <a:gd name="connsiteX53" fmla="*/ 1176078 w 1424802"/>
              <a:gd name="connsiteY53" fmla="*/ 1511078 h 1516940"/>
              <a:gd name="connsiteX54" fmla="*/ 1140908 w 1424802"/>
              <a:gd name="connsiteY54" fmla="*/ 1516940 h 1516940"/>
              <a:gd name="connsiteX55" fmla="*/ 900585 w 1424802"/>
              <a:gd name="connsiteY55" fmla="*/ 1511078 h 1516940"/>
              <a:gd name="connsiteX56" fmla="*/ 883001 w 1424802"/>
              <a:gd name="connsiteY56" fmla="*/ 1505217 h 1516940"/>
              <a:gd name="connsiteX57" fmla="*/ 800939 w 1424802"/>
              <a:gd name="connsiteY57" fmla="*/ 1499355 h 1516940"/>
              <a:gd name="connsiteX58" fmla="*/ 630955 w 1424802"/>
              <a:gd name="connsiteY58" fmla="*/ 1493494 h 1516940"/>
              <a:gd name="connsiteX59" fmla="*/ 572339 w 1424802"/>
              <a:gd name="connsiteY59" fmla="*/ 1487632 h 1516940"/>
              <a:gd name="connsiteX60" fmla="*/ 476812 w 1424802"/>
              <a:gd name="connsiteY60" fmla="*/ 1493494 h 1516940"/>
              <a:gd name="connsiteX61" fmla="*/ 155426 w 1424802"/>
              <a:gd name="connsiteY61" fmla="*/ 1464186 h 1516940"/>
              <a:gd name="connsiteX62" fmla="*/ 83418 w 1424802"/>
              <a:gd name="connsiteY62" fmla="*/ 1392178 h 1516940"/>
              <a:gd name="connsiteX63" fmla="*/ 50662 w 1424802"/>
              <a:gd name="connsiteY63" fmla="*/ 1341094 h 1516940"/>
              <a:gd name="connsiteX64" fmla="*/ 33078 w 1424802"/>
              <a:gd name="connsiteY64" fmla="*/ 1323509 h 1516940"/>
              <a:gd name="connsiteX65" fmla="*/ 21355 w 1424802"/>
              <a:gd name="connsiteY65" fmla="*/ 1282478 h 1516940"/>
              <a:gd name="connsiteX66" fmla="*/ 9632 w 1424802"/>
              <a:gd name="connsiteY66" fmla="*/ 1235586 h 1516940"/>
              <a:gd name="connsiteX67" fmla="*/ 9632 w 1424802"/>
              <a:gd name="connsiteY67" fmla="*/ 1036294 h 1516940"/>
              <a:gd name="connsiteX68" fmla="*/ 15493 w 1424802"/>
              <a:gd name="connsiteY68" fmla="*/ 1018709 h 1516940"/>
              <a:gd name="connsiteX69" fmla="*/ 21355 w 1424802"/>
              <a:gd name="connsiteY69" fmla="*/ 965955 h 1516940"/>
              <a:gd name="connsiteX70" fmla="*/ 27216 w 1424802"/>
              <a:gd name="connsiteY70" fmla="*/ 948371 h 1516940"/>
              <a:gd name="connsiteX71" fmla="*/ 33078 w 1424802"/>
              <a:gd name="connsiteY71" fmla="*/ 913201 h 1516940"/>
              <a:gd name="connsiteX72" fmla="*/ 50662 w 1424802"/>
              <a:gd name="connsiteY72" fmla="*/ 872171 h 1516940"/>
              <a:gd name="connsiteX73" fmla="*/ 62385 w 1424802"/>
              <a:gd name="connsiteY73" fmla="*/ 831140 h 1516940"/>
              <a:gd name="connsiteX74" fmla="*/ 74108 w 1424802"/>
              <a:gd name="connsiteY74" fmla="*/ 807694 h 1516940"/>
              <a:gd name="connsiteX75" fmla="*/ 85832 w 1424802"/>
              <a:gd name="connsiteY75" fmla="*/ 766663 h 1516940"/>
              <a:gd name="connsiteX76" fmla="*/ 91693 w 1424802"/>
              <a:gd name="connsiteY76" fmla="*/ 749078 h 1516940"/>
              <a:gd name="connsiteX77" fmla="*/ 97555 w 1424802"/>
              <a:gd name="connsiteY77" fmla="*/ 719771 h 1516940"/>
              <a:gd name="connsiteX78" fmla="*/ 103416 w 1424802"/>
              <a:gd name="connsiteY78" fmla="*/ 702186 h 1516940"/>
              <a:gd name="connsiteX79" fmla="*/ 102366 w 1424802"/>
              <a:gd name="connsiteY79" fmla="*/ 639555 h 1516940"/>
              <a:gd name="connsiteX80" fmla="*/ 83418 w 1424802"/>
              <a:gd name="connsiteY80" fmla="*/ 528082 h 1516940"/>
              <a:gd name="connsiteX81" fmla="*/ 83418 w 1424802"/>
              <a:gd name="connsiteY81" fmla="*/ 384066 h 1516940"/>
              <a:gd name="connsiteX82" fmla="*/ 85832 w 1424802"/>
              <a:gd name="connsiteY82" fmla="*/ 356355 h 1516940"/>
              <a:gd name="connsiteX83" fmla="*/ 79970 w 1424802"/>
              <a:gd name="connsiteY83"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24009 h 1516940"/>
              <a:gd name="connsiteX11" fmla="*/ 754047 w 1424802"/>
              <a:gd name="connsiteY11" fmla="*/ 151201 h 1516940"/>
              <a:gd name="connsiteX12" fmla="*/ 771632 w 1424802"/>
              <a:gd name="connsiteY12" fmla="*/ 162924 h 1516940"/>
              <a:gd name="connsiteX13" fmla="*/ 789216 w 1424802"/>
              <a:gd name="connsiteY13" fmla="*/ 180509 h 1516940"/>
              <a:gd name="connsiteX14" fmla="*/ 824385 w 1424802"/>
              <a:gd name="connsiteY14" fmla="*/ 192232 h 1516940"/>
              <a:gd name="connsiteX15" fmla="*/ 841970 w 1424802"/>
              <a:gd name="connsiteY15" fmla="*/ 209817 h 1516940"/>
              <a:gd name="connsiteX16" fmla="*/ 847832 w 1424802"/>
              <a:gd name="connsiteY16" fmla="*/ 227401 h 1516940"/>
              <a:gd name="connsiteX17" fmla="*/ 865416 w 1424802"/>
              <a:gd name="connsiteY17" fmla="*/ 233263 h 1516940"/>
              <a:gd name="connsiteX18" fmla="*/ 906447 w 1424802"/>
              <a:gd name="connsiteY18" fmla="*/ 268432 h 1516940"/>
              <a:gd name="connsiteX19" fmla="*/ 918170 w 1424802"/>
              <a:gd name="connsiteY19" fmla="*/ 286017 h 1516940"/>
              <a:gd name="connsiteX20" fmla="*/ 935755 w 1424802"/>
              <a:gd name="connsiteY20" fmla="*/ 297740 h 1516940"/>
              <a:gd name="connsiteX21" fmla="*/ 959201 w 1424802"/>
              <a:gd name="connsiteY21" fmla="*/ 315324 h 1516940"/>
              <a:gd name="connsiteX22" fmla="*/ 976785 w 1424802"/>
              <a:gd name="connsiteY22" fmla="*/ 327048 h 1516940"/>
              <a:gd name="connsiteX23" fmla="*/ 994370 w 1424802"/>
              <a:gd name="connsiteY23" fmla="*/ 350494 h 1516940"/>
              <a:gd name="connsiteX24" fmla="*/ 1035401 w 1424802"/>
              <a:gd name="connsiteY24" fmla="*/ 373940 h 1516940"/>
              <a:gd name="connsiteX25" fmla="*/ 1058847 w 1424802"/>
              <a:gd name="connsiteY25" fmla="*/ 403248 h 1516940"/>
              <a:gd name="connsiteX26" fmla="*/ 1099878 w 1424802"/>
              <a:gd name="connsiteY26" fmla="*/ 438417 h 1516940"/>
              <a:gd name="connsiteX27" fmla="*/ 1129185 w 1424802"/>
              <a:gd name="connsiteY27" fmla="*/ 479448 h 1516940"/>
              <a:gd name="connsiteX28" fmla="*/ 1135047 w 1424802"/>
              <a:gd name="connsiteY28" fmla="*/ 497032 h 1516940"/>
              <a:gd name="connsiteX29" fmla="*/ 1170216 w 1424802"/>
              <a:gd name="connsiteY29" fmla="*/ 538063 h 1516940"/>
              <a:gd name="connsiteX30" fmla="*/ 1187801 w 1424802"/>
              <a:gd name="connsiteY30" fmla="*/ 561509 h 1516940"/>
              <a:gd name="connsiteX31" fmla="*/ 1211247 w 1424802"/>
              <a:gd name="connsiteY31" fmla="*/ 596678 h 1516940"/>
              <a:gd name="connsiteX32" fmla="*/ 1240555 w 1424802"/>
              <a:gd name="connsiteY32" fmla="*/ 637709 h 1516940"/>
              <a:gd name="connsiteX33" fmla="*/ 1264001 w 1424802"/>
              <a:gd name="connsiteY33" fmla="*/ 684601 h 1516940"/>
              <a:gd name="connsiteX34" fmla="*/ 1269862 w 1424802"/>
              <a:gd name="connsiteY34" fmla="*/ 702186 h 1516940"/>
              <a:gd name="connsiteX35" fmla="*/ 1287447 w 1424802"/>
              <a:gd name="connsiteY35" fmla="*/ 731494 h 1516940"/>
              <a:gd name="connsiteX36" fmla="*/ 1299170 w 1424802"/>
              <a:gd name="connsiteY36" fmla="*/ 754940 h 1516940"/>
              <a:gd name="connsiteX37" fmla="*/ 1316755 w 1424802"/>
              <a:gd name="connsiteY37" fmla="*/ 772524 h 1516940"/>
              <a:gd name="connsiteX38" fmla="*/ 1340201 w 1424802"/>
              <a:gd name="connsiteY38" fmla="*/ 813555 h 1516940"/>
              <a:gd name="connsiteX39" fmla="*/ 1351924 w 1424802"/>
              <a:gd name="connsiteY39" fmla="*/ 837001 h 1516940"/>
              <a:gd name="connsiteX40" fmla="*/ 1357785 w 1424802"/>
              <a:gd name="connsiteY40" fmla="*/ 854586 h 1516940"/>
              <a:gd name="connsiteX41" fmla="*/ 1369508 w 1424802"/>
              <a:gd name="connsiteY41" fmla="*/ 872171 h 1516940"/>
              <a:gd name="connsiteX42" fmla="*/ 1381232 w 1424802"/>
              <a:gd name="connsiteY42" fmla="*/ 901478 h 1516940"/>
              <a:gd name="connsiteX43" fmla="*/ 1398816 w 1424802"/>
              <a:gd name="connsiteY43" fmla="*/ 977678 h 1516940"/>
              <a:gd name="connsiteX44" fmla="*/ 1410539 w 1424802"/>
              <a:gd name="connsiteY44" fmla="*/ 1048017 h 1516940"/>
              <a:gd name="connsiteX45" fmla="*/ 1416401 w 1424802"/>
              <a:gd name="connsiteY45" fmla="*/ 1065601 h 1516940"/>
              <a:gd name="connsiteX46" fmla="*/ 1410539 w 1424802"/>
              <a:gd name="connsiteY46" fmla="*/ 1218001 h 1516940"/>
              <a:gd name="connsiteX47" fmla="*/ 1404287 w 1424802"/>
              <a:gd name="connsiteY47" fmla="*/ 1341627 h 1516940"/>
              <a:gd name="connsiteX48" fmla="*/ 1287447 w 1424802"/>
              <a:gd name="connsiteY48" fmla="*/ 1475909 h 1516940"/>
              <a:gd name="connsiteX49" fmla="*/ 1269862 w 1424802"/>
              <a:gd name="connsiteY49" fmla="*/ 1487632 h 1516940"/>
              <a:gd name="connsiteX50" fmla="*/ 1234693 w 1424802"/>
              <a:gd name="connsiteY50" fmla="*/ 1499355 h 1516940"/>
              <a:gd name="connsiteX51" fmla="*/ 1217108 w 1424802"/>
              <a:gd name="connsiteY51" fmla="*/ 1505217 h 1516940"/>
              <a:gd name="connsiteX52" fmla="*/ 1176078 w 1424802"/>
              <a:gd name="connsiteY52" fmla="*/ 1511078 h 1516940"/>
              <a:gd name="connsiteX53" fmla="*/ 1140908 w 1424802"/>
              <a:gd name="connsiteY53" fmla="*/ 1516940 h 1516940"/>
              <a:gd name="connsiteX54" fmla="*/ 900585 w 1424802"/>
              <a:gd name="connsiteY54" fmla="*/ 1511078 h 1516940"/>
              <a:gd name="connsiteX55" fmla="*/ 883001 w 1424802"/>
              <a:gd name="connsiteY55" fmla="*/ 1505217 h 1516940"/>
              <a:gd name="connsiteX56" fmla="*/ 800939 w 1424802"/>
              <a:gd name="connsiteY56" fmla="*/ 1499355 h 1516940"/>
              <a:gd name="connsiteX57" fmla="*/ 630955 w 1424802"/>
              <a:gd name="connsiteY57" fmla="*/ 1493494 h 1516940"/>
              <a:gd name="connsiteX58" fmla="*/ 572339 w 1424802"/>
              <a:gd name="connsiteY58" fmla="*/ 1487632 h 1516940"/>
              <a:gd name="connsiteX59" fmla="*/ 476812 w 1424802"/>
              <a:gd name="connsiteY59" fmla="*/ 1493494 h 1516940"/>
              <a:gd name="connsiteX60" fmla="*/ 155426 w 1424802"/>
              <a:gd name="connsiteY60" fmla="*/ 1464186 h 1516940"/>
              <a:gd name="connsiteX61" fmla="*/ 83418 w 1424802"/>
              <a:gd name="connsiteY61" fmla="*/ 1392178 h 1516940"/>
              <a:gd name="connsiteX62" fmla="*/ 50662 w 1424802"/>
              <a:gd name="connsiteY62" fmla="*/ 1341094 h 1516940"/>
              <a:gd name="connsiteX63" fmla="*/ 33078 w 1424802"/>
              <a:gd name="connsiteY63" fmla="*/ 1323509 h 1516940"/>
              <a:gd name="connsiteX64" fmla="*/ 21355 w 1424802"/>
              <a:gd name="connsiteY64" fmla="*/ 1282478 h 1516940"/>
              <a:gd name="connsiteX65" fmla="*/ 9632 w 1424802"/>
              <a:gd name="connsiteY65" fmla="*/ 1235586 h 1516940"/>
              <a:gd name="connsiteX66" fmla="*/ 9632 w 1424802"/>
              <a:gd name="connsiteY66" fmla="*/ 1036294 h 1516940"/>
              <a:gd name="connsiteX67" fmla="*/ 15493 w 1424802"/>
              <a:gd name="connsiteY67" fmla="*/ 1018709 h 1516940"/>
              <a:gd name="connsiteX68" fmla="*/ 21355 w 1424802"/>
              <a:gd name="connsiteY68" fmla="*/ 965955 h 1516940"/>
              <a:gd name="connsiteX69" fmla="*/ 27216 w 1424802"/>
              <a:gd name="connsiteY69" fmla="*/ 948371 h 1516940"/>
              <a:gd name="connsiteX70" fmla="*/ 33078 w 1424802"/>
              <a:gd name="connsiteY70" fmla="*/ 913201 h 1516940"/>
              <a:gd name="connsiteX71" fmla="*/ 50662 w 1424802"/>
              <a:gd name="connsiteY71" fmla="*/ 872171 h 1516940"/>
              <a:gd name="connsiteX72" fmla="*/ 62385 w 1424802"/>
              <a:gd name="connsiteY72" fmla="*/ 831140 h 1516940"/>
              <a:gd name="connsiteX73" fmla="*/ 74108 w 1424802"/>
              <a:gd name="connsiteY73" fmla="*/ 807694 h 1516940"/>
              <a:gd name="connsiteX74" fmla="*/ 85832 w 1424802"/>
              <a:gd name="connsiteY74" fmla="*/ 766663 h 1516940"/>
              <a:gd name="connsiteX75" fmla="*/ 91693 w 1424802"/>
              <a:gd name="connsiteY75" fmla="*/ 749078 h 1516940"/>
              <a:gd name="connsiteX76" fmla="*/ 97555 w 1424802"/>
              <a:gd name="connsiteY76" fmla="*/ 719771 h 1516940"/>
              <a:gd name="connsiteX77" fmla="*/ 103416 w 1424802"/>
              <a:gd name="connsiteY77" fmla="*/ 702186 h 1516940"/>
              <a:gd name="connsiteX78" fmla="*/ 102366 w 1424802"/>
              <a:gd name="connsiteY78" fmla="*/ 639555 h 1516940"/>
              <a:gd name="connsiteX79" fmla="*/ 83418 w 1424802"/>
              <a:gd name="connsiteY79" fmla="*/ 528082 h 1516940"/>
              <a:gd name="connsiteX80" fmla="*/ 83418 w 1424802"/>
              <a:gd name="connsiteY80" fmla="*/ 384066 h 1516940"/>
              <a:gd name="connsiteX81" fmla="*/ 85832 w 1424802"/>
              <a:gd name="connsiteY81" fmla="*/ 356355 h 1516940"/>
              <a:gd name="connsiteX82" fmla="*/ 79970 w 1424802"/>
              <a:gd name="connsiteY82"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24009 h 1516940"/>
              <a:gd name="connsiteX11" fmla="*/ 754047 w 1424802"/>
              <a:gd name="connsiteY11" fmla="*/ 151201 h 1516940"/>
              <a:gd name="connsiteX12" fmla="*/ 789216 w 1424802"/>
              <a:gd name="connsiteY12" fmla="*/ 180509 h 1516940"/>
              <a:gd name="connsiteX13" fmla="*/ 824385 w 1424802"/>
              <a:gd name="connsiteY13" fmla="*/ 192232 h 1516940"/>
              <a:gd name="connsiteX14" fmla="*/ 841970 w 1424802"/>
              <a:gd name="connsiteY14" fmla="*/ 209817 h 1516940"/>
              <a:gd name="connsiteX15" fmla="*/ 847832 w 1424802"/>
              <a:gd name="connsiteY15" fmla="*/ 227401 h 1516940"/>
              <a:gd name="connsiteX16" fmla="*/ 865416 w 1424802"/>
              <a:gd name="connsiteY16" fmla="*/ 233263 h 1516940"/>
              <a:gd name="connsiteX17" fmla="*/ 906447 w 1424802"/>
              <a:gd name="connsiteY17" fmla="*/ 268432 h 1516940"/>
              <a:gd name="connsiteX18" fmla="*/ 918170 w 1424802"/>
              <a:gd name="connsiteY18" fmla="*/ 286017 h 1516940"/>
              <a:gd name="connsiteX19" fmla="*/ 935755 w 1424802"/>
              <a:gd name="connsiteY19" fmla="*/ 297740 h 1516940"/>
              <a:gd name="connsiteX20" fmla="*/ 959201 w 1424802"/>
              <a:gd name="connsiteY20" fmla="*/ 315324 h 1516940"/>
              <a:gd name="connsiteX21" fmla="*/ 976785 w 1424802"/>
              <a:gd name="connsiteY21" fmla="*/ 327048 h 1516940"/>
              <a:gd name="connsiteX22" fmla="*/ 994370 w 1424802"/>
              <a:gd name="connsiteY22" fmla="*/ 350494 h 1516940"/>
              <a:gd name="connsiteX23" fmla="*/ 1035401 w 1424802"/>
              <a:gd name="connsiteY23" fmla="*/ 373940 h 1516940"/>
              <a:gd name="connsiteX24" fmla="*/ 1058847 w 1424802"/>
              <a:gd name="connsiteY24" fmla="*/ 403248 h 1516940"/>
              <a:gd name="connsiteX25" fmla="*/ 1099878 w 1424802"/>
              <a:gd name="connsiteY25" fmla="*/ 438417 h 1516940"/>
              <a:gd name="connsiteX26" fmla="*/ 1129185 w 1424802"/>
              <a:gd name="connsiteY26" fmla="*/ 479448 h 1516940"/>
              <a:gd name="connsiteX27" fmla="*/ 1135047 w 1424802"/>
              <a:gd name="connsiteY27" fmla="*/ 497032 h 1516940"/>
              <a:gd name="connsiteX28" fmla="*/ 1170216 w 1424802"/>
              <a:gd name="connsiteY28" fmla="*/ 538063 h 1516940"/>
              <a:gd name="connsiteX29" fmla="*/ 1187801 w 1424802"/>
              <a:gd name="connsiteY29" fmla="*/ 561509 h 1516940"/>
              <a:gd name="connsiteX30" fmla="*/ 1211247 w 1424802"/>
              <a:gd name="connsiteY30" fmla="*/ 596678 h 1516940"/>
              <a:gd name="connsiteX31" fmla="*/ 1240555 w 1424802"/>
              <a:gd name="connsiteY31" fmla="*/ 637709 h 1516940"/>
              <a:gd name="connsiteX32" fmla="*/ 1264001 w 1424802"/>
              <a:gd name="connsiteY32" fmla="*/ 684601 h 1516940"/>
              <a:gd name="connsiteX33" fmla="*/ 1269862 w 1424802"/>
              <a:gd name="connsiteY33" fmla="*/ 702186 h 1516940"/>
              <a:gd name="connsiteX34" fmla="*/ 1287447 w 1424802"/>
              <a:gd name="connsiteY34" fmla="*/ 731494 h 1516940"/>
              <a:gd name="connsiteX35" fmla="*/ 1299170 w 1424802"/>
              <a:gd name="connsiteY35" fmla="*/ 754940 h 1516940"/>
              <a:gd name="connsiteX36" fmla="*/ 1316755 w 1424802"/>
              <a:gd name="connsiteY36" fmla="*/ 772524 h 1516940"/>
              <a:gd name="connsiteX37" fmla="*/ 1340201 w 1424802"/>
              <a:gd name="connsiteY37" fmla="*/ 813555 h 1516940"/>
              <a:gd name="connsiteX38" fmla="*/ 1351924 w 1424802"/>
              <a:gd name="connsiteY38" fmla="*/ 837001 h 1516940"/>
              <a:gd name="connsiteX39" fmla="*/ 1357785 w 1424802"/>
              <a:gd name="connsiteY39" fmla="*/ 854586 h 1516940"/>
              <a:gd name="connsiteX40" fmla="*/ 1369508 w 1424802"/>
              <a:gd name="connsiteY40" fmla="*/ 872171 h 1516940"/>
              <a:gd name="connsiteX41" fmla="*/ 1381232 w 1424802"/>
              <a:gd name="connsiteY41" fmla="*/ 901478 h 1516940"/>
              <a:gd name="connsiteX42" fmla="*/ 1398816 w 1424802"/>
              <a:gd name="connsiteY42" fmla="*/ 977678 h 1516940"/>
              <a:gd name="connsiteX43" fmla="*/ 1410539 w 1424802"/>
              <a:gd name="connsiteY43" fmla="*/ 1048017 h 1516940"/>
              <a:gd name="connsiteX44" fmla="*/ 1416401 w 1424802"/>
              <a:gd name="connsiteY44" fmla="*/ 1065601 h 1516940"/>
              <a:gd name="connsiteX45" fmla="*/ 1410539 w 1424802"/>
              <a:gd name="connsiteY45" fmla="*/ 1218001 h 1516940"/>
              <a:gd name="connsiteX46" fmla="*/ 1404287 w 1424802"/>
              <a:gd name="connsiteY46" fmla="*/ 1341627 h 1516940"/>
              <a:gd name="connsiteX47" fmla="*/ 1287447 w 1424802"/>
              <a:gd name="connsiteY47" fmla="*/ 1475909 h 1516940"/>
              <a:gd name="connsiteX48" fmla="*/ 1269862 w 1424802"/>
              <a:gd name="connsiteY48" fmla="*/ 1487632 h 1516940"/>
              <a:gd name="connsiteX49" fmla="*/ 1234693 w 1424802"/>
              <a:gd name="connsiteY49" fmla="*/ 1499355 h 1516940"/>
              <a:gd name="connsiteX50" fmla="*/ 1217108 w 1424802"/>
              <a:gd name="connsiteY50" fmla="*/ 1505217 h 1516940"/>
              <a:gd name="connsiteX51" fmla="*/ 1176078 w 1424802"/>
              <a:gd name="connsiteY51" fmla="*/ 1511078 h 1516940"/>
              <a:gd name="connsiteX52" fmla="*/ 1140908 w 1424802"/>
              <a:gd name="connsiteY52" fmla="*/ 1516940 h 1516940"/>
              <a:gd name="connsiteX53" fmla="*/ 900585 w 1424802"/>
              <a:gd name="connsiteY53" fmla="*/ 1511078 h 1516940"/>
              <a:gd name="connsiteX54" fmla="*/ 883001 w 1424802"/>
              <a:gd name="connsiteY54" fmla="*/ 1505217 h 1516940"/>
              <a:gd name="connsiteX55" fmla="*/ 800939 w 1424802"/>
              <a:gd name="connsiteY55" fmla="*/ 1499355 h 1516940"/>
              <a:gd name="connsiteX56" fmla="*/ 630955 w 1424802"/>
              <a:gd name="connsiteY56" fmla="*/ 1493494 h 1516940"/>
              <a:gd name="connsiteX57" fmla="*/ 572339 w 1424802"/>
              <a:gd name="connsiteY57" fmla="*/ 1487632 h 1516940"/>
              <a:gd name="connsiteX58" fmla="*/ 476812 w 1424802"/>
              <a:gd name="connsiteY58" fmla="*/ 1493494 h 1516940"/>
              <a:gd name="connsiteX59" fmla="*/ 155426 w 1424802"/>
              <a:gd name="connsiteY59" fmla="*/ 1464186 h 1516940"/>
              <a:gd name="connsiteX60" fmla="*/ 83418 w 1424802"/>
              <a:gd name="connsiteY60" fmla="*/ 1392178 h 1516940"/>
              <a:gd name="connsiteX61" fmla="*/ 50662 w 1424802"/>
              <a:gd name="connsiteY61" fmla="*/ 1341094 h 1516940"/>
              <a:gd name="connsiteX62" fmla="*/ 33078 w 1424802"/>
              <a:gd name="connsiteY62" fmla="*/ 1323509 h 1516940"/>
              <a:gd name="connsiteX63" fmla="*/ 21355 w 1424802"/>
              <a:gd name="connsiteY63" fmla="*/ 1282478 h 1516940"/>
              <a:gd name="connsiteX64" fmla="*/ 9632 w 1424802"/>
              <a:gd name="connsiteY64" fmla="*/ 1235586 h 1516940"/>
              <a:gd name="connsiteX65" fmla="*/ 9632 w 1424802"/>
              <a:gd name="connsiteY65" fmla="*/ 1036294 h 1516940"/>
              <a:gd name="connsiteX66" fmla="*/ 15493 w 1424802"/>
              <a:gd name="connsiteY66" fmla="*/ 1018709 h 1516940"/>
              <a:gd name="connsiteX67" fmla="*/ 21355 w 1424802"/>
              <a:gd name="connsiteY67" fmla="*/ 965955 h 1516940"/>
              <a:gd name="connsiteX68" fmla="*/ 27216 w 1424802"/>
              <a:gd name="connsiteY68" fmla="*/ 948371 h 1516940"/>
              <a:gd name="connsiteX69" fmla="*/ 33078 w 1424802"/>
              <a:gd name="connsiteY69" fmla="*/ 913201 h 1516940"/>
              <a:gd name="connsiteX70" fmla="*/ 50662 w 1424802"/>
              <a:gd name="connsiteY70" fmla="*/ 872171 h 1516940"/>
              <a:gd name="connsiteX71" fmla="*/ 62385 w 1424802"/>
              <a:gd name="connsiteY71" fmla="*/ 831140 h 1516940"/>
              <a:gd name="connsiteX72" fmla="*/ 74108 w 1424802"/>
              <a:gd name="connsiteY72" fmla="*/ 807694 h 1516940"/>
              <a:gd name="connsiteX73" fmla="*/ 85832 w 1424802"/>
              <a:gd name="connsiteY73" fmla="*/ 766663 h 1516940"/>
              <a:gd name="connsiteX74" fmla="*/ 91693 w 1424802"/>
              <a:gd name="connsiteY74" fmla="*/ 749078 h 1516940"/>
              <a:gd name="connsiteX75" fmla="*/ 97555 w 1424802"/>
              <a:gd name="connsiteY75" fmla="*/ 719771 h 1516940"/>
              <a:gd name="connsiteX76" fmla="*/ 103416 w 1424802"/>
              <a:gd name="connsiteY76" fmla="*/ 702186 h 1516940"/>
              <a:gd name="connsiteX77" fmla="*/ 102366 w 1424802"/>
              <a:gd name="connsiteY77" fmla="*/ 639555 h 1516940"/>
              <a:gd name="connsiteX78" fmla="*/ 83418 w 1424802"/>
              <a:gd name="connsiteY78" fmla="*/ 528082 h 1516940"/>
              <a:gd name="connsiteX79" fmla="*/ 83418 w 1424802"/>
              <a:gd name="connsiteY79" fmla="*/ 384066 h 1516940"/>
              <a:gd name="connsiteX80" fmla="*/ 85832 w 1424802"/>
              <a:gd name="connsiteY80" fmla="*/ 356355 h 1516940"/>
              <a:gd name="connsiteX81" fmla="*/ 79970 w 1424802"/>
              <a:gd name="connsiteY81"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24009 h 1516940"/>
              <a:gd name="connsiteX11" fmla="*/ 789216 w 1424802"/>
              <a:gd name="connsiteY11" fmla="*/ 180509 h 1516940"/>
              <a:gd name="connsiteX12" fmla="*/ 824385 w 1424802"/>
              <a:gd name="connsiteY12" fmla="*/ 192232 h 1516940"/>
              <a:gd name="connsiteX13" fmla="*/ 841970 w 1424802"/>
              <a:gd name="connsiteY13" fmla="*/ 209817 h 1516940"/>
              <a:gd name="connsiteX14" fmla="*/ 847832 w 1424802"/>
              <a:gd name="connsiteY14" fmla="*/ 227401 h 1516940"/>
              <a:gd name="connsiteX15" fmla="*/ 865416 w 1424802"/>
              <a:gd name="connsiteY15" fmla="*/ 233263 h 1516940"/>
              <a:gd name="connsiteX16" fmla="*/ 906447 w 1424802"/>
              <a:gd name="connsiteY16" fmla="*/ 268432 h 1516940"/>
              <a:gd name="connsiteX17" fmla="*/ 918170 w 1424802"/>
              <a:gd name="connsiteY17" fmla="*/ 286017 h 1516940"/>
              <a:gd name="connsiteX18" fmla="*/ 935755 w 1424802"/>
              <a:gd name="connsiteY18" fmla="*/ 297740 h 1516940"/>
              <a:gd name="connsiteX19" fmla="*/ 959201 w 1424802"/>
              <a:gd name="connsiteY19" fmla="*/ 315324 h 1516940"/>
              <a:gd name="connsiteX20" fmla="*/ 976785 w 1424802"/>
              <a:gd name="connsiteY20" fmla="*/ 327048 h 1516940"/>
              <a:gd name="connsiteX21" fmla="*/ 994370 w 1424802"/>
              <a:gd name="connsiteY21" fmla="*/ 350494 h 1516940"/>
              <a:gd name="connsiteX22" fmla="*/ 1035401 w 1424802"/>
              <a:gd name="connsiteY22" fmla="*/ 373940 h 1516940"/>
              <a:gd name="connsiteX23" fmla="*/ 1058847 w 1424802"/>
              <a:gd name="connsiteY23" fmla="*/ 403248 h 1516940"/>
              <a:gd name="connsiteX24" fmla="*/ 1099878 w 1424802"/>
              <a:gd name="connsiteY24" fmla="*/ 438417 h 1516940"/>
              <a:gd name="connsiteX25" fmla="*/ 1129185 w 1424802"/>
              <a:gd name="connsiteY25" fmla="*/ 479448 h 1516940"/>
              <a:gd name="connsiteX26" fmla="*/ 1135047 w 1424802"/>
              <a:gd name="connsiteY26" fmla="*/ 497032 h 1516940"/>
              <a:gd name="connsiteX27" fmla="*/ 1170216 w 1424802"/>
              <a:gd name="connsiteY27" fmla="*/ 538063 h 1516940"/>
              <a:gd name="connsiteX28" fmla="*/ 1187801 w 1424802"/>
              <a:gd name="connsiteY28" fmla="*/ 561509 h 1516940"/>
              <a:gd name="connsiteX29" fmla="*/ 1211247 w 1424802"/>
              <a:gd name="connsiteY29" fmla="*/ 596678 h 1516940"/>
              <a:gd name="connsiteX30" fmla="*/ 1240555 w 1424802"/>
              <a:gd name="connsiteY30" fmla="*/ 637709 h 1516940"/>
              <a:gd name="connsiteX31" fmla="*/ 1264001 w 1424802"/>
              <a:gd name="connsiteY31" fmla="*/ 684601 h 1516940"/>
              <a:gd name="connsiteX32" fmla="*/ 1269862 w 1424802"/>
              <a:gd name="connsiteY32" fmla="*/ 702186 h 1516940"/>
              <a:gd name="connsiteX33" fmla="*/ 1287447 w 1424802"/>
              <a:gd name="connsiteY33" fmla="*/ 731494 h 1516940"/>
              <a:gd name="connsiteX34" fmla="*/ 1299170 w 1424802"/>
              <a:gd name="connsiteY34" fmla="*/ 754940 h 1516940"/>
              <a:gd name="connsiteX35" fmla="*/ 1316755 w 1424802"/>
              <a:gd name="connsiteY35" fmla="*/ 772524 h 1516940"/>
              <a:gd name="connsiteX36" fmla="*/ 1340201 w 1424802"/>
              <a:gd name="connsiteY36" fmla="*/ 813555 h 1516940"/>
              <a:gd name="connsiteX37" fmla="*/ 1351924 w 1424802"/>
              <a:gd name="connsiteY37" fmla="*/ 837001 h 1516940"/>
              <a:gd name="connsiteX38" fmla="*/ 1357785 w 1424802"/>
              <a:gd name="connsiteY38" fmla="*/ 854586 h 1516940"/>
              <a:gd name="connsiteX39" fmla="*/ 1369508 w 1424802"/>
              <a:gd name="connsiteY39" fmla="*/ 872171 h 1516940"/>
              <a:gd name="connsiteX40" fmla="*/ 1381232 w 1424802"/>
              <a:gd name="connsiteY40" fmla="*/ 901478 h 1516940"/>
              <a:gd name="connsiteX41" fmla="*/ 1398816 w 1424802"/>
              <a:gd name="connsiteY41" fmla="*/ 977678 h 1516940"/>
              <a:gd name="connsiteX42" fmla="*/ 1410539 w 1424802"/>
              <a:gd name="connsiteY42" fmla="*/ 1048017 h 1516940"/>
              <a:gd name="connsiteX43" fmla="*/ 1416401 w 1424802"/>
              <a:gd name="connsiteY43" fmla="*/ 1065601 h 1516940"/>
              <a:gd name="connsiteX44" fmla="*/ 1410539 w 1424802"/>
              <a:gd name="connsiteY44" fmla="*/ 1218001 h 1516940"/>
              <a:gd name="connsiteX45" fmla="*/ 1404287 w 1424802"/>
              <a:gd name="connsiteY45" fmla="*/ 1341627 h 1516940"/>
              <a:gd name="connsiteX46" fmla="*/ 1287447 w 1424802"/>
              <a:gd name="connsiteY46" fmla="*/ 1475909 h 1516940"/>
              <a:gd name="connsiteX47" fmla="*/ 1269862 w 1424802"/>
              <a:gd name="connsiteY47" fmla="*/ 1487632 h 1516940"/>
              <a:gd name="connsiteX48" fmla="*/ 1234693 w 1424802"/>
              <a:gd name="connsiteY48" fmla="*/ 1499355 h 1516940"/>
              <a:gd name="connsiteX49" fmla="*/ 1217108 w 1424802"/>
              <a:gd name="connsiteY49" fmla="*/ 1505217 h 1516940"/>
              <a:gd name="connsiteX50" fmla="*/ 1176078 w 1424802"/>
              <a:gd name="connsiteY50" fmla="*/ 1511078 h 1516940"/>
              <a:gd name="connsiteX51" fmla="*/ 1140908 w 1424802"/>
              <a:gd name="connsiteY51" fmla="*/ 1516940 h 1516940"/>
              <a:gd name="connsiteX52" fmla="*/ 900585 w 1424802"/>
              <a:gd name="connsiteY52" fmla="*/ 1511078 h 1516940"/>
              <a:gd name="connsiteX53" fmla="*/ 883001 w 1424802"/>
              <a:gd name="connsiteY53" fmla="*/ 1505217 h 1516940"/>
              <a:gd name="connsiteX54" fmla="*/ 800939 w 1424802"/>
              <a:gd name="connsiteY54" fmla="*/ 1499355 h 1516940"/>
              <a:gd name="connsiteX55" fmla="*/ 630955 w 1424802"/>
              <a:gd name="connsiteY55" fmla="*/ 1493494 h 1516940"/>
              <a:gd name="connsiteX56" fmla="*/ 572339 w 1424802"/>
              <a:gd name="connsiteY56" fmla="*/ 1487632 h 1516940"/>
              <a:gd name="connsiteX57" fmla="*/ 476812 w 1424802"/>
              <a:gd name="connsiteY57" fmla="*/ 1493494 h 1516940"/>
              <a:gd name="connsiteX58" fmla="*/ 155426 w 1424802"/>
              <a:gd name="connsiteY58" fmla="*/ 1464186 h 1516940"/>
              <a:gd name="connsiteX59" fmla="*/ 83418 w 1424802"/>
              <a:gd name="connsiteY59" fmla="*/ 1392178 h 1516940"/>
              <a:gd name="connsiteX60" fmla="*/ 50662 w 1424802"/>
              <a:gd name="connsiteY60" fmla="*/ 1341094 h 1516940"/>
              <a:gd name="connsiteX61" fmla="*/ 33078 w 1424802"/>
              <a:gd name="connsiteY61" fmla="*/ 1323509 h 1516940"/>
              <a:gd name="connsiteX62" fmla="*/ 21355 w 1424802"/>
              <a:gd name="connsiteY62" fmla="*/ 1282478 h 1516940"/>
              <a:gd name="connsiteX63" fmla="*/ 9632 w 1424802"/>
              <a:gd name="connsiteY63" fmla="*/ 1235586 h 1516940"/>
              <a:gd name="connsiteX64" fmla="*/ 9632 w 1424802"/>
              <a:gd name="connsiteY64" fmla="*/ 1036294 h 1516940"/>
              <a:gd name="connsiteX65" fmla="*/ 15493 w 1424802"/>
              <a:gd name="connsiteY65" fmla="*/ 1018709 h 1516940"/>
              <a:gd name="connsiteX66" fmla="*/ 21355 w 1424802"/>
              <a:gd name="connsiteY66" fmla="*/ 965955 h 1516940"/>
              <a:gd name="connsiteX67" fmla="*/ 27216 w 1424802"/>
              <a:gd name="connsiteY67" fmla="*/ 948371 h 1516940"/>
              <a:gd name="connsiteX68" fmla="*/ 33078 w 1424802"/>
              <a:gd name="connsiteY68" fmla="*/ 913201 h 1516940"/>
              <a:gd name="connsiteX69" fmla="*/ 50662 w 1424802"/>
              <a:gd name="connsiteY69" fmla="*/ 872171 h 1516940"/>
              <a:gd name="connsiteX70" fmla="*/ 62385 w 1424802"/>
              <a:gd name="connsiteY70" fmla="*/ 831140 h 1516940"/>
              <a:gd name="connsiteX71" fmla="*/ 74108 w 1424802"/>
              <a:gd name="connsiteY71" fmla="*/ 807694 h 1516940"/>
              <a:gd name="connsiteX72" fmla="*/ 85832 w 1424802"/>
              <a:gd name="connsiteY72" fmla="*/ 766663 h 1516940"/>
              <a:gd name="connsiteX73" fmla="*/ 91693 w 1424802"/>
              <a:gd name="connsiteY73" fmla="*/ 749078 h 1516940"/>
              <a:gd name="connsiteX74" fmla="*/ 97555 w 1424802"/>
              <a:gd name="connsiteY74" fmla="*/ 719771 h 1516940"/>
              <a:gd name="connsiteX75" fmla="*/ 103416 w 1424802"/>
              <a:gd name="connsiteY75" fmla="*/ 702186 h 1516940"/>
              <a:gd name="connsiteX76" fmla="*/ 102366 w 1424802"/>
              <a:gd name="connsiteY76" fmla="*/ 639555 h 1516940"/>
              <a:gd name="connsiteX77" fmla="*/ 83418 w 1424802"/>
              <a:gd name="connsiteY77" fmla="*/ 528082 h 1516940"/>
              <a:gd name="connsiteX78" fmla="*/ 83418 w 1424802"/>
              <a:gd name="connsiteY78" fmla="*/ 384066 h 1516940"/>
              <a:gd name="connsiteX79" fmla="*/ 85832 w 1424802"/>
              <a:gd name="connsiteY79" fmla="*/ 356355 h 1516940"/>
              <a:gd name="connsiteX80" fmla="*/ 79970 w 1424802"/>
              <a:gd name="connsiteY80"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24009 h 1516940"/>
              <a:gd name="connsiteX11" fmla="*/ 824385 w 1424802"/>
              <a:gd name="connsiteY11" fmla="*/ 192232 h 1516940"/>
              <a:gd name="connsiteX12" fmla="*/ 841970 w 1424802"/>
              <a:gd name="connsiteY12" fmla="*/ 209817 h 1516940"/>
              <a:gd name="connsiteX13" fmla="*/ 847832 w 1424802"/>
              <a:gd name="connsiteY13" fmla="*/ 227401 h 1516940"/>
              <a:gd name="connsiteX14" fmla="*/ 865416 w 1424802"/>
              <a:gd name="connsiteY14" fmla="*/ 233263 h 1516940"/>
              <a:gd name="connsiteX15" fmla="*/ 906447 w 1424802"/>
              <a:gd name="connsiteY15" fmla="*/ 268432 h 1516940"/>
              <a:gd name="connsiteX16" fmla="*/ 918170 w 1424802"/>
              <a:gd name="connsiteY16" fmla="*/ 286017 h 1516940"/>
              <a:gd name="connsiteX17" fmla="*/ 935755 w 1424802"/>
              <a:gd name="connsiteY17" fmla="*/ 297740 h 1516940"/>
              <a:gd name="connsiteX18" fmla="*/ 959201 w 1424802"/>
              <a:gd name="connsiteY18" fmla="*/ 315324 h 1516940"/>
              <a:gd name="connsiteX19" fmla="*/ 976785 w 1424802"/>
              <a:gd name="connsiteY19" fmla="*/ 327048 h 1516940"/>
              <a:gd name="connsiteX20" fmla="*/ 994370 w 1424802"/>
              <a:gd name="connsiteY20" fmla="*/ 350494 h 1516940"/>
              <a:gd name="connsiteX21" fmla="*/ 1035401 w 1424802"/>
              <a:gd name="connsiteY21" fmla="*/ 373940 h 1516940"/>
              <a:gd name="connsiteX22" fmla="*/ 1058847 w 1424802"/>
              <a:gd name="connsiteY22" fmla="*/ 403248 h 1516940"/>
              <a:gd name="connsiteX23" fmla="*/ 1099878 w 1424802"/>
              <a:gd name="connsiteY23" fmla="*/ 438417 h 1516940"/>
              <a:gd name="connsiteX24" fmla="*/ 1129185 w 1424802"/>
              <a:gd name="connsiteY24" fmla="*/ 479448 h 1516940"/>
              <a:gd name="connsiteX25" fmla="*/ 1135047 w 1424802"/>
              <a:gd name="connsiteY25" fmla="*/ 497032 h 1516940"/>
              <a:gd name="connsiteX26" fmla="*/ 1170216 w 1424802"/>
              <a:gd name="connsiteY26" fmla="*/ 538063 h 1516940"/>
              <a:gd name="connsiteX27" fmla="*/ 1187801 w 1424802"/>
              <a:gd name="connsiteY27" fmla="*/ 561509 h 1516940"/>
              <a:gd name="connsiteX28" fmla="*/ 1211247 w 1424802"/>
              <a:gd name="connsiteY28" fmla="*/ 596678 h 1516940"/>
              <a:gd name="connsiteX29" fmla="*/ 1240555 w 1424802"/>
              <a:gd name="connsiteY29" fmla="*/ 637709 h 1516940"/>
              <a:gd name="connsiteX30" fmla="*/ 1264001 w 1424802"/>
              <a:gd name="connsiteY30" fmla="*/ 684601 h 1516940"/>
              <a:gd name="connsiteX31" fmla="*/ 1269862 w 1424802"/>
              <a:gd name="connsiteY31" fmla="*/ 702186 h 1516940"/>
              <a:gd name="connsiteX32" fmla="*/ 1287447 w 1424802"/>
              <a:gd name="connsiteY32" fmla="*/ 731494 h 1516940"/>
              <a:gd name="connsiteX33" fmla="*/ 1299170 w 1424802"/>
              <a:gd name="connsiteY33" fmla="*/ 754940 h 1516940"/>
              <a:gd name="connsiteX34" fmla="*/ 1316755 w 1424802"/>
              <a:gd name="connsiteY34" fmla="*/ 772524 h 1516940"/>
              <a:gd name="connsiteX35" fmla="*/ 1340201 w 1424802"/>
              <a:gd name="connsiteY35" fmla="*/ 813555 h 1516940"/>
              <a:gd name="connsiteX36" fmla="*/ 1351924 w 1424802"/>
              <a:gd name="connsiteY36" fmla="*/ 837001 h 1516940"/>
              <a:gd name="connsiteX37" fmla="*/ 1357785 w 1424802"/>
              <a:gd name="connsiteY37" fmla="*/ 854586 h 1516940"/>
              <a:gd name="connsiteX38" fmla="*/ 1369508 w 1424802"/>
              <a:gd name="connsiteY38" fmla="*/ 872171 h 1516940"/>
              <a:gd name="connsiteX39" fmla="*/ 1381232 w 1424802"/>
              <a:gd name="connsiteY39" fmla="*/ 901478 h 1516940"/>
              <a:gd name="connsiteX40" fmla="*/ 1398816 w 1424802"/>
              <a:gd name="connsiteY40" fmla="*/ 977678 h 1516940"/>
              <a:gd name="connsiteX41" fmla="*/ 1410539 w 1424802"/>
              <a:gd name="connsiteY41" fmla="*/ 1048017 h 1516940"/>
              <a:gd name="connsiteX42" fmla="*/ 1416401 w 1424802"/>
              <a:gd name="connsiteY42" fmla="*/ 1065601 h 1516940"/>
              <a:gd name="connsiteX43" fmla="*/ 1410539 w 1424802"/>
              <a:gd name="connsiteY43" fmla="*/ 1218001 h 1516940"/>
              <a:gd name="connsiteX44" fmla="*/ 1404287 w 1424802"/>
              <a:gd name="connsiteY44" fmla="*/ 1341627 h 1516940"/>
              <a:gd name="connsiteX45" fmla="*/ 1287447 w 1424802"/>
              <a:gd name="connsiteY45" fmla="*/ 1475909 h 1516940"/>
              <a:gd name="connsiteX46" fmla="*/ 1269862 w 1424802"/>
              <a:gd name="connsiteY46" fmla="*/ 1487632 h 1516940"/>
              <a:gd name="connsiteX47" fmla="*/ 1234693 w 1424802"/>
              <a:gd name="connsiteY47" fmla="*/ 1499355 h 1516940"/>
              <a:gd name="connsiteX48" fmla="*/ 1217108 w 1424802"/>
              <a:gd name="connsiteY48" fmla="*/ 1505217 h 1516940"/>
              <a:gd name="connsiteX49" fmla="*/ 1176078 w 1424802"/>
              <a:gd name="connsiteY49" fmla="*/ 1511078 h 1516940"/>
              <a:gd name="connsiteX50" fmla="*/ 1140908 w 1424802"/>
              <a:gd name="connsiteY50" fmla="*/ 1516940 h 1516940"/>
              <a:gd name="connsiteX51" fmla="*/ 900585 w 1424802"/>
              <a:gd name="connsiteY51" fmla="*/ 1511078 h 1516940"/>
              <a:gd name="connsiteX52" fmla="*/ 883001 w 1424802"/>
              <a:gd name="connsiteY52" fmla="*/ 1505217 h 1516940"/>
              <a:gd name="connsiteX53" fmla="*/ 800939 w 1424802"/>
              <a:gd name="connsiteY53" fmla="*/ 1499355 h 1516940"/>
              <a:gd name="connsiteX54" fmla="*/ 630955 w 1424802"/>
              <a:gd name="connsiteY54" fmla="*/ 1493494 h 1516940"/>
              <a:gd name="connsiteX55" fmla="*/ 572339 w 1424802"/>
              <a:gd name="connsiteY55" fmla="*/ 1487632 h 1516940"/>
              <a:gd name="connsiteX56" fmla="*/ 476812 w 1424802"/>
              <a:gd name="connsiteY56" fmla="*/ 1493494 h 1516940"/>
              <a:gd name="connsiteX57" fmla="*/ 155426 w 1424802"/>
              <a:gd name="connsiteY57" fmla="*/ 1464186 h 1516940"/>
              <a:gd name="connsiteX58" fmla="*/ 83418 w 1424802"/>
              <a:gd name="connsiteY58" fmla="*/ 1392178 h 1516940"/>
              <a:gd name="connsiteX59" fmla="*/ 50662 w 1424802"/>
              <a:gd name="connsiteY59" fmla="*/ 1341094 h 1516940"/>
              <a:gd name="connsiteX60" fmla="*/ 33078 w 1424802"/>
              <a:gd name="connsiteY60" fmla="*/ 1323509 h 1516940"/>
              <a:gd name="connsiteX61" fmla="*/ 21355 w 1424802"/>
              <a:gd name="connsiteY61" fmla="*/ 1282478 h 1516940"/>
              <a:gd name="connsiteX62" fmla="*/ 9632 w 1424802"/>
              <a:gd name="connsiteY62" fmla="*/ 1235586 h 1516940"/>
              <a:gd name="connsiteX63" fmla="*/ 9632 w 1424802"/>
              <a:gd name="connsiteY63" fmla="*/ 1036294 h 1516940"/>
              <a:gd name="connsiteX64" fmla="*/ 15493 w 1424802"/>
              <a:gd name="connsiteY64" fmla="*/ 1018709 h 1516940"/>
              <a:gd name="connsiteX65" fmla="*/ 21355 w 1424802"/>
              <a:gd name="connsiteY65" fmla="*/ 965955 h 1516940"/>
              <a:gd name="connsiteX66" fmla="*/ 27216 w 1424802"/>
              <a:gd name="connsiteY66" fmla="*/ 948371 h 1516940"/>
              <a:gd name="connsiteX67" fmla="*/ 33078 w 1424802"/>
              <a:gd name="connsiteY67" fmla="*/ 913201 h 1516940"/>
              <a:gd name="connsiteX68" fmla="*/ 50662 w 1424802"/>
              <a:gd name="connsiteY68" fmla="*/ 872171 h 1516940"/>
              <a:gd name="connsiteX69" fmla="*/ 62385 w 1424802"/>
              <a:gd name="connsiteY69" fmla="*/ 831140 h 1516940"/>
              <a:gd name="connsiteX70" fmla="*/ 74108 w 1424802"/>
              <a:gd name="connsiteY70" fmla="*/ 807694 h 1516940"/>
              <a:gd name="connsiteX71" fmla="*/ 85832 w 1424802"/>
              <a:gd name="connsiteY71" fmla="*/ 766663 h 1516940"/>
              <a:gd name="connsiteX72" fmla="*/ 91693 w 1424802"/>
              <a:gd name="connsiteY72" fmla="*/ 749078 h 1516940"/>
              <a:gd name="connsiteX73" fmla="*/ 97555 w 1424802"/>
              <a:gd name="connsiteY73" fmla="*/ 719771 h 1516940"/>
              <a:gd name="connsiteX74" fmla="*/ 103416 w 1424802"/>
              <a:gd name="connsiteY74" fmla="*/ 702186 h 1516940"/>
              <a:gd name="connsiteX75" fmla="*/ 102366 w 1424802"/>
              <a:gd name="connsiteY75" fmla="*/ 639555 h 1516940"/>
              <a:gd name="connsiteX76" fmla="*/ 83418 w 1424802"/>
              <a:gd name="connsiteY76" fmla="*/ 528082 h 1516940"/>
              <a:gd name="connsiteX77" fmla="*/ 83418 w 1424802"/>
              <a:gd name="connsiteY77" fmla="*/ 384066 h 1516940"/>
              <a:gd name="connsiteX78" fmla="*/ 85832 w 1424802"/>
              <a:gd name="connsiteY78" fmla="*/ 356355 h 1516940"/>
              <a:gd name="connsiteX79" fmla="*/ 79970 w 1424802"/>
              <a:gd name="connsiteY79"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9 h 1516940"/>
              <a:gd name="connsiteX10" fmla="*/ 731313 w 1424802"/>
              <a:gd name="connsiteY10" fmla="*/ 24009 h 1516940"/>
              <a:gd name="connsiteX11" fmla="*/ 824385 w 1424802"/>
              <a:gd name="connsiteY11" fmla="*/ 192232 h 1516940"/>
              <a:gd name="connsiteX12" fmla="*/ 841970 w 1424802"/>
              <a:gd name="connsiteY12" fmla="*/ 209817 h 1516940"/>
              <a:gd name="connsiteX13" fmla="*/ 847832 w 1424802"/>
              <a:gd name="connsiteY13" fmla="*/ 227401 h 1516940"/>
              <a:gd name="connsiteX14" fmla="*/ 865416 w 1424802"/>
              <a:gd name="connsiteY14" fmla="*/ 233263 h 1516940"/>
              <a:gd name="connsiteX15" fmla="*/ 906447 w 1424802"/>
              <a:gd name="connsiteY15" fmla="*/ 268432 h 1516940"/>
              <a:gd name="connsiteX16" fmla="*/ 918170 w 1424802"/>
              <a:gd name="connsiteY16" fmla="*/ 286017 h 1516940"/>
              <a:gd name="connsiteX17" fmla="*/ 935755 w 1424802"/>
              <a:gd name="connsiteY17" fmla="*/ 297740 h 1516940"/>
              <a:gd name="connsiteX18" fmla="*/ 959201 w 1424802"/>
              <a:gd name="connsiteY18" fmla="*/ 315324 h 1516940"/>
              <a:gd name="connsiteX19" fmla="*/ 976785 w 1424802"/>
              <a:gd name="connsiteY19" fmla="*/ 327048 h 1516940"/>
              <a:gd name="connsiteX20" fmla="*/ 994370 w 1424802"/>
              <a:gd name="connsiteY20" fmla="*/ 350494 h 1516940"/>
              <a:gd name="connsiteX21" fmla="*/ 1035401 w 1424802"/>
              <a:gd name="connsiteY21" fmla="*/ 373940 h 1516940"/>
              <a:gd name="connsiteX22" fmla="*/ 1058847 w 1424802"/>
              <a:gd name="connsiteY22" fmla="*/ 403248 h 1516940"/>
              <a:gd name="connsiteX23" fmla="*/ 1099878 w 1424802"/>
              <a:gd name="connsiteY23" fmla="*/ 438417 h 1516940"/>
              <a:gd name="connsiteX24" fmla="*/ 1129185 w 1424802"/>
              <a:gd name="connsiteY24" fmla="*/ 479448 h 1516940"/>
              <a:gd name="connsiteX25" fmla="*/ 1135047 w 1424802"/>
              <a:gd name="connsiteY25" fmla="*/ 497032 h 1516940"/>
              <a:gd name="connsiteX26" fmla="*/ 1170216 w 1424802"/>
              <a:gd name="connsiteY26" fmla="*/ 538063 h 1516940"/>
              <a:gd name="connsiteX27" fmla="*/ 1187801 w 1424802"/>
              <a:gd name="connsiteY27" fmla="*/ 561509 h 1516940"/>
              <a:gd name="connsiteX28" fmla="*/ 1211247 w 1424802"/>
              <a:gd name="connsiteY28" fmla="*/ 596678 h 1516940"/>
              <a:gd name="connsiteX29" fmla="*/ 1240555 w 1424802"/>
              <a:gd name="connsiteY29" fmla="*/ 637709 h 1516940"/>
              <a:gd name="connsiteX30" fmla="*/ 1264001 w 1424802"/>
              <a:gd name="connsiteY30" fmla="*/ 684601 h 1516940"/>
              <a:gd name="connsiteX31" fmla="*/ 1269862 w 1424802"/>
              <a:gd name="connsiteY31" fmla="*/ 702186 h 1516940"/>
              <a:gd name="connsiteX32" fmla="*/ 1287447 w 1424802"/>
              <a:gd name="connsiteY32" fmla="*/ 731494 h 1516940"/>
              <a:gd name="connsiteX33" fmla="*/ 1299170 w 1424802"/>
              <a:gd name="connsiteY33" fmla="*/ 754940 h 1516940"/>
              <a:gd name="connsiteX34" fmla="*/ 1316755 w 1424802"/>
              <a:gd name="connsiteY34" fmla="*/ 772524 h 1516940"/>
              <a:gd name="connsiteX35" fmla="*/ 1340201 w 1424802"/>
              <a:gd name="connsiteY35" fmla="*/ 813555 h 1516940"/>
              <a:gd name="connsiteX36" fmla="*/ 1351924 w 1424802"/>
              <a:gd name="connsiteY36" fmla="*/ 837001 h 1516940"/>
              <a:gd name="connsiteX37" fmla="*/ 1357785 w 1424802"/>
              <a:gd name="connsiteY37" fmla="*/ 854586 h 1516940"/>
              <a:gd name="connsiteX38" fmla="*/ 1369508 w 1424802"/>
              <a:gd name="connsiteY38" fmla="*/ 872171 h 1516940"/>
              <a:gd name="connsiteX39" fmla="*/ 1381232 w 1424802"/>
              <a:gd name="connsiteY39" fmla="*/ 901478 h 1516940"/>
              <a:gd name="connsiteX40" fmla="*/ 1398816 w 1424802"/>
              <a:gd name="connsiteY40" fmla="*/ 977678 h 1516940"/>
              <a:gd name="connsiteX41" fmla="*/ 1410539 w 1424802"/>
              <a:gd name="connsiteY41" fmla="*/ 1048017 h 1516940"/>
              <a:gd name="connsiteX42" fmla="*/ 1416401 w 1424802"/>
              <a:gd name="connsiteY42" fmla="*/ 1065601 h 1516940"/>
              <a:gd name="connsiteX43" fmla="*/ 1410539 w 1424802"/>
              <a:gd name="connsiteY43" fmla="*/ 1218001 h 1516940"/>
              <a:gd name="connsiteX44" fmla="*/ 1404287 w 1424802"/>
              <a:gd name="connsiteY44" fmla="*/ 1341627 h 1516940"/>
              <a:gd name="connsiteX45" fmla="*/ 1287447 w 1424802"/>
              <a:gd name="connsiteY45" fmla="*/ 1475909 h 1516940"/>
              <a:gd name="connsiteX46" fmla="*/ 1269862 w 1424802"/>
              <a:gd name="connsiteY46" fmla="*/ 1487632 h 1516940"/>
              <a:gd name="connsiteX47" fmla="*/ 1234693 w 1424802"/>
              <a:gd name="connsiteY47" fmla="*/ 1499355 h 1516940"/>
              <a:gd name="connsiteX48" fmla="*/ 1217108 w 1424802"/>
              <a:gd name="connsiteY48" fmla="*/ 1505217 h 1516940"/>
              <a:gd name="connsiteX49" fmla="*/ 1176078 w 1424802"/>
              <a:gd name="connsiteY49" fmla="*/ 1511078 h 1516940"/>
              <a:gd name="connsiteX50" fmla="*/ 1140908 w 1424802"/>
              <a:gd name="connsiteY50" fmla="*/ 1516940 h 1516940"/>
              <a:gd name="connsiteX51" fmla="*/ 900585 w 1424802"/>
              <a:gd name="connsiteY51" fmla="*/ 1511078 h 1516940"/>
              <a:gd name="connsiteX52" fmla="*/ 883001 w 1424802"/>
              <a:gd name="connsiteY52" fmla="*/ 1505217 h 1516940"/>
              <a:gd name="connsiteX53" fmla="*/ 800939 w 1424802"/>
              <a:gd name="connsiteY53" fmla="*/ 1499355 h 1516940"/>
              <a:gd name="connsiteX54" fmla="*/ 630955 w 1424802"/>
              <a:gd name="connsiteY54" fmla="*/ 1493494 h 1516940"/>
              <a:gd name="connsiteX55" fmla="*/ 572339 w 1424802"/>
              <a:gd name="connsiteY55" fmla="*/ 1487632 h 1516940"/>
              <a:gd name="connsiteX56" fmla="*/ 476812 w 1424802"/>
              <a:gd name="connsiteY56" fmla="*/ 1493494 h 1516940"/>
              <a:gd name="connsiteX57" fmla="*/ 155426 w 1424802"/>
              <a:gd name="connsiteY57" fmla="*/ 1464186 h 1516940"/>
              <a:gd name="connsiteX58" fmla="*/ 83418 w 1424802"/>
              <a:gd name="connsiteY58" fmla="*/ 1392178 h 1516940"/>
              <a:gd name="connsiteX59" fmla="*/ 50662 w 1424802"/>
              <a:gd name="connsiteY59" fmla="*/ 1341094 h 1516940"/>
              <a:gd name="connsiteX60" fmla="*/ 33078 w 1424802"/>
              <a:gd name="connsiteY60" fmla="*/ 1323509 h 1516940"/>
              <a:gd name="connsiteX61" fmla="*/ 21355 w 1424802"/>
              <a:gd name="connsiteY61" fmla="*/ 1282478 h 1516940"/>
              <a:gd name="connsiteX62" fmla="*/ 9632 w 1424802"/>
              <a:gd name="connsiteY62" fmla="*/ 1235586 h 1516940"/>
              <a:gd name="connsiteX63" fmla="*/ 9632 w 1424802"/>
              <a:gd name="connsiteY63" fmla="*/ 1036294 h 1516940"/>
              <a:gd name="connsiteX64" fmla="*/ 15493 w 1424802"/>
              <a:gd name="connsiteY64" fmla="*/ 1018709 h 1516940"/>
              <a:gd name="connsiteX65" fmla="*/ 21355 w 1424802"/>
              <a:gd name="connsiteY65" fmla="*/ 965955 h 1516940"/>
              <a:gd name="connsiteX66" fmla="*/ 27216 w 1424802"/>
              <a:gd name="connsiteY66" fmla="*/ 948371 h 1516940"/>
              <a:gd name="connsiteX67" fmla="*/ 33078 w 1424802"/>
              <a:gd name="connsiteY67" fmla="*/ 913201 h 1516940"/>
              <a:gd name="connsiteX68" fmla="*/ 50662 w 1424802"/>
              <a:gd name="connsiteY68" fmla="*/ 872171 h 1516940"/>
              <a:gd name="connsiteX69" fmla="*/ 62385 w 1424802"/>
              <a:gd name="connsiteY69" fmla="*/ 831140 h 1516940"/>
              <a:gd name="connsiteX70" fmla="*/ 74108 w 1424802"/>
              <a:gd name="connsiteY70" fmla="*/ 807694 h 1516940"/>
              <a:gd name="connsiteX71" fmla="*/ 85832 w 1424802"/>
              <a:gd name="connsiteY71" fmla="*/ 766663 h 1516940"/>
              <a:gd name="connsiteX72" fmla="*/ 91693 w 1424802"/>
              <a:gd name="connsiteY72" fmla="*/ 749078 h 1516940"/>
              <a:gd name="connsiteX73" fmla="*/ 97555 w 1424802"/>
              <a:gd name="connsiteY73" fmla="*/ 719771 h 1516940"/>
              <a:gd name="connsiteX74" fmla="*/ 103416 w 1424802"/>
              <a:gd name="connsiteY74" fmla="*/ 702186 h 1516940"/>
              <a:gd name="connsiteX75" fmla="*/ 102366 w 1424802"/>
              <a:gd name="connsiteY75" fmla="*/ 639555 h 1516940"/>
              <a:gd name="connsiteX76" fmla="*/ 83418 w 1424802"/>
              <a:gd name="connsiteY76" fmla="*/ 528082 h 1516940"/>
              <a:gd name="connsiteX77" fmla="*/ 83418 w 1424802"/>
              <a:gd name="connsiteY77" fmla="*/ 384066 h 1516940"/>
              <a:gd name="connsiteX78" fmla="*/ 85832 w 1424802"/>
              <a:gd name="connsiteY78" fmla="*/ 356355 h 1516940"/>
              <a:gd name="connsiteX79" fmla="*/ 79970 w 1424802"/>
              <a:gd name="connsiteY79" fmla="*/ 338771 h 1516940"/>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54920 w 1424802"/>
              <a:gd name="connsiteY4" fmla="*/ 146762 h 1639693"/>
              <a:gd name="connsiteX5" fmla="*/ 299018 w 1424802"/>
              <a:gd name="connsiteY5" fmla="*/ 2709 h 1639693"/>
              <a:gd name="connsiteX6" fmla="*/ 371067 w 1424802"/>
              <a:gd name="connsiteY6" fmla="*/ 146763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54920 w 1424802"/>
              <a:gd name="connsiteY4" fmla="*/ 146763 h 1639693"/>
              <a:gd name="connsiteX5" fmla="*/ 299018 w 1424802"/>
              <a:gd name="connsiteY5" fmla="*/ 2709 h 1639693"/>
              <a:gd name="connsiteX6" fmla="*/ 371067 w 1424802"/>
              <a:gd name="connsiteY6" fmla="*/ 146763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54920 w 1424802"/>
              <a:gd name="connsiteY4" fmla="*/ 146763 h 1639693"/>
              <a:gd name="connsiteX5" fmla="*/ 299018 w 1424802"/>
              <a:gd name="connsiteY5" fmla="*/ 2709 h 1639693"/>
              <a:gd name="connsiteX6" fmla="*/ 371067 w 1424802"/>
              <a:gd name="connsiteY6" fmla="*/ 146763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371067 w 1424802"/>
              <a:gd name="connsiteY6" fmla="*/ 146763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452136 w 1424802"/>
              <a:gd name="connsiteY6" fmla="*/ 68384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620226 w 1424802"/>
              <a:gd name="connsiteY8" fmla="*/ 120669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620226 w 1424802"/>
              <a:gd name="connsiteY8" fmla="*/ 120669 h 1639693"/>
              <a:gd name="connsiteX9" fmla="*/ 659264 w 1424802"/>
              <a:gd name="connsiteY9" fmla="*/ 146762 h 1639693"/>
              <a:gd name="connsiteX10" fmla="*/ 741534 w 1424802"/>
              <a:gd name="connsiteY10" fmla="*/ 19253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40439 w 1424802"/>
              <a:gd name="connsiteY3" fmla="*/ 284355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620226 w 1424802"/>
              <a:gd name="connsiteY8" fmla="*/ 120669 h 1639693"/>
              <a:gd name="connsiteX9" fmla="*/ 659264 w 1424802"/>
              <a:gd name="connsiteY9" fmla="*/ 146762 h 1639693"/>
              <a:gd name="connsiteX10" fmla="*/ 741534 w 1424802"/>
              <a:gd name="connsiteY10" fmla="*/ 19253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24101 w 1424802"/>
              <a:gd name="connsiteY1" fmla="*/ 362935 h 1639693"/>
              <a:gd name="connsiteX2" fmla="*/ 82870 w 1424802"/>
              <a:gd name="connsiteY2" fmla="*/ 290815 h 1639693"/>
              <a:gd name="connsiteX3" fmla="*/ 40439 w 1424802"/>
              <a:gd name="connsiteY3" fmla="*/ 284355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620226 w 1424802"/>
              <a:gd name="connsiteY8" fmla="*/ 120669 h 1639693"/>
              <a:gd name="connsiteX9" fmla="*/ 659264 w 1424802"/>
              <a:gd name="connsiteY9" fmla="*/ 146762 h 1639693"/>
              <a:gd name="connsiteX10" fmla="*/ 741534 w 1424802"/>
              <a:gd name="connsiteY10" fmla="*/ 19253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38129 w 1424802"/>
              <a:gd name="connsiteY6" fmla="*/ 104334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83418 w 1424802"/>
              <a:gd name="connsiteY76" fmla="*/ 506819 h 1639693"/>
              <a:gd name="connsiteX77" fmla="*/ 85832 w 1424802"/>
              <a:gd name="connsiteY77" fmla="*/ 479108 h 1639693"/>
              <a:gd name="connsiteX78" fmla="*/ 79970 w 1424802"/>
              <a:gd name="connsiteY78" fmla="*/ 461524 h 1639693"/>
              <a:gd name="connsiteX0" fmla="*/ 34270 w 1424802"/>
              <a:gd name="connsiteY0" fmla="*/ 471442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38129 w 1424802"/>
              <a:gd name="connsiteY6" fmla="*/ 104334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83418 w 1424802"/>
              <a:gd name="connsiteY76" fmla="*/ 506819 h 1639693"/>
              <a:gd name="connsiteX77" fmla="*/ 85832 w 1424802"/>
              <a:gd name="connsiteY77" fmla="*/ 479108 h 1639693"/>
              <a:gd name="connsiteX78" fmla="*/ 34270 w 1424802"/>
              <a:gd name="connsiteY78" fmla="*/ 471442 h 1639693"/>
              <a:gd name="connsiteX0" fmla="*/ 34270 w 1424802"/>
              <a:gd name="connsiteY0" fmla="*/ 471442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38129 w 1424802"/>
              <a:gd name="connsiteY6" fmla="*/ 104334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83418 w 1424802"/>
              <a:gd name="connsiteY76" fmla="*/ 506819 h 1639693"/>
              <a:gd name="connsiteX77" fmla="*/ 34270 w 1424802"/>
              <a:gd name="connsiteY77" fmla="*/ 471442 h 1639693"/>
              <a:gd name="connsiteX0" fmla="*/ 34270 w 1424802"/>
              <a:gd name="connsiteY0" fmla="*/ 471442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38129 w 1424802"/>
              <a:gd name="connsiteY6" fmla="*/ 104334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34270 w 1424802"/>
              <a:gd name="connsiteY76" fmla="*/ 471442 h 1639693"/>
              <a:gd name="connsiteX0" fmla="*/ 34270 w 1424802"/>
              <a:gd name="connsiteY0" fmla="*/ 471442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51506 w 1424802"/>
              <a:gd name="connsiteY6" fmla="*/ 58629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34270 w 1424802"/>
              <a:gd name="connsiteY76" fmla="*/ 471442 h 1639693"/>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240555 w 1424802"/>
              <a:gd name="connsiteY27" fmla="*/ 770815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316755 w 1424802"/>
              <a:gd name="connsiteY32" fmla="*/ 905630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81232 w 1424802"/>
              <a:gd name="connsiteY37" fmla="*/ 1034584 h 1650046"/>
              <a:gd name="connsiteX38" fmla="*/ 1398816 w 1424802"/>
              <a:gd name="connsiteY38" fmla="*/ 1110784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316755 w 1424802"/>
              <a:gd name="connsiteY32" fmla="*/ 905630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81232 w 1424802"/>
              <a:gd name="connsiteY37" fmla="*/ 1034584 h 1650046"/>
              <a:gd name="connsiteX38" fmla="*/ 1398816 w 1424802"/>
              <a:gd name="connsiteY38" fmla="*/ 1110784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81232 w 1424802"/>
              <a:gd name="connsiteY37" fmla="*/ 1034584 h 1650046"/>
              <a:gd name="connsiteX38" fmla="*/ 1398816 w 1424802"/>
              <a:gd name="connsiteY38" fmla="*/ 1110784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07706 w 1424802"/>
              <a:gd name="connsiteY37" fmla="*/ 1093461 h 1650046"/>
              <a:gd name="connsiteX38" fmla="*/ 1398816 w 1424802"/>
              <a:gd name="connsiteY38" fmla="*/ 1110784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07706 w 1424802"/>
              <a:gd name="connsiteY37" fmla="*/ 1093461 h 1650046"/>
              <a:gd name="connsiteX38" fmla="*/ 1353869 w 1424802"/>
              <a:gd name="connsiteY38" fmla="*/ 1173135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07706 w 1424802"/>
              <a:gd name="connsiteY37" fmla="*/ 1093461 h 1650046"/>
              <a:gd name="connsiteX38" fmla="*/ 1353869 w 1424802"/>
              <a:gd name="connsiteY38" fmla="*/ 1173135 h 1650046"/>
              <a:gd name="connsiteX39" fmla="*/ 1410539 w 1424802"/>
              <a:gd name="connsiteY39" fmla="*/ 1181123 h 1650046"/>
              <a:gd name="connsiteX40" fmla="*/ 1379755 w 1424802"/>
              <a:gd name="connsiteY40" fmla="*/ 1237514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07706 w 1424802"/>
              <a:gd name="connsiteY37" fmla="*/ 1093461 h 1650046"/>
              <a:gd name="connsiteX38" fmla="*/ 1353869 w 1424802"/>
              <a:gd name="connsiteY38" fmla="*/ 1173135 h 1650046"/>
              <a:gd name="connsiteX39" fmla="*/ 1379755 w 1424802"/>
              <a:gd name="connsiteY39" fmla="*/ 1237514 h 1650046"/>
              <a:gd name="connsiteX40" fmla="*/ 1410539 w 1424802"/>
              <a:gd name="connsiteY40" fmla="*/ 1351107 h 1650046"/>
              <a:gd name="connsiteX41" fmla="*/ 1404287 w 1424802"/>
              <a:gd name="connsiteY41" fmla="*/ 1474733 h 1650046"/>
              <a:gd name="connsiteX42" fmla="*/ 1287447 w 1424802"/>
              <a:gd name="connsiteY42" fmla="*/ 1609015 h 1650046"/>
              <a:gd name="connsiteX43" fmla="*/ 1269862 w 1424802"/>
              <a:gd name="connsiteY43" fmla="*/ 1620738 h 1650046"/>
              <a:gd name="connsiteX44" fmla="*/ 1234693 w 1424802"/>
              <a:gd name="connsiteY44" fmla="*/ 1632461 h 1650046"/>
              <a:gd name="connsiteX45" fmla="*/ 1217108 w 1424802"/>
              <a:gd name="connsiteY45" fmla="*/ 1638323 h 1650046"/>
              <a:gd name="connsiteX46" fmla="*/ 1176078 w 1424802"/>
              <a:gd name="connsiteY46" fmla="*/ 1644184 h 1650046"/>
              <a:gd name="connsiteX47" fmla="*/ 1140908 w 1424802"/>
              <a:gd name="connsiteY47" fmla="*/ 1650046 h 1650046"/>
              <a:gd name="connsiteX48" fmla="*/ 900585 w 1424802"/>
              <a:gd name="connsiteY48" fmla="*/ 1644184 h 1650046"/>
              <a:gd name="connsiteX49" fmla="*/ 883001 w 1424802"/>
              <a:gd name="connsiteY49" fmla="*/ 1638323 h 1650046"/>
              <a:gd name="connsiteX50" fmla="*/ 800939 w 1424802"/>
              <a:gd name="connsiteY50" fmla="*/ 1632461 h 1650046"/>
              <a:gd name="connsiteX51" fmla="*/ 630955 w 1424802"/>
              <a:gd name="connsiteY51" fmla="*/ 1626600 h 1650046"/>
              <a:gd name="connsiteX52" fmla="*/ 572339 w 1424802"/>
              <a:gd name="connsiteY52" fmla="*/ 1620738 h 1650046"/>
              <a:gd name="connsiteX53" fmla="*/ 476812 w 1424802"/>
              <a:gd name="connsiteY53" fmla="*/ 1626600 h 1650046"/>
              <a:gd name="connsiteX54" fmla="*/ 155426 w 1424802"/>
              <a:gd name="connsiteY54" fmla="*/ 1597292 h 1650046"/>
              <a:gd name="connsiteX55" fmla="*/ 83418 w 1424802"/>
              <a:gd name="connsiteY55" fmla="*/ 1525284 h 1650046"/>
              <a:gd name="connsiteX56" fmla="*/ 50662 w 1424802"/>
              <a:gd name="connsiteY56" fmla="*/ 1474200 h 1650046"/>
              <a:gd name="connsiteX57" fmla="*/ 33078 w 1424802"/>
              <a:gd name="connsiteY57" fmla="*/ 1456615 h 1650046"/>
              <a:gd name="connsiteX58" fmla="*/ 21355 w 1424802"/>
              <a:gd name="connsiteY58" fmla="*/ 1415584 h 1650046"/>
              <a:gd name="connsiteX59" fmla="*/ 9632 w 1424802"/>
              <a:gd name="connsiteY59" fmla="*/ 1368692 h 1650046"/>
              <a:gd name="connsiteX60" fmla="*/ 9632 w 1424802"/>
              <a:gd name="connsiteY60" fmla="*/ 1169400 h 1650046"/>
              <a:gd name="connsiteX61" fmla="*/ 15493 w 1424802"/>
              <a:gd name="connsiteY61" fmla="*/ 1151815 h 1650046"/>
              <a:gd name="connsiteX62" fmla="*/ 21355 w 1424802"/>
              <a:gd name="connsiteY62" fmla="*/ 1099061 h 1650046"/>
              <a:gd name="connsiteX63" fmla="*/ 27216 w 1424802"/>
              <a:gd name="connsiteY63" fmla="*/ 1081477 h 1650046"/>
              <a:gd name="connsiteX64" fmla="*/ 33078 w 1424802"/>
              <a:gd name="connsiteY64" fmla="*/ 1046307 h 1650046"/>
              <a:gd name="connsiteX65" fmla="*/ 50662 w 1424802"/>
              <a:gd name="connsiteY65" fmla="*/ 1005277 h 1650046"/>
              <a:gd name="connsiteX66" fmla="*/ 62385 w 1424802"/>
              <a:gd name="connsiteY66" fmla="*/ 964246 h 1650046"/>
              <a:gd name="connsiteX67" fmla="*/ 74108 w 1424802"/>
              <a:gd name="connsiteY67" fmla="*/ 940800 h 1650046"/>
              <a:gd name="connsiteX68" fmla="*/ 85832 w 1424802"/>
              <a:gd name="connsiteY68" fmla="*/ 899769 h 1650046"/>
              <a:gd name="connsiteX69" fmla="*/ 91693 w 1424802"/>
              <a:gd name="connsiteY69" fmla="*/ 882184 h 1650046"/>
              <a:gd name="connsiteX70" fmla="*/ 97555 w 1424802"/>
              <a:gd name="connsiteY70" fmla="*/ 852877 h 1650046"/>
              <a:gd name="connsiteX71" fmla="*/ 103416 w 1424802"/>
              <a:gd name="connsiteY71" fmla="*/ 835292 h 1650046"/>
              <a:gd name="connsiteX72" fmla="*/ 102366 w 1424802"/>
              <a:gd name="connsiteY72" fmla="*/ 772661 h 1650046"/>
              <a:gd name="connsiteX73" fmla="*/ 83418 w 1424802"/>
              <a:gd name="connsiteY73" fmla="*/ 661188 h 1650046"/>
              <a:gd name="connsiteX74" fmla="*/ 34270 w 1424802"/>
              <a:gd name="connsiteY74"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07706 w 1424802"/>
              <a:gd name="connsiteY36" fmla="*/ 1093461 h 1650046"/>
              <a:gd name="connsiteX37" fmla="*/ 1353869 w 1424802"/>
              <a:gd name="connsiteY37" fmla="*/ 1173135 h 1650046"/>
              <a:gd name="connsiteX38" fmla="*/ 1379755 w 1424802"/>
              <a:gd name="connsiteY38" fmla="*/ 1237514 h 1650046"/>
              <a:gd name="connsiteX39" fmla="*/ 1410539 w 1424802"/>
              <a:gd name="connsiteY39" fmla="*/ 1351107 h 1650046"/>
              <a:gd name="connsiteX40" fmla="*/ 1404287 w 1424802"/>
              <a:gd name="connsiteY40" fmla="*/ 1474733 h 1650046"/>
              <a:gd name="connsiteX41" fmla="*/ 1287447 w 1424802"/>
              <a:gd name="connsiteY41" fmla="*/ 1609015 h 1650046"/>
              <a:gd name="connsiteX42" fmla="*/ 1269862 w 1424802"/>
              <a:gd name="connsiteY42" fmla="*/ 1620738 h 1650046"/>
              <a:gd name="connsiteX43" fmla="*/ 1234693 w 1424802"/>
              <a:gd name="connsiteY43" fmla="*/ 1632461 h 1650046"/>
              <a:gd name="connsiteX44" fmla="*/ 1217108 w 1424802"/>
              <a:gd name="connsiteY44" fmla="*/ 1638323 h 1650046"/>
              <a:gd name="connsiteX45" fmla="*/ 1176078 w 1424802"/>
              <a:gd name="connsiteY45" fmla="*/ 1644184 h 1650046"/>
              <a:gd name="connsiteX46" fmla="*/ 1140908 w 1424802"/>
              <a:gd name="connsiteY46" fmla="*/ 1650046 h 1650046"/>
              <a:gd name="connsiteX47" fmla="*/ 900585 w 1424802"/>
              <a:gd name="connsiteY47" fmla="*/ 1644184 h 1650046"/>
              <a:gd name="connsiteX48" fmla="*/ 883001 w 1424802"/>
              <a:gd name="connsiteY48" fmla="*/ 1638323 h 1650046"/>
              <a:gd name="connsiteX49" fmla="*/ 800939 w 1424802"/>
              <a:gd name="connsiteY49" fmla="*/ 1632461 h 1650046"/>
              <a:gd name="connsiteX50" fmla="*/ 630955 w 1424802"/>
              <a:gd name="connsiteY50" fmla="*/ 1626600 h 1650046"/>
              <a:gd name="connsiteX51" fmla="*/ 572339 w 1424802"/>
              <a:gd name="connsiteY51" fmla="*/ 1620738 h 1650046"/>
              <a:gd name="connsiteX52" fmla="*/ 476812 w 1424802"/>
              <a:gd name="connsiteY52" fmla="*/ 1626600 h 1650046"/>
              <a:gd name="connsiteX53" fmla="*/ 155426 w 1424802"/>
              <a:gd name="connsiteY53" fmla="*/ 1597292 h 1650046"/>
              <a:gd name="connsiteX54" fmla="*/ 83418 w 1424802"/>
              <a:gd name="connsiteY54" fmla="*/ 1525284 h 1650046"/>
              <a:gd name="connsiteX55" fmla="*/ 50662 w 1424802"/>
              <a:gd name="connsiteY55" fmla="*/ 1474200 h 1650046"/>
              <a:gd name="connsiteX56" fmla="*/ 33078 w 1424802"/>
              <a:gd name="connsiteY56" fmla="*/ 1456615 h 1650046"/>
              <a:gd name="connsiteX57" fmla="*/ 21355 w 1424802"/>
              <a:gd name="connsiteY57" fmla="*/ 1415584 h 1650046"/>
              <a:gd name="connsiteX58" fmla="*/ 9632 w 1424802"/>
              <a:gd name="connsiteY58" fmla="*/ 1368692 h 1650046"/>
              <a:gd name="connsiteX59" fmla="*/ 9632 w 1424802"/>
              <a:gd name="connsiteY59" fmla="*/ 1169400 h 1650046"/>
              <a:gd name="connsiteX60" fmla="*/ 15493 w 1424802"/>
              <a:gd name="connsiteY60" fmla="*/ 1151815 h 1650046"/>
              <a:gd name="connsiteX61" fmla="*/ 21355 w 1424802"/>
              <a:gd name="connsiteY61" fmla="*/ 1099061 h 1650046"/>
              <a:gd name="connsiteX62" fmla="*/ 27216 w 1424802"/>
              <a:gd name="connsiteY62" fmla="*/ 1081477 h 1650046"/>
              <a:gd name="connsiteX63" fmla="*/ 33078 w 1424802"/>
              <a:gd name="connsiteY63" fmla="*/ 1046307 h 1650046"/>
              <a:gd name="connsiteX64" fmla="*/ 50662 w 1424802"/>
              <a:gd name="connsiteY64" fmla="*/ 1005277 h 1650046"/>
              <a:gd name="connsiteX65" fmla="*/ 62385 w 1424802"/>
              <a:gd name="connsiteY65" fmla="*/ 964246 h 1650046"/>
              <a:gd name="connsiteX66" fmla="*/ 74108 w 1424802"/>
              <a:gd name="connsiteY66" fmla="*/ 940800 h 1650046"/>
              <a:gd name="connsiteX67" fmla="*/ 85832 w 1424802"/>
              <a:gd name="connsiteY67" fmla="*/ 899769 h 1650046"/>
              <a:gd name="connsiteX68" fmla="*/ 91693 w 1424802"/>
              <a:gd name="connsiteY68" fmla="*/ 882184 h 1650046"/>
              <a:gd name="connsiteX69" fmla="*/ 97555 w 1424802"/>
              <a:gd name="connsiteY69" fmla="*/ 852877 h 1650046"/>
              <a:gd name="connsiteX70" fmla="*/ 103416 w 1424802"/>
              <a:gd name="connsiteY70" fmla="*/ 835292 h 1650046"/>
              <a:gd name="connsiteX71" fmla="*/ 102366 w 1424802"/>
              <a:gd name="connsiteY71" fmla="*/ 772661 h 1650046"/>
              <a:gd name="connsiteX72" fmla="*/ 83418 w 1424802"/>
              <a:gd name="connsiteY72" fmla="*/ 661188 h 1650046"/>
              <a:gd name="connsiteX73" fmla="*/ 34270 w 1424802"/>
              <a:gd name="connsiteY73"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07706 w 1424802"/>
              <a:gd name="connsiteY35" fmla="*/ 1093461 h 1650046"/>
              <a:gd name="connsiteX36" fmla="*/ 1353869 w 1424802"/>
              <a:gd name="connsiteY36" fmla="*/ 1173135 h 1650046"/>
              <a:gd name="connsiteX37" fmla="*/ 1379755 w 1424802"/>
              <a:gd name="connsiteY37" fmla="*/ 1237514 h 1650046"/>
              <a:gd name="connsiteX38" fmla="*/ 1410539 w 1424802"/>
              <a:gd name="connsiteY38" fmla="*/ 1351107 h 1650046"/>
              <a:gd name="connsiteX39" fmla="*/ 1404287 w 1424802"/>
              <a:gd name="connsiteY39" fmla="*/ 1474733 h 1650046"/>
              <a:gd name="connsiteX40" fmla="*/ 1287447 w 1424802"/>
              <a:gd name="connsiteY40" fmla="*/ 1609015 h 1650046"/>
              <a:gd name="connsiteX41" fmla="*/ 1269862 w 1424802"/>
              <a:gd name="connsiteY41" fmla="*/ 1620738 h 1650046"/>
              <a:gd name="connsiteX42" fmla="*/ 1234693 w 1424802"/>
              <a:gd name="connsiteY42" fmla="*/ 1632461 h 1650046"/>
              <a:gd name="connsiteX43" fmla="*/ 1217108 w 1424802"/>
              <a:gd name="connsiteY43" fmla="*/ 1638323 h 1650046"/>
              <a:gd name="connsiteX44" fmla="*/ 1176078 w 1424802"/>
              <a:gd name="connsiteY44" fmla="*/ 1644184 h 1650046"/>
              <a:gd name="connsiteX45" fmla="*/ 1140908 w 1424802"/>
              <a:gd name="connsiteY45" fmla="*/ 1650046 h 1650046"/>
              <a:gd name="connsiteX46" fmla="*/ 900585 w 1424802"/>
              <a:gd name="connsiteY46" fmla="*/ 1644184 h 1650046"/>
              <a:gd name="connsiteX47" fmla="*/ 883001 w 1424802"/>
              <a:gd name="connsiteY47" fmla="*/ 1638323 h 1650046"/>
              <a:gd name="connsiteX48" fmla="*/ 800939 w 1424802"/>
              <a:gd name="connsiteY48" fmla="*/ 1632461 h 1650046"/>
              <a:gd name="connsiteX49" fmla="*/ 630955 w 1424802"/>
              <a:gd name="connsiteY49" fmla="*/ 1626600 h 1650046"/>
              <a:gd name="connsiteX50" fmla="*/ 572339 w 1424802"/>
              <a:gd name="connsiteY50" fmla="*/ 1620738 h 1650046"/>
              <a:gd name="connsiteX51" fmla="*/ 476812 w 1424802"/>
              <a:gd name="connsiteY51" fmla="*/ 1626600 h 1650046"/>
              <a:gd name="connsiteX52" fmla="*/ 155426 w 1424802"/>
              <a:gd name="connsiteY52" fmla="*/ 1597292 h 1650046"/>
              <a:gd name="connsiteX53" fmla="*/ 83418 w 1424802"/>
              <a:gd name="connsiteY53" fmla="*/ 1525284 h 1650046"/>
              <a:gd name="connsiteX54" fmla="*/ 50662 w 1424802"/>
              <a:gd name="connsiteY54" fmla="*/ 1474200 h 1650046"/>
              <a:gd name="connsiteX55" fmla="*/ 33078 w 1424802"/>
              <a:gd name="connsiteY55" fmla="*/ 1456615 h 1650046"/>
              <a:gd name="connsiteX56" fmla="*/ 21355 w 1424802"/>
              <a:gd name="connsiteY56" fmla="*/ 1415584 h 1650046"/>
              <a:gd name="connsiteX57" fmla="*/ 9632 w 1424802"/>
              <a:gd name="connsiteY57" fmla="*/ 1368692 h 1650046"/>
              <a:gd name="connsiteX58" fmla="*/ 9632 w 1424802"/>
              <a:gd name="connsiteY58" fmla="*/ 1169400 h 1650046"/>
              <a:gd name="connsiteX59" fmla="*/ 15493 w 1424802"/>
              <a:gd name="connsiteY59" fmla="*/ 1151815 h 1650046"/>
              <a:gd name="connsiteX60" fmla="*/ 21355 w 1424802"/>
              <a:gd name="connsiteY60" fmla="*/ 1099061 h 1650046"/>
              <a:gd name="connsiteX61" fmla="*/ 27216 w 1424802"/>
              <a:gd name="connsiteY61" fmla="*/ 1081477 h 1650046"/>
              <a:gd name="connsiteX62" fmla="*/ 33078 w 1424802"/>
              <a:gd name="connsiteY62" fmla="*/ 1046307 h 1650046"/>
              <a:gd name="connsiteX63" fmla="*/ 50662 w 1424802"/>
              <a:gd name="connsiteY63" fmla="*/ 1005277 h 1650046"/>
              <a:gd name="connsiteX64" fmla="*/ 62385 w 1424802"/>
              <a:gd name="connsiteY64" fmla="*/ 964246 h 1650046"/>
              <a:gd name="connsiteX65" fmla="*/ 74108 w 1424802"/>
              <a:gd name="connsiteY65" fmla="*/ 940800 h 1650046"/>
              <a:gd name="connsiteX66" fmla="*/ 85832 w 1424802"/>
              <a:gd name="connsiteY66" fmla="*/ 899769 h 1650046"/>
              <a:gd name="connsiteX67" fmla="*/ 91693 w 1424802"/>
              <a:gd name="connsiteY67" fmla="*/ 882184 h 1650046"/>
              <a:gd name="connsiteX68" fmla="*/ 97555 w 1424802"/>
              <a:gd name="connsiteY68" fmla="*/ 852877 h 1650046"/>
              <a:gd name="connsiteX69" fmla="*/ 103416 w 1424802"/>
              <a:gd name="connsiteY69" fmla="*/ 835292 h 1650046"/>
              <a:gd name="connsiteX70" fmla="*/ 102366 w 1424802"/>
              <a:gd name="connsiteY70" fmla="*/ 772661 h 1650046"/>
              <a:gd name="connsiteX71" fmla="*/ 83418 w 1424802"/>
              <a:gd name="connsiteY71" fmla="*/ 661188 h 1650046"/>
              <a:gd name="connsiteX72" fmla="*/ 34270 w 1424802"/>
              <a:gd name="connsiteY72"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51924 w 1424802"/>
              <a:gd name="connsiteY33" fmla="*/ 970107 h 1650046"/>
              <a:gd name="connsiteX34" fmla="*/ 1307706 w 1424802"/>
              <a:gd name="connsiteY34" fmla="*/ 1093461 h 1650046"/>
              <a:gd name="connsiteX35" fmla="*/ 1353869 w 1424802"/>
              <a:gd name="connsiteY35" fmla="*/ 1173135 h 1650046"/>
              <a:gd name="connsiteX36" fmla="*/ 1379755 w 1424802"/>
              <a:gd name="connsiteY36" fmla="*/ 1237514 h 1650046"/>
              <a:gd name="connsiteX37" fmla="*/ 1410539 w 1424802"/>
              <a:gd name="connsiteY37" fmla="*/ 1351107 h 1650046"/>
              <a:gd name="connsiteX38" fmla="*/ 1404287 w 1424802"/>
              <a:gd name="connsiteY38" fmla="*/ 1474733 h 1650046"/>
              <a:gd name="connsiteX39" fmla="*/ 1287447 w 1424802"/>
              <a:gd name="connsiteY39" fmla="*/ 1609015 h 1650046"/>
              <a:gd name="connsiteX40" fmla="*/ 1269862 w 1424802"/>
              <a:gd name="connsiteY40" fmla="*/ 1620738 h 1650046"/>
              <a:gd name="connsiteX41" fmla="*/ 1234693 w 1424802"/>
              <a:gd name="connsiteY41" fmla="*/ 1632461 h 1650046"/>
              <a:gd name="connsiteX42" fmla="*/ 1217108 w 1424802"/>
              <a:gd name="connsiteY42" fmla="*/ 1638323 h 1650046"/>
              <a:gd name="connsiteX43" fmla="*/ 1176078 w 1424802"/>
              <a:gd name="connsiteY43" fmla="*/ 1644184 h 1650046"/>
              <a:gd name="connsiteX44" fmla="*/ 1140908 w 1424802"/>
              <a:gd name="connsiteY44" fmla="*/ 1650046 h 1650046"/>
              <a:gd name="connsiteX45" fmla="*/ 900585 w 1424802"/>
              <a:gd name="connsiteY45" fmla="*/ 1644184 h 1650046"/>
              <a:gd name="connsiteX46" fmla="*/ 883001 w 1424802"/>
              <a:gd name="connsiteY46" fmla="*/ 1638323 h 1650046"/>
              <a:gd name="connsiteX47" fmla="*/ 800939 w 1424802"/>
              <a:gd name="connsiteY47" fmla="*/ 1632461 h 1650046"/>
              <a:gd name="connsiteX48" fmla="*/ 630955 w 1424802"/>
              <a:gd name="connsiteY48" fmla="*/ 1626600 h 1650046"/>
              <a:gd name="connsiteX49" fmla="*/ 572339 w 1424802"/>
              <a:gd name="connsiteY49" fmla="*/ 1620738 h 1650046"/>
              <a:gd name="connsiteX50" fmla="*/ 476812 w 1424802"/>
              <a:gd name="connsiteY50" fmla="*/ 1626600 h 1650046"/>
              <a:gd name="connsiteX51" fmla="*/ 155426 w 1424802"/>
              <a:gd name="connsiteY51" fmla="*/ 1597292 h 1650046"/>
              <a:gd name="connsiteX52" fmla="*/ 83418 w 1424802"/>
              <a:gd name="connsiteY52" fmla="*/ 1525284 h 1650046"/>
              <a:gd name="connsiteX53" fmla="*/ 50662 w 1424802"/>
              <a:gd name="connsiteY53" fmla="*/ 1474200 h 1650046"/>
              <a:gd name="connsiteX54" fmla="*/ 33078 w 1424802"/>
              <a:gd name="connsiteY54" fmla="*/ 1456615 h 1650046"/>
              <a:gd name="connsiteX55" fmla="*/ 21355 w 1424802"/>
              <a:gd name="connsiteY55" fmla="*/ 1415584 h 1650046"/>
              <a:gd name="connsiteX56" fmla="*/ 9632 w 1424802"/>
              <a:gd name="connsiteY56" fmla="*/ 1368692 h 1650046"/>
              <a:gd name="connsiteX57" fmla="*/ 9632 w 1424802"/>
              <a:gd name="connsiteY57" fmla="*/ 1169400 h 1650046"/>
              <a:gd name="connsiteX58" fmla="*/ 15493 w 1424802"/>
              <a:gd name="connsiteY58" fmla="*/ 1151815 h 1650046"/>
              <a:gd name="connsiteX59" fmla="*/ 21355 w 1424802"/>
              <a:gd name="connsiteY59" fmla="*/ 1099061 h 1650046"/>
              <a:gd name="connsiteX60" fmla="*/ 27216 w 1424802"/>
              <a:gd name="connsiteY60" fmla="*/ 1081477 h 1650046"/>
              <a:gd name="connsiteX61" fmla="*/ 33078 w 1424802"/>
              <a:gd name="connsiteY61" fmla="*/ 1046307 h 1650046"/>
              <a:gd name="connsiteX62" fmla="*/ 50662 w 1424802"/>
              <a:gd name="connsiteY62" fmla="*/ 1005277 h 1650046"/>
              <a:gd name="connsiteX63" fmla="*/ 62385 w 1424802"/>
              <a:gd name="connsiteY63" fmla="*/ 964246 h 1650046"/>
              <a:gd name="connsiteX64" fmla="*/ 74108 w 1424802"/>
              <a:gd name="connsiteY64" fmla="*/ 940800 h 1650046"/>
              <a:gd name="connsiteX65" fmla="*/ 85832 w 1424802"/>
              <a:gd name="connsiteY65" fmla="*/ 899769 h 1650046"/>
              <a:gd name="connsiteX66" fmla="*/ 91693 w 1424802"/>
              <a:gd name="connsiteY66" fmla="*/ 882184 h 1650046"/>
              <a:gd name="connsiteX67" fmla="*/ 97555 w 1424802"/>
              <a:gd name="connsiteY67" fmla="*/ 852877 h 1650046"/>
              <a:gd name="connsiteX68" fmla="*/ 103416 w 1424802"/>
              <a:gd name="connsiteY68" fmla="*/ 835292 h 1650046"/>
              <a:gd name="connsiteX69" fmla="*/ 102366 w 1424802"/>
              <a:gd name="connsiteY69" fmla="*/ 772661 h 1650046"/>
              <a:gd name="connsiteX70" fmla="*/ 83418 w 1424802"/>
              <a:gd name="connsiteY70" fmla="*/ 661188 h 1650046"/>
              <a:gd name="connsiteX71" fmla="*/ 34270 w 1424802"/>
              <a:gd name="connsiteY71"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07706 w 1424802"/>
              <a:gd name="connsiteY33" fmla="*/ 1093461 h 1650046"/>
              <a:gd name="connsiteX34" fmla="*/ 1353869 w 1424802"/>
              <a:gd name="connsiteY34" fmla="*/ 1173135 h 1650046"/>
              <a:gd name="connsiteX35" fmla="*/ 1379755 w 1424802"/>
              <a:gd name="connsiteY35" fmla="*/ 1237514 h 1650046"/>
              <a:gd name="connsiteX36" fmla="*/ 1410539 w 1424802"/>
              <a:gd name="connsiteY36" fmla="*/ 1351107 h 1650046"/>
              <a:gd name="connsiteX37" fmla="*/ 1404287 w 1424802"/>
              <a:gd name="connsiteY37" fmla="*/ 1474733 h 1650046"/>
              <a:gd name="connsiteX38" fmla="*/ 1287447 w 1424802"/>
              <a:gd name="connsiteY38" fmla="*/ 1609015 h 1650046"/>
              <a:gd name="connsiteX39" fmla="*/ 1269862 w 1424802"/>
              <a:gd name="connsiteY39" fmla="*/ 1620738 h 1650046"/>
              <a:gd name="connsiteX40" fmla="*/ 1234693 w 1424802"/>
              <a:gd name="connsiteY40" fmla="*/ 1632461 h 1650046"/>
              <a:gd name="connsiteX41" fmla="*/ 1217108 w 1424802"/>
              <a:gd name="connsiteY41" fmla="*/ 1638323 h 1650046"/>
              <a:gd name="connsiteX42" fmla="*/ 1176078 w 1424802"/>
              <a:gd name="connsiteY42" fmla="*/ 1644184 h 1650046"/>
              <a:gd name="connsiteX43" fmla="*/ 1140908 w 1424802"/>
              <a:gd name="connsiteY43" fmla="*/ 1650046 h 1650046"/>
              <a:gd name="connsiteX44" fmla="*/ 900585 w 1424802"/>
              <a:gd name="connsiteY44" fmla="*/ 1644184 h 1650046"/>
              <a:gd name="connsiteX45" fmla="*/ 883001 w 1424802"/>
              <a:gd name="connsiteY45" fmla="*/ 1638323 h 1650046"/>
              <a:gd name="connsiteX46" fmla="*/ 800939 w 1424802"/>
              <a:gd name="connsiteY46" fmla="*/ 1632461 h 1650046"/>
              <a:gd name="connsiteX47" fmla="*/ 630955 w 1424802"/>
              <a:gd name="connsiteY47" fmla="*/ 1626600 h 1650046"/>
              <a:gd name="connsiteX48" fmla="*/ 572339 w 1424802"/>
              <a:gd name="connsiteY48" fmla="*/ 1620738 h 1650046"/>
              <a:gd name="connsiteX49" fmla="*/ 476812 w 1424802"/>
              <a:gd name="connsiteY49" fmla="*/ 1626600 h 1650046"/>
              <a:gd name="connsiteX50" fmla="*/ 155426 w 1424802"/>
              <a:gd name="connsiteY50" fmla="*/ 1597292 h 1650046"/>
              <a:gd name="connsiteX51" fmla="*/ 83418 w 1424802"/>
              <a:gd name="connsiteY51" fmla="*/ 1525284 h 1650046"/>
              <a:gd name="connsiteX52" fmla="*/ 50662 w 1424802"/>
              <a:gd name="connsiteY52" fmla="*/ 1474200 h 1650046"/>
              <a:gd name="connsiteX53" fmla="*/ 33078 w 1424802"/>
              <a:gd name="connsiteY53" fmla="*/ 1456615 h 1650046"/>
              <a:gd name="connsiteX54" fmla="*/ 21355 w 1424802"/>
              <a:gd name="connsiteY54" fmla="*/ 1415584 h 1650046"/>
              <a:gd name="connsiteX55" fmla="*/ 9632 w 1424802"/>
              <a:gd name="connsiteY55" fmla="*/ 1368692 h 1650046"/>
              <a:gd name="connsiteX56" fmla="*/ 9632 w 1424802"/>
              <a:gd name="connsiteY56" fmla="*/ 1169400 h 1650046"/>
              <a:gd name="connsiteX57" fmla="*/ 15493 w 1424802"/>
              <a:gd name="connsiteY57" fmla="*/ 1151815 h 1650046"/>
              <a:gd name="connsiteX58" fmla="*/ 21355 w 1424802"/>
              <a:gd name="connsiteY58" fmla="*/ 1099061 h 1650046"/>
              <a:gd name="connsiteX59" fmla="*/ 27216 w 1424802"/>
              <a:gd name="connsiteY59" fmla="*/ 1081477 h 1650046"/>
              <a:gd name="connsiteX60" fmla="*/ 33078 w 1424802"/>
              <a:gd name="connsiteY60" fmla="*/ 1046307 h 1650046"/>
              <a:gd name="connsiteX61" fmla="*/ 50662 w 1424802"/>
              <a:gd name="connsiteY61" fmla="*/ 1005277 h 1650046"/>
              <a:gd name="connsiteX62" fmla="*/ 62385 w 1424802"/>
              <a:gd name="connsiteY62" fmla="*/ 964246 h 1650046"/>
              <a:gd name="connsiteX63" fmla="*/ 74108 w 1424802"/>
              <a:gd name="connsiteY63" fmla="*/ 940800 h 1650046"/>
              <a:gd name="connsiteX64" fmla="*/ 85832 w 1424802"/>
              <a:gd name="connsiteY64" fmla="*/ 899769 h 1650046"/>
              <a:gd name="connsiteX65" fmla="*/ 91693 w 1424802"/>
              <a:gd name="connsiteY65" fmla="*/ 882184 h 1650046"/>
              <a:gd name="connsiteX66" fmla="*/ 97555 w 1424802"/>
              <a:gd name="connsiteY66" fmla="*/ 852877 h 1650046"/>
              <a:gd name="connsiteX67" fmla="*/ 103416 w 1424802"/>
              <a:gd name="connsiteY67" fmla="*/ 835292 h 1650046"/>
              <a:gd name="connsiteX68" fmla="*/ 102366 w 1424802"/>
              <a:gd name="connsiteY68" fmla="*/ 772661 h 1650046"/>
              <a:gd name="connsiteX69" fmla="*/ 83418 w 1424802"/>
              <a:gd name="connsiteY69" fmla="*/ 661188 h 1650046"/>
              <a:gd name="connsiteX70" fmla="*/ 34270 w 1424802"/>
              <a:gd name="connsiteY70"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35657 w 1424802"/>
              <a:gd name="connsiteY31" fmla="*/ 1021434 h 1650046"/>
              <a:gd name="connsiteX32" fmla="*/ 1307706 w 1424802"/>
              <a:gd name="connsiteY32" fmla="*/ 1093461 h 1650046"/>
              <a:gd name="connsiteX33" fmla="*/ 1353869 w 1424802"/>
              <a:gd name="connsiteY33" fmla="*/ 1173135 h 1650046"/>
              <a:gd name="connsiteX34" fmla="*/ 1379755 w 1424802"/>
              <a:gd name="connsiteY34" fmla="*/ 1237514 h 1650046"/>
              <a:gd name="connsiteX35" fmla="*/ 1410539 w 1424802"/>
              <a:gd name="connsiteY35" fmla="*/ 1351107 h 1650046"/>
              <a:gd name="connsiteX36" fmla="*/ 1404287 w 1424802"/>
              <a:gd name="connsiteY36" fmla="*/ 1474733 h 1650046"/>
              <a:gd name="connsiteX37" fmla="*/ 1287447 w 1424802"/>
              <a:gd name="connsiteY37" fmla="*/ 1609015 h 1650046"/>
              <a:gd name="connsiteX38" fmla="*/ 1269862 w 1424802"/>
              <a:gd name="connsiteY38" fmla="*/ 1620738 h 1650046"/>
              <a:gd name="connsiteX39" fmla="*/ 1234693 w 1424802"/>
              <a:gd name="connsiteY39" fmla="*/ 1632461 h 1650046"/>
              <a:gd name="connsiteX40" fmla="*/ 1217108 w 1424802"/>
              <a:gd name="connsiteY40" fmla="*/ 1638323 h 1650046"/>
              <a:gd name="connsiteX41" fmla="*/ 1176078 w 1424802"/>
              <a:gd name="connsiteY41" fmla="*/ 1644184 h 1650046"/>
              <a:gd name="connsiteX42" fmla="*/ 1140908 w 1424802"/>
              <a:gd name="connsiteY42" fmla="*/ 1650046 h 1650046"/>
              <a:gd name="connsiteX43" fmla="*/ 900585 w 1424802"/>
              <a:gd name="connsiteY43" fmla="*/ 1644184 h 1650046"/>
              <a:gd name="connsiteX44" fmla="*/ 883001 w 1424802"/>
              <a:gd name="connsiteY44" fmla="*/ 1638323 h 1650046"/>
              <a:gd name="connsiteX45" fmla="*/ 800939 w 1424802"/>
              <a:gd name="connsiteY45" fmla="*/ 1632461 h 1650046"/>
              <a:gd name="connsiteX46" fmla="*/ 630955 w 1424802"/>
              <a:gd name="connsiteY46" fmla="*/ 1626600 h 1650046"/>
              <a:gd name="connsiteX47" fmla="*/ 572339 w 1424802"/>
              <a:gd name="connsiteY47" fmla="*/ 1620738 h 1650046"/>
              <a:gd name="connsiteX48" fmla="*/ 476812 w 1424802"/>
              <a:gd name="connsiteY48" fmla="*/ 1626600 h 1650046"/>
              <a:gd name="connsiteX49" fmla="*/ 155426 w 1424802"/>
              <a:gd name="connsiteY49" fmla="*/ 1597292 h 1650046"/>
              <a:gd name="connsiteX50" fmla="*/ 83418 w 1424802"/>
              <a:gd name="connsiteY50" fmla="*/ 1525284 h 1650046"/>
              <a:gd name="connsiteX51" fmla="*/ 50662 w 1424802"/>
              <a:gd name="connsiteY51" fmla="*/ 1474200 h 1650046"/>
              <a:gd name="connsiteX52" fmla="*/ 33078 w 1424802"/>
              <a:gd name="connsiteY52" fmla="*/ 1456615 h 1650046"/>
              <a:gd name="connsiteX53" fmla="*/ 21355 w 1424802"/>
              <a:gd name="connsiteY53" fmla="*/ 1415584 h 1650046"/>
              <a:gd name="connsiteX54" fmla="*/ 9632 w 1424802"/>
              <a:gd name="connsiteY54" fmla="*/ 1368692 h 1650046"/>
              <a:gd name="connsiteX55" fmla="*/ 9632 w 1424802"/>
              <a:gd name="connsiteY55" fmla="*/ 1169400 h 1650046"/>
              <a:gd name="connsiteX56" fmla="*/ 15493 w 1424802"/>
              <a:gd name="connsiteY56" fmla="*/ 1151815 h 1650046"/>
              <a:gd name="connsiteX57" fmla="*/ 21355 w 1424802"/>
              <a:gd name="connsiteY57" fmla="*/ 1099061 h 1650046"/>
              <a:gd name="connsiteX58" fmla="*/ 27216 w 1424802"/>
              <a:gd name="connsiteY58" fmla="*/ 1081477 h 1650046"/>
              <a:gd name="connsiteX59" fmla="*/ 33078 w 1424802"/>
              <a:gd name="connsiteY59" fmla="*/ 1046307 h 1650046"/>
              <a:gd name="connsiteX60" fmla="*/ 50662 w 1424802"/>
              <a:gd name="connsiteY60" fmla="*/ 1005277 h 1650046"/>
              <a:gd name="connsiteX61" fmla="*/ 62385 w 1424802"/>
              <a:gd name="connsiteY61" fmla="*/ 964246 h 1650046"/>
              <a:gd name="connsiteX62" fmla="*/ 74108 w 1424802"/>
              <a:gd name="connsiteY62" fmla="*/ 940800 h 1650046"/>
              <a:gd name="connsiteX63" fmla="*/ 85832 w 1424802"/>
              <a:gd name="connsiteY63" fmla="*/ 899769 h 1650046"/>
              <a:gd name="connsiteX64" fmla="*/ 91693 w 1424802"/>
              <a:gd name="connsiteY64" fmla="*/ 882184 h 1650046"/>
              <a:gd name="connsiteX65" fmla="*/ 97555 w 1424802"/>
              <a:gd name="connsiteY65" fmla="*/ 852877 h 1650046"/>
              <a:gd name="connsiteX66" fmla="*/ 103416 w 1424802"/>
              <a:gd name="connsiteY66" fmla="*/ 835292 h 1650046"/>
              <a:gd name="connsiteX67" fmla="*/ 102366 w 1424802"/>
              <a:gd name="connsiteY67" fmla="*/ 772661 h 1650046"/>
              <a:gd name="connsiteX68" fmla="*/ 83418 w 1424802"/>
              <a:gd name="connsiteY68" fmla="*/ 661188 h 1650046"/>
              <a:gd name="connsiteX69" fmla="*/ 34270 w 1424802"/>
              <a:gd name="connsiteY6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35657 w 1424802"/>
              <a:gd name="connsiteY30" fmla="*/ 1021434 h 1650046"/>
              <a:gd name="connsiteX31" fmla="*/ 1307706 w 1424802"/>
              <a:gd name="connsiteY31" fmla="*/ 1093461 h 1650046"/>
              <a:gd name="connsiteX32" fmla="*/ 1353869 w 1424802"/>
              <a:gd name="connsiteY32" fmla="*/ 1173135 h 1650046"/>
              <a:gd name="connsiteX33" fmla="*/ 1379755 w 1424802"/>
              <a:gd name="connsiteY33" fmla="*/ 1237514 h 1650046"/>
              <a:gd name="connsiteX34" fmla="*/ 1410539 w 1424802"/>
              <a:gd name="connsiteY34" fmla="*/ 1351107 h 1650046"/>
              <a:gd name="connsiteX35" fmla="*/ 1404287 w 1424802"/>
              <a:gd name="connsiteY35" fmla="*/ 1474733 h 1650046"/>
              <a:gd name="connsiteX36" fmla="*/ 1287447 w 1424802"/>
              <a:gd name="connsiteY36" fmla="*/ 1609015 h 1650046"/>
              <a:gd name="connsiteX37" fmla="*/ 1269862 w 1424802"/>
              <a:gd name="connsiteY37" fmla="*/ 1620738 h 1650046"/>
              <a:gd name="connsiteX38" fmla="*/ 1234693 w 1424802"/>
              <a:gd name="connsiteY38" fmla="*/ 1632461 h 1650046"/>
              <a:gd name="connsiteX39" fmla="*/ 1217108 w 1424802"/>
              <a:gd name="connsiteY39" fmla="*/ 1638323 h 1650046"/>
              <a:gd name="connsiteX40" fmla="*/ 1176078 w 1424802"/>
              <a:gd name="connsiteY40" fmla="*/ 1644184 h 1650046"/>
              <a:gd name="connsiteX41" fmla="*/ 1140908 w 1424802"/>
              <a:gd name="connsiteY41" fmla="*/ 1650046 h 1650046"/>
              <a:gd name="connsiteX42" fmla="*/ 900585 w 1424802"/>
              <a:gd name="connsiteY42" fmla="*/ 1644184 h 1650046"/>
              <a:gd name="connsiteX43" fmla="*/ 883001 w 1424802"/>
              <a:gd name="connsiteY43" fmla="*/ 1638323 h 1650046"/>
              <a:gd name="connsiteX44" fmla="*/ 800939 w 1424802"/>
              <a:gd name="connsiteY44" fmla="*/ 1632461 h 1650046"/>
              <a:gd name="connsiteX45" fmla="*/ 630955 w 1424802"/>
              <a:gd name="connsiteY45" fmla="*/ 1626600 h 1650046"/>
              <a:gd name="connsiteX46" fmla="*/ 572339 w 1424802"/>
              <a:gd name="connsiteY46" fmla="*/ 1620738 h 1650046"/>
              <a:gd name="connsiteX47" fmla="*/ 476812 w 1424802"/>
              <a:gd name="connsiteY47" fmla="*/ 1626600 h 1650046"/>
              <a:gd name="connsiteX48" fmla="*/ 155426 w 1424802"/>
              <a:gd name="connsiteY48" fmla="*/ 1597292 h 1650046"/>
              <a:gd name="connsiteX49" fmla="*/ 83418 w 1424802"/>
              <a:gd name="connsiteY49" fmla="*/ 1525284 h 1650046"/>
              <a:gd name="connsiteX50" fmla="*/ 50662 w 1424802"/>
              <a:gd name="connsiteY50" fmla="*/ 1474200 h 1650046"/>
              <a:gd name="connsiteX51" fmla="*/ 33078 w 1424802"/>
              <a:gd name="connsiteY51" fmla="*/ 1456615 h 1650046"/>
              <a:gd name="connsiteX52" fmla="*/ 21355 w 1424802"/>
              <a:gd name="connsiteY52" fmla="*/ 1415584 h 1650046"/>
              <a:gd name="connsiteX53" fmla="*/ 9632 w 1424802"/>
              <a:gd name="connsiteY53" fmla="*/ 1368692 h 1650046"/>
              <a:gd name="connsiteX54" fmla="*/ 9632 w 1424802"/>
              <a:gd name="connsiteY54" fmla="*/ 1169400 h 1650046"/>
              <a:gd name="connsiteX55" fmla="*/ 15493 w 1424802"/>
              <a:gd name="connsiteY55" fmla="*/ 1151815 h 1650046"/>
              <a:gd name="connsiteX56" fmla="*/ 21355 w 1424802"/>
              <a:gd name="connsiteY56" fmla="*/ 1099061 h 1650046"/>
              <a:gd name="connsiteX57" fmla="*/ 27216 w 1424802"/>
              <a:gd name="connsiteY57" fmla="*/ 1081477 h 1650046"/>
              <a:gd name="connsiteX58" fmla="*/ 33078 w 1424802"/>
              <a:gd name="connsiteY58" fmla="*/ 1046307 h 1650046"/>
              <a:gd name="connsiteX59" fmla="*/ 50662 w 1424802"/>
              <a:gd name="connsiteY59" fmla="*/ 1005277 h 1650046"/>
              <a:gd name="connsiteX60" fmla="*/ 62385 w 1424802"/>
              <a:gd name="connsiteY60" fmla="*/ 964246 h 1650046"/>
              <a:gd name="connsiteX61" fmla="*/ 74108 w 1424802"/>
              <a:gd name="connsiteY61" fmla="*/ 940800 h 1650046"/>
              <a:gd name="connsiteX62" fmla="*/ 85832 w 1424802"/>
              <a:gd name="connsiteY62" fmla="*/ 899769 h 1650046"/>
              <a:gd name="connsiteX63" fmla="*/ 91693 w 1424802"/>
              <a:gd name="connsiteY63" fmla="*/ 882184 h 1650046"/>
              <a:gd name="connsiteX64" fmla="*/ 97555 w 1424802"/>
              <a:gd name="connsiteY64" fmla="*/ 852877 h 1650046"/>
              <a:gd name="connsiteX65" fmla="*/ 103416 w 1424802"/>
              <a:gd name="connsiteY65" fmla="*/ 835292 h 1650046"/>
              <a:gd name="connsiteX66" fmla="*/ 102366 w 1424802"/>
              <a:gd name="connsiteY66" fmla="*/ 772661 h 1650046"/>
              <a:gd name="connsiteX67" fmla="*/ 83418 w 1424802"/>
              <a:gd name="connsiteY67" fmla="*/ 661188 h 1650046"/>
              <a:gd name="connsiteX68" fmla="*/ 34270 w 1424802"/>
              <a:gd name="connsiteY6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35657 w 1424802"/>
              <a:gd name="connsiteY29" fmla="*/ 1021434 h 1650046"/>
              <a:gd name="connsiteX30" fmla="*/ 1307706 w 1424802"/>
              <a:gd name="connsiteY30" fmla="*/ 1093461 h 1650046"/>
              <a:gd name="connsiteX31" fmla="*/ 1353869 w 1424802"/>
              <a:gd name="connsiteY31" fmla="*/ 1173135 h 1650046"/>
              <a:gd name="connsiteX32" fmla="*/ 1379755 w 1424802"/>
              <a:gd name="connsiteY32" fmla="*/ 1237514 h 1650046"/>
              <a:gd name="connsiteX33" fmla="*/ 1410539 w 1424802"/>
              <a:gd name="connsiteY33" fmla="*/ 1351107 h 1650046"/>
              <a:gd name="connsiteX34" fmla="*/ 1404287 w 1424802"/>
              <a:gd name="connsiteY34" fmla="*/ 1474733 h 1650046"/>
              <a:gd name="connsiteX35" fmla="*/ 1287447 w 1424802"/>
              <a:gd name="connsiteY35" fmla="*/ 1609015 h 1650046"/>
              <a:gd name="connsiteX36" fmla="*/ 1269862 w 1424802"/>
              <a:gd name="connsiteY36" fmla="*/ 1620738 h 1650046"/>
              <a:gd name="connsiteX37" fmla="*/ 1234693 w 1424802"/>
              <a:gd name="connsiteY37" fmla="*/ 1632461 h 1650046"/>
              <a:gd name="connsiteX38" fmla="*/ 1217108 w 1424802"/>
              <a:gd name="connsiteY38" fmla="*/ 1638323 h 1650046"/>
              <a:gd name="connsiteX39" fmla="*/ 1176078 w 1424802"/>
              <a:gd name="connsiteY39" fmla="*/ 1644184 h 1650046"/>
              <a:gd name="connsiteX40" fmla="*/ 1140908 w 1424802"/>
              <a:gd name="connsiteY40" fmla="*/ 1650046 h 1650046"/>
              <a:gd name="connsiteX41" fmla="*/ 900585 w 1424802"/>
              <a:gd name="connsiteY41" fmla="*/ 1644184 h 1650046"/>
              <a:gd name="connsiteX42" fmla="*/ 883001 w 1424802"/>
              <a:gd name="connsiteY42" fmla="*/ 1638323 h 1650046"/>
              <a:gd name="connsiteX43" fmla="*/ 800939 w 1424802"/>
              <a:gd name="connsiteY43" fmla="*/ 1632461 h 1650046"/>
              <a:gd name="connsiteX44" fmla="*/ 630955 w 1424802"/>
              <a:gd name="connsiteY44" fmla="*/ 1626600 h 1650046"/>
              <a:gd name="connsiteX45" fmla="*/ 572339 w 1424802"/>
              <a:gd name="connsiteY45" fmla="*/ 1620738 h 1650046"/>
              <a:gd name="connsiteX46" fmla="*/ 476812 w 1424802"/>
              <a:gd name="connsiteY46" fmla="*/ 1626600 h 1650046"/>
              <a:gd name="connsiteX47" fmla="*/ 155426 w 1424802"/>
              <a:gd name="connsiteY47" fmla="*/ 1597292 h 1650046"/>
              <a:gd name="connsiteX48" fmla="*/ 83418 w 1424802"/>
              <a:gd name="connsiteY48" fmla="*/ 1525284 h 1650046"/>
              <a:gd name="connsiteX49" fmla="*/ 50662 w 1424802"/>
              <a:gd name="connsiteY49" fmla="*/ 1474200 h 1650046"/>
              <a:gd name="connsiteX50" fmla="*/ 33078 w 1424802"/>
              <a:gd name="connsiteY50" fmla="*/ 1456615 h 1650046"/>
              <a:gd name="connsiteX51" fmla="*/ 21355 w 1424802"/>
              <a:gd name="connsiteY51" fmla="*/ 1415584 h 1650046"/>
              <a:gd name="connsiteX52" fmla="*/ 9632 w 1424802"/>
              <a:gd name="connsiteY52" fmla="*/ 1368692 h 1650046"/>
              <a:gd name="connsiteX53" fmla="*/ 9632 w 1424802"/>
              <a:gd name="connsiteY53" fmla="*/ 1169400 h 1650046"/>
              <a:gd name="connsiteX54" fmla="*/ 15493 w 1424802"/>
              <a:gd name="connsiteY54" fmla="*/ 1151815 h 1650046"/>
              <a:gd name="connsiteX55" fmla="*/ 21355 w 1424802"/>
              <a:gd name="connsiteY55" fmla="*/ 1099061 h 1650046"/>
              <a:gd name="connsiteX56" fmla="*/ 27216 w 1424802"/>
              <a:gd name="connsiteY56" fmla="*/ 1081477 h 1650046"/>
              <a:gd name="connsiteX57" fmla="*/ 33078 w 1424802"/>
              <a:gd name="connsiteY57" fmla="*/ 1046307 h 1650046"/>
              <a:gd name="connsiteX58" fmla="*/ 50662 w 1424802"/>
              <a:gd name="connsiteY58" fmla="*/ 1005277 h 1650046"/>
              <a:gd name="connsiteX59" fmla="*/ 62385 w 1424802"/>
              <a:gd name="connsiteY59" fmla="*/ 964246 h 1650046"/>
              <a:gd name="connsiteX60" fmla="*/ 74108 w 1424802"/>
              <a:gd name="connsiteY60" fmla="*/ 940800 h 1650046"/>
              <a:gd name="connsiteX61" fmla="*/ 85832 w 1424802"/>
              <a:gd name="connsiteY61" fmla="*/ 899769 h 1650046"/>
              <a:gd name="connsiteX62" fmla="*/ 91693 w 1424802"/>
              <a:gd name="connsiteY62" fmla="*/ 882184 h 1650046"/>
              <a:gd name="connsiteX63" fmla="*/ 97555 w 1424802"/>
              <a:gd name="connsiteY63" fmla="*/ 852877 h 1650046"/>
              <a:gd name="connsiteX64" fmla="*/ 103416 w 1424802"/>
              <a:gd name="connsiteY64" fmla="*/ 835292 h 1650046"/>
              <a:gd name="connsiteX65" fmla="*/ 102366 w 1424802"/>
              <a:gd name="connsiteY65" fmla="*/ 772661 h 1650046"/>
              <a:gd name="connsiteX66" fmla="*/ 83418 w 1424802"/>
              <a:gd name="connsiteY66" fmla="*/ 661188 h 1650046"/>
              <a:gd name="connsiteX67" fmla="*/ 34270 w 1424802"/>
              <a:gd name="connsiteY67"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35657 w 1424802"/>
              <a:gd name="connsiteY28" fmla="*/ 1021434 h 1650046"/>
              <a:gd name="connsiteX29" fmla="*/ 1307706 w 1424802"/>
              <a:gd name="connsiteY29" fmla="*/ 1093461 h 1650046"/>
              <a:gd name="connsiteX30" fmla="*/ 1353869 w 1424802"/>
              <a:gd name="connsiteY30" fmla="*/ 1173135 h 1650046"/>
              <a:gd name="connsiteX31" fmla="*/ 1379755 w 1424802"/>
              <a:gd name="connsiteY31" fmla="*/ 1237514 h 1650046"/>
              <a:gd name="connsiteX32" fmla="*/ 1410539 w 1424802"/>
              <a:gd name="connsiteY32" fmla="*/ 1351107 h 1650046"/>
              <a:gd name="connsiteX33" fmla="*/ 1404287 w 1424802"/>
              <a:gd name="connsiteY33" fmla="*/ 1474733 h 1650046"/>
              <a:gd name="connsiteX34" fmla="*/ 1287447 w 1424802"/>
              <a:gd name="connsiteY34" fmla="*/ 1609015 h 1650046"/>
              <a:gd name="connsiteX35" fmla="*/ 1269862 w 1424802"/>
              <a:gd name="connsiteY35" fmla="*/ 1620738 h 1650046"/>
              <a:gd name="connsiteX36" fmla="*/ 1234693 w 1424802"/>
              <a:gd name="connsiteY36" fmla="*/ 1632461 h 1650046"/>
              <a:gd name="connsiteX37" fmla="*/ 1217108 w 1424802"/>
              <a:gd name="connsiteY37" fmla="*/ 1638323 h 1650046"/>
              <a:gd name="connsiteX38" fmla="*/ 1176078 w 1424802"/>
              <a:gd name="connsiteY38" fmla="*/ 1644184 h 1650046"/>
              <a:gd name="connsiteX39" fmla="*/ 1140908 w 1424802"/>
              <a:gd name="connsiteY39" fmla="*/ 1650046 h 1650046"/>
              <a:gd name="connsiteX40" fmla="*/ 900585 w 1424802"/>
              <a:gd name="connsiteY40" fmla="*/ 1644184 h 1650046"/>
              <a:gd name="connsiteX41" fmla="*/ 883001 w 1424802"/>
              <a:gd name="connsiteY41" fmla="*/ 1638323 h 1650046"/>
              <a:gd name="connsiteX42" fmla="*/ 800939 w 1424802"/>
              <a:gd name="connsiteY42" fmla="*/ 1632461 h 1650046"/>
              <a:gd name="connsiteX43" fmla="*/ 630955 w 1424802"/>
              <a:gd name="connsiteY43" fmla="*/ 1626600 h 1650046"/>
              <a:gd name="connsiteX44" fmla="*/ 572339 w 1424802"/>
              <a:gd name="connsiteY44" fmla="*/ 1620738 h 1650046"/>
              <a:gd name="connsiteX45" fmla="*/ 476812 w 1424802"/>
              <a:gd name="connsiteY45" fmla="*/ 1626600 h 1650046"/>
              <a:gd name="connsiteX46" fmla="*/ 155426 w 1424802"/>
              <a:gd name="connsiteY46" fmla="*/ 1597292 h 1650046"/>
              <a:gd name="connsiteX47" fmla="*/ 83418 w 1424802"/>
              <a:gd name="connsiteY47" fmla="*/ 1525284 h 1650046"/>
              <a:gd name="connsiteX48" fmla="*/ 50662 w 1424802"/>
              <a:gd name="connsiteY48" fmla="*/ 1474200 h 1650046"/>
              <a:gd name="connsiteX49" fmla="*/ 33078 w 1424802"/>
              <a:gd name="connsiteY49" fmla="*/ 1456615 h 1650046"/>
              <a:gd name="connsiteX50" fmla="*/ 21355 w 1424802"/>
              <a:gd name="connsiteY50" fmla="*/ 1415584 h 1650046"/>
              <a:gd name="connsiteX51" fmla="*/ 9632 w 1424802"/>
              <a:gd name="connsiteY51" fmla="*/ 1368692 h 1650046"/>
              <a:gd name="connsiteX52" fmla="*/ 9632 w 1424802"/>
              <a:gd name="connsiteY52" fmla="*/ 1169400 h 1650046"/>
              <a:gd name="connsiteX53" fmla="*/ 15493 w 1424802"/>
              <a:gd name="connsiteY53" fmla="*/ 1151815 h 1650046"/>
              <a:gd name="connsiteX54" fmla="*/ 21355 w 1424802"/>
              <a:gd name="connsiteY54" fmla="*/ 1099061 h 1650046"/>
              <a:gd name="connsiteX55" fmla="*/ 27216 w 1424802"/>
              <a:gd name="connsiteY55" fmla="*/ 1081477 h 1650046"/>
              <a:gd name="connsiteX56" fmla="*/ 33078 w 1424802"/>
              <a:gd name="connsiteY56" fmla="*/ 1046307 h 1650046"/>
              <a:gd name="connsiteX57" fmla="*/ 50662 w 1424802"/>
              <a:gd name="connsiteY57" fmla="*/ 1005277 h 1650046"/>
              <a:gd name="connsiteX58" fmla="*/ 62385 w 1424802"/>
              <a:gd name="connsiteY58" fmla="*/ 964246 h 1650046"/>
              <a:gd name="connsiteX59" fmla="*/ 74108 w 1424802"/>
              <a:gd name="connsiteY59" fmla="*/ 940800 h 1650046"/>
              <a:gd name="connsiteX60" fmla="*/ 85832 w 1424802"/>
              <a:gd name="connsiteY60" fmla="*/ 899769 h 1650046"/>
              <a:gd name="connsiteX61" fmla="*/ 91693 w 1424802"/>
              <a:gd name="connsiteY61" fmla="*/ 882184 h 1650046"/>
              <a:gd name="connsiteX62" fmla="*/ 97555 w 1424802"/>
              <a:gd name="connsiteY62" fmla="*/ 852877 h 1650046"/>
              <a:gd name="connsiteX63" fmla="*/ 103416 w 1424802"/>
              <a:gd name="connsiteY63" fmla="*/ 835292 h 1650046"/>
              <a:gd name="connsiteX64" fmla="*/ 102366 w 1424802"/>
              <a:gd name="connsiteY64" fmla="*/ 772661 h 1650046"/>
              <a:gd name="connsiteX65" fmla="*/ 83418 w 1424802"/>
              <a:gd name="connsiteY65" fmla="*/ 661188 h 1650046"/>
              <a:gd name="connsiteX66" fmla="*/ 34270 w 1424802"/>
              <a:gd name="connsiteY66"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091559 w 1424802"/>
              <a:gd name="connsiteY26" fmla="*/ 805354 h 1650046"/>
              <a:gd name="connsiteX27" fmla="*/ 1235657 w 1424802"/>
              <a:gd name="connsiteY27" fmla="*/ 1021434 h 1650046"/>
              <a:gd name="connsiteX28" fmla="*/ 1307706 w 1424802"/>
              <a:gd name="connsiteY28" fmla="*/ 1093461 h 1650046"/>
              <a:gd name="connsiteX29" fmla="*/ 1353869 w 1424802"/>
              <a:gd name="connsiteY29" fmla="*/ 1173135 h 1650046"/>
              <a:gd name="connsiteX30" fmla="*/ 1379755 w 1424802"/>
              <a:gd name="connsiteY30" fmla="*/ 1237514 h 1650046"/>
              <a:gd name="connsiteX31" fmla="*/ 1410539 w 1424802"/>
              <a:gd name="connsiteY31" fmla="*/ 1351107 h 1650046"/>
              <a:gd name="connsiteX32" fmla="*/ 1404287 w 1424802"/>
              <a:gd name="connsiteY32" fmla="*/ 1474733 h 1650046"/>
              <a:gd name="connsiteX33" fmla="*/ 1287447 w 1424802"/>
              <a:gd name="connsiteY33" fmla="*/ 1609015 h 1650046"/>
              <a:gd name="connsiteX34" fmla="*/ 1269862 w 1424802"/>
              <a:gd name="connsiteY34" fmla="*/ 1620738 h 1650046"/>
              <a:gd name="connsiteX35" fmla="*/ 1234693 w 1424802"/>
              <a:gd name="connsiteY35" fmla="*/ 1632461 h 1650046"/>
              <a:gd name="connsiteX36" fmla="*/ 1217108 w 1424802"/>
              <a:gd name="connsiteY36" fmla="*/ 1638323 h 1650046"/>
              <a:gd name="connsiteX37" fmla="*/ 1176078 w 1424802"/>
              <a:gd name="connsiteY37" fmla="*/ 1644184 h 1650046"/>
              <a:gd name="connsiteX38" fmla="*/ 1140908 w 1424802"/>
              <a:gd name="connsiteY38" fmla="*/ 1650046 h 1650046"/>
              <a:gd name="connsiteX39" fmla="*/ 900585 w 1424802"/>
              <a:gd name="connsiteY39" fmla="*/ 1644184 h 1650046"/>
              <a:gd name="connsiteX40" fmla="*/ 883001 w 1424802"/>
              <a:gd name="connsiteY40" fmla="*/ 1638323 h 1650046"/>
              <a:gd name="connsiteX41" fmla="*/ 800939 w 1424802"/>
              <a:gd name="connsiteY41" fmla="*/ 1632461 h 1650046"/>
              <a:gd name="connsiteX42" fmla="*/ 630955 w 1424802"/>
              <a:gd name="connsiteY42" fmla="*/ 1626600 h 1650046"/>
              <a:gd name="connsiteX43" fmla="*/ 572339 w 1424802"/>
              <a:gd name="connsiteY43" fmla="*/ 1620738 h 1650046"/>
              <a:gd name="connsiteX44" fmla="*/ 476812 w 1424802"/>
              <a:gd name="connsiteY44" fmla="*/ 1626600 h 1650046"/>
              <a:gd name="connsiteX45" fmla="*/ 155426 w 1424802"/>
              <a:gd name="connsiteY45" fmla="*/ 1597292 h 1650046"/>
              <a:gd name="connsiteX46" fmla="*/ 83418 w 1424802"/>
              <a:gd name="connsiteY46" fmla="*/ 1525284 h 1650046"/>
              <a:gd name="connsiteX47" fmla="*/ 50662 w 1424802"/>
              <a:gd name="connsiteY47" fmla="*/ 1474200 h 1650046"/>
              <a:gd name="connsiteX48" fmla="*/ 33078 w 1424802"/>
              <a:gd name="connsiteY48" fmla="*/ 1456615 h 1650046"/>
              <a:gd name="connsiteX49" fmla="*/ 21355 w 1424802"/>
              <a:gd name="connsiteY49" fmla="*/ 1415584 h 1650046"/>
              <a:gd name="connsiteX50" fmla="*/ 9632 w 1424802"/>
              <a:gd name="connsiteY50" fmla="*/ 1368692 h 1650046"/>
              <a:gd name="connsiteX51" fmla="*/ 9632 w 1424802"/>
              <a:gd name="connsiteY51" fmla="*/ 1169400 h 1650046"/>
              <a:gd name="connsiteX52" fmla="*/ 15493 w 1424802"/>
              <a:gd name="connsiteY52" fmla="*/ 1151815 h 1650046"/>
              <a:gd name="connsiteX53" fmla="*/ 21355 w 1424802"/>
              <a:gd name="connsiteY53" fmla="*/ 1099061 h 1650046"/>
              <a:gd name="connsiteX54" fmla="*/ 27216 w 1424802"/>
              <a:gd name="connsiteY54" fmla="*/ 1081477 h 1650046"/>
              <a:gd name="connsiteX55" fmla="*/ 33078 w 1424802"/>
              <a:gd name="connsiteY55" fmla="*/ 1046307 h 1650046"/>
              <a:gd name="connsiteX56" fmla="*/ 50662 w 1424802"/>
              <a:gd name="connsiteY56" fmla="*/ 1005277 h 1650046"/>
              <a:gd name="connsiteX57" fmla="*/ 62385 w 1424802"/>
              <a:gd name="connsiteY57" fmla="*/ 964246 h 1650046"/>
              <a:gd name="connsiteX58" fmla="*/ 74108 w 1424802"/>
              <a:gd name="connsiteY58" fmla="*/ 940800 h 1650046"/>
              <a:gd name="connsiteX59" fmla="*/ 85832 w 1424802"/>
              <a:gd name="connsiteY59" fmla="*/ 899769 h 1650046"/>
              <a:gd name="connsiteX60" fmla="*/ 91693 w 1424802"/>
              <a:gd name="connsiteY60" fmla="*/ 882184 h 1650046"/>
              <a:gd name="connsiteX61" fmla="*/ 97555 w 1424802"/>
              <a:gd name="connsiteY61" fmla="*/ 852877 h 1650046"/>
              <a:gd name="connsiteX62" fmla="*/ 103416 w 1424802"/>
              <a:gd name="connsiteY62" fmla="*/ 835292 h 1650046"/>
              <a:gd name="connsiteX63" fmla="*/ 102366 w 1424802"/>
              <a:gd name="connsiteY63" fmla="*/ 772661 h 1650046"/>
              <a:gd name="connsiteX64" fmla="*/ 83418 w 1424802"/>
              <a:gd name="connsiteY64" fmla="*/ 661188 h 1650046"/>
              <a:gd name="connsiteX65" fmla="*/ 34270 w 1424802"/>
              <a:gd name="connsiteY6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091559 w 1424802"/>
              <a:gd name="connsiteY25" fmla="*/ 805354 h 1650046"/>
              <a:gd name="connsiteX26" fmla="*/ 1235657 w 1424802"/>
              <a:gd name="connsiteY26" fmla="*/ 1021434 h 1650046"/>
              <a:gd name="connsiteX27" fmla="*/ 1307706 w 1424802"/>
              <a:gd name="connsiteY27" fmla="*/ 1093461 h 1650046"/>
              <a:gd name="connsiteX28" fmla="*/ 1353869 w 1424802"/>
              <a:gd name="connsiteY28" fmla="*/ 1173135 h 1650046"/>
              <a:gd name="connsiteX29" fmla="*/ 1379755 w 1424802"/>
              <a:gd name="connsiteY29" fmla="*/ 1237514 h 1650046"/>
              <a:gd name="connsiteX30" fmla="*/ 1410539 w 1424802"/>
              <a:gd name="connsiteY30" fmla="*/ 1351107 h 1650046"/>
              <a:gd name="connsiteX31" fmla="*/ 1404287 w 1424802"/>
              <a:gd name="connsiteY31" fmla="*/ 1474733 h 1650046"/>
              <a:gd name="connsiteX32" fmla="*/ 1287447 w 1424802"/>
              <a:gd name="connsiteY32" fmla="*/ 1609015 h 1650046"/>
              <a:gd name="connsiteX33" fmla="*/ 1269862 w 1424802"/>
              <a:gd name="connsiteY33" fmla="*/ 1620738 h 1650046"/>
              <a:gd name="connsiteX34" fmla="*/ 1234693 w 1424802"/>
              <a:gd name="connsiteY34" fmla="*/ 1632461 h 1650046"/>
              <a:gd name="connsiteX35" fmla="*/ 1217108 w 1424802"/>
              <a:gd name="connsiteY35" fmla="*/ 1638323 h 1650046"/>
              <a:gd name="connsiteX36" fmla="*/ 1176078 w 1424802"/>
              <a:gd name="connsiteY36" fmla="*/ 1644184 h 1650046"/>
              <a:gd name="connsiteX37" fmla="*/ 1140908 w 1424802"/>
              <a:gd name="connsiteY37" fmla="*/ 1650046 h 1650046"/>
              <a:gd name="connsiteX38" fmla="*/ 900585 w 1424802"/>
              <a:gd name="connsiteY38" fmla="*/ 1644184 h 1650046"/>
              <a:gd name="connsiteX39" fmla="*/ 883001 w 1424802"/>
              <a:gd name="connsiteY39" fmla="*/ 1638323 h 1650046"/>
              <a:gd name="connsiteX40" fmla="*/ 800939 w 1424802"/>
              <a:gd name="connsiteY40" fmla="*/ 1632461 h 1650046"/>
              <a:gd name="connsiteX41" fmla="*/ 630955 w 1424802"/>
              <a:gd name="connsiteY41" fmla="*/ 1626600 h 1650046"/>
              <a:gd name="connsiteX42" fmla="*/ 572339 w 1424802"/>
              <a:gd name="connsiteY42" fmla="*/ 1620738 h 1650046"/>
              <a:gd name="connsiteX43" fmla="*/ 476812 w 1424802"/>
              <a:gd name="connsiteY43" fmla="*/ 1626600 h 1650046"/>
              <a:gd name="connsiteX44" fmla="*/ 155426 w 1424802"/>
              <a:gd name="connsiteY44" fmla="*/ 1597292 h 1650046"/>
              <a:gd name="connsiteX45" fmla="*/ 83418 w 1424802"/>
              <a:gd name="connsiteY45" fmla="*/ 1525284 h 1650046"/>
              <a:gd name="connsiteX46" fmla="*/ 50662 w 1424802"/>
              <a:gd name="connsiteY46" fmla="*/ 1474200 h 1650046"/>
              <a:gd name="connsiteX47" fmla="*/ 33078 w 1424802"/>
              <a:gd name="connsiteY47" fmla="*/ 1456615 h 1650046"/>
              <a:gd name="connsiteX48" fmla="*/ 21355 w 1424802"/>
              <a:gd name="connsiteY48" fmla="*/ 1415584 h 1650046"/>
              <a:gd name="connsiteX49" fmla="*/ 9632 w 1424802"/>
              <a:gd name="connsiteY49" fmla="*/ 1368692 h 1650046"/>
              <a:gd name="connsiteX50" fmla="*/ 9632 w 1424802"/>
              <a:gd name="connsiteY50" fmla="*/ 1169400 h 1650046"/>
              <a:gd name="connsiteX51" fmla="*/ 15493 w 1424802"/>
              <a:gd name="connsiteY51" fmla="*/ 1151815 h 1650046"/>
              <a:gd name="connsiteX52" fmla="*/ 21355 w 1424802"/>
              <a:gd name="connsiteY52" fmla="*/ 1099061 h 1650046"/>
              <a:gd name="connsiteX53" fmla="*/ 27216 w 1424802"/>
              <a:gd name="connsiteY53" fmla="*/ 1081477 h 1650046"/>
              <a:gd name="connsiteX54" fmla="*/ 33078 w 1424802"/>
              <a:gd name="connsiteY54" fmla="*/ 1046307 h 1650046"/>
              <a:gd name="connsiteX55" fmla="*/ 50662 w 1424802"/>
              <a:gd name="connsiteY55" fmla="*/ 1005277 h 1650046"/>
              <a:gd name="connsiteX56" fmla="*/ 62385 w 1424802"/>
              <a:gd name="connsiteY56" fmla="*/ 964246 h 1650046"/>
              <a:gd name="connsiteX57" fmla="*/ 74108 w 1424802"/>
              <a:gd name="connsiteY57" fmla="*/ 940800 h 1650046"/>
              <a:gd name="connsiteX58" fmla="*/ 85832 w 1424802"/>
              <a:gd name="connsiteY58" fmla="*/ 899769 h 1650046"/>
              <a:gd name="connsiteX59" fmla="*/ 91693 w 1424802"/>
              <a:gd name="connsiteY59" fmla="*/ 882184 h 1650046"/>
              <a:gd name="connsiteX60" fmla="*/ 97555 w 1424802"/>
              <a:gd name="connsiteY60" fmla="*/ 852877 h 1650046"/>
              <a:gd name="connsiteX61" fmla="*/ 103416 w 1424802"/>
              <a:gd name="connsiteY61" fmla="*/ 835292 h 1650046"/>
              <a:gd name="connsiteX62" fmla="*/ 102366 w 1424802"/>
              <a:gd name="connsiteY62" fmla="*/ 772661 h 1650046"/>
              <a:gd name="connsiteX63" fmla="*/ 83418 w 1424802"/>
              <a:gd name="connsiteY63" fmla="*/ 661188 h 1650046"/>
              <a:gd name="connsiteX64" fmla="*/ 34270 w 1424802"/>
              <a:gd name="connsiteY64"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091559 w 1424802"/>
              <a:gd name="connsiteY24" fmla="*/ 805354 h 1650046"/>
              <a:gd name="connsiteX25" fmla="*/ 1235657 w 1424802"/>
              <a:gd name="connsiteY25" fmla="*/ 1021434 h 1650046"/>
              <a:gd name="connsiteX26" fmla="*/ 1307706 w 1424802"/>
              <a:gd name="connsiteY26" fmla="*/ 1093461 h 1650046"/>
              <a:gd name="connsiteX27" fmla="*/ 1353869 w 1424802"/>
              <a:gd name="connsiteY27" fmla="*/ 1173135 h 1650046"/>
              <a:gd name="connsiteX28" fmla="*/ 1379755 w 1424802"/>
              <a:gd name="connsiteY28" fmla="*/ 1237514 h 1650046"/>
              <a:gd name="connsiteX29" fmla="*/ 1410539 w 1424802"/>
              <a:gd name="connsiteY29" fmla="*/ 1351107 h 1650046"/>
              <a:gd name="connsiteX30" fmla="*/ 1404287 w 1424802"/>
              <a:gd name="connsiteY30" fmla="*/ 1474733 h 1650046"/>
              <a:gd name="connsiteX31" fmla="*/ 1287447 w 1424802"/>
              <a:gd name="connsiteY31" fmla="*/ 1609015 h 1650046"/>
              <a:gd name="connsiteX32" fmla="*/ 1269862 w 1424802"/>
              <a:gd name="connsiteY32" fmla="*/ 1620738 h 1650046"/>
              <a:gd name="connsiteX33" fmla="*/ 1234693 w 1424802"/>
              <a:gd name="connsiteY33" fmla="*/ 1632461 h 1650046"/>
              <a:gd name="connsiteX34" fmla="*/ 1217108 w 1424802"/>
              <a:gd name="connsiteY34" fmla="*/ 1638323 h 1650046"/>
              <a:gd name="connsiteX35" fmla="*/ 1176078 w 1424802"/>
              <a:gd name="connsiteY35" fmla="*/ 1644184 h 1650046"/>
              <a:gd name="connsiteX36" fmla="*/ 1140908 w 1424802"/>
              <a:gd name="connsiteY36" fmla="*/ 1650046 h 1650046"/>
              <a:gd name="connsiteX37" fmla="*/ 900585 w 1424802"/>
              <a:gd name="connsiteY37" fmla="*/ 1644184 h 1650046"/>
              <a:gd name="connsiteX38" fmla="*/ 883001 w 1424802"/>
              <a:gd name="connsiteY38" fmla="*/ 1638323 h 1650046"/>
              <a:gd name="connsiteX39" fmla="*/ 800939 w 1424802"/>
              <a:gd name="connsiteY39" fmla="*/ 1632461 h 1650046"/>
              <a:gd name="connsiteX40" fmla="*/ 630955 w 1424802"/>
              <a:gd name="connsiteY40" fmla="*/ 1626600 h 1650046"/>
              <a:gd name="connsiteX41" fmla="*/ 572339 w 1424802"/>
              <a:gd name="connsiteY41" fmla="*/ 1620738 h 1650046"/>
              <a:gd name="connsiteX42" fmla="*/ 476812 w 1424802"/>
              <a:gd name="connsiteY42" fmla="*/ 1626600 h 1650046"/>
              <a:gd name="connsiteX43" fmla="*/ 155426 w 1424802"/>
              <a:gd name="connsiteY43" fmla="*/ 1597292 h 1650046"/>
              <a:gd name="connsiteX44" fmla="*/ 83418 w 1424802"/>
              <a:gd name="connsiteY44" fmla="*/ 1525284 h 1650046"/>
              <a:gd name="connsiteX45" fmla="*/ 50662 w 1424802"/>
              <a:gd name="connsiteY45" fmla="*/ 1474200 h 1650046"/>
              <a:gd name="connsiteX46" fmla="*/ 33078 w 1424802"/>
              <a:gd name="connsiteY46" fmla="*/ 1456615 h 1650046"/>
              <a:gd name="connsiteX47" fmla="*/ 21355 w 1424802"/>
              <a:gd name="connsiteY47" fmla="*/ 1415584 h 1650046"/>
              <a:gd name="connsiteX48" fmla="*/ 9632 w 1424802"/>
              <a:gd name="connsiteY48" fmla="*/ 1368692 h 1650046"/>
              <a:gd name="connsiteX49" fmla="*/ 9632 w 1424802"/>
              <a:gd name="connsiteY49" fmla="*/ 1169400 h 1650046"/>
              <a:gd name="connsiteX50" fmla="*/ 15493 w 1424802"/>
              <a:gd name="connsiteY50" fmla="*/ 1151815 h 1650046"/>
              <a:gd name="connsiteX51" fmla="*/ 21355 w 1424802"/>
              <a:gd name="connsiteY51" fmla="*/ 1099061 h 1650046"/>
              <a:gd name="connsiteX52" fmla="*/ 27216 w 1424802"/>
              <a:gd name="connsiteY52" fmla="*/ 1081477 h 1650046"/>
              <a:gd name="connsiteX53" fmla="*/ 33078 w 1424802"/>
              <a:gd name="connsiteY53" fmla="*/ 1046307 h 1650046"/>
              <a:gd name="connsiteX54" fmla="*/ 50662 w 1424802"/>
              <a:gd name="connsiteY54" fmla="*/ 1005277 h 1650046"/>
              <a:gd name="connsiteX55" fmla="*/ 62385 w 1424802"/>
              <a:gd name="connsiteY55" fmla="*/ 964246 h 1650046"/>
              <a:gd name="connsiteX56" fmla="*/ 74108 w 1424802"/>
              <a:gd name="connsiteY56" fmla="*/ 940800 h 1650046"/>
              <a:gd name="connsiteX57" fmla="*/ 85832 w 1424802"/>
              <a:gd name="connsiteY57" fmla="*/ 899769 h 1650046"/>
              <a:gd name="connsiteX58" fmla="*/ 91693 w 1424802"/>
              <a:gd name="connsiteY58" fmla="*/ 882184 h 1650046"/>
              <a:gd name="connsiteX59" fmla="*/ 97555 w 1424802"/>
              <a:gd name="connsiteY59" fmla="*/ 852877 h 1650046"/>
              <a:gd name="connsiteX60" fmla="*/ 103416 w 1424802"/>
              <a:gd name="connsiteY60" fmla="*/ 835292 h 1650046"/>
              <a:gd name="connsiteX61" fmla="*/ 102366 w 1424802"/>
              <a:gd name="connsiteY61" fmla="*/ 772661 h 1650046"/>
              <a:gd name="connsiteX62" fmla="*/ 83418 w 1424802"/>
              <a:gd name="connsiteY62" fmla="*/ 661188 h 1650046"/>
              <a:gd name="connsiteX63" fmla="*/ 34270 w 1424802"/>
              <a:gd name="connsiteY63"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35047 w 1424802"/>
              <a:gd name="connsiteY22" fmla="*/ 630138 h 1650046"/>
              <a:gd name="connsiteX23" fmla="*/ 1091559 w 1424802"/>
              <a:gd name="connsiteY23" fmla="*/ 805354 h 1650046"/>
              <a:gd name="connsiteX24" fmla="*/ 1235657 w 1424802"/>
              <a:gd name="connsiteY24" fmla="*/ 1021434 h 1650046"/>
              <a:gd name="connsiteX25" fmla="*/ 1307706 w 1424802"/>
              <a:gd name="connsiteY25" fmla="*/ 1093461 h 1650046"/>
              <a:gd name="connsiteX26" fmla="*/ 1353869 w 1424802"/>
              <a:gd name="connsiteY26" fmla="*/ 1173135 h 1650046"/>
              <a:gd name="connsiteX27" fmla="*/ 1379755 w 1424802"/>
              <a:gd name="connsiteY27" fmla="*/ 1237514 h 1650046"/>
              <a:gd name="connsiteX28" fmla="*/ 1410539 w 1424802"/>
              <a:gd name="connsiteY28" fmla="*/ 1351107 h 1650046"/>
              <a:gd name="connsiteX29" fmla="*/ 1404287 w 1424802"/>
              <a:gd name="connsiteY29" fmla="*/ 1474733 h 1650046"/>
              <a:gd name="connsiteX30" fmla="*/ 1287447 w 1424802"/>
              <a:gd name="connsiteY30" fmla="*/ 1609015 h 1650046"/>
              <a:gd name="connsiteX31" fmla="*/ 1269862 w 1424802"/>
              <a:gd name="connsiteY31" fmla="*/ 1620738 h 1650046"/>
              <a:gd name="connsiteX32" fmla="*/ 1234693 w 1424802"/>
              <a:gd name="connsiteY32" fmla="*/ 1632461 h 1650046"/>
              <a:gd name="connsiteX33" fmla="*/ 1217108 w 1424802"/>
              <a:gd name="connsiteY33" fmla="*/ 1638323 h 1650046"/>
              <a:gd name="connsiteX34" fmla="*/ 1176078 w 1424802"/>
              <a:gd name="connsiteY34" fmla="*/ 1644184 h 1650046"/>
              <a:gd name="connsiteX35" fmla="*/ 1140908 w 1424802"/>
              <a:gd name="connsiteY35" fmla="*/ 1650046 h 1650046"/>
              <a:gd name="connsiteX36" fmla="*/ 900585 w 1424802"/>
              <a:gd name="connsiteY36" fmla="*/ 1644184 h 1650046"/>
              <a:gd name="connsiteX37" fmla="*/ 883001 w 1424802"/>
              <a:gd name="connsiteY37" fmla="*/ 1638323 h 1650046"/>
              <a:gd name="connsiteX38" fmla="*/ 800939 w 1424802"/>
              <a:gd name="connsiteY38" fmla="*/ 1632461 h 1650046"/>
              <a:gd name="connsiteX39" fmla="*/ 630955 w 1424802"/>
              <a:gd name="connsiteY39" fmla="*/ 1626600 h 1650046"/>
              <a:gd name="connsiteX40" fmla="*/ 572339 w 1424802"/>
              <a:gd name="connsiteY40" fmla="*/ 1620738 h 1650046"/>
              <a:gd name="connsiteX41" fmla="*/ 476812 w 1424802"/>
              <a:gd name="connsiteY41" fmla="*/ 1626600 h 1650046"/>
              <a:gd name="connsiteX42" fmla="*/ 155426 w 1424802"/>
              <a:gd name="connsiteY42" fmla="*/ 1597292 h 1650046"/>
              <a:gd name="connsiteX43" fmla="*/ 83418 w 1424802"/>
              <a:gd name="connsiteY43" fmla="*/ 1525284 h 1650046"/>
              <a:gd name="connsiteX44" fmla="*/ 50662 w 1424802"/>
              <a:gd name="connsiteY44" fmla="*/ 1474200 h 1650046"/>
              <a:gd name="connsiteX45" fmla="*/ 33078 w 1424802"/>
              <a:gd name="connsiteY45" fmla="*/ 1456615 h 1650046"/>
              <a:gd name="connsiteX46" fmla="*/ 21355 w 1424802"/>
              <a:gd name="connsiteY46" fmla="*/ 1415584 h 1650046"/>
              <a:gd name="connsiteX47" fmla="*/ 9632 w 1424802"/>
              <a:gd name="connsiteY47" fmla="*/ 1368692 h 1650046"/>
              <a:gd name="connsiteX48" fmla="*/ 9632 w 1424802"/>
              <a:gd name="connsiteY48" fmla="*/ 1169400 h 1650046"/>
              <a:gd name="connsiteX49" fmla="*/ 15493 w 1424802"/>
              <a:gd name="connsiteY49" fmla="*/ 1151815 h 1650046"/>
              <a:gd name="connsiteX50" fmla="*/ 21355 w 1424802"/>
              <a:gd name="connsiteY50" fmla="*/ 1099061 h 1650046"/>
              <a:gd name="connsiteX51" fmla="*/ 27216 w 1424802"/>
              <a:gd name="connsiteY51" fmla="*/ 1081477 h 1650046"/>
              <a:gd name="connsiteX52" fmla="*/ 33078 w 1424802"/>
              <a:gd name="connsiteY52" fmla="*/ 1046307 h 1650046"/>
              <a:gd name="connsiteX53" fmla="*/ 50662 w 1424802"/>
              <a:gd name="connsiteY53" fmla="*/ 1005277 h 1650046"/>
              <a:gd name="connsiteX54" fmla="*/ 62385 w 1424802"/>
              <a:gd name="connsiteY54" fmla="*/ 964246 h 1650046"/>
              <a:gd name="connsiteX55" fmla="*/ 74108 w 1424802"/>
              <a:gd name="connsiteY55" fmla="*/ 940800 h 1650046"/>
              <a:gd name="connsiteX56" fmla="*/ 85832 w 1424802"/>
              <a:gd name="connsiteY56" fmla="*/ 899769 h 1650046"/>
              <a:gd name="connsiteX57" fmla="*/ 91693 w 1424802"/>
              <a:gd name="connsiteY57" fmla="*/ 882184 h 1650046"/>
              <a:gd name="connsiteX58" fmla="*/ 97555 w 1424802"/>
              <a:gd name="connsiteY58" fmla="*/ 852877 h 1650046"/>
              <a:gd name="connsiteX59" fmla="*/ 103416 w 1424802"/>
              <a:gd name="connsiteY59" fmla="*/ 835292 h 1650046"/>
              <a:gd name="connsiteX60" fmla="*/ 102366 w 1424802"/>
              <a:gd name="connsiteY60" fmla="*/ 772661 h 1650046"/>
              <a:gd name="connsiteX61" fmla="*/ 83418 w 1424802"/>
              <a:gd name="connsiteY61" fmla="*/ 661188 h 1650046"/>
              <a:gd name="connsiteX62" fmla="*/ 34270 w 1424802"/>
              <a:gd name="connsiteY62"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135047 w 1424802"/>
              <a:gd name="connsiteY21" fmla="*/ 630138 h 1650046"/>
              <a:gd name="connsiteX22" fmla="*/ 1091559 w 1424802"/>
              <a:gd name="connsiteY22" fmla="*/ 805354 h 1650046"/>
              <a:gd name="connsiteX23" fmla="*/ 1235657 w 1424802"/>
              <a:gd name="connsiteY23" fmla="*/ 1021434 h 1650046"/>
              <a:gd name="connsiteX24" fmla="*/ 1307706 w 1424802"/>
              <a:gd name="connsiteY24" fmla="*/ 1093461 h 1650046"/>
              <a:gd name="connsiteX25" fmla="*/ 1353869 w 1424802"/>
              <a:gd name="connsiteY25" fmla="*/ 1173135 h 1650046"/>
              <a:gd name="connsiteX26" fmla="*/ 1379755 w 1424802"/>
              <a:gd name="connsiteY26" fmla="*/ 1237514 h 1650046"/>
              <a:gd name="connsiteX27" fmla="*/ 1410539 w 1424802"/>
              <a:gd name="connsiteY27" fmla="*/ 1351107 h 1650046"/>
              <a:gd name="connsiteX28" fmla="*/ 1404287 w 1424802"/>
              <a:gd name="connsiteY28" fmla="*/ 1474733 h 1650046"/>
              <a:gd name="connsiteX29" fmla="*/ 1287447 w 1424802"/>
              <a:gd name="connsiteY29" fmla="*/ 1609015 h 1650046"/>
              <a:gd name="connsiteX30" fmla="*/ 1269862 w 1424802"/>
              <a:gd name="connsiteY30" fmla="*/ 1620738 h 1650046"/>
              <a:gd name="connsiteX31" fmla="*/ 1234693 w 1424802"/>
              <a:gd name="connsiteY31" fmla="*/ 1632461 h 1650046"/>
              <a:gd name="connsiteX32" fmla="*/ 1217108 w 1424802"/>
              <a:gd name="connsiteY32" fmla="*/ 1638323 h 1650046"/>
              <a:gd name="connsiteX33" fmla="*/ 1176078 w 1424802"/>
              <a:gd name="connsiteY33" fmla="*/ 1644184 h 1650046"/>
              <a:gd name="connsiteX34" fmla="*/ 1140908 w 1424802"/>
              <a:gd name="connsiteY34" fmla="*/ 1650046 h 1650046"/>
              <a:gd name="connsiteX35" fmla="*/ 900585 w 1424802"/>
              <a:gd name="connsiteY35" fmla="*/ 1644184 h 1650046"/>
              <a:gd name="connsiteX36" fmla="*/ 883001 w 1424802"/>
              <a:gd name="connsiteY36" fmla="*/ 1638323 h 1650046"/>
              <a:gd name="connsiteX37" fmla="*/ 800939 w 1424802"/>
              <a:gd name="connsiteY37" fmla="*/ 1632461 h 1650046"/>
              <a:gd name="connsiteX38" fmla="*/ 630955 w 1424802"/>
              <a:gd name="connsiteY38" fmla="*/ 1626600 h 1650046"/>
              <a:gd name="connsiteX39" fmla="*/ 572339 w 1424802"/>
              <a:gd name="connsiteY39" fmla="*/ 1620738 h 1650046"/>
              <a:gd name="connsiteX40" fmla="*/ 476812 w 1424802"/>
              <a:gd name="connsiteY40" fmla="*/ 1626600 h 1650046"/>
              <a:gd name="connsiteX41" fmla="*/ 155426 w 1424802"/>
              <a:gd name="connsiteY41" fmla="*/ 1597292 h 1650046"/>
              <a:gd name="connsiteX42" fmla="*/ 83418 w 1424802"/>
              <a:gd name="connsiteY42" fmla="*/ 1525284 h 1650046"/>
              <a:gd name="connsiteX43" fmla="*/ 50662 w 1424802"/>
              <a:gd name="connsiteY43" fmla="*/ 1474200 h 1650046"/>
              <a:gd name="connsiteX44" fmla="*/ 33078 w 1424802"/>
              <a:gd name="connsiteY44" fmla="*/ 1456615 h 1650046"/>
              <a:gd name="connsiteX45" fmla="*/ 21355 w 1424802"/>
              <a:gd name="connsiteY45" fmla="*/ 1415584 h 1650046"/>
              <a:gd name="connsiteX46" fmla="*/ 9632 w 1424802"/>
              <a:gd name="connsiteY46" fmla="*/ 1368692 h 1650046"/>
              <a:gd name="connsiteX47" fmla="*/ 9632 w 1424802"/>
              <a:gd name="connsiteY47" fmla="*/ 1169400 h 1650046"/>
              <a:gd name="connsiteX48" fmla="*/ 15493 w 1424802"/>
              <a:gd name="connsiteY48" fmla="*/ 1151815 h 1650046"/>
              <a:gd name="connsiteX49" fmla="*/ 21355 w 1424802"/>
              <a:gd name="connsiteY49" fmla="*/ 1099061 h 1650046"/>
              <a:gd name="connsiteX50" fmla="*/ 27216 w 1424802"/>
              <a:gd name="connsiteY50" fmla="*/ 1081477 h 1650046"/>
              <a:gd name="connsiteX51" fmla="*/ 33078 w 1424802"/>
              <a:gd name="connsiteY51" fmla="*/ 1046307 h 1650046"/>
              <a:gd name="connsiteX52" fmla="*/ 50662 w 1424802"/>
              <a:gd name="connsiteY52" fmla="*/ 1005277 h 1650046"/>
              <a:gd name="connsiteX53" fmla="*/ 62385 w 1424802"/>
              <a:gd name="connsiteY53" fmla="*/ 964246 h 1650046"/>
              <a:gd name="connsiteX54" fmla="*/ 74108 w 1424802"/>
              <a:gd name="connsiteY54" fmla="*/ 940800 h 1650046"/>
              <a:gd name="connsiteX55" fmla="*/ 85832 w 1424802"/>
              <a:gd name="connsiteY55" fmla="*/ 899769 h 1650046"/>
              <a:gd name="connsiteX56" fmla="*/ 91693 w 1424802"/>
              <a:gd name="connsiteY56" fmla="*/ 882184 h 1650046"/>
              <a:gd name="connsiteX57" fmla="*/ 97555 w 1424802"/>
              <a:gd name="connsiteY57" fmla="*/ 852877 h 1650046"/>
              <a:gd name="connsiteX58" fmla="*/ 103416 w 1424802"/>
              <a:gd name="connsiteY58" fmla="*/ 835292 h 1650046"/>
              <a:gd name="connsiteX59" fmla="*/ 102366 w 1424802"/>
              <a:gd name="connsiteY59" fmla="*/ 772661 h 1650046"/>
              <a:gd name="connsiteX60" fmla="*/ 83418 w 1424802"/>
              <a:gd name="connsiteY60" fmla="*/ 661188 h 1650046"/>
              <a:gd name="connsiteX61" fmla="*/ 34270 w 1424802"/>
              <a:gd name="connsiteY61"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1559 w 1424802"/>
              <a:gd name="connsiteY21" fmla="*/ 805354 h 1650046"/>
              <a:gd name="connsiteX22" fmla="*/ 1235657 w 1424802"/>
              <a:gd name="connsiteY22" fmla="*/ 1021434 h 1650046"/>
              <a:gd name="connsiteX23" fmla="*/ 1307706 w 1424802"/>
              <a:gd name="connsiteY23" fmla="*/ 1093461 h 1650046"/>
              <a:gd name="connsiteX24" fmla="*/ 1353869 w 1424802"/>
              <a:gd name="connsiteY24" fmla="*/ 1173135 h 1650046"/>
              <a:gd name="connsiteX25" fmla="*/ 1379755 w 1424802"/>
              <a:gd name="connsiteY25" fmla="*/ 1237514 h 1650046"/>
              <a:gd name="connsiteX26" fmla="*/ 1410539 w 1424802"/>
              <a:gd name="connsiteY26" fmla="*/ 1351107 h 1650046"/>
              <a:gd name="connsiteX27" fmla="*/ 1404287 w 1424802"/>
              <a:gd name="connsiteY27" fmla="*/ 1474733 h 1650046"/>
              <a:gd name="connsiteX28" fmla="*/ 1287447 w 1424802"/>
              <a:gd name="connsiteY28" fmla="*/ 1609015 h 1650046"/>
              <a:gd name="connsiteX29" fmla="*/ 1269862 w 1424802"/>
              <a:gd name="connsiteY29" fmla="*/ 1620738 h 1650046"/>
              <a:gd name="connsiteX30" fmla="*/ 1234693 w 1424802"/>
              <a:gd name="connsiteY30" fmla="*/ 1632461 h 1650046"/>
              <a:gd name="connsiteX31" fmla="*/ 1217108 w 1424802"/>
              <a:gd name="connsiteY31" fmla="*/ 1638323 h 1650046"/>
              <a:gd name="connsiteX32" fmla="*/ 1176078 w 1424802"/>
              <a:gd name="connsiteY32" fmla="*/ 1644184 h 1650046"/>
              <a:gd name="connsiteX33" fmla="*/ 1140908 w 1424802"/>
              <a:gd name="connsiteY33" fmla="*/ 1650046 h 1650046"/>
              <a:gd name="connsiteX34" fmla="*/ 900585 w 1424802"/>
              <a:gd name="connsiteY34" fmla="*/ 1644184 h 1650046"/>
              <a:gd name="connsiteX35" fmla="*/ 883001 w 1424802"/>
              <a:gd name="connsiteY35" fmla="*/ 1638323 h 1650046"/>
              <a:gd name="connsiteX36" fmla="*/ 800939 w 1424802"/>
              <a:gd name="connsiteY36" fmla="*/ 1632461 h 1650046"/>
              <a:gd name="connsiteX37" fmla="*/ 630955 w 1424802"/>
              <a:gd name="connsiteY37" fmla="*/ 1626600 h 1650046"/>
              <a:gd name="connsiteX38" fmla="*/ 572339 w 1424802"/>
              <a:gd name="connsiteY38" fmla="*/ 1620738 h 1650046"/>
              <a:gd name="connsiteX39" fmla="*/ 476812 w 1424802"/>
              <a:gd name="connsiteY39" fmla="*/ 1626600 h 1650046"/>
              <a:gd name="connsiteX40" fmla="*/ 155426 w 1424802"/>
              <a:gd name="connsiteY40" fmla="*/ 1597292 h 1650046"/>
              <a:gd name="connsiteX41" fmla="*/ 83418 w 1424802"/>
              <a:gd name="connsiteY41" fmla="*/ 1525284 h 1650046"/>
              <a:gd name="connsiteX42" fmla="*/ 50662 w 1424802"/>
              <a:gd name="connsiteY42" fmla="*/ 1474200 h 1650046"/>
              <a:gd name="connsiteX43" fmla="*/ 33078 w 1424802"/>
              <a:gd name="connsiteY43" fmla="*/ 1456615 h 1650046"/>
              <a:gd name="connsiteX44" fmla="*/ 21355 w 1424802"/>
              <a:gd name="connsiteY44" fmla="*/ 1415584 h 1650046"/>
              <a:gd name="connsiteX45" fmla="*/ 9632 w 1424802"/>
              <a:gd name="connsiteY45" fmla="*/ 1368692 h 1650046"/>
              <a:gd name="connsiteX46" fmla="*/ 9632 w 1424802"/>
              <a:gd name="connsiteY46" fmla="*/ 1169400 h 1650046"/>
              <a:gd name="connsiteX47" fmla="*/ 15493 w 1424802"/>
              <a:gd name="connsiteY47" fmla="*/ 1151815 h 1650046"/>
              <a:gd name="connsiteX48" fmla="*/ 21355 w 1424802"/>
              <a:gd name="connsiteY48" fmla="*/ 1099061 h 1650046"/>
              <a:gd name="connsiteX49" fmla="*/ 27216 w 1424802"/>
              <a:gd name="connsiteY49" fmla="*/ 1081477 h 1650046"/>
              <a:gd name="connsiteX50" fmla="*/ 33078 w 1424802"/>
              <a:gd name="connsiteY50" fmla="*/ 1046307 h 1650046"/>
              <a:gd name="connsiteX51" fmla="*/ 50662 w 1424802"/>
              <a:gd name="connsiteY51" fmla="*/ 1005277 h 1650046"/>
              <a:gd name="connsiteX52" fmla="*/ 62385 w 1424802"/>
              <a:gd name="connsiteY52" fmla="*/ 964246 h 1650046"/>
              <a:gd name="connsiteX53" fmla="*/ 74108 w 1424802"/>
              <a:gd name="connsiteY53" fmla="*/ 940800 h 1650046"/>
              <a:gd name="connsiteX54" fmla="*/ 85832 w 1424802"/>
              <a:gd name="connsiteY54" fmla="*/ 899769 h 1650046"/>
              <a:gd name="connsiteX55" fmla="*/ 91693 w 1424802"/>
              <a:gd name="connsiteY55" fmla="*/ 882184 h 1650046"/>
              <a:gd name="connsiteX56" fmla="*/ 97555 w 1424802"/>
              <a:gd name="connsiteY56" fmla="*/ 852877 h 1650046"/>
              <a:gd name="connsiteX57" fmla="*/ 103416 w 1424802"/>
              <a:gd name="connsiteY57" fmla="*/ 835292 h 1650046"/>
              <a:gd name="connsiteX58" fmla="*/ 102366 w 1424802"/>
              <a:gd name="connsiteY58" fmla="*/ 772661 h 1650046"/>
              <a:gd name="connsiteX59" fmla="*/ 83418 w 1424802"/>
              <a:gd name="connsiteY59" fmla="*/ 661188 h 1650046"/>
              <a:gd name="connsiteX60" fmla="*/ 34270 w 1424802"/>
              <a:gd name="connsiteY60"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91559 w 1424802"/>
              <a:gd name="connsiteY20" fmla="*/ 805354 h 1650046"/>
              <a:gd name="connsiteX21" fmla="*/ 1235657 w 1424802"/>
              <a:gd name="connsiteY21" fmla="*/ 1021434 h 1650046"/>
              <a:gd name="connsiteX22" fmla="*/ 1307706 w 1424802"/>
              <a:gd name="connsiteY22" fmla="*/ 1093461 h 1650046"/>
              <a:gd name="connsiteX23" fmla="*/ 1353869 w 1424802"/>
              <a:gd name="connsiteY23" fmla="*/ 1173135 h 1650046"/>
              <a:gd name="connsiteX24" fmla="*/ 1379755 w 1424802"/>
              <a:gd name="connsiteY24" fmla="*/ 1237514 h 1650046"/>
              <a:gd name="connsiteX25" fmla="*/ 1410539 w 1424802"/>
              <a:gd name="connsiteY25" fmla="*/ 1351107 h 1650046"/>
              <a:gd name="connsiteX26" fmla="*/ 1404287 w 1424802"/>
              <a:gd name="connsiteY26" fmla="*/ 1474733 h 1650046"/>
              <a:gd name="connsiteX27" fmla="*/ 1287447 w 1424802"/>
              <a:gd name="connsiteY27" fmla="*/ 1609015 h 1650046"/>
              <a:gd name="connsiteX28" fmla="*/ 1269862 w 1424802"/>
              <a:gd name="connsiteY28" fmla="*/ 1620738 h 1650046"/>
              <a:gd name="connsiteX29" fmla="*/ 1234693 w 1424802"/>
              <a:gd name="connsiteY29" fmla="*/ 1632461 h 1650046"/>
              <a:gd name="connsiteX30" fmla="*/ 1217108 w 1424802"/>
              <a:gd name="connsiteY30" fmla="*/ 1638323 h 1650046"/>
              <a:gd name="connsiteX31" fmla="*/ 1176078 w 1424802"/>
              <a:gd name="connsiteY31" fmla="*/ 1644184 h 1650046"/>
              <a:gd name="connsiteX32" fmla="*/ 1140908 w 1424802"/>
              <a:gd name="connsiteY32" fmla="*/ 1650046 h 1650046"/>
              <a:gd name="connsiteX33" fmla="*/ 900585 w 1424802"/>
              <a:gd name="connsiteY33" fmla="*/ 1644184 h 1650046"/>
              <a:gd name="connsiteX34" fmla="*/ 883001 w 1424802"/>
              <a:gd name="connsiteY34" fmla="*/ 1638323 h 1650046"/>
              <a:gd name="connsiteX35" fmla="*/ 800939 w 1424802"/>
              <a:gd name="connsiteY35" fmla="*/ 1632461 h 1650046"/>
              <a:gd name="connsiteX36" fmla="*/ 630955 w 1424802"/>
              <a:gd name="connsiteY36" fmla="*/ 1626600 h 1650046"/>
              <a:gd name="connsiteX37" fmla="*/ 572339 w 1424802"/>
              <a:gd name="connsiteY37" fmla="*/ 1620738 h 1650046"/>
              <a:gd name="connsiteX38" fmla="*/ 476812 w 1424802"/>
              <a:gd name="connsiteY38" fmla="*/ 1626600 h 1650046"/>
              <a:gd name="connsiteX39" fmla="*/ 155426 w 1424802"/>
              <a:gd name="connsiteY39" fmla="*/ 1597292 h 1650046"/>
              <a:gd name="connsiteX40" fmla="*/ 83418 w 1424802"/>
              <a:gd name="connsiteY40" fmla="*/ 1525284 h 1650046"/>
              <a:gd name="connsiteX41" fmla="*/ 50662 w 1424802"/>
              <a:gd name="connsiteY41" fmla="*/ 1474200 h 1650046"/>
              <a:gd name="connsiteX42" fmla="*/ 33078 w 1424802"/>
              <a:gd name="connsiteY42" fmla="*/ 1456615 h 1650046"/>
              <a:gd name="connsiteX43" fmla="*/ 21355 w 1424802"/>
              <a:gd name="connsiteY43" fmla="*/ 1415584 h 1650046"/>
              <a:gd name="connsiteX44" fmla="*/ 9632 w 1424802"/>
              <a:gd name="connsiteY44" fmla="*/ 1368692 h 1650046"/>
              <a:gd name="connsiteX45" fmla="*/ 9632 w 1424802"/>
              <a:gd name="connsiteY45" fmla="*/ 1169400 h 1650046"/>
              <a:gd name="connsiteX46" fmla="*/ 15493 w 1424802"/>
              <a:gd name="connsiteY46" fmla="*/ 1151815 h 1650046"/>
              <a:gd name="connsiteX47" fmla="*/ 21355 w 1424802"/>
              <a:gd name="connsiteY47" fmla="*/ 1099061 h 1650046"/>
              <a:gd name="connsiteX48" fmla="*/ 27216 w 1424802"/>
              <a:gd name="connsiteY48" fmla="*/ 1081477 h 1650046"/>
              <a:gd name="connsiteX49" fmla="*/ 33078 w 1424802"/>
              <a:gd name="connsiteY49" fmla="*/ 1046307 h 1650046"/>
              <a:gd name="connsiteX50" fmla="*/ 50662 w 1424802"/>
              <a:gd name="connsiteY50" fmla="*/ 1005277 h 1650046"/>
              <a:gd name="connsiteX51" fmla="*/ 62385 w 1424802"/>
              <a:gd name="connsiteY51" fmla="*/ 964246 h 1650046"/>
              <a:gd name="connsiteX52" fmla="*/ 74108 w 1424802"/>
              <a:gd name="connsiteY52" fmla="*/ 940800 h 1650046"/>
              <a:gd name="connsiteX53" fmla="*/ 85832 w 1424802"/>
              <a:gd name="connsiteY53" fmla="*/ 899769 h 1650046"/>
              <a:gd name="connsiteX54" fmla="*/ 91693 w 1424802"/>
              <a:gd name="connsiteY54" fmla="*/ 882184 h 1650046"/>
              <a:gd name="connsiteX55" fmla="*/ 97555 w 1424802"/>
              <a:gd name="connsiteY55" fmla="*/ 852877 h 1650046"/>
              <a:gd name="connsiteX56" fmla="*/ 103416 w 1424802"/>
              <a:gd name="connsiteY56" fmla="*/ 835292 h 1650046"/>
              <a:gd name="connsiteX57" fmla="*/ 102366 w 1424802"/>
              <a:gd name="connsiteY57" fmla="*/ 772661 h 1650046"/>
              <a:gd name="connsiteX58" fmla="*/ 83418 w 1424802"/>
              <a:gd name="connsiteY58" fmla="*/ 661188 h 1650046"/>
              <a:gd name="connsiteX59" fmla="*/ 34270 w 1424802"/>
              <a:gd name="connsiteY5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91559 w 1424802"/>
              <a:gd name="connsiteY19" fmla="*/ 805354 h 1650046"/>
              <a:gd name="connsiteX20" fmla="*/ 1235657 w 1424802"/>
              <a:gd name="connsiteY20" fmla="*/ 1021434 h 1650046"/>
              <a:gd name="connsiteX21" fmla="*/ 1307706 w 1424802"/>
              <a:gd name="connsiteY21" fmla="*/ 1093461 h 1650046"/>
              <a:gd name="connsiteX22" fmla="*/ 1353869 w 1424802"/>
              <a:gd name="connsiteY22" fmla="*/ 1173135 h 1650046"/>
              <a:gd name="connsiteX23" fmla="*/ 1379755 w 1424802"/>
              <a:gd name="connsiteY23" fmla="*/ 1237514 h 1650046"/>
              <a:gd name="connsiteX24" fmla="*/ 1410539 w 1424802"/>
              <a:gd name="connsiteY24" fmla="*/ 1351107 h 1650046"/>
              <a:gd name="connsiteX25" fmla="*/ 1404287 w 1424802"/>
              <a:gd name="connsiteY25" fmla="*/ 1474733 h 1650046"/>
              <a:gd name="connsiteX26" fmla="*/ 1287447 w 1424802"/>
              <a:gd name="connsiteY26" fmla="*/ 1609015 h 1650046"/>
              <a:gd name="connsiteX27" fmla="*/ 1269862 w 1424802"/>
              <a:gd name="connsiteY27" fmla="*/ 1620738 h 1650046"/>
              <a:gd name="connsiteX28" fmla="*/ 1234693 w 1424802"/>
              <a:gd name="connsiteY28" fmla="*/ 1632461 h 1650046"/>
              <a:gd name="connsiteX29" fmla="*/ 1217108 w 1424802"/>
              <a:gd name="connsiteY29" fmla="*/ 1638323 h 1650046"/>
              <a:gd name="connsiteX30" fmla="*/ 1176078 w 1424802"/>
              <a:gd name="connsiteY30" fmla="*/ 1644184 h 1650046"/>
              <a:gd name="connsiteX31" fmla="*/ 1140908 w 1424802"/>
              <a:gd name="connsiteY31" fmla="*/ 1650046 h 1650046"/>
              <a:gd name="connsiteX32" fmla="*/ 900585 w 1424802"/>
              <a:gd name="connsiteY32" fmla="*/ 1644184 h 1650046"/>
              <a:gd name="connsiteX33" fmla="*/ 883001 w 1424802"/>
              <a:gd name="connsiteY33" fmla="*/ 1638323 h 1650046"/>
              <a:gd name="connsiteX34" fmla="*/ 800939 w 1424802"/>
              <a:gd name="connsiteY34" fmla="*/ 1632461 h 1650046"/>
              <a:gd name="connsiteX35" fmla="*/ 630955 w 1424802"/>
              <a:gd name="connsiteY35" fmla="*/ 1626600 h 1650046"/>
              <a:gd name="connsiteX36" fmla="*/ 572339 w 1424802"/>
              <a:gd name="connsiteY36" fmla="*/ 1620738 h 1650046"/>
              <a:gd name="connsiteX37" fmla="*/ 476812 w 1424802"/>
              <a:gd name="connsiteY37" fmla="*/ 1626600 h 1650046"/>
              <a:gd name="connsiteX38" fmla="*/ 155426 w 1424802"/>
              <a:gd name="connsiteY38" fmla="*/ 1597292 h 1650046"/>
              <a:gd name="connsiteX39" fmla="*/ 83418 w 1424802"/>
              <a:gd name="connsiteY39" fmla="*/ 1525284 h 1650046"/>
              <a:gd name="connsiteX40" fmla="*/ 50662 w 1424802"/>
              <a:gd name="connsiteY40" fmla="*/ 1474200 h 1650046"/>
              <a:gd name="connsiteX41" fmla="*/ 33078 w 1424802"/>
              <a:gd name="connsiteY41" fmla="*/ 1456615 h 1650046"/>
              <a:gd name="connsiteX42" fmla="*/ 21355 w 1424802"/>
              <a:gd name="connsiteY42" fmla="*/ 1415584 h 1650046"/>
              <a:gd name="connsiteX43" fmla="*/ 9632 w 1424802"/>
              <a:gd name="connsiteY43" fmla="*/ 1368692 h 1650046"/>
              <a:gd name="connsiteX44" fmla="*/ 9632 w 1424802"/>
              <a:gd name="connsiteY44" fmla="*/ 1169400 h 1650046"/>
              <a:gd name="connsiteX45" fmla="*/ 15493 w 1424802"/>
              <a:gd name="connsiteY45" fmla="*/ 1151815 h 1650046"/>
              <a:gd name="connsiteX46" fmla="*/ 21355 w 1424802"/>
              <a:gd name="connsiteY46" fmla="*/ 1099061 h 1650046"/>
              <a:gd name="connsiteX47" fmla="*/ 27216 w 1424802"/>
              <a:gd name="connsiteY47" fmla="*/ 1081477 h 1650046"/>
              <a:gd name="connsiteX48" fmla="*/ 33078 w 1424802"/>
              <a:gd name="connsiteY48" fmla="*/ 1046307 h 1650046"/>
              <a:gd name="connsiteX49" fmla="*/ 50662 w 1424802"/>
              <a:gd name="connsiteY49" fmla="*/ 1005277 h 1650046"/>
              <a:gd name="connsiteX50" fmla="*/ 62385 w 1424802"/>
              <a:gd name="connsiteY50" fmla="*/ 964246 h 1650046"/>
              <a:gd name="connsiteX51" fmla="*/ 74108 w 1424802"/>
              <a:gd name="connsiteY51" fmla="*/ 940800 h 1650046"/>
              <a:gd name="connsiteX52" fmla="*/ 85832 w 1424802"/>
              <a:gd name="connsiteY52" fmla="*/ 899769 h 1650046"/>
              <a:gd name="connsiteX53" fmla="*/ 91693 w 1424802"/>
              <a:gd name="connsiteY53" fmla="*/ 882184 h 1650046"/>
              <a:gd name="connsiteX54" fmla="*/ 97555 w 1424802"/>
              <a:gd name="connsiteY54" fmla="*/ 852877 h 1650046"/>
              <a:gd name="connsiteX55" fmla="*/ 103416 w 1424802"/>
              <a:gd name="connsiteY55" fmla="*/ 835292 h 1650046"/>
              <a:gd name="connsiteX56" fmla="*/ 102366 w 1424802"/>
              <a:gd name="connsiteY56" fmla="*/ 772661 h 1650046"/>
              <a:gd name="connsiteX57" fmla="*/ 83418 w 1424802"/>
              <a:gd name="connsiteY57" fmla="*/ 661188 h 1650046"/>
              <a:gd name="connsiteX58" fmla="*/ 34270 w 1424802"/>
              <a:gd name="connsiteY5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1091559 w 1424802"/>
              <a:gd name="connsiteY18" fmla="*/ 805354 h 1650046"/>
              <a:gd name="connsiteX19" fmla="*/ 1235657 w 1424802"/>
              <a:gd name="connsiteY19" fmla="*/ 1021434 h 1650046"/>
              <a:gd name="connsiteX20" fmla="*/ 1307706 w 1424802"/>
              <a:gd name="connsiteY20" fmla="*/ 1093461 h 1650046"/>
              <a:gd name="connsiteX21" fmla="*/ 1353869 w 1424802"/>
              <a:gd name="connsiteY21" fmla="*/ 1173135 h 1650046"/>
              <a:gd name="connsiteX22" fmla="*/ 1379755 w 1424802"/>
              <a:gd name="connsiteY22" fmla="*/ 1237514 h 1650046"/>
              <a:gd name="connsiteX23" fmla="*/ 1410539 w 1424802"/>
              <a:gd name="connsiteY23" fmla="*/ 1351107 h 1650046"/>
              <a:gd name="connsiteX24" fmla="*/ 1404287 w 1424802"/>
              <a:gd name="connsiteY24" fmla="*/ 1474733 h 1650046"/>
              <a:gd name="connsiteX25" fmla="*/ 1287447 w 1424802"/>
              <a:gd name="connsiteY25" fmla="*/ 1609015 h 1650046"/>
              <a:gd name="connsiteX26" fmla="*/ 1269862 w 1424802"/>
              <a:gd name="connsiteY26" fmla="*/ 1620738 h 1650046"/>
              <a:gd name="connsiteX27" fmla="*/ 1234693 w 1424802"/>
              <a:gd name="connsiteY27" fmla="*/ 1632461 h 1650046"/>
              <a:gd name="connsiteX28" fmla="*/ 1217108 w 1424802"/>
              <a:gd name="connsiteY28" fmla="*/ 1638323 h 1650046"/>
              <a:gd name="connsiteX29" fmla="*/ 1176078 w 1424802"/>
              <a:gd name="connsiteY29" fmla="*/ 1644184 h 1650046"/>
              <a:gd name="connsiteX30" fmla="*/ 1140908 w 1424802"/>
              <a:gd name="connsiteY30" fmla="*/ 1650046 h 1650046"/>
              <a:gd name="connsiteX31" fmla="*/ 900585 w 1424802"/>
              <a:gd name="connsiteY31" fmla="*/ 1644184 h 1650046"/>
              <a:gd name="connsiteX32" fmla="*/ 883001 w 1424802"/>
              <a:gd name="connsiteY32" fmla="*/ 1638323 h 1650046"/>
              <a:gd name="connsiteX33" fmla="*/ 800939 w 1424802"/>
              <a:gd name="connsiteY33" fmla="*/ 1632461 h 1650046"/>
              <a:gd name="connsiteX34" fmla="*/ 630955 w 1424802"/>
              <a:gd name="connsiteY34" fmla="*/ 1626600 h 1650046"/>
              <a:gd name="connsiteX35" fmla="*/ 572339 w 1424802"/>
              <a:gd name="connsiteY35" fmla="*/ 1620738 h 1650046"/>
              <a:gd name="connsiteX36" fmla="*/ 476812 w 1424802"/>
              <a:gd name="connsiteY36" fmla="*/ 1626600 h 1650046"/>
              <a:gd name="connsiteX37" fmla="*/ 155426 w 1424802"/>
              <a:gd name="connsiteY37" fmla="*/ 1597292 h 1650046"/>
              <a:gd name="connsiteX38" fmla="*/ 83418 w 1424802"/>
              <a:gd name="connsiteY38" fmla="*/ 1525284 h 1650046"/>
              <a:gd name="connsiteX39" fmla="*/ 50662 w 1424802"/>
              <a:gd name="connsiteY39" fmla="*/ 1474200 h 1650046"/>
              <a:gd name="connsiteX40" fmla="*/ 33078 w 1424802"/>
              <a:gd name="connsiteY40" fmla="*/ 1456615 h 1650046"/>
              <a:gd name="connsiteX41" fmla="*/ 21355 w 1424802"/>
              <a:gd name="connsiteY41" fmla="*/ 1415584 h 1650046"/>
              <a:gd name="connsiteX42" fmla="*/ 9632 w 1424802"/>
              <a:gd name="connsiteY42" fmla="*/ 1368692 h 1650046"/>
              <a:gd name="connsiteX43" fmla="*/ 9632 w 1424802"/>
              <a:gd name="connsiteY43" fmla="*/ 1169400 h 1650046"/>
              <a:gd name="connsiteX44" fmla="*/ 15493 w 1424802"/>
              <a:gd name="connsiteY44" fmla="*/ 1151815 h 1650046"/>
              <a:gd name="connsiteX45" fmla="*/ 21355 w 1424802"/>
              <a:gd name="connsiteY45" fmla="*/ 1099061 h 1650046"/>
              <a:gd name="connsiteX46" fmla="*/ 27216 w 1424802"/>
              <a:gd name="connsiteY46" fmla="*/ 1081477 h 1650046"/>
              <a:gd name="connsiteX47" fmla="*/ 33078 w 1424802"/>
              <a:gd name="connsiteY47" fmla="*/ 1046307 h 1650046"/>
              <a:gd name="connsiteX48" fmla="*/ 50662 w 1424802"/>
              <a:gd name="connsiteY48" fmla="*/ 1005277 h 1650046"/>
              <a:gd name="connsiteX49" fmla="*/ 62385 w 1424802"/>
              <a:gd name="connsiteY49" fmla="*/ 964246 h 1650046"/>
              <a:gd name="connsiteX50" fmla="*/ 74108 w 1424802"/>
              <a:gd name="connsiteY50" fmla="*/ 940800 h 1650046"/>
              <a:gd name="connsiteX51" fmla="*/ 85832 w 1424802"/>
              <a:gd name="connsiteY51" fmla="*/ 899769 h 1650046"/>
              <a:gd name="connsiteX52" fmla="*/ 91693 w 1424802"/>
              <a:gd name="connsiteY52" fmla="*/ 882184 h 1650046"/>
              <a:gd name="connsiteX53" fmla="*/ 97555 w 1424802"/>
              <a:gd name="connsiteY53" fmla="*/ 852877 h 1650046"/>
              <a:gd name="connsiteX54" fmla="*/ 103416 w 1424802"/>
              <a:gd name="connsiteY54" fmla="*/ 835292 h 1650046"/>
              <a:gd name="connsiteX55" fmla="*/ 102366 w 1424802"/>
              <a:gd name="connsiteY55" fmla="*/ 772661 h 1650046"/>
              <a:gd name="connsiteX56" fmla="*/ 83418 w 1424802"/>
              <a:gd name="connsiteY56" fmla="*/ 661188 h 1650046"/>
              <a:gd name="connsiteX57" fmla="*/ 34270 w 1424802"/>
              <a:gd name="connsiteY57"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1091559 w 1424802"/>
              <a:gd name="connsiteY17" fmla="*/ 805354 h 1650046"/>
              <a:gd name="connsiteX18" fmla="*/ 1235657 w 1424802"/>
              <a:gd name="connsiteY18" fmla="*/ 1021434 h 1650046"/>
              <a:gd name="connsiteX19" fmla="*/ 1307706 w 1424802"/>
              <a:gd name="connsiteY19" fmla="*/ 1093461 h 1650046"/>
              <a:gd name="connsiteX20" fmla="*/ 1353869 w 1424802"/>
              <a:gd name="connsiteY20" fmla="*/ 1173135 h 1650046"/>
              <a:gd name="connsiteX21" fmla="*/ 1379755 w 1424802"/>
              <a:gd name="connsiteY21" fmla="*/ 1237514 h 1650046"/>
              <a:gd name="connsiteX22" fmla="*/ 1410539 w 1424802"/>
              <a:gd name="connsiteY22" fmla="*/ 1351107 h 1650046"/>
              <a:gd name="connsiteX23" fmla="*/ 1404287 w 1424802"/>
              <a:gd name="connsiteY23" fmla="*/ 1474733 h 1650046"/>
              <a:gd name="connsiteX24" fmla="*/ 1287447 w 1424802"/>
              <a:gd name="connsiteY24" fmla="*/ 1609015 h 1650046"/>
              <a:gd name="connsiteX25" fmla="*/ 1269862 w 1424802"/>
              <a:gd name="connsiteY25" fmla="*/ 1620738 h 1650046"/>
              <a:gd name="connsiteX26" fmla="*/ 1234693 w 1424802"/>
              <a:gd name="connsiteY26" fmla="*/ 1632461 h 1650046"/>
              <a:gd name="connsiteX27" fmla="*/ 1217108 w 1424802"/>
              <a:gd name="connsiteY27" fmla="*/ 1638323 h 1650046"/>
              <a:gd name="connsiteX28" fmla="*/ 1176078 w 1424802"/>
              <a:gd name="connsiteY28" fmla="*/ 1644184 h 1650046"/>
              <a:gd name="connsiteX29" fmla="*/ 1140908 w 1424802"/>
              <a:gd name="connsiteY29" fmla="*/ 1650046 h 1650046"/>
              <a:gd name="connsiteX30" fmla="*/ 900585 w 1424802"/>
              <a:gd name="connsiteY30" fmla="*/ 1644184 h 1650046"/>
              <a:gd name="connsiteX31" fmla="*/ 883001 w 1424802"/>
              <a:gd name="connsiteY31" fmla="*/ 1638323 h 1650046"/>
              <a:gd name="connsiteX32" fmla="*/ 800939 w 1424802"/>
              <a:gd name="connsiteY32" fmla="*/ 1632461 h 1650046"/>
              <a:gd name="connsiteX33" fmla="*/ 630955 w 1424802"/>
              <a:gd name="connsiteY33" fmla="*/ 1626600 h 1650046"/>
              <a:gd name="connsiteX34" fmla="*/ 572339 w 1424802"/>
              <a:gd name="connsiteY34" fmla="*/ 1620738 h 1650046"/>
              <a:gd name="connsiteX35" fmla="*/ 476812 w 1424802"/>
              <a:gd name="connsiteY35" fmla="*/ 1626600 h 1650046"/>
              <a:gd name="connsiteX36" fmla="*/ 155426 w 1424802"/>
              <a:gd name="connsiteY36" fmla="*/ 1597292 h 1650046"/>
              <a:gd name="connsiteX37" fmla="*/ 83418 w 1424802"/>
              <a:gd name="connsiteY37" fmla="*/ 1525284 h 1650046"/>
              <a:gd name="connsiteX38" fmla="*/ 50662 w 1424802"/>
              <a:gd name="connsiteY38" fmla="*/ 1474200 h 1650046"/>
              <a:gd name="connsiteX39" fmla="*/ 33078 w 1424802"/>
              <a:gd name="connsiteY39" fmla="*/ 1456615 h 1650046"/>
              <a:gd name="connsiteX40" fmla="*/ 21355 w 1424802"/>
              <a:gd name="connsiteY40" fmla="*/ 1415584 h 1650046"/>
              <a:gd name="connsiteX41" fmla="*/ 9632 w 1424802"/>
              <a:gd name="connsiteY41" fmla="*/ 1368692 h 1650046"/>
              <a:gd name="connsiteX42" fmla="*/ 9632 w 1424802"/>
              <a:gd name="connsiteY42" fmla="*/ 1169400 h 1650046"/>
              <a:gd name="connsiteX43" fmla="*/ 15493 w 1424802"/>
              <a:gd name="connsiteY43" fmla="*/ 1151815 h 1650046"/>
              <a:gd name="connsiteX44" fmla="*/ 21355 w 1424802"/>
              <a:gd name="connsiteY44" fmla="*/ 1099061 h 1650046"/>
              <a:gd name="connsiteX45" fmla="*/ 27216 w 1424802"/>
              <a:gd name="connsiteY45" fmla="*/ 1081477 h 1650046"/>
              <a:gd name="connsiteX46" fmla="*/ 33078 w 1424802"/>
              <a:gd name="connsiteY46" fmla="*/ 1046307 h 1650046"/>
              <a:gd name="connsiteX47" fmla="*/ 50662 w 1424802"/>
              <a:gd name="connsiteY47" fmla="*/ 1005277 h 1650046"/>
              <a:gd name="connsiteX48" fmla="*/ 62385 w 1424802"/>
              <a:gd name="connsiteY48" fmla="*/ 964246 h 1650046"/>
              <a:gd name="connsiteX49" fmla="*/ 74108 w 1424802"/>
              <a:gd name="connsiteY49" fmla="*/ 940800 h 1650046"/>
              <a:gd name="connsiteX50" fmla="*/ 85832 w 1424802"/>
              <a:gd name="connsiteY50" fmla="*/ 899769 h 1650046"/>
              <a:gd name="connsiteX51" fmla="*/ 91693 w 1424802"/>
              <a:gd name="connsiteY51" fmla="*/ 882184 h 1650046"/>
              <a:gd name="connsiteX52" fmla="*/ 97555 w 1424802"/>
              <a:gd name="connsiteY52" fmla="*/ 852877 h 1650046"/>
              <a:gd name="connsiteX53" fmla="*/ 103416 w 1424802"/>
              <a:gd name="connsiteY53" fmla="*/ 835292 h 1650046"/>
              <a:gd name="connsiteX54" fmla="*/ 102366 w 1424802"/>
              <a:gd name="connsiteY54" fmla="*/ 772661 h 1650046"/>
              <a:gd name="connsiteX55" fmla="*/ 83418 w 1424802"/>
              <a:gd name="connsiteY55" fmla="*/ 661188 h 1650046"/>
              <a:gd name="connsiteX56" fmla="*/ 34270 w 1424802"/>
              <a:gd name="connsiteY56"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1091559 w 1424802"/>
              <a:gd name="connsiteY16" fmla="*/ 805354 h 1650046"/>
              <a:gd name="connsiteX17" fmla="*/ 1235657 w 1424802"/>
              <a:gd name="connsiteY17" fmla="*/ 1021434 h 1650046"/>
              <a:gd name="connsiteX18" fmla="*/ 1307706 w 1424802"/>
              <a:gd name="connsiteY18" fmla="*/ 1093461 h 1650046"/>
              <a:gd name="connsiteX19" fmla="*/ 1353869 w 1424802"/>
              <a:gd name="connsiteY19" fmla="*/ 1173135 h 1650046"/>
              <a:gd name="connsiteX20" fmla="*/ 1379755 w 1424802"/>
              <a:gd name="connsiteY20" fmla="*/ 1237514 h 1650046"/>
              <a:gd name="connsiteX21" fmla="*/ 1410539 w 1424802"/>
              <a:gd name="connsiteY21" fmla="*/ 1351107 h 1650046"/>
              <a:gd name="connsiteX22" fmla="*/ 1404287 w 1424802"/>
              <a:gd name="connsiteY22" fmla="*/ 1474733 h 1650046"/>
              <a:gd name="connsiteX23" fmla="*/ 1287447 w 1424802"/>
              <a:gd name="connsiteY23" fmla="*/ 1609015 h 1650046"/>
              <a:gd name="connsiteX24" fmla="*/ 1269862 w 1424802"/>
              <a:gd name="connsiteY24" fmla="*/ 1620738 h 1650046"/>
              <a:gd name="connsiteX25" fmla="*/ 1234693 w 1424802"/>
              <a:gd name="connsiteY25" fmla="*/ 1632461 h 1650046"/>
              <a:gd name="connsiteX26" fmla="*/ 1217108 w 1424802"/>
              <a:gd name="connsiteY26" fmla="*/ 1638323 h 1650046"/>
              <a:gd name="connsiteX27" fmla="*/ 1176078 w 1424802"/>
              <a:gd name="connsiteY27" fmla="*/ 1644184 h 1650046"/>
              <a:gd name="connsiteX28" fmla="*/ 1140908 w 1424802"/>
              <a:gd name="connsiteY28" fmla="*/ 1650046 h 1650046"/>
              <a:gd name="connsiteX29" fmla="*/ 900585 w 1424802"/>
              <a:gd name="connsiteY29" fmla="*/ 1644184 h 1650046"/>
              <a:gd name="connsiteX30" fmla="*/ 883001 w 1424802"/>
              <a:gd name="connsiteY30" fmla="*/ 1638323 h 1650046"/>
              <a:gd name="connsiteX31" fmla="*/ 800939 w 1424802"/>
              <a:gd name="connsiteY31" fmla="*/ 1632461 h 1650046"/>
              <a:gd name="connsiteX32" fmla="*/ 630955 w 1424802"/>
              <a:gd name="connsiteY32" fmla="*/ 1626600 h 1650046"/>
              <a:gd name="connsiteX33" fmla="*/ 572339 w 1424802"/>
              <a:gd name="connsiteY33" fmla="*/ 1620738 h 1650046"/>
              <a:gd name="connsiteX34" fmla="*/ 476812 w 1424802"/>
              <a:gd name="connsiteY34" fmla="*/ 1626600 h 1650046"/>
              <a:gd name="connsiteX35" fmla="*/ 155426 w 1424802"/>
              <a:gd name="connsiteY35" fmla="*/ 1597292 h 1650046"/>
              <a:gd name="connsiteX36" fmla="*/ 83418 w 1424802"/>
              <a:gd name="connsiteY36" fmla="*/ 1525284 h 1650046"/>
              <a:gd name="connsiteX37" fmla="*/ 50662 w 1424802"/>
              <a:gd name="connsiteY37" fmla="*/ 1474200 h 1650046"/>
              <a:gd name="connsiteX38" fmla="*/ 33078 w 1424802"/>
              <a:gd name="connsiteY38" fmla="*/ 1456615 h 1650046"/>
              <a:gd name="connsiteX39" fmla="*/ 21355 w 1424802"/>
              <a:gd name="connsiteY39" fmla="*/ 1415584 h 1650046"/>
              <a:gd name="connsiteX40" fmla="*/ 9632 w 1424802"/>
              <a:gd name="connsiteY40" fmla="*/ 1368692 h 1650046"/>
              <a:gd name="connsiteX41" fmla="*/ 9632 w 1424802"/>
              <a:gd name="connsiteY41" fmla="*/ 1169400 h 1650046"/>
              <a:gd name="connsiteX42" fmla="*/ 15493 w 1424802"/>
              <a:gd name="connsiteY42" fmla="*/ 1151815 h 1650046"/>
              <a:gd name="connsiteX43" fmla="*/ 21355 w 1424802"/>
              <a:gd name="connsiteY43" fmla="*/ 1099061 h 1650046"/>
              <a:gd name="connsiteX44" fmla="*/ 27216 w 1424802"/>
              <a:gd name="connsiteY44" fmla="*/ 1081477 h 1650046"/>
              <a:gd name="connsiteX45" fmla="*/ 33078 w 1424802"/>
              <a:gd name="connsiteY45" fmla="*/ 1046307 h 1650046"/>
              <a:gd name="connsiteX46" fmla="*/ 50662 w 1424802"/>
              <a:gd name="connsiteY46" fmla="*/ 1005277 h 1650046"/>
              <a:gd name="connsiteX47" fmla="*/ 62385 w 1424802"/>
              <a:gd name="connsiteY47" fmla="*/ 964246 h 1650046"/>
              <a:gd name="connsiteX48" fmla="*/ 74108 w 1424802"/>
              <a:gd name="connsiteY48" fmla="*/ 940800 h 1650046"/>
              <a:gd name="connsiteX49" fmla="*/ 85832 w 1424802"/>
              <a:gd name="connsiteY49" fmla="*/ 899769 h 1650046"/>
              <a:gd name="connsiteX50" fmla="*/ 91693 w 1424802"/>
              <a:gd name="connsiteY50" fmla="*/ 882184 h 1650046"/>
              <a:gd name="connsiteX51" fmla="*/ 97555 w 1424802"/>
              <a:gd name="connsiteY51" fmla="*/ 852877 h 1650046"/>
              <a:gd name="connsiteX52" fmla="*/ 103416 w 1424802"/>
              <a:gd name="connsiteY52" fmla="*/ 835292 h 1650046"/>
              <a:gd name="connsiteX53" fmla="*/ 102366 w 1424802"/>
              <a:gd name="connsiteY53" fmla="*/ 772661 h 1650046"/>
              <a:gd name="connsiteX54" fmla="*/ 83418 w 1424802"/>
              <a:gd name="connsiteY54" fmla="*/ 661188 h 1650046"/>
              <a:gd name="connsiteX55" fmla="*/ 34270 w 1424802"/>
              <a:gd name="connsiteY5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1091559 w 1424802"/>
              <a:gd name="connsiteY15" fmla="*/ 805354 h 1650046"/>
              <a:gd name="connsiteX16" fmla="*/ 1235657 w 1424802"/>
              <a:gd name="connsiteY16" fmla="*/ 1021434 h 1650046"/>
              <a:gd name="connsiteX17" fmla="*/ 1307706 w 1424802"/>
              <a:gd name="connsiteY17" fmla="*/ 1093461 h 1650046"/>
              <a:gd name="connsiteX18" fmla="*/ 1353869 w 1424802"/>
              <a:gd name="connsiteY18" fmla="*/ 1173135 h 1650046"/>
              <a:gd name="connsiteX19" fmla="*/ 1379755 w 1424802"/>
              <a:gd name="connsiteY19" fmla="*/ 1237514 h 1650046"/>
              <a:gd name="connsiteX20" fmla="*/ 1410539 w 1424802"/>
              <a:gd name="connsiteY20" fmla="*/ 1351107 h 1650046"/>
              <a:gd name="connsiteX21" fmla="*/ 1404287 w 1424802"/>
              <a:gd name="connsiteY21" fmla="*/ 1474733 h 1650046"/>
              <a:gd name="connsiteX22" fmla="*/ 1287447 w 1424802"/>
              <a:gd name="connsiteY22" fmla="*/ 1609015 h 1650046"/>
              <a:gd name="connsiteX23" fmla="*/ 1269862 w 1424802"/>
              <a:gd name="connsiteY23" fmla="*/ 1620738 h 1650046"/>
              <a:gd name="connsiteX24" fmla="*/ 1234693 w 1424802"/>
              <a:gd name="connsiteY24" fmla="*/ 1632461 h 1650046"/>
              <a:gd name="connsiteX25" fmla="*/ 1217108 w 1424802"/>
              <a:gd name="connsiteY25" fmla="*/ 1638323 h 1650046"/>
              <a:gd name="connsiteX26" fmla="*/ 1176078 w 1424802"/>
              <a:gd name="connsiteY26" fmla="*/ 1644184 h 1650046"/>
              <a:gd name="connsiteX27" fmla="*/ 1140908 w 1424802"/>
              <a:gd name="connsiteY27" fmla="*/ 1650046 h 1650046"/>
              <a:gd name="connsiteX28" fmla="*/ 900585 w 1424802"/>
              <a:gd name="connsiteY28" fmla="*/ 1644184 h 1650046"/>
              <a:gd name="connsiteX29" fmla="*/ 883001 w 1424802"/>
              <a:gd name="connsiteY29" fmla="*/ 1638323 h 1650046"/>
              <a:gd name="connsiteX30" fmla="*/ 800939 w 1424802"/>
              <a:gd name="connsiteY30" fmla="*/ 1632461 h 1650046"/>
              <a:gd name="connsiteX31" fmla="*/ 630955 w 1424802"/>
              <a:gd name="connsiteY31" fmla="*/ 1626600 h 1650046"/>
              <a:gd name="connsiteX32" fmla="*/ 572339 w 1424802"/>
              <a:gd name="connsiteY32" fmla="*/ 1620738 h 1650046"/>
              <a:gd name="connsiteX33" fmla="*/ 476812 w 1424802"/>
              <a:gd name="connsiteY33" fmla="*/ 1626600 h 1650046"/>
              <a:gd name="connsiteX34" fmla="*/ 155426 w 1424802"/>
              <a:gd name="connsiteY34" fmla="*/ 1597292 h 1650046"/>
              <a:gd name="connsiteX35" fmla="*/ 83418 w 1424802"/>
              <a:gd name="connsiteY35" fmla="*/ 1525284 h 1650046"/>
              <a:gd name="connsiteX36" fmla="*/ 50662 w 1424802"/>
              <a:gd name="connsiteY36" fmla="*/ 1474200 h 1650046"/>
              <a:gd name="connsiteX37" fmla="*/ 33078 w 1424802"/>
              <a:gd name="connsiteY37" fmla="*/ 1456615 h 1650046"/>
              <a:gd name="connsiteX38" fmla="*/ 21355 w 1424802"/>
              <a:gd name="connsiteY38" fmla="*/ 1415584 h 1650046"/>
              <a:gd name="connsiteX39" fmla="*/ 9632 w 1424802"/>
              <a:gd name="connsiteY39" fmla="*/ 1368692 h 1650046"/>
              <a:gd name="connsiteX40" fmla="*/ 9632 w 1424802"/>
              <a:gd name="connsiteY40" fmla="*/ 1169400 h 1650046"/>
              <a:gd name="connsiteX41" fmla="*/ 15493 w 1424802"/>
              <a:gd name="connsiteY41" fmla="*/ 1151815 h 1650046"/>
              <a:gd name="connsiteX42" fmla="*/ 21355 w 1424802"/>
              <a:gd name="connsiteY42" fmla="*/ 1099061 h 1650046"/>
              <a:gd name="connsiteX43" fmla="*/ 27216 w 1424802"/>
              <a:gd name="connsiteY43" fmla="*/ 1081477 h 1650046"/>
              <a:gd name="connsiteX44" fmla="*/ 33078 w 1424802"/>
              <a:gd name="connsiteY44" fmla="*/ 1046307 h 1650046"/>
              <a:gd name="connsiteX45" fmla="*/ 50662 w 1424802"/>
              <a:gd name="connsiteY45" fmla="*/ 1005277 h 1650046"/>
              <a:gd name="connsiteX46" fmla="*/ 62385 w 1424802"/>
              <a:gd name="connsiteY46" fmla="*/ 964246 h 1650046"/>
              <a:gd name="connsiteX47" fmla="*/ 74108 w 1424802"/>
              <a:gd name="connsiteY47" fmla="*/ 940800 h 1650046"/>
              <a:gd name="connsiteX48" fmla="*/ 85832 w 1424802"/>
              <a:gd name="connsiteY48" fmla="*/ 899769 h 1650046"/>
              <a:gd name="connsiteX49" fmla="*/ 91693 w 1424802"/>
              <a:gd name="connsiteY49" fmla="*/ 882184 h 1650046"/>
              <a:gd name="connsiteX50" fmla="*/ 97555 w 1424802"/>
              <a:gd name="connsiteY50" fmla="*/ 852877 h 1650046"/>
              <a:gd name="connsiteX51" fmla="*/ 103416 w 1424802"/>
              <a:gd name="connsiteY51" fmla="*/ 835292 h 1650046"/>
              <a:gd name="connsiteX52" fmla="*/ 102366 w 1424802"/>
              <a:gd name="connsiteY52" fmla="*/ 772661 h 1650046"/>
              <a:gd name="connsiteX53" fmla="*/ 83418 w 1424802"/>
              <a:gd name="connsiteY53" fmla="*/ 661188 h 1650046"/>
              <a:gd name="connsiteX54" fmla="*/ 34270 w 1424802"/>
              <a:gd name="connsiteY54"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1091559 w 1424802"/>
              <a:gd name="connsiteY14" fmla="*/ 805354 h 1650046"/>
              <a:gd name="connsiteX15" fmla="*/ 1235657 w 1424802"/>
              <a:gd name="connsiteY15" fmla="*/ 1021434 h 1650046"/>
              <a:gd name="connsiteX16" fmla="*/ 1307706 w 1424802"/>
              <a:gd name="connsiteY16" fmla="*/ 1093461 h 1650046"/>
              <a:gd name="connsiteX17" fmla="*/ 1353869 w 1424802"/>
              <a:gd name="connsiteY17" fmla="*/ 1173135 h 1650046"/>
              <a:gd name="connsiteX18" fmla="*/ 1379755 w 1424802"/>
              <a:gd name="connsiteY18" fmla="*/ 1237514 h 1650046"/>
              <a:gd name="connsiteX19" fmla="*/ 1410539 w 1424802"/>
              <a:gd name="connsiteY19" fmla="*/ 1351107 h 1650046"/>
              <a:gd name="connsiteX20" fmla="*/ 1404287 w 1424802"/>
              <a:gd name="connsiteY20" fmla="*/ 1474733 h 1650046"/>
              <a:gd name="connsiteX21" fmla="*/ 1287447 w 1424802"/>
              <a:gd name="connsiteY21" fmla="*/ 1609015 h 1650046"/>
              <a:gd name="connsiteX22" fmla="*/ 1269862 w 1424802"/>
              <a:gd name="connsiteY22" fmla="*/ 1620738 h 1650046"/>
              <a:gd name="connsiteX23" fmla="*/ 1234693 w 1424802"/>
              <a:gd name="connsiteY23" fmla="*/ 1632461 h 1650046"/>
              <a:gd name="connsiteX24" fmla="*/ 1217108 w 1424802"/>
              <a:gd name="connsiteY24" fmla="*/ 1638323 h 1650046"/>
              <a:gd name="connsiteX25" fmla="*/ 1176078 w 1424802"/>
              <a:gd name="connsiteY25" fmla="*/ 1644184 h 1650046"/>
              <a:gd name="connsiteX26" fmla="*/ 1140908 w 1424802"/>
              <a:gd name="connsiteY26" fmla="*/ 1650046 h 1650046"/>
              <a:gd name="connsiteX27" fmla="*/ 900585 w 1424802"/>
              <a:gd name="connsiteY27" fmla="*/ 1644184 h 1650046"/>
              <a:gd name="connsiteX28" fmla="*/ 883001 w 1424802"/>
              <a:gd name="connsiteY28" fmla="*/ 1638323 h 1650046"/>
              <a:gd name="connsiteX29" fmla="*/ 800939 w 1424802"/>
              <a:gd name="connsiteY29" fmla="*/ 1632461 h 1650046"/>
              <a:gd name="connsiteX30" fmla="*/ 630955 w 1424802"/>
              <a:gd name="connsiteY30" fmla="*/ 1626600 h 1650046"/>
              <a:gd name="connsiteX31" fmla="*/ 572339 w 1424802"/>
              <a:gd name="connsiteY31" fmla="*/ 1620738 h 1650046"/>
              <a:gd name="connsiteX32" fmla="*/ 476812 w 1424802"/>
              <a:gd name="connsiteY32" fmla="*/ 1626600 h 1650046"/>
              <a:gd name="connsiteX33" fmla="*/ 155426 w 1424802"/>
              <a:gd name="connsiteY33" fmla="*/ 1597292 h 1650046"/>
              <a:gd name="connsiteX34" fmla="*/ 83418 w 1424802"/>
              <a:gd name="connsiteY34" fmla="*/ 1525284 h 1650046"/>
              <a:gd name="connsiteX35" fmla="*/ 50662 w 1424802"/>
              <a:gd name="connsiteY35" fmla="*/ 1474200 h 1650046"/>
              <a:gd name="connsiteX36" fmla="*/ 33078 w 1424802"/>
              <a:gd name="connsiteY36" fmla="*/ 1456615 h 1650046"/>
              <a:gd name="connsiteX37" fmla="*/ 21355 w 1424802"/>
              <a:gd name="connsiteY37" fmla="*/ 1415584 h 1650046"/>
              <a:gd name="connsiteX38" fmla="*/ 9632 w 1424802"/>
              <a:gd name="connsiteY38" fmla="*/ 1368692 h 1650046"/>
              <a:gd name="connsiteX39" fmla="*/ 9632 w 1424802"/>
              <a:gd name="connsiteY39" fmla="*/ 1169400 h 1650046"/>
              <a:gd name="connsiteX40" fmla="*/ 15493 w 1424802"/>
              <a:gd name="connsiteY40" fmla="*/ 1151815 h 1650046"/>
              <a:gd name="connsiteX41" fmla="*/ 21355 w 1424802"/>
              <a:gd name="connsiteY41" fmla="*/ 1099061 h 1650046"/>
              <a:gd name="connsiteX42" fmla="*/ 27216 w 1424802"/>
              <a:gd name="connsiteY42" fmla="*/ 1081477 h 1650046"/>
              <a:gd name="connsiteX43" fmla="*/ 33078 w 1424802"/>
              <a:gd name="connsiteY43" fmla="*/ 1046307 h 1650046"/>
              <a:gd name="connsiteX44" fmla="*/ 50662 w 1424802"/>
              <a:gd name="connsiteY44" fmla="*/ 1005277 h 1650046"/>
              <a:gd name="connsiteX45" fmla="*/ 62385 w 1424802"/>
              <a:gd name="connsiteY45" fmla="*/ 964246 h 1650046"/>
              <a:gd name="connsiteX46" fmla="*/ 74108 w 1424802"/>
              <a:gd name="connsiteY46" fmla="*/ 940800 h 1650046"/>
              <a:gd name="connsiteX47" fmla="*/ 85832 w 1424802"/>
              <a:gd name="connsiteY47" fmla="*/ 899769 h 1650046"/>
              <a:gd name="connsiteX48" fmla="*/ 91693 w 1424802"/>
              <a:gd name="connsiteY48" fmla="*/ 882184 h 1650046"/>
              <a:gd name="connsiteX49" fmla="*/ 97555 w 1424802"/>
              <a:gd name="connsiteY49" fmla="*/ 852877 h 1650046"/>
              <a:gd name="connsiteX50" fmla="*/ 103416 w 1424802"/>
              <a:gd name="connsiteY50" fmla="*/ 835292 h 1650046"/>
              <a:gd name="connsiteX51" fmla="*/ 102366 w 1424802"/>
              <a:gd name="connsiteY51" fmla="*/ 772661 h 1650046"/>
              <a:gd name="connsiteX52" fmla="*/ 83418 w 1424802"/>
              <a:gd name="connsiteY52" fmla="*/ 661188 h 1650046"/>
              <a:gd name="connsiteX53" fmla="*/ 34270 w 1424802"/>
              <a:gd name="connsiteY53"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1091559 w 1424802"/>
              <a:gd name="connsiteY13" fmla="*/ 805354 h 1650046"/>
              <a:gd name="connsiteX14" fmla="*/ 1235657 w 1424802"/>
              <a:gd name="connsiteY14" fmla="*/ 1021434 h 1650046"/>
              <a:gd name="connsiteX15" fmla="*/ 1307706 w 1424802"/>
              <a:gd name="connsiteY15" fmla="*/ 1093461 h 1650046"/>
              <a:gd name="connsiteX16" fmla="*/ 1353869 w 1424802"/>
              <a:gd name="connsiteY16" fmla="*/ 1173135 h 1650046"/>
              <a:gd name="connsiteX17" fmla="*/ 1379755 w 1424802"/>
              <a:gd name="connsiteY17" fmla="*/ 1237514 h 1650046"/>
              <a:gd name="connsiteX18" fmla="*/ 1410539 w 1424802"/>
              <a:gd name="connsiteY18" fmla="*/ 1351107 h 1650046"/>
              <a:gd name="connsiteX19" fmla="*/ 1404287 w 1424802"/>
              <a:gd name="connsiteY19" fmla="*/ 1474733 h 1650046"/>
              <a:gd name="connsiteX20" fmla="*/ 1287447 w 1424802"/>
              <a:gd name="connsiteY20" fmla="*/ 1609015 h 1650046"/>
              <a:gd name="connsiteX21" fmla="*/ 1269862 w 1424802"/>
              <a:gd name="connsiteY21" fmla="*/ 1620738 h 1650046"/>
              <a:gd name="connsiteX22" fmla="*/ 1234693 w 1424802"/>
              <a:gd name="connsiteY22" fmla="*/ 1632461 h 1650046"/>
              <a:gd name="connsiteX23" fmla="*/ 1217108 w 1424802"/>
              <a:gd name="connsiteY23" fmla="*/ 1638323 h 1650046"/>
              <a:gd name="connsiteX24" fmla="*/ 1176078 w 1424802"/>
              <a:gd name="connsiteY24" fmla="*/ 1644184 h 1650046"/>
              <a:gd name="connsiteX25" fmla="*/ 1140908 w 1424802"/>
              <a:gd name="connsiteY25" fmla="*/ 1650046 h 1650046"/>
              <a:gd name="connsiteX26" fmla="*/ 900585 w 1424802"/>
              <a:gd name="connsiteY26" fmla="*/ 1644184 h 1650046"/>
              <a:gd name="connsiteX27" fmla="*/ 883001 w 1424802"/>
              <a:gd name="connsiteY27" fmla="*/ 1638323 h 1650046"/>
              <a:gd name="connsiteX28" fmla="*/ 800939 w 1424802"/>
              <a:gd name="connsiteY28" fmla="*/ 1632461 h 1650046"/>
              <a:gd name="connsiteX29" fmla="*/ 630955 w 1424802"/>
              <a:gd name="connsiteY29" fmla="*/ 1626600 h 1650046"/>
              <a:gd name="connsiteX30" fmla="*/ 572339 w 1424802"/>
              <a:gd name="connsiteY30" fmla="*/ 1620738 h 1650046"/>
              <a:gd name="connsiteX31" fmla="*/ 476812 w 1424802"/>
              <a:gd name="connsiteY31" fmla="*/ 1626600 h 1650046"/>
              <a:gd name="connsiteX32" fmla="*/ 155426 w 1424802"/>
              <a:gd name="connsiteY32" fmla="*/ 1597292 h 1650046"/>
              <a:gd name="connsiteX33" fmla="*/ 83418 w 1424802"/>
              <a:gd name="connsiteY33" fmla="*/ 1525284 h 1650046"/>
              <a:gd name="connsiteX34" fmla="*/ 50662 w 1424802"/>
              <a:gd name="connsiteY34" fmla="*/ 1474200 h 1650046"/>
              <a:gd name="connsiteX35" fmla="*/ 33078 w 1424802"/>
              <a:gd name="connsiteY35" fmla="*/ 1456615 h 1650046"/>
              <a:gd name="connsiteX36" fmla="*/ 21355 w 1424802"/>
              <a:gd name="connsiteY36" fmla="*/ 1415584 h 1650046"/>
              <a:gd name="connsiteX37" fmla="*/ 9632 w 1424802"/>
              <a:gd name="connsiteY37" fmla="*/ 1368692 h 1650046"/>
              <a:gd name="connsiteX38" fmla="*/ 9632 w 1424802"/>
              <a:gd name="connsiteY38" fmla="*/ 1169400 h 1650046"/>
              <a:gd name="connsiteX39" fmla="*/ 15493 w 1424802"/>
              <a:gd name="connsiteY39" fmla="*/ 1151815 h 1650046"/>
              <a:gd name="connsiteX40" fmla="*/ 21355 w 1424802"/>
              <a:gd name="connsiteY40" fmla="*/ 1099061 h 1650046"/>
              <a:gd name="connsiteX41" fmla="*/ 27216 w 1424802"/>
              <a:gd name="connsiteY41" fmla="*/ 1081477 h 1650046"/>
              <a:gd name="connsiteX42" fmla="*/ 33078 w 1424802"/>
              <a:gd name="connsiteY42" fmla="*/ 1046307 h 1650046"/>
              <a:gd name="connsiteX43" fmla="*/ 50662 w 1424802"/>
              <a:gd name="connsiteY43" fmla="*/ 1005277 h 1650046"/>
              <a:gd name="connsiteX44" fmla="*/ 62385 w 1424802"/>
              <a:gd name="connsiteY44" fmla="*/ 964246 h 1650046"/>
              <a:gd name="connsiteX45" fmla="*/ 74108 w 1424802"/>
              <a:gd name="connsiteY45" fmla="*/ 940800 h 1650046"/>
              <a:gd name="connsiteX46" fmla="*/ 85832 w 1424802"/>
              <a:gd name="connsiteY46" fmla="*/ 899769 h 1650046"/>
              <a:gd name="connsiteX47" fmla="*/ 91693 w 1424802"/>
              <a:gd name="connsiteY47" fmla="*/ 882184 h 1650046"/>
              <a:gd name="connsiteX48" fmla="*/ 97555 w 1424802"/>
              <a:gd name="connsiteY48" fmla="*/ 852877 h 1650046"/>
              <a:gd name="connsiteX49" fmla="*/ 103416 w 1424802"/>
              <a:gd name="connsiteY49" fmla="*/ 835292 h 1650046"/>
              <a:gd name="connsiteX50" fmla="*/ 102366 w 1424802"/>
              <a:gd name="connsiteY50" fmla="*/ 772661 h 1650046"/>
              <a:gd name="connsiteX51" fmla="*/ 83418 w 1424802"/>
              <a:gd name="connsiteY51" fmla="*/ 661188 h 1650046"/>
              <a:gd name="connsiteX52" fmla="*/ 34270 w 1424802"/>
              <a:gd name="connsiteY52"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55426 w 1424802"/>
              <a:gd name="connsiteY31" fmla="*/ 1597292 h 1650046"/>
              <a:gd name="connsiteX32" fmla="*/ 83418 w 1424802"/>
              <a:gd name="connsiteY32" fmla="*/ 1525284 h 1650046"/>
              <a:gd name="connsiteX33" fmla="*/ 50662 w 1424802"/>
              <a:gd name="connsiteY33" fmla="*/ 1474200 h 1650046"/>
              <a:gd name="connsiteX34" fmla="*/ 33078 w 1424802"/>
              <a:gd name="connsiteY34" fmla="*/ 1456615 h 1650046"/>
              <a:gd name="connsiteX35" fmla="*/ 21355 w 1424802"/>
              <a:gd name="connsiteY35" fmla="*/ 1415584 h 1650046"/>
              <a:gd name="connsiteX36" fmla="*/ 9632 w 1424802"/>
              <a:gd name="connsiteY36" fmla="*/ 1368692 h 1650046"/>
              <a:gd name="connsiteX37" fmla="*/ 9632 w 1424802"/>
              <a:gd name="connsiteY37" fmla="*/ 1169400 h 1650046"/>
              <a:gd name="connsiteX38" fmla="*/ 15493 w 1424802"/>
              <a:gd name="connsiteY38" fmla="*/ 1151815 h 1650046"/>
              <a:gd name="connsiteX39" fmla="*/ 21355 w 1424802"/>
              <a:gd name="connsiteY39" fmla="*/ 1099061 h 1650046"/>
              <a:gd name="connsiteX40" fmla="*/ 27216 w 1424802"/>
              <a:gd name="connsiteY40" fmla="*/ 1081477 h 1650046"/>
              <a:gd name="connsiteX41" fmla="*/ 33078 w 1424802"/>
              <a:gd name="connsiteY41" fmla="*/ 1046307 h 1650046"/>
              <a:gd name="connsiteX42" fmla="*/ 50662 w 1424802"/>
              <a:gd name="connsiteY42" fmla="*/ 1005277 h 1650046"/>
              <a:gd name="connsiteX43" fmla="*/ 62385 w 1424802"/>
              <a:gd name="connsiteY43" fmla="*/ 964246 h 1650046"/>
              <a:gd name="connsiteX44" fmla="*/ 74108 w 1424802"/>
              <a:gd name="connsiteY44" fmla="*/ 940800 h 1650046"/>
              <a:gd name="connsiteX45" fmla="*/ 85832 w 1424802"/>
              <a:gd name="connsiteY45" fmla="*/ 899769 h 1650046"/>
              <a:gd name="connsiteX46" fmla="*/ 91693 w 1424802"/>
              <a:gd name="connsiteY46" fmla="*/ 882184 h 1650046"/>
              <a:gd name="connsiteX47" fmla="*/ 97555 w 1424802"/>
              <a:gd name="connsiteY47" fmla="*/ 852877 h 1650046"/>
              <a:gd name="connsiteX48" fmla="*/ 103416 w 1424802"/>
              <a:gd name="connsiteY48" fmla="*/ 835292 h 1650046"/>
              <a:gd name="connsiteX49" fmla="*/ 102366 w 1424802"/>
              <a:gd name="connsiteY49" fmla="*/ 772661 h 1650046"/>
              <a:gd name="connsiteX50" fmla="*/ 83418 w 1424802"/>
              <a:gd name="connsiteY50" fmla="*/ 661188 h 1650046"/>
              <a:gd name="connsiteX51" fmla="*/ 34270 w 1424802"/>
              <a:gd name="connsiteY51"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83418 w 1424802"/>
              <a:gd name="connsiteY31" fmla="*/ 1525284 h 1650046"/>
              <a:gd name="connsiteX32" fmla="*/ 50662 w 1424802"/>
              <a:gd name="connsiteY32" fmla="*/ 1474200 h 1650046"/>
              <a:gd name="connsiteX33" fmla="*/ 33078 w 1424802"/>
              <a:gd name="connsiteY33" fmla="*/ 1456615 h 1650046"/>
              <a:gd name="connsiteX34" fmla="*/ 21355 w 1424802"/>
              <a:gd name="connsiteY34" fmla="*/ 1415584 h 1650046"/>
              <a:gd name="connsiteX35" fmla="*/ 9632 w 1424802"/>
              <a:gd name="connsiteY35" fmla="*/ 1368692 h 1650046"/>
              <a:gd name="connsiteX36" fmla="*/ 9632 w 1424802"/>
              <a:gd name="connsiteY36" fmla="*/ 1169400 h 1650046"/>
              <a:gd name="connsiteX37" fmla="*/ 15493 w 1424802"/>
              <a:gd name="connsiteY37" fmla="*/ 1151815 h 1650046"/>
              <a:gd name="connsiteX38" fmla="*/ 21355 w 1424802"/>
              <a:gd name="connsiteY38" fmla="*/ 1099061 h 1650046"/>
              <a:gd name="connsiteX39" fmla="*/ 27216 w 1424802"/>
              <a:gd name="connsiteY39" fmla="*/ 1081477 h 1650046"/>
              <a:gd name="connsiteX40" fmla="*/ 33078 w 1424802"/>
              <a:gd name="connsiteY40" fmla="*/ 1046307 h 1650046"/>
              <a:gd name="connsiteX41" fmla="*/ 50662 w 1424802"/>
              <a:gd name="connsiteY41" fmla="*/ 1005277 h 1650046"/>
              <a:gd name="connsiteX42" fmla="*/ 62385 w 1424802"/>
              <a:gd name="connsiteY42" fmla="*/ 964246 h 1650046"/>
              <a:gd name="connsiteX43" fmla="*/ 74108 w 1424802"/>
              <a:gd name="connsiteY43" fmla="*/ 940800 h 1650046"/>
              <a:gd name="connsiteX44" fmla="*/ 85832 w 1424802"/>
              <a:gd name="connsiteY44" fmla="*/ 899769 h 1650046"/>
              <a:gd name="connsiteX45" fmla="*/ 91693 w 1424802"/>
              <a:gd name="connsiteY45" fmla="*/ 882184 h 1650046"/>
              <a:gd name="connsiteX46" fmla="*/ 97555 w 1424802"/>
              <a:gd name="connsiteY46" fmla="*/ 852877 h 1650046"/>
              <a:gd name="connsiteX47" fmla="*/ 103416 w 1424802"/>
              <a:gd name="connsiteY47" fmla="*/ 835292 h 1650046"/>
              <a:gd name="connsiteX48" fmla="*/ 102366 w 1424802"/>
              <a:gd name="connsiteY48" fmla="*/ 772661 h 1650046"/>
              <a:gd name="connsiteX49" fmla="*/ 83418 w 1424802"/>
              <a:gd name="connsiteY49" fmla="*/ 661188 h 1650046"/>
              <a:gd name="connsiteX50" fmla="*/ 34270 w 1424802"/>
              <a:gd name="connsiteY50"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50662 w 1424802"/>
              <a:gd name="connsiteY31" fmla="*/ 1474200 h 1650046"/>
              <a:gd name="connsiteX32" fmla="*/ 33078 w 1424802"/>
              <a:gd name="connsiteY32" fmla="*/ 1456615 h 1650046"/>
              <a:gd name="connsiteX33" fmla="*/ 21355 w 1424802"/>
              <a:gd name="connsiteY33" fmla="*/ 1415584 h 1650046"/>
              <a:gd name="connsiteX34" fmla="*/ 9632 w 1424802"/>
              <a:gd name="connsiteY34" fmla="*/ 1368692 h 1650046"/>
              <a:gd name="connsiteX35" fmla="*/ 9632 w 1424802"/>
              <a:gd name="connsiteY35" fmla="*/ 1169400 h 1650046"/>
              <a:gd name="connsiteX36" fmla="*/ 15493 w 1424802"/>
              <a:gd name="connsiteY36" fmla="*/ 1151815 h 1650046"/>
              <a:gd name="connsiteX37" fmla="*/ 21355 w 1424802"/>
              <a:gd name="connsiteY37" fmla="*/ 1099061 h 1650046"/>
              <a:gd name="connsiteX38" fmla="*/ 27216 w 1424802"/>
              <a:gd name="connsiteY38" fmla="*/ 1081477 h 1650046"/>
              <a:gd name="connsiteX39" fmla="*/ 33078 w 1424802"/>
              <a:gd name="connsiteY39" fmla="*/ 1046307 h 1650046"/>
              <a:gd name="connsiteX40" fmla="*/ 50662 w 1424802"/>
              <a:gd name="connsiteY40" fmla="*/ 1005277 h 1650046"/>
              <a:gd name="connsiteX41" fmla="*/ 62385 w 1424802"/>
              <a:gd name="connsiteY41" fmla="*/ 964246 h 1650046"/>
              <a:gd name="connsiteX42" fmla="*/ 74108 w 1424802"/>
              <a:gd name="connsiteY42" fmla="*/ 940800 h 1650046"/>
              <a:gd name="connsiteX43" fmla="*/ 85832 w 1424802"/>
              <a:gd name="connsiteY43" fmla="*/ 899769 h 1650046"/>
              <a:gd name="connsiteX44" fmla="*/ 91693 w 1424802"/>
              <a:gd name="connsiteY44" fmla="*/ 882184 h 1650046"/>
              <a:gd name="connsiteX45" fmla="*/ 97555 w 1424802"/>
              <a:gd name="connsiteY45" fmla="*/ 852877 h 1650046"/>
              <a:gd name="connsiteX46" fmla="*/ 103416 w 1424802"/>
              <a:gd name="connsiteY46" fmla="*/ 835292 h 1650046"/>
              <a:gd name="connsiteX47" fmla="*/ 102366 w 1424802"/>
              <a:gd name="connsiteY47" fmla="*/ 772661 h 1650046"/>
              <a:gd name="connsiteX48" fmla="*/ 83418 w 1424802"/>
              <a:gd name="connsiteY48" fmla="*/ 661188 h 1650046"/>
              <a:gd name="connsiteX49" fmla="*/ 34270 w 1424802"/>
              <a:gd name="connsiteY4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50662 w 1424802"/>
              <a:gd name="connsiteY31" fmla="*/ 1474200 h 1650046"/>
              <a:gd name="connsiteX32" fmla="*/ 69040 w 1424802"/>
              <a:gd name="connsiteY32" fmla="*/ 1434124 h 1650046"/>
              <a:gd name="connsiteX33" fmla="*/ 21355 w 1424802"/>
              <a:gd name="connsiteY33" fmla="*/ 1415584 h 1650046"/>
              <a:gd name="connsiteX34" fmla="*/ 9632 w 1424802"/>
              <a:gd name="connsiteY34" fmla="*/ 1368692 h 1650046"/>
              <a:gd name="connsiteX35" fmla="*/ 9632 w 1424802"/>
              <a:gd name="connsiteY35" fmla="*/ 1169400 h 1650046"/>
              <a:gd name="connsiteX36" fmla="*/ 15493 w 1424802"/>
              <a:gd name="connsiteY36" fmla="*/ 1151815 h 1650046"/>
              <a:gd name="connsiteX37" fmla="*/ 21355 w 1424802"/>
              <a:gd name="connsiteY37" fmla="*/ 1099061 h 1650046"/>
              <a:gd name="connsiteX38" fmla="*/ 27216 w 1424802"/>
              <a:gd name="connsiteY38" fmla="*/ 1081477 h 1650046"/>
              <a:gd name="connsiteX39" fmla="*/ 33078 w 1424802"/>
              <a:gd name="connsiteY39" fmla="*/ 1046307 h 1650046"/>
              <a:gd name="connsiteX40" fmla="*/ 50662 w 1424802"/>
              <a:gd name="connsiteY40" fmla="*/ 1005277 h 1650046"/>
              <a:gd name="connsiteX41" fmla="*/ 62385 w 1424802"/>
              <a:gd name="connsiteY41" fmla="*/ 964246 h 1650046"/>
              <a:gd name="connsiteX42" fmla="*/ 74108 w 1424802"/>
              <a:gd name="connsiteY42" fmla="*/ 940800 h 1650046"/>
              <a:gd name="connsiteX43" fmla="*/ 85832 w 1424802"/>
              <a:gd name="connsiteY43" fmla="*/ 899769 h 1650046"/>
              <a:gd name="connsiteX44" fmla="*/ 91693 w 1424802"/>
              <a:gd name="connsiteY44" fmla="*/ 882184 h 1650046"/>
              <a:gd name="connsiteX45" fmla="*/ 97555 w 1424802"/>
              <a:gd name="connsiteY45" fmla="*/ 852877 h 1650046"/>
              <a:gd name="connsiteX46" fmla="*/ 103416 w 1424802"/>
              <a:gd name="connsiteY46" fmla="*/ 835292 h 1650046"/>
              <a:gd name="connsiteX47" fmla="*/ 102366 w 1424802"/>
              <a:gd name="connsiteY47" fmla="*/ 772661 h 1650046"/>
              <a:gd name="connsiteX48" fmla="*/ 83418 w 1424802"/>
              <a:gd name="connsiteY48" fmla="*/ 661188 h 1650046"/>
              <a:gd name="connsiteX49" fmla="*/ 34270 w 1424802"/>
              <a:gd name="connsiteY4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19310 w 1424802"/>
              <a:gd name="connsiteY31" fmla="*/ 1468046 h 1650046"/>
              <a:gd name="connsiteX32" fmla="*/ 69040 w 1424802"/>
              <a:gd name="connsiteY32" fmla="*/ 1434124 h 1650046"/>
              <a:gd name="connsiteX33" fmla="*/ 21355 w 1424802"/>
              <a:gd name="connsiteY33" fmla="*/ 1415584 h 1650046"/>
              <a:gd name="connsiteX34" fmla="*/ 9632 w 1424802"/>
              <a:gd name="connsiteY34" fmla="*/ 1368692 h 1650046"/>
              <a:gd name="connsiteX35" fmla="*/ 9632 w 1424802"/>
              <a:gd name="connsiteY35" fmla="*/ 1169400 h 1650046"/>
              <a:gd name="connsiteX36" fmla="*/ 15493 w 1424802"/>
              <a:gd name="connsiteY36" fmla="*/ 1151815 h 1650046"/>
              <a:gd name="connsiteX37" fmla="*/ 21355 w 1424802"/>
              <a:gd name="connsiteY37" fmla="*/ 1099061 h 1650046"/>
              <a:gd name="connsiteX38" fmla="*/ 27216 w 1424802"/>
              <a:gd name="connsiteY38" fmla="*/ 1081477 h 1650046"/>
              <a:gd name="connsiteX39" fmla="*/ 33078 w 1424802"/>
              <a:gd name="connsiteY39" fmla="*/ 1046307 h 1650046"/>
              <a:gd name="connsiteX40" fmla="*/ 50662 w 1424802"/>
              <a:gd name="connsiteY40" fmla="*/ 1005277 h 1650046"/>
              <a:gd name="connsiteX41" fmla="*/ 62385 w 1424802"/>
              <a:gd name="connsiteY41" fmla="*/ 964246 h 1650046"/>
              <a:gd name="connsiteX42" fmla="*/ 74108 w 1424802"/>
              <a:gd name="connsiteY42" fmla="*/ 940800 h 1650046"/>
              <a:gd name="connsiteX43" fmla="*/ 85832 w 1424802"/>
              <a:gd name="connsiteY43" fmla="*/ 899769 h 1650046"/>
              <a:gd name="connsiteX44" fmla="*/ 91693 w 1424802"/>
              <a:gd name="connsiteY44" fmla="*/ 882184 h 1650046"/>
              <a:gd name="connsiteX45" fmla="*/ 97555 w 1424802"/>
              <a:gd name="connsiteY45" fmla="*/ 852877 h 1650046"/>
              <a:gd name="connsiteX46" fmla="*/ 103416 w 1424802"/>
              <a:gd name="connsiteY46" fmla="*/ 835292 h 1650046"/>
              <a:gd name="connsiteX47" fmla="*/ 102366 w 1424802"/>
              <a:gd name="connsiteY47" fmla="*/ 772661 h 1650046"/>
              <a:gd name="connsiteX48" fmla="*/ 83418 w 1424802"/>
              <a:gd name="connsiteY48" fmla="*/ 661188 h 1650046"/>
              <a:gd name="connsiteX49" fmla="*/ 34270 w 1424802"/>
              <a:gd name="connsiteY4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19310 w 1424802"/>
              <a:gd name="connsiteY31" fmla="*/ 1468046 h 1650046"/>
              <a:gd name="connsiteX32" fmla="*/ 69040 w 1424802"/>
              <a:gd name="connsiteY32" fmla="*/ 1434124 h 1650046"/>
              <a:gd name="connsiteX33" fmla="*/ 21355 w 1424802"/>
              <a:gd name="connsiteY33" fmla="*/ 1415584 h 1650046"/>
              <a:gd name="connsiteX34" fmla="*/ 52096 w 1424802"/>
              <a:gd name="connsiteY34" fmla="*/ 1340132 h 1650046"/>
              <a:gd name="connsiteX35" fmla="*/ 9632 w 1424802"/>
              <a:gd name="connsiteY35" fmla="*/ 1169400 h 1650046"/>
              <a:gd name="connsiteX36" fmla="*/ 15493 w 1424802"/>
              <a:gd name="connsiteY36" fmla="*/ 1151815 h 1650046"/>
              <a:gd name="connsiteX37" fmla="*/ 21355 w 1424802"/>
              <a:gd name="connsiteY37" fmla="*/ 1099061 h 1650046"/>
              <a:gd name="connsiteX38" fmla="*/ 27216 w 1424802"/>
              <a:gd name="connsiteY38" fmla="*/ 1081477 h 1650046"/>
              <a:gd name="connsiteX39" fmla="*/ 33078 w 1424802"/>
              <a:gd name="connsiteY39" fmla="*/ 1046307 h 1650046"/>
              <a:gd name="connsiteX40" fmla="*/ 50662 w 1424802"/>
              <a:gd name="connsiteY40" fmla="*/ 1005277 h 1650046"/>
              <a:gd name="connsiteX41" fmla="*/ 62385 w 1424802"/>
              <a:gd name="connsiteY41" fmla="*/ 964246 h 1650046"/>
              <a:gd name="connsiteX42" fmla="*/ 74108 w 1424802"/>
              <a:gd name="connsiteY42" fmla="*/ 940800 h 1650046"/>
              <a:gd name="connsiteX43" fmla="*/ 85832 w 1424802"/>
              <a:gd name="connsiteY43" fmla="*/ 899769 h 1650046"/>
              <a:gd name="connsiteX44" fmla="*/ 91693 w 1424802"/>
              <a:gd name="connsiteY44" fmla="*/ 882184 h 1650046"/>
              <a:gd name="connsiteX45" fmla="*/ 97555 w 1424802"/>
              <a:gd name="connsiteY45" fmla="*/ 852877 h 1650046"/>
              <a:gd name="connsiteX46" fmla="*/ 103416 w 1424802"/>
              <a:gd name="connsiteY46" fmla="*/ 835292 h 1650046"/>
              <a:gd name="connsiteX47" fmla="*/ 102366 w 1424802"/>
              <a:gd name="connsiteY47" fmla="*/ 772661 h 1650046"/>
              <a:gd name="connsiteX48" fmla="*/ 83418 w 1424802"/>
              <a:gd name="connsiteY48" fmla="*/ 661188 h 1650046"/>
              <a:gd name="connsiteX49" fmla="*/ 34270 w 1424802"/>
              <a:gd name="connsiteY4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19310 w 1424802"/>
              <a:gd name="connsiteY31" fmla="*/ 1468046 h 1650046"/>
              <a:gd name="connsiteX32" fmla="*/ 69040 w 1424802"/>
              <a:gd name="connsiteY32" fmla="*/ 1434124 h 1650046"/>
              <a:gd name="connsiteX33" fmla="*/ 52096 w 1424802"/>
              <a:gd name="connsiteY33" fmla="*/ 1340132 h 1650046"/>
              <a:gd name="connsiteX34" fmla="*/ 9632 w 1424802"/>
              <a:gd name="connsiteY34" fmla="*/ 1169400 h 1650046"/>
              <a:gd name="connsiteX35" fmla="*/ 15493 w 1424802"/>
              <a:gd name="connsiteY35" fmla="*/ 1151815 h 1650046"/>
              <a:gd name="connsiteX36" fmla="*/ 21355 w 1424802"/>
              <a:gd name="connsiteY36" fmla="*/ 1099061 h 1650046"/>
              <a:gd name="connsiteX37" fmla="*/ 27216 w 1424802"/>
              <a:gd name="connsiteY37" fmla="*/ 1081477 h 1650046"/>
              <a:gd name="connsiteX38" fmla="*/ 33078 w 1424802"/>
              <a:gd name="connsiteY38" fmla="*/ 1046307 h 1650046"/>
              <a:gd name="connsiteX39" fmla="*/ 50662 w 1424802"/>
              <a:gd name="connsiteY39" fmla="*/ 1005277 h 1650046"/>
              <a:gd name="connsiteX40" fmla="*/ 62385 w 1424802"/>
              <a:gd name="connsiteY40" fmla="*/ 964246 h 1650046"/>
              <a:gd name="connsiteX41" fmla="*/ 74108 w 1424802"/>
              <a:gd name="connsiteY41" fmla="*/ 940800 h 1650046"/>
              <a:gd name="connsiteX42" fmla="*/ 85832 w 1424802"/>
              <a:gd name="connsiteY42" fmla="*/ 899769 h 1650046"/>
              <a:gd name="connsiteX43" fmla="*/ 91693 w 1424802"/>
              <a:gd name="connsiteY43" fmla="*/ 882184 h 1650046"/>
              <a:gd name="connsiteX44" fmla="*/ 97555 w 1424802"/>
              <a:gd name="connsiteY44" fmla="*/ 852877 h 1650046"/>
              <a:gd name="connsiteX45" fmla="*/ 103416 w 1424802"/>
              <a:gd name="connsiteY45" fmla="*/ 835292 h 1650046"/>
              <a:gd name="connsiteX46" fmla="*/ 102366 w 1424802"/>
              <a:gd name="connsiteY46" fmla="*/ 772661 h 1650046"/>
              <a:gd name="connsiteX47" fmla="*/ 83418 w 1424802"/>
              <a:gd name="connsiteY47" fmla="*/ 661188 h 1650046"/>
              <a:gd name="connsiteX48" fmla="*/ 34270 w 1424802"/>
              <a:gd name="connsiteY4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19310 w 1424802"/>
              <a:gd name="connsiteY31" fmla="*/ 1468046 h 1650046"/>
              <a:gd name="connsiteX32" fmla="*/ 88685 w 1424802"/>
              <a:gd name="connsiteY32" fmla="*/ 1418160 h 1650046"/>
              <a:gd name="connsiteX33" fmla="*/ 52096 w 1424802"/>
              <a:gd name="connsiteY33" fmla="*/ 1340132 h 1650046"/>
              <a:gd name="connsiteX34" fmla="*/ 9632 w 1424802"/>
              <a:gd name="connsiteY34" fmla="*/ 1169400 h 1650046"/>
              <a:gd name="connsiteX35" fmla="*/ 15493 w 1424802"/>
              <a:gd name="connsiteY35" fmla="*/ 1151815 h 1650046"/>
              <a:gd name="connsiteX36" fmla="*/ 21355 w 1424802"/>
              <a:gd name="connsiteY36" fmla="*/ 1099061 h 1650046"/>
              <a:gd name="connsiteX37" fmla="*/ 27216 w 1424802"/>
              <a:gd name="connsiteY37" fmla="*/ 1081477 h 1650046"/>
              <a:gd name="connsiteX38" fmla="*/ 33078 w 1424802"/>
              <a:gd name="connsiteY38" fmla="*/ 1046307 h 1650046"/>
              <a:gd name="connsiteX39" fmla="*/ 50662 w 1424802"/>
              <a:gd name="connsiteY39" fmla="*/ 1005277 h 1650046"/>
              <a:gd name="connsiteX40" fmla="*/ 62385 w 1424802"/>
              <a:gd name="connsiteY40" fmla="*/ 964246 h 1650046"/>
              <a:gd name="connsiteX41" fmla="*/ 74108 w 1424802"/>
              <a:gd name="connsiteY41" fmla="*/ 940800 h 1650046"/>
              <a:gd name="connsiteX42" fmla="*/ 85832 w 1424802"/>
              <a:gd name="connsiteY42" fmla="*/ 899769 h 1650046"/>
              <a:gd name="connsiteX43" fmla="*/ 91693 w 1424802"/>
              <a:gd name="connsiteY43" fmla="*/ 882184 h 1650046"/>
              <a:gd name="connsiteX44" fmla="*/ 97555 w 1424802"/>
              <a:gd name="connsiteY44" fmla="*/ 852877 h 1650046"/>
              <a:gd name="connsiteX45" fmla="*/ 103416 w 1424802"/>
              <a:gd name="connsiteY45" fmla="*/ 835292 h 1650046"/>
              <a:gd name="connsiteX46" fmla="*/ 102366 w 1424802"/>
              <a:gd name="connsiteY46" fmla="*/ 772661 h 1650046"/>
              <a:gd name="connsiteX47" fmla="*/ 83418 w 1424802"/>
              <a:gd name="connsiteY47" fmla="*/ 661188 h 1650046"/>
              <a:gd name="connsiteX48" fmla="*/ 34270 w 1424802"/>
              <a:gd name="connsiteY4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7085 w 1424802"/>
              <a:gd name="connsiteY30" fmla="*/ 1597620 h 1650046"/>
              <a:gd name="connsiteX31" fmla="*/ 119310 w 1424802"/>
              <a:gd name="connsiteY31" fmla="*/ 1468046 h 1650046"/>
              <a:gd name="connsiteX32" fmla="*/ 88685 w 1424802"/>
              <a:gd name="connsiteY32" fmla="*/ 1418160 h 1650046"/>
              <a:gd name="connsiteX33" fmla="*/ 52096 w 1424802"/>
              <a:gd name="connsiteY33" fmla="*/ 1340132 h 1650046"/>
              <a:gd name="connsiteX34" fmla="*/ 9632 w 1424802"/>
              <a:gd name="connsiteY34" fmla="*/ 1169400 h 1650046"/>
              <a:gd name="connsiteX35" fmla="*/ 15493 w 1424802"/>
              <a:gd name="connsiteY35" fmla="*/ 1151815 h 1650046"/>
              <a:gd name="connsiteX36" fmla="*/ 21355 w 1424802"/>
              <a:gd name="connsiteY36" fmla="*/ 1099061 h 1650046"/>
              <a:gd name="connsiteX37" fmla="*/ 27216 w 1424802"/>
              <a:gd name="connsiteY37" fmla="*/ 1081477 h 1650046"/>
              <a:gd name="connsiteX38" fmla="*/ 33078 w 1424802"/>
              <a:gd name="connsiteY38" fmla="*/ 1046307 h 1650046"/>
              <a:gd name="connsiteX39" fmla="*/ 50662 w 1424802"/>
              <a:gd name="connsiteY39" fmla="*/ 1005277 h 1650046"/>
              <a:gd name="connsiteX40" fmla="*/ 62385 w 1424802"/>
              <a:gd name="connsiteY40" fmla="*/ 964246 h 1650046"/>
              <a:gd name="connsiteX41" fmla="*/ 74108 w 1424802"/>
              <a:gd name="connsiteY41" fmla="*/ 940800 h 1650046"/>
              <a:gd name="connsiteX42" fmla="*/ 85832 w 1424802"/>
              <a:gd name="connsiteY42" fmla="*/ 899769 h 1650046"/>
              <a:gd name="connsiteX43" fmla="*/ 91693 w 1424802"/>
              <a:gd name="connsiteY43" fmla="*/ 882184 h 1650046"/>
              <a:gd name="connsiteX44" fmla="*/ 97555 w 1424802"/>
              <a:gd name="connsiteY44" fmla="*/ 852877 h 1650046"/>
              <a:gd name="connsiteX45" fmla="*/ 103416 w 1424802"/>
              <a:gd name="connsiteY45" fmla="*/ 835292 h 1650046"/>
              <a:gd name="connsiteX46" fmla="*/ 102366 w 1424802"/>
              <a:gd name="connsiteY46" fmla="*/ 772661 h 1650046"/>
              <a:gd name="connsiteX47" fmla="*/ 83418 w 1424802"/>
              <a:gd name="connsiteY47" fmla="*/ 661188 h 1650046"/>
              <a:gd name="connsiteX48" fmla="*/ 34270 w 1424802"/>
              <a:gd name="connsiteY4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185128 w 1424802"/>
              <a:gd name="connsiteY22" fmla="*/ 159301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7085 w 1424802"/>
              <a:gd name="connsiteY30" fmla="*/ 1597620 h 1650046"/>
              <a:gd name="connsiteX31" fmla="*/ 119310 w 1424802"/>
              <a:gd name="connsiteY31" fmla="*/ 1468046 h 1650046"/>
              <a:gd name="connsiteX32" fmla="*/ 88685 w 1424802"/>
              <a:gd name="connsiteY32" fmla="*/ 1418160 h 1650046"/>
              <a:gd name="connsiteX33" fmla="*/ 52096 w 1424802"/>
              <a:gd name="connsiteY33" fmla="*/ 1340132 h 1650046"/>
              <a:gd name="connsiteX34" fmla="*/ 9632 w 1424802"/>
              <a:gd name="connsiteY34" fmla="*/ 1169400 h 1650046"/>
              <a:gd name="connsiteX35" fmla="*/ 15493 w 1424802"/>
              <a:gd name="connsiteY35" fmla="*/ 1151815 h 1650046"/>
              <a:gd name="connsiteX36" fmla="*/ 21355 w 1424802"/>
              <a:gd name="connsiteY36" fmla="*/ 1099061 h 1650046"/>
              <a:gd name="connsiteX37" fmla="*/ 27216 w 1424802"/>
              <a:gd name="connsiteY37" fmla="*/ 1081477 h 1650046"/>
              <a:gd name="connsiteX38" fmla="*/ 33078 w 1424802"/>
              <a:gd name="connsiteY38" fmla="*/ 1046307 h 1650046"/>
              <a:gd name="connsiteX39" fmla="*/ 50662 w 1424802"/>
              <a:gd name="connsiteY39" fmla="*/ 1005277 h 1650046"/>
              <a:gd name="connsiteX40" fmla="*/ 62385 w 1424802"/>
              <a:gd name="connsiteY40" fmla="*/ 964246 h 1650046"/>
              <a:gd name="connsiteX41" fmla="*/ 74108 w 1424802"/>
              <a:gd name="connsiteY41" fmla="*/ 940800 h 1650046"/>
              <a:gd name="connsiteX42" fmla="*/ 85832 w 1424802"/>
              <a:gd name="connsiteY42" fmla="*/ 899769 h 1650046"/>
              <a:gd name="connsiteX43" fmla="*/ 91693 w 1424802"/>
              <a:gd name="connsiteY43" fmla="*/ 882184 h 1650046"/>
              <a:gd name="connsiteX44" fmla="*/ 97555 w 1424802"/>
              <a:gd name="connsiteY44" fmla="*/ 852877 h 1650046"/>
              <a:gd name="connsiteX45" fmla="*/ 103416 w 1424802"/>
              <a:gd name="connsiteY45" fmla="*/ 835292 h 1650046"/>
              <a:gd name="connsiteX46" fmla="*/ 102366 w 1424802"/>
              <a:gd name="connsiteY46" fmla="*/ 772661 h 1650046"/>
              <a:gd name="connsiteX47" fmla="*/ 83418 w 1424802"/>
              <a:gd name="connsiteY47" fmla="*/ 661188 h 1650046"/>
              <a:gd name="connsiteX48" fmla="*/ 34270 w 1424802"/>
              <a:gd name="connsiteY48" fmla="*/ 481795 h 1650046"/>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287447 w 1424802"/>
              <a:gd name="connsiteY19" fmla="*/ 1609015 h 1647823"/>
              <a:gd name="connsiteX20" fmla="*/ 1269862 w 1424802"/>
              <a:gd name="connsiteY20" fmla="*/ 1620738 h 1647823"/>
              <a:gd name="connsiteX21" fmla="*/ 1234693 w 1424802"/>
              <a:gd name="connsiteY21" fmla="*/ 1632461 h 1647823"/>
              <a:gd name="connsiteX22" fmla="*/ 1185128 w 1424802"/>
              <a:gd name="connsiteY22" fmla="*/ 1593013 h 1647823"/>
              <a:gd name="connsiteX23" fmla="*/ 1176078 w 1424802"/>
              <a:gd name="connsiteY23" fmla="*/ 1644184 h 1647823"/>
              <a:gd name="connsiteX24" fmla="*/ 1112152 w 1424802"/>
              <a:gd name="connsiteY24" fmla="*/ 1601472 h 1647823"/>
              <a:gd name="connsiteX25" fmla="*/ 900585 w 1424802"/>
              <a:gd name="connsiteY25" fmla="*/ 1644184 h 1647823"/>
              <a:gd name="connsiteX26" fmla="*/ 883001 w 1424802"/>
              <a:gd name="connsiteY26" fmla="*/ 1638323 h 1647823"/>
              <a:gd name="connsiteX27" fmla="*/ 800939 w 1424802"/>
              <a:gd name="connsiteY27" fmla="*/ 1632461 h 1647823"/>
              <a:gd name="connsiteX28" fmla="*/ 630955 w 1424802"/>
              <a:gd name="connsiteY28" fmla="*/ 1626600 h 1647823"/>
              <a:gd name="connsiteX29" fmla="*/ 572339 w 1424802"/>
              <a:gd name="connsiteY29" fmla="*/ 1620738 h 1647823"/>
              <a:gd name="connsiteX30" fmla="*/ 477085 w 1424802"/>
              <a:gd name="connsiteY30" fmla="*/ 1597620 h 1647823"/>
              <a:gd name="connsiteX31" fmla="*/ 119310 w 1424802"/>
              <a:gd name="connsiteY31" fmla="*/ 1468046 h 1647823"/>
              <a:gd name="connsiteX32" fmla="*/ 88685 w 1424802"/>
              <a:gd name="connsiteY32" fmla="*/ 1418160 h 1647823"/>
              <a:gd name="connsiteX33" fmla="*/ 52096 w 1424802"/>
              <a:gd name="connsiteY33" fmla="*/ 1340132 h 1647823"/>
              <a:gd name="connsiteX34" fmla="*/ 9632 w 1424802"/>
              <a:gd name="connsiteY34" fmla="*/ 1169400 h 1647823"/>
              <a:gd name="connsiteX35" fmla="*/ 15493 w 1424802"/>
              <a:gd name="connsiteY35" fmla="*/ 1151815 h 1647823"/>
              <a:gd name="connsiteX36" fmla="*/ 21355 w 1424802"/>
              <a:gd name="connsiteY36" fmla="*/ 1099061 h 1647823"/>
              <a:gd name="connsiteX37" fmla="*/ 27216 w 1424802"/>
              <a:gd name="connsiteY37" fmla="*/ 1081477 h 1647823"/>
              <a:gd name="connsiteX38" fmla="*/ 33078 w 1424802"/>
              <a:gd name="connsiteY38" fmla="*/ 1046307 h 1647823"/>
              <a:gd name="connsiteX39" fmla="*/ 50662 w 1424802"/>
              <a:gd name="connsiteY39" fmla="*/ 1005277 h 1647823"/>
              <a:gd name="connsiteX40" fmla="*/ 62385 w 1424802"/>
              <a:gd name="connsiteY40" fmla="*/ 964246 h 1647823"/>
              <a:gd name="connsiteX41" fmla="*/ 74108 w 1424802"/>
              <a:gd name="connsiteY41" fmla="*/ 940800 h 1647823"/>
              <a:gd name="connsiteX42" fmla="*/ 85832 w 1424802"/>
              <a:gd name="connsiteY42" fmla="*/ 899769 h 1647823"/>
              <a:gd name="connsiteX43" fmla="*/ 91693 w 1424802"/>
              <a:gd name="connsiteY43" fmla="*/ 882184 h 1647823"/>
              <a:gd name="connsiteX44" fmla="*/ 97555 w 1424802"/>
              <a:gd name="connsiteY44" fmla="*/ 852877 h 1647823"/>
              <a:gd name="connsiteX45" fmla="*/ 103416 w 1424802"/>
              <a:gd name="connsiteY45" fmla="*/ 835292 h 1647823"/>
              <a:gd name="connsiteX46" fmla="*/ 102366 w 1424802"/>
              <a:gd name="connsiteY46" fmla="*/ 772661 h 1647823"/>
              <a:gd name="connsiteX47" fmla="*/ 83418 w 1424802"/>
              <a:gd name="connsiteY47" fmla="*/ 661188 h 1647823"/>
              <a:gd name="connsiteX48" fmla="*/ 34270 w 1424802"/>
              <a:gd name="connsiteY48" fmla="*/ 481795 h 1647823"/>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287447 w 1424802"/>
              <a:gd name="connsiteY19" fmla="*/ 1609015 h 1647823"/>
              <a:gd name="connsiteX20" fmla="*/ 1269862 w 1424802"/>
              <a:gd name="connsiteY20" fmla="*/ 1620738 h 1647823"/>
              <a:gd name="connsiteX21" fmla="*/ 1234693 w 1424802"/>
              <a:gd name="connsiteY21" fmla="*/ 1632461 h 1647823"/>
              <a:gd name="connsiteX22" fmla="*/ 1185128 w 1424802"/>
              <a:gd name="connsiteY22" fmla="*/ 1593013 h 1647823"/>
              <a:gd name="connsiteX23" fmla="*/ 1112152 w 1424802"/>
              <a:gd name="connsiteY23" fmla="*/ 1601472 h 1647823"/>
              <a:gd name="connsiteX24" fmla="*/ 900585 w 1424802"/>
              <a:gd name="connsiteY24" fmla="*/ 1644184 h 1647823"/>
              <a:gd name="connsiteX25" fmla="*/ 883001 w 1424802"/>
              <a:gd name="connsiteY25" fmla="*/ 1638323 h 1647823"/>
              <a:gd name="connsiteX26" fmla="*/ 800939 w 1424802"/>
              <a:gd name="connsiteY26" fmla="*/ 1632461 h 1647823"/>
              <a:gd name="connsiteX27" fmla="*/ 630955 w 1424802"/>
              <a:gd name="connsiteY27" fmla="*/ 1626600 h 1647823"/>
              <a:gd name="connsiteX28" fmla="*/ 572339 w 1424802"/>
              <a:gd name="connsiteY28" fmla="*/ 1620738 h 1647823"/>
              <a:gd name="connsiteX29" fmla="*/ 477085 w 1424802"/>
              <a:gd name="connsiteY29" fmla="*/ 1597620 h 1647823"/>
              <a:gd name="connsiteX30" fmla="*/ 119310 w 1424802"/>
              <a:gd name="connsiteY30" fmla="*/ 1468046 h 1647823"/>
              <a:gd name="connsiteX31" fmla="*/ 88685 w 1424802"/>
              <a:gd name="connsiteY31" fmla="*/ 1418160 h 1647823"/>
              <a:gd name="connsiteX32" fmla="*/ 52096 w 1424802"/>
              <a:gd name="connsiteY32" fmla="*/ 1340132 h 1647823"/>
              <a:gd name="connsiteX33" fmla="*/ 9632 w 1424802"/>
              <a:gd name="connsiteY33" fmla="*/ 1169400 h 1647823"/>
              <a:gd name="connsiteX34" fmla="*/ 15493 w 1424802"/>
              <a:gd name="connsiteY34" fmla="*/ 1151815 h 1647823"/>
              <a:gd name="connsiteX35" fmla="*/ 21355 w 1424802"/>
              <a:gd name="connsiteY35" fmla="*/ 1099061 h 1647823"/>
              <a:gd name="connsiteX36" fmla="*/ 27216 w 1424802"/>
              <a:gd name="connsiteY36" fmla="*/ 1081477 h 1647823"/>
              <a:gd name="connsiteX37" fmla="*/ 33078 w 1424802"/>
              <a:gd name="connsiteY37" fmla="*/ 1046307 h 1647823"/>
              <a:gd name="connsiteX38" fmla="*/ 50662 w 1424802"/>
              <a:gd name="connsiteY38" fmla="*/ 1005277 h 1647823"/>
              <a:gd name="connsiteX39" fmla="*/ 62385 w 1424802"/>
              <a:gd name="connsiteY39" fmla="*/ 964246 h 1647823"/>
              <a:gd name="connsiteX40" fmla="*/ 74108 w 1424802"/>
              <a:gd name="connsiteY40" fmla="*/ 940800 h 1647823"/>
              <a:gd name="connsiteX41" fmla="*/ 85832 w 1424802"/>
              <a:gd name="connsiteY41" fmla="*/ 899769 h 1647823"/>
              <a:gd name="connsiteX42" fmla="*/ 91693 w 1424802"/>
              <a:gd name="connsiteY42" fmla="*/ 882184 h 1647823"/>
              <a:gd name="connsiteX43" fmla="*/ 97555 w 1424802"/>
              <a:gd name="connsiteY43" fmla="*/ 852877 h 1647823"/>
              <a:gd name="connsiteX44" fmla="*/ 103416 w 1424802"/>
              <a:gd name="connsiteY44" fmla="*/ 835292 h 1647823"/>
              <a:gd name="connsiteX45" fmla="*/ 102366 w 1424802"/>
              <a:gd name="connsiteY45" fmla="*/ 772661 h 1647823"/>
              <a:gd name="connsiteX46" fmla="*/ 83418 w 1424802"/>
              <a:gd name="connsiteY46" fmla="*/ 661188 h 1647823"/>
              <a:gd name="connsiteX47" fmla="*/ 34270 w 1424802"/>
              <a:gd name="connsiteY47" fmla="*/ 481795 h 1647823"/>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287447 w 1424802"/>
              <a:gd name="connsiteY19" fmla="*/ 1609015 h 1647823"/>
              <a:gd name="connsiteX20" fmla="*/ 1269862 w 1424802"/>
              <a:gd name="connsiteY20" fmla="*/ 1620738 h 1647823"/>
              <a:gd name="connsiteX21" fmla="*/ 1185128 w 1424802"/>
              <a:gd name="connsiteY21" fmla="*/ 1593013 h 1647823"/>
              <a:gd name="connsiteX22" fmla="*/ 1112152 w 1424802"/>
              <a:gd name="connsiteY22" fmla="*/ 1601472 h 1647823"/>
              <a:gd name="connsiteX23" fmla="*/ 900585 w 1424802"/>
              <a:gd name="connsiteY23" fmla="*/ 1644184 h 1647823"/>
              <a:gd name="connsiteX24" fmla="*/ 883001 w 1424802"/>
              <a:gd name="connsiteY24" fmla="*/ 1638323 h 1647823"/>
              <a:gd name="connsiteX25" fmla="*/ 800939 w 1424802"/>
              <a:gd name="connsiteY25" fmla="*/ 1632461 h 1647823"/>
              <a:gd name="connsiteX26" fmla="*/ 630955 w 1424802"/>
              <a:gd name="connsiteY26" fmla="*/ 1626600 h 1647823"/>
              <a:gd name="connsiteX27" fmla="*/ 572339 w 1424802"/>
              <a:gd name="connsiteY27" fmla="*/ 1620738 h 1647823"/>
              <a:gd name="connsiteX28" fmla="*/ 477085 w 1424802"/>
              <a:gd name="connsiteY28" fmla="*/ 1597620 h 1647823"/>
              <a:gd name="connsiteX29" fmla="*/ 119310 w 1424802"/>
              <a:gd name="connsiteY29" fmla="*/ 1468046 h 1647823"/>
              <a:gd name="connsiteX30" fmla="*/ 88685 w 1424802"/>
              <a:gd name="connsiteY30" fmla="*/ 1418160 h 1647823"/>
              <a:gd name="connsiteX31" fmla="*/ 52096 w 1424802"/>
              <a:gd name="connsiteY31" fmla="*/ 1340132 h 1647823"/>
              <a:gd name="connsiteX32" fmla="*/ 9632 w 1424802"/>
              <a:gd name="connsiteY32" fmla="*/ 1169400 h 1647823"/>
              <a:gd name="connsiteX33" fmla="*/ 15493 w 1424802"/>
              <a:gd name="connsiteY33" fmla="*/ 1151815 h 1647823"/>
              <a:gd name="connsiteX34" fmla="*/ 21355 w 1424802"/>
              <a:gd name="connsiteY34" fmla="*/ 1099061 h 1647823"/>
              <a:gd name="connsiteX35" fmla="*/ 27216 w 1424802"/>
              <a:gd name="connsiteY35" fmla="*/ 1081477 h 1647823"/>
              <a:gd name="connsiteX36" fmla="*/ 33078 w 1424802"/>
              <a:gd name="connsiteY36" fmla="*/ 1046307 h 1647823"/>
              <a:gd name="connsiteX37" fmla="*/ 50662 w 1424802"/>
              <a:gd name="connsiteY37" fmla="*/ 1005277 h 1647823"/>
              <a:gd name="connsiteX38" fmla="*/ 62385 w 1424802"/>
              <a:gd name="connsiteY38" fmla="*/ 964246 h 1647823"/>
              <a:gd name="connsiteX39" fmla="*/ 74108 w 1424802"/>
              <a:gd name="connsiteY39" fmla="*/ 940800 h 1647823"/>
              <a:gd name="connsiteX40" fmla="*/ 85832 w 1424802"/>
              <a:gd name="connsiteY40" fmla="*/ 899769 h 1647823"/>
              <a:gd name="connsiteX41" fmla="*/ 91693 w 1424802"/>
              <a:gd name="connsiteY41" fmla="*/ 882184 h 1647823"/>
              <a:gd name="connsiteX42" fmla="*/ 97555 w 1424802"/>
              <a:gd name="connsiteY42" fmla="*/ 852877 h 1647823"/>
              <a:gd name="connsiteX43" fmla="*/ 103416 w 1424802"/>
              <a:gd name="connsiteY43" fmla="*/ 835292 h 1647823"/>
              <a:gd name="connsiteX44" fmla="*/ 102366 w 1424802"/>
              <a:gd name="connsiteY44" fmla="*/ 772661 h 1647823"/>
              <a:gd name="connsiteX45" fmla="*/ 83418 w 1424802"/>
              <a:gd name="connsiteY45" fmla="*/ 661188 h 1647823"/>
              <a:gd name="connsiteX46" fmla="*/ 34270 w 1424802"/>
              <a:gd name="connsiteY46" fmla="*/ 481795 h 1647823"/>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287447 w 1424802"/>
              <a:gd name="connsiteY19" fmla="*/ 1609015 h 1647823"/>
              <a:gd name="connsiteX20" fmla="*/ 1185128 w 1424802"/>
              <a:gd name="connsiteY20" fmla="*/ 1593013 h 1647823"/>
              <a:gd name="connsiteX21" fmla="*/ 1112152 w 1424802"/>
              <a:gd name="connsiteY21" fmla="*/ 1601472 h 1647823"/>
              <a:gd name="connsiteX22" fmla="*/ 900585 w 1424802"/>
              <a:gd name="connsiteY22" fmla="*/ 1644184 h 1647823"/>
              <a:gd name="connsiteX23" fmla="*/ 883001 w 1424802"/>
              <a:gd name="connsiteY23" fmla="*/ 1638323 h 1647823"/>
              <a:gd name="connsiteX24" fmla="*/ 800939 w 1424802"/>
              <a:gd name="connsiteY24" fmla="*/ 1632461 h 1647823"/>
              <a:gd name="connsiteX25" fmla="*/ 630955 w 1424802"/>
              <a:gd name="connsiteY25" fmla="*/ 1626600 h 1647823"/>
              <a:gd name="connsiteX26" fmla="*/ 572339 w 1424802"/>
              <a:gd name="connsiteY26" fmla="*/ 1620738 h 1647823"/>
              <a:gd name="connsiteX27" fmla="*/ 477085 w 1424802"/>
              <a:gd name="connsiteY27" fmla="*/ 1597620 h 1647823"/>
              <a:gd name="connsiteX28" fmla="*/ 119310 w 1424802"/>
              <a:gd name="connsiteY28" fmla="*/ 1468046 h 1647823"/>
              <a:gd name="connsiteX29" fmla="*/ 88685 w 1424802"/>
              <a:gd name="connsiteY29" fmla="*/ 1418160 h 1647823"/>
              <a:gd name="connsiteX30" fmla="*/ 52096 w 1424802"/>
              <a:gd name="connsiteY30" fmla="*/ 1340132 h 1647823"/>
              <a:gd name="connsiteX31" fmla="*/ 9632 w 1424802"/>
              <a:gd name="connsiteY31" fmla="*/ 1169400 h 1647823"/>
              <a:gd name="connsiteX32" fmla="*/ 15493 w 1424802"/>
              <a:gd name="connsiteY32" fmla="*/ 1151815 h 1647823"/>
              <a:gd name="connsiteX33" fmla="*/ 21355 w 1424802"/>
              <a:gd name="connsiteY33" fmla="*/ 1099061 h 1647823"/>
              <a:gd name="connsiteX34" fmla="*/ 27216 w 1424802"/>
              <a:gd name="connsiteY34" fmla="*/ 1081477 h 1647823"/>
              <a:gd name="connsiteX35" fmla="*/ 33078 w 1424802"/>
              <a:gd name="connsiteY35" fmla="*/ 1046307 h 1647823"/>
              <a:gd name="connsiteX36" fmla="*/ 50662 w 1424802"/>
              <a:gd name="connsiteY36" fmla="*/ 1005277 h 1647823"/>
              <a:gd name="connsiteX37" fmla="*/ 62385 w 1424802"/>
              <a:gd name="connsiteY37" fmla="*/ 964246 h 1647823"/>
              <a:gd name="connsiteX38" fmla="*/ 74108 w 1424802"/>
              <a:gd name="connsiteY38" fmla="*/ 940800 h 1647823"/>
              <a:gd name="connsiteX39" fmla="*/ 85832 w 1424802"/>
              <a:gd name="connsiteY39" fmla="*/ 899769 h 1647823"/>
              <a:gd name="connsiteX40" fmla="*/ 91693 w 1424802"/>
              <a:gd name="connsiteY40" fmla="*/ 882184 h 1647823"/>
              <a:gd name="connsiteX41" fmla="*/ 97555 w 1424802"/>
              <a:gd name="connsiteY41" fmla="*/ 852877 h 1647823"/>
              <a:gd name="connsiteX42" fmla="*/ 103416 w 1424802"/>
              <a:gd name="connsiteY42" fmla="*/ 835292 h 1647823"/>
              <a:gd name="connsiteX43" fmla="*/ 102366 w 1424802"/>
              <a:gd name="connsiteY43" fmla="*/ 772661 h 1647823"/>
              <a:gd name="connsiteX44" fmla="*/ 83418 w 1424802"/>
              <a:gd name="connsiteY44" fmla="*/ 661188 h 1647823"/>
              <a:gd name="connsiteX45" fmla="*/ 34270 w 1424802"/>
              <a:gd name="connsiteY45" fmla="*/ 481795 h 1647823"/>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185128 w 1424802"/>
              <a:gd name="connsiteY19" fmla="*/ 1593013 h 1647823"/>
              <a:gd name="connsiteX20" fmla="*/ 1112152 w 1424802"/>
              <a:gd name="connsiteY20" fmla="*/ 1601472 h 1647823"/>
              <a:gd name="connsiteX21" fmla="*/ 900585 w 1424802"/>
              <a:gd name="connsiteY21" fmla="*/ 1644184 h 1647823"/>
              <a:gd name="connsiteX22" fmla="*/ 883001 w 1424802"/>
              <a:gd name="connsiteY22" fmla="*/ 1638323 h 1647823"/>
              <a:gd name="connsiteX23" fmla="*/ 800939 w 1424802"/>
              <a:gd name="connsiteY23" fmla="*/ 1632461 h 1647823"/>
              <a:gd name="connsiteX24" fmla="*/ 630955 w 1424802"/>
              <a:gd name="connsiteY24" fmla="*/ 1626600 h 1647823"/>
              <a:gd name="connsiteX25" fmla="*/ 572339 w 1424802"/>
              <a:gd name="connsiteY25" fmla="*/ 1620738 h 1647823"/>
              <a:gd name="connsiteX26" fmla="*/ 477085 w 1424802"/>
              <a:gd name="connsiteY26" fmla="*/ 1597620 h 1647823"/>
              <a:gd name="connsiteX27" fmla="*/ 119310 w 1424802"/>
              <a:gd name="connsiteY27" fmla="*/ 1468046 h 1647823"/>
              <a:gd name="connsiteX28" fmla="*/ 88685 w 1424802"/>
              <a:gd name="connsiteY28" fmla="*/ 1418160 h 1647823"/>
              <a:gd name="connsiteX29" fmla="*/ 52096 w 1424802"/>
              <a:gd name="connsiteY29" fmla="*/ 1340132 h 1647823"/>
              <a:gd name="connsiteX30" fmla="*/ 9632 w 1424802"/>
              <a:gd name="connsiteY30" fmla="*/ 1169400 h 1647823"/>
              <a:gd name="connsiteX31" fmla="*/ 15493 w 1424802"/>
              <a:gd name="connsiteY31" fmla="*/ 1151815 h 1647823"/>
              <a:gd name="connsiteX32" fmla="*/ 21355 w 1424802"/>
              <a:gd name="connsiteY32" fmla="*/ 1099061 h 1647823"/>
              <a:gd name="connsiteX33" fmla="*/ 27216 w 1424802"/>
              <a:gd name="connsiteY33" fmla="*/ 1081477 h 1647823"/>
              <a:gd name="connsiteX34" fmla="*/ 33078 w 1424802"/>
              <a:gd name="connsiteY34" fmla="*/ 1046307 h 1647823"/>
              <a:gd name="connsiteX35" fmla="*/ 50662 w 1424802"/>
              <a:gd name="connsiteY35" fmla="*/ 1005277 h 1647823"/>
              <a:gd name="connsiteX36" fmla="*/ 62385 w 1424802"/>
              <a:gd name="connsiteY36" fmla="*/ 964246 h 1647823"/>
              <a:gd name="connsiteX37" fmla="*/ 74108 w 1424802"/>
              <a:gd name="connsiteY37" fmla="*/ 940800 h 1647823"/>
              <a:gd name="connsiteX38" fmla="*/ 85832 w 1424802"/>
              <a:gd name="connsiteY38" fmla="*/ 899769 h 1647823"/>
              <a:gd name="connsiteX39" fmla="*/ 91693 w 1424802"/>
              <a:gd name="connsiteY39" fmla="*/ 882184 h 1647823"/>
              <a:gd name="connsiteX40" fmla="*/ 97555 w 1424802"/>
              <a:gd name="connsiteY40" fmla="*/ 852877 h 1647823"/>
              <a:gd name="connsiteX41" fmla="*/ 103416 w 1424802"/>
              <a:gd name="connsiteY41" fmla="*/ 835292 h 1647823"/>
              <a:gd name="connsiteX42" fmla="*/ 102366 w 1424802"/>
              <a:gd name="connsiteY42" fmla="*/ 772661 h 1647823"/>
              <a:gd name="connsiteX43" fmla="*/ 83418 w 1424802"/>
              <a:gd name="connsiteY43" fmla="*/ 661188 h 1647823"/>
              <a:gd name="connsiteX44" fmla="*/ 34270 w 1424802"/>
              <a:gd name="connsiteY44" fmla="*/ 481795 h 1647823"/>
              <a:gd name="connsiteX0" fmla="*/ 34270 w 1415284"/>
              <a:gd name="connsiteY0" fmla="*/ 481795 h 1647823"/>
              <a:gd name="connsiteX1" fmla="*/ 24101 w 1415284"/>
              <a:gd name="connsiteY1" fmla="*/ 373288 h 1647823"/>
              <a:gd name="connsiteX2" fmla="*/ 40439 w 1415284"/>
              <a:gd name="connsiteY2" fmla="*/ 294708 h 1647823"/>
              <a:gd name="connsiteX3" fmla="*/ 105996 w 1415284"/>
              <a:gd name="connsiteY3" fmla="*/ 147354 h 1647823"/>
              <a:gd name="connsiteX4" fmla="*/ 299018 w 1415284"/>
              <a:gd name="connsiteY4" fmla="*/ 13062 h 1647823"/>
              <a:gd name="connsiteX5" fmla="*/ 551506 w 1415284"/>
              <a:gd name="connsiteY5" fmla="*/ 68982 h 1647823"/>
              <a:gd name="connsiteX6" fmla="*/ 620226 w 1415284"/>
              <a:gd name="connsiteY6" fmla="*/ 131022 h 1647823"/>
              <a:gd name="connsiteX7" fmla="*/ 659264 w 1415284"/>
              <a:gd name="connsiteY7" fmla="*/ 157115 h 1647823"/>
              <a:gd name="connsiteX8" fmla="*/ 741534 w 1415284"/>
              <a:gd name="connsiteY8" fmla="*/ 202885 h 1647823"/>
              <a:gd name="connsiteX9" fmla="*/ 824385 w 1415284"/>
              <a:gd name="connsiteY9" fmla="*/ 325338 h 1647823"/>
              <a:gd name="connsiteX10" fmla="*/ 841970 w 1415284"/>
              <a:gd name="connsiteY10" fmla="*/ 342923 h 1647823"/>
              <a:gd name="connsiteX11" fmla="*/ 847832 w 1415284"/>
              <a:gd name="connsiteY11" fmla="*/ 360507 h 1647823"/>
              <a:gd name="connsiteX12" fmla="*/ 1091559 w 1415284"/>
              <a:gd name="connsiteY12" fmla="*/ 805354 h 1647823"/>
              <a:gd name="connsiteX13" fmla="*/ 1235657 w 1415284"/>
              <a:gd name="connsiteY13" fmla="*/ 1021434 h 1647823"/>
              <a:gd name="connsiteX14" fmla="*/ 1307706 w 1415284"/>
              <a:gd name="connsiteY14" fmla="*/ 1093461 h 1647823"/>
              <a:gd name="connsiteX15" fmla="*/ 1353869 w 1415284"/>
              <a:gd name="connsiteY15" fmla="*/ 1173135 h 1647823"/>
              <a:gd name="connsiteX16" fmla="*/ 1379755 w 1415284"/>
              <a:gd name="connsiteY16" fmla="*/ 1237514 h 1647823"/>
              <a:gd name="connsiteX17" fmla="*/ 1410539 w 1415284"/>
              <a:gd name="connsiteY17" fmla="*/ 1351107 h 1647823"/>
              <a:gd name="connsiteX18" fmla="*/ 1382217 w 1415284"/>
              <a:gd name="connsiteY18" fmla="*/ 1471846 h 1647823"/>
              <a:gd name="connsiteX19" fmla="*/ 1185128 w 1415284"/>
              <a:gd name="connsiteY19" fmla="*/ 1593013 h 1647823"/>
              <a:gd name="connsiteX20" fmla="*/ 1112152 w 1415284"/>
              <a:gd name="connsiteY20" fmla="*/ 1601472 h 1647823"/>
              <a:gd name="connsiteX21" fmla="*/ 900585 w 1415284"/>
              <a:gd name="connsiteY21" fmla="*/ 1644184 h 1647823"/>
              <a:gd name="connsiteX22" fmla="*/ 883001 w 1415284"/>
              <a:gd name="connsiteY22" fmla="*/ 1638323 h 1647823"/>
              <a:gd name="connsiteX23" fmla="*/ 800939 w 1415284"/>
              <a:gd name="connsiteY23" fmla="*/ 1632461 h 1647823"/>
              <a:gd name="connsiteX24" fmla="*/ 630955 w 1415284"/>
              <a:gd name="connsiteY24" fmla="*/ 1626600 h 1647823"/>
              <a:gd name="connsiteX25" fmla="*/ 572339 w 1415284"/>
              <a:gd name="connsiteY25" fmla="*/ 1620738 h 1647823"/>
              <a:gd name="connsiteX26" fmla="*/ 477085 w 1415284"/>
              <a:gd name="connsiteY26" fmla="*/ 1597620 h 1647823"/>
              <a:gd name="connsiteX27" fmla="*/ 119310 w 1415284"/>
              <a:gd name="connsiteY27" fmla="*/ 1468046 h 1647823"/>
              <a:gd name="connsiteX28" fmla="*/ 88685 w 1415284"/>
              <a:gd name="connsiteY28" fmla="*/ 1418160 h 1647823"/>
              <a:gd name="connsiteX29" fmla="*/ 52096 w 1415284"/>
              <a:gd name="connsiteY29" fmla="*/ 1340132 h 1647823"/>
              <a:gd name="connsiteX30" fmla="*/ 9632 w 1415284"/>
              <a:gd name="connsiteY30" fmla="*/ 1169400 h 1647823"/>
              <a:gd name="connsiteX31" fmla="*/ 15493 w 1415284"/>
              <a:gd name="connsiteY31" fmla="*/ 1151815 h 1647823"/>
              <a:gd name="connsiteX32" fmla="*/ 21355 w 1415284"/>
              <a:gd name="connsiteY32" fmla="*/ 1099061 h 1647823"/>
              <a:gd name="connsiteX33" fmla="*/ 27216 w 1415284"/>
              <a:gd name="connsiteY33" fmla="*/ 1081477 h 1647823"/>
              <a:gd name="connsiteX34" fmla="*/ 33078 w 1415284"/>
              <a:gd name="connsiteY34" fmla="*/ 1046307 h 1647823"/>
              <a:gd name="connsiteX35" fmla="*/ 50662 w 1415284"/>
              <a:gd name="connsiteY35" fmla="*/ 1005277 h 1647823"/>
              <a:gd name="connsiteX36" fmla="*/ 62385 w 1415284"/>
              <a:gd name="connsiteY36" fmla="*/ 964246 h 1647823"/>
              <a:gd name="connsiteX37" fmla="*/ 74108 w 1415284"/>
              <a:gd name="connsiteY37" fmla="*/ 940800 h 1647823"/>
              <a:gd name="connsiteX38" fmla="*/ 85832 w 1415284"/>
              <a:gd name="connsiteY38" fmla="*/ 899769 h 1647823"/>
              <a:gd name="connsiteX39" fmla="*/ 91693 w 1415284"/>
              <a:gd name="connsiteY39" fmla="*/ 882184 h 1647823"/>
              <a:gd name="connsiteX40" fmla="*/ 97555 w 1415284"/>
              <a:gd name="connsiteY40" fmla="*/ 852877 h 1647823"/>
              <a:gd name="connsiteX41" fmla="*/ 103416 w 1415284"/>
              <a:gd name="connsiteY41" fmla="*/ 835292 h 1647823"/>
              <a:gd name="connsiteX42" fmla="*/ 102366 w 1415284"/>
              <a:gd name="connsiteY42" fmla="*/ 772661 h 1647823"/>
              <a:gd name="connsiteX43" fmla="*/ 83418 w 1415284"/>
              <a:gd name="connsiteY43" fmla="*/ 661188 h 1647823"/>
              <a:gd name="connsiteX44" fmla="*/ 34270 w 1415284"/>
              <a:gd name="connsiteY44" fmla="*/ 481795 h 16478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415284" h="1647823">
                <a:moveTo>
                  <a:pt x="34270" y="481795"/>
                </a:moveTo>
                <a:cubicBezTo>
                  <a:pt x="33776" y="462417"/>
                  <a:pt x="23618" y="401739"/>
                  <a:pt x="24101" y="373288"/>
                </a:cubicBezTo>
                <a:cubicBezTo>
                  <a:pt x="17513" y="343760"/>
                  <a:pt x="26790" y="332364"/>
                  <a:pt x="40439" y="294708"/>
                </a:cubicBezTo>
                <a:cubicBezTo>
                  <a:pt x="64456" y="282704"/>
                  <a:pt x="68379" y="156025"/>
                  <a:pt x="105996" y="147354"/>
                </a:cubicBezTo>
                <a:cubicBezTo>
                  <a:pt x="82806" y="51492"/>
                  <a:pt x="275002" y="25066"/>
                  <a:pt x="299018" y="13062"/>
                </a:cubicBezTo>
                <a:cubicBezTo>
                  <a:pt x="373270" y="0"/>
                  <a:pt x="497972" y="49322"/>
                  <a:pt x="551506" y="68982"/>
                </a:cubicBezTo>
                <a:cubicBezTo>
                  <a:pt x="592513" y="71911"/>
                  <a:pt x="580936" y="122291"/>
                  <a:pt x="620226" y="131022"/>
                </a:cubicBezTo>
                <a:cubicBezTo>
                  <a:pt x="626258" y="132362"/>
                  <a:pt x="653303" y="155489"/>
                  <a:pt x="659264" y="157115"/>
                </a:cubicBezTo>
                <a:cubicBezTo>
                  <a:pt x="683280" y="157115"/>
                  <a:pt x="725737" y="181686"/>
                  <a:pt x="741534" y="202885"/>
                </a:cubicBezTo>
                <a:cubicBezTo>
                  <a:pt x="769054" y="230922"/>
                  <a:pt x="805942" y="294370"/>
                  <a:pt x="824385" y="325338"/>
                </a:cubicBezTo>
                <a:cubicBezTo>
                  <a:pt x="830247" y="331200"/>
                  <a:pt x="837372" y="336026"/>
                  <a:pt x="841970" y="342923"/>
                </a:cubicBezTo>
                <a:cubicBezTo>
                  <a:pt x="845397" y="348064"/>
                  <a:pt x="806234" y="283435"/>
                  <a:pt x="847832" y="360507"/>
                </a:cubicBezTo>
                <a:cubicBezTo>
                  <a:pt x="889430" y="437579"/>
                  <a:pt x="1026922" y="695200"/>
                  <a:pt x="1091559" y="805354"/>
                </a:cubicBezTo>
                <a:cubicBezTo>
                  <a:pt x="1095627" y="853962"/>
                  <a:pt x="1199633" y="973416"/>
                  <a:pt x="1235657" y="1021434"/>
                </a:cubicBezTo>
                <a:cubicBezTo>
                  <a:pt x="1237080" y="1055670"/>
                  <a:pt x="1288004" y="1068178"/>
                  <a:pt x="1307706" y="1093461"/>
                </a:cubicBezTo>
                <a:cubicBezTo>
                  <a:pt x="1315314" y="1146725"/>
                  <a:pt x="1337777" y="1124859"/>
                  <a:pt x="1353869" y="1173135"/>
                </a:cubicBezTo>
                <a:cubicBezTo>
                  <a:pt x="1365877" y="1197144"/>
                  <a:pt x="1370310" y="1207852"/>
                  <a:pt x="1379755" y="1237514"/>
                </a:cubicBezTo>
                <a:cubicBezTo>
                  <a:pt x="1377801" y="1288314"/>
                  <a:pt x="1415284" y="1300491"/>
                  <a:pt x="1410539" y="1351107"/>
                </a:cubicBezTo>
                <a:cubicBezTo>
                  <a:pt x="1394908" y="1415584"/>
                  <a:pt x="1402732" y="1428861"/>
                  <a:pt x="1382217" y="1471846"/>
                </a:cubicBezTo>
                <a:cubicBezTo>
                  <a:pt x="1344649" y="1512164"/>
                  <a:pt x="1233817" y="1571890"/>
                  <a:pt x="1185128" y="1593013"/>
                </a:cubicBezTo>
                <a:cubicBezTo>
                  <a:pt x="1164705" y="1587848"/>
                  <a:pt x="1159576" y="1592944"/>
                  <a:pt x="1112152" y="1601472"/>
                </a:cubicBezTo>
                <a:cubicBezTo>
                  <a:pt x="1032044" y="1599518"/>
                  <a:pt x="980634" y="1647823"/>
                  <a:pt x="900585" y="1644184"/>
                </a:cubicBezTo>
                <a:cubicBezTo>
                  <a:pt x="894413" y="1643903"/>
                  <a:pt x="889137" y="1639045"/>
                  <a:pt x="883001" y="1638323"/>
                </a:cubicBezTo>
                <a:cubicBezTo>
                  <a:pt x="855765" y="1635119"/>
                  <a:pt x="828333" y="1633735"/>
                  <a:pt x="800939" y="1632461"/>
                </a:cubicBezTo>
                <a:cubicBezTo>
                  <a:pt x="744305" y="1629827"/>
                  <a:pt x="687616" y="1628554"/>
                  <a:pt x="630955" y="1626600"/>
                </a:cubicBezTo>
                <a:cubicBezTo>
                  <a:pt x="611416" y="1624646"/>
                  <a:pt x="591639" y="1624357"/>
                  <a:pt x="572339" y="1620738"/>
                </a:cubicBezTo>
                <a:cubicBezTo>
                  <a:pt x="560194" y="1618461"/>
                  <a:pt x="488808" y="1601528"/>
                  <a:pt x="477085" y="1597620"/>
                </a:cubicBezTo>
                <a:cubicBezTo>
                  <a:pt x="390139" y="1573197"/>
                  <a:pt x="193266" y="1496377"/>
                  <a:pt x="119310" y="1468046"/>
                </a:cubicBezTo>
                <a:cubicBezTo>
                  <a:pt x="114003" y="1461678"/>
                  <a:pt x="94546" y="1424022"/>
                  <a:pt x="88685" y="1418160"/>
                </a:cubicBezTo>
                <a:cubicBezTo>
                  <a:pt x="77483" y="1396841"/>
                  <a:pt x="61997" y="1384253"/>
                  <a:pt x="52096" y="1340132"/>
                </a:cubicBezTo>
                <a:cubicBezTo>
                  <a:pt x="43520" y="1245807"/>
                  <a:pt x="0" y="1294619"/>
                  <a:pt x="9632" y="1169400"/>
                </a:cubicBezTo>
                <a:cubicBezTo>
                  <a:pt x="10106" y="1163240"/>
                  <a:pt x="13539" y="1157677"/>
                  <a:pt x="15493" y="1151815"/>
                </a:cubicBezTo>
                <a:cubicBezTo>
                  <a:pt x="17447" y="1134230"/>
                  <a:pt x="18446" y="1116513"/>
                  <a:pt x="21355" y="1099061"/>
                </a:cubicBezTo>
                <a:cubicBezTo>
                  <a:pt x="22371" y="1092967"/>
                  <a:pt x="25876" y="1087508"/>
                  <a:pt x="27216" y="1081477"/>
                </a:cubicBezTo>
                <a:cubicBezTo>
                  <a:pt x="29794" y="1069875"/>
                  <a:pt x="30500" y="1057909"/>
                  <a:pt x="33078" y="1046307"/>
                </a:cubicBezTo>
                <a:cubicBezTo>
                  <a:pt x="37308" y="1027272"/>
                  <a:pt x="42390" y="1024577"/>
                  <a:pt x="50662" y="1005277"/>
                </a:cubicBezTo>
                <a:cubicBezTo>
                  <a:pt x="64837" y="972203"/>
                  <a:pt x="47509" y="1003917"/>
                  <a:pt x="62385" y="964246"/>
                </a:cubicBezTo>
                <a:cubicBezTo>
                  <a:pt x="65453" y="956065"/>
                  <a:pt x="70666" y="948831"/>
                  <a:pt x="74108" y="940800"/>
                </a:cubicBezTo>
                <a:cubicBezTo>
                  <a:pt x="80131" y="926747"/>
                  <a:pt x="81583" y="914640"/>
                  <a:pt x="85832" y="899769"/>
                </a:cubicBezTo>
                <a:cubicBezTo>
                  <a:pt x="87529" y="893828"/>
                  <a:pt x="90194" y="888178"/>
                  <a:pt x="91693" y="882184"/>
                </a:cubicBezTo>
                <a:cubicBezTo>
                  <a:pt x="94109" y="872519"/>
                  <a:pt x="95139" y="862542"/>
                  <a:pt x="97555" y="852877"/>
                </a:cubicBezTo>
                <a:cubicBezTo>
                  <a:pt x="99054" y="846883"/>
                  <a:pt x="101719" y="841233"/>
                  <a:pt x="103416" y="835292"/>
                </a:cubicBezTo>
                <a:cubicBezTo>
                  <a:pt x="105629" y="827546"/>
                  <a:pt x="100618" y="780525"/>
                  <a:pt x="102366" y="772661"/>
                </a:cubicBezTo>
                <a:cubicBezTo>
                  <a:pt x="104527" y="762935"/>
                  <a:pt x="80797" y="670800"/>
                  <a:pt x="83418" y="661188"/>
                </a:cubicBezTo>
                <a:cubicBezTo>
                  <a:pt x="72069" y="612710"/>
                  <a:pt x="44156" y="529778"/>
                  <a:pt x="34270" y="481795"/>
                </a:cubicBezTo>
                <a:close/>
              </a:path>
            </a:pathLst>
          </a:cu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46" name="Line 42"/>
          <p:cNvSpPr>
            <a:spLocks noChangeShapeType="1"/>
          </p:cNvSpPr>
          <p:nvPr/>
        </p:nvSpPr>
        <p:spPr bwMode="auto">
          <a:xfrm>
            <a:off x="3279366" y="2518628"/>
            <a:ext cx="689447" cy="839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7" name="Line 8"/>
          <p:cNvSpPr>
            <a:spLocks noChangeShapeType="1"/>
          </p:cNvSpPr>
          <p:nvPr/>
        </p:nvSpPr>
        <p:spPr bwMode="auto">
          <a:xfrm flipV="1">
            <a:off x="3279366" y="3143716"/>
            <a:ext cx="1666163" cy="5037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8" name="Line 15"/>
          <p:cNvSpPr>
            <a:spLocks noChangeShapeType="1"/>
          </p:cNvSpPr>
          <p:nvPr/>
        </p:nvSpPr>
        <p:spPr bwMode="auto">
          <a:xfrm flipH="1">
            <a:off x="1746697" y="3194095"/>
            <a:ext cx="611715" cy="8583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9" name="Line 16"/>
          <p:cNvSpPr>
            <a:spLocks noChangeShapeType="1"/>
          </p:cNvSpPr>
          <p:nvPr/>
        </p:nvSpPr>
        <p:spPr bwMode="auto">
          <a:xfrm>
            <a:off x="2512186" y="3194095"/>
            <a:ext cx="0" cy="4235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0" name="Line 17"/>
          <p:cNvSpPr>
            <a:spLocks noChangeShapeType="1"/>
          </p:cNvSpPr>
          <p:nvPr/>
        </p:nvSpPr>
        <p:spPr bwMode="auto">
          <a:xfrm flipH="1">
            <a:off x="3953604" y="3194095"/>
            <a:ext cx="934471" cy="4235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1" name="Line 18"/>
          <p:cNvSpPr>
            <a:spLocks noChangeShapeType="1"/>
          </p:cNvSpPr>
          <p:nvPr/>
        </p:nvSpPr>
        <p:spPr bwMode="auto">
          <a:xfrm flipH="1">
            <a:off x="4719093" y="3194095"/>
            <a:ext cx="246714" cy="4235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2" name="Line 19"/>
          <p:cNvSpPr>
            <a:spLocks noChangeShapeType="1"/>
          </p:cNvSpPr>
          <p:nvPr/>
        </p:nvSpPr>
        <p:spPr bwMode="auto">
          <a:xfrm>
            <a:off x="4965807" y="3194095"/>
            <a:ext cx="613405" cy="5933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3" name="Line 20"/>
          <p:cNvSpPr>
            <a:spLocks noChangeShapeType="1"/>
          </p:cNvSpPr>
          <p:nvPr/>
        </p:nvSpPr>
        <p:spPr bwMode="auto">
          <a:xfrm>
            <a:off x="5041848" y="3194095"/>
            <a:ext cx="843221" cy="33960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4" name="Line 23"/>
          <p:cNvSpPr>
            <a:spLocks noChangeShapeType="1"/>
          </p:cNvSpPr>
          <p:nvPr/>
        </p:nvSpPr>
        <p:spPr bwMode="auto">
          <a:xfrm flipH="1">
            <a:off x="3201634" y="2432795"/>
            <a:ext cx="0" cy="6773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55"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15192" y="2940328"/>
            <a:ext cx="474839"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 name="Picture 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67162" y="3447862"/>
            <a:ext cx="474841"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7" name="Picture 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10229" y="3699763"/>
            <a:ext cx="474841"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8"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89277" y="3447862"/>
            <a:ext cx="474839"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9" name="Picture 1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23788" y="3447862"/>
            <a:ext cx="474841"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31295" y="3194095"/>
            <a:ext cx="474841" cy="509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Line 21"/>
          <p:cNvSpPr>
            <a:spLocks noChangeShapeType="1"/>
          </p:cNvSpPr>
          <p:nvPr/>
        </p:nvSpPr>
        <p:spPr bwMode="auto">
          <a:xfrm>
            <a:off x="6253451" y="3617663"/>
            <a:ext cx="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62"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71818" y="3026161"/>
            <a:ext cx="473150" cy="3078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3" name="Picture 1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85223" y="2179028"/>
            <a:ext cx="474841"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5" name="Text Box 27"/>
          <p:cNvSpPr txBox="1">
            <a:spLocks noChangeArrowheads="1"/>
          </p:cNvSpPr>
          <p:nvPr/>
        </p:nvSpPr>
        <p:spPr bwMode="auto">
          <a:xfrm>
            <a:off x="4855888" y="2083866"/>
            <a:ext cx="1303608"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ts val="2400"/>
              </a:lnSpc>
            </a:pPr>
            <a:r>
              <a:rPr lang="zh-CN" altLang="en-US" sz="1600" b="1" dirty="0">
                <a:latin typeface="微软雅黑" panose="020B0503020204020204" pitchFamily="34" charset="-122"/>
                <a:ea typeface="微软雅黑" panose="020B0503020204020204" pitchFamily="34" charset="-122"/>
              </a:rPr>
              <a:t>多播组 </a:t>
            </a: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M</a:t>
            </a:r>
            <a:r>
              <a:rPr lang="en-US" altLang="zh-CN" sz="1600" b="1" baseline="-25000" dirty="0">
                <a:latin typeface="微软雅黑" panose="020B0503020204020204" pitchFamily="34" charset="-122"/>
                <a:ea typeface="微软雅黑" panose="020B0503020204020204" pitchFamily="34" charset="-122"/>
                <a:cs typeface="Times New Roman" panose="02020603050405020304" pitchFamily="18" charset="0"/>
              </a:rPr>
              <a:t>1</a:t>
            </a:r>
            <a:endParaRPr lang="en-US" altLang="zh-CN" sz="1600" b="1" dirty="0">
              <a:latin typeface="微软雅黑" panose="020B0503020204020204" pitchFamily="34" charset="-122"/>
              <a:ea typeface="微软雅黑" panose="020B0503020204020204" pitchFamily="34" charset="-122"/>
              <a:cs typeface="Times New Roman" panose="02020603050405020304" pitchFamily="18" charset="0"/>
            </a:endParaRPr>
          </a:p>
          <a:p>
            <a:pPr algn="ctr" eaLnBrk="1" hangingPunct="1">
              <a:lnSpc>
                <a:spcPts val="2400"/>
              </a:lnSpc>
            </a:pP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(A, B, C)</a:t>
            </a:r>
          </a:p>
        </p:txBody>
      </p:sp>
      <p:sp>
        <p:nvSpPr>
          <p:cNvPr id="66" name="Text Box 32"/>
          <p:cNvSpPr txBox="1">
            <a:spLocks noChangeArrowheads="1"/>
          </p:cNvSpPr>
          <p:nvPr/>
        </p:nvSpPr>
        <p:spPr bwMode="auto">
          <a:xfrm>
            <a:off x="4007910" y="2348829"/>
            <a:ext cx="348270"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A</a:t>
            </a:r>
          </a:p>
        </p:txBody>
      </p:sp>
      <p:sp>
        <p:nvSpPr>
          <p:cNvPr id="67" name="Text Box 33"/>
          <p:cNvSpPr txBox="1">
            <a:spLocks noChangeArrowheads="1"/>
          </p:cNvSpPr>
          <p:nvPr/>
        </p:nvSpPr>
        <p:spPr bwMode="auto">
          <a:xfrm>
            <a:off x="3512444" y="3386192"/>
            <a:ext cx="335078"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a:t>
            </a:r>
          </a:p>
        </p:txBody>
      </p:sp>
      <p:sp>
        <p:nvSpPr>
          <p:cNvPr id="68" name="Text Box 34"/>
          <p:cNvSpPr txBox="1">
            <a:spLocks noChangeArrowheads="1"/>
          </p:cNvSpPr>
          <p:nvPr/>
        </p:nvSpPr>
        <p:spPr bwMode="auto">
          <a:xfrm>
            <a:off x="4303397" y="3378823"/>
            <a:ext cx="331779"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C</a:t>
            </a:r>
          </a:p>
        </p:txBody>
      </p:sp>
      <p:sp>
        <p:nvSpPr>
          <p:cNvPr id="69" name="Text Box 35"/>
          <p:cNvSpPr txBox="1">
            <a:spLocks noChangeArrowheads="1"/>
          </p:cNvSpPr>
          <p:nvPr/>
        </p:nvSpPr>
        <p:spPr bwMode="auto">
          <a:xfrm>
            <a:off x="5149997" y="3645651"/>
            <a:ext cx="356515"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D</a:t>
            </a:r>
          </a:p>
        </p:txBody>
      </p:sp>
      <p:sp>
        <p:nvSpPr>
          <p:cNvPr id="70" name="Text Box 36"/>
          <p:cNvSpPr txBox="1">
            <a:spLocks noChangeArrowheads="1"/>
          </p:cNvSpPr>
          <p:nvPr/>
        </p:nvSpPr>
        <p:spPr bwMode="auto">
          <a:xfrm>
            <a:off x="5501479" y="3110129"/>
            <a:ext cx="310344"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a:t>
            </a:r>
          </a:p>
        </p:txBody>
      </p:sp>
      <p:sp>
        <p:nvSpPr>
          <p:cNvPr id="71" name="Text Box 37"/>
          <p:cNvSpPr txBox="1">
            <a:spLocks noChangeArrowheads="1"/>
          </p:cNvSpPr>
          <p:nvPr/>
        </p:nvSpPr>
        <p:spPr bwMode="auto">
          <a:xfrm>
            <a:off x="1308802" y="2902542"/>
            <a:ext cx="351567"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G</a:t>
            </a:r>
          </a:p>
        </p:txBody>
      </p:sp>
      <p:sp>
        <p:nvSpPr>
          <p:cNvPr id="72" name="Text Box 38"/>
          <p:cNvSpPr txBox="1">
            <a:spLocks noChangeArrowheads="1"/>
          </p:cNvSpPr>
          <p:nvPr/>
        </p:nvSpPr>
        <p:spPr bwMode="auto">
          <a:xfrm>
            <a:off x="2052556" y="3376956"/>
            <a:ext cx="307045"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F</a:t>
            </a:r>
          </a:p>
        </p:txBody>
      </p:sp>
      <p:sp>
        <p:nvSpPr>
          <p:cNvPr id="73" name="Text Box 39"/>
          <p:cNvSpPr txBox="1">
            <a:spLocks noChangeArrowheads="1"/>
          </p:cNvSpPr>
          <p:nvPr/>
        </p:nvSpPr>
        <p:spPr bwMode="auto">
          <a:xfrm>
            <a:off x="3128119" y="2069526"/>
            <a:ext cx="457104"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rPr>
              <a:t>N</a:t>
            </a:r>
            <a:r>
              <a:rPr lang="en-US" altLang="zh-CN" sz="1600" b="1" baseline="-25000" dirty="0">
                <a:solidFill>
                  <a:srgbClr val="0000FF"/>
                </a:solidFill>
                <a:latin typeface="微软雅黑" panose="020B0503020204020204" pitchFamily="34" charset="-122"/>
                <a:ea typeface="微软雅黑" panose="020B0503020204020204" pitchFamily="34" charset="-122"/>
              </a:rPr>
              <a:t>1</a:t>
            </a:r>
          </a:p>
        </p:txBody>
      </p:sp>
      <p:sp>
        <p:nvSpPr>
          <p:cNvPr id="74" name="Text Box 41"/>
          <p:cNvSpPr txBox="1">
            <a:spLocks noChangeArrowheads="1"/>
          </p:cNvSpPr>
          <p:nvPr/>
        </p:nvSpPr>
        <p:spPr bwMode="auto">
          <a:xfrm>
            <a:off x="1992987" y="2647378"/>
            <a:ext cx="457104"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rPr>
              <a:t>N</a:t>
            </a:r>
            <a:r>
              <a:rPr lang="en-US" altLang="zh-CN" sz="1600" b="1" baseline="-25000" dirty="0">
                <a:solidFill>
                  <a:srgbClr val="0000FF"/>
                </a:solidFill>
                <a:latin typeface="微软雅黑" panose="020B0503020204020204" pitchFamily="34" charset="-122"/>
                <a:ea typeface="微软雅黑" panose="020B0503020204020204" pitchFamily="34" charset="-122"/>
              </a:rPr>
              <a:t>3</a:t>
            </a:r>
          </a:p>
        </p:txBody>
      </p:sp>
      <p:sp>
        <p:nvSpPr>
          <p:cNvPr id="75" name="Text Box 43"/>
          <p:cNvSpPr txBox="1">
            <a:spLocks noChangeArrowheads="1"/>
          </p:cNvSpPr>
          <p:nvPr/>
        </p:nvSpPr>
        <p:spPr bwMode="auto">
          <a:xfrm>
            <a:off x="2939711" y="2779203"/>
            <a:ext cx="336727"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990099"/>
                </a:solidFill>
                <a:latin typeface="微软雅黑" panose="020B0503020204020204" pitchFamily="34" charset="-122"/>
                <a:ea typeface="微软雅黑" panose="020B0503020204020204" pitchFamily="34" charset="-122"/>
              </a:rPr>
              <a:t>R</a:t>
            </a:r>
            <a:endParaRPr lang="en-US" altLang="zh-CN" sz="1600" b="1" baseline="-25000" dirty="0">
              <a:solidFill>
                <a:srgbClr val="990099"/>
              </a:solidFill>
              <a:latin typeface="微软雅黑" panose="020B0503020204020204" pitchFamily="34" charset="-122"/>
              <a:ea typeface="微软雅黑" panose="020B0503020204020204" pitchFamily="34" charset="-122"/>
            </a:endParaRPr>
          </a:p>
        </p:txBody>
      </p:sp>
      <p:cxnSp>
        <p:nvCxnSpPr>
          <p:cNvPr id="76" name="直接箭头连接符 75"/>
          <p:cNvCxnSpPr/>
          <p:nvPr/>
        </p:nvCxnSpPr>
        <p:spPr>
          <a:xfrm flipH="1">
            <a:off x="4357472" y="2458918"/>
            <a:ext cx="618475" cy="361991"/>
          </a:xfrm>
          <a:prstGeom prst="straightConnector1">
            <a:avLst/>
          </a:prstGeom>
          <a:ln>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7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773167" y="3065347"/>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0"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282371" y="3026161"/>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1"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95476" y="2371220"/>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92" name="Text Box 40"/>
          <p:cNvSpPr txBox="1">
            <a:spLocks noChangeArrowheads="1"/>
          </p:cNvSpPr>
          <p:nvPr/>
        </p:nvSpPr>
        <p:spPr bwMode="auto">
          <a:xfrm>
            <a:off x="5152681" y="2827811"/>
            <a:ext cx="457104"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rPr>
              <a:t>N</a:t>
            </a:r>
            <a:r>
              <a:rPr lang="en-US" altLang="zh-CN" sz="1600" b="1" baseline="-25000" dirty="0">
                <a:solidFill>
                  <a:srgbClr val="0000FF"/>
                </a:solidFill>
                <a:latin typeface="微软雅黑" panose="020B0503020204020204" pitchFamily="34" charset="-122"/>
                <a:ea typeface="微软雅黑" panose="020B0503020204020204" pitchFamily="34" charset="-122"/>
              </a:rPr>
              <a:t>2</a:t>
            </a:r>
          </a:p>
        </p:txBody>
      </p:sp>
      <p:cxnSp>
        <p:nvCxnSpPr>
          <p:cNvPr id="93" name="直接箭头连接符 92"/>
          <p:cNvCxnSpPr/>
          <p:nvPr/>
        </p:nvCxnSpPr>
        <p:spPr>
          <a:xfrm flipH="1">
            <a:off x="6202756" y="2796652"/>
            <a:ext cx="476530" cy="584036"/>
          </a:xfrm>
          <a:prstGeom prst="straightConnector1">
            <a:avLst/>
          </a:prstGeom>
          <a:ln>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94" name="椭圆 93"/>
          <p:cNvSpPr/>
          <p:nvPr/>
        </p:nvSpPr>
        <p:spPr>
          <a:xfrm rot="1662349">
            <a:off x="1260029" y="2677233"/>
            <a:ext cx="1769243" cy="1438633"/>
          </a:xfrm>
          <a:prstGeom prst="ellipse">
            <a:avLst/>
          </a:prstGeom>
          <a:noFill/>
          <a:ln w="127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95" name="椭圆 94"/>
          <p:cNvSpPr/>
          <p:nvPr/>
        </p:nvSpPr>
        <p:spPr>
          <a:xfrm>
            <a:off x="2665960" y="2095062"/>
            <a:ext cx="1762483" cy="761300"/>
          </a:xfrm>
          <a:prstGeom prst="ellipse">
            <a:avLst/>
          </a:prstGeom>
          <a:noFill/>
          <a:ln w="127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98" name="椭圆 97"/>
          <p:cNvSpPr/>
          <p:nvPr/>
        </p:nvSpPr>
        <p:spPr>
          <a:xfrm>
            <a:off x="3431449" y="2856362"/>
            <a:ext cx="3296840" cy="1490879"/>
          </a:xfrm>
          <a:prstGeom prst="ellipse">
            <a:avLst/>
          </a:prstGeom>
          <a:noFill/>
          <a:ln w="127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112" name="Text Box 27"/>
          <p:cNvSpPr txBox="1">
            <a:spLocks noChangeArrowheads="1"/>
          </p:cNvSpPr>
          <p:nvPr/>
        </p:nvSpPr>
        <p:spPr bwMode="auto">
          <a:xfrm>
            <a:off x="6445963" y="2387899"/>
            <a:ext cx="1303608"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ts val="2400"/>
              </a:lnSpc>
            </a:pPr>
            <a:r>
              <a:rPr lang="zh-CN" altLang="en-US" sz="1600" b="1" dirty="0">
                <a:latin typeface="微软雅黑" panose="020B0503020204020204" pitchFamily="34" charset="-122"/>
                <a:ea typeface="微软雅黑" panose="020B0503020204020204" pitchFamily="34" charset="-122"/>
              </a:rPr>
              <a:t>多播组 </a:t>
            </a: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M</a:t>
            </a:r>
            <a:r>
              <a:rPr lang="en-US" altLang="zh-CN" sz="1600" b="1" baseline="-25000" dirty="0">
                <a:latin typeface="微软雅黑" panose="020B0503020204020204" pitchFamily="34" charset="-122"/>
                <a:ea typeface="微软雅黑" panose="020B0503020204020204" pitchFamily="34" charset="-122"/>
                <a:cs typeface="Times New Roman" panose="02020603050405020304" pitchFamily="18" charset="0"/>
              </a:rPr>
              <a:t>2</a:t>
            </a:r>
            <a:endParaRPr lang="en-US" altLang="zh-CN" sz="1600" b="1" dirty="0">
              <a:latin typeface="微软雅黑" panose="020B0503020204020204" pitchFamily="34" charset="-122"/>
              <a:ea typeface="微软雅黑" panose="020B0503020204020204" pitchFamily="34" charset="-122"/>
              <a:cs typeface="Times New Roman" panose="02020603050405020304" pitchFamily="18" charset="0"/>
            </a:endParaRPr>
          </a:p>
          <a:p>
            <a:pPr algn="ctr" eaLnBrk="1" hangingPunct="1">
              <a:lnSpc>
                <a:spcPts val="2400"/>
              </a:lnSpc>
            </a:pP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(D, E, F)</a:t>
            </a:r>
          </a:p>
        </p:txBody>
      </p:sp>
      <p:sp>
        <p:nvSpPr>
          <p:cNvPr id="5" name="标题 4">
            <a:extLst>
              <a:ext uri="{FF2B5EF4-FFF2-40B4-BE49-F238E27FC236}">
                <a16:creationId xmlns:a16="http://schemas.microsoft.com/office/drawing/2014/main" id="{EA7C3B90-5936-E023-D6B3-B8C201E392ED}"/>
              </a:ext>
            </a:extLst>
          </p:cNvPr>
          <p:cNvSpPr>
            <a:spLocks noGrp="1"/>
          </p:cNvSpPr>
          <p:nvPr>
            <p:ph type="title"/>
          </p:nvPr>
        </p:nvSpPr>
        <p:spPr>
          <a:xfrm>
            <a:off x="486000" y="550723"/>
            <a:ext cx="8172000" cy="338554"/>
          </a:xfrm>
        </p:spPr>
        <p:txBody>
          <a:bodyPr/>
          <a:lstStyle/>
          <a:p>
            <a:r>
              <a:rPr lang="zh-CN" altLang="en-US" dirty="0"/>
              <a:t>多播路由选择协议更为复杂</a:t>
            </a:r>
          </a:p>
        </p:txBody>
      </p:sp>
      <p:sp>
        <p:nvSpPr>
          <p:cNvPr id="2" name="内容占位符 1">
            <a:extLst>
              <a:ext uri="{FF2B5EF4-FFF2-40B4-BE49-F238E27FC236}">
                <a16:creationId xmlns:a16="http://schemas.microsoft.com/office/drawing/2014/main" id="{5CCBDDE6-138D-D41B-BCD1-59831750687E}"/>
              </a:ext>
            </a:extLst>
          </p:cNvPr>
          <p:cNvSpPr>
            <a:spLocks noGrp="1"/>
          </p:cNvSpPr>
          <p:nvPr>
            <p:ph sz="quarter" idx="11"/>
          </p:nvPr>
        </p:nvSpPr>
        <p:spPr>
          <a:xfrm>
            <a:off x="486000" y="900000"/>
            <a:ext cx="8172000" cy="3703500"/>
          </a:xfrm>
        </p:spPr>
        <p:txBody>
          <a:bodyPr/>
          <a:lstStyle/>
          <a:p>
            <a:r>
              <a:rPr lang="zh-CN" altLang="en-US" dirty="0"/>
              <a:t>路由器 </a:t>
            </a:r>
            <a:r>
              <a:rPr lang="en-US" altLang="zh-CN" dirty="0"/>
              <a:t>R </a:t>
            </a:r>
            <a:r>
              <a:rPr lang="zh-CN" altLang="en-US" dirty="0"/>
              <a:t>不应当向网络 </a:t>
            </a:r>
            <a:r>
              <a:rPr lang="en-US" altLang="zh-CN" dirty="0"/>
              <a:t>N3 </a:t>
            </a:r>
            <a:r>
              <a:rPr lang="zh-CN" altLang="en-US" dirty="0"/>
              <a:t>转发多播组 </a:t>
            </a:r>
            <a:r>
              <a:rPr lang="en-US" altLang="zh-CN" dirty="0"/>
              <a:t>M1 </a:t>
            </a:r>
            <a:r>
              <a:rPr lang="zh-CN" altLang="en-US" dirty="0"/>
              <a:t>的分组，因为网络 </a:t>
            </a:r>
            <a:r>
              <a:rPr lang="en-US" altLang="zh-CN" dirty="0"/>
              <a:t>N3 </a:t>
            </a:r>
            <a:r>
              <a:rPr lang="zh-CN" altLang="en-US" dirty="0"/>
              <a:t>上没有多播组 </a:t>
            </a:r>
            <a:r>
              <a:rPr lang="en-US" altLang="zh-CN" dirty="0"/>
              <a:t>M1 </a:t>
            </a:r>
            <a:r>
              <a:rPr lang="zh-CN" altLang="en-US" dirty="0"/>
              <a:t>的成员。</a:t>
            </a:r>
          </a:p>
          <a:p>
            <a:endParaRPr lang="zh-CN" altLang="en-US" dirty="0"/>
          </a:p>
        </p:txBody>
      </p:sp>
    </p:spTree>
    <p:extLst>
      <p:ext uri="{BB962C8B-B14F-4D97-AF65-F5344CB8AC3E}">
        <p14:creationId xmlns:p14="http://schemas.microsoft.com/office/powerpoint/2010/main" val="41318122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D319E3D-E8BA-F09D-B273-C43355B37061}"/>
              </a:ext>
            </a:extLst>
          </p:cNvPr>
          <p:cNvSpPr>
            <a:spLocks noGrp="1"/>
          </p:cNvSpPr>
          <p:nvPr>
            <p:ph type="title"/>
          </p:nvPr>
        </p:nvSpPr>
        <p:spPr>
          <a:xfrm>
            <a:off x="486000" y="550723"/>
            <a:ext cx="8172000" cy="338554"/>
          </a:xfrm>
        </p:spPr>
        <p:txBody>
          <a:bodyPr/>
          <a:lstStyle/>
          <a:p>
            <a:r>
              <a:rPr lang="zh-CN" altLang="en-US" dirty="0"/>
              <a:t>多播路由选择协议更为复杂</a:t>
            </a:r>
          </a:p>
        </p:txBody>
      </p:sp>
      <p:sp>
        <p:nvSpPr>
          <p:cNvPr id="6" name="内容占位符 5">
            <a:extLst>
              <a:ext uri="{FF2B5EF4-FFF2-40B4-BE49-F238E27FC236}">
                <a16:creationId xmlns:a16="http://schemas.microsoft.com/office/drawing/2014/main" id="{3EA3F1FA-BCFF-3590-2E96-CC1B14021F29}"/>
              </a:ext>
            </a:extLst>
          </p:cNvPr>
          <p:cNvSpPr>
            <a:spLocks noGrp="1"/>
          </p:cNvSpPr>
          <p:nvPr>
            <p:ph sz="quarter" idx="11"/>
          </p:nvPr>
        </p:nvSpPr>
        <p:spPr>
          <a:xfrm>
            <a:off x="486000" y="900000"/>
            <a:ext cx="8172000" cy="3703500"/>
          </a:xfrm>
        </p:spPr>
        <p:txBody>
          <a:bodyPr/>
          <a:lstStyle/>
          <a:p>
            <a:r>
              <a:rPr lang="zh-CN" altLang="en-US" dirty="0"/>
              <a:t>多播转发必须动态地适应多播组成员的变化（这时网络拓扑并未发生变化），因为每一台主机可以随时加入或离开一个多播组</a:t>
            </a:r>
            <a:endParaRPr lang="en-US" altLang="zh-CN" dirty="0"/>
          </a:p>
          <a:p>
            <a:r>
              <a:rPr lang="zh-CN" altLang="en-US" dirty="0"/>
              <a:t>多播路由器在转发多播数据报时，不能仅仅根据多播数据报中的目的地址，还要考虑这个多播数据报从什么地方来和要到什么地方去</a:t>
            </a:r>
          </a:p>
          <a:p>
            <a:r>
              <a:rPr lang="zh-CN" altLang="en-US" dirty="0"/>
              <a:t>多播数据报可以由没有加入多播组的主机发出，也可以通过没有组成员的接入网络</a:t>
            </a:r>
          </a:p>
        </p:txBody>
      </p:sp>
    </p:spTree>
    <p:extLst>
      <p:ext uri="{BB962C8B-B14F-4D97-AF65-F5344CB8AC3E}">
        <p14:creationId xmlns:p14="http://schemas.microsoft.com/office/powerpoint/2010/main" val="803002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EA8C730-D9A7-505D-6A94-CFEDF7E41803}"/>
              </a:ext>
            </a:extLst>
          </p:cNvPr>
          <p:cNvSpPr>
            <a:spLocks noGrp="1"/>
          </p:cNvSpPr>
          <p:nvPr>
            <p:ph type="title"/>
          </p:nvPr>
        </p:nvSpPr>
        <p:spPr>
          <a:xfrm>
            <a:off x="486000" y="550723"/>
            <a:ext cx="8172000" cy="338554"/>
          </a:xfrm>
        </p:spPr>
        <p:txBody>
          <a:bodyPr/>
          <a:lstStyle/>
          <a:p>
            <a:r>
              <a:rPr lang="en-US" altLang="zh-CN" dirty="0"/>
              <a:t>2.  </a:t>
            </a:r>
            <a:r>
              <a:rPr lang="zh-CN" altLang="en-US" dirty="0"/>
              <a:t>网际组管理协议 </a:t>
            </a:r>
            <a:r>
              <a:rPr lang="en-US" altLang="zh-CN" dirty="0"/>
              <a:t>IGMP</a:t>
            </a:r>
            <a:endParaRPr lang="zh-CN" altLang="en-US" dirty="0"/>
          </a:p>
        </p:txBody>
      </p:sp>
      <p:sp>
        <p:nvSpPr>
          <p:cNvPr id="6" name="内容占位符 5">
            <a:extLst>
              <a:ext uri="{FF2B5EF4-FFF2-40B4-BE49-F238E27FC236}">
                <a16:creationId xmlns:a16="http://schemas.microsoft.com/office/drawing/2014/main" id="{95C1B489-0B6D-A343-F6FB-1E3E7448AFE6}"/>
              </a:ext>
            </a:extLst>
          </p:cNvPr>
          <p:cNvSpPr>
            <a:spLocks noGrp="1"/>
          </p:cNvSpPr>
          <p:nvPr>
            <p:ph sz="quarter" idx="11"/>
          </p:nvPr>
        </p:nvSpPr>
        <p:spPr>
          <a:xfrm>
            <a:off x="486000" y="900000"/>
            <a:ext cx="8172000" cy="3703500"/>
          </a:xfrm>
        </p:spPr>
        <p:txBody>
          <a:bodyPr/>
          <a:lstStyle/>
          <a:p>
            <a:r>
              <a:rPr lang="en-US" altLang="zh-CN" dirty="0"/>
              <a:t>1989 </a:t>
            </a:r>
            <a:r>
              <a:rPr lang="zh-CN" altLang="en-US" dirty="0"/>
              <a:t>年公布的 </a:t>
            </a:r>
            <a:r>
              <a:rPr lang="en-US" altLang="zh-CN" dirty="0"/>
              <a:t>RFC 1112</a:t>
            </a:r>
            <a:r>
              <a:rPr lang="zh-CN" altLang="en-US" dirty="0"/>
              <a:t>（</a:t>
            </a:r>
            <a:r>
              <a:rPr lang="en-US" altLang="zh-CN" dirty="0"/>
              <a:t>IGMPv1</a:t>
            </a:r>
            <a:r>
              <a:rPr lang="zh-CN" altLang="en-US" dirty="0"/>
              <a:t>）已成为了互联网的标准协议</a:t>
            </a:r>
          </a:p>
          <a:p>
            <a:r>
              <a:rPr lang="en-US" altLang="zh-CN" dirty="0"/>
              <a:t>1997 </a:t>
            </a:r>
            <a:r>
              <a:rPr lang="zh-CN" altLang="en-US" dirty="0"/>
              <a:t>年公布的 </a:t>
            </a:r>
            <a:r>
              <a:rPr lang="en-US" altLang="zh-CN" dirty="0"/>
              <a:t>RFC 2236</a:t>
            </a:r>
            <a:r>
              <a:rPr lang="zh-CN" altLang="en-US" dirty="0"/>
              <a:t>（</a:t>
            </a:r>
            <a:r>
              <a:rPr lang="en-US" altLang="zh-CN" dirty="0"/>
              <a:t>IGMPv2</a:t>
            </a:r>
            <a:r>
              <a:rPr lang="zh-CN" altLang="en-US" dirty="0"/>
              <a:t>，建议标准）对 </a:t>
            </a:r>
            <a:r>
              <a:rPr lang="en-US" altLang="zh-CN" dirty="0"/>
              <a:t>IGMPv1 </a:t>
            </a:r>
            <a:r>
              <a:rPr lang="zh-CN" altLang="en-US" dirty="0"/>
              <a:t>进行了更新</a:t>
            </a:r>
          </a:p>
          <a:p>
            <a:r>
              <a:rPr lang="en-US" altLang="zh-CN" dirty="0"/>
              <a:t>2002 </a:t>
            </a:r>
            <a:r>
              <a:rPr lang="zh-CN" altLang="en-US" dirty="0"/>
              <a:t>年 </a:t>
            </a:r>
            <a:r>
              <a:rPr lang="en-US" altLang="zh-CN" dirty="0"/>
              <a:t>10 </a:t>
            </a:r>
            <a:r>
              <a:rPr lang="zh-CN" altLang="en-US" dirty="0"/>
              <a:t>月公布了 </a:t>
            </a:r>
            <a:r>
              <a:rPr lang="en-US" altLang="zh-CN" dirty="0"/>
              <a:t>RFC 3376</a:t>
            </a:r>
            <a:r>
              <a:rPr lang="zh-CN" altLang="en-US" dirty="0"/>
              <a:t>（</a:t>
            </a:r>
            <a:r>
              <a:rPr lang="en-US" altLang="zh-CN" dirty="0"/>
              <a:t>IGMPv3</a:t>
            </a:r>
            <a:r>
              <a:rPr lang="zh-CN" altLang="en-US" dirty="0"/>
              <a:t>，建议标准）</a:t>
            </a:r>
          </a:p>
          <a:p>
            <a:endParaRPr lang="zh-CN" altLang="en-US" dirty="0"/>
          </a:p>
        </p:txBody>
      </p:sp>
    </p:spTree>
    <p:extLst>
      <p:ext uri="{BB962C8B-B14F-4D97-AF65-F5344CB8AC3E}">
        <p14:creationId xmlns:p14="http://schemas.microsoft.com/office/powerpoint/2010/main" val="23801215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91928C4-F337-2DE8-EF0E-2B2777BC17F6}"/>
              </a:ext>
            </a:extLst>
          </p:cNvPr>
          <p:cNvSpPr>
            <a:spLocks noGrp="1"/>
          </p:cNvSpPr>
          <p:nvPr>
            <p:ph type="title"/>
          </p:nvPr>
        </p:nvSpPr>
        <p:spPr>
          <a:xfrm>
            <a:off x="486000" y="550723"/>
            <a:ext cx="8172000" cy="338554"/>
          </a:xfrm>
        </p:spPr>
        <p:txBody>
          <a:bodyPr/>
          <a:lstStyle/>
          <a:p>
            <a:r>
              <a:rPr lang="en-US" altLang="zh-CN" dirty="0"/>
              <a:t>IGMP </a:t>
            </a:r>
            <a:r>
              <a:rPr lang="zh-CN" altLang="en-US" dirty="0"/>
              <a:t>使用 </a:t>
            </a:r>
            <a:r>
              <a:rPr lang="en-US" altLang="zh-CN" dirty="0"/>
              <a:t>IP </a:t>
            </a:r>
            <a:r>
              <a:rPr lang="zh-CN" altLang="en-US" dirty="0"/>
              <a:t>数据报传递其报文</a:t>
            </a:r>
          </a:p>
        </p:txBody>
      </p:sp>
      <p:sp>
        <p:nvSpPr>
          <p:cNvPr id="6" name="内容占位符 5">
            <a:extLst>
              <a:ext uri="{FF2B5EF4-FFF2-40B4-BE49-F238E27FC236}">
                <a16:creationId xmlns:a16="http://schemas.microsoft.com/office/drawing/2014/main" id="{7D19FBD4-16C3-6522-EB21-1A59E6BA4D56}"/>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IGMP </a:t>
            </a:r>
            <a:r>
              <a:rPr lang="zh-CN" altLang="en-US" dirty="0"/>
              <a:t>报文加上 </a:t>
            </a:r>
            <a:r>
              <a:rPr lang="en-US" altLang="zh-CN" dirty="0"/>
              <a:t>IP </a:t>
            </a:r>
            <a:r>
              <a:rPr lang="zh-CN" altLang="en-US" dirty="0"/>
              <a:t>首部构成 </a:t>
            </a:r>
            <a:r>
              <a:rPr lang="en-US" altLang="zh-CN" dirty="0"/>
              <a:t>IP </a:t>
            </a:r>
            <a:r>
              <a:rPr lang="zh-CN" altLang="en-US" dirty="0"/>
              <a:t>数据报</a:t>
            </a:r>
            <a:endParaRPr lang="en-US" altLang="zh-CN" dirty="0"/>
          </a:p>
          <a:p>
            <a:r>
              <a:rPr lang="zh-CN" altLang="en-US" dirty="0"/>
              <a:t>但 </a:t>
            </a:r>
            <a:r>
              <a:rPr lang="en-US" altLang="zh-CN" dirty="0"/>
              <a:t>IGMP </a:t>
            </a:r>
            <a:r>
              <a:rPr lang="zh-CN" altLang="en-US" dirty="0"/>
              <a:t>也向 </a:t>
            </a:r>
            <a:r>
              <a:rPr lang="en-US" altLang="zh-CN" dirty="0"/>
              <a:t>IP </a:t>
            </a:r>
            <a:r>
              <a:rPr lang="zh-CN" altLang="en-US" dirty="0"/>
              <a:t>提供服务</a:t>
            </a:r>
          </a:p>
          <a:p>
            <a:r>
              <a:rPr lang="zh-CN" altLang="en-US" dirty="0"/>
              <a:t>因此，不把 </a:t>
            </a:r>
            <a:r>
              <a:rPr lang="en-US" altLang="zh-CN" dirty="0"/>
              <a:t>IGMP </a:t>
            </a:r>
            <a:r>
              <a:rPr lang="zh-CN" altLang="en-US" dirty="0"/>
              <a:t>看成是一个单独的协议，而是整个网际协议 </a:t>
            </a:r>
            <a:r>
              <a:rPr lang="en-US" altLang="zh-CN" dirty="0"/>
              <a:t>IP </a:t>
            </a:r>
            <a:r>
              <a:rPr lang="zh-CN" altLang="en-US" dirty="0"/>
              <a:t>的一个组成部分</a:t>
            </a:r>
          </a:p>
          <a:p>
            <a:endParaRPr lang="zh-CN" altLang="en-US" dirty="0"/>
          </a:p>
        </p:txBody>
      </p:sp>
    </p:spTree>
    <p:extLst>
      <p:ext uri="{BB962C8B-B14F-4D97-AF65-F5344CB8AC3E}">
        <p14:creationId xmlns:p14="http://schemas.microsoft.com/office/powerpoint/2010/main" val="846459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9C6A775D-3AC8-AB14-48D4-0A121F3937E1}"/>
              </a:ext>
            </a:extLst>
          </p:cNvPr>
          <p:cNvSpPr>
            <a:spLocks noGrp="1"/>
          </p:cNvSpPr>
          <p:nvPr>
            <p:ph type="title"/>
          </p:nvPr>
        </p:nvSpPr>
        <p:spPr>
          <a:xfrm>
            <a:off x="486000" y="550723"/>
            <a:ext cx="8172000" cy="338554"/>
          </a:xfrm>
        </p:spPr>
        <p:txBody>
          <a:bodyPr/>
          <a:lstStyle/>
          <a:p>
            <a:r>
              <a:rPr lang="en-US" altLang="zh-CN" dirty="0"/>
              <a:t>IGMP </a:t>
            </a:r>
            <a:r>
              <a:rPr lang="zh-CN" altLang="en-US" dirty="0"/>
              <a:t>工作可分为两个阶段</a:t>
            </a:r>
          </a:p>
        </p:txBody>
      </p:sp>
      <p:sp>
        <p:nvSpPr>
          <p:cNvPr id="6" name="内容占位符 5">
            <a:extLst>
              <a:ext uri="{FF2B5EF4-FFF2-40B4-BE49-F238E27FC236}">
                <a16:creationId xmlns:a16="http://schemas.microsoft.com/office/drawing/2014/main" id="{2B7D4021-2265-050A-6A10-43EA42D88544}"/>
              </a:ext>
            </a:extLst>
          </p:cNvPr>
          <p:cNvSpPr>
            <a:spLocks noGrp="1"/>
          </p:cNvSpPr>
          <p:nvPr>
            <p:ph sz="quarter" idx="11"/>
          </p:nvPr>
        </p:nvSpPr>
        <p:spPr>
          <a:xfrm>
            <a:off x="486000" y="900000"/>
            <a:ext cx="8172000" cy="3703500"/>
          </a:xfrm>
        </p:spPr>
        <p:txBody>
          <a:bodyPr/>
          <a:lstStyle/>
          <a:p>
            <a:r>
              <a:rPr lang="zh-CN" altLang="en-US" dirty="0"/>
              <a:t>第一阶段：加入多播组</a:t>
            </a:r>
            <a:endParaRPr lang="en-US" altLang="zh-CN" dirty="0"/>
          </a:p>
          <a:p>
            <a:r>
              <a:rPr lang="zh-CN" altLang="en-US" dirty="0"/>
              <a:t>第二阶段：探询组成员变化情况</a:t>
            </a:r>
          </a:p>
          <a:p>
            <a:endParaRPr lang="zh-CN" altLang="en-US" dirty="0"/>
          </a:p>
        </p:txBody>
      </p:sp>
    </p:spTree>
    <p:extLst>
      <p:ext uri="{BB962C8B-B14F-4D97-AF65-F5344CB8AC3E}">
        <p14:creationId xmlns:p14="http://schemas.microsoft.com/office/powerpoint/2010/main" val="29090805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Group 32"/>
          <p:cNvGrpSpPr>
            <a:grpSpLocks/>
          </p:cNvGrpSpPr>
          <p:nvPr/>
        </p:nvGrpSpPr>
        <p:grpSpPr bwMode="auto">
          <a:xfrm>
            <a:off x="5830718" y="2705700"/>
            <a:ext cx="2435345" cy="695022"/>
            <a:chOff x="2919" y="817"/>
            <a:chExt cx="1244" cy="369"/>
          </a:xfrm>
        </p:grpSpPr>
        <p:sp>
          <p:nvSpPr>
            <p:cNvPr id="35" name="Rectangle 33"/>
            <p:cNvSpPr>
              <a:spLocks noChangeArrowheads="1"/>
            </p:cNvSpPr>
            <p:nvPr/>
          </p:nvSpPr>
          <p:spPr bwMode="auto">
            <a:xfrm>
              <a:off x="2963" y="999"/>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6"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7"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4" name="组合 3"/>
          <p:cNvGrpSpPr/>
          <p:nvPr/>
        </p:nvGrpSpPr>
        <p:grpSpPr>
          <a:xfrm>
            <a:off x="2138326" y="2736000"/>
            <a:ext cx="3575353" cy="1851740"/>
            <a:chOff x="2584898" y="1279419"/>
            <a:chExt cx="3575353" cy="1851740"/>
          </a:xfrm>
        </p:grpSpPr>
        <p:sp>
          <p:nvSpPr>
            <p:cNvPr id="5"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9"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9"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0"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5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2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1" name="Group 29"/>
          <p:cNvGrpSpPr>
            <a:grpSpLocks/>
          </p:cNvGrpSpPr>
          <p:nvPr/>
        </p:nvGrpSpPr>
        <p:grpSpPr bwMode="auto">
          <a:xfrm>
            <a:off x="5178691" y="2765022"/>
            <a:ext cx="515897" cy="251330"/>
            <a:chOff x="3897" y="748"/>
            <a:chExt cx="272" cy="283"/>
          </a:xfrm>
        </p:grpSpPr>
        <p:sp>
          <p:nvSpPr>
            <p:cNvPr id="32"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33"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
        <p:nvSpPr>
          <p:cNvPr id="6" name="标题 5">
            <a:extLst>
              <a:ext uri="{FF2B5EF4-FFF2-40B4-BE49-F238E27FC236}">
                <a16:creationId xmlns:a16="http://schemas.microsoft.com/office/drawing/2014/main" id="{0B53814A-470C-01C0-F46C-C166B3D91312}"/>
              </a:ext>
            </a:extLst>
          </p:cNvPr>
          <p:cNvSpPr>
            <a:spLocks noGrp="1"/>
          </p:cNvSpPr>
          <p:nvPr>
            <p:ph type="title"/>
          </p:nvPr>
        </p:nvSpPr>
        <p:spPr>
          <a:xfrm>
            <a:off x="486000" y="550723"/>
            <a:ext cx="8172000" cy="338554"/>
          </a:xfrm>
        </p:spPr>
        <p:txBody>
          <a:bodyPr/>
          <a:lstStyle/>
          <a:p>
            <a:r>
              <a:rPr lang="zh-CN" altLang="en-US" dirty="0"/>
              <a:t>第一阶段：加入多播组</a:t>
            </a:r>
          </a:p>
        </p:txBody>
      </p:sp>
      <p:sp>
        <p:nvSpPr>
          <p:cNvPr id="7" name="内容占位符 6">
            <a:extLst>
              <a:ext uri="{FF2B5EF4-FFF2-40B4-BE49-F238E27FC236}">
                <a16:creationId xmlns:a16="http://schemas.microsoft.com/office/drawing/2014/main" id="{9701A433-1AE6-F0E1-1510-4A983DCD7A5D}"/>
              </a:ext>
            </a:extLst>
          </p:cNvPr>
          <p:cNvSpPr>
            <a:spLocks noGrp="1"/>
          </p:cNvSpPr>
          <p:nvPr>
            <p:ph sz="quarter" idx="11"/>
          </p:nvPr>
        </p:nvSpPr>
        <p:spPr>
          <a:xfrm>
            <a:off x="486000" y="900000"/>
            <a:ext cx="8172000" cy="3703500"/>
          </a:xfrm>
        </p:spPr>
        <p:txBody>
          <a:bodyPr/>
          <a:lstStyle/>
          <a:p>
            <a:r>
              <a:rPr lang="zh-CN" altLang="en-US" dirty="0"/>
              <a:t>当某个主机加入多播组时，该主机向多播组的多播地址发送 </a:t>
            </a:r>
            <a:r>
              <a:rPr lang="en-US" altLang="zh-CN" dirty="0"/>
              <a:t>IGMP </a:t>
            </a:r>
            <a:r>
              <a:rPr lang="zh-CN" altLang="en-US" dirty="0"/>
              <a:t>报文，声明自己要成为该组的成员</a:t>
            </a:r>
          </a:p>
          <a:p>
            <a:r>
              <a:rPr lang="zh-CN" altLang="en-US" dirty="0"/>
              <a:t>本地的多播路由器收到 </a:t>
            </a:r>
            <a:r>
              <a:rPr lang="en-US" altLang="zh-CN" dirty="0"/>
              <a:t>IGMP </a:t>
            </a:r>
            <a:r>
              <a:rPr lang="zh-CN" altLang="en-US" dirty="0"/>
              <a:t>报文后，将组成员关系转发给互联网上的其他多播路由器</a:t>
            </a:r>
          </a:p>
          <a:p>
            <a:endParaRPr lang="zh-CN" altLang="en-US" dirty="0"/>
          </a:p>
        </p:txBody>
      </p:sp>
    </p:spTree>
    <p:extLst>
      <p:ext uri="{BB962C8B-B14F-4D97-AF65-F5344CB8AC3E}">
        <p14:creationId xmlns:p14="http://schemas.microsoft.com/office/powerpoint/2010/main" val="214071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499"/>
                                          </p:stCondLst>
                                        </p:cTn>
                                        <p:tgtEl>
                                          <p:spTgt spid="31"/>
                                        </p:tgtEl>
                                        <p:attrNameLst>
                                          <p:attrName>style.visibility</p:attrName>
                                        </p:attrNameLst>
                                      </p:cBhvr>
                                      <p:to>
                                        <p:strVal val="visible"/>
                                      </p:to>
                                    </p:set>
                                  </p:childTnLst>
                                </p:cTn>
                              </p:par>
                            </p:childTnLst>
                          </p:cTn>
                        </p:par>
                        <p:par>
                          <p:cTn id="7" fill="hold">
                            <p:stCondLst>
                              <p:cond delay="500"/>
                            </p:stCondLst>
                            <p:childTnLst>
                              <p:par>
                                <p:cTn id="8" presetID="22" presetClass="entr" presetSubtype="1" fill="hold" nodeType="afterEffect">
                                  <p:stCondLst>
                                    <p:cond delay="0"/>
                                  </p:stCondLst>
                                  <p:childTnLst>
                                    <p:set>
                                      <p:cBhvr>
                                        <p:cTn id="9" dur="1" fill="hold">
                                          <p:stCondLst>
                                            <p:cond delay="0"/>
                                          </p:stCondLst>
                                        </p:cTn>
                                        <p:tgtEl>
                                          <p:spTgt spid="34"/>
                                        </p:tgtEl>
                                        <p:attrNameLst>
                                          <p:attrName>style.visibility</p:attrName>
                                        </p:attrNameLst>
                                      </p:cBhvr>
                                      <p:to>
                                        <p:strVal val="visible"/>
                                      </p:to>
                                    </p:set>
                                    <p:animEffect transition="in" filter="wipe(up)">
                                      <p:cBhvr>
                                        <p:cTn id="10" dur="10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3E6FE68F-770F-2AAB-0E09-7F58EF0F6CA8}"/>
              </a:ext>
            </a:extLst>
          </p:cNvPr>
          <p:cNvSpPr>
            <a:spLocks noGrp="1"/>
          </p:cNvSpPr>
          <p:nvPr>
            <p:ph sz="quarter" idx="11"/>
          </p:nvPr>
        </p:nvSpPr>
        <p:spPr>
          <a:xfrm>
            <a:off x="486000" y="900000"/>
            <a:ext cx="8172000" cy="3703500"/>
          </a:xfrm>
        </p:spPr>
        <p:txBody>
          <a:bodyPr/>
          <a:lstStyle/>
          <a:p>
            <a:r>
              <a:rPr lang="zh-CN" altLang="en-US" dirty="0"/>
              <a:t>本地多播路由器周期性地探询本地局域网上的主机，以便知道这些主机是否还继续是组的成员。</a:t>
            </a:r>
          </a:p>
          <a:p>
            <a:r>
              <a:rPr lang="zh-CN" altLang="en-US" dirty="0"/>
              <a:t>只要对某个组有一个主机响应，那么多播路由器就认为这个组是活跃的。</a:t>
            </a:r>
          </a:p>
          <a:p>
            <a:endParaRPr lang="zh-CN" altLang="en-US" dirty="0"/>
          </a:p>
        </p:txBody>
      </p:sp>
      <p:grpSp>
        <p:nvGrpSpPr>
          <p:cNvPr id="29" name="Group 7"/>
          <p:cNvGrpSpPr>
            <a:grpSpLocks/>
          </p:cNvGrpSpPr>
          <p:nvPr/>
        </p:nvGrpSpPr>
        <p:grpSpPr bwMode="auto">
          <a:xfrm>
            <a:off x="4285943" y="3725773"/>
            <a:ext cx="2736221" cy="709438"/>
            <a:chOff x="2909" y="1739"/>
            <a:chExt cx="2152" cy="398"/>
          </a:xfrm>
        </p:grpSpPr>
        <p:sp>
          <p:nvSpPr>
            <p:cNvPr id="30"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1"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2" name="Group 32"/>
          <p:cNvGrpSpPr>
            <a:grpSpLocks/>
          </p:cNvGrpSpPr>
          <p:nvPr/>
        </p:nvGrpSpPr>
        <p:grpSpPr bwMode="auto">
          <a:xfrm>
            <a:off x="5830719" y="2870005"/>
            <a:ext cx="2398882" cy="649818"/>
            <a:chOff x="2919" y="817"/>
            <a:chExt cx="1244" cy="345"/>
          </a:xfrm>
        </p:grpSpPr>
        <p:sp>
          <p:nvSpPr>
            <p:cNvPr id="33" name="Rectangle 33"/>
            <p:cNvSpPr>
              <a:spLocks noChangeArrowheads="1"/>
            </p:cNvSpPr>
            <p:nvPr/>
          </p:nvSpPr>
          <p:spPr bwMode="auto">
            <a:xfrm>
              <a:off x="2963" y="975"/>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4"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5"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36" name="组合 35"/>
          <p:cNvGrpSpPr/>
          <p:nvPr/>
        </p:nvGrpSpPr>
        <p:grpSpPr>
          <a:xfrm>
            <a:off x="2138326" y="2736000"/>
            <a:ext cx="3575353" cy="1851740"/>
            <a:chOff x="2584898" y="1279419"/>
            <a:chExt cx="3575353" cy="1851740"/>
          </a:xfrm>
        </p:grpSpPr>
        <p:sp>
          <p:nvSpPr>
            <p:cNvPr id="37"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8"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9"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40"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1"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9"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0"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51"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52" name="Group 29"/>
          <p:cNvGrpSpPr>
            <a:grpSpLocks/>
          </p:cNvGrpSpPr>
          <p:nvPr/>
        </p:nvGrpSpPr>
        <p:grpSpPr bwMode="auto">
          <a:xfrm>
            <a:off x="5178691" y="2986479"/>
            <a:ext cx="515897" cy="251330"/>
            <a:chOff x="3897" y="748"/>
            <a:chExt cx="272" cy="283"/>
          </a:xfrm>
        </p:grpSpPr>
        <p:sp>
          <p:nvSpPr>
            <p:cNvPr id="53"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54"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
        <p:nvSpPr>
          <p:cNvPr id="4" name="标题 3">
            <a:extLst>
              <a:ext uri="{FF2B5EF4-FFF2-40B4-BE49-F238E27FC236}">
                <a16:creationId xmlns:a16="http://schemas.microsoft.com/office/drawing/2014/main" id="{1BB630F2-FF94-98CF-012C-F2A5C44E6D68}"/>
              </a:ext>
            </a:extLst>
          </p:cNvPr>
          <p:cNvSpPr>
            <a:spLocks noGrp="1"/>
          </p:cNvSpPr>
          <p:nvPr>
            <p:ph type="title"/>
          </p:nvPr>
        </p:nvSpPr>
        <p:spPr>
          <a:xfrm>
            <a:off x="486000" y="550723"/>
            <a:ext cx="8172000" cy="338554"/>
          </a:xfrm>
        </p:spPr>
        <p:txBody>
          <a:bodyPr/>
          <a:lstStyle/>
          <a:p>
            <a:r>
              <a:rPr lang="zh-CN" altLang="en-US" dirty="0"/>
              <a:t>第二阶段：探询组成员变化情况</a:t>
            </a:r>
          </a:p>
        </p:txBody>
      </p:sp>
    </p:spTree>
    <p:extLst>
      <p:ext uri="{BB962C8B-B14F-4D97-AF65-F5344CB8AC3E}">
        <p14:creationId xmlns:p14="http://schemas.microsoft.com/office/powerpoint/2010/main" val="419637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down)">
                                      <p:cBhvr>
                                        <p:cTn id="7" dur="10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499"/>
                                          </p:stCondLst>
                                        </p:cTn>
                                        <p:tgtEl>
                                          <p:spTgt spid="52"/>
                                        </p:tgtEl>
                                        <p:attrNameLst>
                                          <p:attrName>style.visibility</p:attrName>
                                        </p:attrNameLst>
                                      </p:cBhvr>
                                      <p:to>
                                        <p:strVal val="visible"/>
                                      </p:to>
                                    </p:set>
                                  </p:childTnLst>
                                </p:cTn>
                              </p:par>
                            </p:childTnLst>
                          </p:cTn>
                        </p:par>
                        <p:par>
                          <p:cTn id="12" fill="hold">
                            <p:stCondLst>
                              <p:cond delay="500"/>
                            </p:stCondLst>
                            <p:childTnLst>
                              <p:par>
                                <p:cTn id="13" presetID="22" presetClass="entr" presetSubtype="1" fill="hold" nodeType="afterEffect">
                                  <p:stCondLst>
                                    <p:cond delay="0"/>
                                  </p:stCondLst>
                                  <p:childTnLst>
                                    <p:set>
                                      <p:cBhvr>
                                        <p:cTn id="14" dur="1" fill="hold">
                                          <p:stCondLst>
                                            <p:cond delay="0"/>
                                          </p:stCondLst>
                                        </p:cTn>
                                        <p:tgtEl>
                                          <p:spTgt spid="32"/>
                                        </p:tgtEl>
                                        <p:attrNameLst>
                                          <p:attrName>style.visibility</p:attrName>
                                        </p:attrNameLst>
                                      </p:cBhvr>
                                      <p:to>
                                        <p:strVal val="visible"/>
                                      </p:to>
                                    </p:set>
                                    <p:animEffect transition="in" filter="wipe(up)">
                                      <p:cBhvr>
                                        <p:cTn id="15" dur="10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 name="Group 7"/>
          <p:cNvGrpSpPr>
            <a:grpSpLocks/>
          </p:cNvGrpSpPr>
          <p:nvPr/>
        </p:nvGrpSpPr>
        <p:grpSpPr bwMode="auto">
          <a:xfrm>
            <a:off x="4285943" y="3425735"/>
            <a:ext cx="2736221" cy="709438"/>
            <a:chOff x="2909" y="1739"/>
            <a:chExt cx="2152" cy="398"/>
          </a:xfrm>
        </p:grpSpPr>
        <p:sp>
          <p:nvSpPr>
            <p:cNvPr id="26"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2"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3" name="组合 32"/>
          <p:cNvGrpSpPr/>
          <p:nvPr/>
        </p:nvGrpSpPr>
        <p:grpSpPr>
          <a:xfrm>
            <a:off x="2138326" y="2736000"/>
            <a:ext cx="3575353" cy="1851740"/>
            <a:chOff x="2584898" y="1279419"/>
            <a:chExt cx="3575353" cy="1851740"/>
          </a:xfrm>
        </p:grpSpPr>
        <p:sp>
          <p:nvSpPr>
            <p:cNvPr id="34"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5"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7"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8"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9"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0"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3"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4"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5"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6"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7"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4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 name="标题 3">
            <a:extLst>
              <a:ext uri="{FF2B5EF4-FFF2-40B4-BE49-F238E27FC236}">
                <a16:creationId xmlns:a16="http://schemas.microsoft.com/office/drawing/2014/main" id="{1C7009D5-0A7B-ABC6-70E7-0D5BB53826CA}"/>
              </a:ext>
            </a:extLst>
          </p:cNvPr>
          <p:cNvSpPr>
            <a:spLocks noGrp="1"/>
          </p:cNvSpPr>
          <p:nvPr>
            <p:ph type="title"/>
          </p:nvPr>
        </p:nvSpPr>
        <p:spPr>
          <a:xfrm>
            <a:off x="486000" y="550723"/>
            <a:ext cx="8172000" cy="338554"/>
          </a:xfrm>
        </p:spPr>
        <p:txBody>
          <a:bodyPr/>
          <a:lstStyle/>
          <a:p>
            <a:r>
              <a:rPr lang="zh-CN" altLang="en-US" dirty="0"/>
              <a:t>第二阶段：探询组成员变化情况</a:t>
            </a:r>
          </a:p>
        </p:txBody>
      </p:sp>
      <p:sp>
        <p:nvSpPr>
          <p:cNvPr id="6" name="内容占位符 5">
            <a:extLst>
              <a:ext uri="{FF2B5EF4-FFF2-40B4-BE49-F238E27FC236}">
                <a16:creationId xmlns:a16="http://schemas.microsoft.com/office/drawing/2014/main" id="{61E65008-A8A3-654F-CCCF-AA871E503509}"/>
              </a:ext>
            </a:extLst>
          </p:cNvPr>
          <p:cNvSpPr>
            <a:spLocks noGrp="1"/>
          </p:cNvSpPr>
          <p:nvPr>
            <p:ph sz="quarter" idx="11"/>
          </p:nvPr>
        </p:nvSpPr>
        <p:spPr>
          <a:xfrm>
            <a:off x="486000" y="900000"/>
            <a:ext cx="8172000" cy="3703500"/>
          </a:xfrm>
        </p:spPr>
        <p:txBody>
          <a:bodyPr/>
          <a:lstStyle/>
          <a:p>
            <a:r>
              <a:rPr lang="zh-CN" altLang="en-US" dirty="0"/>
              <a:t>本地多播路由器周期性地探询本地局域网上的主机，以便知道这些主机是否还继续是组的成员。</a:t>
            </a:r>
          </a:p>
          <a:p>
            <a:r>
              <a:rPr lang="zh-CN" altLang="en-US" dirty="0"/>
              <a:t>但一个组在经过几次的探询后仍然没有一个主机响应，则不再将该组的成员关系转发给其他的多播路由器。</a:t>
            </a:r>
          </a:p>
          <a:p>
            <a:endParaRPr lang="zh-CN" altLang="en-US" dirty="0"/>
          </a:p>
        </p:txBody>
      </p:sp>
    </p:spTree>
    <p:extLst>
      <p:ext uri="{BB962C8B-B14F-4D97-AF65-F5344CB8AC3E}">
        <p14:creationId xmlns:p14="http://schemas.microsoft.com/office/powerpoint/2010/main" val="3642061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repeatCount="300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wipe(down)">
                                      <p:cBhvr>
                                        <p:cTn id="7"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1048475-C1BB-FC3C-7427-E8406C0A563D}"/>
              </a:ext>
            </a:extLst>
          </p:cNvPr>
          <p:cNvSpPr>
            <a:spLocks noGrp="1"/>
          </p:cNvSpPr>
          <p:nvPr>
            <p:ph type="title"/>
          </p:nvPr>
        </p:nvSpPr>
        <p:spPr>
          <a:xfrm>
            <a:off x="486000" y="550723"/>
            <a:ext cx="8172000" cy="338554"/>
          </a:xfrm>
        </p:spPr>
        <p:txBody>
          <a:bodyPr/>
          <a:lstStyle/>
          <a:p>
            <a:r>
              <a:rPr lang="en-US" altLang="zh-CN" dirty="0"/>
              <a:t>IGMP </a:t>
            </a:r>
            <a:r>
              <a:rPr lang="zh-CN" altLang="en-US" dirty="0"/>
              <a:t>采用的一些具体措施，以避免增加大量开销</a:t>
            </a:r>
          </a:p>
        </p:txBody>
      </p:sp>
      <p:sp>
        <p:nvSpPr>
          <p:cNvPr id="6" name="内容占位符 5">
            <a:extLst>
              <a:ext uri="{FF2B5EF4-FFF2-40B4-BE49-F238E27FC236}">
                <a16:creationId xmlns:a16="http://schemas.microsoft.com/office/drawing/2014/main" id="{473FA309-B12D-C396-EF31-5A093A28698D}"/>
              </a:ext>
            </a:extLst>
          </p:cNvPr>
          <p:cNvSpPr>
            <a:spLocks noGrp="1"/>
          </p:cNvSpPr>
          <p:nvPr>
            <p:ph sz="quarter" idx="11"/>
          </p:nvPr>
        </p:nvSpPr>
        <p:spPr>
          <a:xfrm>
            <a:off x="486000" y="900000"/>
            <a:ext cx="8172000" cy="3703500"/>
          </a:xfrm>
        </p:spPr>
        <p:txBody>
          <a:bodyPr/>
          <a:lstStyle/>
          <a:p>
            <a:r>
              <a:rPr lang="zh-CN" altLang="en-US" dirty="0"/>
              <a:t>所有通信都使用 </a:t>
            </a:r>
            <a:r>
              <a:rPr lang="en-US" altLang="zh-CN" dirty="0"/>
              <a:t>IP </a:t>
            </a:r>
            <a:r>
              <a:rPr lang="zh-CN" altLang="en-US" dirty="0"/>
              <a:t>多播。只要有可能，都用硬件多播来传送</a:t>
            </a:r>
          </a:p>
          <a:p>
            <a:r>
              <a:rPr lang="zh-CN" altLang="en-US" dirty="0"/>
              <a:t>对所有的组只发送一个请求信息的询问报文。默认询问速率是每 </a:t>
            </a:r>
            <a:r>
              <a:rPr lang="en-US" altLang="zh-CN" dirty="0"/>
              <a:t>125 </a:t>
            </a:r>
            <a:r>
              <a:rPr lang="zh-CN" altLang="en-US" dirty="0"/>
              <a:t>秒发送一次</a:t>
            </a:r>
          </a:p>
          <a:p>
            <a:r>
              <a:rPr lang="zh-CN" altLang="en-US" dirty="0"/>
              <a:t>当同一个网络上连接有多个多播路由器时，能迅速和有效地选择其中的一个来探询主机的成员关系</a:t>
            </a:r>
            <a:endParaRPr lang="en-US" altLang="zh-CN" dirty="0"/>
          </a:p>
          <a:p>
            <a:r>
              <a:rPr lang="zh-CN" altLang="en-US" dirty="0"/>
              <a:t>分散响应。在 </a:t>
            </a:r>
            <a:r>
              <a:rPr lang="en-US" altLang="zh-CN" dirty="0"/>
              <a:t>IGMP </a:t>
            </a:r>
            <a:r>
              <a:rPr lang="zh-CN" altLang="en-US" dirty="0"/>
              <a:t>的询问报文中有一个数值 </a:t>
            </a:r>
            <a:r>
              <a:rPr lang="en-US" altLang="zh-CN" dirty="0"/>
              <a:t>N</a:t>
            </a:r>
            <a:r>
              <a:rPr lang="zh-CN" altLang="en-US" dirty="0"/>
              <a:t>，它指明一个最长响应时间（默认值为 </a:t>
            </a:r>
            <a:r>
              <a:rPr lang="en-US" altLang="zh-CN" dirty="0"/>
              <a:t>10 </a:t>
            </a:r>
            <a:r>
              <a:rPr lang="zh-CN" altLang="en-US" dirty="0"/>
              <a:t>秒）。当收到询问时，主机在 </a:t>
            </a:r>
            <a:r>
              <a:rPr lang="en-US" altLang="zh-CN" dirty="0"/>
              <a:t>0 </a:t>
            </a:r>
            <a:r>
              <a:rPr lang="zh-CN" altLang="en-US" dirty="0"/>
              <a:t>到 </a:t>
            </a:r>
            <a:r>
              <a:rPr lang="en-US" altLang="zh-CN" dirty="0"/>
              <a:t>N </a:t>
            </a:r>
            <a:r>
              <a:rPr lang="zh-CN" altLang="en-US" dirty="0"/>
              <a:t>之间随机选择发送响应所需经过的时延。若一台主机同时参加了几个多播组，则主机对每一个多播组选择不同的随机数。对应于最小时延的响应最先发送</a:t>
            </a:r>
          </a:p>
          <a:p>
            <a:r>
              <a:rPr lang="zh-CN" altLang="en-US" dirty="0"/>
              <a:t>采用抑制机制。同一个组内的每一个主机都要监听响应，只要有本组的其他主机先发送了响应，自己就不再发送响应了</a:t>
            </a:r>
          </a:p>
          <a:p>
            <a:endParaRPr lang="en-US" altLang="zh-CN" dirty="0"/>
          </a:p>
          <a:p>
            <a:endParaRPr lang="zh-CN" altLang="en-US" dirty="0"/>
          </a:p>
        </p:txBody>
      </p:sp>
    </p:spTree>
    <p:extLst>
      <p:ext uri="{BB962C8B-B14F-4D97-AF65-F5344CB8AC3E}">
        <p14:creationId xmlns:p14="http://schemas.microsoft.com/office/powerpoint/2010/main" val="19573875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Text Box 102"/>
          <p:cNvSpPr txBox="1">
            <a:spLocks noChangeArrowheads="1"/>
          </p:cNvSpPr>
          <p:nvPr/>
        </p:nvSpPr>
        <p:spPr bwMode="auto">
          <a:xfrm>
            <a:off x="5243372" y="1355287"/>
            <a:ext cx="3107223" cy="397353"/>
          </a:xfrm>
          <a:prstGeom prst="rect">
            <a:avLst/>
          </a:prstGeom>
          <a:solidFill>
            <a:schemeClr val="bg1"/>
          </a:solidFill>
          <a:ln>
            <a:noFill/>
          </a:ln>
          <a:effectLst/>
        </p:spPr>
        <p:txBody>
          <a:bodyPr wrap="square">
            <a:spAutoFit/>
          </a:bodyPr>
          <a:lstStyle/>
          <a:p>
            <a:pPr marL="285750" indent="-285750">
              <a:lnSpc>
                <a:spcPts val="2600"/>
              </a:lnSpc>
              <a:buFont typeface="Wingdings" panose="05000000000000000000" pitchFamily="2" charset="2"/>
              <a:buChar char="l"/>
            </a:pPr>
            <a:endParaRPr lang="zh-CN" altLang="en-US" b="1" dirty="0">
              <a:latin typeface="微软雅黑" pitchFamily="34" charset="-122"/>
              <a:ea typeface="微软雅黑" pitchFamily="34" charset="-122"/>
            </a:endParaRPr>
          </a:p>
        </p:txBody>
      </p:sp>
      <p:grpSp>
        <p:nvGrpSpPr>
          <p:cNvPr id="128" name="组合 127"/>
          <p:cNvGrpSpPr/>
          <p:nvPr/>
        </p:nvGrpSpPr>
        <p:grpSpPr>
          <a:xfrm>
            <a:off x="4928617" y="1622811"/>
            <a:ext cx="3404282" cy="2311540"/>
            <a:chOff x="2773530" y="1524561"/>
            <a:chExt cx="3404282" cy="2311540"/>
          </a:xfrm>
        </p:grpSpPr>
        <p:sp>
          <p:nvSpPr>
            <p:cNvPr id="112" name="Line 5"/>
            <p:cNvSpPr>
              <a:spLocks noChangeShapeType="1"/>
            </p:cNvSpPr>
            <p:nvPr/>
          </p:nvSpPr>
          <p:spPr bwMode="auto">
            <a:xfrm>
              <a:off x="4299768" y="1524561"/>
              <a:ext cx="0" cy="312312"/>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3" name="Line 6"/>
            <p:cNvSpPr>
              <a:spLocks noChangeShapeType="1"/>
            </p:cNvSpPr>
            <p:nvPr/>
          </p:nvSpPr>
          <p:spPr bwMode="auto">
            <a:xfrm flipV="1">
              <a:off x="3534617" y="1878555"/>
              <a:ext cx="787069" cy="395074"/>
            </a:xfrm>
            <a:prstGeom prst="line">
              <a:avLst/>
            </a:prstGeom>
            <a:noFill/>
            <a:ln w="19050">
              <a:solidFill>
                <a:srgbClr val="9900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4" name="Line 11"/>
            <p:cNvSpPr>
              <a:spLocks noChangeShapeType="1"/>
            </p:cNvSpPr>
            <p:nvPr/>
          </p:nvSpPr>
          <p:spPr bwMode="auto">
            <a:xfrm>
              <a:off x="3343807" y="2400536"/>
              <a:ext cx="0" cy="81169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5" name="Line 15"/>
            <p:cNvSpPr>
              <a:spLocks noChangeShapeType="1"/>
            </p:cNvSpPr>
            <p:nvPr/>
          </p:nvSpPr>
          <p:spPr bwMode="auto">
            <a:xfrm flipH="1">
              <a:off x="2773530" y="3273931"/>
              <a:ext cx="642944" cy="50098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6" name="Line 12"/>
            <p:cNvSpPr>
              <a:spLocks noChangeShapeType="1"/>
            </p:cNvSpPr>
            <p:nvPr/>
          </p:nvSpPr>
          <p:spPr bwMode="auto">
            <a:xfrm>
              <a:off x="3414880" y="3274100"/>
              <a:ext cx="877059" cy="56200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7" name="Line 10"/>
            <p:cNvSpPr>
              <a:spLocks noChangeShapeType="1"/>
            </p:cNvSpPr>
            <p:nvPr/>
          </p:nvSpPr>
          <p:spPr bwMode="auto">
            <a:xfrm>
              <a:off x="4467691" y="1940517"/>
              <a:ext cx="862393" cy="33215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9" name="Line 16"/>
            <p:cNvSpPr>
              <a:spLocks noChangeShapeType="1"/>
            </p:cNvSpPr>
            <p:nvPr/>
          </p:nvSpPr>
          <p:spPr bwMode="auto">
            <a:xfrm>
              <a:off x="5453369" y="3275597"/>
              <a:ext cx="724443" cy="447067"/>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Line 13"/>
            <p:cNvSpPr>
              <a:spLocks noChangeShapeType="1"/>
            </p:cNvSpPr>
            <p:nvPr/>
          </p:nvSpPr>
          <p:spPr bwMode="auto">
            <a:xfrm>
              <a:off x="5507075" y="2337161"/>
              <a:ext cx="0" cy="87431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30" name="组合 129"/>
          <p:cNvGrpSpPr/>
          <p:nvPr/>
        </p:nvGrpSpPr>
        <p:grpSpPr>
          <a:xfrm>
            <a:off x="5047244" y="2173646"/>
            <a:ext cx="3240785" cy="1781111"/>
            <a:chOff x="2883104" y="2075396"/>
            <a:chExt cx="3240785" cy="1781111"/>
          </a:xfrm>
        </p:grpSpPr>
        <p:sp>
          <p:nvSpPr>
            <p:cNvPr id="118" name="Line 13"/>
            <p:cNvSpPr>
              <a:spLocks noChangeShapeType="1"/>
            </p:cNvSpPr>
            <p:nvPr/>
          </p:nvSpPr>
          <p:spPr bwMode="auto">
            <a:xfrm>
              <a:off x="5370771" y="2337161"/>
              <a:ext cx="0" cy="87431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0" name="Line 5"/>
            <p:cNvSpPr>
              <a:spLocks noChangeShapeType="1"/>
            </p:cNvSpPr>
            <p:nvPr/>
          </p:nvSpPr>
          <p:spPr bwMode="auto">
            <a:xfrm flipH="1">
              <a:off x="5621357" y="2336929"/>
              <a:ext cx="502532" cy="0"/>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1" name="Line 10"/>
            <p:cNvSpPr>
              <a:spLocks noChangeShapeType="1"/>
            </p:cNvSpPr>
            <p:nvPr/>
          </p:nvSpPr>
          <p:spPr bwMode="auto">
            <a:xfrm>
              <a:off x="4458904" y="2075396"/>
              <a:ext cx="862393" cy="332151"/>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Line 8"/>
            <p:cNvSpPr>
              <a:spLocks noChangeShapeType="1"/>
            </p:cNvSpPr>
            <p:nvPr/>
          </p:nvSpPr>
          <p:spPr bwMode="auto">
            <a:xfrm>
              <a:off x="3618104" y="2463907"/>
              <a:ext cx="1810902" cy="0"/>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4" name="Line 16"/>
            <p:cNvSpPr>
              <a:spLocks noChangeShapeType="1"/>
            </p:cNvSpPr>
            <p:nvPr/>
          </p:nvSpPr>
          <p:spPr bwMode="auto">
            <a:xfrm>
              <a:off x="5370718" y="3383705"/>
              <a:ext cx="724443" cy="447067"/>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5" name="Line 11"/>
            <p:cNvSpPr>
              <a:spLocks noChangeShapeType="1"/>
            </p:cNvSpPr>
            <p:nvPr/>
          </p:nvSpPr>
          <p:spPr bwMode="auto">
            <a:xfrm>
              <a:off x="3467278" y="2400536"/>
              <a:ext cx="0" cy="811691"/>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6" name="Line 15"/>
            <p:cNvSpPr>
              <a:spLocks noChangeShapeType="1"/>
            </p:cNvSpPr>
            <p:nvPr/>
          </p:nvSpPr>
          <p:spPr bwMode="auto">
            <a:xfrm flipH="1">
              <a:off x="2883104" y="3355523"/>
              <a:ext cx="642944" cy="50098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9" name="Line 14"/>
            <p:cNvSpPr>
              <a:spLocks noChangeShapeType="1"/>
            </p:cNvSpPr>
            <p:nvPr/>
          </p:nvSpPr>
          <p:spPr bwMode="auto">
            <a:xfrm flipH="1">
              <a:off x="4566536" y="3325031"/>
              <a:ext cx="804182" cy="528929"/>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4" name="Text Box 9"/>
          <p:cNvSpPr txBox="1">
            <a:spLocks noChangeArrowheads="1"/>
          </p:cNvSpPr>
          <p:nvPr/>
        </p:nvSpPr>
        <p:spPr bwMode="auto">
          <a:xfrm>
            <a:off x="6182045" y="1047110"/>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990099"/>
                </a:solidFill>
                <a:latin typeface="微软雅黑" pitchFamily="34" charset="-122"/>
                <a:ea typeface="微软雅黑" pitchFamily="34" charset="-122"/>
              </a:rPr>
              <a:t>源点 </a:t>
            </a:r>
            <a:r>
              <a:rPr lang="en-US" altLang="zh-CN" sz="1400" b="1" dirty="0">
                <a:solidFill>
                  <a:srgbClr val="990099"/>
                </a:solidFill>
                <a:latin typeface="微软雅黑" pitchFamily="34" charset="-122"/>
                <a:ea typeface="微软雅黑" pitchFamily="34" charset="-122"/>
              </a:rPr>
              <a:t>S1</a:t>
            </a:r>
            <a:endParaRPr lang="zh-CN" altLang="en-US" sz="1400" b="1" dirty="0">
              <a:solidFill>
                <a:srgbClr val="990099"/>
              </a:solidFill>
              <a:latin typeface="微软雅黑" pitchFamily="34" charset="-122"/>
              <a:ea typeface="微软雅黑" pitchFamily="34" charset="-122"/>
            </a:endParaRPr>
          </a:p>
        </p:txBody>
      </p:sp>
      <p:sp>
        <p:nvSpPr>
          <p:cNvPr id="109" name="Text Box 9"/>
          <p:cNvSpPr txBox="1">
            <a:spLocks noChangeArrowheads="1"/>
          </p:cNvSpPr>
          <p:nvPr/>
        </p:nvSpPr>
        <p:spPr bwMode="auto">
          <a:xfrm>
            <a:off x="7908726" y="2038767"/>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0000FF"/>
                </a:solidFill>
                <a:latin typeface="微软雅黑" pitchFamily="34" charset="-122"/>
                <a:ea typeface="微软雅黑" pitchFamily="34" charset="-122"/>
              </a:rPr>
              <a:t>源点 </a:t>
            </a:r>
            <a:r>
              <a:rPr lang="en-US" altLang="zh-CN" sz="1400" b="1" dirty="0">
                <a:solidFill>
                  <a:srgbClr val="0000FF"/>
                </a:solidFill>
                <a:latin typeface="微软雅黑" pitchFamily="34" charset="-122"/>
                <a:ea typeface="微软雅黑" pitchFamily="34" charset="-122"/>
              </a:rPr>
              <a:t>S2</a:t>
            </a:r>
            <a:endParaRPr lang="zh-CN" altLang="en-US" sz="1400" b="1" dirty="0">
              <a:solidFill>
                <a:srgbClr val="0000FF"/>
              </a:solidFill>
              <a:latin typeface="微软雅黑" pitchFamily="34" charset="-122"/>
              <a:ea typeface="微软雅黑" pitchFamily="34" charset="-122"/>
            </a:endParaRPr>
          </a:p>
        </p:txBody>
      </p:sp>
      <p:grpSp>
        <p:nvGrpSpPr>
          <p:cNvPr id="133" name="组合 132"/>
          <p:cNvGrpSpPr/>
          <p:nvPr/>
        </p:nvGrpSpPr>
        <p:grpSpPr>
          <a:xfrm>
            <a:off x="4504778" y="1317647"/>
            <a:ext cx="4190274" cy="2869496"/>
            <a:chOff x="2340638" y="1219397"/>
            <a:chExt cx="4190274" cy="2869496"/>
          </a:xfrm>
        </p:grpSpPr>
        <p:sp>
          <p:nvSpPr>
            <p:cNvPr id="10" name="Line 5"/>
            <p:cNvSpPr>
              <a:spLocks noChangeShapeType="1"/>
            </p:cNvSpPr>
            <p:nvPr/>
          </p:nvSpPr>
          <p:spPr bwMode="auto">
            <a:xfrm>
              <a:off x="4371120" y="1524561"/>
              <a:ext cx="0" cy="3123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6"/>
            <p:cNvSpPr>
              <a:spLocks noChangeShapeType="1"/>
            </p:cNvSpPr>
            <p:nvPr/>
          </p:nvSpPr>
          <p:spPr bwMode="auto">
            <a:xfrm flipV="1">
              <a:off x="3402337" y="1934019"/>
              <a:ext cx="947818" cy="46565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7"/>
            <p:cNvSpPr>
              <a:spLocks noChangeShapeType="1"/>
            </p:cNvSpPr>
            <p:nvPr/>
          </p:nvSpPr>
          <p:spPr bwMode="auto">
            <a:xfrm>
              <a:off x="3518521" y="3338220"/>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3518521" y="2399678"/>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4485797" y="2011980"/>
              <a:ext cx="862393" cy="33215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1"/>
            <p:cNvSpPr>
              <a:spLocks noChangeShapeType="1"/>
            </p:cNvSpPr>
            <p:nvPr/>
          </p:nvSpPr>
          <p:spPr bwMode="auto">
            <a:xfrm>
              <a:off x="3402337" y="2463907"/>
              <a:ext cx="0" cy="81169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2"/>
            <p:cNvSpPr>
              <a:spLocks noChangeShapeType="1"/>
            </p:cNvSpPr>
            <p:nvPr/>
          </p:nvSpPr>
          <p:spPr bwMode="auto">
            <a:xfrm>
              <a:off x="3459118" y="3373684"/>
              <a:ext cx="877059" cy="56200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3"/>
            <p:cNvSpPr>
              <a:spLocks noChangeShapeType="1"/>
            </p:cNvSpPr>
            <p:nvPr/>
          </p:nvSpPr>
          <p:spPr bwMode="auto">
            <a:xfrm>
              <a:off x="5436553" y="2436747"/>
              <a:ext cx="0" cy="87431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4"/>
            <p:cNvSpPr>
              <a:spLocks noChangeShapeType="1"/>
            </p:cNvSpPr>
            <p:nvPr/>
          </p:nvSpPr>
          <p:spPr bwMode="auto">
            <a:xfrm flipH="1">
              <a:off x="4511765" y="3338221"/>
              <a:ext cx="933841" cy="62462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5"/>
            <p:cNvSpPr>
              <a:spLocks noChangeShapeType="1"/>
            </p:cNvSpPr>
            <p:nvPr/>
          </p:nvSpPr>
          <p:spPr bwMode="auto">
            <a:xfrm flipH="1">
              <a:off x="2764256" y="3372938"/>
              <a:ext cx="642944"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6"/>
            <p:cNvSpPr>
              <a:spLocks noChangeShapeType="1"/>
            </p:cNvSpPr>
            <p:nvPr/>
          </p:nvSpPr>
          <p:spPr bwMode="auto">
            <a:xfrm>
              <a:off x="5486902" y="3374432"/>
              <a:ext cx="817657"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3"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19994" y="3839204"/>
              <a:ext cx="409702" cy="2496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8"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87677" y="3714761"/>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74"/>
            <p:cNvSpPr txBox="1">
              <a:spLocks noChangeArrowheads="1"/>
            </p:cNvSpPr>
            <p:nvPr/>
          </p:nvSpPr>
          <p:spPr bwMode="auto">
            <a:xfrm>
              <a:off x="5376659" y="201927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3</a:t>
              </a:r>
            </a:p>
          </p:txBody>
        </p:sp>
        <p:sp>
          <p:nvSpPr>
            <p:cNvPr id="70" name="Text Box 75"/>
            <p:cNvSpPr txBox="1">
              <a:spLocks noChangeArrowheads="1"/>
            </p:cNvSpPr>
            <p:nvPr/>
          </p:nvSpPr>
          <p:spPr bwMode="auto">
            <a:xfrm>
              <a:off x="3018346" y="295310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4</a:t>
              </a:r>
            </a:p>
          </p:txBody>
        </p:sp>
        <p:sp>
          <p:nvSpPr>
            <p:cNvPr id="71" name="Text Box 76"/>
            <p:cNvSpPr txBox="1">
              <a:spLocks noChangeArrowheads="1"/>
            </p:cNvSpPr>
            <p:nvPr/>
          </p:nvSpPr>
          <p:spPr bwMode="auto">
            <a:xfrm>
              <a:off x="2340638" y="349893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6</a:t>
              </a:r>
            </a:p>
          </p:txBody>
        </p:sp>
        <p:sp>
          <p:nvSpPr>
            <p:cNvPr id="72" name="Text Box 77"/>
            <p:cNvSpPr txBox="1">
              <a:spLocks noChangeArrowheads="1"/>
            </p:cNvSpPr>
            <p:nvPr/>
          </p:nvSpPr>
          <p:spPr bwMode="auto">
            <a:xfrm>
              <a:off x="4210941" y="357761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3" name="Text Box 78"/>
            <p:cNvSpPr txBox="1">
              <a:spLocks noChangeArrowheads="1"/>
            </p:cNvSpPr>
            <p:nvPr/>
          </p:nvSpPr>
          <p:spPr bwMode="auto">
            <a:xfrm>
              <a:off x="6204735" y="3469446"/>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8</a:t>
              </a:r>
            </a:p>
          </p:txBody>
        </p:sp>
        <p:sp>
          <p:nvSpPr>
            <p:cNvPr id="92" name="Text Box 87"/>
            <p:cNvSpPr txBox="1">
              <a:spLocks noChangeArrowheads="1"/>
            </p:cNvSpPr>
            <p:nvPr/>
          </p:nvSpPr>
          <p:spPr bwMode="auto">
            <a:xfrm>
              <a:off x="4394707" y="1626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1</a:t>
              </a:r>
            </a:p>
          </p:txBody>
        </p:sp>
        <p:sp>
          <p:nvSpPr>
            <p:cNvPr id="93" name="Text Box 88"/>
            <p:cNvSpPr txBox="1">
              <a:spLocks noChangeArrowheads="1"/>
            </p:cNvSpPr>
            <p:nvPr/>
          </p:nvSpPr>
          <p:spPr bwMode="auto">
            <a:xfrm>
              <a:off x="5453427" y="2954084"/>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5</a:t>
              </a:r>
            </a:p>
          </p:txBody>
        </p:sp>
        <p:sp>
          <p:nvSpPr>
            <p:cNvPr id="94" name="Text Box 89"/>
            <p:cNvSpPr txBox="1">
              <a:spLocks noChangeArrowheads="1"/>
            </p:cNvSpPr>
            <p:nvPr/>
          </p:nvSpPr>
          <p:spPr bwMode="auto">
            <a:xfrm>
              <a:off x="3054693" y="1993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2</a:t>
              </a:r>
            </a:p>
          </p:txBody>
        </p:sp>
        <p:sp>
          <p:nvSpPr>
            <p:cNvPr id="111" name="Line 5"/>
            <p:cNvSpPr>
              <a:spLocks noChangeShapeType="1"/>
            </p:cNvSpPr>
            <p:nvPr/>
          </p:nvSpPr>
          <p:spPr bwMode="auto">
            <a:xfrm flipH="1">
              <a:off x="5557986" y="2397766"/>
              <a:ext cx="619826" cy="19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7"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6748" y="3775779"/>
              <a:ext cx="410576" cy="2496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91"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1465" y="1836873"/>
              <a:ext cx="409703" cy="2504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66636" y="1219397"/>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11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82442" y="2213516"/>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3213776"/>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2276037"/>
              <a:ext cx="409703"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2276037"/>
              <a:ext cx="409702"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3213776"/>
              <a:ext cx="409703"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34" name="Text Box 102"/>
          <p:cNvSpPr txBox="1">
            <a:spLocks noChangeArrowheads="1"/>
          </p:cNvSpPr>
          <p:nvPr/>
        </p:nvSpPr>
        <p:spPr bwMode="auto">
          <a:xfrm>
            <a:off x="1301593" y="4319335"/>
            <a:ext cx="6540815" cy="378117"/>
          </a:xfrm>
          <a:prstGeom prst="rect">
            <a:avLst/>
          </a:prstGeom>
          <a:noFill/>
          <a:ln>
            <a:noFill/>
          </a:ln>
          <a:effectLst/>
        </p:spPr>
        <p:txBody>
          <a:bodyPr wrap="square">
            <a:spAutoFit/>
          </a:bodyPr>
          <a:lstStyle/>
          <a:p>
            <a:pPr algn="ctr">
              <a:lnSpc>
                <a:spcPts val="2400"/>
              </a:lnSpc>
            </a:pPr>
            <a:r>
              <a:rPr lang="en-US" altLang="zh-CN" sz="1400" dirty="0">
                <a:latin typeface="Montserrat" panose="00000500000000000000" pitchFamily="2" charset="0"/>
                <a:ea typeface="微软雅黑" pitchFamily="34" charset="-122"/>
              </a:rPr>
              <a:t>M </a:t>
            </a:r>
            <a:r>
              <a:rPr lang="zh-CN" altLang="en-US" sz="1400" dirty="0">
                <a:latin typeface="Montserrat" panose="00000500000000000000" pitchFamily="2" charset="0"/>
                <a:ea typeface="微软雅黑" pitchFamily="34" charset="-122"/>
              </a:rPr>
              <a:t>个源，</a:t>
            </a:r>
            <a:r>
              <a:rPr lang="en-US" altLang="zh-CN" sz="1400" dirty="0">
                <a:latin typeface="Montserrat" panose="00000500000000000000" pitchFamily="2" charset="0"/>
                <a:ea typeface="微软雅黑" pitchFamily="34" charset="-122"/>
              </a:rPr>
              <a:t>N </a:t>
            </a:r>
            <a:r>
              <a:rPr lang="zh-CN" altLang="en-US" sz="1400" dirty="0">
                <a:latin typeface="Montserrat" panose="00000500000000000000" pitchFamily="2" charset="0"/>
                <a:ea typeface="微软雅黑" pitchFamily="34" charset="-122"/>
              </a:rPr>
              <a:t>个多播组，需要 </a:t>
            </a:r>
            <a:r>
              <a:rPr lang="en-US" altLang="zh-CN" sz="1400" dirty="0" err="1">
                <a:latin typeface="Montserrat" panose="00000500000000000000" pitchFamily="2" charset="0"/>
                <a:ea typeface="微软雅黑" pitchFamily="34" charset="-122"/>
              </a:rPr>
              <a:t>MⅹN</a:t>
            </a:r>
            <a:r>
              <a:rPr lang="en-US" altLang="zh-CN" sz="1400" dirty="0">
                <a:latin typeface="Montserrat" panose="00000500000000000000" pitchFamily="2" charset="0"/>
                <a:ea typeface="微软雅黑" pitchFamily="34" charset="-122"/>
              </a:rPr>
              <a:t> </a:t>
            </a:r>
            <a:r>
              <a:rPr lang="zh-CN" altLang="en-US" sz="1400" dirty="0">
                <a:latin typeface="Montserrat" panose="00000500000000000000" pitchFamily="2" charset="0"/>
                <a:ea typeface="微软雅黑" pitchFamily="34" charset="-122"/>
              </a:rPr>
              <a:t>棵以源为根的多播转发树</a:t>
            </a:r>
            <a:endParaRPr lang="en-US" altLang="zh-CN" sz="1400" dirty="0">
              <a:latin typeface="Montserrat" panose="00000500000000000000" pitchFamily="2" charset="0"/>
              <a:ea typeface="微软雅黑" pitchFamily="34" charset="-122"/>
            </a:endParaRPr>
          </a:p>
        </p:txBody>
      </p:sp>
      <p:sp>
        <p:nvSpPr>
          <p:cNvPr id="2" name="标题 1">
            <a:extLst>
              <a:ext uri="{FF2B5EF4-FFF2-40B4-BE49-F238E27FC236}">
                <a16:creationId xmlns:a16="http://schemas.microsoft.com/office/drawing/2014/main" id="{18EF287E-791B-81BA-924D-5E91CDFAB547}"/>
              </a:ext>
            </a:extLst>
          </p:cNvPr>
          <p:cNvSpPr>
            <a:spLocks noGrp="1"/>
          </p:cNvSpPr>
          <p:nvPr>
            <p:ph type="title"/>
          </p:nvPr>
        </p:nvSpPr>
        <p:spPr>
          <a:xfrm>
            <a:off x="486000" y="550723"/>
            <a:ext cx="8172000" cy="338554"/>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B9392D0F-E05A-E93D-7615-6771A193E7F5}"/>
              </a:ext>
            </a:extLst>
          </p:cNvPr>
          <p:cNvSpPr>
            <a:spLocks noGrp="1"/>
          </p:cNvSpPr>
          <p:nvPr>
            <p:ph sz="quarter" idx="11"/>
          </p:nvPr>
        </p:nvSpPr>
        <p:spPr>
          <a:xfrm>
            <a:off x="485999" y="900000"/>
            <a:ext cx="4086001" cy="3703500"/>
          </a:xfrm>
        </p:spPr>
        <p:txBody>
          <a:bodyPr/>
          <a:lstStyle/>
          <a:p>
            <a:r>
              <a:rPr lang="zh-CN" altLang="en-US" dirty="0"/>
              <a:t>实际上就是要找出以源主机为根节点的多播转发树</a:t>
            </a:r>
            <a:endParaRPr lang="en-US" altLang="zh-CN" dirty="0"/>
          </a:p>
          <a:p>
            <a:r>
              <a:rPr lang="zh-CN" altLang="en-US" dirty="0"/>
              <a:t>不同的多播组对应于不同的多播转发树</a:t>
            </a:r>
          </a:p>
          <a:p>
            <a:r>
              <a:rPr lang="zh-CN" altLang="en-US" dirty="0"/>
              <a:t>同一个多播组，对不同的源点也会有不同的多播转发树</a:t>
            </a:r>
          </a:p>
          <a:p>
            <a:endParaRPr lang="zh-CN" altLang="en-US" dirty="0"/>
          </a:p>
        </p:txBody>
      </p:sp>
    </p:spTree>
    <p:extLst>
      <p:ext uri="{BB962C8B-B14F-4D97-AF65-F5344CB8AC3E}">
        <p14:creationId xmlns:p14="http://schemas.microsoft.com/office/powerpoint/2010/main" val="683030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500" fill="hold"/>
                                        <p:tgtEl>
                                          <p:spTgt spid="14"/>
                                        </p:tgtEl>
                                        <p:attrNameLst>
                                          <p:attrName>style.visibility</p:attrName>
                                        </p:attrNameLst>
                                      </p:cBhvr>
                                      <p:tavLst>
                                        <p:tav tm="0">
                                          <p:val>
                                            <p:strVal val="hidden"/>
                                          </p:val>
                                        </p:tav>
                                        <p:tav tm="50000">
                                          <p:val>
                                            <p:strVal val="visible"/>
                                          </p:val>
                                        </p:tav>
                                      </p:tavLst>
                                    </p:anim>
                                  </p:childTnLst>
                                </p:cTn>
                              </p:par>
                            </p:childTnLst>
                          </p:cTn>
                        </p:par>
                        <p:par>
                          <p:cTn id="7" fill="hold">
                            <p:stCondLst>
                              <p:cond delay="1500"/>
                            </p:stCondLst>
                            <p:childTnLst>
                              <p:par>
                                <p:cTn id="8" presetID="22" presetClass="entr" presetSubtype="1" fill="hold" nodeType="afterEffect">
                                  <p:stCondLst>
                                    <p:cond delay="0"/>
                                  </p:stCondLst>
                                  <p:childTnLst>
                                    <p:set>
                                      <p:cBhvr>
                                        <p:cTn id="9" dur="1" fill="hold">
                                          <p:stCondLst>
                                            <p:cond delay="0"/>
                                          </p:stCondLst>
                                        </p:cTn>
                                        <p:tgtEl>
                                          <p:spTgt spid="128"/>
                                        </p:tgtEl>
                                        <p:attrNameLst>
                                          <p:attrName>style.visibility</p:attrName>
                                        </p:attrNameLst>
                                      </p:cBhvr>
                                      <p:to>
                                        <p:strVal val="visible"/>
                                      </p:to>
                                    </p:set>
                                    <p:animEffect transition="in" filter="wipe(up)">
                                      <p:cBhvr>
                                        <p:cTn id="10" dur="1000"/>
                                        <p:tgtEl>
                                          <p:spTgt spid="128"/>
                                        </p:tgtEl>
                                      </p:cBhvr>
                                    </p:animEffect>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grpId="0" nodeType="clickEffect">
                                  <p:stCondLst>
                                    <p:cond delay="0"/>
                                  </p:stCondLst>
                                  <p:childTnLst>
                                    <p:anim calcmode="discrete" valueType="str">
                                      <p:cBhvr>
                                        <p:cTn id="14" dur="500" fill="hold"/>
                                        <p:tgtEl>
                                          <p:spTgt spid="109"/>
                                        </p:tgtEl>
                                        <p:attrNameLst>
                                          <p:attrName>style.visibility</p:attrName>
                                        </p:attrNameLst>
                                      </p:cBhvr>
                                      <p:tavLst>
                                        <p:tav tm="0">
                                          <p:val>
                                            <p:strVal val="hidden"/>
                                          </p:val>
                                        </p:tav>
                                        <p:tav tm="50000">
                                          <p:val>
                                            <p:strVal val="visible"/>
                                          </p:val>
                                        </p:tav>
                                      </p:tavLst>
                                    </p:anim>
                                  </p:childTnLst>
                                </p:cTn>
                              </p:par>
                            </p:childTnLst>
                          </p:cTn>
                        </p:par>
                        <p:par>
                          <p:cTn id="15" fill="hold">
                            <p:stCondLst>
                              <p:cond delay="1500"/>
                            </p:stCondLst>
                            <p:childTnLst>
                              <p:par>
                                <p:cTn id="16" presetID="22" presetClass="entr" presetSubtype="2" fill="hold" nodeType="afterEffect">
                                  <p:stCondLst>
                                    <p:cond delay="0"/>
                                  </p:stCondLst>
                                  <p:childTnLst>
                                    <p:set>
                                      <p:cBhvr>
                                        <p:cTn id="17" dur="1" fill="hold">
                                          <p:stCondLst>
                                            <p:cond delay="0"/>
                                          </p:stCondLst>
                                        </p:cTn>
                                        <p:tgtEl>
                                          <p:spTgt spid="130"/>
                                        </p:tgtEl>
                                        <p:attrNameLst>
                                          <p:attrName>style.visibility</p:attrName>
                                        </p:attrNameLst>
                                      </p:cBhvr>
                                      <p:to>
                                        <p:strVal val="visible"/>
                                      </p:to>
                                    </p:set>
                                    <p:animEffect transition="in" filter="wipe(right)">
                                      <p:cBhvr>
                                        <p:cTn id="18" dur="1000"/>
                                        <p:tgtEl>
                                          <p:spTgt spid="13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34"/>
                                        </p:tgtEl>
                                        <p:attrNameLst>
                                          <p:attrName>style.visibility</p:attrName>
                                        </p:attrNameLst>
                                      </p:cBhvr>
                                      <p:to>
                                        <p:strVal val="visible"/>
                                      </p:to>
                                    </p:set>
                                    <p:animEffect transition="in" filter="fade">
                                      <p:cBhvr>
                                        <p:cTn id="23"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09" grpId="0"/>
      <p:bldP spid="134" grpId="0" animBg="1"/>
    </p:bldLst>
  </p:timing>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8D15C7F-CC11-57BB-7015-A016021D9922}"/>
              </a:ext>
            </a:extLst>
          </p:cNvPr>
          <p:cNvSpPr>
            <a:spLocks noGrp="1"/>
          </p:cNvSpPr>
          <p:nvPr>
            <p:ph type="title"/>
          </p:nvPr>
        </p:nvSpPr>
        <p:spPr>
          <a:xfrm>
            <a:off x="486000" y="550723"/>
            <a:ext cx="8172000" cy="338554"/>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707EBED5-79F1-8E70-5B78-E6A51621D5B6}"/>
              </a:ext>
            </a:extLst>
          </p:cNvPr>
          <p:cNvSpPr>
            <a:spLocks noGrp="1"/>
          </p:cNvSpPr>
          <p:nvPr>
            <p:ph sz="quarter" idx="11"/>
          </p:nvPr>
        </p:nvSpPr>
        <p:spPr>
          <a:xfrm>
            <a:off x="486000" y="900000"/>
            <a:ext cx="8172000" cy="3703500"/>
          </a:xfrm>
        </p:spPr>
        <p:txBody>
          <a:bodyPr/>
          <a:lstStyle/>
          <a:p>
            <a:r>
              <a:rPr lang="zh-CN" altLang="en-US" dirty="0"/>
              <a:t>转发多播数据报时使用三种方法：</a:t>
            </a:r>
          </a:p>
          <a:p>
            <a:pPr lvl="1"/>
            <a:r>
              <a:rPr lang="zh-CN" altLang="en-US" dirty="0"/>
              <a:t>洪泛 </a:t>
            </a:r>
            <a:r>
              <a:rPr lang="en-US" altLang="zh-CN" dirty="0"/>
              <a:t>flooding</a:t>
            </a:r>
            <a:r>
              <a:rPr lang="zh-CN" altLang="en-US" dirty="0"/>
              <a:t>与剪除</a:t>
            </a:r>
          </a:p>
          <a:p>
            <a:pPr lvl="1"/>
            <a:r>
              <a:rPr lang="zh-CN" altLang="en-US" dirty="0"/>
              <a:t>隧道技术 </a:t>
            </a:r>
            <a:r>
              <a:rPr lang="en-US" altLang="zh-CN" dirty="0"/>
              <a:t>tunneling</a:t>
            </a:r>
          </a:p>
          <a:p>
            <a:pPr lvl="1"/>
            <a:r>
              <a:rPr lang="zh-CN" altLang="en-US" dirty="0"/>
              <a:t>基于核心的发现技术</a:t>
            </a:r>
          </a:p>
          <a:p>
            <a:endParaRPr lang="zh-CN" altLang="en-US" dirty="0"/>
          </a:p>
        </p:txBody>
      </p:sp>
    </p:spTree>
    <p:extLst>
      <p:ext uri="{BB962C8B-B14F-4D97-AF65-F5344CB8AC3E}">
        <p14:creationId xmlns:p14="http://schemas.microsoft.com/office/powerpoint/2010/main" val="2851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7C2D8B7-6D1C-8AC5-BD5A-BB7064B1626D}"/>
              </a:ext>
            </a:extLst>
          </p:cNvPr>
          <p:cNvSpPr>
            <a:spLocks noGrp="1"/>
          </p:cNvSpPr>
          <p:nvPr>
            <p:ph type="title"/>
          </p:nvPr>
        </p:nvSpPr>
        <p:spPr>
          <a:xfrm>
            <a:off x="486000" y="550723"/>
            <a:ext cx="8172000" cy="338554"/>
          </a:xfrm>
        </p:spPr>
        <p:txBody>
          <a:bodyPr/>
          <a:lstStyle/>
          <a:p>
            <a:r>
              <a:rPr lang="en-US" altLang="zh-CN" dirty="0"/>
              <a:t>(1) </a:t>
            </a:r>
            <a:r>
              <a:rPr lang="zh-CN" altLang="en-US" dirty="0"/>
              <a:t>洪泛与剪除</a:t>
            </a:r>
          </a:p>
        </p:txBody>
      </p:sp>
      <p:sp>
        <p:nvSpPr>
          <p:cNvPr id="6" name="内容占位符 5">
            <a:extLst>
              <a:ext uri="{FF2B5EF4-FFF2-40B4-BE49-F238E27FC236}">
                <a16:creationId xmlns:a16="http://schemas.microsoft.com/office/drawing/2014/main" id="{8FB2DFCC-CA68-E3D9-73FD-64B70697A3F6}"/>
              </a:ext>
            </a:extLst>
          </p:cNvPr>
          <p:cNvSpPr>
            <a:spLocks noGrp="1"/>
          </p:cNvSpPr>
          <p:nvPr>
            <p:ph sz="quarter" idx="11"/>
          </p:nvPr>
        </p:nvSpPr>
        <p:spPr>
          <a:xfrm>
            <a:off x="486000" y="900000"/>
            <a:ext cx="8172000" cy="3703500"/>
          </a:xfrm>
        </p:spPr>
        <p:txBody>
          <a:bodyPr/>
          <a:lstStyle/>
          <a:p>
            <a:r>
              <a:rPr lang="zh-CN" altLang="en-US" dirty="0"/>
              <a:t>适合于较小的多播组，所有组成员接入的局域网也是相邻接的</a:t>
            </a:r>
          </a:p>
          <a:p>
            <a:r>
              <a:rPr lang="zh-CN" altLang="en-US" dirty="0"/>
              <a:t>开始时，路由器转发多播数据报使用洪泛的方法 </a:t>
            </a:r>
            <a:r>
              <a:rPr lang="en-US" altLang="zh-CN" dirty="0"/>
              <a:t>- </a:t>
            </a:r>
            <a:r>
              <a:rPr lang="zh-CN" altLang="en-US" dirty="0"/>
              <a:t>广播</a:t>
            </a:r>
          </a:p>
          <a:p>
            <a:r>
              <a:rPr lang="zh-CN" altLang="en-US" dirty="0"/>
              <a:t>为避免兜圈子，采用反向路径广播 </a:t>
            </a:r>
            <a:r>
              <a:rPr lang="en-US" altLang="zh-CN" dirty="0"/>
              <a:t>RPB - Reverse Path Broadcasting </a:t>
            </a:r>
            <a:r>
              <a:rPr lang="zh-CN" altLang="en-US" dirty="0"/>
              <a:t>的策略</a:t>
            </a:r>
          </a:p>
          <a:p>
            <a:endParaRPr lang="zh-CN" altLang="en-US" dirty="0"/>
          </a:p>
        </p:txBody>
      </p:sp>
    </p:spTree>
    <p:extLst>
      <p:ext uri="{BB962C8B-B14F-4D97-AF65-F5344CB8AC3E}">
        <p14:creationId xmlns:p14="http://schemas.microsoft.com/office/powerpoint/2010/main" val="24315489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a:spLocks noChangeArrowheads="1"/>
          </p:cNvSpPr>
          <p:nvPr/>
        </p:nvSpPr>
        <p:spPr bwMode="auto">
          <a:xfrm>
            <a:off x="3164997" y="3249421"/>
            <a:ext cx="2050874" cy="3091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algn="ctr" defTabSz="904875" eaLnBrk="0" hangingPunct="0"/>
            <a:r>
              <a:rPr lang="en-US" altLang="zh-CN" sz="1400" dirty="0">
                <a:solidFill>
                  <a:srgbClr val="0000FF"/>
                </a:solidFill>
                <a:latin typeface="微软雅黑 Light" panose="020B0502040204020203" pitchFamily="34" charset="-122"/>
                <a:ea typeface="微软雅黑 Light" panose="020B0502040204020203" pitchFamily="34" charset="-122"/>
              </a:rPr>
              <a:t>R</a:t>
            </a:r>
            <a:r>
              <a:rPr lang="en-US" altLang="zh-CN" sz="1400" baseline="-25000" dirty="0">
                <a:solidFill>
                  <a:srgbClr val="0000FF"/>
                </a:solidFill>
                <a:latin typeface="微软雅黑 Light" panose="020B0502040204020203" pitchFamily="34" charset="-122"/>
                <a:ea typeface="微软雅黑 Light" panose="020B0502040204020203" pitchFamily="34" charset="-122"/>
              </a:rPr>
              <a:t>0</a:t>
            </a:r>
            <a:r>
              <a:rPr lang="en-US" altLang="zh-CN" sz="1400" dirty="0">
                <a:solidFill>
                  <a:srgbClr val="0000FF"/>
                </a:solidFill>
                <a:latin typeface="微软雅黑 Light" panose="020B0502040204020203" pitchFamily="34" charset="-122"/>
                <a:ea typeface="微软雅黑 Light" panose="020B0502040204020203" pitchFamily="34" charset="-122"/>
              </a:rPr>
              <a:t> </a:t>
            </a:r>
            <a:r>
              <a:rPr lang="zh-CN" altLang="en-US" sz="1400" dirty="0">
                <a:solidFill>
                  <a:srgbClr val="0000FF"/>
                </a:solidFill>
                <a:latin typeface="微软雅黑 Light" panose="020B0502040204020203" pitchFamily="34" charset="-122"/>
                <a:ea typeface="微软雅黑 Light" panose="020B0502040204020203" pitchFamily="34" charset="-122"/>
              </a:rPr>
              <a:t>单播路由表</a:t>
            </a:r>
            <a:endParaRPr lang="en-US" altLang="zh-CN" sz="1400" dirty="0">
              <a:solidFill>
                <a:srgbClr val="0000FF"/>
              </a:solidFill>
              <a:latin typeface="微软雅黑 Light" panose="020B0502040204020203" pitchFamily="34" charset="-122"/>
              <a:ea typeface="微软雅黑 Light" panose="020B0502040204020203" pitchFamily="34" charset="-122"/>
            </a:endParaRPr>
          </a:p>
        </p:txBody>
      </p:sp>
      <p:grpSp>
        <p:nvGrpSpPr>
          <p:cNvPr id="13" name="Group 12"/>
          <p:cNvGrpSpPr>
            <a:grpSpLocks/>
          </p:cNvGrpSpPr>
          <p:nvPr/>
        </p:nvGrpSpPr>
        <p:grpSpPr bwMode="auto">
          <a:xfrm>
            <a:off x="1063036" y="3928079"/>
            <a:ext cx="2169040" cy="525474"/>
            <a:chOff x="2299" y="2980"/>
            <a:chExt cx="2294" cy="294"/>
          </a:xfrm>
        </p:grpSpPr>
        <p:sp>
          <p:nvSpPr>
            <p:cNvPr id="14" name="Rectangle 13"/>
            <p:cNvSpPr>
              <a:spLocks noChangeArrowheads="1"/>
            </p:cNvSpPr>
            <p:nvPr/>
          </p:nvSpPr>
          <p:spPr bwMode="auto">
            <a:xfrm>
              <a:off x="2299" y="2980"/>
              <a:ext cx="1827"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400" dirty="0">
                  <a:latin typeface="微软雅黑 Light" panose="020B0502040204020203" pitchFamily="34" charset="-122"/>
                  <a:ea typeface="微软雅黑 Light" panose="020B0502040204020203" pitchFamily="34" charset="-122"/>
                </a:rPr>
                <a:t>经最短路径传送来的，</a:t>
              </a:r>
              <a:r>
                <a:rPr lang="zh-CN" altLang="en-US" sz="1400" dirty="0">
                  <a:solidFill>
                    <a:srgbClr val="C00000"/>
                  </a:solidFill>
                  <a:latin typeface="微软雅黑 Light" panose="020B0502040204020203" pitchFamily="34" charset="-122"/>
                  <a:ea typeface="微软雅黑 Light" panose="020B0502040204020203" pitchFamily="34" charset="-122"/>
                </a:rPr>
                <a:t>转发！</a:t>
              </a:r>
              <a:endParaRPr lang="en-US" altLang="zh-CN" sz="1400" dirty="0">
                <a:solidFill>
                  <a:srgbClr val="C00000"/>
                </a:solidFill>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flipH="1">
              <a:off x="4038" y="3020"/>
              <a:ext cx="555" cy="8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20" name="Line 19"/>
          <p:cNvSpPr>
            <a:spLocks noChangeShapeType="1"/>
          </p:cNvSpPr>
          <p:nvPr/>
        </p:nvSpPr>
        <p:spPr bwMode="auto">
          <a:xfrm flipV="1">
            <a:off x="2759083" y="1557423"/>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1" name="Line 20"/>
          <p:cNvSpPr>
            <a:spLocks noChangeShapeType="1"/>
          </p:cNvSpPr>
          <p:nvPr/>
        </p:nvSpPr>
        <p:spPr bwMode="auto">
          <a:xfrm flipH="1">
            <a:off x="2885127" y="2893788"/>
            <a:ext cx="1292302"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3" name="Rectangle 22"/>
          <p:cNvSpPr>
            <a:spLocks noChangeArrowheads="1"/>
          </p:cNvSpPr>
          <p:nvPr/>
        </p:nvSpPr>
        <p:spPr bwMode="auto">
          <a:xfrm>
            <a:off x="2104579" y="1439433"/>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grpSp>
        <p:nvGrpSpPr>
          <p:cNvPr id="26" name="Group 25"/>
          <p:cNvGrpSpPr>
            <a:grpSpLocks/>
          </p:cNvGrpSpPr>
          <p:nvPr/>
        </p:nvGrpSpPr>
        <p:grpSpPr bwMode="auto">
          <a:xfrm>
            <a:off x="946976" y="1628671"/>
            <a:ext cx="1719047" cy="1084653"/>
            <a:chOff x="1901" y="1467"/>
            <a:chExt cx="962" cy="608"/>
          </a:xfrm>
        </p:grpSpPr>
        <p:sp>
          <p:nvSpPr>
            <p:cNvPr id="27" name="Rectangle 26"/>
            <p:cNvSpPr>
              <a:spLocks noChangeArrowheads="1"/>
            </p:cNvSpPr>
            <p:nvPr/>
          </p:nvSpPr>
          <p:spPr bwMode="auto">
            <a:xfrm>
              <a:off x="1901" y="1548"/>
              <a:ext cx="838"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400" dirty="0">
                  <a:latin typeface="微软雅黑 Light" panose="020B0502040204020203" pitchFamily="34" charset="-122"/>
                  <a:ea typeface="微软雅黑 Light" panose="020B0502040204020203" pitchFamily="34" charset="-122"/>
                </a:rPr>
                <a:t>多播数据报</a:t>
              </a:r>
              <a:endParaRPr lang="en-US" altLang="zh-CN" sz="1400" dirty="0">
                <a:latin typeface="微软雅黑 Light" panose="020B0502040204020203" pitchFamily="34" charset="-122"/>
                <a:ea typeface="微软雅黑 Light" panose="020B0502040204020203" pitchFamily="34" charset="-122"/>
              </a:endParaRPr>
            </a:p>
            <a:p>
              <a:pPr algn="ctr" defTabSz="904875" eaLnBrk="0" hangingPunct="0"/>
              <a:r>
                <a:rPr lang="zh-CN" altLang="en-US" sz="1400" dirty="0">
                  <a:latin typeface="微软雅黑 Light" panose="020B0502040204020203" pitchFamily="34" charset="-122"/>
                  <a:ea typeface="微软雅黑 Light" panose="020B0502040204020203" pitchFamily="34" charset="-122"/>
                </a:rPr>
                <a:t>来自</a:t>
              </a:r>
              <a:r>
                <a:rPr lang="en-US" altLang="zh-CN" sz="1400" dirty="0">
                  <a:latin typeface="微软雅黑 Light" panose="020B0502040204020203" pitchFamily="34" charset="-122"/>
                  <a:ea typeface="微软雅黑 Light" panose="020B0502040204020203" pitchFamily="34" charset="-122"/>
                </a:rPr>
                <a:t> </a:t>
              </a:r>
              <a:r>
                <a:rPr lang="en-US" altLang="zh-CN" sz="1400" dirty="0">
                  <a:solidFill>
                    <a:srgbClr val="CC00CC"/>
                  </a:solidFill>
                  <a:latin typeface="微软雅黑 Light" panose="020B0502040204020203" pitchFamily="34" charset="-122"/>
                  <a:ea typeface="微软雅黑 Light" panose="020B0502040204020203" pitchFamily="34" charset="-122"/>
                </a:rPr>
                <a:t>151.10.33.21</a:t>
              </a:r>
            </a:p>
          </p:txBody>
        </p:sp>
        <p:sp>
          <p:nvSpPr>
            <p:cNvPr id="28" name="Line 27"/>
            <p:cNvSpPr>
              <a:spLocks noChangeShapeType="1"/>
            </p:cNvSpPr>
            <p:nvPr/>
          </p:nvSpPr>
          <p:spPr bwMode="auto">
            <a:xfrm flipH="1">
              <a:off x="2863" y="1467"/>
              <a:ext cx="0" cy="608"/>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pic>
        <p:nvPicPr>
          <p:cNvPr id="34"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6" y="1417132"/>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08169" y="2714087"/>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Line 19"/>
          <p:cNvSpPr>
            <a:spLocks noChangeShapeType="1"/>
          </p:cNvSpPr>
          <p:nvPr/>
        </p:nvSpPr>
        <p:spPr bwMode="auto">
          <a:xfrm flipV="1">
            <a:off x="2759082" y="2973998"/>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7" name="Line 19"/>
          <p:cNvSpPr>
            <a:spLocks noChangeShapeType="1"/>
          </p:cNvSpPr>
          <p:nvPr/>
        </p:nvSpPr>
        <p:spPr bwMode="auto">
          <a:xfrm flipV="1">
            <a:off x="2210305" y="2973997"/>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5" y="2714087"/>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22"/>
          <p:cNvSpPr>
            <a:spLocks noChangeArrowheads="1"/>
          </p:cNvSpPr>
          <p:nvPr/>
        </p:nvSpPr>
        <p:spPr bwMode="auto">
          <a:xfrm>
            <a:off x="2232547" y="2432318"/>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39" name="Rectangle 22"/>
          <p:cNvSpPr>
            <a:spLocks noChangeArrowheads="1"/>
          </p:cNvSpPr>
          <p:nvPr/>
        </p:nvSpPr>
        <p:spPr bwMode="auto">
          <a:xfrm>
            <a:off x="4177429" y="2432318"/>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aphicFrame>
        <p:nvGraphicFramePr>
          <p:cNvPr id="40" name="表格 39"/>
          <p:cNvGraphicFramePr>
            <a:graphicFrameLocks noGrp="1"/>
          </p:cNvGraphicFramePr>
          <p:nvPr>
            <p:extLst>
              <p:ext uri="{D42A27DB-BD31-4B8C-83A1-F6EECF244321}">
                <p14:modId xmlns:p14="http://schemas.microsoft.com/office/powerpoint/2010/main" val="1119191938"/>
              </p:ext>
            </p:extLst>
          </p:nvPr>
        </p:nvGraphicFramePr>
        <p:xfrm>
          <a:off x="3106724" y="3547265"/>
          <a:ext cx="2208519" cy="1097280"/>
        </p:xfrm>
        <a:graphic>
          <a:graphicData uri="http://schemas.openxmlformats.org/drawingml/2006/table">
            <a:tbl>
              <a:tblPr firstRow="1" bandRow="1">
                <a:tableStyleId>{5940675A-B579-460E-94D1-54222C63F5DA}</a:tableStyleId>
              </a:tblPr>
              <a:tblGrid>
                <a:gridCol w="1428310">
                  <a:extLst>
                    <a:ext uri="{9D8B030D-6E8A-4147-A177-3AD203B41FA5}">
                      <a16:colId xmlns:a16="http://schemas.microsoft.com/office/drawing/2014/main" val="1462558753"/>
                    </a:ext>
                  </a:extLst>
                </a:gridCol>
                <a:gridCol w="780209">
                  <a:extLst>
                    <a:ext uri="{9D8B030D-6E8A-4147-A177-3AD203B41FA5}">
                      <a16:colId xmlns:a16="http://schemas.microsoft.com/office/drawing/2014/main" val="1329728034"/>
                    </a:ext>
                  </a:extLst>
                </a:gridCol>
              </a:tblGrid>
              <a:tr h="242444">
                <a:tc>
                  <a:txBody>
                    <a:bodyPr/>
                    <a:lstStyle/>
                    <a:p>
                      <a:pPr algn="ctr"/>
                      <a:r>
                        <a:rPr lang="zh-CN" altLang="en-US" sz="1200" b="0" dirty="0">
                          <a:latin typeface="Montserrat" panose="00000500000000000000" pitchFamily="2" charset="0"/>
                          <a:ea typeface="微软雅黑 Light" panose="020B0502040204020203" pitchFamily="34" charset="-122"/>
                        </a:rPr>
                        <a:t>目的网络</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sz="1200" b="0" dirty="0">
                          <a:latin typeface="Montserrat" panose="00000500000000000000" pitchFamily="2" charset="0"/>
                          <a:ea typeface="微软雅黑 Light" panose="020B0502040204020203" pitchFamily="34" charset="-122"/>
                        </a:rPr>
                        <a:t>下一跳</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81358789"/>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151.10.0.0/16</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solidFill>
                            <a:srgbClr val="C00000"/>
                          </a:solidFill>
                          <a:latin typeface="Montserrat" panose="00000500000000000000" pitchFamily="2" charset="0"/>
                          <a:ea typeface="微软雅黑 Light" panose="020B0502040204020203" pitchFamily="34" charset="-122"/>
                        </a:rPr>
                        <a:t>R</a:t>
                      </a:r>
                      <a:r>
                        <a:rPr lang="en-US" altLang="zh-CN" sz="1200" b="0" baseline="-25000" dirty="0">
                          <a:solidFill>
                            <a:srgbClr val="C00000"/>
                          </a:solidFill>
                          <a:latin typeface="Montserrat" panose="00000500000000000000" pitchFamily="2" charset="0"/>
                          <a:ea typeface="微软雅黑 Light" panose="020B0502040204020203" pitchFamily="34" charset="-122"/>
                        </a:rPr>
                        <a:t>1</a:t>
                      </a:r>
                      <a:r>
                        <a:rPr lang="en-US" altLang="zh-CN" sz="1200" b="0" dirty="0">
                          <a:solidFill>
                            <a:srgbClr val="C00000"/>
                          </a:solidFill>
                          <a:latin typeface="Montserrat" panose="00000500000000000000" pitchFamily="2" charset="0"/>
                          <a:ea typeface="微软雅黑 Light" panose="020B0502040204020203" pitchFamily="34" charset="-122"/>
                        </a:rPr>
                        <a:t> </a:t>
                      </a:r>
                      <a:endParaRPr lang="zh-CN" altLang="en-US" sz="1200" b="0" dirty="0">
                        <a:solidFill>
                          <a:srgbClr val="C00000"/>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973013368"/>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198.14.32.0/24</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latin typeface="Montserrat" panose="00000500000000000000" pitchFamily="2" charset="0"/>
                          <a:ea typeface="微软雅黑 Light" panose="020B0502040204020203" pitchFamily="34" charset="-122"/>
                        </a:rPr>
                        <a:t>R</a:t>
                      </a:r>
                      <a:r>
                        <a:rPr lang="en-US" altLang="zh-CN" sz="1200" b="0" kern="1200" baseline="-25000" dirty="0">
                          <a:solidFill>
                            <a:schemeClr val="tx1"/>
                          </a:solidFill>
                          <a:latin typeface="Montserrat" panose="00000500000000000000" pitchFamily="2" charset="0"/>
                          <a:ea typeface="微软雅黑 Light" panose="020B0502040204020203" pitchFamily="34" charset="-122"/>
                          <a:cs typeface="+mn-cs"/>
                        </a:rPr>
                        <a:t>2</a:t>
                      </a:r>
                      <a:r>
                        <a:rPr lang="en-US" altLang="zh-CN" sz="1200" b="0" dirty="0">
                          <a:latin typeface="Montserrat" panose="00000500000000000000" pitchFamily="2" charset="0"/>
                          <a:ea typeface="微软雅黑 Light" panose="020B0502040204020203" pitchFamily="34" charset="-122"/>
                        </a:rPr>
                        <a:t> </a:t>
                      </a:r>
                      <a:endParaRPr lang="zh-CN" altLang="en-US" sz="1200" b="0" dirty="0">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64301031"/>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204.1.16.0/24</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latin typeface="Montserrat" panose="00000500000000000000" pitchFamily="2" charset="0"/>
                          <a:ea typeface="微软雅黑 Light" panose="020B0502040204020203" pitchFamily="34" charset="-122"/>
                        </a:rPr>
                        <a:t>R</a:t>
                      </a:r>
                      <a:r>
                        <a:rPr lang="en-US" altLang="zh-CN" sz="1200" b="0" kern="1200" baseline="-25000" dirty="0">
                          <a:solidFill>
                            <a:schemeClr val="tx1"/>
                          </a:solidFill>
                          <a:latin typeface="Montserrat" panose="00000500000000000000" pitchFamily="2" charset="0"/>
                          <a:ea typeface="微软雅黑 Light" panose="020B0502040204020203" pitchFamily="34" charset="-122"/>
                          <a:cs typeface="+mn-cs"/>
                        </a:rPr>
                        <a:t>2</a:t>
                      </a:r>
                      <a:r>
                        <a:rPr lang="en-US" altLang="zh-CN" sz="1200" b="0" dirty="0">
                          <a:latin typeface="Montserrat" panose="00000500000000000000" pitchFamily="2" charset="0"/>
                          <a:ea typeface="微软雅黑 Light" panose="020B0502040204020203" pitchFamily="34" charset="-122"/>
                        </a:rPr>
                        <a:t> </a:t>
                      </a:r>
                      <a:endParaRPr lang="zh-CN" altLang="en-US" sz="1200" b="0" dirty="0">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54844528"/>
                  </a:ext>
                </a:extLst>
              </a:tr>
            </a:tbl>
          </a:graphicData>
        </a:graphic>
      </p:graphicFrame>
      <p:grpSp>
        <p:nvGrpSpPr>
          <p:cNvPr id="45" name="组合 44"/>
          <p:cNvGrpSpPr/>
          <p:nvPr/>
        </p:nvGrpSpPr>
        <p:grpSpPr>
          <a:xfrm>
            <a:off x="2177655" y="2836226"/>
            <a:ext cx="1930513" cy="671801"/>
            <a:chOff x="3707686" y="2889766"/>
            <a:chExt cx="1930513" cy="671801"/>
          </a:xfrm>
        </p:grpSpPr>
        <p:sp>
          <p:nvSpPr>
            <p:cNvPr id="42" name="Line 27"/>
            <p:cNvSpPr>
              <a:spLocks noChangeShapeType="1"/>
            </p:cNvSpPr>
            <p:nvPr/>
          </p:nvSpPr>
          <p:spPr bwMode="auto">
            <a:xfrm flipH="1">
              <a:off x="4220081" y="3168525"/>
              <a:ext cx="0" cy="393042"/>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3" name="Line 27"/>
            <p:cNvSpPr>
              <a:spLocks noChangeShapeType="1"/>
            </p:cNvSpPr>
            <p:nvPr/>
          </p:nvSpPr>
          <p:spPr bwMode="auto">
            <a:xfrm flipH="1">
              <a:off x="3707686" y="3066789"/>
              <a:ext cx="290127" cy="37293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4" name="Line 27"/>
            <p:cNvSpPr>
              <a:spLocks noChangeShapeType="1"/>
            </p:cNvSpPr>
            <p:nvPr/>
          </p:nvSpPr>
          <p:spPr bwMode="auto">
            <a:xfrm>
              <a:off x="4606112" y="2889766"/>
              <a:ext cx="1032087" cy="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49" name="Group 25"/>
          <p:cNvGrpSpPr>
            <a:grpSpLocks/>
          </p:cNvGrpSpPr>
          <p:nvPr/>
        </p:nvGrpSpPr>
        <p:grpSpPr bwMode="auto">
          <a:xfrm>
            <a:off x="6623804" y="1832554"/>
            <a:ext cx="1613615" cy="995454"/>
            <a:chOff x="1926" y="1528"/>
            <a:chExt cx="903" cy="558"/>
          </a:xfrm>
        </p:grpSpPr>
        <p:sp>
          <p:nvSpPr>
            <p:cNvPr id="50" name="Rectangle 26"/>
            <p:cNvSpPr>
              <a:spLocks noChangeArrowheads="1"/>
            </p:cNvSpPr>
            <p:nvPr/>
          </p:nvSpPr>
          <p:spPr bwMode="auto">
            <a:xfrm>
              <a:off x="1991" y="1528"/>
              <a:ext cx="838"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400" dirty="0">
                  <a:latin typeface="微软雅黑 Light" panose="020B0502040204020203" pitchFamily="34" charset="-122"/>
                  <a:ea typeface="微软雅黑 Light" panose="020B0502040204020203" pitchFamily="34" charset="-122"/>
                </a:rPr>
                <a:t>多播数据报</a:t>
              </a:r>
              <a:endParaRPr lang="en-US" altLang="zh-CN" sz="1400" dirty="0">
                <a:latin typeface="微软雅黑 Light" panose="020B0502040204020203" pitchFamily="34" charset="-122"/>
                <a:ea typeface="微软雅黑 Light" panose="020B0502040204020203" pitchFamily="34" charset="-122"/>
              </a:endParaRPr>
            </a:p>
            <a:p>
              <a:pPr algn="ctr" defTabSz="904875" eaLnBrk="0" hangingPunct="0"/>
              <a:r>
                <a:rPr lang="zh-CN" altLang="en-US" sz="1400" dirty="0">
                  <a:latin typeface="微软雅黑 Light" panose="020B0502040204020203" pitchFamily="34" charset="-122"/>
                  <a:ea typeface="微软雅黑 Light" panose="020B0502040204020203" pitchFamily="34" charset="-122"/>
                </a:rPr>
                <a:t>来自</a:t>
              </a:r>
              <a:r>
                <a:rPr lang="en-US" altLang="zh-CN" sz="1400" dirty="0">
                  <a:latin typeface="微软雅黑 Light" panose="020B0502040204020203" pitchFamily="34" charset="-122"/>
                  <a:ea typeface="微软雅黑 Light" panose="020B0502040204020203" pitchFamily="34" charset="-122"/>
                </a:rPr>
                <a:t> </a:t>
              </a:r>
              <a:r>
                <a:rPr lang="en-US" altLang="zh-CN" sz="1400" dirty="0">
                  <a:solidFill>
                    <a:srgbClr val="CC00CC"/>
                  </a:solidFill>
                  <a:latin typeface="微软雅黑 Light" panose="020B0502040204020203" pitchFamily="34" charset="-122"/>
                  <a:ea typeface="微软雅黑 Light" panose="020B0502040204020203" pitchFamily="34" charset="-122"/>
                </a:rPr>
                <a:t>151.10.33.21</a:t>
              </a:r>
            </a:p>
          </p:txBody>
        </p:sp>
        <p:sp>
          <p:nvSpPr>
            <p:cNvPr id="51" name="Line 27"/>
            <p:cNvSpPr>
              <a:spLocks noChangeShapeType="1"/>
            </p:cNvSpPr>
            <p:nvPr/>
          </p:nvSpPr>
          <p:spPr bwMode="auto">
            <a:xfrm flipH="1">
              <a:off x="1926" y="2085"/>
              <a:ext cx="615" cy="1"/>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66" name="组合 65"/>
          <p:cNvGrpSpPr/>
          <p:nvPr/>
        </p:nvGrpSpPr>
        <p:grpSpPr>
          <a:xfrm>
            <a:off x="5668289" y="1417132"/>
            <a:ext cx="2560632" cy="2090895"/>
            <a:chOff x="5668289" y="1190096"/>
            <a:chExt cx="2560632" cy="2090895"/>
          </a:xfrm>
        </p:grpSpPr>
        <p:sp>
          <p:nvSpPr>
            <p:cNvPr id="46" name="Line 19"/>
            <p:cNvSpPr>
              <a:spLocks noChangeShapeType="1"/>
            </p:cNvSpPr>
            <p:nvPr/>
          </p:nvSpPr>
          <p:spPr bwMode="auto">
            <a:xfrm flipV="1">
              <a:off x="6322793" y="1330387"/>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7" name="Line 20"/>
            <p:cNvSpPr>
              <a:spLocks noChangeShapeType="1"/>
            </p:cNvSpPr>
            <p:nvPr/>
          </p:nvSpPr>
          <p:spPr bwMode="auto">
            <a:xfrm flipH="1">
              <a:off x="6448837" y="2666752"/>
              <a:ext cx="1282844"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8" name="Rectangle 22"/>
            <p:cNvSpPr>
              <a:spLocks noChangeArrowheads="1"/>
            </p:cNvSpPr>
            <p:nvPr/>
          </p:nvSpPr>
          <p:spPr bwMode="auto">
            <a:xfrm>
              <a:off x="5668289" y="1212397"/>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pic>
          <p:nvPicPr>
            <p:cNvPr id="52"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6" y="1190096"/>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3"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4720"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4" name="Line 19"/>
            <p:cNvSpPr>
              <a:spLocks noChangeShapeType="1"/>
            </p:cNvSpPr>
            <p:nvPr/>
          </p:nvSpPr>
          <p:spPr bwMode="auto">
            <a:xfrm flipV="1">
              <a:off x="6322792" y="2746962"/>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55" name="Line 19"/>
            <p:cNvSpPr>
              <a:spLocks noChangeShapeType="1"/>
            </p:cNvSpPr>
            <p:nvPr/>
          </p:nvSpPr>
          <p:spPr bwMode="auto">
            <a:xfrm flipV="1">
              <a:off x="5774015" y="2746961"/>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56"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5"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7" name="Rectangle 22"/>
            <p:cNvSpPr>
              <a:spLocks noChangeArrowheads="1"/>
            </p:cNvSpPr>
            <p:nvPr/>
          </p:nvSpPr>
          <p:spPr bwMode="auto">
            <a:xfrm>
              <a:off x="5796257"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58" name="Rectangle 22"/>
            <p:cNvSpPr>
              <a:spLocks noChangeArrowheads="1"/>
            </p:cNvSpPr>
            <p:nvPr/>
          </p:nvSpPr>
          <p:spPr bwMode="auto">
            <a:xfrm>
              <a:off x="7741142"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pSp>
      <p:grpSp>
        <p:nvGrpSpPr>
          <p:cNvPr id="63" name="Group 12"/>
          <p:cNvGrpSpPr>
            <a:grpSpLocks/>
          </p:cNvGrpSpPr>
          <p:nvPr/>
        </p:nvGrpSpPr>
        <p:grpSpPr bwMode="auto">
          <a:xfrm>
            <a:off x="5216266" y="3928079"/>
            <a:ext cx="2392185" cy="525474"/>
            <a:chOff x="1457" y="2980"/>
            <a:chExt cx="2530" cy="294"/>
          </a:xfrm>
        </p:grpSpPr>
        <p:sp>
          <p:nvSpPr>
            <p:cNvPr id="64" name="Rectangle 13"/>
            <p:cNvSpPr>
              <a:spLocks noChangeArrowheads="1"/>
            </p:cNvSpPr>
            <p:nvPr/>
          </p:nvSpPr>
          <p:spPr bwMode="auto">
            <a:xfrm>
              <a:off x="2032" y="2980"/>
              <a:ext cx="1955"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400" dirty="0">
                  <a:latin typeface="微软雅黑 Light" panose="020B0502040204020203" pitchFamily="34" charset="-122"/>
                  <a:ea typeface="微软雅黑 Light" panose="020B0502040204020203" pitchFamily="34" charset="-122"/>
                </a:rPr>
                <a:t>不是经最短路径传送来的，</a:t>
              </a:r>
              <a:r>
                <a:rPr lang="zh-CN" altLang="en-US" sz="1400" dirty="0">
                  <a:solidFill>
                    <a:srgbClr val="C00000"/>
                  </a:solidFill>
                  <a:latin typeface="微软雅黑 Light" panose="020B0502040204020203" pitchFamily="34" charset="-122"/>
                  <a:ea typeface="微软雅黑 Light" panose="020B0502040204020203" pitchFamily="34" charset="-122"/>
                </a:rPr>
                <a:t>丢弃！</a:t>
              </a:r>
              <a:endParaRPr lang="en-US" altLang="zh-CN" sz="1400" dirty="0">
                <a:solidFill>
                  <a:srgbClr val="C00000"/>
                </a:solidFill>
                <a:latin typeface="微软雅黑 Light" panose="020B0502040204020203" pitchFamily="34" charset="-122"/>
                <a:ea typeface="微软雅黑 Light" panose="020B0502040204020203" pitchFamily="34" charset="-122"/>
              </a:endParaRPr>
            </a:p>
          </p:txBody>
        </p:sp>
        <p:sp>
          <p:nvSpPr>
            <p:cNvPr id="65" name="Line 14"/>
            <p:cNvSpPr>
              <a:spLocks noChangeShapeType="1"/>
            </p:cNvSpPr>
            <p:nvPr/>
          </p:nvSpPr>
          <p:spPr bwMode="auto">
            <a:xfrm>
              <a:off x="1457" y="3010"/>
              <a:ext cx="575" cy="9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68" name="矩形 67"/>
          <p:cNvSpPr/>
          <p:nvPr/>
        </p:nvSpPr>
        <p:spPr>
          <a:xfrm>
            <a:off x="3430255" y="1319332"/>
            <a:ext cx="2031707" cy="584775"/>
          </a:xfrm>
          <a:prstGeom prst="rect">
            <a:avLst/>
          </a:prstGeom>
          <a:noFill/>
        </p:spPr>
        <p:txBody>
          <a:bodyPr wrap="square">
            <a:spAutoFit/>
          </a:bodyPr>
          <a:lstStyle/>
          <a:p>
            <a:pPr algn="ctr"/>
            <a:r>
              <a:rPr lang="zh-CN" altLang="en-US" sz="1600" dirty="0">
                <a:solidFill>
                  <a:sysClr val="windowText" lastClr="000000"/>
                </a:solidFill>
                <a:latin typeface="微软雅黑 Light" panose="020B0502040204020203" pitchFamily="34" charset="-122"/>
                <a:ea typeface="微软雅黑 Light" panose="020B0502040204020203" pitchFamily="34" charset="-122"/>
              </a:rPr>
              <a:t>检查数据报是否经最短路径传送来的</a:t>
            </a:r>
          </a:p>
        </p:txBody>
      </p:sp>
      <p:sp>
        <p:nvSpPr>
          <p:cNvPr id="4" name="标题 3">
            <a:extLst>
              <a:ext uri="{FF2B5EF4-FFF2-40B4-BE49-F238E27FC236}">
                <a16:creationId xmlns:a16="http://schemas.microsoft.com/office/drawing/2014/main" id="{F3F94154-A016-FBBD-B2EE-40224151A9A1}"/>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a:t>
            </a:r>
          </a:p>
        </p:txBody>
      </p:sp>
      <p:sp>
        <p:nvSpPr>
          <p:cNvPr id="2" name="内容占位符 1">
            <a:extLst>
              <a:ext uri="{FF2B5EF4-FFF2-40B4-BE49-F238E27FC236}">
                <a16:creationId xmlns:a16="http://schemas.microsoft.com/office/drawing/2014/main" id="{A9EBFAA9-AE7B-0F3F-70F7-EF587295393D}"/>
              </a:ext>
            </a:extLst>
          </p:cNvPr>
          <p:cNvSpPr>
            <a:spLocks noGrp="1"/>
          </p:cNvSpPr>
          <p:nvPr>
            <p:ph sz="quarter" idx="11"/>
          </p:nvPr>
        </p:nvSpPr>
        <p:spPr>
          <a:xfrm>
            <a:off x="486000" y="900000"/>
            <a:ext cx="8172000" cy="3703500"/>
          </a:xfrm>
        </p:spPr>
        <p:txBody>
          <a:bodyPr/>
          <a:lstStyle/>
          <a:p>
            <a:r>
              <a:rPr lang="zh-CN" altLang="en-US" dirty="0"/>
              <a:t>检查</a:t>
            </a:r>
            <a:endParaRPr lang="en-US" altLang="zh-CN" dirty="0"/>
          </a:p>
          <a:p>
            <a:r>
              <a:rPr lang="zh-CN" altLang="en-US" dirty="0"/>
              <a:t>转发</a:t>
            </a:r>
          </a:p>
        </p:txBody>
      </p:sp>
    </p:spTree>
    <p:extLst>
      <p:ext uri="{BB962C8B-B14F-4D97-AF65-F5344CB8AC3E}">
        <p14:creationId xmlns:p14="http://schemas.microsoft.com/office/powerpoint/2010/main" val="994822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5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10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wipe(up)">
                                      <p:cBhvr>
                                        <p:cTn id="17" dur="10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66"/>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49"/>
                                        </p:tgtEl>
                                        <p:attrNameLst>
                                          <p:attrName>style.visibility</p:attrName>
                                        </p:attrNameLst>
                                      </p:cBhvr>
                                      <p:to>
                                        <p:strVal val="visible"/>
                                      </p:to>
                                    </p:set>
                                    <p:animEffect transition="in" filter="wipe(up)">
                                      <p:cBhvr>
                                        <p:cTn id="26" dur="500"/>
                                        <p:tgtEl>
                                          <p:spTgt spid="49"/>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2" fill="hold" nodeType="clickEffect">
                                  <p:stCondLst>
                                    <p:cond delay="0"/>
                                  </p:stCondLst>
                                  <p:childTnLst>
                                    <p:set>
                                      <p:cBhvr>
                                        <p:cTn id="30" dur="1" fill="hold">
                                          <p:stCondLst>
                                            <p:cond delay="0"/>
                                          </p:stCondLst>
                                        </p:cTn>
                                        <p:tgtEl>
                                          <p:spTgt spid="63"/>
                                        </p:tgtEl>
                                        <p:attrNameLst>
                                          <p:attrName>style.visibility</p:attrName>
                                        </p:attrNameLst>
                                      </p:cBhvr>
                                      <p:to>
                                        <p:strVal val="visible"/>
                                      </p:to>
                                    </p:set>
                                    <p:animEffect transition="in" filter="wipe(right)">
                                      <p:cBhvr>
                                        <p:cTn id="31"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16152" y="1182051"/>
            <a:ext cx="5384558" cy="2916114"/>
            <a:chOff x="37264" y="1127910"/>
            <a:chExt cx="8301172" cy="4246118"/>
          </a:xfrm>
          <a:effectLst/>
        </p:grpSpPr>
        <p:sp>
          <p:nvSpPr>
            <p:cNvPr id="59" name="Line 2"/>
            <p:cNvSpPr>
              <a:spLocks noChangeShapeType="1"/>
            </p:cNvSpPr>
            <p:nvPr/>
          </p:nvSpPr>
          <p:spPr bwMode="auto">
            <a:xfrm>
              <a:off x="6649504" y="2096286"/>
              <a:ext cx="787400" cy="481013"/>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60" name="Line 3"/>
            <p:cNvSpPr>
              <a:spLocks noChangeShapeType="1"/>
            </p:cNvSpPr>
            <p:nvPr/>
          </p:nvSpPr>
          <p:spPr bwMode="auto">
            <a:xfrm rot="10800000">
              <a:off x="6265329" y="2120099"/>
              <a:ext cx="787400" cy="481012"/>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grpSp>
          <p:nvGrpSpPr>
            <p:cNvPr id="61" name="Group 4"/>
            <p:cNvGrpSpPr>
              <a:grpSpLocks/>
            </p:cNvGrpSpPr>
            <p:nvPr/>
          </p:nvGrpSpPr>
          <p:grpSpPr bwMode="auto">
            <a:xfrm>
              <a:off x="4790541" y="4633111"/>
              <a:ext cx="428625" cy="295275"/>
              <a:chOff x="2518" y="3028"/>
              <a:chExt cx="240" cy="165"/>
            </a:xfrm>
          </p:grpSpPr>
          <p:sp>
            <p:nvSpPr>
              <p:cNvPr id="62" name="Line 5"/>
              <p:cNvSpPr>
                <a:spLocks noChangeShapeType="1"/>
              </p:cNvSpPr>
              <p:nvPr/>
            </p:nvSpPr>
            <p:spPr bwMode="auto">
              <a:xfrm flipV="1">
                <a:off x="2651" y="3028"/>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Line 6"/>
              <p:cNvSpPr>
                <a:spLocks noChangeShapeType="1"/>
              </p:cNvSpPr>
              <p:nvPr/>
            </p:nvSpPr>
            <p:spPr bwMode="auto">
              <a:xfrm>
                <a:off x="2518" y="3193"/>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9" name="Line 7"/>
            <p:cNvSpPr>
              <a:spLocks noChangeShapeType="1"/>
            </p:cNvSpPr>
            <p:nvPr/>
          </p:nvSpPr>
          <p:spPr bwMode="auto">
            <a:xfrm>
              <a:off x="5117566" y="2578886"/>
              <a:ext cx="0" cy="1227138"/>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0" name="Group 9"/>
            <p:cNvGrpSpPr>
              <a:grpSpLocks/>
            </p:cNvGrpSpPr>
            <p:nvPr/>
          </p:nvGrpSpPr>
          <p:grpSpPr bwMode="auto">
            <a:xfrm>
              <a:off x="4904841" y="3955249"/>
              <a:ext cx="428625" cy="295275"/>
              <a:chOff x="2582" y="2648"/>
              <a:chExt cx="240" cy="165"/>
            </a:xfrm>
          </p:grpSpPr>
          <p:sp>
            <p:nvSpPr>
              <p:cNvPr id="71" name="Line 10"/>
              <p:cNvSpPr>
                <a:spLocks noChangeShapeType="1"/>
              </p:cNvSpPr>
              <p:nvPr/>
            </p:nvSpPr>
            <p:spPr bwMode="auto">
              <a:xfrm flipV="1">
                <a:off x="2715" y="2648"/>
                <a:ext cx="0" cy="164"/>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 name="Line 11"/>
              <p:cNvSpPr>
                <a:spLocks noChangeShapeType="1"/>
              </p:cNvSpPr>
              <p:nvPr/>
            </p:nvSpPr>
            <p:spPr bwMode="auto">
              <a:xfrm>
                <a:off x="2582" y="2813"/>
                <a:ext cx="24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3" name="Line 12"/>
            <p:cNvSpPr>
              <a:spLocks noChangeShapeType="1"/>
            </p:cNvSpPr>
            <p:nvPr/>
          </p:nvSpPr>
          <p:spPr bwMode="auto">
            <a:xfrm flipV="1">
              <a:off x="3015716" y="2015324"/>
              <a:ext cx="0" cy="162877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 name="Line 13"/>
            <p:cNvSpPr>
              <a:spLocks noChangeShapeType="1"/>
            </p:cNvSpPr>
            <p:nvPr/>
          </p:nvSpPr>
          <p:spPr bwMode="auto">
            <a:xfrm flipV="1">
              <a:off x="5177891" y="2701124"/>
              <a:ext cx="2227263" cy="11128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 name="Line 14"/>
            <p:cNvSpPr>
              <a:spLocks noChangeShapeType="1"/>
            </p:cNvSpPr>
            <p:nvPr/>
          </p:nvSpPr>
          <p:spPr bwMode="auto">
            <a:xfrm>
              <a:off x="6343116" y="2072474"/>
              <a:ext cx="1063625" cy="62865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 name="Line 15"/>
            <p:cNvSpPr>
              <a:spLocks noChangeShapeType="1"/>
            </p:cNvSpPr>
            <p:nvPr/>
          </p:nvSpPr>
          <p:spPr bwMode="auto">
            <a:xfrm>
              <a:off x="5662079" y="2053424"/>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7" name="Group 16"/>
            <p:cNvGrpSpPr>
              <a:grpSpLocks/>
            </p:cNvGrpSpPr>
            <p:nvPr/>
          </p:nvGrpSpPr>
          <p:grpSpPr bwMode="auto">
            <a:xfrm>
              <a:off x="4922304" y="2253449"/>
              <a:ext cx="427037" cy="295275"/>
              <a:chOff x="2591" y="1695"/>
              <a:chExt cx="240" cy="165"/>
            </a:xfrm>
          </p:grpSpPr>
          <p:sp>
            <p:nvSpPr>
              <p:cNvPr id="78" name="Line 17"/>
              <p:cNvSpPr>
                <a:spLocks noChangeShapeType="1"/>
              </p:cNvSpPr>
              <p:nvPr/>
            </p:nvSpPr>
            <p:spPr bwMode="auto">
              <a:xfrm>
                <a:off x="2724" y="1696"/>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9" name="Line 18"/>
              <p:cNvSpPr>
                <a:spLocks noChangeShapeType="1"/>
              </p:cNvSpPr>
              <p:nvPr/>
            </p:nvSpPr>
            <p:spPr bwMode="auto">
              <a:xfrm>
                <a:off x="2591" y="1695"/>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0" name="Line 19"/>
            <p:cNvSpPr>
              <a:spLocks noChangeShapeType="1"/>
            </p:cNvSpPr>
            <p:nvPr/>
          </p:nvSpPr>
          <p:spPr bwMode="auto">
            <a:xfrm flipH="1">
              <a:off x="5373154" y="1712111"/>
              <a:ext cx="29210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1" name="Line 20"/>
            <p:cNvSpPr>
              <a:spLocks noChangeShapeType="1"/>
            </p:cNvSpPr>
            <p:nvPr/>
          </p:nvSpPr>
          <p:spPr bwMode="auto">
            <a:xfrm>
              <a:off x="5668429" y="1127910"/>
              <a:ext cx="0" cy="1144588"/>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82" name="Group 21"/>
            <p:cNvGrpSpPr>
              <a:grpSpLocks/>
            </p:cNvGrpSpPr>
            <p:nvPr/>
          </p:nvGrpSpPr>
          <p:grpSpPr bwMode="auto">
            <a:xfrm>
              <a:off x="4922304" y="1327936"/>
              <a:ext cx="427037" cy="295275"/>
              <a:chOff x="2591" y="1176"/>
              <a:chExt cx="240" cy="165"/>
            </a:xfrm>
          </p:grpSpPr>
          <p:sp>
            <p:nvSpPr>
              <p:cNvPr id="83" name="Line 22"/>
              <p:cNvSpPr>
                <a:spLocks noChangeShapeType="1"/>
              </p:cNvSpPr>
              <p:nvPr/>
            </p:nvSpPr>
            <p:spPr bwMode="auto">
              <a:xfrm>
                <a:off x="2724" y="117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 name="Line 23"/>
              <p:cNvSpPr>
                <a:spLocks noChangeShapeType="1"/>
              </p:cNvSpPr>
              <p:nvPr/>
            </p:nvSpPr>
            <p:spPr bwMode="auto">
              <a:xfrm>
                <a:off x="2591" y="1176"/>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5" name="Line 24"/>
            <p:cNvSpPr>
              <a:spLocks noChangeShapeType="1"/>
            </p:cNvSpPr>
            <p:nvPr/>
          </p:nvSpPr>
          <p:spPr bwMode="auto">
            <a:xfrm>
              <a:off x="3720566" y="3386924"/>
              <a:ext cx="1373188" cy="512762"/>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6" name="Line 25"/>
            <p:cNvSpPr>
              <a:spLocks noChangeShapeType="1"/>
            </p:cNvSpPr>
            <p:nvPr/>
          </p:nvSpPr>
          <p:spPr bwMode="auto">
            <a:xfrm flipV="1">
              <a:off x="5020729" y="4247349"/>
              <a:ext cx="0" cy="3635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 name="Rectangle 26"/>
            <p:cNvSpPr>
              <a:spLocks noChangeArrowheads="1"/>
            </p:cNvSpPr>
            <p:nvPr/>
          </p:nvSpPr>
          <p:spPr bwMode="auto">
            <a:xfrm>
              <a:off x="37264" y="2517652"/>
              <a:ext cx="2053054" cy="7796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ctr" defTabSz="1028700" eaLnBrk="0" hangingPunct="0"/>
              <a:r>
                <a:rPr lang="en-US" altLang="zh-CN" sz="1400" dirty="0">
                  <a:latin typeface="Montserrat" panose="00000500000000000000" pitchFamily="2" charset="0"/>
                </a:rPr>
                <a:t>Source</a:t>
              </a:r>
              <a:br>
                <a:rPr lang="en-US" altLang="zh-CN" sz="1400" dirty="0">
                  <a:latin typeface="Montserrat" panose="00000500000000000000" pitchFamily="2" charset="0"/>
                </a:rPr>
              </a:br>
              <a:r>
                <a:rPr lang="en-US" altLang="zh-CN" sz="1400" dirty="0">
                  <a:latin typeface="Montserrat" panose="00000500000000000000" pitchFamily="2" charset="0"/>
                </a:rPr>
                <a:t>151.10.33.21</a:t>
              </a:r>
            </a:p>
          </p:txBody>
        </p:sp>
        <p:sp>
          <p:nvSpPr>
            <p:cNvPr id="88" name="Line 27"/>
            <p:cNvSpPr>
              <a:spLocks noChangeShapeType="1"/>
            </p:cNvSpPr>
            <p:nvPr/>
          </p:nvSpPr>
          <p:spPr bwMode="auto">
            <a:xfrm flipV="1">
              <a:off x="3549116" y="1758149"/>
              <a:ext cx="1543050" cy="51435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 name="Line 28"/>
            <p:cNvSpPr>
              <a:spLocks noChangeShapeType="1"/>
            </p:cNvSpPr>
            <p:nvPr/>
          </p:nvSpPr>
          <p:spPr bwMode="auto">
            <a:xfrm>
              <a:off x="3006191" y="342502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0" name="Line 29"/>
            <p:cNvSpPr>
              <a:spLocks noChangeShapeType="1"/>
            </p:cNvSpPr>
            <p:nvPr/>
          </p:nvSpPr>
          <p:spPr bwMode="auto">
            <a:xfrm>
              <a:off x="3006191" y="222487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30"/>
            <p:cNvSpPr>
              <a:spLocks noChangeShapeType="1"/>
            </p:cNvSpPr>
            <p:nvPr/>
          </p:nvSpPr>
          <p:spPr bwMode="auto">
            <a:xfrm>
              <a:off x="3549116" y="2272499"/>
              <a:ext cx="1628775" cy="42862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2" name="Line 31"/>
            <p:cNvSpPr>
              <a:spLocks noChangeShapeType="1"/>
            </p:cNvSpPr>
            <p:nvPr/>
          </p:nvSpPr>
          <p:spPr bwMode="auto">
            <a:xfrm>
              <a:off x="2661704" y="28249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3" name="Line 32"/>
            <p:cNvSpPr>
              <a:spLocks noChangeShapeType="1"/>
            </p:cNvSpPr>
            <p:nvPr/>
          </p:nvSpPr>
          <p:spPr bwMode="auto">
            <a:xfrm>
              <a:off x="5662079" y="14533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94" name="Group 33"/>
            <p:cNvGrpSpPr>
              <a:grpSpLocks/>
            </p:cNvGrpSpPr>
            <p:nvPr/>
          </p:nvGrpSpPr>
          <p:grpSpPr bwMode="auto">
            <a:xfrm>
              <a:off x="6106579" y="2132799"/>
              <a:ext cx="428625" cy="295275"/>
              <a:chOff x="3255" y="1627"/>
              <a:chExt cx="240" cy="165"/>
            </a:xfrm>
          </p:grpSpPr>
          <p:sp>
            <p:nvSpPr>
              <p:cNvPr id="95" name="Line 34"/>
              <p:cNvSpPr>
                <a:spLocks noChangeShapeType="1"/>
              </p:cNvSpPr>
              <p:nvPr/>
            </p:nvSpPr>
            <p:spPr bwMode="auto">
              <a:xfrm flipV="1">
                <a:off x="3388" y="162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6" name="Line 35"/>
              <p:cNvSpPr>
                <a:spLocks noChangeShapeType="1"/>
              </p:cNvSpPr>
              <p:nvPr/>
            </p:nvSpPr>
            <p:spPr bwMode="auto">
              <a:xfrm>
                <a:off x="3255" y="1792"/>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97" name="Group 36"/>
            <p:cNvGrpSpPr>
              <a:grpSpLocks/>
            </p:cNvGrpSpPr>
            <p:nvPr/>
          </p:nvGrpSpPr>
          <p:grpSpPr bwMode="auto">
            <a:xfrm>
              <a:off x="6098641" y="1127911"/>
              <a:ext cx="428625" cy="293688"/>
              <a:chOff x="3251" y="1064"/>
              <a:chExt cx="240" cy="165"/>
            </a:xfrm>
          </p:grpSpPr>
          <p:sp>
            <p:nvSpPr>
              <p:cNvPr id="98" name="Line 37"/>
              <p:cNvSpPr>
                <a:spLocks noChangeShapeType="1"/>
              </p:cNvSpPr>
              <p:nvPr/>
            </p:nvSpPr>
            <p:spPr bwMode="auto">
              <a:xfrm>
                <a:off x="3384" y="1065"/>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38"/>
              <p:cNvSpPr>
                <a:spLocks noChangeShapeType="1"/>
              </p:cNvSpPr>
              <p:nvPr/>
            </p:nvSpPr>
            <p:spPr bwMode="auto">
              <a:xfrm>
                <a:off x="3251" y="106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0" name="Group 39"/>
            <p:cNvGrpSpPr>
              <a:grpSpLocks/>
            </p:cNvGrpSpPr>
            <p:nvPr/>
          </p:nvGrpSpPr>
          <p:grpSpPr bwMode="auto">
            <a:xfrm>
              <a:off x="3464979" y="2334411"/>
              <a:ext cx="427037" cy="293688"/>
              <a:chOff x="1775" y="1739"/>
              <a:chExt cx="240" cy="165"/>
            </a:xfrm>
          </p:grpSpPr>
          <p:sp>
            <p:nvSpPr>
              <p:cNvPr id="101" name="Line 40"/>
              <p:cNvSpPr>
                <a:spLocks noChangeShapeType="1"/>
              </p:cNvSpPr>
              <p:nvPr/>
            </p:nvSpPr>
            <p:spPr bwMode="auto">
              <a:xfrm flipV="1">
                <a:off x="1908" y="1739"/>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2" name="Line 41"/>
              <p:cNvSpPr>
                <a:spLocks noChangeShapeType="1"/>
              </p:cNvSpPr>
              <p:nvPr/>
            </p:nvSpPr>
            <p:spPr bwMode="auto">
              <a:xfrm>
                <a:off x="1775" y="190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3" name="Group 42"/>
            <p:cNvGrpSpPr>
              <a:grpSpLocks/>
            </p:cNvGrpSpPr>
            <p:nvPr/>
          </p:nvGrpSpPr>
          <p:grpSpPr bwMode="auto">
            <a:xfrm>
              <a:off x="3464979" y="3013861"/>
              <a:ext cx="427037" cy="295275"/>
              <a:chOff x="1775" y="2120"/>
              <a:chExt cx="240" cy="165"/>
            </a:xfrm>
          </p:grpSpPr>
          <p:sp>
            <p:nvSpPr>
              <p:cNvPr id="104" name="Line 43"/>
              <p:cNvSpPr>
                <a:spLocks noChangeShapeType="1"/>
              </p:cNvSpPr>
              <p:nvPr/>
            </p:nvSpPr>
            <p:spPr bwMode="auto">
              <a:xfrm>
                <a:off x="1908" y="2121"/>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 name="Line 44"/>
              <p:cNvSpPr>
                <a:spLocks noChangeShapeType="1"/>
              </p:cNvSpPr>
              <p:nvPr/>
            </p:nvSpPr>
            <p:spPr bwMode="auto">
              <a:xfrm>
                <a:off x="1775" y="2120"/>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6" name="Group 45"/>
            <p:cNvGrpSpPr>
              <a:grpSpLocks/>
            </p:cNvGrpSpPr>
            <p:nvPr/>
          </p:nvGrpSpPr>
          <p:grpSpPr bwMode="auto">
            <a:xfrm>
              <a:off x="7532154" y="2521736"/>
              <a:ext cx="293687" cy="430213"/>
              <a:chOff x="4053" y="1845"/>
              <a:chExt cx="165" cy="240"/>
            </a:xfrm>
          </p:grpSpPr>
          <p:sp>
            <p:nvSpPr>
              <p:cNvPr id="107" name="Line 46"/>
              <p:cNvSpPr>
                <a:spLocks noChangeShapeType="1"/>
              </p:cNvSpPr>
              <p:nvPr/>
            </p:nvSpPr>
            <p:spPr bwMode="auto">
              <a:xfrm flipH="1">
                <a:off x="4053" y="1952"/>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8" name="Line 47"/>
              <p:cNvSpPr>
                <a:spLocks noChangeShapeType="1"/>
              </p:cNvSpPr>
              <p:nvPr/>
            </p:nvSpPr>
            <p:spPr bwMode="auto">
              <a:xfrm flipV="1">
                <a:off x="4218" y="1845"/>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9" name="Group 48"/>
            <p:cNvGrpSpPr>
              <a:grpSpLocks/>
            </p:cNvGrpSpPr>
            <p:nvPr/>
          </p:nvGrpSpPr>
          <p:grpSpPr bwMode="auto">
            <a:xfrm>
              <a:off x="1925104" y="2702711"/>
              <a:ext cx="295275" cy="428625"/>
              <a:chOff x="913" y="1946"/>
              <a:chExt cx="165" cy="240"/>
            </a:xfrm>
          </p:grpSpPr>
          <p:sp>
            <p:nvSpPr>
              <p:cNvPr id="110" name="Line 49"/>
              <p:cNvSpPr>
                <a:spLocks noChangeShapeType="1"/>
              </p:cNvSpPr>
              <p:nvPr/>
            </p:nvSpPr>
            <p:spPr bwMode="auto">
              <a:xfrm>
                <a:off x="914" y="2053"/>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1" name="Line 50"/>
              <p:cNvSpPr>
                <a:spLocks noChangeShapeType="1"/>
              </p:cNvSpPr>
              <p:nvPr/>
            </p:nvSpPr>
            <p:spPr bwMode="auto">
              <a:xfrm flipV="1">
                <a:off x="913" y="1946"/>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pic>
          <p:nvPicPr>
            <p:cNvPr id="112" name="Picture 5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3199599"/>
              <a:ext cx="585788" cy="341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3"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242966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4" name="Picture 5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315236"/>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5" name="Picture 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79716" y="251538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6" name="Picture 5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2086761"/>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7" name="Line 56"/>
            <p:cNvSpPr>
              <a:spLocks noChangeShapeType="1"/>
            </p:cNvSpPr>
            <p:nvPr/>
          </p:nvSpPr>
          <p:spPr bwMode="auto">
            <a:xfrm flipH="1">
              <a:off x="2760454" y="4725384"/>
              <a:ext cx="611186" cy="9526"/>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18" name="Rectangle 57"/>
            <p:cNvSpPr>
              <a:spLocks noChangeArrowheads="1"/>
            </p:cNvSpPr>
            <p:nvPr/>
          </p:nvSpPr>
          <p:spPr bwMode="auto">
            <a:xfrm>
              <a:off x="743871" y="4481191"/>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dirty="0">
                  <a:latin typeface="微软雅黑" panose="020B0503020204020204" pitchFamily="34" charset="-122"/>
                  <a:ea typeface="微软雅黑" panose="020B0503020204020204" pitchFamily="34" charset="-122"/>
                </a:rPr>
                <a:t>多播转发树</a:t>
              </a:r>
              <a:endParaRPr lang="en-US" altLang="zh-CN" sz="1400" dirty="0">
                <a:latin typeface="微软雅黑" panose="020B0503020204020204" pitchFamily="34" charset="-122"/>
                <a:ea typeface="微软雅黑" panose="020B0503020204020204" pitchFamily="34" charset="-122"/>
              </a:endParaRPr>
            </a:p>
          </p:txBody>
        </p:sp>
        <p:sp>
          <p:nvSpPr>
            <p:cNvPr id="119" name="Rectangle 59"/>
            <p:cNvSpPr>
              <a:spLocks noChangeArrowheads="1"/>
            </p:cNvSpPr>
            <p:nvPr/>
          </p:nvSpPr>
          <p:spPr bwMode="auto">
            <a:xfrm>
              <a:off x="743871" y="4908090"/>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dirty="0">
                  <a:latin typeface="微软雅黑" panose="020B0503020204020204" pitchFamily="34" charset="-122"/>
                  <a:ea typeface="微软雅黑" panose="020B0503020204020204" pitchFamily="34" charset="-122"/>
                </a:rPr>
                <a:t>多播数据报</a:t>
              </a:r>
              <a:endParaRPr lang="en-US" altLang="zh-CN" sz="1400" dirty="0">
                <a:latin typeface="微软雅黑" panose="020B0503020204020204" pitchFamily="34" charset="-122"/>
                <a:ea typeface="微软雅黑" panose="020B0503020204020204" pitchFamily="34" charset="-122"/>
              </a:endParaRPr>
            </a:p>
          </p:txBody>
        </p:sp>
        <p:sp>
          <p:nvSpPr>
            <p:cNvPr id="120" name="Line 60"/>
            <p:cNvSpPr>
              <a:spLocks noChangeShapeType="1"/>
            </p:cNvSpPr>
            <p:nvPr/>
          </p:nvSpPr>
          <p:spPr bwMode="auto">
            <a:xfrm flipH="1" flipV="1">
              <a:off x="3892016" y="2429661"/>
              <a:ext cx="954088" cy="276225"/>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1" name="Line 61"/>
            <p:cNvSpPr>
              <a:spLocks noChangeShapeType="1"/>
            </p:cNvSpPr>
            <p:nvPr/>
          </p:nvSpPr>
          <p:spPr bwMode="auto">
            <a:xfrm flipV="1">
              <a:off x="521440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22" name="Rectangle 62"/>
            <p:cNvSpPr>
              <a:spLocks noChangeArrowheads="1"/>
            </p:cNvSpPr>
            <p:nvPr/>
          </p:nvSpPr>
          <p:spPr bwMode="auto">
            <a:xfrm>
              <a:off x="5549764" y="4142433"/>
              <a:ext cx="2788672" cy="109334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defTabSz="1028700" eaLnBrk="0" hangingPunct="0"/>
              <a:r>
                <a:rPr lang="zh-CN" altLang="en-US" sz="1400" dirty="0">
                  <a:solidFill>
                    <a:srgbClr val="0000FF"/>
                  </a:solidFill>
                  <a:latin typeface="微软雅黑 Light" panose="020B0502040204020203" pitchFamily="34" charset="-122"/>
                  <a:ea typeface="微软雅黑 Light" panose="020B0502040204020203" pitchFamily="34" charset="-122"/>
                </a:rPr>
                <a:t>不是经最短路径传送来的，</a:t>
              </a:r>
              <a:r>
                <a:rPr lang="zh-CN" altLang="en-US" sz="1400" dirty="0">
                  <a:solidFill>
                    <a:srgbClr val="990099"/>
                  </a:solidFill>
                  <a:latin typeface="微软雅黑 Light" panose="020B0502040204020203" pitchFamily="34" charset="-122"/>
                  <a:ea typeface="微软雅黑 Light" panose="020B0502040204020203" pitchFamily="34" charset="-122"/>
                </a:rPr>
                <a:t>收到后丢弃，不转发！</a:t>
              </a:r>
            </a:p>
          </p:txBody>
        </p:sp>
        <p:sp>
          <p:nvSpPr>
            <p:cNvPr id="123" name="Line 63"/>
            <p:cNvSpPr>
              <a:spLocks noChangeShapeType="1"/>
            </p:cNvSpPr>
            <p:nvPr/>
          </p:nvSpPr>
          <p:spPr bwMode="auto">
            <a:xfrm flipH="1">
              <a:off x="2760454" y="5072763"/>
              <a:ext cx="611186" cy="9526"/>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4" name="Line 64"/>
            <p:cNvSpPr>
              <a:spLocks noChangeShapeType="1"/>
            </p:cNvSpPr>
            <p:nvPr/>
          </p:nvSpPr>
          <p:spPr bwMode="auto">
            <a:xfrm flipH="1">
              <a:off x="5254091" y="2761449"/>
              <a:ext cx="1820863" cy="9207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5" name="Line 65"/>
            <p:cNvSpPr>
              <a:spLocks noChangeShapeType="1"/>
            </p:cNvSpPr>
            <p:nvPr/>
          </p:nvSpPr>
          <p:spPr bwMode="auto">
            <a:xfrm flipH="1">
              <a:off x="2504541" y="2742399"/>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6" name="Line 66"/>
            <p:cNvSpPr>
              <a:spLocks noChangeShapeType="1"/>
            </p:cNvSpPr>
            <p:nvPr/>
          </p:nvSpPr>
          <p:spPr bwMode="auto">
            <a:xfrm flipV="1">
              <a:off x="2949041" y="2143911"/>
              <a:ext cx="0" cy="1385888"/>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7" name="Line 67"/>
            <p:cNvSpPr>
              <a:spLocks noChangeShapeType="1"/>
            </p:cNvSpPr>
            <p:nvPr/>
          </p:nvSpPr>
          <p:spPr bwMode="auto">
            <a:xfrm flipH="1">
              <a:off x="2949041" y="35266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8" name="Line 68"/>
            <p:cNvSpPr>
              <a:spLocks noChangeShapeType="1"/>
            </p:cNvSpPr>
            <p:nvPr/>
          </p:nvSpPr>
          <p:spPr bwMode="auto">
            <a:xfrm flipH="1">
              <a:off x="2949041" y="21550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9" name="Line 69"/>
            <p:cNvSpPr>
              <a:spLocks noChangeShapeType="1"/>
            </p:cNvSpPr>
            <p:nvPr/>
          </p:nvSpPr>
          <p:spPr bwMode="auto">
            <a:xfrm flipH="1">
              <a:off x="3871379" y="1762911"/>
              <a:ext cx="952500" cy="3238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0" name="Line 70"/>
            <p:cNvSpPr>
              <a:spLocks noChangeShapeType="1"/>
            </p:cNvSpPr>
            <p:nvPr/>
          </p:nvSpPr>
          <p:spPr bwMode="auto">
            <a:xfrm flipH="1">
              <a:off x="5598579" y="1269199"/>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1" name="Line 71"/>
            <p:cNvSpPr>
              <a:spLocks noChangeShapeType="1"/>
            </p:cNvSpPr>
            <p:nvPr/>
          </p:nvSpPr>
          <p:spPr bwMode="auto">
            <a:xfrm flipH="1">
              <a:off x="5177891" y="1640674"/>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2" name="Line 72"/>
            <p:cNvSpPr>
              <a:spLocks noChangeShapeType="1"/>
            </p:cNvSpPr>
            <p:nvPr/>
          </p:nvSpPr>
          <p:spPr bwMode="auto">
            <a:xfrm flipV="1">
              <a:off x="5606516" y="1277136"/>
              <a:ext cx="0" cy="89535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3" name="Line 73"/>
            <p:cNvSpPr>
              <a:spLocks noChangeShapeType="1"/>
            </p:cNvSpPr>
            <p:nvPr/>
          </p:nvSpPr>
          <p:spPr bwMode="auto">
            <a:xfrm flipH="1">
              <a:off x="5598579" y="2155024"/>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4"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7041" y="4428324"/>
              <a:ext cx="582613"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5" name="Line 75"/>
            <p:cNvSpPr>
              <a:spLocks noChangeShapeType="1"/>
            </p:cNvSpPr>
            <p:nvPr/>
          </p:nvSpPr>
          <p:spPr bwMode="auto">
            <a:xfrm flipH="1" flipV="1">
              <a:off x="3971391" y="3375811"/>
              <a:ext cx="911225" cy="354013"/>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6" name="Picture 7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157241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7" name="Arc 77"/>
            <p:cNvSpPr>
              <a:spLocks/>
            </p:cNvSpPr>
            <p:nvPr/>
          </p:nvSpPr>
          <p:spPr bwMode="auto">
            <a:xfrm>
              <a:off x="5296954" y="3534561"/>
              <a:ext cx="903287" cy="600075"/>
            </a:xfrm>
            <a:custGeom>
              <a:avLst/>
              <a:gdLst>
                <a:gd name="T0" fmla="*/ 0 w 21643"/>
                <a:gd name="T1" fmla="*/ 0 h 21600"/>
                <a:gd name="T2" fmla="*/ 2147483647 w 21643"/>
                <a:gd name="T3" fmla="*/ 2147483647 h 21600"/>
                <a:gd name="T4" fmla="*/ 2147483647 w 21643"/>
                <a:gd name="T5" fmla="*/ 2147483647 h 21600"/>
                <a:gd name="T6" fmla="*/ 0 60000 65536"/>
                <a:gd name="T7" fmla="*/ 0 60000 65536"/>
                <a:gd name="T8" fmla="*/ 0 60000 65536"/>
              </a:gdLst>
              <a:ahLst/>
              <a:cxnLst>
                <a:cxn ang="T6">
                  <a:pos x="T0" y="T1"/>
                </a:cxn>
                <a:cxn ang="T7">
                  <a:pos x="T2" y="T3"/>
                </a:cxn>
                <a:cxn ang="T8">
                  <a:pos x="T4" y="T5"/>
                </a:cxn>
              </a:cxnLst>
              <a:rect l="0" t="0" r="r" b="b"/>
              <a:pathLst>
                <a:path w="21643" h="21600" fill="none" extrusionOk="0">
                  <a:moveTo>
                    <a:pt x="0" y="0"/>
                  </a:moveTo>
                  <a:cubicBezTo>
                    <a:pt x="14" y="0"/>
                    <a:pt x="28" y="-1"/>
                    <a:pt x="43" y="0"/>
                  </a:cubicBezTo>
                  <a:cubicBezTo>
                    <a:pt x="11972" y="0"/>
                    <a:pt x="21643" y="9670"/>
                    <a:pt x="21643" y="21600"/>
                  </a:cubicBezTo>
                </a:path>
                <a:path w="21643" h="21600" stroke="0" extrusionOk="0">
                  <a:moveTo>
                    <a:pt x="0" y="0"/>
                  </a:moveTo>
                  <a:cubicBezTo>
                    <a:pt x="14" y="0"/>
                    <a:pt x="28" y="-1"/>
                    <a:pt x="43" y="0"/>
                  </a:cubicBezTo>
                  <a:cubicBezTo>
                    <a:pt x="11972" y="0"/>
                    <a:pt x="21643" y="9670"/>
                    <a:pt x="21643" y="21600"/>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38" name="Picture 7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07666" y="2686836"/>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9" name="Line 79"/>
            <p:cNvSpPr>
              <a:spLocks noChangeShapeType="1"/>
            </p:cNvSpPr>
            <p:nvPr/>
          </p:nvSpPr>
          <p:spPr bwMode="auto">
            <a:xfrm flipH="1">
              <a:off x="2760454" y="5222130"/>
              <a:ext cx="611186" cy="9526"/>
            </a:xfrm>
            <a:prstGeom prst="line">
              <a:avLst/>
            </a:prstGeom>
            <a:noFill/>
            <a:ln w="25400">
              <a:solidFill>
                <a:srgbClr val="0000FF"/>
              </a:solidFill>
              <a:prstDash val="sysDot"/>
              <a:round/>
              <a:headEnd type="stealth" w="med" len="lg"/>
              <a:tailEnd type="none" w="sm" len="sm"/>
            </a:ln>
            <a:effectLst>
              <a:outerShdw dist="17961" dir="2700000" algn="ctr" rotWithShape="0">
                <a:schemeClr val="bg2"/>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40" name="Line 80"/>
            <p:cNvSpPr>
              <a:spLocks noChangeShapeType="1"/>
            </p:cNvSpPr>
            <p:nvPr/>
          </p:nvSpPr>
          <p:spPr bwMode="auto">
            <a:xfrm>
              <a:off x="5204879" y="3940961"/>
              <a:ext cx="0" cy="514350"/>
            </a:xfrm>
            <a:prstGeom prst="line">
              <a:avLst/>
            </a:prstGeom>
            <a:noFill/>
            <a:ln w="25400">
              <a:solidFill>
                <a:srgbClr val="990099"/>
              </a:solidFill>
              <a:round/>
              <a:headEnd type="none" w="med" len="lg"/>
              <a:tailEnd type="stealth" w="med" len="lg"/>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41" name="Picture 8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371553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Line 82"/>
            <p:cNvSpPr>
              <a:spLocks noChangeShapeType="1"/>
            </p:cNvSpPr>
            <p:nvPr/>
          </p:nvSpPr>
          <p:spPr bwMode="auto">
            <a:xfrm>
              <a:off x="500485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43" name="Arc 83"/>
            <p:cNvSpPr>
              <a:spLocks/>
            </p:cNvSpPr>
            <p:nvPr/>
          </p:nvSpPr>
          <p:spPr bwMode="auto">
            <a:xfrm>
              <a:off x="4993741" y="3080536"/>
              <a:ext cx="1390650" cy="1436688"/>
            </a:xfrm>
            <a:custGeom>
              <a:avLst/>
              <a:gdLst>
                <a:gd name="T0" fmla="*/ 0 w 20858"/>
                <a:gd name="T1" fmla="*/ 0 h 21600"/>
                <a:gd name="T2" fmla="*/ 2147483647 w 20858"/>
                <a:gd name="T3" fmla="*/ 2147483647 h 21600"/>
                <a:gd name="T4" fmla="*/ 2147483647 w 20858"/>
                <a:gd name="T5" fmla="*/ 2147483647 h 21600"/>
                <a:gd name="T6" fmla="*/ 0 60000 65536"/>
                <a:gd name="T7" fmla="*/ 0 60000 65536"/>
                <a:gd name="T8" fmla="*/ 0 60000 65536"/>
              </a:gdLst>
              <a:ahLst/>
              <a:cxnLst>
                <a:cxn ang="T6">
                  <a:pos x="T0" y="T1"/>
                </a:cxn>
                <a:cxn ang="T7">
                  <a:pos x="T2" y="T3"/>
                </a:cxn>
                <a:cxn ang="T8">
                  <a:pos x="T4" y="T5"/>
                </a:cxn>
              </a:cxnLst>
              <a:rect l="0" t="0" r="r" b="b"/>
              <a:pathLst>
                <a:path w="20858" h="21600" fill="none" extrusionOk="0">
                  <a:moveTo>
                    <a:pt x="0" y="0"/>
                  </a:moveTo>
                  <a:cubicBezTo>
                    <a:pt x="14" y="0"/>
                    <a:pt x="28" y="-1"/>
                    <a:pt x="43" y="0"/>
                  </a:cubicBezTo>
                  <a:cubicBezTo>
                    <a:pt x="9750" y="0"/>
                    <a:pt x="18264" y="6475"/>
                    <a:pt x="20858" y="15829"/>
                  </a:cubicBezTo>
                </a:path>
                <a:path w="20858" h="21600" stroke="0" extrusionOk="0">
                  <a:moveTo>
                    <a:pt x="0" y="0"/>
                  </a:moveTo>
                  <a:cubicBezTo>
                    <a:pt x="14" y="0"/>
                    <a:pt x="28" y="-1"/>
                    <a:pt x="43" y="0"/>
                  </a:cubicBezTo>
                  <a:cubicBezTo>
                    <a:pt x="9750" y="0"/>
                    <a:pt x="18264" y="6475"/>
                    <a:pt x="20858" y="15829"/>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44" name="Picture 8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915311"/>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5" name="Arc 85"/>
            <p:cNvSpPr>
              <a:spLocks/>
            </p:cNvSpPr>
            <p:nvPr/>
          </p:nvSpPr>
          <p:spPr bwMode="auto">
            <a:xfrm flipH="1">
              <a:off x="6497103" y="2475698"/>
              <a:ext cx="355600" cy="2041525"/>
            </a:xfrm>
            <a:custGeom>
              <a:avLst/>
              <a:gdLst>
                <a:gd name="T0" fmla="*/ 2147483647 w 21177"/>
                <a:gd name="T1" fmla="*/ 0 h 20470"/>
                <a:gd name="T2" fmla="*/ 2147483647 w 21177"/>
                <a:gd name="T3" fmla="*/ 2147483647 h 20470"/>
                <a:gd name="T4" fmla="*/ 0 w 21177"/>
                <a:gd name="T5" fmla="*/ 2147483647 h 20470"/>
                <a:gd name="T6" fmla="*/ 0 60000 65536"/>
                <a:gd name="T7" fmla="*/ 0 60000 65536"/>
                <a:gd name="T8" fmla="*/ 0 60000 65536"/>
              </a:gdLst>
              <a:ahLst/>
              <a:cxnLst>
                <a:cxn ang="T6">
                  <a:pos x="T0" y="T1"/>
                </a:cxn>
                <a:cxn ang="T7">
                  <a:pos x="T2" y="T3"/>
                </a:cxn>
                <a:cxn ang="T8">
                  <a:pos x="T4" y="T5"/>
                </a:cxn>
              </a:cxnLst>
              <a:rect l="0" t="0" r="r" b="b"/>
              <a:pathLst>
                <a:path w="21177" h="20470" fill="none" extrusionOk="0">
                  <a:moveTo>
                    <a:pt x="6893" y="-1"/>
                  </a:moveTo>
                  <a:cubicBezTo>
                    <a:pt x="14211" y="2463"/>
                    <a:pt x="19657" y="8647"/>
                    <a:pt x="21177" y="16217"/>
                  </a:cubicBezTo>
                </a:path>
                <a:path w="21177" h="20470" stroke="0" extrusionOk="0">
                  <a:moveTo>
                    <a:pt x="6893" y="-1"/>
                  </a:moveTo>
                  <a:cubicBezTo>
                    <a:pt x="14211" y="2463"/>
                    <a:pt x="19657" y="8647"/>
                    <a:pt x="21177" y="16217"/>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6" name="Arc 86"/>
            <p:cNvSpPr>
              <a:spLocks/>
            </p:cNvSpPr>
            <p:nvPr/>
          </p:nvSpPr>
          <p:spPr bwMode="auto">
            <a:xfrm flipH="1">
              <a:off x="6676490" y="2275674"/>
              <a:ext cx="419101" cy="2017712"/>
            </a:xfrm>
            <a:custGeom>
              <a:avLst/>
              <a:gdLst>
                <a:gd name="T0" fmla="*/ 2147483647 w 21528"/>
                <a:gd name="T1" fmla="*/ 0 h 20470"/>
                <a:gd name="T2" fmla="*/ 2147483647 w 21528"/>
                <a:gd name="T3" fmla="*/ 2147483647 h 20470"/>
                <a:gd name="T4" fmla="*/ 0 w 21528"/>
                <a:gd name="T5" fmla="*/ 2147483647 h 20470"/>
                <a:gd name="T6" fmla="*/ 0 60000 65536"/>
                <a:gd name="T7" fmla="*/ 0 60000 65536"/>
                <a:gd name="T8" fmla="*/ 0 60000 65536"/>
              </a:gdLst>
              <a:ahLst/>
              <a:cxnLst>
                <a:cxn ang="T6">
                  <a:pos x="T0" y="T1"/>
                </a:cxn>
                <a:cxn ang="T7">
                  <a:pos x="T2" y="T3"/>
                </a:cxn>
                <a:cxn ang="T8">
                  <a:pos x="T4" y="T5"/>
                </a:cxn>
              </a:cxnLst>
              <a:rect l="0" t="0" r="r" b="b"/>
              <a:pathLst>
                <a:path w="21528" h="20470" fill="none" extrusionOk="0">
                  <a:moveTo>
                    <a:pt x="6893" y="-1"/>
                  </a:moveTo>
                  <a:cubicBezTo>
                    <a:pt x="15069" y="2752"/>
                    <a:pt x="20822" y="10106"/>
                    <a:pt x="21527" y="18705"/>
                  </a:cubicBezTo>
                </a:path>
                <a:path w="21528" h="20470" stroke="0" extrusionOk="0">
                  <a:moveTo>
                    <a:pt x="6893" y="-1"/>
                  </a:moveTo>
                  <a:cubicBezTo>
                    <a:pt x="15069" y="2752"/>
                    <a:pt x="20822" y="10106"/>
                    <a:pt x="21527" y="18705"/>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 name="矩形 5"/>
          <p:cNvSpPr/>
          <p:nvPr/>
        </p:nvSpPr>
        <p:spPr>
          <a:xfrm>
            <a:off x="6074477" y="1305556"/>
            <a:ext cx="2363353" cy="2426305"/>
          </a:xfrm>
          <a:prstGeom prst="rect">
            <a:avLst/>
          </a:prstGeom>
          <a:solidFill>
            <a:schemeClr val="bg1"/>
          </a:solidFill>
        </p:spPr>
        <p:txBody>
          <a:bodyPr wrap="square">
            <a:spAutoFit/>
          </a:bodyPr>
          <a:lstStyle/>
          <a:p>
            <a:pPr>
              <a:lnSpc>
                <a:spcPts val="2600"/>
              </a:lnSpc>
            </a:pPr>
            <a:r>
              <a:rPr lang="zh-CN" altLang="en-US" sz="1400" dirty="0">
                <a:latin typeface="Montserrat" panose="00000500000000000000" pitchFamily="2" charset="0"/>
                <a:ea typeface="微软雅黑 Light" panose="020B0502040204020203" pitchFamily="34" charset="-122"/>
              </a:rPr>
              <a:t>如果存在几条同样长度的最短路径，选择 </a:t>
            </a:r>
            <a:r>
              <a:rPr lang="en-US" altLang="zh-CN" sz="1400" dirty="0">
                <a:latin typeface="Montserrat" panose="00000500000000000000" pitchFamily="2" charset="0"/>
                <a:ea typeface="微软雅黑 Light" panose="020B0502040204020203" pitchFamily="34" charset="-122"/>
              </a:rPr>
              <a:t>IP </a:t>
            </a:r>
            <a:r>
              <a:rPr lang="zh-CN" altLang="en-US" sz="1400" dirty="0">
                <a:latin typeface="Montserrat" panose="00000500000000000000" pitchFamily="2" charset="0"/>
                <a:ea typeface="微软雅黑 Light" panose="020B0502040204020203" pitchFamily="34" charset="-122"/>
              </a:rPr>
              <a:t>地址最小的。 </a:t>
            </a:r>
          </a:p>
          <a:p>
            <a:pPr>
              <a:lnSpc>
                <a:spcPts val="2600"/>
              </a:lnSpc>
            </a:pPr>
            <a:endParaRPr lang="en-US" altLang="zh-CN" sz="1400" dirty="0">
              <a:latin typeface="Montserrat" panose="00000500000000000000" pitchFamily="2" charset="0"/>
              <a:ea typeface="微软雅黑 Light" panose="020B0502040204020203" pitchFamily="34" charset="-122"/>
            </a:endParaRPr>
          </a:p>
          <a:p>
            <a:pPr>
              <a:lnSpc>
                <a:spcPts val="2600"/>
              </a:lnSpc>
            </a:pPr>
            <a:r>
              <a:rPr lang="zh-CN" altLang="en-US" sz="1400" dirty="0">
                <a:latin typeface="Montserrat" panose="00000500000000000000" pitchFamily="2" charset="0"/>
                <a:ea typeface="微软雅黑 Light" panose="020B0502040204020203" pitchFamily="34" charset="-122"/>
              </a:rPr>
              <a:t>最后就得出了以源为根节点的、用来转发多播数据报的多播转发树。</a:t>
            </a:r>
          </a:p>
        </p:txBody>
      </p:sp>
      <p:sp>
        <p:nvSpPr>
          <p:cNvPr id="5" name="标题 4">
            <a:extLst>
              <a:ext uri="{FF2B5EF4-FFF2-40B4-BE49-F238E27FC236}">
                <a16:creationId xmlns:a16="http://schemas.microsoft.com/office/drawing/2014/main" id="{1130A503-7B19-3604-0B3E-F9C49207D162}"/>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a:t>
            </a:r>
          </a:p>
        </p:txBody>
      </p:sp>
      <p:sp>
        <p:nvSpPr>
          <p:cNvPr id="2" name="内容占位符 1">
            <a:extLst>
              <a:ext uri="{FF2B5EF4-FFF2-40B4-BE49-F238E27FC236}">
                <a16:creationId xmlns:a16="http://schemas.microsoft.com/office/drawing/2014/main" id="{5AE555D3-02A7-91E7-8504-61F4C6895CFE}"/>
              </a:ext>
            </a:extLst>
          </p:cNvPr>
          <p:cNvSpPr>
            <a:spLocks noGrp="1"/>
          </p:cNvSpPr>
          <p:nvPr>
            <p:ph sz="quarter" idx="11"/>
          </p:nvPr>
        </p:nvSpPr>
        <p:spPr>
          <a:xfrm>
            <a:off x="486000" y="900000"/>
            <a:ext cx="8172000" cy="3703500"/>
          </a:xfrm>
        </p:spPr>
        <p:txBody>
          <a:bodyPr/>
          <a:lstStyle/>
          <a:p>
            <a:r>
              <a:rPr lang="zh-CN" altLang="en-US" dirty="0"/>
              <a:t>形成以源为根节点的多播转发树</a:t>
            </a:r>
          </a:p>
        </p:txBody>
      </p:sp>
    </p:spTree>
    <p:extLst>
      <p:ext uri="{BB962C8B-B14F-4D97-AF65-F5344CB8AC3E}">
        <p14:creationId xmlns:p14="http://schemas.microsoft.com/office/powerpoint/2010/main" val="3215944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6" name="组合 115"/>
          <p:cNvGrpSpPr/>
          <p:nvPr/>
        </p:nvGrpSpPr>
        <p:grpSpPr>
          <a:xfrm>
            <a:off x="796794" y="2290608"/>
            <a:ext cx="3151205" cy="1960659"/>
            <a:chOff x="796794" y="2399244"/>
            <a:chExt cx="3349523" cy="1960659"/>
          </a:xfrm>
        </p:grpSpPr>
        <p:sp>
          <p:nvSpPr>
            <p:cNvPr id="67" name="Line 32"/>
            <p:cNvSpPr>
              <a:spLocks noChangeShapeType="1"/>
            </p:cNvSpPr>
            <p:nvPr/>
          </p:nvSpPr>
          <p:spPr bwMode="auto">
            <a:xfrm rot="5400000">
              <a:off x="3923478"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4" name="Line 12"/>
            <p:cNvSpPr>
              <a:spLocks noChangeShapeType="1"/>
            </p:cNvSpPr>
            <p:nvPr/>
          </p:nvSpPr>
          <p:spPr bwMode="auto">
            <a:xfrm flipV="1">
              <a:off x="1616796"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5" name="Line 12"/>
            <p:cNvSpPr>
              <a:spLocks noChangeShapeType="1"/>
            </p:cNvSpPr>
            <p:nvPr/>
          </p:nvSpPr>
          <p:spPr bwMode="auto">
            <a:xfrm>
              <a:off x="1571814"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6" name="Line 12"/>
            <p:cNvSpPr>
              <a:spLocks noChangeShapeType="1"/>
            </p:cNvSpPr>
            <p:nvPr/>
          </p:nvSpPr>
          <p:spPr bwMode="auto">
            <a:xfrm>
              <a:off x="2340961"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7" name="Line 32"/>
            <p:cNvSpPr>
              <a:spLocks noChangeShapeType="1"/>
            </p:cNvSpPr>
            <p:nvPr/>
          </p:nvSpPr>
          <p:spPr bwMode="auto">
            <a:xfrm>
              <a:off x="2059592"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8" name="Line 12"/>
            <p:cNvSpPr>
              <a:spLocks noChangeShapeType="1"/>
            </p:cNvSpPr>
            <p:nvPr/>
          </p:nvSpPr>
          <p:spPr bwMode="auto">
            <a:xfrm flipH="1" flipV="1">
              <a:off x="2440545"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9" name="Rectangle 10"/>
            <p:cNvSpPr>
              <a:spLocks noChangeArrowheads="1"/>
            </p:cNvSpPr>
            <p:nvPr/>
          </p:nvSpPr>
          <p:spPr bwMode="auto">
            <a:xfrm>
              <a:off x="2437365"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50" name="Line 12"/>
            <p:cNvSpPr>
              <a:spLocks noChangeShapeType="1"/>
            </p:cNvSpPr>
            <p:nvPr/>
          </p:nvSpPr>
          <p:spPr bwMode="auto">
            <a:xfrm flipH="1" flipV="1">
              <a:off x="2553202"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1" name="Line 32"/>
            <p:cNvSpPr>
              <a:spLocks noChangeShapeType="1"/>
            </p:cNvSpPr>
            <p:nvPr/>
          </p:nvSpPr>
          <p:spPr bwMode="auto">
            <a:xfrm rot="5400000">
              <a:off x="1004508"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2" name="Line 12"/>
            <p:cNvSpPr>
              <a:spLocks noChangeShapeType="1"/>
            </p:cNvSpPr>
            <p:nvPr/>
          </p:nvSpPr>
          <p:spPr bwMode="auto">
            <a:xfrm rot="5400000" flipH="1" flipV="1">
              <a:off x="1337370"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4" name="Rectangle 10"/>
            <p:cNvSpPr>
              <a:spLocks noChangeArrowheads="1"/>
            </p:cNvSpPr>
            <p:nvPr/>
          </p:nvSpPr>
          <p:spPr bwMode="auto">
            <a:xfrm>
              <a:off x="796794"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55" name="Line 12"/>
            <p:cNvSpPr>
              <a:spLocks noChangeShapeType="1"/>
            </p:cNvSpPr>
            <p:nvPr/>
          </p:nvSpPr>
          <p:spPr bwMode="auto">
            <a:xfrm rot="5400000" flipH="1" flipV="1">
              <a:off x="1119428"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6" name="Line 32"/>
            <p:cNvSpPr>
              <a:spLocks noChangeShapeType="1"/>
            </p:cNvSpPr>
            <p:nvPr/>
          </p:nvSpPr>
          <p:spPr bwMode="auto">
            <a:xfrm>
              <a:off x="2833737"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7" name="Line 12"/>
            <p:cNvSpPr>
              <a:spLocks noChangeShapeType="1"/>
            </p:cNvSpPr>
            <p:nvPr/>
          </p:nvSpPr>
          <p:spPr bwMode="auto">
            <a:xfrm flipH="1" flipV="1">
              <a:off x="3028110"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8" name="Rectangle 10"/>
            <p:cNvSpPr>
              <a:spLocks noChangeArrowheads="1"/>
            </p:cNvSpPr>
            <p:nvPr/>
          </p:nvSpPr>
          <p:spPr bwMode="auto">
            <a:xfrm>
              <a:off x="2917118"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70" name="Line 12"/>
            <p:cNvSpPr>
              <a:spLocks noChangeShapeType="1"/>
            </p:cNvSpPr>
            <p:nvPr/>
          </p:nvSpPr>
          <p:spPr bwMode="auto">
            <a:xfrm rot="5400000" flipH="1" flipV="1">
              <a:off x="4038398" y="2826648"/>
              <a:ext cx="0" cy="196670"/>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1" name="Line 12"/>
            <p:cNvSpPr>
              <a:spLocks noChangeShapeType="1"/>
            </p:cNvSpPr>
            <p:nvPr/>
          </p:nvSpPr>
          <p:spPr bwMode="auto">
            <a:xfrm rot="5400000">
              <a:off x="2952858"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38"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47394"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311487"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0"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5796"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9574"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76939"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7" name="Line 12"/>
            <p:cNvSpPr>
              <a:spLocks noChangeShapeType="1"/>
            </p:cNvSpPr>
            <p:nvPr/>
          </p:nvSpPr>
          <p:spPr bwMode="auto">
            <a:xfrm flipH="1" flipV="1">
              <a:off x="3102138"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4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64239"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80" name="组合 79"/>
          <p:cNvGrpSpPr/>
          <p:nvPr/>
        </p:nvGrpSpPr>
        <p:grpSpPr>
          <a:xfrm>
            <a:off x="6224518" y="2783401"/>
            <a:ext cx="1353920" cy="467837"/>
            <a:chOff x="2594906" y="2882429"/>
            <a:chExt cx="1353920" cy="467837"/>
          </a:xfrm>
        </p:grpSpPr>
        <p:sp>
          <p:nvSpPr>
            <p:cNvPr id="81" name="Line 15"/>
            <p:cNvSpPr>
              <a:spLocks noChangeShapeType="1"/>
            </p:cNvSpPr>
            <p:nvPr/>
          </p:nvSpPr>
          <p:spPr bwMode="auto">
            <a:xfrm flipV="1">
              <a:off x="3354744" y="2995439"/>
              <a:ext cx="379135" cy="244968"/>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2" name="Line 15"/>
            <p:cNvSpPr>
              <a:spLocks noChangeShapeType="1"/>
            </p:cNvSpPr>
            <p:nvPr/>
          </p:nvSpPr>
          <p:spPr bwMode="auto">
            <a:xfrm>
              <a:off x="2594906" y="3041372"/>
              <a:ext cx="532574" cy="217084"/>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3" name="矩形 82"/>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sp>
          <p:nvSpPr>
            <p:cNvPr id="84" name="矩形 83"/>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grpSp>
      <p:grpSp>
        <p:nvGrpSpPr>
          <p:cNvPr id="117" name="组合 116"/>
          <p:cNvGrpSpPr/>
          <p:nvPr/>
        </p:nvGrpSpPr>
        <p:grpSpPr>
          <a:xfrm>
            <a:off x="4608294" y="2290608"/>
            <a:ext cx="3856690" cy="1960659"/>
            <a:chOff x="4463445" y="2399244"/>
            <a:chExt cx="4036555" cy="1960659"/>
          </a:xfrm>
        </p:grpSpPr>
        <p:sp>
          <p:nvSpPr>
            <p:cNvPr id="87" name="Line 12"/>
            <p:cNvSpPr>
              <a:spLocks noChangeShapeType="1"/>
            </p:cNvSpPr>
            <p:nvPr/>
          </p:nvSpPr>
          <p:spPr bwMode="auto">
            <a:xfrm flipV="1">
              <a:off x="5283447"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8" name="Line 12"/>
            <p:cNvSpPr>
              <a:spLocks noChangeShapeType="1"/>
            </p:cNvSpPr>
            <p:nvPr/>
          </p:nvSpPr>
          <p:spPr bwMode="auto">
            <a:xfrm>
              <a:off x="5238465"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9" name="Line 12"/>
            <p:cNvSpPr>
              <a:spLocks noChangeShapeType="1"/>
            </p:cNvSpPr>
            <p:nvPr/>
          </p:nvSpPr>
          <p:spPr bwMode="auto">
            <a:xfrm>
              <a:off x="6007612"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0" name="Line 32"/>
            <p:cNvSpPr>
              <a:spLocks noChangeShapeType="1"/>
            </p:cNvSpPr>
            <p:nvPr/>
          </p:nvSpPr>
          <p:spPr bwMode="auto">
            <a:xfrm>
              <a:off x="5726243"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12"/>
            <p:cNvSpPr>
              <a:spLocks noChangeShapeType="1"/>
            </p:cNvSpPr>
            <p:nvPr/>
          </p:nvSpPr>
          <p:spPr bwMode="auto">
            <a:xfrm flipH="1" flipV="1">
              <a:off x="6107196"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2" name="Rectangle 10"/>
            <p:cNvSpPr>
              <a:spLocks noChangeArrowheads="1"/>
            </p:cNvSpPr>
            <p:nvPr/>
          </p:nvSpPr>
          <p:spPr bwMode="auto">
            <a:xfrm>
              <a:off x="6104016"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93" name="Line 12"/>
            <p:cNvSpPr>
              <a:spLocks noChangeShapeType="1"/>
            </p:cNvSpPr>
            <p:nvPr/>
          </p:nvSpPr>
          <p:spPr bwMode="auto">
            <a:xfrm flipH="1" flipV="1">
              <a:off x="6219853"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4" name="Line 32"/>
            <p:cNvSpPr>
              <a:spLocks noChangeShapeType="1"/>
            </p:cNvSpPr>
            <p:nvPr/>
          </p:nvSpPr>
          <p:spPr bwMode="auto">
            <a:xfrm rot="5400000">
              <a:off x="4671159"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5" name="Line 12"/>
            <p:cNvSpPr>
              <a:spLocks noChangeShapeType="1"/>
            </p:cNvSpPr>
            <p:nvPr/>
          </p:nvSpPr>
          <p:spPr bwMode="auto">
            <a:xfrm rot="5400000" flipH="1" flipV="1">
              <a:off x="5004021"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6" name="Rectangle 10"/>
            <p:cNvSpPr>
              <a:spLocks noChangeArrowheads="1"/>
            </p:cNvSpPr>
            <p:nvPr/>
          </p:nvSpPr>
          <p:spPr bwMode="auto">
            <a:xfrm>
              <a:off x="4463445"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97" name="Line 12"/>
            <p:cNvSpPr>
              <a:spLocks noChangeShapeType="1"/>
            </p:cNvSpPr>
            <p:nvPr/>
          </p:nvSpPr>
          <p:spPr bwMode="auto">
            <a:xfrm rot="5400000" flipH="1" flipV="1">
              <a:off x="4786079"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8" name="Line 32"/>
            <p:cNvSpPr>
              <a:spLocks noChangeShapeType="1"/>
            </p:cNvSpPr>
            <p:nvPr/>
          </p:nvSpPr>
          <p:spPr bwMode="auto">
            <a:xfrm>
              <a:off x="6500388"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12"/>
            <p:cNvSpPr>
              <a:spLocks noChangeShapeType="1"/>
            </p:cNvSpPr>
            <p:nvPr/>
          </p:nvSpPr>
          <p:spPr bwMode="auto">
            <a:xfrm flipH="1" flipV="1">
              <a:off x="6694761"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0" name="Rectangle 10"/>
            <p:cNvSpPr>
              <a:spLocks noChangeArrowheads="1"/>
            </p:cNvSpPr>
            <p:nvPr/>
          </p:nvSpPr>
          <p:spPr bwMode="auto">
            <a:xfrm>
              <a:off x="6583769"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01" name="Line 12"/>
            <p:cNvSpPr>
              <a:spLocks noChangeShapeType="1"/>
            </p:cNvSpPr>
            <p:nvPr/>
          </p:nvSpPr>
          <p:spPr bwMode="auto">
            <a:xfrm rot="5400000" flipH="1" flipV="1">
              <a:off x="7718894" y="2812803"/>
              <a:ext cx="0" cy="224359"/>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2" name="Line 12"/>
            <p:cNvSpPr>
              <a:spLocks noChangeShapeType="1"/>
            </p:cNvSpPr>
            <p:nvPr/>
          </p:nvSpPr>
          <p:spPr bwMode="auto">
            <a:xfrm rot="5400000">
              <a:off x="6619509"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14045"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4"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78138"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5"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82447"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6"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16225"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7"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3590"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8" name="Line 12"/>
            <p:cNvSpPr>
              <a:spLocks noChangeShapeType="1"/>
            </p:cNvSpPr>
            <p:nvPr/>
          </p:nvSpPr>
          <p:spPr bwMode="auto">
            <a:xfrm flipH="1" flipV="1">
              <a:off x="6768789"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30890"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0" name="Rectangle 10"/>
            <p:cNvSpPr>
              <a:spLocks noChangeArrowheads="1"/>
            </p:cNvSpPr>
            <p:nvPr/>
          </p:nvSpPr>
          <p:spPr bwMode="auto">
            <a:xfrm>
              <a:off x="8167665" y="2896632"/>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11" name="Line 12"/>
            <p:cNvSpPr>
              <a:spLocks noChangeShapeType="1"/>
            </p:cNvSpPr>
            <p:nvPr/>
          </p:nvSpPr>
          <p:spPr bwMode="auto">
            <a:xfrm rot="5400000" flipH="1" flipV="1">
              <a:off x="8005956" y="2805082"/>
              <a:ext cx="0" cy="323418"/>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5" name="Line 32"/>
            <p:cNvSpPr>
              <a:spLocks noChangeShapeType="1"/>
            </p:cNvSpPr>
            <p:nvPr/>
          </p:nvSpPr>
          <p:spPr bwMode="auto">
            <a:xfrm rot="5400000">
              <a:off x="7608235"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2" name="Text Box 102"/>
            <p:cNvSpPr txBox="1">
              <a:spLocks noChangeArrowheads="1"/>
            </p:cNvSpPr>
            <p:nvPr/>
          </p:nvSpPr>
          <p:spPr bwMode="auto">
            <a:xfrm>
              <a:off x="7831227" y="3279985"/>
              <a:ext cx="668773"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100" b="1" dirty="0">
                  <a:latin typeface="微软雅黑" pitchFamily="34" charset="-122"/>
                  <a:ea typeface="微软雅黑" pitchFamily="34" charset="-122"/>
                </a:rPr>
                <a:t>IGMP </a:t>
              </a:r>
            </a:p>
            <a:p>
              <a:r>
                <a:rPr lang="en-US" altLang="zh-CN" sz="1100" b="1" dirty="0">
                  <a:latin typeface="微软雅黑" pitchFamily="34" charset="-122"/>
                  <a:ea typeface="微软雅黑" pitchFamily="34" charset="-122"/>
                </a:rPr>
                <a:t>Report</a:t>
              </a:r>
              <a:endParaRPr lang="zh-CN" altLang="en-US" sz="1100" b="1" dirty="0">
                <a:latin typeface="微软雅黑" pitchFamily="34" charset="-122"/>
                <a:ea typeface="微软雅黑" pitchFamily="34" charset="-122"/>
              </a:endParaRPr>
            </a:p>
          </p:txBody>
        </p:sp>
        <p:cxnSp>
          <p:nvCxnSpPr>
            <p:cNvPr id="114" name="直接箭头连接符 113"/>
            <p:cNvCxnSpPr>
              <a:stCxn id="112" idx="0"/>
            </p:cNvCxnSpPr>
            <p:nvPr/>
          </p:nvCxnSpPr>
          <p:spPr>
            <a:xfrm flipH="1" flipV="1">
              <a:off x="8005956" y="3005048"/>
              <a:ext cx="159658" cy="274937"/>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sp>
        <p:nvSpPr>
          <p:cNvPr id="119" name="矩形 118"/>
          <p:cNvSpPr/>
          <p:nvPr/>
        </p:nvSpPr>
        <p:spPr>
          <a:xfrm>
            <a:off x="1229140" y="3881935"/>
            <a:ext cx="595035" cy="338554"/>
          </a:xfrm>
          <a:prstGeom prst="rect">
            <a:avLst/>
          </a:prstGeom>
        </p:spPr>
        <p:txBody>
          <a:bodyPr wrap="none">
            <a:spAutoFit/>
          </a:bodyPr>
          <a:lstStyle/>
          <a:p>
            <a:r>
              <a:rPr lang="zh-CN" altLang="en-US" sz="1600" dirty="0">
                <a:solidFill>
                  <a:srgbClr val="0000FF"/>
                </a:solidFill>
                <a:latin typeface="微软雅黑 Light" panose="020B0502040204020203" pitchFamily="34" charset="-122"/>
                <a:ea typeface="微软雅黑 Light" panose="020B0502040204020203" pitchFamily="34" charset="-122"/>
              </a:rPr>
              <a:t>剪枝</a:t>
            </a:r>
          </a:p>
        </p:txBody>
      </p:sp>
      <p:sp>
        <p:nvSpPr>
          <p:cNvPr id="120" name="矩形 119"/>
          <p:cNvSpPr/>
          <p:nvPr/>
        </p:nvSpPr>
        <p:spPr>
          <a:xfrm>
            <a:off x="7584137" y="3881935"/>
            <a:ext cx="595035" cy="338554"/>
          </a:xfrm>
          <a:prstGeom prst="rect">
            <a:avLst/>
          </a:prstGeom>
        </p:spPr>
        <p:txBody>
          <a:bodyPr wrap="none">
            <a:spAutoFit/>
          </a:bodyPr>
          <a:lstStyle/>
          <a:p>
            <a:r>
              <a:rPr lang="zh-CN" altLang="en-US" sz="1600" dirty="0">
                <a:solidFill>
                  <a:srgbClr val="0000FF"/>
                </a:solidFill>
                <a:latin typeface="微软雅黑 Light" panose="020B0502040204020203" pitchFamily="34" charset="-122"/>
                <a:ea typeface="微软雅黑 Light" panose="020B0502040204020203" pitchFamily="34" charset="-122"/>
              </a:rPr>
              <a:t>嫁接</a:t>
            </a:r>
          </a:p>
        </p:txBody>
      </p:sp>
      <p:grpSp>
        <p:nvGrpSpPr>
          <p:cNvPr id="79" name="组合 78"/>
          <p:cNvGrpSpPr/>
          <p:nvPr/>
        </p:nvGrpSpPr>
        <p:grpSpPr>
          <a:xfrm>
            <a:off x="2450573" y="2801278"/>
            <a:ext cx="1215605" cy="467837"/>
            <a:chOff x="2622992" y="2882429"/>
            <a:chExt cx="1325834" cy="467837"/>
          </a:xfrm>
        </p:grpSpPr>
        <p:sp>
          <p:nvSpPr>
            <p:cNvPr id="73" name="Line 15"/>
            <p:cNvSpPr>
              <a:spLocks noChangeShapeType="1"/>
            </p:cNvSpPr>
            <p:nvPr/>
          </p:nvSpPr>
          <p:spPr bwMode="auto">
            <a:xfrm flipV="1">
              <a:off x="3345691" y="2936679"/>
              <a:ext cx="476516" cy="303730"/>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4" name="Line 15"/>
            <p:cNvSpPr>
              <a:spLocks noChangeShapeType="1"/>
            </p:cNvSpPr>
            <p:nvPr/>
          </p:nvSpPr>
          <p:spPr bwMode="auto">
            <a:xfrm>
              <a:off x="2622992" y="3001788"/>
              <a:ext cx="522594" cy="265721"/>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5" name="矩形 74"/>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sp>
          <p:nvSpPr>
            <p:cNvPr id="76" name="矩形 75"/>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grpSp>
      <p:sp>
        <p:nvSpPr>
          <p:cNvPr id="5" name="标题 4">
            <a:extLst>
              <a:ext uri="{FF2B5EF4-FFF2-40B4-BE49-F238E27FC236}">
                <a16:creationId xmlns:a16="http://schemas.microsoft.com/office/drawing/2014/main" id="{FFEFE3BF-88BA-A872-5031-0A262CF6F172}"/>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的要点：剪枝与嫁接</a:t>
            </a:r>
          </a:p>
        </p:txBody>
      </p:sp>
      <p:sp>
        <p:nvSpPr>
          <p:cNvPr id="6" name="内容占位符 5">
            <a:extLst>
              <a:ext uri="{FF2B5EF4-FFF2-40B4-BE49-F238E27FC236}">
                <a16:creationId xmlns:a16="http://schemas.microsoft.com/office/drawing/2014/main" id="{7D7CB529-F10E-A7D2-216C-749CDFBCD224}"/>
              </a:ext>
            </a:extLst>
          </p:cNvPr>
          <p:cNvSpPr>
            <a:spLocks noGrp="1"/>
          </p:cNvSpPr>
          <p:nvPr>
            <p:ph sz="quarter" idx="11"/>
          </p:nvPr>
        </p:nvSpPr>
        <p:spPr>
          <a:xfrm>
            <a:off x="486000" y="900000"/>
            <a:ext cx="8172000" cy="3703500"/>
          </a:xfrm>
        </p:spPr>
        <p:txBody>
          <a:bodyPr/>
          <a:lstStyle/>
          <a:p>
            <a:r>
              <a:rPr lang="zh-CN" altLang="en-US" dirty="0"/>
              <a:t>剪枝：如果在多播转发树上的某个路由器发现它的下游树枝（即叶节点方向）已没有该多播组的成员，就把它和下游的树枝一起剪除</a:t>
            </a:r>
            <a:endParaRPr lang="en-US" altLang="zh-CN" dirty="0"/>
          </a:p>
          <a:p>
            <a:r>
              <a:rPr lang="zh-CN" altLang="en-US" dirty="0"/>
              <a:t>嫁接：当某个树枝有新增加的组成员时，可以再接入到多播转发树上</a:t>
            </a:r>
          </a:p>
          <a:p>
            <a:endParaRPr lang="zh-CN" altLang="en-US" dirty="0"/>
          </a:p>
        </p:txBody>
      </p:sp>
    </p:spTree>
    <p:extLst>
      <p:ext uri="{BB962C8B-B14F-4D97-AF65-F5344CB8AC3E}">
        <p14:creationId xmlns:p14="http://schemas.microsoft.com/office/powerpoint/2010/main" val="7371469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7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8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114"/>
          <p:cNvGrpSpPr>
            <a:grpSpLocks/>
          </p:cNvGrpSpPr>
          <p:nvPr/>
        </p:nvGrpSpPr>
        <p:grpSpPr bwMode="auto">
          <a:xfrm>
            <a:off x="5909908" y="2669405"/>
            <a:ext cx="1572216" cy="1443694"/>
            <a:chOff x="3749" y="2721"/>
            <a:chExt cx="1531" cy="1523"/>
          </a:xfrm>
        </p:grpSpPr>
        <p:sp>
          <p:nvSpPr>
            <p:cNvPr id="4" name="Oval 90"/>
            <p:cNvSpPr>
              <a:spLocks noChangeArrowheads="1"/>
            </p:cNvSpPr>
            <p:nvPr/>
          </p:nvSpPr>
          <p:spPr bwMode="auto">
            <a:xfrm rot="1323552">
              <a:off x="3749" y="3383"/>
              <a:ext cx="1272" cy="861"/>
            </a:xfrm>
            <a:prstGeom prst="ellipse">
              <a:avLst/>
            </a:prstGeom>
            <a:solidFill>
              <a:srgbClr val="00FFFF"/>
            </a:solidFill>
            <a:ln>
              <a:noFill/>
            </a:ln>
            <a:effectLst/>
            <a:extLst>
              <a:ext uri="{91240B29-F687-4F45-9708-019B960494DF}">
                <a14:hiddenLine xmlns:a14="http://schemas.microsoft.com/office/drawing/2010/main" w="9525">
                  <a:solidFill>
                    <a:schemeClr val="tx1"/>
                  </a:solidFill>
                  <a:prstDash val="dash"/>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 name="Text Box 91"/>
            <p:cNvSpPr txBox="1">
              <a:spLocks noChangeArrowheads="1"/>
            </p:cNvSpPr>
            <p:nvPr/>
          </p:nvSpPr>
          <p:spPr bwMode="auto">
            <a:xfrm>
              <a:off x="4051" y="2721"/>
              <a:ext cx="1229" cy="5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dirty="0">
                  <a:latin typeface="微软雅黑 Light" panose="020B0502040204020203" pitchFamily="34" charset="-122"/>
                  <a:ea typeface="微软雅黑 Light" panose="020B0502040204020203" pitchFamily="34" charset="-122"/>
                </a:rPr>
                <a:t>剪除没有</a:t>
              </a:r>
            </a:p>
            <a:p>
              <a:pPr algn="ctr"/>
              <a:r>
                <a:rPr lang="zh-CN" altLang="en-US" sz="1400" dirty="0">
                  <a:latin typeface="微软雅黑 Light" panose="020B0502040204020203" pitchFamily="34" charset="-122"/>
                  <a:ea typeface="微软雅黑 Light" panose="020B0502040204020203" pitchFamily="34" charset="-122"/>
                </a:rPr>
                <a:t>组成员的树枝</a:t>
              </a:r>
            </a:p>
          </p:txBody>
        </p:sp>
      </p:grpSp>
      <p:sp>
        <p:nvSpPr>
          <p:cNvPr id="6" name="Line 4"/>
          <p:cNvSpPr>
            <a:spLocks noChangeShapeType="1"/>
          </p:cNvSpPr>
          <p:nvPr/>
        </p:nvSpPr>
        <p:spPr bwMode="auto">
          <a:xfrm>
            <a:off x="6799222" y="3890334"/>
            <a:ext cx="481626" cy="145981"/>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 name="Line 5"/>
          <p:cNvSpPr>
            <a:spLocks noChangeShapeType="1"/>
          </p:cNvSpPr>
          <p:nvPr/>
        </p:nvSpPr>
        <p:spPr bwMode="auto">
          <a:xfrm>
            <a:off x="4436275" y="1157459"/>
            <a:ext cx="0" cy="36874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 name="Line 6"/>
          <p:cNvSpPr>
            <a:spLocks noChangeShapeType="1"/>
          </p:cNvSpPr>
          <p:nvPr/>
        </p:nvSpPr>
        <p:spPr bwMode="auto">
          <a:xfrm flipV="1">
            <a:off x="3297420" y="1640902"/>
            <a:ext cx="1114209" cy="54979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 name="Line 7"/>
          <p:cNvSpPr>
            <a:spLocks noChangeShapeType="1"/>
          </p:cNvSpPr>
          <p:nvPr/>
        </p:nvSpPr>
        <p:spPr bwMode="auto">
          <a:xfrm>
            <a:off x="3434000" y="3298827"/>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8"/>
          <p:cNvSpPr>
            <a:spLocks noChangeShapeType="1"/>
          </p:cNvSpPr>
          <p:nvPr/>
        </p:nvSpPr>
        <p:spPr bwMode="auto">
          <a:xfrm>
            <a:off x="3434000" y="2190700"/>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Text Box 9"/>
          <p:cNvSpPr txBox="1">
            <a:spLocks noChangeArrowheads="1"/>
          </p:cNvSpPr>
          <p:nvPr/>
        </p:nvSpPr>
        <p:spPr bwMode="auto">
          <a:xfrm>
            <a:off x="4601610" y="88256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latin typeface="微软雅黑" pitchFamily="34" charset="-122"/>
                <a:ea typeface="微软雅黑" pitchFamily="34" charset="-122"/>
              </a:rPr>
              <a:t>源点</a:t>
            </a:r>
          </a:p>
        </p:txBody>
      </p:sp>
      <p:sp>
        <p:nvSpPr>
          <p:cNvPr id="12" name="Line 10"/>
          <p:cNvSpPr>
            <a:spLocks noChangeShapeType="1"/>
          </p:cNvSpPr>
          <p:nvPr/>
        </p:nvSpPr>
        <p:spPr bwMode="auto">
          <a:xfrm>
            <a:off x="4592368" y="1690194"/>
            <a:ext cx="1030003" cy="51567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3297420" y="2266535"/>
            <a:ext cx="0" cy="95835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3364169" y="3372766"/>
            <a:ext cx="1031029" cy="663549"/>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3"/>
          <p:cNvSpPr>
            <a:spLocks noChangeShapeType="1"/>
          </p:cNvSpPr>
          <p:nvPr/>
        </p:nvSpPr>
        <p:spPr bwMode="auto">
          <a:xfrm>
            <a:off x="5699389" y="2266534"/>
            <a:ext cx="0" cy="1032293"/>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flipH="1">
            <a:off x="4601610" y="3298828"/>
            <a:ext cx="1097779" cy="737488"/>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flipH="1">
            <a:off x="2472801" y="3298827"/>
            <a:ext cx="755814" cy="591507"/>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5769219" y="3298827"/>
            <a:ext cx="961198" cy="591507"/>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19"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2044719"/>
            <a:ext cx="481627"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8618" y="3890334"/>
            <a:ext cx="481626" cy="2948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3151898"/>
            <a:ext cx="481627"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3"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3151898"/>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2044719"/>
            <a:ext cx="481626"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97587" y="3815448"/>
            <a:ext cx="482653" cy="2948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54177" y="3743405"/>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7" name="Group 35"/>
          <p:cNvGrpSpPr>
            <a:grpSpLocks/>
          </p:cNvGrpSpPr>
          <p:nvPr/>
        </p:nvGrpSpPr>
        <p:grpSpPr bwMode="auto">
          <a:xfrm>
            <a:off x="4950764" y="1999218"/>
            <a:ext cx="137607" cy="147877"/>
            <a:chOff x="3470" y="572"/>
            <a:chExt cx="91" cy="91"/>
          </a:xfrm>
        </p:grpSpPr>
        <p:sp>
          <p:nvSpPr>
            <p:cNvPr id="28" name="Line 36"/>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9" name="Line 37"/>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0" name="Group 110"/>
          <p:cNvGrpSpPr>
            <a:grpSpLocks/>
          </p:cNvGrpSpPr>
          <p:nvPr/>
        </p:nvGrpSpPr>
        <p:grpSpPr bwMode="auto">
          <a:xfrm>
            <a:off x="3877630" y="2235253"/>
            <a:ext cx="2027143" cy="767821"/>
            <a:chOff x="1770" y="2263"/>
            <a:chExt cx="1974" cy="810"/>
          </a:xfrm>
        </p:grpSpPr>
        <p:grpSp>
          <p:nvGrpSpPr>
            <p:cNvPr id="31" name="Group 25"/>
            <p:cNvGrpSpPr>
              <a:grpSpLocks/>
            </p:cNvGrpSpPr>
            <p:nvPr/>
          </p:nvGrpSpPr>
          <p:grpSpPr bwMode="auto">
            <a:xfrm rot="5400000">
              <a:off x="3406" y="2735"/>
              <a:ext cx="544" cy="132"/>
              <a:chOff x="4105" y="1253"/>
              <a:chExt cx="317" cy="90"/>
            </a:xfrm>
          </p:grpSpPr>
          <p:sp>
            <p:nvSpPr>
              <p:cNvPr id="35" name="Rectangle 2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6" name="Line 2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2" name="Group 39"/>
            <p:cNvGrpSpPr>
              <a:grpSpLocks/>
            </p:cNvGrpSpPr>
            <p:nvPr/>
          </p:nvGrpSpPr>
          <p:grpSpPr bwMode="auto">
            <a:xfrm flipH="1">
              <a:off x="1770" y="2263"/>
              <a:ext cx="468" cy="155"/>
              <a:chOff x="4105" y="1253"/>
              <a:chExt cx="317" cy="90"/>
            </a:xfrm>
          </p:grpSpPr>
          <p:sp>
            <p:nvSpPr>
              <p:cNvPr id="33" name="Rectangle 4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4" name="Line 4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37" name="Group 42"/>
          <p:cNvGrpSpPr>
            <a:grpSpLocks/>
          </p:cNvGrpSpPr>
          <p:nvPr/>
        </p:nvGrpSpPr>
        <p:grpSpPr bwMode="auto">
          <a:xfrm flipH="1">
            <a:off x="3740023" y="2235253"/>
            <a:ext cx="137607" cy="148824"/>
            <a:chOff x="3470" y="572"/>
            <a:chExt cx="91" cy="91"/>
          </a:xfrm>
        </p:grpSpPr>
        <p:sp>
          <p:nvSpPr>
            <p:cNvPr id="38" name="Line 4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4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0" name="Group 109"/>
          <p:cNvGrpSpPr>
            <a:grpSpLocks/>
          </p:cNvGrpSpPr>
          <p:nvPr/>
        </p:nvGrpSpPr>
        <p:grpSpPr bwMode="auto">
          <a:xfrm>
            <a:off x="3364169" y="1999218"/>
            <a:ext cx="1586594" cy="929917"/>
            <a:chOff x="1270" y="2014"/>
            <a:chExt cx="1545" cy="981"/>
          </a:xfrm>
        </p:grpSpPr>
        <p:grpSp>
          <p:nvGrpSpPr>
            <p:cNvPr id="41" name="Group 32"/>
            <p:cNvGrpSpPr>
              <a:grpSpLocks/>
            </p:cNvGrpSpPr>
            <p:nvPr/>
          </p:nvGrpSpPr>
          <p:grpSpPr bwMode="auto">
            <a:xfrm>
              <a:off x="2349" y="2014"/>
              <a:ext cx="466" cy="154"/>
              <a:chOff x="4105" y="1253"/>
              <a:chExt cx="317" cy="90"/>
            </a:xfrm>
          </p:grpSpPr>
          <p:sp>
            <p:nvSpPr>
              <p:cNvPr id="45" name="Rectangle 33"/>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34"/>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2" name="Group 45"/>
            <p:cNvGrpSpPr>
              <a:grpSpLocks/>
            </p:cNvGrpSpPr>
            <p:nvPr/>
          </p:nvGrpSpPr>
          <p:grpSpPr bwMode="auto">
            <a:xfrm rot="5400000">
              <a:off x="1064" y="2656"/>
              <a:ext cx="545" cy="134"/>
              <a:chOff x="4105" y="1253"/>
              <a:chExt cx="317" cy="90"/>
            </a:xfrm>
          </p:grpSpPr>
          <p:sp>
            <p:nvSpPr>
              <p:cNvPr id="43" name="Rectangle 4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4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47" name="Group 52"/>
          <p:cNvGrpSpPr>
            <a:grpSpLocks/>
          </p:cNvGrpSpPr>
          <p:nvPr/>
        </p:nvGrpSpPr>
        <p:grpSpPr bwMode="auto">
          <a:xfrm>
            <a:off x="5224951" y="3341484"/>
            <a:ext cx="137607" cy="146929"/>
            <a:chOff x="3470" y="572"/>
            <a:chExt cx="91" cy="91"/>
          </a:xfrm>
        </p:grpSpPr>
        <p:sp>
          <p:nvSpPr>
            <p:cNvPr id="48" name="Line 5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9" name="Line 5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0" name="Group 111"/>
          <p:cNvGrpSpPr>
            <a:grpSpLocks/>
          </p:cNvGrpSpPr>
          <p:nvPr/>
        </p:nvGrpSpPr>
        <p:grpSpPr bwMode="auto">
          <a:xfrm>
            <a:off x="2491286" y="3341484"/>
            <a:ext cx="2733665" cy="326087"/>
            <a:chOff x="420" y="3430"/>
            <a:chExt cx="2662" cy="344"/>
          </a:xfrm>
        </p:grpSpPr>
        <p:grpSp>
          <p:nvGrpSpPr>
            <p:cNvPr id="51" name="Group 49"/>
            <p:cNvGrpSpPr>
              <a:grpSpLocks/>
            </p:cNvGrpSpPr>
            <p:nvPr/>
          </p:nvGrpSpPr>
          <p:grpSpPr bwMode="auto">
            <a:xfrm>
              <a:off x="2614" y="3430"/>
              <a:ext cx="468" cy="153"/>
              <a:chOff x="4105" y="1253"/>
              <a:chExt cx="317" cy="90"/>
            </a:xfrm>
          </p:grpSpPr>
          <p:sp>
            <p:nvSpPr>
              <p:cNvPr id="58" name="Rectangle 5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5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2" name="Group 62"/>
            <p:cNvGrpSpPr>
              <a:grpSpLocks/>
            </p:cNvGrpSpPr>
            <p:nvPr/>
          </p:nvGrpSpPr>
          <p:grpSpPr bwMode="auto">
            <a:xfrm rot="19424285" flipH="1">
              <a:off x="420" y="3551"/>
              <a:ext cx="468" cy="154"/>
              <a:chOff x="4105" y="1253"/>
              <a:chExt cx="317" cy="90"/>
            </a:xfrm>
          </p:grpSpPr>
          <p:sp>
            <p:nvSpPr>
              <p:cNvPr id="56" name="Rectangle 63"/>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4"/>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3" name="Group 65"/>
            <p:cNvGrpSpPr>
              <a:grpSpLocks/>
            </p:cNvGrpSpPr>
            <p:nvPr/>
          </p:nvGrpSpPr>
          <p:grpSpPr bwMode="auto">
            <a:xfrm rot="1818208">
              <a:off x="1606" y="3619"/>
              <a:ext cx="467" cy="155"/>
              <a:chOff x="4105" y="1253"/>
              <a:chExt cx="317" cy="90"/>
            </a:xfrm>
          </p:grpSpPr>
          <p:sp>
            <p:nvSpPr>
              <p:cNvPr id="54" name="Rectangle 6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5" name="Line 6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60" name="Group 108"/>
          <p:cNvGrpSpPr>
            <a:grpSpLocks/>
          </p:cNvGrpSpPr>
          <p:nvPr/>
        </p:nvGrpSpPr>
        <p:grpSpPr bwMode="auto">
          <a:xfrm>
            <a:off x="3584958" y="1708206"/>
            <a:ext cx="1776574" cy="186741"/>
            <a:chOff x="1485" y="1707"/>
            <a:chExt cx="1730" cy="197"/>
          </a:xfrm>
        </p:grpSpPr>
        <p:grpSp>
          <p:nvGrpSpPr>
            <p:cNvPr id="61" name="Group 28"/>
            <p:cNvGrpSpPr>
              <a:grpSpLocks/>
            </p:cNvGrpSpPr>
            <p:nvPr/>
          </p:nvGrpSpPr>
          <p:grpSpPr bwMode="auto">
            <a:xfrm rot="1498195">
              <a:off x="2747" y="1749"/>
              <a:ext cx="468" cy="155"/>
              <a:chOff x="4105" y="1253"/>
              <a:chExt cx="317" cy="90"/>
            </a:xfrm>
          </p:grpSpPr>
          <p:sp>
            <p:nvSpPr>
              <p:cNvPr id="65" name="Rectangle 2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Line 3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62" name="Group 71"/>
            <p:cNvGrpSpPr>
              <a:grpSpLocks/>
            </p:cNvGrpSpPr>
            <p:nvPr/>
          </p:nvGrpSpPr>
          <p:grpSpPr bwMode="auto">
            <a:xfrm rot="20121053" flipH="1">
              <a:off x="1485" y="1707"/>
              <a:ext cx="467" cy="156"/>
              <a:chOff x="4105" y="1253"/>
              <a:chExt cx="317" cy="90"/>
            </a:xfrm>
          </p:grpSpPr>
          <p:sp>
            <p:nvSpPr>
              <p:cNvPr id="63" name="Rectangle 72"/>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4" name="Line 73"/>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sp>
        <p:nvSpPr>
          <p:cNvPr id="67" name="Text Box 74"/>
          <p:cNvSpPr txBox="1">
            <a:spLocks noChangeArrowheads="1"/>
          </p:cNvSpPr>
          <p:nvPr/>
        </p:nvSpPr>
        <p:spPr bwMode="auto">
          <a:xfrm>
            <a:off x="5869858" y="20409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3</a:t>
            </a:r>
          </a:p>
        </p:txBody>
      </p:sp>
      <p:sp>
        <p:nvSpPr>
          <p:cNvPr id="68" name="Text Box 75"/>
          <p:cNvSpPr txBox="1">
            <a:spLocks noChangeArrowheads="1"/>
          </p:cNvSpPr>
          <p:nvPr/>
        </p:nvSpPr>
        <p:spPr bwMode="auto">
          <a:xfrm>
            <a:off x="2884598" y="291870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4</a:t>
            </a:r>
          </a:p>
        </p:txBody>
      </p:sp>
      <p:sp>
        <p:nvSpPr>
          <p:cNvPr id="69" name="Text Box 76"/>
          <p:cNvSpPr txBox="1">
            <a:spLocks noChangeArrowheads="1"/>
          </p:cNvSpPr>
          <p:nvPr/>
        </p:nvSpPr>
        <p:spPr bwMode="auto">
          <a:xfrm>
            <a:off x="2059980" y="35206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6</a:t>
            </a:r>
          </a:p>
        </p:txBody>
      </p:sp>
      <p:sp>
        <p:nvSpPr>
          <p:cNvPr id="70" name="Text Box 77"/>
          <p:cNvSpPr txBox="1">
            <a:spLocks noChangeArrowheads="1"/>
          </p:cNvSpPr>
          <p:nvPr/>
        </p:nvSpPr>
        <p:spPr bwMode="auto">
          <a:xfrm>
            <a:off x="4258618" y="361353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1" name="Text Box 78"/>
          <p:cNvSpPr txBox="1">
            <a:spLocks noChangeArrowheads="1"/>
          </p:cNvSpPr>
          <p:nvPr/>
        </p:nvSpPr>
        <p:spPr bwMode="auto">
          <a:xfrm>
            <a:off x="6591784" y="34751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8</a:t>
            </a:r>
          </a:p>
        </p:txBody>
      </p:sp>
      <p:grpSp>
        <p:nvGrpSpPr>
          <p:cNvPr id="72" name="Group 113"/>
          <p:cNvGrpSpPr>
            <a:grpSpLocks/>
          </p:cNvGrpSpPr>
          <p:nvPr/>
        </p:nvGrpSpPr>
        <p:grpSpPr bwMode="auto">
          <a:xfrm>
            <a:off x="3760561" y="3098815"/>
            <a:ext cx="2796307" cy="689144"/>
            <a:chOff x="1656" y="3174"/>
            <a:chExt cx="2723" cy="727"/>
          </a:xfrm>
        </p:grpSpPr>
        <p:grpSp>
          <p:nvGrpSpPr>
            <p:cNvPr id="73" name="Group 56"/>
            <p:cNvGrpSpPr>
              <a:grpSpLocks/>
            </p:cNvGrpSpPr>
            <p:nvPr/>
          </p:nvGrpSpPr>
          <p:grpSpPr bwMode="auto">
            <a:xfrm flipH="1">
              <a:off x="1656" y="3174"/>
              <a:ext cx="467" cy="155"/>
              <a:chOff x="4105" y="1253"/>
              <a:chExt cx="317" cy="90"/>
            </a:xfrm>
          </p:grpSpPr>
          <p:sp>
            <p:nvSpPr>
              <p:cNvPr id="80" name="Rectangle 57"/>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Line 58"/>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4" name="Group 68"/>
            <p:cNvGrpSpPr>
              <a:grpSpLocks/>
            </p:cNvGrpSpPr>
            <p:nvPr/>
          </p:nvGrpSpPr>
          <p:grpSpPr bwMode="auto">
            <a:xfrm rot="1818208">
              <a:off x="3910" y="3523"/>
              <a:ext cx="469" cy="154"/>
              <a:chOff x="4105" y="1253"/>
              <a:chExt cx="317" cy="90"/>
            </a:xfrm>
          </p:grpSpPr>
          <p:sp>
            <p:nvSpPr>
              <p:cNvPr id="78" name="Rectangle 6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Line 7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5" name="Group 80"/>
            <p:cNvGrpSpPr>
              <a:grpSpLocks/>
            </p:cNvGrpSpPr>
            <p:nvPr/>
          </p:nvGrpSpPr>
          <p:grpSpPr bwMode="auto">
            <a:xfrm rot="19765545" flipH="1">
              <a:off x="2955" y="3747"/>
              <a:ext cx="469" cy="154"/>
              <a:chOff x="4105" y="1253"/>
              <a:chExt cx="317" cy="90"/>
            </a:xfrm>
          </p:grpSpPr>
          <p:sp>
            <p:nvSpPr>
              <p:cNvPr id="76" name="Rectangle 81"/>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7" name="Line 82"/>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82" name="Group 112"/>
          <p:cNvGrpSpPr>
            <a:grpSpLocks/>
          </p:cNvGrpSpPr>
          <p:nvPr/>
        </p:nvGrpSpPr>
        <p:grpSpPr bwMode="auto">
          <a:xfrm>
            <a:off x="3619873" y="3083648"/>
            <a:ext cx="1514709" cy="836072"/>
            <a:chOff x="1522" y="3174"/>
            <a:chExt cx="1475" cy="882"/>
          </a:xfrm>
        </p:grpSpPr>
        <p:grpSp>
          <p:nvGrpSpPr>
            <p:cNvPr id="83" name="Group 59"/>
            <p:cNvGrpSpPr>
              <a:grpSpLocks/>
            </p:cNvGrpSpPr>
            <p:nvPr/>
          </p:nvGrpSpPr>
          <p:grpSpPr bwMode="auto">
            <a:xfrm flipH="1">
              <a:off x="1522" y="3174"/>
              <a:ext cx="134" cy="157"/>
              <a:chOff x="3470" y="572"/>
              <a:chExt cx="91" cy="91"/>
            </a:xfrm>
          </p:grpSpPr>
          <p:sp>
            <p:nvSpPr>
              <p:cNvPr id="87" name="Line 60"/>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8" name="Line 61"/>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4" name="Group 83"/>
            <p:cNvGrpSpPr>
              <a:grpSpLocks/>
            </p:cNvGrpSpPr>
            <p:nvPr/>
          </p:nvGrpSpPr>
          <p:grpSpPr bwMode="auto">
            <a:xfrm rot="19765545" flipH="1">
              <a:off x="2863" y="3900"/>
              <a:ext cx="134" cy="156"/>
              <a:chOff x="3470" y="572"/>
              <a:chExt cx="91" cy="91"/>
            </a:xfrm>
          </p:grpSpPr>
          <p:sp>
            <p:nvSpPr>
              <p:cNvPr id="85" name="Line 84"/>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Line 85"/>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pic>
        <p:nvPicPr>
          <p:cNvPr id="89"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89814" y="1526203"/>
            <a:ext cx="481627" cy="295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90" name="Text Box 87"/>
          <p:cNvSpPr txBox="1">
            <a:spLocks noChangeArrowheads="1"/>
          </p:cNvSpPr>
          <p:nvPr/>
        </p:nvSpPr>
        <p:spPr bwMode="auto">
          <a:xfrm>
            <a:off x="4464002" y="129870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1</a:t>
            </a:r>
          </a:p>
        </p:txBody>
      </p:sp>
      <p:sp>
        <p:nvSpPr>
          <p:cNvPr id="91" name="Text Box 88"/>
          <p:cNvSpPr txBox="1">
            <a:spLocks noChangeArrowheads="1"/>
          </p:cNvSpPr>
          <p:nvPr/>
        </p:nvSpPr>
        <p:spPr bwMode="auto">
          <a:xfrm>
            <a:off x="5287593" y="287131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5</a:t>
            </a:r>
          </a:p>
        </p:txBody>
      </p:sp>
      <p:sp>
        <p:nvSpPr>
          <p:cNvPr id="92" name="Text Box 89"/>
          <p:cNvSpPr txBox="1">
            <a:spLocks noChangeArrowheads="1"/>
          </p:cNvSpPr>
          <p:nvPr/>
        </p:nvSpPr>
        <p:spPr bwMode="auto">
          <a:xfrm>
            <a:off x="2813740" y="190253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2</a:t>
            </a:r>
          </a:p>
        </p:txBody>
      </p:sp>
      <p:grpSp>
        <p:nvGrpSpPr>
          <p:cNvPr id="93" name="Group 92"/>
          <p:cNvGrpSpPr>
            <a:grpSpLocks/>
          </p:cNvGrpSpPr>
          <p:nvPr/>
        </p:nvGrpSpPr>
        <p:grpSpPr bwMode="auto">
          <a:xfrm>
            <a:off x="5350606" y="1489376"/>
            <a:ext cx="617180" cy="147877"/>
            <a:chOff x="3107" y="572"/>
            <a:chExt cx="408" cy="91"/>
          </a:xfrm>
        </p:grpSpPr>
        <p:grpSp>
          <p:nvGrpSpPr>
            <p:cNvPr id="94" name="Group 93"/>
            <p:cNvGrpSpPr>
              <a:grpSpLocks/>
            </p:cNvGrpSpPr>
            <p:nvPr/>
          </p:nvGrpSpPr>
          <p:grpSpPr bwMode="auto">
            <a:xfrm>
              <a:off x="3107" y="572"/>
              <a:ext cx="317" cy="90"/>
              <a:chOff x="4105" y="1253"/>
              <a:chExt cx="317" cy="90"/>
            </a:xfrm>
          </p:grpSpPr>
          <p:sp>
            <p:nvSpPr>
              <p:cNvPr id="98" name="Rectangle 94"/>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9" name="Line 95"/>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95" name="Group 96"/>
            <p:cNvGrpSpPr>
              <a:grpSpLocks/>
            </p:cNvGrpSpPr>
            <p:nvPr/>
          </p:nvGrpSpPr>
          <p:grpSpPr bwMode="auto">
            <a:xfrm>
              <a:off x="3424" y="572"/>
              <a:ext cx="91" cy="91"/>
              <a:chOff x="3470" y="572"/>
              <a:chExt cx="91" cy="91"/>
            </a:xfrm>
          </p:grpSpPr>
          <p:sp>
            <p:nvSpPr>
              <p:cNvPr id="96" name="Line 97"/>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7" name="Line 98"/>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100" name="Group 99"/>
          <p:cNvGrpSpPr>
            <a:grpSpLocks/>
          </p:cNvGrpSpPr>
          <p:nvPr/>
        </p:nvGrpSpPr>
        <p:grpSpPr bwMode="auto">
          <a:xfrm>
            <a:off x="5350606" y="1233288"/>
            <a:ext cx="479572" cy="145981"/>
            <a:chOff x="4105" y="1253"/>
            <a:chExt cx="317" cy="90"/>
          </a:xfrm>
        </p:grpSpPr>
        <p:sp>
          <p:nvSpPr>
            <p:cNvPr id="101" name="Rectangle 100"/>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Line 101"/>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03" name="Text Box 102"/>
          <p:cNvSpPr txBox="1">
            <a:spLocks noChangeArrowheads="1"/>
          </p:cNvSpPr>
          <p:nvPr/>
        </p:nvSpPr>
        <p:spPr bwMode="auto">
          <a:xfrm>
            <a:off x="5967481" y="1151766"/>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微软雅黑 Light" panose="020B0502040204020203" pitchFamily="34" charset="-122"/>
                <a:ea typeface="微软雅黑 Light" panose="020B0502040204020203" pitchFamily="34" charset="-122"/>
              </a:rPr>
              <a:t>转发多播数据报</a:t>
            </a:r>
          </a:p>
        </p:txBody>
      </p:sp>
      <p:sp>
        <p:nvSpPr>
          <p:cNvPr id="104" name="Text Box 103"/>
          <p:cNvSpPr txBox="1">
            <a:spLocks noChangeArrowheads="1"/>
          </p:cNvSpPr>
          <p:nvPr/>
        </p:nvSpPr>
        <p:spPr bwMode="auto">
          <a:xfrm>
            <a:off x="5982163" y="1409750"/>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微软雅黑 Light" panose="020B0502040204020203" pitchFamily="34" charset="-122"/>
                <a:ea typeface="微软雅黑 Light" panose="020B0502040204020203" pitchFamily="34" charset="-122"/>
              </a:rPr>
              <a:t>收到后即丢弃</a:t>
            </a:r>
          </a:p>
        </p:txBody>
      </p:sp>
      <p:sp>
        <p:nvSpPr>
          <p:cNvPr id="107" name="Text Box 126"/>
          <p:cNvSpPr txBox="1">
            <a:spLocks noChangeArrowheads="1"/>
          </p:cNvSpPr>
          <p:nvPr/>
        </p:nvSpPr>
        <p:spPr bwMode="auto">
          <a:xfrm>
            <a:off x="960303" y="2019789"/>
            <a:ext cx="1785473" cy="523220"/>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en-US" sz="1400" dirty="0">
                <a:latin typeface="微软雅黑 Light" panose="020B0502040204020203" pitchFamily="34" charset="-122"/>
                <a:ea typeface="微软雅黑 Light" panose="020B0502040204020203" pitchFamily="34" charset="-122"/>
              </a:rPr>
              <a:t>反向路径广播 </a:t>
            </a:r>
            <a:r>
              <a:rPr kumimoji="1" lang="en-US" altLang="zh-CN" sz="1400" dirty="0">
                <a:latin typeface="微软雅黑 Light" panose="020B0502040204020203" pitchFamily="34" charset="-122"/>
                <a:ea typeface="微软雅黑 Light" panose="020B0502040204020203" pitchFamily="34" charset="-122"/>
              </a:rPr>
              <a:t>RPB </a:t>
            </a:r>
            <a:r>
              <a:rPr kumimoji="1" lang="zh-CN" altLang="en-US" sz="1400" dirty="0">
                <a:latin typeface="微软雅黑 Light" panose="020B0502040204020203" pitchFamily="34" charset="-122"/>
                <a:ea typeface="微软雅黑 Light" panose="020B0502040204020203" pitchFamily="34" charset="-122"/>
              </a:rPr>
              <a:t>和剪除 </a:t>
            </a:r>
          </a:p>
        </p:txBody>
      </p:sp>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95893" y="797155"/>
            <a:ext cx="488885" cy="4888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904985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787573" y="2773022"/>
            <a:ext cx="5356542" cy="1305807"/>
            <a:chOff x="257860" y="4685074"/>
            <a:chExt cx="8569829" cy="2089136"/>
          </a:xfrm>
        </p:grpSpPr>
        <p:sp>
          <p:nvSpPr>
            <p:cNvPr id="6" name="AutoShape 60"/>
            <p:cNvSpPr>
              <a:spLocks noChangeArrowheads="1"/>
            </p:cNvSpPr>
            <p:nvPr/>
          </p:nvSpPr>
          <p:spPr bwMode="auto">
            <a:xfrm>
              <a:off x="257860" y="5937344"/>
              <a:ext cx="624284" cy="215900"/>
            </a:xfrm>
            <a:prstGeom prst="leftArrow">
              <a:avLst>
                <a:gd name="adj1" fmla="val 50000"/>
                <a:gd name="adj2" fmla="val 66728"/>
              </a:avLst>
            </a:prstGeom>
            <a:solidFill>
              <a:srgbClr val="FFFF00"/>
            </a:solidFill>
            <a:ln w="9525">
              <a:solidFill>
                <a:schemeClr val="tx1"/>
              </a:solidFill>
              <a:miter lim="800000"/>
              <a:headEnd/>
              <a:tailEnd/>
            </a:ln>
            <a:effec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7" name="Line 7"/>
            <p:cNvSpPr>
              <a:spLocks noChangeShapeType="1"/>
            </p:cNvSpPr>
            <p:nvPr/>
          </p:nvSpPr>
          <p:spPr bwMode="auto">
            <a:xfrm>
              <a:off x="1858985" y="4910499"/>
              <a:ext cx="339830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8" name="Line 8"/>
            <p:cNvSpPr>
              <a:spLocks noChangeShapeType="1"/>
            </p:cNvSpPr>
            <p:nvPr/>
          </p:nvSpPr>
          <p:spPr bwMode="auto">
            <a:xfrm>
              <a:off x="765198" y="6558057"/>
              <a:ext cx="4412985"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9" name="Rectangle 13"/>
            <p:cNvSpPr>
              <a:spLocks noChangeArrowheads="1"/>
            </p:cNvSpPr>
            <p:nvPr/>
          </p:nvSpPr>
          <p:spPr bwMode="auto">
            <a:xfrm>
              <a:off x="2574419" y="4752669"/>
              <a:ext cx="1828139" cy="307976"/>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0" name="Rectangle 14"/>
            <p:cNvSpPr>
              <a:spLocks noChangeArrowheads="1"/>
            </p:cNvSpPr>
            <p:nvPr/>
          </p:nvSpPr>
          <p:spPr bwMode="auto">
            <a:xfrm>
              <a:off x="2037843" y="6406564"/>
              <a:ext cx="2166938" cy="29212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1" name="Text Box 15"/>
            <p:cNvSpPr txBox="1">
              <a:spLocks noChangeArrowheads="1"/>
            </p:cNvSpPr>
            <p:nvPr/>
          </p:nvSpPr>
          <p:spPr bwMode="auto">
            <a:xfrm>
              <a:off x="2725261" y="4685074"/>
              <a:ext cx="152645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多播数据报</a:t>
              </a:r>
            </a:p>
          </p:txBody>
        </p:sp>
        <p:sp>
          <p:nvSpPr>
            <p:cNvPr id="12" name="Text Box 16"/>
            <p:cNvSpPr txBox="1">
              <a:spLocks noChangeArrowheads="1"/>
            </p:cNvSpPr>
            <p:nvPr/>
          </p:nvSpPr>
          <p:spPr bwMode="auto">
            <a:xfrm>
              <a:off x="2161890" y="6331045"/>
              <a:ext cx="1918844"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rgbClr val="0000FF"/>
                  </a:solidFill>
                  <a:latin typeface="微软雅黑 Light" panose="020B0502040204020203" pitchFamily="34" charset="-122"/>
                  <a:ea typeface="微软雅黑 Light" panose="020B0502040204020203" pitchFamily="34" charset="-122"/>
                </a:rPr>
                <a:t>单播 </a:t>
              </a:r>
              <a:r>
                <a:rPr kumimoji="1" lang="en-US" altLang="zh-CN" sz="1200"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dirty="0">
                  <a:solidFill>
                    <a:srgbClr val="0000FF"/>
                  </a:solidFill>
                  <a:latin typeface="微软雅黑 Light" panose="020B0502040204020203" pitchFamily="34" charset="-122"/>
                  <a:ea typeface="微软雅黑 Light" panose="020B0502040204020203" pitchFamily="34" charset="-122"/>
                </a:rPr>
                <a:t>数据报</a:t>
              </a:r>
            </a:p>
          </p:txBody>
        </p:sp>
        <p:sp>
          <p:nvSpPr>
            <p:cNvPr id="13" name="Rectangle 17"/>
            <p:cNvSpPr>
              <a:spLocks noChangeArrowheads="1"/>
            </p:cNvSpPr>
            <p:nvPr/>
          </p:nvSpPr>
          <p:spPr bwMode="auto">
            <a:xfrm>
              <a:off x="1858985" y="5119594"/>
              <a:ext cx="3338116" cy="4140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4" name="Text Box 18"/>
            <p:cNvSpPr txBox="1">
              <a:spLocks noChangeArrowheads="1"/>
            </p:cNvSpPr>
            <p:nvPr/>
          </p:nvSpPr>
          <p:spPr bwMode="auto">
            <a:xfrm>
              <a:off x="2022366" y="5091831"/>
              <a:ext cx="787850"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首部</a:t>
              </a:r>
            </a:p>
          </p:txBody>
        </p:sp>
        <p:sp>
          <p:nvSpPr>
            <p:cNvPr id="15" name="Text Box 19"/>
            <p:cNvSpPr txBox="1">
              <a:spLocks noChangeArrowheads="1"/>
            </p:cNvSpPr>
            <p:nvPr/>
          </p:nvSpPr>
          <p:spPr bwMode="auto">
            <a:xfrm>
              <a:off x="3571898" y="5109294"/>
              <a:ext cx="93659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数  据</a:t>
              </a:r>
            </a:p>
          </p:txBody>
        </p:sp>
        <p:sp>
          <p:nvSpPr>
            <p:cNvPr id="16" name="Line 20"/>
            <p:cNvSpPr>
              <a:spLocks noChangeShapeType="1"/>
            </p:cNvSpPr>
            <p:nvPr/>
          </p:nvSpPr>
          <p:spPr bwMode="auto">
            <a:xfrm>
              <a:off x="2932135" y="5119593"/>
              <a:ext cx="0" cy="41400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7" name="Rectangle 21"/>
            <p:cNvSpPr>
              <a:spLocks noChangeArrowheads="1"/>
            </p:cNvSpPr>
            <p:nvPr/>
          </p:nvSpPr>
          <p:spPr bwMode="auto">
            <a:xfrm>
              <a:off x="785835" y="5827806"/>
              <a:ext cx="4411266" cy="414000"/>
            </a:xfrm>
            <a:prstGeom prst="rect">
              <a:avLst/>
            </a:prstGeom>
            <a:solidFill>
              <a:schemeClr val="bg1"/>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8" name="Rectangle 22"/>
            <p:cNvSpPr>
              <a:spLocks noChangeArrowheads="1"/>
            </p:cNvSpPr>
            <p:nvPr/>
          </p:nvSpPr>
          <p:spPr bwMode="auto">
            <a:xfrm>
              <a:off x="800188" y="5839804"/>
              <a:ext cx="1057078" cy="388800"/>
            </a:xfrm>
            <a:prstGeom prst="rect">
              <a:avLst/>
            </a:prstGeom>
            <a:solidFill>
              <a:srgbClr val="00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9" name="Rectangle 23"/>
            <p:cNvSpPr>
              <a:spLocks noChangeArrowheads="1"/>
            </p:cNvSpPr>
            <p:nvPr/>
          </p:nvSpPr>
          <p:spPr bwMode="auto">
            <a:xfrm>
              <a:off x="1857266" y="5848444"/>
              <a:ext cx="3339835" cy="38520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0" name="Line 24"/>
            <p:cNvSpPr>
              <a:spLocks noChangeShapeType="1"/>
            </p:cNvSpPr>
            <p:nvPr/>
          </p:nvSpPr>
          <p:spPr bwMode="auto">
            <a:xfrm>
              <a:off x="1858985" y="5827807"/>
              <a:ext cx="0" cy="4139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1" name="Text Box 25"/>
            <p:cNvSpPr txBox="1">
              <a:spLocks noChangeArrowheads="1"/>
            </p:cNvSpPr>
            <p:nvPr/>
          </p:nvSpPr>
          <p:spPr bwMode="auto">
            <a:xfrm>
              <a:off x="939232" y="5812155"/>
              <a:ext cx="787850"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chemeClr val="bg1"/>
                  </a:solidFill>
                  <a:latin typeface="微软雅黑 Light" panose="020B0502040204020203" pitchFamily="34" charset="-122"/>
                  <a:ea typeface="微软雅黑 Light" panose="020B0502040204020203" pitchFamily="34" charset="-122"/>
                </a:rPr>
                <a:t>首部</a:t>
              </a:r>
            </a:p>
          </p:txBody>
        </p:sp>
        <p:sp>
          <p:nvSpPr>
            <p:cNvPr id="22" name="Text Box 26"/>
            <p:cNvSpPr txBox="1">
              <a:spLocks noChangeArrowheads="1"/>
            </p:cNvSpPr>
            <p:nvPr/>
          </p:nvSpPr>
          <p:spPr bwMode="auto">
            <a:xfrm>
              <a:off x="2878822" y="5825445"/>
              <a:ext cx="1234092"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微软雅黑 Light" panose="020B0502040204020203" pitchFamily="34" charset="-122"/>
                  <a:ea typeface="微软雅黑 Light" panose="020B0502040204020203" pitchFamily="34" charset="-122"/>
                </a:rPr>
                <a:t>数      据</a:t>
              </a:r>
            </a:p>
          </p:txBody>
        </p:sp>
        <p:sp>
          <p:nvSpPr>
            <p:cNvPr id="23" name="AutoShape 27"/>
            <p:cNvSpPr>
              <a:spLocks noChangeArrowheads="1"/>
            </p:cNvSpPr>
            <p:nvPr/>
          </p:nvSpPr>
          <p:spPr bwMode="auto">
            <a:xfrm>
              <a:off x="3350047" y="5517232"/>
              <a:ext cx="221852" cy="487804"/>
            </a:xfrm>
            <a:prstGeom prst="downArrow">
              <a:avLst>
                <a:gd name="adj1" fmla="val 50000"/>
                <a:gd name="adj2" fmla="val 66667"/>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4" name="Line 28"/>
            <p:cNvSpPr>
              <a:spLocks noChangeShapeType="1"/>
            </p:cNvSpPr>
            <p:nvPr/>
          </p:nvSpPr>
          <p:spPr bwMode="auto">
            <a:xfrm>
              <a:off x="1858985"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5" name="Line 29"/>
            <p:cNvSpPr>
              <a:spLocks noChangeShapeType="1"/>
            </p:cNvSpPr>
            <p:nvPr/>
          </p:nvSpPr>
          <p:spPr bwMode="auto">
            <a:xfrm>
              <a:off x="5197101"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6" name="Text Box 31"/>
            <p:cNvSpPr txBox="1">
              <a:spLocks noChangeArrowheads="1"/>
            </p:cNvSpPr>
            <p:nvPr/>
          </p:nvSpPr>
          <p:spPr bwMode="auto">
            <a:xfrm>
              <a:off x="5246975" y="5117122"/>
              <a:ext cx="3580714"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网 </a:t>
              </a:r>
              <a:r>
                <a:rPr kumimoji="1" lang="en-US" altLang="zh-CN" sz="1200" dirty="0">
                  <a:solidFill>
                    <a:srgbClr val="0000FF"/>
                  </a:solidFill>
                  <a:latin typeface="微软雅黑 Light" panose="020B0502040204020203" pitchFamily="34" charset="-122"/>
                  <a:ea typeface="微软雅黑 Light" panose="020B0502040204020203" pitchFamily="34" charset="-122"/>
                </a:rPr>
                <a:t>N</a:t>
              </a:r>
              <a:r>
                <a:rPr kumimoji="1" lang="en-US" altLang="zh-CN" sz="1200" baseline="-25000" dirty="0">
                  <a:solidFill>
                    <a:srgbClr val="0000FF"/>
                  </a:solidFill>
                  <a:latin typeface="微软雅黑 Light" panose="020B0502040204020203" pitchFamily="34" charset="-122"/>
                  <a:ea typeface="微软雅黑 Light" panose="020B0502040204020203" pitchFamily="34" charset="-122"/>
                </a:rPr>
                <a:t>1</a:t>
              </a:r>
              <a:r>
                <a:rPr kumimoji="1" lang="en-US" altLang="zh-CN" sz="1200" dirty="0">
                  <a:solidFill>
                    <a:srgbClr val="0000FF"/>
                  </a:solidFill>
                  <a:latin typeface="微软雅黑 Light" panose="020B0502040204020203" pitchFamily="34" charset="-122"/>
                  <a:ea typeface="微软雅黑 Light" panose="020B0502040204020203" pitchFamily="34" charset="-122"/>
                </a:rPr>
                <a:t> </a:t>
              </a:r>
              <a:r>
                <a:rPr kumimoji="1" lang="zh-CN" altLang="en-US" sz="1200" dirty="0">
                  <a:solidFill>
                    <a:srgbClr val="0000FF"/>
                  </a:solidFill>
                  <a:latin typeface="微软雅黑 Light" panose="020B0502040204020203" pitchFamily="34" charset="-122"/>
                  <a:ea typeface="微软雅黑 Light" panose="020B0502040204020203" pitchFamily="34" charset="-122"/>
                </a:rPr>
                <a:t>和网 </a:t>
              </a:r>
              <a:r>
                <a:rPr kumimoji="1" lang="en-US" altLang="zh-CN" sz="1200" dirty="0">
                  <a:solidFill>
                    <a:srgbClr val="0000FF"/>
                  </a:solidFill>
                  <a:latin typeface="微软雅黑 Light" panose="020B0502040204020203" pitchFamily="34" charset="-122"/>
                  <a:ea typeface="微软雅黑 Light" panose="020B0502040204020203" pitchFamily="34" charset="-122"/>
                </a:rPr>
                <a:t>N</a:t>
              </a:r>
              <a:r>
                <a:rPr kumimoji="1" lang="en-US" altLang="zh-CN" sz="1200" baseline="-25000" dirty="0">
                  <a:solidFill>
                    <a:srgbClr val="0000FF"/>
                  </a:solidFill>
                  <a:latin typeface="微软雅黑 Light" panose="020B0502040204020203" pitchFamily="34" charset="-122"/>
                  <a:ea typeface="微软雅黑 Light" panose="020B0502040204020203" pitchFamily="34" charset="-122"/>
                </a:rPr>
                <a:t>2</a:t>
              </a:r>
              <a:r>
                <a:rPr kumimoji="1" lang="en-US" altLang="zh-CN" sz="1200" dirty="0">
                  <a:solidFill>
                    <a:srgbClr val="0000FF"/>
                  </a:solidFill>
                  <a:latin typeface="微软雅黑 Light" panose="020B0502040204020203" pitchFamily="34" charset="-122"/>
                  <a:ea typeface="微软雅黑 Light" panose="020B0502040204020203" pitchFamily="34" charset="-122"/>
                </a:rPr>
                <a:t> </a:t>
              </a:r>
              <a:r>
                <a:rPr kumimoji="1" lang="zh-CN" altLang="en-US" sz="1200" dirty="0">
                  <a:solidFill>
                    <a:srgbClr val="0000FF"/>
                  </a:solidFill>
                  <a:latin typeface="微软雅黑 Light" panose="020B0502040204020203" pitchFamily="34" charset="-122"/>
                  <a:ea typeface="微软雅黑 Light" panose="020B0502040204020203" pitchFamily="34" charset="-122"/>
                </a:rPr>
                <a:t>中的多播数据报</a:t>
              </a:r>
            </a:p>
          </p:txBody>
        </p:sp>
        <p:sp>
          <p:nvSpPr>
            <p:cNvPr id="27" name="Text Box 32"/>
            <p:cNvSpPr txBox="1">
              <a:spLocks noChangeArrowheads="1"/>
            </p:cNvSpPr>
            <p:nvPr/>
          </p:nvSpPr>
          <p:spPr bwMode="auto">
            <a:xfrm>
              <a:off x="5246975" y="5805264"/>
              <a:ext cx="3396063"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隧道中通行的单播 </a:t>
              </a:r>
              <a:r>
                <a:rPr kumimoji="1" lang="en-US" altLang="zh-CN" sz="1200"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dirty="0">
                  <a:solidFill>
                    <a:srgbClr val="0000FF"/>
                  </a:solidFill>
                  <a:latin typeface="微软雅黑 Light" panose="020B0502040204020203" pitchFamily="34" charset="-122"/>
                  <a:ea typeface="微软雅黑 Light" panose="020B0502040204020203" pitchFamily="34" charset="-122"/>
                </a:rPr>
                <a:t>数据报</a:t>
              </a:r>
            </a:p>
          </p:txBody>
        </p:sp>
      </p:grpSp>
      <p:graphicFrame>
        <p:nvGraphicFramePr>
          <p:cNvPr id="29" name="Object 4"/>
          <p:cNvGraphicFramePr>
            <a:graphicFrameLocks noChangeAspect="1"/>
          </p:cNvGraphicFramePr>
          <p:nvPr>
            <p:extLst>
              <p:ext uri="{D42A27DB-BD31-4B8C-83A1-F6EECF244321}">
                <p14:modId xmlns:p14="http://schemas.microsoft.com/office/powerpoint/2010/main" val="3785672616"/>
              </p:ext>
            </p:extLst>
          </p:nvPr>
        </p:nvGraphicFramePr>
        <p:xfrm>
          <a:off x="3145044" y="1508506"/>
          <a:ext cx="3131329" cy="1338016"/>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24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45044" y="1508506"/>
                        <a:ext cx="3131329" cy="133801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 name="Line 5"/>
          <p:cNvSpPr>
            <a:spLocks noChangeShapeType="1"/>
          </p:cNvSpPr>
          <p:nvPr/>
        </p:nvSpPr>
        <p:spPr bwMode="auto">
          <a:xfrm>
            <a:off x="6649381" y="1508505"/>
            <a:ext cx="0" cy="73030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pic>
        <p:nvPicPr>
          <p:cNvPr id="31" name="Picture 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35054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2" name="Line 9"/>
          <p:cNvSpPr>
            <a:spLocks noChangeShapeType="1"/>
          </p:cNvSpPr>
          <p:nvPr/>
        </p:nvSpPr>
        <p:spPr bwMode="auto">
          <a:xfrm>
            <a:off x="2792239" y="1508506"/>
            <a:ext cx="0" cy="7908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3" name="Text Box 10"/>
          <p:cNvSpPr txBox="1">
            <a:spLocks noChangeArrowheads="1"/>
          </p:cNvSpPr>
          <p:nvPr/>
        </p:nvSpPr>
        <p:spPr bwMode="auto">
          <a:xfrm>
            <a:off x="4187498" y="1704632"/>
            <a:ext cx="954107"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C00000"/>
                </a:solidFill>
                <a:latin typeface="微软雅黑" pitchFamily="34" charset="-122"/>
                <a:ea typeface="微软雅黑" pitchFamily="34" charset="-122"/>
              </a:rPr>
              <a:t>不支持多播</a:t>
            </a:r>
          </a:p>
          <a:p>
            <a:r>
              <a:rPr kumimoji="1" lang="zh-CN" altLang="en-US" sz="1200" b="1" dirty="0">
                <a:solidFill>
                  <a:srgbClr val="C00000"/>
                </a:solidFill>
                <a:latin typeface="微软雅黑" pitchFamily="34" charset="-122"/>
                <a:ea typeface="微软雅黑" pitchFamily="34" charset="-122"/>
              </a:rPr>
              <a:t>   的网络</a:t>
            </a:r>
          </a:p>
        </p:txBody>
      </p:sp>
      <p:sp>
        <p:nvSpPr>
          <p:cNvPr id="35" name="AutoShape 30"/>
          <p:cNvSpPr>
            <a:spLocks noChangeArrowheads="1"/>
          </p:cNvSpPr>
          <p:nvPr/>
        </p:nvSpPr>
        <p:spPr bwMode="auto">
          <a:xfrm rot="16200000">
            <a:off x="4578435" y="766333"/>
            <a:ext cx="264547" cy="3131329"/>
          </a:xfrm>
          <a:prstGeom prst="can">
            <a:avLst>
              <a:gd name="adj" fmla="val 58855"/>
            </a:avLst>
          </a:prstGeom>
          <a:gradFill rotWithShape="1">
            <a:gsLst>
              <a:gs pos="0">
                <a:srgbClr val="00B050"/>
              </a:gs>
              <a:gs pos="50000">
                <a:schemeClr val="bg1"/>
              </a:gs>
              <a:gs pos="100000">
                <a:srgbClr val="00B050"/>
              </a:gs>
            </a:gsLst>
            <a:lin ang="0" scaled="1"/>
          </a:gradFill>
          <a:ln w="12700">
            <a:solidFill>
              <a:schemeClr val="tx1"/>
            </a:solidFill>
            <a:round/>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AutoShape 2"/>
          <p:cNvSpPr>
            <a:spLocks noChangeArrowheads="1"/>
          </p:cNvSpPr>
          <p:nvPr/>
        </p:nvSpPr>
        <p:spPr bwMode="auto">
          <a:xfrm>
            <a:off x="6214085" y="2694816"/>
            <a:ext cx="662711" cy="288113"/>
          </a:xfrm>
          <a:prstGeom prst="wedgeRoundRectCallout">
            <a:avLst>
              <a:gd name="adj1" fmla="val -75263"/>
              <a:gd name="adj2" fmla="val -156036"/>
              <a:gd name="adj3" fmla="val 16667"/>
            </a:avLst>
          </a:prstGeom>
          <a:solidFill>
            <a:srgbClr val="00FF99"/>
          </a:solidFill>
          <a:ln w="12700">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隧 道</a:t>
            </a:r>
            <a:endParaRPr kumimoji="1" lang="zh-CN" altLang="zh-CN" sz="1200" b="1" dirty="0">
              <a:latin typeface="微软雅黑" pitchFamily="34" charset="-122"/>
              <a:ea typeface="微软雅黑" pitchFamily="34" charset="-122"/>
            </a:endParaRPr>
          </a:p>
        </p:txBody>
      </p:sp>
      <p:pic>
        <p:nvPicPr>
          <p:cNvPr id="37" name="Picture 3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40010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8" name="Text Box 54"/>
          <p:cNvSpPr txBox="1">
            <a:spLocks noChangeArrowheads="1"/>
          </p:cNvSpPr>
          <p:nvPr/>
        </p:nvSpPr>
        <p:spPr bwMode="auto">
          <a:xfrm>
            <a:off x="6713879" y="191116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2</a:t>
            </a:r>
            <a:endParaRPr kumimoji="1" lang="en-US" altLang="zh-CN" sz="1200" b="1" dirty="0">
              <a:solidFill>
                <a:srgbClr val="0000FF"/>
              </a:solidFill>
              <a:latin typeface="微软雅黑" pitchFamily="34" charset="-122"/>
              <a:ea typeface="微软雅黑" pitchFamily="34" charset="-122"/>
            </a:endParaRPr>
          </a:p>
        </p:txBody>
      </p:sp>
      <p:sp>
        <p:nvSpPr>
          <p:cNvPr id="39" name="Text Box 55"/>
          <p:cNvSpPr txBox="1">
            <a:spLocks noChangeArrowheads="1"/>
          </p:cNvSpPr>
          <p:nvPr/>
        </p:nvSpPr>
        <p:spPr bwMode="auto">
          <a:xfrm>
            <a:off x="2421396" y="190392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1</a:t>
            </a:r>
            <a:endParaRPr kumimoji="1" lang="en-US" altLang="zh-CN" sz="1200" b="1" dirty="0">
              <a:solidFill>
                <a:srgbClr val="0000FF"/>
              </a:solidFill>
              <a:latin typeface="微软雅黑" pitchFamily="34" charset="-122"/>
              <a:ea typeface="微软雅黑" pitchFamily="34" charset="-122"/>
            </a:endParaRPr>
          </a:p>
        </p:txBody>
      </p:sp>
      <p:sp>
        <p:nvSpPr>
          <p:cNvPr id="41" name="Freeform 58"/>
          <p:cNvSpPr>
            <a:spLocks/>
          </p:cNvSpPr>
          <p:nvPr/>
        </p:nvSpPr>
        <p:spPr bwMode="auto">
          <a:xfrm>
            <a:off x="2878458" y="1732757"/>
            <a:ext cx="3661279" cy="600318"/>
          </a:xfrm>
          <a:custGeom>
            <a:avLst/>
            <a:gdLst>
              <a:gd name="T0" fmla="*/ 22 w 2358"/>
              <a:gd name="T1" fmla="*/ 42 h 492"/>
              <a:gd name="T2" fmla="*/ 52 w 2358"/>
              <a:gd name="T3" fmla="*/ 402 h 492"/>
              <a:gd name="T4" fmla="*/ 331 w 2358"/>
              <a:gd name="T5" fmla="*/ 492 h 492"/>
              <a:gd name="T6" fmla="*/ 2026 w 2358"/>
              <a:gd name="T7" fmla="*/ 492 h 492"/>
              <a:gd name="T8" fmla="*/ 2326 w 2358"/>
              <a:gd name="T9" fmla="*/ 366 h 492"/>
              <a:gd name="T10" fmla="*/ 2356 w 2358"/>
              <a:gd name="T11" fmla="*/ 0 h 492"/>
            </a:gdLst>
            <a:ahLst/>
            <a:cxnLst>
              <a:cxn ang="0">
                <a:pos x="T0" y="T1"/>
              </a:cxn>
              <a:cxn ang="0">
                <a:pos x="T2" y="T3"/>
              </a:cxn>
              <a:cxn ang="0">
                <a:pos x="T4" y="T5"/>
              </a:cxn>
              <a:cxn ang="0">
                <a:pos x="T6" y="T7"/>
              </a:cxn>
              <a:cxn ang="0">
                <a:pos x="T8" y="T9"/>
              </a:cxn>
              <a:cxn ang="0">
                <a:pos x="T10" y="T11"/>
              </a:cxn>
            </a:cxnLst>
            <a:rect l="0" t="0" r="r" b="b"/>
            <a:pathLst>
              <a:path w="2358" h="492">
                <a:moveTo>
                  <a:pt x="22" y="42"/>
                </a:moveTo>
                <a:cubicBezTo>
                  <a:pt x="27" y="103"/>
                  <a:pt x="0" y="327"/>
                  <a:pt x="52" y="402"/>
                </a:cubicBezTo>
                <a:cubicBezTo>
                  <a:pt x="105" y="469"/>
                  <a:pt x="17" y="487"/>
                  <a:pt x="331" y="492"/>
                </a:cubicBezTo>
                <a:lnTo>
                  <a:pt x="2026" y="492"/>
                </a:lnTo>
                <a:cubicBezTo>
                  <a:pt x="2358" y="471"/>
                  <a:pt x="2271" y="448"/>
                  <a:pt x="2326" y="366"/>
                </a:cubicBezTo>
                <a:cubicBezTo>
                  <a:pt x="2358" y="284"/>
                  <a:pt x="2349" y="79"/>
                  <a:pt x="2356" y="0"/>
                </a:cubicBezTo>
              </a:path>
            </a:pathLst>
          </a:custGeom>
          <a:noFill/>
          <a:ln w="57150" cap="flat" cmpd="sng">
            <a:solidFill>
              <a:srgbClr val="CC00CC"/>
            </a:solidFill>
            <a:prstDash val="solid"/>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矩形 44"/>
          <p:cNvSpPr/>
          <p:nvPr/>
        </p:nvSpPr>
        <p:spPr>
          <a:xfrm>
            <a:off x="3182473" y="4216620"/>
            <a:ext cx="2927903"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隧道技术在多播中的应用</a:t>
            </a:r>
            <a:endParaRPr lang="zh-CN" altLang="en-US" sz="1400" b="1" dirty="0">
              <a:latin typeface="微软雅黑" pitchFamily="34" charset="-122"/>
              <a:ea typeface="微软雅黑" pitchFamily="34" charset="-122"/>
            </a:endParaRPr>
          </a:p>
        </p:txBody>
      </p:sp>
      <p:grpSp>
        <p:nvGrpSpPr>
          <p:cNvPr id="47" name="Group 37"/>
          <p:cNvGrpSpPr>
            <a:grpSpLocks/>
          </p:cNvGrpSpPr>
          <p:nvPr/>
        </p:nvGrpSpPr>
        <p:grpSpPr bwMode="auto">
          <a:xfrm>
            <a:off x="2072913" y="1093708"/>
            <a:ext cx="1438651" cy="628810"/>
            <a:chOff x="912" y="768"/>
            <a:chExt cx="2400" cy="1584"/>
          </a:xfrm>
          <a:solidFill>
            <a:srgbClr val="3399FF"/>
          </a:solidFill>
          <a:effectLst/>
        </p:grpSpPr>
        <p:sp>
          <p:nvSpPr>
            <p:cNvPr id="4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57" name="Group 47"/>
            <p:cNvGrpSpPr>
              <a:grpSpLocks/>
            </p:cNvGrpSpPr>
            <p:nvPr/>
          </p:nvGrpSpPr>
          <p:grpSpPr bwMode="auto">
            <a:xfrm>
              <a:off x="912" y="768"/>
              <a:ext cx="2386" cy="1553"/>
              <a:chOff x="912" y="768"/>
              <a:chExt cx="2386" cy="1553"/>
            </a:xfrm>
            <a:grpFill/>
          </p:grpSpPr>
          <p:sp>
            <p:nvSpPr>
              <p:cNvPr id="5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4" name="Text Box 56"/>
          <p:cNvSpPr txBox="1">
            <a:spLocks noChangeArrowheads="1"/>
          </p:cNvSpPr>
          <p:nvPr/>
        </p:nvSpPr>
        <p:spPr bwMode="auto">
          <a:xfrm>
            <a:off x="2258502"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网 </a:t>
            </a:r>
            <a:r>
              <a:rPr kumimoji="1" lang="en-US" altLang="zh-CN" sz="1200" dirty="0">
                <a:solidFill>
                  <a:schemeClr val="bg1"/>
                </a:solidFill>
                <a:latin typeface="微软雅黑 Light" panose="020B0502040204020203" pitchFamily="34" charset="-122"/>
                <a:ea typeface="微软雅黑 Light" panose="020B0502040204020203" pitchFamily="34" charset="-122"/>
              </a:rPr>
              <a:t>N</a:t>
            </a:r>
            <a:r>
              <a:rPr kumimoji="1" lang="en-US" altLang="zh-CN" sz="1200" baseline="-25000" dirty="0">
                <a:solidFill>
                  <a:schemeClr val="bg1"/>
                </a:solidFill>
                <a:latin typeface="微软雅黑 Light" panose="020B0502040204020203" pitchFamily="34" charset="-122"/>
                <a:ea typeface="微软雅黑 Light" panose="020B0502040204020203" pitchFamily="34" charset="-122"/>
              </a:rPr>
              <a:t>1</a:t>
            </a:r>
            <a:r>
              <a:rPr kumimoji="1" lang="en-US" altLang="zh-CN" sz="1200" dirty="0">
                <a:solidFill>
                  <a:schemeClr val="bg1"/>
                </a:solidFill>
                <a:latin typeface="微软雅黑 Light" panose="020B0502040204020203" pitchFamily="34" charset="-122"/>
                <a:ea typeface="微软雅黑 Light" panose="020B0502040204020203" pitchFamily="34" charset="-122"/>
              </a:rPr>
              <a:t> </a:t>
            </a:r>
          </a:p>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（支持多播）</a:t>
            </a:r>
          </a:p>
        </p:txBody>
      </p:sp>
      <p:grpSp>
        <p:nvGrpSpPr>
          <p:cNvPr id="67" name="Group 37"/>
          <p:cNvGrpSpPr>
            <a:grpSpLocks/>
          </p:cNvGrpSpPr>
          <p:nvPr/>
        </p:nvGrpSpPr>
        <p:grpSpPr bwMode="auto">
          <a:xfrm>
            <a:off x="5869108" y="1093708"/>
            <a:ext cx="1438651" cy="628810"/>
            <a:chOff x="912" y="768"/>
            <a:chExt cx="2400" cy="1584"/>
          </a:xfrm>
          <a:solidFill>
            <a:srgbClr val="3399FF"/>
          </a:solidFill>
          <a:effectLst/>
        </p:grpSpPr>
        <p:sp>
          <p:nvSpPr>
            <p:cNvPr id="6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77" name="Group 47"/>
            <p:cNvGrpSpPr>
              <a:grpSpLocks/>
            </p:cNvGrpSpPr>
            <p:nvPr/>
          </p:nvGrpSpPr>
          <p:grpSpPr bwMode="auto">
            <a:xfrm>
              <a:off x="912" y="768"/>
              <a:ext cx="2386" cy="1553"/>
              <a:chOff x="912" y="768"/>
              <a:chExt cx="2386" cy="1553"/>
            </a:xfrm>
            <a:grpFill/>
          </p:grpSpPr>
          <p:sp>
            <p:nvSpPr>
              <p:cNvPr id="7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2" name="Text Box 59"/>
          <p:cNvSpPr txBox="1">
            <a:spLocks noChangeArrowheads="1"/>
          </p:cNvSpPr>
          <p:nvPr/>
        </p:nvSpPr>
        <p:spPr bwMode="auto">
          <a:xfrm>
            <a:off x="6091283"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网 </a:t>
            </a:r>
            <a:r>
              <a:rPr kumimoji="1" lang="en-US" altLang="zh-CN" sz="1200" dirty="0">
                <a:solidFill>
                  <a:schemeClr val="bg1"/>
                </a:solidFill>
                <a:latin typeface="微软雅黑 Light" panose="020B0502040204020203" pitchFamily="34" charset="-122"/>
                <a:ea typeface="微软雅黑 Light" panose="020B0502040204020203" pitchFamily="34" charset="-122"/>
              </a:rPr>
              <a:t>N</a:t>
            </a:r>
            <a:r>
              <a:rPr kumimoji="1" lang="en-US" altLang="zh-CN" sz="1200" baseline="-25000" dirty="0">
                <a:solidFill>
                  <a:schemeClr val="bg1"/>
                </a:solidFill>
                <a:latin typeface="微软雅黑 Light" panose="020B0502040204020203" pitchFamily="34" charset="-122"/>
                <a:ea typeface="微软雅黑 Light" panose="020B0502040204020203" pitchFamily="34" charset="-122"/>
              </a:rPr>
              <a:t>2</a:t>
            </a:r>
            <a:r>
              <a:rPr kumimoji="1" lang="en-US" altLang="zh-CN" sz="1200" dirty="0">
                <a:solidFill>
                  <a:schemeClr val="bg1"/>
                </a:solidFill>
                <a:latin typeface="微软雅黑 Light" panose="020B0502040204020203" pitchFamily="34" charset="-122"/>
                <a:ea typeface="微软雅黑 Light" panose="020B0502040204020203" pitchFamily="34" charset="-122"/>
              </a:rPr>
              <a:t> </a:t>
            </a:r>
          </a:p>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（支持多播）</a:t>
            </a:r>
          </a:p>
        </p:txBody>
      </p:sp>
      <p:sp>
        <p:nvSpPr>
          <p:cNvPr id="87" name="矩形 86"/>
          <p:cNvSpPr/>
          <p:nvPr/>
        </p:nvSpPr>
        <p:spPr>
          <a:xfrm>
            <a:off x="3505724" y="1099514"/>
            <a:ext cx="2385145" cy="523220"/>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zh-CN" sz="1400" dirty="0">
                <a:latin typeface="微软雅黑 Light" panose="020B0502040204020203" pitchFamily="34" charset="-122"/>
                <a:ea typeface="微软雅黑 Light" panose="020B0502040204020203" pitchFamily="34" charset="-122"/>
              </a:rPr>
              <a:t>隧道技术适用于多播组的位置在地理上很分散的情况</a:t>
            </a:r>
            <a:r>
              <a:rPr kumimoji="1" lang="zh-CN" altLang="en-US" sz="1400" dirty="0">
                <a:latin typeface="微软雅黑 Light" panose="020B0502040204020203" pitchFamily="34" charset="-122"/>
                <a:ea typeface="微软雅黑 Light" panose="020B0502040204020203" pitchFamily="34" charset="-122"/>
              </a:rPr>
              <a:t>。</a:t>
            </a:r>
          </a:p>
        </p:txBody>
      </p:sp>
      <p:sp>
        <p:nvSpPr>
          <p:cNvPr id="28" name="标题 27">
            <a:extLst>
              <a:ext uri="{FF2B5EF4-FFF2-40B4-BE49-F238E27FC236}">
                <a16:creationId xmlns:a16="http://schemas.microsoft.com/office/drawing/2014/main" id="{734F9921-19D7-935E-5D00-16DD66C6C286}"/>
              </a:ext>
            </a:extLst>
          </p:cNvPr>
          <p:cNvSpPr>
            <a:spLocks noGrp="1"/>
          </p:cNvSpPr>
          <p:nvPr>
            <p:ph type="title"/>
          </p:nvPr>
        </p:nvSpPr>
        <p:spPr>
          <a:xfrm>
            <a:off x="486000" y="550723"/>
            <a:ext cx="8172000" cy="338554"/>
          </a:xfrm>
        </p:spPr>
        <p:txBody>
          <a:bodyPr/>
          <a:lstStyle/>
          <a:p>
            <a:r>
              <a:rPr lang="en-US" altLang="zh-CN" dirty="0"/>
              <a:t>(2) </a:t>
            </a:r>
            <a:r>
              <a:rPr lang="zh-CN" altLang="en-US" dirty="0"/>
              <a:t>隧道技术 </a:t>
            </a:r>
            <a:r>
              <a:rPr lang="en-US" altLang="zh-CN" dirty="0"/>
              <a:t>(tunneling) </a:t>
            </a:r>
            <a:endParaRPr lang="zh-CN" altLang="en-US" dirty="0"/>
          </a:p>
        </p:txBody>
      </p:sp>
    </p:spTree>
    <p:extLst>
      <p:ext uri="{BB962C8B-B14F-4D97-AF65-F5344CB8AC3E}">
        <p14:creationId xmlns:p14="http://schemas.microsoft.com/office/powerpoint/2010/main" val="2843894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733144A-2F8A-F92C-59D7-EE6CDE2CF602}"/>
              </a:ext>
            </a:extLst>
          </p:cNvPr>
          <p:cNvSpPr>
            <a:spLocks noGrp="1"/>
          </p:cNvSpPr>
          <p:nvPr>
            <p:ph type="title"/>
          </p:nvPr>
        </p:nvSpPr>
        <p:spPr>
          <a:xfrm>
            <a:off x="486000" y="550723"/>
            <a:ext cx="8172000" cy="338554"/>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606AE025-360B-01A2-2030-DC159C013AD2}"/>
              </a:ext>
            </a:extLst>
          </p:cNvPr>
          <p:cNvSpPr>
            <a:spLocks noGrp="1"/>
          </p:cNvSpPr>
          <p:nvPr>
            <p:ph sz="quarter" idx="11"/>
          </p:nvPr>
        </p:nvSpPr>
        <p:spPr>
          <a:xfrm>
            <a:off x="486000" y="900000"/>
            <a:ext cx="8172000" cy="3703500"/>
          </a:xfrm>
        </p:spPr>
        <p:txBody>
          <a:bodyPr/>
          <a:lstStyle/>
          <a:p>
            <a:r>
              <a:rPr lang="zh-CN" altLang="en-US" dirty="0"/>
              <a:t>对于多播组的大小在较大范围内变化时都适合</a:t>
            </a:r>
          </a:p>
          <a:p>
            <a:r>
              <a:rPr lang="zh-CN" altLang="en-US" dirty="0"/>
              <a:t>对每一个多播组 </a:t>
            </a:r>
            <a:r>
              <a:rPr lang="en-US" altLang="zh-CN" dirty="0"/>
              <a:t>G </a:t>
            </a:r>
            <a:r>
              <a:rPr lang="zh-CN" altLang="en-US" dirty="0"/>
              <a:t>指定一个核心 </a:t>
            </a:r>
            <a:r>
              <a:rPr lang="en-US" altLang="zh-CN" dirty="0"/>
              <a:t>(core) </a:t>
            </a:r>
            <a:r>
              <a:rPr lang="zh-CN" altLang="en-US" dirty="0"/>
              <a:t>路由器，并给出它的 </a:t>
            </a:r>
            <a:r>
              <a:rPr lang="en-US" altLang="zh-CN" dirty="0"/>
              <a:t>IP </a:t>
            </a:r>
            <a:r>
              <a:rPr lang="zh-CN" altLang="en-US" dirty="0"/>
              <a:t>单播地址</a:t>
            </a:r>
          </a:p>
          <a:p>
            <a:r>
              <a:rPr lang="zh-CN" altLang="en-US" dirty="0"/>
              <a:t>核心路由器按照前面讲过的 </a:t>
            </a:r>
            <a:r>
              <a:rPr lang="en-US" altLang="zh-CN" dirty="0"/>
              <a:t>2 </a:t>
            </a:r>
            <a:r>
              <a:rPr lang="zh-CN" altLang="en-US" dirty="0"/>
              <a:t>种方法创建出对应于多播组 </a:t>
            </a:r>
            <a:r>
              <a:rPr lang="en-US" altLang="zh-CN" dirty="0"/>
              <a:t>G </a:t>
            </a:r>
            <a:r>
              <a:rPr lang="zh-CN" altLang="en-US" dirty="0"/>
              <a:t>的转发树（核心路由器为根节点）</a:t>
            </a:r>
            <a:endParaRPr lang="en-US" altLang="zh-CN" dirty="0"/>
          </a:p>
          <a:p>
            <a:endParaRPr lang="en-US" altLang="zh-CN" dirty="0"/>
          </a:p>
          <a:p>
            <a:r>
              <a:rPr lang="zh-CN" altLang="en-US" dirty="0"/>
              <a:t>为一个多播组构建一棵转发树，而不是为每个（源，组）组合构建一棵转发树</a:t>
            </a:r>
            <a:endParaRPr lang="en-US" altLang="zh-CN" dirty="0"/>
          </a:p>
          <a:p>
            <a:r>
              <a:rPr lang="zh-CN" altLang="en-US" dirty="0"/>
              <a:t>构建转发树开销较小，扩展性较好</a:t>
            </a:r>
          </a:p>
          <a:p>
            <a:endParaRPr lang="en-US" altLang="zh-CN" dirty="0"/>
          </a:p>
          <a:p>
            <a:endParaRPr lang="zh-CN" altLang="en-US" dirty="0"/>
          </a:p>
        </p:txBody>
      </p:sp>
    </p:spTree>
    <p:extLst>
      <p:ext uri="{BB962C8B-B14F-4D97-AF65-F5344CB8AC3E}">
        <p14:creationId xmlns:p14="http://schemas.microsoft.com/office/powerpoint/2010/main" val="9965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B7F9AC6-C907-E019-118B-D8D21B86DCB3}"/>
              </a:ext>
            </a:extLst>
          </p:cNvPr>
          <p:cNvSpPr>
            <a:spLocks noGrp="1"/>
          </p:cNvSpPr>
          <p:nvPr>
            <p:ph type="title"/>
          </p:nvPr>
        </p:nvSpPr>
        <p:spPr>
          <a:xfrm>
            <a:off x="486000" y="550723"/>
            <a:ext cx="8172000" cy="338554"/>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8826D6FA-B6AF-C6E7-1CEB-2B27EB9ACACA}"/>
              </a:ext>
            </a:extLst>
          </p:cNvPr>
          <p:cNvSpPr>
            <a:spLocks noGrp="1"/>
          </p:cNvSpPr>
          <p:nvPr>
            <p:ph sz="quarter" idx="11"/>
          </p:nvPr>
        </p:nvSpPr>
        <p:spPr>
          <a:xfrm>
            <a:off x="486000" y="900000"/>
            <a:ext cx="8172000" cy="3703500"/>
          </a:xfrm>
        </p:spPr>
        <p:txBody>
          <a:bodyPr/>
          <a:lstStyle/>
          <a:p>
            <a:r>
              <a:rPr lang="zh-CN" altLang="en-US" dirty="0"/>
              <a:t>如果有一个路由器 </a:t>
            </a:r>
            <a:r>
              <a:rPr lang="en-US" altLang="zh-CN" dirty="0"/>
              <a:t>R1 </a:t>
            </a:r>
            <a:r>
              <a:rPr lang="zh-CN" altLang="en-US" dirty="0"/>
              <a:t>向核心路由器发送数据报，那么它在途中经过的每一个路由器都要检查其内容</a:t>
            </a:r>
            <a:endParaRPr lang="en-US" altLang="zh-CN" dirty="0"/>
          </a:p>
          <a:p>
            <a:r>
              <a:rPr lang="zh-CN" altLang="en-US" dirty="0"/>
              <a:t>当数据报到达参加了多播组 </a:t>
            </a:r>
            <a:r>
              <a:rPr lang="en-US" altLang="zh-CN" dirty="0"/>
              <a:t>G </a:t>
            </a:r>
            <a:r>
              <a:rPr lang="zh-CN" altLang="en-US" dirty="0"/>
              <a:t>的路由器 </a:t>
            </a:r>
            <a:r>
              <a:rPr lang="en-US" altLang="zh-CN" dirty="0"/>
              <a:t>R2 </a:t>
            </a:r>
            <a:r>
              <a:rPr lang="zh-CN" altLang="en-US" dirty="0"/>
              <a:t>时，</a:t>
            </a:r>
            <a:r>
              <a:rPr lang="en-US" altLang="zh-CN" dirty="0"/>
              <a:t>R2 </a:t>
            </a:r>
            <a:r>
              <a:rPr lang="zh-CN" altLang="en-US" dirty="0"/>
              <a:t>就处理这个数据报</a:t>
            </a:r>
            <a:endParaRPr lang="en-US" altLang="zh-CN" dirty="0"/>
          </a:p>
          <a:p>
            <a:pPr lvl="1"/>
            <a:r>
              <a:rPr lang="zh-CN" altLang="en-US" dirty="0"/>
              <a:t>如果 </a:t>
            </a:r>
            <a:r>
              <a:rPr lang="en-US" altLang="zh-CN" dirty="0"/>
              <a:t>R1 </a:t>
            </a:r>
            <a:r>
              <a:rPr lang="zh-CN" altLang="en-US" dirty="0"/>
              <a:t>发出的是一个多播数据报，其目的地址是 </a:t>
            </a:r>
            <a:r>
              <a:rPr lang="en-US" altLang="zh-CN" dirty="0"/>
              <a:t>G </a:t>
            </a:r>
            <a:r>
              <a:rPr lang="zh-CN" altLang="en-US" dirty="0"/>
              <a:t>的组地址，</a:t>
            </a:r>
            <a:r>
              <a:rPr lang="en-US" altLang="zh-CN" dirty="0"/>
              <a:t>R2 </a:t>
            </a:r>
            <a:r>
              <a:rPr lang="zh-CN" altLang="en-US" dirty="0"/>
              <a:t>就向 </a:t>
            </a:r>
            <a:r>
              <a:rPr lang="en-US" altLang="zh-CN" dirty="0"/>
              <a:t>G </a:t>
            </a:r>
            <a:r>
              <a:rPr lang="zh-CN" altLang="en-US" dirty="0"/>
              <a:t>的成员转发这个多播数据报</a:t>
            </a:r>
            <a:endParaRPr lang="en-US" altLang="zh-CN" dirty="0"/>
          </a:p>
          <a:p>
            <a:pPr lvl="1"/>
            <a:r>
              <a:rPr lang="zh-CN" altLang="en-US" dirty="0"/>
              <a:t>如果 </a:t>
            </a:r>
            <a:r>
              <a:rPr lang="en-US" altLang="zh-CN" dirty="0"/>
              <a:t>R1 </a:t>
            </a:r>
            <a:r>
              <a:rPr lang="zh-CN" altLang="en-US" dirty="0"/>
              <a:t>发出的数据报是一个请求加入多播组 </a:t>
            </a:r>
            <a:r>
              <a:rPr lang="en-US" altLang="zh-CN" dirty="0"/>
              <a:t>G </a:t>
            </a:r>
            <a:r>
              <a:rPr lang="zh-CN" altLang="en-US" dirty="0"/>
              <a:t>的数据报，</a:t>
            </a:r>
            <a:r>
              <a:rPr lang="en-US" altLang="zh-CN" dirty="0"/>
              <a:t>R2 </a:t>
            </a:r>
            <a:r>
              <a:rPr lang="zh-CN" altLang="en-US" dirty="0"/>
              <a:t>就把这个信息加到它的路由中，并用隧道技术向 </a:t>
            </a:r>
            <a:r>
              <a:rPr lang="en-US" altLang="zh-CN" dirty="0"/>
              <a:t>R1 </a:t>
            </a:r>
            <a:r>
              <a:rPr lang="zh-CN" altLang="en-US" dirty="0"/>
              <a:t>转发每一个多播数据报的副本</a:t>
            </a:r>
          </a:p>
          <a:p>
            <a:endParaRPr lang="zh-CN" altLang="en-US" dirty="0"/>
          </a:p>
        </p:txBody>
      </p:sp>
    </p:spTree>
    <p:extLst>
      <p:ext uri="{BB962C8B-B14F-4D97-AF65-F5344CB8AC3E}">
        <p14:creationId xmlns:p14="http://schemas.microsoft.com/office/powerpoint/2010/main" val="2237270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D58D965-FCFF-3A3D-75B8-B6DB64FC6129}"/>
              </a:ext>
            </a:extLst>
          </p:cNvPr>
          <p:cNvSpPr>
            <a:spLocks noGrp="1"/>
          </p:cNvSpPr>
          <p:nvPr>
            <p:ph type="title"/>
          </p:nvPr>
        </p:nvSpPr>
        <p:spPr>
          <a:xfrm>
            <a:off x="486000" y="550723"/>
            <a:ext cx="8172000" cy="338554"/>
          </a:xfrm>
        </p:spPr>
        <p:txBody>
          <a:bodyPr/>
          <a:lstStyle/>
          <a:p>
            <a:r>
              <a:rPr lang="zh-CN" altLang="en-US" dirty="0"/>
              <a:t>几种多播路由选择协议</a:t>
            </a:r>
          </a:p>
        </p:txBody>
      </p:sp>
      <p:sp>
        <p:nvSpPr>
          <p:cNvPr id="6" name="内容占位符 5">
            <a:extLst>
              <a:ext uri="{FF2B5EF4-FFF2-40B4-BE49-F238E27FC236}">
                <a16:creationId xmlns:a16="http://schemas.microsoft.com/office/drawing/2014/main" id="{7EB661D9-5A45-B4D6-3DBB-BE98E953754F}"/>
              </a:ext>
            </a:extLst>
          </p:cNvPr>
          <p:cNvSpPr>
            <a:spLocks noGrp="1"/>
          </p:cNvSpPr>
          <p:nvPr>
            <p:ph sz="quarter" idx="11"/>
          </p:nvPr>
        </p:nvSpPr>
        <p:spPr>
          <a:xfrm>
            <a:off x="486000" y="900000"/>
            <a:ext cx="8172000" cy="3703500"/>
          </a:xfrm>
        </p:spPr>
        <p:txBody>
          <a:bodyPr/>
          <a:lstStyle/>
          <a:p>
            <a:r>
              <a:rPr lang="zh-CN" altLang="en-US" dirty="0"/>
              <a:t>距离向量多播路由选择协议</a:t>
            </a:r>
            <a:endParaRPr lang="en-US" altLang="zh-CN" dirty="0"/>
          </a:p>
          <a:p>
            <a:pPr lvl="1"/>
            <a:r>
              <a:rPr lang="en-US" altLang="zh-CN" dirty="0"/>
              <a:t>DVMRP - Distance Vector Multicast Routing Protocol</a:t>
            </a:r>
          </a:p>
          <a:p>
            <a:pPr lvl="1"/>
            <a:r>
              <a:rPr lang="zh-CN" altLang="en-US" dirty="0"/>
              <a:t>互联网上使用的第一个多播路由选择协议</a:t>
            </a:r>
            <a:endParaRPr lang="en-US" altLang="zh-CN" dirty="0"/>
          </a:p>
          <a:p>
            <a:r>
              <a:rPr lang="zh-CN" altLang="en-US" dirty="0"/>
              <a:t>基于核心的转发树</a:t>
            </a:r>
            <a:endParaRPr lang="en-US" altLang="zh-CN" dirty="0"/>
          </a:p>
          <a:p>
            <a:pPr lvl="1"/>
            <a:r>
              <a:rPr lang="en-US" altLang="zh-CN" dirty="0"/>
              <a:t>CBT - Core Based Tree </a:t>
            </a:r>
          </a:p>
          <a:p>
            <a:r>
              <a:rPr lang="zh-CN" altLang="en-US" dirty="0"/>
              <a:t>开放最短通路优先的多播扩展</a:t>
            </a:r>
            <a:endParaRPr lang="en-US" altLang="zh-CN" dirty="0"/>
          </a:p>
          <a:p>
            <a:pPr lvl="1"/>
            <a:r>
              <a:rPr lang="en-US" altLang="zh-CN" dirty="0"/>
              <a:t>MOSPF - Multicast Extensions to OSPF)</a:t>
            </a:r>
          </a:p>
          <a:p>
            <a:r>
              <a:rPr lang="zh-CN" altLang="en-US" dirty="0"/>
              <a:t>协议无关多播</a:t>
            </a:r>
            <a:r>
              <a:rPr lang="en-US" altLang="zh-CN" dirty="0"/>
              <a:t>-</a:t>
            </a:r>
            <a:r>
              <a:rPr lang="zh-CN" altLang="en-US" dirty="0"/>
              <a:t>稀疏方式</a:t>
            </a:r>
            <a:endParaRPr lang="en-US" altLang="zh-CN" dirty="0"/>
          </a:p>
          <a:p>
            <a:pPr lvl="1"/>
            <a:r>
              <a:rPr lang="en-US" altLang="zh-CN" dirty="0"/>
              <a:t>PIM-SM - Protocol Independent Multicast-Sparse Mode</a:t>
            </a:r>
          </a:p>
          <a:p>
            <a:pPr lvl="1"/>
            <a:r>
              <a:rPr lang="zh-CN" altLang="en-US" dirty="0"/>
              <a:t>唯一成为互联网标准的一个协议</a:t>
            </a:r>
            <a:endParaRPr lang="en-US" altLang="zh-CN" dirty="0"/>
          </a:p>
          <a:p>
            <a:r>
              <a:rPr lang="zh-CN" altLang="en-US" dirty="0"/>
              <a:t>协议无关多播</a:t>
            </a:r>
            <a:r>
              <a:rPr lang="en-US" altLang="zh-CN" dirty="0"/>
              <a:t>-</a:t>
            </a:r>
            <a:r>
              <a:rPr lang="zh-CN" altLang="en-US" dirty="0"/>
              <a:t>密集方式</a:t>
            </a:r>
            <a:endParaRPr lang="en-US" altLang="zh-CN" dirty="0"/>
          </a:p>
          <a:p>
            <a:pPr lvl="1"/>
            <a:r>
              <a:rPr lang="en-US" altLang="zh-CN" dirty="0"/>
              <a:t>PIM-DM - Protocol Independent Multicast-Dense Mode)</a:t>
            </a:r>
            <a:endParaRPr lang="zh-CN" altLang="en-US" dirty="0"/>
          </a:p>
          <a:p>
            <a:endParaRPr lang="zh-CN" altLang="en-US" dirty="0"/>
          </a:p>
        </p:txBody>
      </p:sp>
    </p:spTree>
    <p:extLst>
      <p:ext uri="{BB962C8B-B14F-4D97-AF65-F5344CB8AC3E}">
        <p14:creationId xmlns:p14="http://schemas.microsoft.com/office/powerpoint/2010/main" val="9474151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图片占位符 14">
            <a:extLst>
              <a:ext uri="{FF2B5EF4-FFF2-40B4-BE49-F238E27FC236}">
                <a16:creationId xmlns:a16="http://schemas.microsoft.com/office/drawing/2014/main" id="{80B80CB4-FA2F-51C0-EB90-2963B6DACB2E}"/>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D96B1AE1-069B-9A73-1648-38FE36AB7E7D}"/>
              </a:ext>
            </a:extLst>
          </p:cNvPr>
          <p:cNvSpPr>
            <a:spLocks noGrp="1"/>
          </p:cNvSpPr>
          <p:nvPr>
            <p:ph type="title"/>
          </p:nvPr>
        </p:nvSpPr>
        <p:spPr>
          <a:xfrm>
            <a:off x="628650" y="1790739"/>
            <a:ext cx="4320000" cy="553998"/>
          </a:xfrm>
        </p:spPr>
        <p:txBody>
          <a:bodyPr/>
          <a:lstStyle/>
          <a:p>
            <a:r>
              <a:rPr lang="fr-FR" altLang="zh-CN" dirty="0"/>
              <a:t>4.8.1 </a:t>
            </a:r>
            <a:r>
              <a:rPr lang="zh-CN" altLang="en-US" dirty="0"/>
              <a:t>虚拟专用网</a:t>
            </a:r>
          </a:p>
        </p:txBody>
      </p:sp>
      <p:sp>
        <p:nvSpPr>
          <p:cNvPr id="9" name="文本占位符 8">
            <a:extLst>
              <a:ext uri="{FF2B5EF4-FFF2-40B4-BE49-F238E27FC236}">
                <a16:creationId xmlns:a16="http://schemas.microsoft.com/office/drawing/2014/main" id="{BBECAE81-C0CF-A30F-8BF9-48FBD8E378E7}"/>
              </a:ext>
            </a:extLst>
          </p:cNvPr>
          <p:cNvSpPr>
            <a:spLocks noGrp="1"/>
          </p:cNvSpPr>
          <p:nvPr>
            <p:ph type="body" sz="quarter" idx="11"/>
          </p:nvPr>
        </p:nvSpPr>
        <p:spPr>
          <a:xfrm>
            <a:off x="628100" y="2344736"/>
            <a:ext cx="4320000" cy="1870075"/>
          </a:xfrm>
        </p:spPr>
        <p:txBody>
          <a:bodyPr/>
          <a:lstStyle/>
          <a:p>
            <a:r>
              <a:rPr lang="en-US" altLang="zh-CN" dirty="0"/>
              <a:t>· VPN</a:t>
            </a:r>
          </a:p>
          <a:p>
            <a:r>
              <a:rPr lang="en-US" altLang="zh-CN" dirty="0"/>
              <a:t>. Virtual Private Network</a:t>
            </a:r>
            <a:endParaRPr lang="zh-CN" altLang="en-US" dirty="0"/>
          </a:p>
        </p:txBody>
      </p:sp>
    </p:spTree>
    <p:extLst>
      <p:ext uri="{BB962C8B-B14F-4D97-AF65-F5344CB8AC3E}">
        <p14:creationId xmlns:p14="http://schemas.microsoft.com/office/powerpoint/2010/main" val="8964859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D4FF951-BD2C-E13C-D7B3-7E2339F77CD9}"/>
              </a:ext>
            </a:extLst>
          </p:cNvPr>
          <p:cNvSpPr>
            <a:spLocks noGrp="1"/>
          </p:cNvSpPr>
          <p:nvPr>
            <p:ph type="title"/>
          </p:nvPr>
        </p:nvSpPr>
        <p:spPr>
          <a:xfrm>
            <a:off x="486000" y="550723"/>
            <a:ext cx="8172000" cy="338554"/>
          </a:xfrm>
        </p:spPr>
        <p:txBody>
          <a:bodyPr/>
          <a:lstStyle/>
          <a:p>
            <a:r>
              <a:rPr lang="en-US" altLang="zh-CN" dirty="0"/>
              <a:t>4.8.1  </a:t>
            </a:r>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BA4AADC1-CCD5-2430-144A-E2F8501194EE}"/>
              </a:ext>
            </a:extLst>
          </p:cNvPr>
          <p:cNvSpPr>
            <a:spLocks noGrp="1"/>
          </p:cNvSpPr>
          <p:nvPr>
            <p:ph sz="quarter" idx="11"/>
          </p:nvPr>
        </p:nvSpPr>
        <p:spPr>
          <a:xfrm>
            <a:off x="486000" y="900000"/>
            <a:ext cx="8172000" cy="3703500"/>
          </a:xfrm>
        </p:spPr>
        <p:txBody>
          <a:bodyPr/>
          <a:lstStyle/>
          <a:p>
            <a:r>
              <a:rPr lang="zh-CN" altLang="en-US" dirty="0"/>
              <a:t>由于 </a:t>
            </a:r>
            <a:r>
              <a:rPr lang="en-US" altLang="zh-CN" dirty="0"/>
              <a:t>IP </a:t>
            </a:r>
            <a:r>
              <a:rPr lang="zh-CN" altLang="en-US" dirty="0"/>
              <a:t>地址的紧缺，一个机构能够申请到的</a:t>
            </a:r>
            <a:r>
              <a:rPr lang="en-US" altLang="zh-CN" dirty="0"/>
              <a:t>IP</a:t>
            </a:r>
            <a:r>
              <a:rPr lang="zh-CN" altLang="en-US" dirty="0"/>
              <a:t>地址数往往远小于本机构所拥有的主机数</a:t>
            </a:r>
          </a:p>
          <a:p>
            <a:r>
              <a:rPr lang="zh-CN" altLang="en-US" dirty="0"/>
              <a:t>考虑到互联网并不很安全，一个机构内也并不需要把所有的主机接入到外部的互联网</a:t>
            </a:r>
          </a:p>
          <a:p>
            <a:r>
              <a:rPr lang="zh-CN" altLang="en-US" dirty="0"/>
              <a:t>如果一个机构内部的计算机通信也是采用 </a:t>
            </a:r>
            <a:r>
              <a:rPr lang="en-US" altLang="zh-CN" dirty="0"/>
              <a:t>TCP/IP </a:t>
            </a:r>
            <a:r>
              <a:rPr lang="zh-CN" altLang="en-US" dirty="0"/>
              <a:t>协议，那么这些仅在机构内部使用的计算机就可以由本机构自行分配其 </a:t>
            </a:r>
            <a:r>
              <a:rPr lang="en-US" altLang="zh-CN" dirty="0"/>
              <a:t>IP </a:t>
            </a:r>
            <a:r>
              <a:rPr lang="zh-CN" altLang="en-US" dirty="0"/>
              <a:t>地址</a:t>
            </a:r>
          </a:p>
          <a:p>
            <a:endParaRPr lang="zh-CN" altLang="en-US" dirty="0"/>
          </a:p>
        </p:txBody>
      </p:sp>
    </p:spTree>
    <p:extLst>
      <p:ext uri="{BB962C8B-B14F-4D97-AF65-F5344CB8AC3E}">
        <p14:creationId xmlns:p14="http://schemas.microsoft.com/office/powerpoint/2010/main" val="2593138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7F55371-294D-F8BB-6D98-4D3301F18359}"/>
              </a:ext>
            </a:extLst>
          </p:cNvPr>
          <p:cNvSpPr>
            <a:spLocks noGrp="1"/>
          </p:cNvSpPr>
          <p:nvPr>
            <p:ph type="title"/>
          </p:nvPr>
        </p:nvSpPr>
        <p:spPr>
          <a:xfrm>
            <a:off x="486000" y="550723"/>
            <a:ext cx="8172000" cy="338554"/>
          </a:xfrm>
        </p:spPr>
        <p:txBody>
          <a:bodyPr/>
          <a:lstStyle/>
          <a:p>
            <a:r>
              <a:rPr lang="zh-CN" altLang="en-US" dirty="0"/>
              <a:t>本地地址 </a:t>
            </a:r>
            <a:r>
              <a:rPr lang="en-US" altLang="zh-CN" dirty="0"/>
              <a:t>vs</a:t>
            </a:r>
            <a:r>
              <a:rPr lang="zh-CN" altLang="en-US" dirty="0"/>
              <a:t> 全球地址</a:t>
            </a:r>
          </a:p>
        </p:txBody>
      </p:sp>
      <p:sp>
        <p:nvSpPr>
          <p:cNvPr id="8" name="内容占位符 7">
            <a:extLst>
              <a:ext uri="{FF2B5EF4-FFF2-40B4-BE49-F238E27FC236}">
                <a16:creationId xmlns:a16="http://schemas.microsoft.com/office/drawing/2014/main" id="{6A30E7B4-6823-C329-31DC-8309EDE75517}"/>
              </a:ext>
            </a:extLst>
          </p:cNvPr>
          <p:cNvSpPr>
            <a:spLocks noGrp="1"/>
          </p:cNvSpPr>
          <p:nvPr>
            <p:ph sz="quarter" idx="11"/>
          </p:nvPr>
        </p:nvSpPr>
        <p:spPr>
          <a:xfrm>
            <a:off x="486000" y="900000"/>
            <a:ext cx="8172000" cy="3703500"/>
          </a:xfrm>
        </p:spPr>
        <p:txBody>
          <a:bodyPr/>
          <a:lstStyle/>
          <a:p>
            <a:r>
              <a:rPr lang="zh-CN" altLang="en-US" dirty="0"/>
              <a:t>本地地址：仅在机构内部使用的 </a:t>
            </a:r>
            <a:r>
              <a:rPr lang="en-US" altLang="zh-CN" dirty="0"/>
              <a:t>IP </a:t>
            </a:r>
            <a:r>
              <a:rPr lang="zh-CN" altLang="en-US" dirty="0"/>
              <a:t>地址，可以由本机构自行分配，而不需要向互联网的管理机构申请</a:t>
            </a:r>
          </a:p>
          <a:p>
            <a:r>
              <a:rPr lang="zh-CN" altLang="en-US" dirty="0"/>
              <a:t>全球地址：全球唯一的 </a:t>
            </a:r>
            <a:r>
              <a:rPr lang="en-US" altLang="zh-CN" dirty="0"/>
              <a:t>IP </a:t>
            </a:r>
            <a:r>
              <a:rPr lang="zh-CN" altLang="en-US" dirty="0"/>
              <a:t>地址，必须向互联网的管理机构申请</a:t>
            </a:r>
          </a:p>
          <a:p>
            <a:r>
              <a:rPr lang="zh-CN" altLang="en-US" dirty="0"/>
              <a:t>问题：如何区分本地地址和全球地址？</a:t>
            </a:r>
            <a:endParaRPr lang="en-US" altLang="zh-CN" dirty="0"/>
          </a:p>
          <a:p>
            <a:r>
              <a:rPr lang="zh-CN" altLang="en-US" dirty="0"/>
              <a:t>解决：</a:t>
            </a:r>
            <a:r>
              <a:rPr lang="en-US" altLang="zh-CN" dirty="0"/>
              <a:t>RFC 1918 </a:t>
            </a:r>
            <a:r>
              <a:rPr lang="zh-CN" altLang="en-US" dirty="0"/>
              <a:t>指明了一些专用地址 </a:t>
            </a:r>
            <a:r>
              <a:rPr lang="en-US" altLang="zh-CN" dirty="0"/>
              <a:t>- private address</a:t>
            </a:r>
          </a:p>
          <a:p>
            <a:r>
              <a:rPr lang="zh-CN" altLang="en-US" dirty="0"/>
              <a:t>专用地址只能用作本地地址，而不能用作全球地址</a:t>
            </a:r>
            <a:endParaRPr lang="en-US" altLang="zh-CN" dirty="0"/>
          </a:p>
          <a:p>
            <a:r>
              <a:rPr lang="zh-CN" altLang="en-US" dirty="0"/>
              <a:t>互联网中的所有路由器对目的地址是专用地址的数据报一律不进行转发</a:t>
            </a:r>
          </a:p>
          <a:p>
            <a:endParaRPr lang="zh-CN" altLang="en-US" dirty="0"/>
          </a:p>
          <a:p>
            <a:endParaRPr lang="zh-CN" altLang="en-US" dirty="0"/>
          </a:p>
        </p:txBody>
      </p:sp>
    </p:spTree>
    <p:extLst>
      <p:ext uri="{BB962C8B-B14F-4D97-AF65-F5344CB8AC3E}">
        <p14:creationId xmlns:p14="http://schemas.microsoft.com/office/powerpoint/2010/main" val="2559882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765399" y="1629139"/>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10.0.0.0/8</a:t>
            </a:r>
          </a:p>
        </p:txBody>
      </p:sp>
      <p:sp>
        <p:nvSpPr>
          <p:cNvPr id="7" name="矩形 6"/>
          <p:cNvSpPr/>
          <p:nvPr/>
        </p:nvSpPr>
        <p:spPr>
          <a:xfrm>
            <a:off x="1765399" y="2459224"/>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172.16.0.0/12</a:t>
            </a:r>
          </a:p>
        </p:txBody>
      </p:sp>
      <p:sp>
        <p:nvSpPr>
          <p:cNvPr id="8" name="矩形 7"/>
          <p:cNvSpPr/>
          <p:nvPr/>
        </p:nvSpPr>
        <p:spPr>
          <a:xfrm>
            <a:off x="1765399" y="3287534"/>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192.168.0.0/16</a:t>
            </a:r>
          </a:p>
        </p:txBody>
      </p:sp>
      <p:sp>
        <p:nvSpPr>
          <p:cNvPr id="9" name="矩形 8"/>
          <p:cNvSpPr/>
          <p:nvPr/>
        </p:nvSpPr>
        <p:spPr>
          <a:xfrm>
            <a:off x="1765399" y="2003203"/>
            <a:ext cx="3986989" cy="338554"/>
          </a:xfrm>
          <a:prstGeom prst="rect">
            <a:avLst/>
          </a:prstGeom>
        </p:spPr>
        <p:txBody>
          <a:bodyPr wrap="none">
            <a:spAutoFit/>
          </a:bodyPr>
          <a:lstStyle/>
          <a:p>
            <a:r>
              <a:rPr lang="en-US" altLang="zh-CN" sz="1600" dirty="0">
                <a:latin typeface="Montserrat" panose="00000500000000000000" pitchFamily="2" charset="0"/>
                <a:ea typeface="微软雅黑" pitchFamily="34" charset="-122"/>
              </a:rPr>
              <a:t>A</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10.0.0.0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10.255.255.255</a:t>
            </a:r>
            <a:r>
              <a:rPr lang="zh-CN" altLang="en-US" sz="1600" dirty="0">
                <a:latin typeface="Montserrat" panose="00000500000000000000" pitchFamily="2" charset="0"/>
                <a:ea typeface="微软雅黑" pitchFamily="34" charset="-122"/>
              </a:rPr>
              <a:t>。</a:t>
            </a: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个</a:t>
            </a:r>
          </a:p>
        </p:txBody>
      </p:sp>
      <p:sp>
        <p:nvSpPr>
          <p:cNvPr id="10" name="矩形 9"/>
          <p:cNvSpPr/>
          <p:nvPr/>
        </p:nvSpPr>
        <p:spPr>
          <a:xfrm>
            <a:off x="1765399" y="2814455"/>
            <a:ext cx="5292416" cy="338554"/>
          </a:xfrm>
          <a:prstGeom prst="rect">
            <a:avLst/>
          </a:prstGeom>
        </p:spPr>
        <p:txBody>
          <a:bodyPr wrap="square">
            <a:spAutoFit/>
          </a:bodyPr>
          <a:lstStyle/>
          <a:p>
            <a:r>
              <a:rPr lang="en-US" altLang="zh-CN" sz="1600" dirty="0">
                <a:latin typeface="Montserrat" panose="00000500000000000000" pitchFamily="2" charset="0"/>
                <a:ea typeface="微软雅黑" pitchFamily="34" charset="-122"/>
              </a:rPr>
              <a:t>B</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172.16.0.0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172.31.255.255</a:t>
            </a:r>
            <a:r>
              <a:rPr lang="zh-CN" altLang="en-US" sz="1600" dirty="0">
                <a:latin typeface="Montserrat" panose="00000500000000000000" pitchFamily="2" charset="0"/>
                <a:ea typeface="微软雅黑" pitchFamily="34" charset="-122"/>
              </a:rPr>
              <a:t>。连续 </a:t>
            </a:r>
            <a:r>
              <a:rPr lang="en-US" altLang="zh-CN" sz="1600" dirty="0">
                <a:latin typeface="Montserrat" panose="00000500000000000000" pitchFamily="2" charset="0"/>
                <a:ea typeface="微软雅黑" pitchFamily="34" charset="-122"/>
              </a:rPr>
              <a:t>16 </a:t>
            </a:r>
            <a:r>
              <a:rPr lang="zh-CN" altLang="en-US" sz="1600" dirty="0">
                <a:latin typeface="Montserrat" panose="00000500000000000000" pitchFamily="2" charset="0"/>
                <a:ea typeface="微软雅黑" pitchFamily="34" charset="-122"/>
              </a:rPr>
              <a:t>个</a:t>
            </a:r>
          </a:p>
        </p:txBody>
      </p:sp>
      <p:sp>
        <p:nvSpPr>
          <p:cNvPr id="11" name="矩形 10"/>
          <p:cNvSpPr/>
          <p:nvPr/>
        </p:nvSpPr>
        <p:spPr>
          <a:xfrm>
            <a:off x="1765399" y="3632461"/>
            <a:ext cx="5123518" cy="338554"/>
          </a:xfrm>
          <a:prstGeom prst="rect">
            <a:avLst/>
          </a:prstGeom>
        </p:spPr>
        <p:txBody>
          <a:bodyPr wrap="none">
            <a:spAutoFit/>
          </a:bodyPr>
          <a:lstStyle/>
          <a:p>
            <a:r>
              <a:rPr lang="en-US" altLang="zh-CN" sz="1600" dirty="0">
                <a:latin typeface="Montserrat" panose="00000500000000000000" pitchFamily="2" charset="0"/>
                <a:ea typeface="微软雅黑" pitchFamily="34" charset="-122"/>
              </a:rPr>
              <a:t>C</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192.168.0.0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192.168.255.255</a:t>
            </a:r>
            <a:r>
              <a:rPr lang="zh-CN" altLang="en-US" sz="1600" dirty="0">
                <a:latin typeface="Montserrat" panose="00000500000000000000" pitchFamily="2" charset="0"/>
                <a:ea typeface="微软雅黑" pitchFamily="34" charset="-122"/>
              </a:rPr>
              <a:t>。连续 </a:t>
            </a:r>
            <a:r>
              <a:rPr lang="en-US" altLang="zh-CN" sz="1600" dirty="0">
                <a:latin typeface="Montserrat" panose="00000500000000000000" pitchFamily="2" charset="0"/>
                <a:ea typeface="微软雅黑" pitchFamily="34" charset="-122"/>
              </a:rPr>
              <a:t>256 </a:t>
            </a:r>
            <a:r>
              <a:rPr lang="zh-CN" altLang="en-US" sz="1600" dirty="0">
                <a:latin typeface="Montserrat" panose="00000500000000000000" pitchFamily="2" charset="0"/>
                <a:ea typeface="微软雅黑" pitchFamily="34" charset="-122"/>
              </a:rPr>
              <a:t>个</a:t>
            </a:r>
          </a:p>
        </p:txBody>
      </p:sp>
      <p:sp>
        <p:nvSpPr>
          <p:cNvPr id="3" name="标题 2">
            <a:extLst>
              <a:ext uri="{FF2B5EF4-FFF2-40B4-BE49-F238E27FC236}">
                <a16:creationId xmlns:a16="http://schemas.microsoft.com/office/drawing/2014/main" id="{A377D743-B0AE-5967-F45F-A5B9F513D270}"/>
              </a:ext>
            </a:extLst>
          </p:cNvPr>
          <p:cNvSpPr>
            <a:spLocks noGrp="1"/>
          </p:cNvSpPr>
          <p:nvPr>
            <p:ph type="title"/>
          </p:nvPr>
        </p:nvSpPr>
        <p:spPr>
          <a:xfrm>
            <a:off x="486000" y="550723"/>
            <a:ext cx="8172000" cy="338554"/>
          </a:xfrm>
        </p:spPr>
        <p:txBody>
          <a:bodyPr/>
          <a:lstStyle/>
          <a:p>
            <a:r>
              <a:rPr lang="zh-CN" altLang="zh-CN" dirty="0"/>
              <a:t>专用</a:t>
            </a:r>
            <a:r>
              <a:rPr lang="en-US" altLang="zh-CN" dirty="0"/>
              <a:t> IP </a:t>
            </a:r>
            <a:r>
              <a:rPr lang="zh-CN" altLang="zh-CN" dirty="0"/>
              <a:t>地址块</a:t>
            </a:r>
            <a:endParaRPr lang="zh-CN" altLang="en-US" dirty="0"/>
          </a:p>
        </p:txBody>
      </p:sp>
      <p:sp>
        <p:nvSpPr>
          <p:cNvPr id="4" name="内容占位符 3">
            <a:extLst>
              <a:ext uri="{FF2B5EF4-FFF2-40B4-BE49-F238E27FC236}">
                <a16:creationId xmlns:a16="http://schemas.microsoft.com/office/drawing/2014/main" id="{738F3C71-4CC2-C097-C93F-228BB2B2F6F6}"/>
              </a:ext>
            </a:extLst>
          </p:cNvPr>
          <p:cNvSpPr>
            <a:spLocks noGrp="1"/>
          </p:cNvSpPr>
          <p:nvPr>
            <p:ph sz="quarter" idx="11"/>
          </p:nvPr>
        </p:nvSpPr>
        <p:spPr>
          <a:xfrm>
            <a:off x="486000" y="900000"/>
            <a:ext cx="8172000" cy="3703500"/>
          </a:xfrm>
        </p:spPr>
        <p:txBody>
          <a:bodyPr/>
          <a:lstStyle/>
          <a:p>
            <a:r>
              <a:rPr lang="en-US" altLang="zh-CN" dirty="0"/>
              <a:t>RFC 1918 </a:t>
            </a:r>
            <a:r>
              <a:rPr lang="zh-CN" altLang="en-US" dirty="0"/>
              <a:t>指明的专用 </a:t>
            </a:r>
            <a:r>
              <a:rPr lang="en-US" altLang="zh-CN" dirty="0"/>
              <a:t>IP </a:t>
            </a:r>
            <a:r>
              <a:rPr lang="zh-CN" altLang="en-US" dirty="0"/>
              <a:t>地址</a:t>
            </a:r>
          </a:p>
        </p:txBody>
      </p:sp>
    </p:spTree>
    <p:extLst>
      <p:ext uri="{BB962C8B-B14F-4D97-AF65-F5344CB8AC3E}">
        <p14:creationId xmlns:p14="http://schemas.microsoft.com/office/powerpoint/2010/main" val="18255218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D890992-3BD7-0B51-7708-E2E640FB2039}"/>
              </a:ext>
            </a:extLst>
          </p:cNvPr>
          <p:cNvSpPr>
            <a:spLocks noGrp="1"/>
          </p:cNvSpPr>
          <p:nvPr>
            <p:ph type="title"/>
          </p:nvPr>
        </p:nvSpPr>
        <p:spPr>
          <a:xfrm>
            <a:off x="486000" y="550723"/>
            <a:ext cx="8172000" cy="338554"/>
          </a:xfrm>
        </p:spPr>
        <p:txBody>
          <a:bodyPr/>
          <a:lstStyle/>
          <a:p>
            <a:r>
              <a:rPr lang="zh-CN" altLang="en-US" dirty="0"/>
              <a:t>专用网</a:t>
            </a:r>
          </a:p>
        </p:txBody>
      </p:sp>
      <p:sp>
        <p:nvSpPr>
          <p:cNvPr id="7" name="内容占位符 6">
            <a:extLst>
              <a:ext uri="{FF2B5EF4-FFF2-40B4-BE49-F238E27FC236}">
                <a16:creationId xmlns:a16="http://schemas.microsoft.com/office/drawing/2014/main" id="{CC0423AE-7611-4FF8-84A4-F0928732FBBE}"/>
              </a:ext>
            </a:extLst>
          </p:cNvPr>
          <p:cNvSpPr>
            <a:spLocks noGrp="1"/>
          </p:cNvSpPr>
          <p:nvPr>
            <p:ph sz="quarter" idx="11"/>
          </p:nvPr>
        </p:nvSpPr>
        <p:spPr>
          <a:xfrm>
            <a:off x="486000" y="900000"/>
            <a:ext cx="8172000" cy="3703500"/>
          </a:xfrm>
        </p:spPr>
        <p:txBody>
          <a:bodyPr/>
          <a:lstStyle/>
          <a:p>
            <a:r>
              <a:rPr lang="zh-CN" altLang="en-US" dirty="0"/>
              <a:t>采用专用 </a:t>
            </a:r>
            <a:r>
              <a:rPr lang="en-US" altLang="zh-CN" dirty="0"/>
              <a:t>IP </a:t>
            </a:r>
            <a:r>
              <a:rPr lang="zh-CN" altLang="en-US" dirty="0"/>
              <a:t>地址的互连网络称为专用互联网或本地互联网，或更简单些，就叫做专用网</a:t>
            </a:r>
          </a:p>
          <a:p>
            <a:r>
              <a:rPr lang="zh-CN" altLang="en-US" dirty="0"/>
              <a:t>专用 </a:t>
            </a:r>
            <a:r>
              <a:rPr lang="en-US" altLang="zh-CN" dirty="0"/>
              <a:t>IP </a:t>
            </a:r>
            <a:r>
              <a:rPr lang="zh-CN" altLang="en-US" dirty="0"/>
              <a:t>地址也叫做可重用地址 </a:t>
            </a:r>
            <a:r>
              <a:rPr lang="en-US" altLang="zh-CN" dirty="0"/>
              <a:t>- reusable address</a:t>
            </a:r>
            <a:endParaRPr lang="zh-CN" altLang="en-US" dirty="0"/>
          </a:p>
          <a:p>
            <a:endParaRPr lang="zh-CN" altLang="en-US" dirty="0"/>
          </a:p>
        </p:txBody>
      </p:sp>
    </p:spTree>
    <p:extLst>
      <p:ext uri="{BB962C8B-B14F-4D97-AF65-F5344CB8AC3E}">
        <p14:creationId xmlns:p14="http://schemas.microsoft.com/office/powerpoint/2010/main" val="7880200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E187FB4-8A4B-2B54-5807-779CA96AC4D3}"/>
              </a:ext>
            </a:extLst>
          </p:cNvPr>
          <p:cNvSpPr>
            <a:spLocks noGrp="1"/>
          </p:cNvSpPr>
          <p:nvPr>
            <p:ph type="title"/>
          </p:nvPr>
        </p:nvSpPr>
        <p:spPr>
          <a:xfrm>
            <a:off x="486000" y="550723"/>
            <a:ext cx="8172000" cy="338554"/>
          </a:xfrm>
        </p:spPr>
        <p:txBody>
          <a:bodyPr/>
          <a:lstStyle/>
          <a:p>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E4FDA4F9-982A-4A1D-F1F2-07D7E9F12CEC}"/>
              </a:ext>
            </a:extLst>
          </p:cNvPr>
          <p:cNvSpPr>
            <a:spLocks noGrp="1"/>
          </p:cNvSpPr>
          <p:nvPr>
            <p:ph sz="quarter" idx="11"/>
          </p:nvPr>
        </p:nvSpPr>
        <p:spPr>
          <a:xfrm>
            <a:off x="486000" y="900000"/>
            <a:ext cx="8172000" cy="3703500"/>
          </a:xfrm>
        </p:spPr>
        <p:txBody>
          <a:bodyPr/>
          <a:lstStyle/>
          <a:p>
            <a:r>
              <a:rPr lang="zh-CN" altLang="en-US" dirty="0"/>
              <a:t>利用公用互联网作为本机构各专用网之间的通信载体，这样的专用网又称为虚拟专用网</a:t>
            </a:r>
            <a:endParaRPr lang="en-US" altLang="zh-CN" dirty="0"/>
          </a:p>
          <a:p>
            <a:pPr lvl="1"/>
            <a:r>
              <a:rPr lang="en-US" altLang="zh-CN" dirty="0"/>
              <a:t>VPN - Virtual Private Network</a:t>
            </a:r>
            <a:endParaRPr lang="zh-CN" altLang="en-US" dirty="0"/>
          </a:p>
          <a:p>
            <a:r>
              <a:rPr lang="zh-CN" altLang="en-US" dirty="0"/>
              <a:t>专用网：指这种网络是为本机构的主机用于机构内部的通信，而不是用于和网络外非本机构的主机通信</a:t>
            </a:r>
          </a:p>
          <a:p>
            <a:r>
              <a:rPr lang="zh-CN" altLang="en-US" dirty="0"/>
              <a:t>虚拟：表示实际上没有使用通信专线，只是在效果上和真正的专用网一样</a:t>
            </a:r>
          </a:p>
          <a:p>
            <a:endParaRPr lang="zh-CN" altLang="en-US" dirty="0"/>
          </a:p>
        </p:txBody>
      </p:sp>
    </p:spTree>
    <p:extLst>
      <p:ext uri="{BB962C8B-B14F-4D97-AF65-F5344CB8AC3E}">
        <p14:creationId xmlns:p14="http://schemas.microsoft.com/office/powerpoint/2010/main" val="16632828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6CDFBE5-916E-1A9A-B95F-683DB4B7B34C}"/>
              </a:ext>
            </a:extLst>
          </p:cNvPr>
          <p:cNvSpPr>
            <a:spLocks noGrp="1"/>
          </p:cNvSpPr>
          <p:nvPr>
            <p:ph type="title"/>
          </p:nvPr>
        </p:nvSpPr>
        <p:spPr>
          <a:xfrm>
            <a:off x="486000" y="550723"/>
            <a:ext cx="8172000" cy="338554"/>
          </a:xfrm>
        </p:spPr>
        <p:txBody>
          <a:bodyPr/>
          <a:lstStyle/>
          <a:p>
            <a:r>
              <a:rPr lang="zh-CN" altLang="en-US" dirty="0"/>
              <a:t>虚拟专用网 </a:t>
            </a:r>
            <a:r>
              <a:rPr lang="en-US" altLang="zh-CN" dirty="0"/>
              <a:t>VPN </a:t>
            </a:r>
            <a:r>
              <a:rPr lang="zh-CN" altLang="en-US" dirty="0"/>
              <a:t>的构建</a:t>
            </a:r>
          </a:p>
        </p:txBody>
      </p:sp>
      <p:sp>
        <p:nvSpPr>
          <p:cNvPr id="6" name="内容占位符 5">
            <a:extLst>
              <a:ext uri="{FF2B5EF4-FFF2-40B4-BE49-F238E27FC236}">
                <a16:creationId xmlns:a16="http://schemas.microsoft.com/office/drawing/2014/main" id="{8C245875-E25A-CDC4-E80C-3C02F9FA1238}"/>
              </a:ext>
            </a:extLst>
          </p:cNvPr>
          <p:cNvSpPr>
            <a:spLocks noGrp="1"/>
          </p:cNvSpPr>
          <p:nvPr>
            <p:ph sz="quarter" idx="11"/>
          </p:nvPr>
        </p:nvSpPr>
        <p:spPr>
          <a:xfrm>
            <a:off x="486000" y="900000"/>
            <a:ext cx="8172000" cy="3703500"/>
          </a:xfrm>
        </p:spPr>
        <p:txBody>
          <a:bodyPr/>
          <a:lstStyle/>
          <a:p>
            <a:r>
              <a:rPr lang="zh-CN" altLang="en-US" dirty="0"/>
              <a:t>如果专用网不同网点之间的通信必须经过公用的互联网，但又有保密的要求，那么所有通过互联网传送的数据都必须加密</a:t>
            </a:r>
          </a:p>
          <a:p>
            <a:r>
              <a:rPr lang="zh-CN" altLang="en-US" dirty="0"/>
              <a:t>必须为每一个场所购买专门的硬件和软件，并进行配置，使每一个场所的 </a:t>
            </a:r>
            <a:r>
              <a:rPr lang="en-US" altLang="zh-CN" dirty="0"/>
              <a:t>VPN </a:t>
            </a:r>
            <a:r>
              <a:rPr lang="zh-CN" altLang="en-US" dirty="0"/>
              <a:t>系统都知道其他场所的地址</a:t>
            </a:r>
          </a:p>
        </p:txBody>
      </p:sp>
    </p:spTree>
    <p:extLst>
      <p:ext uri="{BB962C8B-B14F-4D97-AF65-F5344CB8AC3E}">
        <p14:creationId xmlns:p14="http://schemas.microsoft.com/office/powerpoint/2010/main" val="9146762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5" name="组合 94"/>
          <p:cNvGrpSpPr/>
          <p:nvPr/>
        </p:nvGrpSpPr>
        <p:grpSpPr>
          <a:xfrm>
            <a:off x="6476177" y="1726593"/>
            <a:ext cx="1061860" cy="1200192"/>
            <a:chOff x="6476177" y="1753752"/>
            <a:chExt cx="1061860" cy="1200192"/>
          </a:xfrm>
        </p:grpSpPr>
        <p:grpSp>
          <p:nvGrpSpPr>
            <p:cNvPr id="67" name="Group 65"/>
            <p:cNvGrpSpPr>
              <a:grpSpLocks/>
            </p:cNvGrpSpPr>
            <p:nvPr/>
          </p:nvGrpSpPr>
          <p:grpSpPr bwMode="auto">
            <a:xfrm>
              <a:off x="6476177" y="1933292"/>
              <a:ext cx="1061860" cy="822867"/>
              <a:chOff x="4656" y="1528"/>
              <a:chExt cx="972" cy="816"/>
            </a:xfrm>
          </p:grpSpPr>
          <p:sp>
            <p:nvSpPr>
              <p:cNvPr id="68"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0"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2" name="Text Box 70"/>
              <p:cNvSpPr txBox="1">
                <a:spLocks noChangeArrowheads="1"/>
              </p:cNvSpPr>
              <p:nvPr/>
            </p:nvSpPr>
            <p:spPr bwMode="auto">
              <a:xfrm>
                <a:off x="5316" y="1729"/>
                <a:ext cx="27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Y</a:t>
                </a:r>
              </a:p>
            </p:txBody>
          </p:sp>
          <p:sp>
            <p:nvSpPr>
              <p:cNvPr id="73" name="Text Box 71"/>
              <p:cNvSpPr txBox="1">
                <a:spLocks noChangeArrowheads="1"/>
              </p:cNvSpPr>
              <p:nvPr/>
            </p:nvSpPr>
            <p:spPr bwMode="auto">
              <a:xfrm>
                <a:off x="4891" y="1955"/>
                <a:ext cx="73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CC00CC"/>
                    </a:solidFill>
                    <a:latin typeface="Montserrat" panose="00000500000000000000" pitchFamily="2" charset="0"/>
                    <a:ea typeface="微软雅黑" pitchFamily="34" charset="-122"/>
                  </a:rPr>
                  <a:t>10.2.0.3</a:t>
                </a:r>
              </a:p>
            </p:txBody>
          </p:sp>
        </p:grpSp>
        <p:pic>
          <p:nvPicPr>
            <p:cNvPr id="92"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0" name="组合 89"/>
          <p:cNvGrpSpPr/>
          <p:nvPr/>
        </p:nvGrpSpPr>
        <p:grpSpPr>
          <a:xfrm>
            <a:off x="1361396" y="1708657"/>
            <a:ext cx="1126315" cy="1290585"/>
            <a:chOff x="1417053" y="1735816"/>
            <a:chExt cx="1126315" cy="1290585"/>
          </a:xfrm>
        </p:grpSpPr>
        <p:grpSp>
          <p:nvGrpSpPr>
            <p:cNvPr id="5" name="Group 2"/>
            <p:cNvGrpSpPr>
              <a:grpSpLocks/>
            </p:cNvGrpSpPr>
            <p:nvPr/>
          </p:nvGrpSpPr>
          <p:grpSpPr bwMode="auto">
            <a:xfrm>
              <a:off x="1417053" y="1981696"/>
              <a:ext cx="1126315" cy="871271"/>
              <a:chOff x="25" y="1576"/>
              <a:chExt cx="1031" cy="864"/>
            </a:xfrm>
          </p:grpSpPr>
          <p:sp>
            <p:nvSpPr>
              <p:cNvPr id="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Text Box 7"/>
              <p:cNvSpPr txBox="1">
                <a:spLocks noChangeArrowheads="1"/>
              </p:cNvSpPr>
              <p:nvPr/>
            </p:nvSpPr>
            <p:spPr bwMode="auto">
              <a:xfrm>
                <a:off x="25" y="1779"/>
                <a:ext cx="283"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X</a:t>
                </a:r>
              </a:p>
            </p:txBody>
          </p:sp>
          <p:sp>
            <p:nvSpPr>
              <p:cNvPr id="11" name="Text Box 8"/>
              <p:cNvSpPr txBox="1">
                <a:spLocks noChangeArrowheads="1"/>
              </p:cNvSpPr>
              <p:nvPr/>
            </p:nvSpPr>
            <p:spPr bwMode="auto">
              <a:xfrm>
                <a:off x="27" y="2031"/>
                <a:ext cx="668"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CC00CC"/>
                    </a:solidFill>
                    <a:latin typeface="Montserrat" panose="00000500000000000000" pitchFamily="2" charset="0"/>
                    <a:ea typeface="微软雅黑" pitchFamily="34" charset="-122"/>
                  </a:rPr>
                  <a:t>10.1.0.1</a:t>
                </a:r>
              </a:p>
            </p:txBody>
          </p:sp>
        </p:grpSp>
        <p:pic>
          <p:nvPicPr>
            <p:cNvPr id="8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4" name="Group 12"/>
          <p:cNvGrpSpPr>
            <a:grpSpLocks/>
          </p:cNvGrpSpPr>
          <p:nvPr/>
        </p:nvGrpSpPr>
        <p:grpSpPr bwMode="auto">
          <a:xfrm>
            <a:off x="2059412" y="1879913"/>
            <a:ext cx="1040013" cy="778496"/>
            <a:chOff x="385" y="2795"/>
            <a:chExt cx="1769" cy="816"/>
          </a:xfrm>
          <a:solidFill>
            <a:srgbClr val="3399FF"/>
          </a:solidFill>
        </p:grpSpPr>
        <p:sp>
          <p:nvSpPr>
            <p:cNvPr id="15"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6"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7"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8"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9"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0"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1"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2"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3"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4"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5"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6"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7"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8"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9"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0"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1"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pSp>
        <p:nvGrpSpPr>
          <p:cNvPr id="32" name="Group 30"/>
          <p:cNvGrpSpPr>
            <a:grpSpLocks/>
          </p:cNvGrpSpPr>
          <p:nvPr/>
        </p:nvGrpSpPr>
        <p:grpSpPr bwMode="auto">
          <a:xfrm>
            <a:off x="5675421" y="1835543"/>
            <a:ext cx="1040013" cy="778496"/>
            <a:chOff x="385" y="2795"/>
            <a:chExt cx="1769" cy="816"/>
          </a:xfrm>
          <a:solidFill>
            <a:srgbClr val="3399FF"/>
          </a:solidFill>
        </p:grpSpPr>
        <p:sp>
          <p:nvSpPr>
            <p:cNvPr id="33"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4"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5"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6"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7"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8"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9"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0"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1"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2"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3"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4"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5"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6"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7"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8"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9"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aphicFrame>
        <p:nvGraphicFramePr>
          <p:cNvPr id="50" name="Object 48"/>
          <p:cNvGraphicFramePr>
            <a:graphicFrameLocks noChangeAspect="1"/>
          </p:cNvGraphicFramePr>
          <p:nvPr>
            <p:extLst>
              <p:ext uri="{D42A27DB-BD31-4B8C-83A1-F6EECF244321}">
                <p14:modId xmlns:p14="http://schemas.microsoft.com/office/powerpoint/2010/main" val="743601559"/>
              </p:ext>
            </p:extLst>
          </p:nvPr>
        </p:nvGraphicFramePr>
        <p:xfrm>
          <a:off x="3539682" y="1777055"/>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4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39682" y="1777055"/>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51"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84242" y="2116892"/>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2"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994549" y="2117900"/>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3" name="Text Box 51"/>
          <p:cNvSpPr txBox="1">
            <a:spLocks noChangeArrowheads="1"/>
          </p:cNvSpPr>
          <p:nvPr/>
        </p:nvSpPr>
        <p:spPr bwMode="auto">
          <a:xfrm>
            <a:off x="2246847" y="2025694"/>
            <a:ext cx="73129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部门 </a:t>
            </a:r>
            <a:r>
              <a:rPr kumimoji="1" lang="en-US" altLang="zh-CN" sz="1400" b="1" dirty="0">
                <a:solidFill>
                  <a:schemeClr val="bg1"/>
                </a:solidFill>
                <a:latin typeface="微软雅黑" pitchFamily="34" charset="-122"/>
                <a:ea typeface="微软雅黑" pitchFamily="34" charset="-122"/>
              </a:rPr>
              <a:t>A</a:t>
            </a:r>
          </a:p>
          <a:p>
            <a:pPr algn="ctr"/>
            <a:r>
              <a:rPr kumimoji="1" lang="zh-CN" altLang="en-US" sz="1400" b="1" dirty="0">
                <a:solidFill>
                  <a:schemeClr val="bg1"/>
                </a:solidFill>
                <a:latin typeface="微软雅黑" pitchFamily="34" charset="-122"/>
                <a:ea typeface="微软雅黑" pitchFamily="34" charset="-122"/>
              </a:rPr>
              <a:t>网络</a:t>
            </a:r>
            <a:endParaRPr kumimoji="1" lang="en-US" altLang="zh-CN" sz="1400" b="1" dirty="0">
              <a:solidFill>
                <a:schemeClr val="bg1"/>
              </a:solidFill>
              <a:latin typeface="微软雅黑" pitchFamily="34" charset="-122"/>
              <a:ea typeface="微软雅黑" pitchFamily="34" charset="-122"/>
            </a:endParaRPr>
          </a:p>
        </p:txBody>
      </p:sp>
      <p:sp>
        <p:nvSpPr>
          <p:cNvPr id="54" name="AutoShape 52"/>
          <p:cNvSpPr>
            <a:spLocks noChangeArrowheads="1"/>
          </p:cNvSpPr>
          <p:nvPr/>
        </p:nvSpPr>
        <p:spPr bwMode="auto">
          <a:xfrm rot="16200000">
            <a:off x="4277337" y="1334865"/>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Text Box 53"/>
          <p:cNvSpPr txBox="1">
            <a:spLocks noChangeArrowheads="1"/>
          </p:cNvSpPr>
          <p:nvPr/>
        </p:nvSpPr>
        <p:spPr bwMode="auto">
          <a:xfrm>
            <a:off x="3986072" y="2352892"/>
            <a:ext cx="81144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pitchFamily="34" charset="-122"/>
              </a:rPr>
              <a:t>Internet</a:t>
            </a:r>
            <a:endParaRPr kumimoji="1" lang="zh-CN" altLang="en-US" sz="1200" dirty="0">
              <a:latin typeface="Montserrat" panose="00000500000000000000" pitchFamily="2" charset="0"/>
              <a:ea typeface="微软雅黑" pitchFamily="34" charset="-122"/>
            </a:endParaRPr>
          </a:p>
        </p:txBody>
      </p:sp>
      <p:sp>
        <p:nvSpPr>
          <p:cNvPr id="56" name="Text Box 54"/>
          <p:cNvSpPr txBox="1">
            <a:spLocks noChangeArrowheads="1"/>
          </p:cNvSpPr>
          <p:nvPr/>
        </p:nvSpPr>
        <p:spPr bwMode="auto">
          <a:xfrm>
            <a:off x="5888549" y="1953577"/>
            <a:ext cx="72006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部门 </a:t>
            </a:r>
            <a:r>
              <a:rPr kumimoji="1" lang="en-US" altLang="zh-CN" sz="1400" b="1" dirty="0">
                <a:solidFill>
                  <a:schemeClr val="bg1"/>
                </a:solidFill>
                <a:latin typeface="微软雅黑" pitchFamily="34" charset="-122"/>
                <a:ea typeface="微软雅黑" pitchFamily="34" charset="-122"/>
              </a:rPr>
              <a:t>B</a:t>
            </a:r>
          </a:p>
          <a:p>
            <a:pPr algn="ctr"/>
            <a:r>
              <a:rPr kumimoji="1" lang="zh-CN" altLang="en-US" sz="1400" b="1" dirty="0">
                <a:solidFill>
                  <a:schemeClr val="bg1"/>
                </a:solidFill>
                <a:latin typeface="微软雅黑" pitchFamily="34" charset="-122"/>
                <a:ea typeface="微软雅黑" pitchFamily="34" charset="-122"/>
              </a:rPr>
              <a:t>网络</a:t>
            </a:r>
            <a:endParaRPr kumimoji="1" lang="en-US" altLang="zh-CN" sz="1400" b="1" dirty="0">
              <a:solidFill>
                <a:schemeClr val="bg1"/>
              </a:solidFill>
              <a:latin typeface="微软雅黑" pitchFamily="34" charset="-122"/>
              <a:ea typeface="微软雅黑" pitchFamily="34" charset="-122"/>
            </a:endParaRPr>
          </a:p>
        </p:txBody>
      </p:sp>
      <p:sp>
        <p:nvSpPr>
          <p:cNvPr id="57" name="Text Box 55"/>
          <p:cNvSpPr txBox="1">
            <a:spLocks noChangeArrowheads="1"/>
          </p:cNvSpPr>
          <p:nvPr/>
        </p:nvSpPr>
        <p:spPr bwMode="auto">
          <a:xfrm>
            <a:off x="3046447" y="2310507"/>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endParaRPr kumimoji="1" lang="en-US" altLang="zh-CN" sz="1400" b="1">
              <a:latin typeface="微软雅黑" pitchFamily="34" charset="-122"/>
              <a:ea typeface="微软雅黑" pitchFamily="34" charset="-122"/>
            </a:endParaRPr>
          </a:p>
        </p:txBody>
      </p:sp>
      <p:sp>
        <p:nvSpPr>
          <p:cNvPr id="58" name="Text Box 56"/>
          <p:cNvSpPr txBox="1">
            <a:spLocks noChangeArrowheads="1"/>
          </p:cNvSpPr>
          <p:nvPr/>
        </p:nvSpPr>
        <p:spPr bwMode="auto">
          <a:xfrm>
            <a:off x="5444374" y="2265129"/>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59" name="Text Box 57"/>
          <p:cNvSpPr txBox="1">
            <a:spLocks noChangeArrowheads="1"/>
          </p:cNvSpPr>
          <p:nvPr/>
        </p:nvSpPr>
        <p:spPr bwMode="auto">
          <a:xfrm>
            <a:off x="3841000" y="2059081"/>
            <a:ext cx="11015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dirty="0">
                <a:solidFill>
                  <a:schemeClr val="bg1"/>
                </a:solidFill>
                <a:latin typeface="Montserrat" panose="00000500000000000000" pitchFamily="2" charset="0"/>
                <a:ea typeface="微软雅黑" pitchFamily="34" charset="-122"/>
              </a:rPr>
              <a:t>Tunneling</a:t>
            </a:r>
            <a:endParaRPr kumimoji="1" lang="zh-CN" altLang="en-US" sz="1400" dirty="0">
              <a:solidFill>
                <a:schemeClr val="bg1"/>
              </a:solidFill>
              <a:latin typeface="Montserrat" panose="00000500000000000000" pitchFamily="2" charset="0"/>
              <a:ea typeface="微软雅黑" pitchFamily="34" charset="-122"/>
            </a:endParaRPr>
          </a:p>
        </p:txBody>
      </p:sp>
      <p:sp>
        <p:nvSpPr>
          <p:cNvPr id="60" name="Line 58"/>
          <p:cNvSpPr>
            <a:spLocks noChangeShapeType="1"/>
          </p:cNvSpPr>
          <p:nvPr/>
        </p:nvSpPr>
        <p:spPr bwMode="auto">
          <a:xfrm>
            <a:off x="3316822"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Line 59"/>
          <p:cNvSpPr>
            <a:spLocks noChangeShapeType="1"/>
          </p:cNvSpPr>
          <p:nvPr/>
        </p:nvSpPr>
        <p:spPr bwMode="auto">
          <a:xfrm>
            <a:off x="5257013"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62" name="Group 60"/>
          <p:cNvGrpSpPr>
            <a:grpSpLocks/>
          </p:cNvGrpSpPr>
          <p:nvPr/>
        </p:nvGrpSpPr>
        <p:grpSpPr bwMode="auto">
          <a:xfrm>
            <a:off x="2944508" y="1689456"/>
            <a:ext cx="3011885" cy="471940"/>
            <a:chOff x="1391" y="1348"/>
            <a:chExt cx="2757" cy="468"/>
          </a:xfrm>
        </p:grpSpPr>
        <p:sp>
          <p:nvSpPr>
            <p:cNvPr id="63" name="Text Box 61"/>
            <p:cNvSpPr txBox="1">
              <a:spLocks noChangeArrowheads="1"/>
            </p:cNvSpPr>
            <p:nvPr/>
          </p:nvSpPr>
          <p:spPr bwMode="auto">
            <a:xfrm>
              <a:off x="1391" y="1348"/>
              <a:ext cx="765"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0000FF"/>
                  </a:solidFill>
                  <a:latin typeface="Montserrat" panose="00000500000000000000" pitchFamily="2" charset="0"/>
                  <a:ea typeface="微软雅黑" pitchFamily="34" charset="-122"/>
                </a:rPr>
                <a:t>125.1.2.3</a:t>
              </a:r>
            </a:p>
          </p:txBody>
        </p:sp>
        <p:sp>
          <p:nvSpPr>
            <p:cNvPr id="64"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5" name="Text Box 63"/>
            <p:cNvSpPr txBox="1">
              <a:spLocks noChangeArrowheads="1"/>
            </p:cNvSpPr>
            <p:nvPr/>
          </p:nvSpPr>
          <p:spPr bwMode="auto">
            <a:xfrm>
              <a:off x="3279" y="1367"/>
              <a:ext cx="869"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solidFill>
                    <a:srgbClr val="0000FF"/>
                  </a:solidFill>
                  <a:latin typeface="Montserrat" panose="00000500000000000000" pitchFamily="2" charset="0"/>
                  <a:ea typeface="微软雅黑" pitchFamily="34" charset="-122"/>
                </a:rPr>
                <a:t>194.4.5.6</a:t>
              </a:r>
            </a:p>
          </p:txBody>
        </p:sp>
        <p:sp>
          <p:nvSpPr>
            <p:cNvPr id="66"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77" name="Text Box 75"/>
          <p:cNvSpPr txBox="1">
            <a:spLocks noChangeArrowheads="1"/>
          </p:cNvSpPr>
          <p:nvPr/>
        </p:nvSpPr>
        <p:spPr bwMode="auto">
          <a:xfrm>
            <a:off x="1942502" y="1316683"/>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dirty="0">
                <a:latin typeface="微软雅黑 Light" panose="020B0502040204020203" pitchFamily="34" charset="-122"/>
                <a:ea typeface="微软雅黑 Light" panose="020B0502040204020203" pitchFamily="34" charset="-122"/>
              </a:rPr>
              <a:t>本地地址</a:t>
            </a:r>
          </a:p>
        </p:txBody>
      </p:sp>
      <p:sp>
        <p:nvSpPr>
          <p:cNvPr id="78" name="Text Box 76"/>
          <p:cNvSpPr txBox="1">
            <a:spLocks noChangeArrowheads="1"/>
          </p:cNvSpPr>
          <p:nvPr/>
        </p:nvSpPr>
        <p:spPr bwMode="auto">
          <a:xfrm>
            <a:off x="5773725" y="1327775"/>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a:latin typeface="微软雅黑 Light" panose="020B0502040204020203" pitchFamily="34" charset="-122"/>
                <a:ea typeface="微软雅黑 Light" panose="020B0502040204020203" pitchFamily="34" charset="-122"/>
              </a:rPr>
              <a:t>本地地址</a:t>
            </a:r>
          </a:p>
        </p:txBody>
      </p:sp>
      <p:sp>
        <p:nvSpPr>
          <p:cNvPr id="79" name="Text Box 77"/>
          <p:cNvSpPr txBox="1">
            <a:spLocks noChangeArrowheads="1"/>
          </p:cNvSpPr>
          <p:nvPr/>
        </p:nvSpPr>
        <p:spPr bwMode="auto">
          <a:xfrm>
            <a:off x="4000851" y="1327775"/>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dirty="0">
                <a:latin typeface="微软雅黑 Light" panose="020B0502040204020203" pitchFamily="34" charset="-122"/>
                <a:ea typeface="微软雅黑 Light" panose="020B0502040204020203" pitchFamily="34" charset="-122"/>
              </a:rPr>
              <a:t>全球地址</a:t>
            </a:r>
          </a:p>
        </p:txBody>
      </p:sp>
      <p:sp>
        <p:nvSpPr>
          <p:cNvPr id="80" name="AutoShape 78"/>
          <p:cNvSpPr>
            <a:spLocks noChangeArrowheads="1"/>
          </p:cNvSpPr>
          <p:nvPr/>
        </p:nvSpPr>
        <p:spPr bwMode="auto">
          <a:xfrm>
            <a:off x="2009160" y="3275559"/>
            <a:ext cx="2427424" cy="618403"/>
          </a:xfrm>
          <a:prstGeom prst="wedgeRoundRectCallout">
            <a:avLst>
              <a:gd name="adj1" fmla="val -24394"/>
              <a:gd name="adj2" fmla="val -166065"/>
              <a:gd name="adj3" fmla="val 16667"/>
            </a:avLst>
          </a:prstGeom>
          <a:noFill/>
          <a:ln w="9525">
            <a:solidFill>
              <a:schemeClr val="tx1"/>
            </a:solidFill>
            <a:miter lim="800000"/>
            <a:headEnd/>
            <a:tailEnd/>
          </a:ln>
          <a:effectLst/>
        </p:spPr>
        <p:txBody>
          <a:bodyPr/>
          <a:lstStyle/>
          <a:p>
            <a:pPr algn="ctr"/>
            <a:endParaRPr lang="zh-CN" altLang="zh-CN" sz="1400" b="1">
              <a:solidFill>
                <a:srgbClr val="000099"/>
              </a:solidFill>
              <a:latin typeface="微软雅黑" pitchFamily="34" charset="-122"/>
              <a:ea typeface="微软雅黑" pitchFamily="34" charset="-122"/>
            </a:endParaRPr>
          </a:p>
        </p:txBody>
      </p:sp>
      <p:sp>
        <p:nvSpPr>
          <p:cNvPr id="81" name="Text Box 81"/>
          <p:cNvSpPr txBox="1">
            <a:spLocks noChangeArrowheads="1"/>
          </p:cNvSpPr>
          <p:nvPr/>
        </p:nvSpPr>
        <p:spPr bwMode="auto">
          <a:xfrm>
            <a:off x="2367366" y="3291694"/>
            <a:ext cx="1697901" cy="58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dirty="0">
                <a:latin typeface="Montserrat" panose="00000500000000000000" pitchFamily="2" charset="0"/>
                <a:ea typeface="微软雅黑 Light" panose="020B0502040204020203" pitchFamily="34" charset="-122"/>
              </a:rPr>
              <a:t>网络地址 </a:t>
            </a:r>
            <a:r>
              <a:rPr lang="en-US" altLang="zh-CN" sz="1400" dirty="0">
                <a:latin typeface="Montserrat" panose="00000500000000000000" pitchFamily="2" charset="0"/>
                <a:ea typeface="微软雅黑 Light" panose="020B0502040204020203" pitchFamily="34" charset="-122"/>
              </a:rPr>
              <a:t>= 10.1.0.0</a:t>
            </a:r>
          </a:p>
          <a:p>
            <a:pPr algn="ctr">
              <a:lnSpc>
                <a:spcPts val="2000"/>
              </a:lnSpc>
            </a:pPr>
            <a:r>
              <a:rPr lang="zh-CN" altLang="en-US" sz="1400" dirty="0">
                <a:latin typeface="Montserrat" panose="00000500000000000000" pitchFamily="2" charset="0"/>
                <a:ea typeface="微软雅黑 Light" panose="020B0502040204020203" pitchFamily="34" charset="-122"/>
              </a:rPr>
              <a:t>（本地地址）</a:t>
            </a:r>
          </a:p>
        </p:txBody>
      </p:sp>
      <p:sp>
        <p:nvSpPr>
          <p:cNvPr id="82" name="AutoShape 83"/>
          <p:cNvSpPr>
            <a:spLocks noChangeArrowheads="1"/>
          </p:cNvSpPr>
          <p:nvPr/>
        </p:nvSpPr>
        <p:spPr bwMode="auto">
          <a:xfrm>
            <a:off x="4932556" y="3275559"/>
            <a:ext cx="2427424" cy="618403"/>
          </a:xfrm>
          <a:prstGeom prst="wedgeRoundRectCallout">
            <a:avLst>
              <a:gd name="adj1" fmla="val -2116"/>
              <a:gd name="adj2" fmla="val -191574"/>
              <a:gd name="adj3" fmla="val 16667"/>
            </a:avLst>
          </a:prstGeom>
          <a:noFill/>
          <a:ln w="9525">
            <a:solidFill>
              <a:schemeClr val="tx1"/>
            </a:solidFill>
            <a:miter lim="800000"/>
            <a:headEnd/>
            <a:tailEnd/>
          </a:ln>
          <a:effectLst/>
        </p:spPr>
        <p:txBody>
          <a:bodyPr/>
          <a:lstStyle/>
          <a:p>
            <a:pPr algn="ctr"/>
            <a:endParaRPr lang="zh-CN" altLang="zh-CN" sz="1400" b="1">
              <a:solidFill>
                <a:srgbClr val="000099"/>
              </a:solidFill>
              <a:latin typeface="微软雅黑" pitchFamily="34" charset="-122"/>
              <a:ea typeface="微软雅黑" pitchFamily="34" charset="-122"/>
            </a:endParaRPr>
          </a:p>
        </p:txBody>
      </p:sp>
      <p:sp>
        <p:nvSpPr>
          <p:cNvPr id="83" name="Text Box 82"/>
          <p:cNvSpPr txBox="1">
            <a:spLocks noChangeArrowheads="1"/>
          </p:cNvSpPr>
          <p:nvPr/>
        </p:nvSpPr>
        <p:spPr bwMode="auto">
          <a:xfrm>
            <a:off x="5271526" y="3288669"/>
            <a:ext cx="1736373" cy="58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dirty="0">
                <a:latin typeface="Montserrat" panose="00000500000000000000" pitchFamily="2" charset="0"/>
                <a:ea typeface="微软雅黑 Light" panose="020B0502040204020203" pitchFamily="34" charset="-122"/>
              </a:rPr>
              <a:t>网络地址 </a:t>
            </a:r>
            <a:r>
              <a:rPr lang="en-US" altLang="zh-CN" sz="1400" dirty="0">
                <a:latin typeface="Montserrat" panose="00000500000000000000" pitchFamily="2" charset="0"/>
                <a:ea typeface="微软雅黑 Light" panose="020B0502040204020203" pitchFamily="34" charset="-122"/>
              </a:rPr>
              <a:t>= 10.2.0.0</a:t>
            </a:r>
          </a:p>
          <a:p>
            <a:pPr algn="ctr">
              <a:lnSpc>
                <a:spcPts val="2000"/>
              </a:lnSpc>
            </a:pPr>
            <a:r>
              <a:rPr lang="zh-CN" altLang="en-US" sz="1400" dirty="0">
                <a:latin typeface="Montserrat" panose="00000500000000000000" pitchFamily="2" charset="0"/>
                <a:ea typeface="微软雅黑 Light" panose="020B0502040204020203" pitchFamily="34" charset="-122"/>
              </a:rPr>
              <a:t>（本地地址）</a:t>
            </a:r>
          </a:p>
        </p:txBody>
      </p:sp>
      <p:sp>
        <p:nvSpPr>
          <p:cNvPr id="9" name="标题 8">
            <a:extLst>
              <a:ext uri="{FF2B5EF4-FFF2-40B4-BE49-F238E27FC236}">
                <a16:creationId xmlns:a16="http://schemas.microsoft.com/office/drawing/2014/main" id="{829E4071-1B87-8798-6CF2-DBD1036DBFC6}"/>
              </a:ext>
            </a:extLst>
          </p:cNvPr>
          <p:cNvSpPr>
            <a:spLocks noGrp="1"/>
          </p:cNvSpPr>
          <p:nvPr>
            <p:ph type="title"/>
          </p:nvPr>
        </p:nvSpPr>
        <p:spPr>
          <a:xfrm>
            <a:off x="486000" y="550723"/>
            <a:ext cx="8172000" cy="338554"/>
          </a:xfrm>
        </p:spPr>
        <p:txBody>
          <a:bodyPr/>
          <a:lstStyle/>
          <a:p>
            <a:r>
              <a:rPr lang="zh-CN" altLang="en-US" dirty="0"/>
              <a:t>用隧道技术实现虚拟专用网</a:t>
            </a:r>
          </a:p>
        </p:txBody>
      </p:sp>
    </p:spTree>
    <p:extLst>
      <p:ext uri="{BB962C8B-B14F-4D97-AF65-F5344CB8AC3E}">
        <p14:creationId xmlns:p14="http://schemas.microsoft.com/office/powerpoint/2010/main" val="20963570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7"/>
                                        </p:tgtEl>
                                        <p:attrNameLst>
                                          <p:attrName>style.visibility</p:attrName>
                                        </p:attrNameLst>
                                      </p:cBhvr>
                                      <p:to>
                                        <p:strVal val="visible"/>
                                      </p:to>
                                    </p:set>
                                  </p:childTnLst>
                                </p:cTn>
                              </p:par>
                              <p:par>
                                <p:cTn id="7" presetID="35" presetClass="emph" presetSubtype="0" repeatCount="3000" fill="hold" nodeType="withEffect">
                                  <p:stCondLst>
                                    <p:cond delay="0"/>
                                  </p:stCondLst>
                                  <p:childTnLst>
                                    <p:anim calcmode="discrete" valueType="str">
                                      <p:cBhvr>
                                        <p:cTn id="8" dur="1000" fill="hold"/>
                                        <p:tgtEl>
                                          <p:spTgt spid="90"/>
                                        </p:tgtEl>
                                        <p:attrNameLst>
                                          <p:attrName>style.visibility</p:attrName>
                                        </p:attrNameLst>
                                      </p:cBhvr>
                                      <p:tavLst>
                                        <p:tav tm="0">
                                          <p:val>
                                            <p:strVal val="hidden"/>
                                          </p:val>
                                        </p:tav>
                                        <p:tav tm="50000">
                                          <p:val>
                                            <p:strVal val="visible"/>
                                          </p:val>
                                        </p:tav>
                                      </p:tavLst>
                                    </p:anim>
                                  </p:childTnLst>
                                </p:cTn>
                              </p:par>
                              <p:par>
                                <p:cTn id="9" presetID="1" presetClass="entr" presetSubtype="0" fill="hold" grpId="0" nodeType="withEffect">
                                  <p:stCondLst>
                                    <p:cond delay="0"/>
                                  </p:stCondLst>
                                  <p:childTnLst>
                                    <p:set>
                                      <p:cBhvr>
                                        <p:cTn id="10" dur="1" fill="hold">
                                          <p:stCondLst>
                                            <p:cond delay="0"/>
                                          </p:stCondLst>
                                        </p:cTn>
                                        <p:tgtEl>
                                          <p:spTgt spid="78"/>
                                        </p:tgtEl>
                                        <p:attrNameLst>
                                          <p:attrName>style.visibility</p:attrName>
                                        </p:attrNameLst>
                                      </p:cBhvr>
                                      <p:to>
                                        <p:strVal val="visible"/>
                                      </p:to>
                                    </p:set>
                                  </p:childTnLst>
                                </p:cTn>
                              </p:par>
                              <p:par>
                                <p:cTn id="11" presetID="35" presetClass="emph" presetSubtype="0" repeatCount="3000" fill="hold" nodeType="withEffect">
                                  <p:stCondLst>
                                    <p:cond delay="0"/>
                                  </p:stCondLst>
                                  <p:childTnLst>
                                    <p:anim calcmode="discrete" valueType="str">
                                      <p:cBhvr>
                                        <p:cTn id="12" dur="1000" fill="hold"/>
                                        <p:tgtEl>
                                          <p:spTgt spid="95"/>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9"/>
                                        </p:tgtEl>
                                        <p:attrNameLst>
                                          <p:attrName>style.visibility</p:attrName>
                                        </p:attrNameLst>
                                      </p:cBhvr>
                                      <p:to>
                                        <p:strVal val="visible"/>
                                      </p:to>
                                    </p:set>
                                  </p:childTnLst>
                                </p:cTn>
                              </p:par>
                            </p:childTnLst>
                          </p:cTn>
                        </p:par>
                        <p:par>
                          <p:cTn id="17" fill="hold">
                            <p:stCondLst>
                              <p:cond delay="0"/>
                            </p:stCondLst>
                            <p:childTnLst>
                              <p:par>
                                <p:cTn id="18" presetID="35" presetClass="emph" presetSubtype="0" repeatCount="3000" fill="hold" nodeType="afterEffect">
                                  <p:stCondLst>
                                    <p:cond delay="0"/>
                                  </p:stCondLst>
                                  <p:childTnLst>
                                    <p:anim calcmode="discrete" valueType="str">
                                      <p:cBhvr>
                                        <p:cTn id="19"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 grpId="0"/>
      <p:bldP spid="78" grpId="0"/>
      <p:bldP spid="79" grpId="0"/>
    </p:bldLst>
  </p:timing>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1" name="组合 80"/>
          <p:cNvGrpSpPr/>
          <p:nvPr/>
        </p:nvGrpSpPr>
        <p:grpSpPr>
          <a:xfrm>
            <a:off x="6581684" y="1509122"/>
            <a:ext cx="1104466" cy="1200192"/>
            <a:chOff x="6476180" y="1753752"/>
            <a:chExt cx="1104466" cy="1200192"/>
          </a:xfrm>
        </p:grpSpPr>
        <p:grpSp>
          <p:nvGrpSpPr>
            <p:cNvPr id="82" name="Group 65"/>
            <p:cNvGrpSpPr>
              <a:grpSpLocks/>
            </p:cNvGrpSpPr>
            <p:nvPr/>
          </p:nvGrpSpPr>
          <p:grpSpPr bwMode="auto">
            <a:xfrm>
              <a:off x="6476180" y="1933292"/>
              <a:ext cx="1104466" cy="822867"/>
              <a:chOff x="4656" y="1528"/>
              <a:chExt cx="1011" cy="816"/>
            </a:xfrm>
          </p:grpSpPr>
          <p:sp>
            <p:nvSpPr>
              <p:cNvPr id="86"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7"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8"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9" name="Text Box 70"/>
              <p:cNvSpPr txBox="1">
                <a:spLocks noChangeArrowheads="1"/>
              </p:cNvSpPr>
              <p:nvPr/>
            </p:nvSpPr>
            <p:spPr bwMode="auto">
              <a:xfrm>
                <a:off x="5316" y="1729"/>
                <a:ext cx="27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Y</a:t>
                </a:r>
              </a:p>
            </p:txBody>
          </p:sp>
          <p:sp>
            <p:nvSpPr>
              <p:cNvPr id="90" name="Text Box 71"/>
              <p:cNvSpPr txBox="1">
                <a:spLocks noChangeArrowheads="1"/>
              </p:cNvSpPr>
              <p:nvPr/>
            </p:nvSpPr>
            <p:spPr bwMode="auto">
              <a:xfrm>
                <a:off x="4851" y="1955"/>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10.2.0.3</a:t>
                </a:r>
              </a:p>
            </p:txBody>
          </p:sp>
        </p:grpSp>
        <p:pic>
          <p:nvPicPr>
            <p:cNvPr id="8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1" name="组合 90"/>
          <p:cNvGrpSpPr/>
          <p:nvPr/>
        </p:nvGrpSpPr>
        <p:grpSpPr>
          <a:xfrm>
            <a:off x="1388244" y="1491186"/>
            <a:ext cx="1204971" cy="1290585"/>
            <a:chOff x="1338397" y="1735816"/>
            <a:chExt cx="1204971" cy="1290585"/>
          </a:xfrm>
        </p:grpSpPr>
        <p:grpSp>
          <p:nvGrpSpPr>
            <p:cNvPr id="92" name="Group 2"/>
            <p:cNvGrpSpPr>
              <a:grpSpLocks/>
            </p:cNvGrpSpPr>
            <p:nvPr/>
          </p:nvGrpSpPr>
          <p:grpSpPr bwMode="auto">
            <a:xfrm>
              <a:off x="1338397" y="1981696"/>
              <a:ext cx="1204971" cy="871271"/>
              <a:chOff x="-47" y="1576"/>
              <a:chExt cx="1103" cy="864"/>
            </a:xfrm>
          </p:grpSpPr>
          <p:sp>
            <p:nvSpPr>
              <p:cNvPr id="9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9" name="Text Box 7"/>
              <p:cNvSpPr txBox="1">
                <a:spLocks noChangeArrowheads="1"/>
              </p:cNvSpPr>
              <p:nvPr/>
            </p:nvSpPr>
            <p:spPr bwMode="auto">
              <a:xfrm>
                <a:off x="25" y="1779"/>
                <a:ext cx="283"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X</a:t>
                </a:r>
              </a:p>
            </p:txBody>
          </p:sp>
          <p:sp>
            <p:nvSpPr>
              <p:cNvPr id="100" name="Text Box 8"/>
              <p:cNvSpPr txBox="1">
                <a:spLocks noChangeArrowheads="1"/>
              </p:cNvSpPr>
              <p:nvPr/>
            </p:nvSpPr>
            <p:spPr bwMode="auto">
              <a:xfrm>
                <a:off x="-47" y="2031"/>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10.1.0.1</a:t>
                </a:r>
              </a:p>
            </p:txBody>
          </p:sp>
        </p:grpSp>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1" name="Group 12"/>
          <p:cNvGrpSpPr>
            <a:grpSpLocks/>
          </p:cNvGrpSpPr>
          <p:nvPr/>
        </p:nvGrpSpPr>
        <p:grpSpPr bwMode="auto">
          <a:xfrm>
            <a:off x="2164916" y="1662442"/>
            <a:ext cx="1040013" cy="778496"/>
            <a:chOff x="385" y="2795"/>
            <a:chExt cx="1769" cy="816"/>
          </a:xfrm>
          <a:solidFill>
            <a:srgbClr val="3399FF"/>
          </a:solidFill>
        </p:grpSpPr>
        <p:sp>
          <p:nvSpPr>
            <p:cNvPr id="102"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3"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4"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5"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6"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7"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8"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9"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0"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1"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2"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3"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4"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5"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6"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7"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8"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pSp>
        <p:nvGrpSpPr>
          <p:cNvPr id="119" name="Group 30"/>
          <p:cNvGrpSpPr>
            <a:grpSpLocks/>
          </p:cNvGrpSpPr>
          <p:nvPr/>
        </p:nvGrpSpPr>
        <p:grpSpPr bwMode="auto">
          <a:xfrm>
            <a:off x="5780925" y="1618072"/>
            <a:ext cx="1040013" cy="778496"/>
            <a:chOff x="385" y="2795"/>
            <a:chExt cx="1769" cy="816"/>
          </a:xfrm>
          <a:solidFill>
            <a:srgbClr val="3399FF"/>
          </a:solidFill>
        </p:grpSpPr>
        <p:sp>
          <p:nvSpPr>
            <p:cNvPr id="120"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1"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2"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3"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4"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5"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6"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7"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8"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9"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0"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2"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3"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4"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5"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6"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aphicFrame>
        <p:nvGraphicFramePr>
          <p:cNvPr id="137" name="Object 48"/>
          <p:cNvGraphicFramePr>
            <a:graphicFrameLocks noChangeAspect="1"/>
          </p:cNvGraphicFramePr>
          <p:nvPr>
            <p:extLst>
              <p:ext uri="{D42A27DB-BD31-4B8C-83A1-F6EECF244321}">
                <p14:modId xmlns:p14="http://schemas.microsoft.com/office/powerpoint/2010/main" val="3918792276"/>
              </p:ext>
            </p:extLst>
          </p:nvPr>
        </p:nvGraphicFramePr>
        <p:xfrm>
          <a:off x="3645186" y="1559584"/>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45186" y="1559584"/>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138"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589746" y="1899421"/>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9"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100053" y="1900429"/>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0" name="Text Box 51"/>
          <p:cNvSpPr txBox="1">
            <a:spLocks noChangeArrowheads="1"/>
          </p:cNvSpPr>
          <p:nvPr/>
        </p:nvSpPr>
        <p:spPr bwMode="auto">
          <a:xfrm>
            <a:off x="2359666" y="1874058"/>
            <a:ext cx="6543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1" name="AutoShape 52"/>
          <p:cNvSpPr>
            <a:spLocks noChangeArrowheads="1"/>
          </p:cNvSpPr>
          <p:nvPr/>
        </p:nvSpPr>
        <p:spPr bwMode="auto">
          <a:xfrm rot="16200000">
            <a:off x="4382841" y="1117394"/>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2" name="Text Box 53"/>
          <p:cNvSpPr txBox="1">
            <a:spLocks noChangeArrowheads="1"/>
          </p:cNvSpPr>
          <p:nvPr/>
        </p:nvSpPr>
        <p:spPr bwMode="auto">
          <a:xfrm>
            <a:off x="4228781" y="213542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互联网</a:t>
            </a:r>
            <a:endParaRPr kumimoji="1" lang="zh-CN" altLang="en-US" sz="1400" b="1" dirty="0">
              <a:solidFill>
                <a:srgbClr val="0000FF"/>
              </a:solidFill>
              <a:latin typeface="微软雅黑" pitchFamily="34" charset="-122"/>
              <a:ea typeface="微软雅黑" pitchFamily="34" charset="-122"/>
            </a:endParaRPr>
          </a:p>
        </p:txBody>
      </p:sp>
      <p:sp>
        <p:nvSpPr>
          <p:cNvPr id="143" name="Text Box 54"/>
          <p:cNvSpPr txBox="1">
            <a:spLocks noChangeArrowheads="1"/>
          </p:cNvSpPr>
          <p:nvPr/>
        </p:nvSpPr>
        <p:spPr bwMode="auto">
          <a:xfrm>
            <a:off x="6001368" y="1801941"/>
            <a:ext cx="64472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4" name="Text Box 55"/>
          <p:cNvSpPr txBox="1">
            <a:spLocks noChangeArrowheads="1"/>
          </p:cNvSpPr>
          <p:nvPr/>
        </p:nvSpPr>
        <p:spPr bwMode="auto">
          <a:xfrm>
            <a:off x="3151951" y="2093036"/>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endParaRPr kumimoji="1" lang="en-US" altLang="zh-CN" sz="1400" b="1">
              <a:latin typeface="微软雅黑" pitchFamily="34" charset="-122"/>
              <a:ea typeface="微软雅黑" pitchFamily="34" charset="-122"/>
            </a:endParaRPr>
          </a:p>
        </p:txBody>
      </p:sp>
      <p:sp>
        <p:nvSpPr>
          <p:cNvPr id="145" name="Text Box 56"/>
          <p:cNvSpPr txBox="1">
            <a:spLocks noChangeArrowheads="1"/>
          </p:cNvSpPr>
          <p:nvPr/>
        </p:nvSpPr>
        <p:spPr bwMode="auto">
          <a:xfrm>
            <a:off x="5549878" y="2047658"/>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146" name="Text Box 57"/>
          <p:cNvSpPr txBox="1">
            <a:spLocks noChangeArrowheads="1"/>
          </p:cNvSpPr>
          <p:nvPr/>
        </p:nvSpPr>
        <p:spPr bwMode="auto">
          <a:xfrm>
            <a:off x="4318602" y="184161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FFFF00"/>
                </a:solidFill>
                <a:latin typeface="微软雅黑" pitchFamily="34" charset="-122"/>
                <a:ea typeface="微软雅黑" pitchFamily="34" charset="-122"/>
              </a:rPr>
              <a:t>隧道</a:t>
            </a:r>
          </a:p>
        </p:txBody>
      </p:sp>
      <p:sp>
        <p:nvSpPr>
          <p:cNvPr id="147" name="Line 58"/>
          <p:cNvSpPr>
            <a:spLocks noChangeShapeType="1"/>
          </p:cNvSpPr>
          <p:nvPr/>
        </p:nvSpPr>
        <p:spPr bwMode="auto">
          <a:xfrm>
            <a:off x="3422326"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8" name="Line 59"/>
          <p:cNvSpPr>
            <a:spLocks noChangeShapeType="1"/>
          </p:cNvSpPr>
          <p:nvPr/>
        </p:nvSpPr>
        <p:spPr bwMode="auto">
          <a:xfrm>
            <a:off x="5362517"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149" name="Group 60"/>
          <p:cNvGrpSpPr>
            <a:grpSpLocks/>
          </p:cNvGrpSpPr>
          <p:nvPr/>
        </p:nvGrpSpPr>
        <p:grpSpPr bwMode="auto">
          <a:xfrm>
            <a:off x="2966985" y="1471985"/>
            <a:ext cx="3121130" cy="471940"/>
            <a:chOff x="1315" y="1348"/>
            <a:chExt cx="2857" cy="468"/>
          </a:xfrm>
        </p:grpSpPr>
        <p:sp>
          <p:nvSpPr>
            <p:cNvPr id="150" name="Text Box 61"/>
            <p:cNvSpPr txBox="1">
              <a:spLocks noChangeArrowheads="1"/>
            </p:cNvSpPr>
            <p:nvPr/>
          </p:nvSpPr>
          <p:spPr bwMode="auto">
            <a:xfrm>
              <a:off x="1315" y="1348"/>
              <a:ext cx="91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0000FF"/>
                  </a:solidFill>
                  <a:latin typeface="微软雅黑" pitchFamily="34" charset="-122"/>
                  <a:ea typeface="微软雅黑" pitchFamily="34" charset="-122"/>
                </a:rPr>
                <a:t>125.1.2.3</a:t>
              </a:r>
            </a:p>
          </p:txBody>
        </p:sp>
        <p:sp>
          <p:nvSpPr>
            <p:cNvPr id="151"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2" name="Text Box 63"/>
            <p:cNvSpPr txBox="1">
              <a:spLocks noChangeArrowheads="1"/>
            </p:cNvSpPr>
            <p:nvPr/>
          </p:nvSpPr>
          <p:spPr bwMode="auto">
            <a:xfrm>
              <a:off x="3255" y="1367"/>
              <a:ext cx="917"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dirty="0">
                  <a:solidFill>
                    <a:srgbClr val="0000FF"/>
                  </a:solidFill>
                  <a:latin typeface="微软雅黑" pitchFamily="34" charset="-122"/>
                  <a:ea typeface="微软雅黑" pitchFamily="34" charset="-122"/>
                </a:rPr>
                <a:t>194.4.5.6</a:t>
              </a:r>
            </a:p>
          </p:txBody>
        </p:sp>
        <p:sp>
          <p:nvSpPr>
            <p:cNvPr id="153"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54" name="Text Box 74"/>
          <p:cNvSpPr txBox="1">
            <a:spLocks noChangeArrowheads="1"/>
          </p:cNvSpPr>
          <p:nvPr/>
        </p:nvSpPr>
        <p:spPr bwMode="auto">
          <a:xfrm>
            <a:off x="3961781" y="2554981"/>
            <a:ext cx="12618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使用隧道技术</a:t>
            </a:r>
          </a:p>
        </p:txBody>
      </p:sp>
      <p:grpSp>
        <p:nvGrpSpPr>
          <p:cNvPr id="167" name="组合 166"/>
          <p:cNvGrpSpPr/>
          <p:nvPr/>
        </p:nvGrpSpPr>
        <p:grpSpPr>
          <a:xfrm>
            <a:off x="2197642" y="647170"/>
            <a:ext cx="4638805" cy="1379806"/>
            <a:chOff x="1020356" y="143391"/>
            <a:chExt cx="7728444" cy="2298816"/>
          </a:xfrm>
        </p:grpSpPr>
        <p:sp>
          <p:nvSpPr>
            <p:cNvPr id="158" name="AutoShape 75"/>
            <p:cNvSpPr>
              <a:spLocks noChangeArrowheads="1"/>
            </p:cNvSpPr>
            <p:nvPr/>
          </p:nvSpPr>
          <p:spPr bwMode="auto">
            <a:xfrm>
              <a:off x="6246803" y="1107355"/>
              <a:ext cx="495300" cy="152400"/>
            </a:xfrm>
            <a:prstGeom prst="rightArrow">
              <a:avLst>
                <a:gd name="adj1" fmla="val 50000"/>
                <a:gd name="adj2" fmla="val 75000"/>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9" name="Rectangle 76"/>
            <p:cNvSpPr>
              <a:spLocks noChangeArrowheads="1"/>
            </p:cNvSpPr>
            <p:nvPr/>
          </p:nvSpPr>
          <p:spPr bwMode="auto">
            <a:xfrm>
              <a:off x="1020356" y="332656"/>
              <a:ext cx="3666596" cy="4349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加密的从 </a:t>
              </a:r>
              <a:r>
                <a:rPr kumimoji="1" lang="en-US" altLang="zh-CN" sz="1200" b="1" dirty="0">
                  <a:latin typeface="微软雅黑" pitchFamily="34" charset="-122"/>
                  <a:ea typeface="微软雅黑" pitchFamily="34" charset="-122"/>
                </a:rPr>
                <a:t>X </a:t>
              </a:r>
              <a:r>
                <a:rPr kumimoji="1" lang="zh-CN" altLang="en-US" sz="1200" b="1" dirty="0">
                  <a:latin typeface="微软雅黑" pitchFamily="34" charset="-122"/>
                  <a:ea typeface="微软雅黑" pitchFamily="34" charset="-122"/>
                </a:rPr>
                <a:t>到 </a:t>
              </a:r>
              <a:r>
                <a:rPr kumimoji="1" lang="en-US" altLang="zh-CN" sz="1200" b="1" dirty="0">
                  <a:latin typeface="微软雅黑" pitchFamily="34" charset="-122"/>
                  <a:ea typeface="微软雅黑" pitchFamily="34" charset="-122"/>
                </a:rPr>
                <a:t>Y </a:t>
              </a:r>
              <a:r>
                <a:rPr kumimoji="1" lang="zh-CN" altLang="en-US" sz="1200" b="1" dirty="0">
                  <a:latin typeface="微软雅黑" pitchFamily="34" charset="-122"/>
                  <a:ea typeface="微软雅黑" pitchFamily="34" charset="-122"/>
                </a:rPr>
                <a:t>的内部数据报</a:t>
              </a:r>
            </a:p>
          </p:txBody>
        </p:sp>
        <p:sp>
          <p:nvSpPr>
            <p:cNvPr id="160" name="Rectangle 77"/>
            <p:cNvSpPr>
              <a:spLocks noChangeArrowheads="1"/>
            </p:cNvSpPr>
            <p:nvPr/>
          </p:nvSpPr>
          <p:spPr bwMode="auto">
            <a:xfrm>
              <a:off x="1020356" y="983530"/>
              <a:ext cx="3709591" cy="3968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外部数据报的数据部分</a:t>
              </a:r>
            </a:p>
          </p:txBody>
        </p:sp>
        <p:sp>
          <p:nvSpPr>
            <p:cNvPr id="161" name="AutoShape 78"/>
            <p:cNvSpPr>
              <a:spLocks noChangeArrowheads="1"/>
            </p:cNvSpPr>
            <p:nvPr/>
          </p:nvSpPr>
          <p:spPr bwMode="auto">
            <a:xfrm>
              <a:off x="3679179" y="702441"/>
              <a:ext cx="302683" cy="346075"/>
            </a:xfrm>
            <a:prstGeom prst="downArrow">
              <a:avLst>
                <a:gd name="adj1" fmla="val 50000"/>
                <a:gd name="adj2" fmla="val 75000"/>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162" name="Text Box 79"/>
            <p:cNvSpPr txBox="1">
              <a:spLocks noChangeArrowheads="1"/>
            </p:cNvSpPr>
            <p:nvPr/>
          </p:nvSpPr>
          <p:spPr bwMode="auto">
            <a:xfrm>
              <a:off x="5997475" y="143391"/>
              <a:ext cx="2751325" cy="769154"/>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solidFill>
                    <a:schemeClr val="bg1"/>
                  </a:solidFill>
                  <a:latin typeface="微软雅黑" pitchFamily="34" charset="-122"/>
                  <a:ea typeface="微软雅黑" pitchFamily="34" charset="-122"/>
                </a:rPr>
                <a:t>源地址：</a:t>
              </a:r>
              <a:r>
                <a:rPr kumimoji="1" lang="en-US" altLang="zh-CN" sz="1200" b="1" dirty="0">
                  <a:solidFill>
                    <a:schemeClr val="bg1"/>
                  </a:solidFill>
                  <a:latin typeface="微软雅黑" pitchFamily="34" charset="-122"/>
                  <a:ea typeface="微软雅黑" pitchFamily="34" charset="-122"/>
                </a:rPr>
                <a:t>125.1.2.3</a:t>
              </a:r>
            </a:p>
            <a:p>
              <a:pPr algn="r"/>
              <a:r>
                <a:rPr kumimoji="1" lang="zh-CN" altLang="en-US" sz="1200" b="1" dirty="0">
                  <a:solidFill>
                    <a:schemeClr val="bg1"/>
                  </a:solidFill>
                  <a:latin typeface="微软雅黑" pitchFamily="34" charset="-122"/>
                  <a:ea typeface="微软雅黑" pitchFamily="34" charset="-122"/>
                </a:rPr>
                <a:t>目的地址：</a:t>
              </a:r>
              <a:r>
                <a:rPr kumimoji="1" lang="en-US" altLang="zh-CN" sz="1200" b="1" dirty="0">
                  <a:solidFill>
                    <a:schemeClr val="bg1"/>
                  </a:solidFill>
                  <a:latin typeface="微软雅黑" pitchFamily="34" charset="-122"/>
                  <a:ea typeface="微软雅黑" pitchFamily="34" charset="-122"/>
                </a:rPr>
                <a:t>194.4.5.6</a:t>
              </a:r>
            </a:p>
          </p:txBody>
        </p:sp>
        <p:sp>
          <p:nvSpPr>
            <p:cNvPr id="163" name="Freeform 80"/>
            <p:cNvSpPr>
              <a:spLocks/>
            </p:cNvSpPr>
            <p:nvPr/>
          </p:nvSpPr>
          <p:spPr bwMode="auto">
            <a:xfrm>
              <a:off x="4054069" y="1488356"/>
              <a:ext cx="502178" cy="953851"/>
            </a:xfrm>
            <a:custGeom>
              <a:avLst/>
              <a:gdLst>
                <a:gd name="T0" fmla="*/ 0 w 292"/>
                <a:gd name="T1" fmla="*/ 0 h 584"/>
                <a:gd name="T2" fmla="*/ 4 w 292"/>
                <a:gd name="T3" fmla="*/ 126 h 584"/>
                <a:gd name="T4" fmla="*/ 22 w 292"/>
                <a:gd name="T5" fmla="*/ 282 h 584"/>
                <a:gd name="T6" fmla="*/ 46 w 292"/>
                <a:gd name="T7" fmla="*/ 390 h 584"/>
                <a:gd name="T8" fmla="*/ 96 w 292"/>
                <a:gd name="T9" fmla="*/ 488 h 584"/>
                <a:gd name="T10" fmla="*/ 184 w 292"/>
                <a:gd name="T11" fmla="*/ 560 h 584"/>
                <a:gd name="T12" fmla="*/ 292 w 292"/>
                <a:gd name="T13" fmla="*/ 584 h 584"/>
              </a:gdLst>
              <a:ahLst/>
              <a:cxnLst>
                <a:cxn ang="0">
                  <a:pos x="T0" y="T1"/>
                </a:cxn>
                <a:cxn ang="0">
                  <a:pos x="T2" y="T3"/>
                </a:cxn>
                <a:cxn ang="0">
                  <a:pos x="T4" y="T5"/>
                </a:cxn>
                <a:cxn ang="0">
                  <a:pos x="T6" y="T7"/>
                </a:cxn>
                <a:cxn ang="0">
                  <a:pos x="T8" y="T9"/>
                </a:cxn>
                <a:cxn ang="0">
                  <a:pos x="T10" y="T11"/>
                </a:cxn>
                <a:cxn ang="0">
                  <a:pos x="T12" y="T13"/>
                </a:cxn>
              </a:cxnLst>
              <a:rect l="0" t="0" r="r" b="b"/>
              <a:pathLst>
                <a:path w="292" h="584">
                  <a:moveTo>
                    <a:pt x="0" y="0"/>
                  </a:moveTo>
                  <a:cubicBezTo>
                    <a:pt x="1" y="21"/>
                    <a:pt x="0" y="79"/>
                    <a:pt x="4" y="126"/>
                  </a:cubicBezTo>
                  <a:cubicBezTo>
                    <a:pt x="8" y="173"/>
                    <a:pt x="15" y="238"/>
                    <a:pt x="22" y="282"/>
                  </a:cubicBezTo>
                  <a:cubicBezTo>
                    <a:pt x="29" y="326"/>
                    <a:pt x="34" y="356"/>
                    <a:pt x="46" y="390"/>
                  </a:cubicBezTo>
                  <a:cubicBezTo>
                    <a:pt x="58" y="424"/>
                    <a:pt x="73" y="460"/>
                    <a:pt x="96" y="488"/>
                  </a:cubicBezTo>
                  <a:cubicBezTo>
                    <a:pt x="119" y="516"/>
                    <a:pt x="151" y="544"/>
                    <a:pt x="184" y="560"/>
                  </a:cubicBezTo>
                  <a:cubicBezTo>
                    <a:pt x="217" y="576"/>
                    <a:pt x="270" y="579"/>
                    <a:pt x="292" y="584"/>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4" name="Rectangle 81"/>
            <p:cNvSpPr>
              <a:spLocks noChangeArrowheads="1"/>
            </p:cNvSpPr>
            <p:nvPr/>
          </p:nvSpPr>
          <p:spPr bwMode="auto">
            <a:xfrm>
              <a:off x="4686952" y="983530"/>
              <a:ext cx="1559852" cy="396875"/>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数据报首部</a:t>
              </a:r>
            </a:p>
          </p:txBody>
        </p:sp>
        <p:sp>
          <p:nvSpPr>
            <p:cNvPr id="165" name="Line 82"/>
            <p:cNvSpPr>
              <a:spLocks noChangeShapeType="1"/>
            </p:cNvSpPr>
            <p:nvPr/>
          </p:nvSpPr>
          <p:spPr bwMode="auto">
            <a:xfrm flipH="1">
              <a:off x="5637345" y="767630"/>
              <a:ext cx="467783" cy="28733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6" name="Line 83"/>
            <p:cNvSpPr>
              <a:spLocks noChangeShapeType="1"/>
            </p:cNvSpPr>
            <p:nvPr/>
          </p:nvSpPr>
          <p:spPr bwMode="auto">
            <a:xfrm>
              <a:off x="1020357" y="1488355"/>
              <a:ext cx="5226447" cy="0"/>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68" name="矩形 167"/>
          <p:cNvSpPr/>
          <p:nvPr/>
        </p:nvSpPr>
        <p:spPr>
          <a:xfrm>
            <a:off x="2796544" y="4339177"/>
            <a:ext cx="3550913" cy="307777"/>
          </a:xfrm>
          <a:prstGeom prst="rect">
            <a:avLst/>
          </a:prstGeom>
        </p:spPr>
        <p:txBody>
          <a:bodyPr wrap="square">
            <a:spAutoFit/>
          </a:bodyPr>
          <a:lstStyle/>
          <a:p>
            <a:pPr algn="ctr"/>
            <a:r>
              <a:rPr lang="zh-CN" altLang="en-US" sz="1400" dirty="0">
                <a:latin typeface="微软雅黑 Light" panose="020B0502040204020203" pitchFamily="34" charset="-122"/>
                <a:ea typeface="微软雅黑 Light" panose="020B0502040204020203" pitchFamily="34" charset="-122"/>
              </a:rPr>
              <a:t>用隧道技术实现虚拟专用网</a:t>
            </a:r>
          </a:p>
        </p:txBody>
      </p:sp>
      <p:grpSp>
        <p:nvGrpSpPr>
          <p:cNvPr id="241" name="组合 240"/>
          <p:cNvGrpSpPr/>
          <p:nvPr/>
        </p:nvGrpSpPr>
        <p:grpSpPr>
          <a:xfrm>
            <a:off x="1528958" y="2994292"/>
            <a:ext cx="6075400" cy="1173284"/>
            <a:chOff x="1528958" y="2876603"/>
            <a:chExt cx="6075400" cy="1173284"/>
          </a:xfrm>
        </p:grpSpPr>
        <p:sp>
          <p:nvSpPr>
            <p:cNvPr id="170" name="AutoShape 85"/>
            <p:cNvSpPr>
              <a:spLocks noChangeArrowheads="1"/>
            </p:cNvSpPr>
            <p:nvPr/>
          </p:nvSpPr>
          <p:spPr bwMode="auto">
            <a:xfrm>
              <a:off x="1528958" y="2876603"/>
              <a:ext cx="6075400" cy="1149280"/>
            </a:xfrm>
            <a:prstGeom prst="roundRect">
              <a:avLst>
                <a:gd name="adj" fmla="val 16667"/>
              </a:avLst>
            </a:prstGeom>
            <a:solidFill>
              <a:srgbClr val="CCFF99"/>
            </a:solidFill>
            <a:ln w="12700" cap="rnd">
              <a:solidFill>
                <a:schemeClr val="tx1"/>
              </a:solidFill>
              <a:prstDash val="sysDot"/>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1" name="Line 86"/>
            <p:cNvSpPr>
              <a:spLocks noChangeShapeType="1"/>
            </p:cNvSpPr>
            <p:nvPr/>
          </p:nvSpPr>
          <p:spPr bwMode="auto">
            <a:xfrm>
              <a:off x="3503175" y="3344828"/>
              <a:ext cx="1994391" cy="0"/>
            </a:xfrm>
            <a:prstGeom prst="line">
              <a:avLst/>
            </a:prstGeom>
            <a:noFill/>
            <a:ln w="28575">
              <a:solidFill>
                <a:srgbClr val="000066"/>
              </a:solidFill>
              <a:prstDash val="solid"/>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2" name="Line 87"/>
            <p:cNvSpPr>
              <a:spLocks noChangeShapeType="1"/>
            </p:cNvSpPr>
            <p:nvPr/>
          </p:nvSpPr>
          <p:spPr bwMode="auto">
            <a:xfrm flipV="1">
              <a:off x="2592441" y="3727922"/>
              <a:ext cx="230565"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3" name="Line 88"/>
            <p:cNvSpPr>
              <a:spLocks noChangeShapeType="1"/>
            </p:cNvSpPr>
            <p:nvPr/>
          </p:nvSpPr>
          <p:spPr bwMode="auto">
            <a:xfrm>
              <a:off x="2407989" y="3131999"/>
              <a:ext cx="230565" cy="12769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4" name="Line 89"/>
            <p:cNvSpPr>
              <a:spLocks noChangeShapeType="1"/>
            </p:cNvSpPr>
            <p:nvPr/>
          </p:nvSpPr>
          <p:spPr bwMode="auto">
            <a:xfrm flipV="1">
              <a:off x="2223536" y="3478733"/>
              <a:ext cx="276679"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5" name="Group 90"/>
            <p:cNvGrpSpPr>
              <a:grpSpLocks/>
            </p:cNvGrpSpPr>
            <p:nvPr/>
          </p:nvGrpSpPr>
          <p:grpSpPr bwMode="auto">
            <a:xfrm>
              <a:off x="2439692" y="3070810"/>
              <a:ext cx="914576" cy="684602"/>
              <a:chOff x="385" y="2795"/>
              <a:chExt cx="1769" cy="816"/>
            </a:xfrm>
            <a:solidFill>
              <a:srgbClr val="3399FF"/>
            </a:solidFill>
          </p:grpSpPr>
          <p:sp>
            <p:nvSpPr>
              <p:cNvPr id="218" name="Oval 9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9" name="Oval 9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0" name="Oval 9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1" name="Oval 9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2" name="Oval 9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3" name="Oval 9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4" name="Oval 9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5" name="Oval 9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6" name="Oval 9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7" name="Oval 10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8" name="Oval 10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9" name="Oval 10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0" name="Oval 10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1" name="Oval 10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2" name="Oval 10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3" name="Oval 10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4" name="Freeform 10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sp>
          <p:nvSpPr>
            <p:cNvPr id="176" name="Line 108"/>
            <p:cNvSpPr>
              <a:spLocks noChangeShapeType="1"/>
            </p:cNvSpPr>
            <p:nvPr/>
          </p:nvSpPr>
          <p:spPr bwMode="auto">
            <a:xfrm flipH="1">
              <a:off x="6419828" y="3089433"/>
              <a:ext cx="230565" cy="85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7" name="Line 109"/>
            <p:cNvSpPr>
              <a:spLocks noChangeShapeType="1"/>
            </p:cNvSpPr>
            <p:nvPr/>
          </p:nvSpPr>
          <p:spPr bwMode="auto">
            <a:xfrm flipH="1" flipV="1">
              <a:off x="6281489" y="3642790"/>
              <a:ext cx="322792"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8" name="Line 110"/>
            <p:cNvSpPr>
              <a:spLocks noChangeShapeType="1"/>
            </p:cNvSpPr>
            <p:nvPr/>
          </p:nvSpPr>
          <p:spPr bwMode="auto">
            <a:xfrm flipH="1" flipV="1">
              <a:off x="6419828" y="3429960"/>
              <a:ext cx="33432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9" name="Group 111"/>
            <p:cNvGrpSpPr>
              <a:grpSpLocks/>
            </p:cNvGrpSpPr>
            <p:nvPr/>
          </p:nvGrpSpPr>
          <p:grpSpPr bwMode="auto">
            <a:xfrm>
              <a:off x="5621495" y="3030904"/>
              <a:ext cx="914576" cy="684602"/>
              <a:chOff x="385" y="2795"/>
              <a:chExt cx="1769" cy="816"/>
            </a:xfrm>
            <a:solidFill>
              <a:srgbClr val="3399FF"/>
            </a:solidFill>
          </p:grpSpPr>
          <p:sp>
            <p:nvSpPr>
              <p:cNvPr id="201" name="Oval 112"/>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2" name="Oval 113"/>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3" name="Oval 114"/>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4" name="Oval 115"/>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5" name="Oval 116"/>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6" name="Oval 117"/>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7" name="Oval 118"/>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8" name="Oval 119"/>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9" name="Oval 120"/>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0" name="Oval 121"/>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1" name="Oval 122"/>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2" name="Oval 123"/>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3" name="Oval 124"/>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4" name="Oval 125"/>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5" name="Oval 126"/>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6" name="Oval 127"/>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7" name="Freeform 128"/>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pic>
          <p:nvPicPr>
            <p:cNvPr id="180" name="Picture 12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09183" y="3274772"/>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1" name="Picture 13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219771" y="3275659"/>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3" name="Text Box 132"/>
            <p:cNvSpPr txBox="1">
              <a:spLocks noChangeArrowheads="1"/>
            </p:cNvSpPr>
            <p:nvPr/>
          </p:nvSpPr>
          <p:spPr bwMode="auto">
            <a:xfrm>
              <a:off x="2587349" y="3194519"/>
              <a:ext cx="654230"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5" name="Text Box 134"/>
            <p:cNvSpPr txBox="1">
              <a:spLocks noChangeArrowheads="1"/>
            </p:cNvSpPr>
            <p:nvPr/>
          </p:nvSpPr>
          <p:spPr bwMode="auto">
            <a:xfrm>
              <a:off x="5767231" y="3153727"/>
              <a:ext cx="644623"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6" name="Text Box 135"/>
            <p:cNvSpPr txBox="1">
              <a:spLocks noChangeArrowheads="1"/>
            </p:cNvSpPr>
            <p:nvPr/>
          </p:nvSpPr>
          <p:spPr bwMode="auto">
            <a:xfrm>
              <a:off x="2046852" y="3146187"/>
              <a:ext cx="292050"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X</a:t>
              </a:r>
            </a:p>
          </p:txBody>
        </p:sp>
        <p:sp>
          <p:nvSpPr>
            <p:cNvPr id="187" name="Text Box 136"/>
            <p:cNvSpPr txBox="1">
              <a:spLocks noChangeArrowheads="1"/>
            </p:cNvSpPr>
            <p:nvPr/>
          </p:nvSpPr>
          <p:spPr bwMode="auto">
            <a:xfrm>
              <a:off x="6973735" y="3154826"/>
              <a:ext cx="284364"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Y</a:t>
              </a:r>
            </a:p>
          </p:txBody>
        </p:sp>
        <p:sp>
          <p:nvSpPr>
            <p:cNvPr id="188" name="Text Box 137"/>
            <p:cNvSpPr txBox="1">
              <a:spLocks noChangeArrowheads="1"/>
            </p:cNvSpPr>
            <p:nvPr/>
          </p:nvSpPr>
          <p:spPr bwMode="auto">
            <a:xfrm>
              <a:off x="3223614" y="3107168"/>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1</a:t>
              </a:r>
              <a:endParaRPr kumimoji="1" lang="en-US" altLang="zh-CN" sz="1200" b="1">
                <a:latin typeface="微软雅黑" pitchFamily="34" charset="-122"/>
                <a:ea typeface="微软雅黑" pitchFamily="34" charset="-122"/>
              </a:endParaRPr>
            </a:p>
          </p:txBody>
        </p:sp>
        <p:sp>
          <p:nvSpPr>
            <p:cNvPr id="189" name="Text Box 138"/>
            <p:cNvSpPr txBox="1">
              <a:spLocks noChangeArrowheads="1"/>
            </p:cNvSpPr>
            <p:nvPr/>
          </p:nvSpPr>
          <p:spPr bwMode="auto">
            <a:xfrm>
              <a:off x="5425514" y="3064603"/>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190" name="Text Box 139"/>
            <p:cNvSpPr txBox="1">
              <a:spLocks noChangeArrowheads="1"/>
            </p:cNvSpPr>
            <p:nvPr/>
          </p:nvSpPr>
          <p:spPr bwMode="auto">
            <a:xfrm>
              <a:off x="3071825" y="2890792"/>
              <a:ext cx="881913"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125.1.2.3</a:t>
              </a:r>
            </a:p>
          </p:txBody>
        </p:sp>
        <p:sp>
          <p:nvSpPr>
            <p:cNvPr id="191" name="Line 140"/>
            <p:cNvSpPr>
              <a:spLocks noChangeShapeType="1"/>
            </p:cNvSpPr>
            <p:nvPr/>
          </p:nvSpPr>
          <p:spPr bwMode="auto">
            <a:xfrm>
              <a:off x="3549288"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2" name="Text Box 141"/>
            <p:cNvSpPr txBox="1">
              <a:spLocks noChangeArrowheads="1"/>
            </p:cNvSpPr>
            <p:nvPr/>
          </p:nvSpPr>
          <p:spPr bwMode="auto">
            <a:xfrm>
              <a:off x="4778010" y="2894339"/>
              <a:ext cx="881913"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194.4.5.6</a:t>
              </a:r>
            </a:p>
          </p:txBody>
        </p:sp>
        <p:sp>
          <p:nvSpPr>
            <p:cNvPr id="193" name="Line 142"/>
            <p:cNvSpPr>
              <a:spLocks noChangeShapeType="1"/>
            </p:cNvSpPr>
            <p:nvPr/>
          </p:nvSpPr>
          <p:spPr bwMode="auto">
            <a:xfrm>
              <a:off x="5255472"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4" name="Text Box 143"/>
            <p:cNvSpPr txBox="1">
              <a:spLocks noChangeArrowheads="1"/>
            </p:cNvSpPr>
            <p:nvPr/>
          </p:nvSpPr>
          <p:spPr bwMode="auto">
            <a:xfrm>
              <a:off x="1779259" y="3601323"/>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10.1.0.1</a:t>
              </a:r>
            </a:p>
          </p:txBody>
        </p:sp>
        <p:sp>
          <p:nvSpPr>
            <p:cNvPr id="195" name="Text Box 144"/>
            <p:cNvSpPr txBox="1">
              <a:spLocks noChangeArrowheads="1"/>
            </p:cNvSpPr>
            <p:nvPr/>
          </p:nvSpPr>
          <p:spPr bwMode="auto">
            <a:xfrm>
              <a:off x="6419828" y="3502669"/>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10.2.0.3</a:t>
              </a:r>
            </a:p>
          </p:txBody>
        </p:sp>
        <p:sp>
          <p:nvSpPr>
            <p:cNvPr id="200" name="Text Box 149"/>
            <p:cNvSpPr txBox="1">
              <a:spLocks noChangeArrowheads="1"/>
            </p:cNvSpPr>
            <p:nvPr/>
          </p:nvSpPr>
          <p:spPr bwMode="auto">
            <a:xfrm>
              <a:off x="3755750" y="3742110"/>
              <a:ext cx="153439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虚拟专用网 </a:t>
              </a:r>
              <a:r>
                <a:rPr kumimoji="1" lang="en-US" altLang="zh-CN" sz="1400" b="1" dirty="0">
                  <a:solidFill>
                    <a:srgbClr val="0000FF"/>
                  </a:solidFill>
                  <a:latin typeface="微软雅黑" pitchFamily="34" charset="-122"/>
                  <a:ea typeface="微软雅黑" pitchFamily="34" charset="-122"/>
                </a:rPr>
                <a:t>VPN</a:t>
              </a:r>
            </a:p>
          </p:txBody>
        </p:sp>
        <p:pic>
          <p:nvPicPr>
            <p:cNvPr id="23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21833"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35808" y="3363838"/>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557682"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39415" y="32687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785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4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2829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grpSp>
      <p:sp>
        <p:nvSpPr>
          <p:cNvPr id="155" name="AutoShape 52"/>
          <p:cNvSpPr>
            <a:spLocks noChangeArrowheads="1"/>
          </p:cNvSpPr>
          <p:nvPr/>
        </p:nvSpPr>
        <p:spPr bwMode="auto">
          <a:xfrm rot="16200000">
            <a:off x="4380504" y="2698501"/>
            <a:ext cx="196592" cy="1518533"/>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6" name="Line 58"/>
          <p:cNvSpPr>
            <a:spLocks noChangeShapeType="1"/>
          </p:cNvSpPr>
          <p:nvPr/>
        </p:nvSpPr>
        <p:spPr bwMode="auto">
          <a:xfrm>
            <a:off x="3512781" y="3462180"/>
            <a:ext cx="23391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7" name="Line 59"/>
          <p:cNvSpPr>
            <a:spLocks noChangeShapeType="1"/>
          </p:cNvSpPr>
          <p:nvPr/>
        </p:nvSpPr>
        <p:spPr bwMode="auto">
          <a:xfrm>
            <a:off x="5238066" y="3462180"/>
            <a:ext cx="20550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Tree>
    <p:extLst>
      <p:ext uri="{BB962C8B-B14F-4D97-AF65-F5344CB8AC3E}">
        <p14:creationId xmlns:p14="http://schemas.microsoft.com/office/powerpoint/2010/main" val="32273718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9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500"/>
                                  </p:stCondLst>
                                  <p:childTnLst>
                                    <p:anim calcmode="discrete" valueType="str">
                                      <p:cBhvr>
                                        <p:cTn id="8" dur="1000" fill="hold"/>
                                        <p:tgtEl>
                                          <p:spTgt spid="81"/>
                                        </p:tgtEl>
                                        <p:attrNameLst>
                                          <p:attrName>style.visibility</p:attrName>
                                        </p:attrNameLst>
                                      </p:cBhvr>
                                      <p:tavLst>
                                        <p:tav tm="0">
                                          <p:val>
                                            <p:strVal val="hidden"/>
                                          </p:val>
                                        </p:tav>
                                        <p:tav tm="50000">
                                          <p:val>
                                            <p:strVal val="visible"/>
                                          </p:val>
                                        </p:tav>
                                      </p:tavLst>
                                    </p:anim>
                                  </p:childTnLst>
                                </p:cTn>
                              </p:par>
                            </p:childTnLst>
                          </p:cTn>
                        </p:par>
                        <p:par>
                          <p:cTn id="9" fill="hold">
                            <p:stCondLst>
                              <p:cond delay="3500"/>
                            </p:stCondLst>
                            <p:childTnLst>
                              <p:par>
                                <p:cTn id="10" presetID="35" presetClass="emph" presetSubtype="0" repeatCount="3000" fill="hold" nodeType="afterEffect">
                                  <p:stCondLst>
                                    <p:cond delay="250"/>
                                  </p:stCondLst>
                                  <p:childTnLst>
                                    <p:anim calcmode="discrete" valueType="str">
                                      <p:cBhvr>
                                        <p:cTn id="11" dur="1000" fill="hold"/>
                                        <p:tgtEl>
                                          <p:spTgt spid="1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6F5A82-F3FF-DFAD-4977-32C2FE3CB50F}"/>
              </a:ext>
            </a:extLst>
          </p:cNvPr>
          <p:cNvSpPr>
            <a:spLocks noGrp="1"/>
          </p:cNvSpPr>
          <p:nvPr>
            <p:ph type="title"/>
          </p:nvPr>
        </p:nvSpPr>
        <p:spPr>
          <a:xfrm>
            <a:off x="486000" y="550723"/>
            <a:ext cx="8172000" cy="338554"/>
          </a:xfrm>
        </p:spPr>
        <p:txBody>
          <a:bodyPr/>
          <a:lstStyle/>
          <a:p>
            <a:r>
              <a:rPr lang="en-US" altLang="zh-CN" dirty="0"/>
              <a:t>VPN </a:t>
            </a:r>
            <a:r>
              <a:rPr lang="zh-CN" altLang="en-US" dirty="0"/>
              <a:t>类型</a:t>
            </a:r>
          </a:p>
        </p:txBody>
      </p:sp>
      <p:sp>
        <p:nvSpPr>
          <p:cNvPr id="6" name="内容占位符 5">
            <a:extLst>
              <a:ext uri="{FF2B5EF4-FFF2-40B4-BE49-F238E27FC236}">
                <a16:creationId xmlns:a16="http://schemas.microsoft.com/office/drawing/2014/main" id="{F8551D36-4B83-7C3D-1B96-2672250DC78B}"/>
              </a:ext>
            </a:extLst>
          </p:cNvPr>
          <p:cNvSpPr>
            <a:spLocks noGrp="1"/>
          </p:cNvSpPr>
          <p:nvPr>
            <p:ph sz="quarter" idx="11"/>
          </p:nvPr>
        </p:nvSpPr>
        <p:spPr>
          <a:xfrm>
            <a:off x="486000" y="900000"/>
            <a:ext cx="8172000" cy="3703500"/>
          </a:xfrm>
        </p:spPr>
        <p:txBody>
          <a:bodyPr/>
          <a:lstStyle/>
          <a:p>
            <a:r>
              <a:rPr lang="zh-CN" altLang="en-US" dirty="0"/>
              <a:t>内联网 </a:t>
            </a:r>
            <a:r>
              <a:rPr lang="en-US" altLang="zh-CN" dirty="0"/>
              <a:t>intranet</a:t>
            </a:r>
            <a:r>
              <a:rPr lang="zh-CN" altLang="en-US" dirty="0"/>
              <a:t>：</a:t>
            </a:r>
            <a:endParaRPr lang="en-US" altLang="zh-CN" dirty="0"/>
          </a:p>
          <a:p>
            <a:pPr lvl="1"/>
            <a:r>
              <a:rPr lang="zh-CN" altLang="en-US" dirty="0"/>
              <a:t>同一个机构的内部网络所构成的 </a:t>
            </a:r>
            <a:r>
              <a:rPr lang="en-US" altLang="zh-CN" dirty="0"/>
              <a:t>VPN</a:t>
            </a:r>
          </a:p>
          <a:p>
            <a:r>
              <a:rPr lang="zh-CN" altLang="en-US" dirty="0"/>
              <a:t>外联网 </a:t>
            </a:r>
            <a:r>
              <a:rPr lang="en-US" altLang="zh-CN" dirty="0"/>
              <a:t>extranet</a:t>
            </a:r>
            <a:r>
              <a:rPr lang="zh-CN" altLang="en-US" dirty="0"/>
              <a:t>：</a:t>
            </a:r>
            <a:endParaRPr lang="en-US" altLang="zh-CN" dirty="0"/>
          </a:p>
          <a:p>
            <a:pPr lvl="1"/>
            <a:r>
              <a:rPr lang="zh-CN" altLang="en-US" dirty="0"/>
              <a:t>一个机构和某些外部机构共同建立的 </a:t>
            </a:r>
            <a:endParaRPr lang="en-US" altLang="zh-CN" dirty="0"/>
          </a:p>
          <a:p>
            <a:r>
              <a:rPr lang="zh-CN" altLang="en-US" dirty="0"/>
              <a:t>远程接入 </a:t>
            </a:r>
            <a:r>
              <a:rPr lang="en-US" altLang="zh-CN" dirty="0"/>
              <a:t>VPN (remote access VPN)</a:t>
            </a:r>
            <a:r>
              <a:rPr lang="zh-CN" altLang="en-US" dirty="0"/>
              <a:t>：</a:t>
            </a:r>
            <a:endParaRPr lang="en-US" altLang="zh-CN" dirty="0"/>
          </a:p>
          <a:p>
            <a:pPr lvl="1"/>
            <a:r>
              <a:rPr lang="zh-CN" altLang="en-US" dirty="0"/>
              <a:t>允许外部流动员工通过接入 </a:t>
            </a:r>
            <a:r>
              <a:rPr lang="en-US" altLang="zh-CN" dirty="0"/>
              <a:t>VPN </a:t>
            </a:r>
            <a:r>
              <a:rPr lang="zh-CN" altLang="en-US" dirty="0"/>
              <a:t>建立 </a:t>
            </a:r>
            <a:r>
              <a:rPr lang="en-US" altLang="zh-CN" dirty="0"/>
              <a:t>VPN </a:t>
            </a:r>
            <a:r>
              <a:rPr lang="zh-CN" altLang="en-US" dirty="0"/>
              <a:t>隧道访问公司内部网络，好像就是使用公司内部的本地网络访问一样</a:t>
            </a:r>
          </a:p>
          <a:p>
            <a:endParaRPr lang="zh-CN" altLang="en-US" dirty="0"/>
          </a:p>
        </p:txBody>
      </p:sp>
    </p:spTree>
    <p:extLst>
      <p:ext uri="{BB962C8B-B14F-4D97-AF65-F5344CB8AC3E}">
        <p14:creationId xmlns:p14="http://schemas.microsoft.com/office/powerpoint/2010/main" val="28158123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C613F2-8ECD-5EAF-593A-F90D48B6A4DA}"/>
            </a:ext>
          </a:extLst>
        </p:cNvPr>
        <p:cNvGrpSpPr/>
        <p:nvPr/>
      </p:nvGrpSpPr>
      <p:grpSpPr>
        <a:xfrm>
          <a:off x="0" y="0"/>
          <a:ext cx="0" cy="0"/>
          <a:chOff x="0" y="0"/>
          <a:chExt cx="0" cy="0"/>
        </a:xfrm>
      </p:grpSpPr>
      <p:pic>
        <p:nvPicPr>
          <p:cNvPr id="15" name="图片占位符 14">
            <a:extLst>
              <a:ext uri="{FF2B5EF4-FFF2-40B4-BE49-F238E27FC236}">
                <a16:creationId xmlns:a16="http://schemas.microsoft.com/office/drawing/2014/main" id="{AFB2C1CA-9D35-8FF4-5D87-1ED55DE1CBCB}"/>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4AE56EEC-A6E9-10EF-7B99-81FDF9B9DE94}"/>
              </a:ext>
            </a:extLst>
          </p:cNvPr>
          <p:cNvSpPr>
            <a:spLocks noGrp="1"/>
          </p:cNvSpPr>
          <p:nvPr>
            <p:ph type="title"/>
          </p:nvPr>
        </p:nvSpPr>
        <p:spPr>
          <a:xfrm>
            <a:off x="628650" y="1790739"/>
            <a:ext cx="4320000" cy="553998"/>
          </a:xfrm>
        </p:spPr>
        <p:txBody>
          <a:bodyPr/>
          <a:lstStyle/>
          <a:p>
            <a:r>
              <a:rPr lang="fr-FR" altLang="zh-CN" dirty="0"/>
              <a:t>4.8.2 </a:t>
            </a:r>
            <a:r>
              <a:rPr lang="zh-CN" altLang="en-US" dirty="0"/>
              <a:t>网络地址转换 </a:t>
            </a:r>
          </a:p>
        </p:txBody>
      </p:sp>
      <p:sp>
        <p:nvSpPr>
          <p:cNvPr id="9" name="文本占位符 8">
            <a:extLst>
              <a:ext uri="{FF2B5EF4-FFF2-40B4-BE49-F238E27FC236}">
                <a16:creationId xmlns:a16="http://schemas.microsoft.com/office/drawing/2014/main" id="{7F8E1DD9-06F3-D295-7901-9BD725627370}"/>
              </a:ext>
            </a:extLst>
          </p:cNvPr>
          <p:cNvSpPr>
            <a:spLocks noGrp="1"/>
          </p:cNvSpPr>
          <p:nvPr>
            <p:ph type="body" sz="quarter" idx="11"/>
          </p:nvPr>
        </p:nvSpPr>
        <p:spPr>
          <a:xfrm>
            <a:off x="628100" y="2344736"/>
            <a:ext cx="4320000" cy="1870075"/>
          </a:xfrm>
        </p:spPr>
        <p:txBody>
          <a:bodyPr/>
          <a:lstStyle/>
          <a:p>
            <a:r>
              <a:rPr lang="en-US" altLang="zh-CN" dirty="0"/>
              <a:t>· </a:t>
            </a:r>
            <a:r>
              <a:rPr lang="zh-CN" altLang="en-US" dirty="0"/>
              <a:t>网络地址转换 </a:t>
            </a:r>
            <a:r>
              <a:rPr lang="en-US" altLang="zh-CN" dirty="0"/>
              <a:t>NAT</a:t>
            </a:r>
          </a:p>
          <a:p>
            <a:endParaRPr lang="zh-CN" altLang="en-US" dirty="0"/>
          </a:p>
        </p:txBody>
      </p:sp>
    </p:spTree>
    <p:extLst>
      <p:ext uri="{BB962C8B-B14F-4D97-AF65-F5344CB8AC3E}">
        <p14:creationId xmlns:p14="http://schemas.microsoft.com/office/powerpoint/2010/main" val="3314533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430CCF8-4CCE-4B70-B235-E622A5B6D073}"/>
              </a:ext>
            </a:extLst>
          </p:cNvPr>
          <p:cNvSpPr>
            <a:spLocks noGrp="1"/>
          </p:cNvSpPr>
          <p:nvPr>
            <p:ph type="title"/>
          </p:nvPr>
        </p:nvSpPr>
        <p:spPr>
          <a:xfrm>
            <a:off x="486000" y="550723"/>
            <a:ext cx="8172000" cy="338554"/>
          </a:xfrm>
        </p:spPr>
        <p:txBody>
          <a:bodyPr/>
          <a:lstStyle/>
          <a:p>
            <a:r>
              <a:rPr lang="en-US" altLang="zh-CN" dirty="0"/>
              <a:t>4.8.2   </a:t>
            </a:r>
            <a:r>
              <a:rPr lang="zh-CN" altLang="en-US" dirty="0"/>
              <a:t>网络地址转换 </a:t>
            </a:r>
            <a:r>
              <a:rPr lang="en-US" altLang="zh-CN" dirty="0"/>
              <a:t>NAT</a:t>
            </a:r>
            <a:endParaRPr lang="zh-CN" altLang="en-US" dirty="0"/>
          </a:p>
        </p:txBody>
      </p:sp>
      <p:sp>
        <p:nvSpPr>
          <p:cNvPr id="6" name="内容占位符 5">
            <a:extLst>
              <a:ext uri="{FF2B5EF4-FFF2-40B4-BE49-F238E27FC236}">
                <a16:creationId xmlns:a16="http://schemas.microsoft.com/office/drawing/2014/main" id="{BCA75BAE-DF6F-B363-42D5-DFC09369E22C}"/>
              </a:ext>
            </a:extLst>
          </p:cNvPr>
          <p:cNvSpPr>
            <a:spLocks noGrp="1"/>
          </p:cNvSpPr>
          <p:nvPr>
            <p:ph sz="quarter" idx="11"/>
          </p:nvPr>
        </p:nvSpPr>
        <p:spPr>
          <a:xfrm>
            <a:off x="486000" y="900000"/>
            <a:ext cx="8172000" cy="3703500"/>
          </a:xfrm>
        </p:spPr>
        <p:txBody>
          <a:bodyPr/>
          <a:lstStyle/>
          <a:p>
            <a:r>
              <a:rPr lang="zh-CN" altLang="en-US" dirty="0"/>
              <a:t>问题：</a:t>
            </a:r>
            <a:endParaRPr lang="en-US" altLang="zh-CN" dirty="0"/>
          </a:p>
          <a:p>
            <a:pPr lvl="1"/>
            <a:r>
              <a:rPr lang="zh-CN" altLang="en-US" dirty="0"/>
              <a:t>在专用网上使用专用地址的主机如何与互联网上的主机通信（并不需要加密）？</a:t>
            </a:r>
          </a:p>
          <a:p>
            <a:r>
              <a:rPr lang="zh-CN" altLang="en-US" dirty="0"/>
              <a:t>解决：</a:t>
            </a:r>
          </a:p>
          <a:p>
            <a:pPr lvl="1"/>
            <a:r>
              <a:rPr lang="zh-CN" altLang="en-US" dirty="0"/>
              <a:t>再申请一些全球 </a:t>
            </a:r>
            <a:r>
              <a:rPr lang="en-US" altLang="zh-CN" dirty="0"/>
              <a:t>IP </a:t>
            </a:r>
            <a:r>
              <a:rPr lang="zh-CN" altLang="en-US" dirty="0"/>
              <a:t>地址。但这在很多情况下是不容易做到的</a:t>
            </a:r>
          </a:p>
          <a:p>
            <a:pPr lvl="1"/>
            <a:r>
              <a:rPr lang="zh-CN" altLang="en-US" dirty="0"/>
              <a:t>采用网络地址转换 </a:t>
            </a:r>
            <a:r>
              <a:rPr lang="en-US" altLang="zh-CN" dirty="0"/>
              <a:t>NAT</a:t>
            </a:r>
            <a:r>
              <a:rPr lang="zh-CN" altLang="en-US" dirty="0"/>
              <a:t>。这是目前使用得最多的方法</a:t>
            </a:r>
          </a:p>
          <a:p>
            <a:endParaRPr lang="zh-CN" altLang="en-US" dirty="0"/>
          </a:p>
        </p:txBody>
      </p:sp>
    </p:spTree>
    <p:extLst>
      <p:ext uri="{BB962C8B-B14F-4D97-AF65-F5344CB8AC3E}">
        <p14:creationId xmlns:p14="http://schemas.microsoft.com/office/powerpoint/2010/main" val="19244792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74AF5E-498E-A503-1E4B-F095A82929CA}"/>
              </a:ext>
            </a:extLst>
          </p:cNvPr>
          <p:cNvSpPr>
            <a:spLocks noGrp="1"/>
          </p:cNvSpPr>
          <p:nvPr>
            <p:ph type="title"/>
          </p:nvPr>
        </p:nvSpPr>
        <p:spPr>
          <a:xfrm>
            <a:off x="486000" y="550723"/>
            <a:ext cx="8172000" cy="338554"/>
          </a:xfrm>
        </p:spPr>
        <p:txBody>
          <a:bodyPr/>
          <a:lstStyle/>
          <a:p>
            <a:r>
              <a:rPr lang="zh-CN" altLang="en-US" dirty="0"/>
              <a:t>网络地址转换</a:t>
            </a:r>
          </a:p>
        </p:txBody>
      </p:sp>
      <p:sp>
        <p:nvSpPr>
          <p:cNvPr id="6" name="内容占位符 5">
            <a:extLst>
              <a:ext uri="{FF2B5EF4-FFF2-40B4-BE49-F238E27FC236}">
                <a16:creationId xmlns:a16="http://schemas.microsoft.com/office/drawing/2014/main" id="{B52C3698-91B8-6F91-E75C-E70F7F12AD04}"/>
              </a:ext>
            </a:extLst>
          </p:cNvPr>
          <p:cNvSpPr>
            <a:spLocks noGrp="1"/>
          </p:cNvSpPr>
          <p:nvPr>
            <p:ph sz="quarter" idx="11"/>
          </p:nvPr>
        </p:nvSpPr>
        <p:spPr>
          <a:xfrm>
            <a:off x="486000" y="900000"/>
            <a:ext cx="8172000" cy="3703500"/>
          </a:xfrm>
        </p:spPr>
        <p:txBody>
          <a:bodyPr/>
          <a:lstStyle/>
          <a:p>
            <a:r>
              <a:rPr lang="en-US" altLang="zh-CN" dirty="0"/>
              <a:t>NAT - Network Address Translation</a:t>
            </a:r>
          </a:p>
          <a:p>
            <a:r>
              <a:rPr lang="en-US" altLang="zh-CN" dirty="0"/>
              <a:t>1994 </a:t>
            </a:r>
            <a:r>
              <a:rPr lang="zh-CN" altLang="en-US" dirty="0"/>
              <a:t>年提出</a:t>
            </a:r>
          </a:p>
          <a:p>
            <a:r>
              <a:rPr lang="zh-CN" altLang="en-US" dirty="0"/>
              <a:t>需要在专用网连接到互联网的路由器上安装 </a:t>
            </a:r>
            <a:r>
              <a:rPr lang="en-US" altLang="zh-CN" dirty="0"/>
              <a:t>NAT </a:t>
            </a:r>
            <a:r>
              <a:rPr lang="zh-CN" altLang="en-US" dirty="0"/>
              <a:t>软件</a:t>
            </a:r>
            <a:endParaRPr lang="en-US" altLang="zh-CN" dirty="0"/>
          </a:p>
          <a:p>
            <a:r>
              <a:rPr lang="zh-CN" altLang="en-US" dirty="0"/>
              <a:t>装有 </a:t>
            </a:r>
            <a:r>
              <a:rPr lang="en-US" altLang="zh-CN" dirty="0"/>
              <a:t>NAT </a:t>
            </a:r>
            <a:r>
              <a:rPr lang="zh-CN" altLang="en-US" dirty="0"/>
              <a:t>软件的路由器叫做 </a:t>
            </a:r>
            <a:r>
              <a:rPr lang="en-US" altLang="zh-CN" dirty="0"/>
              <a:t>NAT</a:t>
            </a:r>
            <a:r>
              <a:rPr lang="zh-CN" altLang="en-US" dirty="0"/>
              <a:t>路由器，它至少有一个有效的外部全球 </a:t>
            </a:r>
            <a:r>
              <a:rPr lang="en-US" altLang="zh-CN" dirty="0"/>
              <a:t>IP </a:t>
            </a:r>
            <a:r>
              <a:rPr lang="zh-CN" altLang="en-US" dirty="0"/>
              <a:t>地址</a:t>
            </a:r>
          </a:p>
          <a:p>
            <a:r>
              <a:rPr lang="zh-CN" altLang="en-US" dirty="0"/>
              <a:t>所有使用本地地址的主机在和外界通信时，都要在 </a:t>
            </a:r>
            <a:r>
              <a:rPr lang="en-US" altLang="zh-CN" dirty="0"/>
              <a:t>NAT </a:t>
            </a:r>
            <a:r>
              <a:rPr lang="zh-CN" altLang="en-US" dirty="0"/>
              <a:t>路由器上将其本地地址转换成全球 </a:t>
            </a:r>
            <a:r>
              <a:rPr lang="en-US" altLang="zh-CN" dirty="0"/>
              <a:t>IP </a:t>
            </a:r>
            <a:r>
              <a:rPr lang="zh-CN" altLang="en-US" dirty="0"/>
              <a:t>地址，才能和互联网连接</a:t>
            </a:r>
          </a:p>
          <a:p>
            <a:endParaRPr lang="zh-CN" altLang="en-US" dirty="0"/>
          </a:p>
        </p:txBody>
      </p:sp>
    </p:spTree>
    <p:extLst>
      <p:ext uri="{BB962C8B-B14F-4D97-AF65-F5344CB8AC3E}">
        <p14:creationId xmlns:p14="http://schemas.microsoft.com/office/powerpoint/2010/main" val="37752051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圆角矩形 51"/>
          <p:cNvSpPr/>
          <p:nvPr/>
        </p:nvSpPr>
        <p:spPr>
          <a:xfrm>
            <a:off x="748189" y="2003055"/>
            <a:ext cx="2984912" cy="1668015"/>
          </a:xfrm>
          <a:prstGeom prst="roundRect">
            <a:avLst>
              <a:gd name="adj" fmla="val 12325"/>
            </a:avLst>
          </a:prstGeom>
          <a:solidFill>
            <a:srgbClr val="66CCF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57" name="Line 74"/>
          <p:cNvSpPr>
            <a:spLocks noChangeShapeType="1"/>
          </p:cNvSpPr>
          <p:nvPr/>
        </p:nvSpPr>
        <p:spPr bwMode="auto">
          <a:xfrm>
            <a:off x="7426067" y="2779332"/>
            <a:ext cx="460433" cy="9843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8" name="Line 73"/>
          <p:cNvSpPr>
            <a:spLocks noChangeShapeType="1"/>
          </p:cNvSpPr>
          <p:nvPr/>
        </p:nvSpPr>
        <p:spPr bwMode="auto">
          <a:xfrm>
            <a:off x="7139406" y="3122238"/>
            <a:ext cx="459164"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9" name="Line 72"/>
          <p:cNvSpPr>
            <a:spLocks noChangeShapeType="1"/>
          </p:cNvSpPr>
          <p:nvPr/>
        </p:nvSpPr>
        <p:spPr bwMode="auto">
          <a:xfrm flipV="1">
            <a:off x="7196485" y="2337989"/>
            <a:ext cx="402086" cy="19579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0" name="Line 37"/>
          <p:cNvSpPr>
            <a:spLocks noChangeShapeType="1"/>
          </p:cNvSpPr>
          <p:nvPr/>
        </p:nvSpPr>
        <p:spPr bwMode="auto">
          <a:xfrm flipV="1">
            <a:off x="1327551" y="2828009"/>
            <a:ext cx="2647172"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1" name="Line 34"/>
          <p:cNvSpPr>
            <a:spLocks noChangeShapeType="1"/>
          </p:cNvSpPr>
          <p:nvPr/>
        </p:nvSpPr>
        <p:spPr bwMode="auto">
          <a:xfrm>
            <a:off x="4031802" y="2828009"/>
            <a:ext cx="155380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aphicFrame>
        <p:nvGraphicFramePr>
          <p:cNvPr id="62" name="Object 4"/>
          <p:cNvGraphicFramePr>
            <a:graphicFrameLocks noChangeAspect="1"/>
          </p:cNvGraphicFramePr>
          <p:nvPr>
            <p:extLst>
              <p:ext uri="{D42A27DB-BD31-4B8C-83A1-F6EECF244321}">
                <p14:modId xmlns:p14="http://schemas.microsoft.com/office/powerpoint/2010/main" val="3091330060"/>
              </p:ext>
            </p:extLst>
          </p:nvPr>
        </p:nvGraphicFramePr>
        <p:xfrm>
          <a:off x="5531062" y="2190875"/>
          <a:ext cx="2130929" cy="1128236"/>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31062" y="2190875"/>
                        <a:ext cx="2130929" cy="11282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63" name="Picture 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859298" y="2755534"/>
            <a:ext cx="416039" cy="170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4" name="Text Box 7"/>
          <p:cNvSpPr txBox="1">
            <a:spLocks noChangeArrowheads="1"/>
          </p:cNvSpPr>
          <p:nvPr/>
        </p:nvSpPr>
        <p:spPr bwMode="auto">
          <a:xfrm>
            <a:off x="3666578" y="2284700"/>
            <a:ext cx="6463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b="1" dirty="0">
                <a:solidFill>
                  <a:srgbClr val="C00000"/>
                </a:solidFill>
                <a:latin typeface="微软雅黑" panose="020B0503020204020204" pitchFamily="34" charset="-122"/>
                <a:ea typeface="微软雅黑" panose="020B0503020204020204" pitchFamily="34" charset="-122"/>
              </a:rPr>
              <a:t>NAT</a:t>
            </a:r>
          </a:p>
          <a:p>
            <a:pPr algn="ctr" eaLnBrk="1" hangingPunct="1">
              <a:lnSpc>
                <a:spcPct val="90000"/>
              </a:lnSpc>
            </a:pPr>
            <a:r>
              <a:rPr kumimoji="1" lang="zh-CN" altLang="en-US" sz="1200" b="1" dirty="0">
                <a:solidFill>
                  <a:srgbClr val="C00000"/>
                </a:solidFill>
                <a:latin typeface="微软雅黑" panose="020B0503020204020204" pitchFamily="34" charset="-122"/>
                <a:ea typeface="微软雅黑" panose="020B0503020204020204" pitchFamily="34" charset="-122"/>
              </a:rPr>
              <a:t>路由器</a:t>
            </a:r>
          </a:p>
        </p:txBody>
      </p:sp>
      <p:pic>
        <p:nvPicPr>
          <p:cNvPr id="65" name="Picture 30"/>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489488" y="2190875"/>
            <a:ext cx="268903" cy="2325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6" name="Picture 31"/>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368989" y="3171997"/>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7" name="Picture 32"/>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777417" y="2730654"/>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8" name="Text Box 35"/>
          <p:cNvSpPr txBox="1">
            <a:spLocks noChangeArrowheads="1"/>
          </p:cNvSpPr>
          <p:nvPr/>
        </p:nvSpPr>
        <p:spPr bwMode="auto">
          <a:xfrm>
            <a:off x="1150469" y="1719180"/>
            <a:ext cx="2403222"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专用网 </a:t>
            </a:r>
            <a:r>
              <a:rPr kumimoji="1" lang="en-US" altLang="zh-CN" sz="1600" b="1" dirty="0">
                <a:latin typeface="微软雅黑" panose="020B0503020204020204" pitchFamily="34" charset="-122"/>
                <a:ea typeface="微软雅黑" panose="020B0503020204020204" pitchFamily="34" charset="-122"/>
              </a:rPr>
              <a:t>192.168.0.0/16</a:t>
            </a:r>
          </a:p>
        </p:txBody>
      </p:sp>
      <p:sp>
        <p:nvSpPr>
          <p:cNvPr id="69" name="Text Box 36"/>
          <p:cNvSpPr txBox="1">
            <a:spLocks noChangeArrowheads="1"/>
          </p:cNvSpPr>
          <p:nvPr/>
        </p:nvSpPr>
        <p:spPr bwMode="auto">
          <a:xfrm>
            <a:off x="6254491" y="2877768"/>
            <a:ext cx="80021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互联网</a:t>
            </a:r>
          </a:p>
        </p:txBody>
      </p:sp>
      <p:sp>
        <p:nvSpPr>
          <p:cNvPr id="70" name="Line 38"/>
          <p:cNvSpPr>
            <a:spLocks noChangeShapeType="1"/>
          </p:cNvSpPr>
          <p:nvPr/>
        </p:nvSpPr>
        <p:spPr bwMode="auto">
          <a:xfrm rot="5400000">
            <a:off x="1454175" y="2665211"/>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1"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489908" y="2421282"/>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 name="Text Box 45"/>
          <p:cNvSpPr txBox="1">
            <a:spLocks noChangeArrowheads="1"/>
          </p:cNvSpPr>
          <p:nvPr/>
        </p:nvSpPr>
        <p:spPr bwMode="auto">
          <a:xfrm>
            <a:off x="726304" y="2194287"/>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solidFill>
                  <a:srgbClr val="0000FF"/>
                </a:solidFill>
                <a:latin typeface="微软雅黑" panose="020B0503020204020204" pitchFamily="34" charset="-122"/>
                <a:ea typeface="微软雅黑" panose="020B0503020204020204" pitchFamily="34" charset="-122"/>
              </a:rPr>
              <a:t>192.168.0.3</a:t>
            </a:r>
          </a:p>
        </p:txBody>
      </p:sp>
      <p:sp>
        <p:nvSpPr>
          <p:cNvPr id="80" name="Text Box 52"/>
          <p:cNvSpPr txBox="1">
            <a:spLocks noChangeArrowheads="1"/>
          </p:cNvSpPr>
          <p:nvPr/>
        </p:nvSpPr>
        <p:spPr bwMode="auto">
          <a:xfrm>
            <a:off x="7051414" y="1930631"/>
            <a:ext cx="124906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dirty="0">
                <a:solidFill>
                  <a:srgbClr val="0000FF"/>
                </a:solidFill>
                <a:latin typeface="微软雅黑" panose="020B0503020204020204" pitchFamily="34" charset="-122"/>
                <a:ea typeface="微软雅黑" panose="020B0503020204020204" pitchFamily="34" charset="-122"/>
              </a:rPr>
              <a:t>213.18.2.4</a:t>
            </a:r>
          </a:p>
        </p:txBody>
      </p:sp>
      <p:sp>
        <p:nvSpPr>
          <p:cNvPr id="86" name="Text Box 76"/>
          <p:cNvSpPr txBox="1">
            <a:spLocks noChangeArrowheads="1"/>
          </p:cNvSpPr>
          <p:nvPr/>
        </p:nvSpPr>
        <p:spPr bwMode="auto">
          <a:xfrm>
            <a:off x="3762492" y="3334163"/>
            <a:ext cx="1188146" cy="523220"/>
          </a:xfrm>
          <a:prstGeom prst="rect">
            <a:avLst/>
          </a:prstGeom>
          <a:solidFill>
            <a:schemeClr val="accent6">
              <a:lumMod val="75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zh-CN" altLang="en-US" sz="1400" b="1" dirty="0">
                <a:solidFill>
                  <a:srgbClr val="000066"/>
                </a:solidFill>
                <a:latin typeface="微软雅黑" panose="020B0503020204020204" pitchFamily="34" charset="-122"/>
                <a:ea typeface="微软雅黑" panose="020B0503020204020204" pitchFamily="34" charset="-122"/>
              </a:rPr>
              <a:t>全球 </a:t>
            </a:r>
            <a:r>
              <a:rPr kumimoji="1" lang="en-US" altLang="zh-CN" sz="1400" b="1" dirty="0">
                <a:solidFill>
                  <a:srgbClr val="000066"/>
                </a:solidFill>
                <a:latin typeface="微软雅黑" panose="020B0503020204020204" pitchFamily="34" charset="-122"/>
                <a:ea typeface="微软雅黑" panose="020B0503020204020204" pitchFamily="34" charset="-122"/>
              </a:rPr>
              <a:t>IP </a:t>
            </a:r>
            <a:r>
              <a:rPr kumimoji="1" lang="zh-CN" altLang="en-US" sz="1400" b="1" dirty="0">
                <a:solidFill>
                  <a:srgbClr val="000066"/>
                </a:solidFill>
                <a:latin typeface="微软雅黑" panose="020B0503020204020204" pitchFamily="34" charset="-122"/>
                <a:ea typeface="微软雅黑" panose="020B0503020204020204" pitchFamily="34" charset="-122"/>
              </a:rPr>
              <a:t>地址</a:t>
            </a:r>
          </a:p>
          <a:p>
            <a:pPr algn="ctr" eaLnBrk="1" hangingPunct="1"/>
            <a:r>
              <a:rPr kumimoji="1" lang="en-US" altLang="zh-CN" sz="1400" b="1" dirty="0">
                <a:solidFill>
                  <a:srgbClr val="000066"/>
                </a:solidFill>
                <a:latin typeface="微软雅黑" panose="020B0503020204020204" pitchFamily="34" charset="-122"/>
                <a:ea typeface="微软雅黑" panose="020B0503020204020204" pitchFamily="34" charset="-122"/>
              </a:rPr>
              <a:t>172.38.1.5</a:t>
            </a:r>
          </a:p>
        </p:txBody>
      </p:sp>
      <p:sp>
        <p:nvSpPr>
          <p:cNvPr id="100" name="Text Box 45"/>
          <p:cNvSpPr txBox="1">
            <a:spLocks noChangeArrowheads="1"/>
          </p:cNvSpPr>
          <p:nvPr/>
        </p:nvSpPr>
        <p:spPr bwMode="auto">
          <a:xfrm>
            <a:off x="1155771" y="2408186"/>
            <a:ext cx="39946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solidFill>
                  <a:srgbClr val="0000FF"/>
                </a:solidFill>
                <a:latin typeface="微软雅黑" panose="020B0503020204020204" pitchFamily="34" charset="-122"/>
                <a:ea typeface="微软雅黑" panose="020B0503020204020204" pitchFamily="34" charset="-122"/>
              </a:rPr>
              <a:t> </a:t>
            </a:r>
            <a:r>
              <a:rPr kumimoji="1" lang="en-US" altLang="zh-CN" sz="1600" b="1" dirty="0">
                <a:solidFill>
                  <a:srgbClr val="0000FF"/>
                </a:solidFill>
                <a:latin typeface="微软雅黑" panose="020B0503020204020204" pitchFamily="34" charset="-122"/>
                <a:ea typeface="微软雅黑" panose="020B0503020204020204" pitchFamily="34" charset="-122"/>
              </a:rPr>
              <a:t>A</a:t>
            </a:r>
          </a:p>
        </p:txBody>
      </p:sp>
      <p:sp>
        <p:nvSpPr>
          <p:cNvPr id="102" name="Line 38"/>
          <p:cNvSpPr>
            <a:spLocks noChangeShapeType="1"/>
          </p:cNvSpPr>
          <p:nvPr/>
        </p:nvSpPr>
        <p:spPr bwMode="auto">
          <a:xfrm rot="5400000">
            <a:off x="1328602" y="2999462"/>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03"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340235" y="3078969"/>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4" name="Text Box 45"/>
          <p:cNvSpPr txBox="1">
            <a:spLocks noChangeArrowheads="1"/>
          </p:cNvSpPr>
          <p:nvPr/>
        </p:nvSpPr>
        <p:spPr bwMode="auto">
          <a:xfrm>
            <a:off x="748190" y="3319111"/>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192.168.0.4</a:t>
            </a:r>
          </a:p>
        </p:txBody>
      </p:sp>
      <p:sp>
        <p:nvSpPr>
          <p:cNvPr id="105" name="TextBox 54"/>
          <p:cNvSpPr txBox="1">
            <a:spLocks noChangeArrowheads="1"/>
          </p:cNvSpPr>
          <p:nvPr/>
        </p:nvSpPr>
        <p:spPr bwMode="auto">
          <a:xfrm>
            <a:off x="1615481" y="1356867"/>
            <a:ext cx="18473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nvGrpSpPr>
          <p:cNvPr id="10" name="组合 9"/>
          <p:cNvGrpSpPr/>
          <p:nvPr/>
        </p:nvGrpSpPr>
        <p:grpSpPr>
          <a:xfrm>
            <a:off x="2006828" y="2828009"/>
            <a:ext cx="1608133" cy="773213"/>
            <a:chOff x="2006828" y="2828009"/>
            <a:chExt cx="1608133" cy="773213"/>
          </a:xfrm>
        </p:grpSpPr>
        <p:sp>
          <p:nvSpPr>
            <p:cNvPr id="83" name="Text Box 59"/>
            <p:cNvSpPr txBox="1">
              <a:spLocks noChangeArrowheads="1"/>
            </p:cNvSpPr>
            <p:nvPr/>
          </p:nvSpPr>
          <p:spPr bwMode="auto">
            <a:xfrm>
              <a:off x="2006828" y="3121091"/>
              <a:ext cx="1608133"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192.168.0.3</a:t>
              </a:r>
            </a:p>
          </p:txBody>
        </p:sp>
        <p:grpSp>
          <p:nvGrpSpPr>
            <p:cNvPr id="87" name="Group 42"/>
            <p:cNvGrpSpPr>
              <a:grpSpLocks/>
            </p:cNvGrpSpPr>
            <p:nvPr/>
          </p:nvGrpSpPr>
          <p:grpSpPr bwMode="auto">
            <a:xfrm flipH="1">
              <a:off x="2410773" y="2876687"/>
              <a:ext cx="632937" cy="98436"/>
              <a:chOff x="521" y="2478"/>
              <a:chExt cx="1044" cy="136"/>
            </a:xfrm>
          </p:grpSpPr>
          <p:sp>
            <p:nvSpPr>
              <p:cNvPr id="88"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89"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0"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1" name="Line 60"/>
            <p:cNvSpPr>
              <a:spLocks noChangeShapeType="1"/>
            </p:cNvSpPr>
            <p:nvPr/>
          </p:nvSpPr>
          <p:spPr bwMode="auto">
            <a:xfrm>
              <a:off x="2583277" y="2926446"/>
              <a:ext cx="135291" cy="23038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6" name="Text Box 155"/>
            <p:cNvSpPr txBox="1">
              <a:spLocks noChangeArrowheads="1"/>
            </p:cNvSpPr>
            <p:nvPr/>
          </p:nvSpPr>
          <p:spPr bwMode="auto">
            <a:xfrm flipH="1">
              <a:off x="2132992" y="2828009"/>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nvGrpSpPr>
          <p:cNvPr id="11" name="组合 10"/>
          <p:cNvGrpSpPr/>
          <p:nvPr/>
        </p:nvGrpSpPr>
        <p:grpSpPr>
          <a:xfrm>
            <a:off x="4561998" y="2435344"/>
            <a:ext cx="2933832" cy="1226166"/>
            <a:chOff x="4561998" y="2435344"/>
            <a:chExt cx="2933832" cy="1226166"/>
          </a:xfrm>
        </p:grpSpPr>
        <p:sp>
          <p:nvSpPr>
            <p:cNvPr id="99" name="Line 70"/>
            <p:cNvSpPr>
              <a:spLocks noChangeShapeType="1"/>
            </p:cNvSpPr>
            <p:nvPr/>
          </p:nvSpPr>
          <p:spPr bwMode="auto">
            <a:xfrm>
              <a:off x="5009746" y="2926446"/>
              <a:ext cx="345008"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 name="组合 8"/>
            <p:cNvGrpSpPr/>
            <p:nvPr/>
          </p:nvGrpSpPr>
          <p:grpSpPr>
            <a:xfrm>
              <a:off x="4561998" y="2435344"/>
              <a:ext cx="2933832" cy="1226166"/>
              <a:chOff x="4561998" y="2435344"/>
              <a:chExt cx="2933832" cy="1226166"/>
            </a:xfrm>
          </p:grpSpPr>
          <p:sp>
            <p:nvSpPr>
              <p:cNvPr id="84" name="Text Box 69"/>
              <p:cNvSpPr txBox="1">
                <a:spLocks noChangeArrowheads="1"/>
              </p:cNvSpPr>
              <p:nvPr/>
            </p:nvSpPr>
            <p:spPr bwMode="auto">
              <a:xfrm>
                <a:off x="4975907" y="3181379"/>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p:txBody>
          </p:sp>
          <p:sp>
            <p:nvSpPr>
              <p:cNvPr id="85" name="Freeform 71"/>
              <p:cNvSpPr>
                <a:spLocks/>
              </p:cNvSpPr>
              <p:nvPr/>
            </p:nvSpPr>
            <p:spPr bwMode="auto">
              <a:xfrm>
                <a:off x="5529670" y="2435344"/>
                <a:ext cx="1966160" cy="491102"/>
              </a:xfrm>
              <a:custGeom>
                <a:avLst/>
                <a:gdLst>
                  <a:gd name="T0" fmla="*/ 0 w 1688"/>
                  <a:gd name="T1" fmla="*/ 2147483647 h 427"/>
                  <a:gd name="T2" fmla="*/ 2147483647 w 1688"/>
                  <a:gd name="T3" fmla="*/ 2147483647 h 427"/>
                  <a:gd name="T4" fmla="*/ 2147483647 w 1688"/>
                  <a:gd name="T5" fmla="*/ 2147483647 h 427"/>
                  <a:gd name="T6" fmla="*/ 2147483647 w 1688"/>
                  <a:gd name="T7" fmla="*/ 2147483647 h 427"/>
                  <a:gd name="T8" fmla="*/ 2147483647 w 1688"/>
                  <a:gd name="T9" fmla="*/ 2147483647 h 427"/>
                  <a:gd name="T10" fmla="*/ 2147483647 w 1688"/>
                  <a:gd name="T11" fmla="*/ 0 h 427"/>
                  <a:gd name="T12" fmla="*/ 0 60000 65536"/>
                  <a:gd name="T13" fmla="*/ 0 60000 65536"/>
                  <a:gd name="T14" fmla="*/ 0 60000 65536"/>
                  <a:gd name="T15" fmla="*/ 0 60000 65536"/>
                  <a:gd name="T16" fmla="*/ 0 60000 65536"/>
                  <a:gd name="T17" fmla="*/ 0 60000 65536"/>
                  <a:gd name="T18" fmla="*/ 0 w 1688"/>
                  <a:gd name="T19" fmla="*/ 0 h 427"/>
                  <a:gd name="T20" fmla="*/ 1688 w 1688"/>
                  <a:gd name="T21" fmla="*/ 427 h 427"/>
                </a:gdLst>
                <a:ahLst/>
                <a:cxnLst>
                  <a:cxn ang="T12">
                    <a:pos x="T0" y="T1"/>
                  </a:cxn>
                  <a:cxn ang="T13">
                    <a:pos x="T2" y="T3"/>
                  </a:cxn>
                  <a:cxn ang="T14">
                    <a:pos x="T4" y="T5"/>
                  </a:cxn>
                  <a:cxn ang="T15">
                    <a:pos x="T6" y="T7"/>
                  </a:cxn>
                  <a:cxn ang="T16">
                    <a:pos x="T8" y="T9"/>
                  </a:cxn>
                  <a:cxn ang="T17">
                    <a:pos x="T10" y="T11"/>
                  </a:cxn>
                </a:cxnLst>
                <a:rect l="T18" t="T19" r="T20" b="T21"/>
                <a:pathLst>
                  <a:path w="1688" h="427">
                    <a:moveTo>
                      <a:pt x="0" y="425"/>
                    </a:moveTo>
                    <a:cubicBezTo>
                      <a:pt x="76" y="424"/>
                      <a:pt x="320" y="427"/>
                      <a:pt x="456" y="416"/>
                    </a:cubicBezTo>
                    <a:cubicBezTo>
                      <a:pt x="592" y="405"/>
                      <a:pt x="712" y="381"/>
                      <a:pt x="816" y="360"/>
                    </a:cubicBezTo>
                    <a:cubicBezTo>
                      <a:pt x="920" y="339"/>
                      <a:pt x="993" y="316"/>
                      <a:pt x="1080" y="288"/>
                    </a:cubicBezTo>
                    <a:cubicBezTo>
                      <a:pt x="1167" y="260"/>
                      <a:pt x="1235" y="240"/>
                      <a:pt x="1336" y="192"/>
                    </a:cubicBezTo>
                    <a:cubicBezTo>
                      <a:pt x="1437" y="144"/>
                      <a:pt x="1615" y="40"/>
                      <a:pt x="1688" y="0"/>
                    </a:cubicBezTo>
                  </a:path>
                </a:pathLst>
              </a:custGeom>
              <a:noFill/>
              <a:ln w="38100" cmpd="sng">
                <a:solidFill>
                  <a:srgbClr val="000099"/>
                </a:solidFill>
                <a:round/>
                <a:headEnd type="triangl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1" name="Group 42"/>
              <p:cNvGrpSpPr>
                <a:grpSpLocks/>
              </p:cNvGrpSpPr>
              <p:nvPr/>
            </p:nvGrpSpPr>
            <p:grpSpPr bwMode="auto">
              <a:xfrm flipH="1">
                <a:off x="4837242" y="2877768"/>
                <a:ext cx="632936" cy="98437"/>
                <a:chOff x="521" y="2478"/>
                <a:chExt cx="1044" cy="136"/>
              </a:xfrm>
            </p:grpSpPr>
            <p:sp>
              <p:nvSpPr>
                <p:cNvPr id="92"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3"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4"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8" name="Text Box 154"/>
              <p:cNvSpPr txBox="1">
                <a:spLocks noChangeArrowheads="1"/>
              </p:cNvSpPr>
              <p:nvPr/>
            </p:nvSpPr>
            <p:spPr bwMode="auto">
              <a:xfrm flipH="1">
                <a:off x="4561998" y="281827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grpSp>
        <p:nvGrpSpPr>
          <p:cNvPr id="5" name="组合 4"/>
          <p:cNvGrpSpPr/>
          <p:nvPr/>
        </p:nvGrpSpPr>
        <p:grpSpPr>
          <a:xfrm>
            <a:off x="1982177" y="2092438"/>
            <a:ext cx="1572866" cy="793444"/>
            <a:chOff x="1982177" y="2092438"/>
            <a:chExt cx="1572866" cy="793444"/>
          </a:xfrm>
        </p:grpSpPr>
        <p:grpSp>
          <p:nvGrpSpPr>
            <p:cNvPr id="72" name="Group 42"/>
            <p:cNvGrpSpPr>
              <a:grpSpLocks/>
            </p:cNvGrpSpPr>
            <p:nvPr/>
          </p:nvGrpSpPr>
          <p:grpSpPr bwMode="auto">
            <a:xfrm>
              <a:off x="2075913" y="2680895"/>
              <a:ext cx="632937" cy="98437"/>
              <a:chOff x="521" y="2478"/>
              <a:chExt cx="1044" cy="136"/>
            </a:xfrm>
          </p:grpSpPr>
          <p:sp>
            <p:nvSpPr>
              <p:cNvPr id="73"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4"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5"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76" name="Text Box 44"/>
            <p:cNvSpPr txBox="1">
              <a:spLocks noChangeArrowheads="1"/>
            </p:cNvSpPr>
            <p:nvPr/>
          </p:nvSpPr>
          <p:spPr bwMode="auto">
            <a:xfrm>
              <a:off x="1982177" y="2092438"/>
              <a:ext cx="1572866"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192.168.0.3</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213.28.2.4</a:t>
              </a:r>
            </a:p>
          </p:txBody>
        </p:sp>
        <p:sp>
          <p:nvSpPr>
            <p:cNvPr id="79" name="Line 51"/>
            <p:cNvSpPr>
              <a:spLocks noChangeShapeType="1"/>
            </p:cNvSpPr>
            <p:nvPr/>
          </p:nvSpPr>
          <p:spPr bwMode="auto">
            <a:xfrm flipH="1">
              <a:off x="2527159" y="2513861"/>
              <a:ext cx="257518" cy="21373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9" name="Text Box 177"/>
            <p:cNvSpPr txBox="1">
              <a:spLocks noChangeArrowheads="1"/>
            </p:cNvSpPr>
            <p:nvPr/>
          </p:nvSpPr>
          <p:spPr bwMode="auto">
            <a:xfrm flipH="1">
              <a:off x="2650503" y="2547328"/>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sp>
        <p:nvSpPr>
          <p:cNvPr id="110" name="椭圆 109"/>
          <p:cNvSpPr/>
          <p:nvPr/>
        </p:nvSpPr>
        <p:spPr>
          <a:xfrm>
            <a:off x="4286752" y="2800966"/>
            <a:ext cx="57078" cy="48677"/>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112" name="Line 53"/>
          <p:cNvSpPr>
            <a:spLocks noChangeShapeType="1"/>
          </p:cNvSpPr>
          <p:nvPr/>
        </p:nvSpPr>
        <p:spPr bwMode="auto">
          <a:xfrm flipH="1">
            <a:off x="4247430" y="2828009"/>
            <a:ext cx="72301" cy="506154"/>
          </a:xfrm>
          <a:prstGeom prst="line">
            <a:avLst/>
          </a:prstGeom>
          <a:noFill/>
          <a:ln w="9525">
            <a:solidFill>
              <a:schemeClr val="tx1"/>
            </a:solidFill>
            <a:round/>
            <a:headEnd type="triangle" w="sm" len="lg"/>
            <a:tailEnd type="none" w="sm" len="lg"/>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组合 5"/>
          <p:cNvGrpSpPr/>
          <p:nvPr/>
        </p:nvGrpSpPr>
        <p:grpSpPr>
          <a:xfrm>
            <a:off x="3721797" y="1084897"/>
            <a:ext cx="2259040" cy="1670637"/>
            <a:chOff x="3613161" y="1084897"/>
            <a:chExt cx="2259040" cy="1670637"/>
          </a:xfrm>
        </p:grpSpPr>
        <p:sp>
          <p:nvSpPr>
            <p:cNvPr id="111" name="Text Box 76"/>
            <p:cNvSpPr txBox="1">
              <a:spLocks noChangeArrowheads="1"/>
            </p:cNvSpPr>
            <p:nvPr/>
          </p:nvSpPr>
          <p:spPr bwMode="auto">
            <a:xfrm>
              <a:off x="3613161" y="1084897"/>
              <a:ext cx="2259040" cy="987963"/>
            </a:xfrm>
            <a:prstGeom prst="rect">
              <a:avLst/>
            </a:prstGeom>
            <a:solidFill>
              <a:srgbClr val="FFFFFF"/>
            </a:solidFill>
            <a:ln w="9525">
              <a:solidFill>
                <a:schemeClr val="tx1"/>
              </a:solidFill>
              <a:miter lim="800000"/>
              <a:headEnd/>
              <a:tailEnd/>
            </a:ln>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NAT </a:t>
              </a:r>
              <a:r>
                <a:rPr kumimoji="1" lang="zh-CN" altLang="en-US" sz="1200" b="1" dirty="0">
                  <a:latin typeface="微软雅黑" panose="020B0503020204020204" pitchFamily="34" charset="-122"/>
                  <a:ea typeface="微软雅黑" panose="020B0503020204020204" pitchFamily="34" charset="-122"/>
                </a:rPr>
                <a:t>转换表</a:t>
              </a:r>
              <a:endParaRPr kumimoji="1" lang="en-US" altLang="zh-CN" sz="1200" b="1" dirty="0">
                <a:latin typeface="微软雅黑" panose="020B0503020204020204" pitchFamily="34" charset="-122"/>
                <a:ea typeface="微软雅黑" panose="020B0503020204020204" pitchFamily="34" charset="-122"/>
              </a:endParaRPr>
            </a:p>
            <a:p>
              <a:pPr algn="ctr" eaLnBrk="1" hangingPunct="1">
                <a:lnSpc>
                  <a:spcPct val="90000"/>
                </a:lnSpc>
                <a:spcBef>
                  <a:spcPts val="600"/>
                </a:spcBef>
              </a:pPr>
              <a:r>
                <a:rPr kumimoji="1" lang="zh-CN" altLang="en-US" sz="1200" b="1" dirty="0">
                  <a:latin typeface="微软雅黑" panose="020B0503020204020204" pitchFamily="34" charset="-122"/>
                  <a:ea typeface="微软雅黑" panose="020B0503020204020204" pitchFamily="34" charset="-122"/>
                </a:rPr>
                <a:t>专用网地址         全球 </a:t>
              </a:r>
              <a:r>
                <a:rPr kumimoji="1" lang="en-US" altLang="zh-CN" sz="1200" b="1" dirty="0">
                  <a:latin typeface="微软雅黑" panose="020B0503020204020204" pitchFamily="34" charset="-122"/>
                  <a:ea typeface="微软雅黑" panose="020B0503020204020204" pitchFamily="34" charset="-122"/>
                </a:rPr>
                <a:t>IP </a:t>
              </a:r>
              <a:r>
                <a:rPr kumimoji="1" lang="zh-CN" altLang="en-US" sz="1200" b="1" dirty="0">
                  <a:latin typeface="微软雅黑" panose="020B0503020204020204" pitchFamily="34" charset="-122"/>
                  <a:ea typeface="微软雅黑" panose="020B0503020204020204" pitchFamily="34" charset="-122"/>
                </a:rPr>
                <a:t>地址      </a:t>
              </a:r>
              <a:endParaRPr kumimoji="1" lang="en-US" altLang="zh-CN" sz="1200" b="1" dirty="0">
                <a:latin typeface="微软雅黑" panose="020B0503020204020204" pitchFamily="34" charset="-122"/>
                <a:ea typeface="微软雅黑" panose="020B0503020204020204" pitchFamily="34" charset="-122"/>
              </a:endParaRPr>
            </a:p>
            <a:p>
              <a:pPr eaLnBrk="1" hangingPunct="1">
                <a:lnSpc>
                  <a:spcPct val="90000"/>
                </a:lnSpc>
                <a:spcBef>
                  <a:spcPts val="600"/>
                </a:spcBef>
              </a:pPr>
              <a:r>
                <a:rPr kumimoji="1" lang="en-US" altLang="zh-CN" sz="1200" b="1" dirty="0">
                  <a:solidFill>
                    <a:srgbClr val="0000FF"/>
                  </a:solidFill>
                  <a:latin typeface="微软雅黑" panose="020B0503020204020204" pitchFamily="34" charset="-122"/>
                  <a:ea typeface="微软雅黑" panose="020B0503020204020204" pitchFamily="34" charset="-122"/>
                </a:rPr>
                <a:t>192.168.0.3      172.38.1.5  </a:t>
              </a:r>
            </a:p>
            <a:p>
              <a:pP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       …                    …</a:t>
              </a:r>
            </a:p>
          </p:txBody>
        </p:sp>
        <p:cxnSp>
          <p:nvCxnSpPr>
            <p:cNvPr id="113" name="直接连接符 112"/>
            <p:cNvCxnSpPr/>
            <p:nvPr/>
          </p:nvCxnSpPr>
          <p:spPr>
            <a:xfrm>
              <a:off x="3613161" y="1329708"/>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613161" y="1560773"/>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a:endCxn id="111" idx="2"/>
            </p:cNvCxnSpPr>
            <p:nvPr/>
          </p:nvCxnSpPr>
          <p:spPr>
            <a:xfrm>
              <a:off x="4742681" y="1329708"/>
              <a:ext cx="0" cy="74315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6" name="直接连接符 115"/>
            <p:cNvCxnSpPr>
              <a:stCxn id="111" idx="2"/>
              <a:endCxn id="63" idx="0"/>
            </p:cNvCxnSpPr>
            <p:nvPr/>
          </p:nvCxnSpPr>
          <p:spPr>
            <a:xfrm flipH="1">
              <a:off x="4067318" y="2072860"/>
              <a:ext cx="675363" cy="6826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17" name="Text Box 52"/>
          <p:cNvSpPr txBox="1">
            <a:spLocks noChangeArrowheads="1"/>
          </p:cNvSpPr>
          <p:nvPr/>
        </p:nvSpPr>
        <p:spPr bwMode="auto">
          <a:xfrm>
            <a:off x="7679242" y="2190875"/>
            <a:ext cx="32573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a:solidFill>
                  <a:srgbClr val="0000FF"/>
                </a:solidFill>
                <a:latin typeface="微软雅黑" panose="020B0503020204020204" pitchFamily="34" charset="-122"/>
                <a:ea typeface="微软雅黑" panose="020B0503020204020204" pitchFamily="34" charset="-122"/>
              </a:rPr>
              <a:t>B</a:t>
            </a:r>
          </a:p>
        </p:txBody>
      </p:sp>
      <p:grpSp>
        <p:nvGrpSpPr>
          <p:cNvPr id="8" name="组合 7"/>
          <p:cNvGrpSpPr/>
          <p:nvPr/>
        </p:nvGrpSpPr>
        <p:grpSpPr>
          <a:xfrm>
            <a:off x="4606392" y="2117035"/>
            <a:ext cx="2878021" cy="786953"/>
            <a:chOff x="4606392" y="2117035"/>
            <a:chExt cx="2878021" cy="786953"/>
          </a:xfrm>
        </p:grpSpPr>
        <p:sp>
          <p:nvSpPr>
            <p:cNvPr id="107" name="Text Box 141"/>
            <p:cNvSpPr txBox="1">
              <a:spLocks noChangeArrowheads="1"/>
            </p:cNvSpPr>
            <p:nvPr/>
          </p:nvSpPr>
          <p:spPr bwMode="auto">
            <a:xfrm flipH="1">
              <a:off x="5198738" y="256543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nvGrpSpPr>
            <p:cNvPr id="7" name="组合 6"/>
            <p:cNvGrpSpPr/>
            <p:nvPr/>
          </p:nvGrpSpPr>
          <p:grpSpPr>
            <a:xfrm>
              <a:off x="4606392" y="2117035"/>
              <a:ext cx="2878021" cy="662297"/>
              <a:chOff x="4606392" y="2117035"/>
              <a:chExt cx="2878021" cy="662297"/>
            </a:xfrm>
          </p:grpSpPr>
          <p:sp>
            <p:nvSpPr>
              <p:cNvPr id="78" name="Text Box 50"/>
              <p:cNvSpPr txBox="1">
                <a:spLocks noChangeArrowheads="1"/>
              </p:cNvSpPr>
              <p:nvPr/>
            </p:nvSpPr>
            <p:spPr bwMode="auto">
              <a:xfrm>
                <a:off x="4956375" y="2117035"/>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213.18.2.4</a:t>
                </a:r>
              </a:p>
            </p:txBody>
          </p:sp>
          <p:sp>
            <p:nvSpPr>
              <p:cNvPr id="82" name="Freeform 54"/>
              <p:cNvSpPr>
                <a:spLocks/>
              </p:cNvSpPr>
              <p:nvPr/>
            </p:nvSpPr>
            <p:spPr bwMode="auto">
              <a:xfrm>
                <a:off x="5485264" y="2288230"/>
                <a:ext cx="1999149" cy="446751"/>
              </a:xfrm>
              <a:custGeom>
                <a:avLst/>
                <a:gdLst>
                  <a:gd name="T0" fmla="*/ 0 w 1679"/>
                  <a:gd name="T1" fmla="*/ 2147483647 h 413"/>
                  <a:gd name="T2" fmla="*/ 2147483647 w 1679"/>
                  <a:gd name="T3" fmla="*/ 2147483647 h 413"/>
                  <a:gd name="T4" fmla="*/ 2147483647 w 1679"/>
                  <a:gd name="T5" fmla="*/ 2147483647 h 413"/>
                  <a:gd name="T6" fmla="*/ 2147483647 w 1679"/>
                  <a:gd name="T7" fmla="*/ 2147483647 h 413"/>
                  <a:gd name="T8" fmla="*/ 2147483647 w 1679"/>
                  <a:gd name="T9" fmla="*/ 2147483647 h 413"/>
                  <a:gd name="T10" fmla="*/ 2147483647 w 1679"/>
                  <a:gd name="T11" fmla="*/ 0 h 413"/>
                  <a:gd name="T12" fmla="*/ 0 60000 65536"/>
                  <a:gd name="T13" fmla="*/ 0 60000 65536"/>
                  <a:gd name="T14" fmla="*/ 0 60000 65536"/>
                  <a:gd name="T15" fmla="*/ 0 60000 65536"/>
                  <a:gd name="T16" fmla="*/ 0 60000 65536"/>
                  <a:gd name="T17" fmla="*/ 0 60000 65536"/>
                  <a:gd name="T18" fmla="*/ 0 w 1679"/>
                  <a:gd name="T19" fmla="*/ 0 h 413"/>
                  <a:gd name="T20" fmla="*/ 1679 w 1679"/>
                  <a:gd name="T21" fmla="*/ 413 h 413"/>
                </a:gdLst>
                <a:ahLst/>
                <a:cxnLst>
                  <a:cxn ang="T12">
                    <a:pos x="T0" y="T1"/>
                  </a:cxn>
                  <a:cxn ang="T13">
                    <a:pos x="T2" y="T3"/>
                  </a:cxn>
                  <a:cxn ang="T14">
                    <a:pos x="T4" y="T5"/>
                  </a:cxn>
                  <a:cxn ang="T15">
                    <a:pos x="T6" y="T7"/>
                  </a:cxn>
                  <a:cxn ang="T16">
                    <a:pos x="T8" y="T9"/>
                  </a:cxn>
                  <a:cxn ang="T17">
                    <a:pos x="T10" y="T11"/>
                  </a:cxn>
                </a:cxnLst>
                <a:rect l="T18" t="T19" r="T20" b="T21"/>
                <a:pathLst>
                  <a:path w="1679" h="413">
                    <a:moveTo>
                      <a:pt x="0" y="409"/>
                    </a:moveTo>
                    <a:cubicBezTo>
                      <a:pt x="79" y="408"/>
                      <a:pt x="335" y="413"/>
                      <a:pt x="475" y="401"/>
                    </a:cubicBezTo>
                    <a:cubicBezTo>
                      <a:pt x="615" y="389"/>
                      <a:pt x="731" y="364"/>
                      <a:pt x="843" y="337"/>
                    </a:cubicBezTo>
                    <a:cubicBezTo>
                      <a:pt x="955" y="310"/>
                      <a:pt x="1056" y="273"/>
                      <a:pt x="1147" y="241"/>
                    </a:cubicBezTo>
                    <a:cubicBezTo>
                      <a:pt x="1238" y="209"/>
                      <a:pt x="1298" y="185"/>
                      <a:pt x="1387" y="145"/>
                    </a:cubicBezTo>
                    <a:cubicBezTo>
                      <a:pt x="1476" y="105"/>
                      <a:pt x="1618" y="30"/>
                      <a:pt x="1679" y="0"/>
                    </a:cubicBezTo>
                  </a:path>
                </a:pathLst>
              </a:custGeom>
              <a:noFill/>
              <a:ln w="38100" cmpd="sng">
                <a:solidFill>
                  <a:srgbClr val="990099"/>
                </a:solidFill>
                <a:round/>
                <a:headEnd type="none" w="med" len="med"/>
                <a:tailEnd type="triangl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5" name="Group 42"/>
              <p:cNvGrpSpPr>
                <a:grpSpLocks/>
              </p:cNvGrpSpPr>
              <p:nvPr/>
            </p:nvGrpSpPr>
            <p:grpSpPr bwMode="auto">
              <a:xfrm>
                <a:off x="4606392" y="2680895"/>
                <a:ext cx="631668" cy="98437"/>
                <a:chOff x="521" y="2478"/>
                <a:chExt cx="1044" cy="136"/>
              </a:xfrm>
            </p:grpSpPr>
            <p:sp>
              <p:nvSpPr>
                <p:cNvPr id="96"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7" name="Rectangle 39"/>
                <p:cNvSpPr>
                  <a:spLocks noChangeArrowheads="1"/>
                </p:cNvSpPr>
                <p:nvPr/>
              </p:nvSpPr>
              <p:spPr bwMode="auto">
                <a:xfrm>
                  <a:off x="521" y="2478"/>
                  <a:ext cx="635" cy="136"/>
                </a:xfrm>
                <a:prstGeom prst="rect">
                  <a:avLst/>
                </a:prstGeom>
                <a:solidFill>
                  <a:schemeClr val="bg1"/>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8"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81" name="Line 53"/>
              <p:cNvSpPr>
                <a:spLocks noChangeShapeType="1"/>
              </p:cNvSpPr>
              <p:nvPr/>
            </p:nvSpPr>
            <p:spPr bwMode="auto">
              <a:xfrm flipH="1">
                <a:off x="5048718" y="2533779"/>
                <a:ext cx="229500" cy="18782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12" name="标题 11">
            <a:extLst>
              <a:ext uri="{FF2B5EF4-FFF2-40B4-BE49-F238E27FC236}">
                <a16:creationId xmlns:a16="http://schemas.microsoft.com/office/drawing/2014/main" id="{5B126646-3BB7-10CE-E44D-4A65BBDDB37C}"/>
              </a:ext>
            </a:extLst>
          </p:cNvPr>
          <p:cNvSpPr>
            <a:spLocks noGrp="1"/>
          </p:cNvSpPr>
          <p:nvPr>
            <p:ph type="title"/>
          </p:nvPr>
        </p:nvSpPr>
        <p:spPr>
          <a:xfrm>
            <a:off x="486000" y="550723"/>
            <a:ext cx="8172000" cy="338554"/>
          </a:xfrm>
        </p:spPr>
        <p:txBody>
          <a:bodyPr/>
          <a:lstStyle/>
          <a:p>
            <a:r>
              <a:rPr lang="zh-CN" altLang="en-US" dirty="0"/>
              <a:t>网络地址转换的过程</a:t>
            </a:r>
          </a:p>
        </p:txBody>
      </p:sp>
    </p:spTree>
    <p:extLst>
      <p:ext uri="{BB962C8B-B14F-4D97-AF65-F5344CB8AC3E}">
        <p14:creationId xmlns:p14="http://schemas.microsoft.com/office/powerpoint/2010/main" val="29142122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2"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wipe(right)">
                                      <p:cBhvr>
                                        <p:cTn id="22" dur="5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2" fill="hold"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wipe(right)">
                                      <p:cBhvr>
                                        <p:cTn id="2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F8D7CE7-0B9B-D796-49AB-86F163BC0554}"/>
              </a:ext>
            </a:extLst>
          </p:cNvPr>
          <p:cNvSpPr>
            <a:spLocks noGrp="1"/>
          </p:cNvSpPr>
          <p:nvPr>
            <p:ph type="title"/>
          </p:nvPr>
        </p:nvSpPr>
        <p:spPr>
          <a:xfrm>
            <a:off x="486000" y="550723"/>
            <a:ext cx="8172000" cy="338554"/>
          </a:xfrm>
        </p:spPr>
        <p:txBody>
          <a:bodyPr/>
          <a:lstStyle/>
          <a:p>
            <a:r>
              <a:rPr lang="zh-CN" altLang="en-US" dirty="0"/>
              <a:t>网络地址转换的过程</a:t>
            </a:r>
          </a:p>
        </p:txBody>
      </p:sp>
      <p:sp>
        <p:nvSpPr>
          <p:cNvPr id="8" name="内容占位符 7">
            <a:extLst>
              <a:ext uri="{FF2B5EF4-FFF2-40B4-BE49-F238E27FC236}">
                <a16:creationId xmlns:a16="http://schemas.microsoft.com/office/drawing/2014/main" id="{5937AD1D-5491-ABB6-2240-3F1749A9F381}"/>
              </a:ext>
            </a:extLst>
          </p:cNvPr>
          <p:cNvSpPr>
            <a:spLocks noGrp="1"/>
          </p:cNvSpPr>
          <p:nvPr>
            <p:ph sz="quarter" idx="11"/>
          </p:nvPr>
        </p:nvSpPr>
        <p:spPr>
          <a:xfrm>
            <a:off x="486000" y="900000"/>
            <a:ext cx="8172000" cy="3703500"/>
          </a:xfrm>
        </p:spPr>
        <p:txBody>
          <a:bodyPr/>
          <a:lstStyle/>
          <a:p>
            <a:r>
              <a:rPr lang="zh-CN" altLang="en-US" dirty="0"/>
              <a:t>在内部主机与外部主机通信时，在 </a:t>
            </a:r>
            <a:r>
              <a:rPr lang="en-US" altLang="zh-CN" dirty="0"/>
              <a:t>NAT </a:t>
            </a:r>
            <a:r>
              <a:rPr lang="zh-CN" altLang="en-US" dirty="0"/>
              <a:t>路由器上发生了两次地址转换：</a:t>
            </a:r>
          </a:p>
          <a:p>
            <a:pPr lvl="1"/>
            <a:r>
              <a:rPr lang="zh-CN" altLang="en-US" dirty="0"/>
              <a:t>离开专用网时：替换源地址，将内部地址替换为全球地址。</a:t>
            </a:r>
          </a:p>
          <a:p>
            <a:pPr lvl="1"/>
            <a:r>
              <a:rPr lang="zh-CN" altLang="en-US" dirty="0"/>
              <a:t>进入专用网时：替换目的地址，将全球地址替换为内部地址。</a:t>
            </a:r>
          </a:p>
          <a:p>
            <a:endParaRPr lang="zh-CN" altLang="en-US" dirty="0"/>
          </a:p>
        </p:txBody>
      </p:sp>
      <p:graphicFrame>
        <p:nvGraphicFramePr>
          <p:cNvPr id="11" name="表格 10">
            <a:extLst>
              <a:ext uri="{FF2B5EF4-FFF2-40B4-BE49-F238E27FC236}">
                <a16:creationId xmlns:a16="http://schemas.microsoft.com/office/drawing/2014/main" id="{B9D64B0C-5C70-B591-4D4F-C89D948C513D}"/>
              </a:ext>
            </a:extLst>
          </p:cNvPr>
          <p:cNvGraphicFramePr>
            <a:graphicFrameLocks noGrp="1"/>
          </p:cNvGraphicFramePr>
          <p:nvPr>
            <p:extLst>
              <p:ext uri="{D42A27DB-BD31-4B8C-83A1-F6EECF244321}">
                <p14:modId xmlns:p14="http://schemas.microsoft.com/office/powerpoint/2010/main" val="563137447"/>
              </p:ext>
            </p:extLst>
          </p:nvPr>
        </p:nvGraphicFramePr>
        <p:xfrm>
          <a:off x="1692000" y="2418564"/>
          <a:ext cx="5760000" cy="900000"/>
        </p:xfrm>
        <a:graphic>
          <a:graphicData uri="http://schemas.openxmlformats.org/drawingml/2006/table">
            <a:tbl>
              <a:tblPr firstRow="1" bandRow="1">
                <a:tableStyleId>{7DF18680-E054-41AD-8BC1-D1AEF772440D}</a:tableStyleId>
              </a:tblPr>
              <a:tblGrid>
                <a:gridCol w="1440000">
                  <a:extLst>
                    <a:ext uri="{9D8B030D-6E8A-4147-A177-3AD203B41FA5}">
                      <a16:colId xmlns:a16="http://schemas.microsoft.com/office/drawing/2014/main" val="1690366357"/>
                    </a:ext>
                  </a:extLst>
                </a:gridCol>
                <a:gridCol w="1440000">
                  <a:extLst>
                    <a:ext uri="{9D8B030D-6E8A-4147-A177-3AD203B41FA5}">
                      <a16:colId xmlns:a16="http://schemas.microsoft.com/office/drawing/2014/main" val="3113963944"/>
                    </a:ext>
                  </a:extLst>
                </a:gridCol>
                <a:gridCol w="1440000">
                  <a:extLst>
                    <a:ext uri="{9D8B030D-6E8A-4147-A177-3AD203B41FA5}">
                      <a16:colId xmlns:a16="http://schemas.microsoft.com/office/drawing/2014/main" val="407973877"/>
                    </a:ext>
                  </a:extLst>
                </a:gridCol>
                <a:gridCol w="1440000">
                  <a:extLst>
                    <a:ext uri="{9D8B030D-6E8A-4147-A177-3AD203B41FA5}">
                      <a16:colId xmlns:a16="http://schemas.microsoft.com/office/drawing/2014/main" val="3728440369"/>
                    </a:ext>
                  </a:extLst>
                </a:gridCol>
              </a:tblGrid>
              <a:tr h="300000">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方向</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字段</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旧的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新的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extLst>
                  <a:ext uri="{0D108BD9-81ED-4DB2-BD59-A6C34878D82A}">
                    <a16:rowId xmlns:a16="http://schemas.microsoft.com/office/drawing/2014/main" val="2984686918"/>
                  </a:ext>
                </a:extLst>
              </a:tr>
              <a:tr h="30000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出</a:t>
                      </a:r>
                      <a:r>
                        <a:rPr lang="zh-CN" altLang="en-US" sz="1200" b="0" baseline="0" dirty="0">
                          <a:solidFill>
                            <a:schemeClr val="tx1"/>
                          </a:solidFill>
                          <a:effectLst/>
                          <a:latin typeface="Montserrat" panose="00000500000000000000" pitchFamily="2" charset="0"/>
                          <a:ea typeface="微软雅黑 Light" panose="020B0502040204020203" pitchFamily="34" charset="-122"/>
                        </a:rPr>
                        <a:t>（发往互联网）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源</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4286783472"/>
                  </a:ext>
                </a:extLst>
              </a:tr>
              <a:tr h="30000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入</a:t>
                      </a:r>
                      <a:r>
                        <a:rPr lang="zh-CN" altLang="en-US" sz="1200" b="0" baseline="0" dirty="0">
                          <a:solidFill>
                            <a:schemeClr val="tx1"/>
                          </a:solidFill>
                          <a:effectLst/>
                          <a:latin typeface="Montserrat" panose="00000500000000000000" pitchFamily="2" charset="0"/>
                          <a:ea typeface="微软雅黑 Light" panose="020B0502040204020203" pitchFamily="34" charset="-122"/>
                        </a:rPr>
                        <a:t>（进入专用网）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目的</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53092961"/>
                  </a:ext>
                </a:extLst>
              </a:tr>
            </a:tbl>
          </a:graphicData>
        </a:graphic>
      </p:graphicFrame>
    </p:spTree>
    <p:extLst>
      <p:ext uri="{BB962C8B-B14F-4D97-AF65-F5344CB8AC3E}">
        <p14:creationId xmlns:p14="http://schemas.microsoft.com/office/powerpoint/2010/main" val="2718182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529C88A2-3E46-4CB1-6600-1AFA91632CE1}"/>
              </a:ext>
            </a:extLst>
          </p:cNvPr>
          <p:cNvSpPr>
            <a:spLocks noGrp="1"/>
          </p:cNvSpPr>
          <p:nvPr>
            <p:ph type="title"/>
          </p:nvPr>
        </p:nvSpPr>
        <p:spPr>
          <a:xfrm>
            <a:off x="486000" y="550723"/>
            <a:ext cx="8172000" cy="338554"/>
          </a:xfrm>
        </p:spPr>
        <p:txBody>
          <a:bodyPr/>
          <a:lstStyle/>
          <a:p>
            <a:r>
              <a:rPr lang="zh-CN" altLang="en-US" dirty="0"/>
              <a:t>网络地址转换 </a:t>
            </a:r>
            <a:r>
              <a:rPr lang="en-US" altLang="zh-CN" dirty="0"/>
              <a:t>NAT</a:t>
            </a:r>
            <a:endParaRPr lang="zh-CN" altLang="en-US" dirty="0"/>
          </a:p>
        </p:txBody>
      </p:sp>
      <p:sp>
        <p:nvSpPr>
          <p:cNvPr id="8" name="内容占位符 7">
            <a:extLst>
              <a:ext uri="{FF2B5EF4-FFF2-40B4-BE49-F238E27FC236}">
                <a16:creationId xmlns:a16="http://schemas.microsoft.com/office/drawing/2014/main" id="{573551FB-62A5-33CA-338E-9D43B444527B}"/>
              </a:ext>
            </a:extLst>
          </p:cNvPr>
          <p:cNvSpPr>
            <a:spLocks noGrp="1"/>
          </p:cNvSpPr>
          <p:nvPr>
            <p:ph sz="quarter" idx="11"/>
          </p:nvPr>
        </p:nvSpPr>
        <p:spPr>
          <a:xfrm>
            <a:off x="486000" y="900000"/>
            <a:ext cx="8172000" cy="3703500"/>
          </a:xfrm>
        </p:spPr>
        <p:txBody>
          <a:bodyPr/>
          <a:lstStyle/>
          <a:p>
            <a:r>
              <a:rPr lang="zh-CN" altLang="en-US" dirty="0"/>
              <a:t>当 </a:t>
            </a:r>
            <a:r>
              <a:rPr lang="en-US" altLang="zh-CN" dirty="0"/>
              <a:t>NAT </a:t>
            </a:r>
            <a:r>
              <a:rPr lang="zh-CN" altLang="en-US" dirty="0"/>
              <a:t>路由器具有 </a:t>
            </a:r>
            <a:r>
              <a:rPr lang="en-US" altLang="zh-CN" dirty="0"/>
              <a:t>n </a:t>
            </a:r>
            <a:r>
              <a:rPr lang="zh-CN" altLang="en-US" dirty="0"/>
              <a:t>个全球 </a:t>
            </a:r>
            <a:r>
              <a:rPr lang="en-US" altLang="zh-CN" dirty="0"/>
              <a:t>IP </a:t>
            </a:r>
            <a:r>
              <a:rPr lang="zh-CN" altLang="en-US" dirty="0"/>
              <a:t>地址时，专用网内最多可以同时有 </a:t>
            </a:r>
            <a:r>
              <a:rPr lang="en-US" altLang="zh-CN" dirty="0"/>
              <a:t>n </a:t>
            </a:r>
            <a:r>
              <a:rPr lang="zh-CN" altLang="en-US" dirty="0"/>
              <a:t>台主机接入到互联网</a:t>
            </a:r>
            <a:endParaRPr lang="en-US" altLang="zh-CN" dirty="0"/>
          </a:p>
          <a:p>
            <a:r>
              <a:rPr lang="zh-CN" altLang="en-US" dirty="0"/>
              <a:t>可以使专用网内较多数量的主机轮流使用 </a:t>
            </a:r>
            <a:r>
              <a:rPr lang="en-US" altLang="zh-CN" dirty="0"/>
              <a:t>NAT </a:t>
            </a:r>
            <a:r>
              <a:rPr lang="zh-CN" altLang="en-US" dirty="0"/>
              <a:t>路由器有限数量的全球 </a:t>
            </a:r>
            <a:r>
              <a:rPr lang="en-US" altLang="zh-CN" dirty="0"/>
              <a:t>IP </a:t>
            </a:r>
            <a:r>
              <a:rPr lang="zh-CN" altLang="en-US" dirty="0"/>
              <a:t>地址</a:t>
            </a:r>
          </a:p>
          <a:p>
            <a:r>
              <a:rPr lang="zh-CN" altLang="en-US" dirty="0"/>
              <a:t>通过 </a:t>
            </a:r>
            <a:r>
              <a:rPr lang="en-US" altLang="zh-CN" dirty="0"/>
              <a:t>NAT </a:t>
            </a:r>
            <a:r>
              <a:rPr lang="zh-CN" altLang="en-US" dirty="0"/>
              <a:t>路由器的通信必须由专用网内的主机发起，因此，专用网内部的主机不能充当服务器用</a:t>
            </a:r>
          </a:p>
          <a:p>
            <a:endParaRPr lang="zh-CN" altLang="en-US" dirty="0"/>
          </a:p>
        </p:txBody>
      </p:sp>
    </p:spTree>
    <p:extLst>
      <p:ext uri="{BB962C8B-B14F-4D97-AF65-F5344CB8AC3E}">
        <p14:creationId xmlns:p14="http://schemas.microsoft.com/office/powerpoint/2010/main" val="7939267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CD9D10-524A-5343-119F-5E154F32C48A}"/>
              </a:ext>
            </a:extLst>
          </p:cNvPr>
          <p:cNvSpPr>
            <a:spLocks noGrp="1"/>
          </p:cNvSpPr>
          <p:nvPr>
            <p:ph type="title"/>
          </p:nvPr>
        </p:nvSpPr>
        <p:spPr>
          <a:xfrm>
            <a:off x="486000" y="550723"/>
            <a:ext cx="8172000" cy="338554"/>
          </a:xfrm>
        </p:spPr>
        <p:txBody>
          <a:bodyPr/>
          <a:lstStyle/>
          <a:p>
            <a:r>
              <a:rPr lang="zh-CN" altLang="en-US" dirty="0"/>
              <a:t>网络地址与端口号转换 </a:t>
            </a:r>
            <a:r>
              <a:rPr lang="en-US" altLang="zh-CN" dirty="0"/>
              <a:t>NAPT</a:t>
            </a:r>
            <a:endParaRPr lang="zh-CN" altLang="en-US" dirty="0"/>
          </a:p>
        </p:txBody>
      </p:sp>
      <p:sp>
        <p:nvSpPr>
          <p:cNvPr id="6" name="内容占位符 5">
            <a:extLst>
              <a:ext uri="{FF2B5EF4-FFF2-40B4-BE49-F238E27FC236}">
                <a16:creationId xmlns:a16="http://schemas.microsoft.com/office/drawing/2014/main" id="{8433869A-D531-1AB6-2C4F-A63F0B43A366}"/>
              </a:ext>
            </a:extLst>
          </p:cNvPr>
          <p:cNvSpPr>
            <a:spLocks noGrp="1"/>
          </p:cNvSpPr>
          <p:nvPr>
            <p:ph sz="quarter" idx="11"/>
          </p:nvPr>
        </p:nvSpPr>
        <p:spPr>
          <a:xfrm>
            <a:off x="486000" y="900000"/>
            <a:ext cx="8172000" cy="3703500"/>
          </a:xfrm>
        </p:spPr>
        <p:txBody>
          <a:bodyPr/>
          <a:lstStyle/>
          <a:p>
            <a:r>
              <a:rPr lang="en-US" altLang="zh-CN" dirty="0"/>
              <a:t>NAT </a:t>
            </a:r>
            <a:r>
              <a:rPr lang="zh-CN" altLang="en-US" dirty="0"/>
              <a:t>并不能节省 </a:t>
            </a:r>
            <a:r>
              <a:rPr lang="en-US" altLang="zh-CN" dirty="0"/>
              <a:t>IP </a:t>
            </a:r>
            <a:r>
              <a:rPr lang="zh-CN" altLang="en-US" dirty="0"/>
              <a:t>地址</a:t>
            </a:r>
            <a:endParaRPr lang="en-US" altLang="zh-CN" dirty="0"/>
          </a:p>
          <a:p>
            <a:r>
              <a:rPr lang="en-US" altLang="zh-CN" dirty="0"/>
              <a:t>NAPT </a:t>
            </a:r>
            <a:r>
              <a:rPr lang="zh-CN" altLang="en-US" dirty="0"/>
              <a:t>可以使多台拥有本地地址的主机，共用一个 全球 </a:t>
            </a:r>
            <a:r>
              <a:rPr lang="en-US" altLang="zh-CN" dirty="0"/>
              <a:t>IP </a:t>
            </a:r>
            <a:r>
              <a:rPr lang="zh-CN" altLang="en-US" dirty="0"/>
              <a:t>地址，同时和互联网上的不同主机进行通信</a:t>
            </a:r>
            <a:endParaRPr lang="en-US" altLang="zh-CN" dirty="0"/>
          </a:p>
          <a:p>
            <a:r>
              <a:rPr lang="zh-CN" altLang="en-US" dirty="0"/>
              <a:t>使用运输层端口号的 </a:t>
            </a:r>
            <a:r>
              <a:rPr lang="en-US" altLang="zh-CN" dirty="0"/>
              <a:t>NAT </a:t>
            </a:r>
            <a:r>
              <a:rPr lang="zh-CN" altLang="en-US" dirty="0"/>
              <a:t>叫做网络地址与端口号转换 </a:t>
            </a:r>
            <a:r>
              <a:rPr lang="en-US" altLang="zh-CN" dirty="0"/>
              <a:t>NAPT (Network Address and Port Translation)</a:t>
            </a:r>
          </a:p>
          <a:p>
            <a:r>
              <a:rPr lang="zh-CN" altLang="en-US" dirty="0"/>
              <a:t>而不使用端口号的 </a:t>
            </a:r>
            <a:r>
              <a:rPr lang="en-US" altLang="zh-CN" dirty="0"/>
              <a:t>NAT </a:t>
            </a:r>
            <a:r>
              <a:rPr lang="zh-CN" altLang="en-US" dirty="0"/>
              <a:t>就叫做传统的 </a:t>
            </a:r>
            <a:r>
              <a:rPr lang="en-US" altLang="zh-CN" dirty="0"/>
              <a:t>NAT (traditional NAT)</a:t>
            </a:r>
            <a:endParaRPr lang="zh-CN" altLang="en-US" dirty="0"/>
          </a:p>
          <a:p>
            <a:endParaRPr lang="zh-CN" altLang="en-US" dirty="0"/>
          </a:p>
        </p:txBody>
      </p:sp>
    </p:spTree>
    <p:extLst>
      <p:ext uri="{BB962C8B-B14F-4D97-AF65-F5344CB8AC3E}">
        <p14:creationId xmlns:p14="http://schemas.microsoft.com/office/powerpoint/2010/main" val="17894749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3435311" y="2511629"/>
            <a:ext cx="2273379" cy="338554"/>
          </a:xfrm>
          <a:prstGeom prst="rect">
            <a:avLst/>
          </a:prstGeom>
        </p:spPr>
        <p:txBody>
          <a:bodyPr wrap="none">
            <a:spAutoFit/>
          </a:bodyPr>
          <a:lstStyle/>
          <a:p>
            <a:pPr algn="ctr"/>
            <a:r>
              <a:rPr lang="en-US" altLang="zh-CN" sz="1600" b="1" dirty="0">
                <a:latin typeface="微软雅黑" pitchFamily="34" charset="-122"/>
                <a:ea typeface="微软雅黑" pitchFamily="34" charset="-122"/>
              </a:rPr>
              <a:t>NAPT </a:t>
            </a:r>
            <a:r>
              <a:rPr lang="zh-CN" altLang="en-US" sz="1600" b="1" dirty="0">
                <a:latin typeface="微软雅黑" pitchFamily="34" charset="-122"/>
                <a:ea typeface="微软雅黑" pitchFamily="34" charset="-122"/>
              </a:rPr>
              <a:t>地址转换表举例</a:t>
            </a:r>
          </a:p>
        </p:txBody>
      </p:sp>
      <p:graphicFrame>
        <p:nvGraphicFramePr>
          <p:cNvPr id="6" name="内容占位符 3"/>
          <p:cNvGraphicFramePr>
            <a:graphicFrameLocks/>
          </p:cNvGraphicFramePr>
          <p:nvPr>
            <p:extLst>
              <p:ext uri="{D42A27DB-BD31-4B8C-83A1-F6EECF244321}">
                <p14:modId xmlns:p14="http://schemas.microsoft.com/office/powerpoint/2010/main" val="1876993176"/>
              </p:ext>
            </p:extLst>
          </p:nvPr>
        </p:nvGraphicFramePr>
        <p:xfrm>
          <a:off x="545144" y="2819680"/>
          <a:ext cx="8053711" cy="1842485"/>
        </p:xfrm>
        <a:graphic>
          <a:graphicData uri="http://schemas.openxmlformats.org/drawingml/2006/table">
            <a:tbl>
              <a:tblPr firstRow="1" firstCol="1" lastRow="1" lastCol="1" bandRow="1" bandCol="1">
                <a:tableStyleId>{5A111915-BE36-4E01-A7E5-04B1672EAD32}</a:tableStyleId>
              </a:tblPr>
              <a:tblGrid>
                <a:gridCol w="697566">
                  <a:extLst>
                    <a:ext uri="{9D8B030D-6E8A-4147-A177-3AD203B41FA5}">
                      <a16:colId xmlns:a16="http://schemas.microsoft.com/office/drawing/2014/main" val="20000"/>
                    </a:ext>
                  </a:extLst>
                </a:gridCol>
                <a:gridCol w="2735905">
                  <a:extLst>
                    <a:ext uri="{9D8B030D-6E8A-4147-A177-3AD203B41FA5}">
                      <a16:colId xmlns:a16="http://schemas.microsoft.com/office/drawing/2014/main" val="20001"/>
                    </a:ext>
                  </a:extLst>
                </a:gridCol>
                <a:gridCol w="2219791">
                  <a:extLst>
                    <a:ext uri="{9D8B030D-6E8A-4147-A177-3AD203B41FA5}">
                      <a16:colId xmlns:a16="http://schemas.microsoft.com/office/drawing/2014/main" val="20002"/>
                    </a:ext>
                  </a:extLst>
                </a:gridCol>
                <a:gridCol w="2400449">
                  <a:extLst>
                    <a:ext uri="{9D8B030D-6E8A-4147-A177-3AD203B41FA5}">
                      <a16:colId xmlns:a16="http://schemas.microsoft.com/office/drawing/2014/main" val="20003"/>
                    </a:ext>
                  </a:extLst>
                </a:gridCol>
              </a:tblGrid>
              <a:tr h="368497">
                <a:tc>
                  <a:txBody>
                    <a:bodyPr/>
                    <a:lstStyle/>
                    <a:p>
                      <a:pPr algn="ctr">
                        <a:lnSpc>
                          <a:spcPct val="100000"/>
                        </a:lnSpc>
                        <a:spcAft>
                          <a:spcPts val="0"/>
                        </a:spcAft>
                        <a:tabLst>
                          <a:tab pos="3886200" algn="l"/>
                        </a:tabLst>
                      </a:pPr>
                      <a:r>
                        <a:rPr lang="zh-CN" sz="1400" b="1" dirty="0">
                          <a:solidFill>
                            <a:schemeClr val="bg1"/>
                          </a:solidFill>
                          <a:effectLst/>
                        </a:rPr>
                        <a:t>方向</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字段</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旧的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新的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0"/>
                  </a:ext>
                </a:extLst>
              </a:tr>
              <a:tr h="368497">
                <a:tc>
                  <a:txBody>
                    <a:bodyPr/>
                    <a:lstStyle/>
                    <a:p>
                      <a:pPr algn="ctr">
                        <a:lnSpc>
                          <a:spcPct val="100000"/>
                        </a:lnSpc>
                        <a:spcAft>
                          <a:spcPts val="0"/>
                        </a:spcAft>
                        <a:tabLst>
                          <a:tab pos="3886200" algn="l"/>
                        </a:tabLst>
                      </a:pPr>
                      <a:r>
                        <a:rPr lang="zh-CN" sz="1400" b="1">
                          <a:solidFill>
                            <a:schemeClr val="tx1"/>
                          </a:solidFill>
                          <a:effectLst/>
                        </a:rPr>
                        <a:t>出</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40001</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1"/>
                  </a:ext>
                </a:extLst>
              </a:tr>
              <a:tr h="368497">
                <a:tc>
                  <a:txBody>
                    <a:bodyPr/>
                    <a:lstStyle/>
                    <a:p>
                      <a:pPr algn="ctr">
                        <a:lnSpc>
                          <a:spcPct val="100000"/>
                        </a:lnSpc>
                        <a:spcAft>
                          <a:spcPts val="0"/>
                        </a:spcAft>
                        <a:tabLst>
                          <a:tab pos="3886200" algn="l"/>
                        </a:tabLst>
                      </a:pPr>
                      <a:r>
                        <a:rPr lang="zh-CN" sz="1400" b="1" dirty="0">
                          <a:solidFill>
                            <a:schemeClr val="tx1"/>
                          </a:solidFill>
                          <a:effectLst/>
                        </a:rPr>
                        <a:t>出</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40002</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2"/>
                  </a:ext>
                </a:extLst>
              </a:tr>
              <a:tr h="368497">
                <a:tc>
                  <a:txBody>
                    <a:bodyPr/>
                    <a:lstStyle/>
                    <a:p>
                      <a:pPr algn="ctr">
                        <a:lnSpc>
                          <a:spcPct val="100000"/>
                        </a:lnSpc>
                        <a:spcAft>
                          <a:spcPts val="0"/>
                        </a:spcAft>
                        <a:tabLst>
                          <a:tab pos="3886200" algn="l"/>
                        </a:tabLst>
                      </a:pPr>
                      <a:r>
                        <a:rPr lang="zh-CN" sz="1400" b="1">
                          <a:solidFill>
                            <a:schemeClr val="tx1"/>
                          </a:solidFill>
                          <a:effectLst/>
                        </a:rPr>
                        <a:t>入</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40001</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3"/>
                  </a:ext>
                </a:extLst>
              </a:tr>
              <a:tr h="368497">
                <a:tc>
                  <a:txBody>
                    <a:bodyPr/>
                    <a:lstStyle/>
                    <a:p>
                      <a:pPr algn="ctr">
                        <a:lnSpc>
                          <a:spcPct val="100000"/>
                        </a:lnSpc>
                        <a:spcAft>
                          <a:spcPts val="0"/>
                        </a:spcAft>
                        <a:tabLst>
                          <a:tab pos="3886200" algn="l"/>
                        </a:tabLst>
                      </a:pPr>
                      <a:r>
                        <a:rPr lang="zh-CN" sz="1400" b="1" dirty="0">
                          <a:solidFill>
                            <a:schemeClr val="tx1"/>
                          </a:solidFill>
                          <a:effectLst/>
                        </a:rPr>
                        <a:t>入</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marL="0" algn="ctr" defTabSz="914400" rtl="0" eaLnBrk="1" latinLnBrk="0" hangingPunct="1">
                        <a:lnSpc>
                          <a:spcPct val="100000"/>
                        </a:lnSpc>
                        <a:spcAft>
                          <a:spcPts val="0"/>
                        </a:spcAft>
                        <a:tabLst>
                          <a:tab pos="3886200" algn="l"/>
                        </a:tabLst>
                      </a:pPr>
                      <a:r>
                        <a:rPr lang="en-US" sz="1400" b="1" kern="1200"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40002</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4"/>
                  </a:ext>
                </a:extLst>
              </a:tr>
            </a:tbl>
          </a:graphicData>
        </a:graphic>
      </p:graphicFrame>
      <p:sp>
        <p:nvSpPr>
          <p:cNvPr id="2" name="标题 1">
            <a:extLst>
              <a:ext uri="{FF2B5EF4-FFF2-40B4-BE49-F238E27FC236}">
                <a16:creationId xmlns:a16="http://schemas.microsoft.com/office/drawing/2014/main" id="{7D86FE7F-2965-7FE6-8804-6C8AA1E3794D}"/>
              </a:ext>
            </a:extLst>
          </p:cNvPr>
          <p:cNvSpPr>
            <a:spLocks noGrp="1"/>
          </p:cNvSpPr>
          <p:nvPr>
            <p:ph type="title"/>
          </p:nvPr>
        </p:nvSpPr>
        <p:spPr>
          <a:xfrm>
            <a:off x="486000" y="550723"/>
            <a:ext cx="8172000" cy="338554"/>
          </a:xfrm>
        </p:spPr>
        <p:txBody>
          <a:bodyPr/>
          <a:lstStyle/>
          <a:p>
            <a:r>
              <a:rPr lang="en-US" altLang="zh-CN" dirty="0"/>
              <a:t>NAPT </a:t>
            </a:r>
            <a:r>
              <a:rPr lang="zh-CN" altLang="en-US" dirty="0"/>
              <a:t>地址转换表</a:t>
            </a:r>
          </a:p>
        </p:txBody>
      </p:sp>
      <p:sp>
        <p:nvSpPr>
          <p:cNvPr id="10" name="内容占位符 9">
            <a:extLst>
              <a:ext uri="{FF2B5EF4-FFF2-40B4-BE49-F238E27FC236}">
                <a16:creationId xmlns:a16="http://schemas.microsoft.com/office/drawing/2014/main" id="{ECBB7675-5BD3-4C06-AE39-54362B830FBD}"/>
              </a:ext>
            </a:extLst>
          </p:cNvPr>
          <p:cNvSpPr>
            <a:spLocks noGrp="1"/>
          </p:cNvSpPr>
          <p:nvPr>
            <p:ph sz="quarter" idx="11"/>
          </p:nvPr>
        </p:nvSpPr>
        <p:spPr>
          <a:xfrm>
            <a:off x="486000" y="900000"/>
            <a:ext cx="8172000" cy="3703500"/>
          </a:xfrm>
        </p:spPr>
        <p:txBody>
          <a:bodyPr/>
          <a:lstStyle/>
          <a:p>
            <a:r>
              <a:rPr lang="en-US" altLang="zh-CN" dirty="0"/>
              <a:t>NAPT </a:t>
            </a:r>
            <a:r>
              <a:rPr lang="zh-CN" altLang="en-US" dirty="0"/>
              <a:t>把专用网内不同的源 </a:t>
            </a:r>
            <a:r>
              <a:rPr lang="en-US" altLang="zh-CN" dirty="0"/>
              <a:t>IP </a:t>
            </a:r>
            <a:r>
              <a:rPr lang="zh-CN" altLang="en-US" dirty="0"/>
              <a:t>地址都转换为相同的全球 </a:t>
            </a:r>
            <a:r>
              <a:rPr lang="en-US" altLang="zh-CN" dirty="0"/>
              <a:t>IP </a:t>
            </a:r>
            <a:r>
              <a:rPr lang="zh-CN" altLang="en-US" dirty="0"/>
              <a:t>地址，将 </a:t>
            </a:r>
            <a:r>
              <a:rPr lang="en-US" altLang="zh-CN" dirty="0"/>
              <a:t>TCP </a:t>
            </a:r>
            <a:r>
              <a:rPr lang="zh-CN" altLang="en-US" dirty="0"/>
              <a:t>源端口号转换为新的 </a:t>
            </a:r>
            <a:r>
              <a:rPr lang="en-US" altLang="zh-CN" dirty="0"/>
              <a:t>TCP </a:t>
            </a:r>
            <a:r>
              <a:rPr lang="zh-CN" altLang="en-US" dirty="0"/>
              <a:t>端口号（互不相同）</a:t>
            </a:r>
            <a:endParaRPr lang="en-US" altLang="zh-CN" dirty="0"/>
          </a:p>
          <a:p>
            <a:r>
              <a:rPr lang="zh-CN" altLang="en-US" dirty="0"/>
              <a:t>收到从互联网发来的应答时，从 </a:t>
            </a:r>
            <a:r>
              <a:rPr lang="en-US" altLang="zh-CN" dirty="0"/>
              <a:t>IP </a:t>
            </a:r>
            <a:r>
              <a:rPr lang="zh-CN" altLang="en-US" dirty="0"/>
              <a:t>数据报的数据部分找出运输层端口号，从 </a:t>
            </a:r>
            <a:r>
              <a:rPr lang="en-US" altLang="zh-CN" dirty="0"/>
              <a:t>NAPT </a:t>
            </a:r>
            <a:r>
              <a:rPr lang="zh-CN" altLang="en-US" dirty="0"/>
              <a:t>转换表中找到正确的目的主机</a:t>
            </a:r>
          </a:p>
          <a:p>
            <a:endParaRPr lang="zh-CN" altLang="en-US" dirty="0"/>
          </a:p>
        </p:txBody>
      </p:sp>
    </p:spTree>
    <p:extLst>
      <p:ext uri="{BB962C8B-B14F-4D97-AF65-F5344CB8AC3E}">
        <p14:creationId xmlns:p14="http://schemas.microsoft.com/office/powerpoint/2010/main" val="1383735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F891EB7C-FC18-1D97-1051-47C8ECC45F1C}"/>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a:fillRect/>
          </a:stretch>
        </p:blipFill>
        <p:spPr/>
      </p:pic>
      <p:sp>
        <p:nvSpPr>
          <p:cNvPr id="2" name="标题 1">
            <a:extLst>
              <a:ext uri="{FF2B5EF4-FFF2-40B4-BE49-F238E27FC236}">
                <a16:creationId xmlns:a16="http://schemas.microsoft.com/office/drawing/2014/main" id="{BC0D9DDE-F7E1-249C-A5E1-DF3EB9D6CD08}"/>
              </a:ext>
            </a:extLst>
          </p:cNvPr>
          <p:cNvSpPr>
            <a:spLocks noGrp="1"/>
          </p:cNvSpPr>
          <p:nvPr>
            <p:ph type="title"/>
          </p:nvPr>
        </p:nvSpPr>
        <p:spPr>
          <a:xfrm>
            <a:off x="628650" y="1790720"/>
            <a:ext cx="4319588" cy="553998"/>
          </a:xfrm>
        </p:spPr>
        <p:txBody>
          <a:bodyPr/>
          <a:lstStyle/>
          <a:p>
            <a:r>
              <a:rPr lang="fr-FR" altLang="zh-CN" dirty="0"/>
              <a:t>4.9 </a:t>
            </a:r>
            <a:r>
              <a:rPr lang="en-US" altLang="zh-CN" dirty="0"/>
              <a:t>MPLS</a:t>
            </a:r>
            <a:endParaRPr lang="zh-CN" altLang="en-US" dirty="0"/>
          </a:p>
        </p:txBody>
      </p:sp>
      <p:sp>
        <p:nvSpPr>
          <p:cNvPr id="3" name="文本占位符 2">
            <a:extLst>
              <a:ext uri="{FF2B5EF4-FFF2-40B4-BE49-F238E27FC236}">
                <a16:creationId xmlns:a16="http://schemas.microsoft.com/office/drawing/2014/main" id="{E27FD5ED-A5A8-9B1B-0CA5-E4F8CE0F0BC7}"/>
              </a:ext>
            </a:extLst>
          </p:cNvPr>
          <p:cNvSpPr>
            <a:spLocks noGrp="1"/>
          </p:cNvSpPr>
          <p:nvPr>
            <p:ph type="body" sz="quarter" idx="11"/>
          </p:nvPr>
        </p:nvSpPr>
        <p:spPr>
          <a:xfrm>
            <a:off x="628100" y="2344736"/>
            <a:ext cx="4320000" cy="1870075"/>
          </a:xfrm>
        </p:spPr>
        <p:txBody>
          <a:bodyPr/>
          <a:lstStyle/>
          <a:p>
            <a:r>
              <a:rPr lang="zh-CN" altLang="en-US" dirty="0"/>
              <a:t>多协议标签交换 </a:t>
            </a:r>
            <a:endParaRPr lang="en-US" altLang="zh-CN" dirty="0"/>
          </a:p>
          <a:p>
            <a:r>
              <a:rPr lang="en-US" altLang="zh-CN" dirty="0"/>
              <a:t>· MPLS </a:t>
            </a:r>
            <a:r>
              <a:rPr lang="zh-CN" altLang="en-US" dirty="0"/>
              <a:t>的工作原理</a:t>
            </a:r>
            <a:endParaRPr lang="en-US" altLang="zh-CN" dirty="0"/>
          </a:p>
          <a:p>
            <a:r>
              <a:rPr lang="en-US" altLang="zh-CN" dirty="0"/>
              <a:t>· MPLS </a:t>
            </a:r>
            <a:r>
              <a:rPr lang="zh-CN" altLang="en-US" dirty="0"/>
              <a:t>首部的位置与格式</a:t>
            </a:r>
            <a:endParaRPr lang="en-US" altLang="zh-CN" dirty="0"/>
          </a:p>
          <a:p>
            <a:r>
              <a:rPr lang="en-US" altLang="zh-CN" dirty="0"/>
              <a:t>·</a:t>
            </a:r>
            <a:r>
              <a:rPr lang="zh-CN" altLang="en-US" dirty="0"/>
              <a:t>新一代的 </a:t>
            </a:r>
            <a:r>
              <a:rPr lang="en-US" altLang="zh-CN" dirty="0"/>
              <a:t>MPLS</a:t>
            </a:r>
            <a:endParaRPr lang="zh-CN" altLang="en-US" dirty="0"/>
          </a:p>
          <a:p>
            <a:endParaRPr lang="zh-CN" altLang="en-US" dirty="0"/>
          </a:p>
        </p:txBody>
      </p:sp>
    </p:spTree>
    <p:extLst>
      <p:ext uri="{BB962C8B-B14F-4D97-AF65-F5344CB8AC3E}">
        <p14:creationId xmlns:p14="http://schemas.microsoft.com/office/powerpoint/2010/main" val="23821774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Line 4"/>
          <p:cNvSpPr>
            <a:spLocks noChangeShapeType="1"/>
          </p:cNvSpPr>
          <p:nvPr/>
        </p:nvSpPr>
        <p:spPr bwMode="auto">
          <a:xfrm>
            <a:off x="6384717" y="2782231"/>
            <a:ext cx="983708" cy="21830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5" name="Line 7"/>
          <p:cNvSpPr>
            <a:spLocks noChangeShapeType="1"/>
          </p:cNvSpPr>
          <p:nvPr/>
        </p:nvSpPr>
        <p:spPr bwMode="auto">
          <a:xfrm>
            <a:off x="2894576" y="2723668"/>
            <a:ext cx="1186834"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6" name="Line 8"/>
          <p:cNvSpPr>
            <a:spLocks noChangeShapeType="1"/>
          </p:cNvSpPr>
          <p:nvPr/>
        </p:nvSpPr>
        <p:spPr bwMode="auto">
          <a:xfrm flipV="1">
            <a:off x="4220064" y="2713460"/>
            <a:ext cx="1955637"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7" name="Line 9"/>
          <p:cNvSpPr>
            <a:spLocks noChangeShapeType="1"/>
          </p:cNvSpPr>
          <p:nvPr/>
        </p:nvSpPr>
        <p:spPr bwMode="auto">
          <a:xfrm>
            <a:off x="4221099" y="2782231"/>
            <a:ext cx="1610619" cy="80769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8" name="Line 10"/>
          <p:cNvSpPr>
            <a:spLocks noChangeShapeType="1"/>
          </p:cNvSpPr>
          <p:nvPr/>
        </p:nvSpPr>
        <p:spPr bwMode="auto">
          <a:xfrm flipV="1">
            <a:off x="6315389" y="2453087"/>
            <a:ext cx="1053035" cy="19255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9" name="Line 11"/>
          <p:cNvSpPr>
            <a:spLocks noChangeShapeType="1"/>
          </p:cNvSpPr>
          <p:nvPr/>
        </p:nvSpPr>
        <p:spPr bwMode="auto">
          <a:xfrm>
            <a:off x="6049775" y="3537593"/>
            <a:ext cx="792131"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10" name="Freeform 15"/>
          <p:cNvSpPr>
            <a:spLocks/>
          </p:cNvSpPr>
          <p:nvPr/>
        </p:nvSpPr>
        <p:spPr bwMode="auto">
          <a:xfrm>
            <a:off x="3428964" y="2764470"/>
            <a:ext cx="603491" cy="1446073"/>
          </a:xfrm>
          <a:custGeom>
            <a:avLst/>
            <a:gdLst>
              <a:gd name="T0" fmla="*/ 0 w 454"/>
              <a:gd name="T1" fmla="*/ 91 h 951"/>
              <a:gd name="T2" fmla="*/ 454 w 454"/>
              <a:gd name="T3" fmla="*/ 0 h 951"/>
              <a:gd name="T4" fmla="*/ 4 w 454"/>
              <a:gd name="T5" fmla="*/ 951 h 951"/>
              <a:gd name="T6" fmla="*/ 0 w 454"/>
              <a:gd name="T7" fmla="*/ 91 h 951"/>
            </a:gdLst>
            <a:ahLst/>
            <a:cxnLst>
              <a:cxn ang="0">
                <a:pos x="T0" y="T1"/>
              </a:cxn>
              <a:cxn ang="0">
                <a:pos x="T2" y="T3"/>
              </a:cxn>
              <a:cxn ang="0">
                <a:pos x="T4" y="T5"/>
              </a:cxn>
              <a:cxn ang="0">
                <a:pos x="T6" y="T7"/>
              </a:cxn>
            </a:cxnLst>
            <a:rect l="0" t="0" r="r" b="b"/>
            <a:pathLst>
              <a:path w="454" h="951">
                <a:moveTo>
                  <a:pt x="0" y="91"/>
                </a:moveTo>
                <a:lnTo>
                  <a:pt x="454" y="0"/>
                </a:lnTo>
                <a:lnTo>
                  <a:pt x="4" y="951"/>
                </a:lnTo>
                <a:lnTo>
                  <a:pt x="0" y="91"/>
                </a:lnTo>
                <a:close/>
              </a:path>
            </a:pathLst>
          </a:custGeom>
          <a:gradFill rotWithShape="1">
            <a:gsLst>
              <a:gs pos="0">
                <a:srgbClr val="99FFCC"/>
              </a:gs>
              <a:gs pos="100000">
                <a:srgbClr val="0070C0"/>
              </a:gs>
            </a:gsLst>
            <a:lin ang="0" scaled="1"/>
          </a:gradFill>
          <a:ln>
            <a:noFill/>
          </a:ln>
          <a:effec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11" name="Text Box 16"/>
          <p:cNvSpPr txBox="1">
            <a:spLocks noChangeArrowheads="1"/>
          </p:cNvSpPr>
          <p:nvPr/>
        </p:nvSpPr>
        <p:spPr bwMode="auto">
          <a:xfrm>
            <a:off x="4221099" y="2491988"/>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a:latin typeface="Montserrat" panose="00000500000000000000" pitchFamily="2" charset="0"/>
                <a:ea typeface="微软雅黑" panose="020B0503020204020204" pitchFamily="34" charset="-122"/>
              </a:rPr>
              <a:t>0</a:t>
            </a:r>
          </a:p>
        </p:txBody>
      </p:sp>
      <p:sp>
        <p:nvSpPr>
          <p:cNvPr id="12" name="Text Box 17"/>
          <p:cNvSpPr txBox="1">
            <a:spLocks noChangeArrowheads="1"/>
          </p:cNvSpPr>
          <p:nvPr/>
        </p:nvSpPr>
        <p:spPr bwMode="auto">
          <a:xfrm>
            <a:off x="4108148" y="2804658"/>
            <a:ext cx="2391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1</a:t>
            </a:r>
          </a:p>
        </p:txBody>
      </p:sp>
      <p:sp>
        <p:nvSpPr>
          <p:cNvPr id="13" name="Text Box 18"/>
          <p:cNvSpPr txBox="1">
            <a:spLocks noChangeArrowheads="1"/>
          </p:cNvSpPr>
          <p:nvPr/>
        </p:nvSpPr>
        <p:spPr bwMode="auto">
          <a:xfrm>
            <a:off x="3989366" y="2313408"/>
            <a:ext cx="31451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1</a:t>
            </a:r>
          </a:p>
        </p:txBody>
      </p:sp>
      <p:sp>
        <p:nvSpPr>
          <p:cNvPr id="14" name="Text Box 19"/>
          <p:cNvSpPr txBox="1">
            <a:spLocks noChangeArrowheads="1"/>
          </p:cNvSpPr>
          <p:nvPr/>
        </p:nvSpPr>
        <p:spPr bwMode="auto">
          <a:xfrm>
            <a:off x="6155581" y="2313408"/>
            <a:ext cx="3401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2</a:t>
            </a:r>
          </a:p>
        </p:txBody>
      </p:sp>
      <p:sp>
        <p:nvSpPr>
          <p:cNvPr id="15" name="Text Box 20"/>
          <p:cNvSpPr txBox="1">
            <a:spLocks noChangeArrowheads="1"/>
          </p:cNvSpPr>
          <p:nvPr/>
        </p:nvSpPr>
        <p:spPr bwMode="auto">
          <a:xfrm>
            <a:off x="5746741" y="3075113"/>
            <a:ext cx="3401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3</a:t>
            </a:r>
          </a:p>
        </p:txBody>
      </p:sp>
      <p:sp>
        <p:nvSpPr>
          <p:cNvPr id="16" name="Line 21"/>
          <p:cNvSpPr>
            <a:spLocks noChangeShapeType="1"/>
          </p:cNvSpPr>
          <p:nvPr/>
        </p:nvSpPr>
        <p:spPr bwMode="auto">
          <a:xfrm>
            <a:off x="6049775" y="3589929"/>
            <a:ext cx="552390" cy="36016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grpSp>
        <p:nvGrpSpPr>
          <p:cNvPr id="54" name="组合 53"/>
          <p:cNvGrpSpPr/>
          <p:nvPr/>
        </p:nvGrpSpPr>
        <p:grpSpPr>
          <a:xfrm>
            <a:off x="2963903" y="2377909"/>
            <a:ext cx="908492" cy="276034"/>
            <a:chOff x="2963903" y="1162973"/>
            <a:chExt cx="908492" cy="276034"/>
          </a:xfrm>
        </p:grpSpPr>
        <p:sp>
          <p:nvSpPr>
            <p:cNvPr id="46" name="Line 24"/>
            <p:cNvSpPr>
              <a:spLocks noChangeShapeType="1"/>
            </p:cNvSpPr>
            <p:nvPr/>
          </p:nvSpPr>
          <p:spPr bwMode="auto">
            <a:xfrm>
              <a:off x="3591983" y="1300512"/>
              <a:ext cx="280412"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47" name="Rectangle 25"/>
            <p:cNvSpPr>
              <a:spLocks noChangeArrowheads="1"/>
            </p:cNvSpPr>
            <p:nvPr/>
          </p:nvSpPr>
          <p:spPr bwMode="auto">
            <a:xfrm>
              <a:off x="2963903" y="1162973"/>
              <a:ext cx="629115" cy="276034"/>
            </a:xfrm>
            <a:prstGeom prst="rect">
              <a:avLst/>
            </a:prstGeom>
            <a:solidFill>
              <a:srgbClr val="3399FF"/>
            </a:solidFill>
            <a:ln w="9525" algn="ctr">
              <a:solidFill>
                <a:schemeClr val="tx1"/>
              </a:solidFill>
              <a:miter lim="800000"/>
              <a:headEnd/>
              <a:tailEnd/>
            </a:ln>
            <a:effectLst/>
          </p:spPr>
          <p:txBody>
            <a:bodyPr wrap="none" anchor="ctr"/>
            <a:lstStyle/>
            <a:p>
              <a:pPr algn="ctr"/>
              <a:endParaRPr lang="zh-CN" altLang="zh-CN" sz="1200" b="1">
                <a:latin typeface="Montserrat" panose="00000500000000000000" pitchFamily="2" charset="0"/>
                <a:ea typeface="微软雅黑" panose="020B0503020204020204" pitchFamily="34" charset="-122"/>
              </a:endParaRPr>
            </a:p>
          </p:txBody>
        </p:sp>
      </p:grpSp>
      <p:sp>
        <p:nvSpPr>
          <p:cNvPr id="48" name="Rectangle 26"/>
          <p:cNvSpPr>
            <a:spLocks noChangeArrowheads="1"/>
          </p:cNvSpPr>
          <p:nvPr/>
        </p:nvSpPr>
        <p:spPr bwMode="auto">
          <a:xfrm>
            <a:off x="3424357" y="2387461"/>
            <a:ext cx="157279" cy="255021"/>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Montserrat" panose="00000500000000000000" pitchFamily="2" charset="0"/>
                <a:ea typeface="微软雅黑" panose="020B0503020204020204" pitchFamily="34" charset="-122"/>
              </a:rPr>
              <a:t>0</a:t>
            </a:r>
          </a:p>
        </p:txBody>
      </p:sp>
      <p:sp>
        <p:nvSpPr>
          <p:cNvPr id="18" name="Text Box 27"/>
          <p:cNvSpPr txBox="1">
            <a:spLocks noChangeArrowheads="1"/>
          </p:cNvSpPr>
          <p:nvPr/>
        </p:nvSpPr>
        <p:spPr bwMode="auto">
          <a:xfrm>
            <a:off x="2126974" y="4227050"/>
            <a:ext cx="9861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itchFamily="34" charset="-122"/>
              </a:rPr>
              <a:t>S</a:t>
            </a:r>
            <a:r>
              <a:rPr lang="en-US" altLang="zh-CN" sz="1200" b="1" baseline="-25000" dirty="0">
                <a:latin typeface="Montserrat" panose="00000500000000000000" pitchFamily="2" charset="0"/>
                <a:ea typeface="微软雅黑" pitchFamily="34" charset="-122"/>
              </a:rPr>
              <a:t>1 </a:t>
            </a:r>
            <a:r>
              <a:rPr lang="zh-CN" altLang="en-US" sz="1200" b="1" dirty="0">
                <a:latin typeface="Montserrat" panose="00000500000000000000" pitchFamily="2" charset="0"/>
                <a:ea typeface="微软雅黑" pitchFamily="34" charset="-122"/>
              </a:rPr>
              <a:t>的转发表</a:t>
            </a:r>
            <a:endParaRPr lang="zh-CN" altLang="en-US" sz="1200" b="1" baseline="-25000" dirty="0">
              <a:latin typeface="Montserrat" panose="00000500000000000000" pitchFamily="2" charset="0"/>
              <a:ea typeface="微软雅黑" pitchFamily="34" charset="-122"/>
            </a:endParaRPr>
          </a:p>
        </p:txBody>
      </p:sp>
      <p:grpSp>
        <p:nvGrpSpPr>
          <p:cNvPr id="19" name="组合 18"/>
          <p:cNvGrpSpPr/>
          <p:nvPr/>
        </p:nvGrpSpPr>
        <p:grpSpPr>
          <a:xfrm rot="60000">
            <a:off x="4856034" y="2935468"/>
            <a:ext cx="866068" cy="356266"/>
            <a:chOff x="5394987" y="3774690"/>
            <a:chExt cx="1439465" cy="592139"/>
          </a:xfrm>
        </p:grpSpPr>
        <p:sp>
          <p:nvSpPr>
            <p:cNvPr id="43" name="Line 29"/>
            <p:cNvSpPr>
              <a:spLocks noChangeShapeType="1"/>
            </p:cNvSpPr>
            <p:nvPr/>
          </p:nvSpPr>
          <p:spPr bwMode="auto">
            <a:xfrm rot="1516200">
              <a:off x="6368389" y="4298565"/>
              <a:ext cx="466063"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44" name="Rectangle 30"/>
            <p:cNvSpPr>
              <a:spLocks noChangeArrowheads="1"/>
            </p:cNvSpPr>
            <p:nvPr/>
          </p:nvSpPr>
          <p:spPr bwMode="auto">
            <a:xfrm rot="1516200">
              <a:off x="5394987" y="3774690"/>
              <a:ext cx="1047353" cy="457200"/>
            </a:xfrm>
            <a:prstGeom prst="rect">
              <a:avLst/>
            </a:prstGeom>
            <a:solidFill>
              <a:srgbClr val="00B0F0"/>
            </a:solidFill>
            <a:ln w="9525">
              <a:solidFill>
                <a:schemeClr val="tx1"/>
              </a:solidFill>
              <a:miter lim="800000"/>
              <a:headEnd/>
              <a:tailEnd/>
            </a:ln>
            <a:effectLst/>
          </p:spPr>
          <p:txBody>
            <a:bodyPr wrap="none" anchor="ctr"/>
            <a:lstStyle/>
            <a:p>
              <a:pPr algn="ctr"/>
              <a:endParaRPr lang="zh-CN" altLang="zh-CN" sz="1200" b="1">
                <a:latin typeface="Montserrat" panose="00000500000000000000" pitchFamily="2" charset="0"/>
                <a:ea typeface="微软雅黑" panose="020B0503020204020204" pitchFamily="34" charset="-122"/>
              </a:endParaRPr>
            </a:p>
          </p:txBody>
        </p:sp>
        <p:sp>
          <p:nvSpPr>
            <p:cNvPr id="45" name="Rectangle 31"/>
            <p:cNvSpPr>
              <a:spLocks noChangeArrowheads="1"/>
            </p:cNvSpPr>
            <p:nvPr/>
          </p:nvSpPr>
          <p:spPr bwMode="auto">
            <a:xfrm rot="1516200">
              <a:off x="6124179" y="3942966"/>
              <a:ext cx="261408" cy="423863"/>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Montserrat" panose="00000500000000000000" pitchFamily="2" charset="0"/>
                  <a:ea typeface="微软雅黑" panose="020B0503020204020204" pitchFamily="34" charset="-122"/>
                </a:rPr>
                <a:t>0</a:t>
              </a:r>
            </a:p>
          </p:txBody>
        </p:sp>
      </p:grpSp>
      <p:pic>
        <p:nvPicPr>
          <p:cNvPr id="20"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08610" y="2586138"/>
            <a:ext cx="377677" cy="3029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1" name="Rectangle 5"/>
          <p:cNvSpPr>
            <a:spLocks noChangeArrowheads="1"/>
          </p:cNvSpPr>
          <p:nvPr/>
        </p:nvSpPr>
        <p:spPr bwMode="auto">
          <a:xfrm>
            <a:off x="1979308" y="2902009"/>
            <a:ext cx="1449656" cy="1302803"/>
          </a:xfrm>
          <a:prstGeom prst="rect">
            <a:avLst/>
          </a:prstGeom>
          <a:solidFill>
            <a:srgbClr val="00FFFF"/>
          </a:solidFill>
          <a:ln w="28575">
            <a:solidFill>
              <a:srgbClr val="000099"/>
            </a:solidFill>
            <a:miter lim="800000"/>
            <a:headEnd/>
            <a:tailEnd/>
          </a:ln>
          <a:effectLst/>
        </p:spPr>
        <p:txBody>
          <a:bodyPr wrap="none" anchor="ctr"/>
          <a:lstStyle/>
          <a:p>
            <a:endParaRPr lang="zh-CN" altLang="en-US" sz="1200" b="1">
              <a:latin typeface="Montserrat" panose="00000500000000000000" pitchFamily="2" charset="0"/>
              <a:ea typeface="微软雅黑" panose="020B0503020204020204" pitchFamily="34" charset="-122"/>
            </a:endParaRPr>
          </a:p>
        </p:txBody>
      </p:sp>
      <p:sp>
        <p:nvSpPr>
          <p:cNvPr id="22" name="Text Box 6"/>
          <p:cNvSpPr txBox="1">
            <a:spLocks noChangeArrowheads="1"/>
          </p:cNvSpPr>
          <p:nvPr/>
        </p:nvSpPr>
        <p:spPr bwMode="auto">
          <a:xfrm>
            <a:off x="2004337" y="2928849"/>
            <a:ext cx="1247457" cy="11307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CC"/>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10000"/>
              </a:lnSpc>
              <a:spcAft>
                <a:spcPct val="20000"/>
              </a:spcAft>
            </a:pPr>
            <a:r>
              <a:rPr lang="zh-CN" altLang="en-US" sz="1200" b="1" dirty="0">
                <a:latin typeface="Montserrat" panose="00000500000000000000" pitchFamily="2" charset="0"/>
                <a:ea typeface="微软雅黑" pitchFamily="34" charset="-122"/>
              </a:rPr>
              <a:t>标签   转发接口</a:t>
            </a:r>
          </a:p>
          <a:p>
            <a:pPr>
              <a:lnSpc>
                <a:spcPct val="110000"/>
              </a:lnSpc>
            </a:pPr>
            <a:r>
              <a:rPr lang="zh-CN" altLang="en-US" sz="1200" b="1" dirty="0">
                <a:latin typeface="Montserrat" panose="00000500000000000000" pitchFamily="2" charset="0"/>
                <a:ea typeface="微软雅黑" pitchFamily="34" charset="-122"/>
              </a:rPr>
              <a:t>   </a:t>
            </a:r>
            <a:r>
              <a:rPr lang="en-US" altLang="zh-CN" sz="1200" b="1" dirty="0">
                <a:latin typeface="Montserrat" panose="00000500000000000000" pitchFamily="2" charset="0"/>
                <a:ea typeface="微软雅黑" pitchFamily="34" charset="-122"/>
              </a:rPr>
              <a:t>0           1</a:t>
            </a:r>
          </a:p>
          <a:p>
            <a:pPr>
              <a:lnSpc>
                <a:spcPct val="110000"/>
              </a:lnSpc>
            </a:pPr>
            <a:r>
              <a:rPr lang="en-US" altLang="zh-CN" sz="1200" b="1" dirty="0">
                <a:latin typeface="Montserrat" panose="00000500000000000000" pitchFamily="2" charset="0"/>
                <a:ea typeface="微软雅黑" pitchFamily="34" charset="-122"/>
              </a:rPr>
              <a:t>   1           0</a:t>
            </a:r>
          </a:p>
          <a:p>
            <a:pPr>
              <a:lnSpc>
                <a:spcPct val="110000"/>
              </a:lnSpc>
            </a:pPr>
            <a:r>
              <a:rPr lang="en-US" altLang="zh-CN" sz="1200" b="1" dirty="0">
                <a:latin typeface="Montserrat" panose="00000500000000000000" pitchFamily="2" charset="0"/>
                <a:ea typeface="微软雅黑" pitchFamily="34" charset="-122"/>
              </a:rPr>
              <a:t>   2           1</a:t>
            </a:r>
          </a:p>
          <a:p>
            <a:pPr>
              <a:lnSpc>
                <a:spcPct val="110000"/>
              </a:lnSpc>
            </a:pPr>
            <a:r>
              <a:rPr lang="en-US" altLang="zh-CN" sz="1200" b="1" dirty="0">
                <a:latin typeface="Montserrat" panose="00000500000000000000" pitchFamily="2" charset="0"/>
                <a:ea typeface="微软雅黑" pitchFamily="34" charset="-122"/>
              </a:rPr>
              <a:t>   3           1</a:t>
            </a:r>
          </a:p>
        </p:txBody>
      </p:sp>
      <p:sp>
        <p:nvSpPr>
          <p:cNvPr id="23" name="Line 13"/>
          <p:cNvSpPr>
            <a:spLocks noChangeShapeType="1"/>
          </p:cNvSpPr>
          <p:nvPr/>
        </p:nvSpPr>
        <p:spPr bwMode="auto">
          <a:xfrm flipV="1">
            <a:off x="1991725" y="3212142"/>
            <a:ext cx="1437238" cy="2197"/>
          </a:xfrm>
          <a:prstGeom prst="line">
            <a:avLst/>
          </a:prstGeom>
          <a:noFill/>
          <a:ln w="9525">
            <a:solidFill>
              <a:srgbClr val="00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24" name="Line 14"/>
          <p:cNvSpPr>
            <a:spLocks noChangeShapeType="1"/>
          </p:cNvSpPr>
          <p:nvPr/>
        </p:nvSpPr>
        <p:spPr bwMode="auto">
          <a:xfrm>
            <a:off x="2505986" y="2902009"/>
            <a:ext cx="0" cy="1302803"/>
          </a:xfrm>
          <a:prstGeom prst="line">
            <a:avLst/>
          </a:prstGeom>
          <a:noFill/>
          <a:ln w="9525">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grpSp>
        <p:nvGrpSpPr>
          <p:cNvPr id="25" name="组合 24"/>
          <p:cNvGrpSpPr/>
          <p:nvPr/>
        </p:nvGrpSpPr>
        <p:grpSpPr>
          <a:xfrm>
            <a:off x="5370820" y="3517897"/>
            <a:ext cx="541273" cy="669534"/>
            <a:chOff x="6717662" y="4764460"/>
            <a:chExt cx="899634" cy="1112812"/>
          </a:xfrm>
        </p:grpSpPr>
        <p:sp>
          <p:nvSpPr>
            <p:cNvPr id="38" name="等腰三角形 37"/>
            <p:cNvSpPr/>
            <p:nvPr/>
          </p:nvSpPr>
          <p:spPr bwMode="auto">
            <a:xfrm>
              <a:off x="6717662" y="4764460"/>
              <a:ext cx="898435" cy="514349"/>
            </a:xfrm>
            <a:prstGeom prst="triangle">
              <a:avLst>
                <a:gd name="adj" fmla="val 82161"/>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grpSp>
          <p:nvGrpSpPr>
            <p:cNvPr id="39" name="组合 38"/>
            <p:cNvGrpSpPr/>
            <p:nvPr/>
          </p:nvGrpSpPr>
          <p:grpSpPr>
            <a:xfrm>
              <a:off x="6755836" y="5278809"/>
              <a:ext cx="861460" cy="598463"/>
              <a:chOff x="6717662" y="5278809"/>
              <a:chExt cx="861460" cy="598463"/>
            </a:xfrm>
          </p:grpSpPr>
          <p:sp>
            <p:nvSpPr>
              <p:cNvPr id="40" name="矩形 39"/>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cxnSp>
            <p:nvCxnSpPr>
              <p:cNvPr id="41" name="直接连接符 40"/>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2" name="直接连接符 41"/>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6"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00761" y="3385773"/>
            <a:ext cx="377677"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7" name="组合 26"/>
          <p:cNvGrpSpPr/>
          <p:nvPr/>
        </p:nvGrpSpPr>
        <p:grpSpPr>
          <a:xfrm>
            <a:off x="6198669" y="2721146"/>
            <a:ext cx="541273" cy="669534"/>
            <a:chOff x="6717662" y="4764460"/>
            <a:chExt cx="899634" cy="1112812"/>
          </a:xfrm>
        </p:grpSpPr>
        <p:sp>
          <p:nvSpPr>
            <p:cNvPr id="33" name="等腰三角形 32"/>
            <p:cNvSpPr/>
            <p:nvPr/>
          </p:nvSpPr>
          <p:spPr bwMode="auto">
            <a:xfrm>
              <a:off x="6717662" y="4764460"/>
              <a:ext cx="898435" cy="514349"/>
            </a:xfrm>
            <a:prstGeom prst="triangle">
              <a:avLst>
                <a:gd name="adj" fmla="val 12085"/>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grpSp>
          <p:nvGrpSpPr>
            <p:cNvPr id="34" name="组合 33"/>
            <p:cNvGrpSpPr/>
            <p:nvPr/>
          </p:nvGrpSpPr>
          <p:grpSpPr>
            <a:xfrm>
              <a:off x="6755836" y="5278809"/>
              <a:ext cx="861460" cy="598463"/>
              <a:chOff x="6717662" y="5278809"/>
              <a:chExt cx="861460" cy="598463"/>
            </a:xfrm>
          </p:grpSpPr>
          <p:sp>
            <p:nvSpPr>
              <p:cNvPr id="35" name="矩形 34"/>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cxnSp>
            <p:nvCxnSpPr>
              <p:cNvPr id="36" name="直接连接符 35"/>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7" name="直接连接符 36"/>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8"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78437" y="2588651"/>
            <a:ext cx="377675"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3" name="Line 14"/>
          <p:cNvSpPr>
            <a:spLocks noChangeShapeType="1"/>
          </p:cNvSpPr>
          <p:nvPr/>
        </p:nvSpPr>
        <p:spPr bwMode="auto">
          <a:xfrm flipH="1">
            <a:off x="1441232" y="3348432"/>
            <a:ext cx="401774" cy="0"/>
          </a:xfrm>
          <a:prstGeom prst="line">
            <a:avLst/>
          </a:prstGeom>
          <a:noFill/>
          <a:ln w="38100">
            <a:solidFill>
              <a:srgbClr val="CC00CC"/>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sz="1200">
              <a:latin typeface="Montserrat" panose="00000500000000000000" pitchFamily="2" charset="0"/>
              <a:ea typeface="微软雅黑" panose="020B0503020204020204" pitchFamily="34" charset="-122"/>
            </a:endParaRPr>
          </a:p>
        </p:txBody>
      </p:sp>
      <p:sp>
        <p:nvSpPr>
          <p:cNvPr id="31" name="标题 30">
            <a:extLst>
              <a:ext uri="{FF2B5EF4-FFF2-40B4-BE49-F238E27FC236}">
                <a16:creationId xmlns:a16="http://schemas.microsoft.com/office/drawing/2014/main" id="{6D07EBE0-4CA4-1C01-9B9F-B98360604A3F}"/>
              </a:ext>
            </a:extLst>
          </p:cNvPr>
          <p:cNvSpPr>
            <a:spLocks noGrp="1"/>
          </p:cNvSpPr>
          <p:nvPr>
            <p:ph type="title"/>
          </p:nvPr>
        </p:nvSpPr>
        <p:spPr>
          <a:xfrm>
            <a:off x="486000" y="550723"/>
            <a:ext cx="8172000" cy="338554"/>
          </a:xfrm>
        </p:spPr>
        <p:txBody>
          <a:bodyPr/>
          <a:lstStyle/>
          <a:p>
            <a:r>
              <a:rPr lang="en-US" altLang="zh-CN" dirty="0"/>
              <a:t>4.9  </a:t>
            </a:r>
            <a:r>
              <a:rPr lang="zh-CN" altLang="en-US" dirty="0"/>
              <a:t>多协议标签交换 </a:t>
            </a:r>
            <a:r>
              <a:rPr lang="en-US" altLang="zh-CN" dirty="0"/>
              <a:t>MPLS</a:t>
            </a:r>
            <a:endParaRPr lang="zh-CN" altLang="en-US" dirty="0"/>
          </a:p>
        </p:txBody>
      </p:sp>
      <p:sp>
        <p:nvSpPr>
          <p:cNvPr id="3" name="内容占位符 2">
            <a:extLst>
              <a:ext uri="{FF2B5EF4-FFF2-40B4-BE49-F238E27FC236}">
                <a16:creationId xmlns:a16="http://schemas.microsoft.com/office/drawing/2014/main" id="{969D1F70-39F8-E2E6-38FB-0D200A1D9CA8}"/>
              </a:ext>
            </a:extLst>
          </p:cNvPr>
          <p:cNvSpPr>
            <a:spLocks noGrp="1"/>
          </p:cNvSpPr>
          <p:nvPr>
            <p:ph sz="quarter" idx="11"/>
          </p:nvPr>
        </p:nvSpPr>
        <p:spPr>
          <a:xfrm>
            <a:off x="486000" y="900000"/>
            <a:ext cx="8172000" cy="3703500"/>
          </a:xfrm>
        </p:spPr>
        <p:txBody>
          <a:bodyPr/>
          <a:lstStyle/>
          <a:p>
            <a:r>
              <a:rPr lang="en-US" altLang="zh-CN" dirty="0"/>
              <a:t>MPLS (</a:t>
            </a:r>
            <a:r>
              <a:rPr lang="en-US" altLang="zh-CN" dirty="0" err="1"/>
              <a:t>MultiProtocol</a:t>
            </a:r>
            <a:r>
              <a:rPr lang="en-US" altLang="zh-CN" dirty="0"/>
              <a:t> Label Switching)</a:t>
            </a:r>
            <a:r>
              <a:rPr lang="zh-CN" altLang="en-US" dirty="0"/>
              <a:t>：互联网建议标准。</a:t>
            </a:r>
            <a:endParaRPr lang="en-US" altLang="zh-CN" dirty="0"/>
          </a:p>
          <a:p>
            <a:r>
              <a:rPr lang="zh-CN" altLang="en-US" dirty="0"/>
              <a:t>多协议：在 </a:t>
            </a:r>
            <a:r>
              <a:rPr lang="en-US" altLang="zh-CN" dirty="0"/>
              <a:t>MPLS </a:t>
            </a:r>
            <a:r>
              <a:rPr lang="zh-CN" altLang="en-US" dirty="0"/>
              <a:t>的上层可以采用多种协议。</a:t>
            </a:r>
          </a:p>
          <a:p>
            <a:r>
              <a:rPr lang="zh-CN" altLang="en-US" dirty="0"/>
              <a:t>标签：</a:t>
            </a:r>
            <a:r>
              <a:rPr lang="en-US" altLang="zh-CN" dirty="0"/>
              <a:t>MPLS </a:t>
            </a:r>
            <a:r>
              <a:rPr lang="zh-CN" altLang="en-US" dirty="0"/>
              <a:t>利用面向连接技术，使每个分组携带一个叫做标签 </a:t>
            </a:r>
            <a:r>
              <a:rPr lang="en-US" altLang="zh-CN" dirty="0"/>
              <a:t>(label) </a:t>
            </a:r>
            <a:r>
              <a:rPr lang="zh-CN" altLang="en-US" dirty="0"/>
              <a:t>的小整数。标签交换路由器用标签值检索转发表，实现分组的快速转发。</a:t>
            </a:r>
          </a:p>
          <a:p>
            <a:endParaRPr lang="zh-CN" altLang="en-US" dirty="0"/>
          </a:p>
        </p:txBody>
      </p:sp>
    </p:spTree>
    <p:extLst>
      <p:ext uri="{BB962C8B-B14F-4D97-AF65-F5344CB8AC3E}">
        <p14:creationId xmlns:p14="http://schemas.microsoft.com/office/powerpoint/2010/main" val="41476674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left)">
                                      <p:cBhvr>
                                        <p:cTn id="7" dur="1000"/>
                                        <p:tgtEl>
                                          <p:spTgt spid="54"/>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left)">
                                      <p:cBhvr>
                                        <p:cTn id="11" dur="1000"/>
                                        <p:tgtEl>
                                          <p:spTgt spid="48"/>
                                        </p:tgtEl>
                                      </p:cBhvr>
                                    </p:animEffect>
                                  </p:childTnLst>
                                </p:cTn>
                              </p:par>
                            </p:childTnLst>
                          </p:cTn>
                        </p:par>
                        <p:par>
                          <p:cTn id="12" fill="hold">
                            <p:stCondLst>
                              <p:cond delay="2000"/>
                            </p:stCondLst>
                            <p:childTnLst>
                              <p:par>
                                <p:cTn id="13" presetID="35" presetClass="emph" presetSubtype="0" repeatCount="3000" fill="hold" grpId="1" nodeType="afterEffect">
                                  <p:stCondLst>
                                    <p:cond delay="0"/>
                                  </p:stCondLst>
                                  <p:childTnLst>
                                    <p:anim calcmode="discrete" valueType="str">
                                      <p:cBhvr>
                                        <p:cTn id="14"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repeatCount="3000" fill="hold" grpId="0" nodeType="clickEffect">
                                  <p:stCondLst>
                                    <p:cond delay="0"/>
                                  </p:stCondLst>
                                  <p:childTnLst>
                                    <p:set>
                                      <p:cBhvr>
                                        <p:cTn id="18" dur="1" fill="hold">
                                          <p:stCondLst>
                                            <p:cond delay="0"/>
                                          </p:stCondLst>
                                        </p:cTn>
                                        <p:tgtEl>
                                          <p:spTgt spid="53"/>
                                        </p:tgtEl>
                                        <p:attrNameLst>
                                          <p:attrName>style.visibility</p:attrName>
                                        </p:attrNameLst>
                                      </p:cBhvr>
                                      <p:to>
                                        <p:strVal val="visible"/>
                                      </p:to>
                                    </p:set>
                                    <p:animEffect transition="in" filter="fade">
                                      <p:cBhvr>
                                        <p:cTn id="19" dur="1000"/>
                                        <p:tgtEl>
                                          <p:spTgt spid="53"/>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nodeType="clickEffect">
                                  <p:stCondLst>
                                    <p:cond delay="0"/>
                                  </p:stCondLst>
                                  <p:childTnLst>
                                    <p:set>
                                      <p:cBhvr>
                                        <p:cTn id="23" dur="1" fill="hold">
                                          <p:stCondLst>
                                            <p:cond delay="0"/>
                                          </p:stCondLst>
                                        </p:cTn>
                                        <p:tgtEl>
                                          <p:spTgt spid="19"/>
                                        </p:tgtEl>
                                        <p:attrNameLst>
                                          <p:attrName>style.visibility</p:attrName>
                                        </p:attrNameLst>
                                      </p:cBhvr>
                                      <p:to>
                                        <p:strVal val="visible"/>
                                      </p:to>
                                    </p:set>
                                    <p:animEffect transition="in" filter="wipe(left)">
                                      <p:cBhvr>
                                        <p:cTn id="24"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P spid="48" grpId="1" animBg="1"/>
      <p:bldP spid="53" grpId="0" animBg="1"/>
    </p:bldLst>
  </p:timing>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8A7509D-B9CB-E5C7-4AC9-1A4DDBE0EB61}"/>
              </a:ext>
            </a:extLst>
          </p:cNvPr>
          <p:cNvSpPr>
            <a:spLocks noGrp="1"/>
          </p:cNvSpPr>
          <p:nvPr>
            <p:ph type="title"/>
          </p:nvPr>
        </p:nvSpPr>
        <p:spPr>
          <a:xfrm>
            <a:off x="486000" y="550723"/>
            <a:ext cx="8172000" cy="338554"/>
          </a:xfrm>
        </p:spPr>
        <p:txBody>
          <a:bodyPr/>
          <a:lstStyle/>
          <a:p>
            <a:r>
              <a:rPr lang="en-US" altLang="zh-CN" dirty="0"/>
              <a:t>MPLS </a:t>
            </a:r>
            <a:r>
              <a:rPr lang="zh-CN" altLang="en-US" dirty="0"/>
              <a:t>特点</a:t>
            </a:r>
          </a:p>
        </p:txBody>
      </p:sp>
      <p:sp>
        <p:nvSpPr>
          <p:cNvPr id="6" name="内容占位符 5">
            <a:extLst>
              <a:ext uri="{FF2B5EF4-FFF2-40B4-BE49-F238E27FC236}">
                <a16:creationId xmlns:a16="http://schemas.microsoft.com/office/drawing/2014/main" id="{873C2D1A-3E1B-F1FF-B2B0-7B6090494037}"/>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并没有取代 </a:t>
            </a:r>
            <a:r>
              <a:rPr lang="en-US" altLang="zh-CN" dirty="0"/>
              <a:t>IP</a:t>
            </a:r>
            <a:r>
              <a:rPr lang="zh-CN" altLang="en-US" dirty="0"/>
              <a:t>，而是作为一种 </a:t>
            </a:r>
            <a:r>
              <a:rPr lang="en-US" altLang="zh-CN" dirty="0"/>
              <a:t>IP </a:t>
            </a:r>
            <a:r>
              <a:rPr lang="zh-CN" altLang="en-US" dirty="0"/>
              <a:t>增强技术</a:t>
            </a:r>
          </a:p>
          <a:p>
            <a:r>
              <a:rPr lang="zh-CN" altLang="en-US" dirty="0"/>
              <a:t>特点：</a:t>
            </a:r>
          </a:p>
          <a:p>
            <a:pPr lvl="1"/>
            <a:r>
              <a:rPr lang="zh-CN" altLang="en-US" dirty="0"/>
              <a:t>支持面向连接的服务质量</a:t>
            </a:r>
          </a:p>
          <a:p>
            <a:pPr lvl="1"/>
            <a:r>
              <a:rPr lang="zh-CN" altLang="en-US" dirty="0"/>
              <a:t>支持流量工程，平衡网络负载</a:t>
            </a:r>
          </a:p>
          <a:p>
            <a:pPr lvl="1"/>
            <a:r>
              <a:rPr lang="zh-CN" altLang="en-US" dirty="0"/>
              <a:t>有效地支持虚拟专用网 </a:t>
            </a:r>
            <a:r>
              <a:rPr lang="en-US" altLang="zh-CN" dirty="0"/>
              <a:t>VPN</a:t>
            </a:r>
            <a:endParaRPr lang="zh-CN" altLang="en-US" dirty="0"/>
          </a:p>
          <a:p>
            <a:endParaRPr lang="zh-CN" altLang="en-US" dirty="0"/>
          </a:p>
        </p:txBody>
      </p:sp>
    </p:spTree>
    <p:extLst>
      <p:ext uri="{BB962C8B-B14F-4D97-AF65-F5344CB8AC3E}">
        <p14:creationId xmlns:p14="http://schemas.microsoft.com/office/powerpoint/2010/main" val="37320897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A0C25AEB-91F6-0173-3A65-E37A7D0DB5B6}"/>
              </a:ext>
            </a:extLst>
          </p:cNvPr>
          <p:cNvSpPr>
            <a:spLocks noGrp="1"/>
          </p:cNvSpPr>
          <p:nvPr>
            <p:ph sz="quarter" idx="11"/>
          </p:nvPr>
        </p:nvSpPr>
        <p:spPr>
          <a:xfrm>
            <a:off x="486000" y="900000"/>
            <a:ext cx="8172000" cy="3703500"/>
          </a:xfrm>
        </p:spPr>
        <p:txBody>
          <a:bodyPr/>
          <a:lstStyle/>
          <a:p>
            <a:r>
              <a:rPr lang="zh-CN" altLang="en-US" dirty="0"/>
              <a:t>当网络很大时，查找路由表要花费很多时间</a:t>
            </a:r>
          </a:p>
          <a:p>
            <a:r>
              <a:rPr lang="zh-CN" altLang="en-US" dirty="0"/>
              <a:t>在出现突发通信时，缓存会溢出，引起分组丢失、传输时延增大和服务质量下降</a:t>
            </a:r>
          </a:p>
          <a:p>
            <a:endParaRPr lang="zh-CN" altLang="en-US" dirty="0"/>
          </a:p>
        </p:txBody>
      </p:sp>
      <p:grpSp>
        <p:nvGrpSpPr>
          <p:cNvPr id="16" name="组合 15"/>
          <p:cNvGrpSpPr/>
          <p:nvPr/>
        </p:nvGrpSpPr>
        <p:grpSpPr>
          <a:xfrm>
            <a:off x="1549926" y="3974824"/>
            <a:ext cx="1003442" cy="242009"/>
            <a:chOff x="1522766" y="3609571"/>
            <a:chExt cx="1152421" cy="268022"/>
          </a:xfrm>
        </p:grpSpPr>
        <p:sp>
          <p:nvSpPr>
            <p:cNvPr id="2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2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aphicFrame>
        <p:nvGraphicFramePr>
          <p:cNvPr id="48" name="表格 47"/>
          <p:cNvGraphicFramePr>
            <a:graphicFrameLocks noGrp="1"/>
          </p:cNvGraphicFramePr>
          <p:nvPr>
            <p:extLst>
              <p:ext uri="{D42A27DB-BD31-4B8C-83A1-F6EECF244321}">
                <p14:modId xmlns:p14="http://schemas.microsoft.com/office/powerpoint/2010/main" val="2973592344"/>
              </p:ext>
            </p:extLst>
          </p:nvPr>
        </p:nvGraphicFramePr>
        <p:xfrm>
          <a:off x="1662692" y="2803560"/>
          <a:ext cx="1200150" cy="814640"/>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93389">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3104">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6302">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2034">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49" name="表格 48"/>
          <p:cNvGraphicFramePr>
            <a:graphicFrameLocks noGrp="1"/>
          </p:cNvGraphicFramePr>
          <p:nvPr>
            <p:extLst>
              <p:ext uri="{D42A27DB-BD31-4B8C-83A1-F6EECF244321}">
                <p14:modId xmlns:p14="http://schemas.microsoft.com/office/powerpoint/2010/main" val="2556310105"/>
              </p:ext>
            </p:extLst>
          </p:nvPr>
        </p:nvGraphicFramePr>
        <p:xfrm>
          <a:off x="3453368" y="1921924"/>
          <a:ext cx="1200150" cy="824951"/>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62038">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529">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a:effectLst/>
                          <a:highlight>
                            <a:srgbClr val="FFFF00"/>
                          </a:highlight>
                          <a:latin typeface="微软雅黑" pitchFamily="34" charset="-122"/>
                          <a:ea typeface="微软雅黑" pitchFamily="34" charset="-122"/>
                        </a:rPr>
                        <a:t>1</a:t>
                      </a:r>
                      <a:endParaRPr lang="zh-CN" sz="1200" b="1">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9781">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441">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50" name="表格 49"/>
          <p:cNvGraphicFramePr>
            <a:graphicFrameLocks noGrp="1"/>
          </p:cNvGraphicFramePr>
          <p:nvPr>
            <p:extLst>
              <p:ext uri="{D42A27DB-BD31-4B8C-83A1-F6EECF244321}">
                <p14:modId xmlns:p14="http://schemas.microsoft.com/office/powerpoint/2010/main" val="3431647029"/>
              </p:ext>
            </p:extLst>
          </p:nvPr>
        </p:nvGraphicFramePr>
        <p:xfrm>
          <a:off x="5497252" y="1922960"/>
          <a:ext cx="1200150" cy="829833"/>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207067">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866">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10124">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776">
                <a:tc>
                  <a:txBody>
                    <a:bodyPr/>
                    <a:lstStyle/>
                    <a:p>
                      <a:pPr>
                        <a:lnSpc>
                          <a:spcPts val="1600"/>
                        </a:lnSpc>
                        <a:spcAft>
                          <a:spcPts val="0"/>
                        </a:spcAft>
                      </a:pPr>
                      <a:r>
                        <a:rPr lang="en-US" sz="1200" b="1">
                          <a:effectLst/>
                          <a:latin typeface="微软雅黑" pitchFamily="34" charset="-122"/>
                          <a:ea typeface="微软雅黑" pitchFamily="34" charset="-122"/>
                        </a:rPr>
                        <a:t>47.3</a:t>
                      </a:r>
                      <a:endParaRPr lang="zh-CN" sz="1200" b="1">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pSp>
        <p:nvGrpSpPr>
          <p:cNvPr id="78" name="组合 77"/>
          <p:cNvGrpSpPr/>
          <p:nvPr/>
        </p:nvGrpSpPr>
        <p:grpSpPr>
          <a:xfrm>
            <a:off x="1901228" y="2693437"/>
            <a:ext cx="5341151" cy="1872063"/>
            <a:chOff x="1901228" y="2138071"/>
            <a:chExt cx="5916670" cy="1965649"/>
          </a:xfrm>
        </p:grpSpPr>
        <p:cxnSp>
          <p:nvCxnSpPr>
            <p:cNvPr id="5" name="AutoShape 136"/>
            <p:cNvCxnSpPr>
              <a:cxnSpLocks noChangeShapeType="1"/>
            </p:cNvCxnSpPr>
            <p:nvPr/>
          </p:nvCxnSpPr>
          <p:spPr bwMode="auto">
            <a:xfrm flipV="1">
              <a:off x="3412827" y="2615698"/>
              <a:ext cx="436623" cy="68707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6" name="AutoShape 137"/>
            <p:cNvCxnSpPr>
              <a:cxnSpLocks noChangeShapeType="1"/>
              <a:stCxn id="40" idx="3"/>
              <a:endCxn id="46" idx="1"/>
            </p:cNvCxnSpPr>
            <p:nvPr/>
          </p:nvCxnSpPr>
          <p:spPr bwMode="auto">
            <a:xfrm>
              <a:off x="4361708" y="2484661"/>
              <a:ext cx="1549663" cy="0"/>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 name="AutoShape 138"/>
            <p:cNvCxnSpPr>
              <a:cxnSpLocks noChangeShapeType="1"/>
            </p:cNvCxnSpPr>
            <p:nvPr/>
          </p:nvCxnSpPr>
          <p:spPr bwMode="auto">
            <a:xfrm>
              <a:off x="3314177" y="3520385"/>
              <a:ext cx="411042" cy="378159"/>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 name="AutoShape 139"/>
            <p:cNvCxnSpPr>
              <a:cxnSpLocks noChangeShapeType="1"/>
            </p:cNvCxnSpPr>
            <p:nvPr/>
          </p:nvCxnSpPr>
          <p:spPr bwMode="auto">
            <a:xfrm flipV="1">
              <a:off x="4309383" y="3211594"/>
              <a:ext cx="518850" cy="59990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9" name="AutoShape 140"/>
            <p:cNvCxnSpPr>
              <a:cxnSpLocks noChangeShapeType="1"/>
              <a:stCxn id="42" idx="3"/>
              <a:endCxn id="44" idx="1"/>
            </p:cNvCxnSpPr>
            <p:nvPr/>
          </p:nvCxnSpPr>
          <p:spPr bwMode="auto">
            <a:xfrm>
              <a:off x="5499100" y="3164224"/>
              <a:ext cx="978012" cy="264282"/>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0" name="AutoShape 141"/>
            <p:cNvCxnSpPr>
              <a:cxnSpLocks noChangeShapeType="1"/>
              <a:stCxn id="43" idx="3"/>
              <a:endCxn id="45" idx="1"/>
            </p:cNvCxnSpPr>
            <p:nvPr/>
          </p:nvCxnSpPr>
          <p:spPr bwMode="auto">
            <a:xfrm flipV="1">
              <a:off x="4391369" y="3931064"/>
              <a:ext cx="869529" cy="1"/>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1" name="AutoShape 142"/>
            <p:cNvCxnSpPr>
              <a:cxnSpLocks noChangeShapeType="1"/>
            </p:cNvCxnSpPr>
            <p:nvPr/>
          </p:nvCxnSpPr>
          <p:spPr bwMode="auto">
            <a:xfrm>
              <a:off x="4244574" y="2599380"/>
              <a:ext cx="705508" cy="535765"/>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2" name="AutoShape 143"/>
            <p:cNvCxnSpPr>
              <a:cxnSpLocks noChangeShapeType="1"/>
              <a:stCxn id="45" idx="3"/>
              <a:endCxn id="44" idx="2"/>
            </p:cNvCxnSpPr>
            <p:nvPr/>
          </p:nvCxnSpPr>
          <p:spPr bwMode="auto">
            <a:xfrm flipV="1">
              <a:off x="5946918" y="3601161"/>
              <a:ext cx="873204" cy="32990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 name="AutoShape 144"/>
            <p:cNvCxnSpPr>
              <a:cxnSpLocks noChangeShapeType="1"/>
            </p:cNvCxnSpPr>
            <p:nvPr/>
          </p:nvCxnSpPr>
          <p:spPr bwMode="auto">
            <a:xfrm>
              <a:off x="6407829" y="2556129"/>
              <a:ext cx="338086" cy="76236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4" name="Line 145"/>
            <p:cNvSpPr>
              <a:spLocks noChangeShapeType="1"/>
            </p:cNvSpPr>
            <p:nvPr/>
          </p:nvSpPr>
          <p:spPr bwMode="auto">
            <a:xfrm>
              <a:off x="6527756" y="2410087"/>
              <a:ext cx="83269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5" name="Line 146"/>
            <p:cNvSpPr>
              <a:spLocks noChangeShapeType="1"/>
            </p:cNvSpPr>
            <p:nvPr/>
          </p:nvSpPr>
          <p:spPr bwMode="auto">
            <a:xfrm flipV="1">
              <a:off x="7114822" y="3436242"/>
              <a:ext cx="703076"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8" name="Text Box 149"/>
            <p:cNvSpPr txBox="1">
              <a:spLocks noChangeArrowheads="1"/>
            </p:cNvSpPr>
            <p:nvPr/>
          </p:nvSpPr>
          <p:spPr bwMode="auto">
            <a:xfrm>
              <a:off x="2054088" y="3200256"/>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47.3</a:t>
              </a:r>
            </a:p>
          </p:txBody>
        </p:sp>
        <p:sp>
          <p:nvSpPr>
            <p:cNvPr id="22" name="Line 153"/>
            <p:cNvSpPr>
              <a:spLocks noChangeShapeType="1"/>
            </p:cNvSpPr>
            <p:nvPr/>
          </p:nvSpPr>
          <p:spPr bwMode="auto">
            <a:xfrm flipV="1">
              <a:off x="1901228" y="3444947"/>
              <a:ext cx="86843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25" name="Text Box 156"/>
            <p:cNvSpPr txBox="1">
              <a:spLocks noChangeArrowheads="1"/>
            </p:cNvSpPr>
            <p:nvPr/>
          </p:nvSpPr>
          <p:spPr bwMode="auto">
            <a:xfrm>
              <a:off x="4107169" y="2586763"/>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26" name="Text Box 157"/>
            <p:cNvSpPr txBox="1">
              <a:spLocks noChangeArrowheads="1"/>
            </p:cNvSpPr>
            <p:nvPr/>
          </p:nvSpPr>
          <p:spPr bwMode="auto">
            <a:xfrm>
              <a:off x="3544161" y="249318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sp>
          <p:nvSpPr>
            <p:cNvPr id="28" name="Text Box 159"/>
            <p:cNvSpPr txBox="1">
              <a:spLocks noChangeArrowheads="1"/>
            </p:cNvSpPr>
            <p:nvPr/>
          </p:nvSpPr>
          <p:spPr bwMode="auto">
            <a:xfrm>
              <a:off x="6480677" y="213807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29" name="Text Box 160"/>
            <p:cNvSpPr txBox="1">
              <a:spLocks noChangeArrowheads="1"/>
            </p:cNvSpPr>
            <p:nvPr/>
          </p:nvSpPr>
          <p:spPr bwMode="auto">
            <a:xfrm>
              <a:off x="6230153" y="260131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0" name="Text Box 161"/>
            <p:cNvSpPr txBox="1">
              <a:spLocks noChangeArrowheads="1"/>
            </p:cNvSpPr>
            <p:nvPr/>
          </p:nvSpPr>
          <p:spPr bwMode="auto">
            <a:xfrm>
              <a:off x="3256389" y="302133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31" name="Text Box 162"/>
            <p:cNvSpPr txBox="1">
              <a:spLocks noChangeArrowheads="1"/>
            </p:cNvSpPr>
            <p:nvPr/>
          </p:nvSpPr>
          <p:spPr bwMode="auto">
            <a:xfrm>
              <a:off x="3178851" y="354151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2" name="Text Box 163"/>
            <p:cNvSpPr txBox="1">
              <a:spLocks noChangeArrowheads="1"/>
            </p:cNvSpPr>
            <p:nvPr/>
          </p:nvSpPr>
          <p:spPr bwMode="auto">
            <a:xfrm>
              <a:off x="2540093" y="3162537"/>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solidFill>
                    <a:srgbClr val="0000FF"/>
                  </a:solidFill>
                  <a:latin typeface="微软雅黑" pitchFamily="34" charset="-122"/>
                  <a:ea typeface="微软雅黑" pitchFamily="34" charset="-122"/>
                </a:rPr>
                <a:t>3</a:t>
              </a:r>
            </a:p>
          </p:txBody>
        </p:sp>
        <p:sp>
          <p:nvSpPr>
            <p:cNvPr id="39" name="Text Box 169"/>
            <p:cNvSpPr txBox="1">
              <a:spLocks noChangeArrowheads="1"/>
            </p:cNvSpPr>
            <p:nvPr/>
          </p:nvSpPr>
          <p:spPr bwMode="auto">
            <a:xfrm>
              <a:off x="5680556" y="2231979"/>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pic>
          <p:nvPicPr>
            <p:cNvPr id="40"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48125" y="2312005"/>
              <a:ext cx="613583"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2919"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13079" y="299156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3"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05348" y="375840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7112"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60898" y="3758407"/>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6"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11371" y="2312005"/>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Text Box 147"/>
            <p:cNvSpPr txBox="1">
              <a:spLocks noChangeArrowheads="1"/>
            </p:cNvSpPr>
            <p:nvPr/>
          </p:nvSpPr>
          <p:spPr bwMode="auto">
            <a:xfrm>
              <a:off x="6664367" y="2159594"/>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latin typeface="微软雅黑" pitchFamily="34" charset="-122"/>
                  <a:ea typeface="微软雅黑" pitchFamily="34" charset="-122"/>
                </a:rPr>
                <a:t>47.1</a:t>
              </a:r>
            </a:p>
          </p:txBody>
        </p:sp>
        <p:sp>
          <p:nvSpPr>
            <p:cNvPr id="52" name="Text Box 148"/>
            <p:cNvSpPr txBox="1">
              <a:spLocks noChangeArrowheads="1"/>
            </p:cNvSpPr>
            <p:nvPr/>
          </p:nvSpPr>
          <p:spPr bwMode="auto">
            <a:xfrm>
              <a:off x="7146979" y="3187683"/>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47.2</a:t>
              </a:r>
            </a:p>
          </p:txBody>
        </p:sp>
        <p:sp>
          <p:nvSpPr>
            <p:cNvPr id="53" name="Text Box 155"/>
            <p:cNvSpPr txBox="1">
              <a:spLocks noChangeArrowheads="1"/>
            </p:cNvSpPr>
            <p:nvPr/>
          </p:nvSpPr>
          <p:spPr bwMode="auto">
            <a:xfrm>
              <a:off x="4298267" y="224216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grpSp>
      <p:grpSp>
        <p:nvGrpSpPr>
          <p:cNvPr id="59" name="组合 58"/>
          <p:cNvGrpSpPr/>
          <p:nvPr/>
        </p:nvGrpSpPr>
        <p:grpSpPr>
          <a:xfrm>
            <a:off x="4354659" y="2751868"/>
            <a:ext cx="1003442" cy="242009"/>
            <a:chOff x="1522766" y="3609571"/>
            <a:chExt cx="1152421" cy="268022"/>
          </a:xfrm>
        </p:grpSpPr>
        <p:sp>
          <p:nvSpPr>
            <p:cNvPr id="6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62" name="组合 61"/>
          <p:cNvGrpSpPr/>
          <p:nvPr/>
        </p:nvGrpSpPr>
        <p:grpSpPr>
          <a:xfrm>
            <a:off x="6285575" y="3003303"/>
            <a:ext cx="1003442" cy="242009"/>
            <a:chOff x="1522766" y="3609571"/>
            <a:chExt cx="1152421" cy="268022"/>
          </a:xfrm>
        </p:grpSpPr>
        <p:sp>
          <p:nvSpPr>
            <p:cNvPr id="63"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4"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54" name="组合 53"/>
          <p:cNvGrpSpPr/>
          <p:nvPr/>
        </p:nvGrpSpPr>
        <p:grpSpPr>
          <a:xfrm>
            <a:off x="3016862" y="3258231"/>
            <a:ext cx="1003442" cy="242009"/>
            <a:chOff x="1522766" y="3609571"/>
            <a:chExt cx="1152421" cy="268022"/>
          </a:xfrm>
        </p:grpSpPr>
        <p:sp>
          <p:nvSpPr>
            <p:cNvPr id="55"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56"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sp>
        <p:nvSpPr>
          <p:cNvPr id="95" name="矩形 94"/>
          <p:cNvSpPr/>
          <p:nvPr/>
        </p:nvSpPr>
        <p:spPr>
          <a:xfrm>
            <a:off x="759646" y="1919812"/>
            <a:ext cx="2167581" cy="369332"/>
          </a:xfrm>
          <a:prstGeom prst="rect">
            <a:avLst/>
          </a:prstGeom>
          <a:solidFill>
            <a:srgbClr val="0000FF"/>
          </a:solidFill>
        </p:spPr>
        <p:txBody>
          <a:bodyPr wrap="none">
            <a:spAutoFit/>
          </a:bodyPr>
          <a:lstStyle/>
          <a:p>
            <a:r>
              <a:rPr lang="zh-CN" altLang="en-US" dirty="0">
                <a:solidFill>
                  <a:schemeClr val="bg1"/>
                </a:solidFill>
                <a:latin typeface="微软雅黑" pitchFamily="34" charset="-122"/>
                <a:ea typeface="微软雅黑" pitchFamily="34" charset="-122"/>
              </a:rPr>
              <a:t>传统 </a:t>
            </a:r>
            <a:r>
              <a:rPr lang="en-US" altLang="zh-CN" dirty="0">
                <a:solidFill>
                  <a:schemeClr val="bg1"/>
                </a:solidFill>
                <a:latin typeface="微软雅黑" pitchFamily="34" charset="-122"/>
                <a:ea typeface="微软雅黑" pitchFamily="34" charset="-122"/>
              </a:rPr>
              <a:t>IP </a:t>
            </a:r>
            <a:r>
              <a:rPr lang="zh-CN" altLang="en-US" dirty="0">
                <a:solidFill>
                  <a:schemeClr val="bg1"/>
                </a:solidFill>
                <a:latin typeface="微软雅黑" pitchFamily="34" charset="-122"/>
                <a:ea typeface="微软雅黑" pitchFamily="34" charset="-122"/>
              </a:rPr>
              <a:t>分组的转发</a:t>
            </a:r>
          </a:p>
        </p:txBody>
      </p:sp>
      <p:sp>
        <p:nvSpPr>
          <p:cNvPr id="3" name="标题 2">
            <a:extLst>
              <a:ext uri="{FF2B5EF4-FFF2-40B4-BE49-F238E27FC236}">
                <a16:creationId xmlns:a16="http://schemas.microsoft.com/office/drawing/2014/main" id="{10D48A10-F611-B04E-ABC0-5266BFC18FEA}"/>
              </a:ext>
            </a:extLst>
          </p:cNvPr>
          <p:cNvSpPr>
            <a:spLocks noGrp="1"/>
          </p:cNvSpPr>
          <p:nvPr>
            <p:ph type="title"/>
          </p:nvPr>
        </p:nvSpPr>
        <p:spPr>
          <a:xfrm>
            <a:off x="486000" y="550723"/>
            <a:ext cx="8172000" cy="338554"/>
          </a:xfrm>
        </p:spPr>
        <p:txBody>
          <a:bodyPr/>
          <a:lstStyle/>
          <a:p>
            <a:r>
              <a:rPr lang="en-US" altLang="zh-CN" dirty="0"/>
              <a:t>4.9.1  MPLS </a:t>
            </a:r>
            <a:r>
              <a:rPr lang="zh-CN" altLang="en-US" dirty="0"/>
              <a:t>的工作原理</a:t>
            </a:r>
          </a:p>
        </p:txBody>
      </p:sp>
    </p:spTree>
    <p:extLst>
      <p:ext uri="{BB962C8B-B14F-4D97-AF65-F5344CB8AC3E}">
        <p14:creationId xmlns:p14="http://schemas.microsoft.com/office/powerpoint/2010/main" val="584194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down)">
                                      <p:cBhvr>
                                        <p:cTn id="11" dur="1000"/>
                                        <p:tgtEl>
                                          <p:spTgt spid="48"/>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54"/>
                                        </p:tgtEl>
                                        <p:attrNameLst>
                                          <p:attrName>style.visibility</p:attrName>
                                        </p:attrNameLst>
                                      </p:cBhvr>
                                      <p:to>
                                        <p:strVal val="visible"/>
                                      </p:to>
                                    </p:set>
                                    <p:animEffect transition="in" filter="wipe(left)">
                                      <p:cBhvr>
                                        <p:cTn id="15" dur="1000"/>
                                        <p:tgtEl>
                                          <p:spTgt spid="54"/>
                                        </p:tgtEl>
                                      </p:cBhvr>
                                    </p:animEffect>
                                  </p:childTnLst>
                                </p:cTn>
                              </p:par>
                            </p:childTnLst>
                          </p:cTn>
                        </p:par>
                        <p:par>
                          <p:cTn id="16" fill="hold">
                            <p:stCondLst>
                              <p:cond delay="3000"/>
                            </p:stCondLst>
                            <p:childTnLst>
                              <p:par>
                                <p:cTn id="17" presetID="22" presetClass="entr" presetSubtype="4" fill="hold" nodeType="afterEffect">
                                  <p:stCondLst>
                                    <p:cond delay="0"/>
                                  </p:stCondLst>
                                  <p:childTnLst>
                                    <p:set>
                                      <p:cBhvr>
                                        <p:cTn id="18" dur="1" fill="hold">
                                          <p:stCondLst>
                                            <p:cond delay="0"/>
                                          </p:stCondLst>
                                        </p:cTn>
                                        <p:tgtEl>
                                          <p:spTgt spid="49"/>
                                        </p:tgtEl>
                                        <p:attrNameLst>
                                          <p:attrName>style.visibility</p:attrName>
                                        </p:attrNameLst>
                                      </p:cBhvr>
                                      <p:to>
                                        <p:strVal val="visible"/>
                                      </p:to>
                                    </p:set>
                                    <p:animEffect transition="in" filter="wipe(down)">
                                      <p:cBhvr>
                                        <p:cTn id="19" dur="1000"/>
                                        <p:tgtEl>
                                          <p:spTgt spid="49"/>
                                        </p:tgtEl>
                                      </p:cBhvr>
                                    </p:animEffect>
                                  </p:childTnLst>
                                </p:cTn>
                              </p:par>
                            </p:childTnLst>
                          </p:cTn>
                        </p:par>
                        <p:par>
                          <p:cTn id="20" fill="hold">
                            <p:stCondLst>
                              <p:cond delay="4000"/>
                            </p:stCondLst>
                            <p:childTnLst>
                              <p:par>
                                <p:cTn id="21" presetID="22" presetClass="entr" presetSubtype="8" fill="hold" nodeType="afterEffect">
                                  <p:stCondLst>
                                    <p:cond delay="0"/>
                                  </p:stCondLst>
                                  <p:childTnLst>
                                    <p:set>
                                      <p:cBhvr>
                                        <p:cTn id="22" dur="1" fill="hold">
                                          <p:stCondLst>
                                            <p:cond delay="0"/>
                                          </p:stCondLst>
                                        </p:cTn>
                                        <p:tgtEl>
                                          <p:spTgt spid="59"/>
                                        </p:tgtEl>
                                        <p:attrNameLst>
                                          <p:attrName>style.visibility</p:attrName>
                                        </p:attrNameLst>
                                      </p:cBhvr>
                                      <p:to>
                                        <p:strVal val="visible"/>
                                      </p:to>
                                    </p:set>
                                    <p:animEffect transition="in" filter="wipe(left)">
                                      <p:cBhvr>
                                        <p:cTn id="23" dur="1000"/>
                                        <p:tgtEl>
                                          <p:spTgt spid="59"/>
                                        </p:tgtEl>
                                      </p:cBhvr>
                                    </p:animEffect>
                                  </p:childTnLst>
                                </p:cTn>
                              </p:par>
                            </p:childTnLst>
                          </p:cTn>
                        </p:par>
                        <p:par>
                          <p:cTn id="24" fill="hold">
                            <p:stCondLst>
                              <p:cond delay="5000"/>
                            </p:stCondLst>
                            <p:childTnLst>
                              <p:par>
                                <p:cTn id="25" presetID="22" presetClass="entr" presetSubtype="4" fill="hold" nodeType="afterEffect">
                                  <p:stCondLst>
                                    <p:cond delay="0"/>
                                  </p:stCondLst>
                                  <p:childTnLst>
                                    <p:set>
                                      <p:cBhvr>
                                        <p:cTn id="26" dur="1" fill="hold">
                                          <p:stCondLst>
                                            <p:cond delay="0"/>
                                          </p:stCondLst>
                                        </p:cTn>
                                        <p:tgtEl>
                                          <p:spTgt spid="50"/>
                                        </p:tgtEl>
                                        <p:attrNameLst>
                                          <p:attrName>style.visibility</p:attrName>
                                        </p:attrNameLst>
                                      </p:cBhvr>
                                      <p:to>
                                        <p:strVal val="visible"/>
                                      </p:to>
                                    </p:set>
                                    <p:animEffect transition="in" filter="wipe(down)">
                                      <p:cBhvr>
                                        <p:cTn id="27" dur="1000"/>
                                        <p:tgtEl>
                                          <p:spTgt spid="50"/>
                                        </p:tgtEl>
                                      </p:cBhvr>
                                    </p:animEffect>
                                  </p:childTnLst>
                                </p:cTn>
                              </p:par>
                            </p:childTnLst>
                          </p:cTn>
                        </p:par>
                        <p:par>
                          <p:cTn id="28" fill="hold">
                            <p:stCondLst>
                              <p:cond delay="6000"/>
                            </p:stCondLst>
                            <p:childTnLst>
                              <p:par>
                                <p:cTn id="29" presetID="22" presetClass="entr" presetSubtype="8" fill="hold" nodeType="afterEffect">
                                  <p:stCondLst>
                                    <p:cond delay="0"/>
                                  </p:stCondLst>
                                  <p:childTnLst>
                                    <p:set>
                                      <p:cBhvr>
                                        <p:cTn id="30" dur="1" fill="hold">
                                          <p:stCondLst>
                                            <p:cond delay="0"/>
                                          </p:stCondLst>
                                        </p:cTn>
                                        <p:tgtEl>
                                          <p:spTgt spid="62"/>
                                        </p:tgtEl>
                                        <p:attrNameLst>
                                          <p:attrName>style.visibility</p:attrName>
                                        </p:attrNameLst>
                                      </p:cBhvr>
                                      <p:to>
                                        <p:strVal val="visible"/>
                                      </p:to>
                                    </p:set>
                                    <p:animEffect transition="in" filter="wipe(left)">
                                      <p:cBhvr>
                                        <p:cTn id="31" dur="10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E859BE-DCDA-7A59-68F6-20A34BEEEDC5}"/>
              </a:ext>
            </a:extLst>
          </p:cNvPr>
          <p:cNvSpPr>
            <a:spLocks noGrp="1"/>
          </p:cNvSpPr>
          <p:nvPr>
            <p:ph type="title"/>
          </p:nvPr>
        </p:nvSpPr>
        <p:spPr>
          <a:xfrm>
            <a:off x="486000" y="550723"/>
            <a:ext cx="8172000" cy="338554"/>
          </a:xfrm>
        </p:spPr>
        <p:txBody>
          <a:bodyPr/>
          <a:lstStyle/>
          <a:p>
            <a:r>
              <a:rPr lang="en-US" altLang="zh-CN" dirty="0"/>
              <a:t>1.  MPLS </a:t>
            </a:r>
            <a:r>
              <a:rPr lang="zh-CN" altLang="en-US" dirty="0"/>
              <a:t>基本工作过程</a:t>
            </a:r>
          </a:p>
        </p:txBody>
      </p:sp>
      <p:sp>
        <p:nvSpPr>
          <p:cNvPr id="3" name="内容占位符 2">
            <a:extLst>
              <a:ext uri="{FF2B5EF4-FFF2-40B4-BE49-F238E27FC236}">
                <a16:creationId xmlns:a16="http://schemas.microsoft.com/office/drawing/2014/main" id="{05DC7E4C-E21A-274F-F024-BDC4D891C101}"/>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特点：</a:t>
            </a:r>
            <a:endParaRPr lang="en-US" altLang="zh-CN" dirty="0"/>
          </a:p>
          <a:p>
            <a:pPr lvl="1"/>
            <a:r>
              <a:rPr lang="zh-CN" altLang="en-US" dirty="0"/>
              <a:t>在 </a:t>
            </a:r>
            <a:r>
              <a:rPr lang="en-US" altLang="zh-CN" dirty="0"/>
              <a:t>MPLS </a:t>
            </a:r>
            <a:r>
              <a:rPr lang="zh-CN" altLang="en-US" dirty="0"/>
              <a:t>域的入口处，给每一个 </a:t>
            </a:r>
            <a:r>
              <a:rPr lang="en-US" altLang="zh-CN" dirty="0"/>
              <a:t>IP </a:t>
            </a:r>
            <a:r>
              <a:rPr lang="zh-CN" altLang="en-US" dirty="0"/>
              <a:t>数据报打上固定长度标签</a:t>
            </a:r>
            <a:endParaRPr lang="en-US" altLang="zh-CN" dirty="0"/>
          </a:p>
          <a:p>
            <a:pPr lvl="1"/>
            <a:r>
              <a:rPr lang="zh-CN" altLang="en-US" dirty="0"/>
              <a:t>对打上标签的 </a:t>
            </a:r>
            <a:r>
              <a:rPr lang="en-US" altLang="zh-CN" dirty="0"/>
              <a:t>IP </a:t>
            </a:r>
            <a:r>
              <a:rPr lang="zh-CN" altLang="en-US" dirty="0"/>
              <a:t>数据报在第二层（链路层）用硬件进行转发</a:t>
            </a:r>
          </a:p>
          <a:p>
            <a:pPr lvl="1"/>
            <a:r>
              <a:rPr lang="zh-CN" altLang="en-US" dirty="0"/>
              <a:t>采用硬件技术对打上标签的 </a:t>
            </a:r>
            <a:r>
              <a:rPr lang="en-US" altLang="zh-CN" dirty="0"/>
              <a:t>IP </a:t>
            </a:r>
            <a:r>
              <a:rPr lang="zh-CN" altLang="en-US" dirty="0"/>
              <a:t>数据报进行转发就称为标签交换</a:t>
            </a:r>
            <a:endParaRPr lang="en-US" altLang="zh-CN" dirty="0"/>
          </a:p>
          <a:p>
            <a:pPr lvl="1"/>
            <a:r>
              <a:rPr lang="zh-CN" altLang="en-US" dirty="0"/>
              <a:t>可以使用多种数据链路层协议，如 </a:t>
            </a:r>
            <a:r>
              <a:rPr lang="en-US" altLang="zh-CN" dirty="0"/>
              <a:t>PPP</a:t>
            </a:r>
            <a:r>
              <a:rPr lang="zh-CN" altLang="en-US" dirty="0"/>
              <a:t>、以太网、</a:t>
            </a:r>
            <a:r>
              <a:rPr lang="en-US" altLang="zh-CN" dirty="0"/>
              <a:t>ATM </a:t>
            </a:r>
            <a:r>
              <a:rPr lang="zh-CN" altLang="en-US" dirty="0"/>
              <a:t>以及帧中继等</a:t>
            </a:r>
            <a:endParaRPr lang="en-US" altLang="zh-CN" dirty="0"/>
          </a:p>
          <a:p>
            <a:endParaRPr lang="zh-CN" altLang="en-US" dirty="0"/>
          </a:p>
        </p:txBody>
      </p:sp>
    </p:spTree>
    <p:extLst>
      <p:ext uri="{BB962C8B-B14F-4D97-AF65-F5344CB8AC3E}">
        <p14:creationId xmlns:p14="http://schemas.microsoft.com/office/powerpoint/2010/main" val="35539049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ectangle 29"/>
          <p:cNvSpPr>
            <a:spLocks noChangeArrowheads="1"/>
          </p:cNvSpPr>
          <p:nvPr/>
        </p:nvSpPr>
        <p:spPr bwMode="auto">
          <a:xfrm rot="10800000">
            <a:off x="1402898" y="4213122"/>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32" name="Text Box 30"/>
          <p:cNvSpPr txBox="1">
            <a:spLocks noChangeArrowheads="1"/>
          </p:cNvSpPr>
          <p:nvPr/>
        </p:nvSpPr>
        <p:spPr bwMode="auto">
          <a:xfrm>
            <a:off x="1639401" y="4129816"/>
            <a:ext cx="89479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000" dirty="0">
                <a:latin typeface="Montserrat" panose="00000500000000000000" pitchFamily="2" charset="0"/>
                <a:ea typeface="微软雅黑 Light" panose="020B0502040204020203" pitchFamily="34" charset="-122"/>
              </a:rPr>
              <a:t>普通 </a:t>
            </a:r>
            <a:r>
              <a:rPr kumimoji="1" lang="en-US" altLang="zh-CN" sz="1000" dirty="0">
                <a:latin typeface="Montserrat" panose="00000500000000000000" pitchFamily="2" charset="0"/>
                <a:ea typeface="微软雅黑 Light" panose="020B0502040204020203" pitchFamily="34" charset="-122"/>
              </a:rPr>
              <a:t>IP </a:t>
            </a:r>
            <a:r>
              <a:rPr kumimoji="1" lang="zh-CN" altLang="en-US" sz="1000" dirty="0">
                <a:latin typeface="Montserrat" panose="00000500000000000000" pitchFamily="2" charset="0"/>
                <a:ea typeface="微软雅黑 Light" panose="020B0502040204020203" pitchFamily="34" charset="-122"/>
              </a:rPr>
              <a:t>分组</a:t>
            </a:r>
          </a:p>
        </p:txBody>
      </p:sp>
      <p:pic>
        <p:nvPicPr>
          <p:cNvPr id="36" name="Picture 3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88990" y="4146326"/>
            <a:ext cx="375317" cy="19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4" name="组合 113"/>
          <p:cNvGrpSpPr/>
          <p:nvPr/>
        </p:nvGrpSpPr>
        <p:grpSpPr>
          <a:xfrm>
            <a:off x="1873261" y="1832136"/>
            <a:ext cx="800219" cy="276999"/>
            <a:chOff x="1873261" y="1461262"/>
            <a:chExt cx="800219" cy="276999"/>
          </a:xfrm>
        </p:grpSpPr>
        <p:sp>
          <p:nvSpPr>
            <p:cNvPr id="47" name="AutoShape 46"/>
            <p:cNvSpPr>
              <a:spLocks noChangeArrowheads="1"/>
            </p:cNvSpPr>
            <p:nvPr/>
          </p:nvSpPr>
          <p:spPr bwMode="auto">
            <a:xfrm>
              <a:off x="1894500" y="1463447"/>
              <a:ext cx="738793" cy="271036"/>
            </a:xfrm>
            <a:prstGeom prst="wedgeRoundRectCallout">
              <a:avLst>
                <a:gd name="adj1" fmla="val 46276"/>
                <a:gd name="adj2" fmla="val 206215"/>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48" name="Text Box 47"/>
            <p:cNvSpPr txBox="1">
              <a:spLocks noChangeArrowheads="1"/>
            </p:cNvSpPr>
            <p:nvPr/>
          </p:nvSpPr>
          <p:spPr bwMode="auto">
            <a:xfrm>
              <a:off x="1873261" y="146126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打上标签</a:t>
              </a:r>
            </a:p>
          </p:txBody>
        </p:sp>
      </p:grpSp>
      <p:grpSp>
        <p:nvGrpSpPr>
          <p:cNvPr id="115" name="组合 114"/>
          <p:cNvGrpSpPr/>
          <p:nvPr/>
        </p:nvGrpSpPr>
        <p:grpSpPr>
          <a:xfrm>
            <a:off x="6512026" y="1833179"/>
            <a:ext cx="800219" cy="276999"/>
            <a:chOff x="6512026" y="1462305"/>
            <a:chExt cx="800219" cy="276999"/>
          </a:xfrm>
        </p:grpSpPr>
        <p:sp>
          <p:nvSpPr>
            <p:cNvPr id="49" name="AutoShape 48"/>
            <p:cNvSpPr>
              <a:spLocks noChangeArrowheads="1"/>
            </p:cNvSpPr>
            <p:nvPr/>
          </p:nvSpPr>
          <p:spPr bwMode="auto">
            <a:xfrm flipH="1">
              <a:off x="6545106" y="1463447"/>
              <a:ext cx="738793" cy="271036"/>
            </a:xfrm>
            <a:prstGeom prst="wedgeRoundRectCallout">
              <a:avLst>
                <a:gd name="adj1" fmla="val 47602"/>
                <a:gd name="adj2" fmla="val 185481"/>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50" name="Text Box 49"/>
            <p:cNvSpPr txBox="1">
              <a:spLocks noChangeArrowheads="1"/>
            </p:cNvSpPr>
            <p:nvPr/>
          </p:nvSpPr>
          <p:spPr bwMode="auto">
            <a:xfrm>
              <a:off x="6512026" y="146230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去除标签</a:t>
              </a:r>
            </a:p>
          </p:txBody>
        </p:sp>
      </p:grpSp>
      <p:pic>
        <p:nvPicPr>
          <p:cNvPr id="65"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840603" y="4085124"/>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2" name="Text Box 71"/>
          <p:cNvSpPr txBox="1">
            <a:spLocks noChangeArrowheads="1"/>
          </p:cNvSpPr>
          <p:nvPr/>
        </p:nvSpPr>
        <p:spPr bwMode="auto">
          <a:xfrm>
            <a:off x="4806375" y="4122122"/>
            <a:ext cx="82586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00" dirty="0">
                <a:latin typeface="Montserrat" panose="00000500000000000000" pitchFamily="2" charset="0"/>
                <a:ea typeface="微软雅黑 Light" panose="020B0502040204020203" pitchFamily="34" charset="-122"/>
              </a:rPr>
              <a:t>普通路由器</a:t>
            </a:r>
          </a:p>
        </p:txBody>
      </p:sp>
      <p:sp>
        <p:nvSpPr>
          <p:cNvPr id="73" name="Text Box 72"/>
          <p:cNvSpPr txBox="1">
            <a:spLocks noChangeArrowheads="1"/>
          </p:cNvSpPr>
          <p:nvPr/>
        </p:nvSpPr>
        <p:spPr bwMode="auto">
          <a:xfrm>
            <a:off x="6093372" y="4122122"/>
            <a:ext cx="136287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00" dirty="0">
                <a:latin typeface="Montserrat" panose="00000500000000000000" pitchFamily="2" charset="0"/>
                <a:ea typeface="微软雅黑 Light" panose="020B0502040204020203" pitchFamily="34" charset="-122"/>
              </a:rPr>
              <a:t>标签交换路由器 </a:t>
            </a:r>
            <a:r>
              <a:rPr kumimoji="1" lang="en-US" altLang="zh-CN" sz="1000" dirty="0">
                <a:latin typeface="Montserrat" panose="00000500000000000000" pitchFamily="2" charset="0"/>
                <a:ea typeface="微软雅黑 Light" panose="020B0502040204020203" pitchFamily="34" charset="-122"/>
              </a:rPr>
              <a:t>LSR</a:t>
            </a:r>
          </a:p>
        </p:txBody>
      </p:sp>
      <p:sp>
        <p:nvSpPr>
          <p:cNvPr id="74" name="Text Box 73"/>
          <p:cNvSpPr txBox="1">
            <a:spLocks noChangeArrowheads="1"/>
          </p:cNvSpPr>
          <p:nvPr/>
        </p:nvSpPr>
        <p:spPr bwMode="auto">
          <a:xfrm>
            <a:off x="3286148" y="4129816"/>
            <a:ext cx="1082348"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000" dirty="0">
                <a:latin typeface="Montserrat" panose="00000500000000000000" pitchFamily="2" charset="0"/>
                <a:ea typeface="微软雅黑 Light" panose="020B0502040204020203" pitchFamily="34" charset="-122"/>
              </a:rPr>
              <a:t>打上标签的分组</a:t>
            </a:r>
          </a:p>
        </p:txBody>
      </p:sp>
      <p:sp>
        <p:nvSpPr>
          <p:cNvPr id="5" name="Oval 3"/>
          <p:cNvSpPr>
            <a:spLocks noChangeArrowheads="1"/>
          </p:cNvSpPr>
          <p:nvPr/>
        </p:nvSpPr>
        <p:spPr bwMode="auto">
          <a:xfrm>
            <a:off x="2566991" y="1544133"/>
            <a:ext cx="3978115" cy="2178699"/>
          </a:xfrm>
          <a:prstGeom prst="ellipse">
            <a:avLst/>
          </a:prstGeom>
          <a:noFill/>
          <a:ln w="9525">
            <a:solidFill>
              <a:schemeClr val="tx1"/>
            </a:solidFill>
            <a:prstDash val="dash"/>
            <a:round/>
            <a:headEnd/>
            <a:tailEnd/>
          </a:ln>
          <a:effec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6" name="Line 4"/>
          <p:cNvSpPr>
            <a:spLocks noChangeShapeType="1"/>
          </p:cNvSpPr>
          <p:nvPr/>
        </p:nvSpPr>
        <p:spPr bwMode="auto">
          <a:xfrm>
            <a:off x="4247035" y="2307542"/>
            <a:ext cx="332693" cy="11573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7" name="Line 5"/>
          <p:cNvSpPr>
            <a:spLocks noChangeShapeType="1"/>
          </p:cNvSpPr>
          <p:nvPr/>
        </p:nvSpPr>
        <p:spPr bwMode="auto">
          <a:xfrm>
            <a:off x="6517876" y="2644152"/>
            <a:ext cx="1000448" cy="327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8" name="Line 6"/>
          <p:cNvSpPr>
            <a:spLocks noChangeShapeType="1"/>
          </p:cNvSpPr>
          <p:nvPr/>
        </p:nvSpPr>
        <p:spPr bwMode="auto">
          <a:xfrm>
            <a:off x="1558255" y="2723933"/>
            <a:ext cx="1008737" cy="21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9" name="Line 7"/>
          <p:cNvSpPr>
            <a:spLocks noChangeShapeType="1"/>
          </p:cNvSpPr>
          <p:nvPr/>
        </p:nvSpPr>
        <p:spPr bwMode="auto">
          <a:xfrm>
            <a:off x="5478357" y="2623387"/>
            <a:ext cx="1180411" cy="5027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0" name="Line 8"/>
          <p:cNvSpPr>
            <a:spLocks noChangeShapeType="1"/>
          </p:cNvSpPr>
          <p:nvPr/>
        </p:nvSpPr>
        <p:spPr bwMode="auto">
          <a:xfrm>
            <a:off x="4299129" y="2285684"/>
            <a:ext cx="1040703" cy="30600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1" name="Line 9"/>
          <p:cNvSpPr>
            <a:spLocks noChangeShapeType="1"/>
          </p:cNvSpPr>
          <p:nvPr/>
        </p:nvSpPr>
        <p:spPr bwMode="auto">
          <a:xfrm>
            <a:off x="2680652" y="2726118"/>
            <a:ext cx="909283" cy="68196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2" name="Line 10"/>
          <p:cNvSpPr>
            <a:spLocks noChangeShapeType="1"/>
          </p:cNvSpPr>
          <p:nvPr/>
        </p:nvSpPr>
        <p:spPr bwMode="auto">
          <a:xfrm flipH="1">
            <a:off x="2786025" y="2306449"/>
            <a:ext cx="1429043" cy="37486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3" name="Line 11"/>
          <p:cNvSpPr>
            <a:spLocks noChangeShapeType="1"/>
          </p:cNvSpPr>
          <p:nvPr/>
        </p:nvSpPr>
        <p:spPr bwMode="auto">
          <a:xfrm>
            <a:off x="3774633" y="3434310"/>
            <a:ext cx="781416" cy="7868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4" name="Line 12"/>
          <p:cNvSpPr>
            <a:spLocks noChangeShapeType="1"/>
          </p:cNvSpPr>
          <p:nvPr/>
        </p:nvSpPr>
        <p:spPr bwMode="auto">
          <a:xfrm flipH="1">
            <a:off x="4650766" y="2641966"/>
            <a:ext cx="782600" cy="86884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6" name="Line 14"/>
          <p:cNvSpPr>
            <a:spLocks noChangeShapeType="1"/>
          </p:cNvSpPr>
          <p:nvPr/>
        </p:nvSpPr>
        <p:spPr bwMode="auto">
          <a:xfrm flipV="1">
            <a:off x="3760426" y="2621201"/>
            <a:ext cx="1591246" cy="78688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7" name="Rectangle 15"/>
          <p:cNvSpPr>
            <a:spLocks noChangeArrowheads="1"/>
          </p:cNvSpPr>
          <p:nvPr/>
        </p:nvSpPr>
        <p:spPr bwMode="auto">
          <a:xfrm rot="5400000">
            <a:off x="1507306" y="2281116"/>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18" name="Line 16"/>
          <p:cNvSpPr>
            <a:spLocks noChangeShapeType="1"/>
          </p:cNvSpPr>
          <p:nvPr/>
        </p:nvSpPr>
        <p:spPr bwMode="auto">
          <a:xfrm>
            <a:off x="1544048" y="1939238"/>
            <a:ext cx="0" cy="73442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9" name="Rectangle 17"/>
          <p:cNvSpPr>
            <a:spLocks noChangeArrowheads="1"/>
          </p:cNvSpPr>
          <p:nvPr/>
        </p:nvSpPr>
        <p:spPr bwMode="auto">
          <a:xfrm rot="10800000">
            <a:off x="1911963" y="2786357"/>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22" name="Rectangle 20"/>
          <p:cNvSpPr>
            <a:spLocks noChangeArrowheads="1"/>
          </p:cNvSpPr>
          <p:nvPr/>
        </p:nvSpPr>
        <p:spPr bwMode="auto">
          <a:xfrm rot="10800000">
            <a:off x="6927229" y="2694554"/>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23" name="Line 21"/>
          <p:cNvSpPr>
            <a:spLocks noChangeShapeType="1"/>
          </p:cNvSpPr>
          <p:nvPr/>
        </p:nvSpPr>
        <p:spPr bwMode="auto">
          <a:xfrm flipV="1">
            <a:off x="2851143" y="2229947"/>
            <a:ext cx="1214746" cy="327867"/>
          </a:xfrm>
          <a:prstGeom prst="line">
            <a:avLst/>
          </a:prstGeom>
          <a:noFill/>
          <a:ln w="19050">
            <a:solidFill>
              <a:schemeClr val="bg1">
                <a:lumMod val="50000"/>
              </a:schemeClr>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4" name="Line 22"/>
          <p:cNvSpPr>
            <a:spLocks noChangeShapeType="1"/>
          </p:cNvSpPr>
          <p:nvPr/>
        </p:nvSpPr>
        <p:spPr bwMode="auto">
          <a:xfrm>
            <a:off x="5595569" y="2538142"/>
            <a:ext cx="802727" cy="19672"/>
          </a:xfrm>
          <a:prstGeom prst="line">
            <a:avLst/>
          </a:prstGeom>
          <a:noFill/>
          <a:ln w="19050">
            <a:solidFill>
              <a:schemeClr val="bg1">
                <a:lumMod val="50000"/>
              </a:schemeClr>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5" name="Line 23"/>
          <p:cNvSpPr>
            <a:spLocks noChangeShapeType="1"/>
          </p:cNvSpPr>
          <p:nvPr/>
        </p:nvSpPr>
        <p:spPr bwMode="auto">
          <a:xfrm>
            <a:off x="4435284" y="2210275"/>
            <a:ext cx="852453" cy="262293"/>
          </a:xfrm>
          <a:prstGeom prst="line">
            <a:avLst/>
          </a:prstGeom>
          <a:noFill/>
          <a:ln w="19050">
            <a:solidFill>
              <a:schemeClr val="bg1">
                <a:lumMod val="50000"/>
              </a:schemeClr>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6" name="Text Box 24"/>
          <p:cNvSpPr txBox="1">
            <a:spLocks noChangeArrowheads="1"/>
          </p:cNvSpPr>
          <p:nvPr/>
        </p:nvSpPr>
        <p:spPr bwMode="auto">
          <a:xfrm>
            <a:off x="4101407" y="1603915"/>
            <a:ext cx="822661" cy="241092"/>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nSpc>
                <a:spcPct val="80000"/>
              </a:lnSpc>
            </a:pPr>
            <a:r>
              <a:rPr kumimoji="1" lang="en-US" altLang="zh-CN" sz="1200" dirty="0">
                <a:latin typeface="Montserrat" panose="00000500000000000000" pitchFamily="2" charset="0"/>
                <a:ea typeface="微软雅黑 Light" panose="020B0502040204020203" pitchFamily="34" charset="-122"/>
              </a:rPr>
              <a:t>MPLS </a:t>
            </a:r>
            <a:r>
              <a:rPr kumimoji="1" lang="zh-CN" altLang="en-US" sz="1200" dirty="0">
                <a:latin typeface="Montserrat" panose="00000500000000000000" pitchFamily="2" charset="0"/>
                <a:ea typeface="微软雅黑 Light" panose="020B0502040204020203" pitchFamily="34" charset="-122"/>
              </a:rPr>
              <a:t>域</a:t>
            </a:r>
          </a:p>
        </p:txBody>
      </p:sp>
      <p:pic>
        <p:nvPicPr>
          <p:cNvPr id="3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73557" y="2621201"/>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7" name="Line 36"/>
          <p:cNvSpPr>
            <a:spLocks noChangeShapeType="1"/>
          </p:cNvSpPr>
          <p:nvPr/>
        </p:nvSpPr>
        <p:spPr bwMode="auto">
          <a:xfrm>
            <a:off x="1899237" y="2916281"/>
            <a:ext cx="284151"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38" name="Line 37"/>
          <p:cNvSpPr>
            <a:spLocks noChangeShapeType="1"/>
          </p:cNvSpPr>
          <p:nvPr/>
        </p:nvSpPr>
        <p:spPr bwMode="auto">
          <a:xfrm rot="5400000">
            <a:off x="1611807" y="2345793"/>
            <a:ext cx="262293"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39" name="Line 38"/>
          <p:cNvSpPr>
            <a:spLocks noChangeShapeType="1"/>
          </p:cNvSpPr>
          <p:nvPr/>
        </p:nvSpPr>
        <p:spPr bwMode="auto">
          <a:xfrm>
            <a:off x="6942918" y="2831035"/>
            <a:ext cx="284151"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42" name="Text Box 41"/>
          <p:cNvSpPr txBox="1">
            <a:spLocks noChangeArrowheads="1"/>
          </p:cNvSpPr>
          <p:nvPr/>
        </p:nvSpPr>
        <p:spPr bwMode="auto">
          <a:xfrm rot="20668789">
            <a:off x="3127814" y="2187716"/>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dirty="0">
                <a:solidFill>
                  <a:srgbClr val="E46C0A"/>
                </a:solidFill>
                <a:latin typeface="Montserrat" panose="00000500000000000000" pitchFamily="2" charset="0"/>
                <a:ea typeface="微软雅黑 Light" panose="020B0502040204020203" pitchFamily="34" charset="-122"/>
              </a:rPr>
              <a:t>LDP</a:t>
            </a:r>
          </a:p>
        </p:txBody>
      </p:sp>
      <p:sp>
        <p:nvSpPr>
          <p:cNvPr id="43" name="Text Box 42"/>
          <p:cNvSpPr txBox="1">
            <a:spLocks noChangeArrowheads="1"/>
          </p:cNvSpPr>
          <p:nvPr/>
        </p:nvSpPr>
        <p:spPr bwMode="auto">
          <a:xfrm rot="1038311">
            <a:off x="4608952" y="2137443"/>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a:solidFill>
                  <a:srgbClr val="E46C0A"/>
                </a:solidFill>
                <a:latin typeface="Montserrat" panose="00000500000000000000" pitchFamily="2" charset="0"/>
                <a:ea typeface="微软雅黑 Light" panose="020B0502040204020203" pitchFamily="34" charset="-122"/>
              </a:rPr>
              <a:t>LDP</a:t>
            </a:r>
          </a:p>
        </p:txBody>
      </p:sp>
      <p:sp>
        <p:nvSpPr>
          <p:cNvPr id="44" name="Text Box 43"/>
          <p:cNvSpPr txBox="1">
            <a:spLocks noChangeArrowheads="1"/>
          </p:cNvSpPr>
          <p:nvPr/>
        </p:nvSpPr>
        <p:spPr bwMode="auto">
          <a:xfrm rot="107100">
            <a:off x="5758580" y="2336349"/>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a:solidFill>
                  <a:srgbClr val="E46C0A"/>
                </a:solidFill>
                <a:latin typeface="Montserrat" panose="00000500000000000000" pitchFamily="2" charset="0"/>
                <a:ea typeface="微软雅黑 Light" panose="020B0502040204020203" pitchFamily="34" charset="-122"/>
              </a:rPr>
              <a:t>LDP</a:t>
            </a:r>
          </a:p>
        </p:txBody>
      </p:sp>
      <p:sp>
        <p:nvSpPr>
          <p:cNvPr id="46" name="Text Box 45"/>
          <p:cNvSpPr txBox="1">
            <a:spLocks noChangeArrowheads="1"/>
          </p:cNvSpPr>
          <p:nvPr/>
        </p:nvSpPr>
        <p:spPr bwMode="auto">
          <a:xfrm>
            <a:off x="1988105" y="3201525"/>
            <a:ext cx="800219"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dirty="0">
                <a:latin typeface="Montserrat" panose="00000500000000000000" pitchFamily="2" charset="0"/>
                <a:ea typeface="微软雅黑 Light" panose="020B0502040204020203" pitchFamily="34" charset="-122"/>
              </a:rPr>
              <a:t>MPLS</a:t>
            </a:r>
          </a:p>
          <a:p>
            <a:pPr algn="ctr">
              <a:lnSpc>
                <a:spcPct val="90000"/>
              </a:lnSpc>
            </a:pPr>
            <a:r>
              <a:rPr kumimoji="1" lang="zh-CN" altLang="en-US" sz="1200" dirty="0">
                <a:latin typeface="Montserrat" panose="00000500000000000000" pitchFamily="2" charset="0"/>
                <a:ea typeface="微软雅黑 Light" panose="020B0502040204020203" pitchFamily="34" charset="-122"/>
              </a:rPr>
              <a:t>入口节点</a:t>
            </a:r>
          </a:p>
        </p:txBody>
      </p:sp>
      <p:sp>
        <p:nvSpPr>
          <p:cNvPr id="51" name="Text Box 50"/>
          <p:cNvSpPr txBox="1">
            <a:spLocks noChangeArrowheads="1"/>
          </p:cNvSpPr>
          <p:nvPr/>
        </p:nvSpPr>
        <p:spPr bwMode="auto">
          <a:xfrm>
            <a:off x="6398366" y="3182946"/>
            <a:ext cx="800219"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dirty="0">
                <a:latin typeface="Montserrat" panose="00000500000000000000" pitchFamily="2" charset="0"/>
                <a:ea typeface="微软雅黑 Light" panose="020B0502040204020203" pitchFamily="34" charset="-122"/>
              </a:rPr>
              <a:t>MPLS</a:t>
            </a:r>
          </a:p>
          <a:p>
            <a:pPr algn="ctr">
              <a:lnSpc>
                <a:spcPct val="90000"/>
              </a:lnSpc>
            </a:pPr>
            <a:r>
              <a:rPr kumimoji="1" lang="zh-CN" altLang="en-US" sz="1200" dirty="0">
                <a:latin typeface="Montserrat" panose="00000500000000000000" pitchFamily="2" charset="0"/>
                <a:ea typeface="微软雅黑 Light" panose="020B0502040204020203" pitchFamily="34" charset="-122"/>
              </a:rPr>
              <a:t>出口节点</a:t>
            </a:r>
          </a:p>
        </p:txBody>
      </p:sp>
      <p:sp>
        <p:nvSpPr>
          <p:cNvPr id="52" name="Line 51"/>
          <p:cNvSpPr>
            <a:spLocks noChangeShapeType="1"/>
          </p:cNvSpPr>
          <p:nvPr/>
        </p:nvSpPr>
        <p:spPr bwMode="auto">
          <a:xfrm flipV="1">
            <a:off x="2408341" y="2741418"/>
            <a:ext cx="162610" cy="460108"/>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3" name="Line 52"/>
          <p:cNvSpPr>
            <a:spLocks noChangeShapeType="1"/>
          </p:cNvSpPr>
          <p:nvPr/>
        </p:nvSpPr>
        <p:spPr bwMode="auto">
          <a:xfrm flipH="1" flipV="1">
            <a:off x="6577073" y="2700810"/>
            <a:ext cx="195354" cy="497436"/>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7" name="Line 56"/>
          <p:cNvSpPr>
            <a:spLocks noChangeShapeType="1"/>
          </p:cNvSpPr>
          <p:nvPr/>
        </p:nvSpPr>
        <p:spPr bwMode="auto">
          <a:xfrm>
            <a:off x="7568050" y="1991697"/>
            <a:ext cx="0" cy="6295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59" name="Rectangle 58"/>
          <p:cNvSpPr>
            <a:spLocks noChangeArrowheads="1"/>
          </p:cNvSpPr>
          <p:nvPr/>
        </p:nvSpPr>
        <p:spPr bwMode="auto">
          <a:xfrm rot="5400000">
            <a:off x="7558540" y="2309532"/>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60" name="Line 59"/>
          <p:cNvSpPr>
            <a:spLocks noChangeShapeType="1"/>
          </p:cNvSpPr>
          <p:nvPr/>
        </p:nvSpPr>
        <p:spPr bwMode="auto">
          <a:xfrm rot="16200000" flipV="1">
            <a:off x="7692639" y="2341421"/>
            <a:ext cx="262293"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61" name="Text Box 60"/>
          <p:cNvSpPr txBox="1">
            <a:spLocks noChangeArrowheads="1"/>
          </p:cNvSpPr>
          <p:nvPr/>
        </p:nvSpPr>
        <p:spPr bwMode="auto">
          <a:xfrm>
            <a:off x="2600301" y="2296467"/>
            <a:ext cx="312907"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A</a:t>
            </a:r>
          </a:p>
        </p:txBody>
      </p:sp>
      <p:sp>
        <p:nvSpPr>
          <p:cNvPr id="62" name="Text Box 61"/>
          <p:cNvSpPr txBox="1">
            <a:spLocks noChangeArrowheads="1"/>
          </p:cNvSpPr>
          <p:nvPr/>
        </p:nvSpPr>
        <p:spPr bwMode="auto">
          <a:xfrm>
            <a:off x="4057777" y="1876700"/>
            <a:ext cx="31931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B</a:t>
            </a:r>
          </a:p>
        </p:txBody>
      </p:sp>
      <p:sp>
        <p:nvSpPr>
          <p:cNvPr id="63" name="Text Box 62"/>
          <p:cNvSpPr txBox="1">
            <a:spLocks noChangeArrowheads="1"/>
          </p:cNvSpPr>
          <p:nvPr/>
        </p:nvSpPr>
        <p:spPr bwMode="auto">
          <a:xfrm>
            <a:off x="5236711" y="2182660"/>
            <a:ext cx="314510"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C</a:t>
            </a:r>
          </a:p>
        </p:txBody>
      </p:sp>
      <p:sp>
        <p:nvSpPr>
          <p:cNvPr id="64" name="Text Box 63"/>
          <p:cNvSpPr txBox="1">
            <a:spLocks noChangeArrowheads="1"/>
          </p:cNvSpPr>
          <p:nvPr/>
        </p:nvSpPr>
        <p:spPr bwMode="auto">
          <a:xfrm>
            <a:off x="6211141" y="2270091"/>
            <a:ext cx="333746"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D</a:t>
            </a:r>
          </a:p>
        </p:txBody>
      </p:sp>
      <p:pic>
        <p:nvPicPr>
          <p:cNvPr id="66" name="Picture 65"/>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12502" y="2463825"/>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285369" y="2411366"/>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8" name="Picture 67"/>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01407" y="2096614"/>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9" name="Picture 6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510161" y="2516283"/>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0" name="Picture 6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442388" y="3355622"/>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1" name="Picture 7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33105" y="3198246"/>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5"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02295" y="2557813"/>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7"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347389" y="1591106"/>
            <a:ext cx="437551" cy="437551"/>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352264" y="1591106"/>
            <a:ext cx="437551" cy="437551"/>
          </a:xfrm>
          <a:prstGeom prst="rect">
            <a:avLst/>
          </a:prstGeom>
          <a:noFill/>
          <a:extLst>
            <a:ext uri="{909E8E84-426E-40DD-AFC4-6F175D3DCCD1}">
              <a14:hiddenFill xmlns:a14="http://schemas.microsoft.com/office/drawing/2010/main">
                <a:solidFill>
                  <a:srgbClr val="FFFFFF"/>
                </a:solidFill>
              </a14:hiddenFill>
            </a:ext>
          </a:extLst>
        </p:spPr>
      </p:pic>
      <p:sp>
        <p:nvSpPr>
          <p:cNvPr id="80" name="Line 268"/>
          <p:cNvSpPr>
            <a:spLocks noChangeShapeType="1"/>
          </p:cNvSpPr>
          <p:nvPr/>
        </p:nvSpPr>
        <p:spPr bwMode="auto">
          <a:xfrm rot="16072623">
            <a:off x="3547463" y="2473543"/>
            <a:ext cx="136525" cy="515938"/>
          </a:xfrm>
          <a:prstGeom prst="line">
            <a:avLst/>
          </a:prstGeom>
          <a:noFill/>
          <a:ln w="28575">
            <a:solidFill>
              <a:srgbClr val="E46C0A"/>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58" name="组合 57"/>
          <p:cNvGrpSpPr/>
          <p:nvPr/>
        </p:nvGrpSpPr>
        <p:grpSpPr>
          <a:xfrm rot="20642495">
            <a:off x="3312385" y="2544311"/>
            <a:ext cx="519027" cy="151876"/>
            <a:chOff x="3032908" y="4474111"/>
            <a:chExt cx="519027" cy="173177"/>
          </a:xfrm>
        </p:grpSpPr>
        <p:sp>
          <p:nvSpPr>
            <p:cNvPr id="45" name="矩形 44"/>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3</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97"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89" name="Line 416"/>
          <p:cNvSpPr>
            <a:spLocks noChangeShapeType="1"/>
          </p:cNvSpPr>
          <p:nvPr/>
        </p:nvSpPr>
        <p:spPr bwMode="auto">
          <a:xfrm rot="18151154">
            <a:off x="4668597" y="2411119"/>
            <a:ext cx="136525" cy="515938"/>
          </a:xfrm>
          <a:prstGeom prst="line">
            <a:avLst/>
          </a:prstGeom>
          <a:noFill/>
          <a:ln w="28575">
            <a:solidFill>
              <a:srgbClr val="E46C0A"/>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98" name="组合 97"/>
          <p:cNvGrpSpPr/>
          <p:nvPr/>
        </p:nvGrpSpPr>
        <p:grpSpPr>
          <a:xfrm rot="997048">
            <a:off x="4524278" y="2482891"/>
            <a:ext cx="519027" cy="151876"/>
            <a:chOff x="3032908" y="4474111"/>
            <a:chExt cx="519027" cy="173177"/>
          </a:xfrm>
        </p:grpSpPr>
        <p:sp>
          <p:nvSpPr>
            <p:cNvPr id="99" name="矩形 98"/>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1</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0"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93" name="Line 420"/>
          <p:cNvSpPr>
            <a:spLocks noChangeShapeType="1"/>
          </p:cNvSpPr>
          <p:nvPr/>
        </p:nvSpPr>
        <p:spPr bwMode="auto">
          <a:xfrm rot="17283846">
            <a:off x="5922027" y="2652461"/>
            <a:ext cx="136525" cy="515937"/>
          </a:xfrm>
          <a:prstGeom prst="line">
            <a:avLst/>
          </a:prstGeom>
          <a:noFill/>
          <a:ln w="28575">
            <a:solidFill>
              <a:srgbClr val="E46C0A"/>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103" name="组合 102"/>
          <p:cNvGrpSpPr/>
          <p:nvPr/>
        </p:nvGrpSpPr>
        <p:grpSpPr>
          <a:xfrm rot="198137">
            <a:off x="5737418" y="2710776"/>
            <a:ext cx="519027" cy="151876"/>
            <a:chOff x="3032908" y="4474111"/>
            <a:chExt cx="519027" cy="173177"/>
          </a:xfrm>
        </p:grpSpPr>
        <p:sp>
          <p:nvSpPr>
            <p:cNvPr id="104" name="矩形 103"/>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5"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grpSp>
        <p:nvGrpSpPr>
          <p:cNvPr id="106" name="组合 105"/>
          <p:cNvGrpSpPr/>
          <p:nvPr/>
        </p:nvGrpSpPr>
        <p:grpSpPr>
          <a:xfrm>
            <a:off x="2806345" y="4183765"/>
            <a:ext cx="519027" cy="122934"/>
            <a:chOff x="3032908" y="4474111"/>
            <a:chExt cx="519027" cy="173177"/>
          </a:xfrm>
        </p:grpSpPr>
        <p:sp>
          <p:nvSpPr>
            <p:cNvPr id="107" name="矩形 106"/>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800" dirty="0">
                  <a:solidFill>
                    <a:schemeClr val="tx1"/>
                  </a:solidFill>
                  <a:latin typeface="Montserrat" panose="00000500000000000000" pitchFamily="2" charset="0"/>
                  <a:ea typeface="微软雅黑 Light" panose="020B0502040204020203" pitchFamily="34" charset="-122"/>
                </a:rPr>
                <a:t>X</a:t>
              </a:r>
              <a:endParaRPr lang="zh-CN" altLang="en-US" sz="800" dirty="0">
                <a:solidFill>
                  <a:schemeClr val="tx1"/>
                </a:solidFill>
                <a:latin typeface="Montserrat" panose="00000500000000000000" pitchFamily="2" charset="0"/>
                <a:ea typeface="微软雅黑 Light" panose="020B0502040204020203" pitchFamily="34" charset="-122"/>
              </a:endParaRPr>
            </a:p>
          </p:txBody>
        </p:sp>
        <p:sp>
          <p:nvSpPr>
            <p:cNvPr id="108"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15" name="标题 14">
            <a:extLst>
              <a:ext uri="{FF2B5EF4-FFF2-40B4-BE49-F238E27FC236}">
                <a16:creationId xmlns:a16="http://schemas.microsoft.com/office/drawing/2014/main" id="{B1A88438-288A-0102-579E-1AA098428A39}"/>
              </a:ext>
            </a:extLst>
          </p:cNvPr>
          <p:cNvSpPr>
            <a:spLocks noGrp="1"/>
          </p:cNvSpPr>
          <p:nvPr>
            <p:ph type="title"/>
          </p:nvPr>
        </p:nvSpPr>
        <p:spPr>
          <a:xfrm>
            <a:off x="486000" y="550723"/>
            <a:ext cx="8172000" cy="338554"/>
          </a:xfrm>
        </p:spPr>
        <p:txBody>
          <a:bodyPr/>
          <a:lstStyle/>
          <a:p>
            <a:r>
              <a:rPr lang="en-US" altLang="zh-CN" dirty="0"/>
              <a:t>MPLS </a:t>
            </a:r>
            <a:r>
              <a:rPr lang="zh-CN" altLang="en-US" dirty="0"/>
              <a:t>协议的基本原理</a:t>
            </a:r>
          </a:p>
        </p:txBody>
      </p:sp>
    </p:spTree>
    <p:extLst>
      <p:ext uri="{BB962C8B-B14F-4D97-AF65-F5344CB8AC3E}">
        <p14:creationId xmlns:p14="http://schemas.microsoft.com/office/powerpoint/2010/main" val="17649827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repeatCount="3000" fill="hold" nodeType="clickEffect">
                                  <p:stCondLst>
                                    <p:cond delay="0"/>
                                  </p:stCondLst>
                                  <p:childTnLst>
                                    <p:set>
                                      <p:cBhvr>
                                        <p:cTn id="6" dur="1" fill="hold">
                                          <p:stCondLst>
                                            <p:cond delay="0"/>
                                          </p:stCondLst>
                                        </p:cTn>
                                        <p:tgtEl>
                                          <p:spTgt spid="114"/>
                                        </p:tgtEl>
                                        <p:attrNameLst>
                                          <p:attrName>style.visibility</p:attrName>
                                        </p:attrNameLst>
                                      </p:cBhvr>
                                      <p:to>
                                        <p:strVal val="visible"/>
                                      </p:to>
                                    </p:set>
                                    <p:animEffect transition="in" filter="fade">
                                      <p:cBhvr>
                                        <p:cTn id="7" dur="500"/>
                                        <p:tgtEl>
                                          <p:spTgt spid="1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repeatCount="3000" fill="hold" nodeType="clickEffect">
                                  <p:stCondLst>
                                    <p:cond delay="0"/>
                                  </p:stCondLst>
                                  <p:childTnLst>
                                    <p:set>
                                      <p:cBhvr>
                                        <p:cTn id="11" dur="1" fill="hold">
                                          <p:stCondLst>
                                            <p:cond delay="0"/>
                                          </p:stCondLst>
                                        </p:cTn>
                                        <p:tgtEl>
                                          <p:spTgt spid="115"/>
                                        </p:tgtEl>
                                        <p:attrNameLst>
                                          <p:attrName>style.visibility</p:attrName>
                                        </p:attrNameLst>
                                      </p:cBhvr>
                                      <p:to>
                                        <p:strVal val="visible"/>
                                      </p:to>
                                    </p:set>
                                    <p:animEffect transition="in" filter="fade">
                                      <p:cBhvr>
                                        <p:cTn id="12" dur="500"/>
                                        <p:tgtEl>
                                          <p:spTgt spid="1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A85B1BB-B61D-A7FB-8A00-53230919C982}"/>
              </a:ext>
            </a:extLst>
          </p:cNvPr>
          <p:cNvSpPr>
            <a:spLocks noGrp="1"/>
          </p:cNvSpPr>
          <p:nvPr>
            <p:ph type="title"/>
          </p:nvPr>
        </p:nvSpPr>
        <p:spPr>
          <a:xfrm>
            <a:off x="486000" y="550723"/>
            <a:ext cx="8172000" cy="338554"/>
          </a:xfrm>
        </p:spPr>
        <p:txBody>
          <a:bodyPr/>
          <a:lstStyle/>
          <a:p>
            <a:r>
              <a:rPr lang="en-US" altLang="zh-CN" dirty="0"/>
              <a:t>MPLS </a:t>
            </a:r>
            <a:r>
              <a:rPr lang="zh-CN" altLang="en-US" dirty="0"/>
              <a:t>域</a:t>
            </a:r>
          </a:p>
        </p:txBody>
      </p:sp>
      <p:sp>
        <p:nvSpPr>
          <p:cNvPr id="7" name="内容占位符 6">
            <a:extLst>
              <a:ext uri="{FF2B5EF4-FFF2-40B4-BE49-F238E27FC236}">
                <a16:creationId xmlns:a16="http://schemas.microsoft.com/office/drawing/2014/main" id="{A26DDD10-4B70-FA44-AAD5-166805A77D7F}"/>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域 </a:t>
            </a:r>
            <a:r>
              <a:rPr lang="en-US" altLang="zh-CN" dirty="0"/>
              <a:t>(MPLS domain) </a:t>
            </a:r>
            <a:r>
              <a:rPr lang="zh-CN" altLang="en-US" dirty="0"/>
              <a:t>：指该域中有许多彼此相邻的路由器，并且所有的路由器都是支持 </a:t>
            </a:r>
            <a:r>
              <a:rPr lang="en-US" altLang="zh-CN" dirty="0"/>
              <a:t>MPLS </a:t>
            </a:r>
            <a:r>
              <a:rPr lang="zh-CN" altLang="en-US" dirty="0"/>
              <a:t>技术的标记交换路由器 </a:t>
            </a:r>
            <a:r>
              <a:rPr lang="en-US" altLang="zh-CN" dirty="0"/>
              <a:t>LSR (Label Switching Router)</a:t>
            </a:r>
            <a:endParaRPr lang="zh-CN" altLang="en-US" dirty="0"/>
          </a:p>
          <a:p>
            <a:r>
              <a:rPr lang="en-US" altLang="zh-CN" dirty="0"/>
              <a:t>LSR </a:t>
            </a:r>
            <a:r>
              <a:rPr lang="zh-CN" altLang="en-US" dirty="0"/>
              <a:t>同时具有标记交换和路由选择这两种功能。标记交换功能是为了快速转发，路由选择功能是为了构造转发表</a:t>
            </a:r>
          </a:p>
          <a:p>
            <a:endParaRPr lang="zh-CN" altLang="en-US" dirty="0"/>
          </a:p>
        </p:txBody>
      </p:sp>
    </p:spTree>
    <p:extLst>
      <p:ext uri="{BB962C8B-B14F-4D97-AF65-F5344CB8AC3E}">
        <p14:creationId xmlns:p14="http://schemas.microsoft.com/office/powerpoint/2010/main" val="6694121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EE90122-D9C4-8233-37E6-427A49411B73}"/>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
        <p:nvSpPr>
          <p:cNvPr id="6" name="内容占位符 5">
            <a:extLst>
              <a:ext uri="{FF2B5EF4-FFF2-40B4-BE49-F238E27FC236}">
                <a16:creationId xmlns:a16="http://schemas.microsoft.com/office/drawing/2014/main" id="{58BE06B6-00E2-4938-3D2F-34A57440B459}"/>
              </a:ext>
            </a:extLst>
          </p:cNvPr>
          <p:cNvSpPr>
            <a:spLocks noGrp="1"/>
          </p:cNvSpPr>
          <p:nvPr>
            <p:ph sz="quarter" idx="11"/>
          </p:nvPr>
        </p:nvSpPr>
        <p:spPr>
          <a:xfrm>
            <a:off x="486000" y="900000"/>
            <a:ext cx="8172000" cy="3703500"/>
          </a:xfrm>
        </p:spPr>
        <p:txBody>
          <a:bodyPr/>
          <a:lstStyle/>
          <a:p>
            <a:r>
              <a:rPr lang="en-US" altLang="zh-CN" dirty="0"/>
              <a:t>1. </a:t>
            </a:r>
            <a:r>
              <a:rPr lang="zh-CN" altLang="en-US" dirty="0"/>
              <a:t>找出标签交换路径 </a:t>
            </a:r>
            <a:r>
              <a:rPr lang="en-US" altLang="zh-CN" dirty="0"/>
              <a:t>LSP</a:t>
            </a:r>
          </a:p>
          <a:p>
            <a:pPr lvl="1"/>
            <a:r>
              <a:rPr lang="zh-CN" altLang="en-US" dirty="0"/>
              <a:t>各 </a:t>
            </a:r>
            <a:r>
              <a:rPr lang="en-US" altLang="zh-CN" dirty="0"/>
              <a:t>LSR </a:t>
            </a:r>
            <a:r>
              <a:rPr lang="zh-CN" altLang="en-US" dirty="0"/>
              <a:t>使用标签分配协议 </a:t>
            </a:r>
            <a:r>
              <a:rPr lang="en-US" altLang="zh-CN" dirty="0"/>
              <a:t>LDP (Label Distribution Protocol) </a:t>
            </a:r>
            <a:r>
              <a:rPr lang="zh-CN" altLang="en-US" dirty="0"/>
              <a:t>交换报文，找出和标签相对应的标签交换路径 </a:t>
            </a:r>
            <a:r>
              <a:rPr lang="en-US" altLang="zh-CN" dirty="0"/>
              <a:t>LSP (Label Switched Path)</a:t>
            </a:r>
            <a:r>
              <a:rPr lang="zh-CN" altLang="en-US" dirty="0"/>
              <a:t>。整个标签交换路径就像一条虚连接一样</a:t>
            </a:r>
            <a:endParaRPr lang="en-US" altLang="zh-CN" dirty="0"/>
          </a:p>
          <a:p>
            <a:r>
              <a:rPr lang="en-US" altLang="zh-CN" dirty="0"/>
              <a:t>2. </a:t>
            </a:r>
            <a:r>
              <a:rPr lang="zh-CN" altLang="en-US" dirty="0"/>
              <a:t>打标签，然后转发</a:t>
            </a:r>
            <a:endParaRPr lang="en-US" altLang="zh-CN" dirty="0"/>
          </a:p>
          <a:p>
            <a:pPr lvl="1"/>
            <a:r>
              <a:rPr lang="zh-CN" altLang="en-US" dirty="0"/>
              <a:t>入口节点 </a:t>
            </a:r>
            <a:r>
              <a:rPr lang="en-US" altLang="zh-CN" dirty="0"/>
              <a:t>(ingress node) </a:t>
            </a:r>
            <a:r>
              <a:rPr lang="zh-CN" altLang="en-US" dirty="0"/>
              <a:t>给进入 </a:t>
            </a:r>
            <a:r>
              <a:rPr lang="en-US" altLang="zh-CN" dirty="0"/>
              <a:t>MPLS </a:t>
            </a:r>
            <a:r>
              <a:rPr lang="zh-CN" altLang="en-US" dirty="0"/>
              <a:t>域的 </a:t>
            </a:r>
            <a:r>
              <a:rPr lang="en-US" altLang="zh-CN" dirty="0"/>
              <a:t>IP </a:t>
            </a:r>
            <a:r>
              <a:rPr lang="zh-CN" altLang="en-US" dirty="0"/>
              <a:t>数据报打上标签（实际上是插入一个 </a:t>
            </a:r>
            <a:r>
              <a:rPr lang="en-US" altLang="zh-CN" dirty="0"/>
              <a:t>MPLS </a:t>
            </a:r>
            <a:r>
              <a:rPr lang="zh-CN" altLang="en-US" dirty="0"/>
              <a:t>首部），并按照转发表把它转发给下一个 </a:t>
            </a:r>
            <a:r>
              <a:rPr lang="en-US" altLang="zh-CN" dirty="0"/>
              <a:t>LSR</a:t>
            </a:r>
            <a:r>
              <a:rPr lang="zh-CN" altLang="en-US" dirty="0"/>
              <a:t>。以后的所有 </a:t>
            </a:r>
            <a:r>
              <a:rPr lang="en-US" altLang="zh-CN" dirty="0"/>
              <a:t>LSR </a:t>
            </a:r>
            <a:r>
              <a:rPr lang="zh-CN" altLang="en-US" dirty="0"/>
              <a:t>都按照标签进行转发</a:t>
            </a:r>
            <a:endParaRPr lang="en-US" altLang="zh-CN" dirty="0"/>
          </a:p>
          <a:p>
            <a:pPr lvl="1"/>
            <a:r>
              <a:rPr lang="zh-CN" altLang="en-US" dirty="0"/>
              <a:t>给 </a:t>
            </a:r>
            <a:r>
              <a:rPr lang="en-US" altLang="zh-CN" dirty="0"/>
              <a:t>IP </a:t>
            </a:r>
            <a:r>
              <a:rPr lang="zh-CN" altLang="en-US" dirty="0"/>
              <a:t>数据报打标签的过程叫做分类 </a:t>
            </a:r>
            <a:r>
              <a:rPr lang="en-US" altLang="zh-CN" dirty="0"/>
              <a:t>(classification)</a:t>
            </a:r>
            <a:endParaRPr lang="zh-CN" altLang="en-US" dirty="0"/>
          </a:p>
          <a:p>
            <a:endParaRPr lang="zh-CN" altLang="en-US" dirty="0"/>
          </a:p>
        </p:txBody>
      </p:sp>
    </p:spTree>
    <p:extLst>
      <p:ext uri="{BB962C8B-B14F-4D97-AF65-F5344CB8AC3E}">
        <p14:creationId xmlns:p14="http://schemas.microsoft.com/office/powerpoint/2010/main" val="29102303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5972"/>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aphicFrame>
        <p:nvGraphicFramePr>
          <p:cNvPr id="5" name="表格 4"/>
          <p:cNvGraphicFramePr>
            <a:graphicFrameLocks noGrp="1"/>
          </p:cNvGraphicFramePr>
          <p:nvPr>
            <p:extLst>
              <p:ext uri="{D42A27DB-BD31-4B8C-83A1-F6EECF244321}">
                <p14:modId xmlns:p14="http://schemas.microsoft.com/office/powerpoint/2010/main" val="3470371903"/>
              </p:ext>
            </p:extLst>
          </p:nvPr>
        </p:nvGraphicFramePr>
        <p:xfrm>
          <a:off x="1872000" y="3011204"/>
          <a:ext cx="5400000" cy="583588"/>
        </p:xfrm>
        <a:graphic>
          <a:graphicData uri="http://schemas.openxmlformats.org/drawingml/2006/table">
            <a:tbl>
              <a:tblPr firstRow="1" firstCol="1" lastRow="1" lastCol="1" bandRow="1" bandCol="1">
                <a:tableStyleId>{5A111915-BE36-4E01-A7E5-04B1672EAD32}</a:tableStyleId>
              </a:tblPr>
              <a:tblGrid>
                <a:gridCol w="1350000">
                  <a:extLst>
                    <a:ext uri="{9D8B030D-6E8A-4147-A177-3AD203B41FA5}">
                      <a16:colId xmlns:a16="http://schemas.microsoft.com/office/drawing/2014/main" val="20000"/>
                    </a:ext>
                  </a:extLst>
                </a:gridCol>
                <a:gridCol w="1350000">
                  <a:extLst>
                    <a:ext uri="{9D8B030D-6E8A-4147-A177-3AD203B41FA5}">
                      <a16:colId xmlns:a16="http://schemas.microsoft.com/office/drawing/2014/main" val="20001"/>
                    </a:ext>
                  </a:extLst>
                </a:gridCol>
                <a:gridCol w="1350000">
                  <a:extLst>
                    <a:ext uri="{9D8B030D-6E8A-4147-A177-3AD203B41FA5}">
                      <a16:colId xmlns:a16="http://schemas.microsoft.com/office/drawing/2014/main" val="20002"/>
                    </a:ext>
                  </a:extLst>
                </a:gridCol>
                <a:gridCol w="1350000">
                  <a:extLst>
                    <a:ext uri="{9D8B030D-6E8A-4147-A177-3AD203B41FA5}">
                      <a16:colId xmlns:a16="http://schemas.microsoft.com/office/drawing/2014/main" val="20003"/>
                    </a:ext>
                  </a:extLst>
                </a:gridCol>
              </a:tblGrid>
              <a:tr h="291794">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入接口</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入标签</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出接口</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出标签</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91794">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0</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a:latin typeface="Montserrat" panose="00000500000000000000" pitchFamily="2" charset="0"/>
                          <a:ea typeface="微软雅黑 Light" panose="020B0502040204020203" pitchFamily="34" charset="-122"/>
                        </a:rPr>
                        <a:t>3</a:t>
                      </a:r>
                      <a:endParaRPr lang="zh-CN" altLang="en-US" sz="1400" b="0" baseline="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1</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1</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bl>
          </a:graphicData>
        </a:graphic>
      </p:graphicFrame>
      <p:sp>
        <p:nvSpPr>
          <p:cNvPr id="8" name="矩形 7"/>
          <p:cNvSpPr/>
          <p:nvPr/>
        </p:nvSpPr>
        <p:spPr>
          <a:xfrm>
            <a:off x="1407814" y="3739173"/>
            <a:ext cx="6328373" cy="679801"/>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pitchFamily="34" charset="-122"/>
              </a:rPr>
              <a:t>从入接口 </a:t>
            </a:r>
            <a:r>
              <a:rPr lang="en-US" altLang="zh-CN" sz="1400" dirty="0">
                <a:latin typeface="Montserrat" panose="00000500000000000000" pitchFamily="2" charset="0"/>
                <a:ea typeface="微软雅黑" pitchFamily="34" charset="-122"/>
              </a:rPr>
              <a:t>0 </a:t>
            </a:r>
            <a:r>
              <a:rPr lang="zh-CN" altLang="en-US" sz="1400" dirty="0">
                <a:latin typeface="Montserrat" panose="00000500000000000000" pitchFamily="2" charset="0"/>
                <a:ea typeface="微软雅黑" pitchFamily="34" charset="-122"/>
              </a:rPr>
              <a:t>收到一个入标签为 </a:t>
            </a:r>
            <a:r>
              <a:rPr lang="en-US" altLang="zh-CN" sz="1400" dirty="0">
                <a:latin typeface="Montserrat" panose="00000500000000000000" pitchFamily="2" charset="0"/>
                <a:ea typeface="微软雅黑" pitchFamily="34" charset="-122"/>
              </a:rPr>
              <a:t>3 </a:t>
            </a:r>
            <a:r>
              <a:rPr lang="zh-CN" altLang="en-US" sz="1400" dirty="0">
                <a:latin typeface="Montserrat" panose="00000500000000000000" pitchFamily="2" charset="0"/>
                <a:ea typeface="微软雅黑" pitchFamily="34" charset="-122"/>
              </a:rPr>
              <a:t>的 </a:t>
            </a:r>
            <a:r>
              <a:rPr lang="en-US" altLang="zh-CN" sz="1400" dirty="0">
                <a:latin typeface="Montserrat" panose="00000500000000000000" pitchFamily="2" charset="0"/>
                <a:ea typeface="微软雅黑" pitchFamily="34" charset="-122"/>
              </a:rPr>
              <a:t>IP </a:t>
            </a:r>
            <a:r>
              <a:rPr lang="zh-CN" altLang="en-US" sz="1400" dirty="0">
                <a:latin typeface="Montserrat" panose="00000500000000000000" pitchFamily="2" charset="0"/>
                <a:ea typeface="微软雅黑" pitchFamily="34" charset="-122"/>
              </a:rPr>
              <a:t>数据报，转发时，应当把该 </a:t>
            </a:r>
            <a:r>
              <a:rPr lang="en-US" altLang="zh-CN" sz="1400" dirty="0">
                <a:latin typeface="Montserrat" panose="00000500000000000000" pitchFamily="2" charset="0"/>
                <a:ea typeface="微软雅黑" pitchFamily="34" charset="-122"/>
              </a:rPr>
              <a:t>IP </a:t>
            </a:r>
            <a:r>
              <a:rPr lang="zh-CN" altLang="en-US" sz="1400" dirty="0">
                <a:latin typeface="Montserrat" panose="00000500000000000000" pitchFamily="2" charset="0"/>
                <a:ea typeface="微软雅黑" pitchFamily="34" charset="-122"/>
              </a:rPr>
              <a:t>数据报从出接口 </a:t>
            </a:r>
            <a:r>
              <a:rPr lang="en-US" altLang="zh-CN" sz="1400" dirty="0">
                <a:latin typeface="Montserrat" panose="00000500000000000000" pitchFamily="2" charset="0"/>
                <a:ea typeface="微软雅黑" pitchFamily="34" charset="-122"/>
              </a:rPr>
              <a:t>1 </a:t>
            </a:r>
            <a:r>
              <a:rPr lang="zh-CN" altLang="en-US" sz="1400" dirty="0">
                <a:latin typeface="Montserrat" panose="00000500000000000000" pitchFamily="2" charset="0"/>
                <a:ea typeface="微软雅黑" pitchFamily="34" charset="-122"/>
              </a:rPr>
              <a:t>转发出去，同时把标签对换为 </a:t>
            </a:r>
            <a:r>
              <a:rPr lang="en-US" altLang="zh-CN" sz="1400" dirty="0">
                <a:latin typeface="Montserrat" panose="00000500000000000000" pitchFamily="2" charset="0"/>
                <a:ea typeface="微软雅黑" pitchFamily="34" charset="-122"/>
              </a:rPr>
              <a:t>1</a:t>
            </a:r>
            <a:endParaRPr lang="zh-CN" altLang="en-US" sz="1400" dirty="0">
              <a:latin typeface="Montserrat" panose="00000500000000000000" pitchFamily="2" charset="0"/>
              <a:ea typeface="微软雅黑" pitchFamily="34" charset="-122"/>
            </a:endParaRPr>
          </a:p>
        </p:txBody>
      </p:sp>
      <p:sp>
        <p:nvSpPr>
          <p:cNvPr id="9" name="标题 8">
            <a:extLst>
              <a:ext uri="{FF2B5EF4-FFF2-40B4-BE49-F238E27FC236}">
                <a16:creationId xmlns:a16="http://schemas.microsoft.com/office/drawing/2014/main" id="{CBD52741-5B5C-7AA6-1796-AC3237D41967}"/>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
        <p:nvSpPr>
          <p:cNvPr id="10" name="内容占位符 9">
            <a:extLst>
              <a:ext uri="{FF2B5EF4-FFF2-40B4-BE49-F238E27FC236}">
                <a16:creationId xmlns:a16="http://schemas.microsoft.com/office/drawing/2014/main" id="{974EB602-F182-0775-25D2-87AAD6B516ED}"/>
              </a:ext>
            </a:extLst>
          </p:cNvPr>
          <p:cNvSpPr>
            <a:spLocks noGrp="1"/>
          </p:cNvSpPr>
          <p:nvPr>
            <p:ph sz="quarter" idx="11"/>
          </p:nvPr>
        </p:nvSpPr>
        <p:spPr>
          <a:xfrm>
            <a:off x="486000" y="900000"/>
            <a:ext cx="8172000" cy="3703500"/>
          </a:xfrm>
        </p:spPr>
        <p:txBody>
          <a:bodyPr/>
          <a:lstStyle/>
          <a:p>
            <a:r>
              <a:rPr lang="en-US" altLang="zh-CN" dirty="0"/>
              <a:t>3. </a:t>
            </a:r>
            <a:r>
              <a:rPr lang="zh-CN" altLang="en-US" dirty="0"/>
              <a:t>标签对换。</a:t>
            </a:r>
            <a:endParaRPr lang="en-US" altLang="zh-CN" dirty="0"/>
          </a:p>
          <a:p>
            <a:pPr lvl="1"/>
            <a:r>
              <a:rPr lang="zh-CN" altLang="en-US" dirty="0"/>
              <a:t>一个标签仅在两个 </a:t>
            </a:r>
            <a:r>
              <a:rPr lang="en-US" altLang="zh-CN" dirty="0"/>
              <a:t>LSR </a:t>
            </a:r>
            <a:r>
              <a:rPr lang="zh-CN" altLang="en-US" dirty="0"/>
              <a:t>之间才有意义</a:t>
            </a:r>
            <a:endParaRPr lang="en-US" altLang="zh-CN" dirty="0"/>
          </a:p>
          <a:p>
            <a:pPr lvl="1"/>
            <a:r>
              <a:rPr lang="en-US" altLang="zh-CN" dirty="0"/>
              <a:t>LSR </a:t>
            </a:r>
            <a:r>
              <a:rPr lang="zh-CN" altLang="en-US" dirty="0"/>
              <a:t>要做两件事：转发，更新标记</a:t>
            </a:r>
            <a:endParaRPr lang="en-US" altLang="zh-CN" dirty="0"/>
          </a:p>
          <a:p>
            <a:pPr lvl="1"/>
            <a:r>
              <a:rPr lang="zh-CN" altLang="en-US" dirty="0"/>
              <a:t>更新标记：把入标记更换成为出标记。称之为标签对换 </a:t>
            </a:r>
            <a:r>
              <a:rPr lang="en-US" altLang="zh-CN" dirty="0"/>
              <a:t>(label swapping)</a:t>
            </a:r>
            <a:endParaRPr lang="zh-CN" altLang="en-US" dirty="0"/>
          </a:p>
        </p:txBody>
      </p:sp>
    </p:spTree>
    <p:extLst>
      <p:ext uri="{BB962C8B-B14F-4D97-AF65-F5344CB8AC3E}">
        <p14:creationId xmlns:p14="http://schemas.microsoft.com/office/powerpoint/2010/main" val="1971579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F4654BF0-4F12-EF40-B436-084BE3E1F21D}"/>
              </a:ext>
            </a:extLst>
          </p:cNvPr>
          <p:cNvSpPr>
            <a:spLocks noGrp="1"/>
          </p:cNvSpPr>
          <p:nvPr>
            <p:ph sz="quarter" idx="11"/>
          </p:nvPr>
        </p:nvSpPr>
        <p:spPr>
          <a:xfrm>
            <a:off x="486000" y="900000"/>
            <a:ext cx="8172000" cy="3703500"/>
          </a:xfrm>
        </p:spPr>
        <p:txBody>
          <a:bodyPr wrap="square">
            <a:spAutoFit/>
          </a:bodyPr>
          <a:lstStyle/>
          <a:p>
            <a:r>
              <a:rPr lang="en-US" altLang="zh-CN" dirty="0"/>
              <a:t>4. </a:t>
            </a:r>
            <a:r>
              <a:rPr lang="zh-CN" altLang="en-US" dirty="0"/>
              <a:t>去除标签</a:t>
            </a:r>
            <a:endParaRPr lang="en-US" altLang="zh-CN" dirty="0"/>
          </a:p>
          <a:p>
            <a:pPr lvl="1"/>
            <a:r>
              <a:rPr lang="zh-CN" altLang="en-US" dirty="0"/>
              <a:t>当分组离开 </a:t>
            </a:r>
            <a:r>
              <a:rPr lang="en-US" altLang="zh-CN" dirty="0"/>
              <a:t>MPLS </a:t>
            </a:r>
            <a:r>
              <a:rPr lang="zh-CN" altLang="en-US" dirty="0"/>
              <a:t>域时，</a:t>
            </a:r>
            <a:r>
              <a:rPr lang="en-US" altLang="zh-CN" dirty="0"/>
              <a:t>MPLS </a:t>
            </a:r>
            <a:r>
              <a:rPr lang="zh-CN" altLang="en-US" dirty="0"/>
              <a:t>出口节点 </a:t>
            </a:r>
            <a:r>
              <a:rPr lang="en-US" altLang="zh-CN" dirty="0"/>
              <a:t>(egress node) </a:t>
            </a:r>
            <a:r>
              <a:rPr lang="zh-CN" altLang="en-US" dirty="0"/>
              <a:t>把分组的标签去除</a:t>
            </a:r>
            <a:endParaRPr lang="en-US" altLang="zh-CN" dirty="0"/>
          </a:p>
          <a:p>
            <a:pPr lvl="1"/>
            <a:r>
              <a:rPr lang="zh-CN" altLang="en-US" dirty="0"/>
              <a:t>把 </a:t>
            </a:r>
            <a:r>
              <a:rPr lang="en-US" altLang="zh-CN" dirty="0"/>
              <a:t>IP </a:t>
            </a:r>
            <a:r>
              <a:rPr lang="zh-CN" altLang="en-US" dirty="0"/>
              <a:t>数据报交付给非 </a:t>
            </a:r>
            <a:r>
              <a:rPr lang="en-US" altLang="zh-CN" dirty="0"/>
              <a:t>MPLS </a:t>
            </a:r>
            <a:r>
              <a:rPr lang="zh-CN" altLang="en-US" dirty="0"/>
              <a:t>的主机或路由器</a:t>
            </a:r>
            <a:endParaRPr lang="en-US" altLang="zh-CN" dirty="0"/>
          </a:p>
          <a:p>
            <a:endParaRPr lang="zh-CN" altLang="en-US" dirty="0"/>
          </a:p>
        </p:txBody>
      </p:sp>
      <p:sp>
        <p:nvSpPr>
          <p:cNvPr id="10" name="矩形 9"/>
          <p:cNvSpPr/>
          <p:nvPr/>
        </p:nvSpPr>
        <p:spPr>
          <a:xfrm>
            <a:off x="794441" y="2706986"/>
            <a:ext cx="7555118" cy="685893"/>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pitchFamily="34" charset="-122"/>
              </a:rPr>
              <a:t>这种“由入口 </a:t>
            </a:r>
            <a:r>
              <a:rPr lang="en-US" altLang="zh-CN" sz="1400" dirty="0">
                <a:latin typeface="Montserrat" panose="00000500000000000000" pitchFamily="2" charset="0"/>
                <a:ea typeface="微软雅黑" pitchFamily="34" charset="-122"/>
              </a:rPr>
              <a:t>LSR </a:t>
            </a:r>
            <a:r>
              <a:rPr lang="zh-CN" altLang="en-US" sz="1400" dirty="0">
                <a:latin typeface="Montserrat" panose="00000500000000000000" pitchFamily="2" charset="0"/>
                <a:ea typeface="微软雅黑" pitchFamily="34" charset="-122"/>
              </a:rPr>
              <a:t>确定进入 </a:t>
            </a:r>
            <a:r>
              <a:rPr lang="en-US" altLang="zh-CN" sz="1400" dirty="0">
                <a:latin typeface="Montserrat" panose="00000500000000000000" pitchFamily="2" charset="0"/>
                <a:ea typeface="微软雅黑" pitchFamily="34" charset="-122"/>
              </a:rPr>
              <a:t>MPLS </a:t>
            </a:r>
            <a:r>
              <a:rPr lang="zh-CN" altLang="en-US" sz="1400" dirty="0">
                <a:latin typeface="Montserrat" panose="00000500000000000000" pitchFamily="2" charset="0"/>
                <a:ea typeface="微软雅黑" pitchFamily="34" charset="-122"/>
              </a:rPr>
              <a:t>域以后的转发路径”称为显式路由选择 </a:t>
            </a:r>
            <a:r>
              <a:rPr lang="en-US" altLang="zh-CN" sz="1400" dirty="0">
                <a:latin typeface="Montserrat" panose="00000500000000000000" pitchFamily="2" charset="0"/>
                <a:ea typeface="微软雅黑" pitchFamily="34" charset="-122"/>
              </a:rPr>
              <a:t>(explicit routing)</a:t>
            </a:r>
          </a:p>
          <a:p>
            <a:pPr>
              <a:lnSpc>
                <a:spcPts val="2400"/>
              </a:lnSpc>
            </a:pPr>
            <a:r>
              <a:rPr lang="zh-CN" altLang="en-US" sz="1400" dirty="0">
                <a:latin typeface="Montserrat" panose="00000500000000000000" pitchFamily="2" charset="0"/>
                <a:ea typeface="微软雅黑" pitchFamily="34" charset="-122"/>
              </a:rPr>
              <a:t>与互联网中通常使用的“每一个路由器逐跳进行路由选择”有着很大的区别。</a:t>
            </a:r>
          </a:p>
        </p:txBody>
      </p:sp>
      <p:sp>
        <p:nvSpPr>
          <p:cNvPr id="5" name="标题 4">
            <a:extLst>
              <a:ext uri="{FF2B5EF4-FFF2-40B4-BE49-F238E27FC236}">
                <a16:creationId xmlns:a16="http://schemas.microsoft.com/office/drawing/2014/main" id="{7A5DC09B-516D-9313-DE87-4E75A653EAD7}"/>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Tree>
    <p:extLst>
      <p:ext uri="{BB962C8B-B14F-4D97-AF65-F5344CB8AC3E}">
        <p14:creationId xmlns:p14="http://schemas.microsoft.com/office/powerpoint/2010/main" val="4221894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DC546B-B6C4-C7FC-1A6E-9B8C06836A44}"/>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
        <p:nvSpPr>
          <p:cNvPr id="3" name="内容占位符 2">
            <a:extLst>
              <a:ext uri="{FF2B5EF4-FFF2-40B4-BE49-F238E27FC236}">
                <a16:creationId xmlns:a16="http://schemas.microsoft.com/office/drawing/2014/main" id="{E7A0162D-1DA2-1E7A-3714-EAEB40C4EB4A}"/>
              </a:ext>
            </a:extLst>
          </p:cNvPr>
          <p:cNvSpPr>
            <a:spLocks noGrp="1"/>
          </p:cNvSpPr>
          <p:nvPr>
            <p:ph sz="quarter" idx="11"/>
          </p:nvPr>
        </p:nvSpPr>
        <p:spPr>
          <a:xfrm>
            <a:off x="486000" y="900000"/>
            <a:ext cx="8172000" cy="3703500"/>
          </a:xfrm>
        </p:spPr>
        <p:txBody>
          <a:bodyPr/>
          <a:lstStyle/>
          <a:p>
            <a:r>
              <a:rPr lang="zh-CN" altLang="en-US" dirty="0"/>
              <a:t>给 </a:t>
            </a:r>
            <a:r>
              <a:rPr lang="en-US" altLang="zh-CN" dirty="0"/>
              <a:t>IP </a:t>
            </a:r>
            <a:r>
              <a:rPr lang="zh-CN" altLang="en-US" dirty="0"/>
              <a:t>数据报打标签的过程叫做分类 </a:t>
            </a:r>
            <a:r>
              <a:rPr lang="en-US" altLang="zh-CN" dirty="0"/>
              <a:t>(classification)</a:t>
            </a:r>
          </a:p>
          <a:p>
            <a:pPr lvl="1"/>
            <a:r>
              <a:rPr lang="zh-CN" altLang="en-US" dirty="0"/>
              <a:t>第三层（网络层）分类：只使用 </a:t>
            </a:r>
            <a:r>
              <a:rPr lang="en-US" altLang="zh-CN" dirty="0"/>
              <a:t>IP </a:t>
            </a:r>
            <a:r>
              <a:rPr lang="zh-CN" altLang="en-US" dirty="0"/>
              <a:t>首部中的源和目的 </a:t>
            </a:r>
            <a:r>
              <a:rPr lang="en-US" altLang="zh-CN" dirty="0"/>
              <a:t>IP </a:t>
            </a:r>
            <a:r>
              <a:rPr lang="zh-CN" altLang="en-US" dirty="0"/>
              <a:t>地址等</a:t>
            </a:r>
            <a:endParaRPr lang="en-US" altLang="zh-CN" dirty="0"/>
          </a:p>
          <a:p>
            <a:pPr lvl="1"/>
            <a:r>
              <a:rPr lang="zh-CN" altLang="en-US" dirty="0"/>
              <a:t>大多数运营商实现了第四层（运输层）分类：除了要检查 </a:t>
            </a:r>
            <a:r>
              <a:rPr lang="en-US" altLang="zh-CN" dirty="0"/>
              <a:t>IP </a:t>
            </a:r>
            <a:r>
              <a:rPr lang="zh-CN" altLang="en-US" dirty="0"/>
              <a:t>首部外，运输层还要检查 </a:t>
            </a:r>
            <a:r>
              <a:rPr lang="en-US" altLang="zh-CN" dirty="0"/>
              <a:t>TCP </a:t>
            </a:r>
            <a:r>
              <a:rPr lang="zh-CN" altLang="en-US" dirty="0"/>
              <a:t>或 </a:t>
            </a:r>
            <a:r>
              <a:rPr lang="en-US" altLang="zh-CN" dirty="0"/>
              <a:t>UDP </a:t>
            </a:r>
            <a:r>
              <a:rPr lang="zh-CN" altLang="en-US" dirty="0"/>
              <a:t>端口号</a:t>
            </a:r>
            <a:endParaRPr lang="en-US" altLang="zh-CN" dirty="0"/>
          </a:p>
          <a:p>
            <a:pPr lvl="1"/>
            <a:r>
              <a:rPr lang="zh-CN" altLang="en-US" dirty="0"/>
              <a:t>有些运营商则实现了第五层（应用层）分类：进一步地检查数据报的内部并考虑其有效载荷</a:t>
            </a:r>
            <a:endParaRPr lang="en-US" altLang="zh-CN" dirty="0"/>
          </a:p>
          <a:p>
            <a:endParaRPr lang="zh-CN" altLang="en-US" dirty="0"/>
          </a:p>
        </p:txBody>
      </p:sp>
    </p:spTree>
    <p:extLst>
      <p:ext uri="{BB962C8B-B14F-4D97-AF65-F5344CB8AC3E}">
        <p14:creationId xmlns:p14="http://schemas.microsoft.com/office/powerpoint/2010/main" val="15436867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AA5E2FA-6C6B-1012-585A-77CE5E09CC3A}"/>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
        <p:nvSpPr>
          <p:cNvPr id="3" name="内容占位符 2">
            <a:extLst>
              <a:ext uri="{FF2B5EF4-FFF2-40B4-BE49-F238E27FC236}">
                <a16:creationId xmlns:a16="http://schemas.microsoft.com/office/drawing/2014/main" id="{8583F822-C225-42DC-23AB-2910C47C4F15}"/>
              </a:ext>
            </a:extLst>
          </p:cNvPr>
          <p:cNvSpPr>
            <a:spLocks noGrp="1"/>
          </p:cNvSpPr>
          <p:nvPr>
            <p:ph sz="quarter" idx="11"/>
          </p:nvPr>
        </p:nvSpPr>
        <p:spPr>
          <a:xfrm>
            <a:off x="486000" y="900000"/>
            <a:ext cx="8172000" cy="3703500"/>
          </a:xfrm>
        </p:spPr>
        <p:txBody>
          <a:bodyPr/>
          <a:lstStyle/>
          <a:p>
            <a:r>
              <a:rPr lang="zh-CN" altLang="en-US" dirty="0"/>
              <a:t>转发等价类 </a:t>
            </a:r>
            <a:r>
              <a:rPr lang="en-US" altLang="zh-CN" dirty="0"/>
              <a:t>FEC</a:t>
            </a:r>
            <a:r>
              <a:rPr lang="zh-CN" altLang="en-US" dirty="0"/>
              <a:t> </a:t>
            </a:r>
            <a:r>
              <a:rPr lang="en-US" altLang="zh-CN" dirty="0"/>
              <a:t>(Forwarding Equivalence Class) </a:t>
            </a:r>
            <a:r>
              <a:rPr lang="zh-CN" altLang="en-US" dirty="0"/>
              <a:t>：路由器按照同样方式对待的分组的集合</a:t>
            </a:r>
            <a:endParaRPr lang="en-US" altLang="zh-CN" dirty="0"/>
          </a:p>
          <a:p>
            <a:r>
              <a:rPr lang="zh-CN" altLang="en-US" dirty="0"/>
              <a:t>按照同样方式对待含义：从同样接口转发到同样的下一跳地址，并且具有同样服务类别和同样丢弃优先级等</a:t>
            </a:r>
            <a:endParaRPr lang="en-US" altLang="zh-CN" dirty="0"/>
          </a:p>
          <a:p>
            <a:r>
              <a:rPr lang="zh-CN" altLang="en-US" dirty="0"/>
              <a:t>例如：</a:t>
            </a:r>
            <a:endParaRPr lang="en-US" altLang="zh-CN" dirty="0"/>
          </a:p>
          <a:p>
            <a:pPr lvl="1"/>
            <a:r>
              <a:rPr lang="en-US" altLang="zh-CN" dirty="0"/>
              <a:t>(1) </a:t>
            </a:r>
            <a:r>
              <a:rPr lang="zh-CN" altLang="en-US" dirty="0"/>
              <a:t>目的 </a:t>
            </a:r>
            <a:r>
              <a:rPr lang="en-US" altLang="zh-CN" dirty="0"/>
              <a:t>IP </a:t>
            </a:r>
            <a:r>
              <a:rPr lang="zh-CN" altLang="en-US" dirty="0"/>
              <a:t>地址与某一个特定 </a:t>
            </a:r>
            <a:r>
              <a:rPr lang="en-US" altLang="zh-CN" dirty="0"/>
              <a:t>IP </a:t>
            </a:r>
            <a:r>
              <a:rPr lang="zh-CN" altLang="en-US" dirty="0"/>
              <a:t>地址的前缀匹配的 </a:t>
            </a:r>
            <a:r>
              <a:rPr lang="en-US" altLang="zh-CN" dirty="0"/>
              <a:t>IP </a:t>
            </a:r>
            <a:r>
              <a:rPr lang="zh-CN" altLang="en-US" dirty="0"/>
              <a:t>数据报</a:t>
            </a:r>
          </a:p>
          <a:p>
            <a:pPr lvl="1"/>
            <a:r>
              <a:rPr lang="en-US" altLang="zh-CN" dirty="0"/>
              <a:t>(2) </a:t>
            </a:r>
            <a:r>
              <a:rPr lang="zh-CN" altLang="en-US" dirty="0"/>
              <a:t>所有源地址与目的地址都相同的 </a:t>
            </a:r>
            <a:r>
              <a:rPr lang="en-US" altLang="zh-CN" dirty="0"/>
              <a:t>IP </a:t>
            </a:r>
            <a:r>
              <a:rPr lang="zh-CN" altLang="en-US" dirty="0"/>
              <a:t>数据报</a:t>
            </a:r>
          </a:p>
          <a:p>
            <a:pPr lvl="1"/>
            <a:r>
              <a:rPr lang="en-US" altLang="zh-CN" dirty="0"/>
              <a:t>(3) </a:t>
            </a:r>
            <a:r>
              <a:rPr lang="zh-CN" altLang="en-US" dirty="0"/>
              <a:t>具有某种服务质量需求的 </a:t>
            </a:r>
            <a:r>
              <a:rPr lang="en-US" altLang="zh-CN" dirty="0"/>
              <a:t>IP </a:t>
            </a:r>
            <a:r>
              <a:rPr lang="zh-CN" altLang="en-US" dirty="0"/>
              <a:t>数据报</a:t>
            </a:r>
          </a:p>
          <a:p>
            <a:endParaRPr lang="zh-CN" altLang="en-US" dirty="0"/>
          </a:p>
        </p:txBody>
      </p:sp>
    </p:spTree>
    <p:extLst>
      <p:ext uri="{BB962C8B-B14F-4D97-AF65-F5344CB8AC3E}">
        <p14:creationId xmlns:p14="http://schemas.microsoft.com/office/powerpoint/2010/main" val="40262321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1160560683"/>
              </p:ext>
            </p:extLst>
          </p:nvPr>
        </p:nvGraphicFramePr>
        <p:xfrm>
          <a:off x="-86907" y="1204880"/>
          <a:ext cx="9528858" cy="251609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64216115-3E61-6D5C-37C1-D4FA75A40640}"/>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Tree>
    <p:extLst>
      <p:ext uri="{BB962C8B-B14F-4D97-AF65-F5344CB8AC3E}">
        <p14:creationId xmlns:p14="http://schemas.microsoft.com/office/powerpoint/2010/main" val="2800984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2077203" y="1057327"/>
            <a:ext cx="5005539" cy="1400979"/>
            <a:chOff x="844070" y="1216619"/>
            <a:chExt cx="8454080" cy="2366178"/>
          </a:xfrm>
        </p:grpSpPr>
        <p:sp>
          <p:nvSpPr>
            <p:cNvPr id="6" name="Line 3"/>
            <p:cNvSpPr>
              <a:spLocks noChangeShapeType="1"/>
            </p:cNvSpPr>
            <p:nvPr/>
          </p:nvSpPr>
          <p:spPr bwMode="auto">
            <a:xfrm>
              <a:off x="1736750" y="1510305"/>
              <a:ext cx="1061112" cy="5476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 name="Line 4"/>
            <p:cNvSpPr>
              <a:spLocks noChangeShapeType="1"/>
            </p:cNvSpPr>
            <p:nvPr/>
          </p:nvSpPr>
          <p:spPr bwMode="auto">
            <a:xfrm flipV="1">
              <a:off x="1736749" y="2097680"/>
              <a:ext cx="1176338" cy="788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
            <p:cNvSpPr>
              <a:spLocks noChangeShapeType="1"/>
            </p:cNvSpPr>
            <p:nvPr/>
          </p:nvSpPr>
          <p:spPr bwMode="auto">
            <a:xfrm flipV="1">
              <a:off x="2976720" y="1523005"/>
              <a:ext cx="2325158" cy="534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6"/>
            <p:cNvSpPr>
              <a:spLocks noChangeShapeType="1"/>
            </p:cNvSpPr>
            <p:nvPr/>
          </p:nvSpPr>
          <p:spPr bwMode="auto">
            <a:xfrm>
              <a:off x="5367230" y="1510306"/>
              <a:ext cx="1795463" cy="65881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Line 7"/>
            <p:cNvSpPr>
              <a:spLocks noChangeShapeType="1"/>
            </p:cNvSpPr>
            <p:nvPr/>
          </p:nvSpPr>
          <p:spPr bwMode="auto">
            <a:xfrm>
              <a:off x="2887291" y="2057993"/>
              <a:ext cx="1128183" cy="78581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Line 8"/>
            <p:cNvSpPr>
              <a:spLocks noChangeShapeType="1"/>
            </p:cNvSpPr>
            <p:nvPr/>
          </p:nvSpPr>
          <p:spPr bwMode="auto">
            <a:xfrm flipV="1">
              <a:off x="4125541" y="2843806"/>
              <a:ext cx="2178976" cy="4286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9"/>
            <p:cNvSpPr>
              <a:spLocks noChangeShapeType="1"/>
            </p:cNvSpPr>
            <p:nvPr/>
          </p:nvSpPr>
          <p:spPr bwMode="auto">
            <a:xfrm flipV="1">
              <a:off x="6519491" y="2169118"/>
              <a:ext cx="727471" cy="62706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0"/>
            <p:cNvSpPr>
              <a:spLocks noChangeShapeType="1"/>
            </p:cNvSpPr>
            <p:nvPr/>
          </p:nvSpPr>
          <p:spPr bwMode="auto">
            <a:xfrm flipV="1">
              <a:off x="7319193" y="1553168"/>
              <a:ext cx="990600" cy="59690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Line 11"/>
            <p:cNvSpPr>
              <a:spLocks noChangeShapeType="1"/>
            </p:cNvSpPr>
            <p:nvPr/>
          </p:nvSpPr>
          <p:spPr bwMode="auto">
            <a:xfrm>
              <a:off x="7315754" y="2197694"/>
              <a:ext cx="925248" cy="61753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pic>
          <p:nvPicPr>
            <p:cNvPr id="15"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20723" y="1967505"/>
              <a:ext cx="53829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6" name="Picture 1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77252"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7" name="Picture 1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4703"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 name="Picture 1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61477" y="2057993"/>
              <a:ext cx="536575" cy="2587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9" name="Picture 1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07793" y="1415055"/>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4" name="Freeform 21"/>
            <p:cNvSpPr>
              <a:spLocks/>
            </p:cNvSpPr>
            <p:nvPr/>
          </p:nvSpPr>
          <p:spPr bwMode="auto">
            <a:xfrm>
              <a:off x="3231249" y="1322981"/>
              <a:ext cx="3740546" cy="631825"/>
            </a:xfrm>
            <a:custGeom>
              <a:avLst/>
              <a:gdLst>
                <a:gd name="T0" fmla="*/ 0 w 2028"/>
                <a:gd name="T1" fmla="*/ 252 h 330"/>
                <a:gd name="T2" fmla="*/ 174 w 2028"/>
                <a:gd name="T3" fmla="*/ 210 h 330"/>
                <a:gd name="T4" fmla="*/ 357 w 2028"/>
                <a:gd name="T5" fmla="*/ 164 h 330"/>
                <a:gd name="T6" fmla="*/ 634 w 2028"/>
                <a:gd name="T7" fmla="*/ 97 h 330"/>
                <a:gd name="T8" fmla="*/ 1098 w 2028"/>
                <a:gd name="T9" fmla="*/ 6 h 330"/>
                <a:gd name="T10" fmla="*/ 1374 w 2028"/>
                <a:gd name="T11" fmla="*/ 60 h 330"/>
                <a:gd name="T12" fmla="*/ 1531 w 2028"/>
                <a:gd name="T13" fmla="*/ 119 h 330"/>
                <a:gd name="T14" fmla="*/ 1746 w 2028"/>
                <a:gd name="T15" fmla="*/ 210 h 330"/>
                <a:gd name="T16" fmla="*/ 2028 w 2028"/>
                <a:gd name="T17" fmla="*/ 330 h 3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028" h="330">
                  <a:moveTo>
                    <a:pt x="0" y="252"/>
                  </a:moveTo>
                  <a:cubicBezTo>
                    <a:pt x="28" y="245"/>
                    <a:pt x="115" y="225"/>
                    <a:pt x="174" y="210"/>
                  </a:cubicBezTo>
                  <a:cubicBezTo>
                    <a:pt x="233" y="195"/>
                    <a:pt x="280" y="183"/>
                    <a:pt x="357" y="164"/>
                  </a:cubicBezTo>
                  <a:cubicBezTo>
                    <a:pt x="434" y="145"/>
                    <a:pt x="511" y="123"/>
                    <a:pt x="634" y="97"/>
                  </a:cubicBezTo>
                  <a:cubicBezTo>
                    <a:pt x="757" y="71"/>
                    <a:pt x="975" y="12"/>
                    <a:pt x="1098" y="6"/>
                  </a:cubicBezTo>
                  <a:cubicBezTo>
                    <a:pt x="1221" y="0"/>
                    <a:pt x="1302" y="41"/>
                    <a:pt x="1374" y="60"/>
                  </a:cubicBezTo>
                  <a:cubicBezTo>
                    <a:pt x="1446" y="79"/>
                    <a:pt x="1469" y="94"/>
                    <a:pt x="1531" y="119"/>
                  </a:cubicBezTo>
                  <a:cubicBezTo>
                    <a:pt x="1593" y="144"/>
                    <a:pt x="1663" y="175"/>
                    <a:pt x="1746" y="210"/>
                  </a:cubicBezTo>
                  <a:cubicBezTo>
                    <a:pt x="1829" y="245"/>
                    <a:pt x="1969" y="305"/>
                    <a:pt x="2028" y="330"/>
                  </a:cubicBezTo>
                </a:path>
              </a:pathLst>
            </a:custGeom>
            <a:noFill/>
            <a:ln w="5715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22"/>
            <p:cNvSpPr>
              <a:spLocks noChangeShapeType="1"/>
            </p:cNvSpPr>
            <p:nvPr/>
          </p:nvSpPr>
          <p:spPr bwMode="auto">
            <a:xfrm>
              <a:off x="2089307" y="1510305"/>
              <a:ext cx="687917" cy="376238"/>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Line 23"/>
            <p:cNvSpPr>
              <a:spLocks noChangeShapeType="1"/>
            </p:cNvSpPr>
            <p:nvPr/>
          </p:nvSpPr>
          <p:spPr bwMode="auto">
            <a:xfrm>
              <a:off x="7293397" y="2381843"/>
              <a:ext cx="665559" cy="457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Line 24"/>
            <p:cNvSpPr>
              <a:spLocks noChangeShapeType="1"/>
            </p:cNvSpPr>
            <p:nvPr/>
          </p:nvSpPr>
          <p:spPr bwMode="auto">
            <a:xfrm flipV="1">
              <a:off x="2022235" y="2150069"/>
              <a:ext cx="498740" cy="331787"/>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Line 25"/>
            <p:cNvSpPr>
              <a:spLocks noChangeShapeType="1"/>
            </p:cNvSpPr>
            <p:nvPr/>
          </p:nvSpPr>
          <p:spPr bwMode="auto">
            <a:xfrm flipV="1">
              <a:off x="7319193" y="1576981"/>
              <a:ext cx="675879" cy="390525"/>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Text Box 26"/>
            <p:cNvSpPr txBox="1">
              <a:spLocks noChangeArrowheads="1"/>
            </p:cNvSpPr>
            <p:nvPr/>
          </p:nvSpPr>
          <p:spPr bwMode="auto">
            <a:xfrm>
              <a:off x="6894404" y="1534119"/>
              <a:ext cx="514946"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30" name="Text Box 27"/>
            <p:cNvSpPr txBox="1">
              <a:spLocks noChangeArrowheads="1"/>
            </p:cNvSpPr>
            <p:nvPr/>
          </p:nvSpPr>
          <p:spPr bwMode="auto">
            <a:xfrm>
              <a:off x="5021552" y="1622189"/>
              <a:ext cx="52036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B</a:t>
              </a:r>
            </a:p>
          </p:txBody>
        </p:sp>
        <p:sp>
          <p:nvSpPr>
            <p:cNvPr id="31" name="Text Box 28"/>
            <p:cNvSpPr txBox="1">
              <a:spLocks noChangeArrowheads="1"/>
            </p:cNvSpPr>
            <p:nvPr/>
          </p:nvSpPr>
          <p:spPr bwMode="auto">
            <a:xfrm>
              <a:off x="2677476" y="1438869"/>
              <a:ext cx="53931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32" name="Text Box 29"/>
            <p:cNvSpPr txBox="1">
              <a:spLocks noChangeArrowheads="1"/>
            </p:cNvSpPr>
            <p:nvPr/>
          </p:nvSpPr>
          <p:spPr bwMode="auto">
            <a:xfrm>
              <a:off x="866428" y="12166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33" name="Text Box 30"/>
            <p:cNvSpPr txBox="1">
              <a:spLocks noChangeArrowheads="1"/>
            </p:cNvSpPr>
            <p:nvPr/>
          </p:nvSpPr>
          <p:spPr bwMode="auto">
            <a:xfrm>
              <a:off x="6209929" y="2283418"/>
              <a:ext cx="485163"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34" name="Text Box 31"/>
            <p:cNvSpPr txBox="1">
              <a:spLocks noChangeArrowheads="1"/>
            </p:cNvSpPr>
            <p:nvPr/>
          </p:nvSpPr>
          <p:spPr bwMode="auto">
            <a:xfrm>
              <a:off x="3760945" y="2204044"/>
              <a:ext cx="55284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35" name="Text Box 32"/>
            <p:cNvSpPr txBox="1">
              <a:spLocks noChangeArrowheads="1"/>
            </p:cNvSpPr>
            <p:nvPr/>
          </p:nvSpPr>
          <p:spPr bwMode="auto">
            <a:xfrm>
              <a:off x="844070" y="2375494"/>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36" name="Text Box 33"/>
            <p:cNvSpPr txBox="1">
              <a:spLocks noChangeArrowheads="1"/>
            </p:cNvSpPr>
            <p:nvPr/>
          </p:nvSpPr>
          <p:spPr bwMode="auto">
            <a:xfrm>
              <a:off x="8612641" y="1256306"/>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3</a:t>
              </a:r>
            </a:p>
          </p:txBody>
        </p:sp>
        <p:sp>
          <p:nvSpPr>
            <p:cNvPr id="37" name="Text Box 34"/>
            <p:cNvSpPr txBox="1">
              <a:spLocks noChangeArrowheads="1"/>
            </p:cNvSpPr>
            <p:nvPr/>
          </p:nvSpPr>
          <p:spPr bwMode="auto">
            <a:xfrm>
              <a:off x="8579965" y="24612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38" name="Text Box 35"/>
            <p:cNvSpPr txBox="1">
              <a:spLocks noChangeArrowheads="1"/>
            </p:cNvSpPr>
            <p:nvPr/>
          </p:nvSpPr>
          <p:spPr bwMode="auto">
            <a:xfrm>
              <a:off x="1683219" y="3062978"/>
              <a:ext cx="687730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(a) </a:t>
              </a:r>
              <a:r>
                <a:rPr kumimoji="1" lang="zh-CN" altLang="en-US" sz="1400" b="1" dirty="0">
                  <a:latin typeface="微软雅黑" pitchFamily="34" charset="-122"/>
                  <a:ea typeface="微软雅黑" pitchFamily="34" charset="-122"/>
                </a:rPr>
                <a:t>传统路由选择协议使最短路径 </a:t>
              </a:r>
              <a:r>
                <a:rPr kumimoji="1" lang="en-US" altLang="zh-CN" sz="1400" b="1" dirty="0">
                  <a:latin typeface="微软雅黑" pitchFamily="34" charset="-122"/>
                  <a:ea typeface="微软雅黑" pitchFamily="34" charset="-122"/>
                </a:rPr>
                <a:t>A→B→C </a:t>
              </a:r>
              <a:r>
                <a:rPr kumimoji="1" lang="zh-CN" altLang="en-US" sz="1400" b="1" dirty="0">
                  <a:latin typeface="微软雅黑" pitchFamily="34" charset="-122"/>
                  <a:ea typeface="微软雅黑" pitchFamily="34" charset="-122"/>
                </a:rPr>
                <a:t>过载 </a:t>
              </a:r>
            </a:p>
          </p:txBody>
        </p:sp>
      </p:grpSp>
      <p:pic>
        <p:nvPicPr>
          <p:cNvPr id="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83314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833148"/>
            <a:ext cx="367811" cy="367811"/>
          </a:xfrm>
          <a:prstGeom prst="rect">
            <a:avLst/>
          </a:prstGeom>
          <a:noFill/>
          <a:extLst>
            <a:ext uri="{909E8E84-426E-40DD-AFC4-6F175D3DCCD1}">
              <a14:hiddenFill xmlns:a14="http://schemas.microsoft.com/office/drawing/2010/main">
                <a:solidFill>
                  <a:srgbClr val="FFFFFF"/>
                </a:solidFill>
              </a14:hiddenFill>
            </a:ext>
          </a:extLst>
        </p:spPr>
      </p:pic>
      <p:grpSp>
        <p:nvGrpSpPr>
          <p:cNvPr id="79" name="组合 78"/>
          <p:cNvGrpSpPr/>
          <p:nvPr/>
        </p:nvGrpSpPr>
        <p:grpSpPr>
          <a:xfrm>
            <a:off x="2073199" y="2513283"/>
            <a:ext cx="5004768" cy="1672143"/>
            <a:chOff x="2073199" y="2603813"/>
            <a:chExt cx="5004768" cy="1672143"/>
          </a:xfrm>
        </p:grpSpPr>
        <p:grpSp>
          <p:nvGrpSpPr>
            <p:cNvPr id="39" name="Group 36"/>
            <p:cNvGrpSpPr>
              <a:grpSpLocks/>
            </p:cNvGrpSpPr>
            <p:nvPr/>
          </p:nvGrpSpPr>
          <p:grpSpPr bwMode="auto">
            <a:xfrm>
              <a:off x="2073199" y="2603813"/>
              <a:ext cx="5004768" cy="1672143"/>
              <a:chOff x="477" y="2240"/>
              <a:chExt cx="4915" cy="1779"/>
            </a:xfrm>
          </p:grpSpPr>
          <p:sp>
            <p:nvSpPr>
              <p:cNvPr id="40" name="Line 37"/>
              <p:cNvSpPr>
                <a:spLocks noChangeShapeType="1"/>
              </p:cNvSpPr>
              <p:nvPr/>
            </p:nvSpPr>
            <p:spPr bwMode="auto">
              <a:xfrm>
                <a:off x="1000" y="2621"/>
                <a:ext cx="617" cy="34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1" name="Line 38"/>
              <p:cNvSpPr>
                <a:spLocks noChangeShapeType="1"/>
              </p:cNvSpPr>
              <p:nvPr/>
            </p:nvSpPr>
            <p:spPr bwMode="auto">
              <a:xfrm flipV="1">
                <a:off x="1000" y="2993"/>
                <a:ext cx="684" cy="49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Line 39"/>
              <p:cNvSpPr>
                <a:spLocks noChangeShapeType="1"/>
              </p:cNvSpPr>
              <p:nvPr/>
            </p:nvSpPr>
            <p:spPr bwMode="auto">
              <a:xfrm flipV="1">
                <a:off x="1721" y="2630"/>
                <a:ext cx="1352" cy="33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3" name="Line 40"/>
              <p:cNvSpPr>
                <a:spLocks noChangeShapeType="1"/>
              </p:cNvSpPr>
              <p:nvPr/>
            </p:nvSpPr>
            <p:spPr bwMode="auto">
              <a:xfrm>
                <a:off x="3111" y="2621"/>
                <a:ext cx="1044" cy="41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4" name="Line 41"/>
              <p:cNvSpPr>
                <a:spLocks noChangeShapeType="1"/>
              </p:cNvSpPr>
              <p:nvPr/>
            </p:nvSpPr>
            <p:spPr bwMode="auto">
              <a:xfrm>
                <a:off x="1669" y="2968"/>
                <a:ext cx="656" cy="494"/>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42"/>
              <p:cNvSpPr>
                <a:spLocks noChangeShapeType="1"/>
              </p:cNvSpPr>
              <p:nvPr/>
            </p:nvSpPr>
            <p:spPr bwMode="auto">
              <a:xfrm flipV="1">
                <a:off x="2389" y="3478"/>
                <a:ext cx="1339" cy="1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6" name="Line 43"/>
              <p:cNvSpPr>
                <a:spLocks noChangeShapeType="1"/>
              </p:cNvSpPr>
              <p:nvPr/>
            </p:nvSpPr>
            <p:spPr bwMode="auto">
              <a:xfrm flipV="1">
                <a:off x="3781" y="3036"/>
                <a:ext cx="423" cy="396"/>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7" name="Line 44"/>
              <p:cNvSpPr>
                <a:spLocks noChangeShapeType="1"/>
              </p:cNvSpPr>
              <p:nvPr/>
            </p:nvSpPr>
            <p:spPr bwMode="auto">
              <a:xfrm flipV="1">
                <a:off x="4246" y="2650"/>
                <a:ext cx="576" cy="3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Line 45"/>
              <p:cNvSpPr>
                <a:spLocks noChangeShapeType="1"/>
              </p:cNvSpPr>
              <p:nvPr/>
            </p:nvSpPr>
            <p:spPr bwMode="auto">
              <a:xfrm>
                <a:off x="4244" y="3056"/>
                <a:ext cx="538" cy="38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Text Box 50"/>
              <p:cNvSpPr txBox="1">
                <a:spLocks noChangeArrowheads="1"/>
              </p:cNvSpPr>
              <p:nvPr/>
            </p:nvSpPr>
            <p:spPr bwMode="auto">
              <a:xfrm>
                <a:off x="4052" y="2506"/>
                <a:ext cx="2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54" name="Text Box 51"/>
              <p:cNvSpPr txBox="1">
                <a:spLocks noChangeArrowheads="1"/>
              </p:cNvSpPr>
              <p:nvPr/>
            </p:nvSpPr>
            <p:spPr bwMode="auto">
              <a:xfrm>
                <a:off x="2683" y="2240"/>
                <a:ext cx="303"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B</a:t>
                </a:r>
              </a:p>
            </p:txBody>
          </p:sp>
          <p:sp>
            <p:nvSpPr>
              <p:cNvPr id="55" name="Text Box 52"/>
              <p:cNvSpPr txBox="1">
                <a:spLocks noChangeArrowheads="1"/>
              </p:cNvSpPr>
              <p:nvPr/>
            </p:nvSpPr>
            <p:spPr bwMode="auto">
              <a:xfrm>
                <a:off x="1518" y="2461"/>
                <a:ext cx="314"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56" name="Text Box 53"/>
              <p:cNvSpPr txBox="1">
                <a:spLocks noChangeArrowheads="1"/>
              </p:cNvSpPr>
              <p:nvPr/>
            </p:nvSpPr>
            <p:spPr bwMode="auto">
              <a:xfrm>
                <a:off x="484" y="2426"/>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57" name="Text Box 54"/>
              <p:cNvSpPr txBox="1">
                <a:spLocks noChangeArrowheads="1"/>
              </p:cNvSpPr>
              <p:nvPr/>
            </p:nvSpPr>
            <p:spPr bwMode="auto">
              <a:xfrm>
                <a:off x="477" y="3180"/>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58" name="Text Box 55"/>
              <p:cNvSpPr txBox="1">
                <a:spLocks noChangeArrowheads="1"/>
              </p:cNvSpPr>
              <p:nvPr/>
            </p:nvSpPr>
            <p:spPr bwMode="auto">
              <a:xfrm>
                <a:off x="4993" y="2467"/>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3</a:t>
                </a:r>
              </a:p>
            </p:txBody>
          </p:sp>
          <p:sp>
            <p:nvSpPr>
              <p:cNvPr id="59" name="Text Box 56"/>
              <p:cNvSpPr txBox="1">
                <a:spLocks noChangeArrowheads="1"/>
              </p:cNvSpPr>
              <p:nvPr/>
            </p:nvSpPr>
            <p:spPr bwMode="auto">
              <a:xfrm>
                <a:off x="4972" y="3225"/>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60" name="Text Box 57"/>
              <p:cNvSpPr txBox="1">
                <a:spLocks noChangeArrowheads="1"/>
              </p:cNvSpPr>
              <p:nvPr/>
            </p:nvSpPr>
            <p:spPr bwMode="auto">
              <a:xfrm>
                <a:off x="2196" y="2971"/>
                <a:ext cx="321"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61" name="Text Box 58"/>
              <p:cNvSpPr txBox="1">
                <a:spLocks noChangeArrowheads="1"/>
              </p:cNvSpPr>
              <p:nvPr/>
            </p:nvSpPr>
            <p:spPr bwMode="auto">
              <a:xfrm>
                <a:off x="3569" y="2893"/>
                <a:ext cx="282"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62" name="Text Box 59"/>
              <p:cNvSpPr txBox="1">
                <a:spLocks noChangeArrowheads="1"/>
              </p:cNvSpPr>
              <p:nvPr/>
            </p:nvSpPr>
            <p:spPr bwMode="auto">
              <a:xfrm>
                <a:off x="1150" y="3692"/>
                <a:ext cx="3978"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(b) </a:t>
                </a:r>
                <a:r>
                  <a:rPr kumimoji="1" lang="zh-CN" altLang="en-US" sz="1400" b="1" dirty="0">
                    <a:latin typeface="微软雅黑" pitchFamily="34" charset="-122"/>
                    <a:ea typeface="微软雅黑" pitchFamily="34" charset="-122"/>
                  </a:rPr>
                  <a:t>设置两种 </a:t>
                </a:r>
                <a:r>
                  <a:rPr kumimoji="1" lang="en-US" altLang="zh-CN" sz="1400" b="1" dirty="0">
                    <a:latin typeface="微软雅黑" pitchFamily="34" charset="-122"/>
                    <a:ea typeface="微软雅黑" pitchFamily="34" charset="-122"/>
                  </a:rPr>
                  <a:t>FEC</a:t>
                </a:r>
                <a:r>
                  <a:rPr kumimoji="1" lang="zh-CN" altLang="en-US" sz="1400" b="1" dirty="0">
                    <a:latin typeface="微软雅黑" pitchFamily="34" charset="-122"/>
                    <a:ea typeface="微软雅黑" pitchFamily="34" charset="-122"/>
                  </a:rPr>
                  <a:t>，利用 </a:t>
                </a:r>
                <a:r>
                  <a:rPr kumimoji="1" lang="en-US" altLang="zh-CN" sz="1400" b="1" dirty="0">
                    <a:latin typeface="微软雅黑" pitchFamily="34" charset="-122"/>
                    <a:ea typeface="微软雅黑" pitchFamily="34" charset="-122"/>
                  </a:rPr>
                  <a:t>FEC </a:t>
                </a:r>
                <a:r>
                  <a:rPr kumimoji="1" lang="zh-CN" altLang="en-US" sz="1400" b="1" dirty="0">
                    <a:latin typeface="微软雅黑" pitchFamily="34" charset="-122"/>
                    <a:ea typeface="微软雅黑" pitchFamily="34" charset="-122"/>
                  </a:rPr>
                  <a:t>使通信量较为均衡 </a:t>
                </a:r>
              </a:p>
            </p:txBody>
          </p:sp>
          <p:pic>
            <p:nvPicPr>
              <p:cNvPr id="63" name="Picture 6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559" y="283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4" name="Picture 6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265" y="329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5" name="Picture 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71" y="2460"/>
                <a:ext cx="259" cy="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6" name="Picture 6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628" y="332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3" y="2910"/>
                <a:ext cx="259"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8" name="Freeform 65"/>
              <p:cNvSpPr>
                <a:spLocks/>
              </p:cNvSpPr>
              <p:nvPr/>
            </p:nvSpPr>
            <p:spPr bwMode="auto">
              <a:xfrm>
                <a:off x="1200" y="2545"/>
                <a:ext cx="3463" cy="393"/>
              </a:xfrm>
              <a:custGeom>
                <a:avLst/>
                <a:gdLst>
                  <a:gd name="T0" fmla="*/ 0 w 3228"/>
                  <a:gd name="T1" fmla="*/ 96 h 326"/>
                  <a:gd name="T2" fmla="*/ 288 w 3228"/>
                  <a:gd name="T3" fmla="*/ 234 h 326"/>
                  <a:gd name="T4" fmla="*/ 480 w 3228"/>
                  <a:gd name="T5" fmla="*/ 264 h 326"/>
                  <a:gd name="T6" fmla="*/ 792 w 3228"/>
                  <a:gd name="T7" fmla="*/ 210 h 326"/>
                  <a:gd name="T8" fmla="*/ 975 w 3228"/>
                  <a:gd name="T9" fmla="*/ 164 h 326"/>
                  <a:gd name="T10" fmla="*/ 1252 w 3228"/>
                  <a:gd name="T11" fmla="*/ 97 h 326"/>
                  <a:gd name="T12" fmla="*/ 1716 w 3228"/>
                  <a:gd name="T13" fmla="*/ 6 h 326"/>
                  <a:gd name="T14" fmla="*/ 1992 w 3228"/>
                  <a:gd name="T15" fmla="*/ 60 h 326"/>
                  <a:gd name="T16" fmla="*/ 2149 w 3228"/>
                  <a:gd name="T17" fmla="*/ 119 h 326"/>
                  <a:gd name="T18" fmla="*/ 2364 w 3228"/>
                  <a:gd name="T19" fmla="*/ 210 h 326"/>
                  <a:gd name="T20" fmla="*/ 2646 w 3228"/>
                  <a:gd name="T21" fmla="*/ 312 h 326"/>
                  <a:gd name="T22" fmla="*/ 2874 w 3228"/>
                  <a:gd name="T23" fmla="*/ 294 h 326"/>
                  <a:gd name="T24" fmla="*/ 3060 w 3228"/>
                  <a:gd name="T25" fmla="*/ 204 h 326"/>
                  <a:gd name="T26" fmla="*/ 3228 w 3228"/>
                  <a:gd name="T27" fmla="*/ 108 h 3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28" h="326">
                    <a:moveTo>
                      <a:pt x="0" y="96"/>
                    </a:moveTo>
                    <a:cubicBezTo>
                      <a:pt x="49" y="119"/>
                      <a:pt x="208" y="206"/>
                      <a:pt x="288" y="234"/>
                    </a:cubicBezTo>
                    <a:cubicBezTo>
                      <a:pt x="368" y="262"/>
                      <a:pt x="396" y="268"/>
                      <a:pt x="480" y="264"/>
                    </a:cubicBezTo>
                    <a:cubicBezTo>
                      <a:pt x="564" y="260"/>
                      <a:pt x="710" y="227"/>
                      <a:pt x="792" y="210"/>
                    </a:cubicBezTo>
                    <a:cubicBezTo>
                      <a:pt x="874" y="193"/>
                      <a:pt x="898" y="183"/>
                      <a:pt x="975" y="164"/>
                    </a:cubicBezTo>
                    <a:cubicBezTo>
                      <a:pt x="1052" y="145"/>
                      <a:pt x="1129" y="123"/>
                      <a:pt x="1252" y="97"/>
                    </a:cubicBezTo>
                    <a:cubicBezTo>
                      <a:pt x="1375" y="71"/>
                      <a:pt x="1593" y="12"/>
                      <a:pt x="1716" y="6"/>
                    </a:cubicBezTo>
                    <a:cubicBezTo>
                      <a:pt x="1839" y="0"/>
                      <a:pt x="1920" y="41"/>
                      <a:pt x="1992" y="60"/>
                    </a:cubicBezTo>
                    <a:cubicBezTo>
                      <a:pt x="2064" y="79"/>
                      <a:pt x="2087" y="94"/>
                      <a:pt x="2149" y="119"/>
                    </a:cubicBezTo>
                    <a:cubicBezTo>
                      <a:pt x="2211" y="144"/>
                      <a:pt x="2281" y="178"/>
                      <a:pt x="2364" y="210"/>
                    </a:cubicBezTo>
                    <a:cubicBezTo>
                      <a:pt x="2447" y="242"/>
                      <a:pt x="2561" y="298"/>
                      <a:pt x="2646" y="312"/>
                    </a:cubicBezTo>
                    <a:cubicBezTo>
                      <a:pt x="2731" y="326"/>
                      <a:pt x="2805" y="312"/>
                      <a:pt x="2874" y="294"/>
                    </a:cubicBezTo>
                    <a:cubicBezTo>
                      <a:pt x="2943" y="276"/>
                      <a:pt x="3001" y="235"/>
                      <a:pt x="3060" y="204"/>
                    </a:cubicBezTo>
                    <a:cubicBezTo>
                      <a:pt x="3119" y="173"/>
                      <a:pt x="3193" y="128"/>
                      <a:pt x="3228" y="108"/>
                    </a:cubicBezTo>
                  </a:path>
                </a:pathLst>
              </a:custGeom>
              <a:noFill/>
              <a:ln w="3810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Freeform 66"/>
              <p:cNvSpPr>
                <a:spLocks/>
              </p:cNvSpPr>
              <p:nvPr/>
            </p:nvSpPr>
            <p:spPr bwMode="auto">
              <a:xfrm>
                <a:off x="1155" y="3130"/>
                <a:ext cx="3522" cy="470"/>
              </a:xfrm>
              <a:custGeom>
                <a:avLst/>
                <a:gdLst>
                  <a:gd name="T0" fmla="*/ 0 w 3282"/>
                  <a:gd name="T1" fmla="*/ 259 h 391"/>
                  <a:gd name="T2" fmla="*/ 240 w 3282"/>
                  <a:gd name="T3" fmla="*/ 116 h 391"/>
                  <a:gd name="T4" fmla="*/ 498 w 3282"/>
                  <a:gd name="T5" fmla="*/ 7 h 391"/>
                  <a:gd name="T6" fmla="*/ 756 w 3282"/>
                  <a:gd name="T7" fmla="*/ 157 h 391"/>
                  <a:gd name="T8" fmla="*/ 1026 w 3282"/>
                  <a:gd name="T9" fmla="*/ 349 h 391"/>
                  <a:gd name="T10" fmla="*/ 1245 w 3282"/>
                  <a:gd name="T11" fmla="*/ 385 h 391"/>
                  <a:gd name="T12" fmla="*/ 1626 w 3282"/>
                  <a:gd name="T13" fmla="*/ 385 h 391"/>
                  <a:gd name="T14" fmla="*/ 2124 w 3282"/>
                  <a:gd name="T15" fmla="*/ 385 h 391"/>
                  <a:gd name="T16" fmla="*/ 2442 w 3282"/>
                  <a:gd name="T17" fmla="*/ 349 h 391"/>
                  <a:gd name="T18" fmla="*/ 2592 w 3282"/>
                  <a:gd name="T19" fmla="*/ 277 h 391"/>
                  <a:gd name="T20" fmla="*/ 2796 w 3282"/>
                  <a:gd name="T21" fmla="*/ 91 h 391"/>
                  <a:gd name="T22" fmla="*/ 2946 w 3282"/>
                  <a:gd name="T23" fmla="*/ 67 h 391"/>
                  <a:gd name="T24" fmla="*/ 3101 w 3282"/>
                  <a:gd name="T25" fmla="*/ 160 h 391"/>
                  <a:gd name="T26" fmla="*/ 3282 w 3282"/>
                  <a:gd name="T27" fmla="*/ 271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82" h="391">
                    <a:moveTo>
                      <a:pt x="0" y="259"/>
                    </a:moveTo>
                    <a:cubicBezTo>
                      <a:pt x="39" y="235"/>
                      <a:pt x="157" y="158"/>
                      <a:pt x="240" y="116"/>
                    </a:cubicBezTo>
                    <a:cubicBezTo>
                      <a:pt x="323" y="74"/>
                      <a:pt x="412" y="0"/>
                      <a:pt x="498" y="7"/>
                    </a:cubicBezTo>
                    <a:cubicBezTo>
                      <a:pt x="584" y="14"/>
                      <a:pt x="668" y="100"/>
                      <a:pt x="756" y="157"/>
                    </a:cubicBezTo>
                    <a:cubicBezTo>
                      <a:pt x="844" y="214"/>
                      <a:pt x="945" y="311"/>
                      <a:pt x="1026" y="349"/>
                    </a:cubicBezTo>
                    <a:cubicBezTo>
                      <a:pt x="1107" y="387"/>
                      <a:pt x="1145" y="379"/>
                      <a:pt x="1245" y="385"/>
                    </a:cubicBezTo>
                    <a:cubicBezTo>
                      <a:pt x="1345" y="391"/>
                      <a:pt x="1480" y="385"/>
                      <a:pt x="1626" y="385"/>
                    </a:cubicBezTo>
                    <a:cubicBezTo>
                      <a:pt x="1772" y="385"/>
                      <a:pt x="1988" y="391"/>
                      <a:pt x="2124" y="385"/>
                    </a:cubicBezTo>
                    <a:cubicBezTo>
                      <a:pt x="2260" y="379"/>
                      <a:pt x="2364" y="367"/>
                      <a:pt x="2442" y="349"/>
                    </a:cubicBezTo>
                    <a:cubicBezTo>
                      <a:pt x="2520" y="331"/>
                      <a:pt x="2533" y="320"/>
                      <a:pt x="2592" y="277"/>
                    </a:cubicBezTo>
                    <a:cubicBezTo>
                      <a:pt x="2651" y="234"/>
                      <a:pt x="2737" y="126"/>
                      <a:pt x="2796" y="91"/>
                    </a:cubicBezTo>
                    <a:cubicBezTo>
                      <a:pt x="2855" y="56"/>
                      <a:pt x="2895" y="55"/>
                      <a:pt x="2946" y="67"/>
                    </a:cubicBezTo>
                    <a:cubicBezTo>
                      <a:pt x="2997" y="79"/>
                      <a:pt x="3045" y="126"/>
                      <a:pt x="3101" y="160"/>
                    </a:cubicBezTo>
                    <a:cubicBezTo>
                      <a:pt x="3157" y="194"/>
                      <a:pt x="3244" y="248"/>
                      <a:pt x="3282" y="271"/>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356227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3562278"/>
              <a:ext cx="367811" cy="367811"/>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矩形 19"/>
          <p:cNvSpPr/>
          <p:nvPr/>
        </p:nvSpPr>
        <p:spPr>
          <a:xfrm>
            <a:off x="1408438" y="4200668"/>
            <a:ext cx="6449959" cy="584775"/>
          </a:xfrm>
          <a:prstGeom prst="rect">
            <a:avLst/>
          </a:prstGeom>
        </p:spPr>
        <p:txBody>
          <a:bodyPr wrap="square">
            <a:spAutoFit/>
          </a:bodyPr>
          <a:lstStyle/>
          <a:p>
            <a:r>
              <a:rPr lang="zh-CN" altLang="en-US" sz="1600" b="1" dirty="0">
                <a:latin typeface="微软雅黑" panose="020B0503020204020204" pitchFamily="34" charset="-122"/>
                <a:ea typeface="微软雅黑" panose="020B0503020204020204" pitchFamily="34" charset="-122"/>
              </a:rPr>
              <a:t>自定义的 </a:t>
            </a:r>
            <a:r>
              <a:rPr lang="en-US" altLang="zh-CN" sz="1600" b="1" dirty="0">
                <a:latin typeface="微软雅黑" panose="020B0503020204020204" pitchFamily="34" charset="-122"/>
                <a:ea typeface="微软雅黑" panose="020B0503020204020204" pitchFamily="34" charset="-122"/>
              </a:rPr>
              <a:t>FEC </a:t>
            </a:r>
            <a:r>
              <a:rPr lang="zh-CN" altLang="en-US" sz="1600" b="1" dirty="0">
                <a:latin typeface="微软雅黑" panose="020B0503020204020204" pitchFamily="34" charset="-122"/>
                <a:ea typeface="微软雅黑" panose="020B0503020204020204" pitchFamily="34" charset="-122"/>
              </a:rPr>
              <a:t>可以更好地管理网络的资源。这种均衡网络负载的做法也称为</a:t>
            </a:r>
            <a:r>
              <a:rPr lang="zh-CN" altLang="en-US" sz="1600" b="1" dirty="0">
                <a:solidFill>
                  <a:srgbClr val="C00000"/>
                </a:solidFill>
                <a:latin typeface="微软雅黑" panose="020B0503020204020204" pitchFamily="34" charset="-122"/>
                <a:ea typeface="微软雅黑" panose="020B0503020204020204" pitchFamily="34" charset="-122"/>
              </a:rPr>
              <a:t>流量工程 </a:t>
            </a:r>
            <a:r>
              <a:rPr lang="en-US" altLang="zh-CN" sz="1600" b="1" dirty="0">
                <a:solidFill>
                  <a:srgbClr val="C00000"/>
                </a:solidFill>
                <a:latin typeface="微软雅黑" panose="020B0503020204020204" pitchFamily="34" charset="-122"/>
                <a:ea typeface="微软雅黑" panose="020B0503020204020204" pitchFamily="34" charset="-122"/>
              </a:rPr>
              <a:t>TE </a:t>
            </a:r>
            <a:r>
              <a:rPr lang="en-US" altLang="zh-CN" sz="1600" b="1" dirty="0">
                <a:latin typeface="微软雅黑" panose="020B0503020204020204" pitchFamily="34" charset="-122"/>
                <a:ea typeface="微软雅黑" panose="020B0503020204020204" pitchFamily="34" charset="-122"/>
              </a:rPr>
              <a:t>(Traffic Engineering) </a:t>
            </a:r>
            <a:r>
              <a:rPr lang="zh-CN" altLang="en-US" sz="1600" b="1" dirty="0">
                <a:latin typeface="微软雅黑" panose="020B0503020204020204" pitchFamily="34" charset="-122"/>
                <a:ea typeface="微软雅黑" panose="020B0503020204020204" pitchFamily="34" charset="-122"/>
              </a:rPr>
              <a:t>或通信量工程。</a:t>
            </a:r>
          </a:p>
        </p:txBody>
      </p:sp>
      <p:sp>
        <p:nvSpPr>
          <p:cNvPr id="21" name="标题 20">
            <a:extLst>
              <a:ext uri="{FF2B5EF4-FFF2-40B4-BE49-F238E27FC236}">
                <a16:creationId xmlns:a16="http://schemas.microsoft.com/office/drawing/2014/main" id="{AF4CD3BC-DCCA-1174-C30F-E3B939F352B0}"/>
              </a:ext>
            </a:extLst>
          </p:cNvPr>
          <p:cNvSpPr>
            <a:spLocks noGrp="1"/>
          </p:cNvSpPr>
          <p:nvPr>
            <p:ph type="title"/>
          </p:nvPr>
        </p:nvSpPr>
        <p:spPr>
          <a:xfrm>
            <a:off x="486000" y="550723"/>
            <a:ext cx="8172000" cy="338554"/>
          </a:xfrm>
        </p:spPr>
        <p:txBody>
          <a:bodyPr/>
          <a:lstStyle/>
          <a:p>
            <a:r>
              <a:rPr lang="en-US" altLang="zh-CN" dirty="0"/>
              <a:t>FEC </a:t>
            </a:r>
            <a:r>
              <a:rPr lang="zh-CN" altLang="en-US" dirty="0"/>
              <a:t>用于负载平衡</a:t>
            </a:r>
          </a:p>
        </p:txBody>
      </p:sp>
    </p:spTree>
    <p:extLst>
      <p:ext uri="{BB962C8B-B14F-4D97-AF65-F5344CB8AC3E}">
        <p14:creationId xmlns:p14="http://schemas.microsoft.com/office/powerpoint/2010/main" val="36291298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内容占位符 12">
            <a:extLst>
              <a:ext uri="{FF2B5EF4-FFF2-40B4-BE49-F238E27FC236}">
                <a16:creationId xmlns:a16="http://schemas.microsoft.com/office/drawing/2014/main" id="{6D89897B-70FF-C4A4-78EC-E345872CA60A}"/>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不要求下层的网络都使用面向连接的技术</a:t>
            </a:r>
          </a:p>
          <a:p>
            <a:r>
              <a:rPr lang="en-US" altLang="zh-CN" dirty="0"/>
              <a:t>MPLS </a:t>
            </a:r>
            <a:r>
              <a:rPr lang="zh-CN" altLang="en-US" dirty="0"/>
              <a:t>采用封装技术：在把 </a:t>
            </a:r>
            <a:r>
              <a:rPr lang="en-US" altLang="zh-CN" dirty="0"/>
              <a:t>IP </a:t>
            </a:r>
            <a:r>
              <a:rPr lang="zh-CN" altLang="en-US" dirty="0"/>
              <a:t>数据报封装成以太网帧之前，先要插入一个 </a:t>
            </a:r>
            <a:r>
              <a:rPr lang="en-US" altLang="zh-CN" dirty="0"/>
              <a:t>MPLS </a:t>
            </a:r>
            <a:r>
              <a:rPr lang="zh-CN" altLang="en-US" dirty="0"/>
              <a:t>首部</a:t>
            </a:r>
          </a:p>
          <a:p>
            <a:endParaRPr lang="zh-CN" altLang="en-US" dirty="0"/>
          </a:p>
        </p:txBody>
      </p:sp>
      <p:grpSp>
        <p:nvGrpSpPr>
          <p:cNvPr id="5" name="组合 4"/>
          <p:cNvGrpSpPr/>
          <p:nvPr/>
        </p:nvGrpSpPr>
        <p:grpSpPr>
          <a:xfrm>
            <a:off x="3340857" y="2138316"/>
            <a:ext cx="2880170" cy="1356547"/>
            <a:chOff x="3728864" y="4437112"/>
            <a:chExt cx="3376226" cy="1311134"/>
          </a:xfrm>
        </p:grpSpPr>
        <p:sp>
          <p:nvSpPr>
            <p:cNvPr id="6" name="矩形 5"/>
            <p:cNvSpPr/>
            <p:nvPr/>
          </p:nvSpPr>
          <p:spPr bwMode="auto">
            <a:xfrm>
              <a:off x="3728864" y="4437112"/>
              <a:ext cx="2160240" cy="447038"/>
            </a:xfrm>
            <a:prstGeom prst="rect">
              <a:avLst/>
            </a:prstGeom>
            <a:solidFill>
              <a:srgbClr val="00FF99"/>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网络层</a:t>
              </a:r>
            </a:p>
          </p:txBody>
        </p:sp>
        <p:sp>
          <p:nvSpPr>
            <p:cNvPr id="7" name="矩形 6"/>
            <p:cNvSpPr/>
            <p:nvPr/>
          </p:nvSpPr>
          <p:spPr bwMode="auto">
            <a:xfrm>
              <a:off x="3728864" y="4884150"/>
              <a:ext cx="2160240" cy="432048"/>
            </a:xfrm>
            <a:prstGeom prst="rect">
              <a:avLst/>
            </a:prstGeom>
            <a:solidFill>
              <a:srgbClr val="FF66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400" i="0" u="none" strike="noStrike" cap="none" normalizeH="0" baseline="0" dirty="0">
                  <a:ln>
                    <a:noFill/>
                  </a:ln>
                  <a:solidFill>
                    <a:schemeClr val="tx1"/>
                  </a:solidFill>
                  <a:effectLst/>
                  <a:latin typeface="Montserrat" panose="00000500000000000000" pitchFamily="2" charset="0"/>
                  <a:ea typeface="微软雅黑" pitchFamily="34" charset="-122"/>
                </a:rPr>
                <a:t>MPLS </a:t>
              </a: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首部</a:t>
              </a:r>
            </a:p>
          </p:txBody>
        </p:sp>
        <p:sp>
          <p:nvSpPr>
            <p:cNvPr id="8" name="矩形 7"/>
            <p:cNvSpPr/>
            <p:nvPr/>
          </p:nvSpPr>
          <p:spPr bwMode="auto">
            <a:xfrm>
              <a:off x="3728864" y="5316198"/>
              <a:ext cx="2160240" cy="432048"/>
            </a:xfrm>
            <a:prstGeom prst="rect">
              <a:avLst/>
            </a:prstGeom>
            <a:solidFill>
              <a:srgbClr val="66CC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zh-CN" altLang="en-US" sz="1400" dirty="0">
                  <a:latin typeface="Montserrat" panose="00000500000000000000" pitchFamily="2" charset="0"/>
                  <a:ea typeface="微软雅黑" pitchFamily="34" charset="-122"/>
                </a:rPr>
                <a:t>数据链路</a:t>
              </a: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层</a:t>
              </a:r>
            </a:p>
          </p:txBody>
        </p:sp>
        <p:sp>
          <p:nvSpPr>
            <p:cNvPr id="9" name="左箭头 8"/>
            <p:cNvSpPr/>
            <p:nvPr/>
          </p:nvSpPr>
          <p:spPr bwMode="auto">
            <a:xfrm>
              <a:off x="5961112" y="5013176"/>
              <a:ext cx="504056" cy="216024"/>
            </a:xfrm>
            <a:prstGeom prst="leftArrow">
              <a:avLst/>
            </a:prstGeom>
            <a:solidFill>
              <a:srgbClr val="FFFF00"/>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i="0" u="none" strike="noStrike" cap="none" normalizeH="0" baseline="0">
                <a:ln>
                  <a:noFill/>
                </a:ln>
                <a:solidFill>
                  <a:schemeClr val="tx1"/>
                </a:solidFill>
                <a:effectLst/>
                <a:latin typeface="Montserrat" panose="00000500000000000000" pitchFamily="2" charset="0"/>
                <a:ea typeface="微软雅黑" pitchFamily="34" charset="-122"/>
              </a:endParaRPr>
            </a:p>
          </p:txBody>
        </p:sp>
        <p:sp>
          <p:nvSpPr>
            <p:cNvPr id="10" name="TextBox 9"/>
            <p:cNvSpPr txBox="1"/>
            <p:nvPr/>
          </p:nvSpPr>
          <p:spPr>
            <a:xfrm>
              <a:off x="6467702" y="4915476"/>
              <a:ext cx="637388" cy="297474"/>
            </a:xfrm>
            <a:prstGeom prst="rect">
              <a:avLst/>
            </a:prstGeom>
            <a:noFill/>
          </p:spPr>
          <p:txBody>
            <a:bodyPr wrap="none" rtlCol="0">
              <a:spAutoFit/>
            </a:bodyPr>
            <a:lstStyle/>
            <a:p>
              <a:r>
                <a:rPr lang="zh-CN" altLang="en-US" sz="1400" dirty="0">
                  <a:latin typeface="Montserrat" panose="00000500000000000000" pitchFamily="2" charset="0"/>
                  <a:ea typeface="微软雅黑" pitchFamily="34" charset="-122"/>
                </a:rPr>
                <a:t>插入</a:t>
              </a:r>
            </a:p>
          </p:txBody>
        </p:sp>
      </p:grpSp>
      <p:sp>
        <p:nvSpPr>
          <p:cNvPr id="11" name="矩形 10"/>
          <p:cNvSpPr/>
          <p:nvPr/>
        </p:nvSpPr>
        <p:spPr>
          <a:xfrm>
            <a:off x="1937505" y="3738010"/>
            <a:ext cx="5268990" cy="307777"/>
          </a:xfrm>
          <a:prstGeom prst="rect">
            <a:avLst/>
          </a:prstGeom>
          <a:noFill/>
          <a:ln>
            <a:noFill/>
          </a:ln>
          <a:effectLst/>
        </p:spPr>
        <p:style>
          <a:lnRef idx="1">
            <a:schemeClr val="accent2"/>
          </a:lnRef>
          <a:fillRef idx="3">
            <a:schemeClr val="accent2"/>
          </a:fillRef>
          <a:effectRef idx="2">
            <a:schemeClr val="accent2"/>
          </a:effectRef>
          <a:fontRef idx="minor">
            <a:schemeClr val="lt1"/>
          </a:fontRef>
        </p:style>
        <p:txBody>
          <a:bodyPr wrap="square" anchor="ctr" anchorCtr="0">
            <a:spAutoFit/>
          </a:bodyPr>
          <a:lstStyle/>
          <a:p>
            <a:pPr algn="ctr"/>
            <a:r>
              <a:rPr lang="zh-CN" altLang="en-US" sz="1400" dirty="0">
                <a:solidFill>
                  <a:schemeClr val="tx1"/>
                </a:solidFill>
                <a:latin typeface="Montserrat" panose="00000500000000000000" pitchFamily="2" charset="0"/>
                <a:ea typeface="微软雅黑" panose="020B0503020204020204" pitchFamily="34" charset="-122"/>
              </a:rPr>
              <a:t>从层次的角度看，</a:t>
            </a:r>
            <a:r>
              <a:rPr lang="en-US" altLang="zh-CN" sz="1400" dirty="0">
                <a:solidFill>
                  <a:schemeClr val="tx1"/>
                </a:solidFill>
                <a:latin typeface="Montserrat" panose="00000500000000000000" pitchFamily="2" charset="0"/>
                <a:ea typeface="微软雅黑" panose="020B0503020204020204" pitchFamily="34" charset="-122"/>
              </a:rPr>
              <a:t>MPLS </a:t>
            </a:r>
            <a:r>
              <a:rPr lang="zh-CN" altLang="en-US" sz="1400" dirty="0">
                <a:solidFill>
                  <a:schemeClr val="tx1"/>
                </a:solidFill>
                <a:latin typeface="Montserrat" panose="00000500000000000000" pitchFamily="2" charset="0"/>
                <a:ea typeface="微软雅黑" panose="020B0503020204020204" pitchFamily="34" charset="-122"/>
              </a:rPr>
              <a:t>首部处在第二层和第三层之间</a:t>
            </a:r>
          </a:p>
        </p:txBody>
      </p:sp>
      <p:sp>
        <p:nvSpPr>
          <p:cNvPr id="12" name="标题 11">
            <a:extLst>
              <a:ext uri="{FF2B5EF4-FFF2-40B4-BE49-F238E27FC236}">
                <a16:creationId xmlns:a16="http://schemas.microsoft.com/office/drawing/2014/main" id="{FB4D27F5-4CC7-4F7A-4726-84BA3125126A}"/>
              </a:ext>
            </a:extLst>
          </p:cNvPr>
          <p:cNvSpPr>
            <a:spLocks noGrp="1"/>
          </p:cNvSpPr>
          <p:nvPr>
            <p:ph type="title"/>
          </p:nvPr>
        </p:nvSpPr>
        <p:spPr>
          <a:xfrm>
            <a:off x="486000" y="550723"/>
            <a:ext cx="8172000" cy="338554"/>
          </a:xfrm>
        </p:spPr>
        <p:txBody>
          <a:bodyPr/>
          <a:lstStyle/>
          <a:p>
            <a:r>
              <a:rPr lang="en-US" altLang="zh-CN" dirty="0"/>
              <a:t>4.9.2  MPLS </a:t>
            </a:r>
            <a:r>
              <a:rPr lang="zh-CN" altLang="en-US" dirty="0"/>
              <a:t>首部的位置与格式</a:t>
            </a:r>
          </a:p>
        </p:txBody>
      </p:sp>
    </p:spTree>
    <p:extLst>
      <p:ext uri="{BB962C8B-B14F-4D97-AF65-F5344CB8AC3E}">
        <p14:creationId xmlns:p14="http://schemas.microsoft.com/office/powerpoint/2010/main" val="21508877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FEC03DAF-28CA-4EC9-63F7-B3AFC2337054}"/>
              </a:ext>
            </a:extLst>
          </p:cNvPr>
          <p:cNvSpPr>
            <a:spLocks noGrp="1"/>
          </p:cNvSpPr>
          <p:nvPr>
            <p:ph type="title"/>
          </p:nvPr>
        </p:nvSpPr>
        <p:spPr/>
        <p:txBody>
          <a:bodyPr/>
          <a:lstStyle/>
          <a:p>
            <a:r>
              <a:rPr lang="en-US" altLang="zh-CN" dirty="0"/>
              <a:t>MPLS </a:t>
            </a:r>
            <a:r>
              <a:rPr lang="zh-CN" altLang="en-US" dirty="0"/>
              <a:t>首部的格式</a:t>
            </a:r>
          </a:p>
        </p:txBody>
      </p:sp>
      <p:sp>
        <p:nvSpPr>
          <p:cNvPr id="41" name="矩形 40">
            <a:extLst>
              <a:ext uri="{FF2B5EF4-FFF2-40B4-BE49-F238E27FC236}">
                <a16:creationId xmlns:a16="http://schemas.microsoft.com/office/drawing/2014/main" id="{A33E8033-5315-A24D-B599-9015F1DCAB96}"/>
              </a:ext>
            </a:extLst>
          </p:cNvPr>
          <p:cNvSpPr/>
          <p:nvPr/>
        </p:nvSpPr>
        <p:spPr>
          <a:xfrm>
            <a:off x="561315" y="3457987"/>
            <a:ext cx="8021370" cy="383054"/>
          </a:xfrm>
          <a:prstGeom prst="rect">
            <a:avLst/>
          </a:prstGeom>
        </p:spPr>
        <p:txBody>
          <a:bodyPr wrap="square">
            <a:spAutoFit/>
          </a:bodyPr>
          <a:lstStyle/>
          <a:p>
            <a:pPr algn="ctr">
              <a:lnSpc>
                <a:spcPts val="2500"/>
              </a:lnSpc>
            </a:pPr>
            <a:r>
              <a:rPr lang="zh-CN" altLang="en-US" sz="1600" dirty="0">
                <a:latin typeface="Montserrat" panose="00000500000000000000" pitchFamily="2" charset="0"/>
                <a:ea typeface="微软雅黑" pitchFamily="34" charset="-122"/>
              </a:rPr>
              <a:t>给 </a:t>
            </a:r>
            <a:r>
              <a:rPr lang="en-US" altLang="zh-CN" sz="1600" dirty="0">
                <a:latin typeface="Montserrat" panose="00000500000000000000" pitchFamily="2" charset="0"/>
                <a:ea typeface="微软雅黑" pitchFamily="34" charset="-122"/>
              </a:rPr>
              <a:t>IP </a:t>
            </a:r>
            <a:r>
              <a:rPr lang="zh-CN" altLang="en-US" sz="1600" dirty="0">
                <a:latin typeface="Montserrat" panose="00000500000000000000" pitchFamily="2" charset="0"/>
                <a:ea typeface="微软雅黑" pitchFamily="34" charset="-122"/>
              </a:rPr>
              <a:t>数据报打标记：在以太网帧首部和 </a:t>
            </a:r>
            <a:r>
              <a:rPr lang="en-US" altLang="zh-CN" sz="1600" dirty="0">
                <a:latin typeface="Montserrat" panose="00000500000000000000" pitchFamily="2" charset="0"/>
                <a:ea typeface="微软雅黑" pitchFamily="34" charset="-122"/>
              </a:rPr>
              <a:t>IP </a:t>
            </a:r>
            <a:r>
              <a:rPr lang="zh-CN" altLang="en-US" sz="1600" dirty="0">
                <a:latin typeface="Montserrat" panose="00000500000000000000" pitchFamily="2" charset="0"/>
                <a:ea typeface="微软雅黑" pitchFamily="34" charset="-122"/>
              </a:rPr>
              <a:t>数据报首部之间插入一个 </a:t>
            </a:r>
            <a:r>
              <a:rPr lang="en-US" altLang="zh-CN" sz="1600" dirty="0">
                <a:latin typeface="Montserrat" panose="00000500000000000000" pitchFamily="2" charset="0"/>
                <a:ea typeface="微软雅黑" pitchFamily="34" charset="-122"/>
              </a:rPr>
              <a:t>4 </a:t>
            </a:r>
            <a:r>
              <a:rPr lang="zh-CN" altLang="en-US" sz="1600" dirty="0">
                <a:latin typeface="Montserrat" panose="00000500000000000000" pitchFamily="2" charset="0"/>
                <a:ea typeface="微软雅黑" pitchFamily="34" charset="-122"/>
              </a:rPr>
              <a:t>字节的首部</a:t>
            </a:r>
          </a:p>
        </p:txBody>
      </p:sp>
    </p:spTree>
    <p:extLst>
      <p:ext uri="{BB962C8B-B14F-4D97-AF65-F5344CB8AC3E}">
        <p14:creationId xmlns:p14="http://schemas.microsoft.com/office/powerpoint/2010/main" val="34262388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reeform 41"/>
          <p:cNvSpPr>
            <a:spLocks/>
          </p:cNvSpPr>
          <p:nvPr/>
        </p:nvSpPr>
        <p:spPr bwMode="auto">
          <a:xfrm>
            <a:off x="1629850" y="1809875"/>
            <a:ext cx="6201738" cy="485641"/>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 name="Line 2"/>
          <p:cNvSpPr>
            <a:spLocks noChangeShapeType="1"/>
          </p:cNvSpPr>
          <p:nvPr/>
        </p:nvSpPr>
        <p:spPr bwMode="auto">
          <a:xfrm flipV="1">
            <a:off x="3872467" y="1830724"/>
            <a:ext cx="3969750" cy="46602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 name="Text Box 6"/>
          <p:cNvSpPr txBox="1">
            <a:spLocks noChangeArrowheads="1"/>
          </p:cNvSpPr>
          <p:nvPr/>
        </p:nvSpPr>
        <p:spPr bwMode="auto">
          <a:xfrm>
            <a:off x="3073297" y="1980341"/>
            <a:ext cx="492443" cy="27699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栈顶</a:t>
            </a:r>
          </a:p>
        </p:txBody>
      </p:sp>
      <p:sp>
        <p:nvSpPr>
          <p:cNvPr id="9" name="Rectangle 8"/>
          <p:cNvSpPr>
            <a:spLocks noChangeArrowheads="1"/>
          </p:cNvSpPr>
          <p:nvPr/>
        </p:nvSpPr>
        <p:spPr bwMode="auto">
          <a:xfrm>
            <a:off x="2027092" y="2296744"/>
            <a:ext cx="758609" cy="372816"/>
          </a:xfrm>
          <a:prstGeom prst="rect">
            <a:avLst/>
          </a:prstGeom>
          <a:noFill/>
          <a:ln w="9525">
            <a:solidFill>
              <a:schemeClr val="tx1"/>
            </a:solidFill>
            <a:miter lim="800000"/>
            <a:headEnd/>
            <a:tailEnd/>
          </a:ln>
          <a:effectLst/>
        </p:spPr>
        <p:txBody>
          <a:bodyPr wrap="none" anchor="ctr"/>
          <a:lstStyle/>
          <a:p>
            <a:pPr algn="just"/>
            <a:r>
              <a:rPr kumimoji="1" lang="zh-CN" altLang="en-US" sz="1200" dirty="0">
                <a:latin typeface="Montserrat" panose="00000500000000000000" pitchFamily="2" charset="0"/>
                <a:ea typeface="微软雅黑 Light" panose="020B0502040204020203" pitchFamily="34" charset="-122"/>
              </a:rPr>
              <a:t>帧首部  </a:t>
            </a:r>
          </a:p>
        </p:txBody>
      </p:sp>
      <p:sp>
        <p:nvSpPr>
          <p:cNvPr id="10" name="Rectangle 9"/>
          <p:cNvSpPr>
            <a:spLocks noChangeArrowheads="1"/>
          </p:cNvSpPr>
          <p:nvPr/>
        </p:nvSpPr>
        <p:spPr bwMode="auto">
          <a:xfrm>
            <a:off x="1621879" y="1403948"/>
            <a:ext cx="6209709" cy="405927"/>
          </a:xfrm>
          <a:prstGeom prst="rect">
            <a:avLst/>
          </a:prstGeom>
          <a:noFill/>
          <a:ln w="9525">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11" name="Line 10"/>
          <p:cNvSpPr>
            <a:spLocks noChangeShapeType="1"/>
          </p:cNvSpPr>
          <p:nvPr/>
        </p:nvSpPr>
        <p:spPr bwMode="auto">
          <a:xfrm>
            <a:off x="5502616" y="1403948"/>
            <a:ext cx="0" cy="40592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2" name="Line 11"/>
          <p:cNvSpPr>
            <a:spLocks noChangeShapeType="1"/>
          </p:cNvSpPr>
          <p:nvPr/>
        </p:nvSpPr>
        <p:spPr bwMode="auto">
          <a:xfrm>
            <a:off x="6095155" y="1403948"/>
            <a:ext cx="5314" cy="40592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3" name="Line 12"/>
          <p:cNvSpPr>
            <a:spLocks noChangeShapeType="1"/>
          </p:cNvSpPr>
          <p:nvPr/>
        </p:nvSpPr>
        <p:spPr bwMode="auto">
          <a:xfrm>
            <a:off x="6279825" y="1403948"/>
            <a:ext cx="0" cy="40592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4" name="Text Box 13"/>
          <p:cNvSpPr txBox="1">
            <a:spLocks noChangeArrowheads="1"/>
          </p:cNvSpPr>
          <p:nvPr/>
        </p:nvSpPr>
        <p:spPr bwMode="auto">
          <a:xfrm>
            <a:off x="3228181" y="1468412"/>
            <a:ext cx="6062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Label</a:t>
            </a:r>
            <a:endParaRPr kumimoji="1" lang="zh-CN" altLang="en-US" sz="1200" dirty="0">
              <a:latin typeface="Montserrat" panose="00000500000000000000" pitchFamily="2" charset="0"/>
              <a:ea typeface="微软雅黑 Light" panose="020B0502040204020203" pitchFamily="34" charset="-122"/>
            </a:endParaRPr>
          </a:p>
        </p:txBody>
      </p:sp>
      <p:sp>
        <p:nvSpPr>
          <p:cNvPr id="15" name="Text Box 14"/>
          <p:cNvSpPr txBox="1">
            <a:spLocks noChangeArrowheads="1"/>
          </p:cNvSpPr>
          <p:nvPr/>
        </p:nvSpPr>
        <p:spPr bwMode="auto">
          <a:xfrm>
            <a:off x="6772109" y="1468412"/>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TTL</a:t>
            </a:r>
          </a:p>
        </p:txBody>
      </p:sp>
      <p:sp>
        <p:nvSpPr>
          <p:cNvPr id="16" name="Text Box 15"/>
          <p:cNvSpPr txBox="1">
            <a:spLocks noChangeArrowheads="1"/>
          </p:cNvSpPr>
          <p:nvPr/>
        </p:nvSpPr>
        <p:spPr bwMode="auto">
          <a:xfrm>
            <a:off x="5576199" y="1468412"/>
            <a:ext cx="3834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TC</a:t>
            </a:r>
            <a:endParaRPr kumimoji="1" lang="zh-CN" altLang="en-US" sz="1200" dirty="0">
              <a:latin typeface="Montserrat" panose="00000500000000000000" pitchFamily="2" charset="0"/>
              <a:ea typeface="微软雅黑 Light" panose="020B0502040204020203" pitchFamily="34" charset="-122"/>
            </a:endParaRPr>
          </a:p>
        </p:txBody>
      </p:sp>
      <p:sp>
        <p:nvSpPr>
          <p:cNvPr id="17" name="Text Box 16"/>
          <p:cNvSpPr txBox="1">
            <a:spLocks noChangeArrowheads="1"/>
          </p:cNvSpPr>
          <p:nvPr/>
        </p:nvSpPr>
        <p:spPr bwMode="auto">
          <a:xfrm>
            <a:off x="6044670" y="1468412"/>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a:latin typeface="Montserrat" panose="00000500000000000000" pitchFamily="2" charset="0"/>
                <a:ea typeface="微软雅黑 Light" panose="020B0502040204020203" pitchFamily="34" charset="-122"/>
              </a:rPr>
              <a:t>S</a:t>
            </a:r>
          </a:p>
        </p:txBody>
      </p:sp>
      <p:sp>
        <p:nvSpPr>
          <p:cNvPr id="18" name="Text Box 17"/>
          <p:cNvSpPr txBox="1">
            <a:spLocks noChangeArrowheads="1"/>
          </p:cNvSpPr>
          <p:nvPr/>
        </p:nvSpPr>
        <p:spPr bwMode="auto">
          <a:xfrm>
            <a:off x="1621879" y="1142751"/>
            <a:ext cx="620971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          20                                                    3         1                     8</a:t>
            </a:r>
          </a:p>
        </p:txBody>
      </p:sp>
      <p:sp>
        <p:nvSpPr>
          <p:cNvPr id="19" name="Line 19"/>
          <p:cNvSpPr>
            <a:spLocks noChangeShapeType="1"/>
          </p:cNvSpPr>
          <p:nvPr/>
        </p:nvSpPr>
        <p:spPr bwMode="auto">
          <a:xfrm>
            <a:off x="3873131" y="2700172"/>
            <a:ext cx="0" cy="37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0" name="Line 21"/>
          <p:cNvSpPr>
            <a:spLocks noChangeShapeType="1"/>
          </p:cNvSpPr>
          <p:nvPr/>
        </p:nvSpPr>
        <p:spPr bwMode="auto">
          <a:xfrm>
            <a:off x="1621879" y="1820913"/>
            <a:ext cx="1174451" cy="47583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1" name="Line 22"/>
          <p:cNvSpPr>
            <a:spLocks noChangeShapeType="1"/>
          </p:cNvSpPr>
          <p:nvPr/>
        </p:nvSpPr>
        <p:spPr bwMode="auto">
          <a:xfrm>
            <a:off x="6771625" y="2713345"/>
            <a:ext cx="0" cy="37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 name="Line 33"/>
          <p:cNvSpPr>
            <a:spLocks noChangeShapeType="1"/>
          </p:cNvSpPr>
          <p:nvPr/>
        </p:nvSpPr>
        <p:spPr bwMode="auto">
          <a:xfrm>
            <a:off x="3870756" y="2964991"/>
            <a:ext cx="2900869" cy="0"/>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3" name="Text Box 34"/>
          <p:cNvSpPr txBox="1">
            <a:spLocks noChangeArrowheads="1"/>
          </p:cNvSpPr>
          <p:nvPr/>
        </p:nvSpPr>
        <p:spPr bwMode="auto">
          <a:xfrm>
            <a:off x="4821662" y="2733480"/>
            <a:ext cx="843501" cy="276999"/>
          </a:xfrm>
          <a:prstGeom prst="rect">
            <a:avLst/>
          </a:prstGeom>
          <a:noFill/>
          <a:ln>
            <a:noFill/>
          </a:ln>
          <a:effec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数据报</a:t>
            </a:r>
          </a:p>
        </p:txBody>
      </p:sp>
      <p:sp>
        <p:nvSpPr>
          <p:cNvPr id="27" name="Rectangle 8"/>
          <p:cNvSpPr>
            <a:spLocks noChangeArrowheads="1"/>
          </p:cNvSpPr>
          <p:nvPr/>
        </p:nvSpPr>
        <p:spPr bwMode="auto">
          <a:xfrm>
            <a:off x="2785701" y="2296744"/>
            <a:ext cx="1086766" cy="372816"/>
          </a:xfrm>
          <a:prstGeom prst="rect">
            <a:avLst/>
          </a:prstGeom>
          <a:solidFill>
            <a:srgbClr val="E46C0A"/>
          </a:solidFill>
          <a:ln w="9525">
            <a:solidFill>
              <a:schemeClr val="tx1"/>
            </a:solidFill>
            <a:miter lim="800000"/>
            <a:headEnd/>
            <a:tailEnd/>
          </a:ln>
          <a:effectLst/>
        </p:spPr>
        <p:txBody>
          <a:bodyPr wrap="none" anchor="ctr"/>
          <a:lstStyle/>
          <a:p>
            <a:pPr lvl="0" algn="just"/>
            <a:r>
              <a:rPr kumimoji="1" lang="en-US" altLang="zh-CN" sz="1200" dirty="0">
                <a:solidFill>
                  <a:schemeClr val="bg1"/>
                </a:solidFill>
                <a:latin typeface="Montserrat" panose="00000500000000000000" pitchFamily="2" charset="0"/>
                <a:ea typeface="微软雅黑 Light" panose="020B0502040204020203" pitchFamily="34" charset="-122"/>
              </a:rPr>
              <a:t>MPLS </a:t>
            </a:r>
            <a:r>
              <a:rPr kumimoji="1" lang="zh-CN" altLang="en-US" sz="1200" dirty="0">
                <a:solidFill>
                  <a:schemeClr val="bg1"/>
                </a:solidFill>
                <a:latin typeface="Montserrat" panose="00000500000000000000" pitchFamily="2" charset="0"/>
                <a:ea typeface="微软雅黑 Light" panose="020B0502040204020203" pitchFamily="34" charset="-122"/>
              </a:rPr>
              <a:t>首部</a:t>
            </a:r>
          </a:p>
        </p:txBody>
      </p:sp>
      <p:sp>
        <p:nvSpPr>
          <p:cNvPr id="28" name="Rectangle 8"/>
          <p:cNvSpPr>
            <a:spLocks noChangeArrowheads="1"/>
          </p:cNvSpPr>
          <p:nvPr/>
        </p:nvSpPr>
        <p:spPr bwMode="auto">
          <a:xfrm>
            <a:off x="3873131" y="2296744"/>
            <a:ext cx="703418" cy="372816"/>
          </a:xfrm>
          <a:prstGeom prst="rect">
            <a:avLst/>
          </a:prstGeom>
          <a:noFill/>
          <a:ln w="9525">
            <a:solidFill>
              <a:schemeClr val="tx1"/>
            </a:solidFill>
            <a:miter lim="800000"/>
            <a:headEnd/>
            <a:tailEnd/>
          </a:ln>
          <a:effectLst/>
        </p:spPr>
        <p:txBody>
          <a:bodyPr wrap="none" anchor="ctr"/>
          <a:lstStyle/>
          <a:p>
            <a:pPr lvl="0" algn="just"/>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首部</a:t>
            </a:r>
          </a:p>
        </p:txBody>
      </p:sp>
      <p:sp>
        <p:nvSpPr>
          <p:cNvPr id="29" name="Rectangle 8"/>
          <p:cNvSpPr>
            <a:spLocks noChangeArrowheads="1"/>
          </p:cNvSpPr>
          <p:nvPr/>
        </p:nvSpPr>
        <p:spPr bwMode="auto">
          <a:xfrm>
            <a:off x="4576549" y="2296744"/>
            <a:ext cx="2195075" cy="372816"/>
          </a:xfrm>
          <a:prstGeom prst="rect">
            <a:avLst/>
          </a:prstGeom>
          <a:noFill/>
          <a:ln w="9525">
            <a:solidFill>
              <a:schemeClr val="tx1"/>
            </a:solidFill>
            <a:miter lim="800000"/>
            <a:headEnd/>
            <a:tailEnd/>
          </a:ln>
          <a:effectLst/>
        </p:spPr>
        <p:txBody>
          <a:bodyPr wrap="none" anchor="ctr"/>
          <a:lstStyle/>
          <a:p>
            <a:pPr lvl="0" algn="just"/>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  据  部  分</a:t>
            </a:r>
          </a:p>
        </p:txBody>
      </p:sp>
      <p:sp>
        <p:nvSpPr>
          <p:cNvPr id="30" name="Rectangle 8"/>
          <p:cNvSpPr>
            <a:spLocks noChangeArrowheads="1"/>
          </p:cNvSpPr>
          <p:nvPr/>
        </p:nvSpPr>
        <p:spPr bwMode="auto">
          <a:xfrm>
            <a:off x="6771625" y="2296744"/>
            <a:ext cx="758609" cy="372816"/>
          </a:xfrm>
          <a:prstGeom prst="rect">
            <a:avLst/>
          </a:prstGeom>
          <a:noFill/>
          <a:ln w="9525">
            <a:solidFill>
              <a:schemeClr val="tx1"/>
            </a:solidFill>
            <a:miter lim="800000"/>
            <a:headEnd/>
            <a:tailEnd/>
          </a:ln>
          <a:effectLst/>
        </p:spPr>
        <p:txBody>
          <a:bodyPr wrap="none" anchor="ctr"/>
          <a:lstStyle/>
          <a:p>
            <a:pPr algn="just"/>
            <a:r>
              <a:rPr kumimoji="1" lang="zh-CN" altLang="en-US" sz="1200" dirty="0">
                <a:latin typeface="Montserrat" panose="00000500000000000000" pitchFamily="2" charset="0"/>
                <a:ea typeface="微软雅黑 Light" panose="020B0502040204020203" pitchFamily="34" charset="-122"/>
              </a:rPr>
              <a:t>帧尾部  </a:t>
            </a:r>
          </a:p>
        </p:txBody>
      </p:sp>
      <p:sp>
        <p:nvSpPr>
          <p:cNvPr id="7" name="标题 6">
            <a:extLst>
              <a:ext uri="{FF2B5EF4-FFF2-40B4-BE49-F238E27FC236}">
                <a16:creationId xmlns:a16="http://schemas.microsoft.com/office/drawing/2014/main" id="{5D3466B4-EB45-77CF-AFB2-AAF7A083FD5C}"/>
              </a:ext>
            </a:extLst>
          </p:cNvPr>
          <p:cNvSpPr>
            <a:spLocks noGrp="1"/>
          </p:cNvSpPr>
          <p:nvPr>
            <p:ph type="title"/>
          </p:nvPr>
        </p:nvSpPr>
        <p:spPr/>
        <p:txBody>
          <a:bodyPr/>
          <a:lstStyle/>
          <a:p>
            <a:r>
              <a:rPr lang="en-US" altLang="zh-CN" dirty="0"/>
              <a:t>MPLS </a:t>
            </a:r>
            <a:r>
              <a:rPr lang="zh-CN" altLang="en-US" dirty="0"/>
              <a:t>首部的格式</a:t>
            </a:r>
          </a:p>
        </p:txBody>
      </p:sp>
      <p:sp>
        <p:nvSpPr>
          <p:cNvPr id="36" name="矩形 35">
            <a:extLst>
              <a:ext uri="{FF2B5EF4-FFF2-40B4-BE49-F238E27FC236}">
                <a16:creationId xmlns:a16="http://schemas.microsoft.com/office/drawing/2014/main" id="{FFDAC93D-2DBA-F722-3827-7238DDE721E4}"/>
              </a:ext>
            </a:extLst>
          </p:cNvPr>
          <p:cNvSpPr/>
          <p:nvPr/>
        </p:nvSpPr>
        <p:spPr>
          <a:xfrm>
            <a:off x="561315" y="3457987"/>
            <a:ext cx="8021370" cy="383054"/>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标签值（占 </a:t>
            </a:r>
            <a:r>
              <a:rPr lang="en-US" altLang="zh-CN" sz="1600" dirty="0">
                <a:latin typeface="Montserrat" panose="00000500000000000000" pitchFamily="2" charset="0"/>
                <a:ea typeface="微软雅黑" pitchFamily="34" charset="-122"/>
              </a:rPr>
              <a:t>20 </a:t>
            </a:r>
            <a:r>
              <a:rPr lang="zh-CN" altLang="en-US" sz="1600" dirty="0">
                <a:latin typeface="Montserrat" panose="00000500000000000000" pitchFamily="2" charset="0"/>
                <a:ea typeface="微软雅黑" pitchFamily="34" charset="-122"/>
              </a:rPr>
              <a:t>位），可以同时容纳高达 </a:t>
            </a:r>
            <a:r>
              <a:rPr lang="en-US" altLang="zh-CN" sz="1600" dirty="0">
                <a:latin typeface="Montserrat" panose="00000500000000000000" pitchFamily="2" charset="0"/>
                <a:ea typeface="微软雅黑" pitchFamily="34" charset="-122"/>
              </a:rPr>
              <a:t>220 </a:t>
            </a:r>
            <a:r>
              <a:rPr lang="zh-CN" altLang="en-US" sz="1600" dirty="0">
                <a:latin typeface="Montserrat" panose="00000500000000000000" pitchFamily="2" charset="0"/>
                <a:ea typeface="微软雅黑" pitchFamily="34" charset="-122"/>
              </a:rPr>
              <a:t>个流（即 </a:t>
            </a:r>
            <a:r>
              <a:rPr lang="en-US" altLang="zh-CN" sz="1600" dirty="0">
                <a:latin typeface="Montserrat" panose="00000500000000000000" pitchFamily="2" charset="0"/>
                <a:ea typeface="微软雅黑" pitchFamily="34" charset="-122"/>
              </a:rPr>
              <a:t>1048576 </a:t>
            </a:r>
            <a:r>
              <a:rPr lang="zh-CN" altLang="en-US" sz="1600" dirty="0">
                <a:latin typeface="Montserrat" panose="00000500000000000000" pitchFamily="2" charset="0"/>
                <a:ea typeface="微软雅黑" pitchFamily="34" charset="-122"/>
              </a:rPr>
              <a:t>个流）</a:t>
            </a:r>
          </a:p>
        </p:txBody>
      </p:sp>
    </p:spTree>
    <p:extLst>
      <p:ext uri="{BB962C8B-B14F-4D97-AF65-F5344CB8AC3E}">
        <p14:creationId xmlns:p14="http://schemas.microsoft.com/office/powerpoint/2010/main" val="14149732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a:t>
              </a:r>
              <a:r>
                <a:rPr kumimoji="1" lang="en-US" altLang="zh-CN" sz="1400" b="1" dirty="0">
                  <a:solidFill>
                    <a:srgbClr val="0000FF"/>
                  </a:solidFill>
                  <a:latin typeface="微软雅黑" pitchFamily="34" charset="-122"/>
                  <a:ea typeface="微软雅黑" pitchFamily="34" charset="-122"/>
                </a:rPr>
                <a:t>3</a:t>
              </a:r>
              <a:r>
                <a:rPr kumimoji="1" lang="en-US" altLang="zh-CN" sz="1400" b="1" dirty="0">
                  <a:solidFill>
                    <a:srgbClr val="000099"/>
                  </a:solidFill>
                  <a:latin typeface="微软雅黑" pitchFamily="34" charset="-122"/>
                  <a:ea typeface="微软雅黑" pitchFamily="34" charset="-122"/>
                </a:rPr>
                <a:t>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5F237A42-0DEB-3925-8656-32C0F270F507}"/>
              </a:ext>
            </a:extLst>
          </p:cNvPr>
          <p:cNvSpPr>
            <a:spLocks noGrp="1"/>
          </p:cNvSpPr>
          <p:nvPr>
            <p:ph type="title"/>
          </p:nvPr>
        </p:nvSpPr>
        <p:spPr/>
        <p:txBody>
          <a:bodyPr/>
          <a:lstStyle/>
          <a:p>
            <a:r>
              <a:rPr lang="en-US" altLang="zh-CN" dirty="0"/>
              <a:t>MPLS </a:t>
            </a:r>
            <a:r>
              <a:rPr lang="zh-CN" altLang="en-US" dirty="0"/>
              <a:t>首部的格式</a:t>
            </a:r>
          </a:p>
        </p:txBody>
      </p:sp>
      <p:sp>
        <p:nvSpPr>
          <p:cNvPr id="36" name="矩形 35">
            <a:extLst>
              <a:ext uri="{FF2B5EF4-FFF2-40B4-BE49-F238E27FC236}">
                <a16:creationId xmlns:a16="http://schemas.microsoft.com/office/drawing/2014/main" id="{AF39FA8E-A35A-88CE-801C-99426573B96F}"/>
              </a:ext>
            </a:extLst>
          </p:cNvPr>
          <p:cNvSpPr/>
          <p:nvPr/>
        </p:nvSpPr>
        <p:spPr>
          <a:xfrm>
            <a:off x="561315" y="3457987"/>
            <a:ext cx="8021370" cy="383054"/>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(2) </a:t>
            </a:r>
            <a:r>
              <a:rPr lang="zh-CN" altLang="en-US" sz="1600" dirty="0">
                <a:latin typeface="Montserrat" panose="00000500000000000000" pitchFamily="2" charset="0"/>
                <a:ea typeface="微软雅黑" pitchFamily="34" charset="-122"/>
              </a:rPr>
              <a:t>试验（占 </a:t>
            </a:r>
            <a:r>
              <a:rPr lang="en-US" altLang="zh-CN" sz="1600" dirty="0">
                <a:latin typeface="Montserrat" panose="00000500000000000000" pitchFamily="2" charset="0"/>
                <a:ea typeface="微软雅黑" pitchFamily="34" charset="-122"/>
              </a:rPr>
              <a:t>3 </a:t>
            </a:r>
            <a:r>
              <a:rPr lang="zh-CN" altLang="en-US" sz="1600" dirty="0">
                <a:latin typeface="Montserrat" panose="00000500000000000000" pitchFamily="2" charset="0"/>
                <a:ea typeface="微软雅黑" pitchFamily="34" charset="-122"/>
              </a:rPr>
              <a:t>位）。保留用作试验</a:t>
            </a:r>
          </a:p>
        </p:txBody>
      </p:sp>
    </p:spTree>
    <p:extLst>
      <p:ext uri="{BB962C8B-B14F-4D97-AF65-F5344CB8AC3E}">
        <p14:creationId xmlns:p14="http://schemas.microsoft.com/office/powerpoint/2010/main" val="17290280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FF"/>
                  </a:solidFill>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a:t>
              </a:r>
              <a:r>
                <a:rPr kumimoji="1" lang="en-US" altLang="zh-CN" sz="1400" b="1" dirty="0">
                  <a:solidFill>
                    <a:srgbClr val="0000FF"/>
                  </a:solidFill>
                  <a:latin typeface="微软雅黑" pitchFamily="34" charset="-122"/>
                  <a:ea typeface="微软雅黑" pitchFamily="34" charset="-122"/>
                </a:rPr>
                <a:t>1</a:t>
              </a:r>
              <a:r>
                <a:rPr kumimoji="1" lang="en-US" altLang="zh-CN" sz="1400" b="1" dirty="0">
                  <a:solidFill>
                    <a:srgbClr val="000099"/>
                  </a:solidFill>
                  <a:latin typeface="微软雅黑" pitchFamily="34" charset="-122"/>
                  <a:ea typeface="微软雅黑" pitchFamily="34" charset="-122"/>
                </a:rPr>
                <a:t>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33" name="矩形 32"/>
          <p:cNvSpPr/>
          <p:nvPr/>
        </p:nvSpPr>
        <p:spPr>
          <a:xfrm>
            <a:off x="561315" y="3457987"/>
            <a:ext cx="8021370" cy="387735"/>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(3) </a:t>
            </a:r>
            <a:r>
              <a:rPr lang="zh-CN" altLang="en-US" sz="1600" dirty="0">
                <a:latin typeface="Montserrat" panose="00000500000000000000" pitchFamily="2" charset="0"/>
                <a:ea typeface="微软雅黑" pitchFamily="34" charset="-122"/>
              </a:rPr>
              <a:t>栈</a:t>
            </a:r>
            <a:r>
              <a:rPr lang="en-US" altLang="zh-CN" sz="1600" dirty="0">
                <a:latin typeface="Montserrat" panose="00000500000000000000" pitchFamily="2" charset="0"/>
                <a:ea typeface="微软雅黑" pitchFamily="34" charset="-122"/>
              </a:rPr>
              <a:t>S</a:t>
            </a:r>
            <a:r>
              <a:rPr lang="zh-CN" altLang="en-US" sz="1600" dirty="0">
                <a:latin typeface="Montserrat" panose="00000500000000000000" pitchFamily="2" charset="0"/>
                <a:ea typeface="微软雅黑" pitchFamily="34" charset="-122"/>
              </a:rPr>
              <a:t>（占 </a:t>
            </a: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位）。在有“标签栈”时使用</a:t>
            </a:r>
          </a:p>
        </p:txBody>
      </p:sp>
      <p:sp>
        <p:nvSpPr>
          <p:cNvPr id="7" name="标题 6">
            <a:extLst>
              <a:ext uri="{FF2B5EF4-FFF2-40B4-BE49-F238E27FC236}">
                <a16:creationId xmlns:a16="http://schemas.microsoft.com/office/drawing/2014/main" id="{D5883224-BBE6-D315-6773-D3163F3411B2}"/>
              </a:ext>
            </a:extLst>
          </p:cNvPr>
          <p:cNvSpPr>
            <a:spLocks noGrp="1"/>
          </p:cNvSpPr>
          <p:nvPr>
            <p:ph type="title"/>
          </p:nvPr>
        </p:nvSpPr>
        <p:spPr>
          <a:xfrm>
            <a:off x="486000" y="550723"/>
            <a:ext cx="8172000" cy="338554"/>
          </a:xfrm>
        </p:spPr>
        <p:txBody>
          <a:bodyPr/>
          <a:lstStyle/>
          <a:p>
            <a:r>
              <a:rPr lang="en-US" altLang="zh-CN" dirty="0"/>
              <a:t>MPLS </a:t>
            </a:r>
            <a:r>
              <a:rPr lang="zh-CN" altLang="en-US" dirty="0"/>
              <a:t>首部的格式</a:t>
            </a:r>
          </a:p>
        </p:txBody>
      </p:sp>
    </p:spTree>
    <p:extLst>
      <p:ext uri="{BB962C8B-B14F-4D97-AF65-F5344CB8AC3E}">
        <p14:creationId xmlns:p14="http://schemas.microsoft.com/office/powerpoint/2010/main" val="1735084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生存时间 </a:t>
              </a:r>
              <a:r>
                <a:rPr kumimoji="1" lang="en-US" altLang="zh-CN" sz="1400" b="1" dirty="0">
                  <a:solidFill>
                    <a:srgbClr val="0000FF"/>
                  </a:solidFill>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20                                            3      1             </a:t>
              </a:r>
              <a:r>
                <a:rPr kumimoji="1" lang="en-US" altLang="zh-CN" sz="1400" b="1" dirty="0">
                  <a:solidFill>
                    <a:srgbClr val="0000FF"/>
                  </a:solidFill>
                  <a:latin typeface="微软雅黑" pitchFamily="34" charset="-122"/>
                  <a:ea typeface="微软雅黑" pitchFamily="34" charset="-122"/>
                </a:rPr>
                <a:t>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33" name="矩形 32"/>
          <p:cNvSpPr/>
          <p:nvPr/>
        </p:nvSpPr>
        <p:spPr>
          <a:xfrm>
            <a:off x="561315" y="3751215"/>
            <a:ext cx="8021370" cy="387735"/>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(4) </a:t>
            </a:r>
            <a:r>
              <a:rPr lang="zh-CN" altLang="en-US" sz="1600" dirty="0">
                <a:latin typeface="Montserrat" panose="00000500000000000000" pitchFamily="2" charset="0"/>
                <a:ea typeface="微软雅黑" pitchFamily="34" charset="-122"/>
              </a:rPr>
              <a:t>生存时间 </a:t>
            </a:r>
            <a:r>
              <a:rPr lang="en-US" altLang="zh-CN" sz="1600" dirty="0">
                <a:latin typeface="Montserrat" panose="00000500000000000000" pitchFamily="2" charset="0"/>
                <a:ea typeface="微软雅黑" pitchFamily="34" charset="-122"/>
              </a:rPr>
              <a:t>TTL</a:t>
            </a:r>
            <a:r>
              <a:rPr lang="zh-CN" altLang="en-US" sz="1600" dirty="0">
                <a:latin typeface="Montserrat" panose="00000500000000000000" pitchFamily="2" charset="0"/>
                <a:ea typeface="微软雅黑" pitchFamily="34" charset="-122"/>
              </a:rPr>
              <a:t>（占 </a:t>
            </a:r>
            <a:r>
              <a:rPr lang="en-US" altLang="zh-CN" sz="1600" dirty="0">
                <a:latin typeface="Montserrat" panose="00000500000000000000" pitchFamily="2" charset="0"/>
                <a:ea typeface="微软雅黑" pitchFamily="34" charset="-122"/>
              </a:rPr>
              <a:t>8 </a:t>
            </a:r>
            <a:r>
              <a:rPr lang="zh-CN" altLang="en-US" sz="1600" dirty="0">
                <a:latin typeface="Montserrat" panose="00000500000000000000" pitchFamily="2" charset="0"/>
                <a:ea typeface="微软雅黑" pitchFamily="34" charset="-122"/>
              </a:rPr>
              <a:t>位），用来防止 </a:t>
            </a:r>
            <a:r>
              <a:rPr lang="en-US" altLang="zh-CN" sz="1600" dirty="0">
                <a:latin typeface="Montserrat" panose="00000500000000000000" pitchFamily="2" charset="0"/>
                <a:ea typeface="微软雅黑" pitchFamily="34" charset="-122"/>
              </a:rPr>
              <a:t>MPLS </a:t>
            </a:r>
            <a:r>
              <a:rPr lang="zh-CN" altLang="en-US" sz="1600" dirty="0">
                <a:latin typeface="Montserrat" panose="00000500000000000000" pitchFamily="2" charset="0"/>
                <a:ea typeface="微软雅黑" pitchFamily="34" charset="-122"/>
              </a:rPr>
              <a:t>分组在 </a:t>
            </a:r>
            <a:r>
              <a:rPr lang="en-US" altLang="zh-CN" sz="1600" dirty="0">
                <a:latin typeface="Montserrat" panose="00000500000000000000" pitchFamily="2" charset="0"/>
                <a:ea typeface="微软雅黑" pitchFamily="34" charset="-122"/>
              </a:rPr>
              <a:t>MPLS </a:t>
            </a:r>
            <a:r>
              <a:rPr lang="zh-CN" altLang="en-US" sz="1600" dirty="0">
                <a:latin typeface="Montserrat" panose="00000500000000000000" pitchFamily="2" charset="0"/>
                <a:ea typeface="微软雅黑" pitchFamily="34" charset="-122"/>
              </a:rPr>
              <a:t>域中兜圈子</a:t>
            </a:r>
          </a:p>
        </p:txBody>
      </p:sp>
      <p:sp>
        <p:nvSpPr>
          <p:cNvPr id="7" name="标题 6">
            <a:extLst>
              <a:ext uri="{FF2B5EF4-FFF2-40B4-BE49-F238E27FC236}">
                <a16:creationId xmlns:a16="http://schemas.microsoft.com/office/drawing/2014/main" id="{2DE76318-D9BD-9177-56DD-71310CC9935C}"/>
              </a:ext>
            </a:extLst>
          </p:cNvPr>
          <p:cNvSpPr>
            <a:spLocks noGrp="1"/>
          </p:cNvSpPr>
          <p:nvPr>
            <p:ph type="title"/>
          </p:nvPr>
        </p:nvSpPr>
        <p:spPr>
          <a:xfrm>
            <a:off x="486000" y="550723"/>
            <a:ext cx="8172000" cy="338554"/>
          </a:xfrm>
        </p:spPr>
        <p:txBody>
          <a:bodyPr/>
          <a:lstStyle/>
          <a:p>
            <a:r>
              <a:rPr lang="en-US" altLang="zh-CN" dirty="0"/>
              <a:t>MPLS </a:t>
            </a:r>
            <a:r>
              <a:rPr lang="zh-CN" altLang="en-US" dirty="0"/>
              <a:t>首部的格式</a:t>
            </a:r>
          </a:p>
        </p:txBody>
      </p:sp>
    </p:spTree>
    <p:extLst>
      <p:ext uri="{BB962C8B-B14F-4D97-AF65-F5344CB8AC3E}">
        <p14:creationId xmlns:p14="http://schemas.microsoft.com/office/powerpoint/2010/main" val="38878653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BD9F427-D469-02C5-F71E-81FA11ABCC02}"/>
              </a:ext>
            </a:extLst>
          </p:cNvPr>
          <p:cNvSpPr>
            <a:spLocks noGrp="1"/>
          </p:cNvSpPr>
          <p:nvPr>
            <p:ph type="title"/>
          </p:nvPr>
        </p:nvSpPr>
        <p:spPr>
          <a:xfrm>
            <a:off x="486000" y="550723"/>
            <a:ext cx="8172000" cy="338554"/>
          </a:xfrm>
        </p:spPr>
        <p:txBody>
          <a:bodyPr/>
          <a:lstStyle/>
          <a:p>
            <a:r>
              <a:rPr lang="en-US" altLang="zh-CN" dirty="0"/>
              <a:t>4.9.3  </a:t>
            </a:r>
            <a:r>
              <a:rPr lang="zh-CN" altLang="en-US" dirty="0"/>
              <a:t>新一代的 </a:t>
            </a:r>
            <a:r>
              <a:rPr lang="en-US" altLang="zh-CN" dirty="0"/>
              <a:t>MPLS</a:t>
            </a:r>
            <a:endParaRPr lang="zh-CN" altLang="en-US" dirty="0"/>
          </a:p>
        </p:txBody>
      </p:sp>
      <p:sp>
        <p:nvSpPr>
          <p:cNvPr id="6" name="内容占位符 5">
            <a:extLst>
              <a:ext uri="{FF2B5EF4-FFF2-40B4-BE49-F238E27FC236}">
                <a16:creationId xmlns:a16="http://schemas.microsoft.com/office/drawing/2014/main" id="{CE521168-5210-6293-69B4-FAB9E170E0ED}"/>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存在的问题：</a:t>
            </a:r>
            <a:endParaRPr lang="en-US" altLang="zh-CN" dirty="0"/>
          </a:p>
          <a:p>
            <a:pPr lvl="1"/>
            <a:r>
              <a:rPr lang="zh-CN" altLang="en-US" dirty="0"/>
              <a:t>控制协议（如 </a:t>
            </a:r>
            <a:r>
              <a:rPr lang="en-US" altLang="zh-CN" dirty="0"/>
              <a:t>LDP</a:t>
            </a:r>
            <a:r>
              <a:rPr lang="zh-CN" altLang="en-US" dirty="0"/>
              <a:t>）比较复杂，扩展性差，运行维护较困难</a:t>
            </a:r>
            <a:endParaRPr lang="en-US" altLang="zh-CN" dirty="0"/>
          </a:p>
          <a:p>
            <a:pPr lvl="1"/>
            <a:r>
              <a:rPr lang="zh-CN" altLang="en-US" dirty="0"/>
              <a:t>协议 </a:t>
            </a:r>
            <a:r>
              <a:rPr lang="en-US" altLang="zh-CN" dirty="0"/>
              <a:t>LDP </a:t>
            </a:r>
            <a:r>
              <a:rPr lang="zh-CN" altLang="en-US" dirty="0"/>
              <a:t>无法做到基于时延或带宽等要求的流量调度</a:t>
            </a:r>
            <a:endParaRPr lang="en-US" altLang="zh-CN" dirty="0"/>
          </a:p>
          <a:p>
            <a:pPr lvl="1"/>
            <a:r>
              <a:rPr lang="zh-CN" altLang="en-US" dirty="0"/>
              <a:t>为灵活地选择流量的转发路径，还需要再使用资源预留协议 </a:t>
            </a:r>
            <a:r>
              <a:rPr lang="en-US" altLang="zh-CN" dirty="0"/>
              <a:t>RSVP</a:t>
            </a:r>
          </a:p>
          <a:p>
            <a:r>
              <a:rPr lang="zh-CN" altLang="en-US" dirty="0"/>
              <a:t>但是：</a:t>
            </a:r>
            <a:endParaRPr lang="en-US" altLang="zh-CN" dirty="0"/>
          </a:p>
          <a:p>
            <a:pPr lvl="1"/>
            <a:r>
              <a:rPr lang="en-US" altLang="zh-CN" dirty="0"/>
              <a:t>RSVP </a:t>
            </a:r>
            <a:r>
              <a:rPr lang="zh-CN" altLang="en-US" dirty="0"/>
              <a:t>的信令非常复杂，每个节点都要维护一个庞大的链路信息数据库</a:t>
            </a:r>
            <a:endParaRPr lang="en-US" altLang="zh-CN" dirty="0"/>
          </a:p>
          <a:p>
            <a:pPr lvl="1"/>
            <a:r>
              <a:rPr lang="en-US" altLang="zh-CN" dirty="0"/>
              <a:t>RSVP </a:t>
            </a:r>
            <a:r>
              <a:rPr lang="zh-CN" altLang="en-US" dirty="0"/>
              <a:t>只会选择一条最优路径，不支持等价多路径路由选择 </a:t>
            </a:r>
            <a:r>
              <a:rPr lang="en-US" altLang="zh-CN" dirty="0"/>
              <a:t>ECMP (Equal-Cost Multipath Routing)</a:t>
            </a:r>
            <a:r>
              <a:rPr lang="zh-CN" altLang="en-US" dirty="0"/>
              <a:t> </a:t>
            </a:r>
            <a:endParaRPr lang="en-US" altLang="zh-CN" dirty="0"/>
          </a:p>
          <a:p>
            <a:endParaRPr lang="zh-CN" altLang="en-US" dirty="0"/>
          </a:p>
        </p:txBody>
      </p:sp>
    </p:spTree>
    <p:extLst>
      <p:ext uri="{BB962C8B-B14F-4D97-AF65-F5344CB8AC3E}">
        <p14:creationId xmlns:p14="http://schemas.microsoft.com/office/powerpoint/2010/main" val="24564655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9C4A673-4C4E-9620-2D92-89C45B6B7BB8}"/>
              </a:ext>
            </a:extLst>
          </p:cNvPr>
          <p:cNvSpPr>
            <a:spLocks noGrp="1"/>
          </p:cNvSpPr>
          <p:nvPr>
            <p:ph type="title"/>
          </p:nvPr>
        </p:nvSpPr>
        <p:spPr>
          <a:xfrm>
            <a:off x="486000" y="550723"/>
            <a:ext cx="8172000" cy="338554"/>
          </a:xfrm>
        </p:spPr>
        <p:txBody>
          <a:bodyPr/>
          <a:lstStyle/>
          <a:p>
            <a:r>
              <a:rPr lang="zh-CN" altLang="en-US" dirty="0"/>
              <a:t>段路由选择协议 </a:t>
            </a:r>
            <a:r>
              <a:rPr lang="en-US" altLang="zh-CN" dirty="0"/>
              <a:t>SR </a:t>
            </a:r>
            <a:endParaRPr lang="zh-CN" altLang="en-US" dirty="0"/>
          </a:p>
        </p:txBody>
      </p:sp>
      <p:sp>
        <p:nvSpPr>
          <p:cNvPr id="3" name="内容占位符 2">
            <a:extLst>
              <a:ext uri="{FF2B5EF4-FFF2-40B4-BE49-F238E27FC236}">
                <a16:creationId xmlns:a16="http://schemas.microsoft.com/office/drawing/2014/main" id="{B298C34C-22A5-8718-AC3B-6639EEF1A68B}"/>
              </a:ext>
            </a:extLst>
          </p:cNvPr>
          <p:cNvSpPr>
            <a:spLocks noGrp="1"/>
          </p:cNvSpPr>
          <p:nvPr>
            <p:ph sz="quarter" idx="11"/>
          </p:nvPr>
        </p:nvSpPr>
        <p:spPr>
          <a:xfrm>
            <a:off x="486000" y="900000"/>
            <a:ext cx="8172000" cy="3703500"/>
          </a:xfrm>
        </p:spPr>
        <p:txBody>
          <a:bodyPr/>
          <a:lstStyle/>
          <a:p>
            <a:r>
              <a:rPr lang="zh-CN" altLang="en-US" dirty="0"/>
              <a:t>新一代的 </a:t>
            </a:r>
            <a:r>
              <a:rPr lang="en-US" altLang="zh-CN" dirty="0"/>
              <a:t>MPLS</a:t>
            </a:r>
            <a:r>
              <a:rPr lang="zh-CN" altLang="en-US" dirty="0"/>
              <a:t>：段路由选择协议 </a:t>
            </a:r>
            <a:r>
              <a:rPr lang="en-US" altLang="zh-CN" dirty="0"/>
              <a:t>SR</a:t>
            </a:r>
            <a:r>
              <a:rPr lang="zh-CN" altLang="en-US" dirty="0"/>
              <a:t> </a:t>
            </a:r>
            <a:r>
              <a:rPr lang="en-US" altLang="zh-CN" dirty="0"/>
              <a:t>(Segment Routing)</a:t>
            </a:r>
          </a:p>
          <a:p>
            <a:r>
              <a:rPr lang="zh-CN" altLang="en-US" dirty="0"/>
              <a:t>段 </a:t>
            </a:r>
            <a:r>
              <a:rPr lang="en-US" altLang="zh-CN" dirty="0"/>
              <a:t>(segment)</a:t>
            </a:r>
            <a:r>
              <a:rPr lang="zh-CN" altLang="en-US" dirty="0"/>
              <a:t>：标签，是转发指令的一种标识符</a:t>
            </a:r>
            <a:endParaRPr lang="en-US" altLang="zh-CN" dirty="0"/>
          </a:p>
          <a:p>
            <a:r>
              <a:rPr lang="en-US" altLang="zh-CN" dirty="0"/>
              <a:t>SR </a:t>
            </a:r>
            <a:r>
              <a:rPr lang="zh-CN" altLang="en-US" dirty="0"/>
              <a:t>工作原理：</a:t>
            </a:r>
            <a:endParaRPr lang="en-US" altLang="zh-CN" dirty="0"/>
          </a:p>
          <a:p>
            <a:pPr lvl="1"/>
            <a:r>
              <a:rPr lang="zh-CN" altLang="en-US" dirty="0"/>
              <a:t>基于标签交换，但不需要使用协议 </a:t>
            </a:r>
            <a:r>
              <a:rPr lang="en-US" altLang="zh-CN" dirty="0"/>
              <a:t>LDP</a:t>
            </a:r>
          </a:p>
          <a:p>
            <a:pPr lvl="1"/>
            <a:r>
              <a:rPr lang="zh-CN" altLang="en-US" dirty="0"/>
              <a:t>由源节点为发送的报文指定路径，并将路径转换成有序的段列表 </a:t>
            </a:r>
            <a:r>
              <a:rPr lang="en-US" altLang="zh-CN" dirty="0"/>
              <a:t>(Segment List)</a:t>
            </a:r>
            <a:r>
              <a:rPr lang="zh-CN" altLang="en-US" dirty="0"/>
              <a:t>，即 </a:t>
            </a:r>
            <a:r>
              <a:rPr lang="en-US" altLang="zh-CN" dirty="0"/>
              <a:t>MPLS </a:t>
            </a:r>
            <a:r>
              <a:rPr lang="zh-CN" altLang="en-US" dirty="0"/>
              <a:t>标签栈，它被封装在分组首部</a:t>
            </a:r>
            <a:endParaRPr lang="en-US" altLang="zh-CN" dirty="0"/>
          </a:p>
          <a:p>
            <a:pPr lvl="1"/>
            <a:r>
              <a:rPr lang="zh-CN" altLang="en-US" dirty="0"/>
              <a:t>网络中的其他节点就执行首部中的指令（即标签）进行转发</a:t>
            </a:r>
            <a:endParaRPr lang="en-US" altLang="zh-CN" dirty="0"/>
          </a:p>
          <a:p>
            <a:endParaRPr lang="zh-CN" altLang="en-US" dirty="0"/>
          </a:p>
        </p:txBody>
      </p:sp>
    </p:spTree>
    <p:extLst>
      <p:ext uri="{BB962C8B-B14F-4D97-AF65-F5344CB8AC3E}">
        <p14:creationId xmlns:p14="http://schemas.microsoft.com/office/powerpoint/2010/main" val="973399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9D010235-EE26-C60F-9EF1-FD6187D5E385}"/>
              </a:ext>
            </a:extLst>
          </p:cNvPr>
          <p:cNvSpPr>
            <a:spLocks noGrp="1"/>
          </p:cNvSpPr>
          <p:nvPr>
            <p:ph type="title"/>
          </p:nvPr>
        </p:nvSpPr>
        <p:spPr>
          <a:xfrm>
            <a:off x="486000" y="550723"/>
            <a:ext cx="8172000" cy="338554"/>
          </a:xfrm>
        </p:spPr>
        <p:txBody>
          <a:bodyPr/>
          <a:lstStyle/>
          <a:p>
            <a:r>
              <a:rPr lang="zh-CN" altLang="en-US" dirty="0"/>
              <a:t>控制器</a:t>
            </a:r>
          </a:p>
        </p:txBody>
      </p:sp>
      <p:sp>
        <p:nvSpPr>
          <p:cNvPr id="7" name="内容占位符 6">
            <a:extLst>
              <a:ext uri="{FF2B5EF4-FFF2-40B4-BE49-F238E27FC236}">
                <a16:creationId xmlns:a16="http://schemas.microsoft.com/office/drawing/2014/main" id="{C966A802-4A4D-DF49-5104-9280F624B5DE}"/>
              </a:ext>
            </a:extLst>
          </p:cNvPr>
          <p:cNvSpPr>
            <a:spLocks noGrp="1"/>
          </p:cNvSpPr>
          <p:nvPr>
            <p:ph sz="quarter" idx="11"/>
          </p:nvPr>
        </p:nvSpPr>
        <p:spPr>
          <a:xfrm>
            <a:off x="486000" y="900000"/>
            <a:ext cx="8172000" cy="3703500"/>
          </a:xfrm>
        </p:spPr>
        <p:txBody>
          <a:bodyPr/>
          <a:lstStyle/>
          <a:p>
            <a:r>
              <a:rPr lang="zh-CN" altLang="en-US" dirty="0"/>
              <a:t>即 </a:t>
            </a:r>
            <a:r>
              <a:rPr lang="en-US" altLang="zh-CN" dirty="0"/>
              <a:t>SDN </a:t>
            </a:r>
            <a:r>
              <a:rPr lang="zh-CN" altLang="en-US" dirty="0"/>
              <a:t>控制器。负责：</a:t>
            </a:r>
          </a:p>
          <a:p>
            <a:pPr lvl="1"/>
            <a:r>
              <a:rPr lang="zh-CN" altLang="en-US" dirty="0"/>
              <a:t>收集并掌握全网的拓扑信息和链路状态信息，计算出分组应传送的整个路径</a:t>
            </a:r>
            <a:endParaRPr lang="en-US" altLang="zh-CN" dirty="0"/>
          </a:p>
          <a:p>
            <a:pPr lvl="1"/>
            <a:r>
              <a:rPr lang="zh-CN" altLang="en-US" dirty="0"/>
              <a:t>给分组分配 </a:t>
            </a:r>
            <a:r>
              <a:rPr lang="en-US" altLang="zh-CN" dirty="0"/>
              <a:t>SR </a:t>
            </a:r>
            <a:r>
              <a:rPr lang="zh-CN" altLang="en-US" dirty="0"/>
              <a:t>标签，指明分组从源点到终点的路径</a:t>
            </a:r>
            <a:endParaRPr lang="en-US" altLang="zh-CN" dirty="0"/>
          </a:p>
          <a:p>
            <a:r>
              <a:rPr lang="en-US" altLang="zh-CN" dirty="0"/>
              <a:t>SR </a:t>
            </a:r>
            <a:r>
              <a:rPr lang="zh-CN" altLang="en-US" dirty="0"/>
              <a:t>向 </a:t>
            </a:r>
            <a:r>
              <a:rPr lang="en-US" altLang="zh-CN" dirty="0"/>
              <a:t>IPv6 </a:t>
            </a:r>
            <a:r>
              <a:rPr lang="zh-CN" altLang="en-US" dirty="0"/>
              <a:t>演进，这就是 </a:t>
            </a:r>
            <a:r>
              <a:rPr lang="en-US" altLang="zh-CN" dirty="0"/>
              <a:t>SRv6</a:t>
            </a:r>
          </a:p>
          <a:p>
            <a:r>
              <a:rPr lang="en-US" altLang="zh-CN" dirty="0"/>
              <a:t>SRv6 </a:t>
            </a:r>
            <a:r>
              <a:rPr lang="zh-CN" altLang="en-US" dirty="0"/>
              <a:t>直接利用 </a:t>
            </a:r>
            <a:r>
              <a:rPr lang="en-US" altLang="zh-CN" dirty="0"/>
              <a:t>IPv6 </a:t>
            </a:r>
            <a:r>
              <a:rPr lang="zh-CN" altLang="en-US" dirty="0"/>
              <a:t>字段作为标签寻址 </a:t>
            </a:r>
            <a:r>
              <a:rPr lang="en-US" altLang="zh-CN" dirty="0"/>
              <a:t>(Locator)</a:t>
            </a:r>
            <a:endParaRPr lang="zh-CN" altLang="en-US" dirty="0"/>
          </a:p>
          <a:p>
            <a:endParaRPr lang="en-US" altLang="zh-CN" dirty="0"/>
          </a:p>
          <a:p>
            <a:endParaRPr lang="zh-CN" altLang="en-US" dirty="0"/>
          </a:p>
        </p:txBody>
      </p:sp>
    </p:spTree>
    <p:extLst>
      <p:ext uri="{BB962C8B-B14F-4D97-AF65-F5344CB8AC3E}">
        <p14:creationId xmlns:p14="http://schemas.microsoft.com/office/powerpoint/2010/main" val="16232816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占位符 17">
            <a:extLst>
              <a:ext uri="{FF2B5EF4-FFF2-40B4-BE49-F238E27FC236}">
                <a16:creationId xmlns:a16="http://schemas.microsoft.com/office/drawing/2014/main" id="{69F581E4-B529-8BA0-DECC-532B607E2757}"/>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BFCA0809-883B-4CF0-2177-3A072508BEF5}"/>
              </a:ext>
            </a:extLst>
          </p:cNvPr>
          <p:cNvSpPr>
            <a:spLocks noGrp="1"/>
          </p:cNvSpPr>
          <p:nvPr>
            <p:ph type="title"/>
          </p:nvPr>
        </p:nvSpPr>
        <p:spPr>
          <a:xfrm>
            <a:off x="628650" y="1790739"/>
            <a:ext cx="4320000" cy="553998"/>
          </a:xfrm>
        </p:spPr>
        <p:txBody>
          <a:bodyPr/>
          <a:lstStyle/>
          <a:p>
            <a:r>
              <a:rPr lang="fr-FR" altLang="zh-CN" dirty="0"/>
              <a:t>4.10</a:t>
            </a:r>
            <a:r>
              <a:rPr lang="zh-CN" altLang="en-US" dirty="0"/>
              <a:t> </a:t>
            </a:r>
            <a:r>
              <a:rPr lang="en-US" altLang="zh-CN" dirty="0"/>
              <a:t>SDN</a:t>
            </a:r>
            <a:endParaRPr lang="zh-CN" altLang="en-US" dirty="0"/>
          </a:p>
        </p:txBody>
      </p:sp>
      <p:sp>
        <p:nvSpPr>
          <p:cNvPr id="6" name="文本占位符 5">
            <a:extLst>
              <a:ext uri="{FF2B5EF4-FFF2-40B4-BE49-F238E27FC236}">
                <a16:creationId xmlns:a16="http://schemas.microsoft.com/office/drawing/2014/main" id="{D656AD38-CFEF-0F23-F4F4-1A441D80C692}"/>
              </a:ext>
            </a:extLst>
          </p:cNvPr>
          <p:cNvSpPr>
            <a:spLocks noGrp="1"/>
          </p:cNvSpPr>
          <p:nvPr>
            <p:ph type="body" sz="quarter" idx="11"/>
          </p:nvPr>
        </p:nvSpPr>
        <p:spPr>
          <a:xfrm>
            <a:off x="628100" y="2344736"/>
            <a:ext cx="4320000" cy="1870075"/>
          </a:xfrm>
        </p:spPr>
        <p:txBody>
          <a:bodyPr/>
          <a:lstStyle/>
          <a:p>
            <a:r>
              <a:rPr lang="zh-CN" altLang="en-US" dirty="0"/>
              <a:t>软件定义网络</a:t>
            </a:r>
            <a:endParaRPr lang="en-US" altLang="zh-CN" dirty="0"/>
          </a:p>
          <a:p>
            <a:r>
              <a:rPr lang="en-US" altLang="zh-CN" dirty="0"/>
              <a:t>· SDN </a:t>
            </a:r>
            <a:r>
              <a:rPr lang="zh-CN" altLang="en-US" dirty="0"/>
              <a:t>与协议 </a:t>
            </a:r>
            <a:r>
              <a:rPr lang="en-US" altLang="zh-CN" dirty="0"/>
              <a:t>OpenFlow</a:t>
            </a:r>
            <a:endParaRPr lang="zh-CN" altLang="en-US" dirty="0"/>
          </a:p>
          <a:p>
            <a:r>
              <a:rPr lang="en-US" altLang="zh-CN" dirty="0"/>
              <a:t>· SDN </a:t>
            </a:r>
            <a:r>
              <a:rPr lang="zh-CN" altLang="en-US" dirty="0"/>
              <a:t>体系结构</a:t>
            </a:r>
            <a:endParaRPr lang="en-US" altLang="zh-CN" dirty="0"/>
          </a:p>
          <a:p>
            <a:r>
              <a:rPr lang="en-US" altLang="zh-CN" dirty="0"/>
              <a:t>· SDN </a:t>
            </a:r>
            <a:r>
              <a:rPr lang="zh-CN" altLang="en-US" dirty="0"/>
              <a:t>控制器</a:t>
            </a:r>
            <a:endParaRPr lang="en-US" altLang="zh-CN" dirty="0"/>
          </a:p>
          <a:p>
            <a:endParaRPr lang="zh-CN" altLang="en-US" dirty="0"/>
          </a:p>
        </p:txBody>
      </p:sp>
    </p:spTree>
    <p:extLst>
      <p:ext uri="{BB962C8B-B14F-4D97-AF65-F5344CB8AC3E}">
        <p14:creationId xmlns:p14="http://schemas.microsoft.com/office/powerpoint/2010/main" val="21457250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AC9C574-9A27-2DFF-B44E-5C6F7F246F9D}"/>
              </a:ext>
            </a:extLst>
          </p:cNvPr>
          <p:cNvSpPr>
            <a:spLocks noGrp="1"/>
          </p:cNvSpPr>
          <p:nvPr>
            <p:ph type="title"/>
          </p:nvPr>
        </p:nvSpPr>
        <p:spPr>
          <a:xfrm>
            <a:off x="486000" y="550723"/>
            <a:ext cx="8172000" cy="338554"/>
          </a:xfrm>
        </p:spPr>
        <p:txBody>
          <a:bodyPr/>
          <a:lstStyle/>
          <a:p>
            <a:r>
              <a:rPr lang="en-US" altLang="zh-CN" dirty="0"/>
              <a:t>4.10   </a:t>
            </a:r>
            <a:r>
              <a:rPr lang="zh-CN" altLang="en-US" dirty="0"/>
              <a:t>软件定义网络 </a:t>
            </a:r>
            <a:r>
              <a:rPr lang="en-US" altLang="zh-CN" dirty="0"/>
              <a:t>SDN </a:t>
            </a:r>
            <a:r>
              <a:rPr lang="zh-CN" altLang="en-US" dirty="0"/>
              <a:t>简介</a:t>
            </a:r>
          </a:p>
        </p:txBody>
      </p:sp>
      <p:sp>
        <p:nvSpPr>
          <p:cNvPr id="3" name="内容占位符 2">
            <a:extLst>
              <a:ext uri="{FF2B5EF4-FFF2-40B4-BE49-F238E27FC236}">
                <a16:creationId xmlns:a16="http://schemas.microsoft.com/office/drawing/2014/main" id="{E941C5F4-9542-B189-1180-6D1A89EF9367}"/>
              </a:ext>
            </a:extLst>
          </p:cNvPr>
          <p:cNvSpPr>
            <a:spLocks noGrp="1"/>
          </p:cNvSpPr>
          <p:nvPr>
            <p:ph sz="quarter" idx="11"/>
          </p:nvPr>
        </p:nvSpPr>
        <p:spPr>
          <a:xfrm>
            <a:off x="486000" y="900000"/>
            <a:ext cx="8172000" cy="3703500"/>
          </a:xfrm>
        </p:spPr>
        <p:txBody>
          <a:bodyPr/>
          <a:lstStyle/>
          <a:p>
            <a:r>
              <a:rPr lang="zh-CN" altLang="en-US" dirty="0"/>
              <a:t>软件定义网络 </a:t>
            </a:r>
            <a:r>
              <a:rPr lang="en-US" altLang="zh-CN" dirty="0"/>
              <a:t>SDN</a:t>
            </a:r>
            <a:r>
              <a:rPr lang="zh-CN" altLang="en-US" dirty="0"/>
              <a:t>（</a:t>
            </a:r>
            <a:r>
              <a:rPr lang="en-US" altLang="zh-CN" dirty="0"/>
              <a:t>Software Defined Network</a:t>
            </a:r>
            <a:r>
              <a:rPr lang="zh-CN" altLang="en-US" dirty="0"/>
              <a:t>）由斯坦福大学</a:t>
            </a:r>
            <a:r>
              <a:rPr lang="en-US" altLang="zh-CN" dirty="0"/>
              <a:t>N. McKeown </a:t>
            </a:r>
            <a:r>
              <a:rPr lang="zh-CN" altLang="en-US" dirty="0"/>
              <a:t>于 </a:t>
            </a:r>
            <a:r>
              <a:rPr lang="en-US" altLang="zh-CN" dirty="0"/>
              <a:t>2009 </a:t>
            </a:r>
            <a:r>
              <a:rPr lang="zh-CN" altLang="en-US" dirty="0"/>
              <a:t>年首先提出</a:t>
            </a:r>
            <a:endParaRPr lang="en-US" altLang="zh-CN" dirty="0"/>
          </a:p>
          <a:p>
            <a:r>
              <a:rPr lang="zh-CN" altLang="en-US" dirty="0"/>
              <a:t>谷歌于 </a:t>
            </a:r>
            <a:r>
              <a:rPr lang="en-US" altLang="zh-CN" dirty="0"/>
              <a:t>2010 ~ 2012 </a:t>
            </a:r>
            <a:r>
              <a:rPr lang="zh-CN" altLang="en-US" dirty="0"/>
              <a:t>年的数据中心网络 </a:t>
            </a:r>
            <a:r>
              <a:rPr lang="en-US" altLang="zh-CN" dirty="0"/>
              <a:t>B4 </a:t>
            </a:r>
            <a:r>
              <a:rPr lang="zh-CN" altLang="en-US" dirty="0"/>
              <a:t>进行了运行验证</a:t>
            </a:r>
            <a:endParaRPr lang="en-US" altLang="zh-CN" dirty="0"/>
          </a:p>
          <a:p>
            <a:r>
              <a:rPr lang="zh-CN" altLang="en-US" dirty="0"/>
              <a:t>优点：</a:t>
            </a:r>
            <a:endParaRPr lang="en-US" altLang="zh-CN" dirty="0"/>
          </a:p>
          <a:p>
            <a:pPr lvl="1"/>
            <a:r>
              <a:rPr lang="zh-CN" altLang="en-US" dirty="0"/>
              <a:t>提高网络带宽利用率</a:t>
            </a:r>
            <a:endParaRPr lang="en-US" altLang="zh-CN" dirty="0"/>
          </a:p>
          <a:p>
            <a:pPr lvl="1"/>
            <a:r>
              <a:rPr lang="zh-CN" altLang="en-US" dirty="0"/>
              <a:t>网络运行更加稳定</a:t>
            </a:r>
            <a:endParaRPr lang="en-US" altLang="zh-CN" dirty="0"/>
          </a:p>
          <a:p>
            <a:pPr lvl="1"/>
            <a:r>
              <a:rPr lang="zh-CN" altLang="en-US" dirty="0"/>
              <a:t>管理更加高效简化</a:t>
            </a:r>
            <a:endParaRPr lang="en-US" altLang="zh-CN" dirty="0"/>
          </a:p>
          <a:p>
            <a:pPr lvl="1"/>
            <a:r>
              <a:rPr lang="zh-CN" altLang="en-US" dirty="0"/>
              <a:t>运行费用明显降低</a:t>
            </a:r>
            <a:endParaRPr lang="en-US" altLang="zh-CN" dirty="0"/>
          </a:p>
          <a:p>
            <a:endParaRPr lang="zh-CN" altLang="en-US" dirty="0"/>
          </a:p>
        </p:txBody>
      </p:sp>
    </p:spTree>
    <p:extLst>
      <p:ext uri="{BB962C8B-B14F-4D97-AF65-F5344CB8AC3E}">
        <p14:creationId xmlns:p14="http://schemas.microsoft.com/office/powerpoint/2010/main" val="40407096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图示 8"/>
          <p:cNvGraphicFramePr/>
          <p:nvPr>
            <p:extLst>
              <p:ext uri="{D42A27DB-BD31-4B8C-83A1-F6EECF244321}">
                <p14:modId xmlns:p14="http://schemas.microsoft.com/office/powerpoint/2010/main" val="407750988"/>
              </p:ext>
            </p:extLst>
          </p:nvPr>
        </p:nvGraphicFramePr>
        <p:xfrm>
          <a:off x="553229" y="1023308"/>
          <a:ext cx="5105643" cy="359395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矩形 1"/>
          <p:cNvSpPr/>
          <p:nvPr/>
        </p:nvSpPr>
        <p:spPr>
          <a:xfrm>
            <a:off x="5793163" y="3169636"/>
            <a:ext cx="2677191" cy="1118255"/>
          </a:xfrm>
          <a:prstGeom prst="rect">
            <a:avLst/>
          </a:prstGeom>
          <a:solidFill>
            <a:schemeClr val="accent6">
              <a:lumMod val="60000"/>
              <a:lumOff val="40000"/>
            </a:schemeClr>
          </a:solidFill>
        </p:spPr>
        <p:txBody>
          <a:bodyPr wrap="square">
            <a:spAutoFit/>
          </a:bodyPr>
          <a:lstStyle/>
          <a:p>
            <a:pPr>
              <a:lnSpc>
                <a:spcPts val="2000"/>
              </a:lnSpc>
            </a:pPr>
            <a:r>
              <a:rPr lang="zh-CN" altLang="en-US" sz="1400" dirty="0">
                <a:solidFill>
                  <a:srgbClr val="0000FF"/>
                </a:solidFill>
                <a:latin typeface="微软雅黑" panose="020B0503020204020204" pitchFamily="34" charset="-122"/>
                <a:ea typeface="微软雅黑" panose="020B0503020204020204" pitchFamily="34" charset="-122"/>
              </a:rPr>
              <a:t>注意：</a:t>
            </a:r>
            <a:endParaRPr lang="en-US" altLang="zh-CN" sz="1400" dirty="0">
              <a:solidFill>
                <a:srgbClr val="0000FF"/>
              </a:solidFill>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dirty="0">
                <a:latin typeface="微软雅黑" panose="020B0503020204020204" pitchFamily="34" charset="-122"/>
                <a:ea typeface="微软雅黑" panose="020B0503020204020204" pitchFamily="34" charset="-122"/>
              </a:rPr>
              <a:t>SDN </a:t>
            </a:r>
            <a:r>
              <a:rPr lang="zh-CN" altLang="en-US" sz="1400" dirty="0">
                <a:latin typeface="微软雅黑" panose="020B0503020204020204" pitchFamily="34" charset="-122"/>
                <a:ea typeface="微软雅黑" panose="020B0503020204020204" pitchFamily="34" charset="-122"/>
              </a:rPr>
              <a:t>不是 </a:t>
            </a:r>
            <a:r>
              <a:rPr lang="en-US" altLang="zh-CN" sz="1400" dirty="0" err="1">
                <a:latin typeface="微软雅黑" panose="020B0503020204020204" pitchFamily="34" charset="-122"/>
                <a:ea typeface="微软雅黑" panose="020B0503020204020204" pitchFamily="34" charset="-122"/>
              </a:rPr>
              <a:t>OpenFlow</a:t>
            </a:r>
            <a:r>
              <a:rPr lang="zh-CN" altLang="en-US" sz="1400" dirty="0">
                <a:latin typeface="微软雅黑" panose="020B0503020204020204" pitchFamily="34" charset="-122"/>
                <a:ea typeface="微软雅黑" panose="020B0503020204020204" pitchFamily="34" charset="-122"/>
              </a:rPr>
              <a:t>。</a:t>
            </a:r>
            <a:endParaRPr lang="en-US" altLang="zh-CN" sz="1400"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dirty="0">
                <a:latin typeface="微软雅黑" panose="020B0503020204020204" pitchFamily="34" charset="-122"/>
                <a:ea typeface="微软雅黑" panose="020B0503020204020204" pitchFamily="34" charset="-122"/>
              </a:rPr>
              <a:t>SDN </a:t>
            </a:r>
            <a:r>
              <a:rPr lang="zh-CN" altLang="en-US" sz="1400" dirty="0">
                <a:latin typeface="微软雅黑" panose="020B0503020204020204" pitchFamily="34" charset="-122"/>
                <a:ea typeface="微软雅黑" panose="020B0503020204020204" pitchFamily="34" charset="-122"/>
              </a:rPr>
              <a:t>未规定必须使用 </a:t>
            </a:r>
            <a:r>
              <a:rPr lang="en-US" altLang="zh-CN" sz="1400" dirty="0" err="1">
                <a:latin typeface="微软雅黑" panose="020B0503020204020204" pitchFamily="34" charset="-122"/>
                <a:ea typeface="微软雅黑" panose="020B0503020204020204" pitchFamily="34" charset="-122"/>
              </a:rPr>
              <a:t>OpenFlow</a:t>
            </a:r>
            <a:r>
              <a:rPr lang="zh-CN" altLang="en-US" sz="1400" dirty="0">
                <a:latin typeface="微软雅黑" panose="020B0503020204020204" pitchFamily="34" charset="-122"/>
                <a:ea typeface="微软雅黑" panose="020B0503020204020204" pitchFamily="34" charset="-122"/>
              </a:rPr>
              <a:t>。</a:t>
            </a:r>
          </a:p>
        </p:txBody>
      </p:sp>
      <p:grpSp>
        <p:nvGrpSpPr>
          <p:cNvPr id="17" name="组合 16"/>
          <p:cNvGrpSpPr/>
          <p:nvPr/>
        </p:nvGrpSpPr>
        <p:grpSpPr>
          <a:xfrm>
            <a:off x="5766005" y="1330858"/>
            <a:ext cx="3264210" cy="1614020"/>
            <a:chOff x="5766005" y="1330858"/>
            <a:chExt cx="3264210" cy="1614020"/>
          </a:xfrm>
        </p:grpSpPr>
        <p:grpSp>
          <p:nvGrpSpPr>
            <p:cNvPr id="7" name="组合 6"/>
            <p:cNvGrpSpPr/>
            <p:nvPr/>
          </p:nvGrpSpPr>
          <p:grpSpPr>
            <a:xfrm>
              <a:off x="5766005" y="1330858"/>
              <a:ext cx="2656528" cy="1614020"/>
              <a:chOff x="5423026" y="1627121"/>
              <a:chExt cx="3755520" cy="1728192"/>
            </a:xfrm>
          </p:grpSpPr>
          <p:sp>
            <p:nvSpPr>
              <p:cNvPr id="8" name="圆角矩形 7"/>
              <p:cNvSpPr/>
              <p:nvPr/>
            </p:nvSpPr>
            <p:spPr>
              <a:xfrm>
                <a:off x="5423026" y="2995273"/>
                <a:ext cx="3456384" cy="360040"/>
              </a:xfrm>
              <a:prstGeom prst="roundRect">
                <a:avLst/>
              </a:prstGeom>
              <a:solidFill>
                <a:srgbClr val="33CC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数据层面</a:t>
                </a:r>
              </a:p>
            </p:txBody>
          </p:sp>
          <p:sp>
            <p:nvSpPr>
              <p:cNvPr id="10" name="圆角矩形 9"/>
              <p:cNvSpPr/>
              <p:nvPr/>
            </p:nvSpPr>
            <p:spPr>
              <a:xfrm>
                <a:off x="5423026" y="2131177"/>
                <a:ext cx="3456384" cy="360040"/>
              </a:xfrm>
              <a:prstGeom prst="roundRect">
                <a:avLst/>
              </a:prstGeom>
              <a:solidFill>
                <a:srgbClr val="66FF3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控制层面（网络操作系统）</a:t>
                </a:r>
              </a:p>
            </p:txBody>
          </p:sp>
          <p:cxnSp>
            <p:nvCxnSpPr>
              <p:cNvPr id="11" name="直接箭头连接符 10"/>
              <p:cNvCxnSpPr>
                <a:stCxn id="10" idx="2"/>
                <a:endCxn id="8" idx="0"/>
              </p:cNvCxnSpPr>
              <p:nvPr/>
            </p:nvCxnSpPr>
            <p:spPr>
              <a:xfrm>
                <a:off x="7151218" y="2491217"/>
                <a:ext cx="0" cy="504056"/>
              </a:xfrm>
              <a:prstGeom prst="straightConnector1">
                <a:avLst/>
              </a:prstGeom>
              <a:ln w="28575">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 name="TextBox 8"/>
              <p:cNvSpPr txBox="1"/>
              <p:nvPr/>
            </p:nvSpPr>
            <p:spPr>
              <a:xfrm>
                <a:off x="7100027" y="2572919"/>
                <a:ext cx="2078519" cy="329548"/>
              </a:xfrm>
              <a:prstGeom prst="rect">
                <a:avLst/>
              </a:prstGeom>
              <a:noFill/>
            </p:spPr>
            <p:txBody>
              <a:bodyPr wrap="none" rtlCol="0">
                <a:spAutoFit/>
              </a:bodyPr>
              <a:lstStyle/>
              <a:p>
                <a:r>
                  <a:rPr lang="zh-CN" altLang="en-US" sz="1400" dirty="0">
                    <a:solidFill>
                      <a:srgbClr val="C00000"/>
                    </a:solidFill>
                    <a:latin typeface="微软雅黑" panose="020B0503020204020204" pitchFamily="34" charset="-122"/>
                    <a:ea typeface="微软雅黑" panose="020B0503020204020204" pitchFamily="34" charset="-122"/>
                    <a:cs typeface="Times New Roman" pitchFamily="18" charset="0"/>
                  </a:rPr>
                  <a:t>协议 </a:t>
                </a:r>
                <a:r>
                  <a:rPr lang="en-US" altLang="zh-CN" sz="1400" dirty="0" err="1">
                    <a:solidFill>
                      <a:srgbClr val="C00000"/>
                    </a:solidFill>
                    <a:latin typeface="微软雅黑" panose="020B0503020204020204" pitchFamily="34" charset="-122"/>
                    <a:ea typeface="微软雅黑" panose="020B0503020204020204" pitchFamily="34" charset="-122"/>
                    <a:cs typeface="Times New Roman" pitchFamily="18" charset="0"/>
                  </a:rPr>
                  <a:t>OpenFlow</a:t>
                </a:r>
                <a:endParaRPr lang="zh-CN" altLang="en-US" sz="1400"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13" name="圆角矩形 12"/>
              <p:cNvSpPr/>
              <p:nvPr/>
            </p:nvSpPr>
            <p:spPr>
              <a:xfrm>
                <a:off x="6143106"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微软雅黑" panose="020B0503020204020204" pitchFamily="34" charset="-122"/>
                    <a:ea typeface="微软雅黑" panose="020B0503020204020204" pitchFamily="34" charset="-122"/>
                    <a:cs typeface="Times New Roman" pitchFamily="18" charset="0"/>
                  </a:rPr>
                  <a:t>AP</a:t>
                </a:r>
                <a:r>
                  <a:rPr lang="en-US" altLang="zh-CN" sz="1400" baseline="-25000" dirty="0">
                    <a:solidFill>
                      <a:schemeClr val="tx1"/>
                    </a:solidFill>
                    <a:latin typeface="微软雅黑" panose="020B0503020204020204" pitchFamily="34" charset="-122"/>
                    <a:ea typeface="微软雅黑" panose="020B0503020204020204" pitchFamily="34" charset="-122"/>
                    <a:cs typeface="Times New Roman" pitchFamily="18" charset="0"/>
                  </a:rPr>
                  <a:t>1</a:t>
                </a:r>
                <a:endParaRPr lang="zh-CN" altLang="en-US" sz="1400" baseline="-25000"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4" name="圆角矩形 13"/>
              <p:cNvSpPr/>
              <p:nvPr/>
            </p:nvSpPr>
            <p:spPr>
              <a:xfrm>
                <a:off x="7295234"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微软雅黑" panose="020B0503020204020204" pitchFamily="34" charset="-122"/>
                    <a:ea typeface="微软雅黑" panose="020B0503020204020204" pitchFamily="34" charset="-122"/>
                    <a:cs typeface="Times New Roman" pitchFamily="18" charset="0"/>
                  </a:rPr>
                  <a:t>AP</a:t>
                </a:r>
                <a:r>
                  <a:rPr lang="en-US" altLang="zh-CN" sz="1400" baseline="-25000" dirty="0">
                    <a:solidFill>
                      <a:schemeClr val="tx1"/>
                    </a:solidFill>
                    <a:latin typeface="微软雅黑" panose="020B0503020204020204" pitchFamily="34" charset="-122"/>
                    <a:ea typeface="微软雅黑" panose="020B0503020204020204" pitchFamily="34" charset="-122"/>
                    <a:cs typeface="Times New Roman" pitchFamily="18" charset="0"/>
                  </a:rPr>
                  <a:t>2</a:t>
                </a:r>
                <a:endParaRPr lang="zh-CN" altLang="en-US" sz="1400" baseline="-25000"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grpSp>
        <p:sp>
          <p:nvSpPr>
            <p:cNvPr id="3" name="右大括号 2"/>
            <p:cNvSpPr/>
            <p:nvPr/>
          </p:nvSpPr>
          <p:spPr>
            <a:xfrm>
              <a:off x="8361044" y="1330858"/>
              <a:ext cx="137776" cy="1614020"/>
            </a:xfrm>
            <a:prstGeom prst="rightBrace">
              <a:avLst>
                <a:gd name="adj1" fmla="val 47251"/>
                <a:gd name="adj2" fmla="val 50000"/>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 name="矩形 3"/>
            <p:cNvSpPr/>
            <p:nvPr/>
          </p:nvSpPr>
          <p:spPr>
            <a:xfrm>
              <a:off x="8443195" y="1989414"/>
              <a:ext cx="587020" cy="307777"/>
            </a:xfrm>
            <a:prstGeom prst="rect">
              <a:avLst/>
            </a:prstGeom>
          </p:spPr>
          <p:txBody>
            <a:bodyPr wrap="none">
              <a:spAutoFit/>
            </a:bodyPr>
            <a:lstStyle/>
            <a:p>
              <a:pPr lvl="0"/>
              <a:r>
                <a:rPr lang="en-US" altLang="en-US" sz="1400" dirty="0">
                  <a:latin typeface="微软雅黑" panose="020B0503020204020204" pitchFamily="34" charset="-122"/>
                  <a:ea typeface="微软雅黑" panose="020B0503020204020204" pitchFamily="34" charset="-122"/>
                </a:rPr>
                <a:t>SDN</a:t>
              </a:r>
              <a:endParaRPr lang="zh-CN" altLang="en-US" sz="1400" dirty="0"/>
            </a:p>
          </p:txBody>
        </p:sp>
      </p:grpSp>
      <p:sp>
        <p:nvSpPr>
          <p:cNvPr id="5" name="标题 4">
            <a:extLst>
              <a:ext uri="{FF2B5EF4-FFF2-40B4-BE49-F238E27FC236}">
                <a16:creationId xmlns:a16="http://schemas.microsoft.com/office/drawing/2014/main" id="{783B52CB-D906-7462-AE96-30C10868F402}"/>
              </a:ext>
            </a:extLst>
          </p:cNvPr>
          <p:cNvSpPr>
            <a:spLocks noGrp="1"/>
          </p:cNvSpPr>
          <p:nvPr>
            <p:ph type="title"/>
          </p:nvPr>
        </p:nvSpPr>
        <p:spPr>
          <a:xfrm>
            <a:off x="486000" y="550723"/>
            <a:ext cx="8172000" cy="338554"/>
          </a:xfrm>
        </p:spPr>
        <p:txBody>
          <a:bodyPr/>
          <a:lstStyle/>
          <a:p>
            <a:r>
              <a:rPr lang="en-US" altLang="zh-CN" dirty="0"/>
              <a:t>4.10.1  SDN </a:t>
            </a:r>
            <a:r>
              <a:rPr lang="zh-CN" altLang="en-US" dirty="0"/>
              <a:t>与 协议 </a:t>
            </a:r>
            <a:r>
              <a:rPr lang="en-US" altLang="zh-CN" dirty="0"/>
              <a:t>OpenFlow</a:t>
            </a:r>
            <a:endParaRPr lang="zh-CN" altLang="en-US" dirty="0"/>
          </a:p>
        </p:txBody>
      </p:sp>
    </p:spTree>
    <p:extLst>
      <p:ext uri="{BB962C8B-B14F-4D97-AF65-F5344CB8AC3E}">
        <p14:creationId xmlns:p14="http://schemas.microsoft.com/office/powerpoint/2010/main" val="39912420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597536" y="1176950"/>
            <a:ext cx="7849347" cy="2181885"/>
            <a:chOff x="414667" y="1233660"/>
            <a:chExt cx="8294767" cy="2270031"/>
          </a:xfrm>
        </p:grpSpPr>
        <p:sp>
          <p:nvSpPr>
            <p:cNvPr id="4" name="燕尾形箭头 3"/>
            <p:cNvSpPr/>
            <p:nvPr/>
          </p:nvSpPr>
          <p:spPr>
            <a:xfrm>
              <a:off x="616716" y="1879360"/>
              <a:ext cx="8092718" cy="860934"/>
            </a:xfrm>
            <a:prstGeom prst="notchedRightArrow">
              <a:avLst/>
            </a:prstGeom>
          </p:spPr>
          <p:style>
            <a:lnRef idx="0">
              <a:schemeClr val="dk1">
                <a:hueOff val="0"/>
                <a:satOff val="0"/>
                <a:lumOff val="0"/>
                <a:alphaOff val="0"/>
              </a:schemeClr>
            </a:lnRef>
            <a:fillRef idx="1">
              <a:schemeClr val="accent2">
                <a:tint val="40000"/>
                <a:hueOff val="0"/>
                <a:satOff val="0"/>
                <a:lumOff val="0"/>
                <a:alphaOff val="0"/>
              </a:schemeClr>
            </a:fillRef>
            <a:effectRef idx="0">
              <a:schemeClr val="accent2">
                <a:tint val="40000"/>
                <a:hueOff val="0"/>
                <a:satOff val="0"/>
                <a:lumOff val="0"/>
                <a:alphaOff val="0"/>
              </a:schemeClr>
            </a:effectRef>
            <a:fontRef idx="minor">
              <a:schemeClr val="dk1">
                <a:hueOff val="0"/>
                <a:satOff val="0"/>
                <a:lumOff val="0"/>
                <a:alphaOff val="0"/>
              </a:schemeClr>
            </a:fontRef>
          </p:style>
        </p:sp>
        <p:sp>
          <p:nvSpPr>
            <p:cNvPr id="15" name="任意多边形 14"/>
            <p:cNvSpPr/>
            <p:nvPr/>
          </p:nvSpPr>
          <p:spPr>
            <a:xfrm>
              <a:off x="414667" y="1233660"/>
              <a:ext cx="1565781" cy="860934"/>
            </a:xfrm>
            <a:custGeom>
              <a:avLst/>
              <a:gdLst>
                <a:gd name="connsiteX0" fmla="*/ 0 w 1144364"/>
                <a:gd name="connsiteY0" fmla="*/ 0 h 860934"/>
                <a:gd name="connsiteX1" fmla="*/ 1144364 w 1144364"/>
                <a:gd name="connsiteY1" fmla="*/ 0 h 860934"/>
                <a:gd name="connsiteX2" fmla="*/ 1144364 w 1144364"/>
                <a:gd name="connsiteY2" fmla="*/ 860934 h 860934"/>
                <a:gd name="connsiteX3" fmla="*/ 0 w 1144364"/>
                <a:gd name="connsiteY3" fmla="*/ 860934 h 860934"/>
                <a:gd name="connsiteX4" fmla="*/ 0 w 1144364"/>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4364" h="860934">
                  <a:moveTo>
                    <a:pt x="0" y="0"/>
                  </a:moveTo>
                  <a:lnTo>
                    <a:pt x="1144364" y="0"/>
                  </a:lnTo>
                  <a:lnTo>
                    <a:pt x="1144364"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1.0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2009</a:t>
              </a:r>
              <a:endParaRPr lang="zh-CN" altLang="en-US" sz="1400" kern="1200" dirty="0">
                <a:latin typeface="微软雅黑" panose="020B0503020204020204" pitchFamily="34" charset="-122"/>
                <a:ea typeface="微软雅黑" panose="020B0503020204020204" pitchFamily="34" charset="-122"/>
              </a:endParaRPr>
            </a:p>
          </p:txBody>
        </p:sp>
        <p:sp>
          <p:nvSpPr>
            <p:cNvPr id="16" name="椭圆 15"/>
            <p:cNvSpPr/>
            <p:nvPr/>
          </p:nvSpPr>
          <p:spPr>
            <a:xfrm>
              <a:off x="1086351" y="2202210"/>
              <a:ext cx="215233" cy="215233"/>
            </a:xfrm>
            <a:prstGeom prst="ellipse">
              <a:avLst/>
            </a:prstGeom>
          </p:spPr>
          <p:style>
            <a:lnRef idx="2">
              <a:schemeClr val="lt1">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sp>
        <p:sp>
          <p:nvSpPr>
            <p:cNvPr id="17" name="任意多边形 16"/>
            <p:cNvSpPr/>
            <p:nvPr/>
          </p:nvSpPr>
          <p:spPr>
            <a:xfrm>
              <a:off x="1558551" y="2525062"/>
              <a:ext cx="2164906" cy="978629"/>
            </a:xfrm>
            <a:custGeom>
              <a:avLst/>
              <a:gdLst>
                <a:gd name="connsiteX0" fmla="*/ 0 w 1506485"/>
                <a:gd name="connsiteY0" fmla="*/ 0 h 860934"/>
                <a:gd name="connsiteX1" fmla="*/ 1506485 w 1506485"/>
                <a:gd name="connsiteY1" fmla="*/ 0 h 860934"/>
                <a:gd name="connsiteX2" fmla="*/ 1506485 w 1506485"/>
                <a:gd name="connsiteY2" fmla="*/ 860934 h 860934"/>
                <a:gd name="connsiteX3" fmla="*/ 0 w 1506485"/>
                <a:gd name="connsiteY3" fmla="*/ 860934 h 860934"/>
                <a:gd name="connsiteX4" fmla="*/ 0 w 15064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6485" h="860934">
                  <a:moveTo>
                    <a:pt x="0" y="0"/>
                  </a:moveTo>
                  <a:lnTo>
                    <a:pt x="1506485" y="0"/>
                  </a:lnTo>
                  <a:lnTo>
                    <a:pt x="15064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2 </a:t>
              </a:r>
            </a:p>
            <a:p>
              <a:pPr lvl="0" algn="ctr" defTabSz="488950">
                <a:lnSpc>
                  <a:spcPts val="2000"/>
                </a:lnSpc>
                <a:spcBef>
                  <a:spcPct val="0"/>
                </a:spcBef>
                <a:spcAft>
                  <a:spcPts val="0"/>
                </a:spcAft>
              </a:pPr>
              <a:r>
                <a:rPr lang="en-US" altLang="zh-CN" sz="1400" kern="1200" dirty="0">
                  <a:latin typeface="微软雅黑" panose="020B0503020204020204" pitchFamily="34" charset="-122"/>
                  <a:ea typeface="微软雅黑" panose="020B0503020204020204" pitchFamily="34" charset="-122"/>
                </a:rPr>
                <a:t>2011-12 </a:t>
              </a:r>
            </a:p>
            <a:p>
              <a:pPr lvl="0" algn="ctr" defTabSz="488950">
                <a:lnSpc>
                  <a:spcPts val="2000"/>
                </a:lnSpc>
                <a:spcBef>
                  <a:spcPct val="0"/>
                </a:spcBef>
                <a:spcAft>
                  <a:spcPts val="0"/>
                </a:spcAft>
              </a:pPr>
              <a:r>
                <a:rPr lang="zh-CN" altLang="en-US" sz="1400" kern="1200" dirty="0">
                  <a:latin typeface="微软雅黑" panose="020B0503020204020204" pitchFamily="34" charset="-122"/>
                  <a:ea typeface="微软雅黑" panose="020B0503020204020204" pitchFamily="34" charset="-122"/>
                </a:rPr>
                <a:t>开放网络基金会 </a:t>
              </a:r>
              <a:r>
                <a:rPr lang="en-US" altLang="en-US" sz="1400" kern="1200" dirty="0">
                  <a:latin typeface="微软雅黑" panose="020B0503020204020204" pitchFamily="34" charset="-122"/>
                  <a:ea typeface="微软雅黑" panose="020B0503020204020204" pitchFamily="34" charset="-122"/>
                </a:rPr>
                <a:t>ONF</a:t>
              </a:r>
              <a:r>
                <a:rPr lang="zh-CN" altLang="en-US" sz="1400" kern="1200" dirty="0">
                  <a:latin typeface="微软雅黑" panose="020B0503020204020204" pitchFamily="34" charset="-122"/>
                  <a:ea typeface="微软雅黑" panose="020B0503020204020204" pitchFamily="34" charset="-122"/>
                </a:rPr>
                <a:t>（</a:t>
              </a:r>
              <a:r>
                <a:rPr lang="en-US" altLang="en-US" sz="1400" kern="1200" dirty="0">
                  <a:latin typeface="微软雅黑" panose="020B0503020204020204" pitchFamily="34" charset="-122"/>
                  <a:ea typeface="微软雅黑" panose="020B0503020204020204" pitchFamily="34" charset="-122"/>
                </a:rPr>
                <a:t>Open Networking Foundation</a:t>
              </a:r>
              <a:r>
                <a:rPr lang="zh-CN" altLang="en-US" sz="1400" kern="1200" dirty="0">
                  <a:latin typeface="微软雅黑" panose="020B0503020204020204" pitchFamily="34" charset="-122"/>
                  <a:ea typeface="微软雅黑" panose="020B0503020204020204" pitchFamily="34" charset="-122"/>
                </a:rPr>
                <a:t>）发布</a:t>
              </a:r>
            </a:p>
          </p:txBody>
        </p:sp>
        <p:sp>
          <p:nvSpPr>
            <p:cNvPr id="18" name="椭圆 17"/>
            <p:cNvSpPr/>
            <p:nvPr/>
          </p:nvSpPr>
          <p:spPr>
            <a:xfrm>
              <a:off x="2460142" y="2202210"/>
              <a:ext cx="215233" cy="215233"/>
            </a:xfrm>
            <a:prstGeom prst="ellipse">
              <a:avLst/>
            </a:prstGeom>
          </p:spPr>
          <p:style>
            <a:lnRef idx="2">
              <a:schemeClr val="lt1">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sp>
        <p:sp>
          <p:nvSpPr>
            <p:cNvPr id="19" name="任意多边形 18"/>
            <p:cNvSpPr/>
            <p:nvPr/>
          </p:nvSpPr>
          <p:spPr>
            <a:xfrm>
              <a:off x="3245000" y="1233660"/>
              <a:ext cx="1696146" cy="860934"/>
            </a:xfrm>
            <a:custGeom>
              <a:avLst/>
              <a:gdLst>
                <a:gd name="connsiteX0" fmla="*/ 0 w 1420885"/>
                <a:gd name="connsiteY0" fmla="*/ 0 h 860934"/>
                <a:gd name="connsiteX1" fmla="*/ 1420885 w 1420885"/>
                <a:gd name="connsiteY1" fmla="*/ 0 h 860934"/>
                <a:gd name="connsiteX2" fmla="*/ 1420885 w 1420885"/>
                <a:gd name="connsiteY2" fmla="*/ 860934 h 860934"/>
                <a:gd name="connsiteX3" fmla="*/ 0 w 1420885"/>
                <a:gd name="connsiteY3" fmla="*/ 860934 h 860934"/>
                <a:gd name="connsiteX4" fmla="*/ 0 w 14208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0885" h="860934">
                  <a:moveTo>
                    <a:pt x="0" y="0"/>
                  </a:moveTo>
                  <a:lnTo>
                    <a:pt x="1420885" y="0"/>
                  </a:lnTo>
                  <a:lnTo>
                    <a:pt x="14208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3</a:t>
              </a:r>
              <a:r>
                <a:rPr lang="en-US" altLang="en-US" sz="1400" kern="1200" dirty="0">
                  <a:latin typeface="微软雅黑" panose="020B0503020204020204" pitchFamily="34" charset="-122"/>
                  <a:ea typeface="微软雅黑" panose="020B0503020204020204" pitchFamily="34" charset="-122"/>
                </a:rPr>
                <a:t>.</a:t>
              </a:r>
              <a:r>
                <a:rPr lang="en-US" altLang="zh-CN" sz="1400" kern="1200" dirty="0">
                  <a:latin typeface="微软雅黑" panose="020B0503020204020204" pitchFamily="34" charset="-122"/>
                  <a:ea typeface="微软雅黑" panose="020B0503020204020204" pitchFamily="34" charset="-122"/>
                </a:rPr>
                <a:t>x</a:t>
              </a:r>
              <a:r>
                <a:rPr lang="en-US" altLang="en-US" sz="1400" kern="1200" dirty="0">
                  <a:latin typeface="微软雅黑" panose="020B0503020204020204" pitchFamily="34" charset="-122"/>
                  <a:ea typeface="微软雅黑" panose="020B0503020204020204" pitchFamily="34" charset="-122"/>
                </a:rPr>
                <a:t>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a:t>
              </a:r>
              <a:r>
                <a:rPr lang="en-US" altLang="zh-CN" sz="1400" kern="1200" dirty="0">
                  <a:latin typeface="微软雅黑" panose="020B0503020204020204" pitchFamily="34" charset="-122"/>
                  <a:ea typeface="微软雅黑" panose="020B0503020204020204" pitchFamily="34" charset="-122"/>
                </a:rPr>
                <a:t>2</a:t>
              </a:r>
              <a:r>
                <a:rPr lang="en-US" altLang="en-US" sz="1400" kern="1200" dirty="0">
                  <a:latin typeface="微软雅黑" panose="020B0503020204020204" pitchFamily="34" charset="-122"/>
                  <a:ea typeface="微软雅黑" panose="020B0503020204020204" pitchFamily="34" charset="-122"/>
                </a:rPr>
                <a:t>-0</a:t>
              </a:r>
              <a:r>
                <a:rPr lang="en-US" altLang="zh-CN" sz="1400" kern="1200" dirty="0">
                  <a:latin typeface="微软雅黑" panose="020B0503020204020204" pitchFamily="34" charset="-122"/>
                  <a:ea typeface="微软雅黑" panose="020B0503020204020204" pitchFamily="34" charset="-122"/>
                </a:rPr>
                <a:t>4</a:t>
              </a:r>
              <a:endParaRPr lang="zh-CN" altLang="en-US" sz="1400" kern="1200" dirty="0">
                <a:latin typeface="微软雅黑" panose="020B0503020204020204" pitchFamily="34" charset="-122"/>
                <a:ea typeface="微软雅黑" panose="020B0503020204020204" pitchFamily="34" charset="-122"/>
              </a:endParaRPr>
            </a:p>
          </p:txBody>
        </p:sp>
        <p:sp>
          <p:nvSpPr>
            <p:cNvPr id="20" name="椭圆 19"/>
            <p:cNvSpPr/>
            <p:nvPr/>
          </p:nvSpPr>
          <p:spPr>
            <a:xfrm>
              <a:off x="3972194" y="2202210"/>
              <a:ext cx="215233" cy="215233"/>
            </a:xfrm>
            <a:prstGeom prst="ellipse">
              <a:avLst/>
            </a:prstGeom>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sp>
        <p:sp>
          <p:nvSpPr>
            <p:cNvPr id="21" name="任意多边形 20"/>
            <p:cNvSpPr/>
            <p:nvPr/>
          </p:nvSpPr>
          <p:spPr>
            <a:xfrm>
              <a:off x="4695119" y="2525062"/>
              <a:ext cx="1708624" cy="860934"/>
            </a:xfrm>
            <a:custGeom>
              <a:avLst/>
              <a:gdLst>
                <a:gd name="connsiteX0" fmla="*/ 0 w 1421921"/>
                <a:gd name="connsiteY0" fmla="*/ 0 h 860934"/>
                <a:gd name="connsiteX1" fmla="*/ 1421921 w 1421921"/>
                <a:gd name="connsiteY1" fmla="*/ 0 h 860934"/>
                <a:gd name="connsiteX2" fmla="*/ 1421921 w 1421921"/>
                <a:gd name="connsiteY2" fmla="*/ 860934 h 860934"/>
                <a:gd name="connsiteX3" fmla="*/ 0 w 1421921"/>
                <a:gd name="connsiteY3" fmla="*/ 860934 h 860934"/>
                <a:gd name="connsiteX4" fmla="*/ 0 w 1421921"/>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1921" h="860934">
                  <a:moveTo>
                    <a:pt x="0" y="0"/>
                  </a:moveTo>
                  <a:lnTo>
                    <a:pt x="1421921" y="0"/>
                  </a:lnTo>
                  <a:lnTo>
                    <a:pt x="1421921"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4</a:t>
              </a:r>
              <a:r>
                <a:rPr lang="en-US" altLang="en-US" sz="1400" kern="1200" dirty="0">
                  <a:latin typeface="微软雅黑" panose="020B0503020204020204" pitchFamily="34" charset="-122"/>
                  <a:ea typeface="微软雅黑" panose="020B0503020204020204" pitchFamily="34" charset="-122"/>
                </a:rPr>
                <a:t>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a:t>
              </a:r>
              <a:r>
                <a:rPr lang="en-US" altLang="zh-CN" sz="1400" kern="1200" dirty="0">
                  <a:latin typeface="微软雅黑" panose="020B0503020204020204" pitchFamily="34" charset="-122"/>
                  <a:ea typeface="微软雅黑" panose="020B0503020204020204" pitchFamily="34" charset="-122"/>
                </a:rPr>
                <a:t>3</a:t>
              </a:r>
              <a:r>
                <a:rPr lang="en-US" altLang="en-US" sz="1400" kern="1200" dirty="0">
                  <a:latin typeface="微软雅黑" panose="020B0503020204020204" pitchFamily="34" charset="-122"/>
                  <a:ea typeface="微软雅黑" panose="020B0503020204020204" pitchFamily="34" charset="-122"/>
                </a:rPr>
                <a:t>-0</a:t>
              </a:r>
              <a:r>
                <a:rPr lang="en-US" altLang="zh-CN" sz="1400" kern="1200" dirty="0">
                  <a:latin typeface="微软雅黑" panose="020B0503020204020204" pitchFamily="34" charset="-122"/>
                  <a:ea typeface="微软雅黑" panose="020B0503020204020204" pitchFamily="34" charset="-122"/>
                </a:rPr>
                <a:t>8</a:t>
              </a:r>
              <a:endParaRPr lang="zh-CN" altLang="en-US" sz="1400" kern="1200" dirty="0">
                <a:latin typeface="微软雅黑" panose="020B0503020204020204" pitchFamily="34" charset="-122"/>
                <a:ea typeface="微软雅黑" panose="020B0503020204020204" pitchFamily="34" charset="-122"/>
              </a:endParaRPr>
            </a:p>
          </p:txBody>
        </p:sp>
        <p:sp>
          <p:nvSpPr>
            <p:cNvPr id="22" name="椭圆 21"/>
            <p:cNvSpPr/>
            <p:nvPr/>
          </p:nvSpPr>
          <p:spPr>
            <a:xfrm>
              <a:off x="5441964" y="2202210"/>
              <a:ext cx="215233" cy="215233"/>
            </a:xfrm>
            <a:prstGeom prst="ellipse">
              <a:avLst/>
            </a:prstGeom>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sp>
        <p:sp>
          <p:nvSpPr>
            <p:cNvPr id="23" name="任意多边形 22"/>
            <p:cNvSpPr/>
            <p:nvPr/>
          </p:nvSpPr>
          <p:spPr>
            <a:xfrm>
              <a:off x="6184541" y="1233660"/>
              <a:ext cx="1893465" cy="860934"/>
            </a:xfrm>
            <a:custGeom>
              <a:avLst/>
              <a:gdLst>
                <a:gd name="connsiteX0" fmla="*/ 0 w 1586183"/>
                <a:gd name="connsiteY0" fmla="*/ 0 h 860934"/>
                <a:gd name="connsiteX1" fmla="*/ 1586183 w 1586183"/>
                <a:gd name="connsiteY1" fmla="*/ 0 h 860934"/>
                <a:gd name="connsiteX2" fmla="*/ 1586183 w 1586183"/>
                <a:gd name="connsiteY2" fmla="*/ 860934 h 860934"/>
                <a:gd name="connsiteX3" fmla="*/ 0 w 1586183"/>
                <a:gd name="connsiteY3" fmla="*/ 860934 h 860934"/>
                <a:gd name="connsiteX4" fmla="*/ 0 w 1586183"/>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86183" h="860934">
                  <a:moveTo>
                    <a:pt x="0" y="0"/>
                  </a:moveTo>
                  <a:lnTo>
                    <a:pt x="1586183" y="0"/>
                  </a:lnTo>
                  <a:lnTo>
                    <a:pt x="1586183"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1.5.1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2015</a:t>
              </a:r>
              <a:r>
                <a:rPr lang="en-US" altLang="zh-CN" sz="1400" kern="1200" dirty="0">
                  <a:latin typeface="微软雅黑" panose="020B0503020204020204" pitchFamily="34" charset="-122"/>
                  <a:ea typeface="微软雅黑" panose="020B0503020204020204" pitchFamily="34" charset="-122"/>
                </a:rPr>
                <a:t>-03</a:t>
              </a:r>
              <a:endParaRPr lang="zh-CN" altLang="en-US" sz="1400" kern="1200" dirty="0">
                <a:latin typeface="微软雅黑" panose="020B0503020204020204" pitchFamily="34" charset="-122"/>
                <a:ea typeface="微软雅黑" panose="020B0503020204020204" pitchFamily="34" charset="-122"/>
              </a:endParaRPr>
            </a:p>
          </p:txBody>
        </p:sp>
        <p:sp>
          <p:nvSpPr>
            <p:cNvPr id="24" name="椭圆 23"/>
            <p:cNvSpPr/>
            <p:nvPr/>
          </p:nvSpPr>
          <p:spPr>
            <a:xfrm>
              <a:off x="6994383" y="2202210"/>
              <a:ext cx="215233" cy="215233"/>
            </a:xfrm>
            <a:prstGeom prst="ellipse">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sp>
      </p:grpSp>
      <p:sp>
        <p:nvSpPr>
          <p:cNvPr id="2" name="标题 1">
            <a:extLst>
              <a:ext uri="{FF2B5EF4-FFF2-40B4-BE49-F238E27FC236}">
                <a16:creationId xmlns:a16="http://schemas.microsoft.com/office/drawing/2014/main" id="{E0C1DA34-CB51-BB3B-66E1-5757180BFE16}"/>
              </a:ext>
            </a:extLst>
          </p:cNvPr>
          <p:cNvSpPr>
            <a:spLocks noGrp="1"/>
          </p:cNvSpPr>
          <p:nvPr>
            <p:ph type="title"/>
          </p:nvPr>
        </p:nvSpPr>
        <p:spPr>
          <a:xfrm>
            <a:off x="486000" y="550723"/>
            <a:ext cx="8172000" cy="338554"/>
          </a:xfrm>
        </p:spPr>
        <p:txBody>
          <a:bodyPr/>
          <a:lstStyle/>
          <a:p>
            <a:r>
              <a:rPr lang="zh-CN" altLang="en-US" dirty="0"/>
              <a:t>协议 </a:t>
            </a:r>
            <a:r>
              <a:rPr lang="en-US" altLang="zh-CN" dirty="0"/>
              <a:t>OpenFlow</a:t>
            </a:r>
            <a:endParaRPr lang="zh-CN" altLang="en-US" dirty="0"/>
          </a:p>
        </p:txBody>
      </p:sp>
    </p:spTree>
    <p:extLst>
      <p:ext uri="{BB962C8B-B14F-4D97-AF65-F5344CB8AC3E}">
        <p14:creationId xmlns:p14="http://schemas.microsoft.com/office/powerpoint/2010/main" val="593779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a:extLst>
              <a:ext uri="{FF2B5EF4-FFF2-40B4-BE49-F238E27FC236}">
                <a16:creationId xmlns:a16="http://schemas.microsoft.com/office/drawing/2014/main" id="{BD697D92-FFA7-1520-2761-957BB85C1909}"/>
              </a:ext>
            </a:extLst>
          </p:cNvPr>
          <p:cNvGrpSpPr/>
          <p:nvPr/>
        </p:nvGrpSpPr>
        <p:grpSpPr>
          <a:xfrm>
            <a:off x="1569337" y="1921942"/>
            <a:ext cx="6005326" cy="2545603"/>
            <a:chOff x="2038537" y="1921942"/>
            <a:chExt cx="5066923" cy="2545603"/>
          </a:xfrm>
        </p:grpSpPr>
        <p:sp>
          <p:nvSpPr>
            <p:cNvPr id="10" name="任意多边形: 形状 9">
              <a:extLst>
                <a:ext uri="{FF2B5EF4-FFF2-40B4-BE49-F238E27FC236}">
                  <a16:creationId xmlns:a16="http://schemas.microsoft.com/office/drawing/2014/main" id="{287D2798-42E4-71B7-E8BB-4FAFD8277676}"/>
                </a:ext>
              </a:extLst>
            </p:cNvPr>
            <p:cNvSpPr/>
            <p:nvPr/>
          </p:nvSpPr>
          <p:spPr>
            <a:xfrm>
              <a:off x="2038537" y="192194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0"/>
                <a:satOff val="0"/>
                <a:lumOff val="0"/>
                <a:alphaOff val="0"/>
              </a:schemeClr>
            </a:fillRef>
            <a:effectRef idx="2">
              <a:schemeClr val="accent5">
                <a:hueOff val="0"/>
                <a:satOff val="0"/>
                <a:lumOff val="0"/>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匹配</a:t>
              </a:r>
            </a:p>
          </p:txBody>
        </p:sp>
        <p:sp>
          <p:nvSpPr>
            <p:cNvPr id="11" name="任意多边形: 形状 10">
              <a:extLst>
                <a:ext uri="{FF2B5EF4-FFF2-40B4-BE49-F238E27FC236}">
                  <a16:creationId xmlns:a16="http://schemas.microsoft.com/office/drawing/2014/main" id="{01C39E66-DE13-51F2-4FA8-E4BF21FF22A1}"/>
                </a:ext>
              </a:extLst>
            </p:cNvPr>
            <p:cNvSpPr/>
            <p:nvPr/>
          </p:nvSpPr>
          <p:spPr>
            <a:xfrm>
              <a:off x="2038537" y="2597681"/>
              <a:ext cx="5066923" cy="778837"/>
            </a:xfrm>
            <a:custGeom>
              <a:avLst/>
              <a:gdLst>
                <a:gd name="connsiteX0" fmla="*/ 0 w 5066923"/>
                <a:gd name="connsiteY0" fmla="*/ 0 h 778837"/>
                <a:gd name="connsiteX1" fmla="*/ 5066923 w 5066923"/>
                <a:gd name="connsiteY1" fmla="*/ 0 h 778837"/>
                <a:gd name="connsiteX2" fmla="*/ 5066923 w 5066923"/>
                <a:gd name="connsiteY2" fmla="*/ 778837 h 778837"/>
                <a:gd name="connsiteX3" fmla="*/ 0 w 5066923"/>
                <a:gd name="connsiteY3" fmla="*/ 778837 h 778837"/>
                <a:gd name="connsiteX4" fmla="*/ 0 w 5066923"/>
                <a:gd name="connsiteY4" fmla="*/ 0 h 7788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778837">
                  <a:moveTo>
                    <a:pt x="0" y="0"/>
                  </a:moveTo>
                  <a:lnTo>
                    <a:pt x="5066923" y="0"/>
                  </a:lnTo>
                  <a:lnTo>
                    <a:pt x="5066923" y="778837"/>
                  </a:lnTo>
                  <a:lnTo>
                    <a:pt x="0" y="778837"/>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对不同层次（链路层，网络层，运输层）首部中的字段进行匹配</a:t>
              </a:r>
            </a:p>
          </p:txBody>
        </p:sp>
        <p:sp>
          <p:nvSpPr>
            <p:cNvPr id="12" name="任意多边形: 形状 11">
              <a:extLst>
                <a:ext uri="{FF2B5EF4-FFF2-40B4-BE49-F238E27FC236}">
                  <a16:creationId xmlns:a16="http://schemas.microsoft.com/office/drawing/2014/main" id="{A3D337B3-AA73-C481-604B-D53F080BEC5A}"/>
                </a:ext>
              </a:extLst>
            </p:cNvPr>
            <p:cNvSpPr/>
            <p:nvPr/>
          </p:nvSpPr>
          <p:spPr>
            <a:xfrm>
              <a:off x="2038537" y="324078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9933876"/>
                <a:satOff val="39811"/>
                <a:lumOff val="8628"/>
                <a:alphaOff val="0"/>
              </a:schemeClr>
            </a:fillRef>
            <a:effectRef idx="2">
              <a:schemeClr val="accent5">
                <a:hueOff val="-9933876"/>
                <a:satOff val="39811"/>
                <a:lumOff val="8628"/>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1" kern="1200" dirty="0">
                  <a:latin typeface="微软雅黑" panose="020B0503020204020204" pitchFamily="34" charset="-122"/>
                  <a:ea typeface="微软雅黑" panose="020B0503020204020204" pitchFamily="34" charset="-122"/>
                </a:rPr>
                <a:t>动作</a:t>
              </a:r>
            </a:p>
          </p:txBody>
        </p:sp>
        <p:sp>
          <p:nvSpPr>
            <p:cNvPr id="13" name="任意多边形: 形状 12">
              <a:extLst>
                <a:ext uri="{FF2B5EF4-FFF2-40B4-BE49-F238E27FC236}">
                  <a16:creationId xmlns:a16="http://schemas.microsoft.com/office/drawing/2014/main" id="{D773BAF8-2530-B1C0-C761-8C8672F47130}"/>
                </a:ext>
              </a:extLst>
            </p:cNvPr>
            <p:cNvSpPr/>
            <p:nvPr/>
          </p:nvSpPr>
          <p:spPr>
            <a:xfrm>
              <a:off x="2038537" y="3887945"/>
              <a:ext cx="5066923" cy="579600"/>
            </a:xfrm>
            <a:custGeom>
              <a:avLst/>
              <a:gdLst>
                <a:gd name="connsiteX0" fmla="*/ 0 w 5066923"/>
                <a:gd name="connsiteY0" fmla="*/ 0 h 579600"/>
                <a:gd name="connsiteX1" fmla="*/ 5066923 w 5066923"/>
                <a:gd name="connsiteY1" fmla="*/ 0 h 579600"/>
                <a:gd name="connsiteX2" fmla="*/ 5066923 w 5066923"/>
                <a:gd name="connsiteY2" fmla="*/ 579600 h 579600"/>
                <a:gd name="connsiteX3" fmla="*/ 0 w 5066923"/>
                <a:gd name="connsiteY3" fmla="*/ 579600 h 579600"/>
                <a:gd name="connsiteX4" fmla="*/ 0 w 5066923"/>
                <a:gd name="connsiteY4" fmla="*/ 0 h 579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579600">
                  <a:moveTo>
                    <a:pt x="0" y="0"/>
                  </a:moveTo>
                  <a:lnTo>
                    <a:pt x="5066923" y="0"/>
                  </a:lnTo>
                  <a:lnTo>
                    <a:pt x="5066923" y="579600"/>
                  </a:lnTo>
                  <a:lnTo>
                    <a:pt x="0" y="5796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转发，重写，丢弃等</a:t>
              </a:r>
            </a:p>
          </p:txBody>
        </p:sp>
      </p:grpSp>
      <p:sp>
        <p:nvSpPr>
          <p:cNvPr id="3" name="标题 2">
            <a:extLst>
              <a:ext uri="{FF2B5EF4-FFF2-40B4-BE49-F238E27FC236}">
                <a16:creationId xmlns:a16="http://schemas.microsoft.com/office/drawing/2014/main" id="{7AF57C4D-0574-8F4B-39D5-BD65E2B24941}"/>
              </a:ext>
            </a:extLst>
          </p:cNvPr>
          <p:cNvSpPr>
            <a:spLocks noGrp="1"/>
          </p:cNvSpPr>
          <p:nvPr>
            <p:ph type="title"/>
          </p:nvPr>
        </p:nvSpPr>
        <p:spPr>
          <a:xfrm>
            <a:off x="486000" y="550723"/>
            <a:ext cx="8172000" cy="338554"/>
          </a:xfrm>
        </p:spPr>
        <p:txBody>
          <a:bodyPr/>
          <a:lstStyle/>
          <a:p>
            <a:r>
              <a:rPr lang="en-US" altLang="zh-CN" dirty="0"/>
              <a:t>OpenFlow </a:t>
            </a:r>
            <a:r>
              <a:rPr lang="zh-CN" altLang="en-US" dirty="0"/>
              <a:t>数据层面：匹配 </a:t>
            </a:r>
            <a:r>
              <a:rPr lang="en-US" altLang="zh-CN" dirty="0"/>
              <a:t>+ </a:t>
            </a:r>
            <a:r>
              <a:rPr lang="zh-CN" altLang="en-US" dirty="0"/>
              <a:t>动作</a:t>
            </a:r>
          </a:p>
        </p:txBody>
      </p:sp>
      <p:sp>
        <p:nvSpPr>
          <p:cNvPr id="4" name="内容占位符 3">
            <a:extLst>
              <a:ext uri="{FF2B5EF4-FFF2-40B4-BE49-F238E27FC236}">
                <a16:creationId xmlns:a16="http://schemas.microsoft.com/office/drawing/2014/main" id="{1C76B1E0-E72D-CF0C-D30D-D683A4A7037A}"/>
              </a:ext>
            </a:extLst>
          </p:cNvPr>
          <p:cNvSpPr>
            <a:spLocks noGrp="1"/>
          </p:cNvSpPr>
          <p:nvPr>
            <p:ph sz="quarter" idx="11"/>
          </p:nvPr>
        </p:nvSpPr>
        <p:spPr>
          <a:xfrm>
            <a:off x="486000" y="900000"/>
            <a:ext cx="8172000" cy="3703500"/>
          </a:xfrm>
        </p:spPr>
        <p:txBody>
          <a:bodyPr/>
          <a:lstStyle/>
          <a:p>
            <a:r>
              <a:rPr lang="zh-CN" altLang="en-US" dirty="0"/>
              <a:t>数据层面的分组交换机或 </a:t>
            </a:r>
            <a:r>
              <a:rPr lang="en-US" altLang="zh-CN" dirty="0"/>
              <a:t>OpenFlow </a:t>
            </a:r>
            <a:r>
              <a:rPr lang="zh-CN" altLang="en-US" dirty="0"/>
              <a:t>交换机完成“匹配 </a:t>
            </a:r>
            <a:r>
              <a:rPr lang="en-US" altLang="zh-CN" dirty="0"/>
              <a:t>+ </a:t>
            </a:r>
            <a:r>
              <a:rPr lang="zh-CN" altLang="en-US" dirty="0"/>
              <a:t>动作”</a:t>
            </a:r>
            <a:endParaRPr lang="en-US" altLang="zh-CN" dirty="0"/>
          </a:p>
          <a:p>
            <a:r>
              <a:rPr lang="zh-CN" altLang="en-US" dirty="0"/>
              <a:t>称为广义转发</a:t>
            </a:r>
            <a:endParaRPr lang="en-US" altLang="zh-CN" dirty="0"/>
          </a:p>
          <a:p>
            <a:endParaRPr lang="zh-CN" altLang="en-US" dirty="0"/>
          </a:p>
        </p:txBody>
      </p:sp>
    </p:spTree>
    <p:extLst>
      <p:ext uri="{BB962C8B-B14F-4D97-AF65-F5344CB8AC3E}">
        <p14:creationId xmlns:p14="http://schemas.microsoft.com/office/powerpoint/2010/main" val="1853390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0" name="组合 89"/>
          <p:cNvGrpSpPr/>
          <p:nvPr/>
        </p:nvGrpSpPr>
        <p:grpSpPr>
          <a:xfrm>
            <a:off x="1136453" y="2380307"/>
            <a:ext cx="4630848" cy="1687541"/>
            <a:chOff x="1136453" y="2380307"/>
            <a:chExt cx="4630848" cy="1687541"/>
          </a:xfrm>
        </p:grpSpPr>
        <p:sp>
          <p:nvSpPr>
            <p:cNvPr id="16" name="矩形 15"/>
            <p:cNvSpPr/>
            <p:nvPr/>
          </p:nvSpPr>
          <p:spPr>
            <a:xfrm>
              <a:off x="1136453"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7" name="矩形 16"/>
            <p:cNvSpPr/>
            <p:nvPr/>
          </p:nvSpPr>
          <p:spPr>
            <a:xfrm>
              <a:off x="1136453"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8" name="矩形 17"/>
            <p:cNvSpPr/>
            <p:nvPr/>
          </p:nvSpPr>
          <p:spPr>
            <a:xfrm>
              <a:off x="1136453"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9" name="矩形 18"/>
            <p:cNvSpPr/>
            <p:nvPr/>
          </p:nvSpPr>
          <p:spPr>
            <a:xfrm>
              <a:off x="1136453"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0" name="矩形 19"/>
            <p:cNvSpPr/>
            <p:nvPr/>
          </p:nvSpPr>
          <p:spPr>
            <a:xfrm>
              <a:off x="5183600"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1" name="矩形 20"/>
            <p:cNvSpPr/>
            <p:nvPr/>
          </p:nvSpPr>
          <p:spPr>
            <a:xfrm>
              <a:off x="5183600"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2" name="矩形 21"/>
            <p:cNvSpPr/>
            <p:nvPr/>
          </p:nvSpPr>
          <p:spPr>
            <a:xfrm>
              <a:off x="5183600"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3" name="矩形 22"/>
            <p:cNvSpPr/>
            <p:nvPr/>
          </p:nvSpPr>
          <p:spPr>
            <a:xfrm>
              <a:off x="5183600"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 name="矩形 1"/>
            <p:cNvSpPr/>
            <p:nvPr/>
          </p:nvSpPr>
          <p:spPr>
            <a:xfrm>
              <a:off x="1665837" y="2402010"/>
              <a:ext cx="3603280" cy="1665838"/>
            </a:xfrm>
            <a:prstGeom prst="rect">
              <a:avLst/>
            </a:prstGeom>
            <a:solidFill>
              <a:schemeClr val="accent1">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2416786" y="2380307"/>
              <a:ext cx="2119491" cy="369332"/>
            </a:xfrm>
            <a:prstGeom prst="rect">
              <a:avLst/>
            </a:prstGeom>
          </p:spPr>
          <p:txBody>
            <a:bodyPr wrap="none">
              <a:spAutoFit/>
            </a:bodyPr>
            <a:lstStyle/>
            <a:p>
              <a:r>
                <a:rPr lang="en-US" altLang="zh-CN" b="1" dirty="0" err="1">
                  <a:solidFill>
                    <a:srgbClr val="000066"/>
                  </a:solidFill>
                  <a:latin typeface="微软雅黑" pitchFamily="34" charset="-122"/>
                  <a:ea typeface="微软雅黑" pitchFamily="34" charset="-122"/>
                </a:rPr>
                <a:t>OpenFlow</a:t>
              </a:r>
              <a:r>
                <a:rPr lang="en-US" altLang="zh-CN" b="1" dirty="0">
                  <a:solidFill>
                    <a:srgbClr val="000066"/>
                  </a:solidFill>
                  <a:latin typeface="微软雅黑" pitchFamily="34" charset="-122"/>
                  <a:ea typeface="微软雅黑" pitchFamily="34" charset="-122"/>
                </a:rPr>
                <a:t> </a:t>
              </a:r>
              <a:r>
                <a:rPr lang="zh-CN" altLang="en-US" b="1" dirty="0">
                  <a:solidFill>
                    <a:srgbClr val="000066"/>
                  </a:solidFill>
                  <a:latin typeface="微软雅黑" pitchFamily="34" charset="-122"/>
                  <a:ea typeface="微软雅黑" pitchFamily="34" charset="-122"/>
                </a:rPr>
                <a:t>交换机</a:t>
              </a:r>
              <a:endParaRPr lang="zh-CN" altLang="en-US" dirty="0">
                <a:solidFill>
                  <a:srgbClr val="000066"/>
                </a:solidFill>
              </a:endParaRPr>
            </a:p>
          </p:txBody>
        </p:sp>
        <p:sp>
          <p:nvSpPr>
            <p:cNvPr id="7" name="矩形 6"/>
            <p:cNvSpPr/>
            <p:nvPr/>
          </p:nvSpPr>
          <p:spPr>
            <a:xfrm>
              <a:off x="1783534" y="2727935"/>
              <a:ext cx="3349782" cy="1240324"/>
            </a:xfrm>
            <a:prstGeom prst="rect">
              <a:avLst/>
            </a:prstGeom>
            <a:solidFill>
              <a:schemeClr val="tx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1204985"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sp>
          <p:nvSpPr>
            <p:cNvPr id="25" name="文本框 24"/>
            <p:cNvSpPr txBox="1"/>
            <p:nvPr/>
          </p:nvSpPr>
          <p:spPr>
            <a:xfrm>
              <a:off x="5285327"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grpSp>
          <p:nvGrpSpPr>
            <p:cNvPr id="85" name="组合 84"/>
            <p:cNvGrpSpPr/>
            <p:nvPr/>
          </p:nvGrpSpPr>
          <p:grpSpPr>
            <a:xfrm>
              <a:off x="2201693" y="2811687"/>
              <a:ext cx="2548801" cy="957158"/>
              <a:chOff x="3469178" y="2781685"/>
              <a:chExt cx="2548801" cy="957158"/>
            </a:xfrm>
          </p:grpSpPr>
          <p:sp>
            <p:nvSpPr>
              <p:cNvPr id="26" name="文本框 25"/>
              <p:cNvSpPr txBox="1"/>
              <p:nvPr/>
            </p:nvSpPr>
            <p:spPr>
              <a:xfrm>
                <a:off x="5144460" y="2781685"/>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M</a:t>
                </a:r>
                <a:endParaRPr lang="zh-CN" altLang="en-US" sz="1050" b="1" dirty="0">
                  <a:latin typeface="微软雅黑" panose="020B0503020204020204" pitchFamily="34" charset="-122"/>
                  <a:ea typeface="微软雅黑" panose="020B0503020204020204" pitchFamily="34" charset="-122"/>
                </a:endParaRPr>
              </a:p>
            </p:txBody>
          </p:sp>
          <p:sp>
            <p:nvSpPr>
              <p:cNvPr id="27" name="文本框 26"/>
              <p:cNvSpPr txBox="1"/>
              <p:nvPr/>
            </p:nvSpPr>
            <p:spPr>
              <a:xfrm>
                <a:off x="4310468" y="2880609"/>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2</a:t>
                </a:r>
                <a:endParaRPr lang="zh-CN" altLang="en-US" sz="1050" b="1" dirty="0">
                  <a:latin typeface="微软雅黑" panose="020B0503020204020204" pitchFamily="34" charset="-122"/>
                  <a:ea typeface="微软雅黑" panose="020B0503020204020204" pitchFamily="34" charset="-122"/>
                </a:endParaRPr>
              </a:p>
            </p:txBody>
          </p:sp>
          <p:sp>
            <p:nvSpPr>
              <p:cNvPr id="28" name="文本框 27"/>
              <p:cNvSpPr txBox="1"/>
              <p:nvPr/>
            </p:nvSpPr>
            <p:spPr>
              <a:xfrm>
                <a:off x="3528272" y="2980374"/>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1</a:t>
                </a:r>
                <a:endParaRPr lang="zh-CN" altLang="en-US" sz="1050" b="1" dirty="0">
                  <a:latin typeface="微软雅黑" panose="020B0503020204020204" pitchFamily="34" charset="-122"/>
                  <a:ea typeface="微软雅黑" panose="020B0503020204020204" pitchFamily="34" charset="-122"/>
                </a:endParaRPr>
              </a:p>
            </p:txBody>
          </p:sp>
          <p:grpSp>
            <p:nvGrpSpPr>
              <p:cNvPr id="41" name="组合 40"/>
              <p:cNvGrpSpPr/>
              <p:nvPr/>
            </p:nvGrpSpPr>
            <p:grpSpPr>
              <a:xfrm>
                <a:off x="5081576" y="2975406"/>
                <a:ext cx="936403" cy="553846"/>
                <a:chOff x="1035978" y="3132726"/>
                <a:chExt cx="936403" cy="553846"/>
              </a:xfrm>
              <a:solidFill>
                <a:schemeClr val="bg1"/>
              </a:solidFill>
            </p:grpSpPr>
            <p:sp>
              <p:nvSpPr>
                <p:cNvPr id="8" name="矩形 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0" name="直接连接符 29"/>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2" name="直接连接符 31"/>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3" name="直接连接符 32"/>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4" name="直接连接符 33"/>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9" name="直接连接符 38"/>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40" name="直接连接符 39"/>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51" name="组合 50"/>
              <p:cNvGrpSpPr/>
              <p:nvPr/>
            </p:nvGrpSpPr>
            <p:grpSpPr>
              <a:xfrm>
                <a:off x="4257707" y="3082248"/>
                <a:ext cx="936403" cy="553846"/>
                <a:chOff x="1035978" y="3132726"/>
                <a:chExt cx="936403" cy="553846"/>
              </a:xfrm>
              <a:solidFill>
                <a:schemeClr val="bg1"/>
              </a:solidFill>
            </p:grpSpPr>
            <p:sp>
              <p:nvSpPr>
                <p:cNvPr id="52" name="矩形 51"/>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3" name="直接连接符 52"/>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4" name="直接连接符 53"/>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5" name="直接连接符 54"/>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6" name="直接连接符 55"/>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7" name="直接连接符 56"/>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8" name="直接连接符 57"/>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77" name="组合 76"/>
              <p:cNvGrpSpPr/>
              <p:nvPr/>
            </p:nvGrpSpPr>
            <p:grpSpPr>
              <a:xfrm>
                <a:off x="3469178" y="3184997"/>
                <a:ext cx="936403" cy="553846"/>
                <a:chOff x="1035978" y="3132726"/>
                <a:chExt cx="936403" cy="553846"/>
              </a:xfrm>
              <a:solidFill>
                <a:schemeClr val="bg1"/>
              </a:solidFill>
            </p:grpSpPr>
            <p:sp>
              <p:nvSpPr>
                <p:cNvPr id="78" name="矩形 7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9" name="直接连接符 78"/>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0" name="直接连接符 79"/>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1" name="直接连接符 80"/>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2" name="直接连接符 81"/>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3" name="直接连接符 82"/>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4" name="直接连接符 83"/>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grpSp>
      <p:sp>
        <p:nvSpPr>
          <p:cNvPr id="88" name="线形标注 1 87"/>
          <p:cNvSpPr/>
          <p:nvPr/>
        </p:nvSpPr>
        <p:spPr>
          <a:xfrm>
            <a:off x="5906458" y="2160643"/>
            <a:ext cx="2359355" cy="588996"/>
          </a:xfrm>
          <a:prstGeom prst="borderCallout1">
            <a:avLst>
              <a:gd name="adj1" fmla="val 30697"/>
              <a:gd name="adj2" fmla="val -156"/>
              <a:gd name="adj3" fmla="val 126334"/>
              <a:gd name="adj4" fmla="val -41727"/>
            </a:avLst>
          </a:prstGeom>
          <a:solidFill>
            <a:srgbClr val="33CC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每个 </a:t>
            </a:r>
            <a:r>
              <a:rPr lang="en-US" altLang="zh-CN" sz="1400" dirty="0" err="1">
                <a:solidFill>
                  <a:schemeClr val="tx1"/>
                </a:solidFill>
                <a:latin typeface="微软雅黑" panose="020B0503020204020204" pitchFamily="34" charset="-122"/>
                <a:ea typeface="微软雅黑" panose="020B0503020204020204" pitchFamily="34" charset="-122"/>
              </a:rPr>
              <a:t>OpenFlow</a:t>
            </a:r>
            <a:r>
              <a:rPr lang="en-US" altLang="zh-CN" sz="1400" dirty="0">
                <a:solidFill>
                  <a:schemeClr val="tx1"/>
                </a:solidFill>
                <a:latin typeface="微软雅黑" panose="020B0503020204020204" pitchFamily="34" charset="-122"/>
                <a:ea typeface="微软雅黑" panose="020B0503020204020204" pitchFamily="34" charset="-122"/>
              </a:rPr>
              <a:t> </a:t>
            </a:r>
            <a:r>
              <a:rPr lang="zh-CN" altLang="en-US" sz="1400" dirty="0">
                <a:solidFill>
                  <a:schemeClr val="tx1"/>
                </a:solidFill>
                <a:latin typeface="微软雅黑" panose="020B0503020204020204" pitchFamily="34" charset="-122"/>
                <a:ea typeface="微软雅黑" panose="020B0503020204020204" pitchFamily="34" charset="-122"/>
              </a:rPr>
              <a:t>交换机有一个或一个以上的流表。</a:t>
            </a:r>
          </a:p>
        </p:txBody>
      </p:sp>
      <p:sp>
        <p:nvSpPr>
          <p:cNvPr id="89" name="线形标注 1 88"/>
          <p:cNvSpPr/>
          <p:nvPr/>
        </p:nvSpPr>
        <p:spPr>
          <a:xfrm>
            <a:off x="5906458" y="2964611"/>
            <a:ext cx="2359355" cy="588996"/>
          </a:xfrm>
          <a:prstGeom prst="borderCallout1">
            <a:avLst>
              <a:gd name="adj1" fmla="val 30697"/>
              <a:gd name="adj2" fmla="val -156"/>
              <a:gd name="adj3" fmla="val 64850"/>
              <a:gd name="adj4" fmla="val -55157"/>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每个流表可以包括多个流表项 </a:t>
            </a:r>
            <a:r>
              <a:rPr lang="en-US" altLang="zh-CN" sz="1400" dirty="0">
                <a:solidFill>
                  <a:schemeClr val="tx1"/>
                </a:solidFill>
                <a:latin typeface="微软雅黑" panose="020B0503020204020204" pitchFamily="34" charset="-122"/>
                <a:ea typeface="微软雅黑" panose="020B0503020204020204" pitchFamily="34" charset="-122"/>
              </a:rPr>
              <a:t>(flow entry)</a:t>
            </a:r>
            <a:r>
              <a:rPr lang="zh-CN" altLang="en-US" sz="1400" dirty="0">
                <a:solidFill>
                  <a:schemeClr val="tx1"/>
                </a:solidFill>
                <a:latin typeface="微软雅黑" panose="020B0503020204020204" pitchFamily="34" charset="-122"/>
                <a:ea typeface="微软雅黑" panose="020B0503020204020204" pitchFamily="34" charset="-122"/>
              </a:rPr>
              <a:t>。</a:t>
            </a:r>
          </a:p>
        </p:txBody>
      </p:sp>
      <p:sp>
        <p:nvSpPr>
          <p:cNvPr id="9" name="标题 8">
            <a:extLst>
              <a:ext uri="{FF2B5EF4-FFF2-40B4-BE49-F238E27FC236}">
                <a16:creationId xmlns:a16="http://schemas.microsoft.com/office/drawing/2014/main" id="{12471DA8-7933-8A7B-FCAE-5FF7633492B5}"/>
              </a:ext>
            </a:extLst>
          </p:cNvPr>
          <p:cNvSpPr>
            <a:spLocks noGrp="1"/>
          </p:cNvSpPr>
          <p:nvPr>
            <p:ph type="title"/>
          </p:nvPr>
        </p:nvSpPr>
        <p:spPr>
          <a:xfrm>
            <a:off x="486000" y="550723"/>
            <a:ext cx="8172000" cy="338554"/>
          </a:xfrm>
        </p:spPr>
        <p:txBody>
          <a:bodyPr/>
          <a:lstStyle/>
          <a:p>
            <a:r>
              <a:rPr lang="en-US" altLang="zh-CN" dirty="0"/>
              <a:t>OpenFlow </a:t>
            </a:r>
            <a:r>
              <a:rPr lang="zh-CN" altLang="en-US" dirty="0"/>
              <a:t>数据层面：流表</a:t>
            </a:r>
          </a:p>
        </p:txBody>
      </p:sp>
      <p:sp>
        <p:nvSpPr>
          <p:cNvPr id="10" name="内容占位符 9">
            <a:extLst>
              <a:ext uri="{FF2B5EF4-FFF2-40B4-BE49-F238E27FC236}">
                <a16:creationId xmlns:a16="http://schemas.microsoft.com/office/drawing/2014/main" id="{0CF52E68-5FDE-1B3F-8EBC-25379AE1F9B0}"/>
              </a:ext>
            </a:extLst>
          </p:cNvPr>
          <p:cNvSpPr>
            <a:spLocks noGrp="1"/>
          </p:cNvSpPr>
          <p:nvPr>
            <p:ph sz="quarter" idx="11"/>
          </p:nvPr>
        </p:nvSpPr>
        <p:spPr>
          <a:xfrm>
            <a:off x="486000" y="900000"/>
            <a:ext cx="8172000" cy="3703500"/>
          </a:xfrm>
        </p:spPr>
        <p:txBody>
          <a:bodyPr/>
          <a:lstStyle/>
          <a:p>
            <a:r>
              <a:rPr lang="zh-CN" altLang="en-US" dirty="0"/>
              <a:t>流表 </a:t>
            </a:r>
            <a:r>
              <a:rPr lang="en-US" altLang="zh-CN" dirty="0"/>
              <a:t>(flow table)</a:t>
            </a:r>
            <a:r>
              <a:rPr lang="zh-CN" altLang="en-US" dirty="0"/>
              <a:t>：匹配 </a:t>
            </a:r>
            <a:r>
              <a:rPr lang="en-US" altLang="zh-CN" dirty="0"/>
              <a:t>+ </a:t>
            </a:r>
            <a:r>
              <a:rPr lang="zh-CN" altLang="en-US" dirty="0"/>
              <a:t>动作</a:t>
            </a:r>
            <a:endParaRPr lang="en-US" altLang="zh-CN" dirty="0"/>
          </a:p>
          <a:p>
            <a:r>
              <a:rPr lang="zh-CN" altLang="en-US" dirty="0"/>
              <a:t>流：穿过网络的一种分组序列，而在此序列中的分组都共享分组首部某些字段的值</a:t>
            </a:r>
            <a:endParaRPr lang="en-US" altLang="zh-CN" dirty="0"/>
          </a:p>
          <a:p>
            <a:endParaRPr lang="zh-CN" altLang="en-US" dirty="0"/>
          </a:p>
        </p:txBody>
      </p:sp>
    </p:spTree>
    <p:extLst>
      <p:ext uri="{BB962C8B-B14F-4D97-AF65-F5344CB8AC3E}">
        <p14:creationId xmlns:p14="http://schemas.microsoft.com/office/powerpoint/2010/main" val="3869779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2" name="直接连接符 21"/>
          <p:cNvCxnSpPr/>
          <p:nvPr/>
        </p:nvCxnSpPr>
        <p:spPr>
          <a:xfrm flipV="1">
            <a:off x="2426329" y="3451033"/>
            <a:ext cx="769605" cy="547845"/>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p:nvCxnSpPr>
        <p:spPr>
          <a:xfrm flipV="1">
            <a:off x="3190528" y="3491459"/>
            <a:ext cx="240541" cy="498159"/>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flipH="1" flipV="1">
            <a:off x="3981708" y="3420850"/>
            <a:ext cx="782989" cy="578028"/>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flipV="1">
            <a:off x="3779596" y="3491459"/>
            <a:ext cx="242953" cy="487391"/>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1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0835"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95216"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9597"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63977" y="3839538"/>
            <a:ext cx="367811" cy="36781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180"/>
          <p:cNvSpPr txBox="1"/>
          <p:nvPr/>
        </p:nvSpPr>
        <p:spPr>
          <a:xfrm>
            <a:off x="2769530" y="1829956"/>
            <a:ext cx="1649811" cy="307777"/>
          </a:xfrm>
          <a:prstGeom prst="rect">
            <a:avLst/>
          </a:prstGeom>
          <a:noFill/>
        </p:spPr>
        <p:txBody>
          <a:bodyPr wrap="none" rtlCol="0">
            <a:spAutoFit/>
          </a:bodyPr>
          <a:lstStyle/>
          <a:p>
            <a:pPr algn="ctr"/>
            <a:r>
              <a:rPr lang="en-US" altLang="zh-CN" sz="1400" dirty="0" err="1">
                <a:latin typeface="微软雅黑" panose="020B0503020204020204" pitchFamily="34" charset="-122"/>
                <a:ea typeface="微软雅黑" panose="020B0503020204020204" pitchFamily="34" charset="-122"/>
                <a:cs typeface="Times New Roman" pitchFamily="18" charset="0"/>
              </a:rPr>
              <a:t>OpenFlow</a:t>
            </a:r>
            <a:r>
              <a:rPr lang="en-US" altLang="zh-CN" sz="1400" dirty="0">
                <a:latin typeface="微软雅黑" panose="020B0503020204020204" pitchFamily="34" charset="-122"/>
                <a:ea typeface="微软雅黑" panose="020B0503020204020204" pitchFamily="34" charset="-122"/>
                <a:cs typeface="Times New Roman" pitchFamily="18" charset="0"/>
              </a:rPr>
              <a:t> </a:t>
            </a:r>
            <a:r>
              <a:rPr lang="zh-CN" altLang="en-US" sz="1400" dirty="0">
                <a:latin typeface="微软雅黑" panose="020B0503020204020204" pitchFamily="34" charset="-122"/>
                <a:ea typeface="微软雅黑" panose="020B0503020204020204" pitchFamily="34" charset="-122"/>
              </a:rPr>
              <a:t>交换机</a:t>
            </a:r>
          </a:p>
        </p:txBody>
      </p:sp>
      <p:pic>
        <p:nvPicPr>
          <p:cNvPr id="9" name="Picture 21"/>
          <p:cNvPicPr>
            <a:picLocks noChangeArrowheads="1"/>
          </p:cNvPicPr>
          <p:nvPr/>
        </p:nvPicPr>
        <p:blipFill>
          <a:blip r:embed="rId3" cstate="print"/>
          <a:srcRect/>
          <a:stretch>
            <a:fillRect/>
          </a:stretch>
        </p:blipFill>
        <p:spPr bwMode="auto">
          <a:xfrm>
            <a:off x="5871741" y="2101272"/>
            <a:ext cx="347989" cy="818828"/>
          </a:xfrm>
          <a:prstGeom prst="rect">
            <a:avLst/>
          </a:prstGeom>
          <a:noFill/>
          <a:ln w="12699">
            <a:noFill/>
            <a:miter lim="800000"/>
            <a:headEnd/>
            <a:tailEnd/>
          </a:ln>
          <a:effectLst/>
        </p:spPr>
      </p:pic>
      <p:sp>
        <p:nvSpPr>
          <p:cNvPr id="10" name="圆柱形 9"/>
          <p:cNvSpPr/>
          <p:nvPr/>
        </p:nvSpPr>
        <p:spPr>
          <a:xfrm>
            <a:off x="2973315" y="2128012"/>
            <a:ext cx="1224136" cy="1440160"/>
          </a:xfrm>
          <a:prstGeom prst="can">
            <a:avLst/>
          </a:prstGeom>
          <a:gradFill flip="none" rotWithShape="1">
            <a:gsLst>
              <a:gs pos="0">
                <a:schemeClr val="tx2">
                  <a:lumMod val="60000"/>
                  <a:lumOff val="40000"/>
                  <a:shade val="30000"/>
                  <a:satMod val="115000"/>
                </a:schemeClr>
              </a:gs>
              <a:gs pos="50000">
                <a:schemeClr val="tx2">
                  <a:lumMod val="60000"/>
                  <a:lumOff val="40000"/>
                  <a:shade val="67500"/>
                  <a:satMod val="115000"/>
                </a:schemeClr>
              </a:gs>
              <a:gs pos="100000">
                <a:schemeClr val="tx2">
                  <a:lumMod val="60000"/>
                  <a:lumOff val="40000"/>
                  <a:shade val="100000"/>
                  <a:satMod val="115000"/>
                </a:schemeClr>
              </a:gs>
            </a:gsLst>
            <a:lin ang="0" scaled="1"/>
            <a:tileRect/>
          </a:gra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11" name="直接连接符 10"/>
          <p:cNvCxnSpPr/>
          <p:nvPr/>
        </p:nvCxnSpPr>
        <p:spPr>
          <a:xfrm>
            <a:off x="3117331" y="2920100"/>
            <a:ext cx="936104"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2" name="矩形 11"/>
          <p:cNvSpPr/>
          <p:nvPr/>
        </p:nvSpPr>
        <p:spPr>
          <a:xfrm>
            <a:off x="3082516" y="2500350"/>
            <a:ext cx="1008112"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安全信道</a:t>
            </a:r>
          </a:p>
        </p:txBody>
      </p:sp>
      <p:sp>
        <p:nvSpPr>
          <p:cNvPr id="13" name="矩形 12"/>
          <p:cNvSpPr/>
          <p:nvPr/>
        </p:nvSpPr>
        <p:spPr>
          <a:xfrm>
            <a:off x="3190528" y="3064116"/>
            <a:ext cx="792088"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流表</a:t>
            </a:r>
          </a:p>
        </p:txBody>
      </p:sp>
      <p:sp>
        <p:nvSpPr>
          <p:cNvPr id="14" name="TextBox 73"/>
          <p:cNvSpPr txBox="1"/>
          <p:nvPr/>
        </p:nvSpPr>
        <p:spPr>
          <a:xfrm>
            <a:off x="5054762" y="2915744"/>
            <a:ext cx="2117561" cy="307777"/>
          </a:xfrm>
          <a:prstGeom prst="rect">
            <a:avLst/>
          </a:prstGeom>
          <a:noFill/>
        </p:spPr>
        <p:txBody>
          <a:bodyPr wrap="square" rtlCol="0">
            <a:spAutoFit/>
          </a:bodyPr>
          <a:lstStyle/>
          <a:p>
            <a:pPr algn="ctr"/>
            <a:r>
              <a:rPr lang="en-US" altLang="zh-CN" sz="1400" dirty="0">
                <a:latin typeface="微软雅黑" panose="020B0503020204020204" pitchFamily="34" charset="-122"/>
                <a:ea typeface="微软雅黑" panose="020B0503020204020204" pitchFamily="34" charset="-122"/>
                <a:cs typeface="Times New Roman" pitchFamily="18" charset="0"/>
              </a:rPr>
              <a:t>SDN</a:t>
            </a:r>
            <a:r>
              <a:rPr lang="en-US" altLang="zh-CN" sz="1400" dirty="0">
                <a:latin typeface="微软雅黑" panose="020B0503020204020204" pitchFamily="34" charset="-122"/>
                <a:ea typeface="微软雅黑" panose="020B0503020204020204" pitchFamily="34" charset="-122"/>
              </a:rPr>
              <a:t> </a:t>
            </a:r>
            <a:r>
              <a:rPr lang="zh-CN" altLang="en-US" sz="1400" dirty="0">
                <a:latin typeface="微软雅黑" panose="020B0503020204020204" pitchFamily="34" charset="-122"/>
                <a:ea typeface="微软雅黑" panose="020B0503020204020204" pitchFamily="34" charset="-122"/>
              </a:rPr>
              <a:t>远程控制器</a:t>
            </a:r>
          </a:p>
        </p:txBody>
      </p:sp>
      <p:sp>
        <p:nvSpPr>
          <p:cNvPr id="15" name="TextBox 85"/>
          <p:cNvSpPr txBox="1"/>
          <p:nvPr/>
        </p:nvSpPr>
        <p:spPr>
          <a:xfrm rot="21129718">
            <a:off x="4290299" y="2238088"/>
            <a:ext cx="1470274" cy="307777"/>
          </a:xfrm>
          <a:prstGeom prst="rect">
            <a:avLst/>
          </a:prstGeom>
          <a:noFill/>
        </p:spPr>
        <p:txBody>
          <a:bodyPr wrap="none" rtlCol="0">
            <a:spAutoFit/>
          </a:bodyPr>
          <a:lstStyle/>
          <a:p>
            <a:pPr algn="ctr"/>
            <a:r>
              <a:rPr lang="en-US" altLang="zh-CN" sz="1400" dirty="0" err="1">
                <a:latin typeface="微软雅黑" panose="020B0503020204020204" pitchFamily="34" charset="-122"/>
                <a:ea typeface="微软雅黑" panose="020B0503020204020204" pitchFamily="34" charset="-122"/>
                <a:cs typeface="Times New Roman" pitchFamily="18" charset="0"/>
              </a:rPr>
              <a:t>OpenFlow</a:t>
            </a:r>
            <a:r>
              <a:rPr lang="en-US" altLang="zh-CN" sz="1400" dirty="0">
                <a:latin typeface="微软雅黑" panose="020B0503020204020204" pitchFamily="34" charset="-122"/>
                <a:ea typeface="微软雅黑" panose="020B0503020204020204" pitchFamily="34" charset="-122"/>
                <a:cs typeface="Times New Roman" pitchFamily="18" charset="0"/>
              </a:rPr>
              <a:t> </a:t>
            </a:r>
            <a:r>
              <a:rPr lang="zh-CN" altLang="en-US" sz="1400" dirty="0">
                <a:latin typeface="微软雅黑" panose="020B0503020204020204" pitchFamily="34" charset="-122"/>
                <a:ea typeface="微软雅黑" panose="020B0503020204020204" pitchFamily="34" charset="-122"/>
                <a:cs typeface="Times New Roman" pitchFamily="18" charset="0"/>
              </a:rPr>
              <a:t>协议</a:t>
            </a:r>
            <a:endParaRPr lang="zh-CN" altLang="en-US" sz="1400" dirty="0">
              <a:latin typeface="微软雅黑" panose="020B0503020204020204" pitchFamily="34" charset="-122"/>
              <a:ea typeface="微软雅黑" panose="020B0503020204020204" pitchFamily="34" charset="-122"/>
            </a:endParaRPr>
          </a:p>
        </p:txBody>
      </p:sp>
      <p:sp>
        <p:nvSpPr>
          <p:cNvPr id="7" name="Line 107"/>
          <p:cNvSpPr>
            <a:spLocks noChangeShapeType="1"/>
          </p:cNvSpPr>
          <p:nvPr/>
        </p:nvSpPr>
        <p:spPr bwMode="auto">
          <a:xfrm flipH="1">
            <a:off x="4090627" y="2404539"/>
            <a:ext cx="1795973" cy="251403"/>
          </a:xfrm>
          <a:prstGeom prst="line">
            <a:avLst/>
          </a:prstGeom>
          <a:noFill/>
          <a:ln w="9525">
            <a:solidFill>
              <a:schemeClr val="tx1"/>
            </a:solidFill>
            <a:round/>
            <a:headEnd type="triangle" w="sm" len="lg"/>
            <a:tailEnd type="triangle" w="sm" len="lg"/>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 name="标题 2">
            <a:extLst>
              <a:ext uri="{FF2B5EF4-FFF2-40B4-BE49-F238E27FC236}">
                <a16:creationId xmlns:a16="http://schemas.microsoft.com/office/drawing/2014/main" id="{72FD12C9-4920-F4EE-0C61-1F09E8719A90}"/>
              </a:ext>
            </a:extLst>
          </p:cNvPr>
          <p:cNvSpPr>
            <a:spLocks noGrp="1"/>
          </p:cNvSpPr>
          <p:nvPr>
            <p:ph type="title"/>
          </p:nvPr>
        </p:nvSpPr>
        <p:spPr>
          <a:xfrm>
            <a:off x="486000" y="550723"/>
            <a:ext cx="8172000" cy="338554"/>
          </a:xfrm>
        </p:spPr>
        <p:txBody>
          <a:bodyPr/>
          <a:lstStyle/>
          <a:p>
            <a:r>
              <a:rPr lang="zh-CN" altLang="en-US" dirty="0"/>
              <a:t>流表由远程控制器管理</a:t>
            </a:r>
          </a:p>
        </p:txBody>
      </p:sp>
      <p:sp>
        <p:nvSpPr>
          <p:cNvPr id="4" name="内容占位符 3">
            <a:extLst>
              <a:ext uri="{FF2B5EF4-FFF2-40B4-BE49-F238E27FC236}">
                <a16:creationId xmlns:a16="http://schemas.microsoft.com/office/drawing/2014/main" id="{192CEA44-95AC-B8C2-97BD-111C0A3D4869}"/>
              </a:ext>
            </a:extLst>
          </p:cNvPr>
          <p:cNvSpPr>
            <a:spLocks noGrp="1"/>
          </p:cNvSpPr>
          <p:nvPr>
            <p:ph sz="quarter" idx="11"/>
          </p:nvPr>
        </p:nvSpPr>
        <p:spPr>
          <a:xfrm>
            <a:off x="486000" y="900000"/>
            <a:ext cx="8172000" cy="3703500"/>
          </a:xfrm>
        </p:spPr>
        <p:txBody>
          <a:bodyPr/>
          <a:lstStyle/>
          <a:p>
            <a:r>
              <a:rPr lang="en-US" altLang="zh-CN" dirty="0"/>
              <a:t>SDN </a:t>
            </a:r>
            <a:r>
              <a:rPr lang="zh-CN" altLang="zh-CN" dirty="0"/>
              <a:t>远程控制器通过一个安全信道，使用</a:t>
            </a:r>
            <a:r>
              <a:rPr lang="en-US" altLang="zh-CN" dirty="0"/>
              <a:t> OpenFlow </a:t>
            </a:r>
            <a:r>
              <a:rPr lang="zh-CN" altLang="zh-CN" dirty="0"/>
              <a:t>协议来管理</a:t>
            </a:r>
            <a:r>
              <a:rPr lang="en-US" altLang="zh-CN" dirty="0"/>
              <a:t> OpenFlow </a:t>
            </a:r>
            <a:r>
              <a:rPr lang="zh-CN" altLang="zh-CN" dirty="0"/>
              <a:t>交换机中的流表</a:t>
            </a:r>
            <a:endParaRPr lang="zh-CN" altLang="en-US" dirty="0"/>
          </a:p>
          <a:p>
            <a:endParaRPr lang="zh-CN" altLang="en-US" dirty="0"/>
          </a:p>
        </p:txBody>
      </p:sp>
    </p:spTree>
    <p:extLst>
      <p:ext uri="{BB962C8B-B14F-4D97-AF65-F5344CB8AC3E}">
        <p14:creationId xmlns:p14="http://schemas.microsoft.com/office/powerpoint/2010/main" val="13204582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7435"/>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(1) </a:t>
            </a:r>
            <a:r>
              <a:rPr lang="zh-CN" altLang="en-US" sz="1400" dirty="0">
                <a:latin typeface="Montserrat" panose="00000500000000000000" pitchFamily="2" charset="0"/>
                <a:ea typeface="微软雅黑" pitchFamily="34" charset="-122"/>
              </a:rPr>
              <a:t>首部字段值：一组字段（</a:t>
            </a:r>
            <a:r>
              <a:rPr lang="en-US" altLang="zh-CN" sz="1400" dirty="0">
                <a:latin typeface="Montserrat" panose="00000500000000000000" pitchFamily="2" charset="0"/>
                <a:ea typeface="微软雅黑" pitchFamily="34" charset="-122"/>
              </a:rPr>
              <a:t>12 </a:t>
            </a:r>
            <a:r>
              <a:rPr lang="zh-CN" altLang="en-US" sz="1400" dirty="0">
                <a:latin typeface="Montserrat" panose="00000500000000000000" pitchFamily="2" charset="0"/>
                <a:ea typeface="微软雅黑" pitchFamily="34" charset="-122"/>
              </a:rPr>
              <a:t>个），用来使入分组的对应首部与之相匹配。匹配不上的分组被丢弃，或发送到远程控制器做更多的处理</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0BE9E5B7-C308-90D9-5275-3B1530B62FD2}"/>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34180261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6088"/>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(2) </a:t>
            </a:r>
            <a:r>
              <a:rPr lang="zh-CN" altLang="en-US" sz="1400" dirty="0">
                <a:latin typeface="Montserrat" panose="00000500000000000000" pitchFamily="2" charset="0"/>
                <a:ea typeface="微软雅黑" pitchFamily="34" charset="-122"/>
              </a:rPr>
              <a:t>计数器：一组计数器，可包括已经与该表项匹配的分组数量，以及从该表项上次更新到现在经历的时间</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2ACD12C3-5611-A4FD-7D34-C6CA316CD472}"/>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2406456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7435"/>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(3) </a:t>
            </a:r>
            <a:r>
              <a:rPr lang="zh-CN" altLang="en-US" sz="1400" dirty="0">
                <a:latin typeface="Montserrat" panose="00000500000000000000" pitchFamily="2" charset="0"/>
                <a:ea typeface="微软雅黑" pitchFamily="34" charset="-122"/>
              </a:rPr>
              <a:t>动作：一组动作。当分组匹配某个流表项时，把分组转发到指明的端口，或丢弃该分组，或把分组进行复制后再从多个端口转发出去，或重写分组的首部字段（第二、三和四层的首部字段）等</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58BC59E5-6C78-7554-E195-48E8C5DA9C7A}"/>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3822493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D24B88-EF89-1C65-1124-24688DF66AB2}"/>
              </a:ext>
            </a:extLst>
          </p:cNvPr>
          <p:cNvSpPr>
            <a:spLocks noGrp="1"/>
          </p:cNvSpPr>
          <p:nvPr>
            <p:ph type="title"/>
          </p:nvPr>
        </p:nvSpPr>
        <p:spPr/>
        <p:txBody>
          <a:bodyPr/>
          <a:lstStyle/>
          <a:p>
            <a:r>
              <a:rPr lang="en-US" altLang="zh-CN" dirty="0"/>
              <a:t>OpenFlow </a:t>
            </a:r>
            <a:r>
              <a:rPr lang="zh-CN" altLang="en-US" dirty="0"/>
              <a:t>控制器</a:t>
            </a:r>
            <a:endParaRPr lang="en-US" altLang="zh-CN" dirty="0"/>
          </a:p>
        </p:txBody>
      </p:sp>
      <p:sp>
        <p:nvSpPr>
          <p:cNvPr id="9" name="Line 23"/>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1" name="Line 25"/>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2" name="Line 26"/>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3" name="Line 27"/>
          <p:cNvSpPr>
            <a:spLocks noChangeShapeType="1"/>
          </p:cNvSpPr>
          <p:nvPr/>
        </p:nvSpPr>
        <p:spPr bwMode="auto">
          <a:xfrm>
            <a:off x="3453622" y="2720024"/>
            <a:ext cx="833276" cy="6247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4" name="Line 30"/>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7" name="Text Box 65"/>
          <p:cNvSpPr txBox="1">
            <a:spLocks noChangeArrowheads="1"/>
          </p:cNvSpPr>
          <p:nvPr/>
        </p:nvSpPr>
        <p:spPr bwMode="auto">
          <a:xfrm>
            <a:off x="4292336" y="2935201"/>
            <a:ext cx="31611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1</a:t>
            </a:r>
          </a:p>
        </p:txBody>
      </p:sp>
      <p:sp>
        <p:nvSpPr>
          <p:cNvPr id="18" name="Text Box 65"/>
          <p:cNvSpPr txBox="1">
            <a:spLocks noChangeArrowheads="1"/>
          </p:cNvSpPr>
          <p:nvPr/>
        </p:nvSpPr>
        <p:spPr bwMode="auto">
          <a:xfrm>
            <a:off x="3284273"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3</a:t>
            </a:r>
          </a:p>
        </p:txBody>
      </p:sp>
      <p:sp>
        <p:nvSpPr>
          <p:cNvPr id="19" name="Text Box 65"/>
          <p:cNvSpPr txBox="1">
            <a:spLocks noChangeArrowheads="1"/>
          </p:cNvSpPr>
          <p:nvPr/>
        </p:nvSpPr>
        <p:spPr bwMode="auto">
          <a:xfrm>
            <a:off x="4940036"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S</a:t>
            </a:r>
            <a:r>
              <a:rPr lang="en-US" altLang="zh-CN" sz="1200" b="1" baseline="-25000">
                <a:latin typeface="Montserrat" panose="00000500000000000000" pitchFamily="2" charset="0"/>
                <a:ea typeface="微软雅黑 Light" panose="020B0502040204020203" pitchFamily="34" charset="-122"/>
              </a:rPr>
              <a:t>2</a:t>
            </a:r>
          </a:p>
        </p:txBody>
      </p:sp>
      <p:sp>
        <p:nvSpPr>
          <p:cNvPr id="23" name="Text Box 69"/>
          <p:cNvSpPr txBox="1">
            <a:spLocks noChangeArrowheads="1"/>
          </p:cNvSpPr>
          <p:nvPr/>
        </p:nvSpPr>
        <p:spPr bwMode="auto">
          <a:xfrm>
            <a:off x="6476211" y="2278205"/>
            <a:ext cx="7312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10.2.0.4</a:t>
            </a:r>
            <a:endParaRPr lang="en-US" altLang="zh-CN" sz="1200" baseline="-25000" dirty="0">
              <a:latin typeface="Montserrat" panose="00000500000000000000" pitchFamily="2" charset="0"/>
              <a:ea typeface="微软雅黑 Light" panose="020B0502040204020203" pitchFamily="34" charset="-122"/>
            </a:endParaRPr>
          </a:p>
        </p:txBody>
      </p:sp>
      <p:sp>
        <p:nvSpPr>
          <p:cNvPr id="24" name="Text Box 69"/>
          <p:cNvSpPr txBox="1">
            <a:spLocks noChangeArrowheads="1"/>
          </p:cNvSpPr>
          <p:nvPr/>
        </p:nvSpPr>
        <p:spPr bwMode="auto">
          <a:xfrm>
            <a:off x="6391208" y="3009084"/>
            <a:ext cx="7168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10.2.0.3</a:t>
            </a:r>
            <a:endParaRPr lang="en-US" altLang="zh-CN" sz="1200" baseline="-25000" dirty="0">
              <a:latin typeface="Montserrat" panose="00000500000000000000" pitchFamily="2" charset="0"/>
              <a:ea typeface="微软雅黑 Light" panose="020B0502040204020203" pitchFamily="34" charset="-122"/>
            </a:endParaRPr>
          </a:p>
        </p:txBody>
      </p:sp>
      <p:sp>
        <p:nvSpPr>
          <p:cNvPr id="26" name="Text Box 69"/>
          <p:cNvSpPr txBox="1">
            <a:spLocks noChangeArrowheads="1"/>
          </p:cNvSpPr>
          <p:nvPr/>
        </p:nvSpPr>
        <p:spPr bwMode="auto">
          <a:xfrm>
            <a:off x="5434821" y="3654339"/>
            <a:ext cx="68640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10.1.0.2</a:t>
            </a:r>
            <a:endParaRPr lang="en-US" altLang="zh-CN" sz="1200" baseline="-25000" dirty="0">
              <a:latin typeface="Montserrat" panose="00000500000000000000" pitchFamily="2" charset="0"/>
              <a:ea typeface="微软雅黑 Light" panose="020B0502040204020203" pitchFamily="34" charset="-122"/>
            </a:endParaRPr>
          </a:p>
        </p:txBody>
      </p:sp>
      <p:sp>
        <p:nvSpPr>
          <p:cNvPr id="27" name="Text Box 69"/>
          <p:cNvSpPr txBox="1">
            <a:spLocks noChangeArrowheads="1"/>
          </p:cNvSpPr>
          <p:nvPr/>
        </p:nvSpPr>
        <p:spPr bwMode="auto">
          <a:xfrm>
            <a:off x="1611358" y="2870764"/>
            <a:ext cx="7152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a:latin typeface="Montserrat" panose="00000500000000000000" pitchFamily="2" charset="0"/>
                <a:ea typeface="微软雅黑 Light" panose="020B0502040204020203" pitchFamily="34" charset="-122"/>
              </a:rPr>
              <a:t>10.3.0.5</a:t>
            </a:r>
            <a:endParaRPr lang="en-US" altLang="zh-CN" sz="1200" baseline="-25000">
              <a:latin typeface="Montserrat" panose="00000500000000000000" pitchFamily="2" charset="0"/>
              <a:ea typeface="微软雅黑 Light" panose="020B0502040204020203" pitchFamily="34" charset="-122"/>
            </a:endParaRPr>
          </a:p>
        </p:txBody>
      </p:sp>
      <p:sp>
        <p:nvSpPr>
          <p:cNvPr id="28" name="Text Box 69"/>
          <p:cNvSpPr txBox="1">
            <a:spLocks noChangeArrowheads="1"/>
          </p:cNvSpPr>
          <p:nvPr/>
        </p:nvSpPr>
        <p:spPr bwMode="auto">
          <a:xfrm>
            <a:off x="1623549" y="2150422"/>
            <a:ext cx="7216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10.3.0.6</a:t>
            </a:r>
            <a:endParaRPr lang="en-US" altLang="zh-CN" sz="1200" baseline="-25000" dirty="0">
              <a:latin typeface="Montserrat" panose="00000500000000000000" pitchFamily="2" charset="0"/>
              <a:ea typeface="微软雅黑 Light" panose="020B0502040204020203" pitchFamily="34" charset="-122"/>
            </a:endParaRPr>
          </a:p>
        </p:txBody>
      </p:sp>
      <p:sp>
        <p:nvSpPr>
          <p:cNvPr id="29" name="Line 23"/>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0" name="Line 26"/>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1" name="Line 26"/>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2" name="Line 26"/>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48"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041130" y="2379021"/>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52" name="Text Box 69"/>
          <p:cNvSpPr txBox="1">
            <a:spLocks noChangeArrowheads="1"/>
          </p:cNvSpPr>
          <p:nvPr/>
        </p:nvSpPr>
        <p:spPr bwMode="auto">
          <a:xfrm>
            <a:off x="3938252" y="3160140"/>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53" name="Text Box 69"/>
          <p:cNvSpPr txBox="1">
            <a:spLocks noChangeArrowheads="1"/>
          </p:cNvSpPr>
          <p:nvPr/>
        </p:nvSpPr>
        <p:spPr bwMode="auto">
          <a:xfrm>
            <a:off x="4651111" y="2358939"/>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54" name="Text Box 69"/>
          <p:cNvSpPr txBox="1">
            <a:spLocks noChangeArrowheads="1"/>
          </p:cNvSpPr>
          <p:nvPr/>
        </p:nvSpPr>
        <p:spPr bwMode="auto">
          <a:xfrm>
            <a:off x="4076436" y="3398751"/>
            <a:ext cx="28733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2</a:t>
            </a:r>
          </a:p>
        </p:txBody>
      </p:sp>
      <p:sp>
        <p:nvSpPr>
          <p:cNvPr id="55" name="Text Box 69"/>
          <p:cNvSpPr txBox="1">
            <a:spLocks noChangeArrowheads="1"/>
          </p:cNvSpPr>
          <p:nvPr/>
        </p:nvSpPr>
        <p:spPr bwMode="auto">
          <a:xfrm>
            <a:off x="3141429" y="27132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56" name="Text Box 69"/>
          <p:cNvSpPr txBox="1">
            <a:spLocks noChangeArrowheads="1"/>
          </p:cNvSpPr>
          <p:nvPr/>
        </p:nvSpPr>
        <p:spPr bwMode="auto">
          <a:xfrm>
            <a:off x="4724136" y="2646276"/>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57" name="Text Box 69"/>
          <p:cNvSpPr txBox="1">
            <a:spLocks noChangeArrowheads="1"/>
          </p:cNvSpPr>
          <p:nvPr/>
        </p:nvSpPr>
        <p:spPr bwMode="auto">
          <a:xfrm>
            <a:off x="5284273" y="265450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3</a:t>
            </a:r>
          </a:p>
        </p:txBody>
      </p:sp>
      <p:sp>
        <p:nvSpPr>
          <p:cNvPr id="58" name="Text Box 69"/>
          <p:cNvSpPr txBox="1">
            <a:spLocks noChangeArrowheads="1"/>
          </p:cNvSpPr>
          <p:nvPr/>
        </p:nvSpPr>
        <p:spPr bwMode="auto">
          <a:xfrm>
            <a:off x="3414359" y="2741142"/>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59" name="Text Box 69"/>
          <p:cNvSpPr txBox="1">
            <a:spLocks noChangeArrowheads="1"/>
          </p:cNvSpPr>
          <p:nvPr/>
        </p:nvSpPr>
        <p:spPr bwMode="auto">
          <a:xfrm>
            <a:off x="4470136" y="33987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60" name="Text Box 69"/>
          <p:cNvSpPr txBox="1">
            <a:spLocks noChangeArrowheads="1"/>
          </p:cNvSpPr>
          <p:nvPr/>
        </p:nvSpPr>
        <p:spPr bwMode="auto">
          <a:xfrm>
            <a:off x="3643048" y="2358939"/>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61" name="Text Box 69"/>
          <p:cNvSpPr txBox="1">
            <a:spLocks noChangeArrowheads="1"/>
          </p:cNvSpPr>
          <p:nvPr/>
        </p:nvSpPr>
        <p:spPr bwMode="auto">
          <a:xfrm>
            <a:off x="4579673" y="307807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62" name="Text Box 69"/>
          <p:cNvSpPr txBox="1">
            <a:spLocks noChangeArrowheads="1"/>
          </p:cNvSpPr>
          <p:nvPr/>
        </p:nvSpPr>
        <p:spPr bwMode="auto">
          <a:xfrm>
            <a:off x="5284523" y="232376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4</a:t>
            </a:r>
          </a:p>
        </p:txBody>
      </p:sp>
      <p:cxnSp>
        <p:nvCxnSpPr>
          <p:cNvPr id="4" name="直接连接符 3"/>
          <p:cNvCxnSpPr>
            <a:cxnSpLocks/>
          </p:cNvCxnSpPr>
          <p:nvPr/>
        </p:nvCxnSpPr>
        <p:spPr>
          <a:xfrm>
            <a:off x="1561080" y="2087961"/>
            <a:ext cx="5652000" cy="0"/>
          </a:xfrm>
          <a:prstGeom prst="line">
            <a:avLst/>
          </a:prstGeom>
          <a:ln w="12700">
            <a:solidFill>
              <a:schemeClr val="tx1">
                <a:lumMod val="50000"/>
                <a:lumOff val="50000"/>
              </a:schemeClr>
            </a:solidFill>
            <a:prstDash val="dash"/>
          </a:ln>
        </p:spPr>
        <p:style>
          <a:lnRef idx="1">
            <a:schemeClr val="dk1"/>
          </a:lnRef>
          <a:fillRef idx="0">
            <a:schemeClr val="dk1"/>
          </a:fillRef>
          <a:effectRef idx="0">
            <a:schemeClr val="dk1"/>
          </a:effectRef>
          <a:fontRef idx="minor">
            <a:schemeClr val="tx1"/>
          </a:fontRef>
        </p:style>
      </p:cxnSp>
      <p:sp>
        <p:nvSpPr>
          <p:cNvPr id="10" name="Line 24"/>
          <p:cNvSpPr>
            <a:spLocks noChangeShapeType="1"/>
          </p:cNvSpPr>
          <p:nvPr/>
        </p:nvSpPr>
        <p:spPr bwMode="auto">
          <a:xfrm flipV="1">
            <a:off x="3598240" y="1998575"/>
            <a:ext cx="549632" cy="530225"/>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3" name="Line 24"/>
          <p:cNvSpPr>
            <a:spLocks noChangeShapeType="1"/>
          </p:cNvSpPr>
          <p:nvPr/>
        </p:nvSpPr>
        <p:spPr bwMode="auto">
          <a:xfrm flipH="1" flipV="1">
            <a:off x="4252647" y="1945988"/>
            <a:ext cx="92076" cy="1265437"/>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4" name="Line 24"/>
          <p:cNvSpPr>
            <a:spLocks noChangeShapeType="1"/>
          </p:cNvSpPr>
          <p:nvPr/>
        </p:nvSpPr>
        <p:spPr bwMode="auto">
          <a:xfrm flipH="1" flipV="1">
            <a:off x="4262788" y="1945989"/>
            <a:ext cx="748685" cy="557411"/>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8" name="图片 7">
            <a:extLst>
              <a:ext uri="{FF2B5EF4-FFF2-40B4-BE49-F238E27FC236}">
                <a16:creationId xmlns:a16="http://schemas.microsoft.com/office/drawing/2014/main" id="{557C2A2F-6405-C44C-65EF-98094CDD130B}"/>
              </a:ext>
            </a:extLst>
          </p:cNvPr>
          <p:cNvPicPr>
            <a:picLocks noChangeAspect="1"/>
          </p:cNvPicPr>
          <p:nvPr/>
        </p:nvPicPr>
        <p:blipFill>
          <a:blip r:embed="rId3"/>
          <a:stretch>
            <a:fillRect/>
          </a:stretch>
        </p:blipFill>
        <p:spPr>
          <a:xfrm>
            <a:off x="6032134" y="2972160"/>
            <a:ext cx="392727" cy="360000"/>
          </a:xfrm>
          <a:prstGeom prst="rect">
            <a:avLst/>
          </a:prstGeom>
        </p:spPr>
      </p:pic>
      <p:pic>
        <p:nvPicPr>
          <p:cNvPr id="65" name="图片 64">
            <a:extLst>
              <a:ext uri="{FF2B5EF4-FFF2-40B4-BE49-F238E27FC236}">
                <a16:creationId xmlns:a16="http://schemas.microsoft.com/office/drawing/2014/main" id="{9E86F9CE-948D-E6C5-4F78-7D90B8913ED7}"/>
              </a:ext>
            </a:extLst>
          </p:cNvPr>
          <p:cNvPicPr>
            <a:picLocks noChangeAspect="1"/>
          </p:cNvPicPr>
          <p:nvPr/>
        </p:nvPicPr>
        <p:blipFill>
          <a:blip r:embed="rId3"/>
          <a:stretch>
            <a:fillRect/>
          </a:stretch>
        </p:blipFill>
        <p:spPr>
          <a:xfrm>
            <a:off x="5882364" y="2202751"/>
            <a:ext cx="392727" cy="360000"/>
          </a:xfrm>
          <a:prstGeom prst="rect">
            <a:avLst/>
          </a:prstGeom>
        </p:spPr>
      </p:pic>
      <p:pic>
        <p:nvPicPr>
          <p:cNvPr id="67" name="图片 66">
            <a:extLst>
              <a:ext uri="{FF2B5EF4-FFF2-40B4-BE49-F238E27FC236}">
                <a16:creationId xmlns:a16="http://schemas.microsoft.com/office/drawing/2014/main" id="{D52B059A-4EB3-FEBB-CB0D-2268E1281271}"/>
              </a:ext>
            </a:extLst>
          </p:cNvPr>
          <p:cNvPicPr>
            <a:picLocks noChangeAspect="1"/>
          </p:cNvPicPr>
          <p:nvPr/>
        </p:nvPicPr>
        <p:blipFill>
          <a:blip r:embed="rId3"/>
          <a:stretch>
            <a:fillRect/>
          </a:stretch>
        </p:blipFill>
        <p:spPr>
          <a:xfrm>
            <a:off x="3414359" y="3569589"/>
            <a:ext cx="392727" cy="360000"/>
          </a:xfrm>
          <a:prstGeom prst="rect">
            <a:avLst/>
          </a:prstGeom>
        </p:spPr>
      </p:pic>
      <p:pic>
        <p:nvPicPr>
          <p:cNvPr id="68" name="图片 67">
            <a:extLst>
              <a:ext uri="{FF2B5EF4-FFF2-40B4-BE49-F238E27FC236}">
                <a16:creationId xmlns:a16="http://schemas.microsoft.com/office/drawing/2014/main" id="{32C0ECED-38FD-2E39-33F1-E2A45281D30B}"/>
              </a:ext>
            </a:extLst>
          </p:cNvPr>
          <p:cNvPicPr>
            <a:picLocks noChangeAspect="1"/>
          </p:cNvPicPr>
          <p:nvPr/>
        </p:nvPicPr>
        <p:blipFill>
          <a:blip r:embed="rId3"/>
          <a:stretch>
            <a:fillRect/>
          </a:stretch>
        </p:blipFill>
        <p:spPr>
          <a:xfrm>
            <a:off x="2268990" y="2377436"/>
            <a:ext cx="392727" cy="360000"/>
          </a:xfrm>
          <a:prstGeom prst="rect">
            <a:avLst/>
          </a:prstGeom>
        </p:spPr>
      </p:pic>
      <p:pic>
        <p:nvPicPr>
          <p:cNvPr id="69" name="图片 68">
            <a:extLst>
              <a:ext uri="{FF2B5EF4-FFF2-40B4-BE49-F238E27FC236}">
                <a16:creationId xmlns:a16="http://schemas.microsoft.com/office/drawing/2014/main" id="{A5022D63-E0B4-AEFC-9D22-200B57C77F40}"/>
              </a:ext>
            </a:extLst>
          </p:cNvPr>
          <p:cNvPicPr>
            <a:picLocks noChangeAspect="1"/>
          </p:cNvPicPr>
          <p:nvPr/>
        </p:nvPicPr>
        <p:blipFill>
          <a:blip r:embed="rId3"/>
          <a:stretch>
            <a:fillRect/>
          </a:stretch>
        </p:blipFill>
        <p:spPr>
          <a:xfrm>
            <a:off x="2178801" y="3096860"/>
            <a:ext cx="392727" cy="360000"/>
          </a:xfrm>
          <a:prstGeom prst="rect">
            <a:avLst/>
          </a:prstGeom>
        </p:spPr>
      </p:pic>
      <p:pic>
        <p:nvPicPr>
          <p:cNvPr id="70" name="图片 69">
            <a:extLst>
              <a:ext uri="{FF2B5EF4-FFF2-40B4-BE49-F238E27FC236}">
                <a16:creationId xmlns:a16="http://schemas.microsoft.com/office/drawing/2014/main" id="{9315541C-A874-1215-245C-EA56227AB143}"/>
              </a:ext>
            </a:extLst>
          </p:cNvPr>
          <p:cNvPicPr>
            <a:picLocks noChangeAspect="1"/>
          </p:cNvPicPr>
          <p:nvPr/>
        </p:nvPicPr>
        <p:blipFill>
          <a:blip r:embed="rId3"/>
          <a:stretch>
            <a:fillRect/>
          </a:stretch>
        </p:blipFill>
        <p:spPr>
          <a:xfrm>
            <a:off x="5065380" y="3634713"/>
            <a:ext cx="392727" cy="360000"/>
          </a:xfrm>
          <a:prstGeom prst="rect">
            <a:avLst/>
          </a:prstGeom>
        </p:spPr>
      </p:pic>
      <p:sp>
        <p:nvSpPr>
          <p:cNvPr id="22" name="Text Box 67"/>
          <p:cNvSpPr txBox="1">
            <a:spLocks noChangeArrowheads="1"/>
          </p:cNvSpPr>
          <p:nvPr/>
        </p:nvSpPr>
        <p:spPr bwMode="auto">
          <a:xfrm>
            <a:off x="6198762" y="2239356"/>
            <a:ext cx="37702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4</a:t>
            </a:r>
          </a:p>
        </p:txBody>
      </p:sp>
      <p:sp>
        <p:nvSpPr>
          <p:cNvPr id="35" name="Text Box 67"/>
          <p:cNvSpPr txBox="1">
            <a:spLocks noChangeArrowheads="1"/>
          </p:cNvSpPr>
          <p:nvPr/>
        </p:nvSpPr>
        <p:spPr bwMode="auto">
          <a:xfrm>
            <a:off x="5115852" y="3426582"/>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2</a:t>
            </a:r>
          </a:p>
        </p:txBody>
      </p:sp>
      <p:sp>
        <p:nvSpPr>
          <p:cNvPr id="38" name="Text Box 67"/>
          <p:cNvSpPr txBox="1">
            <a:spLocks noChangeArrowheads="1"/>
          </p:cNvSpPr>
          <p:nvPr/>
        </p:nvSpPr>
        <p:spPr bwMode="auto">
          <a:xfrm>
            <a:off x="3486907" y="3357714"/>
            <a:ext cx="34657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1</a:t>
            </a:r>
          </a:p>
        </p:txBody>
      </p:sp>
      <p:sp>
        <p:nvSpPr>
          <p:cNvPr id="41" name="Text Box 67"/>
          <p:cNvSpPr txBox="1">
            <a:spLocks noChangeArrowheads="1"/>
          </p:cNvSpPr>
          <p:nvPr/>
        </p:nvSpPr>
        <p:spPr bwMode="auto">
          <a:xfrm>
            <a:off x="6071043" y="27374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3</a:t>
            </a:r>
          </a:p>
        </p:txBody>
      </p:sp>
      <p:sp>
        <p:nvSpPr>
          <p:cNvPr id="44" name="Text Box 67"/>
          <p:cNvSpPr txBox="1">
            <a:spLocks noChangeArrowheads="1"/>
          </p:cNvSpPr>
          <p:nvPr/>
        </p:nvSpPr>
        <p:spPr bwMode="auto">
          <a:xfrm>
            <a:off x="2319552" y="2153109"/>
            <a:ext cx="37221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6</a:t>
            </a:r>
          </a:p>
        </p:txBody>
      </p:sp>
      <p:sp>
        <p:nvSpPr>
          <p:cNvPr id="47" name="Text Box 67"/>
          <p:cNvSpPr txBox="1">
            <a:spLocks noChangeArrowheads="1"/>
          </p:cNvSpPr>
          <p:nvPr/>
        </p:nvSpPr>
        <p:spPr bwMode="auto">
          <a:xfrm>
            <a:off x="2215539" y="289921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5</a:t>
            </a: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26642" y="1262461"/>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75" name="直接箭头连接符 74">
            <a:extLst>
              <a:ext uri="{FF2B5EF4-FFF2-40B4-BE49-F238E27FC236}">
                <a16:creationId xmlns:a16="http://schemas.microsoft.com/office/drawing/2014/main" id="{956463EA-52CC-A666-F7DB-4B41C2F26CC2}"/>
              </a:ext>
            </a:extLst>
          </p:cNvPr>
          <p:cNvCxnSpPr>
            <a:cxnSpLocks/>
          </p:cNvCxnSpPr>
          <p:nvPr/>
        </p:nvCxnSpPr>
        <p:spPr>
          <a:xfrm>
            <a:off x="3822988" y="2911853"/>
            <a:ext cx="273769" cy="20516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78" name="直接箭头连接符 77">
            <a:extLst>
              <a:ext uri="{FF2B5EF4-FFF2-40B4-BE49-F238E27FC236}">
                <a16:creationId xmlns:a16="http://schemas.microsoft.com/office/drawing/2014/main" id="{CDFF460C-EF24-781E-68CD-04D44EA25C14}"/>
              </a:ext>
            </a:extLst>
          </p:cNvPr>
          <p:cNvCxnSpPr>
            <a:cxnSpLocks/>
          </p:cNvCxnSpPr>
          <p:nvPr/>
        </p:nvCxnSpPr>
        <p:spPr>
          <a:xfrm flipV="1">
            <a:off x="4567537" y="2855825"/>
            <a:ext cx="239724" cy="23926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85" name="直接箭头连接符 84">
            <a:extLst>
              <a:ext uri="{FF2B5EF4-FFF2-40B4-BE49-F238E27FC236}">
                <a16:creationId xmlns:a16="http://schemas.microsoft.com/office/drawing/2014/main" id="{F6CACA05-4E6C-1F9C-2CFD-CB4F1DA0813E}"/>
              </a:ext>
            </a:extLst>
          </p:cNvPr>
          <p:cNvCxnSpPr>
            <a:cxnSpLocks/>
          </p:cNvCxnSpPr>
          <p:nvPr/>
        </p:nvCxnSpPr>
        <p:spPr>
          <a:xfrm>
            <a:off x="2792875" y="2637752"/>
            <a:ext cx="340074" cy="5122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88" name="直接箭头连接符 87">
            <a:extLst>
              <a:ext uri="{FF2B5EF4-FFF2-40B4-BE49-F238E27FC236}">
                <a16:creationId xmlns:a16="http://schemas.microsoft.com/office/drawing/2014/main" id="{74CCB2C1-5A19-1351-947A-3145ABBB86DA}"/>
              </a:ext>
            </a:extLst>
          </p:cNvPr>
          <p:cNvCxnSpPr>
            <a:cxnSpLocks/>
          </p:cNvCxnSpPr>
          <p:nvPr/>
        </p:nvCxnSpPr>
        <p:spPr>
          <a:xfrm>
            <a:off x="5601171" y="2740551"/>
            <a:ext cx="281193" cy="12939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694186AA-A26E-6D62-F2F5-C88DCA966098}"/>
              </a:ext>
            </a:extLst>
          </p:cNvPr>
          <p:cNvCxnSpPr>
            <a:cxnSpLocks/>
          </p:cNvCxnSpPr>
          <p:nvPr/>
        </p:nvCxnSpPr>
        <p:spPr>
          <a:xfrm flipV="1">
            <a:off x="5526647" y="2520319"/>
            <a:ext cx="316129" cy="86050"/>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94" name="直接箭头连接符 93">
            <a:extLst>
              <a:ext uri="{FF2B5EF4-FFF2-40B4-BE49-F238E27FC236}">
                <a16:creationId xmlns:a16="http://schemas.microsoft.com/office/drawing/2014/main" id="{4D040A4C-97DD-2DF5-A749-269430616018}"/>
              </a:ext>
            </a:extLst>
          </p:cNvPr>
          <p:cNvCxnSpPr>
            <a:cxnSpLocks/>
          </p:cNvCxnSpPr>
          <p:nvPr/>
        </p:nvCxnSpPr>
        <p:spPr>
          <a:xfrm flipV="1">
            <a:off x="2883992" y="2889375"/>
            <a:ext cx="263242" cy="200409"/>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96" name="Text Box 69">
            <a:extLst>
              <a:ext uri="{FF2B5EF4-FFF2-40B4-BE49-F238E27FC236}">
                <a16:creationId xmlns:a16="http://schemas.microsoft.com/office/drawing/2014/main" id="{A85D70BB-4ADE-ED76-34EA-FDA906F13899}"/>
              </a:ext>
            </a:extLst>
          </p:cNvPr>
          <p:cNvSpPr txBox="1">
            <a:spLocks noChangeArrowheads="1"/>
          </p:cNvSpPr>
          <p:nvPr/>
        </p:nvSpPr>
        <p:spPr bwMode="auto">
          <a:xfrm>
            <a:off x="2720414" y="3654339"/>
            <a:ext cx="65434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10.1.0.1</a:t>
            </a:r>
            <a:endParaRPr lang="en-US" altLang="zh-CN" sz="1200" baseline="-25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5580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734355" y="1203586"/>
            <a:ext cx="2562706" cy="1220847"/>
          </a:xfrm>
          <a:prstGeom prst="rect">
            <a:avLst/>
          </a:prstGeom>
          <a:solidFill>
            <a:schemeClr val="bg1"/>
          </a:solidFill>
        </p:spPr>
        <p:txBody>
          <a:bodyPr wrap="square">
            <a:spAutoFit/>
          </a:bodyPr>
          <a:lstStyle/>
          <a:p>
            <a:pPr>
              <a:lnSpc>
                <a:spcPts val="2200"/>
              </a:lnSpc>
            </a:pPr>
            <a:r>
              <a:rPr lang="zh-CN" altLang="en-US" sz="1600" dirty="0">
                <a:solidFill>
                  <a:srgbClr val="0000FF"/>
                </a:solidFill>
                <a:latin typeface="Montserrat" panose="00000500000000000000" pitchFamily="2" charset="0"/>
                <a:ea typeface="微软雅黑" panose="020B0503020204020204" pitchFamily="34" charset="-122"/>
              </a:rPr>
              <a:t>转发规则：</a:t>
            </a:r>
            <a:endParaRPr lang="en-US" altLang="zh-CN" sz="1600" dirty="0">
              <a:solidFill>
                <a:srgbClr val="0000FF"/>
              </a:solidFill>
              <a:latin typeface="Montserrat" panose="00000500000000000000" pitchFamily="2" charset="0"/>
              <a:ea typeface="微软雅黑" panose="020B0503020204020204" pitchFamily="34" charset="-122"/>
            </a:endParaRPr>
          </a:p>
          <a:p>
            <a:pPr>
              <a:lnSpc>
                <a:spcPts val="2200"/>
              </a:lnSpc>
            </a:pPr>
            <a:r>
              <a:rPr lang="zh-CN" altLang="en-US" sz="1600" dirty="0">
                <a:latin typeface="Montserrat" panose="00000500000000000000" pitchFamily="2" charset="0"/>
                <a:ea typeface="微软雅黑" panose="020B0503020204020204" pitchFamily="34" charset="-122"/>
              </a:rPr>
              <a:t>源：</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5</a:t>
            </a:r>
            <a:r>
              <a:rPr lang="en-US" altLang="zh-CN" sz="1600" dirty="0">
                <a:latin typeface="Montserrat" panose="00000500000000000000" pitchFamily="2" charset="0"/>
                <a:ea typeface="微软雅黑" panose="020B0503020204020204" pitchFamily="34" charset="-122"/>
              </a:rPr>
              <a:t> </a:t>
            </a:r>
            <a:r>
              <a:rPr lang="zh-CN" altLang="en-US" sz="1600" dirty="0">
                <a:latin typeface="Montserrat" panose="00000500000000000000" pitchFamily="2" charset="0"/>
                <a:ea typeface="微软雅黑" panose="020B0503020204020204" pitchFamily="34" charset="-122"/>
              </a:rPr>
              <a:t>或 </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6</a:t>
            </a:r>
            <a:r>
              <a:rPr lang="en-US" altLang="zh-CN" sz="1600" dirty="0">
                <a:latin typeface="Montserrat" panose="00000500000000000000" pitchFamily="2" charset="0"/>
                <a:ea typeface="微软雅黑" panose="020B0503020204020204" pitchFamily="34" charset="-122"/>
              </a:rPr>
              <a:t> </a:t>
            </a:r>
          </a:p>
          <a:p>
            <a:pPr>
              <a:lnSpc>
                <a:spcPts val="2200"/>
              </a:lnSpc>
            </a:pPr>
            <a:r>
              <a:rPr lang="zh-CN" altLang="en-US" sz="1600" dirty="0">
                <a:latin typeface="Montserrat" panose="00000500000000000000" pitchFamily="2" charset="0"/>
                <a:ea typeface="微软雅黑" panose="020B0503020204020204" pitchFamily="34" charset="-122"/>
              </a:rPr>
              <a:t>目的：</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3</a:t>
            </a:r>
            <a:r>
              <a:rPr lang="en-US" altLang="zh-CN" sz="1600" dirty="0">
                <a:latin typeface="Montserrat" panose="00000500000000000000" pitchFamily="2" charset="0"/>
                <a:ea typeface="微软雅黑" panose="020B0503020204020204" pitchFamily="34" charset="-122"/>
              </a:rPr>
              <a:t> </a:t>
            </a:r>
            <a:r>
              <a:rPr lang="zh-CN" altLang="en-US" sz="1600" dirty="0">
                <a:latin typeface="Montserrat" panose="00000500000000000000" pitchFamily="2" charset="0"/>
                <a:ea typeface="微软雅黑" panose="020B0503020204020204" pitchFamily="34" charset="-122"/>
              </a:rPr>
              <a:t>或 </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4</a:t>
            </a:r>
            <a:r>
              <a:rPr lang="en-US" altLang="zh-CN" sz="1600" dirty="0">
                <a:latin typeface="Montserrat" panose="00000500000000000000" pitchFamily="2" charset="0"/>
                <a:ea typeface="微软雅黑" panose="020B0503020204020204" pitchFamily="34" charset="-122"/>
              </a:rPr>
              <a:t> </a:t>
            </a:r>
          </a:p>
          <a:p>
            <a:pPr>
              <a:lnSpc>
                <a:spcPts val="2200"/>
              </a:lnSpc>
            </a:pPr>
            <a:r>
              <a:rPr lang="zh-CN" altLang="en-US" sz="1600" dirty="0">
                <a:latin typeface="Montserrat" panose="00000500000000000000" pitchFamily="2" charset="0"/>
                <a:ea typeface="微软雅黑" panose="020B0503020204020204" pitchFamily="34" charset="-122"/>
              </a:rPr>
              <a:t>路径：</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3</a:t>
            </a:r>
            <a:r>
              <a:rPr lang="en-US" altLang="zh-CN" sz="1600" dirty="0">
                <a:latin typeface="Montserrat" panose="00000500000000000000" pitchFamily="2" charset="0"/>
                <a:ea typeface="微软雅黑" panose="020B0503020204020204" pitchFamily="34" charset="-122"/>
              </a:rPr>
              <a:t> </a:t>
            </a:r>
            <a:r>
              <a:rPr lang="en-US" altLang="zh-CN" sz="1600" dirty="0">
                <a:latin typeface="Montserrat" panose="00000500000000000000" pitchFamily="2" charset="0"/>
                <a:ea typeface="微软雅黑" panose="020B0503020204020204" pitchFamily="34" charset="-122"/>
                <a:sym typeface="Wingdings" panose="05000000000000000000" pitchFamily="2" charset="2"/>
              </a:rPr>
              <a:t> </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1</a:t>
            </a:r>
            <a:r>
              <a:rPr lang="en-US" altLang="zh-CN" sz="1600" dirty="0">
                <a:latin typeface="Montserrat" panose="00000500000000000000" pitchFamily="2" charset="0"/>
                <a:ea typeface="微软雅黑" panose="020B0503020204020204" pitchFamily="34" charset="-122"/>
              </a:rPr>
              <a:t> </a:t>
            </a:r>
            <a:r>
              <a:rPr lang="en-US" altLang="zh-CN" sz="1600" dirty="0">
                <a:latin typeface="Montserrat" panose="00000500000000000000" pitchFamily="2" charset="0"/>
                <a:ea typeface="微软雅黑" panose="020B0503020204020204" pitchFamily="34" charset="-122"/>
                <a:sym typeface="Wingdings" panose="05000000000000000000" pitchFamily="2" charset="2"/>
              </a:rPr>
              <a:t> </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2</a:t>
            </a:r>
            <a:r>
              <a:rPr lang="zh-CN" altLang="en-US" sz="1600" dirty="0">
                <a:latin typeface="Montserrat" panose="00000500000000000000" pitchFamily="2" charset="0"/>
                <a:ea typeface="微软雅黑" panose="020B0503020204020204" pitchFamily="34" charset="-122"/>
              </a:rPr>
              <a:t>。</a:t>
            </a:r>
          </a:p>
        </p:txBody>
      </p:sp>
      <p:graphicFrame>
        <p:nvGraphicFramePr>
          <p:cNvPr id="5" name="表格 4"/>
          <p:cNvGraphicFramePr>
            <a:graphicFrameLocks noGrp="1"/>
          </p:cNvGraphicFramePr>
          <p:nvPr>
            <p:extLst>
              <p:ext uri="{D42A27DB-BD31-4B8C-83A1-F6EECF244321}">
                <p14:modId xmlns:p14="http://schemas.microsoft.com/office/powerpoint/2010/main" val="4163695321"/>
              </p:ext>
            </p:extLst>
          </p:nvPr>
        </p:nvGraphicFramePr>
        <p:xfrm>
          <a:off x="642298" y="3159763"/>
          <a:ext cx="3812007" cy="574548"/>
        </p:xfrm>
        <a:graphic>
          <a:graphicData uri="http://schemas.openxmlformats.org/drawingml/2006/table">
            <a:tbl>
              <a:tblPr firstRow="1" firstCol="1" bandRow="1"/>
              <a:tblGrid>
                <a:gridCol w="3123944">
                  <a:extLst>
                    <a:ext uri="{9D8B030D-6E8A-4147-A177-3AD203B41FA5}">
                      <a16:colId xmlns:a16="http://schemas.microsoft.com/office/drawing/2014/main" val="369496196"/>
                    </a:ext>
                  </a:extLst>
                </a:gridCol>
                <a:gridCol w="688063">
                  <a:extLst>
                    <a:ext uri="{9D8B030D-6E8A-4147-A177-3AD203B41FA5}">
                      <a16:colId xmlns:a16="http://schemas.microsoft.com/office/drawing/2014/main" val="3538432755"/>
                    </a:ext>
                  </a:extLst>
                </a:gridCol>
              </a:tblGrid>
              <a:tr h="135248">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05501919"/>
                  </a:ext>
                </a:extLst>
              </a:tr>
              <a:tr h="277086">
                <a:tc>
                  <a:txBody>
                    <a:bodyPr/>
                    <a:lstStyle/>
                    <a:p>
                      <a:pPr marL="0" indent="0" algn="just"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源地址</a:t>
                      </a:r>
                      <a:r>
                        <a:rPr lang="en-US" sz="1100" b="1" kern="500" dirty="0">
                          <a:effectLst/>
                          <a:latin typeface="微软雅黑" panose="020B0503020204020204" pitchFamily="34" charset="-122"/>
                          <a:ea typeface="微软雅黑" panose="020B0503020204020204" pitchFamily="34" charset="-122"/>
                        </a:rPr>
                        <a:t> = 10.3.*.*</a:t>
                      </a:r>
                      <a:r>
                        <a:rPr lang="zh-CN" sz="1100" b="1" kern="500" dirty="0">
                          <a:effectLst/>
                          <a:latin typeface="微软雅黑" panose="020B0503020204020204" pitchFamily="34" charset="-122"/>
                          <a:ea typeface="微软雅黑" panose="020B0503020204020204" pitchFamily="34" charset="-122"/>
                        </a:rPr>
                        <a:t>；</a:t>
                      </a: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目的地址</a:t>
                      </a:r>
                      <a:r>
                        <a:rPr lang="en-US" sz="1100" b="1" kern="500" dirty="0">
                          <a:effectLst/>
                          <a:latin typeface="微软雅黑" panose="020B0503020204020204" pitchFamily="34" charset="-122"/>
                          <a:ea typeface="微软雅黑" panose="020B0503020204020204" pitchFamily="34" charset="-122"/>
                        </a:rPr>
                        <a:t> = 10.2.*.*</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转发</a:t>
                      </a:r>
                      <a:r>
                        <a:rPr lang="en-US" sz="1100" b="1" kern="500" dirty="0">
                          <a:effectLst/>
                          <a:latin typeface="微软雅黑" panose="020B0503020204020204" pitchFamily="34" charset="-122"/>
                          <a:ea typeface="微软雅黑" panose="020B0503020204020204" pitchFamily="34" charset="-122"/>
                        </a:rPr>
                        <a:t>(3)</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31699035"/>
                  </a:ext>
                </a:extLst>
              </a:tr>
            </a:tbl>
          </a:graphicData>
        </a:graphic>
      </p:graphicFrame>
      <p:graphicFrame>
        <p:nvGraphicFramePr>
          <p:cNvPr id="6" name="表格 5"/>
          <p:cNvGraphicFramePr>
            <a:graphicFrameLocks noGrp="1"/>
          </p:cNvGraphicFramePr>
          <p:nvPr>
            <p:extLst>
              <p:ext uri="{D42A27DB-BD31-4B8C-83A1-F6EECF244321}">
                <p14:modId xmlns:p14="http://schemas.microsoft.com/office/powerpoint/2010/main" val="2853904915"/>
              </p:ext>
            </p:extLst>
          </p:nvPr>
        </p:nvGraphicFramePr>
        <p:xfrm>
          <a:off x="656924" y="4023330"/>
          <a:ext cx="4802315" cy="574548"/>
        </p:xfrm>
        <a:graphic>
          <a:graphicData uri="http://schemas.openxmlformats.org/drawingml/2006/table">
            <a:tbl>
              <a:tblPr firstRow="1" firstCol="1" bandRow="1"/>
              <a:tblGrid>
                <a:gridCol w="4014664">
                  <a:extLst>
                    <a:ext uri="{9D8B030D-6E8A-4147-A177-3AD203B41FA5}">
                      <a16:colId xmlns:a16="http://schemas.microsoft.com/office/drawing/2014/main" val="2854143695"/>
                    </a:ext>
                  </a:extLst>
                </a:gridCol>
                <a:gridCol w="787651">
                  <a:extLst>
                    <a:ext uri="{9D8B030D-6E8A-4147-A177-3AD203B41FA5}">
                      <a16:colId xmlns:a16="http://schemas.microsoft.com/office/drawing/2014/main" val="1097916237"/>
                    </a:ext>
                  </a:extLst>
                </a:gridCol>
              </a:tblGrid>
              <a:tr h="181607">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8085059"/>
                  </a:ext>
                </a:extLst>
              </a:tr>
              <a:tr h="334282">
                <a:tc>
                  <a:txBody>
                    <a:bodyPr/>
                    <a:lstStyle/>
                    <a:p>
                      <a:pPr marL="0" indent="0" algn="l" defTabSz="914400" rtl="0" eaLnBrk="1" fontAlgn="base" latinLnBrk="0" hangingPunct="1">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入端口</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defTabSz="914400" rtl="0" eaLnBrk="1" fontAlgn="base" latinLnBrk="0" hangingPunct="1">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54572938"/>
                  </a:ext>
                </a:extLst>
              </a:tr>
            </a:tbl>
          </a:graphicData>
        </a:graphic>
      </p:graphicFrame>
      <p:graphicFrame>
        <p:nvGraphicFramePr>
          <p:cNvPr id="66" name="表格 65"/>
          <p:cNvGraphicFramePr>
            <a:graphicFrameLocks noGrp="1"/>
          </p:cNvGraphicFramePr>
          <p:nvPr>
            <p:extLst>
              <p:ext uri="{D42A27DB-BD31-4B8C-83A1-F6EECF244321}">
                <p14:modId xmlns:p14="http://schemas.microsoft.com/office/powerpoint/2010/main" val="4144984359"/>
              </p:ext>
            </p:extLst>
          </p:nvPr>
        </p:nvGraphicFramePr>
        <p:xfrm>
          <a:off x="4733515" y="3159763"/>
          <a:ext cx="3812975" cy="777748"/>
        </p:xfrm>
        <a:graphic>
          <a:graphicData uri="http://schemas.openxmlformats.org/drawingml/2006/table">
            <a:tbl>
              <a:tblPr firstRow="1" firstCol="1" bandRow="1"/>
              <a:tblGrid>
                <a:gridCol w="3106302">
                  <a:extLst>
                    <a:ext uri="{9D8B030D-6E8A-4147-A177-3AD203B41FA5}">
                      <a16:colId xmlns:a16="http://schemas.microsoft.com/office/drawing/2014/main" val="3081916040"/>
                    </a:ext>
                  </a:extLst>
                </a:gridCol>
                <a:gridCol w="706673">
                  <a:extLst>
                    <a:ext uri="{9D8B030D-6E8A-4147-A177-3AD203B41FA5}">
                      <a16:colId xmlns:a16="http://schemas.microsoft.com/office/drawing/2014/main" val="1076454317"/>
                    </a:ext>
                  </a:extLst>
                </a:gridCol>
              </a:tblGrid>
              <a:tr h="166399">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530612">
                <a:tc>
                  <a:txBody>
                    <a:bodyPr/>
                    <a:lstStyle/>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7" name="矩形 66"/>
          <p:cNvSpPr/>
          <p:nvPr/>
        </p:nvSpPr>
        <p:spPr>
          <a:xfrm>
            <a:off x="2239562"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3</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8" name="矩形 67"/>
          <p:cNvSpPr/>
          <p:nvPr/>
        </p:nvSpPr>
        <p:spPr>
          <a:xfrm>
            <a:off x="6298280"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9" name="矩形 68"/>
          <p:cNvSpPr/>
          <p:nvPr/>
        </p:nvSpPr>
        <p:spPr>
          <a:xfrm>
            <a:off x="2239562" y="3789316"/>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1</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AFCAFB28-CF8F-A5A0-7F32-E8C2CAB4E82A}"/>
              </a:ext>
            </a:extLst>
          </p:cNvPr>
          <p:cNvSpPr>
            <a:spLocks noGrp="1"/>
          </p:cNvSpPr>
          <p:nvPr>
            <p:ph type="title"/>
          </p:nvPr>
        </p:nvSpPr>
        <p:spPr>
          <a:xfrm>
            <a:off x="486000" y="550723"/>
            <a:ext cx="8172000" cy="338554"/>
          </a:xfrm>
        </p:spPr>
        <p:txBody>
          <a:bodyPr/>
          <a:lstStyle/>
          <a:p>
            <a:r>
              <a:rPr lang="zh-CN" altLang="en-US" dirty="0"/>
              <a:t>例子：简单转发</a:t>
            </a:r>
          </a:p>
        </p:txBody>
      </p:sp>
    </p:spTree>
    <p:extLst>
      <p:ext uri="{BB962C8B-B14F-4D97-AF65-F5344CB8AC3E}">
        <p14:creationId xmlns:p14="http://schemas.microsoft.com/office/powerpoint/2010/main" val="2522219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7"/>
                                        </p:tgtEl>
                                        <p:attrNameLst>
                                          <p:attrName>style.visibility</p:attrName>
                                        </p:attrNameLst>
                                      </p:cBhvr>
                                      <p:to>
                                        <p:strVal val="visible"/>
                                      </p:to>
                                    </p:set>
                                    <p:animEffect transition="in" filter="wipe(up)">
                                      <p:cBhvr>
                                        <p:cTn id="7" dur="1000"/>
                                        <p:tgtEl>
                                          <p:spTgt spid="6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69"/>
                                        </p:tgtEl>
                                        <p:attrNameLst>
                                          <p:attrName>style.visibility</p:attrName>
                                        </p:attrNameLst>
                                      </p:cBhvr>
                                      <p:to>
                                        <p:strVal val="visible"/>
                                      </p:to>
                                    </p:set>
                                    <p:animEffect transition="in" filter="wipe(up)">
                                      <p:cBhvr>
                                        <p:cTn id="16" dur="1000"/>
                                        <p:tgtEl>
                                          <p:spTgt spid="69"/>
                                        </p:tgtEl>
                                      </p:cBhvr>
                                    </p:animEffect>
                                  </p:childTnLst>
                                </p:cTn>
                              </p:par>
                            </p:childTnLst>
                          </p:cTn>
                        </p:par>
                        <p:par>
                          <p:cTn id="17" fill="hold">
                            <p:stCondLst>
                              <p:cond delay="1000"/>
                            </p:stCondLst>
                            <p:childTnLst>
                              <p:par>
                                <p:cTn id="18" presetID="22" presetClass="entr" presetSubtype="1" fill="hold" nodeType="after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wipe(up)">
                                      <p:cBhvr>
                                        <p:cTn id="20" dur="1000"/>
                                        <p:tgtEl>
                                          <p:spTgt spid="6"/>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1" fill="hold" grpId="0" nodeType="clickEffect">
                                  <p:stCondLst>
                                    <p:cond delay="0"/>
                                  </p:stCondLst>
                                  <p:childTnLst>
                                    <p:set>
                                      <p:cBhvr>
                                        <p:cTn id="24" dur="1" fill="hold">
                                          <p:stCondLst>
                                            <p:cond delay="0"/>
                                          </p:stCondLst>
                                        </p:cTn>
                                        <p:tgtEl>
                                          <p:spTgt spid="68"/>
                                        </p:tgtEl>
                                        <p:attrNameLst>
                                          <p:attrName>style.visibility</p:attrName>
                                        </p:attrNameLst>
                                      </p:cBhvr>
                                      <p:to>
                                        <p:strVal val="visible"/>
                                      </p:to>
                                    </p:set>
                                    <p:animEffect transition="in" filter="wipe(up)">
                                      <p:cBhvr>
                                        <p:cTn id="25" dur="1000"/>
                                        <p:tgtEl>
                                          <p:spTgt spid="68"/>
                                        </p:tgtEl>
                                      </p:cBhvr>
                                    </p:animEffect>
                                  </p:childTnLst>
                                </p:cTn>
                              </p:par>
                            </p:childTnLst>
                          </p:cTn>
                        </p:par>
                        <p:par>
                          <p:cTn id="26" fill="hold">
                            <p:stCondLst>
                              <p:cond delay="1000"/>
                            </p:stCondLst>
                            <p:childTnLst>
                              <p:par>
                                <p:cTn id="27" presetID="22" presetClass="entr" presetSubtype="1" fill="hold" nodeType="afterEffect">
                                  <p:stCondLst>
                                    <p:cond delay="0"/>
                                  </p:stCondLst>
                                  <p:childTnLst>
                                    <p:set>
                                      <p:cBhvr>
                                        <p:cTn id="28" dur="1" fill="hold">
                                          <p:stCondLst>
                                            <p:cond delay="0"/>
                                          </p:stCondLst>
                                        </p:cTn>
                                        <p:tgtEl>
                                          <p:spTgt spid="66"/>
                                        </p:tgtEl>
                                        <p:attrNameLst>
                                          <p:attrName>style.visibility</p:attrName>
                                        </p:attrNameLst>
                                      </p:cBhvr>
                                      <p:to>
                                        <p:strVal val="visible"/>
                                      </p:to>
                                    </p:set>
                                    <p:animEffect transition="in" filter="wipe(up)">
                                      <p:cBhvr>
                                        <p:cTn id="29"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p:bldP spid="68" grpId="0"/>
      <p:bldP spid="69" grpId="0"/>
    </p:bldLst>
  </p:timing>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0F259E5-AF0D-A416-2F77-62FCCB2CAF2D}"/>
              </a:ext>
            </a:extLst>
          </p:cNvPr>
          <p:cNvSpPr>
            <a:spLocks noGrp="1"/>
          </p:cNvSpPr>
          <p:nvPr>
            <p:ph type="title"/>
          </p:nvPr>
        </p:nvSpPr>
        <p:spPr>
          <a:xfrm>
            <a:off x="486000" y="550723"/>
            <a:ext cx="8172000" cy="338554"/>
          </a:xfrm>
        </p:spPr>
        <p:txBody>
          <a:bodyPr/>
          <a:lstStyle/>
          <a:p>
            <a:r>
              <a:rPr lang="zh-CN" altLang="en-US" dirty="0"/>
              <a:t>例子：负载均衡</a:t>
            </a:r>
          </a:p>
        </p:txBody>
      </p:sp>
      <p:sp>
        <p:nvSpPr>
          <p:cNvPr id="59" name="内容占位符 58">
            <a:extLst>
              <a:ext uri="{FF2B5EF4-FFF2-40B4-BE49-F238E27FC236}">
                <a16:creationId xmlns:a16="http://schemas.microsoft.com/office/drawing/2014/main" id="{C81CF1FE-4140-34AF-17C0-EF9EFB0793BA}"/>
              </a:ext>
            </a:extLst>
          </p:cNvPr>
          <p:cNvSpPr>
            <a:spLocks noGrp="1"/>
          </p:cNvSpPr>
          <p:nvPr>
            <p:ph sz="quarter" idx="11"/>
          </p:nvPr>
        </p:nvSpPr>
        <p:spPr>
          <a:xfrm>
            <a:off x="486000" y="900000"/>
            <a:ext cx="8172000" cy="3703500"/>
          </a:xfrm>
        </p:spPr>
        <p:txBody>
          <a:bodyPr/>
          <a:lstStyle/>
          <a:p>
            <a:r>
              <a:rPr lang="zh-CN" altLang="en-US" dirty="0"/>
              <a:t>转发规则：</a:t>
            </a:r>
            <a:endParaRPr lang="en-US" altLang="zh-CN" dirty="0"/>
          </a:p>
          <a:p>
            <a:endParaRPr lang="zh-CN" altLang="en-US" dirty="0"/>
          </a:p>
        </p:txBody>
      </p:sp>
      <p:sp>
        <p:nvSpPr>
          <p:cNvPr id="3" name="Line 23">
            <a:extLst>
              <a:ext uri="{FF2B5EF4-FFF2-40B4-BE49-F238E27FC236}">
                <a16:creationId xmlns:a16="http://schemas.microsoft.com/office/drawing/2014/main" id="{9A960BCF-391E-D525-91F1-5AEA699BBC88}"/>
              </a:ext>
            </a:extLst>
          </p:cNvPr>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4" name="Line 25">
            <a:extLst>
              <a:ext uri="{FF2B5EF4-FFF2-40B4-BE49-F238E27FC236}">
                <a16:creationId xmlns:a16="http://schemas.microsoft.com/office/drawing/2014/main" id="{33AE862A-3899-87AD-981D-57EBD4AD9090}"/>
              </a:ext>
            </a:extLst>
          </p:cNvPr>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5" name="Line 26">
            <a:extLst>
              <a:ext uri="{FF2B5EF4-FFF2-40B4-BE49-F238E27FC236}">
                <a16:creationId xmlns:a16="http://schemas.microsoft.com/office/drawing/2014/main" id="{EB7F6E31-A964-EAFC-19F7-C31AA1549CDE}"/>
              </a:ext>
            </a:extLst>
          </p:cNvPr>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 name="Line 27">
            <a:extLst>
              <a:ext uri="{FF2B5EF4-FFF2-40B4-BE49-F238E27FC236}">
                <a16:creationId xmlns:a16="http://schemas.microsoft.com/office/drawing/2014/main" id="{68CA5E78-9BFB-C685-6EEC-42202384352A}"/>
              </a:ext>
            </a:extLst>
          </p:cNvPr>
          <p:cNvSpPr>
            <a:spLocks noChangeShapeType="1"/>
          </p:cNvSpPr>
          <p:nvPr/>
        </p:nvSpPr>
        <p:spPr bwMode="auto">
          <a:xfrm>
            <a:off x="3453622" y="2720024"/>
            <a:ext cx="833276" cy="6247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 name="Line 30">
            <a:extLst>
              <a:ext uri="{FF2B5EF4-FFF2-40B4-BE49-F238E27FC236}">
                <a16:creationId xmlns:a16="http://schemas.microsoft.com/office/drawing/2014/main" id="{B862673B-6B7F-08B2-ED5A-D67801BC1DB9}"/>
              </a:ext>
            </a:extLst>
          </p:cNvPr>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8" name="Text Box 65">
            <a:extLst>
              <a:ext uri="{FF2B5EF4-FFF2-40B4-BE49-F238E27FC236}">
                <a16:creationId xmlns:a16="http://schemas.microsoft.com/office/drawing/2014/main" id="{2DDFC5A5-E25D-2F37-1126-2BED6567D09B}"/>
              </a:ext>
            </a:extLst>
          </p:cNvPr>
          <p:cNvSpPr txBox="1">
            <a:spLocks noChangeArrowheads="1"/>
          </p:cNvSpPr>
          <p:nvPr/>
        </p:nvSpPr>
        <p:spPr bwMode="auto">
          <a:xfrm>
            <a:off x="4292336" y="2935201"/>
            <a:ext cx="31611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1</a:t>
            </a:r>
          </a:p>
        </p:txBody>
      </p:sp>
      <p:sp>
        <p:nvSpPr>
          <p:cNvPr id="9" name="Text Box 65">
            <a:extLst>
              <a:ext uri="{FF2B5EF4-FFF2-40B4-BE49-F238E27FC236}">
                <a16:creationId xmlns:a16="http://schemas.microsoft.com/office/drawing/2014/main" id="{97B957A4-55AE-0909-9A69-8354335F3122}"/>
              </a:ext>
            </a:extLst>
          </p:cNvPr>
          <p:cNvSpPr txBox="1">
            <a:spLocks noChangeArrowheads="1"/>
          </p:cNvSpPr>
          <p:nvPr/>
        </p:nvSpPr>
        <p:spPr bwMode="auto">
          <a:xfrm>
            <a:off x="3284273"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3</a:t>
            </a:r>
          </a:p>
        </p:txBody>
      </p:sp>
      <p:sp>
        <p:nvSpPr>
          <p:cNvPr id="10" name="Text Box 65">
            <a:extLst>
              <a:ext uri="{FF2B5EF4-FFF2-40B4-BE49-F238E27FC236}">
                <a16:creationId xmlns:a16="http://schemas.microsoft.com/office/drawing/2014/main" id="{4600610E-4025-67C0-AAC4-A705DBDE545A}"/>
              </a:ext>
            </a:extLst>
          </p:cNvPr>
          <p:cNvSpPr txBox="1">
            <a:spLocks noChangeArrowheads="1"/>
          </p:cNvSpPr>
          <p:nvPr/>
        </p:nvSpPr>
        <p:spPr bwMode="auto">
          <a:xfrm>
            <a:off x="4940036"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S</a:t>
            </a:r>
            <a:r>
              <a:rPr lang="en-US" altLang="zh-CN" sz="1200" b="1" baseline="-25000">
                <a:latin typeface="Montserrat" panose="00000500000000000000" pitchFamily="2" charset="0"/>
                <a:ea typeface="微软雅黑 Light" panose="020B0502040204020203" pitchFamily="34" charset="-122"/>
              </a:rPr>
              <a:t>2</a:t>
            </a:r>
          </a:p>
        </p:txBody>
      </p:sp>
      <p:sp>
        <p:nvSpPr>
          <p:cNvPr id="11" name="Text Box 69">
            <a:extLst>
              <a:ext uri="{FF2B5EF4-FFF2-40B4-BE49-F238E27FC236}">
                <a16:creationId xmlns:a16="http://schemas.microsoft.com/office/drawing/2014/main" id="{15BBBF82-37AD-C975-09F8-AA7D1DFA240A}"/>
              </a:ext>
            </a:extLst>
          </p:cNvPr>
          <p:cNvSpPr txBox="1">
            <a:spLocks noChangeArrowheads="1"/>
          </p:cNvSpPr>
          <p:nvPr/>
        </p:nvSpPr>
        <p:spPr bwMode="auto">
          <a:xfrm>
            <a:off x="6476211" y="2278205"/>
            <a:ext cx="7312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10.2.0.4</a:t>
            </a:r>
            <a:endParaRPr lang="en-US" altLang="zh-CN" sz="1200" baseline="-25000" dirty="0">
              <a:latin typeface="Montserrat" panose="00000500000000000000" pitchFamily="2" charset="0"/>
              <a:ea typeface="微软雅黑 Light" panose="020B0502040204020203" pitchFamily="34" charset="-122"/>
            </a:endParaRPr>
          </a:p>
        </p:txBody>
      </p:sp>
      <p:sp>
        <p:nvSpPr>
          <p:cNvPr id="12" name="Text Box 69">
            <a:extLst>
              <a:ext uri="{FF2B5EF4-FFF2-40B4-BE49-F238E27FC236}">
                <a16:creationId xmlns:a16="http://schemas.microsoft.com/office/drawing/2014/main" id="{9E55DEC4-D39E-9EE8-2D67-D815568EDA6B}"/>
              </a:ext>
            </a:extLst>
          </p:cNvPr>
          <p:cNvSpPr txBox="1">
            <a:spLocks noChangeArrowheads="1"/>
          </p:cNvSpPr>
          <p:nvPr/>
        </p:nvSpPr>
        <p:spPr bwMode="auto">
          <a:xfrm>
            <a:off x="6391208" y="3009084"/>
            <a:ext cx="7168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10.2.0.3</a:t>
            </a:r>
            <a:endParaRPr lang="en-US" altLang="zh-CN" sz="1200" baseline="-25000" dirty="0">
              <a:latin typeface="Montserrat" panose="00000500000000000000" pitchFamily="2" charset="0"/>
              <a:ea typeface="微软雅黑 Light" panose="020B0502040204020203" pitchFamily="34" charset="-122"/>
            </a:endParaRPr>
          </a:p>
        </p:txBody>
      </p:sp>
      <p:sp>
        <p:nvSpPr>
          <p:cNvPr id="13" name="Text Box 69">
            <a:extLst>
              <a:ext uri="{FF2B5EF4-FFF2-40B4-BE49-F238E27FC236}">
                <a16:creationId xmlns:a16="http://schemas.microsoft.com/office/drawing/2014/main" id="{95DC343D-BCC0-ED48-D7A5-3C18C14B4E9B}"/>
              </a:ext>
            </a:extLst>
          </p:cNvPr>
          <p:cNvSpPr txBox="1">
            <a:spLocks noChangeArrowheads="1"/>
          </p:cNvSpPr>
          <p:nvPr/>
        </p:nvSpPr>
        <p:spPr bwMode="auto">
          <a:xfrm>
            <a:off x="2720414" y="3654339"/>
            <a:ext cx="65434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10.1.0.1</a:t>
            </a:r>
            <a:endParaRPr lang="en-US" altLang="zh-CN" sz="1200" baseline="-25000" dirty="0">
              <a:latin typeface="Montserrat" panose="00000500000000000000" pitchFamily="2" charset="0"/>
              <a:ea typeface="微软雅黑 Light" panose="020B0502040204020203" pitchFamily="34" charset="-122"/>
            </a:endParaRPr>
          </a:p>
        </p:txBody>
      </p:sp>
      <p:sp>
        <p:nvSpPr>
          <p:cNvPr id="14" name="Text Box 69">
            <a:extLst>
              <a:ext uri="{FF2B5EF4-FFF2-40B4-BE49-F238E27FC236}">
                <a16:creationId xmlns:a16="http://schemas.microsoft.com/office/drawing/2014/main" id="{D1F7B81A-FDEE-5DA9-1CE2-B8ED09E4284B}"/>
              </a:ext>
            </a:extLst>
          </p:cNvPr>
          <p:cNvSpPr txBox="1">
            <a:spLocks noChangeArrowheads="1"/>
          </p:cNvSpPr>
          <p:nvPr/>
        </p:nvSpPr>
        <p:spPr bwMode="auto">
          <a:xfrm>
            <a:off x="5434821" y="3654339"/>
            <a:ext cx="68640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10.1.0.2</a:t>
            </a:r>
            <a:endParaRPr lang="en-US" altLang="zh-CN" sz="1200" baseline="-25000" dirty="0">
              <a:latin typeface="Montserrat" panose="00000500000000000000" pitchFamily="2" charset="0"/>
              <a:ea typeface="微软雅黑 Light" panose="020B0502040204020203" pitchFamily="34" charset="-122"/>
            </a:endParaRPr>
          </a:p>
        </p:txBody>
      </p:sp>
      <p:sp>
        <p:nvSpPr>
          <p:cNvPr id="15" name="Text Box 69">
            <a:extLst>
              <a:ext uri="{FF2B5EF4-FFF2-40B4-BE49-F238E27FC236}">
                <a16:creationId xmlns:a16="http://schemas.microsoft.com/office/drawing/2014/main" id="{C33470E9-144F-7E38-494A-CBEC68B2958E}"/>
              </a:ext>
            </a:extLst>
          </p:cNvPr>
          <p:cNvSpPr txBox="1">
            <a:spLocks noChangeArrowheads="1"/>
          </p:cNvSpPr>
          <p:nvPr/>
        </p:nvSpPr>
        <p:spPr bwMode="auto">
          <a:xfrm>
            <a:off x="1611358" y="2870764"/>
            <a:ext cx="7152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a:latin typeface="Montserrat" panose="00000500000000000000" pitchFamily="2" charset="0"/>
                <a:ea typeface="微软雅黑 Light" panose="020B0502040204020203" pitchFamily="34" charset="-122"/>
              </a:rPr>
              <a:t>10.3.0.5</a:t>
            </a:r>
            <a:endParaRPr lang="en-US" altLang="zh-CN" sz="1200" baseline="-25000">
              <a:latin typeface="Montserrat" panose="00000500000000000000" pitchFamily="2" charset="0"/>
              <a:ea typeface="微软雅黑 Light" panose="020B0502040204020203" pitchFamily="34" charset="-122"/>
            </a:endParaRPr>
          </a:p>
        </p:txBody>
      </p:sp>
      <p:sp>
        <p:nvSpPr>
          <p:cNvPr id="16" name="Text Box 69">
            <a:extLst>
              <a:ext uri="{FF2B5EF4-FFF2-40B4-BE49-F238E27FC236}">
                <a16:creationId xmlns:a16="http://schemas.microsoft.com/office/drawing/2014/main" id="{1CB5880E-08E5-BA08-517F-DA11B8606EE6}"/>
              </a:ext>
            </a:extLst>
          </p:cNvPr>
          <p:cNvSpPr txBox="1">
            <a:spLocks noChangeArrowheads="1"/>
          </p:cNvSpPr>
          <p:nvPr/>
        </p:nvSpPr>
        <p:spPr bwMode="auto">
          <a:xfrm>
            <a:off x="1623549" y="2150422"/>
            <a:ext cx="7216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10.3.0.6</a:t>
            </a:r>
            <a:endParaRPr lang="en-US" altLang="zh-CN" sz="1200" baseline="-25000" dirty="0">
              <a:latin typeface="Montserrat" panose="00000500000000000000" pitchFamily="2" charset="0"/>
              <a:ea typeface="微软雅黑 Light" panose="020B0502040204020203" pitchFamily="34" charset="-122"/>
            </a:endParaRPr>
          </a:p>
        </p:txBody>
      </p:sp>
      <p:sp>
        <p:nvSpPr>
          <p:cNvPr id="17" name="Line 23">
            <a:extLst>
              <a:ext uri="{FF2B5EF4-FFF2-40B4-BE49-F238E27FC236}">
                <a16:creationId xmlns:a16="http://schemas.microsoft.com/office/drawing/2014/main" id="{679D3E80-E83C-4F5D-EAB9-4ECBFC71BC64}"/>
              </a:ext>
            </a:extLst>
          </p:cNvPr>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8" name="Line 26">
            <a:extLst>
              <a:ext uri="{FF2B5EF4-FFF2-40B4-BE49-F238E27FC236}">
                <a16:creationId xmlns:a16="http://schemas.microsoft.com/office/drawing/2014/main" id="{4B78EB88-E315-F63B-98F9-27BFC4378D82}"/>
              </a:ext>
            </a:extLst>
          </p:cNvPr>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9" name="Line 26">
            <a:extLst>
              <a:ext uri="{FF2B5EF4-FFF2-40B4-BE49-F238E27FC236}">
                <a16:creationId xmlns:a16="http://schemas.microsoft.com/office/drawing/2014/main" id="{2F6025E8-535D-D2F5-61BD-CA4F8DF9B656}"/>
              </a:ext>
            </a:extLst>
          </p:cNvPr>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20" name="Line 26">
            <a:extLst>
              <a:ext uri="{FF2B5EF4-FFF2-40B4-BE49-F238E27FC236}">
                <a16:creationId xmlns:a16="http://schemas.microsoft.com/office/drawing/2014/main" id="{3D6ACBAF-06BB-6338-CC11-C0832476BBAE}"/>
              </a:ext>
            </a:extLst>
          </p:cNvPr>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21" name="Picture 5">
            <a:extLst>
              <a:ext uri="{FF2B5EF4-FFF2-40B4-BE49-F238E27FC236}">
                <a16:creationId xmlns:a16="http://schemas.microsoft.com/office/drawing/2014/main" id="{A3D695CD-BB26-B499-4F3E-09A5E73A0B1B}"/>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2" name="Picture 5">
            <a:extLst>
              <a:ext uri="{FF2B5EF4-FFF2-40B4-BE49-F238E27FC236}">
                <a16:creationId xmlns:a16="http://schemas.microsoft.com/office/drawing/2014/main" id="{B579B8CA-D254-26A6-A214-FD5FFBC1E792}"/>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3" name="Picture 5">
            <a:extLst>
              <a:ext uri="{FF2B5EF4-FFF2-40B4-BE49-F238E27FC236}">
                <a16:creationId xmlns:a16="http://schemas.microsoft.com/office/drawing/2014/main" id="{401F1B23-7AC5-8CCF-CB8D-F645312D030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4" name="Text Box 69">
            <a:extLst>
              <a:ext uri="{FF2B5EF4-FFF2-40B4-BE49-F238E27FC236}">
                <a16:creationId xmlns:a16="http://schemas.microsoft.com/office/drawing/2014/main" id="{56A0C9D2-9094-9368-E082-278F56C4D1E5}"/>
              </a:ext>
            </a:extLst>
          </p:cNvPr>
          <p:cNvSpPr txBox="1">
            <a:spLocks noChangeArrowheads="1"/>
          </p:cNvSpPr>
          <p:nvPr/>
        </p:nvSpPr>
        <p:spPr bwMode="auto">
          <a:xfrm>
            <a:off x="3041130" y="2379021"/>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25" name="Text Box 69">
            <a:extLst>
              <a:ext uri="{FF2B5EF4-FFF2-40B4-BE49-F238E27FC236}">
                <a16:creationId xmlns:a16="http://schemas.microsoft.com/office/drawing/2014/main" id="{EB65EF40-01A2-76D1-4CED-A45C39EFAA91}"/>
              </a:ext>
            </a:extLst>
          </p:cNvPr>
          <p:cNvSpPr txBox="1">
            <a:spLocks noChangeArrowheads="1"/>
          </p:cNvSpPr>
          <p:nvPr/>
        </p:nvSpPr>
        <p:spPr bwMode="auto">
          <a:xfrm>
            <a:off x="3938252" y="3160140"/>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26" name="Text Box 69">
            <a:extLst>
              <a:ext uri="{FF2B5EF4-FFF2-40B4-BE49-F238E27FC236}">
                <a16:creationId xmlns:a16="http://schemas.microsoft.com/office/drawing/2014/main" id="{741836B3-B0BF-EB0E-9BC7-EE6CC037A540}"/>
              </a:ext>
            </a:extLst>
          </p:cNvPr>
          <p:cNvSpPr txBox="1">
            <a:spLocks noChangeArrowheads="1"/>
          </p:cNvSpPr>
          <p:nvPr/>
        </p:nvSpPr>
        <p:spPr bwMode="auto">
          <a:xfrm>
            <a:off x="4651111" y="2358939"/>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27" name="Text Box 69">
            <a:extLst>
              <a:ext uri="{FF2B5EF4-FFF2-40B4-BE49-F238E27FC236}">
                <a16:creationId xmlns:a16="http://schemas.microsoft.com/office/drawing/2014/main" id="{F8B0FDD4-12CE-0082-5670-265F83D7ECDD}"/>
              </a:ext>
            </a:extLst>
          </p:cNvPr>
          <p:cNvSpPr txBox="1">
            <a:spLocks noChangeArrowheads="1"/>
          </p:cNvSpPr>
          <p:nvPr/>
        </p:nvSpPr>
        <p:spPr bwMode="auto">
          <a:xfrm>
            <a:off x="4076436" y="3398751"/>
            <a:ext cx="28733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2</a:t>
            </a:r>
          </a:p>
        </p:txBody>
      </p:sp>
      <p:sp>
        <p:nvSpPr>
          <p:cNvPr id="28" name="Text Box 69">
            <a:extLst>
              <a:ext uri="{FF2B5EF4-FFF2-40B4-BE49-F238E27FC236}">
                <a16:creationId xmlns:a16="http://schemas.microsoft.com/office/drawing/2014/main" id="{4D3B31DC-FA16-02C6-0D55-8EAA3C69A423}"/>
              </a:ext>
            </a:extLst>
          </p:cNvPr>
          <p:cNvSpPr txBox="1">
            <a:spLocks noChangeArrowheads="1"/>
          </p:cNvSpPr>
          <p:nvPr/>
        </p:nvSpPr>
        <p:spPr bwMode="auto">
          <a:xfrm>
            <a:off x="3141429" y="27132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29" name="Text Box 69">
            <a:extLst>
              <a:ext uri="{FF2B5EF4-FFF2-40B4-BE49-F238E27FC236}">
                <a16:creationId xmlns:a16="http://schemas.microsoft.com/office/drawing/2014/main" id="{F6A776C2-3A03-5C10-DA72-16EAD0523A32}"/>
              </a:ext>
            </a:extLst>
          </p:cNvPr>
          <p:cNvSpPr txBox="1">
            <a:spLocks noChangeArrowheads="1"/>
          </p:cNvSpPr>
          <p:nvPr/>
        </p:nvSpPr>
        <p:spPr bwMode="auto">
          <a:xfrm>
            <a:off x="4724136" y="2646276"/>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30" name="Text Box 69">
            <a:extLst>
              <a:ext uri="{FF2B5EF4-FFF2-40B4-BE49-F238E27FC236}">
                <a16:creationId xmlns:a16="http://schemas.microsoft.com/office/drawing/2014/main" id="{FA6E7DC6-FF32-9D56-5A57-C5E5B83BAEA7}"/>
              </a:ext>
            </a:extLst>
          </p:cNvPr>
          <p:cNvSpPr txBox="1">
            <a:spLocks noChangeArrowheads="1"/>
          </p:cNvSpPr>
          <p:nvPr/>
        </p:nvSpPr>
        <p:spPr bwMode="auto">
          <a:xfrm>
            <a:off x="5284273" y="265450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3</a:t>
            </a:r>
          </a:p>
        </p:txBody>
      </p:sp>
      <p:sp>
        <p:nvSpPr>
          <p:cNvPr id="31" name="Text Box 69">
            <a:extLst>
              <a:ext uri="{FF2B5EF4-FFF2-40B4-BE49-F238E27FC236}">
                <a16:creationId xmlns:a16="http://schemas.microsoft.com/office/drawing/2014/main" id="{90C29910-D626-CC4F-6414-4B5BDF9D8E63}"/>
              </a:ext>
            </a:extLst>
          </p:cNvPr>
          <p:cNvSpPr txBox="1">
            <a:spLocks noChangeArrowheads="1"/>
          </p:cNvSpPr>
          <p:nvPr/>
        </p:nvSpPr>
        <p:spPr bwMode="auto">
          <a:xfrm>
            <a:off x="3414359" y="2741142"/>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32" name="Text Box 69">
            <a:extLst>
              <a:ext uri="{FF2B5EF4-FFF2-40B4-BE49-F238E27FC236}">
                <a16:creationId xmlns:a16="http://schemas.microsoft.com/office/drawing/2014/main" id="{A3EECBE2-CE3E-79AF-916A-1E9D142F85A8}"/>
              </a:ext>
            </a:extLst>
          </p:cNvPr>
          <p:cNvSpPr txBox="1">
            <a:spLocks noChangeArrowheads="1"/>
          </p:cNvSpPr>
          <p:nvPr/>
        </p:nvSpPr>
        <p:spPr bwMode="auto">
          <a:xfrm>
            <a:off x="4470136" y="33987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33" name="Text Box 69">
            <a:extLst>
              <a:ext uri="{FF2B5EF4-FFF2-40B4-BE49-F238E27FC236}">
                <a16:creationId xmlns:a16="http://schemas.microsoft.com/office/drawing/2014/main" id="{32D89E9F-CEFD-7F1B-878C-0934B8EF8535}"/>
              </a:ext>
            </a:extLst>
          </p:cNvPr>
          <p:cNvSpPr txBox="1">
            <a:spLocks noChangeArrowheads="1"/>
          </p:cNvSpPr>
          <p:nvPr/>
        </p:nvSpPr>
        <p:spPr bwMode="auto">
          <a:xfrm>
            <a:off x="3643048" y="2358939"/>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34" name="Text Box 69">
            <a:extLst>
              <a:ext uri="{FF2B5EF4-FFF2-40B4-BE49-F238E27FC236}">
                <a16:creationId xmlns:a16="http://schemas.microsoft.com/office/drawing/2014/main" id="{771C7174-5F69-C84B-E230-F363F60E26C5}"/>
              </a:ext>
            </a:extLst>
          </p:cNvPr>
          <p:cNvSpPr txBox="1">
            <a:spLocks noChangeArrowheads="1"/>
          </p:cNvSpPr>
          <p:nvPr/>
        </p:nvSpPr>
        <p:spPr bwMode="auto">
          <a:xfrm>
            <a:off x="4579673" y="307807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35" name="Text Box 69">
            <a:extLst>
              <a:ext uri="{FF2B5EF4-FFF2-40B4-BE49-F238E27FC236}">
                <a16:creationId xmlns:a16="http://schemas.microsoft.com/office/drawing/2014/main" id="{DDB2A721-B710-ADB5-4FAD-E870865A6620}"/>
              </a:ext>
            </a:extLst>
          </p:cNvPr>
          <p:cNvSpPr txBox="1">
            <a:spLocks noChangeArrowheads="1"/>
          </p:cNvSpPr>
          <p:nvPr/>
        </p:nvSpPr>
        <p:spPr bwMode="auto">
          <a:xfrm>
            <a:off x="5284523" y="232376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4</a:t>
            </a:r>
          </a:p>
        </p:txBody>
      </p:sp>
      <p:cxnSp>
        <p:nvCxnSpPr>
          <p:cNvPr id="36" name="直接连接符 35">
            <a:extLst>
              <a:ext uri="{FF2B5EF4-FFF2-40B4-BE49-F238E27FC236}">
                <a16:creationId xmlns:a16="http://schemas.microsoft.com/office/drawing/2014/main" id="{0F4BF497-C786-AA57-B472-B42EAB04CFD9}"/>
              </a:ext>
            </a:extLst>
          </p:cNvPr>
          <p:cNvCxnSpPr>
            <a:cxnSpLocks/>
          </p:cNvCxnSpPr>
          <p:nvPr/>
        </p:nvCxnSpPr>
        <p:spPr>
          <a:xfrm>
            <a:off x="1561080" y="2087961"/>
            <a:ext cx="5652000" cy="0"/>
          </a:xfrm>
          <a:prstGeom prst="line">
            <a:avLst/>
          </a:prstGeom>
          <a:ln w="12700">
            <a:solidFill>
              <a:schemeClr val="tx1">
                <a:lumMod val="50000"/>
                <a:lumOff val="50000"/>
              </a:schemeClr>
            </a:solidFill>
            <a:prstDash val="dash"/>
          </a:ln>
        </p:spPr>
        <p:style>
          <a:lnRef idx="1">
            <a:schemeClr val="dk1"/>
          </a:lnRef>
          <a:fillRef idx="0">
            <a:schemeClr val="dk1"/>
          </a:fillRef>
          <a:effectRef idx="0">
            <a:schemeClr val="dk1"/>
          </a:effectRef>
          <a:fontRef idx="minor">
            <a:schemeClr val="tx1"/>
          </a:fontRef>
        </p:style>
      </p:cxnSp>
      <p:sp>
        <p:nvSpPr>
          <p:cNvPr id="37" name="Line 24">
            <a:extLst>
              <a:ext uri="{FF2B5EF4-FFF2-40B4-BE49-F238E27FC236}">
                <a16:creationId xmlns:a16="http://schemas.microsoft.com/office/drawing/2014/main" id="{D397457E-5139-BC63-F375-801F2ECC733E}"/>
              </a:ext>
            </a:extLst>
          </p:cNvPr>
          <p:cNvSpPr>
            <a:spLocks noChangeShapeType="1"/>
          </p:cNvSpPr>
          <p:nvPr/>
        </p:nvSpPr>
        <p:spPr bwMode="auto">
          <a:xfrm flipV="1">
            <a:off x="3598240" y="1998575"/>
            <a:ext cx="549632" cy="530225"/>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8" name="Line 24">
            <a:extLst>
              <a:ext uri="{FF2B5EF4-FFF2-40B4-BE49-F238E27FC236}">
                <a16:creationId xmlns:a16="http://schemas.microsoft.com/office/drawing/2014/main" id="{6A0E9BF1-75D0-680A-4066-D811A5CF232C}"/>
              </a:ext>
            </a:extLst>
          </p:cNvPr>
          <p:cNvSpPr>
            <a:spLocks noChangeShapeType="1"/>
          </p:cNvSpPr>
          <p:nvPr/>
        </p:nvSpPr>
        <p:spPr bwMode="auto">
          <a:xfrm flipH="1" flipV="1">
            <a:off x="4252647" y="1945988"/>
            <a:ext cx="92076" cy="1265437"/>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9" name="Line 24">
            <a:extLst>
              <a:ext uri="{FF2B5EF4-FFF2-40B4-BE49-F238E27FC236}">
                <a16:creationId xmlns:a16="http://schemas.microsoft.com/office/drawing/2014/main" id="{5F61612A-3DE9-E613-357B-92D7E0FDEDA8}"/>
              </a:ext>
            </a:extLst>
          </p:cNvPr>
          <p:cNvSpPr>
            <a:spLocks noChangeShapeType="1"/>
          </p:cNvSpPr>
          <p:nvPr/>
        </p:nvSpPr>
        <p:spPr bwMode="auto">
          <a:xfrm flipH="1" flipV="1">
            <a:off x="4262788" y="1945989"/>
            <a:ext cx="748685" cy="557411"/>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40" name="图片 39">
            <a:extLst>
              <a:ext uri="{FF2B5EF4-FFF2-40B4-BE49-F238E27FC236}">
                <a16:creationId xmlns:a16="http://schemas.microsoft.com/office/drawing/2014/main" id="{489C1177-332D-CBA4-A0DE-B10727927383}"/>
              </a:ext>
            </a:extLst>
          </p:cNvPr>
          <p:cNvPicPr>
            <a:picLocks noChangeAspect="1"/>
          </p:cNvPicPr>
          <p:nvPr/>
        </p:nvPicPr>
        <p:blipFill>
          <a:blip r:embed="rId3"/>
          <a:stretch>
            <a:fillRect/>
          </a:stretch>
        </p:blipFill>
        <p:spPr>
          <a:xfrm>
            <a:off x="6032134" y="2972160"/>
            <a:ext cx="392727" cy="360000"/>
          </a:xfrm>
          <a:prstGeom prst="rect">
            <a:avLst/>
          </a:prstGeom>
        </p:spPr>
      </p:pic>
      <p:pic>
        <p:nvPicPr>
          <p:cNvPr id="41" name="图片 40">
            <a:extLst>
              <a:ext uri="{FF2B5EF4-FFF2-40B4-BE49-F238E27FC236}">
                <a16:creationId xmlns:a16="http://schemas.microsoft.com/office/drawing/2014/main" id="{C968A867-5A50-7CC9-B5E6-D2AB9AF9B1A7}"/>
              </a:ext>
            </a:extLst>
          </p:cNvPr>
          <p:cNvPicPr>
            <a:picLocks noChangeAspect="1"/>
          </p:cNvPicPr>
          <p:nvPr/>
        </p:nvPicPr>
        <p:blipFill>
          <a:blip r:embed="rId3"/>
          <a:stretch>
            <a:fillRect/>
          </a:stretch>
        </p:blipFill>
        <p:spPr>
          <a:xfrm>
            <a:off x="5882364" y="2202751"/>
            <a:ext cx="392727" cy="360000"/>
          </a:xfrm>
          <a:prstGeom prst="rect">
            <a:avLst/>
          </a:prstGeom>
        </p:spPr>
      </p:pic>
      <p:pic>
        <p:nvPicPr>
          <p:cNvPr id="42" name="图片 41">
            <a:extLst>
              <a:ext uri="{FF2B5EF4-FFF2-40B4-BE49-F238E27FC236}">
                <a16:creationId xmlns:a16="http://schemas.microsoft.com/office/drawing/2014/main" id="{E2E0F0EA-F615-153C-98E1-D4C5A8372221}"/>
              </a:ext>
            </a:extLst>
          </p:cNvPr>
          <p:cNvPicPr>
            <a:picLocks noChangeAspect="1"/>
          </p:cNvPicPr>
          <p:nvPr/>
        </p:nvPicPr>
        <p:blipFill>
          <a:blip r:embed="rId3"/>
          <a:stretch>
            <a:fillRect/>
          </a:stretch>
        </p:blipFill>
        <p:spPr>
          <a:xfrm>
            <a:off x="3414359" y="3569589"/>
            <a:ext cx="392727" cy="360000"/>
          </a:xfrm>
          <a:prstGeom prst="rect">
            <a:avLst/>
          </a:prstGeom>
        </p:spPr>
      </p:pic>
      <p:pic>
        <p:nvPicPr>
          <p:cNvPr id="43" name="图片 42">
            <a:extLst>
              <a:ext uri="{FF2B5EF4-FFF2-40B4-BE49-F238E27FC236}">
                <a16:creationId xmlns:a16="http://schemas.microsoft.com/office/drawing/2014/main" id="{3E468086-9402-C4A9-8AA6-2CEB1E6ADE04}"/>
              </a:ext>
            </a:extLst>
          </p:cNvPr>
          <p:cNvPicPr>
            <a:picLocks noChangeAspect="1"/>
          </p:cNvPicPr>
          <p:nvPr/>
        </p:nvPicPr>
        <p:blipFill>
          <a:blip r:embed="rId3"/>
          <a:stretch>
            <a:fillRect/>
          </a:stretch>
        </p:blipFill>
        <p:spPr>
          <a:xfrm>
            <a:off x="2268990" y="2377436"/>
            <a:ext cx="392727" cy="360000"/>
          </a:xfrm>
          <a:prstGeom prst="rect">
            <a:avLst/>
          </a:prstGeom>
        </p:spPr>
      </p:pic>
      <p:pic>
        <p:nvPicPr>
          <p:cNvPr id="44" name="图片 43">
            <a:extLst>
              <a:ext uri="{FF2B5EF4-FFF2-40B4-BE49-F238E27FC236}">
                <a16:creationId xmlns:a16="http://schemas.microsoft.com/office/drawing/2014/main" id="{45F2D0AC-6108-4775-2ADB-B302A22CFC15}"/>
              </a:ext>
            </a:extLst>
          </p:cNvPr>
          <p:cNvPicPr>
            <a:picLocks noChangeAspect="1"/>
          </p:cNvPicPr>
          <p:nvPr/>
        </p:nvPicPr>
        <p:blipFill>
          <a:blip r:embed="rId3"/>
          <a:stretch>
            <a:fillRect/>
          </a:stretch>
        </p:blipFill>
        <p:spPr>
          <a:xfrm>
            <a:off x="2178801" y="3096860"/>
            <a:ext cx="392727" cy="360000"/>
          </a:xfrm>
          <a:prstGeom prst="rect">
            <a:avLst/>
          </a:prstGeom>
        </p:spPr>
      </p:pic>
      <p:pic>
        <p:nvPicPr>
          <p:cNvPr id="45" name="图片 44">
            <a:extLst>
              <a:ext uri="{FF2B5EF4-FFF2-40B4-BE49-F238E27FC236}">
                <a16:creationId xmlns:a16="http://schemas.microsoft.com/office/drawing/2014/main" id="{E55B1E70-0356-0801-89B9-FF52680C5869}"/>
              </a:ext>
            </a:extLst>
          </p:cNvPr>
          <p:cNvPicPr>
            <a:picLocks noChangeAspect="1"/>
          </p:cNvPicPr>
          <p:nvPr/>
        </p:nvPicPr>
        <p:blipFill>
          <a:blip r:embed="rId3"/>
          <a:stretch>
            <a:fillRect/>
          </a:stretch>
        </p:blipFill>
        <p:spPr>
          <a:xfrm>
            <a:off x="5065380" y="3634713"/>
            <a:ext cx="392727" cy="360000"/>
          </a:xfrm>
          <a:prstGeom prst="rect">
            <a:avLst/>
          </a:prstGeom>
        </p:spPr>
      </p:pic>
      <p:sp>
        <p:nvSpPr>
          <p:cNvPr id="46" name="Text Box 67">
            <a:extLst>
              <a:ext uri="{FF2B5EF4-FFF2-40B4-BE49-F238E27FC236}">
                <a16:creationId xmlns:a16="http://schemas.microsoft.com/office/drawing/2014/main" id="{C86EDCA1-0F66-414C-926A-6BA048BE31D7}"/>
              </a:ext>
            </a:extLst>
          </p:cNvPr>
          <p:cNvSpPr txBox="1">
            <a:spLocks noChangeArrowheads="1"/>
          </p:cNvSpPr>
          <p:nvPr/>
        </p:nvSpPr>
        <p:spPr bwMode="auto">
          <a:xfrm>
            <a:off x="6198762" y="2239356"/>
            <a:ext cx="37702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4</a:t>
            </a:r>
          </a:p>
        </p:txBody>
      </p:sp>
      <p:sp>
        <p:nvSpPr>
          <p:cNvPr id="47" name="Text Box 67">
            <a:extLst>
              <a:ext uri="{FF2B5EF4-FFF2-40B4-BE49-F238E27FC236}">
                <a16:creationId xmlns:a16="http://schemas.microsoft.com/office/drawing/2014/main" id="{0E023835-A076-564D-9FAF-1ED104A5EA23}"/>
              </a:ext>
            </a:extLst>
          </p:cNvPr>
          <p:cNvSpPr txBox="1">
            <a:spLocks noChangeArrowheads="1"/>
          </p:cNvSpPr>
          <p:nvPr/>
        </p:nvSpPr>
        <p:spPr bwMode="auto">
          <a:xfrm>
            <a:off x="5115852" y="3426582"/>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2</a:t>
            </a:r>
          </a:p>
        </p:txBody>
      </p:sp>
      <p:sp>
        <p:nvSpPr>
          <p:cNvPr id="48" name="Text Box 67">
            <a:extLst>
              <a:ext uri="{FF2B5EF4-FFF2-40B4-BE49-F238E27FC236}">
                <a16:creationId xmlns:a16="http://schemas.microsoft.com/office/drawing/2014/main" id="{6136F69B-E916-FF59-9561-A7583378B836}"/>
              </a:ext>
            </a:extLst>
          </p:cNvPr>
          <p:cNvSpPr txBox="1">
            <a:spLocks noChangeArrowheads="1"/>
          </p:cNvSpPr>
          <p:nvPr/>
        </p:nvSpPr>
        <p:spPr bwMode="auto">
          <a:xfrm>
            <a:off x="3486907" y="3357714"/>
            <a:ext cx="34657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1</a:t>
            </a:r>
          </a:p>
        </p:txBody>
      </p:sp>
      <p:sp>
        <p:nvSpPr>
          <p:cNvPr id="49" name="Text Box 67">
            <a:extLst>
              <a:ext uri="{FF2B5EF4-FFF2-40B4-BE49-F238E27FC236}">
                <a16:creationId xmlns:a16="http://schemas.microsoft.com/office/drawing/2014/main" id="{C5D091DA-4176-CEFA-2E5A-8243735246F4}"/>
              </a:ext>
            </a:extLst>
          </p:cNvPr>
          <p:cNvSpPr txBox="1">
            <a:spLocks noChangeArrowheads="1"/>
          </p:cNvSpPr>
          <p:nvPr/>
        </p:nvSpPr>
        <p:spPr bwMode="auto">
          <a:xfrm>
            <a:off x="6071043" y="27374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3</a:t>
            </a:r>
          </a:p>
        </p:txBody>
      </p:sp>
      <p:sp>
        <p:nvSpPr>
          <p:cNvPr id="50" name="Text Box 67">
            <a:extLst>
              <a:ext uri="{FF2B5EF4-FFF2-40B4-BE49-F238E27FC236}">
                <a16:creationId xmlns:a16="http://schemas.microsoft.com/office/drawing/2014/main" id="{55373C80-D5AE-A34B-53EC-829088B73FAB}"/>
              </a:ext>
            </a:extLst>
          </p:cNvPr>
          <p:cNvSpPr txBox="1">
            <a:spLocks noChangeArrowheads="1"/>
          </p:cNvSpPr>
          <p:nvPr/>
        </p:nvSpPr>
        <p:spPr bwMode="auto">
          <a:xfrm>
            <a:off x="2319552" y="2153109"/>
            <a:ext cx="37221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6</a:t>
            </a:r>
          </a:p>
        </p:txBody>
      </p:sp>
      <p:sp>
        <p:nvSpPr>
          <p:cNvPr id="51" name="Text Box 67">
            <a:extLst>
              <a:ext uri="{FF2B5EF4-FFF2-40B4-BE49-F238E27FC236}">
                <a16:creationId xmlns:a16="http://schemas.microsoft.com/office/drawing/2014/main" id="{99464A3B-F433-2B90-E850-85BD0CF83865}"/>
              </a:ext>
            </a:extLst>
          </p:cNvPr>
          <p:cNvSpPr txBox="1">
            <a:spLocks noChangeArrowheads="1"/>
          </p:cNvSpPr>
          <p:nvPr/>
        </p:nvSpPr>
        <p:spPr bwMode="auto">
          <a:xfrm>
            <a:off x="2215539" y="289921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5</a:t>
            </a:r>
          </a:p>
        </p:txBody>
      </p:sp>
      <p:pic>
        <p:nvPicPr>
          <p:cNvPr id="52" name="Picture 21">
            <a:extLst>
              <a:ext uri="{FF2B5EF4-FFF2-40B4-BE49-F238E27FC236}">
                <a16:creationId xmlns:a16="http://schemas.microsoft.com/office/drawing/2014/main" id="{90E14CE0-3914-B2D0-B89A-FB90595373CE}"/>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26642" y="1262461"/>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53" name="直接箭头连接符 52">
            <a:extLst>
              <a:ext uri="{FF2B5EF4-FFF2-40B4-BE49-F238E27FC236}">
                <a16:creationId xmlns:a16="http://schemas.microsoft.com/office/drawing/2014/main" id="{86DE129D-7478-5F99-A4B6-A74E7F0F3E24}"/>
              </a:ext>
            </a:extLst>
          </p:cNvPr>
          <p:cNvCxnSpPr>
            <a:cxnSpLocks/>
          </p:cNvCxnSpPr>
          <p:nvPr/>
        </p:nvCxnSpPr>
        <p:spPr>
          <a:xfrm>
            <a:off x="3822988" y="2911853"/>
            <a:ext cx="273769" cy="205164"/>
          </a:xfrm>
          <a:prstGeom prst="straightConnector1">
            <a:avLst/>
          </a:prstGeom>
          <a:ln w="19050">
            <a:solidFill>
              <a:srgbClr val="E46C0A"/>
            </a:solidFill>
            <a:tailEnd type="triangle"/>
          </a:ln>
        </p:spPr>
        <p:style>
          <a:lnRef idx="1">
            <a:schemeClr val="accent1"/>
          </a:lnRef>
          <a:fillRef idx="0">
            <a:schemeClr val="accent1"/>
          </a:fillRef>
          <a:effectRef idx="0">
            <a:schemeClr val="accent1"/>
          </a:effectRef>
          <a:fontRef idx="minor">
            <a:schemeClr val="tx1"/>
          </a:fontRef>
        </p:style>
      </p:cxnSp>
      <p:cxnSp>
        <p:nvCxnSpPr>
          <p:cNvPr id="54" name="直接箭头连接符 53">
            <a:extLst>
              <a:ext uri="{FF2B5EF4-FFF2-40B4-BE49-F238E27FC236}">
                <a16:creationId xmlns:a16="http://schemas.microsoft.com/office/drawing/2014/main" id="{E1BD6AA5-A074-0ACF-2EB2-2CFF2CCA2433}"/>
              </a:ext>
            </a:extLst>
          </p:cNvPr>
          <p:cNvCxnSpPr>
            <a:cxnSpLocks/>
          </p:cNvCxnSpPr>
          <p:nvPr/>
        </p:nvCxnSpPr>
        <p:spPr>
          <a:xfrm flipH="1">
            <a:off x="4560733" y="2861351"/>
            <a:ext cx="244260" cy="235509"/>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接箭头连接符 54">
            <a:extLst>
              <a:ext uri="{FF2B5EF4-FFF2-40B4-BE49-F238E27FC236}">
                <a16:creationId xmlns:a16="http://schemas.microsoft.com/office/drawing/2014/main" id="{5458B062-2B6A-CB75-5E06-E20942B01917}"/>
              </a:ext>
            </a:extLst>
          </p:cNvPr>
          <p:cNvCxnSpPr>
            <a:cxnSpLocks/>
          </p:cNvCxnSpPr>
          <p:nvPr/>
        </p:nvCxnSpPr>
        <p:spPr>
          <a:xfrm flipH="1">
            <a:off x="3943785" y="2543772"/>
            <a:ext cx="497649" cy="14931"/>
          </a:xfrm>
          <a:prstGeom prst="straightConnector1">
            <a:avLst/>
          </a:prstGeom>
          <a:ln w="19050">
            <a:solidFill>
              <a:srgbClr val="E46C0A"/>
            </a:solidFill>
            <a:tailEnd type="triangle"/>
          </a:ln>
        </p:spPr>
        <p:style>
          <a:lnRef idx="1">
            <a:schemeClr val="accent1"/>
          </a:lnRef>
          <a:fillRef idx="0">
            <a:schemeClr val="accent1"/>
          </a:fillRef>
          <a:effectRef idx="0">
            <a:schemeClr val="accent1"/>
          </a:effectRef>
          <a:fontRef idx="minor">
            <a:schemeClr val="tx1"/>
          </a:fontRef>
        </p:style>
      </p:cxnSp>
      <p:cxnSp>
        <p:nvCxnSpPr>
          <p:cNvPr id="56" name="直接箭头连接符 55">
            <a:extLst>
              <a:ext uri="{FF2B5EF4-FFF2-40B4-BE49-F238E27FC236}">
                <a16:creationId xmlns:a16="http://schemas.microsoft.com/office/drawing/2014/main" id="{F14AA36B-B178-1CA9-BCB7-8079C49FAD83}"/>
              </a:ext>
            </a:extLst>
          </p:cNvPr>
          <p:cNvCxnSpPr>
            <a:cxnSpLocks/>
          </p:cNvCxnSpPr>
          <p:nvPr/>
        </p:nvCxnSpPr>
        <p:spPr>
          <a:xfrm flipH="1" flipV="1">
            <a:off x="5557709" y="2727301"/>
            <a:ext cx="358523" cy="16547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57" name="直接箭头连接符 56">
            <a:extLst>
              <a:ext uri="{FF2B5EF4-FFF2-40B4-BE49-F238E27FC236}">
                <a16:creationId xmlns:a16="http://schemas.microsoft.com/office/drawing/2014/main" id="{5311E11C-3DB7-0252-1EAD-91AFC93ED146}"/>
              </a:ext>
            </a:extLst>
          </p:cNvPr>
          <p:cNvCxnSpPr>
            <a:cxnSpLocks/>
          </p:cNvCxnSpPr>
          <p:nvPr/>
        </p:nvCxnSpPr>
        <p:spPr>
          <a:xfrm flipH="1">
            <a:off x="5412071" y="2426744"/>
            <a:ext cx="324899" cy="93901"/>
          </a:xfrm>
          <a:prstGeom prst="straightConnector1">
            <a:avLst/>
          </a:prstGeom>
          <a:ln w="19050">
            <a:solidFill>
              <a:srgbClr val="E46C0A"/>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01731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502976"/>
          </a:xfrm>
          <a:prstGeom prst="rect">
            <a:avLst/>
          </a:prstGeom>
          <a:solidFill>
            <a:schemeClr val="bg1"/>
          </a:solidFill>
        </p:spPr>
        <p:txBody>
          <a:bodyPr wrap="square">
            <a:spAutoFit/>
          </a:bodyPr>
          <a:lstStyle/>
          <a:p>
            <a:pPr>
              <a:lnSpc>
                <a:spcPts val="2200"/>
              </a:lnSpc>
            </a:pPr>
            <a:r>
              <a:rPr lang="zh-CN" altLang="en-US" sz="1400" dirty="0">
                <a:solidFill>
                  <a:srgbClr val="0000FF"/>
                </a:solidFill>
                <a:latin typeface="Montserrat" panose="00000500000000000000" pitchFamily="2" charset="0"/>
                <a:ea typeface="微软雅黑" panose="020B0503020204020204" pitchFamily="34" charset="-122"/>
              </a:rPr>
              <a:t>转发规则：</a:t>
            </a:r>
            <a:endParaRPr lang="en-US" altLang="zh-CN" sz="1400" dirty="0">
              <a:solidFill>
                <a:srgbClr val="0000FF"/>
              </a:solidFill>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从 </a:t>
            </a:r>
            <a:r>
              <a:rPr lang="en-US" altLang="zh-CN" sz="1400" dirty="0">
                <a:latin typeface="Montserrat" panose="00000500000000000000" pitchFamily="2" charset="0"/>
                <a:ea typeface="微软雅黑" panose="020B0503020204020204" pitchFamily="34" charset="-122"/>
              </a:rPr>
              <a:t>H</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发往主机 </a:t>
            </a:r>
            <a:r>
              <a:rPr lang="en-US" altLang="zh-CN" sz="1400" dirty="0">
                <a:latin typeface="Montserrat" panose="00000500000000000000" pitchFamily="2" charset="0"/>
                <a:ea typeface="微软雅黑" panose="020B0503020204020204" pitchFamily="34" charset="-122"/>
              </a:rPr>
              <a:t>10.1.*.* </a:t>
            </a:r>
            <a:r>
              <a:rPr lang="zh-CN" altLang="en-US" sz="1400" dirty="0">
                <a:latin typeface="Montserrat" panose="00000500000000000000" pitchFamily="2" charset="0"/>
                <a:ea typeface="微软雅黑" panose="020B0503020204020204" pitchFamily="34" charset="-122"/>
              </a:rPr>
              <a:t>的分组，其转发路径为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1</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a:t>
            </a:r>
            <a:endParaRPr lang="en-US" altLang="zh-CN" sz="1400" dirty="0">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从 </a:t>
            </a:r>
            <a:r>
              <a:rPr lang="en-US" altLang="zh-CN" sz="1400" dirty="0">
                <a:latin typeface="Montserrat" panose="00000500000000000000" pitchFamily="2" charset="0"/>
                <a:ea typeface="微软雅黑" panose="020B0503020204020204" pitchFamily="34" charset="-122"/>
              </a:rPr>
              <a:t>H</a:t>
            </a:r>
            <a:r>
              <a:rPr lang="en-US" altLang="zh-CN" sz="1400" baseline="-25000" dirty="0">
                <a:latin typeface="Montserrat" panose="00000500000000000000" pitchFamily="2" charset="0"/>
                <a:ea typeface="微软雅黑" panose="020B0503020204020204" pitchFamily="34" charset="-122"/>
              </a:rPr>
              <a:t>4</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发往主机 </a:t>
            </a:r>
            <a:r>
              <a:rPr lang="en-US" altLang="zh-CN" sz="1400" dirty="0">
                <a:latin typeface="Montserrat" panose="00000500000000000000" pitchFamily="2" charset="0"/>
                <a:ea typeface="微软雅黑" panose="020B0503020204020204" pitchFamily="34" charset="-122"/>
              </a:rPr>
              <a:t>10.1.*.* </a:t>
            </a:r>
            <a:r>
              <a:rPr lang="zh-CN" altLang="en-US" sz="1400" dirty="0">
                <a:latin typeface="Montserrat" panose="00000500000000000000" pitchFamily="2" charset="0"/>
                <a:ea typeface="微软雅黑" panose="020B0503020204020204" pitchFamily="34" charset="-122"/>
              </a:rPr>
              <a:t>的分组，其转发路径为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1</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a:t>
            </a:r>
          </a:p>
        </p:txBody>
      </p:sp>
      <p:graphicFrame>
        <p:nvGraphicFramePr>
          <p:cNvPr id="66" name="表格 65"/>
          <p:cNvGraphicFramePr>
            <a:graphicFrameLocks noGrp="1"/>
          </p:cNvGraphicFramePr>
          <p:nvPr>
            <p:extLst>
              <p:ext uri="{D42A27DB-BD31-4B8C-83A1-F6EECF244321}">
                <p14:modId xmlns:p14="http://schemas.microsoft.com/office/powerpoint/2010/main" val="743162934"/>
              </p:ext>
            </p:extLst>
          </p:nvPr>
        </p:nvGraphicFramePr>
        <p:xfrm>
          <a:off x="2286140" y="3232121"/>
          <a:ext cx="4096553" cy="796672"/>
        </p:xfrm>
        <a:graphic>
          <a:graphicData uri="http://schemas.openxmlformats.org/drawingml/2006/table">
            <a:tbl>
              <a:tblPr firstRow="1" firstCol="1" bandRow="1"/>
              <a:tblGrid>
                <a:gridCol w="3145939">
                  <a:extLst>
                    <a:ext uri="{9D8B030D-6E8A-4147-A177-3AD203B41FA5}">
                      <a16:colId xmlns:a16="http://schemas.microsoft.com/office/drawing/2014/main" val="3081916040"/>
                    </a:ext>
                  </a:extLst>
                </a:gridCol>
                <a:gridCol w="950614">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p>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4</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endParaRPr lang="en-US"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2</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1</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395860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31B7B8FA-8E96-BCD6-4DAD-687F5EAB7419}"/>
              </a:ext>
            </a:extLst>
          </p:cNvPr>
          <p:cNvSpPr>
            <a:spLocks noGrp="1"/>
          </p:cNvSpPr>
          <p:nvPr>
            <p:ph type="title"/>
          </p:nvPr>
        </p:nvSpPr>
        <p:spPr>
          <a:xfrm>
            <a:off x="486000" y="550723"/>
            <a:ext cx="8172000" cy="338554"/>
          </a:xfrm>
        </p:spPr>
        <p:txBody>
          <a:bodyPr/>
          <a:lstStyle/>
          <a:p>
            <a:r>
              <a:rPr lang="zh-CN" altLang="en-US" dirty="0"/>
              <a:t>例子：负载均衡</a:t>
            </a:r>
          </a:p>
        </p:txBody>
      </p:sp>
    </p:spTree>
    <p:extLst>
      <p:ext uri="{BB962C8B-B14F-4D97-AF65-F5344CB8AC3E}">
        <p14:creationId xmlns:p14="http://schemas.microsoft.com/office/powerpoint/2010/main" val="275898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Lst>
  </p:timing>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765FCD8-7E72-51A8-5147-5F5C849F09AD}"/>
              </a:ext>
            </a:extLst>
          </p:cNvPr>
          <p:cNvSpPr>
            <a:spLocks noGrp="1"/>
          </p:cNvSpPr>
          <p:nvPr>
            <p:ph type="title"/>
          </p:nvPr>
        </p:nvSpPr>
        <p:spPr/>
        <p:txBody>
          <a:bodyPr/>
          <a:lstStyle/>
          <a:p>
            <a:r>
              <a:rPr lang="zh-CN" altLang="en-US" dirty="0"/>
              <a:t>例子：防火墙</a:t>
            </a:r>
          </a:p>
        </p:txBody>
      </p:sp>
      <p:sp>
        <p:nvSpPr>
          <p:cNvPr id="58" name="Line 23">
            <a:extLst>
              <a:ext uri="{FF2B5EF4-FFF2-40B4-BE49-F238E27FC236}">
                <a16:creationId xmlns:a16="http://schemas.microsoft.com/office/drawing/2014/main" id="{00C14131-BBB1-A78F-2B6B-D2EE09AB8CE1}"/>
              </a:ext>
            </a:extLst>
          </p:cNvPr>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59" name="Line 25">
            <a:extLst>
              <a:ext uri="{FF2B5EF4-FFF2-40B4-BE49-F238E27FC236}">
                <a16:creationId xmlns:a16="http://schemas.microsoft.com/office/drawing/2014/main" id="{0501E549-276F-F924-DC47-F70D3BE1718A}"/>
              </a:ext>
            </a:extLst>
          </p:cNvPr>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0" name="Line 26">
            <a:extLst>
              <a:ext uri="{FF2B5EF4-FFF2-40B4-BE49-F238E27FC236}">
                <a16:creationId xmlns:a16="http://schemas.microsoft.com/office/drawing/2014/main" id="{E59F0FB3-ABCF-3F2F-EBA9-DEC2CFF2C21B}"/>
              </a:ext>
            </a:extLst>
          </p:cNvPr>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1" name="Line 27">
            <a:extLst>
              <a:ext uri="{FF2B5EF4-FFF2-40B4-BE49-F238E27FC236}">
                <a16:creationId xmlns:a16="http://schemas.microsoft.com/office/drawing/2014/main" id="{CFBCD0FD-01FB-C641-FE53-2005625ECEB8}"/>
              </a:ext>
            </a:extLst>
          </p:cNvPr>
          <p:cNvSpPr>
            <a:spLocks noChangeShapeType="1"/>
          </p:cNvSpPr>
          <p:nvPr/>
        </p:nvSpPr>
        <p:spPr bwMode="auto">
          <a:xfrm>
            <a:off x="3453622" y="2720024"/>
            <a:ext cx="833276" cy="6247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2" name="Line 30">
            <a:extLst>
              <a:ext uri="{FF2B5EF4-FFF2-40B4-BE49-F238E27FC236}">
                <a16:creationId xmlns:a16="http://schemas.microsoft.com/office/drawing/2014/main" id="{F2359ACC-0C0C-3816-E3FE-D74FDA0B5300}"/>
              </a:ext>
            </a:extLst>
          </p:cNvPr>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3" name="Text Box 65">
            <a:extLst>
              <a:ext uri="{FF2B5EF4-FFF2-40B4-BE49-F238E27FC236}">
                <a16:creationId xmlns:a16="http://schemas.microsoft.com/office/drawing/2014/main" id="{FF62DBBE-34E8-19AD-4D1B-F571E0294DEE}"/>
              </a:ext>
            </a:extLst>
          </p:cNvPr>
          <p:cNvSpPr txBox="1">
            <a:spLocks noChangeArrowheads="1"/>
          </p:cNvSpPr>
          <p:nvPr/>
        </p:nvSpPr>
        <p:spPr bwMode="auto">
          <a:xfrm>
            <a:off x="4292336" y="2935201"/>
            <a:ext cx="31611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1</a:t>
            </a:r>
          </a:p>
        </p:txBody>
      </p:sp>
      <p:sp>
        <p:nvSpPr>
          <p:cNvPr id="64" name="Text Box 65">
            <a:extLst>
              <a:ext uri="{FF2B5EF4-FFF2-40B4-BE49-F238E27FC236}">
                <a16:creationId xmlns:a16="http://schemas.microsoft.com/office/drawing/2014/main" id="{EB0B87BE-6938-9624-F135-00041975E19F}"/>
              </a:ext>
            </a:extLst>
          </p:cNvPr>
          <p:cNvSpPr txBox="1">
            <a:spLocks noChangeArrowheads="1"/>
          </p:cNvSpPr>
          <p:nvPr/>
        </p:nvSpPr>
        <p:spPr bwMode="auto">
          <a:xfrm>
            <a:off x="3284273"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3</a:t>
            </a:r>
          </a:p>
        </p:txBody>
      </p:sp>
      <p:sp>
        <p:nvSpPr>
          <p:cNvPr id="65" name="Text Box 65">
            <a:extLst>
              <a:ext uri="{FF2B5EF4-FFF2-40B4-BE49-F238E27FC236}">
                <a16:creationId xmlns:a16="http://schemas.microsoft.com/office/drawing/2014/main" id="{0CC9C5FE-019A-EF15-8A31-1D1BD816A063}"/>
              </a:ext>
            </a:extLst>
          </p:cNvPr>
          <p:cNvSpPr txBox="1">
            <a:spLocks noChangeArrowheads="1"/>
          </p:cNvSpPr>
          <p:nvPr/>
        </p:nvSpPr>
        <p:spPr bwMode="auto">
          <a:xfrm>
            <a:off x="4940036"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S</a:t>
            </a:r>
            <a:r>
              <a:rPr lang="en-US" altLang="zh-CN" sz="1200" b="1" baseline="-25000">
                <a:latin typeface="Montserrat" panose="00000500000000000000" pitchFamily="2" charset="0"/>
                <a:ea typeface="微软雅黑 Light" panose="020B0502040204020203" pitchFamily="34" charset="-122"/>
              </a:rPr>
              <a:t>2</a:t>
            </a:r>
          </a:p>
        </p:txBody>
      </p:sp>
      <p:sp>
        <p:nvSpPr>
          <p:cNvPr id="66" name="Text Box 69">
            <a:extLst>
              <a:ext uri="{FF2B5EF4-FFF2-40B4-BE49-F238E27FC236}">
                <a16:creationId xmlns:a16="http://schemas.microsoft.com/office/drawing/2014/main" id="{861940A9-C875-27AB-7405-4FF550CA5072}"/>
              </a:ext>
            </a:extLst>
          </p:cNvPr>
          <p:cNvSpPr txBox="1">
            <a:spLocks noChangeArrowheads="1"/>
          </p:cNvSpPr>
          <p:nvPr/>
        </p:nvSpPr>
        <p:spPr bwMode="auto">
          <a:xfrm>
            <a:off x="6476211" y="2278205"/>
            <a:ext cx="7312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10.2.0.4</a:t>
            </a:r>
            <a:endParaRPr lang="en-US" altLang="zh-CN" sz="1200" baseline="-25000" dirty="0">
              <a:latin typeface="Montserrat" panose="00000500000000000000" pitchFamily="2" charset="0"/>
              <a:ea typeface="微软雅黑 Light" panose="020B0502040204020203" pitchFamily="34" charset="-122"/>
            </a:endParaRPr>
          </a:p>
        </p:txBody>
      </p:sp>
      <p:sp>
        <p:nvSpPr>
          <p:cNvPr id="67" name="Text Box 69">
            <a:extLst>
              <a:ext uri="{FF2B5EF4-FFF2-40B4-BE49-F238E27FC236}">
                <a16:creationId xmlns:a16="http://schemas.microsoft.com/office/drawing/2014/main" id="{B200A085-2ECA-31E4-45A1-EDA23F4A06A9}"/>
              </a:ext>
            </a:extLst>
          </p:cNvPr>
          <p:cNvSpPr txBox="1">
            <a:spLocks noChangeArrowheads="1"/>
          </p:cNvSpPr>
          <p:nvPr/>
        </p:nvSpPr>
        <p:spPr bwMode="auto">
          <a:xfrm>
            <a:off x="6391208" y="3009084"/>
            <a:ext cx="7168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10.2.0.3</a:t>
            </a:r>
            <a:endParaRPr lang="en-US" altLang="zh-CN" sz="1200" baseline="-25000" dirty="0">
              <a:latin typeface="Montserrat" panose="00000500000000000000" pitchFamily="2" charset="0"/>
              <a:ea typeface="微软雅黑 Light" panose="020B0502040204020203" pitchFamily="34" charset="-122"/>
            </a:endParaRPr>
          </a:p>
        </p:txBody>
      </p:sp>
      <p:sp>
        <p:nvSpPr>
          <p:cNvPr id="68" name="Text Box 69">
            <a:extLst>
              <a:ext uri="{FF2B5EF4-FFF2-40B4-BE49-F238E27FC236}">
                <a16:creationId xmlns:a16="http://schemas.microsoft.com/office/drawing/2014/main" id="{C4CF1D3F-5685-875F-06A4-EB22647C5F2A}"/>
              </a:ext>
            </a:extLst>
          </p:cNvPr>
          <p:cNvSpPr txBox="1">
            <a:spLocks noChangeArrowheads="1"/>
          </p:cNvSpPr>
          <p:nvPr/>
        </p:nvSpPr>
        <p:spPr bwMode="auto">
          <a:xfrm>
            <a:off x="5434821" y="3654339"/>
            <a:ext cx="68640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10.1.0.2</a:t>
            </a:r>
            <a:endParaRPr lang="en-US" altLang="zh-CN" sz="1200" baseline="-25000" dirty="0">
              <a:latin typeface="Montserrat" panose="00000500000000000000" pitchFamily="2" charset="0"/>
              <a:ea typeface="微软雅黑 Light" panose="020B0502040204020203" pitchFamily="34" charset="-122"/>
            </a:endParaRPr>
          </a:p>
        </p:txBody>
      </p:sp>
      <p:sp>
        <p:nvSpPr>
          <p:cNvPr id="69" name="Text Box 69">
            <a:extLst>
              <a:ext uri="{FF2B5EF4-FFF2-40B4-BE49-F238E27FC236}">
                <a16:creationId xmlns:a16="http://schemas.microsoft.com/office/drawing/2014/main" id="{02A542EA-0334-783C-FC6E-4F1FC2120A55}"/>
              </a:ext>
            </a:extLst>
          </p:cNvPr>
          <p:cNvSpPr txBox="1">
            <a:spLocks noChangeArrowheads="1"/>
          </p:cNvSpPr>
          <p:nvPr/>
        </p:nvSpPr>
        <p:spPr bwMode="auto">
          <a:xfrm>
            <a:off x="1611358" y="2870764"/>
            <a:ext cx="7152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a:latin typeface="Montserrat" panose="00000500000000000000" pitchFamily="2" charset="0"/>
                <a:ea typeface="微软雅黑 Light" panose="020B0502040204020203" pitchFamily="34" charset="-122"/>
              </a:rPr>
              <a:t>10.3.0.5</a:t>
            </a:r>
            <a:endParaRPr lang="en-US" altLang="zh-CN" sz="1200" baseline="-25000">
              <a:latin typeface="Montserrat" panose="00000500000000000000" pitchFamily="2" charset="0"/>
              <a:ea typeface="微软雅黑 Light" panose="020B0502040204020203" pitchFamily="34" charset="-122"/>
            </a:endParaRPr>
          </a:p>
        </p:txBody>
      </p:sp>
      <p:sp>
        <p:nvSpPr>
          <p:cNvPr id="70" name="Text Box 69">
            <a:extLst>
              <a:ext uri="{FF2B5EF4-FFF2-40B4-BE49-F238E27FC236}">
                <a16:creationId xmlns:a16="http://schemas.microsoft.com/office/drawing/2014/main" id="{7E08AF8A-E1B7-3356-1388-DCD6F8530CD7}"/>
              </a:ext>
            </a:extLst>
          </p:cNvPr>
          <p:cNvSpPr txBox="1">
            <a:spLocks noChangeArrowheads="1"/>
          </p:cNvSpPr>
          <p:nvPr/>
        </p:nvSpPr>
        <p:spPr bwMode="auto">
          <a:xfrm>
            <a:off x="1623549" y="2150422"/>
            <a:ext cx="7216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10.3.0.6</a:t>
            </a:r>
            <a:endParaRPr lang="en-US" altLang="zh-CN" sz="1200" baseline="-25000" dirty="0">
              <a:latin typeface="Montserrat" panose="00000500000000000000" pitchFamily="2" charset="0"/>
              <a:ea typeface="微软雅黑 Light" panose="020B0502040204020203" pitchFamily="34" charset="-122"/>
            </a:endParaRPr>
          </a:p>
        </p:txBody>
      </p:sp>
      <p:sp>
        <p:nvSpPr>
          <p:cNvPr id="71" name="Line 23">
            <a:extLst>
              <a:ext uri="{FF2B5EF4-FFF2-40B4-BE49-F238E27FC236}">
                <a16:creationId xmlns:a16="http://schemas.microsoft.com/office/drawing/2014/main" id="{961228C7-2F4D-6AB1-D277-931748B7199A}"/>
              </a:ext>
            </a:extLst>
          </p:cNvPr>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2" name="Line 26">
            <a:extLst>
              <a:ext uri="{FF2B5EF4-FFF2-40B4-BE49-F238E27FC236}">
                <a16:creationId xmlns:a16="http://schemas.microsoft.com/office/drawing/2014/main" id="{DC866906-A967-C56F-82C5-51375E6BFA0F}"/>
              </a:ext>
            </a:extLst>
          </p:cNvPr>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3" name="Line 26">
            <a:extLst>
              <a:ext uri="{FF2B5EF4-FFF2-40B4-BE49-F238E27FC236}">
                <a16:creationId xmlns:a16="http://schemas.microsoft.com/office/drawing/2014/main" id="{34A1498D-1A9B-65A0-9A84-1B2410B44F8B}"/>
              </a:ext>
            </a:extLst>
          </p:cNvPr>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4" name="Line 26">
            <a:extLst>
              <a:ext uri="{FF2B5EF4-FFF2-40B4-BE49-F238E27FC236}">
                <a16:creationId xmlns:a16="http://schemas.microsoft.com/office/drawing/2014/main" id="{6E9FE117-4EC4-A19F-32CC-06DAE98FABE4}"/>
              </a:ext>
            </a:extLst>
          </p:cNvPr>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75" name="Picture 5">
            <a:extLst>
              <a:ext uri="{FF2B5EF4-FFF2-40B4-BE49-F238E27FC236}">
                <a16:creationId xmlns:a16="http://schemas.microsoft.com/office/drawing/2014/main" id="{A24C7CD1-9642-08DB-06DC-9B79DB2EE13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6" name="Picture 5">
            <a:extLst>
              <a:ext uri="{FF2B5EF4-FFF2-40B4-BE49-F238E27FC236}">
                <a16:creationId xmlns:a16="http://schemas.microsoft.com/office/drawing/2014/main" id="{447C4351-BCB1-94EF-9319-6992898C999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7" name="Picture 5">
            <a:extLst>
              <a:ext uri="{FF2B5EF4-FFF2-40B4-BE49-F238E27FC236}">
                <a16:creationId xmlns:a16="http://schemas.microsoft.com/office/drawing/2014/main" id="{F07F82E0-4E38-BA82-E01F-80ECCABFD358}"/>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78" name="Text Box 69">
            <a:extLst>
              <a:ext uri="{FF2B5EF4-FFF2-40B4-BE49-F238E27FC236}">
                <a16:creationId xmlns:a16="http://schemas.microsoft.com/office/drawing/2014/main" id="{8D362045-201A-239F-7FDF-8DFBE1CF8409}"/>
              </a:ext>
            </a:extLst>
          </p:cNvPr>
          <p:cNvSpPr txBox="1">
            <a:spLocks noChangeArrowheads="1"/>
          </p:cNvSpPr>
          <p:nvPr/>
        </p:nvSpPr>
        <p:spPr bwMode="auto">
          <a:xfrm>
            <a:off x="3041130" y="2379021"/>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79" name="Text Box 69">
            <a:extLst>
              <a:ext uri="{FF2B5EF4-FFF2-40B4-BE49-F238E27FC236}">
                <a16:creationId xmlns:a16="http://schemas.microsoft.com/office/drawing/2014/main" id="{185B97BC-23AB-691E-9770-E6C4EC366E41}"/>
              </a:ext>
            </a:extLst>
          </p:cNvPr>
          <p:cNvSpPr txBox="1">
            <a:spLocks noChangeArrowheads="1"/>
          </p:cNvSpPr>
          <p:nvPr/>
        </p:nvSpPr>
        <p:spPr bwMode="auto">
          <a:xfrm>
            <a:off x="3938252" y="3160140"/>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80" name="Text Box 69">
            <a:extLst>
              <a:ext uri="{FF2B5EF4-FFF2-40B4-BE49-F238E27FC236}">
                <a16:creationId xmlns:a16="http://schemas.microsoft.com/office/drawing/2014/main" id="{49E253AF-145B-E754-73C1-FCF861BB1325}"/>
              </a:ext>
            </a:extLst>
          </p:cNvPr>
          <p:cNvSpPr txBox="1">
            <a:spLocks noChangeArrowheads="1"/>
          </p:cNvSpPr>
          <p:nvPr/>
        </p:nvSpPr>
        <p:spPr bwMode="auto">
          <a:xfrm>
            <a:off x="4651111" y="2358939"/>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81" name="Text Box 69">
            <a:extLst>
              <a:ext uri="{FF2B5EF4-FFF2-40B4-BE49-F238E27FC236}">
                <a16:creationId xmlns:a16="http://schemas.microsoft.com/office/drawing/2014/main" id="{04F78ED2-C211-E399-10AF-AEB2237C5ABD}"/>
              </a:ext>
            </a:extLst>
          </p:cNvPr>
          <p:cNvSpPr txBox="1">
            <a:spLocks noChangeArrowheads="1"/>
          </p:cNvSpPr>
          <p:nvPr/>
        </p:nvSpPr>
        <p:spPr bwMode="auto">
          <a:xfrm>
            <a:off x="4076436" y="3398751"/>
            <a:ext cx="28733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2</a:t>
            </a:r>
          </a:p>
        </p:txBody>
      </p:sp>
      <p:sp>
        <p:nvSpPr>
          <p:cNvPr id="82" name="Text Box 69">
            <a:extLst>
              <a:ext uri="{FF2B5EF4-FFF2-40B4-BE49-F238E27FC236}">
                <a16:creationId xmlns:a16="http://schemas.microsoft.com/office/drawing/2014/main" id="{D3E9405B-4578-2C71-4084-B329CD966A32}"/>
              </a:ext>
            </a:extLst>
          </p:cNvPr>
          <p:cNvSpPr txBox="1">
            <a:spLocks noChangeArrowheads="1"/>
          </p:cNvSpPr>
          <p:nvPr/>
        </p:nvSpPr>
        <p:spPr bwMode="auto">
          <a:xfrm>
            <a:off x="3141429" y="27132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83" name="Text Box 69">
            <a:extLst>
              <a:ext uri="{FF2B5EF4-FFF2-40B4-BE49-F238E27FC236}">
                <a16:creationId xmlns:a16="http://schemas.microsoft.com/office/drawing/2014/main" id="{52D551FE-E9B8-733C-30FD-578445934DB2}"/>
              </a:ext>
            </a:extLst>
          </p:cNvPr>
          <p:cNvSpPr txBox="1">
            <a:spLocks noChangeArrowheads="1"/>
          </p:cNvSpPr>
          <p:nvPr/>
        </p:nvSpPr>
        <p:spPr bwMode="auto">
          <a:xfrm>
            <a:off x="4724136" y="2646276"/>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84" name="Text Box 69">
            <a:extLst>
              <a:ext uri="{FF2B5EF4-FFF2-40B4-BE49-F238E27FC236}">
                <a16:creationId xmlns:a16="http://schemas.microsoft.com/office/drawing/2014/main" id="{A325190F-99DF-5192-ABE0-6493F9A817EE}"/>
              </a:ext>
            </a:extLst>
          </p:cNvPr>
          <p:cNvSpPr txBox="1">
            <a:spLocks noChangeArrowheads="1"/>
          </p:cNvSpPr>
          <p:nvPr/>
        </p:nvSpPr>
        <p:spPr bwMode="auto">
          <a:xfrm>
            <a:off x="5284273" y="265450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3</a:t>
            </a:r>
          </a:p>
        </p:txBody>
      </p:sp>
      <p:sp>
        <p:nvSpPr>
          <p:cNvPr id="85" name="Text Box 69">
            <a:extLst>
              <a:ext uri="{FF2B5EF4-FFF2-40B4-BE49-F238E27FC236}">
                <a16:creationId xmlns:a16="http://schemas.microsoft.com/office/drawing/2014/main" id="{8E5075F9-72F7-3CD6-C334-1BFECFC93EDC}"/>
              </a:ext>
            </a:extLst>
          </p:cNvPr>
          <p:cNvSpPr txBox="1">
            <a:spLocks noChangeArrowheads="1"/>
          </p:cNvSpPr>
          <p:nvPr/>
        </p:nvSpPr>
        <p:spPr bwMode="auto">
          <a:xfrm>
            <a:off x="3414359" y="2741142"/>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86" name="Text Box 69">
            <a:extLst>
              <a:ext uri="{FF2B5EF4-FFF2-40B4-BE49-F238E27FC236}">
                <a16:creationId xmlns:a16="http://schemas.microsoft.com/office/drawing/2014/main" id="{92B5A1B8-31C6-A08D-3E9C-F9E63CA045FA}"/>
              </a:ext>
            </a:extLst>
          </p:cNvPr>
          <p:cNvSpPr txBox="1">
            <a:spLocks noChangeArrowheads="1"/>
          </p:cNvSpPr>
          <p:nvPr/>
        </p:nvSpPr>
        <p:spPr bwMode="auto">
          <a:xfrm>
            <a:off x="4470136" y="33987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87" name="Text Box 69">
            <a:extLst>
              <a:ext uri="{FF2B5EF4-FFF2-40B4-BE49-F238E27FC236}">
                <a16:creationId xmlns:a16="http://schemas.microsoft.com/office/drawing/2014/main" id="{20537050-DE14-0B8F-2774-D6A96384F815}"/>
              </a:ext>
            </a:extLst>
          </p:cNvPr>
          <p:cNvSpPr txBox="1">
            <a:spLocks noChangeArrowheads="1"/>
          </p:cNvSpPr>
          <p:nvPr/>
        </p:nvSpPr>
        <p:spPr bwMode="auto">
          <a:xfrm>
            <a:off x="3643048" y="2358939"/>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88" name="Text Box 69">
            <a:extLst>
              <a:ext uri="{FF2B5EF4-FFF2-40B4-BE49-F238E27FC236}">
                <a16:creationId xmlns:a16="http://schemas.microsoft.com/office/drawing/2014/main" id="{0B34B3B0-F311-8640-B311-D9DB47C5AE4E}"/>
              </a:ext>
            </a:extLst>
          </p:cNvPr>
          <p:cNvSpPr txBox="1">
            <a:spLocks noChangeArrowheads="1"/>
          </p:cNvSpPr>
          <p:nvPr/>
        </p:nvSpPr>
        <p:spPr bwMode="auto">
          <a:xfrm>
            <a:off x="4579673" y="307807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89" name="Text Box 69">
            <a:extLst>
              <a:ext uri="{FF2B5EF4-FFF2-40B4-BE49-F238E27FC236}">
                <a16:creationId xmlns:a16="http://schemas.microsoft.com/office/drawing/2014/main" id="{AFB669ED-760B-AD0B-2422-898F38B6CAFB}"/>
              </a:ext>
            </a:extLst>
          </p:cNvPr>
          <p:cNvSpPr txBox="1">
            <a:spLocks noChangeArrowheads="1"/>
          </p:cNvSpPr>
          <p:nvPr/>
        </p:nvSpPr>
        <p:spPr bwMode="auto">
          <a:xfrm>
            <a:off x="5284523" y="232376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4</a:t>
            </a:r>
          </a:p>
        </p:txBody>
      </p:sp>
      <p:cxnSp>
        <p:nvCxnSpPr>
          <p:cNvPr id="90" name="直接连接符 89">
            <a:extLst>
              <a:ext uri="{FF2B5EF4-FFF2-40B4-BE49-F238E27FC236}">
                <a16:creationId xmlns:a16="http://schemas.microsoft.com/office/drawing/2014/main" id="{471EC9AF-E65F-AA76-6DF7-518DC8C80E6F}"/>
              </a:ext>
            </a:extLst>
          </p:cNvPr>
          <p:cNvCxnSpPr>
            <a:cxnSpLocks/>
          </p:cNvCxnSpPr>
          <p:nvPr/>
        </p:nvCxnSpPr>
        <p:spPr>
          <a:xfrm>
            <a:off x="1561080" y="2087961"/>
            <a:ext cx="5652000" cy="0"/>
          </a:xfrm>
          <a:prstGeom prst="line">
            <a:avLst/>
          </a:prstGeom>
          <a:ln w="12700">
            <a:solidFill>
              <a:schemeClr val="tx1">
                <a:lumMod val="50000"/>
                <a:lumOff val="50000"/>
              </a:schemeClr>
            </a:solidFill>
            <a:prstDash val="dash"/>
          </a:ln>
        </p:spPr>
        <p:style>
          <a:lnRef idx="1">
            <a:schemeClr val="dk1"/>
          </a:lnRef>
          <a:fillRef idx="0">
            <a:schemeClr val="dk1"/>
          </a:fillRef>
          <a:effectRef idx="0">
            <a:schemeClr val="dk1"/>
          </a:effectRef>
          <a:fontRef idx="minor">
            <a:schemeClr val="tx1"/>
          </a:fontRef>
        </p:style>
      </p:cxnSp>
      <p:sp>
        <p:nvSpPr>
          <p:cNvPr id="91" name="Line 24">
            <a:extLst>
              <a:ext uri="{FF2B5EF4-FFF2-40B4-BE49-F238E27FC236}">
                <a16:creationId xmlns:a16="http://schemas.microsoft.com/office/drawing/2014/main" id="{52A5AB57-167E-409E-C886-59E59BD7647F}"/>
              </a:ext>
            </a:extLst>
          </p:cNvPr>
          <p:cNvSpPr>
            <a:spLocks noChangeShapeType="1"/>
          </p:cNvSpPr>
          <p:nvPr/>
        </p:nvSpPr>
        <p:spPr bwMode="auto">
          <a:xfrm flipV="1">
            <a:off x="3598240" y="1998575"/>
            <a:ext cx="549632" cy="530225"/>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92" name="Line 24">
            <a:extLst>
              <a:ext uri="{FF2B5EF4-FFF2-40B4-BE49-F238E27FC236}">
                <a16:creationId xmlns:a16="http://schemas.microsoft.com/office/drawing/2014/main" id="{8DF865C3-0A33-8194-ADC4-45C4029FEEEB}"/>
              </a:ext>
            </a:extLst>
          </p:cNvPr>
          <p:cNvSpPr>
            <a:spLocks noChangeShapeType="1"/>
          </p:cNvSpPr>
          <p:nvPr/>
        </p:nvSpPr>
        <p:spPr bwMode="auto">
          <a:xfrm flipH="1" flipV="1">
            <a:off x="4252647" y="1945988"/>
            <a:ext cx="92076" cy="1265437"/>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93" name="Line 24">
            <a:extLst>
              <a:ext uri="{FF2B5EF4-FFF2-40B4-BE49-F238E27FC236}">
                <a16:creationId xmlns:a16="http://schemas.microsoft.com/office/drawing/2014/main" id="{D0396AB7-EFF4-00CA-CA93-5FD3A9EF9250}"/>
              </a:ext>
            </a:extLst>
          </p:cNvPr>
          <p:cNvSpPr>
            <a:spLocks noChangeShapeType="1"/>
          </p:cNvSpPr>
          <p:nvPr/>
        </p:nvSpPr>
        <p:spPr bwMode="auto">
          <a:xfrm flipH="1" flipV="1">
            <a:off x="4262788" y="1945989"/>
            <a:ext cx="748685" cy="557411"/>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94" name="图片 93">
            <a:extLst>
              <a:ext uri="{FF2B5EF4-FFF2-40B4-BE49-F238E27FC236}">
                <a16:creationId xmlns:a16="http://schemas.microsoft.com/office/drawing/2014/main" id="{7D434696-1472-9937-8CFC-9630BA0E2988}"/>
              </a:ext>
            </a:extLst>
          </p:cNvPr>
          <p:cNvPicPr>
            <a:picLocks noChangeAspect="1"/>
          </p:cNvPicPr>
          <p:nvPr/>
        </p:nvPicPr>
        <p:blipFill>
          <a:blip r:embed="rId3"/>
          <a:stretch>
            <a:fillRect/>
          </a:stretch>
        </p:blipFill>
        <p:spPr>
          <a:xfrm>
            <a:off x="6032134" y="2972160"/>
            <a:ext cx="392727" cy="360000"/>
          </a:xfrm>
          <a:prstGeom prst="rect">
            <a:avLst/>
          </a:prstGeom>
        </p:spPr>
      </p:pic>
      <p:pic>
        <p:nvPicPr>
          <p:cNvPr id="95" name="图片 94">
            <a:extLst>
              <a:ext uri="{FF2B5EF4-FFF2-40B4-BE49-F238E27FC236}">
                <a16:creationId xmlns:a16="http://schemas.microsoft.com/office/drawing/2014/main" id="{ED30D52A-3032-1BE1-837E-8B2D8EBF1CE5}"/>
              </a:ext>
            </a:extLst>
          </p:cNvPr>
          <p:cNvPicPr>
            <a:picLocks noChangeAspect="1"/>
          </p:cNvPicPr>
          <p:nvPr/>
        </p:nvPicPr>
        <p:blipFill>
          <a:blip r:embed="rId3"/>
          <a:stretch>
            <a:fillRect/>
          </a:stretch>
        </p:blipFill>
        <p:spPr>
          <a:xfrm>
            <a:off x="5882364" y="2202751"/>
            <a:ext cx="392727" cy="360000"/>
          </a:xfrm>
          <a:prstGeom prst="rect">
            <a:avLst/>
          </a:prstGeom>
        </p:spPr>
      </p:pic>
      <p:pic>
        <p:nvPicPr>
          <p:cNvPr id="96" name="图片 95">
            <a:extLst>
              <a:ext uri="{FF2B5EF4-FFF2-40B4-BE49-F238E27FC236}">
                <a16:creationId xmlns:a16="http://schemas.microsoft.com/office/drawing/2014/main" id="{25C6DA85-ABDD-6731-37C3-4998BCA5C831}"/>
              </a:ext>
            </a:extLst>
          </p:cNvPr>
          <p:cNvPicPr>
            <a:picLocks noChangeAspect="1"/>
          </p:cNvPicPr>
          <p:nvPr/>
        </p:nvPicPr>
        <p:blipFill>
          <a:blip r:embed="rId3"/>
          <a:stretch>
            <a:fillRect/>
          </a:stretch>
        </p:blipFill>
        <p:spPr>
          <a:xfrm>
            <a:off x="3414359" y="3569589"/>
            <a:ext cx="392727" cy="360000"/>
          </a:xfrm>
          <a:prstGeom prst="rect">
            <a:avLst/>
          </a:prstGeom>
        </p:spPr>
      </p:pic>
      <p:pic>
        <p:nvPicPr>
          <p:cNvPr id="97" name="图片 96">
            <a:extLst>
              <a:ext uri="{FF2B5EF4-FFF2-40B4-BE49-F238E27FC236}">
                <a16:creationId xmlns:a16="http://schemas.microsoft.com/office/drawing/2014/main" id="{81B1A17A-0AD0-D2C7-2523-296C581BFAB7}"/>
              </a:ext>
            </a:extLst>
          </p:cNvPr>
          <p:cNvPicPr>
            <a:picLocks noChangeAspect="1"/>
          </p:cNvPicPr>
          <p:nvPr/>
        </p:nvPicPr>
        <p:blipFill>
          <a:blip r:embed="rId3"/>
          <a:stretch>
            <a:fillRect/>
          </a:stretch>
        </p:blipFill>
        <p:spPr>
          <a:xfrm>
            <a:off x="2268990" y="2377436"/>
            <a:ext cx="392727" cy="360000"/>
          </a:xfrm>
          <a:prstGeom prst="rect">
            <a:avLst/>
          </a:prstGeom>
        </p:spPr>
      </p:pic>
      <p:pic>
        <p:nvPicPr>
          <p:cNvPr id="98" name="图片 97">
            <a:extLst>
              <a:ext uri="{FF2B5EF4-FFF2-40B4-BE49-F238E27FC236}">
                <a16:creationId xmlns:a16="http://schemas.microsoft.com/office/drawing/2014/main" id="{6F0A3AA2-CC65-78A3-7439-3E54A1460C2A}"/>
              </a:ext>
            </a:extLst>
          </p:cNvPr>
          <p:cNvPicPr>
            <a:picLocks noChangeAspect="1"/>
          </p:cNvPicPr>
          <p:nvPr/>
        </p:nvPicPr>
        <p:blipFill>
          <a:blip r:embed="rId3"/>
          <a:stretch>
            <a:fillRect/>
          </a:stretch>
        </p:blipFill>
        <p:spPr>
          <a:xfrm>
            <a:off x="2178801" y="3096860"/>
            <a:ext cx="392727" cy="360000"/>
          </a:xfrm>
          <a:prstGeom prst="rect">
            <a:avLst/>
          </a:prstGeom>
        </p:spPr>
      </p:pic>
      <p:pic>
        <p:nvPicPr>
          <p:cNvPr id="99" name="图片 98">
            <a:extLst>
              <a:ext uri="{FF2B5EF4-FFF2-40B4-BE49-F238E27FC236}">
                <a16:creationId xmlns:a16="http://schemas.microsoft.com/office/drawing/2014/main" id="{1A9E18C5-97A1-2231-4091-9C2C3E440517}"/>
              </a:ext>
            </a:extLst>
          </p:cNvPr>
          <p:cNvPicPr>
            <a:picLocks noChangeAspect="1"/>
          </p:cNvPicPr>
          <p:nvPr/>
        </p:nvPicPr>
        <p:blipFill>
          <a:blip r:embed="rId3"/>
          <a:stretch>
            <a:fillRect/>
          </a:stretch>
        </p:blipFill>
        <p:spPr>
          <a:xfrm>
            <a:off x="5065380" y="3634713"/>
            <a:ext cx="392727" cy="360000"/>
          </a:xfrm>
          <a:prstGeom prst="rect">
            <a:avLst/>
          </a:prstGeom>
        </p:spPr>
      </p:pic>
      <p:sp>
        <p:nvSpPr>
          <p:cNvPr id="100" name="Text Box 67">
            <a:extLst>
              <a:ext uri="{FF2B5EF4-FFF2-40B4-BE49-F238E27FC236}">
                <a16:creationId xmlns:a16="http://schemas.microsoft.com/office/drawing/2014/main" id="{CA56EC78-C4FD-1FFA-1111-BC7FB2A12E1F}"/>
              </a:ext>
            </a:extLst>
          </p:cNvPr>
          <p:cNvSpPr txBox="1">
            <a:spLocks noChangeArrowheads="1"/>
          </p:cNvSpPr>
          <p:nvPr/>
        </p:nvSpPr>
        <p:spPr bwMode="auto">
          <a:xfrm>
            <a:off x="6198762" y="2239356"/>
            <a:ext cx="37702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4</a:t>
            </a:r>
          </a:p>
        </p:txBody>
      </p:sp>
      <p:sp>
        <p:nvSpPr>
          <p:cNvPr id="101" name="Text Box 67">
            <a:extLst>
              <a:ext uri="{FF2B5EF4-FFF2-40B4-BE49-F238E27FC236}">
                <a16:creationId xmlns:a16="http://schemas.microsoft.com/office/drawing/2014/main" id="{C6131FC4-6E9D-857E-7F0C-788541038CE0}"/>
              </a:ext>
            </a:extLst>
          </p:cNvPr>
          <p:cNvSpPr txBox="1">
            <a:spLocks noChangeArrowheads="1"/>
          </p:cNvSpPr>
          <p:nvPr/>
        </p:nvSpPr>
        <p:spPr bwMode="auto">
          <a:xfrm>
            <a:off x="5115852" y="3426582"/>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2</a:t>
            </a:r>
          </a:p>
        </p:txBody>
      </p:sp>
      <p:sp>
        <p:nvSpPr>
          <p:cNvPr id="102" name="Text Box 67">
            <a:extLst>
              <a:ext uri="{FF2B5EF4-FFF2-40B4-BE49-F238E27FC236}">
                <a16:creationId xmlns:a16="http://schemas.microsoft.com/office/drawing/2014/main" id="{3637ECB9-3DE3-7991-E6F2-099C3FA579C7}"/>
              </a:ext>
            </a:extLst>
          </p:cNvPr>
          <p:cNvSpPr txBox="1">
            <a:spLocks noChangeArrowheads="1"/>
          </p:cNvSpPr>
          <p:nvPr/>
        </p:nvSpPr>
        <p:spPr bwMode="auto">
          <a:xfrm>
            <a:off x="3486907" y="3357714"/>
            <a:ext cx="34657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1</a:t>
            </a:r>
          </a:p>
        </p:txBody>
      </p:sp>
      <p:sp>
        <p:nvSpPr>
          <p:cNvPr id="103" name="Text Box 67">
            <a:extLst>
              <a:ext uri="{FF2B5EF4-FFF2-40B4-BE49-F238E27FC236}">
                <a16:creationId xmlns:a16="http://schemas.microsoft.com/office/drawing/2014/main" id="{A764B98E-C667-F5EA-FBA1-98E6B4A82441}"/>
              </a:ext>
            </a:extLst>
          </p:cNvPr>
          <p:cNvSpPr txBox="1">
            <a:spLocks noChangeArrowheads="1"/>
          </p:cNvSpPr>
          <p:nvPr/>
        </p:nvSpPr>
        <p:spPr bwMode="auto">
          <a:xfrm>
            <a:off x="6071043" y="27374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3</a:t>
            </a:r>
          </a:p>
        </p:txBody>
      </p:sp>
      <p:sp>
        <p:nvSpPr>
          <p:cNvPr id="104" name="Text Box 67">
            <a:extLst>
              <a:ext uri="{FF2B5EF4-FFF2-40B4-BE49-F238E27FC236}">
                <a16:creationId xmlns:a16="http://schemas.microsoft.com/office/drawing/2014/main" id="{C1F1EA6C-93A2-A946-6BDA-8A39901B1348}"/>
              </a:ext>
            </a:extLst>
          </p:cNvPr>
          <p:cNvSpPr txBox="1">
            <a:spLocks noChangeArrowheads="1"/>
          </p:cNvSpPr>
          <p:nvPr/>
        </p:nvSpPr>
        <p:spPr bwMode="auto">
          <a:xfrm>
            <a:off x="2319552" y="2153109"/>
            <a:ext cx="37221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6</a:t>
            </a:r>
          </a:p>
        </p:txBody>
      </p:sp>
      <p:sp>
        <p:nvSpPr>
          <p:cNvPr id="105" name="Text Box 67">
            <a:extLst>
              <a:ext uri="{FF2B5EF4-FFF2-40B4-BE49-F238E27FC236}">
                <a16:creationId xmlns:a16="http://schemas.microsoft.com/office/drawing/2014/main" id="{C9E9FC93-61D9-9539-4D9B-CBCADDEEB35B}"/>
              </a:ext>
            </a:extLst>
          </p:cNvPr>
          <p:cNvSpPr txBox="1">
            <a:spLocks noChangeArrowheads="1"/>
          </p:cNvSpPr>
          <p:nvPr/>
        </p:nvSpPr>
        <p:spPr bwMode="auto">
          <a:xfrm>
            <a:off x="2215539" y="289921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5</a:t>
            </a:r>
          </a:p>
        </p:txBody>
      </p:sp>
      <p:pic>
        <p:nvPicPr>
          <p:cNvPr id="106" name="Picture 21">
            <a:extLst>
              <a:ext uri="{FF2B5EF4-FFF2-40B4-BE49-F238E27FC236}">
                <a16:creationId xmlns:a16="http://schemas.microsoft.com/office/drawing/2014/main" id="{843FDB31-7438-2AF9-DD33-4BC2EBF9D795}"/>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26642" y="1262461"/>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107" name="直接箭头连接符 106">
            <a:extLst>
              <a:ext uri="{FF2B5EF4-FFF2-40B4-BE49-F238E27FC236}">
                <a16:creationId xmlns:a16="http://schemas.microsoft.com/office/drawing/2014/main" id="{1A1F7AE5-89B2-27BB-7D91-C9DA98B85C7E}"/>
              </a:ext>
            </a:extLst>
          </p:cNvPr>
          <p:cNvCxnSpPr>
            <a:cxnSpLocks/>
          </p:cNvCxnSpPr>
          <p:nvPr/>
        </p:nvCxnSpPr>
        <p:spPr>
          <a:xfrm flipV="1">
            <a:off x="3993622" y="2527331"/>
            <a:ext cx="505912" cy="2084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直接箭头连接符 108">
            <a:extLst>
              <a:ext uri="{FF2B5EF4-FFF2-40B4-BE49-F238E27FC236}">
                <a16:creationId xmlns:a16="http://schemas.microsoft.com/office/drawing/2014/main" id="{33A33B55-7A04-B432-F554-DB0747651C8C}"/>
              </a:ext>
            </a:extLst>
          </p:cNvPr>
          <p:cNvCxnSpPr>
            <a:cxnSpLocks/>
          </p:cNvCxnSpPr>
          <p:nvPr/>
        </p:nvCxnSpPr>
        <p:spPr>
          <a:xfrm>
            <a:off x="2792875" y="2637752"/>
            <a:ext cx="340074" cy="5122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859EF805-D4A5-BD4A-AB78-732E687AF2A2}"/>
              </a:ext>
            </a:extLst>
          </p:cNvPr>
          <p:cNvCxnSpPr>
            <a:cxnSpLocks/>
          </p:cNvCxnSpPr>
          <p:nvPr/>
        </p:nvCxnSpPr>
        <p:spPr>
          <a:xfrm>
            <a:off x="5601171" y="2740551"/>
            <a:ext cx="281193" cy="12939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直接箭头连接符 110">
            <a:extLst>
              <a:ext uri="{FF2B5EF4-FFF2-40B4-BE49-F238E27FC236}">
                <a16:creationId xmlns:a16="http://schemas.microsoft.com/office/drawing/2014/main" id="{541C7617-40F7-2572-A5AC-4F7CFFEE155F}"/>
              </a:ext>
            </a:extLst>
          </p:cNvPr>
          <p:cNvCxnSpPr>
            <a:cxnSpLocks/>
          </p:cNvCxnSpPr>
          <p:nvPr/>
        </p:nvCxnSpPr>
        <p:spPr>
          <a:xfrm flipV="1">
            <a:off x="5526647" y="2520319"/>
            <a:ext cx="316129" cy="86050"/>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直接箭头连接符 111">
            <a:extLst>
              <a:ext uri="{FF2B5EF4-FFF2-40B4-BE49-F238E27FC236}">
                <a16:creationId xmlns:a16="http://schemas.microsoft.com/office/drawing/2014/main" id="{1B792542-D327-7ADF-0A24-9EA8C8A8D55E}"/>
              </a:ext>
            </a:extLst>
          </p:cNvPr>
          <p:cNvCxnSpPr>
            <a:cxnSpLocks/>
          </p:cNvCxnSpPr>
          <p:nvPr/>
        </p:nvCxnSpPr>
        <p:spPr>
          <a:xfrm flipV="1">
            <a:off x="2883992" y="2889375"/>
            <a:ext cx="263242" cy="200409"/>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113" name="Text Box 69">
            <a:extLst>
              <a:ext uri="{FF2B5EF4-FFF2-40B4-BE49-F238E27FC236}">
                <a16:creationId xmlns:a16="http://schemas.microsoft.com/office/drawing/2014/main" id="{D5AD02DA-63C1-6B57-C9CF-71EF206D2765}"/>
              </a:ext>
            </a:extLst>
          </p:cNvPr>
          <p:cNvSpPr txBox="1">
            <a:spLocks noChangeArrowheads="1"/>
          </p:cNvSpPr>
          <p:nvPr/>
        </p:nvSpPr>
        <p:spPr bwMode="auto">
          <a:xfrm>
            <a:off x="2720414" y="3654339"/>
            <a:ext cx="65434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10.1.0.1</a:t>
            </a:r>
            <a:endParaRPr lang="en-US" altLang="zh-CN" sz="1200" baseline="-25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3877921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220847"/>
          </a:xfrm>
          <a:prstGeom prst="rect">
            <a:avLst/>
          </a:prstGeom>
          <a:solidFill>
            <a:schemeClr val="bg1"/>
          </a:solidFill>
        </p:spPr>
        <p:txBody>
          <a:bodyPr wrap="square">
            <a:spAutoFit/>
          </a:bodyPr>
          <a:lstStyle/>
          <a:p>
            <a:pPr>
              <a:lnSpc>
                <a:spcPts val="2200"/>
              </a:lnSpc>
            </a:pPr>
            <a:r>
              <a:rPr lang="zh-CN" altLang="en-US" sz="1400" dirty="0">
                <a:solidFill>
                  <a:srgbClr val="0000FF"/>
                </a:solidFill>
                <a:latin typeface="Montserrat" panose="00000500000000000000" pitchFamily="2" charset="0"/>
                <a:ea typeface="微软雅黑" panose="020B0503020204020204" pitchFamily="34" charset="-122"/>
              </a:rPr>
              <a:t>转发规则：</a:t>
            </a:r>
            <a:endParaRPr lang="en-US" altLang="zh-CN" sz="1400" dirty="0">
              <a:solidFill>
                <a:srgbClr val="0000FF"/>
              </a:solidFill>
              <a:latin typeface="Montserrat" panose="00000500000000000000" pitchFamily="2" charset="0"/>
              <a:ea typeface="微软雅黑" panose="020B0503020204020204" pitchFamily="34" charset="-122"/>
            </a:endParaRPr>
          </a:p>
          <a:p>
            <a:pPr>
              <a:lnSpc>
                <a:spcPts val="2200"/>
              </a:lnSpc>
            </a:pP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中设置了防火墙。</a:t>
            </a:r>
            <a:endParaRPr lang="en-US" altLang="zh-CN" sz="1400" dirty="0">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此防火墙的作用是仅仅接收来自与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相连的主机所发送的分组。</a:t>
            </a:r>
          </a:p>
        </p:txBody>
      </p:sp>
      <p:graphicFrame>
        <p:nvGraphicFramePr>
          <p:cNvPr id="66" name="表格 65"/>
          <p:cNvGraphicFramePr>
            <a:graphicFrameLocks noGrp="1"/>
          </p:cNvGraphicFramePr>
          <p:nvPr>
            <p:extLst>
              <p:ext uri="{D42A27DB-BD31-4B8C-83A1-F6EECF244321}">
                <p14:modId xmlns:p14="http://schemas.microsoft.com/office/powerpoint/2010/main" val="299693614"/>
              </p:ext>
            </p:extLst>
          </p:nvPr>
        </p:nvGraphicFramePr>
        <p:xfrm>
          <a:off x="2286140" y="3232121"/>
          <a:ext cx="4513012" cy="796672"/>
        </p:xfrm>
        <a:graphic>
          <a:graphicData uri="http://schemas.openxmlformats.org/drawingml/2006/table">
            <a:tbl>
              <a:tblPr firstRow="1" firstCol="1" bandRow="1"/>
              <a:tblGrid>
                <a:gridCol w="3548226">
                  <a:extLst>
                    <a:ext uri="{9D8B030D-6E8A-4147-A177-3AD203B41FA5}">
                      <a16:colId xmlns:a16="http://schemas.microsoft.com/office/drawing/2014/main" val="3081916040"/>
                    </a:ext>
                  </a:extLst>
                </a:gridCol>
                <a:gridCol w="964786">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10.2.0.3</a:t>
                      </a:r>
                    </a:p>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10.2.0.4</a:t>
                      </a: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3</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4</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418454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矩形 3"/>
          <p:cNvSpPr/>
          <p:nvPr/>
        </p:nvSpPr>
        <p:spPr>
          <a:xfrm>
            <a:off x="1457064" y="4184380"/>
            <a:ext cx="6322390" cy="369332"/>
          </a:xfrm>
          <a:prstGeom prst="rect">
            <a:avLst/>
          </a:prstGeom>
          <a:solidFill>
            <a:srgbClr val="000099"/>
          </a:solidFill>
        </p:spPr>
        <p:txBody>
          <a:bodyPr wrap="square">
            <a:spAutoFit/>
          </a:bodyPr>
          <a:lstStyle/>
          <a:p>
            <a:r>
              <a:rPr lang="zh-CN" altLang="en-US" b="1" dirty="0">
                <a:solidFill>
                  <a:schemeClr val="bg1"/>
                </a:solidFill>
                <a:latin typeface="微软雅黑" panose="020B0503020204020204" pitchFamily="34" charset="-122"/>
                <a:ea typeface="微软雅黑" panose="020B0503020204020204" pitchFamily="34" charset="-122"/>
              </a:rPr>
              <a:t>可见：广义转发具有多样性和灵活性。其优点是显而易见的。</a:t>
            </a:r>
          </a:p>
        </p:txBody>
      </p:sp>
      <p:sp>
        <p:nvSpPr>
          <p:cNvPr id="5" name="标题 4">
            <a:extLst>
              <a:ext uri="{FF2B5EF4-FFF2-40B4-BE49-F238E27FC236}">
                <a16:creationId xmlns:a16="http://schemas.microsoft.com/office/drawing/2014/main" id="{30BCFA6D-37AE-9EAB-A73E-004E9F9502F3}"/>
              </a:ext>
            </a:extLst>
          </p:cNvPr>
          <p:cNvSpPr>
            <a:spLocks noGrp="1"/>
          </p:cNvSpPr>
          <p:nvPr>
            <p:ph type="title"/>
          </p:nvPr>
        </p:nvSpPr>
        <p:spPr>
          <a:xfrm>
            <a:off x="486000" y="550723"/>
            <a:ext cx="8172000" cy="338554"/>
          </a:xfrm>
        </p:spPr>
        <p:txBody>
          <a:bodyPr/>
          <a:lstStyle/>
          <a:p>
            <a:r>
              <a:rPr lang="zh-CN" altLang="en-US" dirty="0"/>
              <a:t>例子：防火墙</a:t>
            </a:r>
          </a:p>
        </p:txBody>
      </p:sp>
    </p:spTree>
    <p:extLst>
      <p:ext uri="{BB962C8B-B14F-4D97-AF65-F5344CB8AC3E}">
        <p14:creationId xmlns:p14="http://schemas.microsoft.com/office/powerpoint/2010/main" val="6860528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P spid="4" grpId="0" animBg="1"/>
    </p:bldLst>
  </p:timing>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206"/>
          <p:cNvGrpSpPr>
            <a:grpSpLocks/>
          </p:cNvGrpSpPr>
          <p:nvPr/>
        </p:nvGrpSpPr>
        <p:grpSpPr bwMode="auto">
          <a:xfrm>
            <a:off x="3314765" y="3403348"/>
            <a:ext cx="2434239" cy="713383"/>
            <a:chOff x="912" y="768"/>
            <a:chExt cx="2400" cy="1584"/>
          </a:xfrm>
          <a:solidFill>
            <a:srgbClr val="00CCFF"/>
          </a:solidFill>
        </p:grpSpPr>
        <p:sp>
          <p:nvSpPr>
            <p:cNvPr id="23" name="Oval 207"/>
            <p:cNvSpPr>
              <a:spLocks noChangeArrowheads="1"/>
            </p:cNvSpPr>
            <p:nvPr/>
          </p:nvSpPr>
          <p:spPr bwMode="auto">
            <a:xfrm>
              <a:off x="1751" y="799"/>
              <a:ext cx="1026" cy="628"/>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4" name="Oval 208"/>
            <p:cNvSpPr>
              <a:spLocks noChangeArrowheads="1"/>
            </p:cNvSpPr>
            <p:nvPr/>
          </p:nvSpPr>
          <p:spPr bwMode="auto">
            <a:xfrm>
              <a:off x="1172" y="972"/>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6" name="Oval 209"/>
            <p:cNvSpPr>
              <a:spLocks noChangeArrowheads="1"/>
            </p:cNvSpPr>
            <p:nvPr/>
          </p:nvSpPr>
          <p:spPr bwMode="auto">
            <a:xfrm>
              <a:off x="926" y="1364"/>
              <a:ext cx="521" cy="502"/>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7" name="Oval 210"/>
            <p:cNvSpPr>
              <a:spLocks noChangeArrowheads="1"/>
            </p:cNvSpPr>
            <p:nvPr/>
          </p:nvSpPr>
          <p:spPr bwMode="auto">
            <a:xfrm>
              <a:off x="1085" y="1599"/>
              <a:ext cx="796"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8" name="Oval 211"/>
            <p:cNvSpPr>
              <a:spLocks noChangeArrowheads="1"/>
            </p:cNvSpPr>
            <p:nvPr/>
          </p:nvSpPr>
          <p:spPr bwMode="auto">
            <a:xfrm>
              <a:off x="1664" y="1693"/>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9" name="Oval 212"/>
            <p:cNvSpPr>
              <a:spLocks noChangeArrowheads="1"/>
            </p:cNvSpPr>
            <p:nvPr/>
          </p:nvSpPr>
          <p:spPr bwMode="auto">
            <a:xfrm>
              <a:off x="2445" y="988"/>
              <a:ext cx="751"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0" name="Oval 213"/>
            <p:cNvSpPr>
              <a:spLocks noChangeArrowheads="1"/>
            </p:cNvSpPr>
            <p:nvPr/>
          </p:nvSpPr>
          <p:spPr bwMode="auto">
            <a:xfrm>
              <a:off x="2560" y="1317"/>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1" name="Oval 214"/>
            <p:cNvSpPr>
              <a:spLocks noChangeArrowheads="1"/>
            </p:cNvSpPr>
            <p:nvPr/>
          </p:nvSpPr>
          <p:spPr bwMode="auto">
            <a:xfrm>
              <a:off x="2488" y="1427"/>
              <a:ext cx="752"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2" name="Oval 215"/>
            <p:cNvSpPr>
              <a:spLocks noChangeArrowheads="1"/>
            </p:cNvSpPr>
            <p:nvPr/>
          </p:nvSpPr>
          <p:spPr bwMode="auto">
            <a:xfrm>
              <a:off x="1360" y="1176"/>
              <a:ext cx="1547"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nvGrpSpPr>
            <p:cNvPr id="33" name="Group 216"/>
            <p:cNvGrpSpPr>
              <a:grpSpLocks/>
            </p:cNvGrpSpPr>
            <p:nvPr/>
          </p:nvGrpSpPr>
          <p:grpSpPr bwMode="auto">
            <a:xfrm>
              <a:off x="912" y="768"/>
              <a:ext cx="2386" cy="1553"/>
              <a:chOff x="912" y="768"/>
              <a:chExt cx="2386" cy="1553"/>
            </a:xfrm>
            <a:grpFill/>
          </p:grpSpPr>
          <p:sp>
            <p:nvSpPr>
              <p:cNvPr id="34" name="Oval 217"/>
              <p:cNvSpPr>
                <a:spLocks noChangeArrowheads="1"/>
              </p:cNvSpPr>
              <p:nvPr/>
            </p:nvSpPr>
            <p:spPr bwMode="auto">
              <a:xfrm>
                <a:off x="1736" y="768"/>
                <a:ext cx="1027"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5" name="Oval 218"/>
              <p:cNvSpPr>
                <a:spLocks noChangeArrowheads="1"/>
              </p:cNvSpPr>
              <p:nvPr/>
            </p:nvSpPr>
            <p:spPr bwMode="auto">
              <a:xfrm>
                <a:off x="1158" y="941"/>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6" name="Oval 219"/>
              <p:cNvSpPr>
                <a:spLocks noChangeArrowheads="1"/>
              </p:cNvSpPr>
              <p:nvPr/>
            </p:nvSpPr>
            <p:spPr bwMode="auto">
              <a:xfrm>
                <a:off x="912" y="1333"/>
                <a:ext cx="520" cy="501"/>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7" name="Oval 220"/>
              <p:cNvSpPr>
                <a:spLocks noChangeArrowheads="1"/>
              </p:cNvSpPr>
              <p:nvPr/>
            </p:nvSpPr>
            <p:spPr bwMode="auto">
              <a:xfrm>
                <a:off x="1071" y="1568"/>
                <a:ext cx="795"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8" name="Oval 221"/>
              <p:cNvSpPr>
                <a:spLocks noChangeArrowheads="1"/>
              </p:cNvSpPr>
              <p:nvPr/>
            </p:nvSpPr>
            <p:spPr bwMode="auto">
              <a:xfrm>
                <a:off x="1649" y="1662"/>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9" name="Oval 222"/>
              <p:cNvSpPr>
                <a:spLocks noChangeArrowheads="1"/>
              </p:cNvSpPr>
              <p:nvPr/>
            </p:nvSpPr>
            <p:spPr bwMode="auto">
              <a:xfrm>
                <a:off x="2430" y="95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0" name="Oval 223"/>
              <p:cNvSpPr>
                <a:spLocks noChangeArrowheads="1"/>
              </p:cNvSpPr>
              <p:nvPr/>
            </p:nvSpPr>
            <p:spPr bwMode="auto">
              <a:xfrm>
                <a:off x="2546" y="128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1" name="Oval 224"/>
              <p:cNvSpPr>
                <a:spLocks noChangeArrowheads="1"/>
              </p:cNvSpPr>
              <p:nvPr/>
            </p:nvSpPr>
            <p:spPr bwMode="auto">
              <a:xfrm>
                <a:off x="2473" y="1395"/>
                <a:ext cx="752"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2" name="Oval 225"/>
              <p:cNvSpPr>
                <a:spLocks noChangeArrowheads="1"/>
              </p:cNvSpPr>
              <p:nvPr/>
            </p:nvSpPr>
            <p:spPr bwMode="auto">
              <a:xfrm>
                <a:off x="1346" y="1144"/>
                <a:ext cx="1547"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sp>
        <p:nvSpPr>
          <p:cNvPr id="11" name="Line 151"/>
          <p:cNvSpPr>
            <a:spLocks noChangeShapeType="1"/>
          </p:cNvSpPr>
          <p:nvPr/>
        </p:nvSpPr>
        <p:spPr bwMode="auto">
          <a:xfrm>
            <a:off x="4308332" y="3553534"/>
            <a:ext cx="745175" cy="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 name="Line 99"/>
          <p:cNvSpPr>
            <a:spLocks noChangeShapeType="1"/>
          </p:cNvSpPr>
          <p:nvPr/>
        </p:nvSpPr>
        <p:spPr bwMode="auto">
          <a:xfrm>
            <a:off x="3563157" y="3778813"/>
            <a:ext cx="894210"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3" name="Line 100"/>
          <p:cNvSpPr>
            <a:spLocks noChangeShapeType="1"/>
          </p:cNvSpPr>
          <p:nvPr/>
        </p:nvSpPr>
        <p:spPr bwMode="auto">
          <a:xfrm>
            <a:off x="3613041" y="3779083"/>
            <a:ext cx="1823881" cy="8395"/>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4" name="Line 101"/>
          <p:cNvSpPr>
            <a:spLocks noChangeShapeType="1"/>
          </p:cNvSpPr>
          <p:nvPr/>
        </p:nvSpPr>
        <p:spPr bwMode="auto">
          <a:xfrm>
            <a:off x="5003829" y="3553534"/>
            <a:ext cx="397427"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 name="Line 102"/>
          <p:cNvSpPr>
            <a:spLocks noChangeShapeType="1"/>
          </p:cNvSpPr>
          <p:nvPr/>
        </p:nvSpPr>
        <p:spPr bwMode="auto">
          <a:xfrm flipV="1">
            <a:off x="4606403" y="3853906"/>
            <a:ext cx="894210" cy="150186"/>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613041" y="3553533"/>
            <a:ext cx="645613" cy="18830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258654" y="3553534"/>
            <a:ext cx="298070" cy="450558"/>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402759" y="3703759"/>
            <a:ext cx="359231" cy="149824"/>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4109619" y="3478441"/>
            <a:ext cx="359231" cy="149824"/>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4358010" y="3928999"/>
            <a:ext cx="359231" cy="149824"/>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5301899" y="3741266"/>
            <a:ext cx="359231" cy="149824"/>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854794" y="3478441"/>
            <a:ext cx="359231" cy="149824"/>
          </a:xfrm>
          <a:prstGeom prst="rect">
            <a:avLst/>
          </a:prstGeom>
          <a:noFill/>
          <a:ln w="12699">
            <a:noFill/>
            <a:miter lim="800000"/>
            <a:headEnd/>
            <a:tailEnd/>
          </a:ln>
        </p:spPr>
      </p:pic>
      <p:sp>
        <p:nvSpPr>
          <p:cNvPr id="43" name="TextBox 175"/>
          <p:cNvSpPr txBox="1"/>
          <p:nvPr/>
        </p:nvSpPr>
        <p:spPr>
          <a:xfrm>
            <a:off x="3380724" y="1112814"/>
            <a:ext cx="1826142" cy="338554"/>
          </a:xfrm>
          <a:prstGeom prst="rect">
            <a:avLst/>
          </a:prstGeom>
          <a:noFill/>
        </p:spPr>
        <p:txBody>
          <a:bodyPr wrap="none" rtlCol="0">
            <a:spAutoFit/>
          </a:bodyPr>
          <a:lstStyle/>
          <a:p>
            <a:pPr algn="ctr"/>
            <a:r>
              <a:rPr lang="zh-CN" altLang="en-US" sz="1600" b="1" dirty="0">
                <a:solidFill>
                  <a:srgbClr val="CC00CC"/>
                </a:solidFill>
                <a:latin typeface="微软雅黑" panose="020B0503020204020204" pitchFamily="34" charset="-122"/>
                <a:ea typeface="微软雅黑" panose="020B0503020204020204" pitchFamily="34" charset="-122"/>
              </a:rPr>
              <a:t>网络控制应用程序</a:t>
            </a:r>
          </a:p>
        </p:txBody>
      </p:sp>
      <p:cxnSp>
        <p:nvCxnSpPr>
          <p:cNvPr id="44" name="直接箭头连接符 43"/>
          <p:cNvCxnSpPr/>
          <p:nvPr/>
        </p:nvCxnSpPr>
        <p:spPr>
          <a:xfrm>
            <a:off x="1978771" y="1482702"/>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1791522" y="3293597"/>
            <a:ext cx="4581645"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46" name="矩形 45"/>
          <p:cNvSpPr/>
          <p:nvPr/>
        </p:nvSpPr>
        <p:spPr>
          <a:xfrm>
            <a:off x="3065099" y="2580214"/>
            <a:ext cx="2995986" cy="548756"/>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SDN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控制器</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（网络操作系统）</a:t>
            </a:r>
          </a:p>
        </p:txBody>
      </p:sp>
      <p:sp>
        <p:nvSpPr>
          <p:cNvPr id="47" name="圆角矩形 46"/>
          <p:cNvSpPr/>
          <p:nvPr/>
        </p:nvSpPr>
        <p:spPr>
          <a:xfrm>
            <a:off x="2877850"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路由选择</a:t>
            </a:r>
          </a:p>
        </p:txBody>
      </p:sp>
      <p:sp>
        <p:nvSpPr>
          <p:cNvPr id="48" name="圆角矩形 47"/>
          <p:cNvSpPr/>
          <p:nvPr/>
        </p:nvSpPr>
        <p:spPr>
          <a:xfrm>
            <a:off x="4313427"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接入控制</a:t>
            </a:r>
          </a:p>
        </p:txBody>
      </p:sp>
      <p:sp>
        <p:nvSpPr>
          <p:cNvPr id="49" name="圆角矩形 48"/>
          <p:cNvSpPr/>
          <p:nvPr/>
        </p:nvSpPr>
        <p:spPr>
          <a:xfrm>
            <a:off x="5436922"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负载均衡</a:t>
            </a:r>
          </a:p>
        </p:txBody>
      </p:sp>
      <p:sp>
        <p:nvSpPr>
          <p:cNvPr id="50" name="TextBox 106"/>
          <p:cNvSpPr txBox="1"/>
          <p:nvPr/>
        </p:nvSpPr>
        <p:spPr>
          <a:xfrm>
            <a:off x="3869567" y="1866831"/>
            <a:ext cx="38664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51" name="TextBox 109"/>
          <p:cNvSpPr txBox="1"/>
          <p:nvPr/>
        </p:nvSpPr>
        <p:spPr>
          <a:xfrm>
            <a:off x="6062677" y="3135911"/>
            <a:ext cx="1593074" cy="492443"/>
          </a:xfrm>
          <a:prstGeom prst="rect">
            <a:avLst/>
          </a:prstGeom>
          <a:noFill/>
        </p:spPr>
        <p:txBody>
          <a:bodyPr wrap="squar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南向 </a:t>
            </a:r>
            <a:r>
              <a:rPr lang="en-US" altLang="zh-CN" sz="1400" b="1" dirty="0">
                <a:solidFill>
                  <a:srgbClr val="0000FF"/>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err="1">
                <a:latin typeface="微软雅黑" panose="020B0503020204020204" pitchFamily="34" charset="-122"/>
                <a:ea typeface="微软雅黑" panose="020B0503020204020204" pitchFamily="34" charset="-122"/>
                <a:cs typeface="Times New Roman" pitchFamily="18" charset="0"/>
              </a:rPr>
              <a:t>OpenFlow</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2" name="直接连接符 51"/>
          <p:cNvCxnSpPr/>
          <p:nvPr/>
        </p:nvCxnSpPr>
        <p:spPr>
          <a:xfrm>
            <a:off x="2690601" y="2377086"/>
            <a:ext cx="3682566"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53" name="TextBox 112"/>
          <p:cNvSpPr txBox="1"/>
          <p:nvPr/>
        </p:nvSpPr>
        <p:spPr>
          <a:xfrm>
            <a:off x="6126180" y="2219044"/>
            <a:ext cx="1520285" cy="677108"/>
          </a:xfrm>
          <a:prstGeom prst="rect">
            <a:avLst/>
          </a:prstGeom>
          <a:noFill/>
        </p:spPr>
        <p:txBody>
          <a:bodyPr wrap="square" rtlCol="0">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北向 </a:t>
            </a:r>
            <a:r>
              <a:rPr lang="en-US" altLang="zh-CN" sz="1400" b="1" dirty="0">
                <a:solidFill>
                  <a:srgbClr val="C00000"/>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a:latin typeface="微软雅黑" panose="020B0503020204020204" pitchFamily="34" charset="-122"/>
                <a:ea typeface="微软雅黑" panose="020B0503020204020204" pitchFamily="34" charset="-122"/>
                <a:cs typeface="Times New Roman" pitchFamily="18" charset="0"/>
              </a:rPr>
              <a:t>GUI</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Java</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Python</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APP</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4" name="直接连接符 53"/>
          <p:cNvCxnSpPr/>
          <p:nvPr/>
        </p:nvCxnSpPr>
        <p:spPr>
          <a:xfrm>
            <a:off x="5492411" y="3122581"/>
            <a:ext cx="6605" cy="616996"/>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5033363" y="3122581"/>
            <a:ext cx="1992" cy="36120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flipH="1">
            <a:off x="4547246" y="3128388"/>
            <a:ext cx="649" cy="79005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直接连接符 56"/>
          <p:cNvCxnSpPr/>
          <p:nvPr/>
        </p:nvCxnSpPr>
        <p:spPr>
          <a:xfrm flipH="1">
            <a:off x="3588532" y="3128388"/>
            <a:ext cx="1638" cy="58999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H="1">
            <a:off x="4283047" y="3131292"/>
            <a:ext cx="3951" cy="35887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pic>
        <p:nvPicPr>
          <p:cNvPr id="59" name="Picture 21"/>
          <p:cNvPicPr>
            <a:picLocks noChangeArrowheads="1"/>
          </p:cNvPicPr>
          <p:nvPr/>
        </p:nvPicPr>
        <p:blipFill>
          <a:blip r:embed="rId4"/>
          <a:srcRect/>
          <a:stretch>
            <a:fillRect/>
          </a:stretch>
        </p:blipFill>
        <p:spPr bwMode="auto">
          <a:xfrm>
            <a:off x="2690601" y="1482702"/>
            <a:ext cx="249063" cy="459023"/>
          </a:xfrm>
          <a:prstGeom prst="rect">
            <a:avLst/>
          </a:prstGeom>
          <a:noFill/>
          <a:ln w="12699">
            <a:noFill/>
            <a:miter lim="800000"/>
            <a:headEnd/>
            <a:tailEnd/>
          </a:ln>
        </p:spPr>
      </p:pic>
      <p:pic>
        <p:nvPicPr>
          <p:cNvPr id="60" name="Picture 21"/>
          <p:cNvPicPr>
            <a:picLocks noChangeArrowheads="1"/>
          </p:cNvPicPr>
          <p:nvPr/>
        </p:nvPicPr>
        <p:blipFill>
          <a:blip r:embed="rId4"/>
          <a:srcRect/>
          <a:stretch>
            <a:fillRect/>
          </a:stretch>
        </p:blipFill>
        <p:spPr bwMode="auto">
          <a:xfrm>
            <a:off x="4188594" y="1482702"/>
            <a:ext cx="249063" cy="459023"/>
          </a:xfrm>
          <a:prstGeom prst="rect">
            <a:avLst/>
          </a:prstGeom>
          <a:noFill/>
          <a:ln w="12699">
            <a:noFill/>
            <a:miter lim="800000"/>
            <a:headEnd/>
            <a:tailEnd/>
          </a:ln>
        </p:spPr>
      </p:pic>
      <p:pic>
        <p:nvPicPr>
          <p:cNvPr id="61" name="Picture 21"/>
          <p:cNvPicPr>
            <a:picLocks noChangeArrowheads="1"/>
          </p:cNvPicPr>
          <p:nvPr/>
        </p:nvPicPr>
        <p:blipFill>
          <a:blip r:embed="rId4"/>
          <a:srcRect/>
          <a:stretch>
            <a:fillRect/>
          </a:stretch>
        </p:blipFill>
        <p:spPr bwMode="auto">
          <a:xfrm>
            <a:off x="5312089" y="1482702"/>
            <a:ext cx="249063" cy="459023"/>
          </a:xfrm>
          <a:prstGeom prst="rect">
            <a:avLst/>
          </a:prstGeom>
          <a:noFill/>
          <a:ln w="12699">
            <a:noFill/>
            <a:miter lim="800000"/>
            <a:headEnd/>
            <a:tailEnd/>
          </a:ln>
        </p:spPr>
      </p:pic>
      <p:pic>
        <p:nvPicPr>
          <p:cNvPr id="62" name="Picture 21"/>
          <p:cNvPicPr>
            <a:picLocks noChangeArrowheads="1"/>
          </p:cNvPicPr>
          <p:nvPr/>
        </p:nvPicPr>
        <p:blipFill>
          <a:blip r:embed="rId4"/>
          <a:srcRect/>
          <a:stretch>
            <a:fillRect/>
          </a:stretch>
        </p:blipFill>
        <p:spPr bwMode="auto">
          <a:xfrm>
            <a:off x="2877850" y="2415587"/>
            <a:ext cx="249063" cy="459023"/>
          </a:xfrm>
          <a:prstGeom prst="rect">
            <a:avLst/>
          </a:prstGeom>
          <a:noFill/>
          <a:ln w="12699">
            <a:noFill/>
            <a:miter lim="800000"/>
            <a:headEnd/>
            <a:tailEnd/>
          </a:ln>
        </p:spPr>
      </p:pic>
      <p:cxnSp>
        <p:nvCxnSpPr>
          <p:cNvPr id="63" name="直接连接符 62"/>
          <p:cNvCxnSpPr/>
          <p:nvPr/>
        </p:nvCxnSpPr>
        <p:spPr>
          <a:xfrm flipH="1">
            <a:off x="3317594" y="2225136"/>
            <a:ext cx="8072" cy="354984"/>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4778945" y="2224727"/>
            <a:ext cx="126" cy="36219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5" name="直接连接符 64"/>
          <p:cNvCxnSpPr>
            <a:stCxn id="49" idx="2"/>
          </p:cNvCxnSpPr>
          <p:nvPr/>
        </p:nvCxnSpPr>
        <p:spPr>
          <a:xfrm flipH="1">
            <a:off x="5900309" y="2222247"/>
            <a:ext cx="4735" cy="36467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6" name="直接箭头连接符 65"/>
          <p:cNvCxnSpPr/>
          <p:nvPr/>
        </p:nvCxnSpPr>
        <p:spPr>
          <a:xfrm>
            <a:off x="2228436" y="1482702"/>
            <a:ext cx="0" cy="181089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67" name="TextBox 179"/>
          <p:cNvSpPr txBox="1"/>
          <p:nvPr/>
        </p:nvSpPr>
        <p:spPr>
          <a:xfrm>
            <a:off x="1791522" y="2212459"/>
            <a:ext cx="909736" cy="307777"/>
          </a:xfrm>
          <a:prstGeom prst="rect">
            <a:avLst/>
          </a:prstGeom>
          <a:solidFill>
            <a:srgbClr val="C3E3F9"/>
          </a:solid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控制层面</a:t>
            </a:r>
          </a:p>
        </p:txBody>
      </p:sp>
      <p:cxnSp>
        <p:nvCxnSpPr>
          <p:cNvPr id="68" name="直接箭头连接符 67"/>
          <p:cNvCxnSpPr/>
          <p:nvPr/>
        </p:nvCxnSpPr>
        <p:spPr>
          <a:xfrm>
            <a:off x="2228436" y="3293597"/>
            <a:ext cx="0" cy="93288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69" name="直接箭头连接符 68"/>
          <p:cNvCxnSpPr/>
          <p:nvPr/>
        </p:nvCxnSpPr>
        <p:spPr>
          <a:xfrm>
            <a:off x="1978771" y="4226483"/>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0" name="TextBox 180"/>
          <p:cNvSpPr txBox="1"/>
          <p:nvPr/>
        </p:nvSpPr>
        <p:spPr>
          <a:xfrm>
            <a:off x="1775857" y="3677727"/>
            <a:ext cx="902811" cy="307777"/>
          </a:xfrm>
          <a:prstGeom prst="rect">
            <a:avLst/>
          </a:prstGeom>
          <a:solidFill>
            <a:srgbClr val="C3E3F9"/>
          </a:solidFill>
        </p:spPr>
        <p:txBody>
          <a:bodyPr wrap="none" rtlCol="0">
            <a:spAutoFit/>
          </a:bodyPr>
          <a:lstStyle/>
          <a:p>
            <a:pPr algn="ctr"/>
            <a:r>
              <a:rPr lang="zh-CN" altLang="en-US" sz="1400" b="1">
                <a:latin typeface="微软雅黑" panose="020B0503020204020204" pitchFamily="34" charset="-122"/>
                <a:ea typeface="微软雅黑" panose="020B0503020204020204" pitchFamily="34" charset="-122"/>
              </a:rPr>
              <a:t>数据层面</a:t>
            </a:r>
            <a:endParaRPr lang="zh-CN" altLang="en-US" sz="1400" b="1" dirty="0">
              <a:latin typeface="微软雅黑" panose="020B0503020204020204" pitchFamily="34" charset="-122"/>
              <a:ea typeface="微软雅黑" panose="020B0503020204020204" pitchFamily="34" charset="-122"/>
            </a:endParaRPr>
          </a:p>
        </p:txBody>
      </p:sp>
      <p:sp>
        <p:nvSpPr>
          <p:cNvPr id="71" name="TextBox 217"/>
          <p:cNvSpPr txBox="1"/>
          <p:nvPr/>
        </p:nvSpPr>
        <p:spPr>
          <a:xfrm>
            <a:off x="3790740" y="4096713"/>
            <a:ext cx="1499128" cy="276999"/>
          </a:xfrm>
          <a:prstGeom prst="rect">
            <a:avLst/>
          </a:prstGeom>
          <a:noFill/>
        </p:spPr>
        <p:txBody>
          <a:bodyPr wrap="non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SDN </a:t>
            </a:r>
            <a:r>
              <a:rPr lang="zh-CN" altLang="en-US" sz="1200" b="1" dirty="0">
                <a:latin typeface="微软雅黑" panose="020B0503020204020204" pitchFamily="34" charset="-122"/>
                <a:ea typeface="微软雅黑" panose="020B0503020204020204" pitchFamily="34" charset="-122"/>
                <a:cs typeface="Times New Roman" pitchFamily="18" charset="0"/>
              </a:rPr>
              <a:t>控制的交换机</a:t>
            </a:r>
          </a:p>
        </p:txBody>
      </p:sp>
      <p:sp>
        <p:nvSpPr>
          <p:cNvPr id="2" name="标题 1">
            <a:extLst>
              <a:ext uri="{FF2B5EF4-FFF2-40B4-BE49-F238E27FC236}">
                <a16:creationId xmlns:a16="http://schemas.microsoft.com/office/drawing/2014/main" id="{8E4005B7-606E-95DB-61A8-7BD47DC30C06}"/>
              </a:ext>
            </a:extLst>
          </p:cNvPr>
          <p:cNvSpPr>
            <a:spLocks noGrp="1"/>
          </p:cNvSpPr>
          <p:nvPr>
            <p:ph type="title"/>
          </p:nvPr>
        </p:nvSpPr>
        <p:spPr>
          <a:xfrm>
            <a:off x="486000" y="550723"/>
            <a:ext cx="8172000" cy="338554"/>
          </a:xfrm>
        </p:spPr>
        <p:txBody>
          <a:bodyPr/>
          <a:lstStyle/>
          <a:p>
            <a:r>
              <a:rPr lang="en-US" altLang="zh-CN" dirty="0"/>
              <a:t>4.10.2  SDN </a:t>
            </a:r>
            <a:r>
              <a:rPr lang="zh-CN" altLang="en-US" dirty="0"/>
              <a:t>体系结构</a:t>
            </a:r>
          </a:p>
        </p:txBody>
      </p:sp>
    </p:spTree>
    <p:extLst>
      <p:ext uri="{BB962C8B-B14F-4D97-AF65-F5344CB8AC3E}">
        <p14:creationId xmlns:p14="http://schemas.microsoft.com/office/powerpoint/2010/main" val="4169596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1896174792"/>
              </p:ext>
            </p:extLst>
          </p:nvPr>
        </p:nvGraphicFramePr>
        <p:xfrm>
          <a:off x="1242646" y="1014254"/>
          <a:ext cx="6764216" cy="320605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1D865D4-C307-A5FE-1FE2-5774F7888923}"/>
              </a:ext>
            </a:extLst>
          </p:cNvPr>
          <p:cNvSpPr>
            <a:spLocks noGrp="1"/>
          </p:cNvSpPr>
          <p:nvPr>
            <p:ph type="title"/>
          </p:nvPr>
        </p:nvSpPr>
        <p:spPr>
          <a:xfrm>
            <a:off x="486000" y="550723"/>
            <a:ext cx="8172000" cy="338554"/>
          </a:xfrm>
        </p:spPr>
        <p:txBody>
          <a:bodyPr/>
          <a:lstStyle/>
          <a:p>
            <a:r>
              <a:rPr lang="en-US" altLang="zh-CN" dirty="0"/>
              <a:t>SDN </a:t>
            </a:r>
            <a:r>
              <a:rPr lang="zh-CN" altLang="en-US" dirty="0"/>
              <a:t>体系结构的四个关键特征</a:t>
            </a:r>
          </a:p>
        </p:txBody>
      </p:sp>
    </p:spTree>
    <p:extLst>
      <p:ext uri="{BB962C8B-B14F-4D97-AF65-F5344CB8AC3E}">
        <p14:creationId xmlns:p14="http://schemas.microsoft.com/office/powerpoint/2010/main" val="7468857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581133694"/>
              </p:ext>
            </p:extLst>
          </p:nvPr>
        </p:nvGraphicFramePr>
        <p:xfrm>
          <a:off x="485775" y="1108040"/>
          <a:ext cx="8172450" cy="297159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标题 2">
            <a:extLst>
              <a:ext uri="{FF2B5EF4-FFF2-40B4-BE49-F238E27FC236}">
                <a16:creationId xmlns:a16="http://schemas.microsoft.com/office/drawing/2014/main" id="{D5EC7C4B-6851-9FCC-ADB0-BB35BF7753E0}"/>
              </a:ext>
            </a:extLst>
          </p:cNvPr>
          <p:cNvSpPr>
            <a:spLocks noGrp="1"/>
          </p:cNvSpPr>
          <p:nvPr>
            <p:ph type="title"/>
          </p:nvPr>
        </p:nvSpPr>
        <p:spPr>
          <a:xfrm>
            <a:off x="486000" y="550723"/>
            <a:ext cx="8172000" cy="338554"/>
          </a:xfrm>
        </p:spPr>
        <p:txBody>
          <a:bodyPr/>
          <a:lstStyle/>
          <a:p>
            <a:r>
              <a:rPr lang="en-US" altLang="zh-CN" dirty="0"/>
              <a:t>SDN </a:t>
            </a:r>
            <a:r>
              <a:rPr lang="zh-CN" altLang="en-US" dirty="0"/>
              <a:t>与传统网络的差别</a:t>
            </a:r>
          </a:p>
        </p:txBody>
      </p:sp>
    </p:spTree>
    <p:extLst>
      <p:ext uri="{BB962C8B-B14F-4D97-AF65-F5344CB8AC3E}">
        <p14:creationId xmlns:p14="http://schemas.microsoft.com/office/powerpoint/2010/main" val="2599733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2515627"/>
            <a:ext cx="2248021" cy="1337392"/>
          </a:xfrm>
          <a:prstGeom prst="borderCallout1">
            <a:avLst>
              <a:gd name="adj1" fmla="val 65378"/>
              <a:gd name="adj2" fmla="val -486"/>
              <a:gd name="adj3" fmla="val 88938"/>
              <a:gd name="adj4" fmla="val -44830"/>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82563" indent="-182563">
              <a:lnSpc>
                <a:spcPts val="2000"/>
              </a:lnSpc>
              <a:buFont typeface="Wingdings" panose="05000000000000000000" pitchFamily="2" charset="2"/>
              <a:buChar char="l"/>
            </a:pPr>
            <a:r>
              <a:rPr lang="zh-CN" altLang="zh-CN" sz="1400" dirty="0">
                <a:solidFill>
                  <a:schemeClr val="tx1"/>
                </a:solidFill>
                <a:latin typeface="Montserrat" panose="00000500000000000000" pitchFamily="2" charset="0"/>
                <a:ea typeface="微软雅黑" panose="020B0503020204020204" pitchFamily="34" charset="-122"/>
              </a:rPr>
              <a:t>完成</a:t>
            </a:r>
            <a:r>
              <a:rPr lang="en-US" altLang="zh-CN" sz="1400" dirty="0">
                <a:solidFill>
                  <a:schemeClr val="tx1"/>
                </a:solidFill>
                <a:latin typeface="Montserrat" panose="00000500000000000000" pitchFamily="2" charset="0"/>
                <a:ea typeface="微软雅黑" panose="020B0503020204020204" pitchFamily="34" charset="-122"/>
              </a:rPr>
              <a:t> SDN </a:t>
            </a:r>
            <a:r>
              <a:rPr lang="zh-CN" altLang="zh-CN" sz="1400" dirty="0">
                <a:solidFill>
                  <a:schemeClr val="tx1"/>
                </a:solidFill>
                <a:latin typeface="Montserrat" panose="00000500000000000000" pitchFamily="2" charset="0"/>
                <a:ea typeface="微软雅黑" panose="020B0503020204020204" pitchFamily="34" charset="-122"/>
              </a:rPr>
              <a:t>控制器与受控网络设备之间的通信。</a:t>
            </a:r>
            <a:endParaRPr lang="en-US" altLang="zh-CN" sz="1400" dirty="0">
              <a:solidFill>
                <a:schemeClr val="tx1"/>
              </a:solidFill>
              <a:latin typeface="Montserrat" panose="00000500000000000000" pitchFamily="2" charset="0"/>
              <a:ea typeface="微软雅黑" panose="020B0503020204020204" pitchFamily="34" charset="-122"/>
            </a:endParaRPr>
          </a:p>
          <a:p>
            <a:pPr marL="182563" indent="-18256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通信层与数据层面的接口叫做南向接口，基本上采用 </a:t>
            </a:r>
            <a:r>
              <a:rPr lang="en-US" altLang="zh-CN" sz="1400" dirty="0" err="1">
                <a:solidFill>
                  <a:schemeClr val="tx1"/>
                </a:solidFill>
                <a:latin typeface="Montserrat" panose="00000500000000000000" pitchFamily="2" charset="0"/>
                <a:ea typeface="微软雅黑" panose="020B0503020204020204" pitchFamily="34" charset="-122"/>
              </a:rPr>
              <a:t>OpenFlow</a:t>
            </a:r>
            <a:r>
              <a:rPr lang="zh-CN" altLang="en-US" sz="1400" dirty="0">
                <a:solidFill>
                  <a:schemeClr val="tx1"/>
                </a:solidFill>
                <a:latin typeface="Montserrat" panose="00000500000000000000" pitchFamily="2" charset="0"/>
                <a:ea typeface="微软雅黑" panose="020B0503020204020204" pitchFamily="34" charset="-122"/>
              </a:rPr>
              <a:t>。</a:t>
            </a:r>
          </a:p>
        </p:txBody>
      </p:sp>
      <p:sp>
        <p:nvSpPr>
          <p:cNvPr id="2" name="标题 1">
            <a:extLst>
              <a:ext uri="{FF2B5EF4-FFF2-40B4-BE49-F238E27FC236}">
                <a16:creationId xmlns:a16="http://schemas.microsoft.com/office/drawing/2014/main" id="{C5D36720-9657-1AC2-8EC9-3094BFDC30A5}"/>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3385927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2515627"/>
            <a:ext cx="2248021" cy="1091064"/>
          </a:xfrm>
          <a:prstGeom prst="borderCallout1">
            <a:avLst>
              <a:gd name="adj1" fmla="val 78231"/>
              <a:gd name="adj2" fmla="val 599"/>
              <a:gd name="adj3" fmla="val 47524"/>
              <a:gd name="adj4" fmla="val -46457"/>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Montserrat" panose="00000500000000000000" pitchFamily="2" charset="0"/>
                <a:ea typeface="微软雅黑" panose="020B0503020204020204" pitchFamily="34" charset="-122"/>
              </a:rPr>
              <a:t>完成核心功能。</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管理和维护链路、主机、交换机等网络状态；</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确定和维护流表等。</a:t>
            </a:r>
            <a:endParaRPr lang="en-US" altLang="zh-CN" sz="1400" dirty="0">
              <a:solidFill>
                <a:schemeClr val="tx1"/>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83AD1CF1-A496-27CF-CDA1-39A8184C70CF}"/>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9126801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1643699"/>
            <a:ext cx="2248021" cy="1853964"/>
          </a:xfrm>
          <a:prstGeom prst="borderCallout1">
            <a:avLst>
              <a:gd name="adj1" fmla="val 37959"/>
              <a:gd name="adj2" fmla="val 78"/>
              <a:gd name="adj3" fmla="val 23190"/>
              <a:gd name="adj4" fmla="val -41242"/>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6213" indent="-176213">
              <a:lnSpc>
                <a:spcPts val="2000"/>
              </a:lnSpc>
              <a:buFont typeface="Wingdings" panose="05000000000000000000" pitchFamily="2" charset="2"/>
              <a:buChar char="l"/>
            </a:pPr>
            <a:r>
              <a:rPr lang="en-US" altLang="zh-CN" sz="1400" dirty="0">
                <a:solidFill>
                  <a:schemeClr val="tx1"/>
                </a:solidFill>
                <a:latin typeface="Montserrat" panose="00000500000000000000" pitchFamily="2" charset="0"/>
                <a:ea typeface="微软雅黑" panose="020B0503020204020204" pitchFamily="34" charset="-122"/>
              </a:rPr>
              <a:t>SDN </a:t>
            </a:r>
            <a:r>
              <a:rPr lang="zh-CN" altLang="en-US" sz="1400" dirty="0">
                <a:solidFill>
                  <a:schemeClr val="tx1"/>
                </a:solidFill>
                <a:latin typeface="Montserrat" panose="00000500000000000000" pitchFamily="2" charset="0"/>
                <a:ea typeface="微软雅黑" panose="020B0503020204020204" pitchFamily="34" charset="-122"/>
              </a:rPr>
              <a:t>控制器与网络控制应用程序交互的接口称为北向接口。</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该 </a:t>
            </a:r>
            <a:r>
              <a:rPr lang="en-US" altLang="zh-CN" sz="1400" dirty="0">
                <a:solidFill>
                  <a:schemeClr val="tx1"/>
                </a:solidFill>
                <a:latin typeface="Montserrat" panose="00000500000000000000" pitchFamily="2" charset="0"/>
                <a:ea typeface="微软雅黑" panose="020B0503020204020204" pitchFamily="34" charset="-122"/>
              </a:rPr>
              <a:t>API </a:t>
            </a:r>
            <a:r>
              <a:rPr lang="zh-CN" altLang="en-US" sz="1400" dirty="0">
                <a:solidFill>
                  <a:schemeClr val="tx1"/>
                </a:solidFill>
                <a:latin typeface="Montserrat" panose="00000500000000000000" pitchFamily="2" charset="0"/>
                <a:ea typeface="微软雅黑" panose="020B0503020204020204" pitchFamily="34" charset="-122"/>
              </a:rPr>
              <a:t>接口允许网络控制应用程序对状态管理层里的网络状态和流表进行读写操作。</a:t>
            </a:r>
            <a:endParaRPr lang="en-US" altLang="zh-CN" sz="1400" dirty="0">
              <a:solidFill>
                <a:schemeClr val="tx1"/>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DA8F45A5-E103-E306-1027-863ACCFDB65F}"/>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13064479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lnDef>
      <a:spPr>
        <a:ln>
          <a:solidFill>
            <a:schemeClr val="tx1">
              <a:lumMod val="50000"/>
              <a:lumOff val="50000"/>
            </a:schemeClr>
          </a:solidFill>
        </a:ln>
      </a:spPr>
      <a:bodyPr/>
      <a:lstStyle/>
      <a:style>
        <a:lnRef idx="1">
          <a:schemeClr val="accent1"/>
        </a:lnRef>
        <a:fillRef idx="0">
          <a:schemeClr val="accent1"/>
        </a:fillRef>
        <a:effectRef idx="0">
          <a:schemeClr val="accent1"/>
        </a:effectRef>
        <a:fontRef idx="minor">
          <a:schemeClr val="tx1"/>
        </a:fontRef>
      </a:style>
    </a:lnDef>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6458</TotalTime>
  <Words>26982</Words>
  <Application>Microsoft Office PowerPoint</Application>
  <PresentationFormat>全屏显示(16:9)</PresentationFormat>
  <Paragraphs>5959</Paragraphs>
  <Slides>339</Slides>
  <Notes>111</Notes>
  <HiddenSlides>1</HiddenSlides>
  <MMClips>0</MMClips>
  <ScaleCrop>false</ScaleCrop>
  <HeadingPairs>
    <vt:vector size="8" baseType="variant">
      <vt:variant>
        <vt:lpstr>已用的字体</vt:lpstr>
      </vt:variant>
      <vt:variant>
        <vt:i4>13</vt:i4>
      </vt:variant>
      <vt:variant>
        <vt:lpstr>主题</vt:lpstr>
      </vt:variant>
      <vt:variant>
        <vt:i4>1</vt:i4>
      </vt:variant>
      <vt:variant>
        <vt:lpstr>嵌入 OLE 服务器</vt:lpstr>
      </vt:variant>
      <vt:variant>
        <vt:i4>2</vt:i4>
      </vt:variant>
      <vt:variant>
        <vt:lpstr>幻灯片标题</vt:lpstr>
      </vt:variant>
      <vt:variant>
        <vt:i4>339</vt:i4>
      </vt:variant>
    </vt:vector>
  </HeadingPairs>
  <TitlesOfParts>
    <vt:vector size="355" baseType="lpstr">
      <vt:lpstr>Symbol</vt:lpstr>
      <vt:lpstr>Courier New</vt:lpstr>
      <vt:lpstr>Arial</vt:lpstr>
      <vt:lpstr>Calibri</vt:lpstr>
      <vt:lpstr>Montserrat</vt:lpstr>
      <vt:lpstr>Wingdings</vt:lpstr>
      <vt:lpstr>微软雅黑</vt:lpstr>
      <vt:lpstr>黑体</vt:lpstr>
      <vt:lpstr>微软雅黑</vt:lpstr>
      <vt:lpstr>Tahoma</vt:lpstr>
      <vt:lpstr>宋体</vt:lpstr>
      <vt:lpstr>微软雅黑 Light</vt:lpstr>
      <vt:lpstr>Times New Roman</vt:lpstr>
      <vt:lpstr>Office 主题​​</vt:lpstr>
      <vt:lpstr>Visio</vt:lpstr>
      <vt:lpstr>VISIO</vt:lpstr>
      <vt:lpstr>PowerPoint 演示文稿</vt:lpstr>
      <vt:lpstr>计算机网络体系结构</vt:lpstr>
      <vt:lpstr>PowerPoint 演示文稿</vt:lpstr>
      <vt:lpstr>PowerPoint 演示文稿</vt:lpstr>
      <vt:lpstr>4.1.1 网络层提供的两种服务</vt:lpstr>
      <vt:lpstr>一种观点：让网络负责可靠交付</vt:lpstr>
      <vt:lpstr>虚电路服务</vt:lpstr>
      <vt:lpstr>另一种观点：网络提供数据报服务</vt:lpstr>
      <vt:lpstr>数据报服务</vt:lpstr>
      <vt:lpstr>虚电路服务与数据报服务的对比</vt:lpstr>
      <vt:lpstr>4.1.2 网络层的两个层面</vt:lpstr>
      <vt:lpstr>4.1.2 网络层的两个层面</vt:lpstr>
      <vt:lpstr>数据层面和控制层面</vt:lpstr>
      <vt:lpstr>软件定义网络 SDN (Software Defined Network)</vt:lpstr>
      <vt:lpstr>软件定义网络 SDN (Software Defined Network)</vt:lpstr>
      <vt:lpstr>PowerPoint 演示文稿</vt:lpstr>
      <vt:lpstr>4.2  网际协议 IP </vt:lpstr>
      <vt:lpstr>4.2.1  虚拟互连网络</vt:lpstr>
      <vt:lpstr>实现异构网络的互连互通方法，哪种好？</vt:lpstr>
      <vt:lpstr>使用中间设备进行互连</vt:lpstr>
      <vt:lpstr>使用转发器或网桥不称为网络互连</vt:lpstr>
      <vt:lpstr>网络互连使用路由器</vt:lpstr>
      <vt:lpstr>互连网络与虚拟互连网络</vt:lpstr>
      <vt:lpstr>IP 网的意义</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协议 Protocol</vt:lpstr>
      <vt:lpstr>协议 Protocol</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默认路由</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4.4 网际控制报文协议</vt:lpstr>
      <vt:lpstr>4.4  网际控制报文协议 ICMP </vt:lpstr>
      <vt:lpstr>ICMP 报文的格式 </vt:lpstr>
      <vt:lpstr>4.4.1  ICMP 报文的种类</vt:lpstr>
      <vt:lpstr>ICMP 差错报告报文的数据字段的内容</vt:lpstr>
      <vt:lpstr>不应发送 ICMP 差错报告报文的几种情况</vt:lpstr>
      <vt:lpstr>ICMP 询问报文</vt:lpstr>
      <vt:lpstr>4.4.2  ICMP 的应用举例</vt:lpstr>
      <vt:lpstr>PING 的应用举例</vt:lpstr>
      <vt:lpstr>4.4.2  ICMP 的应用举例</vt:lpstr>
      <vt:lpstr>4.4.2  ICMP 的应用举例</vt:lpstr>
      <vt:lpstr>4.5 IPv6</vt:lpstr>
      <vt:lpstr>4.5  IPv6</vt:lpstr>
      <vt:lpstr>4.5.1  IPv6 的基本首部</vt:lpstr>
      <vt:lpstr>IPv6 数据报的一般形式</vt:lpstr>
      <vt:lpstr>IPv6 数据报的基本首部</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IPv6 的六种扩展首部</vt:lpstr>
      <vt:lpstr>4.5.2  IPv6 的地址</vt:lpstr>
      <vt:lpstr>节点与接口</vt:lpstr>
      <vt:lpstr>冒号十六进制记法</vt:lpstr>
      <vt:lpstr>PowerPoint 演示文稿</vt:lpstr>
      <vt:lpstr>PowerPoint 演示文稿</vt:lpstr>
      <vt:lpstr>IPv6 地址分类</vt:lpstr>
      <vt:lpstr>IPv6 单播地址的划分方法</vt:lpstr>
      <vt:lpstr>4.5.3  从 IPv4 向 IPv6 过渡</vt:lpstr>
      <vt:lpstr>双协议栈</vt:lpstr>
      <vt:lpstr>双协议栈</vt:lpstr>
      <vt:lpstr>隧道技术</vt:lpstr>
      <vt:lpstr>4.5.4  ICMPv6</vt:lpstr>
      <vt:lpstr>ICMPv6 报文的分类</vt:lpstr>
      <vt:lpstr>4.6路由选择协议</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4.6.2  内部网关协议 RIP</vt:lpstr>
      <vt:lpstr>1. 协议 RIP 的工作原理</vt:lpstr>
      <vt:lpstr>距离</vt:lpstr>
      <vt:lpstr>RIP“距离”的定义</vt:lpstr>
      <vt:lpstr>RIP 协议的三个特点</vt:lpstr>
      <vt:lpstr>路由表的建立</vt:lpstr>
      <vt:lpstr>路由表主要信息和更新规则</vt:lpstr>
      <vt:lpstr>2. 距离向量算法</vt:lpstr>
      <vt:lpstr>2. 距离向量算法</vt:lpstr>
      <vt:lpstr>PowerPoint 演示文稿</vt:lpstr>
      <vt:lpstr>PowerPoint 演示文稿</vt:lpstr>
      <vt:lpstr>RIP2 报文</vt:lpstr>
      <vt:lpstr>RIP2 报文</vt:lpstr>
      <vt:lpstr>3. 坏消息传播得慢</vt:lpstr>
      <vt:lpstr>PowerPoint 演示文稿</vt:lpstr>
      <vt:lpstr>PowerPoint 演示文稿</vt:lpstr>
      <vt:lpstr>PowerPoint 演示文稿</vt:lpstr>
      <vt:lpstr>PowerPoint 演示文稿</vt:lpstr>
      <vt:lpstr>PowerPoint 演示文稿</vt:lpstr>
      <vt:lpstr>RIP 协议的优缺点</vt:lpstr>
      <vt:lpstr>4.6.3  内部网关协议 OSPF</vt:lpstr>
      <vt:lpstr>4.6.3  内部网关协议 OSPF</vt:lpstr>
      <vt:lpstr>三个主要特点</vt:lpstr>
      <vt:lpstr>链路状态数据库 link-state database</vt:lpstr>
      <vt:lpstr>OSPF 自治系统</vt:lpstr>
      <vt:lpstr>划分区域优点和缺点</vt:lpstr>
      <vt:lpstr>其他特点</vt:lpstr>
      <vt:lpstr>2. OSPF 的五种分组类型</vt:lpstr>
      <vt:lpstr>OSPF 分组用 IP 数据报传送</vt:lpstr>
      <vt:lpstr>OSPF 工作过程</vt:lpstr>
      <vt:lpstr>OSPF 工作过程</vt:lpstr>
      <vt:lpstr>PowerPoint 演示文稿</vt:lpstr>
      <vt:lpstr>指定路由器 DR </vt:lpstr>
      <vt:lpstr>4.6.4  外部网关协议 BGP</vt:lpstr>
      <vt:lpstr>4.6.4  外部网关协议 BGP</vt:lpstr>
      <vt:lpstr>BGP 发言者 (BGP speaker)</vt:lpstr>
      <vt:lpstr>eBGP 连接和 iBGP 连接</vt:lpstr>
      <vt:lpstr>IGP vs iBGP vs eBGP</vt:lpstr>
      <vt:lpstr> eBGP vs iBGP</vt:lpstr>
      <vt:lpstr> eBGP vs iBGP</vt:lpstr>
      <vt:lpstr>BGP 路由信息</vt:lpstr>
      <vt:lpstr>BGP 路由信息</vt:lpstr>
      <vt:lpstr>BGP 路由信息</vt:lpstr>
      <vt:lpstr>BGP 路由信息</vt:lpstr>
      <vt:lpstr>BGP 路由信息</vt:lpstr>
      <vt:lpstr>3. 三种不同的自治系统 AS</vt:lpstr>
      <vt:lpstr>BGP 路由如何避免兜圈子？</vt:lpstr>
      <vt:lpstr>4. BGP 的路由选择</vt:lpstr>
      <vt:lpstr>本地偏好 (local preference) 值最高</vt:lpstr>
      <vt:lpstr>PowerPoint 演示文稿</vt:lpstr>
      <vt:lpstr>AS 跳数最小</vt:lpstr>
      <vt:lpstr>AS 跳数最小</vt:lpstr>
      <vt:lpstr>PowerPoint 演示文稿</vt:lpstr>
      <vt:lpstr>热土豆路由选择算法</vt:lpstr>
      <vt:lpstr>PowerPoint 演示文稿</vt:lpstr>
      <vt:lpstr>5.  BGP-4 的四种报文</vt:lpstr>
      <vt:lpstr>BGP 报文具有通用首部</vt:lpstr>
      <vt:lpstr>4.6.5  路由器的构成</vt:lpstr>
      <vt:lpstr>1. 路由器的结构</vt:lpstr>
      <vt:lpstr>转发和路由选择</vt:lpstr>
      <vt:lpstr>输入端口对线路上收到的分组的处理 </vt:lpstr>
      <vt:lpstr>输出端口将交换结构传送来的分组发送到线路 </vt:lpstr>
      <vt:lpstr>2. 交换结构</vt:lpstr>
      <vt:lpstr>通过存储器</vt:lpstr>
      <vt:lpstr>通过总线 BUS</vt:lpstr>
      <vt:lpstr>通过纵横交换结构 (crossbar switch fabric)</vt:lpstr>
      <vt:lpstr>4.7 IP多播</vt:lpstr>
      <vt:lpstr>4.7.1  IP 多播的基本概念</vt:lpstr>
      <vt:lpstr>多播可大大节约网络资源</vt:lpstr>
      <vt:lpstr>多播可大大节约网络资源</vt:lpstr>
      <vt:lpstr>IP 多播</vt:lpstr>
      <vt:lpstr>多播 IP 地址</vt:lpstr>
      <vt:lpstr>多播数据报</vt:lpstr>
      <vt:lpstr>4.7.2  在局域网上进行硬件多播</vt:lpstr>
      <vt:lpstr>D 类 IP 地址与以太网多播地址的映射关系 </vt:lpstr>
      <vt:lpstr>4.7.3  网际组管理协议 IGMP 和多播路由选择协议</vt:lpstr>
      <vt:lpstr>IGMP 使多播路由器知道多播组成员信息 </vt:lpstr>
      <vt:lpstr>多播路由选择协议更为复杂</vt:lpstr>
      <vt:lpstr>多播路由选择协议更为复杂</vt:lpstr>
      <vt:lpstr>2.  网际组管理协议 IGMP</vt:lpstr>
      <vt:lpstr>IGMP 使用 IP 数据报传递其报文</vt:lpstr>
      <vt:lpstr>IGMP 工作可分为两个阶段</vt:lpstr>
      <vt:lpstr>第一阶段：加入多播组</vt:lpstr>
      <vt:lpstr>第二阶段：探询组成员变化情况</vt:lpstr>
      <vt:lpstr>第二阶段：探询组成员变化情况</vt:lpstr>
      <vt:lpstr>IGMP 采用的一些具体措施，以避免增加大量开销</vt:lpstr>
      <vt:lpstr>3.  多播路由选择</vt:lpstr>
      <vt:lpstr>3.  多播路由选择</vt:lpstr>
      <vt:lpstr>(1) 洪泛与剪除</vt:lpstr>
      <vt:lpstr>RPB 的要点</vt:lpstr>
      <vt:lpstr>RPB 的要点</vt:lpstr>
      <vt:lpstr>RPB 的要点：剪枝与嫁接</vt:lpstr>
      <vt:lpstr>PowerPoint 演示文稿</vt:lpstr>
      <vt:lpstr>(2) 隧道技术 (tunneling) </vt:lpstr>
      <vt:lpstr>(3) 基于核心的发现技术 </vt:lpstr>
      <vt:lpstr>(3) 基于核心的发现技术 </vt:lpstr>
      <vt:lpstr>几种多播路由选择协议</vt:lpstr>
      <vt:lpstr>4.8.1 虚拟专用网</vt:lpstr>
      <vt:lpstr>4.8.1  虚拟专用网 VPN</vt:lpstr>
      <vt:lpstr>本地地址 vs 全球地址</vt:lpstr>
      <vt:lpstr>专用 IP 地址块</vt:lpstr>
      <vt:lpstr>专用网</vt:lpstr>
      <vt:lpstr>虚拟专用网 VPN</vt:lpstr>
      <vt:lpstr>虚拟专用网 VPN 的构建</vt:lpstr>
      <vt:lpstr>用隧道技术实现虚拟专用网</vt:lpstr>
      <vt:lpstr>PowerPoint 演示文稿</vt:lpstr>
      <vt:lpstr>VPN 类型</vt:lpstr>
      <vt:lpstr>4.8.2 网络地址转换 </vt:lpstr>
      <vt:lpstr>4.8.2   网络地址转换 NAT</vt:lpstr>
      <vt:lpstr>网络地址转换</vt:lpstr>
      <vt:lpstr>网络地址转换的过程</vt:lpstr>
      <vt:lpstr>网络地址转换的过程</vt:lpstr>
      <vt:lpstr>网络地址转换 NAT</vt:lpstr>
      <vt:lpstr>网络地址与端口号转换 NAPT</vt:lpstr>
      <vt:lpstr>NAPT 地址转换表</vt:lpstr>
      <vt:lpstr>4.9 MPLS</vt:lpstr>
      <vt:lpstr>4.9  多协议标签交换 MPLS</vt:lpstr>
      <vt:lpstr>MPLS 特点</vt:lpstr>
      <vt:lpstr>4.9.1  MPLS 的工作原理</vt:lpstr>
      <vt:lpstr>1.  MPLS 基本工作过程</vt:lpstr>
      <vt:lpstr>MPLS 协议的基本原理</vt:lpstr>
      <vt:lpstr>MPLS 域</vt:lpstr>
      <vt:lpstr>MPLS 的基本工作过程</vt:lpstr>
      <vt:lpstr>MPLS 的基本工作过程</vt:lpstr>
      <vt:lpstr>MPLS 的基本工作过程</vt:lpstr>
      <vt:lpstr>2. 转发等价类 FEC</vt:lpstr>
      <vt:lpstr>2. 转发等价类 FEC</vt:lpstr>
      <vt:lpstr>2. 转发等价类 FEC</vt:lpstr>
      <vt:lpstr>FEC 用于负载平衡</vt:lpstr>
      <vt:lpstr>4.9.2  MPLS 首部的位置与格式</vt:lpstr>
      <vt:lpstr>MPLS 首部的格式</vt:lpstr>
      <vt:lpstr>MPLS 首部的格式</vt:lpstr>
      <vt:lpstr>MPLS 首部的格式</vt:lpstr>
      <vt:lpstr>MPLS 首部的格式</vt:lpstr>
      <vt:lpstr>MPLS 首部的格式</vt:lpstr>
      <vt:lpstr>4.9.3  新一代的 MPLS</vt:lpstr>
      <vt:lpstr>段路由选择协议 SR </vt:lpstr>
      <vt:lpstr>控制器</vt:lpstr>
      <vt:lpstr>4.10 SDN</vt:lpstr>
      <vt:lpstr>4.10   软件定义网络 SDN 简介</vt:lpstr>
      <vt:lpstr>4.10.1  SDN 与 协议 OpenFlow</vt:lpstr>
      <vt:lpstr>协议 OpenFlow</vt:lpstr>
      <vt:lpstr>OpenFlow 数据层面：匹配 + 动作</vt:lpstr>
      <vt:lpstr>OpenFlow 数据层面：流表</vt:lpstr>
      <vt:lpstr>流表由远程控制器管理</vt:lpstr>
      <vt:lpstr>流表结构</vt:lpstr>
      <vt:lpstr>流表结构</vt:lpstr>
      <vt:lpstr>流表结构</vt:lpstr>
      <vt:lpstr>OpenFlow 控制器</vt:lpstr>
      <vt:lpstr>例子：简单转发</vt:lpstr>
      <vt:lpstr>例子：负载均衡</vt:lpstr>
      <vt:lpstr>例子：负载均衡</vt:lpstr>
      <vt:lpstr>例子：防火墙</vt:lpstr>
      <vt:lpstr>例子：防火墙</vt:lpstr>
      <vt:lpstr>4.10.2  SDN 体系结构</vt:lpstr>
      <vt:lpstr>SDN 体系结构的四个关键特征</vt:lpstr>
      <vt:lpstr>SDN 与传统网络的差别</vt:lpstr>
      <vt:lpstr>4.10.3  SDN 控制器</vt:lpstr>
      <vt:lpstr>4.10.3  SDN 控制器</vt:lpstr>
      <vt:lpstr>4.10.3  SDN 控制器</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ZF</dc:creator>
  <cp:lastModifiedBy>cn plaman</cp:lastModifiedBy>
  <cp:revision>407</cp:revision>
  <dcterms:modified xsi:type="dcterms:W3CDTF">2025-11-09T15:07:35Z</dcterms:modified>
</cp:coreProperties>
</file>