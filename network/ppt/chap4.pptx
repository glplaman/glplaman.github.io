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6"/>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879" r:id="rId221"/>
    <p:sldId id="759" r:id="rId222"/>
    <p:sldId id="760" r:id="rId223"/>
    <p:sldId id="761" r:id="rId224"/>
    <p:sldId id="762" r:id="rId225"/>
    <p:sldId id="764" r:id="rId226"/>
    <p:sldId id="763" r:id="rId227"/>
    <p:sldId id="766" r:id="rId228"/>
    <p:sldId id="880" r:id="rId229"/>
    <p:sldId id="765" r:id="rId230"/>
    <p:sldId id="769" r:id="rId231"/>
    <p:sldId id="770" r:id="rId232"/>
    <p:sldId id="771" r:id="rId233"/>
    <p:sldId id="467" r:id="rId234"/>
    <p:sldId id="469" r:id="rId235"/>
    <p:sldId id="773" r:id="rId236"/>
    <p:sldId id="774" r:id="rId237"/>
    <p:sldId id="859" r:id="rId238"/>
    <p:sldId id="776" r:id="rId239"/>
    <p:sldId id="777" r:id="rId240"/>
    <p:sldId id="858" r:id="rId241"/>
    <p:sldId id="778" r:id="rId242"/>
    <p:sldId id="860" r:id="rId243"/>
    <p:sldId id="474" r:id="rId244"/>
    <p:sldId id="475" r:id="rId245"/>
    <p:sldId id="476" r:id="rId246"/>
    <p:sldId id="781" r:id="rId247"/>
    <p:sldId id="782" r:id="rId248"/>
    <p:sldId id="483" r:id="rId249"/>
    <p:sldId id="485" r:id="rId250"/>
    <p:sldId id="487" r:id="rId251"/>
    <p:sldId id="488" r:id="rId252"/>
    <p:sldId id="784" r:id="rId253"/>
    <p:sldId id="785" r:id="rId254"/>
    <p:sldId id="864" r:id="rId255"/>
    <p:sldId id="527" r:id="rId256"/>
    <p:sldId id="528" r:id="rId257"/>
    <p:sldId id="529" r:id="rId258"/>
    <p:sldId id="530" r:id="rId259"/>
    <p:sldId id="531" r:id="rId260"/>
    <p:sldId id="532" r:id="rId261"/>
    <p:sldId id="533" r:id="rId262"/>
    <p:sldId id="534" r:id="rId263"/>
    <p:sldId id="786" r:id="rId264"/>
    <p:sldId id="537" r:id="rId265"/>
    <p:sldId id="539" r:id="rId266"/>
    <p:sldId id="540" r:id="rId267"/>
    <p:sldId id="541" r:id="rId268"/>
    <p:sldId id="542" r:id="rId269"/>
    <p:sldId id="789" r:id="rId270"/>
    <p:sldId id="790" r:id="rId271"/>
    <p:sldId id="791" r:id="rId272"/>
    <p:sldId id="792" r:id="rId273"/>
    <p:sldId id="545" r:id="rId274"/>
    <p:sldId id="794" r:id="rId275"/>
    <p:sldId id="548" r:id="rId276"/>
    <p:sldId id="549" r:id="rId277"/>
    <p:sldId id="550" r:id="rId278"/>
    <p:sldId id="797" r:id="rId279"/>
    <p:sldId id="796" r:id="rId280"/>
    <p:sldId id="552" r:id="rId281"/>
    <p:sldId id="553" r:id="rId282"/>
    <p:sldId id="554" r:id="rId283"/>
    <p:sldId id="800" r:id="rId284"/>
    <p:sldId id="555" r:id="rId285"/>
    <p:sldId id="865" r:id="rId286"/>
    <p:sldId id="557" r:id="rId287"/>
    <p:sldId id="558" r:id="rId288"/>
    <p:sldId id="560" r:id="rId289"/>
    <p:sldId id="561" r:id="rId290"/>
    <p:sldId id="562" r:id="rId291"/>
    <p:sldId id="563" r:id="rId292"/>
    <p:sldId id="564" r:id="rId293"/>
    <p:sldId id="565" r:id="rId294"/>
    <p:sldId id="566" r:id="rId295"/>
    <p:sldId id="868" r:id="rId296"/>
    <p:sldId id="568" r:id="rId297"/>
    <p:sldId id="569" r:id="rId298"/>
    <p:sldId id="570" r:id="rId299"/>
    <p:sldId id="878" r:id="rId300"/>
    <p:sldId id="572" r:id="rId301"/>
    <p:sldId id="573" r:id="rId302"/>
    <p:sldId id="574" r:id="rId303"/>
    <p:sldId id="575" r:id="rId304"/>
    <p:sldId id="866" r:id="rId305"/>
    <p:sldId id="578" r:id="rId306"/>
    <p:sldId id="579" r:id="rId307"/>
    <p:sldId id="581" r:id="rId308"/>
    <p:sldId id="582" r:id="rId309"/>
    <p:sldId id="584" r:id="rId310"/>
    <p:sldId id="583" r:id="rId311"/>
    <p:sldId id="585" r:id="rId312"/>
    <p:sldId id="805" r:id="rId313"/>
    <p:sldId id="806" r:id="rId314"/>
    <p:sldId id="588" r:id="rId315"/>
    <p:sldId id="808" r:id="rId316"/>
    <p:sldId id="809" r:id="rId317"/>
    <p:sldId id="590" r:id="rId318"/>
    <p:sldId id="592" r:id="rId319"/>
    <p:sldId id="810" r:id="rId320"/>
    <p:sldId id="814" r:id="rId321"/>
    <p:sldId id="815" r:id="rId322"/>
    <p:sldId id="816" r:id="rId323"/>
    <p:sldId id="867" r:id="rId324"/>
    <p:sldId id="817" r:id="rId325"/>
    <p:sldId id="821" r:id="rId326"/>
    <p:sldId id="820" r:id="rId327"/>
    <p:sldId id="822" r:id="rId328"/>
    <p:sldId id="823" r:id="rId329"/>
    <p:sldId id="824" r:id="rId330"/>
    <p:sldId id="826" r:id="rId331"/>
    <p:sldId id="827" r:id="rId332"/>
    <p:sldId id="828" r:id="rId333"/>
    <p:sldId id="825" r:id="rId334"/>
    <p:sldId id="829" r:id="rId335"/>
    <p:sldId id="870" r:id="rId336"/>
    <p:sldId id="830" r:id="rId337"/>
    <p:sldId id="871" r:id="rId338"/>
    <p:sldId id="831" r:id="rId339"/>
    <p:sldId id="835" r:id="rId340"/>
    <p:sldId id="833" r:id="rId341"/>
    <p:sldId id="836" r:id="rId342"/>
    <p:sldId id="834" r:id="rId343"/>
    <p:sldId id="838" r:id="rId344"/>
    <p:sldId id="839" r:id="rId345"/>
  </p:sldIdLst>
  <p:sldSz cx="9144000" cy="5143500" type="screen16x9"/>
  <p:notesSz cx="6858000" cy="9144000"/>
  <p:embeddedFontLst>
    <p:embeddedFont>
      <p:font typeface="Montserrat" panose="00000500000000000000" pitchFamily="2" charset="0"/>
      <p:regular r:id="rId347"/>
    </p:embeddedFont>
    <p:embeddedFont>
      <p:font typeface="Tahoma" panose="020B0604030504040204" pitchFamily="34" charset="0"/>
      <p:regular r:id="rId348"/>
      <p:bold r:id="rId349"/>
    </p:embeddedFont>
    <p:embeddedFont>
      <p:font typeface="黑体" panose="02010609060101010101" pitchFamily="49" charset="-122"/>
      <p:regular r:id="rId350"/>
    </p:embeddedFont>
    <p:embeddedFont>
      <p:font typeface="微软雅黑" panose="020B0503020204020204" pitchFamily="34" charset="-122"/>
      <p:regular r:id="rId351"/>
      <p:bold r:id="rId352"/>
    </p:embeddedFont>
    <p:embeddedFont>
      <p:font typeface="微软雅黑" panose="020B0503020204020204" pitchFamily="34" charset="-122"/>
      <p:regular r:id="rId351"/>
      <p:bold r:id="rId352"/>
    </p:embeddedFont>
    <p:embeddedFont>
      <p:font typeface="微软雅黑 Light" panose="020B0502040204020203" pitchFamily="34" charset="-122"/>
      <p:regular r:id="rId35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40" d="100"/>
          <a:sy n="140" d="100"/>
        </p:scale>
        <p:origin x="684" y="27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ableStyles" Target="tableStyle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2.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3.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4.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5.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6.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7.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presProps" Target="pres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viewProps" Target="view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theme" Target="theme/theme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1.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2.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2.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0" dirty="0">
              <a:solidFill>
                <a:schemeClr val="bg1"/>
              </a:solidFill>
              <a:latin typeface="微软雅黑" panose="020B0503020204020204" pitchFamily="34" charset="-122"/>
              <a:ea typeface="微软雅黑" panose="020B0503020204020204" pitchFamily="34" charset="-122"/>
            </a:rPr>
            <a:t>SDN</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0" dirty="0" err="1">
              <a:solidFill>
                <a:schemeClr val="bg1"/>
              </a:solidFill>
              <a:latin typeface="微软雅黑" panose="020B0503020204020204" pitchFamily="34" charset="-122"/>
              <a:ea typeface="微软雅黑" panose="020B0503020204020204" pitchFamily="34" charset="-122"/>
            </a:rPr>
            <a:t>OpenFlow</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506277" y="307"/>
          <a:ext cx="526680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685954" y="307"/>
        <a:ext cx="5087123" cy="718708"/>
      </dsp:txXfrm>
    </dsp:sp>
    <dsp:sp modelId="{F63A45BE-87F8-4243-8A28-A9B96E270ED4}">
      <dsp:nvSpPr>
        <dsp:cNvPr id="0" name=""/>
        <dsp:cNvSpPr/>
      </dsp:nvSpPr>
      <dsp:spPr>
        <a:xfrm>
          <a:off x="1146922"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506277" y="898692"/>
          <a:ext cx="526680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685954" y="898692"/>
        <a:ext cx="5087123" cy="718708"/>
      </dsp:txXfrm>
    </dsp:sp>
    <dsp:sp modelId="{FCC1DF99-0F26-4341-896E-169B093FC04C}">
      <dsp:nvSpPr>
        <dsp:cNvPr id="0" name=""/>
        <dsp:cNvSpPr/>
      </dsp:nvSpPr>
      <dsp:spPr>
        <a:xfrm>
          <a:off x="1146922"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506277" y="1797078"/>
          <a:ext cx="526680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685954" y="1797078"/>
        <a:ext cx="5087123" cy="718708"/>
      </dsp:txXfrm>
    </dsp:sp>
    <dsp:sp modelId="{6B868C05-F9BC-41B1-B7D8-606E2302DF2B}">
      <dsp:nvSpPr>
        <dsp:cNvPr id="0" name=""/>
        <dsp:cNvSpPr/>
      </dsp:nvSpPr>
      <dsp:spPr>
        <a:xfrm>
          <a:off x="1146922"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0" kern="1200" dirty="0">
              <a:solidFill>
                <a:schemeClr val="bg1"/>
              </a:solidFill>
              <a:latin typeface="微软雅黑" panose="020B0503020204020204" pitchFamily="34" charset="-122"/>
              <a:ea typeface="微软雅黑" panose="020B0503020204020204" pitchFamily="34" charset="-122"/>
            </a:rPr>
            <a:t>SDN</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0" kern="1200" dirty="0" err="1">
              <a:solidFill>
                <a:schemeClr val="bg1"/>
              </a:solidFill>
              <a:latin typeface="微软雅黑" panose="020B0503020204020204" pitchFamily="34" charset="-122"/>
              <a:ea typeface="微软雅黑" panose="020B0503020204020204" pitchFamily="34" charset="-122"/>
            </a:rPr>
            <a:t>OpenFlow</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2025/11/23</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294</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322</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341</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2000" y="4832695"/>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66133" y="4832695"/>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4783500"/>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9.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 Id="rId4" Type="http://schemas.openxmlformats.org/officeDocument/2006/relationships/image" Target="../media/image24.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6.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9.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0.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1.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17.png"/><Relationship Id="rId4" Type="http://schemas.openxmlformats.org/officeDocument/2006/relationships/image" Target="../media/image29.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1.wmf"/><Relationship Id="rId1" Type="http://schemas.openxmlformats.org/officeDocument/2006/relationships/slideLayout" Target="../slideLayouts/slideLayout3.xml"/><Relationship Id="rId4" Type="http://schemas.openxmlformats.org/officeDocument/2006/relationships/image" Target="../media/image9.wmf"/></Relationships>
</file>

<file path=ppt/slides/_rels/slide18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9.wmf"/><Relationship Id="rId4" Type="http://schemas.openxmlformats.org/officeDocument/2006/relationships/image" Target="../media/image3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image" Target="../media/image35.png"/><Relationship Id="rId1" Type="http://schemas.openxmlformats.org/officeDocument/2006/relationships/slideLayout" Target="../slideLayouts/slideLayout5.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4.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42.png"/><Relationship Id="rId1" Type="http://schemas.openxmlformats.org/officeDocument/2006/relationships/slideLayout" Target="../slideLayouts/slideLayout3.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21.wmf"/></Relationships>
</file>

<file path=ppt/slides/_rels/slide25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42.png"/><Relationship Id="rId1" Type="http://schemas.openxmlformats.org/officeDocument/2006/relationships/slideLayout" Target="../slideLayouts/slideLayout3.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21.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9.wmf"/><Relationship Id="rId1" Type="http://schemas.openxmlformats.org/officeDocument/2006/relationships/slideLayout" Target="../slideLayouts/slideLayout3.xml"/><Relationship Id="rId5" Type="http://schemas.openxmlformats.org/officeDocument/2006/relationships/image" Target="../media/image44.svg"/><Relationship Id="rId4" Type="http://schemas.openxmlformats.org/officeDocument/2006/relationships/image" Target="../media/image43.png"/></Relationships>
</file>

<file path=ppt/slides/_rels/slide265.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21.wmf"/><Relationship Id="rId7" Type="http://schemas.openxmlformats.org/officeDocument/2006/relationships/image" Target="../media/image48.svg"/><Relationship Id="rId2" Type="http://schemas.openxmlformats.org/officeDocument/2006/relationships/image" Target="../media/image9.wmf"/><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 Id="rId9" Type="http://schemas.openxmlformats.org/officeDocument/2006/relationships/image" Target="../media/image50.sv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1.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2.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54.wmf"/></Relationships>
</file>

<file path=ppt/slides/_rels/slide29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54.wmf"/></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9.wmf"/><Relationship Id="rId4" Type="http://schemas.openxmlformats.org/officeDocument/2006/relationships/image" Target="../media/image54.wmf"/></Relationships>
</file>

<file path=ppt/slides/_rels/slide29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9.wmf"/><Relationship Id="rId4" Type="http://schemas.openxmlformats.org/officeDocument/2006/relationships/image" Target="../media/image54.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2" Type="http://schemas.openxmlformats.org/officeDocument/2006/relationships/image" Target="../media/image57.jpg"/><Relationship Id="rId1" Type="http://schemas.openxmlformats.org/officeDocument/2006/relationships/slideLayout" Target="../slideLayouts/slideLayout1.xml"/></Relationships>
</file>

<file path=ppt/slides/_rels/slide305.xml.rels><?xml version="1.0" encoding="UTF-8" standalone="yes"?>
<Relationships xmlns="http://schemas.openxmlformats.org/package/2006/relationships"><Relationship Id="rId2" Type="http://schemas.openxmlformats.org/officeDocument/2006/relationships/image" Target="../media/image58.wmf"/><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image" Target="../media/image58.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8.wmf"/></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58.wmf"/></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61.wmf"/></Relationships>
</file>

<file path=ppt/slides/_rels/slide33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2808000" y="144000"/>
            <a:ext cx="3528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2808000" y="144000"/>
            <a:ext cx="3528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482554"/>
            <a:ext cx="8172000" cy="4120946"/>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2808000" y="144000"/>
            <a:ext cx="3528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482554"/>
            <a:ext cx="8172000" cy="4120946"/>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2808000" y="144000"/>
            <a:ext cx="3528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482554"/>
            <a:ext cx="8172000" cy="4120946"/>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2808000" y="144000"/>
            <a:ext cx="3528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482554"/>
            <a:ext cx="8172000" cy="4120946"/>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2808000" y="144000"/>
            <a:ext cx="3528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482554"/>
            <a:ext cx="8172000" cy="4120946"/>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2808000" y="144000"/>
            <a:ext cx="3528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2808000" y="144000"/>
            <a:ext cx="3528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482554"/>
            <a:ext cx="8172000" cy="4120946"/>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2808000" y="144000"/>
            <a:ext cx="3528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482554"/>
            <a:ext cx="8172000" cy="4120946"/>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2808000" y="144000"/>
            <a:ext cx="3528000" cy="338554"/>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2808000" y="144000"/>
            <a:ext cx="3528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2808000" y="144000"/>
            <a:ext cx="3528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2808000" y="144000"/>
            <a:ext cx="3528000" cy="338554"/>
          </a:xfrm>
        </p:spPr>
        <p:txBody>
          <a:bodyPr/>
          <a:lstStyle/>
          <a:p>
            <a:r>
              <a:rPr lang="en-US" altLang="zh-CN" dirty="0"/>
              <a:t>4.2  </a:t>
            </a:r>
            <a:r>
              <a:rPr lang="zh-CN" altLang="en-US" dirty="0"/>
              <a:t>网际协议 </a:t>
            </a:r>
            <a:r>
              <a:rPr lang="en-US" altLang="zh-CN" dirty="0"/>
              <a:t>IP </a:t>
            </a:r>
            <a:endParaRPr lang="zh-CN" altLang="en-US" dirty="0"/>
          </a:p>
        </p:txBody>
      </p:sp>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482554"/>
            <a:ext cx="8172000" cy="4120946"/>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2808000" y="144000"/>
            <a:ext cx="3528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482554"/>
            <a:ext cx="8172000" cy="4120946"/>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2808000" y="144000"/>
            <a:ext cx="3528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2808000" y="144000"/>
            <a:ext cx="3528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2808000" y="144000"/>
            <a:ext cx="3528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2808000" y="144000"/>
            <a:ext cx="3528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2808000" y="144000"/>
            <a:ext cx="3528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2808000" y="144000"/>
            <a:ext cx="3528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482554"/>
            <a:ext cx="8172000" cy="4120946"/>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2808000" y="144000"/>
            <a:ext cx="3528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482554"/>
            <a:ext cx="8172000" cy="4120946"/>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2808000" y="144000"/>
            <a:ext cx="3528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482554"/>
            <a:ext cx="8172000" cy="4120946"/>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2808000" y="144000"/>
            <a:ext cx="3528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482554"/>
            <a:ext cx="8172000" cy="4120946"/>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2808000" y="144000"/>
            <a:ext cx="3528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2808000" y="144000"/>
            <a:ext cx="3528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482554"/>
            <a:ext cx="8172000" cy="4120946"/>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2808000" y="144000"/>
            <a:ext cx="3528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2808000" y="144000"/>
            <a:ext cx="3528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482554"/>
            <a:ext cx="8172000" cy="4120946"/>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2808000" y="144000"/>
            <a:ext cx="3528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482554"/>
            <a:ext cx="8172000" cy="4120946"/>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482554"/>
            <a:ext cx="8172000" cy="4120946"/>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2808000" y="144000"/>
            <a:ext cx="3528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482554"/>
            <a:ext cx="8172000" cy="4120946"/>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2808000" y="144000"/>
            <a:ext cx="3528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482554"/>
            <a:ext cx="8172000" cy="4120946"/>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2808000" y="144000"/>
            <a:ext cx="3528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2808000" y="144000"/>
            <a:ext cx="3528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482554"/>
            <a:ext cx="8172000" cy="4120946"/>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2808000" y="144000"/>
            <a:ext cx="3528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482554"/>
            <a:ext cx="8172000" cy="4120946"/>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2808000" y="144000"/>
            <a:ext cx="3528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482554"/>
            <a:ext cx="8172000" cy="4120946"/>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2808000" y="144000"/>
            <a:ext cx="3528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482554"/>
            <a:ext cx="8172000" cy="4120946"/>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2808000" y="144000"/>
            <a:ext cx="3528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2808000" y="144000"/>
            <a:ext cx="3528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2808000" y="144000"/>
            <a:ext cx="3528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2808000" y="144000"/>
            <a:ext cx="3528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2808000" y="144000"/>
            <a:ext cx="3528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482554"/>
            <a:ext cx="8172000" cy="4120946"/>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2808000" y="144000"/>
            <a:ext cx="3528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2808000" y="144000"/>
            <a:ext cx="3528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2808000" y="144000"/>
            <a:ext cx="3528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2808000" y="144000"/>
            <a:ext cx="3528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2808000" y="144000"/>
            <a:ext cx="3528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2808000" y="144000"/>
            <a:ext cx="3528000" cy="338554"/>
          </a:xfrm>
        </p:spPr>
        <p:txBody>
          <a:bodyPr/>
          <a:lstStyle/>
          <a:p>
            <a:r>
              <a:rPr lang="zh-CN" altLang="en-US" dirty="0"/>
              <a:t>自治系统和内部网关协议、外部网关协议 </a:t>
            </a:r>
          </a:p>
        </p:txBody>
      </p:sp>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482554"/>
            <a:ext cx="8172000" cy="4120946"/>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2808000" y="144000"/>
            <a:ext cx="3528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2808000" y="144000"/>
            <a:ext cx="3528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482554"/>
            <a:ext cx="8172000" cy="4120946"/>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2808000" y="144000"/>
            <a:ext cx="3528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482554"/>
            <a:ext cx="8172000" cy="4120946"/>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2808000" y="144000"/>
            <a:ext cx="3528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6000" y="482554"/>
            <a:ext cx="8172000" cy="4120946"/>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2808000" y="144000"/>
            <a:ext cx="3528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482554"/>
            <a:ext cx="8172000" cy="4120946"/>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2808000" y="144000"/>
            <a:ext cx="3528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482554"/>
            <a:ext cx="8172000" cy="4120946"/>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2808000" y="144000"/>
            <a:ext cx="3528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482554"/>
            <a:ext cx="8172000" cy="4120946"/>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2808000" y="144000"/>
            <a:ext cx="3528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482554"/>
            <a:ext cx="8172000" cy="4120946"/>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2808000" y="144000"/>
            <a:ext cx="3528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482554"/>
            <a:ext cx="8172000" cy="4120946"/>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2808000" y="144000"/>
            <a:ext cx="3528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2808000" y="144000"/>
            <a:ext cx="3528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482554"/>
            <a:ext cx="8172000" cy="4120946"/>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2808000" y="144000"/>
            <a:ext cx="3528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482554"/>
            <a:ext cx="8172000" cy="4120946"/>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2808000" y="144000"/>
            <a:ext cx="3528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482554"/>
            <a:ext cx="8172000" cy="4120946"/>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2808000" y="144000"/>
            <a:ext cx="3528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2808000" y="144000"/>
            <a:ext cx="3528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482554"/>
            <a:ext cx="8172000" cy="4120946"/>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2808000" y="144000"/>
            <a:ext cx="3528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482554"/>
            <a:ext cx="8172000" cy="4120946"/>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2808000" y="144000"/>
            <a:ext cx="3528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482554"/>
            <a:ext cx="8172000" cy="4120946"/>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2808000" y="144000"/>
            <a:ext cx="3528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482554"/>
            <a:ext cx="8172000" cy="4120946"/>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2808000" y="144000"/>
            <a:ext cx="3528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482554"/>
            <a:ext cx="8172000" cy="4120946"/>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2808000" y="144000"/>
            <a:ext cx="3528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482554"/>
            <a:ext cx="8172000" cy="4120946"/>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2808000" y="144000"/>
            <a:ext cx="3528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482554"/>
            <a:ext cx="8172000" cy="4120946"/>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2808000" y="144000"/>
            <a:ext cx="3528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2808000" y="144000"/>
            <a:ext cx="3528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482554"/>
            <a:ext cx="8172000" cy="4120946"/>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2808000" y="144000"/>
            <a:ext cx="3528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2808000" y="144000"/>
            <a:ext cx="3528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482554"/>
            <a:ext cx="8172000" cy="4120946"/>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2808000" y="144000"/>
            <a:ext cx="3528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任意多边形: 形状 49">
            <a:extLst>
              <a:ext uri="{FF2B5EF4-FFF2-40B4-BE49-F238E27FC236}">
                <a16:creationId xmlns:a16="http://schemas.microsoft.com/office/drawing/2014/main" id="{9EBA20C7-E0DC-0BDC-CCDA-1BED2F2B6178}"/>
              </a:ext>
            </a:extLst>
          </p:cNvPr>
          <p:cNvSpPr>
            <a:spLocks noChangeArrowheads="1"/>
          </p:cNvSpPr>
          <p:nvPr/>
        </p:nvSpPr>
        <p:spPr bwMode="auto">
          <a:xfrm>
            <a:off x="4572000" y="2833465"/>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49" name="任意多边形: 形状 48">
            <a:extLst>
              <a:ext uri="{FF2B5EF4-FFF2-40B4-BE49-F238E27FC236}">
                <a16:creationId xmlns:a16="http://schemas.microsoft.com/office/drawing/2014/main" id="{05D46528-41F4-4114-4F8A-D210A3B420A9}"/>
              </a:ext>
            </a:extLst>
          </p:cNvPr>
          <p:cNvSpPr>
            <a:spLocks noChangeArrowheads="1"/>
          </p:cNvSpPr>
          <p:nvPr/>
        </p:nvSpPr>
        <p:spPr bwMode="auto">
          <a:xfrm>
            <a:off x="3347735" y="863232"/>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25" name="任意多边形: 形状 24">
            <a:extLst>
              <a:ext uri="{FF2B5EF4-FFF2-40B4-BE49-F238E27FC236}">
                <a16:creationId xmlns:a16="http://schemas.microsoft.com/office/drawing/2014/main" id="{B3044251-D3A0-78C8-DB81-8A0D9125A7EB}"/>
              </a:ext>
            </a:extLst>
          </p:cNvPr>
          <p:cNvSpPr>
            <a:spLocks noChangeArrowheads="1"/>
          </p:cNvSpPr>
          <p:nvPr/>
        </p:nvSpPr>
        <p:spPr bwMode="auto">
          <a:xfrm>
            <a:off x="1502054" y="2441148"/>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pic>
        <p:nvPicPr>
          <p:cNvPr id="38" name="Picture 52">
            <a:extLst>
              <a:ext uri="{FF2B5EF4-FFF2-40B4-BE49-F238E27FC236}">
                <a16:creationId xmlns:a16="http://schemas.microsoft.com/office/drawing/2014/main" id="{4968B9E9-C5C0-727C-8BC5-7450D6BFAA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1294" y="2806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AAED645-3511-8B8A-76AA-56F7F3318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6264" y="313141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Text Box 173">
            <a:extLst>
              <a:ext uri="{FF2B5EF4-FFF2-40B4-BE49-F238E27FC236}">
                <a16:creationId xmlns:a16="http://schemas.microsoft.com/office/drawing/2014/main" id="{D300FE31-E9AA-C74C-3A41-D6ECA11D88D8}"/>
              </a:ext>
            </a:extLst>
          </p:cNvPr>
          <p:cNvSpPr txBox="1">
            <a:spLocks noChangeArrowheads="1"/>
          </p:cNvSpPr>
          <p:nvPr/>
        </p:nvSpPr>
        <p:spPr bwMode="auto">
          <a:xfrm rot="18559332">
            <a:off x="3013162" y="212968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44" name="直接箭头连接符 43">
            <a:extLst>
              <a:ext uri="{FF2B5EF4-FFF2-40B4-BE49-F238E27FC236}">
                <a16:creationId xmlns:a16="http://schemas.microsoft.com/office/drawing/2014/main" id="{053D04F7-F9E2-9FE0-5001-47AC8A48544B}"/>
              </a:ext>
            </a:extLst>
          </p:cNvPr>
          <p:cNvCxnSpPr>
            <a:cxnSpLocks/>
            <a:stCxn id="53" idx="2"/>
            <a:endCxn id="38" idx="0"/>
          </p:cNvCxnSpPr>
          <p:nvPr/>
        </p:nvCxnSpPr>
        <p:spPr>
          <a:xfrm flipH="1">
            <a:off x="3071294" y="1705287"/>
            <a:ext cx="880547" cy="1100774"/>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494205ED-B672-90AF-005C-050D466911E9}"/>
              </a:ext>
            </a:extLst>
          </p:cNvPr>
          <p:cNvCxnSpPr>
            <a:cxnSpLocks/>
            <a:stCxn id="52" idx="2"/>
            <a:endCxn id="54" idx="0"/>
          </p:cNvCxnSpPr>
          <p:nvPr/>
        </p:nvCxnSpPr>
        <p:spPr>
          <a:xfrm>
            <a:off x="4945373" y="1886039"/>
            <a:ext cx="708643" cy="1197021"/>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 Box 173">
            <a:extLst>
              <a:ext uri="{FF2B5EF4-FFF2-40B4-BE49-F238E27FC236}">
                <a16:creationId xmlns:a16="http://schemas.microsoft.com/office/drawing/2014/main" id="{8896AE24-37B8-6A14-92C1-12FA24FDE6A9}"/>
              </a:ext>
            </a:extLst>
          </p:cNvPr>
          <p:cNvSpPr txBox="1">
            <a:spLocks noChangeArrowheads="1"/>
          </p:cNvSpPr>
          <p:nvPr/>
        </p:nvSpPr>
        <p:spPr bwMode="auto">
          <a:xfrm rot="20185036">
            <a:off x="2152208" y="3110064"/>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000">
                <a:latin typeface="Montserrat" panose="00000500000000000000" pitchFamily="2" charset="0"/>
                <a:ea typeface="微软雅黑" panose="020B0503020204020204" pitchFamily="34" charset="-122"/>
                <a:cs typeface="Courier New" panose="02070309020205020404" pitchFamily="49" charset="0"/>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iBGP</a:t>
            </a:r>
          </a:p>
        </p:txBody>
      </p:sp>
      <p:cxnSp>
        <p:nvCxnSpPr>
          <p:cNvPr id="48" name="直接箭头连接符 47">
            <a:extLst>
              <a:ext uri="{FF2B5EF4-FFF2-40B4-BE49-F238E27FC236}">
                <a16:creationId xmlns:a16="http://schemas.microsoft.com/office/drawing/2014/main" id="{A6370146-3DA2-18FB-157D-C74DFC42C603}"/>
              </a:ext>
            </a:extLst>
          </p:cNvPr>
          <p:cNvCxnSpPr>
            <a:cxnSpLocks/>
            <a:stCxn id="55" idx="1"/>
            <a:endCxn id="38" idx="3"/>
          </p:cNvCxnSpPr>
          <p:nvPr/>
        </p:nvCxnSpPr>
        <p:spPr>
          <a:xfrm flipH="1" flipV="1">
            <a:off x="3251294" y="2914061"/>
            <a:ext cx="1472136" cy="697712"/>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51" name="Picture 52">
            <a:extLst>
              <a:ext uri="{FF2B5EF4-FFF2-40B4-BE49-F238E27FC236}">
                <a16:creationId xmlns:a16="http://schemas.microsoft.com/office/drawing/2014/main" id="{9E194938-09D2-E301-9088-DA7E9E474C8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8150" y="106578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2" name="Picture 52">
            <a:extLst>
              <a:ext uri="{FF2B5EF4-FFF2-40B4-BE49-F238E27FC236}">
                <a16:creationId xmlns:a16="http://schemas.microsoft.com/office/drawing/2014/main" id="{653DFF3D-F4F3-EF14-FE80-AAEF7F8E0F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5373" y="167003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4B6E582F-8540-E833-6141-7D0C4851863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1841" y="148928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4" name="Picture 52">
            <a:extLst>
              <a:ext uri="{FF2B5EF4-FFF2-40B4-BE49-F238E27FC236}">
                <a16:creationId xmlns:a16="http://schemas.microsoft.com/office/drawing/2014/main" id="{291D01FD-7DDF-CC7F-642B-F98E12A0CE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016" y="3083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a:extLst>
              <a:ext uri="{FF2B5EF4-FFF2-40B4-BE49-F238E27FC236}">
                <a16:creationId xmlns:a16="http://schemas.microsoft.com/office/drawing/2014/main" id="{B23F19B5-FBD8-B2DA-2BC8-3AE8550F0F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23430" y="35037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a:extLst>
              <a:ext uri="{FF2B5EF4-FFF2-40B4-BE49-F238E27FC236}">
                <a16:creationId xmlns:a16="http://schemas.microsoft.com/office/drawing/2014/main" id="{C2F07088-4A39-7C6E-9751-5D6CB111EC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3922" y="37302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a:extLst>
              <a:ext uri="{FF2B5EF4-FFF2-40B4-BE49-F238E27FC236}">
                <a16:creationId xmlns:a16="http://schemas.microsoft.com/office/drawing/2014/main" id="{3B8C52EB-0250-C6AF-E031-A13F05124D2C}"/>
              </a:ext>
            </a:extLst>
          </p:cNvPr>
          <p:cNvSpPr txBox="1">
            <a:spLocks noChangeArrowheads="1"/>
          </p:cNvSpPr>
          <p:nvPr/>
        </p:nvSpPr>
        <p:spPr bwMode="auto">
          <a:xfrm>
            <a:off x="4145564" y="1991188"/>
            <a:ext cx="4732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AS2</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3A9EB75D-903C-CB33-DB07-54AC0E40BB82}"/>
              </a:ext>
            </a:extLst>
          </p:cNvPr>
          <p:cNvSpPr txBox="1">
            <a:spLocks noChangeArrowheads="1"/>
          </p:cNvSpPr>
          <p:nvPr/>
        </p:nvSpPr>
        <p:spPr bwMode="auto">
          <a:xfrm>
            <a:off x="5393204" y="3410155"/>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AS3</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60" name="直接连接符 59">
            <a:extLst>
              <a:ext uri="{FF2B5EF4-FFF2-40B4-BE49-F238E27FC236}">
                <a16:creationId xmlns:a16="http://schemas.microsoft.com/office/drawing/2014/main" id="{B466AAE2-8EC7-9603-4283-80EA351E3687}"/>
              </a:ext>
            </a:extLst>
          </p:cNvPr>
          <p:cNvCxnSpPr>
            <a:stCxn id="53" idx="0"/>
            <a:endCxn id="51" idx="1"/>
          </p:cNvCxnSpPr>
          <p:nvPr/>
        </p:nvCxnSpPr>
        <p:spPr>
          <a:xfrm flipV="1">
            <a:off x="3951841" y="1173785"/>
            <a:ext cx="336309" cy="31550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8F82B34-EF00-BED4-A817-2CF5F9C11D7F}"/>
              </a:ext>
            </a:extLst>
          </p:cNvPr>
          <p:cNvCxnSpPr>
            <a:cxnSpLocks/>
            <a:stCxn id="52" idx="0"/>
            <a:endCxn id="51" idx="2"/>
          </p:cNvCxnSpPr>
          <p:nvPr/>
        </p:nvCxnSpPr>
        <p:spPr>
          <a:xfrm flipH="1" flipV="1">
            <a:off x="4468150" y="1281785"/>
            <a:ext cx="477223" cy="38825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E2C03ED-DCE5-F443-5878-8BE23745180E}"/>
              </a:ext>
            </a:extLst>
          </p:cNvPr>
          <p:cNvCxnSpPr>
            <a:stCxn id="53" idx="3"/>
            <a:endCxn id="52" idx="1"/>
          </p:cNvCxnSpPr>
          <p:nvPr/>
        </p:nvCxnSpPr>
        <p:spPr>
          <a:xfrm>
            <a:off x="4131841" y="1597287"/>
            <a:ext cx="633532" cy="1807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 Box 173">
            <a:extLst>
              <a:ext uri="{FF2B5EF4-FFF2-40B4-BE49-F238E27FC236}">
                <a16:creationId xmlns:a16="http://schemas.microsoft.com/office/drawing/2014/main" id="{ECC96BC9-168C-155A-C440-4E079AFE683E}"/>
              </a:ext>
            </a:extLst>
          </p:cNvPr>
          <p:cNvSpPr txBox="1">
            <a:spLocks noChangeArrowheads="1"/>
          </p:cNvSpPr>
          <p:nvPr/>
        </p:nvSpPr>
        <p:spPr bwMode="auto">
          <a:xfrm rot="18989096">
            <a:off x="3739952" y="11559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7" name="Text Box 173">
            <a:extLst>
              <a:ext uri="{FF2B5EF4-FFF2-40B4-BE49-F238E27FC236}">
                <a16:creationId xmlns:a16="http://schemas.microsoft.com/office/drawing/2014/main" id="{993EEF88-02BF-DECC-27A3-E3B4A67C9F52}"/>
              </a:ext>
            </a:extLst>
          </p:cNvPr>
          <p:cNvSpPr txBox="1">
            <a:spLocks noChangeArrowheads="1"/>
          </p:cNvSpPr>
          <p:nvPr/>
        </p:nvSpPr>
        <p:spPr bwMode="auto">
          <a:xfrm rot="2413121">
            <a:off x="4624463" y="1284378"/>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8" name="Text Box 173">
            <a:extLst>
              <a:ext uri="{FF2B5EF4-FFF2-40B4-BE49-F238E27FC236}">
                <a16:creationId xmlns:a16="http://schemas.microsoft.com/office/drawing/2014/main" id="{501BEF62-BDCB-28B6-E78A-8AF0501CF188}"/>
              </a:ext>
            </a:extLst>
          </p:cNvPr>
          <p:cNvSpPr txBox="1">
            <a:spLocks noChangeArrowheads="1"/>
          </p:cNvSpPr>
          <p:nvPr/>
        </p:nvSpPr>
        <p:spPr bwMode="auto">
          <a:xfrm rot="1194818">
            <a:off x="4078503" y="1652409"/>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70" name="直接连接符 69">
            <a:extLst>
              <a:ext uri="{FF2B5EF4-FFF2-40B4-BE49-F238E27FC236}">
                <a16:creationId xmlns:a16="http://schemas.microsoft.com/office/drawing/2014/main" id="{FCAF6F37-315F-B1C0-041E-43985903B4EB}"/>
              </a:ext>
            </a:extLst>
          </p:cNvPr>
          <p:cNvCxnSpPr>
            <a:stCxn id="54" idx="1"/>
            <a:endCxn id="55" idx="0"/>
          </p:cNvCxnSpPr>
          <p:nvPr/>
        </p:nvCxnSpPr>
        <p:spPr>
          <a:xfrm flipH="1">
            <a:off x="4903430" y="3191060"/>
            <a:ext cx="570586" cy="31271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C75CB168-D4B8-3C7C-FD5D-2DFE98F579AA}"/>
              </a:ext>
            </a:extLst>
          </p:cNvPr>
          <p:cNvCxnSpPr>
            <a:stCxn id="56" idx="1"/>
            <a:endCxn id="55" idx="3"/>
          </p:cNvCxnSpPr>
          <p:nvPr/>
        </p:nvCxnSpPr>
        <p:spPr>
          <a:xfrm flipH="1" flipV="1">
            <a:off x="5083430" y="3611773"/>
            <a:ext cx="820492" cy="2264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2045E390-DA4B-4284-2781-4455DF4125C1}"/>
              </a:ext>
            </a:extLst>
          </p:cNvPr>
          <p:cNvCxnSpPr>
            <a:stCxn id="54" idx="3"/>
            <a:endCxn id="56" idx="0"/>
          </p:cNvCxnSpPr>
          <p:nvPr/>
        </p:nvCxnSpPr>
        <p:spPr>
          <a:xfrm>
            <a:off x="5834016" y="3191060"/>
            <a:ext cx="249906" cy="53914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Text Box 173">
            <a:extLst>
              <a:ext uri="{FF2B5EF4-FFF2-40B4-BE49-F238E27FC236}">
                <a16:creationId xmlns:a16="http://schemas.microsoft.com/office/drawing/2014/main" id="{D14C9A24-E1FF-CEC4-6566-A46E06BBEA58}"/>
              </a:ext>
            </a:extLst>
          </p:cNvPr>
          <p:cNvSpPr txBox="1">
            <a:spLocks noChangeArrowheads="1"/>
          </p:cNvSpPr>
          <p:nvPr/>
        </p:nvSpPr>
        <p:spPr bwMode="auto">
          <a:xfrm rot="19801580">
            <a:off x="4918705" y="315459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E71C3B0E-6598-1F69-305C-748867D6ED7B}"/>
              </a:ext>
            </a:extLst>
          </p:cNvPr>
          <p:cNvSpPr txBox="1">
            <a:spLocks noChangeArrowheads="1"/>
          </p:cNvSpPr>
          <p:nvPr/>
        </p:nvSpPr>
        <p:spPr bwMode="auto">
          <a:xfrm rot="3776635">
            <a:off x="5907447" y="3337520"/>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F1E8FA4F-AC35-94E1-A613-2E7E7E3A9B1E}"/>
              </a:ext>
            </a:extLst>
          </p:cNvPr>
          <p:cNvSpPr txBox="1">
            <a:spLocks noChangeArrowheads="1"/>
          </p:cNvSpPr>
          <p:nvPr/>
        </p:nvSpPr>
        <p:spPr bwMode="auto">
          <a:xfrm rot="735613">
            <a:off x="5348610" y="37812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6D028EA6-F5FE-9634-9B13-84C5FE367B4F}"/>
              </a:ext>
            </a:extLst>
          </p:cNvPr>
          <p:cNvSpPr txBox="1">
            <a:spLocks noChangeArrowheads="1"/>
          </p:cNvSpPr>
          <p:nvPr/>
        </p:nvSpPr>
        <p:spPr bwMode="auto">
          <a:xfrm>
            <a:off x="2099003" y="2650166"/>
            <a:ext cx="4411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AS1</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80" name="直接连接符 79">
            <a:extLst>
              <a:ext uri="{FF2B5EF4-FFF2-40B4-BE49-F238E27FC236}">
                <a16:creationId xmlns:a16="http://schemas.microsoft.com/office/drawing/2014/main" id="{9158FED1-B6C3-0465-BDA1-109B7145691A}"/>
              </a:ext>
            </a:extLst>
          </p:cNvPr>
          <p:cNvCxnSpPr>
            <a:cxnSpLocks/>
            <a:stCxn id="40" idx="3"/>
            <a:endCxn id="38" idx="1"/>
          </p:cNvCxnSpPr>
          <p:nvPr/>
        </p:nvCxnSpPr>
        <p:spPr>
          <a:xfrm flipV="1">
            <a:off x="2086264" y="2914061"/>
            <a:ext cx="805030" cy="3253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 Box 173">
            <a:extLst>
              <a:ext uri="{FF2B5EF4-FFF2-40B4-BE49-F238E27FC236}">
                <a16:creationId xmlns:a16="http://schemas.microsoft.com/office/drawing/2014/main" id="{D504C42E-F026-E0E2-4B5E-AB8571E76FB4}"/>
              </a:ext>
            </a:extLst>
          </p:cNvPr>
          <p:cNvSpPr txBox="1">
            <a:spLocks noChangeArrowheads="1"/>
          </p:cNvSpPr>
          <p:nvPr/>
        </p:nvSpPr>
        <p:spPr bwMode="auto">
          <a:xfrm rot="1568321">
            <a:off x="3771815" y="299757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Text Box 173">
            <a:extLst>
              <a:ext uri="{FF2B5EF4-FFF2-40B4-BE49-F238E27FC236}">
                <a16:creationId xmlns:a16="http://schemas.microsoft.com/office/drawing/2014/main" id="{0C2DD281-0724-1D14-CF04-A7CB3451B984}"/>
              </a:ext>
            </a:extLst>
          </p:cNvPr>
          <p:cNvSpPr txBox="1">
            <a:spLocks noChangeArrowheads="1"/>
          </p:cNvSpPr>
          <p:nvPr/>
        </p:nvSpPr>
        <p:spPr bwMode="auto">
          <a:xfrm rot="3428695">
            <a:off x="4819400" y="2429605"/>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42349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2808000" y="144000"/>
            <a:ext cx="3528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482554"/>
            <a:ext cx="8172000" cy="4120946"/>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2808000" y="144000"/>
            <a:ext cx="3528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2808000" y="144000"/>
            <a:ext cx="3528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2808000" y="144000"/>
            <a:ext cx="3528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2808000" y="144000"/>
            <a:ext cx="3528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482554"/>
            <a:ext cx="8172000" cy="4120946"/>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2808000" y="144000"/>
            <a:ext cx="3528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482554"/>
            <a:ext cx="8172000" cy="4120946"/>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482554"/>
            <a:ext cx="8172000" cy="4120946"/>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155">
            <a:extLst>
              <a:ext uri="{FF2B5EF4-FFF2-40B4-BE49-F238E27FC236}">
                <a16:creationId xmlns:a16="http://schemas.microsoft.com/office/drawing/2014/main" id="{3EC9AA71-5FF0-003A-3F6A-3A2314B341CF}"/>
              </a:ext>
            </a:extLst>
          </p:cNvPr>
          <p:cNvSpPr>
            <a:spLocks noChangeShapeType="1"/>
          </p:cNvSpPr>
          <p:nvPr/>
        </p:nvSpPr>
        <p:spPr bwMode="auto">
          <a:xfrm>
            <a:off x="3705815" y="3163704"/>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 name="Group 206">
            <a:extLst>
              <a:ext uri="{FF2B5EF4-FFF2-40B4-BE49-F238E27FC236}">
                <a16:creationId xmlns:a16="http://schemas.microsoft.com/office/drawing/2014/main" id="{F0E484A7-2135-250F-F043-B9EC312E1048}"/>
              </a:ext>
            </a:extLst>
          </p:cNvPr>
          <p:cNvGrpSpPr>
            <a:grpSpLocks/>
          </p:cNvGrpSpPr>
          <p:nvPr/>
        </p:nvGrpSpPr>
        <p:grpSpPr bwMode="auto">
          <a:xfrm>
            <a:off x="5243380" y="2770359"/>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6" name="Oval 207">
              <a:extLst>
                <a:ext uri="{FF2B5EF4-FFF2-40B4-BE49-F238E27FC236}">
                  <a16:creationId xmlns:a16="http://schemas.microsoft.com/office/drawing/2014/main" id="{1331ED16-A164-A1F7-1562-A2AC691821A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 name="Oval 208">
              <a:extLst>
                <a:ext uri="{FF2B5EF4-FFF2-40B4-BE49-F238E27FC236}">
                  <a16:creationId xmlns:a16="http://schemas.microsoft.com/office/drawing/2014/main" id="{B85F8DC5-6FF7-2FD8-CA66-4D5667917D22}"/>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8" name="Oval 209">
              <a:extLst>
                <a:ext uri="{FF2B5EF4-FFF2-40B4-BE49-F238E27FC236}">
                  <a16:creationId xmlns:a16="http://schemas.microsoft.com/office/drawing/2014/main" id="{272645F6-F659-A5A9-BE2A-B690E48798F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9" name="Oval 210">
              <a:extLst>
                <a:ext uri="{FF2B5EF4-FFF2-40B4-BE49-F238E27FC236}">
                  <a16:creationId xmlns:a16="http://schemas.microsoft.com/office/drawing/2014/main" id="{536466C1-60D9-97B7-F40D-7E50C1997C44}"/>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0" name="Oval 211">
              <a:extLst>
                <a:ext uri="{FF2B5EF4-FFF2-40B4-BE49-F238E27FC236}">
                  <a16:creationId xmlns:a16="http://schemas.microsoft.com/office/drawing/2014/main" id="{1A0C184D-97B0-5677-9350-0CC721AEAEF3}"/>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1" name="Oval 212">
              <a:extLst>
                <a:ext uri="{FF2B5EF4-FFF2-40B4-BE49-F238E27FC236}">
                  <a16:creationId xmlns:a16="http://schemas.microsoft.com/office/drawing/2014/main" id="{7A15CB1E-CA59-58E6-E849-2DE3EF447992}"/>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2" name="Oval 213">
              <a:extLst>
                <a:ext uri="{FF2B5EF4-FFF2-40B4-BE49-F238E27FC236}">
                  <a16:creationId xmlns:a16="http://schemas.microsoft.com/office/drawing/2014/main" id="{FDD397DE-E835-B2FE-AFB4-1CD228469C0D}"/>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3" name="Oval 214">
              <a:extLst>
                <a:ext uri="{FF2B5EF4-FFF2-40B4-BE49-F238E27FC236}">
                  <a16:creationId xmlns:a16="http://schemas.microsoft.com/office/drawing/2014/main" id="{8C9417BE-1B8E-1210-1055-7F21EAF02DC6}"/>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4" name="Oval 215">
              <a:extLst>
                <a:ext uri="{FF2B5EF4-FFF2-40B4-BE49-F238E27FC236}">
                  <a16:creationId xmlns:a16="http://schemas.microsoft.com/office/drawing/2014/main" id="{C5941892-ADE1-FB6B-8D6B-58D6023FD9E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15" name="Group 216">
              <a:extLst>
                <a:ext uri="{FF2B5EF4-FFF2-40B4-BE49-F238E27FC236}">
                  <a16:creationId xmlns:a16="http://schemas.microsoft.com/office/drawing/2014/main" id="{35F634C8-8F78-E7C2-2AC5-5EC4800405CD}"/>
                </a:ext>
              </a:extLst>
            </p:cNvPr>
            <p:cNvGrpSpPr>
              <a:grpSpLocks/>
            </p:cNvGrpSpPr>
            <p:nvPr/>
          </p:nvGrpSpPr>
          <p:grpSpPr bwMode="auto">
            <a:xfrm>
              <a:off x="912" y="768"/>
              <a:ext cx="2386" cy="1553"/>
              <a:chOff x="912" y="768"/>
              <a:chExt cx="2386" cy="1553"/>
            </a:xfrm>
            <a:grpFill/>
          </p:grpSpPr>
          <p:sp>
            <p:nvSpPr>
              <p:cNvPr id="16" name="Oval 217">
                <a:extLst>
                  <a:ext uri="{FF2B5EF4-FFF2-40B4-BE49-F238E27FC236}">
                    <a16:creationId xmlns:a16="http://schemas.microsoft.com/office/drawing/2014/main" id="{6C4DECAD-DB37-3444-D19F-E534202AD100}"/>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7" name="Oval 218">
                <a:extLst>
                  <a:ext uri="{FF2B5EF4-FFF2-40B4-BE49-F238E27FC236}">
                    <a16:creationId xmlns:a16="http://schemas.microsoft.com/office/drawing/2014/main" id="{781F7398-D6D7-28D9-FE85-9B2F2F08147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8" name="Oval 219">
                <a:extLst>
                  <a:ext uri="{FF2B5EF4-FFF2-40B4-BE49-F238E27FC236}">
                    <a16:creationId xmlns:a16="http://schemas.microsoft.com/office/drawing/2014/main" id="{54AD4C8E-21E0-F15D-3390-E8107C565DD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9" name="Oval 220">
                <a:extLst>
                  <a:ext uri="{FF2B5EF4-FFF2-40B4-BE49-F238E27FC236}">
                    <a16:creationId xmlns:a16="http://schemas.microsoft.com/office/drawing/2014/main" id="{DAA31722-4D1B-1CA9-A704-AFDD46DA9561}"/>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0" name="Oval 221">
                <a:extLst>
                  <a:ext uri="{FF2B5EF4-FFF2-40B4-BE49-F238E27FC236}">
                    <a16:creationId xmlns:a16="http://schemas.microsoft.com/office/drawing/2014/main" id="{728C0F75-AC07-48BA-5473-3EAB3C136349}"/>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 name="Oval 222">
                <a:extLst>
                  <a:ext uri="{FF2B5EF4-FFF2-40B4-BE49-F238E27FC236}">
                    <a16:creationId xmlns:a16="http://schemas.microsoft.com/office/drawing/2014/main" id="{52D4866B-A3F2-8277-50FC-717FCB911FD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 name="Oval 223">
                <a:extLst>
                  <a:ext uri="{FF2B5EF4-FFF2-40B4-BE49-F238E27FC236}">
                    <a16:creationId xmlns:a16="http://schemas.microsoft.com/office/drawing/2014/main" id="{7E26DB11-44E1-84CE-44FD-54400E878CDD}"/>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 name="Oval 224">
                <a:extLst>
                  <a:ext uri="{FF2B5EF4-FFF2-40B4-BE49-F238E27FC236}">
                    <a16:creationId xmlns:a16="http://schemas.microsoft.com/office/drawing/2014/main" id="{C54485FF-BF0A-6CF0-7BEA-0BBC034BAC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 name="Oval 225">
                <a:extLst>
                  <a:ext uri="{FF2B5EF4-FFF2-40B4-BE49-F238E27FC236}">
                    <a16:creationId xmlns:a16="http://schemas.microsoft.com/office/drawing/2014/main" id="{EB1D5CE5-79B8-4BAE-0E73-CE2AC8DB42DD}"/>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 name="Text Box 175">
            <a:extLst>
              <a:ext uri="{FF2B5EF4-FFF2-40B4-BE49-F238E27FC236}">
                <a16:creationId xmlns:a16="http://schemas.microsoft.com/office/drawing/2014/main" id="{B6E97A49-1285-6406-9FD8-01DE4A755858}"/>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26" name="任意多边形: 形状 25">
            <a:extLst>
              <a:ext uri="{FF2B5EF4-FFF2-40B4-BE49-F238E27FC236}">
                <a16:creationId xmlns:a16="http://schemas.microsoft.com/office/drawing/2014/main" id="{6CA361E6-A480-5E10-D8E3-6E828202E983}"/>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7" name="Text Box 173">
            <a:extLst>
              <a:ext uri="{FF2B5EF4-FFF2-40B4-BE49-F238E27FC236}">
                <a16:creationId xmlns:a16="http://schemas.microsoft.com/office/drawing/2014/main" id="{DB06EEBA-5DF9-A427-C2F6-5C84EE3F36B6}"/>
              </a:ext>
            </a:extLst>
          </p:cNvPr>
          <p:cNvSpPr txBox="1">
            <a:spLocks noChangeArrowheads="1"/>
          </p:cNvSpPr>
          <p:nvPr/>
        </p:nvSpPr>
        <p:spPr bwMode="auto">
          <a:xfrm>
            <a:off x="2544671" y="4035299"/>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28" name="云形 27">
            <a:extLst>
              <a:ext uri="{FF2B5EF4-FFF2-40B4-BE49-F238E27FC236}">
                <a16:creationId xmlns:a16="http://schemas.microsoft.com/office/drawing/2014/main" id="{A74B7BE5-4BDF-7F5C-6C1A-5C8875813F2C}"/>
              </a:ext>
            </a:extLst>
          </p:cNvPr>
          <p:cNvSpPr/>
          <p:nvPr/>
        </p:nvSpPr>
        <p:spPr>
          <a:xfrm>
            <a:off x="6091271" y="3230286"/>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29" name="Text Box 173">
            <a:extLst>
              <a:ext uri="{FF2B5EF4-FFF2-40B4-BE49-F238E27FC236}">
                <a16:creationId xmlns:a16="http://schemas.microsoft.com/office/drawing/2014/main" id="{B7E7B18F-872A-F8FE-DA48-DD28221C9628}"/>
              </a:ext>
            </a:extLst>
          </p:cNvPr>
          <p:cNvSpPr txBox="1">
            <a:spLocks noChangeArrowheads="1"/>
          </p:cNvSpPr>
          <p:nvPr/>
        </p:nvSpPr>
        <p:spPr bwMode="auto">
          <a:xfrm>
            <a:off x="2912101" y="4182450"/>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0" name="Text Box 173">
            <a:extLst>
              <a:ext uri="{FF2B5EF4-FFF2-40B4-BE49-F238E27FC236}">
                <a16:creationId xmlns:a16="http://schemas.microsoft.com/office/drawing/2014/main" id="{CA4A6E74-9A37-8176-BA1E-BAB38B52EE7A}"/>
              </a:ext>
            </a:extLst>
          </p:cNvPr>
          <p:cNvSpPr txBox="1">
            <a:spLocks noChangeArrowheads="1"/>
          </p:cNvSpPr>
          <p:nvPr/>
        </p:nvSpPr>
        <p:spPr bwMode="auto">
          <a:xfrm>
            <a:off x="3256504" y="2827532"/>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1" name="Text Box 173">
            <a:extLst>
              <a:ext uri="{FF2B5EF4-FFF2-40B4-BE49-F238E27FC236}">
                <a16:creationId xmlns:a16="http://schemas.microsoft.com/office/drawing/2014/main" id="{84BA8B33-059F-6B24-30A2-23780940BC5F}"/>
              </a:ext>
            </a:extLst>
          </p:cNvPr>
          <p:cNvSpPr txBox="1">
            <a:spLocks noChangeArrowheads="1"/>
          </p:cNvSpPr>
          <p:nvPr/>
        </p:nvSpPr>
        <p:spPr bwMode="auto">
          <a:xfrm>
            <a:off x="1849063" y="3600011"/>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2" name="Text Box 173">
            <a:extLst>
              <a:ext uri="{FF2B5EF4-FFF2-40B4-BE49-F238E27FC236}">
                <a16:creationId xmlns:a16="http://schemas.microsoft.com/office/drawing/2014/main" id="{E31F47ED-7E1A-8DF4-D63D-B12C99E497BF}"/>
              </a:ext>
            </a:extLst>
          </p:cNvPr>
          <p:cNvSpPr txBox="1">
            <a:spLocks noChangeArrowheads="1"/>
          </p:cNvSpPr>
          <p:nvPr/>
        </p:nvSpPr>
        <p:spPr bwMode="auto">
          <a:xfrm>
            <a:off x="2442342" y="2891596"/>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3" name="Line 154">
            <a:extLst>
              <a:ext uri="{FF2B5EF4-FFF2-40B4-BE49-F238E27FC236}">
                <a16:creationId xmlns:a16="http://schemas.microsoft.com/office/drawing/2014/main" id="{52510F3B-F7BA-20A8-7D4E-2FD9D6BBB014}"/>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4" name="Line 154">
            <a:extLst>
              <a:ext uri="{FF2B5EF4-FFF2-40B4-BE49-F238E27FC236}">
                <a16:creationId xmlns:a16="http://schemas.microsoft.com/office/drawing/2014/main" id="{F9CB1EEB-C594-C63C-8829-72DAA09D37F9}"/>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5" name="Line 154">
            <a:extLst>
              <a:ext uri="{FF2B5EF4-FFF2-40B4-BE49-F238E27FC236}">
                <a16:creationId xmlns:a16="http://schemas.microsoft.com/office/drawing/2014/main" id="{89374169-4A6B-3FCF-688B-B70FD9DCA034}"/>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36" name="Picture 52">
            <a:extLst>
              <a:ext uri="{FF2B5EF4-FFF2-40B4-BE49-F238E27FC236}">
                <a16:creationId xmlns:a16="http://schemas.microsoft.com/office/drawing/2014/main" id="{F7E1ECCA-62B3-4FCB-7499-57BB6DFAFB0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 name="Picture 46">
            <a:extLst>
              <a:ext uri="{FF2B5EF4-FFF2-40B4-BE49-F238E27FC236}">
                <a16:creationId xmlns:a16="http://schemas.microsoft.com/office/drawing/2014/main" id="{2586DBBC-E25A-1611-0473-779FF059727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317709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 name="Text Box 173">
            <a:extLst>
              <a:ext uri="{FF2B5EF4-FFF2-40B4-BE49-F238E27FC236}">
                <a16:creationId xmlns:a16="http://schemas.microsoft.com/office/drawing/2014/main" id="{28473EE8-B8E6-09F2-F807-3DC1B6BD6947}"/>
              </a:ext>
            </a:extLst>
          </p:cNvPr>
          <p:cNvSpPr txBox="1">
            <a:spLocks noChangeArrowheads="1"/>
          </p:cNvSpPr>
          <p:nvPr/>
        </p:nvSpPr>
        <p:spPr bwMode="auto">
          <a:xfrm>
            <a:off x="5360920" y="2923484"/>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39" name="Picture 52">
            <a:extLst>
              <a:ext uri="{FF2B5EF4-FFF2-40B4-BE49-F238E27FC236}">
                <a16:creationId xmlns:a16="http://schemas.microsoft.com/office/drawing/2014/main" id="{B58927A2-FF45-91F8-3788-20D8568CE7B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2A8A3F0-5B29-E954-0737-B6DC3288B59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 name="Picture 52">
            <a:extLst>
              <a:ext uri="{FF2B5EF4-FFF2-40B4-BE49-F238E27FC236}">
                <a16:creationId xmlns:a16="http://schemas.microsoft.com/office/drawing/2014/main" id="{A652A031-ABFA-B2B6-DE46-9D7F12FE8F7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箭头: 下 41">
            <a:extLst>
              <a:ext uri="{FF2B5EF4-FFF2-40B4-BE49-F238E27FC236}">
                <a16:creationId xmlns:a16="http://schemas.microsoft.com/office/drawing/2014/main" id="{8C05F32E-6E6C-9BC8-05F2-E26E52B98006}"/>
              </a:ext>
            </a:extLst>
          </p:cNvPr>
          <p:cNvSpPr/>
          <p:nvPr/>
        </p:nvSpPr>
        <p:spPr>
          <a:xfrm rot="5665007">
            <a:off x="4461901" y="284208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43" name="Text Box 173">
            <a:extLst>
              <a:ext uri="{FF2B5EF4-FFF2-40B4-BE49-F238E27FC236}">
                <a16:creationId xmlns:a16="http://schemas.microsoft.com/office/drawing/2014/main" id="{2FCD752B-25B1-9069-A13C-33885B6718CA}"/>
              </a:ext>
            </a:extLst>
          </p:cNvPr>
          <p:cNvSpPr txBox="1">
            <a:spLocks noChangeArrowheads="1"/>
          </p:cNvSpPr>
          <p:nvPr/>
        </p:nvSpPr>
        <p:spPr bwMode="auto">
          <a:xfrm rot="446638">
            <a:off x="4295460" y="2797668"/>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0" name="Line 155">
            <a:extLst>
              <a:ext uri="{FF2B5EF4-FFF2-40B4-BE49-F238E27FC236}">
                <a16:creationId xmlns:a16="http://schemas.microsoft.com/office/drawing/2014/main" id="{4C18F1E2-CC4E-8C71-4022-19C16990B14C}"/>
              </a:ext>
            </a:extLst>
          </p:cNvPr>
          <p:cNvSpPr>
            <a:spLocks noChangeShapeType="1"/>
          </p:cNvSpPr>
          <p:nvPr/>
        </p:nvSpPr>
        <p:spPr bwMode="auto">
          <a:xfrm>
            <a:off x="3705815" y="1020579"/>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1"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627234"/>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52"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3"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4"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5"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6"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7"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8"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9"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0"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61"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62"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3"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4"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5"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6"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7"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8"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9"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0"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71"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98634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72" name="任意多边形: 形状 71">
            <a:extLst>
              <a:ext uri="{FF2B5EF4-FFF2-40B4-BE49-F238E27FC236}">
                <a16:creationId xmlns:a16="http://schemas.microsoft.com/office/drawing/2014/main" id="{62B7A8A0-5C2F-A914-21E6-A66577337C61}"/>
              </a:ext>
            </a:extLst>
          </p:cNvPr>
          <p:cNvSpPr>
            <a:spLocks noChangeArrowheads="1"/>
          </p:cNvSpPr>
          <p:nvPr/>
        </p:nvSpPr>
        <p:spPr bwMode="auto">
          <a:xfrm>
            <a:off x="1911487" y="830286"/>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3"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1892174"/>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74" name="云形 73">
            <a:extLst>
              <a:ext uri="{FF2B5EF4-FFF2-40B4-BE49-F238E27FC236}">
                <a16:creationId xmlns:a16="http://schemas.microsoft.com/office/drawing/2014/main" id="{D9818E91-3D52-B35B-F267-A488D1C6DFA6}"/>
              </a:ext>
            </a:extLst>
          </p:cNvPr>
          <p:cNvSpPr/>
          <p:nvPr/>
        </p:nvSpPr>
        <p:spPr>
          <a:xfrm>
            <a:off x="6091271" y="1087161"/>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75"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2039325"/>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684407"/>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145688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748471"/>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1136796"/>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1840338"/>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1020580"/>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100660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103397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360920" y="780359"/>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9" name="Picture 52">
            <a:extLst>
              <a:ext uri="{FF2B5EF4-FFF2-40B4-BE49-F238E27FC236}">
                <a16:creationId xmlns:a16="http://schemas.microsoft.com/office/drawing/2014/main" id="{2DC7A4AD-77C6-7602-8517-82704181771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183628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0" name="Picture 52">
            <a:extLst>
              <a:ext uri="{FF2B5EF4-FFF2-40B4-BE49-F238E27FC236}">
                <a16:creationId xmlns:a16="http://schemas.microsoft.com/office/drawing/2014/main" id="{167CE67A-9568-26C9-6C72-5ED28690525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92079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171167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665007">
            <a:off x="4461901" y="698959"/>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446638">
            <a:off x="4295460" y="654543"/>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1149553"/>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1152603"/>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197833" y="1441699"/>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1309333"/>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2136" y="1530097"/>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1292906"/>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680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2808000" y="144000"/>
            <a:ext cx="3528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482554"/>
            <a:ext cx="8172000" cy="4120946"/>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482554"/>
            <a:ext cx="8172000" cy="4120946"/>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2808000" y="144000"/>
            <a:ext cx="3528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2808000" y="144000"/>
            <a:ext cx="3528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70793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179883" y="1697935"/>
            <a:ext cx="1273513" cy="924379"/>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495908" y="1996757"/>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4954119"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64744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700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075279" y="2691373"/>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2400300" y="1570987"/>
            <a:ext cx="1449084" cy="1426990"/>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257952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788792" y="2831813"/>
            <a:ext cx="869504" cy="1881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217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6889216" y="2138543"/>
            <a:ext cx="326458" cy="382814"/>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0401" y="27085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3383434" y="2345341"/>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3114720" y="1590662"/>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rot="203476">
            <a:off x="3749786" y="2890756"/>
            <a:ext cx="9669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low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rot="21443353">
            <a:off x="3701739" y="1474081"/>
            <a:ext cx="1050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high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139936" y="184531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765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530584" y="232401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406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427802" y="1480740"/>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2808000" y="144000"/>
            <a:ext cx="3528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2808000" y="144000"/>
            <a:ext cx="3528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443660" y="1813268"/>
            <a:ext cx="94501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71139"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2808000" y="144000"/>
            <a:ext cx="3528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407434"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303498"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27349"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2298"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743144" y="2477412"/>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752451" y="1496030"/>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345010" y="2268509"/>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38289" y="1560094"/>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677649"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855615"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123618"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845"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5616"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R9</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2808000" y="144000"/>
            <a:ext cx="3528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2808000" y="144000"/>
            <a:ext cx="3528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2808000" y="144000"/>
            <a:ext cx="3528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482554"/>
            <a:ext cx="8172000" cy="4120946"/>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2808000" y="144000"/>
            <a:ext cx="3528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2808000" y="144000"/>
            <a:ext cx="3528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2808000" y="144000"/>
            <a:ext cx="3528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2808000" y="144000"/>
            <a:ext cx="3528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2808000" y="144000"/>
            <a:ext cx="3528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482554"/>
            <a:ext cx="8172000" cy="4120946"/>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2808000" y="144000"/>
            <a:ext cx="3528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482554"/>
            <a:ext cx="4086001" cy="4120946"/>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2808000" y="144000"/>
            <a:ext cx="3528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482554"/>
            <a:ext cx="4086001" cy="4120946"/>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2808000" y="144000"/>
            <a:ext cx="3528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482554"/>
            <a:ext cx="4086001" cy="4120946"/>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2808000" y="144000"/>
            <a:ext cx="3528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482554"/>
            <a:ext cx="8172000" cy="4120946"/>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2808000" y="144000"/>
            <a:ext cx="3528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482554"/>
            <a:ext cx="8172000" cy="4120946"/>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2808000" y="144000"/>
            <a:ext cx="3528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482554"/>
            <a:ext cx="8172000" cy="4120946"/>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2808000" y="144000"/>
            <a:ext cx="3528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482554"/>
            <a:ext cx="8172000" cy="4120946"/>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2808000" y="144000"/>
            <a:ext cx="3528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2808000" y="144000"/>
            <a:ext cx="3528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482554"/>
            <a:ext cx="8172000" cy="4120946"/>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2808000" y="144000"/>
            <a:ext cx="3528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482554"/>
            <a:ext cx="8172000" cy="4120946"/>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2808000" y="144000"/>
            <a:ext cx="3528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482554"/>
            <a:ext cx="8172000" cy="4120946"/>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2808000" y="144000"/>
            <a:ext cx="3528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482554"/>
            <a:ext cx="8172000" cy="4120946"/>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2808000" y="144000"/>
            <a:ext cx="3528000" cy="338554"/>
          </a:xfrm>
        </p:spPr>
        <p:txBody>
          <a:bodyPr/>
          <a:lstStyle/>
          <a:p>
            <a:r>
              <a:rPr lang="en-US" altLang="zh-CN" dirty="0"/>
              <a:t>IGMP </a:t>
            </a:r>
            <a:r>
              <a:rPr lang="zh-CN" altLang="en-US" dirty="0"/>
              <a:t>使多播路由器知道多播组成员信息 </a:t>
            </a:r>
          </a:p>
        </p:txBody>
      </p:sp>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482554"/>
            <a:ext cx="8172000" cy="4120946"/>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2808000" y="144000"/>
            <a:ext cx="3528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482554"/>
            <a:ext cx="8172000" cy="4120946"/>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2808000" y="144000"/>
            <a:ext cx="3528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482554"/>
            <a:ext cx="8172000" cy="4120946"/>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2808000" y="144000"/>
            <a:ext cx="3528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482554"/>
            <a:ext cx="8172000" cy="4120946"/>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2808000" y="144000"/>
            <a:ext cx="3528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2808000" y="144000"/>
            <a:ext cx="3528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482554"/>
            <a:ext cx="8172000" cy="4120946"/>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2808000" y="144000"/>
            <a:ext cx="3528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482554"/>
            <a:ext cx="8172000" cy="4120946"/>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2808000" y="144000"/>
            <a:ext cx="3528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482554"/>
            <a:ext cx="8172000" cy="4120946"/>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2808000" y="144000"/>
            <a:ext cx="3528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482554"/>
            <a:ext cx="8172000" cy="4120946"/>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2808000" y="144000"/>
            <a:ext cx="3528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482554"/>
            <a:ext cx="8172000" cy="4120946"/>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2808000" y="144000"/>
            <a:ext cx="3528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482554"/>
            <a:ext cx="4086001" cy="4120946"/>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2808000" y="144000"/>
            <a:ext cx="3528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482554"/>
            <a:ext cx="8172000" cy="4120946"/>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2808000" y="144000"/>
            <a:ext cx="3528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482554"/>
            <a:ext cx="8172000" cy="4120946"/>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482554"/>
            <a:ext cx="8172000" cy="4120946"/>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482554"/>
            <a:ext cx="8172000" cy="4120946"/>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482554"/>
            <a:ext cx="8172000" cy="4120946"/>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2808000" y="144000"/>
            <a:ext cx="3528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2808000" y="144000"/>
            <a:ext cx="3528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482554"/>
            <a:ext cx="8172000" cy="4120946"/>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2808000" y="144000"/>
            <a:ext cx="3528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482554"/>
            <a:ext cx="8172000" cy="4120946"/>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2808000" y="144000"/>
            <a:ext cx="3528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482554"/>
            <a:ext cx="8172000" cy="4120946"/>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2808000" y="144000"/>
            <a:ext cx="3528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482554"/>
            <a:ext cx="8172000" cy="4120946"/>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2808000" y="144000"/>
            <a:ext cx="3528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482554"/>
            <a:ext cx="8172000" cy="4120946"/>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2808000" y="144000"/>
            <a:ext cx="3528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482554"/>
            <a:ext cx="8172000" cy="4120946"/>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2808000" y="144000"/>
            <a:ext cx="3528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482554"/>
            <a:ext cx="8172000" cy="4120946"/>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2808000" y="144000"/>
            <a:ext cx="3528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482554"/>
            <a:ext cx="8172000" cy="4120946"/>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2808000" y="144000"/>
            <a:ext cx="3528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482554"/>
            <a:ext cx="8172000" cy="4120946"/>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2808000" y="144000"/>
            <a:ext cx="3528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2808000" y="144000"/>
            <a:ext cx="3528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482554"/>
            <a:ext cx="8172000" cy="4120946"/>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2808000" y="144000"/>
            <a:ext cx="3528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482554"/>
            <a:ext cx="8172000" cy="4120946"/>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2808000" y="144000"/>
            <a:ext cx="3528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482554"/>
            <a:ext cx="8172000" cy="4120946"/>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2808000" y="144000"/>
            <a:ext cx="3528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1083428" y="2003055"/>
            <a:ext cx="2426859" cy="1668015"/>
          </a:xfrm>
          <a:prstGeom prst="roundRect">
            <a:avLst>
              <a:gd name="adj" fmla="val 8491"/>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463576" y="37200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735526"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71259"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1142307"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467579"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609953"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21586"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1156979"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288179"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692124"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414343"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357264"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2263528"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931854"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2808000" y="144000"/>
            <a:ext cx="3528000" cy="338554"/>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2808000" y="144000"/>
            <a:ext cx="3528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482554"/>
            <a:ext cx="8172000" cy="4120946"/>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2808000" y="144000"/>
            <a:ext cx="3528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482554"/>
            <a:ext cx="8172000" cy="4120946"/>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2808000" y="144000"/>
            <a:ext cx="3528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482554"/>
            <a:ext cx="8172000" cy="4120946"/>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2808000" y="144000"/>
            <a:ext cx="3528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482554"/>
            <a:ext cx="8172000" cy="4120946"/>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39"/>
            <a:ext cx="4320000"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2808000" y="144000"/>
            <a:ext cx="3528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482554"/>
            <a:ext cx="8172000" cy="4120946"/>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2808000" y="144000"/>
            <a:ext cx="3528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2808000" y="144000"/>
            <a:ext cx="3528000" cy="338554"/>
          </a:xfrm>
        </p:spPr>
        <p:txBody>
          <a:bodyPr/>
          <a:lstStyle/>
          <a:p>
            <a:r>
              <a:rPr lang="en-US" altLang="zh-CN" dirty="0"/>
              <a:t>4.9.1  MPLS </a:t>
            </a:r>
            <a:r>
              <a:rPr lang="zh-CN" altLang="en-US" dirty="0"/>
              <a:t>的工作原理</a:t>
            </a:r>
          </a:p>
        </p:txBody>
      </p:sp>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482554"/>
            <a:ext cx="8172000" cy="4120946"/>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2808000" y="144000"/>
            <a:ext cx="3528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2808000" y="144000"/>
            <a:ext cx="3528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2808000" y="144000"/>
            <a:ext cx="3528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482554"/>
            <a:ext cx="8172000" cy="4120946"/>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482554"/>
            <a:ext cx="8172000" cy="4120946"/>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482554"/>
            <a:ext cx="8172000" cy="4120946"/>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482554"/>
            <a:ext cx="8172000" cy="4120946"/>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482554"/>
            <a:ext cx="8172000" cy="4120946"/>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372602502"/>
              </p:ext>
            </p:extLst>
          </p:nvPr>
        </p:nvGraphicFramePr>
        <p:xfrm>
          <a:off x="612000" y="1204880"/>
          <a:ext cx="7920000"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2808000" y="144000"/>
            <a:ext cx="3528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2808000" y="144000"/>
            <a:ext cx="3528000" cy="338554"/>
          </a:xfrm>
        </p:spPr>
        <p:txBody>
          <a:bodyPr/>
          <a:lstStyle/>
          <a:p>
            <a:r>
              <a:rPr lang="en-US" altLang="zh-CN" dirty="0"/>
              <a:t>4.9.2  MPLS </a:t>
            </a:r>
            <a:r>
              <a:rPr lang="zh-CN" altLang="en-US" dirty="0"/>
              <a:t>首部的位置与格式</a:t>
            </a:r>
          </a:p>
        </p:txBody>
      </p:sp>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endParaRPr lang="en-US" altLang="zh-CN" dirty="0"/>
          </a:p>
          <a:p>
            <a:r>
              <a:rPr lang="zh-CN" altLang="en-US" dirty="0"/>
              <a:t>给 </a:t>
            </a:r>
            <a:r>
              <a:rPr lang="en-US" altLang="zh-CN" dirty="0"/>
              <a:t>IP </a:t>
            </a:r>
            <a:r>
              <a:rPr lang="zh-CN" altLang="en-US" dirty="0"/>
              <a:t>数据报打标记：在以太网帧首部和 </a:t>
            </a:r>
            <a:r>
              <a:rPr lang="en-US" altLang="zh-CN" dirty="0"/>
              <a:t>IP </a:t>
            </a:r>
            <a:r>
              <a:rPr lang="zh-CN" altLang="en-US" dirty="0"/>
              <a:t>数据报首部之间插入一个 </a:t>
            </a:r>
            <a:r>
              <a:rPr lang="en-US" altLang="zh-CN" dirty="0"/>
              <a:t>4 </a:t>
            </a:r>
            <a:r>
              <a:rPr lang="zh-CN" altLang="en-US" dirty="0"/>
              <a:t>字节的首部</a:t>
            </a:r>
            <a:endParaRPr lang="en-US" altLang="zh-CN" dirty="0"/>
          </a:p>
          <a:p>
            <a:r>
              <a:rPr lang="zh-CN" altLang="en-US" dirty="0"/>
              <a:t>从层次的角度看，</a:t>
            </a:r>
            <a:r>
              <a:rPr lang="en-US" altLang="zh-CN" dirty="0"/>
              <a:t>MPLS </a:t>
            </a:r>
            <a:r>
              <a:rPr lang="zh-CN" altLang="en-US" dirty="0"/>
              <a:t>首部处在第二层和第三层之间</a:t>
            </a:r>
          </a:p>
          <a:p>
            <a:endParaRPr lang="zh-CN" altLang="en-US" dirty="0"/>
          </a:p>
          <a:p>
            <a:endParaRPr lang="zh-CN" altLang="en-US" dirty="0"/>
          </a:p>
          <a:p>
            <a:endParaRPr lang="zh-CN" altLang="en-US" dirty="0"/>
          </a:p>
        </p:txBody>
      </p:sp>
      <p:sp>
        <p:nvSpPr>
          <p:cNvPr id="6" name="矩形 5"/>
          <p:cNvSpPr/>
          <p:nvPr/>
        </p:nvSpPr>
        <p:spPr bwMode="auto">
          <a:xfrm>
            <a:off x="3340857" y="2138316"/>
            <a:ext cx="1842844" cy="462522"/>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340857" y="2600838"/>
            <a:ext cx="1842844" cy="447013"/>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340857" y="3047850"/>
            <a:ext cx="1842844" cy="447013"/>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245129" y="2734333"/>
            <a:ext cx="429997" cy="223506"/>
          </a:xfrm>
          <a:prstGeom prst="leftArrow">
            <a:avLst/>
          </a:prstGeom>
          <a:solidFill>
            <a:schemeClr val="bg1">
              <a:lumMod val="6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469802" y="3117187"/>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712419" y="3138036"/>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2913249" y="3287653"/>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1867044" y="3604056"/>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461831" y="2711260"/>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342568"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5935107" y="2711260"/>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119777"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068133" y="2775724"/>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612061" y="2775724"/>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416151" y="2775724"/>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5884622" y="2775724"/>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461831" y="2450063"/>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713083" y="4007484"/>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461831" y="3128225"/>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611577" y="4020657"/>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710708" y="4272303"/>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661614" y="4040792"/>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625653" y="3604056"/>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713083" y="3604056"/>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416501" y="3604056"/>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611577" y="3604056"/>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a:xfrm>
            <a:off x="2808000" y="144000"/>
            <a:ext cx="3528000" cy="338554"/>
          </a:xfrm>
        </p:spPr>
        <p:txBody>
          <a:bodyPr/>
          <a:lstStyle/>
          <a:p>
            <a:r>
              <a:rPr lang="en-US" altLang="zh-CN" dirty="0"/>
              <a:t>4.9.2  MPLS </a:t>
            </a:r>
            <a:r>
              <a:rPr lang="zh-CN" altLang="en-US" dirty="0"/>
              <a:t>首部的位置与格式</a:t>
            </a:r>
          </a:p>
        </p:txBody>
      </p:sp>
      <p:sp>
        <p:nvSpPr>
          <p:cNvPr id="3" name="内容占位符 2">
            <a:extLst>
              <a:ext uri="{FF2B5EF4-FFF2-40B4-BE49-F238E27FC236}">
                <a16:creationId xmlns:a16="http://schemas.microsoft.com/office/drawing/2014/main" id="{44B2C851-2453-C337-72E1-89843C6E3A34}"/>
              </a:ext>
            </a:extLst>
          </p:cNvPr>
          <p:cNvSpPr>
            <a:spLocks noGrp="1"/>
          </p:cNvSpPr>
          <p:nvPr>
            <p:ph sz="quarter" idx="11"/>
          </p:nvPr>
        </p:nvSpPr>
        <p:spPr>
          <a:xfrm>
            <a:off x="486000" y="482554"/>
            <a:ext cx="8172000" cy="4120946"/>
          </a:xfrm>
        </p:spPr>
        <p:txBody>
          <a:bodyPr/>
          <a:lstStyle/>
          <a:p>
            <a:r>
              <a:rPr lang="zh-CN" altLang="en-US" dirty="0"/>
              <a:t>标签值（占 </a:t>
            </a:r>
            <a:r>
              <a:rPr lang="en-US" altLang="zh-CN" dirty="0"/>
              <a:t>20 </a:t>
            </a:r>
            <a:r>
              <a:rPr lang="zh-CN" altLang="en-US" dirty="0"/>
              <a:t>位），可以同时容纳高达 </a:t>
            </a:r>
            <a:r>
              <a:rPr lang="en-US" altLang="zh-CN" dirty="0"/>
              <a:t>220 </a:t>
            </a:r>
            <a:r>
              <a:rPr lang="zh-CN" altLang="en-US" dirty="0"/>
              <a:t>个流（即 </a:t>
            </a:r>
            <a:r>
              <a:rPr lang="en-US" altLang="zh-CN" dirty="0"/>
              <a:t>1048576 </a:t>
            </a:r>
            <a:r>
              <a:rPr lang="zh-CN" altLang="en-US" dirty="0"/>
              <a:t>个流）</a:t>
            </a:r>
          </a:p>
          <a:p>
            <a:r>
              <a:rPr lang="zh-CN" altLang="en-US" dirty="0"/>
              <a:t>试验（占 </a:t>
            </a:r>
            <a:r>
              <a:rPr lang="en-US" altLang="zh-CN" dirty="0"/>
              <a:t>3 </a:t>
            </a:r>
            <a:r>
              <a:rPr lang="zh-CN" altLang="en-US" dirty="0"/>
              <a:t>位）。保留用</a:t>
            </a:r>
            <a:endParaRPr lang="en-US" altLang="zh-CN" dirty="0"/>
          </a:p>
          <a:p>
            <a:r>
              <a:rPr lang="zh-CN" altLang="en-US" dirty="0"/>
              <a:t>栈</a:t>
            </a:r>
            <a:r>
              <a:rPr lang="en-US" altLang="zh-CN" dirty="0"/>
              <a:t>S</a:t>
            </a:r>
            <a:r>
              <a:rPr lang="zh-CN" altLang="en-US" dirty="0"/>
              <a:t>（占 </a:t>
            </a:r>
            <a:r>
              <a:rPr lang="en-US" altLang="zh-CN" dirty="0"/>
              <a:t>1 </a:t>
            </a:r>
            <a:r>
              <a:rPr lang="zh-CN" altLang="en-US" dirty="0"/>
              <a:t>位）。在有“标签栈”时使用作试验</a:t>
            </a:r>
            <a:endParaRPr lang="en-US" altLang="zh-CN" dirty="0"/>
          </a:p>
          <a:p>
            <a:r>
              <a:rPr lang="zh-CN" altLang="en-US" dirty="0"/>
              <a:t>生存时间 </a:t>
            </a:r>
            <a:r>
              <a:rPr lang="en-US" altLang="zh-CN" dirty="0"/>
              <a:t>TTL</a:t>
            </a:r>
            <a:r>
              <a:rPr lang="zh-CN" altLang="en-US" dirty="0"/>
              <a:t>（占 </a:t>
            </a:r>
            <a:r>
              <a:rPr lang="en-US" altLang="zh-CN" dirty="0"/>
              <a:t>8 </a:t>
            </a:r>
            <a:r>
              <a:rPr lang="zh-CN" altLang="en-US" dirty="0"/>
              <a:t>位），用来防止 </a:t>
            </a:r>
            <a:r>
              <a:rPr lang="en-US" altLang="zh-CN" dirty="0"/>
              <a:t>MPLS </a:t>
            </a:r>
            <a:r>
              <a:rPr lang="zh-CN" altLang="en-US" dirty="0"/>
              <a:t>分组在 </a:t>
            </a:r>
            <a:r>
              <a:rPr lang="en-US" altLang="zh-CN" dirty="0"/>
              <a:t>MPLS </a:t>
            </a:r>
            <a:r>
              <a:rPr lang="zh-CN" altLang="en-US" dirty="0"/>
              <a:t>域中兜圈子</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2808000" y="144000"/>
            <a:ext cx="3528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a:t>
            </a:r>
            <a:endParaRPr lang="en-US" altLang="zh-CN" dirty="0"/>
          </a:p>
          <a:p>
            <a:pPr lvl="1"/>
            <a:r>
              <a:rPr lang="zh-CN" altLang="en-US" dirty="0"/>
              <a:t>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2808000" y="144000"/>
            <a:ext cx="3528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482554"/>
            <a:ext cx="8172000" cy="4120946"/>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2808000" y="144000"/>
            <a:ext cx="3528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482554"/>
            <a:ext cx="8172000" cy="4120946"/>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2808000" y="144000"/>
            <a:ext cx="3528000" cy="338554"/>
          </a:xfrm>
        </p:spPr>
        <p:txBody>
          <a:bodyPr/>
          <a:lstStyle/>
          <a:p>
            <a:r>
              <a:rPr lang="en-US" altLang="zh-CN" dirty="0"/>
              <a:t>4.10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482554"/>
            <a:ext cx="8172000" cy="4120946"/>
          </a:xfrm>
        </p:spPr>
        <p:txBody>
          <a:bodyPr/>
          <a:lstStyle/>
          <a:p>
            <a:r>
              <a:rPr lang="zh-CN" altLang="en-US" dirty="0"/>
              <a:t>软件定义网络 </a:t>
            </a:r>
            <a:r>
              <a:rPr lang="en-US" altLang="zh-CN" dirty="0"/>
              <a:t>SDN</a:t>
            </a:r>
            <a:r>
              <a:rPr lang="zh-CN" altLang="en-US" dirty="0"/>
              <a:t> </a:t>
            </a:r>
            <a:r>
              <a:rPr lang="en-US" altLang="zh-CN" dirty="0"/>
              <a:t>-</a:t>
            </a:r>
            <a:r>
              <a:rPr lang="zh-CN" altLang="en-US" dirty="0"/>
              <a:t> </a:t>
            </a:r>
            <a:r>
              <a:rPr lang="en-US" altLang="zh-CN" dirty="0"/>
              <a:t>Software Defined Network</a:t>
            </a:r>
          </a:p>
          <a:p>
            <a:pPr lvl="1"/>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693777346"/>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Montserrat" panose="00000500000000000000" pitchFamily="2" charset="0"/>
                <a:ea typeface="微软雅黑 Light" panose="020B0502040204020203" pitchFamily="34" charset="-122"/>
              </a:rPr>
              <a:t>注意：</a:t>
            </a:r>
            <a:endParaRPr lang="en-US" altLang="zh-CN" sz="1400" dirty="0">
              <a:solidFill>
                <a:srgbClr val="0000FF"/>
              </a:solidFill>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不是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endParaRPr lang="en-US" altLang="zh-CN" sz="1400" dirty="0">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未规定必须使用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p>
        </p:txBody>
      </p:sp>
      <p:grpSp>
        <p:nvGrpSpPr>
          <p:cNvPr id="17" name="组合 16"/>
          <p:cNvGrpSpPr/>
          <p:nvPr/>
        </p:nvGrpSpPr>
        <p:grpSpPr>
          <a:xfrm>
            <a:off x="5766005" y="1330858"/>
            <a:ext cx="3267416" cy="1614020"/>
            <a:chOff x="5766005" y="1330858"/>
            <a:chExt cx="3267416" cy="1614020"/>
          </a:xfrm>
        </p:grpSpPr>
        <p:grpSp>
          <p:nvGrpSpPr>
            <p:cNvPr id="7" name="组合 6"/>
            <p:cNvGrpSpPr/>
            <p:nvPr/>
          </p:nvGrpSpPr>
          <p:grpSpPr>
            <a:xfrm>
              <a:off x="5766005" y="1330858"/>
              <a:ext cx="2711030" cy="1614020"/>
              <a:chOff x="5423026" y="1627121"/>
              <a:chExt cx="3832569"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155568" cy="329548"/>
              </a:xfrm>
              <a:prstGeom prst="rect">
                <a:avLst/>
              </a:prstGeom>
              <a:noFill/>
            </p:spPr>
            <p:txBody>
              <a:bodyPr wrap="none" rtlCol="0">
                <a:spAutoFit/>
              </a:bodyPr>
              <a:lstStyle/>
              <a:p>
                <a:r>
                  <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rPr>
                  <a:t>协议 </a:t>
                </a:r>
                <a:r>
                  <a:rPr lang="en-US" altLang="zh-CN" sz="1400" dirty="0" err="1">
                    <a:solidFill>
                      <a:srgbClr val="C00000"/>
                    </a:solidFill>
                    <a:latin typeface="Montserrat" panose="00000500000000000000" pitchFamily="2" charset="0"/>
                    <a:ea typeface="微软雅黑 Light" panose="020B0502040204020203" pitchFamily="34" charset="-122"/>
                    <a:cs typeface="Times New Roman" pitchFamily="18" charset="0"/>
                  </a:rPr>
                  <a:t>OpenFlow</a:t>
                </a:r>
                <a:endPar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1</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2</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矩形 3"/>
            <p:cNvSpPr/>
            <p:nvPr/>
          </p:nvSpPr>
          <p:spPr>
            <a:xfrm>
              <a:off x="8443195" y="1989414"/>
              <a:ext cx="590226" cy="307777"/>
            </a:xfrm>
            <a:prstGeom prst="rect">
              <a:avLst/>
            </a:prstGeom>
          </p:spPr>
          <p:txBody>
            <a:bodyPr wrap="none">
              <a:spAutoFit/>
            </a:bodyPr>
            <a:lstStyle/>
            <a:p>
              <a:pPr lvl="0"/>
              <a:r>
                <a:rPr lang="en-US" altLang="en-US" sz="1400" dirty="0">
                  <a:latin typeface="Montserrat" panose="00000500000000000000" pitchFamily="2" charset="0"/>
                  <a:ea typeface="微软雅黑 Light" panose="020B0502040204020203" pitchFamily="34" charset="-122"/>
                </a:rPr>
                <a:t>SDN</a:t>
              </a:r>
              <a:endParaRPr lang="zh-CN" altLang="en-US" sz="1400" dirty="0">
                <a:latin typeface="Montserrat" panose="00000500000000000000" pitchFamily="2" charset="0"/>
                <a:ea typeface="微软雅黑 Light" panose="020B0502040204020203" pitchFamily="34" charset="-122"/>
              </a:endParaRPr>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2808000" y="144000"/>
            <a:ext cx="3528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1.0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2009</a:t>
              </a:r>
              <a:endParaRPr lang="zh-CN" altLang="en-US" sz="1400" kern="1200" dirty="0">
                <a:latin typeface="Montserrat" panose="00000500000000000000" pitchFamily="2" charset="0"/>
                <a:ea typeface="微软雅黑 Light" panose="020B0502040204020203"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2 </a:t>
              </a:r>
            </a:p>
            <a:p>
              <a:pPr lvl="0" algn="ctr" defTabSz="488950">
                <a:lnSpc>
                  <a:spcPts val="2000"/>
                </a:lnSpc>
                <a:spcBef>
                  <a:spcPct val="0"/>
                </a:spcBef>
                <a:spcAft>
                  <a:spcPts val="0"/>
                </a:spcAft>
              </a:pPr>
              <a:r>
                <a:rPr lang="en-US" altLang="zh-CN" sz="1400" kern="1200" dirty="0">
                  <a:latin typeface="Montserrat" panose="00000500000000000000" pitchFamily="2" charset="0"/>
                  <a:ea typeface="微软雅黑 Light" panose="020B0502040204020203" pitchFamily="34" charset="-122"/>
                </a:rPr>
                <a:t>2011-12 </a:t>
              </a:r>
            </a:p>
            <a:p>
              <a:pPr lvl="0" algn="ctr" defTabSz="488950">
                <a:lnSpc>
                  <a:spcPts val="20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开放网络基金会 </a:t>
              </a:r>
              <a:r>
                <a:rPr lang="en-US" altLang="en-US" sz="1400" kern="1200" dirty="0">
                  <a:latin typeface="Montserrat" panose="00000500000000000000" pitchFamily="2" charset="0"/>
                  <a:ea typeface="微软雅黑 Light" panose="020B0502040204020203" pitchFamily="34" charset="-122"/>
                </a:rPr>
                <a:t>ONF</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Open Networking Foundation</a:t>
              </a:r>
              <a:r>
                <a:rPr lang="zh-CN" altLang="en-US" sz="1400" kern="1200" dirty="0">
                  <a:latin typeface="Montserrat" panose="00000500000000000000" pitchFamily="2" charset="0"/>
                  <a:ea typeface="微软雅黑 Light" panose="020B0502040204020203"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x</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2</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4</a:t>
              </a:r>
              <a:endParaRPr lang="zh-CN" altLang="en-US" sz="1400" kern="1200" dirty="0">
                <a:latin typeface="Montserrat" panose="00000500000000000000" pitchFamily="2" charset="0"/>
                <a:ea typeface="微软雅黑 Light" panose="020B0502040204020203"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4</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8</a:t>
              </a:r>
              <a:endParaRPr lang="zh-CN" altLang="en-US" sz="1400" kern="1200" dirty="0">
                <a:latin typeface="Montserrat" panose="00000500000000000000" pitchFamily="2" charset="0"/>
                <a:ea typeface="微软雅黑 Light" panose="020B0502040204020203"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1.5.1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2015</a:t>
              </a:r>
              <a:r>
                <a:rPr lang="en-US" altLang="zh-CN" sz="1400" kern="1200" dirty="0">
                  <a:latin typeface="Montserrat" panose="00000500000000000000" pitchFamily="2" charset="0"/>
                  <a:ea typeface="微软雅黑 Light" panose="020B0502040204020203" pitchFamily="34" charset="-122"/>
                </a:rPr>
                <a:t>-03</a:t>
              </a:r>
              <a:endParaRPr lang="zh-CN" altLang="en-US" sz="1400" kern="1200" dirty="0">
                <a:latin typeface="Montserrat" panose="00000500000000000000" pitchFamily="2" charset="0"/>
                <a:ea typeface="微软雅黑 Light" panose="020B0502040204020203"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2808000" y="144000"/>
            <a:ext cx="3528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482554"/>
            <a:ext cx="8172000" cy="4120946"/>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dirty="0" err="1">
                  <a:solidFill>
                    <a:srgbClr val="000066"/>
                  </a:solidFill>
                  <a:latin typeface="微软雅黑" pitchFamily="34" charset="-122"/>
                  <a:ea typeface="微软雅黑" pitchFamily="34" charset="-122"/>
                </a:rPr>
                <a:t>OpenFlow</a:t>
              </a:r>
              <a:r>
                <a:rPr lang="en-US" altLang="zh-CN" dirty="0">
                  <a:solidFill>
                    <a:srgbClr val="000066"/>
                  </a:solidFill>
                  <a:latin typeface="微软雅黑" pitchFamily="34" charset="-122"/>
                  <a:ea typeface="微软雅黑" pitchFamily="34" charset="-122"/>
                </a:rPr>
                <a:t> </a:t>
              </a:r>
              <a:r>
                <a:rPr lang="zh-CN" altLang="en-US"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 </a:t>
            </a:r>
            <a:r>
              <a:rPr lang="en-US" altLang="zh-CN" sz="1400" dirty="0" err="1">
                <a:solidFill>
                  <a:schemeClr val="tx1"/>
                </a:solidFill>
                <a:latin typeface="微软雅黑 Light" panose="020B0502040204020203" pitchFamily="34" charset="-122"/>
                <a:ea typeface="微软雅黑 Light" panose="020B0502040204020203" pitchFamily="34" charset="-122"/>
              </a:rPr>
              <a:t>OpenFlow</a:t>
            </a:r>
            <a:r>
              <a:rPr lang="en-US" altLang="zh-CN" sz="1400" dirty="0">
                <a:solidFill>
                  <a:schemeClr val="tx1"/>
                </a:solidFill>
                <a:latin typeface="微软雅黑 Light" panose="020B0502040204020203" pitchFamily="34" charset="-122"/>
                <a:ea typeface="微软雅黑 Light" panose="020B0502040204020203" pitchFamily="34" charset="-122"/>
              </a:rPr>
              <a:t> </a:t>
            </a:r>
            <a:r>
              <a:rPr lang="zh-CN" altLang="en-US" sz="1400" dirty="0">
                <a:solidFill>
                  <a:schemeClr val="tx1"/>
                </a:solidFill>
                <a:latin typeface="微软雅黑 Light" panose="020B0502040204020203" pitchFamily="34" charset="-122"/>
                <a:ea typeface="微软雅黑 Light" panose="020B0502040204020203"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每个流表可以包括多个流表项 </a:t>
            </a:r>
            <a:r>
              <a:rPr lang="en-US" altLang="zh-CN" sz="1400" dirty="0">
                <a:solidFill>
                  <a:schemeClr val="tx1"/>
                </a:solidFill>
                <a:latin typeface="微软雅黑 Light" panose="020B0502040204020203" pitchFamily="34" charset="-122"/>
                <a:ea typeface="微软雅黑 Light" panose="020B0502040204020203" pitchFamily="34" charset="-122"/>
              </a:rPr>
              <a:t>(flow entry)</a:t>
            </a:r>
            <a:r>
              <a:rPr lang="zh-CN" altLang="en-US" sz="1400" dirty="0">
                <a:solidFill>
                  <a:schemeClr val="tx1"/>
                </a:solidFill>
                <a:latin typeface="微软雅黑 Light" panose="020B0502040204020203" pitchFamily="34" charset="-122"/>
                <a:ea typeface="微软雅黑 Light" panose="020B0502040204020203"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482554"/>
            <a:ext cx="8172000" cy="4120946"/>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42279" y="1829956"/>
            <a:ext cx="1704313"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Montserrat" panose="00000500000000000000" pitchFamily="2" charset="0"/>
              <a:ea typeface="微软雅黑 Light" panose="020B0502040204020203"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SDN</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远程控制器</a:t>
            </a:r>
          </a:p>
        </p:txBody>
      </p:sp>
      <p:sp>
        <p:nvSpPr>
          <p:cNvPr id="15" name="TextBox 85"/>
          <p:cNvSpPr txBox="1"/>
          <p:nvPr/>
        </p:nvSpPr>
        <p:spPr>
          <a:xfrm rot="21129718">
            <a:off x="4263048" y="2238088"/>
            <a:ext cx="1524777"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cs typeface="Times New Roman" pitchFamily="18" charset="0"/>
              </a:rPr>
              <a:t>协议</a:t>
            </a:r>
            <a:endParaRPr lang="zh-CN" altLang="en-US" sz="1400" dirty="0">
              <a:latin typeface="Montserrat" panose="00000500000000000000" pitchFamily="2" charset="0"/>
              <a:ea typeface="微软雅黑 Light" panose="020B0502040204020203"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Montserrat" panose="00000500000000000000" pitchFamily="2" charset="0"/>
              <a:ea typeface="微软雅黑 Light" panose="020B0502040204020203"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2808000" y="144000"/>
            <a:ext cx="3528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482554"/>
            <a:ext cx="8172000" cy="4120946"/>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5884944"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   以太网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VLAN </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C00000"/>
                </a:solidFill>
                <a:latin typeface="Montserrat" panose="00000500000000000000" pitchFamily="2" charset="0"/>
                <a:ea typeface="微软雅黑 Light" panose="020B0502040204020203" pitchFamily="34" charset="-122"/>
                <a:cs typeface="Times New Roman" pitchFamily="18" charset="0"/>
              </a:rPr>
              <a:t>IP</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660066"/>
                </a:solidFill>
                <a:latin typeface="Montserrat" panose="00000500000000000000" pitchFamily="2" charset="0"/>
                <a:ea typeface="微软雅黑 Light" panose="020B0502040204020203" pitchFamily="34" charset="-122"/>
                <a:cs typeface="Times New Roman" pitchFamily="18" charset="0"/>
              </a:rPr>
              <a:t>TCP/UDP</a:t>
            </a:r>
            <a:endPar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endParaRPr>
          </a:p>
        </p:txBody>
      </p:sp>
      <p:sp>
        <p:nvSpPr>
          <p:cNvPr id="23" name="TextBox 14"/>
          <p:cNvSpPr txBox="1"/>
          <p:nvPr/>
        </p:nvSpPr>
        <p:spPr>
          <a:xfrm>
            <a:off x="853839" y="2834279"/>
            <a:ext cx="646331" cy="276999"/>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源地址   目的地址    类型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ID    </a:t>
            </a:r>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优先级 </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C00000"/>
                </a:solidFill>
                <a:latin typeface="Montserrat" panose="00000500000000000000" pitchFamily="2" charset="0"/>
                <a:ea typeface="微软雅黑 Light" panose="020B0502040204020203" pitchFamily="34" charset="-122"/>
                <a:cs typeface="Times New Roman" pitchFamily="18" charset="0"/>
              </a:rPr>
              <a:t>源地址      目的地址    协议   服务类型</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链路层</a:t>
            </a:r>
          </a:p>
        </p:txBody>
      </p:sp>
      <p:sp>
        <p:nvSpPr>
          <p:cNvPr id="36" name="TextBox 55"/>
          <p:cNvSpPr txBox="1"/>
          <p:nvPr/>
        </p:nvSpPr>
        <p:spPr>
          <a:xfrm>
            <a:off x="5303829"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网络层</a:t>
            </a:r>
          </a:p>
        </p:txBody>
      </p:sp>
      <p:sp>
        <p:nvSpPr>
          <p:cNvPr id="37" name="TextBox 56"/>
          <p:cNvSpPr txBox="1"/>
          <p:nvPr/>
        </p:nvSpPr>
        <p:spPr>
          <a:xfrm>
            <a:off x="7318657"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spcAft>
                <a:spcPts val="12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492443" cy="276999"/>
          </a:xfrm>
          <a:prstGeom prst="rect">
            <a:avLst/>
          </a:prstGeom>
          <a:noFill/>
        </p:spPr>
        <p:txBody>
          <a:bodyPr wrap="none" rtlCol="0">
            <a:spAutoFit/>
          </a:bodyPr>
          <a:lstStyle/>
          <a:p>
            <a:r>
              <a:rPr lang="zh-CN" altLang="en-US" sz="1200" dirty="0">
                <a:latin typeface="微软雅黑 Light" panose="020B0502040204020203" pitchFamily="34" charset="-122"/>
                <a:ea typeface="微软雅黑 Light" panose="020B0502040204020203" pitchFamily="34" charset="-122"/>
                <a:cs typeface="Times New Roman" pitchFamily="18" charset="0"/>
              </a:rPr>
              <a:t>流表</a:t>
            </a:r>
          </a:p>
        </p:txBody>
      </p:sp>
      <p:sp>
        <p:nvSpPr>
          <p:cNvPr id="51" name="TextBox 78"/>
          <p:cNvSpPr txBox="1"/>
          <p:nvPr/>
        </p:nvSpPr>
        <p:spPr>
          <a:xfrm>
            <a:off x="342576" y="2686178"/>
            <a:ext cx="492443" cy="461665"/>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匹配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r>
              <a:rPr lang="zh-CN" altLang="en-US" sz="1200" dirty="0">
                <a:latin typeface="Montserrat" panose="00000500000000000000" pitchFamily="2" charset="0"/>
                <a:ea typeface="微软雅黑 Light" panose="020B0502040204020203"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矩形 38"/>
          <p:cNvSpPr/>
          <p:nvPr/>
        </p:nvSpPr>
        <p:spPr>
          <a:xfrm>
            <a:off x="2176538" y="1106115"/>
            <a:ext cx="2830643" cy="1019601"/>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95035" cy="338554"/>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2808000" y="144000"/>
            <a:ext cx="3528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2808000" y="144000"/>
            <a:ext cx="3528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482554"/>
            <a:ext cx="8172000" cy="4120946"/>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2808000" y="144000"/>
            <a:ext cx="3528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a:xfrm>
            <a:off x="2808000" y="144000"/>
            <a:ext cx="3528000" cy="338554"/>
          </a:xfrm>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2808000" y="144000"/>
            <a:ext cx="3528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2808000" y="144000"/>
            <a:ext cx="3528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2808000" y="144000"/>
            <a:ext cx="3528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2808000" y="144000"/>
            <a:ext cx="3528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8187</TotalTime>
  <Words>26804</Words>
  <Application>Microsoft Office PowerPoint</Application>
  <PresentationFormat>全屏显示(16:9)</PresentationFormat>
  <Paragraphs>5931</Paragraphs>
  <Slides>344</Slides>
  <Notes>112</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344</vt:i4>
      </vt:variant>
    </vt:vector>
  </HeadingPairs>
  <TitlesOfParts>
    <vt:vector size="360" baseType="lpstr">
      <vt:lpstr>Symbol</vt:lpstr>
      <vt:lpstr>Courier New</vt:lpstr>
      <vt:lpstr>Arial</vt:lpstr>
      <vt:lpstr>Montserrat</vt:lpstr>
      <vt:lpstr>Calibri</vt:lpstr>
      <vt:lpstr>微软雅黑 Light</vt:lpstr>
      <vt:lpstr>Wingdings</vt:lpstr>
      <vt:lpstr>微软雅黑</vt:lpstr>
      <vt:lpstr>黑体</vt:lpstr>
      <vt:lpstr>微软雅黑</vt:lpstr>
      <vt:lpstr>Tahoma</vt:lpstr>
      <vt:lpstr>宋体</vt:lpstr>
      <vt:lpstr>Times New Roman</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PowerPoint 演示文稿</vt:lpstr>
      <vt:lpstr>4.6.4  外部网关协议 BGP</vt:lpstr>
      <vt:lpstr>BGP 发言者 (BGP speaker)</vt:lpstr>
      <vt:lpstr>eBGP 连接和 iBGP 连接</vt:lpstr>
      <vt:lpstr>IGP vs iBGP vs eBGP</vt:lpstr>
      <vt:lpstr> eBGP vs iBGP</vt:lpstr>
      <vt:lpstr> eBGP vs iBGP</vt:lpstr>
      <vt:lpstr>BGP 路由信息</vt:lpstr>
      <vt:lpstr>PowerPoint 演示文稿</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4.9.2  MPLS 首部的位置与格式</vt:lpstr>
      <vt:lpstr>4.9.3  新一代的 MPLS</vt:lpstr>
      <vt:lpstr>段路由选择协议 SR </vt:lpstr>
      <vt:lpstr>控制器</vt:lpstr>
      <vt:lpstr>4.10 SDN</vt:lpstr>
      <vt:lpstr>4.10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438</cp:revision>
  <dcterms:modified xsi:type="dcterms:W3CDTF">2025-11-23T13:44:47Z</dcterms:modified>
</cp:coreProperties>
</file>