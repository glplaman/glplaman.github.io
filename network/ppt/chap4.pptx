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7"/>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352" r:id="rId124"/>
    <p:sldId id="355" r:id="rId125"/>
    <p:sldId id="357" r:id="rId126"/>
    <p:sldId id="691" r:id="rId127"/>
    <p:sldId id="694" r:id="rId128"/>
    <p:sldId id="695" r:id="rId129"/>
    <p:sldId id="697" r:id="rId130"/>
    <p:sldId id="698" r:id="rId131"/>
    <p:sldId id="699" r:id="rId132"/>
    <p:sldId id="700" r:id="rId133"/>
    <p:sldId id="701" r:id="rId134"/>
    <p:sldId id="703" r:id="rId135"/>
    <p:sldId id="704" r:id="rId136"/>
    <p:sldId id="705" r:id="rId137"/>
    <p:sldId id="706" r:id="rId138"/>
    <p:sldId id="707" r:id="rId139"/>
    <p:sldId id="708" r:id="rId140"/>
    <p:sldId id="709" r:id="rId141"/>
    <p:sldId id="710" r:id="rId142"/>
    <p:sldId id="711" r:id="rId143"/>
    <p:sldId id="712" r:id="rId144"/>
    <p:sldId id="714" r:id="rId145"/>
    <p:sldId id="715" r:id="rId146"/>
    <p:sldId id="716" r:id="rId147"/>
    <p:sldId id="717" r:id="rId148"/>
    <p:sldId id="718" r:id="rId149"/>
    <p:sldId id="719" r:id="rId150"/>
    <p:sldId id="720" r:id="rId151"/>
    <p:sldId id="721" r:id="rId152"/>
    <p:sldId id="722" r:id="rId153"/>
    <p:sldId id="723" r:id="rId154"/>
    <p:sldId id="724" r:id="rId155"/>
    <p:sldId id="725" r:id="rId156"/>
    <p:sldId id="727" r:id="rId157"/>
    <p:sldId id="728" r:id="rId158"/>
    <p:sldId id="729" r:id="rId159"/>
    <p:sldId id="730" r:id="rId160"/>
    <p:sldId id="731" r:id="rId161"/>
    <p:sldId id="732" r:id="rId162"/>
    <p:sldId id="735" r:id="rId163"/>
    <p:sldId id="736" r:id="rId164"/>
    <p:sldId id="737" r:id="rId165"/>
    <p:sldId id="738" r:id="rId166"/>
    <p:sldId id="740" r:id="rId167"/>
    <p:sldId id="741" r:id="rId168"/>
    <p:sldId id="743" r:id="rId169"/>
    <p:sldId id="415" r:id="rId170"/>
    <p:sldId id="416" r:id="rId171"/>
    <p:sldId id="745" r:id="rId172"/>
    <p:sldId id="746" r:id="rId173"/>
    <p:sldId id="747" r:id="rId174"/>
    <p:sldId id="419" r:id="rId175"/>
    <p:sldId id="421" r:id="rId176"/>
    <p:sldId id="422" r:id="rId177"/>
    <p:sldId id="423" r:id="rId178"/>
    <p:sldId id="426" r:id="rId179"/>
    <p:sldId id="748" r:id="rId180"/>
    <p:sldId id="427" r:id="rId181"/>
    <p:sldId id="749" r:id="rId182"/>
    <p:sldId id="429" r:id="rId183"/>
    <p:sldId id="430" r:id="rId184"/>
    <p:sldId id="750" r:id="rId185"/>
    <p:sldId id="431" r:id="rId186"/>
    <p:sldId id="432" r:id="rId187"/>
    <p:sldId id="434" r:id="rId188"/>
    <p:sldId id="435" r:id="rId189"/>
    <p:sldId id="436" r:id="rId190"/>
    <p:sldId id="437" r:id="rId191"/>
    <p:sldId id="751" r:id="rId192"/>
    <p:sldId id="442" r:id="rId193"/>
    <p:sldId id="441" r:id="rId194"/>
    <p:sldId id="443" r:id="rId195"/>
    <p:sldId id="444" r:id="rId196"/>
    <p:sldId id="445" r:id="rId197"/>
    <p:sldId id="446" r:id="rId198"/>
    <p:sldId id="447" r:id="rId199"/>
    <p:sldId id="753" r:id="rId200"/>
    <p:sldId id="449" r:id="rId201"/>
    <p:sldId id="450" r:id="rId202"/>
    <p:sldId id="452" r:id="rId203"/>
    <p:sldId id="453" r:id="rId204"/>
    <p:sldId id="457" r:id="rId205"/>
    <p:sldId id="459" r:id="rId206"/>
    <p:sldId id="458" r:id="rId207"/>
    <p:sldId id="460" r:id="rId208"/>
    <p:sldId id="756" r:id="rId209"/>
    <p:sldId id="461" r:id="rId210"/>
    <p:sldId id="463" r:id="rId211"/>
    <p:sldId id="464" r:id="rId212"/>
    <p:sldId id="759" r:id="rId213"/>
    <p:sldId id="465" r:id="rId214"/>
    <p:sldId id="760" r:id="rId215"/>
    <p:sldId id="761" r:id="rId216"/>
    <p:sldId id="762" r:id="rId217"/>
    <p:sldId id="764" r:id="rId218"/>
    <p:sldId id="763" r:id="rId219"/>
    <p:sldId id="766" r:id="rId220"/>
    <p:sldId id="765" r:id="rId221"/>
    <p:sldId id="769" r:id="rId222"/>
    <p:sldId id="770" r:id="rId223"/>
    <p:sldId id="771" r:id="rId224"/>
    <p:sldId id="467" r:id="rId225"/>
    <p:sldId id="469" r:id="rId226"/>
    <p:sldId id="773" r:id="rId227"/>
    <p:sldId id="774" r:id="rId228"/>
    <p:sldId id="858" r:id="rId229"/>
    <p:sldId id="859" r:id="rId230"/>
    <p:sldId id="860" r:id="rId231"/>
    <p:sldId id="777" r:id="rId232"/>
    <p:sldId id="778" r:id="rId233"/>
    <p:sldId id="776" r:id="rId234"/>
    <p:sldId id="474" r:id="rId235"/>
    <p:sldId id="475" r:id="rId236"/>
    <p:sldId id="476" r:id="rId237"/>
    <p:sldId id="781" r:id="rId238"/>
    <p:sldId id="782" r:id="rId239"/>
    <p:sldId id="483" r:id="rId240"/>
    <p:sldId id="485" r:id="rId241"/>
    <p:sldId id="487" r:id="rId242"/>
    <p:sldId id="488" r:id="rId243"/>
    <p:sldId id="784" r:id="rId244"/>
    <p:sldId id="785" r:id="rId245"/>
    <p:sldId id="526" r:id="rId246"/>
    <p:sldId id="527" r:id="rId247"/>
    <p:sldId id="528" r:id="rId248"/>
    <p:sldId id="529" r:id="rId249"/>
    <p:sldId id="530" r:id="rId250"/>
    <p:sldId id="531" r:id="rId251"/>
    <p:sldId id="532" r:id="rId252"/>
    <p:sldId id="533" r:id="rId253"/>
    <p:sldId id="534" r:id="rId254"/>
    <p:sldId id="786" r:id="rId255"/>
    <p:sldId id="537" r:id="rId256"/>
    <p:sldId id="539" r:id="rId257"/>
    <p:sldId id="540" r:id="rId258"/>
    <p:sldId id="541" r:id="rId259"/>
    <p:sldId id="542" r:id="rId260"/>
    <p:sldId id="789" r:id="rId261"/>
    <p:sldId id="790" r:id="rId262"/>
    <p:sldId id="791" r:id="rId263"/>
    <p:sldId id="792" r:id="rId264"/>
    <p:sldId id="545" r:id="rId265"/>
    <p:sldId id="794" r:id="rId266"/>
    <p:sldId id="548" r:id="rId267"/>
    <p:sldId id="549" r:id="rId268"/>
    <p:sldId id="550" r:id="rId269"/>
    <p:sldId id="797" r:id="rId270"/>
    <p:sldId id="796" r:id="rId271"/>
    <p:sldId id="552" r:id="rId272"/>
    <p:sldId id="553" r:id="rId273"/>
    <p:sldId id="554" r:id="rId274"/>
    <p:sldId id="800" r:id="rId275"/>
    <p:sldId id="555" r:id="rId276"/>
    <p:sldId id="556" r:id="rId277"/>
    <p:sldId id="557" r:id="rId278"/>
    <p:sldId id="558" r:id="rId279"/>
    <p:sldId id="560" r:id="rId280"/>
    <p:sldId id="561" r:id="rId281"/>
    <p:sldId id="562" r:id="rId282"/>
    <p:sldId id="563" r:id="rId283"/>
    <p:sldId id="564" r:id="rId284"/>
    <p:sldId id="565" r:id="rId285"/>
    <p:sldId id="566" r:id="rId286"/>
    <p:sldId id="568" r:id="rId287"/>
    <p:sldId id="569" r:id="rId288"/>
    <p:sldId id="570" r:id="rId289"/>
    <p:sldId id="572" r:id="rId290"/>
    <p:sldId id="573" r:id="rId291"/>
    <p:sldId id="574" r:id="rId292"/>
    <p:sldId id="575" r:id="rId293"/>
    <p:sldId id="576" r:id="rId294"/>
    <p:sldId id="578" r:id="rId295"/>
    <p:sldId id="579" r:id="rId296"/>
    <p:sldId id="581" r:id="rId297"/>
    <p:sldId id="582" r:id="rId298"/>
    <p:sldId id="584" r:id="rId299"/>
    <p:sldId id="583" r:id="rId300"/>
    <p:sldId id="585" r:id="rId301"/>
    <p:sldId id="805" r:id="rId302"/>
    <p:sldId id="806" r:id="rId303"/>
    <p:sldId id="588" r:id="rId304"/>
    <p:sldId id="808" r:id="rId305"/>
    <p:sldId id="809" r:id="rId306"/>
    <p:sldId id="590" r:id="rId307"/>
    <p:sldId id="592" r:id="rId308"/>
    <p:sldId id="593" r:id="rId309"/>
    <p:sldId id="810" r:id="rId310"/>
    <p:sldId id="811" r:id="rId311"/>
    <p:sldId id="812" r:id="rId312"/>
    <p:sldId id="813" r:id="rId313"/>
    <p:sldId id="814" r:id="rId314"/>
    <p:sldId id="815" r:id="rId315"/>
    <p:sldId id="816" r:id="rId316"/>
    <p:sldId id="818" r:id="rId317"/>
    <p:sldId id="817" r:id="rId318"/>
    <p:sldId id="821" r:id="rId319"/>
    <p:sldId id="820" r:id="rId320"/>
    <p:sldId id="822" r:id="rId321"/>
    <p:sldId id="823" r:id="rId322"/>
    <p:sldId id="824" r:id="rId323"/>
    <p:sldId id="826" r:id="rId324"/>
    <p:sldId id="827" r:id="rId325"/>
    <p:sldId id="828" r:id="rId326"/>
    <p:sldId id="825" r:id="rId327"/>
    <p:sldId id="829" r:id="rId328"/>
    <p:sldId id="830" r:id="rId329"/>
    <p:sldId id="831" r:id="rId330"/>
    <p:sldId id="835" r:id="rId331"/>
    <p:sldId id="833" r:id="rId332"/>
    <p:sldId id="836" r:id="rId333"/>
    <p:sldId id="834" r:id="rId334"/>
    <p:sldId id="838" r:id="rId335"/>
    <p:sldId id="839" r:id="rId336"/>
  </p:sldIdLst>
  <p:sldSz cx="9144000" cy="5143500" type="screen16x9"/>
  <p:notesSz cx="6858000" cy="9144000"/>
  <p:embeddedFontLst>
    <p:embeddedFont>
      <p:font typeface="微软雅黑 Light" panose="020B0502040204020203" pitchFamily="34" charset="-122"/>
      <p:regular r:id="rId338"/>
    </p:embeddedFont>
    <p:embeddedFont>
      <p:font typeface="Montserrat" panose="00000500000000000000" pitchFamily="2" charset="0"/>
      <p:regular r:id="rId339"/>
    </p:embeddedFont>
    <p:embeddedFont>
      <p:font typeface="Tahoma" panose="020B0604030504040204" pitchFamily="34" charset="0"/>
      <p:regular r:id="rId340"/>
      <p:bold r:id="rId341"/>
    </p:embeddedFont>
    <p:embeddedFont>
      <p:font typeface="黑体" panose="02010609060101010101" pitchFamily="49" charset="-122"/>
      <p:regular r:id="rId342"/>
    </p:embeddedFont>
    <p:embeddedFont>
      <p:font typeface="微软雅黑" panose="020B0503020204020204" pitchFamily="34" charset="-122"/>
      <p:regular r:id="rId343"/>
      <p:bold r:id="rId34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99"/>
    <a:srgbClr val="00B0F0"/>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varScale="1">
        <p:scale>
          <a:sx n="134" d="100"/>
          <a:sy n="134" d="100"/>
        </p:scale>
        <p:origin x="126" y="37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viewProps" Target="view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notesMaster" Target="notesMasters/notesMaster1.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ableStyles" Target="tableStyle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1.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2.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3.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4.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5.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6.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presProps" Target="presProps.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theme" Target="theme/theme1.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s>
</file>

<file path=ppt/diagrams/_rels/data12.xml.rels><?xml version="1.0" encoding="UTF-8" standalone="yes"?>
<Relationships xmlns="http://schemas.openxmlformats.org/package/2006/relationships"><Relationship Id="rId1" Type="http://schemas.openxmlformats.org/officeDocument/2006/relationships/image" Target="../media/image33.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33.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zh-CN" sz="1600" b="1" kern="1200" dirty="0">
              <a:latin typeface="微软雅黑" panose="020B0503020204020204" pitchFamily="34" charset="-122"/>
              <a:ea typeface="微软雅黑" panose="020B0503020204020204" pitchFamily="34" charset="-122"/>
            </a:rPr>
            <a:t>数据层面</a:t>
          </a:r>
          <a:endParaRPr lang="zh-CN" altLang="en-US" sz="1600" b="1" kern="1200" dirty="0">
            <a:latin typeface="微软雅黑" panose="020B0503020204020204" pitchFamily="34" charset="-122"/>
            <a:ea typeface="微软雅黑" panose="020B0503020204020204" pitchFamily="34" charset="-122"/>
          </a:endParaRP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zh-CN" sz="1600" b="1" kern="1200" dirty="0">
              <a:latin typeface="微软雅黑" panose="020B0503020204020204" pitchFamily="34" charset="-122"/>
              <a:ea typeface="微软雅黑" panose="020B0503020204020204" pitchFamily="34" charset="-122"/>
            </a:rPr>
            <a:t>路由器根据本路由器生成的</a:t>
          </a:r>
          <a:r>
            <a:rPr lang="zh-CN" altLang="zh-CN" sz="1600" b="1" kern="1200" dirty="0">
              <a:solidFill>
                <a:srgbClr val="C00000"/>
              </a:solidFill>
              <a:latin typeface="微软雅黑" panose="020B0503020204020204" pitchFamily="34" charset="-122"/>
              <a:ea typeface="微软雅黑" panose="020B0503020204020204" pitchFamily="34" charset="-122"/>
            </a:rPr>
            <a:t>转发表，</a:t>
          </a:r>
          <a:r>
            <a:rPr lang="zh-CN" altLang="zh-CN" sz="1600" b="1" kern="1200" dirty="0">
              <a:latin typeface="微软雅黑" panose="020B0503020204020204" pitchFamily="34" charset="-122"/>
              <a:ea typeface="微软雅黑" panose="020B0503020204020204" pitchFamily="34" charset="-122"/>
            </a:rPr>
            <a:t>把收到的分组从查找到的对应接口</a:t>
          </a:r>
          <a:r>
            <a:rPr lang="zh-CN" altLang="zh-CN" sz="1600" b="1" kern="1200" dirty="0">
              <a:solidFill>
                <a:srgbClr val="C00000"/>
              </a:solidFill>
              <a:latin typeface="微软雅黑" panose="020B0503020204020204" pitchFamily="34" charset="-122"/>
              <a:ea typeface="微软雅黑" panose="020B0503020204020204" pitchFamily="34" charset="-122"/>
            </a:rPr>
            <a:t>转发</a:t>
          </a:r>
          <a:r>
            <a:rPr lang="zh-CN" altLang="zh-CN" sz="1600" b="1" kern="1200" dirty="0">
              <a:latin typeface="微软雅黑" panose="020B0503020204020204" pitchFamily="34" charset="-122"/>
              <a:ea typeface="微软雅黑" panose="020B0503020204020204" pitchFamily="34" charset="-122"/>
            </a:rPr>
            <a:t>出去。</a:t>
          </a:r>
          <a:endParaRPr lang="zh-CN" altLang="en-US" sz="1600" b="1" kern="1200" dirty="0">
            <a:latin typeface="微软雅黑" panose="020B0503020204020204" pitchFamily="34" charset="-122"/>
            <a:ea typeface="微软雅黑" panose="020B0503020204020204" pitchFamily="34" charset="-122"/>
          </a:endParaRP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zh-CN" sz="1800" b="1" kern="1200" dirty="0">
              <a:latin typeface="微软雅黑" panose="020B0503020204020204" pitchFamily="34" charset="-122"/>
              <a:ea typeface="微软雅黑" panose="020B0503020204020204" pitchFamily="34" charset="-122"/>
            </a:rPr>
            <a:t>根据路由选择协议所用的路由算法</a:t>
          </a:r>
          <a:r>
            <a:rPr lang="zh-CN" altLang="zh-CN"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solidFill>
                <a:srgbClr val="C00000"/>
              </a:solidFill>
              <a:latin typeface="微软雅黑" panose="020B0503020204020204" pitchFamily="34" charset="-122"/>
              <a:ea typeface="微软雅黑" panose="020B0503020204020204" pitchFamily="34" charset="-122"/>
            </a:rPr>
            <a:t>，</a:t>
          </a:r>
          <a:r>
            <a:rPr lang="zh-CN" altLang="zh-CN" sz="1800" b="1" kern="1200" dirty="0">
              <a:latin typeface="微软雅黑" panose="020B0503020204020204" pitchFamily="34" charset="-122"/>
              <a:ea typeface="微软雅黑" panose="020B0503020204020204" pitchFamily="34" charset="-122"/>
            </a:rPr>
            <a:t>创建出本路由器的</a:t>
          </a:r>
          <a:r>
            <a:rPr lang="zh-CN" altLang="zh-CN" sz="1800" b="1" kern="1200" dirty="0">
              <a:solidFill>
                <a:srgbClr val="C00000"/>
              </a:solidFill>
              <a:latin typeface="微软雅黑" panose="020B0503020204020204" pitchFamily="34" charset="-122"/>
              <a:ea typeface="微软雅黑" panose="020B0503020204020204" pitchFamily="34" charset="-122"/>
            </a:rPr>
            <a:t>路由表。</a:t>
          </a:r>
          <a:endParaRPr lang="zh-CN" altLang="en-US" sz="1800" b="1" kern="1200" dirty="0">
            <a:solidFill>
              <a:srgbClr val="C00000"/>
            </a:solidFill>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133</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155</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162</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179</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185</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201</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285</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288</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296</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315</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330</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332</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1" r:id="rId1"/>
    <p:sldLayoutId id="2147483649" r:id="rId2"/>
    <p:sldLayoutId id="2147483652" r:id="rId3"/>
    <p:sldLayoutId id="2147483650" r:id="rId4"/>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4.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23.emf"/></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7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9.wmf"/><Relationship Id="rId1" Type="http://schemas.openxmlformats.org/officeDocument/2006/relationships/slideLayout" Target="../slideLayouts/slideLayout2.xml"/><Relationship Id="rId4" Type="http://schemas.openxmlformats.org/officeDocument/2006/relationships/image" Target="../media/image8.wmf"/></Relationships>
</file>

<file path=ppt/slides/_rels/slide181.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8.wmf"/><Relationship Id="rId4" Type="http://schemas.openxmlformats.org/officeDocument/2006/relationships/image" Target="../media/image24.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1.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2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2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2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25.png"/><Relationship Id="rId1" Type="http://schemas.openxmlformats.org/officeDocument/2006/relationships/slideLayout" Target="../slideLayouts/slideLayout1.xml"/><Relationship Id="rId5" Type="http://schemas.openxmlformats.org/officeDocument/2006/relationships/image" Target="../media/image19.wmf"/><Relationship Id="rId4" Type="http://schemas.openxmlformats.org/officeDocument/2006/relationships/image" Target="../media/image7.png"/></Relationships>
</file>

<file path=ppt/slides/_rels/slide24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25.png"/><Relationship Id="rId1" Type="http://schemas.openxmlformats.org/officeDocument/2006/relationships/slideLayout" Target="../slideLayouts/slideLayout1.xml"/><Relationship Id="rId5" Type="http://schemas.openxmlformats.org/officeDocument/2006/relationships/image" Target="../media/image19.wmf"/><Relationship Id="rId4" Type="http://schemas.openxmlformats.org/officeDocument/2006/relationships/image" Target="../media/image7.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1.xml"/><Relationship Id="rId4" Type="http://schemas.openxmlformats.org/officeDocument/2006/relationships/image" Target="../media/image19.wmf"/></Relationships>
</file>

<file path=ppt/slides/_rels/slide25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19.wmf"/></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62.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63.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26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2" Type="http://schemas.openxmlformats.org/officeDocument/2006/relationships/image" Target="../media/image28.wmf"/><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72.x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oleObject" Target="../embeddings/oleObject2.bin"/><Relationship Id="rId1" Type="http://schemas.openxmlformats.org/officeDocument/2006/relationships/slideLayout" Target="../slideLayouts/slideLayout1.xml"/><Relationship Id="rId4" Type="http://schemas.openxmlformats.org/officeDocument/2006/relationships/image" Target="../media/image6.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6.wmf"/><Relationship Id="rId4" Type="http://schemas.openxmlformats.org/officeDocument/2006/relationships/image" Target="../media/image29.wmf"/></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0.png"/><Relationship Id="rId1" Type="http://schemas.openxmlformats.org/officeDocument/2006/relationships/slideLayout" Target="../slideLayouts/slideLayout4.xml"/><Relationship Id="rId5" Type="http://schemas.openxmlformats.org/officeDocument/2006/relationships/image" Target="../media/image6.wmf"/><Relationship Id="rId4" Type="http://schemas.openxmlformats.org/officeDocument/2006/relationships/image" Target="../media/image29.wmf"/></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1.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29.wmf"/></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4.xml.rels><?xml version="1.0" encoding="UTF-8" standalone="yes"?>
<Relationships xmlns="http://schemas.openxmlformats.org/package/2006/relationships"><Relationship Id="rId2" Type="http://schemas.openxmlformats.org/officeDocument/2006/relationships/image" Target="../media/image31.wmf"/><Relationship Id="rId1" Type="http://schemas.openxmlformats.org/officeDocument/2006/relationships/slideLayout" Target="../slideLayouts/slideLayout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3" Type="http://schemas.openxmlformats.org/officeDocument/2006/relationships/image" Target="../media/image31.wmf"/><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31.wmf"/></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1.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6.wmf"/><Relationship Id="rId1" Type="http://schemas.openxmlformats.org/officeDocument/2006/relationships/slideLayout" Target="../slideLayouts/slideLayout1.xml"/><Relationship Id="rId4" Type="http://schemas.openxmlformats.org/officeDocument/2006/relationships/image" Target="../media/image31.wmf"/></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1.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32.wmf"/></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2.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1.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5176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4195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 </a:t>
            </a:r>
          </a:p>
          <a:p>
            <a:r>
              <a:rPr lang="zh-CN" altLang="en-US" dirty="0"/>
              <a:t>如果再使用可靠传输的网络协议，可使所发送的分组无差错按序到达终点，不丢失、不重复。</a:t>
            </a:r>
          </a:p>
          <a:p>
            <a:endParaRPr lang="zh-CN" altLang="en-US" dirty="0"/>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互联网采用的设计思路：</a:t>
            </a:r>
            <a:endParaRPr lang="en-US" altLang="zh-CN" dirty="0"/>
          </a:p>
          <a:p>
            <a:r>
              <a:rPr lang="zh-CN" altLang="en-US" dirty="0"/>
              <a:t>网络层要设计得尽量简单，向其上层只提供简单灵活的、无连接的、尽最大努力交付的数据报服务。</a:t>
            </a:r>
          </a:p>
          <a:p>
            <a:pPr lvl="1"/>
            <a:r>
              <a:rPr lang="zh-CN" altLang="en-US" dirty="0"/>
              <a:t>网络在发送分组时不需要先建立连接。</a:t>
            </a:r>
            <a:endParaRPr lang="en-US" altLang="zh-CN" dirty="0"/>
          </a:p>
          <a:p>
            <a:pPr lvl="1"/>
            <a:r>
              <a:rPr lang="zh-CN" altLang="en-US" dirty="0"/>
              <a:t>每一个分组（即 </a:t>
            </a:r>
            <a:r>
              <a:rPr lang="en-US" altLang="zh-CN" dirty="0"/>
              <a:t>IP </a:t>
            </a:r>
            <a:r>
              <a:rPr lang="zh-CN" altLang="en-US" dirty="0"/>
              <a:t>数据报）独立发送，与其前后的分组无关（不进行编号）。</a:t>
            </a:r>
          </a:p>
          <a:p>
            <a:pPr lvl="1"/>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 </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9"/>
          <p:cNvSpPr>
            <a:spLocks noChangeArrowheads="1"/>
          </p:cNvSpPr>
          <p:nvPr/>
        </p:nvSpPr>
        <p:spPr bwMode="auto">
          <a:xfrm>
            <a:off x="2629135" y="123377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5" name="Rectangle 10"/>
          <p:cNvSpPr>
            <a:spLocks noChangeArrowheads="1"/>
          </p:cNvSpPr>
          <p:nvPr/>
        </p:nvSpPr>
        <p:spPr bwMode="auto">
          <a:xfrm>
            <a:off x="2629135" y="184019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8" name="Rectangle 8"/>
          <p:cNvSpPr>
            <a:spLocks noChangeArrowheads="1"/>
          </p:cNvSpPr>
          <p:nvPr/>
        </p:nvSpPr>
        <p:spPr bwMode="auto">
          <a:xfrm>
            <a:off x="2700573" y="1199227"/>
            <a:ext cx="557429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4.4.1                                   ICMP </a:t>
            </a:r>
            <a:r>
              <a:rPr lang="zh-CN" altLang="en-US" sz="2000" b="1" dirty="0">
                <a:solidFill>
                  <a:schemeClr val="bg1"/>
                </a:solidFill>
                <a:latin typeface="微软雅黑" pitchFamily="34" charset="-122"/>
                <a:ea typeface="微软雅黑" pitchFamily="34" charset="-122"/>
              </a:rPr>
              <a:t>报文的种类</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4.4.2                                   ICMP </a:t>
            </a:r>
            <a:r>
              <a:rPr lang="zh-CN" altLang="en-US" sz="2000" b="1" dirty="0">
                <a:solidFill>
                  <a:schemeClr val="bg1"/>
                </a:solidFill>
                <a:latin typeface="微软雅黑" pitchFamily="34" charset="-122"/>
                <a:ea typeface="微软雅黑" pitchFamily="34" charset="-122"/>
              </a:rPr>
              <a:t>的应用举例</a:t>
            </a:r>
          </a:p>
        </p:txBody>
      </p:sp>
      <p:sp>
        <p:nvSpPr>
          <p:cNvPr id="39" name="Rectangle 27"/>
          <p:cNvSpPr>
            <a:spLocks noChangeArrowheads="1"/>
          </p:cNvSpPr>
          <p:nvPr/>
        </p:nvSpPr>
        <p:spPr bwMode="auto">
          <a:xfrm>
            <a:off x="639730" y="123377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40" name="Rectangle 29"/>
          <p:cNvSpPr>
            <a:spLocks noChangeArrowheads="1"/>
          </p:cNvSpPr>
          <p:nvPr/>
        </p:nvSpPr>
        <p:spPr bwMode="auto">
          <a:xfrm>
            <a:off x="648619" y="1328703"/>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4.4</a:t>
            </a:r>
          </a:p>
          <a:p>
            <a:r>
              <a:rPr lang="zh-CN" altLang="en-US" sz="2000" b="1" dirty="0">
                <a:solidFill>
                  <a:schemeClr val="bg1"/>
                </a:solidFill>
                <a:latin typeface="微软雅黑" pitchFamily="34" charset="-122"/>
                <a:ea typeface="微软雅黑" pitchFamily="34" charset="-122"/>
              </a:rPr>
              <a:t>网际控制</a:t>
            </a:r>
            <a:endParaRPr lang="en-US" altLang="zh-CN" sz="2000" b="1" dirty="0">
              <a:solidFill>
                <a:schemeClr val="bg1"/>
              </a:solidFill>
              <a:latin typeface="微软雅黑" pitchFamily="34" charset="-122"/>
              <a:ea typeface="微软雅黑" pitchFamily="34" charset="-122"/>
            </a:endParaRPr>
          </a:p>
          <a:p>
            <a:r>
              <a:rPr lang="zh-CN" altLang="en-US" sz="2000" b="1" dirty="0">
                <a:solidFill>
                  <a:schemeClr val="bg1"/>
                </a:solidFill>
                <a:latin typeface="微软雅黑" pitchFamily="34" charset="-122"/>
                <a:ea typeface="微软雅黑" pitchFamily="34" charset="-122"/>
              </a:rPr>
              <a:t>报文协议 </a:t>
            </a:r>
            <a:r>
              <a:rPr lang="en-US" altLang="zh-CN" sz="2000" b="1" dirty="0">
                <a:solidFill>
                  <a:schemeClr val="bg1"/>
                </a:solidFill>
                <a:latin typeface="微软雅黑" pitchFamily="34" charset="-122"/>
                <a:ea typeface="微软雅黑" pitchFamily="34" charset="-122"/>
              </a:rPr>
              <a:t>ICMP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17216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77859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639730" y="117216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648619" y="1267101"/>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a:t>
            </a:r>
            <a:r>
              <a:rPr lang="en-US" altLang="zh-CN" sz="2000" b="1" dirty="0">
                <a:solidFill>
                  <a:srgbClr val="FFFF00"/>
                </a:solidFill>
                <a:latin typeface="微软雅黑" pitchFamily="34" charset="-122"/>
                <a:ea typeface="微软雅黑" pitchFamily="34" charset="-122"/>
              </a:rPr>
              <a:t>5</a:t>
            </a:r>
            <a:endParaRPr lang="fr-FR" altLang="zh-CN" sz="2000" b="1" dirty="0">
              <a:solidFill>
                <a:srgbClr val="FFFF00"/>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IPv6</a:t>
            </a:r>
            <a:endParaRPr lang="zh-CN" altLang="en-US" sz="2000" b="1" dirty="0">
              <a:solidFill>
                <a:schemeClr val="bg1"/>
              </a:solidFill>
              <a:latin typeface="微软雅黑" pitchFamily="34" charset="-122"/>
              <a:ea typeface="微软雅黑" pitchFamily="34" charset="-122"/>
            </a:endParaRPr>
          </a:p>
        </p:txBody>
      </p:sp>
      <p:sp>
        <p:nvSpPr>
          <p:cNvPr id="6" name="Rectangle 9"/>
          <p:cNvSpPr>
            <a:spLocks noChangeArrowheads="1"/>
          </p:cNvSpPr>
          <p:nvPr/>
        </p:nvSpPr>
        <p:spPr bwMode="auto">
          <a:xfrm>
            <a:off x="2629135" y="239180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99823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091496"/>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137625"/>
            <a:ext cx="5621391"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4.5.1                                     IPv6 </a:t>
            </a:r>
            <a:r>
              <a:rPr lang="zh-CN" altLang="en-US" sz="2000" b="1" dirty="0">
                <a:solidFill>
                  <a:schemeClr val="bg1"/>
                </a:solidFill>
                <a:latin typeface="微软雅黑" pitchFamily="34" charset="-122"/>
                <a:ea typeface="微软雅黑" pitchFamily="34" charset="-122"/>
              </a:rPr>
              <a:t>的基本首部</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4.5.2                                            IPv6 </a:t>
            </a:r>
            <a:r>
              <a:rPr lang="zh-CN" altLang="en-US" sz="2000" b="1" dirty="0">
                <a:solidFill>
                  <a:schemeClr val="bg1"/>
                </a:solidFill>
                <a:latin typeface="微软雅黑" pitchFamily="34" charset="-122"/>
                <a:ea typeface="微软雅黑" pitchFamily="34" charset="-122"/>
              </a:rPr>
              <a:t>的地址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4.5.3                              </a:t>
            </a:r>
            <a:r>
              <a:rPr lang="zh-CN" altLang="en-US" sz="2000" b="1" dirty="0">
                <a:solidFill>
                  <a:schemeClr val="bg1"/>
                </a:solidFill>
                <a:latin typeface="微软雅黑" pitchFamily="34" charset="-122"/>
                <a:ea typeface="微软雅黑" pitchFamily="34" charset="-122"/>
              </a:rPr>
              <a:t>从 </a:t>
            </a:r>
            <a:r>
              <a:rPr lang="en-US" altLang="zh-CN" sz="2000" b="1" dirty="0">
                <a:solidFill>
                  <a:schemeClr val="bg1"/>
                </a:solidFill>
                <a:latin typeface="微软雅黑" pitchFamily="34" charset="-122"/>
                <a:ea typeface="微软雅黑" pitchFamily="34" charset="-122"/>
              </a:rPr>
              <a:t>IPv4 </a:t>
            </a:r>
            <a:r>
              <a:rPr lang="zh-CN" altLang="en-US" sz="2000" b="1" dirty="0">
                <a:solidFill>
                  <a:schemeClr val="bg1"/>
                </a:solidFill>
                <a:latin typeface="微软雅黑" pitchFamily="34" charset="-122"/>
                <a:ea typeface="微软雅黑" pitchFamily="34" charset="-122"/>
              </a:rPr>
              <a:t>向 </a:t>
            </a:r>
            <a:r>
              <a:rPr lang="en-US" altLang="zh-CN" sz="2000" b="1" dirty="0">
                <a:solidFill>
                  <a:schemeClr val="bg1"/>
                </a:solidFill>
                <a:latin typeface="微软雅黑" pitchFamily="34" charset="-122"/>
                <a:ea typeface="微软雅黑" pitchFamily="34" charset="-122"/>
              </a:rPr>
              <a:t>IPv6 </a:t>
            </a:r>
            <a:r>
              <a:rPr lang="zh-CN" altLang="en-US" sz="2000" b="1" dirty="0">
                <a:solidFill>
                  <a:schemeClr val="bg1"/>
                </a:solidFill>
                <a:latin typeface="微软雅黑" pitchFamily="34" charset="-122"/>
                <a:ea typeface="微软雅黑" pitchFamily="34" charset="-122"/>
              </a:rPr>
              <a:t>过渡</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4.5.4                                                 ICMPv6</a:t>
            </a:r>
          </a:p>
        </p:txBody>
      </p:sp>
    </p:spTree>
    <p:extLst>
      <p:ext uri="{BB962C8B-B14F-4D97-AF65-F5344CB8AC3E}">
        <p14:creationId xmlns:p14="http://schemas.microsoft.com/office/powerpoint/2010/main" val="1228854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05890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66533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27"/>
          <p:cNvSpPr>
            <a:spLocks noChangeArrowheads="1"/>
          </p:cNvSpPr>
          <p:nvPr/>
        </p:nvSpPr>
        <p:spPr bwMode="auto">
          <a:xfrm>
            <a:off x="639730" y="105890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15384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a:t>
            </a:r>
            <a:r>
              <a:rPr lang="en-US" altLang="zh-CN" sz="2000" b="1" dirty="0">
                <a:solidFill>
                  <a:srgbClr val="FFFF00"/>
                </a:solidFill>
                <a:latin typeface="微软雅黑" pitchFamily="34" charset="-122"/>
                <a:ea typeface="微软雅黑" pitchFamily="34" charset="-122"/>
              </a:rPr>
              <a:t>6</a:t>
            </a:r>
            <a:endParaRPr lang="fr-FR" altLang="zh-CN" sz="2000" b="1" dirty="0">
              <a:solidFill>
                <a:srgbClr val="FFFF00"/>
              </a:solidFill>
              <a:latin typeface="微软雅黑" pitchFamily="34" charset="-122"/>
              <a:ea typeface="微软雅黑" pitchFamily="34" charset="-122"/>
            </a:endParaRPr>
          </a:p>
          <a:p>
            <a:r>
              <a:rPr lang="zh-CN" altLang="en-US" sz="2000" b="1" dirty="0">
                <a:solidFill>
                  <a:schemeClr val="bg1"/>
                </a:solidFill>
                <a:latin typeface="微软雅黑" pitchFamily="34" charset="-122"/>
                <a:ea typeface="微软雅黑" pitchFamily="34" charset="-122"/>
              </a:rPr>
              <a:t>互连网的路由选择协议</a:t>
            </a:r>
          </a:p>
        </p:txBody>
      </p:sp>
      <p:sp>
        <p:nvSpPr>
          <p:cNvPr id="8" name="Rectangle 9"/>
          <p:cNvSpPr>
            <a:spLocks noChangeArrowheads="1"/>
          </p:cNvSpPr>
          <p:nvPr/>
        </p:nvSpPr>
        <p:spPr bwMode="auto">
          <a:xfrm>
            <a:off x="2629135" y="22785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Rectangle 10"/>
          <p:cNvSpPr>
            <a:spLocks noChangeArrowheads="1"/>
          </p:cNvSpPr>
          <p:nvPr/>
        </p:nvSpPr>
        <p:spPr bwMode="auto">
          <a:xfrm>
            <a:off x="2629135" y="28849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9"/>
          <p:cNvSpPr>
            <a:spLocks noChangeArrowheads="1"/>
          </p:cNvSpPr>
          <p:nvPr/>
        </p:nvSpPr>
        <p:spPr bwMode="auto">
          <a:xfrm>
            <a:off x="2629135" y="349453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987472"/>
            <a:ext cx="0" cy="2963298"/>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8"/>
          <p:cNvSpPr>
            <a:spLocks noChangeArrowheads="1"/>
          </p:cNvSpPr>
          <p:nvPr/>
        </p:nvSpPr>
        <p:spPr bwMode="auto">
          <a:xfrm>
            <a:off x="2700573" y="1024365"/>
            <a:ext cx="5574294"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4.6.1            </a:t>
            </a:r>
            <a:r>
              <a:rPr lang="zh-CN" altLang="en-US" sz="2000" b="1" dirty="0">
                <a:solidFill>
                  <a:schemeClr val="bg1"/>
                </a:solidFill>
                <a:latin typeface="微软雅黑" pitchFamily="34" charset="-122"/>
                <a:ea typeface="微软雅黑" pitchFamily="34" charset="-122"/>
              </a:rPr>
              <a:t>有关路由选择协议的几个基本概念</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4.6.2                                   </a:t>
            </a:r>
            <a:r>
              <a:rPr lang="zh-CN" altLang="en-US" sz="2000" b="1" dirty="0">
                <a:solidFill>
                  <a:schemeClr val="bg1"/>
                </a:solidFill>
                <a:latin typeface="微软雅黑" pitchFamily="34" charset="-122"/>
                <a:ea typeface="微软雅黑" pitchFamily="34" charset="-122"/>
              </a:rPr>
              <a:t>内部网关协议 </a:t>
            </a:r>
            <a:r>
              <a:rPr lang="en-US" altLang="zh-CN" sz="2000" b="1" dirty="0">
                <a:solidFill>
                  <a:schemeClr val="bg1"/>
                </a:solidFill>
                <a:latin typeface="微软雅黑" pitchFamily="34" charset="-122"/>
                <a:ea typeface="微软雅黑" pitchFamily="34" charset="-122"/>
              </a:rPr>
              <a:t>RIP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4.6.3                                </a:t>
            </a:r>
            <a:r>
              <a:rPr lang="zh-CN" altLang="en-US" sz="2000" b="1" dirty="0">
                <a:solidFill>
                  <a:schemeClr val="bg1"/>
                </a:solidFill>
                <a:latin typeface="微软雅黑" pitchFamily="34" charset="-122"/>
                <a:ea typeface="微软雅黑" pitchFamily="34" charset="-122"/>
              </a:rPr>
              <a:t>内部网关协议 </a:t>
            </a:r>
            <a:r>
              <a:rPr lang="en-US" altLang="zh-CN" sz="2000" b="1" dirty="0">
                <a:solidFill>
                  <a:schemeClr val="bg1"/>
                </a:solidFill>
                <a:latin typeface="微软雅黑" pitchFamily="34" charset="-122"/>
                <a:ea typeface="微软雅黑" pitchFamily="34" charset="-122"/>
              </a:rPr>
              <a:t>OSPF</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4.6.4                                  </a:t>
            </a:r>
            <a:r>
              <a:rPr lang="zh-CN" altLang="en-US" sz="2000" b="1" dirty="0">
                <a:solidFill>
                  <a:schemeClr val="bg1"/>
                </a:solidFill>
                <a:latin typeface="微软雅黑" pitchFamily="34" charset="-122"/>
                <a:ea typeface="微软雅黑" pitchFamily="34" charset="-122"/>
              </a:rPr>
              <a:t>外部网关协议 </a:t>
            </a:r>
            <a:r>
              <a:rPr lang="en-US" altLang="zh-CN" sz="2000" b="1" dirty="0">
                <a:solidFill>
                  <a:schemeClr val="bg1"/>
                </a:solidFill>
                <a:latin typeface="微软雅黑" pitchFamily="34" charset="-122"/>
                <a:ea typeface="微软雅黑" pitchFamily="34" charset="-122"/>
              </a:rPr>
              <a:t>BGP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4.6.5                                          </a:t>
            </a:r>
            <a:r>
              <a:rPr lang="zh-CN" altLang="en-US" sz="2000" b="1" dirty="0">
                <a:solidFill>
                  <a:schemeClr val="bg1"/>
                </a:solidFill>
                <a:latin typeface="微软雅黑" pitchFamily="34" charset="-122"/>
                <a:ea typeface="微软雅黑" pitchFamily="34" charset="-122"/>
              </a:rPr>
              <a:t>路由器的构成</a:t>
            </a:r>
          </a:p>
        </p:txBody>
      </p:sp>
    </p:spTree>
    <p:extLst>
      <p:ext uri="{BB962C8B-B14F-4D97-AF65-F5344CB8AC3E}">
        <p14:creationId xmlns:p14="http://schemas.microsoft.com/office/powerpoint/2010/main" val="12880163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71739" y="3474885"/>
            <a:ext cx="402414" cy="120451"/>
          </a:xfrm>
          <a:prstGeom prst="leftArrow">
            <a:avLst>
              <a:gd name="adj1" fmla="val 50000"/>
              <a:gd name="adj2" fmla="val 77098"/>
            </a:avLst>
          </a:prstGeom>
          <a:solidFill>
            <a:srgbClr val="CC00CC"/>
          </a:solidFill>
          <a:ln w="9525">
            <a:solidFill>
              <a:srgbClr val="0000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rgbClr val="C3E3F9"/>
          </a:solidFill>
          <a:ln>
            <a:noFill/>
          </a:ln>
          <a:effectLst/>
        </p:spPr>
        <p:txBody>
          <a:bodyPr wrap="none">
            <a:spAutoFit/>
          </a:bodyPr>
          <a:lstStyle/>
          <a:p>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rgbClr val="99FFCC"/>
              </a:gs>
              <a:gs pos="100000">
                <a:srgbClr val="00B0F0"/>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4" name="Freeform 6"/>
          <p:cNvSpPr>
            <a:spLocks/>
          </p:cNvSpPr>
          <p:nvPr/>
        </p:nvSpPr>
        <p:spPr bwMode="auto">
          <a:xfrm>
            <a:off x="3396266" y="3171497"/>
            <a:ext cx="3271321"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rgbClr val="00B0F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5" name="Rectangle 7"/>
          <p:cNvSpPr>
            <a:spLocks noChangeArrowheads="1"/>
          </p:cNvSpPr>
          <p:nvPr/>
        </p:nvSpPr>
        <p:spPr bwMode="auto">
          <a:xfrm>
            <a:off x="3031265" y="3388127"/>
            <a:ext cx="3296871" cy="313339"/>
          </a:xfrm>
          <a:prstGeom prst="rect">
            <a:avLst/>
          </a:prstGeom>
          <a:solidFill>
            <a:srgbClr val="00B050"/>
          </a:solidFill>
          <a:ln w="19050">
            <a:solidFill>
              <a:srgbClr val="3333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6" name="Rectangle 8"/>
          <p:cNvSpPr>
            <a:spLocks noChangeArrowheads="1"/>
          </p:cNvSpPr>
          <p:nvPr/>
        </p:nvSpPr>
        <p:spPr bwMode="auto">
          <a:xfrm>
            <a:off x="3957456" y="3403202"/>
            <a:ext cx="2366118" cy="279494"/>
          </a:xfrm>
          <a:prstGeom prst="rect">
            <a:avLst/>
          </a:prstGeom>
          <a:solidFill>
            <a:srgbClr val="00FF9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3952893"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62090" y="3417214"/>
            <a:ext cx="107273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IP </a:t>
            </a:r>
            <a:r>
              <a:rPr kumimoji="1" lang="zh-CN" altLang="zh-CN" sz="1100" b="1" dirty="0">
                <a:solidFill>
                  <a:schemeClr val="bg1"/>
                </a:solidFill>
                <a:latin typeface="微软雅黑" pitchFamily="34" charset="-122"/>
                <a:ea typeface="微软雅黑" pitchFamily="34" charset="-122"/>
              </a:rPr>
              <a:t>数据报首部</a:t>
            </a:r>
            <a:endParaRPr kumimoji="1" lang="zh-CN" altLang="en-US" sz="1100" b="1" dirty="0">
              <a:solidFill>
                <a:schemeClr val="bg1"/>
              </a:solidFill>
              <a:latin typeface="微软雅黑" pitchFamily="34" charset="-122"/>
              <a:ea typeface="微软雅黑"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170" name="Rectangle 12"/>
          <p:cNvSpPr>
            <a:spLocks noChangeArrowheads="1"/>
          </p:cNvSpPr>
          <p:nvPr/>
        </p:nvSpPr>
        <p:spPr bwMode="auto">
          <a:xfrm>
            <a:off x="3371629" y="2851418"/>
            <a:ext cx="3295958" cy="313339"/>
          </a:xfrm>
          <a:prstGeom prst="rect">
            <a:avLst/>
          </a:prstGeom>
          <a:solidFill>
            <a:srgbClr val="0000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2" name="Rectangle 14"/>
          <p:cNvSpPr>
            <a:spLocks noChangeArrowheads="1"/>
          </p:cNvSpPr>
          <p:nvPr/>
        </p:nvSpPr>
        <p:spPr bwMode="auto">
          <a:xfrm>
            <a:off x="4443819" y="2866580"/>
            <a:ext cx="2219205" cy="296493"/>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91293"/>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OSPF </a:t>
            </a:r>
            <a:r>
              <a:rPr kumimoji="1" lang="zh-CN" altLang="en-US" sz="1100" b="1" dirty="0">
                <a:solidFill>
                  <a:schemeClr val="bg1"/>
                </a:solidFill>
                <a:latin typeface="微软雅黑" pitchFamily="34" charset="-122"/>
                <a:ea typeface="微软雅黑"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579782" y="2623994"/>
            <a:ext cx="681597" cy="261610"/>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50" b="1" dirty="0">
                <a:latin typeface="微软雅黑" pitchFamily="34" charset="-122"/>
                <a:ea typeface="微软雅黑" pitchFamily="34" charset="-122"/>
              </a:rPr>
              <a:t>24 </a:t>
            </a:r>
            <a:r>
              <a:rPr kumimoji="1" lang="zh-CN" altLang="en-US" sz="1050" b="1" dirty="0">
                <a:latin typeface="微软雅黑" pitchFamily="34" charset="-122"/>
                <a:ea typeface="微软雅黑" pitchFamily="34" charset="-122"/>
              </a:rPr>
              <a:t>字节</a:t>
            </a:r>
          </a:p>
        </p:txBody>
      </p:sp>
      <p:sp>
        <p:nvSpPr>
          <p:cNvPr id="181" name="Rectangle 23"/>
          <p:cNvSpPr>
            <a:spLocks noChangeArrowheads="1"/>
          </p:cNvSpPr>
          <p:nvPr/>
        </p:nvSpPr>
        <p:spPr bwMode="auto">
          <a:xfrm>
            <a:off x="2217313" y="1327160"/>
            <a:ext cx="4643724" cy="1184287"/>
          </a:xfrm>
          <a:prstGeom prst="rect">
            <a:avLst/>
          </a:prstGeom>
          <a:solidFill>
            <a:srgbClr val="99FFCC"/>
          </a:solidFill>
          <a:ln w="9525">
            <a:solidFill>
              <a:srgbClr val="333399"/>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421957" y="2880073"/>
            <a:ext cx="229101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类型 </a:t>
            </a:r>
            <a:r>
              <a:rPr kumimoji="1" lang="en-US" altLang="zh-CN" sz="1200" b="1" dirty="0">
                <a:latin typeface="微软雅黑" pitchFamily="34" charset="-122"/>
                <a:ea typeface="微软雅黑" pitchFamily="34" charset="-122"/>
              </a:rPr>
              <a:t>1 </a:t>
            </a:r>
            <a:r>
              <a:rPr kumimoji="1" lang="zh-CN" altLang="en-US" sz="1200" b="1" dirty="0">
                <a:latin typeface="微软雅黑" pitchFamily="34" charset="-122"/>
                <a:ea typeface="微软雅黑" pitchFamily="34" charset="-122"/>
              </a:rPr>
              <a:t>至类型 </a:t>
            </a:r>
            <a:r>
              <a:rPr kumimoji="1" lang="en-US" altLang="zh-CN" sz="1200" b="1" dirty="0">
                <a:latin typeface="微软雅黑" pitchFamily="34" charset="-122"/>
                <a:ea typeface="微软雅黑" pitchFamily="34" charset="-122"/>
              </a:rPr>
              <a:t>5 </a:t>
            </a:r>
            <a:r>
              <a:rPr kumimoji="1" lang="zh-CN" altLang="en-US" sz="1200" b="1" dirty="0">
                <a:latin typeface="微软雅黑" pitchFamily="34" charset="-122"/>
                <a:ea typeface="微软雅黑" pitchFamily="34" charset="-122"/>
              </a:rPr>
              <a:t>的 </a:t>
            </a:r>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ChangeArrowheads="1"/>
          </p:cNvSpPr>
          <p:nvPr/>
        </p:nvSpPr>
        <p:spPr bwMode="auto">
          <a:xfrm>
            <a:off x="3091323" y="2548603"/>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 name="Rectangle 4"/>
          <p:cNvSpPr>
            <a:spLocks noChangeArrowheads="1"/>
          </p:cNvSpPr>
          <p:nvPr/>
        </p:nvSpPr>
        <p:spPr bwMode="auto">
          <a:xfrm>
            <a:off x="3091323" y="800842"/>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39"/>
          <p:cNvSpPr txBox="1">
            <a:spLocks noChangeArrowheads="1"/>
          </p:cNvSpPr>
          <p:nvPr/>
        </p:nvSpPr>
        <p:spPr bwMode="auto">
          <a:xfrm>
            <a:off x="475052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更新报文</a:t>
            </a:r>
          </a:p>
        </p:txBody>
      </p:sp>
      <p:sp>
        <p:nvSpPr>
          <p:cNvPr id="6" name="Line 5"/>
          <p:cNvSpPr>
            <a:spLocks noChangeShapeType="1"/>
          </p:cNvSpPr>
          <p:nvPr/>
        </p:nvSpPr>
        <p:spPr bwMode="auto">
          <a:xfrm>
            <a:off x="362791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Freeform 6"/>
          <p:cNvSpPr>
            <a:spLocks/>
          </p:cNvSpPr>
          <p:nvPr/>
        </p:nvSpPr>
        <p:spPr bwMode="auto">
          <a:xfrm>
            <a:off x="362791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Line 7"/>
          <p:cNvSpPr>
            <a:spLocks noChangeShapeType="1"/>
          </p:cNvSpPr>
          <p:nvPr/>
        </p:nvSpPr>
        <p:spPr bwMode="auto">
          <a:xfrm>
            <a:off x="464083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8"/>
          <p:cNvSpPr>
            <a:spLocks noChangeShapeType="1"/>
          </p:cNvSpPr>
          <p:nvPr/>
        </p:nvSpPr>
        <p:spPr bwMode="auto">
          <a:xfrm>
            <a:off x="583261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9"/>
          <p:cNvSpPr>
            <a:spLocks noChangeShapeType="1"/>
          </p:cNvSpPr>
          <p:nvPr/>
        </p:nvSpPr>
        <p:spPr bwMode="auto">
          <a:xfrm>
            <a:off x="483946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Line 10"/>
          <p:cNvSpPr>
            <a:spLocks noChangeShapeType="1"/>
          </p:cNvSpPr>
          <p:nvPr/>
        </p:nvSpPr>
        <p:spPr bwMode="auto">
          <a:xfrm rot="12726376">
            <a:off x="418724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1"/>
          <p:cNvSpPr>
            <a:spLocks noChangeShapeType="1"/>
          </p:cNvSpPr>
          <p:nvPr/>
        </p:nvSpPr>
        <p:spPr bwMode="auto">
          <a:xfrm rot="16200000">
            <a:off x="459423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Line 12"/>
          <p:cNvSpPr>
            <a:spLocks noChangeShapeType="1"/>
          </p:cNvSpPr>
          <p:nvPr/>
        </p:nvSpPr>
        <p:spPr bwMode="auto">
          <a:xfrm>
            <a:off x="3627919"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Freeform 13"/>
          <p:cNvSpPr>
            <a:spLocks/>
          </p:cNvSpPr>
          <p:nvPr/>
        </p:nvSpPr>
        <p:spPr bwMode="auto">
          <a:xfrm>
            <a:off x="3627919"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4640833"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5832612"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17" name="Group 71"/>
          <p:cNvGrpSpPr>
            <a:grpSpLocks/>
          </p:cNvGrpSpPr>
          <p:nvPr/>
        </p:nvGrpSpPr>
        <p:grpSpPr bwMode="auto">
          <a:xfrm>
            <a:off x="5912657"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28" name="Group 70"/>
          <p:cNvGrpSpPr>
            <a:grpSpLocks/>
          </p:cNvGrpSpPr>
          <p:nvPr/>
        </p:nvGrpSpPr>
        <p:grpSpPr bwMode="auto">
          <a:xfrm>
            <a:off x="3974781"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1" name="Line 29"/>
          <p:cNvSpPr>
            <a:spLocks noChangeShapeType="1"/>
          </p:cNvSpPr>
          <p:nvPr/>
        </p:nvSpPr>
        <p:spPr bwMode="auto">
          <a:xfrm>
            <a:off x="4005415"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6" name="Group 73"/>
          <p:cNvGrpSpPr>
            <a:grpSpLocks/>
          </p:cNvGrpSpPr>
          <p:nvPr/>
        </p:nvGrpSpPr>
        <p:grpSpPr bwMode="auto">
          <a:xfrm>
            <a:off x="4089413" y="3712560"/>
            <a:ext cx="2344030" cy="410487"/>
            <a:chOff x="1803" y="3719"/>
            <a:chExt cx="2372" cy="450"/>
          </a:xfrm>
        </p:grpSpPr>
        <p:sp>
          <p:nvSpPr>
            <p:cNvPr id="37" name="AutoShape 32"/>
            <p:cNvSpPr>
              <a:spLocks noChangeArrowheads="1"/>
            </p:cNvSpPr>
            <p:nvPr/>
          </p:nvSpPr>
          <p:spPr bwMode="auto">
            <a:xfrm>
              <a:off x="2399" y="3726"/>
              <a:ext cx="120" cy="292"/>
            </a:xfrm>
            <a:prstGeom prst="downArrow">
              <a:avLst>
                <a:gd name="adj1" fmla="val 50000"/>
                <a:gd name="adj2" fmla="val 80458"/>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42" name="Line 37"/>
          <p:cNvSpPr>
            <a:spLocks noChangeShapeType="1"/>
          </p:cNvSpPr>
          <p:nvPr/>
        </p:nvSpPr>
        <p:spPr bwMode="auto">
          <a:xfrm>
            <a:off x="290785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Text Box 38"/>
          <p:cNvSpPr txBox="1">
            <a:spLocks noChangeArrowheads="1"/>
          </p:cNvSpPr>
          <p:nvPr/>
        </p:nvSpPr>
        <p:spPr bwMode="auto">
          <a:xfrm>
            <a:off x="2815663" y="4005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t</a:t>
            </a:r>
          </a:p>
        </p:txBody>
      </p:sp>
      <p:sp>
        <p:nvSpPr>
          <p:cNvPr id="44" name="Text Box 40"/>
          <p:cNvSpPr txBox="1">
            <a:spLocks noChangeArrowheads="1"/>
          </p:cNvSpPr>
          <p:nvPr/>
        </p:nvSpPr>
        <p:spPr bwMode="auto">
          <a:xfrm>
            <a:off x="4811793" y="3733539"/>
            <a:ext cx="920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ACK</a:t>
            </a:r>
            <a:r>
              <a:rPr kumimoji="1" lang="zh-CN" altLang="en-US" sz="1400" b="1">
                <a:latin typeface="微软雅黑" pitchFamily="34" charset="-122"/>
                <a:ea typeface="微软雅黑"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09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99512" y="1365488"/>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0" name="Text Box 66"/>
          <p:cNvSpPr txBox="1">
            <a:spLocks noChangeArrowheads="1"/>
          </p:cNvSpPr>
          <p:nvPr/>
        </p:nvSpPr>
        <p:spPr bwMode="auto">
          <a:xfrm>
            <a:off x="4199512" y="4001725"/>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p>
        </p:txBody>
      </p:sp>
      <p:sp>
        <p:nvSpPr>
          <p:cNvPr id="71" name="Text Box 67"/>
          <p:cNvSpPr txBox="1">
            <a:spLocks noChangeArrowheads="1"/>
          </p:cNvSpPr>
          <p:nvPr/>
        </p:nvSpPr>
        <p:spPr bwMode="auto">
          <a:xfrm>
            <a:off x="4188641" y="3105951"/>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2" name="Text Box 68"/>
          <p:cNvSpPr txBox="1">
            <a:spLocks noChangeArrowheads="1"/>
          </p:cNvSpPr>
          <p:nvPr/>
        </p:nvSpPr>
        <p:spPr bwMode="auto">
          <a:xfrm>
            <a:off x="4199512" y="2239369"/>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3" name="Text Box 69"/>
          <p:cNvSpPr txBox="1">
            <a:spLocks noChangeArrowheads="1"/>
          </p:cNvSpPr>
          <p:nvPr/>
        </p:nvSpPr>
        <p:spPr bwMode="auto">
          <a:xfrm>
            <a:off x="3210896" y="1051695"/>
            <a:ext cx="332142" cy="303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2</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4</a:t>
            </a:r>
            <a:endParaRPr kumimoji="1" lang="en-US" altLang="zh-CN" sz="1400" b="1" dirty="0">
              <a:latin typeface="微软雅黑" pitchFamily="34" charset="-122"/>
              <a:ea typeface="微软雅黑" pitchFamily="34" charset="-122"/>
            </a:endParaRPr>
          </a:p>
        </p:txBody>
      </p:sp>
      <p:sp>
        <p:nvSpPr>
          <p:cNvPr id="75" name="Text Box 155"/>
          <p:cNvSpPr txBox="1">
            <a:spLocks noChangeArrowheads="1"/>
          </p:cNvSpPr>
          <p:nvPr/>
        </p:nvSpPr>
        <p:spPr bwMode="auto">
          <a:xfrm>
            <a:off x="2817188" y="43654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1"/>
                                        </p:tgtEl>
                                        <p:attrNameLst>
                                          <p:attrName>style.visibility</p:attrName>
                                        </p:attrNameLst>
                                      </p:cBhvr>
                                      <p:to>
                                        <p:strVal val="visible"/>
                                      </p:to>
                                    </p:set>
                                  </p:childTnLst>
                                </p:cTn>
                              </p:par>
                            </p:childTnLst>
                          </p:cTn>
                        </p:par>
                        <p:par>
                          <p:cTn id="10" fill="hold">
                            <p:stCondLst>
                              <p:cond delay="2000"/>
                            </p:stCondLst>
                            <p:childTnLst>
                              <p:par>
                                <p:cTn id="11" presetID="10" presetClass="entr" presetSubtype="0" fill="hold" grpId="0" nodeType="afterEffect">
                                  <p:stCondLst>
                                    <p:cond delay="10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3500"/>
                            </p:stCondLst>
                            <p:childTnLst>
                              <p:par>
                                <p:cTn id="15" presetID="1" presetClass="entr" presetSubtype="0" fill="hold" nodeType="afterEffect">
                                  <p:stCondLst>
                                    <p:cond delay="1000"/>
                                  </p:stCondLst>
                                  <p:childTnLst>
                                    <p:set>
                                      <p:cBhvr>
                                        <p:cTn id="16" dur="1" fill="hold">
                                          <p:stCondLst>
                                            <p:cond delay="0"/>
                                          </p:stCondLst>
                                        </p:cTn>
                                        <p:tgtEl>
                                          <p:spTgt spid="28"/>
                                        </p:tgtEl>
                                        <p:attrNameLst>
                                          <p:attrName>style.visibility</p:attrName>
                                        </p:attrNameLst>
                                      </p:cBhvr>
                                      <p:to>
                                        <p:strVal val="visible"/>
                                      </p:to>
                                    </p:set>
                                  </p:childTnLst>
                                </p:cTn>
                              </p:par>
                            </p:childTnLst>
                          </p:cTn>
                        </p:par>
                        <p:par>
                          <p:cTn id="17" fill="hold">
                            <p:stCondLst>
                              <p:cond delay="4500"/>
                            </p:stCondLst>
                            <p:childTnLst>
                              <p:par>
                                <p:cTn id="18" presetID="1" presetClass="entr" presetSubtype="0" fill="hold" nodeType="afterEffect">
                                  <p:stCondLst>
                                    <p:cond delay="1000"/>
                                  </p:stCondLst>
                                  <p:childTnLst>
                                    <p:set>
                                      <p:cBhvr>
                                        <p:cTn id="19" dur="1" fill="hold">
                                          <p:stCondLst>
                                            <p:cond delay="0"/>
                                          </p:stCondLst>
                                        </p:cTn>
                                        <p:tgtEl>
                                          <p:spTgt spid="32"/>
                                        </p:tgtEl>
                                        <p:attrNameLst>
                                          <p:attrName>style.visibility</p:attrName>
                                        </p:attrNameLst>
                                      </p:cBhvr>
                                      <p:to>
                                        <p:strVal val="visible"/>
                                      </p:to>
                                    </p:set>
                                  </p:childTnLst>
                                </p:cTn>
                              </p:par>
                            </p:childTnLst>
                          </p:cTn>
                        </p:par>
                        <p:par>
                          <p:cTn id="20" fill="hold">
                            <p:stCondLst>
                              <p:cond delay="5500"/>
                            </p:stCondLst>
                            <p:childTnLst>
                              <p:par>
                                <p:cTn id="21" presetID="1" presetClass="entr" presetSubtype="0" fill="hold" grpId="0" nodeType="afterEffect">
                                  <p:stCondLst>
                                    <p:cond delay="1000"/>
                                  </p:stCondLst>
                                  <p:childTnLst>
                                    <p:set>
                                      <p:cBhvr>
                                        <p:cTn id="22" dur="1" fill="hold">
                                          <p:stCondLst>
                                            <p:cond delay="0"/>
                                          </p:stCondLst>
                                        </p:cTn>
                                        <p:tgtEl>
                                          <p:spTgt spid="10"/>
                                        </p:tgtEl>
                                        <p:attrNameLst>
                                          <p:attrName>style.visibility</p:attrName>
                                        </p:attrNameLst>
                                      </p:cBhvr>
                                      <p:to>
                                        <p:strVal val="visible"/>
                                      </p:to>
                                    </p:set>
                                  </p:childTnLst>
                                </p:cTn>
                              </p:par>
                            </p:childTnLst>
                          </p:cTn>
                        </p:par>
                        <p:par>
                          <p:cTn id="23" fill="hold">
                            <p:stCondLst>
                              <p:cond delay="6500"/>
                            </p:stCondLst>
                            <p:childTnLst>
                              <p:par>
                                <p:cTn id="24" presetID="1" presetClass="entr" presetSubtype="0" fill="hold" nodeType="afterEffect">
                                  <p:stCondLst>
                                    <p:cond delay="100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7500"/>
                            </p:stCondLst>
                            <p:childTnLst>
                              <p:par>
                                <p:cTn id="27" presetID="1" presetClass="entr" presetSubtype="0" fill="hold" grpId="0" nodeType="afterEffect">
                                  <p:stCondLst>
                                    <p:cond delay="1000"/>
                                  </p:stCondLst>
                                  <p:childTnLst>
                                    <p:set>
                                      <p:cBhvr>
                                        <p:cTn id="28" dur="1" fill="hold">
                                          <p:stCondLst>
                                            <p:cond delay="0"/>
                                          </p:stCondLst>
                                        </p:cTn>
                                        <p:tgtEl>
                                          <p:spTgt spid="35"/>
                                        </p:tgtEl>
                                        <p:attrNameLst>
                                          <p:attrName>style.visibility</p:attrName>
                                        </p:attrNameLst>
                                      </p:cBhvr>
                                      <p:to>
                                        <p:strVal val="visible"/>
                                      </p:to>
                                    </p:set>
                                  </p:childTnLst>
                                </p:cTn>
                              </p:par>
                            </p:childTnLst>
                          </p:cTn>
                        </p:par>
                        <p:par>
                          <p:cTn id="29" fill="hold">
                            <p:stCondLst>
                              <p:cond delay="8500"/>
                            </p:stCondLst>
                            <p:childTnLst>
                              <p:par>
                                <p:cTn id="30" presetID="1" presetClass="entr" presetSubtype="0" fill="hold" nodeType="afterEffect">
                                  <p:stCondLst>
                                    <p:cond delay="1250"/>
                                  </p:stCondLst>
                                  <p:childTnLst>
                                    <p:set>
                                      <p:cBhvr>
                                        <p:cTn id="3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31" grpId="0" animBg="1"/>
      <p:bldP spid="35"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路径向量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(Path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是不同自治系统的路由器之间交换路由信息的协议</a:t>
            </a:r>
          </a:p>
          <a:p>
            <a:r>
              <a:rPr lang="en-US" altLang="zh-CN" dirty="0"/>
              <a:t>BGP </a:t>
            </a:r>
            <a:r>
              <a:rPr lang="zh-CN" altLang="en-US" dirty="0"/>
              <a:t>较新版本是 </a:t>
            </a:r>
            <a:r>
              <a:rPr lang="en-US" altLang="zh-CN" dirty="0"/>
              <a:t>2006 </a:t>
            </a:r>
            <a:r>
              <a:rPr lang="zh-CN" altLang="en-US" dirty="0"/>
              <a:t>年 </a:t>
            </a:r>
            <a:r>
              <a:rPr lang="en-US" altLang="zh-CN" dirty="0"/>
              <a:t>1 </a:t>
            </a:r>
            <a:r>
              <a:rPr lang="zh-CN" altLang="en-US" dirty="0"/>
              <a:t>月发表的 </a:t>
            </a:r>
            <a:r>
              <a:rPr lang="en-US" altLang="zh-CN" dirty="0"/>
              <a:t>BGP-4</a:t>
            </a:r>
            <a:r>
              <a:rPr lang="zh-CN" altLang="en-US" dirty="0"/>
              <a:t>（</a:t>
            </a:r>
            <a:r>
              <a:rPr lang="en-US" altLang="zh-CN" dirty="0"/>
              <a:t>BGP </a:t>
            </a:r>
            <a:r>
              <a:rPr lang="zh-CN" altLang="en-US" dirty="0"/>
              <a:t>第 </a:t>
            </a:r>
            <a:r>
              <a:rPr lang="en-US" altLang="zh-CN" dirty="0"/>
              <a:t>4 </a:t>
            </a:r>
            <a:r>
              <a:rPr lang="zh-CN" altLang="en-US" dirty="0"/>
              <a:t>个版本），即 </a:t>
            </a:r>
            <a:r>
              <a:rPr lang="en-US" altLang="zh-CN" dirty="0"/>
              <a:t>RFC 4271 ~ 4278</a:t>
            </a:r>
            <a:endParaRPr lang="zh-CN" altLang="en-US" dirty="0"/>
          </a:p>
          <a:p>
            <a:r>
              <a:rPr lang="zh-CN" altLang="en-US" dirty="0"/>
              <a:t>可以将 </a:t>
            </a:r>
            <a:r>
              <a:rPr lang="en-US" altLang="zh-CN" dirty="0"/>
              <a:t>BGP-4 </a:t>
            </a:r>
            <a:r>
              <a:rPr lang="zh-CN" altLang="en-US" dirty="0"/>
              <a:t>简写为 </a:t>
            </a:r>
            <a:r>
              <a:rPr lang="en-US" altLang="zh-CN" dirty="0"/>
              <a:t>BGP</a:t>
            </a:r>
            <a:endParaRPr lang="zh-CN" altLang="en-US" dirty="0"/>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7507CCA-FB33-F17E-0608-2B73F8865C56}"/>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BGP </a:t>
            </a:r>
            <a:r>
              <a:rPr lang="zh-CN" altLang="en-US" dirty="0"/>
              <a:t>的主要特点</a:t>
            </a:r>
          </a:p>
        </p:txBody>
      </p:sp>
      <p:sp>
        <p:nvSpPr>
          <p:cNvPr id="6" name="内容占位符 5">
            <a:extLst>
              <a:ext uri="{FF2B5EF4-FFF2-40B4-BE49-F238E27FC236}">
                <a16:creationId xmlns:a16="http://schemas.microsoft.com/office/drawing/2014/main" id="{611F2C38-BE2B-70EB-CA22-C9BC6AD0903E}"/>
              </a:ext>
            </a:extLst>
          </p:cNvPr>
          <p:cNvSpPr>
            <a:spLocks noGrp="1"/>
          </p:cNvSpPr>
          <p:nvPr>
            <p:ph sz="quarter" idx="11"/>
          </p:nvPr>
        </p:nvSpPr>
        <p:spPr>
          <a:xfrm>
            <a:off x="486000" y="900000"/>
            <a:ext cx="8172000" cy="3703500"/>
          </a:xfrm>
        </p:spPr>
        <p:txBody>
          <a:bodyPr/>
          <a:lstStyle/>
          <a:p>
            <a:r>
              <a:rPr lang="zh-CN" altLang="en-US" dirty="0"/>
              <a:t>用于自治系统 </a:t>
            </a:r>
            <a:r>
              <a:rPr lang="en-US" altLang="zh-CN" dirty="0"/>
              <a:t>AS </a:t>
            </a:r>
            <a:r>
              <a:rPr lang="zh-CN" altLang="en-US" dirty="0"/>
              <a:t>之间的路由选择</a:t>
            </a:r>
            <a:endParaRPr lang="en-US" altLang="zh-CN" dirty="0"/>
          </a:p>
          <a:p>
            <a:r>
              <a:rPr lang="zh-CN" altLang="en-US" dirty="0"/>
              <a:t>只能是力求选择出一条能够到达目的网络且比较好的路由（不能兜圈子），而并非要计算出一条最佳路由</a:t>
            </a:r>
            <a:endParaRPr lang="en-US" altLang="zh-CN" dirty="0"/>
          </a:p>
          <a:p>
            <a:r>
              <a:rPr lang="zh-CN" altLang="en-US" dirty="0"/>
              <a:t>互联网的规模太大，使得自治系统</a:t>
            </a:r>
            <a:r>
              <a:rPr lang="en-US" altLang="zh-CN" dirty="0"/>
              <a:t>AS</a:t>
            </a:r>
            <a:r>
              <a:rPr lang="zh-CN" altLang="en-US" dirty="0"/>
              <a:t>之间路由选择非常困难</a:t>
            </a:r>
            <a:endParaRPr lang="en-US" altLang="zh-CN" dirty="0"/>
          </a:p>
          <a:p>
            <a:r>
              <a:rPr lang="zh-CN" altLang="en-US" dirty="0"/>
              <a:t>自治系统</a:t>
            </a:r>
            <a:r>
              <a:rPr lang="en-US" altLang="zh-CN" dirty="0"/>
              <a:t>AS</a:t>
            </a:r>
            <a:r>
              <a:rPr lang="zh-CN" altLang="en-US" dirty="0"/>
              <a:t>之间的路由选择必须考虑有关策略</a:t>
            </a:r>
            <a:endParaRPr lang="en-US" altLang="zh-CN" dirty="0"/>
          </a:p>
          <a:p>
            <a:r>
              <a:rPr lang="zh-CN" altLang="en-US" dirty="0"/>
              <a:t>采用了路径向量 </a:t>
            </a:r>
            <a:r>
              <a:rPr lang="en-US" altLang="zh-CN" dirty="0"/>
              <a:t>(path vector) </a:t>
            </a:r>
            <a:r>
              <a:rPr lang="zh-CN" altLang="en-US" dirty="0"/>
              <a:t>路由选择协议</a:t>
            </a:r>
            <a:endParaRPr lang="en-US" altLang="zh-CN" dirty="0"/>
          </a:p>
          <a:p>
            <a:endParaRPr lang="zh-CN" altLang="en-US" dirty="0"/>
          </a:p>
        </p:txBody>
      </p:sp>
    </p:spTree>
    <p:extLst>
      <p:ext uri="{BB962C8B-B14F-4D97-AF65-F5344CB8AC3E}">
        <p14:creationId xmlns:p14="http://schemas.microsoft.com/office/powerpoint/2010/main" val="42588867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358267" y="1758877"/>
            <a:ext cx="644735" cy="25496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5071774" y="254907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038693"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877725" y="3642680"/>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200, IP2a ]</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328479" y="2920427"/>
            <a:ext cx="13933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200/low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337588" y="1474081"/>
            <a:ext cx="1486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300/high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200, IP2a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095457" y="2350947"/>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54893" y="15784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30" y="2292248"/>
            <a:ext cx="4466390" cy="335667"/>
          </a:xfrm>
          <a:prstGeom prst="rect">
            <a:avLst/>
          </a:prstGeom>
          <a:solidFill>
            <a:srgbClr val="00FF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33" name="Rectangle 41"/>
          <p:cNvSpPr>
            <a:spLocks noChangeArrowheads="1"/>
          </p:cNvSpPr>
          <p:nvPr/>
        </p:nvSpPr>
        <p:spPr bwMode="auto">
          <a:xfrm>
            <a:off x="3306336" y="2305527"/>
            <a:ext cx="1600959" cy="319320"/>
          </a:xfrm>
          <a:prstGeom prst="rect">
            <a:avLst/>
          </a:prstGeom>
          <a:solidFill>
            <a:srgbClr val="00FF99"/>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35" name="AutoShape 37"/>
          <p:cNvSpPr>
            <a:spLocks noChangeArrowheads="1"/>
          </p:cNvSpPr>
          <p:nvPr/>
        </p:nvSpPr>
        <p:spPr bwMode="auto">
          <a:xfrm rot="5400000">
            <a:off x="1424565" y="3590961"/>
            <a:ext cx="202708" cy="434478"/>
          </a:xfrm>
          <a:prstGeom prst="downArrow">
            <a:avLst>
              <a:gd name="adj1" fmla="val 50000"/>
              <a:gd name="adj2" fmla="val 49462"/>
            </a:avLst>
          </a:prstGeom>
          <a:solidFill>
            <a:srgbClr val="00FF99"/>
          </a:solidFill>
          <a:ln w="9525">
            <a:solidFill>
              <a:schemeClr val="tx1"/>
            </a:solidFill>
            <a:miter lim="800000"/>
            <a:headEnd/>
            <a:tailEnd/>
          </a:ln>
          <a:effectLst/>
        </p:spPr>
        <p:txBody>
          <a:bodyPr vert="eaVert" wrap="none" anchor="ctr"/>
          <a:lstStyle/>
          <a:p>
            <a:endParaRPr lang="zh-CN" altLang="en-US" sz="1400" b="1">
              <a:latin typeface="微软雅黑" pitchFamily="34" charset="-122"/>
              <a:ea typeface="微软雅黑"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rgbClr val="FFFF99">
                  <a:gamma/>
                  <a:shade val="69804"/>
                  <a:invGamma/>
                </a:srgbClr>
              </a:gs>
              <a:gs pos="100000">
                <a:srgbClr val="FFFF66"/>
              </a:gs>
            </a:gsLst>
            <a:lin ang="5400000" scaled="1"/>
          </a:gradFill>
          <a:ln>
            <a:noFill/>
          </a:ln>
          <a:effectLst/>
        </p:spPr>
        <p:txBody>
          <a:bodyPr/>
          <a:lstStyle/>
          <a:p>
            <a:endParaRPr lang="zh-CN" altLang="en-US" sz="1400" b="1">
              <a:latin typeface="微软雅黑" pitchFamily="34" charset="-122"/>
              <a:ea typeface="微软雅黑" pitchFamily="34" charset="-122"/>
            </a:endParaRPr>
          </a:p>
        </p:txBody>
      </p:sp>
      <p:sp>
        <p:nvSpPr>
          <p:cNvPr id="37" name="Rectangle 39"/>
          <p:cNvSpPr>
            <a:spLocks noChangeArrowheads="1"/>
          </p:cNvSpPr>
          <p:nvPr/>
        </p:nvSpPr>
        <p:spPr bwMode="auto">
          <a:xfrm>
            <a:off x="1933344" y="1241286"/>
            <a:ext cx="378789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16                      2             1</a:t>
            </a:r>
          </a:p>
        </p:txBody>
      </p:sp>
      <p:sp>
        <p:nvSpPr>
          <p:cNvPr id="39" name="Rectangle 43"/>
          <p:cNvSpPr>
            <a:spLocks noChangeArrowheads="1"/>
          </p:cNvSpPr>
          <p:nvPr/>
        </p:nvSpPr>
        <p:spPr bwMode="auto">
          <a:xfrm>
            <a:off x="5426779"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Rectangle 45"/>
          <p:cNvSpPr>
            <a:spLocks noChangeArrowheads="1"/>
          </p:cNvSpPr>
          <p:nvPr/>
        </p:nvSpPr>
        <p:spPr bwMode="auto">
          <a:xfrm>
            <a:off x="2612115" y="1547895"/>
            <a:ext cx="3162955" cy="336757"/>
          </a:xfrm>
          <a:prstGeom prst="rect">
            <a:avLst/>
          </a:prstGeom>
          <a:solidFill>
            <a:srgbClr val="00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42" name="Rectangle 46"/>
          <p:cNvSpPr>
            <a:spLocks noChangeArrowheads="1"/>
          </p:cNvSpPr>
          <p:nvPr/>
        </p:nvSpPr>
        <p:spPr bwMode="auto">
          <a:xfrm>
            <a:off x="5200221" y="1559883"/>
            <a:ext cx="5947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类 型</a:t>
            </a:r>
          </a:p>
        </p:txBody>
      </p:sp>
      <p:sp>
        <p:nvSpPr>
          <p:cNvPr id="43" name="Rectangle 47"/>
          <p:cNvSpPr>
            <a:spLocks noChangeArrowheads="1"/>
          </p:cNvSpPr>
          <p:nvPr/>
        </p:nvSpPr>
        <p:spPr bwMode="auto">
          <a:xfrm>
            <a:off x="4383866" y="1559883"/>
            <a:ext cx="64761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a:latin typeface="微软雅黑" pitchFamily="34" charset="-122"/>
                <a:ea typeface="微软雅黑"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Rectangle 50"/>
          <p:cNvSpPr>
            <a:spLocks noChangeArrowheads="1"/>
          </p:cNvSpPr>
          <p:nvPr/>
        </p:nvSpPr>
        <p:spPr bwMode="auto">
          <a:xfrm>
            <a:off x="2994588" y="1559883"/>
            <a:ext cx="91211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标       记</a:t>
            </a:r>
          </a:p>
        </p:txBody>
      </p:sp>
      <p:grpSp>
        <p:nvGrpSpPr>
          <p:cNvPr id="47" name="Group 51"/>
          <p:cNvGrpSpPr>
            <a:grpSpLocks/>
          </p:cNvGrpSpPr>
          <p:nvPr/>
        </p:nvGrpSpPr>
        <p:grpSpPr bwMode="auto">
          <a:xfrm rot="5400000">
            <a:off x="3315963" y="1514292"/>
            <a:ext cx="131869" cy="66116"/>
            <a:chOff x="1008" y="2046"/>
            <a:chExt cx="102" cy="60"/>
          </a:xfrm>
        </p:grpSpPr>
        <p:sp>
          <p:nvSpPr>
            <p:cNvPr id="48" name="Rectangle 52"/>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49" name="Group 53"/>
            <p:cNvGrpSpPr>
              <a:grpSpLocks/>
            </p:cNvGrpSpPr>
            <p:nvPr/>
          </p:nvGrpSpPr>
          <p:grpSpPr bwMode="auto">
            <a:xfrm>
              <a:off x="1026" y="2046"/>
              <a:ext cx="72" cy="48"/>
              <a:chOff x="1440" y="2016"/>
              <a:chExt cx="72" cy="48"/>
            </a:xfrm>
          </p:grpSpPr>
          <p:sp>
            <p:nvSpPr>
              <p:cNvPr id="50" name="Line 54"/>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1" name="Line 55"/>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52" name="Group 56"/>
          <p:cNvGrpSpPr>
            <a:grpSpLocks/>
          </p:cNvGrpSpPr>
          <p:nvPr/>
        </p:nvGrpSpPr>
        <p:grpSpPr bwMode="auto">
          <a:xfrm rot="5400000">
            <a:off x="3323047" y="1852139"/>
            <a:ext cx="131869" cy="66116"/>
            <a:chOff x="1008" y="2046"/>
            <a:chExt cx="102" cy="60"/>
          </a:xfrm>
        </p:grpSpPr>
        <p:sp>
          <p:nvSpPr>
            <p:cNvPr id="53" name="Rectangle 57"/>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54" name="Group 58"/>
            <p:cNvGrpSpPr>
              <a:grpSpLocks/>
            </p:cNvGrpSpPr>
            <p:nvPr/>
          </p:nvGrpSpPr>
          <p:grpSpPr bwMode="auto">
            <a:xfrm>
              <a:off x="1026" y="2046"/>
              <a:ext cx="72" cy="48"/>
              <a:chOff x="1440" y="2016"/>
              <a:chExt cx="72" cy="48"/>
            </a:xfrm>
          </p:grpSpPr>
          <p:sp>
            <p:nvSpPr>
              <p:cNvPr id="55" name="Line 59"/>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57" name="Rectangle 63"/>
          <p:cNvSpPr>
            <a:spLocks noChangeArrowheads="1"/>
          </p:cNvSpPr>
          <p:nvPr/>
        </p:nvSpPr>
        <p:spPr bwMode="auto">
          <a:xfrm>
            <a:off x="2486966" y="2965763"/>
            <a:ext cx="5273954" cy="336757"/>
          </a:xfrm>
          <a:prstGeom prst="rect">
            <a:avLst/>
          </a:prstGeom>
          <a:solidFill>
            <a:srgbClr val="FF99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Rectangle 65"/>
          <p:cNvSpPr>
            <a:spLocks noChangeArrowheads="1"/>
          </p:cNvSpPr>
          <p:nvPr/>
        </p:nvSpPr>
        <p:spPr bwMode="auto">
          <a:xfrm>
            <a:off x="2433556" y="3015894"/>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1" name="Rectangle 67"/>
          <p:cNvSpPr>
            <a:spLocks noChangeArrowheads="1"/>
          </p:cNvSpPr>
          <p:nvPr/>
        </p:nvSpPr>
        <p:spPr bwMode="auto">
          <a:xfrm>
            <a:off x="1680584" y="3641456"/>
            <a:ext cx="6080336" cy="336757"/>
          </a:xfrm>
          <a:prstGeom prst="rect">
            <a:avLst/>
          </a:prstGeom>
          <a:solidFill>
            <a:srgbClr val="FF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5" name="Rectangle 71"/>
          <p:cNvSpPr>
            <a:spLocks noChangeArrowheads="1"/>
          </p:cNvSpPr>
          <p:nvPr/>
        </p:nvSpPr>
        <p:spPr bwMode="auto">
          <a:xfrm>
            <a:off x="4947437" y="2989738"/>
            <a:ext cx="97462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a:t>
            </a:r>
          </a:p>
        </p:txBody>
      </p:sp>
      <p:cxnSp>
        <p:nvCxnSpPr>
          <p:cNvPr id="67" name="直接连接符 66"/>
          <p:cNvCxnSpPr/>
          <p:nvPr/>
        </p:nvCxnSpPr>
        <p:spPr bwMode="auto">
          <a:xfrm>
            <a:off x="3306336"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8" name="直接连接符 67"/>
          <p:cNvCxnSpPr/>
          <p:nvPr/>
        </p:nvCxnSpPr>
        <p:spPr bwMode="auto">
          <a:xfrm>
            <a:off x="7760920"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0" name="直接连接符 69"/>
          <p:cNvCxnSpPr/>
          <p:nvPr/>
        </p:nvCxnSpPr>
        <p:spPr bwMode="auto">
          <a:xfrm>
            <a:off x="7760920"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1" name="直接连接符 70"/>
          <p:cNvCxnSpPr/>
          <p:nvPr/>
        </p:nvCxnSpPr>
        <p:spPr bwMode="auto">
          <a:xfrm>
            <a:off x="2495586"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 name="Rectangle 42"/>
          <p:cNvSpPr>
            <a:spLocks noChangeArrowheads="1"/>
          </p:cNvSpPr>
          <p:nvPr/>
        </p:nvSpPr>
        <p:spPr bwMode="auto">
          <a:xfrm>
            <a:off x="3261471"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BGP </a:t>
            </a:r>
            <a:r>
              <a:rPr kumimoji="1" lang="zh-CN" altLang="en-US" sz="1400" b="1" dirty="0">
                <a:latin typeface="微软雅黑" pitchFamily="34" charset="-122"/>
                <a:ea typeface="微软雅黑" pitchFamily="34" charset="-122"/>
              </a:rPr>
              <a:t>报文通用首部</a:t>
            </a:r>
          </a:p>
        </p:txBody>
      </p:sp>
      <p:sp>
        <p:nvSpPr>
          <p:cNvPr id="5" name="矩形 4"/>
          <p:cNvSpPr/>
          <p:nvPr/>
        </p:nvSpPr>
        <p:spPr>
          <a:xfrm>
            <a:off x="2512444" y="3657655"/>
            <a:ext cx="5220000" cy="302400"/>
          </a:xfrm>
          <a:prstGeom prst="rect">
            <a:avLst/>
          </a:prstGeom>
          <a:solidFill>
            <a:srgbClr val="FF9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Rectangle 68"/>
          <p:cNvSpPr>
            <a:spLocks noChangeArrowheads="1"/>
          </p:cNvSpPr>
          <p:nvPr/>
        </p:nvSpPr>
        <p:spPr bwMode="auto">
          <a:xfrm>
            <a:off x="1677719" y="3673001"/>
            <a:ext cx="7742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6" name="Rectangle 72"/>
          <p:cNvSpPr>
            <a:spLocks noChangeArrowheads="1"/>
          </p:cNvSpPr>
          <p:nvPr/>
        </p:nvSpPr>
        <p:spPr bwMode="auto">
          <a:xfrm>
            <a:off x="4720752" y="3665432"/>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289183"/>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895608"/>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28918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384115"/>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4.7</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多播</a:t>
            </a:r>
          </a:p>
        </p:txBody>
      </p:sp>
      <p:sp>
        <p:nvSpPr>
          <p:cNvPr id="6" name="Rectangle 9"/>
          <p:cNvSpPr>
            <a:spLocks noChangeArrowheads="1"/>
          </p:cNvSpPr>
          <p:nvPr/>
        </p:nvSpPr>
        <p:spPr bwMode="auto">
          <a:xfrm>
            <a:off x="2303830" y="2508819"/>
            <a:ext cx="6189543"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311894" y="1125380"/>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287349" y="1254639"/>
            <a:ext cx="6206024"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4.7.1                                           IP </a:t>
            </a:r>
            <a:r>
              <a:rPr lang="zh-CN" altLang="en-US" sz="2000" b="1" dirty="0">
                <a:solidFill>
                  <a:schemeClr val="bg1"/>
                </a:solidFill>
                <a:latin typeface="微软雅黑" pitchFamily="34" charset="-122"/>
                <a:ea typeface="微软雅黑" pitchFamily="34" charset="-122"/>
              </a:rPr>
              <a:t>多播的基本概念</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4.7.2                                  </a:t>
            </a:r>
            <a:r>
              <a:rPr lang="zh-CN" altLang="en-US" sz="2000" b="1" dirty="0">
                <a:solidFill>
                  <a:schemeClr val="bg1"/>
                </a:solidFill>
                <a:latin typeface="微软雅黑" pitchFamily="34" charset="-122"/>
                <a:ea typeface="微软雅黑" pitchFamily="34" charset="-122"/>
              </a:rPr>
              <a:t>在局域网上进行硬件多播</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4.7.3      </a:t>
            </a:r>
            <a:r>
              <a:rPr lang="zh-CN" altLang="en-US" sz="2000" b="1" dirty="0">
                <a:solidFill>
                  <a:schemeClr val="bg1"/>
                </a:solidFill>
                <a:latin typeface="微软雅黑" pitchFamily="34" charset="-122"/>
                <a:ea typeface="微软雅黑" pitchFamily="34" charset="-122"/>
              </a:rPr>
              <a:t>网际组管理协议 </a:t>
            </a:r>
            <a:r>
              <a:rPr lang="en-US" altLang="zh-CN" sz="2000" b="1" dirty="0">
                <a:solidFill>
                  <a:schemeClr val="bg1"/>
                </a:solidFill>
                <a:latin typeface="微软雅黑" pitchFamily="34" charset="-122"/>
                <a:ea typeface="微软雅黑" pitchFamily="34" charset="-122"/>
              </a:rPr>
              <a:t>IGMP </a:t>
            </a:r>
            <a:r>
              <a:rPr lang="zh-CN" altLang="en-US" sz="2000" b="1" dirty="0">
                <a:solidFill>
                  <a:schemeClr val="bg1"/>
                </a:solidFill>
                <a:latin typeface="微软雅黑" pitchFamily="34" charset="-122"/>
                <a:ea typeface="微软雅黑" pitchFamily="34" charset="-122"/>
              </a:rPr>
              <a:t>和多播路由选择协议</a:t>
            </a:r>
          </a:p>
        </p:txBody>
      </p:sp>
    </p:spTree>
    <p:extLst>
      <p:ext uri="{BB962C8B-B14F-4D97-AF65-F5344CB8AC3E}">
        <p14:creationId xmlns:p14="http://schemas.microsoft.com/office/powerpoint/2010/main" val="7625606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5563" y="1186836"/>
            <a:ext cx="430439" cy="602615"/>
          </a:xfrm>
          <a:prstGeom prst="rect">
            <a:avLst/>
          </a:prstGeom>
        </p:spPr>
      </p:pic>
      <p:sp>
        <p:nvSpPr>
          <p:cNvPr id="6" name="Line 77"/>
          <p:cNvSpPr>
            <a:spLocks noChangeShapeType="1"/>
          </p:cNvSpPr>
          <p:nvPr/>
        </p:nvSpPr>
        <p:spPr bwMode="auto">
          <a:xfrm>
            <a:off x="2364824"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2"/>
          <p:cNvSpPr>
            <a:spLocks noChangeShapeType="1"/>
          </p:cNvSpPr>
          <p:nvPr/>
        </p:nvSpPr>
        <p:spPr bwMode="auto">
          <a:xfrm flipV="1">
            <a:off x="2413019"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3"/>
          <p:cNvSpPr>
            <a:spLocks noChangeShapeType="1"/>
          </p:cNvSpPr>
          <p:nvPr/>
        </p:nvSpPr>
        <p:spPr bwMode="auto">
          <a:xfrm flipV="1">
            <a:off x="3432295"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4"/>
          <p:cNvSpPr>
            <a:spLocks noChangeShapeType="1"/>
          </p:cNvSpPr>
          <p:nvPr/>
        </p:nvSpPr>
        <p:spPr bwMode="auto">
          <a:xfrm flipH="1" flipV="1">
            <a:off x="3432295"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5"/>
          <p:cNvSpPr>
            <a:spLocks noChangeShapeType="1"/>
          </p:cNvSpPr>
          <p:nvPr/>
        </p:nvSpPr>
        <p:spPr bwMode="auto">
          <a:xfrm>
            <a:off x="4643709"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6"/>
          <p:cNvSpPr>
            <a:spLocks noChangeShapeType="1"/>
          </p:cNvSpPr>
          <p:nvPr/>
        </p:nvSpPr>
        <p:spPr bwMode="auto">
          <a:xfrm flipV="1">
            <a:off x="3432295"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7"/>
          <p:cNvSpPr>
            <a:spLocks noChangeShapeType="1"/>
          </p:cNvSpPr>
          <p:nvPr/>
        </p:nvSpPr>
        <p:spPr bwMode="auto">
          <a:xfrm>
            <a:off x="234975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58"/>
          <p:cNvSpPr>
            <a:spLocks noChangeShapeType="1"/>
          </p:cNvSpPr>
          <p:nvPr/>
        </p:nvSpPr>
        <p:spPr bwMode="auto">
          <a:xfrm>
            <a:off x="3561168"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Text Box 59"/>
          <p:cNvSpPr txBox="1">
            <a:spLocks noChangeArrowheads="1"/>
          </p:cNvSpPr>
          <p:nvPr/>
        </p:nvSpPr>
        <p:spPr bwMode="auto">
          <a:xfrm>
            <a:off x="2285118" y="4018862"/>
            <a:ext cx="24865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个主机接收视频节目</a:t>
            </a:r>
          </a:p>
        </p:txBody>
      </p:sp>
      <p:sp>
        <p:nvSpPr>
          <p:cNvPr id="16" name="AutoShape 60"/>
          <p:cNvSpPr>
            <a:spLocks noChangeArrowheads="1"/>
          </p:cNvSpPr>
          <p:nvPr/>
        </p:nvSpPr>
        <p:spPr bwMode="auto">
          <a:xfrm rot="5400000">
            <a:off x="3362856"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AutoShape 61"/>
          <p:cNvSpPr>
            <a:spLocks noChangeArrowheads="1"/>
          </p:cNvSpPr>
          <p:nvPr/>
        </p:nvSpPr>
        <p:spPr bwMode="auto">
          <a:xfrm rot="8740270">
            <a:off x="2666081"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2985923"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20" name="Text Box 64"/>
          <p:cNvSpPr txBox="1">
            <a:spLocks noChangeArrowheads="1"/>
          </p:cNvSpPr>
          <p:nvPr/>
        </p:nvSpPr>
        <p:spPr bwMode="auto">
          <a:xfrm>
            <a:off x="2949604"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3</a:t>
            </a:r>
            <a:endParaRPr kumimoji="1" lang="en-US" altLang="zh-CN" sz="1400" b="1">
              <a:latin typeface="微软雅黑" pitchFamily="34" charset="-122"/>
              <a:ea typeface="微软雅黑" pitchFamily="34" charset="-122"/>
            </a:endParaRPr>
          </a:p>
        </p:txBody>
      </p:sp>
      <p:sp>
        <p:nvSpPr>
          <p:cNvPr id="21" name="Text Box 65"/>
          <p:cNvSpPr txBox="1">
            <a:spLocks noChangeArrowheads="1"/>
          </p:cNvSpPr>
          <p:nvPr/>
        </p:nvSpPr>
        <p:spPr bwMode="auto">
          <a:xfrm>
            <a:off x="4118840"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2" name="Text Box 66"/>
          <p:cNvSpPr txBox="1">
            <a:spLocks noChangeArrowheads="1"/>
          </p:cNvSpPr>
          <p:nvPr/>
        </p:nvSpPr>
        <p:spPr bwMode="auto">
          <a:xfrm>
            <a:off x="1840118"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3" name="Text Box 67"/>
          <p:cNvSpPr txBox="1">
            <a:spLocks noChangeArrowheads="1"/>
          </p:cNvSpPr>
          <p:nvPr/>
        </p:nvSpPr>
        <p:spPr bwMode="auto">
          <a:xfrm>
            <a:off x="1094634"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2742"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8787"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3925530"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6"/>
          <p:cNvSpPr>
            <a:spLocks noChangeShapeType="1"/>
          </p:cNvSpPr>
          <p:nvPr/>
        </p:nvSpPr>
        <p:spPr bwMode="auto">
          <a:xfrm flipH="1">
            <a:off x="1967818"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78"/>
          <p:cNvSpPr>
            <a:spLocks noChangeShapeType="1"/>
          </p:cNvSpPr>
          <p:nvPr/>
        </p:nvSpPr>
        <p:spPr bwMode="auto">
          <a:xfrm flipH="1">
            <a:off x="3113624"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79"/>
          <p:cNvSpPr>
            <a:spLocks noChangeShapeType="1"/>
          </p:cNvSpPr>
          <p:nvPr/>
        </p:nvSpPr>
        <p:spPr bwMode="auto">
          <a:xfrm>
            <a:off x="3504043"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Line 80"/>
          <p:cNvSpPr>
            <a:spLocks noChangeShapeType="1"/>
          </p:cNvSpPr>
          <p:nvPr/>
        </p:nvSpPr>
        <p:spPr bwMode="auto">
          <a:xfrm flipH="1">
            <a:off x="4325038"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Line 81"/>
          <p:cNvSpPr>
            <a:spLocks noChangeShapeType="1"/>
          </p:cNvSpPr>
          <p:nvPr/>
        </p:nvSpPr>
        <p:spPr bwMode="auto">
          <a:xfrm>
            <a:off x="4749382"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Text Box 88"/>
          <p:cNvSpPr txBox="1">
            <a:spLocks noChangeArrowheads="1"/>
          </p:cNvSpPr>
          <p:nvPr/>
        </p:nvSpPr>
        <p:spPr bwMode="auto">
          <a:xfrm>
            <a:off x="2113137"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43" name="Text Box 89"/>
          <p:cNvSpPr txBox="1">
            <a:spLocks noChangeArrowheads="1"/>
          </p:cNvSpPr>
          <p:nvPr/>
        </p:nvSpPr>
        <p:spPr bwMode="auto">
          <a:xfrm>
            <a:off x="4523078"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44" name="Text Box 90"/>
          <p:cNvSpPr txBox="1">
            <a:spLocks noChangeArrowheads="1"/>
          </p:cNvSpPr>
          <p:nvPr/>
        </p:nvSpPr>
        <p:spPr bwMode="auto">
          <a:xfrm>
            <a:off x="3311664"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sp>
        <p:nvSpPr>
          <p:cNvPr id="45" name="Text Box 91"/>
          <p:cNvSpPr txBox="1">
            <a:spLocks noChangeArrowheads="1"/>
          </p:cNvSpPr>
          <p:nvPr/>
        </p:nvSpPr>
        <p:spPr bwMode="auto">
          <a:xfrm>
            <a:off x="2594615" y="278601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6" name="Text Box 92"/>
          <p:cNvSpPr txBox="1">
            <a:spLocks noChangeArrowheads="1"/>
          </p:cNvSpPr>
          <p:nvPr/>
        </p:nvSpPr>
        <p:spPr bwMode="auto">
          <a:xfrm>
            <a:off x="3640837" y="2753572"/>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7" name="Text Box 93"/>
          <p:cNvSpPr txBox="1">
            <a:spLocks noChangeArrowheads="1"/>
          </p:cNvSpPr>
          <p:nvPr/>
        </p:nvSpPr>
        <p:spPr bwMode="auto">
          <a:xfrm>
            <a:off x="4880369" y="270490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8" name="Text Box 94"/>
          <p:cNvSpPr txBox="1">
            <a:spLocks noChangeArrowheads="1"/>
          </p:cNvSpPr>
          <p:nvPr/>
        </p:nvSpPr>
        <p:spPr bwMode="auto">
          <a:xfrm>
            <a:off x="4225453" y="1871103"/>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9" name="Text Box 95"/>
          <p:cNvSpPr txBox="1">
            <a:spLocks noChangeArrowheads="1"/>
          </p:cNvSpPr>
          <p:nvPr/>
        </p:nvSpPr>
        <p:spPr bwMode="auto">
          <a:xfrm>
            <a:off x="3666611" y="22463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0" name="Text Box 96"/>
          <p:cNvSpPr txBox="1">
            <a:spLocks noChangeArrowheads="1"/>
          </p:cNvSpPr>
          <p:nvPr/>
        </p:nvSpPr>
        <p:spPr bwMode="auto">
          <a:xfrm>
            <a:off x="2201581" y="1871103"/>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1" name="Text Box 97"/>
          <p:cNvSpPr txBox="1">
            <a:spLocks noChangeArrowheads="1"/>
          </p:cNvSpPr>
          <p:nvPr/>
        </p:nvSpPr>
        <p:spPr bwMode="auto">
          <a:xfrm>
            <a:off x="3711131" y="134983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90 </a:t>
            </a:r>
            <a:r>
              <a:rPr kumimoji="1" lang="zh-CN" altLang="en-US" sz="1200" b="1" dirty="0">
                <a:solidFill>
                  <a:srgbClr val="CC00CC"/>
                </a:solidFill>
                <a:latin typeface="微软雅黑" pitchFamily="34" charset="-122"/>
                <a:ea typeface="微软雅黑" pitchFamily="34" charset="-122"/>
              </a:rPr>
              <a:t>个</a:t>
            </a:r>
          </a:p>
        </p:txBody>
      </p:sp>
      <p:sp>
        <p:nvSpPr>
          <p:cNvPr id="52" name="AutoShape 99"/>
          <p:cNvSpPr>
            <a:spLocks noChangeArrowheads="1"/>
          </p:cNvSpPr>
          <p:nvPr/>
        </p:nvSpPr>
        <p:spPr bwMode="auto">
          <a:xfrm rot="5400000">
            <a:off x="3430763" y="1631378"/>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100"/>
          <p:cNvSpPr>
            <a:spLocks noChangeArrowheads="1"/>
          </p:cNvSpPr>
          <p:nvPr/>
        </p:nvSpPr>
        <p:spPr bwMode="auto">
          <a:xfrm rot="5400000">
            <a:off x="3498128" y="1674141"/>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101"/>
          <p:cNvSpPr>
            <a:spLocks noChangeArrowheads="1"/>
          </p:cNvSpPr>
          <p:nvPr/>
        </p:nvSpPr>
        <p:spPr bwMode="auto">
          <a:xfrm rot="1858546">
            <a:off x="4006369" y="2117675"/>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102"/>
          <p:cNvSpPr>
            <a:spLocks noChangeArrowheads="1"/>
          </p:cNvSpPr>
          <p:nvPr/>
        </p:nvSpPr>
        <p:spPr bwMode="auto">
          <a:xfrm rot="1858546">
            <a:off x="4086037" y="2100371"/>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6" name="Group 103"/>
          <p:cNvGrpSpPr>
            <a:grpSpLocks/>
          </p:cNvGrpSpPr>
          <p:nvPr/>
        </p:nvGrpSpPr>
        <p:grpSpPr bwMode="auto">
          <a:xfrm>
            <a:off x="4675342" y="2763305"/>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57" name="AutoShape 107"/>
          <p:cNvSpPr>
            <a:spLocks noChangeArrowheads="1"/>
          </p:cNvSpPr>
          <p:nvPr/>
        </p:nvSpPr>
        <p:spPr bwMode="auto">
          <a:xfrm rot="5400000">
            <a:off x="3565494" y="1716813"/>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AutoShape 108"/>
          <p:cNvSpPr>
            <a:spLocks noChangeArrowheads="1"/>
          </p:cNvSpPr>
          <p:nvPr/>
        </p:nvSpPr>
        <p:spPr bwMode="auto">
          <a:xfrm rot="5400000">
            <a:off x="3632860" y="1759576"/>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09"/>
          <p:cNvSpPr>
            <a:spLocks noChangeArrowheads="1"/>
          </p:cNvSpPr>
          <p:nvPr/>
        </p:nvSpPr>
        <p:spPr bwMode="auto">
          <a:xfrm rot="5400000">
            <a:off x="3699054" y="1801167"/>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AutoShape 110"/>
          <p:cNvSpPr>
            <a:spLocks noChangeArrowheads="1"/>
          </p:cNvSpPr>
          <p:nvPr/>
        </p:nvSpPr>
        <p:spPr bwMode="auto">
          <a:xfrm rot="8740270">
            <a:off x="2603988" y="2143630"/>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111"/>
          <p:cNvSpPr>
            <a:spLocks noChangeArrowheads="1"/>
          </p:cNvSpPr>
          <p:nvPr/>
        </p:nvSpPr>
        <p:spPr bwMode="auto">
          <a:xfrm rot="8740270">
            <a:off x="2540722" y="2117675"/>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2" name="Group 112"/>
          <p:cNvGrpSpPr>
            <a:grpSpLocks/>
          </p:cNvGrpSpPr>
          <p:nvPr/>
        </p:nvGrpSpPr>
        <p:grpSpPr bwMode="auto">
          <a:xfrm>
            <a:off x="3432295" y="2752490"/>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3" name="Group 116"/>
          <p:cNvGrpSpPr>
            <a:grpSpLocks/>
          </p:cNvGrpSpPr>
          <p:nvPr/>
        </p:nvGrpSpPr>
        <p:grpSpPr bwMode="auto">
          <a:xfrm>
            <a:off x="2364986" y="2800074"/>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4" name="Group 120"/>
          <p:cNvGrpSpPr>
            <a:grpSpLocks/>
          </p:cNvGrpSpPr>
          <p:nvPr/>
        </p:nvGrpSpPr>
        <p:grpSpPr bwMode="auto">
          <a:xfrm>
            <a:off x="3432295" y="2120918"/>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77" name="Text Box 126"/>
          <p:cNvSpPr txBox="1">
            <a:spLocks noChangeArrowheads="1"/>
          </p:cNvSpPr>
          <p:nvPr/>
        </p:nvSpPr>
        <p:spPr bwMode="auto">
          <a:xfrm>
            <a:off x="5835176" y="1568514"/>
            <a:ext cx="2074677" cy="1323439"/>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400"/>
              </a:lnSpc>
            </a:pPr>
            <a:r>
              <a:rPr kumimoji="1" lang="zh-CN" altLang="en-US" sz="1600" b="1" dirty="0">
                <a:solidFill>
                  <a:srgbClr val="0000FF"/>
                </a:solidFill>
                <a:latin typeface="微软雅黑" pitchFamily="34" charset="-122"/>
                <a:ea typeface="微软雅黑" pitchFamily="34" charset="-122"/>
              </a:rPr>
              <a:t>采用</a:t>
            </a:r>
            <a:r>
              <a:rPr kumimoji="1" lang="zh-CN" altLang="zh-CN" sz="1600" b="1" dirty="0">
                <a:solidFill>
                  <a:srgbClr val="0000FF"/>
                </a:solidFill>
                <a:latin typeface="微软雅黑" pitchFamily="34" charset="-122"/>
                <a:ea typeface="微软雅黑" pitchFamily="34" charset="-122"/>
              </a:rPr>
              <a:t>单播方式</a:t>
            </a:r>
            <a:r>
              <a:rPr kumimoji="1" lang="zh-CN" altLang="en-US" sz="1600" b="1" dirty="0">
                <a:solidFill>
                  <a:srgbClr val="0000FF"/>
                </a:solidFill>
                <a:latin typeface="微软雅黑" pitchFamily="34" charset="-122"/>
                <a:ea typeface="微软雅黑" pitchFamily="34" charset="-122"/>
              </a:rPr>
              <a:t>，</a:t>
            </a:r>
            <a:endParaRPr kumimoji="1" lang="en-US" altLang="zh-CN" sz="1600" b="1" dirty="0">
              <a:solidFill>
                <a:srgbClr val="0000FF"/>
              </a:solidFill>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向</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台主机传送</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同样的视频节目</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需要发送</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个单播</a:t>
            </a:r>
            <a:endParaRPr kumimoji="1" lang="zh-CN" altLang="en-US" sz="1600" b="1" dirty="0">
              <a:latin typeface="微软雅黑" pitchFamily="34" charset="-122"/>
              <a:ea typeface="微软雅黑" pitchFamily="34" charset="-122"/>
            </a:endParaRPr>
          </a:p>
        </p:txBody>
      </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8366"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7547"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4312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896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3785"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1435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2776002"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31813"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40519"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51614"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4612" y="1186836"/>
            <a:ext cx="430439" cy="602615"/>
          </a:xfrm>
          <a:prstGeom prst="rect">
            <a:avLst/>
          </a:prstGeom>
        </p:spPr>
      </p:pic>
      <p:sp>
        <p:nvSpPr>
          <p:cNvPr id="7" name="Line 52"/>
          <p:cNvSpPr>
            <a:spLocks noChangeShapeType="1"/>
          </p:cNvSpPr>
          <p:nvPr/>
        </p:nvSpPr>
        <p:spPr bwMode="auto">
          <a:xfrm flipV="1">
            <a:off x="2412068"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Line 53"/>
          <p:cNvSpPr>
            <a:spLocks noChangeShapeType="1"/>
          </p:cNvSpPr>
          <p:nvPr/>
        </p:nvSpPr>
        <p:spPr bwMode="auto">
          <a:xfrm flipV="1">
            <a:off x="3431344"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4"/>
          <p:cNvSpPr>
            <a:spLocks noChangeShapeType="1"/>
          </p:cNvSpPr>
          <p:nvPr/>
        </p:nvSpPr>
        <p:spPr bwMode="auto">
          <a:xfrm flipH="1" flipV="1">
            <a:off x="3431344"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5"/>
          <p:cNvSpPr>
            <a:spLocks noChangeShapeType="1"/>
          </p:cNvSpPr>
          <p:nvPr/>
        </p:nvSpPr>
        <p:spPr bwMode="auto">
          <a:xfrm>
            <a:off x="4642758"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6"/>
          <p:cNvSpPr>
            <a:spLocks noChangeShapeType="1"/>
          </p:cNvSpPr>
          <p:nvPr/>
        </p:nvSpPr>
        <p:spPr bwMode="auto">
          <a:xfrm flipV="1">
            <a:off x="343134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7"/>
          <p:cNvSpPr>
            <a:spLocks noChangeShapeType="1"/>
          </p:cNvSpPr>
          <p:nvPr/>
        </p:nvSpPr>
        <p:spPr bwMode="auto">
          <a:xfrm>
            <a:off x="2348803"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8"/>
          <p:cNvSpPr>
            <a:spLocks noChangeShapeType="1"/>
          </p:cNvSpPr>
          <p:nvPr/>
        </p:nvSpPr>
        <p:spPr bwMode="auto">
          <a:xfrm>
            <a:off x="3560217"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59"/>
          <p:cNvSpPr txBox="1">
            <a:spLocks noChangeArrowheads="1"/>
          </p:cNvSpPr>
          <p:nvPr/>
        </p:nvSpPr>
        <p:spPr bwMode="auto">
          <a:xfrm>
            <a:off x="2453441" y="4010080"/>
            <a:ext cx="1947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多播组成员共有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a:t>
            </a:r>
          </a:p>
        </p:txBody>
      </p:sp>
      <p:sp>
        <p:nvSpPr>
          <p:cNvPr id="15" name="AutoShape 60"/>
          <p:cNvSpPr>
            <a:spLocks noChangeArrowheads="1"/>
          </p:cNvSpPr>
          <p:nvPr/>
        </p:nvSpPr>
        <p:spPr bwMode="auto">
          <a:xfrm rot="5400000">
            <a:off x="3361905"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AutoShape 61"/>
          <p:cNvSpPr>
            <a:spLocks noChangeArrowheads="1"/>
          </p:cNvSpPr>
          <p:nvPr/>
        </p:nvSpPr>
        <p:spPr bwMode="auto">
          <a:xfrm rot="8740270">
            <a:off x="2665130"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2984972"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19" name="Text Box 64"/>
          <p:cNvSpPr txBox="1">
            <a:spLocks noChangeArrowheads="1"/>
          </p:cNvSpPr>
          <p:nvPr/>
        </p:nvSpPr>
        <p:spPr bwMode="auto">
          <a:xfrm>
            <a:off x="2948653"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p:txBody>
      </p:sp>
      <p:sp>
        <p:nvSpPr>
          <p:cNvPr id="20" name="Text Box 65"/>
          <p:cNvSpPr txBox="1">
            <a:spLocks noChangeArrowheads="1"/>
          </p:cNvSpPr>
          <p:nvPr/>
        </p:nvSpPr>
        <p:spPr bwMode="auto">
          <a:xfrm>
            <a:off x="4117889"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1" name="Text Box 66"/>
          <p:cNvSpPr txBox="1">
            <a:spLocks noChangeArrowheads="1"/>
          </p:cNvSpPr>
          <p:nvPr/>
        </p:nvSpPr>
        <p:spPr bwMode="auto">
          <a:xfrm>
            <a:off x="1839167"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2" name="Text Box 67"/>
          <p:cNvSpPr txBox="1">
            <a:spLocks noChangeArrowheads="1"/>
          </p:cNvSpPr>
          <p:nvPr/>
        </p:nvSpPr>
        <p:spPr bwMode="auto">
          <a:xfrm>
            <a:off x="1093683"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1791"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7836"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3924579"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91"/>
          <p:cNvSpPr txBox="1">
            <a:spLocks noChangeArrowheads="1"/>
          </p:cNvSpPr>
          <p:nvPr/>
        </p:nvSpPr>
        <p:spPr bwMode="auto">
          <a:xfrm>
            <a:off x="2412800"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39" name="Text Box 92"/>
          <p:cNvSpPr txBox="1">
            <a:spLocks noChangeArrowheads="1"/>
          </p:cNvSpPr>
          <p:nvPr/>
        </p:nvSpPr>
        <p:spPr bwMode="auto">
          <a:xfrm>
            <a:off x="3529358"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0" name="Text Box 93"/>
          <p:cNvSpPr txBox="1">
            <a:spLocks noChangeArrowheads="1"/>
          </p:cNvSpPr>
          <p:nvPr/>
        </p:nvSpPr>
        <p:spPr bwMode="auto">
          <a:xfrm>
            <a:off x="4713626" y="2745460"/>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41" name="Text Box 94"/>
          <p:cNvSpPr txBox="1">
            <a:spLocks noChangeArrowheads="1"/>
          </p:cNvSpPr>
          <p:nvPr/>
        </p:nvSpPr>
        <p:spPr bwMode="auto">
          <a:xfrm>
            <a:off x="3968278" y="1886175"/>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2" name="Text Box 95"/>
          <p:cNvSpPr txBox="1">
            <a:spLocks noChangeArrowheads="1"/>
          </p:cNvSpPr>
          <p:nvPr/>
        </p:nvSpPr>
        <p:spPr bwMode="auto">
          <a:xfrm>
            <a:off x="3509916" y="2115743"/>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3" name="Text Box 96"/>
          <p:cNvSpPr txBox="1">
            <a:spLocks noChangeArrowheads="1"/>
          </p:cNvSpPr>
          <p:nvPr/>
        </p:nvSpPr>
        <p:spPr bwMode="auto">
          <a:xfrm>
            <a:off x="2527386" y="1936415"/>
            <a:ext cx="4331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4" name="Text Box 97"/>
          <p:cNvSpPr txBox="1">
            <a:spLocks noChangeArrowheads="1"/>
          </p:cNvSpPr>
          <p:nvPr/>
        </p:nvSpPr>
        <p:spPr bwMode="auto">
          <a:xfrm>
            <a:off x="3534340" y="1455341"/>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50" name="AutoShape 104"/>
          <p:cNvSpPr>
            <a:spLocks noChangeArrowheads="1"/>
          </p:cNvSpPr>
          <p:nvPr/>
        </p:nvSpPr>
        <p:spPr bwMode="auto">
          <a:xfrm rot="5400000">
            <a:off x="4575638" y="2862081"/>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13"/>
          <p:cNvSpPr>
            <a:spLocks noChangeArrowheads="1"/>
          </p:cNvSpPr>
          <p:nvPr/>
        </p:nvSpPr>
        <p:spPr bwMode="auto">
          <a:xfrm rot="5400000">
            <a:off x="3368054" y="2850985"/>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AutoShape 117"/>
          <p:cNvSpPr>
            <a:spLocks noChangeArrowheads="1"/>
          </p:cNvSpPr>
          <p:nvPr/>
        </p:nvSpPr>
        <p:spPr bwMode="auto">
          <a:xfrm rot="5400000">
            <a:off x="2265577" y="2898569"/>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1"/>
          <p:cNvSpPr>
            <a:spLocks noChangeArrowheads="1"/>
          </p:cNvSpPr>
          <p:nvPr/>
        </p:nvSpPr>
        <p:spPr bwMode="auto">
          <a:xfrm rot="5400000">
            <a:off x="3368054" y="2219413"/>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26"/>
          <p:cNvSpPr txBox="1">
            <a:spLocks noChangeArrowheads="1"/>
          </p:cNvSpPr>
          <p:nvPr/>
        </p:nvSpPr>
        <p:spPr bwMode="auto">
          <a:xfrm>
            <a:off x="5453670" y="1301860"/>
            <a:ext cx="2762115" cy="1502976"/>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solidFill>
                  <a:srgbClr val="0000FF"/>
                </a:solidFill>
                <a:latin typeface="微软雅黑" pitchFamily="34" charset="-122"/>
                <a:ea typeface="微软雅黑" pitchFamily="34" charset="-122"/>
              </a:rPr>
              <a:t>采用多播方式，</a:t>
            </a:r>
          </a:p>
          <a:p>
            <a:pPr algn="ctr">
              <a:lnSpc>
                <a:spcPts val="2200"/>
              </a:lnSpc>
            </a:pPr>
            <a:r>
              <a:rPr kumimoji="1" lang="zh-CN" altLang="en-US" sz="1600" b="1" dirty="0">
                <a:latin typeface="微软雅黑" pitchFamily="34" charset="-122"/>
                <a:ea typeface="微软雅黑" pitchFamily="34" charset="-122"/>
              </a:rPr>
              <a:t>只需发送一次到多播组。</a:t>
            </a:r>
          </a:p>
          <a:p>
            <a:pPr algn="ctr">
              <a:lnSpc>
                <a:spcPts val="2200"/>
              </a:lnSpc>
            </a:pPr>
            <a:r>
              <a:rPr kumimoji="1" lang="zh-CN" altLang="en-US" sz="1600" b="1" dirty="0">
                <a:latin typeface="微软雅黑" pitchFamily="34" charset="-122"/>
                <a:ea typeface="微软雅黑" pitchFamily="34" charset="-122"/>
              </a:rPr>
              <a:t>路由器复制分组。</a:t>
            </a:r>
          </a:p>
          <a:p>
            <a:pPr algn="ctr">
              <a:lnSpc>
                <a:spcPts val="2200"/>
              </a:lnSpc>
            </a:pPr>
            <a:r>
              <a:rPr kumimoji="1" lang="zh-CN" altLang="en-US" sz="1600" b="1" dirty="0">
                <a:latin typeface="微软雅黑" pitchFamily="34" charset="-122"/>
                <a:ea typeface="微软雅黑" pitchFamily="34" charset="-122"/>
              </a:rPr>
              <a:t>局域网具有硬件多播功能，不需要复制分组。</a:t>
            </a:r>
          </a:p>
        </p:txBody>
      </p:sp>
      <p:cxnSp>
        <p:nvCxnSpPr>
          <p:cNvPr id="78" name="直接连接符 77"/>
          <p:cNvCxnSpPr>
            <a:stCxn id="8" idx="1"/>
            <a:endCxn id="3" idx="3"/>
          </p:cNvCxnSpPr>
          <p:nvPr/>
        </p:nvCxnSpPr>
        <p:spPr>
          <a:xfrm flipH="1">
            <a:off x="2775051"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79" name="Text Box 126"/>
          <p:cNvSpPr txBox="1">
            <a:spLocks noChangeArrowheads="1"/>
          </p:cNvSpPr>
          <p:nvPr/>
        </p:nvSpPr>
        <p:spPr bwMode="auto">
          <a:xfrm>
            <a:off x="5453671" y="2973630"/>
            <a:ext cx="2762114" cy="1220847"/>
          </a:xfrm>
          <a:prstGeom prst="rect">
            <a:avLst/>
          </a:prstGeom>
          <a:solidFill>
            <a:srgbClr val="00FFFF"/>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latin typeface="微软雅黑" pitchFamily="34" charset="-122"/>
                <a:ea typeface="微软雅黑" pitchFamily="34" charset="-122"/>
              </a:rPr>
              <a:t>当多播组的主机数很大时（如成千上万个），采用多播方式就可明显地减轻网络中各种资源的消耗。</a:t>
            </a:r>
          </a:p>
        </p:txBody>
      </p:sp>
      <p:sp>
        <p:nvSpPr>
          <p:cNvPr id="80" name="Text Box 64"/>
          <p:cNvSpPr txBox="1">
            <a:spLocks noChangeArrowheads="1"/>
          </p:cNvSpPr>
          <p:nvPr/>
        </p:nvSpPr>
        <p:spPr bwMode="auto">
          <a:xfrm>
            <a:off x="17733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1" name="Text Box 64"/>
          <p:cNvSpPr txBox="1">
            <a:spLocks noChangeArrowheads="1"/>
          </p:cNvSpPr>
          <p:nvPr/>
        </p:nvSpPr>
        <p:spPr bwMode="auto">
          <a:xfrm>
            <a:off x="2922088"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2" name="Text Box 64"/>
          <p:cNvSpPr txBox="1">
            <a:spLocks noChangeArrowheads="1"/>
          </p:cNvSpPr>
          <p:nvPr/>
        </p:nvSpPr>
        <p:spPr bwMode="auto">
          <a:xfrm>
            <a:off x="41345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62" name="Line 77"/>
          <p:cNvSpPr>
            <a:spLocks noChangeShapeType="1"/>
          </p:cNvSpPr>
          <p:nvPr/>
        </p:nvSpPr>
        <p:spPr bwMode="auto">
          <a:xfrm>
            <a:off x="2358011"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76"/>
          <p:cNvSpPr>
            <a:spLocks noChangeShapeType="1"/>
          </p:cNvSpPr>
          <p:nvPr/>
        </p:nvSpPr>
        <p:spPr bwMode="auto">
          <a:xfrm flipH="1">
            <a:off x="1961005"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78"/>
          <p:cNvSpPr>
            <a:spLocks noChangeShapeType="1"/>
          </p:cNvSpPr>
          <p:nvPr/>
        </p:nvSpPr>
        <p:spPr bwMode="auto">
          <a:xfrm flipH="1">
            <a:off x="3106811"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79"/>
          <p:cNvSpPr>
            <a:spLocks noChangeShapeType="1"/>
          </p:cNvSpPr>
          <p:nvPr/>
        </p:nvSpPr>
        <p:spPr bwMode="auto">
          <a:xfrm>
            <a:off x="3497230"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Line 80"/>
          <p:cNvSpPr>
            <a:spLocks noChangeShapeType="1"/>
          </p:cNvSpPr>
          <p:nvPr/>
        </p:nvSpPr>
        <p:spPr bwMode="auto">
          <a:xfrm flipH="1">
            <a:off x="4318225"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81"/>
          <p:cNvSpPr>
            <a:spLocks noChangeShapeType="1"/>
          </p:cNvSpPr>
          <p:nvPr/>
        </p:nvSpPr>
        <p:spPr bwMode="auto">
          <a:xfrm>
            <a:off x="4742569"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Text Box 88"/>
          <p:cNvSpPr txBox="1">
            <a:spLocks noChangeArrowheads="1"/>
          </p:cNvSpPr>
          <p:nvPr/>
        </p:nvSpPr>
        <p:spPr bwMode="auto">
          <a:xfrm>
            <a:off x="2106324"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84" name="Text Box 89"/>
          <p:cNvSpPr txBox="1">
            <a:spLocks noChangeArrowheads="1"/>
          </p:cNvSpPr>
          <p:nvPr/>
        </p:nvSpPr>
        <p:spPr bwMode="auto">
          <a:xfrm>
            <a:off x="4516265"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85" name="Text Box 90"/>
          <p:cNvSpPr txBox="1">
            <a:spLocks noChangeArrowheads="1"/>
          </p:cNvSpPr>
          <p:nvPr/>
        </p:nvSpPr>
        <p:spPr bwMode="auto">
          <a:xfrm>
            <a:off x="3304851"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1553"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0734"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3630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214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46972"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53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25000"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33706"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44801"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p>
          <a:p>
            <a:endParaRPr lang="zh-CN" altLang="en-US" dirty="0"/>
          </a:p>
        </p:txBody>
      </p:sp>
      <p:sp>
        <p:nvSpPr>
          <p:cNvPr id="5" name="矩形 4"/>
          <p:cNvSpPr/>
          <p:nvPr/>
        </p:nvSpPr>
        <p:spPr>
          <a:xfrm>
            <a:off x="1321966" y="2838893"/>
            <a:ext cx="6500068" cy="400110"/>
          </a:xfrm>
          <a:prstGeom prst="rect">
            <a:avLst/>
          </a:prstGeom>
          <a:solidFill>
            <a:srgbClr val="990033"/>
          </a:solidFill>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多播地址只能用于目的地址，不能用于源地址</a:t>
            </a:r>
          </a:p>
        </p:txBody>
      </p:sp>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367110" y="1099459"/>
            <a:ext cx="6324322" cy="2817236"/>
            <a:chOff x="1275139" y="2040738"/>
            <a:chExt cx="7592627" cy="3382225"/>
          </a:xfrm>
        </p:grpSpPr>
        <p:sp>
          <p:nvSpPr>
            <p:cNvPr id="6" name="Rectangle 3"/>
            <p:cNvSpPr>
              <a:spLocks noChangeArrowheads="1"/>
            </p:cNvSpPr>
            <p:nvPr/>
          </p:nvSpPr>
          <p:spPr bwMode="auto">
            <a:xfrm>
              <a:off x="1275139" y="4148201"/>
              <a:ext cx="7467604"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Line 4"/>
            <p:cNvSpPr>
              <a:spLocks noChangeShapeType="1"/>
            </p:cNvSpPr>
            <p:nvPr/>
          </p:nvSpPr>
          <p:spPr bwMode="auto">
            <a:xfrm>
              <a:off x="14307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Line 5"/>
            <p:cNvSpPr>
              <a:spLocks noChangeShapeType="1"/>
            </p:cNvSpPr>
            <p:nvPr/>
          </p:nvSpPr>
          <p:spPr bwMode="auto">
            <a:xfrm>
              <a:off x="158628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Line 6"/>
            <p:cNvSpPr>
              <a:spLocks noChangeShapeType="1"/>
            </p:cNvSpPr>
            <p:nvPr/>
          </p:nvSpPr>
          <p:spPr bwMode="auto">
            <a:xfrm>
              <a:off x="17418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Line 7"/>
            <p:cNvSpPr>
              <a:spLocks noChangeShapeType="1"/>
            </p:cNvSpPr>
            <p:nvPr/>
          </p:nvSpPr>
          <p:spPr bwMode="auto">
            <a:xfrm>
              <a:off x="18974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Line 8"/>
            <p:cNvSpPr>
              <a:spLocks noChangeShapeType="1"/>
            </p:cNvSpPr>
            <p:nvPr/>
          </p:nvSpPr>
          <p:spPr bwMode="auto">
            <a:xfrm>
              <a:off x="20530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 name="Line 9"/>
            <p:cNvSpPr>
              <a:spLocks noChangeShapeType="1"/>
            </p:cNvSpPr>
            <p:nvPr/>
          </p:nvSpPr>
          <p:spPr bwMode="auto">
            <a:xfrm>
              <a:off x="22085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 name="Line 10"/>
            <p:cNvSpPr>
              <a:spLocks noChangeShapeType="1"/>
            </p:cNvSpPr>
            <p:nvPr/>
          </p:nvSpPr>
          <p:spPr bwMode="auto">
            <a:xfrm>
              <a:off x="23641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 name="Line 11"/>
            <p:cNvSpPr>
              <a:spLocks noChangeShapeType="1"/>
            </p:cNvSpPr>
            <p:nvPr/>
          </p:nvSpPr>
          <p:spPr bwMode="auto">
            <a:xfrm>
              <a:off x="251973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Line 12"/>
            <p:cNvSpPr>
              <a:spLocks noChangeShapeType="1"/>
            </p:cNvSpPr>
            <p:nvPr/>
          </p:nvSpPr>
          <p:spPr bwMode="auto">
            <a:xfrm>
              <a:off x="26753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 name="Line 13"/>
            <p:cNvSpPr>
              <a:spLocks noChangeShapeType="1"/>
            </p:cNvSpPr>
            <p:nvPr/>
          </p:nvSpPr>
          <p:spPr bwMode="auto">
            <a:xfrm>
              <a:off x="28308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Line 14"/>
            <p:cNvSpPr>
              <a:spLocks noChangeShapeType="1"/>
            </p:cNvSpPr>
            <p:nvPr/>
          </p:nvSpPr>
          <p:spPr bwMode="auto">
            <a:xfrm>
              <a:off x="29864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Line 15"/>
            <p:cNvSpPr>
              <a:spLocks noChangeShapeType="1"/>
            </p:cNvSpPr>
            <p:nvPr/>
          </p:nvSpPr>
          <p:spPr bwMode="auto">
            <a:xfrm>
              <a:off x="31420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Line 16"/>
            <p:cNvSpPr>
              <a:spLocks noChangeShapeType="1"/>
            </p:cNvSpPr>
            <p:nvPr/>
          </p:nvSpPr>
          <p:spPr bwMode="auto">
            <a:xfrm>
              <a:off x="32976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0" name="Line 17"/>
            <p:cNvSpPr>
              <a:spLocks noChangeShapeType="1"/>
            </p:cNvSpPr>
            <p:nvPr/>
          </p:nvSpPr>
          <p:spPr bwMode="auto">
            <a:xfrm>
              <a:off x="34531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1" name="Line 18"/>
            <p:cNvSpPr>
              <a:spLocks noChangeShapeType="1"/>
            </p:cNvSpPr>
            <p:nvPr/>
          </p:nvSpPr>
          <p:spPr bwMode="auto">
            <a:xfrm>
              <a:off x="36087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2" name="Line 19"/>
            <p:cNvSpPr>
              <a:spLocks noChangeShapeType="1"/>
            </p:cNvSpPr>
            <p:nvPr/>
          </p:nvSpPr>
          <p:spPr bwMode="auto">
            <a:xfrm>
              <a:off x="37643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Line 20"/>
            <p:cNvSpPr>
              <a:spLocks noChangeShapeType="1"/>
            </p:cNvSpPr>
            <p:nvPr/>
          </p:nvSpPr>
          <p:spPr bwMode="auto">
            <a:xfrm>
              <a:off x="39199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4" name="Line 21"/>
            <p:cNvSpPr>
              <a:spLocks noChangeShapeType="1"/>
            </p:cNvSpPr>
            <p:nvPr/>
          </p:nvSpPr>
          <p:spPr bwMode="auto">
            <a:xfrm>
              <a:off x="40754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5" name="Line 22"/>
            <p:cNvSpPr>
              <a:spLocks noChangeShapeType="1"/>
            </p:cNvSpPr>
            <p:nvPr/>
          </p:nvSpPr>
          <p:spPr bwMode="auto">
            <a:xfrm>
              <a:off x="42310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6" name="Line 23"/>
            <p:cNvSpPr>
              <a:spLocks noChangeShapeType="1"/>
            </p:cNvSpPr>
            <p:nvPr/>
          </p:nvSpPr>
          <p:spPr bwMode="auto">
            <a:xfrm>
              <a:off x="43866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7" name="Line 24"/>
            <p:cNvSpPr>
              <a:spLocks noChangeShapeType="1"/>
            </p:cNvSpPr>
            <p:nvPr/>
          </p:nvSpPr>
          <p:spPr bwMode="auto">
            <a:xfrm>
              <a:off x="45422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8" name="Line 25"/>
            <p:cNvSpPr>
              <a:spLocks noChangeShapeType="1"/>
            </p:cNvSpPr>
            <p:nvPr/>
          </p:nvSpPr>
          <p:spPr bwMode="auto">
            <a:xfrm>
              <a:off x="46977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9" name="Line 26"/>
            <p:cNvSpPr>
              <a:spLocks noChangeShapeType="1"/>
            </p:cNvSpPr>
            <p:nvPr/>
          </p:nvSpPr>
          <p:spPr bwMode="auto">
            <a:xfrm>
              <a:off x="48533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0" name="Line 27"/>
            <p:cNvSpPr>
              <a:spLocks noChangeShapeType="1"/>
            </p:cNvSpPr>
            <p:nvPr/>
          </p:nvSpPr>
          <p:spPr bwMode="auto">
            <a:xfrm>
              <a:off x="50089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1" name="Rectangle 28"/>
            <p:cNvSpPr>
              <a:spLocks noChangeArrowheads="1"/>
            </p:cNvSpPr>
            <p:nvPr/>
          </p:nvSpPr>
          <p:spPr bwMode="auto">
            <a:xfrm>
              <a:off x="5170866" y="4170426"/>
              <a:ext cx="3563940" cy="42545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32" name="Line 29"/>
            <p:cNvSpPr>
              <a:spLocks noChangeShapeType="1"/>
            </p:cNvSpPr>
            <p:nvPr/>
          </p:nvSpPr>
          <p:spPr bwMode="auto">
            <a:xfrm>
              <a:off x="5164516" y="4148201"/>
              <a:ext cx="0" cy="4572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Line 30"/>
            <p:cNvSpPr>
              <a:spLocks noChangeShapeType="1"/>
            </p:cNvSpPr>
            <p:nvPr/>
          </p:nvSpPr>
          <p:spPr bwMode="auto">
            <a:xfrm>
              <a:off x="53200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4" name="Line 31"/>
            <p:cNvSpPr>
              <a:spLocks noChangeShapeType="1"/>
            </p:cNvSpPr>
            <p:nvPr/>
          </p:nvSpPr>
          <p:spPr bwMode="auto">
            <a:xfrm>
              <a:off x="54756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Line 32"/>
            <p:cNvSpPr>
              <a:spLocks noChangeShapeType="1"/>
            </p:cNvSpPr>
            <p:nvPr/>
          </p:nvSpPr>
          <p:spPr bwMode="auto">
            <a:xfrm>
              <a:off x="56312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Line 33"/>
            <p:cNvSpPr>
              <a:spLocks noChangeShapeType="1"/>
            </p:cNvSpPr>
            <p:nvPr/>
          </p:nvSpPr>
          <p:spPr bwMode="auto">
            <a:xfrm>
              <a:off x="57868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Line 34"/>
            <p:cNvSpPr>
              <a:spLocks noChangeShapeType="1"/>
            </p:cNvSpPr>
            <p:nvPr/>
          </p:nvSpPr>
          <p:spPr bwMode="auto">
            <a:xfrm>
              <a:off x="59423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8" name="Line 35"/>
            <p:cNvSpPr>
              <a:spLocks noChangeShapeType="1"/>
            </p:cNvSpPr>
            <p:nvPr/>
          </p:nvSpPr>
          <p:spPr bwMode="auto">
            <a:xfrm>
              <a:off x="60979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6"/>
            <p:cNvSpPr>
              <a:spLocks noChangeShapeType="1"/>
            </p:cNvSpPr>
            <p:nvPr/>
          </p:nvSpPr>
          <p:spPr bwMode="auto">
            <a:xfrm>
              <a:off x="62535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0" name="Line 37"/>
            <p:cNvSpPr>
              <a:spLocks noChangeShapeType="1"/>
            </p:cNvSpPr>
            <p:nvPr/>
          </p:nvSpPr>
          <p:spPr bwMode="auto">
            <a:xfrm>
              <a:off x="64091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1" name="Line 38"/>
            <p:cNvSpPr>
              <a:spLocks noChangeShapeType="1"/>
            </p:cNvSpPr>
            <p:nvPr/>
          </p:nvSpPr>
          <p:spPr bwMode="auto">
            <a:xfrm>
              <a:off x="65646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2" name="Line 39"/>
            <p:cNvSpPr>
              <a:spLocks noChangeShapeType="1"/>
            </p:cNvSpPr>
            <p:nvPr/>
          </p:nvSpPr>
          <p:spPr bwMode="auto">
            <a:xfrm>
              <a:off x="67202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3" name="Line 40"/>
            <p:cNvSpPr>
              <a:spLocks noChangeShapeType="1"/>
            </p:cNvSpPr>
            <p:nvPr/>
          </p:nvSpPr>
          <p:spPr bwMode="auto">
            <a:xfrm>
              <a:off x="68758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4" name="Line 41"/>
            <p:cNvSpPr>
              <a:spLocks noChangeShapeType="1"/>
            </p:cNvSpPr>
            <p:nvPr/>
          </p:nvSpPr>
          <p:spPr bwMode="auto">
            <a:xfrm>
              <a:off x="70314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Line 42"/>
            <p:cNvSpPr>
              <a:spLocks noChangeShapeType="1"/>
            </p:cNvSpPr>
            <p:nvPr/>
          </p:nvSpPr>
          <p:spPr bwMode="auto">
            <a:xfrm>
              <a:off x="71869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6" name="Line 43"/>
            <p:cNvSpPr>
              <a:spLocks noChangeShapeType="1"/>
            </p:cNvSpPr>
            <p:nvPr/>
          </p:nvSpPr>
          <p:spPr bwMode="auto">
            <a:xfrm>
              <a:off x="73425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7" name="Line 44"/>
            <p:cNvSpPr>
              <a:spLocks noChangeShapeType="1"/>
            </p:cNvSpPr>
            <p:nvPr/>
          </p:nvSpPr>
          <p:spPr bwMode="auto">
            <a:xfrm>
              <a:off x="74981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8" name="Line 45"/>
            <p:cNvSpPr>
              <a:spLocks noChangeShapeType="1"/>
            </p:cNvSpPr>
            <p:nvPr/>
          </p:nvSpPr>
          <p:spPr bwMode="auto">
            <a:xfrm>
              <a:off x="76537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Line 46"/>
            <p:cNvSpPr>
              <a:spLocks noChangeShapeType="1"/>
            </p:cNvSpPr>
            <p:nvPr/>
          </p:nvSpPr>
          <p:spPr bwMode="auto">
            <a:xfrm>
              <a:off x="78092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0" name="Line 47"/>
            <p:cNvSpPr>
              <a:spLocks noChangeShapeType="1"/>
            </p:cNvSpPr>
            <p:nvPr/>
          </p:nvSpPr>
          <p:spPr bwMode="auto">
            <a:xfrm>
              <a:off x="79648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1" name="Line 48"/>
            <p:cNvSpPr>
              <a:spLocks noChangeShapeType="1"/>
            </p:cNvSpPr>
            <p:nvPr/>
          </p:nvSpPr>
          <p:spPr bwMode="auto">
            <a:xfrm>
              <a:off x="812044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2" name="Line 49"/>
            <p:cNvSpPr>
              <a:spLocks noChangeShapeType="1"/>
            </p:cNvSpPr>
            <p:nvPr/>
          </p:nvSpPr>
          <p:spPr bwMode="auto">
            <a:xfrm>
              <a:off x="827601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3" name="Line 50"/>
            <p:cNvSpPr>
              <a:spLocks noChangeShapeType="1"/>
            </p:cNvSpPr>
            <p:nvPr/>
          </p:nvSpPr>
          <p:spPr bwMode="auto">
            <a:xfrm>
              <a:off x="843159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4" name="Line 51"/>
            <p:cNvSpPr>
              <a:spLocks noChangeShapeType="1"/>
            </p:cNvSpPr>
            <p:nvPr/>
          </p:nvSpPr>
          <p:spPr bwMode="auto">
            <a:xfrm>
              <a:off x="85871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5" name="Rectangle 52"/>
            <p:cNvSpPr>
              <a:spLocks noChangeArrowheads="1"/>
            </p:cNvSpPr>
            <p:nvPr/>
          </p:nvSpPr>
          <p:spPr bwMode="auto">
            <a:xfrm>
              <a:off x="13529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6" name="Rectangle 53"/>
            <p:cNvSpPr>
              <a:spLocks noChangeArrowheads="1"/>
            </p:cNvSpPr>
            <p:nvPr/>
          </p:nvSpPr>
          <p:spPr bwMode="auto">
            <a:xfrm>
              <a:off x="19752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7" name="Rectangle 54"/>
            <p:cNvSpPr>
              <a:spLocks noChangeArrowheads="1"/>
            </p:cNvSpPr>
            <p:nvPr/>
          </p:nvSpPr>
          <p:spPr bwMode="auto">
            <a:xfrm>
              <a:off x="25975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Rectangle 55"/>
            <p:cNvSpPr>
              <a:spLocks noChangeArrowheads="1"/>
            </p:cNvSpPr>
            <p:nvPr/>
          </p:nvSpPr>
          <p:spPr bwMode="auto">
            <a:xfrm>
              <a:off x="32198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9" name="Rectangle 56"/>
            <p:cNvSpPr>
              <a:spLocks noChangeArrowheads="1"/>
            </p:cNvSpPr>
            <p:nvPr/>
          </p:nvSpPr>
          <p:spPr bwMode="auto">
            <a:xfrm>
              <a:off x="38421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0" name="Rectangle 57"/>
            <p:cNvSpPr>
              <a:spLocks noChangeArrowheads="1"/>
            </p:cNvSpPr>
            <p:nvPr/>
          </p:nvSpPr>
          <p:spPr bwMode="auto">
            <a:xfrm>
              <a:off x="4464429"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1" name="Rectangle 58"/>
            <p:cNvSpPr>
              <a:spLocks noChangeArrowheads="1"/>
            </p:cNvSpPr>
            <p:nvPr/>
          </p:nvSpPr>
          <p:spPr bwMode="auto">
            <a:xfrm>
              <a:off x="5172454" y="4224401"/>
              <a:ext cx="381000"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2" name="Rectangle 59"/>
            <p:cNvSpPr>
              <a:spLocks noChangeArrowheads="1"/>
            </p:cNvSpPr>
            <p:nvPr/>
          </p:nvSpPr>
          <p:spPr bwMode="auto">
            <a:xfrm>
              <a:off x="57090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3" name="Rectangle 60"/>
            <p:cNvSpPr>
              <a:spLocks noChangeArrowheads="1"/>
            </p:cNvSpPr>
            <p:nvPr/>
          </p:nvSpPr>
          <p:spPr bwMode="auto">
            <a:xfrm>
              <a:off x="63313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4" name="Rectangle 61"/>
            <p:cNvSpPr>
              <a:spLocks noChangeArrowheads="1"/>
            </p:cNvSpPr>
            <p:nvPr/>
          </p:nvSpPr>
          <p:spPr bwMode="auto">
            <a:xfrm>
              <a:off x="69536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5" name="Rectangle 62"/>
            <p:cNvSpPr>
              <a:spLocks noChangeArrowheads="1"/>
            </p:cNvSpPr>
            <p:nvPr/>
          </p:nvSpPr>
          <p:spPr bwMode="auto">
            <a:xfrm>
              <a:off x="75759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6" name="Rectangle 63"/>
            <p:cNvSpPr>
              <a:spLocks noChangeArrowheads="1"/>
            </p:cNvSpPr>
            <p:nvPr/>
          </p:nvSpPr>
          <p:spPr bwMode="auto">
            <a:xfrm>
              <a:off x="8198231"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7" name="Rectangle 64"/>
            <p:cNvSpPr>
              <a:spLocks noChangeArrowheads="1"/>
            </p:cNvSpPr>
            <p:nvPr/>
          </p:nvSpPr>
          <p:spPr bwMode="auto">
            <a:xfrm>
              <a:off x="1819652"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8" name="Rectangle 65"/>
            <p:cNvSpPr>
              <a:spLocks noChangeArrowheads="1"/>
            </p:cNvSpPr>
            <p:nvPr/>
          </p:nvSpPr>
          <p:spPr bwMode="auto">
            <a:xfrm>
              <a:off x="30642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9" name="Rectangle 66"/>
            <p:cNvSpPr>
              <a:spLocks noChangeArrowheads="1"/>
            </p:cNvSpPr>
            <p:nvPr/>
          </p:nvSpPr>
          <p:spPr bwMode="auto">
            <a:xfrm>
              <a:off x="43215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0" name="Rectangle 67"/>
            <p:cNvSpPr>
              <a:spLocks noChangeArrowheads="1"/>
            </p:cNvSpPr>
            <p:nvPr/>
          </p:nvSpPr>
          <p:spPr bwMode="auto">
            <a:xfrm>
              <a:off x="55407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1" name="Rectangle 68"/>
            <p:cNvSpPr>
              <a:spLocks noChangeArrowheads="1"/>
            </p:cNvSpPr>
            <p:nvPr/>
          </p:nvSpPr>
          <p:spPr bwMode="auto">
            <a:xfrm>
              <a:off x="67599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2" name="Rectangle 69"/>
            <p:cNvSpPr>
              <a:spLocks noChangeArrowheads="1"/>
            </p:cNvSpPr>
            <p:nvPr/>
          </p:nvSpPr>
          <p:spPr bwMode="auto">
            <a:xfrm>
              <a:off x="8082342"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3" name="Rectangle 70"/>
            <p:cNvSpPr>
              <a:spLocks noChangeArrowheads="1"/>
            </p:cNvSpPr>
            <p:nvPr/>
          </p:nvSpPr>
          <p:spPr bwMode="auto">
            <a:xfrm>
              <a:off x="3764340" y="2852803"/>
              <a:ext cx="4965702"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4" name="Line 71"/>
            <p:cNvSpPr>
              <a:spLocks noChangeShapeType="1"/>
            </p:cNvSpPr>
            <p:nvPr/>
          </p:nvSpPr>
          <p:spPr bwMode="auto">
            <a:xfrm>
              <a:off x="3919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5" name="Line 72"/>
            <p:cNvSpPr>
              <a:spLocks noChangeShapeType="1"/>
            </p:cNvSpPr>
            <p:nvPr/>
          </p:nvSpPr>
          <p:spPr bwMode="auto">
            <a:xfrm>
              <a:off x="40754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6" name="Line 73"/>
            <p:cNvSpPr>
              <a:spLocks noChangeShapeType="1"/>
            </p:cNvSpPr>
            <p:nvPr/>
          </p:nvSpPr>
          <p:spPr bwMode="auto">
            <a:xfrm>
              <a:off x="4229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Line 74"/>
            <p:cNvSpPr>
              <a:spLocks noChangeShapeType="1"/>
            </p:cNvSpPr>
            <p:nvPr/>
          </p:nvSpPr>
          <p:spPr bwMode="auto">
            <a:xfrm>
              <a:off x="438505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8" name="Line 75"/>
            <p:cNvSpPr>
              <a:spLocks noChangeShapeType="1"/>
            </p:cNvSpPr>
            <p:nvPr/>
          </p:nvSpPr>
          <p:spPr bwMode="auto">
            <a:xfrm>
              <a:off x="454062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9" name="Line 76"/>
            <p:cNvSpPr>
              <a:spLocks noChangeShapeType="1"/>
            </p:cNvSpPr>
            <p:nvPr/>
          </p:nvSpPr>
          <p:spPr bwMode="auto">
            <a:xfrm>
              <a:off x="469620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0" name="Line 77"/>
            <p:cNvSpPr>
              <a:spLocks noChangeShapeType="1"/>
            </p:cNvSpPr>
            <p:nvPr/>
          </p:nvSpPr>
          <p:spPr bwMode="auto">
            <a:xfrm>
              <a:off x="48501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1" name="Line 78"/>
            <p:cNvSpPr>
              <a:spLocks noChangeShapeType="1"/>
            </p:cNvSpPr>
            <p:nvPr/>
          </p:nvSpPr>
          <p:spPr bwMode="auto">
            <a:xfrm>
              <a:off x="5005764" y="2852806"/>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2" name="Line 79"/>
            <p:cNvSpPr>
              <a:spLocks noChangeShapeType="1"/>
            </p:cNvSpPr>
            <p:nvPr/>
          </p:nvSpPr>
          <p:spPr bwMode="auto">
            <a:xfrm>
              <a:off x="516134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3" name="Rectangle 80"/>
            <p:cNvSpPr>
              <a:spLocks noChangeArrowheads="1"/>
            </p:cNvSpPr>
            <p:nvPr/>
          </p:nvSpPr>
          <p:spPr bwMode="auto">
            <a:xfrm>
              <a:off x="5161341" y="2871853"/>
              <a:ext cx="3562351" cy="428624"/>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84" name="Line 81"/>
            <p:cNvSpPr>
              <a:spLocks noChangeShapeType="1"/>
            </p:cNvSpPr>
            <p:nvPr/>
          </p:nvSpPr>
          <p:spPr bwMode="auto">
            <a:xfrm>
              <a:off x="5316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5" name="Line 82"/>
            <p:cNvSpPr>
              <a:spLocks noChangeShapeType="1"/>
            </p:cNvSpPr>
            <p:nvPr/>
          </p:nvSpPr>
          <p:spPr bwMode="auto">
            <a:xfrm>
              <a:off x="5470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6" name="Line 83"/>
            <p:cNvSpPr>
              <a:spLocks noChangeShapeType="1"/>
            </p:cNvSpPr>
            <p:nvPr/>
          </p:nvSpPr>
          <p:spPr bwMode="auto">
            <a:xfrm>
              <a:off x="562648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7" name="Line 84"/>
            <p:cNvSpPr>
              <a:spLocks noChangeShapeType="1"/>
            </p:cNvSpPr>
            <p:nvPr/>
          </p:nvSpPr>
          <p:spPr bwMode="auto">
            <a:xfrm>
              <a:off x="578205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8" name="Line 85"/>
            <p:cNvSpPr>
              <a:spLocks noChangeShapeType="1"/>
            </p:cNvSpPr>
            <p:nvPr/>
          </p:nvSpPr>
          <p:spPr bwMode="auto">
            <a:xfrm>
              <a:off x="593762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9" name="Line 86"/>
            <p:cNvSpPr>
              <a:spLocks noChangeShapeType="1"/>
            </p:cNvSpPr>
            <p:nvPr/>
          </p:nvSpPr>
          <p:spPr bwMode="auto">
            <a:xfrm>
              <a:off x="60916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0" name="Line 87"/>
            <p:cNvSpPr>
              <a:spLocks noChangeShapeType="1"/>
            </p:cNvSpPr>
            <p:nvPr/>
          </p:nvSpPr>
          <p:spPr bwMode="auto">
            <a:xfrm>
              <a:off x="6247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88"/>
            <p:cNvSpPr>
              <a:spLocks noChangeShapeType="1"/>
            </p:cNvSpPr>
            <p:nvPr/>
          </p:nvSpPr>
          <p:spPr bwMode="auto">
            <a:xfrm>
              <a:off x="640276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Line 89"/>
            <p:cNvSpPr>
              <a:spLocks noChangeShapeType="1"/>
            </p:cNvSpPr>
            <p:nvPr/>
          </p:nvSpPr>
          <p:spPr bwMode="auto">
            <a:xfrm>
              <a:off x="65583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3" name="Line 90"/>
            <p:cNvSpPr>
              <a:spLocks noChangeShapeType="1"/>
            </p:cNvSpPr>
            <p:nvPr/>
          </p:nvSpPr>
          <p:spPr bwMode="auto">
            <a:xfrm>
              <a:off x="671233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4" name="Line 91"/>
            <p:cNvSpPr>
              <a:spLocks noChangeShapeType="1"/>
            </p:cNvSpPr>
            <p:nvPr/>
          </p:nvSpPr>
          <p:spPr bwMode="auto">
            <a:xfrm>
              <a:off x="6867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5" name="Line 92"/>
            <p:cNvSpPr>
              <a:spLocks noChangeShapeType="1"/>
            </p:cNvSpPr>
            <p:nvPr/>
          </p:nvSpPr>
          <p:spPr bwMode="auto">
            <a:xfrm>
              <a:off x="7023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6" name="Line 93"/>
            <p:cNvSpPr>
              <a:spLocks noChangeShapeType="1"/>
            </p:cNvSpPr>
            <p:nvPr/>
          </p:nvSpPr>
          <p:spPr bwMode="auto">
            <a:xfrm>
              <a:off x="71790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7" name="Line 94"/>
            <p:cNvSpPr>
              <a:spLocks noChangeShapeType="1"/>
            </p:cNvSpPr>
            <p:nvPr/>
          </p:nvSpPr>
          <p:spPr bwMode="auto">
            <a:xfrm>
              <a:off x="73330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8" name="Line 95"/>
            <p:cNvSpPr>
              <a:spLocks noChangeShapeType="1"/>
            </p:cNvSpPr>
            <p:nvPr/>
          </p:nvSpPr>
          <p:spPr bwMode="auto">
            <a:xfrm>
              <a:off x="748861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9" name="Line 96"/>
            <p:cNvSpPr>
              <a:spLocks noChangeShapeType="1"/>
            </p:cNvSpPr>
            <p:nvPr/>
          </p:nvSpPr>
          <p:spPr bwMode="auto">
            <a:xfrm>
              <a:off x="7644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0" name="Line 97"/>
            <p:cNvSpPr>
              <a:spLocks noChangeShapeType="1"/>
            </p:cNvSpPr>
            <p:nvPr/>
          </p:nvSpPr>
          <p:spPr bwMode="auto">
            <a:xfrm>
              <a:off x="77997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1" name="Line 98"/>
            <p:cNvSpPr>
              <a:spLocks noChangeShapeType="1"/>
            </p:cNvSpPr>
            <p:nvPr/>
          </p:nvSpPr>
          <p:spPr bwMode="auto">
            <a:xfrm>
              <a:off x="79537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2" name="Line 99"/>
            <p:cNvSpPr>
              <a:spLocks noChangeShapeType="1"/>
            </p:cNvSpPr>
            <p:nvPr/>
          </p:nvSpPr>
          <p:spPr bwMode="auto">
            <a:xfrm>
              <a:off x="810933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3" name="Line 100"/>
            <p:cNvSpPr>
              <a:spLocks noChangeShapeType="1"/>
            </p:cNvSpPr>
            <p:nvPr/>
          </p:nvSpPr>
          <p:spPr bwMode="auto">
            <a:xfrm>
              <a:off x="826490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4" name="Line 101"/>
            <p:cNvSpPr>
              <a:spLocks noChangeShapeType="1"/>
            </p:cNvSpPr>
            <p:nvPr/>
          </p:nvSpPr>
          <p:spPr bwMode="auto">
            <a:xfrm>
              <a:off x="842048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5" name="Line 102"/>
            <p:cNvSpPr>
              <a:spLocks noChangeShapeType="1"/>
            </p:cNvSpPr>
            <p:nvPr/>
          </p:nvSpPr>
          <p:spPr bwMode="auto">
            <a:xfrm>
              <a:off x="85744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6" name="Rectangle 103"/>
            <p:cNvSpPr>
              <a:spLocks noChangeArrowheads="1"/>
            </p:cNvSpPr>
            <p:nvPr/>
          </p:nvSpPr>
          <p:spPr bwMode="auto">
            <a:xfrm>
              <a:off x="3842128" y="2929003"/>
              <a:ext cx="465138"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7" name="Rectangle 104"/>
            <p:cNvSpPr>
              <a:spLocks noChangeArrowheads="1"/>
            </p:cNvSpPr>
            <p:nvPr/>
          </p:nvSpPr>
          <p:spPr bwMode="auto">
            <a:xfrm>
              <a:off x="5159754" y="2929003"/>
              <a:ext cx="388937"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08" name="Rectangle 105"/>
            <p:cNvSpPr>
              <a:spLocks noChangeArrowheads="1"/>
            </p:cNvSpPr>
            <p:nvPr/>
          </p:nvSpPr>
          <p:spPr bwMode="auto">
            <a:xfrm>
              <a:off x="4462840" y="2929003"/>
              <a:ext cx="599213"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9" name="Rectangle 106"/>
            <p:cNvSpPr>
              <a:spLocks noChangeArrowheads="1"/>
            </p:cNvSpPr>
            <p:nvPr/>
          </p:nvSpPr>
          <p:spPr bwMode="auto">
            <a:xfrm>
              <a:off x="5704266"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0" name="Rectangle 107"/>
            <p:cNvSpPr>
              <a:spLocks noChangeArrowheads="1"/>
            </p:cNvSpPr>
            <p:nvPr/>
          </p:nvSpPr>
          <p:spPr bwMode="auto">
            <a:xfrm>
              <a:off x="6324980"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1" name="Rectangle 108"/>
            <p:cNvSpPr>
              <a:spLocks noChangeArrowheads="1"/>
            </p:cNvSpPr>
            <p:nvPr/>
          </p:nvSpPr>
          <p:spPr bwMode="auto">
            <a:xfrm>
              <a:off x="6945691"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2" name="Rectangle 109"/>
            <p:cNvSpPr>
              <a:spLocks noChangeArrowheads="1"/>
            </p:cNvSpPr>
            <p:nvPr/>
          </p:nvSpPr>
          <p:spPr bwMode="auto">
            <a:xfrm>
              <a:off x="7566405"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3" name="Rectangle 110"/>
            <p:cNvSpPr>
              <a:spLocks noChangeArrowheads="1"/>
            </p:cNvSpPr>
            <p:nvPr/>
          </p:nvSpPr>
          <p:spPr bwMode="auto">
            <a:xfrm>
              <a:off x="8187118"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4" name="Rectangle 111"/>
            <p:cNvSpPr>
              <a:spLocks noChangeArrowheads="1"/>
            </p:cNvSpPr>
            <p:nvPr/>
          </p:nvSpPr>
          <p:spPr bwMode="auto">
            <a:xfrm>
              <a:off x="4319966" y="2967103"/>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5" name="Rectangle 112"/>
            <p:cNvSpPr>
              <a:spLocks noChangeArrowheads="1"/>
            </p:cNvSpPr>
            <p:nvPr/>
          </p:nvSpPr>
          <p:spPr bwMode="auto">
            <a:xfrm>
              <a:off x="5535991" y="2967103"/>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6" name="Rectangle 113"/>
            <p:cNvSpPr>
              <a:spLocks noChangeArrowheads="1"/>
            </p:cNvSpPr>
            <p:nvPr/>
          </p:nvSpPr>
          <p:spPr bwMode="auto">
            <a:xfrm>
              <a:off x="6752017" y="2967103"/>
              <a:ext cx="153988"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7" name="Rectangle 114"/>
            <p:cNvSpPr>
              <a:spLocks noChangeArrowheads="1"/>
            </p:cNvSpPr>
            <p:nvPr/>
          </p:nvSpPr>
          <p:spPr bwMode="auto">
            <a:xfrm>
              <a:off x="8071230" y="2967103"/>
              <a:ext cx="153987"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21" name="Text Box 118"/>
            <p:cNvSpPr txBox="1">
              <a:spLocks noChangeArrowheads="1"/>
            </p:cNvSpPr>
            <p:nvPr/>
          </p:nvSpPr>
          <p:spPr bwMode="auto">
            <a:xfrm>
              <a:off x="4914947" y="4188850"/>
              <a:ext cx="354489"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0</a:t>
              </a:r>
            </a:p>
          </p:txBody>
        </p:sp>
        <p:sp>
          <p:nvSpPr>
            <p:cNvPr id="123" name="Line 120"/>
            <p:cNvSpPr>
              <a:spLocks noChangeShapeType="1"/>
            </p:cNvSpPr>
            <p:nvPr/>
          </p:nvSpPr>
          <p:spPr bwMode="auto">
            <a:xfrm>
              <a:off x="5161341"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4" name="Line 121"/>
            <p:cNvSpPr>
              <a:spLocks noChangeShapeType="1"/>
            </p:cNvSpPr>
            <p:nvPr/>
          </p:nvSpPr>
          <p:spPr bwMode="auto">
            <a:xfrm>
              <a:off x="8742743"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5" name="Text Box 122"/>
            <p:cNvSpPr txBox="1">
              <a:spLocks noChangeArrowheads="1"/>
            </p:cNvSpPr>
            <p:nvPr/>
          </p:nvSpPr>
          <p:spPr bwMode="auto">
            <a:xfrm>
              <a:off x="3643775"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26" name="Text Box 123"/>
            <p:cNvSpPr txBox="1">
              <a:spLocks noChangeArrowheads="1"/>
            </p:cNvSpPr>
            <p:nvPr/>
          </p:nvSpPr>
          <p:spPr bwMode="auto">
            <a:xfrm>
              <a:off x="4888376"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8</a:t>
              </a:r>
            </a:p>
          </p:txBody>
        </p:sp>
        <p:sp>
          <p:nvSpPr>
            <p:cNvPr id="127" name="Text Box 124"/>
            <p:cNvSpPr txBox="1">
              <a:spLocks noChangeArrowheads="1"/>
            </p:cNvSpPr>
            <p:nvPr/>
          </p:nvSpPr>
          <p:spPr bwMode="auto">
            <a:xfrm>
              <a:off x="6120275"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16</a:t>
              </a:r>
            </a:p>
          </p:txBody>
        </p:sp>
        <p:sp>
          <p:nvSpPr>
            <p:cNvPr id="128" name="Text Box 125"/>
            <p:cNvSpPr txBox="1">
              <a:spLocks noChangeArrowheads="1"/>
            </p:cNvSpPr>
            <p:nvPr/>
          </p:nvSpPr>
          <p:spPr bwMode="auto">
            <a:xfrm>
              <a:off x="7339478"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24</a:t>
              </a:r>
            </a:p>
          </p:txBody>
        </p:sp>
        <p:sp>
          <p:nvSpPr>
            <p:cNvPr id="129" name="Text Box 126"/>
            <p:cNvSpPr txBox="1">
              <a:spLocks noChangeArrowheads="1"/>
            </p:cNvSpPr>
            <p:nvPr/>
          </p:nvSpPr>
          <p:spPr bwMode="auto">
            <a:xfrm>
              <a:off x="8418979"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31</a:t>
              </a:r>
            </a:p>
          </p:txBody>
        </p:sp>
        <p:sp>
          <p:nvSpPr>
            <p:cNvPr id="130" name="Text Box 127"/>
            <p:cNvSpPr txBox="1">
              <a:spLocks noChangeArrowheads="1"/>
            </p:cNvSpPr>
            <p:nvPr/>
          </p:nvSpPr>
          <p:spPr bwMode="auto">
            <a:xfrm>
              <a:off x="2014720" y="2876543"/>
              <a:ext cx="1445666"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D </a:t>
              </a:r>
              <a:r>
                <a:rPr kumimoji="1" lang="zh-CN" altLang="zh-CN" sz="1400" b="1" dirty="0">
                  <a:latin typeface="微软雅黑" pitchFamily="34" charset="-122"/>
                  <a:ea typeface="微软雅黑" pitchFamily="34" charset="-122"/>
                </a:rPr>
                <a:t>类 </a:t>
              </a:r>
              <a:r>
                <a:rPr kumimoji="1" lang="en-US" altLang="zh-CN" sz="1400" b="1" dirty="0">
                  <a:latin typeface="微软雅黑" pitchFamily="34" charset="-122"/>
                  <a:ea typeface="微软雅黑" pitchFamily="34" charset="-122"/>
                </a:rPr>
                <a:t>IP </a:t>
              </a:r>
              <a:r>
                <a:rPr kumimoji="1" lang="zh-CN" altLang="zh-CN" sz="1400" b="1" dirty="0">
                  <a:latin typeface="微软雅黑" pitchFamily="34" charset="-122"/>
                  <a:ea typeface="微软雅黑" pitchFamily="34" charset="-122"/>
                </a:rPr>
                <a:t>地址</a:t>
              </a:r>
              <a:endParaRPr kumimoji="1" lang="zh-CN" altLang="en-US" sz="1400" b="1" dirty="0">
                <a:latin typeface="微软雅黑" pitchFamily="34" charset="-122"/>
                <a:ea typeface="微软雅黑" pitchFamily="34" charset="-122"/>
              </a:endParaRPr>
            </a:p>
          </p:txBody>
        </p:sp>
        <p:sp>
          <p:nvSpPr>
            <p:cNvPr id="131" name="Line 128"/>
            <p:cNvSpPr>
              <a:spLocks noChangeShapeType="1"/>
            </p:cNvSpPr>
            <p:nvPr/>
          </p:nvSpPr>
          <p:spPr bwMode="auto">
            <a:xfrm flipV="1">
              <a:off x="4386641" y="2395604"/>
              <a:ext cx="0" cy="38100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2" name="Line 129"/>
            <p:cNvSpPr>
              <a:spLocks noChangeShapeType="1"/>
            </p:cNvSpPr>
            <p:nvPr/>
          </p:nvSpPr>
          <p:spPr bwMode="auto">
            <a:xfrm flipV="1">
              <a:off x="5161341" y="2395604"/>
              <a:ext cx="0" cy="90804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3" name="Line 130"/>
            <p:cNvSpPr>
              <a:spLocks noChangeShapeType="1"/>
            </p:cNvSpPr>
            <p:nvPr/>
          </p:nvSpPr>
          <p:spPr bwMode="auto">
            <a:xfrm>
              <a:off x="4399341" y="2471803"/>
              <a:ext cx="762001"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4" name="Line 131"/>
            <p:cNvSpPr>
              <a:spLocks noChangeShapeType="1"/>
            </p:cNvSpPr>
            <p:nvPr/>
          </p:nvSpPr>
          <p:spPr bwMode="auto">
            <a:xfrm>
              <a:off x="5170866" y="4870513"/>
              <a:ext cx="3581402"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5" name="Text Box 133"/>
            <p:cNvSpPr txBox="1">
              <a:spLocks noChangeArrowheads="1"/>
            </p:cNvSpPr>
            <p:nvPr/>
          </p:nvSpPr>
          <p:spPr bwMode="auto">
            <a:xfrm>
              <a:off x="5222330" y="2040738"/>
              <a:ext cx="1559210" cy="369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这</a:t>
              </a:r>
              <a:r>
                <a:rPr kumimoji="1" lang="zh-CN" altLang="zh-CN" sz="1400" b="1" dirty="0">
                  <a:solidFill>
                    <a:srgbClr val="C00000"/>
                  </a:solidFill>
                  <a:latin typeface="微软雅黑" pitchFamily="34" charset="-122"/>
                  <a:ea typeface="微软雅黑" pitchFamily="34" charset="-122"/>
                </a:rPr>
                <a:t> 5</a:t>
              </a:r>
              <a:r>
                <a:rPr kumimoji="1" lang="en-US" altLang="zh-CN" sz="1400" b="1" dirty="0">
                  <a:solidFill>
                    <a:srgbClr val="C00000"/>
                  </a:solidFill>
                  <a:latin typeface="微软雅黑" pitchFamily="34" charset="-122"/>
                  <a:ea typeface="微软雅黑" pitchFamily="34" charset="-122"/>
                </a:rPr>
                <a:t> </a:t>
              </a:r>
              <a:r>
                <a:rPr kumimoji="1" lang="zh-CN" altLang="en-US" sz="1400" b="1" dirty="0">
                  <a:solidFill>
                    <a:srgbClr val="C00000"/>
                  </a:solidFill>
                  <a:latin typeface="微软雅黑" pitchFamily="34" charset="-122"/>
                  <a:ea typeface="微软雅黑" pitchFamily="34" charset="-122"/>
                </a:rPr>
                <a:t>位不使用</a:t>
              </a:r>
            </a:p>
          </p:txBody>
        </p:sp>
        <p:sp>
          <p:nvSpPr>
            <p:cNvPr id="136" name="Arc 134"/>
            <p:cNvSpPr>
              <a:spLocks/>
            </p:cNvSpPr>
            <p:nvPr/>
          </p:nvSpPr>
          <p:spPr bwMode="auto">
            <a:xfrm flipH="1">
              <a:off x="4781929" y="2243204"/>
              <a:ext cx="498475" cy="228600"/>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7" name="Line 135"/>
            <p:cNvSpPr>
              <a:spLocks noChangeShapeType="1"/>
            </p:cNvSpPr>
            <p:nvPr/>
          </p:nvSpPr>
          <p:spPr bwMode="auto">
            <a:xfrm>
              <a:off x="1275139" y="4681601"/>
              <a:ext cx="0" cy="7413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8" name="Line 136"/>
            <p:cNvSpPr>
              <a:spLocks noChangeShapeType="1"/>
            </p:cNvSpPr>
            <p:nvPr/>
          </p:nvSpPr>
          <p:spPr bwMode="auto">
            <a:xfrm flipH="1">
              <a:off x="8737981" y="4681601"/>
              <a:ext cx="4763" cy="6905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9" name="Line 137"/>
            <p:cNvSpPr>
              <a:spLocks noChangeShapeType="1"/>
            </p:cNvSpPr>
            <p:nvPr/>
          </p:nvSpPr>
          <p:spPr bwMode="auto">
            <a:xfrm>
              <a:off x="1287840" y="5245163"/>
              <a:ext cx="746760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0" name="Text Box 138"/>
            <p:cNvSpPr txBox="1">
              <a:spLocks noChangeArrowheads="1"/>
            </p:cNvSpPr>
            <p:nvPr/>
          </p:nvSpPr>
          <p:spPr bwMode="auto">
            <a:xfrm>
              <a:off x="4057608" y="5082042"/>
              <a:ext cx="1613096"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b="1" dirty="0">
                  <a:solidFill>
                    <a:srgbClr val="0000FF"/>
                  </a:solidFill>
                  <a:latin typeface="微软雅黑" pitchFamily="34" charset="-122"/>
                  <a:ea typeface="微软雅黑" pitchFamily="34" charset="-122"/>
                </a:rPr>
                <a:t>48 </a:t>
              </a:r>
              <a:r>
                <a:rPr kumimoji="1" lang="zh-CN" altLang="en-US" sz="1200" b="1" dirty="0">
                  <a:solidFill>
                    <a:srgbClr val="0000FF"/>
                  </a:solidFill>
                  <a:latin typeface="微软雅黑" pitchFamily="34" charset="-122"/>
                  <a:ea typeface="微软雅黑" pitchFamily="34" charset="-122"/>
                </a:rPr>
                <a:t>位</a:t>
              </a:r>
              <a:r>
                <a:rPr kumimoji="1" lang="zh-CN" altLang="zh-CN" sz="1200" b="1" dirty="0">
                  <a:solidFill>
                    <a:srgbClr val="0000FF"/>
                  </a:solidFill>
                  <a:latin typeface="微软雅黑" pitchFamily="34" charset="-122"/>
                  <a:ea typeface="微软雅黑" pitchFamily="34" charset="-122"/>
                </a:rPr>
                <a:t>以太网地址</a:t>
              </a:r>
              <a:endParaRPr kumimoji="1" lang="zh-CN" altLang="en-US" sz="1200" b="1" dirty="0">
                <a:solidFill>
                  <a:srgbClr val="0000FF"/>
                </a:solidFill>
                <a:latin typeface="微软雅黑" pitchFamily="34" charset="-122"/>
                <a:ea typeface="微软雅黑" pitchFamily="34" charset="-122"/>
              </a:endParaRPr>
            </a:p>
          </p:txBody>
        </p:sp>
        <p:sp>
          <p:nvSpPr>
            <p:cNvPr id="141" name="Text Box 139"/>
            <p:cNvSpPr txBox="1">
              <a:spLocks noChangeArrowheads="1"/>
            </p:cNvSpPr>
            <p:nvPr/>
          </p:nvSpPr>
          <p:spPr bwMode="auto">
            <a:xfrm>
              <a:off x="1448177" y="3754504"/>
              <a:ext cx="3389387" cy="406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latin typeface="微软雅黑" pitchFamily="34" charset="-122"/>
                  <a:ea typeface="微软雅黑" pitchFamily="34" charset="-122"/>
                </a:rPr>
                <a:t>0      1      0      0       5      E</a:t>
              </a:r>
            </a:p>
          </p:txBody>
        </p:sp>
        <p:sp>
          <p:nvSpPr>
            <p:cNvPr id="142" name="Text Box 140"/>
            <p:cNvSpPr txBox="1">
              <a:spLocks noChangeArrowheads="1"/>
            </p:cNvSpPr>
            <p:nvPr/>
          </p:nvSpPr>
          <p:spPr bwMode="auto">
            <a:xfrm>
              <a:off x="1879468" y="4737470"/>
              <a:ext cx="1083864"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99"/>
                  </a:solidFill>
                  <a:latin typeface="微软雅黑" pitchFamily="34" charset="-122"/>
                  <a:ea typeface="微软雅黑" pitchFamily="34" charset="-122"/>
                </a:rPr>
                <a:t>表示多播</a:t>
              </a:r>
            </a:p>
          </p:txBody>
        </p:sp>
        <p:sp>
          <p:nvSpPr>
            <p:cNvPr id="143" name="Line 141"/>
            <p:cNvSpPr>
              <a:spLocks noChangeShapeType="1"/>
            </p:cNvSpPr>
            <p:nvPr/>
          </p:nvSpPr>
          <p:spPr bwMode="auto">
            <a:xfrm flipH="1" flipV="1">
              <a:off x="2455161" y="4503803"/>
              <a:ext cx="6350" cy="282575"/>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44" name="Text Box 132"/>
            <p:cNvSpPr txBox="1">
              <a:spLocks noChangeArrowheads="1"/>
            </p:cNvSpPr>
            <p:nvPr/>
          </p:nvSpPr>
          <p:spPr bwMode="auto">
            <a:xfrm>
              <a:off x="5719249" y="4683193"/>
              <a:ext cx="2590729"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最</a:t>
              </a:r>
              <a:r>
                <a:rPr kumimoji="1" lang="zh-CN" altLang="zh-CN" sz="1200" b="1">
                  <a:solidFill>
                    <a:srgbClr val="0000FF"/>
                  </a:solidFill>
                  <a:latin typeface="微软雅黑" pitchFamily="34" charset="-122"/>
                  <a:ea typeface="微软雅黑" pitchFamily="34" charset="-122"/>
                </a:rPr>
                <a:t>低 23</a:t>
              </a:r>
              <a:r>
                <a:rPr kumimoji="1" lang="en-US" altLang="zh-CN" sz="1200" b="1">
                  <a:solidFill>
                    <a:srgbClr val="0000FF"/>
                  </a:solidFill>
                  <a:latin typeface="微软雅黑" pitchFamily="34" charset="-122"/>
                  <a:ea typeface="微软雅黑" pitchFamily="34" charset="-122"/>
                </a:rPr>
                <a:t> </a:t>
              </a:r>
              <a:r>
                <a:rPr kumimoji="1" lang="zh-CN" altLang="en-US" sz="1200" b="1">
                  <a:solidFill>
                    <a:srgbClr val="0000FF"/>
                  </a:solidFill>
                  <a:latin typeface="微软雅黑" pitchFamily="34" charset="-122"/>
                  <a:ea typeface="微软雅黑" pitchFamily="34" charset="-122"/>
                </a:rPr>
                <a:t>位来自 </a:t>
              </a:r>
              <a:r>
                <a:rPr kumimoji="1" lang="en-US" altLang="zh-CN" sz="1200" b="1">
                  <a:solidFill>
                    <a:srgbClr val="0000FF"/>
                  </a:solidFill>
                  <a:latin typeface="微软雅黑" pitchFamily="34" charset="-122"/>
                  <a:ea typeface="微软雅黑" pitchFamily="34" charset="-122"/>
                </a:rPr>
                <a:t>D </a:t>
              </a:r>
              <a:r>
                <a:rPr kumimoji="1" lang="zh-CN" altLang="en-US" sz="1200" b="1">
                  <a:solidFill>
                    <a:srgbClr val="0000FF"/>
                  </a:solidFill>
                  <a:latin typeface="微软雅黑" pitchFamily="34" charset="-122"/>
                  <a:ea typeface="微软雅黑" pitchFamily="34" charset="-122"/>
                </a:rPr>
                <a:t>类 </a:t>
              </a:r>
              <a:r>
                <a:rPr kumimoji="1" lang="en-US" altLang="zh-CN" sz="1200" b="1">
                  <a:solidFill>
                    <a:srgbClr val="0000FF"/>
                  </a:solidFill>
                  <a:latin typeface="微软雅黑" pitchFamily="34" charset="-122"/>
                  <a:ea typeface="微软雅黑" pitchFamily="34" charset="-122"/>
                </a:rPr>
                <a:t>IP </a:t>
              </a:r>
              <a:r>
                <a:rPr kumimoji="1" lang="zh-CN" altLang="zh-CN" sz="1200" b="1">
                  <a:solidFill>
                    <a:srgbClr val="0000FF"/>
                  </a:solidFill>
                  <a:latin typeface="微软雅黑" pitchFamily="34" charset="-122"/>
                  <a:ea typeface="微软雅黑" pitchFamily="34" charset="-122"/>
                </a:rPr>
                <a:t>地址</a:t>
              </a:r>
              <a:endParaRPr kumimoji="1" lang="zh-CN" altLang="en-US" sz="1200" b="1">
                <a:solidFill>
                  <a:srgbClr val="0000FF"/>
                </a:solidFill>
                <a:latin typeface="微软雅黑" pitchFamily="34" charset="-122"/>
                <a:ea typeface="微软雅黑" pitchFamily="34" charset="-122"/>
              </a:endParaRPr>
            </a:p>
          </p:txBody>
        </p:sp>
        <p:sp>
          <p:nvSpPr>
            <p:cNvPr id="145" name="Line 142"/>
            <p:cNvSpPr>
              <a:spLocks noChangeShapeType="1"/>
            </p:cNvSpPr>
            <p:nvPr/>
          </p:nvSpPr>
          <p:spPr bwMode="auto">
            <a:xfrm>
              <a:off x="5166102" y="4668905"/>
              <a:ext cx="0" cy="304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6" name="AutoShape 143"/>
            <p:cNvSpPr>
              <a:spLocks noChangeArrowheads="1"/>
            </p:cNvSpPr>
            <p:nvPr/>
          </p:nvSpPr>
          <p:spPr bwMode="auto">
            <a:xfrm>
              <a:off x="6799372" y="3348105"/>
              <a:ext cx="334487" cy="781305"/>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latin typeface="微软雅黑" pitchFamily="34" charset="-122"/>
                <a:ea typeface="微软雅黑" pitchFamily="34" charset="-122"/>
              </a:endParaRPr>
            </a:p>
          </p:txBody>
        </p:sp>
      </p:grpSp>
      <p:sp>
        <p:nvSpPr>
          <p:cNvPr id="148" name="Text Box 119"/>
          <p:cNvSpPr txBox="1">
            <a:spLocks noChangeArrowheads="1"/>
          </p:cNvSpPr>
          <p:nvPr/>
        </p:nvSpPr>
        <p:spPr bwMode="auto">
          <a:xfrm>
            <a:off x="3349326" y="1826103"/>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93515" y="2910403"/>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312628" y="2910403"/>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349326" y="2910403"/>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8" name="矩形 117"/>
          <p:cNvSpPr/>
          <p:nvPr/>
        </p:nvSpPr>
        <p:spPr>
          <a:xfrm>
            <a:off x="1626283" y="4029243"/>
            <a:ext cx="6344699" cy="679801"/>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收到多播数据报的主机，还要在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地址进行过滤，把不是本主机要接收的数据报丢弃。</a:t>
            </a:r>
          </a:p>
        </p:txBody>
      </p:sp>
      <p:sp>
        <p:nvSpPr>
          <p:cNvPr id="119" name="乘号 118"/>
          <p:cNvSpPr/>
          <p:nvPr/>
        </p:nvSpPr>
        <p:spPr>
          <a:xfrm>
            <a:off x="4130642" y="1837911"/>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815369" y="1798717"/>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0" presetClass="entr" presetSubtype="0" fill="hold" grpId="0" nodeType="afterEffect">
                                  <p:stCondLst>
                                    <p:cond delay="0"/>
                                  </p:stCondLst>
                                  <p:childTnLst>
                                    <p:set>
                                      <p:cBhvr>
                                        <p:cTn id="11" dur="1" fill="hold">
                                          <p:stCondLst>
                                            <p:cond delay="0"/>
                                          </p:stCondLst>
                                        </p:cTn>
                                        <p:tgtEl>
                                          <p:spTgt spid="118"/>
                                        </p:tgtEl>
                                        <p:attrNameLst>
                                          <p:attrName>style.visibility</p:attrName>
                                        </p:attrNameLst>
                                      </p:cBhvr>
                                      <p:to>
                                        <p:strVal val="visible"/>
                                      </p:to>
                                    </p:set>
                                    <p:animEffect transition="in" filter="fade">
                                      <p:cBhvr>
                                        <p:cTn id="12"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49" grpId="0"/>
      <p:bldP spid="149" grpId="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组合 16"/>
          <p:cNvGrpSpPr/>
          <p:nvPr/>
        </p:nvGrpSpPr>
        <p:grpSpPr>
          <a:xfrm>
            <a:off x="802441" y="1046469"/>
            <a:ext cx="7344924" cy="2788875"/>
            <a:chOff x="802276" y="1148065"/>
            <a:chExt cx="7464911"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87" name="Text Box 7"/>
            <p:cNvSpPr txBox="1">
              <a:spLocks noChangeArrowheads="1"/>
            </p:cNvSpPr>
            <p:nvPr/>
          </p:nvSpPr>
          <p:spPr bwMode="auto">
            <a:xfrm>
              <a:off x="5207325" y="1366899"/>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多播组</a:t>
              </a:r>
            </a:p>
            <a:p>
              <a:pPr algn="ctr" eaLnBrk="1" hangingPunct="1"/>
              <a:r>
                <a:rPr lang="en-US" altLang="zh-CN" sz="1200" b="1" dirty="0">
                  <a:latin typeface="微软雅黑" panose="020B0503020204020204" pitchFamily="34" charset="-122"/>
                  <a:ea typeface="微软雅黑" panose="020B0503020204020204"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02276"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6" name="Text Box 7"/>
            <p:cNvSpPr txBox="1">
              <a:spLocks noChangeArrowheads="1"/>
            </p:cNvSpPr>
            <p:nvPr/>
          </p:nvSpPr>
          <p:spPr bwMode="auto">
            <a:xfrm>
              <a:off x="6986319"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未参加</a:t>
              </a:r>
              <a:endParaRPr lang="en-US" altLang="zh-CN" sz="1200" b="1" dirty="0">
                <a:latin typeface="微软雅黑" panose="020B0503020204020204" pitchFamily="34" charset="-122"/>
                <a:ea typeface="微软雅黑" panose="020B0503020204020204" pitchFamily="34" charset="-122"/>
              </a:endParaRPr>
            </a:p>
            <a:p>
              <a:pPr algn="ctr" eaLnBrk="1" hangingPunct="1"/>
              <a:r>
                <a:rPr lang="zh-CN" altLang="en-US" sz="1200" b="1" dirty="0">
                  <a:latin typeface="微软雅黑" panose="020B0503020204020204" pitchFamily="34" charset="-122"/>
                  <a:ea typeface="微软雅黑" panose="020B0503020204020204" pitchFamily="34" charset="-122"/>
                </a:rPr>
                <a:t>多播组</a:t>
              </a:r>
              <a:endParaRPr lang="en-US" altLang="zh-CN" sz="1200" b="1" dirty="0">
                <a:latin typeface="微软雅黑" panose="020B0503020204020204" pitchFamily="34" charset="-122"/>
                <a:ea typeface="微软雅黑" panose="020B0503020204020204" pitchFamily="34" charset="-122"/>
              </a:endParaRPr>
            </a:p>
          </p:txBody>
        </p:sp>
        <p:sp>
          <p:nvSpPr>
            <p:cNvPr id="150" name="Text Box 7"/>
            <p:cNvSpPr txBox="1">
              <a:spLocks noChangeArrowheads="1"/>
            </p:cNvSpPr>
            <p:nvPr/>
          </p:nvSpPr>
          <p:spPr bwMode="auto">
            <a:xfrm>
              <a:off x="6986318" y="3157682"/>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20" name="矩形 19"/>
          <p:cNvSpPr/>
          <p:nvPr/>
        </p:nvSpPr>
        <p:spPr>
          <a:xfrm>
            <a:off x="768976" y="3962036"/>
            <a:ext cx="7617319" cy="605294"/>
          </a:xfrm>
          <a:prstGeom prst="rect">
            <a:avLst/>
          </a:prstGeom>
        </p:spPr>
        <p:txBody>
          <a:bodyPr wrap="square">
            <a:spAutoFit/>
          </a:bodyPr>
          <a:lstStyle/>
          <a:p>
            <a:pPr>
              <a:lnSpc>
                <a:spcPts val="2000"/>
              </a:lnSpc>
            </a:pPr>
            <a:r>
              <a:rPr lang="en-US" altLang="zh-CN" sz="1400" b="1" dirty="0">
                <a:latin typeface="微软雅黑" panose="020B0503020204020204" pitchFamily="34" charset="-122"/>
                <a:ea typeface="微软雅黑" panose="020B0503020204020204" pitchFamily="34" charset="-122"/>
              </a:rPr>
              <a:t>IGMP </a:t>
            </a:r>
            <a:r>
              <a:rPr lang="zh-CN" altLang="en-US" sz="1400" b="1" dirty="0">
                <a:latin typeface="微软雅黑" panose="020B0503020204020204" pitchFamily="34" charset="-122"/>
                <a:ea typeface="微软雅黑" panose="020B0503020204020204" pitchFamily="34" charset="-122"/>
              </a:rPr>
              <a:t>协议是让连接在</a:t>
            </a:r>
            <a:r>
              <a:rPr lang="zh-CN" altLang="en-US" sz="1400" b="1" dirty="0">
                <a:solidFill>
                  <a:srgbClr val="C00000"/>
                </a:solidFill>
                <a:latin typeface="微软雅黑" panose="020B0503020204020204" pitchFamily="34" charset="-122"/>
                <a:ea typeface="微软雅黑" panose="020B0503020204020204" pitchFamily="34" charset="-122"/>
              </a:rPr>
              <a:t>本地局域网上</a:t>
            </a:r>
            <a:r>
              <a:rPr lang="zh-CN" altLang="en-US" sz="1400" b="1" dirty="0">
                <a:latin typeface="微软雅黑" panose="020B0503020204020204" pitchFamily="34" charset="-122"/>
                <a:ea typeface="微软雅黑" panose="020B0503020204020204" pitchFamily="34" charset="-122"/>
              </a:rPr>
              <a:t>的</a:t>
            </a:r>
            <a:r>
              <a:rPr lang="zh-CN" altLang="en-US" sz="1400" b="1" dirty="0">
                <a:solidFill>
                  <a:srgbClr val="0000FF"/>
                </a:solidFill>
                <a:latin typeface="微软雅黑" panose="020B0503020204020204" pitchFamily="34" charset="-122"/>
                <a:ea typeface="微软雅黑" panose="020B0503020204020204" pitchFamily="34" charset="-122"/>
              </a:rPr>
              <a:t>多播路由器</a:t>
            </a:r>
            <a:r>
              <a:rPr lang="zh-CN" altLang="en-US" sz="1400" b="1" dirty="0">
                <a:latin typeface="微软雅黑" panose="020B0503020204020204" pitchFamily="34" charset="-122"/>
                <a:ea typeface="微软雅黑" panose="020B0503020204020204" pitchFamily="34" charset="-122"/>
              </a:rPr>
              <a:t>知道</a:t>
            </a:r>
            <a:r>
              <a:rPr lang="zh-CN" altLang="en-US" sz="1400" b="1" dirty="0">
                <a:solidFill>
                  <a:srgbClr val="C00000"/>
                </a:solidFill>
                <a:latin typeface="微软雅黑" panose="020B0503020204020204" pitchFamily="34" charset="-122"/>
                <a:ea typeface="微软雅黑" panose="020B0503020204020204" pitchFamily="34" charset="-122"/>
              </a:rPr>
              <a:t>本局域网上</a:t>
            </a:r>
            <a:r>
              <a:rPr lang="zh-CN" altLang="en-US" sz="1400" b="1" dirty="0">
                <a:solidFill>
                  <a:srgbClr val="0000FF"/>
                </a:solidFill>
                <a:latin typeface="微软雅黑" panose="020B0503020204020204" pitchFamily="34" charset="-122"/>
                <a:ea typeface="微软雅黑" panose="020B0503020204020204" pitchFamily="34" charset="-122"/>
              </a:rPr>
              <a:t>是否</a:t>
            </a:r>
            <a:r>
              <a:rPr lang="zh-CN" altLang="en-US" sz="1400" b="1" dirty="0">
                <a:latin typeface="微软雅黑" panose="020B0503020204020204" pitchFamily="34" charset="-122"/>
                <a:ea typeface="微软雅黑" panose="020B0503020204020204" pitchFamily="34" charset="-122"/>
              </a:rPr>
              <a:t>有主机参加或退出了某个多播组。</a:t>
            </a:r>
            <a:r>
              <a:rPr lang="en-US" altLang="zh-CN" sz="1400" b="1" dirty="0">
                <a:latin typeface="微软雅黑" panose="020B0503020204020204" pitchFamily="34" charset="-122"/>
                <a:ea typeface="微软雅黑" panose="020B0503020204020204" pitchFamily="34" charset="-122"/>
              </a:rPr>
              <a:t>IGMP </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多播组包含的成员数，也</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这些成员都分布在哪些网络上。</a:t>
            </a:r>
          </a:p>
        </p:txBody>
      </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653864" y="2291645"/>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64116" y="2289778"/>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561297" y="1345617"/>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343311" y="1700144"/>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343311" y="2325232"/>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810642" y="2375611"/>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76131" y="2375611"/>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4017549" y="2375611"/>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83038" y="2375611"/>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5029752" y="2375611"/>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105793" y="2375611"/>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65579" y="1614311"/>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9137" y="2121844"/>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31107"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174" y="2881279"/>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3222" y="262937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87733"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5240" y="2375611"/>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317396" y="2799179"/>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35763" y="2207677"/>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49168" y="1360544"/>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919833" y="1265382"/>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71855" y="1530345"/>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76389" y="2567708"/>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67342" y="2560339"/>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213942" y="2827167"/>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65424" y="2291645"/>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72747" y="2084058"/>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116501" y="2558472"/>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92064" y="1251042"/>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2056932" y="1828894"/>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3003656" y="1960719"/>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421417" y="1640434"/>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7112" y="2246863"/>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46316" y="220767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59421" y="155273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216626" y="2009327"/>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66701" y="1978168"/>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323974" y="1858749"/>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729905" y="1276578"/>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95394" y="2037878"/>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509908" y="1569415"/>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7" name="矩形 6"/>
          <p:cNvSpPr/>
          <p:nvPr/>
        </p:nvSpPr>
        <p:spPr>
          <a:xfrm>
            <a:off x="1579733" y="3968371"/>
            <a:ext cx="6002874" cy="707886"/>
          </a:xfrm>
          <a:prstGeom prst="rect">
            <a:avLst/>
          </a:prstGeom>
        </p:spPr>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路由器 </a:t>
            </a:r>
            <a:r>
              <a:rPr lang="en-US" altLang="zh-CN" b="1" dirty="0">
                <a:latin typeface="微软雅黑" panose="020B0503020204020204" pitchFamily="34" charset="-122"/>
                <a:ea typeface="微软雅黑" panose="020B0503020204020204" pitchFamily="34" charset="-122"/>
              </a:rPr>
              <a:t>R </a:t>
            </a:r>
            <a:r>
              <a:rPr lang="zh-CN" altLang="en-US" b="1" dirty="0">
                <a:latin typeface="微软雅黑" panose="020B0503020204020204" pitchFamily="34" charset="-122"/>
                <a:ea typeface="微软雅黑" panose="020B0503020204020204" pitchFamily="34" charset="-122"/>
              </a:rPr>
              <a:t>不应当向网络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转发多播组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的分组，因为网络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上没有多播组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的成员。</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2968067"/>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b="1" dirty="0">
                <a:solidFill>
                  <a:srgbClr val="0000FF"/>
                </a:solidFill>
                <a:latin typeface="微软雅黑" panose="020B0503020204020204" pitchFamily="34" charset="-122"/>
                <a:ea typeface="微软雅黑" panose="020B0503020204020204" pitchFamily="34" charset="-122"/>
              </a:rPr>
              <a:t>R</a:t>
            </a:r>
            <a:r>
              <a:rPr lang="en-US" altLang="zh-CN" sz="1400" b="1" baseline="-25000" dirty="0">
                <a:solidFill>
                  <a:srgbClr val="0000FF"/>
                </a:solidFill>
                <a:latin typeface="微软雅黑" panose="020B0503020204020204" pitchFamily="34" charset="-122"/>
                <a:ea typeface="微软雅黑" panose="020B0503020204020204" pitchFamily="34" charset="-122"/>
              </a:rPr>
              <a:t>0</a:t>
            </a:r>
            <a:r>
              <a:rPr lang="en-US" altLang="zh-CN" sz="1400" b="1" dirty="0">
                <a:solidFill>
                  <a:srgbClr val="0000FF"/>
                </a:solidFill>
                <a:latin typeface="微软雅黑" panose="020B0503020204020204" pitchFamily="34" charset="-122"/>
                <a:ea typeface="微软雅黑" panose="020B0503020204020204" pitchFamily="34" charset="-122"/>
              </a:rPr>
              <a:t> </a:t>
            </a:r>
            <a:r>
              <a:rPr lang="zh-CN" altLang="en-US" sz="1400" b="1" dirty="0">
                <a:solidFill>
                  <a:srgbClr val="0000FF"/>
                </a:solidFill>
                <a:latin typeface="微软雅黑" panose="020B0503020204020204" pitchFamily="34" charset="-122"/>
                <a:ea typeface="微软雅黑" panose="020B0503020204020204" pitchFamily="34" charset="-122"/>
              </a:rPr>
              <a:t>单播路由表</a:t>
            </a:r>
            <a:endParaRPr lang="en-US" altLang="zh-CN" sz="1400" b="1" dirty="0">
              <a:solidFill>
                <a:srgbClr val="0000FF"/>
              </a:solidFill>
              <a:latin typeface="微软雅黑" panose="020B0503020204020204" pitchFamily="34" charset="-122"/>
              <a:ea typeface="微软雅黑" panose="020B0503020204020204" pitchFamily="34" charset="-122"/>
            </a:endParaRPr>
          </a:p>
        </p:txBody>
      </p:sp>
      <p:grpSp>
        <p:nvGrpSpPr>
          <p:cNvPr id="13" name="Group 12"/>
          <p:cNvGrpSpPr>
            <a:grpSpLocks/>
          </p:cNvGrpSpPr>
          <p:nvPr/>
        </p:nvGrpSpPr>
        <p:grpSpPr bwMode="auto">
          <a:xfrm>
            <a:off x="1063036" y="3646724"/>
            <a:ext cx="2169040" cy="586243"/>
            <a:chOff x="2299" y="2980"/>
            <a:chExt cx="2294" cy="328"/>
          </a:xfrm>
        </p:grpSpPr>
        <p:sp>
          <p:nvSpPr>
            <p:cNvPr id="14" name="Rectangle 13"/>
            <p:cNvSpPr>
              <a:spLocks noChangeArrowheads="1"/>
            </p:cNvSpPr>
            <p:nvPr/>
          </p:nvSpPr>
          <p:spPr bwMode="auto">
            <a:xfrm>
              <a:off x="2299" y="2980"/>
              <a:ext cx="182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转发！</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276069"/>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612434"/>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158079"/>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709310" y="1347317"/>
            <a:ext cx="1972793" cy="1084653"/>
            <a:chOff x="1768" y="1467"/>
            <a:chExt cx="1104" cy="608"/>
          </a:xfrm>
        </p:grpSpPr>
        <p:sp>
          <p:nvSpPr>
            <p:cNvPr id="27" name="Rectangle 26"/>
            <p:cNvSpPr>
              <a:spLocks noChangeArrowheads="1"/>
            </p:cNvSpPr>
            <p:nvPr/>
          </p:nvSpPr>
          <p:spPr bwMode="auto">
            <a:xfrm>
              <a:off x="1768" y="154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135778"/>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692644"/>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692643"/>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467950370"/>
              </p:ext>
            </p:extLst>
          </p:nvPr>
        </p:nvGraphicFramePr>
        <p:xfrm>
          <a:off x="3106724" y="3265911"/>
          <a:ext cx="2208519" cy="121920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400" b="1" dirty="0">
                          <a:latin typeface="微软雅黑" panose="020B0503020204020204" pitchFamily="34" charset="-122"/>
                          <a:ea typeface="微软雅黑" panose="020B0503020204020204"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400" b="1" dirty="0">
                          <a:latin typeface="微软雅黑" panose="020B0503020204020204" pitchFamily="34" charset="-122"/>
                          <a:ea typeface="微软雅黑" panose="020B0503020204020204"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400" b="1" dirty="0">
                          <a:solidFill>
                            <a:schemeClr val="tx1"/>
                          </a:solidFill>
                        </a:rPr>
                        <a:t>151.10.0.0/16</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R</a:t>
                      </a:r>
                      <a:r>
                        <a:rPr lang="en-US" altLang="zh-CN" sz="1400" b="1" baseline="-25000" dirty="0">
                          <a:solidFill>
                            <a:srgbClr val="C00000"/>
                          </a:solidFill>
                          <a:latin typeface="微软雅黑" panose="020B0503020204020204" pitchFamily="34" charset="-122"/>
                          <a:ea typeface="微软雅黑" panose="020B0503020204020204" pitchFamily="34" charset="-122"/>
                        </a:rPr>
                        <a:t>1</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400" b="1" dirty="0">
                          <a:solidFill>
                            <a:schemeClr val="tx1"/>
                          </a:solidFill>
                        </a:rPr>
                        <a:t>198.14.32.0/24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400" b="1" dirty="0">
                          <a:solidFill>
                            <a:schemeClr val="tx1"/>
                          </a:solidFill>
                        </a:rPr>
                        <a:t>204.1.16.0/24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554872"/>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502291" y="1551200"/>
            <a:ext cx="1972792" cy="995454"/>
            <a:chOff x="1858" y="1528"/>
            <a:chExt cx="1104" cy="558"/>
          </a:xfrm>
        </p:grpSpPr>
        <p:sp>
          <p:nvSpPr>
            <p:cNvPr id="50" name="Rectangle 26"/>
            <p:cNvSpPr>
              <a:spLocks noChangeArrowheads="1"/>
            </p:cNvSpPr>
            <p:nvPr/>
          </p:nvSpPr>
          <p:spPr bwMode="auto">
            <a:xfrm>
              <a:off x="1858" y="152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135778"/>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646724"/>
            <a:ext cx="2392185" cy="586243"/>
            <a:chOff x="1457" y="2980"/>
            <a:chExt cx="2530" cy="328"/>
          </a:xfrm>
        </p:grpSpPr>
        <p:sp>
          <p:nvSpPr>
            <p:cNvPr id="64" name="Rectangle 13"/>
            <p:cNvSpPr>
              <a:spLocks noChangeArrowheads="1"/>
            </p:cNvSpPr>
            <p:nvPr/>
          </p:nvSpPr>
          <p:spPr bwMode="auto">
            <a:xfrm>
              <a:off x="2032" y="2980"/>
              <a:ext cx="1955"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不是经最短路径传送来的，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丢弃！</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037978"/>
            <a:ext cx="2031707" cy="584775"/>
          </a:xfrm>
          <a:prstGeom prst="rect">
            <a:avLst/>
          </a:prstGeom>
          <a:solidFill>
            <a:srgbClr val="0000FF"/>
          </a:solidFill>
        </p:spPr>
        <p:txBody>
          <a:bodyPr wrap="square">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的要点：检查，转发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b="1" dirty="0"/>
                <a:t>Source</a:t>
              </a:r>
              <a:br>
                <a:rPr lang="en-US" altLang="zh-CN" sz="1400" b="1" dirty="0"/>
              </a:br>
              <a:r>
                <a:rPr lang="en-US" altLang="zh-CN" sz="1400" b="1" dirty="0"/>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多播转发树</a:t>
              </a:r>
              <a:endParaRPr lang="en-US" altLang="zh-CN" sz="1400" b="1"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多播数据报</a:t>
              </a:r>
              <a:endParaRPr lang="en-US" altLang="zh-CN" sz="1400" b="1"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b="1" dirty="0">
                  <a:solidFill>
                    <a:srgbClr val="0000FF"/>
                  </a:solidFill>
                  <a:latin typeface="微软雅黑" panose="020B0503020204020204" pitchFamily="34" charset="-122"/>
                  <a:ea typeface="微软雅黑" panose="020B0503020204020204" pitchFamily="34" charset="-122"/>
                </a:rPr>
                <a:t>不是经最短路径传送来的，</a:t>
              </a:r>
              <a:r>
                <a:rPr lang="zh-CN" altLang="en-US" sz="1400" b="1" dirty="0">
                  <a:solidFill>
                    <a:srgbClr val="990099"/>
                  </a:solidFill>
                  <a:latin typeface="微软雅黑" panose="020B0503020204020204" pitchFamily="34" charset="-122"/>
                  <a:ea typeface="微软雅黑" panose="020B0503020204020204"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panose="020B0503020204020204" pitchFamily="34" charset="-122"/>
              </a:rPr>
              <a:t>如果存在几条同样长度的最短路径，选择 </a:t>
            </a:r>
            <a:r>
              <a:rPr lang="en-US" altLang="zh-CN" sz="1400" dirty="0">
                <a:latin typeface="Montserrat" panose="00000500000000000000" pitchFamily="2" charset="0"/>
                <a:ea typeface="微软雅黑" panose="020B0503020204020204" pitchFamily="34" charset="-122"/>
              </a:rPr>
              <a:t>IP </a:t>
            </a:r>
            <a:r>
              <a:rPr lang="zh-CN" altLang="en-US" sz="1400" dirty="0">
                <a:latin typeface="Montserrat" panose="00000500000000000000" pitchFamily="2" charset="0"/>
                <a:ea typeface="微软雅黑" panose="020B0503020204020204" pitchFamily="34" charset="-122"/>
              </a:rPr>
              <a:t>地址最小的。 </a:t>
            </a:r>
          </a:p>
          <a:p>
            <a:pPr>
              <a:lnSpc>
                <a:spcPts val="2600"/>
              </a:lnSpc>
            </a:pPr>
            <a:endParaRPr lang="en-US" altLang="zh-CN" sz="1400" dirty="0">
              <a:latin typeface="Montserrat" panose="00000500000000000000" pitchFamily="2" charset="0"/>
              <a:ea typeface="微软雅黑" panose="020B0503020204020204" pitchFamily="34" charset="-122"/>
            </a:endParaRPr>
          </a:p>
          <a:p>
            <a:pPr>
              <a:lnSpc>
                <a:spcPts val="2600"/>
              </a:lnSpc>
            </a:pPr>
            <a:r>
              <a:rPr lang="zh-CN" altLang="en-US" sz="1400" dirty="0">
                <a:latin typeface="Montserrat" panose="00000500000000000000" pitchFamily="2" charset="0"/>
                <a:ea typeface="微软雅黑" panose="020B0503020204020204"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剪除没有</a:t>
              </a:r>
            </a:p>
            <a:p>
              <a:pPr algn="ctr"/>
              <a:r>
                <a:rPr lang="zh-CN" altLang="en-US" sz="1400" b="1" dirty="0">
                  <a:latin typeface="微软雅黑" pitchFamily="34" charset="-122"/>
                  <a:ea typeface="微软雅黑"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收到后即丢弃</a:t>
            </a:r>
          </a:p>
        </p:txBody>
      </p:sp>
      <p:sp>
        <p:nvSpPr>
          <p:cNvPr id="107" name="Text Box 126"/>
          <p:cNvSpPr txBox="1">
            <a:spLocks noChangeArrowheads="1"/>
          </p:cNvSpPr>
          <p:nvPr/>
        </p:nvSpPr>
        <p:spPr bwMode="auto">
          <a:xfrm>
            <a:off x="960303" y="2019789"/>
            <a:ext cx="1785473" cy="584775"/>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600" b="1" dirty="0">
                <a:latin typeface="微软雅黑" pitchFamily="34" charset="-122"/>
                <a:ea typeface="微软雅黑" pitchFamily="34" charset="-122"/>
              </a:rPr>
              <a:t>反向路径广播 </a:t>
            </a:r>
            <a:r>
              <a:rPr kumimoji="1" lang="en-US" altLang="zh-CN" sz="1600" b="1" dirty="0">
                <a:latin typeface="微软雅黑" pitchFamily="34" charset="-122"/>
                <a:ea typeface="微软雅黑" pitchFamily="34" charset="-122"/>
              </a:rPr>
              <a:t>RPB </a:t>
            </a:r>
            <a:r>
              <a:rPr kumimoji="1" lang="zh-CN" altLang="en-US" sz="1600" b="1" dirty="0">
                <a:latin typeface="微软雅黑" pitchFamily="34" charset="-122"/>
                <a:ea typeface="微软雅黑"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476767" cy="1305807"/>
            <a:chOff x="257860" y="4685074"/>
            <a:chExt cx="8762175"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6" name="Text Box 31"/>
            <p:cNvSpPr txBox="1">
              <a:spLocks noChangeArrowheads="1"/>
            </p:cNvSpPr>
            <p:nvPr/>
          </p:nvSpPr>
          <p:spPr bwMode="auto">
            <a:xfrm>
              <a:off x="5246975" y="5117122"/>
              <a:ext cx="377306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1</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和网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2</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隧道中通行的单播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1</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2</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b="1" dirty="0">
                <a:latin typeface="微软雅黑" pitchFamily="34" charset="-122"/>
                <a:ea typeface="微软雅黑" pitchFamily="34" charset="-122"/>
              </a:rPr>
              <a:t>隧道技术适用于多播组的位置在地理上很分散的情况</a:t>
            </a:r>
            <a:r>
              <a:rPr kumimoji="1" lang="zh-CN" altLang="en-US" sz="1400" b="1" dirty="0">
                <a:latin typeface="微软雅黑" pitchFamily="34" charset="-122"/>
                <a:ea typeface="微软雅黑"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321649"/>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928074"/>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321649"/>
            <a:ext cx="1636540" cy="1810421"/>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416581"/>
            <a:ext cx="1627651"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4.8</a:t>
            </a:r>
          </a:p>
          <a:p>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endParaRPr lang="zh-CN" altLang="en-US" sz="2000" b="1" dirty="0">
              <a:solidFill>
                <a:schemeClr val="bg1"/>
              </a:solidFill>
              <a:latin typeface="微软雅黑" pitchFamily="34" charset="-122"/>
              <a:ea typeface="微软雅黑" pitchFamily="34" charset="-122"/>
            </a:endParaRPr>
          </a:p>
        </p:txBody>
      </p:sp>
      <p:sp>
        <p:nvSpPr>
          <p:cNvPr id="7" name="Line 16"/>
          <p:cNvSpPr>
            <a:spLocks noChangeShapeType="1"/>
          </p:cNvSpPr>
          <p:nvPr/>
        </p:nvSpPr>
        <p:spPr bwMode="auto">
          <a:xfrm>
            <a:off x="3311894" y="1250212"/>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287349" y="1287105"/>
            <a:ext cx="638187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4.8.1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4.8.2                                           </a:t>
            </a:r>
            <a:r>
              <a:rPr lang="zh-CN" altLang="en-US" sz="2000" b="1" dirty="0">
                <a:solidFill>
                  <a:schemeClr val="bg1"/>
                </a:solidFill>
                <a:latin typeface="微软雅黑" pitchFamily="34" charset="-122"/>
                <a:ea typeface="微软雅黑" pitchFamily="34" charset="-122"/>
              </a:rPr>
              <a:t>网络地址转换 </a:t>
            </a:r>
            <a:r>
              <a:rPr lang="en-US" altLang="zh-CN" sz="2000" b="1" dirty="0">
                <a:solidFill>
                  <a:schemeClr val="bg1"/>
                </a:solidFill>
                <a:latin typeface="微软雅黑" pitchFamily="34" charset="-122"/>
                <a:ea typeface="微软雅黑" pitchFamily="34" charset="-122"/>
              </a:rPr>
              <a:t>NAT</a:t>
            </a:r>
          </a:p>
        </p:txBody>
      </p:sp>
    </p:spTree>
    <p:extLst>
      <p:ext uri="{BB962C8B-B14F-4D97-AF65-F5344CB8AC3E}">
        <p14:creationId xmlns:p14="http://schemas.microsoft.com/office/powerpoint/2010/main" val="977476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80" y="1726593"/>
            <a:ext cx="1104466" cy="1200192"/>
            <a:chOff x="6476180" y="1753752"/>
            <a:chExt cx="1104466" cy="1200192"/>
          </a:xfrm>
        </p:grpSpPr>
        <p:grpSp>
          <p:nvGrpSpPr>
            <p:cNvPr id="67" name="Group 65"/>
            <p:cNvGrpSpPr>
              <a:grpSpLocks/>
            </p:cNvGrpSpPr>
            <p:nvPr/>
          </p:nvGrpSpPr>
          <p:grpSpPr bwMode="auto">
            <a:xfrm>
              <a:off x="6476180" y="1933292"/>
              <a:ext cx="1104466" cy="822867"/>
              <a:chOff x="4656" y="1528"/>
              <a:chExt cx="1011"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282740" y="1708657"/>
            <a:ext cx="1204971" cy="1290585"/>
            <a:chOff x="1338397" y="1735816"/>
            <a:chExt cx="1204971" cy="1290585"/>
          </a:xfrm>
        </p:grpSpPr>
        <p:grpSp>
          <p:nvGrpSpPr>
            <p:cNvPr id="5" name="Group 2"/>
            <p:cNvGrpSpPr>
              <a:grpSpLocks/>
            </p:cNvGrpSpPr>
            <p:nvPr/>
          </p:nvGrpSpPr>
          <p:grpSpPr bwMode="auto">
            <a:xfrm>
              <a:off x="1338397" y="1981696"/>
              <a:ext cx="1204971" cy="871271"/>
              <a:chOff x="-47" y="1576"/>
              <a:chExt cx="1103"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4115962" y="235289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互联网</a:t>
            </a: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4213098" y="205908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861481" y="1689456"/>
            <a:ext cx="3121130" cy="471940"/>
            <a:chOff x="1315" y="1348"/>
            <a:chExt cx="2857" cy="468"/>
          </a:xfrm>
        </p:grpSpPr>
        <p:sp>
          <p:nvSpPr>
            <p:cNvPr id="63"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6" name="Text Box 74"/>
          <p:cNvSpPr txBox="1">
            <a:spLocks noChangeArrowheads="1"/>
          </p:cNvSpPr>
          <p:nvPr/>
        </p:nvSpPr>
        <p:spPr bwMode="auto">
          <a:xfrm>
            <a:off x="3856277" y="280866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10.1.0.0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10.2.0.0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33975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946180"/>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339755"/>
            <a:ext cx="1636540" cy="1810421"/>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4346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4.9</a:t>
            </a:r>
          </a:p>
          <a:p>
            <a:r>
              <a:rPr lang="zh-CN" altLang="en-US" sz="2000" b="1" dirty="0">
                <a:solidFill>
                  <a:schemeClr val="bg1"/>
                </a:solidFill>
                <a:latin typeface="微软雅黑" pitchFamily="34" charset="-122"/>
                <a:ea typeface="微软雅黑" pitchFamily="34" charset="-122"/>
              </a:rPr>
              <a:t>多协议标签交换 </a:t>
            </a:r>
            <a:r>
              <a:rPr lang="en-US" altLang="zh-CN" sz="2000" b="1" dirty="0">
                <a:solidFill>
                  <a:schemeClr val="bg1"/>
                </a:solidFill>
                <a:latin typeface="微软雅黑" pitchFamily="34" charset="-122"/>
                <a:ea typeface="微软雅黑" pitchFamily="34" charset="-122"/>
              </a:rPr>
              <a:t>MPLS</a:t>
            </a:r>
            <a:endParaRPr lang="zh-CN" altLang="en-US" sz="2000" b="1" dirty="0">
              <a:solidFill>
                <a:schemeClr val="bg1"/>
              </a:solidFill>
              <a:latin typeface="微软雅黑" pitchFamily="34" charset="-122"/>
              <a:ea typeface="微软雅黑" pitchFamily="34" charset="-122"/>
            </a:endParaRPr>
          </a:p>
        </p:txBody>
      </p:sp>
      <p:sp>
        <p:nvSpPr>
          <p:cNvPr id="8" name="Rectangle 9"/>
          <p:cNvSpPr>
            <a:spLocks noChangeArrowheads="1"/>
          </p:cNvSpPr>
          <p:nvPr/>
        </p:nvSpPr>
        <p:spPr bwMode="auto">
          <a:xfrm>
            <a:off x="2303831" y="255260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8"/>
          <p:cNvSpPr>
            <a:spLocks noChangeArrowheads="1"/>
          </p:cNvSpPr>
          <p:nvPr/>
        </p:nvSpPr>
        <p:spPr bwMode="auto">
          <a:xfrm>
            <a:off x="2287349" y="1305211"/>
            <a:ext cx="6381872"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4.9.1                                           MPLS </a:t>
            </a:r>
            <a:r>
              <a:rPr lang="zh-CN" altLang="en-US" sz="2000" b="1" dirty="0">
                <a:solidFill>
                  <a:schemeClr val="bg1"/>
                </a:solidFill>
                <a:latin typeface="微软雅黑" pitchFamily="34" charset="-122"/>
                <a:ea typeface="微软雅黑" pitchFamily="34" charset="-122"/>
              </a:rPr>
              <a:t>的工作原理</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4.9.2                                 MPLS </a:t>
            </a:r>
            <a:r>
              <a:rPr lang="zh-CN" altLang="en-US" sz="2000" b="1" dirty="0">
                <a:solidFill>
                  <a:schemeClr val="bg1"/>
                </a:solidFill>
                <a:latin typeface="微软雅黑" pitchFamily="34" charset="-122"/>
                <a:ea typeface="微软雅黑" pitchFamily="34" charset="-122"/>
              </a:rPr>
              <a:t>首部的位置与格式</a:t>
            </a:r>
            <a:endParaRPr lang="en-US" altLang="zh-CN" sz="2000" b="1" dirty="0">
              <a:solidFill>
                <a:schemeClr val="bg1"/>
              </a:solidFill>
              <a:latin typeface="微软雅黑" pitchFamily="34" charset="-122"/>
              <a:ea typeface="微软雅黑" pitchFamily="34" charset="-122"/>
            </a:endParaRP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4.9.3                                               </a:t>
            </a:r>
            <a:r>
              <a:rPr lang="zh-CN" altLang="en-US" sz="2000" b="1" dirty="0">
                <a:solidFill>
                  <a:schemeClr val="bg1"/>
                </a:solidFill>
                <a:latin typeface="微软雅黑" pitchFamily="34" charset="-122"/>
                <a:ea typeface="微软雅黑" pitchFamily="34" charset="-122"/>
              </a:rPr>
              <a:t>新一代的 </a:t>
            </a:r>
            <a:r>
              <a:rPr lang="en-US" altLang="zh-CN" sz="2000" b="1" dirty="0">
                <a:solidFill>
                  <a:schemeClr val="bg1"/>
                </a:solidFill>
                <a:latin typeface="微软雅黑" pitchFamily="34" charset="-122"/>
                <a:ea typeface="微软雅黑" pitchFamily="34" charset="-122"/>
              </a:rPr>
              <a:t>MPLS</a:t>
            </a:r>
          </a:p>
          <a:p>
            <a:endParaRPr lang="zh-CN" altLang="en-US" sz="2000" b="1" dirty="0">
              <a:solidFill>
                <a:schemeClr val="bg1"/>
              </a:solidFill>
              <a:latin typeface="微软雅黑" pitchFamily="34" charset="-122"/>
              <a:ea typeface="微软雅黑" pitchFamily="34" charset="-122"/>
            </a:endParaRPr>
          </a:p>
        </p:txBody>
      </p:sp>
      <p:sp>
        <p:nvSpPr>
          <p:cNvPr id="6" name="Line 16"/>
          <p:cNvSpPr>
            <a:spLocks noChangeShapeType="1"/>
          </p:cNvSpPr>
          <p:nvPr/>
        </p:nvSpPr>
        <p:spPr bwMode="auto">
          <a:xfrm>
            <a:off x="3311894" y="1268318"/>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4193610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1567295"/>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 name="Line 7"/>
          <p:cNvSpPr>
            <a:spLocks noChangeShapeType="1"/>
          </p:cNvSpPr>
          <p:nvPr/>
        </p:nvSpPr>
        <p:spPr bwMode="auto">
          <a:xfrm>
            <a:off x="2894576" y="1508732"/>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 name="Line 8"/>
          <p:cNvSpPr>
            <a:spLocks noChangeShapeType="1"/>
          </p:cNvSpPr>
          <p:nvPr/>
        </p:nvSpPr>
        <p:spPr bwMode="auto">
          <a:xfrm flipV="1">
            <a:off x="4220064" y="1498524"/>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9"/>
          <p:cNvSpPr>
            <a:spLocks noChangeShapeType="1"/>
          </p:cNvSpPr>
          <p:nvPr/>
        </p:nvSpPr>
        <p:spPr bwMode="auto">
          <a:xfrm>
            <a:off x="4221099" y="1567295"/>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10"/>
          <p:cNvSpPr>
            <a:spLocks noChangeShapeType="1"/>
          </p:cNvSpPr>
          <p:nvPr/>
        </p:nvSpPr>
        <p:spPr bwMode="auto">
          <a:xfrm flipV="1">
            <a:off x="6315389" y="1238151"/>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11"/>
          <p:cNvSpPr>
            <a:spLocks noChangeShapeType="1"/>
          </p:cNvSpPr>
          <p:nvPr/>
        </p:nvSpPr>
        <p:spPr bwMode="auto">
          <a:xfrm>
            <a:off x="6049775" y="2322657"/>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Freeform 15"/>
          <p:cNvSpPr>
            <a:spLocks/>
          </p:cNvSpPr>
          <p:nvPr/>
        </p:nvSpPr>
        <p:spPr bwMode="auto">
          <a:xfrm>
            <a:off x="3428964" y="1549534"/>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400" b="1">
              <a:latin typeface="微软雅黑" pitchFamily="34" charset="-122"/>
              <a:ea typeface="微软雅黑" pitchFamily="34" charset="-122"/>
            </a:endParaRPr>
          </a:p>
        </p:txBody>
      </p:sp>
      <p:sp>
        <p:nvSpPr>
          <p:cNvPr id="11" name="Text Box 16"/>
          <p:cNvSpPr txBox="1">
            <a:spLocks noChangeArrowheads="1"/>
          </p:cNvSpPr>
          <p:nvPr/>
        </p:nvSpPr>
        <p:spPr bwMode="auto">
          <a:xfrm>
            <a:off x="4221099" y="1277052"/>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0</a:t>
            </a:r>
          </a:p>
        </p:txBody>
      </p:sp>
      <p:sp>
        <p:nvSpPr>
          <p:cNvPr id="12" name="Text Box 17"/>
          <p:cNvSpPr txBox="1">
            <a:spLocks noChangeArrowheads="1"/>
          </p:cNvSpPr>
          <p:nvPr/>
        </p:nvSpPr>
        <p:spPr bwMode="auto">
          <a:xfrm>
            <a:off x="4108148" y="1589722"/>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1</a:t>
            </a:r>
          </a:p>
        </p:txBody>
      </p:sp>
      <p:sp>
        <p:nvSpPr>
          <p:cNvPr id="13" name="Text Box 18"/>
          <p:cNvSpPr txBox="1">
            <a:spLocks noChangeArrowheads="1"/>
          </p:cNvSpPr>
          <p:nvPr/>
        </p:nvSpPr>
        <p:spPr bwMode="auto">
          <a:xfrm>
            <a:off x="3989366" y="1098472"/>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1</a:t>
            </a:r>
          </a:p>
        </p:txBody>
      </p:sp>
      <p:sp>
        <p:nvSpPr>
          <p:cNvPr id="14" name="Text Box 19"/>
          <p:cNvSpPr txBox="1">
            <a:spLocks noChangeArrowheads="1"/>
          </p:cNvSpPr>
          <p:nvPr/>
        </p:nvSpPr>
        <p:spPr bwMode="auto">
          <a:xfrm>
            <a:off x="6155581" y="1098472"/>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2</a:t>
            </a:r>
          </a:p>
        </p:txBody>
      </p:sp>
      <p:sp>
        <p:nvSpPr>
          <p:cNvPr id="15" name="Text Box 20"/>
          <p:cNvSpPr txBox="1">
            <a:spLocks noChangeArrowheads="1"/>
          </p:cNvSpPr>
          <p:nvPr/>
        </p:nvSpPr>
        <p:spPr bwMode="auto">
          <a:xfrm>
            <a:off x="5746741" y="1860177"/>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3</a:t>
            </a:r>
          </a:p>
        </p:txBody>
      </p:sp>
      <p:sp>
        <p:nvSpPr>
          <p:cNvPr id="16" name="Line 21"/>
          <p:cNvSpPr>
            <a:spLocks noChangeShapeType="1"/>
          </p:cNvSpPr>
          <p:nvPr/>
        </p:nvSpPr>
        <p:spPr bwMode="auto">
          <a:xfrm>
            <a:off x="6049775" y="2374993"/>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54" name="组合 53"/>
          <p:cNvGrpSpPr/>
          <p:nvPr/>
        </p:nvGrpSpPr>
        <p:grpSpPr>
          <a:xfrm>
            <a:off x="2963903" y="1162973"/>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400" b="1">
                <a:latin typeface="微软雅黑" pitchFamily="34" charset="-122"/>
                <a:ea typeface="微软雅黑" pitchFamily="34" charset="-122"/>
              </a:endParaRPr>
            </a:p>
          </p:txBody>
        </p:sp>
      </p:grpSp>
      <p:sp>
        <p:nvSpPr>
          <p:cNvPr id="48" name="Rectangle 26"/>
          <p:cNvSpPr>
            <a:spLocks noChangeArrowheads="1"/>
          </p:cNvSpPr>
          <p:nvPr/>
        </p:nvSpPr>
        <p:spPr bwMode="auto">
          <a:xfrm>
            <a:off x="3424357" y="1172525"/>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0</a:t>
            </a:r>
          </a:p>
        </p:txBody>
      </p:sp>
      <p:sp>
        <p:nvSpPr>
          <p:cNvPr id="18" name="Text Box 27"/>
          <p:cNvSpPr txBox="1">
            <a:spLocks noChangeArrowheads="1"/>
          </p:cNvSpPr>
          <p:nvPr/>
        </p:nvSpPr>
        <p:spPr bwMode="auto">
          <a:xfrm>
            <a:off x="2126974" y="3012114"/>
            <a:ext cx="11192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的转发表</a:t>
            </a:r>
            <a:endParaRPr lang="zh-CN" altLang="en-US" sz="1400" b="1" baseline="-25000" dirty="0">
              <a:latin typeface="微软雅黑" pitchFamily="34" charset="-122"/>
              <a:ea typeface="微软雅黑" pitchFamily="34" charset="-122"/>
            </a:endParaRPr>
          </a:p>
        </p:txBody>
      </p:sp>
      <p:grpSp>
        <p:nvGrpSpPr>
          <p:cNvPr id="19" name="组合 18"/>
          <p:cNvGrpSpPr/>
          <p:nvPr/>
        </p:nvGrpSpPr>
        <p:grpSpPr>
          <a:xfrm rot="60000">
            <a:off x="4856034" y="1720532"/>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400" b="1">
                <a:latin typeface="微软雅黑" pitchFamily="34" charset="-122"/>
                <a:ea typeface="微软雅黑"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1371202"/>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1687073"/>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6"/>
          <p:cNvSpPr txBox="1">
            <a:spLocks noChangeArrowheads="1"/>
          </p:cNvSpPr>
          <p:nvPr/>
        </p:nvSpPr>
        <p:spPr bwMode="auto">
          <a:xfrm>
            <a:off x="2004337" y="1713913"/>
            <a:ext cx="1420582" cy="1320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400" b="1" dirty="0">
                <a:latin typeface="微软雅黑" pitchFamily="34" charset="-122"/>
                <a:ea typeface="微软雅黑" pitchFamily="34" charset="-122"/>
              </a:rPr>
              <a:t>标签   转发接口</a:t>
            </a:r>
          </a:p>
          <a:p>
            <a:pPr>
              <a:lnSpc>
                <a:spcPct val="110000"/>
              </a:lnSpc>
            </a:pPr>
            <a:r>
              <a:rPr lang="zh-CN" altLang="en-US" sz="1400" b="1" dirty="0">
                <a:latin typeface="微软雅黑" pitchFamily="34" charset="-122"/>
                <a:ea typeface="微软雅黑" pitchFamily="34" charset="-122"/>
              </a:rPr>
              <a:t>   </a:t>
            </a:r>
            <a:r>
              <a:rPr lang="en-US" altLang="zh-CN" sz="1400" b="1" dirty="0">
                <a:latin typeface="微软雅黑" pitchFamily="34" charset="-122"/>
                <a:ea typeface="微软雅黑" pitchFamily="34" charset="-122"/>
              </a:rPr>
              <a:t>0           1</a:t>
            </a:r>
          </a:p>
          <a:p>
            <a:pPr>
              <a:lnSpc>
                <a:spcPct val="110000"/>
              </a:lnSpc>
            </a:pPr>
            <a:r>
              <a:rPr lang="en-US" altLang="zh-CN" sz="1400" b="1" dirty="0">
                <a:latin typeface="微软雅黑" pitchFamily="34" charset="-122"/>
                <a:ea typeface="微软雅黑" pitchFamily="34" charset="-122"/>
              </a:rPr>
              <a:t>   1           0</a:t>
            </a:r>
          </a:p>
          <a:p>
            <a:pPr>
              <a:lnSpc>
                <a:spcPct val="110000"/>
              </a:lnSpc>
            </a:pPr>
            <a:r>
              <a:rPr lang="en-US" altLang="zh-CN" sz="1400" b="1" dirty="0">
                <a:latin typeface="微软雅黑" pitchFamily="34" charset="-122"/>
                <a:ea typeface="微软雅黑" pitchFamily="34" charset="-122"/>
              </a:rPr>
              <a:t>   2           1</a:t>
            </a:r>
          </a:p>
          <a:p>
            <a:pPr>
              <a:lnSpc>
                <a:spcPct val="110000"/>
              </a:lnSpc>
            </a:pPr>
            <a:r>
              <a:rPr lang="en-US" altLang="zh-CN" sz="1400" b="1" dirty="0">
                <a:latin typeface="微软雅黑" pitchFamily="34" charset="-122"/>
                <a:ea typeface="微软雅黑" pitchFamily="34" charset="-122"/>
              </a:rPr>
              <a:t>   3           1</a:t>
            </a:r>
          </a:p>
        </p:txBody>
      </p:sp>
      <p:sp>
        <p:nvSpPr>
          <p:cNvPr id="23" name="Line 13"/>
          <p:cNvSpPr>
            <a:spLocks noChangeShapeType="1"/>
          </p:cNvSpPr>
          <p:nvPr/>
        </p:nvSpPr>
        <p:spPr bwMode="auto">
          <a:xfrm flipV="1">
            <a:off x="1991725" y="1997206"/>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14"/>
          <p:cNvSpPr>
            <a:spLocks noChangeShapeType="1"/>
          </p:cNvSpPr>
          <p:nvPr/>
        </p:nvSpPr>
        <p:spPr bwMode="auto">
          <a:xfrm>
            <a:off x="2505986" y="1687073"/>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5" name="组合 24"/>
          <p:cNvGrpSpPr/>
          <p:nvPr/>
        </p:nvGrpSpPr>
        <p:grpSpPr>
          <a:xfrm>
            <a:off x="5370820" y="2302961"/>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2170837"/>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1506210"/>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1373715"/>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AutoShape 5"/>
          <p:cNvSpPr>
            <a:spLocks noChangeArrowheads="1"/>
          </p:cNvSpPr>
          <p:nvPr/>
        </p:nvSpPr>
        <p:spPr bwMode="auto">
          <a:xfrm>
            <a:off x="545144" y="611481"/>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51" name="Rectangle 6"/>
          <p:cNvSpPr>
            <a:spLocks noChangeArrowheads="1"/>
          </p:cNvSpPr>
          <p:nvPr/>
        </p:nvSpPr>
        <p:spPr bwMode="auto">
          <a:xfrm>
            <a:off x="2156973" y="586794"/>
            <a:ext cx="483292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4.9  </a:t>
            </a:r>
            <a:r>
              <a:rPr lang="zh-CN" altLang="en-US" sz="2400" b="1" dirty="0">
                <a:solidFill>
                  <a:schemeClr val="bg1"/>
                </a:solidFill>
                <a:latin typeface="微软雅黑" pitchFamily="34" charset="-122"/>
                <a:ea typeface="微软雅黑" pitchFamily="34" charset="-122"/>
              </a:rPr>
              <a:t>多协议标签交换 </a:t>
            </a:r>
            <a:r>
              <a:rPr lang="en-US" altLang="zh-CN" sz="2400" b="1" dirty="0">
                <a:solidFill>
                  <a:schemeClr val="bg1"/>
                </a:solidFill>
                <a:latin typeface="微软雅黑" pitchFamily="34" charset="-122"/>
                <a:ea typeface="微软雅黑" pitchFamily="34" charset="-122"/>
              </a:rPr>
              <a:t>MPLS</a:t>
            </a:r>
          </a:p>
        </p:txBody>
      </p:sp>
      <p:sp>
        <p:nvSpPr>
          <p:cNvPr id="52" name="矩形 51"/>
          <p:cNvSpPr/>
          <p:nvPr/>
        </p:nvSpPr>
        <p:spPr>
          <a:xfrm>
            <a:off x="680945" y="3334592"/>
            <a:ext cx="7521493" cy="1220847"/>
          </a:xfrm>
          <a:prstGeom prst="rect">
            <a:avLst/>
          </a:prstGeom>
        </p:spPr>
        <p:txBody>
          <a:bodyPr wrap="square">
            <a:spAutoFit/>
          </a:bodyPr>
          <a:lstStyle/>
          <a:p>
            <a:pPr marL="285750" indent="-285750">
              <a:lnSpc>
                <a:spcPts val="2200"/>
              </a:lnSpc>
              <a:buFont typeface="Wingdings" panose="05000000000000000000" pitchFamily="2" charset="2"/>
              <a:buChar char="l"/>
            </a:pPr>
            <a:r>
              <a:rPr lang="en-US" altLang="zh-CN" sz="1600" b="1" dirty="0">
                <a:latin typeface="微软雅黑" panose="020B0503020204020204" pitchFamily="34" charset="-122"/>
                <a:ea typeface="微软雅黑" panose="020B0503020204020204" pitchFamily="34" charset="-122"/>
              </a:rPr>
              <a:t>MPLS (</a:t>
            </a:r>
            <a:r>
              <a:rPr lang="en-US" altLang="zh-CN" sz="1600" b="1" dirty="0" err="1">
                <a:latin typeface="微软雅黑" panose="020B0503020204020204" pitchFamily="34" charset="-122"/>
                <a:ea typeface="微软雅黑" panose="020B0503020204020204" pitchFamily="34" charset="-122"/>
              </a:rPr>
              <a:t>MultiProtocol</a:t>
            </a:r>
            <a:r>
              <a:rPr lang="en-US" altLang="zh-CN" sz="1600" b="1" dirty="0">
                <a:latin typeface="微软雅黑" panose="020B0503020204020204" pitchFamily="34" charset="-122"/>
                <a:ea typeface="微软雅黑" panose="020B0503020204020204" pitchFamily="34" charset="-122"/>
              </a:rPr>
              <a:t> Label Switching)</a:t>
            </a:r>
            <a:r>
              <a:rPr lang="zh-CN" altLang="en-US" sz="1600" b="1" dirty="0">
                <a:latin typeface="微软雅黑" panose="020B0503020204020204" pitchFamily="34" charset="-122"/>
                <a:ea typeface="微软雅黑" panose="020B0503020204020204" pitchFamily="34" charset="-122"/>
              </a:rPr>
              <a:t>：互联网建议标准。</a:t>
            </a:r>
            <a:endParaRPr lang="en-US" altLang="zh-CN" sz="1600" b="1" dirty="0">
              <a:latin typeface="微软雅黑" panose="020B0503020204020204" pitchFamily="34" charset="-122"/>
              <a:ea typeface="微软雅黑" panose="020B0503020204020204" pitchFamily="34" charset="-122"/>
            </a:endParaRPr>
          </a:p>
          <a:p>
            <a:pPr marL="285750" indent="-285750">
              <a:lnSpc>
                <a:spcPts val="22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多协议：</a:t>
            </a:r>
            <a:r>
              <a:rPr lang="zh-CN" altLang="en-US" sz="1600" b="1" dirty="0">
                <a:latin typeface="微软雅黑" panose="020B0503020204020204" pitchFamily="34" charset="-122"/>
                <a:ea typeface="微软雅黑" panose="020B0503020204020204" pitchFamily="34" charset="-122"/>
              </a:rPr>
              <a:t>在 </a:t>
            </a:r>
            <a:r>
              <a:rPr lang="en-US" altLang="zh-CN" sz="1600" b="1" dirty="0">
                <a:latin typeface="微软雅黑" panose="020B0503020204020204" pitchFamily="34" charset="-122"/>
                <a:ea typeface="微软雅黑" panose="020B0503020204020204" pitchFamily="34" charset="-122"/>
              </a:rPr>
              <a:t>MPLS </a:t>
            </a:r>
            <a:r>
              <a:rPr lang="zh-CN" altLang="en-US" sz="1600" b="1" dirty="0">
                <a:latin typeface="微软雅黑" panose="020B0503020204020204" pitchFamily="34" charset="-122"/>
                <a:ea typeface="微软雅黑" panose="020B0503020204020204" pitchFamily="34" charset="-122"/>
              </a:rPr>
              <a:t>的上层可以采用多种协议。</a:t>
            </a:r>
          </a:p>
          <a:p>
            <a:pPr marL="285750" indent="-285750">
              <a:lnSpc>
                <a:spcPts val="22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标签：</a:t>
            </a:r>
            <a:r>
              <a:rPr lang="en-US" altLang="zh-CN" sz="1600" b="1" dirty="0">
                <a:latin typeface="微软雅黑" panose="020B0503020204020204" pitchFamily="34" charset="-122"/>
                <a:ea typeface="微软雅黑" panose="020B0503020204020204" pitchFamily="34" charset="-122"/>
              </a:rPr>
              <a:t>MPLS </a:t>
            </a:r>
            <a:r>
              <a:rPr lang="zh-CN" altLang="en-US" sz="1600" b="1" dirty="0">
                <a:latin typeface="微软雅黑" panose="020B0503020204020204" pitchFamily="34" charset="-122"/>
                <a:ea typeface="微软雅黑" panose="020B0503020204020204" pitchFamily="34" charset="-122"/>
              </a:rPr>
              <a:t>利用</a:t>
            </a:r>
            <a:r>
              <a:rPr lang="zh-CN" altLang="en-US" sz="1600" b="1" dirty="0">
                <a:solidFill>
                  <a:srgbClr val="0000FF"/>
                </a:solidFill>
                <a:latin typeface="微软雅黑" panose="020B0503020204020204" pitchFamily="34" charset="-122"/>
                <a:ea typeface="微软雅黑" panose="020B0503020204020204" pitchFamily="34" charset="-122"/>
              </a:rPr>
              <a:t>面向连接</a:t>
            </a:r>
            <a:r>
              <a:rPr lang="zh-CN" altLang="en-US" sz="1600" b="1" dirty="0">
                <a:latin typeface="微软雅黑" panose="020B0503020204020204" pitchFamily="34" charset="-122"/>
                <a:ea typeface="微软雅黑" panose="020B0503020204020204" pitchFamily="34" charset="-122"/>
              </a:rPr>
              <a:t>技术，使每个分组携带一个叫做标签 </a:t>
            </a:r>
            <a:r>
              <a:rPr lang="en-US" altLang="zh-CN" sz="1600" b="1" dirty="0">
                <a:latin typeface="微软雅黑" panose="020B0503020204020204" pitchFamily="34" charset="-122"/>
                <a:ea typeface="微软雅黑" panose="020B0503020204020204" pitchFamily="34" charset="-122"/>
              </a:rPr>
              <a:t>(label) </a:t>
            </a:r>
            <a:r>
              <a:rPr lang="zh-CN" altLang="en-US" sz="1600" b="1" dirty="0">
                <a:latin typeface="微软雅黑" panose="020B0503020204020204" pitchFamily="34" charset="-122"/>
                <a:ea typeface="微软雅黑" panose="020B0503020204020204" pitchFamily="34" charset="-122"/>
              </a:rPr>
              <a:t>的小整数。标签交换路由器用</a:t>
            </a:r>
            <a:r>
              <a:rPr lang="zh-CN" altLang="en-US" sz="1600" b="1" dirty="0">
                <a:solidFill>
                  <a:srgbClr val="0000FF"/>
                </a:solidFill>
                <a:latin typeface="微软雅黑" panose="020B0503020204020204" pitchFamily="34" charset="-122"/>
                <a:ea typeface="微软雅黑" panose="020B0503020204020204" pitchFamily="34" charset="-122"/>
              </a:rPr>
              <a:t>标签值</a:t>
            </a:r>
            <a:r>
              <a:rPr lang="zh-CN" altLang="en-US" sz="1600" b="1" dirty="0">
                <a:latin typeface="微软雅黑" panose="020B0503020204020204" pitchFamily="34" charset="-122"/>
                <a:ea typeface="微软雅黑" panose="020B0503020204020204" pitchFamily="34" charset="-122"/>
              </a:rPr>
              <a:t>检索转发表，实现分组的快速转发。</a:t>
            </a:r>
          </a:p>
        </p:txBody>
      </p:sp>
      <p:sp>
        <p:nvSpPr>
          <p:cNvPr id="53" name="Line 14"/>
          <p:cNvSpPr>
            <a:spLocks noChangeShapeType="1"/>
          </p:cNvSpPr>
          <p:nvPr/>
        </p:nvSpPr>
        <p:spPr bwMode="auto">
          <a:xfrm flipH="1">
            <a:off x="1652776" y="2133496"/>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3834468"/>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32" name="Text Box 30"/>
          <p:cNvSpPr txBox="1">
            <a:spLocks noChangeArrowheads="1"/>
          </p:cNvSpPr>
          <p:nvPr/>
        </p:nvSpPr>
        <p:spPr bwMode="auto">
          <a:xfrm>
            <a:off x="1411660" y="3717410"/>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b="1" dirty="0">
                <a:latin typeface="微软雅黑" pitchFamily="34" charset="-122"/>
                <a:ea typeface="微软雅黑" pitchFamily="34" charset="-122"/>
              </a:rPr>
              <a:t>普通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3775452"/>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461262"/>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b="1">
                <a:latin typeface="微软雅黑" pitchFamily="34" charset="-122"/>
                <a:ea typeface="微软雅黑"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打上标签</a:t>
              </a:r>
            </a:p>
          </p:txBody>
        </p:sp>
      </p:grpSp>
      <p:grpSp>
        <p:nvGrpSpPr>
          <p:cNvPr id="115" name="组合 114"/>
          <p:cNvGrpSpPr/>
          <p:nvPr/>
        </p:nvGrpSpPr>
        <p:grpSpPr>
          <a:xfrm>
            <a:off x="6512026" y="1462305"/>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b="1">
                <a:latin typeface="微软雅黑" pitchFamily="34" charset="-122"/>
                <a:ea typeface="微软雅黑"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371425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371741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普通路由器</a:t>
            </a:r>
          </a:p>
        </p:txBody>
      </p:sp>
      <p:sp>
        <p:nvSpPr>
          <p:cNvPr id="73" name="Text Box 72"/>
          <p:cNvSpPr txBox="1">
            <a:spLocks noChangeArrowheads="1"/>
          </p:cNvSpPr>
          <p:nvPr/>
        </p:nvSpPr>
        <p:spPr bwMode="auto">
          <a:xfrm>
            <a:off x="6502947" y="3717410"/>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标签交换路由器 </a:t>
            </a:r>
            <a:r>
              <a:rPr kumimoji="1" lang="en-US" altLang="zh-CN" sz="1200" b="1" dirty="0">
                <a:latin typeface="微软雅黑" pitchFamily="34" charset="-122"/>
                <a:ea typeface="微软雅黑" pitchFamily="34" charset="-122"/>
              </a:rPr>
              <a:t>LSR</a:t>
            </a:r>
          </a:p>
        </p:txBody>
      </p:sp>
      <p:sp>
        <p:nvSpPr>
          <p:cNvPr id="74" name="Text Box 73"/>
          <p:cNvSpPr txBox="1">
            <a:spLocks noChangeArrowheads="1"/>
          </p:cNvSpPr>
          <p:nvPr/>
        </p:nvSpPr>
        <p:spPr bwMode="auto">
          <a:xfrm>
            <a:off x="3133748" y="3717410"/>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b="1" dirty="0">
                <a:latin typeface="微软雅黑" pitchFamily="34" charset="-122"/>
                <a:ea typeface="微软雅黑" pitchFamily="34" charset="-122"/>
              </a:rPr>
              <a:t>打上标签的分组</a:t>
            </a:r>
          </a:p>
        </p:txBody>
      </p:sp>
      <p:grpSp>
        <p:nvGrpSpPr>
          <p:cNvPr id="110" name="组合 109"/>
          <p:cNvGrpSpPr/>
          <p:nvPr/>
        </p:nvGrpSpPr>
        <p:grpSpPr>
          <a:xfrm>
            <a:off x="1347389" y="1173259"/>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b="1">
                <a:latin typeface="微软雅黑" pitchFamily="34" charset="-122"/>
                <a:ea typeface="微软雅黑"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b="1">
                <a:latin typeface="微软雅黑" pitchFamily="34" charset="-122"/>
                <a:ea typeface="微软雅黑"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6" name="Text Box 24"/>
            <p:cNvSpPr txBox="1">
              <a:spLocks noChangeArrowheads="1"/>
            </p:cNvSpPr>
            <p:nvPr/>
          </p:nvSpPr>
          <p:spPr bwMode="auto">
            <a:xfrm>
              <a:off x="4094428" y="1259189"/>
              <a:ext cx="1032655" cy="2893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b="1" dirty="0">
                  <a:solidFill>
                    <a:srgbClr val="000099"/>
                  </a:solidFill>
                  <a:latin typeface="微软雅黑" pitchFamily="34" charset="-122"/>
                  <a:ea typeface="微软雅黑" pitchFamily="34" charset="-122"/>
                </a:rPr>
                <a:t>MPLS </a:t>
              </a:r>
              <a:r>
                <a:rPr kumimoji="1" lang="zh-CN" altLang="en-US" sz="1600" b="1" dirty="0">
                  <a:solidFill>
                    <a:srgbClr val="000099"/>
                  </a:solidFill>
                  <a:latin typeface="微软雅黑" pitchFamily="34" charset="-122"/>
                  <a:ea typeface="微软雅黑"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2" name="Text Box 41"/>
            <p:cNvSpPr txBox="1">
              <a:spLocks noChangeArrowheads="1"/>
            </p:cNvSpPr>
            <p:nvPr/>
          </p:nvSpPr>
          <p:spPr bwMode="auto">
            <a:xfrm rot="20668789">
              <a:off x="3137432" y="1816842"/>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dirty="0">
                  <a:solidFill>
                    <a:srgbClr val="CC00CC"/>
                  </a:solidFill>
                  <a:latin typeface="微软雅黑" pitchFamily="34" charset="-122"/>
                  <a:ea typeface="微软雅黑" pitchFamily="34" charset="-122"/>
                </a:rPr>
                <a:t>LDP</a:t>
              </a:r>
            </a:p>
          </p:txBody>
        </p:sp>
        <p:sp>
          <p:nvSpPr>
            <p:cNvPr id="43" name="Text Box 42"/>
            <p:cNvSpPr txBox="1">
              <a:spLocks noChangeArrowheads="1"/>
            </p:cNvSpPr>
            <p:nvPr/>
          </p:nvSpPr>
          <p:spPr bwMode="auto">
            <a:xfrm rot="1038311">
              <a:off x="4618570" y="1766569"/>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a:solidFill>
                    <a:srgbClr val="CC00CC"/>
                  </a:solidFill>
                  <a:latin typeface="微软雅黑" pitchFamily="34" charset="-122"/>
                  <a:ea typeface="微软雅黑" pitchFamily="34" charset="-122"/>
                </a:rPr>
                <a:t>LDP</a:t>
              </a:r>
            </a:p>
          </p:txBody>
        </p:sp>
        <p:sp>
          <p:nvSpPr>
            <p:cNvPr id="44" name="Text Box 43"/>
            <p:cNvSpPr txBox="1">
              <a:spLocks noChangeArrowheads="1"/>
            </p:cNvSpPr>
            <p:nvPr/>
          </p:nvSpPr>
          <p:spPr bwMode="auto">
            <a:xfrm rot="107100">
              <a:off x="5768198" y="1965475"/>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a:solidFill>
                    <a:srgbClr val="CC00CC"/>
                  </a:solidFill>
                  <a:latin typeface="微软雅黑" pitchFamily="34" charset="-122"/>
                  <a:ea typeface="微软雅黑"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MPLS</a:t>
              </a:r>
            </a:p>
            <a:p>
              <a:pPr algn="ctr">
                <a:lnSpc>
                  <a:spcPct val="90000"/>
                </a:lnSpc>
              </a:pPr>
              <a:r>
                <a:rPr kumimoji="1" lang="zh-CN" altLang="en-US" sz="1400" b="1" dirty="0">
                  <a:latin typeface="微软雅黑" pitchFamily="34" charset="-122"/>
                  <a:ea typeface="微软雅黑"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MPLS</a:t>
              </a:r>
            </a:p>
            <a:p>
              <a:pPr algn="ctr">
                <a:lnSpc>
                  <a:spcPct val="90000"/>
                </a:lnSpc>
              </a:pPr>
              <a:r>
                <a:rPr kumimoji="1" lang="zh-CN" altLang="en-US" sz="1400" b="1" dirty="0">
                  <a:latin typeface="微软雅黑" pitchFamily="34" charset="-122"/>
                  <a:ea typeface="微软雅黑"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b="1">
                <a:latin typeface="微软雅黑" pitchFamily="34" charset="-122"/>
                <a:ea typeface="微软雅黑"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Text Box 60"/>
            <p:cNvSpPr txBox="1">
              <a:spLocks noChangeArrowheads="1"/>
            </p:cNvSpPr>
            <p:nvPr/>
          </p:nvSpPr>
          <p:spPr bwMode="auto">
            <a:xfrm>
              <a:off x="2597095" y="1925593"/>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A</a:t>
              </a:r>
            </a:p>
          </p:txBody>
        </p:sp>
        <p:sp>
          <p:nvSpPr>
            <p:cNvPr id="62" name="Text Box 61"/>
            <p:cNvSpPr txBox="1">
              <a:spLocks noChangeArrowheads="1"/>
            </p:cNvSpPr>
            <p:nvPr/>
          </p:nvSpPr>
          <p:spPr bwMode="auto">
            <a:xfrm>
              <a:off x="4063388" y="1505826"/>
              <a:ext cx="30809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B</a:t>
              </a:r>
            </a:p>
          </p:txBody>
        </p:sp>
        <p:sp>
          <p:nvSpPr>
            <p:cNvPr id="63" name="Text Box 62"/>
            <p:cNvSpPr txBox="1">
              <a:spLocks noChangeArrowheads="1"/>
            </p:cNvSpPr>
            <p:nvPr/>
          </p:nvSpPr>
          <p:spPr bwMode="auto">
            <a:xfrm>
              <a:off x="5241520" y="1811786"/>
              <a:ext cx="304892"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C</a:t>
              </a:r>
            </a:p>
          </p:txBody>
        </p:sp>
        <p:sp>
          <p:nvSpPr>
            <p:cNvPr id="64" name="Text Box 63"/>
            <p:cNvSpPr txBox="1">
              <a:spLocks noChangeArrowheads="1"/>
            </p:cNvSpPr>
            <p:nvPr/>
          </p:nvSpPr>
          <p:spPr bwMode="auto">
            <a:xfrm>
              <a:off x="6214348" y="1899217"/>
              <a:ext cx="3273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173437"/>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3</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12" name="组合 111"/>
          <p:cNvGrpSpPr/>
          <p:nvPr/>
        </p:nvGrpSpPr>
        <p:grpSpPr>
          <a:xfrm>
            <a:off x="4478891" y="2112017"/>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1</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13" name="组合 112"/>
          <p:cNvGrpSpPr/>
          <p:nvPr/>
        </p:nvGrpSpPr>
        <p:grpSpPr>
          <a:xfrm>
            <a:off x="5732321" y="2339902"/>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2</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06" name="组合 105"/>
          <p:cNvGrpSpPr/>
          <p:nvPr/>
        </p:nvGrpSpPr>
        <p:grpSpPr>
          <a:xfrm>
            <a:off x="2653945" y="3785732"/>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X</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521917218"/>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入接口</a:t>
                      </a:r>
                    </a:p>
                  </a:txBody>
                  <a:tcPr marL="68580" marR="68580" marT="0" marB="0" anchor="ctr"/>
                </a:tc>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标签</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出接口</a:t>
                      </a:r>
                    </a:p>
                  </a:txBody>
                  <a:tcPr marL="68580" marR="68580" marT="0" marB="0" anchor="ctr"/>
                </a:tc>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标签</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200" b="0" baseline="0" dirty="0">
                          <a:solidFill>
                            <a:schemeClr val="tx1"/>
                          </a:solidFill>
                          <a:effectLst/>
                          <a:latin typeface="Montserrat" panose="00000500000000000000" pitchFamily="2" charset="0"/>
                          <a:ea typeface="微软雅黑 Light" panose="020B0502040204020203" pitchFamily="34" charset="-122"/>
                        </a:rPr>
                        <a:t>0</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en-US" sz="1200" b="0" baseline="0">
                          <a:solidFill>
                            <a:schemeClr val="tx1"/>
                          </a:solidFill>
                          <a:effectLst/>
                          <a:latin typeface="Montserrat" panose="00000500000000000000" pitchFamily="2" charset="0"/>
                          <a:ea typeface="微软雅黑 Light" panose="020B0502040204020203" pitchFamily="34" charset="-122"/>
                        </a:rPr>
                        <a:t>3</a:t>
                      </a:r>
                      <a:endParaRPr lang="zh-CN" sz="1200" b="0" baseline="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en-US" sz="1200" b="0" baseline="0" dirty="0">
                          <a:solidFill>
                            <a:schemeClr val="tx1"/>
                          </a:solidFill>
                          <a:effectLst/>
                          <a:latin typeface="Montserrat" panose="00000500000000000000" pitchFamily="2" charset="0"/>
                          <a:ea typeface="微软雅黑 Light" panose="020B0502040204020203" pitchFamily="34" charset="-122"/>
                        </a:rPr>
                        <a:t>1</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en-US" sz="1200" b="0" baseline="0" dirty="0">
                          <a:solidFill>
                            <a:schemeClr val="tx1"/>
                          </a:solidFill>
                          <a:effectLst/>
                          <a:latin typeface="Montserrat" panose="00000500000000000000" pitchFamily="2" charset="0"/>
                          <a:ea typeface="微软雅黑 Light" panose="020B0502040204020203" pitchFamily="34" charset="-122"/>
                        </a:rPr>
                        <a:t>1</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303831" y="133975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303831" y="1946180"/>
            <a:ext cx="6189542"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27"/>
          <p:cNvSpPr>
            <a:spLocks noChangeArrowheads="1"/>
          </p:cNvSpPr>
          <p:nvPr/>
        </p:nvSpPr>
        <p:spPr bwMode="auto">
          <a:xfrm>
            <a:off x="490266" y="1339755"/>
            <a:ext cx="1636540" cy="1810421"/>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5" name="Rectangle 29"/>
          <p:cNvSpPr>
            <a:spLocks noChangeArrowheads="1"/>
          </p:cNvSpPr>
          <p:nvPr/>
        </p:nvSpPr>
        <p:spPr bwMode="auto">
          <a:xfrm>
            <a:off x="499155" y="1434687"/>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4.10</a:t>
            </a:r>
          </a:p>
          <a:p>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p>
        </p:txBody>
      </p:sp>
      <p:sp>
        <p:nvSpPr>
          <p:cNvPr id="8" name="Rectangle 9"/>
          <p:cNvSpPr>
            <a:spLocks noChangeArrowheads="1"/>
          </p:cNvSpPr>
          <p:nvPr/>
        </p:nvSpPr>
        <p:spPr bwMode="auto">
          <a:xfrm>
            <a:off x="2303831" y="2552605"/>
            <a:ext cx="6189542"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8"/>
          <p:cNvSpPr>
            <a:spLocks noChangeArrowheads="1"/>
          </p:cNvSpPr>
          <p:nvPr/>
        </p:nvSpPr>
        <p:spPr bwMode="auto">
          <a:xfrm>
            <a:off x="2287349" y="1305211"/>
            <a:ext cx="6206024"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4.10.1                               SDN </a:t>
            </a:r>
            <a:r>
              <a:rPr lang="zh-CN" altLang="en-US" sz="2000" b="1" dirty="0">
                <a:solidFill>
                  <a:schemeClr val="bg1"/>
                </a:solidFill>
                <a:latin typeface="微软雅黑" pitchFamily="34" charset="-122"/>
                <a:ea typeface="微软雅黑" pitchFamily="34" charset="-122"/>
              </a:rPr>
              <a:t>与协议 </a:t>
            </a:r>
            <a:r>
              <a:rPr lang="en-US" altLang="zh-CN" sz="2000" b="1" dirty="0" err="1">
                <a:solidFill>
                  <a:schemeClr val="bg1"/>
                </a:solidFill>
                <a:latin typeface="微软雅黑" pitchFamily="34" charset="-122"/>
                <a:ea typeface="微软雅黑" pitchFamily="34" charset="-122"/>
              </a:rPr>
              <a:t>OpenFlow</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4.10.2                                              SDN </a:t>
            </a:r>
            <a:r>
              <a:rPr lang="zh-CN" altLang="en-US" sz="2000" b="1" dirty="0">
                <a:solidFill>
                  <a:schemeClr val="bg1"/>
                </a:solidFill>
                <a:latin typeface="微软雅黑" pitchFamily="34" charset="-122"/>
                <a:ea typeface="微软雅黑" pitchFamily="34" charset="-122"/>
              </a:rPr>
              <a:t>体系结构</a:t>
            </a:r>
            <a:endParaRPr lang="en-US" altLang="zh-CN" sz="2000" b="1" dirty="0">
              <a:solidFill>
                <a:schemeClr val="bg1"/>
              </a:solidFill>
              <a:latin typeface="微软雅黑" pitchFamily="34" charset="-122"/>
              <a:ea typeface="微软雅黑" pitchFamily="34" charset="-122"/>
            </a:endParaRP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4.10.3                                                 SDN </a:t>
            </a:r>
            <a:r>
              <a:rPr lang="zh-CN" altLang="en-US" sz="2000" b="1" dirty="0">
                <a:solidFill>
                  <a:schemeClr val="bg1"/>
                </a:solidFill>
                <a:latin typeface="微软雅黑" pitchFamily="34" charset="-122"/>
                <a:ea typeface="微软雅黑" pitchFamily="34" charset="-122"/>
              </a:rPr>
              <a:t>控制器</a:t>
            </a:r>
            <a:endParaRPr lang="en-US" altLang="zh-CN" sz="2000" b="1" dirty="0">
              <a:solidFill>
                <a:schemeClr val="bg1"/>
              </a:solidFill>
              <a:latin typeface="微软雅黑" pitchFamily="34" charset="-122"/>
              <a:ea typeface="微软雅黑" pitchFamily="34" charset="-122"/>
            </a:endParaRPr>
          </a:p>
        </p:txBody>
      </p:sp>
      <p:sp>
        <p:nvSpPr>
          <p:cNvPr id="6" name="Line 16"/>
          <p:cNvSpPr>
            <a:spLocks noChangeShapeType="1"/>
          </p:cNvSpPr>
          <p:nvPr/>
        </p:nvSpPr>
        <p:spPr bwMode="auto">
          <a:xfrm>
            <a:off x="3311894" y="1268318"/>
            <a:ext cx="0" cy="22836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13547837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4375</TotalTime>
  <Words>27003</Words>
  <Application>Microsoft Office PowerPoint</Application>
  <PresentationFormat>全屏显示(16:9)</PresentationFormat>
  <Paragraphs>5872</Paragraphs>
  <Slides>335</Slides>
  <Notes>111</Notes>
  <HiddenSlides>1</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2</vt:i4>
      </vt:variant>
      <vt:variant>
        <vt:lpstr>幻灯片标题</vt:lpstr>
      </vt:variant>
      <vt:variant>
        <vt:i4>335</vt:i4>
      </vt:variant>
    </vt:vector>
  </HeadingPairs>
  <TitlesOfParts>
    <vt:vector size="350" baseType="lpstr">
      <vt:lpstr>宋体</vt:lpstr>
      <vt:lpstr>Calibri</vt:lpstr>
      <vt:lpstr>Wingdings</vt:lpstr>
      <vt:lpstr>Times New Roman</vt:lpstr>
      <vt:lpstr>微软雅黑 Light</vt:lpstr>
      <vt:lpstr>Symbol</vt:lpstr>
      <vt:lpstr>Courier New</vt:lpstr>
      <vt:lpstr>黑体</vt:lpstr>
      <vt:lpstr>Arial</vt:lpstr>
      <vt:lpstr>微软雅黑</vt:lpstr>
      <vt:lpstr>Tahoma</vt:lpstr>
      <vt:lpstr>Montserrat</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PowerPoint 演示文稿</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1. 协议 BGP 的主要特点</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PowerPoint 演示文稿</vt:lpstr>
      <vt:lpstr>PowerPoint 演示文稿</vt:lpstr>
      <vt:lpstr>AS 跳数最小</vt:lpstr>
      <vt:lpstr>热土豆路由选择算法</vt:lpstr>
      <vt:lpstr>AS 跳数最小</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PowerPoint 演示文稿</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的要点：检查，转发</vt:lpstr>
      <vt:lpstr>RPB 的要点：形成以源为根节点的多播转发树</vt:lpstr>
      <vt:lpstr>RPB 的要点：剪枝与嫁接</vt:lpstr>
      <vt:lpstr>PowerPoint 演示文稿</vt:lpstr>
      <vt:lpstr>(2) 隧道技术 (tunneling) </vt:lpstr>
      <vt:lpstr>(3) 基于核心的发现技术 </vt:lpstr>
      <vt:lpstr>(3) 基于核心的发现技术 </vt:lpstr>
      <vt:lpstr>几种多播路由选择协议</vt:lpstr>
      <vt:lpstr>PowerPoint 演示文稿</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PowerPoint 演示文稿</vt:lpstr>
      <vt:lpstr>PowerPoint 演示文稿</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PowerPoint 演示文稿</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371</cp:revision>
  <dcterms:modified xsi:type="dcterms:W3CDTF">2025-11-01T14:50:12Z</dcterms:modified>
</cp:coreProperties>
</file>