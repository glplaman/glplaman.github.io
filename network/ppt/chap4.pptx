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465"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8" r:id="rId230"/>
    <p:sldId id="859" r:id="rId231"/>
    <p:sldId id="860" r:id="rId232"/>
    <p:sldId id="777" r:id="rId233"/>
    <p:sldId id="778" r:id="rId234"/>
    <p:sldId id="776"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568" r:id="rId288"/>
    <p:sldId id="569" r:id="rId289"/>
    <p:sldId id="570"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593" r:id="rId310"/>
    <p:sldId id="810" r:id="rId311"/>
    <p:sldId id="811" r:id="rId312"/>
    <p:sldId id="812" r:id="rId313"/>
    <p:sldId id="813" r:id="rId314"/>
    <p:sldId id="814" r:id="rId315"/>
    <p:sldId id="815" r:id="rId316"/>
    <p:sldId id="816" r:id="rId317"/>
    <p:sldId id="867" r:id="rId318"/>
    <p:sldId id="817" r:id="rId319"/>
    <p:sldId id="821" r:id="rId320"/>
    <p:sldId id="820" r:id="rId321"/>
    <p:sldId id="822" r:id="rId322"/>
    <p:sldId id="823" r:id="rId323"/>
    <p:sldId id="824" r:id="rId324"/>
    <p:sldId id="826" r:id="rId325"/>
    <p:sldId id="827" r:id="rId326"/>
    <p:sldId id="828" r:id="rId327"/>
    <p:sldId id="825" r:id="rId328"/>
    <p:sldId id="829" r:id="rId329"/>
    <p:sldId id="830" r:id="rId330"/>
    <p:sldId id="831" r:id="rId331"/>
    <p:sldId id="835" r:id="rId332"/>
    <p:sldId id="833" r:id="rId333"/>
    <p:sldId id="836" r:id="rId334"/>
    <p:sldId id="834" r:id="rId335"/>
    <p:sldId id="838" r:id="rId336"/>
    <p:sldId id="839" r:id="rId337"/>
  </p:sldIdLst>
  <p:sldSz cx="9144000" cy="5143500" type="screen16x9"/>
  <p:notesSz cx="6858000" cy="9144000"/>
  <p:embeddedFontLs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
      <p:font typeface="微软雅黑 Light" panose="020B0502040204020203" pitchFamily="34" charset="-122"/>
      <p:regular r:id="rId34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99"/>
    <a:srgbClr val="00B0F0"/>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34" d="100"/>
          <a:sy n="134" d="100"/>
        </p:scale>
        <p:origin x="126" y="37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heme" Target="theme/theme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2.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3.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4.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7.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viewProps" Target="view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notesMaster" Target="notesMasters/notesMaster1.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zh-CN" sz="1600" b="1" kern="1200" dirty="0">
              <a:latin typeface="微软雅黑" panose="020B0503020204020204" pitchFamily="34" charset="-122"/>
              <a:ea typeface="微软雅黑" panose="020B0503020204020204" pitchFamily="34" charset="-122"/>
            </a:rPr>
            <a:t>数据层面</a:t>
          </a:r>
          <a:endParaRPr lang="zh-CN" altLang="en-US" sz="1600" b="1" kern="1200" dirty="0">
            <a:latin typeface="微软雅黑" panose="020B0503020204020204" pitchFamily="34" charset="-122"/>
            <a:ea typeface="微软雅黑" panose="020B0503020204020204" pitchFamily="34" charset="-122"/>
          </a:endParaRP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zh-CN" sz="1600" b="1" kern="1200" dirty="0">
              <a:latin typeface="微软雅黑" panose="020B0503020204020204" pitchFamily="34" charset="-122"/>
              <a:ea typeface="微软雅黑" panose="020B0503020204020204" pitchFamily="34" charset="-122"/>
            </a:rPr>
            <a:t>路由器根据本路由器生成的</a:t>
          </a:r>
          <a:r>
            <a:rPr lang="zh-CN" altLang="zh-CN" sz="1600" b="1" kern="1200" dirty="0">
              <a:solidFill>
                <a:srgbClr val="C00000"/>
              </a:solidFill>
              <a:latin typeface="微软雅黑" panose="020B0503020204020204" pitchFamily="34" charset="-122"/>
              <a:ea typeface="微软雅黑" panose="020B0503020204020204" pitchFamily="34" charset="-122"/>
            </a:rPr>
            <a:t>转发表，</a:t>
          </a:r>
          <a:r>
            <a:rPr lang="zh-CN" altLang="zh-CN" sz="1600" b="1" kern="1200" dirty="0">
              <a:latin typeface="微软雅黑" panose="020B0503020204020204" pitchFamily="34" charset="-122"/>
              <a:ea typeface="微软雅黑" panose="020B0503020204020204" pitchFamily="34" charset="-122"/>
            </a:rPr>
            <a:t>把收到的分组从查找到的对应接口</a:t>
          </a:r>
          <a:r>
            <a:rPr lang="zh-CN" altLang="zh-CN" sz="1600" b="1" kern="1200" dirty="0">
              <a:solidFill>
                <a:srgbClr val="C00000"/>
              </a:solidFill>
              <a:latin typeface="微软雅黑" panose="020B0503020204020204" pitchFamily="34" charset="-122"/>
              <a:ea typeface="微软雅黑" panose="020B0503020204020204" pitchFamily="34" charset="-122"/>
            </a:rPr>
            <a:t>转发</a:t>
          </a:r>
          <a:r>
            <a:rPr lang="zh-CN" altLang="zh-CN" sz="1600" b="1" kern="1200" dirty="0">
              <a:latin typeface="微软雅黑" panose="020B0503020204020204" pitchFamily="34" charset="-122"/>
              <a:ea typeface="微软雅黑" panose="020B0503020204020204" pitchFamily="34" charset="-122"/>
            </a:rPr>
            <a:t>出去。</a:t>
          </a:r>
          <a:endParaRPr lang="zh-CN" altLang="en-US" sz="1600" b="1" kern="1200" dirty="0">
            <a:latin typeface="微软雅黑" panose="020B0503020204020204" pitchFamily="34" charset="-122"/>
            <a:ea typeface="微软雅黑" panose="020B0503020204020204" pitchFamily="34" charset="-122"/>
          </a:endParaRP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zh-CN" sz="1800" b="1" kern="1200" dirty="0">
              <a:latin typeface="微软雅黑" panose="020B0503020204020204" pitchFamily="34" charset="-122"/>
              <a:ea typeface="微软雅黑" panose="020B0503020204020204" pitchFamily="34" charset="-122"/>
            </a:rPr>
            <a:t>根据路由选择协议所用的路由算法</a:t>
          </a:r>
          <a:r>
            <a:rPr lang="zh-CN" altLang="zh-CN"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solidFill>
                <a:srgbClr val="C00000"/>
              </a:solidFill>
              <a:latin typeface="微软雅黑" panose="020B0503020204020204" pitchFamily="34" charset="-122"/>
              <a:ea typeface="微软雅黑" panose="020B0503020204020204" pitchFamily="34" charset="-122"/>
            </a:rPr>
            <a:t>，</a:t>
          </a:r>
          <a:r>
            <a:rPr lang="zh-CN" altLang="zh-CN" sz="1800" b="1" kern="1200" dirty="0">
              <a:latin typeface="微软雅黑" panose="020B0503020204020204" pitchFamily="34" charset="-122"/>
              <a:ea typeface="微软雅黑" panose="020B0503020204020204" pitchFamily="34" charset="-122"/>
            </a:rPr>
            <a:t>创建出本路由器的</a:t>
          </a:r>
          <a:r>
            <a:rPr lang="zh-CN" altLang="zh-CN" sz="1800" b="1" kern="1200" dirty="0">
              <a:solidFill>
                <a:srgbClr val="C00000"/>
              </a:solidFill>
              <a:latin typeface="微软雅黑" panose="020B0503020204020204" pitchFamily="34" charset="-122"/>
              <a:ea typeface="微软雅黑" panose="020B0503020204020204" pitchFamily="34" charset="-122"/>
            </a:rPr>
            <a:t>路由表。</a:t>
          </a:r>
          <a:endParaRPr lang="zh-CN" altLang="en-US" sz="1800" b="1" kern="1200" dirty="0">
            <a:solidFill>
              <a:srgbClr val="C00000"/>
            </a:solidFill>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任意多边形: 形状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5176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4195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71739" y="3474885"/>
            <a:ext cx="402414" cy="120451"/>
          </a:xfrm>
          <a:prstGeom prst="leftArrow">
            <a:avLst>
              <a:gd name="adj1" fmla="val 50000"/>
              <a:gd name="adj2" fmla="val 77098"/>
            </a:avLst>
          </a:prstGeom>
          <a:solidFill>
            <a:srgbClr val="CC00CC"/>
          </a:solidFill>
          <a:ln w="9525">
            <a:solidFill>
              <a:srgbClr val="0000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rgbClr val="C3E3F9"/>
          </a:solidFill>
          <a:ln>
            <a:noFill/>
          </a:ln>
          <a:effectLst/>
        </p:spPr>
        <p:txBody>
          <a:bodyPr wrap="none">
            <a:spAutoFit/>
          </a:bodyPr>
          <a:lstStyle/>
          <a:p>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rgbClr val="99FFCC"/>
              </a:gs>
              <a:gs pos="100000">
                <a:srgbClr val="00B0F0"/>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4" name="Freeform 6"/>
          <p:cNvSpPr>
            <a:spLocks/>
          </p:cNvSpPr>
          <p:nvPr/>
        </p:nvSpPr>
        <p:spPr bwMode="auto">
          <a:xfrm>
            <a:off x="3396266" y="3171497"/>
            <a:ext cx="3271321"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rgbClr val="00B0F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5" name="Rectangle 7"/>
          <p:cNvSpPr>
            <a:spLocks noChangeArrowheads="1"/>
          </p:cNvSpPr>
          <p:nvPr/>
        </p:nvSpPr>
        <p:spPr bwMode="auto">
          <a:xfrm>
            <a:off x="3031265" y="3388127"/>
            <a:ext cx="3296871" cy="313339"/>
          </a:xfrm>
          <a:prstGeom prst="rect">
            <a:avLst/>
          </a:prstGeom>
          <a:solidFill>
            <a:srgbClr val="00B050"/>
          </a:solidFill>
          <a:ln w="19050">
            <a:solidFill>
              <a:srgbClr val="3333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6" name="Rectangle 8"/>
          <p:cNvSpPr>
            <a:spLocks noChangeArrowheads="1"/>
          </p:cNvSpPr>
          <p:nvPr/>
        </p:nvSpPr>
        <p:spPr bwMode="auto">
          <a:xfrm>
            <a:off x="3957456" y="3403202"/>
            <a:ext cx="2366118" cy="279494"/>
          </a:xfrm>
          <a:prstGeom prst="rect">
            <a:avLst/>
          </a:prstGeom>
          <a:solidFill>
            <a:srgbClr val="00FF9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3952893"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62090" y="3417214"/>
            <a:ext cx="107273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IP </a:t>
            </a:r>
            <a:r>
              <a:rPr kumimoji="1" lang="zh-CN" altLang="zh-CN" sz="1100" b="1" dirty="0">
                <a:solidFill>
                  <a:schemeClr val="bg1"/>
                </a:solidFill>
                <a:latin typeface="微软雅黑" pitchFamily="34" charset="-122"/>
                <a:ea typeface="微软雅黑" pitchFamily="34" charset="-122"/>
              </a:rPr>
              <a:t>数据报首部</a:t>
            </a:r>
            <a:endParaRPr kumimoji="1" lang="zh-CN" altLang="en-US" sz="1100" b="1" dirty="0">
              <a:solidFill>
                <a:schemeClr val="bg1"/>
              </a:solidFill>
              <a:latin typeface="微软雅黑" pitchFamily="34" charset="-122"/>
              <a:ea typeface="微软雅黑"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170" name="Rectangle 12"/>
          <p:cNvSpPr>
            <a:spLocks noChangeArrowheads="1"/>
          </p:cNvSpPr>
          <p:nvPr/>
        </p:nvSpPr>
        <p:spPr bwMode="auto">
          <a:xfrm>
            <a:off x="3371629" y="2851418"/>
            <a:ext cx="3295958" cy="313339"/>
          </a:xfrm>
          <a:prstGeom prst="rect">
            <a:avLst/>
          </a:prstGeom>
          <a:solidFill>
            <a:srgbClr val="0000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2" name="Rectangle 14"/>
          <p:cNvSpPr>
            <a:spLocks noChangeArrowheads="1"/>
          </p:cNvSpPr>
          <p:nvPr/>
        </p:nvSpPr>
        <p:spPr bwMode="auto">
          <a:xfrm>
            <a:off x="4443819" y="2866580"/>
            <a:ext cx="2219205" cy="296493"/>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91293"/>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OSPF </a:t>
            </a:r>
            <a:r>
              <a:rPr kumimoji="1" lang="zh-CN" altLang="en-US" sz="1100" b="1" dirty="0">
                <a:solidFill>
                  <a:schemeClr val="bg1"/>
                </a:solidFill>
                <a:latin typeface="微软雅黑" pitchFamily="34" charset="-122"/>
                <a:ea typeface="微软雅黑"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579782" y="2623994"/>
            <a:ext cx="681597" cy="261610"/>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50" b="1" dirty="0">
                <a:latin typeface="微软雅黑" pitchFamily="34" charset="-122"/>
                <a:ea typeface="微软雅黑" pitchFamily="34" charset="-122"/>
              </a:rPr>
              <a:t>24 </a:t>
            </a:r>
            <a:r>
              <a:rPr kumimoji="1" lang="zh-CN" altLang="en-US" sz="1050" b="1" dirty="0">
                <a:latin typeface="微软雅黑" pitchFamily="34" charset="-122"/>
                <a:ea typeface="微软雅黑" pitchFamily="34" charset="-122"/>
              </a:rPr>
              <a:t>字节</a:t>
            </a:r>
          </a:p>
        </p:txBody>
      </p:sp>
      <p:sp>
        <p:nvSpPr>
          <p:cNvPr id="181" name="Rectangle 23"/>
          <p:cNvSpPr>
            <a:spLocks noChangeArrowheads="1"/>
          </p:cNvSpPr>
          <p:nvPr/>
        </p:nvSpPr>
        <p:spPr bwMode="auto">
          <a:xfrm>
            <a:off x="2217313" y="1327160"/>
            <a:ext cx="4643724" cy="1184287"/>
          </a:xfrm>
          <a:prstGeom prst="rect">
            <a:avLst/>
          </a:prstGeom>
          <a:solidFill>
            <a:srgbClr val="99FFCC"/>
          </a:solidFill>
          <a:ln w="9525">
            <a:solidFill>
              <a:srgbClr val="333399"/>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421957" y="2880073"/>
            <a:ext cx="22910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类型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至类型 </a:t>
            </a:r>
            <a:r>
              <a:rPr kumimoji="1" lang="en-US" altLang="zh-CN" sz="1200" b="1" dirty="0">
                <a:latin typeface="微软雅黑" pitchFamily="34" charset="-122"/>
                <a:ea typeface="微软雅黑" pitchFamily="34" charset="-122"/>
              </a:rPr>
              <a:t>5 </a:t>
            </a:r>
            <a:r>
              <a:rPr kumimoji="1" lang="zh-CN" altLang="en-US" sz="1200" b="1" dirty="0">
                <a:latin typeface="微软雅黑" pitchFamily="34" charset="-122"/>
                <a:ea typeface="微软雅黑" pitchFamily="34" charset="-122"/>
              </a:rPr>
              <a:t>的 </a:t>
            </a:r>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路径向量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(Path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是不同自治系统的路由器之间交换路由信息的协议</a:t>
            </a:r>
          </a:p>
          <a:p>
            <a:r>
              <a:rPr lang="en-US" altLang="zh-CN" dirty="0"/>
              <a:t>BGP </a:t>
            </a:r>
            <a:r>
              <a:rPr lang="zh-CN" altLang="en-US" dirty="0"/>
              <a:t>较新版本是 </a:t>
            </a:r>
            <a:r>
              <a:rPr lang="en-US" altLang="zh-CN" dirty="0"/>
              <a:t>2006 </a:t>
            </a:r>
            <a:r>
              <a:rPr lang="zh-CN" altLang="en-US" dirty="0"/>
              <a:t>年 </a:t>
            </a:r>
            <a:r>
              <a:rPr lang="en-US" altLang="zh-CN" dirty="0"/>
              <a:t>1 </a:t>
            </a:r>
            <a:r>
              <a:rPr lang="zh-CN" altLang="en-US" dirty="0"/>
              <a:t>月发表的 </a:t>
            </a:r>
            <a:r>
              <a:rPr lang="en-US" altLang="zh-CN" dirty="0"/>
              <a:t>BGP-4</a:t>
            </a:r>
            <a:r>
              <a:rPr lang="zh-CN" altLang="en-US" dirty="0"/>
              <a:t>（</a:t>
            </a:r>
            <a:r>
              <a:rPr lang="en-US" altLang="zh-CN" dirty="0"/>
              <a:t>BGP </a:t>
            </a:r>
            <a:r>
              <a:rPr lang="zh-CN" altLang="en-US" dirty="0"/>
              <a:t>第 </a:t>
            </a:r>
            <a:r>
              <a:rPr lang="en-US" altLang="zh-CN" dirty="0"/>
              <a:t>4 </a:t>
            </a:r>
            <a:r>
              <a:rPr lang="zh-CN" altLang="en-US" dirty="0"/>
              <a:t>个版本），即 </a:t>
            </a:r>
            <a:r>
              <a:rPr lang="en-US" altLang="zh-CN" dirty="0"/>
              <a:t>RFC 4271 ~ 4278</a:t>
            </a:r>
            <a:endParaRPr lang="zh-CN" altLang="en-US" dirty="0"/>
          </a:p>
          <a:p>
            <a:r>
              <a:rPr lang="zh-CN" altLang="en-US" dirty="0"/>
              <a:t>可以将 </a:t>
            </a:r>
            <a:r>
              <a:rPr lang="en-US" altLang="zh-CN" dirty="0"/>
              <a:t>BGP-4 </a:t>
            </a:r>
            <a:r>
              <a:rPr lang="zh-CN" altLang="en-US" dirty="0"/>
              <a:t>简写为 </a:t>
            </a:r>
            <a:r>
              <a:rPr lang="en-US" altLang="zh-CN" dirty="0"/>
              <a:t>BGP</a:t>
            </a:r>
            <a:endParaRPr lang="zh-CN" altLang="en-US" dirty="0"/>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7507CCA-FB33-F17E-0608-2B73F8865C56}"/>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BGP </a:t>
            </a:r>
            <a:r>
              <a:rPr lang="zh-CN" altLang="en-US" dirty="0"/>
              <a:t>的主要特点</a:t>
            </a:r>
          </a:p>
        </p:txBody>
      </p:sp>
      <p:sp>
        <p:nvSpPr>
          <p:cNvPr id="6" name="内容占位符 5">
            <a:extLst>
              <a:ext uri="{FF2B5EF4-FFF2-40B4-BE49-F238E27FC236}">
                <a16:creationId xmlns:a16="http://schemas.microsoft.com/office/drawing/2014/main" id="{611F2C38-BE2B-70EB-CA22-C9BC6AD0903E}"/>
              </a:ext>
            </a:extLst>
          </p:cNvPr>
          <p:cNvSpPr>
            <a:spLocks noGrp="1"/>
          </p:cNvSpPr>
          <p:nvPr>
            <p:ph sz="quarter" idx="11"/>
          </p:nvPr>
        </p:nvSpPr>
        <p:spPr>
          <a:xfrm>
            <a:off x="486000" y="900000"/>
            <a:ext cx="8172000" cy="3703500"/>
          </a:xfrm>
        </p:spPr>
        <p:txBody>
          <a:bodyPr/>
          <a:lstStyle/>
          <a:p>
            <a:r>
              <a:rPr lang="zh-CN" altLang="en-US" dirty="0"/>
              <a:t>用于自治系统 </a:t>
            </a:r>
            <a:r>
              <a:rPr lang="en-US" altLang="zh-CN" dirty="0"/>
              <a:t>AS </a:t>
            </a:r>
            <a:r>
              <a:rPr lang="zh-CN" altLang="en-US" dirty="0"/>
              <a:t>之间的路由选择</a:t>
            </a:r>
            <a:endParaRPr lang="en-US" altLang="zh-CN" dirty="0"/>
          </a:p>
          <a:p>
            <a:r>
              <a:rPr lang="zh-CN" altLang="en-US" dirty="0"/>
              <a:t>只能是力求选择出一条能够到达目的网络且比较好的路由（不能兜圈子），而并非要计算出一条最佳路由</a:t>
            </a:r>
            <a:endParaRPr lang="en-US" altLang="zh-CN" dirty="0"/>
          </a:p>
          <a:p>
            <a:r>
              <a:rPr lang="zh-CN" altLang="en-US" dirty="0"/>
              <a:t>互联网的规模太大，使得自治系统</a:t>
            </a:r>
            <a:r>
              <a:rPr lang="en-US" altLang="zh-CN" dirty="0"/>
              <a:t>AS</a:t>
            </a:r>
            <a:r>
              <a:rPr lang="zh-CN" altLang="en-US" dirty="0"/>
              <a:t>之间路由选择非常困难</a:t>
            </a:r>
            <a:endParaRPr lang="en-US" altLang="zh-CN" dirty="0"/>
          </a:p>
          <a:p>
            <a:r>
              <a:rPr lang="zh-CN" altLang="en-US" dirty="0"/>
              <a:t>自治系统</a:t>
            </a:r>
            <a:r>
              <a:rPr lang="en-US" altLang="zh-CN" dirty="0"/>
              <a:t>AS</a:t>
            </a:r>
            <a:r>
              <a:rPr lang="zh-CN" altLang="en-US" dirty="0"/>
              <a:t>之间的路由选择必须考虑有关策略</a:t>
            </a:r>
            <a:endParaRPr lang="en-US" altLang="zh-CN" dirty="0"/>
          </a:p>
          <a:p>
            <a:r>
              <a:rPr lang="zh-CN" altLang="en-US" dirty="0"/>
              <a:t>采用了路径向量 </a:t>
            </a:r>
            <a:r>
              <a:rPr lang="en-US" altLang="zh-CN" dirty="0"/>
              <a:t>(path vector) </a:t>
            </a:r>
            <a:r>
              <a:rPr lang="zh-CN" altLang="en-US" dirty="0"/>
              <a:t>路由选择协议</a:t>
            </a:r>
            <a:endParaRPr lang="en-US" altLang="zh-CN" dirty="0"/>
          </a:p>
          <a:p>
            <a:endParaRPr lang="zh-CN" altLang="en-US" dirty="0"/>
          </a:p>
        </p:txBody>
      </p:sp>
    </p:spTree>
    <p:extLst>
      <p:ext uri="{BB962C8B-B14F-4D97-AF65-F5344CB8AC3E}">
        <p14:creationId xmlns:p14="http://schemas.microsoft.com/office/powerpoint/2010/main" val="42588867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358267" y="1758877"/>
            <a:ext cx="644735" cy="25496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5071774" y="254907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038693"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328479" y="2920427"/>
            <a:ext cx="13933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200/low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337588" y="1474081"/>
            <a:ext cx="1486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300/high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095457" y="2350947"/>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54893" y="15784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30" y="2292248"/>
            <a:ext cx="4466390" cy="335667"/>
          </a:xfrm>
          <a:prstGeom prst="rect">
            <a:avLst/>
          </a:prstGeom>
          <a:solidFill>
            <a:srgbClr val="00FF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33" name="Rectangle 41"/>
          <p:cNvSpPr>
            <a:spLocks noChangeArrowheads="1"/>
          </p:cNvSpPr>
          <p:nvPr/>
        </p:nvSpPr>
        <p:spPr bwMode="auto">
          <a:xfrm>
            <a:off x="3306336" y="2305527"/>
            <a:ext cx="1600959" cy="319320"/>
          </a:xfrm>
          <a:prstGeom prst="rect">
            <a:avLst/>
          </a:prstGeom>
          <a:solidFill>
            <a:srgbClr val="00FF99"/>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35" name="AutoShape 37"/>
          <p:cNvSpPr>
            <a:spLocks noChangeArrowheads="1"/>
          </p:cNvSpPr>
          <p:nvPr/>
        </p:nvSpPr>
        <p:spPr bwMode="auto">
          <a:xfrm rot="5400000">
            <a:off x="1424565" y="3590961"/>
            <a:ext cx="202708" cy="434478"/>
          </a:xfrm>
          <a:prstGeom prst="downArrow">
            <a:avLst>
              <a:gd name="adj1" fmla="val 50000"/>
              <a:gd name="adj2" fmla="val 49462"/>
            </a:avLst>
          </a:prstGeom>
          <a:solidFill>
            <a:srgbClr val="00FF99"/>
          </a:solidFill>
          <a:ln w="9525">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rgbClr val="FFFF99">
                  <a:gamma/>
                  <a:shade val="69804"/>
                  <a:invGamma/>
                </a:srgbClr>
              </a:gs>
              <a:gs pos="100000">
                <a:srgbClr val="FFFF66"/>
              </a:gs>
            </a:gsLst>
            <a:lin ang="5400000" scaled="1"/>
          </a:gradFill>
          <a:ln>
            <a:noFill/>
          </a:ln>
          <a:effectLst/>
        </p:spPr>
        <p:txBody>
          <a:bodyPr/>
          <a:lstStyle/>
          <a:p>
            <a:endParaRPr lang="zh-CN" altLang="en-US" sz="1400" b="1">
              <a:latin typeface="微软雅黑" pitchFamily="34" charset="-122"/>
              <a:ea typeface="微软雅黑" pitchFamily="34" charset="-122"/>
            </a:endParaRPr>
          </a:p>
        </p:txBody>
      </p:sp>
      <p:sp>
        <p:nvSpPr>
          <p:cNvPr id="37" name="Rectangle 39"/>
          <p:cNvSpPr>
            <a:spLocks noChangeArrowheads="1"/>
          </p:cNvSpPr>
          <p:nvPr/>
        </p:nvSpPr>
        <p:spPr bwMode="auto">
          <a:xfrm>
            <a:off x="1933344" y="1241286"/>
            <a:ext cx="378789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16                      2             1</a:t>
            </a:r>
          </a:p>
        </p:txBody>
      </p:sp>
      <p:sp>
        <p:nvSpPr>
          <p:cNvPr id="39" name="Rectangle 43"/>
          <p:cNvSpPr>
            <a:spLocks noChangeArrowheads="1"/>
          </p:cNvSpPr>
          <p:nvPr/>
        </p:nvSpPr>
        <p:spPr bwMode="auto">
          <a:xfrm>
            <a:off x="5426779"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Rectangle 45"/>
          <p:cNvSpPr>
            <a:spLocks noChangeArrowheads="1"/>
          </p:cNvSpPr>
          <p:nvPr/>
        </p:nvSpPr>
        <p:spPr bwMode="auto">
          <a:xfrm>
            <a:off x="2612115" y="1547895"/>
            <a:ext cx="3162955" cy="336757"/>
          </a:xfrm>
          <a:prstGeom prst="rect">
            <a:avLst/>
          </a:prstGeom>
          <a:solidFill>
            <a:srgbClr val="00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42" name="Rectangle 46"/>
          <p:cNvSpPr>
            <a:spLocks noChangeArrowheads="1"/>
          </p:cNvSpPr>
          <p:nvPr/>
        </p:nvSpPr>
        <p:spPr bwMode="auto">
          <a:xfrm>
            <a:off x="5200221" y="1559883"/>
            <a:ext cx="5947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类 型</a:t>
            </a:r>
          </a:p>
        </p:txBody>
      </p:sp>
      <p:sp>
        <p:nvSpPr>
          <p:cNvPr id="43" name="Rectangle 47"/>
          <p:cNvSpPr>
            <a:spLocks noChangeArrowheads="1"/>
          </p:cNvSpPr>
          <p:nvPr/>
        </p:nvSpPr>
        <p:spPr bwMode="auto">
          <a:xfrm>
            <a:off x="4383866" y="1559883"/>
            <a:ext cx="64761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a:latin typeface="微软雅黑" pitchFamily="34" charset="-122"/>
                <a:ea typeface="微软雅黑"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Rectangle 50"/>
          <p:cNvSpPr>
            <a:spLocks noChangeArrowheads="1"/>
          </p:cNvSpPr>
          <p:nvPr/>
        </p:nvSpPr>
        <p:spPr bwMode="auto">
          <a:xfrm>
            <a:off x="2994588" y="1559883"/>
            <a:ext cx="91211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标       记</a:t>
            </a:r>
          </a:p>
        </p:txBody>
      </p:sp>
      <p:grpSp>
        <p:nvGrpSpPr>
          <p:cNvPr id="47" name="Group 51"/>
          <p:cNvGrpSpPr>
            <a:grpSpLocks/>
          </p:cNvGrpSpPr>
          <p:nvPr/>
        </p:nvGrpSpPr>
        <p:grpSpPr bwMode="auto">
          <a:xfrm rot="5400000">
            <a:off x="3315963" y="1514292"/>
            <a:ext cx="131869" cy="66116"/>
            <a:chOff x="1008" y="2046"/>
            <a:chExt cx="102" cy="60"/>
          </a:xfrm>
        </p:grpSpPr>
        <p:sp>
          <p:nvSpPr>
            <p:cNvPr id="48" name="Rectangle 52"/>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49" name="Group 53"/>
            <p:cNvGrpSpPr>
              <a:grpSpLocks/>
            </p:cNvGrpSpPr>
            <p:nvPr/>
          </p:nvGrpSpPr>
          <p:grpSpPr bwMode="auto">
            <a:xfrm>
              <a:off x="1026" y="2046"/>
              <a:ext cx="72" cy="48"/>
              <a:chOff x="1440" y="2016"/>
              <a:chExt cx="72" cy="48"/>
            </a:xfrm>
          </p:grpSpPr>
          <p:sp>
            <p:nvSpPr>
              <p:cNvPr id="50" name="Line 54"/>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1" name="Line 55"/>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52" name="Group 56"/>
          <p:cNvGrpSpPr>
            <a:grpSpLocks/>
          </p:cNvGrpSpPr>
          <p:nvPr/>
        </p:nvGrpSpPr>
        <p:grpSpPr bwMode="auto">
          <a:xfrm rot="5400000">
            <a:off x="3323047" y="1852139"/>
            <a:ext cx="131869" cy="66116"/>
            <a:chOff x="1008" y="2046"/>
            <a:chExt cx="102" cy="60"/>
          </a:xfrm>
        </p:grpSpPr>
        <p:sp>
          <p:nvSpPr>
            <p:cNvPr id="53" name="Rectangle 57"/>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54" name="Group 58"/>
            <p:cNvGrpSpPr>
              <a:grpSpLocks/>
            </p:cNvGrpSpPr>
            <p:nvPr/>
          </p:nvGrpSpPr>
          <p:grpSpPr bwMode="auto">
            <a:xfrm>
              <a:off x="1026" y="2046"/>
              <a:ext cx="72" cy="48"/>
              <a:chOff x="1440" y="2016"/>
              <a:chExt cx="72" cy="48"/>
            </a:xfrm>
          </p:grpSpPr>
          <p:sp>
            <p:nvSpPr>
              <p:cNvPr id="55" name="Line 59"/>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57" name="Rectangle 63"/>
          <p:cNvSpPr>
            <a:spLocks noChangeArrowheads="1"/>
          </p:cNvSpPr>
          <p:nvPr/>
        </p:nvSpPr>
        <p:spPr bwMode="auto">
          <a:xfrm>
            <a:off x="2486966" y="2965763"/>
            <a:ext cx="5273954" cy="336757"/>
          </a:xfrm>
          <a:prstGeom prst="rect">
            <a:avLst/>
          </a:prstGeom>
          <a:solidFill>
            <a:srgbClr val="FF99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65"/>
          <p:cNvSpPr>
            <a:spLocks noChangeArrowheads="1"/>
          </p:cNvSpPr>
          <p:nvPr/>
        </p:nvSpPr>
        <p:spPr bwMode="auto">
          <a:xfrm>
            <a:off x="2433556" y="3015894"/>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1" name="Rectangle 67"/>
          <p:cNvSpPr>
            <a:spLocks noChangeArrowheads="1"/>
          </p:cNvSpPr>
          <p:nvPr/>
        </p:nvSpPr>
        <p:spPr bwMode="auto">
          <a:xfrm>
            <a:off x="1680584" y="3641456"/>
            <a:ext cx="6080336" cy="336757"/>
          </a:xfrm>
          <a:prstGeom prst="rect">
            <a:avLst/>
          </a:prstGeom>
          <a:solidFill>
            <a:srgbClr val="FF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5" name="Rectangle 71"/>
          <p:cNvSpPr>
            <a:spLocks noChangeArrowheads="1"/>
          </p:cNvSpPr>
          <p:nvPr/>
        </p:nvSpPr>
        <p:spPr bwMode="auto">
          <a:xfrm>
            <a:off x="4947437" y="2989738"/>
            <a:ext cx="97462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a:t>
            </a:r>
          </a:p>
        </p:txBody>
      </p:sp>
      <p:cxnSp>
        <p:nvCxnSpPr>
          <p:cNvPr id="67" name="直接连接符 66"/>
          <p:cNvCxnSpPr/>
          <p:nvPr/>
        </p:nvCxnSpPr>
        <p:spPr bwMode="auto">
          <a:xfrm>
            <a:off x="3306336"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8" name="直接连接符 67"/>
          <p:cNvCxnSpPr/>
          <p:nvPr/>
        </p:nvCxnSpPr>
        <p:spPr bwMode="auto">
          <a:xfrm>
            <a:off x="7760920"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0" name="直接连接符 69"/>
          <p:cNvCxnSpPr/>
          <p:nvPr/>
        </p:nvCxnSpPr>
        <p:spPr bwMode="auto">
          <a:xfrm>
            <a:off x="7760920"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 name="直接连接符 70"/>
          <p:cNvCxnSpPr/>
          <p:nvPr/>
        </p:nvCxnSpPr>
        <p:spPr bwMode="auto">
          <a:xfrm>
            <a:off x="2495586"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 name="Rectangle 42"/>
          <p:cNvSpPr>
            <a:spLocks noChangeArrowheads="1"/>
          </p:cNvSpPr>
          <p:nvPr/>
        </p:nvSpPr>
        <p:spPr bwMode="auto">
          <a:xfrm>
            <a:off x="3261471"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BGP </a:t>
            </a:r>
            <a:r>
              <a:rPr kumimoji="1" lang="zh-CN" altLang="en-US" sz="1400" b="1" dirty="0">
                <a:latin typeface="微软雅黑" pitchFamily="34" charset="-122"/>
                <a:ea typeface="微软雅黑" pitchFamily="34" charset="-122"/>
              </a:rPr>
              <a:t>报文通用首部</a:t>
            </a:r>
          </a:p>
        </p:txBody>
      </p:sp>
      <p:sp>
        <p:nvSpPr>
          <p:cNvPr id="5" name="矩形 4"/>
          <p:cNvSpPr/>
          <p:nvPr/>
        </p:nvSpPr>
        <p:spPr>
          <a:xfrm>
            <a:off x="2512444" y="3657655"/>
            <a:ext cx="5220000" cy="302400"/>
          </a:xfrm>
          <a:prstGeom prst="rect">
            <a:avLst/>
          </a:prstGeom>
          <a:solidFill>
            <a:srgbClr val="FF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Rectangle 68"/>
          <p:cNvSpPr>
            <a:spLocks noChangeArrowheads="1"/>
          </p:cNvSpPr>
          <p:nvPr/>
        </p:nvSpPr>
        <p:spPr bwMode="auto">
          <a:xfrm>
            <a:off x="1677719" y="3673001"/>
            <a:ext cx="7742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6" name="Rectangle 72"/>
          <p:cNvSpPr>
            <a:spLocks noChangeArrowheads="1"/>
          </p:cNvSpPr>
          <p:nvPr/>
        </p:nvSpPr>
        <p:spPr bwMode="auto">
          <a:xfrm>
            <a:off x="4720752" y="3665432"/>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
        <p:nvSpPr>
          <p:cNvPr id="5" name="矩形 4"/>
          <p:cNvSpPr/>
          <p:nvPr/>
        </p:nvSpPr>
        <p:spPr>
          <a:xfrm>
            <a:off x="132196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的要点：检查，转发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panose="020B0503020204020204" pitchFamily="34" charset="-122"/>
              </a:rPr>
              <a:t>如果存在几条同样长度的最短路径，选择 </a:t>
            </a:r>
            <a:r>
              <a:rPr lang="en-US" altLang="zh-CN" sz="1400" dirty="0">
                <a:latin typeface="Montserrat" panose="00000500000000000000" pitchFamily="2" charset="0"/>
                <a:ea typeface="微软雅黑" panose="020B0503020204020204" pitchFamily="34" charset="-122"/>
              </a:rPr>
              <a:t>IP </a:t>
            </a:r>
            <a:r>
              <a:rPr lang="zh-CN" altLang="en-US" sz="1400" dirty="0">
                <a:latin typeface="Montserrat" panose="00000500000000000000" pitchFamily="2" charset="0"/>
                <a:ea typeface="微软雅黑" panose="020B0503020204020204" pitchFamily="34" charset="-122"/>
              </a:rPr>
              <a:t>地址最小的。 </a:t>
            </a:r>
          </a:p>
          <a:p>
            <a:pPr>
              <a:lnSpc>
                <a:spcPts val="2600"/>
              </a:lnSpc>
            </a:pPr>
            <a:endParaRPr lang="en-US" altLang="zh-CN" sz="1400" dirty="0">
              <a:latin typeface="Montserrat" panose="00000500000000000000" pitchFamily="2" charset="0"/>
              <a:ea typeface="微软雅黑" panose="020B0503020204020204" pitchFamily="34" charset="-122"/>
            </a:endParaRPr>
          </a:p>
          <a:p>
            <a:pPr>
              <a:lnSpc>
                <a:spcPts val="2600"/>
              </a:lnSpc>
            </a:pPr>
            <a:r>
              <a:rPr lang="zh-CN" altLang="en-US" sz="1400" dirty="0">
                <a:latin typeface="Montserrat" panose="00000500000000000000" pitchFamily="2" charset="0"/>
                <a:ea typeface="微软雅黑" panose="020B0503020204020204"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 </a:t>
            </a:r>
            <a:r>
              <a:rPr lang="en-US" altLang="zh-CN" dirty="0"/>
              <a:t>VPN NAT</a:t>
            </a:r>
            <a:endParaRPr lang="zh-CN" altLang="en-US" dirty="0"/>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虚拟专用网 </a:t>
            </a:r>
            <a:r>
              <a:rPr lang="en-US" altLang="zh-CN" dirty="0"/>
              <a:t>VPN</a:t>
            </a:r>
          </a:p>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10.1.0.0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10.2.0.0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1567295"/>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 name="Line 7"/>
          <p:cNvSpPr>
            <a:spLocks noChangeShapeType="1"/>
          </p:cNvSpPr>
          <p:nvPr/>
        </p:nvSpPr>
        <p:spPr bwMode="auto">
          <a:xfrm>
            <a:off x="2894576" y="1508732"/>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 name="Line 8"/>
          <p:cNvSpPr>
            <a:spLocks noChangeShapeType="1"/>
          </p:cNvSpPr>
          <p:nvPr/>
        </p:nvSpPr>
        <p:spPr bwMode="auto">
          <a:xfrm flipV="1">
            <a:off x="4220064" y="1498524"/>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9"/>
          <p:cNvSpPr>
            <a:spLocks noChangeShapeType="1"/>
          </p:cNvSpPr>
          <p:nvPr/>
        </p:nvSpPr>
        <p:spPr bwMode="auto">
          <a:xfrm>
            <a:off x="4221099" y="1567295"/>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10"/>
          <p:cNvSpPr>
            <a:spLocks noChangeShapeType="1"/>
          </p:cNvSpPr>
          <p:nvPr/>
        </p:nvSpPr>
        <p:spPr bwMode="auto">
          <a:xfrm flipV="1">
            <a:off x="6315389" y="1238151"/>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11"/>
          <p:cNvSpPr>
            <a:spLocks noChangeShapeType="1"/>
          </p:cNvSpPr>
          <p:nvPr/>
        </p:nvSpPr>
        <p:spPr bwMode="auto">
          <a:xfrm>
            <a:off x="6049775" y="2322657"/>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Freeform 15"/>
          <p:cNvSpPr>
            <a:spLocks/>
          </p:cNvSpPr>
          <p:nvPr/>
        </p:nvSpPr>
        <p:spPr bwMode="auto">
          <a:xfrm>
            <a:off x="3428964" y="1549534"/>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400" b="1">
              <a:latin typeface="微软雅黑" pitchFamily="34" charset="-122"/>
              <a:ea typeface="微软雅黑" pitchFamily="34" charset="-122"/>
            </a:endParaRPr>
          </a:p>
        </p:txBody>
      </p:sp>
      <p:sp>
        <p:nvSpPr>
          <p:cNvPr id="11" name="Text Box 16"/>
          <p:cNvSpPr txBox="1">
            <a:spLocks noChangeArrowheads="1"/>
          </p:cNvSpPr>
          <p:nvPr/>
        </p:nvSpPr>
        <p:spPr bwMode="auto">
          <a:xfrm>
            <a:off x="4221099" y="127705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0</a:t>
            </a:r>
          </a:p>
        </p:txBody>
      </p:sp>
      <p:sp>
        <p:nvSpPr>
          <p:cNvPr id="12" name="Text Box 17"/>
          <p:cNvSpPr txBox="1">
            <a:spLocks noChangeArrowheads="1"/>
          </p:cNvSpPr>
          <p:nvPr/>
        </p:nvSpPr>
        <p:spPr bwMode="auto">
          <a:xfrm>
            <a:off x="4108148" y="1589722"/>
            <a:ext cx="2952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1</a:t>
            </a:r>
          </a:p>
        </p:txBody>
      </p:sp>
      <p:sp>
        <p:nvSpPr>
          <p:cNvPr id="13" name="Text Box 18"/>
          <p:cNvSpPr txBox="1">
            <a:spLocks noChangeArrowheads="1"/>
          </p:cNvSpPr>
          <p:nvPr/>
        </p:nvSpPr>
        <p:spPr bwMode="auto">
          <a:xfrm>
            <a:off x="3989366"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a:t>
            </a:r>
          </a:p>
        </p:txBody>
      </p:sp>
      <p:sp>
        <p:nvSpPr>
          <p:cNvPr id="14" name="Text Box 19"/>
          <p:cNvSpPr txBox="1">
            <a:spLocks noChangeArrowheads="1"/>
          </p:cNvSpPr>
          <p:nvPr/>
        </p:nvSpPr>
        <p:spPr bwMode="auto">
          <a:xfrm>
            <a:off x="6155581" y="1098472"/>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2</a:t>
            </a:r>
          </a:p>
        </p:txBody>
      </p:sp>
      <p:sp>
        <p:nvSpPr>
          <p:cNvPr id="15" name="Text Box 20"/>
          <p:cNvSpPr txBox="1">
            <a:spLocks noChangeArrowheads="1"/>
          </p:cNvSpPr>
          <p:nvPr/>
        </p:nvSpPr>
        <p:spPr bwMode="auto">
          <a:xfrm>
            <a:off x="5746741" y="1860177"/>
            <a:ext cx="375907" cy="306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3</a:t>
            </a:r>
          </a:p>
        </p:txBody>
      </p:sp>
      <p:sp>
        <p:nvSpPr>
          <p:cNvPr id="16" name="Line 21"/>
          <p:cNvSpPr>
            <a:spLocks noChangeShapeType="1"/>
          </p:cNvSpPr>
          <p:nvPr/>
        </p:nvSpPr>
        <p:spPr bwMode="auto">
          <a:xfrm>
            <a:off x="6049775" y="2374993"/>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54" name="组合 53"/>
          <p:cNvGrpSpPr/>
          <p:nvPr/>
        </p:nvGrpSpPr>
        <p:grpSpPr>
          <a:xfrm>
            <a:off x="2963903" y="1162973"/>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grpSp>
      <p:sp>
        <p:nvSpPr>
          <p:cNvPr id="48" name="Rectangle 26"/>
          <p:cNvSpPr>
            <a:spLocks noChangeArrowheads="1"/>
          </p:cNvSpPr>
          <p:nvPr/>
        </p:nvSpPr>
        <p:spPr bwMode="auto">
          <a:xfrm>
            <a:off x="3424357" y="1172525"/>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0</a:t>
            </a:r>
          </a:p>
        </p:txBody>
      </p:sp>
      <p:sp>
        <p:nvSpPr>
          <p:cNvPr id="18" name="Text Box 27"/>
          <p:cNvSpPr txBox="1">
            <a:spLocks noChangeArrowheads="1"/>
          </p:cNvSpPr>
          <p:nvPr/>
        </p:nvSpPr>
        <p:spPr bwMode="auto">
          <a:xfrm>
            <a:off x="2126974" y="3012114"/>
            <a:ext cx="11192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S</a:t>
            </a:r>
            <a:r>
              <a:rPr lang="en-US" altLang="zh-CN" sz="1400" b="1" baseline="-25000" dirty="0">
                <a:latin typeface="微软雅黑" pitchFamily="34" charset="-122"/>
                <a:ea typeface="微软雅黑" pitchFamily="34" charset="-122"/>
              </a:rPr>
              <a:t>1 </a:t>
            </a:r>
            <a:r>
              <a:rPr lang="zh-CN" altLang="en-US" sz="1400" b="1" dirty="0">
                <a:latin typeface="微软雅黑" pitchFamily="34" charset="-122"/>
                <a:ea typeface="微软雅黑" pitchFamily="34" charset="-122"/>
              </a:rPr>
              <a:t>的转发表</a:t>
            </a:r>
            <a:endParaRPr lang="zh-CN" altLang="en-US" sz="1400" b="1" baseline="-25000" dirty="0">
              <a:latin typeface="微软雅黑" pitchFamily="34" charset="-122"/>
              <a:ea typeface="微软雅黑" pitchFamily="34" charset="-122"/>
            </a:endParaRPr>
          </a:p>
        </p:txBody>
      </p:sp>
      <p:grpSp>
        <p:nvGrpSpPr>
          <p:cNvPr id="19" name="组合 18"/>
          <p:cNvGrpSpPr/>
          <p:nvPr/>
        </p:nvGrpSpPr>
        <p:grpSpPr>
          <a:xfrm rot="60000">
            <a:off x="4856034" y="1720532"/>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400" b="1">
                <a:latin typeface="微软雅黑" pitchFamily="34" charset="-122"/>
                <a:ea typeface="微软雅黑"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1371202"/>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1687073"/>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6"/>
          <p:cNvSpPr txBox="1">
            <a:spLocks noChangeArrowheads="1"/>
          </p:cNvSpPr>
          <p:nvPr/>
        </p:nvSpPr>
        <p:spPr bwMode="auto">
          <a:xfrm>
            <a:off x="2004337" y="1713913"/>
            <a:ext cx="1420582" cy="1320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400" b="1" dirty="0">
                <a:latin typeface="微软雅黑" pitchFamily="34" charset="-122"/>
                <a:ea typeface="微软雅黑" pitchFamily="34" charset="-122"/>
              </a:rPr>
              <a:t>标签   转发接口</a:t>
            </a:r>
          </a:p>
          <a:p>
            <a:pPr>
              <a:lnSpc>
                <a:spcPct val="110000"/>
              </a:lnSpc>
            </a:pPr>
            <a:r>
              <a:rPr lang="zh-CN" altLang="en-US" sz="1400" b="1" dirty="0">
                <a:latin typeface="微软雅黑" pitchFamily="34" charset="-122"/>
                <a:ea typeface="微软雅黑" pitchFamily="34" charset="-122"/>
              </a:rPr>
              <a:t>   </a:t>
            </a:r>
            <a:r>
              <a:rPr lang="en-US" altLang="zh-CN" sz="1400" b="1" dirty="0">
                <a:latin typeface="微软雅黑" pitchFamily="34" charset="-122"/>
                <a:ea typeface="微软雅黑" pitchFamily="34" charset="-122"/>
              </a:rPr>
              <a:t>0           1</a:t>
            </a:r>
          </a:p>
          <a:p>
            <a:pPr>
              <a:lnSpc>
                <a:spcPct val="110000"/>
              </a:lnSpc>
            </a:pPr>
            <a:r>
              <a:rPr lang="en-US" altLang="zh-CN" sz="1400" b="1" dirty="0">
                <a:latin typeface="微软雅黑" pitchFamily="34" charset="-122"/>
                <a:ea typeface="微软雅黑" pitchFamily="34" charset="-122"/>
              </a:rPr>
              <a:t>   1           0</a:t>
            </a:r>
          </a:p>
          <a:p>
            <a:pPr>
              <a:lnSpc>
                <a:spcPct val="110000"/>
              </a:lnSpc>
            </a:pPr>
            <a:r>
              <a:rPr lang="en-US" altLang="zh-CN" sz="1400" b="1" dirty="0">
                <a:latin typeface="微软雅黑" pitchFamily="34" charset="-122"/>
                <a:ea typeface="微软雅黑" pitchFamily="34" charset="-122"/>
              </a:rPr>
              <a:t>   2           1</a:t>
            </a:r>
          </a:p>
          <a:p>
            <a:pPr>
              <a:lnSpc>
                <a:spcPct val="110000"/>
              </a:lnSpc>
            </a:pPr>
            <a:r>
              <a:rPr lang="en-US" altLang="zh-CN" sz="1400" b="1" dirty="0">
                <a:latin typeface="微软雅黑" pitchFamily="34" charset="-122"/>
                <a:ea typeface="微软雅黑" pitchFamily="34" charset="-122"/>
              </a:rPr>
              <a:t>   3           1</a:t>
            </a:r>
          </a:p>
        </p:txBody>
      </p:sp>
      <p:sp>
        <p:nvSpPr>
          <p:cNvPr id="23" name="Line 13"/>
          <p:cNvSpPr>
            <a:spLocks noChangeShapeType="1"/>
          </p:cNvSpPr>
          <p:nvPr/>
        </p:nvSpPr>
        <p:spPr bwMode="auto">
          <a:xfrm flipV="1">
            <a:off x="1991725" y="1997206"/>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14"/>
          <p:cNvSpPr>
            <a:spLocks noChangeShapeType="1"/>
          </p:cNvSpPr>
          <p:nvPr/>
        </p:nvSpPr>
        <p:spPr bwMode="auto">
          <a:xfrm>
            <a:off x="2505986" y="1687073"/>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5" name="组合 24"/>
          <p:cNvGrpSpPr/>
          <p:nvPr/>
        </p:nvGrpSpPr>
        <p:grpSpPr>
          <a:xfrm>
            <a:off x="5370820" y="2302961"/>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2170837"/>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1506210"/>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effectLst/>
                  <a:latin typeface="微软雅黑" pitchFamily="34" charset="-122"/>
                  <a:ea typeface="微软雅黑"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1373715"/>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AutoShape 5"/>
          <p:cNvSpPr>
            <a:spLocks noChangeArrowheads="1"/>
          </p:cNvSpPr>
          <p:nvPr/>
        </p:nvSpPr>
        <p:spPr bwMode="auto">
          <a:xfrm>
            <a:off x="545144" y="611481"/>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51" name="Rectangle 6"/>
          <p:cNvSpPr>
            <a:spLocks noChangeArrowheads="1"/>
          </p:cNvSpPr>
          <p:nvPr/>
        </p:nvSpPr>
        <p:spPr bwMode="auto">
          <a:xfrm>
            <a:off x="2156973" y="586794"/>
            <a:ext cx="483292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4.9  </a:t>
            </a:r>
            <a:r>
              <a:rPr lang="zh-CN" altLang="en-US" sz="2400" b="1" dirty="0">
                <a:solidFill>
                  <a:schemeClr val="bg1"/>
                </a:solidFill>
                <a:latin typeface="微软雅黑" pitchFamily="34" charset="-122"/>
                <a:ea typeface="微软雅黑" pitchFamily="34" charset="-122"/>
              </a:rPr>
              <a:t>多协议标签交换 </a:t>
            </a:r>
            <a:r>
              <a:rPr lang="en-US" altLang="zh-CN" sz="2400" b="1" dirty="0">
                <a:solidFill>
                  <a:schemeClr val="bg1"/>
                </a:solidFill>
                <a:latin typeface="微软雅黑" pitchFamily="34" charset="-122"/>
                <a:ea typeface="微软雅黑" pitchFamily="34" charset="-122"/>
              </a:rPr>
              <a:t>MPLS</a:t>
            </a:r>
          </a:p>
        </p:txBody>
      </p:sp>
      <p:sp>
        <p:nvSpPr>
          <p:cNvPr id="52" name="矩形 51"/>
          <p:cNvSpPr/>
          <p:nvPr/>
        </p:nvSpPr>
        <p:spPr>
          <a:xfrm>
            <a:off x="680945" y="3334592"/>
            <a:ext cx="7521493" cy="1220847"/>
          </a:xfrm>
          <a:prstGeom prst="rect">
            <a:avLst/>
          </a:prstGeom>
        </p:spPr>
        <p:txBody>
          <a:bodyPr wrap="square">
            <a:spAutoFit/>
          </a:bodyPr>
          <a:lstStyle/>
          <a:p>
            <a:pPr marL="285750" indent="-285750">
              <a:lnSpc>
                <a:spcPts val="2200"/>
              </a:lnSpc>
              <a:buFont typeface="Wingdings" panose="05000000000000000000" pitchFamily="2" charset="2"/>
              <a:buChar char="l"/>
            </a:pPr>
            <a:r>
              <a:rPr lang="en-US" altLang="zh-CN" sz="1600" b="1" dirty="0">
                <a:latin typeface="微软雅黑" panose="020B0503020204020204" pitchFamily="34" charset="-122"/>
                <a:ea typeface="微软雅黑" panose="020B0503020204020204" pitchFamily="34" charset="-122"/>
              </a:rPr>
              <a:t>MPLS (</a:t>
            </a:r>
            <a:r>
              <a:rPr lang="en-US" altLang="zh-CN" sz="1600" b="1" dirty="0" err="1">
                <a:latin typeface="微软雅黑" panose="020B0503020204020204" pitchFamily="34" charset="-122"/>
                <a:ea typeface="微软雅黑" panose="020B0503020204020204" pitchFamily="34" charset="-122"/>
              </a:rPr>
              <a:t>MultiProtocol</a:t>
            </a:r>
            <a:r>
              <a:rPr lang="en-US" altLang="zh-CN" sz="1600" b="1" dirty="0">
                <a:latin typeface="微软雅黑" panose="020B0503020204020204" pitchFamily="34" charset="-122"/>
                <a:ea typeface="微软雅黑" panose="020B0503020204020204" pitchFamily="34" charset="-122"/>
              </a:rPr>
              <a:t> Label Switching)</a:t>
            </a:r>
            <a:r>
              <a:rPr lang="zh-CN" altLang="en-US" sz="1600" b="1" dirty="0">
                <a:latin typeface="微软雅黑" panose="020B0503020204020204" pitchFamily="34" charset="-122"/>
                <a:ea typeface="微软雅黑" panose="020B0503020204020204" pitchFamily="34" charset="-122"/>
              </a:rPr>
              <a:t>：互联网建议标准。</a:t>
            </a:r>
            <a:endParaRPr lang="en-US" altLang="zh-CN" sz="1600" b="1" dirty="0">
              <a:latin typeface="微软雅黑" panose="020B0503020204020204" pitchFamily="34" charset="-122"/>
              <a:ea typeface="微软雅黑" panose="020B0503020204020204" pitchFamily="34" charset="-122"/>
            </a:endParaRP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多协议：</a:t>
            </a: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的上层可以采用多种协议。</a:t>
            </a:r>
          </a:p>
          <a:p>
            <a:pPr marL="285750" indent="-285750">
              <a:lnSpc>
                <a:spcPts val="22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标签：</a:t>
            </a:r>
            <a:r>
              <a:rPr lang="en-US" altLang="zh-CN" sz="1600" b="1" dirty="0">
                <a:latin typeface="微软雅黑" panose="020B0503020204020204" pitchFamily="34" charset="-122"/>
                <a:ea typeface="微软雅黑" panose="020B0503020204020204" pitchFamily="34" charset="-122"/>
              </a:rPr>
              <a:t>MPLS </a:t>
            </a:r>
            <a:r>
              <a:rPr lang="zh-CN" altLang="en-US" sz="1600" b="1" dirty="0">
                <a:latin typeface="微软雅黑" panose="020B0503020204020204" pitchFamily="34" charset="-122"/>
                <a:ea typeface="微软雅黑" panose="020B0503020204020204" pitchFamily="34" charset="-122"/>
              </a:rPr>
              <a:t>利用</a:t>
            </a:r>
            <a:r>
              <a:rPr lang="zh-CN" altLang="en-US" sz="1600" b="1" dirty="0">
                <a:solidFill>
                  <a:srgbClr val="0000FF"/>
                </a:solidFill>
                <a:latin typeface="微软雅黑" panose="020B0503020204020204" pitchFamily="34" charset="-122"/>
                <a:ea typeface="微软雅黑" panose="020B0503020204020204" pitchFamily="34" charset="-122"/>
              </a:rPr>
              <a:t>面向连接</a:t>
            </a:r>
            <a:r>
              <a:rPr lang="zh-CN" altLang="en-US" sz="1600" b="1" dirty="0">
                <a:latin typeface="微软雅黑" panose="020B0503020204020204" pitchFamily="34" charset="-122"/>
                <a:ea typeface="微软雅黑" panose="020B0503020204020204" pitchFamily="34" charset="-122"/>
              </a:rPr>
              <a:t>技术，使每个分组携带一个叫做标签 </a:t>
            </a:r>
            <a:r>
              <a:rPr lang="en-US" altLang="zh-CN" sz="1600" b="1" dirty="0">
                <a:latin typeface="微软雅黑" panose="020B0503020204020204" pitchFamily="34" charset="-122"/>
                <a:ea typeface="微软雅黑" panose="020B0503020204020204" pitchFamily="34" charset="-122"/>
              </a:rPr>
              <a:t>(label) </a:t>
            </a:r>
            <a:r>
              <a:rPr lang="zh-CN" altLang="en-US" sz="1600" b="1" dirty="0">
                <a:latin typeface="微软雅黑" panose="020B0503020204020204" pitchFamily="34" charset="-122"/>
                <a:ea typeface="微软雅黑" panose="020B0503020204020204" pitchFamily="34" charset="-122"/>
              </a:rPr>
              <a:t>的小整数。标签交换路由器用</a:t>
            </a:r>
            <a:r>
              <a:rPr lang="zh-CN" altLang="en-US" sz="1600" b="1" dirty="0">
                <a:solidFill>
                  <a:srgbClr val="0000FF"/>
                </a:solidFill>
                <a:latin typeface="微软雅黑" panose="020B0503020204020204" pitchFamily="34" charset="-122"/>
                <a:ea typeface="微软雅黑" panose="020B0503020204020204" pitchFamily="34" charset="-122"/>
              </a:rPr>
              <a:t>标签值</a:t>
            </a:r>
            <a:r>
              <a:rPr lang="zh-CN" altLang="en-US" sz="1600" b="1" dirty="0">
                <a:latin typeface="微软雅黑" panose="020B0503020204020204" pitchFamily="34" charset="-122"/>
                <a:ea typeface="微软雅黑" panose="020B0503020204020204" pitchFamily="34" charset="-122"/>
              </a:rPr>
              <a:t>检索转发表，实现分组的快速转发。</a:t>
            </a:r>
          </a:p>
        </p:txBody>
      </p:sp>
      <p:sp>
        <p:nvSpPr>
          <p:cNvPr id="53" name="Line 14"/>
          <p:cNvSpPr>
            <a:spLocks noChangeShapeType="1"/>
          </p:cNvSpPr>
          <p:nvPr/>
        </p:nvSpPr>
        <p:spPr bwMode="auto">
          <a:xfrm flipH="1">
            <a:off x="1652776" y="2133496"/>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3834468"/>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32" name="Text Box 30"/>
          <p:cNvSpPr txBox="1">
            <a:spLocks noChangeArrowheads="1"/>
          </p:cNvSpPr>
          <p:nvPr/>
        </p:nvSpPr>
        <p:spPr bwMode="auto">
          <a:xfrm>
            <a:off x="1411660" y="3717410"/>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b="1" dirty="0">
                <a:latin typeface="微软雅黑" pitchFamily="34" charset="-122"/>
                <a:ea typeface="微软雅黑" pitchFamily="34" charset="-122"/>
              </a:rPr>
              <a:t>普通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3775452"/>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461262"/>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打上标签</a:t>
              </a:r>
            </a:p>
          </p:txBody>
        </p:sp>
      </p:grpSp>
      <p:grpSp>
        <p:nvGrpSpPr>
          <p:cNvPr id="115" name="组合 114"/>
          <p:cNvGrpSpPr/>
          <p:nvPr/>
        </p:nvGrpSpPr>
        <p:grpSpPr>
          <a:xfrm>
            <a:off x="6512026" y="1462305"/>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b="1">
                <a:latin typeface="微软雅黑" pitchFamily="34" charset="-122"/>
                <a:ea typeface="微软雅黑"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371425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371741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普通路由器</a:t>
            </a:r>
          </a:p>
        </p:txBody>
      </p:sp>
      <p:sp>
        <p:nvSpPr>
          <p:cNvPr id="73" name="Text Box 72"/>
          <p:cNvSpPr txBox="1">
            <a:spLocks noChangeArrowheads="1"/>
          </p:cNvSpPr>
          <p:nvPr/>
        </p:nvSpPr>
        <p:spPr bwMode="auto">
          <a:xfrm>
            <a:off x="6502947" y="3717410"/>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标签交换路由器 </a:t>
            </a:r>
            <a:r>
              <a:rPr kumimoji="1" lang="en-US" altLang="zh-CN" sz="1200" b="1" dirty="0">
                <a:latin typeface="微软雅黑" pitchFamily="34" charset="-122"/>
                <a:ea typeface="微软雅黑" pitchFamily="34" charset="-122"/>
              </a:rPr>
              <a:t>LSR</a:t>
            </a:r>
          </a:p>
        </p:txBody>
      </p:sp>
      <p:sp>
        <p:nvSpPr>
          <p:cNvPr id="74" name="Text Box 73"/>
          <p:cNvSpPr txBox="1">
            <a:spLocks noChangeArrowheads="1"/>
          </p:cNvSpPr>
          <p:nvPr/>
        </p:nvSpPr>
        <p:spPr bwMode="auto">
          <a:xfrm>
            <a:off x="3133748" y="3717410"/>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b="1" dirty="0">
                <a:latin typeface="微软雅黑" pitchFamily="34" charset="-122"/>
                <a:ea typeface="微软雅黑" pitchFamily="34" charset="-122"/>
              </a:rPr>
              <a:t>打上标签的分组</a:t>
            </a:r>
          </a:p>
        </p:txBody>
      </p:sp>
      <p:grpSp>
        <p:nvGrpSpPr>
          <p:cNvPr id="110" name="组合 109"/>
          <p:cNvGrpSpPr/>
          <p:nvPr/>
        </p:nvGrpSpPr>
        <p:grpSpPr>
          <a:xfrm>
            <a:off x="1347389" y="1173259"/>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b="1">
                <a:latin typeface="微软雅黑" pitchFamily="34" charset="-122"/>
                <a:ea typeface="微软雅黑"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b="1">
                <a:latin typeface="微软雅黑" pitchFamily="34" charset="-122"/>
                <a:ea typeface="微软雅黑"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6" name="Text Box 24"/>
            <p:cNvSpPr txBox="1">
              <a:spLocks noChangeArrowheads="1"/>
            </p:cNvSpPr>
            <p:nvPr/>
          </p:nvSpPr>
          <p:spPr bwMode="auto">
            <a:xfrm>
              <a:off x="4094428" y="1259189"/>
              <a:ext cx="1032655" cy="2893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b="1" dirty="0">
                  <a:solidFill>
                    <a:srgbClr val="000099"/>
                  </a:solidFill>
                  <a:latin typeface="微软雅黑" pitchFamily="34" charset="-122"/>
                  <a:ea typeface="微软雅黑" pitchFamily="34" charset="-122"/>
                </a:rPr>
                <a:t>MPLS </a:t>
              </a:r>
              <a:r>
                <a:rPr kumimoji="1" lang="zh-CN" altLang="en-US" sz="1600" b="1" dirty="0">
                  <a:solidFill>
                    <a:srgbClr val="000099"/>
                  </a:solidFill>
                  <a:latin typeface="微软雅黑" pitchFamily="34" charset="-122"/>
                  <a:ea typeface="微软雅黑"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Text Box 41"/>
            <p:cNvSpPr txBox="1">
              <a:spLocks noChangeArrowheads="1"/>
            </p:cNvSpPr>
            <p:nvPr/>
          </p:nvSpPr>
          <p:spPr bwMode="auto">
            <a:xfrm rot="20668789">
              <a:off x="3137432" y="1816842"/>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dirty="0">
                  <a:solidFill>
                    <a:srgbClr val="CC00CC"/>
                  </a:solidFill>
                  <a:latin typeface="微软雅黑" pitchFamily="34" charset="-122"/>
                  <a:ea typeface="微软雅黑" pitchFamily="34" charset="-122"/>
                </a:rPr>
                <a:t>LDP</a:t>
              </a:r>
            </a:p>
          </p:txBody>
        </p:sp>
        <p:sp>
          <p:nvSpPr>
            <p:cNvPr id="43" name="Text Box 42"/>
            <p:cNvSpPr txBox="1">
              <a:spLocks noChangeArrowheads="1"/>
            </p:cNvSpPr>
            <p:nvPr/>
          </p:nvSpPr>
          <p:spPr bwMode="auto">
            <a:xfrm rot="1038311">
              <a:off x="4618570" y="1766569"/>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4" name="Text Box 43"/>
            <p:cNvSpPr txBox="1">
              <a:spLocks noChangeArrowheads="1"/>
            </p:cNvSpPr>
            <p:nvPr/>
          </p:nvSpPr>
          <p:spPr bwMode="auto">
            <a:xfrm rot="107100">
              <a:off x="5768198" y="1965475"/>
              <a:ext cx="466794"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b="1">
                  <a:solidFill>
                    <a:srgbClr val="CC00CC"/>
                  </a:solidFill>
                  <a:latin typeface="微软雅黑" pitchFamily="34" charset="-122"/>
                  <a:ea typeface="微软雅黑"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MPLS</a:t>
              </a:r>
            </a:p>
            <a:p>
              <a:pPr algn="ctr">
                <a:lnSpc>
                  <a:spcPct val="90000"/>
                </a:lnSpc>
              </a:pPr>
              <a:r>
                <a:rPr kumimoji="1" lang="zh-CN" altLang="en-US" sz="1400" b="1" dirty="0">
                  <a:latin typeface="微软雅黑" pitchFamily="34" charset="-122"/>
                  <a:ea typeface="微软雅黑"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b="1">
                <a:latin typeface="微软雅黑" pitchFamily="34" charset="-122"/>
                <a:ea typeface="微软雅黑"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Text Box 60"/>
            <p:cNvSpPr txBox="1">
              <a:spLocks noChangeArrowheads="1"/>
            </p:cNvSpPr>
            <p:nvPr/>
          </p:nvSpPr>
          <p:spPr bwMode="auto">
            <a:xfrm>
              <a:off x="2597095" y="1925593"/>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A</a:t>
              </a:r>
            </a:p>
          </p:txBody>
        </p:sp>
        <p:sp>
          <p:nvSpPr>
            <p:cNvPr id="62" name="Text Box 61"/>
            <p:cNvSpPr txBox="1">
              <a:spLocks noChangeArrowheads="1"/>
            </p:cNvSpPr>
            <p:nvPr/>
          </p:nvSpPr>
          <p:spPr bwMode="auto">
            <a:xfrm>
              <a:off x="4063388" y="1505826"/>
              <a:ext cx="30809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B</a:t>
              </a:r>
            </a:p>
          </p:txBody>
        </p:sp>
        <p:sp>
          <p:nvSpPr>
            <p:cNvPr id="63" name="Text Box 62"/>
            <p:cNvSpPr txBox="1">
              <a:spLocks noChangeArrowheads="1"/>
            </p:cNvSpPr>
            <p:nvPr/>
          </p:nvSpPr>
          <p:spPr bwMode="auto">
            <a:xfrm>
              <a:off x="5241520" y="1811786"/>
              <a:ext cx="304892"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C</a:t>
              </a:r>
            </a:p>
          </p:txBody>
        </p:sp>
        <p:sp>
          <p:nvSpPr>
            <p:cNvPr id="64" name="Text Box 63"/>
            <p:cNvSpPr txBox="1">
              <a:spLocks noChangeArrowheads="1"/>
            </p:cNvSpPr>
            <p:nvPr/>
          </p:nvSpPr>
          <p:spPr bwMode="auto">
            <a:xfrm>
              <a:off x="6214348" y="1899217"/>
              <a:ext cx="3273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latin typeface="微软雅黑" pitchFamily="34" charset="-122"/>
                  <a:ea typeface="微软雅黑"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173437"/>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3</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2" name="组合 111"/>
          <p:cNvGrpSpPr/>
          <p:nvPr/>
        </p:nvGrpSpPr>
        <p:grpSpPr>
          <a:xfrm>
            <a:off x="4478891" y="2112017"/>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1</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13" name="组合 112"/>
          <p:cNvGrpSpPr/>
          <p:nvPr/>
        </p:nvGrpSpPr>
        <p:grpSpPr>
          <a:xfrm>
            <a:off x="5732321" y="2339902"/>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2</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grpSp>
      <p:grpSp>
        <p:nvGrpSpPr>
          <p:cNvPr id="106" name="组合 105"/>
          <p:cNvGrpSpPr/>
          <p:nvPr/>
        </p:nvGrpSpPr>
        <p:grpSpPr>
          <a:xfrm>
            <a:off x="2653945" y="3785732"/>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panose="020B0503020204020204" pitchFamily="34" charset="-122"/>
                  <a:ea typeface="微软雅黑" panose="020B0503020204020204" pitchFamily="34" charset="-122"/>
                </a:rPr>
                <a:t>X</a:t>
              </a:r>
              <a:endParaRPr lang="zh-CN" altLang="en-US" sz="1100" b="1" dirty="0">
                <a:solidFill>
                  <a:schemeClr val="tx1"/>
                </a:solidFill>
                <a:latin typeface="微软雅黑" panose="020B0503020204020204" pitchFamily="34" charset="-122"/>
                <a:ea typeface="微软雅黑" panose="020B0503020204020204"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b="1">
                <a:latin typeface="微软雅黑" panose="020B0503020204020204" pitchFamily="34" charset="-122"/>
                <a:ea typeface="微软雅黑" panose="020B0503020204020204"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521917218"/>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入接口</a:t>
                      </a: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标签</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出接口</a:t>
                      </a:r>
                    </a:p>
                  </a:txBody>
                  <a:tcPr marL="68580" marR="68580" marT="0" marB="0" anchor="ctr"/>
                </a:tc>
                <a:tc>
                  <a:txBody>
                    <a:bodyPr/>
                    <a:lstStyle/>
                    <a:p>
                      <a:pPr algn="ctr">
                        <a:lnSpc>
                          <a:spcPct val="100000"/>
                        </a:lnSpc>
                        <a:spcAft>
                          <a:spcPts val="0"/>
                        </a:spcAf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标签</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0</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a:solidFill>
                            <a:schemeClr val="tx1"/>
                          </a:solidFill>
                          <a:effectLst/>
                          <a:latin typeface="Montserrat" panose="00000500000000000000" pitchFamily="2" charset="0"/>
                          <a:ea typeface="微软雅黑 Light" panose="020B0502040204020203" pitchFamily="34" charset="-122"/>
                        </a:rPr>
                        <a:t>3</a:t>
                      </a:r>
                      <a:endParaRPr lang="zh-CN" sz="1200" b="0" baseline="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1</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pPr>
                      <a:r>
                        <a:rPr lang="en-US" sz="1200" b="0" baseline="0" dirty="0">
                          <a:solidFill>
                            <a:schemeClr val="tx1"/>
                          </a:solidFill>
                          <a:effectLst/>
                          <a:latin typeface="Montserrat" panose="00000500000000000000" pitchFamily="2" charset="0"/>
                          <a:ea typeface="微软雅黑 Light" panose="020B0502040204020203" pitchFamily="34" charset="-122"/>
                        </a:rPr>
                        <a:t>1</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4426</TotalTime>
  <Words>26997</Words>
  <Application>Microsoft Office PowerPoint</Application>
  <PresentationFormat>全屏显示(16:9)</PresentationFormat>
  <Paragraphs>5856</Paragraphs>
  <Slides>336</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336</vt:i4>
      </vt:variant>
    </vt:vector>
  </HeadingPairs>
  <TitlesOfParts>
    <vt:vector size="351" baseType="lpstr">
      <vt:lpstr>Montserrat</vt:lpstr>
      <vt:lpstr>微软雅黑 Light</vt:lpstr>
      <vt:lpstr>微软雅黑</vt:lpstr>
      <vt:lpstr>Tahoma</vt:lpstr>
      <vt:lpstr>Wingdings</vt:lpstr>
      <vt:lpstr>Courier New</vt:lpstr>
      <vt:lpstr>黑体</vt:lpstr>
      <vt:lpstr>Times New Roman</vt:lpstr>
      <vt:lpstr>Arial</vt:lpstr>
      <vt:lpstr>Symbol</vt:lpstr>
      <vt:lpstr>宋体</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1. 协议 BGP 的主要特点</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PowerPoint 演示文稿</vt:lpstr>
      <vt:lpstr>PowerPoint 演示文稿</vt:lpstr>
      <vt:lpstr>AS 跳数最小</vt:lpstr>
      <vt:lpstr>热土豆路由选择算法</vt:lpstr>
      <vt:lpstr>AS 跳数最小</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的要点：检查，转发</vt:lpstr>
      <vt:lpstr>RPB 的要点：形成以源为根节点的多播转发树</vt:lpstr>
      <vt:lpstr>RPB 的要点：剪枝与嫁接</vt:lpstr>
      <vt:lpstr>PowerPoint 演示文稿</vt:lpstr>
      <vt:lpstr>(2) 隧道技术 (tunneling) </vt:lpstr>
      <vt:lpstr>(3) 基于核心的发现技术 </vt:lpstr>
      <vt:lpstr>(3) 基于核心的发现技术 </vt:lpstr>
      <vt:lpstr>几种多播路由选择协议</vt:lpstr>
      <vt:lpstr>4.8 VPN NAT</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PowerPoint 演示文稿</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373</cp:revision>
  <dcterms:modified xsi:type="dcterms:W3CDTF">2025-11-02T02:05:11Z</dcterms:modified>
</cp:coreProperties>
</file>