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4"/>
  </p:notesMasterIdLst>
  <p:sldIdLst>
    <p:sldId id="257" r:id="rId2"/>
    <p:sldId id="693" r:id="rId3"/>
    <p:sldId id="446" r:id="rId4"/>
    <p:sldId id="750" r:id="rId5"/>
    <p:sldId id="449" r:id="rId6"/>
    <p:sldId id="470" r:id="rId7"/>
    <p:sldId id="450" r:id="rId8"/>
    <p:sldId id="265" r:id="rId9"/>
    <p:sldId id="267" r:id="rId10"/>
    <p:sldId id="268" r:id="rId11"/>
    <p:sldId id="659" r:id="rId12"/>
    <p:sldId id="468" r:id="rId13"/>
    <p:sldId id="458" r:id="rId14"/>
    <p:sldId id="661" r:id="rId15"/>
    <p:sldId id="662" r:id="rId16"/>
    <p:sldId id="663" r:id="rId17"/>
    <p:sldId id="276" r:id="rId18"/>
    <p:sldId id="277" r:id="rId19"/>
    <p:sldId id="278" r:id="rId20"/>
    <p:sldId id="279" r:id="rId21"/>
    <p:sldId id="737" r:id="rId22"/>
    <p:sldId id="471" r:id="rId23"/>
    <p:sldId id="472" r:id="rId24"/>
    <p:sldId id="473" r:id="rId25"/>
    <p:sldId id="667" r:id="rId26"/>
    <p:sldId id="734" r:id="rId27"/>
    <p:sldId id="475" r:id="rId28"/>
    <p:sldId id="694" r:id="rId29"/>
    <p:sldId id="736" r:id="rId30"/>
    <p:sldId id="696" r:id="rId31"/>
    <p:sldId id="735" r:id="rId32"/>
    <p:sldId id="476" r:id="rId33"/>
    <p:sldId id="668" r:id="rId34"/>
    <p:sldId id="477" r:id="rId35"/>
    <p:sldId id="478" r:id="rId36"/>
    <p:sldId id="479" r:id="rId37"/>
    <p:sldId id="751" r:id="rId38"/>
    <p:sldId id="480" r:id="rId39"/>
    <p:sldId id="481" r:id="rId40"/>
    <p:sldId id="482" r:id="rId41"/>
    <p:sldId id="669" r:id="rId42"/>
    <p:sldId id="483" r:id="rId43"/>
    <p:sldId id="484" r:id="rId44"/>
    <p:sldId id="671" r:id="rId45"/>
    <p:sldId id="486" r:id="rId46"/>
    <p:sldId id="488" r:id="rId47"/>
    <p:sldId id="672" r:id="rId48"/>
    <p:sldId id="489" r:id="rId49"/>
    <p:sldId id="490" r:id="rId50"/>
    <p:sldId id="491" r:id="rId51"/>
    <p:sldId id="492" r:id="rId52"/>
    <p:sldId id="493" r:id="rId53"/>
    <p:sldId id="494" r:id="rId54"/>
    <p:sldId id="495" r:id="rId55"/>
    <p:sldId id="497" r:id="rId56"/>
    <p:sldId id="673" r:id="rId57"/>
    <p:sldId id="697" r:id="rId58"/>
    <p:sldId id="738" r:id="rId59"/>
    <p:sldId id="498" r:id="rId60"/>
    <p:sldId id="739" r:id="rId61"/>
    <p:sldId id="501" r:id="rId62"/>
    <p:sldId id="505" r:id="rId63"/>
    <p:sldId id="504" r:id="rId64"/>
    <p:sldId id="509" r:id="rId65"/>
    <p:sldId id="676" r:id="rId66"/>
    <p:sldId id="740" r:id="rId67"/>
    <p:sldId id="749" r:id="rId68"/>
    <p:sldId id="513" r:id="rId69"/>
    <p:sldId id="698" r:id="rId70"/>
    <p:sldId id="680" r:id="rId71"/>
    <p:sldId id="520" r:id="rId72"/>
    <p:sldId id="742" r:id="rId73"/>
    <p:sldId id="741" r:id="rId74"/>
    <p:sldId id="521" r:id="rId75"/>
    <p:sldId id="522" r:id="rId76"/>
    <p:sldId id="523" r:id="rId77"/>
    <p:sldId id="524" r:id="rId78"/>
    <p:sldId id="525" r:id="rId79"/>
    <p:sldId id="526" r:id="rId80"/>
    <p:sldId id="527" r:id="rId81"/>
    <p:sldId id="528" r:id="rId82"/>
    <p:sldId id="529" r:id="rId83"/>
    <p:sldId id="530" r:id="rId84"/>
    <p:sldId id="531" r:id="rId85"/>
    <p:sldId id="532" r:id="rId86"/>
    <p:sldId id="533" r:id="rId87"/>
    <p:sldId id="534" r:id="rId88"/>
    <p:sldId id="535" r:id="rId89"/>
    <p:sldId id="536" r:id="rId90"/>
    <p:sldId id="537" r:id="rId91"/>
    <p:sldId id="702" r:id="rId92"/>
    <p:sldId id="701" r:id="rId93"/>
    <p:sldId id="703" r:id="rId94"/>
    <p:sldId id="705" r:id="rId95"/>
    <p:sldId id="707" r:id="rId96"/>
    <p:sldId id="708" r:id="rId97"/>
    <p:sldId id="709" r:id="rId98"/>
    <p:sldId id="541" r:id="rId99"/>
    <p:sldId id="542" r:id="rId100"/>
    <p:sldId id="543" r:id="rId101"/>
    <p:sldId id="710" r:id="rId102"/>
    <p:sldId id="546" r:id="rId103"/>
    <p:sldId id="711" r:id="rId104"/>
    <p:sldId id="713" r:id="rId105"/>
    <p:sldId id="715" r:id="rId106"/>
    <p:sldId id="716" r:id="rId107"/>
    <p:sldId id="717" r:id="rId108"/>
    <p:sldId id="718" r:id="rId109"/>
    <p:sldId id="721" r:id="rId110"/>
    <p:sldId id="722" r:id="rId111"/>
    <p:sldId id="719" r:id="rId112"/>
    <p:sldId id="552" r:id="rId113"/>
    <p:sldId id="554" r:id="rId114"/>
    <p:sldId id="555" r:id="rId115"/>
    <p:sldId id="557" r:id="rId116"/>
    <p:sldId id="559" r:id="rId117"/>
    <p:sldId id="560" r:id="rId118"/>
    <p:sldId id="561" r:id="rId119"/>
    <p:sldId id="562" r:id="rId120"/>
    <p:sldId id="563" r:id="rId121"/>
    <p:sldId id="564" r:id="rId122"/>
    <p:sldId id="723" r:id="rId123"/>
    <p:sldId id="567" r:id="rId124"/>
    <p:sldId id="566" r:id="rId125"/>
    <p:sldId id="568" r:id="rId126"/>
    <p:sldId id="569" r:id="rId127"/>
    <p:sldId id="571" r:id="rId128"/>
    <p:sldId id="743" r:id="rId129"/>
    <p:sldId id="724" r:id="rId130"/>
    <p:sldId id="573" r:id="rId131"/>
    <p:sldId id="574" r:id="rId132"/>
    <p:sldId id="575" r:id="rId133"/>
    <p:sldId id="576" r:id="rId134"/>
    <p:sldId id="578" r:id="rId135"/>
    <p:sldId id="579" r:id="rId136"/>
    <p:sldId id="580" r:id="rId137"/>
    <p:sldId id="581" r:id="rId138"/>
    <p:sldId id="582" r:id="rId139"/>
    <p:sldId id="685" r:id="rId140"/>
    <p:sldId id="583" r:id="rId141"/>
    <p:sldId id="727" r:id="rId142"/>
    <p:sldId id="585" r:id="rId143"/>
    <p:sldId id="586" r:id="rId144"/>
    <p:sldId id="587" r:id="rId145"/>
    <p:sldId id="731" r:id="rId146"/>
    <p:sldId id="729" r:id="rId147"/>
    <p:sldId id="730" r:id="rId148"/>
    <p:sldId id="592" r:id="rId149"/>
    <p:sldId id="593" r:id="rId150"/>
    <p:sldId id="594" r:id="rId151"/>
    <p:sldId id="595" r:id="rId152"/>
    <p:sldId id="596" r:id="rId153"/>
    <p:sldId id="597" r:id="rId154"/>
    <p:sldId id="598" r:id="rId155"/>
    <p:sldId id="599" r:id="rId156"/>
    <p:sldId id="600" r:id="rId157"/>
    <p:sldId id="686" r:id="rId158"/>
    <p:sldId id="687" r:id="rId159"/>
    <p:sldId id="601" r:id="rId160"/>
    <p:sldId id="744" r:id="rId161"/>
    <p:sldId id="603" r:id="rId162"/>
    <p:sldId id="604" r:id="rId163"/>
    <p:sldId id="605" r:id="rId164"/>
    <p:sldId id="606" r:id="rId165"/>
    <p:sldId id="607" r:id="rId166"/>
    <p:sldId id="608" r:id="rId167"/>
    <p:sldId id="609" r:id="rId168"/>
    <p:sldId id="611" r:id="rId169"/>
    <p:sldId id="612" r:id="rId170"/>
    <p:sldId id="613" r:id="rId171"/>
    <p:sldId id="614" r:id="rId172"/>
    <p:sldId id="616" r:id="rId173"/>
    <p:sldId id="618" r:id="rId174"/>
    <p:sldId id="619" r:id="rId175"/>
    <p:sldId id="732" r:id="rId176"/>
    <p:sldId id="733" r:id="rId177"/>
    <p:sldId id="622" r:id="rId178"/>
    <p:sldId id="623" r:id="rId179"/>
    <p:sldId id="624" r:id="rId180"/>
    <p:sldId id="689" r:id="rId181"/>
    <p:sldId id="625" r:id="rId182"/>
    <p:sldId id="626" r:id="rId183"/>
    <p:sldId id="627" r:id="rId184"/>
    <p:sldId id="628" r:id="rId185"/>
    <p:sldId id="629" r:id="rId186"/>
    <p:sldId id="691" r:id="rId187"/>
    <p:sldId id="630" r:id="rId188"/>
    <p:sldId id="631" r:id="rId189"/>
    <p:sldId id="632" r:id="rId190"/>
    <p:sldId id="633" r:id="rId191"/>
    <p:sldId id="634" r:id="rId192"/>
    <p:sldId id="635" r:id="rId193"/>
    <p:sldId id="637" r:id="rId194"/>
    <p:sldId id="745" r:id="rId195"/>
    <p:sldId id="638" r:id="rId196"/>
    <p:sldId id="639" r:id="rId197"/>
    <p:sldId id="640" r:id="rId198"/>
    <p:sldId id="641" r:id="rId199"/>
    <p:sldId id="642" r:id="rId200"/>
    <p:sldId id="643" r:id="rId201"/>
    <p:sldId id="644" r:id="rId202"/>
    <p:sldId id="746" r:id="rId203"/>
    <p:sldId id="645" r:id="rId204"/>
    <p:sldId id="646" r:id="rId205"/>
    <p:sldId id="647" r:id="rId206"/>
    <p:sldId id="649" r:id="rId207"/>
    <p:sldId id="650" r:id="rId208"/>
    <p:sldId id="652" r:id="rId209"/>
    <p:sldId id="748" r:id="rId210"/>
    <p:sldId id="653" r:id="rId211"/>
    <p:sldId id="654" r:id="rId212"/>
    <p:sldId id="655" r:id="rId213"/>
  </p:sldIdLst>
  <p:sldSz cx="9144000" cy="5143500" type="screen16x9"/>
  <p:notesSz cx="6858000" cy="9144000"/>
  <p:embeddedFontLst>
    <p:embeddedFont>
      <p:font typeface="Cambria Math" panose="02040503050406030204" pitchFamily="18" charset="0"/>
      <p:regular r:id="rId215"/>
    </p:embeddedFont>
    <p:embeddedFont>
      <p:font typeface="Montserrat" panose="00000500000000000000" pitchFamily="2" charset="0"/>
      <p:regular r:id="rId216"/>
    </p:embeddedFont>
    <p:embeddedFont>
      <p:font typeface="微软雅黑" panose="020B0503020204020204" pitchFamily="34" charset="-122"/>
      <p:regular r:id="rId217"/>
      <p:bold r:id="rId218"/>
    </p:embeddedFont>
    <p:embeddedFont>
      <p:font typeface="微软雅黑 Light" panose="020B0502040204020203" pitchFamily="34" charset="-122"/>
      <p:regular r:id="rId21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5420"/>
    <a:srgbClr val="E46C0A"/>
    <a:srgbClr val="00B050"/>
    <a:srgbClr val="7F131F"/>
    <a:srgbClr val="0000FF"/>
    <a:srgbClr val="85D1F7"/>
    <a:srgbClr val="FFFF00"/>
    <a:srgbClr val="00FF99"/>
    <a:srgbClr val="3366FF"/>
    <a:srgbClr val="00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782"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font" Target="fonts/font2.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font" Target="fonts/font3.fntdata"/><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font" Target="fonts/font4.fntdata"/><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font" Target="fonts/font5.fntdata"/><Relationship Id="rId3" Type="http://schemas.openxmlformats.org/officeDocument/2006/relationships/slide" Target="slides/slide2.xml"/><Relationship Id="rId214" Type="http://schemas.openxmlformats.org/officeDocument/2006/relationships/notesMaster" Target="notesMasters/notesMaster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font" Target="fonts/font1.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viewProps" Target="view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tableStyles" Target="tableStyle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Montserrat" panose="00000500000000000000" pitchFamily="2" charset="0"/>
              <a:ea typeface="微软雅黑 Light" panose="020B0502040204020203" pitchFamily="34" charset="-122"/>
            </a:rPr>
            <a:t>拥塞控制</a:t>
          </a:r>
        </a:p>
      </dgm:t>
    </dgm:pt>
    <dgm:pt modelId="{72B0F351-ECBB-41B6-83F8-2E44095783F4}" type="par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73030B4-A5E0-40C1-9AE1-02B25975AA00}" type="sib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10B3081-F341-4301-9185-BE738C183BBB}">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8D13681-61CB-42A0-AAD2-CF508B0ED4F0}" type="sib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3376B25E-A50F-4935-9A84-A2AE7897CCCF}">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F637746-0510-4A3C-90B7-D93A16B92D57}" type="sibTrans" cxnId="{38263262-CABC-4074-A5F3-D3F1E4C03317}">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DACD2956-BF18-4584-AF2D-3FD839777DF7}">
      <dgm:prSet phldrT="[文本]" custT="1"/>
      <dgm:spPr/>
      <dgm:t>
        <a:bodyPr/>
        <a:lstStyle/>
        <a:p>
          <a:r>
            <a:rPr lang="zh-CN" altLang="en-US" sz="2000" b="1" dirty="0">
              <a:latin typeface="Montserrat" panose="00000500000000000000" pitchFamily="2" charset="0"/>
              <a:ea typeface="微软雅黑 Light" panose="020B0502040204020203" pitchFamily="34" charset="-122"/>
            </a:rPr>
            <a:t>流量控制</a:t>
          </a:r>
        </a:p>
      </dgm:t>
    </dgm:pt>
    <dgm:pt modelId="{98DB6D87-467D-4D2D-AF82-D4E303370A2F}" type="par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FE01F61-F8E8-44D6-97EE-DEA0356464A7}" type="sib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541A8C11-D03E-479A-A84F-C3458AEF2E9A}">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9553568A-AD7C-418C-9424-82556C1E75C3}" type="sibTrans" cxnId="{47FAB983-5AC4-402F-9B23-9B04750BCF80}">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B38BB22-10D0-455B-AB19-4EC1F24B8A2F}">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0F0ABCB1-B289-4DF9-9D7E-62CB7D38863E}" type="sib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Montserrat" panose="00000500000000000000" pitchFamily="2" charset="0"/>
              <a:ea typeface="微软雅黑 Light" panose="020B0502040204020203" pitchFamily="34" charset="-122"/>
            </a:rPr>
            <a:t>开环控制</a:t>
          </a:r>
        </a:p>
      </dgm:t>
    </dgm:pt>
    <dgm:pt modelId="{72B0F351-ECBB-41B6-83F8-2E44095783F4}" type="par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73030B4-A5E0-40C1-9AE1-02B25975AA00}" type="sib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10B3081-F341-4301-9185-BE738C183BBB}">
      <dgm:prSet phldrT="[文本]" custT="1"/>
      <dgm:spPr/>
      <dgm:t>
        <a:bodyPr/>
        <a:lstStyle/>
        <a:p>
          <a:r>
            <a:rPr lang="zh-CN" altLang="en-US" sz="1800" b="0" dirty="0">
              <a:latin typeface="Montserrat" panose="00000500000000000000" pitchFamily="2" charset="0"/>
              <a:ea typeface="微软雅黑 Light" panose="020B0502040204020203" pitchFamily="34" charset="-122"/>
            </a:rPr>
            <a:t>在设计网络时，事先</a:t>
          </a:r>
          <a:r>
            <a:rPr lang="zh-CN" altLang="en-US" sz="1800" b="0" dirty="0">
              <a:solidFill>
                <a:srgbClr val="C00000"/>
              </a:solidFill>
              <a:latin typeface="Montserrat" panose="00000500000000000000" pitchFamily="2" charset="0"/>
              <a:ea typeface="微软雅黑 Light" panose="020B0502040204020203" pitchFamily="34" charset="-122"/>
            </a:rPr>
            <a:t>考虑周全，</a:t>
          </a:r>
          <a:r>
            <a:rPr lang="zh-CN" altLang="en-US" sz="1800" b="0" dirty="0">
              <a:latin typeface="Montserrat" panose="00000500000000000000" pitchFamily="2" charset="0"/>
              <a:ea typeface="微软雅黑 Light" panose="020B0502040204020203"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8D13681-61CB-42A0-AAD2-CF508B0ED4F0}" type="sib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DACD2956-BF18-4584-AF2D-3FD839777DF7}">
      <dgm:prSet phldrT="[文本]" custT="1"/>
      <dgm:spPr/>
      <dgm:t>
        <a:bodyPr/>
        <a:lstStyle/>
        <a:p>
          <a:r>
            <a:rPr lang="zh-CN" altLang="en-US" sz="2000" b="1" dirty="0">
              <a:latin typeface="Montserrat" panose="00000500000000000000" pitchFamily="2" charset="0"/>
              <a:ea typeface="微软雅黑 Light" panose="020B0502040204020203" pitchFamily="34" charset="-122"/>
            </a:rPr>
            <a:t>闭环控制</a:t>
          </a:r>
        </a:p>
      </dgm:t>
    </dgm:pt>
    <dgm:pt modelId="{98DB6D87-467D-4D2D-AF82-D4E303370A2F}" type="par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FE01F61-F8E8-44D6-97EE-DEA0356464A7}" type="sib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B38BB22-10D0-455B-AB19-4EC1F24B8A2F}">
      <dgm:prSet phldrT="[文本]" custT="1"/>
      <dgm:spPr/>
      <dgm:t>
        <a:bodyPr/>
        <a:lstStyle/>
        <a:p>
          <a:r>
            <a:rPr lang="zh-CN" altLang="en-US" sz="1800" b="0" dirty="0">
              <a:latin typeface="Montserrat" panose="00000500000000000000" pitchFamily="2" charset="0"/>
              <a:ea typeface="微软雅黑 Light" panose="020B0502040204020203" pitchFamily="34" charset="-122"/>
            </a:rPr>
            <a:t>基于反馈环路的概念。</a:t>
          </a:r>
        </a:p>
      </dgm:t>
    </dgm:pt>
    <dgm:pt modelId="{6383180C-1983-48A1-B1E4-F574E14CDBD1}" type="par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0F0ABCB1-B289-4DF9-9D7E-62CB7D38863E}" type="sib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C2448606-BF7E-4CD3-8BBC-E63E41446859}">
      <dgm:prSet phldrT="[文本]" custT="1"/>
      <dgm:spPr/>
      <dgm:t>
        <a:bodyPr/>
        <a:lstStyle/>
        <a:p>
          <a:r>
            <a:rPr lang="zh-CN" altLang="en-US" sz="1800" b="0" dirty="0">
              <a:solidFill>
                <a:srgbClr val="0000FF"/>
              </a:solidFill>
              <a:latin typeface="Montserrat" panose="00000500000000000000" pitchFamily="2" charset="0"/>
              <a:ea typeface="微软雅黑 Light" panose="020B0502040204020203" pitchFamily="34" charset="-122"/>
            </a:rPr>
            <a:t>思路：</a:t>
          </a:r>
          <a:r>
            <a:rPr lang="zh-CN" altLang="en-US" sz="1800" b="0" dirty="0">
              <a:latin typeface="Montserrat" panose="00000500000000000000" pitchFamily="2" charset="0"/>
              <a:ea typeface="微软雅黑 Light" panose="020B0502040204020203" pitchFamily="34" charset="-122"/>
            </a:rPr>
            <a:t>力争</a:t>
          </a:r>
          <a:r>
            <a:rPr lang="zh-CN" altLang="en-US" sz="1800" b="0" dirty="0">
              <a:solidFill>
                <a:srgbClr val="0000FF"/>
              </a:solidFill>
              <a:latin typeface="Montserrat" panose="00000500000000000000" pitchFamily="2" charset="0"/>
              <a:ea typeface="微软雅黑 Light" panose="020B0502040204020203" pitchFamily="34" charset="-122"/>
            </a:rPr>
            <a:t>避免</a:t>
          </a:r>
          <a:r>
            <a:rPr lang="zh-CN" altLang="en-US" sz="1800" b="0" dirty="0">
              <a:latin typeface="Montserrat" panose="00000500000000000000" pitchFamily="2" charset="0"/>
              <a:ea typeface="微软雅黑 Light" panose="020B0502040204020203" pitchFamily="34" charset="-122"/>
            </a:rPr>
            <a:t>发生拥塞。</a:t>
          </a:r>
        </a:p>
      </dgm:t>
    </dgm:pt>
    <dgm:pt modelId="{2DDFBD46-B857-474E-8B27-CCB24E2F9B0D}" type="parTrans" cxnId="{7A27A0D6-C7AD-41E7-9686-374209348154}">
      <dgm:prSet/>
      <dgm:spPr/>
      <dgm:t>
        <a:bodyPr/>
        <a:lstStyle/>
        <a:p>
          <a:endParaRPr lang="zh-CN" altLang="en-US">
            <a:latin typeface="Montserrat" panose="00000500000000000000" pitchFamily="2" charset="0"/>
            <a:ea typeface="微软雅黑 Light" panose="020B0502040204020203" pitchFamily="34" charset="-122"/>
          </a:endParaRPr>
        </a:p>
      </dgm:t>
    </dgm:pt>
    <dgm:pt modelId="{C3B707A5-D44C-439A-8798-74A2B4D73421}" type="sibTrans" cxnId="{7A27A0D6-C7AD-41E7-9686-374209348154}">
      <dgm:prSet/>
      <dgm:spPr/>
      <dgm:t>
        <a:bodyPr/>
        <a:lstStyle/>
        <a:p>
          <a:endParaRPr lang="zh-CN" altLang="en-US">
            <a:latin typeface="Montserrat" panose="00000500000000000000" pitchFamily="2" charset="0"/>
            <a:ea typeface="微软雅黑 Light" panose="020B0502040204020203" pitchFamily="34" charset="-122"/>
          </a:endParaRPr>
        </a:p>
      </dgm:t>
    </dgm:pt>
    <dgm:pt modelId="{69230521-20F8-455C-9DE0-EB64591477B4}">
      <dgm:prSet custT="1"/>
      <dgm:spPr/>
      <dgm:t>
        <a:bodyPr/>
        <a:lstStyle/>
        <a:p>
          <a:r>
            <a:rPr lang="zh-CN" altLang="en-US" sz="1800" b="0" dirty="0">
              <a:latin typeface="Montserrat" panose="00000500000000000000" pitchFamily="2" charset="0"/>
              <a:ea typeface="微软雅黑 Light" panose="020B0502040204020203" pitchFamily="34" charset="-122"/>
            </a:rPr>
            <a:t>根据网络</a:t>
          </a:r>
          <a:r>
            <a:rPr lang="zh-CN" altLang="en-US" sz="1800" b="0" dirty="0">
              <a:solidFill>
                <a:srgbClr val="C00000"/>
              </a:solidFill>
              <a:latin typeface="Montserrat" panose="00000500000000000000" pitchFamily="2" charset="0"/>
              <a:ea typeface="微软雅黑 Light" panose="020B0502040204020203" pitchFamily="34" charset="-122"/>
            </a:rPr>
            <a:t>当前运行状态</a:t>
          </a:r>
          <a:r>
            <a:rPr lang="zh-CN" altLang="en-US" sz="1800" b="0" dirty="0">
              <a:latin typeface="Montserrat" panose="00000500000000000000" pitchFamily="2" charset="0"/>
              <a:ea typeface="微软雅黑 Light" panose="020B0502040204020203" pitchFamily="34" charset="-122"/>
            </a:rPr>
            <a:t>采取相应控制措施。</a:t>
          </a:r>
        </a:p>
      </dgm:t>
    </dgm:pt>
    <dgm:pt modelId="{12D5CF6D-3ECF-44C8-8A00-2243EEE11BB5}" type="parTrans" cxnId="{68D7CDFF-D5B6-4B82-BCD9-4ADC99E5D786}">
      <dgm:prSet/>
      <dgm:spPr/>
      <dgm:t>
        <a:bodyPr/>
        <a:lstStyle/>
        <a:p>
          <a:endParaRPr lang="zh-CN" altLang="en-US">
            <a:latin typeface="Montserrat" panose="00000500000000000000" pitchFamily="2" charset="0"/>
            <a:ea typeface="微软雅黑 Light" panose="020B0502040204020203" pitchFamily="34" charset="-122"/>
          </a:endParaRPr>
        </a:p>
      </dgm:t>
    </dgm:pt>
    <dgm:pt modelId="{3125DBAA-2F9E-499F-A3BE-6A4DF87D05F3}" type="sibTrans" cxnId="{68D7CDFF-D5B6-4B82-BCD9-4ADC99E5D786}">
      <dgm:prSet/>
      <dgm:spPr/>
      <dgm:t>
        <a:bodyPr/>
        <a:lstStyle/>
        <a:p>
          <a:endParaRPr lang="zh-CN" altLang="en-US">
            <a:latin typeface="Montserrat" panose="00000500000000000000" pitchFamily="2" charset="0"/>
            <a:ea typeface="微软雅黑 Light" panose="020B0502040204020203" pitchFamily="34" charset="-122"/>
          </a:endParaRPr>
        </a:p>
      </dgm:t>
    </dgm:pt>
    <dgm:pt modelId="{238D7AE3-4A96-4FFA-8329-EDA2C3555B30}">
      <dgm:prSet custT="1"/>
      <dgm:spPr/>
      <dgm:t>
        <a:bodyPr/>
        <a:lstStyle/>
        <a:p>
          <a:r>
            <a:rPr lang="zh-CN" altLang="en-US" sz="1800" b="0" dirty="0">
              <a:solidFill>
                <a:srgbClr val="0000FF"/>
              </a:solidFill>
              <a:latin typeface="Montserrat" panose="00000500000000000000" pitchFamily="2" charset="0"/>
              <a:ea typeface="微软雅黑 Light" panose="020B0502040204020203" pitchFamily="34" charset="-122"/>
            </a:rPr>
            <a:t>思路：</a:t>
          </a:r>
          <a:r>
            <a:rPr lang="zh-CN" altLang="en-US" sz="1800" b="0" dirty="0">
              <a:latin typeface="Montserrat" panose="00000500000000000000" pitchFamily="2" charset="0"/>
              <a:ea typeface="微软雅黑 Light" panose="020B0502040204020203" pitchFamily="34" charset="-122"/>
            </a:rPr>
            <a:t>在发生拥塞后，采取措施进行控制，</a:t>
          </a:r>
          <a:r>
            <a:rPr lang="zh-CN" altLang="en-US" sz="1800" b="0" dirty="0">
              <a:solidFill>
                <a:srgbClr val="0000FF"/>
              </a:solidFill>
              <a:latin typeface="Montserrat" panose="00000500000000000000" pitchFamily="2" charset="0"/>
              <a:ea typeface="微软雅黑 Light" panose="020B0502040204020203" pitchFamily="34" charset="-122"/>
            </a:rPr>
            <a:t>消除</a:t>
          </a:r>
          <a:r>
            <a:rPr lang="zh-CN" altLang="en-US" sz="1800" b="0" dirty="0">
              <a:latin typeface="Montserrat" panose="00000500000000000000" pitchFamily="2" charset="0"/>
              <a:ea typeface="微软雅黑 Light" panose="020B0502040204020203" pitchFamily="34" charset="-122"/>
            </a:rPr>
            <a:t>拥塞。</a:t>
          </a:r>
        </a:p>
      </dgm:t>
    </dgm:pt>
    <dgm:pt modelId="{8F3ECFA1-802E-4A72-BEC6-F40B249AD54A}" type="parTrans" cxnId="{AD39759F-59CA-49CB-B3FD-19EAB19B2916}">
      <dgm:prSet/>
      <dgm:spPr/>
      <dgm:t>
        <a:bodyPr/>
        <a:lstStyle/>
        <a:p>
          <a:endParaRPr lang="zh-CN" altLang="en-US">
            <a:latin typeface="Montserrat" panose="00000500000000000000" pitchFamily="2" charset="0"/>
            <a:ea typeface="微软雅黑 Light" panose="020B0502040204020203" pitchFamily="34" charset="-122"/>
          </a:endParaRPr>
        </a:p>
      </dgm:t>
    </dgm:pt>
    <dgm:pt modelId="{E88472DA-7723-4EBC-9681-94AC3B0DDFFF}" type="sibTrans" cxnId="{AD39759F-59CA-49CB-B3FD-19EAB19B2916}">
      <dgm:prSet/>
      <dgm:spPr/>
      <dgm:t>
        <a:bodyPr/>
        <a:lstStyle/>
        <a:p>
          <a:endParaRPr lang="zh-CN" altLang="en-US">
            <a:latin typeface="Montserrat" panose="00000500000000000000" pitchFamily="2" charset="0"/>
            <a:ea typeface="微软雅黑 Light" panose="020B0502040204020203" pitchFamily="34" charset="-122"/>
          </a:endParaRPr>
        </a:p>
      </dgm:t>
    </dgm:pt>
    <dgm:pt modelId="{654DBB23-7453-4B2A-8F48-11AC62514B72}">
      <dgm:prSet phldrT="[文本]" custT="1"/>
      <dgm:spPr/>
      <dgm:t>
        <a:bodyPr/>
        <a:lstStyle/>
        <a:p>
          <a:r>
            <a:rPr lang="zh-CN" altLang="en-US" sz="1800" b="0" dirty="0">
              <a:latin typeface="Montserrat" panose="00000500000000000000" pitchFamily="2" charset="0"/>
              <a:ea typeface="微软雅黑 Light" panose="020B0502040204020203"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latin typeface="Montserrat" panose="00000500000000000000" pitchFamily="2" charset="0"/>
            <a:ea typeface="微软雅黑 Light" panose="020B0502040204020203" pitchFamily="34" charset="-122"/>
          </a:endParaRPr>
        </a:p>
      </dgm:t>
    </dgm:pt>
    <dgm:pt modelId="{DD57D3ED-98B7-4B38-92D2-CBFD5CB8FFB1}" type="sibTrans" cxnId="{DE96F142-2113-4AC2-8084-749F805247C8}">
      <dgm:prSet/>
      <dgm:spPr/>
      <dgm:t>
        <a:bodyPr/>
        <a:lstStyle/>
        <a:p>
          <a:endParaRPr lang="zh-CN" altLang="en-US">
            <a:latin typeface="Montserrat" panose="00000500000000000000" pitchFamily="2" charset="0"/>
            <a:ea typeface="微软雅黑 Light" panose="020B0502040204020203" pitchFamily="34" charset="-122"/>
          </a:endParaRPr>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anose="020B0503020204020204" pitchFamily="34" charset="-122"/>
            <a:ea typeface="微软雅黑" panose="020B0503020204020204"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6273"/>
          <a:ext cx="3322842" cy="6912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拥塞控制</a:t>
          </a:r>
        </a:p>
      </dsp:txBody>
      <dsp:txXfrm>
        <a:off x="34" y="26273"/>
        <a:ext cx="3322842" cy="691200"/>
      </dsp:txXfrm>
    </dsp:sp>
    <dsp:sp modelId="{72C5BA33-78B4-45DE-B9CA-22A272DDBE2C}">
      <dsp:nvSpPr>
        <dsp:cNvPr id="0" name=""/>
        <dsp:cNvSpPr/>
      </dsp:nvSpPr>
      <dsp:spPr>
        <a:xfrm>
          <a:off x="34" y="717473"/>
          <a:ext cx="3322842" cy="270108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dsp:txBody>
      <dsp:txXfrm>
        <a:off x="34" y="717473"/>
        <a:ext cx="3322842" cy="2701080"/>
      </dsp:txXfrm>
    </dsp:sp>
    <dsp:sp modelId="{3ACFDD6B-963A-45AA-AED6-29B2C66DA9EB}">
      <dsp:nvSpPr>
        <dsp:cNvPr id="0" name=""/>
        <dsp:cNvSpPr/>
      </dsp:nvSpPr>
      <dsp:spPr>
        <a:xfrm>
          <a:off x="3788074" y="26273"/>
          <a:ext cx="3322842" cy="6912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流量控制</a:t>
          </a:r>
        </a:p>
      </dsp:txBody>
      <dsp:txXfrm>
        <a:off x="3788074" y="26273"/>
        <a:ext cx="3322842" cy="691200"/>
      </dsp:txXfrm>
    </dsp:sp>
    <dsp:sp modelId="{AAB91EAD-75AE-4168-8A7F-B7A023AD8367}">
      <dsp:nvSpPr>
        <dsp:cNvPr id="0" name=""/>
        <dsp:cNvSpPr/>
      </dsp:nvSpPr>
      <dsp:spPr>
        <a:xfrm>
          <a:off x="3788074" y="717473"/>
          <a:ext cx="3322842" cy="2701080"/>
        </a:xfrm>
        <a:prstGeom prst="rect">
          <a:avLst/>
        </a:prstGeom>
        <a:no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点对点通信量的控制，是个端到端的问题。</a:t>
          </a:r>
        </a:p>
      </dsp:txBody>
      <dsp:txXfrm>
        <a:off x="3788074" y="717473"/>
        <a:ext cx="3322842" cy="27010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8897"/>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开环控制</a:t>
          </a:r>
        </a:p>
      </dsp:txBody>
      <dsp:txXfrm>
        <a:off x="34" y="28897"/>
        <a:ext cx="3322842" cy="604800"/>
      </dsp:txXfrm>
    </dsp:sp>
    <dsp:sp modelId="{72C5BA33-78B4-45DE-B9CA-22A272DDBE2C}">
      <dsp:nvSpPr>
        <dsp:cNvPr id="0" name=""/>
        <dsp:cNvSpPr/>
      </dsp:nvSpPr>
      <dsp:spPr>
        <a:xfrm>
          <a:off x="34" y="633697"/>
          <a:ext cx="3322842" cy="2075220"/>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在设计网络时，事先</a:t>
          </a:r>
          <a:r>
            <a:rPr lang="zh-CN" altLang="en-US" sz="1800" b="0" kern="1200" dirty="0">
              <a:solidFill>
                <a:srgbClr val="C00000"/>
              </a:solidFill>
              <a:latin typeface="Montserrat" panose="00000500000000000000" pitchFamily="2" charset="0"/>
              <a:ea typeface="微软雅黑 Light" panose="020B0502040204020203" pitchFamily="34" charset="-122"/>
            </a:rPr>
            <a:t>考虑周全，</a:t>
          </a:r>
          <a:r>
            <a:rPr lang="zh-CN" altLang="en-US" sz="1800" b="0" kern="1200" dirty="0">
              <a:latin typeface="Montserrat" panose="00000500000000000000" pitchFamily="2" charset="0"/>
              <a:ea typeface="微软雅黑 Light" panose="020B0502040204020203" pitchFamily="34" charset="-122"/>
            </a:rPr>
            <a:t>力求工作时不发生拥塞。</a:t>
          </a:r>
        </a:p>
        <a:p>
          <a:pPr marL="171450" lvl="1" indent="-171450" algn="l" defTabSz="800100">
            <a:lnSpc>
              <a:spcPct val="90000"/>
            </a:lnSpc>
            <a:spcBef>
              <a:spcPct val="0"/>
            </a:spcBef>
            <a:spcAft>
              <a:spcPct val="15000"/>
            </a:spcAft>
            <a:buChar char="•"/>
          </a:pPr>
          <a:r>
            <a:rPr lang="zh-CN" altLang="en-US" sz="1800" b="0" kern="1200" dirty="0">
              <a:solidFill>
                <a:srgbClr val="0000FF"/>
              </a:solidFill>
              <a:latin typeface="Montserrat" panose="00000500000000000000" pitchFamily="2" charset="0"/>
              <a:ea typeface="微软雅黑 Light" panose="020B0502040204020203" pitchFamily="34" charset="-122"/>
            </a:rPr>
            <a:t>思路：</a:t>
          </a:r>
          <a:r>
            <a:rPr lang="zh-CN" altLang="en-US" sz="1800" b="0" kern="1200" dirty="0">
              <a:latin typeface="Montserrat" panose="00000500000000000000" pitchFamily="2" charset="0"/>
              <a:ea typeface="微软雅黑 Light" panose="020B0502040204020203" pitchFamily="34" charset="-122"/>
            </a:rPr>
            <a:t>力争</a:t>
          </a:r>
          <a:r>
            <a:rPr lang="zh-CN" altLang="en-US" sz="1800" b="0" kern="1200" dirty="0">
              <a:solidFill>
                <a:srgbClr val="0000FF"/>
              </a:solidFill>
              <a:latin typeface="Montserrat" panose="00000500000000000000" pitchFamily="2" charset="0"/>
              <a:ea typeface="微软雅黑 Light" panose="020B0502040204020203" pitchFamily="34" charset="-122"/>
            </a:rPr>
            <a:t>避免</a:t>
          </a:r>
          <a:r>
            <a:rPr lang="zh-CN" altLang="en-US" sz="1800" b="0" kern="1200" dirty="0">
              <a:latin typeface="Montserrat" panose="00000500000000000000" pitchFamily="2" charset="0"/>
              <a:ea typeface="微软雅黑 Light" panose="020B0502040204020203" pitchFamily="34" charset="-122"/>
            </a:rPr>
            <a:t>发生拥塞。</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但一旦整个系统运行起来，就不再中途进行改正了。</a:t>
          </a:r>
        </a:p>
      </dsp:txBody>
      <dsp:txXfrm>
        <a:off x="34" y="633697"/>
        <a:ext cx="3322842" cy="2075220"/>
      </dsp:txXfrm>
    </dsp:sp>
    <dsp:sp modelId="{3ACFDD6B-963A-45AA-AED6-29B2C66DA9EB}">
      <dsp:nvSpPr>
        <dsp:cNvPr id="0" name=""/>
        <dsp:cNvSpPr/>
      </dsp:nvSpPr>
      <dsp:spPr>
        <a:xfrm>
          <a:off x="3788074" y="28897"/>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闭环控制</a:t>
          </a:r>
        </a:p>
      </dsp:txBody>
      <dsp:txXfrm>
        <a:off x="3788074" y="28897"/>
        <a:ext cx="3322842" cy="604800"/>
      </dsp:txXfrm>
    </dsp:sp>
    <dsp:sp modelId="{AAB91EAD-75AE-4168-8A7F-B7A023AD8367}">
      <dsp:nvSpPr>
        <dsp:cNvPr id="0" name=""/>
        <dsp:cNvSpPr/>
      </dsp:nvSpPr>
      <dsp:spPr>
        <a:xfrm>
          <a:off x="3788074" y="633697"/>
          <a:ext cx="3322842" cy="2075220"/>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基于反馈环路的概念。</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根据网络</a:t>
          </a:r>
          <a:r>
            <a:rPr lang="zh-CN" altLang="en-US" sz="1800" b="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800" b="0" kern="1200" dirty="0">
              <a:latin typeface="Montserrat" panose="00000500000000000000" pitchFamily="2" charset="0"/>
              <a:ea typeface="微软雅黑 Light" panose="020B0502040204020203" pitchFamily="34" charset="-122"/>
            </a:rPr>
            <a:t>采取相应控制措施。</a:t>
          </a:r>
        </a:p>
        <a:p>
          <a:pPr marL="171450" lvl="1" indent="-171450" algn="l" defTabSz="800100">
            <a:lnSpc>
              <a:spcPct val="90000"/>
            </a:lnSpc>
            <a:spcBef>
              <a:spcPct val="0"/>
            </a:spcBef>
            <a:spcAft>
              <a:spcPct val="15000"/>
            </a:spcAft>
            <a:buChar char="•"/>
          </a:pPr>
          <a:r>
            <a:rPr lang="zh-CN" altLang="en-US" sz="1800" b="0" kern="1200" dirty="0">
              <a:solidFill>
                <a:srgbClr val="0000FF"/>
              </a:solidFill>
              <a:latin typeface="Montserrat" panose="00000500000000000000" pitchFamily="2" charset="0"/>
              <a:ea typeface="微软雅黑 Light" panose="020B0502040204020203" pitchFamily="34" charset="-122"/>
            </a:rPr>
            <a:t>思路：</a:t>
          </a:r>
          <a:r>
            <a:rPr lang="zh-CN" altLang="en-US" sz="1800" b="0" kern="1200" dirty="0">
              <a:latin typeface="Montserrat" panose="00000500000000000000" pitchFamily="2" charset="0"/>
              <a:ea typeface="微软雅黑 Light" panose="020B0502040204020203" pitchFamily="34" charset="-122"/>
            </a:rPr>
            <a:t>在发生拥塞后，采取措施进行控制，</a:t>
          </a:r>
          <a:r>
            <a:rPr lang="zh-CN" altLang="en-US" sz="1800" b="0" kern="1200" dirty="0">
              <a:solidFill>
                <a:srgbClr val="0000FF"/>
              </a:solidFill>
              <a:latin typeface="Montserrat" panose="00000500000000000000" pitchFamily="2" charset="0"/>
              <a:ea typeface="微软雅黑 Light" panose="020B0502040204020203" pitchFamily="34" charset="-122"/>
            </a:rPr>
            <a:t>消除</a:t>
          </a:r>
          <a:r>
            <a:rPr lang="zh-CN" altLang="en-US" sz="1800" b="0" kern="1200" dirty="0">
              <a:latin typeface="Montserrat" panose="00000500000000000000" pitchFamily="2" charset="0"/>
              <a:ea typeface="微软雅黑 Light" panose="020B0502040204020203" pitchFamily="34" charset="-122"/>
            </a:rPr>
            <a:t>拥塞。</a:t>
          </a:r>
        </a:p>
      </dsp:txBody>
      <dsp:txXfrm>
        <a:off x="3788074" y="633697"/>
        <a:ext cx="3322842" cy="20752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2025/11/22</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61</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94</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5.wmf"/></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 Id="rId5" Type="http://schemas.openxmlformats.org/officeDocument/2006/relationships/image" Target="../media/image14.svg"/><Relationship Id="rId4" Type="http://schemas.openxmlformats.org/officeDocument/2006/relationships/image" Target="../media/image13.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prstGeom prst="rect">
            <a:avLst/>
          </a:prstGeo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a:extLst>
              <a:ext uri="{FF2B5EF4-FFF2-40B4-BE49-F238E27FC236}">
                <a16:creationId xmlns:a16="http://schemas.microsoft.com/office/drawing/2014/main" id="{9D801BA9-9C6A-24D0-E174-E3604316CB49}"/>
              </a:ext>
            </a:extLst>
          </p:cNvPr>
          <p:cNvSpPr/>
          <p:nvPr/>
        </p:nvSpPr>
        <p:spPr>
          <a:xfrm>
            <a:off x="5343480" y="3819032"/>
            <a:ext cx="174345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Congestion  Control</a:t>
            </a:r>
            <a:endParaRPr lang="zh-CN" altLang="en-US" sz="1200" dirty="0">
              <a:solidFill>
                <a:schemeClr val="tx1"/>
              </a:solidFill>
              <a:latin typeface="Montserrat" panose="00000500000000000000" pitchFamily="2" charset="0"/>
            </a:endParaRPr>
          </a:p>
        </p:txBody>
      </p:sp>
      <p:sp>
        <p:nvSpPr>
          <p:cNvPr id="4" name="矩形: 圆角 3">
            <a:extLst>
              <a:ext uri="{FF2B5EF4-FFF2-40B4-BE49-F238E27FC236}">
                <a16:creationId xmlns:a16="http://schemas.microsoft.com/office/drawing/2014/main" id="{B7D33566-285E-1CCB-5E98-A8DFB5DC5691}"/>
              </a:ext>
            </a:extLst>
          </p:cNvPr>
          <p:cNvSpPr/>
          <p:nvPr/>
        </p:nvSpPr>
        <p:spPr>
          <a:xfrm>
            <a:off x="5343480" y="4133081"/>
            <a:ext cx="1832473"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Transmission Control</a:t>
            </a:r>
            <a:endParaRPr lang="zh-CN" altLang="en-US" sz="1200" dirty="0">
              <a:solidFill>
                <a:schemeClr val="tx1"/>
              </a:solidFill>
              <a:latin typeface="Montserrat" panose="00000500000000000000" pitchFamily="2" charset="0"/>
            </a:endParaRPr>
          </a:p>
        </p:txBody>
      </p:sp>
      <p:cxnSp>
        <p:nvCxnSpPr>
          <p:cNvPr id="10" name="连接符: 曲线 9">
            <a:extLst>
              <a:ext uri="{FF2B5EF4-FFF2-40B4-BE49-F238E27FC236}">
                <a16:creationId xmlns:a16="http://schemas.microsoft.com/office/drawing/2014/main" id="{56D54B0A-0C00-1FA5-AA24-AB208E9F3E39}"/>
              </a:ext>
            </a:extLst>
          </p:cNvPr>
          <p:cNvCxnSpPr>
            <a:cxnSpLocks/>
            <a:stCxn id="16" idx="3"/>
            <a:endCxn id="4" idx="1"/>
          </p:cNvCxnSpPr>
          <p:nvPr/>
        </p:nvCxnSpPr>
        <p:spPr>
          <a:xfrm>
            <a:off x="5109304" y="3344167"/>
            <a:ext cx="234176" cy="942148"/>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AD181E9B-9708-8757-6641-0EC70B8857D3}"/>
              </a:ext>
            </a:extLst>
          </p:cNvPr>
          <p:cNvSpPr/>
          <p:nvPr/>
        </p:nvSpPr>
        <p:spPr>
          <a:xfrm>
            <a:off x="5343480" y="3504983"/>
            <a:ext cx="123073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Flow Control</a:t>
            </a:r>
            <a:endParaRPr lang="zh-CN" altLang="en-US" sz="1200" dirty="0">
              <a:solidFill>
                <a:schemeClr val="tx1"/>
              </a:solidFill>
              <a:latin typeface="Montserrat" panose="00000500000000000000" pitchFamily="2" charset="0"/>
            </a:endParaRPr>
          </a:p>
        </p:txBody>
      </p:sp>
      <p:cxnSp>
        <p:nvCxnSpPr>
          <p:cNvPr id="14" name="连接符: 曲线 13">
            <a:extLst>
              <a:ext uri="{FF2B5EF4-FFF2-40B4-BE49-F238E27FC236}">
                <a16:creationId xmlns:a16="http://schemas.microsoft.com/office/drawing/2014/main" id="{94161A20-9CEA-26C5-90F1-7284ECA5C704}"/>
              </a:ext>
            </a:extLst>
          </p:cNvPr>
          <p:cNvCxnSpPr>
            <a:cxnSpLocks/>
            <a:stCxn id="40" idx="1"/>
            <a:endCxn id="16" idx="3"/>
          </p:cNvCxnSpPr>
          <p:nvPr/>
        </p:nvCxnSpPr>
        <p:spPr>
          <a:xfrm rot="10800000" flipV="1">
            <a:off x="5109304" y="2402021"/>
            <a:ext cx="234176" cy="942146"/>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C4F8D70D-848F-8E10-57D5-0246D0F22858}"/>
              </a:ext>
            </a:extLst>
          </p:cNvPr>
          <p:cNvSpPr/>
          <p:nvPr/>
        </p:nvSpPr>
        <p:spPr>
          <a:xfrm>
            <a:off x="4209304" y="3200167"/>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TCP</a:t>
            </a:r>
            <a:endParaRPr lang="zh-CN" altLang="en-US" sz="1200" dirty="0">
              <a:latin typeface="Montserrat" panose="00000500000000000000" pitchFamily="2" charset="0"/>
            </a:endParaRPr>
          </a:p>
        </p:txBody>
      </p:sp>
      <p:sp>
        <p:nvSpPr>
          <p:cNvPr id="19" name="矩形: 圆角 18">
            <a:extLst>
              <a:ext uri="{FF2B5EF4-FFF2-40B4-BE49-F238E27FC236}">
                <a16:creationId xmlns:a16="http://schemas.microsoft.com/office/drawing/2014/main" id="{81530229-6710-AE17-7125-34E7C102D265}"/>
              </a:ext>
            </a:extLst>
          </p:cNvPr>
          <p:cNvSpPr/>
          <p:nvPr/>
        </p:nvSpPr>
        <p:spPr>
          <a:xfrm>
            <a:off x="4209304" y="1629922"/>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cxnSp>
        <p:nvCxnSpPr>
          <p:cNvPr id="22" name="连接符: 曲线 21">
            <a:extLst>
              <a:ext uri="{FF2B5EF4-FFF2-40B4-BE49-F238E27FC236}">
                <a16:creationId xmlns:a16="http://schemas.microsoft.com/office/drawing/2014/main" id="{983C1AC8-3735-FBF8-1D52-F46340D06312}"/>
              </a:ext>
            </a:extLst>
          </p:cNvPr>
          <p:cNvCxnSpPr>
            <a:cxnSpLocks/>
            <a:stCxn id="2" idx="3"/>
            <a:endCxn id="19" idx="1"/>
          </p:cNvCxnSpPr>
          <p:nvPr/>
        </p:nvCxnSpPr>
        <p:spPr>
          <a:xfrm flipV="1">
            <a:off x="3938177" y="1773922"/>
            <a:ext cx="271127" cy="77158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24" name="连接符: 曲线 23">
            <a:extLst>
              <a:ext uri="{FF2B5EF4-FFF2-40B4-BE49-F238E27FC236}">
                <a16:creationId xmlns:a16="http://schemas.microsoft.com/office/drawing/2014/main" id="{3DA28828-58BF-9B1A-291D-0957A943AB17}"/>
              </a:ext>
            </a:extLst>
          </p:cNvPr>
          <p:cNvCxnSpPr>
            <a:cxnSpLocks/>
            <a:stCxn id="2" idx="3"/>
            <a:endCxn id="16" idx="1"/>
          </p:cNvCxnSpPr>
          <p:nvPr/>
        </p:nvCxnSpPr>
        <p:spPr>
          <a:xfrm>
            <a:off x="3938177" y="2545507"/>
            <a:ext cx="271127" cy="798660"/>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矩形: 圆角 4">
            <a:extLst>
              <a:ext uri="{FF2B5EF4-FFF2-40B4-BE49-F238E27FC236}">
                <a16:creationId xmlns:a16="http://schemas.microsoft.com/office/drawing/2014/main" id="{905996E1-56AA-82E7-6CF1-E2487C38B700}"/>
              </a:ext>
            </a:extLst>
          </p:cNvPr>
          <p:cNvSpPr/>
          <p:nvPr/>
        </p:nvSpPr>
        <p:spPr>
          <a:xfrm>
            <a:off x="5343480" y="1306640"/>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27" name="矩形: 圆角 26">
            <a:extLst>
              <a:ext uri="{FF2B5EF4-FFF2-40B4-BE49-F238E27FC236}">
                <a16:creationId xmlns:a16="http://schemas.microsoft.com/office/drawing/2014/main" id="{898AEF52-F490-0F36-A470-B464CBBB3A09}"/>
              </a:ext>
            </a:extLst>
          </p:cNvPr>
          <p:cNvSpPr/>
          <p:nvPr/>
        </p:nvSpPr>
        <p:spPr>
          <a:xfrm>
            <a:off x="5343480" y="1934738"/>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30" name="矩形: 圆角 29">
            <a:extLst>
              <a:ext uri="{FF2B5EF4-FFF2-40B4-BE49-F238E27FC236}">
                <a16:creationId xmlns:a16="http://schemas.microsoft.com/office/drawing/2014/main" id="{ED9F41D9-8A87-74D1-8F6F-37331E80A992}"/>
              </a:ext>
            </a:extLst>
          </p:cNvPr>
          <p:cNvSpPr/>
          <p:nvPr/>
        </p:nvSpPr>
        <p:spPr>
          <a:xfrm>
            <a:off x="5343480" y="1620689"/>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cxnSp>
        <p:nvCxnSpPr>
          <p:cNvPr id="32" name="连接符: 曲线 31">
            <a:extLst>
              <a:ext uri="{FF2B5EF4-FFF2-40B4-BE49-F238E27FC236}">
                <a16:creationId xmlns:a16="http://schemas.microsoft.com/office/drawing/2014/main" id="{D08E4A9E-E361-3112-58CA-69602652C745}"/>
              </a:ext>
            </a:extLst>
          </p:cNvPr>
          <p:cNvCxnSpPr>
            <a:cxnSpLocks/>
            <a:stCxn id="19" idx="3"/>
            <a:endCxn id="5" idx="1"/>
          </p:cNvCxnSpPr>
          <p:nvPr/>
        </p:nvCxnSpPr>
        <p:spPr>
          <a:xfrm flipV="1">
            <a:off x="5109304" y="1459874"/>
            <a:ext cx="234176" cy="314048"/>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AF9E3494-5E84-62F5-D89D-02754C7A641C}"/>
              </a:ext>
            </a:extLst>
          </p:cNvPr>
          <p:cNvCxnSpPr>
            <a:cxnSpLocks/>
            <a:stCxn id="19" idx="3"/>
            <a:endCxn id="27" idx="1"/>
          </p:cNvCxnSpPr>
          <p:nvPr/>
        </p:nvCxnSpPr>
        <p:spPr>
          <a:xfrm>
            <a:off x="5109304" y="1773922"/>
            <a:ext cx="234176" cy="314050"/>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sp>
        <p:nvSpPr>
          <p:cNvPr id="40" name="矩形: 圆角 39">
            <a:extLst>
              <a:ext uri="{FF2B5EF4-FFF2-40B4-BE49-F238E27FC236}">
                <a16:creationId xmlns:a16="http://schemas.microsoft.com/office/drawing/2014/main" id="{08774DFB-316F-2054-8747-D046465FF42D}"/>
              </a:ext>
            </a:extLst>
          </p:cNvPr>
          <p:cNvSpPr/>
          <p:nvPr/>
        </p:nvSpPr>
        <p:spPr>
          <a:xfrm>
            <a:off x="5343480" y="2248787"/>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41" name="矩形: 圆角 40">
            <a:extLst>
              <a:ext uri="{FF2B5EF4-FFF2-40B4-BE49-F238E27FC236}">
                <a16:creationId xmlns:a16="http://schemas.microsoft.com/office/drawing/2014/main" id="{651E765E-43FC-7A97-9E05-4DD50A8CE83F}"/>
              </a:ext>
            </a:extLst>
          </p:cNvPr>
          <p:cNvSpPr/>
          <p:nvPr/>
        </p:nvSpPr>
        <p:spPr>
          <a:xfrm>
            <a:off x="5343480" y="2876885"/>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43" name="矩形: 圆角 42">
            <a:extLst>
              <a:ext uri="{FF2B5EF4-FFF2-40B4-BE49-F238E27FC236}">
                <a16:creationId xmlns:a16="http://schemas.microsoft.com/office/drawing/2014/main" id="{ED1C1ABE-74E2-F973-EF21-B1BAEAC354A8}"/>
              </a:ext>
            </a:extLst>
          </p:cNvPr>
          <p:cNvSpPr/>
          <p:nvPr/>
        </p:nvSpPr>
        <p:spPr>
          <a:xfrm>
            <a:off x="5343480" y="2562836"/>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sp>
        <p:nvSpPr>
          <p:cNvPr id="55" name="矩形: 圆角 54">
            <a:extLst>
              <a:ext uri="{FF2B5EF4-FFF2-40B4-BE49-F238E27FC236}">
                <a16:creationId xmlns:a16="http://schemas.microsoft.com/office/drawing/2014/main" id="{E8714F0E-B58F-F69E-78D3-8DE639F4A248}"/>
              </a:ext>
            </a:extLst>
          </p:cNvPr>
          <p:cNvSpPr/>
          <p:nvPr/>
        </p:nvSpPr>
        <p:spPr>
          <a:xfrm>
            <a:off x="5343480" y="3190934"/>
            <a:ext cx="56163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ARQ</a:t>
            </a:r>
            <a:endParaRPr lang="zh-CN" altLang="en-US" sz="1200" dirty="0">
              <a:solidFill>
                <a:schemeClr val="tx1"/>
              </a:solidFill>
              <a:latin typeface="Montserrat" panose="00000500000000000000" pitchFamily="2" charset="0"/>
            </a:endParaRPr>
          </a:p>
        </p:txBody>
      </p:sp>
      <p:sp>
        <p:nvSpPr>
          <p:cNvPr id="2" name="矩形: 圆角 1">
            <a:extLst>
              <a:ext uri="{FF2B5EF4-FFF2-40B4-BE49-F238E27FC236}">
                <a16:creationId xmlns:a16="http://schemas.microsoft.com/office/drawing/2014/main" id="{EA1617AA-3BC5-A6C2-7966-463E2BC3AC46}"/>
              </a:ext>
            </a:extLst>
          </p:cNvPr>
          <p:cNvSpPr/>
          <p:nvPr/>
        </p:nvSpPr>
        <p:spPr>
          <a:xfrm>
            <a:off x="3218177" y="2401507"/>
            <a:ext cx="720000" cy="288000"/>
          </a:xfrm>
          <a:prstGeom prst="roundRect">
            <a:avLst/>
          </a:prstGeom>
          <a:solidFill>
            <a:schemeClr val="accent6">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36" name="矩形: 圆角 35">
            <a:extLst>
              <a:ext uri="{FF2B5EF4-FFF2-40B4-BE49-F238E27FC236}">
                <a16:creationId xmlns:a16="http://schemas.microsoft.com/office/drawing/2014/main" id="{C6587821-DD92-9679-7756-3E8C2C8D118E}"/>
              </a:ext>
            </a:extLst>
          </p:cNvPr>
          <p:cNvSpPr/>
          <p:nvPr/>
        </p:nvSpPr>
        <p:spPr>
          <a:xfrm>
            <a:off x="1641687" y="2365507"/>
            <a:ext cx="1440000" cy="360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Transport Layer</a:t>
            </a:r>
            <a:endParaRPr lang="zh-CN" altLang="en-US" sz="1200" dirty="0">
              <a:latin typeface="Montserrat" panose="00000500000000000000" pitchFamily="2" charset="0"/>
              <a:ea typeface="微软雅黑" panose="020B0503020204020204" pitchFamily="34" charset="-122"/>
            </a:endParaRPr>
          </a:p>
        </p:txBody>
      </p:sp>
      <p:sp>
        <p:nvSpPr>
          <p:cNvPr id="45" name="文本框 44">
            <a:extLst>
              <a:ext uri="{FF2B5EF4-FFF2-40B4-BE49-F238E27FC236}">
                <a16:creationId xmlns:a16="http://schemas.microsoft.com/office/drawing/2014/main" id="{B63C1D9F-248B-6391-9C9F-C11D00357A79}"/>
              </a:ext>
            </a:extLst>
          </p:cNvPr>
          <p:cNvSpPr txBox="1"/>
          <p:nvPr/>
        </p:nvSpPr>
        <p:spPr>
          <a:xfrm>
            <a:off x="715546" y="2562836"/>
            <a:ext cx="737702" cy="276999"/>
          </a:xfrm>
          <a:prstGeom prst="rect">
            <a:avLst/>
          </a:prstGeom>
          <a:noFill/>
        </p:spPr>
        <p:txBody>
          <a:bodyPr wrap="none" rtlCol="0">
            <a:spAutoFit/>
          </a:bodyPr>
          <a:lstStyle/>
          <a:p>
            <a:pPr algn="r"/>
            <a:r>
              <a:rPr lang="en-US" altLang="zh-CN" sz="1200" dirty="0">
                <a:latin typeface="Montserrat" panose="00000500000000000000" pitchFamily="2" charset="0"/>
              </a:rPr>
              <a:t>Service</a:t>
            </a:r>
            <a:endParaRPr lang="zh-CN" altLang="en-US" sz="1200" dirty="0">
              <a:latin typeface="Montserrat" panose="00000500000000000000" pitchFamily="2" charset="0"/>
            </a:endParaRPr>
          </a:p>
        </p:txBody>
      </p:sp>
      <p:sp>
        <p:nvSpPr>
          <p:cNvPr id="47" name="文本框 46">
            <a:extLst>
              <a:ext uri="{FF2B5EF4-FFF2-40B4-BE49-F238E27FC236}">
                <a16:creationId xmlns:a16="http://schemas.microsoft.com/office/drawing/2014/main" id="{C46D948E-2C8E-46A3-325D-C75748993BB3}"/>
              </a:ext>
            </a:extLst>
          </p:cNvPr>
          <p:cNvSpPr txBox="1"/>
          <p:nvPr/>
        </p:nvSpPr>
        <p:spPr>
          <a:xfrm>
            <a:off x="686691" y="2278255"/>
            <a:ext cx="766557" cy="276999"/>
          </a:xfrm>
          <a:prstGeom prst="rect">
            <a:avLst/>
          </a:prstGeom>
          <a:noFill/>
        </p:spPr>
        <p:txBody>
          <a:bodyPr wrap="none" rtlCol="0">
            <a:spAutoFit/>
          </a:bodyPr>
          <a:lstStyle/>
          <a:p>
            <a:pPr algn="r"/>
            <a:r>
              <a:rPr lang="en-US" altLang="zh-CN" sz="1200" dirty="0">
                <a:latin typeface="Montserrat" panose="00000500000000000000" pitchFamily="2" charset="0"/>
              </a:rPr>
              <a:t>Mission</a:t>
            </a:r>
            <a:endParaRPr lang="zh-CN" altLang="en-US" sz="1200" dirty="0">
              <a:latin typeface="Montserrat" panose="00000500000000000000" pitchFamily="2" charset="0"/>
            </a:endParaRPr>
          </a:p>
        </p:txBody>
      </p:sp>
      <p:cxnSp>
        <p:nvCxnSpPr>
          <p:cNvPr id="48" name="连接符: 曲线 47">
            <a:extLst>
              <a:ext uri="{FF2B5EF4-FFF2-40B4-BE49-F238E27FC236}">
                <a16:creationId xmlns:a16="http://schemas.microsoft.com/office/drawing/2014/main" id="{0BD5F33A-F972-4E85-59BF-B38A559A84E5}"/>
              </a:ext>
            </a:extLst>
          </p:cNvPr>
          <p:cNvCxnSpPr>
            <a:cxnSpLocks/>
            <a:stCxn id="36" idx="1"/>
            <a:endCxn id="47" idx="3"/>
          </p:cNvCxnSpPr>
          <p:nvPr/>
        </p:nvCxnSpPr>
        <p:spPr>
          <a:xfrm rot="10800000">
            <a:off x="1453249" y="2416755"/>
            <a:ext cx="188439" cy="128752"/>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连接符: 曲线 50">
            <a:extLst>
              <a:ext uri="{FF2B5EF4-FFF2-40B4-BE49-F238E27FC236}">
                <a16:creationId xmlns:a16="http://schemas.microsoft.com/office/drawing/2014/main" id="{52985972-F2EC-AC88-56CA-9B9D5CF1048C}"/>
              </a:ext>
            </a:extLst>
          </p:cNvPr>
          <p:cNvCxnSpPr>
            <a:cxnSpLocks/>
            <a:stCxn id="36" idx="1"/>
            <a:endCxn id="45" idx="3"/>
          </p:cNvCxnSpPr>
          <p:nvPr/>
        </p:nvCxnSpPr>
        <p:spPr>
          <a:xfrm rot="10800000" flipV="1">
            <a:off x="1453249" y="2545506"/>
            <a:ext cx="188439" cy="155829"/>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ABCEF811-7F64-BD01-2CB9-E070B7A67A30}"/>
              </a:ext>
            </a:extLst>
          </p:cNvPr>
          <p:cNvCxnSpPr>
            <a:stCxn id="36" idx="3"/>
            <a:endCxn id="2" idx="1"/>
          </p:cNvCxnSpPr>
          <p:nvPr/>
        </p:nvCxnSpPr>
        <p:spPr>
          <a:xfrm>
            <a:off x="3081687" y="2545507"/>
            <a:ext cx="136490" cy="0"/>
          </a:xfrm>
          <a:prstGeom prst="line">
            <a:avLst/>
          </a:prstGeom>
          <a:ln>
            <a:solidFill>
              <a:srgbClr val="E9542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9662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a:prstGeom prst="rect">
            <a:avLst/>
          </a:prstGeo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a:prstGeom prst="rect">
            <a:avLst/>
          </a:prstGeo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a:prstGeom prst="rect">
            <a:avLst/>
          </a:prstGeo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a:prstGeom prst="rect">
            <a:avLst/>
          </a:prstGeo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a:prstGeom prst="rect">
            <a:avLst/>
          </a:prstGeo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a:prstGeom prst="rect">
            <a:avLst/>
          </a:prstGeo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a:prstGeom prst="rect">
            <a:avLst/>
          </a:prstGeo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a:prstGeom prst="rect">
            <a:avLst/>
          </a:prstGeo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a:prstGeom prst="rect">
            <a:avLst/>
          </a:prstGeo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a:prstGeom prst="rect">
            <a:avLst/>
          </a:prstGeo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a:prstGeom prst="rect">
            <a:avLst/>
          </a:prstGeo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a:prstGeom prst="rect">
            <a:avLst/>
          </a:prstGeo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a:prstGeom prst="rect">
            <a:avLst/>
          </a:prstGeo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a:prstGeom prst="rect">
            <a:avLst/>
          </a:prstGeo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a:prstGeom prst="rect">
            <a:avLst/>
          </a:prstGeo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949740881"/>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744981484"/>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2335547081"/>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prstGeom prst="rect">
            <a:avLst/>
          </a:prstGeo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prstGeom prst="rect">
            <a:avLst/>
          </a:prstGeo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prstGeom prst="rect">
            <a:avLst/>
          </a:prstGeo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dirty="0">
                <a:solidFill>
                  <a:schemeClr val="bg1"/>
                </a:solidFill>
                <a:latin typeface="微软雅黑" pitchFamily="34" charset="-122"/>
                <a:ea typeface="微软雅黑" pitchFamily="34" charset="-122"/>
              </a:rPr>
              <a:t>在计算检验和时，临时把 </a:t>
            </a:r>
            <a:r>
              <a:rPr lang="en-US" altLang="zh-CN" dirty="0">
                <a:solidFill>
                  <a:schemeClr val="bg1"/>
                </a:solidFill>
                <a:latin typeface="微软雅黑" pitchFamily="34" charset="-122"/>
                <a:ea typeface="微软雅黑" pitchFamily="34" charset="-122"/>
              </a:rPr>
              <a:t>12 </a:t>
            </a:r>
            <a:r>
              <a:rPr lang="zh-CN" altLang="en-US" dirty="0">
                <a:solidFill>
                  <a:schemeClr val="bg1"/>
                </a:solidFill>
                <a:latin typeface="微软雅黑" pitchFamily="34" charset="-122"/>
                <a:ea typeface="微软雅黑" pitchFamily="34" charset="-122"/>
              </a:rPr>
              <a:t>字节的“</a:t>
            </a:r>
            <a:r>
              <a:rPr lang="zh-CN" altLang="en-US" dirty="0">
                <a:solidFill>
                  <a:srgbClr val="FFFF00"/>
                </a:solidFill>
                <a:latin typeface="微软雅黑" pitchFamily="34" charset="-122"/>
                <a:ea typeface="微软雅黑" pitchFamily="34" charset="-122"/>
              </a:rPr>
              <a:t>伪首部</a:t>
            </a:r>
            <a:r>
              <a:rPr lang="zh-CN" altLang="en-US" dirty="0">
                <a:solidFill>
                  <a:schemeClr val="bg1"/>
                </a:solidFill>
                <a:latin typeface="微软雅黑" pitchFamily="34" charset="-122"/>
                <a:ea typeface="微软雅黑" pitchFamily="34" charset="-122"/>
              </a:rPr>
              <a:t>”和 </a:t>
            </a:r>
            <a:r>
              <a:rPr lang="en-US" altLang="zh-CN" dirty="0">
                <a:solidFill>
                  <a:schemeClr val="bg1"/>
                </a:solidFill>
                <a:latin typeface="微软雅黑" pitchFamily="34" charset="-122"/>
                <a:ea typeface="微软雅黑" pitchFamily="34" charset="-122"/>
              </a:rPr>
              <a:t>UDP </a:t>
            </a:r>
            <a:r>
              <a:rPr lang="zh-CN" altLang="en-US"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chemeClr val="tx2">
              <a:lumMod val="60000"/>
              <a:lumOff val="40000"/>
            </a:schemeClr>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8"/>
          <p:cNvSpPr>
            <a:spLocks noChangeArrowheads="1"/>
          </p:cNvSpPr>
          <p:nvPr/>
        </p:nvSpPr>
        <p:spPr bwMode="auto">
          <a:xfrm>
            <a:off x="3314219" y="2398740"/>
            <a:ext cx="33165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11"/>
          <p:cNvSpPr>
            <a:spLocks noChangeArrowheads="1"/>
          </p:cNvSpPr>
          <p:nvPr/>
        </p:nvSpPr>
        <p:spPr bwMode="auto">
          <a:xfrm>
            <a:off x="1915585" y="1726120"/>
            <a:ext cx="478444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chemeClr val="tx2">
              <a:lumMod val="60000"/>
              <a:lumOff val="40000"/>
            </a:schemeClr>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Montserrat" panose="00000500000000000000" pitchFamily="2" charset="0"/>
                <a:ea typeface="微软雅黑 Light" panose="020B0502040204020203"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检验和</a:t>
            </a:r>
          </a:p>
        </p:txBody>
      </p:sp>
      <p:sp>
        <p:nvSpPr>
          <p:cNvPr id="22" name="Text Box 21"/>
          <p:cNvSpPr txBox="1">
            <a:spLocks noChangeArrowheads="1"/>
          </p:cNvSpPr>
          <p:nvPr/>
        </p:nvSpPr>
        <p:spPr bwMode="auto">
          <a:xfrm>
            <a:off x="5160505" y="3545540"/>
            <a:ext cx="8531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数         据</a:t>
            </a:r>
          </a:p>
        </p:txBody>
      </p:sp>
      <p:sp>
        <p:nvSpPr>
          <p:cNvPr id="23" name="Text Box 22"/>
          <p:cNvSpPr txBox="1">
            <a:spLocks noChangeArrowheads="1"/>
          </p:cNvSpPr>
          <p:nvPr/>
        </p:nvSpPr>
        <p:spPr bwMode="auto">
          <a:xfrm>
            <a:off x="2982509" y="3536396"/>
            <a:ext cx="64953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chemeClr val="bg1"/>
                </a:solidFill>
                <a:latin typeface="Montserrat" panose="00000500000000000000" pitchFamily="2" charset="0"/>
                <a:ea typeface="微软雅黑 Light" panose="020B0502040204020203" pitchFamily="34" charset="-122"/>
              </a:rPr>
              <a:t>IP</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7" name="Text Box 26"/>
          <p:cNvSpPr txBox="1">
            <a:spLocks noChangeArrowheads="1"/>
          </p:cNvSpPr>
          <p:nvPr/>
        </p:nvSpPr>
        <p:spPr bwMode="auto">
          <a:xfrm>
            <a:off x="5866236" y="1751455"/>
            <a:ext cx="8467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源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30" name="Text Box 29"/>
          <p:cNvSpPr txBox="1">
            <a:spLocks noChangeArrowheads="1"/>
          </p:cNvSpPr>
          <p:nvPr/>
        </p:nvSpPr>
        <p:spPr bwMode="auto">
          <a:xfrm>
            <a:off x="5178684" y="1751455"/>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0</a:t>
            </a:r>
          </a:p>
        </p:txBody>
      </p:sp>
      <p:sp>
        <p:nvSpPr>
          <p:cNvPr id="31" name="Text Box 30"/>
          <p:cNvSpPr txBox="1">
            <a:spLocks noChangeArrowheads="1"/>
          </p:cNvSpPr>
          <p:nvPr/>
        </p:nvSpPr>
        <p:spPr bwMode="auto">
          <a:xfrm>
            <a:off x="5488861" y="1751455"/>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17</a:t>
            </a:r>
          </a:p>
        </p:txBody>
      </p:sp>
      <p:sp>
        <p:nvSpPr>
          <p:cNvPr id="32" name="Line 31"/>
          <p:cNvSpPr>
            <a:spLocks noChangeShapeType="1"/>
          </p:cNvSpPr>
          <p:nvPr/>
        </p:nvSpPr>
        <p:spPr bwMode="auto">
          <a:xfrm>
            <a:off x="2867701" y="3971343"/>
            <a:ext cx="4248000"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4" name="Text Box 33"/>
          <p:cNvSpPr txBox="1">
            <a:spLocks noChangeArrowheads="1"/>
          </p:cNvSpPr>
          <p:nvPr/>
        </p:nvSpPr>
        <p:spPr bwMode="auto">
          <a:xfrm>
            <a:off x="4737953" y="3835615"/>
            <a:ext cx="845103"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36" name="Text Box 35"/>
          <p:cNvSpPr txBox="1">
            <a:spLocks noChangeArrowheads="1"/>
          </p:cNvSpPr>
          <p:nvPr/>
        </p:nvSpPr>
        <p:spPr bwMode="auto">
          <a:xfrm>
            <a:off x="2585929"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7" name="Text Box 36"/>
          <p:cNvSpPr txBox="1">
            <a:spLocks noChangeArrowheads="1"/>
          </p:cNvSpPr>
          <p:nvPr/>
        </p:nvSpPr>
        <p:spPr bwMode="auto">
          <a:xfrm>
            <a:off x="4179985"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8" name="Text Box 37"/>
          <p:cNvSpPr txBox="1">
            <a:spLocks noChangeArrowheads="1"/>
          </p:cNvSpPr>
          <p:nvPr/>
        </p:nvSpPr>
        <p:spPr bwMode="auto">
          <a:xfrm>
            <a:off x="5178684"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39" name="Text Box 38"/>
          <p:cNvSpPr txBox="1">
            <a:spLocks noChangeArrowheads="1"/>
          </p:cNvSpPr>
          <p:nvPr/>
        </p:nvSpPr>
        <p:spPr bwMode="auto">
          <a:xfrm>
            <a:off x="5551351"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1" name="Text Box 40"/>
          <p:cNvSpPr txBox="1">
            <a:spLocks noChangeArrowheads="1"/>
          </p:cNvSpPr>
          <p:nvPr/>
        </p:nvSpPr>
        <p:spPr bwMode="auto">
          <a:xfrm>
            <a:off x="2675687" y="2149130"/>
            <a:ext cx="328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用户数据报</a:t>
            </a:r>
          </a:p>
        </p:txBody>
      </p:sp>
      <p:sp>
        <p:nvSpPr>
          <p:cNvPr id="10" name="Rectangle 9"/>
          <p:cNvSpPr>
            <a:spLocks noChangeArrowheads="1"/>
          </p:cNvSpPr>
          <p:nvPr/>
        </p:nvSpPr>
        <p:spPr bwMode="auto">
          <a:xfrm>
            <a:off x="3670979" y="3518271"/>
            <a:ext cx="340060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8" name="Rectangle 48"/>
          <p:cNvSpPr>
            <a:spLocks noChangeArrowheads="1"/>
          </p:cNvSpPr>
          <p:nvPr/>
        </p:nvSpPr>
        <p:spPr bwMode="auto">
          <a:xfrm>
            <a:off x="4443580" y="2932034"/>
            <a:ext cx="26280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Rectangle 4"/>
          <p:cNvSpPr>
            <a:spLocks noChangeArrowheads="1"/>
          </p:cNvSpPr>
          <p:nvPr/>
        </p:nvSpPr>
        <p:spPr bwMode="auto">
          <a:xfrm>
            <a:off x="3669842" y="2932034"/>
            <a:ext cx="773737" cy="302048"/>
          </a:xfrm>
          <a:prstGeom prst="rect">
            <a:avLst/>
          </a:prstGeom>
          <a:solidFill>
            <a:schemeClr val="tx2">
              <a:lumMod val="60000"/>
              <a:lumOff val="40000"/>
            </a:schemeClr>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0" name="Text Box 50"/>
          <p:cNvSpPr txBox="1">
            <a:spLocks noChangeArrowheads="1"/>
          </p:cNvSpPr>
          <p:nvPr/>
        </p:nvSpPr>
        <p:spPr bwMode="auto">
          <a:xfrm>
            <a:off x="3647200" y="2931904"/>
            <a:ext cx="8515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chemeClr val="bg1"/>
                </a:solidFill>
                <a:latin typeface="Montserrat" panose="00000500000000000000" pitchFamily="2" charset="0"/>
                <a:ea typeface="微软雅黑 Light" panose="020B0502040204020203" pitchFamily="34" charset="-122"/>
              </a:rPr>
              <a:t>UDP</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49" name="Text Box 49"/>
          <p:cNvSpPr txBox="1">
            <a:spLocks noChangeArrowheads="1"/>
          </p:cNvSpPr>
          <p:nvPr/>
        </p:nvSpPr>
        <p:spPr bwMode="auto">
          <a:xfrm>
            <a:off x="5536712" y="2929872"/>
            <a:ext cx="9621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数         据</a:t>
            </a:r>
          </a:p>
        </p:txBody>
      </p:sp>
      <p:sp>
        <p:nvSpPr>
          <p:cNvPr id="2" name="AutoShape 6">
            <a:extLst>
              <a:ext uri="{FF2B5EF4-FFF2-40B4-BE49-F238E27FC236}">
                <a16:creationId xmlns:a16="http://schemas.microsoft.com/office/drawing/2014/main" id="{65711CE2-2339-CFC8-33BB-F212F7DD7E43}"/>
              </a:ext>
            </a:extLst>
          </p:cNvPr>
          <p:cNvSpPr>
            <a:spLocks noChangeArrowheads="1"/>
          </p:cNvSpPr>
          <p:nvPr/>
        </p:nvSpPr>
        <p:spPr bwMode="auto">
          <a:xfrm rot="16200000">
            <a:off x="5335351" y="3287099"/>
            <a:ext cx="432000" cy="190878"/>
          </a:xfrm>
          <a:prstGeom prst="leftArrow">
            <a:avLst>
              <a:gd name="adj1" fmla="val 50000"/>
              <a:gd name="adj2" fmla="val 69093"/>
            </a:avLst>
          </a:prstGeom>
          <a:solidFill>
            <a:srgbClr val="E95420"/>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51203" y="1309482"/>
            <a:ext cx="2749036" cy="2021473"/>
            <a:chOff x="1640108" y="1280222"/>
            <a:chExt cx="2501023"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3"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solidFill>
                    <a:srgbClr val="000099"/>
                  </a:solidFill>
                  <a:latin typeface="微软雅黑" pitchFamily="34" charset="-122"/>
                  <a:ea typeface="微软雅黑" pitchFamily="34" charset="-122"/>
                </a:rPr>
                <a:t>12 </a:t>
              </a:r>
              <a:r>
                <a:rPr kumimoji="1" lang="zh-CN" altLang="en-US" sz="1100" dirty="0">
                  <a:solidFill>
                    <a:srgbClr val="000099"/>
                  </a:solidFill>
                  <a:latin typeface="微软雅黑" pitchFamily="34" charset="-122"/>
                  <a:ea typeface="微软雅黑" pitchFamily="34" charset="-122"/>
                </a:rPr>
                <a:t>字节</a:t>
              </a:r>
            </a:p>
            <a:p>
              <a:pPr algn="r"/>
              <a:r>
                <a:rPr kumimoji="1" lang="zh-CN" altLang="en-US" sz="1100"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40108"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8 </a:t>
              </a:r>
              <a:r>
                <a:rPr kumimoji="1" lang="zh-CN" altLang="en-US" sz="1100" dirty="0">
                  <a:solidFill>
                    <a:srgbClr val="000099"/>
                  </a:solidFill>
                  <a:latin typeface="微软雅黑" pitchFamily="34" charset="-122"/>
                  <a:ea typeface="微软雅黑" pitchFamily="34" charset="-122"/>
                </a:rPr>
                <a:t>字节</a:t>
              </a:r>
            </a:p>
            <a:p>
              <a:pPr algn="r"/>
              <a:r>
                <a:rPr kumimoji="1" lang="en-US" altLang="zh-CN" sz="1100" dirty="0">
                  <a:solidFill>
                    <a:srgbClr val="000099"/>
                  </a:solidFill>
                  <a:latin typeface="微软雅黑" pitchFamily="34" charset="-122"/>
                  <a:ea typeface="微软雅黑" pitchFamily="34" charset="-122"/>
                </a:rPr>
                <a:t>UDP </a:t>
              </a:r>
              <a:r>
                <a:rPr kumimoji="1" lang="zh-CN" altLang="en-US" sz="1100"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847198" y="2415891"/>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7 </a:t>
              </a:r>
              <a:r>
                <a:rPr kumimoji="1" lang="zh-CN" altLang="en-US" sz="1100" dirty="0">
                  <a:solidFill>
                    <a:srgbClr val="000099"/>
                  </a:solidFill>
                  <a:latin typeface="微软雅黑" pitchFamily="34" charset="-122"/>
                  <a:ea typeface="微软雅黑" pitchFamily="34" charset="-122"/>
                </a:rPr>
                <a:t>字节</a:t>
              </a:r>
              <a:endParaRPr kumimoji="1" lang="en-US" altLang="zh-CN" sz="1100" dirty="0">
                <a:solidFill>
                  <a:srgbClr val="000099"/>
                </a:solidFill>
                <a:latin typeface="微软雅黑" pitchFamily="34" charset="-122"/>
                <a:ea typeface="微软雅黑" pitchFamily="34" charset="-122"/>
              </a:endParaRPr>
            </a:p>
            <a:p>
              <a:pPr algn="r"/>
              <a:r>
                <a:rPr kumimoji="1" lang="zh-CN" altLang="en-US" sz="1100" dirty="0">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15=8+7</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prstGeom prst="rect">
            <a:avLst/>
          </a:prstGeo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1FF99-2F87-8640-F39F-3CC5E9E144BD}"/>
            </a:ext>
          </a:extLst>
        </p:cNvPr>
        <p:cNvGrpSpPr/>
        <p:nvPr/>
      </p:nvGrpSpPr>
      <p:grpSpPr>
        <a:xfrm>
          <a:off x="0" y="0"/>
          <a:ext cx="0" cy="0"/>
          <a:chOff x="0" y="0"/>
          <a:chExt cx="0" cy="0"/>
        </a:xfrm>
      </p:grpSpPr>
      <p:grpSp>
        <p:nvGrpSpPr>
          <p:cNvPr id="42" name="组合 41">
            <a:extLst>
              <a:ext uri="{FF2B5EF4-FFF2-40B4-BE49-F238E27FC236}">
                <a16:creationId xmlns:a16="http://schemas.microsoft.com/office/drawing/2014/main" id="{0F924299-1493-C114-735E-80AE282E3A2B}"/>
              </a:ext>
            </a:extLst>
          </p:cNvPr>
          <p:cNvGrpSpPr/>
          <p:nvPr/>
        </p:nvGrpSpPr>
        <p:grpSpPr>
          <a:xfrm>
            <a:off x="2809248" y="1099293"/>
            <a:ext cx="4838720" cy="3287054"/>
            <a:chOff x="2662944" y="1099293"/>
            <a:chExt cx="4838720" cy="3287054"/>
          </a:xfrm>
        </p:grpSpPr>
        <p:sp>
          <p:nvSpPr>
            <p:cNvPr id="7" name="Text Box 7">
              <a:extLst>
                <a:ext uri="{FF2B5EF4-FFF2-40B4-BE49-F238E27FC236}">
                  <a16:creationId xmlns:a16="http://schemas.microsoft.com/office/drawing/2014/main" id="{54F517C5-7A21-8BC3-4192-E96D8112CDE9}"/>
                </a:ext>
              </a:extLst>
            </p:cNvPr>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10011001 00010011  →  153.19</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00001000 01101000  →  8.104</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10101011 00000011  →  171.3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00001110 00001011  →  14.11</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00010001  →  0 </a:t>
              </a:r>
              <a:r>
                <a:rPr kumimoji="1" lang="zh-CN" altLang="en-US" sz="1200" dirty="0">
                  <a:latin typeface="Calibri" panose="020F0502020204030204" pitchFamily="34" charset="0"/>
                  <a:ea typeface="微软雅黑" pitchFamily="34" charset="-122"/>
                  <a:cs typeface="Calibri" panose="020F0502020204030204" pitchFamily="34" charset="0"/>
                </a:rPr>
                <a:t>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17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00000100 00111111  →  1087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00001101  →  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00000000  →  0</a:t>
              </a:r>
              <a:r>
                <a:rPr kumimoji="1" lang="zh-CN" altLang="en-US" sz="1200" dirty="0">
                  <a:latin typeface="Calibri" panose="020F0502020204030204" pitchFamily="34" charset="0"/>
                  <a:ea typeface="微软雅黑" pitchFamily="34" charset="-122"/>
                  <a:cs typeface="Calibri" panose="020F0502020204030204" pitchFamily="34" charset="0"/>
                </a:rPr>
                <a:t>（检验和）</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01010100 01000101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01010011 01010100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01001001 01001110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01000111 00000000  →  </a:t>
              </a:r>
              <a:r>
                <a:rPr kumimoji="1" lang="zh-CN" altLang="en-US" sz="1200" dirty="0">
                  <a:latin typeface="Calibri" panose="020F0502020204030204" pitchFamily="34" charset="0"/>
                  <a:ea typeface="微软雅黑" pitchFamily="34" charset="-122"/>
                  <a:cs typeface="Calibri" panose="020F0502020204030204" pitchFamily="34" charset="0"/>
                </a:rPr>
                <a:t>数据和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a:t>
              </a:r>
              <a:r>
                <a:rPr kumimoji="1" lang="zh-CN" altLang="en-US" sz="1200" dirty="0">
                  <a:latin typeface="Calibri" panose="020F0502020204030204" pitchFamily="34" charset="0"/>
                  <a:ea typeface="微软雅黑" pitchFamily="34" charset="-122"/>
                  <a:cs typeface="Calibri" panose="020F0502020204030204" pitchFamily="34" charset="0"/>
                </a:rPr>
                <a:t>（填充）</a:t>
              </a:r>
            </a:p>
            <a:p>
              <a:endParaRPr kumimoji="1" lang="zh-CN" altLang="en-US" sz="1200" dirty="0">
                <a:latin typeface="Calibri" panose="020F0502020204030204" pitchFamily="34" charset="0"/>
                <a:ea typeface="微软雅黑" pitchFamily="34" charset="-122"/>
                <a:cs typeface="Calibri" panose="020F0502020204030204" pitchFamily="34" charset="0"/>
              </a:endParaRP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10010110 11101101  →  </a:t>
              </a:r>
              <a:r>
                <a:rPr kumimoji="1" lang="zh-CN" altLang="en-US" sz="1200" dirty="0">
                  <a:latin typeface="Calibri" panose="020F0502020204030204" pitchFamily="34" charset="0"/>
                  <a:ea typeface="微软雅黑" pitchFamily="34" charset="-122"/>
                  <a:cs typeface="Calibri" panose="020F0502020204030204" pitchFamily="34" charset="0"/>
                </a:rPr>
                <a:t>求和得出的结果</a:t>
              </a:r>
            </a:p>
            <a:p>
              <a:pPr>
                <a:lnSpc>
                  <a:spcPct val="13000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01101001 00010010  →  </a:t>
              </a:r>
              <a:r>
                <a:rPr kumimoji="1" lang="zh-CN" altLang="en-US" sz="1200" dirty="0">
                  <a:latin typeface="Calibri" panose="020F0502020204030204" pitchFamily="34" charset="0"/>
                  <a:ea typeface="微软雅黑" pitchFamily="34" charset="-122"/>
                  <a:cs typeface="Calibri" panose="020F0502020204030204" pitchFamily="34" charset="0"/>
                </a:rPr>
                <a:t>检验和 </a:t>
              </a:r>
            </a:p>
          </p:txBody>
        </p:sp>
        <p:sp>
          <p:nvSpPr>
            <p:cNvPr id="32" name="Line 30">
              <a:extLst>
                <a:ext uri="{FF2B5EF4-FFF2-40B4-BE49-F238E27FC236}">
                  <a16:creationId xmlns:a16="http://schemas.microsoft.com/office/drawing/2014/main" id="{BA1646D6-73C4-3510-F81D-98170D89638A}"/>
                </a:ext>
              </a:extLst>
            </p:cNvPr>
            <p:cNvSpPr>
              <a:spLocks noChangeShapeType="1"/>
            </p:cNvSpPr>
            <p:nvPr/>
          </p:nvSpPr>
          <p:spPr bwMode="auto">
            <a:xfrm flipV="1">
              <a:off x="4235251" y="3795900"/>
              <a:ext cx="3164240" cy="577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Calibri" panose="020F0502020204030204" pitchFamily="34" charset="0"/>
                <a:ea typeface="微软雅黑" pitchFamily="34" charset="-122"/>
                <a:cs typeface="Calibri" panose="020F0502020204030204" pitchFamily="34" charset="0"/>
              </a:endParaRPr>
            </a:p>
          </p:txBody>
        </p:sp>
        <p:sp>
          <p:nvSpPr>
            <p:cNvPr id="33" name="Text Box 31">
              <a:extLst>
                <a:ext uri="{FF2B5EF4-FFF2-40B4-BE49-F238E27FC236}">
                  <a16:creationId xmlns:a16="http://schemas.microsoft.com/office/drawing/2014/main" id="{ABB05A92-A9EE-3129-D7C9-98F914654666}"/>
                </a:ext>
              </a:extLst>
            </p:cNvPr>
            <p:cNvSpPr txBox="1">
              <a:spLocks noChangeArrowheads="1"/>
            </p:cNvSpPr>
            <p:nvPr/>
          </p:nvSpPr>
          <p:spPr bwMode="auto">
            <a:xfrm>
              <a:off x="2662944" y="3848835"/>
              <a:ext cx="1723549" cy="493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dirty="0">
                  <a:latin typeface="Calibri" panose="020F0502020204030204" pitchFamily="34" charset="0"/>
                  <a:ea typeface="微软雅黑" pitchFamily="34" charset="-122"/>
                  <a:cs typeface="Calibri" panose="020F0502020204030204" pitchFamily="34" charset="0"/>
                </a:rPr>
                <a:t>按二进制反码运算求和</a:t>
              </a:r>
            </a:p>
            <a:p>
              <a:pPr algn="r">
                <a:lnSpc>
                  <a:spcPct val="130000"/>
                </a:lnSpc>
              </a:pPr>
              <a:r>
                <a:rPr kumimoji="1" lang="zh-CN" altLang="en-US" sz="1200" dirty="0">
                  <a:latin typeface="Calibri" panose="020F0502020204030204" pitchFamily="34" charset="0"/>
                  <a:ea typeface="微软雅黑" pitchFamily="34" charset="-122"/>
                  <a:cs typeface="Calibri" panose="020F0502020204030204" pitchFamily="34" charset="0"/>
                </a:rPr>
                <a:t>将得出的结果求反码</a:t>
              </a:r>
            </a:p>
          </p:txBody>
        </p:sp>
      </p:grpSp>
      <p:grpSp>
        <p:nvGrpSpPr>
          <p:cNvPr id="37" name="组合 36">
            <a:extLst>
              <a:ext uri="{FF2B5EF4-FFF2-40B4-BE49-F238E27FC236}">
                <a16:creationId xmlns:a16="http://schemas.microsoft.com/office/drawing/2014/main" id="{1F1989C5-FBF5-0474-DB62-EE2FB277593C}"/>
              </a:ext>
            </a:extLst>
          </p:cNvPr>
          <p:cNvGrpSpPr/>
          <p:nvPr/>
        </p:nvGrpSpPr>
        <p:grpSpPr>
          <a:xfrm>
            <a:off x="1520962" y="1309482"/>
            <a:ext cx="2679279" cy="1597202"/>
            <a:chOff x="1703572" y="1280222"/>
            <a:chExt cx="2437559" cy="1453105"/>
          </a:xfrm>
        </p:grpSpPr>
        <p:sp>
          <p:nvSpPr>
            <p:cNvPr id="6" name="Rectangle 35">
              <a:extLst>
                <a:ext uri="{FF2B5EF4-FFF2-40B4-BE49-F238E27FC236}">
                  <a16:creationId xmlns:a16="http://schemas.microsoft.com/office/drawing/2014/main" id="{08DC8278-1AE7-FFC0-3EA8-428BD40405CC}"/>
                </a:ext>
              </a:extLst>
            </p:cNvPr>
            <p:cNvSpPr>
              <a:spLocks noChangeArrowheads="1"/>
            </p:cNvSpPr>
            <p:nvPr/>
          </p:nvSpPr>
          <p:spPr bwMode="auto">
            <a:xfrm>
              <a:off x="2438255" y="1903528"/>
              <a:ext cx="1688985" cy="43146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8" name="Freeform 5">
              <a:extLst>
                <a:ext uri="{FF2B5EF4-FFF2-40B4-BE49-F238E27FC236}">
                  <a16:creationId xmlns:a16="http://schemas.microsoft.com/office/drawing/2014/main" id="{A578BF9A-83D6-74F5-984A-42AC23ED4867}"/>
                </a:ext>
              </a:extLst>
            </p:cNvPr>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no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9" name="Rectangle 6">
              <a:extLst>
                <a:ext uri="{FF2B5EF4-FFF2-40B4-BE49-F238E27FC236}">
                  <a16:creationId xmlns:a16="http://schemas.microsoft.com/office/drawing/2014/main" id="{A2125F9F-94E5-E44F-7836-974B8A649DB7}"/>
                </a:ext>
              </a:extLst>
            </p:cNvPr>
            <p:cNvSpPr>
              <a:spLocks noChangeArrowheads="1"/>
            </p:cNvSpPr>
            <p:nvPr/>
          </p:nvSpPr>
          <p:spPr bwMode="auto">
            <a:xfrm>
              <a:off x="2435465" y="1303319"/>
              <a:ext cx="1705666" cy="61207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0" name="Rectangle 8">
              <a:extLst>
                <a:ext uri="{FF2B5EF4-FFF2-40B4-BE49-F238E27FC236}">
                  <a16:creationId xmlns:a16="http://schemas.microsoft.com/office/drawing/2014/main" id="{DC877491-5843-411B-EBEA-94D41D449391}"/>
                </a:ext>
              </a:extLst>
            </p:cNvPr>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1" name="Line 9">
              <a:extLst>
                <a:ext uri="{FF2B5EF4-FFF2-40B4-BE49-F238E27FC236}">
                  <a16:creationId xmlns:a16="http://schemas.microsoft.com/office/drawing/2014/main" id="{8FA7A823-AE8A-5FBB-402F-29798C4F7085}"/>
                </a:ext>
              </a:extLst>
            </p:cNvPr>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2" name="Line 10">
              <a:extLst>
                <a:ext uri="{FF2B5EF4-FFF2-40B4-BE49-F238E27FC236}">
                  <a16:creationId xmlns:a16="http://schemas.microsoft.com/office/drawing/2014/main" id="{7CB31BE8-1EE2-8F73-EE5E-CB81221F94A3}"/>
                </a:ext>
              </a:extLst>
            </p:cNvPr>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3" name="Line 11">
              <a:extLst>
                <a:ext uri="{FF2B5EF4-FFF2-40B4-BE49-F238E27FC236}">
                  <a16:creationId xmlns:a16="http://schemas.microsoft.com/office/drawing/2014/main" id="{50076565-18A0-CC04-CD87-2F01E33617FE}"/>
                </a:ext>
              </a:extLst>
            </p:cNvPr>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4" name="Line 12">
              <a:extLst>
                <a:ext uri="{FF2B5EF4-FFF2-40B4-BE49-F238E27FC236}">
                  <a16:creationId xmlns:a16="http://schemas.microsoft.com/office/drawing/2014/main" id="{606AC02D-B6E5-5BB3-F1E7-77EDFED22E40}"/>
                </a:ext>
              </a:extLst>
            </p:cNvPr>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5" name="Line 13">
              <a:extLst>
                <a:ext uri="{FF2B5EF4-FFF2-40B4-BE49-F238E27FC236}">
                  <a16:creationId xmlns:a16="http://schemas.microsoft.com/office/drawing/2014/main" id="{2CD10EEC-45AD-AEC8-6E77-8204DFA5DC4E}"/>
                </a:ext>
              </a:extLst>
            </p:cNvPr>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6" name="Line 14">
              <a:extLst>
                <a:ext uri="{FF2B5EF4-FFF2-40B4-BE49-F238E27FC236}">
                  <a16:creationId xmlns:a16="http://schemas.microsoft.com/office/drawing/2014/main" id="{F31CBD67-C869-1C53-771E-B3BDEDD784C2}"/>
                </a:ext>
              </a:extLst>
            </p:cNvPr>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7" name="Line 15">
              <a:extLst>
                <a:ext uri="{FF2B5EF4-FFF2-40B4-BE49-F238E27FC236}">
                  <a16:creationId xmlns:a16="http://schemas.microsoft.com/office/drawing/2014/main" id="{08CC66CB-3A0A-6A06-215F-BA96BD4BFD2C}"/>
                </a:ext>
              </a:extLst>
            </p:cNvPr>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8" name="Line 16">
              <a:extLst>
                <a:ext uri="{FF2B5EF4-FFF2-40B4-BE49-F238E27FC236}">
                  <a16:creationId xmlns:a16="http://schemas.microsoft.com/office/drawing/2014/main" id="{5FA06387-9B9F-981C-311D-AF1E680BD655}"/>
                </a:ext>
              </a:extLst>
            </p:cNvPr>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9" name="Line 17">
              <a:extLst>
                <a:ext uri="{FF2B5EF4-FFF2-40B4-BE49-F238E27FC236}">
                  <a16:creationId xmlns:a16="http://schemas.microsoft.com/office/drawing/2014/main" id="{9FF4A1C1-DBE9-D7A3-8E26-9966FB942D7D}"/>
                </a:ext>
              </a:extLst>
            </p:cNvPr>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0" name="Line 18">
              <a:extLst>
                <a:ext uri="{FF2B5EF4-FFF2-40B4-BE49-F238E27FC236}">
                  <a16:creationId xmlns:a16="http://schemas.microsoft.com/office/drawing/2014/main" id="{0D05D3EF-C615-9ED3-C992-9415605A37C4}"/>
                </a:ext>
              </a:extLst>
            </p:cNvPr>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1" name="Text Box 19">
              <a:extLst>
                <a:ext uri="{FF2B5EF4-FFF2-40B4-BE49-F238E27FC236}">
                  <a16:creationId xmlns:a16="http://schemas.microsoft.com/office/drawing/2014/main" id="{275E9E12-C8B5-A0F7-C82C-E9F427AA108B}"/>
                </a:ext>
              </a:extLst>
            </p:cNvPr>
            <p:cNvSpPr txBox="1">
              <a:spLocks noChangeArrowheads="1"/>
            </p:cNvSpPr>
            <p:nvPr/>
          </p:nvSpPr>
          <p:spPr bwMode="auto">
            <a:xfrm>
              <a:off x="2767006" y="1291771"/>
              <a:ext cx="866572"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153.19.8.104</a:t>
              </a:r>
            </a:p>
          </p:txBody>
        </p:sp>
        <p:sp>
          <p:nvSpPr>
            <p:cNvPr id="22" name="Text Box 20">
              <a:extLst>
                <a:ext uri="{FF2B5EF4-FFF2-40B4-BE49-F238E27FC236}">
                  <a16:creationId xmlns:a16="http://schemas.microsoft.com/office/drawing/2014/main" id="{86C46CB1-C6F4-A071-81E1-87B63C3901D1}"/>
                </a:ext>
              </a:extLst>
            </p:cNvPr>
            <p:cNvSpPr txBox="1">
              <a:spLocks noChangeArrowheads="1"/>
            </p:cNvSpPr>
            <p:nvPr/>
          </p:nvSpPr>
          <p:spPr bwMode="auto">
            <a:xfrm>
              <a:off x="2788901" y="1498684"/>
              <a:ext cx="789277"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171.3.14.11</a:t>
              </a:r>
            </a:p>
          </p:txBody>
        </p:sp>
        <p:sp>
          <p:nvSpPr>
            <p:cNvPr id="23" name="AutoShape 22">
              <a:extLst>
                <a:ext uri="{FF2B5EF4-FFF2-40B4-BE49-F238E27FC236}">
                  <a16:creationId xmlns:a16="http://schemas.microsoft.com/office/drawing/2014/main" id="{7909A81E-7522-4252-45AE-7835BCF9E01A}"/>
                </a:ext>
              </a:extLst>
            </p:cNvPr>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4" name="AutoShape 23">
              <a:extLst>
                <a:ext uri="{FF2B5EF4-FFF2-40B4-BE49-F238E27FC236}">
                  <a16:creationId xmlns:a16="http://schemas.microsoft.com/office/drawing/2014/main" id="{C827FE79-23C0-7538-C381-6722CF2E95F0}"/>
                </a:ext>
              </a:extLst>
            </p:cNvPr>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5" name="AutoShape 24">
              <a:extLst>
                <a:ext uri="{FF2B5EF4-FFF2-40B4-BE49-F238E27FC236}">
                  <a16:creationId xmlns:a16="http://schemas.microsoft.com/office/drawing/2014/main" id="{1A42FEBB-0544-D851-33E7-CC19E42A5A32}"/>
                </a:ext>
              </a:extLst>
            </p:cNvPr>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6" name="Text Box 25">
              <a:extLst>
                <a:ext uri="{FF2B5EF4-FFF2-40B4-BE49-F238E27FC236}">
                  <a16:creationId xmlns:a16="http://schemas.microsoft.com/office/drawing/2014/main" id="{0BC5827A-FB54-973C-0F46-E8866DB337B8}"/>
                </a:ext>
              </a:extLst>
            </p:cNvPr>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12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伪首部</a:t>
              </a:r>
            </a:p>
          </p:txBody>
        </p:sp>
        <p:sp>
          <p:nvSpPr>
            <p:cNvPr id="27" name="Text Box 26">
              <a:extLst>
                <a:ext uri="{FF2B5EF4-FFF2-40B4-BE49-F238E27FC236}">
                  <a16:creationId xmlns:a16="http://schemas.microsoft.com/office/drawing/2014/main" id="{8DF54B97-AE4B-E92D-2E8B-48AA75A9D4C9}"/>
                </a:ext>
              </a:extLst>
            </p:cNvPr>
            <p:cNvSpPr txBox="1">
              <a:spLocks noChangeArrowheads="1"/>
            </p:cNvSpPr>
            <p:nvPr/>
          </p:nvSpPr>
          <p:spPr bwMode="auto">
            <a:xfrm>
              <a:off x="1708653" y="1889316"/>
              <a:ext cx="679897"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8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UDP </a:t>
              </a:r>
              <a:r>
                <a:rPr kumimoji="1" lang="zh-CN" altLang="en-US" sz="1100" dirty="0">
                  <a:latin typeface="Calibri" panose="020F0502020204030204" pitchFamily="34" charset="0"/>
                  <a:ea typeface="微软雅黑" pitchFamily="34" charset="-122"/>
                  <a:cs typeface="Calibri" panose="020F0502020204030204" pitchFamily="34" charset="0"/>
                </a:rPr>
                <a:t>首部</a:t>
              </a:r>
            </a:p>
          </p:txBody>
        </p:sp>
        <p:sp>
          <p:nvSpPr>
            <p:cNvPr id="28" name="Text Box 27">
              <a:extLst>
                <a:ext uri="{FF2B5EF4-FFF2-40B4-BE49-F238E27FC236}">
                  <a16:creationId xmlns:a16="http://schemas.microsoft.com/office/drawing/2014/main" id="{8120E176-FC7B-C7B4-52A8-6C39AE549638}"/>
                </a:ext>
              </a:extLst>
            </p:cNvPr>
            <p:cNvSpPr txBox="1">
              <a:spLocks noChangeArrowheads="1"/>
            </p:cNvSpPr>
            <p:nvPr/>
          </p:nvSpPr>
          <p:spPr bwMode="auto">
            <a:xfrm>
              <a:off x="1869074" y="2334279"/>
              <a:ext cx="519475"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7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数据</a:t>
              </a:r>
            </a:p>
          </p:txBody>
        </p:sp>
      </p:grpSp>
      <p:sp>
        <p:nvSpPr>
          <p:cNvPr id="41" name="Text Box 21">
            <a:extLst>
              <a:ext uri="{FF2B5EF4-FFF2-40B4-BE49-F238E27FC236}">
                <a16:creationId xmlns:a16="http://schemas.microsoft.com/office/drawing/2014/main" id="{2222DA98-BC8A-19DB-2413-A1FA506FC1F7}"/>
              </a:ext>
            </a:extLst>
          </p:cNvPr>
          <p:cNvSpPr txBox="1">
            <a:spLocks noChangeArrowheads="1"/>
          </p:cNvSpPr>
          <p:nvPr/>
        </p:nvSpPr>
        <p:spPr bwMode="auto">
          <a:xfrm>
            <a:off x="2327764" y="1762003"/>
            <a:ext cx="1870186" cy="1182375"/>
          </a:xfrm>
          <a:prstGeom prst="rect">
            <a:avLst/>
          </a:prstGeom>
          <a:noFill/>
          <a:ln>
            <a:noFill/>
          </a:ln>
          <a:effectLst/>
        </p:spPr>
        <p:txBody>
          <a:bodyPr wrap="square">
            <a:spAutoFit/>
          </a:bodyPr>
          <a:lstStyle/>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全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         17           15 = 8+7</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1087                    13</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15 = 8+7                </a:t>
            </a:r>
            <a:r>
              <a:rPr kumimoji="1" lang="zh-CN" altLang="en-US" sz="1200" dirty="0">
                <a:solidFill>
                  <a:srgbClr val="C00000"/>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rgbClr val="C00000"/>
                </a:solidFill>
                <a:latin typeface="Calibri" panose="020F0502020204030204" pitchFamily="34" charset="0"/>
                <a:ea typeface="Calibri" panose="020F0502020204030204" pitchFamily="34" charset="0"/>
                <a:cs typeface="Calibri" panose="020F0502020204030204" pitchFamily="34" charset="0"/>
              </a:rPr>
              <a:t>0</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数据</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a:t>
            </a:r>
            <a:r>
              <a:rPr kumimoji="1" lang="zh-CN" altLang="en-US" sz="1200" dirty="0">
                <a:solidFill>
                  <a:schemeClr val="tx2">
                    <a:lumMod val="60000"/>
                    <a:lumOff val="40000"/>
                  </a:schemeClr>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chemeClr val="tx2">
                    <a:lumMod val="60000"/>
                    <a:lumOff val="40000"/>
                  </a:schemeClr>
                </a:solidFill>
                <a:latin typeface="Calibri" panose="020F0502020204030204" pitchFamily="34" charset="0"/>
                <a:ea typeface="Calibri" panose="020F0502020204030204" pitchFamily="34" charset="0"/>
                <a:cs typeface="Calibri" panose="020F0502020204030204" pitchFamily="34" charset="0"/>
              </a:rPr>
              <a:t>0</a:t>
            </a:r>
          </a:p>
        </p:txBody>
      </p:sp>
      <p:sp>
        <p:nvSpPr>
          <p:cNvPr id="3" name="矩形 2">
            <a:extLst>
              <a:ext uri="{FF2B5EF4-FFF2-40B4-BE49-F238E27FC236}">
                <a16:creationId xmlns:a16="http://schemas.microsoft.com/office/drawing/2014/main" id="{8516D012-DB29-A708-5394-13BC4208FDF3}"/>
              </a:ext>
            </a:extLst>
          </p:cNvPr>
          <p:cNvSpPr/>
          <p:nvPr/>
        </p:nvSpPr>
        <p:spPr>
          <a:xfrm>
            <a:off x="1146412" y="948519"/>
            <a:ext cx="3235143" cy="23747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404172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a:prstGeom prst="rect">
            <a:avLst/>
          </a:prstGeo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a:prstGeom prst="rect">
            <a:avLst/>
          </a:prstGeo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a:prstGeom prst="rect">
            <a:avLst/>
          </a:prstGeo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a:prstGeom prst="rect">
            <a:avLst/>
          </a:prstGeo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a:prstGeom prst="rect">
            <a:avLst/>
          </a:prstGeo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a:prstGeom prst="rect">
            <a:avLst/>
          </a:prstGeo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900000"/>
            <a:ext cx="8172000" cy="3703500"/>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486000" y="550723"/>
            <a:ext cx="8172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prstGeom prst="rect">
            <a:avLst/>
          </a:prstGeo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prstGeom prst="rect">
            <a:avLst/>
          </a:prstGeo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486000" y="550723"/>
            <a:ext cx="8172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486000" y="550723"/>
            <a:ext cx="8172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a:prstGeom prst="rect">
            <a:avLst/>
          </a:prstGeo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a:prstGeom prst="rect">
            <a:avLst/>
          </a:prstGeo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486000" y="550723"/>
            <a:ext cx="8172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900000"/>
            <a:ext cx="8172000" cy="3703500"/>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486000" y="550723"/>
            <a:ext cx="8172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86CC97-3CD7-9D5B-1634-5383FA9E0FEA}"/>
              </a:ext>
            </a:extLst>
          </p:cNvPr>
          <p:cNvSpPr>
            <a:spLocks noGrp="1"/>
          </p:cNvSpPr>
          <p:nvPr>
            <p:ph type="title" idx="4294967295"/>
          </p:nvPr>
        </p:nvSpPr>
        <p:spPr>
          <a:xfrm>
            <a:off x="0" y="550863"/>
            <a:ext cx="8172450" cy="338137"/>
          </a:xfrm>
          <a:prstGeom prst="rect">
            <a:avLst/>
          </a:prstGeo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9">
            <a:extLst>
              <a:ext uri="{FF2B5EF4-FFF2-40B4-BE49-F238E27FC236}">
                <a16:creationId xmlns:a16="http://schemas.microsoft.com/office/drawing/2014/main" id="{510585FD-76E3-2C51-737E-8E9D058C27B9}"/>
              </a:ext>
            </a:extLst>
          </p:cNvPr>
          <p:cNvSpPr>
            <a:spLocks noChangeArrowheads="1"/>
          </p:cNvSpPr>
          <p:nvPr/>
        </p:nvSpPr>
        <p:spPr bwMode="auto">
          <a:xfrm>
            <a:off x="2077541" y="1367482"/>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A30B284D-F4D5-B8C7-5CA1-126D85378BD7}"/>
              </a:ext>
            </a:extLst>
          </p:cNvPr>
          <p:cNvSpPr txBox="1">
            <a:spLocks noChangeArrowheads="1"/>
          </p:cNvSpPr>
          <p:nvPr/>
        </p:nvSpPr>
        <p:spPr bwMode="auto">
          <a:xfrm>
            <a:off x="2627321" y="104388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9C3C181-F605-FFBE-8753-3A98212D8394}"/>
              </a:ext>
            </a:extLst>
          </p:cNvPr>
          <p:cNvGraphicFramePr>
            <a:graphicFrameLocks noGrp="1"/>
          </p:cNvGraphicFramePr>
          <p:nvPr>
            <p:extLst>
              <p:ext uri="{D42A27DB-BD31-4B8C-83A1-F6EECF244321}">
                <p14:modId xmlns:p14="http://schemas.microsoft.com/office/powerpoint/2010/main" val="2909457646"/>
              </p:ext>
            </p:extLst>
          </p:nvPr>
        </p:nvGraphicFramePr>
        <p:xfrm>
          <a:off x="2077541" y="1460684"/>
          <a:ext cx="381046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tblGrid>
              <a:tr h="370840">
                <a:tc>
                  <a:txBody>
                    <a:bodyPr/>
                    <a:lstStyle/>
                    <a:p>
                      <a:pPr algn="ctr"/>
                      <a:r>
                        <a:rPr lang="en-US" altLang="zh-CN" sz="1200" b="0" dirty="0">
                          <a:solidFill>
                            <a:schemeClr val="bg1"/>
                          </a:solidFill>
                          <a:latin typeface="Montserrat" panose="00000500000000000000" pitchFamily="2" charset="0"/>
                        </a:rPr>
                        <a:t>1</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2</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97555976-9D9F-DBF8-B4BB-59EC46CC0D6C}"/>
              </a:ext>
            </a:extLst>
          </p:cNvPr>
          <p:cNvSpPr>
            <a:spLocks/>
          </p:cNvSpPr>
          <p:nvPr/>
        </p:nvSpPr>
        <p:spPr bwMode="auto">
          <a:xfrm rot="16200000">
            <a:off x="2959541" y="1196024"/>
            <a:ext cx="108000" cy="1872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5DA8E950-E41F-7F2F-5B94-9137AFD5B77B}"/>
              </a:ext>
            </a:extLst>
          </p:cNvPr>
          <p:cNvSpPr>
            <a:spLocks/>
          </p:cNvSpPr>
          <p:nvPr/>
        </p:nvSpPr>
        <p:spPr bwMode="auto">
          <a:xfrm rot="16200000">
            <a:off x="4889670"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5248DE04-6313-6A3F-1CE9-2BCE48AF65C6}"/>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363798F4-B72C-9CD2-B2B8-BD7B4A556B75}"/>
              </a:ext>
            </a:extLst>
          </p:cNvPr>
          <p:cNvSpPr txBox="1"/>
          <p:nvPr/>
        </p:nvSpPr>
        <p:spPr>
          <a:xfrm>
            <a:off x="4620504"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13" name="Rectangle 29">
            <a:extLst>
              <a:ext uri="{FF2B5EF4-FFF2-40B4-BE49-F238E27FC236}">
                <a16:creationId xmlns:a16="http://schemas.microsoft.com/office/drawing/2014/main" id="{27586C2A-7AA8-282A-342D-A518FB16A6D7}"/>
              </a:ext>
            </a:extLst>
          </p:cNvPr>
          <p:cNvSpPr>
            <a:spLocks noChangeArrowheads="1"/>
          </p:cNvSpPr>
          <p:nvPr/>
        </p:nvSpPr>
        <p:spPr bwMode="auto">
          <a:xfrm>
            <a:off x="2077541" y="3061624"/>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4" name="Text Box 31">
            <a:extLst>
              <a:ext uri="{FF2B5EF4-FFF2-40B4-BE49-F238E27FC236}">
                <a16:creationId xmlns:a16="http://schemas.microsoft.com/office/drawing/2014/main" id="{5325A869-A051-377D-88C6-85257C27932C}"/>
              </a:ext>
            </a:extLst>
          </p:cNvPr>
          <p:cNvSpPr txBox="1">
            <a:spLocks noChangeArrowheads="1"/>
          </p:cNvSpPr>
          <p:nvPr/>
        </p:nvSpPr>
        <p:spPr bwMode="auto">
          <a:xfrm>
            <a:off x="2627321" y="273802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15" name="表格 14">
            <a:extLst>
              <a:ext uri="{FF2B5EF4-FFF2-40B4-BE49-F238E27FC236}">
                <a16:creationId xmlns:a16="http://schemas.microsoft.com/office/drawing/2014/main" id="{01C39073-D782-19A6-200E-C32A195B6D28}"/>
              </a:ext>
            </a:extLst>
          </p:cNvPr>
          <p:cNvGraphicFramePr>
            <a:graphicFrameLocks noGrp="1"/>
          </p:cNvGraphicFramePr>
          <p:nvPr>
            <p:extLst>
              <p:ext uri="{D42A27DB-BD31-4B8C-83A1-F6EECF244321}">
                <p14:modId xmlns:p14="http://schemas.microsoft.com/office/powerpoint/2010/main" val="1277884119"/>
              </p:ext>
            </p:extLst>
          </p:nvPr>
        </p:nvGraphicFramePr>
        <p:xfrm>
          <a:off x="1124777" y="3154826"/>
          <a:ext cx="3810472" cy="370840"/>
        </p:xfrm>
        <a:graphic>
          <a:graphicData uri="http://schemas.openxmlformats.org/drawingml/2006/table">
            <a:tbl>
              <a:tblPr firstRow="1" bandRow="1">
                <a:tableStyleId>{5C22544A-7EE6-4342-B048-85BDC9FD1C3A}</a:tableStyleId>
              </a:tblPr>
              <a:tblGrid>
                <a:gridCol w="476309">
                  <a:extLst>
                    <a:ext uri="{9D8B030D-6E8A-4147-A177-3AD203B41FA5}">
                      <a16:colId xmlns:a16="http://schemas.microsoft.com/office/drawing/2014/main" val="1392981243"/>
                    </a:ext>
                  </a:extLst>
                </a:gridCol>
                <a:gridCol w="476309">
                  <a:extLst>
                    <a:ext uri="{9D8B030D-6E8A-4147-A177-3AD203B41FA5}">
                      <a16:colId xmlns:a16="http://schemas.microsoft.com/office/drawing/2014/main" val="212317948"/>
                    </a:ext>
                  </a:extLst>
                </a:gridCol>
                <a:gridCol w="476309">
                  <a:extLst>
                    <a:ext uri="{9D8B030D-6E8A-4147-A177-3AD203B41FA5}">
                      <a16:colId xmlns:a16="http://schemas.microsoft.com/office/drawing/2014/main" val="4122724786"/>
                    </a:ext>
                  </a:extLst>
                </a:gridCol>
                <a:gridCol w="476309">
                  <a:extLst>
                    <a:ext uri="{9D8B030D-6E8A-4147-A177-3AD203B41FA5}">
                      <a16:colId xmlns:a16="http://schemas.microsoft.com/office/drawing/2014/main" val="1728774863"/>
                    </a:ext>
                  </a:extLst>
                </a:gridCol>
                <a:gridCol w="476309">
                  <a:extLst>
                    <a:ext uri="{9D8B030D-6E8A-4147-A177-3AD203B41FA5}">
                      <a16:colId xmlns:a16="http://schemas.microsoft.com/office/drawing/2014/main" val="855356992"/>
                    </a:ext>
                  </a:extLst>
                </a:gridCol>
                <a:gridCol w="476309">
                  <a:extLst>
                    <a:ext uri="{9D8B030D-6E8A-4147-A177-3AD203B41FA5}">
                      <a16:colId xmlns:a16="http://schemas.microsoft.com/office/drawing/2014/main" val="1700185165"/>
                    </a:ext>
                  </a:extLst>
                </a:gridCol>
                <a:gridCol w="476309">
                  <a:extLst>
                    <a:ext uri="{9D8B030D-6E8A-4147-A177-3AD203B41FA5}">
                      <a16:colId xmlns:a16="http://schemas.microsoft.com/office/drawing/2014/main" val="3830274490"/>
                    </a:ext>
                  </a:extLst>
                </a:gridCol>
                <a:gridCol w="476309">
                  <a:extLst>
                    <a:ext uri="{9D8B030D-6E8A-4147-A177-3AD203B41FA5}">
                      <a16:colId xmlns:a16="http://schemas.microsoft.com/office/drawing/2014/main" val="916734300"/>
                    </a:ext>
                  </a:extLst>
                </a:gridCol>
              </a:tblGrid>
              <a:tr h="370840">
                <a:tc>
                  <a:txBody>
                    <a:bodyPr/>
                    <a:lstStyle/>
                    <a:p>
                      <a:pPr algn="ctr"/>
                      <a:r>
                        <a:rPr lang="en-US" altLang="zh-CN" sz="1200" b="0" dirty="0">
                          <a:solidFill>
                            <a:sysClr val="windowText" lastClr="000000"/>
                          </a:solidFill>
                          <a:latin typeface="Montserrat" panose="00000500000000000000" pitchFamily="2" charset="0"/>
                        </a:rPr>
                        <a:t>1</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ysClr val="windowText" lastClr="000000"/>
                          </a:solidFill>
                          <a:latin typeface="Montserrat" panose="00000500000000000000" pitchFamily="2" charset="0"/>
                        </a:rPr>
                        <a:t>2</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16" name="AutoShape 26">
            <a:extLst>
              <a:ext uri="{FF2B5EF4-FFF2-40B4-BE49-F238E27FC236}">
                <a16:creationId xmlns:a16="http://schemas.microsoft.com/office/drawing/2014/main" id="{89CDD3BD-7E8C-CB72-5F4E-E9C352C657A1}"/>
              </a:ext>
            </a:extLst>
          </p:cNvPr>
          <p:cNvSpPr>
            <a:spLocks/>
          </p:cNvSpPr>
          <p:nvPr/>
        </p:nvSpPr>
        <p:spPr bwMode="auto">
          <a:xfrm rot="16200000">
            <a:off x="2491541" y="3358166"/>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AutoShape 26">
            <a:extLst>
              <a:ext uri="{FF2B5EF4-FFF2-40B4-BE49-F238E27FC236}">
                <a16:creationId xmlns:a16="http://schemas.microsoft.com/office/drawing/2014/main" id="{5D509D0B-E1D8-5232-2A70-FDF6C1D0EACD}"/>
              </a:ext>
            </a:extLst>
          </p:cNvPr>
          <p:cNvSpPr>
            <a:spLocks/>
          </p:cNvSpPr>
          <p:nvPr/>
        </p:nvSpPr>
        <p:spPr bwMode="auto">
          <a:xfrm rot="16200000">
            <a:off x="1556012" y="3376165"/>
            <a:ext cx="108000" cy="90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AutoShape 26">
            <a:extLst>
              <a:ext uri="{FF2B5EF4-FFF2-40B4-BE49-F238E27FC236}">
                <a16:creationId xmlns:a16="http://schemas.microsoft.com/office/drawing/2014/main" id="{C803CF8D-A891-2BC4-3827-F29363E42178}"/>
              </a:ext>
            </a:extLst>
          </p:cNvPr>
          <p:cNvSpPr>
            <a:spLocks/>
          </p:cNvSpPr>
          <p:nvPr/>
        </p:nvSpPr>
        <p:spPr bwMode="auto">
          <a:xfrm rot="16200000">
            <a:off x="4655670" y="3142166"/>
            <a:ext cx="108000" cy="13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文本框 18">
            <a:extLst>
              <a:ext uri="{FF2B5EF4-FFF2-40B4-BE49-F238E27FC236}">
                <a16:creationId xmlns:a16="http://schemas.microsoft.com/office/drawing/2014/main" id="{A120F788-1AF6-38A3-4D72-2F6CFB3B5712}"/>
              </a:ext>
            </a:extLst>
          </p:cNvPr>
          <p:cNvSpPr txBox="1"/>
          <p:nvPr/>
        </p:nvSpPr>
        <p:spPr>
          <a:xfrm>
            <a:off x="2222376"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951C26E7-8F9C-4058-82A5-252516D11D04}"/>
              </a:ext>
            </a:extLst>
          </p:cNvPr>
          <p:cNvSpPr txBox="1"/>
          <p:nvPr/>
        </p:nvSpPr>
        <p:spPr>
          <a:xfrm>
            <a:off x="1286847"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FA8E5AEA-FAC9-BEC5-E749-69CC20384CA0}"/>
              </a:ext>
            </a:extLst>
          </p:cNvPr>
          <p:cNvSpPr txBox="1"/>
          <p:nvPr/>
        </p:nvSpPr>
        <p:spPr>
          <a:xfrm>
            <a:off x="4620504" y="3951911"/>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2" name="AutoShape 26">
            <a:extLst>
              <a:ext uri="{FF2B5EF4-FFF2-40B4-BE49-F238E27FC236}">
                <a16:creationId xmlns:a16="http://schemas.microsoft.com/office/drawing/2014/main" id="{CD6C5CD8-DD48-59E2-64DC-A687840DDE7A}"/>
              </a:ext>
            </a:extLst>
          </p:cNvPr>
          <p:cNvSpPr>
            <a:spLocks/>
          </p:cNvSpPr>
          <p:nvPr/>
        </p:nvSpPr>
        <p:spPr bwMode="auto">
          <a:xfrm rot="16200000">
            <a:off x="3465606" y="3368623"/>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文本框 22">
            <a:extLst>
              <a:ext uri="{FF2B5EF4-FFF2-40B4-BE49-F238E27FC236}">
                <a16:creationId xmlns:a16="http://schemas.microsoft.com/office/drawing/2014/main" id="{0B176486-8A19-551C-56D3-42941DA3AAE6}"/>
              </a:ext>
            </a:extLst>
          </p:cNvPr>
          <p:cNvSpPr txBox="1"/>
          <p:nvPr/>
        </p:nvSpPr>
        <p:spPr>
          <a:xfrm>
            <a:off x="3196441" y="3962368"/>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48850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93321A-6517-5D01-BD9B-13A6E3F9BF40}"/>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
        <p:nvSpPr>
          <p:cNvPr id="2" name="Rectangle 81">
            <a:extLst>
              <a:ext uri="{FF2B5EF4-FFF2-40B4-BE49-F238E27FC236}">
                <a16:creationId xmlns:a16="http://schemas.microsoft.com/office/drawing/2014/main" id="{E050A056-0D8E-13F2-DAE3-CCCC3842379C}"/>
              </a:ext>
            </a:extLst>
          </p:cNvPr>
          <p:cNvSpPr>
            <a:spLocks noChangeArrowheads="1"/>
          </p:cNvSpPr>
          <p:nvPr/>
        </p:nvSpPr>
        <p:spPr bwMode="auto">
          <a:xfrm>
            <a:off x="2173199" y="1296751"/>
            <a:ext cx="4716036"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pitchFamily="34" charset="-122"/>
              </a:rPr>
              <a:t>0                                    8                                 16                                  24                             31</a:t>
            </a: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900000"/>
            <a:ext cx="8172000" cy="3703500"/>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486000" y="550723"/>
            <a:ext cx="8172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900000"/>
            <a:ext cx="8172000" cy="3703500"/>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486000" y="550723"/>
            <a:ext cx="8172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486000" y="550723"/>
            <a:ext cx="8172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486000" y="550723"/>
            <a:ext cx="8172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E31E7A35-4FCB-A58F-3EEE-E05345CB648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64230A14-FE0C-96BD-7EC3-D10C1F7E3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7F2CE067-7C21-5482-42CF-469F3C48F953}"/>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900000"/>
            <a:ext cx="8172000" cy="3703500"/>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486000" y="550723"/>
            <a:ext cx="8172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B8D2BF87-1B8B-487D-94C9-261F68DE999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486000" y="550723"/>
            <a:ext cx="8172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486000" y="550723"/>
            <a:ext cx="8172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486000" y="550723"/>
            <a:ext cx="8172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486000" y="550723"/>
            <a:ext cx="8172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900000"/>
            <a:ext cx="8172000" cy="3703500"/>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900000"/>
            <a:ext cx="8172000" cy="3703500"/>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900000"/>
            <a:ext cx="8172000" cy="3703500"/>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486000" y="550723"/>
            <a:ext cx="8172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486000" y="550723"/>
            <a:ext cx="8172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486000" y="550723"/>
            <a:ext cx="8172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486000" y="550723"/>
            <a:ext cx="8172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900000"/>
            <a:ext cx="8172000" cy="3703500"/>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486000" y="550723"/>
            <a:ext cx="8172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486000" y="550723"/>
            <a:ext cx="8172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900000"/>
            <a:ext cx="8172000" cy="3703500"/>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486000" y="550723"/>
            <a:ext cx="8172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 name="内容占位符 3">
            <a:extLst>
              <a:ext uri="{FF2B5EF4-FFF2-40B4-BE49-F238E27FC236}">
                <a16:creationId xmlns:a16="http://schemas.microsoft.com/office/drawing/2014/main" id="{5387FEAB-F396-285F-A763-094ACA8C83C3}"/>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F585AE0-3767-7B3F-A607-B8E08C7CF8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486000" y="550723"/>
            <a:ext cx="8172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900000"/>
            <a:ext cx="8172000" cy="3703500"/>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290647"/>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05255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107225"/>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285564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501699"/>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25432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17101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685121"/>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43302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55889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593410"/>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34975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47707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38235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14450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25283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1896173"/>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63826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178313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198936"/>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193458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08919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39525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2804462"/>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37386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70131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00737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987884"/>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75276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65714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73787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1638817001"/>
              </p:ext>
            </p:extLst>
          </p:nvPr>
        </p:nvGraphicFramePr>
        <p:xfrm>
          <a:off x="5967304" y="24416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31343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16524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409988"/>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13367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60410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24469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293841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77569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01551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502257" y="4318277"/>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719587" y="4087597"/>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389477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18544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62103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49151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550985"/>
            <a:ext cx="288000" cy="288000"/>
          </a:xfrm>
          <a:prstGeom prst="rect">
            <a:avLst/>
          </a:prstGeom>
        </p:spPr>
      </p:pic>
      <p:sp>
        <p:nvSpPr>
          <p:cNvPr id="3" name="Rectangle 8">
            <a:extLst>
              <a:ext uri="{FF2B5EF4-FFF2-40B4-BE49-F238E27FC236}">
                <a16:creationId xmlns:a16="http://schemas.microsoft.com/office/drawing/2014/main" id="{170DC06B-F78A-7599-CF78-8745E451EA03}"/>
              </a:ext>
            </a:extLst>
          </p:cNvPr>
          <p:cNvSpPr>
            <a:spLocks noChangeArrowheads="1"/>
          </p:cNvSpPr>
          <p:nvPr/>
        </p:nvSpPr>
        <p:spPr bwMode="auto">
          <a:xfrm>
            <a:off x="1166162" y="256466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501, DATA</a:t>
            </a:r>
          </a:p>
        </p:txBody>
      </p:sp>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486000" y="550723"/>
            <a:ext cx="8172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900000"/>
            <a:ext cx="8172000" cy="3703500"/>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486000" y="550723"/>
            <a:ext cx="8172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900000"/>
            <a:ext cx="8172000" cy="3703500"/>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486000" y="550723"/>
            <a:ext cx="8172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900000"/>
            <a:ext cx="8172000" cy="3703500"/>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486000" y="550723"/>
            <a:ext cx="8172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900000"/>
            <a:ext cx="8172000" cy="3703500"/>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486000" y="550723"/>
            <a:ext cx="8172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900000"/>
            <a:ext cx="8172000" cy="3703500"/>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900000"/>
            <a:ext cx="8172000" cy="3703500"/>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900000"/>
            <a:ext cx="8172000" cy="3703500"/>
          </a:xfrm>
        </p:spPr>
        <p:txBody>
          <a:bodyPr/>
          <a:lstStyle/>
          <a:p>
            <a:r>
              <a:rPr lang="zh-CN" altLang="en-US" dirty="0"/>
              <a:t>在某段时间，若对网络中某资源的需求超过了该资源所能提供的可用部分，网络的性能就要明显变坏，整个网络的吞吐量将随输入负荷的增大而下降。这种现象称为拥塞 </a:t>
            </a:r>
            <a:r>
              <a:rPr lang="en-US" altLang="zh-CN" dirty="0"/>
              <a:t>(congestion)</a:t>
            </a:r>
            <a:r>
              <a:rPr lang="zh-CN" altLang="en-US" dirty="0"/>
              <a:t>。</a:t>
            </a:r>
            <a:endParaRPr lang="en-US" altLang="zh-CN" dirty="0"/>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486000" y="550723"/>
            <a:ext cx="8172000" cy="338554"/>
          </a:xfrm>
        </p:spPr>
        <p:txBody>
          <a:bodyPr/>
          <a:lstStyle/>
          <a:p>
            <a:r>
              <a:rPr lang="en-US" altLang="zh-CN" dirty="0"/>
              <a:t>5.8.1   </a:t>
            </a:r>
            <a:r>
              <a:rPr lang="zh-CN" altLang="en-US" dirty="0"/>
              <a:t>拥塞控制的一般原理</a:t>
            </a:r>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900000"/>
            <a:ext cx="8172000" cy="3703500"/>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486000" y="550723"/>
            <a:ext cx="8172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900000"/>
            <a:ext cx="8172000" cy="3703500"/>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486000" y="550723"/>
            <a:ext cx="8172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744610048"/>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486000" y="550723"/>
            <a:ext cx="8172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486000" y="550723"/>
            <a:ext cx="8172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900000"/>
            <a:ext cx="8172000" cy="3703500"/>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486000" y="550723"/>
            <a:ext cx="8172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图示 12"/>
          <p:cNvGraphicFramePr/>
          <p:nvPr>
            <p:extLst>
              <p:ext uri="{D42A27DB-BD31-4B8C-83A1-F6EECF244321}">
                <p14:modId xmlns:p14="http://schemas.microsoft.com/office/powerpoint/2010/main" val="368467618"/>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486000" y="550723"/>
            <a:ext cx="8172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err="1"/>
              <a:t>cwnd</a:t>
            </a:r>
            <a:r>
              <a:rPr lang="en-US" altLang="zh-CN" dirty="0"/>
              <a:t>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486000" y="550723"/>
            <a:ext cx="8172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900000"/>
            <a:ext cx="8172000" cy="3703500"/>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486000" y="550723"/>
            <a:ext cx="8172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486000" y="550723"/>
            <a:ext cx="8172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900000"/>
            <a:ext cx="8172000" cy="3703500"/>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486000" y="550723"/>
            <a:ext cx="8172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900000"/>
            <a:ext cx="8172000" cy="3703500"/>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900000"/>
            <a:ext cx="8172000" cy="3703500"/>
          </a:xfrm>
        </p:spPr>
        <p:txBody>
          <a:bodyPr/>
          <a:lstStyle/>
          <a:p>
            <a:r>
              <a:rPr lang="zh-CN" altLang="en-US" dirty="0"/>
              <a:t>拥塞窗口 </a:t>
            </a:r>
            <a:r>
              <a:rPr lang="en-US" altLang="zh-CN" dirty="0" err="1"/>
              <a:t>cwnd</a:t>
            </a:r>
            <a:r>
              <a:rPr lang="en-US" altLang="zh-CN" dirty="0"/>
              <a:t> </a:t>
            </a:r>
            <a:r>
              <a:rPr lang="zh-CN" altLang="en-US" dirty="0"/>
              <a:t>增大：在每收到一个对新的报文段的确认，就把拥塞窗口增加最多一个发送方的最大报文段 </a:t>
            </a:r>
            <a:r>
              <a:rPr lang="en-US" altLang="zh-CN" dirty="0"/>
              <a:t>SMSS  (Sender Maximum Segment Size) </a:t>
            </a:r>
            <a:r>
              <a:rPr lang="zh-CN" altLang="en-US" dirty="0"/>
              <a:t>的数值。</a:t>
            </a:r>
          </a:p>
          <a:p>
            <a:r>
              <a:rPr lang="zh-CN" altLang="en-US" dirty="0"/>
              <a:t>其中 </a:t>
            </a:r>
            <a:r>
              <a:rPr lang="en-US" altLang="zh-CN" dirty="0"/>
              <a:t>N </a:t>
            </a:r>
            <a:r>
              <a:rPr lang="zh-CN" altLang="en-US" dirty="0"/>
              <a:t>是原先未被确认的、但现在被刚收到的确认报文段所确认的字节数。</a:t>
            </a:r>
          </a:p>
          <a:p>
            <a:endParaRPr lang="zh-CN" altLang="en-US" dirty="0"/>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12714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322980" y="301643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43" name="Text Box 40"/>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err="1">
                <a:solidFill>
                  <a:schemeClr val="bg1"/>
                </a:solidFill>
                <a:latin typeface="Montserrat" panose="00000500000000000000" pitchFamily="2" charset="0"/>
                <a:ea typeface="微软雅黑 Light" panose="020B0502040204020203" pitchFamily="34" charset="-122"/>
              </a:rPr>
              <a:t>cwnd</a:t>
            </a:r>
            <a:r>
              <a:rPr lang="en-US" altLang="zh-CN" sz="1200" dirty="0">
                <a:solidFill>
                  <a:schemeClr val="bg1"/>
                </a:solidFill>
                <a:latin typeface="Montserrat" panose="00000500000000000000" pitchFamily="2" charset="0"/>
                <a:ea typeface="微软雅黑 Light" panose="020B0502040204020203" pitchFamily="34" charset="-122"/>
              </a:rPr>
              <a:t>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900000"/>
            <a:ext cx="8172000" cy="3703500"/>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err="1"/>
              <a:t>cwnd</a:t>
            </a:r>
            <a:r>
              <a:rPr lang="en-US" altLang="zh-CN" dirty="0"/>
              <a:t> </a:t>
            </a:r>
            <a:r>
              <a:rPr lang="zh-CN" altLang="en-US" dirty="0"/>
              <a:t>所允许发送的报文段都连续发送出去，并收到了对已发送的最后一个字节的确认。</a:t>
            </a:r>
          </a:p>
          <a:p>
            <a:r>
              <a:rPr lang="zh-CN" altLang="en-US" dirty="0"/>
              <a:t>例如：拥塞窗口 </a:t>
            </a:r>
            <a:r>
              <a:rPr lang="en-US" altLang="zh-CN" dirty="0" err="1"/>
              <a:t>cwnd</a:t>
            </a:r>
            <a:r>
              <a:rPr lang="en-US" altLang="zh-CN" dirty="0"/>
              <a:t>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486000" y="550723"/>
            <a:ext cx="8172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900000"/>
            <a:ext cx="8172000" cy="3703500"/>
          </a:xfrm>
        </p:spPr>
        <p:txBody>
          <a:bodyPr/>
          <a:lstStyle/>
          <a:p>
            <a:r>
              <a:rPr lang="zh-CN" altLang="en-US" dirty="0"/>
              <a:t>防止拥塞窗口 </a:t>
            </a:r>
            <a:r>
              <a:rPr lang="en-US" altLang="zh-CN" dirty="0" err="1"/>
              <a:t>cwnd</a:t>
            </a:r>
            <a:r>
              <a:rPr lang="en-US" altLang="zh-CN" dirty="0"/>
              <a:t> </a:t>
            </a:r>
            <a:r>
              <a:rPr lang="zh-CN" altLang="en-US" dirty="0"/>
              <a:t>增长过大引起网络拥塞。</a:t>
            </a:r>
            <a:endParaRPr lang="en-US" altLang="zh-CN" dirty="0"/>
          </a:p>
          <a:p>
            <a:r>
              <a:rPr lang="zh-CN" altLang="en-US" dirty="0"/>
              <a:t>用法：</a:t>
            </a:r>
          </a:p>
          <a:p>
            <a:r>
              <a:rPr lang="zh-CN" altLang="en-US" dirty="0"/>
              <a:t>当 </a:t>
            </a:r>
            <a:r>
              <a:rPr lang="en-US" altLang="zh-CN" dirty="0" err="1"/>
              <a:t>cwnd</a:t>
            </a:r>
            <a:r>
              <a:rPr lang="en-US" altLang="zh-CN" dirty="0"/>
              <a:t> &lt; </a:t>
            </a:r>
            <a:r>
              <a:rPr lang="en-US" altLang="zh-CN" dirty="0" err="1"/>
              <a:t>ssthresh</a:t>
            </a:r>
            <a:r>
              <a:rPr lang="en-US" altLang="zh-CN" dirty="0"/>
              <a:t> </a:t>
            </a:r>
            <a:r>
              <a:rPr lang="zh-CN" altLang="en-US" dirty="0"/>
              <a:t>时，使用慢开始算法。</a:t>
            </a:r>
          </a:p>
          <a:p>
            <a:r>
              <a:rPr lang="zh-CN" altLang="en-US" dirty="0"/>
              <a:t>当 </a:t>
            </a:r>
            <a:r>
              <a:rPr lang="en-US" altLang="zh-CN" dirty="0" err="1"/>
              <a:t>cwnd</a:t>
            </a:r>
            <a:r>
              <a:rPr lang="en-US" altLang="zh-CN" dirty="0"/>
              <a:t> &gt; </a:t>
            </a:r>
            <a:r>
              <a:rPr lang="en-US" altLang="zh-CN" dirty="0" err="1"/>
              <a:t>ssthresh</a:t>
            </a:r>
            <a:r>
              <a:rPr lang="en-US" altLang="zh-CN" dirty="0"/>
              <a:t> </a:t>
            </a:r>
            <a:r>
              <a:rPr lang="zh-CN" altLang="en-US" dirty="0"/>
              <a:t>时，停止使用慢开始算法，改用拥塞避免算法。</a:t>
            </a:r>
          </a:p>
          <a:p>
            <a:r>
              <a:rPr lang="zh-CN" altLang="en-US" dirty="0"/>
              <a:t>当 </a:t>
            </a:r>
            <a:r>
              <a:rPr lang="en-US" altLang="zh-CN" dirty="0" err="1"/>
              <a:t>cwnd</a:t>
            </a:r>
            <a:r>
              <a:rPr lang="en-US" altLang="zh-CN" dirty="0"/>
              <a:t> = </a:t>
            </a:r>
            <a:r>
              <a:rPr lang="en-US" altLang="zh-CN" dirty="0" err="1"/>
              <a:t>ssthresh</a:t>
            </a:r>
            <a:r>
              <a:rPr lang="en-US" altLang="zh-CN" dirty="0"/>
              <a:t>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486000" y="550723"/>
            <a:ext cx="8172000" cy="338554"/>
          </a:xfrm>
        </p:spPr>
        <p:txBody>
          <a:bodyPr/>
          <a:lstStyle/>
          <a:p>
            <a:r>
              <a:rPr lang="zh-CN" altLang="en-US" dirty="0"/>
              <a:t>慢开始门限 </a:t>
            </a:r>
            <a:r>
              <a:rPr lang="en-US" altLang="zh-CN" dirty="0" err="1"/>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900000"/>
            <a:ext cx="8172000" cy="3703500"/>
          </a:xfrm>
        </p:spPr>
        <p:txBody>
          <a:bodyPr/>
          <a:lstStyle/>
          <a:p>
            <a:r>
              <a:rPr lang="zh-CN" altLang="en-US" dirty="0"/>
              <a:t>目的：让拥塞窗口 </a:t>
            </a:r>
            <a:r>
              <a:rPr lang="en-US" altLang="zh-CN" dirty="0" err="1"/>
              <a:t>cwnd</a:t>
            </a:r>
            <a:r>
              <a:rPr lang="en-US" altLang="zh-CN" dirty="0"/>
              <a:t> </a:t>
            </a:r>
            <a:r>
              <a:rPr lang="zh-CN" altLang="en-US" dirty="0"/>
              <a:t>缓慢地增大，避免出现拥塞。</a:t>
            </a:r>
            <a:endParaRPr lang="en-US" altLang="zh-CN" dirty="0"/>
          </a:p>
          <a:p>
            <a:r>
              <a:rPr lang="zh-CN" altLang="en-US" dirty="0"/>
              <a:t>拥塞窗口 </a:t>
            </a:r>
            <a:r>
              <a:rPr lang="en-US" altLang="zh-CN" dirty="0" err="1"/>
              <a:t>cwnd</a:t>
            </a:r>
            <a:r>
              <a:rPr lang="en-US" altLang="zh-CN" dirty="0"/>
              <a:t> </a:t>
            </a:r>
            <a:r>
              <a:rPr lang="zh-CN" altLang="en-US" dirty="0"/>
              <a:t>增大：每经过一个往返时间 </a:t>
            </a:r>
            <a:r>
              <a:rPr lang="en-US" altLang="zh-CN" dirty="0"/>
              <a:t>RTT</a:t>
            </a:r>
            <a:r>
              <a:rPr lang="zh-CN" altLang="en-US" dirty="0"/>
              <a:t>（不管在此期间收到了多少确认），发送方的拥塞窗口 </a:t>
            </a:r>
            <a:r>
              <a:rPr lang="en-US" altLang="zh-CN" dirty="0" err="1"/>
              <a:t>cwnd</a:t>
            </a:r>
            <a:r>
              <a:rPr lang="en-US" altLang="zh-CN" dirty="0"/>
              <a:t> = </a:t>
            </a:r>
            <a:r>
              <a:rPr lang="en-US" altLang="zh-CN" dirty="0" err="1"/>
              <a:t>cwnd</a:t>
            </a:r>
            <a:r>
              <a:rPr lang="en-US" altLang="zh-CN" dirty="0"/>
              <a:t>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err="1"/>
              <a:t>cwnd</a:t>
            </a:r>
            <a:r>
              <a:rPr lang="en-US" altLang="zh-CN" dirty="0"/>
              <a:t>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486000" y="550723"/>
            <a:ext cx="8172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E726A29-6B44-8912-798E-303AFA03E364}"/>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50ECC536-9AF2-70BF-0247-7069CFF1F643}"/>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3344078A-A3FF-351A-6799-D3F2DBF36CDB}"/>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66DD75BA-918C-ACC0-685E-C4CE4C1F92D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AD97A86B-840E-2C8A-3ADD-34B02A059834}"/>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3BDC03A7-7DA9-5C11-0151-768C4F76E12D}"/>
              </a:ext>
            </a:extLst>
          </p:cNvPr>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86D27867-74A9-4834-865A-1ED7946A02C1}"/>
              </a:ext>
            </a:extLst>
          </p:cNvPr>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B6BBDAC5-D1EE-7347-E9C4-ABA4D7CAD105}"/>
              </a:ext>
            </a:extLst>
          </p:cNvPr>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045C86C1-8C6C-8F11-F8F0-354CCE44AB47}"/>
              </a:ext>
            </a:extLst>
          </p:cNvPr>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BF005F77-3F5B-2760-F855-2D8A3993CC0A}"/>
              </a:ext>
            </a:extLst>
          </p:cNvPr>
          <p:cNvSpPr>
            <a:spLocks noChangeShapeType="1"/>
          </p:cNvSpPr>
          <p:nvPr/>
        </p:nvSpPr>
        <p:spPr bwMode="auto">
          <a:xfrm>
            <a:off x="3613957" y="372554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FDC25AC4-2865-625A-FD86-42C8E59FA2A0}"/>
              </a:ext>
            </a:extLst>
          </p:cNvPr>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9E829163-7B9F-DD25-CD9A-331FC3AA05C4}"/>
              </a:ext>
            </a:extLst>
          </p:cNvPr>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50F19E67-601C-98C0-92F0-81663A0908E2}"/>
              </a:ext>
            </a:extLst>
          </p:cNvPr>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FFA6B4B6-9CC0-68D3-1941-030FFC02B8B2}"/>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03B7D948-3DA5-B5BB-CCB5-0F21D5D8F3B5}"/>
              </a:ext>
            </a:extLst>
          </p:cNvPr>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B126D505-BAAF-AF9A-F56B-41B5428D3581}"/>
              </a:ext>
            </a:extLst>
          </p:cNvPr>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778936B2-01AC-37CF-DACD-EBD0CD723803}"/>
              </a:ext>
            </a:extLst>
          </p:cNvPr>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D6711AE-1254-1648-70B5-348465E26F74}"/>
              </a:ext>
            </a:extLst>
          </p:cNvPr>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356FD9A-893B-6474-FF75-360080B1AF36}"/>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94826B90-6A69-DF62-FE50-BA49FE60B1CB}"/>
              </a:ext>
            </a:extLst>
          </p:cNvPr>
          <p:cNvSpPr txBox="1">
            <a:spLocks noChangeArrowheads="1"/>
          </p:cNvSpPr>
          <p:nvPr/>
        </p:nvSpPr>
        <p:spPr bwMode="auto">
          <a:xfrm>
            <a:off x="5322980" y="3016431"/>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A73A5FD9-18EE-1E90-B7FC-C5B138866081}"/>
              </a:ext>
            </a:extLst>
          </p:cNvPr>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1021ECF0-B03F-5BBF-D029-72F1D931012A}"/>
              </a:ext>
            </a:extLst>
          </p:cNvPr>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E5CC01CD-22DB-90DB-85E5-3A6E6C4EDC02}"/>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9B7D22D6-2DA2-7989-7BED-56B6D342BB8F}"/>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11DEA278-582E-7CF1-41A9-27939BFCD747}"/>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3C95150C-C5ED-6A9A-78DF-57D09F65C53F}"/>
              </a:ext>
            </a:extLst>
          </p:cNvPr>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7E2FF849-5151-E0CF-8D05-8C89140BCB47}"/>
              </a:ext>
            </a:extLst>
          </p:cNvPr>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58C9076A-1C96-1703-31C4-784705013F59}"/>
              </a:ext>
            </a:extLst>
          </p:cNvPr>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1C2FA6EF-7724-227A-2A6E-D60A4082B8F9}"/>
              </a:ext>
            </a:extLst>
          </p:cNvPr>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722A49B8-7141-0D9C-9E46-13F43A7D4B51}"/>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6" name="Text Box 40">
            <a:extLst>
              <a:ext uri="{FF2B5EF4-FFF2-40B4-BE49-F238E27FC236}">
                <a16:creationId xmlns:a16="http://schemas.microsoft.com/office/drawing/2014/main" id="{02941E61-3BD5-EC48-03CB-C6D0A15E9548}"/>
              </a:ext>
            </a:extLst>
          </p:cNvPr>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Text Box 41">
            <a:extLst>
              <a:ext uri="{FF2B5EF4-FFF2-40B4-BE49-F238E27FC236}">
                <a16:creationId xmlns:a16="http://schemas.microsoft.com/office/drawing/2014/main" id="{8D1EBEEB-0E61-8856-4A93-482724586048}"/>
              </a:ext>
            </a:extLst>
          </p:cNvPr>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8" name="Text Box 42">
            <a:extLst>
              <a:ext uri="{FF2B5EF4-FFF2-40B4-BE49-F238E27FC236}">
                <a16:creationId xmlns:a16="http://schemas.microsoft.com/office/drawing/2014/main" id="{7F99B511-54C8-E195-2DED-F348AB011E84}"/>
              </a:ext>
            </a:extLst>
          </p:cNvPr>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39" name="Text Box 28">
            <a:extLst>
              <a:ext uri="{FF2B5EF4-FFF2-40B4-BE49-F238E27FC236}">
                <a16:creationId xmlns:a16="http://schemas.microsoft.com/office/drawing/2014/main" id="{C633C733-9D92-F871-E60F-E52BA3C94C2D}"/>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8F771EAA-3ACD-5A31-83B7-0C1473164D10}"/>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Tree>
    <p:extLst>
      <p:ext uri="{BB962C8B-B14F-4D97-AF65-F5344CB8AC3E}">
        <p14:creationId xmlns:p14="http://schemas.microsoft.com/office/powerpoint/2010/main" val="10009050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8"/>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7" grpId="0"/>
      <p:bldP spid="38" grpId="0"/>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900000"/>
            <a:ext cx="8172000" cy="3703500"/>
          </a:xfrm>
        </p:spPr>
        <p:txBody>
          <a:bodyPr/>
          <a:lstStyle/>
          <a:p>
            <a:r>
              <a:rPr lang="zh-CN" altLang="en-US" dirty="0"/>
              <a:t>无论在慢开始阶段还是在拥塞避免阶段，只要发送方判断网络出现拥塞（重传定时器超时）：</a:t>
            </a:r>
          </a:p>
          <a:p>
            <a:pPr lvl="1"/>
            <a:r>
              <a:rPr lang="en-US" altLang="zh-CN" dirty="0" err="1"/>
              <a:t>ssthresh</a:t>
            </a:r>
            <a:r>
              <a:rPr lang="en-US" altLang="zh-CN" dirty="0"/>
              <a:t> = max (</a:t>
            </a:r>
            <a:r>
              <a:rPr lang="en-US" altLang="zh-CN" dirty="0" err="1"/>
              <a:t>cwnd</a:t>
            </a:r>
            <a:r>
              <a:rPr lang="en-US" altLang="zh-CN" dirty="0"/>
              <a:t>/2</a:t>
            </a:r>
            <a:r>
              <a:rPr lang="zh-CN" altLang="en-US" dirty="0"/>
              <a:t>，</a:t>
            </a:r>
            <a:r>
              <a:rPr lang="en-US" altLang="zh-CN" dirty="0"/>
              <a:t>2)</a:t>
            </a:r>
          </a:p>
          <a:p>
            <a:pPr lvl="1"/>
            <a:r>
              <a:rPr lang="en-US" altLang="zh-CN" dirty="0" err="1"/>
              <a:t>cwnd</a:t>
            </a:r>
            <a:r>
              <a:rPr lang="en-US" altLang="zh-CN" dirty="0"/>
              <a:t>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486000" y="550723"/>
            <a:ext cx="8172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900000"/>
            <a:ext cx="8172000" cy="3703500"/>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486000" y="550723"/>
            <a:ext cx="8172000" cy="338554"/>
          </a:xfrm>
        </p:spPr>
        <p:txBody>
          <a:bodyPr/>
          <a:lstStyle/>
          <a:p>
            <a:r>
              <a:rPr lang="zh-CN" altLang="en-US" dirty="0"/>
              <a:t>快重传 </a:t>
            </a:r>
            <a:r>
              <a:rPr lang="en-US" altLang="zh-CN" dirty="0"/>
              <a:t>FR (Fast Retransmission) </a:t>
            </a:r>
            <a:r>
              <a:rPr lang="zh-CN" altLang="en-US" dirty="0"/>
              <a:t>算法</a:t>
            </a:r>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65736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5967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1416328" y="2939639"/>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127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3780345"/>
            <a:ext cx="528675" cy="7666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361782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486000" y="550723"/>
            <a:ext cx="8172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900000"/>
            <a:ext cx="8172000" cy="3703500"/>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err="1"/>
              <a:t>ssthresh</a:t>
            </a:r>
            <a:r>
              <a:rPr lang="en-US" altLang="zh-CN" dirty="0"/>
              <a:t> = </a:t>
            </a:r>
            <a:r>
              <a:rPr lang="zh-CN" altLang="en-US" dirty="0"/>
              <a:t>当前拥塞窗口 </a:t>
            </a:r>
            <a:r>
              <a:rPr lang="en-US" altLang="zh-CN" dirty="0" err="1"/>
              <a:t>cwnd</a:t>
            </a:r>
            <a:r>
              <a:rPr lang="en-US" altLang="zh-CN" dirty="0"/>
              <a:t>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err="1"/>
              <a:t>cwnd</a:t>
            </a:r>
            <a:r>
              <a:rPr lang="en-US" altLang="zh-CN" dirty="0"/>
              <a:t> = </a:t>
            </a:r>
            <a:r>
              <a:rPr lang="zh-CN" altLang="en-US" dirty="0"/>
              <a:t>慢开始门限 </a:t>
            </a:r>
            <a:r>
              <a:rPr lang="en-US" altLang="zh-CN" dirty="0" err="1"/>
              <a:t>ssthresh</a:t>
            </a:r>
            <a:r>
              <a:rPr lang="en-US" altLang="zh-CN" dirty="0"/>
              <a:t>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486000" y="550723"/>
            <a:ext cx="8172000" cy="338554"/>
          </a:xfrm>
        </p:spPr>
        <p:txBody>
          <a:bodyPr/>
          <a:lstStyle/>
          <a:p>
            <a:r>
              <a:rPr lang="zh-CN" altLang="en-US" dirty="0"/>
              <a:t>快恢复 </a:t>
            </a:r>
            <a:r>
              <a:rPr lang="en-US" altLang="zh-CN" dirty="0"/>
              <a:t>FR (Fast Recovery)</a:t>
            </a:r>
            <a:r>
              <a:rPr lang="zh-CN" altLang="en-US" dirty="0"/>
              <a:t>算法</a:t>
            </a:r>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701612" cy="461665"/>
          </a:xfrm>
          <a:prstGeom prst="rect">
            <a:avLst/>
          </a:prstGeom>
          <a:noFill/>
          <a:ln w="9525">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a:t>ssthresh</a:t>
            </a:r>
            <a:r>
              <a:rPr lang="en-US" altLang="zh-CN" dirty="0"/>
              <a:t> </a:t>
            </a:r>
            <a:r>
              <a:rPr lang="en-US" altLang="zh-CN"/>
              <a:t>= cwnd</a:t>
            </a:r>
            <a:r>
              <a:rPr lang="en-US" altLang="zh-CN" dirty="0"/>
              <a:t> / 2</a:t>
            </a:r>
          </a:p>
          <a:p>
            <a:r>
              <a:rPr lang="en-US" altLang="zh-CN"/>
              <a:t>cwnd</a:t>
            </a:r>
            <a:r>
              <a:rPr lang="en-US" altLang="zh-CN" dirty="0"/>
              <a:t> = 1</a:t>
            </a:r>
            <a:endParaRPr lang="zh-CN" altLang="en-US" dirty="0"/>
          </a:p>
        </p:txBody>
      </p:sp>
      <p:cxnSp>
        <p:nvCxnSpPr>
          <p:cNvPr id="10" name="肘形连接符 9"/>
          <p:cNvCxnSpPr>
            <a:stCxn id="22" idx="1"/>
            <a:endCxn id="9" idx="2"/>
          </p:cNvCxnSpPr>
          <p:nvPr/>
        </p:nvCxnSpPr>
        <p:spPr>
          <a:xfrm rot="10800000">
            <a:off x="2233379" y="1713328"/>
            <a:ext cx="872890" cy="422450"/>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33379" y="1713329"/>
            <a:ext cx="871756" cy="1771187"/>
          </a:xfrm>
          <a:prstGeom prst="bentConnector2">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84185" y="1481084"/>
            <a:ext cx="727878" cy="3"/>
          </a:xfrm>
          <a:prstGeom prst="lin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486000" y="550723"/>
            <a:ext cx="8172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900000"/>
            <a:ext cx="8172000" cy="3703500"/>
          </a:xfrm>
        </p:spPr>
        <p:txBody>
          <a:bodyPr/>
          <a:lstStyle/>
          <a:p>
            <a:r>
              <a:rPr lang="zh-CN" altLang="en-US" dirty="0"/>
              <a:t>当 </a:t>
            </a:r>
            <a:r>
              <a:rPr lang="en-US" altLang="zh-CN" dirty="0" err="1"/>
              <a:t>rwnd</a:t>
            </a:r>
            <a:r>
              <a:rPr lang="en-US" altLang="zh-CN" dirty="0"/>
              <a:t> &lt; </a:t>
            </a:r>
            <a:r>
              <a:rPr lang="en-US" altLang="zh-CN" dirty="0" err="1"/>
              <a:t>cwnd</a:t>
            </a:r>
            <a:r>
              <a:rPr lang="en-US" altLang="zh-CN" dirty="0"/>
              <a:t> </a:t>
            </a:r>
            <a:r>
              <a:rPr lang="zh-CN" altLang="en-US" dirty="0"/>
              <a:t>时，是接收方的接收能力限制发送窗口的最大值。</a:t>
            </a:r>
          </a:p>
          <a:p>
            <a:r>
              <a:rPr lang="zh-CN" altLang="en-US" dirty="0"/>
              <a:t>当 </a:t>
            </a:r>
            <a:r>
              <a:rPr lang="en-US" altLang="zh-CN" dirty="0" err="1"/>
              <a:t>cwnd</a:t>
            </a:r>
            <a:r>
              <a:rPr lang="en-US" altLang="zh-CN" dirty="0"/>
              <a:t> &lt; </a:t>
            </a:r>
            <a:r>
              <a:rPr lang="en-US" altLang="zh-CN" dirty="0" err="1"/>
              <a:t>rwnd</a:t>
            </a:r>
            <a:r>
              <a:rPr lang="en-US" altLang="zh-CN" dirty="0"/>
              <a:t>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486000" y="550723"/>
            <a:ext cx="8172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486000" y="550723"/>
            <a:ext cx="8172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900000"/>
            <a:ext cx="8172000" cy="3703500"/>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 </a:t>
            </a:r>
            <a:r>
              <a:rPr lang="zh-CN" altLang="en-US" dirty="0"/>
              <a:t>处理规则</a:t>
            </a:r>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486000" y="550723"/>
            <a:ext cx="8172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486000" y="550723"/>
            <a:ext cx="8172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900000"/>
            <a:ext cx="8172000" cy="3703500"/>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486000" y="550723"/>
            <a:ext cx="8172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900000"/>
            <a:ext cx="8172000" cy="3703500"/>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900000"/>
            <a:ext cx="8172000" cy="3703500"/>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486000" y="550723"/>
            <a:ext cx="8172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900000"/>
            <a:ext cx="8172000" cy="3703500"/>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486000" y="550723"/>
            <a:ext cx="8172000" cy="338554"/>
          </a:xfrm>
        </p:spPr>
        <p:txBody>
          <a:bodyPr/>
          <a:lstStyle/>
          <a:p>
            <a:r>
              <a:rPr lang="en-US" altLang="zh-CN" dirty="0"/>
              <a:t>TCP </a:t>
            </a:r>
            <a:r>
              <a:rPr lang="zh-CN" altLang="en-US" dirty="0"/>
              <a:t>连接建立过程中要解决的三个问题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486000" y="550723"/>
            <a:ext cx="8172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47D15CC1-5781-A9FD-7949-A7C95335D57C}"/>
              </a:ext>
            </a:extLst>
          </p:cNvPr>
          <p:cNvCxnSpPr>
            <a:cxnSpLocks/>
          </p:cNvCxnSpPr>
          <p:nvPr/>
        </p:nvCxnSpPr>
        <p:spPr>
          <a:xfrm>
            <a:off x="264408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FEC8E802-DCFB-F2C8-1459-2F22F0E42B88}"/>
              </a:ext>
            </a:extLst>
          </p:cNvPr>
          <p:cNvCxnSpPr>
            <a:cxnSpLocks/>
          </p:cNvCxnSpPr>
          <p:nvPr/>
        </p:nvCxnSpPr>
        <p:spPr>
          <a:xfrm>
            <a:off x="577073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 name="组合 26">
            <a:extLst>
              <a:ext uri="{FF2B5EF4-FFF2-40B4-BE49-F238E27FC236}">
                <a16:creationId xmlns:a16="http://schemas.microsoft.com/office/drawing/2014/main" id="{0E40880E-C15E-C1D0-10F3-32FF3925B801}"/>
              </a:ext>
            </a:extLst>
          </p:cNvPr>
          <p:cNvGrpSpPr/>
          <p:nvPr/>
        </p:nvGrpSpPr>
        <p:grpSpPr>
          <a:xfrm>
            <a:off x="2428083" y="553196"/>
            <a:ext cx="432000" cy="432000"/>
            <a:chOff x="1637508" y="547157"/>
            <a:chExt cx="432000" cy="432000"/>
          </a:xfrm>
        </p:grpSpPr>
        <p:pic>
          <p:nvPicPr>
            <p:cNvPr id="5" name="图形 4" descr="监视器">
              <a:extLst>
                <a:ext uri="{FF2B5EF4-FFF2-40B4-BE49-F238E27FC236}">
                  <a16:creationId xmlns:a16="http://schemas.microsoft.com/office/drawing/2014/main" id="{5BB9EDD4-3F0E-0283-7864-426C18E272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290FE7E5-A3E5-74B3-343D-D431DFB1D4EB}"/>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E7C871D1-5F7D-B69A-DC4D-EA2E74592C7E}"/>
              </a:ext>
            </a:extLst>
          </p:cNvPr>
          <p:cNvGrpSpPr/>
          <p:nvPr/>
        </p:nvGrpSpPr>
        <p:grpSpPr>
          <a:xfrm>
            <a:off x="5554733" y="553196"/>
            <a:ext cx="432000" cy="432000"/>
            <a:chOff x="6107183" y="559236"/>
            <a:chExt cx="432000" cy="432000"/>
          </a:xfrm>
        </p:grpSpPr>
        <p:pic>
          <p:nvPicPr>
            <p:cNvPr id="8" name="图形 7" descr="监视器">
              <a:extLst>
                <a:ext uri="{FF2B5EF4-FFF2-40B4-BE49-F238E27FC236}">
                  <a16:creationId xmlns:a16="http://schemas.microsoft.com/office/drawing/2014/main" id="{17145CFB-63B6-38AB-DAF9-92A4D5D9A29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9" name="文本框 8">
              <a:extLst>
                <a:ext uri="{FF2B5EF4-FFF2-40B4-BE49-F238E27FC236}">
                  <a16:creationId xmlns:a16="http://schemas.microsoft.com/office/drawing/2014/main" id="{8117EFBA-A8D8-4770-E94A-0CEC266FF99C}"/>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0" name="直接箭头连接符 9">
            <a:extLst>
              <a:ext uri="{FF2B5EF4-FFF2-40B4-BE49-F238E27FC236}">
                <a16:creationId xmlns:a16="http://schemas.microsoft.com/office/drawing/2014/main" id="{AF485F0E-7474-25C5-73FB-A9FC88D067E7}"/>
              </a:ext>
            </a:extLst>
          </p:cNvPr>
          <p:cNvCxnSpPr>
            <a:cxnSpLocks/>
            <a:stCxn id="19" idx="3"/>
            <a:endCxn id="20" idx="1"/>
          </p:cNvCxnSpPr>
          <p:nvPr/>
        </p:nvCxnSpPr>
        <p:spPr>
          <a:xfrm>
            <a:off x="2644083" y="1656019"/>
            <a:ext cx="3126650" cy="477824"/>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41A7C4B1-6D99-D0F8-E504-DF8806B5DA27}"/>
              </a:ext>
            </a:extLst>
          </p:cNvPr>
          <p:cNvCxnSpPr>
            <a:cxnSpLocks/>
            <a:stCxn id="20" idx="1"/>
            <a:endCxn id="21" idx="3"/>
          </p:cNvCxnSpPr>
          <p:nvPr/>
        </p:nvCxnSpPr>
        <p:spPr>
          <a:xfrm flipH="1">
            <a:off x="2644083" y="2133843"/>
            <a:ext cx="3126650" cy="73648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09DAF7F8-8ADD-CB8E-B31A-ACF047960F45}"/>
              </a:ext>
            </a:extLst>
          </p:cNvPr>
          <p:cNvCxnSpPr>
            <a:cxnSpLocks/>
            <a:stCxn id="21" idx="3"/>
            <a:endCxn id="22" idx="1"/>
          </p:cNvCxnSpPr>
          <p:nvPr/>
        </p:nvCxnSpPr>
        <p:spPr>
          <a:xfrm>
            <a:off x="2644083" y="2870323"/>
            <a:ext cx="3126650" cy="493253"/>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B5D1F939-D92A-7D02-6527-37ECCF436B8B}"/>
              </a:ext>
            </a:extLst>
          </p:cNvPr>
          <p:cNvSpPr txBox="1"/>
          <p:nvPr/>
        </p:nvSpPr>
        <p:spPr>
          <a:xfrm rot="540000">
            <a:off x="3642991" y="1585272"/>
            <a:ext cx="112883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seq=x</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90CD8884-3B11-5208-1AB1-8A9658CAFCA0}"/>
              </a:ext>
            </a:extLst>
          </p:cNvPr>
          <p:cNvSpPr txBox="1"/>
          <p:nvPr/>
        </p:nvSpPr>
        <p:spPr>
          <a:xfrm rot="20808004">
            <a:off x="3314375" y="2255155"/>
            <a:ext cx="1786066"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ACK=1 ack=x+1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seq=y </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5" name="文本框 14">
            <a:extLst>
              <a:ext uri="{FF2B5EF4-FFF2-40B4-BE49-F238E27FC236}">
                <a16:creationId xmlns:a16="http://schemas.microsoft.com/office/drawing/2014/main" id="{34365C8C-B898-59E8-021B-19121C4387CF}"/>
              </a:ext>
            </a:extLst>
          </p:cNvPr>
          <p:cNvSpPr txBox="1"/>
          <p:nvPr/>
        </p:nvSpPr>
        <p:spPr>
          <a:xfrm rot="525163">
            <a:off x="3564444" y="2888112"/>
            <a:ext cx="128592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ACK=1 ack=y+1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 = x+1</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6" name="矩形 15">
            <a:extLst>
              <a:ext uri="{FF2B5EF4-FFF2-40B4-BE49-F238E27FC236}">
                <a16:creationId xmlns:a16="http://schemas.microsoft.com/office/drawing/2014/main" id="{CDB39CFD-E5ED-7063-B40E-9F1A61FB0739}"/>
              </a:ext>
            </a:extLst>
          </p:cNvPr>
          <p:cNvSpPr/>
          <p:nvPr/>
        </p:nvSpPr>
        <p:spPr>
          <a:xfrm>
            <a:off x="1204083" y="960670"/>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17" name="矩形 16">
            <a:extLst>
              <a:ext uri="{FF2B5EF4-FFF2-40B4-BE49-F238E27FC236}">
                <a16:creationId xmlns:a16="http://schemas.microsoft.com/office/drawing/2014/main" id="{A5BF2568-8721-B52F-81EB-DE4D8ABF589D}"/>
              </a:ext>
            </a:extLst>
          </p:cNvPr>
          <p:cNvSpPr/>
          <p:nvPr/>
        </p:nvSpPr>
        <p:spPr>
          <a:xfrm>
            <a:off x="5770733" y="96066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8" name="矩形 17">
            <a:extLst>
              <a:ext uri="{FF2B5EF4-FFF2-40B4-BE49-F238E27FC236}">
                <a16:creationId xmlns:a16="http://schemas.microsoft.com/office/drawing/2014/main" id="{6B9B0A21-91AF-6659-B7A4-16AB52CAB229}"/>
              </a:ext>
            </a:extLst>
          </p:cNvPr>
          <p:cNvSpPr/>
          <p:nvPr/>
        </p:nvSpPr>
        <p:spPr>
          <a:xfrm>
            <a:off x="5770733" y="1386134"/>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LISTEN</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9" name="矩形 18">
            <a:extLst>
              <a:ext uri="{FF2B5EF4-FFF2-40B4-BE49-F238E27FC236}">
                <a16:creationId xmlns:a16="http://schemas.microsoft.com/office/drawing/2014/main" id="{B6FE02D6-3420-13E5-C262-350FD1A3B95F}"/>
              </a:ext>
            </a:extLst>
          </p:cNvPr>
          <p:cNvSpPr/>
          <p:nvPr/>
        </p:nvSpPr>
        <p:spPr>
          <a:xfrm>
            <a:off x="1204083" y="151751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SYN-SENT</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0" name="矩形 19">
            <a:extLst>
              <a:ext uri="{FF2B5EF4-FFF2-40B4-BE49-F238E27FC236}">
                <a16:creationId xmlns:a16="http://schemas.microsoft.com/office/drawing/2014/main" id="{B3CBFDAE-63CF-7D49-CA70-9CDB0EC06F82}"/>
              </a:ext>
            </a:extLst>
          </p:cNvPr>
          <p:cNvSpPr/>
          <p:nvPr/>
        </p:nvSpPr>
        <p:spPr>
          <a:xfrm>
            <a:off x="5770733" y="199534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SYN-RCVD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1" name="矩形 20">
            <a:extLst>
              <a:ext uri="{FF2B5EF4-FFF2-40B4-BE49-F238E27FC236}">
                <a16:creationId xmlns:a16="http://schemas.microsoft.com/office/drawing/2014/main" id="{4567E7F4-B634-36C9-D3BB-E52637B13DAE}"/>
              </a:ext>
            </a:extLst>
          </p:cNvPr>
          <p:cNvSpPr/>
          <p:nvPr/>
        </p:nvSpPr>
        <p:spPr>
          <a:xfrm>
            <a:off x="1204083" y="273182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2" name="矩形 21">
            <a:extLst>
              <a:ext uri="{FF2B5EF4-FFF2-40B4-BE49-F238E27FC236}">
                <a16:creationId xmlns:a16="http://schemas.microsoft.com/office/drawing/2014/main" id="{EDC68764-2D0B-5CBA-9ADD-355F87844811}"/>
              </a:ext>
            </a:extLst>
          </p:cNvPr>
          <p:cNvSpPr/>
          <p:nvPr/>
        </p:nvSpPr>
        <p:spPr>
          <a:xfrm>
            <a:off x="5770733" y="3225076"/>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箭头: 左右 22">
            <a:extLst>
              <a:ext uri="{FF2B5EF4-FFF2-40B4-BE49-F238E27FC236}">
                <a16:creationId xmlns:a16="http://schemas.microsoft.com/office/drawing/2014/main" id="{7C8E832C-28A8-33B7-ECE1-CE4A4A0D10A3}"/>
              </a:ext>
            </a:extLst>
          </p:cNvPr>
          <p:cNvSpPr/>
          <p:nvPr/>
        </p:nvSpPr>
        <p:spPr>
          <a:xfrm>
            <a:off x="2767408" y="3846627"/>
            <a:ext cx="2880000" cy="653501"/>
          </a:xfrm>
          <a:prstGeom prst="leftRightArrow">
            <a:avLst>
              <a:gd name="adj1" fmla="val 58746"/>
              <a:gd name="adj2" fmla="val 59067"/>
            </a:avLst>
          </a:prstGeom>
          <a:solidFill>
            <a:schemeClr val="tx2">
              <a:lumMod val="40000"/>
              <a:lumOff val="6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数据传输</a:t>
            </a:r>
          </a:p>
        </p:txBody>
      </p:sp>
      <p:sp>
        <p:nvSpPr>
          <p:cNvPr id="24" name="文本框 23">
            <a:extLst>
              <a:ext uri="{FF2B5EF4-FFF2-40B4-BE49-F238E27FC236}">
                <a16:creationId xmlns:a16="http://schemas.microsoft.com/office/drawing/2014/main" id="{96AC86E7-ACD9-6D38-15BB-DAA07DF5B35E}"/>
              </a:ext>
            </a:extLst>
          </p:cNvPr>
          <p:cNvSpPr txBox="1"/>
          <p:nvPr/>
        </p:nvSpPr>
        <p:spPr>
          <a:xfrm>
            <a:off x="2795185"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5" name="文本框 24">
            <a:extLst>
              <a:ext uri="{FF2B5EF4-FFF2-40B4-BE49-F238E27FC236}">
                <a16:creationId xmlns:a16="http://schemas.microsoft.com/office/drawing/2014/main" id="{D3E3829D-EEEE-FFC9-BB5B-BD35FC5F6147}"/>
              </a:ext>
            </a:extLst>
          </p:cNvPr>
          <p:cNvSpPr txBox="1"/>
          <p:nvPr/>
        </p:nvSpPr>
        <p:spPr>
          <a:xfrm>
            <a:off x="4968506"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27377392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486000" y="550723"/>
            <a:ext cx="8172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264408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577073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B6312439-9150-A9E3-BCA7-92C196ABF0AC}"/>
              </a:ext>
            </a:extLst>
          </p:cNvPr>
          <p:cNvGrpSpPr/>
          <p:nvPr/>
        </p:nvGrpSpPr>
        <p:grpSpPr>
          <a:xfrm>
            <a:off x="2428083" y="553196"/>
            <a:ext cx="432000" cy="432000"/>
            <a:chOff x="1637508" y="547157"/>
            <a:chExt cx="432000" cy="432000"/>
          </a:xfrm>
        </p:grpSpPr>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DCEA9356-61CD-92F3-D75C-9AEE0ECA246E}"/>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8" name="组合 7">
            <a:extLst>
              <a:ext uri="{FF2B5EF4-FFF2-40B4-BE49-F238E27FC236}">
                <a16:creationId xmlns:a16="http://schemas.microsoft.com/office/drawing/2014/main" id="{F8F48B44-2E38-A68F-6C82-1925A759FD49}"/>
              </a:ext>
            </a:extLst>
          </p:cNvPr>
          <p:cNvGrpSpPr/>
          <p:nvPr/>
        </p:nvGrpSpPr>
        <p:grpSpPr>
          <a:xfrm>
            <a:off x="5554733" y="553196"/>
            <a:ext cx="432000" cy="432000"/>
            <a:chOff x="6107183" y="559236"/>
            <a:chExt cx="432000" cy="432000"/>
          </a:xfrm>
        </p:grpSpPr>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10" name="文本框 9">
              <a:extLst>
                <a:ext uri="{FF2B5EF4-FFF2-40B4-BE49-F238E27FC236}">
                  <a16:creationId xmlns:a16="http://schemas.microsoft.com/office/drawing/2014/main" id="{E0F37203-A5E6-837B-9C5F-2578670C41E9}"/>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2644082" y="3187843"/>
            <a:ext cx="3141051" cy="453028"/>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2629683" y="17777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2644082" y="1237668"/>
            <a:ext cx="3126650" cy="49602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5785133"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333683"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5785133"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333683"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5785133"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2767408"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2795185"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4968506"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559635"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473876"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458647"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453840"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5785133"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333683"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326483"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2629683" y="26645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4649065"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538783"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326483"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26483"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268883"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900000"/>
            <a:ext cx="8172000" cy="3703500"/>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486000" y="550723"/>
            <a:ext cx="8172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900000"/>
            <a:ext cx="8172000" cy="3703500"/>
          </a:xfrm>
        </p:spPr>
        <p:txBody>
          <a:bodyPr/>
          <a:lstStyle/>
          <a:p>
            <a:r>
              <a:rPr lang="zh-CN" altLang="en-US"/>
              <a:t>用来防止在 </a:t>
            </a:r>
            <a:r>
              <a:rPr lang="en-US" altLang="zh-CN"/>
              <a:t>TCP </a:t>
            </a:r>
            <a:r>
              <a:rPr lang="zh-CN" altLang="en-US"/>
              <a:t>连接出现长时期空闲。</a:t>
            </a:r>
            <a:endParaRPr lang="en-US" altLang="zh-CN"/>
          </a:p>
          <a:p>
            <a:r>
              <a:rPr lang="zh-CN" altLang="en-US"/>
              <a:t>通常设置为 </a:t>
            </a:r>
            <a:r>
              <a:rPr lang="en-US" altLang="zh-CN"/>
              <a:t>2 </a:t>
            </a:r>
            <a:r>
              <a:rPr lang="zh-CN" altLang="en-US"/>
              <a:t>小时 。</a:t>
            </a:r>
            <a:endParaRPr lang="en-US" altLang="zh-CN"/>
          </a:p>
          <a:p>
            <a:r>
              <a:rPr lang="zh-CN" altLang="en-US"/>
              <a:t>若服务器过了 </a:t>
            </a:r>
            <a:r>
              <a:rPr lang="en-US" altLang="zh-CN"/>
              <a:t>2 </a:t>
            </a:r>
            <a:r>
              <a:rPr lang="zh-CN" altLang="en-US"/>
              <a:t>小时还没有收到客户的信息，它就发送探测报文段。</a:t>
            </a:r>
            <a:endParaRPr lang="en-US" altLang="zh-CN"/>
          </a:p>
          <a:p>
            <a:r>
              <a:rPr lang="zh-CN" altLang="en-US"/>
              <a:t>若发送了 </a:t>
            </a:r>
            <a:r>
              <a:rPr lang="en-US" altLang="zh-CN"/>
              <a:t>10 </a:t>
            </a:r>
            <a:r>
              <a:rPr lang="zh-CN" altLang="en-US"/>
              <a:t>个探测报文段（每一个相隔 </a:t>
            </a:r>
            <a:r>
              <a:rPr lang="en-US" altLang="zh-CN"/>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486000" y="550723"/>
            <a:ext cx="8172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486000" y="550723"/>
            <a:ext cx="8172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8035</TotalTime>
  <Words>17848</Words>
  <Application>Microsoft Office PowerPoint</Application>
  <PresentationFormat>全屏显示(16:9)</PresentationFormat>
  <Paragraphs>4214</Paragraphs>
  <Slides>212</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212</vt:i4>
      </vt:variant>
    </vt:vector>
  </HeadingPairs>
  <TitlesOfParts>
    <vt:vector size="225" baseType="lpstr">
      <vt:lpstr>Wingdings</vt:lpstr>
      <vt:lpstr>微软雅黑</vt:lpstr>
      <vt:lpstr>Montserrat</vt:lpstr>
      <vt:lpstr>宋体</vt:lpstr>
      <vt:lpstr>Courier New</vt:lpstr>
      <vt:lpstr>Symbol</vt:lpstr>
      <vt:lpstr>Arial</vt:lpstr>
      <vt:lpstr>Cambria Math</vt:lpstr>
      <vt:lpstr>微软雅黑 Light</vt:lpstr>
      <vt:lpstr>Calibri</vt:lpstr>
      <vt:lpstr>network</vt:lpstr>
      <vt:lpstr>Visio</vt:lpstr>
      <vt:lpstr>公式</vt:lpstr>
      <vt:lpstr>PowerPoint 演示文稿</vt:lpstr>
      <vt:lpstr>计算机网络体系结构</vt:lpstr>
      <vt:lpstr>PowerPoint 演示文稿</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需要强调三点</vt:lpstr>
      <vt:lpstr>5.6.2   超时重传时间的选择</vt:lpstr>
      <vt:lpstr>TCP 超时重传时间设置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PowerPoint 演示文稿</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拥塞控制的一般原理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PowerPoint 演示文稿</vt:lpstr>
      <vt:lpstr>PowerPoint 演示文稿</vt:lpstr>
      <vt:lpstr>传输轮次（transmission round）</vt:lpstr>
      <vt:lpstr>慢开始门限 ssthresh</vt:lpstr>
      <vt:lpstr>2. 拥塞避免</vt:lpstr>
      <vt:lpstr>PowerPoint 演示文稿</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FR (Fast Retransmission) 算法</vt:lpstr>
      <vt:lpstr>快重传举例</vt:lpstr>
      <vt:lpstr>快恢复 FR (Fast Recovery)算法</vt:lpstr>
      <vt:lpstr>慢开始和拥塞避免算法的实现举例</vt:lpstr>
      <vt:lpstr>慢开始和拥塞避免算法的实现举例</vt:lpstr>
      <vt:lpstr>TCP 拥塞控制流程图</vt:lpstr>
      <vt:lpstr>发送窗口的上限值</vt:lpstr>
      <vt:lpstr>5.8.3   主动队列管理 AQM</vt:lpstr>
      <vt:lpstr>“先进先出”FIFO 处理规则</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TCP 连接建立过程中要解决的三个问题</vt:lpstr>
      <vt:lpstr>5.9.1  TCP 的连接建立</vt:lpstr>
      <vt:lpstr>PowerPoint 演示文稿</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PowerPoint 演示文稿</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687</cp:revision>
  <dcterms:created xsi:type="dcterms:W3CDTF">2018-07-18T08:51:30Z</dcterms:created>
  <dcterms:modified xsi:type="dcterms:W3CDTF">2025-11-22T00:46:30Z</dcterms:modified>
</cp:coreProperties>
</file>