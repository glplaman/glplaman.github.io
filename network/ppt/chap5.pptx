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4"/>
  </p:notesMasterIdLst>
  <p:sldIdLst>
    <p:sldId id="257" r:id="rId2"/>
    <p:sldId id="693" r:id="rId3"/>
    <p:sldId id="446" r:id="rId4"/>
    <p:sldId id="750" r:id="rId5"/>
    <p:sldId id="449" r:id="rId6"/>
    <p:sldId id="470" r:id="rId7"/>
    <p:sldId id="450" r:id="rId8"/>
    <p:sldId id="265" r:id="rId9"/>
    <p:sldId id="267" r:id="rId10"/>
    <p:sldId id="268" r:id="rId11"/>
    <p:sldId id="659" r:id="rId12"/>
    <p:sldId id="468" r:id="rId13"/>
    <p:sldId id="458" r:id="rId14"/>
    <p:sldId id="661" r:id="rId15"/>
    <p:sldId id="662" r:id="rId16"/>
    <p:sldId id="663" r:id="rId17"/>
    <p:sldId id="276" r:id="rId18"/>
    <p:sldId id="277" r:id="rId19"/>
    <p:sldId id="278" r:id="rId20"/>
    <p:sldId id="279" r:id="rId21"/>
    <p:sldId id="737" r:id="rId22"/>
    <p:sldId id="471" r:id="rId23"/>
    <p:sldId id="472" r:id="rId24"/>
    <p:sldId id="473" r:id="rId25"/>
    <p:sldId id="667" r:id="rId26"/>
    <p:sldId id="734" r:id="rId27"/>
    <p:sldId id="475" r:id="rId28"/>
    <p:sldId id="694" r:id="rId29"/>
    <p:sldId id="736" r:id="rId30"/>
    <p:sldId id="696" r:id="rId31"/>
    <p:sldId id="735" r:id="rId32"/>
    <p:sldId id="476" r:id="rId33"/>
    <p:sldId id="668" r:id="rId34"/>
    <p:sldId id="477" r:id="rId35"/>
    <p:sldId id="478" r:id="rId36"/>
    <p:sldId id="479" r:id="rId37"/>
    <p:sldId id="751" r:id="rId38"/>
    <p:sldId id="480" r:id="rId39"/>
    <p:sldId id="481" r:id="rId40"/>
    <p:sldId id="482" r:id="rId41"/>
    <p:sldId id="669" r:id="rId42"/>
    <p:sldId id="483" r:id="rId43"/>
    <p:sldId id="484" r:id="rId44"/>
    <p:sldId id="671" r:id="rId45"/>
    <p:sldId id="486" r:id="rId46"/>
    <p:sldId id="488" r:id="rId47"/>
    <p:sldId id="672" r:id="rId48"/>
    <p:sldId id="489" r:id="rId49"/>
    <p:sldId id="490" r:id="rId50"/>
    <p:sldId id="491" r:id="rId51"/>
    <p:sldId id="492" r:id="rId52"/>
    <p:sldId id="493" r:id="rId53"/>
    <p:sldId id="494" r:id="rId54"/>
    <p:sldId id="495" r:id="rId55"/>
    <p:sldId id="497" r:id="rId56"/>
    <p:sldId id="673" r:id="rId57"/>
    <p:sldId id="697" r:id="rId58"/>
    <p:sldId id="738" r:id="rId59"/>
    <p:sldId id="498" r:id="rId60"/>
    <p:sldId id="739" r:id="rId61"/>
    <p:sldId id="501" r:id="rId62"/>
    <p:sldId id="505" r:id="rId63"/>
    <p:sldId id="504" r:id="rId64"/>
    <p:sldId id="509" r:id="rId65"/>
    <p:sldId id="676" r:id="rId66"/>
    <p:sldId id="740" r:id="rId67"/>
    <p:sldId id="749" r:id="rId68"/>
    <p:sldId id="513" r:id="rId69"/>
    <p:sldId id="698" r:id="rId70"/>
    <p:sldId id="680" r:id="rId71"/>
    <p:sldId id="520" r:id="rId72"/>
    <p:sldId id="742" r:id="rId73"/>
    <p:sldId id="741" r:id="rId74"/>
    <p:sldId id="521" r:id="rId75"/>
    <p:sldId id="522" r:id="rId76"/>
    <p:sldId id="523" r:id="rId77"/>
    <p:sldId id="524" r:id="rId78"/>
    <p:sldId id="525" r:id="rId79"/>
    <p:sldId id="526" r:id="rId80"/>
    <p:sldId id="527" r:id="rId81"/>
    <p:sldId id="528" r:id="rId82"/>
    <p:sldId id="529" r:id="rId83"/>
    <p:sldId id="530" r:id="rId84"/>
    <p:sldId id="531" r:id="rId85"/>
    <p:sldId id="532" r:id="rId86"/>
    <p:sldId id="533" r:id="rId87"/>
    <p:sldId id="534" r:id="rId88"/>
    <p:sldId id="535" r:id="rId89"/>
    <p:sldId id="536" r:id="rId90"/>
    <p:sldId id="537" r:id="rId91"/>
    <p:sldId id="702" r:id="rId92"/>
    <p:sldId id="701" r:id="rId93"/>
    <p:sldId id="703" r:id="rId94"/>
    <p:sldId id="705" r:id="rId95"/>
    <p:sldId id="707" r:id="rId96"/>
    <p:sldId id="708" r:id="rId97"/>
    <p:sldId id="709" r:id="rId98"/>
    <p:sldId id="541" r:id="rId99"/>
    <p:sldId id="542" r:id="rId100"/>
    <p:sldId id="543" r:id="rId101"/>
    <p:sldId id="710" r:id="rId102"/>
    <p:sldId id="546" r:id="rId103"/>
    <p:sldId id="711" r:id="rId104"/>
    <p:sldId id="713" r:id="rId105"/>
    <p:sldId id="715" r:id="rId106"/>
    <p:sldId id="716" r:id="rId107"/>
    <p:sldId id="717" r:id="rId108"/>
    <p:sldId id="718" r:id="rId109"/>
    <p:sldId id="721" r:id="rId110"/>
    <p:sldId id="722" r:id="rId111"/>
    <p:sldId id="719" r:id="rId112"/>
    <p:sldId id="552" r:id="rId113"/>
    <p:sldId id="554" r:id="rId114"/>
    <p:sldId id="555" r:id="rId115"/>
    <p:sldId id="557" r:id="rId116"/>
    <p:sldId id="559" r:id="rId117"/>
    <p:sldId id="560" r:id="rId118"/>
    <p:sldId id="561" r:id="rId119"/>
    <p:sldId id="562" r:id="rId120"/>
    <p:sldId id="563" r:id="rId121"/>
    <p:sldId id="564" r:id="rId122"/>
    <p:sldId id="723" r:id="rId123"/>
    <p:sldId id="567" r:id="rId124"/>
    <p:sldId id="566" r:id="rId125"/>
    <p:sldId id="568" r:id="rId126"/>
    <p:sldId id="569" r:id="rId127"/>
    <p:sldId id="571" r:id="rId128"/>
    <p:sldId id="743" r:id="rId129"/>
    <p:sldId id="724" r:id="rId130"/>
    <p:sldId id="573" r:id="rId131"/>
    <p:sldId id="574" r:id="rId132"/>
    <p:sldId id="575" r:id="rId133"/>
    <p:sldId id="576" r:id="rId134"/>
    <p:sldId id="578" r:id="rId135"/>
    <p:sldId id="579" r:id="rId136"/>
    <p:sldId id="580" r:id="rId137"/>
    <p:sldId id="581" r:id="rId138"/>
    <p:sldId id="582" r:id="rId139"/>
    <p:sldId id="685" r:id="rId140"/>
    <p:sldId id="583" r:id="rId141"/>
    <p:sldId id="727" r:id="rId142"/>
    <p:sldId id="585" r:id="rId143"/>
    <p:sldId id="586" r:id="rId144"/>
    <p:sldId id="587" r:id="rId145"/>
    <p:sldId id="731" r:id="rId146"/>
    <p:sldId id="729" r:id="rId147"/>
    <p:sldId id="730" r:id="rId148"/>
    <p:sldId id="592" r:id="rId149"/>
    <p:sldId id="593" r:id="rId150"/>
    <p:sldId id="594" r:id="rId151"/>
    <p:sldId id="595" r:id="rId152"/>
    <p:sldId id="596" r:id="rId153"/>
    <p:sldId id="597" r:id="rId154"/>
    <p:sldId id="598" r:id="rId155"/>
    <p:sldId id="599" r:id="rId156"/>
    <p:sldId id="600" r:id="rId157"/>
    <p:sldId id="686" r:id="rId158"/>
    <p:sldId id="687" r:id="rId159"/>
    <p:sldId id="601" r:id="rId160"/>
    <p:sldId id="744" r:id="rId161"/>
    <p:sldId id="603" r:id="rId162"/>
    <p:sldId id="604" r:id="rId163"/>
    <p:sldId id="605" r:id="rId164"/>
    <p:sldId id="606" r:id="rId165"/>
    <p:sldId id="607" r:id="rId166"/>
    <p:sldId id="608" r:id="rId167"/>
    <p:sldId id="609" r:id="rId168"/>
    <p:sldId id="611" r:id="rId169"/>
    <p:sldId id="612" r:id="rId170"/>
    <p:sldId id="613" r:id="rId171"/>
    <p:sldId id="614" r:id="rId172"/>
    <p:sldId id="616" r:id="rId173"/>
    <p:sldId id="618" r:id="rId174"/>
    <p:sldId id="619" r:id="rId175"/>
    <p:sldId id="732" r:id="rId176"/>
    <p:sldId id="733" r:id="rId177"/>
    <p:sldId id="622" r:id="rId178"/>
    <p:sldId id="623" r:id="rId179"/>
    <p:sldId id="624" r:id="rId180"/>
    <p:sldId id="689" r:id="rId181"/>
    <p:sldId id="625" r:id="rId182"/>
    <p:sldId id="626" r:id="rId183"/>
    <p:sldId id="627" r:id="rId184"/>
    <p:sldId id="628" r:id="rId185"/>
    <p:sldId id="629" r:id="rId186"/>
    <p:sldId id="691" r:id="rId187"/>
    <p:sldId id="630" r:id="rId188"/>
    <p:sldId id="631" r:id="rId189"/>
    <p:sldId id="632" r:id="rId190"/>
    <p:sldId id="633" r:id="rId191"/>
    <p:sldId id="634" r:id="rId192"/>
    <p:sldId id="635" r:id="rId193"/>
    <p:sldId id="637" r:id="rId194"/>
    <p:sldId id="745" r:id="rId195"/>
    <p:sldId id="638" r:id="rId196"/>
    <p:sldId id="639" r:id="rId197"/>
    <p:sldId id="640" r:id="rId198"/>
    <p:sldId id="641" r:id="rId199"/>
    <p:sldId id="642" r:id="rId200"/>
    <p:sldId id="643" r:id="rId201"/>
    <p:sldId id="644" r:id="rId202"/>
    <p:sldId id="746" r:id="rId203"/>
    <p:sldId id="645" r:id="rId204"/>
    <p:sldId id="646" r:id="rId205"/>
    <p:sldId id="647" r:id="rId206"/>
    <p:sldId id="649" r:id="rId207"/>
    <p:sldId id="650" r:id="rId208"/>
    <p:sldId id="652" r:id="rId209"/>
    <p:sldId id="748" r:id="rId210"/>
    <p:sldId id="653" r:id="rId211"/>
    <p:sldId id="654" r:id="rId212"/>
    <p:sldId id="655" r:id="rId213"/>
  </p:sldIdLst>
  <p:sldSz cx="9144000" cy="5143500" type="screen16x9"/>
  <p:notesSz cx="6858000" cy="9144000"/>
  <p:embeddedFontLst>
    <p:embeddedFont>
      <p:font typeface="Cambria Math" panose="02040503050406030204" pitchFamily="18" charset="0"/>
      <p:regular r:id="rId215"/>
    </p:embeddedFont>
    <p:embeddedFont>
      <p:font typeface="Montserrat" panose="00000500000000000000" pitchFamily="2" charset="0"/>
      <p:regular r:id="rId216"/>
    </p:embeddedFont>
    <p:embeddedFont>
      <p:font typeface="微软雅黑" panose="020B0503020204020204" pitchFamily="34" charset="-122"/>
      <p:regular r:id="rId217"/>
      <p:bold r:id="rId218"/>
    </p:embeddedFont>
    <p:embeddedFont>
      <p:font typeface="微软雅黑 Light" panose="020B0502040204020203" pitchFamily="34" charset="-122"/>
      <p:regular r:id="rId219"/>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5420"/>
    <a:srgbClr val="FAC090"/>
    <a:srgbClr val="E46C0A"/>
    <a:srgbClr val="00B050"/>
    <a:srgbClr val="7F131F"/>
    <a:srgbClr val="0000FF"/>
    <a:srgbClr val="85D1F7"/>
    <a:srgbClr val="FFFF00"/>
    <a:srgbClr val="00FF99"/>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78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2.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font" Target="fonts/font3.fntdata"/><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font" Target="fonts/font4.fntdata"/><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font" Target="fonts/font5.fntdata"/><Relationship Id="rId3" Type="http://schemas.openxmlformats.org/officeDocument/2006/relationships/slide" Target="slides/slide2.xml"/><Relationship Id="rId214"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1.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1</a:t>
          </a:r>
          <a:r>
            <a:rPr lang="zh-CN" altLang="en-US" sz="1600" b="0" dirty="0">
              <a:solidFill>
                <a:schemeClr val="bg1"/>
              </a:solidFill>
              <a:latin typeface="Montserrat" panose="00000500000000000000" pitchFamily="2" charset="0"/>
              <a:ea typeface="微软雅黑 Light" panose="020B0502040204020203" pitchFamily="34" charset="-122"/>
            </a:rPr>
            <a:t>，监测</a:t>
          </a:r>
        </a:p>
      </dgm:t>
    </dgm:pt>
    <dgm:pt modelId="{44CB9315-4D10-4A42-8F72-3E9848B40F7E}" type="par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F111A3-8B10-4CBC-8988-6D6887B08325}" type="sibTrans" cxnId="{5FFBF780-EF82-4C7B-B65D-7D169A22BC0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B1C92E2-7636-49C1-BF40-059D1DCC39AD}">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2</a:t>
          </a:r>
          <a:r>
            <a:rPr lang="zh-CN" altLang="en-US" sz="1600" b="0" dirty="0">
              <a:solidFill>
                <a:schemeClr val="bg1"/>
              </a:solidFill>
              <a:latin typeface="Montserrat" panose="00000500000000000000" pitchFamily="2" charset="0"/>
              <a:ea typeface="微软雅黑 Light" panose="020B0502040204020203" pitchFamily="34" charset="-122"/>
            </a:rPr>
            <a:t>，传送</a:t>
          </a:r>
        </a:p>
      </dgm:t>
    </dgm:pt>
    <dgm:pt modelId="{21AAF4E5-69AF-4C41-93F3-EC6C16982352}" type="par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75B598-83FA-4739-BC24-308DF11DC7CA}" type="sibTrans" cxnId="{9B78F294-58B9-473B-8C21-7F51266D5975}">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BFEC3037-4009-4C92-8BB3-BA004A9EDEF3}">
      <dgm:prSet phldrT="[文本]" custT="1"/>
      <dgm:spPr/>
      <dgm:t>
        <a:bodyPr/>
        <a:lstStyle/>
        <a:p>
          <a:r>
            <a:rPr lang="en-US" altLang="zh-CN" sz="1600" b="0" dirty="0">
              <a:solidFill>
                <a:schemeClr val="bg1"/>
              </a:solidFill>
              <a:latin typeface="Montserrat" panose="00000500000000000000" pitchFamily="2" charset="0"/>
              <a:ea typeface="微软雅黑 Light" panose="020B0502040204020203" pitchFamily="34" charset="-122"/>
            </a:rPr>
            <a:t>3</a:t>
          </a:r>
          <a:r>
            <a:rPr lang="zh-CN" altLang="en-US" sz="1600" b="0" dirty="0">
              <a:solidFill>
                <a:schemeClr val="bg1"/>
              </a:solidFill>
              <a:latin typeface="Montserrat" panose="00000500000000000000" pitchFamily="2" charset="0"/>
              <a:ea typeface="微软雅黑 Light" panose="020B0502040204020203" pitchFamily="34" charset="-122"/>
            </a:rPr>
            <a:t>，调整</a:t>
          </a:r>
        </a:p>
      </dgm:t>
    </dgm:pt>
    <dgm:pt modelId="{299766ED-4FD8-49B8-8966-BB112C1AF417}" type="par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E362DCE1-5C72-4E17-8F99-D370708BAF3E}" type="sibTrans" cxnId="{1DCB8519-3671-4A11-987F-101833158C0A}">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2AA590A-EE21-4EB6-BB9F-B28697A25CB4}">
      <dgm:prSet phldrT="[文本]" custT="1"/>
      <dgm:spPr/>
      <dgm:t>
        <a:bodyPr/>
        <a:lstStyle/>
        <a:p>
          <a:r>
            <a:rPr lang="zh-CN" altLang="en-US" sz="1600" b="0" dirty="0">
              <a:latin typeface="Montserrat" panose="00000500000000000000" pitchFamily="2" charset="0"/>
              <a:ea typeface="微软雅黑 Light" panose="020B0502040204020203" pitchFamily="34" charset="-122"/>
            </a:rPr>
            <a:t>监测网络系统，检测拥塞在何时、何处发生。</a:t>
          </a:r>
        </a:p>
      </dgm:t>
    </dgm:pt>
    <dgm:pt modelId="{0C98080D-3654-474A-825B-D81CD9A72ADE}" type="par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F55A7609-F61D-45B1-8BFC-84CC6700C8D4}" type="sibTrans" cxnId="{F0F6B874-547A-491D-B7F3-72295B08FF37}">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4CA39C50-B6AD-43B9-8AA3-4AB1AB59AC80}">
      <dgm:prSet phldrT="[文本]" custT="1"/>
      <dgm:spPr/>
      <dgm:t>
        <a:bodyPr/>
        <a:lstStyle/>
        <a:p>
          <a:r>
            <a:rPr lang="zh-CN" altLang="en-US" sz="1600" b="0" dirty="0">
              <a:latin typeface="Montserrat" panose="00000500000000000000" pitchFamily="2" charset="0"/>
              <a:ea typeface="微软雅黑 Light" panose="020B0502040204020203"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A854CB13-5B4C-47C5-ACEA-5A400774CEFF}" type="sibTrans" cxnId="{A52CF45B-6B18-4411-9839-89F985A7649D}">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59D49692-B4B1-4D68-A9E2-E3D245C6255F}">
      <dgm:prSet phldrT="[文本]" custT="1"/>
      <dgm:spPr/>
      <dgm:t>
        <a:bodyPr/>
        <a:lstStyle/>
        <a:p>
          <a:r>
            <a:rPr lang="zh-CN" altLang="en-US" sz="1600" b="0" dirty="0">
              <a:latin typeface="Montserrat" panose="00000500000000000000" pitchFamily="2" charset="0"/>
              <a:ea typeface="微软雅黑 Light" panose="020B0502040204020203" pitchFamily="34" charset="-122"/>
            </a:rPr>
            <a:t>调整网络系统的运行以解决出现的问题。</a:t>
          </a:r>
        </a:p>
      </dgm:t>
    </dgm:pt>
    <dgm:pt modelId="{17E9933C-7CE1-4429-A3B4-A3589880FB60}" type="par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7F25A2CD-3124-47ED-9234-CB2EC135A7DC}" type="sibTrans" cxnId="{6CA83F09-C467-488E-869D-ABC010CAF2D8}">
      <dgm:prSet/>
      <dgm:spPr/>
      <dgm:t>
        <a:bodyPr/>
        <a:lstStyle/>
        <a:p>
          <a:endParaRPr lang="zh-CN" altLang="en-US" sz="1600" b="0">
            <a:latin typeface="Montserrat" panose="00000500000000000000" pitchFamily="2" charset="0"/>
            <a:ea typeface="微软雅黑 Light" panose="020B0502040204020203" pitchFamily="34" charset="-122"/>
          </a:endParaRPr>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3</a:t>
          </a:r>
          <a:r>
            <a:rPr lang="zh-CN" altLang="en-US" sz="1600" b="0" kern="1200" dirty="0">
              <a:solidFill>
                <a:schemeClr val="bg1"/>
              </a:solidFill>
              <a:latin typeface="Montserrat" panose="00000500000000000000" pitchFamily="2" charset="0"/>
              <a:ea typeface="微软雅黑 Light" panose="020B0502040204020203"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2</a:t>
          </a:r>
          <a:r>
            <a:rPr lang="zh-CN" altLang="en-US" sz="1600" b="0" kern="1200" dirty="0">
              <a:solidFill>
                <a:schemeClr val="bg1"/>
              </a:solidFill>
              <a:latin typeface="Montserrat" panose="00000500000000000000" pitchFamily="2" charset="0"/>
              <a:ea typeface="微软雅黑 Light" panose="020B0502040204020203"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13792" tIns="113792" rIns="113792" bIns="113792"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solidFill>
                <a:schemeClr val="bg1"/>
              </a:solidFill>
              <a:latin typeface="Montserrat" panose="00000500000000000000" pitchFamily="2" charset="0"/>
              <a:ea typeface="微软雅黑 Light" panose="020B0502040204020203" pitchFamily="34" charset="-122"/>
            </a:rPr>
            <a:t>1</a:t>
          </a:r>
          <a:r>
            <a:rPr lang="zh-CN" altLang="en-US" sz="1600" b="0" kern="1200" dirty="0">
              <a:solidFill>
                <a:schemeClr val="bg1"/>
              </a:solidFill>
              <a:latin typeface="Montserrat" panose="00000500000000000000" pitchFamily="2" charset="0"/>
              <a:ea typeface="微软雅黑 Light" panose="020B0502040204020203"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监测网络系统，检测拥塞在何时、何处发生。</a:t>
          </a:r>
        </a:p>
      </dsp:txBody>
      <dsp:txXfrm>
        <a:off x="0" y="376483"/>
        <a:ext cx="4409319" cy="32028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2025/11/24</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61</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147105FF-168D-FF08-FADC-1711B59A628F}"/>
              </a:ext>
            </a:extLst>
          </p:cNvPr>
          <p:cNvGrpSpPr/>
          <p:nvPr userDrawn="1"/>
        </p:nvGrpSpPr>
        <p:grpSpPr>
          <a:xfrm>
            <a:off x="3566960" y="4783500"/>
            <a:ext cx="2249426" cy="360000"/>
            <a:chOff x="3566960" y="149234"/>
            <a:chExt cx="224942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206124"/>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66960" y="206124"/>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4.wm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3.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5.xml"/><Relationship Id="rId5" Type="http://schemas.openxmlformats.org/officeDocument/2006/relationships/image" Target="../media/image13.svg"/><Relationship Id="rId4" Type="http://schemas.openxmlformats.org/officeDocument/2006/relationships/image" Target="../media/image1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2808000" y="144000"/>
            <a:ext cx="3528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D33CA743-054A-BE5D-BDE6-CFC7F93B8757}"/>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2122B32A-D0EF-6AB3-9A57-600FD3C24511}"/>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E7DD729-B989-53E1-3DAF-EE1B6E466102}"/>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70F1386D-C583-C301-A069-D436D5331999}"/>
              </a:ext>
            </a:extLst>
          </p:cNvPr>
          <p:cNvSpPr/>
          <p:nvPr/>
        </p:nvSpPr>
        <p:spPr>
          <a:xfrm>
            <a:off x="5983013"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8BB8BAB7-B7F0-4C81-03AA-FEAB21ABD62C}"/>
              </a:ext>
            </a:extLst>
          </p:cNvPr>
          <p:cNvSpPr/>
          <p:nvPr/>
        </p:nvSpPr>
        <p:spPr>
          <a:xfrm>
            <a:off x="5983013"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Text Box 13">
            <a:extLst>
              <a:ext uri="{FF2B5EF4-FFF2-40B4-BE49-F238E27FC236}">
                <a16:creationId xmlns:a16="http://schemas.microsoft.com/office/drawing/2014/main" id="{C2843937-7961-B922-1CB5-074F9BCDF605}"/>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1" name="Text Box 12">
            <a:extLst>
              <a:ext uri="{FF2B5EF4-FFF2-40B4-BE49-F238E27FC236}">
                <a16:creationId xmlns:a16="http://schemas.microsoft.com/office/drawing/2014/main" id="{E16D3BF7-6063-B1A7-991D-60D892FD6962}"/>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2" name="Text Box 113">
            <a:extLst>
              <a:ext uri="{FF2B5EF4-FFF2-40B4-BE49-F238E27FC236}">
                <a16:creationId xmlns:a16="http://schemas.microsoft.com/office/drawing/2014/main" id="{837308FE-E63D-4269-92B0-1B2B882AAF44}"/>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4" name="立方体 13">
            <a:extLst>
              <a:ext uri="{FF2B5EF4-FFF2-40B4-BE49-F238E27FC236}">
                <a16:creationId xmlns:a16="http://schemas.microsoft.com/office/drawing/2014/main" id="{99B4904F-D501-0CC2-29E9-A9CB4C58ABA4}"/>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1E0D48EC-AC35-E89F-F9BD-9F05F9FEBC54}"/>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61393E26-548A-5A52-C3BE-B1102CA9A552}"/>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A952F0B2-34BB-EA05-5E70-9E12A999BE41}"/>
              </a:ext>
            </a:extLst>
          </p:cNvPr>
          <p:cNvSpPr/>
          <p:nvPr/>
        </p:nvSpPr>
        <p:spPr>
          <a:xfrm>
            <a:off x="1079467"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1ED0A4D-2001-0B4E-22E8-CB8C747EECF9}"/>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5A581EAB-A311-FE5D-C43C-D28A3C956571}"/>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DFC7F83B-4C87-7CC3-AF15-F2BE53F16E92}"/>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2" name="立方体 21">
            <a:extLst>
              <a:ext uri="{FF2B5EF4-FFF2-40B4-BE49-F238E27FC236}">
                <a16:creationId xmlns:a16="http://schemas.microsoft.com/office/drawing/2014/main" id="{88DB8F8C-1AEF-52E0-A864-6A2A96404695}"/>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3" name="立方体 22">
            <a:extLst>
              <a:ext uri="{FF2B5EF4-FFF2-40B4-BE49-F238E27FC236}">
                <a16:creationId xmlns:a16="http://schemas.microsoft.com/office/drawing/2014/main" id="{AAAD7765-521D-342F-0D1E-89576F612806}"/>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4" name="立方体 23">
            <a:extLst>
              <a:ext uri="{FF2B5EF4-FFF2-40B4-BE49-F238E27FC236}">
                <a16:creationId xmlns:a16="http://schemas.microsoft.com/office/drawing/2014/main" id="{9D46417E-E369-91F5-47BA-BF180625BA60}"/>
              </a:ext>
            </a:extLst>
          </p:cNvPr>
          <p:cNvSpPr/>
          <p:nvPr/>
        </p:nvSpPr>
        <p:spPr>
          <a:xfrm>
            <a:off x="3531240"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Transport layer</a:t>
            </a:r>
          </a:p>
        </p:txBody>
      </p:sp>
      <p:sp>
        <p:nvSpPr>
          <p:cNvPr id="25" name="立方体 24">
            <a:extLst>
              <a:ext uri="{FF2B5EF4-FFF2-40B4-BE49-F238E27FC236}">
                <a16:creationId xmlns:a16="http://schemas.microsoft.com/office/drawing/2014/main" id="{67C18096-DE37-8429-A913-ECF73128F034}"/>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圆角 2">
            <a:extLst>
              <a:ext uri="{FF2B5EF4-FFF2-40B4-BE49-F238E27FC236}">
                <a16:creationId xmlns:a16="http://schemas.microsoft.com/office/drawing/2014/main" id="{9D801BA9-9C6A-24D0-E174-E3604316CB49}"/>
              </a:ext>
            </a:extLst>
          </p:cNvPr>
          <p:cNvSpPr/>
          <p:nvPr/>
        </p:nvSpPr>
        <p:spPr>
          <a:xfrm>
            <a:off x="5343480" y="3819032"/>
            <a:ext cx="174345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Congestion  Control</a:t>
            </a:r>
            <a:endParaRPr lang="zh-CN" altLang="en-US" sz="1200" dirty="0">
              <a:solidFill>
                <a:schemeClr val="tx1"/>
              </a:solidFill>
              <a:latin typeface="Montserrat" panose="00000500000000000000" pitchFamily="2" charset="0"/>
            </a:endParaRPr>
          </a:p>
        </p:txBody>
      </p:sp>
      <p:sp>
        <p:nvSpPr>
          <p:cNvPr id="4" name="矩形: 圆角 3">
            <a:extLst>
              <a:ext uri="{FF2B5EF4-FFF2-40B4-BE49-F238E27FC236}">
                <a16:creationId xmlns:a16="http://schemas.microsoft.com/office/drawing/2014/main" id="{B7D33566-285E-1CCB-5E98-A8DFB5DC5691}"/>
              </a:ext>
            </a:extLst>
          </p:cNvPr>
          <p:cNvSpPr/>
          <p:nvPr/>
        </p:nvSpPr>
        <p:spPr>
          <a:xfrm>
            <a:off x="5343480" y="4133081"/>
            <a:ext cx="1832473"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Transmission Control</a:t>
            </a:r>
            <a:endParaRPr lang="zh-CN" altLang="en-US" sz="1200" dirty="0">
              <a:solidFill>
                <a:schemeClr val="tx1"/>
              </a:solidFill>
              <a:latin typeface="Montserrat" panose="00000500000000000000" pitchFamily="2" charset="0"/>
            </a:endParaRPr>
          </a:p>
        </p:txBody>
      </p:sp>
      <p:cxnSp>
        <p:nvCxnSpPr>
          <p:cNvPr id="10" name="连接符: 曲线 9">
            <a:extLst>
              <a:ext uri="{FF2B5EF4-FFF2-40B4-BE49-F238E27FC236}">
                <a16:creationId xmlns:a16="http://schemas.microsoft.com/office/drawing/2014/main" id="{56D54B0A-0C00-1FA5-AA24-AB208E9F3E39}"/>
              </a:ext>
            </a:extLst>
          </p:cNvPr>
          <p:cNvCxnSpPr>
            <a:cxnSpLocks/>
            <a:stCxn id="16" idx="3"/>
            <a:endCxn id="4" idx="1"/>
          </p:cNvCxnSpPr>
          <p:nvPr/>
        </p:nvCxnSpPr>
        <p:spPr>
          <a:xfrm>
            <a:off x="5109304" y="3344167"/>
            <a:ext cx="234176" cy="942148"/>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AD181E9B-9708-8757-6641-0EC70B8857D3}"/>
              </a:ext>
            </a:extLst>
          </p:cNvPr>
          <p:cNvSpPr/>
          <p:nvPr/>
        </p:nvSpPr>
        <p:spPr>
          <a:xfrm>
            <a:off x="5343480" y="3504983"/>
            <a:ext cx="1230735"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Flow Control</a:t>
            </a:r>
            <a:endParaRPr lang="zh-CN" altLang="en-US" sz="1200" dirty="0">
              <a:solidFill>
                <a:schemeClr val="tx1"/>
              </a:solidFill>
              <a:latin typeface="Montserrat" panose="00000500000000000000" pitchFamily="2" charset="0"/>
            </a:endParaRPr>
          </a:p>
        </p:txBody>
      </p:sp>
      <p:cxnSp>
        <p:nvCxnSpPr>
          <p:cNvPr id="14" name="连接符: 曲线 13">
            <a:extLst>
              <a:ext uri="{FF2B5EF4-FFF2-40B4-BE49-F238E27FC236}">
                <a16:creationId xmlns:a16="http://schemas.microsoft.com/office/drawing/2014/main" id="{94161A20-9CEA-26C5-90F1-7284ECA5C704}"/>
              </a:ext>
            </a:extLst>
          </p:cNvPr>
          <p:cNvCxnSpPr>
            <a:cxnSpLocks/>
            <a:stCxn id="40" idx="1"/>
            <a:endCxn id="16" idx="3"/>
          </p:cNvCxnSpPr>
          <p:nvPr/>
        </p:nvCxnSpPr>
        <p:spPr>
          <a:xfrm rot="10800000" flipV="1">
            <a:off x="5109304" y="2402021"/>
            <a:ext cx="234176" cy="942146"/>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C4F8D70D-848F-8E10-57D5-0246D0F22858}"/>
              </a:ext>
            </a:extLst>
          </p:cNvPr>
          <p:cNvSpPr/>
          <p:nvPr/>
        </p:nvSpPr>
        <p:spPr>
          <a:xfrm>
            <a:off x="4209304" y="3200167"/>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TCP</a:t>
            </a:r>
            <a:endParaRPr lang="zh-CN" altLang="en-US" sz="1200" dirty="0">
              <a:latin typeface="Montserrat" panose="00000500000000000000" pitchFamily="2" charset="0"/>
            </a:endParaRPr>
          </a:p>
        </p:txBody>
      </p:sp>
      <p:sp>
        <p:nvSpPr>
          <p:cNvPr id="19" name="矩形: 圆角 18">
            <a:extLst>
              <a:ext uri="{FF2B5EF4-FFF2-40B4-BE49-F238E27FC236}">
                <a16:creationId xmlns:a16="http://schemas.microsoft.com/office/drawing/2014/main" id="{81530229-6710-AE17-7125-34E7C102D265}"/>
              </a:ext>
            </a:extLst>
          </p:cNvPr>
          <p:cNvSpPr/>
          <p:nvPr/>
        </p:nvSpPr>
        <p:spPr>
          <a:xfrm>
            <a:off x="4209304" y="1629922"/>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cxnSp>
        <p:nvCxnSpPr>
          <p:cNvPr id="22" name="连接符: 曲线 21">
            <a:extLst>
              <a:ext uri="{FF2B5EF4-FFF2-40B4-BE49-F238E27FC236}">
                <a16:creationId xmlns:a16="http://schemas.microsoft.com/office/drawing/2014/main" id="{983C1AC8-3735-FBF8-1D52-F46340D06312}"/>
              </a:ext>
            </a:extLst>
          </p:cNvPr>
          <p:cNvCxnSpPr>
            <a:cxnSpLocks/>
            <a:stCxn id="2" idx="3"/>
            <a:endCxn id="19" idx="1"/>
          </p:cNvCxnSpPr>
          <p:nvPr/>
        </p:nvCxnSpPr>
        <p:spPr>
          <a:xfrm flipV="1">
            <a:off x="3938177" y="1773922"/>
            <a:ext cx="271127" cy="77158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24" name="连接符: 曲线 23">
            <a:extLst>
              <a:ext uri="{FF2B5EF4-FFF2-40B4-BE49-F238E27FC236}">
                <a16:creationId xmlns:a16="http://schemas.microsoft.com/office/drawing/2014/main" id="{3DA28828-58BF-9B1A-291D-0957A943AB17}"/>
              </a:ext>
            </a:extLst>
          </p:cNvPr>
          <p:cNvCxnSpPr>
            <a:cxnSpLocks/>
            <a:stCxn id="2" idx="3"/>
            <a:endCxn id="16" idx="1"/>
          </p:cNvCxnSpPr>
          <p:nvPr/>
        </p:nvCxnSpPr>
        <p:spPr>
          <a:xfrm>
            <a:off x="3938177" y="2545507"/>
            <a:ext cx="271127" cy="798660"/>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矩形: 圆角 4">
            <a:extLst>
              <a:ext uri="{FF2B5EF4-FFF2-40B4-BE49-F238E27FC236}">
                <a16:creationId xmlns:a16="http://schemas.microsoft.com/office/drawing/2014/main" id="{905996E1-56AA-82E7-6CF1-E2487C38B700}"/>
              </a:ext>
            </a:extLst>
          </p:cNvPr>
          <p:cNvSpPr/>
          <p:nvPr/>
        </p:nvSpPr>
        <p:spPr>
          <a:xfrm>
            <a:off x="5343480" y="1306640"/>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27" name="矩形: 圆角 26">
            <a:extLst>
              <a:ext uri="{FF2B5EF4-FFF2-40B4-BE49-F238E27FC236}">
                <a16:creationId xmlns:a16="http://schemas.microsoft.com/office/drawing/2014/main" id="{898AEF52-F490-0F36-A470-B464CBBB3A09}"/>
              </a:ext>
            </a:extLst>
          </p:cNvPr>
          <p:cNvSpPr/>
          <p:nvPr/>
        </p:nvSpPr>
        <p:spPr>
          <a:xfrm>
            <a:off x="5343480" y="1934738"/>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30" name="矩形: 圆角 29">
            <a:extLst>
              <a:ext uri="{FF2B5EF4-FFF2-40B4-BE49-F238E27FC236}">
                <a16:creationId xmlns:a16="http://schemas.microsoft.com/office/drawing/2014/main" id="{ED9F41D9-8A87-74D1-8F6F-37331E80A992}"/>
              </a:ext>
            </a:extLst>
          </p:cNvPr>
          <p:cNvSpPr/>
          <p:nvPr/>
        </p:nvSpPr>
        <p:spPr>
          <a:xfrm>
            <a:off x="5343480" y="1620689"/>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cxnSp>
        <p:nvCxnSpPr>
          <p:cNvPr id="32" name="连接符: 曲线 31">
            <a:extLst>
              <a:ext uri="{FF2B5EF4-FFF2-40B4-BE49-F238E27FC236}">
                <a16:creationId xmlns:a16="http://schemas.microsoft.com/office/drawing/2014/main" id="{D08E4A9E-E361-3112-58CA-69602652C745}"/>
              </a:ext>
            </a:extLst>
          </p:cNvPr>
          <p:cNvCxnSpPr>
            <a:cxnSpLocks/>
            <a:stCxn id="19" idx="3"/>
            <a:endCxn id="5" idx="1"/>
          </p:cNvCxnSpPr>
          <p:nvPr/>
        </p:nvCxnSpPr>
        <p:spPr>
          <a:xfrm flipV="1">
            <a:off x="5109304" y="1459874"/>
            <a:ext cx="234176" cy="314048"/>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AF9E3494-5E84-62F5-D89D-02754C7A641C}"/>
              </a:ext>
            </a:extLst>
          </p:cNvPr>
          <p:cNvCxnSpPr>
            <a:cxnSpLocks/>
            <a:stCxn id="19" idx="3"/>
            <a:endCxn id="27" idx="1"/>
          </p:cNvCxnSpPr>
          <p:nvPr/>
        </p:nvCxnSpPr>
        <p:spPr>
          <a:xfrm>
            <a:off x="5109304" y="1773922"/>
            <a:ext cx="234176" cy="314050"/>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sp>
        <p:nvSpPr>
          <p:cNvPr id="40" name="矩形: 圆角 39">
            <a:extLst>
              <a:ext uri="{FF2B5EF4-FFF2-40B4-BE49-F238E27FC236}">
                <a16:creationId xmlns:a16="http://schemas.microsoft.com/office/drawing/2014/main" id="{08774DFB-316F-2054-8747-D046465FF42D}"/>
              </a:ext>
            </a:extLst>
          </p:cNvPr>
          <p:cNvSpPr/>
          <p:nvPr/>
        </p:nvSpPr>
        <p:spPr>
          <a:xfrm>
            <a:off x="5343480" y="2248787"/>
            <a:ext cx="81024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Feature</a:t>
            </a:r>
            <a:endParaRPr lang="zh-CN" altLang="en-US" sz="1200" dirty="0">
              <a:solidFill>
                <a:schemeClr val="tx1"/>
              </a:solidFill>
              <a:latin typeface="Montserrat" panose="00000500000000000000" pitchFamily="2" charset="0"/>
            </a:endParaRPr>
          </a:p>
        </p:txBody>
      </p:sp>
      <p:sp>
        <p:nvSpPr>
          <p:cNvPr id="41" name="矩形: 圆角 40">
            <a:extLst>
              <a:ext uri="{FF2B5EF4-FFF2-40B4-BE49-F238E27FC236}">
                <a16:creationId xmlns:a16="http://schemas.microsoft.com/office/drawing/2014/main" id="{651E765E-43FC-7A97-9E05-4DD50A8CE83F}"/>
              </a:ext>
            </a:extLst>
          </p:cNvPr>
          <p:cNvSpPr/>
          <p:nvPr/>
        </p:nvSpPr>
        <p:spPr>
          <a:xfrm>
            <a:off x="5343480" y="2876885"/>
            <a:ext cx="74959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Packet</a:t>
            </a:r>
            <a:endParaRPr lang="zh-CN" altLang="en-US" sz="1200" dirty="0">
              <a:solidFill>
                <a:schemeClr val="tx1"/>
              </a:solidFill>
              <a:latin typeface="Montserrat" panose="00000500000000000000" pitchFamily="2" charset="0"/>
            </a:endParaRPr>
          </a:p>
        </p:txBody>
      </p:sp>
      <p:sp>
        <p:nvSpPr>
          <p:cNvPr id="43" name="矩形: 圆角 42">
            <a:extLst>
              <a:ext uri="{FF2B5EF4-FFF2-40B4-BE49-F238E27FC236}">
                <a16:creationId xmlns:a16="http://schemas.microsoft.com/office/drawing/2014/main" id="{ED1C1ABE-74E2-F973-EF21-B1BAEAC354A8}"/>
              </a:ext>
            </a:extLst>
          </p:cNvPr>
          <p:cNvSpPr/>
          <p:nvPr/>
        </p:nvSpPr>
        <p:spPr>
          <a:xfrm>
            <a:off x="5343480" y="2562836"/>
            <a:ext cx="1090211"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Application</a:t>
            </a:r>
            <a:endParaRPr lang="zh-CN" altLang="en-US" sz="1200" dirty="0">
              <a:solidFill>
                <a:schemeClr val="tx1"/>
              </a:solidFill>
              <a:latin typeface="Montserrat" panose="00000500000000000000" pitchFamily="2" charset="0"/>
            </a:endParaRPr>
          </a:p>
        </p:txBody>
      </p:sp>
      <p:sp>
        <p:nvSpPr>
          <p:cNvPr id="55" name="矩形: 圆角 54">
            <a:extLst>
              <a:ext uri="{FF2B5EF4-FFF2-40B4-BE49-F238E27FC236}">
                <a16:creationId xmlns:a16="http://schemas.microsoft.com/office/drawing/2014/main" id="{E8714F0E-B58F-F69E-78D3-8DE639F4A248}"/>
              </a:ext>
            </a:extLst>
          </p:cNvPr>
          <p:cNvSpPr/>
          <p:nvPr/>
        </p:nvSpPr>
        <p:spPr>
          <a:xfrm>
            <a:off x="5343480" y="3190934"/>
            <a:ext cx="561630" cy="306467"/>
          </a:xfrm>
          <a:prstGeom prst="roundRect">
            <a:avLst/>
          </a:prstGeom>
          <a:noFill/>
        </p:spPr>
        <p:txBody>
          <a:bodyPr wrap="none" rtlCol="0">
            <a:spAutoFit/>
          </a:bodyPr>
          <a:lstStyle/>
          <a:p>
            <a:r>
              <a:rPr lang="en-US" altLang="zh-CN" sz="1200" dirty="0">
                <a:solidFill>
                  <a:schemeClr val="tx1"/>
                </a:solidFill>
                <a:latin typeface="Montserrat" panose="00000500000000000000" pitchFamily="2" charset="0"/>
              </a:rPr>
              <a:t>ARQ</a:t>
            </a:r>
            <a:endParaRPr lang="zh-CN" altLang="en-US" sz="1200" dirty="0">
              <a:solidFill>
                <a:schemeClr val="tx1"/>
              </a:solidFill>
              <a:latin typeface="Montserrat" panose="00000500000000000000" pitchFamily="2" charset="0"/>
            </a:endParaRPr>
          </a:p>
        </p:txBody>
      </p:sp>
      <p:sp>
        <p:nvSpPr>
          <p:cNvPr id="2" name="矩形: 圆角 1">
            <a:extLst>
              <a:ext uri="{FF2B5EF4-FFF2-40B4-BE49-F238E27FC236}">
                <a16:creationId xmlns:a16="http://schemas.microsoft.com/office/drawing/2014/main" id="{EA1617AA-3BC5-A6C2-7966-463E2BC3AC46}"/>
              </a:ext>
            </a:extLst>
          </p:cNvPr>
          <p:cNvSpPr/>
          <p:nvPr/>
        </p:nvSpPr>
        <p:spPr>
          <a:xfrm>
            <a:off x="3218177" y="2401507"/>
            <a:ext cx="720000" cy="288000"/>
          </a:xfrm>
          <a:prstGeom prst="roundRect">
            <a:avLst/>
          </a:prstGeom>
          <a:solidFill>
            <a:schemeClr val="accent6">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36" name="矩形: 圆角 35">
            <a:extLst>
              <a:ext uri="{FF2B5EF4-FFF2-40B4-BE49-F238E27FC236}">
                <a16:creationId xmlns:a16="http://schemas.microsoft.com/office/drawing/2014/main" id="{C6587821-DD92-9679-7756-3E8C2C8D118E}"/>
              </a:ext>
            </a:extLst>
          </p:cNvPr>
          <p:cNvSpPr/>
          <p:nvPr/>
        </p:nvSpPr>
        <p:spPr>
          <a:xfrm>
            <a:off x="1641687" y="2365507"/>
            <a:ext cx="1440000" cy="360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Transport Layer</a:t>
            </a:r>
            <a:endParaRPr lang="zh-CN" altLang="en-US" sz="1200" dirty="0">
              <a:latin typeface="Montserrat" panose="00000500000000000000" pitchFamily="2" charset="0"/>
              <a:ea typeface="微软雅黑" panose="020B0503020204020204" pitchFamily="34" charset="-122"/>
            </a:endParaRPr>
          </a:p>
        </p:txBody>
      </p:sp>
      <p:sp>
        <p:nvSpPr>
          <p:cNvPr id="45" name="文本框 44">
            <a:extLst>
              <a:ext uri="{FF2B5EF4-FFF2-40B4-BE49-F238E27FC236}">
                <a16:creationId xmlns:a16="http://schemas.microsoft.com/office/drawing/2014/main" id="{B63C1D9F-248B-6391-9C9F-C11D00357A79}"/>
              </a:ext>
            </a:extLst>
          </p:cNvPr>
          <p:cNvSpPr txBox="1"/>
          <p:nvPr/>
        </p:nvSpPr>
        <p:spPr>
          <a:xfrm>
            <a:off x="715546" y="2562836"/>
            <a:ext cx="737702" cy="276999"/>
          </a:xfrm>
          <a:prstGeom prst="rect">
            <a:avLst/>
          </a:prstGeom>
          <a:noFill/>
        </p:spPr>
        <p:txBody>
          <a:bodyPr wrap="none" rtlCol="0">
            <a:spAutoFit/>
          </a:bodyPr>
          <a:lstStyle/>
          <a:p>
            <a:pPr algn="r"/>
            <a:r>
              <a:rPr lang="en-US" altLang="zh-CN" sz="1200" dirty="0">
                <a:latin typeface="Montserrat" panose="00000500000000000000" pitchFamily="2" charset="0"/>
              </a:rPr>
              <a:t>Service</a:t>
            </a:r>
            <a:endParaRPr lang="zh-CN" altLang="en-US" sz="1200" dirty="0">
              <a:latin typeface="Montserrat" panose="00000500000000000000" pitchFamily="2" charset="0"/>
            </a:endParaRPr>
          </a:p>
        </p:txBody>
      </p:sp>
      <p:sp>
        <p:nvSpPr>
          <p:cNvPr id="47" name="文本框 46">
            <a:extLst>
              <a:ext uri="{FF2B5EF4-FFF2-40B4-BE49-F238E27FC236}">
                <a16:creationId xmlns:a16="http://schemas.microsoft.com/office/drawing/2014/main" id="{C46D948E-2C8E-46A3-325D-C75748993BB3}"/>
              </a:ext>
            </a:extLst>
          </p:cNvPr>
          <p:cNvSpPr txBox="1"/>
          <p:nvPr/>
        </p:nvSpPr>
        <p:spPr>
          <a:xfrm>
            <a:off x="686691" y="2278255"/>
            <a:ext cx="766557" cy="276999"/>
          </a:xfrm>
          <a:prstGeom prst="rect">
            <a:avLst/>
          </a:prstGeom>
          <a:noFill/>
        </p:spPr>
        <p:txBody>
          <a:bodyPr wrap="none" rtlCol="0">
            <a:spAutoFit/>
          </a:bodyPr>
          <a:lstStyle/>
          <a:p>
            <a:pPr algn="r"/>
            <a:r>
              <a:rPr lang="en-US" altLang="zh-CN" sz="1200" dirty="0">
                <a:latin typeface="Montserrat" panose="00000500000000000000" pitchFamily="2" charset="0"/>
              </a:rPr>
              <a:t>Mission</a:t>
            </a:r>
            <a:endParaRPr lang="zh-CN" altLang="en-US" sz="1200" dirty="0">
              <a:latin typeface="Montserrat" panose="00000500000000000000" pitchFamily="2" charset="0"/>
            </a:endParaRPr>
          </a:p>
        </p:txBody>
      </p:sp>
      <p:cxnSp>
        <p:nvCxnSpPr>
          <p:cNvPr id="48" name="连接符: 曲线 47">
            <a:extLst>
              <a:ext uri="{FF2B5EF4-FFF2-40B4-BE49-F238E27FC236}">
                <a16:creationId xmlns:a16="http://schemas.microsoft.com/office/drawing/2014/main" id="{0BD5F33A-F972-4E85-59BF-B38A559A84E5}"/>
              </a:ext>
            </a:extLst>
          </p:cNvPr>
          <p:cNvCxnSpPr>
            <a:cxnSpLocks/>
            <a:stCxn id="36" idx="1"/>
            <a:endCxn id="47" idx="3"/>
          </p:cNvCxnSpPr>
          <p:nvPr/>
        </p:nvCxnSpPr>
        <p:spPr>
          <a:xfrm rot="10800000">
            <a:off x="1453249" y="2416755"/>
            <a:ext cx="188439" cy="128752"/>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连接符: 曲线 50">
            <a:extLst>
              <a:ext uri="{FF2B5EF4-FFF2-40B4-BE49-F238E27FC236}">
                <a16:creationId xmlns:a16="http://schemas.microsoft.com/office/drawing/2014/main" id="{52985972-F2EC-AC88-56CA-9B9D5CF1048C}"/>
              </a:ext>
            </a:extLst>
          </p:cNvPr>
          <p:cNvCxnSpPr>
            <a:cxnSpLocks/>
            <a:stCxn id="36" idx="1"/>
            <a:endCxn id="45" idx="3"/>
          </p:cNvCxnSpPr>
          <p:nvPr/>
        </p:nvCxnSpPr>
        <p:spPr>
          <a:xfrm rot="10800000" flipV="1">
            <a:off x="1453249" y="2545506"/>
            <a:ext cx="188439" cy="155829"/>
          </a:xfrm>
          <a:prstGeom prst="curvedConnector3">
            <a:avLst>
              <a:gd name="adj1"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ABCEF811-7F64-BD01-2CB9-E070B7A67A30}"/>
              </a:ext>
            </a:extLst>
          </p:cNvPr>
          <p:cNvCxnSpPr>
            <a:stCxn id="36" idx="3"/>
            <a:endCxn id="2" idx="1"/>
          </p:cNvCxnSpPr>
          <p:nvPr/>
        </p:nvCxnSpPr>
        <p:spPr>
          <a:xfrm>
            <a:off x="3081687" y="2545507"/>
            <a:ext cx="136490" cy="0"/>
          </a:xfrm>
          <a:prstGeom prst="line">
            <a:avLst/>
          </a:prstGeom>
          <a:ln>
            <a:solidFill>
              <a:srgbClr val="E9542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662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7" name="内容占位符 6">
            <a:extLst>
              <a:ext uri="{FF2B5EF4-FFF2-40B4-BE49-F238E27FC236}">
                <a16:creationId xmlns:a16="http://schemas.microsoft.com/office/drawing/2014/main" id="{A92B271E-D453-AD5E-A786-A43C09C6AB22}"/>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2808000" y="144000"/>
            <a:ext cx="3528000" cy="338554"/>
          </a:xfr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4" name="内容占位符 3">
            <a:extLst>
              <a:ext uri="{FF2B5EF4-FFF2-40B4-BE49-F238E27FC236}">
                <a16:creationId xmlns:a16="http://schemas.microsoft.com/office/drawing/2014/main" id="{19E1762B-4A08-0807-E9F8-6CAEA7DD9DBE}"/>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2808000" y="144000"/>
            <a:ext cx="3528000" cy="338554"/>
          </a:xfr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482554"/>
            <a:ext cx="8172000" cy="4120946"/>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2808000" y="144000"/>
            <a:ext cx="3528000" cy="338554"/>
          </a:xfr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4" name="内容占位符 3">
            <a:extLst>
              <a:ext uri="{FF2B5EF4-FFF2-40B4-BE49-F238E27FC236}">
                <a16:creationId xmlns:a16="http://schemas.microsoft.com/office/drawing/2014/main" id="{58FF4757-28B9-6BDF-B096-EE12917BB0F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2808000" y="144000"/>
            <a:ext cx="3528000" cy="338554"/>
          </a:xfr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482554"/>
            <a:ext cx="8172000" cy="4120946"/>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2808000" y="144000"/>
            <a:ext cx="3528000" cy="338554"/>
          </a:xfr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482554"/>
            <a:ext cx="8172000" cy="4120946"/>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2808000" y="144000"/>
            <a:ext cx="3528000" cy="338554"/>
          </a:xfr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512439-8F96-720F-F166-7F01DD205652}"/>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2808000" y="144000"/>
            <a:ext cx="3528000" cy="338554"/>
          </a:xfr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7" name="内容占位符 6">
            <a:extLst>
              <a:ext uri="{FF2B5EF4-FFF2-40B4-BE49-F238E27FC236}">
                <a16:creationId xmlns:a16="http://schemas.microsoft.com/office/drawing/2014/main" id="{0AE32105-5C62-481D-FE6F-6EBB60AB5AE3}"/>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2808000" y="144000"/>
            <a:ext cx="3528000" cy="338554"/>
          </a:xfr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482554"/>
            <a:ext cx="8172000" cy="4120946"/>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2808000" y="144000"/>
            <a:ext cx="3528000" cy="338554"/>
          </a:xfr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482554"/>
            <a:ext cx="8172000" cy="4120946"/>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2808000" y="144000"/>
            <a:ext cx="3528000" cy="338554"/>
          </a:xfr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482554"/>
            <a:ext cx="8172000" cy="4120946"/>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2808000" y="144000"/>
            <a:ext cx="3528000" cy="338554"/>
          </a:xfr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37FBBE55-A4E1-4ADE-1EDD-54682D9B3B1B}"/>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2808000" y="144000"/>
            <a:ext cx="3528000" cy="338554"/>
          </a:xfr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482554"/>
            <a:ext cx="8172000" cy="4120946"/>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2808000" y="144000"/>
            <a:ext cx="3528000" cy="338554"/>
          </a:xfr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4" name="内容占位符 3">
            <a:extLst>
              <a:ext uri="{FF2B5EF4-FFF2-40B4-BE49-F238E27FC236}">
                <a16:creationId xmlns:a16="http://schemas.microsoft.com/office/drawing/2014/main" id="{76963D34-2BBC-4FDA-33FE-5E880E99C9C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2808000" y="144000"/>
            <a:ext cx="3528000" cy="338554"/>
          </a:xfr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4" name="内容占位符 3">
            <a:extLst>
              <a:ext uri="{FF2B5EF4-FFF2-40B4-BE49-F238E27FC236}">
                <a16:creationId xmlns:a16="http://schemas.microsoft.com/office/drawing/2014/main" id="{3C6F9D53-7317-2ABF-FF44-8C2595B14A1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2808000" y="144000"/>
            <a:ext cx="3528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482554"/>
            <a:ext cx="8172000" cy="4120946"/>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2808000" y="144000"/>
            <a:ext cx="3528000" cy="338554"/>
          </a:xfr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482554"/>
            <a:ext cx="8172000" cy="4120946"/>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2808000" y="144000"/>
            <a:ext cx="3528000" cy="338554"/>
          </a:xfr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850783"/>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546857116"/>
              </p:ext>
            </p:extLst>
          </p:nvPr>
        </p:nvGraphicFramePr>
        <p:xfrm>
          <a:off x="2839640" y="2215962"/>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4251585545"/>
              </p:ext>
            </p:extLst>
          </p:nvPr>
        </p:nvGraphicFramePr>
        <p:xfrm>
          <a:off x="3984239" y="1502791"/>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3674181495"/>
              </p:ext>
            </p:extLst>
          </p:nvPr>
        </p:nvGraphicFramePr>
        <p:xfrm>
          <a:off x="1778320" y="2888022"/>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cxnSp>
        <p:nvCxnSpPr>
          <p:cNvPr id="3" name="直接连接符 2">
            <a:extLst>
              <a:ext uri="{FF2B5EF4-FFF2-40B4-BE49-F238E27FC236}">
                <a16:creationId xmlns:a16="http://schemas.microsoft.com/office/drawing/2014/main" id="{7839FD62-42C0-5BE1-F6DC-19A133118ED1}"/>
              </a:ext>
            </a:extLst>
          </p:cNvPr>
          <p:cNvCxnSpPr>
            <a:cxnSpLocks/>
          </p:cNvCxnSpPr>
          <p:nvPr/>
        </p:nvCxnSpPr>
        <p:spPr>
          <a:xfrm>
            <a:off x="2839639" y="2726690"/>
            <a:ext cx="3664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 name="直接连接符 4">
            <a:extLst>
              <a:ext uri="{FF2B5EF4-FFF2-40B4-BE49-F238E27FC236}">
                <a16:creationId xmlns:a16="http://schemas.microsoft.com/office/drawing/2014/main" id="{BC4A33B3-6411-3743-A0A3-E03958EEFE8A}"/>
              </a:ext>
            </a:extLst>
          </p:cNvPr>
          <p:cNvCxnSpPr>
            <a:cxnSpLocks/>
          </p:cNvCxnSpPr>
          <p:nvPr/>
        </p:nvCxnSpPr>
        <p:spPr>
          <a:xfrm>
            <a:off x="1778320" y="3449308"/>
            <a:ext cx="47268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直接连接符 6">
            <a:extLst>
              <a:ext uri="{FF2B5EF4-FFF2-40B4-BE49-F238E27FC236}">
                <a16:creationId xmlns:a16="http://schemas.microsoft.com/office/drawing/2014/main" id="{13E500A7-5773-CBB3-B7F4-04EE1CA62A55}"/>
              </a:ext>
            </a:extLst>
          </p:cNvPr>
          <p:cNvCxnSpPr>
            <a:cxnSpLocks/>
          </p:cNvCxnSpPr>
          <p:nvPr/>
        </p:nvCxnSpPr>
        <p:spPr>
          <a:xfrm>
            <a:off x="6504239"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直接连接符 7">
            <a:extLst>
              <a:ext uri="{FF2B5EF4-FFF2-40B4-BE49-F238E27FC236}">
                <a16:creationId xmlns:a16="http://schemas.microsoft.com/office/drawing/2014/main" id="{4BE179DD-589F-C7D6-B05A-340B82D605B6}"/>
              </a:ext>
            </a:extLst>
          </p:cNvPr>
          <p:cNvCxnSpPr>
            <a:cxnSpLocks/>
          </p:cNvCxnSpPr>
          <p:nvPr/>
        </p:nvCxnSpPr>
        <p:spPr>
          <a:xfrm>
            <a:off x="2839640" y="2635569"/>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0F712D40-C7BA-3619-B661-FFA8C8F213E0}"/>
              </a:ext>
            </a:extLst>
          </p:cNvPr>
          <p:cNvCxnSpPr>
            <a:cxnSpLocks/>
          </p:cNvCxnSpPr>
          <p:nvPr/>
        </p:nvCxnSpPr>
        <p:spPr>
          <a:xfrm>
            <a:off x="6504239"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3E052BE6-D505-299A-E8CA-BFC63F9FDDE0}"/>
              </a:ext>
            </a:extLst>
          </p:cNvPr>
          <p:cNvCxnSpPr>
            <a:cxnSpLocks/>
          </p:cNvCxnSpPr>
          <p:nvPr/>
        </p:nvCxnSpPr>
        <p:spPr>
          <a:xfrm>
            <a:off x="1778320" y="335818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4098C17-18D3-86A9-A8EB-B3C764A3FECD}"/>
              </a:ext>
            </a:extLst>
          </p:cNvPr>
          <p:cNvSpPr txBox="1"/>
          <p:nvPr/>
        </p:nvSpPr>
        <p:spPr>
          <a:xfrm>
            <a:off x="3983389" y="2588191"/>
            <a:ext cx="1377300"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UDP Datagram</a:t>
            </a:r>
            <a:endParaRPr lang="zh-CN" altLang="en-US" sz="1200" dirty="0">
              <a:latin typeface="Montserrat" panose="00000500000000000000" pitchFamily="2" charset="0"/>
            </a:endParaRPr>
          </a:p>
        </p:txBody>
      </p:sp>
      <p:sp>
        <p:nvSpPr>
          <p:cNvPr id="12" name="文本框 11">
            <a:extLst>
              <a:ext uri="{FF2B5EF4-FFF2-40B4-BE49-F238E27FC236}">
                <a16:creationId xmlns:a16="http://schemas.microsoft.com/office/drawing/2014/main" id="{23347C8B-B637-AD19-5688-C48540FDE49F}"/>
              </a:ext>
            </a:extLst>
          </p:cNvPr>
          <p:cNvSpPr txBox="1"/>
          <p:nvPr/>
        </p:nvSpPr>
        <p:spPr>
          <a:xfrm>
            <a:off x="3682300" y="3310809"/>
            <a:ext cx="918841" cy="276999"/>
          </a:xfrm>
          <a:prstGeom prst="rect">
            <a:avLst/>
          </a:prstGeom>
          <a:solidFill>
            <a:schemeClr val="bg1"/>
          </a:solidFill>
        </p:spPr>
        <p:txBody>
          <a:bodyPr wrap="none" rtlCol="0">
            <a:spAutoFit/>
          </a:bodyPr>
          <a:lstStyle/>
          <a:p>
            <a:r>
              <a:rPr lang="en-US" altLang="zh-CN" sz="1200" dirty="0">
                <a:latin typeface="Montserrat" panose="00000500000000000000" pitchFamily="2" charset="0"/>
              </a:rPr>
              <a:t>IP Packet</a:t>
            </a:r>
            <a:endParaRPr lang="zh-CN" altLang="en-US" sz="1200" dirty="0">
              <a:latin typeface="Montserrat" panose="00000500000000000000" pitchFamily="2" charset="0"/>
            </a:endParaRPr>
          </a:p>
        </p:txBody>
      </p:sp>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54566"/>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37D5D8FC-E9B1-26D9-A650-60530862DA45}"/>
              </a:ext>
            </a:extLst>
          </p:cNvPr>
          <p:cNvCxnSpPr>
            <a:cxnSpLocks/>
          </p:cNvCxnSpPr>
          <p:nvPr/>
        </p:nvCxnSpPr>
        <p:spPr>
          <a:xfrm>
            <a:off x="3984239" y="2040038"/>
            <a:ext cx="2520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直接连接符 13">
            <a:extLst>
              <a:ext uri="{FF2B5EF4-FFF2-40B4-BE49-F238E27FC236}">
                <a16:creationId xmlns:a16="http://schemas.microsoft.com/office/drawing/2014/main" id="{D983C53D-E8E3-E8D6-035B-F91F5FFD5621}"/>
              </a:ext>
            </a:extLst>
          </p:cNvPr>
          <p:cNvCxnSpPr>
            <a:cxnSpLocks/>
          </p:cNvCxnSpPr>
          <p:nvPr/>
        </p:nvCxnSpPr>
        <p:spPr>
          <a:xfrm>
            <a:off x="650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9187EF6A-DC52-CE14-004D-20011CD4A06A}"/>
              </a:ext>
            </a:extLst>
          </p:cNvPr>
          <p:cNvCxnSpPr>
            <a:cxnSpLocks/>
          </p:cNvCxnSpPr>
          <p:nvPr/>
        </p:nvCxnSpPr>
        <p:spPr>
          <a:xfrm>
            <a:off x="3984239" y="1948917"/>
            <a:ext cx="0" cy="1822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193CD06A-841D-982C-41FB-81095A06D896}"/>
              </a:ext>
            </a:extLst>
          </p:cNvPr>
          <p:cNvSpPr txBox="1"/>
          <p:nvPr/>
        </p:nvSpPr>
        <p:spPr>
          <a:xfrm>
            <a:off x="4811268" y="1901539"/>
            <a:ext cx="865943" cy="276999"/>
          </a:xfrm>
          <a:prstGeom prst="rect">
            <a:avLst/>
          </a:prstGeom>
          <a:solidFill>
            <a:schemeClr val="bg1"/>
          </a:solidFill>
        </p:spPr>
        <p:txBody>
          <a:bodyPr wrap="none" rtlCol="0">
            <a:spAutoFit/>
          </a:bodyPr>
          <a:lstStyle/>
          <a:p>
            <a:r>
              <a:rPr kumimoji="1" lang="en-US" altLang="zh-CN" sz="1200" dirty="0">
                <a:latin typeface="Montserrat" panose="00000500000000000000" pitchFamily="2" charset="0"/>
                <a:ea typeface="微软雅黑 Light" panose="020B0502040204020203" pitchFamily="34" charset="-122"/>
              </a:rPr>
              <a:t>Message</a:t>
            </a:r>
            <a:endParaRPr lang="zh-CN" altLang="en-US" sz="1200" dirty="0">
              <a:latin typeface="Montserrat" panose="00000500000000000000" pitchFamily="2" charset="0"/>
            </a:endParaRPr>
          </a:p>
        </p:txBody>
      </p:sp>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7" name="内容占位符 6">
            <a:extLst>
              <a:ext uri="{FF2B5EF4-FFF2-40B4-BE49-F238E27FC236}">
                <a16:creationId xmlns:a16="http://schemas.microsoft.com/office/drawing/2014/main" id="{1B26A735-2BB0-607A-AC78-9EA1B17E05C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2808000" y="144000"/>
            <a:ext cx="3528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4" name="内容占位符 3">
            <a:extLst>
              <a:ext uri="{FF2B5EF4-FFF2-40B4-BE49-F238E27FC236}">
                <a16:creationId xmlns:a16="http://schemas.microsoft.com/office/drawing/2014/main" id="{7D594215-D59E-A025-D7B5-69094B579BE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xfrm>
            <a:off x="2808000" y="144000"/>
            <a:ext cx="3528000" cy="338554"/>
          </a:xfr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5" name="内容占位符 4">
            <a:extLst>
              <a:ext uri="{FF2B5EF4-FFF2-40B4-BE49-F238E27FC236}">
                <a16:creationId xmlns:a16="http://schemas.microsoft.com/office/drawing/2014/main" id="{D18A3A28-D01F-A28B-4607-AFD0DD04705A}"/>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2808000" y="144000"/>
            <a:ext cx="3528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xfrm>
            <a:off x="2808000" y="144000"/>
            <a:ext cx="3528000" cy="338554"/>
          </a:xfr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482554"/>
            <a:ext cx="8172000" cy="4120946"/>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2808000" y="144000"/>
            <a:ext cx="3528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2808000" y="144000"/>
            <a:ext cx="3528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dirty="0">
                <a:solidFill>
                  <a:schemeClr val="bg1"/>
                </a:solidFill>
                <a:latin typeface="微软雅黑" pitchFamily="34" charset="-122"/>
                <a:ea typeface="微软雅黑" pitchFamily="34" charset="-122"/>
              </a:rPr>
              <a:t>在计算检验和时，临时把 </a:t>
            </a:r>
            <a:r>
              <a:rPr lang="en-US" altLang="zh-CN" dirty="0">
                <a:solidFill>
                  <a:schemeClr val="bg1"/>
                </a:solidFill>
                <a:latin typeface="微软雅黑" pitchFamily="34" charset="-122"/>
                <a:ea typeface="微软雅黑" pitchFamily="34" charset="-122"/>
              </a:rPr>
              <a:t>12 </a:t>
            </a:r>
            <a:r>
              <a:rPr lang="zh-CN" altLang="en-US" dirty="0">
                <a:solidFill>
                  <a:schemeClr val="bg1"/>
                </a:solidFill>
                <a:latin typeface="微软雅黑" pitchFamily="34" charset="-122"/>
                <a:ea typeface="微软雅黑" pitchFamily="34" charset="-122"/>
              </a:rPr>
              <a:t>字节的“</a:t>
            </a:r>
            <a:r>
              <a:rPr lang="zh-CN" altLang="en-US" dirty="0">
                <a:solidFill>
                  <a:srgbClr val="FFFF00"/>
                </a:solidFill>
                <a:latin typeface="微软雅黑" pitchFamily="34" charset="-122"/>
                <a:ea typeface="微软雅黑" pitchFamily="34" charset="-122"/>
              </a:rPr>
              <a:t>伪首部</a:t>
            </a:r>
            <a:r>
              <a:rPr lang="zh-CN" altLang="en-US" dirty="0">
                <a:solidFill>
                  <a:schemeClr val="bg1"/>
                </a:solidFill>
                <a:latin typeface="微软雅黑" pitchFamily="34" charset="-122"/>
                <a:ea typeface="微软雅黑" pitchFamily="34" charset="-122"/>
              </a:rPr>
              <a:t>”和 </a:t>
            </a:r>
            <a:r>
              <a:rPr lang="en-US" altLang="zh-CN" dirty="0">
                <a:solidFill>
                  <a:schemeClr val="bg1"/>
                </a:solidFill>
                <a:latin typeface="微软雅黑" pitchFamily="34" charset="-122"/>
                <a:ea typeface="微软雅黑" pitchFamily="34" charset="-122"/>
              </a:rPr>
              <a:t>UDP </a:t>
            </a:r>
            <a:r>
              <a:rPr lang="zh-CN" altLang="en-US"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chemeClr val="bg1">
                  <a:lumMod val="75000"/>
                </a:schemeClr>
              </a:gs>
              <a:gs pos="100000">
                <a:schemeClr val="bg1"/>
              </a:gs>
            </a:gsLst>
            <a:lin ang="5400000" scaled="1"/>
          </a:gradFill>
          <a:ln>
            <a:noFill/>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Rectangle 8"/>
          <p:cNvSpPr>
            <a:spLocks noChangeArrowheads="1"/>
          </p:cNvSpPr>
          <p:nvPr/>
        </p:nvSpPr>
        <p:spPr bwMode="auto">
          <a:xfrm>
            <a:off x="3314219" y="2398740"/>
            <a:ext cx="33165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Rectangle 11"/>
          <p:cNvSpPr>
            <a:spLocks noChangeArrowheads="1"/>
          </p:cNvSpPr>
          <p:nvPr/>
        </p:nvSpPr>
        <p:spPr bwMode="auto">
          <a:xfrm>
            <a:off x="1915585" y="1726120"/>
            <a:ext cx="478444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检验和</a:t>
            </a:r>
          </a:p>
        </p:txBody>
      </p:sp>
      <p:sp>
        <p:nvSpPr>
          <p:cNvPr id="22" name="Text Box 21"/>
          <p:cNvSpPr txBox="1">
            <a:spLocks noChangeArrowheads="1"/>
          </p:cNvSpPr>
          <p:nvPr/>
        </p:nvSpPr>
        <p:spPr bwMode="auto">
          <a:xfrm>
            <a:off x="5160505" y="3545540"/>
            <a:ext cx="8531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数         据</a:t>
            </a:r>
          </a:p>
        </p:txBody>
      </p:sp>
      <p:sp>
        <p:nvSpPr>
          <p:cNvPr id="23" name="Text Box 22"/>
          <p:cNvSpPr txBox="1">
            <a:spLocks noChangeArrowheads="1"/>
          </p:cNvSpPr>
          <p:nvPr/>
        </p:nvSpPr>
        <p:spPr bwMode="auto">
          <a:xfrm>
            <a:off x="2982509" y="3536396"/>
            <a:ext cx="64953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a:t>
            </a:r>
            <a:r>
              <a:rPr kumimoji="1" lang="zh-CN" altLang="en-US" sz="1200" dirty="0">
                <a:latin typeface="Montserrat" panose="00000500000000000000" pitchFamily="2" charset="0"/>
                <a:ea typeface="微软雅黑 Light" panose="020B0502040204020203" pitchFamily="34" charset="-122"/>
              </a:rPr>
              <a:t>首部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7" name="Text Box 26"/>
          <p:cNvSpPr txBox="1">
            <a:spLocks noChangeArrowheads="1"/>
          </p:cNvSpPr>
          <p:nvPr/>
        </p:nvSpPr>
        <p:spPr bwMode="auto">
          <a:xfrm>
            <a:off x="5866236" y="1751455"/>
            <a:ext cx="8467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源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目的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sp>
        <p:nvSpPr>
          <p:cNvPr id="30" name="Text Box 29"/>
          <p:cNvSpPr txBox="1">
            <a:spLocks noChangeArrowheads="1"/>
          </p:cNvSpPr>
          <p:nvPr/>
        </p:nvSpPr>
        <p:spPr bwMode="auto">
          <a:xfrm>
            <a:off x="5178684" y="1751455"/>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0</a:t>
            </a:r>
          </a:p>
        </p:txBody>
      </p:sp>
      <p:sp>
        <p:nvSpPr>
          <p:cNvPr id="31" name="Text Box 30"/>
          <p:cNvSpPr txBox="1">
            <a:spLocks noChangeArrowheads="1"/>
          </p:cNvSpPr>
          <p:nvPr/>
        </p:nvSpPr>
        <p:spPr bwMode="auto">
          <a:xfrm>
            <a:off x="5488861" y="1751455"/>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17</a:t>
            </a:r>
          </a:p>
        </p:txBody>
      </p:sp>
      <p:sp>
        <p:nvSpPr>
          <p:cNvPr id="32" name="Line 31"/>
          <p:cNvSpPr>
            <a:spLocks noChangeShapeType="1"/>
          </p:cNvSpPr>
          <p:nvPr/>
        </p:nvSpPr>
        <p:spPr bwMode="auto">
          <a:xfrm>
            <a:off x="2867701" y="3971343"/>
            <a:ext cx="4248000" cy="0"/>
          </a:xfrm>
          <a:prstGeom prst="line">
            <a:avLst/>
          </a:prstGeom>
          <a:noFill/>
          <a:ln w="12700">
            <a:solidFill>
              <a:schemeClr val="tx1"/>
            </a:solidFill>
            <a:prstDash val="lg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4" name="Text Box 33"/>
          <p:cNvSpPr txBox="1">
            <a:spLocks noChangeArrowheads="1"/>
          </p:cNvSpPr>
          <p:nvPr/>
        </p:nvSpPr>
        <p:spPr bwMode="auto">
          <a:xfrm>
            <a:off x="4737953" y="3835615"/>
            <a:ext cx="845103"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36" name="Text Box 35"/>
          <p:cNvSpPr txBox="1">
            <a:spLocks noChangeArrowheads="1"/>
          </p:cNvSpPr>
          <p:nvPr/>
        </p:nvSpPr>
        <p:spPr bwMode="auto">
          <a:xfrm>
            <a:off x="2585929"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7" name="Text Box 36"/>
          <p:cNvSpPr txBox="1">
            <a:spLocks noChangeArrowheads="1"/>
          </p:cNvSpPr>
          <p:nvPr/>
        </p:nvSpPr>
        <p:spPr bwMode="auto">
          <a:xfrm>
            <a:off x="4179985" y="149525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4</a:t>
            </a:r>
          </a:p>
        </p:txBody>
      </p:sp>
      <p:sp>
        <p:nvSpPr>
          <p:cNvPr id="38" name="Text Box 37"/>
          <p:cNvSpPr txBox="1">
            <a:spLocks noChangeArrowheads="1"/>
          </p:cNvSpPr>
          <p:nvPr/>
        </p:nvSpPr>
        <p:spPr bwMode="auto">
          <a:xfrm>
            <a:off x="5178684"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39" name="Text Box 38"/>
          <p:cNvSpPr txBox="1">
            <a:spLocks noChangeArrowheads="1"/>
          </p:cNvSpPr>
          <p:nvPr/>
        </p:nvSpPr>
        <p:spPr bwMode="auto">
          <a:xfrm>
            <a:off x="5551351" y="1495258"/>
            <a:ext cx="2439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1" name="Text Box 40"/>
          <p:cNvSpPr txBox="1">
            <a:spLocks noChangeArrowheads="1"/>
          </p:cNvSpPr>
          <p:nvPr/>
        </p:nvSpPr>
        <p:spPr bwMode="auto">
          <a:xfrm>
            <a:off x="2675687" y="2149130"/>
            <a:ext cx="328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2</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用户数据报</a:t>
            </a:r>
          </a:p>
        </p:txBody>
      </p:sp>
      <p:sp>
        <p:nvSpPr>
          <p:cNvPr id="10" name="Rectangle 9"/>
          <p:cNvSpPr>
            <a:spLocks noChangeArrowheads="1"/>
          </p:cNvSpPr>
          <p:nvPr/>
        </p:nvSpPr>
        <p:spPr bwMode="auto">
          <a:xfrm>
            <a:off x="3670979" y="3518271"/>
            <a:ext cx="3400601"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8" name="Rectangle 48"/>
          <p:cNvSpPr>
            <a:spLocks noChangeArrowheads="1"/>
          </p:cNvSpPr>
          <p:nvPr/>
        </p:nvSpPr>
        <p:spPr bwMode="auto">
          <a:xfrm>
            <a:off x="4443580" y="2932034"/>
            <a:ext cx="2628000" cy="302048"/>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FAC090"/>
          </a:solid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0" name="Text Box 50"/>
          <p:cNvSpPr txBox="1">
            <a:spLocks noChangeArrowheads="1"/>
          </p:cNvSpPr>
          <p:nvPr/>
        </p:nvSpPr>
        <p:spPr bwMode="auto">
          <a:xfrm>
            <a:off x="3647200" y="2931904"/>
            <a:ext cx="8515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UDP</a:t>
            </a:r>
            <a:r>
              <a:rPr kumimoji="1" lang="zh-CN" altLang="en-US" sz="1200" dirty="0">
                <a:latin typeface="Montserrat" panose="00000500000000000000" pitchFamily="2" charset="0"/>
                <a:ea typeface="微软雅黑 Light" panose="020B0502040204020203" pitchFamily="34" charset="-122"/>
              </a:rPr>
              <a:t>首部</a:t>
            </a:r>
          </a:p>
        </p:txBody>
      </p:sp>
      <p:sp>
        <p:nvSpPr>
          <p:cNvPr id="49" name="Text Box 49"/>
          <p:cNvSpPr txBox="1">
            <a:spLocks noChangeArrowheads="1"/>
          </p:cNvSpPr>
          <p:nvPr/>
        </p:nvSpPr>
        <p:spPr bwMode="auto">
          <a:xfrm>
            <a:off x="5536712" y="2929872"/>
            <a:ext cx="9621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数         据</a:t>
            </a:r>
          </a:p>
        </p:txBody>
      </p:sp>
      <p:sp>
        <p:nvSpPr>
          <p:cNvPr id="2" name="AutoShape 6">
            <a:extLst>
              <a:ext uri="{FF2B5EF4-FFF2-40B4-BE49-F238E27FC236}">
                <a16:creationId xmlns:a16="http://schemas.microsoft.com/office/drawing/2014/main" id="{65711CE2-2339-CFC8-33BB-F212F7DD7E43}"/>
              </a:ext>
            </a:extLst>
          </p:cNvPr>
          <p:cNvSpPr>
            <a:spLocks noChangeArrowheads="1"/>
          </p:cNvSpPr>
          <p:nvPr/>
        </p:nvSpPr>
        <p:spPr bwMode="auto">
          <a:xfrm rot="16200000">
            <a:off x="5335351" y="3287099"/>
            <a:ext cx="432000" cy="190878"/>
          </a:xfrm>
          <a:prstGeom prst="leftArrow">
            <a:avLst>
              <a:gd name="adj1" fmla="val 50000"/>
              <a:gd name="adj2" fmla="val 69093"/>
            </a:avLst>
          </a:prstGeom>
          <a:solidFill>
            <a:srgbClr val="E95420"/>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51203" y="1309482"/>
            <a:ext cx="2749036" cy="2021473"/>
            <a:chOff x="1640108" y="1280222"/>
            <a:chExt cx="2501023"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3"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solidFill>
                    <a:srgbClr val="000099"/>
                  </a:solidFill>
                  <a:latin typeface="微软雅黑" pitchFamily="34" charset="-122"/>
                  <a:ea typeface="微软雅黑" pitchFamily="34" charset="-122"/>
                </a:rPr>
                <a:t>12 </a:t>
              </a:r>
              <a:r>
                <a:rPr kumimoji="1" lang="zh-CN" altLang="en-US" sz="1100" dirty="0">
                  <a:solidFill>
                    <a:srgbClr val="000099"/>
                  </a:solidFill>
                  <a:latin typeface="微软雅黑" pitchFamily="34" charset="-122"/>
                  <a:ea typeface="微软雅黑" pitchFamily="34" charset="-122"/>
                </a:rPr>
                <a:t>字节</a:t>
              </a:r>
            </a:p>
            <a:p>
              <a:pPr algn="r"/>
              <a:r>
                <a:rPr kumimoji="1" lang="zh-CN" altLang="en-US" sz="1100"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40108"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8 </a:t>
              </a:r>
              <a:r>
                <a:rPr kumimoji="1" lang="zh-CN" altLang="en-US" sz="1100" dirty="0">
                  <a:solidFill>
                    <a:srgbClr val="000099"/>
                  </a:solidFill>
                  <a:latin typeface="微软雅黑" pitchFamily="34" charset="-122"/>
                  <a:ea typeface="微软雅黑" pitchFamily="34" charset="-122"/>
                </a:rPr>
                <a:t>字节</a:t>
              </a:r>
            </a:p>
            <a:p>
              <a:pPr algn="r"/>
              <a:r>
                <a:rPr kumimoji="1" lang="en-US" altLang="zh-CN" sz="1100" dirty="0">
                  <a:solidFill>
                    <a:srgbClr val="000099"/>
                  </a:solidFill>
                  <a:latin typeface="微软雅黑" pitchFamily="34" charset="-122"/>
                  <a:ea typeface="微软雅黑" pitchFamily="34" charset="-122"/>
                </a:rPr>
                <a:t>UDP </a:t>
              </a:r>
              <a:r>
                <a:rPr kumimoji="1" lang="zh-CN" altLang="en-US" sz="1100"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847198" y="2415891"/>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solidFill>
                    <a:srgbClr val="000099"/>
                  </a:solidFill>
                  <a:latin typeface="微软雅黑" pitchFamily="34" charset="-122"/>
                  <a:ea typeface="微软雅黑" pitchFamily="34" charset="-122"/>
                </a:rPr>
                <a:t>7 </a:t>
              </a:r>
              <a:r>
                <a:rPr kumimoji="1" lang="zh-CN" altLang="en-US" sz="1100" dirty="0">
                  <a:solidFill>
                    <a:srgbClr val="000099"/>
                  </a:solidFill>
                  <a:latin typeface="微软雅黑" pitchFamily="34" charset="-122"/>
                  <a:ea typeface="微软雅黑" pitchFamily="34" charset="-122"/>
                </a:rPr>
                <a:t>字节</a:t>
              </a:r>
              <a:endParaRPr kumimoji="1" lang="en-US" altLang="zh-CN" sz="1100" dirty="0">
                <a:solidFill>
                  <a:srgbClr val="000099"/>
                </a:solidFill>
                <a:latin typeface="微软雅黑" pitchFamily="34" charset="-122"/>
                <a:ea typeface="微软雅黑" pitchFamily="34" charset="-122"/>
              </a:endParaRPr>
            </a:p>
            <a:p>
              <a:pPr algn="r"/>
              <a:r>
                <a:rPr kumimoji="1" lang="zh-CN" altLang="en-US" sz="1100" dirty="0">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15=8+7</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2808000" y="144000"/>
            <a:ext cx="3528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1FF99-2F87-8640-F39F-3CC5E9E144BD}"/>
            </a:ext>
          </a:extLst>
        </p:cNvPr>
        <p:cNvGrpSpPr/>
        <p:nvPr/>
      </p:nvGrpSpPr>
      <p:grpSpPr>
        <a:xfrm>
          <a:off x="0" y="0"/>
          <a:ext cx="0" cy="0"/>
          <a:chOff x="0" y="0"/>
          <a:chExt cx="0" cy="0"/>
        </a:xfrm>
      </p:grpSpPr>
      <p:grpSp>
        <p:nvGrpSpPr>
          <p:cNvPr id="42" name="组合 41">
            <a:extLst>
              <a:ext uri="{FF2B5EF4-FFF2-40B4-BE49-F238E27FC236}">
                <a16:creationId xmlns:a16="http://schemas.microsoft.com/office/drawing/2014/main" id="{0F924299-1493-C114-735E-80AE282E3A2B}"/>
              </a:ext>
            </a:extLst>
          </p:cNvPr>
          <p:cNvGrpSpPr/>
          <p:nvPr/>
        </p:nvGrpSpPr>
        <p:grpSpPr>
          <a:xfrm>
            <a:off x="2809248" y="1099293"/>
            <a:ext cx="4838720" cy="3287054"/>
            <a:chOff x="2662944" y="1099293"/>
            <a:chExt cx="4838720" cy="3287054"/>
          </a:xfrm>
        </p:grpSpPr>
        <p:sp>
          <p:nvSpPr>
            <p:cNvPr id="7" name="Text Box 7">
              <a:extLst>
                <a:ext uri="{FF2B5EF4-FFF2-40B4-BE49-F238E27FC236}">
                  <a16:creationId xmlns:a16="http://schemas.microsoft.com/office/drawing/2014/main" id="{54F517C5-7A21-8BC3-4192-E96D8112CDE9}"/>
                </a:ext>
              </a:extLst>
            </p:cNvPr>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10011001 00010011  →  153.19</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00001000 01101000  →  8.104</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10101011 00000011  →  171.3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00001110 00001011  →  14.11</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00010001  →  0 </a:t>
              </a:r>
              <a:r>
                <a:rPr kumimoji="1" lang="zh-CN" altLang="en-US" sz="1200" dirty="0">
                  <a:latin typeface="Calibri" panose="020F0502020204030204" pitchFamily="34" charset="0"/>
                  <a:ea typeface="微软雅黑" pitchFamily="34" charset="-122"/>
                  <a:cs typeface="Calibri" panose="020F0502020204030204" pitchFamily="34" charset="0"/>
                </a:rPr>
                <a:t>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17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00000100 00111111  →  1087</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00001101  →  13</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00001111  →  15</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00000000 00000000  →  0</a:t>
              </a:r>
              <a:r>
                <a:rPr kumimoji="1" lang="zh-CN" altLang="en-US" sz="1200" dirty="0">
                  <a:latin typeface="Calibri" panose="020F0502020204030204" pitchFamily="34" charset="0"/>
                  <a:ea typeface="微软雅黑" pitchFamily="34" charset="-122"/>
                  <a:cs typeface="Calibri" panose="020F0502020204030204" pitchFamily="34" charset="0"/>
                </a:rPr>
                <a:t>（检验和）</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01010100 01000101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01010011 01010100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01001001 01001110  →  </a:t>
              </a:r>
              <a:r>
                <a:rPr kumimoji="1" lang="zh-CN" altLang="en-US" sz="1200" dirty="0">
                  <a:latin typeface="Calibri" panose="020F0502020204030204" pitchFamily="34" charset="0"/>
                  <a:ea typeface="微软雅黑" pitchFamily="34" charset="-122"/>
                  <a:cs typeface="Calibri" panose="020F0502020204030204" pitchFamily="34" charset="0"/>
                </a:rPr>
                <a:t>数据</a:t>
              </a: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01000111 00000000  →  </a:t>
              </a:r>
              <a:r>
                <a:rPr kumimoji="1" lang="zh-CN" altLang="en-US" sz="1200" dirty="0">
                  <a:latin typeface="Calibri" panose="020F0502020204030204" pitchFamily="34" charset="0"/>
                  <a:ea typeface="微软雅黑" pitchFamily="34" charset="-122"/>
                  <a:cs typeface="Calibri" panose="020F0502020204030204" pitchFamily="34" charset="0"/>
                </a:rPr>
                <a:t>数据和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a:t>
              </a:r>
              <a:r>
                <a:rPr kumimoji="1" lang="zh-CN" altLang="en-US" sz="1200" dirty="0">
                  <a:latin typeface="Calibri" panose="020F0502020204030204" pitchFamily="34" charset="0"/>
                  <a:ea typeface="微软雅黑" pitchFamily="34" charset="-122"/>
                  <a:cs typeface="Calibri" panose="020F0502020204030204" pitchFamily="34" charset="0"/>
                </a:rPr>
                <a:t>（填充）</a:t>
              </a:r>
            </a:p>
            <a:p>
              <a:endParaRPr kumimoji="1" lang="zh-CN" altLang="en-US" sz="1200" dirty="0">
                <a:latin typeface="Calibri" panose="020F0502020204030204" pitchFamily="34" charset="0"/>
                <a:ea typeface="微软雅黑" pitchFamily="34" charset="-122"/>
                <a:cs typeface="Calibri" panose="020F0502020204030204" pitchFamily="34" charset="0"/>
              </a:endParaRPr>
            </a:p>
            <a:p>
              <a:r>
                <a:rPr kumimoji="1" lang="en-US" altLang="zh-CN" sz="1200" dirty="0">
                  <a:latin typeface="Calibri" panose="020F0502020204030204" pitchFamily="34" charset="0"/>
                  <a:ea typeface="Calibri" panose="020F0502020204030204" pitchFamily="34" charset="0"/>
                  <a:cs typeface="Calibri" panose="020F0502020204030204" pitchFamily="34" charset="0"/>
                </a:rPr>
                <a:t>10010110 11101101  →  </a:t>
              </a:r>
              <a:r>
                <a:rPr kumimoji="1" lang="zh-CN" altLang="en-US" sz="1200" dirty="0">
                  <a:latin typeface="Calibri" panose="020F0502020204030204" pitchFamily="34" charset="0"/>
                  <a:ea typeface="微软雅黑" pitchFamily="34" charset="-122"/>
                  <a:cs typeface="Calibri" panose="020F0502020204030204" pitchFamily="34" charset="0"/>
                </a:rPr>
                <a:t>求和得出的结果</a:t>
              </a:r>
            </a:p>
            <a:p>
              <a:pPr>
                <a:lnSpc>
                  <a:spcPct val="13000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01101001 00010010  →  </a:t>
              </a:r>
              <a:r>
                <a:rPr kumimoji="1" lang="zh-CN" altLang="en-US" sz="1200" dirty="0">
                  <a:latin typeface="Calibri" panose="020F0502020204030204" pitchFamily="34" charset="0"/>
                  <a:ea typeface="微软雅黑" pitchFamily="34" charset="-122"/>
                  <a:cs typeface="Calibri" panose="020F0502020204030204" pitchFamily="34" charset="0"/>
                </a:rPr>
                <a:t>检验和 </a:t>
              </a:r>
            </a:p>
          </p:txBody>
        </p:sp>
        <p:sp>
          <p:nvSpPr>
            <p:cNvPr id="32" name="Line 30">
              <a:extLst>
                <a:ext uri="{FF2B5EF4-FFF2-40B4-BE49-F238E27FC236}">
                  <a16:creationId xmlns:a16="http://schemas.microsoft.com/office/drawing/2014/main" id="{BA1646D6-73C4-3510-F81D-98170D89638A}"/>
                </a:ext>
              </a:extLst>
            </p:cNvPr>
            <p:cNvSpPr>
              <a:spLocks noChangeShapeType="1"/>
            </p:cNvSpPr>
            <p:nvPr/>
          </p:nvSpPr>
          <p:spPr bwMode="auto">
            <a:xfrm flipV="1">
              <a:off x="4235251" y="3795900"/>
              <a:ext cx="3164240" cy="577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Calibri" panose="020F0502020204030204" pitchFamily="34" charset="0"/>
                <a:ea typeface="微软雅黑" pitchFamily="34" charset="-122"/>
                <a:cs typeface="Calibri" panose="020F0502020204030204" pitchFamily="34" charset="0"/>
              </a:endParaRPr>
            </a:p>
          </p:txBody>
        </p:sp>
        <p:sp>
          <p:nvSpPr>
            <p:cNvPr id="33" name="Text Box 31">
              <a:extLst>
                <a:ext uri="{FF2B5EF4-FFF2-40B4-BE49-F238E27FC236}">
                  <a16:creationId xmlns:a16="http://schemas.microsoft.com/office/drawing/2014/main" id="{ABB05A92-A9EE-3129-D7C9-98F914654666}"/>
                </a:ext>
              </a:extLst>
            </p:cNvPr>
            <p:cNvSpPr txBox="1">
              <a:spLocks noChangeArrowheads="1"/>
            </p:cNvSpPr>
            <p:nvPr/>
          </p:nvSpPr>
          <p:spPr bwMode="auto">
            <a:xfrm>
              <a:off x="2662944" y="3848835"/>
              <a:ext cx="1723549" cy="4936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dirty="0">
                  <a:latin typeface="Calibri" panose="020F0502020204030204" pitchFamily="34" charset="0"/>
                  <a:ea typeface="微软雅黑" pitchFamily="34" charset="-122"/>
                  <a:cs typeface="Calibri" panose="020F0502020204030204" pitchFamily="34" charset="0"/>
                </a:rPr>
                <a:t>按二进制反码运算求和</a:t>
              </a:r>
            </a:p>
            <a:p>
              <a:pPr algn="r">
                <a:lnSpc>
                  <a:spcPct val="130000"/>
                </a:lnSpc>
              </a:pPr>
              <a:r>
                <a:rPr kumimoji="1" lang="zh-CN" altLang="en-US" sz="1200" dirty="0">
                  <a:latin typeface="Calibri" panose="020F0502020204030204" pitchFamily="34" charset="0"/>
                  <a:ea typeface="微软雅黑" pitchFamily="34" charset="-122"/>
                  <a:cs typeface="Calibri" panose="020F0502020204030204" pitchFamily="34" charset="0"/>
                </a:rPr>
                <a:t>将得出的结果求反码</a:t>
              </a:r>
            </a:p>
          </p:txBody>
        </p:sp>
      </p:grpSp>
      <p:grpSp>
        <p:nvGrpSpPr>
          <p:cNvPr id="37" name="组合 36">
            <a:extLst>
              <a:ext uri="{FF2B5EF4-FFF2-40B4-BE49-F238E27FC236}">
                <a16:creationId xmlns:a16="http://schemas.microsoft.com/office/drawing/2014/main" id="{1F1989C5-FBF5-0474-DB62-EE2FB277593C}"/>
              </a:ext>
            </a:extLst>
          </p:cNvPr>
          <p:cNvGrpSpPr/>
          <p:nvPr/>
        </p:nvGrpSpPr>
        <p:grpSpPr>
          <a:xfrm>
            <a:off x="1520962" y="1309482"/>
            <a:ext cx="2679279" cy="1597202"/>
            <a:chOff x="1703572" y="1280222"/>
            <a:chExt cx="2437559" cy="1453105"/>
          </a:xfrm>
        </p:grpSpPr>
        <p:sp>
          <p:nvSpPr>
            <p:cNvPr id="6" name="Rectangle 35">
              <a:extLst>
                <a:ext uri="{FF2B5EF4-FFF2-40B4-BE49-F238E27FC236}">
                  <a16:creationId xmlns:a16="http://schemas.microsoft.com/office/drawing/2014/main" id="{08DC8278-1AE7-FFC0-3EA8-428BD40405CC}"/>
                </a:ext>
              </a:extLst>
            </p:cNvPr>
            <p:cNvSpPr>
              <a:spLocks noChangeArrowheads="1"/>
            </p:cNvSpPr>
            <p:nvPr/>
          </p:nvSpPr>
          <p:spPr bwMode="auto">
            <a:xfrm>
              <a:off x="2438255" y="1903528"/>
              <a:ext cx="1688985" cy="43146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8" name="Freeform 5">
              <a:extLst>
                <a:ext uri="{FF2B5EF4-FFF2-40B4-BE49-F238E27FC236}">
                  <a16:creationId xmlns:a16="http://schemas.microsoft.com/office/drawing/2014/main" id="{A578BF9A-83D6-74F5-984A-42AC23ED4867}"/>
                </a:ext>
              </a:extLst>
            </p:cNvPr>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no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9" name="Rectangle 6">
              <a:extLst>
                <a:ext uri="{FF2B5EF4-FFF2-40B4-BE49-F238E27FC236}">
                  <a16:creationId xmlns:a16="http://schemas.microsoft.com/office/drawing/2014/main" id="{A2125F9F-94E5-E44F-7836-974B8A649DB7}"/>
                </a:ext>
              </a:extLst>
            </p:cNvPr>
            <p:cNvSpPr>
              <a:spLocks noChangeArrowheads="1"/>
            </p:cNvSpPr>
            <p:nvPr/>
          </p:nvSpPr>
          <p:spPr bwMode="auto">
            <a:xfrm>
              <a:off x="2435465" y="1303319"/>
              <a:ext cx="1705666" cy="612077"/>
            </a:xfrm>
            <a:prstGeom prst="rect">
              <a:avLst/>
            </a:prstGeom>
            <a:noFill/>
            <a:ln>
              <a:noFill/>
            </a:ln>
            <a:effec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0" name="Rectangle 8">
              <a:extLst>
                <a:ext uri="{FF2B5EF4-FFF2-40B4-BE49-F238E27FC236}">
                  <a16:creationId xmlns:a16="http://schemas.microsoft.com/office/drawing/2014/main" id="{DC877491-5843-411B-EBEA-94D41D449391}"/>
                </a:ext>
              </a:extLst>
            </p:cNvPr>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1" name="Line 9">
              <a:extLst>
                <a:ext uri="{FF2B5EF4-FFF2-40B4-BE49-F238E27FC236}">
                  <a16:creationId xmlns:a16="http://schemas.microsoft.com/office/drawing/2014/main" id="{8FA7A823-AE8A-5FBB-402F-29798C4F7085}"/>
                </a:ext>
              </a:extLst>
            </p:cNvPr>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2" name="Line 10">
              <a:extLst>
                <a:ext uri="{FF2B5EF4-FFF2-40B4-BE49-F238E27FC236}">
                  <a16:creationId xmlns:a16="http://schemas.microsoft.com/office/drawing/2014/main" id="{7CB31BE8-1EE2-8F73-EE5E-CB81221F94A3}"/>
                </a:ext>
              </a:extLst>
            </p:cNvPr>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3" name="Line 11">
              <a:extLst>
                <a:ext uri="{FF2B5EF4-FFF2-40B4-BE49-F238E27FC236}">
                  <a16:creationId xmlns:a16="http://schemas.microsoft.com/office/drawing/2014/main" id="{50076565-18A0-CC04-CD87-2F01E33617FE}"/>
                </a:ext>
              </a:extLst>
            </p:cNvPr>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4" name="Line 12">
              <a:extLst>
                <a:ext uri="{FF2B5EF4-FFF2-40B4-BE49-F238E27FC236}">
                  <a16:creationId xmlns:a16="http://schemas.microsoft.com/office/drawing/2014/main" id="{606AC02D-B6E5-5BB3-F1E7-77EDFED22E40}"/>
                </a:ext>
              </a:extLst>
            </p:cNvPr>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5" name="Line 13">
              <a:extLst>
                <a:ext uri="{FF2B5EF4-FFF2-40B4-BE49-F238E27FC236}">
                  <a16:creationId xmlns:a16="http://schemas.microsoft.com/office/drawing/2014/main" id="{2CD10EEC-45AD-AEC8-6E77-8204DFA5DC4E}"/>
                </a:ext>
              </a:extLst>
            </p:cNvPr>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6" name="Line 14">
              <a:extLst>
                <a:ext uri="{FF2B5EF4-FFF2-40B4-BE49-F238E27FC236}">
                  <a16:creationId xmlns:a16="http://schemas.microsoft.com/office/drawing/2014/main" id="{F31CBD67-C869-1C53-771E-B3BDEDD784C2}"/>
                </a:ext>
              </a:extLst>
            </p:cNvPr>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7" name="Line 15">
              <a:extLst>
                <a:ext uri="{FF2B5EF4-FFF2-40B4-BE49-F238E27FC236}">
                  <a16:creationId xmlns:a16="http://schemas.microsoft.com/office/drawing/2014/main" id="{08CC66CB-3A0A-6A06-215F-BA96BD4BFD2C}"/>
                </a:ext>
              </a:extLst>
            </p:cNvPr>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8" name="Line 16">
              <a:extLst>
                <a:ext uri="{FF2B5EF4-FFF2-40B4-BE49-F238E27FC236}">
                  <a16:creationId xmlns:a16="http://schemas.microsoft.com/office/drawing/2014/main" id="{5FA06387-9B9F-981C-311D-AF1E680BD655}"/>
                </a:ext>
              </a:extLst>
            </p:cNvPr>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19" name="Line 17">
              <a:extLst>
                <a:ext uri="{FF2B5EF4-FFF2-40B4-BE49-F238E27FC236}">
                  <a16:creationId xmlns:a16="http://schemas.microsoft.com/office/drawing/2014/main" id="{9FF4A1C1-DBE9-D7A3-8E26-9966FB942D7D}"/>
                </a:ext>
              </a:extLst>
            </p:cNvPr>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0" name="Line 18">
              <a:extLst>
                <a:ext uri="{FF2B5EF4-FFF2-40B4-BE49-F238E27FC236}">
                  <a16:creationId xmlns:a16="http://schemas.microsoft.com/office/drawing/2014/main" id="{0D05D3EF-C615-9ED3-C992-9415605A37C4}"/>
                </a:ext>
              </a:extLst>
            </p:cNvPr>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1" name="Text Box 19">
              <a:extLst>
                <a:ext uri="{FF2B5EF4-FFF2-40B4-BE49-F238E27FC236}">
                  <a16:creationId xmlns:a16="http://schemas.microsoft.com/office/drawing/2014/main" id="{275E9E12-C8B5-A0F7-C82C-E9F427AA108B}"/>
                </a:ext>
              </a:extLst>
            </p:cNvPr>
            <p:cNvSpPr txBox="1">
              <a:spLocks noChangeArrowheads="1"/>
            </p:cNvSpPr>
            <p:nvPr/>
          </p:nvSpPr>
          <p:spPr bwMode="auto">
            <a:xfrm>
              <a:off x="2767006" y="1291771"/>
              <a:ext cx="866572"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153.19.8.104</a:t>
              </a:r>
            </a:p>
          </p:txBody>
        </p:sp>
        <p:sp>
          <p:nvSpPr>
            <p:cNvPr id="22" name="Text Box 20">
              <a:extLst>
                <a:ext uri="{FF2B5EF4-FFF2-40B4-BE49-F238E27FC236}">
                  <a16:creationId xmlns:a16="http://schemas.microsoft.com/office/drawing/2014/main" id="{86C46CB1-C6F4-A071-81E1-87B63C3901D1}"/>
                </a:ext>
              </a:extLst>
            </p:cNvPr>
            <p:cNvSpPr txBox="1">
              <a:spLocks noChangeArrowheads="1"/>
            </p:cNvSpPr>
            <p:nvPr/>
          </p:nvSpPr>
          <p:spPr bwMode="auto">
            <a:xfrm>
              <a:off x="2788901" y="1498684"/>
              <a:ext cx="789277"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Calibri" panose="020F0502020204030204" pitchFamily="34" charset="0"/>
                  <a:ea typeface="Calibri" panose="020F0502020204030204" pitchFamily="34" charset="0"/>
                  <a:cs typeface="Calibri" panose="020F0502020204030204" pitchFamily="34" charset="0"/>
                </a:rPr>
                <a:t>171.3.14.11</a:t>
              </a:r>
            </a:p>
          </p:txBody>
        </p:sp>
        <p:sp>
          <p:nvSpPr>
            <p:cNvPr id="23" name="AutoShape 22">
              <a:extLst>
                <a:ext uri="{FF2B5EF4-FFF2-40B4-BE49-F238E27FC236}">
                  <a16:creationId xmlns:a16="http://schemas.microsoft.com/office/drawing/2014/main" id="{7909A81E-7522-4252-45AE-7835BCF9E01A}"/>
                </a:ext>
              </a:extLst>
            </p:cNvPr>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4" name="AutoShape 23">
              <a:extLst>
                <a:ext uri="{FF2B5EF4-FFF2-40B4-BE49-F238E27FC236}">
                  <a16:creationId xmlns:a16="http://schemas.microsoft.com/office/drawing/2014/main" id="{C827FE79-23C0-7538-C381-6722CF2E95F0}"/>
                </a:ext>
              </a:extLst>
            </p:cNvPr>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5" name="AutoShape 24">
              <a:extLst>
                <a:ext uri="{FF2B5EF4-FFF2-40B4-BE49-F238E27FC236}">
                  <a16:creationId xmlns:a16="http://schemas.microsoft.com/office/drawing/2014/main" id="{1A42FEBB-0544-D851-33E7-CC19E42A5A32}"/>
                </a:ext>
              </a:extLst>
            </p:cNvPr>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Calibri" panose="020F0502020204030204" pitchFamily="34" charset="0"/>
                <a:ea typeface="微软雅黑" pitchFamily="34" charset="-122"/>
                <a:cs typeface="Calibri" panose="020F0502020204030204" pitchFamily="34" charset="0"/>
              </a:endParaRPr>
            </a:p>
          </p:txBody>
        </p:sp>
        <p:sp>
          <p:nvSpPr>
            <p:cNvPr id="26" name="Text Box 25">
              <a:extLst>
                <a:ext uri="{FF2B5EF4-FFF2-40B4-BE49-F238E27FC236}">
                  <a16:creationId xmlns:a16="http://schemas.microsoft.com/office/drawing/2014/main" id="{0BC5827A-FB54-973C-0F46-E8866DB337B8}"/>
                </a:ext>
              </a:extLst>
            </p:cNvPr>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12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伪首部</a:t>
              </a:r>
            </a:p>
          </p:txBody>
        </p:sp>
        <p:sp>
          <p:nvSpPr>
            <p:cNvPr id="27" name="Text Box 26">
              <a:extLst>
                <a:ext uri="{FF2B5EF4-FFF2-40B4-BE49-F238E27FC236}">
                  <a16:creationId xmlns:a16="http://schemas.microsoft.com/office/drawing/2014/main" id="{8DF54B97-AE4B-E92D-2E8B-48AA75A9D4C9}"/>
                </a:ext>
              </a:extLst>
            </p:cNvPr>
            <p:cNvSpPr txBox="1">
              <a:spLocks noChangeArrowheads="1"/>
            </p:cNvSpPr>
            <p:nvPr/>
          </p:nvSpPr>
          <p:spPr bwMode="auto">
            <a:xfrm>
              <a:off x="1708653" y="1889316"/>
              <a:ext cx="679897"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8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UDP </a:t>
              </a:r>
              <a:r>
                <a:rPr kumimoji="1" lang="zh-CN" altLang="en-US" sz="1100" dirty="0">
                  <a:latin typeface="Calibri" panose="020F0502020204030204" pitchFamily="34" charset="0"/>
                  <a:ea typeface="微软雅黑" pitchFamily="34" charset="-122"/>
                  <a:cs typeface="Calibri" panose="020F0502020204030204" pitchFamily="34" charset="0"/>
                </a:rPr>
                <a:t>首部</a:t>
              </a:r>
            </a:p>
          </p:txBody>
        </p:sp>
        <p:sp>
          <p:nvSpPr>
            <p:cNvPr id="28" name="Text Box 27">
              <a:extLst>
                <a:ext uri="{FF2B5EF4-FFF2-40B4-BE49-F238E27FC236}">
                  <a16:creationId xmlns:a16="http://schemas.microsoft.com/office/drawing/2014/main" id="{8120E176-FC7B-C7B4-52A8-6C39AE549638}"/>
                </a:ext>
              </a:extLst>
            </p:cNvPr>
            <p:cNvSpPr txBox="1">
              <a:spLocks noChangeArrowheads="1"/>
            </p:cNvSpPr>
            <p:nvPr/>
          </p:nvSpPr>
          <p:spPr bwMode="auto">
            <a:xfrm>
              <a:off x="1869074" y="2334279"/>
              <a:ext cx="519475"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100" dirty="0">
                  <a:latin typeface="Calibri" panose="020F0502020204030204" pitchFamily="34" charset="0"/>
                  <a:ea typeface="Calibri" panose="020F0502020204030204" pitchFamily="34" charset="0"/>
                  <a:cs typeface="Calibri" panose="020F0502020204030204" pitchFamily="34" charset="0"/>
                </a:rPr>
                <a:t>7 </a:t>
              </a:r>
              <a:r>
                <a:rPr kumimoji="1" lang="zh-CN" altLang="en-US" sz="1100" dirty="0">
                  <a:latin typeface="Calibri" panose="020F0502020204030204" pitchFamily="34" charset="0"/>
                  <a:ea typeface="微软雅黑" pitchFamily="34" charset="-122"/>
                  <a:cs typeface="Calibri" panose="020F0502020204030204" pitchFamily="34" charset="0"/>
                </a:rPr>
                <a:t>字节</a:t>
              </a:r>
            </a:p>
            <a:p>
              <a:pPr algn="r"/>
              <a:r>
                <a:rPr kumimoji="1" lang="zh-CN" altLang="en-US" sz="1100" dirty="0">
                  <a:latin typeface="Calibri" panose="020F0502020204030204" pitchFamily="34" charset="0"/>
                  <a:ea typeface="微软雅黑" pitchFamily="34" charset="-122"/>
                  <a:cs typeface="Calibri" panose="020F0502020204030204" pitchFamily="34" charset="0"/>
                </a:rPr>
                <a:t>数据</a:t>
              </a:r>
            </a:p>
          </p:txBody>
        </p:sp>
      </p:grpSp>
      <p:sp>
        <p:nvSpPr>
          <p:cNvPr id="41" name="Text Box 21">
            <a:extLst>
              <a:ext uri="{FF2B5EF4-FFF2-40B4-BE49-F238E27FC236}">
                <a16:creationId xmlns:a16="http://schemas.microsoft.com/office/drawing/2014/main" id="{2222DA98-BC8A-19DB-2413-A1FA506FC1F7}"/>
              </a:ext>
            </a:extLst>
          </p:cNvPr>
          <p:cNvSpPr txBox="1">
            <a:spLocks noChangeArrowheads="1"/>
          </p:cNvSpPr>
          <p:nvPr/>
        </p:nvSpPr>
        <p:spPr bwMode="auto">
          <a:xfrm>
            <a:off x="2327764" y="1762003"/>
            <a:ext cx="1870186" cy="1182375"/>
          </a:xfrm>
          <a:prstGeom prst="rect">
            <a:avLst/>
          </a:prstGeom>
          <a:noFill/>
          <a:ln>
            <a:noFill/>
          </a:ln>
          <a:effectLst/>
        </p:spPr>
        <p:txBody>
          <a:bodyPr wrap="square">
            <a:spAutoFit/>
          </a:bodyPr>
          <a:lstStyle/>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全 </a:t>
            </a:r>
            <a:r>
              <a:rPr kumimoji="1" lang="en-US" altLang="zh-CN" sz="1200" dirty="0">
                <a:latin typeface="Calibri" panose="020F0502020204030204" pitchFamily="34" charset="0"/>
                <a:ea typeface="Calibri" panose="020F0502020204030204" pitchFamily="34" charset="0"/>
                <a:cs typeface="Calibri" panose="020F0502020204030204" pitchFamily="34" charset="0"/>
              </a:rPr>
              <a:t>0         17           15 = 8+7</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1087                    13</a:t>
            </a:r>
          </a:p>
          <a:p>
            <a:pPr>
              <a:lnSpc>
                <a:spcPts val="1720"/>
              </a:lnSpc>
            </a:pPr>
            <a:r>
              <a:rPr kumimoji="1" lang="en-US" altLang="zh-CN" sz="1200" dirty="0">
                <a:latin typeface="Calibri" panose="020F0502020204030204" pitchFamily="34" charset="0"/>
                <a:ea typeface="Calibri" panose="020F0502020204030204" pitchFamily="34" charset="0"/>
                <a:cs typeface="Calibri" panose="020F0502020204030204" pitchFamily="34" charset="0"/>
              </a:rPr>
              <a:t>    15 = 8+7                </a:t>
            </a:r>
            <a:r>
              <a:rPr kumimoji="1" lang="zh-CN" altLang="en-US" sz="1200" dirty="0">
                <a:solidFill>
                  <a:srgbClr val="C00000"/>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rgbClr val="C00000"/>
                </a:solidFill>
                <a:latin typeface="Calibri" panose="020F0502020204030204" pitchFamily="34" charset="0"/>
                <a:ea typeface="Calibri" panose="020F0502020204030204" pitchFamily="34" charset="0"/>
                <a:cs typeface="Calibri" panose="020F0502020204030204" pitchFamily="34" charset="0"/>
              </a:rPr>
              <a:t>0</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数据</a:t>
            </a:r>
          </a:p>
          <a:p>
            <a:pPr>
              <a:lnSpc>
                <a:spcPts val="1720"/>
              </a:lnSpc>
            </a:pPr>
            <a:r>
              <a:rPr kumimoji="1" lang="zh-CN" altLang="en-US" sz="1200" dirty="0">
                <a:latin typeface="Calibri" panose="020F0502020204030204" pitchFamily="34" charset="0"/>
                <a:ea typeface="微软雅黑" pitchFamily="34" charset="-122"/>
                <a:cs typeface="Calibri" panose="020F0502020204030204" pitchFamily="34" charset="0"/>
              </a:rPr>
              <a:t>数据    数据     数据    </a:t>
            </a:r>
            <a:r>
              <a:rPr kumimoji="1" lang="zh-CN" altLang="en-US" sz="1200" dirty="0">
                <a:solidFill>
                  <a:schemeClr val="tx2">
                    <a:lumMod val="60000"/>
                    <a:lumOff val="40000"/>
                  </a:schemeClr>
                </a:solidFill>
                <a:latin typeface="Calibri" panose="020F0502020204030204" pitchFamily="34" charset="0"/>
                <a:ea typeface="微软雅黑" pitchFamily="34" charset="-122"/>
                <a:cs typeface="Calibri" panose="020F0502020204030204" pitchFamily="34" charset="0"/>
              </a:rPr>
              <a:t>全 </a:t>
            </a:r>
            <a:r>
              <a:rPr kumimoji="1" lang="en-US" altLang="zh-CN" sz="1200" dirty="0">
                <a:solidFill>
                  <a:schemeClr val="tx2">
                    <a:lumMod val="60000"/>
                    <a:lumOff val="40000"/>
                  </a:schemeClr>
                </a:solidFill>
                <a:latin typeface="Calibri" panose="020F0502020204030204" pitchFamily="34" charset="0"/>
                <a:ea typeface="Calibri" panose="020F0502020204030204" pitchFamily="34" charset="0"/>
                <a:cs typeface="Calibri" panose="020F0502020204030204" pitchFamily="34" charset="0"/>
              </a:rPr>
              <a:t>0</a:t>
            </a:r>
          </a:p>
        </p:txBody>
      </p:sp>
      <p:sp>
        <p:nvSpPr>
          <p:cNvPr id="3" name="矩形 2">
            <a:extLst>
              <a:ext uri="{FF2B5EF4-FFF2-40B4-BE49-F238E27FC236}">
                <a16:creationId xmlns:a16="http://schemas.microsoft.com/office/drawing/2014/main" id="{8516D012-DB29-A708-5394-13BC4208FDF3}"/>
              </a:ext>
            </a:extLst>
          </p:cNvPr>
          <p:cNvSpPr/>
          <p:nvPr/>
        </p:nvSpPr>
        <p:spPr>
          <a:xfrm>
            <a:off x="1146412" y="948519"/>
            <a:ext cx="3235143" cy="23747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404172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2808000" y="144000"/>
            <a:ext cx="3528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2808000" y="144000"/>
            <a:ext cx="3528000" cy="338554"/>
          </a:xfr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5" name="内容占位符 4">
            <a:extLst>
              <a:ext uri="{FF2B5EF4-FFF2-40B4-BE49-F238E27FC236}">
                <a16:creationId xmlns:a16="http://schemas.microsoft.com/office/drawing/2014/main" id="{E8CE886B-84FE-7FE5-3747-23359C5A1845}"/>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2808000" y="144000"/>
            <a:ext cx="3528000" cy="338554"/>
          </a:xfr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482554"/>
            <a:ext cx="8172000" cy="4120946"/>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2808000" y="144000"/>
            <a:ext cx="3528000" cy="338554"/>
          </a:xfr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50562E9-B244-1C1B-18A8-A6EF2E85EC2F}"/>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2808000" y="144000"/>
            <a:ext cx="3528000" cy="338554"/>
          </a:xfr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482554"/>
            <a:ext cx="8172000" cy="4120946"/>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2808000" y="144000"/>
            <a:ext cx="3528000" cy="338554"/>
          </a:xfr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482554"/>
            <a:ext cx="8172000" cy="4120946"/>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2808000" y="144000"/>
            <a:ext cx="3528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xfrm>
            <a:off x="2808000" y="144000"/>
            <a:ext cx="3528000" cy="338554"/>
          </a:xfr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482554"/>
            <a:ext cx="8172000" cy="4120946"/>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482554"/>
            <a:ext cx="8172000" cy="4120946"/>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xfrm>
            <a:off x="2808000" y="144000"/>
            <a:ext cx="3528000" cy="338554"/>
          </a:xfr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482554"/>
            <a:ext cx="8172000" cy="4120946"/>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482554"/>
            <a:ext cx="8172000" cy="4120946"/>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2808000" y="144000"/>
            <a:ext cx="3528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xfrm>
            <a:off x="2808000" y="144000"/>
            <a:ext cx="3528000" cy="338554"/>
          </a:xfr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2808000" y="144000"/>
            <a:ext cx="3528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内容占位符 3">
            <a:extLst>
              <a:ext uri="{FF2B5EF4-FFF2-40B4-BE49-F238E27FC236}">
                <a16:creationId xmlns:a16="http://schemas.microsoft.com/office/drawing/2014/main" id="{17402EFC-556B-5CA5-C935-9D0C077CBAC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2808000" y="144000"/>
            <a:ext cx="3528000" cy="338554"/>
          </a:xfr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482554"/>
            <a:ext cx="8172000" cy="4120946"/>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2808000" y="144000"/>
            <a:ext cx="3528000" cy="338554"/>
          </a:xfr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2808000" y="144000"/>
            <a:ext cx="3528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482554"/>
            <a:ext cx="8172000" cy="4120946"/>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2808000" y="144000"/>
            <a:ext cx="3528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64CCEE9-A796-CC72-8671-9C8A18565DD0}"/>
              </a:ext>
            </a:extLst>
          </p:cNvPr>
          <p:cNvSpPr>
            <a:spLocks noGrp="1"/>
          </p:cNvSpPr>
          <p:nvPr>
            <p:ph type="title"/>
          </p:nvPr>
        </p:nvSpPr>
        <p:spPr>
          <a:xfrm>
            <a:off x="2808000" y="144000"/>
            <a:ext cx="3528000" cy="338554"/>
          </a:xfr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9">
            <a:extLst>
              <a:ext uri="{FF2B5EF4-FFF2-40B4-BE49-F238E27FC236}">
                <a16:creationId xmlns:a16="http://schemas.microsoft.com/office/drawing/2014/main" id="{510585FD-76E3-2C51-737E-8E9D058C27B9}"/>
              </a:ext>
            </a:extLst>
          </p:cNvPr>
          <p:cNvSpPr>
            <a:spLocks noChangeArrowheads="1"/>
          </p:cNvSpPr>
          <p:nvPr/>
        </p:nvSpPr>
        <p:spPr bwMode="auto">
          <a:xfrm>
            <a:off x="2077541" y="1367482"/>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A30B284D-F4D5-B8C7-5CA1-126D85378BD7}"/>
              </a:ext>
            </a:extLst>
          </p:cNvPr>
          <p:cNvSpPr txBox="1">
            <a:spLocks noChangeArrowheads="1"/>
          </p:cNvSpPr>
          <p:nvPr/>
        </p:nvSpPr>
        <p:spPr bwMode="auto">
          <a:xfrm>
            <a:off x="2627321" y="104388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4" name="表格 3">
            <a:extLst>
              <a:ext uri="{FF2B5EF4-FFF2-40B4-BE49-F238E27FC236}">
                <a16:creationId xmlns:a16="http://schemas.microsoft.com/office/drawing/2014/main" id="{09C3C181-F605-FFBE-8753-3A98212D8394}"/>
              </a:ext>
            </a:extLst>
          </p:cNvPr>
          <p:cNvGraphicFramePr>
            <a:graphicFrameLocks noGrp="1"/>
          </p:cNvGraphicFramePr>
          <p:nvPr>
            <p:extLst>
              <p:ext uri="{D42A27DB-BD31-4B8C-83A1-F6EECF244321}">
                <p14:modId xmlns:p14="http://schemas.microsoft.com/office/powerpoint/2010/main" val="2909457646"/>
              </p:ext>
            </p:extLst>
          </p:nvPr>
        </p:nvGraphicFramePr>
        <p:xfrm>
          <a:off x="2077541" y="1460684"/>
          <a:ext cx="381046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tblGrid>
              <a:tr h="370840">
                <a:tc>
                  <a:txBody>
                    <a:bodyPr/>
                    <a:lstStyle/>
                    <a:p>
                      <a:pPr algn="ctr"/>
                      <a:r>
                        <a:rPr lang="en-US" altLang="zh-CN" sz="1200" b="0" dirty="0">
                          <a:solidFill>
                            <a:schemeClr val="bg1"/>
                          </a:solidFill>
                          <a:latin typeface="Montserrat" panose="00000500000000000000" pitchFamily="2" charset="0"/>
                        </a:rPr>
                        <a:t>1</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2</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97555976-9D9F-DBF8-B4BB-59EC46CC0D6C}"/>
              </a:ext>
            </a:extLst>
          </p:cNvPr>
          <p:cNvSpPr>
            <a:spLocks/>
          </p:cNvSpPr>
          <p:nvPr/>
        </p:nvSpPr>
        <p:spPr bwMode="auto">
          <a:xfrm rot="16200000">
            <a:off x="2959541" y="1196024"/>
            <a:ext cx="108000" cy="1872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5DA8E950-E41F-7F2F-5B94-9137AFD5B77B}"/>
              </a:ext>
            </a:extLst>
          </p:cNvPr>
          <p:cNvSpPr>
            <a:spLocks/>
          </p:cNvSpPr>
          <p:nvPr/>
        </p:nvSpPr>
        <p:spPr bwMode="auto">
          <a:xfrm rot="16200000">
            <a:off x="4889670"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5248DE04-6313-6A3F-1CE9-2BCE48AF65C6}"/>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363798F4-B72C-9CD2-B2B8-BD7B4A556B75}"/>
              </a:ext>
            </a:extLst>
          </p:cNvPr>
          <p:cNvSpPr txBox="1"/>
          <p:nvPr/>
        </p:nvSpPr>
        <p:spPr>
          <a:xfrm>
            <a:off x="4620504"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13" name="Rectangle 29">
            <a:extLst>
              <a:ext uri="{FF2B5EF4-FFF2-40B4-BE49-F238E27FC236}">
                <a16:creationId xmlns:a16="http://schemas.microsoft.com/office/drawing/2014/main" id="{27586C2A-7AA8-282A-342D-A518FB16A6D7}"/>
              </a:ext>
            </a:extLst>
          </p:cNvPr>
          <p:cNvSpPr>
            <a:spLocks noChangeArrowheads="1"/>
          </p:cNvSpPr>
          <p:nvPr/>
        </p:nvSpPr>
        <p:spPr bwMode="auto">
          <a:xfrm>
            <a:off x="2077541" y="3061624"/>
            <a:ext cx="1899779"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4" name="Text Box 31">
            <a:extLst>
              <a:ext uri="{FF2B5EF4-FFF2-40B4-BE49-F238E27FC236}">
                <a16:creationId xmlns:a16="http://schemas.microsoft.com/office/drawing/2014/main" id="{5325A869-A051-377D-88C6-85257C27932C}"/>
              </a:ext>
            </a:extLst>
          </p:cNvPr>
          <p:cNvSpPr txBox="1">
            <a:spLocks noChangeArrowheads="1"/>
          </p:cNvSpPr>
          <p:nvPr/>
        </p:nvSpPr>
        <p:spPr bwMode="auto">
          <a:xfrm>
            <a:off x="2627321" y="273802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15" name="表格 14">
            <a:extLst>
              <a:ext uri="{FF2B5EF4-FFF2-40B4-BE49-F238E27FC236}">
                <a16:creationId xmlns:a16="http://schemas.microsoft.com/office/drawing/2014/main" id="{01C39073-D782-19A6-200E-C32A195B6D28}"/>
              </a:ext>
            </a:extLst>
          </p:cNvPr>
          <p:cNvGraphicFramePr>
            <a:graphicFrameLocks noGrp="1"/>
          </p:cNvGraphicFramePr>
          <p:nvPr>
            <p:extLst>
              <p:ext uri="{D42A27DB-BD31-4B8C-83A1-F6EECF244321}">
                <p14:modId xmlns:p14="http://schemas.microsoft.com/office/powerpoint/2010/main" val="1277884119"/>
              </p:ext>
            </p:extLst>
          </p:nvPr>
        </p:nvGraphicFramePr>
        <p:xfrm>
          <a:off x="1124777" y="3154826"/>
          <a:ext cx="3810472" cy="370840"/>
        </p:xfrm>
        <a:graphic>
          <a:graphicData uri="http://schemas.openxmlformats.org/drawingml/2006/table">
            <a:tbl>
              <a:tblPr firstRow="1" bandRow="1">
                <a:tableStyleId>{5C22544A-7EE6-4342-B048-85BDC9FD1C3A}</a:tableStyleId>
              </a:tblPr>
              <a:tblGrid>
                <a:gridCol w="476309">
                  <a:extLst>
                    <a:ext uri="{9D8B030D-6E8A-4147-A177-3AD203B41FA5}">
                      <a16:colId xmlns:a16="http://schemas.microsoft.com/office/drawing/2014/main" val="1392981243"/>
                    </a:ext>
                  </a:extLst>
                </a:gridCol>
                <a:gridCol w="476309">
                  <a:extLst>
                    <a:ext uri="{9D8B030D-6E8A-4147-A177-3AD203B41FA5}">
                      <a16:colId xmlns:a16="http://schemas.microsoft.com/office/drawing/2014/main" val="212317948"/>
                    </a:ext>
                  </a:extLst>
                </a:gridCol>
                <a:gridCol w="476309">
                  <a:extLst>
                    <a:ext uri="{9D8B030D-6E8A-4147-A177-3AD203B41FA5}">
                      <a16:colId xmlns:a16="http://schemas.microsoft.com/office/drawing/2014/main" val="4122724786"/>
                    </a:ext>
                  </a:extLst>
                </a:gridCol>
                <a:gridCol w="476309">
                  <a:extLst>
                    <a:ext uri="{9D8B030D-6E8A-4147-A177-3AD203B41FA5}">
                      <a16:colId xmlns:a16="http://schemas.microsoft.com/office/drawing/2014/main" val="1728774863"/>
                    </a:ext>
                  </a:extLst>
                </a:gridCol>
                <a:gridCol w="476309">
                  <a:extLst>
                    <a:ext uri="{9D8B030D-6E8A-4147-A177-3AD203B41FA5}">
                      <a16:colId xmlns:a16="http://schemas.microsoft.com/office/drawing/2014/main" val="855356992"/>
                    </a:ext>
                  </a:extLst>
                </a:gridCol>
                <a:gridCol w="476309">
                  <a:extLst>
                    <a:ext uri="{9D8B030D-6E8A-4147-A177-3AD203B41FA5}">
                      <a16:colId xmlns:a16="http://schemas.microsoft.com/office/drawing/2014/main" val="1700185165"/>
                    </a:ext>
                  </a:extLst>
                </a:gridCol>
                <a:gridCol w="476309">
                  <a:extLst>
                    <a:ext uri="{9D8B030D-6E8A-4147-A177-3AD203B41FA5}">
                      <a16:colId xmlns:a16="http://schemas.microsoft.com/office/drawing/2014/main" val="3830274490"/>
                    </a:ext>
                  </a:extLst>
                </a:gridCol>
                <a:gridCol w="476309">
                  <a:extLst>
                    <a:ext uri="{9D8B030D-6E8A-4147-A177-3AD203B41FA5}">
                      <a16:colId xmlns:a16="http://schemas.microsoft.com/office/drawing/2014/main" val="916734300"/>
                    </a:ext>
                  </a:extLst>
                </a:gridCol>
              </a:tblGrid>
              <a:tr h="370840">
                <a:tc>
                  <a:txBody>
                    <a:bodyPr/>
                    <a:lstStyle/>
                    <a:p>
                      <a:pPr algn="ctr"/>
                      <a:r>
                        <a:rPr lang="en-US" altLang="zh-CN" sz="1200" b="0" dirty="0">
                          <a:solidFill>
                            <a:sysClr val="windowText" lastClr="000000"/>
                          </a:solidFill>
                          <a:latin typeface="Montserrat" panose="00000500000000000000" pitchFamily="2" charset="0"/>
                        </a:rPr>
                        <a:t>1</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ysClr val="windowText" lastClr="000000"/>
                          </a:solidFill>
                          <a:latin typeface="Montserrat" panose="00000500000000000000" pitchFamily="2" charset="0"/>
                        </a:rPr>
                        <a:t>2</a:t>
                      </a:r>
                      <a:endParaRPr lang="zh-CN" altLang="en-US" sz="1200" b="0" dirty="0">
                        <a:solidFill>
                          <a:sysClr val="windowText" lastClr="000000"/>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CN" sz="1200" b="0" dirty="0">
                          <a:solidFill>
                            <a:schemeClr val="bg1"/>
                          </a:solidFill>
                          <a:latin typeface="Montserrat" panose="00000500000000000000" pitchFamily="2" charset="0"/>
                        </a:rPr>
                        <a:t>3</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marL="0" algn="ctr" defTabSz="914400" rtl="0" eaLnBrk="1" latinLnBrk="0" hangingPunct="1"/>
                      <a:r>
                        <a:rPr lang="en-US" altLang="zh-CN" sz="1200" b="0" kern="1200" dirty="0">
                          <a:solidFill>
                            <a:schemeClr val="bg1"/>
                          </a:solidFill>
                          <a:latin typeface="Montserrat" panose="00000500000000000000" pitchFamily="2" charset="0"/>
                          <a:ea typeface="+mn-ea"/>
                          <a:cs typeface="+mn-cs"/>
                        </a:rPr>
                        <a:t>4</a:t>
                      </a:r>
                      <a:endParaRPr lang="zh-CN" altLang="en-US" sz="1200" b="0" kern="1200" dirty="0">
                        <a:solidFill>
                          <a:schemeClr val="bg1"/>
                        </a:solidFill>
                        <a:latin typeface="Montserrat" panose="00000500000000000000" pitchFamily="2" charset="0"/>
                        <a:ea typeface="+mn-ea"/>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r>
                        <a:rPr lang="en-US" altLang="zh-CN" sz="1200" b="0" dirty="0">
                          <a:solidFill>
                            <a:schemeClr val="bg1"/>
                          </a:solidFill>
                          <a:latin typeface="Montserrat" panose="00000500000000000000" pitchFamily="2" charset="0"/>
                        </a:rPr>
                        <a:t>5</a:t>
                      </a: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6</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r>
                        <a:rPr lang="en-US" altLang="zh-CN" sz="1200" b="0" dirty="0">
                          <a:solidFill>
                            <a:schemeClr val="bg1"/>
                          </a:solidFill>
                          <a:latin typeface="Montserrat" panose="00000500000000000000" pitchFamily="2" charset="0"/>
                        </a:rPr>
                        <a:t>7</a:t>
                      </a:r>
                      <a:endParaRPr lang="zh-CN" altLang="en-US" sz="1200" b="0" dirty="0">
                        <a:solidFill>
                          <a:schemeClr val="bg1"/>
                        </a:solidFill>
                        <a:latin typeface="Montserrat" panose="00000500000000000000" pitchFamily="2" charset="0"/>
                      </a:endParaRPr>
                    </a:p>
                  </a:txBody>
                  <a:tcPr anchor="ctr">
                    <a:lnL w="6350" cap="flat" cmpd="sng" algn="ctr">
                      <a:solidFill>
                        <a:schemeClr val="bg1">
                          <a:lumMod val="95000"/>
                        </a:schemeClr>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r>
                        <a:rPr lang="en-US" altLang="zh-CN" sz="1200" b="0" dirty="0">
                          <a:solidFill>
                            <a:schemeClr val="bg1"/>
                          </a:solidFill>
                          <a:latin typeface="Montserrat" panose="00000500000000000000" pitchFamily="2" charset="0"/>
                        </a:rPr>
                        <a:t>…</a:t>
                      </a: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16" name="AutoShape 26">
            <a:extLst>
              <a:ext uri="{FF2B5EF4-FFF2-40B4-BE49-F238E27FC236}">
                <a16:creationId xmlns:a16="http://schemas.microsoft.com/office/drawing/2014/main" id="{89CDD3BD-7E8C-CB72-5F4E-E9C352C657A1}"/>
              </a:ext>
            </a:extLst>
          </p:cNvPr>
          <p:cNvSpPr>
            <a:spLocks/>
          </p:cNvSpPr>
          <p:nvPr/>
        </p:nvSpPr>
        <p:spPr bwMode="auto">
          <a:xfrm rot="16200000">
            <a:off x="2491541" y="3358166"/>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 name="AutoShape 26">
            <a:extLst>
              <a:ext uri="{FF2B5EF4-FFF2-40B4-BE49-F238E27FC236}">
                <a16:creationId xmlns:a16="http://schemas.microsoft.com/office/drawing/2014/main" id="{5D509D0B-E1D8-5232-2A70-FDF6C1D0EACD}"/>
              </a:ext>
            </a:extLst>
          </p:cNvPr>
          <p:cNvSpPr>
            <a:spLocks/>
          </p:cNvSpPr>
          <p:nvPr/>
        </p:nvSpPr>
        <p:spPr bwMode="auto">
          <a:xfrm rot="16200000">
            <a:off x="1556012" y="3376165"/>
            <a:ext cx="108000" cy="90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 name="AutoShape 26">
            <a:extLst>
              <a:ext uri="{FF2B5EF4-FFF2-40B4-BE49-F238E27FC236}">
                <a16:creationId xmlns:a16="http://schemas.microsoft.com/office/drawing/2014/main" id="{C803CF8D-A891-2BC4-3827-F29363E42178}"/>
              </a:ext>
            </a:extLst>
          </p:cNvPr>
          <p:cNvSpPr>
            <a:spLocks/>
          </p:cNvSpPr>
          <p:nvPr/>
        </p:nvSpPr>
        <p:spPr bwMode="auto">
          <a:xfrm rot="16200000">
            <a:off x="4655670" y="3142166"/>
            <a:ext cx="108000" cy="13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9" name="文本框 18">
            <a:extLst>
              <a:ext uri="{FF2B5EF4-FFF2-40B4-BE49-F238E27FC236}">
                <a16:creationId xmlns:a16="http://schemas.microsoft.com/office/drawing/2014/main" id="{A120F788-1AF6-38A3-4D72-2F6CFB3B5712}"/>
              </a:ext>
            </a:extLst>
          </p:cNvPr>
          <p:cNvSpPr txBox="1"/>
          <p:nvPr/>
        </p:nvSpPr>
        <p:spPr>
          <a:xfrm>
            <a:off x="2222376"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20" name="文本框 19">
            <a:extLst>
              <a:ext uri="{FF2B5EF4-FFF2-40B4-BE49-F238E27FC236}">
                <a16:creationId xmlns:a16="http://schemas.microsoft.com/office/drawing/2014/main" id="{951C26E7-8F9C-4058-82A5-252516D11D04}"/>
              </a:ext>
            </a:extLst>
          </p:cNvPr>
          <p:cNvSpPr txBox="1"/>
          <p:nvPr/>
        </p:nvSpPr>
        <p:spPr>
          <a:xfrm>
            <a:off x="1286847" y="3951911"/>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21" name="文本框 20">
            <a:extLst>
              <a:ext uri="{FF2B5EF4-FFF2-40B4-BE49-F238E27FC236}">
                <a16:creationId xmlns:a16="http://schemas.microsoft.com/office/drawing/2014/main" id="{FA8E5AEA-FAC9-BEC5-E749-69CC20384CA0}"/>
              </a:ext>
            </a:extLst>
          </p:cNvPr>
          <p:cNvSpPr txBox="1"/>
          <p:nvPr/>
        </p:nvSpPr>
        <p:spPr>
          <a:xfrm>
            <a:off x="4620504" y="3951911"/>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2" name="AutoShape 26">
            <a:extLst>
              <a:ext uri="{FF2B5EF4-FFF2-40B4-BE49-F238E27FC236}">
                <a16:creationId xmlns:a16="http://schemas.microsoft.com/office/drawing/2014/main" id="{CD6C5CD8-DD48-59E2-64DC-A687840DDE7A}"/>
              </a:ext>
            </a:extLst>
          </p:cNvPr>
          <p:cNvSpPr>
            <a:spLocks/>
          </p:cNvSpPr>
          <p:nvPr/>
        </p:nvSpPr>
        <p:spPr bwMode="auto">
          <a:xfrm rot="16200000">
            <a:off x="3465606" y="3368623"/>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23" name="文本框 22">
            <a:extLst>
              <a:ext uri="{FF2B5EF4-FFF2-40B4-BE49-F238E27FC236}">
                <a16:creationId xmlns:a16="http://schemas.microsoft.com/office/drawing/2014/main" id="{0B176486-8A19-551C-56D3-42941DA3AAE6}"/>
              </a:ext>
            </a:extLst>
          </p:cNvPr>
          <p:cNvSpPr txBox="1"/>
          <p:nvPr/>
        </p:nvSpPr>
        <p:spPr>
          <a:xfrm>
            <a:off x="3196441" y="3962368"/>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48850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2808000" y="144000"/>
            <a:ext cx="3528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2808000" y="144000"/>
            <a:ext cx="3528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89163BE2-6C7C-4F7F-4B65-92111999F231}"/>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
        <p:nvSpPr>
          <p:cNvPr id="2" name="Rectangle 81">
            <a:extLst>
              <a:ext uri="{FF2B5EF4-FFF2-40B4-BE49-F238E27FC236}">
                <a16:creationId xmlns:a16="http://schemas.microsoft.com/office/drawing/2014/main" id="{E050A056-0D8E-13F2-DAE3-CCCC3842379C}"/>
              </a:ext>
            </a:extLst>
          </p:cNvPr>
          <p:cNvSpPr>
            <a:spLocks noChangeArrowheads="1"/>
          </p:cNvSpPr>
          <p:nvPr/>
        </p:nvSpPr>
        <p:spPr bwMode="auto">
          <a:xfrm>
            <a:off x="2173199" y="1296751"/>
            <a:ext cx="4716036"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pitchFamily="34" charset="-122"/>
              </a:rPr>
              <a:t>0                                    8                                 16                                  24                             31</a:t>
            </a: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482554"/>
            <a:ext cx="8172000" cy="4120946"/>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2808000" y="144000"/>
            <a:ext cx="3528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482554"/>
            <a:ext cx="8172000" cy="4120946"/>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2808000" y="144000"/>
            <a:ext cx="3528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2808000" y="144000"/>
            <a:ext cx="3528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2808000" y="144000"/>
            <a:ext cx="3528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241ACFCD-9219-D4E8-AE10-8CF8D3299AD7}"/>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98A17AEF-4EC1-8860-81F8-7B5672C5C2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5" name="内容占位符 4">
            <a:extLst>
              <a:ext uri="{FF2B5EF4-FFF2-40B4-BE49-F238E27FC236}">
                <a16:creationId xmlns:a16="http://schemas.microsoft.com/office/drawing/2014/main" id="{10F75868-3A2C-93BA-10EA-145046B567F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a:xfrm>
            <a:off x="2808000" y="144000"/>
            <a:ext cx="3528000" cy="338554"/>
          </a:xfrm>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a:xfrm>
            <a:off x="2808000" y="144000"/>
            <a:ext cx="3528000" cy="338554"/>
          </a:xfrm>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482554"/>
            <a:ext cx="8172000" cy="4120946"/>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2808000" y="144000"/>
            <a:ext cx="3528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a:xfrm>
            <a:off x="2808000" y="144000"/>
            <a:ext cx="3528000" cy="338554"/>
          </a:xfrm>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2808000" y="144000"/>
            <a:ext cx="3528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a:xfrm>
            <a:off x="2808000" y="144000"/>
            <a:ext cx="3528000" cy="338554"/>
          </a:xfrm>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a:xfrm>
            <a:off x="2808000" y="144000"/>
            <a:ext cx="3528000" cy="338554"/>
          </a:xfrm>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2808000" y="144000"/>
            <a:ext cx="3528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2808000" y="144000"/>
            <a:ext cx="3528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2808000" y="144000"/>
            <a:ext cx="3528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482554"/>
            <a:ext cx="8172000" cy="4120946"/>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网络利用率降低。</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例如：仅 </a:t>
              </a:r>
              <a:r>
                <a:rPr lang="en-US" altLang="zh-CN" sz="1400" kern="1200" dirty="0">
                  <a:latin typeface="微软雅黑 Light" panose="020B0502040204020203" pitchFamily="34" charset="-122"/>
                  <a:ea typeface="微软雅黑 Light" panose="020B0502040204020203" pitchFamily="34" charset="-122"/>
                </a:rPr>
                <a:t>1 </a:t>
              </a:r>
              <a:r>
                <a:rPr lang="zh-CN" altLang="en-US" sz="1400" kern="1200" dirty="0">
                  <a:latin typeface="微软雅黑 Light" panose="020B0502040204020203" pitchFamily="34" charset="-122"/>
                  <a:ea typeface="微软雅黑 Light" panose="020B0502040204020203" pitchFamily="34" charset="-122"/>
                </a:rPr>
                <a:t>个字节。利用率就不会超过</a:t>
              </a:r>
              <a:r>
                <a:rPr lang="en-US" altLang="en-US" sz="1400" kern="1200" dirty="0">
                  <a:latin typeface="微软雅黑 Light" panose="020B0502040204020203" pitchFamily="34" charset="-122"/>
                  <a:ea typeface="微软雅黑 Light" panose="020B0502040204020203" pitchFamily="34" charset="-122"/>
                </a:rPr>
                <a:t>1/41</a:t>
              </a:r>
              <a:r>
                <a:rPr lang="zh-CN" altLang="en-US" sz="1400" kern="1200" dirty="0">
                  <a:latin typeface="微软雅黑 Light" panose="020B0502040204020203" pitchFamily="34" charset="-122"/>
                  <a:ea typeface="微软雅黑 Light" panose="020B0502040204020203"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rgbClr val="000066"/>
                  </a:solidFill>
                  <a:latin typeface="微软雅黑 Light" panose="020B0502040204020203" pitchFamily="34" charset="-122"/>
                  <a:ea typeface="微软雅黑 Light" panose="020B0502040204020203"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开销增大。</a:t>
              </a:r>
            </a:p>
            <a:p>
              <a:pPr marL="114300" lvl="1" indent="-114300" algn="l" defTabSz="533400">
                <a:lnSpc>
                  <a:spcPts val="2400"/>
                </a:lnSpc>
                <a:spcBef>
                  <a:spcPct val="0"/>
                </a:spcBef>
                <a:spcAft>
                  <a:spcPts val="0"/>
                </a:spcAft>
                <a:buChar char="••"/>
              </a:pP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层传输时要分片，终点要装配。</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kern="1200" dirty="0">
                  <a:solidFill>
                    <a:schemeClr val="bg1"/>
                  </a:solidFill>
                  <a:latin typeface="微软雅黑 Light" panose="020B0502040204020203" pitchFamily="34" charset="-122"/>
                  <a:ea typeface="微软雅黑 Light" panose="020B0502040204020203"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只要在 </a:t>
              </a:r>
              <a:r>
                <a:rPr lang="en-US" altLang="en-US" sz="1400" kern="1200" dirty="0">
                  <a:latin typeface="微软雅黑 Light" panose="020B0502040204020203" pitchFamily="34" charset="-122"/>
                  <a:ea typeface="微软雅黑 Light" panose="020B0502040204020203" pitchFamily="34" charset="-122"/>
                </a:rPr>
                <a:t>IP </a:t>
              </a:r>
              <a:r>
                <a:rPr lang="zh-CN" altLang="en-US" sz="1400" kern="1200" dirty="0">
                  <a:latin typeface="微软雅黑 Light" panose="020B0502040204020203" pitchFamily="34" charset="-122"/>
                  <a:ea typeface="微软雅黑 Light" panose="020B0502040204020203" pitchFamily="34" charset="-122"/>
                </a:rPr>
                <a:t>层传输时不再分片。</a:t>
              </a:r>
            </a:p>
            <a:p>
              <a:pPr marL="114300" lvl="1" indent="-114300" algn="l" defTabSz="533400">
                <a:lnSpc>
                  <a:spcPts val="2400"/>
                </a:lnSpc>
                <a:spcBef>
                  <a:spcPct val="0"/>
                </a:spcBef>
                <a:spcAft>
                  <a:spcPts val="0"/>
                </a:spcAft>
                <a:buChar char="••"/>
              </a:pPr>
              <a:r>
                <a:rPr lang="zh-CN" altLang="en-US" sz="1400" kern="1200" dirty="0">
                  <a:latin typeface="微软雅黑 Light" panose="020B0502040204020203" pitchFamily="34" charset="-122"/>
                  <a:ea typeface="微软雅黑 Light" panose="020B0502040204020203" pitchFamily="34" charset="-122"/>
                </a:rPr>
                <a:t>默认值</a:t>
              </a:r>
              <a:r>
                <a:rPr lang="en-US" altLang="zh-CN"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kern="1200" dirty="0">
                  <a:solidFill>
                    <a:srgbClr val="C00000"/>
                  </a:solidFill>
                  <a:latin typeface="微软雅黑 Light" panose="020B0502040204020203" pitchFamily="34" charset="-122"/>
                  <a:ea typeface="微软雅黑 Light" panose="020B0502040204020203" pitchFamily="34" charset="-122"/>
                </a:rPr>
                <a:t>报文段长度 </a:t>
              </a:r>
              <a:r>
                <a:rPr lang="en-US" altLang="zh-CN" sz="1400" kern="1200" dirty="0">
                  <a:latin typeface="微软雅黑 Light" panose="020B0502040204020203" pitchFamily="34" charset="-122"/>
                  <a:ea typeface="微软雅黑 Light" panose="020B0502040204020203" pitchFamily="34" charset="-122"/>
                </a:rPr>
                <a:t>=</a:t>
              </a:r>
              <a:r>
                <a:rPr lang="zh-CN" altLang="en-US" sz="1400" kern="1200" dirty="0">
                  <a:latin typeface="微软雅黑 Light" panose="020B0502040204020203" pitchFamily="34" charset="-122"/>
                  <a:ea typeface="微软雅黑 Light" panose="020B0502040204020203" pitchFamily="34" charset="-122"/>
                </a:rPr>
                <a:t> </a:t>
              </a:r>
              <a:r>
                <a:rPr lang="en-US" altLang="en-US" sz="1400" kern="1200" dirty="0">
                  <a:latin typeface="微软雅黑 Light" panose="020B0502040204020203" pitchFamily="34" charset="-122"/>
                  <a:ea typeface="微软雅黑 Light" panose="020B0502040204020203" pitchFamily="34" charset="-122"/>
                </a:rPr>
                <a:t>536 </a:t>
              </a:r>
              <a:r>
                <a:rPr lang="en-US" altLang="zh-CN" sz="1400" kern="1200" dirty="0">
                  <a:latin typeface="微软雅黑 Light" panose="020B0502040204020203" pitchFamily="34" charset="-122"/>
                  <a:ea typeface="微软雅黑 Light" panose="020B0502040204020203" pitchFamily="34" charset="-122"/>
                </a:rPr>
                <a:t>+</a:t>
              </a:r>
              <a:r>
                <a:rPr lang="en-US" altLang="en-US" sz="1400" kern="1200" dirty="0">
                  <a:latin typeface="微软雅黑 Light" panose="020B0502040204020203" pitchFamily="34" charset="-122"/>
                  <a:ea typeface="微软雅黑 Light" panose="020B0502040204020203" pitchFamily="34" charset="-122"/>
                </a:rPr>
                <a:t> 20 </a:t>
              </a:r>
              <a:r>
                <a:rPr lang="en-US" altLang="zh-CN" sz="1400" kern="1200" dirty="0">
                  <a:latin typeface="微软雅黑 Light" panose="020B0502040204020203" pitchFamily="34" charset="-122"/>
                  <a:ea typeface="微软雅黑 Light" panose="020B0502040204020203" pitchFamily="34" charset="-122"/>
                </a:rPr>
                <a:t>= 556 </a:t>
              </a:r>
              <a:r>
                <a:rPr lang="zh-CN" altLang="en-US" sz="1400" kern="1200" dirty="0">
                  <a:latin typeface="微软雅黑 Light" panose="020B0502040204020203" pitchFamily="34" charset="-122"/>
                  <a:ea typeface="微软雅黑 Light" panose="020B0502040204020203" pitchFamily="34" charset="-122"/>
                </a:rPr>
                <a:t>字节。</a:t>
              </a:r>
              <a:endParaRPr lang="en-US" altLang="zh-CN" sz="1400" kern="1200" dirty="0">
                <a:latin typeface="微软雅黑 Light" panose="020B0502040204020203" pitchFamily="34" charset="-122"/>
                <a:ea typeface="微软雅黑 Light" panose="020B0502040204020203"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dirty="0">
                  <a:solidFill>
                    <a:srgbClr val="C00000"/>
                  </a:solidFill>
                  <a:latin typeface="微软雅黑 Light" panose="020B0502040204020203" pitchFamily="34" charset="-122"/>
                  <a:ea typeface="微软雅黑 Light" panose="020B0502040204020203" pitchFamily="34" charset="-122"/>
                </a:rPr>
                <a:t>IP </a:t>
              </a:r>
              <a:r>
                <a:rPr lang="zh-CN" altLang="en-US" sz="1400" dirty="0">
                  <a:solidFill>
                    <a:srgbClr val="C00000"/>
                  </a:solidFill>
                  <a:latin typeface="微软雅黑 Light" panose="020B0502040204020203" pitchFamily="34" charset="-122"/>
                  <a:ea typeface="微软雅黑 Light" panose="020B0502040204020203" pitchFamily="34" charset="-122"/>
                </a:rPr>
                <a:t>数据报长度 </a:t>
              </a:r>
              <a:r>
                <a:rPr lang="en-US" altLang="zh-CN" sz="1400" dirty="0">
                  <a:latin typeface="微软雅黑 Light" panose="020B0502040204020203" pitchFamily="34" charset="-122"/>
                  <a:ea typeface="微软雅黑 Light" panose="020B0502040204020203" pitchFamily="34" charset="-122"/>
                </a:rPr>
                <a:t>= 576 </a:t>
              </a:r>
              <a:r>
                <a:rPr lang="zh-CN" altLang="en-US" sz="1400" dirty="0">
                  <a:latin typeface="微软雅黑 Light" panose="020B0502040204020203" pitchFamily="34" charset="-122"/>
                  <a:ea typeface="微软雅黑 Light" panose="020B0502040204020203" pitchFamily="34" charset="-122"/>
                </a:rPr>
                <a:t>字节。</a:t>
              </a:r>
              <a:endParaRPr lang="zh-CN" altLang="en-US" sz="1400" kern="1200"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2808000" y="144000"/>
            <a:ext cx="3528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482554"/>
            <a:ext cx="8172000" cy="4120946"/>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2808000" y="144000"/>
            <a:ext cx="3528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482554"/>
            <a:ext cx="8172000" cy="4120946"/>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2808000" y="144000"/>
            <a:ext cx="3528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2808000" y="144000"/>
            <a:ext cx="3528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2808000" y="144000"/>
            <a:ext cx="3528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2808000" y="144000"/>
            <a:ext cx="3528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78069E6E-7A2C-A3C2-975C-E91CF4938E5A}"/>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 name="标题 4">
            <a:extLst>
              <a:ext uri="{FF2B5EF4-FFF2-40B4-BE49-F238E27FC236}">
                <a16:creationId xmlns:a16="http://schemas.microsoft.com/office/drawing/2014/main" id="{BC5DAA80-B8FA-8022-B2B0-4CE6F4878854}"/>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B70805F-8B96-F9FF-256E-A05DBF3F6F4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 name="标题 3">
            <a:extLst>
              <a:ext uri="{FF2B5EF4-FFF2-40B4-BE49-F238E27FC236}">
                <a16:creationId xmlns:a16="http://schemas.microsoft.com/office/drawing/2014/main" id="{42148C3E-F242-EA04-26CC-6FC81667252F}"/>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3B849BE9-24C1-E7FA-1E9B-1609FD404DA8}"/>
              </a:ext>
            </a:extLst>
          </p:cNvPr>
          <p:cNvSpPr>
            <a:spLocks noGrp="1"/>
          </p:cNvSpPr>
          <p:nvPr>
            <p:ph type="title"/>
          </p:nvPr>
        </p:nvSpPr>
        <p:spPr>
          <a:xfrm>
            <a:off x="2808000" y="144000"/>
            <a:ext cx="3528000" cy="338554"/>
          </a:xfrm>
        </p:spPr>
        <p:txBody>
          <a:bodyPr/>
          <a:lstStyle/>
          <a:p>
            <a:r>
              <a:rPr lang="zh-CN" altLang="en-US" dirty="0"/>
              <a:t>窗口的滑动</a:t>
            </a:r>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3" name="标题 2">
            <a:extLst>
              <a:ext uri="{FF2B5EF4-FFF2-40B4-BE49-F238E27FC236}">
                <a16:creationId xmlns:a16="http://schemas.microsoft.com/office/drawing/2014/main" id="{258A2BB8-31AD-1717-3A11-17E4A31F3448}"/>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2" name="标题 1">
            <a:extLst>
              <a:ext uri="{FF2B5EF4-FFF2-40B4-BE49-F238E27FC236}">
                <a16:creationId xmlns:a16="http://schemas.microsoft.com/office/drawing/2014/main" id="{0A223A69-B5E0-1D9D-83F2-B76F8612C3DA}"/>
              </a:ext>
            </a:extLst>
          </p:cNvPr>
          <p:cNvSpPr>
            <a:spLocks noGrp="1"/>
          </p:cNvSpPr>
          <p:nvPr>
            <p:ph type="title"/>
          </p:nvPr>
        </p:nvSpPr>
        <p:spPr/>
        <p:txBody>
          <a:bodyPr/>
          <a:lstStyle/>
          <a:p>
            <a:r>
              <a:rPr lang="zh-CN" altLang="en-US" dirty="0"/>
              <a:t>窗口的滑动</a:t>
            </a:r>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D7536310-9430-08A7-6E2F-DE6AF9321A36}"/>
              </a:ext>
            </a:extLst>
          </p:cNvPr>
          <p:cNvSpPr>
            <a:spLocks noGrp="1"/>
          </p:cNvSpPr>
          <p:nvPr>
            <p:ph type="title"/>
          </p:nvPr>
        </p:nvSpPr>
        <p:spPr/>
        <p:txBody>
          <a:bodyPr/>
          <a:lstStyle/>
          <a:p>
            <a:r>
              <a:rPr lang="zh-CN" altLang="en-US" dirty="0"/>
              <a:t>接收缓存与接收窗口 </a:t>
            </a:r>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3" name="标题 2">
            <a:extLst>
              <a:ext uri="{FF2B5EF4-FFF2-40B4-BE49-F238E27FC236}">
                <a16:creationId xmlns:a16="http://schemas.microsoft.com/office/drawing/2014/main" id="{F7FF0389-CBDA-6577-6E8D-DCFCF267C221}"/>
              </a:ext>
            </a:extLst>
          </p:cNvPr>
          <p:cNvSpPr>
            <a:spLocks noGrp="1"/>
          </p:cNvSpPr>
          <p:nvPr>
            <p:ph type="title"/>
          </p:nvPr>
        </p:nvSpPr>
        <p:spPr>
          <a:xfrm>
            <a:off x="2808000" y="144000"/>
            <a:ext cx="3528000" cy="338554"/>
          </a:xfrm>
        </p:spPr>
        <p:txBody>
          <a:bodyPr/>
          <a:lstStyle/>
          <a:p>
            <a:r>
              <a:rPr lang="zh-CN" altLang="en-US" dirty="0"/>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482554"/>
            <a:ext cx="8172000" cy="4120946"/>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2808000" y="144000"/>
            <a:ext cx="3528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2808000" y="144000"/>
            <a:ext cx="3528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482554"/>
            <a:ext cx="8172000" cy="4120946"/>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2808000" y="144000"/>
            <a:ext cx="3528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9" name="标题 8">
            <a:extLst>
              <a:ext uri="{FF2B5EF4-FFF2-40B4-BE49-F238E27FC236}">
                <a16:creationId xmlns:a16="http://schemas.microsoft.com/office/drawing/2014/main" id="{308799B6-8E84-A84B-D298-D04FC447EDD9}"/>
              </a:ext>
            </a:extLst>
          </p:cNvPr>
          <p:cNvSpPr>
            <a:spLocks noGrp="1"/>
          </p:cNvSpPr>
          <p:nvPr>
            <p:ph type="title"/>
          </p:nvPr>
        </p:nvSpPr>
        <p:spPr>
          <a:xfrm>
            <a:off x="2808000" y="144000"/>
            <a:ext cx="3528000" cy="338554"/>
          </a:xfrm>
        </p:spPr>
        <p:txBody>
          <a:bodyPr/>
          <a:lstStyle/>
          <a:p>
            <a:r>
              <a:rPr lang="zh-CN" altLang="en-US" dirty="0"/>
              <a:t>加权平均往返时间 </a:t>
            </a:r>
            <a:r>
              <a:rPr lang="en-US" altLang="zh-CN" dirty="0"/>
              <a:t>RTTS </a:t>
            </a:r>
            <a:endParaRPr lang="zh-CN" altLang="en-US" dirty="0"/>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26C3B486-8EE6-6C03-8A91-155FD159FBD8}"/>
              </a:ext>
            </a:extLst>
          </p:cNvPr>
          <p:cNvSpPr>
            <a:spLocks noGrp="1"/>
          </p:cNvSpPr>
          <p:nvPr>
            <p:ph type="title"/>
          </p:nvPr>
        </p:nvSpPr>
        <p:spPr>
          <a:xfrm>
            <a:off x="2808000" y="144000"/>
            <a:ext cx="3528000" cy="338554"/>
          </a:xfrm>
        </p:spPr>
        <p:txBody>
          <a:bodyPr/>
          <a:lstStyle/>
          <a:p>
            <a:r>
              <a:rPr lang="zh-CN" altLang="en-US" dirty="0"/>
              <a:t>超时重传时间 </a:t>
            </a:r>
            <a:r>
              <a:rPr lang="en-US" altLang="zh-CN" dirty="0"/>
              <a:t>RTO</a:t>
            </a:r>
            <a:endParaRPr lang="zh-CN" altLang="en-US" dirty="0"/>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标题 19">
            <a:extLst>
              <a:ext uri="{FF2B5EF4-FFF2-40B4-BE49-F238E27FC236}">
                <a16:creationId xmlns:a16="http://schemas.microsoft.com/office/drawing/2014/main" id="{1596EA67-1DBF-208D-4CF7-1366E89AF17E}"/>
              </a:ext>
            </a:extLst>
          </p:cNvPr>
          <p:cNvSpPr>
            <a:spLocks noGrp="1"/>
          </p:cNvSpPr>
          <p:nvPr>
            <p:ph type="title"/>
          </p:nvPr>
        </p:nvSpPr>
        <p:spPr>
          <a:xfrm>
            <a:off x="2808000" y="144000"/>
            <a:ext cx="3528000" cy="338554"/>
          </a:xfrm>
        </p:spPr>
        <p:txBody>
          <a:bodyPr/>
          <a:lstStyle/>
          <a:p>
            <a:r>
              <a:rPr lang="zh-CN" altLang="en-US" dirty="0"/>
              <a:t>往返时间 </a:t>
            </a:r>
            <a:r>
              <a:rPr lang="en-US" altLang="zh-CN" dirty="0"/>
              <a:t>(RTT) </a:t>
            </a:r>
            <a:r>
              <a:rPr lang="zh-CN" altLang="en-US" dirty="0"/>
              <a:t>的测量相当复杂</a:t>
            </a:r>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4" name="标题 3">
            <a:extLst>
              <a:ext uri="{FF2B5EF4-FFF2-40B4-BE49-F238E27FC236}">
                <a16:creationId xmlns:a16="http://schemas.microsoft.com/office/drawing/2014/main" id="{04D3ED17-7AA6-4B6C-2056-4B1F11691F3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4" name="标题 3">
            <a:extLst>
              <a:ext uri="{FF2B5EF4-FFF2-40B4-BE49-F238E27FC236}">
                <a16:creationId xmlns:a16="http://schemas.microsoft.com/office/drawing/2014/main" id="{57E77E7F-94A1-D29C-13BA-EBB0887A398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9" name="标题 8">
            <a:extLst>
              <a:ext uri="{FF2B5EF4-FFF2-40B4-BE49-F238E27FC236}">
                <a16:creationId xmlns:a16="http://schemas.microsoft.com/office/drawing/2014/main" id="{DB56B080-E1B5-1069-DB96-786ED4854D9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7" name="标题 26">
            <a:extLst>
              <a:ext uri="{FF2B5EF4-FFF2-40B4-BE49-F238E27FC236}">
                <a16:creationId xmlns:a16="http://schemas.microsoft.com/office/drawing/2014/main" id="{CEA8387E-176B-9B28-850B-6B8F182A71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2808000" y="144000"/>
            <a:ext cx="3528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482554"/>
            <a:ext cx="8172000" cy="4120946"/>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2808000" y="144000"/>
            <a:ext cx="3528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90647"/>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107225"/>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501699"/>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85121"/>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93410"/>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4975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96173"/>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98936"/>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804462"/>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7884"/>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409988"/>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551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502257" y="4318277"/>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719587" y="4087597"/>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
        <p:nvSpPr>
          <p:cNvPr id="3" name="Rectangle 8">
            <a:extLst>
              <a:ext uri="{FF2B5EF4-FFF2-40B4-BE49-F238E27FC236}">
                <a16:creationId xmlns:a16="http://schemas.microsoft.com/office/drawing/2014/main" id="{170DC06B-F78A-7599-CF78-8745E451EA03}"/>
              </a:ext>
            </a:extLst>
          </p:cNvPr>
          <p:cNvSpPr>
            <a:spLocks noChangeArrowheads="1"/>
          </p:cNvSpPr>
          <p:nvPr/>
        </p:nvSpPr>
        <p:spPr bwMode="auto">
          <a:xfrm>
            <a:off x="1166162" y="2564664"/>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501, DATA</a:t>
            </a:r>
          </a:p>
        </p:txBody>
      </p:sp>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482554"/>
            <a:ext cx="8172000" cy="4120946"/>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2808000" y="144000"/>
            <a:ext cx="3528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482554"/>
            <a:ext cx="8172000" cy="4120946"/>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2808000" y="144000"/>
            <a:ext cx="3528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482554"/>
            <a:ext cx="8172000" cy="4120946"/>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2808000" y="144000"/>
            <a:ext cx="3528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dirty="0">
                <a:latin typeface="Montserrat" panose="00000500000000000000" pitchFamily="2" charset="0"/>
                <a:ea typeface="微软雅黑 Light" panose="020B0502040204020203" pitchFamily="34" charset="-122"/>
              </a:rPr>
              <a:t>数据</a:t>
            </a:r>
          </a:p>
        </p:txBody>
      </p:sp>
      <p:sp>
        <p:nvSpPr>
          <p:cNvPr id="7" name="矩形 6"/>
          <p:cNvSpPr/>
          <p:nvPr/>
        </p:nvSpPr>
        <p:spPr>
          <a:xfrm>
            <a:off x="5999256" y="2770942"/>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9" name="矩形 8"/>
          <p:cNvSpPr/>
          <p:nvPr/>
        </p:nvSpPr>
        <p:spPr>
          <a:xfrm>
            <a:off x="5999256" y="3267330"/>
            <a:ext cx="741178" cy="33963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1</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20</a:t>
            </a:r>
            <a:r>
              <a:rPr lang="zh-CN" altLang="en-US" sz="1200" dirty="0">
                <a:solidFill>
                  <a:schemeClr val="tx1"/>
                </a:solidFill>
                <a:latin typeface="Montserrat" panose="00000500000000000000" pitchFamily="2" charset="0"/>
                <a:ea typeface="微软雅黑 Light" panose="020B0502040204020203"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TCP </a:t>
            </a:r>
            <a:r>
              <a:rPr lang="zh-CN" altLang="en-US" sz="1400" dirty="0">
                <a:latin typeface="Montserrat" panose="00000500000000000000" pitchFamily="2" charset="0"/>
                <a:ea typeface="微软雅黑 Light" panose="020B0502040204020203"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数据报</a:t>
            </a:r>
          </a:p>
        </p:txBody>
      </p:sp>
      <p:sp>
        <p:nvSpPr>
          <p:cNvPr id="4" name="矩形 3"/>
          <p:cNvSpPr/>
          <p:nvPr/>
        </p:nvSpPr>
        <p:spPr>
          <a:xfrm>
            <a:off x="2408898" y="3770606"/>
            <a:ext cx="3900427" cy="338554"/>
          </a:xfrm>
          <a:prstGeom prst="rect">
            <a:avLst/>
          </a:prstGeom>
        </p:spPr>
        <p:txBody>
          <a:bodyPr wrap="none">
            <a:spAutoFit/>
          </a:bodyPr>
          <a:lstStyle/>
          <a:p>
            <a:r>
              <a:rPr lang="zh-CN" altLang="en-US" sz="1600" dirty="0">
                <a:latin typeface="Montserrat" panose="00000500000000000000" pitchFamily="2" charset="0"/>
                <a:ea typeface="微软雅黑 Light" panose="020B0502040204020203" pitchFamily="34" charset="-122"/>
              </a:rPr>
              <a:t>此时，有效数据传输效率 </a:t>
            </a:r>
            <a:r>
              <a:rPr lang="en-US" altLang="zh-CN" sz="1600" dirty="0">
                <a:latin typeface="Montserrat" panose="00000500000000000000" pitchFamily="2" charset="0"/>
                <a:ea typeface="微软雅黑 Light" panose="020B0502040204020203" pitchFamily="34" charset="-122"/>
              </a:rPr>
              <a:t>= 1/41 = 2.44%</a:t>
            </a:r>
            <a:endParaRPr lang="zh-CN" altLang="en-US" sz="1600" dirty="0">
              <a:latin typeface="Montserrat" panose="00000500000000000000" pitchFamily="2" charset="0"/>
              <a:ea typeface="微软雅黑 Light" panose="020B0502040204020203" pitchFamily="34" charset="-122"/>
            </a:endParaRPr>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482554"/>
            <a:ext cx="8172000" cy="4120946"/>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2808000" y="144000"/>
            <a:ext cx="3528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482554"/>
            <a:ext cx="8172000" cy="4120946"/>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grpSp>
        <p:nvGrpSpPr>
          <p:cNvPr id="6" name="组合 5"/>
          <p:cNvGrpSpPr/>
          <p:nvPr/>
        </p:nvGrpSpPr>
        <p:grpSpPr>
          <a:xfrm>
            <a:off x="3452893" y="1432833"/>
            <a:ext cx="4086001" cy="3206707"/>
            <a:chOff x="1442554" y="1491427"/>
            <a:chExt cx="6186146" cy="2522268"/>
          </a:xfrm>
        </p:grpSpPr>
        <p:sp>
          <p:nvSpPr>
            <p:cNvPr id="7" name="矩形 6"/>
            <p:cNvSpPr/>
            <p:nvPr/>
          </p:nvSpPr>
          <p:spPr>
            <a:xfrm>
              <a:off x="1442554" y="1491427"/>
              <a:ext cx="2592001" cy="28316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发送第 </a:t>
              </a:r>
              <a:r>
                <a:rPr lang="en-US" altLang="zh-CN" sz="1100" dirty="0">
                  <a:solidFill>
                    <a:schemeClr val="tx1"/>
                  </a:solidFill>
                  <a:latin typeface="Montserrat" panose="00000500000000000000" pitchFamily="2" charset="0"/>
                  <a:ea typeface="微软雅黑 Light" panose="020B0502040204020203" pitchFamily="34" charset="-122"/>
                </a:rPr>
                <a:t>1 </a:t>
              </a:r>
              <a:r>
                <a:rPr lang="zh-CN" altLang="en-US" sz="1100" dirty="0">
                  <a:solidFill>
                    <a:schemeClr val="tx1"/>
                  </a:solidFill>
                  <a:latin typeface="Montserrat" panose="00000500000000000000" pitchFamily="2" charset="0"/>
                  <a:ea typeface="微软雅黑 Light" panose="020B0502040204020203"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bg1"/>
                  </a:solidFill>
                  <a:latin typeface="Montserrat" panose="00000500000000000000" pitchFamily="2" charset="0"/>
                  <a:ea typeface="微软雅黑 Light" panose="020B0502040204020203" pitchFamily="34" charset="-122"/>
                </a:rPr>
                <a:t>收到确认？</a:t>
              </a:r>
            </a:p>
          </p:txBody>
        </p:sp>
        <p:sp>
          <p:nvSpPr>
            <p:cNvPr id="9" name="矩形 8"/>
            <p:cNvSpPr/>
            <p:nvPr/>
          </p:nvSpPr>
          <p:spPr>
            <a:xfrm>
              <a:off x="1442554"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dirty="0">
                  <a:solidFill>
                    <a:schemeClr val="bg1"/>
                  </a:solidFill>
                  <a:latin typeface="Montserrat" panose="00000500000000000000" pitchFamily="2" charset="0"/>
                  <a:ea typeface="微软雅黑 Light" panose="020B0502040204020203" pitchFamily="34" charset="-122"/>
                </a:rPr>
                <a:t>到达的数据</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已达到发送窗口一半 或 </a:t>
              </a:r>
              <a:endParaRPr lang="en-US" altLang="zh-CN" sz="900" dirty="0">
                <a:solidFill>
                  <a:schemeClr val="bg1"/>
                </a:solidFill>
                <a:latin typeface="Montserrat" panose="00000500000000000000" pitchFamily="2" charset="0"/>
                <a:ea typeface="微软雅黑 Light" panose="020B0502040204020203" pitchFamily="34" charset="-122"/>
              </a:endParaRPr>
            </a:p>
            <a:p>
              <a:pPr algn="ctr"/>
              <a:r>
                <a:rPr lang="zh-CN" altLang="en-US" sz="900" dirty="0">
                  <a:solidFill>
                    <a:schemeClr val="bg1"/>
                  </a:solidFill>
                  <a:latin typeface="Montserrat" panose="00000500000000000000" pitchFamily="2" charset="0"/>
                  <a:ea typeface="微软雅黑 Light" panose="020B0502040204020203" pitchFamily="34" charset="-122"/>
                </a:rPr>
                <a:t>已达到报文段的最大长度时？</a:t>
              </a:r>
            </a:p>
          </p:txBody>
        </p:sp>
        <p:sp>
          <p:nvSpPr>
            <p:cNvPr id="14" name="矩形 13"/>
            <p:cNvSpPr/>
            <p:nvPr/>
          </p:nvSpPr>
          <p:spPr>
            <a:xfrm>
              <a:off x="4532809" y="3446592"/>
              <a:ext cx="2592001" cy="28316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dirty="0">
                  <a:solidFill>
                    <a:schemeClr val="tx1"/>
                  </a:solidFill>
                  <a:latin typeface="Montserrat" panose="00000500000000000000" pitchFamily="2" charset="0"/>
                  <a:ea typeface="微软雅黑 Light" panose="020B0502040204020203" pitchFamily="34" charset="-122"/>
                </a:rPr>
                <a:t>立即发送数据</a:t>
              </a:r>
            </a:p>
          </p:txBody>
        </p:sp>
        <p:cxnSp>
          <p:nvCxnSpPr>
            <p:cNvPr id="15" name="直接箭头连接符 14"/>
            <p:cNvCxnSpPr>
              <a:stCxn id="7" idx="2"/>
              <a:endCxn id="8" idx="0"/>
            </p:cNvCxnSpPr>
            <p:nvPr/>
          </p:nvCxnSpPr>
          <p:spPr>
            <a:xfrm>
              <a:off x="2738554" y="1774588"/>
              <a:ext cx="0" cy="28933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9"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729754"/>
              <a:ext cx="0"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flipH="1">
              <a:off x="5828807" y="3729754"/>
              <a:ext cx="2" cy="28316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126115"/>
              <a:chOff x="2744151" y="1952894"/>
              <a:chExt cx="5694455" cy="2257877"/>
            </a:xfrm>
          </p:grpSpPr>
          <p:cxnSp>
            <p:nvCxnSpPr>
              <p:cNvPr id="28" name="直接箭头连接符 27"/>
              <p:cNvCxnSpPr/>
              <p:nvPr/>
            </p:nvCxnSpPr>
            <p:spPr>
              <a:xfrm flipV="1">
                <a:off x="2744151" y="4210770"/>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12371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dirty="0">
                  <a:latin typeface="Montserrat" panose="00000500000000000000" pitchFamily="2" charset="0"/>
                  <a:ea typeface="微软雅黑 Light" panose="020B0502040204020203" pitchFamily="34" charset="-122"/>
                </a:rPr>
                <a:t>否</a:t>
              </a:r>
            </a:p>
          </p:txBody>
        </p:sp>
      </p:gr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2808000" y="144000"/>
            <a:ext cx="3528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482554"/>
            <a:ext cx="8172000" cy="4120946"/>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482554"/>
            <a:ext cx="8172000" cy="4120946"/>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2808000" y="144000"/>
            <a:ext cx="3528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5.8.1                                 </a:t>
            </a:r>
            <a:r>
              <a:rPr lang="zh-CN" altLang="en-US" sz="2000" dirty="0">
                <a:solidFill>
                  <a:schemeClr val="bg1"/>
                </a:solidFill>
                <a:latin typeface="Montserrat" panose="00000500000000000000" pitchFamily="2" charset="0"/>
                <a:ea typeface="微软雅黑 Light" panose="020B0502040204020203" pitchFamily="34" charset="-122"/>
              </a:rPr>
              <a:t>拥塞控制的一般原理</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5.8.2                                TCP </a:t>
            </a:r>
            <a:r>
              <a:rPr lang="zh-CN" altLang="en-US" sz="2000" dirty="0">
                <a:solidFill>
                  <a:schemeClr val="bg1"/>
                </a:solidFill>
                <a:latin typeface="Montserrat" panose="00000500000000000000" pitchFamily="2" charset="0"/>
                <a:ea typeface="微软雅黑 Light" panose="020B0502040204020203" pitchFamily="34" charset="-122"/>
              </a:rPr>
              <a:t>的拥塞控制方法</a:t>
            </a:r>
          </a:p>
          <a:p>
            <a:pPr eaLnBrk="0" hangingPunct="0">
              <a:lnSpc>
                <a:spcPct val="200000"/>
              </a:lnSpc>
            </a:pPr>
            <a:r>
              <a:rPr lang="en-US" altLang="zh-CN" sz="2000" dirty="0">
                <a:solidFill>
                  <a:schemeClr val="bg1"/>
                </a:solidFill>
                <a:latin typeface="Montserrat" panose="00000500000000000000" pitchFamily="2" charset="0"/>
                <a:ea typeface="微软雅黑 Light" panose="020B0502040204020203" pitchFamily="34" charset="-122"/>
              </a:rPr>
              <a:t>5.8.3                                 </a:t>
            </a:r>
            <a:r>
              <a:rPr lang="zh-CN" altLang="en-US" sz="2000" dirty="0">
                <a:solidFill>
                  <a:schemeClr val="bg1"/>
                </a:solidFill>
                <a:latin typeface="Montserrat" panose="00000500000000000000" pitchFamily="2" charset="0"/>
                <a:ea typeface="微软雅黑 Light" panose="020B0502040204020203" pitchFamily="34" charset="-122"/>
              </a:rPr>
              <a:t>主动队列管理 </a:t>
            </a:r>
            <a:r>
              <a:rPr lang="en-US" altLang="zh-CN" sz="2000" dirty="0">
                <a:solidFill>
                  <a:schemeClr val="bg1"/>
                </a:solidFill>
                <a:latin typeface="Montserrat" panose="00000500000000000000" pitchFamily="2" charset="0"/>
                <a:ea typeface="微软雅黑 Light" panose="020B0502040204020203" pitchFamily="34" charset="-122"/>
              </a:rPr>
              <a:t>AQM</a:t>
            </a:r>
          </a:p>
        </p:txBody>
      </p:sp>
      <p:sp>
        <p:nvSpPr>
          <p:cNvPr id="10" name="Rectangle 27"/>
          <p:cNvSpPr>
            <a:spLocks noChangeArrowheads="1"/>
          </p:cNvSpPr>
          <p:nvPr/>
        </p:nvSpPr>
        <p:spPr bwMode="auto">
          <a:xfrm>
            <a:off x="201600" y="1433966"/>
            <a:ext cx="2174399" cy="936625"/>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259200" y="1528898"/>
            <a:ext cx="2116799"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Montserrat" panose="00000500000000000000" pitchFamily="2" charset="0"/>
                <a:ea typeface="微软雅黑 Light" panose="020B0502040204020203" pitchFamily="34" charset="-122"/>
              </a:rPr>
              <a:t>5.8</a:t>
            </a:r>
          </a:p>
          <a:p>
            <a:pPr eaLnBrk="0" hangingPunct="0"/>
            <a:r>
              <a:rPr lang="en-US" altLang="zh-CN" sz="2000" dirty="0">
                <a:solidFill>
                  <a:schemeClr val="bg1"/>
                </a:solidFill>
                <a:latin typeface="Montserrat" panose="00000500000000000000" pitchFamily="2" charset="0"/>
                <a:ea typeface="微软雅黑 Light" panose="020B0502040204020203" pitchFamily="34" charset="-122"/>
              </a:rPr>
              <a:t>TCP </a:t>
            </a:r>
            <a:r>
              <a:rPr lang="zh-CN" altLang="en-US" sz="2000" dirty="0">
                <a:solidFill>
                  <a:schemeClr val="bg1"/>
                </a:solidFill>
                <a:latin typeface="Montserrat" panose="00000500000000000000" pitchFamily="2" charset="0"/>
                <a:ea typeface="微软雅黑 Light" panose="020B0502040204020203" pitchFamily="34" charset="-122"/>
              </a:rPr>
              <a:t>的拥塞控制</a:t>
            </a:r>
            <a:endParaRPr lang="zh-CN" altLang="fr-FR" sz="20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482554"/>
            <a:ext cx="8172000" cy="4120946"/>
          </a:xfrm>
        </p:spPr>
        <p:txBody>
          <a:bodyPr/>
          <a:lstStyle/>
          <a:p>
            <a:r>
              <a:rPr lang="zh-CN" altLang="en-US" dirty="0"/>
              <a:t>在某段时间，若对网络中某资源的需求超过了该资源所能提供的可用部分，网络的性能就要明显变坏，整个网络的吞吐量将随输入负荷的增大而下降</a:t>
            </a:r>
            <a:endParaRPr lang="en-US" altLang="zh-CN" dirty="0"/>
          </a:p>
          <a:p>
            <a:r>
              <a:rPr lang="zh-CN" altLang="en-US" dirty="0"/>
              <a:t>这种现象称为拥塞 </a:t>
            </a:r>
            <a:r>
              <a:rPr lang="en-US" altLang="zh-CN" dirty="0"/>
              <a:t>- Congestion</a:t>
            </a:r>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2808000" y="144000"/>
            <a:ext cx="3528000" cy="338554"/>
          </a:xfrm>
        </p:spPr>
        <p:txBody>
          <a:bodyPr/>
          <a:lstStyle/>
          <a:p>
            <a:r>
              <a:rPr lang="en-US" altLang="zh-CN" dirty="0"/>
              <a:t>5.8.1   </a:t>
            </a:r>
            <a:r>
              <a:rPr lang="zh-CN" altLang="en-US" dirty="0"/>
              <a:t>一般原理</a:t>
            </a:r>
          </a:p>
        </p:txBody>
      </p:sp>
      <p:sp>
        <p:nvSpPr>
          <p:cNvPr id="8" name="Rectangle 2"/>
          <p:cNvSpPr>
            <a:spLocks noChangeArrowheads="1"/>
          </p:cNvSpPr>
          <p:nvPr/>
        </p:nvSpPr>
        <p:spPr bwMode="auto">
          <a:xfrm>
            <a:off x="4876493" y="2091036"/>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a:latin typeface="Montserrat" panose="00000500000000000000" pitchFamily="2" charset="0"/>
              <a:ea typeface="微软雅黑 Light" panose="020B0502040204020203" pitchFamily="34" charset="-122"/>
            </a:endParaRPr>
          </a:p>
        </p:txBody>
      </p:sp>
      <p:grpSp>
        <p:nvGrpSpPr>
          <p:cNvPr id="3" name="组合 2"/>
          <p:cNvGrpSpPr/>
          <p:nvPr/>
        </p:nvGrpSpPr>
        <p:grpSpPr>
          <a:xfrm>
            <a:off x="3089791" y="1923800"/>
            <a:ext cx="3128343" cy="2759099"/>
            <a:chOff x="4851933" y="1639611"/>
            <a:chExt cx="3128343" cy="2759099"/>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22" name="Text Box 17"/>
            <p:cNvSpPr txBox="1">
              <a:spLocks noChangeArrowheads="1"/>
            </p:cNvSpPr>
            <p:nvPr/>
          </p:nvSpPr>
          <p:spPr bwMode="auto">
            <a:xfrm>
              <a:off x="7152187" y="4124276"/>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3" name="Text Box 18"/>
            <p:cNvSpPr txBox="1">
              <a:spLocks noChangeArrowheads="1"/>
            </p:cNvSpPr>
            <p:nvPr/>
          </p:nvSpPr>
          <p:spPr bwMode="auto">
            <a:xfrm>
              <a:off x="7152187" y="2775953"/>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负载</a:t>
              </a:r>
              <a:endParaRPr kumimoji="0" lang="en-US" altLang="zh-CN" sz="1200" dirty="0">
                <a:latin typeface="Montserrat" panose="00000500000000000000" pitchFamily="2" charset="0"/>
                <a:ea typeface="微软雅黑 Light" panose="020B0502040204020203" pitchFamily="34" charset="-122"/>
              </a:endParaRPr>
            </a:p>
          </p:txBody>
        </p:sp>
        <p:sp>
          <p:nvSpPr>
            <p:cNvPr id="24" name="Text Box 19"/>
            <p:cNvSpPr txBox="1">
              <a:spLocks noChangeArrowheads="1"/>
            </p:cNvSpPr>
            <p:nvPr/>
          </p:nvSpPr>
          <p:spPr bwMode="auto">
            <a:xfrm rot="16200000">
              <a:off x="4669189" y="1952285"/>
              <a:ext cx="644408"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吞量率</a:t>
              </a:r>
              <a:endParaRPr kumimoji="0" lang="en-US" altLang="zh-CN" sz="1200" dirty="0">
                <a:latin typeface="Montserrat" panose="00000500000000000000" pitchFamily="2" charset="0"/>
                <a:ea typeface="微软雅黑 Light" panose="020B0502040204020203" pitchFamily="34" charset="-122"/>
              </a:endParaRPr>
            </a:p>
          </p:txBody>
        </p:sp>
        <p:sp>
          <p:nvSpPr>
            <p:cNvPr id="25" name="Text Box 20"/>
            <p:cNvSpPr txBox="1">
              <a:spLocks noChangeArrowheads="1"/>
            </p:cNvSpPr>
            <p:nvPr/>
          </p:nvSpPr>
          <p:spPr bwMode="auto">
            <a:xfrm rot="16200000">
              <a:off x="4743890" y="2995128"/>
              <a:ext cx="490520" cy="274434"/>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latin typeface="Montserrat" panose="00000500000000000000" pitchFamily="2" charset="0"/>
                  <a:ea typeface="微软雅黑 Light" panose="020B0502040204020203" pitchFamily="34" charset="-122"/>
                </a:rPr>
                <a:t>延迟</a:t>
              </a:r>
              <a:endParaRPr kumimoji="0" lang="en-US" altLang="zh-CN" sz="1200" dirty="0">
                <a:latin typeface="Montserrat" panose="00000500000000000000" pitchFamily="2" charset="0"/>
                <a:ea typeface="微软雅黑 Light" panose="020B0502040204020203"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00000"/>
                  </a:solidFill>
                  <a:latin typeface="Montserrat" panose="00000500000000000000" pitchFamily="2" charset="0"/>
                  <a:ea typeface="微软雅黑 Light" panose="020B0502040204020203" pitchFamily="34" charset="-122"/>
                </a:rPr>
                <a:t>系统</a:t>
              </a:r>
              <a:endParaRPr kumimoji="0" lang="en-US" altLang="zh-CN" sz="1200" dirty="0">
                <a:solidFill>
                  <a:srgbClr val="C00000"/>
                </a:solidFill>
                <a:latin typeface="Montserrat" panose="00000500000000000000" pitchFamily="2" charset="0"/>
                <a:ea typeface="微软雅黑 Light" panose="020B0502040204020203" pitchFamily="34" charset="-122"/>
              </a:endParaRPr>
            </a:p>
            <a:p>
              <a:r>
                <a:rPr kumimoji="0" lang="zh-CN" altLang="en-US" sz="1200" dirty="0">
                  <a:solidFill>
                    <a:srgbClr val="C00000"/>
                  </a:solidFill>
                  <a:latin typeface="Montserrat" panose="00000500000000000000" pitchFamily="2" charset="0"/>
                  <a:ea typeface="微软雅黑 Light" panose="020B0502040204020203" pitchFamily="34" charset="-122"/>
                </a:rPr>
                <a:t>崩溃</a:t>
              </a:r>
              <a:endParaRPr kumimoji="0" lang="en-US" altLang="zh-CN" sz="1200" dirty="0">
                <a:solidFill>
                  <a:srgbClr val="C00000"/>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7289563" y="1639611"/>
              <a:ext cx="690713"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dirty="0">
                  <a:solidFill>
                    <a:srgbClr val="CC00CC"/>
                  </a:solidFill>
                  <a:latin typeface="Montserrat" panose="00000500000000000000" pitchFamily="2" charset="0"/>
                  <a:ea typeface="微软雅黑 Light" panose="020B0502040204020203" pitchFamily="34" charset="-122"/>
                </a:rPr>
                <a:t>分组丢失增多</a:t>
              </a:r>
              <a:endParaRPr kumimoji="0" lang="en-US" altLang="zh-CN" sz="1200" dirty="0">
                <a:solidFill>
                  <a:srgbClr val="CC00CC"/>
                </a:solidFill>
                <a:latin typeface="Montserrat" panose="00000500000000000000" pitchFamily="2" charset="0"/>
                <a:ea typeface="微软雅黑 Light" panose="020B0502040204020203"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482554"/>
            <a:ext cx="8172000" cy="4120946"/>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2808000" y="144000"/>
            <a:ext cx="3528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482554"/>
            <a:ext cx="8172000" cy="4120946"/>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2808000" y="144000"/>
            <a:ext cx="3528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FE60E7F4-D657-01F8-617D-0BFF8137E239}"/>
              </a:ext>
            </a:extLst>
          </p:cNvPr>
          <p:cNvSpPr/>
          <p:nvPr/>
        </p:nvSpPr>
        <p:spPr>
          <a:xfrm>
            <a:off x="106212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拥塞控制</a:t>
            </a:r>
          </a:p>
        </p:txBody>
      </p:sp>
      <p:sp>
        <p:nvSpPr>
          <p:cNvPr id="7" name="任意多边形: 形状 6">
            <a:extLst>
              <a:ext uri="{FF2B5EF4-FFF2-40B4-BE49-F238E27FC236}">
                <a16:creationId xmlns:a16="http://schemas.microsoft.com/office/drawing/2014/main" id="{4AF0FA90-F16E-73A8-8570-3CCB4B4005C4}"/>
              </a:ext>
            </a:extLst>
          </p:cNvPr>
          <p:cNvSpPr/>
          <p:nvPr/>
        </p:nvSpPr>
        <p:spPr>
          <a:xfrm>
            <a:off x="106212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0"/>
              <a:satOff val="0"/>
              <a:lumOff val="0"/>
              <a:alphaOff val="0"/>
            </a:schemeClr>
          </a:lnRef>
          <a:fillRef idx="1">
            <a:scrgbClr r="0" g="0" b="0"/>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p:txBody>
      </p:sp>
      <p:sp>
        <p:nvSpPr>
          <p:cNvPr id="8" name="任意多边形: 形状 7">
            <a:extLst>
              <a:ext uri="{FF2B5EF4-FFF2-40B4-BE49-F238E27FC236}">
                <a16:creationId xmlns:a16="http://schemas.microsoft.com/office/drawing/2014/main" id="{CA6A74E6-1AED-C03A-C0FD-91D6EAAF96FC}"/>
              </a:ext>
            </a:extLst>
          </p:cNvPr>
          <p:cNvSpPr/>
          <p:nvPr/>
        </p:nvSpPr>
        <p:spPr>
          <a:xfrm>
            <a:off x="4850161" y="1046096"/>
            <a:ext cx="3322842" cy="720000"/>
          </a:xfrm>
          <a:custGeom>
            <a:avLst/>
            <a:gdLst>
              <a:gd name="connsiteX0" fmla="*/ 0 w 3322842"/>
              <a:gd name="connsiteY0" fmla="*/ 0 h 1329136"/>
              <a:gd name="connsiteX1" fmla="*/ 3322842 w 3322842"/>
              <a:gd name="connsiteY1" fmla="*/ 0 h 1329136"/>
              <a:gd name="connsiteX2" fmla="*/ 3322842 w 3322842"/>
              <a:gd name="connsiteY2" fmla="*/ 1329136 h 1329136"/>
              <a:gd name="connsiteX3" fmla="*/ 0 w 3322842"/>
              <a:gd name="connsiteY3" fmla="*/ 1329136 h 1329136"/>
              <a:gd name="connsiteX4" fmla="*/ 0 w 3322842"/>
              <a:gd name="connsiteY4" fmla="*/ 0 h 1329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1329136">
                <a:moveTo>
                  <a:pt x="0" y="0"/>
                </a:moveTo>
                <a:lnTo>
                  <a:pt x="3322842" y="0"/>
                </a:lnTo>
                <a:lnTo>
                  <a:pt x="3322842" y="1329136"/>
                </a:lnTo>
                <a:lnTo>
                  <a:pt x="0" y="1329136"/>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流量控制</a:t>
            </a:r>
          </a:p>
        </p:txBody>
      </p:sp>
      <p:sp>
        <p:nvSpPr>
          <p:cNvPr id="9" name="任意多边形: 形状 8">
            <a:extLst>
              <a:ext uri="{FF2B5EF4-FFF2-40B4-BE49-F238E27FC236}">
                <a16:creationId xmlns:a16="http://schemas.microsoft.com/office/drawing/2014/main" id="{7B2B9B0E-1A3C-D3B0-04BE-23CE1CA3B7E0}"/>
              </a:ext>
            </a:extLst>
          </p:cNvPr>
          <p:cNvSpPr/>
          <p:nvPr/>
        </p:nvSpPr>
        <p:spPr>
          <a:xfrm>
            <a:off x="4850161" y="1766096"/>
            <a:ext cx="3322842" cy="2717296"/>
          </a:xfrm>
          <a:custGeom>
            <a:avLst/>
            <a:gdLst>
              <a:gd name="connsiteX0" fmla="*/ 0 w 3322842"/>
              <a:gd name="connsiteY0" fmla="*/ 0 h 2108160"/>
              <a:gd name="connsiteX1" fmla="*/ 3322842 w 3322842"/>
              <a:gd name="connsiteY1" fmla="*/ 0 h 2108160"/>
              <a:gd name="connsiteX2" fmla="*/ 3322842 w 3322842"/>
              <a:gd name="connsiteY2" fmla="*/ 2108160 h 2108160"/>
              <a:gd name="connsiteX3" fmla="*/ 0 w 3322842"/>
              <a:gd name="connsiteY3" fmla="*/ 2108160 h 2108160"/>
              <a:gd name="connsiteX4" fmla="*/ 0 w 3322842"/>
              <a:gd name="connsiteY4" fmla="*/ 0 h 21081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108160">
                <a:moveTo>
                  <a:pt x="0" y="0"/>
                </a:moveTo>
                <a:lnTo>
                  <a:pt x="3322842" y="0"/>
                </a:lnTo>
                <a:lnTo>
                  <a:pt x="3322842" y="2108160"/>
                </a:lnTo>
                <a:lnTo>
                  <a:pt x="0" y="2108160"/>
                </a:lnTo>
                <a:lnTo>
                  <a:pt x="0" y="0"/>
                </a:lnTo>
                <a:close/>
              </a:path>
            </a:pathLst>
          </a:custGeom>
          <a:noFill/>
        </p:spPr>
        <p:style>
          <a:lnRef idx="2">
            <a:schemeClr val="accent2">
              <a:tint val="40000"/>
              <a:alpha val="90000"/>
              <a:hueOff val="5025821"/>
              <a:satOff val="-4378"/>
              <a:lumOff val="-6"/>
              <a:alphaOff val="0"/>
            </a:schemeClr>
          </a:lnRef>
          <a:fillRef idx="1">
            <a:scrgbClr r="0" g="0" b="0"/>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抑制发送端发送数据的速率，以使接收端来得及接收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点对点通信量的控制，是个端到端的问题</a:t>
            </a:r>
          </a:p>
        </p:txBody>
      </p:sp>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2808000" y="144000"/>
            <a:ext cx="3528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477739" cy="1692477"/>
            <a:chOff x="651" y="2544"/>
            <a:chExt cx="3800"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nvGrpSpPr>
            <p:cNvPr id="64" name="Group 26"/>
            <p:cNvGrpSpPr>
              <a:grpSpLocks/>
            </p:cNvGrpSpPr>
            <p:nvPr/>
          </p:nvGrpSpPr>
          <p:grpSpPr bwMode="auto">
            <a:xfrm>
              <a:off x="651" y="2544"/>
              <a:ext cx="3800" cy="1556"/>
              <a:chOff x="651" y="2544"/>
              <a:chExt cx="3800" cy="1556"/>
            </a:xfrm>
          </p:grpSpPr>
          <p:grpSp>
            <p:nvGrpSpPr>
              <p:cNvPr id="65" name="Group 27"/>
              <p:cNvGrpSpPr>
                <a:grpSpLocks/>
              </p:cNvGrpSpPr>
              <p:nvPr/>
            </p:nvGrpSpPr>
            <p:grpSpPr bwMode="auto">
              <a:xfrm>
                <a:off x="651" y="2544"/>
                <a:ext cx="3800" cy="1252"/>
                <a:chOff x="651" y="2544"/>
                <a:chExt cx="3800"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0" name="Text Box 30"/>
                <p:cNvSpPr txBox="1">
                  <a:spLocks noChangeArrowheads="1"/>
                </p:cNvSpPr>
                <p:nvPr/>
              </p:nvSpPr>
              <p:spPr bwMode="auto">
                <a:xfrm>
                  <a:off x="3532" y="2544"/>
                  <a:ext cx="919"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66"/>
                      </a:solidFill>
                      <a:latin typeface="Montserrat" panose="00000500000000000000" pitchFamily="2" charset="0"/>
                      <a:ea typeface="微软雅黑 Light" panose="020B0502040204020203"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b="0" dirty="0">
                    <a:latin typeface="Montserrat" panose="00000500000000000000" pitchFamily="2" charset="0"/>
                    <a:ea typeface="微软雅黑 Light" panose="020B0502040204020203" pitchFamily="34" charset="-122"/>
                  </a:rPr>
                  <a:t>轻度</a:t>
                </a:r>
              </a:p>
              <a:p>
                <a:pPr algn="ctr" eaLnBrk="1" hangingPunct="1"/>
                <a:r>
                  <a:rPr lang="zh-CN" altLang="en-US" sz="1400" b="0" dirty="0">
                    <a:latin typeface="Montserrat" panose="00000500000000000000" pitchFamily="2" charset="0"/>
                    <a:ea typeface="微软雅黑 Light" panose="020B0502040204020203"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latin typeface="Montserrat" panose="00000500000000000000" pitchFamily="2" charset="0"/>
                <a:ea typeface="微软雅黑 Light" panose="020B0502040204020203"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7" name="Text Box 9"/>
            <p:cNvSpPr txBox="1">
              <a:spLocks noChangeArrowheads="1"/>
            </p:cNvSpPr>
            <p:nvPr/>
          </p:nvSpPr>
          <p:spPr bwMode="auto">
            <a:xfrm>
              <a:off x="2901" y="1764"/>
              <a:ext cx="1223"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C00CC"/>
                  </a:solidFill>
                  <a:latin typeface="Montserrat" panose="00000500000000000000" pitchFamily="2" charset="0"/>
                  <a:ea typeface="微软雅黑 Light" panose="020B0502040204020203"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nvGrpSpPr>
            <p:cNvPr id="51" name="Group 13"/>
            <p:cNvGrpSpPr>
              <a:grpSpLocks/>
            </p:cNvGrpSpPr>
            <p:nvPr/>
          </p:nvGrpSpPr>
          <p:grpSpPr bwMode="auto">
            <a:xfrm>
              <a:off x="2451" y="2124"/>
              <a:ext cx="1223" cy="439"/>
              <a:chOff x="2451" y="2124"/>
              <a:chExt cx="1223" cy="439"/>
            </a:xfrm>
          </p:grpSpPr>
          <p:sp>
            <p:nvSpPr>
              <p:cNvPr id="52" name="Text Box 14"/>
              <p:cNvSpPr txBox="1">
                <a:spLocks noChangeArrowheads="1"/>
              </p:cNvSpPr>
              <p:nvPr/>
            </p:nvSpPr>
            <p:spPr bwMode="auto">
              <a:xfrm>
                <a:off x="2451" y="2124"/>
                <a:ext cx="1223" cy="28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0000FF"/>
                    </a:solidFill>
                    <a:latin typeface="Montserrat" panose="00000500000000000000" pitchFamily="2" charset="0"/>
                    <a:ea typeface="微软雅黑 Light" panose="020B0502040204020203"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5" name="Text Box 17"/>
          <p:cNvSpPr txBox="1">
            <a:spLocks noChangeArrowheads="1"/>
          </p:cNvSpPr>
          <p:nvPr/>
        </p:nvSpPr>
        <p:spPr bwMode="auto">
          <a:xfrm>
            <a:off x="1442736" y="3422881"/>
            <a:ext cx="30168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solidFill>
                  <a:srgbClr val="333399"/>
                </a:solidFill>
                <a:latin typeface="Montserrat" panose="00000500000000000000" pitchFamily="2" charset="0"/>
                <a:ea typeface="微软雅黑 Light" panose="020B0502040204020203" pitchFamily="34" charset="-122"/>
              </a:rPr>
              <a:t>0</a:t>
            </a:r>
          </a:p>
        </p:txBody>
      </p:sp>
      <p:grpSp>
        <p:nvGrpSpPr>
          <p:cNvPr id="56" name="Group 18"/>
          <p:cNvGrpSpPr>
            <a:grpSpLocks/>
          </p:cNvGrpSpPr>
          <p:nvPr/>
        </p:nvGrpSpPr>
        <p:grpSpPr bwMode="auto">
          <a:xfrm>
            <a:off x="4906315" y="2847212"/>
            <a:ext cx="2400305" cy="792941"/>
            <a:chOff x="3349" y="2890"/>
            <a:chExt cx="2037" cy="729"/>
          </a:xfrm>
        </p:grpSpPr>
        <p:grpSp>
          <p:nvGrpSpPr>
            <p:cNvPr id="57" name="Group 19"/>
            <p:cNvGrpSpPr>
              <a:grpSpLocks/>
            </p:cNvGrpSpPr>
            <p:nvPr/>
          </p:nvGrpSpPr>
          <p:grpSpPr bwMode="auto">
            <a:xfrm>
              <a:off x="3477" y="2890"/>
              <a:ext cx="1909" cy="600"/>
              <a:chOff x="3477" y="2890"/>
              <a:chExt cx="1909" cy="600"/>
            </a:xfrm>
          </p:grpSpPr>
          <p:sp>
            <p:nvSpPr>
              <p:cNvPr id="59" name="Text Box 20"/>
              <p:cNvSpPr txBox="1">
                <a:spLocks noChangeArrowheads="1"/>
              </p:cNvSpPr>
              <p:nvPr/>
            </p:nvSpPr>
            <p:spPr bwMode="auto">
              <a:xfrm>
                <a:off x="3881" y="2890"/>
                <a:ext cx="1505"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b="0" dirty="0">
                    <a:solidFill>
                      <a:srgbClr val="C00000"/>
                    </a:solidFill>
                    <a:latin typeface="Montserrat" panose="00000500000000000000" pitchFamily="2" charset="0"/>
                    <a:ea typeface="微软雅黑 Light" panose="020B0502040204020203" pitchFamily="34" charset="-122"/>
                  </a:rPr>
                  <a:t>死锁（吞吐量 </a:t>
                </a:r>
                <a:r>
                  <a:rPr lang="en-US" altLang="zh-CN" sz="1400" b="0" dirty="0">
                    <a:solidFill>
                      <a:srgbClr val="C00000"/>
                    </a:solidFill>
                    <a:latin typeface="Montserrat" panose="00000500000000000000" pitchFamily="2" charset="0"/>
                    <a:ea typeface="微软雅黑 Light" panose="020B0502040204020203" pitchFamily="34" charset="-122"/>
                  </a:rPr>
                  <a:t>= 0</a:t>
                </a:r>
                <a:r>
                  <a:rPr lang="zh-CN" altLang="en-US" sz="1400" b="0" dirty="0">
                    <a:solidFill>
                      <a:srgbClr val="C00000"/>
                    </a:solidFill>
                    <a:latin typeface="Montserrat" panose="00000500000000000000" pitchFamily="2" charset="0"/>
                    <a:ea typeface="微软雅黑 Light" panose="020B0502040204020203"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2808000" y="144000"/>
            <a:ext cx="3528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482554"/>
            <a:ext cx="8172000" cy="4120946"/>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2808000" y="144000"/>
            <a:ext cx="3528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E5341D88-6FD9-66DF-F5BF-4EFE6987BC3C}"/>
              </a:ext>
            </a:extLst>
          </p:cNvPr>
          <p:cNvSpPr/>
          <p:nvPr/>
        </p:nvSpPr>
        <p:spPr>
          <a:xfrm>
            <a:off x="106212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开环控制</a:t>
            </a:r>
          </a:p>
        </p:txBody>
      </p:sp>
      <p:sp>
        <p:nvSpPr>
          <p:cNvPr id="6" name="任意多边形: 形状 5">
            <a:extLst>
              <a:ext uri="{FF2B5EF4-FFF2-40B4-BE49-F238E27FC236}">
                <a16:creationId xmlns:a16="http://schemas.microsoft.com/office/drawing/2014/main" id="{68E840D6-5F36-2710-386A-F52D2116FB25}"/>
              </a:ext>
            </a:extLst>
          </p:cNvPr>
          <p:cNvSpPr/>
          <p:nvPr/>
        </p:nvSpPr>
        <p:spPr>
          <a:xfrm>
            <a:off x="106212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在设计网络时，事先</a:t>
            </a:r>
            <a:r>
              <a:rPr lang="zh-CN" altLang="en-US" sz="1400" kern="1200" dirty="0">
                <a:solidFill>
                  <a:srgbClr val="C00000"/>
                </a:solidFill>
                <a:latin typeface="Montserrat" panose="00000500000000000000" pitchFamily="2" charset="0"/>
                <a:ea typeface="微软雅黑 Light" panose="020B0502040204020203" pitchFamily="34" charset="-122"/>
              </a:rPr>
              <a:t>考虑周全，</a:t>
            </a:r>
            <a:r>
              <a:rPr lang="zh-CN" altLang="en-US" sz="1400" kern="1200" dirty="0">
                <a:latin typeface="Montserrat" panose="00000500000000000000" pitchFamily="2" charset="0"/>
                <a:ea typeface="微软雅黑 Light" panose="020B0502040204020203" pitchFamily="34" charset="-122"/>
              </a:rPr>
              <a:t>力求工作时不发生拥塞。</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力争</a:t>
            </a:r>
            <a:r>
              <a:rPr lang="zh-CN" altLang="en-US" sz="1400" kern="1200" dirty="0">
                <a:solidFill>
                  <a:srgbClr val="0000FF"/>
                </a:solidFill>
                <a:latin typeface="Montserrat" panose="00000500000000000000" pitchFamily="2" charset="0"/>
                <a:ea typeface="微软雅黑 Light" panose="020B0502040204020203" pitchFamily="34" charset="-122"/>
              </a:rPr>
              <a:t>避免</a:t>
            </a:r>
            <a:r>
              <a:rPr lang="zh-CN" altLang="en-US" sz="1400" kern="1200" dirty="0">
                <a:latin typeface="Montserrat" panose="00000500000000000000" pitchFamily="2" charset="0"/>
                <a:ea typeface="微软雅黑 Light" panose="020B0502040204020203" pitchFamily="34" charset="-122"/>
              </a:rPr>
              <a:t>发生拥塞。</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但一旦整个系统运行起来，就不再中途进行改正了。</a:t>
            </a:r>
          </a:p>
        </p:txBody>
      </p:sp>
      <p:sp>
        <p:nvSpPr>
          <p:cNvPr id="7" name="任意多边形: 形状 6">
            <a:extLst>
              <a:ext uri="{FF2B5EF4-FFF2-40B4-BE49-F238E27FC236}">
                <a16:creationId xmlns:a16="http://schemas.microsoft.com/office/drawing/2014/main" id="{106B789F-F10C-4577-94E2-877ACA996F70}"/>
              </a:ext>
            </a:extLst>
          </p:cNvPr>
          <p:cNvSpPr/>
          <p:nvPr/>
        </p:nvSpPr>
        <p:spPr>
          <a:xfrm>
            <a:off x="4850161" y="1071229"/>
            <a:ext cx="3322842" cy="604800"/>
          </a:xfrm>
          <a:custGeom>
            <a:avLst/>
            <a:gdLst>
              <a:gd name="connsiteX0" fmla="*/ 0 w 3322842"/>
              <a:gd name="connsiteY0" fmla="*/ 0 h 604800"/>
              <a:gd name="connsiteX1" fmla="*/ 3322842 w 3322842"/>
              <a:gd name="connsiteY1" fmla="*/ 0 h 604800"/>
              <a:gd name="connsiteX2" fmla="*/ 3322842 w 3322842"/>
              <a:gd name="connsiteY2" fmla="*/ 604800 h 604800"/>
              <a:gd name="connsiteX3" fmla="*/ 0 w 3322842"/>
              <a:gd name="connsiteY3" fmla="*/ 604800 h 604800"/>
              <a:gd name="connsiteX4" fmla="*/ 0 w 3322842"/>
              <a:gd name="connsiteY4" fmla="*/ 0 h 60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604800">
                <a:moveTo>
                  <a:pt x="0" y="0"/>
                </a:moveTo>
                <a:lnTo>
                  <a:pt x="3322842" y="0"/>
                </a:lnTo>
                <a:lnTo>
                  <a:pt x="3322842" y="604800"/>
                </a:lnTo>
                <a:lnTo>
                  <a:pt x="0" y="604800"/>
                </a:lnTo>
                <a:lnTo>
                  <a:pt x="0" y="0"/>
                </a:lnTo>
                <a:close/>
              </a:path>
            </a:pathLst>
          </a:custGeom>
        </p:spPr>
        <p:style>
          <a:lnRef idx="2">
            <a:schemeClr val="accent2">
              <a:hueOff val="4681519"/>
              <a:satOff val="-5839"/>
              <a:lumOff val="1373"/>
              <a:alphaOff val="0"/>
            </a:schemeClr>
          </a:lnRef>
          <a:fillRef idx="1">
            <a:schemeClr val="accent2">
              <a:hueOff val="4681519"/>
              <a:satOff val="-5839"/>
              <a:lumOff val="1373"/>
              <a:alphaOff val="0"/>
            </a:schemeClr>
          </a:fillRef>
          <a:effectRef idx="0">
            <a:schemeClr val="accent2">
              <a:hueOff val="4681519"/>
              <a:satOff val="-5839"/>
              <a:lumOff val="1373"/>
              <a:alphaOff val="0"/>
            </a:schemeClr>
          </a:effectRef>
          <a:fontRef idx="minor">
            <a:schemeClr val="lt1"/>
          </a:fontRef>
        </p:style>
        <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1600" kern="1200" dirty="0">
                <a:latin typeface="Montserrat" panose="00000500000000000000" pitchFamily="2" charset="0"/>
                <a:ea typeface="微软雅黑 Light" panose="020B0502040204020203" pitchFamily="34" charset="-122"/>
              </a:rPr>
              <a:t>闭环控制</a:t>
            </a:r>
          </a:p>
        </p:txBody>
      </p:sp>
      <p:sp>
        <p:nvSpPr>
          <p:cNvPr id="8" name="任意多边形: 形状 7">
            <a:extLst>
              <a:ext uri="{FF2B5EF4-FFF2-40B4-BE49-F238E27FC236}">
                <a16:creationId xmlns:a16="http://schemas.microsoft.com/office/drawing/2014/main" id="{05A32DF7-677F-D92A-36A7-8DB6474D4ADF}"/>
              </a:ext>
            </a:extLst>
          </p:cNvPr>
          <p:cNvSpPr/>
          <p:nvPr/>
        </p:nvSpPr>
        <p:spPr>
          <a:xfrm>
            <a:off x="4850161" y="1676029"/>
            <a:ext cx="3322842" cy="2075220"/>
          </a:xfrm>
          <a:custGeom>
            <a:avLst/>
            <a:gdLst>
              <a:gd name="connsiteX0" fmla="*/ 0 w 3322842"/>
              <a:gd name="connsiteY0" fmla="*/ 0 h 2075220"/>
              <a:gd name="connsiteX1" fmla="*/ 3322842 w 3322842"/>
              <a:gd name="connsiteY1" fmla="*/ 0 h 2075220"/>
              <a:gd name="connsiteX2" fmla="*/ 3322842 w 3322842"/>
              <a:gd name="connsiteY2" fmla="*/ 2075220 h 2075220"/>
              <a:gd name="connsiteX3" fmla="*/ 0 w 3322842"/>
              <a:gd name="connsiteY3" fmla="*/ 2075220 h 2075220"/>
              <a:gd name="connsiteX4" fmla="*/ 0 w 3322842"/>
              <a:gd name="connsiteY4" fmla="*/ 0 h 20752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22842" h="2075220">
                <a:moveTo>
                  <a:pt x="0" y="0"/>
                </a:moveTo>
                <a:lnTo>
                  <a:pt x="3322842" y="0"/>
                </a:lnTo>
                <a:lnTo>
                  <a:pt x="3322842" y="2075220"/>
                </a:lnTo>
                <a:lnTo>
                  <a:pt x="0" y="2075220"/>
                </a:lnTo>
                <a:lnTo>
                  <a:pt x="0" y="0"/>
                </a:lnTo>
                <a:close/>
              </a:path>
            </a:pathLst>
          </a:custGeom>
          <a:noFill/>
        </p:spPr>
        <p:style>
          <a:lnRef idx="2">
            <a:schemeClr val="accent2">
              <a:tint val="40000"/>
              <a:alpha val="90000"/>
              <a:hueOff val="5025821"/>
              <a:satOff val="-4378"/>
              <a:lumOff val="-6"/>
              <a:alphaOff val="0"/>
            </a:schemeClr>
          </a:lnRef>
          <a:fillRef idx="1">
            <a:schemeClr val="accent2">
              <a:tint val="40000"/>
              <a:alpha val="90000"/>
              <a:hueOff val="5025821"/>
              <a:satOff val="-4378"/>
              <a:lumOff val="-6"/>
              <a:alphaOff val="0"/>
            </a:schemeClr>
          </a:fillRef>
          <a:effectRef idx="0">
            <a:schemeClr val="accent2">
              <a:tint val="40000"/>
              <a:alpha val="90000"/>
              <a:hueOff val="5025821"/>
              <a:satOff val="-4378"/>
              <a:lumOff val="-6"/>
              <a:alphaOff val="0"/>
            </a:schemeClr>
          </a:effectRef>
          <a:fontRef idx="minor">
            <a:schemeClr val="dk1">
              <a:hueOff val="0"/>
              <a:satOff val="0"/>
              <a:lumOff val="0"/>
              <a:alphaOff val="0"/>
            </a:schemeClr>
          </a:fontRef>
        </p:style>
        <p:txBody>
          <a:bodyPr spcFirstLastPara="0" vert="horz" wrap="square" lIns="96012" tIns="96012" rIns="128016" bIns="144018" numCol="1" spcCol="1270" anchor="t" anchorCtr="0">
            <a:noAutofit/>
          </a:bodyPr>
          <a:lstStyle/>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基于反馈环路的概念。</a:t>
            </a:r>
          </a:p>
          <a:p>
            <a:pPr marL="171450" lvl="1" indent="-171450" algn="just" defTabSz="800100">
              <a:lnSpc>
                <a:spcPct val="90000"/>
              </a:lnSpc>
              <a:spcBef>
                <a:spcPct val="0"/>
              </a:spcBef>
              <a:spcAft>
                <a:spcPct val="15000"/>
              </a:spcAft>
              <a:buChar char="•"/>
            </a:pPr>
            <a:r>
              <a:rPr lang="zh-CN" altLang="en-US" sz="1400" kern="1200" dirty="0">
                <a:latin typeface="Montserrat" panose="00000500000000000000" pitchFamily="2" charset="0"/>
                <a:ea typeface="微软雅黑 Light" panose="020B0502040204020203" pitchFamily="34" charset="-122"/>
              </a:rPr>
              <a:t>根据网络</a:t>
            </a:r>
            <a:r>
              <a:rPr lang="zh-CN" altLang="en-US" sz="140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400" kern="1200" dirty="0">
                <a:latin typeface="Montserrat" panose="00000500000000000000" pitchFamily="2" charset="0"/>
                <a:ea typeface="微软雅黑 Light" panose="020B0502040204020203" pitchFamily="34" charset="-122"/>
              </a:rPr>
              <a:t>采取相应控制措施。</a:t>
            </a:r>
          </a:p>
          <a:p>
            <a:pPr marL="171450" lvl="1" indent="-171450" algn="just" defTabSz="800100">
              <a:lnSpc>
                <a:spcPct val="90000"/>
              </a:lnSpc>
              <a:spcBef>
                <a:spcPct val="0"/>
              </a:spcBef>
              <a:spcAft>
                <a:spcPct val="15000"/>
              </a:spcAft>
              <a:buChar char="•"/>
            </a:pPr>
            <a:r>
              <a:rPr lang="zh-CN" altLang="en-US" sz="1400" kern="1200" dirty="0">
                <a:solidFill>
                  <a:srgbClr val="0000FF"/>
                </a:solidFill>
                <a:latin typeface="Montserrat" panose="00000500000000000000" pitchFamily="2" charset="0"/>
                <a:ea typeface="微软雅黑 Light" panose="020B0502040204020203" pitchFamily="34" charset="-122"/>
              </a:rPr>
              <a:t>思路：</a:t>
            </a:r>
            <a:r>
              <a:rPr lang="zh-CN" altLang="en-US" sz="1400" kern="1200" dirty="0">
                <a:latin typeface="Montserrat" panose="00000500000000000000" pitchFamily="2" charset="0"/>
                <a:ea typeface="微软雅黑 Light" panose="020B0502040204020203" pitchFamily="34" charset="-122"/>
              </a:rPr>
              <a:t>在发生拥塞后，采取措施进行控制，</a:t>
            </a:r>
            <a:r>
              <a:rPr lang="zh-CN" altLang="en-US" sz="1400" kern="1200" dirty="0">
                <a:solidFill>
                  <a:srgbClr val="0000FF"/>
                </a:solidFill>
                <a:latin typeface="Montserrat" panose="00000500000000000000" pitchFamily="2" charset="0"/>
                <a:ea typeface="微软雅黑 Light" panose="020B0502040204020203" pitchFamily="34" charset="-122"/>
              </a:rPr>
              <a:t>消除</a:t>
            </a:r>
            <a:r>
              <a:rPr lang="zh-CN" altLang="en-US" sz="1400" kern="1200" dirty="0">
                <a:latin typeface="Montserrat" panose="00000500000000000000" pitchFamily="2" charset="0"/>
                <a:ea typeface="微软雅黑 Light" panose="020B0502040204020203" pitchFamily="34" charset="-122"/>
              </a:rPr>
              <a:t>拥塞。</a:t>
            </a:r>
          </a:p>
        </p:txBody>
      </p:sp>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2808000" y="144000"/>
            <a:ext cx="3528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46170870"/>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dirty="0">
                <a:solidFill>
                  <a:schemeClr val="tx1"/>
                </a:solidFill>
                <a:latin typeface="Montserrat" panose="00000500000000000000" pitchFamily="2" charset="0"/>
                <a:ea typeface="微软雅黑 Light" panose="020B0502040204020203" pitchFamily="34" charset="-122"/>
              </a:rPr>
              <a:t>主要指标有：</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平均队列长度；</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超时重传的分组数；</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平均分组时延；</a:t>
            </a:r>
          </a:p>
          <a:p>
            <a:pPr marL="358775" indent="-179388">
              <a:lnSpc>
                <a:spcPts val="2000"/>
              </a:lnSpc>
              <a:buClr>
                <a:srgbClr val="9900CC"/>
              </a:buClr>
              <a:buFont typeface="+mj-lt"/>
              <a:buAutoNum type="arabicPeriod"/>
            </a:pPr>
            <a:r>
              <a:rPr lang="zh-CN" altLang="en-US" sz="1400" dirty="0">
                <a:solidFill>
                  <a:schemeClr val="tx1"/>
                </a:solidFill>
                <a:latin typeface="Montserrat" panose="00000500000000000000" pitchFamily="2" charset="0"/>
                <a:ea typeface="微软雅黑 Light" panose="020B0502040204020203" pitchFamily="34" charset="-122"/>
              </a:rPr>
              <a:t>分组时延的标准差，等等。</a:t>
            </a:r>
          </a:p>
          <a:p>
            <a:pPr marL="179388" indent="-179388">
              <a:lnSpc>
                <a:spcPts val="2000"/>
              </a:lnSpc>
              <a:buClr>
                <a:srgbClr val="0070C0"/>
              </a:buClr>
              <a:buFont typeface="Wingdings" pitchFamily="2" charset="2"/>
              <a:buChar char="l"/>
            </a:pPr>
            <a:r>
              <a:rPr lang="zh-CN" altLang="en-US" sz="1400" dirty="0">
                <a:solidFill>
                  <a:srgbClr val="0000FF"/>
                </a:solidFill>
                <a:latin typeface="Montserrat" panose="00000500000000000000" pitchFamily="2" charset="0"/>
                <a:ea typeface="微软雅黑 Light" panose="020B0502040204020203"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2808000" y="144000"/>
            <a:ext cx="3528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真正的发送窗口值 </a:t>
            </a:r>
            <a:r>
              <a:rPr lang="en-US" altLang="zh-CN" sz="2000" dirty="0">
                <a:latin typeface="Montserrat" panose="00000500000000000000" pitchFamily="2" charset="0"/>
                <a:ea typeface="微软雅黑 Light" panose="020B0502040204020203" pitchFamily="34" charset="-122"/>
              </a:rPr>
              <a:t>= Min (</a:t>
            </a:r>
            <a:r>
              <a:rPr lang="zh-CN" altLang="en-US" sz="2000" dirty="0">
                <a:latin typeface="Montserrat" panose="00000500000000000000" pitchFamily="2" charset="0"/>
                <a:ea typeface="微软雅黑 Light" panose="020B0502040204020203" pitchFamily="34" charset="-122"/>
              </a:rPr>
              <a:t>接收方通知的窗口值，拥塞窗口值</a:t>
            </a:r>
            <a:r>
              <a:rPr lang="en-US" altLang="zh-CN" sz="2000" dirty="0">
                <a:latin typeface="Montserrat" panose="00000500000000000000" pitchFamily="2" charset="0"/>
                <a:ea typeface="微软雅黑 Light" panose="020B0502040204020203"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2808000" y="144000"/>
            <a:ext cx="3528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482554"/>
            <a:ext cx="8172000" cy="4120946"/>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2808000" y="144000"/>
            <a:ext cx="3528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20546"/>
          </a:xfrm>
          <a:prstGeom prst="rect">
            <a:avLst/>
          </a:prstGeom>
        </p:spPr>
        <p:txBody>
          <a:bodyPr wrap="square">
            <a:spAutoFit/>
          </a:bodyPr>
          <a:lstStyle/>
          <a:p>
            <a:pPr>
              <a:lnSpc>
                <a:spcPts val="3000"/>
              </a:lnSpc>
            </a:pPr>
            <a:r>
              <a:rPr lang="zh-CN" altLang="en-US" dirty="0">
                <a:latin typeface="微软雅黑 Light" panose="020B0502040204020203" pitchFamily="34" charset="-122"/>
                <a:ea typeface="微软雅黑 Light" panose="020B0502040204020203" pitchFamily="34" charset="-122"/>
              </a:rPr>
              <a:t>因传输出差错而丢弃分组的</a:t>
            </a:r>
            <a:r>
              <a:rPr lang="zh-CN" altLang="en-US" dirty="0">
                <a:solidFill>
                  <a:srgbClr val="C00000"/>
                </a:solidFill>
                <a:latin typeface="微软雅黑 Light" panose="020B0502040204020203" pitchFamily="34" charset="-122"/>
                <a:ea typeface="微软雅黑 Light" panose="020B0502040204020203" pitchFamily="34" charset="-122"/>
              </a:rPr>
              <a:t>概率很小</a:t>
            </a:r>
            <a:r>
              <a:rPr lang="zh-CN" altLang="en-US" dirty="0">
                <a:latin typeface="微软雅黑 Light" panose="020B0502040204020203" pitchFamily="34" charset="-122"/>
                <a:ea typeface="微软雅黑 Light" panose="020B0502040204020203" pitchFamily="34" charset="-122"/>
              </a:rPr>
              <a:t>（远小于</a:t>
            </a:r>
            <a:r>
              <a:rPr lang="en-US" altLang="zh-CN" dirty="0">
                <a:latin typeface="微软雅黑 Light" panose="020B0502040204020203" pitchFamily="34" charset="-122"/>
                <a:ea typeface="微软雅黑 Light" panose="020B0502040204020203" pitchFamily="34" charset="-122"/>
              </a:rPr>
              <a:t>1 %</a:t>
            </a:r>
            <a:r>
              <a:rPr lang="zh-CN" altLang="en-US" dirty="0">
                <a:latin typeface="微软雅黑 Light" panose="020B0502040204020203" pitchFamily="34" charset="-122"/>
                <a:ea typeface="微软雅黑 Light" panose="020B0502040204020203" pitchFamily="34" charset="-122"/>
              </a:rPr>
              <a:t>）。</a:t>
            </a:r>
            <a:endParaRPr lang="en-US" altLang="zh-CN" dirty="0">
              <a:latin typeface="微软雅黑 Light" panose="020B0502040204020203" pitchFamily="34" charset="-122"/>
              <a:ea typeface="微软雅黑 Light" panose="020B0502040204020203" pitchFamily="34" charset="-122"/>
            </a:endParaRPr>
          </a:p>
          <a:p>
            <a:pPr>
              <a:lnSpc>
                <a:spcPts val="3000"/>
              </a:lnSpc>
            </a:pPr>
            <a:r>
              <a:rPr lang="zh-CN" altLang="en-US" dirty="0">
                <a:latin typeface="微软雅黑 Light" panose="020B0502040204020203" pitchFamily="34" charset="-122"/>
                <a:ea typeface="微软雅黑 Light" panose="020B0502040204020203" pitchFamily="34" charset="-122"/>
              </a:rPr>
              <a:t>因此，发送方在超时重传计时器启动时，</a:t>
            </a:r>
            <a:r>
              <a:rPr lang="zh-CN" altLang="en-US" dirty="0">
                <a:solidFill>
                  <a:srgbClr val="C00000"/>
                </a:solidFill>
                <a:latin typeface="微软雅黑 Light" panose="020B0502040204020203" pitchFamily="34" charset="-122"/>
                <a:ea typeface="微软雅黑 Light" panose="020B0502040204020203"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2808000" y="144000"/>
            <a:ext cx="3528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482554"/>
            <a:ext cx="8172000" cy="4120946"/>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482554"/>
            <a:ext cx="8172000" cy="4120946"/>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482554"/>
            <a:ext cx="8172000" cy="4120946"/>
          </a:xfrm>
        </p:spPr>
        <p:txBody>
          <a:bodyPr/>
          <a:lstStyle/>
          <a:p>
            <a:r>
              <a:rPr lang="zh-CN" altLang="en-US" dirty="0"/>
              <a:t>拥塞窗口 </a:t>
            </a:r>
            <a:r>
              <a:rPr lang="en-US" altLang="zh-CN"/>
              <a:t>cwnd </a:t>
            </a:r>
            <a:r>
              <a:rPr lang="zh-CN" altLang="en-US"/>
              <a:t>增大</a:t>
            </a:r>
            <a:r>
              <a:rPr lang="zh-CN" altLang="en-US" dirty="0"/>
              <a:t>：在每收到一个对新的报文段的确认，就把拥塞窗口增加最多一个发送方的最大报文段 </a:t>
            </a:r>
            <a:r>
              <a:rPr lang="en-US" altLang="zh-CN"/>
              <a:t>SMSS  (Sender Maximum Segment Size) </a:t>
            </a:r>
            <a:r>
              <a:rPr lang="zh-CN" altLang="en-US"/>
              <a:t>的</a:t>
            </a:r>
            <a:r>
              <a:rPr lang="zh-CN" altLang="en-US" dirty="0"/>
              <a:t>数值。</a:t>
            </a:r>
          </a:p>
          <a:p>
            <a:r>
              <a:rPr lang="zh-CN" altLang="en-US" dirty="0"/>
              <a:t>其中 </a:t>
            </a:r>
            <a:r>
              <a:rPr lang="en-US" altLang="zh-CN"/>
              <a:t>N </a:t>
            </a:r>
            <a:r>
              <a:rPr lang="zh-CN" altLang="en-US"/>
              <a:t>是</a:t>
            </a:r>
            <a:r>
              <a:rPr lang="zh-CN" altLang="en-US" dirty="0"/>
              <a:t>原先未被确认的、但现在被刚收到的确认报文段所确认的字节数。</a:t>
            </a:r>
          </a:p>
          <a:p>
            <a:endParaRPr lang="zh-CN" altLang="en-US" dirty="0"/>
          </a:p>
        </p:txBody>
      </p:sp>
      <p:sp>
        <p:nvSpPr>
          <p:cNvPr id="39" name="矩形 38"/>
          <p:cNvSpPr/>
          <p:nvPr/>
        </p:nvSpPr>
        <p:spPr>
          <a:xfrm>
            <a:off x="1042543" y="2261782"/>
            <a:ext cx="7213799" cy="57568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拥塞</a:t>
            </a:r>
            <a:r>
              <a:rPr lang="zh-CN" altLang="en-US" sz="2000">
                <a:latin typeface="Montserrat" panose="00000500000000000000" pitchFamily="2" charset="0"/>
                <a:ea typeface="微软雅黑 Light" panose="020B0502040204020203" pitchFamily="34" charset="-122"/>
              </a:rPr>
              <a:t>窗口 </a:t>
            </a:r>
            <a:r>
              <a:rPr lang="en-US" altLang="zh-CN" sz="2000">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每次的增加</a:t>
            </a:r>
            <a:r>
              <a:rPr lang="zh-CN" altLang="en-US" sz="2000">
                <a:latin typeface="Montserrat" panose="00000500000000000000" pitchFamily="2" charset="0"/>
                <a:ea typeface="微软雅黑 Light" panose="020B0502040204020203" pitchFamily="34" charset="-122"/>
              </a:rPr>
              <a:t>量 </a:t>
            </a:r>
            <a:r>
              <a:rPr lang="en-US" altLang="zh-CN" sz="2000" dirty="0">
                <a:latin typeface="Montserrat" panose="00000500000000000000" pitchFamily="2" charset="0"/>
                <a:ea typeface="微软雅黑 Light" panose="020B0502040204020203" pitchFamily="34" charset="-122"/>
              </a:rPr>
              <a:t>= </a:t>
            </a:r>
            <a:r>
              <a:rPr lang="en-US" altLang="zh-CN" sz="2000">
                <a:latin typeface="Montserrat" panose="00000500000000000000" pitchFamily="2" charset="0"/>
                <a:ea typeface="微软雅黑 Light" panose="020B0502040204020203" pitchFamily="34" charset="-122"/>
              </a:rPr>
              <a:t>min (N</a:t>
            </a:r>
            <a:r>
              <a:rPr lang="en-US" altLang="zh-CN" sz="2000" dirty="0">
                <a:latin typeface="Montserrat" panose="00000500000000000000" pitchFamily="2" charset="0"/>
                <a:ea typeface="微软雅黑 Light" panose="020B0502040204020203" pitchFamily="34" charset="-122"/>
              </a:rPr>
              <a:t>, SMSS)          (5-8)</a:t>
            </a:r>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2808000" y="144000"/>
            <a:ext cx="3528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482554"/>
            <a:ext cx="8172000" cy="4120946"/>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2808000" y="144000"/>
            <a:ext cx="3528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482554"/>
            <a:ext cx="8172000" cy="4120946"/>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2808000" y="144000"/>
            <a:ext cx="3528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482554"/>
            <a:ext cx="8172000" cy="4120946"/>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2808000" y="144000"/>
            <a:ext cx="3528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482554"/>
            <a:ext cx="8172000" cy="4120946"/>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2808000" y="144000"/>
            <a:ext cx="3528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482554"/>
            <a:ext cx="8172000" cy="4120946"/>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2808000" y="144000"/>
            <a:ext cx="3528000" cy="338554"/>
          </a:xfrm>
        </p:spPr>
        <p:txBody>
          <a:bodyPr/>
          <a:lstStyle/>
          <a:p>
            <a:r>
              <a:rPr lang="zh-CN" altLang="en-US" dirty="0"/>
              <a:t>快重传</a:t>
            </a:r>
            <a:r>
              <a:rPr lang="en-US" altLang="zh-CN" dirty="0"/>
              <a:t> Fast Retransmission</a:t>
            </a:r>
            <a:endParaRPr lang="zh-CN" altLang="en-US" dirty="0"/>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2808000" y="144000"/>
            <a:ext cx="3528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482554"/>
            <a:ext cx="8172000" cy="4120946"/>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2808000" y="144000"/>
            <a:ext cx="3528000" cy="338554"/>
          </a:xfrm>
        </p:spPr>
        <p:txBody>
          <a:bodyPr/>
          <a:lstStyle/>
          <a:p>
            <a:r>
              <a:rPr lang="zh-CN" altLang="en-US" dirty="0"/>
              <a:t>快恢复</a:t>
            </a:r>
            <a:r>
              <a:rPr lang="en-US" altLang="zh-CN" dirty="0"/>
              <a:t> Fast Recovery</a:t>
            </a:r>
            <a:endParaRPr lang="zh-CN" altLang="en-US" dirty="0"/>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2808000" y="144000"/>
            <a:ext cx="3528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2808000" y="144000"/>
            <a:ext cx="3528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dirty="0">
                <a:latin typeface="Montserrat" panose="00000500000000000000" pitchFamily="2" charset="0"/>
                <a:ea typeface="微软雅黑 Light" panose="020B0502040204020203" pitchFamily="34" charset="-122"/>
              </a:rPr>
              <a:t>发送窗口的上限值 </a:t>
            </a:r>
            <a:r>
              <a:rPr lang="en-US" altLang="zh-CN" sz="2000" dirty="0">
                <a:latin typeface="Montserrat" panose="00000500000000000000" pitchFamily="2" charset="0"/>
                <a:ea typeface="微软雅黑 Light" panose="020B0502040204020203" pitchFamily="34" charset="-122"/>
              </a:rPr>
              <a:t>=</a:t>
            </a:r>
            <a:r>
              <a:rPr lang="zh-CN" altLang="en-US" sz="2000" dirty="0">
                <a:latin typeface="Montserrat" panose="00000500000000000000" pitchFamily="2" charset="0"/>
                <a:ea typeface="微软雅黑 Light" panose="020B0502040204020203" pitchFamily="34" charset="-122"/>
              </a:rPr>
              <a:t> </a:t>
            </a:r>
            <a:r>
              <a:rPr lang="en-US" altLang="zh-CN" sz="2000" dirty="0">
                <a:latin typeface="Montserrat" panose="00000500000000000000" pitchFamily="2" charset="0"/>
                <a:ea typeface="微软雅黑 Light" panose="020B0502040204020203" pitchFamily="34" charset="-122"/>
              </a:rPr>
              <a:t>Min [</a:t>
            </a:r>
            <a:r>
              <a:rPr lang="en-US" altLang="zh-CN" sz="2000" dirty="0" err="1">
                <a:latin typeface="Montserrat" panose="00000500000000000000" pitchFamily="2" charset="0"/>
                <a:ea typeface="微软雅黑 Light" panose="020B0502040204020203" pitchFamily="34" charset="-122"/>
              </a:rPr>
              <a:t>rwnd</a:t>
            </a:r>
            <a:r>
              <a:rPr lang="en-US" altLang="zh-CN" sz="2000" dirty="0">
                <a:latin typeface="Montserrat" panose="00000500000000000000" pitchFamily="2" charset="0"/>
                <a:ea typeface="微软雅黑 Light" panose="020B0502040204020203" pitchFamily="34" charset="-122"/>
              </a:rPr>
              <a:t>, </a:t>
            </a:r>
            <a:r>
              <a:rPr lang="en-US" altLang="zh-CN" sz="2000" dirty="0" err="1">
                <a:latin typeface="Montserrat" panose="00000500000000000000" pitchFamily="2" charset="0"/>
                <a:ea typeface="微软雅黑 Light" panose="020B0502040204020203" pitchFamily="34" charset="-122"/>
              </a:rPr>
              <a:t>cwnd</a:t>
            </a:r>
            <a:r>
              <a:rPr lang="en-US" altLang="zh-CN" sz="2000" dirty="0">
                <a:latin typeface="Montserrat" panose="00000500000000000000" pitchFamily="2" charset="0"/>
                <a:ea typeface="微软雅黑 Light" panose="020B0502040204020203"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482554"/>
            <a:ext cx="8172000" cy="4120946"/>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2808000" y="144000"/>
            <a:ext cx="3528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2808000" y="144000"/>
            <a:ext cx="3528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482554"/>
            <a:ext cx="8172000" cy="4120946"/>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2808000" y="144000"/>
            <a:ext cx="3528000" cy="338554"/>
          </a:xfrm>
        </p:spPr>
        <p:txBody>
          <a:bodyPr/>
          <a:lstStyle/>
          <a:p>
            <a:r>
              <a:rPr lang="zh-CN" altLang="en-US" dirty="0"/>
              <a:t>先进先出 </a:t>
            </a:r>
            <a:r>
              <a:rPr lang="en-US" altLang="zh-CN" dirty="0"/>
              <a:t>FIFO </a:t>
            </a:r>
            <a:endParaRPr lang="zh-CN" altLang="en-US" dirty="0"/>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2808000" y="144000"/>
            <a:ext cx="3528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2808000" y="144000"/>
            <a:ext cx="3528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482554"/>
            <a:ext cx="8172000" cy="4120946"/>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2808000" y="144000"/>
            <a:ext cx="3528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482554"/>
            <a:ext cx="8172000" cy="4120946"/>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482554"/>
            <a:ext cx="8172000" cy="4120946"/>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2808000" y="144000"/>
            <a:ext cx="3528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0" name="内容占位符 9">
            <a:extLst>
              <a:ext uri="{FF2B5EF4-FFF2-40B4-BE49-F238E27FC236}">
                <a16:creationId xmlns:a16="http://schemas.microsoft.com/office/drawing/2014/main" id="{14FC28B3-08DC-BAF6-0B75-C17B219A0C24}"/>
              </a:ext>
            </a:extLst>
          </p:cNvPr>
          <p:cNvSpPr>
            <a:spLocks noGrp="1"/>
          </p:cNvSpPr>
          <p:nvPr>
            <p:ph sz="quarter" idx="11"/>
          </p:nvPr>
        </p:nvSpPr>
        <p:spPr/>
        <p:txBody>
          <a:bodyPr/>
          <a:lstStyle/>
          <a:p>
            <a:endParaRPr lang="zh-CN" altLang="en-US"/>
          </a:p>
        </p:txBody>
      </p:sp>
      <p:sp>
        <p:nvSpPr>
          <p:cNvPr id="9" name="标题 8">
            <a:extLst>
              <a:ext uri="{FF2B5EF4-FFF2-40B4-BE49-F238E27FC236}">
                <a16:creationId xmlns:a16="http://schemas.microsoft.com/office/drawing/2014/main" id="{F702E7E8-5CAA-932A-57D0-653D47D5AA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2808000" y="144000"/>
            <a:ext cx="3528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482554"/>
            <a:ext cx="8172000" cy="4120946"/>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2808000" y="144000"/>
            <a:ext cx="3528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2808000" y="144000"/>
            <a:ext cx="3528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2194A7F-D144-00CF-586C-1B78B1A0DD71}"/>
              </a:ext>
            </a:extLst>
          </p:cNvPr>
          <p:cNvGrpSpPr/>
          <p:nvPr/>
        </p:nvGrpSpPr>
        <p:grpSpPr>
          <a:xfrm>
            <a:off x="2827328" y="881788"/>
            <a:ext cx="3489344" cy="3348000"/>
            <a:chOff x="2464083" y="881788"/>
            <a:chExt cx="3489344" cy="334800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grpSp>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300867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613532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792675"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919325"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3008675"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3008675"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3008675"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4007583"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678967"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929036"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568675"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6135325"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6135325"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568675"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6135325"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568675"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6135325"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3132000"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31597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53330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482554"/>
            <a:ext cx="8172000" cy="4120946"/>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2808000" y="144000"/>
            <a:ext cx="3528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2808000" y="144000"/>
            <a:ext cx="3528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304107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6167725"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825075"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951725"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3041074"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3026675"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3041074"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6182125"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730675"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6182125"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730675"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6182125"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3164400"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3192177"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5365498"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956627"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870868"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855639"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850832"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6182125"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730675"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723475"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3026675"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5046057"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935775"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723475"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23475"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665875"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482554"/>
            <a:ext cx="8172000" cy="4120946"/>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2808000" y="144000"/>
            <a:ext cx="3528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482554"/>
            <a:ext cx="8172000" cy="4120946"/>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2808000" y="144000"/>
            <a:ext cx="3528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2808000" y="144000"/>
            <a:ext cx="3528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8080</TotalTime>
  <Words>17820</Words>
  <Application>Microsoft Office PowerPoint</Application>
  <PresentationFormat>全屏显示(16:9)</PresentationFormat>
  <Paragraphs>4218</Paragraphs>
  <Slides>212</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212</vt:i4>
      </vt:variant>
    </vt:vector>
  </HeadingPairs>
  <TitlesOfParts>
    <vt:vector size="225" baseType="lpstr">
      <vt:lpstr>宋体</vt:lpstr>
      <vt:lpstr>微软雅黑 Light</vt:lpstr>
      <vt:lpstr>Montserrat</vt:lpstr>
      <vt:lpstr>Symbol</vt:lpstr>
      <vt:lpstr>Courier New</vt:lpstr>
      <vt:lpstr>Arial</vt:lpstr>
      <vt:lpstr>Cambria Math</vt:lpstr>
      <vt:lpstr>Calibri</vt:lpstr>
      <vt:lpstr>Wingdings</vt:lpstr>
      <vt:lpstr>微软雅黑</vt:lpstr>
      <vt:lpstr>network</vt:lpstr>
      <vt:lpstr>Visio</vt:lpstr>
      <vt:lpstr>公式</vt:lpstr>
      <vt:lpstr>PowerPoint 演示文稿</vt:lpstr>
      <vt:lpstr>计算机网络体系结构</vt:lpstr>
      <vt:lpstr>PowerPoint 演示文稿</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窗口的滑动</vt:lpstr>
      <vt:lpstr>窗口的滑动</vt:lpstr>
      <vt:lpstr>窗口的滑动</vt:lpstr>
      <vt:lpstr>窗口的滑动</vt:lpstr>
      <vt:lpstr>窗口的滑动</vt:lpstr>
      <vt:lpstr>窗口的滑动</vt:lpstr>
      <vt:lpstr>窗口的滑动</vt:lpstr>
      <vt:lpstr>接收缓存与接收窗口 </vt:lpstr>
      <vt:lpstr>接收缓存与接收窗口 </vt:lpstr>
      <vt:lpstr>需要强调三点</vt:lpstr>
      <vt:lpstr>5.6.2   超时重传时间的选择</vt:lpstr>
      <vt:lpstr>TCP 超时重传时间设置</vt:lpstr>
      <vt:lpstr>加权平均往返时间 RTTS </vt:lpstr>
      <vt:lpstr>超时重传时间 RTO</vt:lpstr>
      <vt:lpstr>往返时间 (RTT) 的测量相当复杂</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Fast Retransmission</vt:lpstr>
      <vt:lpstr>快重传举例</vt:lpstr>
      <vt:lpstr>快恢复 Fast Recovery</vt:lpstr>
      <vt:lpstr>慢开始和拥塞避免算法的实现举例</vt:lpstr>
      <vt:lpstr>慢开始和拥塞避免算法的实现举例</vt:lpstr>
      <vt:lpstr>TCP 拥塞控制流程图</vt:lpstr>
      <vt:lpstr>发送窗口的上限值</vt:lpstr>
      <vt:lpstr>5.8.3   主动队列管理 AQM</vt:lpstr>
      <vt:lpstr>先进先出 FIFO </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690</cp:revision>
  <dcterms:created xsi:type="dcterms:W3CDTF">2018-07-18T08:51:30Z</dcterms:created>
  <dcterms:modified xsi:type="dcterms:W3CDTF">2025-11-24T07:50:43Z</dcterms:modified>
</cp:coreProperties>
</file>