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14"/>
  </p:notesMasterIdLst>
  <p:sldIdLst>
    <p:sldId id="257" r:id="rId2"/>
    <p:sldId id="693" r:id="rId3"/>
    <p:sldId id="446" r:id="rId4"/>
    <p:sldId id="750" r:id="rId5"/>
    <p:sldId id="449" r:id="rId6"/>
    <p:sldId id="470" r:id="rId7"/>
    <p:sldId id="450" r:id="rId8"/>
    <p:sldId id="265" r:id="rId9"/>
    <p:sldId id="267" r:id="rId10"/>
    <p:sldId id="268" r:id="rId11"/>
    <p:sldId id="659" r:id="rId12"/>
    <p:sldId id="468" r:id="rId13"/>
    <p:sldId id="458" r:id="rId14"/>
    <p:sldId id="661" r:id="rId15"/>
    <p:sldId id="662" r:id="rId16"/>
    <p:sldId id="663" r:id="rId17"/>
    <p:sldId id="276" r:id="rId18"/>
    <p:sldId id="277" r:id="rId19"/>
    <p:sldId id="278" r:id="rId20"/>
    <p:sldId id="279" r:id="rId21"/>
    <p:sldId id="737" r:id="rId22"/>
    <p:sldId id="471" r:id="rId23"/>
    <p:sldId id="472" r:id="rId24"/>
    <p:sldId id="473" r:id="rId25"/>
    <p:sldId id="667" r:id="rId26"/>
    <p:sldId id="734" r:id="rId27"/>
    <p:sldId id="475" r:id="rId28"/>
    <p:sldId id="694" r:id="rId29"/>
    <p:sldId id="736" r:id="rId30"/>
    <p:sldId id="696" r:id="rId31"/>
    <p:sldId id="735" r:id="rId32"/>
    <p:sldId id="476" r:id="rId33"/>
    <p:sldId id="668" r:id="rId34"/>
    <p:sldId id="477" r:id="rId35"/>
    <p:sldId id="478" r:id="rId36"/>
    <p:sldId id="479" r:id="rId37"/>
    <p:sldId id="751" r:id="rId38"/>
    <p:sldId id="480" r:id="rId39"/>
    <p:sldId id="481" r:id="rId40"/>
    <p:sldId id="482" r:id="rId41"/>
    <p:sldId id="669" r:id="rId42"/>
    <p:sldId id="483" r:id="rId43"/>
    <p:sldId id="484" r:id="rId44"/>
    <p:sldId id="671" r:id="rId45"/>
    <p:sldId id="486" r:id="rId46"/>
    <p:sldId id="488" r:id="rId47"/>
    <p:sldId id="672" r:id="rId48"/>
    <p:sldId id="489" r:id="rId49"/>
    <p:sldId id="490" r:id="rId50"/>
    <p:sldId id="491" r:id="rId51"/>
    <p:sldId id="492" r:id="rId52"/>
    <p:sldId id="493" r:id="rId53"/>
    <p:sldId id="494" r:id="rId54"/>
    <p:sldId id="495" r:id="rId55"/>
    <p:sldId id="497" r:id="rId56"/>
    <p:sldId id="673" r:id="rId57"/>
    <p:sldId id="697" r:id="rId58"/>
    <p:sldId id="738" r:id="rId59"/>
    <p:sldId id="498" r:id="rId60"/>
    <p:sldId id="739" r:id="rId61"/>
    <p:sldId id="501" r:id="rId62"/>
    <p:sldId id="505" r:id="rId63"/>
    <p:sldId id="504" r:id="rId64"/>
    <p:sldId id="509" r:id="rId65"/>
    <p:sldId id="676" r:id="rId66"/>
    <p:sldId id="740" r:id="rId67"/>
    <p:sldId id="749" r:id="rId68"/>
    <p:sldId id="513" r:id="rId69"/>
    <p:sldId id="698" r:id="rId70"/>
    <p:sldId id="680" r:id="rId71"/>
    <p:sldId id="520" r:id="rId72"/>
    <p:sldId id="742" r:id="rId73"/>
    <p:sldId id="741" r:id="rId74"/>
    <p:sldId id="521" r:id="rId75"/>
    <p:sldId id="522" r:id="rId76"/>
    <p:sldId id="523" r:id="rId77"/>
    <p:sldId id="524" r:id="rId78"/>
    <p:sldId id="525" r:id="rId79"/>
    <p:sldId id="526" r:id="rId80"/>
    <p:sldId id="527" r:id="rId81"/>
    <p:sldId id="528" r:id="rId82"/>
    <p:sldId id="529" r:id="rId83"/>
    <p:sldId id="530" r:id="rId84"/>
    <p:sldId id="531" r:id="rId85"/>
    <p:sldId id="532" r:id="rId86"/>
    <p:sldId id="533" r:id="rId87"/>
    <p:sldId id="534" r:id="rId88"/>
    <p:sldId id="535" r:id="rId89"/>
    <p:sldId id="536" r:id="rId90"/>
    <p:sldId id="537" r:id="rId91"/>
    <p:sldId id="702" r:id="rId92"/>
    <p:sldId id="701" r:id="rId93"/>
    <p:sldId id="703" r:id="rId94"/>
    <p:sldId id="705" r:id="rId95"/>
    <p:sldId id="707" r:id="rId96"/>
    <p:sldId id="708" r:id="rId97"/>
    <p:sldId id="709" r:id="rId98"/>
    <p:sldId id="541" r:id="rId99"/>
    <p:sldId id="542" r:id="rId100"/>
    <p:sldId id="543" r:id="rId101"/>
    <p:sldId id="710" r:id="rId102"/>
    <p:sldId id="546" r:id="rId103"/>
    <p:sldId id="711" r:id="rId104"/>
    <p:sldId id="713" r:id="rId105"/>
    <p:sldId id="715" r:id="rId106"/>
    <p:sldId id="716" r:id="rId107"/>
    <p:sldId id="717" r:id="rId108"/>
    <p:sldId id="718" r:id="rId109"/>
    <p:sldId id="721" r:id="rId110"/>
    <p:sldId id="722" r:id="rId111"/>
    <p:sldId id="719" r:id="rId112"/>
    <p:sldId id="552" r:id="rId113"/>
    <p:sldId id="554" r:id="rId114"/>
    <p:sldId id="555" r:id="rId115"/>
    <p:sldId id="557" r:id="rId116"/>
    <p:sldId id="559" r:id="rId117"/>
    <p:sldId id="560" r:id="rId118"/>
    <p:sldId id="561" r:id="rId119"/>
    <p:sldId id="562" r:id="rId120"/>
    <p:sldId id="563" r:id="rId121"/>
    <p:sldId id="564" r:id="rId122"/>
    <p:sldId id="723" r:id="rId123"/>
    <p:sldId id="567" r:id="rId124"/>
    <p:sldId id="566" r:id="rId125"/>
    <p:sldId id="568" r:id="rId126"/>
    <p:sldId id="569" r:id="rId127"/>
    <p:sldId id="571" r:id="rId128"/>
    <p:sldId id="743" r:id="rId129"/>
    <p:sldId id="724" r:id="rId130"/>
    <p:sldId id="573" r:id="rId131"/>
    <p:sldId id="574" r:id="rId132"/>
    <p:sldId id="575" r:id="rId133"/>
    <p:sldId id="576" r:id="rId134"/>
    <p:sldId id="578" r:id="rId135"/>
    <p:sldId id="579" r:id="rId136"/>
    <p:sldId id="580" r:id="rId137"/>
    <p:sldId id="581" r:id="rId138"/>
    <p:sldId id="582" r:id="rId139"/>
    <p:sldId id="685" r:id="rId140"/>
    <p:sldId id="583" r:id="rId141"/>
    <p:sldId id="727" r:id="rId142"/>
    <p:sldId id="585" r:id="rId143"/>
    <p:sldId id="586" r:id="rId144"/>
    <p:sldId id="587" r:id="rId145"/>
    <p:sldId id="731" r:id="rId146"/>
    <p:sldId id="729" r:id="rId147"/>
    <p:sldId id="730" r:id="rId148"/>
    <p:sldId id="592" r:id="rId149"/>
    <p:sldId id="593" r:id="rId150"/>
    <p:sldId id="594" r:id="rId151"/>
    <p:sldId id="595" r:id="rId152"/>
    <p:sldId id="596" r:id="rId153"/>
    <p:sldId id="597" r:id="rId154"/>
    <p:sldId id="598" r:id="rId155"/>
    <p:sldId id="599" r:id="rId156"/>
    <p:sldId id="600" r:id="rId157"/>
    <p:sldId id="686" r:id="rId158"/>
    <p:sldId id="687" r:id="rId159"/>
    <p:sldId id="601" r:id="rId160"/>
    <p:sldId id="744" r:id="rId161"/>
    <p:sldId id="603" r:id="rId162"/>
    <p:sldId id="604" r:id="rId163"/>
    <p:sldId id="605" r:id="rId164"/>
    <p:sldId id="606" r:id="rId165"/>
    <p:sldId id="607" r:id="rId166"/>
    <p:sldId id="608" r:id="rId167"/>
    <p:sldId id="609" r:id="rId168"/>
    <p:sldId id="611" r:id="rId169"/>
    <p:sldId id="612" r:id="rId170"/>
    <p:sldId id="613" r:id="rId171"/>
    <p:sldId id="614" r:id="rId172"/>
    <p:sldId id="616" r:id="rId173"/>
    <p:sldId id="618" r:id="rId174"/>
    <p:sldId id="619" r:id="rId175"/>
    <p:sldId id="732" r:id="rId176"/>
    <p:sldId id="733" r:id="rId177"/>
    <p:sldId id="622" r:id="rId178"/>
    <p:sldId id="623" r:id="rId179"/>
    <p:sldId id="624" r:id="rId180"/>
    <p:sldId id="689" r:id="rId181"/>
    <p:sldId id="625" r:id="rId182"/>
    <p:sldId id="626" r:id="rId183"/>
    <p:sldId id="627" r:id="rId184"/>
    <p:sldId id="628" r:id="rId185"/>
    <p:sldId id="629" r:id="rId186"/>
    <p:sldId id="691" r:id="rId187"/>
    <p:sldId id="630" r:id="rId188"/>
    <p:sldId id="631" r:id="rId189"/>
    <p:sldId id="632" r:id="rId190"/>
    <p:sldId id="633" r:id="rId191"/>
    <p:sldId id="634" r:id="rId192"/>
    <p:sldId id="635" r:id="rId193"/>
    <p:sldId id="637" r:id="rId194"/>
    <p:sldId id="745" r:id="rId195"/>
    <p:sldId id="638" r:id="rId196"/>
    <p:sldId id="639" r:id="rId197"/>
    <p:sldId id="640" r:id="rId198"/>
    <p:sldId id="641" r:id="rId199"/>
    <p:sldId id="642" r:id="rId200"/>
    <p:sldId id="643" r:id="rId201"/>
    <p:sldId id="644" r:id="rId202"/>
    <p:sldId id="746" r:id="rId203"/>
    <p:sldId id="645" r:id="rId204"/>
    <p:sldId id="646" r:id="rId205"/>
    <p:sldId id="647" r:id="rId206"/>
    <p:sldId id="649" r:id="rId207"/>
    <p:sldId id="650" r:id="rId208"/>
    <p:sldId id="652" r:id="rId209"/>
    <p:sldId id="748" r:id="rId210"/>
    <p:sldId id="653" r:id="rId211"/>
    <p:sldId id="654" r:id="rId212"/>
    <p:sldId id="655" r:id="rId213"/>
  </p:sldIdLst>
  <p:sldSz cx="9144000" cy="5143500" type="screen16x9"/>
  <p:notesSz cx="6858000" cy="9144000"/>
  <p:embeddedFontLst>
    <p:embeddedFont>
      <p:font typeface="Cambria Math" panose="02040503050406030204" pitchFamily="18" charset="0"/>
      <p:regular r:id="rId215"/>
    </p:embeddedFont>
    <p:embeddedFont>
      <p:font typeface="Montserrat" panose="00000500000000000000" pitchFamily="2" charset="0"/>
      <p:regular r:id="rId216"/>
    </p:embeddedFont>
    <p:embeddedFont>
      <p:font typeface="微软雅黑" panose="020B0503020204020204" pitchFamily="34" charset="-122"/>
      <p:regular r:id="rId217"/>
      <p:bold r:id="rId218"/>
    </p:embeddedFont>
    <p:embeddedFont>
      <p:font typeface="微软雅黑 Light" panose="020B0502040204020203" pitchFamily="34" charset="-122"/>
      <p:regular r:id="rId21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5420"/>
    <a:srgbClr val="FAC090"/>
    <a:srgbClr val="E46C0A"/>
    <a:srgbClr val="00B050"/>
    <a:srgbClr val="7F131F"/>
    <a:srgbClr val="0000FF"/>
    <a:srgbClr val="85D1F7"/>
    <a:srgbClr val="FFFF00"/>
    <a:srgbClr val="00FF99"/>
    <a:srgbClr val="33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00" d="100"/>
          <a:sy n="100" d="100"/>
        </p:scale>
        <p:origin x="1986" y="91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font" Target="fonts/font2.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font" Target="fonts/font3.fntdata"/><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font" Target="fonts/font4.fntdata"/><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font" Target="fonts/font5.fntdata"/><Relationship Id="rId3" Type="http://schemas.openxmlformats.org/officeDocument/2006/relationships/slide" Target="slides/slide2.xml"/><Relationship Id="rId214" Type="http://schemas.openxmlformats.org/officeDocument/2006/relationships/notesMaster" Target="notesMasters/notesMaster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font" Target="fonts/font1.fntdata"/><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viewProps" Target="view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theme" Target="theme/theme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tableStyles" Target="tableStyle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1</a:t>
          </a:r>
          <a:r>
            <a:rPr lang="zh-CN" altLang="en-US" sz="1600" b="0" dirty="0">
              <a:solidFill>
                <a:schemeClr val="bg1"/>
              </a:solidFill>
              <a:latin typeface="Montserrat" panose="00000500000000000000" pitchFamily="2" charset="0"/>
              <a:ea typeface="微软雅黑 Light" panose="020B0502040204020203" pitchFamily="34" charset="-122"/>
            </a:rPr>
            <a:t>，监测</a:t>
          </a:r>
        </a:p>
      </dgm:t>
    </dgm:pt>
    <dgm:pt modelId="{44CB9315-4D10-4A42-8F72-3E9848B40F7E}" type="par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F111A3-8B10-4CBC-8988-6D6887B08325}" type="sib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B1C92E2-7636-49C1-BF40-059D1DCC39AD}">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2</a:t>
          </a:r>
          <a:r>
            <a:rPr lang="zh-CN" altLang="en-US" sz="1600" b="0" dirty="0">
              <a:solidFill>
                <a:schemeClr val="bg1"/>
              </a:solidFill>
              <a:latin typeface="Montserrat" panose="00000500000000000000" pitchFamily="2" charset="0"/>
              <a:ea typeface="微软雅黑 Light" panose="020B0502040204020203" pitchFamily="34" charset="-122"/>
            </a:rPr>
            <a:t>，传送</a:t>
          </a:r>
        </a:p>
      </dgm:t>
    </dgm:pt>
    <dgm:pt modelId="{21AAF4E5-69AF-4C41-93F3-EC6C16982352}" type="par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75B598-83FA-4739-BC24-308DF11DC7CA}" type="sib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BFEC3037-4009-4C92-8BB3-BA004A9EDEF3}">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3</a:t>
          </a:r>
          <a:r>
            <a:rPr lang="zh-CN" altLang="en-US" sz="1600" b="0" dirty="0">
              <a:solidFill>
                <a:schemeClr val="bg1"/>
              </a:solidFill>
              <a:latin typeface="Montserrat" panose="00000500000000000000" pitchFamily="2" charset="0"/>
              <a:ea typeface="微软雅黑 Light" panose="020B0502040204020203" pitchFamily="34" charset="-122"/>
            </a:rPr>
            <a:t>，调整</a:t>
          </a:r>
        </a:p>
      </dgm:t>
    </dgm:pt>
    <dgm:pt modelId="{299766ED-4FD8-49B8-8966-BB112C1AF417}" type="par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62DCE1-5C72-4E17-8F99-D370708BAF3E}" type="sib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2AA590A-EE21-4EB6-BB9F-B28697A25CB4}">
      <dgm:prSet phldrT="[文本]" custT="1"/>
      <dgm:spPr/>
      <dgm:t>
        <a:bodyPr/>
        <a:lstStyle/>
        <a:p>
          <a:r>
            <a:rPr lang="zh-CN" altLang="en-US" sz="1600" b="0" dirty="0">
              <a:latin typeface="Montserrat" panose="00000500000000000000" pitchFamily="2" charset="0"/>
              <a:ea typeface="微软雅黑 Light" panose="020B0502040204020203" pitchFamily="34" charset="-122"/>
            </a:rPr>
            <a:t>监测网络系统，检测拥塞在何时、何处发生。</a:t>
          </a:r>
        </a:p>
      </dgm:t>
    </dgm:pt>
    <dgm:pt modelId="{0C98080D-3654-474A-825B-D81CD9A72ADE}" type="par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F55A7609-F61D-45B1-8BFC-84CC6700C8D4}" type="sib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CA39C50-B6AD-43B9-8AA3-4AB1AB59AC80}">
      <dgm:prSet phldrT="[文本]" custT="1"/>
      <dgm:spPr/>
      <dgm:t>
        <a:bodyPr/>
        <a:lstStyle/>
        <a:p>
          <a:r>
            <a:rPr lang="zh-CN" altLang="en-US" sz="1600" b="0" dirty="0">
              <a:latin typeface="Montserrat" panose="00000500000000000000" pitchFamily="2" charset="0"/>
              <a:ea typeface="微软雅黑 Light" panose="020B0502040204020203"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A854CB13-5B4C-47C5-ACEA-5A400774CEFF}" type="sib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D49692-B4B1-4D68-A9E2-E3D245C6255F}">
      <dgm:prSet phldrT="[文本]" custT="1"/>
      <dgm:spPr/>
      <dgm:t>
        <a:bodyPr/>
        <a:lstStyle/>
        <a:p>
          <a:r>
            <a:rPr lang="zh-CN" altLang="en-US" sz="1600" b="0" dirty="0">
              <a:latin typeface="Montserrat" panose="00000500000000000000" pitchFamily="2" charset="0"/>
              <a:ea typeface="微软雅黑 Light" panose="020B0502040204020203" pitchFamily="34" charset="-122"/>
            </a:rPr>
            <a:t>调整网络系统的运行以解决出现的问题。</a:t>
          </a:r>
        </a:p>
      </dgm:t>
    </dgm:pt>
    <dgm:pt modelId="{17E9933C-7CE1-4429-A3B4-A3589880FB60}" type="par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7F25A2CD-3124-47ED-9234-CB2EC135A7DC}" type="sib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dirty="0">
              <a:latin typeface="微软雅黑" panose="020B0503020204020204" pitchFamily="34" charset="-122"/>
              <a:ea typeface="微软雅黑" panose="020B0503020204020204" pitchFamily="34" charset="-122"/>
            </a:rPr>
            <a:t>收到 </a:t>
          </a:r>
          <a:r>
            <a:rPr lang="en-US" altLang="en-US"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个重复的确认</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3</a:t>
          </a:r>
          <a:r>
            <a:rPr lang="zh-CN" altLang="en-US" sz="1600" b="0" kern="1200" dirty="0">
              <a:solidFill>
                <a:schemeClr val="bg1"/>
              </a:solidFill>
              <a:latin typeface="Montserrat" panose="00000500000000000000" pitchFamily="2" charset="0"/>
              <a:ea typeface="微软雅黑 Light" panose="020B0502040204020203"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2</a:t>
          </a:r>
          <a:r>
            <a:rPr lang="zh-CN" altLang="en-US" sz="1600" b="0" kern="1200" dirty="0">
              <a:solidFill>
                <a:schemeClr val="bg1"/>
              </a:solidFill>
              <a:latin typeface="Montserrat" panose="00000500000000000000" pitchFamily="2" charset="0"/>
              <a:ea typeface="微软雅黑 Light" panose="020B0502040204020203"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1</a:t>
          </a:r>
          <a:r>
            <a:rPr lang="zh-CN" altLang="en-US" sz="1600" b="0" kern="1200" dirty="0">
              <a:solidFill>
                <a:schemeClr val="bg1"/>
              </a:solidFill>
              <a:latin typeface="Montserrat" panose="00000500000000000000" pitchFamily="2" charset="0"/>
              <a:ea typeface="微软雅黑 Light" panose="020B0502040204020203"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监测网络系统，检测拥塞在何时、何处发生。</a:t>
          </a:r>
        </a:p>
      </dsp:txBody>
      <dsp:txXfrm>
        <a:off x="0" y="376483"/>
        <a:ext cx="4409319" cy="32028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收到 </a:t>
          </a:r>
          <a:r>
            <a:rPr lang="en-US" altLang="en-US"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个重复的确认</a:t>
          </a:r>
        </a:p>
      </dsp:txBody>
      <dsp:txXfrm>
        <a:off x="37508" y="844296"/>
        <a:ext cx="2599772" cy="69333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2025/11/24</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61</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94</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482554"/>
            <a:ext cx="8172000" cy="41209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482554"/>
            <a:ext cx="4086001" cy="41209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C00000"/>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grpSp>
        <p:nvGrpSpPr>
          <p:cNvPr id="2" name="组合 1">
            <a:extLst>
              <a:ext uri="{FF2B5EF4-FFF2-40B4-BE49-F238E27FC236}">
                <a16:creationId xmlns:a16="http://schemas.microsoft.com/office/drawing/2014/main" id="{147105FF-168D-FF08-FADC-1711B59A628F}"/>
              </a:ext>
            </a:extLst>
          </p:cNvPr>
          <p:cNvGrpSpPr/>
          <p:nvPr userDrawn="1"/>
        </p:nvGrpSpPr>
        <p:grpSpPr>
          <a:xfrm>
            <a:off x="3566960" y="4783500"/>
            <a:ext cx="2249426" cy="360000"/>
            <a:chOff x="3566960" y="149234"/>
            <a:chExt cx="2249426"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206124"/>
              <a:ext cx="1065213"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000" b="0" dirty="0">
                  <a:solidFill>
                    <a:srgbClr val="7F131F"/>
                  </a:solidFill>
                  <a:latin typeface="微软雅黑" pitchFamily="34" charset="-122"/>
                  <a:ea typeface="微软雅黑" pitchFamily="34" charset="-122"/>
                </a:rPr>
                <a:t>广州华立学院</a:t>
              </a:r>
              <a:endParaRPr lang="fr-FR" sz="10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66960" y="206124"/>
              <a:ext cx="825867"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000" b="0" dirty="0">
                  <a:solidFill>
                    <a:srgbClr val="7F131F"/>
                  </a:solidFill>
                  <a:latin typeface="微软雅黑" pitchFamily="34" charset="-122"/>
                  <a:ea typeface="微软雅黑" pitchFamily="34" charset="-122"/>
                </a:rPr>
                <a:t>计算机网络</a:t>
              </a:r>
              <a:endParaRPr lang="fr-FR" altLang="zh-CN" sz="1000" b="0" dirty="0">
                <a:solidFill>
                  <a:srgbClr val="7F131F"/>
                </a:solidFill>
                <a:latin typeface="微软雅黑" pitchFamily="34" charset="-122"/>
                <a:ea typeface="微软雅黑"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5.xml"/><Relationship Id="rId5" Type="http://schemas.openxmlformats.org/officeDocument/2006/relationships/image" Target="../media/image13.svg"/><Relationship Id="rId4" Type="http://schemas.openxmlformats.org/officeDocument/2006/relationships/image" Target="../media/image12.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2808000" y="144000"/>
            <a:ext cx="3528000" cy="338554"/>
          </a:xfr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D33CA743-054A-BE5D-BDE6-CFC7F93B8757}"/>
              </a:ext>
            </a:extLst>
          </p:cNvPr>
          <p:cNvSpPr/>
          <p:nvPr/>
        </p:nvSpPr>
        <p:spPr>
          <a:xfrm>
            <a:off x="5983013"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2122B32A-D0EF-6AB3-9A57-600FD3C24511}"/>
              </a:ext>
            </a:extLst>
          </p:cNvPr>
          <p:cNvSpPr/>
          <p:nvPr/>
        </p:nvSpPr>
        <p:spPr>
          <a:xfrm>
            <a:off x="5983013"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E7DD729-B989-53E1-3DAF-EE1B6E466102}"/>
              </a:ext>
            </a:extLst>
          </p:cNvPr>
          <p:cNvSpPr/>
          <p:nvPr/>
        </p:nvSpPr>
        <p:spPr>
          <a:xfrm>
            <a:off x="5983013"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70F1386D-C583-C301-A069-D436D5331999}"/>
              </a:ext>
            </a:extLst>
          </p:cNvPr>
          <p:cNvSpPr/>
          <p:nvPr/>
        </p:nvSpPr>
        <p:spPr>
          <a:xfrm>
            <a:off x="5983013"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8BB8BAB7-B7F0-4C81-03AA-FEAB21ABD62C}"/>
              </a:ext>
            </a:extLst>
          </p:cNvPr>
          <p:cNvSpPr/>
          <p:nvPr/>
        </p:nvSpPr>
        <p:spPr>
          <a:xfrm>
            <a:off x="5983013"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Text Box 13">
            <a:extLst>
              <a:ext uri="{FF2B5EF4-FFF2-40B4-BE49-F238E27FC236}">
                <a16:creationId xmlns:a16="http://schemas.microsoft.com/office/drawing/2014/main" id="{C2843937-7961-B922-1CB5-074F9BCDF605}"/>
              </a:ext>
            </a:extLst>
          </p:cNvPr>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1" name="Text Box 12">
            <a:extLst>
              <a:ext uri="{FF2B5EF4-FFF2-40B4-BE49-F238E27FC236}">
                <a16:creationId xmlns:a16="http://schemas.microsoft.com/office/drawing/2014/main" id="{E16D3BF7-6063-B1A7-991D-60D892FD6962}"/>
              </a:ext>
            </a:extLst>
          </p:cNvPr>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2" name="Text Box 113">
            <a:extLst>
              <a:ext uri="{FF2B5EF4-FFF2-40B4-BE49-F238E27FC236}">
                <a16:creationId xmlns:a16="http://schemas.microsoft.com/office/drawing/2014/main" id="{837308FE-E63D-4269-92B0-1B2B882AAF44}"/>
              </a:ext>
            </a:extLst>
          </p:cNvPr>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4" name="立方体 13">
            <a:extLst>
              <a:ext uri="{FF2B5EF4-FFF2-40B4-BE49-F238E27FC236}">
                <a16:creationId xmlns:a16="http://schemas.microsoft.com/office/drawing/2014/main" id="{99B4904F-D501-0CC2-29E9-A9CB4C58ABA4}"/>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1E0D48EC-AC35-E89F-F9BD-9F05F9FEBC54}"/>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61393E26-548A-5A52-C3BE-B1102CA9A552}"/>
              </a:ext>
            </a:extLst>
          </p:cNvPr>
          <p:cNvSpPr/>
          <p:nvPr/>
        </p:nvSpPr>
        <p:spPr>
          <a:xfrm>
            <a:off x="1079467"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A952F0B2-34BB-EA05-5E70-9E12A999BE41}"/>
              </a:ext>
            </a:extLst>
          </p:cNvPr>
          <p:cNvSpPr/>
          <p:nvPr/>
        </p:nvSpPr>
        <p:spPr>
          <a:xfrm>
            <a:off x="1079467"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1ED0A4D-2001-0B4E-22E8-CB8C747EECF9}"/>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5A581EAB-A311-FE5D-C43C-D28A3C956571}"/>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DFC7F83B-4C87-7CC3-AF15-F2BE53F16E92}"/>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2" name="立方体 21">
            <a:extLst>
              <a:ext uri="{FF2B5EF4-FFF2-40B4-BE49-F238E27FC236}">
                <a16:creationId xmlns:a16="http://schemas.microsoft.com/office/drawing/2014/main" id="{88DB8F8C-1AEF-52E0-A864-6A2A96404695}"/>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3" name="立方体 22">
            <a:extLst>
              <a:ext uri="{FF2B5EF4-FFF2-40B4-BE49-F238E27FC236}">
                <a16:creationId xmlns:a16="http://schemas.microsoft.com/office/drawing/2014/main" id="{AAAD7765-521D-342F-0D1E-89576F612806}"/>
              </a:ext>
            </a:extLst>
          </p:cNvPr>
          <p:cNvSpPr/>
          <p:nvPr/>
        </p:nvSpPr>
        <p:spPr>
          <a:xfrm>
            <a:off x="3531240"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4" name="立方体 23">
            <a:extLst>
              <a:ext uri="{FF2B5EF4-FFF2-40B4-BE49-F238E27FC236}">
                <a16:creationId xmlns:a16="http://schemas.microsoft.com/office/drawing/2014/main" id="{9D46417E-E369-91F5-47BA-BF180625BA60}"/>
              </a:ext>
            </a:extLst>
          </p:cNvPr>
          <p:cNvSpPr/>
          <p:nvPr/>
        </p:nvSpPr>
        <p:spPr>
          <a:xfrm>
            <a:off x="3531240"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p>
        </p:txBody>
      </p:sp>
      <p:sp>
        <p:nvSpPr>
          <p:cNvPr id="25" name="立方体 24">
            <a:extLst>
              <a:ext uri="{FF2B5EF4-FFF2-40B4-BE49-F238E27FC236}">
                <a16:creationId xmlns:a16="http://schemas.microsoft.com/office/drawing/2014/main" id="{67C18096-DE37-8429-A913-ECF73128F034}"/>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a:extLst>
              <a:ext uri="{FF2B5EF4-FFF2-40B4-BE49-F238E27FC236}">
                <a16:creationId xmlns:a16="http://schemas.microsoft.com/office/drawing/2014/main" id="{9D801BA9-9C6A-24D0-E174-E3604316CB49}"/>
              </a:ext>
            </a:extLst>
          </p:cNvPr>
          <p:cNvSpPr/>
          <p:nvPr/>
        </p:nvSpPr>
        <p:spPr>
          <a:xfrm>
            <a:off x="5343480" y="3819032"/>
            <a:ext cx="174345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Congestion  Control</a:t>
            </a:r>
            <a:endParaRPr lang="zh-CN" altLang="en-US" sz="1200" dirty="0">
              <a:solidFill>
                <a:schemeClr val="tx1"/>
              </a:solidFill>
              <a:latin typeface="Montserrat" panose="00000500000000000000" pitchFamily="2" charset="0"/>
            </a:endParaRPr>
          </a:p>
        </p:txBody>
      </p:sp>
      <p:sp>
        <p:nvSpPr>
          <p:cNvPr id="4" name="矩形: 圆角 3">
            <a:extLst>
              <a:ext uri="{FF2B5EF4-FFF2-40B4-BE49-F238E27FC236}">
                <a16:creationId xmlns:a16="http://schemas.microsoft.com/office/drawing/2014/main" id="{B7D33566-285E-1CCB-5E98-A8DFB5DC5691}"/>
              </a:ext>
            </a:extLst>
          </p:cNvPr>
          <p:cNvSpPr/>
          <p:nvPr/>
        </p:nvSpPr>
        <p:spPr>
          <a:xfrm>
            <a:off x="5343480" y="4133081"/>
            <a:ext cx="1832473"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Transmission Control</a:t>
            </a:r>
            <a:endParaRPr lang="zh-CN" altLang="en-US" sz="1200" dirty="0">
              <a:solidFill>
                <a:schemeClr val="tx1"/>
              </a:solidFill>
              <a:latin typeface="Montserrat" panose="00000500000000000000" pitchFamily="2" charset="0"/>
            </a:endParaRPr>
          </a:p>
        </p:txBody>
      </p:sp>
      <p:cxnSp>
        <p:nvCxnSpPr>
          <p:cNvPr id="10" name="连接符: 曲线 9">
            <a:extLst>
              <a:ext uri="{FF2B5EF4-FFF2-40B4-BE49-F238E27FC236}">
                <a16:creationId xmlns:a16="http://schemas.microsoft.com/office/drawing/2014/main" id="{56D54B0A-0C00-1FA5-AA24-AB208E9F3E39}"/>
              </a:ext>
            </a:extLst>
          </p:cNvPr>
          <p:cNvCxnSpPr>
            <a:cxnSpLocks/>
            <a:stCxn id="16" idx="3"/>
            <a:endCxn id="4" idx="1"/>
          </p:cNvCxnSpPr>
          <p:nvPr/>
        </p:nvCxnSpPr>
        <p:spPr>
          <a:xfrm>
            <a:off x="5109304" y="3344167"/>
            <a:ext cx="234176" cy="942148"/>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AD181E9B-9708-8757-6641-0EC70B8857D3}"/>
              </a:ext>
            </a:extLst>
          </p:cNvPr>
          <p:cNvSpPr/>
          <p:nvPr/>
        </p:nvSpPr>
        <p:spPr>
          <a:xfrm>
            <a:off x="5343480" y="3504983"/>
            <a:ext cx="123073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Flow Control</a:t>
            </a:r>
            <a:endParaRPr lang="zh-CN" altLang="en-US" sz="1200" dirty="0">
              <a:solidFill>
                <a:schemeClr val="tx1"/>
              </a:solidFill>
              <a:latin typeface="Montserrat" panose="00000500000000000000" pitchFamily="2" charset="0"/>
            </a:endParaRPr>
          </a:p>
        </p:txBody>
      </p:sp>
      <p:cxnSp>
        <p:nvCxnSpPr>
          <p:cNvPr id="14" name="连接符: 曲线 13">
            <a:extLst>
              <a:ext uri="{FF2B5EF4-FFF2-40B4-BE49-F238E27FC236}">
                <a16:creationId xmlns:a16="http://schemas.microsoft.com/office/drawing/2014/main" id="{94161A20-9CEA-26C5-90F1-7284ECA5C704}"/>
              </a:ext>
            </a:extLst>
          </p:cNvPr>
          <p:cNvCxnSpPr>
            <a:cxnSpLocks/>
            <a:stCxn id="40" idx="1"/>
            <a:endCxn id="16" idx="3"/>
          </p:cNvCxnSpPr>
          <p:nvPr/>
        </p:nvCxnSpPr>
        <p:spPr>
          <a:xfrm rot="10800000" flipV="1">
            <a:off x="5109304" y="2402021"/>
            <a:ext cx="234176" cy="942146"/>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C4F8D70D-848F-8E10-57D5-0246D0F22858}"/>
              </a:ext>
            </a:extLst>
          </p:cNvPr>
          <p:cNvSpPr/>
          <p:nvPr/>
        </p:nvSpPr>
        <p:spPr>
          <a:xfrm>
            <a:off x="4209304" y="3200167"/>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TCP</a:t>
            </a:r>
            <a:endParaRPr lang="zh-CN" altLang="en-US" sz="1200" dirty="0">
              <a:latin typeface="Montserrat" panose="00000500000000000000" pitchFamily="2" charset="0"/>
            </a:endParaRPr>
          </a:p>
        </p:txBody>
      </p:sp>
      <p:sp>
        <p:nvSpPr>
          <p:cNvPr id="19" name="矩形: 圆角 18">
            <a:extLst>
              <a:ext uri="{FF2B5EF4-FFF2-40B4-BE49-F238E27FC236}">
                <a16:creationId xmlns:a16="http://schemas.microsoft.com/office/drawing/2014/main" id="{81530229-6710-AE17-7125-34E7C102D265}"/>
              </a:ext>
            </a:extLst>
          </p:cNvPr>
          <p:cNvSpPr/>
          <p:nvPr/>
        </p:nvSpPr>
        <p:spPr>
          <a:xfrm>
            <a:off x="4209304" y="1629922"/>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cxnSp>
        <p:nvCxnSpPr>
          <p:cNvPr id="22" name="连接符: 曲线 21">
            <a:extLst>
              <a:ext uri="{FF2B5EF4-FFF2-40B4-BE49-F238E27FC236}">
                <a16:creationId xmlns:a16="http://schemas.microsoft.com/office/drawing/2014/main" id="{983C1AC8-3735-FBF8-1D52-F46340D06312}"/>
              </a:ext>
            </a:extLst>
          </p:cNvPr>
          <p:cNvCxnSpPr>
            <a:cxnSpLocks/>
            <a:stCxn id="2" idx="3"/>
            <a:endCxn id="19" idx="1"/>
          </p:cNvCxnSpPr>
          <p:nvPr/>
        </p:nvCxnSpPr>
        <p:spPr>
          <a:xfrm flipV="1">
            <a:off x="3938177" y="1773922"/>
            <a:ext cx="271127" cy="77158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24" name="连接符: 曲线 23">
            <a:extLst>
              <a:ext uri="{FF2B5EF4-FFF2-40B4-BE49-F238E27FC236}">
                <a16:creationId xmlns:a16="http://schemas.microsoft.com/office/drawing/2014/main" id="{3DA28828-58BF-9B1A-291D-0957A943AB17}"/>
              </a:ext>
            </a:extLst>
          </p:cNvPr>
          <p:cNvCxnSpPr>
            <a:cxnSpLocks/>
            <a:stCxn id="2" idx="3"/>
            <a:endCxn id="16" idx="1"/>
          </p:cNvCxnSpPr>
          <p:nvPr/>
        </p:nvCxnSpPr>
        <p:spPr>
          <a:xfrm>
            <a:off x="3938177" y="2545507"/>
            <a:ext cx="271127" cy="798660"/>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矩形: 圆角 4">
            <a:extLst>
              <a:ext uri="{FF2B5EF4-FFF2-40B4-BE49-F238E27FC236}">
                <a16:creationId xmlns:a16="http://schemas.microsoft.com/office/drawing/2014/main" id="{905996E1-56AA-82E7-6CF1-E2487C38B700}"/>
              </a:ext>
            </a:extLst>
          </p:cNvPr>
          <p:cNvSpPr/>
          <p:nvPr/>
        </p:nvSpPr>
        <p:spPr>
          <a:xfrm>
            <a:off x="5343480" y="1306640"/>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27" name="矩形: 圆角 26">
            <a:extLst>
              <a:ext uri="{FF2B5EF4-FFF2-40B4-BE49-F238E27FC236}">
                <a16:creationId xmlns:a16="http://schemas.microsoft.com/office/drawing/2014/main" id="{898AEF52-F490-0F36-A470-B464CBBB3A09}"/>
              </a:ext>
            </a:extLst>
          </p:cNvPr>
          <p:cNvSpPr/>
          <p:nvPr/>
        </p:nvSpPr>
        <p:spPr>
          <a:xfrm>
            <a:off x="5343480" y="1934738"/>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30" name="矩形: 圆角 29">
            <a:extLst>
              <a:ext uri="{FF2B5EF4-FFF2-40B4-BE49-F238E27FC236}">
                <a16:creationId xmlns:a16="http://schemas.microsoft.com/office/drawing/2014/main" id="{ED9F41D9-8A87-74D1-8F6F-37331E80A992}"/>
              </a:ext>
            </a:extLst>
          </p:cNvPr>
          <p:cNvSpPr/>
          <p:nvPr/>
        </p:nvSpPr>
        <p:spPr>
          <a:xfrm>
            <a:off x="5343480" y="1620689"/>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cxnSp>
        <p:nvCxnSpPr>
          <p:cNvPr id="32" name="连接符: 曲线 31">
            <a:extLst>
              <a:ext uri="{FF2B5EF4-FFF2-40B4-BE49-F238E27FC236}">
                <a16:creationId xmlns:a16="http://schemas.microsoft.com/office/drawing/2014/main" id="{D08E4A9E-E361-3112-58CA-69602652C745}"/>
              </a:ext>
            </a:extLst>
          </p:cNvPr>
          <p:cNvCxnSpPr>
            <a:cxnSpLocks/>
            <a:stCxn id="19" idx="3"/>
            <a:endCxn id="5" idx="1"/>
          </p:cNvCxnSpPr>
          <p:nvPr/>
        </p:nvCxnSpPr>
        <p:spPr>
          <a:xfrm flipV="1">
            <a:off x="5109304" y="1459874"/>
            <a:ext cx="234176" cy="314048"/>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AF9E3494-5E84-62F5-D89D-02754C7A641C}"/>
              </a:ext>
            </a:extLst>
          </p:cNvPr>
          <p:cNvCxnSpPr>
            <a:cxnSpLocks/>
            <a:stCxn id="19" idx="3"/>
            <a:endCxn id="27" idx="1"/>
          </p:cNvCxnSpPr>
          <p:nvPr/>
        </p:nvCxnSpPr>
        <p:spPr>
          <a:xfrm>
            <a:off x="5109304" y="1773922"/>
            <a:ext cx="234176" cy="314050"/>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sp>
        <p:nvSpPr>
          <p:cNvPr id="40" name="矩形: 圆角 39">
            <a:extLst>
              <a:ext uri="{FF2B5EF4-FFF2-40B4-BE49-F238E27FC236}">
                <a16:creationId xmlns:a16="http://schemas.microsoft.com/office/drawing/2014/main" id="{08774DFB-316F-2054-8747-D046465FF42D}"/>
              </a:ext>
            </a:extLst>
          </p:cNvPr>
          <p:cNvSpPr/>
          <p:nvPr/>
        </p:nvSpPr>
        <p:spPr>
          <a:xfrm>
            <a:off x="5343480" y="2248787"/>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41" name="矩形: 圆角 40">
            <a:extLst>
              <a:ext uri="{FF2B5EF4-FFF2-40B4-BE49-F238E27FC236}">
                <a16:creationId xmlns:a16="http://schemas.microsoft.com/office/drawing/2014/main" id="{651E765E-43FC-7A97-9E05-4DD50A8CE83F}"/>
              </a:ext>
            </a:extLst>
          </p:cNvPr>
          <p:cNvSpPr/>
          <p:nvPr/>
        </p:nvSpPr>
        <p:spPr>
          <a:xfrm>
            <a:off x="5343480" y="2876885"/>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43" name="矩形: 圆角 42">
            <a:extLst>
              <a:ext uri="{FF2B5EF4-FFF2-40B4-BE49-F238E27FC236}">
                <a16:creationId xmlns:a16="http://schemas.microsoft.com/office/drawing/2014/main" id="{ED1C1ABE-74E2-F973-EF21-B1BAEAC354A8}"/>
              </a:ext>
            </a:extLst>
          </p:cNvPr>
          <p:cNvSpPr/>
          <p:nvPr/>
        </p:nvSpPr>
        <p:spPr>
          <a:xfrm>
            <a:off x="5343480" y="2562836"/>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sp>
        <p:nvSpPr>
          <p:cNvPr id="55" name="矩形: 圆角 54">
            <a:extLst>
              <a:ext uri="{FF2B5EF4-FFF2-40B4-BE49-F238E27FC236}">
                <a16:creationId xmlns:a16="http://schemas.microsoft.com/office/drawing/2014/main" id="{E8714F0E-B58F-F69E-78D3-8DE639F4A248}"/>
              </a:ext>
            </a:extLst>
          </p:cNvPr>
          <p:cNvSpPr/>
          <p:nvPr/>
        </p:nvSpPr>
        <p:spPr>
          <a:xfrm>
            <a:off x="5343480" y="3190934"/>
            <a:ext cx="56163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ARQ</a:t>
            </a:r>
            <a:endParaRPr lang="zh-CN" altLang="en-US" sz="1200" dirty="0">
              <a:solidFill>
                <a:schemeClr val="tx1"/>
              </a:solidFill>
              <a:latin typeface="Montserrat" panose="00000500000000000000" pitchFamily="2" charset="0"/>
            </a:endParaRPr>
          </a:p>
        </p:txBody>
      </p:sp>
      <p:sp>
        <p:nvSpPr>
          <p:cNvPr id="2" name="矩形: 圆角 1">
            <a:extLst>
              <a:ext uri="{FF2B5EF4-FFF2-40B4-BE49-F238E27FC236}">
                <a16:creationId xmlns:a16="http://schemas.microsoft.com/office/drawing/2014/main" id="{EA1617AA-3BC5-A6C2-7966-463E2BC3AC46}"/>
              </a:ext>
            </a:extLst>
          </p:cNvPr>
          <p:cNvSpPr/>
          <p:nvPr/>
        </p:nvSpPr>
        <p:spPr>
          <a:xfrm>
            <a:off x="3218177" y="2401507"/>
            <a:ext cx="720000" cy="288000"/>
          </a:xfrm>
          <a:prstGeom prst="roundRect">
            <a:avLst/>
          </a:prstGeom>
          <a:solidFill>
            <a:schemeClr val="accent6">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36" name="矩形: 圆角 35">
            <a:extLst>
              <a:ext uri="{FF2B5EF4-FFF2-40B4-BE49-F238E27FC236}">
                <a16:creationId xmlns:a16="http://schemas.microsoft.com/office/drawing/2014/main" id="{C6587821-DD92-9679-7756-3E8C2C8D118E}"/>
              </a:ext>
            </a:extLst>
          </p:cNvPr>
          <p:cNvSpPr/>
          <p:nvPr/>
        </p:nvSpPr>
        <p:spPr>
          <a:xfrm>
            <a:off x="1641687" y="2365507"/>
            <a:ext cx="1440000" cy="360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Transport Layer</a:t>
            </a:r>
            <a:endParaRPr lang="zh-CN" altLang="en-US" sz="1200" dirty="0">
              <a:latin typeface="Montserrat" panose="00000500000000000000" pitchFamily="2" charset="0"/>
              <a:ea typeface="微软雅黑" panose="020B0503020204020204" pitchFamily="34" charset="-122"/>
            </a:endParaRPr>
          </a:p>
        </p:txBody>
      </p:sp>
      <p:sp>
        <p:nvSpPr>
          <p:cNvPr id="45" name="文本框 44">
            <a:extLst>
              <a:ext uri="{FF2B5EF4-FFF2-40B4-BE49-F238E27FC236}">
                <a16:creationId xmlns:a16="http://schemas.microsoft.com/office/drawing/2014/main" id="{B63C1D9F-248B-6391-9C9F-C11D00357A79}"/>
              </a:ext>
            </a:extLst>
          </p:cNvPr>
          <p:cNvSpPr txBox="1"/>
          <p:nvPr/>
        </p:nvSpPr>
        <p:spPr>
          <a:xfrm>
            <a:off x="715546" y="2562836"/>
            <a:ext cx="737702" cy="276999"/>
          </a:xfrm>
          <a:prstGeom prst="rect">
            <a:avLst/>
          </a:prstGeom>
          <a:noFill/>
        </p:spPr>
        <p:txBody>
          <a:bodyPr wrap="none" rtlCol="0">
            <a:spAutoFit/>
          </a:bodyPr>
          <a:lstStyle/>
          <a:p>
            <a:pPr algn="r"/>
            <a:r>
              <a:rPr lang="en-US" altLang="zh-CN" sz="1200" dirty="0">
                <a:latin typeface="Montserrat" panose="00000500000000000000" pitchFamily="2" charset="0"/>
              </a:rPr>
              <a:t>Service</a:t>
            </a:r>
            <a:endParaRPr lang="zh-CN" altLang="en-US" sz="1200" dirty="0">
              <a:latin typeface="Montserrat" panose="00000500000000000000" pitchFamily="2" charset="0"/>
            </a:endParaRPr>
          </a:p>
        </p:txBody>
      </p:sp>
      <p:sp>
        <p:nvSpPr>
          <p:cNvPr id="47" name="文本框 46">
            <a:extLst>
              <a:ext uri="{FF2B5EF4-FFF2-40B4-BE49-F238E27FC236}">
                <a16:creationId xmlns:a16="http://schemas.microsoft.com/office/drawing/2014/main" id="{C46D948E-2C8E-46A3-325D-C75748993BB3}"/>
              </a:ext>
            </a:extLst>
          </p:cNvPr>
          <p:cNvSpPr txBox="1"/>
          <p:nvPr/>
        </p:nvSpPr>
        <p:spPr>
          <a:xfrm>
            <a:off x="686691" y="2278255"/>
            <a:ext cx="766557" cy="276999"/>
          </a:xfrm>
          <a:prstGeom prst="rect">
            <a:avLst/>
          </a:prstGeom>
          <a:noFill/>
        </p:spPr>
        <p:txBody>
          <a:bodyPr wrap="none" rtlCol="0">
            <a:spAutoFit/>
          </a:bodyPr>
          <a:lstStyle/>
          <a:p>
            <a:pPr algn="r"/>
            <a:r>
              <a:rPr lang="en-US" altLang="zh-CN" sz="1200" dirty="0">
                <a:latin typeface="Montserrat" panose="00000500000000000000" pitchFamily="2" charset="0"/>
              </a:rPr>
              <a:t>Mission</a:t>
            </a:r>
            <a:endParaRPr lang="zh-CN" altLang="en-US" sz="1200" dirty="0">
              <a:latin typeface="Montserrat" panose="00000500000000000000" pitchFamily="2" charset="0"/>
            </a:endParaRPr>
          </a:p>
        </p:txBody>
      </p:sp>
      <p:cxnSp>
        <p:nvCxnSpPr>
          <p:cNvPr id="48" name="连接符: 曲线 47">
            <a:extLst>
              <a:ext uri="{FF2B5EF4-FFF2-40B4-BE49-F238E27FC236}">
                <a16:creationId xmlns:a16="http://schemas.microsoft.com/office/drawing/2014/main" id="{0BD5F33A-F972-4E85-59BF-B38A559A84E5}"/>
              </a:ext>
            </a:extLst>
          </p:cNvPr>
          <p:cNvCxnSpPr>
            <a:cxnSpLocks/>
            <a:stCxn id="36" idx="1"/>
            <a:endCxn id="47" idx="3"/>
          </p:cNvCxnSpPr>
          <p:nvPr/>
        </p:nvCxnSpPr>
        <p:spPr>
          <a:xfrm rot="10800000">
            <a:off x="1453249" y="2416755"/>
            <a:ext cx="188439" cy="128752"/>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连接符: 曲线 50">
            <a:extLst>
              <a:ext uri="{FF2B5EF4-FFF2-40B4-BE49-F238E27FC236}">
                <a16:creationId xmlns:a16="http://schemas.microsoft.com/office/drawing/2014/main" id="{52985972-F2EC-AC88-56CA-9B9D5CF1048C}"/>
              </a:ext>
            </a:extLst>
          </p:cNvPr>
          <p:cNvCxnSpPr>
            <a:cxnSpLocks/>
            <a:stCxn id="36" idx="1"/>
            <a:endCxn id="45" idx="3"/>
          </p:cNvCxnSpPr>
          <p:nvPr/>
        </p:nvCxnSpPr>
        <p:spPr>
          <a:xfrm rot="10800000" flipV="1">
            <a:off x="1453249" y="2545506"/>
            <a:ext cx="188439" cy="155829"/>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ABCEF811-7F64-BD01-2CB9-E070B7A67A30}"/>
              </a:ext>
            </a:extLst>
          </p:cNvPr>
          <p:cNvCxnSpPr>
            <a:stCxn id="36" idx="3"/>
            <a:endCxn id="2" idx="1"/>
          </p:cNvCxnSpPr>
          <p:nvPr/>
        </p:nvCxnSpPr>
        <p:spPr>
          <a:xfrm>
            <a:off x="3081687" y="2545507"/>
            <a:ext cx="136490" cy="0"/>
          </a:xfrm>
          <a:prstGeom prst="line">
            <a:avLst/>
          </a:prstGeom>
          <a:ln>
            <a:solidFill>
              <a:srgbClr val="E9542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19662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7" name="内容占位符 6">
            <a:extLst>
              <a:ext uri="{FF2B5EF4-FFF2-40B4-BE49-F238E27FC236}">
                <a16:creationId xmlns:a16="http://schemas.microsoft.com/office/drawing/2014/main" id="{A92B271E-D453-AD5E-A786-A43C09C6AB22}"/>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2808000" y="144000"/>
            <a:ext cx="3528000" cy="338554"/>
          </a:xfr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4" name="内容占位符 3">
            <a:extLst>
              <a:ext uri="{FF2B5EF4-FFF2-40B4-BE49-F238E27FC236}">
                <a16:creationId xmlns:a16="http://schemas.microsoft.com/office/drawing/2014/main" id="{19E1762B-4A08-0807-E9F8-6CAEA7DD9DBE}"/>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2808000" y="144000"/>
            <a:ext cx="3528000" cy="338554"/>
          </a:xfr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482554"/>
            <a:ext cx="8172000" cy="4120946"/>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2808000" y="144000"/>
            <a:ext cx="3528000" cy="338554"/>
          </a:xfr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4" name="内容占位符 3">
            <a:extLst>
              <a:ext uri="{FF2B5EF4-FFF2-40B4-BE49-F238E27FC236}">
                <a16:creationId xmlns:a16="http://schemas.microsoft.com/office/drawing/2014/main" id="{58FF4757-28B9-6BDF-B096-EE12917BB0F2}"/>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2808000" y="144000"/>
            <a:ext cx="3528000" cy="338554"/>
          </a:xfr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482554"/>
            <a:ext cx="8172000" cy="4120946"/>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2808000" y="144000"/>
            <a:ext cx="3528000" cy="338554"/>
          </a:xfr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482554"/>
            <a:ext cx="8172000" cy="4120946"/>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2808000" y="144000"/>
            <a:ext cx="3528000" cy="338554"/>
          </a:xfr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37512439-8F96-720F-F166-7F01DD205652}"/>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2808000" y="144000"/>
            <a:ext cx="3528000" cy="338554"/>
          </a:xfr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7" name="内容占位符 6">
            <a:extLst>
              <a:ext uri="{FF2B5EF4-FFF2-40B4-BE49-F238E27FC236}">
                <a16:creationId xmlns:a16="http://schemas.microsoft.com/office/drawing/2014/main" id="{0AE32105-5C62-481D-FE6F-6EBB60AB5AE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2808000" y="144000"/>
            <a:ext cx="3528000" cy="338554"/>
          </a:xfr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482554"/>
            <a:ext cx="8172000" cy="4120946"/>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2808000" y="144000"/>
            <a:ext cx="3528000" cy="338554"/>
          </a:xfr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482554"/>
            <a:ext cx="8172000" cy="4120946"/>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2808000" y="144000"/>
            <a:ext cx="3528000" cy="338554"/>
          </a:xfr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482554"/>
            <a:ext cx="8172000" cy="4120946"/>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2808000" y="144000"/>
            <a:ext cx="3528000" cy="338554"/>
          </a:xfr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37FBBE55-A4E1-4ADE-1EDD-54682D9B3B1B}"/>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2808000" y="144000"/>
            <a:ext cx="3528000" cy="338554"/>
          </a:xfr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482554"/>
            <a:ext cx="8172000" cy="4120946"/>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2808000" y="144000"/>
            <a:ext cx="3528000" cy="338554"/>
          </a:xfr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4" name="内容占位符 3">
            <a:extLst>
              <a:ext uri="{FF2B5EF4-FFF2-40B4-BE49-F238E27FC236}">
                <a16:creationId xmlns:a16="http://schemas.microsoft.com/office/drawing/2014/main" id="{76963D34-2BBC-4FDA-33FE-5E880E99C9C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2808000" y="144000"/>
            <a:ext cx="3528000" cy="338554"/>
          </a:xfr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4" name="内容占位符 3">
            <a:extLst>
              <a:ext uri="{FF2B5EF4-FFF2-40B4-BE49-F238E27FC236}">
                <a16:creationId xmlns:a16="http://schemas.microsoft.com/office/drawing/2014/main" id="{3C6F9D53-7317-2ABF-FF44-8C2595B14A1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2808000" y="144000"/>
            <a:ext cx="3528000" cy="338554"/>
          </a:xfr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482554"/>
            <a:ext cx="8172000" cy="4120946"/>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2808000" y="144000"/>
            <a:ext cx="3528000" cy="338554"/>
          </a:xfr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482554"/>
            <a:ext cx="8172000" cy="4120946"/>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2808000" y="144000"/>
            <a:ext cx="3528000" cy="338554"/>
          </a:xfr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2808000" y="144000"/>
            <a:ext cx="3528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850783"/>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546857116"/>
              </p:ext>
            </p:extLst>
          </p:nvPr>
        </p:nvGraphicFramePr>
        <p:xfrm>
          <a:off x="2839640" y="221596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4251585545"/>
              </p:ext>
            </p:extLst>
          </p:nvPr>
        </p:nvGraphicFramePr>
        <p:xfrm>
          <a:off x="3984239" y="1502791"/>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3674181495"/>
              </p:ext>
            </p:extLst>
          </p:nvPr>
        </p:nvGraphicFramePr>
        <p:xfrm>
          <a:off x="1778320" y="288802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3" name="直接连接符 2">
            <a:extLst>
              <a:ext uri="{FF2B5EF4-FFF2-40B4-BE49-F238E27FC236}">
                <a16:creationId xmlns:a16="http://schemas.microsoft.com/office/drawing/2014/main" id="{7839FD62-42C0-5BE1-F6DC-19A133118ED1}"/>
              </a:ext>
            </a:extLst>
          </p:cNvPr>
          <p:cNvCxnSpPr>
            <a:cxnSpLocks/>
          </p:cNvCxnSpPr>
          <p:nvPr/>
        </p:nvCxnSpPr>
        <p:spPr>
          <a:xfrm>
            <a:off x="2839639" y="272669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直接连接符 4">
            <a:extLst>
              <a:ext uri="{FF2B5EF4-FFF2-40B4-BE49-F238E27FC236}">
                <a16:creationId xmlns:a16="http://schemas.microsoft.com/office/drawing/2014/main" id="{BC4A33B3-6411-3743-A0A3-E03958EEFE8A}"/>
              </a:ext>
            </a:extLst>
          </p:cNvPr>
          <p:cNvCxnSpPr>
            <a:cxnSpLocks/>
          </p:cNvCxnSpPr>
          <p:nvPr/>
        </p:nvCxnSpPr>
        <p:spPr>
          <a:xfrm>
            <a:off x="1778320" y="344930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直接连接符 6">
            <a:extLst>
              <a:ext uri="{FF2B5EF4-FFF2-40B4-BE49-F238E27FC236}">
                <a16:creationId xmlns:a16="http://schemas.microsoft.com/office/drawing/2014/main" id="{13E500A7-5773-CBB3-B7F4-04EE1CA62A55}"/>
              </a:ext>
            </a:extLst>
          </p:cNvPr>
          <p:cNvCxnSpPr>
            <a:cxnSpLocks/>
          </p:cNvCxnSpPr>
          <p:nvPr/>
        </p:nvCxnSpPr>
        <p:spPr>
          <a:xfrm>
            <a:off x="6504239"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4BE179DD-589F-C7D6-B05A-340B82D605B6}"/>
              </a:ext>
            </a:extLst>
          </p:cNvPr>
          <p:cNvCxnSpPr>
            <a:cxnSpLocks/>
          </p:cNvCxnSpPr>
          <p:nvPr/>
        </p:nvCxnSpPr>
        <p:spPr>
          <a:xfrm>
            <a:off x="2839640"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0F712D40-C7BA-3619-B661-FFA8C8F213E0}"/>
              </a:ext>
            </a:extLst>
          </p:cNvPr>
          <p:cNvCxnSpPr>
            <a:cxnSpLocks/>
          </p:cNvCxnSpPr>
          <p:nvPr/>
        </p:nvCxnSpPr>
        <p:spPr>
          <a:xfrm>
            <a:off x="6504239"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3E052BE6-D505-299A-E8CA-BFC63F9FDDE0}"/>
              </a:ext>
            </a:extLst>
          </p:cNvPr>
          <p:cNvCxnSpPr>
            <a:cxnSpLocks/>
          </p:cNvCxnSpPr>
          <p:nvPr/>
        </p:nvCxnSpPr>
        <p:spPr>
          <a:xfrm>
            <a:off x="1778320"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4098C17-18D3-86A9-A8EB-B3C764A3FECD}"/>
              </a:ext>
            </a:extLst>
          </p:cNvPr>
          <p:cNvSpPr txBox="1"/>
          <p:nvPr/>
        </p:nvSpPr>
        <p:spPr>
          <a:xfrm>
            <a:off x="3983389" y="2588191"/>
            <a:ext cx="1377300"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UDP Datagram</a:t>
            </a:r>
            <a:endParaRPr lang="zh-CN" altLang="en-US" sz="1200" dirty="0">
              <a:latin typeface="Montserrat" panose="00000500000000000000" pitchFamily="2" charset="0"/>
            </a:endParaRPr>
          </a:p>
        </p:txBody>
      </p:sp>
      <p:sp>
        <p:nvSpPr>
          <p:cNvPr id="12" name="文本框 11">
            <a:extLst>
              <a:ext uri="{FF2B5EF4-FFF2-40B4-BE49-F238E27FC236}">
                <a16:creationId xmlns:a16="http://schemas.microsoft.com/office/drawing/2014/main" id="{23347C8B-B637-AD19-5688-C48540FDE49F}"/>
              </a:ext>
            </a:extLst>
          </p:cNvPr>
          <p:cNvSpPr txBox="1"/>
          <p:nvPr/>
        </p:nvSpPr>
        <p:spPr>
          <a:xfrm>
            <a:off x="3682300" y="3310809"/>
            <a:ext cx="918841"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IP Packet</a:t>
            </a:r>
            <a:endParaRPr lang="zh-CN" altLang="en-US" sz="1200" dirty="0">
              <a:latin typeface="Montserrat" panose="00000500000000000000" pitchFamily="2" charset="0"/>
            </a:endParaRPr>
          </a:p>
        </p:txBody>
      </p:sp>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5456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37D5D8FC-E9B1-26D9-A650-60530862DA45}"/>
              </a:ext>
            </a:extLst>
          </p:cNvPr>
          <p:cNvCxnSpPr>
            <a:cxnSpLocks/>
          </p:cNvCxnSpPr>
          <p:nvPr/>
        </p:nvCxnSpPr>
        <p:spPr>
          <a:xfrm>
            <a:off x="3984239" y="2040038"/>
            <a:ext cx="2520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连接符 13">
            <a:extLst>
              <a:ext uri="{FF2B5EF4-FFF2-40B4-BE49-F238E27FC236}">
                <a16:creationId xmlns:a16="http://schemas.microsoft.com/office/drawing/2014/main" id="{D983C53D-E8E3-E8D6-035B-F91F5FFD5621}"/>
              </a:ext>
            </a:extLst>
          </p:cNvPr>
          <p:cNvCxnSpPr>
            <a:cxnSpLocks/>
          </p:cNvCxnSpPr>
          <p:nvPr/>
        </p:nvCxnSpPr>
        <p:spPr>
          <a:xfrm>
            <a:off x="650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9187EF6A-DC52-CE14-004D-20011CD4A06A}"/>
              </a:ext>
            </a:extLst>
          </p:cNvPr>
          <p:cNvCxnSpPr>
            <a:cxnSpLocks/>
          </p:cNvCxnSpPr>
          <p:nvPr/>
        </p:nvCxnSpPr>
        <p:spPr>
          <a:xfrm>
            <a:off x="398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193CD06A-841D-982C-41FB-81095A06D896}"/>
              </a:ext>
            </a:extLst>
          </p:cNvPr>
          <p:cNvSpPr txBox="1"/>
          <p:nvPr/>
        </p:nvSpPr>
        <p:spPr>
          <a:xfrm>
            <a:off x="4811268" y="1901539"/>
            <a:ext cx="865943" cy="276999"/>
          </a:xfrm>
          <a:prstGeom prst="rect">
            <a:avLst/>
          </a:prstGeom>
          <a:solidFill>
            <a:schemeClr val="bg1"/>
          </a:solidFill>
        </p:spPr>
        <p:txBody>
          <a:bodyPr wrap="none" rtlCol="0">
            <a:spAutoFit/>
          </a:bodyPr>
          <a:lstStyle/>
          <a:p>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7" name="内容占位符 6">
            <a:extLst>
              <a:ext uri="{FF2B5EF4-FFF2-40B4-BE49-F238E27FC236}">
                <a16:creationId xmlns:a16="http://schemas.microsoft.com/office/drawing/2014/main" id="{1B26A735-2BB0-607A-AC78-9EA1B17E05C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2808000" y="144000"/>
            <a:ext cx="3528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4" name="内容占位符 3">
            <a:extLst>
              <a:ext uri="{FF2B5EF4-FFF2-40B4-BE49-F238E27FC236}">
                <a16:creationId xmlns:a16="http://schemas.microsoft.com/office/drawing/2014/main" id="{7D594215-D59E-A025-D7B5-69094B579BE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2808000" y="144000"/>
            <a:ext cx="3528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2808000" y="144000"/>
            <a:ext cx="3528000" cy="338554"/>
          </a:xfr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5" name="内容占位符 4">
            <a:extLst>
              <a:ext uri="{FF2B5EF4-FFF2-40B4-BE49-F238E27FC236}">
                <a16:creationId xmlns:a16="http://schemas.microsoft.com/office/drawing/2014/main" id="{D18A3A28-D01F-A28B-4607-AFD0DD04705A}"/>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2808000" y="144000"/>
            <a:ext cx="3528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2808000" y="144000"/>
            <a:ext cx="3528000" cy="338554"/>
          </a:xfr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2808000" y="144000"/>
            <a:ext cx="3528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482554"/>
            <a:ext cx="8172000" cy="4120946"/>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2808000" y="144000"/>
            <a:ext cx="3528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2808000" y="144000"/>
            <a:ext cx="3528000" cy="338554"/>
          </a:xfr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dirty="0">
                <a:solidFill>
                  <a:schemeClr val="bg1"/>
                </a:solidFill>
                <a:latin typeface="微软雅黑" pitchFamily="34" charset="-122"/>
                <a:ea typeface="微软雅黑" pitchFamily="34" charset="-122"/>
              </a:rPr>
              <a:t>在计算检验和时，临时把 </a:t>
            </a:r>
            <a:r>
              <a:rPr lang="en-US" altLang="zh-CN" dirty="0">
                <a:solidFill>
                  <a:schemeClr val="bg1"/>
                </a:solidFill>
                <a:latin typeface="微软雅黑" pitchFamily="34" charset="-122"/>
                <a:ea typeface="微软雅黑" pitchFamily="34" charset="-122"/>
              </a:rPr>
              <a:t>12 </a:t>
            </a:r>
            <a:r>
              <a:rPr lang="zh-CN" altLang="en-US" dirty="0">
                <a:solidFill>
                  <a:schemeClr val="bg1"/>
                </a:solidFill>
                <a:latin typeface="微软雅黑" pitchFamily="34" charset="-122"/>
                <a:ea typeface="微软雅黑" pitchFamily="34" charset="-122"/>
              </a:rPr>
              <a:t>字节的“</a:t>
            </a:r>
            <a:r>
              <a:rPr lang="zh-CN" altLang="en-US" dirty="0">
                <a:solidFill>
                  <a:srgbClr val="FFFF00"/>
                </a:solidFill>
                <a:latin typeface="微软雅黑" pitchFamily="34" charset="-122"/>
                <a:ea typeface="微软雅黑" pitchFamily="34" charset="-122"/>
              </a:rPr>
              <a:t>伪首部</a:t>
            </a:r>
            <a:r>
              <a:rPr lang="zh-CN" altLang="en-US" dirty="0">
                <a:solidFill>
                  <a:schemeClr val="bg1"/>
                </a:solidFill>
                <a:latin typeface="微软雅黑" pitchFamily="34" charset="-122"/>
                <a:ea typeface="微软雅黑" pitchFamily="34" charset="-122"/>
              </a:rPr>
              <a:t>”和 </a:t>
            </a:r>
            <a:r>
              <a:rPr lang="en-US" altLang="zh-CN" dirty="0">
                <a:solidFill>
                  <a:schemeClr val="bg1"/>
                </a:solidFill>
                <a:latin typeface="微软雅黑" pitchFamily="34" charset="-122"/>
                <a:ea typeface="微软雅黑" pitchFamily="34" charset="-122"/>
              </a:rPr>
              <a:t>UDP </a:t>
            </a:r>
            <a:r>
              <a:rPr lang="zh-CN" altLang="en-US"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Rectangle 8"/>
          <p:cNvSpPr>
            <a:spLocks noChangeArrowheads="1"/>
          </p:cNvSpPr>
          <p:nvPr/>
        </p:nvSpPr>
        <p:spPr bwMode="auto">
          <a:xfrm>
            <a:off x="3314219" y="2398740"/>
            <a:ext cx="33165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Rectangle 11"/>
          <p:cNvSpPr>
            <a:spLocks noChangeArrowheads="1"/>
          </p:cNvSpPr>
          <p:nvPr/>
        </p:nvSpPr>
        <p:spPr bwMode="auto">
          <a:xfrm>
            <a:off x="1915585" y="1726120"/>
            <a:ext cx="478444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检验和</a:t>
            </a:r>
          </a:p>
        </p:txBody>
      </p:sp>
      <p:sp>
        <p:nvSpPr>
          <p:cNvPr id="22" name="Text Box 21"/>
          <p:cNvSpPr txBox="1">
            <a:spLocks noChangeArrowheads="1"/>
          </p:cNvSpPr>
          <p:nvPr/>
        </p:nvSpPr>
        <p:spPr bwMode="auto">
          <a:xfrm>
            <a:off x="5160505" y="3545540"/>
            <a:ext cx="8531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数         据</a:t>
            </a:r>
          </a:p>
        </p:txBody>
      </p:sp>
      <p:sp>
        <p:nvSpPr>
          <p:cNvPr id="23" name="Text Box 22"/>
          <p:cNvSpPr txBox="1">
            <a:spLocks noChangeArrowheads="1"/>
          </p:cNvSpPr>
          <p:nvPr/>
        </p:nvSpPr>
        <p:spPr bwMode="auto">
          <a:xfrm>
            <a:off x="2982509" y="3536396"/>
            <a:ext cx="64953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a:t>
            </a:r>
            <a:r>
              <a:rPr kumimoji="1" lang="zh-CN" altLang="en-US" sz="1200" dirty="0">
                <a:latin typeface="Montserrat" panose="00000500000000000000" pitchFamily="2" charset="0"/>
                <a:ea typeface="微软雅黑 Light" panose="020B0502040204020203" pitchFamily="34" charset="-122"/>
              </a:rPr>
              <a:t>首部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7" name="Text Box 26"/>
          <p:cNvSpPr txBox="1">
            <a:spLocks noChangeArrowheads="1"/>
          </p:cNvSpPr>
          <p:nvPr/>
        </p:nvSpPr>
        <p:spPr bwMode="auto">
          <a:xfrm>
            <a:off x="5866236" y="1751455"/>
            <a:ext cx="8467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源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30" name="Text Box 29"/>
          <p:cNvSpPr txBox="1">
            <a:spLocks noChangeArrowheads="1"/>
          </p:cNvSpPr>
          <p:nvPr/>
        </p:nvSpPr>
        <p:spPr bwMode="auto">
          <a:xfrm>
            <a:off x="5178684" y="1751455"/>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0</a:t>
            </a:r>
          </a:p>
        </p:txBody>
      </p:sp>
      <p:sp>
        <p:nvSpPr>
          <p:cNvPr id="31" name="Text Box 30"/>
          <p:cNvSpPr txBox="1">
            <a:spLocks noChangeArrowheads="1"/>
          </p:cNvSpPr>
          <p:nvPr/>
        </p:nvSpPr>
        <p:spPr bwMode="auto">
          <a:xfrm>
            <a:off x="5488861" y="1751455"/>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17</a:t>
            </a:r>
          </a:p>
        </p:txBody>
      </p:sp>
      <p:sp>
        <p:nvSpPr>
          <p:cNvPr id="32" name="Line 31"/>
          <p:cNvSpPr>
            <a:spLocks noChangeShapeType="1"/>
          </p:cNvSpPr>
          <p:nvPr/>
        </p:nvSpPr>
        <p:spPr bwMode="auto">
          <a:xfrm>
            <a:off x="2867701" y="3971343"/>
            <a:ext cx="4248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4" name="Text Box 33"/>
          <p:cNvSpPr txBox="1">
            <a:spLocks noChangeArrowheads="1"/>
          </p:cNvSpPr>
          <p:nvPr/>
        </p:nvSpPr>
        <p:spPr bwMode="auto">
          <a:xfrm>
            <a:off x="4737953" y="3835615"/>
            <a:ext cx="845103"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36" name="Text Box 35"/>
          <p:cNvSpPr txBox="1">
            <a:spLocks noChangeArrowheads="1"/>
          </p:cNvSpPr>
          <p:nvPr/>
        </p:nvSpPr>
        <p:spPr bwMode="auto">
          <a:xfrm>
            <a:off x="2585929"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7" name="Text Box 36"/>
          <p:cNvSpPr txBox="1">
            <a:spLocks noChangeArrowheads="1"/>
          </p:cNvSpPr>
          <p:nvPr/>
        </p:nvSpPr>
        <p:spPr bwMode="auto">
          <a:xfrm>
            <a:off x="4179985"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8" name="Text Box 37"/>
          <p:cNvSpPr txBox="1">
            <a:spLocks noChangeArrowheads="1"/>
          </p:cNvSpPr>
          <p:nvPr/>
        </p:nvSpPr>
        <p:spPr bwMode="auto">
          <a:xfrm>
            <a:off x="5178684"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39" name="Text Box 38"/>
          <p:cNvSpPr txBox="1">
            <a:spLocks noChangeArrowheads="1"/>
          </p:cNvSpPr>
          <p:nvPr/>
        </p:nvSpPr>
        <p:spPr bwMode="auto">
          <a:xfrm>
            <a:off x="5551351"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1" name="Text Box 40"/>
          <p:cNvSpPr txBox="1">
            <a:spLocks noChangeArrowheads="1"/>
          </p:cNvSpPr>
          <p:nvPr/>
        </p:nvSpPr>
        <p:spPr bwMode="auto">
          <a:xfrm>
            <a:off x="2675687" y="2149130"/>
            <a:ext cx="328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用户数据报</a:t>
            </a:r>
          </a:p>
        </p:txBody>
      </p:sp>
      <p:sp>
        <p:nvSpPr>
          <p:cNvPr id="10" name="Rectangle 9"/>
          <p:cNvSpPr>
            <a:spLocks noChangeArrowheads="1"/>
          </p:cNvSpPr>
          <p:nvPr/>
        </p:nvSpPr>
        <p:spPr bwMode="auto">
          <a:xfrm>
            <a:off x="3670979" y="3518271"/>
            <a:ext cx="340060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8" name="Rectangle 48"/>
          <p:cNvSpPr>
            <a:spLocks noChangeArrowheads="1"/>
          </p:cNvSpPr>
          <p:nvPr/>
        </p:nvSpPr>
        <p:spPr bwMode="auto">
          <a:xfrm>
            <a:off x="4443580" y="2932034"/>
            <a:ext cx="26280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0" name="Text Box 50"/>
          <p:cNvSpPr txBox="1">
            <a:spLocks noChangeArrowheads="1"/>
          </p:cNvSpPr>
          <p:nvPr/>
        </p:nvSpPr>
        <p:spPr bwMode="auto">
          <a:xfrm>
            <a:off x="3647200" y="2931904"/>
            <a:ext cx="8515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首部</a:t>
            </a:r>
          </a:p>
        </p:txBody>
      </p:sp>
      <p:sp>
        <p:nvSpPr>
          <p:cNvPr id="49" name="Text Box 49"/>
          <p:cNvSpPr txBox="1">
            <a:spLocks noChangeArrowheads="1"/>
          </p:cNvSpPr>
          <p:nvPr/>
        </p:nvSpPr>
        <p:spPr bwMode="auto">
          <a:xfrm>
            <a:off x="5536712" y="2929872"/>
            <a:ext cx="9621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数         据</a:t>
            </a:r>
          </a:p>
        </p:txBody>
      </p:sp>
      <p:sp>
        <p:nvSpPr>
          <p:cNvPr id="2" name="AutoShape 6">
            <a:extLst>
              <a:ext uri="{FF2B5EF4-FFF2-40B4-BE49-F238E27FC236}">
                <a16:creationId xmlns:a16="http://schemas.microsoft.com/office/drawing/2014/main" id="{65711CE2-2339-CFC8-33BB-F212F7DD7E43}"/>
              </a:ext>
            </a:extLst>
          </p:cNvPr>
          <p:cNvSpPr>
            <a:spLocks noChangeArrowheads="1"/>
          </p:cNvSpPr>
          <p:nvPr/>
        </p:nvSpPr>
        <p:spPr bwMode="auto">
          <a:xfrm rot="16200000">
            <a:off x="5335351" y="3287099"/>
            <a:ext cx="432000" cy="190878"/>
          </a:xfrm>
          <a:prstGeom prst="leftArrow">
            <a:avLst>
              <a:gd name="adj1" fmla="val 50000"/>
              <a:gd name="adj2" fmla="val 69093"/>
            </a:avLst>
          </a:prstGeom>
          <a:solidFill>
            <a:srgbClr val="E95420"/>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51203" y="1309482"/>
            <a:ext cx="2749036" cy="2021473"/>
            <a:chOff x="1640108" y="1280222"/>
            <a:chExt cx="2501023"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3"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solidFill>
                    <a:srgbClr val="000099"/>
                  </a:solidFill>
                  <a:latin typeface="微软雅黑" pitchFamily="34" charset="-122"/>
                  <a:ea typeface="微软雅黑" pitchFamily="34" charset="-122"/>
                </a:rPr>
                <a:t>12 </a:t>
              </a:r>
              <a:r>
                <a:rPr kumimoji="1" lang="zh-CN" altLang="en-US" sz="1100" dirty="0">
                  <a:solidFill>
                    <a:srgbClr val="000099"/>
                  </a:solidFill>
                  <a:latin typeface="微软雅黑" pitchFamily="34" charset="-122"/>
                  <a:ea typeface="微软雅黑" pitchFamily="34" charset="-122"/>
                </a:rPr>
                <a:t>字节</a:t>
              </a:r>
            </a:p>
            <a:p>
              <a:pPr algn="r"/>
              <a:r>
                <a:rPr kumimoji="1" lang="zh-CN" altLang="en-US" sz="1100"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40108"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8 </a:t>
              </a:r>
              <a:r>
                <a:rPr kumimoji="1" lang="zh-CN" altLang="en-US" sz="1100" dirty="0">
                  <a:solidFill>
                    <a:srgbClr val="000099"/>
                  </a:solidFill>
                  <a:latin typeface="微软雅黑" pitchFamily="34" charset="-122"/>
                  <a:ea typeface="微软雅黑" pitchFamily="34" charset="-122"/>
                </a:rPr>
                <a:t>字节</a:t>
              </a:r>
            </a:p>
            <a:p>
              <a:pPr algn="r"/>
              <a:r>
                <a:rPr kumimoji="1" lang="en-US" altLang="zh-CN" sz="1100" dirty="0">
                  <a:solidFill>
                    <a:srgbClr val="000099"/>
                  </a:solidFill>
                  <a:latin typeface="微软雅黑" pitchFamily="34" charset="-122"/>
                  <a:ea typeface="微软雅黑" pitchFamily="34" charset="-122"/>
                </a:rPr>
                <a:t>UDP </a:t>
              </a:r>
              <a:r>
                <a:rPr kumimoji="1" lang="zh-CN" altLang="en-US" sz="1100"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847198" y="2415891"/>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7 </a:t>
              </a:r>
              <a:r>
                <a:rPr kumimoji="1" lang="zh-CN" altLang="en-US" sz="1100" dirty="0">
                  <a:solidFill>
                    <a:srgbClr val="000099"/>
                  </a:solidFill>
                  <a:latin typeface="微软雅黑" pitchFamily="34" charset="-122"/>
                  <a:ea typeface="微软雅黑" pitchFamily="34" charset="-122"/>
                </a:rPr>
                <a:t>字节</a:t>
              </a:r>
              <a:endParaRPr kumimoji="1" lang="en-US" altLang="zh-CN" sz="1100" dirty="0">
                <a:solidFill>
                  <a:srgbClr val="000099"/>
                </a:solidFill>
                <a:latin typeface="微软雅黑" pitchFamily="34" charset="-122"/>
                <a:ea typeface="微软雅黑" pitchFamily="34" charset="-122"/>
              </a:endParaRPr>
            </a:p>
            <a:p>
              <a:pPr algn="r"/>
              <a:r>
                <a:rPr kumimoji="1" lang="zh-CN" altLang="en-US" sz="1100" dirty="0">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15=8+7</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2808000" y="144000"/>
            <a:ext cx="3528000" cy="338554"/>
          </a:xfr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1FF99-2F87-8640-F39F-3CC5E9E144BD}"/>
            </a:ext>
          </a:extLst>
        </p:cNvPr>
        <p:cNvGrpSpPr/>
        <p:nvPr/>
      </p:nvGrpSpPr>
      <p:grpSpPr>
        <a:xfrm>
          <a:off x="0" y="0"/>
          <a:ext cx="0" cy="0"/>
          <a:chOff x="0" y="0"/>
          <a:chExt cx="0" cy="0"/>
        </a:xfrm>
      </p:grpSpPr>
      <p:grpSp>
        <p:nvGrpSpPr>
          <p:cNvPr id="42" name="组合 41">
            <a:extLst>
              <a:ext uri="{FF2B5EF4-FFF2-40B4-BE49-F238E27FC236}">
                <a16:creationId xmlns:a16="http://schemas.microsoft.com/office/drawing/2014/main" id="{0F924299-1493-C114-735E-80AE282E3A2B}"/>
              </a:ext>
            </a:extLst>
          </p:cNvPr>
          <p:cNvGrpSpPr/>
          <p:nvPr/>
        </p:nvGrpSpPr>
        <p:grpSpPr>
          <a:xfrm>
            <a:off x="2809248" y="1099293"/>
            <a:ext cx="4838720" cy="3287054"/>
            <a:chOff x="2662944" y="1099293"/>
            <a:chExt cx="4838720" cy="3287054"/>
          </a:xfrm>
        </p:grpSpPr>
        <p:sp>
          <p:nvSpPr>
            <p:cNvPr id="7" name="Text Box 7">
              <a:extLst>
                <a:ext uri="{FF2B5EF4-FFF2-40B4-BE49-F238E27FC236}">
                  <a16:creationId xmlns:a16="http://schemas.microsoft.com/office/drawing/2014/main" id="{54F517C5-7A21-8BC3-4192-E96D8112CDE9}"/>
                </a:ext>
              </a:extLst>
            </p:cNvPr>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10011001 00010011  →  153.19</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00001000 01101000  →  8.104</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10101011 00000011  →  171.3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00001110 00001011  →  14.11</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00010001  →  0 </a:t>
              </a:r>
              <a:r>
                <a:rPr kumimoji="1" lang="zh-CN" altLang="en-US" sz="1200" dirty="0">
                  <a:latin typeface="Calibri" panose="020F0502020204030204" pitchFamily="34" charset="0"/>
                  <a:ea typeface="微软雅黑" pitchFamily="34" charset="-122"/>
                  <a:cs typeface="Calibri" panose="020F0502020204030204" pitchFamily="34" charset="0"/>
                </a:rPr>
                <a:t>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17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00000100 00111111  →  1087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00001101  →  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00000000  →  0</a:t>
              </a:r>
              <a:r>
                <a:rPr kumimoji="1" lang="zh-CN" altLang="en-US" sz="1200" dirty="0">
                  <a:latin typeface="Calibri" panose="020F0502020204030204" pitchFamily="34" charset="0"/>
                  <a:ea typeface="微软雅黑" pitchFamily="34" charset="-122"/>
                  <a:cs typeface="Calibri" panose="020F0502020204030204" pitchFamily="34" charset="0"/>
                </a:rPr>
                <a:t>（检验和）</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01010100 01000101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01010011 01010100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01001001 01001110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01000111 00000000  →  </a:t>
              </a:r>
              <a:r>
                <a:rPr kumimoji="1" lang="zh-CN" altLang="en-US" sz="1200" dirty="0">
                  <a:latin typeface="Calibri" panose="020F0502020204030204" pitchFamily="34" charset="0"/>
                  <a:ea typeface="微软雅黑" pitchFamily="34" charset="-122"/>
                  <a:cs typeface="Calibri" panose="020F0502020204030204" pitchFamily="34" charset="0"/>
                </a:rPr>
                <a:t>数据和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a:t>
              </a:r>
              <a:r>
                <a:rPr kumimoji="1" lang="zh-CN" altLang="en-US" sz="1200" dirty="0">
                  <a:latin typeface="Calibri" panose="020F0502020204030204" pitchFamily="34" charset="0"/>
                  <a:ea typeface="微软雅黑" pitchFamily="34" charset="-122"/>
                  <a:cs typeface="Calibri" panose="020F0502020204030204" pitchFamily="34" charset="0"/>
                </a:rPr>
                <a:t>（填充）</a:t>
              </a:r>
            </a:p>
            <a:p>
              <a:endParaRPr kumimoji="1" lang="zh-CN" altLang="en-US" sz="1200" dirty="0">
                <a:latin typeface="Calibri" panose="020F0502020204030204" pitchFamily="34" charset="0"/>
                <a:ea typeface="微软雅黑" pitchFamily="34" charset="-122"/>
                <a:cs typeface="Calibri" panose="020F0502020204030204" pitchFamily="34" charset="0"/>
              </a:endParaRP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10010110 11101101  →  </a:t>
              </a:r>
              <a:r>
                <a:rPr kumimoji="1" lang="zh-CN" altLang="en-US" sz="1200" dirty="0">
                  <a:latin typeface="Calibri" panose="020F0502020204030204" pitchFamily="34" charset="0"/>
                  <a:ea typeface="微软雅黑" pitchFamily="34" charset="-122"/>
                  <a:cs typeface="Calibri" panose="020F0502020204030204" pitchFamily="34" charset="0"/>
                </a:rPr>
                <a:t>求和得出的结果</a:t>
              </a:r>
            </a:p>
            <a:p>
              <a:pPr>
                <a:lnSpc>
                  <a:spcPct val="13000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01101001 00010010  →  </a:t>
              </a:r>
              <a:r>
                <a:rPr kumimoji="1" lang="zh-CN" altLang="en-US" sz="1200" dirty="0">
                  <a:latin typeface="Calibri" panose="020F0502020204030204" pitchFamily="34" charset="0"/>
                  <a:ea typeface="微软雅黑" pitchFamily="34" charset="-122"/>
                  <a:cs typeface="Calibri" panose="020F0502020204030204" pitchFamily="34" charset="0"/>
                </a:rPr>
                <a:t>检验和 </a:t>
              </a:r>
            </a:p>
          </p:txBody>
        </p:sp>
        <p:sp>
          <p:nvSpPr>
            <p:cNvPr id="32" name="Line 30">
              <a:extLst>
                <a:ext uri="{FF2B5EF4-FFF2-40B4-BE49-F238E27FC236}">
                  <a16:creationId xmlns:a16="http://schemas.microsoft.com/office/drawing/2014/main" id="{BA1646D6-73C4-3510-F81D-98170D89638A}"/>
                </a:ext>
              </a:extLst>
            </p:cNvPr>
            <p:cNvSpPr>
              <a:spLocks noChangeShapeType="1"/>
            </p:cNvSpPr>
            <p:nvPr/>
          </p:nvSpPr>
          <p:spPr bwMode="auto">
            <a:xfrm flipV="1">
              <a:off x="4235251" y="3795900"/>
              <a:ext cx="3164240" cy="577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Calibri" panose="020F0502020204030204" pitchFamily="34" charset="0"/>
                <a:ea typeface="微软雅黑" pitchFamily="34" charset="-122"/>
                <a:cs typeface="Calibri" panose="020F0502020204030204" pitchFamily="34" charset="0"/>
              </a:endParaRPr>
            </a:p>
          </p:txBody>
        </p:sp>
        <p:sp>
          <p:nvSpPr>
            <p:cNvPr id="33" name="Text Box 31">
              <a:extLst>
                <a:ext uri="{FF2B5EF4-FFF2-40B4-BE49-F238E27FC236}">
                  <a16:creationId xmlns:a16="http://schemas.microsoft.com/office/drawing/2014/main" id="{ABB05A92-A9EE-3129-D7C9-98F914654666}"/>
                </a:ext>
              </a:extLst>
            </p:cNvPr>
            <p:cNvSpPr txBox="1">
              <a:spLocks noChangeArrowheads="1"/>
            </p:cNvSpPr>
            <p:nvPr/>
          </p:nvSpPr>
          <p:spPr bwMode="auto">
            <a:xfrm>
              <a:off x="2662944" y="3848835"/>
              <a:ext cx="1723549" cy="493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dirty="0">
                  <a:latin typeface="Calibri" panose="020F0502020204030204" pitchFamily="34" charset="0"/>
                  <a:ea typeface="微软雅黑" pitchFamily="34" charset="-122"/>
                  <a:cs typeface="Calibri" panose="020F0502020204030204" pitchFamily="34" charset="0"/>
                </a:rPr>
                <a:t>按二进制反码运算求和</a:t>
              </a:r>
            </a:p>
            <a:p>
              <a:pPr algn="r">
                <a:lnSpc>
                  <a:spcPct val="130000"/>
                </a:lnSpc>
              </a:pPr>
              <a:r>
                <a:rPr kumimoji="1" lang="zh-CN" altLang="en-US" sz="1200" dirty="0">
                  <a:latin typeface="Calibri" panose="020F0502020204030204" pitchFamily="34" charset="0"/>
                  <a:ea typeface="微软雅黑" pitchFamily="34" charset="-122"/>
                  <a:cs typeface="Calibri" panose="020F0502020204030204" pitchFamily="34" charset="0"/>
                </a:rPr>
                <a:t>将得出的结果求反码</a:t>
              </a:r>
            </a:p>
          </p:txBody>
        </p:sp>
      </p:grpSp>
      <p:grpSp>
        <p:nvGrpSpPr>
          <p:cNvPr id="37" name="组合 36">
            <a:extLst>
              <a:ext uri="{FF2B5EF4-FFF2-40B4-BE49-F238E27FC236}">
                <a16:creationId xmlns:a16="http://schemas.microsoft.com/office/drawing/2014/main" id="{1F1989C5-FBF5-0474-DB62-EE2FB277593C}"/>
              </a:ext>
            </a:extLst>
          </p:cNvPr>
          <p:cNvGrpSpPr/>
          <p:nvPr/>
        </p:nvGrpSpPr>
        <p:grpSpPr>
          <a:xfrm>
            <a:off x="1520962" y="1309482"/>
            <a:ext cx="2679279" cy="1597202"/>
            <a:chOff x="1703572" y="1280222"/>
            <a:chExt cx="2437559" cy="1453105"/>
          </a:xfrm>
        </p:grpSpPr>
        <p:sp>
          <p:nvSpPr>
            <p:cNvPr id="6" name="Rectangle 35">
              <a:extLst>
                <a:ext uri="{FF2B5EF4-FFF2-40B4-BE49-F238E27FC236}">
                  <a16:creationId xmlns:a16="http://schemas.microsoft.com/office/drawing/2014/main" id="{08DC8278-1AE7-FFC0-3EA8-428BD40405CC}"/>
                </a:ext>
              </a:extLst>
            </p:cNvPr>
            <p:cNvSpPr>
              <a:spLocks noChangeArrowheads="1"/>
            </p:cNvSpPr>
            <p:nvPr/>
          </p:nvSpPr>
          <p:spPr bwMode="auto">
            <a:xfrm>
              <a:off x="2438255" y="1903528"/>
              <a:ext cx="1688985" cy="43146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8" name="Freeform 5">
              <a:extLst>
                <a:ext uri="{FF2B5EF4-FFF2-40B4-BE49-F238E27FC236}">
                  <a16:creationId xmlns:a16="http://schemas.microsoft.com/office/drawing/2014/main" id="{A578BF9A-83D6-74F5-984A-42AC23ED4867}"/>
                </a:ext>
              </a:extLst>
            </p:cNvPr>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no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9" name="Rectangle 6">
              <a:extLst>
                <a:ext uri="{FF2B5EF4-FFF2-40B4-BE49-F238E27FC236}">
                  <a16:creationId xmlns:a16="http://schemas.microsoft.com/office/drawing/2014/main" id="{A2125F9F-94E5-E44F-7836-974B8A649DB7}"/>
                </a:ext>
              </a:extLst>
            </p:cNvPr>
            <p:cNvSpPr>
              <a:spLocks noChangeArrowheads="1"/>
            </p:cNvSpPr>
            <p:nvPr/>
          </p:nvSpPr>
          <p:spPr bwMode="auto">
            <a:xfrm>
              <a:off x="2435465" y="1303319"/>
              <a:ext cx="1705666" cy="61207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0" name="Rectangle 8">
              <a:extLst>
                <a:ext uri="{FF2B5EF4-FFF2-40B4-BE49-F238E27FC236}">
                  <a16:creationId xmlns:a16="http://schemas.microsoft.com/office/drawing/2014/main" id="{DC877491-5843-411B-EBEA-94D41D449391}"/>
                </a:ext>
              </a:extLst>
            </p:cNvPr>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1" name="Line 9">
              <a:extLst>
                <a:ext uri="{FF2B5EF4-FFF2-40B4-BE49-F238E27FC236}">
                  <a16:creationId xmlns:a16="http://schemas.microsoft.com/office/drawing/2014/main" id="{8FA7A823-AE8A-5FBB-402F-29798C4F7085}"/>
                </a:ext>
              </a:extLst>
            </p:cNvPr>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2" name="Line 10">
              <a:extLst>
                <a:ext uri="{FF2B5EF4-FFF2-40B4-BE49-F238E27FC236}">
                  <a16:creationId xmlns:a16="http://schemas.microsoft.com/office/drawing/2014/main" id="{7CB31BE8-1EE2-8F73-EE5E-CB81221F94A3}"/>
                </a:ext>
              </a:extLst>
            </p:cNvPr>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3" name="Line 11">
              <a:extLst>
                <a:ext uri="{FF2B5EF4-FFF2-40B4-BE49-F238E27FC236}">
                  <a16:creationId xmlns:a16="http://schemas.microsoft.com/office/drawing/2014/main" id="{50076565-18A0-CC04-CD87-2F01E33617FE}"/>
                </a:ext>
              </a:extLst>
            </p:cNvPr>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4" name="Line 12">
              <a:extLst>
                <a:ext uri="{FF2B5EF4-FFF2-40B4-BE49-F238E27FC236}">
                  <a16:creationId xmlns:a16="http://schemas.microsoft.com/office/drawing/2014/main" id="{606AC02D-B6E5-5BB3-F1E7-77EDFED22E40}"/>
                </a:ext>
              </a:extLst>
            </p:cNvPr>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5" name="Line 13">
              <a:extLst>
                <a:ext uri="{FF2B5EF4-FFF2-40B4-BE49-F238E27FC236}">
                  <a16:creationId xmlns:a16="http://schemas.microsoft.com/office/drawing/2014/main" id="{2CD10EEC-45AD-AEC8-6E77-8204DFA5DC4E}"/>
                </a:ext>
              </a:extLst>
            </p:cNvPr>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6" name="Line 14">
              <a:extLst>
                <a:ext uri="{FF2B5EF4-FFF2-40B4-BE49-F238E27FC236}">
                  <a16:creationId xmlns:a16="http://schemas.microsoft.com/office/drawing/2014/main" id="{F31CBD67-C869-1C53-771E-B3BDEDD784C2}"/>
                </a:ext>
              </a:extLst>
            </p:cNvPr>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7" name="Line 15">
              <a:extLst>
                <a:ext uri="{FF2B5EF4-FFF2-40B4-BE49-F238E27FC236}">
                  <a16:creationId xmlns:a16="http://schemas.microsoft.com/office/drawing/2014/main" id="{08CC66CB-3A0A-6A06-215F-BA96BD4BFD2C}"/>
                </a:ext>
              </a:extLst>
            </p:cNvPr>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8" name="Line 16">
              <a:extLst>
                <a:ext uri="{FF2B5EF4-FFF2-40B4-BE49-F238E27FC236}">
                  <a16:creationId xmlns:a16="http://schemas.microsoft.com/office/drawing/2014/main" id="{5FA06387-9B9F-981C-311D-AF1E680BD655}"/>
                </a:ext>
              </a:extLst>
            </p:cNvPr>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9" name="Line 17">
              <a:extLst>
                <a:ext uri="{FF2B5EF4-FFF2-40B4-BE49-F238E27FC236}">
                  <a16:creationId xmlns:a16="http://schemas.microsoft.com/office/drawing/2014/main" id="{9FF4A1C1-DBE9-D7A3-8E26-9966FB942D7D}"/>
                </a:ext>
              </a:extLst>
            </p:cNvPr>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0" name="Line 18">
              <a:extLst>
                <a:ext uri="{FF2B5EF4-FFF2-40B4-BE49-F238E27FC236}">
                  <a16:creationId xmlns:a16="http://schemas.microsoft.com/office/drawing/2014/main" id="{0D05D3EF-C615-9ED3-C992-9415605A37C4}"/>
                </a:ext>
              </a:extLst>
            </p:cNvPr>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1" name="Text Box 19">
              <a:extLst>
                <a:ext uri="{FF2B5EF4-FFF2-40B4-BE49-F238E27FC236}">
                  <a16:creationId xmlns:a16="http://schemas.microsoft.com/office/drawing/2014/main" id="{275E9E12-C8B5-A0F7-C82C-E9F427AA108B}"/>
                </a:ext>
              </a:extLst>
            </p:cNvPr>
            <p:cNvSpPr txBox="1">
              <a:spLocks noChangeArrowheads="1"/>
            </p:cNvSpPr>
            <p:nvPr/>
          </p:nvSpPr>
          <p:spPr bwMode="auto">
            <a:xfrm>
              <a:off x="2767006" y="1291771"/>
              <a:ext cx="866572"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153.19.8.104</a:t>
              </a:r>
            </a:p>
          </p:txBody>
        </p:sp>
        <p:sp>
          <p:nvSpPr>
            <p:cNvPr id="22" name="Text Box 20">
              <a:extLst>
                <a:ext uri="{FF2B5EF4-FFF2-40B4-BE49-F238E27FC236}">
                  <a16:creationId xmlns:a16="http://schemas.microsoft.com/office/drawing/2014/main" id="{86C46CB1-C6F4-A071-81E1-87B63C3901D1}"/>
                </a:ext>
              </a:extLst>
            </p:cNvPr>
            <p:cNvSpPr txBox="1">
              <a:spLocks noChangeArrowheads="1"/>
            </p:cNvSpPr>
            <p:nvPr/>
          </p:nvSpPr>
          <p:spPr bwMode="auto">
            <a:xfrm>
              <a:off x="2788901" y="1498684"/>
              <a:ext cx="789277"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171.3.14.11</a:t>
              </a:r>
            </a:p>
          </p:txBody>
        </p:sp>
        <p:sp>
          <p:nvSpPr>
            <p:cNvPr id="23" name="AutoShape 22">
              <a:extLst>
                <a:ext uri="{FF2B5EF4-FFF2-40B4-BE49-F238E27FC236}">
                  <a16:creationId xmlns:a16="http://schemas.microsoft.com/office/drawing/2014/main" id="{7909A81E-7522-4252-45AE-7835BCF9E01A}"/>
                </a:ext>
              </a:extLst>
            </p:cNvPr>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4" name="AutoShape 23">
              <a:extLst>
                <a:ext uri="{FF2B5EF4-FFF2-40B4-BE49-F238E27FC236}">
                  <a16:creationId xmlns:a16="http://schemas.microsoft.com/office/drawing/2014/main" id="{C827FE79-23C0-7538-C381-6722CF2E95F0}"/>
                </a:ext>
              </a:extLst>
            </p:cNvPr>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5" name="AutoShape 24">
              <a:extLst>
                <a:ext uri="{FF2B5EF4-FFF2-40B4-BE49-F238E27FC236}">
                  <a16:creationId xmlns:a16="http://schemas.microsoft.com/office/drawing/2014/main" id="{1A42FEBB-0544-D851-33E7-CC19E42A5A32}"/>
                </a:ext>
              </a:extLst>
            </p:cNvPr>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6" name="Text Box 25">
              <a:extLst>
                <a:ext uri="{FF2B5EF4-FFF2-40B4-BE49-F238E27FC236}">
                  <a16:creationId xmlns:a16="http://schemas.microsoft.com/office/drawing/2014/main" id="{0BC5827A-FB54-973C-0F46-E8866DB337B8}"/>
                </a:ext>
              </a:extLst>
            </p:cNvPr>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12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伪首部</a:t>
              </a:r>
            </a:p>
          </p:txBody>
        </p:sp>
        <p:sp>
          <p:nvSpPr>
            <p:cNvPr id="27" name="Text Box 26">
              <a:extLst>
                <a:ext uri="{FF2B5EF4-FFF2-40B4-BE49-F238E27FC236}">
                  <a16:creationId xmlns:a16="http://schemas.microsoft.com/office/drawing/2014/main" id="{8DF54B97-AE4B-E92D-2E8B-48AA75A9D4C9}"/>
                </a:ext>
              </a:extLst>
            </p:cNvPr>
            <p:cNvSpPr txBox="1">
              <a:spLocks noChangeArrowheads="1"/>
            </p:cNvSpPr>
            <p:nvPr/>
          </p:nvSpPr>
          <p:spPr bwMode="auto">
            <a:xfrm>
              <a:off x="1708653" y="1889316"/>
              <a:ext cx="679897"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8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UDP </a:t>
              </a:r>
              <a:r>
                <a:rPr kumimoji="1" lang="zh-CN" altLang="en-US" sz="1100" dirty="0">
                  <a:latin typeface="Calibri" panose="020F0502020204030204" pitchFamily="34" charset="0"/>
                  <a:ea typeface="微软雅黑" pitchFamily="34" charset="-122"/>
                  <a:cs typeface="Calibri" panose="020F0502020204030204" pitchFamily="34" charset="0"/>
                </a:rPr>
                <a:t>首部</a:t>
              </a:r>
            </a:p>
          </p:txBody>
        </p:sp>
        <p:sp>
          <p:nvSpPr>
            <p:cNvPr id="28" name="Text Box 27">
              <a:extLst>
                <a:ext uri="{FF2B5EF4-FFF2-40B4-BE49-F238E27FC236}">
                  <a16:creationId xmlns:a16="http://schemas.microsoft.com/office/drawing/2014/main" id="{8120E176-FC7B-C7B4-52A8-6C39AE549638}"/>
                </a:ext>
              </a:extLst>
            </p:cNvPr>
            <p:cNvSpPr txBox="1">
              <a:spLocks noChangeArrowheads="1"/>
            </p:cNvSpPr>
            <p:nvPr/>
          </p:nvSpPr>
          <p:spPr bwMode="auto">
            <a:xfrm>
              <a:off x="1869074" y="2334279"/>
              <a:ext cx="519475"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7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数据</a:t>
              </a:r>
            </a:p>
          </p:txBody>
        </p:sp>
      </p:grpSp>
      <p:sp>
        <p:nvSpPr>
          <p:cNvPr id="41" name="Text Box 21">
            <a:extLst>
              <a:ext uri="{FF2B5EF4-FFF2-40B4-BE49-F238E27FC236}">
                <a16:creationId xmlns:a16="http://schemas.microsoft.com/office/drawing/2014/main" id="{2222DA98-BC8A-19DB-2413-A1FA506FC1F7}"/>
              </a:ext>
            </a:extLst>
          </p:cNvPr>
          <p:cNvSpPr txBox="1">
            <a:spLocks noChangeArrowheads="1"/>
          </p:cNvSpPr>
          <p:nvPr/>
        </p:nvSpPr>
        <p:spPr bwMode="auto">
          <a:xfrm>
            <a:off x="2327764" y="1762003"/>
            <a:ext cx="1870186" cy="1182375"/>
          </a:xfrm>
          <a:prstGeom prst="rect">
            <a:avLst/>
          </a:prstGeom>
          <a:noFill/>
          <a:ln>
            <a:noFill/>
          </a:ln>
          <a:effectLst/>
        </p:spPr>
        <p:txBody>
          <a:bodyPr wrap="square">
            <a:spAutoFit/>
          </a:bodyPr>
          <a:lstStyle/>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全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         17           15 = 8+7</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1087                    13</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15 = 8+7                </a:t>
            </a:r>
            <a:r>
              <a:rPr kumimoji="1" lang="zh-CN" altLang="en-US" sz="1200" dirty="0">
                <a:solidFill>
                  <a:srgbClr val="C00000"/>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rgbClr val="C00000"/>
                </a:solidFill>
                <a:latin typeface="Calibri" panose="020F0502020204030204" pitchFamily="34" charset="0"/>
                <a:ea typeface="Calibri" panose="020F0502020204030204" pitchFamily="34" charset="0"/>
                <a:cs typeface="Calibri" panose="020F0502020204030204" pitchFamily="34" charset="0"/>
              </a:rPr>
              <a:t>0</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数据</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a:t>
            </a:r>
            <a:r>
              <a:rPr kumimoji="1" lang="zh-CN" altLang="en-US" sz="1200" dirty="0">
                <a:solidFill>
                  <a:schemeClr val="tx2">
                    <a:lumMod val="60000"/>
                    <a:lumOff val="40000"/>
                  </a:schemeClr>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chemeClr val="tx2">
                    <a:lumMod val="60000"/>
                    <a:lumOff val="40000"/>
                  </a:schemeClr>
                </a:solidFill>
                <a:latin typeface="Calibri" panose="020F0502020204030204" pitchFamily="34" charset="0"/>
                <a:ea typeface="Calibri" panose="020F0502020204030204" pitchFamily="34" charset="0"/>
                <a:cs typeface="Calibri" panose="020F0502020204030204" pitchFamily="34" charset="0"/>
              </a:rPr>
              <a:t>0</a:t>
            </a:r>
          </a:p>
        </p:txBody>
      </p:sp>
      <p:sp>
        <p:nvSpPr>
          <p:cNvPr id="3" name="矩形 2">
            <a:extLst>
              <a:ext uri="{FF2B5EF4-FFF2-40B4-BE49-F238E27FC236}">
                <a16:creationId xmlns:a16="http://schemas.microsoft.com/office/drawing/2014/main" id="{8516D012-DB29-A708-5394-13BC4208FDF3}"/>
              </a:ext>
            </a:extLst>
          </p:cNvPr>
          <p:cNvSpPr/>
          <p:nvPr/>
        </p:nvSpPr>
        <p:spPr>
          <a:xfrm>
            <a:off x="1146412" y="948519"/>
            <a:ext cx="3235143" cy="23747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404172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5401527" y="2844106"/>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68" name="Text Box 24"/>
          <p:cNvSpPr txBox="1">
            <a:spLocks noChangeArrowheads="1"/>
          </p:cNvSpPr>
          <p:nvPr/>
        </p:nvSpPr>
        <p:spPr bwMode="auto">
          <a:xfrm>
            <a:off x="4172379"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2808000" y="144000"/>
            <a:ext cx="3528000" cy="338554"/>
          </a:xfr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5" name="内容占位符 4">
            <a:extLst>
              <a:ext uri="{FF2B5EF4-FFF2-40B4-BE49-F238E27FC236}">
                <a16:creationId xmlns:a16="http://schemas.microsoft.com/office/drawing/2014/main" id="{E8CE886B-84FE-7FE5-3747-23359C5A1845}"/>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2808000" y="144000"/>
            <a:ext cx="3528000" cy="338554"/>
          </a:xfr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2808000" y="144000"/>
            <a:ext cx="3528000" cy="338554"/>
          </a:xfr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482554"/>
            <a:ext cx="8172000" cy="4120946"/>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2808000" y="144000"/>
            <a:ext cx="3528000" cy="338554"/>
          </a:xfr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250562E9-B244-1C1B-18A8-A6EF2E85EC2F}"/>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2808000" y="144000"/>
            <a:ext cx="3528000" cy="338554"/>
          </a:xfr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482554"/>
            <a:ext cx="8172000" cy="4120946"/>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2808000" y="144000"/>
            <a:ext cx="3528000" cy="338554"/>
          </a:xfr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482554"/>
            <a:ext cx="8172000" cy="4120946"/>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2808000" y="144000"/>
            <a:ext cx="3528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xfrm>
            <a:off x="2808000" y="144000"/>
            <a:ext cx="3528000" cy="338554"/>
          </a:xfr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482554"/>
            <a:ext cx="8172000" cy="4120946"/>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482554"/>
            <a:ext cx="8172000" cy="4120946"/>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482554"/>
            <a:ext cx="8172000" cy="4120946"/>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482554"/>
            <a:ext cx="8172000" cy="4120946"/>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2808000" y="144000"/>
            <a:ext cx="3528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2808000" y="144000"/>
            <a:ext cx="3528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4" name="内容占位符 3">
            <a:extLst>
              <a:ext uri="{FF2B5EF4-FFF2-40B4-BE49-F238E27FC236}">
                <a16:creationId xmlns:a16="http://schemas.microsoft.com/office/drawing/2014/main" id="{17402EFC-556B-5CA5-C935-9D0C077CBAC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2808000" y="144000"/>
            <a:ext cx="3528000" cy="338554"/>
          </a:xfr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482554"/>
            <a:ext cx="8172000" cy="4120946"/>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2808000" y="144000"/>
            <a:ext cx="3528000" cy="338554"/>
          </a:xfr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2808000" y="144000"/>
            <a:ext cx="3528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482554"/>
            <a:ext cx="8172000" cy="4120946"/>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2808000" y="144000"/>
            <a:ext cx="3528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64CCEE9-A796-CC72-8671-9C8A18565DD0}"/>
              </a:ext>
            </a:extLst>
          </p:cNvPr>
          <p:cNvSpPr>
            <a:spLocks noGrp="1"/>
          </p:cNvSpPr>
          <p:nvPr>
            <p:ph type="title"/>
          </p:nvPr>
        </p:nvSpPr>
        <p:spPr>
          <a:xfrm>
            <a:off x="2808000" y="144000"/>
            <a:ext cx="3528000" cy="338554"/>
          </a:xfr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3169804642"/>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1648239173"/>
              </p:ext>
            </p:extLst>
          </p:nvPr>
        </p:nvGraphicFramePr>
        <p:xfrm>
          <a:off x="642065" y="3359471"/>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9">
            <a:extLst>
              <a:ext uri="{FF2B5EF4-FFF2-40B4-BE49-F238E27FC236}">
                <a16:creationId xmlns:a16="http://schemas.microsoft.com/office/drawing/2014/main" id="{510585FD-76E3-2C51-737E-8E9D058C27B9}"/>
              </a:ext>
            </a:extLst>
          </p:cNvPr>
          <p:cNvSpPr>
            <a:spLocks noChangeArrowheads="1"/>
          </p:cNvSpPr>
          <p:nvPr/>
        </p:nvSpPr>
        <p:spPr bwMode="auto">
          <a:xfrm>
            <a:off x="2077541" y="1367482"/>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A30B284D-F4D5-B8C7-5CA1-126D85378BD7}"/>
              </a:ext>
            </a:extLst>
          </p:cNvPr>
          <p:cNvSpPr txBox="1">
            <a:spLocks noChangeArrowheads="1"/>
          </p:cNvSpPr>
          <p:nvPr/>
        </p:nvSpPr>
        <p:spPr bwMode="auto">
          <a:xfrm>
            <a:off x="2627321" y="104388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9C3C181-F605-FFBE-8753-3A98212D8394}"/>
              </a:ext>
            </a:extLst>
          </p:cNvPr>
          <p:cNvGraphicFramePr>
            <a:graphicFrameLocks noGrp="1"/>
          </p:cNvGraphicFramePr>
          <p:nvPr>
            <p:extLst>
              <p:ext uri="{D42A27DB-BD31-4B8C-83A1-F6EECF244321}">
                <p14:modId xmlns:p14="http://schemas.microsoft.com/office/powerpoint/2010/main" val="2909457646"/>
              </p:ext>
            </p:extLst>
          </p:nvPr>
        </p:nvGraphicFramePr>
        <p:xfrm>
          <a:off x="2077541" y="1460684"/>
          <a:ext cx="381046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tblGrid>
              <a:tr h="370840">
                <a:tc>
                  <a:txBody>
                    <a:bodyPr/>
                    <a:lstStyle/>
                    <a:p>
                      <a:pPr algn="ctr"/>
                      <a:r>
                        <a:rPr lang="en-US" altLang="zh-CN" sz="1200" b="0" dirty="0">
                          <a:solidFill>
                            <a:schemeClr val="bg1"/>
                          </a:solidFill>
                          <a:latin typeface="Montserrat" panose="00000500000000000000" pitchFamily="2" charset="0"/>
                        </a:rPr>
                        <a:t>1</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2</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97555976-9D9F-DBF8-B4BB-59EC46CC0D6C}"/>
              </a:ext>
            </a:extLst>
          </p:cNvPr>
          <p:cNvSpPr>
            <a:spLocks/>
          </p:cNvSpPr>
          <p:nvPr/>
        </p:nvSpPr>
        <p:spPr bwMode="auto">
          <a:xfrm rot="16200000">
            <a:off x="2959541" y="1196024"/>
            <a:ext cx="108000" cy="1872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5DA8E950-E41F-7F2F-5B94-9137AFD5B77B}"/>
              </a:ext>
            </a:extLst>
          </p:cNvPr>
          <p:cNvSpPr>
            <a:spLocks/>
          </p:cNvSpPr>
          <p:nvPr/>
        </p:nvSpPr>
        <p:spPr bwMode="auto">
          <a:xfrm rot="16200000">
            <a:off x="4889670"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5248DE04-6313-6A3F-1CE9-2BCE48AF65C6}"/>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363798F4-B72C-9CD2-B2B8-BD7B4A556B75}"/>
              </a:ext>
            </a:extLst>
          </p:cNvPr>
          <p:cNvSpPr txBox="1"/>
          <p:nvPr/>
        </p:nvSpPr>
        <p:spPr>
          <a:xfrm>
            <a:off x="4620504"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13" name="Rectangle 29">
            <a:extLst>
              <a:ext uri="{FF2B5EF4-FFF2-40B4-BE49-F238E27FC236}">
                <a16:creationId xmlns:a16="http://schemas.microsoft.com/office/drawing/2014/main" id="{27586C2A-7AA8-282A-342D-A518FB16A6D7}"/>
              </a:ext>
            </a:extLst>
          </p:cNvPr>
          <p:cNvSpPr>
            <a:spLocks noChangeArrowheads="1"/>
          </p:cNvSpPr>
          <p:nvPr/>
        </p:nvSpPr>
        <p:spPr bwMode="auto">
          <a:xfrm>
            <a:off x="2077541" y="3061624"/>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4" name="Text Box 31">
            <a:extLst>
              <a:ext uri="{FF2B5EF4-FFF2-40B4-BE49-F238E27FC236}">
                <a16:creationId xmlns:a16="http://schemas.microsoft.com/office/drawing/2014/main" id="{5325A869-A051-377D-88C6-85257C27932C}"/>
              </a:ext>
            </a:extLst>
          </p:cNvPr>
          <p:cNvSpPr txBox="1">
            <a:spLocks noChangeArrowheads="1"/>
          </p:cNvSpPr>
          <p:nvPr/>
        </p:nvSpPr>
        <p:spPr bwMode="auto">
          <a:xfrm>
            <a:off x="2627321" y="273802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15" name="表格 14">
            <a:extLst>
              <a:ext uri="{FF2B5EF4-FFF2-40B4-BE49-F238E27FC236}">
                <a16:creationId xmlns:a16="http://schemas.microsoft.com/office/drawing/2014/main" id="{01C39073-D782-19A6-200E-C32A195B6D28}"/>
              </a:ext>
            </a:extLst>
          </p:cNvPr>
          <p:cNvGraphicFramePr>
            <a:graphicFrameLocks noGrp="1"/>
          </p:cNvGraphicFramePr>
          <p:nvPr>
            <p:extLst>
              <p:ext uri="{D42A27DB-BD31-4B8C-83A1-F6EECF244321}">
                <p14:modId xmlns:p14="http://schemas.microsoft.com/office/powerpoint/2010/main" val="1277884119"/>
              </p:ext>
            </p:extLst>
          </p:nvPr>
        </p:nvGraphicFramePr>
        <p:xfrm>
          <a:off x="1124777" y="3154826"/>
          <a:ext cx="3810472" cy="370840"/>
        </p:xfrm>
        <a:graphic>
          <a:graphicData uri="http://schemas.openxmlformats.org/drawingml/2006/table">
            <a:tbl>
              <a:tblPr firstRow="1" bandRow="1">
                <a:tableStyleId>{5C22544A-7EE6-4342-B048-85BDC9FD1C3A}</a:tableStyleId>
              </a:tblPr>
              <a:tblGrid>
                <a:gridCol w="476309">
                  <a:extLst>
                    <a:ext uri="{9D8B030D-6E8A-4147-A177-3AD203B41FA5}">
                      <a16:colId xmlns:a16="http://schemas.microsoft.com/office/drawing/2014/main" val="1392981243"/>
                    </a:ext>
                  </a:extLst>
                </a:gridCol>
                <a:gridCol w="476309">
                  <a:extLst>
                    <a:ext uri="{9D8B030D-6E8A-4147-A177-3AD203B41FA5}">
                      <a16:colId xmlns:a16="http://schemas.microsoft.com/office/drawing/2014/main" val="212317948"/>
                    </a:ext>
                  </a:extLst>
                </a:gridCol>
                <a:gridCol w="476309">
                  <a:extLst>
                    <a:ext uri="{9D8B030D-6E8A-4147-A177-3AD203B41FA5}">
                      <a16:colId xmlns:a16="http://schemas.microsoft.com/office/drawing/2014/main" val="4122724786"/>
                    </a:ext>
                  </a:extLst>
                </a:gridCol>
                <a:gridCol w="476309">
                  <a:extLst>
                    <a:ext uri="{9D8B030D-6E8A-4147-A177-3AD203B41FA5}">
                      <a16:colId xmlns:a16="http://schemas.microsoft.com/office/drawing/2014/main" val="1728774863"/>
                    </a:ext>
                  </a:extLst>
                </a:gridCol>
                <a:gridCol w="476309">
                  <a:extLst>
                    <a:ext uri="{9D8B030D-6E8A-4147-A177-3AD203B41FA5}">
                      <a16:colId xmlns:a16="http://schemas.microsoft.com/office/drawing/2014/main" val="855356992"/>
                    </a:ext>
                  </a:extLst>
                </a:gridCol>
                <a:gridCol w="476309">
                  <a:extLst>
                    <a:ext uri="{9D8B030D-6E8A-4147-A177-3AD203B41FA5}">
                      <a16:colId xmlns:a16="http://schemas.microsoft.com/office/drawing/2014/main" val="1700185165"/>
                    </a:ext>
                  </a:extLst>
                </a:gridCol>
                <a:gridCol w="476309">
                  <a:extLst>
                    <a:ext uri="{9D8B030D-6E8A-4147-A177-3AD203B41FA5}">
                      <a16:colId xmlns:a16="http://schemas.microsoft.com/office/drawing/2014/main" val="3830274490"/>
                    </a:ext>
                  </a:extLst>
                </a:gridCol>
                <a:gridCol w="476309">
                  <a:extLst>
                    <a:ext uri="{9D8B030D-6E8A-4147-A177-3AD203B41FA5}">
                      <a16:colId xmlns:a16="http://schemas.microsoft.com/office/drawing/2014/main" val="916734300"/>
                    </a:ext>
                  </a:extLst>
                </a:gridCol>
              </a:tblGrid>
              <a:tr h="370840">
                <a:tc>
                  <a:txBody>
                    <a:bodyPr/>
                    <a:lstStyle/>
                    <a:p>
                      <a:pPr algn="ctr"/>
                      <a:r>
                        <a:rPr lang="en-US" altLang="zh-CN" sz="1200" b="0" dirty="0">
                          <a:solidFill>
                            <a:sysClr val="windowText" lastClr="000000"/>
                          </a:solidFill>
                          <a:latin typeface="Montserrat" panose="00000500000000000000" pitchFamily="2" charset="0"/>
                        </a:rPr>
                        <a:t>1</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ysClr val="windowText" lastClr="000000"/>
                          </a:solidFill>
                          <a:latin typeface="Montserrat" panose="00000500000000000000" pitchFamily="2" charset="0"/>
                        </a:rPr>
                        <a:t>2</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16" name="AutoShape 26">
            <a:extLst>
              <a:ext uri="{FF2B5EF4-FFF2-40B4-BE49-F238E27FC236}">
                <a16:creationId xmlns:a16="http://schemas.microsoft.com/office/drawing/2014/main" id="{89CDD3BD-7E8C-CB72-5F4E-E9C352C657A1}"/>
              </a:ext>
            </a:extLst>
          </p:cNvPr>
          <p:cNvSpPr>
            <a:spLocks/>
          </p:cNvSpPr>
          <p:nvPr/>
        </p:nvSpPr>
        <p:spPr bwMode="auto">
          <a:xfrm rot="16200000">
            <a:off x="2491541" y="3358166"/>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AutoShape 26">
            <a:extLst>
              <a:ext uri="{FF2B5EF4-FFF2-40B4-BE49-F238E27FC236}">
                <a16:creationId xmlns:a16="http://schemas.microsoft.com/office/drawing/2014/main" id="{5D509D0B-E1D8-5232-2A70-FDF6C1D0EACD}"/>
              </a:ext>
            </a:extLst>
          </p:cNvPr>
          <p:cNvSpPr>
            <a:spLocks/>
          </p:cNvSpPr>
          <p:nvPr/>
        </p:nvSpPr>
        <p:spPr bwMode="auto">
          <a:xfrm rot="16200000">
            <a:off x="1556012" y="3376165"/>
            <a:ext cx="108000" cy="90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AutoShape 26">
            <a:extLst>
              <a:ext uri="{FF2B5EF4-FFF2-40B4-BE49-F238E27FC236}">
                <a16:creationId xmlns:a16="http://schemas.microsoft.com/office/drawing/2014/main" id="{C803CF8D-A891-2BC4-3827-F29363E42178}"/>
              </a:ext>
            </a:extLst>
          </p:cNvPr>
          <p:cNvSpPr>
            <a:spLocks/>
          </p:cNvSpPr>
          <p:nvPr/>
        </p:nvSpPr>
        <p:spPr bwMode="auto">
          <a:xfrm rot="16200000">
            <a:off x="4655670" y="3142166"/>
            <a:ext cx="108000" cy="13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文本框 18">
            <a:extLst>
              <a:ext uri="{FF2B5EF4-FFF2-40B4-BE49-F238E27FC236}">
                <a16:creationId xmlns:a16="http://schemas.microsoft.com/office/drawing/2014/main" id="{A120F788-1AF6-38A3-4D72-2F6CFB3B5712}"/>
              </a:ext>
            </a:extLst>
          </p:cNvPr>
          <p:cNvSpPr txBox="1"/>
          <p:nvPr/>
        </p:nvSpPr>
        <p:spPr>
          <a:xfrm>
            <a:off x="2222376"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951C26E7-8F9C-4058-82A5-252516D11D04}"/>
              </a:ext>
            </a:extLst>
          </p:cNvPr>
          <p:cNvSpPr txBox="1"/>
          <p:nvPr/>
        </p:nvSpPr>
        <p:spPr>
          <a:xfrm>
            <a:off x="1286847"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21" name="文本框 20">
            <a:extLst>
              <a:ext uri="{FF2B5EF4-FFF2-40B4-BE49-F238E27FC236}">
                <a16:creationId xmlns:a16="http://schemas.microsoft.com/office/drawing/2014/main" id="{FA8E5AEA-FAC9-BEC5-E749-69CC20384CA0}"/>
              </a:ext>
            </a:extLst>
          </p:cNvPr>
          <p:cNvSpPr txBox="1"/>
          <p:nvPr/>
        </p:nvSpPr>
        <p:spPr>
          <a:xfrm>
            <a:off x="4620504" y="3951911"/>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2" name="AutoShape 26">
            <a:extLst>
              <a:ext uri="{FF2B5EF4-FFF2-40B4-BE49-F238E27FC236}">
                <a16:creationId xmlns:a16="http://schemas.microsoft.com/office/drawing/2014/main" id="{CD6C5CD8-DD48-59E2-64DC-A687840DDE7A}"/>
              </a:ext>
            </a:extLst>
          </p:cNvPr>
          <p:cNvSpPr>
            <a:spLocks/>
          </p:cNvSpPr>
          <p:nvPr/>
        </p:nvSpPr>
        <p:spPr bwMode="auto">
          <a:xfrm rot="16200000">
            <a:off x="3465606" y="3368623"/>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文本框 22">
            <a:extLst>
              <a:ext uri="{FF2B5EF4-FFF2-40B4-BE49-F238E27FC236}">
                <a16:creationId xmlns:a16="http://schemas.microsoft.com/office/drawing/2014/main" id="{0B176486-8A19-551C-56D3-42941DA3AAE6}"/>
              </a:ext>
            </a:extLst>
          </p:cNvPr>
          <p:cNvSpPr txBox="1"/>
          <p:nvPr/>
        </p:nvSpPr>
        <p:spPr>
          <a:xfrm>
            <a:off x="3196441" y="3962368"/>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48850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2808000" y="144000"/>
            <a:ext cx="3528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2808000" y="144000"/>
            <a:ext cx="3528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2808000" y="144000"/>
            <a:ext cx="3528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2808000" y="144000"/>
            <a:ext cx="3528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89163BE2-6C7C-4F7F-4B65-92111999F231}"/>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
        <p:nvSpPr>
          <p:cNvPr id="2" name="Rectangle 81">
            <a:extLst>
              <a:ext uri="{FF2B5EF4-FFF2-40B4-BE49-F238E27FC236}">
                <a16:creationId xmlns:a16="http://schemas.microsoft.com/office/drawing/2014/main" id="{E050A056-0D8E-13F2-DAE3-CCCC3842379C}"/>
              </a:ext>
            </a:extLst>
          </p:cNvPr>
          <p:cNvSpPr>
            <a:spLocks noChangeArrowheads="1"/>
          </p:cNvSpPr>
          <p:nvPr/>
        </p:nvSpPr>
        <p:spPr bwMode="auto">
          <a:xfrm>
            <a:off x="2173199" y="1296751"/>
            <a:ext cx="4716036"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pitchFamily="34" charset="-122"/>
              </a:rPr>
              <a:t>0                                    8                                 16                                  24                             31</a:t>
            </a: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482554"/>
            <a:ext cx="8172000" cy="4120946"/>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2808000" y="144000"/>
            <a:ext cx="3528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482554"/>
            <a:ext cx="8172000" cy="4120946"/>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2808000" y="144000"/>
            <a:ext cx="3528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2808000" y="144000"/>
            <a:ext cx="3528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2808000" y="144000"/>
            <a:ext cx="3528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5" name="内容占位符 4">
            <a:extLst>
              <a:ext uri="{FF2B5EF4-FFF2-40B4-BE49-F238E27FC236}">
                <a16:creationId xmlns:a16="http://schemas.microsoft.com/office/drawing/2014/main" id="{241ACFCD-9219-D4E8-AE10-8CF8D3299AD7}"/>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98A17AEF-4EC1-8860-81F8-7B5672C5C2D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5" name="内容占位符 4">
            <a:extLst>
              <a:ext uri="{FF2B5EF4-FFF2-40B4-BE49-F238E27FC236}">
                <a16:creationId xmlns:a16="http://schemas.microsoft.com/office/drawing/2014/main" id="{10F75868-3A2C-93BA-10EA-145046B567F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a:xfrm>
            <a:off x="2808000" y="144000"/>
            <a:ext cx="3528000" cy="338554"/>
          </a:xfrm>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a:xfrm>
            <a:off x="2808000" y="144000"/>
            <a:ext cx="3528000" cy="338554"/>
          </a:xfrm>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482554"/>
            <a:ext cx="8172000" cy="4120946"/>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2808000" y="144000"/>
            <a:ext cx="3528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a:xfrm>
            <a:off x="2808000" y="144000"/>
            <a:ext cx="3528000" cy="338554"/>
          </a:xfrm>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2808000" y="144000"/>
            <a:ext cx="3528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a:xfrm>
            <a:off x="2808000" y="144000"/>
            <a:ext cx="3528000" cy="338554"/>
          </a:xfrm>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a:xfrm>
            <a:off x="2808000" y="144000"/>
            <a:ext cx="3528000" cy="338554"/>
          </a:xfrm>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2808000" y="144000"/>
            <a:ext cx="3528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2808000" y="144000"/>
            <a:ext cx="3528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2808000" y="144000"/>
            <a:ext cx="3528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482554"/>
            <a:ext cx="8172000" cy="4120946"/>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2808000" y="144000"/>
            <a:ext cx="3528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网络利用率降低。</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例如：仅 </a:t>
              </a:r>
              <a:r>
                <a:rPr lang="en-US" altLang="zh-CN" sz="1400" kern="1200" dirty="0">
                  <a:latin typeface="微软雅黑 Light" panose="020B0502040204020203" pitchFamily="34" charset="-122"/>
                  <a:ea typeface="微软雅黑 Light" panose="020B0502040204020203" pitchFamily="34" charset="-122"/>
                </a:rPr>
                <a:t>1 </a:t>
              </a:r>
              <a:r>
                <a:rPr lang="zh-CN" altLang="en-US" sz="1400" kern="1200" dirty="0">
                  <a:latin typeface="微软雅黑 Light" panose="020B0502040204020203" pitchFamily="34" charset="-122"/>
                  <a:ea typeface="微软雅黑 Light" panose="020B0502040204020203" pitchFamily="34" charset="-122"/>
                </a:rPr>
                <a:t>个字节。利用率就不会超过</a:t>
              </a:r>
              <a:r>
                <a:rPr lang="en-US" altLang="en-US" sz="1400" kern="1200" dirty="0">
                  <a:latin typeface="微软雅黑 Light" panose="020B0502040204020203" pitchFamily="34" charset="-122"/>
                  <a:ea typeface="微软雅黑 Light" panose="020B0502040204020203" pitchFamily="34" charset="-122"/>
                </a:rPr>
                <a:t>1/41</a:t>
              </a:r>
              <a:r>
                <a:rPr lang="zh-CN" altLang="en-US" sz="1400" kern="1200" dirty="0">
                  <a:latin typeface="微软雅黑 Light" panose="020B0502040204020203" pitchFamily="34" charset="-122"/>
                  <a:ea typeface="微软雅黑 Light" panose="020B0502040204020203"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开销增大。</a:t>
              </a:r>
            </a:p>
            <a:p>
              <a:pPr marL="114300" lvl="1" indent="-114300" algn="l" defTabSz="533400">
                <a:lnSpc>
                  <a:spcPts val="2400"/>
                </a:lnSpc>
                <a:spcBef>
                  <a:spcPct val="0"/>
                </a:spcBef>
                <a:spcAft>
                  <a:spcPts val="0"/>
                </a:spcAft>
                <a:buChar char="••"/>
              </a:pP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层传输时要分片，终点要装配。</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chemeClr val="bg1"/>
                  </a:solidFill>
                  <a:latin typeface="微软雅黑 Light" panose="020B0502040204020203" pitchFamily="34" charset="-122"/>
                  <a:ea typeface="微软雅黑 Light" panose="020B0502040204020203"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只要在 </a:t>
              </a: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层传输时不再分片。</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默认值</a:t>
              </a:r>
              <a:r>
                <a:rPr lang="en-US" altLang="zh-CN"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kern="1200" dirty="0">
                  <a:solidFill>
                    <a:srgbClr val="C00000"/>
                  </a:solidFill>
                  <a:latin typeface="微软雅黑 Light" panose="020B0502040204020203" pitchFamily="34" charset="-122"/>
                  <a:ea typeface="微软雅黑 Light" panose="020B0502040204020203" pitchFamily="34" charset="-122"/>
                </a:rPr>
                <a:t>报文段长度 </a:t>
              </a:r>
              <a:r>
                <a:rPr lang="en-US" altLang="zh-CN" sz="1400" kern="1200" dirty="0">
                  <a:latin typeface="微软雅黑 Light" panose="020B0502040204020203" pitchFamily="34" charset="-122"/>
                  <a:ea typeface="微软雅黑 Light" panose="020B0502040204020203" pitchFamily="34" charset="-122"/>
                </a:rPr>
                <a:t>=</a:t>
              </a:r>
              <a:r>
                <a:rPr lang="zh-CN" altLang="en-US"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en-US" altLang="zh-CN" sz="1400" kern="1200" dirty="0">
                  <a:latin typeface="微软雅黑 Light" panose="020B0502040204020203" pitchFamily="34" charset="-122"/>
                  <a:ea typeface="微软雅黑 Light" panose="020B0502040204020203" pitchFamily="34" charset="-122"/>
                </a:rPr>
                <a:t>+</a:t>
              </a:r>
              <a:r>
                <a:rPr lang="en-US" altLang="en-US" sz="1400" kern="1200" dirty="0">
                  <a:latin typeface="微软雅黑 Light" panose="020B0502040204020203" pitchFamily="34" charset="-122"/>
                  <a:ea typeface="微软雅黑 Light" panose="020B0502040204020203" pitchFamily="34" charset="-122"/>
                </a:rPr>
                <a:t> 20 </a:t>
              </a:r>
              <a:r>
                <a:rPr lang="en-US" altLang="zh-CN" sz="1400" kern="1200" dirty="0">
                  <a:latin typeface="微软雅黑 Light" panose="020B0502040204020203" pitchFamily="34" charset="-122"/>
                  <a:ea typeface="微软雅黑 Light" panose="020B0502040204020203" pitchFamily="34" charset="-122"/>
                </a:rPr>
                <a:t>= 556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dirty="0">
                  <a:solidFill>
                    <a:srgbClr val="C00000"/>
                  </a:solidFill>
                  <a:latin typeface="微软雅黑 Light" panose="020B0502040204020203" pitchFamily="34" charset="-122"/>
                  <a:ea typeface="微软雅黑 Light" panose="020B0502040204020203" pitchFamily="34" charset="-122"/>
                </a:rPr>
                <a:t>IP </a:t>
              </a:r>
              <a:r>
                <a:rPr lang="zh-CN" altLang="en-US" sz="1400" dirty="0">
                  <a:solidFill>
                    <a:srgbClr val="C00000"/>
                  </a:solidFill>
                  <a:latin typeface="微软雅黑 Light" panose="020B0502040204020203" pitchFamily="34" charset="-122"/>
                  <a:ea typeface="微软雅黑 Light" panose="020B0502040204020203" pitchFamily="34" charset="-122"/>
                </a:rPr>
                <a:t>数据报长度 </a:t>
              </a:r>
              <a:r>
                <a:rPr lang="en-US" altLang="zh-CN" sz="1400" dirty="0">
                  <a:latin typeface="微软雅黑 Light" panose="020B0502040204020203" pitchFamily="34" charset="-122"/>
                  <a:ea typeface="微软雅黑 Light" panose="020B0502040204020203" pitchFamily="34" charset="-122"/>
                </a:rPr>
                <a:t>= 576 </a:t>
              </a:r>
              <a:r>
                <a:rPr lang="zh-CN" altLang="en-US" sz="1400" dirty="0">
                  <a:latin typeface="微软雅黑 Light" panose="020B0502040204020203" pitchFamily="34" charset="-122"/>
                  <a:ea typeface="微软雅黑 Light" panose="020B0502040204020203" pitchFamily="34" charset="-122"/>
                </a:rPr>
                <a:t>字节。</a:t>
              </a:r>
              <a:endParaRPr lang="zh-CN" altLang="en-US" sz="1400" kern="1200"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2808000" y="144000"/>
            <a:ext cx="3528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2808000" y="144000"/>
            <a:ext cx="3528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482554"/>
            <a:ext cx="8172000" cy="4120946"/>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2808000" y="144000"/>
            <a:ext cx="3528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482554"/>
            <a:ext cx="8172000" cy="4120946"/>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2808000" y="144000"/>
            <a:ext cx="3528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2808000" y="144000"/>
            <a:ext cx="3528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2808000" y="144000"/>
            <a:ext cx="3528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78069E6E-7A2C-A3C2-975C-E91CF4938E5A}"/>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 name="标题 4">
            <a:extLst>
              <a:ext uri="{FF2B5EF4-FFF2-40B4-BE49-F238E27FC236}">
                <a16:creationId xmlns:a16="http://schemas.microsoft.com/office/drawing/2014/main" id="{BC5DAA80-B8FA-8022-B2B0-4CE6F4878854}"/>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B70805F-8B96-F9FF-256E-A05DBF3F6F48}"/>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2148C3E-F242-EA04-26CC-6FC81667252F}"/>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9" name="标题 8">
            <a:extLst>
              <a:ext uri="{FF2B5EF4-FFF2-40B4-BE49-F238E27FC236}">
                <a16:creationId xmlns:a16="http://schemas.microsoft.com/office/drawing/2014/main" id="{3B849BE9-24C1-E7FA-1E9B-1609FD404DA8}"/>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3" name="标题 2">
            <a:extLst>
              <a:ext uri="{FF2B5EF4-FFF2-40B4-BE49-F238E27FC236}">
                <a16:creationId xmlns:a16="http://schemas.microsoft.com/office/drawing/2014/main" id="{258A2BB8-31AD-1717-3A11-17E4A31F3448}"/>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2" name="标题 1">
            <a:extLst>
              <a:ext uri="{FF2B5EF4-FFF2-40B4-BE49-F238E27FC236}">
                <a16:creationId xmlns:a16="http://schemas.microsoft.com/office/drawing/2014/main" id="{0A223A69-B5E0-1D9D-83F2-B76F8612C3DA}"/>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D7536310-9430-08A7-6E2F-DE6AF9321A36}"/>
              </a:ext>
            </a:extLst>
          </p:cNvPr>
          <p:cNvSpPr>
            <a:spLocks noGrp="1"/>
          </p:cNvSpPr>
          <p:nvPr>
            <p:ph type="title"/>
          </p:nvPr>
        </p:nvSpPr>
        <p:spPr/>
        <p:txBody>
          <a:bodyPr/>
          <a:lstStyle/>
          <a:p>
            <a:r>
              <a:rPr lang="zh-CN" altLang="en-US" dirty="0"/>
              <a:t>接收缓存与接收窗口 </a:t>
            </a:r>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3" name="标题 2">
            <a:extLst>
              <a:ext uri="{FF2B5EF4-FFF2-40B4-BE49-F238E27FC236}">
                <a16:creationId xmlns:a16="http://schemas.microsoft.com/office/drawing/2014/main" id="{F7FF0389-CBDA-6577-6E8D-DCFCF267C221}"/>
              </a:ext>
            </a:extLst>
          </p:cNvPr>
          <p:cNvSpPr>
            <a:spLocks noGrp="1"/>
          </p:cNvSpPr>
          <p:nvPr>
            <p:ph type="title"/>
          </p:nvPr>
        </p:nvSpPr>
        <p:spPr>
          <a:xfrm>
            <a:off x="2808000" y="144000"/>
            <a:ext cx="3528000" cy="338554"/>
          </a:xfrm>
        </p:spPr>
        <p:txBody>
          <a:bodyPr/>
          <a:lstStyle/>
          <a:p>
            <a:r>
              <a:rPr lang="zh-CN" altLang="en-US" dirty="0"/>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482554"/>
            <a:ext cx="8172000" cy="4120946"/>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2808000" y="144000"/>
            <a:ext cx="3528000" cy="338554"/>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2808000" y="144000"/>
            <a:ext cx="3528000" cy="338554"/>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482554"/>
            <a:ext cx="8172000" cy="4120946"/>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2808000" y="144000"/>
            <a:ext cx="3528000" cy="338554"/>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9" name="标题 8">
            <a:extLst>
              <a:ext uri="{FF2B5EF4-FFF2-40B4-BE49-F238E27FC236}">
                <a16:creationId xmlns:a16="http://schemas.microsoft.com/office/drawing/2014/main" id="{308799B6-8E84-A84B-D298-D04FC447EDD9}"/>
              </a:ext>
            </a:extLst>
          </p:cNvPr>
          <p:cNvSpPr>
            <a:spLocks noGrp="1"/>
          </p:cNvSpPr>
          <p:nvPr>
            <p:ph type="title"/>
          </p:nvPr>
        </p:nvSpPr>
        <p:spPr>
          <a:xfrm>
            <a:off x="2808000" y="144000"/>
            <a:ext cx="3528000" cy="338554"/>
          </a:xfrm>
        </p:spPr>
        <p:txBody>
          <a:bodyPr/>
          <a:lstStyle/>
          <a:p>
            <a:r>
              <a:rPr lang="zh-CN" altLang="en-US" dirty="0"/>
              <a:t>加权平均往返时间 </a:t>
            </a:r>
            <a:r>
              <a:rPr lang="en-US" altLang="zh-CN" dirty="0"/>
              <a:t>RTTS </a:t>
            </a:r>
            <a:endParaRPr lang="zh-CN" altLang="en-US" dirty="0"/>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26C3B486-8EE6-6C03-8A91-155FD159FBD8}"/>
              </a:ext>
            </a:extLst>
          </p:cNvPr>
          <p:cNvSpPr>
            <a:spLocks noGrp="1"/>
          </p:cNvSpPr>
          <p:nvPr>
            <p:ph type="title"/>
          </p:nvPr>
        </p:nvSpPr>
        <p:spPr>
          <a:xfrm>
            <a:off x="2808000" y="144000"/>
            <a:ext cx="3528000" cy="338554"/>
          </a:xfrm>
        </p:spPr>
        <p:txBody>
          <a:bodyPr/>
          <a:lstStyle/>
          <a:p>
            <a:r>
              <a:rPr lang="zh-CN" altLang="en-US" dirty="0"/>
              <a:t>超时重传时间 </a:t>
            </a:r>
            <a:r>
              <a:rPr lang="en-US" altLang="zh-CN" dirty="0"/>
              <a:t>RTO</a:t>
            </a:r>
            <a:endParaRPr lang="zh-CN" altLang="en-US" dirty="0"/>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标题 19">
            <a:extLst>
              <a:ext uri="{FF2B5EF4-FFF2-40B4-BE49-F238E27FC236}">
                <a16:creationId xmlns:a16="http://schemas.microsoft.com/office/drawing/2014/main" id="{1596EA67-1DBF-208D-4CF7-1366E89AF17E}"/>
              </a:ext>
            </a:extLst>
          </p:cNvPr>
          <p:cNvSpPr>
            <a:spLocks noGrp="1"/>
          </p:cNvSpPr>
          <p:nvPr>
            <p:ph type="title"/>
          </p:nvPr>
        </p:nvSpPr>
        <p:spPr>
          <a:xfrm>
            <a:off x="2808000" y="144000"/>
            <a:ext cx="3528000" cy="338554"/>
          </a:xfrm>
        </p:spPr>
        <p:txBody>
          <a:bodyPr/>
          <a:lstStyle/>
          <a:p>
            <a:r>
              <a:rPr lang="zh-CN" altLang="en-US" dirty="0"/>
              <a:t>往返时间 </a:t>
            </a:r>
            <a:r>
              <a:rPr lang="en-US" altLang="zh-CN" dirty="0"/>
              <a:t>(RTT) </a:t>
            </a:r>
            <a:r>
              <a:rPr lang="zh-CN" altLang="en-US" dirty="0"/>
              <a:t>的测量相当复杂</a:t>
            </a:r>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4" name="标题 3">
            <a:extLst>
              <a:ext uri="{FF2B5EF4-FFF2-40B4-BE49-F238E27FC236}">
                <a16:creationId xmlns:a16="http://schemas.microsoft.com/office/drawing/2014/main" id="{04D3ED17-7AA6-4B6C-2056-4B1F11691F3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4" name="标题 3">
            <a:extLst>
              <a:ext uri="{FF2B5EF4-FFF2-40B4-BE49-F238E27FC236}">
                <a16:creationId xmlns:a16="http://schemas.microsoft.com/office/drawing/2014/main" id="{57E77E7F-94A1-D29C-13BA-EBB0887A398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9" name="标题 8">
            <a:extLst>
              <a:ext uri="{FF2B5EF4-FFF2-40B4-BE49-F238E27FC236}">
                <a16:creationId xmlns:a16="http://schemas.microsoft.com/office/drawing/2014/main" id="{DB56B080-E1B5-1069-DB96-786ED4854D9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7" name="标题 26">
            <a:extLst>
              <a:ext uri="{FF2B5EF4-FFF2-40B4-BE49-F238E27FC236}">
                <a16:creationId xmlns:a16="http://schemas.microsoft.com/office/drawing/2014/main" id="{CEA8387E-176B-9B28-850B-6B8F182A714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2808000" y="144000"/>
            <a:ext cx="3528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482554"/>
            <a:ext cx="8172000" cy="4120946"/>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2808000" y="144000"/>
            <a:ext cx="3528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482554"/>
            <a:ext cx="8172000" cy="41209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2808000" y="144000"/>
            <a:ext cx="3528000" cy="338554"/>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290647"/>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05255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107225"/>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285564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501699"/>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25432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17101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685121"/>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43302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55889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593410"/>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34975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47707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38235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14450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25283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1896173"/>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63826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178313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198936"/>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193458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08919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39525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2804462"/>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37386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70131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00737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987884"/>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75276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65714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73787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1638817001"/>
              </p:ext>
            </p:extLst>
          </p:nvPr>
        </p:nvGraphicFramePr>
        <p:xfrm>
          <a:off x="5967304" y="24416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31343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16524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409988"/>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13367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60410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24469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293841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77569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01551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502257" y="4318277"/>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719587" y="4087597"/>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389477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18544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62103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49151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550985"/>
            <a:ext cx="288000" cy="288000"/>
          </a:xfrm>
          <a:prstGeom prst="rect">
            <a:avLst/>
          </a:prstGeom>
        </p:spPr>
      </p:pic>
      <p:sp>
        <p:nvSpPr>
          <p:cNvPr id="3" name="Rectangle 8">
            <a:extLst>
              <a:ext uri="{FF2B5EF4-FFF2-40B4-BE49-F238E27FC236}">
                <a16:creationId xmlns:a16="http://schemas.microsoft.com/office/drawing/2014/main" id="{170DC06B-F78A-7599-CF78-8745E451EA03}"/>
              </a:ext>
            </a:extLst>
          </p:cNvPr>
          <p:cNvSpPr>
            <a:spLocks noChangeArrowheads="1"/>
          </p:cNvSpPr>
          <p:nvPr/>
        </p:nvSpPr>
        <p:spPr bwMode="auto">
          <a:xfrm>
            <a:off x="1166162" y="256466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501, DATA</a:t>
            </a:r>
          </a:p>
        </p:txBody>
      </p:sp>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482554"/>
            <a:ext cx="8172000" cy="41209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2808000" y="144000"/>
            <a:ext cx="3528000" cy="338554"/>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482554"/>
            <a:ext cx="8172000" cy="4120946"/>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2808000" y="144000"/>
            <a:ext cx="3528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482554"/>
            <a:ext cx="8172000" cy="4120946"/>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2808000" y="144000"/>
            <a:ext cx="3528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dirty="0">
                <a:latin typeface="Montserrat" panose="00000500000000000000" pitchFamily="2" charset="0"/>
                <a:ea typeface="微软雅黑 Light" panose="020B0502040204020203" pitchFamily="34" charset="-122"/>
              </a:rPr>
              <a:t>数据</a:t>
            </a:r>
          </a:p>
        </p:txBody>
      </p:sp>
      <p:sp>
        <p:nvSpPr>
          <p:cNvPr id="7" name="矩形 6"/>
          <p:cNvSpPr/>
          <p:nvPr/>
        </p:nvSpPr>
        <p:spPr>
          <a:xfrm>
            <a:off x="5999256" y="2770942"/>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9" name="矩形 8"/>
          <p:cNvSpPr/>
          <p:nvPr/>
        </p:nvSpPr>
        <p:spPr>
          <a:xfrm>
            <a:off x="5999256" y="3267330"/>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a:t>
            </a:r>
          </a:p>
        </p:txBody>
      </p:sp>
      <p:sp>
        <p:nvSpPr>
          <p:cNvPr id="4" name="矩形 3"/>
          <p:cNvSpPr/>
          <p:nvPr/>
        </p:nvSpPr>
        <p:spPr>
          <a:xfrm>
            <a:off x="2408898" y="3770606"/>
            <a:ext cx="3900427" cy="338554"/>
          </a:xfrm>
          <a:prstGeom prst="rect">
            <a:avLst/>
          </a:prstGeom>
        </p:spPr>
        <p:txBody>
          <a:bodyPr wrap="none">
            <a:spAutoFit/>
          </a:bodyPr>
          <a:lstStyle/>
          <a:p>
            <a:r>
              <a:rPr lang="zh-CN" altLang="en-US" sz="1600" dirty="0">
                <a:latin typeface="Montserrat" panose="00000500000000000000" pitchFamily="2" charset="0"/>
                <a:ea typeface="微软雅黑 Light" panose="020B0502040204020203" pitchFamily="34" charset="-122"/>
              </a:rPr>
              <a:t>此时，有效数据传输效率 </a:t>
            </a:r>
            <a:r>
              <a:rPr lang="en-US" altLang="zh-CN" sz="1600" dirty="0">
                <a:latin typeface="Montserrat" panose="00000500000000000000" pitchFamily="2" charset="0"/>
                <a:ea typeface="微软雅黑 Light" panose="020B0502040204020203" pitchFamily="34" charset="-122"/>
              </a:rPr>
              <a:t>= 1/41 = 2.44%</a:t>
            </a:r>
            <a:endParaRPr lang="zh-CN" altLang="en-US" sz="1600" dirty="0">
              <a:latin typeface="Montserrat" panose="00000500000000000000" pitchFamily="2" charset="0"/>
              <a:ea typeface="微软雅黑 Light" panose="020B0502040204020203" pitchFamily="34" charset="-122"/>
            </a:endParaRPr>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482554"/>
            <a:ext cx="8172000" cy="4120946"/>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2808000" y="144000"/>
            <a:ext cx="3528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482554"/>
            <a:ext cx="8172000" cy="4120946"/>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grpSp>
        <p:nvGrpSpPr>
          <p:cNvPr id="6" name="组合 5"/>
          <p:cNvGrpSpPr/>
          <p:nvPr/>
        </p:nvGrpSpPr>
        <p:grpSpPr>
          <a:xfrm>
            <a:off x="3452893" y="1432833"/>
            <a:ext cx="4086001" cy="3206707"/>
            <a:chOff x="1442554" y="1491427"/>
            <a:chExt cx="6186146" cy="2522268"/>
          </a:xfrm>
        </p:grpSpPr>
        <p:sp>
          <p:nvSpPr>
            <p:cNvPr id="7" name="矩形 6"/>
            <p:cNvSpPr/>
            <p:nvPr/>
          </p:nvSpPr>
          <p:spPr>
            <a:xfrm>
              <a:off x="1442554" y="1491427"/>
              <a:ext cx="2592001" cy="28316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发送第 </a:t>
              </a:r>
              <a:r>
                <a:rPr lang="en-US" altLang="zh-CN" sz="1100" dirty="0">
                  <a:solidFill>
                    <a:schemeClr val="tx1"/>
                  </a:solidFill>
                  <a:latin typeface="Montserrat" panose="00000500000000000000" pitchFamily="2" charset="0"/>
                  <a:ea typeface="微软雅黑 Light" panose="020B0502040204020203" pitchFamily="34" charset="-122"/>
                </a:rPr>
                <a:t>1 </a:t>
              </a:r>
              <a:r>
                <a:rPr lang="zh-CN" altLang="en-US" sz="1100" dirty="0">
                  <a:solidFill>
                    <a:schemeClr val="tx1"/>
                  </a:solidFill>
                  <a:latin typeface="Montserrat" panose="00000500000000000000" pitchFamily="2" charset="0"/>
                  <a:ea typeface="微软雅黑 Light" panose="020B0502040204020203"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bg1"/>
                  </a:solidFill>
                  <a:latin typeface="Montserrat" panose="00000500000000000000" pitchFamily="2" charset="0"/>
                  <a:ea typeface="微软雅黑 Light" panose="020B0502040204020203" pitchFamily="34" charset="-122"/>
                </a:rPr>
                <a:t>收到确认？</a:t>
              </a:r>
            </a:p>
          </p:txBody>
        </p:sp>
        <p:sp>
          <p:nvSpPr>
            <p:cNvPr id="9" name="矩形 8"/>
            <p:cNvSpPr/>
            <p:nvPr/>
          </p:nvSpPr>
          <p:spPr>
            <a:xfrm>
              <a:off x="1442554"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dirty="0">
                  <a:solidFill>
                    <a:schemeClr val="bg1"/>
                  </a:solidFill>
                  <a:latin typeface="Montserrat" panose="00000500000000000000" pitchFamily="2" charset="0"/>
                  <a:ea typeface="微软雅黑 Light" panose="020B0502040204020203" pitchFamily="34" charset="-122"/>
                </a:rPr>
                <a:t>到达的数据</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已达到发送窗口一半 或 </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已达到报文段的最大长度时？</a:t>
              </a:r>
            </a:p>
          </p:txBody>
        </p:sp>
        <p:sp>
          <p:nvSpPr>
            <p:cNvPr id="14" name="矩形 13"/>
            <p:cNvSpPr/>
            <p:nvPr/>
          </p:nvSpPr>
          <p:spPr>
            <a:xfrm>
              <a:off x="4532809"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立即发送数据</a:t>
              </a:r>
            </a:p>
          </p:txBody>
        </p:sp>
        <p:cxnSp>
          <p:nvCxnSpPr>
            <p:cNvPr id="15" name="直接箭头连接符 14"/>
            <p:cNvCxnSpPr>
              <a:stCxn id="7" idx="2"/>
              <a:endCxn id="8" idx="0"/>
            </p:cNvCxnSpPr>
            <p:nvPr/>
          </p:nvCxnSpPr>
          <p:spPr>
            <a:xfrm>
              <a:off x="2738554" y="1774588"/>
              <a:ext cx="0" cy="289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9"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729754"/>
              <a:ext cx="0"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flipH="1">
              <a:off x="5828807" y="3729754"/>
              <a:ext cx="2"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126115"/>
              <a:chOff x="2744151" y="1952894"/>
              <a:chExt cx="5694455" cy="2257877"/>
            </a:xfrm>
          </p:grpSpPr>
          <p:cxnSp>
            <p:nvCxnSpPr>
              <p:cNvPr id="28" name="直接箭头连接符 27"/>
              <p:cNvCxnSpPr/>
              <p:nvPr/>
            </p:nvCxnSpPr>
            <p:spPr>
              <a:xfrm flipV="1">
                <a:off x="2744151" y="4210770"/>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123712"/>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gr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2808000" y="144000"/>
            <a:ext cx="3528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482554"/>
            <a:ext cx="8172000" cy="4120946"/>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2808000" y="144000"/>
            <a:ext cx="3528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482554"/>
            <a:ext cx="8172000" cy="4120946"/>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2808000" y="144000"/>
            <a:ext cx="3528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5.8.1                                 </a:t>
            </a:r>
            <a:r>
              <a:rPr lang="zh-CN" altLang="en-US" sz="2000" dirty="0">
                <a:solidFill>
                  <a:schemeClr val="bg1"/>
                </a:solidFill>
                <a:latin typeface="Montserrat" panose="00000500000000000000" pitchFamily="2" charset="0"/>
                <a:ea typeface="微软雅黑 Light" panose="020B0502040204020203" pitchFamily="34" charset="-122"/>
              </a:rPr>
              <a:t>拥塞控制的一般原理</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5.8.2                                TCP </a:t>
            </a:r>
            <a:r>
              <a:rPr lang="zh-CN" altLang="en-US" sz="2000" dirty="0">
                <a:solidFill>
                  <a:schemeClr val="bg1"/>
                </a:solidFill>
                <a:latin typeface="Montserrat" panose="00000500000000000000" pitchFamily="2" charset="0"/>
                <a:ea typeface="微软雅黑 Light" panose="020B0502040204020203" pitchFamily="34" charset="-122"/>
              </a:rPr>
              <a:t>的拥塞控制方法</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5.8.3                                 </a:t>
            </a:r>
            <a:r>
              <a:rPr lang="zh-CN" altLang="en-US" sz="2000" dirty="0">
                <a:solidFill>
                  <a:schemeClr val="bg1"/>
                </a:solidFill>
                <a:latin typeface="Montserrat" panose="00000500000000000000" pitchFamily="2" charset="0"/>
                <a:ea typeface="微软雅黑 Light" panose="020B0502040204020203" pitchFamily="34" charset="-122"/>
              </a:rPr>
              <a:t>主动队列管理 </a:t>
            </a:r>
            <a:r>
              <a:rPr lang="en-US" altLang="zh-CN" sz="2000" dirty="0">
                <a:solidFill>
                  <a:schemeClr val="bg1"/>
                </a:solidFill>
                <a:latin typeface="Montserrat" panose="00000500000000000000" pitchFamily="2" charset="0"/>
                <a:ea typeface="微软雅黑 Light" panose="020B0502040204020203" pitchFamily="34" charset="-122"/>
              </a:rPr>
              <a:t>AQM</a:t>
            </a:r>
          </a:p>
        </p:txBody>
      </p:sp>
      <p:sp>
        <p:nvSpPr>
          <p:cNvPr id="10" name="Rectangle 27"/>
          <p:cNvSpPr>
            <a:spLocks noChangeArrowheads="1"/>
          </p:cNvSpPr>
          <p:nvPr/>
        </p:nvSpPr>
        <p:spPr bwMode="auto">
          <a:xfrm>
            <a:off x="201600" y="1433966"/>
            <a:ext cx="2174399" cy="936625"/>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259200" y="1528898"/>
            <a:ext cx="2116799"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Montserrat" panose="00000500000000000000" pitchFamily="2" charset="0"/>
                <a:ea typeface="微软雅黑 Light" panose="020B0502040204020203" pitchFamily="34" charset="-122"/>
              </a:rPr>
              <a:t>5.8</a:t>
            </a:r>
          </a:p>
          <a:p>
            <a:pPr eaLnBrk="0" hangingPunct="0"/>
            <a:r>
              <a:rPr lang="en-US" altLang="zh-CN" sz="2000" dirty="0">
                <a:solidFill>
                  <a:schemeClr val="bg1"/>
                </a:solidFill>
                <a:latin typeface="Montserrat" panose="00000500000000000000" pitchFamily="2" charset="0"/>
                <a:ea typeface="微软雅黑 Light" panose="020B0502040204020203" pitchFamily="34" charset="-122"/>
              </a:rPr>
              <a:t>TCP </a:t>
            </a:r>
            <a:r>
              <a:rPr lang="zh-CN" altLang="en-US" sz="2000" dirty="0">
                <a:solidFill>
                  <a:schemeClr val="bg1"/>
                </a:solidFill>
                <a:latin typeface="Montserrat" panose="00000500000000000000" pitchFamily="2" charset="0"/>
                <a:ea typeface="微软雅黑 Light" panose="020B0502040204020203" pitchFamily="34" charset="-122"/>
              </a:rPr>
              <a:t>的拥塞控制</a:t>
            </a:r>
            <a:endParaRPr lang="zh-CN" altLang="fr-FR" sz="20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a:xfrm>
            <a:off x="486000" y="482554"/>
            <a:ext cx="8172000" cy="4120946"/>
          </a:xfrm>
        </p:spPr>
        <p:txBody>
          <a:bodyPr/>
          <a:lstStyle/>
          <a:p>
            <a:r>
              <a:rPr lang="zh-CN" altLang="en-US" dirty="0"/>
              <a:t>在某段时间，若对网络中某资源的需求超过了该资源所能提供的可用部分，网络的性能就要明显变坏，整个网络的吞吐量将随输入负荷的增大而下降</a:t>
            </a:r>
            <a:endParaRPr lang="en-US" altLang="zh-CN" dirty="0"/>
          </a:p>
          <a:p>
            <a:r>
              <a:rPr lang="zh-CN" altLang="en-US" dirty="0"/>
              <a:t>这种现象称为拥塞 </a:t>
            </a:r>
            <a:r>
              <a:rPr lang="en-US" altLang="zh-CN" dirty="0"/>
              <a:t>- Congestion</a:t>
            </a:r>
          </a:p>
          <a:p>
            <a:r>
              <a:rPr lang="zh-CN" altLang="en-US" dirty="0"/>
              <a:t>最坏结果：系统崩溃</a:t>
            </a:r>
          </a:p>
          <a:p>
            <a:endParaRPr lang="zh-CN" altLang="en-US" dirty="0"/>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2808000" y="144000"/>
            <a:ext cx="3528000" cy="338554"/>
          </a:xfrm>
        </p:spPr>
        <p:txBody>
          <a:bodyPr/>
          <a:lstStyle/>
          <a:p>
            <a:r>
              <a:rPr lang="en-US" altLang="zh-CN" dirty="0"/>
              <a:t>5.8.1   </a:t>
            </a:r>
            <a:r>
              <a:rPr lang="zh-CN" altLang="en-US" dirty="0"/>
              <a:t>一般原理</a:t>
            </a:r>
          </a:p>
        </p:txBody>
      </p:sp>
      <p:sp>
        <p:nvSpPr>
          <p:cNvPr id="8" name="Rectangle 2"/>
          <p:cNvSpPr>
            <a:spLocks noChangeArrowheads="1"/>
          </p:cNvSpPr>
          <p:nvPr/>
        </p:nvSpPr>
        <p:spPr bwMode="auto">
          <a:xfrm>
            <a:off x="4876493" y="2091036"/>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a:latin typeface="Montserrat" panose="00000500000000000000" pitchFamily="2" charset="0"/>
              <a:ea typeface="微软雅黑 Light" panose="020B0502040204020203" pitchFamily="34" charset="-122"/>
            </a:endParaRPr>
          </a:p>
        </p:txBody>
      </p:sp>
      <p:grpSp>
        <p:nvGrpSpPr>
          <p:cNvPr id="3" name="组合 2"/>
          <p:cNvGrpSpPr/>
          <p:nvPr/>
        </p:nvGrpSpPr>
        <p:grpSpPr>
          <a:xfrm>
            <a:off x="3089791" y="1923800"/>
            <a:ext cx="3128343" cy="2759099"/>
            <a:chOff x="4851933" y="1639611"/>
            <a:chExt cx="3128343" cy="2759099"/>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2" name="Text Box 17"/>
            <p:cNvSpPr txBox="1">
              <a:spLocks noChangeArrowheads="1"/>
            </p:cNvSpPr>
            <p:nvPr/>
          </p:nvSpPr>
          <p:spPr bwMode="auto">
            <a:xfrm>
              <a:off x="7152187" y="4124276"/>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3" name="Text Box 18"/>
            <p:cNvSpPr txBox="1">
              <a:spLocks noChangeArrowheads="1"/>
            </p:cNvSpPr>
            <p:nvPr/>
          </p:nvSpPr>
          <p:spPr bwMode="auto">
            <a:xfrm>
              <a:off x="7152187" y="2775953"/>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4" name="Text Box 19"/>
            <p:cNvSpPr txBox="1">
              <a:spLocks noChangeArrowheads="1"/>
            </p:cNvSpPr>
            <p:nvPr/>
          </p:nvSpPr>
          <p:spPr bwMode="auto">
            <a:xfrm rot="16200000">
              <a:off x="4669189" y="1952285"/>
              <a:ext cx="644408"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吞量率</a:t>
              </a:r>
              <a:endParaRPr kumimoji="0" lang="en-US" altLang="zh-CN" sz="1200" dirty="0">
                <a:latin typeface="Montserrat" panose="00000500000000000000" pitchFamily="2" charset="0"/>
                <a:ea typeface="微软雅黑 Light" panose="020B0502040204020203" pitchFamily="34" charset="-122"/>
              </a:endParaRPr>
            </a:p>
          </p:txBody>
        </p:sp>
        <p:sp>
          <p:nvSpPr>
            <p:cNvPr id="25" name="Text Box 20"/>
            <p:cNvSpPr txBox="1">
              <a:spLocks noChangeArrowheads="1"/>
            </p:cNvSpPr>
            <p:nvPr/>
          </p:nvSpPr>
          <p:spPr bwMode="auto">
            <a:xfrm rot="16200000">
              <a:off x="4743890" y="2995128"/>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延迟</a:t>
              </a:r>
              <a:endParaRPr kumimoji="0" lang="en-US" altLang="zh-CN" sz="1200" dirty="0">
                <a:latin typeface="Montserrat" panose="00000500000000000000" pitchFamily="2" charset="0"/>
                <a:ea typeface="微软雅黑 Light" panose="020B0502040204020203"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00000"/>
                  </a:solidFill>
                  <a:latin typeface="Montserrat" panose="00000500000000000000" pitchFamily="2" charset="0"/>
                  <a:ea typeface="微软雅黑 Light" panose="020B0502040204020203" pitchFamily="34" charset="-122"/>
                </a:rPr>
                <a:t>系统</a:t>
              </a:r>
              <a:endParaRPr kumimoji="0" lang="en-US" altLang="zh-CN" sz="1200" dirty="0">
                <a:solidFill>
                  <a:srgbClr val="C00000"/>
                </a:solidFill>
                <a:latin typeface="Montserrat" panose="00000500000000000000" pitchFamily="2" charset="0"/>
                <a:ea typeface="微软雅黑 Light" panose="020B0502040204020203" pitchFamily="34" charset="-122"/>
              </a:endParaRPr>
            </a:p>
            <a:p>
              <a:r>
                <a:rPr kumimoji="0" lang="zh-CN" altLang="en-US" sz="1200" dirty="0">
                  <a:solidFill>
                    <a:srgbClr val="C00000"/>
                  </a:solidFill>
                  <a:latin typeface="Montserrat" panose="00000500000000000000" pitchFamily="2" charset="0"/>
                  <a:ea typeface="微软雅黑 Light" panose="020B0502040204020203" pitchFamily="34" charset="-122"/>
                </a:rPr>
                <a:t>崩溃</a:t>
              </a:r>
              <a:endParaRPr kumimoji="0" lang="en-US" altLang="zh-CN" sz="1200" dirty="0">
                <a:solidFill>
                  <a:srgbClr val="C00000"/>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7289563" y="1639611"/>
              <a:ext cx="690713"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C00CC"/>
                  </a:solidFill>
                  <a:latin typeface="Montserrat" panose="00000500000000000000" pitchFamily="2" charset="0"/>
                  <a:ea typeface="微软雅黑 Light" panose="020B0502040204020203" pitchFamily="34" charset="-122"/>
                </a:rPr>
                <a:t>分组丢失增多</a:t>
              </a:r>
              <a:endParaRPr kumimoji="0" lang="en-US" altLang="zh-CN" sz="1200" dirty="0">
                <a:solidFill>
                  <a:srgbClr val="CC00CC"/>
                </a:solidFill>
                <a:latin typeface="Montserrat" panose="00000500000000000000" pitchFamily="2" charset="0"/>
                <a:ea typeface="微软雅黑 Light" panose="020B0502040204020203"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a:xfrm>
            <a:off x="486000" y="482554"/>
            <a:ext cx="8172000" cy="4120946"/>
          </a:xfrm>
        </p:spPr>
        <p:txBody>
          <a:bodyPr/>
          <a:lstStyle/>
          <a:p>
            <a:r>
              <a:rPr lang="zh-CN" altLang="en-US" dirty="0"/>
              <a:t>由许多因素引起。例如：</a:t>
            </a:r>
            <a:endParaRPr lang="en-US" altLang="zh-CN" dirty="0"/>
          </a:p>
          <a:p>
            <a:r>
              <a:rPr lang="zh-CN" altLang="en-US" dirty="0"/>
              <a:t>节点缓存容量太小</a:t>
            </a:r>
            <a:endParaRPr lang="en-US" altLang="zh-CN" dirty="0"/>
          </a:p>
          <a:p>
            <a:r>
              <a:rPr lang="zh-CN" altLang="en-US" dirty="0"/>
              <a:t>链路容量不足</a:t>
            </a:r>
            <a:endParaRPr lang="en-US" altLang="zh-CN" dirty="0"/>
          </a:p>
          <a:p>
            <a:r>
              <a:rPr lang="zh-CN" altLang="en-US" dirty="0"/>
              <a:t>处理机处理速率太慢</a:t>
            </a:r>
            <a:endParaRPr lang="en-US" altLang="zh-CN" dirty="0"/>
          </a:p>
          <a:p>
            <a:r>
              <a:rPr lang="zh-CN" altLang="en-US" dirty="0"/>
              <a:t>拥塞本身会进一步加剧拥塞</a:t>
            </a:r>
            <a:endParaRPr lang="en-US" altLang="zh-CN" dirty="0"/>
          </a:p>
          <a:p>
            <a:r>
              <a:rPr lang="zh-CN" altLang="en-US" dirty="0"/>
              <a:t>出现网络拥塞的条件</a:t>
            </a:r>
          </a:p>
          <a:p>
            <a:endParaRPr lang="zh-CN" altLang="en-US" dirty="0"/>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2808000" y="144000"/>
            <a:ext cx="3528000" cy="338554"/>
          </a:xfrm>
        </p:spPr>
        <p:txBody>
          <a:bodyPr/>
          <a:lstStyle/>
          <a:p>
            <a:r>
              <a:rPr lang="zh-CN" altLang="en-US" dirty="0"/>
              <a:t>拥塞产生的原因</a:t>
            </a:r>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a:xfrm>
            <a:off x="486000" y="482554"/>
            <a:ext cx="8172000" cy="4120946"/>
          </a:xfrm>
        </p:spPr>
        <p:txBody>
          <a:bodyPr/>
          <a:lstStyle/>
          <a:p>
            <a:r>
              <a:rPr lang="zh-CN" altLang="en-US" dirty="0"/>
              <a:t>不能，而且还可能使网络的性能更坏</a:t>
            </a:r>
          </a:p>
          <a:p>
            <a:r>
              <a:rPr lang="zh-CN" altLang="en-US" dirty="0"/>
              <a:t>例如：</a:t>
            </a:r>
          </a:p>
          <a:p>
            <a:r>
              <a:rPr lang="zh-CN" altLang="en-US" dirty="0"/>
              <a:t>增大缓存，但未提高输出链路的容量和处理机的速度，排队等待时间将会大大增加，引起大量超时重传，解决不了网络拥塞</a:t>
            </a:r>
          </a:p>
          <a:p>
            <a:r>
              <a:rPr lang="zh-CN" altLang="en-US" dirty="0"/>
              <a:t>提高处理机处理的速率会将瓶颈转移到其他地方</a:t>
            </a:r>
            <a:endParaRPr lang="en-US" altLang="zh-CN" dirty="0"/>
          </a:p>
          <a:p>
            <a:r>
              <a:rPr lang="zh-CN" altLang="en-US" dirty="0"/>
              <a:t>拥塞引起的重传并不会缓解网络的拥塞，反而会加剧网络的拥塞</a:t>
            </a:r>
          </a:p>
          <a:p>
            <a:endParaRPr lang="zh-CN" altLang="en-US" dirty="0"/>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2808000" y="144000"/>
            <a:ext cx="3528000" cy="338554"/>
          </a:xfrm>
        </p:spPr>
        <p:txBody>
          <a:bodyPr/>
          <a:lstStyle/>
          <a:p>
            <a:r>
              <a:rPr lang="zh-CN" altLang="en-US" dirty="0"/>
              <a:t>增加资源能解决拥塞吗？</a:t>
            </a:r>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FE60E7F4-D657-01F8-617D-0BFF8137E239}"/>
              </a:ext>
            </a:extLst>
          </p:cNvPr>
          <p:cNvSpPr/>
          <p:nvPr/>
        </p:nvSpPr>
        <p:spPr>
          <a:xfrm>
            <a:off x="106212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拥塞控制</a:t>
            </a:r>
          </a:p>
        </p:txBody>
      </p:sp>
      <p:sp>
        <p:nvSpPr>
          <p:cNvPr id="7" name="任意多边形: 形状 6">
            <a:extLst>
              <a:ext uri="{FF2B5EF4-FFF2-40B4-BE49-F238E27FC236}">
                <a16:creationId xmlns:a16="http://schemas.microsoft.com/office/drawing/2014/main" id="{4AF0FA90-F16E-73A8-8570-3CCB4B4005C4}"/>
              </a:ext>
            </a:extLst>
          </p:cNvPr>
          <p:cNvSpPr/>
          <p:nvPr/>
        </p:nvSpPr>
        <p:spPr>
          <a:xfrm>
            <a:off x="106212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0"/>
              <a:satOff val="0"/>
              <a:lumOff val="0"/>
              <a:alphaOff val="0"/>
            </a:schemeClr>
          </a:lnRef>
          <a:fillRef idx="1">
            <a:scrgbClr r="0" g="0" b="0"/>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防止过多的数据注入到网络中，避免网络中的路由器或链路过载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p:txBody>
      </p:sp>
      <p:sp>
        <p:nvSpPr>
          <p:cNvPr id="8" name="任意多边形: 形状 7">
            <a:extLst>
              <a:ext uri="{FF2B5EF4-FFF2-40B4-BE49-F238E27FC236}">
                <a16:creationId xmlns:a16="http://schemas.microsoft.com/office/drawing/2014/main" id="{CA6A74E6-1AED-C03A-C0FD-91D6EAAF96FC}"/>
              </a:ext>
            </a:extLst>
          </p:cNvPr>
          <p:cNvSpPr/>
          <p:nvPr/>
        </p:nvSpPr>
        <p:spPr>
          <a:xfrm>
            <a:off x="485016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流量控制</a:t>
            </a:r>
          </a:p>
        </p:txBody>
      </p:sp>
      <p:sp>
        <p:nvSpPr>
          <p:cNvPr id="9" name="任意多边形: 形状 8">
            <a:extLst>
              <a:ext uri="{FF2B5EF4-FFF2-40B4-BE49-F238E27FC236}">
                <a16:creationId xmlns:a16="http://schemas.microsoft.com/office/drawing/2014/main" id="{7B2B9B0E-1A3C-D3B0-04BE-23CE1CA3B7E0}"/>
              </a:ext>
            </a:extLst>
          </p:cNvPr>
          <p:cNvSpPr/>
          <p:nvPr/>
        </p:nvSpPr>
        <p:spPr>
          <a:xfrm>
            <a:off x="485016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5025821"/>
              <a:satOff val="-4378"/>
              <a:lumOff val="-6"/>
              <a:alphaOff val="0"/>
            </a:schemeClr>
          </a:lnRef>
          <a:fillRef idx="1">
            <a:scrgbClr r="0" g="0" b="0"/>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抑制发送端发送数据的速率，以使接收端来得及接收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点对点通信量的控制，是个端到端的问题</a:t>
            </a:r>
          </a:p>
        </p:txBody>
      </p:sp>
      <p:sp>
        <p:nvSpPr>
          <p:cNvPr id="3" name="标题 2">
            <a:extLst>
              <a:ext uri="{FF2B5EF4-FFF2-40B4-BE49-F238E27FC236}">
                <a16:creationId xmlns:a16="http://schemas.microsoft.com/office/drawing/2014/main" id="{253A8BC7-CDF5-C9AA-24C9-06A26920A1FA}"/>
              </a:ext>
            </a:extLst>
          </p:cNvPr>
          <p:cNvSpPr>
            <a:spLocks noGrp="1"/>
          </p:cNvSpPr>
          <p:nvPr>
            <p:ph type="title"/>
          </p:nvPr>
        </p:nvSpPr>
        <p:spPr>
          <a:xfrm>
            <a:off x="2808000" y="144000"/>
            <a:ext cx="3528000" cy="338554"/>
          </a:xfrm>
        </p:spPr>
        <p:txBody>
          <a:bodyPr/>
          <a:lstStyle/>
          <a:p>
            <a:r>
              <a:rPr lang="zh-CN" altLang="en-US" dirty="0"/>
              <a:t>拥塞控制与流量控制的区别</a:t>
            </a:r>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23"/>
          <p:cNvGrpSpPr>
            <a:grpSpLocks/>
          </p:cNvGrpSpPr>
          <p:nvPr/>
        </p:nvGrpSpPr>
        <p:grpSpPr bwMode="auto">
          <a:xfrm>
            <a:off x="1727122" y="2465424"/>
            <a:ext cx="4477739" cy="1692477"/>
            <a:chOff x="651" y="2544"/>
            <a:chExt cx="3800"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nvGrpSpPr>
            <p:cNvPr id="64" name="Group 26"/>
            <p:cNvGrpSpPr>
              <a:grpSpLocks/>
            </p:cNvGrpSpPr>
            <p:nvPr/>
          </p:nvGrpSpPr>
          <p:grpSpPr bwMode="auto">
            <a:xfrm>
              <a:off x="651" y="2544"/>
              <a:ext cx="3800" cy="1556"/>
              <a:chOff x="651" y="2544"/>
              <a:chExt cx="3800" cy="1556"/>
            </a:xfrm>
          </p:grpSpPr>
          <p:grpSp>
            <p:nvGrpSpPr>
              <p:cNvPr id="65" name="Group 27"/>
              <p:cNvGrpSpPr>
                <a:grpSpLocks/>
              </p:cNvGrpSpPr>
              <p:nvPr/>
            </p:nvGrpSpPr>
            <p:grpSpPr bwMode="auto">
              <a:xfrm>
                <a:off x="651" y="2544"/>
                <a:ext cx="3800" cy="1252"/>
                <a:chOff x="651" y="2544"/>
                <a:chExt cx="3800"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0" name="Text Box 30"/>
                <p:cNvSpPr txBox="1">
                  <a:spLocks noChangeArrowheads="1"/>
                </p:cNvSpPr>
                <p:nvPr/>
              </p:nvSpPr>
              <p:spPr bwMode="auto">
                <a:xfrm>
                  <a:off x="3532" y="2544"/>
                  <a:ext cx="919"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66"/>
                      </a:solidFill>
                      <a:latin typeface="Montserrat" panose="00000500000000000000" pitchFamily="2" charset="0"/>
                      <a:ea typeface="微软雅黑 Light" panose="020B0502040204020203"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b="0" dirty="0">
                    <a:latin typeface="Montserrat" panose="00000500000000000000" pitchFamily="2" charset="0"/>
                    <a:ea typeface="微软雅黑 Light" panose="020B0502040204020203" pitchFamily="34" charset="-122"/>
                  </a:rPr>
                  <a:t>轻度</a:t>
                </a:r>
              </a:p>
              <a:p>
                <a:pPr algn="ctr" eaLnBrk="1" hangingPunct="1"/>
                <a:r>
                  <a:rPr lang="zh-CN" altLang="en-US" sz="1400" b="0" dirty="0">
                    <a:latin typeface="Montserrat" panose="00000500000000000000" pitchFamily="2" charset="0"/>
                    <a:ea typeface="微软雅黑 Light" panose="020B0502040204020203" pitchFamily="34" charset="-122"/>
                  </a:rPr>
                  <a:t>拥塞</a:t>
                </a:r>
              </a:p>
            </p:txBody>
          </p:sp>
        </p:grpSp>
      </p:gr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7" name="Text Box 9"/>
            <p:cNvSpPr txBox="1">
              <a:spLocks noChangeArrowheads="1"/>
            </p:cNvSpPr>
            <p:nvPr/>
          </p:nvSpPr>
          <p:spPr bwMode="auto">
            <a:xfrm>
              <a:off x="2901" y="1764"/>
              <a:ext cx="1223"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C00CC"/>
                  </a:solidFill>
                  <a:latin typeface="Montserrat" panose="00000500000000000000" pitchFamily="2" charset="0"/>
                  <a:ea typeface="微软雅黑 Light" panose="020B0502040204020203"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nvGrpSpPr>
            <p:cNvPr id="51" name="Group 13"/>
            <p:cNvGrpSpPr>
              <a:grpSpLocks/>
            </p:cNvGrpSpPr>
            <p:nvPr/>
          </p:nvGrpSpPr>
          <p:grpSpPr bwMode="auto">
            <a:xfrm>
              <a:off x="2451" y="2124"/>
              <a:ext cx="1223" cy="439"/>
              <a:chOff x="2451" y="2124"/>
              <a:chExt cx="1223" cy="439"/>
            </a:xfrm>
          </p:grpSpPr>
          <p:sp>
            <p:nvSpPr>
              <p:cNvPr id="52" name="Text Box 14"/>
              <p:cNvSpPr txBox="1">
                <a:spLocks noChangeArrowheads="1"/>
              </p:cNvSpPr>
              <p:nvPr/>
            </p:nvSpPr>
            <p:spPr bwMode="auto">
              <a:xfrm>
                <a:off x="2451" y="2124"/>
                <a:ext cx="1223" cy="28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5" name="Text Box 17"/>
          <p:cNvSpPr txBox="1">
            <a:spLocks noChangeArrowheads="1"/>
          </p:cNvSpPr>
          <p:nvPr/>
        </p:nvSpPr>
        <p:spPr bwMode="auto">
          <a:xfrm>
            <a:off x="1442736" y="3422881"/>
            <a:ext cx="3016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dirty="0">
                <a:solidFill>
                  <a:srgbClr val="333399"/>
                </a:solidFill>
                <a:latin typeface="Montserrat" panose="00000500000000000000" pitchFamily="2" charset="0"/>
                <a:ea typeface="微软雅黑 Light" panose="020B0502040204020203" pitchFamily="34" charset="-122"/>
              </a:rPr>
              <a:t>0</a:t>
            </a:r>
          </a:p>
        </p:txBody>
      </p:sp>
      <p:grpSp>
        <p:nvGrpSpPr>
          <p:cNvPr id="56" name="Group 18"/>
          <p:cNvGrpSpPr>
            <a:grpSpLocks/>
          </p:cNvGrpSpPr>
          <p:nvPr/>
        </p:nvGrpSpPr>
        <p:grpSpPr bwMode="auto">
          <a:xfrm>
            <a:off x="4906315" y="2847212"/>
            <a:ext cx="2400305" cy="792941"/>
            <a:chOff x="3349" y="2890"/>
            <a:chExt cx="2037" cy="729"/>
          </a:xfrm>
        </p:grpSpPr>
        <p:grpSp>
          <p:nvGrpSpPr>
            <p:cNvPr id="57" name="Group 19"/>
            <p:cNvGrpSpPr>
              <a:grpSpLocks/>
            </p:cNvGrpSpPr>
            <p:nvPr/>
          </p:nvGrpSpPr>
          <p:grpSpPr bwMode="auto">
            <a:xfrm>
              <a:off x="3477" y="2890"/>
              <a:ext cx="1909" cy="600"/>
              <a:chOff x="3477" y="2890"/>
              <a:chExt cx="1909" cy="600"/>
            </a:xfrm>
          </p:grpSpPr>
          <p:sp>
            <p:nvSpPr>
              <p:cNvPr id="59" name="Text Box 20"/>
              <p:cNvSpPr txBox="1">
                <a:spLocks noChangeArrowheads="1"/>
              </p:cNvSpPr>
              <p:nvPr/>
            </p:nvSpPr>
            <p:spPr bwMode="auto">
              <a:xfrm>
                <a:off x="3881" y="2890"/>
                <a:ext cx="1505"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00000"/>
                    </a:solidFill>
                    <a:latin typeface="Montserrat" panose="00000500000000000000" pitchFamily="2" charset="0"/>
                    <a:ea typeface="微软雅黑 Light" panose="020B0502040204020203" pitchFamily="34" charset="-122"/>
                  </a:rPr>
                  <a:t>死锁（吞吐量 </a:t>
                </a:r>
                <a:r>
                  <a:rPr lang="en-US" altLang="zh-CN" sz="1400" b="0" dirty="0">
                    <a:solidFill>
                      <a:srgbClr val="C00000"/>
                    </a:solidFill>
                    <a:latin typeface="Montserrat" panose="00000500000000000000" pitchFamily="2" charset="0"/>
                    <a:ea typeface="微软雅黑 Light" panose="020B0502040204020203" pitchFamily="34" charset="-122"/>
                  </a:rPr>
                  <a:t>= 0</a:t>
                </a:r>
                <a:r>
                  <a:rPr lang="zh-CN" altLang="en-US" sz="1400" b="0" dirty="0">
                    <a:solidFill>
                      <a:srgbClr val="C00000"/>
                    </a:solidFill>
                    <a:latin typeface="Montserrat" panose="00000500000000000000" pitchFamily="2" charset="0"/>
                    <a:ea typeface="微软雅黑 Light" panose="020B0502040204020203"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0C0E458C-CF8D-1C39-69ED-302644E2F4C2}"/>
              </a:ext>
            </a:extLst>
          </p:cNvPr>
          <p:cNvSpPr>
            <a:spLocks noGrp="1"/>
          </p:cNvSpPr>
          <p:nvPr>
            <p:ph type="title"/>
          </p:nvPr>
        </p:nvSpPr>
        <p:spPr>
          <a:xfrm>
            <a:off x="2808000" y="144000"/>
            <a:ext cx="3528000" cy="338554"/>
          </a:xfrm>
        </p:spPr>
        <p:txBody>
          <a:bodyPr/>
          <a:lstStyle/>
          <a:p>
            <a:r>
              <a:rPr lang="zh-CN" altLang="en-US" dirty="0"/>
              <a:t>拥塞控制所起的作用</a:t>
            </a:r>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a:xfrm>
            <a:off x="486000" y="482554"/>
            <a:ext cx="8172000" cy="4120946"/>
          </a:xfrm>
        </p:spPr>
        <p:txBody>
          <a:bodyPr/>
          <a:lstStyle/>
          <a:p>
            <a:r>
              <a:rPr lang="zh-CN" altLang="en-US" dirty="0"/>
              <a:t>拥塞控制的前提：网络能够承受现有的网络负荷</a:t>
            </a:r>
            <a:endParaRPr lang="en-US" altLang="zh-CN" dirty="0"/>
          </a:p>
          <a:p>
            <a:r>
              <a:rPr lang="zh-CN" altLang="en-US" dirty="0"/>
              <a:t>实践证明，拥塞控制是很难设计的，因为它是一个动态问题</a:t>
            </a:r>
          </a:p>
          <a:p>
            <a:r>
              <a:rPr lang="zh-CN" altLang="en-US" dirty="0"/>
              <a:t>分组的丢失是网络发生拥塞的征兆，而不是原因</a:t>
            </a:r>
          </a:p>
          <a:p>
            <a:r>
              <a:rPr lang="zh-CN" altLang="en-US" dirty="0"/>
              <a:t>在许多情况下，甚至正是拥塞控制本身成为引起网络性能恶化、甚至发生死锁的原因</a:t>
            </a:r>
          </a:p>
          <a:p>
            <a:endParaRPr lang="zh-CN" altLang="en-US" dirty="0"/>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2808000" y="144000"/>
            <a:ext cx="3528000" cy="338554"/>
          </a:xfrm>
        </p:spPr>
        <p:txBody>
          <a:bodyPr/>
          <a:lstStyle/>
          <a:p>
            <a:r>
              <a:rPr lang="zh-CN" altLang="en-US" dirty="0"/>
              <a:t>拥塞控制的一般原理</a:t>
            </a:r>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任意多边形: 形状 4">
            <a:extLst>
              <a:ext uri="{FF2B5EF4-FFF2-40B4-BE49-F238E27FC236}">
                <a16:creationId xmlns:a16="http://schemas.microsoft.com/office/drawing/2014/main" id="{E5341D88-6FD9-66DF-F5BF-4EFE6987BC3C}"/>
              </a:ext>
            </a:extLst>
          </p:cNvPr>
          <p:cNvSpPr/>
          <p:nvPr/>
        </p:nvSpPr>
        <p:spPr>
          <a:xfrm>
            <a:off x="106212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开环控制</a:t>
            </a:r>
          </a:p>
        </p:txBody>
      </p:sp>
      <p:sp>
        <p:nvSpPr>
          <p:cNvPr id="6" name="任意多边形: 形状 5">
            <a:extLst>
              <a:ext uri="{FF2B5EF4-FFF2-40B4-BE49-F238E27FC236}">
                <a16:creationId xmlns:a16="http://schemas.microsoft.com/office/drawing/2014/main" id="{68E840D6-5F36-2710-386A-F52D2116FB25}"/>
              </a:ext>
            </a:extLst>
          </p:cNvPr>
          <p:cNvSpPr/>
          <p:nvPr/>
        </p:nvSpPr>
        <p:spPr>
          <a:xfrm>
            <a:off x="106212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在设计网络时，事先</a:t>
            </a:r>
            <a:r>
              <a:rPr lang="zh-CN" altLang="en-US" sz="1400" kern="1200" dirty="0">
                <a:solidFill>
                  <a:srgbClr val="C00000"/>
                </a:solidFill>
                <a:latin typeface="Montserrat" panose="00000500000000000000" pitchFamily="2" charset="0"/>
                <a:ea typeface="微软雅黑 Light" panose="020B0502040204020203" pitchFamily="34" charset="-122"/>
              </a:rPr>
              <a:t>考虑周全，</a:t>
            </a:r>
            <a:r>
              <a:rPr lang="zh-CN" altLang="en-US" sz="1400" kern="1200" dirty="0">
                <a:latin typeface="Montserrat" panose="00000500000000000000" pitchFamily="2" charset="0"/>
                <a:ea typeface="微软雅黑 Light" panose="020B0502040204020203" pitchFamily="34" charset="-122"/>
              </a:rPr>
              <a:t>力求工作时不发生拥塞。</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力争</a:t>
            </a:r>
            <a:r>
              <a:rPr lang="zh-CN" altLang="en-US" sz="1400" kern="1200" dirty="0">
                <a:solidFill>
                  <a:srgbClr val="0000FF"/>
                </a:solidFill>
                <a:latin typeface="Montserrat" panose="00000500000000000000" pitchFamily="2" charset="0"/>
                <a:ea typeface="微软雅黑 Light" panose="020B0502040204020203" pitchFamily="34" charset="-122"/>
              </a:rPr>
              <a:t>避免</a:t>
            </a:r>
            <a:r>
              <a:rPr lang="zh-CN" altLang="en-US" sz="1400" kern="1200" dirty="0">
                <a:latin typeface="Montserrat" panose="00000500000000000000" pitchFamily="2" charset="0"/>
                <a:ea typeface="微软雅黑 Light" panose="020B0502040204020203" pitchFamily="34" charset="-122"/>
              </a:rPr>
              <a:t>发生拥塞。</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但一旦整个系统运行起来，就不再中途进行改正了。</a:t>
            </a:r>
          </a:p>
        </p:txBody>
      </p:sp>
      <p:sp>
        <p:nvSpPr>
          <p:cNvPr id="7" name="任意多边形: 形状 6">
            <a:extLst>
              <a:ext uri="{FF2B5EF4-FFF2-40B4-BE49-F238E27FC236}">
                <a16:creationId xmlns:a16="http://schemas.microsoft.com/office/drawing/2014/main" id="{106B789F-F10C-4577-94E2-877ACA996F70}"/>
              </a:ext>
            </a:extLst>
          </p:cNvPr>
          <p:cNvSpPr/>
          <p:nvPr/>
        </p:nvSpPr>
        <p:spPr>
          <a:xfrm>
            <a:off x="485016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闭环控制</a:t>
            </a:r>
          </a:p>
        </p:txBody>
      </p:sp>
      <p:sp>
        <p:nvSpPr>
          <p:cNvPr id="8" name="任意多边形: 形状 7">
            <a:extLst>
              <a:ext uri="{FF2B5EF4-FFF2-40B4-BE49-F238E27FC236}">
                <a16:creationId xmlns:a16="http://schemas.microsoft.com/office/drawing/2014/main" id="{05A32DF7-677F-D92A-36A7-8DB6474D4ADF}"/>
              </a:ext>
            </a:extLst>
          </p:cNvPr>
          <p:cNvSpPr/>
          <p:nvPr/>
        </p:nvSpPr>
        <p:spPr>
          <a:xfrm>
            <a:off x="485016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5025821"/>
              <a:satOff val="-4378"/>
              <a:lumOff val="-6"/>
              <a:alphaOff val="0"/>
            </a:schemeClr>
          </a:lnRef>
          <a:fillRef idx="1">
            <a:schemeClr val="accent2">
              <a:tint val="40000"/>
              <a:alpha val="90000"/>
              <a:hueOff val="5025821"/>
              <a:satOff val="-4378"/>
              <a:lumOff val="-6"/>
              <a:alphaOff val="0"/>
            </a:schemeClr>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基于反馈环路的概念。</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根据网络</a:t>
            </a:r>
            <a:r>
              <a:rPr lang="zh-CN" altLang="en-US" sz="1400" kern="1200" dirty="0">
                <a:solidFill>
                  <a:srgbClr val="C00000"/>
                </a:solidFill>
                <a:latin typeface="Montserrat" panose="00000500000000000000" pitchFamily="2" charset="0"/>
                <a:ea typeface="微软雅黑 Light" panose="020B0502040204020203" pitchFamily="34" charset="-122"/>
              </a:rPr>
              <a:t>当前运行状态</a:t>
            </a:r>
            <a:r>
              <a:rPr lang="zh-CN" altLang="en-US" sz="1400" kern="1200" dirty="0">
                <a:latin typeface="Montserrat" panose="00000500000000000000" pitchFamily="2" charset="0"/>
                <a:ea typeface="微软雅黑 Light" panose="020B0502040204020203" pitchFamily="34" charset="-122"/>
              </a:rPr>
              <a:t>采取相应控制措施。</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在发生拥塞后，采取措施进行控制，</a:t>
            </a:r>
            <a:r>
              <a:rPr lang="zh-CN" altLang="en-US" sz="1400" kern="1200" dirty="0">
                <a:solidFill>
                  <a:srgbClr val="0000FF"/>
                </a:solidFill>
                <a:latin typeface="Montserrat" panose="00000500000000000000" pitchFamily="2" charset="0"/>
                <a:ea typeface="微软雅黑 Light" panose="020B0502040204020203" pitchFamily="34" charset="-122"/>
              </a:rPr>
              <a:t>消除</a:t>
            </a:r>
            <a:r>
              <a:rPr lang="zh-CN" altLang="en-US" sz="1400" kern="1200" dirty="0">
                <a:latin typeface="Montserrat" panose="00000500000000000000" pitchFamily="2" charset="0"/>
                <a:ea typeface="微软雅黑 Light" panose="020B0502040204020203" pitchFamily="34" charset="-122"/>
              </a:rPr>
              <a:t>拥塞。</a:t>
            </a:r>
          </a:p>
        </p:txBody>
      </p:sp>
      <p:sp>
        <p:nvSpPr>
          <p:cNvPr id="2" name="标题 1">
            <a:extLst>
              <a:ext uri="{FF2B5EF4-FFF2-40B4-BE49-F238E27FC236}">
                <a16:creationId xmlns:a16="http://schemas.microsoft.com/office/drawing/2014/main" id="{1C731252-D192-BAF5-6F74-2658026BD46C}"/>
              </a:ext>
            </a:extLst>
          </p:cNvPr>
          <p:cNvSpPr>
            <a:spLocks noGrp="1"/>
          </p:cNvSpPr>
          <p:nvPr>
            <p:ph type="title"/>
          </p:nvPr>
        </p:nvSpPr>
        <p:spPr>
          <a:xfrm>
            <a:off x="2808000" y="144000"/>
            <a:ext cx="3528000" cy="338554"/>
          </a:xfrm>
        </p:spPr>
        <p:txBody>
          <a:bodyPr/>
          <a:lstStyle/>
          <a:p>
            <a:r>
              <a:rPr lang="zh-CN" altLang="en-US" dirty="0"/>
              <a:t>开环控制和闭环控制</a:t>
            </a: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46170870"/>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EB1ADA9-363C-ABF9-EE21-2CDB0933B504}"/>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dirty="0">
                <a:solidFill>
                  <a:schemeClr val="tx1"/>
                </a:solidFill>
                <a:latin typeface="Montserrat" panose="00000500000000000000" pitchFamily="2" charset="0"/>
                <a:ea typeface="微软雅黑 Light" panose="020B0502040204020203" pitchFamily="34" charset="-122"/>
              </a:rPr>
              <a:t>主要指标有：</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平均队列长度；</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超时重传的分组数；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平均分组时延；</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分组时延的标准差，等等。</a:t>
            </a:r>
          </a:p>
          <a:p>
            <a:pPr marL="179388" indent="-179388">
              <a:lnSpc>
                <a:spcPts val="2000"/>
              </a:lnSpc>
              <a:buClr>
                <a:srgbClr val="0070C0"/>
              </a:buClr>
              <a:buFont typeface="Wingdings" pitchFamily="2" charset="2"/>
              <a:buChar char="l"/>
            </a:pPr>
            <a:r>
              <a:rPr lang="zh-CN" altLang="en-US" sz="1400" dirty="0">
                <a:solidFill>
                  <a:srgbClr val="0000FF"/>
                </a:solidFill>
                <a:latin typeface="Montserrat" panose="00000500000000000000" pitchFamily="2" charset="0"/>
                <a:ea typeface="微软雅黑 Light" panose="020B0502040204020203" pitchFamily="34" charset="-122"/>
              </a:rPr>
              <a:t>这些指标的上升都标志着拥塞的增长。</a:t>
            </a:r>
          </a:p>
        </p:txBody>
      </p:sp>
      <p:sp>
        <p:nvSpPr>
          <p:cNvPr id="4" name="标题 3">
            <a:extLst>
              <a:ext uri="{FF2B5EF4-FFF2-40B4-BE49-F238E27FC236}">
                <a16:creationId xmlns:a16="http://schemas.microsoft.com/office/drawing/2014/main" id="{6AA3CC6C-A7CA-CF61-4A4D-E6F8E22160DD}"/>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4" name="标题 3">
            <a:extLst>
              <a:ext uri="{FF2B5EF4-FFF2-40B4-BE49-F238E27FC236}">
                <a16:creationId xmlns:a16="http://schemas.microsoft.com/office/drawing/2014/main" id="{B8654CCE-1278-D2CF-12D6-942618BB19FF}"/>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4" name="标题 3">
            <a:extLst>
              <a:ext uri="{FF2B5EF4-FFF2-40B4-BE49-F238E27FC236}">
                <a16:creationId xmlns:a16="http://schemas.microsoft.com/office/drawing/2014/main" id="{FA77A60E-F80B-D74A-B511-3D74FB29D4E2}"/>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556963" y="3686475"/>
            <a:ext cx="8048776" cy="499026"/>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真正的发送窗口值 </a:t>
            </a:r>
            <a:r>
              <a:rPr lang="en-US" altLang="zh-CN" sz="2000" dirty="0">
                <a:latin typeface="Montserrat" panose="00000500000000000000" pitchFamily="2" charset="0"/>
                <a:ea typeface="微软雅黑 Light" panose="020B0502040204020203" pitchFamily="34" charset="-122"/>
              </a:rPr>
              <a:t>= Min (</a:t>
            </a:r>
            <a:r>
              <a:rPr lang="zh-CN" altLang="en-US" sz="2000" dirty="0">
                <a:latin typeface="Montserrat" panose="00000500000000000000" pitchFamily="2" charset="0"/>
                <a:ea typeface="微软雅黑 Light" panose="020B0502040204020203" pitchFamily="34" charset="-122"/>
              </a:rPr>
              <a:t>接收方通知的窗口值，拥塞窗口值</a:t>
            </a:r>
            <a:r>
              <a:rPr lang="en-US" altLang="zh-CN" sz="2000" dirty="0">
                <a:latin typeface="Montserrat" panose="00000500000000000000" pitchFamily="2" charset="0"/>
                <a:ea typeface="微软雅黑 Light" panose="020B0502040204020203"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采用基于滑动窗口的方法进行拥塞控制，属于闭环控制方法。</a:t>
            </a:r>
          </a:p>
          <a:p>
            <a:r>
              <a:rPr lang="en-US" altLang="zh-CN" dirty="0"/>
              <a:t>TCP </a:t>
            </a:r>
            <a:r>
              <a:rPr lang="zh-CN" altLang="en-US" dirty="0"/>
              <a:t>发送方维持一个拥塞窗口 </a:t>
            </a:r>
            <a:r>
              <a:rPr lang="en-US" altLang="zh-CN" dirty="0" err="1"/>
              <a:t>cwnd</a:t>
            </a:r>
            <a:r>
              <a:rPr lang="en-US" altLang="zh-CN" dirty="0"/>
              <a:t> (Congestion Window)</a:t>
            </a:r>
          </a:p>
          <a:p>
            <a:r>
              <a:rPr lang="zh-CN" altLang="en-US" dirty="0"/>
              <a:t>拥塞窗口的大小取决于网络的拥塞程度，并且是动态变化的。</a:t>
            </a:r>
            <a:endParaRPr lang="en-US" altLang="zh-CN" dirty="0"/>
          </a:p>
          <a:p>
            <a:r>
              <a:rPr lang="zh-CN" altLang="en-US" dirty="0"/>
              <a:t>发送端利用拥塞窗口根据网络的拥塞情况调整发送的数据量。</a:t>
            </a:r>
            <a:endParaRPr lang="en-US" altLang="zh-CN" dirty="0"/>
          </a:p>
          <a:p>
            <a:r>
              <a:rPr lang="zh-CN" altLang="en-US" dirty="0"/>
              <a:t>发送窗口大小不仅取决于接收方窗口，还取决于网络的拥塞状况。</a:t>
            </a:r>
            <a:endParaRPr lang="en-US" altLang="zh-CN" dirty="0"/>
          </a:p>
          <a:p>
            <a:r>
              <a:rPr lang="zh-CN" altLang="en-US" dirty="0"/>
              <a:t>真正的发送窗口值：</a:t>
            </a:r>
          </a:p>
          <a:p>
            <a:endParaRPr lang="zh-CN" altLang="en-US" dirty="0"/>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2808000" y="144000"/>
            <a:ext cx="3528000" cy="338554"/>
          </a:xfrm>
        </p:spPr>
        <p:txBody>
          <a:bodyPr/>
          <a:lstStyle/>
          <a:p>
            <a:r>
              <a:rPr lang="en-US" altLang="zh-CN" dirty="0"/>
              <a:t>5.8.2  TCP </a:t>
            </a:r>
            <a:r>
              <a:rPr lang="zh-CN" altLang="en-US" dirty="0"/>
              <a:t>的拥塞控制方法</a:t>
            </a:r>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a:xfrm>
            <a:off x="486000" y="482554"/>
            <a:ext cx="8172000" cy="4120946"/>
          </a:xfrm>
        </p:spPr>
        <p:txBody>
          <a:bodyPr/>
          <a:lstStyle/>
          <a:p>
            <a:r>
              <a:rPr lang="zh-CN" altLang="en-US" dirty="0"/>
              <a:t>只要网络没有出现拥塞，拥塞窗口就可以再增大一些，以便把更多的分组发送出去，提高网络的利用率。</a:t>
            </a:r>
          </a:p>
          <a:p>
            <a:r>
              <a:rPr lang="zh-CN" altLang="en-US" dirty="0"/>
              <a:t>但只要网络出现拥塞或有可能出现拥塞，就必须把拥塞窗口减小一些，以减少注入到网络中的分组数，缓解网络出现的拥塞。</a:t>
            </a:r>
          </a:p>
          <a:p>
            <a:endParaRPr lang="zh-CN" altLang="en-US" dirty="0"/>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2808000" y="144000"/>
            <a:ext cx="3528000" cy="338554"/>
          </a:xfrm>
        </p:spPr>
        <p:txBody>
          <a:bodyPr/>
          <a:lstStyle/>
          <a:p>
            <a:r>
              <a:rPr lang="zh-CN" altLang="en-US" dirty="0"/>
              <a:t>控制拥塞窗口变化的原则</a:t>
            </a:r>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20546"/>
          </a:xfrm>
          <a:prstGeom prst="rect">
            <a:avLst/>
          </a:prstGeom>
        </p:spPr>
        <p:txBody>
          <a:bodyPr wrap="square">
            <a:spAutoFit/>
          </a:bodyPr>
          <a:lstStyle/>
          <a:p>
            <a:pPr>
              <a:lnSpc>
                <a:spcPts val="3000"/>
              </a:lnSpc>
            </a:pPr>
            <a:r>
              <a:rPr lang="zh-CN" altLang="en-US" dirty="0">
                <a:latin typeface="微软雅黑 Light" panose="020B0502040204020203" pitchFamily="34" charset="-122"/>
                <a:ea typeface="微软雅黑 Light" panose="020B0502040204020203" pitchFamily="34" charset="-122"/>
              </a:rPr>
              <a:t>因传输出差错而丢弃分组的</a:t>
            </a:r>
            <a:r>
              <a:rPr lang="zh-CN" altLang="en-US" dirty="0">
                <a:solidFill>
                  <a:srgbClr val="C00000"/>
                </a:solidFill>
                <a:latin typeface="微软雅黑 Light" panose="020B0502040204020203" pitchFamily="34" charset="-122"/>
                <a:ea typeface="微软雅黑 Light" panose="020B0502040204020203" pitchFamily="34" charset="-122"/>
              </a:rPr>
              <a:t>概率很小</a:t>
            </a:r>
            <a:r>
              <a:rPr lang="zh-CN" altLang="en-US" dirty="0">
                <a:latin typeface="微软雅黑 Light" panose="020B0502040204020203" pitchFamily="34" charset="-122"/>
                <a:ea typeface="微软雅黑 Light" panose="020B0502040204020203" pitchFamily="34" charset="-122"/>
              </a:rPr>
              <a:t>（远小于</a:t>
            </a:r>
            <a:r>
              <a:rPr lang="en-US" altLang="zh-CN" dirty="0">
                <a:latin typeface="微软雅黑 Light" panose="020B0502040204020203" pitchFamily="34" charset="-122"/>
                <a:ea typeface="微软雅黑 Light" panose="020B0502040204020203" pitchFamily="34" charset="-122"/>
              </a:rPr>
              <a:t>1 %</a:t>
            </a:r>
            <a:r>
              <a:rPr lang="zh-CN" altLang="en-US" dirty="0">
                <a:latin typeface="微软雅黑 Light" panose="020B0502040204020203" pitchFamily="34" charset="-122"/>
                <a:ea typeface="微软雅黑 Light" panose="020B0502040204020203" pitchFamily="34" charset="-122"/>
              </a:rPr>
              <a:t>）。</a:t>
            </a:r>
            <a:endParaRPr lang="en-US" altLang="zh-CN" dirty="0">
              <a:latin typeface="微软雅黑 Light" panose="020B0502040204020203" pitchFamily="34" charset="-122"/>
              <a:ea typeface="微软雅黑 Light" panose="020B0502040204020203" pitchFamily="34" charset="-122"/>
            </a:endParaRPr>
          </a:p>
          <a:p>
            <a:pPr>
              <a:lnSpc>
                <a:spcPts val="3000"/>
              </a:lnSpc>
            </a:pPr>
            <a:r>
              <a:rPr lang="zh-CN" altLang="en-US" dirty="0">
                <a:latin typeface="微软雅黑 Light" panose="020B0502040204020203" pitchFamily="34" charset="-122"/>
                <a:ea typeface="微软雅黑 Light" panose="020B0502040204020203" pitchFamily="34" charset="-122"/>
              </a:rPr>
              <a:t>因此，发送方在超时重传计时器启动时，</a:t>
            </a:r>
            <a:r>
              <a:rPr lang="zh-CN" altLang="en-US" dirty="0">
                <a:solidFill>
                  <a:srgbClr val="C00000"/>
                </a:solidFill>
                <a:latin typeface="微软雅黑 Light" panose="020B0502040204020203" pitchFamily="34" charset="-122"/>
                <a:ea typeface="微软雅黑 Light" panose="020B0502040204020203" pitchFamily="34" charset="-122"/>
              </a:rPr>
              <a:t>就判断网络出现了拥塞。</a:t>
            </a:r>
          </a:p>
        </p:txBody>
      </p:sp>
      <p:sp>
        <p:nvSpPr>
          <p:cNvPr id="3" name="标题 2">
            <a:extLst>
              <a:ext uri="{FF2B5EF4-FFF2-40B4-BE49-F238E27FC236}">
                <a16:creationId xmlns:a16="http://schemas.microsoft.com/office/drawing/2014/main" id="{495D013B-2310-E411-41E9-EFB63C1687A1}"/>
              </a:ext>
            </a:extLst>
          </p:cNvPr>
          <p:cNvSpPr>
            <a:spLocks noGrp="1"/>
          </p:cNvSpPr>
          <p:nvPr>
            <p:ph type="title"/>
          </p:nvPr>
        </p:nvSpPr>
        <p:spPr>
          <a:xfrm>
            <a:off x="2808000" y="144000"/>
            <a:ext cx="3528000" cy="338554"/>
          </a:xfrm>
        </p:spPr>
        <p:txBody>
          <a:bodyPr/>
          <a:lstStyle/>
          <a:p>
            <a:r>
              <a:rPr lang="zh-CN" altLang="en-US" dirty="0"/>
              <a:t>发送方判断拥塞的方法：隐式反馈</a:t>
            </a:r>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a:xfrm>
            <a:off x="486000" y="482554"/>
            <a:ext cx="8172000" cy="4120946"/>
          </a:xfrm>
        </p:spPr>
        <p:txBody>
          <a:bodyPr/>
          <a:lstStyle/>
          <a:p>
            <a:r>
              <a:rPr lang="zh-CN" altLang="en-US" dirty="0"/>
              <a:t>四种拥塞控制算法（ </a:t>
            </a:r>
            <a:r>
              <a:rPr lang="en-US" altLang="zh-CN" dirty="0"/>
              <a:t>RFC 5681</a:t>
            </a:r>
            <a:r>
              <a:rPr lang="zh-CN" altLang="en-US" dirty="0"/>
              <a:t>） ：</a:t>
            </a:r>
          </a:p>
          <a:p>
            <a:r>
              <a:rPr lang="zh-CN" altLang="en-US" dirty="0"/>
              <a:t>慢开始 </a:t>
            </a:r>
            <a:r>
              <a:rPr lang="en-US" altLang="zh-CN" dirty="0"/>
              <a:t>(slow-start)</a:t>
            </a:r>
          </a:p>
          <a:p>
            <a:r>
              <a:rPr lang="zh-CN" altLang="en-US" dirty="0"/>
              <a:t>拥塞避免 </a:t>
            </a:r>
            <a:r>
              <a:rPr lang="en-US" altLang="zh-CN" dirty="0"/>
              <a:t>(congestion avoidance)</a:t>
            </a:r>
          </a:p>
          <a:p>
            <a:r>
              <a:rPr lang="zh-CN" altLang="en-US" dirty="0"/>
              <a:t>快重传 </a:t>
            </a:r>
            <a:r>
              <a:rPr lang="en-US" altLang="zh-CN" dirty="0"/>
              <a:t>(fast retransmit)</a:t>
            </a:r>
          </a:p>
          <a:p>
            <a:r>
              <a:rPr lang="zh-CN" altLang="en-US" dirty="0"/>
              <a:t>快恢复 </a:t>
            </a:r>
            <a:r>
              <a:rPr lang="en-US" altLang="zh-CN" dirty="0"/>
              <a:t>(fast recovery)</a:t>
            </a:r>
          </a:p>
          <a:p>
            <a:endParaRPr lang="zh-CN" altLang="en-US" dirty="0"/>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2808000" y="144000"/>
            <a:ext cx="3528000" cy="338554"/>
          </a:xfrm>
        </p:spPr>
        <p:txBody>
          <a:bodyPr/>
          <a:lstStyle/>
          <a:p>
            <a:r>
              <a:rPr lang="en-US" altLang="zh-CN" dirty="0"/>
              <a:t>TCP </a:t>
            </a:r>
            <a:r>
              <a:rPr lang="zh-CN" altLang="en-US" dirty="0"/>
              <a:t>拥塞控制算法</a:t>
            </a: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a:xfrm>
            <a:off x="486000" y="482554"/>
            <a:ext cx="8172000" cy="4120946"/>
          </a:xfrm>
        </p:spPr>
        <p:txBody>
          <a:bodyPr/>
          <a:lstStyle/>
          <a:p>
            <a:r>
              <a:rPr lang="zh-CN" altLang="en-US" dirty="0"/>
              <a:t>目的：探测网络的负载能力或拥塞程度。</a:t>
            </a:r>
          </a:p>
          <a:p>
            <a:r>
              <a:rPr lang="zh-CN" altLang="en-US" dirty="0"/>
              <a:t>算法：由小到大逐渐增大注入到网络中的数据字节，即：由小到大逐渐增大拥塞窗口数值。</a:t>
            </a:r>
            <a:endParaRPr lang="en-US" altLang="zh-CN" dirty="0"/>
          </a:p>
          <a:p>
            <a:r>
              <a:rPr lang="en-US" altLang="zh-CN" dirty="0"/>
              <a:t>2 </a:t>
            </a:r>
            <a:r>
              <a:rPr lang="zh-CN" altLang="en-US" dirty="0"/>
              <a:t>个控制变量：</a:t>
            </a:r>
          </a:p>
          <a:p>
            <a:endParaRPr lang="zh-CN" altLang="en-US" dirty="0"/>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a:xfrm>
            <a:off x="486000" y="482554"/>
            <a:ext cx="8172000" cy="4120946"/>
          </a:xfrm>
        </p:spPr>
        <p:txBody>
          <a:bodyPr/>
          <a:lstStyle/>
          <a:p>
            <a:r>
              <a:rPr lang="zh-CN" altLang="en-US" dirty="0"/>
              <a:t>拥塞窗口 </a:t>
            </a:r>
            <a:r>
              <a:rPr lang="en-US" altLang="zh-CN"/>
              <a:t>cwnd </a:t>
            </a:r>
            <a:r>
              <a:rPr lang="zh-CN" altLang="en-US"/>
              <a:t>增大</a:t>
            </a:r>
            <a:r>
              <a:rPr lang="zh-CN" altLang="en-US" dirty="0"/>
              <a:t>：在每收到一个对新的报文段的确认，就把拥塞窗口增加最多一个发送方的最大报文段 </a:t>
            </a:r>
            <a:r>
              <a:rPr lang="en-US" altLang="zh-CN"/>
              <a:t>SMSS  (Sender Maximum Segment Size) </a:t>
            </a:r>
            <a:r>
              <a:rPr lang="zh-CN" altLang="en-US"/>
              <a:t>的</a:t>
            </a:r>
            <a:r>
              <a:rPr lang="zh-CN" altLang="en-US" dirty="0"/>
              <a:t>数值。</a:t>
            </a:r>
          </a:p>
          <a:p>
            <a:r>
              <a:rPr lang="zh-CN" altLang="en-US" dirty="0"/>
              <a:t>其中 </a:t>
            </a:r>
            <a:r>
              <a:rPr lang="en-US" altLang="zh-CN"/>
              <a:t>N </a:t>
            </a:r>
            <a:r>
              <a:rPr lang="zh-CN" altLang="en-US"/>
              <a:t>是</a:t>
            </a:r>
            <a:r>
              <a:rPr lang="zh-CN" altLang="en-US" dirty="0"/>
              <a:t>原先未被确认的、但现在被刚收到的确认报文段所确认的字节数。</a:t>
            </a:r>
          </a:p>
          <a:p>
            <a:endParaRPr lang="zh-CN" altLang="en-US" dirty="0"/>
          </a:p>
        </p:txBody>
      </p:sp>
      <p:sp>
        <p:nvSpPr>
          <p:cNvPr id="39" name="矩形 38"/>
          <p:cNvSpPr/>
          <p:nvPr/>
        </p:nvSpPr>
        <p:spPr>
          <a:xfrm>
            <a:off x="1042543" y="2261782"/>
            <a:ext cx="7213799" cy="57568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拥塞</a:t>
            </a:r>
            <a:r>
              <a:rPr lang="zh-CN" altLang="en-US" sz="2000">
                <a:latin typeface="Montserrat" panose="00000500000000000000" pitchFamily="2" charset="0"/>
                <a:ea typeface="微软雅黑 Light" panose="020B0502040204020203" pitchFamily="34" charset="-122"/>
              </a:rPr>
              <a:t>窗口 </a:t>
            </a:r>
            <a:r>
              <a:rPr lang="en-US" altLang="zh-CN" sz="2000">
                <a:latin typeface="Montserrat" panose="00000500000000000000" pitchFamily="2" charset="0"/>
                <a:ea typeface="微软雅黑 Light" panose="020B0502040204020203" pitchFamily="34" charset="-122"/>
              </a:rPr>
              <a:t>cwnd</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每次的增加</a:t>
            </a:r>
            <a:r>
              <a:rPr lang="zh-CN" altLang="en-US" sz="2000">
                <a:latin typeface="Montserrat" panose="00000500000000000000" pitchFamily="2" charset="0"/>
                <a:ea typeface="微软雅黑 Light" panose="020B0502040204020203" pitchFamily="34" charset="-122"/>
              </a:rPr>
              <a:t>量 </a:t>
            </a:r>
            <a:r>
              <a:rPr lang="en-US" altLang="zh-CN" sz="2000" dirty="0">
                <a:latin typeface="Montserrat" panose="00000500000000000000" pitchFamily="2" charset="0"/>
                <a:ea typeface="微软雅黑 Light" panose="020B0502040204020203" pitchFamily="34" charset="-122"/>
              </a:rPr>
              <a:t>= </a:t>
            </a:r>
            <a:r>
              <a:rPr lang="en-US" altLang="zh-CN" sz="2000">
                <a:latin typeface="Montserrat" panose="00000500000000000000" pitchFamily="2" charset="0"/>
                <a:ea typeface="微软雅黑 Light" panose="020B0502040204020203" pitchFamily="34" charset="-122"/>
              </a:rPr>
              <a:t>min (N</a:t>
            </a:r>
            <a:r>
              <a:rPr lang="en-US" altLang="zh-CN" sz="2000" dirty="0">
                <a:latin typeface="Montserrat" panose="00000500000000000000" pitchFamily="2" charset="0"/>
                <a:ea typeface="微软雅黑 Light" panose="020B0502040204020203" pitchFamily="34" charset="-122"/>
              </a:rPr>
              <a:t>, SMSS)          (5-8)</a:t>
            </a:r>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360605" y="1224875"/>
            <a:ext cx="2592000"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 1</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p>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SSTH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n</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8" name="矩形 7"/>
          <p:cNvSpPr/>
          <p:nvPr/>
        </p:nvSpPr>
        <p:spPr>
          <a:xfrm>
            <a:off x="5736553" y="3635415"/>
            <a:ext cx="1765717"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执行拥塞避免算法</a:t>
            </a:r>
          </a:p>
        </p:txBody>
      </p:sp>
      <p:cxnSp>
        <p:nvCxnSpPr>
          <p:cNvPr id="11" name="直接箭头连接符 10"/>
          <p:cNvCxnSpPr>
            <a:stCxn id="2" idx="2"/>
            <a:endCxn id="27" idx="0"/>
          </p:cNvCxnSpPr>
          <p:nvPr/>
        </p:nvCxnSpPr>
        <p:spPr>
          <a:xfrm>
            <a:off x="3656605" y="1642886"/>
            <a:ext cx="0" cy="354264"/>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3656605" y="2283488"/>
            <a:ext cx="0" cy="281668"/>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3656605" y="3286248"/>
            <a:ext cx="0" cy="287119"/>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stCxn id="42" idx="3"/>
            <a:endCxn id="8" idx="1"/>
          </p:cNvCxnSpPr>
          <p:nvPr/>
        </p:nvCxnSpPr>
        <p:spPr>
          <a:xfrm flipV="1">
            <a:off x="4952605" y="3844421"/>
            <a:ext cx="783948" cy="1"/>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009700" y="3594889"/>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是</a:t>
            </a:r>
          </a:p>
        </p:txBody>
      </p:sp>
      <p:sp>
        <p:nvSpPr>
          <p:cNvPr id="48" name="TextBox 47"/>
          <p:cNvSpPr txBox="1"/>
          <p:nvPr/>
        </p:nvSpPr>
        <p:spPr>
          <a:xfrm>
            <a:off x="4942929" y="3595051"/>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否</a:t>
            </a:r>
          </a:p>
        </p:txBody>
      </p:sp>
      <p:sp>
        <p:nvSpPr>
          <p:cNvPr id="27" name="矩形 26"/>
          <p:cNvSpPr/>
          <p:nvPr/>
        </p:nvSpPr>
        <p:spPr>
          <a:xfrm>
            <a:off x="2360605" y="1997150"/>
            <a:ext cx="2592000" cy="28633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发送报文段</a:t>
            </a:r>
          </a:p>
        </p:txBody>
      </p:sp>
      <p:sp>
        <p:nvSpPr>
          <p:cNvPr id="37" name="矩形 36"/>
          <p:cNvSpPr/>
          <p:nvPr/>
        </p:nvSpPr>
        <p:spPr>
          <a:xfrm>
            <a:off x="2360605" y="2565156"/>
            <a:ext cx="2592000" cy="7210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（重传定时器未超时）</a:t>
            </a:r>
            <a:endParaRPr lang="en-US" altLang="zh-CN" sz="1200" dirty="0">
              <a:solidFill>
                <a:sysClr val="windowText" lastClr="000000"/>
              </a:solidFill>
              <a:latin typeface="Montserrat" panose="00000500000000000000" pitchFamily="2" charset="0"/>
              <a:ea typeface="微软雅黑 Light" panose="020B0502040204020203" pitchFamily="34" charset="-122"/>
            </a:endParaRPr>
          </a:p>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每收到一个对新的报文段的确认</a:t>
            </a:r>
          </a:p>
          <a:p>
            <a:pPr algn="ctr">
              <a:lnSpc>
                <a:spcPts val="18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cwnd +1</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2" name="流程图: 决策 41"/>
          <p:cNvSpPr/>
          <p:nvPr/>
        </p:nvSpPr>
        <p:spPr>
          <a:xfrm>
            <a:off x="2360605" y="3573367"/>
            <a:ext cx="2592000" cy="542110"/>
          </a:xfrm>
          <a:prstGeom prst="flowChartDecis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cwnd &lt; SSTH</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9" name="矩形 8"/>
          <p:cNvSpPr/>
          <p:nvPr/>
        </p:nvSpPr>
        <p:spPr>
          <a:xfrm>
            <a:off x="4800205" y="1271450"/>
            <a:ext cx="3388665"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（假设发送方设置 </a:t>
            </a:r>
            <a:r>
              <a:rPr lang="en-US" altLang="zh-CN" sz="1200" dirty="0">
                <a:latin typeface="Montserrat" panose="00000500000000000000" pitchFamily="2" charset="0"/>
                <a:ea typeface="微软雅黑 Light" panose="020B0502040204020203" pitchFamily="34" charset="-122"/>
              </a:rPr>
              <a:t>cwnd = 1 </a:t>
            </a:r>
            <a:r>
              <a:rPr lang="zh-CN" altLang="en-US" sz="1200" dirty="0">
                <a:latin typeface="Montserrat" panose="00000500000000000000" pitchFamily="2" charset="0"/>
                <a:ea typeface="微软雅黑 Light" panose="020B0502040204020203" pitchFamily="34" charset="-122"/>
              </a:rPr>
              <a:t>个 </a:t>
            </a:r>
            <a:r>
              <a:rPr lang="en-US" altLang="zh-CN" sz="1200" dirty="0">
                <a:latin typeface="Montserrat" panose="00000500000000000000" pitchFamily="2" charset="0"/>
                <a:ea typeface="微软雅黑 Light" panose="020B0502040204020203" pitchFamily="34" charset="-122"/>
              </a:rPr>
              <a:t>SMSS</a:t>
            </a:r>
            <a:r>
              <a:rPr lang="zh-CN" altLang="en-US" sz="1200" dirty="0">
                <a:latin typeface="Montserrat" panose="00000500000000000000" pitchFamily="2" charset="0"/>
                <a:ea typeface="微软雅黑 Light" panose="020B0502040204020203" pitchFamily="34" charset="-122"/>
              </a:rPr>
              <a:t>）</a:t>
            </a:r>
          </a:p>
        </p:txBody>
      </p:sp>
      <p:sp>
        <p:nvSpPr>
          <p:cNvPr id="3" name="标题 2">
            <a:extLst>
              <a:ext uri="{FF2B5EF4-FFF2-40B4-BE49-F238E27FC236}">
                <a16:creationId xmlns:a16="http://schemas.microsoft.com/office/drawing/2014/main" id="{F1D38EF7-7D0E-6ED8-1C33-57A1FF6E2D86}"/>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cxnSp>
        <p:nvCxnSpPr>
          <p:cNvPr id="14" name="连接符: 肘形 13">
            <a:extLst>
              <a:ext uri="{FF2B5EF4-FFF2-40B4-BE49-F238E27FC236}">
                <a16:creationId xmlns:a16="http://schemas.microsoft.com/office/drawing/2014/main" id="{826859FF-45E2-532D-7865-0C81A7DFA3FA}"/>
              </a:ext>
            </a:extLst>
          </p:cNvPr>
          <p:cNvCxnSpPr>
            <a:cxnSpLocks/>
            <a:stCxn id="42" idx="1"/>
          </p:cNvCxnSpPr>
          <p:nvPr/>
        </p:nvCxnSpPr>
        <p:spPr>
          <a:xfrm rot="10800000" flipH="1">
            <a:off x="2360605" y="1777248"/>
            <a:ext cx="1283300" cy="2067175"/>
          </a:xfrm>
          <a:prstGeom prst="bentConnector4">
            <a:avLst>
              <a:gd name="adj1" fmla="val -71627"/>
              <a:gd name="adj2" fmla="val 10048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 Box 155"/>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7" name="Rectangle 3"/>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8" name="Rectangle 4"/>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26" name="Line 12"/>
          <p:cNvSpPr>
            <a:spLocks noChangeShapeType="1"/>
          </p:cNvSpPr>
          <p:nvPr/>
        </p:nvSpPr>
        <p:spPr bwMode="auto">
          <a:xfrm>
            <a:off x="3613957" y="3855202"/>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p:cNvSpPr txBox="1">
            <a:spLocks noChangeArrowheads="1"/>
          </p:cNvSpPr>
          <p:nvPr/>
        </p:nvSpPr>
        <p:spPr bwMode="auto">
          <a:xfrm>
            <a:off x="5322980" y="3016431"/>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143" name="Text Box 29"/>
          <p:cNvSpPr txBox="1">
            <a:spLocks noChangeArrowheads="1"/>
          </p:cNvSpPr>
          <p:nvPr/>
        </p:nvSpPr>
        <p:spPr bwMode="auto">
          <a:xfrm>
            <a:off x="1729480" y="2734052"/>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144" name="Text Box 30"/>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p:cNvSpPr>
            <a:spLocks noChangeShapeType="1"/>
          </p:cNvSpPr>
          <p:nvPr/>
        </p:nvSpPr>
        <p:spPr bwMode="auto">
          <a:xfrm>
            <a:off x="3613957" y="339840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p:cNvSpPr txBox="1">
            <a:spLocks noChangeArrowheads="1"/>
          </p:cNvSpPr>
          <p:nvPr/>
        </p:nvSpPr>
        <p:spPr bwMode="auto">
          <a:xfrm>
            <a:off x="1729480" y="3796877"/>
            <a:ext cx="920445"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8 </a:t>
            </a:r>
          </a:p>
        </p:txBody>
      </p:sp>
      <p:sp>
        <p:nvSpPr>
          <p:cNvPr id="43" name="Text Box 40"/>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Text Box 41"/>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45" name="Text Box 42"/>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7" name="Text Box 28">
            <a:extLst>
              <a:ext uri="{FF2B5EF4-FFF2-40B4-BE49-F238E27FC236}">
                <a16:creationId xmlns:a16="http://schemas.microsoft.com/office/drawing/2014/main" id="{D226BD6E-F656-E2ED-22E3-116E5D61A75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2" name="Text Box 155">
            <a:extLst>
              <a:ext uri="{FF2B5EF4-FFF2-40B4-BE49-F238E27FC236}">
                <a16:creationId xmlns:a16="http://schemas.microsoft.com/office/drawing/2014/main" id="{648358DC-C7C1-8DED-3B22-2F7F8D7AE69F}"/>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err="1">
                <a:solidFill>
                  <a:schemeClr val="bg1"/>
                </a:solidFill>
                <a:latin typeface="Montserrat" panose="00000500000000000000" pitchFamily="2" charset="0"/>
                <a:ea typeface="微软雅黑 Light" panose="020B0502040204020203" pitchFamily="34" charset="-122"/>
              </a:rPr>
              <a:t>cwnd</a:t>
            </a:r>
            <a:r>
              <a:rPr lang="en-US" altLang="zh-CN" sz="1200" dirty="0">
                <a:solidFill>
                  <a:schemeClr val="bg1"/>
                </a:solidFill>
                <a:latin typeface="Montserrat" panose="00000500000000000000" pitchFamily="2" charset="0"/>
                <a:ea typeface="微软雅黑 Light" panose="020B0502040204020203" pitchFamily="34" charset="-122"/>
              </a:rPr>
              <a:t>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a:xfrm>
            <a:off x="486000" y="482554"/>
            <a:ext cx="8172000" cy="4120946"/>
          </a:xfrm>
        </p:spPr>
        <p:txBody>
          <a:bodyPr/>
          <a:lstStyle/>
          <a:p>
            <a:r>
              <a:rPr lang="zh-CN" altLang="en-US" dirty="0"/>
              <a:t>一个传输轮次所经历的时间其实就是往返时间 </a:t>
            </a:r>
            <a:r>
              <a:rPr lang="en-US" altLang="zh-CN" dirty="0"/>
              <a:t>RTT</a:t>
            </a:r>
            <a:r>
              <a:rPr lang="zh-CN" altLang="en-US" dirty="0"/>
              <a:t>。</a:t>
            </a:r>
          </a:p>
          <a:p>
            <a:r>
              <a:rPr lang="zh-CN" altLang="en-US" dirty="0"/>
              <a:t>传输轮次强调：把拥塞窗口 </a:t>
            </a:r>
            <a:r>
              <a:rPr lang="en-US" altLang="zh-CN" dirty="0" err="1"/>
              <a:t>cwnd</a:t>
            </a:r>
            <a:r>
              <a:rPr lang="en-US" altLang="zh-CN" dirty="0"/>
              <a:t> </a:t>
            </a:r>
            <a:r>
              <a:rPr lang="zh-CN" altLang="en-US" dirty="0"/>
              <a:t>所允许发送的报文段都连续发送出去，并收到了对已发送的最后一个字节的确认。</a:t>
            </a:r>
          </a:p>
          <a:p>
            <a:r>
              <a:rPr lang="zh-CN" altLang="en-US" dirty="0"/>
              <a:t>例如：拥塞窗口 </a:t>
            </a:r>
            <a:r>
              <a:rPr lang="en-US" altLang="zh-CN" dirty="0" err="1"/>
              <a:t>cwnd</a:t>
            </a:r>
            <a:r>
              <a:rPr lang="en-US" altLang="zh-CN" dirty="0"/>
              <a:t> = 4</a:t>
            </a:r>
            <a:r>
              <a:rPr lang="zh-CN" altLang="en-US" dirty="0"/>
              <a:t>，这时的往返时间 </a:t>
            </a:r>
            <a:r>
              <a:rPr lang="en-US" altLang="zh-CN" dirty="0"/>
              <a:t>RTT </a:t>
            </a:r>
            <a:r>
              <a:rPr lang="zh-CN" altLang="en-US" dirty="0"/>
              <a:t>就是发送方连续发送 </a:t>
            </a:r>
            <a:r>
              <a:rPr lang="en-US" altLang="zh-CN" dirty="0"/>
              <a:t>4 </a:t>
            </a:r>
            <a:r>
              <a:rPr lang="zh-CN" altLang="en-US" dirty="0"/>
              <a:t>个报文段，并收到这 </a:t>
            </a:r>
            <a:r>
              <a:rPr lang="en-US" altLang="zh-CN" dirty="0"/>
              <a:t>4 </a:t>
            </a:r>
            <a:r>
              <a:rPr lang="zh-CN" altLang="en-US" dirty="0"/>
              <a:t>个报文段的确认，总共经历的时间。 </a:t>
            </a:r>
          </a:p>
          <a:p>
            <a:endParaRPr lang="zh-CN" altLang="en-US" dirty="0"/>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2808000" y="144000"/>
            <a:ext cx="3528000" cy="338554"/>
          </a:xfrm>
        </p:spPr>
        <p:txBody>
          <a:bodyPr/>
          <a:lstStyle/>
          <a:p>
            <a:r>
              <a:rPr lang="zh-CN" altLang="en-US" dirty="0"/>
              <a:t>传输轮次（</a:t>
            </a:r>
            <a:r>
              <a:rPr lang="en-US" altLang="zh-CN" dirty="0"/>
              <a:t>transmission round</a:t>
            </a:r>
            <a:r>
              <a:rPr lang="zh-CN" altLang="en-US" dirty="0"/>
              <a:t>）</a:t>
            </a:r>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a:xfrm>
            <a:off x="486000" y="482554"/>
            <a:ext cx="8172000" cy="4120946"/>
          </a:xfrm>
        </p:spPr>
        <p:txBody>
          <a:bodyPr/>
          <a:lstStyle/>
          <a:p>
            <a:r>
              <a:rPr lang="zh-CN" altLang="en-US" dirty="0"/>
              <a:t>防止拥塞窗口 </a:t>
            </a:r>
            <a:r>
              <a:rPr lang="en-US" altLang="zh-CN" dirty="0" err="1"/>
              <a:t>cwnd</a:t>
            </a:r>
            <a:r>
              <a:rPr lang="en-US" altLang="zh-CN" dirty="0"/>
              <a:t> </a:t>
            </a:r>
            <a:r>
              <a:rPr lang="zh-CN" altLang="en-US" dirty="0"/>
              <a:t>增长过大引起网络拥塞。</a:t>
            </a:r>
            <a:endParaRPr lang="en-US" altLang="zh-CN" dirty="0"/>
          </a:p>
          <a:p>
            <a:r>
              <a:rPr lang="zh-CN" altLang="en-US" dirty="0"/>
              <a:t>用法：</a:t>
            </a:r>
          </a:p>
          <a:p>
            <a:r>
              <a:rPr lang="zh-CN" altLang="en-US" dirty="0"/>
              <a:t>当 </a:t>
            </a:r>
            <a:r>
              <a:rPr lang="en-US" altLang="zh-CN" dirty="0" err="1"/>
              <a:t>cwnd</a:t>
            </a:r>
            <a:r>
              <a:rPr lang="en-US" altLang="zh-CN" dirty="0"/>
              <a:t> &lt; </a:t>
            </a:r>
            <a:r>
              <a:rPr lang="en-US" altLang="zh-CN" dirty="0" err="1"/>
              <a:t>ssthresh</a:t>
            </a:r>
            <a:r>
              <a:rPr lang="en-US" altLang="zh-CN" dirty="0"/>
              <a:t> </a:t>
            </a:r>
            <a:r>
              <a:rPr lang="zh-CN" altLang="en-US" dirty="0"/>
              <a:t>时，使用慢开始算法。</a:t>
            </a:r>
          </a:p>
          <a:p>
            <a:r>
              <a:rPr lang="zh-CN" altLang="en-US" dirty="0"/>
              <a:t>当 </a:t>
            </a:r>
            <a:r>
              <a:rPr lang="en-US" altLang="zh-CN" dirty="0" err="1"/>
              <a:t>cwnd</a:t>
            </a:r>
            <a:r>
              <a:rPr lang="en-US" altLang="zh-CN" dirty="0"/>
              <a:t> &gt; </a:t>
            </a:r>
            <a:r>
              <a:rPr lang="en-US" altLang="zh-CN" dirty="0" err="1"/>
              <a:t>ssthresh</a:t>
            </a:r>
            <a:r>
              <a:rPr lang="en-US" altLang="zh-CN" dirty="0"/>
              <a:t> </a:t>
            </a:r>
            <a:r>
              <a:rPr lang="zh-CN" altLang="en-US" dirty="0"/>
              <a:t>时，停止使用慢开始算法，改用拥塞避免算法。</a:t>
            </a:r>
          </a:p>
          <a:p>
            <a:r>
              <a:rPr lang="zh-CN" altLang="en-US" dirty="0"/>
              <a:t>当 </a:t>
            </a:r>
            <a:r>
              <a:rPr lang="en-US" altLang="zh-CN" dirty="0" err="1"/>
              <a:t>cwnd</a:t>
            </a:r>
            <a:r>
              <a:rPr lang="en-US" altLang="zh-CN" dirty="0"/>
              <a:t> = </a:t>
            </a:r>
            <a:r>
              <a:rPr lang="en-US" altLang="zh-CN" dirty="0" err="1"/>
              <a:t>ssthresh</a:t>
            </a:r>
            <a:r>
              <a:rPr lang="en-US" altLang="zh-CN" dirty="0"/>
              <a:t> </a:t>
            </a:r>
            <a:r>
              <a:rPr lang="zh-CN" altLang="en-US" dirty="0"/>
              <a:t>时，既可使用慢开始算法，也可使用拥塞避免算法。</a:t>
            </a:r>
          </a:p>
          <a:p>
            <a:endParaRPr lang="zh-CN" altLang="en-US" dirty="0"/>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2808000" y="144000"/>
            <a:ext cx="3528000" cy="338554"/>
          </a:xfrm>
        </p:spPr>
        <p:txBody>
          <a:bodyPr/>
          <a:lstStyle/>
          <a:p>
            <a:r>
              <a:rPr lang="zh-CN" altLang="en-US" dirty="0"/>
              <a:t>慢开始门限 </a:t>
            </a:r>
            <a:r>
              <a:rPr lang="en-US" altLang="zh-CN" dirty="0" err="1"/>
              <a:t>ssthresh</a:t>
            </a:r>
            <a:endParaRPr lang="zh-CN" altLang="en-US" dirty="0"/>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a:xfrm>
            <a:off x="486000" y="482554"/>
            <a:ext cx="8172000" cy="4120946"/>
          </a:xfrm>
        </p:spPr>
        <p:txBody>
          <a:bodyPr/>
          <a:lstStyle/>
          <a:p>
            <a:r>
              <a:rPr lang="zh-CN" altLang="en-US" dirty="0"/>
              <a:t>目的：让拥塞窗口 </a:t>
            </a:r>
            <a:r>
              <a:rPr lang="en-US" altLang="zh-CN" dirty="0" err="1"/>
              <a:t>cwnd</a:t>
            </a:r>
            <a:r>
              <a:rPr lang="en-US" altLang="zh-CN" dirty="0"/>
              <a:t> </a:t>
            </a:r>
            <a:r>
              <a:rPr lang="zh-CN" altLang="en-US" dirty="0"/>
              <a:t>缓慢地增大，避免出现拥塞。</a:t>
            </a:r>
            <a:endParaRPr lang="en-US" altLang="zh-CN" dirty="0"/>
          </a:p>
          <a:p>
            <a:r>
              <a:rPr lang="zh-CN" altLang="en-US" dirty="0"/>
              <a:t>拥塞窗口 </a:t>
            </a:r>
            <a:r>
              <a:rPr lang="en-US" altLang="zh-CN" dirty="0" err="1"/>
              <a:t>cwnd</a:t>
            </a:r>
            <a:r>
              <a:rPr lang="en-US" altLang="zh-CN" dirty="0"/>
              <a:t> </a:t>
            </a:r>
            <a:r>
              <a:rPr lang="zh-CN" altLang="en-US" dirty="0"/>
              <a:t>增大：每经过一个往返时间 </a:t>
            </a:r>
            <a:r>
              <a:rPr lang="en-US" altLang="zh-CN" dirty="0"/>
              <a:t>RTT</a:t>
            </a:r>
            <a:r>
              <a:rPr lang="zh-CN" altLang="en-US" dirty="0"/>
              <a:t>（不管在此期间收到了多少确认），发送方的拥塞窗口 </a:t>
            </a:r>
            <a:r>
              <a:rPr lang="en-US" altLang="zh-CN" dirty="0" err="1"/>
              <a:t>cwnd</a:t>
            </a:r>
            <a:r>
              <a:rPr lang="en-US" altLang="zh-CN" dirty="0"/>
              <a:t> = </a:t>
            </a:r>
            <a:r>
              <a:rPr lang="en-US" altLang="zh-CN" dirty="0" err="1"/>
              <a:t>cwnd</a:t>
            </a:r>
            <a:r>
              <a:rPr lang="en-US" altLang="zh-CN" dirty="0"/>
              <a:t> + 1</a:t>
            </a:r>
            <a:r>
              <a:rPr lang="zh-CN" altLang="en-US" dirty="0"/>
              <a:t>。</a:t>
            </a:r>
            <a:endParaRPr lang="en-US" altLang="zh-CN" dirty="0"/>
          </a:p>
          <a:p>
            <a:r>
              <a:rPr lang="zh-CN" altLang="en-US" dirty="0"/>
              <a:t>具有加法增大 </a:t>
            </a:r>
            <a:r>
              <a:rPr lang="en-US" altLang="zh-CN" dirty="0"/>
              <a:t>AI</a:t>
            </a:r>
            <a:r>
              <a:rPr lang="zh-CN" altLang="en-US" dirty="0"/>
              <a:t> </a:t>
            </a:r>
            <a:r>
              <a:rPr lang="en-US" altLang="zh-CN" dirty="0"/>
              <a:t>(Additive Increase) </a:t>
            </a:r>
            <a:r>
              <a:rPr lang="zh-CN" altLang="en-US" dirty="0"/>
              <a:t>特点：使拥塞窗口 </a:t>
            </a:r>
            <a:r>
              <a:rPr lang="en-US" altLang="zh-CN" dirty="0" err="1"/>
              <a:t>cwnd</a:t>
            </a:r>
            <a:r>
              <a:rPr lang="en-US" altLang="zh-CN" dirty="0"/>
              <a:t> </a:t>
            </a:r>
            <a:r>
              <a:rPr lang="zh-CN" altLang="en-US" dirty="0"/>
              <a:t>按线性规律缓慢增长。</a:t>
            </a:r>
          </a:p>
          <a:p>
            <a:endParaRPr lang="zh-CN" altLang="en-US" dirty="0"/>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2808000" y="144000"/>
            <a:ext cx="3528000" cy="338554"/>
          </a:xfrm>
        </p:spPr>
        <p:txBody>
          <a:bodyPr/>
          <a:lstStyle/>
          <a:p>
            <a:r>
              <a:rPr lang="en-US" altLang="zh-CN" dirty="0"/>
              <a:t>2. </a:t>
            </a:r>
            <a:r>
              <a:rPr lang="zh-CN" altLang="en-US" dirty="0"/>
              <a:t>拥塞避免</a:t>
            </a:r>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E726A29-6B44-8912-798E-303AFA03E364}"/>
              </a:ext>
            </a:extLst>
          </p:cNvPr>
          <p:cNvSpPr>
            <a:spLocks noChangeArrowheads="1"/>
          </p:cNvSpPr>
          <p:nvPr/>
        </p:nvSpPr>
        <p:spPr bwMode="auto">
          <a:xfrm>
            <a:off x="3613957" y="2904955"/>
            <a:ext cx="3600000" cy="742805"/>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5" name="Rectangle 4">
            <a:extLst>
              <a:ext uri="{FF2B5EF4-FFF2-40B4-BE49-F238E27FC236}">
                <a16:creationId xmlns:a16="http://schemas.microsoft.com/office/drawing/2014/main" id="{50ECC536-9AF2-70BF-0247-7069CFF1F643}"/>
              </a:ext>
            </a:extLst>
          </p:cNvPr>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6" name="Text Box 5">
            <a:extLst>
              <a:ext uri="{FF2B5EF4-FFF2-40B4-BE49-F238E27FC236}">
                <a16:creationId xmlns:a16="http://schemas.microsoft.com/office/drawing/2014/main" id="{3344078A-A3FF-351A-6799-D3F2DBF36CDB}"/>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 name="Text Box 6">
            <a:extLst>
              <a:ext uri="{FF2B5EF4-FFF2-40B4-BE49-F238E27FC236}">
                <a16:creationId xmlns:a16="http://schemas.microsoft.com/office/drawing/2014/main" id="{66DD75BA-918C-ACC0-685E-C4CE4C1F92D6}"/>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 name="Text Box 7">
            <a:extLst>
              <a:ext uri="{FF2B5EF4-FFF2-40B4-BE49-F238E27FC236}">
                <a16:creationId xmlns:a16="http://schemas.microsoft.com/office/drawing/2014/main" id="{AD97A86B-840E-2C8A-3ADD-34B02A059834}"/>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9" name="Line 8">
            <a:extLst>
              <a:ext uri="{FF2B5EF4-FFF2-40B4-BE49-F238E27FC236}">
                <a16:creationId xmlns:a16="http://schemas.microsoft.com/office/drawing/2014/main" id="{3BDC03A7-7DA9-5C11-0151-768C4F76E12D}"/>
              </a:ext>
            </a:extLst>
          </p:cNvPr>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Line 9">
            <a:extLst>
              <a:ext uri="{FF2B5EF4-FFF2-40B4-BE49-F238E27FC236}">
                <a16:creationId xmlns:a16="http://schemas.microsoft.com/office/drawing/2014/main" id="{86D27867-74A9-4834-865A-1ED7946A02C1}"/>
              </a:ext>
            </a:extLst>
          </p:cNvPr>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 name="Line 10">
            <a:extLst>
              <a:ext uri="{FF2B5EF4-FFF2-40B4-BE49-F238E27FC236}">
                <a16:creationId xmlns:a16="http://schemas.microsoft.com/office/drawing/2014/main" id="{B6BBDAC5-D1EE-7347-E9C4-ABA4D7CAD105}"/>
              </a:ext>
            </a:extLst>
          </p:cNvPr>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 name="Text Box 11">
            <a:extLst>
              <a:ext uri="{FF2B5EF4-FFF2-40B4-BE49-F238E27FC236}">
                <a16:creationId xmlns:a16="http://schemas.microsoft.com/office/drawing/2014/main" id="{045C86C1-8C6C-8F11-F8F0-354CCE44AB47}"/>
              </a:ext>
            </a:extLst>
          </p:cNvPr>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 name="Line 12">
            <a:extLst>
              <a:ext uri="{FF2B5EF4-FFF2-40B4-BE49-F238E27FC236}">
                <a16:creationId xmlns:a16="http://schemas.microsoft.com/office/drawing/2014/main" id="{BF005F77-3F5B-2760-F855-2D8A3993CC0A}"/>
              </a:ext>
            </a:extLst>
          </p:cNvPr>
          <p:cNvSpPr>
            <a:spLocks noChangeShapeType="1"/>
          </p:cNvSpPr>
          <p:nvPr/>
        </p:nvSpPr>
        <p:spPr bwMode="auto">
          <a:xfrm>
            <a:off x="3613957" y="372554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 name="Line 13">
            <a:extLst>
              <a:ext uri="{FF2B5EF4-FFF2-40B4-BE49-F238E27FC236}">
                <a16:creationId xmlns:a16="http://schemas.microsoft.com/office/drawing/2014/main" id="{FDC25AC4-2865-625A-FD86-42C8E59FA2A0}"/>
              </a:ext>
            </a:extLst>
          </p:cNvPr>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 name="Line 15">
            <a:extLst>
              <a:ext uri="{FF2B5EF4-FFF2-40B4-BE49-F238E27FC236}">
                <a16:creationId xmlns:a16="http://schemas.microsoft.com/office/drawing/2014/main" id="{9E829163-7B9F-DD25-CD9A-331FC3AA05C4}"/>
              </a:ext>
            </a:extLst>
          </p:cNvPr>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6" name="Line 16">
            <a:extLst>
              <a:ext uri="{FF2B5EF4-FFF2-40B4-BE49-F238E27FC236}">
                <a16:creationId xmlns:a16="http://schemas.microsoft.com/office/drawing/2014/main" id="{50F19E67-601C-98C0-92F0-81663A0908E2}"/>
              </a:ext>
            </a:extLst>
          </p:cNvPr>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7" name="Text Box 17">
            <a:extLst>
              <a:ext uri="{FF2B5EF4-FFF2-40B4-BE49-F238E27FC236}">
                <a16:creationId xmlns:a16="http://schemas.microsoft.com/office/drawing/2014/main" id="{FFA6B4B6-9CC0-68D3-1941-030FFC02B8B2}"/>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8" name="Line 18">
            <a:extLst>
              <a:ext uri="{FF2B5EF4-FFF2-40B4-BE49-F238E27FC236}">
                <a16:creationId xmlns:a16="http://schemas.microsoft.com/office/drawing/2014/main" id="{03B7D948-3DA5-B5BB-CCB5-0F21D5D8F3B5}"/>
              </a:ext>
            </a:extLst>
          </p:cNvPr>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9" name="Text Box 19">
            <a:extLst>
              <a:ext uri="{FF2B5EF4-FFF2-40B4-BE49-F238E27FC236}">
                <a16:creationId xmlns:a16="http://schemas.microsoft.com/office/drawing/2014/main" id="{B126D505-BAAF-AF9A-F56B-41B5428D3581}"/>
              </a:ext>
            </a:extLst>
          </p:cNvPr>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0" name="Line 20">
            <a:extLst>
              <a:ext uri="{FF2B5EF4-FFF2-40B4-BE49-F238E27FC236}">
                <a16:creationId xmlns:a16="http://schemas.microsoft.com/office/drawing/2014/main" id="{778936B2-01AC-37CF-DACD-EBD0CD723803}"/>
              </a:ext>
            </a:extLst>
          </p:cNvPr>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1" name="Line 21">
            <a:extLst>
              <a:ext uri="{FF2B5EF4-FFF2-40B4-BE49-F238E27FC236}">
                <a16:creationId xmlns:a16="http://schemas.microsoft.com/office/drawing/2014/main" id="{BD6711AE-1254-1648-70B5-348465E26F74}"/>
              </a:ext>
            </a:extLst>
          </p:cNvPr>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Text Box 22">
            <a:extLst>
              <a:ext uri="{FF2B5EF4-FFF2-40B4-BE49-F238E27FC236}">
                <a16:creationId xmlns:a16="http://schemas.microsoft.com/office/drawing/2014/main" id="{E356FD9A-893B-6474-FF75-360080B1AF36}"/>
              </a:ext>
            </a:extLst>
          </p:cNvPr>
          <p:cNvSpPr txBox="1">
            <a:spLocks noChangeArrowheads="1"/>
          </p:cNvSpPr>
          <p:nvPr/>
        </p:nvSpPr>
        <p:spPr bwMode="auto">
          <a:xfrm>
            <a:off x="2568478" y="2734052"/>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23" name="Text Box 23">
            <a:extLst>
              <a:ext uri="{FF2B5EF4-FFF2-40B4-BE49-F238E27FC236}">
                <a16:creationId xmlns:a16="http://schemas.microsoft.com/office/drawing/2014/main" id="{94826B90-6A69-DF62-FE50-BA49FE60B1CB}"/>
              </a:ext>
            </a:extLst>
          </p:cNvPr>
          <p:cNvSpPr txBox="1">
            <a:spLocks noChangeArrowheads="1"/>
          </p:cNvSpPr>
          <p:nvPr/>
        </p:nvSpPr>
        <p:spPr bwMode="auto">
          <a:xfrm>
            <a:off x="5322980" y="3016431"/>
            <a:ext cx="11128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4" name="Line 24">
            <a:extLst>
              <a:ext uri="{FF2B5EF4-FFF2-40B4-BE49-F238E27FC236}">
                <a16:creationId xmlns:a16="http://schemas.microsoft.com/office/drawing/2014/main" id="{A73A5FD9-18EE-1E90-B7FC-C5B138866081}"/>
              </a:ext>
            </a:extLst>
          </p:cNvPr>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5" name="Line 25">
            <a:extLst>
              <a:ext uri="{FF2B5EF4-FFF2-40B4-BE49-F238E27FC236}">
                <a16:creationId xmlns:a16="http://schemas.microsoft.com/office/drawing/2014/main" id="{1021ECF0-B03F-5BBF-D029-72F1D931012A}"/>
              </a:ext>
            </a:extLst>
          </p:cNvPr>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E5CC01CD-22DB-90DB-85E5-3A6E6C4EDC02}"/>
              </a:ext>
            </a:extLst>
          </p:cNvPr>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28" name="Text Box 29">
            <a:extLst>
              <a:ext uri="{FF2B5EF4-FFF2-40B4-BE49-F238E27FC236}">
                <a16:creationId xmlns:a16="http://schemas.microsoft.com/office/drawing/2014/main" id="{9B7D22D6-2DA2-7989-7BED-56B6D342BB8F}"/>
              </a:ext>
            </a:extLst>
          </p:cNvPr>
          <p:cNvSpPr txBox="1">
            <a:spLocks noChangeArrowheads="1"/>
          </p:cNvSpPr>
          <p:nvPr/>
        </p:nvSpPr>
        <p:spPr bwMode="auto">
          <a:xfrm>
            <a:off x="1729480" y="2734052"/>
            <a:ext cx="909223"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3 </a:t>
            </a:r>
          </a:p>
        </p:txBody>
      </p:sp>
      <p:sp>
        <p:nvSpPr>
          <p:cNvPr id="29" name="Text Box 30">
            <a:extLst>
              <a:ext uri="{FF2B5EF4-FFF2-40B4-BE49-F238E27FC236}">
                <a16:creationId xmlns:a16="http://schemas.microsoft.com/office/drawing/2014/main" id="{11DEA278-582E-7CF1-41A9-27939BFCD747}"/>
              </a:ext>
            </a:extLst>
          </p:cNvPr>
          <p:cNvSpPr txBox="1">
            <a:spLocks noChangeArrowheads="1"/>
          </p:cNvSpPr>
          <p:nvPr/>
        </p:nvSpPr>
        <p:spPr bwMode="auto">
          <a:xfrm>
            <a:off x="2533212" y="3667221"/>
            <a:ext cx="10807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10</a:t>
            </a:r>
          </a:p>
        </p:txBody>
      </p:sp>
      <p:sp>
        <p:nvSpPr>
          <p:cNvPr id="30" name="Text Box 32">
            <a:extLst>
              <a:ext uri="{FF2B5EF4-FFF2-40B4-BE49-F238E27FC236}">
                <a16:creationId xmlns:a16="http://schemas.microsoft.com/office/drawing/2014/main" id="{3C95150C-C5ED-6A9A-78DF-57D09F65C53F}"/>
              </a:ext>
            </a:extLst>
          </p:cNvPr>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31" name="Line 33">
            <a:extLst>
              <a:ext uri="{FF2B5EF4-FFF2-40B4-BE49-F238E27FC236}">
                <a16:creationId xmlns:a16="http://schemas.microsoft.com/office/drawing/2014/main" id="{7E2FF849-5151-E0CF-8D05-8C89140BCB47}"/>
              </a:ext>
            </a:extLst>
          </p:cNvPr>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58C9076A-1C96-1703-31C4-784705013F59}"/>
              </a:ext>
            </a:extLst>
          </p:cNvPr>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3" name="Line 35">
            <a:extLst>
              <a:ext uri="{FF2B5EF4-FFF2-40B4-BE49-F238E27FC236}">
                <a16:creationId xmlns:a16="http://schemas.microsoft.com/office/drawing/2014/main" id="{1C2FA6EF-7724-227A-2A6E-D60A4082B8F9}"/>
              </a:ext>
            </a:extLst>
          </p:cNvPr>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5" name="Text Box 29">
            <a:extLst>
              <a:ext uri="{FF2B5EF4-FFF2-40B4-BE49-F238E27FC236}">
                <a16:creationId xmlns:a16="http://schemas.microsoft.com/office/drawing/2014/main" id="{722A49B8-7141-0D9C-9E46-13F43A7D4B51}"/>
              </a:ext>
            </a:extLst>
          </p:cNvPr>
          <p:cNvSpPr txBox="1">
            <a:spLocks noChangeArrowheads="1"/>
          </p:cNvSpPr>
          <p:nvPr/>
        </p:nvSpPr>
        <p:spPr bwMode="auto">
          <a:xfrm>
            <a:off x="1729480" y="3667221"/>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36" name="Text Box 40">
            <a:extLst>
              <a:ext uri="{FF2B5EF4-FFF2-40B4-BE49-F238E27FC236}">
                <a16:creationId xmlns:a16="http://schemas.microsoft.com/office/drawing/2014/main" id="{02941E61-3BD5-EC48-03CB-C6D0A15E9548}"/>
              </a:ext>
            </a:extLst>
          </p:cNvPr>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Text Box 41">
            <a:extLst>
              <a:ext uri="{FF2B5EF4-FFF2-40B4-BE49-F238E27FC236}">
                <a16:creationId xmlns:a16="http://schemas.microsoft.com/office/drawing/2014/main" id="{8D1EBEEB-0E61-8856-4A93-482724586048}"/>
              </a:ext>
            </a:extLst>
          </p:cNvPr>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38" name="Text Box 42">
            <a:extLst>
              <a:ext uri="{FF2B5EF4-FFF2-40B4-BE49-F238E27FC236}">
                <a16:creationId xmlns:a16="http://schemas.microsoft.com/office/drawing/2014/main" id="{7F99B511-54C8-E195-2DED-F348AB011E84}"/>
              </a:ext>
            </a:extLst>
          </p:cNvPr>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39" name="Text Box 28">
            <a:extLst>
              <a:ext uri="{FF2B5EF4-FFF2-40B4-BE49-F238E27FC236}">
                <a16:creationId xmlns:a16="http://schemas.microsoft.com/office/drawing/2014/main" id="{C633C733-9D92-F871-E60F-E52BA3C94C2D}"/>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40" name="Text Box 155">
            <a:extLst>
              <a:ext uri="{FF2B5EF4-FFF2-40B4-BE49-F238E27FC236}">
                <a16:creationId xmlns:a16="http://schemas.microsoft.com/office/drawing/2014/main" id="{8F771EAA-3ACD-5A31-83B7-0C1473164D10}"/>
              </a:ext>
            </a:extLst>
          </p:cNvPr>
          <p:cNvSpPr txBox="1">
            <a:spLocks noChangeArrowheads="1"/>
          </p:cNvSpPr>
          <p:nvPr/>
        </p:nvSpPr>
        <p:spPr bwMode="auto">
          <a:xfrm>
            <a:off x="1659118" y="642816"/>
            <a:ext cx="5910606" cy="282641"/>
          </a:xfrm>
          <a:prstGeom prst="rect">
            <a:avLst/>
          </a:prstGeom>
          <a:solidFill>
            <a:srgbClr val="000099"/>
          </a:solidFill>
          <a:ln w="9525">
            <a:noFill/>
            <a:miter lim="800000"/>
            <a:headEnd/>
            <a:tailEnd/>
          </a:ln>
          <a:effectLst/>
        </p:spPr>
        <p:txBody>
          <a:bodyPr wrap="square">
            <a:spAutoFit/>
          </a:bodyPr>
          <a:lstStyle>
            <a:defPPr>
              <a:defRPr lang="zh-CN"/>
            </a:defPPr>
            <a:lvl1pPr algn="ctr">
              <a:lnSpc>
                <a:spcPct val="110000"/>
              </a:lnSpc>
              <a:defRPr sz="1200">
                <a:solidFill>
                  <a:schemeClr val="bg1"/>
                </a:solidFill>
                <a:latin typeface="Montserrat" panose="00000500000000000000" pitchFamily="2" charset="0"/>
                <a:ea typeface="微软雅黑 Light" panose="020B0502040204020203" pitchFamily="34" charset="-122"/>
              </a:defRPr>
            </a:lvl1pPr>
          </a:lstStyle>
          <a:p>
            <a:r>
              <a:rPr lang="zh-CN" altLang="en-US" dirty="0"/>
              <a:t>每经过一个往返时间 </a:t>
            </a:r>
            <a:r>
              <a:rPr lang="en-US" altLang="zh-CN" dirty="0"/>
              <a:t>RTT</a:t>
            </a:r>
            <a:r>
              <a:rPr lang="zh-CN" altLang="en-US" dirty="0"/>
              <a:t>，发送方就把拥塞窗口 </a:t>
            </a:r>
            <a:r>
              <a:rPr lang="en-US" altLang="zh-CN" dirty="0"/>
              <a:t>cwnd </a:t>
            </a:r>
            <a:r>
              <a:rPr lang="zh-CN" altLang="en-US" dirty="0"/>
              <a:t>加 </a:t>
            </a:r>
            <a:r>
              <a:rPr lang="en-US" altLang="zh-CN" dirty="0"/>
              <a:t>1</a:t>
            </a:r>
            <a:r>
              <a:rPr lang="zh-CN" altLang="en-US" dirty="0"/>
              <a:t>。 </a:t>
            </a:r>
          </a:p>
        </p:txBody>
      </p:sp>
    </p:spTree>
    <p:extLst>
      <p:ext uri="{BB962C8B-B14F-4D97-AF65-F5344CB8AC3E}">
        <p14:creationId xmlns:p14="http://schemas.microsoft.com/office/powerpoint/2010/main" val="10009050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38"/>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37"/>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37" grpId="0"/>
      <p:bldP spid="38" grpId="0"/>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983B389-E38D-BE4A-32AC-05557FA075A6}"/>
              </a:ext>
            </a:extLst>
          </p:cNvPr>
          <p:cNvSpPr>
            <a:spLocks noGrp="1"/>
          </p:cNvSpPr>
          <p:nvPr>
            <p:ph sz="quarter" idx="11"/>
          </p:nvPr>
        </p:nvSpPr>
        <p:spPr>
          <a:xfrm>
            <a:off x="486000" y="482554"/>
            <a:ext cx="8172000" cy="4120946"/>
          </a:xfrm>
        </p:spPr>
        <p:txBody>
          <a:bodyPr/>
          <a:lstStyle/>
          <a:p>
            <a:r>
              <a:rPr lang="zh-CN" altLang="en-US" dirty="0"/>
              <a:t>无论在慢开始阶段还是在拥塞避免阶段，只要发送方判断网络出现拥塞（重传定时器超时）：</a:t>
            </a:r>
          </a:p>
          <a:p>
            <a:pPr lvl="1"/>
            <a:r>
              <a:rPr lang="en-US" altLang="zh-CN" dirty="0" err="1"/>
              <a:t>ssthresh</a:t>
            </a:r>
            <a:r>
              <a:rPr lang="en-US" altLang="zh-CN" dirty="0"/>
              <a:t> = max (</a:t>
            </a:r>
            <a:r>
              <a:rPr lang="en-US" altLang="zh-CN" dirty="0" err="1"/>
              <a:t>cwnd</a:t>
            </a:r>
            <a:r>
              <a:rPr lang="en-US" altLang="zh-CN" dirty="0"/>
              <a:t>/2</a:t>
            </a:r>
            <a:r>
              <a:rPr lang="zh-CN" altLang="en-US" dirty="0"/>
              <a:t>，</a:t>
            </a:r>
            <a:r>
              <a:rPr lang="en-US" altLang="zh-CN" dirty="0"/>
              <a:t>2)</a:t>
            </a:r>
          </a:p>
          <a:p>
            <a:pPr lvl="1"/>
            <a:r>
              <a:rPr lang="en-US" altLang="zh-CN" dirty="0" err="1"/>
              <a:t>cwnd</a:t>
            </a:r>
            <a:r>
              <a:rPr lang="en-US" altLang="zh-CN" dirty="0"/>
              <a:t> = 1</a:t>
            </a:r>
          </a:p>
          <a:p>
            <a:pPr lvl="1"/>
            <a:r>
              <a:rPr lang="zh-CN" altLang="en-US" dirty="0"/>
              <a:t>执行慢开始算法</a:t>
            </a:r>
          </a:p>
          <a:p>
            <a:r>
              <a:rPr lang="zh-CN" altLang="en-US" dirty="0"/>
              <a:t>目的：迅速减少主机发送到网络中的分组数，使得发生拥塞的路由器有足够时间把队列中积压的分组处理完毕。 </a:t>
            </a:r>
          </a:p>
          <a:p>
            <a:endParaRPr lang="zh-CN" altLang="en-US" dirty="0"/>
          </a:p>
        </p:txBody>
      </p:sp>
      <p:sp>
        <p:nvSpPr>
          <p:cNvPr id="2" name="标题 1">
            <a:extLst>
              <a:ext uri="{FF2B5EF4-FFF2-40B4-BE49-F238E27FC236}">
                <a16:creationId xmlns:a16="http://schemas.microsoft.com/office/drawing/2014/main" id="{3BB718E9-CFD1-EF48-7320-866540EC23D3}"/>
              </a:ext>
            </a:extLst>
          </p:cNvPr>
          <p:cNvSpPr>
            <a:spLocks noGrp="1"/>
          </p:cNvSpPr>
          <p:nvPr>
            <p:ph type="title"/>
          </p:nvPr>
        </p:nvSpPr>
        <p:spPr>
          <a:xfrm>
            <a:off x="2808000" y="144000"/>
            <a:ext cx="3528000" cy="338554"/>
          </a:xfrm>
        </p:spPr>
        <p:txBody>
          <a:bodyPr/>
          <a:lstStyle/>
          <a:p>
            <a:r>
              <a:rPr lang="zh-CN" altLang="en-US"/>
              <a:t>当网络出现拥塞时</a:t>
            </a:r>
            <a:endParaRPr lang="zh-CN" altLang="en-US" dirty="0"/>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 name="标题 1">
            <a:extLst>
              <a:ext uri="{FF2B5EF4-FFF2-40B4-BE49-F238E27FC236}">
                <a16:creationId xmlns:a16="http://schemas.microsoft.com/office/drawing/2014/main" id="{3A1F63B5-2F2A-459B-5352-943DCBE5B957}"/>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9BE35F-D1C3-2411-6F72-DC0A252AFD9B}"/>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A1F374F8-EA85-B314-D0F0-96E3C1A781D4}"/>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CD88A09C-5201-6E5B-0478-4D168B78C294}"/>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D4AC7CA-8C6A-A7E1-E10B-C21D5CC4B3D9}"/>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3" name="标题 2">
            <a:extLst>
              <a:ext uri="{FF2B5EF4-FFF2-40B4-BE49-F238E27FC236}">
                <a16:creationId xmlns:a16="http://schemas.microsoft.com/office/drawing/2014/main" id="{5B70A799-DB1A-60A3-A65F-6B258813BA21}"/>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369E398E-F377-439A-28A3-20DDADF7533C}"/>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 name="标题 1">
            <a:extLst>
              <a:ext uri="{FF2B5EF4-FFF2-40B4-BE49-F238E27FC236}">
                <a16:creationId xmlns:a16="http://schemas.microsoft.com/office/drawing/2014/main" id="{5A3C3EBF-CE3A-9BAF-F0A6-9A32B753E69C}"/>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67C52BE-6B3E-97A7-F652-F86B0174BB33}"/>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C816E65-F579-7033-0EE5-516B57D0BD7A}"/>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a:xfrm>
            <a:off x="486000" y="482554"/>
            <a:ext cx="8172000" cy="4120946"/>
          </a:xfrm>
        </p:spPr>
        <p:txBody>
          <a:bodyPr/>
          <a:lstStyle/>
          <a:p>
            <a:r>
              <a:rPr lang="zh-CN" altLang="en-US" dirty="0"/>
              <a:t>目的：让发送方尽早知道发生了个别报文段的丢失。</a:t>
            </a:r>
            <a:endParaRPr lang="en-US" altLang="zh-CN" dirty="0"/>
          </a:p>
          <a:p>
            <a:r>
              <a:rPr lang="zh-CN" altLang="en-US" dirty="0"/>
              <a:t>发送方只要连续收到三个重复的确认，就立即进行重传（即“快重传”），这样就不会出现超时。</a:t>
            </a:r>
          </a:p>
          <a:p>
            <a:r>
              <a:rPr lang="zh-CN" altLang="en-US" dirty="0"/>
              <a:t>使用快重传可以使整个网络的吞吐量提高约 </a:t>
            </a:r>
            <a:r>
              <a:rPr lang="en-US" altLang="zh-CN" dirty="0"/>
              <a:t>20%</a:t>
            </a:r>
            <a:r>
              <a:rPr lang="zh-CN" altLang="en-US" dirty="0"/>
              <a:t>。</a:t>
            </a:r>
            <a:endParaRPr lang="en-US" altLang="zh-CN" dirty="0"/>
          </a:p>
          <a:p>
            <a:r>
              <a:rPr lang="zh-CN" altLang="en-US" dirty="0"/>
              <a:t>快重传算法要求接收方立即发送确认，即使收到了失序的报文段，也要立即发出对已收到的报文段的重复确认。</a:t>
            </a:r>
          </a:p>
          <a:p>
            <a:endParaRPr lang="zh-CN" altLang="en-US" dirty="0"/>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2808000" y="144000"/>
            <a:ext cx="3528000" cy="338554"/>
          </a:xfrm>
        </p:spPr>
        <p:txBody>
          <a:bodyPr/>
          <a:lstStyle/>
          <a:p>
            <a:r>
              <a:rPr lang="zh-CN" altLang="en-US" dirty="0"/>
              <a:t>快重传</a:t>
            </a:r>
            <a:r>
              <a:rPr lang="en-US" altLang="zh-CN" dirty="0"/>
              <a:t> Fast Retransmission</a:t>
            </a:r>
            <a:endParaRPr lang="zh-CN" altLang="en-US" dirty="0"/>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0" name="Text Box 5"/>
          <p:cNvSpPr txBox="1">
            <a:spLocks noChangeArrowheads="1"/>
          </p:cNvSpPr>
          <p:nvPr/>
        </p:nvSpPr>
        <p:spPr bwMode="auto">
          <a:xfrm>
            <a:off x="3776205" y="1332324"/>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81" name="Line 6"/>
          <p:cNvSpPr>
            <a:spLocks noChangeShapeType="1"/>
          </p:cNvSpPr>
          <p:nvPr/>
        </p:nvSpPr>
        <p:spPr bwMode="auto">
          <a:xfrm>
            <a:off x="4493304" y="1492800"/>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2" name="Line 7"/>
          <p:cNvSpPr>
            <a:spLocks noChangeShapeType="1"/>
          </p:cNvSpPr>
          <p:nvPr/>
        </p:nvSpPr>
        <p:spPr bwMode="auto">
          <a:xfrm flipH="1">
            <a:off x="4493304" y="1773888"/>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3" name="Text Box 8"/>
          <p:cNvSpPr txBox="1">
            <a:spLocks noChangeArrowheads="1"/>
          </p:cNvSpPr>
          <p:nvPr/>
        </p:nvSpPr>
        <p:spPr bwMode="auto">
          <a:xfrm>
            <a:off x="6617310" y="165736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6" name="Line 11"/>
          <p:cNvSpPr>
            <a:spLocks noChangeShapeType="1"/>
          </p:cNvSpPr>
          <p:nvPr/>
        </p:nvSpPr>
        <p:spPr bwMode="auto">
          <a:xfrm>
            <a:off x="4493304" y="1393652"/>
            <a:ext cx="0" cy="288000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7" name="Line 12"/>
          <p:cNvSpPr>
            <a:spLocks noChangeShapeType="1"/>
          </p:cNvSpPr>
          <p:nvPr/>
        </p:nvSpPr>
        <p:spPr bwMode="auto">
          <a:xfrm>
            <a:off x="6682727" y="1393652"/>
            <a:ext cx="0" cy="288000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p>
        </p:txBody>
      </p:sp>
      <p:sp>
        <p:nvSpPr>
          <p:cNvPr id="96" name="Line 21"/>
          <p:cNvSpPr>
            <a:spLocks noChangeShapeType="1"/>
          </p:cNvSpPr>
          <p:nvPr/>
        </p:nvSpPr>
        <p:spPr bwMode="auto">
          <a:xfrm>
            <a:off x="4493304" y="2512896"/>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0" name="Line 15"/>
          <p:cNvSpPr>
            <a:spLocks noChangeShapeType="1"/>
          </p:cNvSpPr>
          <p:nvPr/>
        </p:nvSpPr>
        <p:spPr bwMode="auto">
          <a:xfrm flipH="1">
            <a:off x="4493304" y="2783762"/>
            <a:ext cx="2189423" cy="20033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0" name="Text Box 25"/>
          <p:cNvSpPr txBox="1">
            <a:spLocks noChangeArrowheads="1"/>
          </p:cNvSpPr>
          <p:nvPr/>
        </p:nvSpPr>
        <p:spPr bwMode="auto">
          <a:xfrm>
            <a:off x="6617310" y="259671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1" name="Line 16"/>
          <p:cNvSpPr>
            <a:spLocks noChangeShapeType="1"/>
          </p:cNvSpPr>
          <p:nvPr/>
        </p:nvSpPr>
        <p:spPr bwMode="auto">
          <a:xfrm flipH="1">
            <a:off x="4493304" y="3118002"/>
            <a:ext cx="2189423" cy="202384"/>
          </a:xfrm>
          <a:prstGeom prst="line">
            <a:avLst/>
          </a:prstGeom>
          <a:noFill/>
          <a:ln w="28575">
            <a:solidFill>
              <a:srgbClr val="FFC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2" name="Line 17"/>
          <p:cNvSpPr>
            <a:spLocks noChangeShapeType="1"/>
          </p:cNvSpPr>
          <p:nvPr/>
        </p:nvSpPr>
        <p:spPr bwMode="auto">
          <a:xfrm flipH="1">
            <a:off x="4493304" y="3452241"/>
            <a:ext cx="2189423" cy="203406"/>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07" name="Line 32"/>
          <p:cNvSpPr>
            <a:spLocks noChangeShapeType="1"/>
          </p:cNvSpPr>
          <p:nvPr/>
        </p:nvSpPr>
        <p:spPr bwMode="auto">
          <a:xfrm>
            <a:off x="4497392" y="3520725"/>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grpSp>
        <p:nvGrpSpPr>
          <p:cNvPr id="109" name="Group 34"/>
          <p:cNvGrpSpPr>
            <a:grpSpLocks/>
          </p:cNvGrpSpPr>
          <p:nvPr/>
        </p:nvGrpSpPr>
        <p:grpSpPr bwMode="auto">
          <a:xfrm>
            <a:off x="41911" y="2804966"/>
            <a:ext cx="2715220" cy="830998"/>
            <a:chOff x="91" y="2556"/>
            <a:chExt cx="2487" cy="813"/>
          </a:xfrm>
        </p:grpSpPr>
        <p:sp>
          <p:nvSpPr>
            <p:cNvPr id="114" name="Line 38"/>
            <p:cNvSpPr>
              <a:spLocks noChangeShapeType="1"/>
            </p:cNvSpPr>
            <p:nvPr/>
          </p:nvSpPr>
          <p:spPr bwMode="auto">
            <a:xfrm>
              <a:off x="1919" y="3270"/>
              <a:ext cx="659"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p>
        </p:txBody>
      </p:sp>
      <p:sp>
        <p:nvSpPr>
          <p:cNvPr id="117" name="Line 42"/>
          <p:cNvSpPr>
            <a:spLocks noChangeShapeType="1"/>
          </p:cNvSpPr>
          <p:nvPr/>
        </p:nvSpPr>
        <p:spPr bwMode="auto">
          <a:xfrm>
            <a:off x="4493304" y="1843394"/>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15" name="AutoShape 40"/>
          <p:cNvSpPr>
            <a:spLocks noChangeArrowheads="1"/>
          </p:cNvSpPr>
          <p:nvPr/>
        </p:nvSpPr>
        <p:spPr bwMode="auto">
          <a:xfrm>
            <a:off x="5615613" y="1938453"/>
            <a:ext cx="561154" cy="706298"/>
          </a:xfrm>
          <a:prstGeom prst="irregularSeal1">
            <a:avLst/>
          </a:prstGeom>
          <a:solidFill>
            <a:srgbClr val="C00000"/>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5</a:t>
            </a:r>
          </a:p>
        </p:txBody>
      </p:sp>
      <p:sp>
        <p:nvSpPr>
          <p:cNvPr id="119" name="Line 44"/>
          <p:cNvSpPr>
            <a:spLocks noChangeShapeType="1"/>
          </p:cNvSpPr>
          <p:nvPr/>
        </p:nvSpPr>
        <p:spPr bwMode="auto">
          <a:xfrm>
            <a:off x="4497392" y="2848157"/>
            <a:ext cx="2188400" cy="20340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120" name="Line 45"/>
          <p:cNvSpPr>
            <a:spLocks noChangeShapeType="1"/>
          </p:cNvSpPr>
          <p:nvPr/>
        </p:nvSpPr>
        <p:spPr bwMode="auto">
          <a:xfrm>
            <a:off x="4497392" y="3184441"/>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2" name="Line 27"/>
          <p:cNvSpPr>
            <a:spLocks noChangeShapeType="1"/>
          </p:cNvSpPr>
          <p:nvPr/>
        </p:nvSpPr>
        <p:spPr bwMode="auto">
          <a:xfrm>
            <a:off x="4493304" y="3789547"/>
            <a:ext cx="2189423" cy="203406"/>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60" name="Text Box 33"/>
          <p:cNvSpPr txBox="1">
            <a:spLocks noChangeArrowheads="1"/>
          </p:cNvSpPr>
          <p:nvPr/>
        </p:nvSpPr>
        <p:spPr bwMode="auto">
          <a:xfrm>
            <a:off x="3483631" y="3666889"/>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kern="0" dirty="0">
                <a:solidFill>
                  <a:srgbClr val="C00000"/>
                </a:solidFill>
                <a:latin typeface="Montserrat" panose="00000500000000000000" pitchFamily="2" charset="0"/>
                <a:ea typeface="微软雅黑 Light" panose="020B0502040204020203" pitchFamily="34" charset="-122"/>
              </a:rPr>
              <a:t>立即重传</a:t>
            </a:r>
            <a:r>
              <a:rPr kumimoji="0" lang="zh-CN" altLang="en-US"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solidFill>
                  <a:srgbClr val="C00000"/>
                </a:solidFill>
                <a:effectLst/>
                <a:uLnTx/>
                <a:uFillTx/>
                <a:latin typeface="Montserrat" panose="00000500000000000000" pitchFamily="2" charset="0"/>
                <a:ea typeface="微软雅黑 Light" panose="020B0502040204020203" pitchFamily="34" charset="-122"/>
              </a:rPr>
              <a:t>3</a:t>
            </a:r>
          </a:p>
        </p:txBody>
      </p:sp>
      <p:sp>
        <p:nvSpPr>
          <p:cNvPr id="64" name="Line 17"/>
          <p:cNvSpPr>
            <a:spLocks noChangeShapeType="1"/>
          </p:cNvSpPr>
          <p:nvPr/>
        </p:nvSpPr>
        <p:spPr bwMode="auto">
          <a:xfrm flipH="1">
            <a:off x="6154051" y="4061696"/>
            <a:ext cx="528675" cy="7666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65" name="Text Box 30"/>
          <p:cNvSpPr txBox="1">
            <a:spLocks noChangeArrowheads="1"/>
          </p:cNvSpPr>
          <p:nvPr/>
        </p:nvSpPr>
        <p:spPr bwMode="auto">
          <a:xfrm>
            <a:off x="6617310" y="3899177"/>
            <a:ext cx="78098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FAC2682C-5518-F468-83E5-39EC0DBF90BB}"/>
              </a:ext>
            </a:extLst>
          </p:cNvPr>
          <p:cNvSpPr>
            <a:spLocks noGrp="1"/>
          </p:cNvSpPr>
          <p:nvPr>
            <p:ph type="title"/>
          </p:nvPr>
        </p:nvSpPr>
        <p:spPr>
          <a:xfrm>
            <a:off x="2808000" y="144000"/>
            <a:ext cx="3528000" cy="338554"/>
          </a:xfrm>
        </p:spPr>
        <p:txBody>
          <a:bodyPr/>
          <a:lstStyle/>
          <a:p>
            <a:r>
              <a:rPr lang="zh-CN" altLang="en-US" dirty="0"/>
              <a:t>快重传举例</a:t>
            </a:r>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wipe(right)">
                                      <p:cBhvr>
                                        <p:cTn id="7"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a:xfrm>
            <a:off x="486000" y="482554"/>
            <a:ext cx="8172000" cy="4120946"/>
          </a:xfrm>
        </p:spPr>
        <p:txBody>
          <a:bodyPr/>
          <a:lstStyle/>
          <a:p>
            <a:r>
              <a:rPr lang="zh-CN" altLang="en-US" dirty="0"/>
              <a:t>当发送端收到连续三个重复的确认时，不执行慢开始算法，而是执行快恢复算法 </a:t>
            </a:r>
            <a:r>
              <a:rPr lang="en-US" altLang="zh-CN" dirty="0"/>
              <a:t>FR (Fast Recovery) </a:t>
            </a:r>
            <a:r>
              <a:rPr lang="zh-CN" altLang="en-US" dirty="0"/>
              <a:t>算法：</a:t>
            </a:r>
          </a:p>
          <a:p>
            <a:pPr lvl="1"/>
            <a:r>
              <a:rPr lang="zh-CN" altLang="en-US" dirty="0"/>
              <a:t>慢开始门限 </a:t>
            </a:r>
            <a:r>
              <a:rPr lang="en-US" altLang="zh-CN" dirty="0" err="1"/>
              <a:t>ssthresh</a:t>
            </a:r>
            <a:r>
              <a:rPr lang="en-US" altLang="zh-CN" dirty="0"/>
              <a:t> = </a:t>
            </a:r>
            <a:r>
              <a:rPr lang="zh-CN" altLang="en-US" dirty="0"/>
              <a:t>当前拥塞窗口 </a:t>
            </a:r>
            <a:r>
              <a:rPr lang="en-US" altLang="zh-CN" dirty="0" err="1"/>
              <a:t>cwnd</a:t>
            </a:r>
            <a:r>
              <a:rPr lang="en-US" altLang="zh-CN" dirty="0"/>
              <a:t> / 2 </a:t>
            </a:r>
            <a:r>
              <a:rPr lang="zh-CN" altLang="en-US" dirty="0"/>
              <a:t>；</a:t>
            </a:r>
          </a:p>
          <a:p>
            <a:pPr lvl="1"/>
            <a:r>
              <a:rPr lang="zh-CN" altLang="en-US" dirty="0"/>
              <a:t>乘法减小 </a:t>
            </a:r>
            <a:r>
              <a:rPr lang="en-US" altLang="zh-CN" dirty="0"/>
              <a:t>MD (Multiplicative Decrease) </a:t>
            </a:r>
            <a:r>
              <a:rPr lang="zh-CN" altLang="en-US" dirty="0"/>
              <a:t>拥塞窗口。</a:t>
            </a:r>
            <a:endParaRPr lang="en-US" altLang="zh-CN" dirty="0"/>
          </a:p>
          <a:p>
            <a:pPr lvl="1"/>
            <a:r>
              <a:rPr lang="en-US" altLang="zh-CN" dirty="0"/>
              <a:t>     </a:t>
            </a:r>
            <a:r>
              <a:rPr lang="zh-CN" altLang="en-US" dirty="0"/>
              <a:t>新拥塞窗口 </a:t>
            </a:r>
            <a:r>
              <a:rPr lang="en-US" altLang="zh-CN" dirty="0" err="1"/>
              <a:t>cwnd</a:t>
            </a:r>
            <a:r>
              <a:rPr lang="en-US" altLang="zh-CN" dirty="0"/>
              <a:t> = </a:t>
            </a:r>
            <a:r>
              <a:rPr lang="zh-CN" altLang="en-US" dirty="0"/>
              <a:t>慢开始门限 </a:t>
            </a:r>
            <a:r>
              <a:rPr lang="en-US" altLang="zh-CN" dirty="0" err="1"/>
              <a:t>ssthresh</a:t>
            </a:r>
            <a:r>
              <a:rPr lang="en-US" altLang="zh-CN" dirty="0"/>
              <a:t> </a:t>
            </a:r>
            <a:r>
              <a:rPr lang="zh-CN" altLang="en-US" dirty="0"/>
              <a:t>；</a:t>
            </a:r>
          </a:p>
          <a:p>
            <a:pPr lvl="1"/>
            <a:r>
              <a:rPr lang="zh-CN" altLang="en-US" dirty="0"/>
              <a:t>执行拥塞避免算法，使拥塞窗口缓慢地线性增大（加法增大 </a:t>
            </a:r>
            <a:r>
              <a:rPr lang="en-US" altLang="zh-CN" dirty="0"/>
              <a:t>AI</a:t>
            </a:r>
            <a:r>
              <a:rPr lang="zh-CN" altLang="en-US" dirty="0"/>
              <a:t>）。 </a:t>
            </a:r>
            <a:endParaRPr lang="en-US" altLang="zh-CN" dirty="0"/>
          </a:p>
          <a:p>
            <a:endParaRPr lang="zh-CN" altLang="en-US" dirty="0"/>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2808000" y="144000"/>
            <a:ext cx="3528000" cy="338554"/>
          </a:xfrm>
        </p:spPr>
        <p:txBody>
          <a:bodyPr/>
          <a:lstStyle/>
          <a:p>
            <a:r>
              <a:rPr lang="zh-CN" altLang="en-US" dirty="0"/>
              <a:t>快恢复</a:t>
            </a:r>
            <a:r>
              <a:rPr lang="en-US" altLang="zh-CN" dirty="0"/>
              <a:t> Fast Recovery</a:t>
            </a:r>
            <a:endParaRPr lang="zh-CN" altLang="en-US" dirty="0"/>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EC75BA6F-C9B8-2A82-B169-5AFD00331ED1}"/>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412B77-4845-D994-E517-FDDA9FAF0975}"/>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肘形连接符 105"/>
          <p:cNvCxnSpPr>
            <a:cxnSpLocks/>
            <a:stCxn id="21" idx="3"/>
            <a:endCxn id="12" idx="0"/>
          </p:cNvCxnSpPr>
          <p:nvPr/>
        </p:nvCxnSpPr>
        <p:spPr>
          <a:xfrm>
            <a:off x="6166318" y="2139186"/>
            <a:ext cx="1019605" cy="485512"/>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cxnSpLocks/>
            <a:stCxn id="25" idx="3"/>
            <a:endCxn id="12" idx="2"/>
          </p:cNvCxnSpPr>
          <p:nvPr/>
        </p:nvCxnSpPr>
        <p:spPr>
          <a:xfrm flipV="1">
            <a:off x="6166318" y="3086363"/>
            <a:ext cx="1019605" cy="421549"/>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a:cxnSpLocks/>
            <a:stCxn id="6" idx="2"/>
            <a:endCxn id="19" idx="0"/>
          </p:cNvCxnSpPr>
          <p:nvPr/>
        </p:nvCxnSpPr>
        <p:spPr>
          <a:xfrm>
            <a:off x="4620953" y="1416151"/>
            <a:ext cx="0" cy="290430"/>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49930" y="1139152"/>
            <a:ext cx="114204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连接建立</a:t>
            </a:r>
          </a:p>
        </p:txBody>
      </p:sp>
      <p:cxnSp>
        <p:nvCxnSpPr>
          <p:cNvPr id="7" name="直接箭头连接符 6"/>
          <p:cNvCxnSpPr>
            <a:cxnSpLocks/>
            <a:stCxn id="18" idx="2"/>
            <a:endCxn id="24" idx="0"/>
          </p:cNvCxnSpPr>
          <p:nvPr/>
        </p:nvCxnSpPr>
        <p:spPr>
          <a:xfrm>
            <a:off x="4620952" y="2574331"/>
            <a:ext cx="1" cy="513577"/>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3105135" y="3120414"/>
            <a:ext cx="3031634" cy="728202"/>
          </a:xfrm>
          <a:prstGeom prst="flowChartProcess">
            <a:avLst/>
          </a:prstGeom>
          <a:noFill/>
          <a:ln w="19050">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9" name="TextBox 65"/>
          <p:cNvSpPr txBox="1">
            <a:spLocks noChangeArrowheads="1"/>
          </p:cNvSpPr>
          <p:nvPr/>
        </p:nvSpPr>
        <p:spPr bwMode="auto">
          <a:xfrm>
            <a:off x="1382573" y="1251663"/>
            <a:ext cx="1656000" cy="461665"/>
          </a:xfrm>
          <a:prstGeom prst="rect">
            <a:avLst/>
          </a:prstGeom>
          <a:noFill/>
          <a:ln w="19050">
            <a:solidFill>
              <a:schemeClr val="tx1"/>
            </a:solidFill>
            <a:miter lim="800000"/>
            <a:headEnd/>
            <a:tailEnd/>
          </a:ln>
        </p:spPr>
        <p:txBody>
          <a:bodyPr wrap="none" anchor="ctr"/>
          <a:lstStyle>
            <a:defPPr>
              <a:defRPr lang="zh-CN"/>
            </a:defPPr>
            <a:lvl1pPr algn="ctr">
              <a:defRPr sz="1200">
                <a:solidFill>
                  <a:sysClr val="windowText" lastClr="000000"/>
                </a:solidFill>
                <a:latin typeface="Montserrat" panose="00000500000000000000" pitchFamily="2" charset="0"/>
                <a:ea typeface="微软雅黑 Light" panose="020B0502040204020203" pitchFamily="34"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r>
              <a:rPr lang="en-US" altLang="zh-CN"/>
              <a:t>ssthresh</a:t>
            </a:r>
            <a:r>
              <a:rPr lang="en-US" altLang="zh-CN" dirty="0"/>
              <a:t> </a:t>
            </a:r>
            <a:r>
              <a:rPr lang="en-US" altLang="zh-CN"/>
              <a:t>= cwnd</a:t>
            </a:r>
            <a:r>
              <a:rPr lang="en-US" altLang="zh-CN" dirty="0"/>
              <a:t> / 2</a:t>
            </a:r>
          </a:p>
          <a:p>
            <a:r>
              <a:rPr lang="en-US" altLang="zh-CN"/>
              <a:t>cwnd</a:t>
            </a:r>
            <a:r>
              <a:rPr lang="en-US" altLang="zh-CN" dirty="0"/>
              <a:t> = 1</a:t>
            </a:r>
            <a:endParaRPr lang="zh-CN" altLang="en-US" dirty="0"/>
          </a:p>
        </p:txBody>
      </p:sp>
      <p:cxnSp>
        <p:nvCxnSpPr>
          <p:cNvPr id="10" name="肘形连接符 9"/>
          <p:cNvCxnSpPr>
            <a:stCxn id="22" idx="1"/>
            <a:endCxn id="9" idx="2"/>
          </p:cNvCxnSpPr>
          <p:nvPr/>
        </p:nvCxnSpPr>
        <p:spPr>
          <a:xfrm rot="10800000">
            <a:off x="2210573" y="1713328"/>
            <a:ext cx="895696" cy="422450"/>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2210573" y="1713329"/>
            <a:ext cx="894562" cy="1771187"/>
          </a:xfrm>
          <a:prstGeom prst="bentConnector2">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6245181" y="2624698"/>
            <a:ext cx="1881484" cy="461665"/>
          </a:xfrm>
          <a:prstGeom prst="rect">
            <a:avLst/>
          </a:prstGeom>
          <a:noFill/>
          <a:ln w="1905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ssthresh = cwnd / 2</a:t>
            </a:r>
          </a:p>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cwnd = ssthresh</a:t>
            </a:r>
            <a:endParaRPr lang="zh-CN" altLang="en-US" sz="1200">
              <a:solidFill>
                <a:sysClr val="windowText" lastClr="000000"/>
              </a:solidFill>
              <a:latin typeface="Montserrat" panose="00000500000000000000" pitchFamily="2" charset="0"/>
              <a:ea typeface="微软雅黑 Light" panose="020B0502040204020203" pitchFamily="34" charset="-122"/>
              <a:cs typeface="Times New Roman" pitchFamily="18" charset="0"/>
            </a:endParaRPr>
          </a:p>
        </p:txBody>
      </p:sp>
      <p:cxnSp>
        <p:nvCxnSpPr>
          <p:cNvPr id="13" name="直接箭头连接符 12"/>
          <p:cNvCxnSpPr>
            <a:cxnSpLocks/>
            <a:stCxn id="12" idx="1"/>
          </p:cNvCxnSpPr>
          <p:nvPr/>
        </p:nvCxnSpPr>
        <p:spPr>
          <a:xfrm flipH="1">
            <a:off x="4620952" y="2855531"/>
            <a:ext cx="1624229" cy="0"/>
          </a:xfrm>
          <a:prstGeom prst="straightConnector1">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cxnSpLocks/>
            <a:stCxn id="8" idx="2"/>
            <a:endCxn id="17" idx="0"/>
          </p:cNvCxnSpPr>
          <p:nvPr/>
        </p:nvCxnSpPr>
        <p:spPr>
          <a:xfrm>
            <a:off x="4620952" y="3848616"/>
            <a:ext cx="1" cy="26247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049931" y="4111088"/>
            <a:ext cx="11420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连接释放</a:t>
            </a:r>
          </a:p>
        </p:txBody>
      </p:sp>
      <p:sp>
        <p:nvSpPr>
          <p:cNvPr id="18" name="AutoShape 5"/>
          <p:cNvSpPr>
            <a:spLocks noChangeArrowheads="1"/>
          </p:cNvSpPr>
          <p:nvPr/>
        </p:nvSpPr>
        <p:spPr bwMode="auto">
          <a:xfrm>
            <a:off x="3105135" y="1728525"/>
            <a:ext cx="3031634" cy="845806"/>
          </a:xfrm>
          <a:prstGeom prst="flowChartProcess">
            <a:avLst/>
          </a:prstGeom>
          <a:noFill/>
          <a:ln w="19050">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19" name="Text Box 15"/>
          <p:cNvSpPr txBox="1">
            <a:spLocks noChangeArrowheads="1"/>
          </p:cNvSpPr>
          <p:nvPr/>
        </p:nvSpPr>
        <p:spPr bwMode="auto">
          <a:xfrm>
            <a:off x="4297787" y="1706581"/>
            <a:ext cx="646331"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慢开始</a:t>
            </a:r>
          </a:p>
        </p:txBody>
      </p:sp>
      <p:sp>
        <p:nvSpPr>
          <p:cNvPr id="20" name="Text Box 16"/>
          <p:cNvSpPr txBox="1">
            <a:spLocks noChangeArrowheads="1"/>
          </p:cNvSpPr>
          <p:nvPr/>
        </p:nvSpPr>
        <p:spPr bwMode="auto">
          <a:xfrm>
            <a:off x="3625782" y="2008202"/>
            <a:ext cx="1990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初始拥塞窗口 </a:t>
            </a:r>
            <a:r>
              <a:rPr lang="en-US" altLang="zh-CN" sz="1200" dirty="0">
                <a:solidFill>
                  <a:sysClr val="windowText" lastClr="000000"/>
                </a:solidFill>
                <a:latin typeface="Montserrat" panose="00000500000000000000" pitchFamily="2" charset="0"/>
                <a:ea typeface="微软雅黑 Light" panose="020B0502040204020203" pitchFamily="34" charset="-122"/>
              </a:rPr>
              <a:t>cwnd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1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按指数规律增大</a:t>
            </a:r>
            <a:endParaRPr lang="en-US" altLang="zh-CN" sz="1200" u="sng" dirty="0">
              <a:solidFill>
                <a:sysClr val="windowText" lastClr="000000"/>
              </a:solidFill>
              <a:latin typeface="Montserrat" panose="00000500000000000000" pitchFamily="2" charset="0"/>
              <a:ea typeface="微软雅黑 Light" panose="020B0502040204020203" pitchFamily="34" charset="-122"/>
              <a:sym typeface="Symbol" pitchFamily="18" charset="2"/>
            </a:endParaRPr>
          </a:p>
        </p:txBody>
      </p:sp>
      <p:sp>
        <p:nvSpPr>
          <p:cNvPr id="21" name="TextBox 25"/>
          <p:cNvSpPr txBox="1">
            <a:spLocks noChangeArrowheads="1"/>
          </p:cNvSpPr>
          <p:nvPr/>
        </p:nvSpPr>
        <p:spPr bwMode="auto">
          <a:xfrm>
            <a:off x="5297863" y="1908353"/>
            <a:ext cx="8684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3 </a:t>
            </a:r>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的 </a:t>
            </a:r>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ACK</a:t>
            </a:r>
            <a:endPar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endParaRPr>
          </a:p>
        </p:txBody>
      </p:sp>
      <p:sp>
        <p:nvSpPr>
          <p:cNvPr id="22" name="TextBox 26"/>
          <p:cNvSpPr txBox="1">
            <a:spLocks noChangeArrowheads="1"/>
          </p:cNvSpPr>
          <p:nvPr/>
        </p:nvSpPr>
        <p:spPr bwMode="auto">
          <a:xfrm>
            <a:off x="3106269" y="1997278"/>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超时</a:t>
            </a:r>
          </a:p>
        </p:txBody>
      </p:sp>
      <p:sp>
        <p:nvSpPr>
          <p:cNvPr id="24" name="Text Box 15"/>
          <p:cNvSpPr txBox="1">
            <a:spLocks noChangeArrowheads="1"/>
          </p:cNvSpPr>
          <p:nvPr/>
        </p:nvSpPr>
        <p:spPr bwMode="auto">
          <a:xfrm>
            <a:off x="4220843" y="3087908"/>
            <a:ext cx="800219"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拥塞避免</a:t>
            </a:r>
          </a:p>
        </p:txBody>
      </p:sp>
      <p:sp>
        <p:nvSpPr>
          <p:cNvPr id="25" name="TextBox 41"/>
          <p:cNvSpPr txBox="1">
            <a:spLocks noChangeArrowheads="1"/>
          </p:cNvSpPr>
          <p:nvPr/>
        </p:nvSpPr>
        <p:spPr bwMode="auto">
          <a:xfrm>
            <a:off x="5327413" y="3277079"/>
            <a:ext cx="83890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latin typeface="Montserrat" panose="00000500000000000000" pitchFamily="2" charset="0"/>
                <a:ea typeface="微软雅黑 Light" panose="020B0502040204020203" pitchFamily="34" charset="-122"/>
                <a:cs typeface="Times New Roman" pitchFamily="18" charset="0"/>
              </a:rPr>
              <a:t>3 </a:t>
            </a:r>
            <a:r>
              <a:rPr lang="zh-CN" altLang="en-US" sz="1200" dirty="0">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latin typeface="Montserrat" panose="00000500000000000000" pitchFamily="2" charset="0"/>
                <a:ea typeface="微软雅黑 Light" panose="020B0502040204020203" pitchFamily="34" charset="-122"/>
                <a:cs typeface="Times New Roman" pitchFamily="18" charset="0"/>
              </a:rPr>
              <a:t>的 </a:t>
            </a:r>
            <a:r>
              <a:rPr lang="en-US" altLang="zh-CN" sz="1200" dirty="0">
                <a:latin typeface="Montserrat" panose="00000500000000000000" pitchFamily="2" charset="0"/>
                <a:ea typeface="微软雅黑 Light" panose="020B0502040204020203" pitchFamily="34" charset="-122"/>
                <a:cs typeface="Times New Roman" pitchFamily="18" charset="0"/>
              </a:rPr>
              <a:t>ACK</a:t>
            </a:r>
            <a:endParaRPr lang="zh-CN" altLang="en-US" sz="1200" dirty="0">
              <a:latin typeface="Montserrat" panose="00000500000000000000" pitchFamily="2" charset="0"/>
              <a:ea typeface="微软雅黑 Light" panose="020B0502040204020203" pitchFamily="34" charset="-122"/>
              <a:cs typeface="Times New Roman" pitchFamily="18" charset="0"/>
            </a:endParaRPr>
          </a:p>
        </p:txBody>
      </p:sp>
      <p:sp>
        <p:nvSpPr>
          <p:cNvPr id="26" name="TextBox 42"/>
          <p:cNvSpPr txBox="1">
            <a:spLocks noChangeArrowheads="1"/>
          </p:cNvSpPr>
          <p:nvPr/>
        </p:nvSpPr>
        <p:spPr bwMode="auto">
          <a:xfrm>
            <a:off x="3106269" y="332251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超时</a:t>
            </a:r>
          </a:p>
        </p:txBody>
      </p:sp>
      <p:sp>
        <p:nvSpPr>
          <p:cNvPr id="27" name="Text Box 16"/>
          <p:cNvSpPr txBox="1">
            <a:spLocks noChangeArrowheads="1"/>
          </p:cNvSpPr>
          <p:nvPr/>
        </p:nvSpPr>
        <p:spPr bwMode="auto">
          <a:xfrm>
            <a:off x="3929972" y="3364758"/>
            <a:ext cx="13819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拥塞窗口 </a:t>
            </a:r>
            <a:r>
              <a:rPr lang="en-US" altLang="zh-CN" sz="1200" dirty="0">
                <a:latin typeface="Montserrat" panose="00000500000000000000" pitchFamily="2" charset="0"/>
                <a:ea typeface="微软雅黑 Light" panose="020B0502040204020203" pitchFamily="34" charset="-122"/>
              </a:rPr>
              <a:t>cwnd </a:t>
            </a:r>
            <a:endParaRPr lang="zh-CN" altLang="en-US" sz="1200" dirty="0">
              <a:latin typeface="Montserrat" panose="00000500000000000000" pitchFamily="2" charset="0"/>
              <a:ea typeface="微软雅黑 Light" panose="020B0502040204020203" pitchFamily="34" charset="-122"/>
            </a:endParaRPr>
          </a:p>
          <a:p>
            <a:pPr algn="ctr" eaLnBrk="1" hangingPunct="1"/>
            <a:r>
              <a:rPr lang="zh-CN" altLang="en-US" sz="1200" dirty="0">
                <a:latin typeface="Montserrat" panose="00000500000000000000" pitchFamily="2" charset="0"/>
                <a:ea typeface="微软雅黑 Light" panose="020B0502040204020203" pitchFamily="34" charset="-122"/>
              </a:rPr>
              <a:t>按线性规律增大</a:t>
            </a:r>
            <a:endParaRPr lang="en-US" altLang="zh-CN" sz="1200" u="sng" dirty="0">
              <a:latin typeface="Montserrat" panose="00000500000000000000" pitchFamily="2" charset="0"/>
              <a:ea typeface="微软雅黑 Light" panose="020B0502040204020203" pitchFamily="34" charset="-122"/>
              <a:sym typeface="Symbol" pitchFamily="18" charset="2"/>
            </a:endParaRPr>
          </a:p>
        </p:txBody>
      </p:sp>
      <p:cxnSp>
        <p:nvCxnSpPr>
          <p:cNvPr id="29" name="直接连接符 28"/>
          <p:cNvCxnSpPr/>
          <p:nvPr/>
        </p:nvCxnSpPr>
        <p:spPr bwMode="auto">
          <a:xfrm>
            <a:off x="3055610" y="1481084"/>
            <a:ext cx="756000" cy="3"/>
          </a:xfrm>
          <a:prstGeom prst="line">
            <a:avLst/>
          </a:pr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812063" y="1481084"/>
            <a:ext cx="0" cy="24744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32" name="标题 31">
            <a:extLst>
              <a:ext uri="{FF2B5EF4-FFF2-40B4-BE49-F238E27FC236}">
                <a16:creationId xmlns:a16="http://schemas.microsoft.com/office/drawing/2014/main" id="{43575F59-197D-36C7-F34F-985F2B8E6855}"/>
              </a:ext>
            </a:extLst>
          </p:cNvPr>
          <p:cNvSpPr>
            <a:spLocks noGrp="1"/>
          </p:cNvSpPr>
          <p:nvPr>
            <p:ph type="title"/>
          </p:nvPr>
        </p:nvSpPr>
        <p:spPr>
          <a:xfrm>
            <a:off x="2808000" y="144000"/>
            <a:ext cx="3528000" cy="338554"/>
          </a:xfrm>
        </p:spPr>
        <p:txBody>
          <a:bodyPr/>
          <a:lstStyle/>
          <a:p>
            <a:r>
              <a:rPr lang="en-US" altLang="zh-CN" dirty="0"/>
              <a:t>TCP </a:t>
            </a:r>
            <a:r>
              <a:rPr lang="zh-CN" altLang="en-US" dirty="0"/>
              <a:t>拥塞控制流程图</a:t>
            </a:r>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38358" y="3335408"/>
            <a:ext cx="7267284" cy="531100"/>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发送窗口的上限值 </a:t>
            </a:r>
            <a:r>
              <a:rPr lang="en-US" altLang="zh-CN" sz="2000" dirty="0">
                <a:latin typeface="Montserrat" panose="00000500000000000000" pitchFamily="2" charset="0"/>
                <a:ea typeface="微软雅黑 Light" panose="020B0502040204020203" pitchFamily="34" charset="-122"/>
              </a:rPr>
              <a:t>=</a:t>
            </a:r>
            <a:r>
              <a:rPr lang="zh-CN" altLang="en-US" sz="2000" dirty="0">
                <a:latin typeface="Montserrat" panose="00000500000000000000" pitchFamily="2" charset="0"/>
                <a:ea typeface="微软雅黑 Light" panose="020B0502040204020203" pitchFamily="34" charset="-122"/>
              </a:rPr>
              <a:t> </a:t>
            </a:r>
            <a:r>
              <a:rPr lang="en-US" altLang="zh-CN" sz="2000" dirty="0">
                <a:latin typeface="Montserrat" panose="00000500000000000000" pitchFamily="2" charset="0"/>
                <a:ea typeface="微软雅黑 Light" panose="020B0502040204020203" pitchFamily="34" charset="-122"/>
              </a:rPr>
              <a:t>Min [</a:t>
            </a:r>
            <a:r>
              <a:rPr lang="en-US" altLang="zh-CN" sz="2000" dirty="0" err="1">
                <a:latin typeface="Montserrat" panose="00000500000000000000" pitchFamily="2" charset="0"/>
                <a:ea typeface="微软雅黑 Light" panose="020B0502040204020203" pitchFamily="34" charset="-122"/>
              </a:rPr>
              <a:t>rwnd</a:t>
            </a:r>
            <a:r>
              <a:rPr lang="en-US" altLang="zh-CN" sz="2000" dirty="0">
                <a:latin typeface="Montserrat" panose="00000500000000000000" pitchFamily="2" charset="0"/>
                <a:ea typeface="微软雅黑 Light" panose="020B0502040204020203" pitchFamily="34" charset="-122"/>
              </a:rPr>
              <a:t>, </a:t>
            </a:r>
            <a:r>
              <a:rPr lang="en-US" altLang="zh-CN" sz="2000" dirty="0" err="1">
                <a:latin typeface="Montserrat" panose="00000500000000000000" pitchFamily="2" charset="0"/>
                <a:ea typeface="微软雅黑 Light" panose="020B0502040204020203" pitchFamily="34" charset="-122"/>
              </a:rPr>
              <a:t>cwnd</a:t>
            </a:r>
            <a:r>
              <a:rPr lang="en-US" altLang="zh-CN" sz="2000" dirty="0">
                <a:latin typeface="Montserrat" panose="00000500000000000000" pitchFamily="2" charset="0"/>
                <a:ea typeface="微软雅黑 Light" panose="020B0502040204020203" pitchFamily="34" charset="-122"/>
              </a:rPr>
              <a:t>]                 (5-9)</a:t>
            </a:r>
          </a:p>
        </p:txBody>
      </p:sp>
      <p:sp>
        <p:nvSpPr>
          <p:cNvPr id="7" name="内容占位符 6">
            <a:extLst>
              <a:ext uri="{FF2B5EF4-FFF2-40B4-BE49-F238E27FC236}">
                <a16:creationId xmlns:a16="http://schemas.microsoft.com/office/drawing/2014/main" id="{13AAC761-E54D-56E8-5AA7-C0BF0B5A82EE}"/>
              </a:ext>
            </a:extLst>
          </p:cNvPr>
          <p:cNvSpPr>
            <a:spLocks noGrp="1"/>
          </p:cNvSpPr>
          <p:nvPr>
            <p:ph sz="quarter" idx="11"/>
          </p:nvPr>
        </p:nvSpPr>
        <p:spPr>
          <a:xfrm>
            <a:off x="486000" y="482554"/>
            <a:ext cx="8172000" cy="4120946"/>
          </a:xfrm>
        </p:spPr>
        <p:txBody>
          <a:bodyPr/>
          <a:lstStyle/>
          <a:p>
            <a:r>
              <a:rPr lang="zh-CN" altLang="en-US" dirty="0"/>
              <a:t>当 </a:t>
            </a:r>
            <a:r>
              <a:rPr lang="en-US" altLang="zh-CN" dirty="0" err="1"/>
              <a:t>rwnd</a:t>
            </a:r>
            <a:r>
              <a:rPr lang="en-US" altLang="zh-CN" dirty="0"/>
              <a:t> &lt; </a:t>
            </a:r>
            <a:r>
              <a:rPr lang="en-US" altLang="zh-CN" dirty="0" err="1"/>
              <a:t>cwnd</a:t>
            </a:r>
            <a:r>
              <a:rPr lang="en-US" altLang="zh-CN" dirty="0"/>
              <a:t> </a:t>
            </a:r>
            <a:r>
              <a:rPr lang="zh-CN" altLang="en-US" dirty="0"/>
              <a:t>时，是接收方的接收能力限制发送窗口的最大值。</a:t>
            </a:r>
          </a:p>
          <a:p>
            <a:r>
              <a:rPr lang="zh-CN" altLang="en-US" dirty="0"/>
              <a:t>当 </a:t>
            </a:r>
            <a:r>
              <a:rPr lang="en-US" altLang="zh-CN" dirty="0" err="1"/>
              <a:t>cwnd</a:t>
            </a:r>
            <a:r>
              <a:rPr lang="en-US" altLang="zh-CN" dirty="0"/>
              <a:t> &lt; </a:t>
            </a:r>
            <a:r>
              <a:rPr lang="en-US" altLang="zh-CN" dirty="0" err="1"/>
              <a:t>rwnd</a:t>
            </a:r>
            <a:r>
              <a:rPr lang="en-US" altLang="zh-CN" dirty="0"/>
              <a:t> </a:t>
            </a:r>
            <a:r>
              <a:rPr lang="zh-CN" altLang="en-US" dirty="0"/>
              <a:t>时，是网络拥塞限制发送窗口的最大值。 </a:t>
            </a:r>
          </a:p>
          <a:p>
            <a:endParaRPr lang="zh-CN" altLang="en-US" dirty="0"/>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2808000" y="144000"/>
            <a:ext cx="3528000" cy="338554"/>
          </a:xfrm>
        </p:spPr>
        <p:txBody>
          <a:bodyPr/>
          <a:lstStyle/>
          <a:p>
            <a:r>
              <a:rPr lang="zh-CN" altLang="en-US" dirty="0"/>
              <a:t>发送窗口的上限值</a:t>
            </a:r>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拥塞控制和网络层采取的策略有密切联系。</a:t>
            </a:r>
            <a:endParaRPr lang="en-US" altLang="zh-CN" dirty="0"/>
          </a:p>
          <a:p>
            <a:r>
              <a:rPr lang="zh-CN" altLang="en-US" dirty="0"/>
              <a:t>例如：</a:t>
            </a:r>
            <a:endParaRPr lang="en-US" altLang="zh-CN" dirty="0"/>
          </a:p>
          <a:p>
            <a:pPr lvl="1"/>
            <a:r>
              <a:rPr lang="zh-CN" altLang="en-US" dirty="0"/>
              <a:t>若路由器对某些分组的处理时间特别长，就可能引起发送方 </a:t>
            </a:r>
            <a:r>
              <a:rPr lang="en-US" altLang="zh-CN" dirty="0"/>
              <a:t>TCP </a:t>
            </a:r>
            <a:r>
              <a:rPr lang="zh-CN" altLang="en-US" dirty="0"/>
              <a:t>超时，对这些报文段进行重传。</a:t>
            </a:r>
          </a:p>
          <a:p>
            <a:pPr lvl="1"/>
            <a:r>
              <a:rPr lang="zh-CN" altLang="en-US" dirty="0"/>
              <a:t>重传会使 </a:t>
            </a:r>
            <a:r>
              <a:rPr lang="en-US" altLang="zh-CN" dirty="0"/>
              <a:t>TCP </a:t>
            </a:r>
            <a:r>
              <a:rPr lang="zh-CN" altLang="en-US" dirty="0"/>
              <a:t>连接的发送端认为在网络中发生了拥塞，但实际上网络并没有发生拥塞。</a:t>
            </a:r>
            <a:endParaRPr lang="en-US" altLang="zh-CN" dirty="0"/>
          </a:p>
          <a:p>
            <a:r>
              <a:rPr lang="zh-CN" altLang="en-US" dirty="0"/>
              <a:t>对 </a:t>
            </a:r>
            <a:r>
              <a:rPr lang="en-US" altLang="zh-CN" dirty="0"/>
              <a:t>TCP </a:t>
            </a:r>
            <a:r>
              <a:rPr lang="zh-CN" altLang="en-US" dirty="0"/>
              <a:t>拥塞控制影响最大的就是路由器的分组丢弃策略。</a:t>
            </a:r>
          </a:p>
          <a:p>
            <a:endParaRPr lang="zh-CN" altLang="en-US" dirty="0"/>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2808000" y="144000"/>
            <a:ext cx="3528000" cy="338554"/>
          </a:xfrm>
        </p:spPr>
        <p:txBody>
          <a:bodyPr/>
          <a:lstStyle/>
          <a:p>
            <a:r>
              <a:rPr lang="en-US" altLang="zh-CN" dirty="0"/>
              <a:t>5.8.3   </a:t>
            </a:r>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a:xfrm>
            <a:off x="486000" y="482554"/>
            <a:ext cx="8172000" cy="4120946"/>
          </a:xfrm>
        </p:spPr>
        <p:txBody>
          <a:bodyPr/>
          <a:lstStyle/>
          <a:p>
            <a:r>
              <a:rPr lang="zh-CN" altLang="en-US" dirty="0"/>
              <a:t>先进先出</a:t>
            </a:r>
            <a:r>
              <a:rPr lang="en-US" altLang="zh-CN" dirty="0"/>
              <a:t>FIFO (First In First Out) </a:t>
            </a:r>
            <a:r>
              <a:rPr lang="zh-CN" altLang="en-US" dirty="0"/>
              <a:t>处理规则：</a:t>
            </a:r>
          </a:p>
          <a:p>
            <a:r>
              <a:rPr lang="zh-CN" altLang="en-US" dirty="0"/>
              <a:t>尾部丢弃策略 </a:t>
            </a:r>
            <a:r>
              <a:rPr lang="en-US" altLang="zh-CN" dirty="0"/>
              <a:t>(tail-drop policy)</a:t>
            </a:r>
            <a:r>
              <a:rPr lang="zh-CN" altLang="en-US" dirty="0"/>
              <a:t>：当队列已满时，以后到达的所有分组（如果能够继续排队，这些分组都将排在队列的尾部）将都被丢弃。</a:t>
            </a:r>
            <a:endParaRPr lang="en-US" altLang="zh-CN" dirty="0"/>
          </a:p>
          <a:p>
            <a:r>
              <a:rPr lang="zh-CN" altLang="en-US" dirty="0"/>
              <a:t>路由器的尾部丢弃往往会导致一连串分组的丢失，这就使发送方出现超时重传，使 </a:t>
            </a:r>
            <a:r>
              <a:rPr lang="en-US" altLang="zh-CN" dirty="0"/>
              <a:t>TCP </a:t>
            </a:r>
            <a:r>
              <a:rPr lang="zh-CN" altLang="en-US" dirty="0"/>
              <a:t>进入拥塞控制的慢开始状态，结果使 </a:t>
            </a:r>
            <a:r>
              <a:rPr lang="en-US" altLang="zh-CN" dirty="0"/>
              <a:t>TCP </a:t>
            </a:r>
            <a:r>
              <a:rPr lang="zh-CN" altLang="en-US" dirty="0"/>
              <a:t>连接的发送方突然把数据的发送速率降低到很小的数值。</a:t>
            </a:r>
          </a:p>
          <a:p>
            <a:endParaRPr lang="zh-CN" altLang="en-US" dirty="0"/>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2808000" y="144000"/>
            <a:ext cx="3528000" cy="338554"/>
          </a:xfrm>
        </p:spPr>
        <p:txBody>
          <a:bodyPr/>
          <a:lstStyle/>
          <a:p>
            <a:r>
              <a:rPr lang="zh-CN" altLang="en-US" dirty="0"/>
              <a:t>先进先出 </a:t>
            </a:r>
            <a:r>
              <a:rPr lang="en-US" altLang="zh-CN" dirty="0"/>
              <a:t>FIFO </a:t>
            </a:r>
            <a:endParaRPr lang="zh-CN" altLang="en-US" dirty="0"/>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4" name="标题 3">
            <a:extLst>
              <a:ext uri="{FF2B5EF4-FFF2-40B4-BE49-F238E27FC236}">
                <a16:creationId xmlns:a16="http://schemas.microsoft.com/office/drawing/2014/main" id="{F5D4AF3C-D8B6-48C7-FC44-AB41A0112914}"/>
              </a:ext>
            </a:extLst>
          </p:cNvPr>
          <p:cNvSpPr>
            <a:spLocks noGrp="1"/>
          </p:cNvSpPr>
          <p:nvPr>
            <p:ph type="title"/>
          </p:nvPr>
        </p:nvSpPr>
        <p:spPr>
          <a:xfrm>
            <a:off x="2808000" y="144000"/>
            <a:ext cx="3528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 name="标题 1">
            <a:extLst>
              <a:ext uri="{FF2B5EF4-FFF2-40B4-BE49-F238E27FC236}">
                <a16:creationId xmlns:a16="http://schemas.microsoft.com/office/drawing/2014/main" id="{7693F21C-AE30-D8E6-15F5-5BCBA0421B0A}"/>
              </a:ext>
            </a:extLst>
          </p:cNvPr>
          <p:cNvSpPr>
            <a:spLocks noGrp="1"/>
          </p:cNvSpPr>
          <p:nvPr>
            <p:ph type="title"/>
          </p:nvPr>
        </p:nvSpPr>
        <p:spPr>
          <a:xfrm>
            <a:off x="2808000" y="144000"/>
            <a:ext cx="3528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6DFDA73C-C3E4-10C7-E297-530F756E8235}"/>
              </a:ext>
            </a:extLst>
          </p:cNvPr>
          <p:cNvSpPr>
            <a:spLocks noGrp="1"/>
          </p:cNvSpPr>
          <p:nvPr>
            <p:ph type="title"/>
          </p:nvPr>
        </p:nvSpPr>
        <p:spPr>
          <a:xfrm>
            <a:off x="2808000" y="144000"/>
            <a:ext cx="3528000" cy="338554"/>
          </a:xfrm>
        </p:spPr>
        <p:txBody>
          <a:bodyPr/>
          <a:lstStyle/>
          <a:p>
            <a:r>
              <a:rPr lang="zh-CN" altLang="en-US" dirty="0"/>
              <a:t>严重问题：全局同步</a:t>
            </a:r>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2" name="标题 1">
            <a:extLst>
              <a:ext uri="{FF2B5EF4-FFF2-40B4-BE49-F238E27FC236}">
                <a16:creationId xmlns:a16="http://schemas.microsoft.com/office/drawing/2014/main" id="{42B8B07D-D531-22EC-12BC-FF49825F50BB}"/>
              </a:ext>
            </a:extLst>
          </p:cNvPr>
          <p:cNvSpPr>
            <a:spLocks noGrp="1"/>
          </p:cNvSpPr>
          <p:nvPr>
            <p:ph type="title"/>
          </p:nvPr>
        </p:nvSpPr>
        <p:spPr>
          <a:xfrm>
            <a:off x="2808000" y="144000"/>
            <a:ext cx="3528000" cy="338554"/>
          </a:xfrm>
        </p:spPr>
        <p:txBody>
          <a:bodyPr/>
          <a:lstStyle/>
          <a:p>
            <a:r>
              <a:rPr lang="zh-CN" altLang="en-US" dirty="0"/>
              <a:t>严重问题：全局同步</a:t>
            </a:r>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a:xfrm>
            <a:off x="486000" y="482554"/>
            <a:ext cx="8172000" cy="4120946"/>
          </a:xfrm>
        </p:spPr>
        <p:txBody>
          <a:bodyPr/>
          <a:lstStyle/>
          <a:p>
            <a:r>
              <a:rPr lang="en-US" altLang="zh-CN" dirty="0"/>
              <a:t>1998 </a:t>
            </a:r>
            <a:r>
              <a:rPr lang="zh-CN" altLang="en-US" dirty="0"/>
              <a:t>年提出了主动队列管理 </a:t>
            </a:r>
            <a:r>
              <a:rPr lang="en-US" altLang="zh-CN" dirty="0"/>
              <a:t>AQM (Active Queue Management)</a:t>
            </a:r>
            <a:r>
              <a:rPr lang="zh-CN" altLang="en-US" dirty="0"/>
              <a:t>。</a:t>
            </a:r>
          </a:p>
          <a:p>
            <a:r>
              <a:rPr lang="zh-CN" altLang="en-US" dirty="0"/>
              <a:t>主动：不要等到路由器的队列长度已经达到最大值时才不得不丢弃后面到达的分组，而是在队列长度达到某个值得警惕的数值时（即当网络拥塞有了某些拥塞征兆时），就主动丢弃到达的分组。</a:t>
            </a:r>
          </a:p>
          <a:p>
            <a:r>
              <a:rPr lang="en-US" altLang="zh-CN" dirty="0"/>
              <a:t>AQM </a:t>
            </a:r>
            <a:r>
              <a:rPr lang="zh-CN" altLang="en-US" dirty="0"/>
              <a:t>可以有不同实现方法，其中曾流行多年的就是随机早期检测 </a:t>
            </a:r>
            <a:r>
              <a:rPr lang="en-US" altLang="zh-CN" dirty="0"/>
              <a:t>RED (Random Early Detection)</a:t>
            </a:r>
            <a:r>
              <a:rPr lang="zh-CN" altLang="en-US" dirty="0"/>
              <a:t>。</a:t>
            </a:r>
          </a:p>
          <a:p>
            <a:endParaRPr lang="zh-CN" altLang="en-US" dirty="0"/>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2808000" y="144000"/>
            <a:ext cx="3528000" cy="338554"/>
          </a:xfrm>
        </p:spPr>
        <p:txBody>
          <a:bodyPr/>
          <a:lstStyle/>
          <a:p>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a:xfrm>
            <a:off x="486000" y="482554"/>
            <a:ext cx="8172000" cy="4120946"/>
          </a:xfrm>
        </p:spPr>
        <p:txBody>
          <a:bodyPr/>
          <a:lstStyle/>
          <a:p>
            <a:r>
              <a:rPr lang="zh-CN" altLang="en-US" dirty="0"/>
              <a:t>路由器队列维持两个参数：</a:t>
            </a:r>
            <a:endParaRPr lang="en-US" altLang="zh-CN" dirty="0"/>
          </a:p>
          <a:p>
            <a:pPr lvl="1"/>
            <a:r>
              <a:rPr lang="zh-CN" altLang="en-US" dirty="0"/>
              <a:t>队列长度最小门限 </a:t>
            </a:r>
            <a:r>
              <a:rPr lang="en-US" altLang="zh-CN" dirty="0" err="1"/>
              <a:t>THmin</a:t>
            </a:r>
            <a:r>
              <a:rPr lang="en-US" altLang="zh-CN" dirty="0"/>
              <a:t> </a:t>
            </a:r>
          </a:p>
          <a:p>
            <a:pPr lvl="1"/>
            <a:r>
              <a:rPr lang="zh-CN" altLang="en-US" dirty="0"/>
              <a:t>队列长度最大门限 </a:t>
            </a:r>
            <a:r>
              <a:rPr lang="en-US" altLang="zh-CN" dirty="0" err="1"/>
              <a:t>THmax</a:t>
            </a:r>
            <a:r>
              <a:rPr lang="en-US" altLang="zh-CN" dirty="0"/>
              <a:t> </a:t>
            </a:r>
            <a:r>
              <a:rPr lang="zh-CN" altLang="en-US" dirty="0"/>
              <a:t>。</a:t>
            </a:r>
          </a:p>
          <a:p>
            <a:r>
              <a:rPr lang="en-US" altLang="zh-CN" dirty="0"/>
              <a:t>RED </a:t>
            </a:r>
            <a:r>
              <a:rPr lang="zh-CN" altLang="en-US" dirty="0"/>
              <a:t>对每一个到达的分组都先计算平均队列长度 </a:t>
            </a:r>
            <a:r>
              <a:rPr lang="en-US" altLang="zh-CN" dirty="0"/>
              <a:t>LAV </a:t>
            </a:r>
            <a:r>
              <a:rPr lang="zh-CN" altLang="en-US" dirty="0"/>
              <a:t>。</a:t>
            </a:r>
          </a:p>
          <a:p>
            <a:r>
              <a:rPr lang="zh-CN" altLang="en-US" dirty="0"/>
              <a:t>若平均队列长度小于最小门限 </a:t>
            </a:r>
            <a:r>
              <a:rPr lang="en-US" altLang="zh-CN" dirty="0" err="1"/>
              <a:t>THmin</a:t>
            </a:r>
            <a:r>
              <a:rPr lang="zh-CN" altLang="en-US" dirty="0"/>
              <a:t>，则将新到达的分组放入队列进行排队。</a:t>
            </a:r>
          </a:p>
          <a:p>
            <a:r>
              <a:rPr lang="zh-CN" altLang="en-US" dirty="0"/>
              <a:t>若平均队列长度超过最大门限 </a:t>
            </a:r>
            <a:r>
              <a:rPr lang="en-US" altLang="zh-CN" dirty="0" err="1"/>
              <a:t>THmax</a:t>
            </a:r>
            <a:r>
              <a:rPr lang="en-US" altLang="zh-CN" dirty="0"/>
              <a:t> </a:t>
            </a:r>
            <a:r>
              <a:rPr lang="zh-CN" altLang="en-US" dirty="0"/>
              <a:t>，则将新到达的分组丢弃。</a:t>
            </a:r>
          </a:p>
          <a:p>
            <a:r>
              <a:rPr lang="zh-CN" altLang="en-US" dirty="0"/>
              <a:t>若平均队列长度介于在最小门限 </a:t>
            </a:r>
            <a:r>
              <a:rPr lang="en-US" altLang="zh-CN" dirty="0" err="1"/>
              <a:t>THmin</a:t>
            </a:r>
            <a:r>
              <a:rPr lang="en-US" altLang="zh-CN" dirty="0"/>
              <a:t> </a:t>
            </a:r>
            <a:r>
              <a:rPr lang="zh-CN" altLang="en-US" dirty="0"/>
              <a:t>和最大门限 </a:t>
            </a:r>
            <a:r>
              <a:rPr lang="en-US" altLang="zh-CN" dirty="0" err="1"/>
              <a:t>THax</a:t>
            </a:r>
            <a:r>
              <a:rPr lang="en-US" altLang="zh-CN" dirty="0"/>
              <a:t> </a:t>
            </a:r>
            <a:r>
              <a:rPr lang="zh-CN" altLang="en-US" dirty="0"/>
              <a:t>之间，则按照某一概率 </a:t>
            </a:r>
            <a:r>
              <a:rPr lang="en-US" altLang="zh-CN" dirty="0"/>
              <a:t>p </a:t>
            </a:r>
            <a:r>
              <a:rPr lang="zh-CN" altLang="en-US" dirty="0"/>
              <a:t>将新到达的分组丢弃。</a:t>
            </a:r>
          </a:p>
          <a:p>
            <a:endParaRPr lang="zh-CN" altLang="en-US" dirty="0"/>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8" name="标题 37">
            <a:extLst>
              <a:ext uri="{FF2B5EF4-FFF2-40B4-BE49-F238E27FC236}">
                <a16:creationId xmlns:a16="http://schemas.microsoft.com/office/drawing/2014/main" id="{A7F7AEC9-06C0-DFBE-3300-4839DF72DDD1}"/>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52C58593-1B4A-8015-D83E-07287AC8F83D}"/>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a:xfrm>
            <a:off x="486000" y="482554"/>
            <a:ext cx="8172000" cy="4120946"/>
          </a:xfrm>
        </p:spPr>
        <p:txBody>
          <a:bodyPr/>
          <a:lstStyle/>
          <a:p>
            <a:r>
              <a:rPr lang="zh-CN" altLang="en-US" dirty="0"/>
              <a:t>多年的实践证明，</a:t>
            </a:r>
            <a:r>
              <a:rPr lang="en-US" altLang="zh-CN" dirty="0"/>
              <a:t>RED </a:t>
            </a:r>
            <a:r>
              <a:rPr lang="zh-CN" altLang="en-US" dirty="0"/>
              <a:t>的使用效果并不太理想。</a:t>
            </a:r>
          </a:p>
          <a:p>
            <a:r>
              <a:rPr lang="en-US" altLang="zh-CN" dirty="0"/>
              <a:t>2015 </a:t>
            </a:r>
            <a:r>
              <a:rPr lang="zh-CN" altLang="en-US" dirty="0"/>
              <a:t>年公布的 </a:t>
            </a:r>
            <a:r>
              <a:rPr lang="en-US" altLang="zh-CN" dirty="0"/>
              <a:t>RFC 7567 </a:t>
            </a:r>
            <a:r>
              <a:rPr lang="zh-CN" altLang="en-US" dirty="0"/>
              <a:t>已经把 </a:t>
            </a:r>
            <a:r>
              <a:rPr lang="en-US" altLang="zh-CN" dirty="0"/>
              <a:t>RFC 2309 </a:t>
            </a:r>
            <a:r>
              <a:rPr lang="zh-CN" altLang="en-US" dirty="0"/>
              <a:t>列为“陈旧的”，并且不再推荐使用 </a:t>
            </a:r>
            <a:r>
              <a:rPr lang="en-US" altLang="zh-CN" dirty="0"/>
              <a:t>RED</a:t>
            </a:r>
            <a:r>
              <a:rPr lang="zh-CN" altLang="en-US" dirty="0"/>
              <a:t>。</a:t>
            </a:r>
          </a:p>
          <a:p>
            <a:r>
              <a:rPr lang="zh-CN" altLang="en-US" dirty="0"/>
              <a:t>但对路由器进行主动队列管理 </a:t>
            </a:r>
            <a:r>
              <a:rPr lang="en-US" altLang="zh-CN" dirty="0"/>
              <a:t>AQM </a:t>
            </a:r>
            <a:r>
              <a:rPr lang="zh-CN" altLang="en-US" dirty="0"/>
              <a:t>仍是必要的。</a:t>
            </a:r>
          </a:p>
          <a:p>
            <a:r>
              <a:rPr lang="en-US" altLang="zh-CN" dirty="0"/>
              <a:t>AQM </a:t>
            </a:r>
            <a:r>
              <a:rPr lang="zh-CN" altLang="en-US" dirty="0"/>
              <a:t>实际上就是对路由器中的分组排队进行智能管理，而不是简单地把队列的尾部丢弃。</a:t>
            </a:r>
          </a:p>
          <a:p>
            <a:r>
              <a:rPr lang="zh-CN" altLang="en-US" dirty="0"/>
              <a:t>现在已经有几种不同的算法来代替旧的 </a:t>
            </a:r>
            <a:r>
              <a:rPr lang="en-US" altLang="zh-CN" dirty="0"/>
              <a:t>RED</a:t>
            </a:r>
            <a:r>
              <a:rPr lang="zh-CN" altLang="en-US" dirty="0"/>
              <a:t>，但都还在实验阶段。</a:t>
            </a:r>
          </a:p>
          <a:p>
            <a:endParaRPr lang="zh-CN" altLang="en-US" dirty="0"/>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0" name="内容占位符 9">
            <a:extLst>
              <a:ext uri="{FF2B5EF4-FFF2-40B4-BE49-F238E27FC236}">
                <a16:creationId xmlns:a16="http://schemas.microsoft.com/office/drawing/2014/main" id="{14FC28B3-08DC-BAF6-0B75-C17B219A0C24}"/>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F702E7E8-5CAA-932A-57D0-653D47D5AA6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是面向连接的协议。</a:t>
            </a:r>
          </a:p>
          <a:p>
            <a:r>
              <a:rPr lang="en-US" altLang="zh-CN" dirty="0"/>
              <a:t>TCP </a:t>
            </a:r>
            <a:r>
              <a:rPr lang="zh-CN" altLang="en-US" dirty="0"/>
              <a:t>连接有三个阶段：</a:t>
            </a:r>
          </a:p>
          <a:p>
            <a:pPr lvl="1"/>
            <a:r>
              <a:rPr lang="zh-CN" altLang="en-US" dirty="0"/>
              <a:t>连接建立</a:t>
            </a:r>
          </a:p>
          <a:p>
            <a:pPr lvl="1"/>
            <a:r>
              <a:rPr lang="zh-CN" altLang="en-US" dirty="0"/>
              <a:t>数据传送</a:t>
            </a:r>
          </a:p>
          <a:p>
            <a:pPr lvl="1"/>
            <a:r>
              <a:rPr lang="zh-CN" altLang="en-US" dirty="0"/>
              <a:t>连接释放</a:t>
            </a:r>
          </a:p>
          <a:p>
            <a:r>
              <a:rPr lang="en-US" altLang="zh-CN" dirty="0"/>
              <a:t>TCP </a:t>
            </a:r>
            <a:r>
              <a:rPr lang="zh-CN" altLang="en-US" dirty="0"/>
              <a:t>的连接管理就是使 </a:t>
            </a:r>
            <a:r>
              <a:rPr lang="en-US" altLang="zh-CN" dirty="0"/>
              <a:t>TCP </a:t>
            </a:r>
            <a:r>
              <a:rPr lang="zh-CN" altLang="en-US" dirty="0"/>
              <a:t>连接的建立和释放都能正常地进行。</a:t>
            </a:r>
          </a:p>
          <a:p>
            <a:endParaRPr lang="zh-CN" altLang="en-US" dirty="0"/>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2808000" y="144000"/>
            <a:ext cx="3528000" cy="338554"/>
          </a:xfrm>
        </p:spPr>
        <p:txBody>
          <a:bodyPr/>
          <a:lstStyle/>
          <a:p>
            <a:r>
              <a:rPr lang="zh-CN" altLang="en-US" dirty="0"/>
              <a:t>运输连接的三个阶段</a:t>
            </a:r>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a:xfrm>
            <a:off x="486000" y="482554"/>
            <a:ext cx="8172000" cy="4120946"/>
          </a:xfrm>
        </p:spPr>
        <p:txBody>
          <a:bodyPr/>
          <a:lstStyle/>
          <a:p>
            <a:r>
              <a:rPr lang="zh-CN" altLang="en-US" dirty="0"/>
              <a:t>要使每一方能够确知对方的存在。</a:t>
            </a:r>
          </a:p>
          <a:p>
            <a:r>
              <a:rPr lang="zh-CN" altLang="en-US" dirty="0"/>
              <a:t>要允许双方协商一些参数（如最大窗口值、是否使用窗口扩大选项和时间戳选项以及服务质量等）。</a:t>
            </a:r>
          </a:p>
          <a:p>
            <a:r>
              <a:rPr lang="zh-CN" altLang="en-US" dirty="0"/>
              <a:t>能够对运输实体资源（如缓存大小、连接表中的项目等）进行分配。</a:t>
            </a:r>
          </a:p>
          <a:p>
            <a:endParaRPr lang="zh-CN" altLang="en-US" dirty="0"/>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2808000" y="144000"/>
            <a:ext cx="3528000" cy="338554"/>
          </a:xfrm>
        </p:spPr>
        <p:txBody>
          <a:bodyPr/>
          <a:lstStyle/>
          <a:p>
            <a:r>
              <a:rPr lang="en-US" altLang="zh-CN" dirty="0"/>
              <a:t>TCP </a:t>
            </a:r>
            <a:r>
              <a:rPr lang="zh-CN" altLang="en-US" dirty="0"/>
              <a:t>连接建立过程中要解决的三个问题</a:t>
            </a:r>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建立连接的过程叫做握手。</a:t>
            </a:r>
          </a:p>
          <a:p>
            <a:r>
              <a:rPr lang="zh-CN" altLang="en-US" dirty="0"/>
              <a:t>采用三报文握手：在客户和服务器之间交换三个 </a:t>
            </a:r>
            <a:r>
              <a:rPr lang="en-US" altLang="zh-CN" dirty="0"/>
              <a:t>TCP </a:t>
            </a:r>
            <a:r>
              <a:rPr lang="zh-CN" altLang="en-US" dirty="0"/>
              <a:t>报文段，以防止已失效的连接请求报文段突然又传送到了，因而产生 </a:t>
            </a:r>
            <a:r>
              <a:rPr lang="en-US" altLang="zh-CN" dirty="0"/>
              <a:t>TCP </a:t>
            </a:r>
            <a:r>
              <a:rPr lang="zh-CN" altLang="en-US" dirty="0"/>
              <a:t>连接建立错误。</a:t>
            </a:r>
          </a:p>
          <a:p>
            <a:endParaRPr lang="zh-CN" altLang="en-US" dirty="0"/>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2808000" y="144000"/>
            <a:ext cx="3528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C2194A7F-D144-00CF-586C-1B78B1A0DD71}"/>
              </a:ext>
            </a:extLst>
          </p:cNvPr>
          <p:cNvGrpSpPr/>
          <p:nvPr/>
        </p:nvGrpSpPr>
        <p:grpSpPr>
          <a:xfrm>
            <a:off x="2827328" y="881788"/>
            <a:ext cx="3489344" cy="3348000"/>
            <a:chOff x="2464083" y="881788"/>
            <a:chExt cx="3489344" cy="3348000"/>
          </a:xfrm>
        </p:grpSpPr>
        <p:cxnSp>
          <p:nvCxnSpPr>
            <p:cNvPr id="7" name="直接箭头连接符 6">
              <a:extLst>
                <a:ext uri="{FF2B5EF4-FFF2-40B4-BE49-F238E27FC236}">
                  <a16:creationId xmlns:a16="http://schemas.microsoft.com/office/drawing/2014/main" id="{C80FF363-BC0E-F513-0462-96F884DB1FDC}"/>
                </a:ext>
              </a:extLst>
            </p:cNvPr>
            <p:cNvCxnSpPr>
              <a:cxnSpLocks/>
            </p:cNvCxnSpPr>
            <p:nvPr/>
          </p:nvCxnSpPr>
          <p:spPr>
            <a:xfrm>
              <a:off x="2644083" y="1332655"/>
              <a:ext cx="0" cy="28971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2E1B91C-93FA-1433-6508-4A43CD8D807B}"/>
                </a:ext>
              </a:extLst>
            </p:cNvPr>
            <p:cNvCxnSpPr>
              <a:cxnSpLocks/>
              <a:stCxn id="22" idx="2"/>
            </p:cNvCxnSpPr>
            <p:nvPr/>
          </p:nvCxnSpPr>
          <p:spPr>
            <a:xfrm>
              <a:off x="5773427" y="1349788"/>
              <a:ext cx="0" cy="28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3720D08-6F14-38E6-12AA-2F942A367B46}"/>
                </a:ext>
              </a:extLst>
            </p:cNvPr>
            <p:cNvSpPr txBox="1"/>
            <p:nvPr/>
          </p:nvSpPr>
          <p:spPr>
            <a:xfrm>
              <a:off x="2889737" y="1055656"/>
              <a:ext cx="50045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C2D2F0C1-4F48-4565-097F-21C3E7248276}"/>
                </a:ext>
              </a:extLst>
            </p:cNvPr>
            <p:cNvSpPr txBox="1"/>
            <p:nvPr/>
          </p:nvSpPr>
          <p:spPr>
            <a:xfrm>
              <a:off x="5035260" y="1055656"/>
              <a:ext cx="5581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 name="文本框 10">
              <a:extLst>
                <a:ext uri="{FF2B5EF4-FFF2-40B4-BE49-F238E27FC236}">
                  <a16:creationId xmlns:a16="http://schemas.microsoft.com/office/drawing/2014/main" id="{2AB7995F-7501-3414-56E0-2CC9D159BB4D}"/>
                </a:ext>
              </a:extLst>
            </p:cNvPr>
            <p:cNvSpPr txBox="1"/>
            <p:nvPr/>
          </p:nvSpPr>
          <p:spPr>
            <a:xfrm>
              <a:off x="2908073" y="1658349"/>
              <a:ext cx="258917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I would like to talk to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 name="文本框 11">
              <a:extLst>
                <a:ext uri="{FF2B5EF4-FFF2-40B4-BE49-F238E27FC236}">
                  <a16:creationId xmlns:a16="http://schemas.microsoft.com/office/drawing/2014/main" id="{D90B4BF5-F870-456B-089B-598433C770CC}"/>
                </a:ext>
              </a:extLst>
            </p:cNvPr>
            <p:cNvSpPr txBox="1"/>
            <p:nvPr/>
          </p:nvSpPr>
          <p:spPr>
            <a:xfrm>
              <a:off x="3436262" y="2400090"/>
              <a:ext cx="153279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let’s talk. 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文本框 12">
              <a:extLst>
                <a:ext uri="{FF2B5EF4-FFF2-40B4-BE49-F238E27FC236}">
                  <a16:creationId xmlns:a16="http://schemas.microsoft.com/office/drawing/2014/main" id="{2D5DC4C4-2CE4-FDE6-CB90-80F89118B614}"/>
                </a:ext>
              </a:extLst>
            </p:cNvPr>
            <p:cNvSpPr txBox="1"/>
            <p:nvPr/>
          </p:nvSpPr>
          <p:spPr>
            <a:xfrm>
              <a:off x="3334472" y="3291955"/>
              <a:ext cx="173637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thank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 name="直接箭头连接符 14">
              <a:extLst>
                <a:ext uri="{FF2B5EF4-FFF2-40B4-BE49-F238E27FC236}">
                  <a16:creationId xmlns:a16="http://schemas.microsoft.com/office/drawing/2014/main" id="{32FF09AF-22D3-1EEF-0F0D-F8D9ECD231A4}"/>
                </a:ext>
              </a:extLst>
            </p:cNvPr>
            <p:cNvCxnSpPr>
              <a:cxnSpLocks/>
            </p:cNvCxnSpPr>
            <p:nvPr/>
          </p:nvCxnSpPr>
          <p:spPr>
            <a:xfrm>
              <a:off x="2672658" y="1935348"/>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D3A9630C-36DC-3779-A1FB-26718B3A1CA9}"/>
                </a:ext>
              </a:extLst>
            </p:cNvPr>
            <p:cNvCxnSpPr>
              <a:cxnSpLocks/>
            </p:cNvCxnSpPr>
            <p:nvPr/>
          </p:nvCxnSpPr>
          <p:spPr>
            <a:xfrm>
              <a:off x="2672658" y="3568954"/>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8D5AF9-308A-50B4-85CD-E6F7CC8B17FA}"/>
                </a:ext>
              </a:extLst>
            </p:cNvPr>
            <p:cNvCxnSpPr>
              <a:cxnSpLocks/>
            </p:cNvCxnSpPr>
            <p:nvPr/>
          </p:nvCxnSpPr>
          <p:spPr>
            <a:xfrm flipH="1">
              <a:off x="2672658" y="2677089"/>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6F333424-1B0A-FC44-A9BD-30232A0B43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64083" y="972655"/>
              <a:ext cx="360000" cy="360000"/>
            </a:xfrm>
            <a:prstGeom prst="rect">
              <a:avLst/>
            </a:prstGeom>
          </p:spPr>
        </p:pic>
        <p:pic>
          <p:nvPicPr>
            <p:cNvPr id="22" name="图片 21">
              <a:extLst>
                <a:ext uri="{FF2B5EF4-FFF2-40B4-BE49-F238E27FC236}">
                  <a16:creationId xmlns:a16="http://schemas.microsoft.com/office/drawing/2014/main" id="{BA33F9E0-DA70-90DC-6252-77C04D78C2F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5593427" y="881788"/>
              <a:ext cx="360000" cy="468000"/>
            </a:xfrm>
            <a:prstGeom prst="rect">
              <a:avLst/>
            </a:prstGeom>
          </p:spPr>
        </p:pic>
      </p:grpSp>
    </p:spTree>
    <p:extLst>
      <p:ext uri="{BB962C8B-B14F-4D97-AF65-F5344CB8AC3E}">
        <p14:creationId xmlns:p14="http://schemas.microsoft.com/office/powerpoint/2010/main" val="1643966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6" name="标题 15">
            <a:extLst>
              <a:ext uri="{FF2B5EF4-FFF2-40B4-BE49-F238E27FC236}">
                <a16:creationId xmlns:a16="http://schemas.microsoft.com/office/drawing/2014/main" id="{E832566C-F22D-93FB-A599-5D92EFC91B90}"/>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6" name="标题 15">
            <a:extLst>
              <a:ext uri="{FF2B5EF4-FFF2-40B4-BE49-F238E27FC236}">
                <a16:creationId xmlns:a16="http://schemas.microsoft.com/office/drawing/2014/main" id="{1DECCECE-B6C9-F192-5AD6-47B4743F6EDC}"/>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3" name="标题 32">
            <a:extLst>
              <a:ext uri="{FF2B5EF4-FFF2-40B4-BE49-F238E27FC236}">
                <a16:creationId xmlns:a16="http://schemas.microsoft.com/office/drawing/2014/main" id="{95C3F8EF-4D9C-0886-235F-BB23F5B68E65}"/>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6" name="标题 35">
            <a:extLst>
              <a:ext uri="{FF2B5EF4-FFF2-40B4-BE49-F238E27FC236}">
                <a16:creationId xmlns:a16="http://schemas.microsoft.com/office/drawing/2014/main" id="{26CC9722-6784-35B5-4BF8-8485296921E2}"/>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9" name="标题 38">
            <a:extLst>
              <a:ext uri="{FF2B5EF4-FFF2-40B4-BE49-F238E27FC236}">
                <a16:creationId xmlns:a16="http://schemas.microsoft.com/office/drawing/2014/main" id="{C2FFC152-2147-E6AF-D473-D35C5E34A1B9}"/>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1" name="标题 40">
            <a:extLst>
              <a:ext uri="{FF2B5EF4-FFF2-40B4-BE49-F238E27FC236}">
                <a16:creationId xmlns:a16="http://schemas.microsoft.com/office/drawing/2014/main" id="{FA31AAF7-E286-72B8-A25D-17D80ED786EB}"/>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9" name="标题 38">
            <a:extLst>
              <a:ext uri="{FF2B5EF4-FFF2-40B4-BE49-F238E27FC236}">
                <a16:creationId xmlns:a16="http://schemas.microsoft.com/office/drawing/2014/main" id="{69F05BA6-8912-393B-FF3C-30C94CF2F82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47D15CC1-5781-A9FD-7949-A7C95335D57C}"/>
              </a:ext>
            </a:extLst>
          </p:cNvPr>
          <p:cNvCxnSpPr>
            <a:cxnSpLocks/>
          </p:cNvCxnSpPr>
          <p:nvPr/>
        </p:nvCxnSpPr>
        <p:spPr>
          <a:xfrm>
            <a:off x="3008675" y="907696"/>
            <a:ext cx="0" cy="360000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FEC8E802-DCFB-F2C8-1459-2F22F0E42B88}"/>
              </a:ext>
            </a:extLst>
          </p:cNvPr>
          <p:cNvCxnSpPr>
            <a:cxnSpLocks/>
          </p:cNvCxnSpPr>
          <p:nvPr/>
        </p:nvCxnSpPr>
        <p:spPr>
          <a:xfrm>
            <a:off x="6135325" y="907696"/>
            <a:ext cx="0" cy="360000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 name="图形 4" descr="监视器">
            <a:extLst>
              <a:ext uri="{FF2B5EF4-FFF2-40B4-BE49-F238E27FC236}">
                <a16:creationId xmlns:a16="http://schemas.microsoft.com/office/drawing/2014/main" id="{5BB9EDD4-3F0E-0283-7864-426C18E272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792675" y="553196"/>
            <a:ext cx="432000" cy="432000"/>
          </a:xfrm>
          <a:prstGeom prst="rect">
            <a:avLst/>
          </a:prstGeom>
        </p:spPr>
      </p:pic>
      <p:pic>
        <p:nvPicPr>
          <p:cNvPr id="8" name="图形 7" descr="监视器">
            <a:extLst>
              <a:ext uri="{FF2B5EF4-FFF2-40B4-BE49-F238E27FC236}">
                <a16:creationId xmlns:a16="http://schemas.microsoft.com/office/drawing/2014/main" id="{17145CFB-63B6-38AB-DAF9-92A4D5D9A29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19325" y="553196"/>
            <a:ext cx="432000" cy="432000"/>
          </a:xfrm>
          <a:prstGeom prst="rect">
            <a:avLst/>
          </a:prstGeom>
        </p:spPr>
      </p:pic>
      <p:cxnSp>
        <p:nvCxnSpPr>
          <p:cNvPr id="10" name="直接箭头连接符 9">
            <a:extLst>
              <a:ext uri="{FF2B5EF4-FFF2-40B4-BE49-F238E27FC236}">
                <a16:creationId xmlns:a16="http://schemas.microsoft.com/office/drawing/2014/main" id="{AF485F0E-7474-25C5-73FB-A9FC88D067E7}"/>
              </a:ext>
            </a:extLst>
          </p:cNvPr>
          <p:cNvCxnSpPr>
            <a:cxnSpLocks/>
            <a:stCxn id="19" idx="3"/>
            <a:endCxn id="20" idx="1"/>
          </p:cNvCxnSpPr>
          <p:nvPr/>
        </p:nvCxnSpPr>
        <p:spPr>
          <a:xfrm>
            <a:off x="3008675" y="1656019"/>
            <a:ext cx="3126650" cy="477824"/>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41A7C4B1-6D99-D0F8-E504-DF8806B5DA27}"/>
              </a:ext>
            </a:extLst>
          </p:cNvPr>
          <p:cNvCxnSpPr>
            <a:cxnSpLocks/>
          </p:cNvCxnSpPr>
          <p:nvPr/>
        </p:nvCxnSpPr>
        <p:spPr>
          <a:xfrm flipH="1">
            <a:off x="3008675" y="2197783"/>
            <a:ext cx="3126650" cy="736480"/>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09DAF7F8-8ADD-CB8E-B31A-ACF047960F45}"/>
              </a:ext>
            </a:extLst>
          </p:cNvPr>
          <p:cNvCxnSpPr>
            <a:cxnSpLocks/>
          </p:cNvCxnSpPr>
          <p:nvPr/>
        </p:nvCxnSpPr>
        <p:spPr>
          <a:xfrm>
            <a:off x="3008675" y="2998203"/>
            <a:ext cx="3126650" cy="493253"/>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B5D1F939-D92A-7D02-6527-37ECCF436B8B}"/>
              </a:ext>
            </a:extLst>
          </p:cNvPr>
          <p:cNvSpPr txBox="1"/>
          <p:nvPr/>
        </p:nvSpPr>
        <p:spPr>
          <a:xfrm rot="540000">
            <a:off x="4007583" y="1585272"/>
            <a:ext cx="112883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seq=x</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90CD8884-3B11-5208-1AB1-8A9658CAFCA0}"/>
              </a:ext>
            </a:extLst>
          </p:cNvPr>
          <p:cNvSpPr txBox="1"/>
          <p:nvPr/>
        </p:nvSpPr>
        <p:spPr>
          <a:xfrm rot="20808004">
            <a:off x="3678967" y="2319095"/>
            <a:ext cx="1786066"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ACK=1 ack=x+1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seq=y </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5" name="文本框 14">
            <a:extLst>
              <a:ext uri="{FF2B5EF4-FFF2-40B4-BE49-F238E27FC236}">
                <a16:creationId xmlns:a16="http://schemas.microsoft.com/office/drawing/2014/main" id="{34365C8C-B898-59E8-021B-19121C4387CF}"/>
              </a:ext>
            </a:extLst>
          </p:cNvPr>
          <p:cNvSpPr txBox="1"/>
          <p:nvPr/>
        </p:nvSpPr>
        <p:spPr>
          <a:xfrm rot="525163">
            <a:off x="3929036" y="3015992"/>
            <a:ext cx="128592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ACK=1 ack=y+1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 = x+1</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6" name="矩形 15">
            <a:extLst>
              <a:ext uri="{FF2B5EF4-FFF2-40B4-BE49-F238E27FC236}">
                <a16:creationId xmlns:a16="http://schemas.microsoft.com/office/drawing/2014/main" id="{CDB39CFD-E5ED-7063-B40E-9F1A61FB0739}"/>
              </a:ext>
            </a:extLst>
          </p:cNvPr>
          <p:cNvSpPr/>
          <p:nvPr/>
        </p:nvSpPr>
        <p:spPr>
          <a:xfrm>
            <a:off x="1568675" y="960670"/>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17" name="矩形 16">
            <a:extLst>
              <a:ext uri="{FF2B5EF4-FFF2-40B4-BE49-F238E27FC236}">
                <a16:creationId xmlns:a16="http://schemas.microsoft.com/office/drawing/2014/main" id="{A5BF2568-8721-B52F-81EB-DE4D8ABF589D}"/>
              </a:ext>
            </a:extLst>
          </p:cNvPr>
          <p:cNvSpPr/>
          <p:nvPr/>
        </p:nvSpPr>
        <p:spPr>
          <a:xfrm>
            <a:off x="6135325" y="96066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8" name="矩形 17">
            <a:extLst>
              <a:ext uri="{FF2B5EF4-FFF2-40B4-BE49-F238E27FC236}">
                <a16:creationId xmlns:a16="http://schemas.microsoft.com/office/drawing/2014/main" id="{6B9B0A21-91AF-6659-B7A4-16AB52CAB229}"/>
              </a:ext>
            </a:extLst>
          </p:cNvPr>
          <p:cNvSpPr/>
          <p:nvPr/>
        </p:nvSpPr>
        <p:spPr>
          <a:xfrm>
            <a:off x="6135325" y="1386134"/>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LISTEN</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9" name="矩形 18">
            <a:extLst>
              <a:ext uri="{FF2B5EF4-FFF2-40B4-BE49-F238E27FC236}">
                <a16:creationId xmlns:a16="http://schemas.microsoft.com/office/drawing/2014/main" id="{B6FE02D6-3420-13E5-C262-350FD1A3B95F}"/>
              </a:ext>
            </a:extLst>
          </p:cNvPr>
          <p:cNvSpPr/>
          <p:nvPr/>
        </p:nvSpPr>
        <p:spPr>
          <a:xfrm>
            <a:off x="1568675" y="151751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SYN-SENT</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0" name="矩形 19">
            <a:extLst>
              <a:ext uri="{FF2B5EF4-FFF2-40B4-BE49-F238E27FC236}">
                <a16:creationId xmlns:a16="http://schemas.microsoft.com/office/drawing/2014/main" id="{B3CBFDAE-63CF-7D49-CA70-9CDB0EC06F82}"/>
              </a:ext>
            </a:extLst>
          </p:cNvPr>
          <p:cNvSpPr/>
          <p:nvPr/>
        </p:nvSpPr>
        <p:spPr>
          <a:xfrm>
            <a:off x="6135325" y="199534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SYN-RCVD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1" name="矩形 20">
            <a:extLst>
              <a:ext uri="{FF2B5EF4-FFF2-40B4-BE49-F238E27FC236}">
                <a16:creationId xmlns:a16="http://schemas.microsoft.com/office/drawing/2014/main" id="{4567E7F4-B634-36C9-D3BB-E52637B13DAE}"/>
              </a:ext>
            </a:extLst>
          </p:cNvPr>
          <p:cNvSpPr/>
          <p:nvPr/>
        </p:nvSpPr>
        <p:spPr>
          <a:xfrm>
            <a:off x="1568675" y="273182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2" name="矩形 21">
            <a:extLst>
              <a:ext uri="{FF2B5EF4-FFF2-40B4-BE49-F238E27FC236}">
                <a16:creationId xmlns:a16="http://schemas.microsoft.com/office/drawing/2014/main" id="{EDC68764-2D0B-5CBA-9ADD-355F87844811}"/>
              </a:ext>
            </a:extLst>
          </p:cNvPr>
          <p:cNvSpPr/>
          <p:nvPr/>
        </p:nvSpPr>
        <p:spPr>
          <a:xfrm>
            <a:off x="6135325" y="3225076"/>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箭头: 左右 22">
            <a:extLst>
              <a:ext uri="{FF2B5EF4-FFF2-40B4-BE49-F238E27FC236}">
                <a16:creationId xmlns:a16="http://schemas.microsoft.com/office/drawing/2014/main" id="{7C8E832C-28A8-33B7-ECE1-CE4A4A0D10A3}"/>
              </a:ext>
            </a:extLst>
          </p:cNvPr>
          <p:cNvSpPr/>
          <p:nvPr/>
        </p:nvSpPr>
        <p:spPr>
          <a:xfrm>
            <a:off x="3132000" y="4006874"/>
            <a:ext cx="2880000" cy="493253"/>
          </a:xfrm>
          <a:prstGeom prst="leftRightArrow">
            <a:avLst>
              <a:gd name="adj1" fmla="val 59644"/>
              <a:gd name="adj2" fmla="val 85303"/>
            </a:avLst>
          </a:prstGeom>
          <a:solidFill>
            <a:schemeClr val="bg1">
              <a:lumMod val="75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数据传输</a:t>
            </a:r>
          </a:p>
        </p:txBody>
      </p:sp>
      <p:sp>
        <p:nvSpPr>
          <p:cNvPr id="24" name="文本框 23">
            <a:extLst>
              <a:ext uri="{FF2B5EF4-FFF2-40B4-BE49-F238E27FC236}">
                <a16:creationId xmlns:a16="http://schemas.microsoft.com/office/drawing/2014/main" id="{96AC86E7-ACD9-6D38-15BB-DAA07DF5B35E}"/>
              </a:ext>
            </a:extLst>
          </p:cNvPr>
          <p:cNvSpPr txBox="1"/>
          <p:nvPr/>
        </p:nvSpPr>
        <p:spPr>
          <a:xfrm>
            <a:off x="3159777"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5" name="文本框 24">
            <a:extLst>
              <a:ext uri="{FF2B5EF4-FFF2-40B4-BE49-F238E27FC236}">
                <a16:creationId xmlns:a16="http://schemas.microsoft.com/office/drawing/2014/main" id="{D3E3829D-EEEE-FFC9-BB5B-BD35FC5F6147}"/>
              </a:ext>
            </a:extLst>
          </p:cNvPr>
          <p:cNvSpPr txBox="1"/>
          <p:nvPr/>
        </p:nvSpPr>
        <p:spPr>
          <a:xfrm>
            <a:off x="5333098"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27377392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连接释放过程比较复杂。</a:t>
            </a:r>
          </a:p>
          <a:p>
            <a:r>
              <a:rPr lang="zh-CN" altLang="en-US" dirty="0"/>
              <a:t>数据传输结束后，通信的双方都可释放连接。</a:t>
            </a:r>
          </a:p>
          <a:p>
            <a:r>
              <a:rPr lang="en-US" altLang="zh-CN" dirty="0"/>
              <a:t>TCP </a:t>
            </a:r>
            <a:r>
              <a:rPr lang="zh-CN" altLang="en-US" dirty="0"/>
              <a:t>连接释放过程是四报文握手。</a:t>
            </a:r>
          </a:p>
          <a:p>
            <a:endParaRPr lang="zh-CN" altLang="en-US" dirty="0"/>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2808000" y="144000"/>
            <a:ext cx="3528000" cy="338554"/>
          </a:xfrm>
        </p:spPr>
        <p:txBody>
          <a:bodyPr/>
          <a:lstStyle/>
          <a:p>
            <a:r>
              <a:rPr lang="en-US" altLang="zh-CN" dirty="0"/>
              <a:t>5.9.2  TCP </a:t>
            </a:r>
            <a:r>
              <a:rPr lang="zh-CN" altLang="en-US" dirty="0"/>
              <a:t>的连接释放</a:t>
            </a:r>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4" name="标题 3">
            <a:extLst>
              <a:ext uri="{FF2B5EF4-FFF2-40B4-BE49-F238E27FC236}">
                <a16:creationId xmlns:a16="http://schemas.microsoft.com/office/drawing/2014/main" id="{DCF2A2B3-8CD5-AC28-82C8-D2C18F4757B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B0E9E113-0318-8150-A7C1-2379A1F8B50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7" name="标题 6">
            <a:extLst>
              <a:ext uri="{FF2B5EF4-FFF2-40B4-BE49-F238E27FC236}">
                <a16:creationId xmlns:a16="http://schemas.microsoft.com/office/drawing/2014/main" id="{4EBEF774-C65C-3951-CBF0-60AB1FB89E75}"/>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1" name="标题 50">
            <a:extLst>
              <a:ext uri="{FF2B5EF4-FFF2-40B4-BE49-F238E27FC236}">
                <a16:creationId xmlns:a16="http://schemas.microsoft.com/office/drawing/2014/main" id="{D7359099-2363-1B71-4D58-BED7F9715A2A}"/>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1" name="标题 10">
            <a:extLst>
              <a:ext uri="{FF2B5EF4-FFF2-40B4-BE49-F238E27FC236}">
                <a16:creationId xmlns:a16="http://schemas.microsoft.com/office/drawing/2014/main" id="{76E2E0E9-FCB8-882B-4CFE-13B39CDA59F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01FF476F-3D5C-F064-1FBC-C1DF3B53EB2E}"/>
              </a:ext>
            </a:extLst>
          </p:cNvPr>
          <p:cNvCxnSpPr>
            <a:cxnSpLocks/>
          </p:cNvCxnSpPr>
          <p:nvPr/>
        </p:nvCxnSpPr>
        <p:spPr>
          <a:xfrm>
            <a:off x="3041075" y="907696"/>
            <a:ext cx="0" cy="360000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19C406F-4EA6-48C8-E54C-9BB46A9CAFC3}"/>
              </a:ext>
            </a:extLst>
          </p:cNvPr>
          <p:cNvCxnSpPr>
            <a:cxnSpLocks/>
          </p:cNvCxnSpPr>
          <p:nvPr/>
        </p:nvCxnSpPr>
        <p:spPr>
          <a:xfrm>
            <a:off x="6167725" y="907696"/>
            <a:ext cx="0" cy="360000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6" name="图形 5" descr="监视器">
            <a:extLst>
              <a:ext uri="{FF2B5EF4-FFF2-40B4-BE49-F238E27FC236}">
                <a16:creationId xmlns:a16="http://schemas.microsoft.com/office/drawing/2014/main" id="{CEACB10B-4689-AE57-C19E-FA5447BEA40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825075" y="553196"/>
            <a:ext cx="432000" cy="432000"/>
          </a:xfrm>
          <a:prstGeom prst="rect">
            <a:avLst/>
          </a:prstGeom>
        </p:spPr>
      </p:pic>
      <p:pic>
        <p:nvPicPr>
          <p:cNvPr id="9" name="图形 8" descr="监视器">
            <a:extLst>
              <a:ext uri="{FF2B5EF4-FFF2-40B4-BE49-F238E27FC236}">
                <a16:creationId xmlns:a16="http://schemas.microsoft.com/office/drawing/2014/main" id="{0DD150A7-5A10-5C86-EBA8-5BF0E13BDA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51725" y="553196"/>
            <a:ext cx="432000" cy="432000"/>
          </a:xfrm>
          <a:prstGeom prst="rect">
            <a:avLst/>
          </a:prstGeom>
        </p:spPr>
      </p:pic>
      <p:cxnSp>
        <p:nvCxnSpPr>
          <p:cNvPr id="11" name="直接箭头连接符 10">
            <a:extLst>
              <a:ext uri="{FF2B5EF4-FFF2-40B4-BE49-F238E27FC236}">
                <a16:creationId xmlns:a16="http://schemas.microsoft.com/office/drawing/2014/main" id="{D4ED6286-38B8-6E25-ACE6-C6CD528EB5C3}"/>
              </a:ext>
            </a:extLst>
          </p:cNvPr>
          <p:cNvCxnSpPr>
            <a:cxnSpLocks/>
          </p:cNvCxnSpPr>
          <p:nvPr/>
        </p:nvCxnSpPr>
        <p:spPr>
          <a:xfrm>
            <a:off x="3041074" y="3187843"/>
            <a:ext cx="3141051" cy="453028"/>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F33B9178-3137-321E-1AAE-DA8E5E4AC547}"/>
              </a:ext>
            </a:extLst>
          </p:cNvPr>
          <p:cNvCxnSpPr>
            <a:cxnSpLocks/>
          </p:cNvCxnSpPr>
          <p:nvPr/>
        </p:nvCxnSpPr>
        <p:spPr>
          <a:xfrm flipH="1">
            <a:off x="3026675" y="1777742"/>
            <a:ext cx="3155450" cy="447077"/>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6192A20-58C2-5D98-F3EE-0A55199611F8}"/>
              </a:ext>
            </a:extLst>
          </p:cNvPr>
          <p:cNvCxnSpPr>
            <a:cxnSpLocks/>
          </p:cNvCxnSpPr>
          <p:nvPr/>
        </p:nvCxnSpPr>
        <p:spPr>
          <a:xfrm>
            <a:off x="3041074" y="1237668"/>
            <a:ext cx="3126650" cy="496020"/>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A595DD58-2259-1E9F-2E57-06E46AC02A24}"/>
              </a:ext>
            </a:extLst>
          </p:cNvPr>
          <p:cNvSpPr/>
          <p:nvPr/>
        </p:nvSpPr>
        <p:spPr>
          <a:xfrm>
            <a:off x="6182125" y="1768841"/>
            <a:ext cx="1296000" cy="9176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CLOSE-WAIT</a:t>
            </a:r>
          </a:p>
        </p:txBody>
      </p:sp>
      <p:sp>
        <p:nvSpPr>
          <p:cNvPr id="20" name="矩形 19">
            <a:extLst>
              <a:ext uri="{FF2B5EF4-FFF2-40B4-BE49-F238E27FC236}">
                <a16:creationId xmlns:a16="http://schemas.microsoft.com/office/drawing/2014/main" id="{DFBE2719-A7EA-67B7-ACCC-E94464D6C0E0}"/>
              </a:ext>
            </a:extLst>
          </p:cNvPr>
          <p:cNvSpPr/>
          <p:nvPr/>
        </p:nvSpPr>
        <p:spPr>
          <a:xfrm>
            <a:off x="1730675" y="1287183"/>
            <a:ext cx="1296000" cy="9393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FIN-WAIT1</a:t>
            </a:r>
          </a:p>
        </p:txBody>
      </p:sp>
      <p:sp>
        <p:nvSpPr>
          <p:cNvPr id="21" name="矩形 20">
            <a:extLst>
              <a:ext uri="{FF2B5EF4-FFF2-40B4-BE49-F238E27FC236}">
                <a16:creationId xmlns:a16="http://schemas.microsoft.com/office/drawing/2014/main" id="{5967DC4E-DA6C-280C-28FF-06023C016624}"/>
              </a:ext>
            </a:extLst>
          </p:cNvPr>
          <p:cNvSpPr/>
          <p:nvPr/>
        </p:nvSpPr>
        <p:spPr>
          <a:xfrm>
            <a:off x="6182125" y="2741784"/>
            <a:ext cx="1296000" cy="822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LAST-ACK</a:t>
            </a:r>
          </a:p>
        </p:txBody>
      </p:sp>
      <p:sp>
        <p:nvSpPr>
          <p:cNvPr id="22" name="矩形 21">
            <a:extLst>
              <a:ext uri="{FF2B5EF4-FFF2-40B4-BE49-F238E27FC236}">
                <a16:creationId xmlns:a16="http://schemas.microsoft.com/office/drawing/2014/main" id="{E753C140-972A-E175-7A82-9DE4ACDF00FE}"/>
              </a:ext>
            </a:extLst>
          </p:cNvPr>
          <p:cNvSpPr/>
          <p:nvPr/>
        </p:nvSpPr>
        <p:spPr>
          <a:xfrm>
            <a:off x="1730675" y="960669"/>
            <a:ext cx="1296000" cy="276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矩形 22">
            <a:extLst>
              <a:ext uri="{FF2B5EF4-FFF2-40B4-BE49-F238E27FC236}">
                <a16:creationId xmlns:a16="http://schemas.microsoft.com/office/drawing/2014/main" id="{3415ABEA-50A8-8B88-1574-35B03FFC9672}"/>
              </a:ext>
            </a:extLst>
          </p:cNvPr>
          <p:cNvSpPr/>
          <p:nvPr/>
        </p:nvSpPr>
        <p:spPr>
          <a:xfrm>
            <a:off x="6182125" y="960669"/>
            <a:ext cx="1296000" cy="7618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4" name="矩形 23">
            <a:extLst>
              <a:ext uri="{FF2B5EF4-FFF2-40B4-BE49-F238E27FC236}">
                <a16:creationId xmlns:a16="http://schemas.microsoft.com/office/drawing/2014/main" id="{D81515A6-1DB0-A00E-CFA8-B99C19CA6753}"/>
              </a:ext>
            </a:extLst>
          </p:cNvPr>
          <p:cNvSpPr/>
          <p:nvPr/>
        </p:nvSpPr>
        <p:spPr>
          <a:xfrm rot="21120000">
            <a:off x="3164400" y="2256478"/>
            <a:ext cx="2880000" cy="276999"/>
          </a:xfrm>
          <a:prstGeom prst="rect">
            <a:avLst/>
          </a:prstGeom>
          <a:no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spAutoFit/>
          </a:bodyP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data</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23AFDE80-4B50-73E9-7084-4F39ACEC3161}"/>
              </a:ext>
            </a:extLst>
          </p:cNvPr>
          <p:cNvSpPr txBox="1"/>
          <p:nvPr/>
        </p:nvSpPr>
        <p:spPr>
          <a:xfrm>
            <a:off x="3192177"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6" name="文本框 25">
            <a:extLst>
              <a:ext uri="{FF2B5EF4-FFF2-40B4-BE49-F238E27FC236}">
                <a16:creationId xmlns:a16="http://schemas.microsoft.com/office/drawing/2014/main" id="{2FA47CD2-8807-CEF9-6524-74B872B5CBD6}"/>
              </a:ext>
            </a:extLst>
          </p:cNvPr>
          <p:cNvSpPr txBox="1"/>
          <p:nvPr/>
        </p:nvSpPr>
        <p:spPr>
          <a:xfrm>
            <a:off x="5365498"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31A98A1D-E483-21BF-837D-A8D5E671CBCC}"/>
              </a:ext>
            </a:extLst>
          </p:cNvPr>
          <p:cNvSpPr txBox="1"/>
          <p:nvPr/>
        </p:nvSpPr>
        <p:spPr>
          <a:xfrm rot="540000">
            <a:off x="3956627" y="1254072"/>
            <a:ext cx="1295547"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FIN = 1 seq = u</a:t>
            </a:r>
          </a:p>
        </p:txBody>
      </p:sp>
      <p:sp>
        <p:nvSpPr>
          <p:cNvPr id="15" name="文本框 14">
            <a:extLst>
              <a:ext uri="{FF2B5EF4-FFF2-40B4-BE49-F238E27FC236}">
                <a16:creationId xmlns:a16="http://schemas.microsoft.com/office/drawing/2014/main" id="{50683C56-D6B5-28DE-EF64-659B03076EBF}"/>
              </a:ext>
            </a:extLst>
          </p:cNvPr>
          <p:cNvSpPr txBox="1"/>
          <p:nvPr/>
        </p:nvSpPr>
        <p:spPr>
          <a:xfrm rot="21120000">
            <a:off x="3870868" y="1756930"/>
            <a:ext cx="146706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 = 1 ack = u+1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seq = v</a:t>
            </a:r>
          </a:p>
        </p:txBody>
      </p:sp>
      <p:sp>
        <p:nvSpPr>
          <p:cNvPr id="16" name="文本框 15">
            <a:extLst>
              <a:ext uri="{FF2B5EF4-FFF2-40B4-BE49-F238E27FC236}">
                <a16:creationId xmlns:a16="http://schemas.microsoft.com/office/drawing/2014/main" id="{057F6AC0-A91C-D0FE-125C-8414C43D71F7}"/>
              </a:ext>
            </a:extLst>
          </p:cNvPr>
          <p:cNvSpPr txBox="1"/>
          <p:nvPr/>
        </p:nvSpPr>
        <p:spPr>
          <a:xfrm rot="525163">
            <a:off x="3855639" y="3177087"/>
            <a:ext cx="1497526"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p>
        </p:txBody>
      </p:sp>
      <p:sp>
        <p:nvSpPr>
          <p:cNvPr id="27" name="文本框 26">
            <a:extLst>
              <a:ext uri="{FF2B5EF4-FFF2-40B4-BE49-F238E27FC236}">
                <a16:creationId xmlns:a16="http://schemas.microsoft.com/office/drawing/2014/main" id="{3363F0B2-383E-264A-6F52-190739009C25}"/>
              </a:ext>
            </a:extLst>
          </p:cNvPr>
          <p:cNvSpPr txBox="1"/>
          <p:nvPr/>
        </p:nvSpPr>
        <p:spPr>
          <a:xfrm rot="21120000">
            <a:off x="3850832" y="2652541"/>
            <a:ext cx="1507143"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FIN</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a:t>
            </a:r>
          </a:p>
        </p:txBody>
      </p:sp>
      <p:sp>
        <p:nvSpPr>
          <p:cNvPr id="30" name="矩形 29">
            <a:extLst>
              <a:ext uri="{FF2B5EF4-FFF2-40B4-BE49-F238E27FC236}">
                <a16:creationId xmlns:a16="http://schemas.microsoft.com/office/drawing/2014/main" id="{75CA5390-80EA-581F-6D40-4B6F0B129469}"/>
              </a:ext>
            </a:extLst>
          </p:cNvPr>
          <p:cNvSpPr/>
          <p:nvPr/>
        </p:nvSpPr>
        <p:spPr>
          <a:xfrm>
            <a:off x="6182125" y="3619271"/>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32" name="矩形 31">
            <a:extLst>
              <a:ext uri="{FF2B5EF4-FFF2-40B4-BE49-F238E27FC236}">
                <a16:creationId xmlns:a16="http://schemas.microsoft.com/office/drawing/2014/main" id="{D54E7638-FF7C-ED85-4FAD-ECD462515673}"/>
              </a:ext>
            </a:extLst>
          </p:cNvPr>
          <p:cNvSpPr/>
          <p:nvPr/>
        </p:nvSpPr>
        <p:spPr>
          <a:xfrm>
            <a:off x="1730675" y="2276030"/>
            <a:ext cx="1296000" cy="86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FIN-WAIT2</a:t>
            </a:r>
          </a:p>
        </p:txBody>
      </p:sp>
      <p:sp>
        <p:nvSpPr>
          <p:cNvPr id="33" name="矩形 32">
            <a:extLst>
              <a:ext uri="{FF2B5EF4-FFF2-40B4-BE49-F238E27FC236}">
                <a16:creationId xmlns:a16="http://schemas.microsoft.com/office/drawing/2014/main" id="{AF953AB2-01D7-2107-6A17-439341E400AD}"/>
              </a:ext>
            </a:extLst>
          </p:cNvPr>
          <p:cNvSpPr/>
          <p:nvPr/>
        </p:nvSpPr>
        <p:spPr>
          <a:xfrm>
            <a:off x="1723475" y="3189542"/>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TIME-WAIT</a:t>
            </a:r>
          </a:p>
        </p:txBody>
      </p:sp>
      <p:cxnSp>
        <p:nvCxnSpPr>
          <p:cNvPr id="50" name="直接箭头连接符 49">
            <a:extLst>
              <a:ext uri="{FF2B5EF4-FFF2-40B4-BE49-F238E27FC236}">
                <a16:creationId xmlns:a16="http://schemas.microsoft.com/office/drawing/2014/main" id="{25B448BF-6444-2833-67FA-44B89CD0FE4E}"/>
              </a:ext>
            </a:extLst>
          </p:cNvPr>
          <p:cNvCxnSpPr>
            <a:cxnSpLocks/>
          </p:cNvCxnSpPr>
          <p:nvPr/>
        </p:nvCxnSpPr>
        <p:spPr>
          <a:xfrm flipH="1">
            <a:off x="3026675" y="2664542"/>
            <a:ext cx="3155450" cy="447077"/>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箭头: 下 57">
            <a:extLst>
              <a:ext uri="{FF2B5EF4-FFF2-40B4-BE49-F238E27FC236}">
                <a16:creationId xmlns:a16="http://schemas.microsoft.com/office/drawing/2014/main" id="{E54BC953-6699-9B5D-98F0-FD30BB4ABDD9}"/>
              </a:ext>
            </a:extLst>
          </p:cNvPr>
          <p:cNvSpPr/>
          <p:nvPr/>
        </p:nvSpPr>
        <p:spPr>
          <a:xfrm rot="4920000">
            <a:off x="5046057" y="195491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下 58">
            <a:extLst>
              <a:ext uri="{FF2B5EF4-FFF2-40B4-BE49-F238E27FC236}">
                <a16:creationId xmlns:a16="http://schemas.microsoft.com/office/drawing/2014/main" id="{5FF2FF3A-C735-86F2-4696-DE3FA441DDDB}"/>
              </a:ext>
            </a:extLst>
          </p:cNvPr>
          <p:cNvSpPr/>
          <p:nvPr/>
        </p:nvSpPr>
        <p:spPr>
          <a:xfrm rot="4920000">
            <a:off x="3935775" y="213176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70BDD34B-53C1-32D8-8A5D-2A27DC04CA2F}"/>
              </a:ext>
            </a:extLst>
          </p:cNvPr>
          <p:cNvSpPr/>
          <p:nvPr/>
        </p:nvSpPr>
        <p:spPr>
          <a:xfrm>
            <a:off x="1723475" y="3887054"/>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pic>
        <p:nvPicPr>
          <p:cNvPr id="61" name="图形 60" descr="时钟">
            <a:extLst>
              <a:ext uri="{FF2B5EF4-FFF2-40B4-BE49-F238E27FC236}">
                <a16:creationId xmlns:a16="http://schemas.microsoft.com/office/drawing/2014/main" id="{3DD24FFC-95D2-E32B-BDB7-1FCDD1AECE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23475" y="3333542"/>
            <a:ext cx="360000" cy="360000"/>
          </a:xfrm>
          <a:prstGeom prst="rect">
            <a:avLst/>
          </a:prstGeom>
        </p:spPr>
      </p:pic>
      <p:sp>
        <p:nvSpPr>
          <p:cNvPr id="62" name="文本框 61">
            <a:extLst>
              <a:ext uri="{FF2B5EF4-FFF2-40B4-BE49-F238E27FC236}">
                <a16:creationId xmlns:a16="http://schemas.microsoft.com/office/drawing/2014/main" id="{D4AA236A-B378-88A9-7277-6FDE77CCF8E5}"/>
              </a:ext>
            </a:extLst>
          </p:cNvPr>
          <p:cNvSpPr txBox="1"/>
          <p:nvPr/>
        </p:nvSpPr>
        <p:spPr>
          <a:xfrm>
            <a:off x="1665875" y="3613090"/>
            <a:ext cx="532518" cy="246221"/>
          </a:xfrm>
          <a:prstGeom prst="rect">
            <a:avLst/>
          </a:prstGeom>
          <a:noFill/>
        </p:spPr>
        <p:txBody>
          <a:bodyPr wrap="none" rtlCol="0">
            <a:spAutoFit/>
          </a:bodyPr>
          <a:lstStyle/>
          <a:p>
            <a:pPr algn="l">
              <a:buClr>
                <a:srgbClr val="C00000"/>
              </a:buClr>
            </a:pPr>
            <a:r>
              <a:rPr lang="en-US" altLang="zh-CN" sz="1000" dirty="0">
                <a:latin typeface="Montserrat" panose="00000500000000000000" pitchFamily="2" charset="0"/>
                <a:ea typeface="微软雅黑 Light" panose="020B0502040204020203" pitchFamily="34" charset="-122"/>
                <a:cs typeface="Courier New" panose="02070309020205020404" pitchFamily="49" charset="0"/>
              </a:rPr>
              <a:t>2MSL</a:t>
            </a:r>
            <a:endParaRPr lang="zh-CN" altLang="en-US" sz="10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1749792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a:xfrm>
            <a:off x="486000" y="482554"/>
            <a:ext cx="8172000" cy="4120946"/>
          </a:xfrm>
        </p:spPr>
        <p:txBody>
          <a:bodyPr/>
          <a:lstStyle/>
          <a:p>
            <a:r>
              <a:rPr lang="zh-CN" altLang="en-US" dirty="0"/>
              <a:t>第一，保证发送的最后一个 </a:t>
            </a:r>
            <a:r>
              <a:rPr lang="en-US" altLang="zh-CN" dirty="0"/>
              <a:t>ACK </a:t>
            </a:r>
            <a:r>
              <a:rPr lang="zh-CN" altLang="en-US" dirty="0"/>
              <a:t>报文段能够到达 </a:t>
            </a:r>
            <a:r>
              <a:rPr lang="en-US" altLang="zh-CN" dirty="0"/>
              <a:t>B</a:t>
            </a:r>
            <a:r>
              <a:rPr lang="zh-CN" altLang="en-US" dirty="0"/>
              <a:t>。</a:t>
            </a:r>
          </a:p>
          <a:p>
            <a:r>
              <a:rPr lang="zh-CN" altLang="en-US" dirty="0"/>
              <a:t>第二，防止“已失效的连接请求报文段”出现在本连接中。</a:t>
            </a:r>
          </a:p>
          <a:p>
            <a:endParaRPr lang="zh-CN" altLang="en-US" dirty="0"/>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2808000" y="144000"/>
            <a:ext cx="3528000" cy="338554"/>
          </a:xfrm>
        </p:spPr>
        <p:txBody>
          <a:bodyPr/>
          <a:lstStyle/>
          <a:p>
            <a:r>
              <a:rPr lang="zh-CN" altLang="en-US" dirty="0"/>
              <a:t>必须等待 </a:t>
            </a:r>
            <a:r>
              <a:rPr lang="en-US" altLang="zh-CN" dirty="0"/>
              <a:t>2MSL </a:t>
            </a:r>
            <a:r>
              <a:rPr lang="zh-CN" altLang="en-US" dirty="0"/>
              <a:t>的时间</a:t>
            </a:r>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a:xfrm>
            <a:off x="486000" y="482554"/>
            <a:ext cx="8172000" cy="4120946"/>
          </a:xfrm>
        </p:spPr>
        <p:txBody>
          <a:bodyPr/>
          <a:lstStyle/>
          <a:p>
            <a:r>
              <a:rPr lang="zh-CN" altLang="en-US"/>
              <a:t>用来防止在 </a:t>
            </a:r>
            <a:r>
              <a:rPr lang="en-US" altLang="zh-CN"/>
              <a:t>TCP </a:t>
            </a:r>
            <a:r>
              <a:rPr lang="zh-CN" altLang="en-US"/>
              <a:t>连接出现长时期空闲。</a:t>
            </a:r>
            <a:endParaRPr lang="en-US" altLang="zh-CN"/>
          </a:p>
          <a:p>
            <a:r>
              <a:rPr lang="zh-CN" altLang="en-US"/>
              <a:t>通常设置为 </a:t>
            </a:r>
            <a:r>
              <a:rPr lang="en-US" altLang="zh-CN"/>
              <a:t>2 </a:t>
            </a:r>
            <a:r>
              <a:rPr lang="zh-CN" altLang="en-US"/>
              <a:t>小时 。</a:t>
            </a:r>
            <a:endParaRPr lang="en-US" altLang="zh-CN"/>
          </a:p>
          <a:p>
            <a:r>
              <a:rPr lang="zh-CN" altLang="en-US"/>
              <a:t>若服务器过了 </a:t>
            </a:r>
            <a:r>
              <a:rPr lang="en-US" altLang="zh-CN"/>
              <a:t>2 </a:t>
            </a:r>
            <a:r>
              <a:rPr lang="zh-CN" altLang="en-US"/>
              <a:t>小时还没有收到客户的信息，它就发送探测报文段。</a:t>
            </a:r>
            <a:endParaRPr lang="en-US" altLang="zh-CN"/>
          </a:p>
          <a:p>
            <a:r>
              <a:rPr lang="zh-CN" altLang="en-US"/>
              <a:t>若发送了 </a:t>
            </a:r>
            <a:r>
              <a:rPr lang="en-US" altLang="zh-CN"/>
              <a:t>10 </a:t>
            </a:r>
            <a:r>
              <a:rPr lang="zh-CN" altLang="en-US"/>
              <a:t>个探测报文段（每一个相隔 </a:t>
            </a:r>
            <a:r>
              <a:rPr lang="en-US" altLang="zh-CN"/>
              <a:t>75 </a:t>
            </a:r>
            <a:r>
              <a:rPr lang="zh-CN" altLang="en-US"/>
              <a:t>秒）还没有响应，就假定客户出了故障，因而就终止该连接。 </a:t>
            </a:r>
          </a:p>
          <a:p>
            <a:endParaRPr lang="zh-CN" altLang="en-US" dirty="0"/>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2808000" y="144000"/>
            <a:ext cx="3528000" cy="338554"/>
          </a:xfrm>
        </p:spPr>
        <p:txBody>
          <a:bodyPr/>
          <a:lstStyle/>
          <a:p>
            <a:r>
              <a:rPr lang="zh-CN" altLang="en-US"/>
              <a:t>保活计时器</a:t>
            </a:r>
            <a:endParaRPr lang="zh-CN" altLang="en-US" dirty="0"/>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3" name="标题 72">
            <a:extLst>
              <a:ext uri="{FF2B5EF4-FFF2-40B4-BE49-F238E27FC236}">
                <a16:creationId xmlns:a16="http://schemas.microsoft.com/office/drawing/2014/main" id="{EAAD8B8B-BC0C-B76E-DE46-0358639803BA}"/>
              </a:ext>
            </a:extLst>
          </p:cNvPr>
          <p:cNvSpPr>
            <a:spLocks noGrp="1"/>
          </p:cNvSpPr>
          <p:nvPr>
            <p:ph type="title"/>
          </p:nvPr>
        </p:nvSpPr>
        <p:spPr>
          <a:xfrm>
            <a:off x="2808000" y="144000"/>
            <a:ext cx="3528000" cy="338554"/>
          </a:xfrm>
        </p:spPr>
        <p:txBody>
          <a:bodyPr/>
          <a:lstStyle/>
          <a:p>
            <a:r>
              <a:rPr lang="en-US" altLang="zh-CN" dirty="0"/>
              <a:t>5.9.3  TCP </a:t>
            </a:r>
            <a:r>
              <a:rPr lang="zh-CN" altLang="en-US" dirty="0"/>
              <a:t>的有限状态机</a:t>
            </a:r>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8149</TotalTime>
  <Words>17815</Words>
  <Application>Microsoft Office PowerPoint</Application>
  <PresentationFormat>全屏显示(16:9)</PresentationFormat>
  <Paragraphs>4214</Paragraphs>
  <Slides>212</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212</vt:i4>
      </vt:variant>
    </vt:vector>
  </HeadingPairs>
  <TitlesOfParts>
    <vt:vector size="225" baseType="lpstr">
      <vt:lpstr>Courier New</vt:lpstr>
      <vt:lpstr>微软雅黑 Light</vt:lpstr>
      <vt:lpstr>微软雅黑</vt:lpstr>
      <vt:lpstr>Calibri</vt:lpstr>
      <vt:lpstr>Wingdings</vt:lpstr>
      <vt:lpstr>宋体</vt:lpstr>
      <vt:lpstr>Montserrat</vt:lpstr>
      <vt:lpstr>Arial</vt:lpstr>
      <vt:lpstr>Symbol</vt:lpstr>
      <vt:lpstr>Cambria Math</vt:lpstr>
      <vt:lpstr>network</vt:lpstr>
      <vt:lpstr>Visio</vt:lpstr>
      <vt:lpstr>公式</vt:lpstr>
      <vt:lpstr>PowerPoint 演示文稿</vt:lpstr>
      <vt:lpstr>计算机网络体系结构</vt:lpstr>
      <vt:lpstr>PowerPoint 演示文稿</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PowerPoint 演示文稿</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窗口的滑动</vt:lpstr>
      <vt:lpstr>窗口的滑动</vt:lpstr>
      <vt:lpstr>窗口的滑动</vt:lpstr>
      <vt:lpstr>窗口的滑动</vt:lpstr>
      <vt:lpstr>窗口的滑动</vt:lpstr>
      <vt:lpstr>窗口的滑动</vt:lpstr>
      <vt:lpstr>窗口的滑动</vt:lpstr>
      <vt:lpstr>接收缓存与接收窗口 </vt:lpstr>
      <vt:lpstr>接收缓存与接收窗口 </vt:lpstr>
      <vt:lpstr>需要强调三点</vt:lpstr>
      <vt:lpstr>5.6.2   超时重传时间的选择</vt:lpstr>
      <vt:lpstr>TCP 超时重传时间设置</vt:lpstr>
      <vt:lpstr>加权平均往返时间 RTTS </vt:lpstr>
      <vt:lpstr>超时重传时间 RTO</vt:lpstr>
      <vt:lpstr>往返时间 (RTT) 的测量相当复杂</vt:lpstr>
      <vt:lpstr>PowerPoint 演示文稿</vt:lpstr>
      <vt:lpstr>PowerPoint 演示文稿</vt:lpstr>
      <vt:lpstr>PowerPoint 演示文稿</vt:lpstr>
      <vt:lpstr>PowerPoint 演示文稿</vt:lpstr>
      <vt:lpstr>SACK</vt:lpstr>
      <vt:lpstr>PowerPoint 演示文稿</vt:lpstr>
      <vt:lpstr>5.7.1   利用滑动窗口实现流量控制</vt:lpstr>
      <vt:lpstr>5.7.1   利用滑动窗口实现流量控制</vt:lpstr>
      <vt:lpstr>PowerPoint 演示文稿</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5.8.1   一般原理</vt:lpstr>
      <vt:lpstr>拥塞产生的原因</vt:lpstr>
      <vt:lpstr>增加资源能解决拥塞吗？</vt:lpstr>
      <vt:lpstr>拥塞控制与流量控制的区别</vt:lpstr>
      <vt:lpstr>拥塞控制所起的作用</vt:lpstr>
      <vt:lpstr>拥塞控制的一般原理</vt:lpstr>
      <vt:lpstr>开环控制和闭环控制</vt:lpstr>
      <vt:lpstr>闭环控制措施</vt:lpstr>
      <vt:lpstr>闭环控制措施</vt:lpstr>
      <vt:lpstr>闭环控制措施</vt:lpstr>
      <vt:lpstr>闭环控制措施</vt:lpstr>
      <vt:lpstr>5.8.2  TCP 的拥塞控制方法</vt:lpstr>
      <vt:lpstr>控制拥塞窗口变化的原则</vt:lpstr>
      <vt:lpstr>发送方判断拥塞的方法：隐式反馈</vt:lpstr>
      <vt:lpstr>TCP 拥塞控制算法</vt:lpstr>
      <vt:lpstr>1. 慢开始 (Slow start)</vt:lpstr>
      <vt:lpstr>1. 慢开始 (Slow start)</vt:lpstr>
      <vt:lpstr>1. 慢开始 (Slow start)</vt:lpstr>
      <vt:lpstr>PowerPoint 演示文稿</vt:lpstr>
      <vt:lpstr>PowerPoint 演示文稿</vt:lpstr>
      <vt:lpstr>传输轮次（transmission round）</vt:lpstr>
      <vt:lpstr>慢开始门限 ssthresh</vt:lpstr>
      <vt:lpstr>2. 拥塞避免</vt:lpstr>
      <vt:lpstr>PowerPoint 演示文稿</vt:lpstr>
      <vt:lpstr>当网络出现拥塞时</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快重传 Fast Retransmission</vt:lpstr>
      <vt:lpstr>快重传举例</vt:lpstr>
      <vt:lpstr>快恢复 Fast Recovery</vt:lpstr>
      <vt:lpstr>慢开始和拥塞避免算法的实现举例</vt:lpstr>
      <vt:lpstr>慢开始和拥塞避免算法的实现举例</vt:lpstr>
      <vt:lpstr>TCP 拥塞控制流程图</vt:lpstr>
      <vt:lpstr>发送窗口的上限值</vt:lpstr>
      <vt:lpstr>5.8.3   主动队列管理 AQM</vt:lpstr>
      <vt:lpstr>先进先出 FIFO </vt:lpstr>
      <vt:lpstr>先进先出（FIFO）处理规则与尾部丢弃策略</vt:lpstr>
      <vt:lpstr>先进先出（FIFO）处理规则与尾部丢弃策略</vt:lpstr>
      <vt:lpstr>严重问题：全局同步</vt:lpstr>
      <vt:lpstr>严重问题：全局同步</vt:lpstr>
      <vt:lpstr>主动队列管理 AQM</vt:lpstr>
      <vt:lpstr>随机早期检测 RED</vt:lpstr>
      <vt:lpstr>随机早期检测 RED</vt:lpstr>
      <vt:lpstr>随机早期检测 RED</vt:lpstr>
      <vt:lpstr>随机早期检测 RED</vt:lpstr>
      <vt:lpstr>PowerPoint 演示文稿</vt:lpstr>
      <vt:lpstr>运输连接的三个阶段</vt:lpstr>
      <vt:lpstr>TCP 连接建立过程中要解决的三个问题</vt:lpstr>
      <vt:lpstr>5.9.1  TCP 的连接建立</vt:lpstr>
      <vt:lpstr>PowerPoint 演示文稿</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PowerPoint 演示文稿</vt:lpstr>
      <vt:lpstr>5.9.2  TCP 的连接释放</vt:lpstr>
      <vt:lpstr>TCP 的连接释放-采用四报文握手</vt:lpstr>
      <vt:lpstr>TCP 的连接释放-采用四报文握手</vt:lpstr>
      <vt:lpstr>TCP 的连接释放-采用四报文握手</vt:lpstr>
      <vt:lpstr>TCP 的连接释放-采用四报文握手</vt:lpstr>
      <vt:lpstr>TCP 的连接释放-采用四报文握手</vt:lpstr>
      <vt:lpstr>PowerPoint 演示文稿</vt:lpstr>
      <vt:lpstr>必须等待 2MSL 的时间</vt:lpstr>
      <vt:lpstr>保活计时器</vt:lpstr>
      <vt:lpstr>5.9.3  TCP 的有限状态机</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695</cp:revision>
  <dcterms:created xsi:type="dcterms:W3CDTF">2018-07-18T08:51:30Z</dcterms:created>
  <dcterms:modified xsi:type="dcterms:W3CDTF">2025-11-24T12:56:10Z</dcterms:modified>
</cp:coreProperties>
</file>