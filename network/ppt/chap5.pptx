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05"/>
  </p:notesMasterIdLst>
  <p:sldIdLst>
    <p:sldId id="257" r:id="rId2"/>
    <p:sldId id="693" r:id="rId3"/>
    <p:sldId id="446" r:id="rId4"/>
    <p:sldId id="449" r:id="rId5"/>
    <p:sldId id="470" r:id="rId6"/>
    <p:sldId id="450" r:id="rId7"/>
    <p:sldId id="265" r:id="rId8"/>
    <p:sldId id="267" r:id="rId9"/>
    <p:sldId id="268" r:id="rId10"/>
    <p:sldId id="659" r:id="rId11"/>
    <p:sldId id="468" r:id="rId12"/>
    <p:sldId id="458" r:id="rId13"/>
    <p:sldId id="661" r:id="rId14"/>
    <p:sldId id="662" r:id="rId15"/>
    <p:sldId id="663" r:id="rId16"/>
    <p:sldId id="276" r:id="rId17"/>
    <p:sldId id="277" r:id="rId18"/>
    <p:sldId id="278" r:id="rId19"/>
    <p:sldId id="279" r:id="rId20"/>
    <p:sldId id="737" r:id="rId21"/>
    <p:sldId id="471" r:id="rId22"/>
    <p:sldId id="472" r:id="rId23"/>
    <p:sldId id="473" r:id="rId24"/>
    <p:sldId id="667" r:id="rId25"/>
    <p:sldId id="734" r:id="rId26"/>
    <p:sldId id="475" r:id="rId27"/>
    <p:sldId id="694" r:id="rId28"/>
    <p:sldId id="736" r:id="rId29"/>
    <p:sldId id="696" r:id="rId30"/>
    <p:sldId id="735" r:id="rId31"/>
    <p:sldId id="476" r:id="rId32"/>
    <p:sldId id="668" r:id="rId33"/>
    <p:sldId id="477" r:id="rId34"/>
    <p:sldId id="478" r:id="rId35"/>
    <p:sldId id="479" r:id="rId36"/>
    <p:sldId id="480" r:id="rId37"/>
    <p:sldId id="481" r:id="rId38"/>
    <p:sldId id="482" r:id="rId39"/>
    <p:sldId id="669" r:id="rId40"/>
    <p:sldId id="483" r:id="rId41"/>
    <p:sldId id="484" r:id="rId42"/>
    <p:sldId id="671" r:id="rId43"/>
    <p:sldId id="486" r:id="rId44"/>
    <p:sldId id="488" r:id="rId45"/>
    <p:sldId id="672" r:id="rId46"/>
    <p:sldId id="489" r:id="rId47"/>
    <p:sldId id="490" r:id="rId48"/>
    <p:sldId id="491" r:id="rId49"/>
    <p:sldId id="492" r:id="rId50"/>
    <p:sldId id="493" r:id="rId51"/>
    <p:sldId id="494" r:id="rId52"/>
    <p:sldId id="495" r:id="rId53"/>
    <p:sldId id="497" r:id="rId54"/>
    <p:sldId id="673" r:id="rId55"/>
    <p:sldId id="697" r:id="rId56"/>
    <p:sldId id="738" r:id="rId57"/>
    <p:sldId id="498" r:id="rId58"/>
    <p:sldId id="739" r:id="rId59"/>
    <p:sldId id="501" r:id="rId60"/>
    <p:sldId id="505" r:id="rId61"/>
    <p:sldId id="504" r:id="rId62"/>
    <p:sldId id="509" r:id="rId63"/>
    <p:sldId id="676" r:id="rId64"/>
    <p:sldId id="740" r:id="rId65"/>
    <p:sldId id="513" r:id="rId66"/>
    <p:sldId id="698" r:id="rId67"/>
    <p:sldId id="680" r:id="rId68"/>
    <p:sldId id="520" r:id="rId69"/>
    <p:sldId id="521" r:id="rId70"/>
    <p:sldId id="522" r:id="rId71"/>
    <p:sldId id="523" r:id="rId72"/>
    <p:sldId id="524" r:id="rId73"/>
    <p:sldId id="525" r:id="rId74"/>
    <p:sldId id="526" r:id="rId75"/>
    <p:sldId id="527" r:id="rId76"/>
    <p:sldId id="528" r:id="rId77"/>
    <p:sldId id="529" r:id="rId78"/>
    <p:sldId id="530" r:id="rId79"/>
    <p:sldId id="531" r:id="rId80"/>
    <p:sldId id="532" r:id="rId81"/>
    <p:sldId id="533" r:id="rId82"/>
    <p:sldId id="534" r:id="rId83"/>
    <p:sldId id="535" r:id="rId84"/>
    <p:sldId id="536" r:id="rId85"/>
    <p:sldId id="537" r:id="rId86"/>
    <p:sldId id="702" r:id="rId87"/>
    <p:sldId id="701" r:id="rId88"/>
    <p:sldId id="703" r:id="rId89"/>
    <p:sldId id="705" r:id="rId90"/>
    <p:sldId id="707" r:id="rId91"/>
    <p:sldId id="708" r:id="rId92"/>
    <p:sldId id="709" r:id="rId93"/>
    <p:sldId id="541" r:id="rId94"/>
    <p:sldId id="542" r:id="rId95"/>
    <p:sldId id="543" r:id="rId96"/>
    <p:sldId id="710" r:id="rId97"/>
    <p:sldId id="546" r:id="rId98"/>
    <p:sldId id="711" r:id="rId99"/>
    <p:sldId id="713" r:id="rId100"/>
    <p:sldId id="715" r:id="rId101"/>
    <p:sldId id="716" r:id="rId102"/>
    <p:sldId id="717" r:id="rId103"/>
    <p:sldId id="718" r:id="rId104"/>
    <p:sldId id="721" r:id="rId105"/>
    <p:sldId id="722" r:id="rId106"/>
    <p:sldId id="719" r:id="rId107"/>
    <p:sldId id="552" r:id="rId108"/>
    <p:sldId id="554" r:id="rId109"/>
    <p:sldId id="555" r:id="rId110"/>
    <p:sldId id="557" r:id="rId111"/>
    <p:sldId id="559" r:id="rId112"/>
    <p:sldId id="560" r:id="rId113"/>
    <p:sldId id="561" r:id="rId114"/>
    <p:sldId id="562" r:id="rId115"/>
    <p:sldId id="563" r:id="rId116"/>
    <p:sldId id="564" r:id="rId117"/>
    <p:sldId id="723" r:id="rId118"/>
    <p:sldId id="567" r:id="rId119"/>
    <p:sldId id="566" r:id="rId120"/>
    <p:sldId id="568" r:id="rId121"/>
    <p:sldId id="569" r:id="rId122"/>
    <p:sldId id="571" r:id="rId123"/>
    <p:sldId id="724" r:id="rId124"/>
    <p:sldId id="573" r:id="rId125"/>
    <p:sldId id="574" r:id="rId126"/>
    <p:sldId id="575" r:id="rId127"/>
    <p:sldId id="576" r:id="rId128"/>
    <p:sldId id="578" r:id="rId129"/>
    <p:sldId id="579" r:id="rId130"/>
    <p:sldId id="580" r:id="rId131"/>
    <p:sldId id="581" r:id="rId132"/>
    <p:sldId id="582" r:id="rId133"/>
    <p:sldId id="685" r:id="rId134"/>
    <p:sldId id="583" r:id="rId135"/>
    <p:sldId id="727" r:id="rId136"/>
    <p:sldId id="585" r:id="rId137"/>
    <p:sldId id="586" r:id="rId138"/>
    <p:sldId id="587" r:id="rId139"/>
    <p:sldId id="731" r:id="rId140"/>
    <p:sldId id="729" r:id="rId141"/>
    <p:sldId id="730" r:id="rId142"/>
    <p:sldId id="592" r:id="rId143"/>
    <p:sldId id="593" r:id="rId144"/>
    <p:sldId id="594" r:id="rId145"/>
    <p:sldId id="595" r:id="rId146"/>
    <p:sldId id="596" r:id="rId147"/>
    <p:sldId id="597" r:id="rId148"/>
    <p:sldId id="598" r:id="rId149"/>
    <p:sldId id="599" r:id="rId150"/>
    <p:sldId id="600" r:id="rId151"/>
    <p:sldId id="686" r:id="rId152"/>
    <p:sldId id="687" r:id="rId153"/>
    <p:sldId id="601" r:id="rId154"/>
    <p:sldId id="602" r:id="rId155"/>
    <p:sldId id="603" r:id="rId156"/>
    <p:sldId id="604" r:id="rId157"/>
    <p:sldId id="605" r:id="rId158"/>
    <p:sldId id="606" r:id="rId159"/>
    <p:sldId id="607" r:id="rId160"/>
    <p:sldId id="608" r:id="rId161"/>
    <p:sldId id="609" r:id="rId162"/>
    <p:sldId id="611" r:id="rId163"/>
    <p:sldId id="612" r:id="rId164"/>
    <p:sldId id="613" r:id="rId165"/>
    <p:sldId id="614" r:id="rId166"/>
    <p:sldId id="616" r:id="rId167"/>
    <p:sldId id="618" r:id="rId168"/>
    <p:sldId id="619" r:id="rId169"/>
    <p:sldId id="732" r:id="rId170"/>
    <p:sldId id="733" r:id="rId171"/>
    <p:sldId id="622" r:id="rId172"/>
    <p:sldId id="623" r:id="rId173"/>
    <p:sldId id="624" r:id="rId174"/>
    <p:sldId id="689" r:id="rId175"/>
    <p:sldId id="625" r:id="rId176"/>
    <p:sldId id="626" r:id="rId177"/>
    <p:sldId id="627" r:id="rId178"/>
    <p:sldId id="628" r:id="rId179"/>
    <p:sldId id="629" r:id="rId180"/>
    <p:sldId id="691" r:id="rId181"/>
    <p:sldId id="630" r:id="rId182"/>
    <p:sldId id="631" r:id="rId183"/>
    <p:sldId id="632" r:id="rId184"/>
    <p:sldId id="633" r:id="rId185"/>
    <p:sldId id="634" r:id="rId186"/>
    <p:sldId id="635" r:id="rId187"/>
    <p:sldId id="637" r:id="rId188"/>
    <p:sldId id="638" r:id="rId189"/>
    <p:sldId id="639" r:id="rId190"/>
    <p:sldId id="640" r:id="rId191"/>
    <p:sldId id="641" r:id="rId192"/>
    <p:sldId id="642" r:id="rId193"/>
    <p:sldId id="643" r:id="rId194"/>
    <p:sldId id="644" r:id="rId195"/>
    <p:sldId id="645" r:id="rId196"/>
    <p:sldId id="646" r:id="rId197"/>
    <p:sldId id="647" r:id="rId198"/>
    <p:sldId id="649" r:id="rId199"/>
    <p:sldId id="650" r:id="rId200"/>
    <p:sldId id="652" r:id="rId201"/>
    <p:sldId id="653" r:id="rId202"/>
    <p:sldId id="654" r:id="rId203"/>
    <p:sldId id="655" r:id="rId204"/>
  </p:sldIdLst>
  <p:sldSz cx="9144000" cy="5143500" type="screen16x9"/>
  <p:notesSz cx="6858000" cy="9144000"/>
  <p:embeddedFontLst>
    <p:embeddedFont>
      <p:font typeface="Cambria Math" panose="02040503050406030204" pitchFamily="18" charset="0"/>
      <p:regular r:id="rId206"/>
    </p:embeddedFont>
    <p:embeddedFont>
      <p:font typeface="Montserrat" panose="00000500000000000000" pitchFamily="2" charset="0"/>
      <p:regular r:id="rId207"/>
    </p:embeddedFont>
    <p:embeddedFont>
      <p:font typeface="微软雅黑" panose="020B0503020204020204" pitchFamily="34" charset="-122"/>
      <p:regular r:id="rId208"/>
      <p:bold r:id="rId209"/>
    </p:embeddedFont>
    <p:embeddedFont>
      <p:font typeface="微软雅黑 Light" panose="020B0502040204020203" pitchFamily="34" charset="-122"/>
      <p:regular r:id="rId210"/>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5420"/>
    <a:srgbClr val="00B050"/>
    <a:srgbClr val="7F131F"/>
    <a:srgbClr val="0000FF"/>
    <a:srgbClr val="85D1F7"/>
    <a:srgbClr val="FFFF00"/>
    <a:srgbClr val="00FF99"/>
    <a:srgbClr val="3366FF"/>
    <a:srgbClr val="0000CC"/>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p:scale>
          <a:sx n="100" d="100"/>
          <a:sy n="100" d="100"/>
        </p:scale>
        <p:origin x="1782" y="91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notesMaster" Target="notesMasters/notesMaster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font" Target="fonts/font1.fntdata"/><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font" Target="fonts/font2.fntdata"/><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font" Target="fonts/font3.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tableStyles" Target="tableStyles.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font" Target="fonts/font4.fntdata"/><Relationship Id="rId190" Type="http://schemas.openxmlformats.org/officeDocument/2006/relationships/slide" Target="slides/slide189.xml"/><Relationship Id="rId204" Type="http://schemas.openxmlformats.org/officeDocument/2006/relationships/slide" Target="slides/slide203.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font" Target="fonts/font5.fntdata"/><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presProps" Target="pres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viewProps" Target="viewProps.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微软雅黑" panose="020B0503020204020204" pitchFamily="34" charset="-122"/>
              <a:ea typeface="微软雅黑" panose="020B0503020204020204" pitchFamily="34" charset="-122"/>
            </a:rPr>
            <a:t>拥塞控制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防止过多的数据注入到网络中，避免网络中的路由器或链路过载。</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376B25E-A50F-4935-9A84-A2AE7897CCCF}">
      <dgm:prSet phldrT="[文本]" custT="1"/>
      <dgm:spPr/>
      <dgm:t>
        <a:bodyPr/>
        <a:lstStyle/>
        <a:p>
          <a:r>
            <a:rPr lang="zh-CN" altLang="en-US" sz="1800" b="1" dirty="0">
              <a:latin typeface="微软雅黑" panose="020B0503020204020204" pitchFamily="34" charset="-122"/>
              <a:ea typeface="微软雅黑" panose="020B0503020204020204" pitchFamily="34" charset="-122"/>
            </a:rPr>
            <a:t>是一个全局性的过程，涉及到所有的主机、路由器，以及与降低网络传输性能有关的所有因素。</a:t>
          </a:r>
        </a:p>
      </dgm:t>
    </dgm:pt>
    <dgm:pt modelId="{26269EE4-3ED5-4DE1-B6F2-BC870B778E5F}" type="parTrans" cxnId="{38263262-CABC-4074-A5F3-D3F1E4C0331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637746-0510-4A3C-90B7-D93A16B92D57}" type="sibTrans" cxnId="{38263262-CABC-4074-A5F3-D3F1E4C0331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2000" b="1" dirty="0">
              <a:latin typeface="微软雅黑" panose="020B0503020204020204" pitchFamily="34" charset="-122"/>
              <a:ea typeface="微软雅黑" panose="020B0503020204020204" pitchFamily="34" charset="-122"/>
            </a:rPr>
            <a:t>流量控制</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41A8C11-D03E-479A-A84F-C3458AEF2E9A}">
      <dgm:prSet phldrT="[文本]" custT="1"/>
      <dgm:spPr/>
      <dgm:t>
        <a:bodyPr/>
        <a:lstStyle/>
        <a:p>
          <a:r>
            <a:rPr lang="zh-CN" altLang="en-US" sz="1800" b="1" dirty="0">
              <a:latin typeface="微软雅黑" panose="020B0503020204020204" pitchFamily="34" charset="-122"/>
              <a:ea typeface="微软雅黑" panose="020B0503020204020204" pitchFamily="34" charset="-122"/>
            </a:rPr>
            <a:t>点对点通信量的控制，是个端到端的问题。</a:t>
          </a:r>
        </a:p>
      </dgm:t>
    </dgm:pt>
    <dgm:pt modelId="{A7821D57-E876-4757-939B-CE33CAD146D4}" type="parTrans" cxnId="{47FAB983-5AC4-402F-9B23-9B04750BCF8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553568A-AD7C-418C-9424-82556C1E75C3}" type="sibTrans" cxnId="{47FAB983-5AC4-402F-9B23-9B04750BCF8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抑制发送端发送数据的速率，以使接收端来得及接收。</a:t>
          </a:r>
        </a:p>
      </dgm:t>
    </dgm:pt>
    <dgm:pt modelId="{6383180C-1983-48A1-B1E4-F574E14CDBD1}" type="parTrans" cxnId="{E9F7BDEC-B0B2-4D70-9C76-A3B73A9A92CD}">
      <dgm:prSet/>
      <dgm:spPr/>
      <dgm:t>
        <a:bodyPr/>
        <a:lstStyle/>
        <a:p>
          <a:endParaRPr lang="zh-CN" altLang="en-US"/>
        </a:p>
      </dgm:t>
    </dgm:pt>
    <dgm:pt modelId="{0F0ABCB1-B289-4DF9-9D7E-62CB7D38863E}" type="sibTrans" cxnId="{E9F7BDEC-B0B2-4D70-9C76-A3B73A9A92CD}">
      <dgm:prSet/>
      <dgm:spPr/>
      <dgm:t>
        <a:bodyPr/>
        <a:lstStyle/>
        <a:p>
          <a:endParaRPr lang="zh-CN" altLang="en-US"/>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38263262-CABC-4074-A5F3-D3F1E4C03317}" srcId="{4EE007B2-F612-44FB-B13F-E78B8586155B}" destId="{3376B25E-A50F-4935-9A84-A2AE7897CCCF}" srcOrd="1" destOrd="0" parTransId="{26269EE4-3ED5-4DE1-B6F2-BC870B778E5F}" sibTransId="{BF637746-0510-4A3C-90B7-D93A16B92D57}"/>
    <dgm:cxn modelId="{47FAB983-5AC4-402F-9B23-9B04750BCF80}" srcId="{DACD2956-BF18-4584-AF2D-3FD839777DF7}" destId="{541A8C11-D03E-479A-A84F-C3458AEF2E9A}" srcOrd="1" destOrd="0" parTransId="{A7821D57-E876-4757-939B-CE33CAD146D4}" sibTransId="{9553568A-AD7C-418C-9424-82556C1E75C3}"/>
    <dgm:cxn modelId="{D99E9A86-7A1F-44E7-B3D8-4ED992367D2C}" type="presOf" srcId="{710B3081-F341-4301-9185-BE738C183BBB}" destId="{72C5BA33-78B4-45DE-B9CA-22A272DDBE2C}" srcOrd="0" destOrd="0" presId="urn:microsoft.com/office/officeart/2005/8/layout/hList1"/>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203096C6-3161-47EF-A15A-B83C30ADE451}" type="presOf" srcId="{541A8C11-D03E-479A-A84F-C3458AEF2E9A}" destId="{AAB91EAD-75AE-4168-8A7F-B7A023AD8367}" srcOrd="0" destOrd="1" presId="urn:microsoft.com/office/officeart/2005/8/layout/hList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52A635F8-657C-4EDB-8288-F1C84154CA98}" type="presOf" srcId="{3376B25E-A50F-4935-9A84-A2AE7897CCCF}" destId="{72C5BA33-78B4-45DE-B9CA-22A272DDBE2C}" srcOrd="0" destOrd="1" presId="urn:microsoft.com/office/officeart/2005/8/layout/hList1"/>
    <dgm:cxn modelId="{06D3AEFD-1506-435F-AD4C-70B757C12748}" type="presOf" srcId="{7B38BB22-10D0-455B-AB19-4EC1F24B8A2F}" destId="{AAB91EAD-75AE-4168-8A7F-B7A023AD8367}" srcOrd="0" destOrd="0" presId="urn:microsoft.com/office/officeart/2005/8/layout/hList1"/>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微软雅黑" panose="020B0503020204020204" pitchFamily="34" charset="-122"/>
              <a:ea typeface="微软雅黑" panose="020B0503020204020204" pitchFamily="34" charset="-122"/>
            </a:rPr>
            <a:t>开环控制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在设计网络时，事先</a:t>
          </a:r>
          <a:r>
            <a:rPr lang="zh-CN" altLang="en-US" sz="1800" b="1" dirty="0">
              <a:solidFill>
                <a:srgbClr val="C00000"/>
              </a:solidFill>
              <a:latin typeface="微软雅黑" panose="020B0503020204020204" pitchFamily="34" charset="-122"/>
              <a:ea typeface="微软雅黑" panose="020B0503020204020204" pitchFamily="34" charset="-122"/>
            </a:rPr>
            <a:t>考虑周全，</a:t>
          </a:r>
          <a:r>
            <a:rPr lang="zh-CN" altLang="en-US" sz="1800" b="1" dirty="0">
              <a:latin typeface="微软雅黑" panose="020B0503020204020204" pitchFamily="34" charset="-122"/>
              <a:ea typeface="微软雅黑" panose="020B0503020204020204" pitchFamily="34" charset="-122"/>
            </a:rPr>
            <a:t>力求工作时不发生拥塞。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2000" b="1" dirty="0">
              <a:latin typeface="微软雅黑" panose="020B0503020204020204" pitchFamily="34" charset="-122"/>
              <a:ea typeface="微软雅黑" panose="020B0503020204020204" pitchFamily="34" charset="-122"/>
            </a:rPr>
            <a:t>闭环控制</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基于反馈环路的概念。</a:t>
          </a:r>
        </a:p>
      </dgm:t>
    </dgm:pt>
    <dgm:pt modelId="{6383180C-1983-48A1-B1E4-F574E14CDBD1}" type="parTrans" cxnId="{E9F7BDEC-B0B2-4D70-9C76-A3B73A9A92CD}">
      <dgm:prSet/>
      <dgm:spPr/>
      <dgm:t>
        <a:bodyPr/>
        <a:lstStyle/>
        <a:p>
          <a:endParaRPr lang="zh-CN" altLang="en-US"/>
        </a:p>
      </dgm:t>
    </dgm:pt>
    <dgm:pt modelId="{0F0ABCB1-B289-4DF9-9D7E-62CB7D38863E}" type="sibTrans" cxnId="{E9F7BDEC-B0B2-4D70-9C76-A3B73A9A92CD}">
      <dgm:prSet/>
      <dgm:spPr/>
      <dgm:t>
        <a:bodyPr/>
        <a:lstStyle/>
        <a:p>
          <a:endParaRPr lang="zh-CN" altLang="en-US"/>
        </a:p>
      </dgm:t>
    </dgm:pt>
    <dgm:pt modelId="{C2448606-BF7E-4CD3-8BBC-E63E41446859}">
      <dgm:prSet phldrT="[文本]" custT="1"/>
      <dgm:spPr/>
      <dgm:t>
        <a:bodyPr/>
        <a:lstStyle/>
        <a:p>
          <a:r>
            <a:rPr lang="zh-CN" altLang="en-US" sz="1800" b="1" dirty="0">
              <a:solidFill>
                <a:srgbClr val="0000FF"/>
              </a:solidFill>
              <a:latin typeface="微软雅黑" pitchFamily="34" charset="-122"/>
              <a:ea typeface="微软雅黑" pitchFamily="34" charset="-122"/>
            </a:rPr>
            <a:t>思路：</a:t>
          </a:r>
          <a:r>
            <a:rPr lang="zh-CN" altLang="en-US" sz="1800" b="1" dirty="0">
              <a:latin typeface="微软雅黑" pitchFamily="34" charset="-122"/>
              <a:ea typeface="微软雅黑" pitchFamily="34" charset="-122"/>
            </a:rPr>
            <a:t>力争</a:t>
          </a:r>
          <a:r>
            <a:rPr lang="zh-CN" altLang="en-US" sz="1800" b="1" dirty="0">
              <a:solidFill>
                <a:srgbClr val="0000FF"/>
              </a:solidFill>
              <a:latin typeface="微软雅黑" pitchFamily="34" charset="-122"/>
              <a:ea typeface="微软雅黑" pitchFamily="34" charset="-122"/>
            </a:rPr>
            <a:t>避免</a:t>
          </a:r>
          <a:r>
            <a:rPr lang="zh-CN" altLang="en-US" sz="1800" b="1" dirty="0">
              <a:latin typeface="微软雅黑" pitchFamily="34" charset="-122"/>
              <a:ea typeface="微软雅黑" pitchFamily="34" charset="-122"/>
            </a:rPr>
            <a:t>发生拥塞。</a:t>
          </a:r>
        </a:p>
      </dgm:t>
    </dgm:pt>
    <dgm:pt modelId="{2DDFBD46-B857-474E-8B27-CCB24E2F9B0D}" type="parTrans" cxnId="{7A27A0D6-C7AD-41E7-9686-374209348154}">
      <dgm:prSet/>
      <dgm:spPr/>
      <dgm:t>
        <a:bodyPr/>
        <a:lstStyle/>
        <a:p>
          <a:endParaRPr lang="zh-CN" altLang="en-US"/>
        </a:p>
      </dgm:t>
    </dgm:pt>
    <dgm:pt modelId="{C3B707A5-D44C-439A-8798-74A2B4D73421}" type="sibTrans" cxnId="{7A27A0D6-C7AD-41E7-9686-374209348154}">
      <dgm:prSet/>
      <dgm:spPr/>
      <dgm:t>
        <a:bodyPr/>
        <a:lstStyle/>
        <a:p>
          <a:endParaRPr lang="zh-CN" altLang="en-US"/>
        </a:p>
      </dgm:t>
    </dgm:pt>
    <dgm:pt modelId="{69230521-20F8-455C-9DE0-EB64591477B4}">
      <dgm:prSet custT="1"/>
      <dgm:spPr/>
      <dgm:t>
        <a:bodyPr/>
        <a:lstStyle/>
        <a:p>
          <a:r>
            <a:rPr lang="zh-CN" altLang="en-US" sz="1800" b="1" dirty="0">
              <a:latin typeface="微软雅黑" panose="020B0503020204020204" pitchFamily="34" charset="-122"/>
              <a:ea typeface="微软雅黑" panose="020B0503020204020204" pitchFamily="34" charset="-122"/>
            </a:rPr>
            <a:t>根据网络</a:t>
          </a:r>
          <a:r>
            <a:rPr lang="zh-CN" altLang="en-US" sz="1800" b="1" dirty="0">
              <a:solidFill>
                <a:srgbClr val="C00000"/>
              </a:solidFill>
              <a:latin typeface="微软雅黑" panose="020B0503020204020204" pitchFamily="34" charset="-122"/>
              <a:ea typeface="微软雅黑" panose="020B0503020204020204" pitchFamily="34" charset="-122"/>
            </a:rPr>
            <a:t>当前运行状态</a:t>
          </a:r>
          <a:r>
            <a:rPr lang="zh-CN" altLang="en-US" sz="1800" b="1" dirty="0">
              <a:latin typeface="微软雅黑" panose="020B0503020204020204" pitchFamily="34" charset="-122"/>
              <a:ea typeface="微软雅黑" panose="020B0503020204020204" pitchFamily="34" charset="-122"/>
            </a:rPr>
            <a:t>采取相应控制措施。</a:t>
          </a:r>
        </a:p>
      </dgm:t>
    </dgm:pt>
    <dgm:pt modelId="{12D5CF6D-3ECF-44C8-8A00-2243EEE11BB5}" type="parTrans" cxnId="{68D7CDFF-D5B6-4B82-BCD9-4ADC99E5D786}">
      <dgm:prSet/>
      <dgm:spPr/>
      <dgm:t>
        <a:bodyPr/>
        <a:lstStyle/>
        <a:p>
          <a:endParaRPr lang="zh-CN" altLang="en-US"/>
        </a:p>
      </dgm:t>
    </dgm:pt>
    <dgm:pt modelId="{3125DBAA-2F9E-499F-A3BE-6A4DF87D05F3}" type="sibTrans" cxnId="{68D7CDFF-D5B6-4B82-BCD9-4ADC99E5D786}">
      <dgm:prSet/>
      <dgm:spPr/>
      <dgm:t>
        <a:bodyPr/>
        <a:lstStyle/>
        <a:p>
          <a:endParaRPr lang="zh-CN" altLang="en-US"/>
        </a:p>
      </dgm:t>
    </dgm:pt>
    <dgm:pt modelId="{238D7AE3-4A96-4FFA-8329-EDA2C3555B30}">
      <dgm:prSet custT="1"/>
      <dgm:spPr/>
      <dgm:t>
        <a:bodyPr/>
        <a:lstStyle/>
        <a:p>
          <a:r>
            <a:rPr lang="zh-CN" altLang="en-US" sz="1800" b="1" dirty="0">
              <a:solidFill>
                <a:srgbClr val="0000FF"/>
              </a:solidFill>
              <a:latin typeface="微软雅黑" panose="020B0503020204020204" pitchFamily="34" charset="-122"/>
              <a:ea typeface="微软雅黑" panose="020B0503020204020204" pitchFamily="34" charset="-122"/>
            </a:rPr>
            <a:t>思路：</a:t>
          </a:r>
          <a:r>
            <a:rPr lang="zh-CN" altLang="en-US" sz="1800" b="1" dirty="0">
              <a:latin typeface="微软雅黑" panose="020B0503020204020204" pitchFamily="34" charset="-122"/>
              <a:ea typeface="微软雅黑" panose="020B0503020204020204" pitchFamily="34" charset="-122"/>
            </a:rPr>
            <a:t>在发生拥塞后，采取措施进行控制，</a:t>
          </a:r>
          <a:r>
            <a:rPr lang="zh-CN" altLang="en-US" sz="1800" b="1" dirty="0">
              <a:solidFill>
                <a:srgbClr val="0000FF"/>
              </a:solidFill>
              <a:latin typeface="微软雅黑" panose="020B0503020204020204" pitchFamily="34" charset="-122"/>
              <a:ea typeface="微软雅黑" panose="020B0503020204020204" pitchFamily="34" charset="-122"/>
            </a:rPr>
            <a:t>消除</a:t>
          </a:r>
          <a:r>
            <a:rPr lang="zh-CN" altLang="en-US" sz="1800" b="1" dirty="0">
              <a:latin typeface="微软雅黑" panose="020B0503020204020204" pitchFamily="34" charset="-122"/>
              <a:ea typeface="微软雅黑" panose="020B0503020204020204" pitchFamily="34" charset="-122"/>
            </a:rPr>
            <a:t>拥塞。</a:t>
          </a:r>
        </a:p>
      </dgm:t>
    </dgm:pt>
    <dgm:pt modelId="{8F3ECFA1-802E-4A72-BEC6-F40B249AD54A}" type="parTrans" cxnId="{AD39759F-59CA-49CB-B3FD-19EAB19B2916}">
      <dgm:prSet/>
      <dgm:spPr/>
      <dgm:t>
        <a:bodyPr/>
        <a:lstStyle/>
        <a:p>
          <a:endParaRPr lang="zh-CN" altLang="en-US"/>
        </a:p>
      </dgm:t>
    </dgm:pt>
    <dgm:pt modelId="{E88472DA-7723-4EBC-9681-94AC3B0DDFFF}" type="sibTrans" cxnId="{AD39759F-59CA-49CB-B3FD-19EAB19B2916}">
      <dgm:prSet/>
      <dgm:spPr/>
      <dgm:t>
        <a:bodyPr/>
        <a:lstStyle/>
        <a:p>
          <a:endParaRPr lang="zh-CN" altLang="en-US"/>
        </a:p>
      </dgm:t>
    </dgm:pt>
    <dgm:pt modelId="{654DBB23-7453-4B2A-8F48-11AC62514B72}">
      <dgm:prSet phldrT="[文本]" custT="1"/>
      <dgm:spPr/>
      <dgm:t>
        <a:bodyPr/>
        <a:lstStyle/>
        <a:p>
          <a:r>
            <a:rPr lang="zh-CN" altLang="en-US" sz="1800" b="1" dirty="0">
              <a:latin typeface="微软雅黑" panose="020B0503020204020204" pitchFamily="34" charset="-122"/>
              <a:ea typeface="微软雅黑" panose="020B0503020204020204" pitchFamily="34" charset="-122"/>
            </a:rPr>
            <a:t>但一旦整个系统运行起来，就不再中途进行改正了。</a:t>
          </a:r>
        </a:p>
      </dgm:t>
    </dgm:pt>
    <dgm:pt modelId="{4DDD3047-D58B-42B6-95AC-A7D9F23732F0}" type="parTrans" cxnId="{DE96F142-2113-4AC2-8084-749F805247C8}">
      <dgm:prSet/>
      <dgm:spPr/>
      <dgm:t>
        <a:bodyPr/>
        <a:lstStyle/>
        <a:p>
          <a:endParaRPr lang="zh-CN" altLang="en-US"/>
        </a:p>
      </dgm:t>
    </dgm:pt>
    <dgm:pt modelId="{DD57D3ED-98B7-4B38-92D2-CBFD5CB8FFB1}" type="sibTrans" cxnId="{DE96F142-2113-4AC2-8084-749F805247C8}">
      <dgm:prSet/>
      <dgm:spPr/>
      <dgm:t>
        <a:bodyPr/>
        <a:lstStyle/>
        <a:p>
          <a:endParaRPr lang="zh-CN" altLang="en-US"/>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DE96F142-2113-4AC2-8084-749F805247C8}" srcId="{4EE007B2-F612-44FB-B13F-E78B8586155B}" destId="{654DBB23-7453-4B2A-8F48-11AC62514B72}" srcOrd="2" destOrd="0" parTransId="{4DDD3047-D58B-42B6-95AC-A7D9F23732F0}" sibTransId="{DD57D3ED-98B7-4B38-92D2-CBFD5CB8FFB1}"/>
    <dgm:cxn modelId="{2D753E63-7497-41A4-B647-808C66FC660F}" type="presOf" srcId="{654DBB23-7453-4B2A-8F48-11AC62514B72}" destId="{72C5BA33-78B4-45DE-B9CA-22A272DDBE2C}" srcOrd="0" destOrd="2" presId="urn:microsoft.com/office/officeart/2005/8/layout/hList1"/>
    <dgm:cxn modelId="{CA711844-29BF-4DD6-B7FA-AAA9319B5888}" type="presOf" srcId="{C2448606-BF7E-4CD3-8BBC-E63E41446859}" destId="{72C5BA33-78B4-45DE-B9CA-22A272DDBE2C}" srcOrd="0" destOrd="1" presId="urn:microsoft.com/office/officeart/2005/8/layout/hList1"/>
    <dgm:cxn modelId="{D99E9A86-7A1F-44E7-B3D8-4ED992367D2C}" type="presOf" srcId="{710B3081-F341-4301-9185-BE738C183BBB}" destId="{72C5BA33-78B4-45DE-B9CA-22A272DDBE2C}" srcOrd="0" destOrd="0" presId="urn:microsoft.com/office/officeart/2005/8/layout/hList1"/>
    <dgm:cxn modelId="{AD39759F-59CA-49CB-B3FD-19EAB19B2916}" srcId="{DACD2956-BF18-4584-AF2D-3FD839777DF7}" destId="{238D7AE3-4A96-4FFA-8329-EDA2C3555B30}" srcOrd="2" destOrd="0" parTransId="{8F3ECFA1-802E-4A72-BEC6-F40B249AD54A}" sibTransId="{E88472DA-7723-4EBC-9681-94AC3B0DDFFF}"/>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1E143BAF-FC54-420B-AD62-63F0299DBDD9}" type="presOf" srcId="{238D7AE3-4A96-4FFA-8329-EDA2C3555B30}" destId="{AAB91EAD-75AE-4168-8A7F-B7A023AD8367}" srcOrd="0" destOrd="2" presId="urn:microsoft.com/office/officeart/2005/8/layout/hList1"/>
    <dgm:cxn modelId="{BF0778D1-7F52-47C1-883F-C7C199E99568}" type="presOf" srcId="{69230521-20F8-455C-9DE0-EB64591477B4}" destId="{AAB91EAD-75AE-4168-8A7F-B7A023AD8367}" srcOrd="0" destOrd="1" presId="urn:microsoft.com/office/officeart/2005/8/layout/hList1"/>
    <dgm:cxn modelId="{7A27A0D6-C7AD-41E7-9686-374209348154}" srcId="{4EE007B2-F612-44FB-B13F-E78B8586155B}" destId="{C2448606-BF7E-4CD3-8BBC-E63E41446859}" srcOrd="1" destOrd="0" parTransId="{2DDFBD46-B857-474E-8B27-CCB24E2F9B0D}" sibTransId="{C3B707A5-D44C-439A-8798-74A2B4D7342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06D3AEFD-1506-435F-AD4C-70B757C12748}" type="presOf" srcId="{7B38BB22-10D0-455B-AB19-4EC1F24B8A2F}" destId="{AAB91EAD-75AE-4168-8A7F-B7A023AD8367}" srcOrd="0" destOrd="0" presId="urn:microsoft.com/office/officeart/2005/8/layout/hList1"/>
    <dgm:cxn modelId="{68D7CDFF-D5B6-4B82-BCD9-4ADC99E5D786}" srcId="{DACD2956-BF18-4584-AF2D-3FD839777DF7}" destId="{69230521-20F8-455C-9DE0-EB64591477B4}" srcOrd="1" destOrd="0" parTransId="{12D5CF6D-3ECF-44C8-8A00-2243EEE11BB5}" sibTransId="{3125DBAA-2F9E-499F-A3BE-6A4DF87D05F3}"/>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a:latin typeface="微软雅黑" panose="020B0503020204020204" pitchFamily="34" charset="-122"/>
              <a:ea typeface="微软雅黑" panose="020B0503020204020204" pitchFamily="34" charset="-122"/>
            </a:rPr>
            <a:t>收到 </a:t>
          </a:r>
          <a:r>
            <a:rPr lang="en-US" altLang="en-US" sz="1800" b="1">
              <a:latin typeface="微软雅黑" panose="020B0503020204020204" pitchFamily="34" charset="-122"/>
              <a:ea typeface="微软雅黑" panose="020B0503020204020204" pitchFamily="34" charset="-122"/>
            </a:rPr>
            <a:t>3 </a:t>
          </a:r>
          <a:r>
            <a:rPr lang="zh-CN" altLang="en-US" sz="1800" b="1">
              <a:latin typeface="微软雅黑" panose="020B0503020204020204" pitchFamily="34" charset="-122"/>
              <a:ea typeface="微软雅黑" panose="020B0503020204020204" pitchFamily="34" charset="-122"/>
            </a:rPr>
            <a:t>个重复的确认</a:t>
          </a:r>
          <a:endParaRPr lang="zh-CN" altLang="en-US" sz="1800" b="1" dirty="0">
            <a:latin typeface="微软雅黑" panose="020B0503020204020204" pitchFamily="34" charset="-122"/>
            <a:ea typeface="微软雅黑" panose="020B0503020204020204" pitchFamily="34" charset="-122"/>
          </a:endParaRP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a:latin typeface="微软雅黑" panose="020B0503020204020204" pitchFamily="34" charset="-122"/>
              <a:ea typeface="微软雅黑" panose="020B0503020204020204" pitchFamily="34" charset="-122"/>
            </a:rPr>
            <a:t>拥塞窗口 </a:t>
          </a:r>
          <a:r>
            <a:rPr lang="en-US" altLang="en-US" sz="1600" b="1">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err="1">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itchFamily="34" charset="-122"/>
            <a:ea typeface="微软雅黑"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7711"/>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拥塞控制</a:t>
          </a:r>
        </a:p>
      </dsp:txBody>
      <dsp:txXfrm>
        <a:off x="34" y="7711"/>
        <a:ext cx="3322842" cy="604800"/>
      </dsp:txXfrm>
    </dsp:sp>
    <dsp:sp modelId="{72C5BA33-78B4-45DE-B9CA-22A272DDBE2C}">
      <dsp:nvSpPr>
        <dsp:cNvPr id="0" name=""/>
        <dsp:cNvSpPr/>
      </dsp:nvSpPr>
      <dsp:spPr>
        <a:xfrm>
          <a:off x="34" y="612511"/>
          <a:ext cx="3322842" cy="282460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防止过多的数据注入到网络中，避免网络中的路由器或链路过载。</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是一个全局性的过程，涉及到所有的主机、路由器，以及与降低网络传输性能有关的所有因素。</a:t>
          </a:r>
        </a:p>
      </dsp:txBody>
      <dsp:txXfrm>
        <a:off x="34" y="612511"/>
        <a:ext cx="3322842" cy="2824605"/>
      </dsp:txXfrm>
    </dsp:sp>
    <dsp:sp modelId="{3ACFDD6B-963A-45AA-AED6-29B2C66DA9EB}">
      <dsp:nvSpPr>
        <dsp:cNvPr id="0" name=""/>
        <dsp:cNvSpPr/>
      </dsp:nvSpPr>
      <dsp:spPr>
        <a:xfrm>
          <a:off x="3788074" y="7711"/>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流量控制</a:t>
          </a:r>
        </a:p>
      </dsp:txBody>
      <dsp:txXfrm>
        <a:off x="3788074" y="7711"/>
        <a:ext cx="3322842" cy="604800"/>
      </dsp:txXfrm>
    </dsp:sp>
    <dsp:sp modelId="{AAB91EAD-75AE-4168-8A7F-B7A023AD8367}">
      <dsp:nvSpPr>
        <dsp:cNvPr id="0" name=""/>
        <dsp:cNvSpPr/>
      </dsp:nvSpPr>
      <dsp:spPr>
        <a:xfrm>
          <a:off x="3788074" y="612511"/>
          <a:ext cx="3322842" cy="282460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抑制发送端发送数据的速率，以使接收端来得及接收。</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点对点通信量的控制，是个端到端的问题。</a:t>
          </a:r>
        </a:p>
      </dsp:txBody>
      <dsp:txXfrm>
        <a:off x="3788074" y="612511"/>
        <a:ext cx="3322842" cy="282460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74"/>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开环控制</a:t>
          </a:r>
        </a:p>
      </dsp:txBody>
      <dsp:txXfrm>
        <a:off x="34" y="74"/>
        <a:ext cx="3322842" cy="604800"/>
      </dsp:txXfrm>
    </dsp:sp>
    <dsp:sp modelId="{72C5BA33-78B4-45DE-B9CA-22A272DDBE2C}">
      <dsp:nvSpPr>
        <dsp:cNvPr id="0" name=""/>
        <dsp:cNvSpPr/>
      </dsp:nvSpPr>
      <dsp:spPr>
        <a:xfrm>
          <a:off x="34" y="604875"/>
          <a:ext cx="3322842" cy="213286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在设计网络时，事先</a:t>
          </a:r>
          <a:r>
            <a:rPr lang="zh-CN" altLang="en-US" sz="1800" b="1" kern="1200" dirty="0">
              <a:solidFill>
                <a:srgbClr val="C00000"/>
              </a:solidFill>
              <a:latin typeface="微软雅黑" panose="020B0503020204020204" pitchFamily="34" charset="-122"/>
              <a:ea typeface="微软雅黑" panose="020B0503020204020204" pitchFamily="34" charset="-122"/>
            </a:rPr>
            <a:t>考虑周全，</a:t>
          </a:r>
          <a:r>
            <a:rPr lang="zh-CN" altLang="en-US" sz="1800" b="1" kern="1200" dirty="0">
              <a:latin typeface="微软雅黑" panose="020B0503020204020204" pitchFamily="34" charset="-122"/>
              <a:ea typeface="微软雅黑" panose="020B0503020204020204" pitchFamily="34" charset="-122"/>
            </a:rPr>
            <a:t>力求工作时不发生拥塞。</a:t>
          </a:r>
        </a:p>
        <a:p>
          <a:pPr marL="171450" lvl="1" indent="-171450" algn="l" defTabSz="800100">
            <a:lnSpc>
              <a:spcPct val="90000"/>
            </a:lnSpc>
            <a:spcBef>
              <a:spcPct val="0"/>
            </a:spcBef>
            <a:spcAft>
              <a:spcPct val="15000"/>
            </a:spcAft>
            <a:buChar char="•"/>
          </a:pPr>
          <a:r>
            <a:rPr lang="zh-CN" altLang="en-US" sz="1800" b="1" kern="1200" dirty="0">
              <a:solidFill>
                <a:srgbClr val="0000FF"/>
              </a:solidFill>
              <a:latin typeface="微软雅黑" pitchFamily="34" charset="-122"/>
              <a:ea typeface="微软雅黑" pitchFamily="34" charset="-122"/>
            </a:rPr>
            <a:t>思路：</a:t>
          </a:r>
          <a:r>
            <a:rPr lang="zh-CN" altLang="en-US" sz="1800" b="1" kern="1200" dirty="0">
              <a:latin typeface="微软雅黑" pitchFamily="34" charset="-122"/>
              <a:ea typeface="微软雅黑" pitchFamily="34" charset="-122"/>
            </a:rPr>
            <a:t>力争</a:t>
          </a:r>
          <a:r>
            <a:rPr lang="zh-CN" altLang="en-US" sz="1800" b="1" kern="1200" dirty="0">
              <a:solidFill>
                <a:srgbClr val="0000FF"/>
              </a:solidFill>
              <a:latin typeface="微软雅黑" pitchFamily="34" charset="-122"/>
              <a:ea typeface="微软雅黑" pitchFamily="34" charset="-122"/>
            </a:rPr>
            <a:t>避免</a:t>
          </a:r>
          <a:r>
            <a:rPr lang="zh-CN" altLang="en-US" sz="1800" b="1" kern="1200" dirty="0">
              <a:latin typeface="微软雅黑" pitchFamily="34" charset="-122"/>
              <a:ea typeface="微软雅黑" pitchFamily="34" charset="-122"/>
            </a:rPr>
            <a:t>发生拥塞。</a:t>
          </a:r>
        </a:p>
        <a:p>
          <a:pPr marL="171450" lvl="1" indent="-171450" algn="l" defTabSz="800100">
            <a:lnSpc>
              <a:spcPct val="90000"/>
            </a:lnSpc>
            <a:spcBef>
              <a:spcPct val="0"/>
            </a:spcBef>
            <a:spcAft>
              <a:spcPct val="15000"/>
            </a:spcAft>
            <a:buChar char="•"/>
          </a:pPr>
          <a:r>
            <a:rPr lang="zh-CN" altLang="en-US" sz="1800" b="1" kern="1200" dirty="0">
              <a:latin typeface="微软雅黑" pitchFamily="34" charset="-122"/>
              <a:ea typeface="微软雅黑" pitchFamily="34" charset="-122"/>
            </a:rPr>
            <a:t>但一旦整个系统运行起来，就不再中途进行改正了。</a:t>
          </a:r>
        </a:p>
      </dsp:txBody>
      <dsp:txXfrm>
        <a:off x="34" y="604875"/>
        <a:ext cx="3322842" cy="2132865"/>
      </dsp:txXfrm>
    </dsp:sp>
    <dsp:sp modelId="{3ACFDD6B-963A-45AA-AED6-29B2C66DA9EB}">
      <dsp:nvSpPr>
        <dsp:cNvPr id="0" name=""/>
        <dsp:cNvSpPr/>
      </dsp:nvSpPr>
      <dsp:spPr>
        <a:xfrm>
          <a:off x="3788074" y="74"/>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闭环控制</a:t>
          </a:r>
        </a:p>
      </dsp:txBody>
      <dsp:txXfrm>
        <a:off x="3788074" y="74"/>
        <a:ext cx="3322842" cy="604800"/>
      </dsp:txXfrm>
    </dsp:sp>
    <dsp:sp modelId="{AAB91EAD-75AE-4168-8A7F-B7A023AD8367}">
      <dsp:nvSpPr>
        <dsp:cNvPr id="0" name=""/>
        <dsp:cNvSpPr/>
      </dsp:nvSpPr>
      <dsp:spPr>
        <a:xfrm>
          <a:off x="3788074" y="604875"/>
          <a:ext cx="3322842" cy="213286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基于反馈环路的概念。</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根据网络</a:t>
          </a:r>
          <a:r>
            <a:rPr lang="zh-CN" altLang="en-US" sz="1800" b="1" kern="1200" dirty="0">
              <a:solidFill>
                <a:srgbClr val="C00000"/>
              </a:solidFill>
              <a:latin typeface="微软雅黑" panose="020B0503020204020204" pitchFamily="34" charset="-122"/>
              <a:ea typeface="微软雅黑" panose="020B0503020204020204" pitchFamily="34" charset="-122"/>
            </a:rPr>
            <a:t>当前运行状态</a:t>
          </a:r>
          <a:r>
            <a:rPr lang="zh-CN" altLang="en-US" sz="1800" b="1" kern="1200" dirty="0">
              <a:latin typeface="微软雅黑" panose="020B0503020204020204" pitchFamily="34" charset="-122"/>
              <a:ea typeface="微软雅黑" panose="020B0503020204020204" pitchFamily="34" charset="-122"/>
            </a:rPr>
            <a:t>采取相应控制措施。</a:t>
          </a:r>
        </a:p>
        <a:p>
          <a:pPr marL="171450" lvl="1" indent="-171450" algn="l" defTabSz="800100">
            <a:lnSpc>
              <a:spcPct val="90000"/>
            </a:lnSpc>
            <a:spcBef>
              <a:spcPct val="0"/>
            </a:spcBef>
            <a:spcAft>
              <a:spcPct val="15000"/>
            </a:spcAft>
            <a:buChar char="•"/>
          </a:pPr>
          <a:r>
            <a:rPr lang="zh-CN" altLang="en-US" sz="1800" b="1" kern="1200" dirty="0">
              <a:solidFill>
                <a:srgbClr val="0000FF"/>
              </a:solidFill>
              <a:latin typeface="微软雅黑" panose="020B0503020204020204" pitchFamily="34" charset="-122"/>
              <a:ea typeface="微软雅黑" panose="020B0503020204020204" pitchFamily="34" charset="-122"/>
            </a:rPr>
            <a:t>思路：</a:t>
          </a:r>
          <a:r>
            <a:rPr lang="zh-CN" altLang="en-US" sz="1800" b="1" kern="1200" dirty="0">
              <a:latin typeface="微软雅黑" panose="020B0503020204020204" pitchFamily="34" charset="-122"/>
              <a:ea typeface="微软雅黑" panose="020B0503020204020204" pitchFamily="34" charset="-122"/>
            </a:rPr>
            <a:t>在发生拥塞后，采取措施进行控制，</a:t>
          </a:r>
          <a:r>
            <a:rPr lang="zh-CN" altLang="en-US" sz="1800" b="1" kern="1200" dirty="0">
              <a:solidFill>
                <a:srgbClr val="0000FF"/>
              </a:solidFill>
              <a:latin typeface="微软雅黑" panose="020B0503020204020204" pitchFamily="34" charset="-122"/>
              <a:ea typeface="微软雅黑" panose="020B0503020204020204" pitchFamily="34" charset="-122"/>
            </a:rPr>
            <a:t>消除</a:t>
          </a:r>
          <a:r>
            <a:rPr lang="zh-CN" altLang="en-US" sz="1800" b="1" kern="1200" dirty="0">
              <a:latin typeface="微软雅黑" panose="020B0503020204020204" pitchFamily="34" charset="-122"/>
              <a:ea typeface="微软雅黑" panose="020B0503020204020204" pitchFamily="34" charset="-122"/>
            </a:rPr>
            <a:t>拥塞。</a:t>
          </a:r>
        </a:p>
      </dsp:txBody>
      <dsp:txXfrm>
        <a:off x="3788074" y="604875"/>
        <a:ext cx="3322842" cy="21328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a:latin typeface="微软雅黑" panose="020B0503020204020204" pitchFamily="34" charset="-122"/>
              <a:ea typeface="微软雅黑" panose="020B0503020204020204" pitchFamily="34" charset="-122"/>
            </a:rPr>
            <a:t>收到 </a:t>
          </a:r>
          <a:r>
            <a:rPr lang="en-US" altLang="en-US" sz="1800" b="1" kern="1200">
              <a:latin typeface="微软雅黑" panose="020B0503020204020204" pitchFamily="34" charset="-122"/>
              <a:ea typeface="微软雅黑" panose="020B0503020204020204" pitchFamily="34" charset="-122"/>
            </a:rPr>
            <a:t>3 </a:t>
          </a:r>
          <a:r>
            <a:rPr lang="zh-CN" altLang="en-US" sz="1800" b="1" kern="1200">
              <a:latin typeface="微软雅黑" panose="020B0503020204020204" pitchFamily="34" charset="-122"/>
              <a:ea typeface="微软雅黑" panose="020B0503020204020204" pitchFamily="34" charset="-122"/>
            </a:rPr>
            <a:t>个重复的确认</a:t>
          </a:r>
          <a:endParaRPr lang="zh-CN" altLang="en-US" sz="1800" b="1" kern="1200" dirty="0">
            <a:latin typeface="微软雅黑" panose="020B0503020204020204" pitchFamily="34" charset="-122"/>
            <a:ea typeface="微软雅黑" panose="020B0503020204020204" pitchFamily="34" charset="-122"/>
          </a:endParaRPr>
        </a:p>
      </dsp:txBody>
      <dsp:txXfrm>
        <a:off x="37508" y="844296"/>
        <a:ext cx="2599772" cy="693335"/>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a:latin typeface="微软雅黑" panose="020B0503020204020204" pitchFamily="34" charset="-122"/>
              <a:ea typeface="微软雅黑" panose="020B0503020204020204" pitchFamily="34" charset="-122"/>
            </a:rPr>
            <a:t>拥塞窗口 </a:t>
          </a:r>
          <a:r>
            <a:rPr lang="en-US" altLang="en-US" sz="1600" b="1" kern="120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err="1">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2025/11/13</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59</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88</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90</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101</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102</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103</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104</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105</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134</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181</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9"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1.bin"/><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3.bin"/><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4.bin"/><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oleObject" Target="../embeddings/oleObject5.bin"/><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5.wmf"/></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38.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39.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3.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40.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3.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3.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3.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3.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557339" y="1533861"/>
            <a:ext cx="1341438" cy="2356685"/>
            <a:chOff x="1557339" y="1623511"/>
            <a:chExt cx="1341438" cy="2356685"/>
          </a:xfrm>
        </p:grpSpPr>
        <p:sp>
          <p:nvSpPr>
            <p:cNvPr id="50"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51"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2"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3"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4"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5"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6"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7"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58" name="Text Box 23"/>
            <p:cNvSpPr txBox="1">
              <a:spLocks noChangeArrowheads="1"/>
            </p:cNvSpPr>
            <p:nvPr/>
          </p:nvSpPr>
          <p:spPr bwMode="auto">
            <a:xfrm>
              <a:off x="2006602" y="2706561"/>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C00000"/>
                  </a:solidFill>
                  <a:latin typeface="微软雅黑" panose="020B0503020204020204" pitchFamily="34" charset="-122"/>
                  <a:ea typeface="微软雅黑" panose="020B0503020204020204" pitchFamily="34" charset="-122"/>
                </a:rPr>
                <a:t>运输层</a:t>
              </a:r>
            </a:p>
          </p:txBody>
        </p:sp>
        <p:sp>
          <p:nvSpPr>
            <p:cNvPr id="59"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网络层</a:t>
              </a:r>
            </a:p>
          </p:txBody>
        </p:sp>
        <p:sp>
          <p:nvSpPr>
            <p:cNvPr id="60"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61"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62"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数据链路层</a:t>
              </a:r>
            </a:p>
          </p:txBody>
        </p:sp>
        <p:sp>
          <p:nvSpPr>
            <p:cNvPr id="63"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64"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65" name="Text Box 13"/>
          <p:cNvSpPr txBox="1">
            <a:spLocks noChangeArrowheads="1"/>
          </p:cNvSpPr>
          <p:nvPr/>
        </p:nvSpPr>
        <p:spPr bwMode="auto">
          <a:xfrm>
            <a:off x="1156623" y="119731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solidFill>
                  <a:srgbClr val="000099"/>
                </a:solidFill>
                <a:latin typeface="微软雅黑" panose="020B0503020204020204" pitchFamily="34" charset="-122"/>
                <a:ea typeface="微软雅黑" panose="020B0503020204020204" pitchFamily="34" charset="-122"/>
              </a:rPr>
              <a:t>OSI </a:t>
            </a:r>
            <a:r>
              <a:rPr kumimoji="1" lang="zh-CN" altLang="en-US" sz="1400"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66" name="Text Box 12"/>
          <p:cNvSpPr txBox="1">
            <a:spLocks noChangeArrowheads="1"/>
          </p:cNvSpPr>
          <p:nvPr/>
        </p:nvSpPr>
        <p:spPr bwMode="auto">
          <a:xfrm>
            <a:off x="3432593" y="118619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latin typeface="微软雅黑" panose="020B0503020204020204" pitchFamily="34" charset="-122"/>
                <a:ea typeface="微软雅黑" panose="020B0503020204020204" pitchFamily="34" charset="-122"/>
              </a:rPr>
              <a:t>TCP/IP </a:t>
            </a:r>
            <a:r>
              <a:rPr kumimoji="1" lang="zh-CN" altLang="en-US" sz="1400" dirty="0">
                <a:latin typeface="微软雅黑" panose="020B0503020204020204" pitchFamily="34" charset="-122"/>
                <a:ea typeface="微软雅黑" panose="020B0503020204020204" pitchFamily="34" charset="-122"/>
              </a:rPr>
              <a:t>的四层协议体系结构</a:t>
            </a:r>
          </a:p>
        </p:txBody>
      </p:sp>
      <p:sp>
        <p:nvSpPr>
          <p:cNvPr id="67" name="Text Box 95"/>
          <p:cNvSpPr txBox="1">
            <a:spLocks noChangeArrowheads="1"/>
          </p:cNvSpPr>
          <p:nvPr/>
        </p:nvSpPr>
        <p:spPr bwMode="auto">
          <a:xfrm>
            <a:off x="1993066" y="383573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68" name="Text Box 96"/>
          <p:cNvSpPr txBox="1">
            <a:spLocks noChangeArrowheads="1"/>
          </p:cNvSpPr>
          <p:nvPr/>
        </p:nvSpPr>
        <p:spPr bwMode="auto">
          <a:xfrm>
            <a:off x="4328191" y="383573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69" name="Text Box 97"/>
          <p:cNvSpPr txBox="1">
            <a:spLocks noChangeArrowheads="1"/>
          </p:cNvSpPr>
          <p:nvPr/>
        </p:nvSpPr>
        <p:spPr bwMode="auto">
          <a:xfrm>
            <a:off x="6655970" y="384375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微软雅黑" panose="020B0503020204020204" pitchFamily="34" charset="-122"/>
                <a:ea typeface="微软雅黑" panose="020B0503020204020204" pitchFamily="34" charset="-122"/>
              </a:rPr>
              <a:t>(c)</a:t>
            </a:r>
          </a:p>
        </p:txBody>
      </p:sp>
      <p:sp>
        <p:nvSpPr>
          <p:cNvPr id="70" name="Text Box 113"/>
          <p:cNvSpPr txBox="1">
            <a:spLocks noChangeArrowheads="1"/>
          </p:cNvSpPr>
          <p:nvPr/>
        </p:nvSpPr>
        <p:spPr bwMode="auto">
          <a:xfrm>
            <a:off x="5946357" y="118143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71" name="组合 70"/>
          <p:cNvGrpSpPr/>
          <p:nvPr/>
        </p:nvGrpSpPr>
        <p:grpSpPr>
          <a:xfrm>
            <a:off x="3578724" y="1502111"/>
            <a:ext cx="1974894" cy="2338387"/>
            <a:chOff x="3578724" y="1591761"/>
            <a:chExt cx="1974894" cy="2338387"/>
          </a:xfrm>
        </p:grpSpPr>
        <p:sp>
          <p:nvSpPr>
            <p:cNvPr id="72"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3"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4"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5"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6"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77"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78"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    </a:t>
              </a:r>
              <a:r>
                <a:rPr kumimoji="1" lang="zh-CN" altLang="en-US" sz="1100" b="1" dirty="0">
                  <a:latin typeface="微软雅黑" panose="020B0503020204020204" pitchFamily="34" charset="-122"/>
                  <a:ea typeface="微软雅黑" panose="020B0503020204020204" pitchFamily="34" charset="-122"/>
                </a:rPr>
                <a:t>网际层 </a:t>
              </a:r>
              <a:r>
                <a:rPr kumimoji="1" lang="en-US" altLang="zh-CN" sz="1100" b="1" dirty="0">
                  <a:latin typeface="微软雅黑" panose="020B0503020204020204" pitchFamily="34" charset="-122"/>
                  <a:ea typeface="微软雅黑" panose="020B0503020204020204" pitchFamily="34" charset="-122"/>
                </a:rPr>
                <a:t>IP</a:t>
              </a:r>
            </a:p>
          </p:txBody>
        </p:sp>
        <p:sp>
          <p:nvSpPr>
            <p:cNvPr id="79"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80"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a:t>
              </a:r>
              <a:r>
                <a:rPr kumimoji="1" lang="en-US" altLang="zh-CN" sz="1100" b="1" dirty="0">
                  <a:solidFill>
                    <a:srgbClr val="C00000"/>
                  </a:solidFill>
                  <a:latin typeface="微软雅黑" panose="020B0503020204020204" pitchFamily="34" charset="-122"/>
                  <a:ea typeface="微软雅黑" panose="020B0503020204020204" pitchFamily="34" charset="-122"/>
                </a:rPr>
                <a:t>   </a:t>
              </a:r>
              <a:r>
                <a:rPr kumimoji="1" lang="zh-CN" altLang="en-US" sz="1100" b="1" dirty="0">
                  <a:solidFill>
                    <a:srgbClr val="C00000"/>
                  </a:solidFill>
                  <a:latin typeface="微软雅黑" panose="020B0503020204020204" pitchFamily="34" charset="-122"/>
                  <a:ea typeface="微软雅黑" panose="020B0503020204020204" pitchFamily="34" charset="-122"/>
                </a:rPr>
                <a:t>运输层 </a:t>
              </a:r>
              <a:r>
                <a:rPr kumimoji="1" lang="en-US" altLang="zh-CN" sz="1100" b="1" dirty="0">
                  <a:solidFill>
                    <a:srgbClr val="C00000"/>
                  </a:solidFill>
                  <a:latin typeface="微软雅黑" panose="020B0503020204020204" pitchFamily="34" charset="-122"/>
                  <a:ea typeface="微软雅黑" panose="020B0503020204020204" pitchFamily="34" charset="-122"/>
                </a:rPr>
                <a:t>(TCP </a:t>
              </a:r>
              <a:r>
                <a:rPr kumimoji="1" lang="zh-CN" altLang="en-US" sz="1100" b="1" dirty="0">
                  <a:solidFill>
                    <a:srgbClr val="C00000"/>
                  </a:solidFill>
                  <a:latin typeface="微软雅黑" panose="020B0503020204020204" pitchFamily="34" charset="-122"/>
                  <a:ea typeface="微软雅黑" panose="020B0503020204020204" pitchFamily="34" charset="-122"/>
                </a:rPr>
                <a:t>或 </a:t>
              </a:r>
              <a:r>
                <a:rPr kumimoji="1" lang="en-US" altLang="zh-CN" sz="1100" b="1" dirty="0">
                  <a:solidFill>
                    <a:srgbClr val="C00000"/>
                  </a:solidFill>
                  <a:latin typeface="微软雅黑" panose="020B0503020204020204" pitchFamily="34" charset="-122"/>
                  <a:ea typeface="微软雅黑" panose="020B0503020204020204" pitchFamily="34" charset="-122"/>
                </a:rPr>
                <a:t>UDP)</a:t>
              </a:r>
            </a:p>
          </p:txBody>
        </p:sp>
        <p:sp>
          <p:nvSpPr>
            <p:cNvPr id="81"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82" name="直接连接符 81"/>
          <p:cNvCxnSpPr/>
          <p:nvPr/>
        </p:nvCxnSpPr>
        <p:spPr>
          <a:xfrm>
            <a:off x="5334249" y="320407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5334249" y="383281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84" name="组合 83"/>
          <p:cNvGrpSpPr/>
          <p:nvPr/>
        </p:nvGrpSpPr>
        <p:grpSpPr>
          <a:xfrm>
            <a:off x="6217820" y="1533944"/>
            <a:ext cx="1341437" cy="2350069"/>
            <a:chOff x="6217820" y="1623594"/>
            <a:chExt cx="1341437" cy="2350069"/>
          </a:xfrm>
        </p:grpSpPr>
        <p:sp>
          <p:nvSpPr>
            <p:cNvPr id="85"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86"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7"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8"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9"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90"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FFFF00"/>
                  </a:solidFill>
                  <a:latin typeface="微软雅黑" panose="020B0503020204020204" pitchFamily="34" charset="-122"/>
                  <a:ea typeface="微软雅黑" panose="020B0503020204020204" pitchFamily="34" charset="-122"/>
                </a:rPr>
                <a:t>运输层</a:t>
              </a:r>
            </a:p>
          </p:txBody>
        </p:sp>
        <p:sp>
          <p:nvSpPr>
            <p:cNvPr id="91"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网络层</a:t>
              </a:r>
            </a:p>
          </p:txBody>
        </p:sp>
        <p:sp>
          <p:nvSpPr>
            <p:cNvPr id="92"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93"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数据链路层</a:t>
              </a:r>
            </a:p>
          </p:txBody>
        </p:sp>
        <p:sp>
          <p:nvSpPr>
            <p:cNvPr id="94"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95"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
        <p:nvSpPr>
          <p:cNvPr id="5" name="内容占位符 4">
            <a:extLst>
              <a:ext uri="{FF2B5EF4-FFF2-40B4-BE49-F238E27FC236}">
                <a16:creationId xmlns:a16="http://schemas.microsoft.com/office/drawing/2014/main" id="{84C19AA5-4130-D91B-3868-B75B334F240B}"/>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xfrm>
            <a:off x="486000" y="550723"/>
            <a:ext cx="8172000" cy="338554"/>
          </a:xfrm>
          <a:prstGeom prst="rect">
            <a:avLst/>
          </a:prstGeom>
        </p:spPr>
        <p:txBody>
          <a:bodyPr/>
          <a:lstStyle/>
          <a:p>
            <a:r>
              <a:rPr lang="zh-CN" altLang="en-US" dirty="0"/>
              <a:t>计算机网络体系结构</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8" name="内容占位符 7">
            <a:extLst>
              <a:ext uri="{FF2B5EF4-FFF2-40B4-BE49-F238E27FC236}">
                <a16:creationId xmlns:a16="http://schemas.microsoft.com/office/drawing/2014/main" id="{AF1F4A1A-8E80-FFA6-4C1D-5E900FFA08A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a:xfrm>
            <a:off x="486000" y="550723"/>
            <a:ext cx="8172000" cy="338554"/>
          </a:xfrm>
          <a:prstGeom prst="rect">
            <a:avLst/>
          </a:prstGeom>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4</a:t>
            </a:r>
            <a:endParaRPr lang="en-US" altLang="zh-CN" sz="1200" b="1">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LAN</a:t>
            </a:r>
            <a:r>
              <a:rPr lang="en-US" altLang="zh-CN" sz="1200" b="1" baseline="-25000">
                <a:latin typeface="微软雅黑" panose="020B0503020204020204" pitchFamily="34" charset="-122"/>
                <a:ea typeface="微软雅黑" panose="020B0503020204020204" pitchFamily="34" charset="-122"/>
              </a:rPr>
              <a:t>2</a:t>
            </a:r>
            <a:endParaRPr lang="en-US" altLang="zh-CN" sz="1200" b="1">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6" name="内容占位符 5">
            <a:extLst>
              <a:ext uri="{FF2B5EF4-FFF2-40B4-BE49-F238E27FC236}">
                <a16:creationId xmlns:a16="http://schemas.microsoft.com/office/drawing/2014/main" id="{75E72351-2DD0-9977-21EF-7B92BBF4CC7F}"/>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a:xfrm>
            <a:off x="486000" y="550723"/>
            <a:ext cx="8172000" cy="338554"/>
          </a:xfrm>
          <a:prstGeom prst="rect">
            <a:avLst/>
          </a:prstGeom>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内容占位符 14">
            <a:extLst>
              <a:ext uri="{FF2B5EF4-FFF2-40B4-BE49-F238E27FC236}">
                <a16:creationId xmlns:a16="http://schemas.microsoft.com/office/drawing/2014/main" id="{B9FCC675-A9AB-DA58-BD89-65EC3C617D09}"/>
              </a:ext>
            </a:extLst>
          </p:cNvPr>
          <p:cNvSpPr>
            <a:spLocks noGrp="1"/>
          </p:cNvSpPr>
          <p:nvPr>
            <p:ph sz="quarter" idx="11"/>
          </p:nvPr>
        </p:nvSpPr>
        <p:spPr>
          <a:xfrm>
            <a:off x="486000" y="900000"/>
            <a:ext cx="8172000" cy="3703500"/>
          </a:xfrm>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486000" y="550723"/>
            <a:ext cx="8172000" cy="338554"/>
          </a:xfrm>
          <a:prstGeom prst="rect">
            <a:avLst/>
          </a:prstGeom>
        </p:spPr>
        <p:txBody>
          <a:bodyPr/>
          <a:lstStyle/>
          <a:p>
            <a:r>
              <a:rPr lang="zh-CN" altLang="en-US" dirty="0"/>
              <a:t>屏蔽作用</a:t>
            </a:r>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5" name="内容占位符 4">
            <a:extLst>
              <a:ext uri="{FF2B5EF4-FFF2-40B4-BE49-F238E27FC236}">
                <a16:creationId xmlns:a16="http://schemas.microsoft.com/office/drawing/2014/main" id="{42E46087-56DF-AB9A-FD8E-7723430836B0}"/>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486000" y="550723"/>
            <a:ext cx="8172000" cy="338554"/>
          </a:xfrm>
          <a:prstGeom prst="rect">
            <a:avLst/>
          </a:prstGeo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23004693-9170-8259-45E5-BBC292222C13}"/>
              </a:ext>
            </a:extLst>
          </p:cNvPr>
          <p:cNvSpPr>
            <a:spLocks noGrp="1"/>
          </p:cNvSpPr>
          <p:nvPr>
            <p:ph sz="quarter" idx="11"/>
          </p:nvPr>
        </p:nvSpPr>
        <p:spPr>
          <a:xfrm>
            <a:off x="486000" y="900000"/>
            <a:ext cx="8172000" cy="3703500"/>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486000" y="550723"/>
            <a:ext cx="8172000" cy="338554"/>
          </a:xfrm>
          <a:prstGeom prst="rect">
            <a:avLst/>
          </a:prstGeom>
        </p:spPr>
        <p:txBody>
          <a:bodyPr/>
          <a:lstStyle/>
          <a:p>
            <a:r>
              <a:rPr lang="en-US" altLang="zh-CN" dirty="0"/>
              <a:t>5.1.2   </a:t>
            </a:r>
            <a:r>
              <a:rPr lang="zh-CN" altLang="en-US" dirty="0"/>
              <a:t>运输层的两个主要协议</a:t>
            </a:r>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B340B6D5-9BD8-14FD-8EA9-CA6C520E34F6}"/>
              </a:ext>
            </a:extLst>
          </p:cNvPr>
          <p:cNvSpPr>
            <a:spLocks noGrp="1"/>
          </p:cNvSpPr>
          <p:nvPr>
            <p:ph sz="quarter" idx="11"/>
          </p:nvPr>
        </p:nvSpPr>
        <p:spPr>
          <a:xfrm>
            <a:off x="486000" y="900000"/>
            <a:ext cx="8172000" cy="3703500"/>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486000" y="550723"/>
            <a:ext cx="8172000" cy="338554"/>
          </a:xfrm>
          <a:prstGeom prst="rect">
            <a:avLst/>
          </a:prstGeom>
        </p:spPr>
        <p:txBody>
          <a:bodyPr/>
          <a:lstStyle/>
          <a:p>
            <a:r>
              <a:rPr lang="zh-CN" altLang="en-US" dirty="0"/>
              <a:t>运输协议数据单元 </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3EECAD3E-CF73-B4B6-2CC5-DFBE20198986}"/>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8" name="内容占位符 7">
            <a:extLst>
              <a:ext uri="{FF2B5EF4-FFF2-40B4-BE49-F238E27FC236}">
                <a16:creationId xmlns:a16="http://schemas.microsoft.com/office/drawing/2014/main" id="{6E11F39F-5D25-8131-4A85-FE263830786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486000" y="550723"/>
            <a:ext cx="8172000" cy="338554"/>
          </a:xfrm>
          <a:prstGeom prst="rect">
            <a:avLst/>
          </a:prstGeom>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4</a:t>
              </a:r>
              <a:endParaRPr lang="en-US" altLang="zh-CN" sz="1200" b="1">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1"/>
          </p:nvPr>
        </p:nvSpPr>
        <p:spPr>
          <a:xfrm>
            <a:off x="486000" y="900000"/>
            <a:ext cx="8172000" cy="3703500"/>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486000" y="550723"/>
            <a:ext cx="8172000" cy="338554"/>
          </a:xfrm>
          <a:prstGeom prst="rect">
            <a:avLst/>
          </a:prstGeom>
        </p:spPr>
        <p:txBody>
          <a:bodyPr/>
          <a:lstStyle/>
          <a:p>
            <a:r>
              <a:rPr lang="en-US" altLang="zh-CN" dirty="0"/>
              <a:t>5.1.3   </a:t>
            </a:r>
            <a:r>
              <a:rPr lang="zh-CN" altLang="en-US" dirty="0"/>
              <a:t>运输层的端口</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E6D84384-EE41-5A51-CED7-F589A2D89D2B}"/>
              </a:ext>
            </a:extLst>
          </p:cNvPr>
          <p:cNvSpPr>
            <a:spLocks noGrp="1"/>
          </p:cNvSpPr>
          <p:nvPr>
            <p:ph sz="quarter" idx="11"/>
          </p:nvPr>
        </p:nvSpPr>
        <p:spPr>
          <a:xfrm>
            <a:off x="486000" y="900000"/>
            <a:ext cx="8172000" cy="3703500"/>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486000" y="550723"/>
            <a:ext cx="8172000" cy="338554"/>
          </a:xfrm>
          <a:prstGeom prst="rect">
            <a:avLst/>
          </a:prstGeom>
        </p:spPr>
        <p:txBody>
          <a:bodyPr/>
          <a:lstStyle/>
          <a:p>
            <a:r>
              <a:rPr lang="zh-CN" altLang="en-US" dirty="0"/>
              <a:t>需要考虑的问题 </a:t>
            </a:r>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1"/>
          </p:nvPr>
        </p:nvSpPr>
        <p:spPr>
          <a:xfrm>
            <a:off x="486000" y="900000"/>
            <a:ext cx="8172000" cy="3703500"/>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486000" y="550723"/>
            <a:ext cx="8172000" cy="338554"/>
          </a:xfrm>
          <a:prstGeom prst="rect">
            <a:avLst/>
          </a:prstGeom>
        </p:spPr>
        <p:txBody>
          <a:bodyPr/>
          <a:lstStyle/>
          <a:p>
            <a:r>
              <a:rPr lang="zh-CN" altLang="en-US" dirty="0"/>
              <a:t>端口号 </a:t>
            </a:r>
            <a:r>
              <a:rPr lang="en-US" altLang="zh-CN" dirty="0"/>
              <a:t>(protocol port number)</a:t>
            </a:r>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F3CF8926-F5C8-5D18-B548-8FFD0B738D1D}"/>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a:xfrm>
            <a:off x="486000" y="550723"/>
            <a:ext cx="8172000" cy="338554"/>
          </a:xfrm>
          <a:prstGeom prst="rect">
            <a:avLst/>
          </a:prstGeom>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900000"/>
            <a:ext cx="8172000" cy="3703500"/>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a:p>
            <a:endParaRPr lang="zh-CN" altLang="en-US" dirty="0"/>
          </a:p>
          <a:p>
            <a:endParaRPr lang="zh-CN" altLang="en-US" dirty="0"/>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486000" y="550723"/>
            <a:ext cx="8172000" cy="338554"/>
          </a:xfrm>
          <a:prstGeom prst="rect">
            <a:avLst/>
          </a:prstGeom>
        </p:spPr>
        <p:txBody>
          <a:bodyPr/>
          <a:lstStyle/>
          <a:p>
            <a:r>
              <a:rPr lang="en-US" altLang="zh-CN" dirty="0"/>
              <a:t>TCP/IP </a:t>
            </a:r>
            <a:r>
              <a:rPr lang="zh-CN" altLang="en-US" dirty="0"/>
              <a:t>运输层端口的标志</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5" name="内容占位符 4">
            <a:extLst>
              <a:ext uri="{FF2B5EF4-FFF2-40B4-BE49-F238E27FC236}">
                <a16:creationId xmlns:a16="http://schemas.microsoft.com/office/drawing/2014/main" id="{4ADCA5A6-9A5C-7953-E15F-A98D666D8207}"/>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486000" y="550723"/>
            <a:ext cx="8172000" cy="338554"/>
          </a:xfrm>
          <a:prstGeom prst="rect">
            <a:avLst/>
          </a:prstGeom>
        </p:spPr>
        <p:txBody>
          <a:bodyPr/>
          <a:lstStyle/>
          <a:p>
            <a:r>
              <a:rPr lang="zh-CN" altLang="en-US" dirty="0"/>
              <a:t>两大类、三种类型的端口</a:t>
            </a:r>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6" name="内容占位符 5">
            <a:extLst>
              <a:ext uri="{FF2B5EF4-FFF2-40B4-BE49-F238E27FC236}">
                <a16:creationId xmlns:a16="http://schemas.microsoft.com/office/drawing/2014/main" id="{4728D037-D6BE-A401-556C-C26749DD072D}"/>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486000" y="550723"/>
            <a:ext cx="8172000" cy="338554"/>
          </a:xfrm>
          <a:prstGeom prst="rect">
            <a:avLst/>
          </a:prstGeo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B81806C7-674E-1A0A-6753-538BAFFCA381}"/>
              </a:ext>
            </a:extLst>
          </p:cNvPr>
          <p:cNvSpPr>
            <a:spLocks noChangeArrowheads="1"/>
          </p:cNvSpPr>
          <p:nvPr/>
        </p:nvSpPr>
        <p:spPr bwMode="auto">
          <a:xfrm>
            <a:off x="2036224" y="209201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5" name="Rectangle 5">
            <a:extLst>
              <a:ext uri="{FF2B5EF4-FFF2-40B4-BE49-F238E27FC236}">
                <a16:creationId xmlns:a16="http://schemas.microsoft.com/office/drawing/2014/main" id="{261E012A-802B-C0C1-D5A3-D78E549DB94E}"/>
              </a:ext>
            </a:extLst>
          </p:cNvPr>
          <p:cNvSpPr>
            <a:spLocks noChangeArrowheads="1"/>
          </p:cNvSpPr>
          <p:nvPr/>
        </p:nvSpPr>
        <p:spPr bwMode="auto">
          <a:xfrm>
            <a:off x="2036224" y="2690259"/>
            <a:ext cx="5078951"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 name="Rectangle 11">
            <a:extLst>
              <a:ext uri="{FF2B5EF4-FFF2-40B4-BE49-F238E27FC236}">
                <a16:creationId xmlns:a16="http://schemas.microsoft.com/office/drawing/2014/main" id="{CA2C8C31-D780-C628-EAD7-E68537D7DF14}"/>
              </a:ext>
            </a:extLst>
          </p:cNvPr>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 name="Rectangle 6">
            <a:extLst>
              <a:ext uri="{FF2B5EF4-FFF2-40B4-BE49-F238E27FC236}">
                <a16:creationId xmlns:a16="http://schemas.microsoft.com/office/drawing/2014/main" id="{F34287CC-44E0-B608-3EA0-A6325EEEDB21}"/>
              </a:ext>
            </a:extLst>
          </p:cNvPr>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A5ECCEB9-6DA3-A5A5-200F-DBB78CDB76E0}"/>
              </a:ext>
            </a:extLst>
          </p:cNvPr>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9" name="Text Box 10">
            <a:extLst>
              <a:ext uri="{FF2B5EF4-FFF2-40B4-BE49-F238E27FC236}">
                <a16:creationId xmlns:a16="http://schemas.microsoft.com/office/drawing/2014/main" id="{ACA39C40-D8D5-09DE-09E5-A49B7FA453AF}"/>
              </a:ext>
            </a:extLst>
          </p:cNvPr>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10" name="Rectangle 13">
            <a:extLst>
              <a:ext uri="{FF2B5EF4-FFF2-40B4-BE49-F238E27FC236}">
                <a16:creationId xmlns:a16="http://schemas.microsoft.com/office/drawing/2014/main" id="{5FF5C808-90B9-445E-C51E-239A6BD48434}"/>
              </a:ext>
            </a:extLst>
          </p:cNvPr>
          <p:cNvSpPr>
            <a:spLocks noChangeArrowheads="1"/>
          </p:cNvSpPr>
          <p:nvPr/>
        </p:nvSpPr>
        <p:spPr bwMode="auto">
          <a:xfrm>
            <a:off x="4419107" y="238700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11" name="Rectangle 15">
            <a:extLst>
              <a:ext uri="{FF2B5EF4-FFF2-40B4-BE49-F238E27FC236}">
                <a16:creationId xmlns:a16="http://schemas.microsoft.com/office/drawing/2014/main" id="{C94135C1-2C07-B474-4063-2539B4BA125C}"/>
              </a:ext>
            </a:extLst>
          </p:cNvPr>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12" name="Rectangle 17">
            <a:extLst>
              <a:ext uri="{FF2B5EF4-FFF2-40B4-BE49-F238E27FC236}">
                <a16:creationId xmlns:a16="http://schemas.microsoft.com/office/drawing/2014/main" id="{226EA678-5BE6-427D-8A36-B8A8BDA7DE20}"/>
              </a:ext>
            </a:extLst>
          </p:cNvPr>
          <p:cNvSpPr>
            <a:spLocks noChangeArrowheads="1"/>
          </p:cNvSpPr>
          <p:nvPr/>
        </p:nvSpPr>
        <p:spPr bwMode="auto">
          <a:xfrm>
            <a:off x="2981286" y="2770994"/>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13" name="Rectangle 19">
            <a:extLst>
              <a:ext uri="{FF2B5EF4-FFF2-40B4-BE49-F238E27FC236}">
                <a16:creationId xmlns:a16="http://schemas.microsoft.com/office/drawing/2014/main" id="{21961F24-87A0-494F-4E89-1B8F293F5AF4}"/>
              </a:ext>
            </a:extLst>
          </p:cNvPr>
          <p:cNvSpPr>
            <a:spLocks noChangeArrowheads="1"/>
          </p:cNvSpPr>
          <p:nvPr/>
        </p:nvSpPr>
        <p:spPr bwMode="auto">
          <a:xfrm>
            <a:off x="3786594"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14" name="Rectangle 21">
            <a:extLst>
              <a:ext uri="{FF2B5EF4-FFF2-40B4-BE49-F238E27FC236}">
                <a16:creationId xmlns:a16="http://schemas.microsoft.com/office/drawing/2014/main" id="{B76001CE-7A2A-9570-9988-4401C0D3B3AF}"/>
              </a:ext>
            </a:extLst>
          </p:cNvPr>
          <p:cNvSpPr>
            <a:spLocks noChangeArrowheads="1"/>
          </p:cNvSpPr>
          <p:nvPr/>
        </p:nvSpPr>
        <p:spPr bwMode="auto">
          <a:xfrm>
            <a:off x="6176917"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15" name="Text Box 31">
            <a:extLst>
              <a:ext uri="{FF2B5EF4-FFF2-40B4-BE49-F238E27FC236}">
                <a16:creationId xmlns:a16="http://schemas.microsoft.com/office/drawing/2014/main" id="{9AE876B8-B8F0-70BE-2405-CDCF5BF104BE}"/>
              </a:ext>
            </a:extLst>
          </p:cNvPr>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16" name="Line 32">
            <a:extLst>
              <a:ext uri="{FF2B5EF4-FFF2-40B4-BE49-F238E27FC236}">
                <a16:creationId xmlns:a16="http://schemas.microsoft.com/office/drawing/2014/main" id="{245896BC-072F-07FE-5A2D-D3FD2F8F5DCB}"/>
              </a:ext>
            </a:extLst>
          </p:cNvPr>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17" name="Text Box 33">
            <a:extLst>
              <a:ext uri="{FF2B5EF4-FFF2-40B4-BE49-F238E27FC236}">
                <a16:creationId xmlns:a16="http://schemas.microsoft.com/office/drawing/2014/main" id="{8774D905-CA6A-DAE2-99AA-57591C1CD4D1}"/>
              </a:ext>
            </a:extLst>
          </p:cNvPr>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8" name="直接箭头连接符 17">
            <a:extLst>
              <a:ext uri="{FF2B5EF4-FFF2-40B4-BE49-F238E27FC236}">
                <a16:creationId xmlns:a16="http://schemas.microsoft.com/office/drawing/2014/main" id="{A37FC8B6-46B2-16EC-F253-27F51E0ADB19}"/>
              </a:ext>
            </a:extLst>
          </p:cNvPr>
          <p:cNvCxnSpPr>
            <a:stCxn id="15" idx="0"/>
            <a:endCxn id="12" idx="2"/>
          </p:cNvCxnSpPr>
          <p:nvPr/>
        </p:nvCxnSpPr>
        <p:spPr>
          <a:xfrm flipH="1" flipV="1">
            <a:off x="3326342" y="2987602"/>
            <a:ext cx="1350891"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2258C5A-5FD2-370B-ABAB-F794877FB67A}"/>
              </a:ext>
            </a:extLst>
          </p:cNvPr>
          <p:cNvCxnSpPr>
            <a:stCxn id="15" idx="0"/>
            <a:endCxn id="13" idx="2"/>
          </p:cNvCxnSpPr>
          <p:nvPr/>
        </p:nvCxnSpPr>
        <p:spPr>
          <a:xfrm flipH="1" flipV="1">
            <a:off x="4131116" y="2987602"/>
            <a:ext cx="546117"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8532165D-AF49-A571-CEED-A70530C165AA}"/>
              </a:ext>
            </a:extLst>
          </p:cNvPr>
          <p:cNvCxnSpPr>
            <a:cxnSpLocks/>
            <a:stCxn id="6" idx="0"/>
            <a:endCxn id="10" idx="2"/>
          </p:cNvCxnSpPr>
          <p:nvPr/>
        </p:nvCxnSpPr>
        <p:spPr>
          <a:xfrm flipV="1">
            <a:off x="4677233" y="2603614"/>
            <a:ext cx="86396"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A775B081-7A06-12CC-D5A0-6A4F31E75ED1}"/>
              </a:ext>
            </a:extLst>
          </p:cNvPr>
          <p:cNvCxnSpPr>
            <a:stCxn id="15" idx="0"/>
            <a:endCxn id="1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9251294B-5A8E-E3D7-FDE5-656EA1D6A731}"/>
              </a:ext>
            </a:extLst>
          </p:cNvPr>
          <p:cNvCxnSpPr>
            <a:stCxn id="15" idx="0"/>
            <a:endCxn id="14" idx="2"/>
          </p:cNvCxnSpPr>
          <p:nvPr/>
        </p:nvCxnSpPr>
        <p:spPr>
          <a:xfrm flipV="1">
            <a:off x="4677233" y="2987602"/>
            <a:ext cx="1844206"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4">
            <a:extLst>
              <a:ext uri="{FF2B5EF4-FFF2-40B4-BE49-F238E27FC236}">
                <a16:creationId xmlns:a16="http://schemas.microsoft.com/office/drawing/2014/main" id="{6CEBF8C7-5FC7-EB9A-0B5C-414FAB9DF16E}"/>
              </a:ext>
            </a:extLst>
          </p:cNvPr>
          <p:cNvSpPr>
            <a:spLocks noChangeArrowheads="1"/>
          </p:cNvSpPr>
          <p:nvPr/>
        </p:nvSpPr>
        <p:spPr bwMode="auto">
          <a:xfrm>
            <a:off x="2036224" y="150268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3" name="Rectangle 15">
            <a:extLst>
              <a:ext uri="{FF2B5EF4-FFF2-40B4-BE49-F238E27FC236}">
                <a16:creationId xmlns:a16="http://schemas.microsoft.com/office/drawing/2014/main" id="{49FA8B9A-7106-57B4-0DD1-5DA6BF4A2372}"/>
              </a:ext>
            </a:extLst>
          </p:cNvPr>
          <p:cNvSpPr>
            <a:spLocks noChangeArrowheads="1"/>
          </p:cNvSpPr>
          <p:nvPr/>
        </p:nvSpPr>
        <p:spPr bwMode="auto">
          <a:xfrm>
            <a:off x="5285176" y="1658803"/>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26" name="直接箭头连接符 25">
            <a:extLst>
              <a:ext uri="{FF2B5EF4-FFF2-40B4-BE49-F238E27FC236}">
                <a16:creationId xmlns:a16="http://schemas.microsoft.com/office/drawing/2014/main" id="{D17AC084-4A3E-461F-904E-7DF0F0C363D5}"/>
              </a:ext>
            </a:extLst>
          </p:cNvPr>
          <p:cNvCxnSpPr>
            <a:stCxn id="11" idx="0"/>
            <a:endCxn id="23" idx="2"/>
          </p:cNvCxnSpPr>
          <p:nvPr/>
        </p:nvCxnSpPr>
        <p:spPr>
          <a:xfrm flipV="1">
            <a:off x="5626001" y="1875411"/>
            <a:ext cx="4231" cy="5115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15">
            <a:extLst>
              <a:ext uri="{FF2B5EF4-FFF2-40B4-BE49-F238E27FC236}">
                <a16:creationId xmlns:a16="http://schemas.microsoft.com/office/drawing/2014/main" id="{79A8A1DC-21A8-EB83-14FA-A12141E1395C}"/>
              </a:ext>
            </a:extLst>
          </p:cNvPr>
          <p:cNvSpPr>
            <a:spLocks noChangeArrowheads="1"/>
          </p:cNvSpPr>
          <p:nvPr/>
        </p:nvSpPr>
        <p:spPr bwMode="auto">
          <a:xfrm>
            <a:off x="5637682" y="2110585"/>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520</a:t>
            </a:r>
          </a:p>
        </p:txBody>
      </p:sp>
      <p:sp>
        <p:nvSpPr>
          <p:cNvPr id="28" name="Rectangle 15">
            <a:extLst>
              <a:ext uri="{FF2B5EF4-FFF2-40B4-BE49-F238E27FC236}">
                <a16:creationId xmlns:a16="http://schemas.microsoft.com/office/drawing/2014/main" id="{D45F7667-5304-2FC1-F2D9-180B98005EA3}"/>
              </a:ext>
            </a:extLst>
          </p:cNvPr>
          <p:cNvSpPr>
            <a:spLocks noChangeArrowheads="1"/>
          </p:cNvSpPr>
          <p:nvPr/>
        </p:nvSpPr>
        <p:spPr bwMode="auto">
          <a:xfrm>
            <a:off x="5228107" y="2831859"/>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17</a:t>
            </a:r>
          </a:p>
        </p:txBody>
      </p:sp>
    </p:spTree>
    <p:extLst>
      <p:ext uri="{BB962C8B-B14F-4D97-AF65-F5344CB8AC3E}">
        <p14:creationId xmlns:p14="http://schemas.microsoft.com/office/powerpoint/2010/main" val="13581907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900000"/>
            <a:ext cx="8172000" cy="3703500"/>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486000" y="550723"/>
            <a:ext cx="8172000" cy="338554"/>
          </a:xfrm>
          <a:prstGeom prst="rect">
            <a:avLst/>
          </a:prstGeom>
        </p:spPr>
        <p:txBody>
          <a:bodyPr/>
          <a:lstStyle/>
          <a:p>
            <a:r>
              <a:rPr lang="en-US" altLang="zh-CN" dirty="0"/>
              <a:t>5.2.1  UDP </a:t>
            </a:r>
            <a:r>
              <a:rPr lang="zh-CN" altLang="en-US" dirty="0"/>
              <a:t>概述</a:t>
            </a: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900000"/>
            <a:ext cx="8172000" cy="3703500"/>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的主要特点</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5" name="内容占位符 24">
            <a:extLst>
              <a:ext uri="{FF2B5EF4-FFF2-40B4-BE49-F238E27FC236}">
                <a16:creationId xmlns:a16="http://schemas.microsoft.com/office/drawing/2014/main" id="{9B154347-60C9-D2EC-5344-DC3F7AA35482}"/>
              </a:ext>
            </a:extLst>
          </p:cNvPr>
          <p:cNvSpPr>
            <a:spLocks noGrp="1"/>
          </p:cNvSpPr>
          <p:nvPr>
            <p:ph sz="quarter" idx="11"/>
          </p:nvPr>
        </p:nvSpPr>
        <p:spPr/>
        <p:txBody>
          <a:bodyPr/>
          <a:lstStyle/>
          <a:p>
            <a:endParaRPr lang="zh-CN" altLang="en-US"/>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2319846315"/>
              </p:ext>
            </p:extLst>
          </p:nvPr>
        </p:nvGraphicFramePr>
        <p:xfrm>
          <a:off x="2839640" y="2209568"/>
          <a:ext cx="3963183" cy="360000"/>
        </p:xfrm>
        <a:graphic>
          <a:graphicData uri="http://schemas.openxmlformats.org/drawingml/2006/table">
            <a:tbl>
              <a:tblPr firstRow="1" bandRow="1">
                <a:tableStyleId>{5C22544A-7EE6-4342-B048-85BDC9FD1C3A}</a:tableStyleId>
              </a:tblPr>
              <a:tblGrid>
                <a:gridCol w="1138205">
                  <a:extLst>
                    <a:ext uri="{9D8B030D-6E8A-4147-A177-3AD203B41FA5}">
                      <a16:colId xmlns:a16="http://schemas.microsoft.com/office/drawing/2014/main" val="3192344591"/>
                    </a:ext>
                  </a:extLst>
                </a:gridCol>
                <a:gridCol w="282497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3931423215"/>
              </p:ext>
            </p:extLst>
          </p:nvPr>
        </p:nvGraphicFramePr>
        <p:xfrm>
          <a:off x="3984239" y="1633419"/>
          <a:ext cx="2818585" cy="360000"/>
        </p:xfrm>
        <a:graphic>
          <a:graphicData uri="http://schemas.openxmlformats.org/drawingml/2006/table">
            <a:tbl>
              <a:tblPr firstRow="1" bandRow="1">
                <a:tableStyleId>{5C22544A-7EE6-4342-B048-85BDC9FD1C3A}</a:tableStyleId>
              </a:tblPr>
              <a:tblGrid>
                <a:gridCol w="2818585">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939349205"/>
              </p:ext>
            </p:extLst>
          </p:nvPr>
        </p:nvGraphicFramePr>
        <p:xfrm>
          <a:off x="1778320" y="2785718"/>
          <a:ext cx="5024504" cy="360000"/>
        </p:xfrm>
        <a:graphic>
          <a:graphicData uri="http://schemas.openxmlformats.org/drawingml/2006/table">
            <a:tbl>
              <a:tblPr firstRow="1" bandRow="1">
                <a:tableStyleId>{5C22544A-7EE6-4342-B048-85BDC9FD1C3A}</a:tableStyleId>
              </a:tblPr>
              <a:tblGrid>
                <a:gridCol w="1061321">
                  <a:extLst>
                    <a:ext uri="{9D8B030D-6E8A-4147-A177-3AD203B41FA5}">
                      <a16:colId xmlns:a16="http://schemas.microsoft.com/office/drawing/2014/main" val="3192344591"/>
                    </a:ext>
                  </a:extLst>
                </a:gridCol>
                <a:gridCol w="3963183">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13" name="内容占位符 12">
            <a:extLst>
              <a:ext uri="{FF2B5EF4-FFF2-40B4-BE49-F238E27FC236}">
                <a16:creationId xmlns:a16="http://schemas.microsoft.com/office/drawing/2014/main" id="{A3431638-A226-8093-CA6C-9E4EA4A50EA1}"/>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a:latin typeface="微软雅黑" panose="020B0503020204020204" pitchFamily="34" charset="-122"/>
                  <a:ea typeface="微软雅黑" panose="020B0503020204020204" pitchFamily="34" charset="-122"/>
                  <a:sym typeface="Wingdings" pitchFamily="2" charset="2"/>
                </a:rPr>
                <a:t></a:t>
              </a:r>
              <a:endParaRPr lang="en-US" altLang="zh-CN" sz="2400" b="1">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6" name="内容占位符 5">
            <a:extLst>
              <a:ext uri="{FF2B5EF4-FFF2-40B4-BE49-F238E27FC236}">
                <a16:creationId xmlns:a16="http://schemas.microsoft.com/office/drawing/2014/main" id="{54D2578F-6AC2-F6B4-FB41-6F54CA2C738E}"/>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7" name="内容占位符 6">
            <a:extLst>
              <a:ext uri="{FF2B5EF4-FFF2-40B4-BE49-F238E27FC236}">
                <a16:creationId xmlns:a16="http://schemas.microsoft.com/office/drawing/2014/main" id="{ADFCCCC0-3489-8A7B-BE82-9954915ED1D5}"/>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a:xfrm>
            <a:off x="486000" y="550723"/>
            <a:ext cx="8172000" cy="338554"/>
          </a:xfrm>
          <a:prstGeom prst="rect">
            <a:avLst/>
          </a:prstGeom>
        </p:spPr>
        <p:txBody>
          <a:bodyPr/>
          <a:lstStyle/>
          <a:p>
            <a:r>
              <a:rPr lang="zh-CN" altLang="en-US" dirty="0"/>
              <a:t>多对一</a:t>
            </a:r>
          </a:p>
        </p:txBody>
      </p:sp>
      <p:sp>
        <p:nvSpPr>
          <p:cNvPr id="4" name="矩形 3">
            <a:extLst>
              <a:ext uri="{FF2B5EF4-FFF2-40B4-BE49-F238E27FC236}">
                <a16:creationId xmlns:a16="http://schemas.microsoft.com/office/drawing/2014/main" id="{64A3D374-39EB-90E8-31AD-3145C9401F09}"/>
              </a:ext>
            </a:extLst>
          </p:cNvPr>
          <p:cNvSpPr/>
          <p:nvPr/>
        </p:nvSpPr>
        <p:spPr>
          <a:xfrm>
            <a:off x="1592231"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1" name="组合 10">
            <a:extLst>
              <a:ext uri="{FF2B5EF4-FFF2-40B4-BE49-F238E27FC236}">
                <a16:creationId xmlns:a16="http://schemas.microsoft.com/office/drawing/2014/main" id="{B8C0BFE5-063B-3BD9-8342-EA0545DB3540}"/>
              </a:ext>
            </a:extLst>
          </p:cNvPr>
          <p:cNvGrpSpPr/>
          <p:nvPr/>
        </p:nvGrpSpPr>
        <p:grpSpPr>
          <a:xfrm>
            <a:off x="1632154" y="1933158"/>
            <a:ext cx="590549" cy="360000"/>
            <a:chOff x="1385885" y="1017493"/>
            <a:chExt cx="590549" cy="360000"/>
          </a:xfrm>
        </p:grpSpPr>
        <p:pic>
          <p:nvPicPr>
            <p:cNvPr id="12" name="图形 11" descr="文档">
              <a:extLst>
                <a:ext uri="{FF2B5EF4-FFF2-40B4-BE49-F238E27FC236}">
                  <a16:creationId xmlns:a16="http://schemas.microsoft.com/office/drawing/2014/main" id="{02A900F7-C9AD-DC8F-8722-51BE8F0F33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13" name="文本框 12">
              <a:extLst>
                <a:ext uri="{FF2B5EF4-FFF2-40B4-BE49-F238E27FC236}">
                  <a16:creationId xmlns:a16="http://schemas.microsoft.com/office/drawing/2014/main" id="{105EA964-30F8-704B-FC3E-67D7F1BC86E8}"/>
                </a:ext>
              </a:extLst>
            </p:cNvPr>
            <p:cNvSpPr txBox="1"/>
            <p:nvPr/>
          </p:nvSpPr>
          <p:spPr>
            <a:xfrm>
              <a:off x="1385885" y="105899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4" name="组合 13">
            <a:extLst>
              <a:ext uri="{FF2B5EF4-FFF2-40B4-BE49-F238E27FC236}">
                <a16:creationId xmlns:a16="http://schemas.microsoft.com/office/drawing/2014/main" id="{3C02DA1A-6614-5AFE-C347-7143BD002C88}"/>
              </a:ext>
            </a:extLst>
          </p:cNvPr>
          <p:cNvGrpSpPr/>
          <p:nvPr/>
        </p:nvGrpSpPr>
        <p:grpSpPr>
          <a:xfrm>
            <a:off x="2258055" y="1933158"/>
            <a:ext cx="590549" cy="360000"/>
            <a:chOff x="1890159" y="1017493"/>
            <a:chExt cx="590549" cy="360000"/>
          </a:xfrm>
        </p:grpSpPr>
        <p:pic>
          <p:nvPicPr>
            <p:cNvPr id="15" name="图形 14" descr="文档">
              <a:extLst>
                <a:ext uri="{FF2B5EF4-FFF2-40B4-BE49-F238E27FC236}">
                  <a16:creationId xmlns:a16="http://schemas.microsoft.com/office/drawing/2014/main" id="{9EC2499B-5E16-43E6-CAAA-42832F7D546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16" name="文本框 15">
              <a:extLst>
                <a:ext uri="{FF2B5EF4-FFF2-40B4-BE49-F238E27FC236}">
                  <a16:creationId xmlns:a16="http://schemas.microsoft.com/office/drawing/2014/main" id="{401DDB37-1B65-5639-08B3-91724BB40FBD}"/>
                </a:ext>
              </a:extLst>
            </p:cNvPr>
            <p:cNvSpPr txBox="1"/>
            <p:nvPr/>
          </p:nvSpPr>
          <p:spPr>
            <a:xfrm>
              <a:off x="1890159" y="1058994"/>
              <a:ext cx="383438"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7" name="组合 16">
            <a:extLst>
              <a:ext uri="{FF2B5EF4-FFF2-40B4-BE49-F238E27FC236}">
                <a16:creationId xmlns:a16="http://schemas.microsoft.com/office/drawing/2014/main" id="{6E333EC5-D078-DA63-3DE3-88DF8302962C}"/>
              </a:ext>
            </a:extLst>
          </p:cNvPr>
          <p:cNvGrpSpPr/>
          <p:nvPr/>
        </p:nvGrpSpPr>
        <p:grpSpPr>
          <a:xfrm>
            <a:off x="2892119" y="1933158"/>
            <a:ext cx="590549" cy="360000"/>
            <a:chOff x="2394433" y="1017493"/>
            <a:chExt cx="590549" cy="360000"/>
          </a:xfrm>
        </p:grpSpPr>
        <p:pic>
          <p:nvPicPr>
            <p:cNvPr id="18" name="图形 17" descr="文档">
              <a:extLst>
                <a:ext uri="{FF2B5EF4-FFF2-40B4-BE49-F238E27FC236}">
                  <a16:creationId xmlns:a16="http://schemas.microsoft.com/office/drawing/2014/main" id="{B9D866C1-3406-66C6-64C5-217BC94176B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624982" y="1017493"/>
              <a:ext cx="360000" cy="360000"/>
            </a:xfrm>
            <a:prstGeom prst="rect">
              <a:avLst/>
            </a:prstGeom>
          </p:spPr>
        </p:pic>
        <p:sp>
          <p:nvSpPr>
            <p:cNvPr id="19" name="文本框 18">
              <a:extLst>
                <a:ext uri="{FF2B5EF4-FFF2-40B4-BE49-F238E27FC236}">
                  <a16:creationId xmlns:a16="http://schemas.microsoft.com/office/drawing/2014/main" id="{BB3E275A-116A-55A4-61BF-4BC3791BDFA6}"/>
                </a:ext>
              </a:extLst>
            </p:cNvPr>
            <p:cNvSpPr txBox="1"/>
            <p:nvPr/>
          </p:nvSpPr>
          <p:spPr>
            <a:xfrm>
              <a:off x="2394433"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0" name="组合 19">
            <a:extLst>
              <a:ext uri="{FF2B5EF4-FFF2-40B4-BE49-F238E27FC236}">
                <a16:creationId xmlns:a16="http://schemas.microsoft.com/office/drawing/2014/main" id="{59A3A814-EDF3-9DE7-1915-BBE45D7F3023}"/>
              </a:ext>
            </a:extLst>
          </p:cNvPr>
          <p:cNvGrpSpPr/>
          <p:nvPr/>
        </p:nvGrpSpPr>
        <p:grpSpPr>
          <a:xfrm>
            <a:off x="5743326" y="1933158"/>
            <a:ext cx="590549" cy="360000"/>
            <a:chOff x="1385885" y="1017493"/>
            <a:chExt cx="590549" cy="360000"/>
          </a:xfrm>
        </p:grpSpPr>
        <p:pic>
          <p:nvPicPr>
            <p:cNvPr id="21" name="图形 20" descr="文档">
              <a:extLst>
                <a:ext uri="{FF2B5EF4-FFF2-40B4-BE49-F238E27FC236}">
                  <a16:creationId xmlns:a16="http://schemas.microsoft.com/office/drawing/2014/main" id="{61385D39-453A-F611-63E9-73BC925383B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22" name="文本框 21">
              <a:extLst>
                <a:ext uri="{FF2B5EF4-FFF2-40B4-BE49-F238E27FC236}">
                  <a16:creationId xmlns:a16="http://schemas.microsoft.com/office/drawing/2014/main" id="{8555CB03-6923-1324-BD38-68F10DD24FAD}"/>
                </a:ext>
              </a:extLst>
            </p:cNvPr>
            <p:cNvSpPr txBox="1"/>
            <p:nvPr/>
          </p:nvSpPr>
          <p:spPr>
            <a:xfrm>
              <a:off x="1385885" y="105899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3" name="组合 22">
            <a:extLst>
              <a:ext uri="{FF2B5EF4-FFF2-40B4-BE49-F238E27FC236}">
                <a16:creationId xmlns:a16="http://schemas.microsoft.com/office/drawing/2014/main" id="{9DB808A9-A32E-71FD-AE45-7CBCA92A8473}"/>
              </a:ext>
            </a:extLst>
          </p:cNvPr>
          <p:cNvGrpSpPr/>
          <p:nvPr/>
        </p:nvGrpSpPr>
        <p:grpSpPr>
          <a:xfrm>
            <a:off x="6817069" y="1933158"/>
            <a:ext cx="590549" cy="360000"/>
            <a:chOff x="1890159" y="1017493"/>
            <a:chExt cx="590549" cy="360000"/>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1890159"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9" name="组合 28">
            <a:extLst>
              <a:ext uri="{FF2B5EF4-FFF2-40B4-BE49-F238E27FC236}">
                <a16:creationId xmlns:a16="http://schemas.microsoft.com/office/drawing/2014/main" id="{D434A184-88A3-DE24-481F-853F175E1C0D}"/>
              </a:ext>
            </a:extLst>
          </p:cNvPr>
          <p:cNvGrpSpPr/>
          <p:nvPr/>
        </p:nvGrpSpPr>
        <p:grpSpPr>
          <a:xfrm>
            <a:off x="2515110"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02746" y="2480632"/>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3158808"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6444" y="2467714"/>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907273"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694909" y="2467714"/>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7097072" y="2452049"/>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884708" y="2480632"/>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014097" y="2452049"/>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801733" y="2480632"/>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592231"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778102"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4285453"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848634"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1" name="矩形 140">
            <a:extLst>
              <a:ext uri="{FF2B5EF4-FFF2-40B4-BE49-F238E27FC236}">
                <a16:creationId xmlns:a16="http://schemas.microsoft.com/office/drawing/2014/main" id="{A26A7F80-6C9E-9BE8-071B-3BC24ACBC445}"/>
              </a:ext>
            </a:extLst>
          </p:cNvPr>
          <p:cNvSpPr/>
          <p:nvPr/>
        </p:nvSpPr>
        <p:spPr>
          <a:xfrm>
            <a:off x="5563595"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563595"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618506" y="1425621"/>
            <a:ext cx="12700" cy="4068000"/>
          </a:xfrm>
          <a:prstGeom prst="bentConnector3">
            <a:avLst>
              <a:gd name="adj1" fmla="val 3423528"/>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840619" y="3893103"/>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2061345" y="2282776"/>
            <a:ext cx="0" cy="144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649138"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307841"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166906"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7238400"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477195"/>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5073898" y="3477195"/>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p:cNvCxnSpPr>
          <p:nvPr/>
        </p:nvCxnSpPr>
        <p:spPr>
          <a:xfrm>
            <a:off x="2039029" y="2812049"/>
            <a:ext cx="545477" cy="647572"/>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p:cNvCxnSpPr>
          <p:nvPr/>
        </p:nvCxnSpPr>
        <p:spPr>
          <a:xfrm flipH="1">
            <a:off x="2681785" y="2786213"/>
            <a:ext cx="621023" cy="65554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p:cNvCxnSpPr>
          <p:nvPr/>
        </p:nvCxnSpPr>
        <p:spPr>
          <a:xfrm>
            <a:off x="2649138" y="2793762"/>
            <a:ext cx="0" cy="648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p:cNvCxnSpPr>
          <p:nvPr/>
        </p:nvCxnSpPr>
        <p:spPr>
          <a:xfrm flipH="1" flipV="1">
            <a:off x="6138449" y="2807107"/>
            <a:ext cx="536789" cy="634655"/>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p:cNvCxnSpPr>
          <p:nvPr/>
        </p:nvCxnSpPr>
        <p:spPr>
          <a:xfrm flipV="1">
            <a:off x="6675238" y="2807107"/>
            <a:ext cx="562627" cy="634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401603" y="14003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6356937" y="14003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63372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63372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63372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a:latin typeface="微软雅黑" panose="020B0503020204020204" pitchFamily="34" charset="-122"/>
                  <a:ea typeface="微软雅黑" panose="020B0503020204020204" pitchFamily="34" charset="-122"/>
                  <a:sym typeface="Wingdings" pitchFamily="2" charset="2"/>
                </a:rPr>
                <a:t></a:t>
              </a:r>
              <a:endParaRPr lang="en-US" altLang="zh-CN" sz="2400" b="1">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7" name="内容占位符 6">
            <a:extLst>
              <a:ext uri="{FF2B5EF4-FFF2-40B4-BE49-F238E27FC236}">
                <a16:creationId xmlns:a16="http://schemas.microsoft.com/office/drawing/2014/main" id="{043E1115-FDE6-8B9F-3E23-31EE057C306C}"/>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7BFE180E-ABE5-8E60-4B59-6CA2D6B23612}"/>
              </a:ext>
            </a:extLst>
          </p:cNvPr>
          <p:cNvSpPr/>
          <p:nvPr/>
        </p:nvSpPr>
        <p:spPr>
          <a:xfrm>
            <a:off x="1592231"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28" name="组合 27">
            <a:extLst>
              <a:ext uri="{FF2B5EF4-FFF2-40B4-BE49-F238E27FC236}">
                <a16:creationId xmlns:a16="http://schemas.microsoft.com/office/drawing/2014/main" id="{EEE51978-A443-A483-9810-F30672E49154}"/>
              </a:ext>
            </a:extLst>
          </p:cNvPr>
          <p:cNvGrpSpPr/>
          <p:nvPr/>
        </p:nvGrpSpPr>
        <p:grpSpPr>
          <a:xfrm>
            <a:off x="1632154" y="1933158"/>
            <a:ext cx="590549" cy="360000"/>
            <a:chOff x="1385885" y="1017493"/>
            <a:chExt cx="590549" cy="360000"/>
          </a:xfrm>
        </p:grpSpPr>
        <p:pic>
          <p:nvPicPr>
            <p:cNvPr id="5" name="图形 4" descr="文档">
              <a:extLst>
                <a:ext uri="{FF2B5EF4-FFF2-40B4-BE49-F238E27FC236}">
                  <a16:creationId xmlns:a16="http://schemas.microsoft.com/office/drawing/2014/main" id="{D592AA54-6817-6628-8E43-B1C0A007507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8" name="文本框 7">
              <a:extLst>
                <a:ext uri="{FF2B5EF4-FFF2-40B4-BE49-F238E27FC236}">
                  <a16:creationId xmlns:a16="http://schemas.microsoft.com/office/drawing/2014/main" id="{106CC44C-DDBD-2221-C55E-AB74FEF9A77C}"/>
                </a:ext>
              </a:extLst>
            </p:cNvPr>
            <p:cNvSpPr txBox="1"/>
            <p:nvPr/>
          </p:nvSpPr>
          <p:spPr>
            <a:xfrm>
              <a:off x="1385885" y="105899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7" name="组合 26">
            <a:extLst>
              <a:ext uri="{FF2B5EF4-FFF2-40B4-BE49-F238E27FC236}">
                <a16:creationId xmlns:a16="http://schemas.microsoft.com/office/drawing/2014/main" id="{EF8C590D-AE02-7479-0F90-FBBDFC7F636A}"/>
              </a:ext>
            </a:extLst>
          </p:cNvPr>
          <p:cNvGrpSpPr/>
          <p:nvPr/>
        </p:nvGrpSpPr>
        <p:grpSpPr>
          <a:xfrm>
            <a:off x="6284155" y="1933158"/>
            <a:ext cx="590549" cy="360000"/>
            <a:chOff x="1890159" y="1017493"/>
            <a:chExt cx="590549" cy="360000"/>
          </a:xfrm>
        </p:grpSpPr>
        <p:pic>
          <p:nvPicPr>
            <p:cNvPr id="6" name="图形 5" descr="文档">
              <a:extLst>
                <a:ext uri="{FF2B5EF4-FFF2-40B4-BE49-F238E27FC236}">
                  <a16:creationId xmlns:a16="http://schemas.microsoft.com/office/drawing/2014/main" id="{30029A1D-3142-A849-40F0-98C81931F49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9" name="文本框 8">
              <a:extLst>
                <a:ext uri="{FF2B5EF4-FFF2-40B4-BE49-F238E27FC236}">
                  <a16:creationId xmlns:a16="http://schemas.microsoft.com/office/drawing/2014/main" id="{C6AF8BFB-BC01-EA81-BBA3-2AEBB263CB35}"/>
                </a:ext>
              </a:extLst>
            </p:cNvPr>
            <p:cNvSpPr txBox="1"/>
            <p:nvPr/>
          </p:nvSpPr>
          <p:spPr>
            <a:xfrm>
              <a:off x="1890159" y="1058994"/>
              <a:ext cx="3962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6" name="组合 25">
            <a:extLst>
              <a:ext uri="{FF2B5EF4-FFF2-40B4-BE49-F238E27FC236}">
                <a16:creationId xmlns:a16="http://schemas.microsoft.com/office/drawing/2014/main" id="{32CF8815-FB37-8F08-135C-44B7A215A80F}"/>
              </a:ext>
            </a:extLst>
          </p:cNvPr>
          <p:cNvGrpSpPr/>
          <p:nvPr/>
        </p:nvGrpSpPr>
        <p:grpSpPr>
          <a:xfrm>
            <a:off x="2892119" y="1933158"/>
            <a:ext cx="590549" cy="360000"/>
            <a:chOff x="2394433" y="1017493"/>
            <a:chExt cx="590549" cy="360000"/>
          </a:xfrm>
        </p:grpSpPr>
        <p:pic>
          <p:nvPicPr>
            <p:cNvPr id="7" name="图形 6" descr="文档">
              <a:extLst>
                <a:ext uri="{FF2B5EF4-FFF2-40B4-BE49-F238E27FC236}">
                  <a16:creationId xmlns:a16="http://schemas.microsoft.com/office/drawing/2014/main" id="{F9DE4040-A3A2-D7C4-282B-42E9C18507B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624982" y="1017493"/>
              <a:ext cx="360000" cy="360000"/>
            </a:xfrm>
            <a:prstGeom prst="rect">
              <a:avLst/>
            </a:prstGeom>
          </p:spPr>
        </p:pic>
        <p:sp>
          <p:nvSpPr>
            <p:cNvPr id="10" name="文本框 9">
              <a:extLst>
                <a:ext uri="{FF2B5EF4-FFF2-40B4-BE49-F238E27FC236}">
                  <a16:creationId xmlns:a16="http://schemas.microsoft.com/office/drawing/2014/main" id="{AEBB5379-D08A-58CF-929D-278588283330}"/>
                </a:ext>
              </a:extLst>
            </p:cNvPr>
            <p:cNvSpPr txBox="1"/>
            <p:nvPr/>
          </p:nvSpPr>
          <p:spPr>
            <a:xfrm>
              <a:off x="2394433" y="105899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31" name="组合 30">
            <a:extLst>
              <a:ext uri="{FF2B5EF4-FFF2-40B4-BE49-F238E27FC236}">
                <a16:creationId xmlns:a16="http://schemas.microsoft.com/office/drawing/2014/main" id="{FFF33479-772D-E44E-423D-6B3E220FAB77}"/>
              </a:ext>
            </a:extLst>
          </p:cNvPr>
          <p:cNvGrpSpPr/>
          <p:nvPr/>
        </p:nvGrpSpPr>
        <p:grpSpPr>
          <a:xfrm>
            <a:off x="5743326" y="1933158"/>
            <a:ext cx="590549" cy="360000"/>
            <a:chOff x="1385885" y="1017493"/>
            <a:chExt cx="590549" cy="360000"/>
          </a:xfrm>
        </p:grpSpPr>
        <p:pic>
          <p:nvPicPr>
            <p:cNvPr id="38" name="图形 37" descr="文档">
              <a:extLst>
                <a:ext uri="{FF2B5EF4-FFF2-40B4-BE49-F238E27FC236}">
                  <a16:creationId xmlns:a16="http://schemas.microsoft.com/office/drawing/2014/main" id="{DDBB9DFE-CD76-50F1-DA80-6B5074DDC0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39" name="文本框 38">
              <a:extLst>
                <a:ext uri="{FF2B5EF4-FFF2-40B4-BE49-F238E27FC236}">
                  <a16:creationId xmlns:a16="http://schemas.microsoft.com/office/drawing/2014/main" id="{2D63B797-FD37-FC99-7EA7-971D5F5AD65A}"/>
                </a:ext>
              </a:extLst>
            </p:cNvPr>
            <p:cNvSpPr txBox="1"/>
            <p:nvPr/>
          </p:nvSpPr>
          <p:spPr>
            <a:xfrm>
              <a:off x="1385885" y="105899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32" name="组合 31">
            <a:extLst>
              <a:ext uri="{FF2B5EF4-FFF2-40B4-BE49-F238E27FC236}">
                <a16:creationId xmlns:a16="http://schemas.microsoft.com/office/drawing/2014/main" id="{DCCFFB73-5D89-6A4D-E232-39B07CB34469}"/>
              </a:ext>
            </a:extLst>
          </p:cNvPr>
          <p:cNvGrpSpPr/>
          <p:nvPr/>
        </p:nvGrpSpPr>
        <p:grpSpPr>
          <a:xfrm>
            <a:off x="6817069" y="1933158"/>
            <a:ext cx="590549" cy="360000"/>
            <a:chOff x="1890159" y="1017493"/>
            <a:chExt cx="590549" cy="360000"/>
          </a:xfrm>
        </p:grpSpPr>
        <p:pic>
          <p:nvPicPr>
            <p:cNvPr id="36" name="图形 35" descr="文档">
              <a:extLst>
                <a:ext uri="{FF2B5EF4-FFF2-40B4-BE49-F238E27FC236}">
                  <a16:creationId xmlns:a16="http://schemas.microsoft.com/office/drawing/2014/main" id="{1930C0F1-9FF2-AC85-BE65-1154DEE47C3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37" name="文本框 36">
              <a:extLst>
                <a:ext uri="{FF2B5EF4-FFF2-40B4-BE49-F238E27FC236}">
                  <a16:creationId xmlns:a16="http://schemas.microsoft.com/office/drawing/2014/main" id="{CCBEDC82-7F2D-2DD6-B054-1BA61E5F6B8E}"/>
                </a:ext>
              </a:extLst>
            </p:cNvPr>
            <p:cNvSpPr txBox="1"/>
            <p:nvPr/>
          </p:nvSpPr>
          <p:spPr>
            <a:xfrm>
              <a:off x="1890159"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2" name="组合 21">
            <a:extLst>
              <a:ext uri="{FF2B5EF4-FFF2-40B4-BE49-F238E27FC236}">
                <a16:creationId xmlns:a16="http://schemas.microsoft.com/office/drawing/2014/main" id="{9FE595A1-73F9-DDBA-635B-2F3557369F85}"/>
              </a:ext>
            </a:extLst>
          </p:cNvPr>
          <p:cNvGrpSpPr/>
          <p:nvPr/>
        </p:nvGrpSpPr>
        <p:grpSpPr>
          <a:xfrm>
            <a:off x="6541210" y="2426213"/>
            <a:ext cx="288000" cy="360000"/>
            <a:chOff x="6541210" y="2426213"/>
            <a:chExt cx="288000" cy="360000"/>
          </a:xfrm>
        </p:grpSpPr>
        <p:sp>
          <p:nvSpPr>
            <p:cNvPr id="40" name="矩形 39">
              <a:extLst>
                <a:ext uri="{FF2B5EF4-FFF2-40B4-BE49-F238E27FC236}">
                  <a16:creationId xmlns:a16="http://schemas.microsoft.com/office/drawing/2014/main" id="{2C4388B8-41C7-7966-AF7E-68FC733CD07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1" name="矩形 40">
              <a:extLst>
                <a:ext uri="{FF2B5EF4-FFF2-40B4-BE49-F238E27FC236}">
                  <a16:creationId xmlns:a16="http://schemas.microsoft.com/office/drawing/2014/main" id="{1FA6612F-5465-D46C-E103-4027D25A0D7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2" name="矩形 41">
              <a:extLst>
                <a:ext uri="{FF2B5EF4-FFF2-40B4-BE49-F238E27FC236}">
                  <a16:creationId xmlns:a16="http://schemas.microsoft.com/office/drawing/2014/main" id="{C2FC505B-0DC7-5836-2B96-0A02A442F905}"/>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3" name="矩形 42">
              <a:extLst>
                <a:ext uri="{FF2B5EF4-FFF2-40B4-BE49-F238E27FC236}">
                  <a16:creationId xmlns:a16="http://schemas.microsoft.com/office/drawing/2014/main" id="{B4830477-DBD1-836B-1EA6-0CCBBBFA3971}"/>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4" name="矩形 43">
              <a:extLst>
                <a:ext uri="{FF2B5EF4-FFF2-40B4-BE49-F238E27FC236}">
                  <a16:creationId xmlns:a16="http://schemas.microsoft.com/office/drawing/2014/main" id="{40C3A5DF-752B-5061-EFA6-D5EBE06C766F}"/>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5" name="矩形 44">
              <a:extLst>
                <a:ext uri="{FF2B5EF4-FFF2-40B4-BE49-F238E27FC236}">
                  <a16:creationId xmlns:a16="http://schemas.microsoft.com/office/drawing/2014/main" id="{0C62FA6C-2638-63CB-F4A7-A2A3D9BDC1EA}"/>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47" name="文本框 46">
            <a:extLst>
              <a:ext uri="{FF2B5EF4-FFF2-40B4-BE49-F238E27FC236}">
                <a16:creationId xmlns:a16="http://schemas.microsoft.com/office/drawing/2014/main" id="{A53E4717-44C1-8BA9-0660-C66F67B79A6A}"/>
              </a:ext>
            </a:extLst>
          </p:cNvPr>
          <p:cNvSpPr txBox="1"/>
          <p:nvPr/>
        </p:nvSpPr>
        <p:spPr>
          <a:xfrm>
            <a:off x="6328846" y="2480632"/>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9" name="组合 18">
            <a:extLst>
              <a:ext uri="{FF2B5EF4-FFF2-40B4-BE49-F238E27FC236}">
                <a16:creationId xmlns:a16="http://schemas.microsoft.com/office/drawing/2014/main" id="{BD8171D4-96D5-4548-100E-6022AE3C0FD5}"/>
              </a:ext>
            </a:extLst>
          </p:cNvPr>
          <p:cNvGrpSpPr/>
          <p:nvPr/>
        </p:nvGrpSpPr>
        <p:grpSpPr>
          <a:xfrm>
            <a:off x="3158808" y="2426213"/>
            <a:ext cx="288000" cy="360000"/>
            <a:chOff x="3158808" y="2426213"/>
            <a:chExt cx="288000" cy="360000"/>
          </a:xfrm>
        </p:grpSpPr>
        <p:sp>
          <p:nvSpPr>
            <p:cNvPr id="51" name="矩形 50">
              <a:extLst>
                <a:ext uri="{FF2B5EF4-FFF2-40B4-BE49-F238E27FC236}">
                  <a16:creationId xmlns:a16="http://schemas.microsoft.com/office/drawing/2014/main" id="{9082ED9C-9ACF-F7E4-A84A-02C00C613563}"/>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2" name="矩形 51">
              <a:extLst>
                <a:ext uri="{FF2B5EF4-FFF2-40B4-BE49-F238E27FC236}">
                  <a16:creationId xmlns:a16="http://schemas.microsoft.com/office/drawing/2014/main" id="{0FD4FFCB-DE31-D71C-87FD-EA974E2AA517}"/>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3" name="矩形 52">
              <a:extLst>
                <a:ext uri="{FF2B5EF4-FFF2-40B4-BE49-F238E27FC236}">
                  <a16:creationId xmlns:a16="http://schemas.microsoft.com/office/drawing/2014/main" id="{F4FFC7B0-91DF-0748-7AB7-DACE9A82AB79}"/>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4" name="矩形 53">
              <a:extLst>
                <a:ext uri="{FF2B5EF4-FFF2-40B4-BE49-F238E27FC236}">
                  <a16:creationId xmlns:a16="http://schemas.microsoft.com/office/drawing/2014/main" id="{11E2C48D-8950-5CCC-D008-F49615A59FBD}"/>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5" name="矩形 54">
              <a:extLst>
                <a:ext uri="{FF2B5EF4-FFF2-40B4-BE49-F238E27FC236}">
                  <a16:creationId xmlns:a16="http://schemas.microsoft.com/office/drawing/2014/main" id="{09855BE9-6824-6113-9C56-6EEB90FD44D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6" name="矩形 55">
              <a:extLst>
                <a:ext uri="{FF2B5EF4-FFF2-40B4-BE49-F238E27FC236}">
                  <a16:creationId xmlns:a16="http://schemas.microsoft.com/office/drawing/2014/main" id="{5F15DDE4-E238-28A7-9CEE-3C2EDBC4FA9C}"/>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7" name="文本框 56">
            <a:extLst>
              <a:ext uri="{FF2B5EF4-FFF2-40B4-BE49-F238E27FC236}">
                <a16:creationId xmlns:a16="http://schemas.microsoft.com/office/drawing/2014/main" id="{6161DDB2-F975-84F5-5B00-B5161DB14BF6}"/>
              </a:ext>
            </a:extLst>
          </p:cNvPr>
          <p:cNvSpPr txBox="1"/>
          <p:nvPr/>
        </p:nvSpPr>
        <p:spPr>
          <a:xfrm>
            <a:off x="2946444" y="2467714"/>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8" name="组合 17">
            <a:extLst>
              <a:ext uri="{FF2B5EF4-FFF2-40B4-BE49-F238E27FC236}">
                <a16:creationId xmlns:a16="http://schemas.microsoft.com/office/drawing/2014/main" id="{B45015AE-C619-40E4-BE63-2AD6D9D1A25E}"/>
              </a:ext>
            </a:extLst>
          </p:cNvPr>
          <p:cNvGrpSpPr/>
          <p:nvPr/>
        </p:nvGrpSpPr>
        <p:grpSpPr>
          <a:xfrm>
            <a:off x="1907273" y="2426213"/>
            <a:ext cx="288000" cy="360000"/>
            <a:chOff x="1907273" y="2426213"/>
            <a:chExt cx="288000" cy="360000"/>
          </a:xfrm>
        </p:grpSpPr>
        <p:sp>
          <p:nvSpPr>
            <p:cNvPr id="59" name="矩形 58">
              <a:extLst>
                <a:ext uri="{FF2B5EF4-FFF2-40B4-BE49-F238E27FC236}">
                  <a16:creationId xmlns:a16="http://schemas.microsoft.com/office/drawing/2014/main" id="{3715DD3C-8625-A078-FF3D-F0F2F3852838}"/>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0" name="矩形 59">
              <a:extLst>
                <a:ext uri="{FF2B5EF4-FFF2-40B4-BE49-F238E27FC236}">
                  <a16:creationId xmlns:a16="http://schemas.microsoft.com/office/drawing/2014/main" id="{9AAE2502-F9AE-97E3-D9D5-65B7435CBB0D}"/>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1" name="矩形 60">
              <a:extLst>
                <a:ext uri="{FF2B5EF4-FFF2-40B4-BE49-F238E27FC236}">
                  <a16:creationId xmlns:a16="http://schemas.microsoft.com/office/drawing/2014/main" id="{475CDBC5-00DF-80C3-4168-758A9ADA89F1}"/>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2" name="矩形 61">
              <a:extLst>
                <a:ext uri="{FF2B5EF4-FFF2-40B4-BE49-F238E27FC236}">
                  <a16:creationId xmlns:a16="http://schemas.microsoft.com/office/drawing/2014/main" id="{31EEF486-C12F-D047-04A9-5D1104BAEC13}"/>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3" name="矩形 62">
              <a:extLst>
                <a:ext uri="{FF2B5EF4-FFF2-40B4-BE49-F238E27FC236}">
                  <a16:creationId xmlns:a16="http://schemas.microsoft.com/office/drawing/2014/main" id="{73F12FC0-126E-07F4-5A0F-606B0F6654ED}"/>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4" name="矩形 63">
              <a:extLst>
                <a:ext uri="{FF2B5EF4-FFF2-40B4-BE49-F238E27FC236}">
                  <a16:creationId xmlns:a16="http://schemas.microsoft.com/office/drawing/2014/main" id="{66214CFD-5A95-AB58-CCC7-78F786972EE4}"/>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5" name="文本框 64">
            <a:extLst>
              <a:ext uri="{FF2B5EF4-FFF2-40B4-BE49-F238E27FC236}">
                <a16:creationId xmlns:a16="http://schemas.microsoft.com/office/drawing/2014/main" id="{21FC1B37-AA45-139E-926B-8232672ED33E}"/>
              </a:ext>
            </a:extLst>
          </p:cNvPr>
          <p:cNvSpPr txBox="1"/>
          <p:nvPr/>
        </p:nvSpPr>
        <p:spPr>
          <a:xfrm>
            <a:off x="1694909" y="2467714"/>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21" name="组合 20">
            <a:extLst>
              <a:ext uri="{FF2B5EF4-FFF2-40B4-BE49-F238E27FC236}">
                <a16:creationId xmlns:a16="http://schemas.microsoft.com/office/drawing/2014/main" id="{E6FD1F21-10F4-E5AF-F8D0-C0D07B417F8D}"/>
              </a:ext>
            </a:extLst>
          </p:cNvPr>
          <p:cNvGrpSpPr/>
          <p:nvPr/>
        </p:nvGrpSpPr>
        <p:grpSpPr>
          <a:xfrm>
            <a:off x="7097072" y="2452049"/>
            <a:ext cx="288000" cy="360000"/>
            <a:chOff x="7097072" y="2452049"/>
            <a:chExt cx="288000" cy="360000"/>
          </a:xfrm>
        </p:grpSpPr>
        <p:sp>
          <p:nvSpPr>
            <p:cNvPr id="85" name="矩形 84">
              <a:extLst>
                <a:ext uri="{FF2B5EF4-FFF2-40B4-BE49-F238E27FC236}">
                  <a16:creationId xmlns:a16="http://schemas.microsoft.com/office/drawing/2014/main" id="{87AE1995-3315-FF77-9797-224E963023E2}"/>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6" name="矩形 85">
              <a:extLst>
                <a:ext uri="{FF2B5EF4-FFF2-40B4-BE49-F238E27FC236}">
                  <a16:creationId xmlns:a16="http://schemas.microsoft.com/office/drawing/2014/main" id="{0054F01C-EBA5-E10B-EAE0-71A9FBB1D7B6}"/>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7" name="矩形 86">
              <a:extLst>
                <a:ext uri="{FF2B5EF4-FFF2-40B4-BE49-F238E27FC236}">
                  <a16:creationId xmlns:a16="http://schemas.microsoft.com/office/drawing/2014/main" id="{E602ABC8-D041-30A2-8AE4-0C9805219317}"/>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8" name="矩形 87">
              <a:extLst>
                <a:ext uri="{FF2B5EF4-FFF2-40B4-BE49-F238E27FC236}">
                  <a16:creationId xmlns:a16="http://schemas.microsoft.com/office/drawing/2014/main" id="{49D9C45B-A327-2671-EE42-6E8D0FE16228}"/>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9" name="矩形 88">
              <a:extLst>
                <a:ext uri="{FF2B5EF4-FFF2-40B4-BE49-F238E27FC236}">
                  <a16:creationId xmlns:a16="http://schemas.microsoft.com/office/drawing/2014/main" id="{FF177BA0-2E68-0AA8-EA55-74B6FEF924C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0" name="矩形 89">
              <a:extLst>
                <a:ext uri="{FF2B5EF4-FFF2-40B4-BE49-F238E27FC236}">
                  <a16:creationId xmlns:a16="http://schemas.microsoft.com/office/drawing/2014/main" id="{DA8B6111-A2C8-D837-66B9-08FF5E94D914}"/>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91" name="文本框 90">
            <a:extLst>
              <a:ext uri="{FF2B5EF4-FFF2-40B4-BE49-F238E27FC236}">
                <a16:creationId xmlns:a16="http://schemas.microsoft.com/office/drawing/2014/main" id="{110E5261-1043-DF12-D880-DEF63B8F92BC}"/>
              </a:ext>
            </a:extLst>
          </p:cNvPr>
          <p:cNvSpPr txBox="1"/>
          <p:nvPr/>
        </p:nvSpPr>
        <p:spPr>
          <a:xfrm>
            <a:off x="6884708" y="2480632"/>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20" name="组合 19">
            <a:extLst>
              <a:ext uri="{FF2B5EF4-FFF2-40B4-BE49-F238E27FC236}">
                <a16:creationId xmlns:a16="http://schemas.microsoft.com/office/drawing/2014/main" id="{76249CA4-E001-F283-19A9-E669731164BB}"/>
              </a:ext>
            </a:extLst>
          </p:cNvPr>
          <p:cNvGrpSpPr/>
          <p:nvPr/>
        </p:nvGrpSpPr>
        <p:grpSpPr>
          <a:xfrm>
            <a:off x="6014097" y="2452049"/>
            <a:ext cx="288000" cy="360000"/>
            <a:chOff x="6014097" y="2452049"/>
            <a:chExt cx="288000" cy="360000"/>
          </a:xfrm>
        </p:grpSpPr>
        <p:sp>
          <p:nvSpPr>
            <p:cNvPr id="71" name="矩形 70">
              <a:extLst>
                <a:ext uri="{FF2B5EF4-FFF2-40B4-BE49-F238E27FC236}">
                  <a16:creationId xmlns:a16="http://schemas.microsoft.com/office/drawing/2014/main" id="{689147F5-2DB7-469C-C9A4-79A2786B0E6B}"/>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2" name="矩形 71">
              <a:extLst>
                <a:ext uri="{FF2B5EF4-FFF2-40B4-BE49-F238E27FC236}">
                  <a16:creationId xmlns:a16="http://schemas.microsoft.com/office/drawing/2014/main" id="{CFB970BC-9D0D-39D5-1B66-92FE6DDC6D53}"/>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3" name="矩形 72">
              <a:extLst>
                <a:ext uri="{FF2B5EF4-FFF2-40B4-BE49-F238E27FC236}">
                  <a16:creationId xmlns:a16="http://schemas.microsoft.com/office/drawing/2014/main" id="{869461EA-2F46-387F-11AF-9273E85AC66A}"/>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4" name="矩形 73">
              <a:extLst>
                <a:ext uri="{FF2B5EF4-FFF2-40B4-BE49-F238E27FC236}">
                  <a16:creationId xmlns:a16="http://schemas.microsoft.com/office/drawing/2014/main" id="{B26B85BE-6EA5-3297-ACE5-4AAE406AA7E0}"/>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5" name="矩形 74">
              <a:extLst>
                <a:ext uri="{FF2B5EF4-FFF2-40B4-BE49-F238E27FC236}">
                  <a16:creationId xmlns:a16="http://schemas.microsoft.com/office/drawing/2014/main" id="{1FFB968D-EB71-EB02-A7E9-2B84CF0C40D1}"/>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6" name="矩形 75">
              <a:extLst>
                <a:ext uri="{FF2B5EF4-FFF2-40B4-BE49-F238E27FC236}">
                  <a16:creationId xmlns:a16="http://schemas.microsoft.com/office/drawing/2014/main" id="{72A919FF-CEC4-0191-4D11-35D51B49966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77" name="文本框 76">
            <a:extLst>
              <a:ext uri="{FF2B5EF4-FFF2-40B4-BE49-F238E27FC236}">
                <a16:creationId xmlns:a16="http://schemas.microsoft.com/office/drawing/2014/main" id="{DA2B652A-F8C1-8697-AF28-C510F9E58D30}"/>
              </a:ext>
            </a:extLst>
          </p:cNvPr>
          <p:cNvSpPr txBox="1"/>
          <p:nvPr/>
        </p:nvSpPr>
        <p:spPr>
          <a:xfrm>
            <a:off x="5801733" y="2480632"/>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92" name="矩形 91">
            <a:extLst>
              <a:ext uri="{FF2B5EF4-FFF2-40B4-BE49-F238E27FC236}">
                <a16:creationId xmlns:a16="http://schemas.microsoft.com/office/drawing/2014/main" id="{888FEABB-73F0-04A3-E7F6-03CDE808B5F5}"/>
              </a:ext>
            </a:extLst>
          </p:cNvPr>
          <p:cNvSpPr/>
          <p:nvPr/>
        </p:nvSpPr>
        <p:spPr>
          <a:xfrm>
            <a:off x="1592231"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3" name="文本框 92">
            <a:extLst>
              <a:ext uri="{FF2B5EF4-FFF2-40B4-BE49-F238E27FC236}">
                <a16:creationId xmlns:a16="http://schemas.microsoft.com/office/drawing/2014/main" id="{7BFFA76B-7CCC-1BDD-0519-E31C2CEF215C}"/>
              </a:ext>
            </a:extLst>
          </p:cNvPr>
          <p:cNvSpPr txBox="1"/>
          <p:nvPr/>
        </p:nvSpPr>
        <p:spPr>
          <a:xfrm>
            <a:off x="3778102"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4" name="文本框 93">
            <a:extLst>
              <a:ext uri="{FF2B5EF4-FFF2-40B4-BE49-F238E27FC236}">
                <a16:creationId xmlns:a16="http://schemas.microsoft.com/office/drawing/2014/main" id="{78B4EAAF-8F9E-AE2E-0B18-C4FFF109669A}"/>
              </a:ext>
            </a:extLst>
          </p:cNvPr>
          <p:cNvSpPr txBox="1"/>
          <p:nvPr/>
        </p:nvSpPr>
        <p:spPr>
          <a:xfrm>
            <a:off x="4285453"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5" name="文本框 94">
            <a:extLst>
              <a:ext uri="{FF2B5EF4-FFF2-40B4-BE49-F238E27FC236}">
                <a16:creationId xmlns:a16="http://schemas.microsoft.com/office/drawing/2014/main" id="{BB7A9DAC-57B6-3ACD-5E13-83AEE7073E74}"/>
              </a:ext>
            </a:extLst>
          </p:cNvPr>
          <p:cNvSpPr txBox="1"/>
          <p:nvPr/>
        </p:nvSpPr>
        <p:spPr>
          <a:xfrm>
            <a:off x="3848634"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6" name="矩形 95">
            <a:extLst>
              <a:ext uri="{FF2B5EF4-FFF2-40B4-BE49-F238E27FC236}">
                <a16:creationId xmlns:a16="http://schemas.microsoft.com/office/drawing/2014/main" id="{0BE6DD7B-018D-19B4-2101-31B944A8B234}"/>
              </a:ext>
            </a:extLst>
          </p:cNvPr>
          <p:cNvSpPr/>
          <p:nvPr/>
        </p:nvSpPr>
        <p:spPr>
          <a:xfrm>
            <a:off x="5563595"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7" name="矩形 96">
            <a:extLst>
              <a:ext uri="{FF2B5EF4-FFF2-40B4-BE49-F238E27FC236}">
                <a16:creationId xmlns:a16="http://schemas.microsoft.com/office/drawing/2014/main" id="{3EF20692-7A2A-6BCC-4AE5-92FF63D2F76B}"/>
              </a:ext>
            </a:extLst>
          </p:cNvPr>
          <p:cNvSpPr/>
          <p:nvPr/>
        </p:nvSpPr>
        <p:spPr>
          <a:xfrm>
            <a:off x="5563595"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99" name="连接符: 肘形 98">
            <a:extLst>
              <a:ext uri="{FF2B5EF4-FFF2-40B4-BE49-F238E27FC236}">
                <a16:creationId xmlns:a16="http://schemas.microsoft.com/office/drawing/2014/main" id="{3C5353EC-0C26-3DA5-91BB-A7A2D466E8DB}"/>
              </a:ext>
            </a:extLst>
          </p:cNvPr>
          <p:cNvCxnSpPr>
            <a:cxnSpLocks/>
            <a:stCxn id="92" idx="2"/>
            <a:endCxn id="97" idx="2"/>
          </p:cNvCxnSpPr>
          <p:nvPr/>
        </p:nvCxnSpPr>
        <p:spPr>
          <a:xfrm rot="16200000" flipH="1">
            <a:off x="4618506" y="1425621"/>
            <a:ext cx="12700" cy="4068000"/>
          </a:xfrm>
          <a:prstGeom prst="bentConnector3">
            <a:avLst>
              <a:gd name="adj1" fmla="val 3423528"/>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01" name="文本框 100">
            <a:extLst>
              <a:ext uri="{FF2B5EF4-FFF2-40B4-BE49-F238E27FC236}">
                <a16:creationId xmlns:a16="http://schemas.microsoft.com/office/drawing/2014/main" id="{ED49EBE7-C4F1-6FC3-1679-222C90BC5C16}"/>
              </a:ext>
            </a:extLst>
          </p:cNvPr>
          <p:cNvSpPr txBox="1"/>
          <p:nvPr/>
        </p:nvSpPr>
        <p:spPr>
          <a:xfrm>
            <a:off x="3840619" y="3893103"/>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06" name="直接箭头连接符 105">
            <a:extLst>
              <a:ext uri="{FF2B5EF4-FFF2-40B4-BE49-F238E27FC236}">
                <a16:creationId xmlns:a16="http://schemas.microsoft.com/office/drawing/2014/main" id="{9F95E230-B855-5A29-A91F-4D13421FE8F3}"/>
              </a:ext>
            </a:extLst>
          </p:cNvPr>
          <p:cNvCxnSpPr>
            <a:cxnSpLocks/>
          </p:cNvCxnSpPr>
          <p:nvPr/>
        </p:nvCxnSpPr>
        <p:spPr>
          <a:xfrm>
            <a:off x="2061345" y="2282776"/>
            <a:ext cx="0" cy="144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F64A9B7-628A-1A23-350B-C708056CA88D}"/>
              </a:ext>
            </a:extLst>
          </p:cNvPr>
          <p:cNvCxnSpPr>
            <a:cxnSpLocks/>
          </p:cNvCxnSpPr>
          <p:nvPr/>
        </p:nvCxnSpPr>
        <p:spPr>
          <a:xfrm>
            <a:off x="6675238"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直接箭头连接符 107">
            <a:extLst>
              <a:ext uri="{FF2B5EF4-FFF2-40B4-BE49-F238E27FC236}">
                <a16:creationId xmlns:a16="http://schemas.microsoft.com/office/drawing/2014/main" id="{84A5B23B-C6FE-8F0E-60A0-FF0E219AC4FD}"/>
              </a:ext>
            </a:extLst>
          </p:cNvPr>
          <p:cNvCxnSpPr>
            <a:cxnSpLocks/>
          </p:cNvCxnSpPr>
          <p:nvPr/>
        </p:nvCxnSpPr>
        <p:spPr>
          <a:xfrm>
            <a:off x="3307841"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F82FD08F-3A64-FD6C-A2E3-B71D5DB39489}"/>
              </a:ext>
            </a:extLst>
          </p:cNvPr>
          <p:cNvCxnSpPr>
            <a:cxnSpLocks/>
          </p:cNvCxnSpPr>
          <p:nvPr/>
        </p:nvCxnSpPr>
        <p:spPr>
          <a:xfrm>
            <a:off x="6166906"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B58085E8-4B1F-E09F-657B-59008B7DC38A}"/>
              </a:ext>
            </a:extLst>
          </p:cNvPr>
          <p:cNvCxnSpPr>
            <a:cxnSpLocks/>
          </p:cNvCxnSpPr>
          <p:nvPr/>
        </p:nvCxnSpPr>
        <p:spPr>
          <a:xfrm>
            <a:off x="7238400"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3" name="文本框 112">
            <a:extLst>
              <a:ext uri="{FF2B5EF4-FFF2-40B4-BE49-F238E27FC236}">
                <a16:creationId xmlns:a16="http://schemas.microsoft.com/office/drawing/2014/main" id="{31D96E86-612C-59A6-07F0-4553D172F74A}"/>
              </a:ext>
            </a:extLst>
          </p:cNvPr>
          <p:cNvSpPr txBox="1"/>
          <p:nvPr/>
        </p:nvSpPr>
        <p:spPr>
          <a:xfrm>
            <a:off x="2601980" y="3477195"/>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4" name="文本框 113">
            <a:extLst>
              <a:ext uri="{FF2B5EF4-FFF2-40B4-BE49-F238E27FC236}">
                <a16:creationId xmlns:a16="http://schemas.microsoft.com/office/drawing/2014/main" id="{E1F78B75-9A57-987F-F596-E2F4E0AF2A96}"/>
              </a:ext>
            </a:extLst>
          </p:cNvPr>
          <p:cNvSpPr txBox="1"/>
          <p:nvPr/>
        </p:nvSpPr>
        <p:spPr>
          <a:xfrm>
            <a:off x="5073898" y="3477195"/>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22EF6EB-A31C-327C-6988-F23967A32403}"/>
              </a:ext>
            </a:extLst>
          </p:cNvPr>
          <p:cNvCxnSpPr>
            <a:cxnSpLocks/>
          </p:cNvCxnSpPr>
          <p:nvPr/>
        </p:nvCxnSpPr>
        <p:spPr>
          <a:xfrm>
            <a:off x="2039029" y="2812049"/>
            <a:ext cx="545477" cy="647572"/>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接箭头连接符 116">
            <a:extLst>
              <a:ext uri="{FF2B5EF4-FFF2-40B4-BE49-F238E27FC236}">
                <a16:creationId xmlns:a16="http://schemas.microsoft.com/office/drawing/2014/main" id="{AADAE543-12BC-DB03-2563-BF2956BD561C}"/>
              </a:ext>
            </a:extLst>
          </p:cNvPr>
          <p:cNvCxnSpPr>
            <a:cxnSpLocks/>
            <a:stCxn id="53" idx="2"/>
            <a:endCxn id="92" idx="2"/>
          </p:cNvCxnSpPr>
          <p:nvPr/>
        </p:nvCxnSpPr>
        <p:spPr>
          <a:xfrm flipH="1">
            <a:off x="2584506" y="2786213"/>
            <a:ext cx="718302" cy="67340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直接箭头连接符 124">
            <a:extLst>
              <a:ext uri="{FF2B5EF4-FFF2-40B4-BE49-F238E27FC236}">
                <a16:creationId xmlns:a16="http://schemas.microsoft.com/office/drawing/2014/main" id="{59A3AE77-7CC2-78DE-0312-42231F1660DF}"/>
              </a:ext>
            </a:extLst>
          </p:cNvPr>
          <p:cNvCxnSpPr>
            <a:cxnSpLocks/>
          </p:cNvCxnSpPr>
          <p:nvPr/>
        </p:nvCxnSpPr>
        <p:spPr>
          <a:xfrm flipV="1">
            <a:off x="6675238" y="2793762"/>
            <a:ext cx="0" cy="648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直接箭头连接符 127">
            <a:extLst>
              <a:ext uri="{FF2B5EF4-FFF2-40B4-BE49-F238E27FC236}">
                <a16:creationId xmlns:a16="http://schemas.microsoft.com/office/drawing/2014/main" id="{E7AAC13A-7877-C8E2-C121-22971E49B0C1}"/>
              </a:ext>
            </a:extLst>
          </p:cNvPr>
          <p:cNvCxnSpPr>
            <a:cxnSpLocks/>
          </p:cNvCxnSpPr>
          <p:nvPr/>
        </p:nvCxnSpPr>
        <p:spPr>
          <a:xfrm flipH="1" flipV="1">
            <a:off x="6138449" y="2807107"/>
            <a:ext cx="536789" cy="634655"/>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直接箭头连接符 129">
            <a:extLst>
              <a:ext uri="{FF2B5EF4-FFF2-40B4-BE49-F238E27FC236}">
                <a16:creationId xmlns:a16="http://schemas.microsoft.com/office/drawing/2014/main" id="{F8896D3E-8D00-8E4F-BE16-F2F757596011}"/>
              </a:ext>
            </a:extLst>
          </p:cNvPr>
          <p:cNvCxnSpPr>
            <a:cxnSpLocks/>
          </p:cNvCxnSpPr>
          <p:nvPr/>
        </p:nvCxnSpPr>
        <p:spPr>
          <a:xfrm flipV="1">
            <a:off x="6675238" y="2807107"/>
            <a:ext cx="562627" cy="634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3" name="文本框 132">
            <a:extLst>
              <a:ext uri="{FF2B5EF4-FFF2-40B4-BE49-F238E27FC236}">
                <a16:creationId xmlns:a16="http://schemas.microsoft.com/office/drawing/2014/main" id="{AE814C0F-52D6-33B1-47C2-8CB08BA624A7}"/>
              </a:ext>
            </a:extLst>
          </p:cNvPr>
          <p:cNvSpPr txBox="1"/>
          <p:nvPr/>
        </p:nvSpPr>
        <p:spPr>
          <a:xfrm>
            <a:off x="2401603" y="14003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4" name="文本框 133">
            <a:extLst>
              <a:ext uri="{FF2B5EF4-FFF2-40B4-BE49-F238E27FC236}">
                <a16:creationId xmlns:a16="http://schemas.microsoft.com/office/drawing/2014/main" id="{C0E3A1EE-675E-B52B-E72D-37290E277572}"/>
              </a:ext>
            </a:extLst>
          </p:cNvPr>
          <p:cNvSpPr txBox="1"/>
          <p:nvPr/>
        </p:nvSpPr>
        <p:spPr>
          <a:xfrm>
            <a:off x="6356937" y="14003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内容占位符 12">
            <a:extLst>
              <a:ext uri="{FF2B5EF4-FFF2-40B4-BE49-F238E27FC236}">
                <a16:creationId xmlns:a16="http://schemas.microsoft.com/office/drawing/2014/main" id="{24ABC0D8-32D1-6EC6-2E65-3DBEF29A3EE0}"/>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a:xfrm>
            <a:off x="486000" y="550723"/>
            <a:ext cx="8172000" cy="338554"/>
          </a:xfrm>
          <a:prstGeom prst="rect">
            <a:avLst/>
          </a:prstGeom>
        </p:spPr>
        <p:txBody>
          <a:bodyPr/>
          <a:lstStyle/>
          <a:p>
            <a:r>
              <a:rPr lang="zh-CN" altLang="en-US" dirty="0"/>
              <a:t>一对多</a:t>
            </a:r>
          </a:p>
        </p:txBody>
      </p:sp>
      <p:sp>
        <p:nvSpPr>
          <p:cNvPr id="15" name="文本框 14">
            <a:extLst>
              <a:ext uri="{FF2B5EF4-FFF2-40B4-BE49-F238E27FC236}">
                <a16:creationId xmlns:a16="http://schemas.microsoft.com/office/drawing/2014/main" id="{6DF6327D-0E18-8097-1D6A-B158C88C9362}"/>
              </a:ext>
            </a:extLst>
          </p:cNvPr>
          <p:cNvSpPr txBox="1"/>
          <p:nvPr/>
        </p:nvSpPr>
        <p:spPr>
          <a:xfrm>
            <a:off x="3576781" y="363372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 name="文本框 15">
            <a:extLst>
              <a:ext uri="{FF2B5EF4-FFF2-40B4-BE49-F238E27FC236}">
                <a16:creationId xmlns:a16="http://schemas.microsoft.com/office/drawing/2014/main" id="{12E07A00-FFF8-F8A7-3EB5-7E0E6F99C5C2}"/>
              </a:ext>
            </a:extLst>
          </p:cNvPr>
          <p:cNvSpPr txBox="1"/>
          <p:nvPr/>
        </p:nvSpPr>
        <p:spPr>
          <a:xfrm>
            <a:off x="4132413" y="363372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7" name="文本框 16">
            <a:extLst>
              <a:ext uri="{FF2B5EF4-FFF2-40B4-BE49-F238E27FC236}">
                <a16:creationId xmlns:a16="http://schemas.microsoft.com/office/drawing/2014/main" id="{AA428F3E-9FF0-7226-7920-C310FB8A4EED}"/>
              </a:ext>
            </a:extLst>
          </p:cNvPr>
          <p:cNvSpPr txBox="1"/>
          <p:nvPr/>
        </p:nvSpPr>
        <p:spPr>
          <a:xfrm>
            <a:off x="4689593" y="363372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9" name="内容占位符 8">
            <a:extLst>
              <a:ext uri="{FF2B5EF4-FFF2-40B4-BE49-F238E27FC236}">
                <a16:creationId xmlns:a16="http://schemas.microsoft.com/office/drawing/2014/main" id="{210322C3-6256-E032-F6F0-C63D2230A309}"/>
              </a:ext>
            </a:extLst>
          </p:cNvPr>
          <p:cNvSpPr>
            <a:spLocks noGrp="1"/>
          </p:cNvSpPr>
          <p:nvPr>
            <p:ph sz="quarter" idx="11"/>
          </p:nvPr>
        </p:nvSpPr>
        <p:spPr/>
        <p:txBody>
          <a:bodyPr/>
          <a:lstStyle/>
          <a:p>
            <a:endParaRPr lang="zh-CN" altLang="en-US"/>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xfrm>
            <a:off x="486000" y="550723"/>
            <a:ext cx="8172000" cy="338554"/>
          </a:xfrm>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900000"/>
            <a:ext cx="8172000" cy="3703500"/>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486000" y="550723"/>
            <a:ext cx="8172000" cy="338554"/>
          </a:xfrm>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5" name="内容占位符 4">
            <a:extLst>
              <a:ext uri="{FF2B5EF4-FFF2-40B4-BE49-F238E27FC236}">
                <a16:creationId xmlns:a16="http://schemas.microsoft.com/office/drawing/2014/main" id="{8BFBE1E2-8A47-8F01-3202-69A06CDB5EFC}"/>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在计算检验和时，临时把 </a:t>
            </a:r>
            <a:r>
              <a:rPr lang="en-US" altLang="zh-CN" b="1" dirty="0">
                <a:solidFill>
                  <a:schemeClr val="bg1"/>
                </a:solidFill>
                <a:latin typeface="微软雅黑" pitchFamily="34" charset="-122"/>
                <a:ea typeface="微软雅黑" pitchFamily="34" charset="-122"/>
              </a:rPr>
              <a:t>12 </a:t>
            </a:r>
            <a:r>
              <a:rPr lang="zh-CN" altLang="en-US" b="1" dirty="0">
                <a:solidFill>
                  <a:schemeClr val="bg1"/>
                </a:solidFill>
                <a:latin typeface="微软雅黑" pitchFamily="34" charset="-122"/>
                <a:ea typeface="微软雅黑" pitchFamily="34" charset="-122"/>
              </a:rPr>
              <a:t>字节的“</a:t>
            </a:r>
            <a:r>
              <a:rPr lang="zh-CN" altLang="en-US" b="1" dirty="0">
                <a:solidFill>
                  <a:srgbClr val="FFFF00"/>
                </a:solidFill>
                <a:latin typeface="微软雅黑" pitchFamily="34" charset="-122"/>
                <a:ea typeface="微软雅黑" pitchFamily="34" charset="-122"/>
              </a:rPr>
              <a:t>伪首部</a:t>
            </a:r>
            <a:r>
              <a:rPr lang="zh-CN" altLang="en-US" b="1" dirty="0">
                <a:solidFill>
                  <a:schemeClr val="bg1"/>
                </a:solidFill>
                <a:latin typeface="微软雅黑" pitchFamily="34" charset="-122"/>
                <a:ea typeface="微软雅黑" pitchFamily="34" charset="-122"/>
              </a:rPr>
              <a:t>”和 </a:t>
            </a: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57595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398740"/>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2612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4554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363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751455"/>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75145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751455"/>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17</a:t>
            </a:r>
          </a:p>
        </p:txBody>
      </p:sp>
      <p:sp>
        <p:nvSpPr>
          <p:cNvPr id="32" name="Line 31"/>
          <p:cNvSpPr>
            <a:spLocks noChangeShapeType="1"/>
          </p:cNvSpPr>
          <p:nvPr/>
        </p:nvSpPr>
        <p:spPr bwMode="auto">
          <a:xfrm>
            <a:off x="2867701" y="3971343"/>
            <a:ext cx="4719679"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86961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39625"/>
            <a:ext cx="845103"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09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14913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14913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20655" y="381532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4126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flipH="1">
            <a:off x="2420048" y="239026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10" name="Rectangle 9"/>
          <p:cNvSpPr>
            <a:spLocks noChangeArrowheads="1"/>
          </p:cNvSpPr>
          <p:nvPr/>
        </p:nvSpPr>
        <p:spPr bwMode="auto">
          <a:xfrm>
            <a:off x="3670978" y="351827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293203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3203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30322" y="2931904"/>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49" name="Text Box 49"/>
          <p:cNvSpPr txBox="1">
            <a:spLocks noChangeArrowheads="1"/>
          </p:cNvSpPr>
          <p:nvPr/>
        </p:nvSpPr>
        <p:spPr bwMode="auto">
          <a:xfrm>
            <a:off x="5536712" y="2929872"/>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08156" y="1309482"/>
            <a:ext cx="2792084" cy="2021473"/>
            <a:chOff x="1600944" y="1280222"/>
            <a:chExt cx="2540187"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100" b="1" dirty="0">
                  <a:solidFill>
                    <a:srgbClr val="000099"/>
                  </a:solidFill>
                  <a:latin typeface="微软雅黑" pitchFamily="34" charset="-122"/>
                  <a:ea typeface="微软雅黑" pitchFamily="34" charset="-122"/>
                </a:rPr>
                <a:t>12 </a:t>
              </a:r>
              <a:r>
                <a:rPr kumimoji="1" lang="zh-CN" altLang="en-US" sz="1100" b="1" dirty="0">
                  <a:solidFill>
                    <a:srgbClr val="000099"/>
                  </a:solidFill>
                  <a:latin typeface="微软雅黑" pitchFamily="34" charset="-122"/>
                  <a:ea typeface="微软雅黑" pitchFamily="34" charset="-122"/>
                </a:rPr>
                <a:t>字节</a:t>
              </a:r>
            </a:p>
            <a:p>
              <a:pPr algn="ctr"/>
              <a:r>
                <a:rPr kumimoji="1" lang="zh-CN" altLang="en-US" sz="1100" b="1"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00944"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dirty="0">
                  <a:solidFill>
                    <a:srgbClr val="000099"/>
                  </a:solidFill>
                  <a:latin typeface="微软雅黑" pitchFamily="34" charset="-122"/>
                  <a:ea typeface="微软雅黑" pitchFamily="34" charset="-122"/>
                </a:rPr>
                <a:t>8 </a:t>
              </a:r>
              <a:r>
                <a:rPr kumimoji="1" lang="zh-CN" altLang="en-US" sz="1100" b="1" dirty="0">
                  <a:solidFill>
                    <a:srgbClr val="000099"/>
                  </a:solidFill>
                  <a:latin typeface="微软雅黑" pitchFamily="34" charset="-122"/>
                  <a:ea typeface="微软雅黑" pitchFamily="34" charset="-122"/>
                </a:rPr>
                <a:t>字节</a:t>
              </a:r>
            </a:p>
            <a:p>
              <a:pPr algn="ctr"/>
              <a:r>
                <a:rPr kumimoji="1" lang="en-US" altLang="zh-CN" sz="1100" b="1" dirty="0">
                  <a:solidFill>
                    <a:srgbClr val="000099"/>
                  </a:solidFill>
                  <a:latin typeface="微软雅黑" pitchFamily="34" charset="-122"/>
                  <a:ea typeface="微软雅黑" pitchFamily="34" charset="-122"/>
                </a:rPr>
                <a:t>UDP </a:t>
              </a:r>
              <a:r>
                <a:rPr kumimoji="1" lang="zh-CN" altLang="en-US" sz="1100" b="1"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757139" y="2303237"/>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a:solidFill>
                    <a:srgbClr val="000099"/>
                  </a:solidFill>
                  <a:latin typeface="微软雅黑" pitchFamily="34" charset="-122"/>
                  <a:ea typeface="微软雅黑" pitchFamily="34" charset="-122"/>
                </a:rPr>
                <a:t>7 </a:t>
              </a:r>
              <a:r>
                <a:rPr kumimoji="1" lang="zh-CN" altLang="en-US" sz="1100" b="1">
                  <a:solidFill>
                    <a:srgbClr val="000099"/>
                  </a:solidFill>
                  <a:latin typeface="微软雅黑" pitchFamily="34" charset="-122"/>
                  <a:ea typeface="微软雅黑" pitchFamily="34" charset="-122"/>
                </a:rPr>
                <a:t>字节</a:t>
              </a:r>
            </a:p>
            <a:p>
              <a:pPr algn="ctr"/>
              <a:r>
                <a:rPr kumimoji="1" lang="zh-CN" altLang="en-US" sz="1100" b="1">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4" name="内容占位符 33">
            <a:extLst>
              <a:ext uri="{FF2B5EF4-FFF2-40B4-BE49-F238E27FC236}">
                <a16:creationId xmlns:a16="http://schemas.microsoft.com/office/drawing/2014/main" id="{307F5263-DB53-B69C-C10A-473E8B845A61}"/>
              </a:ext>
            </a:extLst>
          </p:cNvPr>
          <p:cNvSpPr>
            <a:spLocks noGrp="1"/>
          </p:cNvSpPr>
          <p:nvPr>
            <p:ph sz="quarter" idx="11"/>
          </p:nvPr>
        </p:nvSpPr>
        <p:spPr/>
        <p:txBody>
          <a:bodyPr/>
          <a:lstStyle/>
          <a:p>
            <a:endParaRPr lang="zh-CN" altLang="en-US"/>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xfrm>
            <a:off x="486000" y="550723"/>
            <a:ext cx="8172000" cy="338554"/>
          </a:xfrm>
          <a:prstGeom prst="rect">
            <a:avLst/>
          </a:prstGeo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内容占位符 8">
            <a:extLst>
              <a:ext uri="{FF2B5EF4-FFF2-40B4-BE49-F238E27FC236}">
                <a16:creationId xmlns:a16="http://schemas.microsoft.com/office/drawing/2014/main" id="{8927C137-9E12-D8BD-4412-EBA51325FF05}"/>
              </a:ext>
            </a:extLst>
          </p:cNvPr>
          <p:cNvSpPr>
            <a:spLocks noGrp="1"/>
          </p:cNvSpPr>
          <p:nvPr>
            <p:ph sz="quarter" idx="11"/>
          </p:nvPr>
        </p:nvSpPr>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2D25CA03-7F92-B901-B524-4E8BF50DECE4}"/>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5" name="内容占位符 4">
            <a:extLst>
              <a:ext uri="{FF2B5EF4-FFF2-40B4-BE49-F238E27FC236}">
                <a16:creationId xmlns:a16="http://schemas.microsoft.com/office/drawing/2014/main" id="{4658076A-2871-4CE3-DA62-B74FF4F91BBC}"/>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不保证接收方应用程序所收到的数据块和发送方应用程序所发出的数据块具有对应大小的关系。</a:t>
            </a:r>
          </a:p>
          <a:p>
            <a:r>
              <a:rPr lang="zh-CN" altLang="en-US" dirty="0"/>
              <a:t>但接收方应用程序收到的字节流必须和发送方应用程序发出的字节流完全一样。</a:t>
            </a:r>
          </a:p>
          <a:p>
            <a:endParaRPr lang="zh-CN" altLang="en-US" dirty="0"/>
          </a:p>
        </p:txBody>
      </p:sp>
      <p:sp>
        <p:nvSpPr>
          <p:cNvPr id="8" name="标题 7">
            <a:extLst>
              <a:ext uri="{FF2B5EF4-FFF2-40B4-BE49-F238E27FC236}">
                <a16:creationId xmlns:a16="http://schemas.microsoft.com/office/drawing/2014/main" id="{0C24D6E9-7314-A9DD-09FD-4C708E55D6CD}"/>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72" name="标题 71">
            <a:extLst>
              <a:ext uri="{FF2B5EF4-FFF2-40B4-BE49-F238E27FC236}">
                <a16:creationId xmlns:a16="http://schemas.microsoft.com/office/drawing/2014/main" id="{FE78A1CD-5591-3AA5-B949-644FB2353156}"/>
              </a:ext>
            </a:extLst>
          </p:cNvPr>
          <p:cNvSpPr>
            <a:spLocks noGrp="1"/>
          </p:cNvSpPr>
          <p:nvPr>
            <p:ph type="title"/>
          </p:nvPr>
        </p:nvSpPr>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3" name="内容占位符 2">
            <a:extLst>
              <a:ext uri="{FF2B5EF4-FFF2-40B4-BE49-F238E27FC236}">
                <a16:creationId xmlns:a16="http://schemas.microsoft.com/office/drawing/2014/main" id="{A8586DB0-BF05-A8F5-257A-F5021A6D96E9}"/>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不关心应用进程一次把多长的报文发送到 </a:t>
            </a:r>
            <a:r>
              <a:rPr lang="en-US" altLang="zh-CN" dirty="0"/>
              <a:t>TCP </a:t>
            </a:r>
            <a:r>
              <a:rPr lang="zh-CN" altLang="en-US" dirty="0"/>
              <a:t>缓存</a:t>
            </a:r>
            <a:endParaRPr lang="en-US" altLang="zh-CN" dirty="0"/>
          </a:p>
          <a:p>
            <a:r>
              <a:rPr lang="en-US" altLang="zh-CN" dirty="0"/>
              <a:t>TCP </a:t>
            </a:r>
            <a:r>
              <a:rPr lang="zh-CN" altLang="en-US" dirty="0"/>
              <a:t>根据对方给出的窗口值和当前网络拥塞程度来决定一个报文段应包含多少个字节，形成 </a:t>
            </a:r>
            <a:r>
              <a:rPr lang="en-US" altLang="zh-CN" dirty="0"/>
              <a:t>TCP </a:t>
            </a:r>
            <a:r>
              <a:rPr lang="zh-CN" altLang="en-US" dirty="0"/>
              <a:t>报文段</a:t>
            </a:r>
          </a:p>
          <a:p>
            <a:endParaRPr lang="zh-CN" altLang="en-US" dirty="0"/>
          </a:p>
        </p:txBody>
      </p:sp>
      <p:sp>
        <p:nvSpPr>
          <p:cNvPr id="2" name="标题 1">
            <a:extLst>
              <a:ext uri="{FF2B5EF4-FFF2-40B4-BE49-F238E27FC236}">
                <a16:creationId xmlns:a16="http://schemas.microsoft.com/office/drawing/2014/main" id="{11D59015-2F8E-4CCA-4DDE-86BA889547CE}"/>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
        <p:nvSpPr>
          <p:cNvPr id="53" name="Text Box 8"/>
          <p:cNvSpPr txBox="1">
            <a:spLocks noChangeArrowheads="1"/>
          </p:cNvSpPr>
          <p:nvPr/>
        </p:nvSpPr>
        <p:spPr bwMode="auto">
          <a:xfrm>
            <a:off x="1751861" y="282696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Light" panose="020B0502040204020203" pitchFamily="34" charset="-122"/>
                <a:ea typeface="微软雅黑 Light" panose="020B0502040204020203" pitchFamily="34" charset="-122"/>
              </a:rPr>
              <a:t>端口</a:t>
            </a:r>
          </a:p>
        </p:txBody>
      </p:sp>
      <p:sp>
        <p:nvSpPr>
          <p:cNvPr id="54" name="Line 9"/>
          <p:cNvSpPr>
            <a:spLocks noChangeShapeType="1"/>
          </p:cNvSpPr>
          <p:nvPr/>
        </p:nvSpPr>
        <p:spPr bwMode="auto">
          <a:xfrm>
            <a:off x="2285044" y="2339422"/>
            <a:ext cx="5311" cy="797207"/>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5" name="Text Box 10"/>
          <p:cNvSpPr txBox="1">
            <a:spLocks noChangeArrowheads="1"/>
          </p:cNvSpPr>
          <p:nvPr/>
        </p:nvSpPr>
        <p:spPr bwMode="auto">
          <a:xfrm rot="5400000">
            <a:off x="2356733" y="273025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a:latin typeface="微软雅黑 Light" panose="020B0502040204020203" pitchFamily="34" charset="-122"/>
                <a:ea typeface="微软雅黑 Light" panose="020B0502040204020203" pitchFamily="34" charset="-122"/>
              </a:rPr>
              <a:t>…</a:t>
            </a:r>
          </a:p>
        </p:txBody>
      </p:sp>
      <p:sp>
        <p:nvSpPr>
          <p:cNvPr id="56" name="Rectangle 12"/>
          <p:cNvSpPr>
            <a:spLocks noChangeArrowheads="1"/>
          </p:cNvSpPr>
          <p:nvPr/>
        </p:nvSpPr>
        <p:spPr bwMode="auto">
          <a:xfrm>
            <a:off x="2394441" y="2457289"/>
            <a:ext cx="436530" cy="114652"/>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7" name="Rectangle 13"/>
          <p:cNvSpPr>
            <a:spLocks noChangeArrowheads="1"/>
          </p:cNvSpPr>
          <p:nvPr/>
        </p:nvSpPr>
        <p:spPr bwMode="auto">
          <a:xfrm>
            <a:off x="2394441" y="2629802"/>
            <a:ext cx="108336"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8" name="Rectangle 14"/>
          <p:cNvSpPr>
            <a:spLocks noChangeArrowheads="1"/>
          </p:cNvSpPr>
          <p:nvPr/>
        </p:nvSpPr>
        <p:spPr bwMode="auto">
          <a:xfrm>
            <a:off x="2394441" y="2978045"/>
            <a:ext cx="272964"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9" name="Rectangle 15"/>
          <p:cNvSpPr>
            <a:spLocks noChangeArrowheads="1"/>
          </p:cNvSpPr>
          <p:nvPr/>
        </p:nvSpPr>
        <p:spPr bwMode="auto">
          <a:xfrm>
            <a:off x="1628656" y="3197776"/>
            <a:ext cx="1312775" cy="756490"/>
          </a:xfrm>
          <a:prstGeom prst="rect">
            <a:avLst/>
          </a:prstGeom>
          <a:noFill/>
          <a:ln w="12700">
            <a:solidFill>
              <a:schemeClr val="tx1"/>
            </a:solidFill>
            <a:miter lim="800000"/>
            <a:headEnd/>
            <a:tailEnd/>
          </a:ln>
          <a:effectLst/>
        </p:spPr>
        <p:txBody>
          <a:bodyPr wrap="none" anchor="ctr"/>
          <a:lstStyle/>
          <a:p>
            <a:pPr algn="ctr"/>
            <a:r>
              <a:rPr lang="zh-CN" altLang="en-US" sz="1200" dirty="0">
                <a:latin typeface="微软雅黑 Light" panose="020B0502040204020203" pitchFamily="34" charset="-122"/>
                <a:ea typeface="微软雅黑 Light" panose="020B0502040204020203" pitchFamily="34" charset="-122"/>
              </a:rPr>
              <a:t>发送缓存</a:t>
            </a:r>
          </a:p>
        </p:txBody>
      </p:sp>
      <p:sp>
        <p:nvSpPr>
          <p:cNvPr id="60" name="Line 16"/>
          <p:cNvSpPr>
            <a:spLocks noChangeShapeType="1"/>
          </p:cNvSpPr>
          <p:nvPr/>
        </p:nvSpPr>
        <p:spPr bwMode="auto">
          <a:xfrm flipV="1">
            <a:off x="6823465" y="2339422"/>
            <a:ext cx="0" cy="871142"/>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Text Box 17"/>
          <p:cNvSpPr txBox="1">
            <a:spLocks noChangeArrowheads="1"/>
          </p:cNvSpPr>
          <p:nvPr/>
        </p:nvSpPr>
        <p:spPr bwMode="auto">
          <a:xfrm rot="5400000">
            <a:off x="6894092" y="273346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a:latin typeface="微软雅黑 Light" panose="020B0502040204020203" pitchFamily="34" charset="-122"/>
                <a:ea typeface="微软雅黑 Light" panose="020B0502040204020203" pitchFamily="34" charset="-122"/>
              </a:rPr>
              <a:t>…</a:t>
            </a:r>
          </a:p>
        </p:txBody>
      </p:sp>
      <p:sp>
        <p:nvSpPr>
          <p:cNvPr id="62" name="Rectangle 18"/>
          <p:cNvSpPr>
            <a:spLocks noChangeArrowheads="1"/>
          </p:cNvSpPr>
          <p:nvPr/>
        </p:nvSpPr>
        <p:spPr bwMode="auto">
          <a:xfrm>
            <a:off x="6932863" y="2978045"/>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3" name="Rectangle 19"/>
          <p:cNvSpPr>
            <a:spLocks noChangeArrowheads="1"/>
          </p:cNvSpPr>
          <p:nvPr/>
        </p:nvSpPr>
        <p:spPr bwMode="auto">
          <a:xfrm>
            <a:off x="6167077" y="3197776"/>
            <a:ext cx="1311713" cy="756490"/>
          </a:xfrm>
          <a:prstGeom prst="rect">
            <a:avLst/>
          </a:prstGeom>
          <a:noFill/>
          <a:ln w="12700">
            <a:solidFill>
              <a:schemeClr val="tx1"/>
            </a:solidFill>
            <a:miter lim="800000"/>
            <a:headEnd/>
            <a:tailEnd/>
          </a:ln>
          <a:effectLst/>
        </p:spPr>
        <p:txBody>
          <a:bodyPr wrap="none" anchor="ctr"/>
          <a:lstStyle/>
          <a:p>
            <a:pPr algn="ctr"/>
            <a:r>
              <a:rPr lang="zh-CN" altLang="en-US" sz="1200" dirty="0">
                <a:latin typeface="微软雅黑 Light" panose="020B0502040204020203" pitchFamily="34" charset="-122"/>
                <a:ea typeface="微软雅黑 Light" panose="020B0502040204020203" pitchFamily="34" charset="-122"/>
              </a:rPr>
              <a:t>接收缓存</a:t>
            </a:r>
          </a:p>
        </p:txBody>
      </p:sp>
      <p:sp>
        <p:nvSpPr>
          <p:cNvPr id="71" name="Rectangle 27"/>
          <p:cNvSpPr>
            <a:spLocks noChangeArrowheads="1"/>
          </p:cNvSpPr>
          <p:nvPr/>
        </p:nvSpPr>
        <p:spPr bwMode="auto">
          <a:xfrm>
            <a:off x="6932863" y="2629802"/>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2" name="Rectangle 28"/>
          <p:cNvSpPr>
            <a:spLocks noChangeArrowheads="1"/>
          </p:cNvSpPr>
          <p:nvPr/>
        </p:nvSpPr>
        <p:spPr bwMode="auto">
          <a:xfrm>
            <a:off x="6932863" y="2457289"/>
            <a:ext cx="328194" cy="114652"/>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3" name="Text Box 29"/>
          <p:cNvSpPr txBox="1">
            <a:spLocks noChangeArrowheads="1"/>
          </p:cNvSpPr>
          <p:nvPr/>
        </p:nvSpPr>
        <p:spPr bwMode="auto">
          <a:xfrm>
            <a:off x="6271165" y="284410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Light" panose="020B0502040204020203" pitchFamily="34" charset="-122"/>
                <a:ea typeface="微软雅黑 Light" panose="020B0502040204020203" pitchFamily="34" charset="-122"/>
              </a:rPr>
              <a:t>端口</a:t>
            </a:r>
          </a:p>
        </p:txBody>
      </p:sp>
      <p:sp>
        <p:nvSpPr>
          <p:cNvPr id="74" name="Text Box 30"/>
          <p:cNvSpPr txBox="1">
            <a:spLocks noChangeArrowheads="1"/>
          </p:cNvSpPr>
          <p:nvPr/>
        </p:nvSpPr>
        <p:spPr bwMode="auto">
          <a:xfrm>
            <a:off x="1961879"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dirty="0">
                <a:latin typeface="微软雅黑 Light" panose="020B0502040204020203" pitchFamily="34" charset="-122"/>
                <a:ea typeface="微软雅黑 Light" panose="020B0502040204020203" pitchFamily="34" charset="-122"/>
              </a:rPr>
              <a:t>发送端</a:t>
            </a:r>
          </a:p>
        </p:txBody>
      </p:sp>
      <p:sp>
        <p:nvSpPr>
          <p:cNvPr id="75" name="Text Box 31"/>
          <p:cNvSpPr txBox="1">
            <a:spLocks noChangeArrowheads="1"/>
          </p:cNvSpPr>
          <p:nvPr/>
        </p:nvSpPr>
        <p:spPr bwMode="auto">
          <a:xfrm>
            <a:off x="6496552"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a:latin typeface="微软雅黑 Light" panose="020B0502040204020203" pitchFamily="34" charset="-122"/>
                <a:ea typeface="微软雅黑 Light" panose="020B0502040204020203" pitchFamily="34" charset="-122"/>
              </a:rPr>
              <a:t>接收端</a:t>
            </a:r>
          </a:p>
        </p:txBody>
      </p:sp>
      <p:sp>
        <p:nvSpPr>
          <p:cNvPr id="83" name="Rectangle 39"/>
          <p:cNvSpPr>
            <a:spLocks noChangeArrowheads="1"/>
          </p:cNvSpPr>
          <p:nvPr/>
        </p:nvSpPr>
        <p:spPr bwMode="auto">
          <a:xfrm>
            <a:off x="2211758" y="3118413"/>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84" name="Rectangle 40"/>
          <p:cNvSpPr>
            <a:spLocks noChangeArrowheads="1"/>
          </p:cNvSpPr>
          <p:nvPr/>
        </p:nvSpPr>
        <p:spPr bwMode="auto">
          <a:xfrm>
            <a:off x="6741682" y="3118413"/>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43" name="AutoShape 108"/>
          <p:cNvSpPr>
            <a:spLocks noChangeArrowheads="1"/>
          </p:cNvSpPr>
          <p:nvPr/>
        </p:nvSpPr>
        <p:spPr bwMode="auto">
          <a:xfrm rot="16200000">
            <a:off x="4400718" y="2257289"/>
            <a:ext cx="346183" cy="4206853"/>
          </a:xfrm>
          <a:prstGeom prst="can">
            <a:avLst>
              <a:gd name="adj" fmla="val 28603"/>
            </a:avLst>
          </a:prstGeom>
          <a:noFill/>
          <a:ln w="9525">
            <a:solidFill>
              <a:schemeClr val="tx1"/>
            </a:solidFill>
            <a:round/>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44" name="Text Box 109"/>
          <p:cNvSpPr txBox="1">
            <a:spLocks noChangeArrowheads="1"/>
          </p:cNvSpPr>
          <p:nvPr/>
        </p:nvSpPr>
        <p:spPr bwMode="auto">
          <a:xfrm>
            <a:off x="3385425" y="4813337"/>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微软雅黑 Light" panose="020B0502040204020203" pitchFamily="34" charset="-122"/>
                <a:ea typeface="微软雅黑 Light" panose="020B0502040204020203" pitchFamily="34" charset="-122"/>
              </a:rPr>
              <a:t>TCP </a:t>
            </a:r>
            <a:r>
              <a:rPr kumimoji="1" lang="zh-CN" altLang="en-US" sz="1200" dirty="0">
                <a:latin typeface="微软雅黑 Light" panose="020B0502040204020203" pitchFamily="34" charset="-122"/>
                <a:ea typeface="微软雅黑 Light" panose="020B0502040204020203" pitchFamily="34" charset="-122"/>
              </a:rPr>
              <a:t>连接（虚连接，逻辑连接）</a:t>
            </a:r>
          </a:p>
        </p:txBody>
      </p:sp>
      <p:sp>
        <p:nvSpPr>
          <p:cNvPr id="50" name="AutoShape 5"/>
          <p:cNvSpPr>
            <a:spLocks noChangeArrowheads="1"/>
          </p:cNvSpPr>
          <p:nvPr/>
        </p:nvSpPr>
        <p:spPr bwMode="auto">
          <a:xfrm>
            <a:off x="3561241" y="4285056"/>
            <a:ext cx="208175" cy="144000"/>
          </a:xfrm>
          <a:prstGeom prst="rightArrow">
            <a:avLst>
              <a:gd name="adj1" fmla="val 50000"/>
              <a:gd name="adj2" fmla="val 31613"/>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1" name="AutoShape 6"/>
          <p:cNvSpPr>
            <a:spLocks noChangeArrowheads="1"/>
          </p:cNvSpPr>
          <p:nvPr/>
        </p:nvSpPr>
        <p:spPr bwMode="auto">
          <a:xfrm>
            <a:off x="6236732" y="4285056"/>
            <a:ext cx="206050" cy="144000"/>
          </a:xfrm>
          <a:prstGeom prst="rightArrow">
            <a:avLst>
              <a:gd name="adj1" fmla="val 50000"/>
              <a:gd name="adj2" fmla="val 31290"/>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2" name="AutoShape 7"/>
          <p:cNvSpPr>
            <a:spLocks noChangeArrowheads="1"/>
          </p:cNvSpPr>
          <p:nvPr/>
        </p:nvSpPr>
        <p:spPr bwMode="auto">
          <a:xfrm>
            <a:off x="4668339" y="4285056"/>
            <a:ext cx="208175" cy="144000"/>
          </a:xfrm>
          <a:prstGeom prst="rightArrow">
            <a:avLst>
              <a:gd name="adj1" fmla="val 50000"/>
              <a:gd name="adj2" fmla="val 31613"/>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7" name="Rectangle 23"/>
          <p:cNvSpPr>
            <a:spLocks noChangeArrowheads="1"/>
          </p:cNvSpPr>
          <p:nvPr/>
        </p:nvSpPr>
        <p:spPr bwMode="auto">
          <a:xfrm>
            <a:off x="2819756" y="4263626"/>
            <a:ext cx="728612" cy="208945"/>
          </a:xfrm>
          <a:prstGeom prst="rect">
            <a:avLst/>
          </a:prstGeom>
          <a:noFill/>
          <a:ln w="9525">
            <a:solidFill>
              <a:schemeClr val="tx1"/>
            </a:solidFill>
            <a:miter lim="800000"/>
            <a:headEnd/>
            <a:tailEnd/>
          </a:ln>
          <a:effectLst/>
        </p:spPr>
        <p:txBody>
          <a:bodyPr wrap="none" anchor="ctr"/>
          <a:lstStyle/>
          <a:p>
            <a:pPr algn="ctr"/>
            <a:r>
              <a:rPr lang="zh-CN" altLang="en-US" sz="1200" dirty="0">
                <a:latin typeface="微软雅黑 Light" panose="020B0502040204020203" pitchFamily="34" charset="-122"/>
                <a:ea typeface="微软雅黑 Light" panose="020B0502040204020203" pitchFamily="34" charset="-122"/>
              </a:rPr>
              <a:t>报文段</a:t>
            </a:r>
          </a:p>
        </p:txBody>
      </p:sp>
      <p:sp>
        <p:nvSpPr>
          <p:cNvPr id="69" name="Rectangle 25"/>
          <p:cNvSpPr>
            <a:spLocks noChangeArrowheads="1"/>
          </p:cNvSpPr>
          <p:nvPr/>
        </p:nvSpPr>
        <p:spPr bwMode="auto">
          <a:xfrm>
            <a:off x="3935309" y="4263626"/>
            <a:ext cx="728612" cy="208945"/>
          </a:xfrm>
          <a:prstGeom prst="rect">
            <a:avLst/>
          </a:prstGeom>
          <a:noFill/>
          <a:ln w="9525">
            <a:solidFill>
              <a:schemeClr val="tx1"/>
            </a:solidFill>
            <a:miter lim="800000"/>
            <a:headEnd/>
            <a:tailEnd/>
          </a:ln>
          <a:effectLst/>
        </p:spPr>
        <p:txBody>
          <a:bodyPr wrap="none" anchor="ctr"/>
          <a:lstStyle/>
          <a:p>
            <a:pPr algn="ctr"/>
            <a:r>
              <a:rPr lang="zh-CN" altLang="en-US" sz="1200">
                <a:latin typeface="微软雅黑 Light" panose="020B0502040204020203" pitchFamily="34" charset="-122"/>
                <a:ea typeface="微软雅黑 Light" panose="020B0502040204020203" pitchFamily="34" charset="-122"/>
              </a:rPr>
              <a:t>报文段</a:t>
            </a:r>
          </a:p>
        </p:txBody>
      </p:sp>
      <p:sp>
        <p:nvSpPr>
          <p:cNvPr id="70" name="Rectangle 26"/>
          <p:cNvSpPr>
            <a:spLocks noChangeArrowheads="1"/>
          </p:cNvSpPr>
          <p:nvPr/>
        </p:nvSpPr>
        <p:spPr bwMode="auto">
          <a:xfrm>
            <a:off x="5496288" y="4263626"/>
            <a:ext cx="728612" cy="208945"/>
          </a:xfrm>
          <a:prstGeom prst="rect">
            <a:avLst/>
          </a:prstGeom>
          <a:noFill/>
          <a:ln w="9525">
            <a:solidFill>
              <a:schemeClr val="tx1"/>
            </a:solidFill>
            <a:miter lim="800000"/>
            <a:headEnd/>
            <a:tailEnd/>
          </a:ln>
          <a:effectLst/>
        </p:spPr>
        <p:txBody>
          <a:bodyPr wrap="none" anchor="ctr"/>
          <a:lstStyle/>
          <a:p>
            <a:pPr algn="ctr"/>
            <a:r>
              <a:rPr lang="zh-CN" altLang="en-US" sz="1200" dirty="0">
                <a:latin typeface="微软雅黑 Light" panose="020B0502040204020203" pitchFamily="34" charset="-122"/>
                <a:ea typeface="微软雅黑 Light" panose="020B0502040204020203" pitchFamily="34" charset="-122"/>
              </a:rPr>
              <a:t>报文段</a:t>
            </a:r>
          </a:p>
        </p:txBody>
      </p:sp>
      <p:sp>
        <p:nvSpPr>
          <p:cNvPr id="68" name="Text Box 24"/>
          <p:cNvSpPr txBox="1">
            <a:spLocks noChangeArrowheads="1"/>
          </p:cNvSpPr>
          <p:nvPr/>
        </p:nvSpPr>
        <p:spPr bwMode="auto">
          <a:xfrm>
            <a:off x="5042017" y="4161350"/>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86" name="Freeform 44"/>
          <p:cNvSpPr>
            <a:spLocks/>
          </p:cNvSpPr>
          <p:nvPr/>
        </p:nvSpPr>
        <p:spPr bwMode="auto">
          <a:xfrm>
            <a:off x="6677235" y="3940594"/>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7" name="Freeform 110"/>
          <p:cNvSpPr>
            <a:spLocks/>
          </p:cNvSpPr>
          <p:nvPr/>
        </p:nvSpPr>
        <p:spPr bwMode="auto">
          <a:xfrm>
            <a:off x="2278145" y="3941058"/>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E8F1D37-1AD8-43D1-4044-358912B8C7BE}"/>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把连接作为最基本的抽象。</a:t>
            </a:r>
          </a:p>
          <a:p>
            <a:endParaRPr lang="zh-CN" altLang="en-US" dirty="0"/>
          </a:p>
        </p:txBody>
      </p:sp>
      <p:sp>
        <p:nvSpPr>
          <p:cNvPr id="2" name="标题 1">
            <a:extLst>
              <a:ext uri="{FF2B5EF4-FFF2-40B4-BE49-F238E27FC236}">
                <a16:creationId xmlns:a16="http://schemas.microsoft.com/office/drawing/2014/main" id="{0CA530FA-1FD0-F4A5-9D74-24DFEE22F902}"/>
              </a:ext>
            </a:extLst>
          </p:cNvPr>
          <p:cNvSpPr>
            <a:spLocks noGrp="1"/>
          </p:cNvSpPr>
          <p:nvPr>
            <p:ph type="title"/>
          </p:nvPr>
        </p:nvSpPr>
        <p:spPr>
          <a:xfrm>
            <a:off x="486000" y="550723"/>
            <a:ext cx="8172000" cy="338554"/>
          </a:xfrm>
          <a:prstGeom prst="rect">
            <a:avLst/>
          </a:prstGeom>
        </p:spPr>
        <p:txBody>
          <a:bodyPr/>
          <a:lstStyle/>
          <a:p>
            <a:r>
              <a:rPr lang="en-US" altLang="zh-CN" dirty="0"/>
              <a:t>5.3.2  TCP </a:t>
            </a:r>
            <a:r>
              <a:rPr lang="zh-CN" altLang="en-US" dirty="0"/>
              <a:t>的连接</a:t>
            </a:r>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21" name="内容占位符 20">
            <a:extLst>
              <a:ext uri="{FF2B5EF4-FFF2-40B4-BE49-F238E27FC236}">
                <a16:creationId xmlns:a16="http://schemas.microsoft.com/office/drawing/2014/main" id="{32BE528A-742A-8B4F-6F21-E1AA756848C2}"/>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CF4E46D-3F50-B83D-BC4C-B88C87DC204A}"/>
              </a:ext>
            </a:extLst>
          </p:cNvPr>
          <p:cNvSpPr>
            <a:spLocks noGrp="1"/>
          </p:cNvSpPr>
          <p:nvPr>
            <p:ph type="title"/>
          </p:nvPr>
        </p:nvSpPr>
        <p:spPr>
          <a:xfrm>
            <a:off x="486000" y="550723"/>
            <a:ext cx="8172000" cy="338554"/>
          </a:xfrm>
          <a:prstGeom prst="rect">
            <a:avLst/>
          </a:prstGeom>
        </p:spPr>
        <p:txBody>
          <a:bodyPr/>
          <a:lstStyle/>
          <a:p>
            <a:r>
              <a:rPr lang="zh-CN" altLang="en-US" dirty="0"/>
              <a:t>套接字 </a:t>
            </a:r>
            <a:r>
              <a:rPr lang="en-US" altLang="zh-CN" dirty="0"/>
              <a:t>(socket)</a:t>
            </a:r>
            <a:endParaRPr lang="zh-CN" altLang="en-US" dirty="0"/>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7242BEF4-3CAB-AEBA-3411-C6D06CF8F2B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486000" y="550723"/>
            <a:ext cx="8172000" cy="338554"/>
          </a:xfrm>
          <a:prstGeom prst="rect">
            <a:avLst/>
          </a:prstGeom>
        </p:spPr>
        <p:txBody>
          <a:bodyPr/>
          <a:lstStyle/>
          <a:p>
            <a:r>
              <a:rPr lang="en-US" altLang="zh-CN" dirty="0"/>
              <a:t>TCP </a:t>
            </a:r>
            <a:r>
              <a:rPr lang="zh-CN" altLang="en-US" dirty="0"/>
              <a:t>连接，</a:t>
            </a:r>
            <a:r>
              <a:rPr lang="en-US" altLang="zh-CN" dirty="0"/>
              <a:t>IP </a:t>
            </a:r>
            <a:r>
              <a:rPr lang="zh-CN" altLang="en-US" dirty="0"/>
              <a:t>地址，套接字</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5D8427B2-FA42-4E16-0AC6-FF9B3CAAA650}"/>
              </a:ext>
            </a:extLst>
          </p:cNvPr>
          <p:cNvSpPr>
            <a:spLocks noGrp="1"/>
          </p:cNvSpPr>
          <p:nvPr>
            <p:ph sz="quarter" idx="11"/>
          </p:nvPr>
        </p:nvSpPr>
        <p:spPr>
          <a:xfrm>
            <a:off x="486000" y="900000"/>
            <a:ext cx="8172000" cy="3703500"/>
          </a:xfrm>
        </p:spPr>
        <p:txBody>
          <a:bodyPr/>
          <a:lstStyle/>
          <a:p>
            <a:r>
              <a:rPr lang="zh-CN" altLang="en-US" dirty="0"/>
              <a:t>应用编程接口  </a:t>
            </a:r>
            <a:r>
              <a:rPr lang="en-US" altLang="zh-CN" dirty="0"/>
              <a:t>API  </a:t>
            </a:r>
            <a:r>
              <a:rPr lang="zh-CN" altLang="en-US" dirty="0"/>
              <a:t>称为 </a:t>
            </a:r>
            <a:r>
              <a:rPr lang="en-US" altLang="zh-CN" dirty="0"/>
              <a:t>socket API, </a:t>
            </a:r>
            <a:r>
              <a:rPr lang="zh-CN" altLang="en-US" dirty="0"/>
              <a:t>简称为 </a:t>
            </a:r>
            <a:r>
              <a:rPr lang="en-US" altLang="zh-CN" dirty="0"/>
              <a:t>socket</a:t>
            </a:r>
            <a:r>
              <a:rPr lang="zh-CN" altLang="en-US" dirty="0"/>
              <a:t>。</a:t>
            </a:r>
          </a:p>
          <a:p>
            <a:r>
              <a:rPr lang="en-US" altLang="zh-CN" dirty="0"/>
              <a:t>socket API </a:t>
            </a:r>
            <a:r>
              <a:rPr lang="zh-CN" altLang="en-US" dirty="0"/>
              <a:t>中使用的一个函数名也叫作 </a:t>
            </a:r>
            <a:r>
              <a:rPr lang="en-US" altLang="zh-CN" dirty="0"/>
              <a:t>socket</a:t>
            </a:r>
            <a:r>
              <a:rPr lang="zh-CN" altLang="en-US" dirty="0"/>
              <a:t>。</a:t>
            </a:r>
          </a:p>
          <a:p>
            <a:r>
              <a:rPr lang="zh-CN" altLang="en-US" dirty="0"/>
              <a:t>调用 </a:t>
            </a:r>
            <a:r>
              <a:rPr lang="en-US" altLang="zh-CN" dirty="0"/>
              <a:t>socket </a:t>
            </a:r>
            <a:r>
              <a:rPr lang="zh-CN" altLang="en-US" dirty="0"/>
              <a:t>函数的端点称为 </a:t>
            </a:r>
            <a:r>
              <a:rPr lang="en-US" altLang="zh-CN" dirty="0"/>
              <a:t>socket</a:t>
            </a:r>
            <a:r>
              <a:rPr lang="zh-CN" altLang="en-US" dirty="0"/>
              <a:t>。</a:t>
            </a:r>
          </a:p>
          <a:p>
            <a:r>
              <a:rPr lang="zh-CN" altLang="en-US" dirty="0"/>
              <a:t>调用 </a:t>
            </a:r>
            <a:r>
              <a:rPr lang="en-US" altLang="zh-CN" dirty="0"/>
              <a:t>socket </a:t>
            </a:r>
            <a:r>
              <a:rPr lang="zh-CN" altLang="en-US" dirty="0"/>
              <a:t>函数时其返回值称为 </a:t>
            </a:r>
            <a:r>
              <a:rPr lang="en-US" altLang="zh-CN" dirty="0"/>
              <a:t>socket </a:t>
            </a:r>
            <a:r>
              <a:rPr lang="zh-CN" altLang="en-US" dirty="0"/>
              <a:t>描述符，可简称为 </a:t>
            </a:r>
            <a:r>
              <a:rPr lang="en-US" altLang="zh-CN" dirty="0"/>
              <a:t>socket</a:t>
            </a:r>
            <a:r>
              <a:rPr lang="zh-CN" altLang="en-US" dirty="0"/>
              <a:t>。</a:t>
            </a:r>
          </a:p>
          <a:p>
            <a:r>
              <a:rPr lang="zh-CN" altLang="en-US" dirty="0"/>
              <a:t>在操作系统内核中连网协议的 </a:t>
            </a:r>
            <a:r>
              <a:rPr lang="en-US" altLang="zh-CN" dirty="0"/>
              <a:t>Berkeley </a:t>
            </a:r>
            <a:r>
              <a:rPr lang="zh-CN" altLang="en-US" dirty="0"/>
              <a:t>实现，称为 </a:t>
            </a:r>
            <a:r>
              <a:rPr lang="en-US" altLang="zh-CN" dirty="0"/>
              <a:t>socket </a:t>
            </a:r>
            <a:r>
              <a:rPr lang="zh-CN" altLang="en-US" dirty="0"/>
              <a:t>实现。 </a:t>
            </a:r>
          </a:p>
          <a:p>
            <a:endParaRPr lang="zh-CN" altLang="en-US" dirty="0"/>
          </a:p>
        </p:txBody>
      </p:sp>
      <p:sp>
        <p:nvSpPr>
          <p:cNvPr id="8" name="标题 7">
            <a:extLst>
              <a:ext uri="{FF2B5EF4-FFF2-40B4-BE49-F238E27FC236}">
                <a16:creationId xmlns:a16="http://schemas.microsoft.com/office/drawing/2014/main" id="{34E9A2E4-9646-BA03-06F7-AA91F3BD847E}"/>
              </a:ext>
            </a:extLst>
          </p:cNvPr>
          <p:cNvSpPr>
            <a:spLocks noGrp="1"/>
          </p:cNvSpPr>
          <p:nvPr>
            <p:ph type="title"/>
          </p:nvPr>
        </p:nvSpPr>
        <p:spPr>
          <a:xfrm>
            <a:off x="486000" y="550723"/>
            <a:ext cx="8172000" cy="338554"/>
          </a:xfrm>
          <a:prstGeom prst="rect">
            <a:avLst/>
          </a:prstGeom>
        </p:spPr>
        <p:txBody>
          <a:bodyPr/>
          <a:lstStyle/>
          <a:p>
            <a:r>
              <a:rPr lang="en-US" altLang="zh-CN" dirty="0"/>
              <a:t>Socket </a:t>
            </a:r>
            <a:r>
              <a:rPr lang="zh-CN" altLang="en-US" dirty="0"/>
              <a:t>有多种不同的意思</a:t>
            </a:r>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D8CA39D5-B03B-BE8F-2C31-5D69B12E4A8B}"/>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2BB0445-EE77-1E9E-3281-8A32A1516A74}"/>
              </a:ext>
            </a:extLst>
          </p:cNvPr>
          <p:cNvSpPr>
            <a:spLocks noGrp="1"/>
          </p:cNvSpPr>
          <p:nvPr>
            <p:ph type="title"/>
          </p:nvPr>
        </p:nvSpPr>
        <p:spPr>
          <a:xfrm>
            <a:off x="486000" y="550723"/>
            <a:ext cx="8172000" cy="338554"/>
          </a:xfrm>
          <a:prstGeom prst="rect">
            <a:avLst/>
          </a:prstGeom>
        </p:spPr>
        <p:txBody>
          <a:bodyPr/>
          <a:lstStyle/>
          <a:p>
            <a:r>
              <a:rPr lang="en-US" altLang="zh-CN" dirty="0"/>
              <a:t>IP </a:t>
            </a:r>
            <a:r>
              <a:rPr lang="zh-CN" altLang="en-US" dirty="0"/>
              <a:t>网络提供的是不可靠的传输</a:t>
            </a:r>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91D78E3D-958A-FE73-DC77-C51B2AE4032F}"/>
              </a:ext>
            </a:extLst>
          </p:cNvPr>
          <p:cNvSpPr>
            <a:spLocks noGrp="1"/>
          </p:cNvSpPr>
          <p:nvPr>
            <p:ph sz="quarter" idx="11"/>
          </p:nvPr>
        </p:nvSpPr>
        <p:spPr>
          <a:xfrm>
            <a:off x="486000" y="900000"/>
            <a:ext cx="8172000" cy="3703500"/>
          </a:xfrm>
        </p:spPr>
        <p:txBody>
          <a:bodyPr/>
          <a:lstStyle/>
          <a:p>
            <a:r>
              <a:rPr lang="zh-CN" altLang="en-US" dirty="0"/>
              <a:t>传输信道不产生差错。</a:t>
            </a:r>
          </a:p>
          <a:p>
            <a:r>
              <a:rPr lang="zh-CN" altLang="en-US" dirty="0"/>
              <a:t>不管发送方以多快的速度发送数据，接收方总是来得及处理收到的数据。</a:t>
            </a:r>
          </a:p>
          <a:p>
            <a:endParaRPr lang="zh-CN" altLang="en-US" dirty="0"/>
          </a:p>
        </p:txBody>
      </p:sp>
      <p:sp>
        <p:nvSpPr>
          <p:cNvPr id="6" name="标题 5">
            <a:extLst>
              <a:ext uri="{FF2B5EF4-FFF2-40B4-BE49-F238E27FC236}">
                <a16:creationId xmlns:a16="http://schemas.microsoft.com/office/drawing/2014/main" id="{107FC477-53B5-78BF-0B0F-D0BAE613228C}"/>
              </a:ext>
            </a:extLst>
          </p:cNvPr>
          <p:cNvSpPr>
            <a:spLocks noGrp="1"/>
          </p:cNvSpPr>
          <p:nvPr>
            <p:ph type="title"/>
          </p:nvPr>
        </p:nvSpPr>
        <p:spPr>
          <a:xfrm>
            <a:off x="486000" y="550723"/>
            <a:ext cx="8172000" cy="338554"/>
          </a:xfrm>
          <a:prstGeom prst="rect">
            <a:avLst/>
          </a:prstGeom>
        </p:spPr>
        <p:txBody>
          <a:bodyPr/>
          <a:lstStyle/>
          <a:p>
            <a:r>
              <a:rPr lang="zh-CN" altLang="en-US" dirty="0"/>
              <a:t>理想传输条件的特点</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206B22E-8477-46A2-B12E-4312E3C00CFE}"/>
              </a:ext>
            </a:extLst>
          </p:cNvPr>
          <p:cNvSpPr>
            <a:spLocks noGrp="1"/>
          </p:cNvSpPr>
          <p:nvPr>
            <p:ph sz="quarter" idx="11"/>
          </p:nvPr>
        </p:nvSpPr>
        <p:spPr>
          <a:xfrm>
            <a:off x="486000" y="900000"/>
            <a:ext cx="8172000" cy="3703500"/>
          </a:xfrm>
        </p:spPr>
        <p:txBody>
          <a:bodyPr/>
          <a:lstStyle/>
          <a:p>
            <a:r>
              <a:rPr lang="zh-CN" altLang="en-US" dirty="0"/>
              <a:t>每发送完一个分组就停止发送，等待对方的确认。在收到确认后再发送下一个分组。</a:t>
            </a:r>
          </a:p>
          <a:p>
            <a:r>
              <a:rPr lang="zh-CN" altLang="en-US" dirty="0"/>
              <a:t>全双工通信的双方既是发送方也是接收方。</a:t>
            </a:r>
          </a:p>
          <a:p>
            <a:r>
              <a:rPr lang="zh-CN" altLang="en-US" dirty="0"/>
              <a:t>假设仅考虑 </a:t>
            </a:r>
            <a:r>
              <a:rPr lang="en-US" altLang="zh-CN" dirty="0"/>
              <a:t>A </a:t>
            </a:r>
            <a:r>
              <a:rPr lang="zh-CN" altLang="en-US" dirty="0"/>
              <a:t>发送数据，而 </a:t>
            </a:r>
            <a:r>
              <a:rPr lang="en-US" altLang="zh-CN" dirty="0"/>
              <a:t>B </a:t>
            </a:r>
            <a:r>
              <a:rPr lang="zh-CN" altLang="en-US" dirty="0"/>
              <a:t>接收数据并发送确认。因此 </a:t>
            </a:r>
            <a:r>
              <a:rPr lang="en-US" altLang="zh-CN" dirty="0"/>
              <a:t>A </a:t>
            </a:r>
            <a:r>
              <a:rPr lang="zh-CN" altLang="en-US" dirty="0"/>
              <a:t>叫做发送方，而 </a:t>
            </a:r>
            <a:r>
              <a:rPr lang="en-US" altLang="zh-CN" dirty="0"/>
              <a:t>B </a:t>
            </a:r>
            <a:r>
              <a:rPr lang="zh-CN" altLang="en-US" dirty="0"/>
              <a:t>叫做接收方。</a:t>
            </a:r>
          </a:p>
          <a:p>
            <a:endParaRPr lang="zh-CN" altLang="en-US" dirty="0"/>
          </a:p>
        </p:txBody>
      </p:sp>
      <p:sp>
        <p:nvSpPr>
          <p:cNvPr id="5" name="标题 4">
            <a:extLst>
              <a:ext uri="{FF2B5EF4-FFF2-40B4-BE49-F238E27FC236}">
                <a16:creationId xmlns:a16="http://schemas.microsoft.com/office/drawing/2014/main" id="{EAD1EDDE-D6E3-9CE3-4A21-F13876C217C2}"/>
              </a:ext>
            </a:extLst>
          </p:cNvPr>
          <p:cNvSpPr>
            <a:spLocks noGrp="1"/>
          </p:cNvSpPr>
          <p:nvPr>
            <p:ph type="title"/>
          </p:nvPr>
        </p:nvSpPr>
        <p:spPr>
          <a:xfrm>
            <a:off x="486000" y="550723"/>
            <a:ext cx="8172000" cy="338554"/>
          </a:xfrm>
        </p:spPr>
        <p:txBody>
          <a:bodyPr/>
          <a:lstStyle/>
          <a:p>
            <a:r>
              <a:rPr lang="en-US" altLang="zh-CN" dirty="0"/>
              <a:t>5.4.1  </a:t>
            </a:r>
            <a:r>
              <a:rPr lang="zh-CN" altLang="en-US" dirty="0"/>
              <a:t>停止等待协议</a:t>
            </a: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ext Box 155"/>
          <p:cNvSpPr txBox="1">
            <a:spLocks noChangeArrowheads="1"/>
          </p:cNvSpPr>
          <p:nvPr/>
        </p:nvSpPr>
        <p:spPr bwMode="auto">
          <a:xfrm>
            <a:off x="6145420" y="3372327"/>
            <a:ext cx="2922380" cy="137473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sp>
        <p:nvSpPr>
          <p:cNvPr id="68" name="Freeform 17"/>
          <p:cNvSpPr>
            <a:spLocks/>
          </p:cNvSpPr>
          <p:nvPr/>
        </p:nvSpPr>
        <p:spPr bwMode="auto">
          <a:xfrm>
            <a:off x="3104636" y="1473745"/>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9" name="AutoShape 18"/>
          <p:cNvSpPr>
            <a:spLocks noChangeArrowheads="1"/>
          </p:cNvSpPr>
          <p:nvPr/>
        </p:nvSpPr>
        <p:spPr bwMode="auto">
          <a:xfrm rot="480000">
            <a:off x="3961075"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0" name="Rectangle 19"/>
          <p:cNvSpPr>
            <a:spLocks noChangeArrowheads="1"/>
          </p:cNvSpPr>
          <p:nvPr/>
        </p:nvSpPr>
        <p:spPr bwMode="auto">
          <a:xfrm rot="540000">
            <a:off x="3356252"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72" name="Freeform 21"/>
          <p:cNvSpPr>
            <a:spLocks/>
          </p:cNvSpPr>
          <p:nvPr/>
        </p:nvSpPr>
        <p:spPr bwMode="auto">
          <a:xfrm>
            <a:off x="3103455" y="2458943"/>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3" name="AutoShape 22"/>
          <p:cNvSpPr>
            <a:spLocks noChangeArrowheads="1"/>
          </p:cNvSpPr>
          <p:nvPr/>
        </p:nvSpPr>
        <p:spPr bwMode="auto">
          <a:xfrm rot="480000">
            <a:off x="3959894"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4" name="Rectangle 23"/>
          <p:cNvSpPr>
            <a:spLocks noChangeArrowheads="1"/>
          </p:cNvSpPr>
          <p:nvPr/>
        </p:nvSpPr>
        <p:spPr bwMode="auto">
          <a:xfrm rot="540000">
            <a:off x="3344439" y="2573529"/>
            <a:ext cx="385102"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sp>
        <p:nvSpPr>
          <p:cNvPr id="76" name="Line 26"/>
          <p:cNvSpPr>
            <a:spLocks noChangeShapeType="1"/>
          </p:cNvSpPr>
          <p:nvPr/>
        </p:nvSpPr>
        <p:spPr bwMode="auto">
          <a:xfrm flipH="1">
            <a:off x="3114893" y="214472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rot="21169770">
            <a:off x="3331126" y="2030135"/>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79" name="Line 29"/>
          <p:cNvSpPr>
            <a:spLocks noChangeShapeType="1"/>
          </p:cNvSpPr>
          <p:nvPr/>
        </p:nvSpPr>
        <p:spPr bwMode="auto">
          <a:xfrm flipH="1">
            <a:off x="3105443" y="317953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0" name="Text Box 30"/>
          <p:cNvSpPr txBox="1">
            <a:spLocks noChangeArrowheads="1"/>
          </p:cNvSpPr>
          <p:nvPr/>
        </p:nvSpPr>
        <p:spPr bwMode="auto">
          <a:xfrm rot="21169770">
            <a:off x="3321676" y="3059038"/>
            <a:ext cx="608011" cy="276423"/>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2</a:t>
            </a:r>
          </a:p>
        </p:txBody>
      </p:sp>
      <p:grpSp>
        <p:nvGrpSpPr>
          <p:cNvPr id="81" name="Group 33"/>
          <p:cNvGrpSpPr>
            <a:grpSpLocks/>
          </p:cNvGrpSpPr>
          <p:nvPr/>
        </p:nvGrpSpPr>
        <p:grpSpPr bwMode="auto">
          <a:xfrm>
            <a:off x="461865"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461865"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90" name="Line 4"/>
          <p:cNvSpPr>
            <a:spLocks noChangeShapeType="1"/>
          </p:cNvSpPr>
          <p:nvPr/>
        </p:nvSpPr>
        <p:spPr bwMode="auto">
          <a:xfrm>
            <a:off x="3105911" y="1374516"/>
            <a:ext cx="0" cy="236613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1" name="Line 5"/>
          <p:cNvSpPr>
            <a:spLocks noChangeShapeType="1"/>
          </p:cNvSpPr>
          <p:nvPr/>
        </p:nvSpPr>
        <p:spPr bwMode="auto">
          <a:xfrm>
            <a:off x="4467756" y="1374516"/>
            <a:ext cx="0" cy="2351954"/>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33" name="Group 33"/>
          <p:cNvGrpSpPr>
            <a:grpSpLocks/>
          </p:cNvGrpSpPr>
          <p:nvPr/>
        </p:nvGrpSpPr>
        <p:grpSpPr bwMode="auto">
          <a:xfrm>
            <a:off x="461865"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36" name="Rectangle 38"/>
          <p:cNvSpPr>
            <a:spLocks noChangeArrowheads="1"/>
          </p:cNvSpPr>
          <p:nvPr/>
        </p:nvSpPr>
        <p:spPr bwMode="auto">
          <a:xfrm>
            <a:off x="293413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37" name="Rectangle 39"/>
          <p:cNvSpPr>
            <a:spLocks noChangeArrowheads="1"/>
          </p:cNvSpPr>
          <p:nvPr/>
        </p:nvSpPr>
        <p:spPr bwMode="auto">
          <a:xfrm>
            <a:off x="4306259"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5" name="标题 4">
            <a:extLst>
              <a:ext uri="{FF2B5EF4-FFF2-40B4-BE49-F238E27FC236}">
                <a16:creationId xmlns:a16="http://schemas.microsoft.com/office/drawing/2014/main" id="{004129B5-641B-2FE1-8CE5-DAAFEC634604}"/>
              </a:ext>
            </a:extLst>
          </p:cNvPr>
          <p:cNvSpPr>
            <a:spLocks noGrp="1"/>
          </p:cNvSpPr>
          <p:nvPr>
            <p:ph type="title"/>
          </p:nvPr>
        </p:nvSpPr>
        <p:spPr>
          <a:prstGeom prst="rect">
            <a:avLst/>
          </a:prstGeom>
        </p:spPr>
        <p:txBody>
          <a:bodyPr/>
          <a:lstStyle/>
          <a:p>
            <a:r>
              <a:rPr lang="en-US" altLang="zh-CN" dirty="0"/>
              <a:t>1. </a:t>
            </a:r>
            <a:r>
              <a:rPr lang="zh-CN" altLang="en-US" dirty="0"/>
              <a:t>无差</a:t>
            </a:r>
            <a:r>
              <a:rPr lang="en-US" altLang="zh-CN" dirty="0"/>
              <a:t>a</a:t>
            </a:r>
            <a:r>
              <a:rPr lang="zh-CN" altLang="en-US" dirty="0"/>
              <a:t>错情况</a:t>
            </a:r>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1000"/>
                                        <p:tgtEl>
                                          <p:spTgt spid="81"/>
                                        </p:tgtEl>
                                      </p:cBhvr>
                                    </p:animEffect>
                                  </p:childTnLst>
                                </p:cTn>
                              </p:par>
                            </p:childTnLst>
                          </p:cTn>
                        </p:par>
                        <p:par>
                          <p:cTn id="8" fill="hold">
                            <p:stCondLst>
                              <p:cond delay="1000"/>
                            </p:stCondLst>
                            <p:childTnLst>
                              <p:par>
                                <p:cTn id="9" presetID="22" presetClass="entr" presetSubtype="8" fill="hold" nodeType="afterEffect">
                                  <p:stCondLst>
                                    <p:cond delay="1000"/>
                                  </p:stCondLst>
                                  <p:childTnLst>
                                    <p:set>
                                      <p:cBhvr>
                                        <p:cTn id="10" dur="1" fill="hold">
                                          <p:stCondLst>
                                            <p:cond delay="0"/>
                                          </p:stCondLst>
                                        </p:cTn>
                                        <p:tgtEl>
                                          <p:spTgt spid="84"/>
                                        </p:tgtEl>
                                        <p:attrNameLst>
                                          <p:attrName>style.visibility</p:attrName>
                                        </p:attrNameLst>
                                      </p:cBhvr>
                                      <p:to>
                                        <p:strVal val="visible"/>
                                      </p:to>
                                    </p:set>
                                    <p:animEffect transition="in" filter="wipe(left)">
                                      <p:cBhvr>
                                        <p:cTn id="11" dur="1000"/>
                                        <p:tgtEl>
                                          <p:spTgt spid="84"/>
                                        </p:tgtEl>
                                      </p:cBhvr>
                                    </p:animEffect>
                                  </p:childTnLst>
                                </p:cTn>
                              </p:par>
                            </p:childTnLst>
                          </p:cTn>
                        </p:par>
                        <p:par>
                          <p:cTn id="12" fill="hold">
                            <p:stCondLst>
                              <p:cond delay="3000"/>
                            </p:stCondLst>
                            <p:childTnLst>
                              <p:par>
                                <p:cTn id="13" presetID="2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left)">
                                      <p:cBhvr>
                                        <p:cTn id="15" dur="1000"/>
                                        <p:tgtEl>
                                          <p:spTgt spid="3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6"/>
                                        </p:tgtEl>
                                        <p:attrNameLst>
                                          <p:attrName>style.visibility</p:attrName>
                                        </p:attrNameLst>
                                      </p:cBhvr>
                                      <p:to>
                                        <p:strVal val="visible"/>
                                      </p:to>
                                    </p:set>
                                    <p:animEffect transition="in" filter="fade">
                                      <p:cBhvr>
                                        <p:cTn id="20"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D9A1A526-0B06-535D-9FC0-F4F43FB8E596}"/>
              </a:ext>
            </a:extLst>
          </p:cNvPr>
          <p:cNvSpPr>
            <a:spLocks noGrp="1"/>
          </p:cNvSpPr>
          <p:nvPr>
            <p:ph sz="quarter" idx="11"/>
          </p:nvPr>
        </p:nvSpPr>
        <p:spPr>
          <a:xfrm>
            <a:off x="486000" y="900000"/>
            <a:ext cx="8172000" cy="3703500"/>
          </a:xfrm>
        </p:spPr>
        <p:txBody>
          <a:bodyPr/>
          <a:lstStyle/>
          <a:p>
            <a:r>
              <a:rPr lang="zh-CN" altLang="en-US" dirty="0"/>
              <a:t>两种情况：</a:t>
            </a:r>
          </a:p>
          <a:p>
            <a:r>
              <a:rPr lang="en-US" altLang="zh-CN" dirty="0"/>
              <a:t>B </a:t>
            </a:r>
            <a:r>
              <a:rPr lang="zh-CN" altLang="en-US" dirty="0"/>
              <a:t>接收 </a:t>
            </a:r>
            <a:r>
              <a:rPr lang="en-US" altLang="zh-CN" dirty="0"/>
              <a:t>M1 </a:t>
            </a:r>
            <a:r>
              <a:rPr lang="zh-CN" altLang="en-US" dirty="0"/>
              <a:t>时检测出了差错，就丢弃 </a:t>
            </a:r>
            <a:r>
              <a:rPr lang="en-US" altLang="zh-CN" dirty="0"/>
              <a:t>M1</a:t>
            </a:r>
            <a:r>
              <a:rPr lang="zh-CN" altLang="en-US" dirty="0"/>
              <a:t>，其他什么也不做（不通知 </a:t>
            </a:r>
            <a:r>
              <a:rPr lang="en-US" altLang="zh-CN" dirty="0"/>
              <a:t>A </a:t>
            </a:r>
            <a:r>
              <a:rPr lang="zh-CN" altLang="en-US" dirty="0"/>
              <a:t>收到有差错的分组）。</a:t>
            </a:r>
          </a:p>
          <a:p>
            <a:r>
              <a:rPr lang="en-US" altLang="zh-CN" dirty="0"/>
              <a:t>M1 </a:t>
            </a:r>
            <a:r>
              <a:rPr lang="zh-CN" altLang="en-US" dirty="0"/>
              <a:t>在传输过程中丢失了，这时 </a:t>
            </a:r>
            <a:r>
              <a:rPr lang="en-US" altLang="zh-CN" dirty="0"/>
              <a:t>B </a:t>
            </a:r>
            <a:r>
              <a:rPr lang="zh-CN" altLang="en-US" dirty="0"/>
              <a:t>当然什么都不知道，也什么都不做。</a:t>
            </a:r>
          </a:p>
          <a:p>
            <a:endParaRPr lang="en-US" altLang="zh-CN" dirty="0"/>
          </a:p>
          <a:p>
            <a:r>
              <a:rPr lang="zh-CN" altLang="en-US" dirty="0"/>
              <a:t>在这两种情况下，</a:t>
            </a:r>
            <a:r>
              <a:rPr lang="en-US" altLang="zh-CN" dirty="0"/>
              <a:t>B </a:t>
            </a:r>
            <a:r>
              <a:rPr lang="zh-CN" altLang="en-US" dirty="0"/>
              <a:t>都不会发送任何信息。</a:t>
            </a:r>
            <a:endParaRPr lang="en-US" altLang="zh-CN" dirty="0"/>
          </a:p>
          <a:p>
            <a:endParaRPr lang="zh-CN" altLang="en-US" dirty="0"/>
          </a:p>
        </p:txBody>
      </p:sp>
      <p:sp>
        <p:nvSpPr>
          <p:cNvPr id="7" name="标题 6">
            <a:extLst>
              <a:ext uri="{FF2B5EF4-FFF2-40B4-BE49-F238E27FC236}">
                <a16:creationId xmlns:a16="http://schemas.microsoft.com/office/drawing/2014/main" id="{12056353-546F-4B15-319C-66934627137C}"/>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14E6C818-0020-D109-3162-311C9ED10A49}"/>
              </a:ext>
            </a:extLst>
          </p:cNvPr>
          <p:cNvSpPr>
            <a:spLocks noGrp="1"/>
          </p:cNvSpPr>
          <p:nvPr>
            <p:ph sz="quarter" idx="11"/>
          </p:nvPr>
        </p:nvSpPr>
        <p:spPr>
          <a:xfrm>
            <a:off x="486000" y="900000"/>
            <a:ext cx="8172000" cy="3703500"/>
          </a:xfrm>
        </p:spPr>
        <p:txBody>
          <a:bodyPr/>
          <a:lstStyle/>
          <a:p>
            <a:r>
              <a:rPr lang="zh-CN" altLang="en-US" dirty="0"/>
              <a:t>问题：</a:t>
            </a:r>
            <a:r>
              <a:rPr lang="en-US" altLang="zh-CN" dirty="0"/>
              <a:t>A </a:t>
            </a:r>
            <a:r>
              <a:rPr lang="zh-CN" altLang="en-US" dirty="0"/>
              <a:t>如何知道 </a:t>
            </a:r>
            <a:r>
              <a:rPr lang="en-US" altLang="zh-CN" dirty="0"/>
              <a:t>B </a:t>
            </a:r>
            <a:r>
              <a:rPr lang="zh-CN" altLang="en-US" dirty="0"/>
              <a:t>是否正确收到了 </a:t>
            </a:r>
            <a:r>
              <a:rPr lang="en-US" altLang="zh-CN" dirty="0"/>
              <a:t>M1 </a:t>
            </a:r>
            <a:r>
              <a:rPr lang="zh-CN" altLang="en-US" dirty="0"/>
              <a:t>呢？</a:t>
            </a:r>
          </a:p>
          <a:p>
            <a:r>
              <a:rPr lang="zh-CN" altLang="en-US" dirty="0"/>
              <a:t>解决方法：超时重传</a:t>
            </a:r>
          </a:p>
          <a:p>
            <a:r>
              <a:rPr lang="en-US" altLang="zh-CN" dirty="0"/>
              <a:t>A </a:t>
            </a:r>
            <a:r>
              <a:rPr lang="zh-CN" altLang="en-US" dirty="0"/>
              <a:t>为每一个已发送的分组设置一个超时计时器。</a:t>
            </a:r>
          </a:p>
          <a:p>
            <a:r>
              <a:rPr lang="en-US" altLang="zh-CN" dirty="0"/>
              <a:t>A </a:t>
            </a:r>
            <a:r>
              <a:rPr lang="zh-CN" altLang="en-US" dirty="0"/>
              <a:t>只要在超时计时器到期之前收到了相应的确认，就撤销该超时计时器，继续发送下一个分组 </a:t>
            </a:r>
            <a:r>
              <a:rPr lang="en-US" altLang="zh-CN" dirty="0"/>
              <a:t>M2 </a:t>
            </a:r>
            <a:r>
              <a:rPr lang="zh-CN" altLang="en-US" dirty="0"/>
              <a:t>。</a:t>
            </a:r>
            <a:endParaRPr lang="en-US" altLang="zh-CN" dirty="0"/>
          </a:p>
          <a:p>
            <a:r>
              <a:rPr lang="zh-CN" altLang="en-US" dirty="0"/>
              <a:t>若 </a:t>
            </a:r>
            <a:r>
              <a:rPr lang="en-US" altLang="zh-CN" dirty="0"/>
              <a:t>A </a:t>
            </a:r>
            <a:r>
              <a:rPr lang="zh-CN" altLang="en-US" dirty="0"/>
              <a:t>在超时计时器规定时间内没有收到 </a:t>
            </a:r>
            <a:r>
              <a:rPr lang="en-US" altLang="zh-CN" dirty="0"/>
              <a:t>B </a:t>
            </a:r>
            <a:r>
              <a:rPr lang="zh-CN" altLang="en-US" dirty="0"/>
              <a:t>的确认，就认为分组错误或丢失，就重发该分组。</a:t>
            </a:r>
            <a:endParaRPr lang="en-US" altLang="zh-CN" dirty="0"/>
          </a:p>
          <a:p>
            <a:endParaRPr lang="zh-CN" altLang="en-US" dirty="0"/>
          </a:p>
        </p:txBody>
      </p:sp>
      <p:sp>
        <p:nvSpPr>
          <p:cNvPr id="7" name="标题 6">
            <a:extLst>
              <a:ext uri="{FF2B5EF4-FFF2-40B4-BE49-F238E27FC236}">
                <a16:creationId xmlns:a16="http://schemas.microsoft.com/office/drawing/2014/main" id="{18138565-1739-2FB1-7248-BB36B7BA41DB}"/>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 Box 28"/>
          <p:cNvSpPr txBox="1">
            <a:spLocks noChangeArrowheads="1"/>
          </p:cNvSpPr>
          <p:nvPr/>
        </p:nvSpPr>
        <p:spPr bwMode="auto">
          <a:xfrm>
            <a:off x="2565148" y="419845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Montserrat" panose="00000500000000000000" pitchFamily="2" charset="0"/>
                <a:ea typeface="微软雅黑 Light" panose="020B0502040204020203" pitchFamily="34" charset="-122"/>
              </a:rPr>
              <a:t>分组错误</a:t>
            </a:r>
          </a:p>
        </p:txBody>
      </p:sp>
      <p:sp>
        <p:nvSpPr>
          <p:cNvPr id="38" name="Line 36"/>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9" name="Line 37"/>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0" name="Rectangle 38"/>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41" name="Rectangle 39"/>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a:latin typeface="Montserrat" panose="00000500000000000000" pitchFamily="2" charset="0"/>
                <a:ea typeface="微软雅黑 Light" panose="020B0502040204020203" pitchFamily="34" charset="-122"/>
              </a:rPr>
              <a:t>B</a:t>
            </a:r>
          </a:p>
        </p:txBody>
      </p:sp>
      <p:sp>
        <p:nvSpPr>
          <p:cNvPr id="43" name="Freeform 41"/>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4" name="AutoShape 42"/>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5" name="Rectangle 43"/>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47" name="Freeform 45"/>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8" name="AutoShape 46"/>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9" name="Rectangle 47"/>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51" name="Line 52"/>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2" name="Text Box 53"/>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54" name="AutoShape 60"/>
          <p:cNvSpPr>
            <a:spLocks noChangeArrowheads="1"/>
          </p:cNvSpPr>
          <p:nvPr/>
        </p:nvSpPr>
        <p:spPr bwMode="auto">
          <a:xfrm>
            <a:off x="3421520" y="1941161"/>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7" name="AutoShape 26"/>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Text Box 27"/>
          <p:cNvSpPr txBox="1">
            <a:spLocks noChangeArrowheads="1"/>
          </p:cNvSpPr>
          <p:nvPr/>
        </p:nvSpPr>
        <p:spPr bwMode="auto">
          <a:xfrm>
            <a:off x="525584" y="1644075"/>
            <a:ext cx="46296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nvGrpSpPr>
          <p:cNvPr id="59" name="组合 58"/>
          <p:cNvGrpSpPr/>
          <p:nvPr/>
        </p:nvGrpSpPr>
        <p:grpSpPr>
          <a:xfrm>
            <a:off x="6402443" y="1572080"/>
            <a:ext cx="1159152" cy="2259658"/>
            <a:chOff x="6885560" y="1647602"/>
            <a:chExt cx="1840305" cy="3179763"/>
          </a:xfrm>
        </p:grpSpPr>
        <p:sp>
          <p:nvSpPr>
            <p:cNvPr id="60" name="Line 4"/>
            <p:cNvSpPr>
              <a:spLocks noChangeShapeType="1"/>
            </p:cNvSpPr>
            <p:nvPr/>
          </p:nvSpPr>
          <p:spPr bwMode="auto">
            <a:xfrm>
              <a:off x="6885560"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Line 5"/>
            <p:cNvSpPr>
              <a:spLocks noChangeShapeType="1"/>
            </p:cNvSpPr>
            <p:nvPr/>
          </p:nvSpPr>
          <p:spPr bwMode="auto">
            <a:xfrm>
              <a:off x="8725865" y="1647602"/>
              <a:ext cx="0" cy="316071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62" name="Rectangle 6"/>
          <p:cNvSpPr>
            <a:spLocks noChangeArrowheads="1"/>
          </p:cNvSpPr>
          <p:nvPr/>
        </p:nvSpPr>
        <p:spPr bwMode="auto">
          <a:xfrm>
            <a:off x="6280577" y="1242748"/>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63" name="Rectangle 7"/>
          <p:cNvSpPr>
            <a:spLocks noChangeArrowheads="1"/>
          </p:cNvSpPr>
          <p:nvPr/>
        </p:nvSpPr>
        <p:spPr bwMode="auto">
          <a:xfrm>
            <a:off x="7455482" y="1242748"/>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64" name="Group 8"/>
          <p:cNvGrpSpPr>
            <a:grpSpLocks/>
          </p:cNvGrpSpPr>
          <p:nvPr/>
        </p:nvGrpSpPr>
        <p:grpSpPr bwMode="auto">
          <a:xfrm>
            <a:off x="6404567" y="1656074"/>
            <a:ext cx="1071912" cy="489960"/>
            <a:chOff x="3769" y="1868"/>
            <a:chExt cx="1072" cy="490"/>
          </a:xfrm>
        </p:grpSpPr>
        <p:sp>
          <p:nvSpPr>
            <p:cNvPr id="65" name="Freeform 9"/>
            <p:cNvSpPr>
              <a:spLocks/>
            </p:cNvSpPr>
            <p:nvPr/>
          </p:nvSpPr>
          <p:spPr bwMode="auto">
            <a:xfrm>
              <a:off x="3769" y="1868"/>
              <a:ext cx="1072"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6" name="AutoShape 10"/>
            <p:cNvSpPr>
              <a:spLocks noChangeArrowheads="1"/>
            </p:cNvSpPr>
            <p:nvPr/>
          </p:nvSpPr>
          <p:spPr bwMode="auto">
            <a:xfrm rot="480000">
              <a:off x="4521"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11"/>
            <p:cNvSpPr>
              <a:spLocks noChangeArrowheads="1"/>
            </p:cNvSpPr>
            <p:nvPr/>
          </p:nvSpPr>
          <p:spPr bwMode="auto">
            <a:xfrm rot="540000">
              <a:off x="3968" y="1941"/>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8" name="Group 12"/>
          <p:cNvGrpSpPr>
            <a:grpSpLocks/>
          </p:cNvGrpSpPr>
          <p:nvPr/>
        </p:nvGrpSpPr>
        <p:grpSpPr bwMode="auto">
          <a:xfrm>
            <a:off x="6403567" y="2585997"/>
            <a:ext cx="1155905" cy="489960"/>
            <a:chOff x="3439" y="3564"/>
            <a:chExt cx="1156" cy="490"/>
          </a:xfrm>
        </p:grpSpPr>
        <p:sp>
          <p:nvSpPr>
            <p:cNvPr id="69" name="Freeform 13"/>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0" name="AutoShape 14"/>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Rectangle 15"/>
            <p:cNvSpPr>
              <a:spLocks noChangeArrowheads="1"/>
            </p:cNvSpPr>
            <p:nvPr/>
          </p:nvSpPr>
          <p:spPr bwMode="auto">
            <a:xfrm rot="540000">
              <a:off x="3642"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72" name="Text Box 16"/>
          <p:cNvSpPr txBox="1">
            <a:spLocks noChangeArrowheads="1"/>
          </p:cNvSpPr>
          <p:nvPr/>
        </p:nvSpPr>
        <p:spPr bwMode="auto">
          <a:xfrm>
            <a:off x="6557173"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分组丢失</a:t>
            </a:r>
          </a:p>
        </p:txBody>
      </p:sp>
      <p:grpSp>
        <p:nvGrpSpPr>
          <p:cNvPr id="73" name="Group 17"/>
          <p:cNvGrpSpPr>
            <a:grpSpLocks/>
          </p:cNvGrpSpPr>
          <p:nvPr/>
        </p:nvGrpSpPr>
        <p:grpSpPr bwMode="auto">
          <a:xfrm>
            <a:off x="6386568" y="3045962"/>
            <a:ext cx="1176904" cy="350972"/>
            <a:chOff x="2012" y="2265"/>
            <a:chExt cx="1177" cy="351"/>
          </a:xfrm>
        </p:grpSpPr>
        <p:sp>
          <p:nvSpPr>
            <p:cNvPr id="74" name="Line 18"/>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Text Box 19"/>
            <p:cNvSpPr txBox="1">
              <a:spLocks noChangeArrowheads="1"/>
            </p:cNvSpPr>
            <p:nvPr/>
          </p:nvSpPr>
          <p:spPr bwMode="auto">
            <a:xfrm rot="21169770">
              <a:off x="2147" y="2265"/>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endParaRPr kumimoji="0" lang="en-US" altLang="zh-CN" sz="1400" b="1" dirty="0">
                <a:latin typeface="微软雅黑" pitchFamily="34" charset="-122"/>
                <a:ea typeface="微软雅黑" pitchFamily="34" charset="-122"/>
              </a:endParaRPr>
            </a:p>
          </p:txBody>
        </p:sp>
      </p:grpSp>
      <p:sp>
        <p:nvSpPr>
          <p:cNvPr id="76" name="AutoShape 20"/>
          <p:cNvSpPr>
            <a:spLocks noChangeArrowheads="1"/>
          </p:cNvSpPr>
          <p:nvPr/>
        </p:nvSpPr>
        <p:spPr bwMode="auto">
          <a:xfrm>
            <a:off x="7294494" y="1591079"/>
            <a:ext cx="475961" cy="4589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77" name="Text Box 24"/>
          <p:cNvSpPr txBox="1">
            <a:spLocks noChangeArrowheads="1"/>
          </p:cNvSpPr>
          <p:nvPr/>
        </p:nvSpPr>
        <p:spPr bwMode="auto">
          <a:xfrm>
            <a:off x="5472643" y="260699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78" name="Group 25"/>
          <p:cNvGrpSpPr>
            <a:grpSpLocks/>
          </p:cNvGrpSpPr>
          <p:nvPr/>
        </p:nvGrpSpPr>
        <p:grpSpPr bwMode="auto">
          <a:xfrm>
            <a:off x="5823613" y="2000045"/>
            <a:ext cx="502959" cy="583952"/>
            <a:chOff x="3188" y="2204"/>
            <a:chExt cx="503" cy="584"/>
          </a:xfrm>
        </p:grpSpPr>
        <p:sp>
          <p:nvSpPr>
            <p:cNvPr id="79"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sp>
        <p:nvSpPr>
          <p:cNvPr id="82" name="Text Box 31"/>
          <p:cNvSpPr txBox="1">
            <a:spLocks noChangeArrowheads="1"/>
          </p:cNvSpPr>
          <p:nvPr/>
        </p:nvSpPr>
        <p:spPr bwMode="auto">
          <a:xfrm>
            <a:off x="389174" y="1854628"/>
            <a:ext cx="1052534" cy="799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grpSp>
        <p:nvGrpSpPr>
          <p:cNvPr id="84" name="Group 33"/>
          <p:cNvGrpSpPr>
            <a:grpSpLocks/>
          </p:cNvGrpSpPr>
          <p:nvPr/>
        </p:nvGrpSpPr>
        <p:grpSpPr bwMode="auto">
          <a:xfrm>
            <a:off x="4945125" y="1854628"/>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8" name="TextBox 86"/>
          <p:cNvSpPr txBox="1"/>
          <p:nvPr/>
        </p:nvSpPr>
        <p:spPr>
          <a:xfrm>
            <a:off x="7553223" y="2988665"/>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 name="标题 7">
            <a:extLst>
              <a:ext uri="{FF2B5EF4-FFF2-40B4-BE49-F238E27FC236}">
                <a16:creationId xmlns:a16="http://schemas.microsoft.com/office/drawing/2014/main" id="{4A41305C-57A5-CBA6-E7F9-7329568C6DC6}"/>
              </a:ext>
            </a:extLst>
          </p:cNvPr>
          <p:cNvSpPr>
            <a:spLocks noGrp="1"/>
          </p:cNvSpPr>
          <p:nvPr>
            <p:ph type="title"/>
          </p:nvPr>
        </p:nvSpPr>
        <p:spPr>
          <a:prstGeom prst="rect">
            <a:avLst/>
          </a:prstGeom>
        </p:spPr>
        <p:txBody>
          <a:bodyPr/>
          <a:lstStyle/>
          <a:p>
            <a:r>
              <a:rPr lang="en-US" altLang="zh-CN" dirty="0"/>
              <a:t>2. </a:t>
            </a:r>
            <a:r>
              <a:rPr lang="zh-CN" altLang="en-US" dirty="0"/>
              <a:t>出现差错</a:t>
            </a:r>
          </a:p>
        </p:txBody>
      </p:sp>
      <p:pic>
        <p:nvPicPr>
          <p:cNvPr id="3" name="图形 2" descr="时钟">
            <a:extLst>
              <a:ext uri="{FF2B5EF4-FFF2-40B4-BE49-F238E27FC236}">
                <a16:creationId xmlns:a16="http://schemas.microsoft.com/office/drawing/2014/main" id="{30AC21A3-FF3E-7D70-69B0-854E958EE93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4" name="TextBox 86">
            <a:extLst>
              <a:ext uri="{FF2B5EF4-FFF2-40B4-BE49-F238E27FC236}">
                <a16:creationId xmlns:a16="http://schemas.microsoft.com/office/drawing/2014/main" id="{8335279F-3770-8B98-DD9F-1D6A34CE9A76}"/>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5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5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8" fill="hold" nodeType="clickEffect">
                                  <p:stCondLst>
                                    <p:cond delay="2000"/>
                                  </p:stCondLst>
                                  <p:childTnLst>
                                    <p:set>
                                      <p:cBhvr>
                                        <p:cTn id="13" dur="1" fill="hold">
                                          <p:stCondLst>
                                            <p:cond delay="0"/>
                                          </p:stCondLst>
                                        </p:cTn>
                                        <p:tgtEl>
                                          <p:spTgt spid="64"/>
                                        </p:tgtEl>
                                        <p:attrNameLst>
                                          <p:attrName>style.visibility</p:attrName>
                                        </p:attrNameLst>
                                      </p:cBhvr>
                                      <p:to>
                                        <p:strVal val="visible"/>
                                      </p:to>
                                    </p:set>
                                    <p:animEffect transition="in" filter="wipe(left)">
                                      <p:cBhvr>
                                        <p:cTn id="14" dur="2000"/>
                                        <p:tgtEl>
                                          <p:spTgt spid="64"/>
                                        </p:tgtEl>
                                      </p:cBhvr>
                                    </p:animEffect>
                                  </p:childTnLst>
                                </p:cTn>
                              </p:par>
                            </p:childTnLst>
                          </p:cTn>
                        </p:par>
                        <p:par>
                          <p:cTn id="15" fill="hold">
                            <p:stCondLst>
                              <p:cond delay="4000"/>
                            </p:stCondLst>
                            <p:childTnLst>
                              <p:par>
                                <p:cTn id="16" presetID="22" presetClass="entr" presetSubtype="8" fill="hold" nodeType="afterEffect">
                                  <p:stCondLst>
                                    <p:cond delay="0"/>
                                  </p:stCondLst>
                                  <p:childTnLst>
                                    <p:set>
                                      <p:cBhvr>
                                        <p:cTn id="17" dur="1" fill="hold">
                                          <p:stCondLst>
                                            <p:cond delay="0"/>
                                          </p:stCondLst>
                                        </p:cTn>
                                        <p:tgtEl>
                                          <p:spTgt spid="84"/>
                                        </p:tgtEl>
                                        <p:attrNameLst>
                                          <p:attrName>style.visibility</p:attrName>
                                        </p:attrNameLst>
                                      </p:cBhvr>
                                      <p:to>
                                        <p:strVal val="visible"/>
                                      </p:to>
                                    </p:set>
                                    <p:animEffect transition="in" filter="wipe(left)">
                                      <p:cBhvr>
                                        <p:cTn id="18" dur="1000"/>
                                        <p:tgtEl>
                                          <p:spTgt spid="84"/>
                                        </p:tgtEl>
                                      </p:cBhvr>
                                    </p:animEffect>
                                  </p:childTnLst>
                                </p:cTn>
                              </p:par>
                            </p:childTnLst>
                          </p:cTn>
                        </p:par>
                        <p:par>
                          <p:cTn id="19" fill="hold">
                            <p:stCondLst>
                              <p:cond delay="5000"/>
                            </p:stCondLst>
                            <p:childTnLst>
                              <p:par>
                                <p:cTn id="20" presetID="1" presetClass="entr" presetSubtype="0" fill="hold" grpId="0" nodeType="afterEffect">
                                  <p:stCondLst>
                                    <p:cond delay="1000"/>
                                  </p:stCondLst>
                                  <p:childTnLst>
                                    <p:set>
                                      <p:cBhvr>
                                        <p:cTn id="21" dur="1" fill="hold">
                                          <p:stCondLst>
                                            <p:cond delay="0"/>
                                          </p:stCondLst>
                                        </p:cTn>
                                        <p:tgtEl>
                                          <p:spTgt spid="76"/>
                                        </p:tgtEl>
                                        <p:attrNameLst>
                                          <p:attrName>style.visibility</p:attrName>
                                        </p:attrNameLst>
                                      </p:cBhvr>
                                      <p:to>
                                        <p:strVal val="visible"/>
                                      </p:to>
                                    </p:set>
                                  </p:childTnLst>
                                </p:cTn>
                              </p:par>
                            </p:childTnLst>
                          </p:cTn>
                        </p:par>
                        <p:par>
                          <p:cTn id="22" fill="hold">
                            <p:stCondLst>
                              <p:cond delay="6000"/>
                            </p:stCondLst>
                            <p:childTnLst>
                              <p:par>
                                <p:cTn id="23" presetID="35" presetClass="emph" presetSubtype="0" repeatCount="3000" fill="hold" grpId="1" nodeType="afterEffect">
                                  <p:stCondLst>
                                    <p:cond delay="0"/>
                                  </p:stCondLst>
                                  <p:childTnLst>
                                    <p:anim calcmode="discrete" valueType="str">
                                      <p:cBhvr>
                                        <p:cTn id="24" dur="500" fill="hold"/>
                                        <p:tgtEl>
                                          <p:spTgt spid="76"/>
                                        </p:tgtEl>
                                        <p:attrNameLst>
                                          <p:attrName>style.visibility</p:attrName>
                                        </p:attrNameLst>
                                      </p:cBhvr>
                                      <p:tavLst>
                                        <p:tav tm="0">
                                          <p:val>
                                            <p:strVal val="hidden"/>
                                          </p:val>
                                        </p:tav>
                                        <p:tav tm="50000">
                                          <p:val>
                                            <p:strVal val="visible"/>
                                          </p:val>
                                        </p:tav>
                                      </p:tavLst>
                                    </p:anim>
                                  </p:childTnLst>
                                </p:cTn>
                              </p:par>
                            </p:childTnLst>
                          </p:cTn>
                        </p:par>
                        <p:par>
                          <p:cTn id="25" fill="hold">
                            <p:stCondLst>
                              <p:cond delay="7500"/>
                            </p:stCondLst>
                            <p:childTnLst>
                              <p:par>
                                <p:cTn id="26" presetID="1" presetClass="entr" presetSubtype="0" fill="hold" nodeType="afterEffect">
                                  <p:stCondLst>
                                    <p:cond delay="0"/>
                                  </p:stCondLst>
                                  <p:childTnLst>
                                    <p:set>
                                      <p:cBhvr>
                                        <p:cTn id="27" dur="1" fill="hold">
                                          <p:stCondLst>
                                            <p:cond delay="0"/>
                                          </p:stCondLst>
                                        </p:cTn>
                                        <p:tgtEl>
                                          <p:spTgt spid="78"/>
                                        </p:tgtEl>
                                        <p:attrNameLst>
                                          <p:attrName>style.visibility</p:attrName>
                                        </p:attrNameLst>
                                      </p:cBhvr>
                                      <p:to>
                                        <p:strVal val="visible"/>
                                      </p:to>
                                    </p:set>
                                  </p:childTnLst>
                                </p:cTn>
                              </p:par>
                            </p:childTnLst>
                          </p:cTn>
                        </p:par>
                        <p:par>
                          <p:cTn id="28" fill="hold">
                            <p:stCondLst>
                              <p:cond delay="7500"/>
                            </p:stCondLst>
                            <p:childTnLst>
                              <p:par>
                                <p:cTn id="29" presetID="35" presetClass="emph" presetSubtype="0" repeatCount="3000" fill="hold" nodeType="afterEffect">
                                  <p:stCondLst>
                                    <p:cond delay="0"/>
                                  </p:stCondLst>
                                  <p:childTnLst>
                                    <p:anim calcmode="discrete" valueType="str">
                                      <p:cBhvr>
                                        <p:cTn id="30" dur="500" fill="hold"/>
                                        <p:tgtEl>
                                          <p:spTgt spid="78"/>
                                        </p:tgtEl>
                                        <p:attrNameLst>
                                          <p:attrName>style.visibility</p:attrName>
                                        </p:attrNameLst>
                                      </p:cBhvr>
                                      <p:tavLst>
                                        <p:tav tm="0">
                                          <p:val>
                                            <p:strVal val="hidden"/>
                                          </p:val>
                                        </p:tav>
                                        <p:tav tm="50000">
                                          <p:val>
                                            <p:strVal val="visible"/>
                                          </p:val>
                                        </p:tav>
                                      </p:tavLst>
                                    </p:anim>
                                  </p:childTnLst>
                                </p:cTn>
                              </p:par>
                            </p:childTnLst>
                          </p:cTn>
                        </p:par>
                        <p:par>
                          <p:cTn id="31" fill="hold">
                            <p:stCondLst>
                              <p:cond delay="9000"/>
                            </p:stCondLst>
                            <p:childTnLst>
                              <p:par>
                                <p:cTn id="32" presetID="1" presetClass="entr" presetSubtype="0" fill="hold" grpId="0" nodeType="afterEffect">
                                  <p:stCondLst>
                                    <p:cond delay="1000"/>
                                  </p:stCondLst>
                                  <p:childTnLst>
                                    <p:set>
                                      <p:cBhvr>
                                        <p:cTn id="33" dur="1" fill="hold">
                                          <p:stCondLst>
                                            <p:cond delay="0"/>
                                          </p:stCondLst>
                                        </p:cTn>
                                        <p:tgtEl>
                                          <p:spTgt spid="77"/>
                                        </p:tgtEl>
                                        <p:attrNameLst>
                                          <p:attrName>style.visibility</p:attrName>
                                        </p:attrNameLst>
                                      </p:cBhvr>
                                      <p:to>
                                        <p:strVal val="visible"/>
                                      </p:to>
                                    </p:set>
                                  </p:childTnLst>
                                </p:cTn>
                              </p:par>
                            </p:childTnLst>
                          </p:cTn>
                        </p:par>
                        <p:par>
                          <p:cTn id="34" fill="hold">
                            <p:stCondLst>
                              <p:cond delay="10000"/>
                            </p:stCondLst>
                            <p:childTnLst>
                              <p:par>
                                <p:cTn id="35" presetID="35" presetClass="emph" presetSubtype="0" repeatCount="3000" fill="hold" grpId="1" nodeType="afterEffect">
                                  <p:stCondLst>
                                    <p:cond delay="0"/>
                                  </p:stCondLst>
                                  <p:childTnLst>
                                    <p:anim calcmode="discrete" valueType="str">
                                      <p:cBhvr>
                                        <p:cTn id="36" dur="500" fill="hold"/>
                                        <p:tgtEl>
                                          <p:spTgt spid="77"/>
                                        </p:tgtEl>
                                        <p:attrNameLst>
                                          <p:attrName>style.visibility</p:attrName>
                                        </p:attrNameLst>
                                      </p:cBhvr>
                                      <p:tavLst>
                                        <p:tav tm="0">
                                          <p:val>
                                            <p:strVal val="hidden"/>
                                          </p:val>
                                        </p:tav>
                                        <p:tav tm="50000">
                                          <p:val>
                                            <p:strVal val="visible"/>
                                          </p:val>
                                        </p:tav>
                                      </p:tavLst>
                                    </p:anim>
                                  </p:childTnLst>
                                </p:cTn>
                              </p:par>
                            </p:childTnLst>
                          </p:cTn>
                        </p:par>
                        <p:par>
                          <p:cTn id="37" fill="hold">
                            <p:stCondLst>
                              <p:cond delay="11500"/>
                            </p:stCondLst>
                            <p:childTnLst>
                              <p:par>
                                <p:cTn id="38" presetID="22" presetClass="entr" presetSubtype="8" fill="hold" nodeType="afterEffect">
                                  <p:stCondLst>
                                    <p:cond delay="0"/>
                                  </p:stCondLst>
                                  <p:childTnLst>
                                    <p:set>
                                      <p:cBhvr>
                                        <p:cTn id="39" dur="1" fill="hold">
                                          <p:stCondLst>
                                            <p:cond delay="0"/>
                                          </p:stCondLst>
                                        </p:cTn>
                                        <p:tgtEl>
                                          <p:spTgt spid="68"/>
                                        </p:tgtEl>
                                        <p:attrNameLst>
                                          <p:attrName>style.visibility</p:attrName>
                                        </p:attrNameLst>
                                      </p:cBhvr>
                                      <p:to>
                                        <p:strVal val="visible"/>
                                      </p:to>
                                    </p:set>
                                    <p:animEffect transition="in" filter="wipe(left)">
                                      <p:cBhvr>
                                        <p:cTn id="40" dur="2000"/>
                                        <p:tgtEl>
                                          <p:spTgt spid="68"/>
                                        </p:tgtEl>
                                      </p:cBhvr>
                                    </p:animEffect>
                                  </p:childTnLst>
                                </p:cTn>
                              </p:par>
                            </p:childTnLst>
                          </p:cTn>
                        </p:par>
                        <p:par>
                          <p:cTn id="41" fill="hold">
                            <p:stCondLst>
                              <p:cond delay="13500"/>
                            </p:stCondLst>
                            <p:childTnLst>
                              <p:par>
                                <p:cTn id="42" presetID="1" presetClass="entr" presetSubtype="0" fill="hold" grpId="0" nodeType="afterEffect">
                                  <p:stCondLst>
                                    <p:cond delay="0"/>
                                  </p:stCondLst>
                                  <p:childTnLst>
                                    <p:set>
                                      <p:cBhvr>
                                        <p:cTn id="43" dur="1" fill="hold">
                                          <p:stCondLst>
                                            <p:cond delay="999"/>
                                          </p:stCondLst>
                                        </p:cTn>
                                        <p:tgtEl>
                                          <p:spTgt spid="88"/>
                                        </p:tgtEl>
                                        <p:attrNameLst>
                                          <p:attrName>style.visibility</p:attrName>
                                        </p:attrNameLst>
                                      </p:cBhvr>
                                      <p:to>
                                        <p:strVal val="visible"/>
                                      </p:to>
                                    </p:set>
                                  </p:childTnLst>
                                </p:cTn>
                              </p:par>
                            </p:childTnLst>
                          </p:cTn>
                        </p:par>
                        <p:par>
                          <p:cTn id="44" fill="hold">
                            <p:stCondLst>
                              <p:cond delay="14500"/>
                            </p:stCondLst>
                            <p:childTnLst>
                              <p:par>
                                <p:cTn id="45" presetID="35" presetClass="emph" presetSubtype="0" repeatCount="3000" fill="hold" grpId="1" nodeType="afterEffect">
                                  <p:stCondLst>
                                    <p:cond delay="0"/>
                                  </p:stCondLst>
                                  <p:childTnLst>
                                    <p:anim calcmode="discrete" valueType="str">
                                      <p:cBhvr>
                                        <p:cTn id="46" dur="500" fill="hold"/>
                                        <p:tgtEl>
                                          <p:spTgt spid="88"/>
                                        </p:tgtEl>
                                        <p:attrNameLst>
                                          <p:attrName>style.visibility</p:attrName>
                                        </p:attrNameLst>
                                      </p:cBhvr>
                                      <p:tavLst>
                                        <p:tav tm="0">
                                          <p:val>
                                            <p:strVal val="hidden"/>
                                          </p:val>
                                        </p:tav>
                                        <p:tav tm="50000">
                                          <p:val>
                                            <p:strVal val="visible"/>
                                          </p:val>
                                        </p:tav>
                                      </p:tavLst>
                                    </p:anim>
                                  </p:childTnLst>
                                </p:cTn>
                              </p:par>
                            </p:childTnLst>
                          </p:cTn>
                        </p:par>
                        <p:par>
                          <p:cTn id="47" fill="hold">
                            <p:stCondLst>
                              <p:cond delay="16000"/>
                            </p:stCondLst>
                            <p:childTnLst>
                              <p:par>
                                <p:cTn id="48" presetID="22" presetClass="entr" presetSubtype="2" fill="hold" nodeType="afterEffect">
                                  <p:stCondLst>
                                    <p:cond delay="500"/>
                                  </p:stCondLst>
                                  <p:childTnLst>
                                    <p:set>
                                      <p:cBhvr>
                                        <p:cTn id="49" dur="1" fill="hold">
                                          <p:stCondLst>
                                            <p:cond delay="0"/>
                                          </p:stCondLst>
                                        </p:cTn>
                                        <p:tgtEl>
                                          <p:spTgt spid="73"/>
                                        </p:tgtEl>
                                        <p:attrNameLst>
                                          <p:attrName>style.visibility</p:attrName>
                                        </p:attrNameLst>
                                      </p:cBhvr>
                                      <p:to>
                                        <p:strVal val="visible"/>
                                      </p:to>
                                    </p:set>
                                    <p:animEffect transition="in" filter="wipe(right)">
                                      <p:cBhvr>
                                        <p:cTn id="50" dur="2000"/>
                                        <p:tgtEl>
                                          <p:spTgt spid="73"/>
                                        </p:tgtEl>
                                      </p:cBhvr>
                                    </p:animEffect>
                                  </p:childTnLst>
                                </p:cTn>
                              </p:par>
                            </p:childTnLst>
                          </p:cTn>
                        </p:par>
                        <p:par>
                          <p:cTn id="51" fill="hold">
                            <p:stCondLst>
                              <p:cond delay="18500"/>
                            </p:stCondLst>
                            <p:childTnLst>
                              <p:par>
                                <p:cTn id="52" presetID="1" presetClass="entr" presetSubtype="0" fill="hold" grpId="0" nodeType="afterEffect">
                                  <p:stCondLst>
                                    <p:cond delay="0"/>
                                  </p:stCondLst>
                                  <p:childTnLst>
                                    <p:set>
                                      <p:cBhvr>
                                        <p:cTn id="53" dur="1" fill="hold">
                                          <p:stCondLst>
                                            <p:cond delay="999"/>
                                          </p:stCondLst>
                                        </p:cTn>
                                        <p:tgtEl>
                                          <p:spTgt spid="4"/>
                                        </p:tgtEl>
                                        <p:attrNameLst>
                                          <p:attrName>style.visibility</p:attrName>
                                        </p:attrNameLst>
                                      </p:cBhvr>
                                      <p:to>
                                        <p:strVal val="visible"/>
                                      </p:to>
                                    </p:set>
                                  </p:childTnLst>
                                </p:cTn>
                              </p:par>
                              <p:par>
                                <p:cTn id="54" presetID="35" presetClass="emph" presetSubtype="0" repeatCount="3000" fill="hold" grpId="1" nodeType="withEffect">
                                  <p:stCondLst>
                                    <p:cond delay="0"/>
                                  </p:stCondLst>
                                  <p:childTnLst>
                                    <p:anim calcmode="discrete" valueType="str">
                                      <p:cBhvr>
                                        <p:cTn id="55" dur="5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4" grpId="1" animBg="1"/>
      <p:bldP spid="76" grpId="0" animBg="1"/>
      <p:bldP spid="76" grpId="1" animBg="1"/>
      <p:bldP spid="77" grpId="0"/>
      <p:bldP spid="77" grpId="1"/>
      <p:bldP spid="88" grpId="0"/>
      <p:bldP spid="88" grpId="1"/>
      <p:bldP spid="4" grpId="0"/>
      <p:bldP spid="4" grpId="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E5D3959C-F6ED-ECE8-9152-5C5DA29E426B}"/>
              </a:ext>
            </a:extLst>
          </p:cNvPr>
          <p:cNvSpPr>
            <a:spLocks noGrp="1"/>
          </p:cNvSpPr>
          <p:nvPr>
            <p:ph sz="quarter" idx="11"/>
          </p:nvPr>
        </p:nvSpPr>
        <p:spPr>
          <a:xfrm>
            <a:off x="486000" y="900000"/>
            <a:ext cx="8172000" cy="3703500"/>
          </a:xfrm>
        </p:spPr>
        <p:txBody>
          <a:bodyPr/>
          <a:lstStyle/>
          <a:p>
            <a:r>
              <a:rPr lang="zh-CN" altLang="en-US" dirty="0"/>
              <a:t>确认丢失</a:t>
            </a:r>
          </a:p>
          <a:p>
            <a:r>
              <a:rPr lang="zh-CN" altLang="en-US" dirty="0"/>
              <a:t>若 </a:t>
            </a:r>
            <a:r>
              <a:rPr lang="en-US" altLang="zh-CN" dirty="0"/>
              <a:t>B </a:t>
            </a:r>
            <a:r>
              <a:rPr lang="zh-CN" altLang="en-US" dirty="0"/>
              <a:t>所发送的对 </a:t>
            </a:r>
            <a:r>
              <a:rPr lang="en-US" altLang="zh-CN" dirty="0"/>
              <a:t>M1 </a:t>
            </a:r>
            <a:r>
              <a:rPr lang="zh-CN" altLang="en-US" dirty="0"/>
              <a:t>的确认丢失了，那么 </a:t>
            </a:r>
            <a:r>
              <a:rPr lang="en-US" altLang="zh-CN" dirty="0"/>
              <a:t>A </a:t>
            </a:r>
            <a:r>
              <a:rPr lang="zh-CN" altLang="en-US" dirty="0"/>
              <a:t>在设定的超时重传时间内将不会收到确认，因此 </a:t>
            </a:r>
            <a:r>
              <a:rPr lang="en-US" altLang="zh-CN" dirty="0"/>
              <a:t>A </a:t>
            </a:r>
            <a:r>
              <a:rPr lang="zh-CN" altLang="en-US" dirty="0"/>
              <a:t>在超时计时器到期后重传 </a:t>
            </a:r>
            <a:r>
              <a:rPr lang="en-US" altLang="zh-CN" dirty="0"/>
              <a:t>M1</a:t>
            </a:r>
            <a:r>
              <a:rPr lang="zh-CN" altLang="en-US" dirty="0"/>
              <a:t>。</a:t>
            </a:r>
          </a:p>
          <a:p>
            <a:r>
              <a:rPr lang="zh-CN" altLang="en-US" dirty="0"/>
              <a:t>假定 </a:t>
            </a:r>
            <a:r>
              <a:rPr lang="en-US" altLang="zh-CN" dirty="0"/>
              <a:t>B </a:t>
            </a:r>
            <a:r>
              <a:rPr lang="zh-CN" altLang="en-US" dirty="0"/>
              <a:t>正确收到了 </a:t>
            </a:r>
            <a:r>
              <a:rPr lang="en-US" altLang="zh-CN" dirty="0"/>
              <a:t>A </a:t>
            </a:r>
            <a:r>
              <a:rPr lang="zh-CN" altLang="en-US" dirty="0"/>
              <a:t>重传的分组 </a:t>
            </a:r>
            <a:r>
              <a:rPr lang="en-US" altLang="zh-CN" dirty="0"/>
              <a:t>M1</a:t>
            </a:r>
            <a:r>
              <a:rPr lang="zh-CN" altLang="en-US" dirty="0"/>
              <a:t>。这时 </a:t>
            </a:r>
            <a:r>
              <a:rPr lang="en-US" altLang="zh-CN" dirty="0"/>
              <a:t>B </a:t>
            </a:r>
            <a:r>
              <a:rPr lang="zh-CN" altLang="en-US" dirty="0"/>
              <a:t>应采取两个行动：</a:t>
            </a:r>
          </a:p>
          <a:p>
            <a:r>
              <a:rPr lang="en-US" altLang="zh-CN" dirty="0"/>
              <a:t>(1) </a:t>
            </a:r>
            <a:r>
              <a:rPr lang="zh-CN" altLang="en-US" dirty="0"/>
              <a:t>丢弃这个重复的分组 </a:t>
            </a:r>
            <a:r>
              <a:rPr lang="en-US" altLang="zh-CN" dirty="0"/>
              <a:t>M1</a:t>
            </a:r>
            <a:r>
              <a:rPr lang="zh-CN" altLang="en-US" dirty="0"/>
              <a:t>，不向上层交付。</a:t>
            </a:r>
          </a:p>
          <a:p>
            <a:r>
              <a:rPr lang="en-US" altLang="zh-CN" dirty="0"/>
              <a:t>(2) </a:t>
            </a:r>
            <a:r>
              <a:rPr lang="zh-CN" altLang="en-US" dirty="0"/>
              <a:t>向 </a:t>
            </a:r>
            <a:r>
              <a:rPr lang="en-US" altLang="zh-CN" dirty="0"/>
              <a:t>A </a:t>
            </a:r>
            <a:r>
              <a:rPr lang="zh-CN" altLang="en-US" dirty="0"/>
              <a:t>发送确认。</a:t>
            </a:r>
          </a:p>
          <a:p>
            <a:endParaRPr lang="zh-CN" altLang="en-US" dirty="0"/>
          </a:p>
        </p:txBody>
      </p:sp>
      <p:sp>
        <p:nvSpPr>
          <p:cNvPr id="8" name="标题 7">
            <a:extLst>
              <a:ext uri="{FF2B5EF4-FFF2-40B4-BE49-F238E27FC236}">
                <a16:creationId xmlns:a16="http://schemas.microsoft.com/office/drawing/2014/main" id="{EAC8B45F-E998-77D3-1958-B5FA41A252B0}"/>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0F9E29E-AF0C-57E6-9BEC-E223B4DE4C3B}"/>
              </a:ext>
            </a:extLst>
          </p:cNvPr>
          <p:cNvSpPr>
            <a:spLocks noGrp="1"/>
          </p:cNvSpPr>
          <p:nvPr>
            <p:ph sz="quarter" idx="11"/>
          </p:nvPr>
        </p:nvSpPr>
        <p:spPr>
          <a:xfrm>
            <a:off x="486000" y="900000"/>
            <a:ext cx="8172000" cy="3703500"/>
          </a:xfrm>
        </p:spPr>
        <p:txBody>
          <a:bodyPr/>
          <a:lstStyle/>
          <a:p>
            <a:r>
              <a:rPr lang="zh-CN" altLang="en-US" dirty="0"/>
              <a:t>确认迟到</a:t>
            </a:r>
          </a:p>
          <a:p>
            <a:r>
              <a:rPr lang="en-US" altLang="zh-CN" dirty="0"/>
              <a:t>B </a:t>
            </a:r>
            <a:r>
              <a:rPr lang="zh-CN" altLang="en-US" dirty="0"/>
              <a:t>对分组 </a:t>
            </a:r>
            <a:r>
              <a:rPr lang="en-US" altLang="zh-CN" dirty="0"/>
              <a:t>M1 </a:t>
            </a:r>
            <a:r>
              <a:rPr lang="zh-CN" altLang="en-US" dirty="0"/>
              <a:t>的确认迟到了，因此 </a:t>
            </a:r>
            <a:r>
              <a:rPr lang="en-US" altLang="zh-CN" dirty="0"/>
              <a:t>A </a:t>
            </a:r>
            <a:r>
              <a:rPr lang="zh-CN" altLang="en-US" dirty="0"/>
              <a:t>在超时计时器到期后重传 </a:t>
            </a:r>
            <a:r>
              <a:rPr lang="en-US" altLang="zh-CN" dirty="0"/>
              <a:t>M1</a:t>
            </a:r>
            <a:r>
              <a:rPr lang="zh-CN" altLang="en-US" dirty="0"/>
              <a:t>。</a:t>
            </a:r>
            <a:endParaRPr lang="en-US" altLang="zh-CN" dirty="0"/>
          </a:p>
          <a:p>
            <a:r>
              <a:rPr lang="en-US" altLang="zh-CN" dirty="0"/>
              <a:t>B </a:t>
            </a:r>
            <a:r>
              <a:rPr lang="zh-CN" altLang="en-US" dirty="0"/>
              <a:t>会收到重复的 </a:t>
            </a:r>
            <a:r>
              <a:rPr lang="en-US" altLang="zh-CN" dirty="0"/>
              <a:t>M1</a:t>
            </a:r>
            <a:r>
              <a:rPr lang="zh-CN" altLang="en-US" dirty="0"/>
              <a:t>，丢弃重复的 </a:t>
            </a:r>
            <a:r>
              <a:rPr lang="en-US" altLang="zh-CN" dirty="0"/>
              <a:t>M1</a:t>
            </a:r>
            <a:r>
              <a:rPr lang="zh-CN" altLang="en-US" dirty="0"/>
              <a:t>，并重传确认分组。</a:t>
            </a:r>
          </a:p>
          <a:p>
            <a:r>
              <a:rPr lang="en-US" altLang="zh-CN" dirty="0"/>
              <a:t>A </a:t>
            </a:r>
            <a:r>
              <a:rPr lang="zh-CN" altLang="en-US" dirty="0"/>
              <a:t>会收到重复的确认。对重复的确认的处理：丢弃。</a:t>
            </a:r>
          </a:p>
          <a:p>
            <a:endParaRPr lang="zh-CN" altLang="en-US" dirty="0"/>
          </a:p>
        </p:txBody>
      </p:sp>
      <p:sp>
        <p:nvSpPr>
          <p:cNvPr id="8" name="标题 7">
            <a:extLst>
              <a:ext uri="{FF2B5EF4-FFF2-40B4-BE49-F238E27FC236}">
                <a16:creationId xmlns:a16="http://schemas.microsoft.com/office/drawing/2014/main" id="{D78F5F81-7539-906D-7400-1338D58CD5C6}"/>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A2D8C35-B046-98A8-EDB9-7F850AAB986B}"/>
              </a:ext>
            </a:extLst>
          </p:cNvPr>
          <p:cNvSpPr>
            <a:spLocks noGrp="1"/>
          </p:cNvSpPr>
          <p:nvPr>
            <p:ph type="title"/>
          </p:nvPr>
        </p:nvSpPr>
        <p:spPr>
          <a:xfrm>
            <a:off x="486000" y="550723"/>
            <a:ext cx="8172000" cy="338554"/>
          </a:xfrm>
        </p:spPr>
        <p:txBody>
          <a:bodyPr/>
          <a:lstStyle/>
          <a:p>
            <a:r>
              <a:rPr lang="zh-CN" altLang="en-US" dirty="0"/>
              <a:t>确认丢失</a:t>
            </a:r>
          </a:p>
        </p:txBody>
      </p:sp>
      <p:sp>
        <p:nvSpPr>
          <p:cNvPr id="5" name="Line 36">
            <a:extLst>
              <a:ext uri="{FF2B5EF4-FFF2-40B4-BE49-F238E27FC236}">
                <a16:creationId xmlns:a16="http://schemas.microsoft.com/office/drawing/2014/main" id="{EDE38C5F-DF9E-3812-85E2-C2AAA2712F59}"/>
              </a:ext>
            </a:extLst>
          </p:cNvPr>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F1B97DBF-8DF8-31BA-48DE-88A3397FFA9B}"/>
              </a:ext>
            </a:extLst>
          </p:cNvPr>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EB097374-2ED8-3A29-8994-0BF89B44B462}"/>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D3EEB67E-D265-8C32-4BB5-587502B062CB}"/>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60663EF3-E6E6-E448-75CB-9CB6735EFC2C}"/>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E40D72A3-A7B5-7BEB-E8ED-2EAC1D7024DF}"/>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D01A62F4-59BB-AA2D-50E8-12ABFC59B516}"/>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17B0FF49-C60B-7ED4-AE37-8CA18CD7DB7E}"/>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BADEC1B6-B3E5-10F2-0566-0E850E8A7444}"/>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A548E8A1-15AB-2036-B8EB-10554C634D7A}"/>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CC9E091A-2083-9FFF-5D06-C0CD6B1BD8D6}"/>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6D3D487E-07D9-F11B-0AE5-A161C46098E9}"/>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49E5BE39-1BE0-AE83-0E54-C83D3668C27A}"/>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218FDD7B-5B2E-DE27-0184-892B3EB53C7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2" name="Line 52">
            <a:extLst>
              <a:ext uri="{FF2B5EF4-FFF2-40B4-BE49-F238E27FC236}">
                <a16:creationId xmlns:a16="http://schemas.microsoft.com/office/drawing/2014/main" id="{16DA1BD4-A363-11AD-6304-7FC5FA71857A}"/>
              </a:ext>
            </a:extLst>
          </p:cNvPr>
          <p:cNvSpPr>
            <a:spLocks noChangeShapeType="1"/>
          </p:cNvSpPr>
          <p:nvPr/>
        </p:nvSpPr>
        <p:spPr bwMode="auto">
          <a:xfrm flipH="1">
            <a:off x="2427078" y="2206096"/>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AutoShape 60">
            <a:extLst>
              <a:ext uri="{FF2B5EF4-FFF2-40B4-BE49-F238E27FC236}">
                <a16:creationId xmlns:a16="http://schemas.microsoft.com/office/drawing/2014/main" id="{D1F08D59-B957-8C84-93D1-2330B537E75E}"/>
              </a:ext>
            </a:extLst>
          </p:cNvPr>
          <p:cNvSpPr>
            <a:spLocks noChangeArrowheads="1"/>
          </p:cNvSpPr>
          <p:nvPr/>
        </p:nvSpPr>
        <p:spPr bwMode="auto">
          <a:xfrm>
            <a:off x="2669557" y="2113377"/>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4" name="TextBox 86">
            <a:extLst>
              <a:ext uri="{FF2B5EF4-FFF2-40B4-BE49-F238E27FC236}">
                <a16:creationId xmlns:a16="http://schemas.microsoft.com/office/drawing/2014/main" id="{0DDFB30D-8DD4-8A08-60C4-F0AA610E86F1}"/>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
        <p:nvSpPr>
          <p:cNvPr id="25" name="TextBox 86">
            <a:extLst>
              <a:ext uri="{FF2B5EF4-FFF2-40B4-BE49-F238E27FC236}">
                <a16:creationId xmlns:a16="http://schemas.microsoft.com/office/drawing/2014/main" id="{A1705A10-CAF1-E97C-F291-F98758FAB7ED}"/>
              </a:ext>
            </a:extLst>
          </p:cNvPr>
          <p:cNvSpPr txBox="1"/>
          <p:nvPr/>
        </p:nvSpPr>
        <p:spPr>
          <a:xfrm>
            <a:off x="3575313" y="28509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Tree>
    <p:extLst>
      <p:ext uri="{BB962C8B-B14F-4D97-AF65-F5344CB8AC3E}">
        <p14:creationId xmlns:p14="http://schemas.microsoft.com/office/powerpoint/2010/main" val="28145133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23"/>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23"/>
                                        </p:tgtEl>
                                        <p:attrNameLst>
                                          <p:attrName>style.visibility</p:attrName>
                                        </p:attrNameLst>
                                      </p:cBhvr>
                                      <p:tavLst>
                                        <p:tav tm="0">
                                          <p:val>
                                            <p:strVal val="hidden"/>
                                          </p:val>
                                        </p:tav>
                                        <p:tav tm="50000">
                                          <p:val>
                                            <p:strVal val="visible"/>
                                          </p:val>
                                        </p:tav>
                                      </p:tavLst>
                                    </p:anim>
                                  </p:childTnLst>
                                </p:cTn>
                              </p:par>
                            </p:childTnLst>
                          </p:cTn>
                        </p:par>
                        <p:par>
                          <p:cTn id="10" fill="hold">
                            <p:stCondLst>
                              <p:cond delay="2500"/>
                            </p:stCondLst>
                            <p:childTnLst>
                              <p:par>
                                <p:cTn id="11" presetID="1" presetClass="entr" presetSubtype="0" fill="hold" grpId="0" nodeType="afterEffect">
                                  <p:stCondLst>
                                    <p:cond delay="0"/>
                                  </p:stCondLst>
                                  <p:childTnLst>
                                    <p:set>
                                      <p:cBhvr>
                                        <p:cTn id="12" dur="1" fill="hold">
                                          <p:stCondLst>
                                            <p:cond delay="999"/>
                                          </p:stCondLst>
                                        </p:cTn>
                                        <p:tgtEl>
                                          <p:spTgt spid="24"/>
                                        </p:tgtEl>
                                        <p:attrNameLst>
                                          <p:attrName>style.visibility</p:attrName>
                                        </p:attrNameLst>
                                      </p:cBhvr>
                                      <p:to>
                                        <p:strVal val="visible"/>
                                      </p:to>
                                    </p:set>
                                  </p:childTnLst>
                                </p:cTn>
                              </p:par>
                              <p:par>
                                <p:cTn id="13" presetID="35" presetClass="emph" presetSubtype="0" repeatCount="3000" fill="hold" grpId="1" nodeType="withEffect">
                                  <p:stCondLst>
                                    <p:cond delay="0"/>
                                  </p:stCondLst>
                                  <p:childTnLst>
                                    <p:anim calcmode="discrete" valueType="str">
                                      <p:cBhvr>
                                        <p:cTn id="14" dur="500" fill="hold"/>
                                        <p:tgtEl>
                                          <p:spTgt spid="24"/>
                                        </p:tgtEl>
                                        <p:attrNameLst>
                                          <p:attrName>style.visibility</p:attrName>
                                        </p:attrNameLst>
                                      </p:cBhvr>
                                      <p:tavLst>
                                        <p:tav tm="0">
                                          <p:val>
                                            <p:strVal val="hidden"/>
                                          </p:val>
                                        </p:tav>
                                        <p:tav tm="50000">
                                          <p:val>
                                            <p:strVal val="visible"/>
                                          </p:val>
                                        </p:tav>
                                      </p:tavLst>
                                    </p:anim>
                                  </p:childTnLst>
                                </p:cTn>
                              </p:par>
                            </p:childTnLst>
                          </p:cTn>
                        </p:par>
                        <p:par>
                          <p:cTn id="15" fill="hold">
                            <p:stCondLst>
                              <p:cond delay="4000"/>
                            </p:stCondLst>
                            <p:childTnLst>
                              <p:par>
                                <p:cTn id="16" presetID="1" presetClass="entr" presetSubtype="0" fill="hold" grpId="0" nodeType="afterEffect">
                                  <p:stCondLst>
                                    <p:cond delay="0"/>
                                  </p:stCondLst>
                                  <p:childTnLst>
                                    <p:set>
                                      <p:cBhvr>
                                        <p:cTn id="17" dur="1" fill="hold">
                                          <p:stCondLst>
                                            <p:cond delay="999"/>
                                          </p:stCondLst>
                                        </p:cTn>
                                        <p:tgtEl>
                                          <p:spTgt spid="25"/>
                                        </p:tgtEl>
                                        <p:attrNameLst>
                                          <p:attrName>style.visibility</p:attrName>
                                        </p:attrNameLst>
                                      </p:cBhvr>
                                      <p:to>
                                        <p:strVal val="visible"/>
                                      </p:to>
                                    </p:set>
                                  </p:childTnLst>
                                </p:cTn>
                              </p:par>
                              <p:par>
                                <p:cTn id="18" presetID="35" presetClass="emph" presetSubtype="0" repeatCount="3000" fill="hold" grpId="1" nodeType="withEffect">
                                  <p:stCondLst>
                                    <p:cond delay="0"/>
                                  </p:stCondLst>
                                  <p:childTnLst>
                                    <p:anim calcmode="discrete" valueType="str">
                                      <p:cBhvr>
                                        <p:cTn id="19" dur="5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p:bldP spid="24" grpId="1"/>
      <p:bldP spid="25" grpId="0"/>
      <p:bldP spid="25" grpId="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8" name="标题 7">
            <a:extLst>
              <a:ext uri="{FF2B5EF4-FFF2-40B4-BE49-F238E27FC236}">
                <a16:creationId xmlns:a16="http://schemas.microsoft.com/office/drawing/2014/main" id="{1E6BB7DC-5EEB-4926-A1BB-8E1BA9B11E4C}"/>
              </a:ext>
            </a:extLst>
          </p:cNvPr>
          <p:cNvSpPr>
            <a:spLocks noGrp="1"/>
          </p:cNvSpPr>
          <p:nvPr>
            <p:ph type="title"/>
          </p:nvPr>
        </p:nvSpPr>
        <p:spPr>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3AFE1-EF08-1B4A-A269-7918C3E05A7B}"/>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6F31D1F-7528-F6A1-2EE1-650D50D3C5BD}"/>
              </a:ext>
            </a:extLst>
          </p:cNvPr>
          <p:cNvSpPr>
            <a:spLocks noGrp="1"/>
          </p:cNvSpPr>
          <p:nvPr>
            <p:ph type="title"/>
          </p:nvPr>
        </p:nvSpPr>
        <p:spPr>
          <a:xfrm>
            <a:off x="486000" y="550723"/>
            <a:ext cx="8172000" cy="338554"/>
          </a:xfrm>
        </p:spPr>
        <p:txBody>
          <a:bodyPr/>
          <a:lstStyle/>
          <a:p>
            <a:r>
              <a:rPr lang="zh-CN" altLang="en-US" dirty="0"/>
              <a:t>确认迟到</a:t>
            </a:r>
          </a:p>
        </p:txBody>
      </p:sp>
      <p:sp>
        <p:nvSpPr>
          <p:cNvPr id="5" name="Line 36">
            <a:extLst>
              <a:ext uri="{FF2B5EF4-FFF2-40B4-BE49-F238E27FC236}">
                <a16:creationId xmlns:a16="http://schemas.microsoft.com/office/drawing/2014/main" id="{6EE7DF07-4C45-3180-3B33-9347DD32BD2F}"/>
              </a:ext>
            </a:extLst>
          </p:cNvPr>
          <p:cNvSpPr>
            <a:spLocks noChangeShapeType="1"/>
          </p:cNvSpPr>
          <p:nvPr/>
        </p:nvSpPr>
        <p:spPr bwMode="auto">
          <a:xfrm>
            <a:off x="2442953"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48E9E65A-49D4-FF20-43C7-146D227DBDFC}"/>
              </a:ext>
            </a:extLst>
          </p:cNvPr>
          <p:cNvSpPr>
            <a:spLocks noChangeShapeType="1"/>
          </p:cNvSpPr>
          <p:nvPr/>
        </p:nvSpPr>
        <p:spPr bwMode="auto">
          <a:xfrm>
            <a:off x="3602105"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4AC51222-3625-E6E7-A23E-6FEAB0D04D66}"/>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2F2A92B4-507E-EA5D-CD4B-537A853A1C92}"/>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8524BFE0-5EE8-3255-426E-22346002D55E}"/>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1E1CF055-91C1-B1E2-D24D-5F1F7F547FC5}"/>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09CC7468-AB34-D728-8C50-C1B5F7FD0F5D}"/>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C1F58B55-120D-7E9E-2D78-128D3A9CE0F5}"/>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CA0F74FF-0117-A7A2-31FA-2E2D0B0FE28B}"/>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9AD99B57-18BD-0089-D024-9CFC1F6BDAE8}"/>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5E09CEEC-08E5-BF08-1EE3-F9CF992B0AA8}"/>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751A4A9C-9532-AAAB-A1B2-AFBCDE20EA9D}"/>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77282E2F-D10B-91DB-C4C6-8504F4BC2B51}"/>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46FD57B0-9D73-BE57-DAF0-086353C31D9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1" name="Freeform 45">
            <a:extLst>
              <a:ext uri="{FF2B5EF4-FFF2-40B4-BE49-F238E27FC236}">
                <a16:creationId xmlns:a16="http://schemas.microsoft.com/office/drawing/2014/main" id="{41F0A645-8F46-FE24-0B05-9FEB92382F1B}"/>
              </a:ext>
            </a:extLst>
          </p:cNvPr>
          <p:cNvSpPr>
            <a:spLocks/>
          </p:cNvSpPr>
          <p:nvPr/>
        </p:nvSpPr>
        <p:spPr bwMode="auto">
          <a:xfrm>
            <a:off x="2459313" y="3521041"/>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4" name="AutoShape 46">
            <a:extLst>
              <a:ext uri="{FF2B5EF4-FFF2-40B4-BE49-F238E27FC236}">
                <a16:creationId xmlns:a16="http://schemas.microsoft.com/office/drawing/2014/main" id="{7C4C1FAA-0325-3C97-1534-EAA1AFC8F2A7}"/>
              </a:ext>
            </a:extLst>
          </p:cNvPr>
          <p:cNvSpPr>
            <a:spLocks noChangeArrowheads="1"/>
          </p:cNvSpPr>
          <p:nvPr/>
        </p:nvSpPr>
        <p:spPr bwMode="auto">
          <a:xfrm rot="480000">
            <a:off x="3163781" y="3759022"/>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Rectangle 47">
            <a:extLst>
              <a:ext uri="{FF2B5EF4-FFF2-40B4-BE49-F238E27FC236}">
                <a16:creationId xmlns:a16="http://schemas.microsoft.com/office/drawing/2014/main" id="{92A2FEE6-98A0-6F14-D57A-375C523A4739}"/>
              </a:ext>
            </a:extLst>
          </p:cNvPr>
          <p:cNvSpPr>
            <a:spLocks noChangeArrowheads="1"/>
          </p:cNvSpPr>
          <p:nvPr/>
        </p:nvSpPr>
        <p:spPr bwMode="auto">
          <a:xfrm rot="540000">
            <a:off x="2668945" y="3604806"/>
            <a:ext cx="384722" cy="27443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2</a:t>
            </a:r>
          </a:p>
        </p:txBody>
      </p:sp>
      <p:sp>
        <p:nvSpPr>
          <p:cNvPr id="26" name="TextBox 86">
            <a:extLst>
              <a:ext uri="{FF2B5EF4-FFF2-40B4-BE49-F238E27FC236}">
                <a16:creationId xmlns:a16="http://schemas.microsoft.com/office/drawing/2014/main" id="{B731CAC9-AF66-8F40-2509-EA7262D5A790}"/>
              </a:ext>
            </a:extLst>
          </p:cNvPr>
          <p:cNvSpPr txBox="1"/>
          <p:nvPr/>
        </p:nvSpPr>
        <p:spPr>
          <a:xfrm>
            <a:off x="3575313" y="21651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27" name="TextBox 86">
            <a:extLst>
              <a:ext uri="{FF2B5EF4-FFF2-40B4-BE49-F238E27FC236}">
                <a16:creationId xmlns:a16="http://schemas.microsoft.com/office/drawing/2014/main" id="{4AC911D0-8A3D-A0DF-8B71-3C33B0E3FA2B}"/>
              </a:ext>
            </a:extLst>
          </p:cNvPr>
          <p:cNvSpPr txBox="1"/>
          <p:nvPr/>
        </p:nvSpPr>
        <p:spPr>
          <a:xfrm>
            <a:off x="3619857" y="2992108"/>
            <a:ext cx="982833" cy="461665"/>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重复、丢弃</a:t>
            </a:r>
            <a:endParaRPr lang="en-US" altLang="zh-CN" sz="1200" dirty="0">
              <a:latin typeface="微软雅黑 Light" panose="020B0502040204020203" pitchFamily="34" charset="-122"/>
              <a:ea typeface="微软雅黑 Light" panose="020B0502040204020203" pitchFamily="34" charset="-122"/>
            </a:endParaRPr>
          </a:p>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30" name="TextBox 86">
            <a:extLst>
              <a:ext uri="{FF2B5EF4-FFF2-40B4-BE49-F238E27FC236}">
                <a16:creationId xmlns:a16="http://schemas.microsoft.com/office/drawing/2014/main" id="{E2620326-DDC6-408A-386B-6CF66076CBFB}"/>
              </a:ext>
            </a:extLst>
          </p:cNvPr>
          <p:cNvSpPr txBox="1"/>
          <p:nvPr/>
        </p:nvSpPr>
        <p:spPr>
          <a:xfrm>
            <a:off x="1100729" y="3838320"/>
            <a:ext cx="1349921" cy="461665"/>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重复 </a:t>
            </a:r>
            <a:r>
              <a:rPr lang="en-US" altLang="zh-CN" sz="1200" dirty="0">
                <a:latin typeface="微软雅黑 Light" panose="020B0502040204020203" pitchFamily="34" charset="-122"/>
                <a:ea typeface="微软雅黑 Light" panose="020B0502040204020203" pitchFamily="34" charset="-122"/>
              </a:rPr>
              <a:t>ACK1</a:t>
            </a:r>
            <a:r>
              <a:rPr lang="zh-CN" altLang="en-US" sz="1200" dirty="0">
                <a:latin typeface="微软雅黑 Light" panose="020B0502040204020203" pitchFamily="34" charset="-122"/>
                <a:ea typeface="微软雅黑 Light" panose="020B0502040204020203" pitchFamily="34" charset="-122"/>
              </a:rPr>
              <a:t>，丢弃</a:t>
            </a:r>
          </a:p>
          <a:p>
            <a:pPr algn="r" defTabSz="762000" eaLnBrk="0" hangingPunct="0"/>
            <a:r>
              <a:rPr lang="zh-CN" altLang="en-US" sz="1200" dirty="0">
                <a:latin typeface="微软雅黑 Light" panose="020B0502040204020203" pitchFamily="34" charset="-122"/>
                <a:ea typeface="微软雅黑 Light" panose="020B0502040204020203" pitchFamily="34" charset="-122"/>
              </a:rPr>
              <a:t>等待 </a:t>
            </a:r>
            <a:r>
              <a:rPr lang="en-US" altLang="zh-CN" sz="1200" dirty="0">
                <a:latin typeface="微软雅黑 Light" panose="020B0502040204020203" pitchFamily="34" charset="-122"/>
                <a:ea typeface="微软雅黑 Light" panose="020B0502040204020203" pitchFamily="34" charset="-122"/>
              </a:rPr>
              <a:t>ACK2 </a:t>
            </a:r>
          </a:p>
        </p:txBody>
      </p:sp>
      <p:sp>
        <p:nvSpPr>
          <p:cNvPr id="31" name="Line 52">
            <a:extLst>
              <a:ext uri="{FF2B5EF4-FFF2-40B4-BE49-F238E27FC236}">
                <a16:creationId xmlns:a16="http://schemas.microsoft.com/office/drawing/2014/main" id="{4D3F3009-10AB-C497-FF54-7868C97C0A37}"/>
              </a:ext>
            </a:extLst>
          </p:cNvPr>
          <p:cNvSpPr>
            <a:spLocks noChangeShapeType="1"/>
          </p:cNvSpPr>
          <p:nvPr/>
        </p:nvSpPr>
        <p:spPr bwMode="auto">
          <a:xfrm flipH="1">
            <a:off x="2435256" y="2266841"/>
            <a:ext cx="1147737" cy="1744159"/>
          </a:xfrm>
          <a:prstGeom prst="line">
            <a:avLst/>
          </a:prstGeom>
          <a:noFill/>
          <a:ln w="12700">
            <a:solidFill>
              <a:srgbClr val="FF0000"/>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7070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999"/>
                                          </p:stCondLst>
                                        </p:cTn>
                                        <p:tgtEl>
                                          <p:spTgt spid="26"/>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500" fill="hold"/>
                                        <p:tgtEl>
                                          <p:spTgt spid="26"/>
                                        </p:tgtEl>
                                        <p:attrNameLst>
                                          <p:attrName>style.visibility</p:attrName>
                                        </p:attrNameLst>
                                      </p:cBhvr>
                                      <p:tavLst>
                                        <p:tav tm="0">
                                          <p:val>
                                            <p:strVal val="hidden"/>
                                          </p:val>
                                        </p:tav>
                                        <p:tav tm="50000">
                                          <p:val>
                                            <p:strVal val="visible"/>
                                          </p:val>
                                        </p:tav>
                                      </p:tavLst>
                                    </p:anim>
                                  </p:childTnLst>
                                </p:cTn>
                              </p:par>
                            </p:childTnLst>
                          </p:cTn>
                        </p:par>
                        <p:par>
                          <p:cTn id="9" fill="hold">
                            <p:stCondLst>
                              <p:cond delay="1500"/>
                            </p:stCondLst>
                            <p:childTnLst>
                              <p:par>
                                <p:cTn id="10" presetID="1" presetClass="entr" presetSubtype="0" fill="hold" grpId="0" nodeType="afterEffect">
                                  <p:stCondLst>
                                    <p:cond delay="0"/>
                                  </p:stCondLst>
                                  <p:childTnLst>
                                    <p:set>
                                      <p:cBhvr>
                                        <p:cTn id="11" dur="1" fill="hold">
                                          <p:stCondLst>
                                            <p:cond delay="999"/>
                                          </p:stCondLst>
                                        </p:cTn>
                                        <p:tgtEl>
                                          <p:spTgt spid="27"/>
                                        </p:tgtEl>
                                        <p:attrNameLst>
                                          <p:attrName>style.visibility</p:attrName>
                                        </p:attrNameLst>
                                      </p:cBhvr>
                                      <p:to>
                                        <p:strVal val="visible"/>
                                      </p:to>
                                    </p:set>
                                  </p:childTnLst>
                                </p:cTn>
                              </p:par>
                              <p:par>
                                <p:cTn id="12" presetID="35" presetClass="emph" presetSubtype="0" repeatCount="3000" fill="hold" grpId="1" nodeType="withEffect">
                                  <p:stCondLst>
                                    <p:cond delay="0"/>
                                  </p:stCondLst>
                                  <p:childTnLst>
                                    <p:anim calcmode="discrete" valueType="str">
                                      <p:cBhvr>
                                        <p:cTn id="13" dur="500" fill="hold"/>
                                        <p:tgtEl>
                                          <p:spTgt spid="27"/>
                                        </p:tgtEl>
                                        <p:attrNameLst>
                                          <p:attrName>style.visibility</p:attrName>
                                        </p:attrNameLst>
                                      </p:cBhvr>
                                      <p:tavLst>
                                        <p:tav tm="0">
                                          <p:val>
                                            <p:strVal val="hidden"/>
                                          </p:val>
                                        </p:tav>
                                        <p:tav tm="50000">
                                          <p:val>
                                            <p:strVal val="visible"/>
                                          </p:val>
                                        </p:tav>
                                      </p:tavLst>
                                    </p:anim>
                                  </p:childTnLst>
                                </p:cTn>
                              </p:par>
                            </p:childTnLst>
                          </p:cTn>
                        </p:par>
                        <p:par>
                          <p:cTn id="14" fill="hold">
                            <p:stCondLst>
                              <p:cond delay="3000"/>
                            </p:stCondLst>
                            <p:childTnLst>
                              <p:par>
                                <p:cTn id="15" presetID="1" presetClass="entr" presetSubtype="0" fill="hold" grpId="0" nodeType="afterEffect">
                                  <p:stCondLst>
                                    <p:cond delay="0"/>
                                  </p:stCondLst>
                                  <p:childTnLst>
                                    <p:set>
                                      <p:cBhvr>
                                        <p:cTn id="16" dur="1" fill="hold">
                                          <p:stCondLst>
                                            <p:cond delay="999"/>
                                          </p:stCondLst>
                                        </p:cTn>
                                        <p:tgtEl>
                                          <p:spTgt spid="30"/>
                                        </p:tgtEl>
                                        <p:attrNameLst>
                                          <p:attrName>style.visibility</p:attrName>
                                        </p:attrNameLst>
                                      </p:cBhvr>
                                      <p:to>
                                        <p:strVal val="visible"/>
                                      </p:to>
                                    </p:set>
                                  </p:childTnLst>
                                </p:cTn>
                              </p:par>
                              <p:par>
                                <p:cTn id="17" presetID="35" presetClass="emph" presetSubtype="0" repeatCount="3000" fill="hold" grpId="1" nodeType="withEffect">
                                  <p:stCondLst>
                                    <p:cond delay="0"/>
                                  </p:stCondLst>
                                  <p:childTnLst>
                                    <p:anim calcmode="discrete" valueType="str">
                                      <p:cBhvr>
                                        <p:cTn id="18" dur="5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6" grpId="1"/>
      <p:bldP spid="27" grpId="0"/>
      <p:bldP spid="27" grpId="1"/>
      <p:bldP spid="30" grpId="0"/>
      <p:bldP spid="30" grpId="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a:solidFill>
                  <a:srgbClr val="0000FF"/>
                </a:solidFill>
                <a:latin typeface="微软雅黑" pitchFamily="34" charset="-122"/>
                <a:ea typeface="微软雅黑" pitchFamily="34" charset="-122"/>
              </a:rPr>
              <a:t>T</a:t>
            </a:r>
            <a:r>
              <a:rPr lang="en-US" altLang="zh-CN" sz="1200" b="1" i="1" baseline="-25000">
                <a:solidFill>
                  <a:srgbClr val="0000FF"/>
                </a:solidFill>
                <a:latin typeface="微软雅黑" pitchFamily="34" charset="-122"/>
                <a:ea typeface="微软雅黑" pitchFamily="34" charset="-122"/>
              </a:rPr>
              <a:t>D</a:t>
            </a:r>
            <a:r>
              <a:rPr lang="en-US" altLang="zh-CN" sz="1200" b="1">
                <a:solidFill>
                  <a:srgbClr val="0000FF"/>
                </a:solidFill>
                <a:latin typeface="微软雅黑" pitchFamily="34" charset="-122"/>
                <a:ea typeface="微软雅黑" pitchFamily="34" charset="-122"/>
              </a:rPr>
              <a:t> + RTT + </a:t>
            </a:r>
            <a:r>
              <a:rPr lang="en-US" altLang="zh-CN" sz="1200" b="1" i="1">
                <a:solidFill>
                  <a:srgbClr val="0000FF"/>
                </a:solidFill>
                <a:latin typeface="微软雅黑" pitchFamily="34" charset="-122"/>
                <a:ea typeface="微软雅黑" pitchFamily="34" charset="-122"/>
              </a:rPr>
              <a:t>T</a:t>
            </a:r>
            <a:r>
              <a:rPr lang="en-US" altLang="zh-CN" sz="1200" b="1" i="1" baseline="-2500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9" name="内容占位符 8">
            <a:extLst>
              <a:ext uri="{FF2B5EF4-FFF2-40B4-BE49-F238E27FC236}">
                <a16:creationId xmlns:a16="http://schemas.microsoft.com/office/drawing/2014/main" id="{1F882924-89B4-26A7-4A9D-33B0C18F5EF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D8D0C5-9B16-7DBD-4DDF-D60308163E5B}"/>
              </a:ext>
            </a:extLst>
          </p:cNvPr>
          <p:cNvSpPr>
            <a:spLocks noGrp="1"/>
          </p:cNvSpPr>
          <p:nvPr>
            <p:ph type="title"/>
          </p:nvPr>
        </p:nvSpPr>
        <p:spPr>
          <a:xfrm>
            <a:off x="486000" y="550723"/>
            <a:ext cx="8172000" cy="338554"/>
          </a:xfrm>
          <a:prstGeom prst="rect">
            <a:avLst/>
          </a:prstGeom>
        </p:spPr>
        <p:txBody>
          <a:bodyPr/>
          <a:lstStyle/>
          <a:p>
            <a:r>
              <a:rPr lang="en-US" altLang="zh-CN" dirty="0"/>
              <a:t>4. </a:t>
            </a:r>
            <a:r>
              <a:rPr lang="zh-CN" altLang="en-US" dirty="0"/>
              <a:t>信道利用率</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77AC990-EF7B-DB4C-217C-5D9ADDB7646E}"/>
              </a:ext>
            </a:extLst>
          </p:cNvPr>
          <p:cNvSpPr>
            <a:spLocks noGrp="1"/>
          </p:cNvSpPr>
          <p:nvPr>
            <p:ph sz="quarter" idx="11"/>
          </p:nvPr>
        </p:nvSpPr>
        <p:spPr>
          <a:xfrm>
            <a:off x="486000" y="900000"/>
            <a:ext cx="8172000" cy="3703500"/>
          </a:xfrm>
        </p:spPr>
        <p:txBody>
          <a:bodyPr/>
          <a:lstStyle/>
          <a:p>
            <a:r>
              <a:rPr lang="zh-CN" altLang="en-US" dirty="0"/>
              <a:t>停止等待。发送方每次只发送一个分组。在收到确认后再发送下一个分组。</a:t>
            </a:r>
            <a:endParaRPr lang="en-US" altLang="zh-CN" dirty="0"/>
          </a:p>
          <a:p>
            <a:r>
              <a:rPr lang="zh-CN" altLang="en-US" dirty="0"/>
              <a:t>暂存：在发送完一个分组后，发送方必须暂存已发送的分组的副本，以备重发。</a:t>
            </a:r>
          </a:p>
          <a:p>
            <a:r>
              <a:rPr lang="zh-CN" altLang="en-US" dirty="0"/>
              <a:t>编号。对发送的每个分组和确认都进行编号。</a:t>
            </a:r>
            <a:endParaRPr lang="en-US" altLang="zh-CN" dirty="0"/>
          </a:p>
          <a:p>
            <a:r>
              <a:rPr lang="zh-CN" altLang="en-US" dirty="0"/>
              <a:t>超时重传。发送方为发送的每个分组设置一个超时计时器。若超时计时器超时位收到确认，发送方会自动超时重传分组。</a:t>
            </a:r>
            <a:endParaRPr lang="en-US" altLang="zh-CN" dirty="0"/>
          </a:p>
          <a:p>
            <a:r>
              <a:rPr lang="zh-CN" altLang="en-US" dirty="0"/>
              <a:t>超时计时器的重传时间应当比数据在分组传输的平均往返时间更长一些，防止不必要的重传。</a:t>
            </a:r>
          </a:p>
          <a:p>
            <a:r>
              <a:rPr lang="zh-CN" altLang="en-US" dirty="0"/>
              <a:t>简单，但信道利用率太低。</a:t>
            </a:r>
          </a:p>
          <a:p>
            <a:endParaRPr lang="zh-CN" altLang="en-US" dirty="0"/>
          </a:p>
        </p:txBody>
      </p:sp>
      <p:sp>
        <p:nvSpPr>
          <p:cNvPr id="5" name="标题 4">
            <a:extLst>
              <a:ext uri="{FF2B5EF4-FFF2-40B4-BE49-F238E27FC236}">
                <a16:creationId xmlns:a16="http://schemas.microsoft.com/office/drawing/2014/main" id="{1FD3B742-40EE-DECE-2034-CFB707F8FAE7}"/>
              </a:ext>
            </a:extLst>
          </p:cNvPr>
          <p:cNvSpPr>
            <a:spLocks noGrp="1"/>
          </p:cNvSpPr>
          <p:nvPr>
            <p:ph type="title"/>
          </p:nvPr>
        </p:nvSpPr>
        <p:spPr>
          <a:xfrm>
            <a:off x="486000" y="550723"/>
            <a:ext cx="8172000" cy="338554"/>
          </a:xfrm>
          <a:prstGeom prst="rect">
            <a:avLst/>
          </a:prstGeom>
        </p:spPr>
        <p:txBody>
          <a:bodyPr/>
          <a:lstStyle/>
          <a:p>
            <a:r>
              <a:rPr lang="zh-CN" altLang="en-US" dirty="0"/>
              <a:t>停止等待协议要点</a:t>
            </a:r>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3BB71BE-AB6E-0199-3176-8301163E6B32}"/>
              </a:ext>
            </a:extLst>
          </p:cNvPr>
          <p:cNvSpPr>
            <a:spLocks noGrp="1"/>
          </p:cNvSpPr>
          <p:nvPr>
            <p:ph type="title"/>
          </p:nvPr>
        </p:nvSpPr>
        <p:spPr>
          <a:xfrm>
            <a:off x="486000" y="550723"/>
            <a:ext cx="8172000" cy="338554"/>
          </a:xfrm>
        </p:spPr>
        <p:txBody>
          <a:bodyPr/>
          <a:lstStyle/>
          <a:p>
            <a:r>
              <a:rPr lang="zh-CN" altLang="en-US" dirty="0"/>
              <a:t>提高传输效率：流水线传输</a:t>
            </a:r>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71C5388-A48B-55D5-86D7-D9832992FE25}"/>
              </a:ext>
            </a:extLst>
          </p:cNvPr>
          <p:cNvSpPr>
            <a:spLocks noGrp="1"/>
          </p:cNvSpPr>
          <p:nvPr>
            <p:ph sz="quarter" idx="11"/>
          </p:nvPr>
        </p:nvSpPr>
        <p:spPr>
          <a:xfrm>
            <a:off x="486000" y="900000"/>
            <a:ext cx="8172000" cy="3703500"/>
          </a:xfrm>
        </p:spPr>
        <p:txBody>
          <a:bodyPr/>
          <a:lstStyle/>
          <a:p>
            <a:r>
              <a:rPr lang="zh-CN" altLang="en-US" dirty="0"/>
              <a:t>发送窗口：发送方维持一个发送窗口，位于发送窗口内的分组都可被连续发送出去，而不需要等待对方的确认。</a:t>
            </a:r>
            <a:endParaRPr lang="en-US" altLang="zh-CN" dirty="0"/>
          </a:p>
          <a:p>
            <a:r>
              <a:rPr lang="zh-CN" altLang="en-US" dirty="0"/>
              <a:t>发送窗口滑动：发送方每收到一个确认，就把发送窗口向前滑动一个分组的位置。</a:t>
            </a:r>
            <a:endParaRPr lang="en-US" altLang="zh-CN" dirty="0"/>
          </a:p>
          <a:p>
            <a:r>
              <a:rPr lang="zh-CN" altLang="en-US" dirty="0"/>
              <a:t>累积确认：接收方对按序到达的最后一个分组发送确认，表示：到这个分组为止的所有分组都已正确收到了。</a:t>
            </a:r>
            <a:endParaRPr lang="en-US" altLang="zh-CN" dirty="0"/>
          </a:p>
          <a:p>
            <a:endParaRPr lang="zh-CN" altLang="en-US" dirty="0"/>
          </a:p>
        </p:txBody>
      </p:sp>
      <p:sp>
        <p:nvSpPr>
          <p:cNvPr id="8" name="标题 7">
            <a:extLst>
              <a:ext uri="{FF2B5EF4-FFF2-40B4-BE49-F238E27FC236}">
                <a16:creationId xmlns:a16="http://schemas.microsoft.com/office/drawing/2014/main" id="{768021DB-D274-0A0A-E6E8-93171712004C}"/>
              </a:ext>
            </a:extLst>
          </p:cNvPr>
          <p:cNvSpPr>
            <a:spLocks noGrp="1"/>
          </p:cNvSpPr>
          <p:nvPr>
            <p:ph type="title"/>
          </p:nvPr>
        </p:nvSpPr>
        <p:spPr>
          <a:xfrm>
            <a:off x="486000" y="550723"/>
            <a:ext cx="8172000" cy="338554"/>
          </a:xfrm>
        </p:spPr>
        <p:txBody>
          <a:bodyPr/>
          <a:lstStyle/>
          <a:p>
            <a:r>
              <a:rPr lang="en-US" altLang="zh-CN" dirty="0"/>
              <a:t>5.4.2   </a:t>
            </a:r>
            <a:r>
              <a:rPr lang="zh-CN" altLang="en-US" dirty="0"/>
              <a:t>连续 </a:t>
            </a:r>
            <a:r>
              <a:rPr lang="en-US" altLang="zh-CN" dirty="0"/>
              <a:t>ARQ </a:t>
            </a:r>
            <a:r>
              <a:rPr lang="zh-CN" altLang="en-US" dirty="0"/>
              <a:t>协议</a:t>
            </a:r>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86CC97-3CD7-9D5B-1634-5383FA9E0FEA}"/>
              </a:ext>
            </a:extLst>
          </p:cNvPr>
          <p:cNvSpPr>
            <a:spLocks noGrp="1"/>
          </p:cNvSpPr>
          <p:nvPr>
            <p:ph type="title" idx="4294967295"/>
          </p:nvPr>
        </p:nvSpPr>
        <p:spPr>
          <a:xfrm>
            <a:off x="0" y="550863"/>
            <a:ext cx="8172450" cy="338137"/>
          </a:xfrm>
          <a:prstGeom prst="rect">
            <a:avLst/>
          </a:prstGeom>
        </p:spPr>
        <p:txBody>
          <a:bodyPr/>
          <a:lstStyle/>
          <a:p>
            <a:r>
              <a:rPr lang="zh-CN" altLang="en-US" dirty="0"/>
              <a:t>发送窗口</a:t>
            </a:r>
          </a:p>
        </p:txBody>
      </p:sp>
      <p:grpSp>
        <p:nvGrpSpPr>
          <p:cNvPr id="5" name="组合 4"/>
          <p:cNvGrpSpPr/>
          <p:nvPr/>
        </p:nvGrpSpPr>
        <p:grpSpPr>
          <a:xfrm>
            <a:off x="2077542"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CB8ADEDB-CD5B-E37C-6460-67AF5DA3053C}"/>
              </a:ext>
            </a:extLst>
          </p:cNvPr>
          <p:cNvSpPr>
            <a:spLocks noChangeArrowheads="1"/>
          </p:cNvSpPr>
          <p:nvPr/>
        </p:nvSpPr>
        <p:spPr bwMode="auto">
          <a:xfrm>
            <a:off x="2077541" y="1367482"/>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0" name="Text Box 31">
            <a:extLst>
              <a:ext uri="{FF2B5EF4-FFF2-40B4-BE49-F238E27FC236}">
                <a16:creationId xmlns:a16="http://schemas.microsoft.com/office/drawing/2014/main" id="{CE160EBD-7171-0F42-2D6E-B1E26D0B76BA}"/>
              </a:ext>
            </a:extLst>
          </p:cNvPr>
          <p:cNvSpPr txBox="1">
            <a:spLocks noChangeArrowheads="1"/>
          </p:cNvSpPr>
          <p:nvPr/>
        </p:nvSpPr>
        <p:spPr bwMode="auto">
          <a:xfrm>
            <a:off x="3342431" y="103875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31" name="表格 30">
            <a:extLst>
              <a:ext uri="{FF2B5EF4-FFF2-40B4-BE49-F238E27FC236}">
                <a16:creationId xmlns:a16="http://schemas.microsoft.com/office/drawing/2014/main" id="{3A93FFC0-D82B-A3A2-A5C2-0A4EEDE22CB2}"/>
              </a:ext>
            </a:extLst>
          </p:cNvPr>
          <p:cNvGraphicFramePr>
            <a:graphicFrameLocks noGrp="1"/>
          </p:cNvGraphicFramePr>
          <p:nvPr>
            <p:extLst>
              <p:ext uri="{D42A27DB-BD31-4B8C-83A1-F6EECF244321}">
                <p14:modId xmlns:p14="http://schemas.microsoft.com/office/powerpoint/2010/main" val="3169804642"/>
              </p:ext>
            </p:extLst>
          </p:nvPr>
        </p:nvGraphicFramePr>
        <p:xfrm>
          <a:off x="642065" y="1460684"/>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32" name="AutoShape 26">
            <a:extLst>
              <a:ext uri="{FF2B5EF4-FFF2-40B4-BE49-F238E27FC236}">
                <a16:creationId xmlns:a16="http://schemas.microsoft.com/office/drawing/2014/main" id="{6E6E67BF-0C2B-64DE-7126-350FD971904F}"/>
              </a:ext>
            </a:extLst>
          </p:cNvPr>
          <p:cNvSpPr>
            <a:spLocks/>
          </p:cNvSpPr>
          <p:nvPr/>
        </p:nvSpPr>
        <p:spPr bwMode="auto">
          <a:xfrm rot="16200000">
            <a:off x="4409693"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AutoShape 26">
            <a:extLst>
              <a:ext uri="{FF2B5EF4-FFF2-40B4-BE49-F238E27FC236}">
                <a16:creationId xmlns:a16="http://schemas.microsoft.com/office/drawing/2014/main" id="{27556AE5-7E0A-B51E-5AC8-DB9D1E58A796}"/>
              </a:ext>
            </a:extLst>
          </p:cNvPr>
          <p:cNvSpPr>
            <a:spLocks/>
          </p:cNvSpPr>
          <p:nvPr/>
        </p:nvSpPr>
        <p:spPr bwMode="auto">
          <a:xfrm rot="16200000">
            <a:off x="2743541"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AutoShape 26">
            <a:extLst>
              <a:ext uri="{FF2B5EF4-FFF2-40B4-BE49-F238E27FC236}">
                <a16:creationId xmlns:a16="http://schemas.microsoft.com/office/drawing/2014/main" id="{2BEA4913-768B-DEA7-66B5-78C630B78707}"/>
              </a:ext>
            </a:extLst>
          </p:cNvPr>
          <p:cNvSpPr>
            <a:spLocks/>
          </p:cNvSpPr>
          <p:nvPr/>
        </p:nvSpPr>
        <p:spPr bwMode="auto">
          <a:xfrm rot="16200000">
            <a:off x="1308065" y="1412023"/>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AutoShape 26">
            <a:extLst>
              <a:ext uri="{FF2B5EF4-FFF2-40B4-BE49-F238E27FC236}">
                <a16:creationId xmlns:a16="http://schemas.microsoft.com/office/drawing/2014/main" id="{34B5F3B1-1EAE-E2E9-21E3-95D5158A20CB}"/>
              </a:ext>
            </a:extLst>
          </p:cNvPr>
          <p:cNvSpPr>
            <a:spLocks/>
          </p:cNvSpPr>
          <p:nvPr/>
        </p:nvSpPr>
        <p:spPr bwMode="auto">
          <a:xfrm rot="16200000">
            <a:off x="6060069"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文本框 36">
            <a:extLst>
              <a:ext uri="{FF2B5EF4-FFF2-40B4-BE49-F238E27FC236}">
                <a16:creationId xmlns:a16="http://schemas.microsoft.com/office/drawing/2014/main" id="{E06DADD9-1CB5-5A33-3373-B55F0CC83092}"/>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38" name="文本框 37">
            <a:extLst>
              <a:ext uri="{FF2B5EF4-FFF2-40B4-BE49-F238E27FC236}">
                <a16:creationId xmlns:a16="http://schemas.microsoft.com/office/drawing/2014/main" id="{F165BC0C-9023-BCF4-DC4A-9565937E9C5C}"/>
              </a:ext>
            </a:extLst>
          </p:cNvPr>
          <p:cNvSpPr txBox="1"/>
          <p:nvPr/>
        </p:nvSpPr>
        <p:spPr>
          <a:xfrm>
            <a:off x="4136879" y="2257769"/>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p:txBody>
      </p:sp>
      <p:sp>
        <p:nvSpPr>
          <p:cNvPr id="39" name="文本框 38">
            <a:extLst>
              <a:ext uri="{FF2B5EF4-FFF2-40B4-BE49-F238E27FC236}">
                <a16:creationId xmlns:a16="http://schemas.microsoft.com/office/drawing/2014/main" id="{89C38842-852D-6020-61F3-3B2EAC3805B9}"/>
              </a:ext>
            </a:extLst>
          </p:cNvPr>
          <p:cNvSpPr txBox="1"/>
          <p:nvPr/>
        </p:nvSpPr>
        <p:spPr>
          <a:xfrm>
            <a:off x="1038900"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40" name="文本框 39">
            <a:extLst>
              <a:ext uri="{FF2B5EF4-FFF2-40B4-BE49-F238E27FC236}">
                <a16:creationId xmlns:a16="http://schemas.microsoft.com/office/drawing/2014/main" id="{C0C0ACD1-9DC4-B41A-CB4B-E106BF866FFB}"/>
              </a:ext>
            </a:extLst>
          </p:cNvPr>
          <p:cNvSpPr txBox="1"/>
          <p:nvPr/>
        </p:nvSpPr>
        <p:spPr>
          <a:xfrm>
            <a:off x="5790903"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 name="Rectangle 29">
            <a:extLst>
              <a:ext uri="{FF2B5EF4-FFF2-40B4-BE49-F238E27FC236}">
                <a16:creationId xmlns:a16="http://schemas.microsoft.com/office/drawing/2014/main" id="{5236DE82-61C0-C0AE-FEAB-22478EAB46A7}"/>
              </a:ext>
            </a:extLst>
          </p:cNvPr>
          <p:cNvSpPr>
            <a:spLocks noChangeArrowheads="1"/>
          </p:cNvSpPr>
          <p:nvPr/>
        </p:nvSpPr>
        <p:spPr bwMode="auto">
          <a:xfrm>
            <a:off x="2077541" y="3266269"/>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0E46EBBD-5D4F-4C71-20A9-C8F8626F2570}"/>
              </a:ext>
            </a:extLst>
          </p:cNvPr>
          <p:cNvSpPr txBox="1">
            <a:spLocks noChangeArrowheads="1"/>
          </p:cNvSpPr>
          <p:nvPr/>
        </p:nvSpPr>
        <p:spPr bwMode="auto">
          <a:xfrm>
            <a:off x="3342432" y="2937537"/>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接收窗口</a:t>
            </a:r>
          </a:p>
        </p:txBody>
      </p:sp>
      <p:graphicFrame>
        <p:nvGraphicFramePr>
          <p:cNvPr id="5" name="表格 4">
            <a:extLst>
              <a:ext uri="{FF2B5EF4-FFF2-40B4-BE49-F238E27FC236}">
                <a16:creationId xmlns:a16="http://schemas.microsoft.com/office/drawing/2014/main" id="{25CD0DED-9755-3BEE-57D7-83BFBF16E324}"/>
              </a:ext>
            </a:extLst>
          </p:cNvPr>
          <p:cNvGraphicFramePr>
            <a:graphicFrameLocks noGrp="1"/>
          </p:cNvGraphicFramePr>
          <p:nvPr>
            <p:extLst>
              <p:ext uri="{D42A27DB-BD31-4B8C-83A1-F6EECF244321}">
                <p14:modId xmlns:p14="http://schemas.microsoft.com/office/powerpoint/2010/main" val="1648239173"/>
              </p:ext>
            </p:extLst>
          </p:nvPr>
        </p:nvGraphicFramePr>
        <p:xfrm>
          <a:off x="642065" y="3359471"/>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40830B2F-6354-BA21-249E-D098B656A358}"/>
              </a:ext>
            </a:extLst>
          </p:cNvPr>
          <p:cNvSpPr>
            <a:spLocks/>
          </p:cNvSpPr>
          <p:nvPr/>
        </p:nvSpPr>
        <p:spPr bwMode="auto">
          <a:xfrm rot="16200000">
            <a:off x="4409693" y="3112811"/>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AutoShape 26">
            <a:extLst>
              <a:ext uri="{FF2B5EF4-FFF2-40B4-BE49-F238E27FC236}">
                <a16:creationId xmlns:a16="http://schemas.microsoft.com/office/drawing/2014/main" id="{3486C548-2C08-2175-E240-55DED8817CB8}"/>
              </a:ext>
            </a:extLst>
          </p:cNvPr>
          <p:cNvSpPr>
            <a:spLocks/>
          </p:cNvSpPr>
          <p:nvPr/>
        </p:nvSpPr>
        <p:spPr bwMode="auto">
          <a:xfrm rot="16200000">
            <a:off x="2257541" y="3796811"/>
            <a:ext cx="108000" cy="4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61B1B53D-FB4C-75A7-877E-B37D0F093897}"/>
              </a:ext>
            </a:extLst>
          </p:cNvPr>
          <p:cNvSpPr>
            <a:spLocks/>
          </p:cNvSpPr>
          <p:nvPr/>
        </p:nvSpPr>
        <p:spPr bwMode="auto">
          <a:xfrm rot="16200000">
            <a:off x="1308065" y="3310810"/>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文本框 9">
            <a:extLst>
              <a:ext uri="{FF2B5EF4-FFF2-40B4-BE49-F238E27FC236}">
                <a16:creationId xmlns:a16="http://schemas.microsoft.com/office/drawing/2014/main" id="{0B232B86-25D1-DBF1-7423-4FA2C61BDAEA}"/>
              </a:ext>
            </a:extLst>
          </p:cNvPr>
          <p:cNvSpPr txBox="1"/>
          <p:nvPr/>
        </p:nvSpPr>
        <p:spPr>
          <a:xfrm>
            <a:off x="2700875"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1" name="文本框 10">
            <a:extLst>
              <a:ext uri="{FF2B5EF4-FFF2-40B4-BE49-F238E27FC236}">
                <a16:creationId xmlns:a16="http://schemas.microsoft.com/office/drawing/2014/main" id="{AC8E8E76-F025-6645-D6FD-6C6A13C78A45}"/>
              </a:ext>
            </a:extLst>
          </p:cNvPr>
          <p:cNvSpPr txBox="1"/>
          <p:nvPr/>
        </p:nvSpPr>
        <p:spPr>
          <a:xfrm>
            <a:off x="4135280" y="4156556"/>
            <a:ext cx="649537"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可接收</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F1D801A5-B9EB-BEB2-56CF-E41AD520508E}"/>
              </a:ext>
            </a:extLst>
          </p:cNvPr>
          <p:cNvSpPr txBox="1"/>
          <p:nvPr/>
        </p:nvSpPr>
        <p:spPr>
          <a:xfrm>
            <a:off x="1038900"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14" name="AutoShape 26">
            <a:extLst>
              <a:ext uri="{FF2B5EF4-FFF2-40B4-BE49-F238E27FC236}">
                <a16:creationId xmlns:a16="http://schemas.microsoft.com/office/drawing/2014/main" id="{783E87A3-EA8B-DB21-C0C4-4DD83FA846FB}"/>
              </a:ext>
            </a:extLst>
          </p:cNvPr>
          <p:cNvSpPr>
            <a:spLocks/>
          </p:cNvSpPr>
          <p:nvPr/>
        </p:nvSpPr>
        <p:spPr bwMode="auto">
          <a:xfrm rot="16200000">
            <a:off x="2970040" y="3562811"/>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文本框 14">
            <a:extLst>
              <a:ext uri="{FF2B5EF4-FFF2-40B4-BE49-F238E27FC236}">
                <a16:creationId xmlns:a16="http://schemas.microsoft.com/office/drawing/2014/main" id="{6C92EF24-CF68-F2D8-A0B6-A3C383863063}"/>
              </a:ext>
            </a:extLst>
          </p:cNvPr>
          <p:cNvSpPr txBox="1"/>
          <p:nvPr/>
        </p:nvSpPr>
        <p:spPr>
          <a:xfrm>
            <a:off x="1982872" y="4156556"/>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未收到</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105388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5" name="标题 4">
            <a:extLst>
              <a:ext uri="{FF2B5EF4-FFF2-40B4-BE49-F238E27FC236}">
                <a16:creationId xmlns:a16="http://schemas.microsoft.com/office/drawing/2014/main" id="{30DE72BD-E175-7485-4B6E-D5FB710E05DB}"/>
              </a:ext>
            </a:extLst>
          </p:cNvPr>
          <p:cNvSpPr>
            <a:spLocks noGrp="1"/>
          </p:cNvSpPr>
          <p:nvPr>
            <p:ph type="title"/>
          </p:nvPr>
        </p:nvSpPr>
        <p:spPr>
          <a:xfrm>
            <a:off x="486000" y="550723"/>
            <a:ext cx="8172000" cy="338554"/>
          </a:xfrm>
        </p:spPr>
        <p:txBody>
          <a:bodyPr/>
          <a:lstStyle/>
          <a:p>
            <a:r>
              <a:rPr lang="zh-CN" altLang="en-US" dirty="0"/>
              <a:t>累积确认</a:t>
            </a:r>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4" name="标题 3">
            <a:extLst>
              <a:ext uri="{FF2B5EF4-FFF2-40B4-BE49-F238E27FC236}">
                <a16:creationId xmlns:a16="http://schemas.microsoft.com/office/drawing/2014/main" id="{A01005FA-B250-5FC3-74E9-64C088C11A0B}"/>
              </a:ext>
            </a:extLst>
          </p:cNvPr>
          <p:cNvSpPr>
            <a:spLocks noGrp="1"/>
          </p:cNvSpPr>
          <p:nvPr>
            <p:ph type="title"/>
          </p:nvPr>
        </p:nvSpPr>
        <p:spPr>
          <a:xfrm>
            <a:off x="486000" y="550723"/>
            <a:ext cx="8172000" cy="338554"/>
          </a:xfrm>
        </p:spPr>
        <p:txBody>
          <a:bodyPr/>
          <a:lstStyle/>
          <a:p>
            <a:r>
              <a:rPr lang="zh-CN" altLang="en-US" dirty="0"/>
              <a:t>累积确认</a:t>
            </a:r>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42ED8B4-6B40-0BB2-75B1-E289F8A764AD}"/>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虽然是面向字节流的，但 </a:t>
            </a:r>
            <a:r>
              <a:rPr lang="en-US" altLang="zh-CN" dirty="0"/>
              <a:t>TCP </a:t>
            </a:r>
            <a:r>
              <a:rPr lang="zh-CN" altLang="en-US" dirty="0"/>
              <a:t>传送的数据单元却是报文段。</a:t>
            </a:r>
          </a:p>
          <a:p>
            <a:r>
              <a:rPr lang="zh-CN" altLang="en-US" dirty="0"/>
              <a:t>一个 </a:t>
            </a:r>
            <a:r>
              <a:rPr lang="en-US" altLang="zh-CN" dirty="0"/>
              <a:t>TCP </a:t>
            </a:r>
            <a:r>
              <a:rPr lang="zh-CN" altLang="en-US" dirty="0"/>
              <a:t>报文段分为首部和数据两部分，而 </a:t>
            </a:r>
            <a:r>
              <a:rPr lang="en-US" altLang="zh-CN" dirty="0"/>
              <a:t>TCP </a:t>
            </a:r>
            <a:r>
              <a:rPr lang="zh-CN" altLang="en-US" dirty="0"/>
              <a:t>的全部功能都体现在它首部中各字段的作用。</a:t>
            </a:r>
          </a:p>
          <a:p>
            <a:r>
              <a:rPr lang="en-US" altLang="zh-CN" dirty="0"/>
              <a:t>TCP </a:t>
            </a:r>
            <a:r>
              <a:rPr lang="zh-CN" altLang="en-US" dirty="0"/>
              <a:t>报文段首部的前 </a:t>
            </a:r>
            <a:r>
              <a:rPr lang="en-US" altLang="zh-CN" dirty="0"/>
              <a:t>20 </a:t>
            </a:r>
            <a:r>
              <a:rPr lang="zh-CN" altLang="en-US" dirty="0"/>
              <a:t>个字节是固定的，后面有 </a:t>
            </a:r>
            <a:r>
              <a:rPr lang="en-US" altLang="zh-CN" dirty="0"/>
              <a:t>4n </a:t>
            </a:r>
            <a:r>
              <a:rPr lang="zh-CN" altLang="en-US" dirty="0"/>
              <a:t>字节是根据需要而增加的选项 </a:t>
            </a:r>
            <a:r>
              <a:rPr lang="en-US" altLang="zh-CN" dirty="0"/>
              <a:t>(n </a:t>
            </a:r>
            <a:r>
              <a:rPr lang="zh-CN" altLang="en-US" dirty="0"/>
              <a:t>是整数</a:t>
            </a:r>
            <a:r>
              <a:rPr lang="en-US" altLang="zh-CN" dirty="0"/>
              <a:t>)</a:t>
            </a:r>
            <a:r>
              <a:rPr lang="zh-CN" altLang="en-US" dirty="0"/>
              <a:t>。因此 </a:t>
            </a:r>
            <a:r>
              <a:rPr lang="en-US" altLang="zh-CN" dirty="0"/>
              <a:t>TCP </a:t>
            </a:r>
            <a:r>
              <a:rPr lang="zh-CN" altLang="en-US" dirty="0"/>
              <a:t>首部的最小长度是 </a:t>
            </a:r>
            <a:r>
              <a:rPr lang="en-US" altLang="zh-CN" dirty="0"/>
              <a:t>20 </a:t>
            </a:r>
            <a:r>
              <a:rPr lang="zh-CN" altLang="en-US" dirty="0"/>
              <a:t>字节。</a:t>
            </a:r>
          </a:p>
          <a:p>
            <a:endParaRPr lang="zh-CN" altLang="en-US" dirty="0"/>
          </a:p>
        </p:txBody>
      </p:sp>
      <p:sp>
        <p:nvSpPr>
          <p:cNvPr id="8" name="标题 7">
            <a:extLst>
              <a:ext uri="{FF2B5EF4-FFF2-40B4-BE49-F238E27FC236}">
                <a16:creationId xmlns:a16="http://schemas.microsoft.com/office/drawing/2014/main" id="{7E8811FB-71C8-6E02-2049-C616D8102C08}"/>
              </a:ext>
            </a:extLst>
          </p:cNvPr>
          <p:cNvSpPr>
            <a:spLocks noGrp="1"/>
          </p:cNvSpPr>
          <p:nvPr>
            <p:ph type="title"/>
          </p:nvPr>
        </p:nvSpPr>
        <p:spPr>
          <a:xfrm>
            <a:off x="486000" y="550723"/>
            <a:ext cx="8172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a:latin typeface="微软雅黑" pitchFamily="34" charset="-122"/>
                <a:ea typeface="微软雅黑" pitchFamily="34" charset="-122"/>
              </a:rPr>
              <a:t>S</a:t>
            </a:r>
          </a:p>
          <a:p>
            <a:pPr defTabSz="762000" eaLnBrk="0" hangingPunct="0">
              <a:lnSpc>
                <a:spcPct val="75000"/>
              </a:lnSpc>
            </a:pPr>
            <a:r>
              <a:rPr kumimoji="1" lang="en-US" altLang="zh-CN" sz="700" b="1">
                <a:latin typeface="微软雅黑" pitchFamily="34" charset="-122"/>
                <a:ea typeface="微软雅黑" pitchFamily="34" charset="-122"/>
              </a:rPr>
              <a:t>Y</a:t>
            </a:r>
          </a:p>
          <a:p>
            <a:pPr defTabSz="762000" eaLnBrk="0" hangingPunct="0">
              <a:lnSpc>
                <a:spcPct val="75000"/>
              </a:lnSpc>
            </a:pPr>
            <a:r>
              <a:rPr kumimoji="1" lang="en-US" altLang="zh-CN" sz="700" b="1">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a:latin typeface="微软雅黑" pitchFamily="34" charset="-122"/>
                <a:ea typeface="微软雅黑" pitchFamily="34" charset="-122"/>
              </a:rPr>
              <a:t>R</a:t>
            </a:r>
          </a:p>
          <a:p>
            <a:pPr defTabSz="762000" eaLnBrk="0" hangingPunct="0">
              <a:lnSpc>
                <a:spcPct val="75000"/>
              </a:lnSpc>
            </a:pPr>
            <a:r>
              <a:rPr kumimoji="1" lang="en-US" altLang="zh-CN" sz="700" b="1">
                <a:latin typeface="微软雅黑" pitchFamily="34" charset="-122"/>
                <a:ea typeface="微软雅黑" pitchFamily="34" charset="-122"/>
              </a:rPr>
              <a:t>S</a:t>
            </a:r>
          </a:p>
          <a:p>
            <a:pPr defTabSz="762000" eaLnBrk="0" hangingPunct="0">
              <a:lnSpc>
                <a:spcPct val="75000"/>
              </a:lnSpc>
            </a:pPr>
            <a:r>
              <a:rPr kumimoji="1" lang="en-US" altLang="zh-CN" sz="700" b="1">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4" name="标题 3">
            <a:extLst>
              <a:ext uri="{FF2B5EF4-FFF2-40B4-BE49-F238E27FC236}">
                <a16:creationId xmlns:a16="http://schemas.microsoft.com/office/drawing/2014/main" id="{7717DACD-46B0-0082-928A-6DFD363F605A}"/>
              </a:ext>
            </a:extLst>
          </p:cNvPr>
          <p:cNvSpPr>
            <a:spLocks noGrp="1"/>
          </p:cNvSpPr>
          <p:nvPr>
            <p:ph type="title"/>
          </p:nvPr>
        </p:nvSpPr>
        <p:spPr>
          <a:xfrm>
            <a:off x="486000" y="550723"/>
            <a:ext cx="8172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3"/>
          <p:cNvSpPr>
            <a:spLocks noChangeShapeType="1"/>
          </p:cNvSpPr>
          <p:nvPr/>
        </p:nvSpPr>
        <p:spPr bwMode="auto">
          <a:xfrm flipH="1">
            <a:off x="1909886" y="2242447"/>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3222395"/>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2237076"/>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2844870"/>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2240656"/>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2637199"/>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3029267"/>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342044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3810718"/>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4202786"/>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2245132"/>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2316742"/>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3386117"/>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388859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4250227"/>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2316742"/>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2689705"/>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3425811"/>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3888594"/>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3475784"/>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3097885"/>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3421336"/>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348384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3414608"/>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3414608"/>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7" name="Rectangle 76"/>
          <p:cNvSpPr>
            <a:spLocks noChangeArrowheads="1"/>
          </p:cNvSpPr>
          <p:nvPr/>
        </p:nvSpPr>
        <p:spPr bwMode="auto">
          <a:xfrm>
            <a:off x="4021820" y="3414608"/>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3414608"/>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3414608"/>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3414608"/>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4212632"/>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4250227"/>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2227228"/>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41983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456083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2232599"/>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2" name="组合 1"/>
          <p:cNvGrpSpPr/>
          <p:nvPr/>
        </p:nvGrpSpPr>
        <p:grpSpPr>
          <a:xfrm>
            <a:off x="1827330" y="1874296"/>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72" name="内容占位符 71">
            <a:extLst>
              <a:ext uri="{FF2B5EF4-FFF2-40B4-BE49-F238E27FC236}">
                <a16:creationId xmlns:a16="http://schemas.microsoft.com/office/drawing/2014/main" id="{51D84DBB-2605-08BA-15C8-43B9A8483C5B}"/>
              </a:ext>
            </a:extLst>
          </p:cNvPr>
          <p:cNvSpPr>
            <a:spLocks noGrp="1"/>
          </p:cNvSpPr>
          <p:nvPr>
            <p:ph sz="quarter" idx="11"/>
          </p:nvPr>
        </p:nvSpPr>
        <p:spPr>
          <a:xfrm>
            <a:off x="486000" y="900000"/>
            <a:ext cx="8172000" cy="3703500"/>
          </a:xfrm>
        </p:spPr>
        <p:txBody>
          <a:bodyPr/>
          <a:lstStyle/>
          <a:p>
            <a:r>
              <a:rPr lang="zh-CN" altLang="en-US" dirty="0"/>
              <a:t>源端口和目的端口：各占 </a:t>
            </a:r>
            <a:r>
              <a:rPr lang="en-US" altLang="zh-CN" dirty="0"/>
              <a:t>2 </a:t>
            </a:r>
            <a:r>
              <a:rPr lang="zh-CN" altLang="en-US" dirty="0"/>
              <a:t>字节。端口是运输层与应用层的服务接口。</a:t>
            </a:r>
            <a:endParaRPr lang="en-US" altLang="zh-CN" dirty="0"/>
          </a:p>
          <a:p>
            <a:r>
              <a:rPr lang="zh-CN" altLang="en-US" dirty="0"/>
              <a:t>运输层的复用和分用功能通过端口实现。 </a:t>
            </a:r>
          </a:p>
          <a:p>
            <a:endParaRPr lang="zh-CN" altLang="en-US" dirty="0"/>
          </a:p>
        </p:txBody>
      </p:sp>
      <p:sp>
        <p:nvSpPr>
          <p:cNvPr id="74" name="标题 73">
            <a:extLst>
              <a:ext uri="{FF2B5EF4-FFF2-40B4-BE49-F238E27FC236}">
                <a16:creationId xmlns:a16="http://schemas.microsoft.com/office/drawing/2014/main" id="{0AB75E9C-A731-D428-986A-B54B7E5AC81C}"/>
              </a:ext>
            </a:extLst>
          </p:cNvPr>
          <p:cNvSpPr>
            <a:spLocks noGrp="1"/>
          </p:cNvSpPr>
          <p:nvPr>
            <p:ph type="title"/>
          </p:nvPr>
        </p:nvSpPr>
        <p:spPr>
          <a:xfrm>
            <a:off x="486000" y="550723"/>
            <a:ext cx="8172000" cy="338554"/>
          </a:xfrm>
        </p:spPr>
        <p:txBody>
          <a:bodyPr/>
          <a:lstStyle/>
          <a:p>
            <a:r>
              <a:rPr lang="zh-CN" altLang="en-US" dirty="0"/>
              <a:t>源端口和目的端口</a:t>
            </a:r>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2351629"/>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2346257"/>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2954052"/>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2349837"/>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2746381"/>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3138449"/>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3529622"/>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391990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4311968"/>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2354313"/>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2425923"/>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34952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399777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4359409"/>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2425923"/>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2798887"/>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3534993"/>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399777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358496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3207067"/>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3530517"/>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3593022"/>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3523789"/>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3523789"/>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3523789"/>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3523789"/>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3523789"/>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3523789"/>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4321814"/>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4359409"/>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23364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4307492"/>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2357893"/>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4670021"/>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2754478"/>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1983478"/>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3331577"/>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6C02A3FA-823D-0E67-4021-B89DC13BB97F}"/>
              </a:ext>
            </a:extLst>
          </p:cNvPr>
          <p:cNvSpPr>
            <a:spLocks noGrp="1"/>
          </p:cNvSpPr>
          <p:nvPr>
            <p:ph sz="quarter" idx="11"/>
          </p:nvPr>
        </p:nvSpPr>
        <p:spPr>
          <a:xfrm>
            <a:off x="486000" y="900000"/>
            <a:ext cx="8172000" cy="3703500"/>
          </a:xfrm>
        </p:spPr>
        <p:txBody>
          <a:bodyPr/>
          <a:lstStyle/>
          <a:p>
            <a:r>
              <a:rPr lang="zh-CN" altLang="en-US" dirty="0"/>
              <a:t>序号：占 </a:t>
            </a:r>
            <a:r>
              <a:rPr lang="en-US" altLang="zh-CN" dirty="0"/>
              <a:t>4 </a:t>
            </a:r>
            <a:r>
              <a:rPr lang="zh-CN" altLang="en-US" dirty="0"/>
              <a:t>字节。</a:t>
            </a:r>
            <a:r>
              <a:rPr lang="en-US" altLang="zh-CN" dirty="0"/>
              <a:t>TCP </a:t>
            </a:r>
            <a:r>
              <a:rPr lang="zh-CN" altLang="en-US" dirty="0"/>
              <a:t>连接中传送的数据流中的每一个字节都有一个序号。序号字段的值则指的是本报文段所发送的数据的第一个字节的序号。 </a:t>
            </a:r>
          </a:p>
          <a:p>
            <a:endParaRPr lang="zh-CN" altLang="en-US" dirty="0"/>
          </a:p>
        </p:txBody>
      </p:sp>
      <p:sp>
        <p:nvSpPr>
          <p:cNvPr id="5" name="标题 4">
            <a:extLst>
              <a:ext uri="{FF2B5EF4-FFF2-40B4-BE49-F238E27FC236}">
                <a16:creationId xmlns:a16="http://schemas.microsoft.com/office/drawing/2014/main" id="{708E9CA8-0712-1F10-9B2A-934EC65AE712}"/>
              </a:ext>
            </a:extLst>
          </p:cNvPr>
          <p:cNvSpPr>
            <a:spLocks noGrp="1"/>
          </p:cNvSpPr>
          <p:nvPr>
            <p:ph type="title"/>
          </p:nvPr>
        </p:nvSpPr>
        <p:spPr>
          <a:xfrm>
            <a:off x="486000" y="550723"/>
            <a:ext cx="8172000" cy="338554"/>
          </a:xfrm>
        </p:spPr>
        <p:txBody>
          <a:bodyPr/>
          <a:lstStyle/>
          <a:p>
            <a:r>
              <a:rPr lang="zh-CN" altLang="en-US" dirty="0"/>
              <a:t>序号</a:t>
            </a:r>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5" name="标题 4">
            <a:extLst>
              <a:ext uri="{FF2B5EF4-FFF2-40B4-BE49-F238E27FC236}">
                <a16:creationId xmlns:a16="http://schemas.microsoft.com/office/drawing/2014/main" id="{4FCAB39E-6807-5CD4-6CE4-4B352B028848}"/>
              </a:ext>
            </a:extLst>
          </p:cNvPr>
          <p:cNvSpPr>
            <a:spLocks noGrp="1"/>
          </p:cNvSpPr>
          <p:nvPr>
            <p:ph type="title"/>
          </p:nvPr>
        </p:nvSpPr>
        <p:spPr>
          <a:xfrm>
            <a:off x="486000" y="550723"/>
            <a:ext cx="8172000" cy="338554"/>
          </a:xfrm>
        </p:spPr>
        <p:txBody>
          <a:bodyPr/>
          <a:lstStyle/>
          <a:p>
            <a:r>
              <a:rPr lang="zh-CN" altLang="en-US" dirty="0"/>
              <a:t>确认号</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7" name="标题 6">
            <a:extLst>
              <a:ext uri="{FF2B5EF4-FFF2-40B4-BE49-F238E27FC236}">
                <a16:creationId xmlns:a16="http://schemas.microsoft.com/office/drawing/2014/main" id="{EA13F588-3935-700F-FB4A-73F08E61EC46}"/>
              </a:ext>
            </a:extLst>
          </p:cNvPr>
          <p:cNvSpPr>
            <a:spLocks noGrp="1"/>
          </p:cNvSpPr>
          <p:nvPr>
            <p:ph type="title"/>
          </p:nvPr>
        </p:nvSpPr>
        <p:spPr>
          <a:xfrm>
            <a:off x="486000" y="550723"/>
            <a:ext cx="8172000" cy="338554"/>
          </a:xfrm>
        </p:spPr>
        <p:txBody>
          <a:bodyPr/>
          <a:lstStyle/>
          <a:p>
            <a:r>
              <a:rPr lang="zh-CN" altLang="en-US" dirty="0"/>
              <a:t>数据偏移</a:t>
            </a:r>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E31E7A35-4FCB-A58F-3EEE-E05345CB6489}"/>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64230A14-FE0C-96BD-7EC3-D10C1F7E3B1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7F2CE067-7C21-5482-42CF-469F3C48F953}"/>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5A4713DB-19A9-D343-34DC-A71A019BE3A8}"/>
              </a:ext>
            </a:extLst>
          </p:cNvPr>
          <p:cNvSpPr>
            <a:spLocks noGrp="1"/>
          </p:cNvSpPr>
          <p:nvPr>
            <p:ph type="title"/>
          </p:nvPr>
        </p:nvSpPr>
        <p:spPr/>
        <p:txBody>
          <a:bodyPr/>
          <a:lstStyle/>
          <a:p>
            <a:r>
              <a:rPr lang="en-US" altLang="zh-CN" dirty="0"/>
              <a:t>URG</a:t>
            </a:r>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E2DB623C-F615-D7FF-523E-1A596C21744B}"/>
              </a:ext>
            </a:extLst>
          </p:cNvPr>
          <p:cNvSpPr>
            <a:spLocks noGrp="1"/>
          </p:cNvSpPr>
          <p:nvPr>
            <p:ph type="title"/>
          </p:nvPr>
        </p:nvSpPr>
        <p:spPr/>
        <p:txBody>
          <a:bodyPr/>
          <a:lstStyle/>
          <a:p>
            <a:r>
              <a:rPr lang="en-US" altLang="zh-CN" dirty="0"/>
              <a:t>ACK</a:t>
            </a:r>
            <a:endParaRPr lang="zh-CN" altLang="en-US" dirty="0"/>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344325"/>
          </a:xfrm>
          <a:prstGeom prst="rect">
            <a:avLst/>
          </a:prstGeom>
          <a:solidFill>
            <a:srgbClr val="0000FF"/>
          </a:solidFill>
          <a:ln w="9525">
            <a:noFill/>
            <a:miter lim="800000"/>
            <a:headEnd/>
            <a:tailEnd/>
          </a:ln>
          <a:effectLst/>
        </p:spPr>
        <p:txBody>
          <a:bodyPr wrap="square">
            <a:spAutoFit/>
          </a:bodyPr>
          <a:lstStyle/>
          <a:p>
            <a:pPr algn="ctr">
              <a:lnSpc>
                <a:spcPct val="110000"/>
              </a:lnSpc>
            </a:pPr>
            <a:endParaRPr lang="zh-CN" altLang="en-US"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8" name="内容占位符 7">
            <a:extLst>
              <a:ext uri="{FF2B5EF4-FFF2-40B4-BE49-F238E27FC236}">
                <a16:creationId xmlns:a16="http://schemas.microsoft.com/office/drawing/2014/main" id="{2B9D5E3B-3E1A-58EA-8AF6-5529834707DE}"/>
              </a:ext>
            </a:extLst>
          </p:cNvPr>
          <p:cNvSpPr>
            <a:spLocks noGrp="1"/>
          </p:cNvSpPr>
          <p:nvPr>
            <p:ph sz="quarter" idx="11"/>
          </p:nvPr>
        </p:nvSpPr>
        <p:spPr>
          <a:xfrm>
            <a:off x="486000" y="900000"/>
            <a:ext cx="8172000" cy="3703500"/>
          </a:xfrm>
        </p:spPr>
        <p:txBody>
          <a:bodyPr/>
          <a:lstStyle/>
          <a:p>
            <a:r>
              <a:rPr lang="zh-CN" altLang="en-US" dirty="0"/>
              <a:t>推送 </a:t>
            </a:r>
            <a:r>
              <a:rPr lang="en-US" altLang="zh-CN" dirty="0"/>
              <a:t>PSH (</a:t>
            </a:r>
            <a:r>
              <a:rPr lang="en-US" altLang="zh-CN" dirty="0" err="1"/>
              <a:t>PuSH</a:t>
            </a:r>
            <a:r>
              <a:rPr lang="en-US" altLang="zh-CN" dirty="0"/>
              <a:t>) </a:t>
            </a:r>
            <a:r>
              <a:rPr lang="zh-CN" altLang="en-US" dirty="0"/>
              <a:t>：控制位。接收 </a:t>
            </a:r>
            <a:r>
              <a:rPr lang="en-US" altLang="zh-CN" dirty="0"/>
              <a:t>TCP </a:t>
            </a:r>
            <a:r>
              <a:rPr lang="zh-CN" altLang="en-US" dirty="0"/>
              <a:t>收到 </a:t>
            </a:r>
            <a:r>
              <a:rPr lang="en-US" altLang="zh-CN" dirty="0"/>
              <a:t>PSH = 1 </a:t>
            </a:r>
            <a:r>
              <a:rPr lang="zh-CN" altLang="en-US" dirty="0"/>
              <a:t>的报文段后，就尽快（即“推送”向前）交付接收应用进程，而不再等到整个缓存都填满后再交付。 </a:t>
            </a:r>
          </a:p>
          <a:p>
            <a:endParaRPr lang="zh-CN" altLang="en-US" dirty="0"/>
          </a:p>
        </p:txBody>
      </p:sp>
      <p:sp>
        <p:nvSpPr>
          <p:cNvPr id="38" name="标题 37">
            <a:extLst>
              <a:ext uri="{FF2B5EF4-FFF2-40B4-BE49-F238E27FC236}">
                <a16:creationId xmlns:a16="http://schemas.microsoft.com/office/drawing/2014/main" id="{FAC11441-FC94-CF2F-2867-9E5101BDD6A4}"/>
              </a:ext>
            </a:extLst>
          </p:cNvPr>
          <p:cNvSpPr>
            <a:spLocks noGrp="1"/>
          </p:cNvSpPr>
          <p:nvPr>
            <p:ph type="title"/>
          </p:nvPr>
        </p:nvSpPr>
        <p:spPr>
          <a:xfrm>
            <a:off x="486000" y="550723"/>
            <a:ext cx="8172000" cy="338554"/>
          </a:xfrm>
        </p:spPr>
        <p:txBody>
          <a:bodyPr/>
          <a:lstStyle/>
          <a:p>
            <a:r>
              <a:rPr lang="en-US" altLang="zh-CN" dirty="0"/>
              <a:t>PSH</a:t>
            </a:r>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B8D2BF87-1B8B-487D-94C9-261F68DE9995}"/>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A2C0DAF-8950-765B-6872-3E6CAFD58283}"/>
              </a:ext>
            </a:extLst>
          </p:cNvPr>
          <p:cNvSpPr>
            <a:spLocks noGrp="1"/>
          </p:cNvSpPr>
          <p:nvPr>
            <p:ph type="title"/>
          </p:nvPr>
        </p:nvSpPr>
        <p:spPr/>
        <p:txBody>
          <a:bodyPr/>
          <a:lstStyle/>
          <a:p>
            <a:r>
              <a:rPr lang="en-US" altLang="zh-CN" dirty="0"/>
              <a:t>RST</a:t>
            </a:r>
            <a:endParaRPr lang="zh-CN" altLang="en-US" dirty="0"/>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F34AB039-3078-0833-7EA9-3C1D1D850568}"/>
              </a:ext>
            </a:extLst>
          </p:cNvPr>
          <p:cNvSpPr>
            <a:spLocks noGrp="1"/>
          </p:cNvSpPr>
          <p:nvPr>
            <p:ph type="title"/>
          </p:nvPr>
        </p:nvSpPr>
        <p:spPr/>
        <p:txBody>
          <a:bodyPr/>
          <a:lstStyle/>
          <a:p>
            <a:r>
              <a:rPr lang="en-US" altLang="zh-CN" dirty="0"/>
              <a:t>SYN</a:t>
            </a:r>
            <a:endParaRPr lang="zh-CN" altLang="en-US" dirty="0"/>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045242A2-7A2F-5488-36B3-C8AA249DC00D}"/>
              </a:ext>
            </a:extLst>
          </p:cNvPr>
          <p:cNvSpPr>
            <a:spLocks noGrp="1"/>
          </p:cNvSpPr>
          <p:nvPr>
            <p:ph type="title"/>
          </p:nvPr>
        </p:nvSpPr>
        <p:spPr>
          <a:xfrm>
            <a:off x="486000" y="550723"/>
            <a:ext cx="8172000" cy="338554"/>
          </a:xfrm>
        </p:spPr>
        <p:txBody>
          <a:bodyPr/>
          <a:lstStyle/>
          <a:p>
            <a:r>
              <a:rPr lang="en-US" altLang="zh-CN" dirty="0"/>
              <a:t>FIN</a:t>
            </a:r>
            <a:endParaRPr lang="zh-CN" altLang="en-US" dirty="0"/>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5" name="标题 4">
            <a:extLst>
              <a:ext uri="{FF2B5EF4-FFF2-40B4-BE49-F238E27FC236}">
                <a16:creationId xmlns:a16="http://schemas.microsoft.com/office/drawing/2014/main" id="{CC31D665-7B92-DF22-A713-1C65165284D1}"/>
              </a:ext>
            </a:extLst>
          </p:cNvPr>
          <p:cNvSpPr>
            <a:spLocks noGrp="1"/>
          </p:cNvSpPr>
          <p:nvPr>
            <p:ph type="title"/>
          </p:nvPr>
        </p:nvSpPr>
        <p:spPr/>
        <p:txBody>
          <a:bodyPr/>
          <a:lstStyle/>
          <a:p>
            <a:r>
              <a:rPr lang="en-US" altLang="zh-CN" dirty="0"/>
              <a:t>Window</a:t>
            </a:r>
            <a:endParaRPr lang="zh-CN" altLang="en-US" dirty="0"/>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614653"/>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609281"/>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2217076"/>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612861"/>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200940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240147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79264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3182924"/>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574992"/>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617337"/>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688947"/>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758323"/>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3260800"/>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622433"/>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688947"/>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2061911"/>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798017"/>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3260800"/>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84799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470090"/>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793541"/>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85604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786813"/>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786813"/>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786813"/>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786813"/>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786813"/>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786813"/>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584838"/>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622433"/>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599434"/>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570516"/>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620917"/>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933045"/>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992856"/>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3177774"/>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1246502"/>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594601"/>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A49A2CEE-63CD-D8FF-3D51-B80B5F2365A1}"/>
              </a:ext>
            </a:extLst>
          </p:cNvPr>
          <p:cNvSpPr>
            <a:spLocks noGrp="1"/>
          </p:cNvSpPr>
          <p:nvPr>
            <p:ph type="title"/>
          </p:nvPr>
        </p:nvSpPr>
        <p:spPr/>
        <p:txBody>
          <a:bodyPr/>
          <a:lstStyle/>
          <a:p>
            <a:r>
              <a:rPr lang="zh-CN" altLang="en-US" dirty="0"/>
              <a:t>校验和</a:t>
            </a: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28687F51-ABB0-CF24-4C99-8BADBDB7B072}"/>
              </a:ext>
            </a:extLst>
          </p:cNvPr>
          <p:cNvSpPr>
            <a:spLocks noGrp="1"/>
          </p:cNvSpPr>
          <p:nvPr>
            <p:ph type="title"/>
          </p:nvPr>
        </p:nvSpPr>
        <p:spPr>
          <a:xfrm>
            <a:off x="486000" y="550723"/>
            <a:ext cx="8172000" cy="338554"/>
          </a:xfrm>
        </p:spPr>
        <p:txBody>
          <a:bodyPr/>
          <a:lstStyle/>
          <a:p>
            <a:r>
              <a:rPr lang="zh-CN" altLang="en-US" dirty="0"/>
              <a:t>紧急指针</a:t>
            </a: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47FAFAFE-0D0B-04C8-D4FB-4D68A0E56D0B}"/>
              </a:ext>
            </a:extLst>
          </p:cNvPr>
          <p:cNvSpPr>
            <a:spLocks noGrp="1"/>
          </p:cNvSpPr>
          <p:nvPr>
            <p:ph type="title"/>
          </p:nvPr>
        </p:nvSpPr>
        <p:spPr>
          <a:xfrm>
            <a:off x="486000" y="550723"/>
            <a:ext cx="8172000" cy="338554"/>
          </a:xfrm>
        </p:spPr>
        <p:txBody>
          <a:bodyPr/>
          <a:lstStyle/>
          <a:p>
            <a:r>
              <a:rPr lang="zh-CN" altLang="en-US" dirty="0"/>
              <a:t>选项</a:t>
            </a: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FD1192AF-990D-BADD-130A-7FFDEA7D1066}"/>
              </a:ext>
            </a:extLst>
          </p:cNvPr>
          <p:cNvSpPr>
            <a:spLocks noGrp="1"/>
          </p:cNvSpPr>
          <p:nvPr>
            <p:ph type="title"/>
          </p:nvPr>
        </p:nvSpPr>
        <p:spPr>
          <a:xfrm>
            <a:off x="486000" y="550723"/>
            <a:ext cx="8172000" cy="338554"/>
          </a:xfrm>
        </p:spPr>
        <p:txBody>
          <a:bodyPr/>
          <a:lstStyle/>
          <a:p>
            <a:r>
              <a:rPr lang="zh-CN" altLang="en-US" dirty="0"/>
              <a:t>填充</a:t>
            </a:r>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10" name="内容占位符 9">
            <a:extLst>
              <a:ext uri="{FF2B5EF4-FFF2-40B4-BE49-F238E27FC236}">
                <a16:creationId xmlns:a16="http://schemas.microsoft.com/office/drawing/2014/main" id="{131AC2E9-1868-4EB8-C3DB-B0EC2E8CF6B9}"/>
              </a:ext>
            </a:extLst>
          </p:cNvPr>
          <p:cNvSpPr>
            <a:spLocks noGrp="1"/>
          </p:cNvSpPr>
          <p:nvPr>
            <p:ph sz="quarter" idx="11"/>
          </p:nvPr>
        </p:nvSpPr>
        <p:spPr>
          <a:xfrm>
            <a:off x="486000" y="900000"/>
            <a:ext cx="8172000" cy="3703500"/>
          </a:xfrm>
        </p:spPr>
        <p:txBody>
          <a:bodyPr/>
          <a:lstStyle/>
          <a:p>
            <a:r>
              <a:rPr lang="zh-CN" altLang="en-US" dirty="0"/>
              <a:t>最大报文段长度 </a:t>
            </a:r>
            <a:r>
              <a:rPr lang="en-US" altLang="zh-CN" dirty="0"/>
              <a:t>MSS  (Maximum Segment Size) </a:t>
            </a:r>
            <a:r>
              <a:rPr lang="zh-CN" altLang="en-US" dirty="0"/>
              <a:t>是每个 </a:t>
            </a:r>
            <a:r>
              <a:rPr lang="en-US" altLang="zh-CN" dirty="0"/>
              <a:t>TCP </a:t>
            </a:r>
            <a:r>
              <a:rPr lang="zh-CN" altLang="en-US" dirty="0"/>
              <a:t>报文段中的数据字段的最大长度。</a:t>
            </a:r>
            <a:endParaRPr lang="en-US" altLang="zh-CN" dirty="0"/>
          </a:p>
          <a:p>
            <a:r>
              <a:rPr lang="zh-CN" altLang="en-US" dirty="0"/>
              <a:t>与接收窗口值没有关系。</a:t>
            </a:r>
            <a:endParaRPr lang="en-US" altLang="zh-CN" dirty="0"/>
          </a:p>
          <a:p>
            <a:endParaRPr lang="zh-CN" altLang="en-US" dirty="0"/>
          </a:p>
        </p:txBody>
      </p:sp>
      <p:sp>
        <p:nvSpPr>
          <p:cNvPr id="9" name="标题 8">
            <a:extLst>
              <a:ext uri="{FF2B5EF4-FFF2-40B4-BE49-F238E27FC236}">
                <a16:creationId xmlns:a16="http://schemas.microsoft.com/office/drawing/2014/main" id="{80A31EC4-9590-2616-AF18-805513482DF4}"/>
              </a:ext>
            </a:extLst>
          </p:cNvPr>
          <p:cNvSpPr>
            <a:spLocks noGrp="1"/>
          </p:cNvSpPr>
          <p:nvPr>
            <p:ph type="title"/>
          </p:nvPr>
        </p:nvSpPr>
        <p:spPr>
          <a:xfrm>
            <a:off x="486000" y="550723"/>
            <a:ext cx="8172000" cy="338554"/>
          </a:xfrm>
        </p:spPr>
        <p:txBody>
          <a:bodyPr/>
          <a:lstStyle/>
          <a:p>
            <a:r>
              <a:rPr lang="zh-CN" altLang="en-US" dirty="0"/>
              <a:t>选项（</a:t>
            </a:r>
            <a:r>
              <a:rPr lang="en-US" altLang="zh-CN" dirty="0"/>
              <a:t>2</a:t>
            </a:r>
            <a:r>
              <a:rPr lang="zh-CN" altLang="en-US" dirty="0"/>
              <a:t>）：最大报文段长度 </a:t>
            </a:r>
            <a:r>
              <a:rPr lang="en-US" altLang="zh-CN" dirty="0"/>
              <a:t>MSS</a:t>
            </a:r>
            <a:endParaRPr lang="zh-CN" altLang="en-US" dirty="0"/>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网络利用率降低。</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例如：仅 </a:t>
              </a:r>
              <a:r>
                <a:rPr lang="en-US" altLang="zh-CN" sz="1400" b="1" kern="1200" dirty="0">
                  <a:latin typeface="微软雅黑" panose="020B0503020204020204" pitchFamily="34" charset="-122"/>
                  <a:ea typeface="微软雅黑" panose="020B0503020204020204" pitchFamily="34" charset="-122"/>
                </a:rPr>
                <a:t>1 </a:t>
              </a:r>
              <a:r>
                <a:rPr lang="zh-CN" altLang="en-US" sz="1400" b="1" kern="1200" dirty="0">
                  <a:latin typeface="微软雅黑" panose="020B0503020204020204" pitchFamily="34" charset="-122"/>
                  <a:ea typeface="微软雅黑" panose="020B0503020204020204" pitchFamily="34" charset="-122"/>
                </a:rPr>
                <a:t>个字节。利用率就不会超过</a:t>
              </a:r>
              <a:r>
                <a:rPr lang="en-US" altLang="en-US" sz="1400" b="1" kern="1200" dirty="0">
                  <a:latin typeface="微软雅黑" panose="020B0503020204020204" pitchFamily="34" charset="-122"/>
                  <a:ea typeface="微软雅黑" panose="020B0503020204020204" pitchFamily="34" charset="-122"/>
                </a:rPr>
                <a:t>1/41</a:t>
              </a:r>
              <a:r>
                <a:rPr lang="zh-CN" altLang="en-US" sz="1400" b="1" kern="1200" dirty="0">
                  <a:latin typeface="微软雅黑" panose="020B0503020204020204" pitchFamily="34" charset="-122"/>
                  <a:ea typeface="微软雅黑" panose="020B0503020204020204"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开销增大。</a:t>
              </a:r>
            </a:p>
            <a:p>
              <a:pPr marL="114300" lvl="1" indent="-114300" algn="l" defTabSz="533400">
                <a:lnSpc>
                  <a:spcPts val="2400"/>
                </a:lnSpc>
                <a:spcBef>
                  <a:spcPct val="0"/>
                </a:spcBef>
                <a:spcAft>
                  <a:spcPts val="0"/>
                </a:spcAft>
                <a:buChar char="••"/>
              </a:pP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层传输时要分片，终点要装配。</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chemeClr val="bg1"/>
                  </a:solidFill>
                  <a:latin typeface="微软雅黑" panose="020B0503020204020204" pitchFamily="34" charset="-122"/>
                  <a:ea typeface="微软雅黑" panose="020B0503020204020204"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只要在 </a:t>
              </a: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层传输时不再分片。</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默认值</a:t>
              </a:r>
              <a:r>
                <a:rPr lang="en-US" altLang="zh-CN"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b="1" kern="1200" dirty="0">
                  <a:solidFill>
                    <a:srgbClr val="C00000"/>
                  </a:solidFill>
                  <a:latin typeface="微软雅黑" panose="020B0503020204020204" pitchFamily="34" charset="-122"/>
                  <a:ea typeface="微软雅黑" panose="020B0503020204020204" pitchFamily="34" charset="-122"/>
                </a:rPr>
                <a:t>报文段长度 </a:t>
              </a:r>
              <a:r>
                <a:rPr lang="en-US" altLang="zh-CN" sz="1400" b="1" kern="1200" dirty="0">
                  <a:latin typeface="微软雅黑" panose="020B0503020204020204" pitchFamily="34" charset="-122"/>
                  <a:ea typeface="微软雅黑" panose="020B0503020204020204" pitchFamily="34" charset="-122"/>
                </a:rPr>
                <a:t>=</a:t>
              </a:r>
              <a:r>
                <a:rPr lang="zh-CN" altLang="en-US"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en-US" altLang="zh-CN" sz="1400" b="1" kern="1200" dirty="0">
                  <a:latin typeface="微软雅黑" panose="020B0503020204020204" pitchFamily="34" charset="-122"/>
                  <a:ea typeface="微软雅黑" panose="020B0503020204020204" pitchFamily="34" charset="-122"/>
                </a:rPr>
                <a:t>+</a:t>
              </a:r>
              <a:r>
                <a:rPr lang="en-US" altLang="en-US" sz="1400" b="1" kern="1200" dirty="0">
                  <a:latin typeface="微软雅黑" panose="020B0503020204020204" pitchFamily="34" charset="-122"/>
                  <a:ea typeface="微软雅黑" panose="020B0503020204020204" pitchFamily="34" charset="-122"/>
                </a:rPr>
                <a:t> 20 </a:t>
              </a:r>
              <a:r>
                <a:rPr lang="en-US" altLang="zh-CN" sz="1400" b="1" kern="1200" dirty="0">
                  <a:latin typeface="微软雅黑" panose="020B0503020204020204" pitchFamily="34" charset="-122"/>
                  <a:ea typeface="微软雅黑" panose="020B0503020204020204" pitchFamily="34" charset="-122"/>
                </a:rPr>
                <a:t>= 556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b="1" dirty="0">
                  <a:solidFill>
                    <a:srgbClr val="C00000"/>
                  </a:solidFill>
                  <a:latin typeface="微软雅黑" panose="020B0503020204020204" pitchFamily="34" charset="-122"/>
                  <a:ea typeface="微软雅黑" panose="020B0503020204020204" pitchFamily="34" charset="-122"/>
                </a:rPr>
                <a:t>IP </a:t>
              </a:r>
              <a:r>
                <a:rPr lang="zh-CN" altLang="en-US" sz="1400" b="1" dirty="0">
                  <a:solidFill>
                    <a:srgbClr val="C00000"/>
                  </a:solidFill>
                  <a:latin typeface="微软雅黑" panose="020B0503020204020204" pitchFamily="34" charset="-122"/>
                  <a:ea typeface="微软雅黑" panose="020B0503020204020204" pitchFamily="34" charset="-122"/>
                </a:rPr>
                <a:t>数据报长度 </a:t>
              </a:r>
              <a:r>
                <a:rPr lang="en-US" altLang="zh-CN" sz="1400" b="1" dirty="0">
                  <a:latin typeface="微软雅黑" panose="020B0503020204020204" pitchFamily="34" charset="-122"/>
                  <a:ea typeface="微软雅黑" panose="020B0503020204020204" pitchFamily="34" charset="-122"/>
                </a:rPr>
                <a:t>= 576 </a:t>
              </a:r>
              <a:r>
                <a:rPr lang="zh-CN" altLang="en-US" sz="1400" b="1" dirty="0">
                  <a:latin typeface="微软雅黑" panose="020B0503020204020204" pitchFamily="34" charset="-122"/>
                  <a:ea typeface="微软雅黑" panose="020B0503020204020204" pitchFamily="34" charset="-122"/>
                </a:rPr>
                <a:t>字节。</a:t>
              </a:r>
              <a:endParaRPr lang="zh-CN" altLang="en-US" sz="1400" b="1" kern="1200" dirty="0">
                <a:latin typeface="微软雅黑" panose="020B0503020204020204" pitchFamily="34" charset="-122"/>
                <a:ea typeface="微软雅黑" panose="020B0503020204020204" pitchFamily="34" charset="-122"/>
              </a:endParaRPr>
            </a:p>
          </p:txBody>
        </p:sp>
      </p:grpSp>
      <p:sp>
        <p:nvSpPr>
          <p:cNvPr id="4" name="标题 3">
            <a:extLst>
              <a:ext uri="{FF2B5EF4-FFF2-40B4-BE49-F238E27FC236}">
                <a16:creationId xmlns:a16="http://schemas.microsoft.com/office/drawing/2014/main" id="{4646C5FD-99D9-0421-C8B9-893FB939EEC4}"/>
              </a:ext>
            </a:extLst>
          </p:cNvPr>
          <p:cNvSpPr>
            <a:spLocks noGrp="1"/>
          </p:cNvSpPr>
          <p:nvPr>
            <p:ph type="title"/>
          </p:nvPr>
        </p:nvSpPr>
        <p:spPr>
          <a:xfrm>
            <a:off x="486000" y="550723"/>
            <a:ext cx="8172000" cy="338554"/>
          </a:xfrm>
        </p:spPr>
        <p:txBody>
          <a:bodyPr/>
          <a:lstStyle/>
          <a:p>
            <a:r>
              <a:rPr lang="zh-CN" altLang="en-US" dirty="0"/>
              <a:t>选项（</a:t>
            </a:r>
            <a:r>
              <a:rPr lang="en-US" altLang="zh-CN" dirty="0"/>
              <a:t>2</a:t>
            </a:r>
            <a:r>
              <a:rPr lang="zh-CN" altLang="en-US" dirty="0"/>
              <a:t>）：最大报文段长度 </a:t>
            </a:r>
            <a:r>
              <a:rPr lang="en-US" altLang="zh-CN" dirty="0"/>
              <a:t>MSS</a:t>
            </a:r>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1595338"/>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595338"/>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2205895"/>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911225"/>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2245577"/>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897314"/>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616885"/>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978735"/>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3347206"/>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57102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936159"/>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3325664"/>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2463071"/>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83059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319811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565640"/>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6" name="内容占位符 5">
            <a:extLst>
              <a:ext uri="{FF2B5EF4-FFF2-40B4-BE49-F238E27FC236}">
                <a16:creationId xmlns:a16="http://schemas.microsoft.com/office/drawing/2014/main" id="{49D9B153-A0DF-608D-611D-28BDBE08EB8B}"/>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窗口字段长度</a:t>
            </a:r>
            <a:r>
              <a:rPr lang="en-US" altLang="zh-CN" dirty="0"/>
              <a:t>= 16 </a:t>
            </a:r>
            <a:r>
              <a:rPr lang="zh-CN" altLang="en-US" dirty="0"/>
              <a:t>位，最大窗口大小 </a:t>
            </a:r>
            <a:r>
              <a:rPr lang="en-US" altLang="zh-CN" dirty="0"/>
              <a:t>= 64 K </a:t>
            </a:r>
            <a:r>
              <a:rPr lang="zh-CN" altLang="en-US" dirty="0"/>
              <a:t>字节。</a:t>
            </a:r>
          </a:p>
          <a:p>
            <a:r>
              <a:rPr lang="zh-CN" altLang="en-US" dirty="0"/>
              <a:t>对于传播时延和带宽都很大的网络，为获得高吞吐率较，需要更大的窗口。</a:t>
            </a:r>
            <a:endParaRPr lang="en-US" altLang="zh-CN" dirty="0"/>
          </a:p>
          <a:p>
            <a:endParaRPr lang="zh-CN" altLang="en-US" dirty="0"/>
          </a:p>
        </p:txBody>
      </p:sp>
      <p:sp>
        <p:nvSpPr>
          <p:cNvPr id="17" name="标题 16">
            <a:extLst>
              <a:ext uri="{FF2B5EF4-FFF2-40B4-BE49-F238E27FC236}">
                <a16:creationId xmlns:a16="http://schemas.microsoft.com/office/drawing/2014/main" id="{45DAC475-8586-3973-2D53-246C7A7F1904}"/>
              </a:ext>
            </a:extLst>
          </p:cNvPr>
          <p:cNvSpPr>
            <a:spLocks noGrp="1"/>
          </p:cNvSpPr>
          <p:nvPr>
            <p:ph type="title"/>
          </p:nvPr>
        </p:nvSpPr>
        <p:spPr>
          <a:xfrm>
            <a:off x="486000" y="550723"/>
            <a:ext cx="8172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2448324"/>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2448324"/>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2764211"/>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3424013"/>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4" name="组合 3"/>
          <p:cNvGrpSpPr/>
          <p:nvPr/>
        </p:nvGrpSpPr>
        <p:grpSpPr>
          <a:xfrm>
            <a:off x="2402902" y="2750301"/>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23" name="内容占位符 22">
            <a:extLst>
              <a:ext uri="{FF2B5EF4-FFF2-40B4-BE49-F238E27FC236}">
                <a16:creationId xmlns:a16="http://schemas.microsoft.com/office/drawing/2014/main" id="{4E5927D9-6B9D-B3D7-A997-F8A996803AEE}"/>
              </a:ext>
            </a:extLst>
          </p:cNvPr>
          <p:cNvSpPr>
            <a:spLocks noGrp="1"/>
          </p:cNvSpPr>
          <p:nvPr>
            <p:ph sz="quarter" idx="11"/>
          </p:nvPr>
        </p:nvSpPr>
        <p:spPr>
          <a:xfrm>
            <a:off x="486000" y="900000"/>
            <a:ext cx="8172000" cy="3703500"/>
          </a:xfrm>
        </p:spPr>
        <p:txBody>
          <a:bodyPr/>
          <a:lstStyle/>
          <a:p>
            <a:r>
              <a:rPr lang="zh-CN" altLang="en-US" dirty="0"/>
              <a:t>窗口扩大选项：占 </a:t>
            </a:r>
            <a:r>
              <a:rPr lang="en-US" altLang="zh-CN" dirty="0"/>
              <a:t>3 </a:t>
            </a:r>
            <a:r>
              <a:rPr lang="zh-CN" altLang="en-US" dirty="0"/>
              <a:t>字节，其中一个字节表示移位值 </a:t>
            </a:r>
            <a:r>
              <a:rPr lang="en-US" altLang="zh-CN" dirty="0"/>
              <a:t>S</a:t>
            </a:r>
            <a:r>
              <a:rPr lang="zh-CN" altLang="en-US" dirty="0"/>
              <a:t>。</a:t>
            </a:r>
          </a:p>
          <a:p>
            <a:r>
              <a:rPr lang="zh-CN" altLang="en-US" dirty="0"/>
              <a:t>新的窗口值位数从 </a:t>
            </a:r>
            <a:r>
              <a:rPr lang="en-US" altLang="zh-CN" dirty="0"/>
              <a:t>16 </a:t>
            </a:r>
            <a:r>
              <a:rPr lang="zh-CN" altLang="en-US" dirty="0"/>
              <a:t>增大到 </a:t>
            </a:r>
            <a:r>
              <a:rPr lang="en-US" altLang="zh-CN" dirty="0"/>
              <a:t>(16 + S)</a:t>
            </a:r>
            <a:r>
              <a:rPr lang="zh-CN" altLang="en-US" dirty="0"/>
              <a:t>，相当于把窗口值向左移动 </a:t>
            </a:r>
            <a:r>
              <a:rPr lang="en-US" altLang="zh-CN" dirty="0"/>
              <a:t>S </a:t>
            </a:r>
            <a:r>
              <a:rPr lang="zh-CN" altLang="en-US" dirty="0"/>
              <a:t>位。</a:t>
            </a:r>
          </a:p>
          <a:p>
            <a:r>
              <a:rPr lang="zh-CN" altLang="en-US" dirty="0"/>
              <a:t>移位值允许使用的最大值是 </a:t>
            </a:r>
            <a:r>
              <a:rPr lang="en-US" altLang="zh-CN" dirty="0"/>
              <a:t>14</a:t>
            </a:r>
            <a:r>
              <a:rPr lang="zh-CN" altLang="en-US" dirty="0"/>
              <a:t>，窗口最大值增大到 </a:t>
            </a:r>
            <a:r>
              <a:rPr lang="en-US" altLang="zh-CN" dirty="0"/>
              <a:t>2(16 + 14) – 1 = 230 – 1</a:t>
            </a:r>
            <a:r>
              <a:rPr lang="zh-CN" altLang="en-US" dirty="0"/>
              <a:t>。</a:t>
            </a:r>
          </a:p>
          <a:p>
            <a:r>
              <a:rPr lang="zh-CN" altLang="en-US" dirty="0"/>
              <a:t>窗口扩大选项可以在双方初始建立 </a:t>
            </a:r>
            <a:r>
              <a:rPr lang="en-US" altLang="zh-CN" dirty="0"/>
              <a:t>TCP </a:t>
            </a:r>
            <a:r>
              <a:rPr lang="zh-CN" altLang="en-US" dirty="0"/>
              <a:t>连接时进行协商。</a:t>
            </a:r>
          </a:p>
          <a:p>
            <a:endParaRPr lang="zh-CN" altLang="en-US" dirty="0"/>
          </a:p>
        </p:txBody>
      </p:sp>
      <p:sp>
        <p:nvSpPr>
          <p:cNvPr id="22" name="标题 21">
            <a:extLst>
              <a:ext uri="{FF2B5EF4-FFF2-40B4-BE49-F238E27FC236}">
                <a16:creationId xmlns:a16="http://schemas.microsoft.com/office/drawing/2014/main" id="{49CE655C-EA57-AADF-E04E-F7747DC9B681}"/>
              </a:ext>
            </a:extLst>
          </p:cNvPr>
          <p:cNvSpPr>
            <a:spLocks noGrp="1"/>
          </p:cNvSpPr>
          <p:nvPr>
            <p:ph type="title"/>
          </p:nvPr>
        </p:nvSpPr>
        <p:spPr>
          <a:xfrm>
            <a:off x="486000" y="550723"/>
            <a:ext cx="8172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93243F9-CB86-CAD6-A80D-B97304FEF43E}"/>
              </a:ext>
            </a:extLst>
          </p:cNvPr>
          <p:cNvSpPr>
            <a:spLocks noGrp="1"/>
          </p:cNvSpPr>
          <p:nvPr>
            <p:ph sz="quarter" idx="11"/>
          </p:nvPr>
        </p:nvSpPr>
        <p:spPr>
          <a:xfrm>
            <a:off x="486000" y="900000"/>
            <a:ext cx="8172000" cy="3703500"/>
          </a:xfrm>
        </p:spPr>
        <p:txBody>
          <a:bodyPr/>
          <a:lstStyle/>
          <a:p>
            <a:r>
              <a:rPr lang="zh-CN" altLang="en-US" dirty="0"/>
              <a:t>占 </a:t>
            </a:r>
            <a:r>
              <a:rPr lang="en-US" altLang="zh-CN" dirty="0"/>
              <a:t>10 </a:t>
            </a:r>
            <a:r>
              <a:rPr lang="zh-CN" altLang="en-US" dirty="0"/>
              <a:t>字节。最主要的 </a:t>
            </a:r>
            <a:r>
              <a:rPr lang="en-US" altLang="zh-CN" dirty="0"/>
              <a:t>2 </a:t>
            </a:r>
            <a:r>
              <a:rPr lang="zh-CN" altLang="en-US" dirty="0"/>
              <a:t>个字段：</a:t>
            </a:r>
            <a:endParaRPr lang="en-US" altLang="zh-CN" dirty="0"/>
          </a:p>
          <a:p>
            <a:r>
              <a:rPr lang="zh-CN" altLang="en-US" dirty="0"/>
              <a:t>时间戳值字段（</a:t>
            </a:r>
            <a:r>
              <a:rPr lang="en-US" altLang="zh-CN" dirty="0"/>
              <a:t>4</a:t>
            </a:r>
            <a:r>
              <a:rPr lang="zh-CN" altLang="en-US" dirty="0"/>
              <a:t>字节）和时间戳回送回答字段（</a:t>
            </a:r>
            <a:r>
              <a:rPr lang="en-US" altLang="zh-CN" dirty="0"/>
              <a:t>4</a:t>
            </a:r>
            <a:r>
              <a:rPr lang="zh-CN" altLang="en-US" dirty="0"/>
              <a:t>字节）。</a:t>
            </a:r>
            <a:endParaRPr lang="en-US" altLang="zh-CN" dirty="0"/>
          </a:p>
          <a:p>
            <a:r>
              <a:rPr lang="en-US" altLang="zh-CN" dirty="0"/>
              <a:t>2 </a:t>
            </a:r>
            <a:r>
              <a:rPr lang="zh-CN" altLang="en-US" dirty="0"/>
              <a:t>个主要功能：</a:t>
            </a:r>
            <a:endParaRPr lang="en-US" altLang="zh-CN" dirty="0"/>
          </a:p>
          <a:p>
            <a:r>
              <a:rPr lang="zh-CN" altLang="en-US" dirty="0"/>
              <a:t>计算往返时间 </a:t>
            </a:r>
            <a:r>
              <a:rPr lang="en-US" altLang="zh-CN" dirty="0"/>
              <a:t>RTT</a:t>
            </a:r>
          </a:p>
          <a:p>
            <a:r>
              <a:rPr lang="zh-CN" altLang="en-US" dirty="0"/>
              <a:t>防止序号绕回 </a:t>
            </a:r>
            <a:r>
              <a:rPr lang="en-US" altLang="zh-CN" dirty="0"/>
              <a:t>PAWS (Protect Against Wrapped Sequence numbers)</a:t>
            </a:r>
            <a:r>
              <a:rPr lang="zh-CN" altLang="en-US" dirty="0"/>
              <a:t>。</a:t>
            </a:r>
            <a:endParaRPr lang="en-US" altLang="zh-CN" dirty="0"/>
          </a:p>
          <a:p>
            <a:pPr lvl="1"/>
            <a:r>
              <a:rPr lang="zh-CN" altLang="en-US" dirty="0"/>
              <a:t>序号重复时，为了使接收方能够把新报文段和迟到很久的旧报文段区分开，可以在报文段中加上时间戳。</a:t>
            </a:r>
            <a:endParaRPr lang="en-US" altLang="zh-CN" dirty="0"/>
          </a:p>
          <a:p>
            <a:endParaRPr lang="zh-CN" altLang="en-US" dirty="0"/>
          </a:p>
        </p:txBody>
      </p:sp>
      <p:sp>
        <p:nvSpPr>
          <p:cNvPr id="8" name="标题 7">
            <a:extLst>
              <a:ext uri="{FF2B5EF4-FFF2-40B4-BE49-F238E27FC236}">
                <a16:creationId xmlns:a16="http://schemas.microsoft.com/office/drawing/2014/main" id="{7B49C007-E943-212B-10E1-CA3E65F89013}"/>
              </a:ext>
            </a:extLst>
          </p:cNvPr>
          <p:cNvSpPr>
            <a:spLocks noGrp="1"/>
          </p:cNvSpPr>
          <p:nvPr>
            <p:ph type="title"/>
          </p:nvPr>
        </p:nvSpPr>
        <p:spPr>
          <a:xfrm>
            <a:off x="486000" y="550723"/>
            <a:ext cx="8172000" cy="338554"/>
          </a:xfrm>
        </p:spPr>
        <p:txBody>
          <a:bodyPr/>
          <a:lstStyle/>
          <a:p>
            <a:r>
              <a:rPr lang="zh-CN" altLang="en-US" dirty="0"/>
              <a:t>选项（</a:t>
            </a:r>
            <a:r>
              <a:rPr lang="en-US" altLang="zh-CN" dirty="0"/>
              <a:t>8</a:t>
            </a:r>
            <a:r>
              <a:rPr lang="zh-CN" altLang="en-US" dirty="0"/>
              <a:t>）：时间戳</a:t>
            </a:r>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B644019-AF70-0851-831A-ECB7EDA9D8C8}"/>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使用流水线传输和滑动窗口协议实现高效、可靠的传输。</a:t>
            </a:r>
            <a:endParaRPr lang="en-US" altLang="zh-CN" dirty="0"/>
          </a:p>
          <a:p>
            <a:r>
              <a:rPr lang="en-US" altLang="zh-CN" dirty="0"/>
              <a:t>TCP </a:t>
            </a:r>
            <a:r>
              <a:rPr lang="zh-CN" altLang="en-US" dirty="0"/>
              <a:t>的滑动窗口是以字节为单位的。</a:t>
            </a:r>
            <a:endParaRPr lang="en-US" altLang="zh-CN" dirty="0"/>
          </a:p>
          <a:p>
            <a:r>
              <a:rPr lang="zh-CN" altLang="en-US" dirty="0"/>
              <a:t>发送方 </a:t>
            </a:r>
            <a:r>
              <a:rPr lang="en-US" altLang="zh-CN" dirty="0"/>
              <a:t>A </a:t>
            </a:r>
            <a:r>
              <a:rPr lang="zh-CN" altLang="en-US" dirty="0"/>
              <a:t>和接收方 </a:t>
            </a:r>
            <a:r>
              <a:rPr lang="en-US" altLang="zh-CN" dirty="0"/>
              <a:t>B </a:t>
            </a:r>
            <a:r>
              <a:rPr lang="zh-CN" altLang="en-US" dirty="0"/>
              <a:t>分别维持一个发送窗口和一个接收窗口。</a:t>
            </a:r>
            <a:endParaRPr lang="en-US" altLang="zh-CN" dirty="0"/>
          </a:p>
          <a:p>
            <a:r>
              <a:rPr lang="zh-CN" altLang="en-US" dirty="0"/>
              <a:t>发送窗口：在没有收到确认的情况下，发送方可以连续把窗口内的数据全部发送出去。凡是已经发送过的数据，在未收到确认之前都必须暂时保留，以便在超时重传时使用。</a:t>
            </a:r>
            <a:endParaRPr lang="en-US" altLang="zh-CN" dirty="0"/>
          </a:p>
          <a:p>
            <a:r>
              <a:rPr lang="zh-CN" altLang="en-US" dirty="0"/>
              <a:t>接收窗口：只允许接收落入窗口内的数据。</a:t>
            </a:r>
            <a:endParaRPr lang="en-US" altLang="zh-CN" dirty="0"/>
          </a:p>
          <a:p>
            <a:endParaRPr lang="zh-CN" altLang="en-US" dirty="0"/>
          </a:p>
        </p:txBody>
      </p:sp>
      <p:sp>
        <p:nvSpPr>
          <p:cNvPr id="3" name="标题 2">
            <a:extLst>
              <a:ext uri="{FF2B5EF4-FFF2-40B4-BE49-F238E27FC236}">
                <a16:creationId xmlns:a16="http://schemas.microsoft.com/office/drawing/2014/main" id="{34799894-B7D1-1D8A-28B5-7512C748674A}"/>
              </a:ext>
            </a:extLst>
          </p:cNvPr>
          <p:cNvSpPr>
            <a:spLocks noGrp="1"/>
          </p:cNvSpPr>
          <p:nvPr>
            <p:ph type="title"/>
          </p:nvPr>
        </p:nvSpPr>
        <p:spPr>
          <a:xfrm>
            <a:off x="486000" y="550723"/>
            <a:ext cx="8172000" cy="338554"/>
          </a:xfrm>
        </p:spPr>
        <p:txBody>
          <a:bodyPr/>
          <a:lstStyle/>
          <a:p>
            <a:r>
              <a:rPr lang="en-US" altLang="zh-CN" dirty="0"/>
              <a:t>5.6.1   </a:t>
            </a:r>
            <a:r>
              <a:rPr lang="zh-CN" altLang="en-US" dirty="0"/>
              <a:t>以字节为单位的滑动窗口</a:t>
            </a:r>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a:extLst>
              <a:ext uri="{FF2B5EF4-FFF2-40B4-BE49-F238E27FC236}">
                <a16:creationId xmlns:a16="http://schemas.microsoft.com/office/drawing/2014/main" id="{56D74304-3855-8340-73FA-3FFFD0CFF647}"/>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0" name="标题 59">
            <a:extLst>
              <a:ext uri="{FF2B5EF4-FFF2-40B4-BE49-F238E27FC236}">
                <a16:creationId xmlns:a16="http://schemas.microsoft.com/office/drawing/2014/main" id="{BD15A372-01EC-5697-D647-AE48B772A680}"/>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8" name="标题 7">
            <a:extLst>
              <a:ext uri="{FF2B5EF4-FFF2-40B4-BE49-F238E27FC236}">
                <a16:creationId xmlns:a16="http://schemas.microsoft.com/office/drawing/2014/main" id="{BD1AE9B4-C5D7-F4EB-1293-C6E9AA45BE2A}"/>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2" name="标题 1">
            <a:extLst>
              <a:ext uri="{FF2B5EF4-FFF2-40B4-BE49-F238E27FC236}">
                <a16:creationId xmlns:a16="http://schemas.microsoft.com/office/drawing/2014/main" id="{F7785425-0860-D3D9-8A2D-85F4C6C6A220}"/>
              </a:ext>
            </a:extLst>
          </p:cNvPr>
          <p:cNvSpPr>
            <a:spLocks noGrp="1"/>
          </p:cNvSpPr>
          <p:nvPr>
            <p:ph type="title"/>
          </p:nvPr>
        </p:nvSpPr>
        <p:spPr>
          <a:xfrm>
            <a:off x="486000" y="550723"/>
            <a:ext cx="8172000" cy="338554"/>
          </a:xfrm>
        </p:spPr>
        <p:txBody>
          <a:bodyPr/>
          <a:lstStyle/>
          <a:p>
            <a:r>
              <a:rPr lang="zh-CN" altLang="en-US" dirty="0"/>
              <a:t>接收窗口</a:t>
            </a:r>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627C2A6A-6781-B725-00EE-13DB61463681}"/>
              </a:ext>
            </a:extLst>
          </p:cNvPr>
          <p:cNvSpPr>
            <a:spLocks noGrp="1"/>
          </p:cNvSpPr>
          <p:nvPr>
            <p:ph type="title"/>
          </p:nvPr>
        </p:nvSpPr>
        <p:spPr>
          <a:xfrm>
            <a:off x="486000" y="550723"/>
            <a:ext cx="8172000" cy="338554"/>
          </a:xfrm>
        </p:spPr>
        <p:txBody>
          <a:bodyPr/>
          <a:lstStyle/>
          <a:p>
            <a:r>
              <a:rPr lang="zh-CN" altLang="en-US" dirty="0"/>
              <a:t>窗口的滑动</a:t>
            </a:r>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9" name="内容占位符 8">
            <a:extLst>
              <a:ext uri="{FF2B5EF4-FFF2-40B4-BE49-F238E27FC236}">
                <a16:creationId xmlns:a16="http://schemas.microsoft.com/office/drawing/2014/main" id="{DC05D432-B5BC-6B74-361D-A1A4C4B6B435}"/>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DD96DF20-6E00-FE9A-F1D3-4355285C018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11" name="内容占位符 10">
            <a:extLst>
              <a:ext uri="{FF2B5EF4-FFF2-40B4-BE49-F238E27FC236}">
                <a16:creationId xmlns:a16="http://schemas.microsoft.com/office/drawing/2014/main" id="{CABFF834-C504-3B45-F0C2-FF31498EADB0}"/>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1888B37F-FA52-D9E1-C542-9202FFFA2C4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0" name="内容占位符 9">
            <a:extLst>
              <a:ext uri="{FF2B5EF4-FFF2-40B4-BE49-F238E27FC236}">
                <a16:creationId xmlns:a16="http://schemas.microsoft.com/office/drawing/2014/main" id="{2CE6FA17-4F8F-CBFE-FF96-AEB3A517119B}"/>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ACFE2E86-8C4B-0874-81C9-7B38676B1E6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2" name="内容占位符 11">
            <a:extLst>
              <a:ext uri="{FF2B5EF4-FFF2-40B4-BE49-F238E27FC236}">
                <a16:creationId xmlns:a16="http://schemas.microsoft.com/office/drawing/2014/main" id="{218D7CB5-D745-0664-CE59-85E065458506}"/>
              </a:ext>
            </a:extLst>
          </p:cNvPr>
          <p:cNvSpPr>
            <a:spLocks noGrp="1"/>
          </p:cNvSpPr>
          <p:nvPr>
            <p:ph sz="quarter" idx="11"/>
          </p:nvPr>
        </p:nvSpPr>
        <p:spPr/>
        <p:txBody>
          <a:bodyPr/>
          <a:lstStyle/>
          <a:p>
            <a:endParaRPr lang="zh-CN" altLang="en-US"/>
          </a:p>
        </p:txBody>
      </p:sp>
      <p:sp>
        <p:nvSpPr>
          <p:cNvPr id="11" name="标题 10">
            <a:extLst>
              <a:ext uri="{FF2B5EF4-FFF2-40B4-BE49-F238E27FC236}">
                <a16:creationId xmlns:a16="http://schemas.microsoft.com/office/drawing/2014/main" id="{63BFBDE7-C12B-58AE-E76C-58E09922089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3" name="内容占位符 12">
            <a:extLst>
              <a:ext uri="{FF2B5EF4-FFF2-40B4-BE49-F238E27FC236}">
                <a16:creationId xmlns:a16="http://schemas.microsoft.com/office/drawing/2014/main" id="{7736E540-75E2-A69A-F619-1D840CA535AD}"/>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812BCE56-B6A3-028E-FE26-0D99C0589A79}"/>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
        <p:nvSpPr>
          <p:cNvPr id="8" name="内容占位符 7">
            <a:extLst>
              <a:ext uri="{FF2B5EF4-FFF2-40B4-BE49-F238E27FC236}">
                <a16:creationId xmlns:a16="http://schemas.microsoft.com/office/drawing/2014/main" id="{BB94F5CB-D3A8-091F-64DD-2D8423577B2E}"/>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03C4A2B8-D090-1BE3-6FFE-BE76B0FC0B1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7" name="内容占位符 6">
            <a:extLst>
              <a:ext uri="{FF2B5EF4-FFF2-40B4-BE49-F238E27FC236}">
                <a16:creationId xmlns:a16="http://schemas.microsoft.com/office/drawing/2014/main" id="{E132A327-FB5C-8FB4-C6BD-D5F49CDD6D67}"/>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20F989CC-A567-7A27-52AB-8B84C9CBC12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8" name="Rectangle 6"/>
          <p:cNvSpPr>
            <a:spLocks noChangeArrowheads="1"/>
          </p:cNvSpPr>
          <p:nvPr/>
        </p:nvSpPr>
        <p:spPr bwMode="auto">
          <a:xfrm>
            <a:off x="3278387"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发送缓存与发送窗口 </a:t>
            </a:r>
          </a:p>
        </p:txBody>
      </p:sp>
      <p:sp>
        <p:nvSpPr>
          <p:cNvPr id="19" name="圆角矩形 18"/>
          <p:cNvSpPr/>
          <p:nvPr/>
        </p:nvSpPr>
        <p:spPr>
          <a:xfrm>
            <a:off x="556963" y="1016059"/>
            <a:ext cx="8048776" cy="321528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5" name="内容占位符 14">
            <a:extLst>
              <a:ext uri="{FF2B5EF4-FFF2-40B4-BE49-F238E27FC236}">
                <a16:creationId xmlns:a16="http://schemas.microsoft.com/office/drawing/2014/main" id="{EE44ED0D-1C21-E435-80B3-DCBD8BCE7FCC}"/>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83854B0D-BF54-D45D-A1D1-E86B02B39FE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3" name="圆角矩形 42"/>
          <p:cNvSpPr/>
          <p:nvPr/>
        </p:nvSpPr>
        <p:spPr>
          <a:xfrm>
            <a:off x="556963" y="101605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41" name="Rectangle 6"/>
          <p:cNvSpPr>
            <a:spLocks noChangeArrowheads="1"/>
          </p:cNvSpPr>
          <p:nvPr/>
        </p:nvSpPr>
        <p:spPr bwMode="auto">
          <a:xfrm>
            <a:off x="3278393"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接收缓存与接收窗口 </a:t>
            </a:r>
          </a:p>
        </p:txBody>
      </p:sp>
      <p:sp>
        <p:nvSpPr>
          <p:cNvPr id="8" name="内容占位符 7">
            <a:extLst>
              <a:ext uri="{FF2B5EF4-FFF2-40B4-BE49-F238E27FC236}">
                <a16:creationId xmlns:a16="http://schemas.microsoft.com/office/drawing/2014/main" id="{2E03B27C-5227-B87C-F10B-03190C4CFEAA}"/>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C35BA838-399A-14EC-5F7B-CD258C0B16B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1569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3719577" y="58248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需要强调三点</a:t>
            </a:r>
          </a:p>
        </p:txBody>
      </p:sp>
      <p:sp>
        <p:nvSpPr>
          <p:cNvPr id="17" name="Rectangle 68"/>
          <p:cNvSpPr>
            <a:spLocks noChangeArrowheads="1"/>
          </p:cNvSpPr>
          <p:nvPr/>
        </p:nvSpPr>
        <p:spPr bwMode="auto">
          <a:xfrm>
            <a:off x="556963" y="978790"/>
            <a:ext cx="8048776" cy="35548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第一</a:t>
            </a:r>
            <a:r>
              <a:rPr lang="zh-CN" altLang="en-US" sz="2000" b="1" dirty="0">
                <a:latin typeface="微软雅黑" pitchFamily="34" charset="-122"/>
                <a:ea typeface="微软雅黑" pitchFamily="34" charset="-122"/>
              </a:rPr>
              <a:t>，发送窗口是根据接收窗口设置的，但在同一时刻，发送窗口并</a:t>
            </a:r>
            <a:r>
              <a:rPr lang="zh-CN" altLang="en-US" sz="2000" b="1" dirty="0">
                <a:solidFill>
                  <a:srgbClr val="C00000"/>
                </a:solidFill>
                <a:latin typeface="微软雅黑" pitchFamily="34" charset="-122"/>
                <a:ea typeface="微软雅黑" pitchFamily="34" charset="-122"/>
              </a:rPr>
              <a:t>不总是</a:t>
            </a:r>
            <a:r>
              <a:rPr lang="zh-CN" altLang="en-US" sz="2000" b="1" dirty="0">
                <a:latin typeface="微软雅黑" pitchFamily="34" charset="-122"/>
                <a:ea typeface="微软雅黑" pitchFamily="34" charset="-122"/>
              </a:rPr>
              <a:t>和接收窗口</a:t>
            </a:r>
            <a:r>
              <a:rPr lang="zh-CN" altLang="en-US" sz="2000" b="1" dirty="0">
                <a:solidFill>
                  <a:srgbClr val="C00000"/>
                </a:solidFill>
                <a:latin typeface="微软雅黑" pitchFamily="34" charset="-122"/>
                <a:ea typeface="微软雅黑" pitchFamily="34" charset="-122"/>
              </a:rPr>
              <a:t>一样大</a:t>
            </a:r>
            <a:r>
              <a:rPr lang="zh-CN" altLang="en-US" sz="2000" b="1" dirty="0">
                <a:latin typeface="微软雅黑" pitchFamily="34" charset="-122"/>
                <a:ea typeface="微软雅黑" pitchFamily="34" charset="-122"/>
              </a:rPr>
              <a:t>（因为有一定的时间滞后）。</a:t>
            </a: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第二</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标准</a:t>
            </a:r>
            <a:r>
              <a:rPr lang="zh-CN" altLang="en-US" sz="2000" b="1" dirty="0">
                <a:solidFill>
                  <a:srgbClr val="C00000"/>
                </a:solidFill>
                <a:latin typeface="微软雅黑" pitchFamily="34" charset="-122"/>
                <a:ea typeface="微软雅黑" pitchFamily="34" charset="-122"/>
              </a:rPr>
              <a:t>没有规定</a:t>
            </a:r>
            <a:r>
              <a:rPr lang="zh-CN" altLang="en-US" sz="2000" b="1" dirty="0">
                <a:latin typeface="微软雅黑" pitchFamily="34" charset="-122"/>
                <a:ea typeface="微软雅黑" pitchFamily="34" charset="-122"/>
              </a:rPr>
              <a:t>对不按序到达的数据应如何处理。通常是先临时存放在接收窗口中，等到字节流中所缺少的字节收到后，再</a:t>
            </a:r>
            <a:r>
              <a:rPr lang="zh-CN" altLang="en-US" sz="2000" b="1" dirty="0">
                <a:solidFill>
                  <a:srgbClr val="C00000"/>
                </a:solidFill>
                <a:latin typeface="微软雅黑" pitchFamily="34" charset="-122"/>
                <a:ea typeface="微软雅黑" pitchFamily="34" charset="-122"/>
              </a:rPr>
              <a:t>按序交付</a:t>
            </a:r>
            <a:r>
              <a:rPr lang="zh-CN" altLang="en-US" sz="2000" b="1" dirty="0">
                <a:latin typeface="微软雅黑" pitchFamily="34" charset="-122"/>
                <a:ea typeface="微软雅黑" pitchFamily="34" charset="-122"/>
              </a:rPr>
              <a:t>上层的应用进程。</a:t>
            </a: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第三</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要求接收方必须有</a:t>
            </a:r>
            <a:r>
              <a:rPr lang="zh-CN" altLang="en-US" sz="2000" b="1" dirty="0">
                <a:solidFill>
                  <a:srgbClr val="C00000"/>
                </a:solidFill>
                <a:latin typeface="微软雅黑" pitchFamily="34" charset="-122"/>
                <a:ea typeface="微软雅黑" pitchFamily="34" charset="-122"/>
              </a:rPr>
              <a:t>累积确认</a:t>
            </a:r>
            <a:r>
              <a:rPr lang="zh-CN" altLang="en-US" sz="2000" b="1" dirty="0">
                <a:latin typeface="微软雅黑" pitchFamily="34" charset="-122"/>
                <a:ea typeface="微软雅黑" pitchFamily="34" charset="-122"/>
              </a:rPr>
              <a:t>的功能，以减小传输开销。接收方可以在合适的时候发送确认，也可以在自己有数据要发送时把确认信息顺便</a:t>
            </a:r>
            <a:r>
              <a:rPr lang="zh-CN" altLang="en-US" sz="2000" b="1" dirty="0">
                <a:solidFill>
                  <a:srgbClr val="C00000"/>
                </a:solidFill>
                <a:latin typeface="微软雅黑" pitchFamily="34" charset="-122"/>
                <a:ea typeface="微软雅黑" pitchFamily="34" charset="-122"/>
              </a:rPr>
              <a:t>捎带</a:t>
            </a:r>
            <a:r>
              <a:rPr lang="zh-CN" altLang="en-US" sz="2000" b="1" dirty="0">
                <a:latin typeface="微软雅黑" pitchFamily="34" charset="-122"/>
                <a:ea typeface="微软雅黑" pitchFamily="34" charset="-122"/>
              </a:rPr>
              <a:t>上。但接收方</a:t>
            </a:r>
            <a:r>
              <a:rPr lang="zh-CN" altLang="en-US" sz="2000" b="1" dirty="0">
                <a:solidFill>
                  <a:srgbClr val="C00000"/>
                </a:solidFill>
                <a:latin typeface="微软雅黑" pitchFamily="34" charset="-122"/>
                <a:ea typeface="微软雅黑" pitchFamily="34" charset="-122"/>
              </a:rPr>
              <a:t>不应过分推迟</a:t>
            </a:r>
            <a:r>
              <a:rPr lang="zh-CN" altLang="en-US" sz="2000" b="1" dirty="0">
                <a:latin typeface="微软雅黑" pitchFamily="34" charset="-122"/>
                <a:ea typeface="微软雅黑" pitchFamily="34" charset="-122"/>
              </a:rPr>
              <a:t>发送确认，否则会导致发送方不必要的重传，</a:t>
            </a:r>
            <a:r>
              <a:rPr lang="zh-CN" altLang="en-US" sz="2000" b="1" dirty="0">
                <a:solidFill>
                  <a:srgbClr val="C00000"/>
                </a:solidFill>
                <a:latin typeface="微软雅黑" pitchFamily="34" charset="-122"/>
                <a:ea typeface="微软雅黑" pitchFamily="34" charset="-122"/>
              </a:rPr>
              <a:t>捎带确认</a:t>
            </a:r>
            <a:r>
              <a:rPr lang="zh-CN" altLang="en-US" sz="2000" b="1" dirty="0">
                <a:latin typeface="微软雅黑" pitchFamily="34" charset="-122"/>
                <a:ea typeface="微软雅黑" pitchFamily="34" charset="-122"/>
              </a:rPr>
              <a:t>实际上并不经常发生。</a:t>
            </a:r>
            <a:endParaRPr lang="zh-CN" altLang="en-US" sz="2000" b="1" dirty="0">
              <a:solidFill>
                <a:srgbClr val="0000FF"/>
              </a:solidFill>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9E517906-95D6-74CE-B9A2-901DDBDB39C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A624BB6-6621-04D2-A126-DB0800F9AFE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圆角矩形 25"/>
          <p:cNvSpPr/>
          <p:nvPr/>
        </p:nvSpPr>
        <p:spPr>
          <a:xfrm>
            <a:off x="556963" y="2598733"/>
            <a:ext cx="8048776" cy="16326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17247"/>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585722" y="584120"/>
            <a:ext cx="3972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5.6.2   </a:t>
            </a:r>
            <a:r>
              <a:rPr lang="zh-CN" altLang="en-US" sz="2400" b="1" dirty="0">
                <a:solidFill>
                  <a:schemeClr val="bg1"/>
                </a:solidFill>
                <a:latin typeface="微软雅黑" pitchFamily="34" charset="-122"/>
                <a:ea typeface="微软雅黑" pitchFamily="34" charset="-122"/>
              </a:rPr>
              <a:t>超时重传时间的选择</a:t>
            </a:r>
          </a:p>
        </p:txBody>
      </p:sp>
      <p:sp>
        <p:nvSpPr>
          <p:cNvPr id="7" name="Rectangle 8"/>
          <p:cNvSpPr>
            <a:spLocks noChangeArrowheads="1"/>
          </p:cNvSpPr>
          <p:nvPr/>
        </p:nvSpPr>
        <p:spPr bwMode="auto">
          <a:xfrm>
            <a:off x="556963" y="1003377"/>
            <a:ext cx="8048776"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发送方在规定的时间内没有收到确认就要</a:t>
            </a:r>
            <a:r>
              <a:rPr lang="zh-CN" altLang="en-US" sz="2000" b="1" dirty="0">
                <a:solidFill>
                  <a:srgbClr val="C00000"/>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已发送的报文段。</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但</a:t>
            </a:r>
            <a:r>
              <a:rPr lang="zh-CN" altLang="en-US" sz="2000" b="1" dirty="0">
                <a:solidFill>
                  <a:srgbClr val="C00000"/>
                </a:solidFill>
                <a:latin typeface="微软雅黑" pitchFamily="34" charset="-122"/>
                <a:ea typeface="微软雅黑" pitchFamily="34" charset="-122"/>
              </a:rPr>
              <a:t>重传时间</a:t>
            </a:r>
            <a:r>
              <a:rPr lang="zh-CN" altLang="en-US" sz="2000" b="1" dirty="0">
                <a:latin typeface="微软雅黑" pitchFamily="34" charset="-122"/>
                <a:ea typeface="微软雅黑" pitchFamily="34" charset="-122"/>
              </a:rPr>
              <a:t>的选择是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最复杂的问题之一。</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互联网环境复杂，</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数据报所选择的路由变化很大，导致运输层的往返时间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的变化也很大。</a:t>
            </a:r>
          </a:p>
        </p:txBody>
      </p:sp>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28" name="内容占位符 27">
            <a:extLst>
              <a:ext uri="{FF2B5EF4-FFF2-40B4-BE49-F238E27FC236}">
                <a16:creationId xmlns:a16="http://schemas.microsoft.com/office/drawing/2014/main" id="{3D94EE02-62FD-0AA5-7F44-F14B328BE2D3}"/>
              </a:ext>
            </a:extLst>
          </p:cNvPr>
          <p:cNvSpPr>
            <a:spLocks noGrp="1"/>
          </p:cNvSpPr>
          <p:nvPr>
            <p:ph sz="quarter" idx="11"/>
          </p:nvPr>
        </p:nvSpPr>
        <p:spPr/>
        <p:txBody>
          <a:bodyPr/>
          <a:lstStyle/>
          <a:p>
            <a:endParaRPr lang="zh-CN" altLang="en-US"/>
          </a:p>
        </p:txBody>
      </p:sp>
      <p:sp>
        <p:nvSpPr>
          <p:cNvPr id="27" name="标题 26">
            <a:extLst>
              <a:ext uri="{FF2B5EF4-FFF2-40B4-BE49-F238E27FC236}">
                <a16:creationId xmlns:a16="http://schemas.microsoft.com/office/drawing/2014/main" id="{E9804C28-B4F4-E191-26F1-57BC669B048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65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178756" y="583375"/>
            <a:ext cx="28051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超时重传时间设置</a:t>
            </a:r>
          </a:p>
        </p:txBody>
      </p:sp>
      <p:sp>
        <p:nvSpPr>
          <p:cNvPr id="20" name="Rectangle 68"/>
          <p:cNvSpPr>
            <a:spLocks noChangeArrowheads="1"/>
          </p:cNvSpPr>
          <p:nvPr/>
        </p:nvSpPr>
        <p:spPr bwMode="auto">
          <a:xfrm>
            <a:off x="556962" y="979685"/>
            <a:ext cx="8174661"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不能太短，</a:t>
            </a:r>
            <a:r>
              <a:rPr lang="zh-CN" altLang="en-US" sz="2000" b="1" dirty="0">
                <a:latin typeface="微软雅黑" pitchFamily="34" charset="-122"/>
                <a:ea typeface="微软雅黑" pitchFamily="34" charset="-122"/>
              </a:rPr>
              <a:t>否则会引起很多报文段的不必要的重传，使网络负荷增大。</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不能过长，</a:t>
            </a:r>
            <a:r>
              <a:rPr lang="zh-CN" altLang="en-US" sz="2000" b="1" dirty="0">
                <a:latin typeface="微软雅黑" pitchFamily="34" charset="-122"/>
                <a:ea typeface="微软雅黑" pitchFamily="34" charset="-122"/>
              </a:rPr>
              <a:t>会使网络的空闲时间增大，降低了传输效率。</a:t>
            </a:r>
          </a:p>
        </p:txBody>
      </p:sp>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9" name="内容占位符 8">
            <a:extLst>
              <a:ext uri="{FF2B5EF4-FFF2-40B4-BE49-F238E27FC236}">
                <a16:creationId xmlns:a16="http://schemas.microsoft.com/office/drawing/2014/main" id="{6F92E391-1B54-11DD-1FF9-F7F35610E3E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002A410D-7657-D2C2-1447-4F6525EC4149}"/>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58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059269" y="583372"/>
            <a:ext cx="30441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加权平均往返时间 </a:t>
            </a:r>
            <a:r>
              <a:rPr lang="en-US" altLang="zh-CN" sz="2000" b="1" dirty="0">
                <a:solidFill>
                  <a:schemeClr val="bg1"/>
                </a:solidFill>
                <a:latin typeface="微软雅黑" pitchFamily="34" charset="-122"/>
                <a:ea typeface="微软雅黑" pitchFamily="34" charset="-122"/>
              </a:rPr>
              <a:t>RTT</a:t>
            </a:r>
            <a:r>
              <a:rPr lang="en-US" altLang="zh-CN" sz="2000" b="1" baseline="-25000" dirty="0">
                <a:solidFill>
                  <a:schemeClr val="bg1"/>
                </a:solidFill>
                <a:latin typeface="微软雅黑" pitchFamily="34" charset="-122"/>
                <a:ea typeface="微软雅黑" pitchFamily="34" charset="-122"/>
              </a:rPr>
              <a:t>S</a:t>
            </a:r>
            <a:r>
              <a:rPr lang="en-US" altLang="zh-CN" sz="2000" b="1" dirty="0">
                <a:solidFill>
                  <a:schemeClr val="bg1"/>
                </a:solidFill>
                <a:latin typeface="微软雅黑" pitchFamily="34" charset="-122"/>
                <a:ea typeface="微软雅黑" pitchFamily="34" charset="-122"/>
              </a:rPr>
              <a:t> </a:t>
            </a:r>
            <a:endParaRPr lang="zh-CN" altLang="en-US" sz="2000" b="1" dirty="0">
              <a:solidFill>
                <a:schemeClr val="bg1"/>
              </a:solidFill>
              <a:latin typeface="微软雅黑" pitchFamily="34" charset="-122"/>
              <a:ea typeface="微软雅黑" pitchFamily="34" charset="-122"/>
            </a:endParaRPr>
          </a:p>
        </p:txBody>
      </p:sp>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11" name="内容占位符 10">
            <a:extLst>
              <a:ext uri="{FF2B5EF4-FFF2-40B4-BE49-F238E27FC236}">
                <a16:creationId xmlns:a16="http://schemas.microsoft.com/office/drawing/2014/main" id="{56C6C8F0-BD37-9F15-AB48-2D004B668FA5}"/>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7B73AF17-72EA-2365-3E47-E88F65717ED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255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414270" y="592333"/>
            <a:ext cx="23341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超时重传时间 </a:t>
            </a:r>
            <a:r>
              <a:rPr lang="en-US" altLang="zh-CN" sz="2000" b="1" dirty="0">
                <a:solidFill>
                  <a:schemeClr val="bg1"/>
                </a:solidFill>
                <a:latin typeface="微软雅黑" pitchFamily="34" charset="-122"/>
                <a:ea typeface="微软雅黑" pitchFamily="34" charset="-122"/>
              </a:rPr>
              <a:t>RTO</a:t>
            </a:r>
            <a:endParaRPr lang="zh-CN" altLang="en-US" sz="2000" b="1" dirty="0">
              <a:solidFill>
                <a:schemeClr val="bg1"/>
              </a:solidFill>
              <a:latin typeface="微软雅黑" pitchFamily="34" charset="-122"/>
              <a:ea typeface="微软雅黑" pitchFamily="34" charset="-122"/>
            </a:endParaRPr>
          </a:p>
        </p:txBody>
      </p:sp>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D853AE8A-083E-3AD7-EFD6-0132FE4B1B6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C5C7168-1D1A-87AD-B151-7E84F8F55AB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601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13634" y="592799"/>
            <a:ext cx="39354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往返时间 </a:t>
            </a:r>
            <a:r>
              <a:rPr lang="en-US" altLang="zh-CN" sz="2000" b="1" dirty="0">
                <a:solidFill>
                  <a:schemeClr val="bg1"/>
                </a:solidFill>
                <a:latin typeface="微软雅黑" pitchFamily="34" charset="-122"/>
                <a:ea typeface="微软雅黑" pitchFamily="34" charset="-122"/>
              </a:rPr>
              <a:t>(RTT) </a:t>
            </a:r>
            <a:r>
              <a:rPr lang="zh-CN" altLang="en-US" sz="2000" b="1" dirty="0">
                <a:solidFill>
                  <a:schemeClr val="bg1"/>
                </a:solidFill>
                <a:latin typeface="微软雅黑" pitchFamily="34" charset="-122"/>
                <a:ea typeface="微软雅黑" pitchFamily="34" charset="-122"/>
              </a:rPr>
              <a:t>的测量相当复杂</a:t>
            </a:r>
          </a:p>
        </p:txBody>
      </p:sp>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 name="内容占位符 3">
            <a:extLst>
              <a:ext uri="{FF2B5EF4-FFF2-40B4-BE49-F238E27FC236}">
                <a16:creationId xmlns:a16="http://schemas.microsoft.com/office/drawing/2014/main" id="{5387FEAB-F396-285F-A763-094ACA8C83C3}"/>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CF585AE0-3767-7B3F-A607-B8E08C7CF8D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9" name="内容占位符 8">
            <a:extLst>
              <a:ext uri="{FF2B5EF4-FFF2-40B4-BE49-F238E27FC236}">
                <a16:creationId xmlns:a16="http://schemas.microsoft.com/office/drawing/2014/main" id="{2A265066-F9F2-52EA-626D-4FFE422E56F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3F8BE0E0-0CCF-76A4-F57D-75C943DE5C6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6" name="内容占位符 5">
            <a:extLst>
              <a:ext uri="{FF2B5EF4-FFF2-40B4-BE49-F238E27FC236}">
                <a16:creationId xmlns:a16="http://schemas.microsoft.com/office/drawing/2014/main" id="{6DD6E603-DD80-E748-89AD-866116C8568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8D584D8-123E-BD46-52AB-F9323336AD1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56963" y="1058278"/>
            <a:ext cx="8048776" cy="20117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11" name="内容占位符 10">
            <a:extLst>
              <a:ext uri="{FF2B5EF4-FFF2-40B4-BE49-F238E27FC236}">
                <a16:creationId xmlns:a16="http://schemas.microsoft.com/office/drawing/2014/main" id="{B94BBE8F-E567-DB8B-D86B-D6C075763CF7}"/>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49848B2A-974F-7E5D-EAF2-670A4A48B2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29" name="内容占位符 28">
            <a:extLst>
              <a:ext uri="{FF2B5EF4-FFF2-40B4-BE49-F238E27FC236}">
                <a16:creationId xmlns:a16="http://schemas.microsoft.com/office/drawing/2014/main" id="{2631BAED-7D48-0CA1-D38F-F64439D8ED84}"/>
              </a:ext>
            </a:extLst>
          </p:cNvPr>
          <p:cNvSpPr>
            <a:spLocks noGrp="1"/>
          </p:cNvSpPr>
          <p:nvPr>
            <p:ph sz="quarter" idx="11"/>
          </p:nvPr>
        </p:nvSpPr>
        <p:spPr/>
        <p:txBody>
          <a:bodyPr/>
          <a:lstStyle/>
          <a:p>
            <a:endParaRPr lang="zh-CN" altLang="en-US"/>
          </a:p>
        </p:txBody>
      </p:sp>
      <p:sp>
        <p:nvSpPr>
          <p:cNvPr id="28" name="标题 27">
            <a:extLst>
              <a:ext uri="{FF2B5EF4-FFF2-40B4-BE49-F238E27FC236}">
                <a16:creationId xmlns:a16="http://schemas.microsoft.com/office/drawing/2014/main" id="{6C718BEC-F1AB-E5CD-70E9-CF4CA122962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8" name="标题 7">
            <a:extLst>
              <a:ext uri="{FF2B5EF4-FFF2-40B4-BE49-F238E27FC236}">
                <a16:creationId xmlns:a16="http://schemas.microsoft.com/office/drawing/2014/main" id="{DF02B8CD-193F-B2D5-70CC-240076ED56AA}"/>
              </a:ext>
            </a:extLst>
          </p:cNvPr>
          <p:cNvSpPr>
            <a:spLocks noGrp="1"/>
          </p:cNvSpPr>
          <p:nvPr>
            <p:ph type="title"/>
          </p:nvPr>
        </p:nvSpPr>
        <p:spPr>
          <a:xfrm>
            <a:off x="486000" y="550723"/>
            <a:ext cx="8172000" cy="338554"/>
          </a:xfrm>
        </p:spPr>
        <p:txBody>
          <a:bodyPr/>
          <a:lstStyle/>
          <a:p>
            <a:r>
              <a:rPr lang="en-US" altLang="zh-CN" dirty="0"/>
              <a:t>SACK</a:t>
            </a:r>
            <a:endParaRPr lang="zh-CN" altLang="en-US" dirty="0"/>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525D3E0D-DEC4-8D5F-7346-78D99E2053E8}"/>
              </a:ext>
            </a:extLst>
          </p:cNvPr>
          <p:cNvSpPr>
            <a:spLocks noGrp="1"/>
          </p:cNvSpPr>
          <p:nvPr>
            <p:ph sz="quarter" idx="11"/>
          </p:nvPr>
        </p:nvSpPr>
        <p:spPr>
          <a:xfrm>
            <a:off x="486000" y="900000"/>
            <a:ext cx="8172000" cy="3703500"/>
          </a:xfrm>
        </p:spPr>
        <p:txBody>
          <a:bodyPr/>
          <a:lstStyle/>
          <a:p>
            <a:r>
              <a:rPr lang="zh-CN" altLang="en-US" dirty="0"/>
              <a:t>流量控制 </a:t>
            </a:r>
            <a:r>
              <a:rPr lang="en-US" altLang="zh-CN" dirty="0"/>
              <a:t>(flow control) </a:t>
            </a:r>
            <a:r>
              <a:rPr lang="zh-CN" altLang="en-US" dirty="0"/>
              <a:t>：让发送方的发送速率不要太快，使接收方来得及接收。</a:t>
            </a:r>
            <a:endParaRPr lang="en-US" altLang="zh-CN" dirty="0"/>
          </a:p>
          <a:p>
            <a:r>
              <a:rPr lang="zh-CN" altLang="en-US" dirty="0"/>
              <a:t>利用滑动窗口机制可以很方便地在 </a:t>
            </a:r>
            <a:r>
              <a:rPr lang="en-US" altLang="zh-CN" dirty="0"/>
              <a:t>TCP </a:t>
            </a:r>
            <a:r>
              <a:rPr lang="zh-CN" altLang="en-US" dirty="0"/>
              <a:t>连接上实现对发送方的流量控制。 </a:t>
            </a:r>
            <a:endParaRPr lang="en-US" altLang="zh-CN" dirty="0"/>
          </a:p>
          <a:p>
            <a:endParaRPr lang="zh-CN" altLang="en-US" dirty="0"/>
          </a:p>
        </p:txBody>
      </p:sp>
      <p:sp>
        <p:nvSpPr>
          <p:cNvPr id="8" name="标题 7">
            <a:extLst>
              <a:ext uri="{FF2B5EF4-FFF2-40B4-BE49-F238E27FC236}">
                <a16:creationId xmlns:a16="http://schemas.microsoft.com/office/drawing/2014/main" id="{8FE10A9E-80EA-E65A-BBD7-AB4415F4FAEE}"/>
              </a:ext>
            </a:extLst>
          </p:cNvPr>
          <p:cNvSpPr>
            <a:spLocks noGrp="1"/>
          </p:cNvSpPr>
          <p:nvPr>
            <p:ph type="title"/>
          </p:nvPr>
        </p:nvSpPr>
        <p:spPr>
          <a:xfrm>
            <a:off x="486000" y="550723"/>
            <a:ext cx="8172000" cy="338554"/>
          </a:xfrm>
        </p:spPr>
        <p:txBody>
          <a:bodyPr/>
          <a:lstStyle/>
          <a:p>
            <a:r>
              <a:rPr lang="en-US" altLang="zh-CN" dirty="0"/>
              <a:t>5.7.1   </a:t>
            </a:r>
            <a:r>
              <a:rPr lang="zh-CN" altLang="en-US" dirty="0"/>
              <a:t>利用滑动窗口实现流量控制</a:t>
            </a:r>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301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400</a:t>
              </a:r>
              <a:r>
                <a:rPr kumimoji="1" lang="zh-CN" altLang="en-US" sz="1100" b="1">
                  <a:latin typeface="微软雅黑" pitchFamily="34" charset="-122"/>
                  <a:ea typeface="微软雅黑" pitchFamily="34" charset="-122"/>
                </a:rPr>
                <a:t>，还能再发送 </a:t>
              </a:r>
              <a:r>
                <a:rPr kumimoji="1" lang="en-US" altLang="zh-CN" sz="1100" b="1">
                  <a:latin typeface="微软雅黑" pitchFamily="34" charset="-122"/>
                  <a:ea typeface="微软雅黑" pitchFamily="34" charset="-122"/>
                </a:rPr>
                <a:t>100 </a:t>
              </a:r>
              <a:r>
                <a:rPr kumimoji="1" lang="zh-CN" altLang="en-US" sz="1100" b="1">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54" name="内容占位符 53">
            <a:extLst>
              <a:ext uri="{FF2B5EF4-FFF2-40B4-BE49-F238E27FC236}">
                <a16:creationId xmlns:a16="http://schemas.microsoft.com/office/drawing/2014/main" id="{EFB877AD-56DC-5147-EF6B-B9AA1F50B5D1}"/>
              </a:ext>
            </a:extLst>
          </p:cNvPr>
          <p:cNvSpPr>
            <a:spLocks noGrp="1"/>
          </p:cNvSpPr>
          <p:nvPr>
            <p:ph sz="quarter" idx="11"/>
          </p:nvPr>
        </p:nvSpPr>
        <p:spPr>
          <a:xfrm>
            <a:off x="486000" y="900000"/>
            <a:ext cx="8172000" cy="3703500"/>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8" name="标题 7">
            <a:extLst>
              <a:ext uri="{FF2B5EF4-FFF2-40B4-BE49-F238E27FC236}">
                <a16:creationId xmlns:a16="http://schemas.microsoft.com/office/drawing/2014/main" id="{162E63FA-FCE2-5882-1AC7-79D142EE7B49}"/>
              </a:ext>
            </a:extLst>
          </p:cNvPr>
          <p:cNvSpPr>
            <a:spLocks noGrp="1"/>
          </p:cNvSpPr>
          <p:nvPr>
            <p:ph type="title"/>
          </p:nvPr>
        </p:nvSpPr>
        <p:spPr>
          <a:xfrm>
            <a:off x="486000" y="550723"/>
            <a:ext cx="8172000" cy="338554"/>
          </a:xfrm>
        </p:spPr>
        <p:txBody>
          <a:bodyPr/>
          <a:lstStyle/>
          <a:p>
            <a:r>
              <a:rPr lang="zh-CN" altLang="en-US" dirty="0"/>
              <a:t>利用可变窗口进行流量控制举例</a:t>
            </a:r>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301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400</a:t>
              </a:r>
              <a:r>
                <a:rPr kumimoji="1" lang="zh-CN" altLang="en-US" sz="1100" b="1">
                  <a:latin typeface="微软雅黑" pitchFamily="34" charset="-122"/>
                  <a:ea typeface="微软雅黑" pitchFamily="34" charset="-122"/>
                </a:rPr>
                <a:t>，还能再发送 </a:t>
              </a:r>
              <a:r>
                <a:rPr kumimoji="1" lang="en-US" altLang="zh-CN" sz="1100" b="1">
                  <a:latin typeface="微软雅黑" pitchFamily="34" charset="-122"/>
                  <a:ea typeface="微软雅黑" pitchFamily="34" charset="-122"/>
                </a:rPr>
                <a:t>100 </a:t>
              </a:r>
              <a:r>
                <a:rPr kumimoji="1" lang="zh-CN" altLang="en-US" sz="1100" b="1">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4" name="Text Box 155"/>
          <p:cNvSpPr txBox="1">
            <a:spLocks noChangeArrowheads="1"/>
          </p:cNvSpPr>
          <p:nvPr/>
        </p:nvSpPr>
        <p:spPr bwMode="auto">
          <a:xfrm>
            <a:off x="1398495" y="1040836"/>
            <a:ext cx="655248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en-US" altLang="zh-CN" sz="1600" b="1" dirty="0">
                <a:solidFill>
                  <a:schemeClr val="bg1"/>
                </a:solidFill>
                <a:latin typeface="微软雅黑" pitchFamily="34" charset="-122"/>
                <a:ea typeface="微软雅黑" pitchFamily="34" charset="-122"/>
              </a:rPr>
              <a:t>A </a:t>
            </a:r>
            <a:r>
              <a:rPr lang="zh-CN" altLang="en-US" sz="1600" b="1" dirty="0">
                <a:solidFill>
                  <a:schemeClr val="bg1"/>
                </a:solidFill>
                <a:latin typeface="微软雅黑" pitchFamily="34" charset="-122"/>
                <a:ea typeface="微软雅黑" pitchFamily="34" charset="-122"/>
              </a:rPr>
              <a:t>向 </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发送数据，</a:t>
            </a:r>
            <a:r>
              <a:rPr lang="en-US" altLang="zh-CN" sz="1600" b="1" dirty="0">
                <a:solidFill>
                  <a:schemeClr val="bg1"/>
                </a:solidFill>
                <a:latin typeface="微软雅黑" pitchFamily="34" charset="-122"/>
                <a:ea typeface="微软雅黑" pitchFamily="34" charset="-122"/>
              </a:rPr>
              <a:t>MSS = 100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在连接建立时，</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告诉 </a:t>
            </a:r>
            <a:r>
              <a:rPr lang="en-US" altLang="zh-CN" sz="1600" b="1" dirty="0">
                <a:solidFill>
                  <a:schemeClr val="bg1"/>
                </a:solidFill>
                <a:latin typeface="微软雅黑" pitchFamily="34" charset="-122"/>
                <a:ea typeface="微软雅黑" pitchFamily="34" charset="-122"/>
              </a:rPr>
              <a:t>A</a:t>
            </a:r>
            <a:r>
              <a:rPr lang="zh-CN" altLang="en-US" sz="1600" b="1" dirty="0">
                <a:solidFill>
                  <a:schemeClr val="bg1"/>
                </a:solidFill>
                <a:latin typeface="微软雅黑" pitchFamily="34" charset="-122"/>
                <a:ea typeface="微软雅黑" pitchFamily="34" charset="-122"/>
              </a:rPr>
              <a:t>：“我的接收窗口 </a:t>
            </a:r>
            <a:r>
              <a:rPr lang="en-US" altLang="zh-CN" sz="1600" b="1" dirty="0" err="1">
                <a:solidFill>
                  <a:schemeClr val="bg1"/>
                </a:solidFill>
                <a:latin typeface="微软雅黑" pitchFamily="34" charset="-122"/>
                <a:ea typeface="微软雅黑" pitchFamily="34" charset="-122"/>
              </a:rPr>
              <a:t>rwnd</a:t>
            </a:r>
            <a:r>
              <a:rPr lang="en-US" altLang="zh-CN" sz="1600" b="1" dirty="0">
                <a:solidFill>
                  <a:schemeClr val="bg1"/>
                </a:solidFill>
                <a:latin typeface="微软雅黑" pitchFamily="34" charset="-122"/>
                <a:ea typeface="微软雅黑" pitchFamily="34" charset="-122"/>
              </a:rPr>
              <a:t> = 400</a:t>
            </a:r>
            <a:r>
              <a:rPr lang="zh-CN" altLang="en-US" sz="1600" b="1" dirty="0">
                <a:solidFill>
                  <a:schemeClr val="bg1"/>
                </a:solidFill>
                <a:latin typeface="微软雅黑" pitchFamily="34" charset="-122"/>
                <a:ea typeface="微软雅黑" pitchFamily="34" charset="-122"/>
              </a:rPr>
              <a:t>（字节）”。</a:t>
            </a: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
        <p:nvSpPr>
          <p:cNvPr id="56" name="标题 55">
            <a:extLst>
              <a:ext uri="{FF2B5EF4-FFF2-40B4-BE49-F238E27FC236}">
                <a16:creationId xmlns:a16="http://schemas.microsoft.com/office/drawing/2014/main" id="{37AF30DC-1A36-BC67-F6E6-8D25D425F1D9}"/>
              </a:ext>
            </a:extLst>
          </p:cNvPr>
          <p:cNvSpPr>
            <a:spLocks noGrp="1"/>
          </p:cNvSpPr>
          <p:nvPr>
            <p:ph type="title"/>
          </p:nvPr>
        </p:nvSpPr>
        <p:spPr>
          <a:xfrm>
            <a:off x="486000" y="550723"/>
            <a:ext cx="8172000" cy="338554"/>
          </a:xfrm>
        </p:spPr>
        <p:txBody>
          <a:bodyPr/>
          <a:lstStyle/>
          <a:p>
            <a:r>
              <a:rPr lang="zh-CN" altLang="en-US" dirty="0"/>
              <a:t>可能发生死锁</a:t>
            </a:r>
          </a:p>
        </p:txBody>
      </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CB31C788-BD1C-A5C2-E6C6-0B1355BF18D0}"/>
              </a:ext>
            </a:extLst>
          </p:cNvPr>
          <p:cNvSpPr>
            <a:spLocks noGrp="1"/>
          </p:cNvSpPr>
          <p:nvPr>
            <p:ph sz="quarter" idx="11"/>
          </p:nvPr>
        </p:nvSpPr>
        <p:spPr>
          <a:xfrm>
            <a:off x="486000" y="900000"/>
            <a:ext cx="8172000" cy="3703500"/>
          </a:xfrm>
        </p:spPr>
        <p:txBody>
          <a:bodyPr/>
          <a:lstStyle/>
          <a:p>
            <a:r>
              <a:rPr lang="zh-CN" altLang="en-US" dirty="0"/>
              <a:t>持续计时器  </a:t>
            </a:r>
            <a:r>
              <a:rPr lang="en-US" altLang="zh-CN" dirty="0"/>
              <a:t>(persistence timer)</a:t>
            </a:r>
            <a:r>
              <a:rPr lang="zh-CN" altLang="en-US" dirty="0"/>
              <a:t>：只要 </a:t>
            </a:r>
            <a:r>
              <a:rPr lang="en-US" altLang="zh-CN" dirty="0"/>
              <a:t>TCP </a:t>
            </a:r>
            <a:r>
              <a:rPr lang="zh-CN" altLang="en-US" dirty="0"/>
              <a:t>连接的一方收到对方的零窗口通知，就启动该持续计时器。</a:t>
            </a:r>
          </a:p>
          <a:p>
            <a:pPr lvl="1"/>
            <a:r>
              <a:rPr lang="zh-CN" altLang="en-US" dirty="0"/>
              <a:t>若持续计时器设置的时间到期，就发送一个零窗口探测报文段（仅携带 </a:t>
            </a:r>
            <a:r>
              <a:rPr lang="en-US" altLang="zh-CN" dirty="0"/>
              <a:t>1 </a:t>
            </a:r>
            <a:r>
              <a:rPr lang="zh-CN" altLang="en-US" dirty="0"/>
              <a:t>字节的数据），对方在确认这个探测报文段时给出当前窗口值。</a:t>
            </a:r>
          </a:p>
          <a:p>
            <a:pPr lvl="1"/>
            <a:r>
              <a:rPr lang="zh-CN" altLang="en-US" dirty="0"/>
              <a:t>若窗口仍然是零，收到这个报文段的一方就重新设置持续计时器。</a:t>
            </a:r>
          </a:p>
          <a:p>
            <a:pPr lvl="1"/>
            <a:r>
              <a:rPr lang="zh-CN" altLang="en-US" dirty="0"/>
              <a:t>若窗口不是零，则死锁的僵局就可以打破了。 </a:t>
            </a:r>
          </a:p>
          <a:p>
            <a:endParaRPr lang="zh-CN" altLang="en-US" dirty="0"/>
          </a:p>
        </p:txBody>
      </p:sp>
      <p:sp>
        <p:nvSpPr>
          <p:cNvPr id="5" name="标题 4">
            <a:extLst>
              <a:ext uri="{FF2B5EF4-FFF2-40B4-BE49-F238E27FC236}">
                <a16:creationId xmlns:a16="http://schemas.microsoft.com/office/drawing/2014/main" id="{E8BB8BC2-7F8B-39C3-D17D-81429D2D9179}"/>
              </a:ext>
            </a:extLst>
          </p:cNvPr>
          <p:cNvSpPr>
            <a:spLocks noGrp="1"/>
          </p:cNvSpPr>
          <p:nvPr>
            <p:ph type="title"/>
          </p:nvPr>
        </p:nvSpPr>
        <p:spPr>
          <a:xfrm>
            <a:off x="486000" y="550723"/>
            <a:ext cx="8172000" cy="338554"/>
          </a:xfrm>
        </p:spPr>
        <p:txBody>
          <a:bodyPr/>
          <a:lstStyle/>
          <a:p>
            <a:r>
              <a:rPr lang="zh-CN" altLang="en-US" dirty="0"/>
              <a:t>持续计时器</a:t>
            </a:r>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7" name="内容占位符 6">
            <a:extLst>
              <a:ext uri="{FF2B5EF4-FFF2-40B4-BE49-F238E27FC236}">
                <a16:creationId xmlns:a16="http://schemas.microsoft.com/office/drawing/2014/main" id="{95BF47C6-468D-04DF-CBA4-5D86131B39E1}"/>
              </a:ext>
            </a:extLst>
          </p:cNvPr>
          <p:cNvSpPr>
            <a:spLocks noGrp="1"/>
          </p:cNvSpPr>
          <p:nvPr>
            <p:ph sz="quarter" idx="11"/>
          </p:nvPr>
        </p:nvSpPr>
        <p:spPr>
          <a:xfrm>
            <a:off x="486000" y="900000"/>
            <a:ext cx="8172000" cy="3703500"/>
          </a:xfrm>
        </p:spPr>
        <p:txBody>
          <a:bodyPr/>
          <a:lstStyle/>
          <a:p>
            <a:r>
              <a:rPr lang="zh-CN" altLang="en-US" dirty="0"/>
              <a:t>控制</a:t>
            </a:r>
            <a:r>
              <a:rPr lang="en-US" altLang="zh-CN" dirty="0"/>
              <a:t>TCP</a:t>
            </a:r>
            <a:r>
              <a:rPr lang="zh-CN" altLang="en-US" dirty="0"/>
              <a:t>发送报文段的时机：三种机制</a:t>
            </a:r>
            <a:endParaRPr lang="en-US" altLang="zh-CN" dirty="0"/>
          </a:p>
          <a:p>
            <a:r>
              <a:rPr lang="en-US" altLang="zh-CN" dirty="0"/>
              <a:t>TCP </a:t>
            </a:r>
            <a:r>
              <a:rPr lang="zh-CN" altLang="en-US" dirty="0"/>
              <a:t>维持一个变量，它等于最大报文段长度 </a:t>
            </a:r>
            <a:r>
              <a:rPr lang="en-US" altLang="zh-CN" dirty="0"/>
              <a:t>MSS</a:t>
            </a:r>
            <a:r>
              <a:rPr lang="zh-CN" altLang="en-US" dirty="0"/>
              <a:t>。只要缓存中存放的数据达到 </a:t>
            </a:r>
            <a:r>
              <a:rPr lang="en-US" altLang="zh-CN" dirty="0"/>
              <a:t>MSS </a:t>
            </a:r>
            <a:r>
              <a:rPr lang="zh-CN" altLang="en-US" dirty="0"/>
              <a:t>字节时，就组装成一个 </a:t>
            </a:r>
            <a:r>
              <a:rPr lang="en-US" altLang="zh-CN" dirty="0"/>
              <a:t>TCP </a:t>
            </a:r>
            <a:r>
              <a:rPr lang="zh-CN" altLang="en-US" dirty="0"/>
              <a:t>报文段发送出去。</a:t>
            </a:r>
          </a:p>
          <a:p>
            <a:r>
              <a:rPr lang="zh-CN" altLang="en-US" dirty="0"/>
              <a:t>由发送方的应用进程指明要求发送报文段，即 </a:t>
            </a:r>
            <a:r>
              <a:rPr lang="en-US" altLang="zh-CN" dirty="0"/>
              <a:t>TCP </a:t>
            </a:r>
            <a:r>
              <a:rPr lang="zh-CN" altLang="en-US" dirty="0"/>
              <a:t>支持的推送 </a:t>
            </a:r>
            <a:r>
              <a:rPr lang="en-US" altLang="zh-CN" dirty="0"/>
              <a:t>(push) </a:t>
            </a:r>
            <a:r>
              <a:rPr lang="zh-CN" altLang="en-US" dirty="0"/>
              <a:t>操作。</a:t>
            </a:r>
          </a:p>
          <a:p>
            <a:r>
              <a:rPr lang="zh-CN" altLang="en-US" dirty="0"/>
              <a:t>发送方的一个计时器期限到了，这时就把当前已有的缓存数据装入报文段（但长度不能超过 </a:t>
            </a:r>
            <a:r>
              <a:rPr lang="en-US" altLang="zh-CN" dirty="0"/>
              <a:t>MSS</a:t>
            </a:r>
            <a:r>
              <a:rPr lang="zh-CN" altLang="en-US" dirty="0"/>
              <a:t>）发送出去。</a:t>
            </a:r>
          </a:p>
          <a:p>
            <a:endParaRPr lang="zh-CN" altLang="en-US" dirty="0"/>
          </a:p>
        </p:txBody>
      </p:sp>
      <p:sp>
        <p:nvSpPr>
          <p:cNvPr id="6" name="标题 5">
            <a:extLst>
              <a:ext uri="{FF2B5EF4-FFF2-40B4-BE49-F238E27FC236}">
                <a16:creationId xmlns:a16="http://schemas.microsoft.com/office/drawing/2014/main" id="{4BC46DE5-5A6E-7CF5-7B13-7345FC27FC05}"/>
              </a:ext>
            </a:extLst>
          </p:cNvPr>
          <p:cNvSpPr>
            <a:spLocks noGrp="1"/>
          </p:cNvSpPr>
          <p:nvPr>
            <p:ph type="title"/>
          </p:nvPr>
        </p:nvSpPr>
        <p:spPr>
          <a:xfrm>
            <a:off x="486000" y="550723"/>
            <a:ext cx="8172000" cy="338554"/>
          </a:xfrm>
        </p:spPr>
        <p:txBody>
          <a:bodyPr/>
          <a:lstStyle/>
          <a:p>
            <a:r>
              <a:rPr lang="en-US" altLang="zh-CN" dirty="0"/>
              <a:t>5.7.2   TCP </a:t>
            </a:r>
            <a:r>
              <a:rPr lang="zh-CN" altLang="en-US" dirty="0"/>
              <a:t>的传输效率</a:t>
            </a:r>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5999256" y="2287616"/>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数据</a:t>
            </a:r>
          </a:p>
        </p:txBody>
      </p:sp>
      <p:sp>
        <p:nvSpPr>
          <p:cNvPr id="7" name="矩形 6"/>
          <p:cNvSpPr/>
          <p:nvPr/>
        </p:nvSpPr>
        <p:spPr>
          <a:xfrm>
            <a:off x="5999256" y="2770942"/>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9" name="矩形 8"/>
          <p:cNvSpPr/>
          <p:nvPr/>
        </p:nvSpPr>
        <p:spPr>
          <a:xfrm>
            <a:off x="5999256" y="3267330"/>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a:t>
            </a:r>
          </a:p>
        </p:txBody>
      </p:sp>
      <p:sp>
        <p:nvSpPr>
          <p:cNvPr id="4" name="矩形 3"/>
          <p:cNvSpPr/>
          <p:nvPr/>
        </p:nvSpPr>
        <p:spPr>
          <a:xfrm>
            <a:off x="2408898" y="3770606"/>
            <a:ext cx="4104009" cy="338554"/>
          </a:xfrm>
          <a:prstGeom prst="rect">
            <a:avLst/>
          </a:prstGeom>
        </p:spPr>
        <p:txBody>
          <a:bodyPr wrap="none">
            <a:spAutoFit/>
          </a:bodyPr>
          <a:lstStyle/>
          <a:p>
            <a:r>
              <a:rPr lang="zh-CN" altLang="en-US" sz="1600" b="1" dirty="0">
                <a:latin typeface="微软雅黑" pitchFamily="34" charset="-122"/>
                <a:ea typeface="微软雅黑" pitchFamily="34" charset="-122"/>
              </a:rPr>
              <a:t>此时，有效数据传输效率 </a:t>
            </a:r>
            <a:r>
              <a:rPr lang="en-US" altLang="zh-CN" sz="1600" b="1" dirty="0">
                <a:latin typeface="微软雅黑" pitchFamily="34" charset="-122"/>
                <a:ea typeface="微软雅黑" pitchFamily="34" charset="-122"/>
              </a:rPr>
              <a:t>= 1/41 = 2.44%</a:t>
            </a:r>
            <a:endParaRPr lang="zh-CN" altLang="en-US" sz="1600" dirty="0"/>
          </a:p>
        </p:txBody>
      </p:sp>
      <p:sp>
        <p:nvSpPr>
          <p:cNvPr id="22" name="内容占位符 21">
            <a:extLst>
              <a:ext uri="{FF2B5EF4-FFF2-40B4-BE49-F238E27FC236}">
                <a16:creationId xmlns:a16="http://schemas.microsoft.com/office/drawing/2014/main" id="{9CD8166D-3013-9090-6451-66F2300880E9}"/>
              </a:ext>
            </a:extLst>
          </p:cNvPr>
          <p:cNvSpPr>
            <a:spLocks noGrp="1"/>
          </p:cNvSpPr>
          <p:nvPr>
            <p:ph sz="quarter" idx="11"/>
          </p:nvPr>
        </p:nvSpPr>
        <p:spPr>
          <a:xfrm>
            <a:off x="486000" y="900000"/>
            <a:ext cx="8172000" cy="3703500"/>
          </a:xfrm>
        </p:spPr>
        <p:txBody>
          <a:bodyPr/>
          <a:lstStyle/>
          <a:p>
            <a:r>
              <a:rPr lang="zh-CN" altLang="en-US" dirty="0"/>
              <a:t>糊涂窗口综合症：每次仅发送一个字节或很少几个字节的数据时，有效数据传输效率变得很低的现象。</a:t>
            </a:r>
          </a:p>
          <a:p>
            <a:endParaRPr lang="zh-CN" altLang="en-US" dirty="0"/>
          </a:p>
        </p:txBody>
      </p:sp>
      <p:sp>
        <p:nvSpPr>
          <p:cNvPr id="21" name="标题 20">
            <a:extLst>
              <a:ext uri="{FF2B5EF4-FFF2-40B4-BE49-F238E27FC236}">
                <a16:creationId xmlns:a16="http://schemas.microsoft.com/office/drawing/2014/main" id="{1574EFF6-A430-A70F-ED93-69F7AEFEF900}"/>
              </a:ext>
            </a:extLst>
          </p:cNvPr>
          <p:cNvSpPr>
            <a:spLocks noGrp="1"/>
          </p:cNvSpPr>
          <p:nvPr>
            <p:ph type="title"/>
          </p:nvPr>
        </p:nvSpPr>
        <p:spPr>
          <a:xfrm>
            <a:off x="486000" y="550723"/>
            <a:ext cx="8172000" cy="338554"/>
          </a:xfrm>
        </p:spPr>
        <p:txBody>
          <a:bodyPr/>
          <a:lstStyle/>
          <a:p>
            <a:r>
              <a:rPr lang="zh-CN" altLang="en-US" dirty="0"/>
              <a:t>糊涂窗口综合症</a:t>
            </a:r>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703293" y="2289634"/>
            <a:ext cx="6033247" cy="1900517"/>
            <a:chOff x="1442554" y="1293222"/>
            <a:chExt cx="6186146" cy="2913016"/>
          </a:xfrm>
        </p:grpSpPr>
        <p:sp>
          <p:nvSpPr>
            <p:cNvPr id="7" name="矩形 6"/>
            <p:cNvSpPr/>
            <p:nvPr/>
          </p:nvSpPr>
          <p:spPr>
            <a:xfrm>
              <a:off x="1442554" y="1293222"/>
              <a:ext cx="2592000" cy="41801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发送第 </a:t>
              </a:r>
              <a:r>
                <a:rPr lang="en-US" altLang="zh-CN" sz="1100" b="1" dirty="0">
                  <a:solidFill>
                    <a:schemeClr val="tx1"/>
                  </a:solidFill>
                  <a:latin typeface="微软雅黑" pitchFamily="34" charset="-122"/>
                  <a:ea typeface="微软雅黑" pitchFamily="34" charset="-122"/>
                </a:rPr>
                <a:t>1 </a:t>
              </a:r>
              <a:r>
                <a:rPr lang="zh-CN" altLang="en-US" sz="1100" b="1" dirty="0">
                  <a:solidFill>
                    <a:schemeClr val="tx1"/>
                  </a:solidFill>
                  <a:latin typeface="微软雅黑" pitchFamily="34" charset="-122"/>
                  <a:ea typeface="微软雅黑"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bg1"/>
                  </a:solidFill>
                  <a:latin typeface="微软雅黑" pitchFamily="34" charset="-122"/>
                  <a:ea typeface="微软雅黑" pitchFamily="34" charset="-122"/>
                </a:rPr>
                <a:t>收到确认？</a:t>
              </a:r>
            </a:p>
          </p:txBody>
        </p:sp>
        <p:sp>
          <p:nvSpPr>
            <p:cNvPr id="9" name="矩形 8"/>
            <p:cNvSpPr/>
            <p:nvPr/>
          </p:nvSpPr>
          <p:spPr>
            <a:xfrm>
              <a:off x="1442554"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b="1" dirty="0">
                  <a:solidFill>
                    <a:schemeClr val="bg1"/>
                  </a:solidFill>
                  <a:latin typeface="微软雅黑" pitchFamily="34" charset="-122"/>
                  <a:ea typeface="微软雅黑" pitchFamily="34" charset="-122"/>
                </a:rPr>
                <a:t>到达的数据</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已达到发送窗口一半 或 </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已达到报文段的最大长度时？</a:t>
              </a:r>
            </a:p>
          </p:txBody>
        </p:sp>
        <p:sp>
          <p:nvSpPr>
            <p:cNvPr id="14" name="矩形 13"/>
            <p:cNvSpPr/>
            <p:nvPr/>
          </p:nvSpPr>
          <p:spPr>
            <a:xfrm>
              <a:off x="4532808"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立即发送数据</a:t>
              </a:r>
            </a:p>
          </p:txBody>
        </p:sp>
        <p:cxnSp>
          <p:nvCxnSpPr>
            <p:cNvPr id="15" name="直接箭头连接符 14"/>
            <p:cNvCxnSpPr>
              <a:stCxn id="7" idx="2"/>
              <a:endCxn id="8" idx="0"/>
            </p:cNvCxnSpPr>
            <p:nvPr/>
          </p:nvCxnSpPr>
          <p:spPr>
            <a:xfrm>
              <a:off x="2738554" y="1711233"/>
              <a:ext cx="0" cy="3526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8"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a:off x="5828808"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318658"/>
              <a:chOff x="2744151" y="1952894"/>
              <a:chExt cx="5694455" cy="2462354"/>
            </a:xfrm>
          </p:grpSpPr>
          <p:cxnSp>
            <p:nvCxnSpPr>
              <p:cNvPr id="28" name="直接箭头连接符 27"/>
              <p:cNvCxnSpPr/>
              <p:nvPr/>
            </p:nvCxnSpPr>
            <p:spPr>
              <a:xfrm flipV="1">
                <a:off x="2744151" y="4415247"/>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318658"/>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grpSp>
      <p:sp>
        <p:nvSpPr>
          <p:cNvPr id="31" name="内容占位符 30">
            <a:extLst>
              <a:ext uri="{FF2B5EF4-FFF2-40B4-BE49-F238E27FC236}">
                <a16:creationId xmlns:a16="http://schemas.microsoft.com/office/drawing/2014/main" id="{08D016ED-DE8F-9680-1661-F71F154BCFCA}"/>
              </a:ext>
            </a:extLst>
          </p:cNvPr>
          <p:cNvSpPr>
            <a:spLocks noGrp="1"/>
          </p:cNvSpPr>
          <p:nvPr>
            <p:ph sz="quarter" idx="11"/>
          </p:nvPr>
        </p:nvSpPr>
        <p:spPr>
          <a:xfrm>
            <a:off x="486000" y="900000"/>
            <a:ext cx="8172000" cy="3703500"/>
          </a:xfrm>
        </p:spPr>
        <p:txBody>
          <a:bodyPr/>
          <a:lstStyle/>
          <a:p>
            <a:r>
              <a:rPr lang="zh-CN" altLang="en-US" dirty="0"/>
              <a:t>发送方 </a:t>
            </a:r>
            <a:r>
              <a:rPr lang="en-US" altLang="zh-CN" dirty="0"/>
              <a:t>TCP </a:t>
            </a:r>
            <a:r>
              <a:rPr lang="zh-CN" altLang="en-US" dirty="0"/>
              <a:t>每次接收到一字节的数据后就发送。</a:t>
            </a:r>
          </a:p>
          <a:p>
            <a:r>
              <a:rPr lang="zh-CN" altLang="en-US" dirty="0"/>
              <a:t>发送一个字节需要形成 </a:t>
            </a:r>
            <a:r>
              <a:rPr lang="en-US" altLang="zh-CN" dirty="0"/>
              <a:t>41 </a:t>
            </a:r>
            <a:r>
              <a:rPr lang="zh-CN" altLang="en-US" dirty="0"/>
              <a:t>字节长的 </a:t>
            </a:r>
            <a:r>
              <a:rPr lang="en-US" altLang="zh-CN" dirty="0"/>
              <a:t>IP </a:t>
            </a:r>
            <a:r>
              <a:rPr lang="zh-CN" altLang="en-US" dirty="0"/>
              <a:t>数据报。效率很低。</a:t>
            </a:r>
          </a:p>
          <a:p>
            <a:r>
              <a:rPr lang="zh-CN" altLang="en-US" dirty="0"/>
              <a:t>解决方法：使用 </a:t>
            </a:r>
            <a:r>
              <a:rPr lang="en-US" altLang="zh-CN" dirty="0"/>
              <a:t>Nagle </a:t>
            </a:r>
            <a:r>
              <a:rPr lang="zh-CN" altLang="en-US" dirty="0"/>
              <a:t>算法。</a:t>
            </a:r>
          </a:p>
          <a:p>
            <a:endParaRPr lang="zh-CN" altLang="en-US" dirty="0"/>
          </a:p>
        </p:txBody>
      </p:sp>
      <p:sp>
        <p:nvSpPr>
          <p:cNvPr id="30" name="标题 29">
            <a:extLst>
              <a:ext uri="{FF2B5EF4-FFF2-40B4-BE49-F238E27FC236}">
                <a16:creationId xmlns:a16="http://schemas.microsoft.com/office/drawing/2014/main" id="{39EF4EF3-C1BA-5D92-EABA-FA24FAACDE51}"/>
              </a:ext>
            </a:extLst>
          </p:cNvPr>
          <p:cNvSpPr>
            <a:spLocks noGrp="1"/>
          </p:cNvSpPr>
          <p:nvPr>
            <p:ph type="title"/>
          </p:nvPr>
        </p:nvSpPr>
        <p:spPr>
          <a:xfrm>
            <a:off x="486000" y="550723"/>
            <a:ext cx="8172000" cy="338554"/>
          </a:xfrm>
        </p:spPr>
        <p:txBody>
          <a:bodyPr/>
          <a:lstStyle/>
          <a:p>
            <a:r>
              <a:rPr lang="zh-CN" altLang="en-US" dirty="0"/>
              <a:t>发送方糊涂窗口综合症</a:t>
            </a:r>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4" name="内容占位符 3">
            <a:extLst>
              <a:ext uri="{FF2B5EF4-FFF2-40B4-BE49-F238E27FC236}">
                <a16:creationId xmlns:a16="http://schemas.microsoft.com/office/drawing/2014/main" id="{0A1F291F-8833-84C8-A1C6-3EA2DFED59F0}"/>
              </a:ext>
            </a:extLst>
          </p:cNvPr>
          <p:cNvSpPr>
            <a:spLocks noGrp="1"/>
          </p:cNvSpPr>
          <p:nvPr>
            <p:ph sz="quarter" idx="11"/>
          </p:nvPr>
        </p:nvSpPr>
        <p:spPr>
          <a:xfrm>
            <a:off x="486000" y="900000"/>
            <a:ext cx="8172000" cy="3703500"/>
          </a:xfrm>
        </p:spPr>
        <p:txBody>
          <a:bodyPr/>
          <a:lstStyle/>
          <a:p>
            <a:r>
              <a:rPr lang="zh-CN" altLang="en-US" dirty="0"/>
              <a:t>原因：接收方应用进程消耗数据太慢，例如：每次只读取一个字节。</a:t>
            </a:r>
          </a:p>
          <a:p>
            <a:endParaRPr lang="zh-CN" altLang="en-US" dirty="0"/>
          </a:p>
        </p:txBody>
      </p:sp>
      <p:sp>
        <p:nvSpPr>
          <p:cNvPr id="10" name="标题 9">
            <a:extLst>
              <a:ext uri="{FF2B5EF4-FFF2-40B4-BE49-F238E27FC236}">
                <a16:creationId xmlns:a16="http://schemas.microsoft.com/office/drawing/2014/main" id="{93BEBC3B-D019-71F9-178C-1B29F5316DA7}"/>
              </a:ext>
            </a:extLst>
          </p:cNvPr>
          <p:cNvSpPr>
            <a:spLocks noGrp="1"/>
          </p:cNvSpPr>
          <p:nvPr>
            <p:ph type="title"/>
          </p:nvPr>
        </p:nvSpPr>
        <p:spPr>
          <a:xfrm>
            <a:off x="486000" y="550723"/>
            <a:ext cx="8172000" cy="338554"/>
          </a:xfrm>
        </p:spPr>
        <p:txBody>
          <a:bodyPr/>
          <a:lstStyle/>
          <a:p>
            <a:r>
              <a:rPr lang="zh-CN" altLang="en-US" dirty="0"/>
              <a:t>接收方糊涂窗口综合症</a:t>
            </a:r>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11">
            <a:extLst>
              <a:ext uri="{FF2B5EF4-FFF2-40B4-BE49-F238E27FC236}">
                <a16:creationId xmlns:a16="http://schemas.microsoft.com/office/drawing/2014/main" id="{4DAE0A53-3105-3315-CFC4-FFCBE40AF98C}"/>
              </a:ext>
            </a:extLst>
          </p:cNvPr>
          <p:cNvSpPr>
            <a:spLocks noGrp="1"/>
          </p:cNvSpPr>
          <p:nvPr>
            <p:ph sz="quarter" idx="11"/>
          </p:nvPr>
        </p:nvSpPr>
        <p:spPr>
          <a:xfrm>
            <a:off x="486000" y="900000"/>
            <a:ext cx="8172000" cy="3703500"/>
          </a:xfrm>
        </p:spPr>
        <p:txBody>
          <a:bodyPr/>
          <a:lstStyle/>
          <a:p>
            <a:r>
              <a:rPr lang="zh-CN" altLang="en-US" dirty="0"/>
              <a:t>解决方法：让接收方等待一段时间，使得或者接收缓存已有足够空间容纳一个最长的报文段，或者等到接收缓存已有一半空闲的空间。只要出现这两种情况之一，接收方就发出确认报文，并向发送方通知当前的窗口大小。</a:t>
            </a:r>
          </a:p>
          <a:p>
            <a:r>
              <a:rPr lang="zh-CN" altLang="en-US" dirty="0"/>
              <a:t>上述两种方法可配合使用，使得在发送方不发送很小的报文段的同时，接收方也不要在缓存刚刚有了一点小的空间就急忙把这个很小的窗口大小信息通知给发送方。</a:t>
            </a:r>
          </a:p>
          <a:p>
            <a:endParaRPr lang="zh-CN" altLang="en-US" dirty="0"/>
          </a:p>
        </p:txBody>
      </p:sp>
      <p:sp>
        <p:nvSpPr>
          <p:cNvPr id="11" name="标题 10">
            <a:extLst>
              <a:ext uri="{FF2B5EF4-FFF2-40B4-BE49-F238E27FC236}">
                <a16:creationId xmlns:a16="http://schemas.microsoft.com/office/drawing/2014/main" id="{EDB2E80C-A62C-4799-4481-4D408EE32163}"/>
              </a:ext>
            </a:extLst>
          </p:cNvPr>
          <p:cNvSpPr>
            <a:spLocks noGrp="1"/>
          </p:cNvSpPr>
          <p:nvPr>
            <p:ph type="title"/>
          </p:nvPr>
        </p:nvSpPr>
        <p:spPr>
          <a:xfrm>
            <a:off x="486000" y="550723"/>
            <a:ext cx="8172000" cy="338554"/>
          </a:xfrm>
        </p:spPr>
        <p:txBody>
          <a:bodyPr/>
          <a:lstStyle/>
          <a:p>
            <a:r>
              <a:rPr lang="zh-CN" altLang="en-US" dirty="0"/>
              <a:t>接收方糊涂窗口综合症</a:t>
            </a:r>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5.8.1                                 </a:t>
            </a:r>
            <a:r>
              <a:rPr lang="zh-CN" altLang="en-US" sz="2000" b="1" dirty="0">
                <a:solidFill>
                  <a:schemeClr val="bg1"/>
                </a:solidFill>
                <a:latin typeface="微软雅黑" pitchFamily="34" charset="-122"/>
                <a:ea typeface="微软雅黑" pitchFamily="34" charset="-122"/>
              </a:rPr>
              <a:t>拥塞控制的一般原理</a:t>
            </a:r>
          </a:p>
          <a:p>
            <a:pPr eaLnBrk="0" hangingPunct="0">
              <a:lnSpc>
                <a:spcPct val="200000"/>
              </a:lnSpc>
            </a:pPr>
            <a:r>
              <a:rPr lang="en-US" altLang="zh-CN" sz="2000" b="1" dirty="0">
                <a:solidFill>
                  <a:schemeClr val="bg1"/>
                </a:solidFill>
                <a:latin typeface="微软雅黑" pitchFamily="34" charset="-122"/>
                <a:ea typeface="微软雅黑" pitchFamily="34" charset="-122"/>
              </a:rPr>
              <a:t>5.8.2                                TCP </a:t>
            </a:r>
            <a:r>
              <a:rPr lang="zh-CN" altLang="en-US" sz="2000" b="1" dirty="0">
                <a:solidFill>
                  <a:schemeClr val="bg1"/>
                </a:solidFill>
                <a:latin typeface="微软雅黑" pitchFamily="34" charset="-122"/>
                <a:ea typeface="微软雅黑" pitchFamily="34" charset="-122"/>
              </a:rPr>
              <a:t>的拥塞控制方法</a:t>
            </a:r>
          </a:p>
          <a:p>
            <a:pPr eaLnBrk="0" hangingPunct="0">
              <a:lnSpc>
                <a:spcPct val="200000"/>
              </a:lnSpc>
            </a:pPr>
            <a:r>
              <a:rPr lang="en-US" altLang="zh-CN" sz="2000" b="1" dirty="0">
                <a:solidFill>
                  <a:schemeClr val="bg1"/>
                </a:solidFill>
                <a:latin typeface="微软雅黑" pitchFamily="34" charset="-122"/>
                <a:ea typeface="微软雅黑" pitchFamily="34" charset="-122"/>
              </a:rPr>
              <a:t>5.8.3                                 </a:t>
            </a: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p>
        </p:txBody>
      </p:sp>
      <p:sp>
        <p:nvSpPr>
          <p:cNvPr id="10" name="Rectangle 27"/>
          <p:cNvSpPr>
            <a:spLocks noChangeArrowheads="1"/>
          </p:cNvSpPr>
          <p:nvPr/>
        </p:nvSpPr>
        <p:spPr bwMode="auto">
          <a:xfrm>
            <a:off x="639730" y="143396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52889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5.8</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的拥塞控制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圆角矩形 32"/>
          <p:cNvSpPr/>
          <p:nvPr/>
        </p:nvSpPr>
        <p:spPr>
          <a:xfrm>
            <a:off x="4498429" y="1164624"/>
            <a:ext cx="4107310" cy="310055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AutoShape 5"/>
          <p:cNvSpPr>
            <a:spLocks noChangeArrowheads="1"/>
          </p:cNvSpPr>
          <p:nvPr/>
        </p:nvSpPr>
        <p:spPr bwMode="auto">
          <a:xfrm>
            <a:off x="556963" y="62250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585722" y="580235"/>
            <a:ext cx="3972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5.8.1   </a:t>
            </a:r>
            <a:r>
              <a:rPr lang="zh-CN" altLang="en-US" sz="2400" b="1" dirty="0">
                <a:solidFill>
                  <a:schemeClr val="bg1"/>
                </a:solidFill>
                <a:latin typeface="微软雅黑" pitchFamily="34" charset="-122"/>
                <a:ea typeface="微软雅黑" pitchFamily="34" charset="-122"/>
              </a:rPr>
              <a:t>拥塞控制的一般原理</a:t>
            </a:r>
          </a:p>
        </p:txBody>
      </p:sp>
      <p:sp>
        <p:nvSpPr>
          <p:cNvPr id="7" name="Rectangle 8"/>
          <p:cNvSpPr>
            <a:spLocks noChangeArrowheads="1"/>
          </p:cNvSpPr>
          <p:nvPr/>
        </p:nvSpPr>
        <p:spPr bwMode="auto">
          <a:xfrm>
            <a:off x="556963" y="1035531"/>
            <a:ext cx="3552582"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在某段时间，若对网络中某资源的需求超过了该资源所能提供的可用部分，</a:t>
            </a:r>
            <a:r>
              <a:rPr lang="zh-CN" altLang="en-US" sz="2000" b="1" dirty="0">
                <a:solidFill>
                  <a:srgbClr val="0000FF"/>
                </a:solidFill>
                <a:latin typeface="微软雅黑" pitchFamily="34" charset="-122"/>
                <a:ea typeface="微软雅黑" pitchFamily="34" charset="-122"/>
              </a:rPr>
              <a:t>网络的性能就要明显变坏，</a:t>
            </a:r>
            <a:r>
              <a:rPr lang="zh-CN" altLang="en-US" sz="2000" b="1" dirty="0">
                <a:latin typeface="微软雅黑" pitchFamily="34" charset="-122"/>
                <a:ea typeface="微软雅黑" pitchFamily="34" charset="-122"/>
              </a:rPr>
              <a:t>整个网络的吞吐量将随输入负荷的增大而下降。这种现象称为</a:t>
            </a:r>
            <a:r>
              <a:rPr lang="zh-CN" altLang="en-US" sz="2000" b="1" dirty="0">
                <a:solidFill>
                  <a:srgbClr val="0000FF"/>
                </a:solidFill>
                <a:latin typeface="微软雅黑" pitchFamily="34" charset="-122"/>
                <a:ea typeface="微软雅黑" pitchFamily="34" charset="-122"/>
              </a:rPr>
              <a:t>拥塞 </a:t>
            </a:r>
            <a:r>
              <a:rPr lang="en-US" altLang="zh-CN" sz="2000" b="1" dirty="0">
                <a:latin typeface="微软雅黑" pitchFamily="34" charset="-122"/>
                <a:ea typeface="微软雅黑" pitchFamily="34" charset="-122"/>
              </a:rPr>
              <a:t>(congestion)</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最坏结果：</a:t>
            </a:r>
            <a:r>
              <a:rPr lang="zh-CN" altLang="en-US" sz="2000" b="1" dirty="0">
                <a:solidFill>
                  <a:srgbClr val="C00000"/>
                </a:solidFill>
                <a:latin typeface="微软雅黑" pitchFamily="34" charset="-122"/>
                <a:ea typeface="微软雅黑" pitchFamily="34" charset="-122"/>
              </a:rPr>
              <a:t>系统崩溃。</a:t>
            </a:r>
          </a:p>
        </p:txBody>
      </p:sp>
      <p:sp>
        <p:nvSpPr>
          <p:cNvPr id="8" name="Rectangle 2"/>
          <p:cNvSpPr>
            <a:spLocks noChangeArrowheads="1"/>
          </p:cNvSpPr>
          <p:nvPr/>
        </p:nvSpPr>
        <p:spPr bwMode="auto">
          <a:xfrm>
            <a:off x="6798893" y="1586270"/>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b="1">
              <a:latin typeface="微软雅黑" pitchFamily="34" charset="-122"/>
              <a:ea typeface="微软雅黑" pitchFamily="34" charset="-122"/>
            </a:endParaRPr>
          </a:p>
        </p:txBody>
      </p:sp>
      <p:grpSp>
        <p:nvGrpSpPr>
          <p:cNvPr id="3" name="组合 2"/>
          <p:cNvGrpSpPr/>
          <p:nvPr/>
        </p:nvGrpSpPr>
        <p:grpSpPr>
          <a:xfrm>
            <a:off x="5018115" y="1419034"/>
            <a:ext cx="3122419" cy="2737100"/>
            <a:chOff x="4857857" y="1639611"/>
            <a:chExt cx="3122419" cy="2737100"/>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2" name="Text Box 17"/>
            <p:cNvSpPr txBox="1">
              <a:spLocks noChangeArrowheads="1"/>
            </p:cNvSpPr>
            <p:nvPr/>
          </p:nvSpPr>
          <p:spPr bwMode="auto">
            <a:xfrm>
              <a:off x="7152187" y="4124276"/>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3" name="Text Box 18"/>
            <p:cNvSpPr txBox="1">
              <a:spLocks noChangeArrowheads="1"/>
            </p:cNvSpPr>
            <p:nvPr/>
          </p:nvSpPr>
          <p:spPr bwMode="auto">
            <a:xfrm>
              <a:off x="7152187" y="2775953"/>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4" name="Text Box 19"/>
            <p:cNvSpPr txBox="1">
              <a:spLocks noChangeArrowheads="1"/>
            </p:cNvSpPr>
            <p:nvPr/>
          </p:nvSpPr>
          <p:spPr bwMode="auto">
            <a:xfrm rot="16200000">
              <a:off x="4695016" y="1958209"/>
              <a:ext cx="592753"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吞量率</a:t>
              </a:r>
              <a:endParaRPr kumimoji="0" lang="en-US" altLang="zh-CN" sz="1200" b="1" dirty="0">
                <a:latin typeface="微软雅黑" pitchFamily="34" charset="-122"/>
                <a:ea typeface="微软雅黑" pitchFamily="34" charset="-122"/>
              </a:endParaRPr>
            </a:p>
          </p:txBody>
        </p:sp>
        <p:sp>
          <p:nvSpPr>
            <p:cNvPr id="25" name="Text Box 20"/>
            <p:cNvSpPr txBox="1">
              <a:spLocks noChangeArrowheads="1"/>
            </p:cNvSpPr>
            <p:nvPr/>
          </p:nvSpPr>
          <p:spPr bwMode="auto">
            <a:xfrm rot="16200000">
              <a:off x="4763550" y="3001052"/>
              <a:ext cx="451200"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延迟</a:t>
              </a:r>
              <a:endParaRPr kumimoji="0" lang="en-US" altLang="zh-CN" sz="1200" b="1" dirty="0">
                <a:latin typeface="微软雅黑" pitchFamily="34" charset="-122"/>
                <a:ea typeface="微软雅黑"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00000"/>
                  </a:solidFill>
                  <a:latin typeface="微软雅黑" pitchFamily="34" charset="-122"/>
                  <a:ea typeface="微软雅黑" pitchFamily="34" charset="-122"/>
                </a:rPr>
                <a:t>系统</a:t>
              </a:r>
              <a:endParaRPr kumimoji="0" lang="en-US" altLang="zh-CN" sz="1200" b="1" dirty="0">
                <a:solidFill>
                  <a:srgbClr val="C00000"/>
                </a:solidFill>
                <a:latin typeface="微软雅黑" pitchFamily="34" charset="-122"/>
                <a:ea typeface="微软雅黑" pitchFamily="34" charset="-122"/>
              </a:endParaRPr>
            </a:p>
            <a:p>
              <a:r>
                <a:rPr kumimoji="0" lang="zh-CN" altLang="en-US" sz="1200" b="1" dirty="0">
                  <a:solidFill>
                    <a:srgbClr val="C00000"/>
                  </a:solidFill>
                  <a:latin typeface="微软雅黑" pitchFamily="34" charset="-122"/>
                  <a:ea typeface="微软雅黑" pitchFamily="34" charset="-122"/>
                </a:rPr>
                <a:t>崩溃</a:t>
              </a:r>
              <a:endParaRPr kumimoji="0" lang="en-US" altLang="zh-CN" sz="1200" b="1" dirty="0">
                <a:solidFill>
                  <a:srgbClr val="C00000"/>
                </a:solidFill>
                <a:latin typeface="微软雅黑" pitchFamily="34" charset="-122"/>
                <a:ea typeface="微软雅黑"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31" name="Text Box 26"/>
            <p:cNvSpPr txBox="1">
              <a:spLocks noChangeArrowheads="1"/>
            </p:cNvSpPr>
            <p:nvPr/>
          </p:nvSpPr>
          <p:spPr bwMode="auto">
            <a:xfrm>
              <a:off x="7289563" y="1639611"/>
              <a:ext cx="690713" cy="439298"/>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C00CC"/>
                  </a:solidFill>
                  <a:latin typeface="微软雅黑" pitchFamily="34" charset="-122"/>
                  <a:ea typeface="微软雅黑" pitchFamily="34" charset="-122"/>
                </a:rPr>
                <a:t>分组丢失增多</a:t>
              </a:r>
              <a:endParaRPr kumimoji="0" lang="en-US" altLang="zh-CN" sz="1200" b="1" dirty="0">
                <a:solidFill>
                  <a:srgbClr val="CC00CC"/>
                </a:solidFill>
                <a:latin typeface="微软雅黑" pitchFamily="34" charset="-122"/>
                <a:ea typeface="微软雅黑"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grpSp>
      <p:sp>
        <p:nvSpPr>
          <p:cNvPr id="26" name="内容占位符 25">
            <a:extLst>
              <a:ext uri="{FF2B5EF4-FFF2-40B4-BE49-F238E27FC236}">
                <a16:creationId xmlns:a16="http://schemas.microsoft.com/office/drawing/2014/main" id="{4E0008FA-ED30-F35D-0B84-627C38060B5A}"/>
              </a:ext>
            </a:extLst>
          </p:cNvPr>
          <p:cNvSpPr>
            <a:spLocks noGrp="1"/>
          </p:cNvSpPr>
          <p:nvPr>
            <p:ph sz="quarter" idx="11"/>
          </p:nvPr>
        </p:nvSpPr>
        <p:spPr/>
        <p:txBody>
          <a:bodyPr/>
          <a:lstStyle/>
          <a:p>
            <a:endParaRPr lang="zh-CN" altLang="en-US"/>
          </a:p>
        </p:txBody>
      </p:sp>
      <p:sp>
        <p:nvSpPr>
          <p:cNvPr id="20" name="标题 19">
            <a:extLst>
              <a:ext uri="{FF2B5EF4-FFF2-40B4-BE49-F238E27FC236}">
                <a16:creationId xmlns:a16="http://schemas.microsoft.com/office/drawing/2014/main" id="{84CB527E-CE72-A6E9-4459-8412B1DFE49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AutoShape 5"/>
          <p:cNvSpPr>
            <a:spLocks noChangeArrowheads="1"/>
          </p:cNvSpPr>
          <p:nvPr/>
        </p:nvSpPr>
        <p:spPr bwMode="auto">
          <a:xfrm>
            <a:off x="556963" y="6207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50" name="Rectangle 6"/>
          <p:cNvSpPr>
            <a:spLocks noChangeArrowheads="1"/>
          </p:cNvSpPr>
          <p:nvPr/>
        </p:nvSpPr>
        <p:spPr bwMode="auto">
          <a:xfrm>
            <a:off x="3591338" y="587513"/>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拥塞产生的原因</a:t>
            </a:r>
          </a:p>
        </p:txBody>
      </p:sp>
      <p:sp>
        <p:nvSpPr>
          <p:cNvPr id="51" name="Rectangle 68"/>
          <p:cNvSpPr>
            <a:spLocks noChangeArrowheads="1"/>
          </p:cNvSpPr>
          <p:nvPr/>
        </p:nvSpPr>
        <p:spPr bwMode="auto">
          <a:xfrm>
            <a:off x="556963" y="983823"/>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由许多因素引起。例如：</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节点缓存容量太小；</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链路容量不足；</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处理机处理速率太慢；</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拥塞本身会进一步加剧拥塞；</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出现网络拥塞的条件：</a:t>
            </a:r>
          </a:p>
        </p:txBody>
      </p:sp>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7" name="内容占位符 6">
            <a:extLst>
              <a:ext uri="{FF2B5EF4-FFF2-40B4-BE49-F238E27FC236}">
                <a16:creationId xmlns:a16="http://schemas.microsoft.com/office/drawing/2014/main" id="{697CDC23-6CE0-F7BE-5856-647D11378F1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B8332EC-4D95-DC91-2850-A61722867FC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558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078377" y="592369"/>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增加资源能解决拥塞吗？</a:t>
            </a:r>
          </a:p>
        </p:txBody>
      </p:sp>
      <p:sp>
        <p:nvSpPr>
          <p:cNvPr id="4" name="Rectangle 68"/>
          <p:cNvSpPr>
            <a:spLocks noChangeArrowheads="1"/>
          </p:cNvSpPr>
          <p:nvPr/>
        </p:nvSpPr>
        <p:spPr bwMode="auto">
          <a:xfrm>
            <a:off x="556963" y="979252"/>
            <a:ext cx="8048776" cy="4707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不能，而且还可能使网络的性能更坏。</a:t>
            </a:r>
            <a:endParaRPr lang="zh-CN" altLang="en-US" sz="2000" b="1" dirty="0">
              <a:latin typeface="微软雅黑" pitchFamily="34" charset="-122"/>
              <a:ea typeface="微软雅黑" pitchFamily="34" charset="-122"/>
            </a:endParaRPr>
          </a:p>
        </p:txBody>
      </p:sp>
      <p:sp>
        <p:nvSpPr>
          <p:cNvPr id="6" name="Rectangle 68"/>
          <p:cNvSpPr>
            <a:spLocks noChangeArrowheads="1"/>
          </p:cNvSpPr>
          <p:nvPr/>
        </p:nvSpPr>
        <p:spPr bwMode="auto">
          <a:xfrm>
            <a:off x="556963" y="1412885"/>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例如：</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增大缓存，但未提高输出链路的容量和处理机的速度，排队等待时间将会大大增加，引起大量超时重传，解决不了网络拥塞；</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提高处理机处理的速率会将瓶颈转移到其他地方；</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拥塞引起的</a:t>
            </a:r>
            <a:r>
              <a:rPr lang="zh-CN" altLang="en-US" sz="2000" b="1" dirty="0">
                <a:solidFill>
                  <a:srgbClr val="0000FF"/>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并不会缓解网络的拥塞，反而会加剧网络的拥塞。</a:t>
            </a:r>
          </a:p>
        </p:txBody>
      </p:sp>
      <p:sp>
        <p:nvSpPr>
          <p:cNvPr id="10" name="内容占位符 9">
            <a:extLst>
              <a:ext uri="{FF2B5EF4-FFF2-40B4-BE49-F238E27FC236}">
                <a16:creationId xmlns:a16="http://schemas.microsoft.com/office/drawing/2014/main" id="{6FA15031-680D-D453-41F6-F447F9DCE731}"/>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09D840DB-7DB8-10ED-7973-AB76AFB1E28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up)">
                                      <p:cBhvr>
                                        <p:cTn id="12"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336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2911664" y="590156"/>
            <a:ext cx="33393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拥塞控制与流量控制的区别</a:t>
            </a:r>
          </a:p>
        </p:txBody>
      </p:sp>
      <p:graphicFrame>
        <p:nvGraphicFramePr>
          <p:cNvPr id="2" name="图示 1"/>
          <p:cNvGraphicFramePr/>
          <p:nvPr>
            <p:extLst>
              <p:ext uri="{D42A27DB-BD31-4B8C-83A1-F6EECF244321}">
                <p14:modId xmlns:p14="http://schemas.microsoft.com/office/powerpoint/2010/main" val="711734731"/>
              </p:ext>
            </p:extLst>
          </p:nvPr>
        </p:nvGraphicFramePr>
        <p:xfrm>
          <a:off x="1062087" y="1042331"/>
          <a:ext cx="7110952" cy="34448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内容占位符 6">
            <a:extLst>
              <a:ext uri="{FF2B5EF4-FFF2-40B4-BE49-F238E27FC236}">
                <a16:creationId xmlns:a16="http://schemas.microsoft.com/office/drawing/2014/main" id="{D0A64F38-6FCE-25DD-5574-A25FC48F28D3}"/>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E9BCFA98-0C70-AFD4-2639-1A5244A877E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556963" y="1012072"/>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1" name="Group 23"/>
          <p:cNvGrpSpPr>
            <a:grpSpLocks/>
          </p:cNvGrpSpPr>
          <p:nvPr/>
        </p:nvGrpSpPr>
        <p:grpSpPr bwMode="auto">
          <a:xfrm>
            <a:off x="1727122" y="2465424"/>
            <a:ext cx="4605001" cy="1692477"/>
            <a:chOff x="651" y="2544"/>
            <a:chExt cx="3908"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nvGrpSpPr>
            <p:cNvPr id="64" name="Group 26"/>
            <p:cNvGrpSpPr>
              <a:grpSpLocks/>
            </p:cNvGrpSpPr>
            <p:nvPr/>
          </p:nvGrpSpPr>
          <p:grpSpPr bwMode="auto">
            <a:xfrm>
              <a:off x="651" y="2544"/>
              <a:ext cx="3908" cy="1556"/>
              <a:chOff x="651" y="2544"/>
              <a:chExt cx="3908" cy="1556"/>
            </a:xfrm>
          </p:grpSpPr>
          <p:grpSp>
            <p:nvGrpSpPr>
              <p:cNvPr id="65" name="Group 27"/>
              <p:cNvGrpSpPr>
                <a:grpSpLocks/>
              </p:cNvGrpSpPr>
              <p:nvPr/>
            </p:nvGrpSpPr>
            <p:grpSpPr bwMode="auto">
              <a:xfrm>
                <a:off x="651" y="2544"/>
                <a:ext cx="3908" cy="1252"/>
                <a:chOff x="651" y="2544"/>
                <a:chExt cx="3908"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0" name="Text Box 30"/>
                <p:cNvSpPr txBox="1">
                  <a:spLocks noChangeArrowheads="1"/>
                </p:cNvSpPr>
                <p:nvPr/>
              </p:nvSpPr>
              <p:spPr bwMode="auto">
                <a:xfrm>
                  <a:off x="3532" y="2544"/>
                  <a:ext cx="1027"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66"/>
                      </a:solidFill>
                      <a:latin typeface="微软雅黑" pitchFamily="34" charset="-122"/>
                      <a:ea typeface="微软雅黑"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dirty="0">
                    <a:latin typeface="微软雅黑" pitchFamily="34" charset="-122"/>
                    <a:ea typeface="微软雅黑" pitchFamily="34" charset="-122"/>
                  </a:rPr>
                  <a:t>轻度</a:t>
                </a:r>
              </a:p>
              <a:p>
                <a:pPr algn="ctr" eaLnBrk="1" hangingPunct="1"/>
                <a:r>
                  <a:rPr lang="zh-CN" altLang="en-US" sz="1400" dirty="0">
                    <a:latin typeface="微软雅黑" pitchFamily="34" charset="-122"/>
                    <a:ea typeface="微软雅黑" pitchFamily="34" charset="-122"/>
                  </a:rPr>
                  <a:t>拥塞</a:t>
                </a:r>
              </a:p>
            </p:txBody>
          </p:sp>
        </p:grpSp>
      </p:grpSp>
      <p:sp>
        <p:nvSpPr>
          <p:cNvPr id="38" name="AutoShape 5"/>
          <p:cNvSpPr>
            <a:spLocks noChangeArrowheads="1"/>
          </p:cNvSpPr>
          <p:nvPr/>
        </p:nvSpPr>
        <p:spPr bwMode="auto">
          <a:xfrm>
            <a:off x="556963" y="61878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278387" y="595692"/>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拥塞控制所起的作用</a:t>
            </a:r>
          </a:p>
        </p:txBody>
      </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7" name="Text Box 9"/>
            <p:cNvSpPr txBox="1">
              <a:spLocks noChangeArrowheads="1"/>
            </p:cNvSpPr>
            <p:nvPr/>
          </p:nvSpPr>
          <p:spPr bwMode="auto">
            <a:xfrm>
              <a:off x="2901" y="1764"/>
              <a:ext cx="1376"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C00CC"/>
                  </a:solidFill>
                  <a:latin typeface="微软雅黑" pitchFamily="34" charset="-122"/>
                  <a:ea typeface="微软雅黑"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nvGrpSpPr>
            <p:cNvPr id="51" name="Group 13"/>
            <p:cNvGrpSpPr>
              <a:grpSpLocks/>
            </p:cNvGrpSpPr>
            <p:nvPr/>
          </p:nvGrpSpPr>
          <p:grpSpPr bwMode="auto">
            <a:xfrm>
              <a:off x="2451" y="2124"/>
              <a:ext cx="1376" cy="439"/>
              <a:chOff x="2451" y="2124"/>
              <a:chExt cx="1376" cy="439"/>
            </a:xfrm>
          </p:grpSpPr>
          <p:sp>
            <p:nvSpPr>
              <p:cNvPr id="52" name="Text Box 14"/>
              <p:cNvSpPr txBox="1">
                <a:spLocks noChangeArrowheads="1"/>
              </p:cNvSpPr>
              <p:nvPr/>
            </p:nvSpPr>
            <p:spPr bwMode="auto">
              <a:xfrm>
                <a:off x="2451" y="2124"/>
                <a:ext cx="1376" cy="311"/>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FF"/>
                    </a:solidFill>
                    <a:latin typeface="微软雅黑" pitchFamily="34" charset="-122"/>
                    <a:ea typeface="微软雅黑"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5" name="Text Box 17"/>
          <p:cNvSpPr txBox="1">
            <a:spLocks noChangeArrowheads="1"/>
          </p:cNvSpPr>
          <p:nvPr/>
        </p:nvSpPr>
        <p:spPr bwMode="auto">
          <a:xfrm>
            <a:off x="1442736" y="3422881"/>
            <a:ext cx="31130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600" dirty="0">
                <a:solidFill>
                  <a:srgbClr val="333399"/>
                </a:solidFill>
                <a:latin typeface="微软雅黑" pitchFamily="34" charset="-122"/>
                <a:ea typeface="微软雅黑" pitchFamily="34" charset="-122"/>
              </a:rPr>
              <a:t>0</a:t>
            </a:r>
          </a:p>
        </p:txBody>
      </p:sp>
      <p:grpSp>
        <p:nvGrpSpPr>
          <p:cNvPr id="56" name="Group 18"/>
          <p:cNvGrpSpPr>
            <a:grpSpLocks/>
          </p:cNvGrpSpPr>
          <p:nvPr/>
        </p:nvGrpSpPr>
        <p:grpSpPr bwMode="auto">
          <a:xfrm>
            <a:off x="4906315" y="2847212"/>
            <a:ext cx="2651294" cy="792941"/>
            <a:chOff x="3349" y="2890"/>
            <a:chExt cx="2250" cy="729"/>
          </a:xfrm>
        </p:grpSpPr>
        <p:grpSp>
          <p:nvGrpSpPr>
            <p:cNvPr id="57" name="Group 19"/>
            <p:cNvGrpSpPr>
              <a:grpSpLocks/>
            </p:cNvGrpSpPr>
            <p:nvPr/>
          </p:nvGrpSpPr>
          <p:grpSpPr bwMode="auto">
            <a:xfrm>
              <a:off x="3477" y="2890"/>
              <a:ext cx="2122" cy="600"/>
              <a:chOff x="3477" y="2890"/>
              <a:chExt cx="2122" cy="600"/>
            </a:xfrm>
          </p:grpSpPr>
          <p:sp>
            <p:nvSpPr>
              <p:cNvPr id="59" name="Text Box 20"/>
              <p:cNvSpPr txBox="1">
                <a:spLocks noChangeArrowheads="1"/>
              </p:cNvSpPr>
              <p:nvPr/>
            </p:nvSpPr>
            <p:spPr bwMode="auto">
              <a:xfrm>
                <a:off x="3881" y="2890"/>
                <a:ext cx="1718"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00000"/>
                    </a:solidFill>
                    <a:latin typeface="微软雅黑" pitchFamily="34" charset="-122"/>
                    <a:ea typeface="微软雅黑" pitchFamily="34" charset="-122"/>
                  </a:rPr>
                  <a:t>死锁（吞吐量 </a:t>
                </a:r>
                <a:r>
                  <a:rPr lang="en-US" altLang="zh-CN" sz="1600" dirty="0">
                    <a:solidFill>
                      <a:srgbClr val="C00000"/>
                    </a:solidFill>
                    <a:latin typeface="微软雅黑" pitchFamily="34" charset="-122"/>
                    <a:ea typeface="微软雅黑" pitchFamily="34" charset="-122"/>
                  </a:rPr>
                  <a:t>= 0</a:t>
                </a:r>
                <a:r>
                  <a:rPr lang="zh-CN" altLang="en-US" sz="1600" dirty="0">
                    <a:solidFill>
                      <a:srgbClr val="C00000"/>
                    </a:solidFill>
                    <a:latin typeface="微软雅黑" pitchFamily="34" charset="-122"/>
                    <a:ea typeface="微软雅黑"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6" name="内容占位符 5">
            <a:extLst>
              <a:ext uri="{FF2B5EF4-FFF2-40B4-BE49-F238E27FC236}">
                <a16:creationId xmlns:a16="http://schemas.microsoft.com/office/drawing/2014/main" id="{C76840EB-F2FA-0BC0-1228-95A9F4A1A21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82B439D2-EA95-EB40-F9D0-8BC6EB80BA7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629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296385" y="593083"/>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拥塞控制的一般原理</a:t>
            </a:r>
          </a:p>
        </p:txBody>
      </p:sp>
      <p:sp>
        <p:nvSpPr>
          <p:cNvPr id="40" name="Rectangle 68"/>
          <p:cNvSpPr>
            <a:spLocks noChangeArrowheads="1"/>
          </p:cNvSpPr>
          <p:nvPr/>
        </p:nvSpPr>
        <p:spPr bwMode="auto">
          <a:xfrm>
            <a:off x="556963" y="989393"/>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拥塞控制的前提：</a:t>
            </a:r>
            <a:r>
              <a:rPr lang="zh-CN" altLang="en-US" sz="2000" b="1" dirty="0">
                <a:latin typeface="微软雅黑" pitchFamily="34" charset="-122"/>
                <a:ea typeface="微软雅黑" pitchFamily="34" charset="-122"/>
              </a:rPr>
              <a:t>网络能够</a:t>
            </a:r>
            <a:r>
              <a:rPr lang="zh-CN" altLang="en-US" sz="2000" b="1" dirty="0">
                <a:solidFill>
                  <a:srgbClr val="0000FF"/>
                </a:solidFill>
                <a:latin typeface="微软雅黑" pitchFamily="34" charset="-122"/>
                <a:ea typeface="微软雅黑" pitchFamily="34" charset="-122"/>
              </a:rPr>
              <a:t>承受</a:t>
            </a:r>
            <a:r>
              <a:rPr lang="zh-CN" altLang="en-US" sz="2000" b="1" dirty="0">
                <a:latin typeface="微软雅黑" pitchFamily="34" charset="-122"/>
                <a:ea typeface="微软雅黑" pitchFamily="34" charset="-122"/>
              </a:rPr>
              <a:t>现有的网络负荷。</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实践证明，拥塞控制是很难设计的，因为它是一个</a:t>
            </a:r>
            <a:r>
              <a:rPr lang="zh-CN" altLang="en-US" sz="2000" b="1" dirty="0">
                <a:solidFill>
                  <a:srgbClr val="C00000"/>
                </a:solidFill>
                <a:latin typeface="微软雅黑" pitchFamily="34" charset="-122"/>
                <a:ea typeface="微软雅黑" pitchFamily="34" charset="-122"/>
              </a:rPr>
              <a:t>动态问题。</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分组的丢失是网络发生拥塞的</a:t>
            </a:r>
            <a:r>
              <a:rPr lang="zh-CN" altLang="en-US" sz="2000" b="1" dirty="0">
                <a:solidFill>
                  <a:srgbClr val="C00000"/>
                </a:solidFill>
                <a:latin typeface="微软雅黑" pitchFamily="34" charset="-122"/>
                <a:ea typeface="微软雅黑" pitchFamily="34" charset="-122"/>
              </a:rPr>
              <a:t>征兆，</a:t>
            </a:r>
            <a:r>
              <a:rPr lang="zh-CN" altLang="en-US" sz="2000" b="1" dirty="0">
                <a:latin typeface="微软雅黑" pitchFamily="34" charset="-122"/>
                <a:ea typeface="微软雅黑" pitchFamily="34" charset="-122"/>
              </a:rPr>
              <a:t>而不是原因。</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在许多情况下，甚至正是</a:t>
            </a:r>
            <a:r>
              <a:rPr lang="zh-CN" altLang="en-US" sz="2000" b="1" dirty="0">
                <a:solidFill>
                  <a:srgbClr val="C00000"/>
                </a:solidFill>
                <a:latin typeface="微软雅黑" pitchFamily="34" charset="-122"/>
                <a:ea typeface="微软雅黑" pitchFamily="34" charset="-122"/>
              </a:rPr>
              <a:t>拥塞控制本身</a:t>
            </a:r>
            <a:r>
              <a:rPr lang="zh-CN" altLang="en-US" sz="2000" b="1" dirty="0">
                <a:latin typeface="微软雅黑" pitchFamily="34" charset="-122"/>
                <a:ea typeface="微软雅黑" pitchFamily="34" charset="-122"/>
              </a:rPr>
              <a:t>成为引起网络性能恶化、甚至发生死锁的原因。</a:t>
            </a:r>
          </a:p>
        </p:txBody>
      </p:sp>
      <p:sp>
        <p:nvSpPr>
          <p:cNvPr id="6" name="内容占位符 5">
            <a:extLst>
              <a:ext uri="{FF2B5EF4-FFF2-40B4-BE49-F238E27FC236}">
                <a16:creationId xmlns:a16="http://schemas.microsoft.com/office/drawing/2014/main" id="{309AC980-9AFC-1BB5-4AB2-8BC8AB9969B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4CD16FD9-605E-48EE-AFE2-749321A51AE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2336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3334857" y="590156"/>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开环控制和闭环控制</a:t>
            </a:r>
          </a:p>
        </p:txBody>
      </p:sp>
      <p:graphicFrame>
        <p:nvGraphicFramePr>
          <p:cNvPr id="13" name="图示 12"/>
          <p:cNvGraphicFramePr/>
          <p:nvPr>
            <p:extLst>
              <p:ext uri="{D42A27DB-BD31-4B8C-83A1-F6EECF244321}">
                <p14:modId xmlns:p14="http://schemas.microsoft.com/office/powerpoint/2010/main" val="3329579859"/>
              </p:ext>
            </p:extLst>
          </p:nvPr>
        </p:nvGraphicFramePr>
        <p:xfrm>
          <a:off x="1062087" y="1042332"/>
          <a:ext cx="7110952" cy="27378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16E25463-6F7C-9335-53DD-FD326EC3CCD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6817199-2BDA-A17D-2C4C-395D3ED03BA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3406505213"/>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EA551652-C492-CC4C-FB7D-70A5F76735F4}"/>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62C08E8E-C6FA-4134-50F2-FF8E5F33AAB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主要指标有：</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平均队列长度；</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超时重传的分组数；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平均分组时延；</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分组时延的标准差，等等。</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这些指标的上升都标志着拥塞的增长。</a:t>
            </a:r>
          </a:p>
        </p:txBody>
      </p:sp>
      <p:sp>
        <p:nvSpPr>
          <p:cNvPr id="8" name="内容占位符 7">
            <a:extLst>
              <a:ext uri="{FF2B5EF4-FFF2-40B4-BE49-F238E27FC236}">
                <a16:creationId xmlns:a16="http://schemas.microsoft.com/office/drawing/2014/main" id="{001E62BF-5057-43D5-8144-D302EF5359DE}"/>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8626822F-B276-4858-8FAF-AF9F4945B92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8" name="内容占位符 7">
            <a:extLst>
              <a:ext uri="{FF2B5EF4-FFF2-40B4-BE49-F238E27FC236}">
                <a16:creationId xmlns:a16="http://schemas.microsoft.com/office/drawing/2014/main" id="{19A407F6-53B4-9D8E-C81D-97BC9E8A3B97}"/>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490E1554-11B4-7C58-BD30-7AF9C848D99D}"/>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8" name="内容占位符 7">
            <a:extLst>
              <a:ext uri="{FF2B5EF4-FFF2-40B4-BE49-F238E27FC236}">
                <a16:creationId xmlns:a16="http://schemas.microsoft.com/office/drawing/2014/main" id="{B4651270-C27F-DDC4-0A3B-20F83C00DBE1}"/>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F5F49CA-175F-979B-28D6-69C0172FE01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1765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7" name="Rectangle 6"/>
          <p:cNvSpPr>
            <a:spLocks noChangeArrowheads="1"/>
          </p:cNvSpPr>
          <p:nvPr/>
        </p:nvSpPr>
        <p:spPr bwMode="auto">
          <a:xfrm>
            <a:off x="2598963" y="566241"/>
            <a:ext cx="39460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5.8.2  TCP </a:t>
            </a:r>
            <a:r>
              <a:rPr lang="zh-CN" altLang="en-US" sz="2400" b="1" dirty="0">
                <a:solidFill>
                  <a:schemeClr val="bg1"/>
                </a:solidFill>
                <a:latin typeface="微软雅黑" pitchFamily="34" charset="-122"/>
                <a:ea typeface="微软雅黑" pitchFamily="34" charset="-122"/>
              </a:rPr>
              <a:t>的拥塞控制方法</a:t>
            </a:r>
          </a:p>
        </p:txBody>
      </p:sp>
      <p:sp>
        <p:nvSpPr>
          <p:cNvPr id="38" name="Rectangle 8"/>
          <p:cNvSpPr>
            <a:spLocks noChangeArrowheads="1"/>
          </p:cNvSpPr>
          <p:nvPr/>
        </p:nvSpPr>
        <p:spPr bwMode="auto">
          <a:xfrm>
            <a:off x="556963" y="1021254"/>
            <a:ext cx="8048776" cy="26314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采用基于</a:t>
            </a:r>
            <a:r>
              <a:rPr lang="zh-CN" altLang="en-US" sz="2000" b="1" dirty="0">
                <a:solidFill>
                  <a:srgbClr val="C00000"/>
                </a:solidFill>
                <a:latin typeface="微软雅黑" pitchFamily="34" charset="-122"/>
                <a:ea typeface="微软雅黑" pitchFamily="34" charset="-122"/>
              </a:rPr>
              <a:t>滑动窗口的方法</a:t>
            </a:r>
            <a:r>
              <a:rPr lang="zh-CN" altLang="en-US" sz="2000" b="1" dirty="0">
                <a:latin typeface="微软雅黑" pitchFamily="34" charset="-122"/>
                <a:ea typeface="微软雅黑" pitchFamily="34" charset="-122"/>
              </a:rPr>
              <a:t>进行拥塞控制，属于闭环控制方法。</a:t>
            </a:r>
          </a:p>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发送方维持一个</a:t>
            </a: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(Congestion Window)</a:t>
            </a: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拥塞窗口</a:t>
            </a:r>
            <a:r>
              <a:rPr lang="zh-CN" altLang="en-US" sz="2000" b="1" dirty="0">
                <a:latin typeface="微软雅黑" pitchFamily="34" charset="-122"/>
                <a:ea typeface="微软雅黑" pitchFamily="34" charset="-122"/>
              </a:rPr>
              <a:t>的大小取决于网络的拥塞程度，并且是</a:t>
            </a:r>
            <a:r>
              <a:rPr lang="zh-CN" altLang="en-US" sz="2000" b="1" dirty="0">
                <a:solidFill>
                  <a:srgbClr val="C00000"/>
                </a:solidFill>
                <a:latin typeface="微软雅黑" pitchFamily="34" charset="-122"/>
                <a:ea typeface="微软雅黑" pitchFamily="34" charset="-122"/>
              </a:rPr>
              <a:t>动态变化</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发送端利用</a:t>
            </a:r>
            <a:r>
              <a:rPr lang="zh-CN" altLang="en-US" sz="2000" b="1" dirty="0">
                <a:solidFill>
                  <a:srgbClr val="0000FF"/>
                </a:solidFill>
                <a:latin typeface="微软雅黑" pitchFamily="34" charset="-122"/>
                <a:ea typeface="微软雅黑" pitchFamily="34" charset="-122"/>
              </a:rPr>
              <a:t>拥塞窗口</a:t>
            </a:r>
            <a:r>
              <a:rPr lang="zh-CN" altLang="en-US" sz="2000" b="1" dirty="0">
                <a:latin typeface="微软雅黑" pitchFamily="34" charset="-122"/>
                <a:ea typeface="微软雅黑" pitchFamily="34" charset="-122"/>
              </a:rPr>
              <a:t>根据网络的拥塞情况调整发送的数据量。</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发送窗口大小不仅取决于接收方窗口，还取决于网络的拥塞状况。</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真正的发送窗口值</a:t>
            </a:r>
            <a:r>
              <a:rPr lang="zh-CN" altLang="en-US" sz="2000" b="1" dirty="0">
                <a:latin typeface="微软雅黑" pitchFamily="34" charset="-122"/>
                <a:ea typeface="微软雅黑" pitchFamily="34" charset="-122"/>
              </a:rPr>
              <a:t>：</a:t>
            </a:r>
          </a:p>
        </p:txBody>
      </p:sp>
      <p:sp>
        <p:nvSpPr>
          <p:cNvPr id="40" name="矩形 39"/>
          <p:cNvSpPr/>
          <p:nvPr/>
        </p:nvSpPr>
        <p:spPr>
          <a:xfrm>
            <a:off x="556963" y="3686475"/>
            <a:ext cx="8048776" cy="499026"/>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真正的发送窗口值 </a:t>
            </a:r>
            <a:r>
              <a:rPr lang="en-US" altLang="zh-CN" sz="2000" b="1" dirty="0">
                <a:latin typeface="微软雅黑" pitchFamily="34" charset="-122"/>
                <a:ea typeface="微软雅黑" pitchFamily="34" charset="-122"/>
              </a:rPr>
              <a:t>= Min (</a:t>
            </a:r>
            <a:r>
              <a:rPr lang="zh-CN" altLang="en-US" sz="2000" b="1" dirty="0">
                <a:latin typeface="微软雅黑" pitchFamily="34" charset="-122"/>
                <a:ea typeface="微软雅黑" pitchFamily="34" charset="-122"/>
              </a:rPr>
              <a:t>接收方通知的窗口值，拥塞窗口值</a:t>
            </a:r>
            <a:r>
              <a:rPr lang="en-US" altLang="zh-CN" sz="2000" b="1" dirty="0">
                <a:latin typeface="微软雅黑" pitchFamily="34" charset="-122"/>
                <a:ea typeface="微软雅黑" pitchFamily="34" charset="-122"/>
              </a:rPr>
              <a:t>)</a:t>
            </a:r>
          </a:p>
        </p:txBody>
      </p:sp>
      <p:sp>
        <p:nvSpPr>
          <p:cNvPr id="6" name="内容占位符 5">
            <a:extLst>
              <a:ext uri="{FF2B5EF4-FFF2-40B4-BE49-F238E27FC236}">
                <a16:creationId xmlns:a16="http://schemas.microsoft.com/office/drawing/2014/main" id="{CE35B60B-0423-57EB-9B0C-7538D09F9CC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BFD0A1E-F252-72C0-E802-171C72AA827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005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078377" y="586843"/>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控制拥塞窗口变化的原则</a:t>
            </a:r>
          </a:p>
        </p:txBody>
      </p:sp>
      <p:sp>
        <p:nvSpPr>
          <p:cNvPr id="38" name="Rectangle 68"/>
          <p:cNvSpPr>
            <a:spLocks noChangeArrowheads="1"/>
          </p:cNvSpPr>
          <p:nvPr/>
        </p:nvSpPr>
        <p:spPr bwMode="auto">
          <a:xfrm>
            <a:off x="556963" y="98315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只要网络没有出现拥塞，拥塞窗口就可以再增大一些，以便把更多的分组发送出去，提高网络的利用率。</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但只要网络出现拥塞或有可能出现拥塞，就必须把拥塞窗口减小一些，以减少注入到网络中的分组数，缓解网络出现的拥塞。</a:t>
            </a:r>
          </a:p>
        </p:txBody>
      </p:sp>
      <p:sp>
        <p:nvSpPr>
          <p:cNvPr id="6" name="内容占位符 5">
            <a:extLst>
              <a:ext uri="{FF2B5EF4-FFF2-40B4-BE49-F238E27FC236}">
                <a16:creationId xmlns:a16="http://schemas.microsoft.com/office/drawing/2014/main" id="{5596F08A-7288-5661-F81D-CDD08F3E507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57670961-9006-2A6E-3F3C-D69103E79BC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203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2565420" y="588820"/>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发送方判断拥塞的方法：隐式反馈</a:t>
            </a:r>
          </a:p>
        </p:txBody>
      </p:sp>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61774"/>
          </a:xfrm>
          <a:prstGeom prst="rect">
            <a:avLst/>
          </a:prstGeom>
        </p:spPr>
        <p:txBody>
          <a:bodyPr wrap="square">
            <a:spAutoFit/>
          </a:bodyPr>
          <a:lstStyle/>
          <a:p>
            <a:pPr>
              <a:lnSpc>
                <a:spcPts val="3000"/>
              </a:lnSpc>
            </a:pPr>
            <a:r>
              <a:rPr lang="zh-CN" altLang="en-US" b="1" dirty="0">
                <a:latin typeface="微软雅黑" panose="020B0503020204020204" pitchFamily="34" charset="-122"/>
                <a:ea typeface="微软雅黑" panose="020B0503020204020204" pitchFamily="34" charset="-122"/>
              </a:rPr>
              <a:t>因传输出差错而丢弃分组的</a:t>
            </a:r>
            <a:r>
              <a:rPr lang="zh-CN" altLang="en-US" b="1" dirty="0">
                <a:solidFill>
                  <a:srgbClr val="C00000"/>
                </a:solidFill>
                <a:latin typeface="微软雅黑" panose="020B0503020204020204" pitchFamily="34" charset="-122"/>
                <a:ea typeface="微软雅黑" panose="020B0503020204020204" pitchFamily="34" charset="-122"/>
              </a:rPr>
              <a:t>概率很小</a:t>
            </a:r>
            <a:r>
              <a:rPr lang="zh-CN" altLang="en-US" b="1" dirty="0">
                <a:latin typeface="微软雅黑" panose="020B0503020204020204" pitchFamily="34" charset="-122"/>
                <a:ea typeface="微软雅黑" panose="020B0503020204020204" pitchFamily="34" charset="-122"/>
              </a:rPr>
              <a:t>（远小于</a:t>
            </a:r>
            <a:r>
              <a:rPr lang="en-US" altLang="zh-CN" b="1" dirty="0">
                <a:latin typeface="微软雅黑" panose="020B0503020204020204" pitchFamily="34" charset="-122"/>
                <a:ea typeface="微软雅黑" panose="020B0503020204020204" pitchFamily="34" charset="-122"/>
              </a:rPr>
              <a:t>1 %</a:t>
            </a:r>
            <a:r>
              <a:rPr lang="zh-CN" altLang="en-US" b="1" dirty="0">
                <a:latin typeface="微软雅黑" panose="020B0503020204020204" pitchFamily="34" charset="-122"/>
                <a:ea typeface="微软雅黑" panose="020B0503020204020204" pitchFamily="34" charset="-122"/>
              </a:rPr>
              <a:t>）。</a:t>
            </a:r>
            <a:endParaRPr lang="en-US" altLang="zh-CN" b="1" dirty="0">
              <a:latin typeface="微软雅黑" panose="020B0503020204020204" pitchFamily="34" charset="-122"/>
              <a:ea typeface="微软雅黑" panose="020B0503020204020204" pitchFamily="34" charset="-122"/>
            </a:endParaRPr>
          </a:p>
          <a:p>
            <a:pPr>
              <a:lnSpc>
                <a:spcPts val="3000"/>
              </a:lnSpc>
            </a:pPr>
            <a:r>
              <a:rPr lang="zh-CN" altLang="en-US" b="1" dirty="0">
                <a:latin typeface="微软雅黑" panose="020B0503020204020204" pitchFamily="34" charset="-122"/>
                <a:ea typeface="微软雅黑" panose="020B0503020204020204" pitchFamily="34" charset="-122"/>
              </a:rPr>
              <a:t>因此，发送方在超时重传计时器启动时，</a:t>
            </a:r>
            <a:r>
              <a:rPr lang="zh-CN" altLang="en-US" b="1" dirty="0">
                <a:solidFill>
                  <a:srgbClr val="C00000"/>
                </a:solidFill>
                <a:latin typeface="微软雅黑" panose="020B0503020204020204" pitchFamily="34" charset="-122"/>
                <a:ea typeface="微软雅黑" panose="020B0503020204020204" pitchFamily="34" charset="-122"/>
              </a:rPr>
              <a:t>就判断网络出现了拥塞。</a:t>
            </a:r>
          </a:p>
        </p:txBody>
      </p:sp>
      <p:sp>
        <p:nvSpPr>
          <p:cNvPr id="7" name="内容占位符 6">
            <a:extLst>
              <a:ext uri="{FF2B5EF4-FFF2-40B4-BE49-F238E27FC236}">
                <a16:creationId xmlns:a16="http://schemas.microsoft.com/office/drawing/2014/main" id="{3F05A17B-8542-4612-BBBF-933823F675DB}"/>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54B9EAF-B789-FB06-C401-D874B8837FF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1953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435237" y="5863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拥塞控制算法</a:t>
            </a:r>
          </a:p>
        </p:txBody>
      </p:sp>
      <p:sp>
        <p:nvSpPr>
          <p:cNvPr id="38" name="Rectangle 68"/>
          <p:cNvSpPr>
            <a:spLocks noChangeArrowheads="1"/>
          </p:cNvSpPr>
          <p:nvPr/>
        </p:nvSpPr>
        <p:spPr bwMode="auto">
          <a:xfrm>
            <a:off x="556963" y="979999"/>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四种拥塞控制算法（ </a:t>
            </a:r>
            <a:r>
              <a:rPr lang="en-US" altLang="zh-CN" sz="2000" b="1" dirty="0">
                <a:latin typeface="微软雅黑" pitchFamily="34" charset="-122"/>
                <a:ea typeface="微软雅黑" pitchFamily="34" charset="-122"/>
              </a:rPr>
              <a:t>RFC 5681</a:t>
            </a:r>
            <a:r>
              <a:rPr lang="zh-CN" altLang="en-US" sz="2000" b="1" dirty="0">
                <a:latin typeface="微软雅黑" pitchFamily="34" charset="-122"/>
                <a:ea typeface="微软雅黑" pitchFamily="34" charset="-122"/>
              </a:rPr>
              <a:t>） ：</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慢开始 </a:t>
            </a:r>
            <a:r>
              <a:rPr lang="en-US" altLang="zh-CN" sz="2000" b="1" dirty="0">
                <a:latin typeface="微软雅黑" pitchFamily="34" charset="-122"/>
                <a:ea typeface="微软雅黑" pitchFamily="34" charset="-122"/>
              </a:rPr>
              <a:t>(slow-start)</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拥塞避免 </a:t>
            </a:r>
            <a:r>
              <a:rPr lang="en-US" altLang="zh-CN" sz="2000" b="1" dirty="0">
                <a:latin typeface="微软雅黑" pitchFamily="34" charset="-122"/>
                <a:ea typeface="微软雅黑" pitchFamily="34" charset="-122"/>
              </a:rPr>
              <a:t>(congestion avoidance)</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快重传 </a:t>
            </a:r>
            <a:r>
              <a:rPr lang="en-US" altLang="zh-CN" sz="2000" b="1" dirty="0">
                <a:latin typeface="微软雅黑" pitchFamily="34" charset="-122"/>
                <a:ea typeface="微软雅黑" pitchFamily="34" charset="-122"/>
              </a:rPr>
              <a:t>(fast retransmit)</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快恢复 </a:t>
            </a:r>
            <a:r>
              <a:rPr lang="en-US" altLang="zh-CN" sz="2000" b="1" dirty="0">
                <a:latin typeface="微软雅黑" pitchFamily="34" charset="-122"/>
                <a:ea typeface="微软雅黑" pitchFamily="34" charset="-122"/>
              </a:rPr>
              <a:t>(fast recovery)</a:t>
            </a:r>
          </a:p>
        </p:txBody>
      </p:sp>
      <p:sp>
        <p:nvSpPr>
          <p:cNvPr id="6" name="内容占位符 5">
            <a:extLst>
              <a:ext uri="{FF2B5EF4-FFF2-40B4-BE49-F238E27FC236}">
                <a16:creationId xmlns:a16="http://schemas.microsoft.com/office/drawing/2014/main" id="{D4AB772E-80B8-6823-E4B3-068A3667C5A7}"/>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7947292-7CE9-5A53-09D3-1298FD51506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38" name="Rectangle 68"/>
          <p:cNvSpPr>
            <a:spLocks noChangeArrowheads="1"/>
          </p:cNvSpPr>
          <p:nvPr/>
        </p:nvSpPr>
        <p:spPr bwMode="auto">
          <a:xfrm>
            <a:off x="556963" y="989138"/>
            <a:ext cx="8184960" cy="157992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9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探测网络的负载能力或拥塞程度。</a:t>
            </a:r>
          </a:p>
          <a:p>
            <a:pPr marL="342900" indent="-342900">
              <a:lnSpc>
                <a:spcPts val="29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算法：</a:t>
            </a:r>
            <a:r>
              <a:rPr lang="zh-CN" altLang="en-US" sz="2000" b="1" dirty="0">
                <a:latin typeface="微软雅黑" pitchFamily="34" charset="-122"/>
                <a:ea typeface="微软雅黑" pitchFamily="34" charset="-122"/>
              </a:rPr>
              <a:t>由小到大逐渐增大注入到网络中的数据字节，即：由小到大逐渐</a:t>
            </a:r>
            <a:r>
              <a:rPr lang="zh-CN" altLang="en-US" sz="2000" b="1" dirty="0">
                <a:solidFill>
                  <a:srgbClr val="0000FF"/>
                </a:solidFill>
                <a:latin typeface="微软雅黑" pitchFamily="34" charset="-122"/>
                <a:ea typeface="微软雅黑" pitchFamily="34" charset="-122"/>
              </a:rPr>
              <a:t>增大拥塞窗口</a:t>
            </a:r>
            <a:r>
              <a:rPr lang="zh-CN" altLang="en-US" sz="2000" b="1" dirty="0">
                <a:latin typeface="微软雅黑" pitchFamily="34" charset="-122"/>
                <a:ea typeface="微软雅黑" pitchFamily="34" charset="-122"/>
              </a:rPr>
              <a:t>数值。</a:t>
            </a:r>
            <a:endParaRPr lang="en-US" altLang="zh-CN" sz="2000" b="1" dirty="0">
              <a:latin typeface="微软雅黑" pitchFamily="34" charset="-122"/>
              <a:ea typeface="微软雅黑" pitchFamily="34" charset="-122"/>
            </a:endParaRPr>
          </a:p>
          <a:p>
            <a:pPr marL="342900" indent="-342900">
              <a:lnSpc>
                <a:spcPts val="29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个控制变量：</a:t>
            </a:r>
            <a:endParaRPr lang="zh-CN" altLang="en-US" sz="2000" b="1" dirty="0">
              <a:solidFill>
                <a:srgbClr val="0000FF"/>
              </a:solidFill>
              <a:latin typeface="微软雅黑" pitchFamily="34" charset="-122"/>
              <a:ea typeface="微软雅黑" pitchFamily="34" charset="-122"/>
            </a:endParaRPr>
          </a:p>
        </p:txBody>
      </p:sp>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4E12C899-C201-AB9D-A4AD-6D7EF86E485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3B8D63E4-D6FD-3AE0-12CB-F140C050961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68"/>
          <p:cNvSpPr>
            <a:spLocks noChangeArrowheads="1"/>
          </p:cNvSpPr>
          <p:nvPr/>
        </p:nvSpPr>
        <p:spPr bwMode="auto">
          <a:xfrm>
            <a:off x="556963" y="958363"/>
            <a:ext cx="8184960"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在每收到一个</a:t>
            </a:r>
            <a:r>
              <a:rPr lang="zh-CN" altLang="en-US" sz="2000" b="1" dirty="0">
                <a:solidFill>
                  <a:srgbClr val="0000FF"/>
                </a:solidFill>
                <a:latin typeface="微软雅黑" pitchFamily="34" charset="-122"/>
                <a:ea typeface="微软雅黑" pitchFamily="34" charset="-122"/>
              </a:rPr>
              <a:t>对</a:t>
            </a:r>
            <a:r>
              <a:rPr lang="zh-CN" altLang="en-US" sz="2000" b="1" dirty="0">
                <a:solidFill>
                  <a:srgbClr val="C00000"/>
                </a:solidFill>
                <a:latin typeface="微软雅黑" pitchFamily="34" charset="-122"/>
                <a:ea typeface="微软雅黑" pitchFamily="34" charset="-122"/>
              </a:rPr>
              <a:t>新的</a:t>
            </a:r>
            <a:r>
              <a:rPr lang="zh-CN" altLang="en-US" sz="2000" b="1" dirty="0">
                <a:solidFill>
                  <a:srgbClr val="0000FF"/>
                </a:solidFill>
                <a:latin typeface="微软雅黑" pitchFamily="34" charset="-122"/>
                <a:ea typeface="微软雅黑" pitchFamily="34" charset="-122"/>
              </a:rPr>
              <a:t>报文段的确认</a:t>
            </a:r>
            <a:r>
              <a:rPr lang="zh-CN" altLang="en-US" sz="2000" b="1" dirty="0">
                <a:latin typeface="微软雅黑" pitchFamily="34" charset="-122"/>
                <a:ea typeface="微软雅黑" pitchFamily="34" charset="-122"/>
              </a:rPr>
              <a:t>，就把拥塞窗口增加最多一个</a:t>
            </a:r>
            <a:r>
              <a:rPr lang="zh-CN" altLang="en-US" sz="2000" b="1" dirty="0">
                <a:solidFill>
                  <a:srgbClr val="0000FF"/>
                </a:solidFill>
                <a:latin typeface="微软雅黑" pitchFamily="34" charset="-122"/>
                <a:ea typeface="微软雅黑" pitchFamily="34" charset="-122"/>
              </a:rPr>
              <a:t>发送方的最大报文段 </a:t>
            </a:r>
            <a:r>
              <a:rPr lang="en-US" altLang="zh-CN" sz="2000" b="1" dirty="0">
                <a:solidFill>
                  <a:srgbClr val="0000FF"/>
                </a:solidFill>
                <a:latin typeface="微软雅黑" pitchFamily="34" charset="-122"/>
                <a:ea typeface="微软雅黑" pitchFamily="34" charset="-122"/>
              </a:rPr>
              <a:t>SMSS</a:t>
            </a:r>
            <a:r>
              <a:rPr lang="en-US" altLang="zh-CN" sz="2000" b="1" dirty="0">
                <a:latin typeface="微软雅黑" pitchFamily="34" charset="-122"/>
                <a:ea typeface="微软雅黑" pitchFamily="34" charset="-122"/>
              </a:rPr>
              <a:t>  (Sender Maximum Segment Size) </a:t>
            </a:r>
            <a:r>
              <a:rPr lang="zh-CN" altLang="en-US" sz="2000" b="1" dirty="0">
                <a:latin typeface="微软雅黑" pitchFamily="34" charset="-122"/>
                <a:ea typeface="微软雅黑" pitchFamily="34" charset="-122"/>
              </a:rPr>
              <a:t>的数值。</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其中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是原先未被确认的、但现在被刚收到的确认报文段所确认的字节数。</a:t>
            </a:r>
          </a:p>
        </p:txBody>
      </p:sp>
      <p:sp>
        <p:nvSpPr>
          <p:cNvPr id="39" name="矩形 38"/>
          <p:cNvSpPr/>
          <p:nvPr/>
        </p:nvSpPr>
        <p:spPr>
          <a:xfrm>
            <a:off x="1042543" y="2261782"/>
            <a:ext cx="7213799" cy="57568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b="1" dirty="0">
                <a:latin typeface="微软雅黑" pitchFamily="34" charset="-122"/>
                <a:ea typeface="微软雅黑" pitchFamily="34" charset="-122"/>
              </a:rPr>
              <a:t>拥塞窗口 </a:t>
            </a:r>
            <a:r>
              <a:rPr lang="en-US" altLang="zh-CN" b="1" dirty="0" err="1">
                <a:latin typeface="微软雅黑" pitchFamily="34" charset="-122"/>
                <a:ea typeface="微软雅黑" pitchFamily="34" charset="-122"/>
              </a:rPr>
              <a:t>cwnd</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每次的增加量 </a:t>
            </a:r>
            <a:r>
              <a:rPr lang="en-US" altLang="zh-CN" b="1" dirty="0">
                <a:latin typeface="微软雅黑" pitchFamily="34" charset="-122"/>
                <a:ea typeface="微软雅黑" pitchFamily="34" charset="-122"/>
              </a:rPr>
              <a:t>= min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SMSS)          (5-8)</a:t>
            </a:r>
          </a:p>
        </p:txBody>
      </p:sp>
      <p:sp>
        <p:nvSpPr>
          <p:cNvPr id="6"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8" name="内容占位符 7">
            <a:extLst>
              <a:ext uri="{FF2B5EF4-FFF2-40B4-BE49-F238E27FC236}">
                <a16:creationId xmlns:a16="http://schemas.microsoft.com/office/drawing/2014/main" id="{65512EDA-64D2-A3BC-DB55-D6DAF3A3CB4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05F23E5-C9E9-FA95-E528-4919846C22F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圆角矩形 52"/>
          <p:cNvSpPr/>
          <p:nvPr/>
        </p:nvSpPr>
        <p:spPr>
          <a:xfrm>
            <a:off x="556963" y="1022411"/>
            <a:ext cx="8048776" cy="327943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0" name="组合 9"/>
          <p:cNvGrpSpPr/>
          <p:nvPr/>
        </p:nvGrpSpPr>
        <p:grpSpPr>
          <a:xfrm>
            <a:off x="1212822" y="1167329"/>
            <a:ext cx="6289448" cy="2890602"/>
            <a:chOff x="1646458" y="1195610"/>
            <a:chExt cx="6289448" cy="2890602"/>
          </a:xfrm>
        </p:grpSpPr>
        <p:sp>
          <p:nvSpPr>
            <p:cNvPr id="2" name="矩形 1"/>
            <p:cNvSpPr/>
            <p:nvPr/>
          </p:nvSpPr>
          <p:spPr>
            <a:xfrm>
              <a:off x="2794241" y="1195610"/>
              <a:ext cx="2592000" cy="418011"/>
            </a:xfrm>
            <a:prstGeom prst="rect">
              <a:avLst/>
            </a:prstGeom>
            <a:solidFill>
              <a:srgbClr val="66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zh-CN" altLang="en-US" sz="1200" b="1" dirty="0">
                  <a:solidFill>
                    <a:schemeClr val="tx1"/>
                  </a:solidFill>
                  <a:latin typeface="微软雅黑" pitchFamily="34" charset="-122"/>
                  <a:ea typeface="微软雅黑" pitchFamily="34" charset="-122"/>
                </a:rPr>
                <a:t>初始拥塞窗口 </a:t>
              </a:r>
              <a:r>
                <a:rPr lang="en-US" altLang="zh-CN" sz="1200" b="1" dirty="0" err="1">
                  <a:solidFill>
                    <a:schemeClr val="tx1"/>
                  </a:solidFill>
                  <a:latin typeface="微软雅黑" pitchFamily="34" charset="-122"/>
                  <a:ea typeface="微软雅黑" pitchFamily="34" charset="-122"/>
                </a:rPr>
                <a:t>cwnd</a:t>
              </a:r>
              <a:r>
                <a:rPr lang="en-US" altLang="zh-CN" sz="1200" b="1" dirty="0">
                  <a:solidFill>
                    <a:schemeClr val="tx1"/>
                  </a:solidFill>
                  <a:latin typeface="微软雅黑" pitchFamily="34" charset="-122"/>
                  <a:ea typeface="微软雅黑" pitchFamily="34" charset="-122"/>
                </a:rPr>
                <a:t> = 1</a:t>
              </a:r>
              <a:r>
                <a:rPr lang="zh-CN" altLang="en-US" sz="1200" b="1" dirty="0">
                  <a:solidFill>
                    <a:schemeClr val="tx1"/>
                  </a:solidFill>
                  <a:latin typeface="微软雅黑" pitchFamily="34" charset="-122"/>
                  <a:ea typeface="微软雅黑" pitchFamily="34" charset="-122"/>
                </a:rPr>
                <a:t>； </a:t>
              </a:r>
            </a:p>
            <a:p>
              <a:pPr algn="ctr">
                <a:lnSpc>
                  <a:spcPts val="1600"/>
                </a:lnSpc>
              </a:pPr>
              <a:r>
                <a:rPr lang="zh-CN" altLang="en-US" sz="1200" b="1" dirty="0">
                  <a:solidFill>
                    <a:schemeClr val="tx1"/>
                  </a:solidFill>
                  <a:latin typeface="微软雅黑" pitchFamily="34" charset="-122"/>
                  <a:ea typeface="微软雅黑" pitchFamily="34" charset="-122"/>
                </a:rPr>
                <a:t>慢开始门限 </a:t>
              </a:r>
              <a:r>
                <a:rPr lang="en-US" altLang="zh-CN" sz="1200" b="1" dirty="0">
                  <a:solidFill>
                    <a:schemeClr val="tx1"/>
                  </a:solidFill>
                  <a:latin typeface="微软雅黑" pitchFamily="34" charset="-122"/>
                  <a:ea typeface="微软雅黑" pitchFamily="34" charset="-122"/>
                </a:rPr>
                <a:t>SSTH </a:t>
              </a:r>
              <a:r>
                <a:rPr lang="zh-CN" altLang="en-US" sz="1200" b="1" dirty="0">
                  <a:solidFill>
                    <a:schemeClr val="tx1"/>
                  </a:solidFill>
                  <a:latin typeface="微软雅黑" pitchFamily="34" charset="-122"/>
                  <a:ea typeface="微软雅黑" pitchFamily="34" charset="-122"/>
                </a:rPr>
                <a:t>＝ </a:t>
              </a:r>
              <a:r>
                <a:rPr lang="en-US" altLang="zh-CN" sz="1200" b="1" i="1" dirty="0">
                  <a:solidFill>
                    <a:schemeClr val="tx1"/>
                  </a:solidFill>
                  <a:latin typeface="微软雅黑" pitchFamily="34" charset="-122"/>
                  <a:ea typeface="微软雅黑" pitchFamily="34" charset="-122"/>
                </a:rPr>
                <a:t>n</a:t>
              </a:r>
              <a:r>
                <a:rPr lang="zh-CN" altLang="en-US" sz="1200" b="1" dirty="0">
                  <a:solidFill>
                    <a:schemeClr val="tx1"/>
                  </a:solidFill>
                  <a:latin typeface="微软雅黑" pitchFamily="34" charset="-122"/>
                  <a:ea typeface="微软雅黑" pitchFamily="34" charset="-122"/>
                </a:rPr>
                <a:t>；</a:t>
              </a:r>
            </a:p>
          </p:txBody>
        </p:sp>
        <p:sp>
          <p:nvSpPr>
            <p:cNvPr id="8" name="矩形 7"/>
            <p:cNvSpPr/>
            <p:nvPr/>
          </p:nvSpPr>
          <p:spPr>
            <a:xfrm>
              <a:off x="6170189" y="3606150"/>
              <a:ext cx="1765717"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itchFamily="34" charset="-122"/>
                  <a:ea typeface="微软雅黑" pitchFamily="34" charset="-122"/>
                </a:rPr>
                <a:t>执行拥塞避免算法</a:t>
              </a:r>
            </a:p>
          </p:txBody>
        </p:sp>
        <p:cxnSp>
          <p:nvCxnSpPr>
            <p:cNvPr id="11" name="直接箭头连接符 10"/>
            <p:cNvCxnSpPr>
              <a:stCxn id="2" idx="2"/>
              <a:endCxn id="27" idx="0"/>
            </p:cNvCxnSpPr>
            <p:nvPr/>
          </p:nvCxnSpPr>
          <p:spPr>
            <a:xfrm>
              <a:off x="4090241" y="1613621"/>
              <a:ext cx="0" cy="35426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4090241" y="2254223"/>
              <a:ext cx="0" cy="281668"/>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stCxn id="37" idx="2"/>
              <a:endCxn id="42" idx="0"/>
            </p:cNvCxnSpPr>
            <p:nvPr/>
          </p:nvCxnSpPr>
          <p:spPr>
            <a:xfrm>
              <a:off x="4090241" y="3256983"/>
              <a:ext cx="0" cy="28711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flipH="1">
              <a:off x="1646458" y="1807082"/>
              <a:ext cx="2420309" cy="2008075"/>
              <a:chOff x="3328850" y="1780018"/>
              <a:chExt cx="4331082" cy="2120155"/>
            </a:xfrm>
          </p:grpSpPr>
          <p:cxnSp>
            <p:nvCxnSpPr>
              <p:cNvPr id="38" name="直接箭头连接符 37"/>
              <p:cNvCxnSpPr/>
              <p:nvPr/>
            </p:nvCxnSpPr>
            <p:spPr>
              <a:xfrm>
                <a:off x="4674447" y="3900172"/>
                <a:ext cx="2975527"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直接箭头连接符 39"/>
              <p:cNvCxnSpPr/>
              <p:nvPr/>
            </p:nvCxnSpPr>
            <p:spPr>
              <a:xfrm flipH="1" flipV="1">
                <a:off x="3328850" y="1780018"/>
                <a:ext cx="433108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1" name="直接箭头连接符 40"/>
              <p:cNvCxnSpPr/>
              <p:nvPr/>
            </p:nvCxnSpPr>
            <p:spPr>
              <a:xfrm>
                <a:off x="7659932" y="1780018"/>
                <a:ext cx="0" cy="212015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43" name="直接箭头连接符 42"/>
            <p:cNvCxnSpPr>
              <a:stCxn id="42" idx="3"/>
              <a:endCxn id="8" idx="1"/>
            </p:cNvCxnSpPr>
            <p:nvPr/>
          </p:nvCxnSpPr>
          <p:spPr>
            <a:xfrm flipV="1">
              <a:off x="5386241" y="3815156"/>
              <a:ext cx="783948"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443336" y="3565624"/>
              <a:ext cx="383563" cy="276999"/>
            </a:xfrm>
            <a:prstGeom prst="rect">
              <a:avLst/>
            </a:prstGeom>
            <a:noFill/>
          </p:spPr>
          <p:txBody>
            <a:bodyPr wrap="square" rtlCol="0">
              <a:spAutoFit/>
            </a:bodyPr>
            <a:lstStyle/>
            <a:p>
              <a:pPr algn="ctr"/>
              <a:r>
                <a:rPr lang="zh-CN" altLang="en-US" sz="1200" b="1" dirty="0">
                  <a:latin typeface="微软雅黑" pitchFamily="34" charset="-122"/>
                  <a:ea typeface="微软雅黑" pitchFamily="34" charset="-122"/>
                </a:rPr>
                <a:t>是</a:t>
              </a:r>
            </a:p>
          </p:txBody>
        </p:sp>
        <p:sp>
          <p:nvSpPr>
            <p:cNvPr id="48" name="TextBox 47"/>
            <p:cNvSpPr txBox="1"/>
            <p:nvPr/>
          </p:nvSpPr>
          <p:spPr>
            <a:xfrm>
              <a:off x="5376565" y="3565786"/>
              <a:ext cx="383563" cy="276999"/>
            </a:xfrm>
            <a:prstGeom prst="rect">
              <a:avLst/>
            </a:prstGeom>
            <a:noFill/>
          </p:spPr>
          <p:txBody>
            <a:bodyPr wrap="square" rtlCol="0">
              <a:spAutoFit/>
            </a:bodyPr>
            <a:lstStyle/>
            <a:p>
              <a:pPr algn="ctr"/>
              <a:r>
                <a:rPr lang="zh-CN" altLang="en-US" sz="1200" b="1" dirty="0">
                  <a:latin typeface="微软雅黑" pitchFamily="34" charset="-122"/>
                  <a:ea typeface="微软雅黑" pitchFamily="34" charset="-122"/>
                </a:rPr>
                <a:t>否</a:t>
              </a:r>
            </a:p>
          </p:txBody>
        </p:sp>
        <p:sp>
          <p:nvSpPr>
            <p:cNvPr id="27" name="矩形 26"/>
            <p:cNvSpPr/>
            <p:nvPr/>
          </p:nvSpPr>
          <p:spPr>
            <a:xfrm>
              <a:off x="2794241" y="1967885"/>
              <a:ext cx="2592000" cy="286338"/>
            </a:xfrm>
            <a:prstGeom prst="rect">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itchFamily="34" charset="-122"/>
                  <a:ea typeface="微软雅黑" pitchFamily="34" charset="-122"/>
                </a:rPr>
                <a:t>发送报文段</a:t>
              </a:r>
            </a:p>
          </p:txBody>
        </p:sp>
        <p:sp>
          <p:nvSpPr>
            <p:cNvPr id="37" name="矩形 36"/>
            <p:cNvSpPr/>
            <p:nvPr/>
          </p:nvSpPr>
          <p:spPr>
            <a:xfrm>
              <a:off x="2794241" y="2535891"/>
              <a:ext cx="2592000" cy="721092"/>
            </a:xfrm>
            <a:prstGeom prst="rect">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b="1" dirty="0">
                  <a:solidFill>
                    <a:srgbClr val="000066"/>
                  </a:solidFill>
                  <a:latin typeface="微软雅黑" pitchFamily="34" charset="-122"/>
                  <a:ea typeface="微软雅黑" pitchFamily="34" charset="-122"/>
                </a:rPr>
                <a:t>（重传定时器未超时）</a:t>
              </a:r>
              <a:endParaRPr lang="en-US" altLang="zh-CN" sz="1200" b="1" dirty="0">
                <a:solidFill>
                  <a:srgbClr val="000066"/>
                </a:solidFill>
                <a:latin typeface="微软雅黑" pitchFamily="34" charset="-122"/>
                <a:ea typeface="微软雅黑" pitchFamily="34" charset="-122"/>
              </a:endParaRPr>
            </a:p>
            <a:p>
              <a:pPr algn="ctr">
                <a:lnSpc>
                  <a:spcPts val="1800"/>
                </a:lnSpc>
              </a:pPr>
              <a:r>
                <a:rPr lang="zh-CN" altLang="en-US" sz="1200" b="1" dirty="0">
                  <a:solidFill>
                    <a:srgbClr val="000066"/>
                  </a:solidFill>
                  <a:latin typeface="微软雅黑" pitchFamily="34" charset="-122"/>
                  <a:ea typeface="微软雅黑" pitchFamily="34" charset="-122"/>
                </a:rPr>
                <a:t>每收到一个对新的报文段的确认</a:t>
              </a:r>
            </a:p>
            <a:p>
              <a:pPr algn="ctr">
                <a:lnSpc>
                  <a:spcPts val="1800"/>
                </a:lnSpc>
              </a:pP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a:t>
              </a: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+1</a:t>
              </a:r>
              <a:endParaRPr lang="zh-CN" altLang="en-US" sz="1200" b="1" dirty="0">
                <a:solidFill>
                  <a:srgbClr val="000066"/>
                </a:solidFill>
                <a:latin typeface="微软雅黑" pitchFamily="34" charset="-122"/>
                <a:ea typeface="微软雅黑" pitchFamily="34" charset="-122"/>
              </a:endParaRPr>
            </a:p>
          </p:txBody>
        </p:sp>
        <p:sp>
          <p:nvSpPr>
            <p:cNvPr id="42" name="流程图: 决策 41"/>
            <p:cNvSpPr/>
            <p:nvPr/>
          </p:nvSpPr>
          <p:spPr>
            <a:xfrm>
              <a:off x="2794241" y="3544102"/>
              <a:ext cx="2592000" cy="542110"/>
            </a:xfrm>
            <a:prstGeom prst="flowChartDecision">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&lt; SSTH</a:t>
              </a:r>
              <a:r>
                <a:rPr lang="zh-CN" altLang="en-US" sz="1200" b="1" dirty="0">
                  <a:solidFill>
                    <a:srgbClr val="000066"/>
                  </a:solidFill>
                  <a:latin typeface="微软雅黑" pitchFamily="34" charset="-122"/>
                  <a:ea typeface="微软雅黑" pitchFamily="34" charset="-122"/>
                </a:rPr>
                <a:t>？</a:t>
              </a:r>
            </a:p>
          </p:txBody>
        </p:sp>
      </p:grpSp>
      <p:sp>
        <p:nvSpPr>
          <p:cNvPr id="20"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1"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9" name="矩形 8"/>
          <p:cNvSpPr/>
          <p:nvPr/>
        </p:nvSpPr>
        <p:spPr>
          <a:xfrm>
            <a:off x="4952605" y="1201058"/>
            <a:ext cx="3388665" cy="307777"/>
          </a:xfrm>
          <a:prstGeom prst="rect">
            <a:avLst/>
          </a:prstGeom>
        </p:spPr>
        <p:txBody>
          <a:bodyPr wrap="square">
            <a:spAutoFit/>
          </a:bodyPr>
          <a:lstStyle/>
          <a:p>
            <a:r>
              <a:rPr lang="zh-CN" altLang="en-US" sz="1400" b="1" dirty="0">
                <a:latin typeface="微软雅黑" panose="020B0503020204020204" pitchFamily="34" charset="-122"/>
                <a:ea typeface="微软雅黑" panose="020B0503020204020204" pitchFamily="34" charset="-122"/>
              </a:rPr>
              <a:t>（假设发送方设置 </a:t>
            </a:r>
            <a:r>
              <a:rPr lang="en-US" altLang="zh-CN" sz="1400" b="1" dirty="0" err="1">
                <a:latin typeface="微软雅黑" panose="020B0503020204020204" pitchFamily="34" charset="-122"/>
                <a:ea typeface="微软雅黑" panose="020B0503020204020204" pitchFamily="34" charset="-122"/>
              </a:rPr>
              <a:t>cwnd</a:t>
            </a:r>
            <a:r>
              <a:rPr lang="en-US" altLang="zh-CN" sz="1400" b="1" dirty="0">
                <a:latin typeface="微软雅黑" panose="020B0503020204020204" pitchFamily="34" charset="-122"/>
                <a:ea typeface="微软雅黑" panose="020B0503020204020204" pitchFamily="34" charset="-122"/>
              </a:rPr>
              <a:t> = 1 </a:t>
            </a:r>
            <a:r>
              <a:rPr lang="zh-CN" altLang="en-US" sz="1400" b="1" dirty="0">
                <a:latin typeface="微软雅黑" panose="020B0503020204020204" pitchFamily="34" charset="-122"/>
                <a:ea typeface="微软雅黑" panose="020B0503020204020204" pitchFamily="34" charset="-122"/>
              </a:rPr>
              <a:t>个 </a:t>
            </a:r>
            <a:r>
              <a:rPr lang="en-US" altLang="zh-CN" sz="1400" b="1" dirty="0">
                <a:latin typeface="微软雅黑" panose="020B0503020204020204" pitchFamily="34" charset="-122"/>
                <a:ea typeface="微软雅黑" panose="020B0503020204020204" pitchFamily="34" charset="-122"/>
              </a:rPr>
              <a:t>SMSS</a:t>
            </a:r>
            <a:r>
              <a:rPr lang="zh-CN" altLang="en-US" sz="1400" b="1" dirty="0">
                <a:latin typeface="微软雅黑" panose="020B0503020204020204" pitchFamily="34" charset="-122"/>
                <a:ea typeface="微软雅黑" panose="020B0503020204020204" pitchFamily="34" charset="-122"/>
              </a:rPr>
              <a:t>）</a:t>
            </a:r>
          </a:p>
        </p:txBody>
      </p:sp>
      <p:sp>
        <p:nvSpPr>
          <p:cNvPr id="7" name="内容占位符 6">
            <a:extLst>
              <a:ext uri="{FF2B5EF4-FFF2-40B4-BE49-F238E27FC236}">
                <a16:creationId xmlns:a16="http://schemas.microsoft.com/office/drawing/2014/main" id="{0C08B837-C265-B96A-581C-96951EFA321C}"/>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4A198DE-DCD8-8209-3038-91019F82D30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Text Box 155"/>
          <p:cNvSpPr txBox="1">
            <a:spLocks noChangeArrowheads="1"/>
          </p:cNvSpPr>
          <p:nvPr/>
        </p:nvSpPr>
        <p:spPr bwMode="auto">
          <a:xfrm>
            <a:off x="2394408" y="731528"/>
            <a:ext cx="4374038"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发送方每收到一个对新报文段的确认</a:t>
            </a:r>
          </a:p>
          <a:p>
            <a:pPr algn="ctr">
              <a:lnSpc>
                <a:spcPct val="110000"/>
              </a:lnSpc>
            </a:pPr>
            <a:r>
              <a:rPr lang="zh-CN" altLang="en-US" sz="1600" b="1" dirty="0">
                <a:solidFill>
                  <a:schemeClr val="bg1"/>
                </a:solidFill>
                <a:latin typeface="微软雅黑" pitchFamily="34" charset="-122"/>
                <a:ea typeface="微软雅黑" pitchFamily="34" charset="-122"/>
              </a:rPr>
              <a:t>（重传的不算在内）就使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116" name="Rectangle 2"/>
          <p:cNvSpPr>
            <a:spLocks noChangeArrowheads="1"/>
          </p:cNvSpPr>
          <p:nvPr/>
        </p:nvSpPr>
        <p:spPr bwMode="auto">
          <a:xfrm>
            <a:off x="3613957" y="2286101"/>
            <a:ext cx="4768069"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5"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1"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42"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3"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endParaRPr kumimoji="0" lang="en-US" altLang="zh-CN" sz="12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sp>
        <p:nvSpPr>
          <p:cNvPr id="44"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45"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6" name="内容占位符 5">
            <a:extLst>
              <a:ext uri="{FF2B5EF4-FFF2-40B4-BE49-F238E27FC236}">
                <a16:creationId xmlns:a16="http://schemas.microsoft.com/office/drawing/2014/main" id="{DF5E871E-C041-E609-A383-311114CE828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1ACFD07-B143-550A-DD09-CC0E09C095E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45"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5" name="Text Box 155"/>
          <p:cNvSpPr txBox="1">
            <a:spLocks noChangeArrowheads="1"/>
          </p:cNvSpPr>
          <p:nvPr/>
        </p:nvSpPr>
        <p:spPr bwMode="auto">
          <a:xfrm>
            <a:off x="2394408" y="731528"/>
            <a:ext cx="4374038"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发送方每收到一个对新报文段的确认</a:t>
            </a:r>
          </a:p>
          <a:p>
            <a:pPr algn="ctr">
              <a:lnSpc>
                <a:spcPct val="110000"/>
              </a:lnSpc>
            </a:pPr>
            <a:r>
              <a:rPr lang="zh-CN" altLang="en-US" sz="1600" b="1" dirty="0">
                <a:solidFill>
                  <a:schemeClr val="bg1"/>
                </a:solidFill>
                <a:latin typeface="微软雅黑" pitchFamily="34" charset="-122"/>
                <a:ea typeface="微软雅黑" pitchFamily="34" charset="-122"/>
              </a:rPr>
              <a:t>（重传的不算在内）就使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6" name="内容占位符 5">
            <a:extLst>
              <a:ext uri="{FF2B5EF4-FFF2-40B4-BE49-F238E27FC236}">
                <a16:creationId xmlns:a16="http://schemas.microsoft.com/office/drawing/2014/main" id="{FE55FA80-F64C-D179-DD1A-353C1C7B8A1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0ECC931-3A6F-B1FE-5B81-8DBB9DDFD159}"/>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675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451609" y="593539"/>
            <a:ext cx="425950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传输轮次（</a:t>
            </a:r>
            <a:r>
              <a:rPr lang="en-US" altLang="zh-CN" sz="2000" b="1" dirty="0">
                <a:solidFill>
                  <a:schemeClr val="bg1"/>
                </a:solidFill>
                <a:latin typeface="微软雅黑" pitchFamily="34" charset="-122"/>
                <a:ea typeface="微软雅黑" pitchFamily="34" charset="-122"/>
              </a:rPr>
              <a:t>transmission round</a:t>
            </a:r>
            <a:r>
              <a:rPr lang="zh-CN" altLang="en-US" sz="2000" b="1" dirty="0">
                <a:solidFill>
                  <a:schemeClr val="bg1"/>
                </a:solidFill>
                <a:latin typeface="微软雅黑" pitchFamily="34" charset="-122"/>
                <a:ea typeface="微软雅黑" pitchFamily="34" charset="-122"/>
              </a:rPr>
              <a:t>）</a:t>
            </a:r>
          </a:p>
        </p:txBody>
      </p:sp>
      <p:sp>
        <p:nvSpPr>
          <p:cNvPr id="4" name="Rectangle 68"/>
          <p:cNvSpPr>
            <a:spLocks noChangeArrowheads="1"/>
          </p:cNvSpPr>
          <p:nvPr/>
        </p:nvSpPr>
        <p:spPr bwMode="auto">
          <a:xfrm>
            <a:off x="556963" y="989566"/>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一个传输轮次</a:t>
            </a:r>
            <a:r>
              <a:rPr lang="zh-CN" altLang="en-US" sz="2000" b="1" dirty="0">
                <a:latin typeface="微软雅黑" pitchFamily="34" charset="-122"/>
                <a:ea typeface="微软雅黑" pitchFamily="34" charset="-122"/>
              </a:rPr>
              <a:t>所经历的时间其实就是</a:t>
            </a:r>
            <a:r>
              <a:rPr lang="zh-CN" altLang="en-US" sz="2000" b="1" dirty="0">
                <a:solidFill>
                  <a:srgbClr val="C00000"/>
                </a:solidFill>
                <a:latin typeface="微软雅黑" pitchFamily="34" charset="-122"/>
                <a:ea typeface="微软雅黑" pitchFamily="34" charset="-122"/>
              </a:rPr>
              <a:t>往返时间 </a:t>
            </a:r>
            <a:r>
              <a:rPr lang="en-US" altLang="zh-CN" sz="2000" b="1" dirty="0">
                <a:latin typeface="微软雅黑" pitchFamily="34" charset="-122"/>
                <a:ea typeface="微软雅黑" pitchFamily="34" charset="-122"/>
              </a:rPr>
              <a:t>RTT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传输轮次</a:t>
            </a:r>
            <a:r>
              <a:rPr lang="zh-CN" altLang="en-US" sz="2000" b="1" dirty="0">
                <a:solidFill>
                  <a:srgbClr val="C00000"/>
                </a:solidFill>
                <a:latin typeface="微软雅黑" pitchFamily="34" charset="-122"/>
                <a:ea typeface="微软雅黑" pitchFamily="34" charset="-122"/>
              </a:rPr>
              <a:t>强调：</a:t>
            </a:r>
            <a:r>
              <a:rPr lang="zh-CN" altLang="en-US" sz="2000" b="1" dirty="0">
                <a:latin typeface="微软雅黑" pitchFamily="34" charset="-122"/>
                <a:ea typeface="微软雅黑" pitchFamily="34" charset="-122"/>
              </a:rPr>
              <a:t>把拥塞窗口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所允许发送的报文段都连续发送出去，并收到了对已发送的最后一个字节的确认。</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例如：拥塞窗口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4</a:t>
            </a:r>
            <a:r>
              <a:rPr lang="zh-CN" altLang="en-US" sz="2000" b="1" dirty="0">
                <a:latin typeface="微软雅黑" pitchFamily="34" charset="-122"/>
                <a:ea typeface="微软雅黑" pitchFamily="34" charset="-122"/>
              </a:rPr>
              <a:t>，这时的往返时间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就是发送方连续发送 </a:t>
            </a:r>
            <a:r>
              <a:rPr lang="en-US" altLang="zh-CN" sz="2000" b="1" dirty="0">
                <a:latin typeface="微软雅黑" pitchFamily="34" charset="-122"/>
                <a:ea typeface="微软雅黑" pitchFamily="34" charset="-122"/>
              </a:rPr>
              <a:t>4 </a:t>
            </a:r>
            <a:r>
              <a:rPr lang="zh-CN" altLang="en-US" sz="2000" b="1" dirty="0">
                <a:latin typeface="微软雅黑" pitchFamily="34" charset="-122"/>
                <a:ea typeface="微软雅黑" pitchFamily="34" charset="-122"/>
              </a:rPr>
              <a:t>个报文段，并收到这 </a:t>
            </a:r>
            <a:r>
              <a:rPr lang="en-US" altLang="zh-CN" sz="2000" b="1" dirty="0">
                <a:latin typeface="微软雅黑" pitchFamily="34" charset="-122"/>
                <a:ea typeface="微软雅黑" pitchFamily="34" charset="-122"/>
              </a:rPr>
              <a:t>4 </a:t>
            </a:r>
            <a:r>
              <a:rPr lang="zh-CN" altLang="en-US" sz="2000" b="1" dirty="0">
                <a:latin typeface="微软雅黑" pitchFamily="34" charset="-122"/>
                <a:ea typeface="微软雅黑" pitchFamily="34" charset="-122"/>
              </a:rPr>
              <a:t>个报文段的确认，总共经历的时间。 </a:t>
            </a:r>
          </a:p>
        </p:txBody>
      </p:sp>
      <p:sp>
        <p:nvSpPr>
          <p:cNvPr id="9" name="内容占位符 8">
            <a:extLst>
              <a:ext uri="{FF2B5EF4-FFF2-40B4-BE49-F238E27FC236}">
                <a16:creationId xmlns:a16="http://schemas.microsoft.com/office/drawing/2014/main" id="{7F765A45-128A-A31E-3446-E90EA8F3897B}"/>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14201A16-2CC6-FA6C-EE58-3CF9F91F005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090"/>
            <a:ext cx="8048776" cy="353930"/>
          </a:xfrm>
          <a:prstGeom prst="roundRect">
            <a:avLst>
              <a:gd name="adj" fmla="val 16667"/>
            </a:avLst>
          </a:prstGeom>
          <a:solidFill>
            <a:srgbClr val="00B050"/>
          </a:solidFill>
          <a:ln>
            <a:noFill/>
          </a:ln>
          <a:effectLst/>
        </p:spPr>
        <p:txBody>
          <a:bodyPr wrap="none" anchor="ctr"/>
          <a:lstStyle/>
          <a:p>
            <a:endParaRPr lang="zh-CN" altLang="en-US" dirty="0"/>
          </a:p>
        </p:txBody>
      </p:sp>
      <p:sp>
        <p:nvSpPr>
          <p:cNvPr id="3" name="Rectangle 6"/>
          <p:cNvSpPr>
            <a:spLocks noChangeArrowheads="1"/>
          </p:cNvSpPr>
          <p:nvPr/>
        </p:nvSpPr>
        <p:spPr bwMode="auto">
          <a:xfrm>
            <a:off x="3272981" y="587879"/>
            <a:ext cx="261674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慢开始门限 </a:t>
            </a:r>
            <a:r>
              <a:rPr lang="en-US" altLang="zh-CN" sz="2000" b="1" dirty="0" err="1">
                <a:solidFill>
                  <a:schemeClr val="bg1"/>
                </a:solidFill>
                <a:latin typeface="微软雅黑" pitchFamily="34" charset="-122"/>
                <a:ea typeface="微软雅黑" pitchFamily="34" charset="-122"/>
              </a:rPr>
              <a:t>ssthresh</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84189"/>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防止拥塞窗口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增长过大引起网络拥塞。</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用法：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时，使用慢开始算法。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&gt;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时，停止使用慢开始算法，改用拥塞避免算法。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时，既可使用慢开始算法，也可使用拥塞避免算法。</a:t>
            </a:r>
          </a:p>
        </p:txBody>
      </p:sp>
      <p:sp>
        <p:nvSpPr>
          <p:cNvPr id="9" name="内容占位符 8">
            <a:extLst>
              <a:ext uri="{FF2B5EF4-FFF2-40B4-BE49-F238E27FC236}">
                <a16:creationId xmlns:a16="http://schemas.microsoft.com/office/drawing/2014/main" id="{8208344A-1534-96A2-30E3-CC469A14854B}"/>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A114C189-921F-E76F-DA4F-53591C7C7F1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AutoShape 5"/>
          <p:cNvSpPr>
            <a:spLocks noChangeArrowheads="1"/>
          </p:cNvSpPr>
          <p:nvPr/>
        </p:nvSpPr>
        <p:spPr bwMode="auto">
          <a:xfrm>
            <a:off x="556963" y="6255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3821367" y="592354"/>
            <a:ext cx="151996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拥塞避免</a:t>
            </a:r>
          </a:p>
        </p:txBody>
      </p:sp>
      <p:sp>
        <p:nvSpPr>
          <p:cNvPr id="62" name="Rectangle 68"/>
          <p:cNvSpPr>
            <a:spLocks noChangeArrowheads="1"/>
          </p:cNvSpPr>
          <p:nvPr/>
        </p:nvSpPr>
        <p:spPr bwMode="auto">
          <a:xfrm>
            <a:off x="556963" y="992181"/>
            <a:ext cx="8184960"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让拥塞窗口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solidFill>
                  <a:srgbClr val="0000FF"/>
                </a:solidFill>
                <a:latin typeface="微软雅黑" pitchFamily="34" charset="-122"/>
                <a:ea typeface="微软雅黑" pitchFamily="34" charset="-122"/>
              </a:rPr>
              <a:t>缓慢地</a:t>
            </a:r>
            <a:r>
              <a:rPr lang="zh-CN" altLang="en-US" sz="2000" b="1" dirty="0">
                <a:latin typeface="微软雅黑" pitchFamily="34" charset="-122"/>
                <a:ea typeface="微软雅黑" pitchFamily="34" charset="-122"/>
              </a:rPr>
              <a:t>增大，</a:t>
            </a:r>
            <a:r>
              <a:rPr lang="zh-CN" altLang="en-US" sz="2000" b="1" dirty="0">
                <a:solidFill>
                  <a:srgbClr val="0000FF"/>
                </a:solidFill>
                <a:latin typeface="微软雅黑" pitchFamily="34" charset="-122"/>
                <a:ea typeface="微软雅黑" pitchFamily="34" charset="-122"/>
              </a:rPr>
              <a:t>避免</a:t>
            </a:r>
            <a:r>
              <a:rPr lang="zh-CN" altLang="en-US" sz="2000" b="1" dirty="0">
                <a:latin typeface="微软雅黑" pitchFamily="34" charset="-122"/>
                <a:ea typeface="微软雅黑" pitchFamily="34" charset="-122"/>
              </a:rPr>
              <a:t>出现拥塞。</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增大：</a:t>
            </a:r>
            <a:r>
              <a:rPr lang="zh-CN" altLang="en-US" sz="2000" b="1" dirty="0">
                <a:solidFill>
                  <a:srgbClr val="0000FF"/>
                </a:solidFill>
                <a:latin typeface="微软雅黑" pitchFamily="34" charset="-122"/>
                <a:ea typeface="微软雅黑" pitchFamily="34" charset="-122"/>
              </a:rPr>
              <a:t>每经过一个往返时间 </a:t>
            </a:r>
            <a:r>
              <a:rPr lang="en-US" altLang="zh-CN" sz="2000" b="1" dirty="0">
                <a:solidFill>
                  <a:srgbClr val="0000FF"/>
                </a:solidFill>
                <a:latin typeface="微软雅黑" pitchFamily="34" charset="-122"/>
                <a:ea typeface="微软雅黑" pitchFamily="34" charset="-122"/>
              </a:rPr>
              <a:t>RTT</a:t>
            </a:r>
            <a:r>
              <a:rPr lang="zh-CN" altLang="en-US" sz="2000" b="1" dirty="0">
                <a:latin typeface="微软雅黑" pitchFamily="34" charset="-122"/>
                <a:ea typeface="微软雅黑" pitchFamily="34" charset="-122"/>
              </a:rPr>
              <a:t>（不管在此期间收到了多少确认），发送方的拥塞窗口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+ 1</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具有</a:t>
            </a:r>
            <a:r>
              <a:rPr lang="zh-CN" altLang="en-US" sz="2000" b="1" dirty="0">
                <a:solidFill>
                  <a:srgbClr val="C00000"/>
                </a:solidFill>
                <a:latin typeface="微软雅黑" pitchFamily="34" charset="-122"/>
                <a:ea typeface="微软雅黑" pitchFamily="34" charset="-122"/>
              </a:rPr>
              <a:t>加法增大 </a:t>
            </a:r>
            <a:r>
              <a:rPr lang="en-US" altLang="zh-CN" sz="2000" b="1" dirty="0">
                <a:solidFill>
                  <a:srgbClr val="C00000"/>
                </a:solidFill>
                <a:latin typeface="微软雅黑" pitchFamily="34" charset="-122"/>
                <a:ea typeface="微软雅黑" pitchFamily="34" charset="-122"/>
              </a:rPr>
              <a:t>AI</a:t>
            </a:r>
            <a:r>
              <a:rPr lang="zh-CN" altLang="en-US"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(Additive Increase) </a:t>
            </a:r>
            <a:r>
              <a:rPr lang="zh-CN" altLang="en-US" sz="2000" b="1" dirty="0">
                <a:latin typeface="微软雅黑" pitchFamily="34" charset="-122"/>
                <a:ea typeface="微软雅黑" pitchFamily="34" charset="-122"/>
              </a:rPr>
              <a:t>特点：使拥塞窗口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按</a:t>
            </a:r>
            <a:r>
              <a:rPr lang="zh-CN" altLang="en-US" sz="2000" b="1" dirty="0">
                <a:solidFill>
                  <a:srgbClr val="C00000"/>
                </a:solidFill>
                <a:latin typeface="微软雅黑" pitchFamily="34" charset="-122"/>
                <a:ea typeface="微软雅黑" pitchFamily="34" charset="-122"/>
              </a:rPr>
              <a:t>线性</a:t>
            </a:r>
            <a:r>
              <a:rPr lang="zh-CN" altLang="en-US" sz="2000" b="1" dirty="0">
                <a:latin typeface="微软雅黑" pitchFamily="34" charset="-122"/>
                <a:ea typeface="微软雅黑" pitchFamily="34" charset="-122"/>
              </a:rPr>
              <a:t>规律缓慢增长。</a:t>
            </a:r>
          </a:p>
        </p:txBody>
      </p:sp>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7" name="内容占位符 6">
            <a:extLst>
              <a:ext uri="{FF2B5EF4-FFF2-40B4-BE49-F238E27FC236}">
                <a16:creationId xmlns:a16="http://schemas.microsoft.com/office/drawing/2014/main" id="{056836D9-2D39-356D-B116-967B75606BE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C68E8FE8-7667-7A42-C64E-B26CF793B90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Rectangle 2"/>
          <p:cNvSpPr>
            <a:spLocks noChangeArrowheads="1"/>
          </p:cNvSpPr>
          <p:nvPr/>
        </p:nvSpPr>
        <p:spPr bwMode="auto">
          <a:xfrm>
            <a:off x="3613957" y="2048866"/>
            <a:ext cx="4768069"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5" y="2667719"/>
            <a:ext cx="4761551" cy="756000"/>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7" y="1534929"/>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5"/>
          <p:cNvSpPr txBox="1">
            <a:spLocks noChangeArrowheads="1"/>
          </p:cNvSpPr>
          <p:nvPr/>
        </p:nvSpPr>
        <p:spPr bwMode="auto">
          <a:xfrm>
            <a:off x="3350021" y="116033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120" name="Text Box 6"/>
          <p:cNvSpPr txBox="1">
            <a:spLocks noChangeArrowheads="1"/>
          </p:cNvSpPr>
          <p:nvPr/>
        </p:nvSpPr>
        <p:spPr bwMode="auto">
          <a:xfrm>
            <a:off x="5060684" y="115951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接收方</a:t>
            </a:r>
          </a:p>
        </p:txBody>
      </p:sp>
      <p:sp>
        <p:nvSpPr>
          <p:cNvPr id="121" name="Text Box 7"/>
          <p:cNvSpPr txBox="1">
            <a:spLocks noChangeArrowheads="1"/>
          </p:cNvSpPr>
          <p:nvPr/>
        </p:nvSpPr>
        <p:spPr bwMode="auto">
          <a:xfrm>
            <a:off x="2897100" y="141197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551323"/>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06198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1786570"/>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633945"/>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45419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2885754"/>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470175"/>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1937307"/>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226735"/>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165260"/>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2824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44722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496817"/>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6</a:t>
            </a:r>
            <a:endParaRPr kumimoji="0" lang="en-US" altLang="zh-CN" sz="12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137" name="Text Box 23"/>
          <p:cNvSpPr txBox="1">
            <a:spLocks noChangeArrowheads="1"/>
          </p:cNvSpPr>
          <p:nvPr/>
        </p:nvSpPr>
        <p:spPr bwMode="auto">
          <a:xfrm>
            <a:off x="5281176" y="2915676"/>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6</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050509"/>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21608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01928" y="1416077"/>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01928" y="1971816"/>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01928" y="2536572"/>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3 </a:t>
            </a:r>
          </a:p>
        </p:txBody>
      </p:sp>
      <p:sp>
        <p:nvSpPr>
          <p:cNvPr id="144" name="Text Box 30"/>
          <p:cNvSpPr txBox="1">
            <a:spLocks noChangeArrowheads="1"/>
          </p:cNvSpPr>
          <p:nvPr/>
        </p:nvSpPr>
        <p:spPr bwMode="auto">
          <a:xfrm>
            <a:off x="2496349" y="3313978"/>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7</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10</a:t>
            </a:r>
          </a:p>
        </p:txBody>
      </p:sp>
      <p:sp>
        <p:nvSpPr>
          <p:cNvPr id="145" name="Text Box 31"/>
          <p:cNvSpPr txBox="1">
            <a:spLocks noChangeArrowheads="1"/>
          </p:cNvSpPr>
          <p:nvPr/>
        </p:nvSpPr>
        <p:spPr bwMode="auto">
          <a:xfrm>
            <a:off x="1401928" y="3325756"/>
            <a:ext cx="677585" cy="251573"/>
          </a:xfrm>
          <a:prstGeom prst="rect">
            <a:avLst/>
          </a:prstGeom>
          <a:solidFill>
            <a:srgbClr val="FF66FF"/>
          </a:solidFill>
          <a:ln>
            <a:noFill/>
          </a:ln>
          <a:effectLst/>
        </p:spPr>
        <p:txBody>
          <a:bodyPr wrap="none">
            <a:no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6" name="Text Box 32"/>
          <p:cNvSpPr txBox="1">
            <a:spLocks noChangeArrowheads="1"/>
          </p:cNvSpPr>
          <p:nvPr/>
        </p:nvSpPr>
        <p:spPr bwMode="auto">
          <a:xfrm rot="5400000">
            <a:off x="4349938" y="3563400"/>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66690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2831655"/>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2983741"/>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614436"/>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18411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3" name="Text Box 42"/>
          <p:cNvSpPr txBox="1">
            <a:spLocks noChangeArrowheads="1"/>
          </p:cNvSpPr>
          <p:nvPr/>
        </p:nvSpPr>
        <p:spPr bwMode="auto">
          <a:xfrm>
            <a:off x="6474163" y="2924644"/>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40" name="Text Box 155"/>
          <p:cNvSpPr txBox="1">
            <a:spLocks noChangeArrowheads="1"/>
          </p:cNvSpPr>
          <p:nvPr/>
        </p:nvSpPr>
        <p:spPr bwMode="auto">
          <a:xfrm>
            <a:off x="1659118" y="731528"/>
            <a:ext cx="5910606" cy="363176"/>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每经过一个往返时间 </a:t>
            </a:r>
            <a:r>
              <a:rPr lang="en-US" altLang="zh-CN" sz="1600" b="1" dirty="0">
                <a:solidFill>
                  <a:schemeClr val="bg1"/>
                </a:solidFill>
                <a:latin typeface="微软雅黑" pitchFamily="34" charset="-122"/>
                <a:ea typeface="微软雅黑" pitchFamily="34" charset="-122"/>
              </a:rPr>
              <a:t>RTT</a:t>
            </a:r>
            <a:r>
              <a:rPr lang="zh-CN" altLang="en-US" sz="1600" b="1" dirty="0">
                <a:solidFill>
                  <a:schemeClr val="bg1"/>
                </a:solidFill>
                <a:latin typeface="微软雅黑" pitchFamily="34" charset="-122"/>
                <a:ea typeface="微软雅黑" pitchFamily="34" charset="-122"/>
              </a:rPr>
              <a:t>，发送方就把拥塞窗口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6" name="内容占位符 5">
            <a:extLst>
              <a:ext uri="{FF2B5EF4-FFF2-40B4-BE49-F238E27FC236}">
                <a16:creationId xmlns:a16="http://schemas.microsoft.com/office/drawing/2014/main" id="{184C4D18-4F5A-5A1D-94D4-1F417F70F37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4DCE551-62E7-012F-5A85-8DB386F8BAE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14155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AutoShape 5"/>
          <p:cNvSpPr>
            <a:spLocks noChangeArrowheads="1"/>
          </p:cNvSpPr>
          <p:nvPr/>
        </p:nvSpPr>
        <p:spPr bwMode="auto">
          <a:xfrm>
            <a:off x="556963" y="61732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5" name="Rectangle 6"/>
          <p:cNvSpPr>
            <a:spLocks noChangeArrowheads="1"/>
          </p:cNvSpPr>
          <p:nvPr/>
        </p:nvSpPr>
        <p:spPr bwMode="auto">
          <a:xfrm>
            <a:off x="3463097" y="584112"/>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当网络出现拥塞时</a:t>
            </a:r>
          </a:p>
        </p:txBody>
      </p:sp>
      <p:sp>
        <p:nvSpPr>
          <p:cNvPr id="58" name="Rectangle 68"/>
          <p:cNvSpPr>
            <a:spLocks noChangeArrowheads="1"/>
          </p:cNvSpPr>
          <p:nvPr/>
        </p:nvSpPr>
        <p:spPr bwMode="auto">
          <a:xfrm>
            <a:off x="556963" y="980422"/>
            <a:ext cx="8048776"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无论在慢开始阶段还是在拥塞避免阶段，只要发送方判断网络出现拥塞（</a:t>
            </a:r>
            <a:r>
              <a:rPr lang="zh-CN" altLang="en-US" sz="2000" b="1" dirty="0">
                <a:solidFill>
                  <a:srgbClr val="0000FF"/>
                </a:solidFill>
                <a:latin typeface="微软雅黑" pitchFamily="34" charset="-122"/>
                <a:ea typeface="微软雅黑" pitchFamily="34" charset="-122"/>
              </a:rPr>
              <a:t>重传定时器超时</a:t>
            </a:r>
            <a:r>
              <a:rPr lang="zh-CN" altLang="en-US" sz="2000" b="1" dirty="0">
                <a:latin typeface="微软雅黑" pitchFamily="34" charset="-122"/>
                <a:ea typeface="微软雅黑" pitchFamily="34" charset="-122"/>
              </a:rPr>
              <a:t>）：</a:t>
            </a:r>
          </a:p>
          <a:p>
            <a:pPr marL="633413" indent="-342900">
              <a:lnSpc>
                <a:spcPts val="3000"/>
              </a:lnSpc>
              <a:buClr>
                <a:srgbClr val="7030A0"/>
              </a:buClr>
              <a:buFont typeface="+mj-lt"/>
              <a:buAutoNum type="arabicPeriod"/>
            </a:pPr>
            <a:r>
              <a:rPr lang="en-US" altLang="zh-CN" sz="2000" b="1" dirty="0" err="1">
                <a:solidFill>
                  <a:srgbClr val="0000FF"/>
                </a:solidFill>
                <a:latin typeface="微软雅黑" pitchFamily="34" charset="-122"/>
                <a:ea typeface="微软雅黑" pitchFamily="34" charset="-122"/>
              </a:rPr>
              <a:t>ssthresh</a:t>
            </a:r>
            <a:r>
              <a:rPr lang="en-US" altLang="zh-CN" sz="2000" b="1" dirty="0">
                <a:solidFill>
                  <a:srgbClr val="0000FF"/>
                </a:solidFill>
                <a:latin typeface="微软雅黑" pitchFamily="34" charset="-122"/>
                <a:ea typeface="微软雅黑" pitchFamily="34" charset="-122"/>
              </a:rPr>
              <a:t> = max (</a:t>
            </a:r>
            <a:r>
              <a:rPr lang="en-US" altLang="zh-CN" sz="2000" b="1" dirty="0" err="1">
                <a:solidFill>
                  <a:srgbClr val="0000FF"/>
                </a:solidFill>
                <a:latin typeface="微软雅黑" pitchFamily="34" charset="-122"/>
                <a:ea typeface="微软雅黑" pitchFamily="34" charset="-122"/>
              </a:rPr>
              <a:t>cwnd</a:t>
            </a:r>
            <a:r>
              <a:rPr lang="en-US" altLang="zh-CN" sz="2000" b="1" dirty="0">
                <a:solidFill>
                  <a:srgbClr val="0000FF"/>
                </a:solidFill>
                <a:latin typeface="微软雅黑" pitchFamily="34" charset="-122"/>
                <a:ea typeface="微软雅黑" pitchFamily="34" charset="-122"/>
              </a:rPr>
              <a:t>/2</a:t>
            </a:r>
            <a:r>
              <a:rPr lang="zh-CN" altLang="en-US" sz="2000" b="1" dirty="0">
                <a:solidFill>
                  <a:srgbClr val="0000FF"/>
                </a:solidFill>
                <a:latin typeface="微软雅黑" pitchFamily="34" charset="-122"/>
                <a:ea typeface="微软雅黑" pitchFamily="34" charset="-122"/>
              </a:rPr>
              <a:t>，</a:t>
            </a:r>
            <a:r>
              <a:rPr lang="en-US" altLang="zh-CN" sz="2000" b="1" dirty="0">
                <a:solidFill>
                  <a:srgbClr val="0000FF"/>
                </a:solidFill>
                <a:latin typeface="微软雅黑" pitchFamily="34" charset="-122"/>
                <a:ea typeface="微软雅黑" pitchFamily="34" charset="-122"/>
              </a:rPr>
              <a:t>2)</a:t>
            </a:r>
          </a:p>
          <a:p>
            <a:pPr marL="633413" indent="-342900">
              <a:lnSpc>
                <a:spcPts val="3000"/>
              </a:lnSpc>
              <a:buClr>
                <a:srgbClr val="7030A0"/>
              </a:buClr>
              <a:buFont typeface="+mj-lt"/>
              <a:buAutoNum type="arabicPeriod"/>
            </a:pPr>
            <a:r>
              <a:rPr lang="en-US" altLang="zh-CN" sz="2000" b="1" dirty="0" err="1">
                <a:solidFill>
                  <a:srgbClr val="0000FF"/>
                </a:solidFill>
                <a:latin typeface="微软雅黑" pitchFamily="34" charset="-122"/>
                <a:ea typeface="微软雅黑" pitchFamily="34" charset="-122"/>
              </a:rPr>
              <a:t>cwnd</a:t>
            </a:r>
            <a:r>
              <a:rPr lang="en-US" altLang="zh-CN" sz="2000" b="1" dirty="0">
                <a:solidFill>
                  <a:srgbClr val="0000FF"/>
                </a:solidFill>
                <a:latin typeface="微软雅黑" pitchFamily="34" charset="-122"/>
                <a:ea typeface="微软雅黑" pitchFamily="34" charset="-122"/>
              </a:rPr>
              <a:t> = 1</a:t>
            </a:r>
          </a:p>
          <a:p>
            <a:pPr marL="633413" indent="-342900">
              <a:lnSpc>
                <a:spcPts val="30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执行慢开始算法</a:t>
            </a:r>
          </a:p>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迅速减少主机发送到网络中的分组数，使得发生拥塞的路由器有足够时间把队列中积压的分组处理完毕。 </a:t>
            </a:r>
          </a:p>
        </p:txBody>
      </p:sp>
      <p:sp>
        <p:nvSpPr>
          <p:cNvPr id="6" name="内容占位符 5">
            <a:extLst>
              <a:ext uri="{FF2B5EF4-FFF2-40B4-BE49-F238E27FC236}">
                <a16:creationId xmlns:a16="http://schemas.microsoft.com/office/drawing/2014/main" id="{0E56A59E-18CF-7DBD-258C-34A9DF2BB9E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B361397-1F02-7DCC-CB05-2CA8920A727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0" name="矩形 39"/>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41" name="圆角矩形 40"/>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6" name="内容占位符 5">
            <a:extLst>
              <a:ext uri="{FF2B5EF4-FFF2-40B4-BE49-F238E27FC236}">
                <a16:creationId xmlns:a16="http://schemas.microsoft.com/office/drawing/2014/main" id="{9C0F22B8-6A26-32FC-99BE-D2068C1D64E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26AF6AB-D601-52A6-78B5-E0EBD10EE0B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圆角矩形 123"/>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8"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9" name="矩形 238"/>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18B61293-B018-1337-E9D6-A9D13EEBBE9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3D778F9-691A-6893-CCD2-1E31C89B6488}"/>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圆角矩形 122"/>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7"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8" name="矩形 237"/>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9678224D-77D3-DE85-29CD-D144C1F6617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6E9A05C-CD55-8EA9-CC94-4D9E646FCCA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7"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8" name="矩形 237"/>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6FEDC817-5E6A-DE13-B61C-C4ABD06345F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FCACCBA-68BC-6785-1AC3-40A5B2A3878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350"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51" name="矩形 350"/>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E258B72D-B6AA-1993-5919-444576157CD0}"/>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7A721D1-076D-2AA7-436F-323F0B533BFD}"/>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圆角矩形 150"/>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5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5" name="矩形 15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7" name="内容占位符 6">
            <a:extLst>
              <a:ext uri="{FF2B5EF4-FFF2-40B4-BE49-F238E27FC236}">
                <a16:creationId xmlns:a16="http://schemas.microsoft.com/office/drawing/2014/main" id="{A8BC7B2A-490C-2B96-3586-A6B9A5216379}"/>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B818F90D-44B8-8941-CE7D-365B41B61E3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123"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4" name="矩形 123"/>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6" name="内容占位符 5">
            <a:extLst>
              <a:ext uri="{FF2B5EF4-FFF2-40B4-BE49-F238E27FC236}">
                <a16:creationId xmlns:a16="http://schemas.microsoft.com/office/drawing/2014/main" id="{7FCF89BF-10F8-CBFF-A764-28E3825544A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D83FA92-5B44-B52A-9B25-1112DCC8FB7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圆角矩形 145"/>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261"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2" name="矩形 261"/>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F31A903C-8B73-B9C0-CC95-635A5D04C54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359BDD3-EA27-EFEC-54D0-75BEBDAC6B8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38"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9" name="矩形 238"/>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712555B8-D511-7FFA-91BB-1B99494A92F8}"/>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7A471817-1839-8117-A4B9-72236707C30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9D622BCC-60FE-84D9-A8C7-4BACC5EDA84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30882014-F58E-9F0E-79D4-F86DA547142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5"/>
          <p:cNvSpPr>
            <a:spLocks noChangeArrowheads="1"/>
          </p:cNvSpPr>
          <p:nvPr/>
        </p:nvSpPr>
        <p:spPr bwMode="auto">
          <a:xfrm>
            <a:off x="556963" y="63447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6" name="Rectangle 6"/>
          <p:cNvSpPr>
            <a:spLocks noChangeArrowheads="1"/>
          </p:cNvSpPr>
          <p:nvPr/>
        </p:nvSpPr>
        <p:spPr bwMode="auto">
          <a:xfrm>
            <a:off x="2192460" y="601267"/>
            <a:ext cx="477778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快重传 </a:t>
            </a:r>
            <a:r>
              <a:rPr lang="en-US" altLang="zh-CN" sz="2000" b="1" dirty="0">
                <a:solidFill>
                  <a:schemeClr val="bg1"/>
                </a:solidFill>
                <a:latin typeface="微软雅黑" pitchFamily="34" charset="-122"/>
                <a:ea typeface="微软雅黑" pitchFamily="34" charset="-122"/>
              </a:rPr>
              <a:t>FR (Fast Retransmission) </a:t>
            </a:r>
            <a:r>
              <a:rPr lang="zh-CN" altLang="en-US" sz="2000" b="1" dirty="0">
                <a:solidFill>
                  <a:schemeClr val="bg1"/>
                </a:solidFill>
                <a:latin typeface="微软雅黑" pitchFamily="34" charset="-122"/>
                <a:ea typeface="微软雅黑" pitchFamily="34" charset="-122"/>
              </a:rPr>
              <a:t>算法</a:t>
            </a:r>
          </a:p>
        </p:txBody>
      </p:sp>
      <p:sp>
        <p:nvSpPr>
          <p:cNvPr id="47" name="Rectangle 68"/>
          <p:cNvSpPr>
            <a:spLocks noChangeArrowheads="1"/>
          </p:cNvSpPr>
          <p:nvPr/>
        </p:nvSpPr>
        <p:spPr bwMode="auto">
          <a:xfrm>
            <a:off x="556963" y="997577"/>
            <a:ext cx="8048776"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让发送方</a:t>
            </a:r>
            <a:r>
              <a:rPr lang="zh-CN" altLang="en-US" sz="2000" b="1" dirty="0">
                <a:solidFill>
                  <a:srgbClr val="0000FF"/>
                </a:solidFill>
                <a:latin typeface="微软雅黑" pitchFamily="34" charset="-122"/>
                <a:ea typeface="微软雅黑" pitchFamily="34" charset="-122"/>
              </a:rPr>
              <a:t>尽早</a:t>
            </a:r>
            <a:r>
              <a:rPr lang="zh-CN" altLang="en-US" sz="2000" b="1" dirty="0">
                <a:latin typeface="微软雅黑" pitchFamily="34" charset="-122"/>
                <a:ea typeface="微软雅黑" pitchFamily="34" charset="-122"/>
              </a:rPr>
              <a:t>知道发生了个别报文段的丢失。</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发送方只要连续收到</a:t>
            </a:r>
            <a:r>
              <a:rPr lang="zh-CN" altLang="en-US" sz="2000" b="1" dirty="0">
                <a:solidFill>
                  <a:srgbClr val="0000FF"/>
                </a:solidFill>
                <a:latin typeface="微软雅黑" pitchFamily="34" charset="-122"/>
                <a:ea typeface="微软雅黑" pitchFamily="34" charset="-122"/>
              </a:rPr>
              <a:t>三个重复的确认，</a:t>
            </a:r>
            <a:r>
              <a:rPr lang="zh-CN" altLang="en-US" sz="2000" b="1" dirty="0">
                <a:latin typeface="微软雅黑" pitchFamily="34" charset="-122"/>
                <a:ea typeface="微软雅黑" pitchFamily="34" charset="-122"/>
              </a:rPr>
              <a:t>就</a:t>
            </a:r>
            <a:r>
              <a:rPr lang="zh-CN" altLang="en-US" sz="2000" b="1" dirty="0">
                <a:solidFill>
                  <a:srgbClr val="C00000"/>
                </a:solidFill>
                <a:latin typeface="微软雅黑" pitchFamily="34" charset="-122"/>
                <a:ea typeface="微软雅黑" pitchFamily="34" charset="-122"/>
              </a:rPr>
              <a:t>立即进行重传</a:t>
            </a:r>
            <a:r>
              <a:rPr lang="zh-CN" altLang="en-US" sz="2000" b="1" dirty="0">
                <a:solidFill>
                  <a:srgbClr val="0000FF"/>
                </a:solidFill>
                <a:latin typeface="微软雅黑" pitchFamily="34" charset="-122"/>
                <a:ea typeface="微软雅黑" pitchFamily="34" charset="-122"/>
              </a:rPr>
              <a:t>（即“快重传”）</a:t>
            </a:r>
            <a:r>
              <a:rPr lang="zh-CN" altLang="en-US" sz="2000" b="1" dirty="0">
                <a:latin typeface="微软雅黑" pitchFamily="34" charset="-122"/>
                <a:ea typeface="微软雅黑" pitchFamily="34" charset="-122"/>
              </a:rPr>
              <a:t>，这样就不会出现超时。</a:t>
            </a: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使用快重传可以使整个网络的吞吐量提高约 </a:t>
            </a:r>
            <a:r>
              <a:rPr lang="en-US" altLang="zh-CN" sz="2000" b="1" dirty="0">
                <a:latin typeface="微软雅黑" pitchFamily="34" charset="-122"/>
                <a:ea typeface="微软雅黑" pitchFamily="34" charset="-122"/>
              </a:rPr>
              <a:t>20%</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快重传算法要求接收方</a:t>
            </a:r>
            <a:r>
              <a:rPr lang="zh-CN" altLang="en-US" sz="2000" b="1" dirty="0">
                <a:solidFill>
                  <a:srgbClr val="C00000"/>
                </a:solidFill>
                <a:latin typeface="微软雅黑" pitchFamily="34" charset="-122"/>
                <a:ea typeface="微软雅黑" pitchFamily="34" charset="-122"/>
              </a:rPr>
              <a:t>立即发送确认，</a:t>
            </a:r>
            <a:r>
              <a:rPr lang="zh-CN" altLang="en-US" sz="2000" b="1" dirty="0">
                <a:latin typeface="微软雅黑" pitchFamily="34" charset="-122"/>
                <a:ea typeface="微软雅黑" pitchFamily="34" charset="-122"/>
              </a:rPr>
              <a:t>即使收到了失序的报文段，也要立即发出对已收到的报文段的重复确认。</a:t>
            </a:r>
          </a:p>
        </p:txBody>
      </p:sp>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6" name="内容占位符 5">
            <a:extLst>
              <a:ext uri="{FF2B5EF4-FFF2-40B4-BE49-F238E27FC236}">
                <a16:creationId xmlns:a16="http://schemas.microsoft.com/office/drawing/2014/main" id="{D57ADE30-7681-B811-AF4B-DD6E95CBDCAB}"/>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8C6E6C59-8705-EB25-C77F-A433EDAC49D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 name="AutoShape 5"/>
          <p:cNvSpPr>
            <a:spLocks noChangeArrowheads="1"/>
          </p:cNvSpPr>
          <p:nvPr/>
        </p:nvSpPr>
        <p:spPr bwMode="auto">
          <a:xfrm>
            <a:off x="545144" y="630731"/>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矩形 75"/>
          <p:cNvSpPr/>
          <p:nvPr/>
        </p:nvSpPr>
        <p:spPr>
          <a:xfrm>
            <a:off x="616085" y="588491"/>
            <a:ext cx="1467068" cy="400110"/>
          </a:xfrm>
          <a:prstGeom prst="rect">
            <a:avLst/>
          </a:prstGeom>
        </p:spPr>
        <p:txBody>
          <a:bodyPr wrap="none">
            <a:spAutoFit/>
          </a:bodyPr>
          <a:lstStyle/>
          <a:p>
            <a:r>
              <a:rPr lang="zh-CN" altLang="en-US" sz="2000" b="1" dirty="0">
                <a:latin typeface="微软雅黑" pitchFamily="34" charset="-122"/>
                <a:ea typeface="微软雅黑" pitchFamily="34" charset="-122"/>
              </a:rPr>
              <a:t>快重传举例</a:t>
            </a:r>
          </a:p>
        </p:txBody>
      </p:sp>
      <p:sp>
        <p:nvSpPr>
          <p:cNvPr id="77" name="圆角矩形 76"/>
          <p:cNvSpPr/>
          <p:nvPr/>
        </p:nvSpPr>
        <p:spPr>
          <a:xfrm>
            <a:off x="545144" y="1013286"/>
            <a:ext cx="8053711" cy="336075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grpSp>
        <p:nvGrpSpPr>
          <p:cNvPr id="9" name="组合 8"/>
          <p:cNvGrpSpPr/>
          <p:nvPr/>
        </p:nvGrpSpPr>
        <p:grpSpPr>
          <a:xfrm>
            <a:off x="3776205" y="1332324"/>
            <a:ext cx="2906522" cy="362860"/>
            <a:chOff x="3776205" y="1332324"/>
            <a:chExt cx="2906522" cy="362860"/>
          </a:xfrm>
        </p:grpSpPr>
        <p:sp>
          <p:nvSpPr>
            <p:cNvPr id="80" name="Text Box 5"/>
            <p:cNvSpPr txBox="1">
              <a:spLocks noChangeArrowheads="1"/>
            </p:cNvSpPr>
            <p:nvPr/>
          </p:nvSpPr>
          <p:spPr bwMode="auto">
            <a:xfrm>
              <a:off x="3776205" y="1332324"/>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81" name="Line 6"/>
            <p:cNvSpPr>
              <a:spLocks noChangeShapeType="1"/>
            </p:cNvSpPr>
            <p:nvPr/>
          </p:nvSpPr>
          <p:spPr bwMode="auto">
            <a:xfrm>
              <a:off x="4493304" y="1492800"/>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 name="组合 2"/>
          <p:cNvGrpSpPr/>
          <p:nvPr/>
        </p:nvGrpSpPr>
        <p:grpSpPr>
          <a:xfrm>
            <a:off x="4493304" y="1657364"/>
            <a:ext cx="2930637" cy="318908"/>
            <a:chOff x="4493304" y="1657364"/>
            <a:chExt cx="2930637" cy="318908"/>
          </a:xfrm>
        </p:grpSpPr>
        <p:sp>
          <p:nvSpPr>
            <p:cNvPr id="82" name="Line 7"/>
            <p:cNvSpPr>
              <a:spLocks noChangeShapeType="1"/>
            </p:cNvSpPr>
            <p:nvPr/>
          </p:nvSpPr>
          <p:spPr bwMode="auto">
            <a:xfrm flipH="1">
              <a:off x="4493304" y="1773888"/>
              <a:ext cx="2189423" cy="20238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83" name="Text Box 8"/>
            <p:cNvSpPr txBox="1">
              <a:spLocks noChangeArrowheads="1"/>
            </p:cNvSpPr>
            <p:nvPr/>
          </p:nvSpPr>
          <p:spPr bwMode="auto">
            <a:xfrm>
              <a:off x="6617310" y="1657364"/>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85" name="Group 10"/>
          <p:cNvGrpSpPr>
            <a:grpSpLocks/>
          </p:cNvGrpSpPr>
          <p:nvPr/>
        </p:nvGrpSpPr>
        <p:grpSpPr bwMode="auto">
          <a:xfrm>
            <a:off x="4493304" y="1393652"/>
            <a:ext cx="2189423" cy="2798618"/>
            <a:chOff x="1607" y="677"/>
            <a:chExt cx="1640" cy="2728"/>
          </a:xfrm>
        </p:grpSpPr>
        <p:sp>
          <p:nvSpPr>
            <p:cNvPr id="86" name="Line 11"/>
            <p:cNvSpPr>
              <a:spLocks noChangeShapeType="1"/>
            </p:cNvSpPr>
            <p:nvPr/>
          </p:nvSpPr>
          <p:spPr bwMode="auto">
            <a:xfrm>
              <a:off x="1607" y="677"/>
              <a:ext cx="0" cy="2728"/>
            </a:xfrm>
            <a:prstGeom prst="line">
              <a:avLst/>
            </a:prstGeom>
            <a:noFill/>
            <a:ln w="19050">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87" name="Line 12"/>
            <p:cNvSpPr>
              <a:spLocks noChangeShapeType="1"/>
            </p:cNvSpPr>
            <p:nvPr/>
          </p:nvSpPr>
          <p:spPr bwMode="auto">
            <a:xfrm>
              <a:off x="3247" y="677"/>
              <a:ext cx="0" cy="2728"/>
            </a:xfrm>
            <a:prstGeom prst="line">
              <a:avLst/>
            </a:prstGeom>
            <a:noFill/>
            <a:ln w="19050">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4" name="组合 3"/>
          <p:cNvGrpSpPr/>
          <p:nvPr/>
        </p:nvGrpSpPr>
        <p:grpSpPr>
          <a:xfrm>
            <a:off x="4493304" y="1974228"/>
            <a:ext cx="3086862" cy="338328"/>
            <a:chOff x="4493304" y="1974228"/>
            <a:chExt cx="3086862" cy="338328"/>
          </a:xfrm>
        </p:grpSpPr>
        <p:sp>
          <p:nvSpPr>
            <p:cNvPr id="88" name="Text Box 13"/>
            <p:cNvSpPr txBox="1">
              <a:spLocks noChangeArrowheads="1"/>
            </p:cNvSpPr>
            <p:nvPr/>
          </p:nvSpPr>
          <p:spPr bwMode="auto">
            <a:xfrm>
              <a:off x="6617310" y="1974228"/>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2" name="组合 11"/>
          <p:cNvGrpSpPr/>
          <p:nvPr/>
        </p:nvGrpSpPr>
        <p:grpSpPr>
          <a:xfrm>
            <a:off x="3776205" y="2310512"/>
            <a:ext cx="2906522" cy="404768"/>
            <a:chOff x="3776205" y="2310512"/>
            <a:chExt cx="2906522" cy="404768"/>
          </a:xfrm>
        </p:grpSpPr>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96" name="Line 21"/>
            <p:cNvSpPr>
              <a:spLocks noChangeShapeType="1"/>
            </p:cNvSpPr>
            <p:nvPr/>
          </p:nvSpPr>
          <p:spPr bwMode="auto">
            <a:xfrm>
              <a:off x="4493304" y="2512896"/>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6" name="组合 5"/>
          <p:cNvGrpSpPr/>
          <p:nvPr/>
        </p:nvGrpSpPr>
        <p:grpSpPr>
          <a:xfrm>
            <a:off x="4493304" y="2596711"/>
            <a:ext cx="2961095" cy="387390"/>
            <a:chOff x="4493304" y="2596711"/>
            <a:chExt cx="2961095" cy="387390"/>
          </a:xfrm>
        </p:grpSpPr>
        <p:sp>
          <p:nvSpPr>
            <p:cNvPr id="90" name="Line 15"/>
            <p:cNvSpPr>
              <a:spLocks noChangeShapeType="1"/>
            </p:cNvSpPr>
            <p:nvPr/>
          </p:nvSpPr>
          <p:spPr bwMode="auto">
            <a:xfrm flipH="1">
              <a:off x="4493304" y="2783762"/>
              <a:ext cx="2189423" cy="20033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0" name="Text Box 25"/>
            <p:cNvSpPr txBox="1">
              <a:spLocks noChangeArrowheads="1"/>
            </p:cNvSpPr>
            <p:nvPr/>
          </p:nvSpPr>
          <p:spPr bwMode="auto">
            <a:xfrm>
              <a:off x="6617310" y="2596711"/>
              <a:ext cx="83708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7" name="组合 6"/>
          <p:cNvGrpSpPr/>
          <p:nvPr/>
        </p:nvGrpSpPr>
        <p:grpSpPr>
          <a:xfrm>
            <a:off x="4493304" y="2953436"/>
            <a:ext cx="3268871" cy="366950"/>
            <a:chOff x="4493304" y="2953436"/>
            <a:chExt cx="3268871" cy="366950"/>
          </a:xfrm>
        </p:grpSpPr>
        <p:sp>
          <p:nvSpPr>
            <p:cNvPr id="91" name="Line 16"/>
            <p:cNvSpPr>
              <a:spLocks noChangeShapeType="1"/>
            </p:cNvSpPr>
            <p:nvPr/>
          </p:nvSpPr>
          <p:spPr bwMode="auto">
            <a:xfrm flipH="1">
              <a:off x="4493304" y="3118002"/>
              <a:ext cx="2189423" cy="20238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4" name="Text Box 29"/>
            <p:cNvSpPr txBox="1">
              <a:spLocks noChangeArrowheads="1"/>
            </p:cNvSpPr>
            <p:nvPr/>
          </p:nvSpPr>
          <p:spPr bwMode="auto">
            <a:xfrm>
              <a:off x="6617310" y="29534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8" name="组合 7"/>
          <p:cNvGrpSpPr/>
          <p:nvPr/>
        </p:nvGrpSpPr>
        <p:grpSpPr>
          <a:xfrm>
            <a:off x="4493304" y="3289722"/>
            <a:ext cx="3268871" cy="365925"/>
            <a:chOff x="4493304" y="3289722"/>
            <a:chExt cx="3268871" cy="365925"/>
          </a:xfrm>
        </p:grpSpPr>
        <p:sp>
          <p:nvSpPr>
            <p:cNvPr id="92" name="Line 17"/>
            <p:cNvSpPr>
              <a:spLocks noChangeShapeType="1"/>
            </p:cNvSpPr>
            <p:nvPr/>
          </p:nvSpPr>
          <p:spPr bwMode="auto">
            <a:xfrm flipH="1">
              <a:off x="4493304" y="3452241"/>
              <a:ext cx="2189423" cy="203406"/>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15" name="组合 14"/>
          <p:cNvGrpSpPr/>
          <p:nvPr/>
        </p:nvGrpSpPr>
        <p:grpSpPr>
          <a:xfrm>
            <a:off x="3776205" y="3355138"/>
            <a:ext cx="2909587" cy="367971"/>
            <a:chOff x="3776205" y="3355138"/>
            <a:chExt cx="2909587" cy="367971"/>
          </a:xfrm>
        </p:grpSpPr>
        <p:sp>
          <p:nvSpPr>
            <p:cNvPr id="107" name="Line 32"/>
            <p:cNvSpPr>
              <a:spLocks noChangeShapeType="1"/>
            </p:cNvSpPr>
            <p:nvPr/>
          </p:nvSpPr>
          <p:spPr bwMode="auto">
            <a:xfrm>
              <a:off x="4497392" y="3520725"/>
              <a:ext cx="2188400"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grpSp>
      <p:grpSp>
        <p:nvGrpSpPr>
          <p:cNvPr id="109" name="Group 34"/>
          <p:cNvGrpSpPr>
            <a:grpSpLocks/>
          </p:cNvGrpSpPr>
          <p:nvPr/>
        </p:nvGrpSpPr>
        <p:grpSpPr bwMode="auto">
          <a:xfrm>
            <a:off x="1488265" y="2924811"/>
            <a:ext cx="3018729" cy="830998"/>
            <a:chOff x="91" y="2556"/>
            <a:chExt cx="2765" cy="813"/>
          </a:xfrm>
        </p:grpSpPr>
        <p:sp>
          <p:nvSpPr>
            <p:cNvPr id="114" name="Line 38"/>
            <p:cNvSpPr>
              <a:spLocks noChangeShapeType="1"/>
            </p:cNvSpPr>
            <p:nvPr/>
          </p:nvSpPr>
          <p:spPr bwMode="auto">
            <a:xfrm>
              <a:off x="1919" y="3270"/>
              <a:ext cx="937"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grpSp>
        <p:nvGrpSpPr>
          <p:cNvPr id="10" name="组合 9"/>
          <p:cNvGrpSpPr/>
          <p:nvPr/>
        </p:nvGrpSpPr>
        <p:grpSpPr>
          <a:xfrm>
            <a:off x="3776205" y="1656343"/>
            <a:ext cx="2906522" cy="389435"/>
            <a:chOff x="3776205" y="1656343"/>
            <a:chExt cx="2906522" cy="389435"/>
          </a:xfrm>
        </p:grpSpPr>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17" name="Line 42"/>
            <p:cNvSpPr>
              <a:spLocks noChangeShapeType="1"/>
            </p:cNvSpPr>
            <p:nvPr/>
          </p:nvSpPr>
          <p:spPr bwMode="auto">
            <a:xfrm>
              <a:off x="4493304" y="1843394"/>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1" name="组合 10"/>
          <p:cNvGrpSpPr/>
          <p:nvPr/>
        </p:nvGrpSpPr>
        <p:grpSpPr>
          <a:xfrm>
            <a:off x="3776205" y="1938453"/>
            <a:ext cx="2400562" cy="706298"/>
            <a:chOff x="3776205" y="1938453"/>
            <a:chExt cx="2400562" cy="706298"/>
          </a:xfrm>
        </p:grpSpPr>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grpSp>
          <p:nvGrpSpPr>
            <p:cNvPr id="5" name="组合 4"/>
            <p:cNvGrpSpPr/>
            <p:nvPr/>
          </p:nvGrpSpPr>
          <p:grpSpPr>
            <a:xfrm>
              <a:off x="4493304" y="1938453"/>
              <a:ext cx="1683463" cy="706298"/>
              <a:chOff x="4493304" y="1938453"/>
              <a:chExt cx="1683463" cy="706298"/>
            </a:xfrm>
          </p:grpSpPr>
          <p:sp>
            <p:nvSpPr>
              <p:cNvPr id="115" name="AutoShape 40"/>
              <p:cNvSpPr>
                <a:spLocks noChangeArrowheads="1"/>
              </p:cNvSpPr>
              <p:nvPr/>
            </p:nvSpPr>
            <p:spPr bwMode="auto">
              <a:xfrm>
                <a:off x="5615613" y="1938453"/>
                <a:ext cx="561154" cy="706298"/>
              </a:xfrm>
              <a:prstGeom prst="irregularSeal1">
                <a:avLst/>
              </a:prstGeom>
              <a:solidFill>
                <a:srgbClr val="C00000"/>
              </a:solidFill>
              <a:ln w="9525">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13" name="组合 12"/>
          <p:cNvGrpSpPr/>
          <p:nvPr/>
        </p:nvGrpSpPr>
        <p:grpSpPr>
          <a:xfrm>
            <a:off x="3776205" y="2663150"/>
            <a:ext cx="2909587" cy="388412"/>
            <a:chOff x="3776205" y="2663150"/>
            <a:chExt cx="2909587" cy="388412"/>
          </a:xfrm>
        </p:grpSpPr>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19" name="Line 44"/>
            <p:cNvSpPr>
              <a:spLocks noChangeShapeType="1"/>
            </p:cNvSpPr>
            <p:nvPr/>
          </p:nvSpPr>
          <p:spPr bwMode="auto">
            <a:xfrm>
              <a:off x="4497392" y="2848157"/>
              <a:ext cx="2188400" cy="203405"/>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4" name="组合 13"/>
          <p:cNvGrpSpPr/>
          <p:nvPr/>
        </p:nvGrpSpPr>
        <p:grpSpPr>
          <a:xfrm>
            <a:off x="3776205" y="2998412"/>
            <a:ext cx="2909587" cy="388413"/>
            <a:chOff x="3776205" y="2998412"/>
            <a:chExt cx="2909587" cy="388413"/>
          </a:xfrm>
        </p:grpSpPr>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6</a:t>
              </a:r>
            </a:p>
          </p:txBody>
        </p:sp>
        <p:sp>
          <p:nvSpPr>
            <p:cNvPr id="120" name="Line 45"/>
            <p:cNvSpPr>
              <a:spLocks noChangeShapeType="1"/>
            </p:cNvSpPr>
            <p:nvPr/>
          </p:nvSpPr>
          <p:spPr bwMode="auto">
            <a:xfrm>
              <a:off x="4497392" y="3184441"/>
              <a:ext cx="2188400"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6" name="组合 15"/>
          <p:cNvGrpSpPr/>
          <p:nvPr/>
        </p:nvGrpSpPr>
        <p:grpSpPr>
          <a:xfrm>
            <a:off x="3483631" y="3666889"/>
            <a:ext cx="3199096" cy="326064"/>
            <a:chOff x="3483631" y="3666889"/>
            <a:chExt cx="3199096" cy="326064"/>
          </a:xfrm>
        </p:grpSpPr>
        <p:sp>
          <p:nvSpPr>
            <p:cNvPr id="102" name="Line 27"/>
            <p:cNvSpPr>
              <a:spLocks noChangeShapeType="1"/>
            </p:cNvSpPr>
            <p:nvPr/>
          </p:nvSpPr>
          <p:spPr bwMode="auto">
            <a:xfrm>
              <a:off x="4493304" y="3789547"/>
              <a:ext cx="2189423" cy="203406"/>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60" name="Text Box 33"/>
            <p:cNvSpPr txBox="1">
              <a:spLocks noChangeArrowheads="1"/>
            </p:cNvSpPr>
            <p:nvPr/>
          </p:nvSpPr>
          <p:spPr bwMode="auto">
            <a:xfrm>
              <a:off x="3483631" y="3666889"/>
              <a:ext cx="10679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kern="0" dirty="0">
                  <a:solidFill>
                    <a:srgbClr val="C00000"/>
                  </a:solidFill>
                  <a:latin typeface="微软雅黑" pitchFamily="34" charset="-122"/>
                  <a:ea typeface="微软雅黑" pitchFamily="34" charset="-122"/>
                </a:rPr>
                <a:t>立即重传</a:t>
              </a:r>
              <a:r>
                <a:rPr kumimoji="0" lang="zh-CN" altLang="en-US" sz="12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 </a:t>
              </a:r>
              <a:r>
                <a:rPr kumimoji="0" lang="en-US" altLang="zh-CN" sz="12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solidFill>
                    <a:srgbClr val="C00000"/>
                  </a:solidFill>
                  <a:effectLst/>
                  <a:uLnTx/>
                  <a:uFillTx/>
                  <a:latin typeface="微软雅黑" pitchFamily="34" charset="-122"/>
                  <a:ea typeface="微软雅黑" pitchFamily="34" charset="-122"/>
                </a:rPr>
                <a:t>3</a:t>
              </a:r>
            </a:p>
          </p:txBody>
        </p:sp>
      </p:grpSp>
      <p:grpSp>
        <p:nvGrpSpPr>
          <p:cNvPr id="63" name="组合 62"/>
          <p:cNvGrpSpPr/>
          <p:nvPr/>
        </p:nvGrpSpPr>
        <p:grpSpPr>
          <a:xfrm>
            <a:off x="6154051" y="3617826"/>
            <a:ext cx="1608124" cy="276999"/>
            <a:chOff x="6154051" y="3289722"/>
            <a:chExt cx="1608124" cy="276999"/>
          </a:xfrm>
        </p:grpSpPr>
        <p:sp>
          <p:nvSpPr>
            <p:cNvPr id="64" name="Line 17"/>
            <p:cNvSpPr>
              <a:spLocks noChangeShapeType="1"/>
            </p:cNvSpPr>
            <p:nvPr/>
          </p:nvSpPr>
          <p:spPr bwMode="auto">
            <a:xfrm flipH="1">
              <a:off x="6154051" y="3452241"/>
              <a:ext cx="528675" cy="7666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6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20" name="内容占位符 19">
            <a:extLst>
              <a:ext uri="{FF2B5EF4-FFF2-40B4-BE49-F238E27FC236}">
                <a16:creationId xmlns:a16="http://schemas.microsoft.com/office/drawing/2014/main" id="{26EEE0D2-1AF0-0760-D277-5AC6970180CC}"/>
              </a:ext>
            </a:extLst>
          </p:cNvPr>
          <p:cNvSpPr>
            <a:spLocks noGrp="1"/>
          </p:cNvSpPr>
          <p:nvPr>
            <p:ph sz="quarter" idx="11"/>
          </p:nvPr>
        </p:nvSpPr>
        <p:spPr/>
        <p:txBody>
          <a:bodyPr/>
          <a:lstStyle/>
          <a:p>
            <a:endParaRPr lang="zh-CN" altLang="en-US"/>
          </a:p>
        </p:txBody>
      </p:sp>
      <p:sp>
        <p:nvSpPr>
          <p:cNvPr id="19" name="标题 18">
            <a:extLst>
              <a:ext uri="{FF2B5EF4-FFF2-40B4-BE49-F238E27FC236}">
                <a16:creationId xmlns:a16="http://schemas.microsoft.com/office/drawing/2014/main" id="{B5D78B42-07E6-2481-8AF9-8183A9D3D9B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right)">
                                      <p:cBhvr>
                                        <p:cTn id="11" dur="1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ipe(left)">
                                      <p:cBhvr>
                                        <p:cTn id="16" dur="1000"/>
                                        <p:tgtEl>
                                          <p:spTgt spid="10"/>
                                        </p:tgtEl>
                                      </p:cBhvr>
                                    </p:animEffect>
                                  </p:childTnLst>
                                </p:cTn>
                              </p:par>
                            </p:childTnLst>
                          </p:cTn>
                        </p:par>
                        <p:par>
                          <p:cTn id="17" fill="hold">
                            <p:stCondLst>
                              <p:cond delay="1000"/>
                            </p:stCondLst>
                            <p:childTnLst>
                              <p:par>
                                <p:cTn id="18" presetID="22" presetClass="entr" presetSubtype="2" fill="hold" nodeType="after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wipe(right)">
                                      <p:cBhvr>
                                        <p:cTn id="20" dur="1000"/>
                                        <p:tgtEl>
                                          <p:spTgt spid="4"/>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wipe(left)">
                                      <p:cBhvr>
                                        <p:cTn id="25" dur="1000"/>
                                        <p:tgtEl>
                                          <p:spTgt spid="11"/>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wipe(left)">
                                      <p:cBhvr>
                                        <p:cTn id="30" dur="1000"/>
                                        <p:tgtEl>
                                          <p:spTgt spid="12"/>
                                        </p:tgtEl>
                                      </p:cBhvr>
                                    </p:animEffect>
                                  </p:childTnLst>
                                </p:cTn>
                              </p:par>
                            </p:childTnLst>
                          </p:cTn>
                        </p:par>
                        <p:par>
                          <p:cTn id="31" fill="hold">
                            <p:stCondLst>
                              <p:cond delay="1000"/>
                            </p:stCondLst>
                            <p:childTnLst>
                              <p:par>
                                <p:cTn id="32" presetID="22" presetClass="entr" presetSubtype="2"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wipe(right)">
                                      <p:cBhvr>
                                        <p:cTn id="34" dur="10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wipe(left)">
                                      <p:cBhvr>
                                        <p:cTn id="39" dur="1000"/>
                                        <p:tgtEl>
                                          <p:spTgt spid="13"/>
                                        </p:tgtEl>
                                      </p:cBhvr>
                                    </p:animEffect>
                                  </p:childTnLst>
                                </p:cTn>
                              </p:par>
                            </p:childTnLst>
                          </p:cTn>
                        </p:par>
                        <p:par>
                          <p:cTn id="40" fill="hold">
                            <p:stCondLst>
                              <p:cond delay="1000"/>
                            </p:stCondLst>
                            <p:childTnLst>
                              <p:par>
                                <p:cTn id="41" presetID="22" presetClass="entr" presetSubtype="2"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wipe(right)">
                                      <p:cBhvr>
                                        <p:cTn id="43" dur="1000"/>
                                        <p:tgtEl>
                                          <p:spTgt spid="7"/>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1000"/>
                                        <p:tgtEl>
                                          <p:spTgt spid="14"/>
                                        </p:tgtEl>
                                      </p:cBhvr>
                                    </p:animEffect>
                                  </p:childTnLst>
                                </p:cTn>
                              </p:par>
                            </p:childTnLst>
                          </p:cTn>
                        </p:par>
                        <p:par>
                          <p:cTn id="49" fill="hold">
                            <p:stCondLst>
                              <p:cond delay="1000"/>
                            </p:stCondLst>
                            <p:childTnLst>
                              <p:par>
                                <p:cTn id="50" presetID="22" presetClass="entr" presetSubtype="2" fill="hold" nodeType="afterEffect">
                                  <p:stCondLst>
                                    <p:cond delay="0"/>
                                  </p:stCondLst>
                                  <p:childTnLst>
                                    <p:set>
                                      <p:cBhvr>
                                        <p:cTn id="51" dur="1" fill="hold">
                                          <p:stCondLst>
                                            <p:cond delay="0"/>
                                          </p:stCondLst>
                                        </p:cTn>
                                        <p:tgtEl>
                                          <p:spTgt spid="8"/>
                                        </p:tgtEl>
                                        <p:attrNameLst>
                                          <p:attrName>style.visibility</p:attrName>
                                        </p:attrNameLst>
                                      </p:cBhvr>
                                      <p:to>
                                        <p:strVal val="visible"/>
                                      </p:to>
                                    </p:set>
                                    <p:animEffect transition="in" filter="wipe(right)">
                                      <p:cBhvr>
                                        <p:cTn id="52" dur="1000"/>
                                        <p:tgtEl>
                                          <p:spTgt spid="8"/>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wipe(left)">
                                      <p:cBhvr>
                                        <p:cTn id="57" dur="1000"/>
                                        <p:tgtEl>
                                          <p:spTgt spid="15"/>
                                        </p:tgtEl>
                                      </p:cBhvr>
                                    </p:animEffect>
                                  </p:childTnLst>
                                </p:cTn>
                              </p:par>
                            </p:childTnLst>
                          </p:cTn>
                        </p:par>
                        <p:par>
                          <p:cTn id="58" fill="hold">
                            <p:stCondLst>
                              <p:cond delay="1000"/>
                            </p:stCondLst>
                            <p:childTnLst>
                              <p:par>
                                <p:cTn id="59" presetID="22" presetClass="entr" presetSubtype="2" fill="hold" nodeType="afterEffect">
                                  <p:stCondLst>
                                    <p:cond delay="0"/>
                                  </p:stCondLst>
                                  <p:childTnLst>
                                    <p:set>
                                      <p:cBhvr>
                                        <p:cTn id="60" dur="1" fill="hold">
                                          <p:stCondLst>
                                            <p:cond delay="0"/>
                                          </p:stCondLst>
                                        </p:cTn>
                                        <p:tgtEl>
                                          <p:spTgt spid="63"/>
                                        </p:tgtEl>
                                        <p:attrNameLst>
                                          <p:attrName>style.visibility</p:attrName>
                                        </p:attrNameLst>
                                      </p:cBhvr>
                                      <p:to>
                                        <p:strVal val="visible"/>
                                      </p:to>
                                    </p:set>
                                    <p:animEffect transition="in" filter="wipe(right)">
                                      <p:cBhvr>
                                        <p:cTn id="61" dur="1000"/>
                                        <p:tgtEl>
                                          <p:spTgt spid="63"/>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2" fill="hold" nodeType="clickEffect">
                                  <p:stCondLst>
                                    <p:cond delay="0"/>
                                  </p:stCondLst>
                                  <p:childTnLst>
                                    <p:set>
                                      <p:cBhvr>
                                        <p:cTn id="65" dur="1" fill="hold">
                                          <p:stCondLst>
                                            <p:cond delay="0"/>
                                          </p:stCondLst>
                                        </p:cTn>
                                        <p:tgtEl>
                                          <p:spTgt spid="109"/>
                                        </p:tgtEl>
                                        <p:attrNameLst>
                                          <p:attrName>style.visibility</p:attrName>
                                        </p:attrNameLst>
                                      </p:cBhvr>
                                      <p:to>
                                        <p:strVal val="visible"/>
                                      </p:to>
                                    </p:set>
                                    <p:animEffect transition="in" filter="wipe(right)">
                                      <p:cBhvr>
                                        <p:cTn id="66" dur="1000"/>
                                        <p:tgtEl>
                                          <p:spTgt spid="109"/>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nodeType="click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wipe(left)">
                                      <p:cBhvr>
                                        <p:cTn id="71" dur="1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 name="AutoShape 5"/>
          <p:cNvSpPr>
            <a:spLocks noChangeArrowheads="1"/>
          </p:cNvSpPr>
          <p:nvPr/>
        </p:nvSpPr>
        <p:spPr bwMode="auto">
          <a:xfrm>
            <a:off x="556963" y="63080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05" name="Rectangle 6"/>
          <p:cNvSpPr>
            <a:spLocks noChangeArrowheads="1"/>
          </p:cNvSpPr>
          <p:nvPr/>
        </p:nvSpPr>
        <p:spPr bwMode="auto">
          <a:xfrm>
            <a:off x="2622738" y="597590"/>
            <a:ext cx="391722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快恢复 </a:t>
            </a:r>
            <a:r>
              <a:rPr lang="en-US" altLang="zh-CN" sz="2000" b="1" dirty="0">
                <a:solidFill>
                  <a:schemeClr val="bg1"/>
                </a:solidFill>
                <a:latin typeface="微软雅黑" pitchFamily="34" charset="-122"/>
                <a:ea typeface="微软雅黑" pitchFamily="34" charset="-122"/>
              </a:rPr>
              <a:t>FR (Fast Recovery)</a:t>
            </a:r>
            <a:r>
              <a:rPr lang="zh-CN" altLang="en-US" sz="2000" b="1" dirty="0">
                <a:solidFill>
                  <a:schemeClr val="bg1"/>
                </a:solidFill>
                <a:latin typeface="微软雅黑" pitchFamily="34" charset="-122"/>
                <a:ea typeface="微软雅黑" pitchFamily="34" charset="-122"/>
              </a:rPr>
              <a:t>算法</a:t>
            </a:r>
          </a:p>
        </p:txBody>
      </p:sp>
      <p:sp>
        <p:nvSpPr>
          <p:cNvPr id="106" name="Rectangle 68"/>
          <p:cNvSpPr>
            <a:spLocks noChangeArrowheads="1"/>
          </p:cNvSpPr>
          <p:nvPr/>
        </p:nvSpPr>
        <p:spPr bwMode="auto">
          <a:xfrm>
            <a:off x="556963" y="993900"/>
            <a:ext cx="8048776"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当发送端收到连续三个重复的确认时，</a:t>
            </a:r>
            <a:r>
              <a:rPr lang="zh-CN" altLang="en-US" sz="2000" b="1" dirty="0">
                <a:solidFill>
                  <a:srgbClr val="C00000"/>
                </a:solidFill>
                <a:latin typeface="微软雅黑" pitchFamily="34" charset="-122"/>
                <a:ea typeface="微软雅黑" pitchFamily="34" charset="-122"/>
              </a:rPr>
              <a:t>不执行</a:t>
            </a:r>
            <a:r>
              <a:rPr lang="zh-CN" altLang="en-US" sz="2000" b="1" dirty="0">
                <a:latin typeface="微软雅黑" pitchFamily="34" charset="-122"/>
                <a:ea typeface="微软雅黑" pitchFamily="34" charset="-122"/>
              </a:rPr>
              <a:t>慢开始算法，而是</a:t>
            </a:r>
            <a:r>
              <a:rPr lang="zh-CN" altLang="en-US" sz="2000" b="1" dirty="0">
                <a:solidFill>
                  <a:srgbClr val="0000FF"/>
                </a:solidFill>
                <a:latin typeface="微软雅黑" pitchFamily="34" charset="-122"/>
                <a:ea typeface="微软雅黑" pitchFamily="34" charset="-122"/>
              </a:rPr>
              <a:t>执行</a:t>
            </a:r>
            <a:r>
              <a:rPr lang="zh-CN" altLang="en-US" sz="2000" b="1" dirty="0">
                <a:solidFill>
                  <a:srgbClr val="C00000"/>
                </a:solidFill>
                <a:latin typeface="微软雅黑" pitchFamily="34" charset="-122"/>
                <a:ea typeface="微软雅黑" pitchFamily="34" charset="-122"/>
              </a:rPr>
              <a:t>快恢复算法 </a:t>
            </a:r>
            <a:r>
              <a:rPr lang="en-US" altLang="zh-CN" sz="2000" b="1" dirty="0">
                <a:solidFill>
                  <a:srgbClr val="C00000"/>
                </a:solidFill>
                <a:latin typeface="微软雅黑" pitchFamily="34" charset="-122"/>
                <a:ea typeface="微软雅黑" pitchFamily="34" charset="-122"/>
              </a:rPr>
              <a:t>FR </a:t>
            </a:r>
            <a:r>
              <a:rPr lang="en-US" altLang="zh-CN" sz="2000" b="1" dirty="0">
                <a:latin typeface="微软雅黑" pitchFamily="34" charset="-122"/>
                <a:ea typeface="微软雅黑" pitchFamily="34" charset="-122"/>
              </a:rPr>
              <a:t>(Fast Recovery) </a:t>
            </a:r>
            <a:r>
              <a:rPr lang="zh-CN" altLang="en-US" sz="2000" b="1" dirty="0">
                <a:latin typeface="微软雅黑" pitchFamily="34" charset="-122"/>
                <a:ea typeface="微软雅黑" pitchFamily="34" charset="-122"/>
              </a:rPr>
              <a:t>算法：</a:t>
            </a:r>
          </a:p>
          <a:p>
            <a:pPr marL="633413"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慢开始门限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 </a:t>
            </a:r>
            <a:r>
              <a:rPr lang="zh-CN" altLang="en-US" sz="2000" b="1" dirty="0">
                <a:latin typeface="微软雅黑" pitchFamily="34" charset="-122"/>
                <a:ea typeface="微软雅黑" pitchFamily="34" charset="-122"/>
              </a:rPr>
              <a:t>当前拥塞窗口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2 </a:t>
            </a:r>
            <a:r>
              <a:rPr lang="zh-CN" altLang="en-US" sz="2000" b="1" dirty="0">
                <a:latin typeface="微软雅黑" pitchFamily="34" charset="-122"/>
                <a:ea typeface="微软雅黑" pitchFamily="34" charset="-122"/>
              </a:rPr>
              <a:t>；</a:t>
            </a:r>
          </a:p>
          <a:p>
            <a:pPr marL="633413" indent="-342900">
              <a:lnSpc>
                <a:spcPts val="3000"/>
              </a:lnSpc>
              <a:buClr>
                <a:srgbClr val="7030A0"/>
              </a:buClr>
              <a:buFont typeface="+mj-lt"/>
              <a:buAutoNum type="arabicPeriod"/>
            </a:pPr>
            <a:r>
              <a:rPr lang="zh-CN" altLang="en-US" sz="2000" b="1" dirty="0">
                <a:solidFill>
                  <a:srgbClr val="C00000"/>
                </a:solidFill>
                <a:latin typeface="微软雅黑" pitchFamily="34" charset="-122"/>
                <a:ea typeface="微软雅黑" pitchFamily="34" charset="-122"/>
              </a:rPr>
              <a:t>乘法减小 </a:t>
            </a:r>
            <a:r>
              <a:rPr lang="en-US" altLang="zh-CN" sz="2000" b="1" dirty="0">
                <a:solidFill>
                  <a:srgbClr val="C00000"/>
                </a:solidFill>
                <a:latin typeface="微软雅黑" pitchFamily="34" charset="-122"/>
                <a:ea typeface="微软雅黑" pitchFamily="34" charset="-122"/>
              </a:rPr>
              <a:t>MD </a:t>
            </a:r>
            <a:r>
              <a:rPr lang="en-US" altLang="zh-CN" sz="2000" b="1" dirty="0">
                <a:latin typeface="微软雅黑" pitchFamily="34" charset="-122"/>
                <a:ea typeface="微软雅黑" pitchFamily="34" charset="-122"/>
              </a:rPr>
              <a:t>(Multiplicative Decrease) </a:t>
            </a:r>
            <a:r>
              <a:rPr lang="zh-CN" altLang="en-US" sz="2000" b="1" dirty="0">
                <a:latin typeface="微软雅黑" pitchFamily="34" charset="-122"/>
                <a:ea typeface="微软雅黑" pitchFamily="34" charset="-122"/>
              </a:rPr>
              <a:t>拥塞窗口。</a:t>
            </a:r>
            <a:endParaRPr lang="en-US" altLang="zh-CN" sz="2000" b="1" dirty="0">
              <a:latin typeface="微软雅黑" pitchFamily="34" charset="-122"/>
              <a:ea typeface="微软雅黑" pitchFamily="34" charset="-122"/>
            </a:endParaRPr>
          </a:p>
          <a:p>
            <a:pPr marL="290513">
              <a:lnSpc>
                <a:spcPts val="3000"/>
              </a:lnSpc>
              <a:buClr>
                <a:srgbClr val="7030A0"/>
              </a:buClr>
            </a:pP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新拥塞窗口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zh-CN" altLang="en-US" sz="2000" b="1" dirty="0">
                <a:latin typeface="微软雅黑" pitchFamily="34" charset="-122"/>
                <a:ea typeface="微软雅黑" pitchFamily="34" charset="-122"/>
              </a:rPr>
              <a:t>慢开始门限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631825" indent="-341313">
              <a:lnSpc>
                <a:spcPts val="3000"/>
              </a:lnSpc>
              <a:buClr>
                <a:srgbClr val="7030A0"/>
              </a:buClr>
              <a:buFont typeface="+mj-lt"/>
              <a:buAutoNum type="arabicPeriod" startAt="3"/>
            </a:pPr>
            <a:r>
              <a:rPr lang="zh-CN" altLang="en-US" sz="2000" b="1" dirty="0">
                <a:latin typeface="微软雅黑" pitchFamily="34" charset="-122"/>
                <a:ea typeface="微软雅黑" pitchFamily="34" charset="-122"/>
              </a:rPr>
              <a:t>执行拥塞避免算法，使拥塞窗口缓慢地</a:t>
            </a:r>
            <a:r>
              <a:rPr lang="zh-CN" altLang="en-US" sz="2000" b="1" dirty="0">
                <a:solidFill>
                  <a:srgbClr val="C00000"/>
                </a:solidFill>
                <a:latin typeface="微软雅黑" pitchFamily="34" charset="-122"/>
                <a:ea typeface="微软雅黑" pitchFamily="34" charset="-122"/>
              </a:rPr>
              <a:t>线性增大</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加法增大 </a:t>
            </a:r>
            <a:r>
              <a:rPr lang="en-US" altLang="zh-CN" sz="2000" b="1" dirty="0">
                <a:solidFill>
                  <a:srgbClr val="C00000"/>
                </a:solidFill>
                <a:latin typeface="微软雅黑" pitchFamily="34" charset="-122"/>
                <a:ea typeface="微软雅黑" pitchFamily="34" charset="-122"/>
              </a:rPr>
              <a:t>AI</a:t>
            </a:r>
            <a:r>
              <a:rPr lang="zh-CN" altLang="en-US" sz="2000" b="1" dirty="0">
                <a:latin typeface="微软雅黑" pitchFamily="34" charset="-122"/>
                <a:ea typeface="微软雅黑" pitchFamily="34" charset="-122"/>
              </a:rPr>
              <a:t>）。 </a:t>
            </a:r>
            <a:endParaRPr lang="en-US" altLang="zh-CN" sz="2000" b="1" dirty="0">
              <a:latin typeface="微软雅黑" pitchFamily="34" charset="-122"/>
              <a:ea typeface="微软雅黑" pitchFamily="34" charset="-122"/>
            </a:endParaRPr>
          </a:p>
        </p:txBody>
      </p:sp>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8" name="内容占位符 7">
            <a:extLst>
              <a:ext uri="{FF2B5EF4-FFF2-40B4-BE49-F238E27FC236}">
                <a16:creationId xmlns:a16="http://schemas.microsoft.com/office/drawing/2014/main" id="{921B79AE-BC7C-9F2C-FC86-0B6D0E529EE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756D0BB-F9C3-5E4D-CBC3-79620B7882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A0596160-30A2-DC28-7C29-151AE4CB1E1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C434A54-4808-EF91-04EA-C9B27B00087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6" name="内容占位符 5">
            <a:extLst>
              <a:ext uri="{FF2B5EF4-FFF2-40B4-BE49-F238E27FC236}">
                <a16:creationId xmlns:a16="http://schemas.microsoft.com/office/drawing/2014/main" id="{8509B21C-559E-2BAB-FB9B-D530E23765EB}"/>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CAA5AB4-6E76-A84A-BBFC-D1E5DAE1A27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5" y="1069848"/>
            <a:ext cx="8053710"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5" y="62820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3278387" y="605119"/>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拥塞控制流程图</a:t>
            </a:r>
          </a:p>
        </p:txBody>
      </p:sp>
      <p:grpSp>
        <p:nvGrpSpPr>
          <p:cNvPr id="31" name="组合 30"/>
          <p:cNvGrpSpPr/>
          <p:nvPr/>
        </p:nvGrpSpPr>
        <p:grpSpPr>
          <a:xfrm>
            <a:off x="1382573" y="1139152"/>
            <a:ext cx="6744092" cy="3248935"/>
            <a:chOff x="41479" y="1207205"/>
            <a:chExt cx="10835585" cy="5219993"/>
          </a:xfrm>
        </p:grpSpPr>
        <p:cxnSp>
          <p:nvCxnSpPr>
            <p:cNvPr id="15" name="肘形连接符 105"/>
            <p:cNvCxnSpPr>
              <a:endCxn id="12" idx="0"/>
            </p:cNvCxnSpPr>
            <p:nvPr/>
          </p:nvCxnSpPr>
          <p:spPr>
            <a:xfrm>
              <a:off x="7565199" y="2730400"/>
              <a:ext cx="1800394" cy="863599"/>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endCxn id="12" idx="2"/>
            </p:cNvCxnSpPr>
            <p:nvPr/>
          </p:nvCxnSpPr>
          <p:spPr>
            <a:xfrm flipV="1">
              <a:off x="7565199" y="4335747"/>
              <a:ext cx="1800394" cy="555172"/>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p:nvPr/>
          </p:nvCxnSpPr>
          <p:spPr>
            <a:xfrm>
              <a:off x="5005388" y="1668870"/>
              <a:ext cx="0" cy="499555"/>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91988" y="1207205"/>
              <a:ext cx="1834898"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连接建立</a:t>
              </a:r>
            </a:p>
          </p:txBody>
        </p:sp>
        <p:cxnSp>
          <p:nvCxnSpPr>
            <p:cNvPr id="7" name="直接箭头连接符 6"/>
            <p:cNvCxnSpPr/>
            <p:nvPr/>
          </p:nvCxnSpPr>
          <p:spPr>
            <a:xfrm>
              <a:off x="5023645" y="3451125"/>
              <a:ext cx="0" cy="939330"/>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2809082" y="4390456"/>
              <a:ext cx="4870860" cy="1169986"/>
            </a:xfrm>
            <a:prstGeom prst="flowChartProcess">
              <a:avLst/>
            </a:prstGeom>
            <a:solidFill>
              <a:srgbClr val="66FFCC"/>
            </a:solidFill>
            <a:ln w="9525">
              <a:solidFill>
                <a:schemeClr val="tx1"/>
              </a:solidFill>
              <a:miter lim="800000"/>
              <a:headEnd/>
              <a:tailEnd/>
            </a:ln>
          </p:spPr>
          <p:txBody>
            <a:bodyPr wrap="none" anchor="ctr"/>
            <a:lstStyle/>
            <a:p>
              <a:pPr algn="ctr"/>
              <a:endParaRPr lang="zh-CN" altLang="zh-CN" sz="1200" b="1">
                <a:latin typeface="微软雅黑" pitchFamily="34" charset="-122"/>
                <a:ea typeface="微软雅黑" pitchFamily="34" charset="-122"/>
              </a:endParaRPr>
            </a:p>
          </p:txBody>
        </p:sp>
        <p:sp>
          <p:nvSpPr>
            <p:cNvPr id="9" name="TextBox 65"/>
            <p:cNvSpPr txBox="1">
              <a:spLocks noChangeArrowheads="1"/>
            </p:cNvSpPr>
            <p:nvPr/>
          </p:nvSpPr>
          <p:spPr bwMode="auto">
            <a:xfrm>
              <a:off x="41479" y="1387974"/>
              <a:ext cx="2733943" cy="741747"/>
            </a:xfrm>
            <a:prstGeom prst="rect">
              <a:avLst/>
            </a:prstGeom>
            <a:solidFill>
              <a:srgbClr val="FFFF99"/>
            </a:solidFill>
            <a:ln w="12700">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err="1">
                  <a:latin typeface="微软雅黑" pitchFamily="34" charset="-122"/>
                  <a:ea typeface="微软雅黑" pitchFamily="34" charset="-122"/>
                  <a:cs typeface="Times New Roman" pitchFamily="18" charset="0"/>
                </a:rPr>
                <a:t>ssthresh</a:t>
              </a:r>
              <a:r>
                <a:rPr lang="en-US" altLang="zh-CN" sz="1200" b="1" dirty="0">
                  <a:latin typeface="微软雅黑" pitchFamily="34" charset="-122"/>
                  <a:ea typeface="微软雅黑" pitchFamily="34" charset="-122"/>
                  <a:cs typeface="Times New Roman" pitchFamily="18" charset="0"/>
                </a:rPr>
                <a:t> = </a:t>
              </a:r>
              <a:r>
                <a:rPr lang="en-US" altLang="zh-CN" sz="1200" b="1" dirty="0" err="1">
                  <a:latin typeface="微软雅黑" pitchFamily="34" charset="-122"/>
                  <a:ea typeface="微软雅黑" pitchFamily="34" charset="-122"/>
                  <a:cs typeface="Times New Roman" pitchFamily="18" charset="0"/>
                </a:rPr>
                <a:t>cwnd</a:t>
              </a:r>
              <a:r>
                <a:rPr lang="en-US" altLang="zh-CN" sz="1200" b="1" dirty="0">
                  <a:latin typeface="微软雅黑" pitchFamily="34" charset="-122"/>
                  <a:ea typeface="微软雅黑" pitchFamily="34" charset="-122"/>
                  <a:cs typeface="Times New Roman" pitchFamily="18" charset="0"/>
                </a:rPr>
                <a:t> / 2</a:t>
              </a:r>
            </a:p>
            <a:p>
              <a:pPr algn="ctr" eaLnBrk="1" hangingPunct="1"/>
              <a:r>
                <a:rPr lang="en-US" altLang="zh-CN" sz="1200" b="1" dirty="0" err="1">
                  <a:latin typeface="微软雅黑" pitchFamily="34" charset="-122"/>
                  <a:ea typeface="微软雅黑" pitchFamily="34" charset="-122"/>
                  <a:cs typeface="Times New Roman" pitchFamily="18" charset="0"/>
                </a:rPr>
                <a:t>cwnd</a:t>
              </a:r>
              <a:r>
                <a:rPr lang="en-US" altLang="zh-CN" sz="1200" b="1" dirty="0">
                  <a:latin typeface="微软雅黑" pitchFamily="34" charset="-122"/>
                  <a:ea typeface="微软雅黑" pitchFamily="34" charset="-122"/>
                  <a:cs typeface="Times New Roman" pitchFamily="18" charset="0"/>
                </a:rPr>
                <a:t> = 1</a:t>
              </a:r>
              <a:endParaRPr lang="zh-CN" altLang="en-US" sz="1200" b="1" dirty="0">
                <a:latin typeface="微软雅黑" pitchFamily="34" charset="-122"/>
                <a:ea typeface="微软雅黑" pitchFamily="34" charset="-122"/>
                <a:cs typeface="Times New Roman" pitchFamily="18" charset="0"/>
              </a:endParaRPr>
            </a:p>
          </p:txBody>
        </p:sp>
        <p:cxnSp>
          <p:nvCxnSpPr>
            <p:cNvPr id="10" name="肘形连接符 9"/>
            <p:cNvCxnSpPr>
              <a:stCxn id="22" idx="1"/>
              <a:endCxn id="9" idx="2"/>
            </p:cNvCxnSpPr>
            <p:nvPr/>
          </p:nvCxnSpPr>
          <p:spPr>
            <a:xfrm rot="10800000">
              <a:off x="1408450" y="2129721"/>
              <a:ext cx="1402453" cy="678741"/>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1408450" y="2129723"/>
              <a:ext cx="1400631" cy="2845728"/>
            </a:xfrm>
            <a:prstGeom prst="bentConnector2">
              <a:avLst/>
            </a:prstGeom>
            <a:ln w="12700">
              <a:solidFill>
                <a:srgbClr val="0033CC"/>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7854125" y="3594000"/>
              <a:ext cx="3022939" cy="741747"/>
            </a:xfrm>
            <a:prstGeom prst="rect">
              <a:avLst/>
            </a:prstGeom>
            <a:solidFill>
              <a:srgbClr val="FFFF99"/>
            </a:solidFill>
            <a:ln w="9525">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a:latin typeface="微软雅黑" pitchFamily="34" charset="-122"/>
                  <a:ea typeface="微软雅黑" pitchFamily="34" charset="-122"/>
                  <a:cs typeface="Times New Roman" pitchFamily="18" charset="0"/>
                </a:rPr>
                <a:t>ssthresh = cwnd / 2</a:t>
              </a:r>
            </a:p>
            <a:p>
              <a:pPr algn="ctr" eaLnBrk="1" hangingPunct="1"/>
              <a:r>
                <a:rPr lang="en-US" altLang="zh-CN" sz="1200" b="1">
                  <a:latin typeface="微软雅黑" pitchFamily="34" charset="-122"/>
                  <a:ea typeface="微软雅黑" pitchFamily="34" charset="-122"/>
                  <a:cs typeface="Times New Roman" pitchFamily="18" charset="0"/>
                </a:rPr>
                <a:t>cwnd = ssthresh</a:t>
              </a:r>
              <a:endParaRPr lang="zh-CN" altLang="en-US" sz="1200" b="1">
                <a:latin typeface="微软雅黑" pitchFamily="34" charset="-122"/>
                <a:ea typeface="微软雅黑" pitchFamily="34" charset="-122"/>
                <a:cs typeface="Times New Roman" pitchFamily="18" charset="0"/>
              </a:endParaRPr>
            </a:p>
          </p:txBody>
        </p:sp>
        <p:cxnSp>
          <p:nvCxnSpPr>
            <p:cNvPr id="13" name="直接箭头连接符 12"/>
            <p:cNvCxnSpPr>
              <a:stCxn id="12" idx="1"/>
            </p:cNvCxnSpPr>
            <p:nvPr/>
          </p:nvCxnSpPr>
          <p:spPr>
            <a:xfrm flipH="1">
              <a:off x="5022057" y="3964874"/>
              <a:ext cx="2832067" cy="1271"/>
            </a:xfrm>
            <a:prstGeom prst="straightConnector1">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5022057" y="5558286"/>
              <a:ext cx="4762" cy="466726"/>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119516" y="5982150"/>
              <a:ext cx="1834895"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连接释放</a:t>
              </a:r>
            </a:p>
          </p:txBody>
        </p:sp>
        <p:sp>
          <p:nvSpPr>
            <p:cNvPr id="18" name="AutoShape 5"/>
            <p:cNvSpPr>
              <a:spLocks noChangeArrowheads="1"/>
            </p:cNvSpPr>
            <p:nvPr/>
          </p:nvSpPr>
          <p:spPr bwMode="auto">
            <a:xfrm>
              <a:off x="2809081" y="2154138"/>
              <a:ext cx="4870860" cy="1358938"/>
            </a:xfrm>
            <a:prstGeom prst="flowChartProcess">
              <a:avLst/>
            </a:prstGeom>
            <a:solidFill>
              <a:srgbClr val="0000FF"/>
            </a:solidFill>
            <a:ln w="12700">
              <a:solidFill>
                <a:schemeClr val="tx1"/>
              </a:solidFill>
              <a:miter lim="800000"/>
              <a:headEnd/>
              <a:tailEnd/>
            </a:ln>
            <a:effectLst>
              <a:outerShdw blurRad="50800" dist="38100" dir="2700000" algn="tl" rotWithShape="0">
                <a:prstClr val="black">
                  <a:alpha val="40000"/>
                </a:prstClr>
              </a:outerShdw>
            </a:effectLst>
          </p:spPr>
          <p:txBody>
            <a:bodyPr wrap="none" anchor="ctr"/>
            <a:lstStyle/>
            <a:p>
              <a:pPr algn="ctr">
                <a:defRPr/>
              </a:pPr>
              <a:endParaRPr lang="zh-CN" altLang="zh-CN" sz="1200" b="1">
                <a:effectLst>
                  <a:outerShdw blurRad="38100" dist="38100" dir="2700000" algn="tl">
                    <a:srgbClr val="000000">
                      <a:alpha val="43137"/>
                    </a:srgbClr>
                  </a:outerShdw>
                </a:effectLst>
                <a:latin typeface="微软雅黑" pitchFamily="34" charset="-122"/>
                <a:ea typeface="微软雅黑" pitchFamily="34" charset="-122"/>
              </a:endParaRPr>
            </a:p>
          </p:txBody>
        </p:sp>
        <p:sp>
          <p:nvSpPr>
            <p:cNvPr id="19" name="Text Box 15"/>
            <p:cNvSpPr txBox="1">
              <a:spLocks noChangeArrowheads="1"/>
            </p:cNvSpPr>
            <p:nvPr/>
          </p:nvSpPr>
          <p:spPr bwMode="auto">
            <a:xfrm>
              <a:off x="4472450" y="2118881"/>
              <a:ext cx="1038446"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rgbClr val="FFFF00"/>
                  </a:solidFill>
                  <a:latin typeface="微软雅黑" pitchFamily="34" charset="-122"/>
                  <a:ea typeface="微软雅黑" pitchFamily="34" charset="-122"/>
                </a:rPr>
                <a:t>慢开始</a:t>
              </a:r>
            </a:p>
          </p:txBody>
        </p:sp>
        <p:sp>
          <p:nvSpPr>
            <p:cNvPr id="20" name="Text Box 16"/>
            <p:cNvSpPr txBox="1">
              <a:spLocks noChangeArrowheads="1"/>
            </p:cNvSpPr>
            <p:nvPr/>
          </p:nvSpPr>
          <p:spPr bwMode="auto">
            <a:xfrm>
              <a:off x="3449325" y="2461317"/>
              <a:ext cx="3197835"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solidFill>
                    <a:srgbClr val="00FFFF"/>
                  </a:solidFill>
                  <a:latin typeface="微软雅黑" pitchFamily="34" charset="-122"/>
                  <a:ea typeface="微软雅黑" pitchFamily="34" charset="-122"/>
                </a:rPr>
                <a:t>初始拥塞窗口 </a:t>
              </a:r>
              <a:r>
                <a:rPr lang="en-US" altLang="zh-CN" sz="1200" b="1" dirty="0" err="1">
                  <a:solidFill>
                    <a:srgbClr val="00FFFF"/>
                  </a:solidFill>
                  <a:latin typeface="微软雅黑" pitchFamily="34" charset="-122"/>
                  <a:ea typeface="微软雅黑" pitchFamily="34" charset="-122"/>
                </a:rPr>
                <a:t>cwnd</a:t>
              </a:r>
              <a:r>
                <a:rPr lang="en-US" altLang="zh-CN" sz="1200" b="1" dirty="0">
                  <a:solidFill>
                    <a:srgbClr val="00FFFF"/>
                  </a:solidFill>
                  <a:latin typeface="微软雅黑" pitchFamily="34" charset="-122"/>
                  <a:ea typeface="微软雅黑" pitchFamily="34" charset="-122"/>
                </a:rPr>
                <a:t> =</a:t>
              </a:r>
              <a:r>
                <a:rPr lang="zh-CN" altLang="en-US" sz="1200" b="1" dirty="0">
                  <a:solidFill>
                    <a:srgbClr val="00FFFF"/>
                  </a:solidFill>
                  <a:latin typeface="微软雅黑" pitchFamily="34" charset="-122"/>
                  <a:ea typeface="微软雅黑" pitchFamily="34" charset="-122"/>
                </a:rPr>
                <a:t> </a:t>
              </a:r>
              <a:r>
                <a:rPr lang="en-US" altLang="zh-CN" sz="1200" b="1" dirty="0">
                  <a:solidFill>
                    <a:srgbClr val="00FFFF"/>
                  </a:solidFill>
                  <a:latin typeface="微软雅黑" pitchFamily="34" charset="-122"/>
                  <a:ea typeface="微软雅黑" pitchFamily="34" charset="-122"/>
                </a:rPr>
                <a:t>1 </a:t>
              </a:r>
              <a:endParaRPr lang="zh-CN" altLang="en-US" sz="1200" b="1" dirty="0">
                <a:solidFill>
                  <a:srgbClr val="00FFFF"/>
                </a:solidFill>
                <a:latin typeface="微软雅黑" pitchFamily="34" charset="-122"/>
                <a:ea typeface="微软雅黑" pitchFamily="34" charset="-122"/>
              </a:endParaRPr>
            </a:p>
            <a:p>
              <a:pPr algn="ctr" eaLnBrk="1" hangingPunct="1"/>
              <a:r>
                <a:rPr lang="zh-CN" altLang="en-US" sz="1200" b="1" dirty="0">
                  <a:solidFill>
                    <a:srgbClr val="00FFFF"/>
                  </a:solidFill>
                  <a:latin typeface="微软雅黑" pitchFamily="34" charset="-122"/>
                  <a:ea typeface="微软雅黑" pitchFamily="34" charset="-122"/>
                </a:rPr>
                <a:t>按指数规律</a:t>
              </a:r>
              <a:r>
                <a:rPr lang="zh-CN" altLang="en-US" sz="1100" b="1" dirty="0">
                  <a:solidFill>
                    <a:srgbClr val="00FFFF"/>
                  </a:solidFill>
                  <a:latin typeface="微软雅黑" pitchFamily="34" charset="-122"/>
                  <a:ea typeface="微软雅黑" pitchFamily="34" charset="-122"/>
                </a:rPr>
                <a:t>增大</a:t>
              </a:r>
              <a:endParaRPr lang="en-US" altLang="zh-CN" sz="1200" b="1" u="sng" dirty="0">
                <a:solidFill>
                  <a:srgbClr val="00FFFF"/>
                </a:solidFill>
                <a:latin typeface="微软雅黑" pitchFamily="34" charset="-122"/>
                <a:ea typeface="微软雅黑" pitchFamily="34" charset="-122"/>
                <a:sym typeface="Symbol" pitchFamily="18" charset="2"/>
              </a:endParaRPr>
            </a:p>
          </p:txBody>
        </p:sp>
        <p:sp>
          <p:nvSpPr>
            <p:cNvPr id="21" name="TextBox 25"/>
            <p:cNvSpPr txBox="1">
              <a:spLocks noChangeArrowheads="1"/>
            </p:cNvSpPr>
            <p:nvPr/>
          </p:nvSpPr>
          <p:spPr bwMode="auto">
            <a:xfrm>
              <a:off x="6332090" y="2443063"/>
              <a:ext cx="1395328"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b="1" dirty="0">
                  <a:solidFill>
                    <a:schemeClr val="bg1"/>
                  </a:solidFill>
                  <a:latin typeface="微软雅黑" pitchFamily="34" charset="-122"/>
                  <a:ea typeface="微软雅黑" pitchFamily="34" charset="-122"/>
                  <a:cs typeface="Times New Roman" pitchFamily="18" charset="0"/>
                </a:rPr>
                <a:t>3 </a:t>
              </a:r>
              <a:r>
                <a:rPr lang="zh-CN" altLang="en-US" sz="1200" b="1" dirty="0">
                  <a:solidFill>
                    <a:schemeClr val="bg1"/>
                  </a:solidFill>
                  <a:latin typeface="微软雅黑" pitchFamily="34" charset="-122"/>
                  <a:ea typeface="微软雅黑" pitchFamily="34" charset="-122"/>
                  <a:cs typeface="Times New Roman" pitchFamily="18" charset="0"/>
                </a:rPr>
                <a:t>个重复</a:t>
              </a:r>
              <a:endParaRPr lang="en-US" altLang="zh-CN" sz="1200" b="1" dirty="0">
                <a:solidFill>
                  <a:schemeClr val="bg1"/>
                </a:solidFill>
                <a:latin typeface="微软雅黑" pitchFamily="34" charset="-122"/>
                <a:ea typeface="微软雅黑" pitchFamily="34" charset="-122"/>
                <a:cs typeface="Times New Roman" pitchFamily="18" charset="0"/>
              </a:endParaRPr>
            </a:p>
            <a:p>
              <a:pPr algn="r" eaLnBrk="1" hangingPunct="1"/>
              <a:r>
                <a:rPr lang="zh-CN" altLang="en-US" sz="1200" b="1" dirty="0">
                  <a:solidFill>
                    <a:schemeClr val="bg1"/>
                  </a:solidFill>
                  <a:latin typeface="微软雅黑" pitchFamily="34" charset="-122"/>
                  <a:ea typeface="微软雅黑" pitchFamily="34" charset="-122"/>
                  <a:cs typeface="Times New Roman" pitchFamily="18" charset="0"/>
                </a:rPr>
                <a:t>的 </a:t>
              </a:r>
              <a:r>
                <a:rPr lang="en-US" altLang="zh-CN" sz="1200" b="1" dirty="0">
                  <a:solidFill>
                    <a:schemeClr val="bg1"/>
                  </a:solidFill>
                  <a:latin typeface="微软雅黑" pitchFamily="34" charset="-122"/>
                  <a:ea typeface="微软雅黑" pitchFamily="34" charset="-122"/>
                  <a:cs typeface="Times New Roman" pitchFamily="18" charset="0"/>
                </a:rPr>
                <a:t>ACK</a:t>
              </a:r>
              <a:endParaRPr lang="zh-CN" altLang="en-US" sz="1200" b="1" dirty="0">
                <a:solidFill>
                  <a:schemeClr val="bg1"/>
                </a:solidFill>
                <a:latin typeface="微软雅黑" pitchFamily="34" charset="-122"/>
                <a:ea typeface="微软雅黑" pitchFamily="34" charset="-122"/>
                <a:cs typeface="Times New Roman" pitchFamily="18" charset="0"/>
              </a:endParaRPr>
            </a:p>
          </p:txBody>
        </p:sp>
        <p:sp>
          <p:nvSpPr>
            <p:cNvPr id="22" name="TextBox 26"/>
            <p:cNvSpPr txBox="1">
              <a:spLocks noChangeArrowheads="1"/>
            </p:cNvSpPr>
            <p:nvPr/>
          </p:nvSpPr>
          <p:spPr bwMode="auto">
            <a:xfrm>
              <a:off x="2810904" y="2585937"/>
              <a:ext cx="791197"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chemeClr val="bg1"/>
                  </a:solidFill>
                  <a:latin typeface="微软雅黑" pitchFamily="34" charset="-122"/>
                  <a:ea typeface="微软雅黑" pitchFamily="34" charset="-122"/>
                </a:rPr>
                <a:t>超时</a:t>
              </a:r>
            </a:p>
          </p:txBody>
        </p:sp>
        <p:sp>
          <p:nvSpPr>
            <p:cNvPr id="23" name="TextBox 32"/>
            <p:cNvSpPr txBox="1">
              <a:spLocks noChangeArrowheads="1"/>
            </p:cNvSpPr>
            <p:nvPr/>
          </p:nvSpPr>
          <p:spPr bwMode="auto">
            <a:xfrm>
              <a:off x="3871432" y="3072779"/>
              <a:ext cx="2281180"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err="1">
                  <a:solidFill>
                    <a:schemeClr val="bg1"/>
                  </a:solidFill>
                  <a:latin typeface="微软雅黑" pitchFamily="34" charset="-122"/>
                  <a:ea typeface="微软雅黑" pitchFamily="34" charset="-122"/>
                </a:rPr>
                <a:t>cwnd</a:t>
              </a:r>
              <a:r>
                <a:rPr lang="en-US" altLang="zh-CN" sz="1200" b="1" dirty="0">
                  <a:solidFill>
                    <a:schemeClr val="bg1"/>
                  </a:solidFill>
                  <a:latin typeface="微软雅黑" pitchFamily="34" charset="-122"/>
                  <a:ea typeface="微软雅黑" pitchFamily="34" charset="-122"/>
                </a:rPr>
                <a:t> </a:t>
              </a:r>
              <a:r>
                <a:rPr lang="en-US" altLang="zh-CN" sz="1200" b="1" dirty="0">
                  <a:solidFill>
                    <a:schemeClr val="bg1"/>
                  </a:solidFill>
                  <a:latin typeface="微软雅黑" pitchFamily="34" charset="-122"/>
                  <a:ea typeface="微软雅黑" pitchFamily="34" charset="-122"/>
                  <a:sym typeface="Symbol" pitchFamily="18" charset="2"/>
                </a:rPr>
                <a:t> </a:t>
              </a:r>
              <a:r>
                <a:rPr lang="en-US" altLang="zh-CN" sz="1200" b="1" dirty="0" err="1">
                  <a:solidFill>
                    <a:schemeClr val="bg1"/>
                  </a:solidFill>
                  <a:latin typeface="微软雅黑" pitchFamily="34" charset="-122"/>
                  <a:ea typeface="微软雅黑" pitchFamily="34" charset="-122"/>
                  <a:sym typeface="Symbol" pitchFamily="18" charset="2"/>
                </a:rPr>
                <a:t>ssthresh</a:t>
              </a:r>
              <a:endParaRPr lang="zh-CN" altLang="en-US" sz="1200" b="1" dirty="0">
                <a:solidFill>
                  <a:schemeClr val="bg1"/>
                </a:solidFill>
                <a:latin typeface="微软雅黑" pitchFamily="34" charset="-122"/>
                <a:ea typeface="微软雅黑" pitchFamily="34" charset="-122"/>
              </a:endParaRPr>
            </a:p>
          </p:txBody>
        </p:sp>
        <p:sp>
          <p:nvSpPr>
            <p:cNvPr id="24" name="Text Box 15"/>
            <p:cNvSpPr txBox="1">
              <a:spLocks noChangeArrowheads="1"/>
            </p:cNvSpPr>
            <p:nvPr/>
          </p:nvSpPr>
          <p:spPr bwMode="auto">
            <a:xfrm>
              <a:off x="4411395" y="4338229"/>
              <a:ext cx="1285695"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solidFill>
                    <a:srgbClr val="A50021"/>
                  </a:solidFill>
                  <a:latin typeface="微软雅黑" pitchFamily="34" charset="-122"/>
                  <a:ea typeface="微软雅黑" pitchFamily="34" charset="-122"/>
                </a:rPr>
                <a:t>拥塞避免</a:t>
              </a:r>
            </a:p>
          </p:txBody>
        </p:sp>
        <p:sp>
          <p:nvSpPr>
            <p:cNvPr id="25" name="TextBox 41"/>
            <p:cNvSpPr txBox="1">
              <a:spLocks noChangeArrowheads="1"/>
            </p:cNvSpPr>
            <p:nvPr/>
          </p:nvSpPr>
          <p:spPr bwMode="auto">
            <a:xfrm>
              <a:off x="6379567" y="4642166"/>
              <a:ext cx="1347850"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b="1" dirty="0">
                  <a:solidFill>
                    <a:srgbClr val="0000FF"/>
                  </a:solidFill>
                  <a:latin typeface="微软雅黑" pitchFamily="34" charset="-122"/>
                  <a:ea typeface="微软雅黑" pitchFamily="34" charset="-122"/>
                  <a:cs typeface="Times New Roman" pitchFamily="18" charset="0"/>
                </a:rPr>
                <a:t>3 </a:t>
              </a:r>
              <a:r>
                <a:rPr lang="zh-CN" altLang="en-US" sz="1200" b="1" dirty="0">
                  <a:solidFill>
                    <a:srgbClr val="0000FF"/>
                  </a:solidFill>
                  <a:latin typeface="微软雅黑" pitchFamily="34" charset="-122"/>
                  <a:ea typeface="微软雅黑" pitchFamily="34" charset="-122"/>
                  <a:cs typeface="Times New Roman" pitchFamily="18" charset="0"/>
                </a:rPr>
                <a:t>个重复</a:t>
              </a:r>
              <a:endParaRPr lang="en-US" altLang="zh-CN" sz="1200" b="1" dirty="0">
                <a:solidFill>
                  <a:srgbClr val="0000FF"/>
                </a:solidFill>
                <a:latin typeface="微软雅黑" pitchFamily="34" charset="-122"/>
                <a:ea typeface="微软雅黑" pitchFamily="34" charset="-122"/>
                <a:cs typeface="Times New Roman" pitchFamily="18" charset="0"/>
              </a:endParaRPr>
            </a:p>
            <a:p>
              <a:pPr algn="r" eaLnBrk="1" hangingPunct="1"/>
              <a:r>
                <a:rPr lang="zh-CN" altLang="en-US" sz="1200" b="1" dirty="0">
                  <a:solidFill>
                    <a:srgbClr val="0000FF"/>
                  </a:solidFill>
                  <a:latin typeface="微软雅黑" pitchFamily="34" charset="-122"/>
                  <a:ea typeface="微软雅黑" pitchFamily="34" charset="-122"/>
                  <a:cs typeface="Times New Roman" pitchFamily="18" charset="0"/>
                </a:rPr>
                <a:t>的 </a:t>
              </a:r>
              <a:r>
                <a:rPr lang="en-US" altLang="zh-CN" sz="1200" b="1" dirty="0">
                  <a:solidFill>
                    <a:srgbClr val="0000FF"/>
                  </a:solidFill>
                  <a:latin typeface="微软雅黑" pitchFamily="34" charset="-122"/>
                  <a:ea typeface="微软雅黑" pitchFamily="34" charset="-122"/>
                  <a:cs typeface="Times New Roman" pitchFamily="18" charset="0"/>
                </a:rPr>
                <a:t>ACK</a:t>
              </a:r>
              <a:endParaRPr lang="zh-CN" altLang="en-US" sz="1200" b="1" dirty="0">
                <a:solidFill>
                  <a:srgbClr val="0000FF"/>
                </a:solidFill>
                <a:latin typeface="微软雅黑" pitchFamily="34" charset="-122"/>
                <a:ea typeface="微软雅黑" pitchFamily="34" charset="-122"/>
                <a:cs typeface="Times New Roman" pitchFamily="18" charset="0"/>
              </a:endParaRPr>
            </a:p>
          </p:txBody>
        </p:sp>
        <p:sp>
          <p:nvSpPr>
            <p:cNvPr id="26" name="TextBox 42"/>
            <p:cNvSpPr txBox="1">
              <a:spLocks noChangeArrowheads="1"/>
            </p:cNvSpPr>
            <p:nvPr/>
          </p:nvSpPr>
          <p:spPr bwMode="auto">
            <a:xfrm>
              <a:off x="2810904" y="4715163"/>
              <a:ext cx="791197"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超时</a:t>
              </a:r>
            </a:p>
          </p:txBody>
        </p:sp>
        <p:sp>
          <p:nvSpPr>
            <p:cNvPr id="27" name="Text Box 16"/>
            <p:cNvSpPr txBox="1">
              <a:spLocks noChangeArrowheads="1"/>
            </p:cNvSpPr>
            <p:nvPr/>
          </p:nvSpPr>
          <p:spPr bwMode="auto">
            <a:xfrm>
              <a:off x="3932016" y="4664561"/>
              <a:ext cx="2220366"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latin typeface="微软雅黑" pitchFamily="34" charset="-122"/>
                  <a:ea typeface="微软雅黑" pitchFamily="34" charset="-122"/>
                </a:rPr>
                <a:t>拥塞窗口 </a:t>
              </a:r>
              <a:r>
                <a:rPr lang="en-US" altLang="zh-CN" sz="1200" b="1" dirty="0" err="1">
                  <a:latin typeface="微软雅黑" pitchFamily="34" charset="-122"/>
                  <a:ea typeface="微软雅黑" pitchFamily="34" charset="-122"/>
                </a:rPr>
                <a:t>cwnd</a:t>
              </a:r>
              <a:r>
                <a:rPr lang="en-US" altLang="zh-CN" sz="1200" b="1" dirty="0">
                  <a:latin typeface="微软雅黑" pitchFamily="34" charset="-122"/>
                  <a:ea typeface="微软雅黑" pitchFamily="34" charset="-122"/>
                </a:rPr>
                <a:t> </a:t>
              </a:r>
              <a:endParaRPr lang="zh-CN" altLang="en-US" sz="1200" b="1" dirty="0">
                <a:latin typeface="微软雅黑" pitchFamily="34" charset="-122"/>
                <a:ea typeface="微软雅黑" pitchFamily="34" charset="-122"/>
              </a:endParaRPr>
            </a:p>
            <a:p>
              <a:pPr algn="ctr" eaLnBrk="1" hangingPunct="1"/>
              <a:r>
                <a:rPr lang="zh-CN" altLang="en-US" sz="1200" b="1" dirty="0">
                  <a:latin typeface="微软雅黑" pitchFamily="34" charset="-122"/>
                  <a:ea typeface="微软雅黑" pitchFamily="34" charset="-122"/>
                </a:rPr>
                <a:t>按线性规律增大</a:t>
              </a:r>
              <a:endParaRPr lang="en-US" altLang="zh-CN" sz="1200" b="1" u="sng" dirty="0">
                <a:latin typeface="微软雅黑" pitchFamily="34" charset="-122"/>
                <a:ea typeface="微软雅黑" pitchFamily="34" charset="-122"/>
                <a:sym typeface="Symbol" pitchFamily="18" charset="2"/>
              </a:endParaRPr>
            </a:p>
          </p:txBody>
        </p:sp>
        <p:grpSp>
          <p:nvGrpSpPr>
            <p:cNvPr id="28" name="组合 27"/>
            <p:cNvGrpSpPr/>
            <p:nvPr/>
          </p:nvGrpSpPr>
          <p:grpSpPr>
            <a:xfrm>
              <a:off x="2775422" y="1756579"/>
              <a:ext cx="1169466" cy="397559"/>
              <a:chOff x="2775422" y="1756579"/>
              <a:chExt cx="1169466" cy="397559"/>
            </a:xfrm>
          </p:grpSpPr>
          <p:cxnSp>
            <p:nvCxnSpPr>
              <p:cNvPr id="29" name="直接连接符 28"/>
              <p:cNvCxnSpPr/>
              <p:nvPr/>
            </p:nvCxnSpPr>
            <p:spPr bwMode="auto">
              <a:xfrm>
                <a:off x="2775422" y="1756579"/>
                <a:ext cx="1169466" cy="5"/>
              </a:xfrm>
              <a:prstGeom prst="line">
                <a:avLst/>
              </a:prstGeom>
              <a:solidFill>
                <a:schemeClr val="accent1"/>
              </a:solidFill>
              <a:ln w="12700" cap="flat" cmpd="sng" algn="ctr">
                <a:solidFill>
                  <a:srgbClr val="0033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944888" y="1756579"/>
                <a:ext cx="0" cy="397559"/>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sp>
        <p:nvSpPr>
          <p:cNvPr id="36" name="内容占位符 35">
            <a:extLst>
              <a:ext uri="{FF2B5EF4-FFF2-40B4-BE49-F238E27FC236}">
                <a16:creationId xmlns:a16="http://schemas.microsoft.com/office/drawing/2014/main" id="{B1B91335-7DA2-F41B-1459-0936169FC8F3}"/>
              </a:ext>
            </a:extLst>
          </p:cNvPr>
          <p:cNvSpPr>
            <a:spLocks noGrp="1"/>
          </p:cNvSpPr>
          <p:nvPr>
            <p:ph sz="quarter" idx="11"/>
          </p:nvPr>
        </p:nvSpPr>
        <p:spPr/>
        <p:txBody>
          <a:bodyPr/>
          <a:lstStyle/>
          <a:p>
            <a:endParaRPr lang="zh-CN" altLang="en-US"/>
          </a:p>
        </p:txBody>
      </p:sp>
      <p:sp>
        <p:nvSpPr>
          <p:cNvPr id="35" name="标题 34">
            <a:extLst>
              <a:ext uri="{FF2B5EF4-FFF2-40B4-BE49-F238E27FC236}">
                <a16:creationId xmlns:a16="http://schemas.microsoft.com/office/drawing/2014/main" id="{00A20A48-D1B6-50D1-8FAD-5BA1E06136F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75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463096" y="594384"/>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发送窗口的上限值</a:t>
            </a:r>
          </a:p>
        </p:txBody>
      </p:sp>
      <p:sp>
        <p:nvSpPr>
          <p:cNvPr id="4" name="Rectangle 68"/>
          <p:cNvSpPr>
            <a:spLocks noChangeArrowheads="1"/>
          </p:cNvSpPr>
          <p:nvPr/>
        </p:nvSpPr>
        <p:spPr bwMode="auto">
          <a:xfrm>
            <a:off x="556963" y="1895671"/>
            <a:ext cx="8184960" cy="8617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时，是接收方的</a:t>
            </a:r>
            <a:r>
              <a:rPr lang="zh-CN" altLang="en-US" sz="2000" b="1" dirty="0">
                <a:solidFill>
                  <a:srgbClr val="0000FF"/>
                </a:solidFill>
                <a:latin typeface="微软雅黑" pitchFamily="34" charset="-122"/>
                <a:ea typeface="微软雅黑" pitchFamily="34" charset="-122"/>
              </a:rPr>
              <a:t>接收能力</a:t>
            </a:r>
            <a:r>
              <a:rPr lang="zh-CN" altLang="en-US" sz="2000" b="1" dirty="0">
                <a:solidFill>
                  <a:srgbClr val="C00000"/>
                </a:solidFill>
                <a:latin typeface="微软雅黑" pitchFamily="34" charset="-122"/>
                <a:ea typeface="微软雅黑" pitchFamily="34" charset="-122"/>
              </a:rPr>
              <a:t>限制</a:t>
            </a:r>
            <a:r>
              <a:rPr lang="zh-CN" altLang="en-US" sz="2000" b="1" dirty="0">
                <a:latin typeface="微软雅黑" pitchFamily="34" charset="-122"/>
                <a:ea typeface="微软雅黑" pitchFamily="34" charset="-122"/>
              </a:rPr>
              <a:t>发送窗口的最大值。</a:t>
            </a: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时，是</a:t>
            </a:r>
            <a:r>
              <a:rPr lang="zh-CN" altLang="en-US" sz="2000" b="1" dirty="0">
                <a:solidFill>
                  <a:srgbClr val="0000FF"/>
                </a:solidFill>
                <a:latin typeface="微软雅黑" pitchFamily="34" charset="-122"/>
                <a:ea typeface="微软雅黑" pitchFamily="34" charset="-122"/>
              </a:rPr>
              <a:t>网络拥塞</a:t>
            </a:r>
            <a:r>
              <a:rPr lang="zh-CN" altLang="en-US" sz="2000" b="1" dirty="0">
                <a:solidFill>
                  <a:srgbClr val="C00000"/>
                </a:solidFill>
                <a:latin typeface="微软雅黑" pitchFamily="34" charset="-122"/>
                <a:ea typeface="微软雅黑" pitchFamily="34" charset="-122"/>
              </a:rPr>
              <a:t>限制</a:t>
            </a:r>
            <a:r>
              <a:rPr lang="zh-CN" altLang="en-US" sz="2000" b="1" dirty="0">
                <a:latin typeface="微软雅黑" pitchFamily="34" charset="-122"/>
                <a:ea typeface="微软雅黑" pitchFamily="34" charset="-122"/>
              </a:rPr>
              <a:t>发送窗口的最大值。 </a:t>
            </a:r>
          </a:p>
        </p:txBody>
      </p:sp>
      <p:sp>
        <p:nvSpPr>
          <p:cNvPr id="5" name="矩形 4"/>
          <p:cNvSpPr/>
          <p:nvPr/>
        </p:nvSpPr>
        <p:spPr>
          <a:xfrm>
            <a:off x="868047" y="1241137"/>
            <a:ext cx="7267284" cy="531100"/>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发送窗口的上限值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Min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(5-9)</a:t>
            </a:r>
          </a:p>
        </p:txBody>
      </p:sp>
      <p:sp>
        <p:nvSpPr>
          <p:cNvPr id="10" name="内容占位符 9">
            <a:extLst>
              <a:ext uri="{FF2B5EF4-FFF2-40B4-BE49-F238E27FC236}">
                <a16:creationId xmlns:a16="http://schemas.microsoft.com/office/drawing/2014/main" id="{E7DF95F4-E4BC-5BA6-8CB9-7B4A420CE952}"/>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454C5513-A595-EB5F-492A-79A59005527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5919"/>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602553" y="583648"/>
            <a:ext cx="393890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5.8.3   </a:t>
            </a:r>
            <a:r>
              <a:rPr lang="zh-CN" altLang="en-US" sz="2400" b="1" dirty="0">
                <a:solidFill>
                  <a:schemeClr val="bg1"/>
                </a:solidFill>
                <a:latin typeface="微软雅黑" pitchFamily="34" charset="-122"/>
                <a:ea typeface="微软雅黑" pitchFamily="34" charset="-122"/>
              </a:rPr>
              <a:t>主动队列管理 </a:t>
            </a:r>
            <a:r>
              <a:rPr lang="en-US" altLang="zh-CN" sz="2400" b="1" dirty="0">
                <a:solidFill>
                  <a:schemeClr val="bg1"/>
                </a:solidFill>
                <a:latin typeface="微软雅黑" pitchFamily="34" charset="-122"/>
                <a:ea typeface="微软雅黑" pitchFamily="34" charset="-122"/>
              </a:rPr>
              <a:t>AQM</a:t>
            </a:r>
            <a:endParaRPr lang="zh-CN" altLang="en-US" sz="2400" b="1" dirty="0">
              <a:solidFill>
                <a:schemeClr val="bg1"/>
              </a:solidFill>
              <a:latin typeface="微软雅黑" pitchFamily="34" charset="-122"/>
              <a:ea typeface="微软雅黑" pitchFamily="34" charset="-122"/>
            </a:endParaRPr>
          </a:p>
        </p:txBody>
      </p:sp>
      <p:sp>
        <p:nvSpPr>
          <p:cNvPr id="4" name="Rectangle 8"/>
          <p:cNvSpPr>
            <a:spLocks noChangeArrowheads="1"/>
          </p:cNvSpPr>
          <p:nvPr/>
        </p:nvSpPr>
        <p:spPr bwMode="auto">
          <a:xfrm>
            <a:off x="545143" y="1029517"/>
            <a:ext cx="8053711" cy="2750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拥塞控制和网络层采取的策略有密切联系。</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例如：</a:t>
            </a:r>
            <a:endParaRPr lang="en-US" altLang="zh-CN" sz="2000" b="1" dirty="0">
              <a:latin typeface="微软雅黑" pitchFamily="34" charset="-122"/>
              <a:ea typeface="微软雅黑"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若路由器对某些分组的处理时间特别长，就可能引起发送方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超时，对这些报文段进行重传。</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重传会使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连接的发送端认为在网络中发生了拥塞，但实际上网络并没有发生拥塞。</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对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拥塞控制</a:t>
            </a:r>
            <a:r>
              <a:rPr lang="zh-CN" altLang="en-US" sz="2000" b="1" dirty="0">
                <a:solidFill>
                  <a:srgbClr val="C00000"/>
                </a:solidFill>
                <a:latin typeface="微软雅黑" pitchFamily="34" charset="-122"/>
                <a:ea typeface="微软雅黑" pitchFamily="34" charset="-122"/>
              </a:rPr>
              <a:t>影响最大</a:t>
            </a:r>
            <a:r>
              <a:rPr lang="zh-CN" altLang="en-US" sz="2000" b="1" dirty="0">
                <a:solidFill>
                  <a:srgbClr val="0000FF"/>
                </a:solidFill>
                <a:latin typeface="微软雅黑" pitchFamily="34" charset="-122"/>
                <a:ea typeface="微软雅黑" pitchFamily="34" charset="-122"/>
              </a:rPr>
              <a:t>的就是路由器的</a:t>
            </a:r>
            <a:r>
              <a:rPr lang="zh-CN" altLang="en-US" sz="2000" b="1" dirty="0">
                <a:solidFill>
                  <a:srgbClr val="C00000"/>
                </a:solidFill>
                <a:latin typeface="微软雅黑" pitchFamily="34" charset="-122"/>
                <a:ea typeface="微软雅黑" pitchFamily="34" charset="-122"/>
              </a:rPr>
              <a:t>分组丢弃策略。</a:t>
            </a:r>
          </a:p>
        </p:txBody>
      </p:sp>
      <p:sp>
        <p:nvSpPr>
          <p:cNvPr id="9" name="内容占位符 8">
            <a:extLst>
              <a:ext uri="{FF2B5EF4-FFF2-40B4-BE49-F238E27FC236}">
                <a16:creationId xmlns:a16="http://schemas.microsoft.com/office/drawing/2014/main" id="{B013F4D5-24AC-E41C-C4BE-C72246B5EFE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6078323-2DDB-02E6-CC64-0ADFE0DEEF0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23498" y="589202"/>
            <a:ext cx="35157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 </a:t>
            </a:r>
            <a:r>
              <a:rPr lang="zh-CN" altLang="en-US" sz="2000" b="1" dirty="0">
                <a:solidFill>
                  <a:schemeClr val="bg1"/>
                </a:solidFill>
                <a:latin typeface="微软雅黑" pitchFamily="34" charset="-122"/>
                <a:ea typeface="微软雅黑" pitchFamily="34" charset="-122"/>
              </a:rPr>
              <a:t>处理规则</a:t>
            </a:r>
          </a:p>
        </p:txBody>
      </p:sp>
      <p:sp>
        <p:nvSpPr>
          <p:cNvPr id="4" name="Rectangle 68"/>
          <p:cNvSpPr>
            <a:spLocks noChangeArrowheads="1"/>
          </p:cNvSpPr>
          <p:nvPr/>
        </p:nvSpPr>
        <p:spPr bwMode="auto">
          <a:xfrm>
            <a:off x="556963" y="985512"/>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先进先出</a:t>
            </a:r>
            <a:r>
              <a:rPr lang="en-US" altLang="zh-CN" sz="2000" b="1" dirty="0">
                <a:solidFill>
                  <a:srgbClr val="C00000"/>
                </a:solidFill>
                <a:latin typeface="微软雅黑" pitchFamily="34" charset="-122"/>
                <a:ea typeface="微软雅黑" pitchFamily="34" charset="-122"/>
              </a:rPr>
              <a:t>FIFO </a:t>
            </a:r>
            <a:r>
              <a:rPr lang="en-US" altLang="zh-CN" sz="2000" b="1" dirty="0">
                <a:latin typeface="微软雅黑" pitchFamily="34" charset="-122"/>
                <a:ea typeface="微软雅黑" pitchFamily="34" charset="-122"/>
              </a:rPr>
              <a:t>(First In First Out) </a:t>
            </a:r>
            <a:r>
              <a:rPr lang="zh-CN" altLang="en-US" sz="2000" b="1" dirty="0">
                <a:latin typeface="微软雅黑" pitchFamily="34" charset="-122"/>
                <a:ea typeface="微软雅黑" pitchFamily="34" charset="-122"/>
              </a:rPr>
              <a:t>处理规则：</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尾部丢弃策略 </a:t>
            </a:r>
            <a:r>
              <a:rPr lang="en-US" altLang="zh-CN" sz="2000" b="1" dirty="0">
                <a:latin typeface="微软雅黑" pitchFamily="34" charset="-122"/>
                <a:ea typeface="微软雅黑" pitchFamily="34" charset="-122"/>
              </a:rPr>
              <a:t>(tail-drop policy)</a:t>
            </a:r>
            <a:r>
              <a:rPr lang="zh-CN" altLang="en-US" sz="2000" b="1" dirty="0">
                <a:latin typeface="微软雅黑" pitchFamily="34" charset="-122"/>
                <a:ea typeface="微软雅黑" pitchFamily="34" charset="-122"/>
              </a:rPr>
              <a:t>：当队列已满时，以后到达的所有分组（如果能够继续排队，这些分组都将排在队列的尾部）将都被丢弃。</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路由器的尾部丢弃往往会导致一连串分组的丢失，这就使发送方出现超时重传，使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进入拥塞控制的慢开始状态，结果使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连接的发送方突然把数据的发送速率降低到很小的数值。</a:t>
            </a:r>
          </a:p>
        </p:txBody>
      </p:sp>
      <p:sp>
        <p:nvSpPr>
          <p:cNvPr id="9" name="内容占位符 8">
            <a:extLst>
              <a:ext uri="{FF2B5EF4-FFF2-40B4-BE49-F238E27FC236}">
                <a16:creationId xmlns:a16="http://schemas.microsoft.com/office/drawing/2014/main" id="{93FCE023-E2F4-3A8C-D8B3-2AF82D4AFD15}"/>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0AAF2B4-5620-2208-973D-77E7186B6BB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15398"/>
            <a:ext cx="8048776" cy="320780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1932808" y="589202"/>
            <a:ext cx="52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a:t>
            </a:r>
            <a:r>
              <a:rPr lang="zh-CN" altLang="en-US" sz="2000" b="1" dirty="0">
                <a:solidFill>
                  <a:schemeClr val="bg1"/>
                </a:solidFill>
                <a:latin typeface="微软雅黑" pitchFamily="34" charset="-122"/>
                <a:ea typeface="微软雅黑" pitchFamily="34" charset="-122"/>
              </a:rPr>
              <a:t>）处理规则与尾部丢弃策略</a:t>
            </a:r>
          </a:p>
        </p:txBody>
      </p:sp>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5" name="内容占位符 14">
            <a:extLst>
              <a:ext uri="{FF2B5EF4-FFF2-40B4-BE49-F238E27FC236}">
                <a16:creationId xmlns:a16="http://schemas.microsoft.com/office/drawing/2014/main" id="{4E695EA1-3371-3B90-8227-0101435A8FB0}"/>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ADC8FA35-F415-FF99-5C36-23C05C6F2A6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08799"/>
            <a:ext cx="8048776" cy="33181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7"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8" name="Rectangle 6"/>
          <p:cNvSpPr>
            <a:spLocks noChangeArrowheads="1"/>
          </p:cNvSpPr>
          <p:nvPr/>
        </p:nvSpPr>
        <p:spPr bwMode="auto">
          <a:xfrm>
            <a:off x="1932808" y="589202"/>
            <a:ext cx="52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a:t>
            </a:r>
            <a:r>
              <a:rPr lang="zh-CN" altLang="en-US" sz="2000" b="1" dirty="0">
                <a:solidFill>
                  <a:schemeClr val="bg1"/>
                </a:solidFill>
                <a:latin typeface="微软雅黑" pitchFamily="34" charset="-122"/>
                <a:ea typeface="微软雅黑" pitchFamily="34" charset="-122"/>
              </a:rPr>
              <a:t>）处理规则与尾部丢弃策略</a:t>
            </a:r>
          </a:p>
        </p:txBody>
      </p:sp>
      <p:sp>
        <p:nvSpPr>
          <p:cNvPr id="6" name="内容占位符 5">
            <a:extLst>
              <a:ext uri="{FF2B5EF4-FFF2-40B4-BE49-F238E27FC236}">
                <a16:creationId xmlns:a16="http://schemas.microsoft.com/office/drawing/2014/main" id="{D64E6BDC-57E6-6BC8-E9FA-43CD69B97E6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398F9295-56CC-A398-F6D9-64B8B43B261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56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4856" y="588353"/>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严重问题：全局同步</a:t>
            </a:r>
          </a:p>
        </p:txBody>
      </p:sp>
      <p:sp>
        <p:nvSpPr>
          <p:cNvPr id="5" name="圆角矩形 4"/>
          <p:cNvSpPr/>
          <p:nvPr/>
        </p:nvSpPr>
        <p:spPr>
          <a:xfrm>
            <a:off x="556963" y="1005971"/>
            <a:ext cx="8048776" cy="28868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19" name="内容占位符 18">
            <a:extLst>
              <a:ext uri="{FF2B5EF4-FFF2-40B4-BE49-F238E27FC236}">
                <a16:creationId xmlns:a16="http://schemas.microsoft.com/office/drawing/2014/main" id="{EB542B0E-3ECC-974E-F900-C0483BFBAAA7}"/>
              </a:ext>
            </a:extLst>
          </p:cNvPr>
          <p:cNvSpPr>
            <a:spLocks noGrp="1"/>
          </p:cNvSpPr>
          <p:nvPr>
            <p:ph sz="quarter" idx="11"/>
          </p:nvPr>
        </p:nvSpPr>
        <p:spPr/>
        <p:txBody>
          <a:bodyPr/>
          <a:lstStyle/>
          <a:p>
            <a:endParaRPr lang="zh-CN" altLang="en-US"/>
          </a:p>
        </p:txBody>
      </p:sp>
      <p:sp>
        <p:nvSpPr>
          <p:cNvPr id="18" name="标题 17">
            <a:extLst>
              <a:ext uri="{FF2B5EF4-FFF2-40B4-BE49-F238E27FC236}">
                <a16:creationId xmlns:a16="http://schemas.microsoft.com/office/drawing/2014/main" id="{82188499-3004-C322-5C6E-295D98FB9C9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01687"/>
            <a:ext cx="8048776" cy="33912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46" name="AutoShape 5"/>
          <p:cNvSpPr>
            <a:spLocks noChangeArrowheads="1"/>
          </p:cNvSpPr>
          <p:nvPr/>
        </p:nvSpPr>
        <p:spPr bwMode="auto">
          <a:xfrm>
            <a:off x="556963" y="62156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3334856" y="588353"/>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严重问题：全局同步</a:t>
            </a:r>
          </a:p>
        </p:txBody>
      </p:sp>
      <p:sp>
        <p:nvSpPr>
          <p:cNvPr id="7" name="内容占位符 6">
            <a:extLst>
              <a:ext uri="{FF2B5EF4-FFF2-40B4-BE49-F238E27FC236}">
                <a16:creationId xmlns:a16="http://schemas.microsoft.com/office/drawing/2014/main" id="{29449913-5B0B-23F6-B99B-1D1500932FC8}"/>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D1CEE4E-9713-F96E-178F-E66AD7B27FCD}"/>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84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47680" y="588636"/>
            <a:ext cx="246734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84946"/>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1998 </a:t>
            </a:r>
            <a:r>
              <a:rPr lang="zh-CN" altLang="en-US" sz="2000" b="1" dirty="0">
                <a:latin typeface="微软雅黑" pitchFamily="34" charset="-122"/>
                <a:ea typeface="微软雅黑" pitchFamily="34" charset="-122"/>
              </a:rPr>
              <a:t>年提出了主动队列管理 </a:t>
            </a:r>
            <a:r>
              <a:rPr lang="en-US" altLang="zh-CN" sz="2000" b="1" dirty="0">
                <a:latin typeface="微软雅黑" pitchFamily="34" charset="-122"/>
                <a:ea typeface="微软雅黑" pitchFamily="34" charset="-122"/>
              </a:rPr>
              <a:t>AQM (Active Queue Management)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主动：</a:t>
            </a:r>
            <a:r>
              <a:rPr lang="zh-CN" altLang="en-US" sz="2000" b="1" dirty="0">
                <a:latin typeface="微软雅黑" pitchFamily="34" charset="-122"/>
                <a:ea typeface="微软雅黑" pitchFamily="34" charset="-122"/>
              </a:rPr>
              <a:t>不要等到路由器的队列长度已经达到最大值时才不得不丢弃后面到达的分组，而是在队列长度</a:t>
            </a:r>
            <a:r>
              <a:rPr lang="zh-CN" altLang="en-US" sz="2000" b="1" dirty="0">
                <a:solidFill>
                  <a:srgbClr val="0000FF"/>
                </a:solidFill>
                <a:latin typeface="微软雅黑" pitchFamily="34" charset="-122"/>
                <a:ea typeface="微软雅黑" pitchFamily="34" charset="-122"/>
              </a:rPr>
              <a:t>达到某个值得警惕的数值时</a:t>
            </a:r>
            <a:r>
              <a:rPr lang="zh-CN" altLang="en-US" sz="2000" b="1" dirty="0">
                <a:latin typeface="微软雅黑" pitchFamily="34" charset="-122"/>
                <a:ea typeface="微软雅黑" pitchFamily="34" charset="-122"/>
              </a:rPr>
              <a:t>（即当网络拥塞有了某些拥塞征兆时），就</a:t>
            </a:r>
            <a:r>
              <a:rPr lang="zh-CN" altLang="en-US" sz="2000" b="1" dirty="0">
                <a:solidFill>
                  <a:srgbClr val="0000FF"/>
                </a:solidFill>
                <a:latin typeface="微软雅黑" pitchFamily="34" charset="-122"/>
                <a:ea typeface="微软雅黑" pitchFamily="34" charset="-122"/>
              </a:rPr>
              <a:t>主动丢弃</a:t>
            </a:r>
            <a:r>
              <a:rPr lang="zh-CN" altLang="en-US" sz="2000" b="1" dirty="0">
                <a:latin typeface="微软雅黑" pitchFamily="34" charset="-122"/>
                <a:ea typeface="微软雅黑" pitchFamily="34" charset="-122"/>
              </a:rPr>
              <a:t>到达的分组。</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AQM </a:t>
            </a:r>
            <a:r>
              <a:rPr lang="zh-CN" altLang="en-US" sz="2000" b="1" dirty="0">
                <a:latin typeface="微软雅黑" pitchFamily="34" charset="-122"/>
                <a:ea typeface="微软雅黑" pitchFamily="34" charset="-122"/>
              </a:rPr>
              <a:t>可以有不同实现方法，其中曾流行多年的就是</a:t>
            </a:r>
            <a:r>
              <a:rPr lang="zh-CN" altLang="en-US" sz="2000" b="1" dirty="0">
                <a:solidFill>
                  <a:srgbClr val="C00000"/>
                </a:solidFill>
                <a:latin typeface="微软雅黑" pitchFamily="34" charset="-122"/>
                <a:ea typeface="微软雅黑" pitchFamily="34" charset="-122"/>
              </a:rPr>
              <a:t>随机早期检测 </a:t>
            </a:r>
            <a:r>
              <a:rPr lang="en-US" altLang="zh-CN" sz="2000" b="1" dirty="0">
                <a:solidFill>
                  <a:srgbClr val="C00000"/>
                </a:solidFill>
                <a:latin typeface="微软雅黑" pitchFamily="34" charset="-122"/>
                <a:ea typeface="微软雅黑" pitchFamily="34" charset="-122"/>
              </a:rPr>
              <a:t>RED</a:t>
            </a:r>
            <a:r>
              <a:rPr lang="en-US" altLang="zh-CN" sz="2000" b="1" dirty="0">
                <a:solidFill>
                  <a:srgbClr val="0000FF"/>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(Random Early Detection)</a:t>
            </a:r>
            <a:r>
              <a:rPr lang="zh-CN" altLang="en-US" sz="2000" b="1" dirty="0">
                <a:latin typeface="微软雅黑" pitchFamily="34" charset="-122"/>
                <a:ea typeface="微软雅黑" pitchFamily="34" charset="-122"/>
              </a:rPr>
              <a:t>。</a:t>
            </a:r>
          </a:p>
        </p:txBody>
      </p:sp>
      <p:sp>
        <p:nvSpPr>
          <p:cNvPr id="9" name="内容占位符 8">
            <a:extLst>
              <a:ext uri="{FF2B5EF4-FFF2-40B4-BE49-F238E27FC236}">
                <a16:creationId xmlns:a16="http://schemas.microsoft.com/office/drawing/2014/main" id="{3ACBE005-CC6A-3CE9-1E3E-9AA59A4C2901}"/>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A31D2CB-D21A-E655-9096-539881F4DEC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213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6152" y="588919"/>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48653"/>
            <a:ext cx="8184960" cy="390106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路由器队列维持两个参数：</a:t>
            </a:r>
            <a:endParaRPr lang="en-US" altLang="zh-CN" sz="2000" b="1" dirty="0">
              <a:latin typeface="微软雅黑" pitchFamily="34" charset="-122"/>
              <a:ea typeface="微软雅黑"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队列长度</a:t>
            </a:r>
            <a:r>
              <a:rPr lang="zh-CN" altLang="en-US" sz="2000" b="1" dirty="0">
                <a:solidFill>
                  <a:srgbClr val="C00000"/>
                </a:solidFill>
                <a:latin typeface="微软雅黑" pitchFamily="34" charset="-122"/>
                <a:ea typeface="微软雅黑" pitchFamily="34" charset="-122"/>
              </a:rPr>
              <a:t>最小</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en-US" altLang="zh-CN" sz="2000" b="1" dirty="0">
                <a:latin typeface="微软雅黑" pitchFamily="34" charset="-122"/>
                <a:ea typeface="微软雅黑" pitchFamily="34" charset="-122"/>
              </a:rPr>
              <a:t> </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队列长度</a:t>
            </a:r>
            <a:r>
              <a:rPr lang="zh-CN" altLang="en-US" sz="2000" b="1" dirty="0">
                <a:solidFill>
                  <a:srgbClr val="C00000"/>
                </a:solidFill>
                <a:latin typeface="微软雅黑" pitchFamily="34" charset="-122"/>
                <a:ea typeface="微软雅黑" pitchFamily="34" charset="-122"/>
              </a:rPr>
              <a:t>最大</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max</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RED </a:t>
            </a:r>
            <a:r>
              <a:rPr lang="zh-CN" altLang="en-US" sz="2000" b="1" dirty="0">
                <a:latin typeface="微软雅黑" pitchFamily="34" charset="-122"/>
                <a:ea typeface="微软雅黑" pitchFamily="34" charset="-122"/>
              </a:rPr>
              <a:t>对每一个到达的分组都先计算平均队列长度 </a:t>
            </a:r>
            <a:r>
              <a:rPr lang="en-US" altLang="zh-CN" sz="2000" b="1" i="1" dirty="0">
                <a:latin typeface="微软雅黑" pitchFamily="34" charset="-122"/>
                <a:ea typeface="微软雅黑" pitchFamily="34" charset="-122"/>
              </a:rPr>
              <a:t>L</a:t>
            </a:r>
            <a:r>
              <a:rPr lang="en-US" altLang="zh-CN" sz="2000" b="1" baseline="-25000" dirty="0">
                <a:latin typeface="微软雅黑" pitchFamily="34" charset="-122"/>
                <a:ea typeface="微软雅黑" pitchFamily="34" charset="-122"/>
              </a:rPr>
              <a:t>AV</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小于最小</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zh-CN" altLang="en-US" sz="2000" b="1" dirty="0">
                <a:latin typeface="微软雅黑" pitchFamily="34" charset="-122"/>
                <a:ea typeface="微软雅黑" pitchFamily="34" charset="-122"/>
              </a:rPr>
              <a:t>，则将新到达的分组放入队列进行排队。</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超过最大</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max</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，则将新到达的分组丢弃。</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介于</a:t>
            </a:r>
            <a:r>
              <a:rPr lang="zh-CN" altLang="en-US" sz="2000" b="1" dirty="0">
                <a:latin typeface="微软雅黑" pitchFamily="34" charset="-122"/>
                <a:ea typeface="微软雅黑" pitchFamily="34" charset="-122"/>
              </a:rPr>
              <a:t>在最小门限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和最大门限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ax</a:t>
            </a:r>
            <a:r>
              <a:rPr lang="en-US" altLang="zh-CN" sz="2000" b="1" dirty="0">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之间</a:t>
            </a:r>
            <a:r>
              <a:rPr lang="zh-CN" altLang="en-US" sz="2000" b="1" dirty="0">
                <a:latin typeface="微软雅黑" pitchFamily="34" charset="-122"/>
                <a:ea typeface="微软雅黑" pitchFamily="34" charset="-122"/>
              </a:rPr>
              <a:t>，则按照某一</a:t>
            </a:r>
            <a:r>
              <a:rPr lang="zh-CN" altLang="en-US" sz="2000" b="1" dirty="0">
                <a:solidFill>
                  <a:srgbClr val="0000FF"/>
                </a:solidFill>
                <a:latin typeface="微软雅黑" pitchFamily="34" charset="-122"/>
                <a:ea typeface="微软雅黑" pitchFamily="34" charset="-122"/>
              </a:rPr>
              <a:t>概率 </a:t>
            </a:r>
            <a:r>
              <a:rPr lang="en-US" altLang="zh-CN" sz="2000" b="1" i="1" dirty="0">
                <a:solidFill>
                  <a:srgbClr val="0000FF"/>
                </a:solidFill>
                <a:latin typeface="微软雅黑" pitchFamily="34" charset="-122"/>
                <a:ea typeface="微软雅黑" pitchFamily="34" charset="-122"/>
              </a:rPr>
              <a:t>p</a:t>
            </a:r>
            <a:r>
              <a:rPr lang="en-US" altLang="zh-CN" sz="2000" b="1" dirty="0">
                <a:solidFill>
                  <a:srgbClr val="0000FF"/>
                </a:solidFill>
                <a:latin typeface="微软雅黑" pitchFamily="34" charset="-122"/>
                <a:ea typeface="微软雅黑" pitchFamily="34" charset="-122"/>
              </a:rPr>
              <a:t> </a:t>
            </a:r>
            <a:r>
              <a:rPr lang="zh-CN" altLang="en-US" sz="2000" b="1" dirty="0">
                <a:latin typeface="微软雅黑" pitchFamily="34" charset="-122"/>
                <a:ea typeface="微软雅黑" pitchFamily="34" charset="-122"/>
              </a:rPr>
              <a:t>将新到达的分组丢弃。</a:t>
            </a:r>
          </a:p>
        </p:txBody>
      </p:sp>
      <p:sp>
        <p:nvSpPr>
          <p:cNvPr id="9" name="内容占位符 8">
            <a:extLst>
              <a:ext uri="{FF2B5EF4-FFF2-40B4-BE49-F238E27FC236}">
                <a16:creationId xmlns:a16="http://schemas.microsoft.com/office/drawing/2014/main" id="{751A019F-CF88-D021-E368-14E7FFA4D75D}"/>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A2FBE126-4901-BB27-52C5-33DBED8AE69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427955"/>
            <a:ext cx="8048776" cy="286415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56963" y="62627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6152" y="583636"/>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42" name="内容占位符 41">
            <a:extLst>
              <a:ext uri="{FF2B5EF4-FFF2-40B4-BE49-F238E27FC236}">
                <a16:creationId xmlns:a16="http://schemas.microsoft.com/office/drawing/2014/main" id="{A4D9958E-2AFD-5E52-64DF-FD85CF19C058}"/>
              </a:ext>
            </a:extLst>
          </p:cNvPr>
          <p:cNvSpPr>
            <a:spLocks noGrp="1"/>
          </p:cNvSpPr>
          <p:nvPr>
            <p:ph sz="quarter" idx="11"/>
          </p:nvPr>
        </p:nvSpPr>
        <p:spPr/>
        <p:txBody>
          <a:bodyPr/>
          <a:lstStyle/>
          <a:p>
            <a:endParaRPr lang="zh-CN" altLang="en-US"/>
          </a:p>
        </p:txBody>
      </p:sp>
      <p:sp>
        <p:nvSpPr>
          <p:cNvPr id="41" name="标题 40">
            <a:extLst>
              <a:ext uri="{FF2B5EF4-FFF2-40B4-BE49-F238E27FC236}">
                <a16:creationId xmlns:a16="http://schemas.microsoft.com/office/drawing/2014/main" id="{0C51DEE7-D517-F729-C285-6224C35F4B4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56963" y="2071154"/>
            <a:ext cx="8048776" cy="229053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3386152" y="589768"/>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内容占位符 13">
            <a:extLst>
              <a:ext uri="{FF2B5EF4-FFF2-40B4-BE49-F238E27FC236}">
                <a16:creationId xmlns:a16="http://schemas.microsoft.com/office/drawing/2014/main" id="{D8EBB747-5C82-8D85-74DC-851C454B1389}"/>
              </a:ext>
            </a:extLst>
          </p:cNvPr>
          <p:cNvSpPr>
            <a:spLocks noGrp="1"/>
          </p:cNvSpPr>
          <p:nvPr>
            <p:ph sz="quarter" idx="11"/>
          </p:nvPr>
        </p:nvSpPr>
        <p:spPr/>
        <p:txBody>
          <a:bodyPr/>
          <a:lstStyle/>
          <a:p>
            <a:endParaRPr lang="zh-CN" altLang="en-US"/>
          </a:p>
        </p:txBody>
      </p:sp>
      <p:sp>
        <p:nvSpPr>
          <p:cNvPr id="13" name="标题 12">
            <a:extLst>
              <a:ext uri="{FF2B5EF4-FFF2-40B4-BE49-F238E27FC236}">
                <a16:creationId xmlns:a16="http://schemas.microsoft.com/office/drawing/2014/main" id="{614D9BD1-F728-0F54-8902-98AA9C5548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56963" y="989283"/>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多年的实践证明，</a:t>
            </a:r>
            <a:r>
              <a:rPr lang="en-US" altLang="zh-CN" sz="2000" b="1" dirty="0">
                <a:solidFill>
                  <a:srgbClr val="0000FF"/>
                </a:solidFill>
                <a:latin typeface="微软雅黑" pitchFamily="34" charset="-122"/>
                <a:ea typeface="微软雅黑" pitchFamily="34" charset="-122"/>
              </a:rPr>
              <a:t>RED </a:t>
            </a:r>
            <a:r>
              <a:rPr lang="zh-CN" altLang="en-US" sz="2000" b="1" dirty="0">
                <a:solidFill>
                  <a:srgbClr val="0000FF"/>
                </a:solidFill>
                <a:latin typeface="微软雅黑" pitchFamily="34" charset="-122"/>
                <a:ea typeface="微软雅黑" pitchFamily="34" charset="-122"/>
              </a:rPr>
              <a:t>的使用效果并不太理想</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2015 </a:t>
            </a:r>
            <a:r>
              <a:rPr lang="zh-CN" altLang="en-US" sz="2000" b="1" dirty="0">
                <a:latin typeface="微软雅黑" pitchFamily="34" charset="-122"/>
                <a:ea typeface="微软雅黑" pitchFamily="34" charset="-122"/>
              </a:rPr>
              <a:t>年公布的 </a:t>
            </a:r>
            <a:r>
              <a:rPr lang="en-US" altLang="zh-CN" sz="2000" b="1" dirty="0">
                <a:latin typeface="微软雅黑" pitchFamily="34" charset="-122"/>
                <a:ea typeface="微软雅黑" pitchFamily="34" charset="-122"/>
              </a:rPr>
              <a:t>RFC 7567 </a:t>
            </a:r>
            <a:r>
              <a:rPr lang="zh-CN" altLang="en-US" sz="2000" b="1" dirty="0">
                <a:latin typeface="微软雅黑" pitchFamily="34" charset="-122"/>
                <a:ea typeface="微软雅黑" pitchFamily="34" charset="-122"/>
              </a:rPr>
              <a:t>已经把 </a:t>
            </a:r>
            <a:r>
              <a:rPr lang="en-US" altLang="zh-CN" sz="2000" b="1" dirty="0">
                <a:latin typeface="微软雅黑" pitchFamily="34" charset="-122"/>
                <a:ea typeface="微软雅黑" pitchFamily="34" charset="-122"/>
              </a:rPr>
              <a:t>RFC 2309 </a:t>
            </a:r>
            <a:r>
              <a:rPr lang="zh-CN" altLang="en-US" sz="2000" b="1" dirty="0">
                <a:latin typeface="微软雅黑" pitchFamily="34" charset="-122"/>
                <a:ea typeface="微软雅黑" pitchFamily="34" charset="-122"/>
              </a:rPr>
              <a:t>列为“陈旧的”，并且不再推荐使用 </a:t>
            </a:r>
            <a:r>
              <a:rPr lang="en-US" altLang="zh-CN" sz="2000" b="1" dirty="0">
                <a:latin typeface="微软雅黑" pitchFamily="34" charset="-122"/>
                <a:ea typeface="微软雅黑" pitchFamily="34" charset="-122"/>
              </a:rPr>
              <a:t>RED</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但对路由器进行主动队列管理 </a:t>
            </a:r>
            <a:r>
              <a:rPr lang="en-US" altLang="zh-CN" sz="2000" b="1" dirty="0">
                <a:latin typeface="微软雅黑" pitchFamily="34" charset="-122"/>
                <a:ea typeface="微软雅黑" pitchFamily="34" charset="-122"/>
              </a:rPr>
              <a:t>AQM </a:t>
            </a:r>
            <a:r>
              <a:rPr lang="zh-CN" altLang="en-US" sz="2000" b="1" dirty="0">
                <a:latin typeface="微软雅黑" pitchFamily="34" charset="-122"/>
                <a:ea typeface="微软雅黑" pitchFamily="34" charset="-122"/>
              </a:rPr>
              <a:t>仍是必要的。</a:t>
            </a:r>
          </a:p>
          <a:p>
            <a:pPr marL="342900" indent="-342900">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AQM </a:t>
            </a:r>
            <a:r>
              <a:rPr lang="zh-CN" altLang="en-US" sz="2000" b="1" dirty="0">
                <a:solidFill>
                  <a:srgbClr val="0000FF"/>
                </a:solidFill>
                <a:latin typeface="微软雅黑" pitchFamily="34" charset="-122"/>
                <a:ea typeface="微软雅黑" pitchFamily="34" charset="-122"/>
              </a:rPr>
              <a:t>实际上就是对路由器中的分组排队进行</a:t>
            </a:r>
            <a:r>
              <a:rPr lang="zh-CN" altLang="en-US" sz="2000" b="1" dirty="0">
                <a:solidFill>
                  <a:srgbClr val="C00000"/>
                </a:solidFill>
                <a:latin typeface="微软雅黑" pitchFamily="34" charset="-122"/>
                <a:ea typeface="微软雅黑" pitchFamily="34" charset="-122"/>
              </a:rPr>
              <a:t>智能管理，</a:t>
            </a:r>
            <a:r>
              <a:rPr lang="zh-CN" altLang="en-US" sz="2000" b="1" dirty="0">
                <a:solidFill>
                  <a:srgbClr val="0000FF"/>
                </a:solidFill>
                <a:latin typeface="微软雅黑" pitchFamily="34" charset="-122"/>
                <a:ea typeface="微软雅黑" pitchFamily="34" charset="-122"/>
              </a:rPr>
              <a:t>而不是简单地把队列的尾部丢弃。</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现在已经有几种不同的算法来代替旧的 </a:t>
            </a:r>
            <a:r>
              <a:rPr lang="en-US" altLang="zh-CN" sz="2000" b="1" dirty="0">
                <a:latin typeface="微软雅黑" pitchFamily="34" charset="-122"/>
                <a:ea typeface="微软雅黑" pitchFamily="34" charset="-122"/>
              </a:rPr>
              <a:t>RED</a:t>
            </a:r>
            <a:r>
              <a:rPr lang="zh-CN" altLang="en-US" sz="2000" b="1" dirty="0">
                <a:latin typeface="微软雅黑" pitchFamily="34" charset="-122"/>
                <a:ea typeface="微软雅黑" pitchFamily="34" charset="-122"/>
              </a:rPr>
              <a:t>，但都还在实验阶段。</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386152" y="589768"/>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4E93B039-EBC8-BF2B-CE9A-2F950103E1F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2696A79A-8206-C924-8B60-A54D44F85BA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
        <p:nvSpPr>
          <p:cNvPr id="13" name="内容占位符 12">
            <a:extLst>
              <a:ext uri="{FF2B5EF4-FFF2-40B4-BE49-F238E27FC236}">
                <a16:creationId xmlns:a16="http://schemas.microsoft.com/office/drawing/2014/main" id="{5736946C-C987-41F9-21CE-F61C6FAD9925}"/>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B9EED616-A22D-4859-EFD2-6C84DD14E18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2891"/>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3094676" y="571476"/>
            <a:ext cx="295465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400" b="1" dirty="0">
                <a:solidFill>
                  <a:schemeClr val="bg1"/>
                </a:solidFill>
                <a:latin typeface="微软雅黑" pitchFamily="34" charset="-122"/>
                <a:ea typeface="微软雅黑" pitchFamily="34" charset="-122"/>
              </a:rPr>
              <a:t>运输连接的三个阶段</a:t>
            </a:r>
          </a:p>
        </p:txBody>
      </p:sp>
      <p:sp>
        <p:nvSpPr>
          <p:cNvPr id="4" name="Rectangle 8"/>
          <p:cNvSpPr>
            <a:spLocks noChangeArrowheads="1"/>
          </p:cNvSpPr>
          <p:nvPr/>
        </p:nvSpPr>
        <p:spPr bwMode="auto">
          <a:xfrm>
            <a:off x="545143" y="1017062"/>
            <a:ext cx="8053711"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是面向连接的协议。</a:t>
            </a:r>
          </a:p>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连接有</a:t>
            </a:r>
            <a:r>
              <a:rPr lang="zh-CN" altLang="en-US" sz="2000" b="1" dirty="0">
                <a:solidFill>
                  <a:srgbClr val="C00000"/>
                </a:solidFill>
                <a:latin typeface="微软雅黑" pitchFamily="34" charset="-122"/>
                <a:ea typeface="微软雅黑" pitchFamily="34" charset="-122"/>
              </a:rPr>
              <a:t>三个阶段：</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连接建立</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数据传送</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连接释放</a:t>
            </a:r>
          </a:p>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的连接</a:t>
            </a:r>
            <a:r>
              <a:rPr lang="zh-CN" altLang="en-US" sz="2000" b="1" dirty="0">
                <a:solidFill>
                  <a:srgbClr val="C00000"/>
                </a:solidFill>
                <a:latin typeface="微软雅黑" pitchFamily="34" charset="-122"/>
                <a:ea typeface="微软雅黑" pitchFamily="34" charset="-122"/>
              </a:rPr>
              <a:t>管理</a:t>
            </a:r>
            <a:r>
              <a:rPr lang="zh-CN" altLang="en-US" sz="2000" b="1" dirty="0">
                <a:latin typeface="微软雅黑" pitchFamily="34" charset="-122"/>
                <a:ea typeface="微软雅黑" pitchFamily="34" charset="-122"/>
              </a:rPr>
              <a:t>就是使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连接的建立和释放都能正常地进行。</a:t>
            </a:r>
          </a:p>
        </p:txBody>
      </p:sp>
      <p:sp>
        <p:nvSpPr>
          <p:cNvPr id="9" name="内容占位符 8">
            <a:extLst>
              <a:ext uri="{FF2B5EF4-FFF2-40B4-BE49-F238E27FC236}">
                <a16:creationId xmlns:a16="http://schemas.microsoft.com/office/drawing/2014/main" id="{BF157AD8-47AA-9957-B1DC-1F836CBDB166}"/>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0697CB6-D63C-93BB-DEA7-79EB0DA2DF1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1855"/>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831125" y="579584"/>
            <a:ext cx="548175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TCP </a:t>
            </a:r>
            <a:r>
              <a:rPr lang="zh-CN" altLang="en-US" sz="2400" b="1" dirty="0">
                <a:solidFill>
                  <a:schemeClr val="bg1"/>
                </a:solidFill>
                <a:latin typeface="微软雅黑" pitchFamily="34" charset="-122"/>
                <a:ea typeface="微软雅黑" pitchFamily="34" charset="-122"/>
              </a:rPr>
              <a:t>连接建立过程中要解决的三个问题</a:t>
            </a:r>
          </a:p>
        </p:txBody>
      </p:sp>
      <p:sp>
        <p:nvSpPr>
          <p:cNvPr id="4" name="Rectangle 8"/>
          <p:cNvSpPr>
            <a:spLocks noChangeArrowheads="1"/>
          </p:cNvSpPr>
          <p:nvPr/>
        </p:nvSpPr>
        <p:spPr bwMode="auto">
          <a:xfrm>
            <a:off x="545143" y="1016026"/>
            <a:ext cx="8053711"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要使每一方能够确知对方的</a:t>
            </a:r>
            <a:r>
              <a:rPr lang="zh-CN" altLang="en-US" sz="2000" b="1" dirty="0">
                <a:solidFill>
                  <a:srgbClr val="C00000"/>
                </a:solidFill>
                <a:latin typeface="微软雅黑" pitchFamily="34" charset="-122"/>
                <a:ea typeface="微软雅黑" pitchFamily="34" charset="-122"/>
              </a:rPr>
              <a:t>存在。</a:t>
            </a:r>
          </a:p>
          <a:p>
            <a:pPr marL="342900" indent="-342900">
              <a:lnSpc>
                <a:spcPts val="3300"/>
              </a:lnSpc>
              <a:buClr>
                <a:srgbClr val="9900CC"/>
              </a:buClr>
              <a:buFont typeface="+mj-lt"/>
              <a:buAutoNum type="arabicPeriod"/>
            </a:pPr>
            <a:r>
              <a:rPr lang="zh-CN" altLang="en-US" sz="2000" b="1" dirty="0">
                <a:latin typeface="微软雅黑" pitchFamily="34" charset="-122"/>
                <a:ea typeface="微软雅黑" pitchFamily="34" charset="-122"/>
              </a:rPr>
              <a:t>要允许双方</a:t>
            </a:r>
            <a:r>
              <a:rPr lang="zh-CN" altLang="en-US" sz="2000" b="1" dirty="0">
                <a:solidFill>
                  <a:srgbClr val="C00000"/>
                </a:solidFill>
                <a:latin typeface="微软雅黑" pitchFamily="34" charset="-122"/>
                <a:ea typeface="微软雅黑" pitchFamily="34" charset="-122"/>
              </a:rPr>
              <a:t>协商</a:t>
            </a:r>
            <a:r>
              <a:rPr lang="zh-CN" altLang="en-US" sz="2000" b="1" dirty="0">
                <a:latin typeface="微软雅黑" pitchFamily="34" charset="-122"/>
                <a:ea typeface="微软雅黑" pitchFamily="34" charset="-122"/>
              </a:rPr>
              <a:t>一些参数（如最大窗口值、是否使用窗口扩大选项和时间戳选项以及服务质量等）。</a:t>
            </a:r>
          </a:p>
          <a:p>
            <a:pPr marL="342900" indent="-342900">
              <a:lnSpc>
                <a:spcPts val="3300"/>
              </a:lnSpc>
              <a:buClr>
                <a:srgbClr val="9900CC"/>
              </a:buClr>
              <a:buFont typeface="+mj-lt"/>
              <a:buAutoNum type="arabicPeriod"/>
            </a:pPr>
            <a:r>
              <a:rPr lang="zh-CN" altLang="en-US" sz="2000" b="1" dirty="0">
                <a:latin typeface="微软雅黑" pitchFamily="34" charset="-122"/>
                <a:ea typeface="微软雅黑" pitchFamily="34" charset="-122"/>
              </a:rPr>
              <a:t>能够对运输实体资源（如缓存大小、连接表中的项目等）进行</a:t>
            </a:r>
            <a:r>
              <a:rPr lang="zh-CN" altLang="en-US" sz="2000" b="1" dirty="0">
                <a:solidFill>
                  <a:srgbClr val="C00000"/>
                </a:solidFill>
                <a:latin typeface="微软雅黑" pitchFamily="34" charset="-122"/>
                <a:ea typeface="微软雅黑" pitchFamily="34" charset="-122"/>
              </a:rPr>
              <a:t>分配。</a:t>
            </a:r>
          </a:p>
        </p:txBody>
      </p:sp>
      <p:sp>
        <p:nvSpPr>
          <p:cNvPr id="5" name="矩形 4"/>
          <p:cNvSpPr/>
          <p:nvPr/>
        </p:nvSpPr>
        <p:spPr>
          <a:xfrm>
            <a:off x="975672" y="2867117"/>
            <a:ext cx="7192651" cy="1211357"/>
          </a:xfrm>
          <a:prstGeom prst="rect">
            <a:avLst/>
          </a:prstGeom>
          <a:solidFill>
            <a:srgbClr val="000066"/>
          </a:solidFill>
        </p:spPr>
        <p:txBody>
          <a:bodyPr wrap="square">
            <a:spAutoFit/>
          </a:bodyPr>
          <a:lstStyle/>
          <a:p>
            <a:pPr marL="342900" indent="-342900">
              <a:lnSpc>
                <a:spcPts val="3000"/>
              </a:lnSpc>
              <a:buClr>
                <a:schemeClr val="bg1"/>
              </a:buClr>
              <a:buFont typeface="Wingdings" pitchFamily="2" charset="2"/>
              <a:buChar char="l"/>
            </a:pP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连接的建立采用</a:t>
            </a:r>
            <a:r>
              <a:rPr lang="zh-CN" altLang="en-US" sz="2000" b="1" dirty="0">
                <a:solidFill>
                  <a:srgbClr val="FFC000"/>
                </a:solidFill>
                <a:latin typeface="微软雅黑" pitchFamily="34" charset="-122"/>
                <a:ea typeface="微软雅黑" pitchFamily="34" charset="-122"/>
              </a:rPr>
              <a:t>客户服务器</a:t>
            </a:r>
            <a:r>
              <a:rPr lang="zh-CN" altLang="en-US" sz="2000" b="1" dirty="0">
                <a:solidFill>
                  <a:schemeClr val="bg1"/>
                </a:solidFill>
                <a:latin typeface="微软雅黑" pitchFamily="34" charset="-122"/>
                <a:ea typeface="微软雅黑" pitchFamily="34" charset="-122"/>
              </a:rPr>
              <a:t>方式。</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主动发起</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客户</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(client)</a:t>
            </a:r>
            <a:r>
              <a:rPr lang="zh-CN" altLang="en-US" sz="2000" b="1" dirty="0">
                <a:solidFill>
                  <a:schemeClr val="bg1"/>
                </a:solidFill>
                <a:latin typeface="微软雅黑" pitchFamily="34" charset="-122"/>
                <a:ea typeface="微软雅黑" pitchFamily="34" charset="-122"/>
              </a:rPr>
              <a:t>。</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被动等待</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服务器</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(server)</a:t>
            </a:r>
            <a:r>
              <a:rPr lang="zh-CN" altLang="en-US" sz="2000" b="1" dirty="0">
                <a:solidFill>
                  <a:schemeClr val="bg1"/>
                </a:solidFill>
                <a:latin typeface="微软雅黑" pitchFamily="34" charset="-122"/>
                <a:ea typeface="微软雅黑" pitchFamily="34" charset="-122"/>
              </a:rPr>
              <a:t>。</a:t>
            </a:r>
          </a:p>
        </p:txBody>
      </p:sp>
      <p:sp>
        <p:nvSpPr>
          <p:cNvPr id="10" name="内容占位符 9">
            <a:extLst>
              <a:ext uri="{FF2B5EF4-FFF2-40B4-BE49-F238E27FC236}">
                <a16:creationId xmlns:a16="http://schemas.microsoft.com/office/drawing/2014/main" id="{52B62890-41B6-874C-6C25-994FE88FA55A}"/>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5D9FA14B-A85F-4536-84BA-A588F85C219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6099"/>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906739" y="583828"/>
            <a:ext cx="33305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5.9.1  TCP </a:t>
            </a:r>
            <a:r>
              <a:rPr lang="zh-CN" altLang="en-US" sz="2400" b="1" dirty="0">
                <a:solidFill>
                  <a:schemeClr val="bg1"/>
                </a:solidFill>
                <a:latin typeface="微软雅黑" pitchFamily="34" charset="-122"/>
                <a:ea typeface="微软雅黑" pitchFamily="34" charset="-122"/>
              </a:rPr>
              <a:t>的连接建立</a:t>
            </a:r>
          </a:p>
        </p:txBody>
      </p:sp>
      <p:sp>
        <p:nvSpPr>
          <p:cNvPr id="4" name="Rectangle 8"/>
          <p:cNvSpPr>
            <a:spLocks noChangeArrowheads="1"/>
          </p:cNvSpPr>
          <p:nvPr/>
        </p:nvSpPr>
        <p:spPr bwMode="auto">
          <a:xfrm>
            <a:off x="545143" y="1029697"/>
            <a:ext cx="8053711"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建立连接的过程叫做</a:t>
            </a:r>
            <a:r>
              <a:rPr lang="zh-CN" altLang="en-US" sz="2000" b="1" dirty="0">
                <a:solidFill>
                  <a:srgbClr val="C00000"/>
                </a:solidFill>
                <a:latin typeface="微软雅黑" pitchFamily="34" charset="-122"/>
                <a:ea typeface="微软雅黑" pitchFamily="34" charset="-122"/>
              </a:rPr>
              <a:t>握手。</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采用</a:t>
            </a:r>
            <a:r>
              <a:rPr lang="zh-CN" altLang="en-US" sz="2000" b="1" dirty="0">
                <a:solidFill>
                  <a:srgbClr val="C00000"/>
                </a:solidFill>
                <a:latin typeface="微软雅黑" pitchFamily="34" charset="-122"/>
                <a:ea typeface="微软雅黑" pitchFamily="34" charset="-122"/>
              </a:rPr>
              <a:t>三报文握手：</a:t>
            </a:r>
            <a:r>
              <a:rPr lang="zh-CN" altLang="en-US" sz="2000" b="1" dirty="0">
                <a:latin typeface="微软雅黑" pitchFamily="34" charset="-122"/>
                <a:ea typeface="微软雅黑" pitchFamily="34" charset="-122"/>
              </a:rPr>
              <a:t>在客户和服务器之间交换三个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报文段，以防止已失效的连接请求报文段突然又传送到了，因而产生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连接建立错误。</a:t>
            </a:r>
          </a:p>
        </p:txBody>
      </p:sp>
      <p:sp>
        <p:nvSpPr>
          <p:cNvPr id="9" name="内容占位符 8">
            <a:extLst>
              <a:ext uri="{FF2B5EF4-FFF2-40B4-BE49-F238E27FC236}">
                <a16:creationId xmlns:a16="http://schemas.microsoft.com/office/drawing/2014/main" id="{9AA15DBE-8DFD-10F0-7791-222CB6C023A3}"/>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F989613D-ABAA-DEA5-3B3D-2EC1D31A993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15" name="内容占位符 14">
            <a:extLst>
              <a:ext uri="{FF2B5EF4-FFF2-40B4-BE49-F238E27FC236}">
                <a16:creationId xmlns:a16="http://schemas.microsoft.com/office/drawing/2014/main" id="{047A6874-979E-3029-A8C3-259A60CF0F26}"/>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E4A16614-0FFA-EB9D-0786-0FBD923A65F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365384"/>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a:t>
            </a:r>
            <a:r>
              <a:rPr lang="zh-CN" altLang="en-US" sz="1600" b="1" dirty="0">
                <a:solidFill>
                  <a:srgbClr val="0000FF"/>
                </a:solidFill>
                <a:latin typeface="微软雅黑" pitchFamily="34" charset="-122"/>
                <a:ea typeface="微软雅黑" pitchFamily="34" charset="-122"/>
              </a:rPr>
              <a:t>先创建</a:t>
            </a:r>
            <a:r>
              <a:rPr lang="zh-CN" altLang="en-US" sz="1600" b="1" dirty="0">
                <a:latin typeface="微软雅黑" pitchFamily="34" charset="-122"/>
                <a:ea typeface="微软雅黑" pitchFamily="34" charset="-122"/>
              </a:rPr>
              <a:t>传输控制块 </a:t>
            </a:r>
            <a:r>
              <a:rPr lang="en-US" altLang="zh-CN" sz="1600" b="1" dirty="0">
                <a:latin typeface="微软雅黑" pitchFamily="34" charset="-122"/>
                <a:ea typeface="微软雅黑" pitchFamily="34" charset="-122"/>
              </a:rPr>
              <a:t>TCB</a:t>
            </a:r>
            <a:r>
              <a:rPr lang="zh-CN" altLang="en-US" sz="1600" b="1" dirty="0">
                <a:latin typeface="微软雅黑" pitchFamily="34" charset="-122"/>
                <a:ea typeface="微软雅黑" pitchFamily="34" charset="-122"/>
              </a:rPr>
              <a:t>，准备接受客户进程的连接请求。</a:t>
            </a:r>
          </a:p>
        </p:txBody>
      </p:sp>
      <p:sp>
        <p:nvSpPr>
          <p:cNvPr id="15" name="内容占位符 14">
            <a:extLst>
              <a:ext uri="{FF2B5EF4-FFF2-40B4-BE49-F238E27FC236}">
                <a16:creationId xmlns:a16="http://schemas.microsoft.com/office/drawing/2014/main" id="{4B78686D-2AE3-1C77-2894-9C0FBD7A903E}"/>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09C63D11-D029-342E-D0FA-0532FBFA035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50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1000"/>
                                        <p:tgtEl>
                                          <p:spTgt spid="30"/>
                                        </p:tgtEl>
                                        <p:attrNameLst>
                                          <p:attrName>ppt_y</p:attrName>
                                        </p:attrNameLst>
                                      </p:cBhvr>
                                      <p:tavLst>
                                        <p:tav tm="0">
                                          <p:val>
                                            <p:strVal val="#ppt_y-#ppt_h*1.125000"/>
                                          </p:val>
                                        </p:tav>
                                        <p:tav tm="100000">
                                          <p:val>
                                            <p:strVal val="#ppt_y"/>
                                          </p:val>
                                        </p:tav>
                                      </p:tavLst>
                                    </p:anim>
                                    <p:animEffect transition="in" filter="wipe(down)">
                                      <p:cBhvr>
                                        <p:cTn id="8" dur="1000"/>
                                        <p:tgtEl>
                                          <p:spTgt spid="30"/>
                                        </p:tgtEl>
                                      </p:cBhvr>
                                    </p:animEffect>
                                  </p:childTnLst>
                                </p:cTn>
                              </p:par>
                            </p:childTnLst>
                          </p:cTn>
                        </p:par>
                        <p:par>
                          <p:cTn id="9" fill="hold">
                            <p:stCondLst>
                              <p:cond delay="1500"/>
                            </p:stCondLst>
                            <p:childTnLst>
                              <p:par>
                                <p:cTn id="10" presetID="22" presetClass="entr" presetSubtype="1" fill="hold" nodeType="afterEffect">
                                  <p:stCondLst>
                                    <p:cond delay="2000"/>
                                  </p:stCondLst>
                                  <p:childTnLst>
                                    <p:set>
                                      <p:cBhvr>
                                        <p:cTn id="11" dur="1" fill="hold">
                                          <p:stCondLst>
                                            <p:cond delay="0"/>
                                          </p:stCondLst>
                                        </p:cTn>
                                        <p:tgtEl>
                                          <p:spTgt spid="17"/>
                                        </p:tgtEl>
                                        <p:attrNameLst>
                                          <p:attrName>style.visibility</p:attrName>
                                        </p:attrNameLst>
                                      </p:cBhvr>
                                      <p:to>
                                        <p:strVal val="visible"/>
                                      </p:to>
                                    </p:set>
                                    <p:animEffect transition="in" filter="wipe(up)">
                                      <p:cBhvr>
                                        <p:cTn id="12"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024317"/>
            <a:ext cx="5422002"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主动发出连接请求报文段，其首部中的同步位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，并选择序号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x</a:t>
            </a:r>
            <a:r>
              <a:rPr lang="zh-CN" altLang="en-US" sz="1600" b="1" dirty="0">
                <a:latin typeface="微软雅黑" pitchFamily="34" charset="-122"/>
                <a:ea typeface="微软雅黑" pitchFamily="34" charset="-122"/>
              </a:rPr>
              <a:t>，表明传送数据时的第一个数据字节的序号是 </a:t>
            </a:r>
            <a:r>
              <a:rPr lang="en-US" altLang="zh-CN" sz="1600" b="1" dirty="0">
                <a:latin typeface="微软雅黑" pitchFamily="34" charset="-122"/>
                <a:ea typeface="微软雅黑" pitchFamily="34" charset="-122"/>
              </a:rPr>
              <a:t>x</a:t>
            </a:r>
            <a:r>
              <a:rPr lang="zh-CN" altLang="en-US" sz="1600" b="1" dirty="0">
                <a:latin typeface="微软雅黑" pitchFamily="34" charset="-122"/>
                <a:ea typeface="微软雅黑" pitchFamily="34" charset="-122"/>
              </a:rPr>
              <a:t>。</a:t>
            </a:r>
          </a:p>
        </p:txBody>
      </p:sp>
      <p:sp>
        <p:nvSpPr>
          <p:cNvPr id="20" name="矩形 19"/>
          <p:cNvSpPr/>
          <p:nvPr/>
        </p:nvSpPr>
        <p:spPr>
          <a:xfrm>
            <a:off x="1668543" y="4114800"/>
            <a:ext cx="5891753" cy="646331"/>
          </a:xfrm>
          <a:prstGeom prst="rect">
            <a:avLst/>
          </a:prstGeom>
          <a:solidFill>
            <a:schemeClr val="accent6">
              <a:lumMod val="60000"/>
              <a:lumOff val="40000"/>
            </a:schemeClr>
          </a:solidFill>
        </p:spPr>
        <p:txBody>
          <a:bodyPr wrap="square">
            <a:spAutoFit/>
          </a:bodyPr>
          <a:lstStyle/>
          <a:p>
            <a:r>
              <a:rPr lang="zh-CN" altLang="en-US" b="1" kern="500" dirty="0">
                <a:latin typeface="微软雅黑" panose="020B0503020204020204" pitchFamily="34" charset="-122"/>
                <a:ea typeface="微软雅黑" panose="020B0503020204020204" pitchFamily="34" charset="-122"/>
              </a:rPr>
              <a:t>注意：</a:t>
            </a:r>
            <a:r>
              <a:rPr lang="en-US" altLang="zh-CN" b="1" kern="500" dirty="0">
                <a:latin typeface="微软雅黑" panose="020B0503020204020204" pitchFamily="34" charset="-122"/>
                <a:ea typeface="微软雅黑" panose="020B0503020204020204" pitchFamily="34" charset="-122"/>
              </a:rPr>
              <a:t>TCP</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规定，</a:t>
            </a:r>
            <a:r>
              <a:rPr lang="en-US" altLang="zh-CN" b="1" kern="500" dirty="0">
                <a:latin typeface="微软雅黑" panose="020B0503020204020204" pitchFamily="34" charset="-122"/>
                <a:ea typeface="微软雅黑" panose="020B0503020204020204" pitchFamily="34" charset="-122"/>
              </a:rPr>
              <a:t>SYN </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报文段（即</a:t>
            </a:r>
            <a:r>
              <a:rPr lang="en-US" altLang="zh-CN" b="1" kern="500" dirty="0">
                <a:latin typeface="微软雅黑" panose="020B0503020204020204" pitchFamily="34" charset="-122"/>
                <a:ea typeface="微软雅黑" panose="020B0503020204020204" pitchFamily="34" charset="-122"/>
              </a:rPr>
              <a:t>SYN = 1</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的报文段）</a:t>
            </a:r>
            <a:r>
              <a:rPr lang="zh-CN" altLang="zh-CN" b="1" kern="500" dirty="0">
                <a:solidFill>
                  <a:srgbClr val="0000FF"/>
                </a:solidFill>
                <a:latin typeface="微软雅黑" panose="020B0503020204020204" pitchFamily="34" charset="-122"/>
                <a:ea typeface="微软雅黑" panose="020B0503020204020204" pitchFamily="34" charset="-122"/>
                <a:cs typeface="Times New Roman" panose="02020603050405020304" pitchFamily="18" charset="0"/>
              </a:rPr>
              <a:t>不能携带数据，</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但要消耗掉一个序号。</a:t>
            </a:r>
            <a:endParaRPr lang="zh-CN" altLang="en-US" b="1" dirty="0">
              <a:latin typeface="微软雅黑" panose="020B0503020204020204" pitchFamily="34" charset="-122"/>
              <a:ea typeface="微软雅黑" panose="020B0503020204020204" pitchFamily="34" charset="-122"/>
            </a:endParaRPr>
          </a:p>
        </p:txBody>
      </p:sp>
      <p:sp>
        <p:nvSpPr>
          <p:cNvPr id="32" name="内容占位符 31">
            <a:extLst>
              <a:ext uri="{FF2B5EF4-FFF2-40B4-BE49-F238E27FC236}">
                <a16:creationId xmlns:a16="http://schemas.microsoft.com/office/drawing/2014/main" id="{8FBB5076-855A-4B69-133D-DBE32DBEED9B}"/>
              </a:ext>
            </a:extLst>
          </p:cNvPr>
          <p:cNvSpPr>
            <a:spLocks noGrp="1"/>
          </p:cNvSpPr>
          <p:nvPr>
            <p:ph sz="quarter" idx="11"/>
          </p:nvPr>
        </p:nvSpPr>
        <p:spPr/>
        <p:txBody>
          <a:bodyPr/>
          <a:lstStyle/>
          <a:p>
            <a:endParaRPr lang="zh-CN" altLang="en-US"/>
          </a:p>
        </p:txBody>
      </p:sp>
      <p:sp>
        <p:nvSpPr>
          <p:cNvPr id="31" name="标题 30">
            <a:extLst>
              <a:ext uri="{FF2B5EF4-FFF2-40B4-BE49-F238E27FC236}">
                <a16:creationId xmlns:a16="http://schemas.microsoft.com/office/drawing/2014/main" id="{CA728FE8-177E-3CE4-64A7-085401A1101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12" presetClass="entr" presetSubtype="1" fill="hold" grpId="0" nodeType="afterEffect">
                                  <p:stCondLst>
                                    <p:cond delay="100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1000"/>
                                        <p:tgtEl>
                                          <p:spTgt spid="30"/>
                                        </p:tgtEl>
                                        <p:attrNameLst>
                                          <p:attrName>ppt_y</p:attrName>
                                        </p:attrNameLst>
                                      </p:cBhvr>
                                      <p:tavLst>
                                        <p:tav tm="0">
                                          <p:val>
                                            <p:strVal val="#ppt_y-#ppt_h*1.125000"/>
                                          </p:val>
                                        </p:tav>
                                        <p:tav tm="100000">
                                          <p:val>
                                            <p:strVal val="#ppt_y"/>
                                          </p:val>
                                        </p:tav>
                                      </p:tavLst>
                                    </p:anim>
                                    <p:animEffect transition="in" filter="wipe(down)">
                                      <p:cBhvr>
                                        <p:cTn id="12" dur="1000"/>
                                        <p:tgtEl>
                                          <p:spTgt spid="30"/>
                                        </p:tgtEl>
                                      </p:cBhvr>
                                    </p:animEffect>
                                  </p:childTnLst>
                                </p:cTn>
                              </p:par>
                            </p:childTnLst>
                          </p:cTn>
                        </p:par>
                        <p:par>
                          <p:cTn id="13" fill="hold">
                            <p:stCondLst>
                              <p:cond delay="4000"/>
                            </p:stCondLst>
                            <p:childTnLst>
                              <p:par>
                                <p:cTn id="14" presetID="22" presetClass="entr" presetSubtype="8"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0" grpId="0" animBg="1"/>
    </p:bldLst>
  </p:timing>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圆角矩形 30"/>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0" name="Text Box 155"/>
          <p:cNvSpPr txBox="1">
            <a:spLocks noChangeArrowheads="1"/>
          </p:cNvSpPr>
          <p:nvPr/>
        </p:nvSpPr>
        <p:spPr bwMode="auto">
          <a:xfrm>
            <a:off x="1774326" y="3365384"/>
            <a:ext cx="5514965"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收到连接请求报文段后，如同意，则发回确认。</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在确认报文段中应使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，使 </a:t>
            </a:r>
            <a:r>
              <a:rPr lang="en-US" altLang="zh-CN" sz="1600" b="1" dirty="0">
                <a:latin typeface="微软雅黑" pitchFamily="34" charset="-122"/>
                <a:ea typeface="微软雅黑" pitchFamily="34" charset="-122"/>
              </a:rPr>
              <a:t>ACK = 1</a:t>
            </a:r>
            <a:r>
              <a:rPr lang="zh-CN" altLang="en-US" sz="1600" b="1" dirty="0">
                <a:latin typeface="微软雅黑" pitchFamily="34" charset="-122"/>
                <a:ea typeface="微软雅黑" pitchFamily="34" charset="-122"/>
              </a:rPr>
              <a:t>，其确认号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x + 1</a:t>
            </a:r>
            <a:r>
              <a:rPr lang="zh-CN" altLang="en-US" sz="1600" b="1" dirty="0">
                <a:latin typeface="微软雅黑" pitchFamily="34" charset="-122"/>
                <a:ea typeface="微软雅黑" pitchFamily="34" charset="-122"/>
              </a:rPr>
              <a:t>，自己选择的序号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y</a:t>
            </a:r>
            <a:r>
              <a:rPr lang="zh-CN" altLang="en-US" sz="1600" b="1" dirty="0">
                <a:latin typeface="微软雅黑" pitchFamily="34" charset="-122"/>
                <a:ea typeface="微软雅黑" pitchFamily="34" charset="-122"/>
              </a:rPr>
              <a:t>。</a:t>
            </a:r>
          </a:p>
        </p:txBody>
      </p:sp>
      <p:sp>
        <p:nvSpPr>
          <p:cNvPr id="2" name="矩形 1"/>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zh-CN" altLang="zh-CN" b="1" kern="500" dirty="0">
                <a:latin typeface="微软雅黑" panose="020B0503020204020204" pitchFamily="34" charset="-122"/>
                <a:ea typeface="微软雅黑" panose="020B0503020204020204" pitchFamily="34" charset="-122"/>
              </a:rPr>
              <a:t>这个报文段也</a:t>
            </a:r>
            <a:r>
              <a:rPr lang="zh-CN" altLang="zh-CN" b="1" kern="500" dirty="0">
                <a:solidFill>
                  <a:srgbClr val="0000FF"/>
                </a:solidFill>
                <a:latin typeface="微软雅黑" panose="020B0503020204020204" pitchFamily="34" charset="-122"/>
                <a:ea typeface="微软雅黑" panose="020B0503020204020204" pitchFamily="34" charset="-122"/>
              </a:rPr>
              <a:t>不能携带数据，</a:t>
            </a:r>
            <a:r>
              <a:rPr lang="zh-CN" altLang="zh-CN" b="1" kern="500" dirty="0">
                <a:latin typeface="微软雅黑" panose="020B0503020204020204" pitchFamily="34" charset="-122"/>
                <a:ea typeface="微软雅黑" panose="020B0503020204020204" pitchFamily="34" charset="-122"/>
              </a:rPr>
              <a:t>但同样要消耗掉一个序号。</a:t>
            </a:r>
            <a:endParaRPr lang="zh-CN" altLang="en-US" b="1" kern="500" dirty="0">
              <a:latin typeface="微软雅黑" panose="020B0503020204020204" pitchFamily="34" charset="-122"/>
              <a:ea typeface="微软雅黑" panose="020B0503020204020204" pitchFamily="34" charset="-122"/>
            </a:endParaRPr>
          </a:p>
        </p:txBody>
      </p:sp>
      <p:sp>
        <p:nvSpPr>
          <p:cNvPr id="35" name="内容占位符 34">
            <a:extLst>
              <a:ext uri="{FF2B5EF4-FFF2-40B4-BE49-F238E27FC236}">
                <a16:creationId xmlns:a16="http://schemas.microsoft.com/office/drawing/2014/main" id="{33D7A034-F409-B220-9F06-DBB22B8684FC}"/>
              </a:ext>
            </a:extLst>
          </p:cNvPr>
          <p:cNvSpPr>
            <a:spLocks noGrp="1"/>
          </p:cNvSpPr>
          <p:nvPr>
            <p:ph sz="quarter" idx="11"/>
          </p:nvPr>
        </p:nvSpPr>
        <p:spPr/>
        <p:txBody>
          <a:bodyPr/>
          <a:lstStyle/>
          <a:p>
            <a:endParaRPr lang="zh-CN" altLang="en-US"/>
          </a:p>
        </p:txBody>
      </p:sp>
      <p:sp>
        <p:nvSpPr>
          <p:cNvPr id="34" name="标题 33">
            <a:extLst>
              <a:ext uri="{FF2B5EF4-FFF2-40B4-BE49-F238E27FC236}">
                <a16:creationId xmlns:a16="http://schemas.microsoft.com/office/drawing/2014/main" id="{2EF2E450-44F0-F732-1CAB-D3A964BBABE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1000"/>
                                        <p:tgtEl>
                                          <p:spTgt spid="30"/>
                                        </p:tgtEl>
                                      </p:cBhvr>
                                    </p:animEffect>
                                  </p:childTnLst>
                                </p:cTn>
                              </p:par>
                            </p:childTnLst>
                          </p:cTn>
                        </p:par>
                        <p:par>
                          <p:cTn id="8" fill="hold">
                            <p:stCondLst>
                              <p:cond delay="1000"/>
                            </p:stCondLst>
                            <p:childTnLst>
                              <p:par>
                                <p:cTn id="9" presetID="22" presetClass="entr" presetSubtype="2" fill="hold" nodeType="afterEffect">
                                  <p:stCondLst>
                                    <p:cond delay="1000"/>
                                  </p:stCondLst>
                                  <p:childTnLst>
                                    <p:set>
                                      <p:cBhvr>
                                        <p:cTn id="10" dur="1" fill="hold">
                                          <p:stCondLst>
                                            <p:cond delay="0"/>
                                          </p:stCondLst>
                                        </p:cTn>
                                        <p:tgtEl>
                                          <p:spTgt spid="29"/>
                                        </p:tgtEl>
                                        <p:attrNameLst>
                                          <p:attrName>style.visibility</p:attrName>
                                        </p:attrNameLst>
                                      </p:cBhvr>
                                      <p:to>
                                        <p:strVal val="visible"/>
                                      </p:to>
                                    </p:set>
                                    <p:animEffect transition="in" filter="wipe(right)">
                                      <p:cBhvr>
                                        <p:cTn id="11" dur="2000"/>
                                        <p:tgtEl>
                                          <p:spTgt spid="2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animBg="1"/>
    </p:bldLst>
  </p:timing>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圆角矩形 3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809898" y="2586420"/>
            <a:ext cx="2436395" cy="1361911"/>
          </a:xfrm>
          <a:prstGeom prst="rect">
            <a:avLst/>
          </a:prstGeom>
          <a:solidFill>
            <a:srgbClr val="FFFF99"/>
          </a:solidFill>
          <a:ln w="9525">
            <a:solidFill>
              <a:schemeClr val="tx1"/>
            </a:solidFill>
            <a:miter lim="800000"/>
            <a:headEnd/>
            <a:tailEnd/>
          </a:ln>
          <a:effectLst/>
        </p:spPr>
        <p:txBody>
          <a:bodyPr wrap="square">
            <a:spAutoFit/>
          </a:bodyPr>
          <a:lstStyle/>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收到此报文段后向 </a:t>
            </a: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给出确认，其 </a:t>
            </a:r>
            <a:r>
              <a:rPr lang="en-US" altLang="zh-CN" sz="1500" b="1" dirty="0">
                <a:latin typeface="微软雅黑" pitchFamily="34" charset="-122"/>
                <a:ea typeface="微软雅黑" pitchFamily="34" charset="-122"/>
              </a:rPr>
              <a:t>ACK = 1</a:t>
            </a:r>
            <a:r>
              <a:rPr lang="zh-CN" altLang="en-US" sz="1500" b="1" dirty="0">
                <a:latin typeface="微软雅黑" pitchFamily="34" charset="-122"/>
                <a:ea typeface="微软雅黑" pitchFamily="34" charset="-122"/>
              </a:rPr>
              <a:t>，确认号 </a:t>
            </a:r>
            <a:r>
              <a:rPr lang="en-US" altLang="zh-CN" sz="1500" b="1" dirty="0" err="1">
                <a:latin typeface="微软雅黑" pitchFamily="34" charset="-122"/>
                <a:ea typeface="微软雅黑" pitchFamily="34" charset="-122"/>
              </a:rPr>
              <a:t>ack</a:t>
            </a:r>
            <a:r>
              <a:rPr lang="en-US" altLang="zh-CN" sz="1500" b="1" dirty="0">
                <a:latin typeface="微软雅黑" pitchFamily="34" charset="-122"/>
                <a:ea typeface="微软雅黑" pitchFamily="34" charset="-122"/>
              </a:rPr>
              <a:t> = y + 1</a:t>
            </a:r>
            <a:r>
              <a:rPr lang="zh-CN" altLang="en-US" sz="1500" b="1" dirty="0">
                <a:latin typeface="微软雅黑" pitchFamily="34" charset="-122"/>
                <a:ea typeface="微软雅黑" pitchFamily="34" charset="-122"/>
              </a:rPr>
              <a:t>。</a:t>
            </a:r>
          </a:p>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通知上层应用进程，连接已经建立。 </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35" name="矩形 34"/>
          <p:cNvSpPr/>
          <p:nvPr/>
        </p:nvSpPr>
        <p:spPr>
          <a:xfrm>
            <a:off x="1131216" y="4123289"/>
            <a:ext cx="6862714" cy="620683"/>
          </a:xfrm>
          <a:prstGeom prst="rect">
            <a:avLst/>
          </a:prstGeom>
          <a:solidFill>
            <a:schemeClr val="accent6">
              <a:lumMod val="60000"/>
              <a:lumOff val="40000"/>
            </a:schemeClr>
          </a:solidFill>
        </p:spPr>
        <p:txBody>
          <a:bodyPr wrap="square">
            <a:spAutoFit/>
          </a:bodyPr>
          <a:lstStyle/>
          <a:p>
            <a:pPr algn="ctr">
              <a:lnSpc>
                <a:spcPts val="2200"/>
              </a:lnSpc>
            </a:pPr>
            <a:r>
              <a:rPr lang="en-US" altLang="zh-CN" sz="1600" b="1" kern="500" dirty="0">
                <a:latin typeface="微软雅黑" panose="020B0503020204020204" pitchFamily="34" charset="-122"/>
                <a:ea typeface="微软雅黑" panose="020B0503020204020204" pitchFamily="34" charset="-122"/>
              </a:rPr>
              <a:t>TCP </a:t>
            </a:r>
            <a:r>
              <a:rPr lang="zh-CN" altLang="en-US" sz="1600" b="1" kern="500" dirty="0">
                <a:latin typeface="微软雅黑" panose="020B0503020204020204" pitchFamily="34" charset="-122"/>
                <a:ea typeface="微软雅黑" panose="020B0503020204020204" pitchFamily="34" charset="-122"/>
              </a:rPr>
              <a:t>标准规定：</a:t>
            </a:r>
            <a:r>
              <a:rPr lang="en-US" altLang="zh-CN" sz="1600" b="1" kern="500" dirty="0">
                <a:solidFill>
                  <a:srgbClr val="0000FF"/>
                </a:solidFill>
                <a:latin typeface="微软雅黑" panose="020B0503020204020204" pitchFamily="34" charset="-122"/>
                <a:ea typeface="微软雅黑" panose="020B0503020204020204" pitchFamily="34" charset="-122"/>
              </a:rPr>
              <a:t>ACK </a:t>
            </a:r>
            <a:r>
              <a:rPr lang="zh-CN" altLang="en-US" sz="1600" b="1" kern="500" dirty="0">
                <a:solidFill>
                  <a:srgbClr val="0000FF"/>
                </a:solidFill>
                <a:latin typeface="微软雅黑" panose="020B0503020204020204" pitchFamily="34" charset="-122"/>
                <a:ea typeface="微软雅黑" panose="020B0503020204020204" pitchFamily="34" charset="-122"/>
              </a:rPr>
              <a:t>报文段可以携带数据。</a:t>
            </a:r>
            <a:endParaRPr lang="en-US" altLang="zh-CN" sz="1600" b="1" kern="500" dirty="0">
              <a:solidFill>
                <a:srgbClr val="0000FF"/>
              </a:solidFill>
              <a:latin typeface="微软雅黑" panose="020B0503020204020204" pitchFamily="34" charset="-122"/>
              <a:ea typeface="微软雅黑" panose="020B0503020204020204" pitchFamily="34" charset="-122"/>
            </a:endParaRPr>
          </a:p>
          <a:p>
            <a:pPr algn="ctr"/>
            <a:r>
              <a:rPr lang="zh-CN" altLang="en-US" sz="1600" b="1" kern="500" dirty="0">
                <a:latin typeface="微软雅黑" panose="020B0503020204020204" pitchFamily="34" charset="-122"/>
                <a:ea typeface="微软雅黑" panose="020B0503020204020204" pitchFamily="34" charset="-122"/>
              </a:rPr>
              <a:t>但如果不携带数据，则不消耗序号。</a:t>
            </a:r>
            <a:r>
              <a:rPr lang="zh-CN" altLang="en-US" sz="1400" b="1" kern="500" dirty="0">
                <a:latin typeface="微软雅黑" panose="020B0503020204020204" pitchFamily="34" charset="-122"/>
                <a:ea typeface="微软雅黑" panose="020B0503020204020204" pitchFamily="34" charset="-122"/>
              </a:rPr>
              <a:t>下一个数据报文段的序号仍是 </a:t>
            </a:r>
            <a:r>
              <a:rPr lang="en-US" altLang="zh-CN" sz="1400" b="1" kern="500" dirty="0" err="1">
                <a:latin typeface="微软雅黑" panose="020B0503020204020204" pitchFamily="34" charset="-122"/>
                <a:ea typeface="微软雅黑" panose="020B0503020204020204" pitchFamily="34" charset="-122"/>
              </a:rPr>
              <a:t>seq</a:t>
            </a:r>
            <a:r>
              <a:rPr lang="en-US" altLang="zh-CN" sz="1400" b="1" kern="500" dirty="0">
                <a:latin typeface="微软雅黑" panose="020B0503020204020204" pitchFamily="34" charset="-122"/>
                <a:ea typeface="微软雅黑" panose="020B0503020204020204" pitchFamily="34" charset="-122"/>
              </a:rPr>
              <a:t> = x + 1</a:t>
            </a:r>
            <a:r>
              <a:rPr lang="zh-CN" altLang="en-US" sz="1400" b="1" kern="500" dirty="0">
                <a:latin typeface="微软雅黑" panose="020B0503020204020204" pitchFamily="34" charset="-122"/>
                <a:ea typeface="微软雅黑" panose="020B0503020204020204" pitchFamily="34" charset="-122"/>
              </a:rPr>
              <a:t>。</a:t>
            </a:r>
          </a:p>
        </p:txBody>
      </p:sp>
      <p:sp>
        <p:nvSpPr>
          <p:cNvPr id="38" name="内容占位符 37">
            <a:extLst>
              <a:ext uri="{FF2B5EF4-FFF2-40B4-BE49-F238E27FC236}">
                <a16:creationId xmlns:a16="http://schemas.microsoft.com/office/drawing/2014/main" id="{0EA209CD-418F-EEA7-DBC6-1FCF1953AAD4}"/>
              </a:ext>
            </a:extLst>
          </p:cNvPr>
          <p:cNvSpPr>
            <a:spLocks noGrp="1"/>
          </p:cNvSpPr>
          <p:nvPr>
            <p:ph sz="quarter" idx="11"/>
          </p:nvPr>
        </p:nvSpPr>
        <p:spPr/>
        <p:txBody>
          <a:bodyPr/>
          <a:lstStyle/>
          <a:p>
            <a:endParaRPr lang="zh-CN" altLang="en-US"/>
          </a:p>
        </p:txBody>
      </p:sp>
      <p:sp>
        <p:nvSpPr>
          <p:cNvPr id="37" name="标题 36">
            <a:extLst>
              <a:ext uri="{FF2B5EF4-FFF2-40B4-BE49-F238E27FC236}">
                <a16:creationId xmlns:a16="http://schemas.microsoft.com/office/drawing/2014/main" id="{3E6E9E2C-0D70-FD2F-033F-CAAE63AD24C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圆角矩形 35"/>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5988965" y="2892459"/>
            <a:ext cx="2131455" cy="1361911"/>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收到主机 </a:t>
            </a: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的确认后，也通知其上层应用进程：</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连接已经建立。双方可以开始数据传送。</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40" name="内容占位符 39">
            <a:extLst>
              <a:ext uri="{FF2B5EF4-FFF2-40B4-BE49-F238E27FC236}">
                <a16:creationId xmlns:a16="http://schemas.microsoft.com/office/drawing/2014/main" id="{41CC26C4-9B96-68A0-E704-0F4834CCF070}"/>
              </a:ext>
            </a:extLst>
          </p:cNvPr>
          <p:cNvSpPr>
            <a:spLocks noGrp="1"/>
          </p:cNvSpPr>
          <p:nvPr>
            <p:ph sz="quarter" idx="11"/>
          </p:nvPr>
        </p:nvSpPr>
        <p:spPr/>
        <p:txBody>
          <a:bodyPr/>
          <a:lstStyle/>
          <a:p>
            <a:endParaRPr lang="zh-CN" altLang="en-US"/>
          </a:p>
        </p:txBody>
      </p:sp>
      <p:sp>
        <p:nvSpPr>
          <p:cNvPr id="39" name="标题 38">
            <a:extLst>
              <a:ext uri="{FF2B5EF4-FFF2-40B4-BE49-F238E27FC236}">
                <a16:creationId xmlns:a16="http://schemas.microsoft.com/office/drawing/2014/main" id="{6B1B90CD-7904-D7EC-5510-86C52949B06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645300" y="731252"/>
            <a:ext cx="4160853"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采用三报文握手建立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连接的各个状态 </a:t>
            </a:r>
          </a:p>
        </p:txBody>
      </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grpSp>
        <p:nvGrpSpPr>
          <p:cNvPr id="53" name="Group 2"/>
          <p:cNvGrpSpPr>
            <a:grpSpLocks/>
          </p:cNvGrpSpPr>
          <p:nvPr/>
        </p:nvGrpSpPr>
        <p:grpSpPr bwMode="auto">
          <a:xfrm>
            <a:off x="2752528" y="2045590"/>
            <a:ext cx="3802206" cy="2120311"/>
            <a:chOff x="880" y="1893"/>
            <a:chExt cx="3747" cy="2372"/>
          </a:xfrm>
        </p:grpSpPr>
        <p:grpSp>
          <p:nvGrpSpPr>
            <p:cNvPr id="54" name="Group 3"/>
            <p:cNvGrpSpPr>
              <a:grpSpLocks/>
            </p:cNvGrpSpPr>
            <p:nvPr/>
          </p:nvGrpSpPr>
          <p:grpSpPr bwMode="auto">
            <a:xfrm>
              <a:off x="899" y="1916"/>
              <a:ext cx="622" cy="1048"/>
              <a:chOff x="899" y="1916"/>
              <a:chExt cx="622" cy="1048"/>
            </a:xfrm>
          </p:grpSpPr>
          <p:sp>
            <p:nvSpPr>
              <p:cNvPr id="67" name="Rectangle 4"/>
              <p:cNvSpPr>
                <a:spLocks noChangeArrowheads="1"/>
              </p:cNvSpPr>
              <p:nvPr/>
            </p:nvSpPr>
            <p:spPr bwMode="auto">
              <a:xfrm>
                <a:off x="899" y="1916"/>
                <a:ext cx="622" cy="1048"/>
              </a:xfrm>
              <a:prstGeom prst="rect">
                <a:avLst/>
              </a:prstGeom>
              <a:solidFill>
                <a:srgbClr val="00990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8" name="Rectangle 5"/>
              <p:cNvSpPr>
                <a:spLocks noChangeArrowheads="1"/>
              </p:cNvSpPr>
              <p:nvPr/>
            </p:nvSpPr>
            <p:spPr bwMode="auto">
              <a:xfrm>
                <a:off x="946" y="2199"/>
                <a:ext cx="548"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SENT</a:t>
                </a:r>
              </a:p>
            </p:txBody>
          </p:sp>
        </p:grpSp>
        <p:grpSp>
          <p:nvGrpSpPr>
            <p:cNvPr id="55" name="Group 6"/>
            <p:cNvGrpSpPr>
              <a:grpSpLocks/>
            </p:cNvGrpSpPr>
            <p:nvPr/>
          </p:nvGrpSpPr>
          <p:grpSpPr bwMode="auto">
            <a:xfrm>
              <a:off x="880" y="3013"/>
              <a:ext cx="690" cy="1252"/>
              <a:chOff x="880" y="3013"/>
              <a:chExt cx="690" cy="1252"/>
            </a:xfrm>
          </p:grpSpPr>
          <p:sp>
            <p:nvSpPr>
              <p:cNvPr id="65" name="Rectangle 7"/>
              <p:cNvSpPr>
                <a:spLocks noChangeArrowheads="1"/>
              </p:cNvSpPr>
              <p:nvPr/>
            </p:nvSpPr>
            <p:spPr bwMode="auto">
              <a:xfrm>
                <a:off x="905" y="3013"/>
                <a:ext cx="609" cy="1252"/>
              </a:xfrm>
              <a:prstGeom prst="rect">
                <a:avLst/>
              </a:prstGeom>
              <a:solidFill>
                <a:srgbClr val="0000FF"/>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6" name="Rectangle 8"/>
              <p:cNvSpPr>
                <a:spLocks noChangeArrowheads="1"/>
              </p:cNvSpPr>
              <p:nvPr/>
            </p:nvSpPr>
            <p:spPr bwMode="auto">
              <a:xfrm>
                <a:off x="880" y="3383"/>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nvGrpSpPr>
            <p:cNvPr id="56" name="Group 9"/>
            <p:cNvGrpSpPr>
              <a:grpSpLocks/>
            </p:cNvGrpSpPr>
            <p:nvPr/>
          </p:nvGrpSpPr>
          <p:grpSpPr bwMode="auto">
            <a:xfrm>
              <a:off x="3949" y="2445"/>
              <a:ext cx="621" cy="1064"/>
              <a:chOff x="3949" y="2445"/>
              <a:chExt cx="621" cy="1064"/>
            </a:xfrm>
          </p:grpSpPr>
          <p:sp>
            <p:nvSpPr>
              <p:cNvPr id="63" name="Rectangle 10"/>
              <p:cNvSpPr>
                <a:spLocks noChangeArrowheads="1"/>
              </p:cNvSpPr>
              <p:nvPr/>
            </p:nvSpPr>
            <p:spPr bwMode="auto">
              <a:xfrm>
                <a:off x="3949" y="2445"/>
                <a:ext cx="621" cy="1064"/>
              </a:xfrm>
              <a:prstGeom prst="rect">
                <a:avLst/>
              </a:prstGeom>
              <a:solidFill>
                <a:srgbClr val="009900"/>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Rectangle 11"/>
              <p:cNvSpPr>
                <a:spLocks noChangeArrowheads="1"/>
              </p:cNvSpPr>
              <p:nvPr/>
            </p:nvSpPr>
            <p:spPr bwMode="auto">
              <a:xfrm>
                <a:off x="3976" y="2751"/>
                <a:ext cx="58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RCVD</a:t>
                </a:r>
              </a:p>
            </p:txBody>
          </p:sp>
        </p:grpSp>
        <p:grpSp>
          <p:nvGrpSpPr>
            <p:cNvPr id="57" name="Group 12"/>
            <p:cNvGrpSpPr>
              <a:grpSpLocks/>
            </p:cNvGrpSpPr>
            <p:nvPr/>
          </p:nvGrpSpPr>
          <p:grpSpPr bwMode="auto">
            <a:xfrm>
              <a:off x="3949" y="1893"/>
              <a:ext cx="678" cy="519"/>
              <a:chOff x="3949" y="1893"/>
              <a:chExt cx="678" cy="519"/>
            </a:xfrm>
          </p:grpSpPr>
          <p:sp>
            <p:nvSpPr>
              <p:cNvPr id="61" name="Rectangle 13"/>
              <p:cNvSpPr>
                <a:spLocks noChangeArrowheads="1"/>
              </p:cNvSpPr>
              <p:nvPr/>
            </p:nvSpPr>
            <p:spPr bwMode="auto">
              <a:xfrm>
                <a:off x="3949" y="1893"/>
                <a:ext cx="621" cy="519"/>
              </a:xfrm>
              <a:prstGeom prst="rect">
                <a:avLst/>
              </a:prstGeom>
              <a:solidFill>
                <a:srgbClr val="CC00CC"/>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2" name="Rectangle 14"/>
              <p:cNvSpPr>
                <a:spLocks noChangeArrowheads="1"/>
              </p:cNvSpPr>
              <p:nvPr/>
            </p:nvSpPr>
            <p:spPr bwMode="auto">
              <a:xfrm>
                <a:off x="3956" y="2004"/>
                <a:ext cx="671"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LISTEN</a:t>
                </a:r>
              </a:p>
            </p:txBody>
          </p:sp>
        </p:grpSp>
        <p:grpSp>
          <p:nvGrpSpPr>
            <p:cNvPr id="58" name="Group 15"/>
            <p:cNvGrpSpPr>
              <a:grpSpLocks/>
            </p:cNvGrpSpPr>
            <p:nvPr/>
          </p:nvGrpSpPr>
          <p:grpSpPr bwMode="auto">
            <a:xfrm>
              <a:off x="3930" y="3564"/>
              <a:ext cx="690" cy="701"/>
              <a:chOff x="3930" y="3564"/>
              <a:chExt cx="690" cy="701"/>
            </a:xfrm>
          </p:grpSpPr>
          <p:sp>
            <p:nvSpPr>
              <p:cNvPr id="59" name="Rectangle 16"/>
              <p:cNvSpPr>
                <a:spLocks noChangeArrowheads="1"/>
              </p:cNvSpPr>
              <p:nvPr/>
            </p:nvSpPr>
            <p:spPr bwMode="auto">
              <a:xfrm>
                <a:off x="3949" y="3564"/>
                <a:ext cx="621" cy="701"/>
              </a:xfrm>
              <a:prstGeom prst="rect">
                <a:avLst/>
              </a:prstGeom>
              <a:solidFill>
                <a:srgbClr val="0000FF"/>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0" name="Rectangle 17"/>
              <p:cNvSpPr>
                <a:spLocks noChangeArrowheads="1"/>
              </p:cNvSpPr>
              <p:nvPr/>
            </p:nvSpPr>
            <p:spPr bwMode="auto">
              <a:xfrm>
                <a:off x="3930" y="3708"/>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sp>
        <p:nvSpPr>
          <p:cNvPr id="2" name="矩形 1"/>
          <p:cNvSpPr/>
          <p:nvPr/>
        </p:nvSpPr>
        <p:spPr>
          <a:xfrm>
            <a:off x="1438250" y="2348542"/>
            <a:ext cx="1441420"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（同步已发送）</a:t>
            </a:r>
          </a:p>
        </p:txBody>
      </p:sp>
      <p:sp>
        <p:nvSpPr>
          <p:cNvPr id="4" name="矩形 3"/>
          <p:cNvSpPr/>
          <p:nvPr/>
        </p:nvSpPr>
        <p:spPr>
          <a:xfrm>
            <a:off x="6411530" y="2838334"/>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（同步收到）</a:t>
            </a:r>
          </a:p>
        </p:txBody>
      </p:sp>
      <p:sp>
        <p:nvSpPr>
          <p:cNvPr id="5" name="矩形 4"/>
          <p:cNvSpPr/>
          <p:nvPr/>
        </p:nvSpPr>
        <p:spPr>
          <a:xfrm>
            <a:off x="1439489" y="3369465"/>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52" name="矩形 51"/>
          <p:cNvSpPr/>
          <p:nvPr/>
        </p:nvSpPr>
        <p:spPr>
          <a:xfrm>
            <a:off x="6396639" y="3655617"/>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38" name="内容占位符 37">
            <a:extLst>
              <a:ext uri="{FF2B5EF4-FFF2-40B4-BE49-F238E27FC236}">
                <a16:creationId xmlns:a16="http://schemas.microsoft.com/office/drawing/2014/main" id="{2EE459F5-4FAE-E025-192D-E74A637662DB}"/>
              </a:ext>
            </a:extLst>
          </p:cNvPr>
          <p:cNvSpPr>
            <a:spLocks noGrp="1"/>
          </p:cNvSpPr>
          <p:nvPr>
            <p:ph sz="quarter" idx="11"/>
          </p:nvPr>
        </p:nvSpPr>
        <p:spPr/>
        <p:txBody>
          <a:bodyPr/>
          <a:lstStyle/>
          <a:p>
            <a:endParaRPr lang="zh-CN" altLang="en-US"/>
          </a:p>
        </p:txBody>
      </p:sp>
      <p:sp>
        <p:nvSpPr>
          <p:cNvPr id="37" name="标题 36">
            <a:extLst>
              <a:ext uri="{FF2B5EF4-FFF2-40B4-BE49-F238E27FC236}">
                <a16:creationId xmlns:a16="http://schemas.microsoft.com/office/drawing/2014/main" id="{F905790C-7AB5-9664-8D60-74DF231A0FC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36184"/>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906739" y="584769"/>
            <a:ext cx="33305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5.9.2  TCP </a:t>
            </a:r>
            <a:r>
              <a:rPr lang="zh-CN" altLang="en-US" sz="2400" b="1" dirty="0">
                <a:solidFill>
                  <a:schemeClr val="bg1"/>
                </a:solidFill>
                <a:latin typeface="微软雅黑" pitchFamily="34" charset="-122"/>
                <a:ea typeface="微软雅黑" pitchFamily="34" charset="-122"/>
              </a:rPr>
              <a:t>的连接释放</a:t>
            </a:r>
          </a:p>
        </p:txBody>
      </p:sp>
      <p:sp>
        <p:nvSpPr>
          <p:cNvPr id="4" name="Rectangle 8"/>
          <p:cNvSpPr>
            <a:spLocks noChangeArrowheads="1"/>
          </p:cNvSpPr>
          <p:nvPr/>
        </p:nvSpPr>
        <p:spPr bwMode="auto">
          <a:xfrm>
            <a:off x="545143" y="1039782"/>
            <a:ext cx="7665003"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连接释放过程比较复杂。</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数据传输结束后，通信的</a:t>
            </a:r>
            <a:r>
              <a:rPr lang="zh-CN" altLang="en-US" sz="2000" b="1" dirty="0">
                <a:solidFill>
                  <a:srgbClr val="C00000"/>
                </a:solidFill>
                <a:latin typeface="微软雅黑" pitchFamily="34" charset="-122"/>
                <a:ea typeface="微软雅黑" pitchFamily="34" charset="-122"/>
              </a:rPr>
              <a:t>双方</a:t>
            </a:r>
            <a:r>
              <a:rPr lang="zh-CN" altLang="en-US" sz="2000" b="1" dirty="0">
                <a:latin typeface="微软雅黑" pitchFamily="34" charset="-122"/>
                <a:ea typeface="微软雅黑" pitchFamily="34" charset="-122"/>
              </a:rPr>
              <a:t>都可释放连接。</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连接释放过程是</a:t>
            </a:r>
            <a:r>
              <a:rPr lang="zh-CN" altLang="en-US" sz="2000" b="1" dirty="0">
                <a:solidFill>
                  <a:srgbClr val="C00000"/>
                </a:solidFill>
                <a:latin typeface="微软雅黑" pitchFamily="34" charset="-122"/>
                <a:ea typeface="微软雅黑" pitchFamily="34" charset="-122"/>
              </a:rPr>
              <a:t>四报文握手。</a:t>
            </a:r>
          </a:p>
        </p:txBody>
      </p:sp>
      <p:sp>
        <p:nvSpPr>
          <p:cNvPr id="9" name="内容占位符 8">
            <a:extLst>
              <a:ext uri="{FF2B5EF4-FFF2-40B4-BE49-F238E27FC236}">
                <a16:creationId xmlns:a16="http://schemas.microsoft.com/office/drawing/2014/main" id="{407582DB-C4E6-9DC1-4B81-C2226EC321B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0F0CDFFA-CE84-E1B1-92F1-BB8F1195D32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圆角矩形 2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5"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6" name="内容占位符 5">
            <a:extLst>
              <a:ext uri="{FF2B5EF4-FFF2-40B4-BE49-F238E27FC236}">
                <a16:creationId xmlns:a16="http://schemas.microsoft.com/office/drawing/2014/main" id="{BFF2ECFC-9256-4EA6-393E-F71DD3A81265}"/>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A1F1ABA-C5ED-CAB0-9953-96DFED59145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圆角矩形 5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3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，这个报文段的序号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6" name="内容占位符 5">
            <a:extLst>
              <a:ext uri="{FF2B5EF4-FFF2-40B4-BE49-F238E27FC236}">
                <a16:creationId xmlns:a16="http://schemas.microsoft.com/office/drawing/2014/main" id="{9EAE2916-4B15-7BA7-2D04-6D27E7CF2AD1}"/>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9E2B9DA-66A0-C871-38FA-E4D04536916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圆角矩形 6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6"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40"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6" name="内容占位符 5">
            <a:extLst>
              <a:ext uri="{FF2B5EF4-FFF2-40B4-BE49-F238E27FC236}">
                <a16:creationId xmlns:a16="http://schemas.microsoft.com/office/drawing/2014/main" id="{7BA56D61-E990-C8F8-C327-3A90E8A74DA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BB0F1F6-E51D-AE4F-6F07-96392C45B1B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圆角矩形 45"/>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=w+1</a:t>
            </a:r>
            <a:r>
              <a:rPr lang="zh-CN" altLang="en-US" sz="1600" b="1" dirty="0">
                <a:latin typeface="微软雅黑" pitchFamily="34" charset="-122"/>
                <a:ea typeface="微软雅黑" pitchFamily="34" charset="-122"/>
              </a:rPr>
              <a:t>，自己的序号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50" name="内容占位符 49">
            <a:extLst>
              <a:ext uri="{FF2B5EF4-FFF2-40B4-BE49-F238E27FC236}">
                <a16:creationId xmlns:a16="http://schemas.microsoft.com/office/drawing/2014/main" id="{3D6C09CC-ABB9-440A-8A03-2226D38725C6}"/>
              </a:ext>
            </a:extLst>
          </p:cNvPr>
          <p:cNvSpPr>
            <a:spLocks noGrp="1"/>
          </p:cNvSpPr>
          <p:nvPr>
            <p:ph sz="quarter" idx="11"/>
          </p:nvPr>
        </p:nvSpPr>
        <p:spPr/>
        <p:txBody>
          <a:bodyPr/>
          <a:lstStyle/>
          <a:p>
            <a:endParaRPr lang="zh-CN" altLang="en-US"/>
          </a:p>
        </p:txBody>
      </p:sp>
      <p:sp>
        <p:nvSpPr>
          <p:cNvPr id="49" name="标题 48">
            <a:extLst>
              <a:ext uri="{FF2B5EF4-FFF2-40B4-BE49-F238E27FC236}">
                <a16:creationId xmlns:a16="http://schemas.microsoft.com/office/drawing/2014/main" id="{823C4A66-DA2C-0B7C-B687-366BA2E333D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圆角矩形 57"/>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grpSp>
        <p:nvGrpSpPr>
          <p:cNvPr id="66" name="Group 8"/>
          <p:cNvGrpSpPr>
            <a:grpSpLocks/>
          </p:cNvGrpSpPr>
          <p:nvPr/>
        </p:nvGrpSpPr>
        <p:grpSpPr bwMode="auto">
          <a:xfrm>
            <a:off x="3393849" y="1833311"/>
            <a:ext cx="2305317" cy="428484"/>
            <a:chOff x="1614" y="1484"/>
            <a:chExt cx="2604" cy="484"/>
          </a:xfrm>
        </p:grpSpPr>
        <p:sp>
          <p:nvSpPr>
            <p:cNvPr id="67"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68"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72"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5"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18"/>
          <p:cNvSpPr>
            <a:spLocks noChangeArrowheads="1"/>
          </p:cNvSpPr>
          <p:nvPr/>
        </p:nvSpPr>
        <p:spPr bwMode="auto">
          <a:xfrm>
            <a:off x="2860899" y="1840394"/>
            <a:ext cx="532065" cy="866707"/>
          </a:xfrm>
          <a:prstGeom prst="rect">
            <a:avLst/>
          </a:prstGeom>
          <a:solidFill>
            <a:srgbClr val="CC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7"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78" name="Group 20"/>
          <p:cNvGrpSpPr>
            <a:grpSpLocks/>
          </p:cNvGrpSpPr>
          <p:nvPr/>
        </p:nvGrpSpPr>
        <p:grpSpPr bwMode="auto">
          <a:xfrm>
            <a:off x="2806011" y="1372071"/>
            <a:ext cx="3501355" cy="46036"/>
            <a:chOff x="1020" y="481"/>
            <a:chExt cx="4037" cy="46"/>
          </a:xfrm>
        </p:grpSpPr>
        <p:sp>
          <p:nvSpPr>
            <p:cNvPr id="79" name="Line 21"/>
            <p:cNvSpPr>
              <a:spLocks noChangeShapeType="1"/>
            </p:cNvSpPr>
            <p:nvPr/>
          </p:nvSpPr>
          <p:spPr bwMode="auto">
            <a:xfrm>
              <a:off x="1020" y="527"/>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0" name="Line 22"/>
            <p:cNvSpPr>
              <a:spLocks noChangeShapeType="1"/>
            </p:cNvSpPr>
            <p:nvPr/>
          </p:nvSpPr>
          <p:spPr bwMode="auto">
            <a:xfrm>
              <a:off x="1020" y="481"/>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1" name="Rectangle 23"/>
          <p:cNvSpPr>
            <a:spLocks noChangeArrowheads="1"/>
          </p:cNvSpPr>
          <p:nvPr/>
        </p:nvSpPr>
        <p:spPr bwMode="auto">
          <a:xfrm>
            <a:off x="2816590" y="2049137"/>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WAIT-1</a:t>
            </a:r>
          </a:p>
        </p:txBody>
      </p:sp>
      <p:sp>
        <p:nvSpPr>
          <p:cNvPr id="82" name="Rectangle 24"/>
          <p:cNvSpPr>
            <a:spLocks noChangeArrowheads="1"/>
          </p:cNvSpPr>
          <p:nvPr/>
        </p:nvSpPr>
        <p:spPr bwMode="auto">
          <a:xfrm>
            <a:off x="5697395" y="2291896"/>
            <a:ext cx="532950" cy="489570"/>
          </a:xfrm>
          <a:prstGeom prst="rect">
            <a:avLst/>
          </a:prstGeom>
          <a:solidFill>
            <a:schemeClr val="accent5">
              <a:lumMod val="7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3" name="Rectangle 25"/>
          <p:cNvSpPr>
            <a:spLocks noChangeArrowheads="1"/>
          </p:cNvSpPr>
          <p:nvPr/>
        </p:nvSpPr>
        <p:spPr bwMode="auto">
          <a:xfrm>
            <a:off x="5664639" y="2354752"/>
            <a:ext cx="650820"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CLOSE-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84" name="Rectangle 26"/>
          <p:cNvSpPr>
            <a:spLocks noChangeArrowheads="1"/>
          </p:cNvSpPr>
          <p:nvPr/>
        </p:nvSpPr>
        <p:spPr bwMode="auto">
          <a:xfrm>
            <a:off x="2860899" y="2747825"/>
            <a:ext cx="532065" cy="486029"/>
          </a:xfrm>
          <a:prstGeom prst="rect">
            <a:avLst/>
          </a:prstGeom>
          <a:solidFill>
            <a:srgbClr val="0000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5" name="Rectangle 27"/>
          <p:cNvSpPr>
            <a:spLocks noChangeArrowheads="1"/>
          </p:cNvSpPr>
          <p:nvPr/>
        </p:nvSpPr>
        <p:spPr bwMode="auto">
          <a:xfrm>
            <a:off x="2809275" y="2777925"/>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WAIT-2</a:t>
            </a:r>
          </a:p>
        </p:txBody>
      </p:sp>
      <p:sp>
        <p:nvSpPr>
          <p:cNvPr id="86" name="Rectangle 28"/>
          <p:cNvSpPr>
            <a:spLocks noChangeArrowheads="1"/>
          </p:cNvSpPr>
          <p:nvPr/>
        </p:nvSpPr>
        <p:spPr bwMode="auto">
          <a:xfrm>
            <a:off x="5697395" y="2825731"/>
            <a:ext cx="532950" cy="826869"/>
          </a:xfrm>
          <a:prstGeom prst="rect">
            <a:avLst/>
          </a:prstGeom>
          <a:solidFill>
            <a:srgbClr val="0070C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7" name="Rectangle 29"/>
          <p:cNvSpPr>
            <a:spLocks noChangeArrowheads="1"/>
          </p:cNvSpPr>
          <p:nvPr/>
        </p:nvSpPr>
        <p:spPr bwMode="auto">
          <a:xfrm>
            <a:off x="5698701" y="3060335"/>
            <a:ext cx="56265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LAST-</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ACK</a:t>
            </a:r>
          </a:p>
        </p:txBody>
      </p:sp>
      <p:grpSp>
        <p:nvGrpSpPr>
          <p:cNvPr id="88" name="Group 30"/>
          <p:cNvGrpSpPr>
            <a:grpSpLocks/>
          </p:cNvGrpSpPr>
          <p:nvPr/>
        </p:nvGrpSpPr>
        <p:grpSpPr bwMode="auto">
          <a:xfrm>
            <a:off x="2099547" y="3263852"/>
            <a:ext cx="1324404" cy="794112"/>
            <a:chOff x="152" y="3081"/>
            <a:chExt cx="1496" cy="897"/>
          </a:xfrm>
        </p:grpSpPr>
        <p:sp>
          <p:nvSpPr>
            <p:cNvPr id="89" name="Rectangle 31"/>
            <p:cNvSpPr>
              <a:spLocks noChangeArrowheads="1"/>
            </p:cNvSpPr>
            <p:nvPr/>
          </p:nvSpPr>
          <p:spPr bwMode="auto">
            <a:xfrm>
              <a:off x="152" y="3081"/>
              <a:ext cx="943"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等待 </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2MSL</a:t>
              </a:r>
            </a:p>
          </p:txBody>
        </p:sp>
        <p:sp>
          <p:nvSpPr>
            <p:cNvPr id="90" name="Rectangle 32"/>
            <p:cNvSpPr>
              <a:spLocks noChangeArrowheads="1"/>
            </p:cNvSpPr>
            <p:nvPr/>
          </p:nvSpPr>
          <p:spPr bwMode="auto">
            <a:xfrm>
              <a:off x="1012" y="3097"/>
              <a:ext cx="601" cy="779"/>
            </a:xfrm>
            <a:prstGeom prst="rect">
              <a:avLst/>
            </a:prstGeom>
            <a:solidFill>
              <a:srgbClr val="7030A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1" name="Rectangle 33"/>
            <p:cNvSpPr>
              <a:spLocks noChangeArrowheads="1"/>
            </p:cNvSpPr>
            <p:nvPr/>
          </p:nvSpPr>
          <p:spPr bwMode="auto">
            <a:xfrm>
              <a:off x="1007" y="3292"/>
              <a:ext cx="641"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TIME-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92" name="Freeform 34"/>
            <p:cNvSpPr>
              <a:spLocks/>
            </p:cNvSpPr>
            <p:nvPr/>
          </p:nvSpPr>
          <p:spPr bwMode="auto">
            <a:xfrm>
              <a:off x="185" y="3081"/>
              <a:ext cx="819" cy="799"/>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265" y="3178"/>
              <a:ext cx="725" cy="8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i="0" u="none" strike="noStrike" kern="0" cap="none" spc="0" normalizeH="0" baseline="0" noProof="0" dirty="0">
                  <a:ln>
                    <a:noFill/>
                  </a:ln>
                  <a:solidFill>
                    <a:srgbClr val="0000FF"/>
                  </a:solidFill>
                  <a:effectLst/>
                  <a:uLnTx/>
                  <a:uFillTx/>
                  <a:latin typeface="微软雅黑" pitchFamily="34" charset="-122"/>
                  <a:ea typeface="微软雅黑" pitchFamily="34" charset="-122"/>
                  <a:sym typeface="Wingdings" pitchFamily="2" charset="2"/>
                </a:rPr>
                <a:t></a:t>
              </a:r>
            </a:p>
          </p:txBody>
        </p:sp>
      </p:grpSp>
      <p:sp>
        <p:nvSpPr>
          <p:cNvPr id="94" name="Rectangle 36"/>
          <p:cNvSpPr>
            <a:spLocks noChangeArrowheads="1"/>
          </p:cNvSpPr>
          <p:nvPr/>
        </p:nvSpPr>
        <p:spPr bwMode="auto">
          <a:xfrm>
            <a:off x="5697395" y="3703061"/>
            <a:ext cx="532950" cy="294805"/>
          </a:xfrm>
          <a:prstGeom prst="rect">
            <a:avLst/>
          </a:prstGeom>
          <a:solidFill>
            <a:srgbClr val="00FF99"/>
          </a:solidFill>
          <a:ln>
            <a:solidFill>
              <a:schemeClr val="tx1"/>
            </a:solid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95" name="Group 37"/>
          <p:cNvGrpSpPr>
            <a:grpSpLocks/>
          </p:cNvGrpSpPr>
          <p:nvPr/>
        </p:nvGrpSpPr>
        <p:grpSpPr bwMode="auto">
          <a:xfrm>
            <a:off x="2103083" y="1220685"/>
            <a:ext cx="922481" cy="603775"/>
            <a:chOff x="156" y="792"/>
            <a:chExt cx="1042" cy="682"/>
          </a:xfrm>
        </p:grpSpPr>
        <p:sp>
          <p:nvSpPr>
            <p:cNvPr id="9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98"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sp>
        <p:nvSpPr>
          <p:cNvPr id="100"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nvGrpSpPr>
          <p:cNvPr id="101" name="Group 43"/>
          <p:cNvGrpSpPr>
            <a:grpSpLocks/>
          </p:cNvGrpSpPr>
          <p:nvPr/>
        </p:nvGrpSpPr>
        <p:grpSpPr bwMode="auto">
          <a:xfrm>
            <a:off x="6121453" y="1287082"/>
            <a:ext cx="750733" cy="997731"/>
            <a:chOff x="4695" y="867"/>
            <a:chExt cx="848" cy="1127"/>
          </a:xfrm>
        </p:grpSpPr>
        <p:sp>
          <p:nvSpPr>
            <p:cNvPr id="102"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sp>
        <p:nvSpPr>
          <p:cNvPr id="108"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09"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10"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11"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sp>
        <p:nvSpPr>
          <p:cNvPr id="112"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13" name="Text Box 55"/>
          <p:cNvSpPr txBox="1">
            <a:spLocks noChangeArrowheads="1"/>
          </p:cNvSpPr>
          <p:nvPr/>
        </p:nvSpPr>
        <p:spPr bwMode="auto">
          <a:xfrm>
            <a:off x="5641576" y="3756179"/>
            <a:ext cx="541803" cy="187683"/>
          </a:xfrm>
          <a:prstGeom prst="rect">
            <a:avLst/>
          </a:prstGeom>
          <a:noFill/>
          <a:ln>
            <a:noFill/>
          </a:ln>
          <a:effectLst/>
          <a:extLst>
            <a:ext uri="{909E8E84-426E-40DD-AFC4-6F175D3DCCD1}">
              <a14:hiddenFill xmlns:a14="http://schemas.microsoft.com/office/drawing/2010/main">
                <a:solidFill>
                  <a:srgbClr val="663300"/>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a:r>
              <a:rPr lang="en-US" altLang="zh-CN" sz="1000" dirty="0">
                <a:latin typeface="微软雅黑" pitchFamily="34" charset="-122"/>
                <a:ea typeface="微软雅黑" pitchFamily="34" charset="-122"/>
              </a:rPr>
              <a:t>CLOSED</a:t>
            </a:r>
          </a:p>
        </p:txBody>
      </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17"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18"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4" name="组合 3"/>
          <p:cNvGrpSpPr/>
          <p:nvPr/>
        </p:nvGrpSpPr>
        <p:grpSpPr>
          <a:xfrm>
            <a:off x="2857404" y="3984586"/>
            <a:ext cx="541802" cy="294805"/>
            <a:chOff x="2857404" y="3984586"/>
            <a:chExt cx="541802" cy="294805"/>
          </a:xfrm>
        </p:grpSpPr>
        <p:sp>
          <p:nvSpPr>
            <p:cNvPr id="61" name="Rectangle 3"/>
            <p:cNvSpPr>
              <a:spLocks noChangeArrowheads="1"/>
            </p:cNvSpPr>
            <p:nvPr/>
          </p:nvSpPr>
          <p:spPr bwMode="auto">
            <a:xfrm>
              <a:off x="2860900" y="3984586"/>
              <a:ext cx="532064" cy="294805"/>
            </a:xfrm>
            <a:prstGeom prst="rect">
              <a:avLst/>
            </a:prstGeom>
            <a:solidFill>
              <a:srgbClr val="00FF99"/>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4"/>
            <p:cNvSpPr txBox="1">
              <a:spLocks noChangeArrowheads="1"/>
            </p:cNvSpPr>
            <p:nvPr/>
          </p:nvSpPr>
          <p:spPr bwMode="auto">
            <a:xfrm>
              <a:off x="2857404" y="4031507"/>
              <a:ext cx="541802" cy="187684"/>
            </a:xfrm>
            <a:prstGeom prst="rect">
              <a:avLst/>
            </a:prstGeom>
            <a:no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0" fontAlgn="auto" latinLnBrk="0" hangingPunct="0">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effectLst/>
                  <a:uLnTx/>
                  <a:uFillTx/>
                  <a:latin typeface="微软雅黑" pitchFamily="34" charset="-122"/>
                  <a:ea typeface="微软雅黑" pitchFamily="34" charset="-122"/>
                </a:rPr>
                <a:t>CLOSED</a:t>
              </a:r>
            </a:p>
          </p:txBody>
        </p:sp>
      </p:grpSp>
      <p:sp>
        <p:nvSpPr>
          <p:cNvPr id="59" name="Text Box 155"/>
          <p:cNvSpPr txBox="1">
            <a:spLocks noChangeArrowheads="1"/>
          </p:cNvSpPr>
          <p:nvPr/>
        </p:nvSpPr>
        <p:spPr bwMode="auto">
          <a:xfrm>
            <a:off x="3484723" y="3994017"/>
            <a:ext cx="4499780"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请注意：此时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连接还没有释放掉。必须经过</a:t>
            </a:r>
            <a:r>
              <a:rPr lang="zh-CN" altLang="en-US" sz="1600" b="1" dirty="0">
                <a:solidFill>
                  <a:srgbClr val="C00000"/>
                </a:solidFill>
                <a:latin typeface="微软雅黑" pitchFamily="34" charset="-122"/>
                <a:ea typeface="微软雅黑" pitchFamily="34" charset="-122"/>
              </a:rPr>
              <a:t>时间等待计时器 </a:t>
            </a:r>
            <a:r>
              <a:rPr lang="en-US" altLang="zh-CN" sz="1600" b="1" dirty="0">
                <a:latin typeface="微软雅黑" pitchFamily="34" charset="-122"/>
                <a:ea typeface="微软雅黑" pitchFamily="34" charset="-122"/>
              </a:rPr>
              <a:t>(TIME-WAIT timer) </a:t>
            </a:r>
            <a:r>
              <a:rPr lang="zh-CN" altLang="en-US" sz="1600" b="1" dirty="0">
                <a:latin typeface="微软雅黑" pitchFamily="34" charset="-122"/>
                <a:ea typeface="微软雅黑" pitchFamily="34" charset="-122"/>
              </a:rPr>
              <a:t>设置的时间 </a:t>
            </a:r>
            <a:r>
              <a:rPr lang="en-US" altLang="zh-CN" sz="1600" b="1" dirty="0">
                <a:solidFill>
                  <a:srgbClr val="C00000"/>
                </a:solidFill>
                <a:latin typeface="微软雅黑" pitchFamily="34" charset="-122"/>
                <a:ea typeface="微软雅黑" pitchFamily="34" charset="-122"/>
              </a:rPr>
              <a:t>2MSL</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后，</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才释放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p:txBody>
      </p:sp>
      <p:sp>
        <p:nvSpPr>
          <p:cNvPr id="2" name="矩形 1"/>
          <p:cNvSpPr/>
          <p:nvPr/>
        </p:nvSpPr>
        <p:spPr>
          <a:xfrm>
            <a:off x="1502557" y="2092349"/>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1</a:t>
            </a:r>
            <a:r>
              <a:rPr lang="zh-CN" altLang="en-US" sz="1400" b="1" dirty="0">
                <a:latin typeface="微软雅黑" panose="020B0503020204020204" pitchFamily="34" charset="-122"/>
                <a:ea typeface="微软雅黑" panose="020B0503020204020204" pitchFamily="34" charset="-122"/>
              </a:rPr>
              <a:t>）</a:t>
            </a:r>
          </a:p>
        </p:txBody>
      </p:sp>
      <p:sp>
        <p:nvSpPr>
          <p:cNvPr id="5" name="矩形 4"/>
          <p:cNvSpPr/>
          <p:nvPr/>
        </p:nvSpPr>
        <p:spPr>
          <a:xfrm>
            <a:off x="1500736" y="2772248"/>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2</a:t>
            </a:r>
            <a:r>
              <a:rPr lang="zh-CN" altLang="en-US" sz="1400" b="1" dirty="0">
                <a:latin typeface="微软雅黑" panose="020B0503020204020204" pitchFamily="34" charset="-122"/>
                <a:ea typeface="微软雅黑" panose="020B0503020204020204" pitchFamily="34" charset="-122"/>
              </a:rPr>
              <a:t>）</a:t>
            </a:r>
          </a:p>
        </p:txBody>
      </p:sp>
      <p:sp>
        <p:nvSpPr>
          <p:cNvPr id="6" name="矩形 5"/>
          <p:cNvSpPr/>
          <p:nvPr/>
        </p:nvSpPr>
        <p:spPr>
          <a:xfrm>
            <a:off x="6960085" y="2347960"/>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（关闭等待）</a:t>
            </a:r>
          </a:p>
        </p:txBody>
      </p:sp>
      <p:sp>
        <p:nvSpPr>
          <p:cNvPr id="7" name="矩形 6"/>
          <p:cNvSpPr/>
          <p:nvPr/>
        </p:nvSpPr>
        <p:spPr>
          <a:xfrm>
            <a:off x="6970075" y="3102407"/>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（最后确认）</a:t>
            </a:r>
          </a:p>
        </p:txBody>
      </p:sp>
      <p:sp>
        <p:nvSpPr>
          <p:cNvPr id="8" name="矩形 7"/>
          <p:cNvSpPr/>
          <p:nvPr/>
        </p:nvSpPr>
        <p:spPr>
          <a:xfrm>
            <a:off x="886427" y="3444915"/>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（时间等待）</a:t>
            </a:r>
          </a:p>
        </p:txBody>
      </p:sp>
      <p:sp>
        <p:nvSpPr>
          <p:cNvPr id="104" name="矩形 103"/>
          <p:cNvSpPr/>
          <p:nvPr/>
        </p:nvSpPr>
        <p:spPr>
          <a:xfrm>
            <a:off x="6975341" y="3669063"/>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05" name="矩形 104"/>
          <p:cNvSpPr/>
          <p:nvPr/>
        </p:nvSpPr>
        <p:spPr>
          <a:xfrm>
            <a:off x="1224463" y="3970925"/>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3" name="内容占位符 12">
            <a:extLst>
              <a:ext uri="{FF2B5EF4-FFF2-40B4-BE49-F238E27FC236}">
                <a16:creationId xmlns:a16="http://schemas.microsoft.com/office/drawing/2014/main" id="{5147E6D8-3021-9D0D-4826-995471616645}"/>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22F713BD-4966-14E8-3349-1C8D16D62E2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88"/>
                                        </p:tgtEl>
                                        <p:attrNameLst>
                                          <p:attrName>style.visibility</p:attrName>
                                        </p:attrNameLst>
                                      </p:cBhvr>
                                      <p:tavLst>
                                        <p:tav tm="0">
                                          <p:val>
                                            <p:strVal val="hidden"/>
                                          </p:val>
                                        </p:tav>
                                        <p:tav tm="50000">
                                          <p:val>
                                            <p:strVal val="visible"/>
                                          </p:val>
                                        </p:tav>
                                      </p:tavLst>
                                    </p:anim>
                                  </p:childTnLst>
                                </p:cTn>
                              </p:par>
                            </p:childTnLst>
                          </p:cTn>
                        </p:par>
                        <p:par>
                          <p:cTn id="7" fill="hold">
                            <p:stCondLst>
                              <p:cond delay="3500"/>
                            </p:stCondLst>
                            <p:childTnLst>
                              <p:par>
                                <p:cTn id="8" presetID="22" presetClass="entr" presetSubtype="1" fill="hold" nodeType="afterEffect">
                                  <p:stCondLst>
                                    <p:cond delay="5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992269"/>
            <a:ext cx="8053711"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第一</a:t>
            </a:r>
            <a:r>
              <a:rPr lang="zh-CN" altLang="en-US" sz="2000" b="1" dirty="0">
                <a:latin typeface="微软雅黑" pitchFamily="34" charset="-122"/>
                <a:ea typeface="微软雅黑" pitchFamily="34" charset="-122"/>
              </a:rPr>
              <a:t>，保证发送的</a:t>
            </a:r>
            <a:r>
              <a:rPr lang="zh-CN" altLang="en-US" sz="2000" b="1" dirty="0">
                <a:solidFill>
                  <a:srgbClr val="C00000"/>
                </a:solidFill>
                <a:latin typeface="微软雅黑" pitchFamily="34" charset="-122"/>
                <a:ea typeface="微软雅黑" pitchFamily="34" charset="-122"/>
              </a:rPr>
              <a:t>最后一个 </a:t>
            </a:r>
            <a:r>
              <a:rPr lang="en-US" altLang="zh-CN" sz="2000" b="1" dirty="0">
                <a:solidFill>
                  <a:srgbClr val="C00000"/>
                </a:solidFill>
                <a:latin typeface="微软雅黑" pitchFamily="34" charset="-122"/>
                <a:ea typeface="微软雅黑" pitchFamily="34" charset="-122"/>
              </a:rPr>
              <a:t>ACK </a:t>
            </a:r>
            <a:r>
              <a:rPr lang="zh-CN" altLang="en-US" sz="2000" b="1" dirty="0">
                <a:latin typeface="微软雅黑" pitchFamily="34" charset="-122"/>
                <a:ea typeface="微软雅黑" pitchFamily="34" charset="-122"/>
              </a:rPr>
              <a:t>报文段能够到达 </a:t>
            </a:r>
            <a:r>
              <a:rPr lang="en-US" altLang="zh-CN" sz="2000" b="1" dirty="0">
                <a:latin typeface="微软雅黑" pitchFamily="34" charset="-122"/>
                <a:ea typeface="微软雅黑" pitchFamily="34" charset="-122"/>
              </a:rPr>
              <a:t>B</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第二</a:t>
            </a:r>
            <a:r>
              <a:rPr lang="zh-CN" altLang="en-US" sz="2000" b="1" dirty="0">
                <a:latin typeface="微软雅黑" pitchFamily="34" charset="-122"/>
                <a:ea typeface="微软雅黑" pitchFamily="34" charset="-122"/>
              </a:rPr>
              <a:t>，防止“</a:t>
            </a:r>
            <a:r>
              <a:rPr lang="zh-CN" altLang="en-US" sz="2000" b="1" dirty="0">
                <a:solidFill>
                  <a:srgbClr val="C00000"/>
                </a:solidFill>
                <a:latin typeface="微软雅黑" pitchFamily="34" charset="-122"/>
                <a:ea typeface="微软雅黑" pitchFamily="34" charset="-122"/>
              </a:rPr>
              <a:t>已失效的连接请求报文段</a:t>
            </a:r>
            <a:r>
              <a:rPr lang="zh-CN" altLang="en-US" sz="2000" b="1" dirty="0">
                <a:latin typeface="微软雅黑" pitchFamily="34" charset="-122"/>
                <a:ea typeface="微软雅黑" pitchFamily="34" charset="-122"/>
              </a:rPr>
              <a:t>”出现在本连接中。</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55319" y="589768"/>
            <a:ext cx="28520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必须等待 </a:t>
            </a:r>
            <a:r>
              <a:rPr lang="en-US" altLang="zh-CN" sz="2000" b="1" dirty="0">
                <a:solidFill>
                  <a:schemeClr val="bg1"/>
                </a:solidFill>
                <a:latin typeface="微软雅黑" pitchFamily="34" charset="-122"/>
                <a:ea typeface="微软雅黑" pitchFamily="34" charset="-122"/>
              </a:rPr>
              <a:t>2MSL </a:t>
            </a:r>
            <a:r>
              <a:rPr lang="zh-CN" altLang="en-US" sz="2000" b="1" dirty="0">
                <a:solidFill>
                  <a:schemeClr val="bg1"/>
                </a:solidFill>
                <a:latin typeface="微软雅黑" pitchFamily="34" charset="-122"/>
                <a:ea typeface="微软雅黑" pitchFamily="34" charset="-122"/>
              </a:rPr>
              <a:t>的时间</a:t>
            </a:r>
          </a:p>
        </p:txBody>
      </p:sp>
      <p:sp>
        <p:nvSpPr>
          <p:cNvPr id="9" name="内容占位符 8">
            <a:extLst>
              <a:ext uri="{FF2B5EF4-FFF2-40B4-BE49-F238E27FC236}">
                <a16:creationId xmlns:a16="http://schemas.microsoft.com/office/drawing/2014/main" id="{FD9ED9C3-89A7-33D2-4C97-29F4DA896F0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882F8E5F-DE22-6205-7994-D3C30FC828B8}"/>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99227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用来</a:t>
            </a:r>
            <a:r>
              <a:rPr lang="zh-CN" altLang="en-US" sz="2000" b="1" dirty="0">
                <a:solidFill>
                  <a:srgbClr val="C00000"/>
                </a:solidFill>
                <a:latin typeface="微软雅黑" pitchFamily="34" charset="-122"/>
                <a:ea typeface="微软雅黑" pitchFamily="34" charset="-122"/>
              </a:rPr>
              <a:t>防止</a:t>
            </a: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连接出现</a:t>
            </a:r>
            <a:r>
              <a:rPr lang="zh-CN" altLang="en-US" sz="2000" b="1" dirty="0">
                <a:solidFill>
                  <a:srgbClr val="C00000"/>
                </a:solidFill>
                <a:latin typeface="微软雅黑" pitchFamily="34" charset="-122"/>
                <a:ea typeface="微软雅黑" pitchFamily="34" charset="-122"/>
              </a:rPr>
              <a:t>长时期空闲。</a:t>
            </a:r>
            <a:endParaRPr lang="en-US" altLang="zh-CN" sz="2000" b="1" dirty="0">
              <a:solidFill>
                <a:srgbClr val="C00000"/>
              </a:solidFill>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通常设置为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小时 。</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若服务器过了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小时还没有收到客户的信息，它就发送</a:t>
            </a:r>
            <a:r>
              <a:rPr lang="zh-CN" altLang="en-US" sz="2000" b="1" dirty="0">
                <a:solidFill>
                  <a:srgbClr val="C00000"/>
                </a:solidFill>
                <a:latin typeface="微软雅黑" pitchFamily="34" charset="-122"/>
                <a:ea typeface="微软雅黑" pitchFamily="34" charset="-122"/>
              </a:rPr>
              <a:t>探测</a:t>
            </a:r>
            <a:r>
              <a:rPr lang="zh-CN" altLang="en-US" sz="2000" b="1" dirty="0">
                <a:latin typeface="微软雅黑" pitchFamily="34" charset="-122"/>
                <a:ea typeface="微软雅黑" pitchFamily="34" charset="-122"/>
              </a:rPr>
              <a:t>报文段。</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若发送了 </a:t>
            </a:r>
            <a:r>
              <a:rPr lang="en-US" altLang="zh-CN" sz="2000" b="1" dirty="0">
                <a:latin typeface="微软雅黑" pitchFamily="34" charset="-122"/>
                <a:ea typeface="微软雅黑" pitchFamily="34" charset="-122"/>
              </a:rPr>
              <a:t>10 </a:t>
            </a:r>
            <a:r>
              <a:rPr lang="zh-CN" altLang="en-US" sz="2000" b="1" dirty="0">
                <a:latin typeface="微软雅黑" pitchFamily="34" charset="-122"/>
                <a:ea typeface="微软雅黑" pitchFamily="34" charset="-122"/>
              </a:rPr>
              <a:t>个探测报文段（每一个相隔 </a:t>
            </a:r>
            <a:r>
              <a:rPr lang="en-US" altLang="zh-CN" sz="2000" b="1" dirty="0">
                <a:latin typeface="微软雅黑" pitchFamily="34" charset="-122"/>
                <a:ea typeface="微软雅黑" pitchFamily="34" charset="-122"/>
              </a:rPr>
              <a:t>75 </a:t>
            </a:r>
            <a:r>
              <a:rPr lang="zh-CN" altLang="en-US" sz="2000" b="1" dirty="0">
                <a:latin typeface="微软雅黑" pitchFamily="34" charset="-122"/>
                <a:ea typeface="微软雅黑" pitchFamily="34" charset="-122"/>
              </a:rPr>
              <a:t>秒）还没有响应，就假定客户出了故障，因而就</a:t>
            </a:r>
            <a:r>
              <a:rPr lang="zh-CN" altLang="en-US" sz="2000" b="1" dirty="0">
                <a:solidFill>
                  <a:srgbClr val="C00000"/>
                </a:solidFill>
                <a:latin typeface="微软雅黑" pitchFamily="34" charset="-122"/>
                <a:ea typeface="微软雅黑" pitchFamily="34" charset="-122"/>
              </a:rPr>
              <a:t>终止</a:t>
            </a:r>
            <a:r>
              <a:rPr lang="zh-CN" altLang="en-US" sz="2000" b="1" dirty="0">
                <a:latin typeface="微软雅黑" pitchFamily="34" charset="-122"/>
                <a:ea typeface="微软雅黑" pitchFamily="34" charset="-122"/>
              </a:rPr>
              <a:t>该连接。 </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47816" y="58976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保活计时器</a:t>
            </a:r>
          </a:p>
        </p:txBody>
      </p:sp>
      <p:sp>
        <p:nvSpPr>
          <p:cNvPr id="9" name="内容占位符 8">
            <a:extLst>
              <a:ext uri="{FF2B5EF4-FFF2-40B4-BE49-F238E27FC236}">
                <a16:creationId xmlns:a16="http://schemas.microsoft.com/office/drawing/2014/main" id="{D085E651-8EAE-F5DF-EEA7-0FDFAEA61A7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07A89BE-C89D-08F0-450B-AD1DBC309F0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45143" y="993781"/>
            <a:ext cx="7797580" cy="37131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sp>
        <p:nvSpPr>
          <p:cNvPr id="70" name="AutoShape 5"/>
          <p:cNvSpPr>
            <a:spLocks noChangeArrowheads="1"/>
          </p:cNvSpPr>
          <p:nvPr/>
        </p:nvSpPr>
        <p:spPr bwMode="auto">
          <a:xfrm>
            <a:off x="545143" y="574386"/>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71" name="Rectangle 6"/>
          <p:cNvSpPr>
            <a:spLocks noChangeArrowheads="1"/>
          </p:cNvSpPr>
          <p:nvPr/>
        </p:nvSpPr>
        <p:spPr bwMode="auto">
          <a:xfrm>
            <a:off x="2752851" y="532115"/>
            <a:ext cx="363830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5.9.3  TCP </a:t>
            </a:r>
            <a:r>
              <a:rPr lang="zh-CN" altLang="en-US" sz="2400" b="1" dirty="0">
                <a:solidFill>
                  <a:schemeClr val="bg1"/>
                </a:solidFill>
                <a:latin typeface="微软雅黑" pitchFamily="34" charset="-122"/>
                <a:ea typeface="微软雅黑" pitchFamily="34" charset="-122"/>
              </a:rPr>
              <a:t>的有限状态机</a:t>
            </a:r>
          </a:p>
        </p:txBody>
      </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5" name="内容占位符 74">
            <a:extLst>
              <a:ext uri="{FF2B5EF4-FFF2-40B4-BE49-F238E27FC236}">
                <a16:creationId xmlns:a16="http://schemas.microsoft.com/office/drawing/2014/main" id="{7831954A-0DB2-4A62-6FB0-F646EC471266}"/>
              </a:ext>
            </a:extLst>
          </p:cNvPr>
          <p:cNvSpPr>
            <a:spLocks noGrp="1"/>
          </p:cNvSpPr>
          <p:nvPr>
            <p:ph sz="quarter" idx="11"/>
          </p:nvPr>
        </p:nvSpPr>
        <p:spPr/>
        <p:txBody>
          <a:bodyPr/>
          <a:lstStyle/>
          <a:p>
            <a:endParaRPr lang="zh-CN" altLang="en-US"/>
          </a:p>
        </p:txBody>
      </p:sp>
      <p:sp>
        <p:nvSpPr>
          <p:cNvPr id="74" name="标题 73">
            <a:extLst>
              <a:ext uri="{FF2B5EF4-FFF2-40B4-BE49-F238E27FC236}">
                <a16:creationId xmlns:a16="http://schemas.microsoft.com/office/drawing/2014/main" id="{CAB5771B-6BAF-010A-6844-DAF3C06B367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6898</TotalTime>
  <Words>17290</Words>
  <Application>Microsoft Office PowerPoint</Application>
  <PresentationFormat>全屏显示(16:9)</PresentationFormat>
  <Paragraphs>4042</Paragraphs>
  <Slides>203</Slides>
  <Notes>21</Notes>
  <HiddenSlides>3</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2</vt:i4>
      </vt:variant>
      <vt:variant>
        <vt:lpstr>幻灯片标题</vt:lpstr>
      </vt:variant>
      <vt:variant>
        <vt:i4>203</vt:i4>
      </vt:variant>
    </vt:vector>
  </HeadingPairs>
  <TitlesOfParts>
    <vt:vector size="216" baseType="lpstr">
      <vt:lpstr>Courier New</vt:lpstr>
      <vt:lpstr>微软雅黑</vt:lpstr>
      <vt:lpstr>Calibri</vt:lpstr>
      <vt:lpstr>Wingdings</vt:lpstr>
      <vt:lpstr>宋体</vt:lpstr>
      <vt:lpstr>Arial</vt:lpstr>
      <vt:lpstr>Symbol</vt:lpstr>
      <vt:lpstr>微软雅黑 Light</vt:lpstr>
      <vt:lpstr>Cambria Math</vt:lpstr>
      <vt:lpstr>Montserrat</vt:lpstr>
      <vt:lpstr>network</vt:lpstr>
      <vt:lpstr>Visio</vt:lpstr>
      <vt:lpstr>公式</vt:lpstr>
      <vt:lpstr>PowerPoint 演示文稿</vt:lpstr>
      <vt:lpstr>计算机网络体系结构</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PowerPoint 演示文稿</vt:lpstr>
      <vt:lpstr>PowerPoint 演示文稿</vt:lpstr>
      <vt:lpstr>5.2.1  UDP 概述</vt:lpstr>
      <vt:lpstr>UDP 的主要特点</vt:lpstr>
      <vt:lpstr>UDP 是面向报文的</vt:lpstr>
      <vt:lpstr>PowerPoint 演示文稿</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PowerPoint 演示文稿</vt:lpstr>
      <vt:lpstr>计算 UDP 检验和的例子</vt:lpstr>
      <vt:lpstr>PowerPoint 演示文稿</vt:lpstr>
      <vt:lpstr>5.3.1  TCP 最主要的特点</vt:lpstr>
      <vt:lpstr>5.3.1  TCP 最主要的特点</vt:lpstr>
      <vt:lpstr>5.3.1  TCP 最主要的特点</vt:lpstr>
      <vt:lpstr>5.3.1  TCP 最主要的特点</vt:lpstr>
      <vt:lpstr>5.3.1  TCP 最主要的特点</vt:lpstr>
      <vt:lpstr>5.3.2  TCP 的连接</vt:lpstr>
      <vt:lpstr>套接字 (socket)</vt:lpstr>
      <vt:lpstr>TCP 连接，IP 地址，套接字</vt:lpstr>
      <vt:lpstr>Socket 有多种不同的意思</vt:lpstr>
      <vt:lpstr>PowerPoint 演示文稿</vt:lpstr>
      <vt:lpstr>IP 网络提供的是不可靠的传输</vt:lpstr>
      <vt:lpstr>理想传输条件的特点</vt:lpstr>
      <vt:lpstr>5.4.1  停止等待协议</vt:lpstr>
      <vt:lpstr>1. 无差a错情况</vt:lpstr>
      <vt:lpstr>2. 出现差错</vt:lpstr>
      <vt:lpstr>2. 出现差错</vt:lpstr>
      <vt:lpstr>2. 出现差错</vt:lpstr>
      <vt:lpstr>3. 确认丢失和确认迟到</vt:lpstr>
      <vt:lpstr>3. 确认丢失和确认迟到</vt:lpstr>
      <vt:lpstr>确认丢失</vt:lpstr>
      <vt:lpstr>3. 确认丢失和确认迟到</vt:lpstr>
      <vt:lpstr>确认迟到</vt:lpstr>
      <vt:lpstr>4. 信道利用率</vt:lpstr>
      <vt:lpstr>停止等待协议要点</vt:lpstr>
      <vt:lpstr>提高传输效率：流水线传输</vt:lpstr>
      <vt:lpstr>5.4.2   连续 ARQ 协议</vt:lpstr>
      <vt:lpstr>发送窗口</vt:lpstr>
      <vt:lpstr>PowerPoint 演示文稿</vt:lpstr>
      <vt:lpstr>累积确认</vt:lpstr>
      <vt:lpstr>累积确认</vt:lpstr>
      <vt:lpstr>5.5  TCP 报文段的首部格式</vt:lpstr>
      <vt:lpstr>5.5  TCP 报文段的首部格式</vt:lpstr>
      <vt:lpstr>源端口和目的端口</vt:lpstr>
      <vt:lpstr>序号</vt:lpstr>
      <vt:lpstr>PowerPoint 演示文稿</vt:lpstr>
      <vt:lpstr>确认号</vt:lpstr>
      <vt:lpstr>数据偏移</vt:lpstr>
      <vt:lpstr>PowerPoint 演示文稿</vt:lpstr>
      <vt:lpstr>URG</vt:lpstr>
      <vt:lpstr>ACK</vt:lpstr>
      <vt:lpstr>PSH</vt:lpstr>
      <vt:lpstr>RST</vt:lpstr>
      <vt:lpstr>SYN</vt:lpstr>
      <vt:lpstr>FIN</vt:lpstr>
      <vt:lpstr>Window</vt:lpstr>
      <vt:lpstr>校验和</vt:lpstr>
      <vt:lpstr>PowerPoint 演示文稿</vt:lpstr>
      <vt:lpstr>紧急指针</vt:lpstr>
      <vt:lpstr>选项</vt:lpstr>
      <vt:lpstr>填充</vt:lpstr>
      <vt:lpstr>PowerPoint 演示文稿</vt:lpstr>
      <vt:lpstr>选项（2）：最大报文段长度 MSS</vt:lpstr>
      <vt:lpstr>选项（2）：最大报文段长度 MSS</vt:lpstr>
      <vt:lpstr>选项（3）：窗口扩大</vt:lpstr>
      <vt:lpstr>选项（3）：窗口扩大</vt:lpstr>
      <vt:lpstr>选项（8）：时间戳</vt:lpstr>
      <vt:lpstr>PowerPoint 演示文稿</vt:lpstr>
      <vt:lpstr>5.6.1   以字节为单位的滑动窗口</vt:lpstr>
      <vt:lpstr>发送窗口</vt:lpstr>
      <vt:lpstr>发送窗口</vt:lpstr>
      <vt:lpstr>发送窗口</vt:lpstr>
      <vt:lpstr>接收窗口</vt:lpstr>
      <vt:lpstr>窗口的滑动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SACK</vt:lpstr>
      <vt:lpstr>PowerPoint 演示文稿</vt:lpstr>
      <vt:lpstr>5.7.1   利用滑动窗口实现流量控制</vt:lpstr>
      <vt:lpstr>利用可变窗口进行流量控制举例</vt:lpstr>
      <vt:lpstr>可能发生死锁</vt:lpstr>
      <vt:lpstr>持续计时器</vt:lpstr>
      <vt:lpstr>5.7.2   TCP 的传输效率</vt:lpstr>
      <vt:lpstr>糊涂窗口综合症</vt:lpstr>
      <vt:lpstr>发送方糊涂窗口综合症</vt:lpstr>
      <vt:lpstr>接收方糊涂窗口综合症</vt:lpstr>
      <vt:lpstr>接收方糊涂窗口综合症</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计算机网络 - 传输层</dc:title>
  <dc:creator>glplaman.github.io</dc:creator>
  <cp:lastModifiedBy>cn plaman</cp:lastModifiedBy>
  <cp:revision>653</cp:revision>
  <dcterms:created xsi:type="dcterms:W3CDTF">2018-07-18T08:51:30Z</dcterms:created>
  <dcterms:modified xsi:type="dcterms:W3CDTF">2025-11-13T11:44:05Z</dcterms:modified>
</cp:coreProperties>
</file>