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4"/>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481" r:id="rId40"/>
    <p:sldId id="482" r:id="rId41"/>
    <p:sldId id="669" r:id="rId42"/>
    <p:sldId id="483" r:id="rId43"/>
    <p:sldId id="484" r:id="rId44"/>
    <p:sldId id="671" r:id="rId45"/>
    <p:sldId id="486" r:id="rId46"/>
    <p:sldId id="488" r:id="rId47"/>
    <p:sldId id="672" r:id="rId48"/>
    <p:sldId id="489" r:id="rId49"/>
    <p:sldId id="490" r:id="rId50"/>
    <p:sldId id="491" r:id="rId51"/>
    <p:sldId id="492" r:id="rId52"/>
    <p:sldId id="493" r:id="rId53"/>
    <p:sldId id="494" r:id="rId54"/>
    <p:sldId id="495" r:id="rId55"/>
    <p:sldId id="497" r:id="rId56"/>
    <p:sldId id="673" r:id="rId57"/>
    <p:sldId id="697" r:id="rId58"/>
    <p:sldId id="738" r:id="rId59"/>
    <p:sldId id="498" r:id="rId60"/>
    <p:sldId id="739" r:id="rId61"/>
    <p:sldId id="501" r:id="rId62"/>
    <p:sldId id="505" r:id="rId63"/>
    <p:sldId id="504" r:id="rId64"/>
    <p:sldId id="509" r:id="rId65"/>
    <p:sldId id="676" r:id="rId66"/>
    <p:sldId id="740" r:id="rId67"/>
    <p:sldId id="749" r:id="rId68"/>
    <p:sldId id="513" r:id="rId69"/>
    <p:sldId id="698" r:id="rId70"/>
    <p:sldId id="680" r:id="rId71"/>
    <p:sldId id="520" r:id="rId72"/>
    <p:sldId id="742" r:id="rId73"/>
    <p:sldId id="741" r:id="rId74"/>
    <p:sldId id="521" r:id="rId75"/>
    <p:sldId id="522" r:id="rId76"/>
    <p:sldId id="523" r:id="rId77"/>
    <p:sldId id="524" r:id="rId78"/>
    <p:sldId id="525" r:id="rId79"/>
    <p:sldId id="526" r:id="rId80"/>
    <p:sldId id="527" r:id="rId81"/>
    <p:sldId id="528" r:id="rId82"/>
    <p:sldId id="529" r:id="rId83"/>
    <p:sldId id="530" r:id="rId84"/>
    <p:sldId id="531" r:id="rId85"/>
    <p:sldId id="532" r:id="rId86"/>
    <p:sldId id="533" r:id="rId87"/>
    <p:sldId id="534" r:id="rId88"/>
    <p:sldId id="535" r:id="rId89"/>
    <p:sldId id="536" r:id="rId90"/>
    <p:sldId id="537" r:id="rId91"/>
    <p:sldId id="702" r:id="rId92"/>
    <p:sldId id="701" r:id="rId93"/>
    <p:sldId id="703" r:id="rId94"/>
    <p:sldId id="705" r:id="rId95"/>
    <p:sldId id="707" r:id="rId96"/>
    <p:sldId id="708" r:id="rId97"/>
    <p:sldId id="709" r:id="rId98"/>
    <p:sldId id="541" r:id="rId99"/>
    <p:sldId id="542" r:id="rId100"/>
    <p:sldId id="543" r:id="rId101"/>
    <p:sldId id="710" r:id="rId102"/>
    <p:sldId id="546" r:id="rId103"/>
    <p:sldId id="711" r:id="rId104"/>
    <p:sldId id="713" r:id="rId105"/>
    <p:sldId id="715" r:id="rId106"/>
    <p:sldId id="716" r:id="rId107"/>
    <p:sldId id="717" r:id="rId108"/>
    <p:sldId id="718" r:id="rId109"/>
    <p:sldId id="721" r:id="rId110"/>
    <p:sldId id="722" r:id="rId111"/>
    <p:sldId id="719" r:id="rId112"/>
    <p:sldId id="552" r:id="rId113"/>
    <p:sldId id="554" r:id="rId114"/>
    <p:sldId id="555" r:id="rId115"/>
    <p:sldId id="557" r:id="rId116"/>
    <p:sldId id="559" r:id="rId117"/>
    <p:sldId id="560" r:id="rId118"/>
    <p:sldId id="561" r:id="rId119"/>
    <p:sldId id="562" r:id="rId120"/>
    <p:sldId id="563" r:id="rId121"/>
    <p:sldId id="564" r:id="rId122"/>
    <p:sldId id="723" r:id="rId123"/>
    <p:sldId id="567" r:id="rId124"/>
    <p:sldId id="566" r:id="rId125"/>
    <p:sldId id="568" r:id="rId126"/>
    <p:sldId id="569" r:id="rId127"/>
    <p:sldId id="571" r:id="rId128"/>
    <p:sldId id="743" r:id="rId129"/>
    <p:sldId id="724" r:id="rId130"/>
    <p:sldId id="573" r:id="rId131"/>
    <p:sldId id="574" r:id="rId132"/>
    <p:sldId id="575" r:id="rId133"/>
    <p:sldId id="576" r:id="rId134"/>
    <p:sldId id="578" r:id="rId135"/>
    <p:sldId id="579" r:id="rId136"/>
    <p:sldId id="580" r:id="rId137"/>
    <p:sldId id="581" r:id="rId138"/>
    <p:sldId id="582" r:id="rId139"/>
    <p:sldId id="685" r:id="rId140"/>
    <p:sldId id="583" r:id="rId141"/>
    <p:sldId id="727" r:id="rId142"/>
    <p:sldId id="585" r:id="rId143"/>
    <p:sldId id="586" r:id="rId144"/>
    <p:sldId id="587" r:id="rId145"/>
    <p:sldId id="731" r:id="rId146"/>
    <p:sldId id="729" r:id="rId147"/>
    <p:sldId id="730" r:id="rId148"/>
    <p:sldId id="592" r:id="rId149"/>
    <p:sldId id="593" r:id="rId150"/>
    <p:sldId id="594" r:id="rId151"/>
    <p:sldId id="595" r:id="rId152"/>
    <p:sldId id="596" r:id="rId153"/>
    <p:sldId id="597" r:id="rId154"/>
    <p:sldId id="598" r:id="rId155"/>
    <p:sldId id="599" r:id="rId156"/>
    <p:sldId id="600" r:id="rId157"/>
    <p:sldId id="686" r:id="rId158"/>
    <p:sldId id="687" r:id="rId159"/>
    <p:sldId id="601" r:id="rId160"/>
    <p:sldId id="744" r:id="rId161"/>
    <p:sldId id="603" r:id="rId162"/>
    <p:sldId id="604" r:id="rId163"/>
    <p:sldId id="605" r:id="rId164"/>
    <p:sldId id="606" r:id="rId165"/>
    <p:sldId id="607" r:id="rId166"/>
    <p:sldId id="608" r:id="rId167"/>
    <p:sldId id="609" r:id="rId168"/>
    <p:sldId id="611" r:id="rId169"/>
    <p:sldId id="612" r:id="rId170"/>
    <p:sldId id="613" r:id="rId171"/>
    <p:sldId id="614" r:id="rId172"/>
    <p:sldId id="616" r:id="rId173"/>
    <p:sldId id="618" r:id="rId174"/>
    <p:sldId id="619" r:id="rId175"/>
    <p:sldId id="732" r:id="rId176"/>
    <p:sldId id="733" r:id="rId177"/>
    <p:sldId id="622" r:id="rId178"/>
    <p:sldId id="623" r:id="rId179"/>
    <p:sldId id="624" r:id="rId180"/>
    <p:sldId id="689" r:id="rId181"/>
    <p:sldId id="625" r:id="rId182"/>
    <p:sldId id="626" r:id="rId183"/>
    <p:sldId id="627" r:id="rId184"/>
    <p:sldId id="628" r:id="rId185"/>
    <p:sldId id="629" r:id="rId186"/>
    <p:sldId id="691" r:id="rId187"/>
    <p:sldId id="630" r:id="rId188"/>
    <p:sldId id="631" r:id="rId189"/>
    <p:sldId id="632" r:id="rId190"/>
    <p:sldId id="633" r:id="rId191"/>
    <p:sldId id="634" r:id="rId192"/>
    <p:sldId id="635" r:id="rId193"/>
    <p:sldId id="637" r:id="rId194"/>
    <p:sldId id="745" r:id="rId195"/>
    <p:sldId id="638" r:id="rId196"/>
    <p:sldId id="639" r:id="rId197"/>
    <p:sldId id="640" r:id="rId198"/>
    <p:sldId id="641" r:id="rId199"/>
    <p:sldId id="642" r:id="rId200"/>
    <p:sldId id="643" r:id="rId201"/>
    <p:sldId id="644" r:id="rId202"/>
    <p:sldId id="746" r:id="rId203"/>
    <p:sldId id="645" r:id="rId204"/>
    <p:sldId id="646" r:id="rId205"/>
    <p:sldId id="647" r:id="rId206"/>
    <p:sldId id="649" r:id="rId207"/>
    <p:sldId id="650" r:id="rId208"/>
    <p:sldId id="652" r:id="rId209"/>
    <p:sldId id="748" r:id="rId210"/>
    <p:sldId id="653" r:id="rId211"/>
    <p:sldId id="654" r:id="rId212"/>
    <p:sldId id="655" r:id="rId213"/>
  </p:sldIdLst>
  <p:sldSz cx="9144000" cy="5143500" type="screen16x9"/>
  <p:notesSz cx="6858000" cy="9144000"/>
  <p:embeddedFontLst>
    <p:embeddedFont>
      <p:font typeface="Cambria Math" panose="02040503050406030204" pitchFamily="18" charset="0"/>
      <p:regular r:id="rId215"/>
    </p:embeddedFont>
    <p:embeddedFont>
      <p:font typeface="Montserrat" panose="00000500000000000000" pitchFamily="2" charset="0"/>
      <p:regular r:id="rId216"/>
    </p:embeddedFont>
    <p:embeddedFont>
      <p:font typeface="微软雅黑" panose="020B0503020204020204" pitchFamily="34" charset="-122"/>
      <p:regular r:id="rId217"/>
      <p:bold r:id="rId218"/>
    </p:embeddedFont>
    <p:embeddedFont>
      <p:font typeface="微软雅黑 Light" panose="020B0502040204020203" pitchFamily="34" charset="-122"/>
      <p:regular r:id="rId21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E46C0A"/>
    <a:srgbClr val="00B050"/>
    <a:srgbClr val="7F131F"/>
    <a:srgbClr val="0000FF"/>
    <a:srgbClr val="85D1F7"/>
    <a:srgbClr val="FFFF00"/>
    <a:srgbClr val="00FF99"/>
    <a:srgbClr val="3366FF"/>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varScale="1">
        <p:scale>
          <a:sx n="133" d="100"/>
          <a:sy n="133" d="100"/>
        </p:scale>
        <p:origin x="120" y="3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2.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font" Target="fonts/font3.fntdata"/><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4.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font" Target="fonts/font5.fntdata"/><Relationship Id="rId3" Type="http://schemas.openxmlformats.org/officeDocument/2006/relationships/slide" Target="slides/slide2.xml"/><Relationship Id="rId214"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1.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61</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5.xml"/><Relationship Id="rId5" Type="http://schemas.openxmlformats.org/officeDocument/2006/relationships/image" Target="../media/image13.svg"/><Relationship Id="rId4" Type="http://schemas.openxmlformats.org/officeDocument/2006/relationships/image" Target="../media/image1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808000" y="144000"/>
            <a:ext cx="3528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7" name="内容占位符 6">
            <a:extLst>
              <a:ext uri="{FF2B5EF4-FFF2-40B4-BE49-F238E27FC236}">
                <a16:creationId xmlns:a16="http://schemas.microsoft.com/office/drawing/2014/main" id="{A92B271E-D453-AD5E-A786-A43C09C6AB22}"/>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2808000" y="144000"/>
            <a:ext cx="3528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4" name="内容占位符 3">
            <a:extLst>
              <a:ext uri="{FF2B5EF4-FFF2-40B4-BE49-F238E27FC236}">
                <a16:creationId xmlns:a16="http://schemas.microsoft.com/office/drawing/2014/main" id="{19E1762B-4A08-0807-E9F8-6CAEA7DD9DBE}"/>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2808000" y="144000"/>
            <a:ext cx="3528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1209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808000" y="144000"/>
            <a:ext cx="3528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4" name="内容占位符 3">
            <a:extLst>
              <a:ext uri="{FF2B5EF4-FFF2-40B4-BE49-F238E27FC236}">
                <a16:creationId xmlns:a16="http://schemas.microsoft.com/office/drawing/2014/main" id="{58FF4757-28B9-6BDF-B096-EE12917BB0F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808000" y="144000"/>
            <a:ext cx="3528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1209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808000" y="144000"/>
            <a:ext cx="3528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1209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808000" y="144000"/>
            <a:ext cx="3528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512439-8F96-720F-F166-7F01DD20565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808000" y="144000"/>
            <a:ext cx="3528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7" name="内容占位符 6">
            <a:extLst>
              <a:ext uri="{FF2B5EF4-FFF2-40B4-BE49-F238E27FC236}">
                <a16:creationId xmlns:a16="http://schemas.microsoft.com/office/drawing/2014/main" id="{0AE32105-5C62-481D-FE6F-6EBB60AB5AE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808000" y="144000"/>
            <a:ext cx="3528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1209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808000" y="144000"/>
            <a:ext cx="3528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1209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808000" y="144000"/>
            <a:ext cx="3528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1209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808000" y="144000"/>
            <a:ext cx="3528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FBBE55-A4E1-4ADE-1EDD-54682D9B3B1B}"/>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808000" y="144000"/>
            <a:ext cx="3528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1209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808000" y="144000"/>
            <a:ext cx="3528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4" name="内容占位符 3">
            <a:extLst>
              <a:ext uri="{FF2B5EF4-FFF2-40B4-BE49-F238E27FC236}">
                <a16:creationId xmlns:a16="http://schemas.microsoft.com/office/drawing/2014/main" id="{76963D34-2BBC-4FDA-33FE-5E880E99C9C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808000" y="144000"/>
            <a:ext cx="3528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4" name="内容占位符 3">
            <a:extLst>
              <a:ext uri="{FF2B5EF4-FFF2-40B4-BE49-F238E27FC236}">
                <a16:creationId xmlns:a16="http://schemas.microsoft.com/office/drawing/2014/main" id="{3C6F9D53-7317-2ABF-FF44-8C2595B14A1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808000" y="144000"/>
            <a:ext cx="3528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1209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808000" y="144000"/>
            <a:ext cx="3528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1209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808000" y="144000"/>
            <a:ext cx="3528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7" name="内容占位符 6">
            <a:extLst>
              <a:ext uri="{FF2B5EF4-FFF2-40B4-BE49-F238E27FC236}">
                <a16:creationId xmlns:a16="http://schemas.microsoft.com/office/drawing/2014/main" id="{1B26A735-2BB0-607A-AC78-9EA1B17E05C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4" name="内容占位符 3">
            <a:extLst>
              <a:ext uri="{FF2B5EF4-FFF2-40B4-BE49-F238E27FC236}">
                <a16:creationId xmlns:a16="http://schemas.microsoft.com/office/drawing/2014/main" id="{7D594215-D59E-A025-D7B5-69094B579BE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808000" y="144000"/>
            <a:ext cx="3528000" cy="338554"/>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5" name="内容占位符 4">
            <a:extLst>
              <a:ext uri="{FF2B5EF4-FFF2-40B4-BE49-F238E27FC236}">
                <a16:creationId xmlns:a16="http://schemas.microsoft.com/office/drawing/2014/main" id="{D18A3A28-D01F-A28B-4607-AFD0DD04705A}"/>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808000" y="144000"/>
            <a:ext cx="3528000" cy="338554"/>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1209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808000" y="144000"/>
            <a:ext cx="3528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chemeClr val="bg1"/>
                </a:solidFill>
                <a:latin typeface="Montserrat" panose="00000500000000000000" pitchFamily="2" charset="0"/>
                <a:ea typeface="微软雅黑 Light" panose="020B0502040204020203" pitchFamily="34" charset="-122"/>
              </a:rPr>
              <a:t>IP</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chemeClr val="bg1"/>
                </a:solidFill>
                <a:latin typeface="Montserrat" panose="00000500000000000000" pitchFamily="2" charset="0"/>
                <a:ea typeface="微软雅黑 Light" panose="020B0502040204020203" pitchFamily="34" charset="-122"/>
              </a:rPr>
              <a:t>UDP</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808000" y="144000"/>
            <a:ext cx="3528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808000" y="144000"/>
            <a:ext cx="3528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5" name="内容占位符 4">
            <a:extLst>
              <a:ext uri="{FF2B5EF4-FFF2-40B4-BE49-F238E27FC236}">
                <a16:creationId xmlns:a16="http://schemas.microsoft.com/office/drawing/2014/main" id="{E8CE886B-84FE-7FE5-3747-23359C5A1845}"/>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808000" y="144000"/>
            <a:ext cx="3528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1209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808000" y="144000"/>
            <a:ext cx="3528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50562E9-B244-1C1B-18A8-A6EF2E85EC2F}"/>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808000" y="144000"/>
            <a:ext cx="3528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1209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808000" y="144000"/>
            <a:ext cx="3528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1209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808000" y="144000"/>
            <a:ext cx="3528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808000" y="144000"/>
            <a:ext cx="3528000" cy="338554"/>
          </a:xfr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1209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1209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1209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1209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808000" y="144000"/>
            <a:ext cx="3528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808000" y="144000"/>
            <a:ext cx="3528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内容占位符 3">
            <a:extLst>
              <a:ext uri="{FF2B5EF4-FFF2-40B4-BE49-F238E27FC236}">
                <a16:creationId xmlns:a16="http://schemas.microsoft.com/office/drawing/2014/main" id="{17402EFC-556B-5CA5-C935-9D0C077CBAC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808000" y="144000"/>
            <a:ext cx="3528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1209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808000" y="144000"/>
            <a:ext cx="3528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808000" y="144000"/>
            <a:ext cx="3528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1209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808000" y="144000"/>
            <a:ext cx="3528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808000" y="144000"/>
            <a:ext cx="3528000" cy="338554"/>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89163BE2-6C7C-4F7F-4B65-92111999F231}"/>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1209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808000" y="144000"/>
            <a:ext cx="3528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1209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808000" y="144000"/>
            <a:ext cx="3528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808000" y="144000"/>
            <a:ext cx="3528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808000" y="144000"/>
            <a:ext cx="3528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241ACFCD-9219-D4E8-AE10-8CF8D3299AD7}"/>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8A17AEF-4EC1-8860-81F8-7B5672C5C2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10F75868-3A2C-93BA-10EA-145046B567F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808000" y="144000"/>
            <a:ext cx="3528000" cy="338554"/>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808000" y="144000"/>
            <a:ext cx="3528000" cy="338554"/>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1209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808000" y="144000"/>
            <a:ext cx="3528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808000" y="144000"/>
            <a:ext cx="3528000" cy="338554"/>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808000" y="144000"/>
            <a:ext cx="3528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808000" y="144000"/>
            <a:ext cx="3528000" cy="338554"/>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808000" y="144000"/>
            <a:ext cx="3528000" cy="338554"/>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808000" y="144000"/>
            <a:ext cx="3528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808000" y="144000"/>
            <a:ext cx="3528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808000" y="144000"/>
            <a:ext cx="3528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1209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1209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1209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808000" y="144000"/>
            <a:ext cx="3528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808000" y="144000"/>
            <a:ext cx="3528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808000" y="144000"/>
            <a:ext cx="3528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808000" y="144000"/>
            <a:ext cx="3528000" cy="338554"/>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1209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808000" y="144000"/>
            <a:ext cx="3528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808000" y="144000"/>
            <a:ext cx="3528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1209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808000" y="144000"/>
            <a:ext cx="3528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808000" y="144000"/>
            <a:ext cx="3528000" cy="338554"/>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808000" y="144000"/>
            <a:ext cx="3528000" cy="338554"/>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808000" y="144000"/>
            <a:ext cx="3528000" cy="338554"/>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4" name="标题 3">
            <a:extLst>
              <a:ext uri="{FF2B5EF4-FFF2-40B4-BE49-F238E27FC236}">
                <a16:creationId xmlns:a16="http://schemas.microsoft.com/office/drawing/2014/main" id="{04D3ED17-7AA6-4B6C-2056-4B1F11691F3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808000" y="144000"/>
            <a:ext cx="3528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1209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9064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10722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50169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8512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9341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497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9617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9893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80446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788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40998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551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31827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08759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56466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808000" y="144000"/>
            <a:ext cx="3528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1209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808000" y="144000"/>
            <a:ext cx="3528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1209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808000" y="144000"/>
            <a:ext cx="3528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1209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808000" y="144000"/>
            <a:ext cx="3528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1209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808000" y="144000"/>
            <a:ext cx="3528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1209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1209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10" name="Rectangle 27"/>
          <p:cNvSpPr>
            <a:spLocks noChangeArrowheads="1"/>
          </p:cNvSpPr>
          <p:nvPr/>
        </p:nvSpPr>
        <p:spPr bwMode="auto">
          <a:xfrm>
            <a:off x="201600" y="1433966"/>
            <a:ext cx="2174399" cy="936625"/>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259200" y="1528898"/>
            <a:ext cx="2116799"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Montserrat" panose="00000500000000000000" pitchFamily="2" charset="0"/>
                <a:ea typeface="微软雅黑 Light" panose="020B0502040204020203" pitchFamily="34" charset="-122"/>
              </a:rPr>
              <a:t>5.8</a:t>
            </a:r>
          </a:p>
          <a:p>
            <a:pPr eaLnBrk="0" hangingPunct="0"/>
            <a:r>
              <a:rPr lang="en-US" altLang="zh-CN" sz="2000" dirty="0">
                <a:solidFill>
                  <a:schemeClr val="bg1"/>
                </a:solidFill>
                <a:latin typeface="Montserrat" panose="00000500000000000000" pitchFamily="2" charset="0"/>
                <a:ea typeface="微软雅黑 Light" panose="020B0502040204020203" pitchFamily="34" charset="-122"/>
              </a:rPr>
              <a:t>TCP </a:t>
            </a:r>
            <a:r>
              <a:rPr lang="zh-CN" altLang="en-US" sz="2000" dirty="0">
                <a:solidFill>
                  <a:schemeClr val="bg1"/>
                </a:solidFill>
                <a:latin typeface="Montserrat" panose="00000500000000000000" pitchFamily="2" charset="0"/>
                <a:ea typeface="微软雅黑 Light" panose="020B0502040204020203" pitchFamily="34" charset="-122"/>
              </a:rPr>
              <a:t>的拥塞控制</a:t>
            </a:r>
            <a:endParaRPr lang="zh-CN" altLang="fr-FR" sz="20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1209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808000" y="144000"/>
            <a:ext cx="3528000" cy="338554"/>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1209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808000" y="144000"/>
            <a:ext cx="3528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1209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808000" y="144000"/>
            <a:ext cx="3528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808000" y="144000"/>
            <a:ext cx="3528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808000" y="144000"/>
            <a:ext cx="3528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1209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808000" y="144000"/>
            <a:ext cx="3528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808000" y="144000"/>
            <a:ext cx="3528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808000" y="144000"/>
            <a:ext cx="3528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1209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808000" y="144000"/>
            <a:ext cx="3528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808000" y="144000"/>
            <a:ext cx="3528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1209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1209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120946"/>
          </a:xfrm>
        </p:spPr>
        <p:txBody>
          <a:bodyPr/>
          <a:lstStyle/>
          <a:p>
            <a:r>
              <a:rPr lang="zh-CN" altLang="en-US" dirty="0"/>
              <a:t>拥塞窗口 </a:t>
            </a:r>
            <a:r>
              <a:rPr lang="en-US" altLang="zh-CN"/>
              <a:t>cwnd </a:t>
            </a:r>
            <a:r>
              <a:rPr lang="zh-CN" altLang="en-US"/>
              <a:t>增大</a:t>
            </a:r>
            <a:r>
              <a:rPr lang="zh-CN" altLang="en-US" dirty="0"/>
              <a:t>：在每收到一个对新的报文段的确认，就把拥塞窗口增加最多一个发送方的最大报文段 </a:t>
            </a:r>
            <a:r>
              <a:rPr lang="en-US" altLang="zh-CN"/>
              <a:t>SMSS  (Sender Maximum Segment Size) </a:t>
            </a:r>
            <a:r>
              <a:rPr lang="zh-CN" altLang="en-US"/>
              <a:t>的</a:t>
            </a:r>
            <a:r>
              <a:rPr lang="zh-CN" altLang="en-US" dirty="0"/>
              <a:t>数值。</a:t>
            </a:r>
          </a:p>
          <a:p>
            <a:r>
              <a:rPr lang="zh-CN" altLang="en-US" dirty="0"/>
              <a:t>其中 </a:t>
            </a:r>
            <a:r>
              <a:rPr lang="en-US" altLang="zh-CN"/>
              <a:t>N </a:t>
            </a:r>
            <a:r>
              <a:rPr lang="zh-CN" altLang="en-US"/>
              <a:t>是</a:t>
            </a:r>
            <a:r>
              <a:rPr lang="zh-CN" altLang="en-US" dirty="0"/>
              <a:t>原先未被确认的、但现在被刚收到的确认报文段所确认的字节数。</a:t>
            </a:r>
          </a:p>
          <a:p>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a:t>
            </a:r>
            <a:r>
              <a:rPr lang="zh-CN" altLang="en-US" sz="2000">
                <a:latin typeface="Montserrat" panose="00000500000000000000" pitchFamily="2" charset="0"/>
                <a:ea typeface="微软雅黑 Light" panose="020B0502040204020203" pitchFamily="34" charset="-122"/>
              </a:rPr>
              <a:t>窗口 </a:t>
            </a:r>
            <a:r>
              <a:rPr lang="en-US" altLang="zh-CN" sz="2000">
                <a:latin typeface="Montserrat" panose="00000500000000000000" pitchFamily="2" charset="0"/>
                <a:ea typeface="微软雅黑 Light" panose="020B0502040204020203" pitchFamily="34" charset="-122"/>
              </a:rPr>
              <a:t>cwnd</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每次的增加</a:t>
            </a:r>
            <a:r>
              <a:rPr lang="zh-CN" altLang="en-US" sz="2000">
                <a:latin typeface="Montserrat" panose="00000500000000000000" pitchFamily="2" charset="0"/>
                <a:ea typeface="微软雅黑 Light" panose="020B0502040204020203" pitchFamily="34" charset="-122"/>
              </a:rPr>
              <a:t>量 </a:t>
            </a:r>
            <a:r>
              <a:rPr lang="en-US" altLang="zh-CN" sz="2000" dirty="0">
                <a:latin typeface="Montserrat" panose="00000500000000000000" pitchFamily="2" charset="0"/>
                <a:ea typeface="微软雅黑 Light" panose="020B0502040204020203" pitchFamily="34" charset="-122"/>
              </a:rPr>
              <a:t>= </a:t>
            </a:r>
            <a:r>
              <a:rPr lang="en-US" altLang="zh-CN" sz="2000">
                <a:latin typeface="Montserrat" panose="00000500000000000000" pitchFamily="2" charset="0"/>
                <a:ea typeface="微软雅黑 Light" panose="020B0502040204020203" pitchFamily="34" charset="-122"/>
              </a:rPr>
              <a:t>min (N</a:t>
            </a:r>
            <a:r>
              <a:rPr lang="en-US" altLang="zh-CN" sz="2000" dirty="0">
                <a:latin typeface="Montserrat" panose="00000500000000000000" pitchFamily="2" charset="0"/>
                <a:ea typeface="微软雅黑 Light" panose="020B0502040204020203" pitchFamily="34" charset="-122"/>
              </a:rPr>
              <a:t>, SMSS)          (5-8)</a:t>
            </a:r>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1209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808000" y="144000"/>
            <a:ext cx="3528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120946"/>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808000" y="144000"/>
            <a:ext cx="3528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120946"/>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808000" y="144000"/>
            <a:ext cx="3528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120946"/>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808000" y="144000"/>
            <a:ext cx="3528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120946"/>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808000" y="144000"/>
            <a:ext cx="3528000" cy="338554"/>
          </a:xfrm>
        </p:spPr>
        <p:txBody>
          <a:bodyPr/>
          <a:lstStyle/>
          <a:p>
            <a:r>
              <a:rPr lang="zh-CN" altLang="en-US" dirty="0"/>
              <a:t>快重传</a:t>
            </a:r>
            <a:r>
              <a:rPr lang="en-US" altLang="zh-CN" dirty="0"/>
              <a:t> Fast Retransmission</a:t>
            </a:r>
            <a:endParaRPr lang="zh-CN" altLang="en-US" dirty="0"/>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808000" y="144000"/>
            <a:ext cx="3528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120946"/>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808000" y="144000"/>
            <a:ext cx="3528000" cy="338554"/>
          </a:xfrm>
        </p:spPr>
        <p:txBody>
          <a:bodyPr/>
          <a:lstStyle/>
          <a:p>
            <a:r>
              <a:rPr lang="zh-CN" altLang="en-US" dirty="0"/>
              <a:t>快恢复</a:t>
            </a:r>
            <a:r>
              <a:rPr lang="en-US" altLang="zh-CN" dirty="0"/>
              <a:t> Fast Recovery</a:t>
            </a:r>
            <a:endParaRPr lang="zh-CN" altLang="en-US" dirty="0"/>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a:t>
            </a:r>
            <a:r>
              <a:rPr lang="en-US" altLang="zh-CN" sz="2000" dirty="0" err="1">
                <a:latin typeface="Montserrat" panose="00000500000000000000" pitchFamily="2" charset="0"/>
                <a:ea typeface="微软雅黑 Light" panose="020B0502040204020203" pitchFamily="34" charset="-122"/>
              </a:rPr>
              <a:t>rwnd</a:t>
            </a:r>
            <a:r>
              <a:rPr lang="en-US" altLang="zh-CN" sz="2000" dirty="0">
                <a:latin typeface="Montserrat" panose="00000500000000000000" pitchFamily="2" charset="0"/>
                <a:ea typeface="微软雅黑 Light" panose="020B0502040204020203" pitchFamily="34" charset="-122"/>
              </a:rPr>
              <a:t>, </a:t>
            </a:r>
            <a:r>
              <a:rPr lang="en-US" altLang="zh-CN" sz="2000" dirty="0" err="1">
                <a:latin typeface="Montserrat" panose="00000500000000000000" pitchFamily="2" charset="0"/>
                <a:ea typeface="微软雅黑 Light" panose="020B0502040204020203" pitchFamily="34" charset="-122"/>
              </a:rPr>
              <a:t>cwnd</a:t>
            </a:r>
            <a:r>
              <a:rPr lang="en-US" altLang="zh-CN" sz="2000" dirty="0">
                <a:latin typeface="Montserrat" panose="00000500000000000000" pitchFamily="2" charset="0"/>
                <a:ea typeface="微软雅黑 Light" panose="020B0502040204020203"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120946"/>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808000" y="144000"/>
            <a:ext cx="3528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808000" y="144000"/>
            <a:ext cx="3528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1209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808000" y="144000"/>
            <a:ext cx="3528000" cy="338554"/>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1209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808000" y="144000"/>
            <a:ext cx="3528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1209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1209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0" name="内容占位符 9">
            <a:extLst>
              <a:ext uri="{FF2B5EF4-FFF2-40B4-BE49-F238E27FC236}">
                <a16:creationId xmlns:a16="http://schemas.microsoft.com/office/drawing/2014/main" id="{14FC28B3-08DC-BAF6-0B75-C17B219A0C24}"/>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F702E7E8-5CAA-932A-57D0-653D47D5AA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808000" y="144000"/>
            <a:ext cx="3528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1209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300867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613532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792675"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919325"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3008675"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3008675"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3008675"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4007583"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678967"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929036"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568675"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6135325"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6135325"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568675"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6135325"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568675"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6135325"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3132000"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31597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53330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808000" y="144000"/>
            <a:ext cx="3528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825075"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951725"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1209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808000" y="144000"/>
            <a:ext cx="3528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120946"/>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808000" y="144000"/>
            <a:ext cx="3528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808000" y="144000"/>
            <a:ext cx="3528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8064</TotalTime>
  <Words>17815</Words>
  <Application>Microsoft Office PowerPoint</Application>
  <PresentationFormat>全屏显示(16:9)</PresentationFormat>
  <Paragraphs>4215</Paragraphs>
  <Slides>212</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212</vt:i4>
      </vt:variant>
    </vt:vector>
  </HeadingPairs>
  <TitlesOfParts>
    <vt:vector size="225" baseType="lpstr">
      <vt:lpstr>微软雅黑</vt:lpstr>
      <vt:lpstr>Calibri</vt:lpstr>
      <vt:lpstr>Wingdings</vt:lpstr>
      <vt:lpstr>宋体</vt:lpstr>
      <vt:lpstr>Montserrat</vt:lpstr>
      <vt:lpstr>Arial</vt:lpstr>
      <vt:lpstr>Symbol</vt:lpstr>
      <vt:lpstr>Cambria Math</vt:lpstr>
      <vt:lpstr>Courier New</vt:lpstr>
      <vt:lpstr>微软雅黑 Light</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688</cp:revision>
  <dcterms:created xsi:type="dcterms:W3CDTF">2018-07-18T08:51:30Z</dcterms:created>
  <dcterms:modified xsi:type="dcterms:W3CDTF">2025-11-23T12:40:15Z</dcterms:modified>
</cp:coreProperties>
</file>