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3" r:id="rId1"/>
  </p:sldMasterIdLst>
  <p:notesMasterIdLst>
    <p:notesMasterId r:id="rId211"/>
  </p:notesMasterIdLst>
  <p:sldIdLst>
    <p:sldId id="257" r:id="rId2"/>
    <p:sldId id="693" r:id="rId3"/>
    <p:sldId id="446" r:id="rId4"/>
    <p:sldId id="449" r:id="rId5"/>
    <p:sldId id="470" r:id="rId6"/>
    <p:sldId id="450" r:id="rId7"/>
    <p:sldId id="265" r:id="rId8"/>
    <p:sldId id="267" r:id="rId9"/>
    <p:sldId id="268" r:id="rId10"/>
    <p:sldId id="659" r:id="rId11"/>
    <p:sldId id="468" r:id="rId12"/>
    <p:sldId id="458" r:id="rId13"/>
    <p:sldId id="661" r:id="rId14"/>
    <p:sldId id="662" r:id="rId15"/>
    <p:sldId id="663" r:id="rId16"/>
    <p:sldId id="276" r:id="rId17"/>
    <p:sldId id="277" r:id="rId18"/>
    <p:sldId id="278" r:id="rId19"/>
    <p:sldId id="279" r:id="rId20"/>
    <p:sldId id="737" r:id="rId21"/>
    <p:sldId id="471" r:id="rId22"/>
    <p:sldId id="472" r:id="rId23"/>
    <p:sldId id="473" r:id="rId24"/>
    <p:sldId id="667" r:id="rId25"/>
    <p:sldId id="734" r:id="rId26"/>
    <p:sldId id="475" r:id="rId27"/>
    <p:sldId id="694" r:id="rId28"/>
    <p:sldId id="736" r:id="rId29"/>
    <p:sldId id="696" r:id="rId30"/>
    <p:sldId id="735" r:id="rId31"/>
    <p:sldId id="476" r:id="rId32"/>
    <p:sldId id="668" r:id="rId33"/>
    <p:sldId id="477" r:id="rId34"/>
    <p:sldId id="478" r:id="rId35"/>
    <p:sldId id="479" r:id="rId36"/>
    <p:sldId id="480" r:id="rId37"/>
    <p:sldId id="481" r:id="rId38"/>
    <p:sldId id="482" r:id="rId39"/>
    <p:sldId id="669" r:id="rId40"/>
    <p:sldId id="483" r:id="rId41"/>
    <p:sldId id="484" r:id="rId42"/>
    <p:sldId id="671" r:id="rId43"/>
    <p:sldId id="486" r:id="rId44"/>
    <p:sldId id="488" r:id="rId45"/>
    <p:sldId id="672" r:id="rId46"/>
    <p:sldId id="489" r:id="rId47"/>
    <p:sldId id="490" r:id="rId48"/>
    <p:sldId id="491" r:id="rId49"/>
    <p:sldId id="492" r:id="rId50"/>
    <p:sldId id="493" r:id="rId51"/>
    <p:sldId id="494" r:id="rId52"/>
    <p:sldId id="495" r:id="rId53"/>
    <p:sldId id="497" r:id="rId54"/>
    <p:sldId id="673" r:id="rId55"/>
    <p:sldId id="697" r:id="rId56"/>
    <p:sldId id="738" r:id="rId57"/>
    <p:sldId id="498" r:id="rId58"/>
    <p:sldId id="739" r:id="rId59"/>
    <p:sldId id="501" r:id="rId60"/>
    <p:sldId id="505" r:id="rId61"/>
    <p:sldId id="504" r:id="rId62"/>
    <p:sldId id="509" r:id="rId63"/>
    <p:sldId id="676" r:id="rId64"/>
    <p:sldId id="740" r:id="rId65"/>
    <p:sldId id="513" r:id="rId66"/>
    <p:sldId id="698" r:id="rId67"/>
    <p:sldId id="680" r:id="rId68"/>
    <p:sldId id="520" r:id="rId69"/>
    <p:sldId id="742" r:id="rId70"/>
    <p:sldId id="741" r:id="rId71"/>
    <p:sldId id="521" r:id="rId72"/>
    <p:sldId id="522" r:id="rId73"/>
    <p:sldId id="523" r:id="rId74"/>
    <p:sldId id="524" r:id="rId75"/>
    <p:sldId id="525" r:id="rId76"/>
    <p:sldId id="526" r:id="rId77"/>
    <p:sldId id="527" r:id="rId78"/>
    <p:sldId id="528" r:id="rId79"/>
    <p:sldId id="529" r:id="rId80"/>
    <p:sldId id="530" r:id="rId81"/>
    <p:sldId id="531" r:id="rId82"/>
    <p:sldId id="532" r:id="rId83"/>
    <p:sldId id="533" r:id="rId84"/>
    <p:sldId id="534" r:id="rId85"/>
    <p:sldId id="535" r:id="rId86"/>
    <p:sldId id="536" r:id="rId87"/>
    <p:sldId id="537" r:id="rId88"/>
    <p:sldId id="702" r:id="rId89"/>
    <p:sldId id="701" r:id="rId90"/>
    <p:sldId id="703" r:id="rId91"/>
    <p:sldId id="705" r:id="rId92"/>
    <p:sldId id="707" r:id="rId93"/>
    <p:sldId id="708" r:id="rId94"/>
    <p:sldId id="709" r:id="rId95"/>
    <p:sldId id="541" r:id="rId96"/>
    <p:sldId id="542" r:id="rId97"/>
    <p:sldId id="543" r:id="rId98"/>
    <p:sldId id="710" r:id="rId99"/>
    <p:sldId id="546" r:id="rId100"/>
    <p:sldId id="711" r:id="rId101"/>
    <p:sldId id="713" r:id="rId102"/>
    <p:sldId id="715" r:id="rId103"/>
    <p:sldId id="716" r:id="rId104"/>
    <p:sldId id="717" r:id="rId105"/>
    <p:sldId id="718" r:id="rId106"/>
    <p:sldId id="721" r:id="rId107"/>
    <p:sldId id="722" r:id="rId108"/>
    <p:sldId id="719" r:id="rId109"/>
    <p:sldId id="552" r:id="rId110"/>
    <p:sldId id="554" r:id="rId111"/>
    <p:sldId id="555" r:id="rId112"/>
    <p:sldId id="557" r:id="rId113"/>
    <p:sldId id="559" r:id="rId114"/>
    <p:sldId id="560" r:id="rId115"/>
    <p:sldId id="561" r:id="rId116"/>
    <p:sldId id="562" r:id="rId117"/>
    <p:sldId id="563" r:id="rId118"/>
    <p:sldId id="564" r:id="rId119"/>
    <p:sldId id="723" r:id="rId120"/>
    <p:sldId id="567" r:id="rId121"/>
    <p:sldId id="566" r:id="rId122"/>
    <p:sldId id="568" r:id="rId123"/>
    <p:sldId id="569" r:id="rId124"/>
    <p:sldId id="571" r:id="rId125"/>
    <p:sldId id="743" r:id="rId126"/>
    <p:sldId id="724" r:id="rId127"/>
    <p:sldId id="573" r:id="rId128"/>
    <p:sldId id="574" r:id="rId129"/>
    <p:sldId id="575" r:id="rId130"/>
    <p:sldId id="576" r:id="rId131"/>
    <p:sldId id="578" r:id="rId132"/>
    <p:sldId id="579" r:id="rId133"/>
    <p:sldId id="580" r:id="rId134"/>
    <p:sldId id="581" r:id="rId135"/>
    <p:sldId id="582" r:id="rId136"/>
    <p:sldId id="685" r:id="rId137"/>
    <p:sldId id="583" r:id="rId138"/>
    <p:sldId id="727" r:id="rId139"/>
    <p:sldId id="585" r:id="rId140"/>
    <p:sldId id="586" r:id="rId141"/>
    <p:sldId id="587" r:id="rId142"/>
    <p:sldId id="731" r:id="rId143"/>
    <p:sldId id="729" r:id="rId144"/>
    <p:sldId id="730" r:id="rId145"/>
    <p:sldId id="592" r:id="rId146"/>
    <p:sldId id="593" r:id="rId147"/>
    <p:sldId id="594" r:id="rId148"/>
    <p:sldId id="595" r:id="rId149"/>
    <p:sldId id="596" r:id="rId150"/>
    <p:sldId id="597" r:id="rId151"/>
    <p:sldId id="598" r:id="rId152"/>
    <p:sldId id="599" r:id="rId153"/>
    <p:sldId id="600" r:id="rId154"/>
    <p:sldId id="686" r:id="rId155"/>
    <p:sldId id="687" r:id="rId156"/>
    <p:sldId id="601" r:id="rId157"/>
    <p:sldId id="744" r:id="rId158"/>
    <p:sldId id="603" r:id="rId159"/>
    <p:sldId id="604" r:id="rId160"/>
    <p:sldId id="605" r:id="rId161"/>
    <p:sldId id="606" r:id="rId162"/>
    <p:sldId id="607" r:id="rId163"/>
    <p:sldId id="608" r:id="rId164"/>
    <p:sldId id="609" r:id="rId165"/>
    <p:sldId id="611" r:id="rId166"/>
    <p:sldId id="612" r:id="rId167"/>
    <p:sldId id="613" r:id="rId168"/>
    <p:sldId id="614" r:id="rId169"/>
    <p:sldId id="616" r:id="rId170"/>
    <p:sldId id="618" r:id="rId171"/>
    <p:sldId id="619" r:id="rId172"/>
    <p:sldId id="732" r:id="rId173"/>
    <p:sldId id="733" r:id="rId174"/>
    <p:sldId id="622" r:id="rId175"/>
    <p:sldId id="623" r:id="rId176"/>
    <p:sldId id="624" r:id="rId177"/>
    <p:sldId id="689" r:id="rId178"/>
    <p:sldId id="625" r:id="rId179"/>
    <p:sldId id="626" r:id="rId180"/>
    <p:sldId id="627" r:id="rId181"/>
    <p:sldId id="628" r:id="rId182"/>
    <p:sldId id="629" r:id="rId183"/>
    <p:sldId id="691" r:id="rId184"/>
    <p:sldId id="630" r:id="rId185"/>
    <p:sldId id="631" r:id="rId186"/>
    <p:sldId id="632" r:id="rId187"/>
    <p:sldId id="633" r:id="rId188"/>
    <p:sldId id="634" r:id="rId189"/>
    <p:sldId id="635" r:id="rId190"/>
    <p:sldId id="637" r:id="rId191"/>
    <p:sldId id="745" r:id="rId192"/>
    <p:sldId id="638" r:id="rId193"/>
    <p:sldId id="639" r:id="rId194"/>
    <p:sldId id="640" r:id="rId195"/>
    <p:sldId id="641" r:id="rId196"/>
    <p:sldId id="642" r:id="rId197"/>
    <p:sldId id="643" r:id="rId198"/>
    <p:sldId id="644" r:id="rId199"/>
    <p:sldId id="746" r:id="rId200"/>
    <p:sldId id="645" r:id="rId201"/>
    <p:sldId id="646" r:id="rId202"/>
    <p:sldId id="647" r:id="rId203"/>
    <p:sldId id="649" r:id="rId204"/>
    <p:sldId id="650" r:id="rId205"/>
    <p:sldId id="652" r:id="rId206"/>
    <p:sldId id="748" r:id="rId207"/>
    <p:sldId id="653" r:id="rId208"/>
    <p:sldId id="654" r:id="rId209"/>
    <p:sldId id="655" r:id="rId210"/>
  </p:sldIdLst>
  <p:sldSz cx="9144000" cy="5143500" type="screen16x9"/>
  <p:notesSz cx="6858000" cy="9144000"/>
  <p:embeddedFontLst>
    <p:embeddedFont>
      <p:font typeface="微软雅黑 Light" panose="020B0502040204020203" pitchFamily="34" charset="-122"/>
      <p:regular r:id="rId212"/>
    </p:embeddedFont>
    <p:embeddedFont>
      <p:font typeface="Cambria Math" panose="02040503050406030204" pitchFamily="18" charset="0"/>
      <p:regular r:id="rId213"/>
    </p:embeddedFont>
    <p:embeddedFont>
      <p:font typeface="Montserrat" panose="00000500000000000000" pitchFamily="2" charset="0"/>
      <p:regular r:id="rId214"/>
    </p:embeddedFont>
    <p:embeddedFont>
      <p:font typeface="微软雅黑" panose="020B0503020204020204" pitchFamily="34" charset="-122"/>
      <p:regular r:id="rId215"/>
      <p:bold r:id="rId216"/>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50"/>
    <a:srgbClr val="E95420"/>
    <a:srgbClr val="7F131F"/>
    <a:srgbClr val="0000FF"/>
    <a:srgbClr val="85D1F7"/>
    <a:srgbClr val="FFFF00"/>
    <a:srgbClr val="00FF99"/>
    <a:srgbClr val="3366FF"/>
    <a:srgbClr val="0000CC"/>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73893" autoAdjust="0"/>
  </p:normalViewPr>
  <p:slideViewPr>
    <p:cSldViewPr snapToGrid="0">
      <p:cViewPr varScale="1">
        <p:scale>
          <a:sx n="149" d="100"/>
          <a:sy n="149" d="100"/>
        </p:scale>
        <p:origin x="372" y="12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font" Target="fonts/font5.fntdata"/><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presProps" Target="presProps.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viewProps" Target="viewProps.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219" Type="http://schemas.openxmlformats.org/officeDocument/2006/relationships/theme" Target="theme/theme1.xml"/><Relationship Id="rId3" Type="http://schemas.openxmlformats.org/officeDocument/2006/relationships/slide" Target="slides/slide2.xml"/><Relationship Id="rId214" Type="http://schemas.openxmlformats.org/officeDocument/2006/relationships/font" Target="fonts/font3.fntdata"/><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font" Target="fonts/font4.fntdata"/><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notesMaster" Target="notesMasters/notesMaster1.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font" Target="fonts/font1.fntdata"/><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font" Target="fonts/font2.fntdata"/><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s>
</file>

<file path=ppt/diagrams/colors1.xml><?xml version="1.0" encoding="utf-8"?>
<dgm:colorsDef xmlns:dgm="http://schemas.openxmlformats.org/drawingml/2006/diagram" xmlns:a="http://schemas.openxmlformats.org/drawingml/2006/main" uniqueId="urn:microsoft.com/office/officeart/2005/8/colors/colorful1#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0C10DAB-C322-41A1-8658-7422865E490A}" type="doc">
      <dgm:prSet loTypeId="urn:microsoft.com/office/officeart/2005/8/layout/hList1" loCatId="list" qsTypeId="urn:microsoft.com/office/officeart/2005/8/quickstyle/simple1" qsCatId="simple" csTypeId="urn:microsoft.com/office/officeart/2005/8/colors/colorful1#11" csCatId="colorful" phldr="1"/>
      <dgm:spPr/>
      <dgm:t>
        <a:bodyPr/>
        <a:lstStyle/>
        <a:p>
          <a:endParaRPr lang="zh-CN" altLang="en-US"/>
        </a:p>
      </dgm:t>
    </dgm:pt>
    <dgm:pt modelId="{3075A9A9-DD2E-4ACB-A0C6-88FAC2CB324D}">
      <dgm:prSet phldrT="[文本]" custT="1"/>
      <dgm:spPr>
        <a:solidFill>
          <a:srgbClr val="C0504D"/>
        </a:solidFill>
      </dgm:spPr>
      <dgm:t>
        <a:bodyPr/>
        <a:lstStyle/>
        <a:p>
          <a:r>
            <a:rPr lang="en-US" altLang="zh-CN" sz="1800" b="1" dirty="0">
              <a:solidFill>
                <a:schemeClr val="bg1"/>
              </a:solidFill>
              <a:latin typeface="微软雅黑" pitchFamily="34" charset="-122"/>
              <a:ea typeface="微软雅黑" pitchFamily="34" charset="-122"/>
            </a:rPr>
            <a:t>UDP</a:t>
          </a:r>
          <a:endParaRPr lang="zh-CN" altLang="en-US" sz="1800" b="1" dirty="0">
            <a:latin typeface="微软雅黑" panose="020B0503020204020204" pitchFamily="34" charset="-122"/>
            <a:ea typeface="微软雅黑" panose="020B0503020204020204" pitchFamily="34" charset="-122"/>
          </a:endParaRPr>
        </a:p>
      </dgm:t>
    </dgm:pt>
    <dgm:pt modelId="{134ADAE1-C064-4534-8CC6-D8807540061D}" type="par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F624114-D0F6-4468-B3D2-38948A17DC0E}" type="sib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47DCA6-96CD-4A2C-B62F-8CC71D8C8E12}">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传送数据之前不需要先建立连接</a:t>
          </a:r>
        </a:p>
      </dgm:t>
    </dgm:pt>
    <dgm:pt modelId="{BA4E6060-3E02-4DC9-999E-664C75AD2B17}" type="par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E651337-55A0-4BC4-9468-6DF1B9931A2F}" type="sib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B41182-6C2B-4ED8-86B0-330C06986AB9}">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收到 </a:t>
          </a:r>
          <a:r>
            <a:rPr lang="en-US" altLang="en-US" sz="1600" b="0" dirty="0">
              <a:latin typeface="微软雅黑" panose="020B0503020204020204" pitchFamily="34" charset="-122"/>
              <a:ea typeface="微软雅黑" panose="020B0503020204020204" pitchFamily="34" charset="-122"/>
            </a:rPr>
            <a:t>UDP </a:t>
          </a:r>
          <a:r>
            <a:rPr lang="zh-CN" altLang="en-US" sz="1600" b="0" dirty="0">
              <a:latin typeface="微软雅黑" panose="020B0503020204020204" pitchFamily="34" charset="-122"/>
              <a:ea typeface="微软雅黑" panose="020B0503020204020204" pitchFamily="34" charset="-122"/>
            </a:rPr>
            <a:t>报后，不需要确认</a:t>
          </a:r>
        </a:p>
      </dgm:t>
    </dgm:pt>
    <dgm:pt modelId="{14660C25-94E9-44AA-8120-86B7535088DC}" type="par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6C2EA0F-7C5D-48A1-939A-F6DC2EAF8E49}" type="sib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A66170F-1B7D-4E19-B7BD-4417131220A6}">
      <dgm:prSet phldrT="[文本]" custT="1"/>
      <dgm:spPr>
        <a:solidFill>
          <a:srgbClr val="9BBB59"/>
        </a:solidFill>
      </dgm:spPr>
      <dgm:t>
        <a:bodyPr/>
        <a:lstStyle/>
        <a:p>
          <a:r>
            <a:rPr lang="en-US" altLang="zh-CN" sz="1800" b="1" dirty="0">
              <a:latin typeface="微软雅黑" panose="020B0503020204020204" pitchFamily="34" charset="-122"/>
              <a:ea typeface="微软雅黑" panose="020B0503020204020204" pitchFamily="34" charset="-122"/>
            </a:rPr>
            <a:t>TCP</a:t>
          </a:r>
          <a:endParaRPr lang="zh-CN" altLang="en-US" sz="1800" b="1" dirty="0">
            <a:latin typeface="微软雅黑" panose="020B0503020204020204" pitchFamily="34" charset="-122"/>
            <a:ea typeface="微软雅黑" panose="020B0503020204020204" pitchFamily="34" charset="-122"/>
          </a:endParaRPr>
        </a:p>
      </dgm:t>
    </dgm:pt>
    <dgm:pt modelId="{06BA1478-58FB-4D43-BF44-9A355D9E65BD}" type="par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E75602-6CB5-4223-93A0-FA12226535A1}" type="sib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7807EAE-F440-4658-B827-5A1F27B59CA8}">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提供可靠的、面向连接的运输服务</a:t>
          </a:r>
        </a:p>
      </dgm:t>
    </dgm:pt>
    <dgm:pt modelId="{4C79C7E3-84BC-4917-A660-55DC2889DDFE}" type="par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3093545-D9A0-40EC-9533-504A4E4F3697}" type="sib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4C76DC-1E47-45AB-BE80-0358F9AAF2BB}">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不提供广播或多播服务</a:t>
          </a:r>
        </a:p>
      </dgm:t>
    </dgm:pt>
    <dgm:pt modelId="{A37EC585-898F-4A6A-A6D3-CCBF473A8093}" type="par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3978C8-2BEF-4B29-BD68-9757A4000D0F}" type="sib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4EEA15-2E9E-47C9-AF1B-1FA23A7F9F5C}">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不提供可靠交付</a:t>
          </a:r>
        </a:p>
      </dgm:t>
    </dgm:pt>
    <dgm:pt modelId="{88C0A744-4143-491F-A5CD-918E86655471}" type="parTrans" cxnId="{A0F5CD58-7D66-4E31-8BE8-9A8140F8DDDE}">
      <dgm:prSet/>
      <dgm:spPr/>
      <dgm:t>
        <a:bodyPr/>
        <a:lstStyle/>
        <a:p>
          <a:endParaRPr lang="zh-CN" altLang="en-US"/>
        </a:p>
      </dgm:t>
    </dgm:pt>
    <dgm:pt modelId="{11767EBD-491B-430F-93EF-1FCFBD1DD6C2}" type="sibTrans" cxnId="{A0F5CD58-7D66-4E31-8BE8-9A8140F8DDDE}">
      <dgm:prSet/>
      <dgm:spPr/>
      <dgm:t>
        <a:bodyPr/>
        <a:lstStyle/>
        <a:p>
          <a:endParaRPr lang="zh-CN" altLang="en-US"/>
        </a:p>
      </dgm:t>
    </dgm:pt>
    <dgm:pt modelId="{6BB890E6-C93F-4FDE-8B20-12E45554DE2D}">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开销较多</a:t>
          </a:r>
        </a:p>
      </dgm:t>
    </dgm:pt>
    <dgm:pt modelId="{E2FD646B-AB14-4F5F-B1AA-B554A5CD8FD7}" type="parTrans" cxnId="{69177F15-D5F8-42DD-B545-C8F48846BCD7}">
      <dgm:prSet/>
      <dgm:spPr/>
      <dgm:t>
        <a:bodyPr/>
        <a:lstStyle/>
        <a:p>
          <a:endParaRPr lang="zh-CN" altLang="en-US"/>
        </a:p>
      </dgm:t>
    </dgm:pt>
    <dgm:pt modelId="{2528E0E1-90EC-425F-A7EF-C5EBCC899327}" type="sibTrans" cxnId="{69177F15-D5F8-42DD-B545-C8F48846BCD7}">
      <dgm:prSet/>
      <dgm:spPr/>
      <dgm:t>
        <a:bodyPr/>
        <a:lstStyle/>
        <a:p>
          <a:endParaRPr lang="zh-CN" altLang="en-US"/>
        </a:p>
      </dgm:t>
    </dgm:pt>
    <dgm:pt modelId="{CBA26ECA-C7B3-4A78-B984-ACD88FA53B11}">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有效的工作方式</a:t>
          </a:r>
        </a:p>
      </dgm:t>
    </dgm:pt>
    <dgm:pt modelId="{383BD263-4825-4DCA-8A6E-10220A321191}" type="parTrans" cxnId="{01342211-C592-4633-933C-1445F425ED10}">
      <dgm:prSet/>
      <dgm:spPr/>
      <dgm:t>
        <a:bodyPr/>
        <a:lstStyle/>
        <a:p>
          <a:endParaRPr lang="zh-CN" altLang="en-US"/>
        </a:p>
      </dgm:t>
    </dgm:pt>
    <dgm:pt modelId="{499946FF-271C-45F0-92AD-7DC72345F790}" type="sibTrans" cxnId="{01342211-C592-4633-933C-1445F425ED10}">
      <dgm:prSet/>
      <dgm:spPr/>
      <dgm:t>
        <a:bodyPr/>
        <a:lstStyle/>
        <a:p>
          <a:endParaRPr lang="zh-CN" altLang="en-US"/>
        </a:p>
      </dgm:t>
    </dgm:pt>
    <dgm:pt modelId="{DE876C50-400B-4C67-BF7B-A3BDE0F7CC3A}" type="pres">
      <dgm:prSet presAssocID="{D0C10DAB-C322-41A1-8658-7422865E490A}" presName="Name0" presStyleCnt="0">
        <dgm:presLayoutVars>
          <dgm:dir/>
          <dgm:animLvl val="lvl"/>
          <dgm:resizeHandles val="exact"/>
        </dgm:presLayoutVars>
      </dgm:prSet>
      <dgm:spPr/>
    </dgm:pt>
    <dgm:pt modelId="{42F4FCBB-D76E-47E8-A477-0D70F2776DF9}" type="pres">
      <dgm:prSet presAssocID="{3075A9A9-DD2E-4ACB-A0C6-88FAC2CB324D}" presName="composite" presStyleCnt="0"/>
      <dgm:spPr/>
    </dgm:pt>
    <dgm:pt modelId="{1E36D97B-D0F6-4762-BF60-A7904357B6F6}" type="pres">
      <dgm:prSet presAssocID="{3075A9A9-DD2E-4ACB-A0C6-88FAC2CB324D}" presName="parTx" presStyleLbl="alignNode1" presStyleIdx="0" presStyleCnt="2">
        <dgm:presLayoutVars>
          <dgm:chMax val="0"/>
          <dgm:chPref val="0"/>
          <dgm:bulletEnabled val="1"/>
        </dgm:presLayoutVars>
      </dgm:prSet>
      <dgm:spPr/>
    </dgm:pt>
    <dgm:pt modelId="{81374FB4-E28E-4844-BBFA-75610456881B}" type="pres">
      <dgm:prSet presAssocID="{3075A9A9-DD2E-4ACB-A0C6-88FAC2CB324D}" presName="desTx" presStyleLbl="alignAccFollowNode1" presStyleIdx="0" presStyleCnt="2">
        <dgm:presLayoutVars>
          <dgm:bulletEnabled val="1"/>
        </dgm:presLayoutVars>
      </dgm:prSet>
      <dgm:spPr/>
    </dgm:pt>
    <dgm:pt modelId="{213495E3-C14A-4543-A860-9E76BFAFB119}" type="pres">
      <dgm:prSet presAssocID="{5F624114-D0F6-4468-B3D2-38948A17DC0E}" presName="space" presStyleCnt="0"/>
      <dgm:spPr/>
    </dgm:pt>
    <dgm:pt modelId="{D3AF8276-52BD-4521-9B9D-F338C7E38BEC}" type="pres">
      <dgm:prSet presAssocID="{2A66170F-1B7D-4E19-B7BD-4417131220A6}" presName="composite" presStyleCnt="0"/>
      <dgm:spPr/>
    </dgm:pt>
    <dgm:pt modelId="{71294ECD-550A-476F-A96D-56F889AD84F9}" type="pres">
      <dgm:prSet presAssocID="{2A66170F-1B7D-4E19-B7BD-4417131220A6}" presName="parTx" presStyleLbl="alignNode1" presStyleIdx="1" presStyleCnt="2">
        <dgm:presLayoutVars>
          <dgm:chMax val="0"/>
          <dgm:chPref val="0"/>
          <dgm:bulletEnabled val="1"/>
        </dgm:presLayoutVars>
      </dgm:prSet>
      <dgm:spPr/>
    </dgm:pt>
    <dgm:pt modelId="{45D2AA96-01C3-4DB8-BDEC-FDACF0C5239B}" type="pres">
      <dgm:prSet presAssocID="{2A66170F-1B7D-4E19-B7BD-4417131220A6}" presName="desTx" presStyleLbl="alignAccFollowNode1" presStyleIdx="1" presStyleCnt="2">
        <dgm:presLayoutVars>
          <dgm:bulletEnabled val="1"/>
        </dgm:presLayoutVars>
      </dgm:prSet>
      <dgm:spPr/>
    </dgm:pt>
  </dgm:ptLst>
  <dgm:cxnLst>
    <dgm:cxn modelId="{19202F06-C0A8-40BF-8887-E7FE766C333C}" srcId="{3075A9A9-DD2E-4ACB-A0C6-88FAC2CB324D}" destId="{DC47DCA6-96CD-4A2C-B62F-8CC71D8C8E12}" srcOrd="0" destOrd="0" parTransId="{BA4E6060-3E02-4DC9-999E-664C75AD2B17}" sibTransId="{9E651337-55A0-4BC4-9468-6DF1B9931A2F}"/>
    <dgm:cxn modelId="{56BBA20B-548D-44B9-8BF7-2807E2FE840B}" type="presOf" srcId="{2A66170F-1B7D-4E19-B7BD-4417131220A6}" destId="{71294ECD-550A-476F-A96D-56F889AD84F9}" srcOrd="0" destOrd="0" presId="urn:microsoft.com/office/officeart/2005/8/layout/hList1"/>
    <dgm:cxn modelId="{A9063E10-8BD5-4A2C-9F88-B48BA07AF79A}" type="presOf" srcId="{6BB890E6-C93F-4FDE-8B20-12E45554DE2D}" destId="{45D2AA96-01C3-4DB8-BDEC-FDACF0C5239B}" srcOrd="0" destOrd="2" presId="urn:microsoft.com/office/officeart/2005/8/layout/hList1"/>
    <dgm:cxn modelId="{01342211-C592-4633-933C-1445F425ED10}" srcId="{3075A9A9-DD2E-4ACB-A0C6-88FAC2CB324D}" destId="{CBA26ECA-C7B3-4A78-B984-ACD88FA53B11}" srcOrd="3" destOrd="0" parTransId="{383BD263-4825-4DCA-8A6E-10220A321191}" sibTransId="{499946FF-271C-45F0-92AD-7DC72345F790}"/>
    <dgm:cxn modelId="{69177F15-D5F8-42DD-B545-C8F48846BCD7}" srcId="{2A66170F-1B7D-4E19-B7BD-4417131220A6}" destId="{6BB890E6-C93F-4FDE-8B20-12E45554DE2D}" srcOrd="2" destOrd="0" parTransId="{E2FD646B-AB14-4F5F-B1AA-B554A5CD8FD7}" sibTransId="{2528E0E1-90EC-425F-A7EF-C5EBCC899327}"/>
    <dgm:cxn modelId="{CF82A724-BF8B-4C07-82B8-D8881DD39949}" type="presOf" srcId="{3075A9A9-DD2E-4ACB-A0C6-88FAC2CB324D}" destId="{1E36D97B-D0F6-4762-BF60-A7904357B6F6}" srcOrd="0" destOrd="0" presId="urn:microsoft.com/office/officeart/2005/8/layout/hList1"/>
    <dgm:cxn modelId="{7A925762-4E87-4156-84DA-A16DF7BB27F4}" srcId="{2A66170F-1B7D-4E19-B7BD-4417131220A6}" destId="{7E4C76DC-1E47-45AB-BE80-0358F9AAF2BB}" srcOrd="1" destOrd="0" parTransId="{A37EC585-898F-4A6A-A6D3-CCBF473A8093}" sibTransId="{003978C8-2BEF-4B29-BD68-9757A4000D0F}"/>
    <dgm:cxn modelId="{1B76BF6E-B58C-43DD-ABD1-393617A9515D}" srcId="{D0C10DAB-C322-41A1-8658-7422865E490A}" destId="{3075A9A9-DD2E-4ACB-A0C6-88FAC2CB324D}" srcOrd="0" destOrd="0" parTransId="{134ADAE1-C064-4534-8CC6-D8807540061D}" sibTransId="{5F624114-D0F6-4468-B3D2-38948A17DC0E}"/>
    <dgm:cxn modelId="{A0F5CD58-7D66-4E31-8BE8-9A8140F8DDDE}" srcId="{3075A9A9-DD2E-4ACB-A0C6-88FAC2CB324D}" destId="{7F4EEA15-2E9E-47C9-AF1B-1FA23A7F9F5C}" srcOrd="2" destOrd="0" parTransId="{88C0A744-4143-491F-A5CD-918E86655471}" sibTransId="{11767EBD-491B-430F-93EF-1FCFBD1DD6C2}"/>
    <dgm:cxn modelId="{D3F3DB79-2D41-47CA-8548-09ECF5FD47DB}" srcId="{3075A9A9-DD2E-4ACB-A0C6-88FAC2CB324D}" destId="{62B41182-6C2B-4ED8-86B0-330C06986AB9}" srcOrd="1" destOrd="0" parTransId="{14660C25-94E9-44AA-8120-86B7535088DC}" sibTransId="{76C2EA0F-7C5D-48A1-939A-F6DC2EAF8E49}"/>
    <dgm:cxn modelId="{FF770F7E-D93D-4DE8-9457-9F05FD2C318C}" srcId="{D0C10DAB-C322-41A1-8658-7422865E490A}" destId="{2A66170F-1B7D-4E19-B7BD-4417131220A6}" srcOrd="1" destOrd="0" parTransId="{06BA1478-58FB-4D43-BF44-9A355D9E65BD}" sibTransId="{21E75602-6CB5-4223-93A0-FA12226535A1}"/>
    <dgm:cxn modelId="{D244EB88-696E-40BA-B388-666EF06B1575}" type="presOf" srcId="{DC47DCA6-96CD-4A2C-B62F-8CC71D8C8E12}" destId="{81374FB4-E28E-4844-BBFA-75610456881B}" srcOrd="0" destOrd="0" presId="urn:microsoft.com/office/officeart/2005/8/layout/hList1"/>
    <dgm:cxn modelId="{0206AF9E-0AA2-401E-A57A-3788F874CBA8}" srcId="{2A66170F-1B7D-4E19-B7BD-4417131220A6}" destId="{D7807EAE-F440-4658-B827-5A1F27B59CA8}" srcOrd="0" destOrd="0" parTransId="{4C79C7E3-84BC-4917-A660-55DC2889DDFE}" sibTransId="{D3093545-D9A0-40EC-9533-504A4E4F3697}"/>
    <dgm:cxn modelId="{7014E3B2-AC2F-4E5C-BA53-9F75842E2605}" type="presOf" srcId="{CBA26ECA-C7B3-4A78-B984-ACD88FA53B11}" destId="{81374FB4-E28E-4844-BBFA-75610456881B}" srcOrd="0" destOrd="3" presId="urn:microsoft.com/office/officeart/2005/8/layout/hList1"/>
    <dgm:cxn modelId="{219A75B4-3B21-4EC2-887E-AA87C2A792B0}" type="presOf" srcId="{D7807EAE-F440-4658-B827-5A1F27B59CA8}" destId="{45D2AA96-01C3-4DB8-BDEC-FDACF0C5239B}" srcOrd="0" destOrd="0" presId="urn:microsoft.com/office/officeart/2005/8/layout/hList1"/>
    <dgm:cxn modelId="{F0EF6BBD-F780-40B8-83BA-E52CB6A6E7D4}" type="presOf" srcId="{62B41182-6C2B-4ED8-86B0-330C06986AB9}" destId="{81374FB4-E28E-4844-BBFA-75610456881B}" srcOrd="0" destOrd="1" presId="urn:microsoft.com/office/officeart/2005/8/layout/hList1"/>
    <dgm:cxn modelId="{496DBFC5-ADDF-4EF7-B5EB-3F50DAA61EFC}" type="presOf" srcId="{7F4EEA15-2E9E-47C9-AF1B-1FA23A7F9F5C}" destId="{81374FB4-E28E-4844-BBFA-75610456881B}" srcOrd="0" destOrd="2" presId="urn:microsoft.com/office/officeart/2005/8/layout/hList1"/>
    <dgm:cxn modelId="{FC9686D4-C57A-4E87-BC03-70CE77BD83EE}" type="presOf" srcId="{D0C10DAB-C322-41A1-8658-7422865E490A}" destId="{DE876C50-400B-4C67-BF7B-A3BDE0F7CC3A}" srcOrd="0" destOrd="0" presId="urn:microsoft.com/office/officeart/2005/8/layout/hList1"/>
    <dgm:cxn modelId="{410A7EFB-3D04-4D32-ADAD-DB37BDCF08EA}" type="presOf" srcId="{7E4C76DC-1E47-45AB-BE80-0358F9AAF2BB}" destId="{45D2AA96-01C3-4DB8-BDEC-FDACF0C5239B}" srcOrd="0" destOrd="1" presId="urn:microsoft.com/office/officeart/2005/8/layout/hList1"/>
    <dgm:cxn modelId="{E653A648-1832-4D3A-B30F-463D8A5CDC1B}" type="presParOf" srcId="{DE876C50-400B-4C67-BF7B-A3BDE0F7CC3A}" destId="{42F4FCBB-D76E-47E8-A477-0D70F2776DF9}" srcOrd="0" destOrd="0" presId="urn:microsoft.com/office/officeart/2005/8/layout/hList1"/>
    <dgm:cxn modelId="{41A76362-7E27-4B13-AD4A-9651BDBA0E08}" type="presParOf" srcId="{42F4FCBB-D76E-47E8-A477-0D70F2776DF9}" destId="{1E36D97B-D0F6-4762-BF60-A7904357B6F6}" srcOrd="0" destOrd="0" presId="urn:microsoft.com/office/officeart/2005/8/layout/hList1"/>
    <dgm:cxn modelId="{C9B1AC32-FF34-4087-85E1-46FB57989DE3}" type="presParOf" srcId="{42F4FCBB-D76E-47E8-A477-0D70F2776DF9}" destId="{81374FB4-E28E-4844-BBFA-75610456881B}" srcOrd="1" destOrd="0" presId="urn:microsoft.com/office/officeart/2005/8/layout/hList1"/>
    <dgm:cxn modelId="{0AD10E8D-1E67-4109-899E-87E9CF86C77D}" type="presParOf" srcId="{DE876C50-400B-4C67-BF7B-A3BDE0F7CC3A}" destId="{213495E3-C14A-4543-A860-9E76BFAFB119}" srcOrd="1" destOrd="0" presId="urn:microsoft.com/office/officeart/2005/8/layout/hList1"/>
    <dgm:cxn modelId="{E77936ED-B943-4183-888F-A45F2660EC99}" type="presParOf" srcId="{DE876C50-400B-4C67-BF7B-A3BDE0F7CC3A}" destId="{D3AF8276-52BD-4521-9B9D-F338C7E38BEC}" srcOrd="2" destOrd="0" presId="urn:microsoft.com/office/officeart/2005/8/layout/hList1"/>
    <dgm:cxn modelId="{C308F207-F28B-4450-BB83-A342D0C1583A}" type="presParOf" srcId="{D3AF8276-52BD-4521-9B9D-F338C7E38BEC}" destId="{71294ECD-550A-476F-A96D-56F889AD84F9}" srcOrd="0" destOrd="0" presId="urn:microsoft.com/office/officeart/2005/8/layout/hList1"/>
    <dgm:cxn modelId="{E2098CA0-0A0E-4689-9772-66210B88B591}" type="presParOf" srcId="{D3AF8276-52BD-4521-9B9D-F338C7E38BEC}" destId="{45D2AA96-01C3-4DB8-BDEC-FDACF0C5239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4AD03C-1C75-4B8A-A257-13A36496BE0E}" type="doc">
      <dgm:prSet loTypeId="urn:microsoft.com/office/officeart/2005/8/layout/vList2" loCatId="list" qsTypeId="urn:microsoft.com/office/officeart/2005/8/quickstyle/simple3" qsCatId="simple" csTypeId="urn:microsoft.com/office/officeart/2005/8/colors/colorful5" csCatId="colorful" phldr="1"/>
      <dgm:spPr/>
      <dgm:t>
        <a:bodyPr/>
        <a:lstStyle/>
        <a:p>
          <a:endParaRPr lang="zh-CN" altLang="en-US"/>
        </a:p>
      </dgm:t>
    </dgm:pt>
    <dgm:pt modelId="{13BCED24-4096-4D95-BB59-1A2417AE9510}">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软件端口</a:t>
          </a:r>
        </a:p>
      </dgm:t>
    </dgm:pt>
    <dgm:pt modelId="{B378CA2A-F92D-4CA5-B587-28839AD79485}" type="par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DC7EF1-106C-4176-B053-AD0DC97C013E}" type="sib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97DE7A7-1FE9-436A-8279-0D6800531FF9}">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协议栈层间的</a:t>
          </a:r>
          <a:r>
            <a:rPr lang="zh-CN" altLang="en-US" sz="1800" b="1" dirty="0">
              <a:solidFill>
                <a:srgbClr val="C00000"/>
              </a:solidFill>
              <a:latin typeface="微软雅黑" panose="020B0503020204020204" pitchFamily="34" charset="-122"/>
              <a:ea typeface="微软雅黑" panose="020B0503020204020204" pitchFamily="34" charset="-122"/>
            </a:rPr>
            <a:t>抽象</a:t>
          </a:r>
          <a:r>
            <a:rPr lang="zh-CN" altLang="en-US" sz="1800" b="1" dirty="0">
              <a:latin typeface="微软雅黑" panose="020B0503020204020204" pitchFamily="34" charset="-122"/>
              <a:ea typeface="微软雅黑" panose="020B0503020204020204" pitchFamily="34" charset="-122"/>
            </a:rPr>
            <a:t>的协议端口。</a:t>
          </a:r>
        </a:p>
      </dgm:t>
    </dgm:pt>
    <dgm:pt modelId="{545878C0-AED5-48A0-A334-3F993F07AD58}" type="par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C3CD3E4-2543-47DF-99B3-EB55CAFFA2EC}" type="sib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C99ACD2-4A47-4B21-A036-902EB77CF7CB}">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硬件端口</a:t>
          </a:r>
        </a:p>
      </dgm:t>
    </dgm:pt>
    <dgm:pt modelId="{AEA2AECB-9BB5-4E2F-99E5-B1AF2E10398B}" type="par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4D36EB6A-5038-4ECC-A9E9-B9D80013F6E8}" type="sib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20660D5-C1AE-4A1C-9559-40532481D3D3}">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不同硬件</a:t>
          </a:r>
          <a:r>
            <a:rPr lang="zh-CN" altLang="en-US" sz="1800" b="1" dirty="0">
              <a:solidFill>
                <a:srgbClr val="C00000"/>
              </a:solidFill>
              <a:latin typeface="微软雅黑" panose="020B0503020204020204" pitchFamily="34" charset="-122"/>
              <a:ea typeface="微软雅黑" panose="020B0503020204020204" pitchFamily="34" charset="-122"/>
            </a:rPr>
            <a:t>设备</a:t>
          </a:r>
          <a:r>
            <a:rPr lang="zh-CN" altLang="en-US" sz="1800" b="1" dirty="0">
              <a:latin typeface="微软雅黑" panose="020B0503020204020204" pitchFamily="34" charset="-122"/>
              <a:ea typeface="微软雅黑" panose="020B0503020204020204" pitchFamily="34" charset="-122"/>
            </a:rPr>
            <a:t>进行</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的接口。</a:t>
          </a:r>
        </a:p>
      </dgm:t>
    </dgm:pt>
    <dgm:pt modelId="{420AEFAB-064F-436D-B8B2-8D683E498E64}" type="par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2737782-2094-48D0-ADCD-ECAF84F4BF05}" type="sib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0809C8-6B97-4A27-B726-56F1206ECA08}">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是应用层的各种协议</a:t>
          </a:r>
          <a:r>
            <a:rPr lang="zh-CN" altLang="en-US" sz="1800" b="1" dirty="0">
              <a:solidFill>
                <a:srgbClr val="C00000"/>
              </a:solidFill>
              <a:latin typeface="微软雅黑" panose="020B0503020204020204" pitchFamily="34" charset="-122"/>
              <a:ea typeface="微软雅黑" panose="020B0503020204020204" pitchFamily="34" charset="-122"/>
            </a:rPr>
            <a:t>进程</a:t>
          </a:r>
          <a:r>
            <a:rPr lang="zh-CN" altLang="en-US" sz="1800" b="1" dirty="0">
              <a:latin typeface="微软雅黑" panose="020B0503020204020204" pitchFamily="34" charset="-122"/>
              <a:ea typeface="微软雅黑" panose="020B0503020204020204" pitchFamily="34" charset="-122"/>
            </a:rPr>
            <a:t>与运输</a:t>
          </a:r>
          <a:r>
            <a:rPr lang="zh-CN" altLang="en-US" sz="1800" b="1" dirty="0">
              <a:solidFill>
                <a:srgbClr val="C00000"/>
              </a:solidFill>
              <a:latin typeface="微软雅黑" panose="020B0503020204020204" pitchFamily="34" charset="-122"/>
              <a:ea typeface="微软雅黑" panose="020B0503020204020204" pitchFamily="34" charset="-122"/>
            </a:rPr>
            <a:t>实体</a:t>
          </a:r>
          <a:r>
            <a:rPr lang="zh-CN" altLang="en-US" sz="1800" b="1" dirty="0">
              <a:latin typeface="微软雅黑" panose="020B0503020204020204" pitchFamily="34" charset="-122"/>
              <a:ea typeface="微软雅黑" panose="020B0503020204020204" pitchFamily="34" charset="-122"/>
            </a:rPr>
            <a:t>进行层间</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的地点。</a:t>
          </a:r>
        </a:p>
      </dgm:t>
    </dgm:pt>
    <dgm:pt modelId="{F1B82ECC-4D0C-4A85-A69C-268A9707C912}" type="parTrans" cxnId="{26121E0E-6011-4B09-A0AE-0728A295D5D4}">
      <dgm:prSet/>
      <dgm:spPr/>
      <dgm:t>
        <a:bodyPr/>
        <a:lstStyle/>
        <a:p>
          <a:pPr>
            <a:lnSpc>
              <a:spcPts val="3000"/>
            </a:lnSpc>
            <a:spcBef>
              <a:spcPts val="0"/>
            </a:spcBef>
            <a:spcAft>
              <a:spcPts val="0"/>
            </a:spcAft>
          </a:pPr>
          <a:endParaRPr lang="zh-CN" altLang="en-US" sz="1600"/>
        </a:p>
      </dgm:t>
    </dgm:pt>
    <dgm:pt modelId="{9E95C9D8-0F4D-48FC-9666-2E471E19A3AE}" type="sibTrans" cxnId="{26121E0E-6011-4B09-A0AE-0728A295D5D4}">
      <dgm:prSet/>
      <dgm:spPr/>
      <dgm:t>
        <a:bodyPr/>
        <a:lstStyle/>
        <a:p>
          <a:pPr>
            <a:lnSpc>
              <a:spcPts val="3000"/>
            </a:lnSpc>
            <a:spcBef>
              <a:spcPts val="0"/>
            </a:spcBef>
            <a:spcAft>
              <a:spcPts val="0"/>
            </a:spcAft>
          </a:pPr>
          <a:endParaRPr lang="zh-CN" altLang="en-US" sz="1600"/>
        </a:p>
      </dgm:t>
    </dgm:pt>
    <dgm:pt modelId="{0583638A-92F7-4F6B-B1ED-5BA4E801AA27}">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不同系统实现端口的方法可以不同。</a:t>
          </a:r>
        </a:p>
      </dgm:t>
    </dgm:pt>
    <dgm:pt modelId="{59BD5D79-1150-4488-B961-6DD67B917D89}" type="parTrans" cxnId="{03E8BBB5-EA19-4071-9A3C-C21329AF7D38}">
      <dgm:prSet/>
      <dgm:spPr/>
      <dgm:t>
        <a:bodyPr/>
        <a:lstStyle/>
        <a:p>
          <a:pPr>
            <a:lnSpc>
              <a:spcPts val="3000"/>
            </a:lnSpc>
          </a:pPr>
          <a:endParaRPr lang="zh-CN" altLang="en-US" sz="1600"/>
        </a:p>
      </dgm:t>
    </dgm:pt>
    <dgm:pt modelId="{C0234743-99CE-4444-B3BC-B79B431250E9}" type="sibTrans" cxnId="{03E8BBB5-EA19-4071-9A3C-C21329AF7D38}">
      <dgm:prSet/>
      <dgm:spPr/>
      <dgm:t>
        <a:bodyPr/>
        <a:lstStyle/>
        <a:p>
          <a:pPr>
            <a:lnSpc>
              <a:spcPts val="3000"/>
            </a:lnSpc>
          </a:pPr>
          <a:endParaRPr lang="zh-CN" altLang="en-US" sz="1600"/>
        </a:p>
      </dgm:t>
    </dgm:pt>
    <dgm:pt modelId="{C9ADDDC0-CA56-4FDB-86C5-3E95B594DA47}" type="pres">
      <dgm:prSet presAssocID="{104AD03C-1C75-4B8A-A257-13A36496BE0E}" presName="linear" presStyleCnt="0">
        <dgm:presLayoutVars>
          <dgm:animLvl val="lvl"/>
          <dgm:resizeHandles val="exact"/>
        </dgm:presLayoutVars>
      </dgm:prSet>
      <dgm:spPr/>
    </dgm:pt>
    <dgm:pt modelId="{9C10F1EF-CFB5-483B-9844-3B7759FDE926}" type="pres">
      <dgm:prSet presAssocID="{13BCED24-4096-4D95-BB59-1A2417AE9510}" presName="parentText" presStyleLbl="node1" presStyleIdx="0" presStyleCnt="2" custLinFactNeighborX="3821" custLinFactNeighborY="-4601">
        <dgm:presLayoutVars>
          <dgm:chMax val="0"/>
          <dgm:bulletEnabled val="1"/>
        </dgm:presLayoutVars>
      </dgm:prSet>
      <dgm:spPr/>
    </dgm:pt>
    <dgm:pt modelId="{2487C381-8EF1-485B-9441-46EEB8C1886B}" type="pres">
      <dgm:prSet presAssocID="{13BCED24-4096-4D95-BB59-1A2417AE9510}" presName="childText" presStyleLbl="revTx" presStyleIdx="0" presStyleCnt="2">
        <dgm:presLayoutVars>
          <dgm:bulletEnabled val="1"/>
        </dgm:presLayoutVars>
      </dgm:prSet>
      <dgm:spPr/>
    </dgm:pt>
    <dgm:pt modelId="{F24B62DD-54BA-47D1-83D7-96B45A39A82E}" type="pres">
      <dgm:prSet presAssocID="{8C99ACD2-4A47-4B21-A036-902EB77CF7CB}" presName="parentText" presStyleLbl="node1" presStyleIdx="1" presStyleCnt="2">
        <dgm:presLayoutVars>
          <dgm:chMax val="0"/>
          <dgm:bulletEnabled val="1"/>
        </dgm:presLayoutVars>
      </dgm:prSet>
      <dgm:spPr/>
    </dgm:pt>
    <dgm:pt modelId="{81781325-F072-4444-84B0-DFA10747A74F}" type="pres">
      <dgm:prSet presAssocID="{8C99ACD2-4A47-4B21-A036-902EB77CF7CB}" presName="childText" presStyleLbl="revTx" presStyleIdx="1" presStyleCnt="2">
        <dgm:presLayoutVars>
          <dgm:bulletEnabled val="1"/>
        </dgm:presLayoutVars>
      </dgm:prSet>
      <dgm:spPr/>
    </dgm:pt>
  </dgm:ptLst>
  <dgm:cxnLst>
    <dgm:cxn modelId="{26121E0E-6011-4B09-A0AE-0728A295D5D4}" srcId="{13BCED24-4096-4D95-BB59-1A2417AE9510}" destId="{BA0809C8-6B97-4A27-B726-56F1206ECA08}" srcOrd="1" destOrd="0" parTransId="{F1B82ECC-4D0C-4A85-A69C-268A9707C912}" sibTransId="{9E95C9D8-0F4D-48FC-9666-2E471E19A3AE}"/>
    <dgm:cxn modelId="{07D6D911-B85F-4E23-95A6-675277936701}" type="presOf" srcId="{104AD03C-1C75-4B8A-A257-13A36496BE0E}" destId="{C9ADDDC0-CA56-4FDB-86C5-3E95B594DA47}" srcOrd="0" destOrd="0" presId="urn:microsoft.com/office/officeart/2005/8/layout/vList2"/>
    <dgm:cxn modelId="{89469622-F54D-4383-A342-76CFE0A6942A}" srcId="{104AD03C-1C75-4B8A-A257-13A36496BE0E}" destId="{8C99ACD2-4A47-4B21-A036-902EB77CF7CB}" srcOrd="1" destOrd="0" parTransId="{AEA2AECB-9BB5-4E2F-99E5-B1AF2E10398B}" sibTransId="{4D36EB6A-5038-4ECC-A9E9-B9D80013F6E8}"/>
    <dgm:cxn modelId="{9C8C4731-D8D4-4BC3-B344-38512BD3B100}" type="presOf" srcId="{8C99ACD2-4A47-4B21-A036-902EB77CF7CB}" destId="{F24B62DD-54BA-47D1-83D7-96B45A39A82E}" srcOrd="0" destOrd="0" presId="urn:microsoft.com/office/officeart/2005/8/layout/vList2"/>
    <dgm:cxn modelId="{0147F531-CDCA-4F2C-92E7-822A420CED88}" type="presOf" srcId="{BA0809C8-6B97-4A27-B726-56F1206ECA08}" destId="{2487C381-8EF1-485B-9441-46EEB8C1886B}" srcOrd="0" destOrd="1" presId="urn:microsoft.com/office/officeart/2005/8/layout/vList2"/>
    <dgm:cxn modelId="{ECAF5460-1969-4586-8EA2-CDF3F3064C0E}" type="presOf" srcId="{13BCED24-4096-4D95-BB59-1A2417AE9510}" destId="{9C10F1EF-CFB5-483B-9844-3B7759FDE926}" srcOrd="0" destOrd="0" presId="urn:microsoft.com/office/officeart/2005/8/layout/vList2"/>
    <dgm:cxn modelId="{FBA9404E-14C2-49AE-B7B8-6E7D87C72F99}" srcId="{104AD03C-1C75-4B8A-A257-13A36496BE0E}" destId="{13BCED24-4096-4D95-BB59-1A2417AE9510}" srcOrd="0" destOrd="0" parTransId="{B378CA2A-F92D-4CA5-B587-28839AD79485}" sibTransId="{BADC7EF1-106C-4176-B053-AD0DC97C013E}"/>
    <dgm:cxn modelId="{021C7071-A411-4B1C-8213-A6F2D7397BD0}" type="presOf" srcId="{120660D5-C1AE-4A1C-9559-40532481D3D3}" destId="{81781325-F072-4444-84B0-DFA10747A74F}" srcOrd="0" destOrd="0" presId="urn:microsoft.com/office/officeart/2005/8/layout/vList2"/>
    <dgm:cxn modelId="{F8861C79-D164-44E4-9331-7D2F5BEF0A66}" type="presOf" srcId="{E97DE7A7-1FE9-436A-8279-0D6800531FF9}" destId="{2487C381-8EF1-485B-9441-46EEB8C1886B}" srcOrd="0" destOrd="0" presId="urn:microsoft.com/office/officeart/2005/8/layout/vList2"/>
    <dgm:cxn modelId="{055AD085-5B69-475B-8B94-523B02655748}" srcId="{13BCED24-4096-4D95-BB59-1A2417AE9510}" destId="{E97DE7A7-1FE9-436A-8279-0D6800531FF9}" srcOrd="0" destOrd="0" parTransId="{545878C0-AED5-48A0-A334-3F993F07AD58}" sibTransId="{2C3CD3E4-2543-47DF-99B3-EB55CAFFA2EC}"/>
    <dgm:cxn modelId="{EAC7F3A6-021A-4D25-8E33-EC131B236F26}" srcId="{8C99ACD2-4A47-4B21-A036-902EB77CF7CB}" destId="{120660D5-C1AE-4A1C-9559-40532481D3D3}" srcOrd="0" destOrd="0" parTransId="{420AEFAB-064F-436D-B8B2-8D683E498E64}" sibTransId="{32737782-2094-48D0-ADCD-ECAF84F4BF05}"/>
    <dgm:cxn modelId="{03E8BBB5-EA19-4071-9A3C-C21329AF7D38}" srcId="{13BCED24-4096-4D95-BB59-1A2417AE9510}" destId="{0583638A-92F7-4F6B-B1ED-5BA4E801AA27}" srcOrd="2" destOrd="0" parTransId="{59BD5D79-1150-4488-B961-6DD67B917D89}" sibTransId="{C0234743-99CE-4444-B3BC-B79B431250E9}"/>
    <dgm:cxn modelId="{B7A2C6ED-3688-45DF-B435-0079234F6441}" type="presOf" srcId="{0583638A-92F7-4F6B-B1ED-5BA4E801AA27}" destId="{2487C381-8EF1-485B-9441-46EEB8C1886B}" srcOrd="0" destOrd="2" presId="urn:microsoft.com/office/officeart/2005/8/layout/vList2"/>
    <dgm:cxn modelId="{533ECA1A-4BA7-416B-84E3-3EAA1411FE77}" type="presParOf" srcId="{C9ADDDC0-CA56-4FDB-86C5-3E95B594DA47}" destId="{9C10F1EF-CFB5-483B-9844-3B7759FDE926}" srcOrd="0" destOrd="0" presId="urn:microsoft.com/office/officeart/2005/8/layout/vList2"/>
    <dgm:cxn modelId="{C062389F-6E21-45F6-8921-26A4EA6A3889}" type="presParOf" srcId="{C9ADDDC0-CA56-4FDB-86C5-3E95B594DA47}" destId="{2487C381-8EF1-485B-9441-46EEB8C1886B}" srcOrd="1" destOrd="0" presId="urn:microsoft.com/office/officeart/2005/8/layout/vList2"/>
    <dgm:cxn modelId="{32841B28-552E-4B51-92EC-515B401FD141}" type="presParOf" srcId="{C9ADDDC0-CA56-4FDB-86C5-3E95B594DA47}" destId="{F24B62DD-54BA-47D1-83D7-96B45A39A82E}" srcOrd="2" destOrd="0" presId="urn:microsoft.com/office/officeart/2005/8/layout/vList2"/>
    <dgm:cxn modelId="{EC614032-2C37-42D7-ACDE-E77A4B55988C}" type="presParOf" srcId="{C9ADDDC0-CA56-4FDB-86C5-3E95B594DA47}" destId="{81781325-F072-4444-84B0-DFA10747A74F}"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8629DE-649B-4EB1-8AB5-333FFA185FC5}"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7670711-51FA-4CA7-A1F6-5DD30611F091}">
      <dgm:prSet phldrT="[文本]" custT="1"/>
      <dgm:spPr/>
      <dgm:t>
        <a:bodyPr/>
        <a:lstStyle/>
        <a:p>
          <a:r>
            <a:rPr lang="zh-CN" altLang="en-US" sz="1800" b="1" dirty="0">
              <a:latin typeface="微软雅黑" panose="020B0503020204020204" pitchFamily="34" charset="-122"/>
              <a:ea typeface="微软雅黑" panose="020B0503020204020204" pitchFamily="34" charset="-122"/>
            </a:rPr>
            <a:t>优点</a:t>
          </a:r>
        </a:p>
      </dgm:t>
    </dgm:pt>
    <dgm:pt modelId="{837FFAB1-AE50-491A-95BA-57C47683C122}" type="par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3A3E75-AB55-4656-8514-E6B9A254AC17}" type="sib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FF931C1-E237-48FE-832A-306188408C80}">
      <dgm:prSet phldrT="[文本]" custT="1"/>
      <dgm:spPr/>
      <dgm:t>
        <a:bodyPr/>
        <a:lstStyle/>
        <a:p>
          <a:r>
            <a:rPr lang="zh-CN" altLang="en-US" sz="1800" b="1" dirty="0">
              <a:latin typeface="微软雅黑" panose="020B0503020204020204" pitchFamily="34" charset="-122"/>
              <a:ea typeface="微软雅黑" panose="020B0503020204020204" pitchFamily="34" charset="-122"/>
            </a:rPr>
            <a:t>容易实现，即使确认丢失也不必重传。</a:t>
          </a:r>
        </a:p>
      </dgm:t>
    </dgm:pt>
    <dgm:pt modelId="{670764A7-F9E9-436B-A984-E0B47A956ABA}" type="par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0E522F-2BCD-43D1-B8E9-5D7C22E5A569}" type="sib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18EC68-061C-4D58-82C9-348641BCBA19}">
      <dgm:prSet phldrT="[文本]" custT="1"/>
      <dgm:spPr/>
      <dgm:t>
        <a:bodyPr/>
        <a:lstStyle/>
        <a:p>
          <a:r>
            <a:rPr lang="zh-CN" altLang="en-US" sz="1800" b="1" dirty="0">
              <a:latin typeface="微软雅黑" panose="020B0503020204020204" pitchFamily="34" charset="-122"/>
              <a:ea typeface="微软雅黑" panose="020B0503020204020204" pitchFamily="34" charset="-122"/>
            </a:rPr>
            <a:t>缺点</a:t>
          </a:r>
        </a:p>
      </dgm:t>
    </dgm:pt>
    <dgm:pt modelId="{1B6B8DC7-606B-4CCC-BB50-1B246A3511F3}" type="par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A30CA18-94A7-4AEB-8557-8081699B2010}" type="sib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CE5D7B-2AA1-44DB-9DB6-183262D592C7}">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不能向发送方反映出接收方已经正确收到的所有分组的信息。</a:t>
          </a:r>
        </a:p>
      </dgm:t>
    </dgm:pt>
    <dgm:pt modelId="{47FF6F4E-D461-4089-B7B9-7456FA0CE972}" type="par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5DFF412-CBF7-4CA1-B397-ADAA67FE182C}" type="sib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DFD159-FE4F-4210-8329-3F9EEBE4C07E}" type="pres">
      <dgm:prSet presAssocID="{E58629DE-649B-4EB1-8AB5-333FFA185FC5}" presName="linear" presStyleCnt="0">
        <dgm:presLayoutVars>
          <dgm:animLvl val="lvl"/>
          <dgm:resizeHandles val="exact"/>
        </dgm:presLayoutVars>
      </dgm:prSet>
      <dgm:spPr/>
    </dgm:pt>
    <dgm:pt modelId="{33B224D6-3FF2-46C4-8268-9A5307B6CCA2}" type="pres">
      <dgm:prSet presAssocID="{17670711-51FA-4CA7-A1F6-5DD30611F091}" presName="parentText" presStyleLbl="node1" presStyleIdx="0" presStyleCnt="2" custScaleY="65789">
        <dgm:presLayoutVars>
          <dgm:chMax val="0"/>
          <dgm:bulletEnabled val="1"/>
        </dgm:presLayoutVars>
      </dgm:prSet>
      <dgm:spPr/>
    </dgm:pt>
    <dgm:pt modelId="{769DA413-89B9-4221-A6BC-35722015CED6}" type="pres">
      <dgm:prSet presAssocID="{17670711-51FA-4CA7-A1F6-5DD30611F091}" presName="childText" presStyleLbl="revTx" presStyleIdx="0" presStyleCnt="2">
        <dgm:presLayoutVars>
          <dgm:bulletEnabled val="1"/>
        </dgm:presLayoutVars>
      </dgm:prSet>
      <dgm:spPr/>
    </dgm:pt>
    <dgm:pt modelId="{22292CD0-ACC3-4A3E-B075-1AF230BC97FF}" type="pres">
      <dgm:prSet presAssocID="{0E18EC68-061C-4D58-82C9-348641BCBA19}" presName="parentText" presStyleLbl="node1" presStyleIdx="1" presStyleCnt="2" custScaleY="65789">
        <dgm:presLayoutVars>
          <dgm:chMax val="0"/>
          <dgm:bulletEnabled val="1"/>
        </dgm:presLayoutVars>
      </dgm:prSet>
      <dgm:spPr/>
    </dgm:pt>
    <dgm:pt modelId="{CB9D41E1-F2ED-4448-86ED-9FD25B52E29B}" type="pres">
      <dgm:prSet presAssocID="{0E18EC68-061C-4D58-82C9-348641BCBA19}" presName="childText" presStyleLbl="revTx" presStyleIdx="1" presStyleCnt="2">
        <dgm:presLayoutVars>
          <dgm:bulletEnabled val="1"/>
        </dgm:presLayoutVars>
      </dgm:prSet>
      <dgm:spPr/>
    </dgm:pt>
  </dgm:ptLst>
  <dgm:cxnLst>
    <dgm:cxn modelId="{79EB6A16-C89F-4860-A352-FD7C7EC795CA}" srcId="{E58629DE-649B-4EB1-8AB5-333FFA185FC5}" destId="{0E18EC68-061C-4D58-82C9-348641BCBA19}" srcOrd="1" destOrd="0" parTransId="{1B6B8DC7-606B-4CCC-BB50-1B246A3511F3}" sibTransId="{EA30CA18-94A7-4AEB-8557-8081699B2010}"/>
    <dgm:cxn modelId="{D562945D-4A2A-4F4B-8B5B-33CDF058F3EF}" srcId="{E58629DE-649B-4EB1-8AB5-333FFA185FC5}" destId="{17670711-51FA-4CA7-A1F6-5DD30611F091}" srcOrd="0" destOrd="0" parTransId="{837FFAB1-AE50-491A-95BA-57C47683C122}" sibTransId="{1B3A3E75-AB55-4656-8514-E6B9A254AC17}"/>
    <dgm:cxn modelId="{40843663-2859-450B-9690-312A01A4364F}" type="presOf" srcId="{0E18EC68-061C-4D58-82C9-348641BCBA19}" destId="{22292CD0-ACC3-4A3E-B075-1AF230BC97FF}" srcOrd="0" destOrd="0" presId="urn:microsoft.com/office/officeart/2005/8/layout/vList2"/>
    <dgm:cxn modelId="{D9C72B59-CF77-4AA5-A3C2-3B59AC50C3BE}" type="presOf" srcId="{17670711-51FA-4CA7-A1F6-5DD30611F091}" destId="{33B224D6-3FF2-46C4-8268-9A5307B6CCA2}" srcOrd="0" destOrd="0" presId="urn:microsoft.com/office/officeart/2005/8/layout/vList2"/>
    <dgm:cxn modelId="{BEAD6A89-5190-405E-9797-D12F931F84CF}" type="presOf" srcId="{0ECE5D7B-2AA1-44DB-9DB6-183262D592C7}" destId="{CB9D41E1-F2ED-4448-86ED-9FD25B52E29B}" srcOrd="0" destOrd="0" presId="urn:microsoft.com/office/officeart/2005/8/layout/vList2"/>
    <dgm:cxn modelId="{5CABB98F-0430-4FBE-A4A6-44F6F6542A31}" type="presOf" srcId="{DFF931C1-E237-48FE-832A-306188408C80}" destId="{769DA413-89B9-4221-A6BC-35722015CED6}" srcOrd="0" destOrd="0" presId="urn:microsoft.com/office/officeart/2005/8/layout/vList2"/>
    <dgm:cxn modelId="{1FB1CFB4-2259-4A36-B013-D92E2EFF6AFC}" type="presOf" srcId="{E58629DE-649B-4EB1-8AB5-333FFA185FC5}" destId="{71DFD159-FE4F-4210-8329-3F9EEBE4C07E}" srcOrd="0" destOrd="0" presId="urn:microsoft.com/office/officeart/2005/8/layout/vList2"/>
    <dgm:cxn modelId="{42A4B9EE-396E-4188-B8BA-842E030279B7}" srcId="{17670711-51FA-4CA7-A1F6-5DD30611F091}" destId="{DFF931C1-E237-48FE-832A-306188408C80}" srcOrd="0" destOrd="0" parTransId="{670764A7-F9E9-436B-A984-E0B47A956ABA}" sibTransId="{2B0E522F-2BCD-43D1-B8E9-5D7C22E5A569}"/>
    <dgm:cxn modelId="{F38771FE-2226-49DD-8F85-6A1535BA0119}" srcId="{0E18EC68-061C-4D58-82C9-348641BCBA19}" destId="{0ECE5D7B-2AA1-44DB-9DB6-183262D592C7}" srcOrd="0" destOrd="0" parTransId="{47FF6F4E-D461-4089-B7B9-7456FA0CE972}" sibTransId="{D5DFF412-CBF7-4CA1-B397-ADAA67FE182C}"/>
    <dgm:cxn modelId="{EBD25F5D-9456-4C92-A167-65664FA2A62C}" type="presParOf" srcId="{71DFD159-FE4F-4210-8329-3F9EEBE4C07E}" destId="{33B224D6-3FF2-46C4-8268-9A5307B6CCA2}" srcOrd="0" destOrd="0" presId="urn:microsoft.com/office/officeart/2005/8/layout/vList2"/>
    <dgm:cxn modelId="{2466FA99-CBD1-46F3-96A2-88006BE3CAFF}" type="presParOf" srcId="{71DFD159-FE4F-4210-8329-3F9EEBE4C07E}" destId="{769DA413-89B9-4221-A6BC-35722015CED6}" srcOrd="1" destOrd="0" presId="urn:microsoft.com/office/officeart/2005/8/layout/vList2"/>
    <dgm:cxn modelId="{5178D59C-7D44-46B1-A182-8E20BCC471DC}" type="presParOf" srcId="{71DFD159-FE4F-4210-8329-3F9EEBE4C07E}" destId="{22292CD0-ACC3-4A3E-B075-1AF230BC97FF}" srcOrd="2" destOrd="0" presId="urn:microsoft.com/office/officeart/2005/8/layout/vList2"/>
    <dgm:cxn modelId="{794ACC4F-9FE8-4C1D-B7FE-0CA2E5BAAE1B}" type="presParOf" srcId="{71DFD159-FE4F-4210-8329-3F9EEBE4C07E}" destId="{CB9D41E1-F2ED-4448-86ED-9FD25B52E29B}"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Montserrat" panose="00000500000000000000" pitchFamily="2" charset="0"/>
              <a:ea typeface="微软雅黑 Light" panose="020B0502040204020203" pitchFamily="34" charset="-122"/>
            </a:rPr>
            <a:t>拥塞控制</a:t>
          </a:r>
        </a:p>
      </dgm:t>
    </dgm:pt>
    <dgm:pt modelId="{72B0F351-ECBB-41B6-83F8-2E44095783F4}" type="parTrans" cxnId="{1A846D18-8F00-461A-939E-949F0AB8AB06}">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B73030B4-A5E0-40C1-9AE1-02B25975AA00}" type="sibTrans" cxnId="{1A846D18-8F00-461A-939E-949F0AB8AB06}">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710B3081-F341-4301-9185-BE738C183BBB}">
      <dgm:prSet phldrT="[文本]" custT="1"/>
      <dgm:spPr>
        <a:noFill/>
      </dgm:spPr>
      <dgm:t>
        <a:bodyPr/>
        <a:lstStyle/>
        <a:p>
          <a:r>
            <a:rPr lang="zh-CN" altLang="en-US" sz="1800" b="0" dirty="0">
              <a:latin typeface="Montserrat" panose="00000500000000000000" pitchFamily="2" charset="0"/>
              <a:ea typeface="微软雅黑 Light" panose="020B0502040204020203" pitchFamily="34" charset="-122"/>
            </a:rPr>
            <a:t>防止过多的数据注入到网络中，避免网络中的路由器或链路过载。</a:t>
          </a:r>
        </a:p>
      </dgm:t>
    </dgm:pt>
    <dgm:pt modelId="{B9937F06-A3DB-4499-9BB1-8E62176A896E}" type="parTrans" cxnId="{74E18B3E-A839-4FBD-B46E-F54F7588502B}">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A8D13681-61CB-42A0-AAD2-CF508B0ED4F0}" type="sibTrans" cxnId="{74E18B3E-A839-4FBD-B46E-F54F7588502B}">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3376B25E-A50F-4935-9A84-A2AE7897CCCF}">
      <dgm:prSet phldrT="[文本]" custT="1"/>
      <dgm:spPr>
        <a:noFill/>
      </dgm:spPr>
      <dgm:t>
        <a:bodyPr/>
        <a:lstStyle/>
        <a:p>
          <a:r>
            <a:rPr lang="zh-CN" altLang="en-US" sz="1800" b="0" dirty="0">
              <a:latin typeface="Montserrat" panose="00000500000000000000" pitchFamily="2" charset="0"/>
              <a:ea typeface="微软雅黑 Light" panose="020B0502040204020203" pitchFamily="34" charset="-122"/>
            </a:rPr>
            <a:t>是一个全局性的过程，涉及到所有的主机、路由器，以及与降低网络传输性能有关的所有因素。</a:t>
          </a:r>
        </a:p>
      </dgm:t>
    </dgm:pt>
    <dgm:pt modelId="{26269EE4-3ED5-4DE1-B6F2-BC870B778E5F}" type="parTrans" cxnId="{38263262-CABC-4074-A5F3-D3F1E4C03317}">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BF637746-0510-4A3C-90B7-D93A16B92D57}" type="sibTrans" cxnId="{38263262-CABC-4074-A5F3-D3F1E4C03317}">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DACD2956-BF18-4584-AF2D-3FD839777DF7}">
      <dgm:prSet phldrT="[文本]" custT="1"/>
      <dgm:spPr/>
      <dgm:t>
        <a:bodyPr/>
        <a:lstStyle/>
        <a:p>
          <a:r>
            <a:rPr lang="zh-CN" altLang="en-US" sz="2000" b="1" dirty="0">
              <a:latin typeface="Montserrat" panose="00000500000000000000" pitchFamily="2" charset="0"/>
              <a:ea typeface="微软雅黑 Light" panose="020B0502040204020203" pitchFamily="34" charset="-122"/>
            </a:rPr>
            <a:t>流量控制</a:t>
          </a:r>
        </a:p>
      </dgm:t>
    </dgm:pt>
    <dgm:pt modelId="{98DB6D87-467D-4D2D-AF82-D4E303370A2F}" type="parTrans" cxnId="{06F307EA-748F-443B-9B61-7B9DD73BB963}">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AFE01F61-F8E8-44D6-97EE-DEA0356464A7}" type="sibTrans" cxnId="{06F307EA-748F-443B-9B61-7B9DD73BB963}">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541A8C11-D03E-479A-A84F-C3458AEF2E9A}">
      <dgm:prSet phldrT="[文本]" custT="1"/>
      <dgm:spPr>
        <a:noFill/>
      </dgm:spPr>
      <dgm:t>
        <a:bodyPr/>
        <a:lstStyle/>
        <a:p>
          <a:r>
            <a:rPr lang="zh-CN" altLang="en-US" sz="1800" b="0" dirty="0">
              <a:latin typeface="Montserrat" panose="00000500000000000000" pitchFamily="2" charset="0"/>
              <a:ea typeface="微软雅黑 Light" panose="020B0502040204020203" pitchFamily="34" charset="-122"/>
            </a:rPr>
            <a:t>点对点通信量的控制，是个端到端的问题。</a:t>
          </a:r>
        </a:p>
      </dgm:t>
    </dgm:pt>
    <dgm:pt modelId="{A7821D57-E876-4757-939B-CE33CAD146D4}" type="parTrans" cxnId="{47FAB983-5AC4-402F-9B23-9B04750BCF80}">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9553568A-AD7C-418C-9424-82556C1E75C3}" type="sibTrans" cxnId="{47FAB983-5AC4-402F-9B23-9B04750BCF80}">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7B38BB22-10D0-455B-AB19-4EC1F24B8A2F}">
      <dgm:prSet phldrT="[文本]" custT="1"/>
      <dgm:spPr>
        <a:noFill/>
      </dgm:spPr>
      <dgm:t>
        <a:bodyPr/>
        <a:lstStyle/>
        <a:p>
          <a:r>
            <a:rPr lang="zh-CN" altLang="en-US" sz="1800" b="0" dirty="0">
              <a:latin typeface="Montserrat" panose="00000500000000000000" pitchFamily="2" charset="0"/>
              <a:ea typeface="微软雅黑 Light" panose="020B0502040204020203" pitchFamily="34" charset="-122"/>
            </a:rPr>
            <a:t>抑制发送端发送数据的速率，以使接收端来得及接收。</a:t>
          </a:r>
        </a:p>
      </dgm:t>
    </dgm:pt>
    <dgm:pt modelId="{6383180C-1983-48A1-B1E4-F574E14CDBD1}" type="parTrans" cxnId="{E9F7BDEC-B0B2-4D70-9C76-A3B73A9A92CD}">
      <dgm:prSet/>
      <dgm:spPr/>
      <dgm:t>
        <a:bodyPr/>
        <a:lstStyle/>
        <a:p>
          <a:endParaRPr lang="zh-CN" altLang="en-US">
            <a:latin typeface="Montserrat" panose="00000500000000000000" pitchFamily="2" charset="0"/>
            <a:ea typeface="微软雅黑 Light" panose="020B0502040204020203" pitchFamily="34" charset="-122"/>
          </a:endParaRPr>
        </a:p>
      </dgm:t>
    </dgm:pt>
    <dgm:pt modelId="{0F0ABCB1-B289-4DF9-9D7E-62CB7D38863E}" type="sibTrans" cxnId="{E9F7BDEC-B0B2-4D70-9C76-A3B73A9A92CD}">
      <dgm:prSet/>
      <dgm:spPr/>
      <dgm:t>
        <a:bodyPr/>
        <a:lstStyle/>
        <a:p>
          <a:endParaRPr lang="zh-CN" altLang="en-US">
            <a:latin typeface="Montserrat" panose="00000500000000000000" pitchFamily="2" charset="0"/>
            <a:ea typeface="微软雅黑 Light" panose="020B0502040204020203" pitchFamily="34" charset="-122"/>
          </a:endParaRPr>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38263262-CABC-4074-A5F3-D3F1E4C03317}" srcId="{4EE007B2-F612-44FB-B13F-E78B8586155B}" destId="{3376B25E-A50F-4935-9A84-A2AE7897CCCF}" srcOrd="1" destOrd="0" parTransId="{26269EE4-3ED5-4DE1-B6F2-BC870B778E5F}" sibTransId="{BF637746-0510-4A3C-90B7-D93A16B92D57}"/>
    <dgm:cxn modelId="{47FAB983-5AC4-402F-9B23-9B04750BCF80}" srcId="{DACD2956-BF18-4584-AF2D-3FD839777DF7}" destId="{541A8C11-D03E-479A-A84F-C3458AEF2E9A}" srcOrd="1" destOrd="0" parTransId="{A7821D57-E876-4757-939B-CE33CAD146D4}" sibTransId="{9553568A-AD7C-418C-9424-82556C1E75C3}"/>
    <dgm:cxn modelId="{D99E9A86-7A1F-44E7-B3D8-4ED992367D2C}" type="presOf" srcId="{710B3081-F341-4301-9185-BE738C183BBB}" destId="{72C5BA33-78B4-45DE-B9CA-22A272DDBE2C}" srcOrd="0" destOrd="0" presId="urn:microsoft.com/office/officeart/2005/8/layout/hList1"/>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203096C6-3161-47EF-A15A-B83C30ADE451}" type="presOf" srcId="{541A8C11-D03E-479A-A84F-C3458AEF2E9A}" destId="{AAB91EAD-75AE-4168-8A7F-B7A023AD8367}" srcOrd="0" destOrd="1" presId="urn:microsoft.com/office/officeart/2005/8/layout/hList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52A635F8-657C-4EDB-8288-F1C84154CA98}" type="presOf" srcId="{3376B25E-A50F-4935-9A84-A2AE7897CCCF}" destId="{72C5BA33-78B4-45DE-B9CA-22A272DDBE2C}" srcOrd="0" destOrd="1" presId="urn:microsoft.com/office/officeart/2005/8/layout/hList1"/>
    <dgm:cxn modelId="{06D3AEFD-1506-435F-AD4C-70B757C12748}" type="presOf" srcId="{7B38BB22-10D0-455B-AB19-4EC1F24B8A2F}" destId="{AAB91EAD-75AE-4168-8A7F-B7A023AD8367}" srcOrd="0" destOrd="0" presId="urn:microsoft.com/office/officeart/2005/8/layout/hList1"/>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Montserrat" panose="00000500000000000000" pitchFamily="2" charset="0"/>
              <a:ea typeface="微软雅黑 Light" panose="020B0502040204020203" pitchFamily="34" charset="-122"/>
            </a:rPr>
            <a:t>开环控制</a:t>
          </a:r>
        </a:p>
      </dgm:t>
    </dgm:pt>
    <dgm:pt modelId="{72B0F351-ECBB-41B6-83F8-2E44095783F4}" type="parTrans" cxnId="{1A846D18-8F00-461A-939E-949F0AB8AB06}">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B73030B4-A5E0-40C1-9AE1-02B25975AA00}" type="sibTrans" cxnId="{1A846D18-8F00-461A-939E-949F0AB8AB06}">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710B3081-F341-4301-9185-BE738C183BBB}">
      <dgm:prSet phldrT="[文本]" custT="1"/>
      <dgm:spPr/>
      <dgm:t>
        <a:bodyPr/>
        <a:lstStyle/>
        <a:p>
          <a:r>
            <a:rPr lang="zh-CN" altLang="en-US" sz="1800" b="0" dirty="0">
              <a:latin typeface="Montserrat" panose="00000500000000000000" pitchFamily="2" charset="0"/>
              <a:ea typeface="微软雅黑 Light" panose="020B0502040204020203" pitchFamily="34" charset="-122"/>
            </a:rPr>
            <a:t>在设计网络时，事先</a:t>
          </a:r>
          <a:r>
            <a:rPr lang="zh-CN" altLang="en-US" sz="1800" b="0" dirty="0">
              <a:solidFill>
                <a:srgbClr val="C00000"/>
              </a:solidFill>
              <a:latin typeface="Montserrat" panose="00000500000000000000" pitchFamily="2" charset="0"/>
              <a:ea typeface="微软雅黑 Light" panose="020B0502040204020203" pitchFamily="34" charset="-122"/>
            </a:rPr>
            <a:t>考虑周全，</a:t>
          </a:r>
          <a:r>
            <a:rPr lang="zh-CN" altLang="en-US" sz="1800" b="0" dirty="0">
              <a:latin typeface="Montserrat" panose="00000500000000000000" pitchFamily="2" charset="0"/>
              <a:ea typeface="微软雅黑 Light" panose="020B0502040204020203" pitchFamily="34" charset="-122"/>
            </a:rPr>
            <a:t>力求工作时不发生拥塞。</a:t>
          </a:r>
        </a:p>
      </dgm:t>
    </dgm:pt>
    <dgm:pt modelId="{B9937F06-A3DB-4499-9BB1-8E62176A896E}" type="parTrans" cxnId="{74E18B3E-A839-4FBD-B46E-F54F7588502B}">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A8D13681-61CB-42A0-AAD2-CF508B0ED4F0}" type="sibTrans" cxnId="{74E18B3E-A839-4FBD-B46E-F54F7588502B}">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DACD2956-BF18-4584-AF2D-3FD839777DF7}">
      <dgm:prSet phldrT="[文本]" custT="1"/>
      <dgm:spPr/>
      <dgm:t>
        <a:bodyPr/>
        <a:lstStyle/>
        <a:p>
          <a:r>
            <a:rPr lang="zh-CN" altLang="en-US" sz="2000" b="1" dirty="0">
              <a:latin typeface="Montserrat" panose="00000500000000000000" pitchFamily="2" charset="0"/>
              <a:ea typeface="微软雅黑 Light" panose="020B0502040204020203" pitchFamily="34" charset="-122"/>
            </a:rPr>
            <a:t>闭环控制</a:t>
          </a:r>
        </a:p>
      </dgm:t>
    </dgm:pt>
    <dgm:pt modelId="{98DB6D87-467D-4D2D-AF82-D4E303370A2F}" type="parTrans" cxnId="{06F307EA-748F-443B-9B61-7B9DD73BB963}">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AFE01F61-F8E8-44D6-97EE-DEA0356464A7}" type="sibTrans" cxnId="{06F307EA-748F-443B-9B61-7B9DD73BB963}">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7B38BB22-10D0-455B-AB19-4EC1F24B8A2F}">
      <dgm:prSet phldrT="[文本]" custT="1"/>
      <dgm:spPr/>
      <dgm:t>
        <a:bodyPr/>
        <a:lstStyle/>
        <a:p>
          <a:r>
            <a:rPr lang="zh-CN" altLang="en-US" sz="1800" b="0" dirty="0">
              <a:latin typeface="Montserrat" panose="00000500000000000000" pitchFamily="2" charset="0"/>
              <a:ea typeface="微软雅黑 Light" panose="020B0502040204020203" pitchFamily="34" charset="-122"/>
            </a:rPr>
            <a:t>基于反馈环路的概念。</a:t>
          </a:r>
        </a:p>
      </dgm:t>
    </dgm:pt>
    <dgm:pt modelId="{6383180C-1983-48A1-B1E4-F574E14CDBD1}" type="parTrans" cxnId="{E9F7BDEC-B0B2-4D70-9C76-A3B73A9A92CD}">
      <dgm:prSet/>
      <dgm:spPr/>
      <dgm:t>
        <a:bodyPr/>
        <a:lstStyle/>
        <a:p>
          <a:endParaRPr lang="zh-CN" altLang="en-US">
            <a:latin typeface="Montserrat" panose="00000500000000000000" pitchFamily="2" charset="0"/>
            <a:ea typeface="微软雅黑 Light" panose="020B0502040204020203" pitchFamily="34" charset="-122"/>
          </a:endParaRPr>
        </a:p>
      </dgm:t>
    </dgm:pt>
    <dgm:pt modelId="{0F0ABCB1-B289-4DF9-9D7E-62CB7D38863E}" type="sibTrans" cxnId="{E9F7BDEC-B0B2-4D70-9C76-A3B73A9A92CD}">
      <dgm:prSet/>
      <dgm:spPr/>
      <dgm:t>
        <a:bodyPr/>
        <a:lstStyle/>
        <a:p>
          <a:endParaRPr lang="zh-CN" altLang="en-US">
            <a:latin typeface="Montserrat" panose="00000500000000000000" pitchFamily="2" charset="0"/>
            <a:ea typeface="微软雅黑 Light" panose="020B0502040204020203" pitchFamily="34" charset="-122"/>
          </a:endParaRPr>
        </a:p>
      </dgm:t>
    </dgm:pt>
    <dgm:pt modelId="{C2448606-BF7E-4CD3-8BBC-E63E41446859}">
      <dgm:prSet phldrT="[文本]" custT="1"/>
      <dgm:spPr/>
      <dgm:t>
        <a:bodyPr/>
        <a:lstStyle/>
        <a:p>
          <a:r>
            <a:rPr lang="zh-CN" altLang="en-US" sz="1800" b="0" dirty="0">
              <a:solidFill>
                <a:srgbClr val="0000FF"/>
              </a:solidFill>
              <a:latin typeface="Montserrat" panose="00000500000000000000" pitchFamily="2" charset="0"/>
              <a:ea typeface="微软雅黑 Light" panose="020B0502040204020203" pitchFamily="34" charset="-122"/>
            </a:rPr>
            <a:t>思路：</a:t>
          </a:r>
          <a:r>
            <a:rPr lang="zh-CN" altLang="en-US" sz="1800" b="0" dirty="0">
              <a:latin typeface="Montserrat" panose="00000500000000000000" pitchFamily="2" charset="0"/>
              <a:ea typeface="微软雅黑 Light" panose="020B0502040204020203" pitchFamily="34" charset="-122"/>
            </a:rPr>
            <a:t>力争</a:t>
          </a:r>
          <a:r>
            <a:rPr lang="zh-CN" altLang="en-US" sz="1800" b="0" dirty="0">
              <a:solidFill>
                <a:srgbClr val="0000FF"/>
              </a:solidFill>
              <a:latin typeface="Montserrat" panose="00000500000000000000" pitchFamily="2" charset="0"/>
              <a:ea typeface="微软雅黑 Light" panose="020B0502040204020203" pitchFamily="34" charset="-122"/>
            </a:rPr>
            <a:t>避免</a:t>
          </a:r>
          <a:r>
            <a:rPr lang="zh-CN" altLang="en-US" sz="1800" b="0" dirty="0">
              <a:latin typeface="Montserrat" panose="00000500000000000000" pitchFamily="2" charset="0"/>
              <a:ea typeface="微软雅黑 Light" panose="020B0502040204020203" pitchFamily="34" charset="-122"/>
            </a:rPr>
            <a:t>发生拥塞。</a:t>
          </a:r>
        </a:p>
      </dgm:t>
    </dgm:pt>
    <dgm:pt modelId="{2DDFBD46-B857-474E-8B27-CCB24E2F9B0D}" type="parTrans" cxnId="{7A27A0D6-C7AD-41E7-9686-374209348154}">
      <dgm:prSet/>
      <dgm:spPr/>
      <dgm:t>
        <a:bodyPr/>
        <a:lstStyle/>
        <a:p>
          <a:endParaRPr lang="zh-CN" altLang="en-US">
            <a:latin typeface="Montserrat" panose="00000500000000000000" pitchFamily="2" charset="0"/>
            <a:ea typeface="微软雅黑 Light" panose="020B0502040204020203" pitchFamily="34" charset="-122"/>
          </a:endParaRPr>
        </a:p>
      </dgm:t>
    </dgm:pt>
    <dgm:pt modelId="{C3B707A5-D44C-439A-8798-74A2B4D73421}" type="sibTrans" cxnId="{7A27A0D6-C7AD-41E7-9686-374209348154}">
      <dgm:prSet/>
      <dgm:spPr/>
      <dgm:t>
        <a:bodyPr/>
        <a:lstStyle/>
        <a:p>
          <a:endParaRPr lang="zh-CN" altLang="en-US">
            <a:latin typeface="Montserrat" panose="00000500000000000000" pitchFamily="2" charset="0"/>
            <a:ea typeface="微软雅黑 Light" panose="020B0502040204020203" pitchFamily="34" charset="-122"/>
          </a:endParaRPr>
        </a:p>
      </dgm:t>
    </dgm:pt>
    <dgm:pt modelId="{69230521-20F8-455C-9DE0-EB64591477B4}">
      <dgm:prSet custT="1"/>
      <dgm:spPr/>
      <dgm:t>
        <a:bodyPr/>
        <a:lstStyle/>
        <a:p>
          <a:r>
            <a:rPr lang="zh-CN" altLang="en-US" sz="1800" b="0" dirty="0">
              <a:latin typeface="Montserrat" panose="00000500000000000000" pitchFamily="2" charset="0"/>
              <a:ea typeface="微软雅黑 Light" panose="020B0502040204020203" pitchFamily="34" charset="-122"/>
            </a:rPr>
            <a:t>根据网络</a:t>
          </a:r>
          <a:r>
            <a:rPr lang="zh-CN" altLang="en-US" sz="1800" b="0" dirty="0">
              <a:solidFill>
                <a:srgbClr val="C00000"/>
              </a:solidFill>
              <a:latin typeface="Montserrat" panose="00000500000000000000" pitchFamily="2" charset="0"/>
              <a:ea typeface="微软雅黑 Light" panose="020B0502040204020203" pitchFamily="34" charset="-122"/>
            </a:rPr>
            <a:t>当前运行状态</a:t>
          </a:r>
          <a:r>
            <a:rPr lang="zh-CN" altLang="en-US" sz="1800" b="0" dirty="0">
              <a:latin typeface="Montserrat" panose="00000500000000000000" pitchFamily="2" charset="0"/>
              <a:ea typeface="微软雅黑 Light" panose="020B0502040204020203" pitchFamily="34" charset="-122"/>
            </a:rPr>
            <a:t>采取相应控制措施。</a:t>
          </a:r>
        </a:p>
      </dgm:t>
    </dgm:pt>
    <dgm:pt modelId="{12D5CF6D-3ECF-44C8-8A00-2243EEE11BB5}" type="parTrans" cxnId="{68D7CDFF-D5B6-4B82-BCD9-4ADC99E5D786}">
      <dgm:prSet/>
      <dgm:spPr/>
      <dgm:t>
        <a:bodyPr/>
        <a:lstStyle/>
        <a:p>
          <a:endParaRPr lang="zh-CN" altLang="en-US">
            <a:latin typeface="Montserrat" panose="00000500000000000000" pitchFamily="2" charset="0"/>
            <a:ea typeface="微软雅黑 Light" panose="020B0502040204020203" pitchFamily="34" charset="-122"/>
          </a:endParaRPr>
        </a:p>
      </dgm:t>
    </dgm:pt>
    <dgm:pt modelId="{3125DBAA-2F9E-499F-A3BE-6A4DF87D05F3}" type="sibTrans" cxnId="{68D7CDFF-D5B6-4B82-BCD9-4ADC99E5D786}">
      <dgm:prSet/>
      <dgm:spPr/>
      <dgm:t>
        <a:bodyPr/>
        <a:lstStyle/>
        <a:p>
          <a:endParaRPr lang="zh-CN" altLang="en-US">
            <a:latin typeface="Montserrat" panose="00000500000000000000" pitchFamily="2" charset="0"/>
            <a:ea typeface="微软雅黑 Light" panose="020B0502040204020203" pitchFamily="34" charset="-122"/>
          </a:endParaRPr>
        </a:p>
      </dgm:t>
    </dgm:pt>
    <dgm:pt modelId="{238D7AE3-4A96-4FFA-8329-EDA2C3555B30}">
      <dgm:prSet custT="1"/>
      <dgm:spPr/>
      <dgm:t>
        <a:bodyPr/>
        <a:lstStyle/>
        <a:p>
          <a:r>
            <a:rPr lang="zh-CN" altLang="en-US" sz="1800" b="0" dirty="0">
              <a:solidFill>
                <a:srgbClr val="0000FF"/>
              </a:solidFill>
              <a:latin typeface="Montserrat" panose="00000500000000000000" pitchFamily="2" charset="0"/>
              <a:ea typeface="微软雅黑 Light" panose="020B0502040204020203" pitchFamily="34" charset="-122"/>
            </a:rPr>
            <a:t>思路：</a:t>
          </a:r>
          <a:r>
            <a:rPr lang="zh-CN" altLang="en-US" sz="1800" b="0" dirty="0">
              <a:latin typeface="Montserrat" panose="00000500000000000000" pitchFamily="2" charset="0"/>
              <a:ea typeface="微软雅黑 Light" panose="020B0502040204020203" pitchFamily="34" charset="-122"/>
            </a:rPr>
            <a:t>在发生拥塞后，采取措施进行控制，</a:t>
          </a:r>
          <a:r>
            <a:rPr lang="zh-CN" altLang="en-US" sz="1800" b="0" dirty="0">
              <a:solidFill>
                <a:srgbClr val="0000FF"/>
              </a:solidFill>
              <a:latin typeface="Montserrat" panose="00000500000000000000" pitchFamily="2" charset="0"/>
              <a:ea typeface="微软雅黑 Light" panose="020B0502040204020203" pitchFamily="34" charset="-122"/>
            </a:rPr>
            <a:t>消除</a:t>
          </a:r>
          <a:r>
            <a:rPr lang="zh-CN" altLang="en-US" sz="1800" b="0" dirty="0">
              <a:latin typeface="Montserrat" panose="00000500000000000000" pitchFamily="2" charset="0"/>
              <a:ea typeface="微软雅黑 Light" panose="020B0502040204020203" pitchFamily="34" charset="-122"/>
            </a:rPr>
            <a:t>拥塞。</a:t>
          </a:r>
        </a:p>
      </dgm:t>
    </dgm:pt>
    <dgm:pt modelId="{8F3ECFA1-802E-4A72-BEC6-F40B249AD54A}" type="parTrans" cxnId="{AD39759F-59CA-49CB-B3FD-19EAB19B2916}">
      <dgm:prSet/>
      <dgm:spPr/>
      <dgm:t>
        <a:bodyPr/>
        <a:lstStyle/>
        <a:p>
          <a:endParaRPr lang="zh-CN" altLang="en-US">
            <a:latin typeface="Montserrat" panose="00000500000000000000" pitchFamily="2" charset="0"/>
            <a:ea typeface="微软雅黑 Light" panose="020B0502040204020203" pitchFamily="34" charset="-122"/>
          </a:endParaRPr>
        </a:p>
      </dgm:t>
    </dgm:pt>
    <dgm:pt modelId="{E88472DA-7723-4EBC-9681-94AC3B0DDFFF}" type="sibTrans" cxnId="{AD39759F-59CA-49CB-B3FD-19EAB19B2916}">
      <dgm:prSet/>
      <dgm:spPr/>
      <dgm:t>
        <a:bodyPr/>
        <a:lstStyle/>
        <a:p>
          <a:endParaRPr lang="zh-CN" altLang="en-US">
            <a:latin typeface="Montserrat" panose="00000500000000000000" pitchFamily="2" charset="0"/>
            <a:ea typeface="微软雅黑 Light" panose="020B0502040204020203" pitchFamily="34" charset="-122"/>
          </a:endParaRPr>
        </a:p>
      </dgm:t>
    </dgm:pt>
    <dgm:pt modelId="{654DBB23-7453-4B2A-8F48-11AC62514B72}">
      <dgm:prSet phldrT="[文本]" custT="1"/>
      <dgm:spPr/>
      <dgm:t>
        <a:bodyPr/>
        <a:lstStyle/>
        <a:p>
          <a:r>
            <a:rPr lang="zh-CN" altLang="en-US" sz="1800" b="0" dirty="0">
              <a:latin typeface="Montserrat" panose="00000500000000000000" pitchFamily="2" charset="0"/>
              <a:ea typeface="微软雅黑 Light" panose="020B0502040204020203" pitchFamily="34" charset="-122"/>
            </a:rPr>
            <a:t>但一旦整个系统运行起来，就不再中途进行改正了。</a:t>
          </a:r>
        </a:p>
      </dgm:t>
    </dgm:pt>
    <dgm:pt modelId="{4DDD3047-D58B-42B6-95AC-A7D9F23732F0}" type="parTrans" cxnId="{DE96F142-2113-4AC2-8084-749F805247C8}">
      <dgm:prSet/>
      <dgm:spPr/>
      <dgm:t>
        <a:bodyPr/>
        <a:lstStyle/>
        <a:p>
          <a:endParaRPr lang="zh-CN" altLang="en-US">
            <a:latin typeface="Montserrat" panose="00000500000000000000" pitchFamily="2" charset="0"/>
            <a:ea typeface="微软雅黑 Light" panose="020B0502040204020203" pitchFamily="34" charset="-122"/>
          </a:endParaRPr>
        </a:p>
      </dgm:t>
    </dgm:pt>
    <dgm:pt modelId="{DD57D3ED-98B7-4B38-92D2-CBFD5CB8FFB1}" type="sibTrans" cxnId="{DE96F142-2113-4AC2-8084-749F805247C8}">
      <dgm:prSet/>
      <dgm:spPr/>
      <dgm:t>
        <a:bodyPr/>
        <a:lstStyle/>
        <a:p>
          <a:endParaRPr lang="zh-CN" altLang="en-US">
            <a:latin typeface="Montserrat" panose="00000500000000000000" pitchFamily="2" charset="0"/>
            <a:ea typeface="微软雅黑 Light" panose="020B0502040204020203" pitchFamily="34" charset="-122"/>
          </a:endParaRPr>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DE96F142-2113-4AC2-8084-749F805247C8}" srcId="{4EE007B2-F612-44FB-B13F-E78B8586155B}" destId="{654DBB23-7453-4B2A-8F48-11AC62514B72}" srcOrd="2" destOrd="0" parTransId="{4DDD3047-D58B-42B6-95AC-A7D9F23732F0}" sibTransId="{DD57D3ED-98B7-4B38-92D2-CBFD5CB8FFB1}"/>
    <dgm:cxn modelId="{2D753E63-7497-41A4-B647-808C66FC660F}" type="presOf" srcId="{654DBB23-7453-4B2A-8F48-11AC62514B72}" destId="{72C5BA33-78B4-45DE-B9CA-22A272DDBE2C}" srcOrd="0" destOrd="2" presId="urn:microsoft.com/office/officeart/2005/8/layout/hList1"/>
    <dgm:cxn modelId="{CA711844-29BF-4DD6-B7FA-AAA9319B5888}" type="presOf" srcId="{C2448606-BF7E-4CD3-8BBC-E63E41446859}" destId="{72C5BA33-78B4-45DE-B9CA-22A272DDBE2C}" srcOrd="0" destOrd="1" presId="urn:microsoft.com/office/officeart/2005/8/layout/hList1"/>
    <dgm:cxn modelId="{D99E9A86-7A1F-44E7-B3D8-4ED992367D2C}" type="presOf" srcId="{710B3081-F341-4301-9185-BE738C183BBB}" destId="{72C5BA33-78B4-45DE-B9CA-22A272DDBE2C}" srcOrd="0" destOrd="0" presId="urn:microsoft.com/office/officeart/2005/8/layout/hList1"/>
    <dgm:cxn modelId="{AD39759F-59CA-49CB-B3FD-19EAB19B2916}" srcId="{DACD2956-BF18-4584-AF2D-3FD839777DF7}" destId="{238D7AE3-4A96-4FFA-8329-EDA2C3555B30}" srcOrd="2" destOrd="0" parTransId="{8F3ECFA1-802E-4A72-BEC6-F40B249AD54A}" sibTransId="{E88472DA-7723-4EBC-9681-94AC3B0DDFFF}"/>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1E143BAF-FC54-420B-AD62-63F0299DBDD9}" type="presOf" srcId="{238D7AE3-4A96-4FFA-8329-EDA2C3555B30}" destId="{AAB91EAD-75AE-4168-8A7F-B7A023AD8367}" srcOrd="0" destOrd="2" presId="urn:microsoft.com/office/officeart/2005/8/layout/hList1"/>
    <dgm:cxn modelId="{BF0778D1-7F52-47C1-883F-C7C199E99568}" type="presOf" srcId="{69230521-20F8-455C-9DE0-EB64591477B4}" destId="{AAB91EAD-75AE-4168-8A7F-B7A023AD8367}" srcOrd="0" destOrd="1" presId="urn:microsoft.com/office/officeart/2005/8/layout/hList1"/>
    <dgm:cxn modelId="{7A27A0D6-C7AD-41E7-9686-374209348154}" srcId="{4EE007B2-F612-44FB-B13F-E78B8586155B}" destId="{C2448606-BF7E-4CD3-8BBC-E63E41446859}" srcOrd="1" destOrd="0" parTransId="{2DDFBD46-B857-474E-8B27-CCB24E2F9B0D}" sibTransId="{C3B707A5-D44C-439A-8798-74A2B4D7342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06D3AEFD-1506-435F-AD4C-70B757C12748}" type="presOf" srcId="{7B38BB22-10D0-455B-AB19-4EC1F24B8A2F}" destId="{AAB91EAD-75AE-4168-8A7F-B7A023AD8367}" srcOrd="0" destOrd="0" presId="urn:microsoft.com/office/officeart/2005/8/layout/hList1"/>
    <dgm:cxn modelId="{68D7CDFF-D5B6-4B82-BCD9-4ADC99E5D786}" srcId="{DACD2956-BF18-4584-AF2D-3FD839777DF7}" destId="{69230521-20F8-455C-9DE0-EB64591477B4}" srcOrd="1" destOrd="0" parTransId="{12D5CF6D-3ECF-44C8-8A00-2243EEE11BB5}" sibTransId="{3125DBAA-2F9E-499F-A3BE-6A4DF87D05F3}"/>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12BEBDF-C69E-49A9-B731-0929408024D8}" type="doc">
      <dgm:prSet loTypeId="urn:microsoft.com/office/officeart/2005/8/layout/vList5" loCatId="list" qsTypeId="urn:microsoft.com/office/officeart/2005/8/quickstyle/simple3" qsCatId="simple" csTypeId="urn:microsoft.com/office/officeart/2005/8/colors/colorful5" csCatId="colorful" phldr="1"/>
      <dgm:spPr/>
      <dgm:t>
        <a:bodyPr/>
        <a:lstStyle/>
        <a:p>
          <a:endParaRPr lang="zh-CN" altLang="en-US"/>
        </a:p>
      </dgm:t>
    </dgm:pt>
    <dgm:pt modelId="{4EE007B2-F612-44FB-B13F-E78B8586155B}">
      <dgm:prSet phldrT="[文本]" custT="1"/>
      <dgm:spPr/>
      <dgm:t>
        <a:bodyPr/>
        <a:lstStyle/>
        <a:p>
          <a:r>
            <a:rPr lang="zh-CN" altLang="en-US" sz="1800" b="1" dirty="0">
              <a:latin typeface="微软雅黑" panose="020B0503020204020204" pitchFamily="34" charset="-122"/>
              <a:ea typeface="微软雅黑" panose="020B0503020204020204" pitchFamily="34" charset="-122"/>
            </a:rPr>
            <a:t>超时重传计时器超时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网络已经出现了拥塞。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1800" b="1" dirty="0">
              <a:latin typeface="微软雅黑" panose="020B0503020204020204" pitchFamily="34" charset="-122"/>
              <a:ea typeface="微软雅黑" panose="020B0503020204020204" pitchFamily="34" charset="-122"/>
            </a:rPr>
            <a:t>收到 </a:t>
          </a:r>
          <a:r>
            <a:rPr lang="en-US" altLang="en-US" sz="1800" b="1" dirty="0">
              <a:latin typeface="微软雅黑" panose="020B0503020204020204" pitchFamily="34" charset="-122"/>
              <a:ea typeface="微软雅黑" panose="020B0503020204020204" pitchFamily="34" charset="-122"/>
            </a:rPr>
            <a:t>3 </a:t>
          </a:r>
          <a:r>
            <a:rPr lang="zh-CN" altLang="en-US" sz="1800" b="1" dirty="0">
              <a:latin typeface="微软雅黑" panose="020B0503020204020204" pitchFamily="34" charset="-122"/>
              <a:ea typeface="微软雅黑" panose="020B0503020204020204" pitchFamily="34" charset="-122"/>
            </a:rPr>
            <a:t>个重复的确认</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预示网络可能会出现拥塞。</a:t>
          </a:r>
        </a:p>
      </dgm:t>
    </dgm:pt>
    <dgm:pt modelId="{6383180C-1983-48A1-B1E4-F574E14CDBD1}" type="parTrans" cxnId="{E9F7BDEC-B0B2-4D70-9C76-A3B73A9A92CD}">
      <dgm:prSet/>
      <dgm:spPr/>
      <dgm:t>
        <a:bodyPr/>
        <a:lstStyle/>
        <a:p>
          <a:endParaRPr lang="zh-CN" altLang="en-US" sz="1800"/>
        </a:p>
      </dgm:t>
    </dgm:pt>
    <dgm:pt modelId="{0F0ABCB1-B289-4DF9-9D7E-62CB7D38863E}" type="sibTrans" cxnId="{E9F7BDEC-B0B2-4D70-9C76-A3B73A9A92CD}">
      <dgm:prSet/>
      <dgm:spPr/>
      <dgm:t>
        <a:bodyPr/>
        <a:lstStyle/>
        <a:p>
          <a:endParaRPr lang="zh-CN" altLang="en-US" sz="1800"/>
        </a:p>
      </dgm:t>
    </dgm:pt>
    <dgm:pt modelId="{C564FC20-C6E3-4CAE-946B-A83F6E8038BC}" type="pres">
      <dgm:prSet presAssocID="{112BEBDF-C69E-49A9-B731-0929408024D8}" presName="Name0" presStyleCnt="0">
        <dgm:presLayoutVars>
          <dgm:dir/>
          <dgm:animLvl val="lvl"/>
          <dgm:resizeHandles val="exact"/>
        </dgm:presLayoutVars>
      </dgm:prSet>
      <dgm:spPr/>
    </dgm:pt>
    <dgm:pt modelId="{395CF0BF-C9D2-45EE-B71D-7D7ABD3952E9}" type="pres">
      <dgm:prSet presAssocID="{4EE007B2-F612-44FB-B13F-E78B8586155B}" presName="linNode" presStyleCnt="0"/>
      <dgm:spPr/>
    </dgm:pt>
    <dgm:pt modelId="{5ED00335-F589-4BA4-BB17-2781BB242E82}" type="pres">
      <dgm:prSet presAssocID="{4EE007B2-F612-44FB-B13F-E78B8586155B}" presName="parentText" presStyleLbl="node1" presStyleIdx="0" presStyleCnt="2">
        <dgm:presLayoutVars>
          <dgm:chMax val="1"/>
          <dgm:bulletEnabled val="1"/>
        </dgm:presLayoutVars>
      </dgm:prSet>
      <dgm:spPr/>
    </dgm:pt>
    <dgm:pt modelId="{A512784D-6662-4391-87B7-A8A7A5C6CD55}" type="pres">
      <dgm:prSet presAssocID="{4EE007B2-F612-44FB-B13F-E78B8586155B}" presName="descendantText" presStyleLbl="alignAccFollowNode1" presStyleIdx="0" presStyleCnt="2">
        <dgm:presLayoutVars>
          <dgm:bulletEnabled val="1"/>
        </dgm:presLayoutVars>
      </dgm:prSet>
      <dgm:spPr/>
    </dgm:pt>
    <dgm:pt modelId="{A632911B-FCAC-415E-AF61-977E94D9EEE1}" type="pres">
      <dgm:prSet presAssocID="{B73030B4-A5E0-40C1-9AE1-02B25975AA00}" presName="sp" presStyleCnt="0"/>
      <dgm:spPr/>
    </dgm:pt>
    <dgm:pt modelId="{2A5AB3E8-DAF4-4A11-9BC2-049225AF2EEB}" type="pres">
      <dgm:prSet presAssocID="{DACD2956-BF18-4584-AF2D-3FD839777DF7}" presName="linNode" presStyleCnt="0"/>
      <dgm:spPr/>
    </dgm:pt>
    <dgm:pt modelId="{A154C679-5D7E-4C77-AEB3-2EDD606A8CBC}" type="pres">
      <dgm:prSet presAssocID="{DACD2956-BF18-4584-AF2D-3FD839777DF7}" presName="parentText" presStyleLbl="node1" presStyleIdx="1" presStyleCnt="2">
        <dgm:presLayoutVars>
          <dgm:chMax val="1"/>
          <dgm:bulletEnabled val="1"/>
        </dgm:presLayoutVars>
      </dgm:prSet>
      <dgm:spPr/>
    </dgm:pt>
    <dgm:pt modelId="{45B4962A-C5E4-485B-B75C-CD9AAA63DA58}" type="pres">
      <dgm:prSet presAssocID="{DACD2956-BF18-4584-AF2D-3FD839777DF7}" presName="descendantText"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A35CF31-4473-4EE2-B5DD-A540C9B99CEB}" type="presOf" srcId="{112BEBDF-C69E-49A9-B731-0929408024D8}" destId="{C564FC20-C6E3-4CAE-946B-A83F6E8038BC}" srcOrd="0" destOrd="0" presId="urn:microsoft.com/office/officeart/2005/8/layout/vList5"/>
    <dgm:cxn modelId="{74E18B3E-A839-4FBD-B46E-F54F7588502B}" srcId="{4EE007B2-F612-44FB-B13F-E78B8586155B}" destId="{710B3081-F341-4301-9185-BE738C183BBB}" srcOrd="0" destOrd="0" parTransId="{B9937F06-A3DB-4499-9BB1-8E62176A896E}" sibTransId="{A8D13681-61CB-42A0-AAD2-CF508B0ED4F0}"/>
    <dgm:cxn modelId="{A2ACEA76-06A3-4479-A736-4EC1198A69EB}" type="presOf" srcId="{DACD2956-BF18-4584-AF2D-3FD839777DF7}" destId="{A154C679-5D7E-4C77-AEB3-2EDD606A8CBC}" srcOrd="0" destOrd="0" presId="urn:microsoft.com/office/officeart/2005/8/layout/vList5"/>
    <dgm:cxn modelId="{8EA4B857-75D3-4D56-BC1C-25BFE0E28391}" type="presOf" srcId="{7B38BB22-10D0-455B-AB19-4EC1F24B8A2F}" destId="{45B4962A-C5E4-485B-B75C-CD9AAA63DA58}" srcOrd="0" destOrd="0" presId="urn:microsoft.com/office/officeart/2005/8/layout/vList5"/>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47F58FEF-09EB-49F5-A456-67A625DBAAA8}" type="presOf" srcId="{710B3081-F341-4301-9185-BE738C183BBB}" destId="{A512784D-6662-4391-87B7-A8A7A5C6CD55}" srcOrd="0" destOrd="0" presId="urn:microsoft.com/office/officeart/2005/8/layout/vList5"/>
    <dgm:cxn modelId="{5485FEFD-C078-4726-933D-5B9B2AE81CDA}" type="presOf" srcId="{4EE007B2-F612-44FB-B13F-E78B8586155B}" destId="{5ED00335-F589-4BA4-BB17-2781BB242E82}" srcOrd="0" destOrd="0" presId="urn:microsoft.com/office/officeart/2005/8/layout/vList5"/>
    <dgm:cxn modelId="{943ABE90-8388-4378-9350-5147907CF0BA}" type="presParOf" srcId="{C564FC20-C6E3-4CAE-946B-A83F6E8038BC}" destId="{395CF0BF-C9D2-45EE-B71D-7D7ABD3952E9}" srcOrd="0" destOrd="0" presId="urn:microsoft.com/office/officeart/2005/8/layout/vList5"/>
    <dgm:cxn modelId="{F76D8D80-C8AF-4238-B3EB-D72698B0E51C}" type="presParOf" srcId="{395CF0BF-C9D2-45EE-B71D-7D7ABD3952E9}" destId="{5ED00335-F589-4BA4-BB17-2781BB242E82}" srcOrd="0" destOrd="0" presId="urn:microsoft.com/office/officeart/2005/8/layout/vList5"/>
    <dgm:cxn modelId="{57DF685F-1B95-439A-AD2F-1D59E380B704}" type="presParOf" srcId="{395CF0BF-C9D2-45EE-B71D-7D7ABD3952E9}" destId="{A512784D-6662-4391-87B7-A8A7A5C6CD55}" srcOrd="1" destOrd="0" presId="urn:microsoft.com/office/officeart/2005/8/layout/vList5"/>
    <dgm:cxn modelId="{2BC3CE4B-EA7E-461A-A3BC-5C58474ECD2E}" type="presParOf" srcId="{C564FC20-C6E3-4CAE-946B-A83F6E8038BC}" destId="{A632911B-FCAC-415E-AF61-977E94D9EEE1}" srcOrd="1" destOrd="0" presId="urn:microsoft.com/office/officeart/2005/8/layout/vList5"/>
    <dgm:cxn modelId="{1DA4CD5D-4525-4911-BC59-649280EAA66F}" type="presParOf" srcId="{C564FC20-C6E3-4CAE-946B-A83F6E8038BC}" destId="{2A5AB3E8-DAF4-4A11-9BC2-049225AF2EEB}" srcOrd="2" destOrd="0" presId="urn:microsoft.com/office/officeart/2005/8/layout/vList5"/>
    <dgm:cxn modelId="{FC41A692-14E7-4095-A2F2-D70B911DD5D8}" type="presParOf" srcId="{2A5AB3E8-DAF4-4A11-9BC2-049225AF2EEB}" destId="{A154C679-5D7E-4C77-AEB3-2EDD606A8CBC}" srcOrd="0" destOrd="0" presId="urn:microsoft.com/office/officeart/2005/8/layout/vList5"/>
    <dgm:cxn modelId="{ABF4989C-6D36-438E-BE49-D45D2E828992}" type="presParOf" srcId="{2A5AB3E8-DAF4-4A11-9BC2-049225AF2EEB}" destId="{45B4962A-C5E4-485B-B75C-CD9AAA63DA58}"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70DD816-BDFD-458D-8B8B-B2C6B353304A}"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83C2942-ED0C-4183-B612-698A35B0CCA4}">
      <dgm:prSet phldrT="[文本]" custT="1"/>
      <dgm:spPr/>
      <dgm:t>
        <a:bodyPr/>
        <a:lstStyle/>
        <a:p>
          <a:r>
            <a:rPr lang="zh-CN" altLang="en-US" sz="1600" b="1">
              <a:latin typeface="微软雅黑" panose="020B0503020204020204" pitchFamily="34" charset="-122"/>
              <a:ea typeface="微软雅黑" panose="020B0503020204020204" pitchFamily="34" charset="-122"/>
            </a:rPr>
            <a:t>拥塞窗口 </a:t>
          </a:r>
          <a:r>
            <a:rPr lang="en-US" altLang="en-US" sz="1600" b="1">
              <a:latin typeface="微软雅黑" panose="020B0503020204020204" pitchFamily="34" charset="-122"/>
              <a:ea typeface="微软雅黑" panose="020B0503020204020204" pitchFamily="34" charset="-122"/>
            </a:rPr>
            <a:t>cwnd</a:t>
          </a:r>
          <a:endParaRPr lang="zh-CN" altLang="en-US" sz="1600" b="1" dirty="0">
            <a:latin typeface="微软雅黑" panose="020B0503020204020204" pitchFamily="34" charset="-122"/>
            <a:ea typeface="微软雅黑" panose="020B0503020204020204" pitchFamily="34" charset="-122"/>
          </a:endParaRPr>
        </a:p>
      </dgm:t>
    </dgm:pt>
    <dgm:pt modelId="{C104DA9C-0D2E-45D3-B7BE-C412B5DAFD5C}" type="par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5729F05-D028-436F-A3D3-A6682A55538D}" type="sib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E54949-960A-477A-8FC3-9C4391417A3F}">
      <dgm:prSet phldrT="[文本]" custT="1"/>
      <dgm:spPr/>
      <dgm:t>
        <a:bodyPr/>
        <a:lstStyle/>
        <a:p>
          <a:pPr>
            <a:lnSpc>
              <a:spcPct val="90000"/>
            </a:lnSpc>
            <a:spcAft>
              <a:spcPct val="20000"/>
            </a:spcAft>
          </a:pPr>
          <a:r>
            <a:rPr lang="zh-CN" altLang="en-US" sz="1600" b="1" dirty="0">
              <a:latin typeface="微软雅黑" panose="020B0503020204020204" pitchFamily="34" charset="-122"/>
              <a:ea typeface="微软雅黑" panose="020B0503020204020204" pitchFamily="34" charset="-122"/>
            </a:rPr>
            <a:t>初始值：</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种设置方法。</a:t>
          </a:r>
        </a:p>
      </dgm:t>
    </dgm:pt>
    <dgm:pt modelId="{332F67AE-D9DF-4B9D-8C4A-85EAA0CA9327}" type="par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703DF8-717E-4D51-B348-F5DB13D87435}" type="sib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0F7EFC8-A225-421F-89B6-3F68CE2853DC}">
      <dgm:prSet phldrT="[文本]" custT="1"/>
      <dgm:spPr/>
      <dgm:t>
        <a:bodyPr/>
        <a:lstStyle/>
        <a:p>
          <a:r>
            <a:rPr lang="zh-CN" altLang="en-US" sz="1600" b="1" dirty="0">
              <a:latin typeface="微软雅黑" panose="020B0503020204020204" pitchFamily="34" charset="-122"/>
              <a:ea typeface="微软雅黑" panose="020B0503020204020204" pitchFamily="34" charset="-122"/>
            </a:rPr>
            <a:t>慢开始门限 </a:t>
          </a:r>
          <a:r>
            <a:rPr lang="en-US" altLang="en-US" sz="1600" b="1" dirty="0" err="1">
              <a:latin typeface="微软雅黑" panose="020B0503020204020204" pitchFamily="34" charset="-122"/>
              <a:ea typeface="微软雅黑" panose="020B0503020204020204" pitchFamily="34" charset="-122"/>
            </a:rPr>
            <a:t>ssthresh</a:t>
          </a:r>
          <a:endParaRPr lang="zh-CN" altLang="en-US" sz="1600" b="1" dirty="0">
            <a:latin typeface="微软雅黑" panose="020B0503020204020204" pitchFamily="34" charset="-122"/>
            <a:ea typeface="微软雅黑" panose="020B0503020204020204" pitchFamily="34" charset="-122"/>
          </a:endParaRPr>
        </a:p>
      </dgm:t>
    </dgm:pt>
    <dgm:pt modelId="{60B4D278-B7F4-4772-A90A-948C6EAF09CC}" type="par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25F900E-3CBA-46F7-B5CC-1DDB0FC5F957}" type="sib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F75F5EF-3774-4B9A-AFBA-18481269C53B}">
      <dgm:prSet phldrT="[文本]" custT="1"/>
      <dgm:spPr/>
      <dgm:t>
        <a:bodyPr/>
        <a:lstStyle/>
        <a:p>
          <a:pPr>
            <a:lnSpc>
              <a:spcPct val="90000"/>
            </a:lnSpc>
            <a:spcAft>
              <a:spcPts val="0"/>
            </a:spcAft>
          </a:pPr>
          <a:r>
            <a:rPr lang="zh-CN" altLang="en-US" sz="1600" b="1" dirty="0">
              <a:latin typeface="微软雅黑" panose="020B0503020204020204" pitchFamily="34" charset="-122"/>
              <a:ea typeface="微软雅黑" panose="020B0503020204020204" pitchFamily="34" charset="-122"/>
            </a:rPr>
            <a:t>防止拥塞窗口增长过大引起网络拥塞。</a:t>
          </a:r>
        </a:p>
      </dgm:t>
    </dgm:pt>
    <dgm:pt modelId="{E2409CDF-E3A2-4EDB-B258-A5056E2B2EFE}" type="par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983E41B-14C1-40CB-A368-FCA23E9040EA}" type="sib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4B2E8A6-D214-46FA-AD27-3B822E40910B}">
      <dgm:prSet custT="1"/>
      <dgm:spPr/>
      <dgm:t>
        <a:bodyPr/>
        <a:lstStyle/>
        <a:p>
          <a:pPr>
            <a:lnSpc>
              <a:spcPct val="50000"/>
            </a:lnSpc>
            <a:spcAft>
              <a:spcPts val="0"/>
            </a:spcAft>
          </a:pPr>
          <a:r>
            <a:rPr lang="en-US" altLang="en-US"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 （旧标准）</a:t>
          </a:r>
        </a:p>
      </dgm:t>
    </dgm:pt>
    <dgm:pt modelId="{1B082D85-33EF-40ED-91C2-F76833749E13}" type="parTrans" cxnId="{0BD17FD3-9D5E-4909-BA93-14B869C1C3F1}">
      <dgm:prSet/>
      <dgm:spPr/>
      <dgm:t>
        <a:bodyPr/>
        <a:lstStyle/>
        <a:p>
          <a:endParaRPr lang="zh-CN" altLang="en-US" sz="1600"/>
        </a:p>
      </dgm:t>
    </dgm:pt>
    <dgm:pt modelId="{16F4FCE2-3C1A-435F-88E3-1F55DD9134FD}" type="sibTrans" cxnId="{0BD17FD3-9D5E-4909-BA93-14B869C1C3F1}">
      <dgm:prSet/>
      <dgm:spPr/>
      <dgm:t>
        <a:bodyPr/>
        <a:lstStyle/>
        <a:p>
          <a:endParaRPr lang="zh-CN" altLang="en-US" sz="1600"/>
        </a:p>
      </dgm:t>
    </dgm:pt>
    <dgm:pt modelId="{C2FC9CED-CD36-4B24-8E6B-CCDC24506AF1}">
      <dgm:prSet custT="1"/>
      <dgm:spPr/>
      <dgm:t>
        <a:bodyPr/>
        <a:lstStyle/>
        <a:p>
          <a:pPr>
            <a:lnSpc>
              <a:spcPct val="90000"/>
            </a:lnSpc>
            <a:spcAft>
              <a:spcPct val="20000"/>
            </a:spcAft>
          </a:pP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4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a:t>
          </a:r>
          <a:r>
            <a:rPr lang="en-US" altLang="en-US" sz="1600" b="1" dirty="0">
              <a:latin typeface="微软雅黑" panose="020B0503020204020204" pitchFamily="34" charset="-122"/>
              <a:ea typeface="微软雅黑" panose="020B0503020204020204" pitchFamily="34" charset="-122"/>
            </a:rPr>
            <a:t>RFC 5681</a:t>
          </a:r>
          <a:r>
            <a:rPr lang="zh-CN" altLang="en-US" sz="1600" b="1" dirty="0">
              <a:latin typeface="微软雅黑" panose="020B0503020204020204" pitchFamily="34" charset="-122"/>
              <a:ea typeface="微软雅黑" panose="020B0503020204020204" pitchFamily="34" charset="-122"/>
            </a:rPr>
            <a:t>）</a:t>
          </a:r>
        </a:p>
      </dgm:t>
    </dgm:pt>
    <dgm:pt modelId="{3F9BB3B8-6AD6-495D-B7BE-D5916872277B}" type="parTrans" cxnId="{0827BB40-965E-46D8-89C0-C54BA1352446}">
      <dgm:prSet/>
      <dgm:spPr/>
      <dgm:t>
        <a:bodyPr/>
        <a:lstStyle/>
        <a:p>
          <a:endParaRPr lang="zh-CN" altLang="en-US" sz="1600"/>
        </a:p>
      </dgm:t>
    </dgm:pt>
    <dgm:pt modelId="{1A7711CA-6279-42ED-97E0-91C0434960FC}" type="sibTrans" cxnId="{0827BB40-965E-46D8-89C0-C54BA1352446}">
      <dgm:prSet/>
      <dgm:spPr/>
      <dgm:t>
        <a:bodyPr/>
        <a:lstStyle/>
        <a:p>
          <a:endParaRPr lang="zh-CN" altLang="en-US" sz="1600"/>
        </a:p>
      </dgm:t>
    </dgm:pt>
    <dgm:pt modelId="{8771C144-2922-4340-B073-BA112563706F}" type="pres">
      <dgm:prSet presAssocID="{570DD816-BDFD-458D-8B8B-B2C6B353304A}" presName="linear" presStyleCnt="0">
        <dgm:presLayoutVars>
          <dgm:animLvl val="lvl"/>
          <dgm:resizeHandles val="exact"/>
        </dgm:presLayoutVars>
      </dgm:prSet>
      <dgm:spPr/>
    </dgm:pt>
    <dgm:pt modelId="{177F862E-94BD-4785-B015-5AD165AECE92}" type="pres">
      <dgm:prSet presAssocID="{183C2942-ED0C-4183-B612-698A35B0CCA4}" presName="parentText" presStyleLbl="node1" presStyleIdx="0" presStyleCnt="2" custLinFactNeighborX="1399" custLinFactNeighborY="-10983">
        <dgm:presLayoutVars>
          <dgm:chMax val="0"/>
          <dgm:bulletEnabled val="1"/>
        </dgm:presLayoutVars>
      </dgm:prSet>
      <dgm:spPr/>
    </dgm:pt>
    <dgm:pt modelId="{52E83724-B715-4079-82F3-6EDE3B6F4C27}" type="pres">
      <dgm:prSet presAssocID="{183C2942-ED0C-4183-B612-698A35B0CCA4}" presName="childText" presStyleLbl="revTx" presStyleIdx="0" presStyleCnt="2">
        <dgm:presLayoutVars>
          <dgm:bulletEnabled val="1"/>
        </dgm:presLayoutVars>
      </dgm:prSet>
      <dgm:spPr/>
    </dgm:pt>
    <dgm:pt modelId="{0ACFF9AA-D159-4169-9A52-90FB187B15AF}" type="pres">
      <dgm:prSet presAssocID="{F0F7EFC8-A225-421F-89B6-3F68CE2853DC}" presName="parentText" presStyleLbl="node1" presStyleIdx="1" presStyleCnt="2">
        <dgm:presLayoutVars>
          <dgm:chMax val="0"/>
          <dgm:bulletEnabled val="1"/>
        </dgm:presLayoutVars>
      </dgm:prSet>
      <dgm:spPr/>
    </dgm:pt>
    <dgm:pt modelId="{A5F6C106-6A44-408A-BCD6-9853C05BAD0C}" type="pres">
      <dgm:prSet presAssocID="{F0F7EFC8-A225-421F-89B6-3F68CE2853DC}" presName="childText" presStyleLbl="revTx" presStyleIdx="1" presStyleCnt="2">
        <dgm:presLayoutVars>
          <dgm:bulletEnabled val="1"/>
        </dgm:presLayoutVars>
      </dgm:prSet>
      <dgm:spPr/>
    </dgm:pt>
  </dgm:ptLst>
  <dgm:cxnLst>
    <dgm:cxn modelId="{26D16311-116A-45C2-8DF1-F3652376DEED}" type="presOf" srcId="{C2FC9CED-CD36-4B24-8E6B-CCDC24506AF1}" destId="{52E83724-B715-4079-82F3-6EDE3B6F4C27}" srcOrd="0" destOrd="2" presId="urn:microsoft.com/office/officeart/2005/8/layout/vList2"/>
    <dgm:cxn modelId="{23ABEE13-5FDB-4329-9238-15FC3CC1CA17}" type="presOf" srcId="{570DD816-BDFD-458D-8B8B-B2C6B353304A}" destId="{8771C144-2922-4340-B073-BA112563706F}" srcOrd="0" destOrd="0" presId="urn:microsoft.com/office/officeart/2005/8/layout/vList2"/>
    <dgm:cxn modelId="{93F6F233-4B48-44EC-9D05-71B537AF7567}" type="presOf" srcId="{183C2942-ED0C-4183-B612-698A35B0CCA4}" destId="{177F862E-94BD-4785-B015-5AD165AECE92}" srcOrd="0" destOrd="0" presId="urn:microsoft.com/office/officeart/2005/8/layout/vList2"/>
    <dgm:cxn modelId="{0827BB40-965E-46D8-89C0-C54BA1352446}" srcId="{31E54949-960A-477A-8FC3-9C4391417A3F}" destId="{C2FC9CED-CD36-4B24-8E6B-CCDC24506AF1}" srcOrd="1" destOrd="0" parTransId="{3F9BB3B8-6AD6-495D-B7BE-D5916872277B}" sibTransId="{1A7711CA-6279-42ED-97E0-91C0434960FC}"/>
    <dgm:cxn modelId="{47FC1360-467D-4D53-A7DD-513438872BCE}" srcId="{F0F7EFC8-A225-421F-89B6-3F68CE2853DC}" destId="{DF75F5EF-3774-4B9A-AFBA-18481269C53B}" srcOrd="0" destOrd="0" parTransId="{E2409CDF-E3A2-4EDB-B258-A5056E2B2EFE}" sibTransId="{5983E41B-14C1-40CB-A368-FCA23E9040EA}"/>
    <dgm:cxn modelId="{46FC167E-80D3-45AC-AA95-769099E32FC3}" type="presOf" srcId="{DF75F5EF-3774-4B9A-AFBA-18481269C53B}" destId="{A5F6C106-6A44-408A-BCD6-9853C05BAD0C}" srcOrd="0" destOrd="0" presId="urn:microsoft.com/office/officeart/2005/8/layout/vList2"/>
    <dgm:cxn modelId="{0FF1F087-9483-4C28-830D-590CFCC3C091}" type="presOf" srcId="{31E54949-960A-477A-8FC3-9C4391417A3F}" destId="{52E83724-B715-4079-82F3-6EDE3B6F4C27}" srcOrd="0" destOrd="0" presId="urn:microsoft.com/office/officeart/2005/8/layout/vList2"/>
    <dgm:cxn modelId="{1619D295-5227-45B2-9CD0-58B8E026F7F4}" srcId="{570DD816-BDFD-458D-8B8B-B2C6B353304A}" destId="{183C2942-ED0C-4183-B612-698A35B0CCA4}" srcOrd="0" destOrd="0" parTransId="{C104DA9C-0D2E-45D3-B7BE-C412B5DAFD5C}" sibTransId="{35729F05-D028-436F-A3D3-A6682A55538D}"/>
    <dgm:cxn modelId="{2EB1029B-F1C5-41D3-8709-900F7E72D61C}" srcId="{570DD816-BDFD-458D-8B8B-B2C6B353304A}" destId="{F0F7EFC8-A225-421F-89B6-3F68CE2853DC}" srcOrd="1" destOrd="0" parTransId="{60B4D278-B7F4-4772-A90A-948C6EAF09CC}" sibTransId="{425F900E-3CBA-46F7-B5CC-1DDB0FC5F957}"/>
    <dgm:cxn modelId="{E2F253CE-A0E4-4FFD-AD75-D8D3DA5EF6F8}" type="presOf" srcId="{F0F7EFC8-A225-421F-89B6-3F68CE2853DC}" destId="{0ACFF9AA-D159-4169-9A52-90FB187B15AF}" srcOrd="0" destOrd="0" presId="urn:microsoft.com/office/officeart/2005/8/layout/vList2"/>
    <dgm:cxn modelId="{0BD17FD3-9D5E-4909-BA93-14B869C1C3F1}" srcId="{31E54949-960A-477A-8FC3-9C4391417A3F}" destId="{14B2E8A6-D214-46FA-AD27-3B822E40910B}" srcOrd="0" destOrd="0" parTransId="{1B082D85-33EF-40ED-91C2-F76833749E13}" sibTransId="{16F4FCE2-3C1A-435F-88E3-1F55DD9134FD}"/>
    <dgm:cxn modelId="{F7C5FDDD-1BC4-45F1-B3E0-497F997D88C3}" type="presOf" srcId="{14B2E8A6-D214-46FA-AD27-3B822E40910B}" destId="{52E83724-B715-4079-82F3-6EDE3B6F4C27}" srcOrd="0" destOrd="1" presId="urn:microsoft.com/office/officeart/2005/8/layout/vList2"/>
    <dgm:cxn modelId="{DD9710E7-9F46-494D-8B58-E16F348257FB}" srcId="{183C2942-ED0C-4183-B612-698A35B0CCA4}" destId="{31E54949-960A-477A-8FC3-9C4391417A3F}" srcOrd="0" destOrd="0" parTransId="{332F67AE-D9DF-4B9D-8C4A-85EAA0CA9327}" sibTransId="{84703DF8-717E-4D51-B348-F5DB13D87435}"/>
    <dgm:cxn modelId="{DDCE9859-CB55-4C6F-BC3C-936DA78BF604}" type="presParOf" srcId="{8771C144-2922-4340-B073-BA112563706F}" destId="{177F862E-94BD-4785-B015-5AD165AECE92}" srcOrd="0" destOrd="0" presId="urn:microsoft.com/office/officeart/2005/8/layout/vList2"/>
    <dgm:cxn modelId="{62032D61-96D3-4477-A4D1-AE5F9516B8C4}" type="presParOf" srcId="{8771C144-2922-4340-B073-BA112563706F}" destId="{52E83724-B715-4079-82F3-6EDE3B6F4C27}" srcOrd="1" destOrd="0" presId="urn:microsoft.com/office/officeart/2005/8/layout/vList2"/>
    <dgm:cxn modelId="{462A4AF1-F801-4D89-824E-739DAD86C36B}" type="presParOf" srcId="{8771C144-2922-4340-B073-BA112563706F}" destId="{0ACFF9AA-D159-4169-9A52-90FB187B15AF}" srcOrd="2" destOrd="0" presId="urn:microsoft.com/office/officeart/2005/8/layout/vList2"/>
    <dgm:cxn modelId="{3A56FBCC-C4EF-47CC-BB4E-66D698C8F98C}" type="presParOf" srcId="{8771C144-2922-4340-B073-BA112563706F}" destId="{A5F6C106-6A44-408A-BCD6-9853C05BAD0C}"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6D97B-D0F6-4762-BF60-A7904357B6F6}">
      <dsp:nvSpPr>
        <dsp:cNvPr id="0" name=""/>
        <dsp:cNvSpPr/>
      </dsp:nvSpPr>
      <dsp:spPr>
        <a:xfrm>
          <a:off x="38" y="5411"/>
          <a:ext cx="3700174" cy="1180800"/>
        </a:xfrm>
        <a:prstGeom prst="rect">
          <a:avLst/>
        </a:prstGeom>
        <a:solidFill>
          <a:srgbClr val="C0504D"/>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itchFamily="34" charset="-122"/>
              <a:ea typeface="微软雅黑" pitchFamily="34" charset="-122"/>
            </a:rPr>
            <a:t>UDP</a:t>
          </a:r>
          <a:endParaRPr lang="zh-CN" altLang="en-US" sz="1800" b="1" kern="1200" dirty="0">
            <a:latin typeface="微软雅黑" pitchFamily="34" charset="-122"/>
            <a:ea typeface="微软雅黑" pitchFamily="34" charset="-122"/>
          </a:endParaRPr>
        </a:p>
      </dsp:txBody>
      <dsp:txXfrm>
        <a:off x="38" y="5411"/>
        <a:ext cx="3700174" cy="1180800"/>
      </dsp:txXfrm>
    </dsp:sp>
    <dsp:sp modelId="{81374FB4-E28E-4844-BBFA-75610456881B}">
      <dsp:nvSpPr>
        <dsp:cNvPr id="0" name=""/>
        <dsp:cNvSpPr/>
      </dsp:nvSpPr>
      <dsp:spPr>
        <a:xfrm>
          <a:off x="38" y="1186211"/>
          <a:ext cx="3700174" cy="1800720"/>
        </a:xfrm>
        <a:prstGeom prst="rect">
          <a:avLst/>
        </a:prstGeom>
        <a:solidFill>
          <a:schemeClr val="bg1">
            <a:alpha val="9000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传送数据之前不需要先建立连接</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收到 </a:t>
          </a:r>
          <a:r>
            <a:rPr lang="en-US" altLang="en-US" sz="1600" b="0" kern="1200" dirty="0">
              <a:latin typeface="微软雅黑" panose="020B0503020204020204" pitchFamily="34" charset="-122"/>
              <a:ea typeface="微软雅黑" panose="020B0503020204020204" pitchFamily="34" charset="-122"/>
            </a:rPr>
            <a:t>UDP </a:t>
          </a:r>
          <a:r>
            <a:rPr lang="zh-CN" altLang="en-US" sz="1600" b="0" kern="1200" dirty="0">
              <a:latin typeface="微软雅黑" panose="020B0503020204020204" pitchFamily="34" charset="-122"/>
              <a:ea typeface="微软雅黑" panose="020B0503020204020204" pitchFamily="34" charset="-122"/>
            </a:rPr>
            <a:t>报后，不需要确认</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不提供可靠交付</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有效的工作方式</a:t>
          </a:r>
        </a:p>
      </dsp:txBody>
      <dsp:txXfrm>
        <a:off x="38" y="1186211"/>
        <a:ext cx="3700174" cy="1800720"/>
      </dsp:txXfrm>
    </dsp:sp>
    <dsp:sp modelId="{71294ECD-550A-476F-A96D-56F889AD84F9}">
      <dsp:nvSpPr>
        <dsp:cNvPr id="0" name=""/>
        <dsp:cNvSpPr/>
      </dsp:nvSpPr>
      <dsp:spPr>
        <a:xfrm>
          <a:off x="4218237" y="5411"/>
          <a:ext cx="3700174" cy="1180800"/>
        </a:xfrm>
        <a:prstGeom prst="rect">
          <a:avLst/>
        </a:prstGeom>
        <a:solidFill>
          <a:srgbClr val="9BBB59"/>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TCP</a:t>
          </a:r>
          <a:endParaRPr lang="zh-CN" altLang="en-US" sz="1800" b="1" kern="1200" dirty="0">
            <a:latin typeface="微软雅黑" panose="020B0503020204020204" pitchFamily="34" charset="-122"/>
            <a:ea typeface="微软雅黑" panose="020B0503020204020204" pitchFamily="34" charset="-122"/>
          </a:endParaRPr>
        </a:p>
      </dsp:txBody>
      <dsp:txXfrm>
        <a:off x="4218237" y="5411"/>
        <a:ext cx="3700174" cy="1180800"/>
      </dsp:txXfrm>
    </dsp:sp>
    <dsp:sp modelId="{45D2AA96-01C3-4DB8-BDEC-FDACF0C5239B}">
      <dsp:nvSpPr>
        <dsp:cNvPr id="0" name=""/>
        <dsp:cNvSpPr/>
      </dsp:nvSpPr>
      <dsp:spPr>
        <a:xfrm>
          <a:off x="4218237" y="1186211"/>
          <a:ext cx="3700174" cy="1800720"/>
        </a:xfrm>
        <a:prstGeom prst="rect">
          <a:avLst/>
        </a:prstGeom>
        <a:solidFill>
          <a:schemeClr val="bg1">
            <a:alpha val="9000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提供可靠的、面向连接的运输服务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不提供广播或多播服务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开销较多</a:t>
          </a:r>
        </a:p>
      </dsp:txBody>
      <dsp:txXfrm>
        <a:off x="4218237" y="1186211"/>
        <a:ext cx="3700174" cy="180072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10F1EF-CFB5-483B-9844-3B7759FDE926}">
      <dsp:nvSpPr>
        <dsp:cNvPr id="0" name=""/>
        <dsp:cNvSpPr/>
      </dsp:nvSpPr>
      <dsp:spPr>
        <a:xfrm>
          <a:off x="0" y="0"/>
          <a:ext cx="6377146" cy="580320"/>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软件端口</a:t>
          </a:r>
        </a:p>
      </dsp:txBody>
      <dsp:txXfrm>
        <a:off x="28329" y="28329"/>
        <a:ext cx="6320488" cy="523662"/>
      </dsp:txXfrm>
    </dsp:sp>
    <dsp:sp modelId="{2487C381-8EF1-485B-9441-46EEB8C1886B}">
      <dsp:nvSpPr>
        <dsp:cNvPr id="0" name=""/>
        <dsp:cNvSpPr/>
      </dsp:nvSpPr>
      <dsp:spPr>
        <a:xfrm>
          <a:off x="0" y="581503"/>
          <a:ext cx="6377146" cy="1219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协议栈层间的</a:t>
          </a:r>
          <a:r>
            <a:rPr lang="zh-CN" altLang="en-US" sz="1800" b="1" kern="1200" dirty="0">
              <a:solidFill>
                <a:srgbClr val="C00000"/>
              </a:solidFill>
              <a:latin typeface="微软雅黑" panose="020B0503020204020204" pitchFamily="34" charset="-122"/>
              <a:ea typeface="微软雅黑" panose="020B0503020204020204" pitchFamily="34" charset="-122"/>
            </a:rPr>
            <a:t>抽象</a:t>
          </a:r>
          <a:r>
            <a:rPr lang="zh-CN" altLang="en-US" sz="1800" b="1" kern="1200" dirty="0">
              <a:latin typeface="微软雅黑" panose="020B0503020204020204" pitchFamily="34" charset="-122"/>
              <a:ea typeface="微软雅黑" panose="020B0503020204020204" pitchFamily="34" charset="-122"/>
            </a:rPr>
            <a:t>的协议端口。</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是应用层的各种协议</a:t>
          </a:r>
          <a:r>
            <a:rPr lang="zh-CN" altLang="en-US" sz="1800" b="1" kern="1200" dirty="0">
              <a:solidFill>
                <a:srgbClr val="C00000"/>
              </a:solidFill>
              <a:latin typeface="微软雅黑" panose="020B0503020204020204" pitchFamily="34" charset="-122"/>
              <a:ea typeface="微软雅黑" panose="020B0503020204020204" pitchFamily="34" charset="-122"/>
            </a:rPr>
            <a:t>进程</a:t>
          </a:r>
          <a:r>
            <a:rPr lang="zh-CN" altLang="en-US" sz="1800" b="1" kern="1200" dirty="0">
              <a:latin typeface="微软雅黑" panose="020B0503020204020204" pitchFamily="34" charset="-122"/>
              <a:ea typeface="微软雅黑" panose="020B0503020204020204" pitchFamily="34" charset="-122"/>
            </a:rPr>
            <a:t>与运输</a:t>
          </a:r>
          <a:r>
            <a:rPr lang="zh-CN" altLang="en-US" sz="1800" b="1" kern="1200" dirty="0">
              <a:solidFill>
                <a:srgbClr val="C00000"/>
              </a:solidFill>
              <a:latin typeface="微软雅黑" panose="020B0503020204020204" pitchFamily="34" charset="-122"/>
              <a:ea typeface="微软雅黑" panose="020B0503020204020204" pitchFamily="34" charset="-122"/>
            </a:rPr>
            <a:t>实体</a:t>
          </a:r>
          <a:r>
            <a:rPr lang="zh-CN" altLang="en-US" sz="1800" b="1" kern="1200" dirty="0">
              <a:latin typeface="微软雅黑" panose="020B0503020204020204" pitchFamily="34" charset="-122"/>
              <a:ea typeface="微软雅黑" panose="020B0503020204020204" pitchFamily="34" charset="-122"/>
            </a:rPr>
            <a:t>进行层间</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的地点。</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不同系统实现端口的方法可以不同。</a:t>
          </a:r>
        </a:p>
      </dsp:txBody>
      <dsp:txXfrm>
        <a:off x="0" y="581503"/>
        <a:ext cx="6377146" cy="1219230"/>
      </dsp:txXfrm>
    </dsp:sp>
    <dsp:sp modelId="{F24B62DD-54BA-47D1-83D7-96B45A39A82E}">
      <dsp:nvSpPr>
        <dsp:cNvPr id="0" name=""/>
        <dsp:cNvSpPr/>
      </dsp:nvSpPr>
      <dsp:spPr>
        <a:xfrm>
          <a:off x="0" y="1800733"/>
          <a:ext cx="6377146" cy="580320"/>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硬件端口</a:t>
          </a:r>
        </a:p>
      </dsp:txBody>
      <dsp:txXfrm>
        <a:off x="28329" y="1829062"/>
        <a:ext cx="6320488" cy="523662"/>
      </dsp:txXfrm>
    </dsp:sp>
    <dsp:sp modelId="{81781325-F072-4444-84B0-DFA10747A74F}">
      <dsp:nvSpPr>
        <dsp:cNvPr id="0" name=""/>
        <dsp:cNvSpPr/>
      </dsp:nvSpPr>
      <dsp:spPr>
        <a:xfrm>
          <a:off x="0" y="2381053"/>
          <a:ext cx="6377146" cy="513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不同硬件</a:t>
          </a:r>
          <a:r>
            <a:rPr lang="zh-CN" altLang="en-US" sz="1800" b="1" kern="1200" dirty="0">
              <a:solidFill>
                <a:srgbClr val="C00000"/>
              </a:solidFill>
              <a:latin typeface="微软雅黑" panose="020B0503020204020204" pitchFamily="34" charset="-122"/>
              <a:ea typeface="微软雅黑" panose="020B0503020204020204" pitchFamily="34" charset="-122"/>
            </a:rPr>
            <a:t>设备</a:t>
          </a:r>
          <a:r>
            <a:rPr lang="zh-CN" altLang="en-US" sz="1800" b="1" kern="1200" dirty="0">
              <a:latin typeface="微软雅黑" panose="020B0503020204020204" pitchFamily="34" charset="-122"/>
              <a:ea typeface="微软雅黑" panose="020B0503020204020204" pitchFamily="34" charset="-122"/>
            </a:rPr>
            <a:t>进行</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的接口。</a:t>
          </a:r>
        </a:p>
      </dsp:txBody>
      <dsp:txXfrm>
        <a:off x="0" y="2381053"/>
        <a:ext cx="6377146" cy="5133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B224D6-3FF2-46C4-8268-9A5307B6CCA2}">
      <dsp:nvSpPr>
        <dsp:cNvPr id="0" name=""/>
        <dsp:cNvSpPr/>
      </dsp:nvSpPr>
      <dsp:spPr>
        <a:xfrm>
          <a:off x="0" y="6974"/>
          <a:ext cx="5325036" cy="45568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优点</a:t>
          </a:r>
        </a:p>
      </dsp:txBody>
      <dsp:txXfrm>
        <a:off x="22244" y="29218"/>
        <a:ext cx="5280548" cy="411192"/>
      </dsp:txXfrm>
    </dsp:sp>
    <dsp:sp modelId="{769DA413-89B9-4221-A6BC-35722015CED6}">
      <dsp:nvSpPr>
        <dsp:cNvPr id="0" name=""/>
        <dsp:cNvSpPr/>
      </dsp:nvSpPr>
      <dsp:spPr>
        <a:xfrm>
          <a:off x="0" y="462655"/>
          <a:ext cx="5325036" cy="6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容易实现，即使确认丢失也不必重传。</a:t>
          </a:r>
        </a:p>
      </dsp:txBody>
      <dsp:txXfrm>
        <a:off x="0" y="462655"/>
        <a:ext cx="5325036" cy="612720"/>
      </dsp:txXfrm>
    </dsp:sp>
    <dsp:sp modelId="{22292CD0-ACC3-4A3E-B075-1AF230BC97FF}">
      <dsp:nvSpPr>
        <dsp:cNvPr id="0" name=""/>
        <dsp:cNvSpPr/>
      </dsp:nvSpPr>
      <dsp:spPr>
        <a:xfrm>
          <a:off x="0" y="1075375"/>
          <a:ext cx="5325036" cy="45568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缺点</a:t>
          </a:r>
        </a:p>
      </dsp:txBody>
      <dsp:txXfrm>
        <a:off x="22244" y="1097619"/>
        <a:ext cx="5280548" cy="411192"/>
      </dsp:txXfrm>
    </dsp:sp>
    <dsp:sp modelId="{CB9D41E1-F2ED-4448-86ED-9FD25B52E29B}">
      <dsp:nvSpPr>
        <dsp:cNvPr id="0" name=""/>
        <dsp:cNvSpPr/>
      </dsp:nvSpPr>
      <dsp:spPr>
        <a:xfrm>
          <a:off x="0" y="1531056"/>
          <a:ext cx="5325036" cy="7659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不能向发送方反映出接收方已经正确收到的所有分组的信息。</a:t>
          </a:r>
        </a:p>
      </dsp:txBody>
      <dsp:txXfrm>
        <a:off x="0" y="1531056"/>
        <a:ext cx="5325036" cy="7659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26273"/>
          <a:ext cx="3322842" cy="6912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Montserrat" panose="00000500000000000000" pitchFamily="2" charset="0"/>
              <a:ea typeface="微软雅黑 Light" panose="020B0502040204020203" pitchFamily="34" charset="-122"/>
            </a:rPr>
            <a:t>拥塞控制</a:t>
          </a:r>
        </a:p>
      </dsp:txBody>
      <dsp:txXfrm>
        <a:off x="34" y="26273"/>
        <a:ext cx="3322842" cy="691200"/>
      </dsp:txXfrm>
    </dsp:sp>
    <dsp:sp modelId="{72C5BA33-78B4-45DE-B9CA-22A272DDBE2C}">
      <dsp:nvSpPr>
        <dsp:cNvPr id="0" name=""/>
        <dsp:cNvSpPr/>
      </dsp:nvSpPr>
      <dsp:spPr>
        <a:xfrm>
          <a:off x="34" y="717473"/>
          <a:ext cx="3322842" cy="270108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防止过多的数据注入到网络中，避免网络中的路由器或链路过载。</a:t>
          </a:r>
        </a:p>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是一个全局性的过程，涉及到所有的主机、路由器，以及与降低网络传输性能有关的所有因素。</a:t>
          </a:r>
        </a:p>
      </dsp:txBody>
      <dsp:txXfrm>
        <a:off x="34" y="717473"/>
        <a:ext cx="3322842" cy="2701080"/>
      </dsp:txXfrm>
    </dsp:sp>
    <dsp:sp modelId="{3ACFDD6B-963A-45AA-AED6-29B2C66DA9EB}">
      <dsp:nvSpPr>
        <dsp:cNvPr id="0" name=""/>
        <dsp:cNvSpPr/>
      </dsp:nvSpPr>
      <dsp:spPr>
        <a:xfrm>
          <a:off x="3788074" y="26273"/>
          <a:ext cx="3322842" cy="6912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Montserrat" panose="00000500000000000000" pitchFamily="2" charset="0"/>
              <a:ea typeface="微软雅黑 Light" panose="020B0502040204020203" pitchFamily="34" charset="-122"/>
            </a:rPr>
            <a:t>流量控制</a:t>
          </a:r>
        </a:p>
      </dsp:txBody>
      <dsp:txXfrm>
        <a:off x="3788074" y="26273"/>
        <a:ext cx="3322842" cy="691200"/>
      </dsp:txXfrm>
    </dsp:sp>
    <dsp:sp modelId="{AAB91EAD-75AE-4168-8A7F-B7A023AD8367}">
      <dsp:nvSpPr>
        <dsp:cNvPr id="0" name=""/>
        <dsp:cNvSpPr/>
      </dsp:nvSpPr>
      <dsp:spPr>
        <a:xfrm>
          <a:off x="3788074" y="717473"/>
          <a:ext cx="3322842" cy="2701080"/>
        </a:xfrm>
        <a:prstGeom prst="rect">
          <a:avLst/>
        </a:prstGeom>
        <a:no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抑制发送端发送数据的速率，以使接收端来得及接收。</a:t>
          </a:r>
        </a:p>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点对点通信量的控制，是个端到端的问题。</a:t>
          </a:r>
        </a:p>
      </dsp:txBody>
      <dsp:txXfrm>
        <a:off x="3788074" y="717473"/>
        <a:ext cx="3322842" cy="270108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28897"/>
          <a:ext cx="3322842" cy="604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Montserrat" panose="00000500000000000000" pitchFamily="2" charset="0"/>
              <a:ea typeface="微软雅黑 Light" panose="020B0502040204020203" pitchFamily="34" charset="-122"/>
            </a:rPr>
            <a:t>开环控制</a:t>
          </a:r>
        </a:p>
      </dsp:txBody>
      <dsp:txXfrm>
        <a:off x="34" y="28897"/>
        <a:ext cx="3322842" cy="604800"/>
      </dsp:txXfrm>
    </dsp:sp>
    <dsp:sp modelId="{72C5BA33-78B4-45DE-B9CA-22A272DDBE2C}">
      <dsp:nvSpPr>
        <dsp:cNvPr id="0" name=""/>
        <dsp:cNvSpPr/>
      </dsp:nvSpPr>
      <dsp:spPr>
        <a:xfrm>
          <a:off x="34" y="633697"/>
          <a:ext cx="3322842" cy="2075220"/>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在设计网络时，事先</a:t>
          </a:r>
          <a:r>
            <a:rPr lang="zh-CN" altLang="en-US" sz="1800" b="0" kern="1200" dirty="0">
              <a:solidFill>
                <a:srgbClr val="C00000"/>
              </a:solidFill>
              <a:latin typeface="Montserrat" panose="00000500000000000000" pitchFamily="2" charset="0"/>
              <a:ea typeface="微软雅黑 Light" panose="020B0502040204020203" pitchFamily="34" charset="-122"/>
            </a:rPr>
            <a:t>考虑周全，</a:t>
          </a:r>
          <a:r>
            <a:rPr lang="zh-CN" altLang="en-US" sz="1800" b="0" kern="1200" dirty="0">
              <a:latin typeface="Montserrat" panose="00000500000000000000" pitchFamily="2" charset="0"/>
              <a:ea typeface="微软雅黑 Light" panose="020B0502040204020203" pitchFamily="34" charset="-122"/>
            </a:rPr>
            <a:t>力求工作时不发生拥塞。</a:t>
          </a:r>
        </a:p>
        <a:p>
          <a:pPr marL="171450" lvl="1" indent="-171450" algn="l" defTabSz="800100">
            <a:lnSpc>
              <a:spcPct val="90000"/>
            </a:lnSpc>
            <a:spcBef>
              <a:spcPct val="0"/>
            </a:spcBef>
            <a:spcAft>
              <a:spcPct val="15000"/>
            </a:spcAft>
            <a:buChar char="•"/>
          </a:pPr>
          <a:r>
            <a:rPr lang="zh-CN" altLang="en-US" sz="1800" b="0" kern="1200" dirty="0">
              <a:solidFill>
                <a:srgbClr val="0000FF"/>
              </a:solidFill>
              <a:latin typeface="Montserrat" panose="00000500000000000000" pitchFamily="2" charset="0"/>
              <a:ea typeface="微软雅黑 Light" panose="020B0502040204020203" pitchFamily="34" charset="-122"/>
            </a:rPr>
            <a:t>思路：</a:t>
          </a:r>
          <a:r>
            <a:rPr lang="zh-CN" altLang="en-US" sz="1800" b="0" kern="1200" dirty="0">
              <a:latin typeface="Montserrat" panose="00000500000000000000" pitchFamily="2" charset="0"/>
              <a:ea typeface="微软雅黑 Light" panose="020B0502040204020203" pitchFamily="34" charset="-122"/>
            </a:rPr>
            <a:t>力争</a:t>
          </a:r>
          <a:r>
            <a:rPr lang="zh-CN" altLang="en-US" sz="1800" b="0" kern="1200" dirty="0">
              <a:solidFill>
                <a:srgbClr val="0000FF"/>
              </a:solidFill>
              <a:latin typeface="Montserrat" panose="00000500000000000000" pitchFamily="2" charset="0"/>
              <a:ea typeface="微软雅黑 Light" panose="020B0502040204020203" pitchFamily="34" charset="-122"/>
            </a:rPr>
            <a:t>避免</a:t>
          </a:r>
          <a:r>
            <a:rPr lang="zh-CN" altLang="en-US" sz="1800" b="0" kern="1200" dirty="0">
              <a:latin typeface="Montserrat" panose="00000500000000000000" pitchFamily="2" charset="0"/>
              <a:ea typeface="微软雅黑 Light" panose="020B0502040204020203" pitchFamily="34" charset="-122"/>
            </a:rPr>
            <a:t>发生拥塞。</a:t>
          </a:r>
        </a:p>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但一旦整个系统运行起来，就不再中途进行改正了。</a:t>
          </a:r>
        </a:p>
      </dsp:txBody>
      <dsp:txXfrm>
        <a:off x="34" y="633697"/>
        <a:ext cx="3322842" cy="2075220"/>
      </dsp:txXfrm>
    </dsp:sp>
    <dsp:sp modelId="{3ACFDD6B-963A-45AA-AED6-29B2C66DA9EB}">
      <dsp:nvSpPr>
        <dsp:cNvPr id="0" name=""/>
        <dsp:cNvSpPr/>
      </dsp:nvSpPr>
      <dsp:spPr>
        <a:xfrm>
          <a:off x="3788074" y="28897"/>
          <a:ext cx="3322842" cy="6048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Montserrat" panose="00000500000000000000" pitchFamily="2" charset="0"/>
              <a:ea typeface="微软雅黑 Light" panose="020B0502040204020203" pitchFamily="34" charset="-122"/>
            </a:rPr>
            <a:t>闭环控制</a:t>
          </a:r>
        </a:p>
      </dsp:txBody>
      <dsp:txXfrm>
        <a:off x="3788074" y="28897"/>
        <a:ext cx="3322842" cy="604800"/>
      </dsp:txXfrm>
    </dsp:sp>
    <dsp:sp modelId="{AAB91EAD-75AE-4168-8A7F-B7A023AD8367}">
      <dsp:nvSpPr>
        <dsp:cNvPr id="0" name=""/>
        <dsp:cNvSpPr/>
      </dsp:nvSpPr>
      <dsp:spPr>
        <a:xfrm>
          <a:off x="3788074" y="633697"/>
          <a:ext cx="3322842" cy="2075220"/>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基于反馈环路的概念。</a:t>
          </a:r>
        </a:p>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根据网络</a:t>
          </a:r>
          <a:r>
            <a:rPr lang="zh-CN" altLang="en-US" sz="1800" b="0" kern="1200" dirty="0">
              <a:solidFill>
                <a:srgbClr val="C00000"/>
              </a:solidFill>
              <a:latin typeface="Montserrat" panose="00000500000000000000" pitchFamily="2" charset="0"/>
              <a:ea typeface="微软雅黑 Light" panose="020B0502040204020203" pitchFamily="34" charset="-122"/>
            </a:rPr>
            <a:t>当前运行状态</a:t>
          </a:r>
          <a:r>
            <a:rPr lang="zh-CN" altLang="en-US" sz="1800" b="0" kern="1200" dirty="0">
              <a:latin typeface="Montserrat" panose="00000500000000000000" pitchFamily="2" charset="0"/>
              <a:ea typeface="微软雅黑 Light" panose="020B0502040204020203" pitchFamily="34" charset="-122"/>
            </a:rPr>
            <a:t>采取相应控制措施。</a:t>
          </a:r>
        </a:p>
        <a:p>
          <a:pPr marL="171450" lvl="1" indent="-171450" algn="l" defTabSz="800100">
            <a:lnSpc>
              <a:spcPct val="90000"/>
            </a:lnSpc>
            <a:spcBef>
              <a:spcPct val="0"/>
            </a:spcBef>
            <a:spcAft>
              <a:spcPct val="15000"/>
            </a:spcAft>
            <a:buChar char="•"/>
          </a:pPr>
          <a:r>
            <a:rPr lang="zh-CN" altLang="en-US" sz="1800" b="0" kern="1200" dirty="0">
              <a:solidFill>
                <a:srgbClr val="0000FF"/>
              </a:solidFill>
              <a:latin typeface="Montserrat" panose="00000500000000000000" pitchFamily="2" charset="0"/>
              <a:ea typeface="微软雅黑 Light" panose="020B0502040204020203" pitchFamily="34" charset="-122"/>
            </a:rPr>
            <a:t>思路：</a:t>
          </a:r>
          <a:r>
            <a:rPr lang="zh-CN" altLang="en-US" sz="1800" b="0" kern="1200" dirty="0">
              <a:latin typeface="Montserrat" panose="00000500000000000000" pitchFamily="2" charset="0"/>
              <a:ea typeface="微软雅黑 Light" panose="020B0502040204020203" pitchFamily="34" charset="-122"/>
            </a:rPr>
            <a:t>在发生拥塞后，采取措施进行控制，</a:t>
          </a:r>
          <a:r>
            <a:rPr lang="zh-CN" altLang="en-US" sz="1800" b="0" kern="1200" dirty="0">
              <a:solidFill>
                <a:srgbClr val="0000FF"/>
              </a:solidFill>
              <a:latin typeface="Montserrat" panose="00000500000000000000" pitchFamily="2" charset="0"/>
              <a:ea typeface="微软雅黑 Light" panose="020B0502040204020203" pitchFamily="34" charset="-122"/>
            </a:rPr>
            <a:t>消除</a:t>
          </a:r>
          <a:r>
            <a:rPr lang="zh-CN" altLang="en-US" sz="1800" b="0" kern="1200" dirty="0">
              <a:latin typeface="Montserrat" panose="00000500000000000000" pitchFamily="2" charset="0"/>
              <a:ea typeface="微软雅黑 Light" panose="020B0502040204020203" pitchFamily="34" charset="-122"/>
            </a:rPr>
            <a:t>拥塞。</a:t>
          </a:r>
        </a:p>
      </dsp:txBody>
      <dsp:txXfrm>
        <a:off x="3788074" y="633697"/>
        <a:ext cx="3322842" cy="207522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2784D-6662-4391-87B7-A8A7A5C6CD55}">
      <dsp:nvSpPr>
        <dsp:cNvPr id="0" name=""/>
        <dsp:cNvSpPr/>
      </dsp:nvSpPr>
      <dsp:spPr>
        <a:xfrm rot="5400000">
          <a:off x="4745037" y="-1993394"/>
          <a:ext cx="614681" cy="4755179"/>
        </a:xfrm>
        <a:prstGeom prst="round2Same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网络已经出现了拥塞。</a:t>
          </a:r>
        </a:p>
      </dsp:txBody>
      <dsp:txXfrm rot="-5400000">
        <a:off x="2674788" y="106861"/>
        <a:ext cx="4725173" cy="554669"/>
      </dsp:txXfrm>
    </dsp:sp>
    <dsp:sp modelId="{5ED00335-F589-4BA4-BB17-2781BB242E82}">
      <dsp:nvSpPr>
        <dsp:cNvPr id="0" name=""/>
        <dsp:cNvSpPr/>
      </dsp:nvSpPr>
      <dsp:spPr>
        <a:xfrm>
          <a:off x="0" y="19"/>
          <a:ext cx="2674788" cy="768351"/>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超时重传计时器超时</a:t>
          </a:r>
        </a:p>
      </dsp:txBody>
      <dsp:txXfrm>
        <a:off x="37508" y="37527"/>
        <a:ext cx="2599772" cy="693335"/>
      </dsp:txXfrm>
    </dsp:sp>
    <dsp:sp modelId="{45B4962A-C5E4-485B-B75C-CD9AAA63DA58}">
      <dsp:nvSpPr>
        <dsp:cNvPr id="0" name=""/>
        <dsp:cNvSpPr/>
      </dsp:nvSpPr>
      <dsp:spPr>
        <a:xfrm rot="5400000">
          <a:off x="4745037" y="-1186625"/>
          <a:ext cx="614681" cy="4755179"/>
        </a:xfrm>
        <a:prstGeom prst="round2Same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预示网络可能会出现拥塞。</a:t>
          </a:r>
        </a:p>
      </dsp:txBody>
      <dsp:txXfrm rot="-5400000">
        <a:off x="2674788" y="913630"/>
        <a:ext cx="4725173" cy="554669"/>
      </dsp:txXfrm>
    </dsp:sp>
    <dsp:sp modelId="{A154C679-5D7E-4C77-AEB3-2EDD606A8CBC}">
      <dsp:nvSpPr>
        <dsp:cNvPr id="0" name=""/>
        <dsp:cNvSpPr/>
      </dsp:nvSpPr>
      <dsp:spPr>
        <a:xfrm>
          <a:off x="0" y="806788"/>
          <a:ext cx="2674788" cy="768351"/>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收到 </a:t>
          </a:r>
          <a:r>
            <a:rPr lang="en-US" altLang="en-US" sz="1800" b="1" kern="1200" dirty="0">
              <a:latin typeface="微软雅黑" panose="020B0503020204020204" pitchFamily="34" charset="-122"/>
              <a:ea typeface="微软雅黑" panose="020B0503020204020204" pitchFamily="34" charset="-122"/>
            </a:rPr>
            <a:t>3 </a:t>
          </a:r>
          <a:r>
            <a:rPr lang="zh-CN" altLang="en-US" sz="1800" b="1" kern="1200" dirty="0">
              <a:latin typeface="微软雅黑" panose="020B0503020204020204" pitchFamily="34" charset="-122"/>
              <a:ea typeface="微软雅黑" panose="020B0503020204020204" pitchFamily="34" charset="-122"/>
            </a:rPr>
            <a:t>个重复的确认</a:t>
          </a:r>
        </a:p>
      </dsp:txBody>
      <dsp:txXfrm>
        <a:off x="37508" y="844296"/>
        <a:ext cx="2599772" cy="693335"/>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7F862E-94BD-4785-B015-5AD165AECE92}">
      <dsp:nvSpPr>
        <dsp:cNvPr id="0" name=""/>
        <dsp:cNvSpPr/>
      </dsp:nvSpPr>
      <dsp:spPr>
        <a:xfrm>
          <a:off x="0" y="0"/>
          <a:ext cx="4448995" cy="49725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a:latin typeface="微软雅黑" panose="020B0503020204020204" pitchFamily="34" charset="-122"/>
              <a:ea typeface="微软雅黑" panose="020B0503020204020204" pitchFamily="34" charset="-122"/>
            </a:rPr>
            <a:t>拥塞窗口 </a:t>
          </a:r>
          <a:r>
            <a:rPr lang="en-US" altLang="en-US" sz="1600" b="1" kern="1200">
              <a:latin typeface="微软雅黑" panose="020B0503020204020204" pitchFamily="34" charset="-122"/>
              <a:ea typeface="微软雅黑" panose="020B0503020204020204" pitchFamily="34" charset="-122"/>
            </a:rPr>
            <a:t>cwnd</a:t>
          </a:r>
          <a:endParaRPr lang="zh-CN" altLang="en-US" sz="1600" b="1" kern="1200" dirty="0">
            <a:latin typeface="微软雅黑" panose="020B0503020204020204" pitchFamily="34" charset="-122"/>
            <a:ea typeface="微软雅黑" panose="020B0503020204020204" pitchFamily="34" charset="-122"/>
          </a:endParaRPr>
        </a:p>
      </dsp:txBody>
      <dsp:txXfrm>
        <a:off x="24274" y="24274"/>
        <a:ext cx="4400447" cy="448702"/>
      </dsp:txXfrm>
    </dsp:sp>
    <dsp:sp modelId="{52E83724-B715-4079-82F3-6EDE3B6F4C27}">
      <dsp:nvSpPr>
        <dsp:cNvPr id="0" name=""/>
        <dsp:cNvSpPr/>
      </dsp:nvSpPr>
      <dsp:spPr>
        <a:xfrm>
          <a:off x="0" y="505601"/>
          <a:ext cx="4448995" cy="931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初始值：</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种设置方法。</a:t>
          </a:r>
        </a:p>
        <a:p>
          <a:pPr marL="342900" lvl="2" indent="-171450" algn="l" defTabSz="711200">
            <a:lnSpc>
              <a:spcPct val="50000"/>
            </a:lnSpc>
            <a:spcBef>
              <a:spcPct val="0"/>
            </a:spcBef>
            <a:spcAft>
              <a:spcPts val="0"/>
            </a:spcAft>
            <a:buChar char="•"/>
          </a:pPr>
          <a:r>
            <a:rPr lang="en-US" altLang="en-US" sz="1600" b="1" kern="1200" dirty="0">
              <a:latin typeface="微软雅黑" panose="020B0503020204020204" pitchFamily="34" charset="-122"/>
              <a:ea typeface="微软雅黑" panose="020B0503020204020204" pitchFamily="34" charset="-122"/>
            </a:rPr>
            <a:t>1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 （旧标准）</a:t>
          </a:r>
        </a:p>
        <a:p>
          <a:pPr marL="342900" lvl="2" indent="-171450" algn="l" defTabSz="711200">
            <a:lnSpc>
              <a:spcPct val="90000"/>
            </a:lnSpc>
            <a:spcBef>
              <a:spcPct val="0"/>
            </a:spcBef>
            <a:spcAft>
              <a:spcPct val="20000"/>
            </a:spcAft>
            <a:buChar char="•"/>
          </a:pP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4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a:t>
          </a:r>
          <a:r>
            <a:rPr lang="en-US" altLang="en-US" sz="1600" b="1" kern="1200" dirty="0">
              <a:latin typeface="微软雅黑" panose="020B0503020204020204" pitchFamily="34" charset="-122"/>
              <a:ea typeface="微软雅黑" panose="020B0503020204020204" pitchFamily="34" charset="-122"/>
            </a:rPr>
            <a:t>RFC 5681</a:t>
          </a:r>
          <a:r>
            <a:rPr lang="zh-CN" altLang="en-US" sz="1600" b="1" kern="1200" dirty="0">
              <a:latin typeface="微软雅黑" panose="020B0503020204020204" pitchFamily="34" charset="-122"/>
              <a:ea typeface="微软雅黑" panose="020B0503020204020204" pitchFamily="34" charset="-122"/>
            </a:rPr>
            <a:t>）</a:t>
          </a:r>
        </a:p>
      </dsp:txBody>
      <dsp:txXfrm>
        <a:off x="0" y="505601"/>
        <a:ext cx="4448995" cy="931500"/>
      </dsp:txXfrm>
    </dsp:sp>
    <dsp:sp modelId="{0ACFF9AA-D159-4169-9A52-90FB187B15AF}">
      <dsp:nvSpPr>
        <dsp:cNvPr id="0" name=""/>
        <dsp:cNvSpPr/>
      </dsp:nvSpPr>
      <dsp:spPr>
        <a:xfrm>
          <a:off x="0" y="1437101"/>
          <a:ext cx="4448995" cy="49725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慢开始门限 </a:t>
          </a:r>
          <a:r>
            <a:rPr lang="en-US" altLang="en-US" sz="1600" b="1" kern="1200" dirty="0" err="1">
              <a:latin typeface="微软雅黑" panose="020B0503020204020204" pitchFamily="34" charset="-122"/>
              <a:ea typeface="微软雅黑" panose="020B0503020204020204" pitchFamily="34" charset="-122"/>
            </a:rPr>
            <a:t>ssthresh</a:t>
          </a:r>
          <a:endParaRPr lang="zh-CN" altLang="en-US" sz="1600" b="1" kern="1200" dirty="0">
            <a:latin typeface="微软雅黑" panose="020B0503020204020204" pitchFamily="34" charset="-122"/>
            <a:ea typeface="微软雅黑" panose="020B0503020204020204" pitchFamily="34" charset="-122"/>
          </a:endParaRPr>
        </a:p>
      </dsp:txBody>
      <dsp:txXfrm>
        <a:off x="24274" y="1461375"/>
        <a:ext cx="4400447" cy="448702"/>
      </dsp:txXfrm>
    </dsp:sp>
    <dsp:sp modelId="{A5F6C106-6A44-408A-BCD6-9853C05BAD0C}">
      <dsp:nvSpPr>
        <dsp:cNvPr id="0" name=""/>
        <dsp:cNvSpPr/>
      </dsp:nvSpPr>
      <dsp:spPr>
        <a:xfrm>
          <a:off x="0" y="1934351"/>
          <a:ext cx="4448995" cy="414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防止拥塞窗口增长过大引起网络拥塞。</a:t>
          </a:r>
        </a:p>
      </dsp:txBody>
      <dsp:txXfrm>
        <a:off x="0" y="1934351"/>
        <a:ext cx="4448995" cy="4140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2025/11/16</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a:t>
            </a:fld>
            <a:endParaRPr lang="zh-CN" altLang="en-US"/>
          </a:p>
        </p:txBody>
      </p:sp>
    </p:spTree>
    <p:extLst>
      <p:ext uri="{BB962C8B-B14F-4D97-AF65-F5344CB8AC3E}">
        <p14:creationId xmlns:p14="http://schemas.microsoft.com/office/powerpoint/2010/main" val="13905061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8221425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59</a:t>
            </a:fld>
            <a:endParaRPr lang="zh-CN" altLang="en-US"/>
          </a:p>
        </p:txBody>
      </p:sp>
    </p:spTree>
    <p:extLst>
      <p:ext uri="{BB962C8B-B14F-4D97-AF65-F5344CB8AC3E}">
        <p14:creationId xmlns:p14="http://schemas.microsoft.com/office/powerpoint/2010/main" val="20063367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90</a:t>
            </a:fld>
            <a:endParaRPr lang="zh-CN" altLang="en-US"/>
          </a:p>
        </p:txBody>
      </p:sp>
    </p:spTree>
    <p:extLst>
      <p:ext uri="{BB962C8B-B14F-4D97-AF65-F5344CB8AC3E}">
        <p14:creationId xmlns:p14="http://schemas.microsoft.com/office/powerpoint/2010/main" val="33115824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2378550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4068373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93</a:t>
            </a:fld>
            <a:endParaRPr lang="zh-CN" altLang="en-US"/>
          </a:p>
        </p:txBody>
      </p:sp>
    </p:spTree>
    <p:extLst>
      <p:ext uri="{BB962C8B-B14F-4D97-AF65-F5344CB8AC3E}">
        <p14:creationId xmlns:p14="http://schemas.microsoft.com/office/powerpoint/2010/main" val="427106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94</a:t>
            </a:fld>
            <a:endParaRPr lang="zh-CN" altLang="en-US"/>
          </a:p>
        </p:txBody>
      </p:sp>
    </p:spTree>
    <p:extLst>
      <p:ext uri="{BB962C8B-B14F-4D97-AF65-F5344CB8AC3E}">
        <p14:creationId xmlns:p14="http://schemas.microsoft.com/office/powerpoint/2010/main" val="660481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98</a:t>
            </a:fld>
            <a:endParaRPr lang="zh-CN" altLang="en-US"/>
          </a:p>
        </p:txBody>
      </p:sp>
    </p:spTree>
    <p:extLst>
      <p:ext uri="{BB962C8B-B14F-4D97-AF65-F5344CB8AC3E}">
        <p14:creationId xmlns:p14="http://schemas.microsoft.com/office/powerpoint/2010/main" val="39740720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101</a:t>
            </a:fld>
            <a:endParaRPr lang="zh-CN" altLang="en-US"/>
          </a:p>
        </p:txBody>
      </p:sp>
    </p:spTree>
    <p:extLst>
      <p:ext uri="{BB962C8B-B14F-4D97-AF65-F5344CB8AC3E}">
        <p14:creationId xmlns:p14="http://schemas.microsoft.com/office/powerpoint/2010/main" val="6016562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102</a:t>
            </a:fld>
            <a:endParaRPr lang="zh-CN" altLang="en-US"/>
          </a:p>
        </p:txBody>
      </p:sp>
    </p:spTree>
    <p:extLst>
      <p:ext uri="{BB962C8B-B14F-4D97-AF65-F5344CB8AC3E}">
        <p14:creationId xmlns:p14="http://schemas.microsoft.com/office/powerpoint/2010/main" val="41913262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103</a:t>
            </a:fld>
            <a:endParaRPr lang="zh-CN" altLang="en-US"/>
          </a:p>
        </p:txBody>
      </p:sp>
    </p:spTree>
    <p:extLst>
      <p:ext uri="{BB962C8B-B14F-4D97-AF65-F5344CB8AC3E}">
        <p14:creationId xmlns:p14="http://schemas.microsoft.com/office/powerpoint/2010/main" val="4630614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104</a:t>
            </a:fld>
            <a:endParaRPr lang="zh-CN" altLang="en-US"/>
          </a:p>
        </p:txBody>
      </p:sp>
    </p:spTree>
    <p:extLst>
      <p:ext uri="{BB962C8B-B14F-4D97-AF65-F5344CB8AC3E}">
        <p14:creationId xmlns:p14="http://schemas.microsoft.com/office/powerpoint/2010/main" val="2102368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105</a:t>
            </a:fld>
            <a:endParaRPr lang="zh-CN" altLang="en-US"/>
          </a:p>
        </p:txBody>
      </p:sp>
    </p:spTree>
    <p:extLst>
      <p:ext uri="{BB962C8B-B14F-4D97-AF65-F5344CB8AC3E}">
        <p14:creationId xmlns:p14="http://schemas.microsoft.com/office/powerpoint/2010/main" val="34026396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3453403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458753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108</a:t>
            </a:fld>
            <a:endParaRPr lang="zh-CN" altLang="en-US"/>
          </a:p>
        </p:txBody>
      </p:sp>
    </p:spTree>
    <p:extLst>
      <p:ext uri="{BB962C8B-B14F-4D97-AF65-F5344CB8AC3E}">
        <p14:creationId xmlns:p14="http://schemas.microsoft.com/office/powerpoint/2010/main" val="32505124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137</a:t>
            </a:fld>
            <a:endParaRPr lang="zh-CN" altLang="en-US"/>
          </a:p>
        </p:txBody>
      </p:sp>
    </p:spTree>
    <p:extLst>
      <p:ext uri="{BB962C8B-B14F-4D97-AF65-F5344CB8AC3E}">
        <p14:creationId xmlns:p14="http://schemas.microsoft.com/office/powerpoint/2010/main" val="12548379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184</a:t>
            </a:fld>
            <a:endParaRPr lang="zh-CN" altLang="en-US"/>
          </a:p>
        </p:txBody>
      </p:sp>
    </p:spTree>
    <p:extLst>
      <p:ext uri="{BB962C8B-B14F-4D97-AF65-F5344CB8AC3E}">
        <p14:creationId xmlns:p14="http://schemas.microsoft.com/office/powerpoint/2010/main" val="24475841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190</a:t>
            </a:fld>
            <a:endParaRPr lang="zh-CN" altLang="en-US"/>
          </a:p>
        </p:txBody>
      </p:sp>
    </p:spTree>
    <p:extLst>
      <p:ext uri="{BB962C8B-B14F-4D97-AF65-F5344CB8AC3E}">
        <p14:creationId xmlns:p14="http://schemas.microsoft.com/office/powerpoint/2010/main" val="4050929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r>
              <a:rPr lang="zh-CN" altLang="en-US"/>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3931860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299337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454598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5438114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848356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1286466787"/>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9"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1.bin"/><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3.bin"/><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4.bin"/><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oleObject" Target="../embeddings/oleObject5.bin"/><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5.wmf"/></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41.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42.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43.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44.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3.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5.xml"/></Relationships>
</file>

<file path=ppt/slides/_rels/slide19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5.xml"/><Relationship Id="rId5" Type="http://schemas.openxmlformats.org/officeDocument/2006/relationships/image" Target="../media/image14.svg"/><Relationship Id="rId4" Type="http://schemas.openxmlformats.org/officeDocument/2006/relationships/image" Target="../media/image13.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运</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输</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5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C45B5D82-32C4-F71C-107F-D9D48AC6EAA3}"/>
              </a:ext>
            </a:extLst>
          </p:cNvPr>
          <p:cNvSpPr>
            <a:spLocks noGrp="1"/>
          </p:cNvSpPr>
          <p:nvPr>
            <p:ph type="title"/>
          </p:nvPr>
        </p:nvSpPr>
        <p:spPr>
          <a:prstGeom prst="rect">
            <a:avLst/>
          </a:prstGeom>
        </p:spPr>
        <p:txBody>
          <a:bodyPr/>
          <a:lstStyle/>
          <a:p>
            <a:r>
              <a:rPr lang="zh-CN" altLang="en-US" dirty="0"/>
              <a:t>计算机网络体系结构</a:t>
            </a:r>
          </a:p>
        </p:txBody>
      </p:sp>
      <p:sp>
        <p:nvSpPr>
          <p:cNvPr id="4" name="立方体 3">
            <a:extLst>
              <a:ext uri="{FF2B5EF4-FFF2-40B4-BE49-F238E27FC236}">
                <a16:creationId xmlns:a16="http://schemas.microsoft.com/office/drawing/2014/main" id="{D33CA743-054A-BE5D-BDE6-CFC7F93B8757}"/>
              </a:ext>
            </a:extLst>
          </p:cNvPr>
          <p:cNvSpPr/>
          <p:nvPr/>
        </p:nvSpPr>
        <p:spPr>
          <a:xfrm>
            <a:off x="5983013"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2122B32A-D0EF-6AB3-9A57-600FD3C24511}"/>
              </a:ext>
            </a:extLst>
          </p:cNvPr>
          <p:cNvSpPr/>
          <p:nvPr/>
        </p:nvSpPr>
        <p:spPr>
          <a:xfrm>
            <a:off x="5983013"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E7DD729-B989-53E1-3DAF-EE1B6E466102}"/>
              </a:ext>
            </a:extLst>
          </p:cNvPr>
          <p:cNvSpPr/>
          <p:nvPr/>
        </p:nvSpPr>
        <p:spPr>
          <a:xfrm>
            <a:off x="5983013"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70F1386D-C583-C301-A069-D436D5331999}"/>
              </a:ext>
            </a:extLst>
          </p:cNvPr>
          <p:cNvSpPr/>
          <p:nvPr/>
        </p:nvSpPr>
        <p:spPr>
          <a:xfrm>
            <a:off x="5983013" y="2598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8BB8BAB7-B7F0-4C81-03AA-FEAB21ABD62C}"/>
              </a:ext>
            </a:extLst>
          </p:cNvPr>
          <p:cNvSpPr/>
          <p:nvPr/>
        </p:nvSpPr>
        <p:spPr>
          <a:xfrm>
            <a:off x="5983013"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Text Box 13">
            <a:extLst>
              <a:ext uri="{FF2B5EF4-FFF2-40B4-BE49-F238E27FC236}">
                <a16:creationId xmlns:a16="http://schemas.microsoft.com/office/drawing/2014/main" id="{C2843937-7961-B922-1CB5-074F9BCDF605}"/>
              </a:ext>
            </a:extLst>
          </p:cNvPr>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1" name="Text Box 12">
            <a:extLst>
              <a:ext uri="{FF2B5EF4-FFF2-40B4-BE49-F238E27FC236}">
                <a16:creationId xmlns:a16="http://schemas.microsoft.com/office/drawing/2014/main" id="{E16D3BF7-6063-B1A7-991D-60D892FD6962}"/>
              </a:ext>
            </a:extLst>
          </p:cNvPr>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2" name="Text Box 113">
            <a:extLst>
              <a:ext uri="{FF2B5EF4-FFF2-40B4-BE49-F238E27FC236}">
                <a16:creationId xmlns:a16="http://schemas.microsoft.com/office/drawing/2014/main" id="{837308FE-E63D-4269-92B0-1B2B882AAF44}"/>
              </a:ext>
            </a:extLst>
          </p:cNvPr>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14" name="立方体 13">
            <a:extLst>
              <a:ext uri="{FF2B5EF4-FFF2-40B4-BE49-F238E27FC236}">
                <a16:creationId xmlns:a16="http://schemas.microsoft.com/office/drawing/2014/main" id="{99B4904F-D501-0CC2-29E9-A9CB4C58ABA4}"/>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1E0D48EC-AC35-E89F-F9BD-9F05F9FEBC54}"/>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61393E26-548A-5A52-C3BE-B1102CA9A552}"/>
              </a:ext>
            </a:extLst>
          </p:cNvPr>
          <p:cNvSpPr/>
          <p:nvPr/>
        </p:nvSpPr>
        <p:spPr>
          <a:xfrm>
            <a:off x="1079467"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A952F0B2-34BB-EA05-5E70-9E12A999BE41}"/>
              </a:ext>
            </a:extLst>
          </p:cNvPr>
          <p:cNvSpPr/>
          <p:nvPr/>
        </p:nvSpPr>
        <p:spPr>
          <a:xfrm>
            <a:off x="1079467" y="2598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1ED0A4D-2001-0B4E-22E8-CB8C747EECF9}"/>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5A581EAB-A311-FE5D-C43C-D28A3C956571}"/>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DFC7F83B-4C87-7CC3-AF15-F2BE53F16E92}"/>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2" name="立方体 21">
            <a:extLst>
              <a:ext uri="{FF2B5EF4-FFF2-40B4-BE49-F238E27FC236}">
                <a16:creationId xmlns:a16="http://schemas.microsoft.com/office/drawing/2014/main" id="{88DB8F8C-1AEF-52E0-A864-6A2A96404695}"/>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3" name="立方体 22">
            <a:extLst>
              <a:ext uri="{FF2B5EF4-FFF2-40B4-BE49-F238E27FC236}">
                <a16:creationId xmlns:a16="http://schemas.microsoft.com/office/drawing/2014/main" id="{AAAD7765-521D-342F-0D1E-89576F612806}"/>
              </a:ext>
            </a:extLst>
          </p:cNvPr>
          <p:cNvSpPr/>
          <p:nvPr/>
        </p:nvSpPr>
        <p:spPr>
          <a:xfrm>
            <a:off x="3531240"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4" name="立方体 23">
            <a:extLst>
              <a:ext uri="{FF2B5EF4-FFF2-40B4-BE49-F238E27FC236}">
                <a16:creationId xmlns:a16="http://schemas.microsoft.com/office/drawing/2014/main" id="{9D46417E-E369-91F5-47BA-BF180625BA60}"/>
              </a:ext>
            </a:extLst>
          </p:cNvPr>
          <p:cNvSpPr/>
          <p:nvPr/>
        </p:nvSpPr>
        <p:spPr>
          <a:xfrm>
            <a:off x="3531240"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p>
        </p:txBody>
      </p:sp>
      <p:sp>
        <p:nvSpPr>
          <p:cNvPr id="25" name="立方体 24">
            <a:extLst>
              <a:ext uri="{FF2B5EF4-FFF2-40B4-BE49-F238E27FC236}">
                <a16:creationId xmlns:a16="http://schemas.microsoft.com/office/drawing/2014/main" id="{67C18096-DE37-8429-A913-ECF73128F034}"/>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spTree>
    <p:extLst>
      <p:ext uri="{BB962C8B-B14F-4D97-AF65-F5344CB8AC3E}">
        <p14:creationId xmlns:p14="http://schemas.microsoft.com/office/powerpoint/2010/main" val="4236732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p:cNvSpPr>
            <a:spLocks noChangeArrowheads="1"/>
          </p:cNvSpPr>
          <p:nvPr/>
        </p:nvSpPr>
        <p:spPr bwMode="auto">
          <a:xfrm>
            <a:off x="1673794" y="277634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1"/>
          <p:cNvSpPr>
            <a:spLocks noChangeArrowheads="1"/>
          </p:cNvSpPr>
          <p:nvPr/>
        </p:nvSpPr>
        <p:spPr bwMode="auto">
          <a:xfrm>
            <a:off x="1673794" y="318404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2"/>
          <p:cNvSpPr>
            <a:spLocks noChangeArrowheads="1"/>
          </p:cNvSpPr>
          <p:nvPr/>
        </p:nvSpPr>
        <p:spPr bwMode="auto">
          <a:xfrm>
            <a:off x="1673794" y="358109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3"/>
          <p:cNvSpPr>
            <a:spLocks noChangeArrowheads="1"/>
          </p:cNvSpPr>
          <p:nvPr/>
        </p:nvSpPr>
        <p:spPr bwMode="auto">
          <a:xfrm>
            <a:off x="1673794" y="39979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9"/>
          <p:cNvSpPr>
            <a:spLocks noChangeArrowheads="1"/>
          </p:cNvSpPr>
          <p:nvPr/>
        </p:nvSpPr>
        <p:spPr bwMode="auto">
          <a:xfrm>
            <a:off x="1673794" y="748013"/>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Rectangle 10"/>
          <p:cNvSpPr>
            <a:spLocks noChangeArrowheads="1"/>
          </p:cNvSpPr>
          <p:nvPr/>
        </p:nvSpPr>
        <p:spPr bwMode="auto">
          <a:xfrm>
            <a:off x="1673794" y="116412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5" name="Rectangle 11"/>
          <p:cNvSpPr>
            <a:spLocks noChangeArrowheads="1"/>
          </p:cNvSpPr>
          <p:nvPr/>
        </p:nvSpPr>
        <p:spPr bwMode="auto">
          <a:xfrm>
            <a:off x="1673794" y="156268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2"/>
          <p:cNvSpPr>
            <a:spLocks noChangeArrowheads="1"/>
          </p:cNvSpPr>
          <p:nvPr/>
        </p:nvSpPr>
        <p:spPr bwMode="auto">
          <a:xfrm>
            <a:off x="1673794" y="197802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3"/>
          <p:cNvSpPr>
            <a:spLocks noChangeArrowheads="1"/>
          </p:cNvSpPr>
          <p:nvPr/>
        </p:nvSpPr>
        <p:spPr bwMode="auto">
          <a:xfrm>
            <a:off x="1673794" y="237654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Line 16"/>
          <p:cNvSpPr>
            <a:spLocks noChangeShapeType="1"/>
          </p:cNvSpPr>
          <p:nvPr/>
        </p:nvSpPr>
        <p:spPr bwMode="auto">
          <a:xfrm>
            <a:off x="2421504" y="621706"/>
            <a:ext cx="0" cy="39228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29" name="Rectangle 17"/>
          <p:cNvSpPr>
            <a:spLocks noChangeArrowheads="1"/>
          </p:cNvSpPr>
          <p:nvPr/>
        </p:nvSpPr>
        <p:spPr bwMode="auto">
          <a:xfrm>
            <a:off x="1689668" y="651222"/>
            <a:ext cx="5743577" cy="37856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dirty="0">
                <a:solidFill>
                  <a:schemeClr val="bg1"/>
                </a:solidFill>
                <a:latin typeface="微软雅黑" pitchFamily="34" charset="-122"/>
                <a:ea typeface="微软雅黑" pitchFamily="34" charset="-122"/>
              </a:rPr>
              <a:t>5.1                                            </a:t>
            </a:r>
            <a:r>
              <a:rPr lang="zh-CN" altLang="en-US" sz="2000" dirty="0">
                <a:solidFill>
                  <a:schemeClr val="bg1"/>
                </a:solidFill>
                <a:latin typeface="微软雅黑" pitchFamily="34" charset="-122"/>
                <a:ea typeface="微软雅黑" pitchFamily="34" charset="-122"/>
              </a:rPr>
              <a:t>运输层协议概述</a:t>
            </a:r>
          </a:p>
          <a:p>
            <a:pPr eaLnBrk="0" hangingPunct="0">
              <a:lnSpc>
                <a:spcPts val="3200"/>
              </a:lnSpc>
            </a:pPr>
            <a:r>
              <a:rPr lang="en-US" altLang="zh-CN" sz="2000" dirty="0">
                <a:solidFill>
                  <a:schemeClr val="bg1"/>
                </a:solidFill>
                <a:latin typeface="微软雅黑" pitchFamily="34" charset="-122"/>
                <a:ea typeface="微软雅黑" pitchFamily="34" charset="-122"/>
              </a:rPr>
              <a:t>5.2                                    </a:t>
            </a:r>
            <a:r>
              <a:rPr lang="zh-CN" altLang="en-US" sz="2000" dirty="0">
                <a:solidFill>
                  <a:schemeClr val="bg1"/>
                </a:solidFill>
                <a:latin typeface="微软雅黑" pitchFamily="34" charset="-122"/>
                <a:ea typeface="微软雅黑" pitchFamily="34" charset="-122"/>
              </a:rPr>
              <a:t>用户数据报协议 </a:t>
            </a:r>
            <a:r>
              <a:rPr lang="en-US" altLang="zh-CN" sz="2000" dirty="0">
                <a:solidFill>
                  <a:schemeClr val="bg1"/>
                </a:solidFill>
                <a:latin typeface="微软雅黑" pitchFamily="34" charset="-122"/>
                <a:ea typeface="微软雅黑" pitchFamily="34" charset="-122"/>
              </a:rPr>
              <a:t>UDP </a:t>
            </a:r>
          </a:p>
          <a:p>
            <a:pPr eaLnBrk="0" hangingPunct="0">
              <a:lnSpc>
                <a:spcPts val="3200"/>
              </a:lnSpc>
            </a:pPr>
            <a:r>
              <a:rPr lang="en-US" altLang="zh-CN" sz="2000" dirty="0">
                <a:solidFill>
                  <a:schemeClr val="bg1"/>
                </a:solidFill>
                <a:latin typeface="微软雅黑" pitchFamily="34" charset="-122"/>
                <a:ea typeface="微软雅黑" pitchFamily="34" charset="-122"/>
              </a:rPr>
              <a:t>5.3                                </a:t>
            </a:r>
            <a:r>
              <a:rPr lang="zh-CN" altLang="en-US" sz="2000" dirty="0">
                <a:solidFill>
                  <a:schemeClr val="bg1"/>
                </a:solidFill>
                <a:latin typeface="微软雅黑" pitchFamily="34" charset="-122"/>
                <a:ea typeface="微软雅黑" pitchFamily="34" charset="-122"/>
              </a:rPr>
              <a:t>传输控制协议 </a:t>
            </a:r>
            <a:r>
              <a:rPr lang="en-US" altLang="zh-CN" sz="2000" dirty="0">
                <a:solidFill>
                  <a:schemeClr val="bg1"/>
                </a:solidFill>
                <a:latin typeface="微软雅黑" pitchFamily="34" charset="-122"/>
                <a:ea typeface="微软雅黑" pitchFamily="34" charset="-122"/>
              </a:rPr>
              <a:t>TCP </a:t>
            </a:r>
            <a:r>
              <a:rPr lang="zh-CN" altLang="en-US" sz="2000" dirty="0">
                <a:solidFill>
                  <a:schemeClr val="bg1"/>
                </a:solidFill>
                <a:latin typeface="微软雅黑" pitchFamily="34" charset="-122"/>
                <a:ea typeface="微软雅黑" pitchFamily="34" charset="-122"/>
              </a:rPr>
              <a:t>概述</a:t>
            </a:r>
          </a:p>
          <a:p>
            <a:pPr eaLnBrk="0" hangingPunct="0">
              <a:lnSpc>
                <a:spcPts val="3200"/>
              </a:lnSpc>
            </a:pPr>
            <a:r>
              <a:rPr lang="en-US" altLang="zh-CN" sz="2000" dirty="0">
                <a:solidFill>
                  <a:schemeClr val="bg1"/>
                </a:solidFill>
                <a:latin typeface="微软雅黑" pitchFamily="34" charset="-122"/>
                <a:ea typeface="微软雅黑" pitchFamily="34" charset="-122"/>
              </a:rPr>
              <a:t>5.4                                     </a:t>
            </a:r>
            <a:r>
              <a:rPr lang="zh-CN" altLang="en-US" sz="2000" dirty="0">
                <a:solidFill>
                  <a:schemeClr val="bg1"/>
                </a:solidFill>
                <a:latin typeface="微软雅黑" pitchFamily="34" charset="-122"/>
                <a:ea typeface="微软雅黑" pitchFamily="34" charset="-122"/>
              </a:rPr>
              <a:t>可靠传输的工作原理</a:t>
            </a:r>
          </a:p>
          <a:p>
            <a:pPr eaLnBrk="0" hangingPunct="0">
              <a:lnSpc>
                <a:spcPts val="3200"/>
              </a:lnSpc>
            </a:pPr>
            <a:r>
              <a:rPr lang="en-US" altLang="zh-CN" sz="2000" dirty="0">
                <a:solidFill>
                  <a:schemeClr val="bg1"/>
                </a:solidFill>
                <a:latin typeface="微软雅黑" pitchFamily="34" charset="-122"/>
                <a:ea typeface="微软雅黑" pitchFamily="34" charset="-122"/>
              </a:rPr>
              <a:t>5.5                                 TCP </a:t>
            </a:r>
            <a:r>
              <a:rPr lang="zh-CN" altLang="en-US" sz="2000" dirty="0">
                <a:solidFill>
                  <a:schemeClr val="bg1"/>
                </a:solidFill>
                <a:latin typeface="微软雅黑" pitchFamily="34" charset="-122"/>
                <a:ea typeface="微软雅黑" pitchFamily="34" charset="-122"/>
              </a:rPr>
              <a:t>报文段的首部格式</a:t>
            </a:r>
          </a:p>
          <a:p>
            <a:pPr eaLnBrk="0" hangingPunct="0">
              <a:lnSpc>
                <a:spcPts val="3200"/>
              </a:lnSpc>
            </a:pPr>
            <a:r>
              <a:rPr lang="en-US" altLang="zh-CN" sz="2000" dirty="0">
                <a:solidFill>
                  <a:schemeClr val="bg1"/>
                </a:solidFill>
                <a:latin typeface="微软雅黑" pitchFamily="34" charset="-122"/>
                <a:ea typeface="微软雅黑" pitchFamily="34" charset="-122"/>
              </a:rPr>
              <a:t>5.6                                     TCP </a:t>
            </a:r>
            <a:r>
              <a:rPr lang="zh-CN" altLang="en-US" sz="2000" dirty="0">
                <a:solidFill>
                  <a:schemeClr val="bg1"/>
                </a:solidFill>
                <a:latin typeface="微软雅黑" pitchFamily="34" charset="-122"/>
                <a:ea typeface="微软雅黑" pitchFamily="34" charset="-122"/>
              </a:rPr>
              <a:t>可靠传输的实现</a:t>
            </a:r>
          </a:p>
          <a:p>
            <a:pPr eaLnBrk="0" hangingPunct="0">
              <a:lnSpc>
                <a:spcPts val="3200"/>
              </a:lnSpc>
            </a:pPr>
            <a:r>
              <a:rPr lang="en-US" altLang="zh-CN" sz="2000" dirty="0">
                <a:solidFill>
                  <a:schemeClr val="bg1"/>
                </a:solidFill>
                <a:latin typeface="微软雅黑" pitchFamily="34" charset="-122"/>
                <a:ea typeface="微软雅黑" pitchFamily="34" charset="-122"/>
              </a:rPr>
              <a:t>5.7                                           TCP </a:t>
            </a:r>
            <a:r>
              <a:rPr lang="zh-CN" altLang="en-US" sz="2000" dirty="0">
                <a:solidFill>
                  <a:schemeClr val="bg1"/>
                </a:solidFill>
                <a:latin typeface="微软雅黑" pitchFamily="34" charset="-122"/>
                <a:ea typeface="微软雅黑" pitchFamily="34" charset="-122"/>
              </a:rPr>
              <a:t>的流量控制</a:t>
            </a:r>
          </a:p>
          <a:p>
            <a:pPr eaLnBrk="0" hangingPunct="0">
              <a:lnSpc>
                <a:spcPts val="3200"/>
              </a:lnSpc>
            </a:pPr>
            <a:r>
              <a:rPr lang="en-US" altLang="zh-CN" sz="2000" dirty="0">
                <a:solidFill>
                  <a:schemeClr val="bg1"/>
                </a:solidFill>
                <a:latin typeface="微软雅黑" pitchFamily="34" charset="-122"/>
                <a:ea typeface="微软雅黑" pitchFamily="34" charset="-122"/>
              </a:rPr>
              <a:t>5.8                                           TCP </a:t>
            </a:r>
            <a:r>
              <a:rPr lang="zh-CN" altLang="en-US" sz="2000" dirty="0">
                <a:solidFill>
                  <a:schemeClr val="bg1"/>
                </a:solidFill>
                <a:latin typeface="微软雅黑" pitchFamily="34" charset="-122"/>
                <a:ea typeface="微软雅黑" pitchFamily="34" charset="-122"/>
              </a:rPr>
              <a:t>的拥塞控制</a:t>
            </a:r>
          </a:p>
          <a:p>
            <a:pPr eaLnBrk="0" hangingPunct="0">
              <a:lnSpc>
                <a:spcPts val="3200"/>
              </a:lnSpc>
            </a:pPr>
            <a:r>
              <a:rPr lang="en-US" altLang="zh-CN" sz="2000" dirty="0">
                <a:solidFill>
                  <a:schemeClr val="bg1"/>
                </a:solidFill>
                <a:latin typeface="微软雅黑" pitchFamily="34" charset="-122"/>
                <a:ea typeface="微软雅黑" pitchFamily="34" charset="-122"/>
              </a:rPr>
              <a:t>5.9                                    TCP </a:t>
            </a:r>
            <a:r>
              <a:rPr lang="zh-CN" altLang="en-US" sz="2000" dirty="0">
                <a:solidFill>
                  <a:schemeClr val="bg1"/>
                </a:solidFill>
                <a:latin typeface="微软雅黑" pitchFamily="34" charset="-122"/>
                <a:ea typeface="微软雅黑" pitchFamily="34" charset="-122"/>
              </a:rPr>
              <a:t>的运输连接管理</a:t>
            </a:r>
          </a:p>
        </p:txBody>
      </p:sp>
    </p:spTree>
    <p:extLst>
      <p:ext uri="{BB962C8B-B14F-4D97-AF65-F5344CB8AC3E}">
        <p14:creationId xmlns:p14="http://schemas.microsoft.com/office/powerpoint/2010/main" val="1871226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5088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80742" y="1072922"/>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dirty="0">
                <a:solidFill>
                  <a:schemeClr val="bg1"/>
                </a:solidFill>
                <a:latin typeface="微软雅黑" pitchFamily="34" charset="-122"/>
                <a:ea typeface="微软雅黑" pitchFamily="34" charset="-122"/>
              </a:rPr>
              <a:t>5.1.1                                     </a:t>
            </a:r>
            <a:r>
              <a:rPr lang="zh-CN" altLang="en-US" sz="2000" dirty="0">
                <a:solidFill>
                  <a:schemeClr val="bg1"/>
                </a:solidFill>
                <a:latin typeface="微软雅黑" pitchFamily="34" charset="-122"/>
                <a:ea typeface="微软雅黑" pitchFamily="34" charset="-122"/>
              </a:rPr>
              <a:t>进程之间的通信</a:t>
            </a:r>
          </a:p>
          <a:p>
            <a:pPr eaLnBrk="0" hangingPunct="0">
              <a:lnSpc>
                <a:spcPct val="200000"/>
              </a:lnSpc>
            </a:pPr>
            <a:r>
              <a:rPr lang="en-US" altLang="zh-CN" sz="2000" dirty="0">
                <a:solidFill>
                  <a:schemeClr val="bg1"/>
                </a:solidFill>
                <a:latin typeface="微软雅黑" pitchFamily="34" charset="-122"/>
                <a:ea typeface="微软雅黑" pitchFamily="34" charset="-122"/>
              </a:rPr>
              <a:t>5.1.2                           </a:t>
            </a:r>
            <a:r>
              <a:rPr lang="zh-CN" altLang="en-US" sz="2000" dirty="0">
                <a:solidFill>
                  <a:schemeClr val="bg1"/>
                </a:solidFill>
                <a:latin typeface="微软雅黑" pitchFamily="34" charset="-122"/>
                <a:ea typeface="微软雅黑" pitchFamily="34" charset="-122"/>
              </a:rPr>
              <a:t>运输层的两个主要协议</a:t>
            </a:r>
          </a:p>
          <a:p>
            <a:pPr eaLnBrk="0" hangingPunct="0">
              <a:lnSpc>
                <a:spcPct val="200000"/>
              </a:lnSpc>
            </a:pPr>
            <a:r>
              <a:rPr lang="en-US" altLang="zh-CN" sz="2000" dirty="0">
                <a:solidFill>
                  <a:schemeClr val="bg1"/>
                </a:solidFill>
                <a:latin typeface="微软雅黑" pitchFamily="34" charset="-122"/>
                <a:ea typeface="微软雅黑" pitchFamily="34" charset="-122"/>
              </a:rPr>
              <a:t>5.1.3                                         </a:t>
            </a:r>
            <a:r>
              <a:rPr lang="zh-CN" altLang="en-US" sz="2000" dirty="0">
                <a:solidFill>
                  <a:schemeClr val="bg1"/>
                </a:solidFill>
                <a:latin typeface="微软雅黑" pitchFamily="34" charset="-122"/>
                <a:ea typeface="微软雅黑" pitchFamily="34" charset="-122"/>
              </a:rPr>
              <a:t>运输层的端口</a:t>
            </a:r>
          </a:p>
        </p:txBody>
      </p:sp>
      <p:sp>
        <p:nvSpPr>
          <p:cNvPr id="16"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微软雅黑" pitchFamily="34" charset="-122"/>
                <a:ea typeface="微软雅黑" pitchFamily="34" charset="-122"/>
              </a:rPr>
              <a:t>5.1</a:t>
            </a:r>
          </a:p>
          <a:p>
            <a:pPr eaLnBrk="0" hangingPunct="0"/>
            <a:r>
              <a:rPr lang="zh-CN" altLang="en-US" sz="2000" dirty="0">
                <a:solidFill>
                  <a:schemeClr val="bg1"/>
                </a:solidFill>
                <a:latin typeface="微软雅黑" pitchFamily="34" charset="-122"/>
                <a:ea typeface="微软雅黑" pitchFamily="34" charset="-122"/>
              </a:rPr>
              <a:t>运输层协议</a:t>
            </a:r>
            <a:r>
              <a:rPr lang="zh-CN" altLang="fr-FR" sz="2000" dirty="0">
                <a:solidFill>
                  <a:schemeClr val="bg1"/>
                </a:solidFill>
                <a:latin typeface="微软雅黑" pitchFamily="34" charset="-122"/>
                <a:ea typeface="微软雅黑" pitchFamily="34" charset="-122"/>
              </a:rPr>
              <a:t>概述</a:t>
            </a:r>
          </a:p>
        </p:txBody>
      </p:sp>
    </p:spTree>
    <p:extLst>
      <p:ext uri="{BB962C8B-B14F-4D97-AF65-F5344CB8AC3E}">
        <p14:creationId xmlns:p14="http://schemas.microsoft.com/office/powerpoint/2010/main" val="512193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755595" y="3281081"/>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物理层</a:t>
            </a:r>
          </a:p>
        </p:txBody>
      </p:sp>
      <p:sp>
        <p:nvSpPr>
          <p:cNvPr id="51" name="矩形 50"/>
          <p:cNvSpPr/>
          <p:nvPr/>
        </p:nvSpPr>
        <p:spPr>
          <a:xfrm>
            <a:off x="2755595" y="2895599"/>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数据链路层</a:t>
            </a:r>
          </a:p>
        </p:txBody>
      </p:sp>
      <p:sp>
        <p:nvSpPr>
          <p:cNvPr id="52" name="矩形 51"/>
          <p:cNvSpPr/>
          <p:nvPr/>
        </p:nvSpPr>
        <p:spPr>
          <a:xfrm>
            <a:off x="2755595" y="2510117"/>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网络层</a:t>
            </a:r>
          </a:p>
        </p:txBody>
      </p:sp>
      <p:sp>
        <p:nvSpPr>
          <p:cNvPr id="53" name="矩形 52"/>
          <p:cNvSpPr/>
          <p:nvPr/>
        </p:nvSpPr>
        <p:spPr>
          <a:xfrm>
            <a:off x="2755595" y="2124631"/>
            <a:ext cx="1759189" cy="388520"/>
          </a:xfrm>
          <a:prstGeom prst="rect">
            <a:avLst/>
          </a:prstGeom>
          <a:solidFill>
            <a:srgbClr val="7F131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latin typeface="微软雅黑" panose="020B0503020204020204" pitchFamily="34" charset="-122"/>
                <a:ea typeface="微软雅黑" panose="020B0503020204020204" pitchFamily="34" charset="-122"/>
              </a:rPr>
              <a:t>运输层</a:t>
            </a:r>
          </a:p>
        </p:txBody>
      </p:sp>
      <p:sp>
        <p:nvSpPr>
          <p:cNvPr id="54" name="矩形 53"/>
          <p:cNvSpPr/>
          <p:nvPr/>
        </p:nvSpPr>
        <p:spPr>
          <a:xfrm>
            <a:off x="2755595" y="1435936"/>
            <a:ext cx="1759189" cy="69297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应用层</a:t>
            </a:r>
          </a:p>
        </p:txBody>
      </p:sp>
      <p:grpSp>
        <p:nvGrpSpPr>
          <p:cNvPr id="66" name="组合 65"/>
          <p:cNvGrpSpPr/>
          <p:nvPr/>
        </p:nvGrpSpPr>
        <p:grpSpPr>
          <a:xfrm>
            <a:off x="4620254" y="1435936"/>
            <a:ext cx="1585428" cy="1074181"/>
            <a:chOff x="4620254" y="1435936"/>
            <a:chExt cx="1585428" cy="1074181"/>
          </a:xfrm>
        </p:grpSpPr>
        <p:sp>
          <p:nvSpPr>
            <p:cNvPr id="3" name="右大括号 2"/>
            <p:cNvSpPr/>
            <p:nvPr/>
          </p:nvSpPr>
          <p:spPr>
            <a:xfrm>
              <a:off x="4620254" y="1435936"/>
              <a:ext cx="224118" cy="1074181"/>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4831976" y="1619083"/>
              <a:ext cx="1373706" cy="707886"/>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用户功能中的最低层</a:t>
              </a:r>
            </a:p>
          </p:txBody>
        </p:sp>
      </p:grpSp>
      <p:grpSp>
        <p:nvGrpSpPr>
          <p:cNvPr id="67" name="组合 66"/>
          <p:cNvGrpSpPr/>
          <p:nvPr/>
        </p:nvGrpSpPr>
        <p:grpSpPr>
          <a:xfrm>
            <a:off x="1028175" y="2124631"/>
            <a:ext cx="1650166" cy="1459667"/>
            <a:chOff x="1028175" y="2124631"/>
            <a:chExt cx="1650166" cy="1459667"/>
          </a:xfrm>
        </p:grpSpPr>
        <p:sp>
          <p:nvSpPr>
            <p:cNvPr id="55" name="右大括号 54"/>
            <p:cNvSpPr/>
            <p:nvPr/>
          </p:nvSpPr>
          <p:spPr>
            <a:xfrm flipH="1">
              <a:off x="2454223" y="2124631"/>
              <a:ext cx="224118" cy="1459667"/>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6" name="矩形 55"/>
            <p:cNvSpPr/>
            <p:nvPr/>
          </p:nvSpPr>
          <p:spPr>
            <a:xfrm>
              <a:off x="1028175" y="2510117"/>
              <a:ext cx="1426048" cy="707886"/>
            </a:xfrm>
            <a:prstGeom prst="rect">
              <a:avLst/>
            </a:prstGeom>
          </p:spPr>
          <p:txBody>
            <a:bodyPr wrap="square">
              <a:spAutoFit/>
            </a:bodyPr>
            <a:lstStyle/>
            <a:p>
              <a:pPr algn="r">
                <a:lnSpc>
                  <a:spcPts val="2400"/>
                </a:lnSpc>
              </a:pPr>
              <a:r>
                <a:rPr lang="zh-CN" altLang="en-US" sz="1600" b="1" dirty="0">
                  <a:latin typeface="微软雅黑" panose="020B0503020204020204" pitchFamily="34" charset="-122"/>
                  <a:ea typeface="微软雅黑" panose="020B0503020204020204" pitchFamily="34" charset="-122"/>
                </a:rPr>
                <a:t>面向通信部分的最高层</a:t>
              </a:r>
            </a:p>
          </p:txBody>
        </p:sp>
      </p:grpSp>
      <p:grpSp>
        <p:nvGrpSpPr>
          <p:cNvPr id="68" name="组合 67"/>
          <p:cNvGrpSpPr/>
          <p:nvPr/>
        </p:nvGrpSpPr>
        <p:grpSpPr>
          <a:xfrm>
            <a:off x="6201470" y="2505002"/>
            <a:ext cx="1068912" cy="1220847"/>
            <a:chOff x="4620254" y="1421856"/>
            <a:chExt cx="1068912" cy="1220847"/>
          </a:xfrm>
        </p:grpSpPr>
        <p:sp>
          <p:nvSpPr>
            <p:cNvPr id="69" name="右大括号 68"/>
            <p:cNvSpPr/>
            <p:nvPr/>
          </p:nvSpPr>
          <p:spPr>
            <a:xfrm>
              <a:off x="4620254" y="1435936"/>
              <a:ext cx="224118" cy="1150519"/>
            </a:xfrm>
            <a:prstGeom prst="rightBrace">
              <a:avLst>
                <a:gd name="adj1" fmla="val 20333"/>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0" name="矩形 69"/>
            <p:cNvSpPr/>
            <p:nvPr/>
          </p:nvSpPr>
          <p:spPr>
            <a:xfrm>
              <a:off x="4742326" y="1421856"/>
              <a:ext cx="946840" cy="1220847"/>
            </a:xfrm>
            <a:prstGeom prst="rect">
              <a:avLst/>
            </a:prstGeom>
          </p:spPr>
          <p:txBody>
            <a:bodyPr wrap="square">
              <a:spAutoFit/>
            </a:bodyPr>
            <a:lstStyle/>
            <a:p>
              <a:pPr algn="ctr">
                <a:lnSpc>
                  <a:spcPts val="2200"/>
                </a:lnSpc>
              </a:pPr>
              <a:r>
                <a:rPr lang="zh-CN" altLang="en-US" sz="1400" b="1" dirty="0">
                  <a:solidFill>
                    <a:srgbClr val="000099"/>
                  </a:solidFill>
                  <a:latin typeface="微软雅黑" panose="020B0503020204020204" pitchFamily="34" charset="-122"/>
                  <a:ea typeface="微软雅黑" panose="020B0503020204020204" pitchFamily="34" charset="-122"/>
                </a:rPr>
                <a:t>网络核心中的路由器实现和使用</a:t>
              </a:r>
            </a:p>
          </p:txBody>
        </p:sp>
      </p:grpSp>
      <p:grpSp>
        <p:nvGrpSpPr>
          <p:cNvPr id="71" name="组合 70"/>
          <p:cNvGrpSpPr/>
          <p:nvPr/>
        </p:nvGrpSpPr>
        <p:grpSpPr>
          <a:xfrm>
            <a:off x="7214473" y="1435936"/>
            <a:ext cx="1085794" cy="2294177"/>
            <a:chOff x="4620254" y="292278"/>
            <a:chExt cx="1085794" cy="2294177"/>
          </a:xfrm>
        </p:grpSpPr>
        <p:sp>
          <p:nvSpPr>
            <p:cNvPr id="72" name="右大括号 71"/>
            <p:cNvSpPr/>
            <p:nvPr/>
          </p:nvSpPr>
          <p:spPr>
            <a:xfrm>
              <a:off x="4620254" y="292278"/>
              <a:ext cx="224118" cy="2294177"/>
            </a:xfrm>
            <a:prstGeom prst="rightBrace">
              <a:avLst>
                <a:gd name="adj1" fmla="val 20333"/>
                <a:gd name="adj2" fmla="val 50000"/>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3" name="矩形 72"/>
            <p:cNvSpPr/>
            <p:nvPr/>
          </p:nvSpPr>
          <p:spPr>
            <a:xfrm>
              <a:off x="4759208" y="851770"/>
              <a:ext cx="946840" cy="1220847"/>
            </a:xfrm>
            <a:prstGeom prst="rect">
              <a:avLst/>
            </a:prstGeom>
            <a:ln>
              <a:noFill/>
            </a:ln>
          </p:spPr>
          <p:txBody>
            <a:bodyPr wrap="square">
              <a:spAutoFit/>
            </a:bodyPr>
            <a:lstStyle/>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边缘部分中的主机</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实现和使用</a:t>
              </a:r>
            </a:p>
          </p:txBody>
        </p:sp>
      </p:grpSp>
      <p:sp>
        <p:nvSpPr>
          <p:cNvPr id="8" name="内容占位符 7">
            <a:extLst>
              <a:ext uri="{FF2B5EF4-FFF2-40B4-BE49-F238E27FC236}">
                <a16:creationId xmlns:a16="http://schemas.microsoft.com/office/drawing/2014/main" id="{AF1F4A1A-8E80-FFA6-4C1D-5E900FFA08A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17C5D52-E985-78C9-69F1-8966004ECCEC}"/>
              </a:ext>
            </a:extLst>
          </p:cNvPr>
          <p:cNvSpPr>
            <a:spLocks noGrp="1"/>
          </p:cNvSpPr>
          <p:nvPr>
            <p:ph type="title"/>
          </p:nvPr>
        </p:nvSpPr>
        <p:spPr>
          <a:xfrm>
            <a:off x="486000" y="550723"/>
            <a:ext cx="8172000" cy="338554"/>
          </a:xfrm>
          <a:prstGeom prst="rect">
            <a:avLst/>
          </a:prstGeom>
        </p:spPr>
        <p:txBody>
          <a:bodyPr/>
          <a:lstStyle/>
          <a:p>
            <a:r>
              <a:rPr lang="en-US" altLang="zh-CN" dirty="0"/>
              <a:t>5.1.1   </a:t>
            </a:r>
            <a:r>
              <a:rPr lang="zh-CN" altLang="en-US" dirty="0"/>
              <a:t>进程之间的通信</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10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down)">
                                      <p:cBhvr>
                                        <p:cTn id="12" dur="10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10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71"/>
                                        </p:tgtEl>
                                        <p:attrNameLst>
                                          <p:attrName>style.visibility</p:attrName>
                                        </p:attrNameLst>
                                      </p:cBhvr>
                                      <p:to>
                                        <p:strVal val="visible"/>
                                      </p:to>
                                    </p:set>
                                    <p:animEffect transition="in" filter="wipe(up)">
                                      <p:cBhvr>
                                        <p:cTn id="22" dur="10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angle 174"/>
          <p:cNvSpPr>
            <a:spLocks noChangeArrowheads="1"/>
          </p:cNvSpPr>
          <p:nvPr/>
        </p:nvSpPr>
        <p:spPr bwMode="auto">
          <a:xfrm>
            <a:off x="1518204" y="189785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1" name="Rectangle 2"/>
          <p:cNvSpPr>
            <a:spLocks noChangeArrowheads="1"/>
          </p:cNvSpPr>
          <p:nvPr/>
        </p:nvSpPr>
        <p:spPr bwMode="auto">
          <a:xfrm>
            <a:off x="1523156" y="132403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2" name="Line 53"/>
          <p:cNvSpPr>
            <a:spLocks noChangeShapeType="1"/>
          </p:cNvSpPr>
          <p:nvPr/>
        </p:nvSpPr>
        <p:spPr bwMode="auto">
          <a:xfrm>
            <a:off x="2513514" y="3347967"/>
            <a:ext cx="3978765" cy="0"/>
          </a:xfrm>
          <a:prstGeom prst="line">
            <a:avLst/>
          </a:prstGeom>
          <a:noFill/>
          <a:ln w="571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3" name="Line 7"/>
          <p:cNvSpPr>
            <a:spLocks noChangeShapeType="1"/>
          </p:cNvSpPr>
          <p:nvPr/>
        </p:nvSpPr>
        <p:spPr bwMode="auto">
          <a:xfrm>
            <a:off x="1523156" y="214498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4" name="Line 8"/>
          <p:cNvSpPr>
            <a:spLocks noChangeShapeType="1"/>
          </p:cNvSpPr>
          <p:nvPr/>
        </p:nvSpPr>
        <p:spPr bwMode="auto">
          <a:xfrm>
            <a:off x="1523156" y="239304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5" name="Rectangle 9"/>
          <p:cNvSpPr>
            <a:spLocks noChangeArrowheads="1"/>
          </p:cNvSpPr>
          <p:nvPr/>
        </p:nvSpPr>
        <p:spPr bwMode="auto">
          <a:xfrm>
            <a:off x="1528108" y="166664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6" name="Rectangle 10"/>
          <p:cNvSpPr>
            <a:spLocks noChangeArrowheads="1"/>
          </p:cNvSpPr>
          <p:nvPr/>
        </p:nvSpPr>
        <p:spPr bwMode="auto">
          <a:xfrm>
            <a:off x="1490519"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10" name="Group 15"/>
          <p:cNvGrpSpPr>
            <a:grpSpLocks/>
          </p:cNvGrpSpPr>
          <p:nvPr/>
        </p:nvGrpSpPr>
        <p:grpSpPr bwMode="auto">
          <a:xfrm>
            <a:off x="3388744" y="1903472"/>
            <a:ext cx="729151" cy="734827"/>
            <a:chOff x="2017" y="1543"/>
            <a:chExt cx="619" cy="922"/>
          </a:xfrm>
        </p:grpSpPr>
        <p:sp>
          <p:nvSpPr>
            <p:cNvPr id="11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14" name="Rectangle 16"/>
          <p:cNvSpPr>
            <a:spLocks noChangeArrowheads="1"/>
          </p:cNvSpPr>
          <p:nvPr/>
        </p:nvSpPr>
        <p:spPr bwMode="auto">
          <a:xfrm>
            <a:off x="6505897" y="132403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5" name="Line 21"/>
          <p:cNvSpPr>
            <a:spLocks noChangeShapeType="1"/>
          </p:cNvSpPr>
          <p:nvPr/>
        </p:nvSpPr>
        <p:spPr bwMode="auto">
          <a:xfrm>
            <a:off x="6505897" y="214498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6" name="Line 22"/>
          <p:cNvSpPr>
            <a:spLocks noChangeShapeType="1"/>
          </p:cNvSpPr>
          <p:nvPr/>
        </p:nvSpPr>
        <p:spPr bwMode="auto">
          <a:xfrm>
            <a:off x="6505897" y="239304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7" name="Rectangle 23"/>
          <p:cNvSpPr>
            <a:spLocks noChangeArrowheads="1"/>
          </p:cNvSpPr>
          <p:nvPr/>
        </p:nvSpPr>
        <p:spPr bwMode="auto">
          <a:xfrm>
            <a:off x="6508373" y="166664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18" name="Group 29"/>
          <p:cNvGrpSpPr>
            <a:grpSpLocks/>
          </p:cNvGrpSpPr>
          <p:nvPr/>
        </p:nvGrpSpPr>
        <p:grpSpPr bwMode="auto">
          <a:xfrm>
            <a:off x="4896565" y="1903472"/>
            <a:ext cx="729151" cy="734827"/>
            <a:chOff x="3295" y="1543"/>
            <a:chExt cx="619" cy="922"/>
          </a:xfrm>
        </p:grpSpPr>
        <p:sp>
          <p:nvSpPr>
            <p:cNvPr id="119"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0"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1"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22" name="Rectangle 31"/>
          <p:cNvSpPr>
            <a:spLocks noChangeArrowheads="1"/>
          </p:cNvSpPr>
          <p:nvPr/>
        </p:nvSpPr>
        <p:spPr bwMode="auto">
          <a:xfrm>
            <a:off x="3242326" y="149919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123" name="Rectangle 33"/>
          <p:cNvSpPr>
            <a:spLocks noChangeArrowheads="1"/>
          </p:cNvSpPr>
          <p:nvPr/>
        </p:nvSpPr>
        <p:spPr bwMode="auto">
          <a:xfrm>
            <a:off x="1523156"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24" name="Freeform 54"/>
          <p:cNvSpPr>
            <a:spLocks/>
          </p:cNvSpPr>
          <p:nvPr/>
        </p:nvSpPr>
        <p:spPr bwMode="auto">
          <a:xfrm>
            <a:off x="2070329"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5" name="Freeform 55"/>
          <p:cNvSpPr>
            <a:spLocks/>
          </p:cNvSpPr>
          <p:nvPr/>
        </p:nvSpPr>
        <p:spPr bwMode="auto">
          <a:xfrm>
            <a:off x="2028239"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6" name="Rectangle 82"/>
          <p:cNvSpPr>
            <a:spLocks noChangeArrowheads="1"/>
          </p:cNvSpPr>
          <p:nvPr/>
        </p:nvSpPr>
        <p:spPr bwMode="auto">
          <a:xfrm>
            <a:off x="1681612" y="2864695"/>
            <a:ext cx="81661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A</a:t>
            </a:r>
          </a:p>
        </p:txBody>
      </p:sp>
      <p:sp>
        <p:nvSpPr>
          <p:cNvPr id="127" name="Rectangle 83"/>
          <p:cNvSpPr>
            <a:spLocks noChangeArrowheads="1"/>
          </p:cNvSpPr>
          <p:nvPr/>
        </p:nvSpPr>
        <p:spPr bwMode="auto">
          <a:xfrm>
            <a:off x="6660640" y="2864695"/>
            <a:ext cx="8045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B</a:t>
            </a:r>
          </a:p>
        </p:txBody>
      </p:sp>
      <p:sp>
        <p:nvSpPr>
          <p:cNvPr id="129" name="Rectangle 98"/>
          <p:cNvSpPr>
            <a:spLocks noChangeArrowheads="1"/>
          </p:cNvSpPr>
          <p:nvPr/>
        </p:nvSpPr>
        <p:spPr bwMode="auto">
          <a:xfrm>
            <a:off x="2650927"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130" name="Freeform 100"/>
          <p:cNvSpPr>
            <a:spLocks/>
          </p:cNvSpPr>
          <p:nvPr/>
        </p:nvSpPr>
        <p:spPr bwMode="auto">
          <a:xfrm>
            <a:off x="6218693" y="139798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31" name="Rectangle 101"/>
          <p:cNvSpPr>
            <a:spLocks noChangeArrowheads="1"/>
          </p:cNvSpPr>
          <p:nvPr/>
        </p:nvSpPr>
        <p:spPr bwMode="auto">
          <a:xfrm>
            <a:off x="5474686"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132" name="AutoShape 102"/>
          <p:cNvSpPr>
            <a:spLocks noChangeArrowheads="1"/>
          </p:cNvSpPr>
          <p:nvPr/>
        </p:nvSpPr>
        <p:spPr bwMode="auto">
          <a:xfrm>
            <a:off x="2533322" y="171625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33" name="Rectangle 76"/>
          <p:cNvSpPr>
            <a:spLocks noChangeArrowheads="1"/>
          </p:cNvSpPr>
          <p:nvPr/>
        </p:nvSpPr>
        <p:spPr bwMode="auto">
          <a:xfrm>
            <a:off x="3381058"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1</a:t>
            </a:r>
          </a:p>
        </p:txBody>
      </p:sp>
      <p:pic>
        <p:nvPicPr>
          <p:cNvPr id="134" name="Picture 10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79114"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5" name="Rectangle 103"/>
          <p:cNvSpPr>
            <a:spLocks noChangeArrowheads="1"/>
          </p:cNvSpPr>
          <p:nvPr/>
        </p:nvSpPr>
        <p:spPr bwMode="auto">
          <a:xfrm>
            <a:off x="4897544"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2</a:t>
            </a:r>
          </a:p>
        </p:txBody>
      </p:sp>
      <p:sp>
        <p:nvSpPr>
          <p:cNvPr id="136" name="Oval 113"/>
          <p:cNvSpPr>
            <a:spLocks noChangeArrowheads="1"/>
          </p:cNvSpPr>
          <p:nvPr/>
        </p:nvSpPr>
        <p:spPr bwMode="auto">
          <a:xfrm>
            <a:off x="1697707" y="3162622"/>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14"/>
          <p:cNvSpPr>
            <a:spLocks noChangeArrowheads="1"/>
          </p:cNvSpPr>
          <p:nvPr/>
        </p:nvSpPr>
        <p:spPr bwMode="auto">
          <a:xfrm>
            <a:off x="1728655"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138" name="Oval 138"/>
          <p:cNvSpPr>
            <a:spLocks noChangeArrowheads="1"/>
          </p:cNvSpPr>
          <p:nvPr/>
        </p:nvSpPr>
        <p:spPr bwMode="auto">
          <a:xfrm>
            <a:off x="6984983" y="135960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157"/>
          <p:cNvSpPr>
            <a:spLocks noChangeShapeType="1"/>
          </p:cNvSpPr>
          <p:nvPr/>
        </p:nvSpPr>
        <p:spPr bwMode="auto">
          <a:xfrm rot="5400000">
            <a:off x="3501724" y="239070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158"/>
          <p:cNvSpPr>
            <a:spLocks noChangeShapeType="1"/>
          </p:cNvSpPr>
          <p:nvPr/>
        </p:nvSpPr>
        <p:spPr bwMode="auto">
          <a:xfrm rot="5400000">
            <a:off x="5007507" y="238930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5" name="Oval 162"/>
          <p:cNvSpPr>
            <a:spLocks noChangeArrowheads="1"/>
          </p:cNvSpPr>
          <p:nvPr/>
        </p:nvSpPr>
        <p:spPr bwMode="auto">
          <a:xfrm>
            <a:off x="2466472"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6" name="Oval 34"/>
          <p:cNvSpPr>
            <a:spLocks noChangeArrowheads="1"/>
          </p:cNvSpPr>
          <p:nvPr/>
        </p:nvSpPr>
        <p:spPr bwMode="auto">
          <a:xfrm>
            <a:off x="1687803" y="3380479"/>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7" name="Rectangle 35"/>
          <p:cNvSpPr>
            <a:spLocks noChangeArrowheads="1"/>
          </p:cNvSpPr>
          <p:nvPr/>
        </p:nvSpPr>
        <p:spPr bwMode="auto">
          <a:xfrm>
            <a:off x="1700183" y="3333948"/>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8" name="Rectangle 163"/>
          <p:cNvSpPr>
            <a:spLocks noChangeArrowheads="1"/>
          </p:cNvSpPr>
          <p:nvPr/>
        </p:nvSpPr>
        <p:spPr bwMode="auto">
          <a:xfrm flipH="1">
            <a:off x="6502183"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49" name="Freeform 164"/>
          <p:cNvSpPr>
            <a:spLocks/>
          </p:cNvSpPr>
          <p:nvPr/>
        </p:nvSpPr>
        <p:spPr bwMode="auto">
          <a:xfrm flipH="1">
            <a:off x="6502183"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0" name="Freeform 165"/>
          <p:cNvSpPr>
            <a:spLocks/>
          </p:cNvSpPr>
          <p:nvPr/>
        </p:nvSpPr>
        <p:spPr bwMode="auto">
          <a:xfrm flipH="1">
            <a:off x="6502183"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1" name="Oval 167"/>
          <p:cNvSpPr>
            <a:spLocks noChangeArrowheads="1"/>
          </p:cNvSpPr>
          <p:nvPr/>
        </p:nvSpPr>
        <p:spPr bwMode="auto">
          <a:xfrm flipH="1">
            <a:off x="6816622" y="3162622"/>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2" name="Rectangle 168"/>
          <p:cNvSpPr>
            <a:spLocks noChangeArrowheads="1"/>
          </p:cNvSpPr>
          <p:nvPr/>
        </p:nvSpPr>
        <p:spPr bwMode="auto">
          <a:xfrm flipH="1">
            <a:off x="6822814"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53" name="Oval 169"/>
          <p:cNvSpPr>
            <a:spLocks noChangeArrowheads="1"/>
          </p:cNvSpPr>
          <p:nvPr/>
        </p:nvSpPr>
        <p:spPr bwMode="auto">
          <a:xfrm flipH="1">
            <a:off x="6445238"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4" name="Oval 171"/>
          <p:cNvSpPr>
            <a:spLocks noChangeArrowheads="1"/>
          </p:cNvSpPr>
          <p:nvPr/>
        </p:nvSpPr>
        <p:spPr bwMode="auto">
          <a:xfrm flipH="1">
            <a:off x="6806718" y="3389444"/>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5" name="Rectangle 172"/>
          <p:cNvSpPr>
            <a:spLocks noChangeArrowheads="1"/>
          </p:cNvSpPr>
          <p:nvPr/>
        </p:nvSpPr>
        <p:spPr bwMode="auto">
          <a:xfrm flipH="1">
            <a:off x="6822814" y="331454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56" name="Rectangle 175"/>
          <p:cNvSpPr>
            <a:spLocks noChangeArrowheads="1"/>
          </p:cNvSpPr>
          <p:nvPr/>
        </p:nvSpPr>
        <p:spPr bwMode="auto">
          <a:xfrm>
            <a:off x="4266449" y="192032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159" name="Freeform 99"/>
          <p:cNvSpPr>
            <a:spLocks/>
          </p:cNvSpPr>
          <p:nvPr/>
        </p:nvSpPr>
        <p:spPr bwMode="auto">
          <a:xfrm>
            <a:off x="2461521" y="140547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60" name="Oval 131"/>
          <p:cNvSpPr>
            <a:spLocks noChangeArrowheads="1"/>
          </p:cNvSpPr>
          <p:nvPr/>
        </p:nvSpPr>
        <p:spPr bwMode="auto">
          <a:xfrm>
            <a:off x="1576388" y="135586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Rectangle 132"/>
          <p:cNvSpPr>
            <a:spLocks noChangeArrowheads="1"/>
          </p:cNvSpPr>
          <p:nvPr/>
        </p:nvSpPr>
        <p:spPr bwMode="auto">
          <a:xfrm>
            <a:off x="1608575" y="130184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162" name="Group 197"/>
          <p:cNvGrpSpPr>
            <a:grpSpLocks/>
          </p:cNvGrpSpPr>
          <p:nvPr/>
        </p:nvGrpSpPr>
        <p:grpSpPr bwMode="auto">
          <a:xfrm>
            <a:off x="2045571" y="1370790"/>
            <a:ext cx="481751" cy="274572"/>
            <a:chOff x="798" y="803"/>
            <a:chExt cx="408" cy="345"/>
          </a:xfrm>
          <a:solidFill>
            <a:schemeClr val="accent6">
              <a:lumMod val="75000"/>
            </a:schemeClr>
          </a:solidFill>
        </p:grpSpPr>
        <p:sp>
          <p:nvSpPr>
            <p:cNvPr id="163"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4"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165" name="Rectangle 139"/>
          <p:cNvSpPr>
            <a:spLocks noChangeArrowheads="1"/>
          </p:cNvSpPr>
          <p:nvPr/>
        </p:nvSpPr>
        <p:spPr bwMode="auto">
          <a:xfrm>
            <a:off x="7003552" y="132150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66" name="Oval 135"/>
          <p:cNvSpPr>
            <a:spLocks noChangeArrowheads="1"/>
          </p:cNvSpPr>
          <p:nvPr/>
        </p:nvSpPr>
        <p:spPr bwMode="auto">
          <a:xfrm>
            <a:off x="6555415" y="142700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7" name="Rectangle 136"/>
          <p:cNvSpPr>
            <a:spLocks noChangeArrowheads="1"/>
          </p:cNvSpPr>
          <p:nvPr/>
        </p:nvSpPr>
        <p:spPr bwMode="auto">
          <a:xfrm>
            <a:off x="6572747" y="138234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69" name="Line 233"/>
          <p:cNvSpPr>
            <a:spLocks noChangeShapeType="1"/>
          </p:cNvSpPr>
          <p:nvPr/>
        </p:nvSpPr>
        <p:spPr bwMode="auto">
          <a:xfrm>
            <a:off x="2537036" y="3756101"/>
            <a:ext cx="3962671" cy="0"/>
          </a:xfrm>
          <a:prstGeom prst="line">
            <a:avLst/>
          </a:prstGeom>
          <a:noFill/>
          <a:ln w="19050">
            <a:solidFill>
              <a:srgbClr val="000099"/>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0" name="Line 234"/>
          <p:cNvSpPr>
            <a:spLocks noChangeShapeType="1"/>
          </p:cNvSpPr>
          <p:nvPr/>
        </p:nvSpPr>
        <p:spPr bwMode="auto">
          <a:xfrm>
            <a:off x="2537036"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1" name="Line 235"/>
          <p:cNvSpPr>
            <a:spLocks noChangeShapeType="1"/>
          </p:cNvSpPr>
          <p:nvPr/>
        </p:nvSpPr>
        <p:spPr bwMode="auto">
          <a:xfrm>
            <a:off x="6502183"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2" name="Rectangle 236"/>
          <p:cNvSpPr>
            <a:spLocks noChangeArrowheads="1"/>
          </p:cNvSpPr>
          <p:nvPr/>
        </p:nvSpPr>
        <p:spPr bwMode="auto">
          <a:xfrm>
            <a:off x="3208004" y="3650323"/>
            <a:ext cx="2491068"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网络层为主机之间的通信提供服务</a:t>
            </a:r>
          </a:p>
        </p:txBody>
      </p:sp>
      <p:sp>
        <p:nvSpPr>
          <p:cNvPr id="173" name="Line 237"/>
          <p:cNvSpPr>
            <a:spLocks noChangeShapeType="1"/>
          </p:cNvSpPr>
          <p:nvPr/>
        </p:nvSpPr>
        <p:spPr bwMode="auto">
          <a:xfrm flipH="1">
            <a:off x="2282019" y="3455617"/>
            <a:ext cx="3713" cy="68615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4" name="Line 238"/>
          <p:cNvSpPr>
            <a:spLocks noChangeShapeType="1"/>
          </p:cNvSpPr>
          <p:nvPr/>
        </p:nvSpPr>
        <p:spPr bwMode="auto">
          <a:xfrm flipH="1">
            <a:off x="6689114" y="3449064"/>
            <a:ext cx="0" cy="651516"/>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5" name="Line 239"/>
          <p:cNvSpPr>
            <a:spLocks noChangeShapeType="1"/>
          </p:cNvSpPr>
          <p:nvPr/>
        </p:nvSpPr>
        <p:spPr bwMode="auto">
          <a:xfrm flipV="1">
            <a:off x="2296874" y="4023821"/>
            <a:ext cx="4395953" cy="2808"/>
          </a:xfrm>
          <a:prstGeom prst="line">
            <a:avLst/>
          </a:prstGeom>
          <a:noFill/>
          <a:ln w="19050">
            <a:solidFill>
              <a:srgbClr val="9900FF"/>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6" name="Rectangle 240"/>
          <p:cNvSpPr>
            <a:spLocks noChangeArrowheads="1"/>
          </p:cNvSpPr>
          <p:nvPr/>
        </p:nvSpPr>
        <p:spPr bwMode="auto">
          <a:xfrm>
            <a:off x="3039643" y="3940509"/>
            <a:ext cx="2952732"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运输层为应用层进程之间的通信提供服务</a:t>
            </a:r>
          </a:p>
        </p:txBody>
      </p:sp>
      <p:pic>
        <p:nvPicPr>
          <p:cNvPr id="177" name="Picture 2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24073"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8" name="Rectangle 244"/>
          <p:cNvSpPr>
            <a:spLocks noChangeArrowheads="1"/>
          </p:cNvSpPr>
          <p:nvPr/>
        </p:nvSpPr>
        <p:spPr bwMode="auto">
          <a:xfrm>
            <a:off x="1354795" y="107006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179" name="Rectangle 245"/>
          <p:cNvSpPr>
            <a:spLocks noChangeArrowheads="1"/>
          </p:cNvSpPr>
          <p:nvPr/>
        </p:nvSpPr>
        <p:spPr bwMode="auto">
          <a:xfrm>
            <a:off x="6358581" y="107006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190" name="椭圆 85"/>
          <p:cNvSpPr>
            <a:spLocks noChangeArrowheads="1"/>
          </p:cNvSpPr>
          <p:nvPr/>
        </p:nvSpPr>
        <p:spPr bwMode="auto">
          <a:xfrm>
            <a:off x="6661879" y="3400928"/>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1" name="椭圆 85"/>
          <p:cNvSpPr>
            <a:spLocks noChangeArrowheads="1"/>
          </p:cNvSpPr>
          <p:nvPr/>
        </p:nvSpPr>
        <p:spPr bwMode="auto">
          <a:xfrm>
            <a:off x="6660640" y="3264655"/>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2" name="椭圆 85"/>
          <p:cNvSpPr>
            <a:spLocks noChangeArrowheads="1"/>
          </p:cNvSpPr>
          <p:nvPr/>
        </p:nvSpPr>
        <p:spPr bwMode="auto">
          <a:xfrm>
            <a:off x="2256021" y="3396644"/>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3" name="椭圆 85"/>
          <p:cNvSpPr>
            <a:spLocks noChangeArrowheads="1"/>
          </p:cNvSpPr>
          <p:nvPr/>
        </p:nvSpPr>
        <p:spPr bwMode="auto">
          <a:xfrm>
            <a:off x="2262211" y="3262783"/>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4" name="Group 44"/>
          <p:cNvGrpSpPr>
            <a:grpSpLocks/>
          </p:cNvGrpSpPr>
          <p:nvPr/>
        </p:nvGrpSpPr>
        <p:grpSpPr bwMode="auto">
          <a:xfrm>
            <a:off x="26806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195" name="Group 45"/>
            <p:cNvGrpSpPr>
              <a:grpSpLocks/>
            </p:cNvGrpSpPr>
            <p:nvPr/>
          </p:nvGrpSpPr>
          <p:grpSpPr bwMode="auto">
            <a:xfrm>
              <a:off x="1787" y="2783"/>
              <a:ext cx="1813" cy="721"/>
              <a:chOff x="1787" y="2783"/>
              <a:chExt cx="1813" cy="721"/>
            </a:xfrm>
            <a:grpFill/>
          </p:grpSpPr>
          <p:sp>
            <p:nvSpPr>
              <p:cNvPr id="20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9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14" name="Group 44"/>
          <p:cNvGrpSpPr>
            <a:grpSpLocks/>
          </p:cNvGrpSpPr>
          <p:nvPr/>
        </p:nvGrpSpPr>
        <p:grpSpPr bwMode="auto">
          <a:xfrm>
            <a:off x="41785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15" name="Group 45"/>
            <p:cNvGrpSpPr>
              <a:grpSpLocks/>
            </p:cNvGrpSpPr>
            <p:nvPr/>
          </p:nvGrpSpPr>
          <p:grpSpPr bwMode="auto">
            <a:xfrm>
              <a:off x="1787" y="2783"/>
              <a:ext cx="1813" cy="721"/>
              <a:chOff x="1787" y="2783"/>
              <a:chExt cx="1813" cy="721"/>
            </a:xfrm>
            <a:grpFill/>
          </p:grpSpPr>
          <p:sp>
            <p:nvSpPr>
              <p:cNvPr id="22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1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34" name="Group 44"/>
          <p:cNvGrpSpPr>
            <a:grpSpLocks/>
          </p:cNvGrpSpPr>
          <p:nvPr/>
        </p:nvGrpSpPr>
        <p:grpSpPr bwMode="auto">
          <a:xfrm>
            <a:off x="5666125"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35" name="Group 45"/>
            <p:cNvGrpSpPr>
              <a:grpSpLocks/>
            </p:cNvGrpSpPr>
            <p:nvPr/>
          </p:nvGrpSpPr>
          <p:grpSpPr bwMode="auto">
            <a:xfrm>
              <a:off x="1787" y="2783"/>
              <a:ext cx="1813" cy="721"/>
              <a:chOff x="1787" y="2783"/>
              <a:chExt cx="1813" cy="721"/>
            </a:xfrm>
            <a:grpFill/>
          </p:grpSpPr>
          <p:sp>
            <p:nvSpPr>
              <p:cNvPr id="24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3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42" name="Rectangle 159"/>
          <p:cNvSpPr>
            <a:spLocks noChangeArrowheads="1"/>
          </p:cNvSpPr>
          <p:nvPr/>
        </p:nvSpPr>
        <p:spPr bwMode="auto">
          <a:xfrm>
            <a:off x="5710875" y="320356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4" name="Rectangle 161"/>
          <p:cNvSpPr>
            <a:spLocks noChangeArrowheads="1"/>
          </p:cNvSpPr>
          <p:nvPr/>
        </p:nvSpPr>
        <p:spPr bwMode="auto">
          <a:xfrm>
            <a:off x="4212958" y="3209179"/>
            <a:ext cx="5872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WAN</a:t>
            </a:r>
          </a:p>
        </p:txBody>
      </p:sp>
      <p:sp>
        <p:nvSpPr>
          <p:cNvPr id="158" name="Rectangle 160"/>
          <p:cNvSpPr>
            <a:spLocks noChangeArrowheads="1"/>
          </p:cNvSpPr>
          <p:nvPr/>
        </p:nvSpPr>
        <p:spPr bwMode="auto">
          <a:xfrm>
            <a:off x="2732116" y="320999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254" name="Rectangle 10"/>
          <p:cNvSpPr>
            <a:spLocks noChangeArrowheads="1"/>
          </p:cNvSpPr>
          <p:nvPr/>
        </p:nvSpPr>
        <p:spPr bwMode="auto">
          <a:xfrm>
            <a:off x="7281090"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35" name="组合 34"/>
          <p:cNvGrpSpPr/>
          <p:nvPr/>
        </p:nvGrpSpPr>
        <p:grpSpPr>
          <a:xfrm>
            <a:off x="811003" y="1422817"/>
            <a:ext cx="1501964" cy="534806"/>
            <a:chOff x="811003" y="1423671"/>
            <a:chExt cx="1501964" cy="534806"/>
          </a:xfrm>
        </p:grpSpPr>
        <p:sp>
          <p:nvSpPr>
            <p:cNvPr id="5" name="椭圆 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5"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30" name="直接连接符 29"/>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256" name="组合 255"/>
          <p:cNvGrpSpPr/>
          <p:nvPr/>
        </p:nvGrpSpPr>
        <p:grpSpPr>
          <a:xfrm>
            <a:off x="6744719" y="1393409"/>
            <a:ext cx="1824734" cy="564324"/>
            <a:chOff x="-297165" y="1333193"/>
            <a:chExt cx="1824734" cy="564324"/>
          </a:xfrm>
        </p:grpSpPr>
        <p:sp>
          <p:nvSpPr>
            <p:cNvPr id="257" name="椭圆 256"/>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8" name="Rectangle 98"/>
            <p:cNvSpPr>
              <a:spLocks noChangeArrowheads="1"/>
            </p:cNvSpPr>
            <p:nvPr/>
          </p:nvSpPr>
          <p:spPr bwMode="auto">
            <a:xfrm>
              <a:off x="626680" y="1333193"/>
              <a:ext cx="900889" cy="5206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a:p>
              <a:r>
                <a:rPr lang="zh-CN" altLang="en-US" sz="1400" b="1" dirty="0">
                  <a:solidFill>
                    <a:srgbClr val="C00000"/>
                  </a:solidFill>
                  <a:latin typeface="微软雅黑" panose="020B0503020204020204" pitchFamily="34" charset="-122"/>
                  <a:ea typeface="微软雅黑" panose="020B0503020204020204" pitchFamily="34" charset="-122"/>
                </a:rPr>
                <a:t>差错检测</a:t>
              </a:r>
            </a:p>
          </p:txBody>
        </p:sp>
        <p:cxnSp>
          <p:nvCxnSpPr>
            <p:cNvPr id="259" name="直接连接符 258"/>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42" name="组合 41"/>
          <p:cNvGrpSpPr/>
          <p:nvPr/>
        </p:nvGrpSpPr>
        <p:grpSpPr>
          <a:xfrm>
            <a:off x="1814331" y="1510398"/>
            <a:ext cx="5408594" cy="1293671"/>
            <a:chOff x="1804171" y="1511252"/>
            <a:chExt cx="5408594" cy="1293671"/>
          </a:xfrm>
        </p:grpSpPr>
        <p:sp>
          <p:nvSpPr>
            <p:cNvPr id="182"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3"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4"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5"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6"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7"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8"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9"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0"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1"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6" name="内容占位符 5">
            <a:extLst>
              <a:ext uri="{FF2B5EF4-FFF2-40B4-BE49-F238E27FC236}">
                <a16:creationId xmlns:a16="http://schemas.microsoft.com/office/drawing/2014/main" id="{75E72351-2DD0-9977-21EF-7B92BBF4CC7F}"/>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FB466A8-7F77-4530-8771-4A5A058473E3}"/>
              </a:ext>
            </a:extLst>
          </p:cNvPr>
          <p:cNvSpPr>
            <a:spLocks noGrp="1"/>
          </p:cNvSpPr>
          <p:nvPr>
            <p:ph type="title"/>
          </p:nvPr>
        </p:nvSpPr>
        <p:spPr>
          <a:xfrm>
            <a:off x="486000" y="550723"/>
            <a:ext cx="8172000" cy="338554"/>
          </a:xfrm>
          <a:prstGeom prst="rect">
            <a:avLst/>
          </a:prstGeom>
        </p:spPr>
        <p:txBody>
          <a:bodyPr/>
          <a:lstStyle/>
          <a:p>
            <a:r>
              <a:rPr lang="zh-CN" altLang="en-US" dirty="0"/>
              <a:t>运输层的作用</a:t>
            </a:r>
          </a:p>
        </p:txBody>
      </p:sp>
    </p:spTree>
    <p:extLst>
      <p:ext uri="{BB962C8B-B14F-4D97-AF65-F5344CB8AC3E}">
        <p14:creationId xmlns:p14="http://schemas.microsoft.com/office/powerpoint/2010/main" val="5793089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6"/>
                                        </p:tgtEl>
                                        <p:attrNameLst>
                                          <p:attrName>style.visibility</p:attrName>
                                        </p:attrNameLst>
                                      </p:cBhvr>
                                      <p:to>
                                        <p:strVal val="visible"/>
                                      </p:to>
                                    </p:set>
                                    <p:animEffect transition="in" filter="fade">
                                      <p:cBhvr>
                                        <p:cTn id="15" dur="500"/>
                                        <p:tgtEl>
                                          <p:spTgt spid="256"/>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25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内容占位符 14">
            <a:extLst>
              <a:ext uri="{FF2B5EF4-FFF2-40B4-BE49-F238E27FC236}">
                <a16:creationId xmlns:a16="http://schemas.microsoft.com/office/drawing/2014/main" id="{B9FCC675-A9AB-DA58-BD89-65EC3C617D09}"/>
              </a:ext>
            </a:extLst>
          </p:cNvPr>
          <p:cNvSpPr>
            <a:spLocks noGrp="1"/>
          </p:cNvSpPr>
          <p:nvPr>
            <p:ph sz="quarter" idx="11"/>
          </p:nvPr>
        </p:nvSpPr>
        <p:spPr>
          <a:xfrm>
            <a:off x="486000" y="900000"/>
            <a:ext cx="8172000" cy="3703500"/>
          </a:xfrm>
        </p:spPr>
        <p:txBody>
          <a:bodyPr/>
          <a:lstStyle/>
          <a:p>
            <a:r>
              <a:rPr lang="zh-CN" altLang="en-US" dirty="0"/>
              <a:t>运输层向高层用户屏蔽了下面网络核心的细节（如网络拓扑、所采用的路由选择协议等）</a:t>
            </a:r>
            <a:endParaRPr lang="en-US" altLang="zh-CN" dirty="0"/>
          </a:p>
          <a:p>
            <a:r>
              <a:rPr lang="zh-CN" altLang="en-US" dirty="0"/>
              <a:t>使应用进程看见的就是好像在两个运输层实体之间有一条端到端的逻辑通信信道。</a:t>
            </a:r>
          </a:p>
          <a:p>
            <a:endParaRPr lang="zh-CN" altLang="en-US" dirty="0"/>
          </a:p>
          <a:p>
            <a:endParaRPr lang="zh-CN" altLang="en-US" dirty="0"/>
          </a:p>
        </p:txBody>
      </p:sp>
      <p:sp>
        <p:nvSpPr>
          <p:cNvPr id="2" name="标题 1">
            <a:extLst>
              <a:ext uri="{FF2B5EF4-FFF2-40B4-BE49-F238E27FC236}">
                <a16:creationId xmlns:a16="http://schemas.microsoft.com/office/drawing/2014/main" id="{B9DD5110-F45E-11A6-5474-ABD35472A6BC}"/>
              </a:ext>
            </a:extLst>
          </p:cNvPr>
          <p:cNvSpPr>
            <a:spLocks noGrp="1"/>
          </p:cNvSpPr>
          <p:nvPr>
            <p:ph type="title"/>
          </p:nvPr>
        </p:nvSpPr>
        <p:spPr>
          <a:xfrm>
            <a:off x="486000" y="550723"/>
            <a:ext cx="8172000" cy="338554"/>
          </a:xfrm>
          <a:prstGeom prst="rect">
            <a:avLst/>
          </a:prstGeom>
        </p:spPr>
        <p:txBody>
          <a:bodyPr/>
          <a:lstStyle/>
          <a:p>
            <a:r>
              <a:rPr lang="zh-CN" altLang="en-US" dirty="0"/>
              <a:t>屏蔽作用</a:t>
            </a:r>
          </a:p>
        </p:txBody>
      </p:sp>
      <p:graphicFrame>
        <p:nvGraphicFramePr>
          <p:cNvPr id="23" name="Object 4"/>
          <p:cNvGraphicFramePr>
            <a:graphicFrameLocks noChangeAspect="1"/>
          </p:cNvGraphicFramePr>
          <p:nvPr>
            <p:extLst>
              <p:ext uri="{D42A27DB-BD31-4B8C-83A1-F6EECF244321}">
                <p14:modId xmlns:p14="http://schemas.microsoft.com/office/powerpoint/2010/main" val="2291806294"/>
              </p:ext>
            </p:extLst>
          </p:nvPr>
        </p:nvGraphicFramePr>
        <p:xfrm>
          <a:off x="3088468" y="2777002"/>
          <a:ext cx="2873677" cy="133823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88468" y="2777002"/>
                        <a:ext cx="2873677" cy="133823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 name="Text Box 6"/>
          <p:cNvSpPr txBox="1">
            <a:spLocks noChangeArrowheads="1"/>
          </p:cNvSpPr>
          <p:nvPr/>
        </p:nvSpPr>
        <p:spPr bwMode="auto">
          <a:xfrm>
            <a:off x="4081577" y="3427155"/>
            <a:ext cx="800591" cy="338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latin typeface="微软雅黑" pitchFamily="34" charset="-122"/>
                <a:ea typeface="微软雅黑" pitchFamily="34" charset="-122"/>
              </a:rPr>
              <a:t>互联网</a:t>
            </a:r>
            <a:endParaRPr lang="en-US" altLang="zh-CN" sz="1600" dirty="0">
              <a:latin typeface="微软雅黑" pitchFamily="34" charset="-122"/>
              <a:ea typeface="微软雅黑" pitchFamily="34" charset="-122"/>
            </a:endParaRPr>
          </a:p>
        </p:txBody>
      </p:sp>
      <p:sp>
        <p:nvSpPr>
          <p:cNvPr id="25" name="Oval 8"/>
          <p:cNvSpPr>
            <a:spLocks noChangeArrowheads="1"/>
          </p:cNvSpPr>
          <p:nvPr/>
        </p:nvSpPr>
        <p:spPr bwMode="auto">
          <a:xfrm>
            <a:off x="2083620" y="2431338"/>
            <a:ext cx="1099933"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6" name="Oval 9"/>
          <p:cNvSpPr>
            <a:spLocks noChangeArrowheads="1"/>
          </p:cNvSpPr>
          <p:nvPr/>
        </p:nvSpPr>
        <p:spPr bwMode="auto">
          <a:xfrm>
            <a:off x="6112402" y="2453010"/>
            <a:ext cx="1079977"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7" name="Freeform 10"/>
          <p:cNvSpPr>
            <a:spLocks/>
          </p:cNvSpPr>
          <p:nvPr/>
        </p:nvSpPr>
        <p:spPr bwMode="auto">
          <a:xfrm>
            <a:off x="2967557" y="2881027"/>
            <a:ext cx="3217626" cy="536376"/>
          </a:xfrm>
          <a:custGeom>
            <a:avLst/>
            <a:gdLst>
              <a:gd name="T0" fmla="*/ 0 w 2928"/>
              <a:gd name="T1" fmla="*/ 48 h 429"/>
              <a:gd name="T2" fmla="*/ 748 w 2928"/>
              <a:gd name="T3" fmla="*/ 381 h 429"/>
              <a:gd name="T4" fmla="*/ 2208 w 2928"/>
              <a:gd name="T5" fmla="*/ 336 h 429"/>
              <a:gd name="T6" fmla="*/ 2928 w 2928"/>
              <a:gd name="T7" fmla="*/ 0 h 42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928" h="429">
                <a:moveTo>
                  <a:pt x="0" y="48"/>
                </a:moveTo>
                <a:cubicBezTo>
                  <a:pt x="125" y="103"/>
                  <a:pt x="380" y="333"/>
                  <a:pt x="748" y="381"/>
                </a:cubicBezTo>
                <a:cubicBezTo>
                  <a:pt x="1116" y="429"/>
                  <a:pt x="1845" y="399"/>
                  <a:pt x="2208" y="336"/>
                </a:cubicBezTo>
                <a:cubicBezTo>
                  <a:pt x="2571" y="273"/>
                  <a:pt x="2808" y="56"/>
                  <a:pt x="2928" y="0"/>
                </a:cubicBezTo>
              </a:path>
            </a:pathLst>
          </a:custGeom>
          <a:noFill/>
          <a:ln w="12700" cap="flat" cmpd="sng">
            <a:solidFill>
              <a:srgbClr val="0000FF"/>
            </a:solidFill>
            <a:prstDash val="solid"/>
            <a:miter lim="800000"/>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600">
              <a:solidFill>
                <a:srgbClr val="0000FF"/>
              </a:solidFill>
              <a:latin typeface="微软雅黑" pitchFamily="34" charset="-122"/>
              <a:ea typeface="微软雅黑" pitchFamily="34" charset="-122"/>
            </a:endParaRPr>
          </a:p>
        </p:txBody>
      </p:sp>
      <p:sp>
        <p:nvSpPr>
          <p:cNvPr id="28" name="Text Box 11"/>
          <p:cNvSpPr txBox="1">
            <a:spLocks noChangeArrowheads="1"/>
          </p:cNvSpPr>
          <p:nvPr/>
        </p:nvSpPr>
        <p:spPr bwMode="auto">
          <a:xfrm>
            <a:off x="3971308" y="3054401"/>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pitchFamily="34" charset="-122"/>
                <a:ea typeface="微软雅黑" pitchFamily="34" charset="-122"/>
              </a:rPr>
              <a:t>逻辑通信信道</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5"/>
          <p:cNvSpPr>
            <a:spLocks noChangeArrowheads="1"/>
          </p:cNvSpPr>
          <p:nvPr/>
        </p:nvSpPr>
        <p:spPr bwMode="auto">
          <a:xfrm>
            <a:off x="1417231"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8"/>
          <p:cNvSpPr>
            <a:spLocks noChangeShapeType="1"/>
          </p:cNvSpPr>
          <p:nvPr/>
        </p:nvSpPr>
        <p:spPr bwMode="auto">
          <a:xfrm>
            <a:off x="1426904" y="2471876"/>
            <a:ext cx="3143912"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Text Box 9"/>
          <p:cNvSpPr txBox="1">
            <a:spLocks noChangeArrowheads="1"/>
          </p:cNvSpPr>
          <p:nvPr/>
        </p:nvSpPr>
        <p:spPr bwMode="auto">
          <a:xfrm>
            <a:off x="1417231" y="1683996"/>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应</a:t>
            </a:r>
          </a:p>
          <a:p>
            <a:pPr algn="l" eaLnBrk="1" hangingPunct="1"/>
            <a:r>
              <a:rPr lang="zh-CN" altLang="en-US" sz="1400" dirty="0">
                <a:latin typeface="微软雅黑" pitchFamily="34" charset="-122"/>
                <a:ea typeface="微软雅黑" pitchFamily="34" charset="-122"/>
              </a:rPr>
              <a:t>用</a:t>
            </a:r>
          </a:p>
          <a:p>
            <a:pPr algn="l" eaLnBrk="1" hangingPunct="1"/>
            <a:r>
              <a:rPr lang="zh-CN" altLang="en-US" sz="1400" dirty="0">
                <a:latin typeface="微软雅黑" pitchFamily="34" charset="-122"/>
                <a:ea typeface="微软雅黑" pitchFamily="34" charset="-122"/>
              </a:rPr>
              <a:t>层</a:t>
            </a:r>
          </a:p>
        </p:txBody>
      </p:sp>
      <p:sp>
        <p:nvSpPr>
          <p:cNvPr id="22" name="Text Box 10"/>
          <p:cNvSpPr txBox="1">
            <a:spLocks noChangeArrowheads="1"/>
          </p:cNvSpPr>
          <p:nvPr/>
        </p:nvSpPr>
        <p:spPr bwMode="auto">
          <a:xfrm>
            <a:off x="1426903" y="2874897"/>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运</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输</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层</a:t>
            </a:r>
          </a:p>
        </p:txBody>
      </p:sp>
      <p:sp>
        <p:nvSpPr>
          <p:cNvPr id="28" name="AutoShape 14"/>
          <p:cNvSpPr>
            <a:spLocks noChangeArrowheads="1"/>
          </p:cNvSpPr>
          <p:nvPr/>
        </p:nvSpPr>
        <p:spPr bwMode="auto">
          <a:xfrm rot="16200000">
            <a:off x="2838266" y="2376810"/>
            <a:ext cx="303071" cy="1458297"/>
          </a:xfrm>
          <a:prstGeom prst="can">
            <a:avLst>
              <a:gd name="adj" fmla="val 52844"/>
            </a:avLst>
          </a:prstGeom>
          <a:gradFill flip="none" rotWithShape="1">
            <a:gsLst>
              <a:gs pos="0">
                <a:srgbClr val="009900">
                  <a:shade val="30000"/>
                  <a:satMod val="115000"/>
                </a:srgbClr>
              </a:gs>
              <a:gs pos="50000">
                <a:srgbClr val="009900">
                  <a:shade val="67500"/>
                  <a:satMod val="115000"/>
                </a:srgbClr>
              </a:gs>
              <a:gs pos="100000">
                <a:srgbClr val="009900">
                  <a:shade val="100000"/>
                  <a:satMod val="115000"/>
                </a:srgbClr>
              </a:gs>
            </a:gsLst>
            <a:lin ang="0" scaled="1"/>
            <a:tileRect/>
          </a:gra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0"/>
          <p:cNvSpPr txBox="1">
            <a:spLocks noChangeArrowheads="1"/>
          </p:cNvSpPr>
          <p:nvPr/>
        </p:nvSpPr>
        <p:spPr bwMode="auto">
          <a:xfrm>
            <a:off x="2368012" y="2964931"/>
            <a:ext cx="135165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全双工可靠信道</a:t>
            </a:r>
          </a:p>
        </p:txBody>
      </p:sp>
      <p:sp>
        <p:nvSpPr>
          <p:cNvPr id="35" name="Text Box 27"/>
          <p:cNvSpPr txBox="1">
            <a:spLocks noChangeArrowheads="1"/>
          </p:cNvSpPr>
          <p:nvPr/>
        </p:nvSpPr>
        <p:spPr bwMode="auto">
          <a:xfrm>
            <a:off x="2087434" y="3329338"/>
            <a:ext cx="1966406"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面向连接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TCP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7" name="Line 29"/>
          <p:cNvSpPr>
            <a:spLocks noChangeShapeType="1"/>
          </p:cNvSpPr>
          <p:nvPr/>
        </p:nvSpPr>
        <p:spPr bwMode="auto">
          <a:xfrm>
            <a:off x="2002215"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flipV="1">
            <a:off x="399694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Text Box 13"/>
          <p:cNvSpPr txBox="1">
            <a:spLocks noChangeArrowheads="1"/>
          </p:cNvSpPr>
          <p:nvPr/>
        </p:nvSpPr>
        <p:spPr bwMode="auto">
          <a:xfrm>
            <a:off x="3445541" y="132046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sp>
        <p:nvSpPr>
          <p:cNvPr id="65" name="Text Box 59"/>
          <p:cNvSpPr txBox="1">
            <a:spLocks noChangeArrowheads="1"/>
          </p:cNvSpPr>
          <p:nvPr/>
        </p:nvSpPr>
        <p:spPr bwMode="auto">
          <a:xfrm>
            <a:off x="1714408" y="134051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6" name="Rectangle 24"/>
          <p:cNvSpPr>
            <a:spLocks noChangeArrowheads="1"/>
          </p:cNvSpPr>
          <p:nvPr/>
        </p:nvSpPr>
        <p:spPr bwMode="auto">
          <a:xfrm>
            <a:off x="2203989"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67" name="Rectangle 24"/>
          <p:cNvSpPr>
            <a:spLocks noChangeArrowheads="1"/>
          </p:cNvSpPr>
          <p:nvPr/>
        </p:nvSpPr>
        <p:spPr bwMode="auto">
          <a:xfrm>
            <a:off x="3972698"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grpSp>
        <p:nvGrpSpPr>
          <p:cNvPr id="24" name="Group 15"/>
          <p:cNvGrpSpPr>
            <a:grpSpLocks/>
          </p:cNvGrpSpPr>
          <p:nvPr/>
        </p:nvGrpSpPr>
        <p:grpSpPr bwMode="auto">
          <a:xfrm>
            <a:off x="2138234" y="1612957"/>
            <a:ext cx="1755539" cy="1493005"/>
            <a:chOff x="865" y="1467"/>
            <a:chExt cx="1348" cy="931"/>
          </a:xfrm>
        </p:grpSpPr>
        <p:sp>
          <p:nvSpPr>
            <p:cNvPr id="26" name="Freeform 17"/>
            <p:cNvSpPr>
              <a:spLocks/>
            </p:cNvSpPr>
            <p:nvPr/>
          </p:nvSpPr>
          <p:spPr bwMode="auto">
            <a:xfrm flipH="1">
              <a:off x="2072" y="1467"/>
              <a:ext cx="14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Freeform 16"/>
            <p:cNvSpPr>
              <a:spLocks/>
            </p:cNvSpPr>
            <p:nvPr/>
          </p:nvSpPr>
          <p:spPr bwMode="auto">
            <a:xfrm>
              <a:off x="865" y="1474"/>
              <a:ext cx="20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9" name="Rectangle 5"/>
          <p:cNvSpPr>
            <a:spLocks noChangeArrowheads="1"/>
          </p:cNvSpPr>
          <p:nvPr/>
        </p:nvSpPr>
        <p:spPr bwMode="auto">
          <a:xfrm>
            <a:off x="4768209"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 name="AutoShape 6"/>
          <p:cNvSpPr>
            <a:spLocks noChangeArrowheads="1"/>
          </p:cNvSpPr>
          <p:nvPr/>
        </p:nvSpPr>
        <p:spPr bwMode="auto">
          <a:xfrm>
            <a:off x="7156237" y="1190339"/>
            <a:ext cx="500820" cy="458906"/>
          </a:xfrm>
          <a:prstGeom prst="cloudCallout">
            <a:avLst>
              <a:gd name="adj1" fmla="val -45565"/>
              <a:gd name="adj2" fmla="val 111593"/>
            </a:avLst>
          </a:prstGeom>
          <a:solidFill>
            <a:srgbClr val="FFFF66"/>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zh-CN"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Text Box 7"/>
          <p:cNvSpPr txBox="1">
            <a:spLocks noChangeArrowheads="1"/>
          </p:cNvSpPr>
          <p:nvPr/>
        </p:nvSpPr>
        <p:spPr bwMode="auto">
          <a:xfrm>
            <a:off x="7223944" y="1238227"/>
            <a:ext cx="26330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p>
        </p:txBody>
      </p:sp>
      <p:sp>
        <p:nvSpPr>
          <p:cNvPr id="23" name="Text Box 13"/>
          <p:cNvSpPr txBox="1">
            <a:spLocks noChangeArrowheads="1"/>
          </p:cNvSpPr>
          <p:nvPr/>
        </p:nvSpPr>
        <p:spPr bwMode="auto">
          <a:xfrm>
            <a:off x="6208954" y="130041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grpSp>
        <p:nvGrpSpPr>
          <p:cNvPr id="30" name="Group 21"/>
          <p:cNvGrpSpPr>
            <a:grpSpLocks/>
          </p:cNvGrpSpPr>
          <p:nvPr/>
        </p:nvGrpSpPr>
        <p:grpSpPr bwMode="auto">
          <a:xfrm>
            <a:off x="5285535" y="1601646"/>
            <a:ext cx="1449798" cy="1504317"/>
            <a:chOff x="3508" y="1467"/>
            <a:chExt cx="1349" cy="931"/>
          </a:xfrm>
        </p:grpSpPr>
        <p:sp>
          <p:nvSpPr>
            <p:cNvPr id="31" name="Freeform 22"/>
            <p:cNvSpPr>
              <a:spLocks/>
            </p:cNvSpPr>
            <p:nvPr/>
          </p:nvSpPr>
          <p:spPr bwMode="auto">
            <a:xfrm>
              <a:off x="3508" y="1474"/>
              <a:ext cx="189" cy="924"/>
            </a:xfrm>
            <a:custGeom>
              <a:avLst/>
              <a:gdLst>
                <a:gd name="T0" fmla="*/ 0 w 144"/>
                <a:gd name="T1" fmla="*/ 0 h 768"/>
                <a:gd name="T2" fmla="*/ 0 w 144"/>
                <a:gd name="T3" fmla="*/ 924 h 768"/>
                <a:gd name="T4" fmla="*/ 189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 name="Freeform 23"/>
            <p:cNvSpPr>
              <a:spLocks/>
            </p:cNvSpPr>
            <p:nvPr/>
          </p:nvSpPr>
          <p:spPr bwMode="auto">
            <a:xfrm flipH="1">
              <a:off x="4669" y="1467"/>
              <a:ext cx="188"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33" name="Rectangle 24"/>
          <p:cNvSpPr>
            <a:spLocks noChangeArrowheads="1"/>
          </p:cNvSpPr>
          <p:nvPr/>
        </p:nvSpPr>
        <p:spPr bwMode="auto">
          <a:xfrm>
            <a:off x="5365870"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34" name="Line 26"/>
          <p:cNvSpPr>
            <a:spLocks noChangeShapeType="1"/>
          </p:cNvSpPr>
          <p:nvPr/>
        </p:nvSpPr>
        <p:spPr bwMode="auto">
          <a:xfrm>
            <a:off x="4768209" y="2471877"/>
            <a:ext cx="3153585"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6" name="Text Box 28"/>
          <p:cNvSpPr txBox="1">
            <a:spLocks noChangeArrowheads="1"/>
          </p:cNvSpPr>
          <p:nvPr/>
        </p:nvSpPr>
        <p:spPr bwMode="auto">
          <a:xfrm>
            <a:off x="5325356" y="3329338"/>
            <a:ext cx="1773180"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无连接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UDP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9" name="Line 31"/>
          <p:cNvSpPr>
            <a:spLocks noChangeShapeType="1"/>
          </p:cNvSpPr>
          <p:nvPr/>
        </p:nvSpPr>
        <p:spPr bwMode="auto">
          <a:xfrm flipV="1">
            <a:off x="683850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2"/>
          <p:cNvSpPr>
            <a:spLocks noChangeShapeType="1"/>
          </p:cNvSpPr>
          <p:nvPr/>
        </p:nvSpPr>
        <p:spPr bwMode="auto">
          <a:xfrm>
            <a:off x="5194184"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nvGrpSpPr>
          <p:cNvPr id="41" name="Group 33"/>
          <p:cNvGrpSpPr>
            <a:grpSpLocks/>
          </p:cNvGrpSpPr>
          <p:nvPr/>
        </p:nvGrpSpPr>
        <p:grpSpPr bwMode="auto">
          <a:xfrm>
            <a:off x="5467145" y="2745366"/>
            <a:ext cx="1158183" cy="607340"/>
            <a:chOff x="1776" y="2768"/>
            <a:chExt cx="1824" cy="736"/>
          </a:xfrm>
          <a:solidFill>
            <a:srgbClr val="0000FF"/>
          </a:solidFill>
        </p:grpSpPr>
        <p:grpSp>
          <p:nvGrpSpPr>
            <p:cNvPr id="42" name="Group 34"/>
            <p:cNvGrpSpPr>
              <a:grpSpLocks/>
            </p:cNvGrpSpPr>
            <p:nvPr/>
          </p:nvGrpSpPr>
          <p:grpSpPr bwMode="auto">
            <a:xfrm>
              <a:off x="1787" y="2783"/>
              <a:ext cx="1813" cy="721"/>
              <a:chOff x="1787" y="2783"/>
              <a:chExt cx="1813" cy="721"/>
            </a:xfrm>
            <a:grpFill/>
          </p:grpSpPr>
          <p:sp>
            <p:nvSpPr>
              <p:cNvPr id="52" name="Oval 35"/>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Oval 36"/>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Oval 37"/>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Oval 38"/>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Oval 39"/>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Oval 40"/>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Oval 41"/>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Oval 42"/>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Oval 43"/>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43" name="Oval 44"/>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Oval 45"/>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Oval 46"/>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Oval 47"/>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Oval 48"/>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Oval 49"/>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Oval 50"/>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Oval 51"/>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Oval 52"/>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1" name="Text Box 53"/>
          <p:cNvSpPr txBox="1">
            <a:spLocks noChangeArrowheads="1"/>
          </p:cNvSpPr>
          <p:nvPr/>
        </p:nvSpPr>
        <p:spPr bwMode="auto">
          <a:xfrm>
            <a:off x="5544390" y="2916811"/>
            <a:ext cx="1018227"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不可靠信道</a:t>
            </a:r>
          </a:p>
        </p:txBody>
      </p:sp>
      <p:sp>
        <p:nvSpPr>
          <p:cNvPr id="62" name="Text Box 59"/>
          <p:cNvSpPr txBox="1">
            <a:spLocks noChangeArrowheads="1"/>
          </p:cNvSpPr>
          <p:nvPr/>
        </p:nvSpPr>
        <p:spPr bwMode="auto">
          <a:xfrm>
            <a:off x="4844895" y="132046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3" name="Rectangle 24"/>
          <p:cNvSpPr>
            <a:spLocks noChangeArrowheads="1"/>
          </p:cNvSpPr>
          <p:nvPr/>
        </p:nvSpPr>
        <p:spPr bwMode="auto">
          <a:xfrm>
            <a:off x="6848867" y="1759203"/>
            <a:ext cx="271954" cy="633732"/>
          </a:xfrm>
          <a:prstGeom prst="rect">
            <a:avLst/>
          </a:prstGeom>
          <a:solidFill>
            <a:srgbClr val="FFFF66"/>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5" name="内容占位符 4">
            <a:extLst>
              <a:ext uri="{FF2B5EF4-FFF2-40B4-BE49-F238E27FC236}">
                <a16:creationId xmlns:a16="http://schemas.microsoft.com/office/drawing/2014/main" id="{42E46087-56DF-AB9A-FD8E-7723430836B0}"/>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C185B052-0FD9-E32D-EEB1-06F4309B08D0}"/>
              </a:ext>
            </a:extLst>
          </p:cNvPr>
          <p:cNvSpPr>
            <a:spLocks noGrp="1"/>
          </p:cNvSpPr>
          <p:nvPr>
            <p:ph type="title"/>
          </p:nvPr>
        </p:nvSpPr>
        <p:spPr>
          <a:xfrm>
            <a:off x="486000" y="550723"/>
            <a:ext cx="8172000" cy="338554"/>
          </a:xfrm>
          <a:prstGeom prst="rect">
            <a:avLst/>
          </a:prstGeom>
        </p:spPr>
        <p:txBody>
          <a:bodyPr/>
          <a:lstStyle/>
          <a:p>
            <a:r>
              <a:rPr lang="zh-CN" altLang="en-US" dirty="0"/>
              <a:t>可靠信道与不可靠信道</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23004693-9170-8259-45E5-BBC292222C13}"/>
              </a:ext>
            </a:extLst>
          </p:cNvPr>
          <p:cNvSpPr>
            <a:spLocks noGrp="1"/>
          </p:cNvSpPr>
          <p:nvPr>
            <p:ph sz="quarter" idx="11"/>
          </p:nvPr>
        </p:nvSpPr>
        <p:spPr>
          <a:xfrm>
            <a:off x="486000" y="900000"/>
            <a:ext cx="8172000" cy="3703500"/>
          </a:xfrm>
        </p:spPr>
        <p:txBody>
          <a:bodyPr/>
          <a:lstStyle/>
          <a:p>
            <a:r>
              <a:rPr lang="zh-CN" altLang="en-US" dirty="0"/>
              <a:t>互联网的正式标准：</a:t>
            </a:r>
            <a:endParaRPr lang="en-US" altLang="zh-CN" dirty="0"/>
          </a:p>
          <a:p>
            <a:pPr lvl="1"/>
            <a:r>
              <a:rPr lang="zh-CN" altLang="en-US" dirty="0"/>
              <a:t>用户数据报协议 </a:t>
            </a:r>
            <a:r>
              <a:rPr lang="en-US" altLang="zh-CN" dirty="0"/>
              <a:t>UDP (User Datagram Protocol)</a:t>
            </a:r>
          </a:p>
          <a:p>
            <a:pPr lvl="1"/>
            <a:r>
              <a:rPr lang="zh-CN" altLang="en-US" dirty="0"/>
              <a:t>传输控制协议 </a:t>
            </a:r>
            <a:r>
              <a:rPr lang="en-US" altLang="zh-CN" dirty="0"/>
              <a:t>TCP (Transmission Control Protocol)</a:t>
            </a:r>
          </a:p>
          <a:p>
            <a:endParaRPr lang="zh-CN" altLang="en-US" dirty="0"/>
          </a:p>
        </p:txBody>
      </p:sp>
      <p:sp>
        <p:nvSpPr>
          <p:cNvPr id="3" name="标题 2">
            <a:extLst>
              <a:ext uri="{FF2B5EF4-FFF2-40B4-BE49-F238E27FC236}">
                <a16:creationId xmlns:a16="http://schemas.microsoft.com/office/drawing/2014/main" id="{ACCA1577-67FD-8BCB-BD0C-AC4689055FC2}"/>
              </a:ext>
            </a:extLst>
          </p:cNvPr>
          <p:cNvSpPr>
            <a:spLocks noGrp="1"/>
          </p:cNvSpPr>
          <p:nvPr>
            <p:ph type="title"/>
          </p:nvPr>
        </p:nvSpPr>
        <p:spPr>
          <a:xfrm>
            <a:off x="486000" y="550723"/>
            <a:ext cx="8172000" cy="338554"/>
          </a:xfrm>
          <a:prstGeom prst="rect">
            <a:avLst/>
          </a:prstGeom>
        </p:spPr>
        <p:txBody>
          <a:bodyPr/>
          <a:lstStyle/>
          <a:p>
            <a:r>
              <a:rPr lang="en-US" altLang="zh-CN" dirty="0"/>
              <a:t>5.1.2   </a:t>
            </a:r>
            <a:r>
              <a:rPr lang="zh-CN" altLang="en-US" dirty="0"/>
              <a:t>运输层的两个主要协议</a:t>
            </a:r>
          </a:p>
        </p:txBody>
      </p:sp>
      <p:graphicFrame>
        <p:nvGraphicFramePr>
          <p:cNvPr id="14" name="表格 13">
            <a:extLst>
              <a:ext uri="{FF2B5EF4-FFF2-40B4-BE49-F238E27FC236}">
                <a16:creationId xmlns:a16="http://schemas.microsoft.com/office/drawing/2014/main" id="{237ED187-6689-D8F2-6F30-BF45F33EDE1C}"/>
              </a:ext>
            </a:extLst>
          </p:cNvPr>
          <p:cNvGraphicFramePr>
            <a:graphicFrameLocks noGrp="1"/>
          </p:cNvGraphicFramePr>
          <p:nvPr>
            <p:extLst>
              <p:ext uri="{D42A27DB-BD31-4B8C-83A1-F6EECF244321}">
                <p14:modId xmlns:p14="http://schemas.microsoft.com/office/powerpoint/2010/main" val="1885632912"/>
              </p:ext>
            </p:extLst>
          </p:nvPr>
        </p:nvGraphicFramePr>
        <p:xfrm>
          <a:off x="2772000" y="2584550"/>
          <a:ext cx="3600000" cy="148336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3090779134"/>
                    </a:ext>
                  </a:extLst>
                </a:gridCol>
                <a:gridCol w="1800000">
                  <a:extLst>
                    <a:ext uri="{9D8B030D-6E8A-4147-A177-3AD203B41FA5}">
                      <a16:colId xmlns:a16="http://schemas.microsoft.com/office/drawing/2014/main" val="2188090895"/>
                    </a:ext>
                  </a:extLst>
                </a:gridCol>
              </a:tblGrid>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应用层</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16753834"/>
                  </a:ext>
                </a:extLst>
              </a:tr>
              <a:tr h="370840">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UDP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TCP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extLst>
                  <a:ext uri="{0D108BD9-81ED-4DB2-BD59-A6C34878D82A}">
                    <a16:rowId xmlns:a16="http://schemas.microsoft.com/office/drawing/2014/main" val="1310299867"/>
                  </a:ext>
                </a:extLst>
              </a:tr>
              <a:tr h="370840">
                <a:tc gridSpan="2">
                  <a:txBody>
                    <a:bodyPr/>
                    <a:lstStyle/>
                    <a:p>
                      <a:pPr algn="ctr"/>
                      <a:r>
                        <a:rPr lang="en-US" altLang="zh-CN" sz="1600" b="0" i="0" baseline="0" dirty="0">
                          <a:solidFill>
                            <a:schemeClr val="tx1"/>
                          </a:solidFill>
                          <a:latin typeface="Courier New" panose="02070309020205020404" pitchFamily="49" charset="0"/>
                          <a:ea typeface="微软雅黑" panose="020B0503020204020204" pitchFamily="34" charset="-122"/>
                        </a:rPr>
                        <a:t>IP</a:t>
                      </a:r>
                      <a:endParaRPr lang="zh-CN" altLang="en-US" sz="1600" b="0" i="0" baseline="0" dirty="0">
                        <a:solidFill>
                          <a:schemeClr val="tx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513751"/>
                  </a:ext>
                </a:extLst>
              </a:tr>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与网络各种接口</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600480"/>
                  </a:ext>
                </a:extLst>
              </a:tr>
            </a:tbl>
          </a:graphicData>
        </a:graphic>
      </p:graphicFrame>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B340B6D5-9BD8-14FD-8EA9-CA6C520E34F6}"/>
              </a:ext>
            </a:extLst>
          </p:cNvPr>
          <p:cNvSpPr>
            <a:spLocks noGrp="1"/>
          </p:cNvSpPr>
          <p:nvPr>
            <p:ph sz="quarter" idx="11"/>
          </p:nvPr>
        </p:nvSpPr>
        <p:spPr>
          <a:xfrm>
            <a:off x="486000" y="900000"/>
            <a:ext cx="8172000" cy="3703500"/>
          </a:xfrm>
        </p:spPr>
        <p:txBody>
          <a:bodyPr/>
          <a:lstStyle/>
          <a:p>
            <a:r>
              <a:rPr lang="zh-CN" altLang="en-US" dirty="0"/>
              <a:t>运输协议数据单元 </a:t>
            </a:r>
            <a:r>
              <a:rPr lang="en-US" altLang="zh-CN" dirty="0"/>
              <a:t>TPDU</a:t>
            </a:r>
          </a:p>
          <a:p>
            <a:pPr lvl="1"/>
            <a:r>
              <a:rPr lang="en-US" altLang="zh-CN" dirty="0"/>
              <a:t>Transport Protocol Data Unit</a:t>
            </a:r>
          </a:p>
          <a:p>
            <a:pPr lvl="1"/>
            <a:r>
              <a:rPr lang="zh-CN" altLang="en-US" dirty="0"/>
              <a:t>两个对等运输实体在通信时传送的数据单位</a:t>
            </a:r>
          </a:p>
          <a:p>
            <a:r>
              <a:rPr lang="en-US" altLang="zh-CN" dirty="0"/>
              <a:t>TCP </a:t>
            </a:r>
            <a:r>
              <a:rPr lang="zh-CN" altLang="en-US" dirty="0"/>
              <a:t>传送的数据单位协议是 </a:t>
            </a:r>
            <a:r>
              <a:rPr lang="en-US" altLang="zh-CN" dirty="0"/>
              <a:t>TCP </a:t>
            </a:r>
            <a:r>
              <a:rPr lang="zh-CN" altLang="en-US" dirty="0"/>
              <a:t>报文段 </a:t>
            </a:r>
            <a:r>
              <a:rPr lang="en-US" altLang="zh-CN" dirty="0"/>
              <a:t>(segment)</a:t>
            </a:r>
            <a:endParaRPr lang="zh-CN" altLang="en-US" dirty="0"/>
          </a:p>
          <a:p>
            <a:r>
              <a:rPr lang="en-US" altLang="zh-CN" dirty="0"/>
              <a:t>UDP </a:t>
            </a:r>
            <a:r>
              <a:rPr lang="zh-CN" altLang="en-US" dirty="0"/>
              <a:t>传送的数据单位协议是 </a:t>
            </a:r>
            <a:r>
              <a:rPr lang="en-US" altLang="zh-CN" dirty="0"/>
              <a:t>UDP </a:t>
            </a:r>
            <a:r>
              <a:rPr lang="zh-CN" altLang="en-US" dirty="0"/>
              <a:t>报文或用户数据报</a:t>
            </a:r>
          </a:p>
        </p:txBody>
      </p:sp>
      <p:sp>
        <p:nvSpPr>
          <p:cNvPr id="12" name="标题 11">
            <a:extLst>
              <a:ext uri="{FF2B5EF4-FFF2-40B4-BE49-F238E27FC236}">
                <a16:creationId xmlns:a16="http://schemas.microsoft.com/office/drawing/2014/main" id="{1D1F0760-5BBD-ABD9-831F-E75F5203A1A2}"/>
              </a:ext>
            </a:extLst>
          </p:cNvPr>
          <p:cNvSpPr>
            <a:spLocks noGrp="1"/>
          </p:cNvSpPr>
          <p:nvPr>
            <p:ph type="title"/>
          </p:nvPr>
        </p:nvSpPr>
        <p:spPr>
          <a:xfrm>
            <a:off x="486000" y="550723"/>
            <a:ext cx="8172000" cy="338554"/>
          </a:xfrm>
          <a:prstGeom prst="rect">
            <a:avLst/>
          </a:prstGeom>
        </p:spPr>
        <p:txBody>
          <a:bodyPr/>
          <a:lstStyle/>
          <a:p>
            <a:r>
              <a:rPr lang="zh-CN" altLang="en-US" dirty="0"/>
              <a:t>运输协议数据单元 </a:t>
            </a:r>
          </a:p>
        </p:txBody>
      </p:sp>
    </p:spTree>
    <p:extLst>
      <p:ext uri="{BB962C8B-B14F-4D97-AF65-F5344CB8AC3E}">
        <p14:creationId xmlns:p14="http://schemas.microsoft.com/office/powerpoint/2010/main" val="402614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1527196505"/>
              </p:ext>
            </p:extLst>
          </p:nvPr>
        </p:nvGraphicFramePr>
        <p:xfrm>
          <a:off x="612775" y="1131421"/>
          <a:ext cx="7918450" cy="2992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3EECAD3E-CF73-B4B6-2CC5-DFBE20198986}"/>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D018864A-B6DA-BFFA-FEB3-9D94212D451F}"/>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与 </a:t>
            </a:r>
            <a:r>
              <a:rPr lang="en-US" altLang="zh-CN" dirty="0"/>
              <a:t>TCP </a:t>
            </a:r>
            <a:r>
              <a:rPr lang="zh-CN" altLang="en-US" dirty="0"/>
              <a:t>的区别</a:t>
            </a:r>
          </a:p>
        </p:txBody>
      </p:sp>
    </p:spTree>
    <p:extLst>
      <p:ext uri="{BB962C8B-B14F-4D97-AF65-F5344CB8AC3E}">
        <p14:creationId xmlns:p14="http://schemas.microsoft.com/office/powerpoint/2010/main" val="1795172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441896" y="2893891"/>
            <a:ext cx="6582637" cy="376517"/>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IP</a:t>
            </a:r>
            <a:endParaRPr lang="zh-CN" altLang="en-US" dirty="0">
              <a:solidFill>
                <a:schemeClr val="bg1"/>
              </a:solidFill>
              <a:latin typeface="微软雅黑" pitchFamily="34" charset="-122"/>
              <a:ea typeface="微软雅黑" pitchFamily="34" charset="-122"/>
            </a:endParaRPr>
          </a:p>
        </p:txBody>
      </p:sp>
      <p:sp>
        <p:nvSpPr>
          <p:cNvPr id="22" name="矩形 21"/>
          <p:cNvSpPr/>
          <p:nvPr/>
        </p:nvSpPr>
        <p:spPr>
          <a:xfrm>
            <a:off x="4888680" y="2334494"/>
            <a:ext cx="3135854" cy="559398"/>
          </a:xfrm>
          <a:prstGeom prst="rect">
            <a:avLst/>
          </a:prstGeom>
          <a:solidFill>
            <a:srgbClr val="9BBB5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TCP</a:t>
            </a:r>
            <a:endParaRPr lang="zh-CN" altLang="en-US" dirty="0">
              <a:solidFill>
                <a:schemeClr val="bg1"/>
              </a:solidFill>
              <a:latin typeface="微软雅黑" pitchFamily="34" charset="-122"/>
              <a:ea typeface="微软雅黑" pitchFamily="34" charset="-122"/>
            </a:endParaRPr>
          </a:p>
        </p:txBody>
      </p:sp>
      <p:sp>
        <p:nvSpPr>
          <p:cNvPr id="23" name="矩形 22"/>
          <p:cNvSpPr/>
          <p:nvPr/>
        </p:nvSpPr>
        <p:spPr>
          <a:xfrm>
            <a:off x="1441740" y="2334494"/>
            <a:ext cx="3399202" cy="559398"/>
          </a:xfrm>
          <a:prstGeom prst="rect">
            <a:avLst/>
          </a:prstGeom>
          <a:solidFill>
            <a:srgbClr val="C0504D"/>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UDP</a:t>
            </a:r>
            <a:endParaRPr lang="zh-CN" altLang="en-US" dirty="0">
              <a:solidFill>
                <a:schemeClr val="bg1"/>
              </a:solidFill>
              <a:latin typeface="微软雅黑" pitchFamily="34" charset="-122"/>
              <a:ea typeface="微软雅黑" pitchFamily="34" charset="-122"/>
            </a:endParaRPr>
          </a:p>
        </p:txBody>
      </p:sp>
      <p:sp>
        <p:nvSpPr>
          <p:cNvPr id="47" name="Text Box 14"/>
          <p:cNvSpPr txBox="1">
            <a:spLocks noChangeArrowheads="1"/>
          </p:cNvSpPr>
          <p:nvPr/>
        </p:nvSpPr>
        <p:spPr bwMode="auto">
          <a:xfrm>
            <a:off x="627627" y="2475693"/>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运输层</a:t>
            </a:r>
          </a:p>
        </p:txBody>
      </p:sp>
      <p:sp>
        <p:nvSpPr>
          <p:cNvPr id="48" name="Text Box 15"/>
          <p:cNvSpPr txBox="1">
            <a:spLocks noChangeArrowheads="1"/>
          </p:cNvSpPr>
          <p:nvPr/>
        </p:nvSpPr>
        <p:spPr bwMode="auto">
          <a:xfrm>
            <a:off x="724444" y="2939458"/>
            <a:ext cx="7092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网络层</a:t>
            </a:r>
          </a:p>
        </p:txBody>
      </p:sp>
      <p:grpSp>
        <p:nvGrpSpPr>
          <p:cNvPr id="2" name="组合 1"/>
          <p:cNvGrpSpPr/>
          <p:nvPr/>
        </p:nvGrpSpPr>
        <p:grpSpPr>
          <a:xfrm>
            <a:off x="627627" y="1703994"/>
            <a:ext cx="4213315" cy="670388"/>
            <a:chOff x="627627" y="1695029"/>
            <a:chExt cx="4213315" cy="670388"/>
          </a:xfrm>
        </p:grpSpPr>
        <p:sp>
          <p:nvSpPr>
            <p:cNvPr id="37" name="矩形 36"/>
            <p:cNvSpPr/>
            <p:nvPr/>
          </p:nvSpPr>
          <p:spPr>
            <a:xfrm>
              <a:off x="1442249" y="2034783"/>
              <a:ext cx="641767"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DNS</a:t>
              </a:r>
              <a:endParaRPr lang="zh-CN" altLang="en-US" sz="1200" dirty="0">
                <a:solidFill>
                  <a:schemeClr val="tx1"/>
                </a:solidFill>
                <a:latin typeface="微软雅黑" pitchFamily="34" charset="-122"/>
                <a:ea typeface="微软雅黑" pitchFamily="34" charset="-122"/>
              </a:endParaRPr>
            </a:p>
          </p:txBody>
        </p:sp>
        <p:sp>
          <p:nvSpPr>
            <p:cNvPr id="38" name="矩形 37"/>
            <p:cNvSpPr/>
            <p:nvPr/>
          </p:nvSpPr>
          <p:spPr>
            <a:xfrm>
              <a:off x="2092077" y="2034783"/>
              <a:ext cx="644561" cy="290745"/>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DHCP</a:t>
              </a:r>
              <a:endParaRPr lang="zh-CN" altLang="en-US" sz="1200" dirty="0">
                <a:solidFill>
                  <a:schemeClr val="tx1"/>
                </a:solidFill>
                <a:latin typeface="微软雅黑" pitchFamily="34" charset="-122"/>
                <a:ea typeface="微软雅黑" pitchFamily="34" charset="-122"/>
              </a:endParaRPr>
            </a:p>
          </p:txBody>
        </p:sp>
        <p:sp>
          <p:nvSpPr>
            <p:cNvPr id="39" name="矩形 38"/>
            <p:cNvSpPr/>
            <p:nvPr/>
          </p:nvSpPr>
          <p:spPr>
            <a:xfrm>
              <a:off x="2729570" y="2034783"/>
              <a:ext cx="560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RIP</a:t>
              </a:r>
              <a:endParaRPr lang="zh-CN" altLang="en-US" sz="1200" dirty="0">
                <a:solidFill>
                  <a:schemeClr val="tx1"/>
                </a:solidFill>
                <a:latin typeface="微软雅黑" pitchFamily="34" charset="-122"/>
                <a:ea typeface="微软雅黑" pitchFamily="34" charset="-122"/>
              </a:endParaRPr>
            </a:p>
          </p:txBody>
        </p:sp>
        <p:sp>
          <p:nvSpPr>
            <p:cNvPr id="40" name="矩形 39"/>
            <p:cNvSpPr/>
            <p:nvPr/>
          </p:nvSpPr>
          <p:spPr>
            <a:xfrm>
              <a:off x="4476746" y="2034783"/>
              <a:ext cx="364196"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1" name="矩形 40"/>
            <p:cNvSpPr/>
            <p:nvPr/>
          </p:nvSpPr>
          <p:spPr>
            <a:xfrm>
              <a:off x="1442249" y="1695029"/>
              <a:ext cx="641767" cy="415347"/>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域名解析服务</a:t>
              </a:r>
            </a:p>
          </p:txBody>
        </p:sp>
        <p:sp>
          <p:nvSpPr>
            <p:cNvPr id="42" name="矩形 41"/>
            <p:cNvSpPr/>
            <p:nvPr/>
          </p:nvSpPr>
          <p:spPr>
            <a:xfrm>
              <a:off x="2094871" y="1695029"/>
              <a:ext cx="641767" cy="415347"/>
            </a:xfrm>
            <a:prstGeom prst="rect">
              <a:avLst/>
            </a:prstGeom>
            <a:solidFill>
              <a:srgbClr val="66FF99"/>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动态主机配置</a:t>
              </a:r>
            </a:p>
          </p:txBody>
        </p:sp>
        <p:sp>
          <p:nvSpPr>
            <p:cNvPr id="43" name="矩形 42"/>
            <p:cNvSpPr/>
            <p:nvPr/>
          </p:nvSpPr>
          <p:spPr>
            <a:xfrm>
              <a:off x="2729570" y="1695029"/>
              <a:ext cx="560477" cy="415347"/>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路由</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选择</a:t>
              </a:r>
            </a:p>
          </p:txBody>
        </p:sp>
        <p:sp>
          <p:nvSpPr>
            <p:cNvPr id="44" name="矩形 43"/>
            <p:cNvSpPr/>
            <p:nvPr/>
          </p:nvSpPr>
          <p:spPr>
            <a:xfrm>
              <a:off x="4476746" y="1695029"/>
              <a:ext cx="364196" cy="415347"/>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9" name="Text Box 14"/>
            <p:cNvSpPr txBox="1">
              <a:spLocks noChangeArrowheads="1"/>
            </p:cNvSpPr>
            <p:nvPr/>
          </p:nvSpPr>
          <p:spPr bwMode="auto">
            <a:xfrm>
              <a:off x="627627" y="2088418"/>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应用层</a:t>
              </a:r>
            </a:p>
          </p:txBody>
        </p:sp>
        <p:sp>
          <p:nvSpPr>
            <p:cNvPr id="50" name="Text Box 14"/>
            <p:cNvSpPr txBox="1">
              <a:spLocks noChangeArrowheads="1"/>
            </p:cNvSpPr>
            <p:nvPr/>
          </p:nvSpPr>
          <p:spPr bwMode="auto">
            <a:xfrm>
              <a:off x="627627" y="1738795"/>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a:t>
              </a:r>
            </a:p>
          </p:txBody>
        </p:sp>
        <p:sp>
          <p:nvSpPr>
            <p:cNvPr id="46" name="矩形 45"/>
            <p:cNvSpPr/>
            <p:nvPr/>
          </p:nvSpPr>
          <p:spPr>
            <a:xfrm>
              <a:off x="3289143" y="2034783"/>
              <a:ext cx="560477"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TFTP</a:t>
              </a:r>
              <a:endParaRPr lang="zh-CN" altLang="en-US" sz="1100" dirty="0">
                <a:solidFill>
                  <a:schemeClr val="tx1"/>
                </a:solidFill>
                <a:latin typeface="微软雅黑" pitchFamily="34" charset="-122"/>
                <a:ea typeface="微软雅黑" pitchFamily="34" charset="-122"/>
              </a:endParaRPr>
            </a:p>
          </p:txBody>
        </p:sp>
        <p:sp>
          <p:nvSpPr>
            <p:cNvPr id="51" name="矩形 50"/>
            <p:cNvSpPr/>
            <p:nvPr/>
          </p:nvSpPr>
          <p:spPr>
            <a:xfrm>
              <a:off x="3289143" y="1695029"/>
              <a:ext cx="560477"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文件传输</a:t>
              </a:r>
            </a:p>
          </p:txBody>
        </p:sp>
        <p:sp>
          <p:nvSpPr>
            <p:cNvPr id="52" name="矩形 51"/>
            <p:cNvSpPr/>
            <p:nvPr/>
          </p:nvSpPr>
          <p:spPr>
            <a:xfrm>
              <a:off x="3851146" y="2034783"/>
              <a:ext cx="644561" cy="290745"/>
            </a:xfrm>
            <a:prstGeom prst="rect">
              <a:avLst/>
            </a:prstGeom>
            <a:solidFill>
              <a:srgbClr val="CCFF66"/>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zh-CN" altLang="en-US" sz="900" dirty="0">
                  <a:solidFill>
                    <a:schemeClr val="tx1"/>
                  </a:solidFill>
                  <a:latin typeface="微软雅黑" pitchFamily="34" charset="-122"/>
                  <a:ea typeface="微软雅黑" pitchFamily="34" charset="-122"/>
                </a:rPr>
                <a:t>专用协议</a:t>
              </a:r>
            </a:p>
          </p:txBody>
        </p:sp>
        <p:sp>
          <p:nvSpPr>
            <p:cNvPr id="53" name="矩形 52"/>
            <p:cNvSpPr/>
            <p:nvPr/>
          </p:nvSpPr>
          <p:spPr>
            <a:xfrm>
              <a:off x="3853940" y="1695029"/>
              <a:ext cx="641767" cy="415347"/>
            </a:xfrm>
            <a:prstGeom prst="rect">
              <a:avLst/>
            </a:prstGeom>
            <a:solidFill>
              <a:srgbClr val="CCFF66"/>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900" dirty="0">
                  <a:solidFill>
                    <a:schemeClr val="tx1"/>
                  </a:solidFill>
                  <a:latin typeface="微软雅黑" pitchFamily="34" charset="-122"/>
                  <a:ea typeface="微软雅黑" pitchFamily="34" charset="-122"/>
                </a:rPr>
                <a:t>流式多媒体通信</a:t>
              </a:r>
            </a:p>
          </p:txBody>
        </p:sp>
      </p:grpSp>
      <p:grpSp>
        <p:nvGrpSpPr>
          <p:cNvPr id="3" name="组合 2"/>
          <p:cNvGrpSpPr/>
          <p:nvPr/>
        </p:nvGrpSpPr>
        <p:grpSpPr>
          <a:xfrm>
            <a:off x="4885767" y="1702937"/>
            <a:ext cx="3138766" cy="631556"/>
            <a:chOff x="4885767" y="1693972"/>
            <a:chExt cx="3138766" cy="631556"/>
          </a:xfrm>
        </p:grpSpPr>
        <p:sp>
          <p:nvSpPr>
            <p:cNvPr id="24" name="矩形 23"/>
            <p:cNvSpPr/>
            <p:nvPr/>
          </p:nvSpPr>
          <p:spPr>
            <a:xfrm>
              <a:off x="4885767" y="2034783"/>
              <a:ext cx="602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HTTP</a:t>
              </a:r>
              <a:endParaRPr lang="zh-CN" altLang="en-US" sz="1200" dirty="0">
                <a:solidFill>
                  <a:schemeClr val="tx1"/>
                </a:solidFill>
                <a:latin typeface="微软雅黑" pitchFamily="34" charset="-122"/>
                <a:ea typeface="微软雅黑" pitchFamily="34" charset="-122"/>
              </a:endParaRPr>
            </a:p>
          </p:txBody>
        </p:sp>
        <p:sp>
          <p:nvSpPr>
            <p:cNvPr id="30" name="矩形 29"/>
            <p:cNvSpPr/>
            <p:nvPr/>
          </p:nvSpPr>
          <p:spPr>
            <a:xfrm>
              <a:off x="5519791" y="2034783"/>
              <a:ext cx="638646" cy="290745"/>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SMTP</a:t>
              </a:r>
              <a:endParaRPr lang="zh-CN" altLang="en-US" sz="1200" dirty="0">
                <a:solidFill>
                  <a:schemeClr val="tx1"/>
                </a:solidFill>
                <a:latin typeface="微软雅黑" pitchFamily="34" charset="-122"/>
                <a:ea typeface="微软雅黑" pitchFamily="34" charset="-122"/>
              </a:endParaRPr>
            </a:p>
          </p:txBody>
        </p:sp>
        <p:sp>
          <p:nvSpPr>
            <p:cNvPr id="31" name="矩形 30"/>
            <p:cNvSpPr/>
            <p:nvPr/>
          </p:nvSpPr>
          <p:spPr>
            <a:xfrm>
              <a:off x="6165877" y="2034783"/>
              <a:ext cx="641599"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FTP</a:t>
              </a:r>
              <a:endParaRPr lang="zh-CN" altLang="en-US" sz="1200" dirty="0">
                <a:solidFill>
                  <a:schemeClr val="tx1"/>
                </a:solidFill>
                <a:latin typeface="微软雅黑" pitchFamily="34" charset="-122"/>
                <a:ea typeface="微软雅黑" pitchFamily="34" charset="-122"/>
              </a:endParaRPr>
            </a:p>
          </p:txBody>
        </p:sp>
        <p:sp>
          <p:nvSpPr>
            <p:cNvPr id="32" name="矩形 31"/>
            <p:cNvSpPr/>
            <p:nvPr/>
          </p:nvSpPr>
          <p:spPr>
            <a:xfrm>
              <a:off x="7545130" y="2034783"/>
              <a:ext cx="479403"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33" name="矩形 32"/>
            <p:cNvSpPr/>
            <p:nvPr/>
          </p:nvSpPr>
          <p:spPr>
            <a:xfrm>
              <a:off x="4885767" y="1693972"/>
              <a:ext cx="638646" cy="416404"/>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100" dirty="0">
                  <a:solidFill>
                    <a:schemeClr val="tx1"/>
                  </a:solidFill>
                  <a:latin typeface="微软雅黑" pitchFamily="34" charset="-122"/>
                  <a:ea typeface="微软雅黑" pitchFamily="34" charset="-122"/>
                </a:rPr>
                <a:t>万维网</a:t>
              </a:r>
              <a:endParaRPr lang="en-US" altLang="zh-CN" sz="1100" dirty="0">
                <a:solidFill>
                  <a:schemeClr val="tx1"/>
                </a:solidFill>
                <a:latin typeface="微软雅黑" pitchFamily="34" charset="-122"/>
                <a:ea typeface="微软雅黑" pitchFamily="34" charset="-122"/>
              </a:endParaRPr>
            </a:p>
            <a:p>
              <a:pPr algn="ctr">
                <a:lnSpc>
                  <a:spcPts val="1400"/>
                </a:lnSpc>
              </a:pPr>
              <a:r>
                <a:rPr lang="en-US" altLang="zh-CN" sz="1100" dirty="0">
                  <a:solidFill>
                    <a:schemeClr val="tx1"/>
                  </a:solidFill>
                  <a:latin typeface="微软雅黑" pitchFamily="34" charset="-122"/>
                  <a:ea typeface="微软雅黑" pitchFamily="34" charset="-122"/>
                </a:rPr>
                <a:t>WWW</a:t>
              </a:r>
              <a:endParaRPr lang="zh-CN" altLang="en-US" sz="1100" dirty="0">
                <a:solidFill>
                  <a:schemeClr val="tx1"/>
                </a:solidFill>
                <a:latin typeface="微软雅黑" pitchFamily="34" charset="-122"/>
                <a:ea typeface="微软雅黑" pitchFamily="34" charset="-122"/>
              </a:endParaRPr>
            </a:p>
          </p:txBody>
        </p:sp>
        <p:sp>
          <p:nvSpPr>
            <p:cNvPr id="34" name="矩形 33"/>
            <p:cNvSpPr/>
            <p:nvPr/>
          </p:nvSpPr>
          <p:spPr>
            <a:xfrm>
              <a:off x="5519791" y="1693972"/>
              <a:ext cx="638646" cy="416404"/>
            </a:xfrm>
            <a:prstGeom prst="rect">
              <a:avLst/>
            </a:prstGeom>
            <a:solidFill>
              <a:srgbClr val="00B0F0"/>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电子</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邮件</a:t>
              </a:r>
            </a:p>
          </p:txBody>
        </p:sp>
        <p:sp>
          <p:nvSpPr>
            <p:cNvPr id="35" name="矩形 34"/>
            <p:cNvSpPr/>
            <p:nvPr/>
          </p:nvSpPr>
          <p:spPr>
            <a:xfrm>
              <a:off x="6168831" y="1693972"/>
              <a:ext cx="638646" cy="416404"/>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传送</a:t>
              </a:r>
            </a:p>
          </p:txBody>
        </p:sp>
        <p:sp>
          <p:nvSpPr>
            <p:cNvPr id="36" name="矩形 35"/>
            <p:cNvSpPr/>
            <p:nvPr/>
          </p:nvSpPr>
          <p:spPr>
            <a:xfrm>
              <a:off x="7545130" y="1693972"/>
              <a:ext cx="479403" cy="416404"/>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54" name="矩形 53"/>
            <p:cNvSpPr/>
            <p:nvPr/>
          </p:nvSpPr>
          <p:spPr>
            <a:xfrm>
              <a:off x="6810258" y="2034783"/>
              <a:ext cx="729061"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TELNET</a:t>
              </a:r>
              <a:endParaRPr lang="zh-CN" altLang="en-US" sz="1100" dirty="0">
                <a:solidFill>
                  <a:schemeClr val="tx1"/>
                </a:solidFill>
                <a:latin typeface="微软雅黑" pitchFamily="34" charset="-122"/>
                <a:ea typeface="微软雅黑" pitchFamily="34" charset="-122"/>
              </a:endParaRPr>
            </a:p>
          </p:txBody>
        </p:sp>
        <p:sp>
          <p:nvSpPr>
            <p:cNvPr id="55" name="矩形 54"/>
            <p:cNvSpPr/>
            <p:nvPr/>
          </p:nvSpPr>
          <p:spPr>
            <a:xfrm>
              <a:off x="6810258" y="1695029"/>
              <a:ext cx="729061"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远程终端接入</a:t>
              </a:r>
            </a:p>
          </p:txBody>
        </p:sp>
      </p:grpSp>
      <p:sp>
        <p:nvSpPr>
          <p:cNvPr id="8" name="内容占位符 7">
            <a:extLst>
              <a:ext uri="{FF2B5EF4-FFF2-40B4-BE49-F238E27FC236}">
                <a16:creationId xmlns:a16="http://schemas.microsoft.com/office/drawing/2014/main" id="{6E11F39F-5D25-8131-4A85-FE263830786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332E16E-624B-56E7-6104-DC17FB15352F}"/>
              </a:ext>
            </a:extLst>
          </p:cNvPr>
          <p:cNvSpPr>
            <a:spLocks noGrp="1"/>
          </p:cNvSpPr>
          <p:nvPr>
            <p:ph type="title"/>
          </p:nvPr>
        </p:nvSpPr>
        <p:spPr>
          <a:xfrm>
            <a:off x="486000" y="550723"/>
            <a:ext cx="8172000" cy="338554"/>
          </a:xfrm>
          <a:prstGeom prst="rect">
            <a:avLst/>
          </a:prstGeom>
        </p:spPr>
        <p:txBody>
          <a:bodyPr/>
          <a:lstStyle/>
          <a:p>
            <a:r>
              <a:rPr lang="zh-CN" altLang="en-US" dirty="0"/>
              <a:t>使用 </a:t>
            </a:r>
            <a:r>
              <a:rPr lang="en-US" altLang="zh-CN" dirty="0"/>
              <a:t>UDP </a:t>
            </a:r>
            <a:r>
              <a:rPr lang="zh-CN" altLang="en-US" dirty="0"/>
              <a:t>和 </a:t>
            </a:r>
            <a:r>
              <a:rPr lang="en-US" altLang="zh-CN" dirty="0"/>
              <a:t>TCP </a:t>
            </a:r>
            <a:r>
              <a:rPr lang="zh-CN" altLang="en-US" dirty="0"/>
              <a:t>的典型应用和应用层协议</a:t>
            </a:r>
          </a:p>
        </p:txBody>
      </p:sp>
    </p:spTree>
    <p:extLst>
      <p:ext uri="{BB962C8B-B14F-4D97-AF65-F5344CB8AC3E}">
        <p14:creationId xmlns:p14="http://schemas.microsoft.com/office/powerpoint/2010/main" val="1704179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 name="组合 163"/>
          <p:cNvGrpSpPr/>
          <p:nvPr/>
        </p:nvGrpSpPr>
        <p:grpSpPr>
          <a:xfrm>
            <a:off x="1354795" y="2304657"/>
            <a:ext cx="6308631" cy="1585772"/>
            <a:chOff x="1354795" y="1123857"/>
            <a:chExt cx="6308631" cy="1585772"/>
          </a:xfrm>
        </p:grpSpPr>
        <p:sp>
          <p:nvSpPr>
            <p:cNvPr id="7" name="Rectangle 174"/>
            <p:cNvSpPr>
              <a:spLocks noChangeArrowheads="1"/>
            </p:cNvSpPr>
            <p:nvPr/>
          </p:nvSpPr>
          <p:spPr bwMode="auto">
            <a:xfrm>
              <a:off x="1518204" y="195164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8" name="Rectangle 2"/>
            <p:cNvSpPr>
              <a:spLocks noChangeArrowheads="1"/>
            </p:cNvSpPr>
            <p:nvPr/>
          </p:nvSpPr>
          <p:spPr bwMode="auto">
            <a:xfrm>
              <a:off x="1523156" y="137782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 name="Line 7"/>
            <p:cNvSpPr>
              <a:spLocks noChangeShapeType="1"/>
            </p:cNvSpPr>
            <p:nvPr/>
          </p:nvSpPr>
          <p:spPr bwMode="auto">
            <a:xfrm>
              <a:off x="1523156" y="219877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 name="Line 8"/>
            <p:cNvSpPr>
              <a:spLocks noChangeShapeType="1"/>
            </p:cNvSpPr>
            <p:nvPr/>
          </p:nvSpPr>
          <p:spPr bwMode="auto">
            <a:xfrm>
              <a:off x="1523156" y="244683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 name="Rectangle 9"/>
            <p:cNvSpPr>
              <a:spLocks noChangeArrowheads="1"/>
            </p:cNvSpPr>
            <p:nvPr/>
          </p:nvSpPr>
          <p:spPr bwMode="auto">
            <a:xfrm>
              <a:off x="1528108" y="172043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 name="Rectangle 10"/>
            <p:cNvSpPr>
              <a:spLocks noChangeArrowheads="1"/>
            </p:cNvSpPr>
            <p:nvPr/>
          </p:nvSpPr>
          <p:spPr bwMode="auto">
            <a:xfrm>
              <a:off x="1490519"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4" name="Group 15"/>
            <p:cNvGrpSpPr>
              <a:grpSpLocks/>
            </p:cNvGrpSpPr>
            <p:nvPr/>
          </p:nvGrpSpPr>
          <p:grpSpPr bwMode="auto">
            <a:xfrm>
              <a:off x="3388744" y="1957262"/>
              <a:ext cx="729151" cy="734827"/>
              <a:chOff x="2017" y="1543"/>
              <a:chExt cx="619" cy="922"/>
            </a:xfrm>
          </p:grpSpPr>
          <p:sp>
            <p:nvSpPr>
              <p:cNvPr id="14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5" name="Rectangle 16"/>
            <p:cNvSpPr>
              <a:spLocks noChangeArrowheads="1"/>
            </p:cNvSpPr>
            <p:nvPr/>
          </p:nvSpPr>
          <p:spPr bwMode="auto">
            <a:xfrm>
              <a:off x="6505897" y="137782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 name="Line 21"/>
            <p:cNvSpPr>
              <a:spLocks noChangeShapeType="1"/>
            </p:cNvSpPr>
            <p:nvPr/>
          </p:nvSpPr>
          <p:spPr bwMode="auto">
            <a:xfrm>
              <a:off x="6505897" y="219877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7" name="Line 22"/>
            <p:cNvSpPr>
              <a:spLocks noChangeShapeType="1"/>
            </p:cNvSpPr>
            <p:nvPr/>
          </p:nvSpPr>
          <p:spPr bwMode="auto">
            <a:xfrm>
              <a:off x="6505897" y="244683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8" name="Rectangle 23"/>
            <p:cNvSpPr>
              <a:spLocks noChangeArrowheads="1"/>
            </p:cNvSpPr>
            <p:nvPr/>
          </p:nvSpPr>
          <p:spPr bwMode="auto">
            <a:xfrm>
              <a:off x="6508373" y="172043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 name="Group 29"/>
            <p:cNvGrpSpPr>
              <a:grpSpLocks/>
            </p:cNvGrpSpPr>
            <p:nvPr/>
          </p:nvGrpSpPr>
          <p:grpSpPr bwMode="auto">
            <a:xfrm>
              <a:off x="4896565" y="1957262"/>
              <a:ext cx="729151" cy="734827"/>
              <a:chOff x="3295" y="1543"/>
              <a:chExt cx="619" cy="922"/>
            </a:xfrm>
          </p:grpSpPr>
          <p:sp>
            <p:nvSpPr>
              <p:cNvPr id="138"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20" name="Rectangle 31"/>
            <p:cNvSpPr>
              <a:spLocks noChangeArrowheads="1"/>
            </p:cNvSpPr>
            <p:nvPr/>
          </p:nvSpPr>
          <p:spPr bwMode="auto">
            <a:xfrm>
              <a:off x="3242326" y="155298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26" name="Rectangle 98"/>
            <p:cNvSpPr>
              <a:spLocks noChangeArrowheads="1"/>
            </p:cNvSpPr>
            <p:nvPr/>
          </p:nvSpPr>
          <p:spPr bwMode="auto">
            <a:xfrm>
              <a:off x="2650927"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27" name="Freeform 100"/>
            <p:cNvSpPr>
              <a:spLocks/>
            </p:cNvSpPr>
            <p:nvPr/>
          </p:nvSpPr>
          <p:spPr bwMode="auto">
            <a:xfrm>
              <a:off x="6218693" y="145177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28" name="Rectangle 101"/>
            <p:cNvSpPr>
              <a:spLocks noChangeArrowheads="1"/>
            </p:cNvSpPr>
            <p:nvPr/>
          </p:nvSpPr>
          <p:spPr bwMode="auto">
            <a:xfrm>
              <a:off x="5474686"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29" name="AutoShape 102"/>
            <p:cNvSpPr>
              <a:spLocks noChangeArrowheads="1"/>
            </p:cNvSpPr>
            <p:nvPr/>
          </p:nvSpPr>
          <p:spPr bwMode="auto">
            <a:xfrm>
              <a:off x="2533322" y="177004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35" name="Oval 138"/>
            <p:cNvSpPr>
              <a:spLocks noChangeArrowheads="1"/>
            </p:cNvSpPr>
            <p:nvPr/>
          </p:nvSpPr>
          <p:spPr bwMode="auto">
            <a:xfrm>
              <a:off x="6984983" y="141339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36" name="Line 157"/>
            <p:cNvSpPr>
              <a:spLocks noChangeShapeType="1"/>
            </p:cNvSpPr>
            <p:nvPr/>
          </p:nvSpPr>
          <p:spPr bwMode="auto">
            <a:xfrm rot="5400000">
              <a:off x="3501724" y="244449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37" name="Line 158"/>
            <p:cNvSpPr>
              <a:spLocks noChangeShapeType="1"/>
            </p:cNvSpPr>
            <p:nvPr/>
          </p:nvSpPr>
          <p:spPr bwMode="auto">
            <a:xfrm rot="5400000">
              <a:off x="5007507" y="244309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49" name="Rectangle 175"/>
            <p:cNvSpPr>
              <a:spLocks noChangeArrowheads="1"/>
            </p:cNvSpPr>
            <p:nvPr/>
          </p:nvSpPr>
          <p:spPr bwMode="auto">
            <a:xfrm>
              <a:off x="4266449" y="197411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50" name="Freeform 99"/>
            <p:cNvSpPr>
              <a:spLocks/>
            </p:cNvSpPr>
            <p:nvPr/>
          </p:nvSpPr>
          <p:spPr bwMode="auto">
            <a:xfrm>
              <a:off x="2461521" y="145926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51" name="Oval 131"/>
            <p:cNvSpPr>
              <a:spLocks noChangeArrowheads="1"/>
            </p:cNvSpPr>
            <p:nvPr/>
          </p:nvSpPr>
          <p:spPr bwMode="auto">
            <a:xfrm>
              <a:off x="1576388" y="140965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2" name="Rectangle 132"/>
            <p:cNvSpPr>
              <a:spLocks noChangeArrowheads="1"/>
            </p:cNvSpPr>
            <p:nvPr/>
          </p:nvSpPr>
          <p:spPr bwMode="auto">
            <a:xfrm>
              <a:off x="1608575" y="135563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53" name="Group 197"/>
            <p:cNvGrpSpPr>
              <a:grpSpLocks/>
            </p:cNvGrpSpPr>
            <p:nvPr/>
          </p:nvGrpSpPr>
          <p:grpSpPr bwMode="auto">
            <a:xfrm>
              <a:off x="2045571" y="1424580"/>
              <a:ext cx="481751" cy="274572"/>
              <a:chOff x="798" y="803"/>
              <a:chExt cx="408" cy="345"/>
            </a:xfrm>
            <a:solidFill>
              <a:schemeClr val="accent6">
                <a:lumMod val="75000"/>
              </a:schemeClr>
            </a:solidFill>
          </p:grpSpPr>
          <p:sp>
            <p:nvSpPr>
              <p:cNvPr id="136"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54" name="Rectangle 139"/>
            <p:cNvSpPr>
              <a:spLocks noChangeArrowheads="1"/>
            </p:cNvSpPr>
            <p:nvPr/>
          </p:nvSpPr>
          <p:spPr bwMode="auto">
            <a:xfrm>
              <a:off x="7003552" y="137529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55" name="Oval 135"/>
            <p:cNvSpPr>
              <a:spLocks noChangeArrowheads="1"/>
            </p:cNvSpPr>
            <p:nvPr/>
          </p:nvSpPr>
          <p:spPr bwMode="auto">
            <a:xfrm>
              <a:off x="6555415" y="148079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6" name="Rectangle 136"/>
            <p:cNvSpPr>
              <a:spLocks noChangeArrowheads="1"/>
            </p:cNvSpPr>
            <p:nvPr/>
          </p:nvSpPr>
          <p:spPr bwMode="auto">
            <a:xfrm>
              <a:off x="6572747" y="143613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66" name="Rectangle 244"/>
            <p:cNvSpPr>
              <a:spLocks noChangeArrowheads="1"/>
            </p:cNvSpPr>
            <p:nvPr/>
          </p:nvSpPr>
          <p:spPr bwMode="auto">
            <a:xfrm>
              <a:off x="1354795" y="112385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67" name="Rectangle 245"/>
            <p:cNvSpPr>
              <a:spLocks noChangeArrowheads="1"/>
            </p:cNvSpPr>
            <p:nvPr/>
          </p:nvSpPr>
          <p:spPr bwMode="auto">
            <a:xfrm>
              <a:off x="6358581" y="112385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78" name="Rectangle 10"/>
            <p:cNvSpPr>
              <a:spLocks noChangeArrowheads="1"/>
            </p:cNvSpPr>
            <p:nvPr/>
          </p:nvSpPr>
          <p:spPr bwMode="auto">
            <a:xfrm>
              <a:off x="7281090"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grpSp>
        <p:nvGrpSpPr>
          <p:cNvPr id="144" name="组合 143"/>
          <p:cNvGrpSpPr/>
          <p:nvPr/>
        </p:nvGrpSpPr>
        <p:grpSpPr>
          <a:xfrm>
            <a:off x="811003" y="2657407"/>
            <a:ext cx="1501964" cy="534806"/>
            <a:chOff x="811003" y="1423671"/>
            <a:chExt cx="1501964" cy="534806"/>
          </a:xfrm>
        </p:grpSpPr>
        <p:sp>
          <p:nvSpPr>
            <p:cNvPr id="145" name="椭圆 14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147" name="直接连接符 146"/>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48" name="组合 147"/>
          <p:cNvGrpSpPr/>
          <p:nvPr/>
        </p:nvGrpSpPr>
        <p:grpSpPr>
          <a:xfrm>
            <a:off x="6744719" y="2681789"/>
            <a:ext cx="1465661" cy="510534"/>
            <a:chOff x="-297165" y="1386983"/>
            <a:chExt cx="1465661" cy="510534"/>
          </a:xfrm>
        </p:grpSpPr>
        <p:sp>
          <p:nvSpPr>
            <p:cNvPr id="149" name="椭圆 148"/>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Rectangle 98"/>
            <p:cNvSpPr>
              <a:spLocks noChangeArrowheads="1"/>
            </p:cNvSpPr>
            <p:nvPr/>
          </p:nvSpPr>
          <p:spPr bwMode="auto">
            <a:xfrm>
              <a:off x="626680" y="1386983"/>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cxnSp>
          <p:nvCxnSpPr>
            <p:cNvPr id="151" name="直接连接符 150"/>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52" name="组合 151"/>
          <p:cNvGrpSpPr/>
          <p:nvPr/>
        </p:nvGrpSpPr>
        <p:grpSpPr>
          <a:xfrm>
            <a:off x="1814331" y="2744988"/>
            <a:ext cx="5408594" cy="1293671"/>
            <a:chOff x="1804171" y="1511252"/>
            <a:chExt cx="5408594" cy="1293671"/>
          </a:xfrm>
        </p:grpSpPr>
        <p:sp>
          <p:nvSpPr>
            <p:cNvPr id="153"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4"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5"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6"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7"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9"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0"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2"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3"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166" name="矩形 165"/>
          <p:cNvSpPr/>
          <p:nvPr/>
        </p:nvSpPr>
        <p:spPr>
          <a:xfrm>
            <a:off x="3289409" y="4279353"/>
            <a:ext cx="2565182" cy="359073"/>
          </a:xfrm>
          <a:prstGeom prst="rect">
            <a:avLst/>
          </a:prstGeom>
          <a:solidFill>
            <a:srgbClr val="C00000"/>
          </a:solidFill>
        </p:spPr>
        <p:txBody>
          <a:bodyPr wrap="square" tIns="0" bIns="0">
            <a:spAutoFit/>
          </a:bodyPr>
          <a:lstStyle/>
          <a:p>
            <a:pPr algn="ctr">
              <a:lnSpc>
                <a:spcPts val="2800"/>
              </a:lnSpc>
            </a:pPr>
            <a:r>
              <a:rPr lang="zh-CN" altLang="en-US" b="1" dirty="0">
                <a:solidFill>
                  <a:schemeClr val="bg1"/>
                </a:solidFill>
                <a:latin typeface="微软雅黑" panose="020B0503020204020204" pitchFamily="34" charset="-122"/>
                <a:ea typeface="微软雅黑" panose="020B0503020204020204" pitchFamily="34" charset="-122"/>
              </a:rPr>
              <a:t>如何指明各应用进程？</a:t>
            </a:r>
          </a:p>
        </p:txBody>
      </p:sp>
      <p:sp>
        <p:nvSpPr>
          <p:cNvPr id="9" name="内容占位符 8">
            <a:extLst>
              <a:ext uri="{FF2B5EF4-FFF2-40B4-BE49-F238E27FC236}">
                <a16:creationId xmlns:a16="http://schemas.microsoft.com/office/drawing/2014/main" id="{D7091207-3F83-6C59-E14F-9D20E3E58615}"/>
              </a:ext>
            </a:extLst>
          </p:cNvPr>
          <p:cNvSpPr>
            <a:spLocks noGrp="1"/>
          </p:cNvSpPr>
          <p:nvPr>
            <p:ph sz="quarter" idx="11"/>
          </p:nvPr>
        </p:nvSpPr>
        <p:spPr>
          <a:xfrm>
            <a:off x="486000" y="900000"/>
            <a:ext cx="8172000" cy="3703500"/>
          </a:xfrm>
        </p:spPr>
        <p:txBody>
          <a:bodyPr/>
          <a:lstStyle/>
          <a:p>
            <a:r>
              <a:rPr lang="zh-CN" altLang="en-US" dirty="0"/>
              <a:t>复用：应用进程都可以通过运输层再传送到网络层</a:t>
            </a:r>
            <a:endParaRPr lang="en-US" altLang="zh-CN" dirty="0"/>
          </a:p>
          <a:p>
            <a:r>
              <a:rPr lang="zh-CN" altLang="en-US" dirty="0"/>
              <a:t>分用：运输层从 </a:t>
            </a:r>
            <a:r>
              <a:rPr lang="en-US" altLang="zh-CN" dirty="0"/>
              <a:t>IP </a:t>
            </a:r>
            <a:r>
              <a:rPr lang="zh-CN" altLang="en-US" dirty="0"/>
              <a:t>层收到发送给应用进程的数据后，必须分别交付给指明的各应用进程</a:t>
            </a:r>
          </a:p>
        </p:txBody>
      </p:sp>
      <p:sp>
        <p:nvSpPr>
          <p:cNvPr id="4" name="标题 3">
            <a:extLst>
              <a:ext uri="{FF2B5EF4-FFF2-40B4-BE49-F238E27FC236}">
                <a16:creationId xmlns:a16="http://schemas.microsoft.com/office/drawing/2014/main" id="{5BD0973F-AA77-9FAF-0EC7-97DA9D2F4359}"/>
              </a:ext>
            </a:extLst>
          </p:cNvPr>
          <p:cNvSpPr>
            <a:spLocks noGrp="1"/>
          </p:cNvSpPr>
          <p:nvPr>
            <p:ph type="title"/>
          </p:nvPr>
        </p:nvSpPr>
        <p:spPr>
          <a:xfrm>
            <a:off x="486000" y="550723"/>
            <a:ext cx="8172000" cy="338554"/>
          </a:xfrm>
          <a:prstGeom prst="rect">
            <a:avLst/>
          </a:prstGeom>
        </p:spPr>
        <p:txBody>
          <a:bodyPr/>
          <a:lstStyle/>
          <a:p>
            <a:r>
              <a:rPr lang="en-US" altLang="zh-CN" dirty="0"/>
              <a:t>5.1.3   </a:t>
            </a:r>
            <a:r>
              <a:rPr lang="zh-CN" altLang="en-US" dirty="0"/>
              <a:t>运输层的端口</a:t>
            </a:r>
          </a:p>
        </p:txBody>
      </p:sp>
    </p:spTree>
    <p:extLst>
      <p:ext uri="{BB962C8B-B14F-4D97-AF65-F5344CB8AC3E}">
        <p14:creationId xmlns:p14="http://schemas.microsoft.com/office/powerpoint/2010/main" val="179513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p:cTn id="7" dur="500"/>
                                        <p:tgtEl>
                                          <p:spTgt spid="144"/>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8"/>
                                        </p:tgtEl>
                                        <p:attrNameLst>
                                          <p:attrName>style.visibility</p:attrName>
                                        </p:attrNameLst>
                                      </p:cBhvr>
                                      <p:to>
                                        <p:strVal val="visible"/>
                                      </p:to>
                                    </p:set>
                                    <p:animEffect transition="in" filter="fade">
                                      <p:cBhvr>
                                        <p:cTn id="15" dur="500"/>
                                        <p:tgtEl>
                                          <p:spTgt spid="148"/>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148"/>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E6D84384-EE41-5A51-CED7-F589A2D89D2B}"/>
              </a:ext>
            </a:extLst>
          </p:cNvPr>
          <p:cNvSpPr>
            <a:spLocks noGrp="1"/>
          </p:cNvSpPr>
          <p:nvPr>
            <p:ph sz="quarter" idx="11"/>
          </p:nvPr>
        </p:nvSpPr>
        <p:spPr>
          <a:xfrm>
            <a:off x="486000" y="900000"/>
            <a:ext cx="8172000" cy="3703500"/>
          </a:xfrm>
        </p:spPr>
        <p:txBody>
          <a:bodyPr/>
          <a:lstStyle/>
          <a:p>
            <a:r>
              <a:rPr lang="zh-CN" altLang="en-US" dirty="0"/>
              <a:t>进程的创建和撤销都是动态的，因此发送方几乎无法识别其他机器上的进程。</a:t>
            </a:r>
          </a:p>
          <a:p>
            <a:r>
              <a:rPr lang="zh-CN" altLang="en-US" dirty="0"/>
              <a:t>我们往往需要利用目的主机提供的功能来识别终点，而不需要知道具体实现这个功能的进程是哪一个。</a:t>
            </a:r>
          </a:p>
          <a:p>
            <a:r>
              <a:rPr lang="zh-CN" altLang="en-US" dirty="0"/>
              <a:t>有时我们会改换接收报文的进程，但并不需要通知所有的发送方。</a:t>
            </a:r>
          </a:p>
          <a:p>
            <a:endParaRPr lang="zh-CN" altLang="en-US" dirty="0"/>
          </a:p>
        </p:txBody>
      </p:sp>
      <p:sp>
        <p:nvSpPr>
          <p:cNvPr id="12" name="标题 11">
            <a:extLst>
              <a:ext uri="{FF2B5EF4-FFF2-40B4-BE49-F238E27FC236}">
                <a16:creationId xmlns:a16="http://schemas.microsoft.com/office/drawing/2014/main" id="{7C0D9C4A-6B71-95F0-BBCC-A5969528F5E0}"/>
              </a:ext>
            </a:extLst>
          </p:cNvPr>
          <p:cNvSpPr>
            <a:spLocks noGrp="1"/>
          </p:cNvSpPr>
          <p:nvPr>
            <p:ph type="title"/>
          </p:nvPr>
        </p:nvSpPr>
        <p:spPr>
          <a:xfrm>
            <a:off x="486000" y="550723"/>
            <a:ext cx="8172000" cy="338554"/>
          </a:xfrm>
          <a:prstGeom prst="rect">
            <a:avLst/>
          </a:prstGeom>
        </p:spPr>
        <p:txBody>
          <a:bodyPr/>
          <a:lstStyle/>
          <a:p>
            <a:r>
              <a:rPr lang="zh-CN" altLang="en-US" dirty="0"/>
              <a:t>需要考虑的问题 </a:t>
            </a:r>
          </a:p>
        </p:txBody>
      </p:sp>
    </p:spTree>
    <p:extLst>
      <p:ext uri="{BB962C8B-B14F-4D97-AF65-F5344CB8AC3E}">
        <p14:creationId xmlns:p14="http://schemas.microsoft.com/office/powerpoint/2010/main" val="42392024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组合 60"/>
          <p:cNvGrpSpPr/>
          <p:nvPr/>
        </p:nvGrpSpPr>
        <p:grpSpPr>
          <a:xfrm>
            <a:off x="3635765" y="4055746"/>
            <a:ext cx="2075855" cy="193528"/>
            <a:chOff x="3635765" y="3966096"/>
            <a:chExt cx="2075855" cy="193528"/>
          </a:xfrm>
        </p:grpSpPr>
        <p:sp>
          <p:nvSpPr>
            <p:cNvPr id="49" name="矩形 48"/>
            <p:cNvSpPr/>
            <p:nvPr/>
          </p:nvSpPr>
          <p:spPr>
            <a:xfrm>
              <a:off x="5139252" y="3966096"/>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0" name="矩形 49"/>
            <p:cNvSpPr/>
            <p:nvPr/>
          </p:nvSpPr>
          <p:spPr>
            <a:xfrm>
              <a:off x="3918957" y="3966096"/>
              <a:ext cx="572368"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1" name="矩形 50"/>
            <p:cNvSpPr/>
            <p:nvPr/>
          </p:nvSpPr>
          <p:spPr>
            <a:xfrm>
              <a:off x="4483468" y="3966096"/>
              <a:ext cx="653245"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8" name="右箭头 57"/>
            <p:cNvSpPr/>
            <p:nvPr/>
          </p:nvSpPr>
          <p:spPr>
            <a:xfrm flipH="1">
              <a:off x="3635765" y="4014478"/>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dirty="0"/>
            </a:p>
          </p:txBody>
        </p:sp>
      </p:grpSp>
      <p:grpSp>
        <p:nvGrpSpPr>
          <p:cNvPr id="77" name="组合 76"/>
          <p:cNvGrpSpPr/>
          <p:nvPr/>
        </p:nvGrpSpPr>
        <p:grpSpPr>
          <a:xfrm>
            <a:off x="1658470" y="1855689"/>
            <a:ext cx="6381519" cy="2145126"/>
            <a:chOff x="1658470" y="1927409"/>
            <a:chExt cx="6381519" cy="2145126"/>
          </a:xfrm>
        </p:grpSpPr>
        <p:sp>
          <p:nvSpPr>
            <p:cNvPr id="6" name="矩形 5"/>
            <p:cNvSpPr/>
            <p:nvPr/>
          </p:nvSpPr>
          <p:spPr>
            <a:xfrm>
              <a:off x="1658470" y="2808257"/>
              <a:ext cx="2578362" cy="602500"/>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781285" y="2736305"/>
              <a:ext cx="513452" cy="185596"/>
              <a:chOff x="1452836" y="2079261"/>
              <a:chExt cx="586980" cy="241909"/>
            </a:xfrm>
          </p:grpSpPr>
          <p:sp>
            <p:nvSpPr>
              <p:cNvPr id="10" name="矩形 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 name="直接连接符 1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 name="Text Box 20"/>
            <p:cNvSpPr txBox="1">
              <a:spLocks noChangeArrowheads="1"/>
            </p:cNvSpPr>
            <p:nvPr/>
          </p:nvSpPr>
          <p:spPr bwMode="auto">
            <a:xfrm>
              <a:off x="1698199"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grpSp>
          <p:nvGrpSpPr>
            <p:cNvPr id="14" name="组合 13"/>
            <p:cNvGrpSpPr/>
            <p:nvPr/>
          </p:nvGrpSpPr>
          <p:grpSpPr>
            <a:xfrm>
              <a:off x="2712498" y="2736305"/>
              <a:ext cx="513452" cy="185596"/>
              <a:chOff x="1452836" y="2079261"/>
              <a:chExt cx="586980" cy="241909"/>
            </a:xfrm>
          </p:grpSpPr>
          <p:sp>
            <p:nvSpPr>
              <p:cNvPr id="15" name="矩形 1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nvGrpSpPr>
          <p:grpSpPr>
            <a:xfrm>
              <a:off x="3623084" y="2736305"/>
              <a:ext cx="513452" cy="185596"/>
              <a:chOff x="1452836" y="2079261"/>
              <a:chExt cx="586980" cy="241909"/>
            </a:xfrm>
          </p:grpSpPr>
          <p:sp>
            <p:nvSpPr>
              <p:cNvPr id="19" name="矩形 18"/>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 name="直接连接符 19"/>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Rectangle 396"/>
            <p:cNvSpPr>
              <a:spLocks noChangeArrowheads="1"/>
            </p:cNvSpPr>
            <p:nvPr/>
          </p:nvSpPr>
          <p:spPr bwMode="auto">
            <a:xfrm>
              <a:off x="4483809" y="3029392"/>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端口</a:t>
              </a:r>
            </a:p>
          </p:txBody>
        </p:sp>
        <p:sp>
          <p:nvSpPr>
            <p:cNvPr id="23" name="Line 399"/>
            <p:cNvSpPr>
              <a:spLocks noChangeShapeType="1"/>
            </p:cNvSpPr>
            <p:nvPr/>
          </p:nvSpPr>
          <p:spPr bwMode="auto">
            <a:xfrm flipH="1" flipV="1">
              <a:off x="3920828" y="2870549"/>
              <a:ext cx="563316"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24" name="TextBox 29"/>
            <p:cNvSpPr txBox="1"/>
            <p:nvPr/>
          </p:nvSpPr>
          <p:spPr>
            <a:xfrm>
              <a:off x="2715623" y="2727311"/>
              <a:ext cx="577402"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58800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25" name="矩形 24"/>
            <p:cNvSpPr/>
            <p:nvPr/>
          </p:nvSpPr>
          <p:spPr>
            <a:xfrm>
              <a:off x="5247572" y="2808257"/>
              <a:ext cx="2578362" cy="602500"/>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 name="组合 25"/>
            <p:cNvGrpSpPr/>
            <p:nvPr/>
          </p:nvGrpSpPr>
          <p:grpSpPr>
            <a:xfrm>
              <a:off x="5370387" y="2736305"/>
              <a:ext cx="513452" cy="185596"/>
              <a:chOff x="1452836" y="2079261"/>
              <a:chExt cx="586980" cy="241909"/>
            </a:xfrm>
          </p:grpSpPr>
          <p:sp>
            <p:nvSpPr>
              <p:cNvPr id="27" name="矩形 26"/>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8" name="直接连接符 27"/>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组合 29"/>
            <p:cNvGrpSpPr/>
            <p:nvPr/>
          </p:nvGrpSpPr>
          <p:grpSpPr>
            <a:xfrm>
              <a:off x="6301600" y="2736305"/>
              <a:ext cx="513452" cy="185596"/>
              <a:chOff x="1452836" y="2079261"/>
              <a:chExt cx="586980" cy="241909"/>
            </a:xfrm>
          </p:grpSpPr>
          <p:sp>
            <p:nvSpPr>
              <p:cNvPr id="31" name="矩形 3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2" name="直接连接符 3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组合 33"/>
            <p:cNvGrpSpPr/>
            <p:nvPr/>
          </p:nvGrpSpPr>
          <p:grpSpPr>
            <a:xfrm>
              <a:off x="7212186" y="2736305"/>
              <a:ext cx="513452" cy="185596"/>
              <a:chOff x="1452836" y="2079261"/>
              <a:chExt cx="586980" cy="241909"/>
            </a:xfrm>
          </p:grpSpPr>
          <p:sp>
            <p:nvSpPr>
              <p:cNvPr id="35" name="矩形 3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6" name="直接连接符 3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Line 399"/>
            <p:cNvSpPr>
              <a:spLocks noChangeShapeType="1"/>
            </p:cNvSpPr>
            <p:nvPr/>
          </p:nvSpPr>
          <p:spPr bwMode="auto">
            <a:xfrm flipV="1">
              <a:off x="5042962" y="2870549"/>
              <a:ext cx="500127"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39" name="TextBox 44"/>
            <p:cNvSpPr txBox="1"/>
            <p:nvPr/>
          </p:nvSpPr>
          <p:spPr>
            <a:xfrm>
              <a:off x="6407270" y="2727311"/>
              <a:ext cx="341760"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80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40" name="Text Box 25"/>
            <p:cNvSpPr txBox="1">
              <a:spLocks noChangeArrowheads="1"/>
            </p:cNvSpPr>
            <p:nvPr/>
          </p:nvSpPr>
          <p:spPr bwMode="auto">
            <a:xfrm>
              <a:off x="7120854"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sp>
          <p:nvSpPr>
            <p:cNvPr id="42" name="Text Box 20"/>
            <p:cNvSpPr txBox="1">
              <a:spLocks noChangeArrowheads="1"/>
            </p:cNvSpPr>
            <p:nvPr/>
          </p:nvSpPr>
          <p:spPr bwMode="auto">
            <a:xfrm>
              <a:off x="5277045"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sp>
          <p:nvSpPr>
            <p:cNvPr id="43" name="Rectangle 396"/>
            <p:cNvSpPr>
              <a:spLocks noChangeArrowheads="1"/>
            </p:cNvSpPr>
            <p:nvPr/>
          </p:nvSpPr>
          <p:spPr bwMode="auto">
            <a:xfrm>
              <a:off x="6177680" y="1927409"/>
              <a:ext cx="71814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B</a:t>
              </a:r>
              <a:endParaRPr kumimoji="1" lang="zh-CN" altLang="en-US" sz="1400" b="1" dirty="0">
                <a:solidFill>
                  <a:srgbClr val="0000FF"/>
                </a:solidFill>
                <a:latin typeface="微软雅黑" pitchFamily="34" charset="-122"/>
                <a:ea typeface="微软雅黑" pitchFamily="34" charset="-122"/>
              </a:endParaRPr>
            </a:p>
          </p:txBody>
        </p:sp>
        <p:sp>
          <p:nvSpPr>
            <p:cNvPr id="44" name="Rectangle 396"/>
            <p:cNvSpPr>
              <a:spLocks noChangeArrowheads="1"/>
            </p:cNvSpPr>
            <p:nvPr/>
          </p:nvSpPr>
          <p:spPr bwMode="auto">
            <a:xfrm>
              <a:off x="2582966" y="1927409"/>
              <a:ext cx="72936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A</a:t>
              </a:r>
              <a:endParaRPr kumimoji="1" lang="zh-CN" altLang="en-US" sz="1400" b="1" dirty="0">
                <a:solidFill>
                  <a:srgbClr val="0000FF"/>
                </a:solidFill>
                <a:latin typeface="微软雅黑" pitchFamily="34" charset="-122"/>
                <a:ea typeface="微软雅黑" pitchFamily="34" charset="-122"/>
              </a:endParaRPr>
            </a:p>
          </p:txBody>
        </p:sp>
        <p:cxnSp>
          <p:nvCxnSpPr>
            <p:cNvPr id="45" name="直接连接符 44"/>
            <p:cNvCxnSpPr/>
            <p:nvPr/>
          </p:nvCxnSpPr>
          <p:spPr>
            <a:xfrm>
              <a:off x="2964781" y="4072535"/>
              <a:ext cx="359248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2964781" y="2907271"/>
              <a:ext cx="3592481" cy="1165264"/>
              <a:chOff x="2665137" y="2409968"/>
              <a:chExt cx="4106940" cy="1165570"/>
            </a:xfrm>
          </p:grpSpPr>
          <p:cxnSp>
            <p:nvCxnSpPr>
              <p:cNvPr id="47" name="直接连接符 46"/>
              <p:cNvCxnSpPr/>
              <p:nvPr/>
            </p:nvCxnSpPr>
            <p:spPr>
              <a:xfrm>
                <a:off x="677207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266513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55" name="Rectangle 396"/>
            <p:cNvSpPr>
              <a:spLocks noChangeArrowheads="1"/>
            </p:cNvSpPr>
            <p:nvPr/>
          </p:nvSpPr>
          <p:spPr bwMode="auto">
            <a:xfrm>
              <a:off x="3483049"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运输层</a:t>
              </a:r>
            </a:p>
          </p:txBody>
        </p:sp>
        <p:sp>
          <p:nvSpPr>
            <p:cNvPr id="56" name="Rectangle 396"/>
            <p:cNvSpPr>
              <a:spLocks noChangeArrowheads="1"/>
            </p:cNvSpPr>
            <p:nvPr/>
          </p:nvSpPr>
          <p:spPr bwMode="auto">
            <a:xfrm>
              <a:off x="5323913"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运输层</a:t>
              </a:r>
            </a:p>
          </p:txBody>
        </p:sp>
        <p:sp>
          <p:nvSpPr>
            <p:cNvPr id="7" name="Text Box 25"/>
            <p:cNvSpPr txBox="1">
              <a:spLocks noChangeArrowheads="1"/>
            </p:cNvSpPr>
            <p:nvPr/>
          </p:nvSpPr>
          <p:spPr bwMode="auto">
            <a:xfrm>
              <a:off x="3542007"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grpSp>
      <p:grpSp>
        <p:nvGrpSpPr>
          <p:cNvPr id="78" name="组合 77"/>
          <p:cNvGrpSpPr/>
          <p:nvPr/>
        </p:nvGrpSpPr>
        <p:grpSpPr>
          <a:xfrm>
            <a:off x="3911776" y="3394682"/>
            <a:ext cx="2217760" cy="548783"/>
            <a:chOff x="3911776" y="3466402"/>
            <a:chExt cx="2217760" cy="548783"/>
          </a:xfrm>
        </p:grpSpPr>
        <p:grpSp>
          <p:nvGrpSpPr>
            <p:cNvPr id="63" name="组合 62"/>
            <p:cNvGrpSpPr/>
            <p:nvPr/>
          </p:nvGrpSpPr>
          <p:grpSpPr>
            <a:xfrm>
              <a:off x="3911776" y="3821657"/>
              <a:ext cx="2094060" cy="193528"/>
              <a:chOff x="3911776" y="3660291"/>
              <a:chExt cx="2094060" cy="193528"/>
            </a:xfrm>
          </p:grpSpPr>
          <p:sp>
            <p:nvSpPr>
              <p:cNvPr id="52" name="矩形 51"/>
              <p:cNvSpPr/>
              <p:nvPr/>
            </p:nvSpPr>
            <p:spPr>
              <a:xfrm>
                <a:off x="3911776" y="3660291"/>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3" name="矩形 52"/>
              <p:cNvSpPr/>
              <p:nvPr/>
            </p:nvSpPr>
            <p:spPr>
              <a:xfrm>
                <a:off x="4484143" y="3660291"/>
                <a:ext cx="572368"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4" name="矩形 53"/>
              <p:cNvSpPr/>
              <p:nvPr/>
            </p:nvSpPr>
            <p:spPr>
              <a:xfrm>
                <a:off x="5048655" y="3660291"/>
                <a:ext cx="678992"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7" name="右箭头 56"/>
              <p:cNvSpPr/>
              <p:nvPr/>
            </p:nvSpPr>
            <p:spPr>
              <a:xfrm>
                <a:off x="5743019" y="3708675"/>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0" name="矩形 59"/>
            <p:cNvSpPr/>
            <p:nvPr/>
          </p:nvSpPr>
          <p:spPr>
            <a:xfrm>
              <a:off x="3978955" y="3466402"/>
              <a:ext cx="800219"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目的端口</a:t>
              </a:r>
            </a:p>
          </p:txBody>
        </p:sp>
        <p:sp>
          <p:nvSpPr>
            <p:cNvPr id="66" name="矩形 65"/>
            <p:cNvSpPr/>
            <p:nvPr/>
          </p:nvSpPr>
          <p:spPr>
            <a:xfrm>
              <a:off x="5483205" y="3466402"/>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源端口</a:t>
              </a:r>
            </a:p>
          </p:txBody>
        </p:sp>
        <p:cxnSp>
          <p:nvCxnSpPr>
            <p:cNvPr id="68" name="直接箭头连接符 67"/>
            <p:cNvCxnSpPr/>
            <p:nvPr/>
          </p:nvCxnSpPr>
          <p:spPr>
            <a:xfrm flipH="1" flipV="1">
              <a:off x="4517744" y="3690857"/>
              <a:ext cx="131700" cy="179186"/>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69" name="直接箭头连接符 68"/>
            <p:cNvCxnSpPr/>
            <p:nvPr/>
          </p:nvCxnSpPr>
          <p:spPr>
            <a:xfrm flipV="1">
              <a:off x="5655101" y="3690857"/>
              <a:ext cx="87918" cy="169660"/>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grpSp>
      <p:sp>
        <p:nvSpPr>
          <p:cNvPr id="41" name="Text Box 26"/>
          <p:cNvSpPr txBox="1">
            <a:spLocks noChangeArrowheads="1"/>
          </p:cNvSpPr>
          <p:nvPr/>
        </p:nvSpPr>
        <p:spPr bwMode="auto">
          <a:xfrm>
            <a:off x="6218995" y="1977576"/>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8" name="Text Box 26"/>
          <p:cNvSpPr txBox="1">
            <a:spLocks noChangeArrowheads="1"/>
          </p:cNvSpPr>
          <p:nvPr/>
        </p:nvSpPr>
        <p:spPr bwMode="auto">
          <a:xfrm>
            <a:off x="2630157" y="1960325"/>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64" name="内容占位符 63">
            <a:extLst>
              <a:ext uri="{FF2B5EF4-FFF2-40B4-BE49-F238E27FC236}">
                <a16:creationId xmlns:a16="http://schemas.microsoft.com/office/drawing/2014/main" id="{AD0732D3-6BE6-80F2-76E2-C430A1E51DAE}"/>
              </a:ext>
            </a:extLst>
          </p:cNvPr>
          <p:cNvSpPr>
            <a:spLocks noGrp="1"/>
          </p:cNvSpPr>
          <p:nvPr>
            <p:ph sz="quarter" idx="11"/>
          </p:nvPr>
        </p:nvSpPr>
        <p:spPr>
          <a:xfrm>
            <a:off x="486000" y="900000"/>
            <a:ext cx="8172000" cy="3703500"/>
          </a:xfrm>
        </p:spPr>
        <p:txBody>
          <a:bodyPr/>
          <a:lstStyle/>
          <a:p>
            <a:r>
              <a:rPr lang="zh-CN" altLang="en-US" dirty="0"/>
              <a:t>解决方法：在运输层使用协议端口号 </a:t>
            </a:r>
            <a:r>
              <a:rPr lang="en-US" altLang="zh-CN" dirty="0"/>
              <a:t>(protocol port number)</a:t>
            </a:r>
            <a:r>
              <a:rPr lang="zh-CN" altLang="en-US" dirty="0"/>
              <a:t>，或通常简称为端口 </a:t>
            </a:r>
            <a:r>
              <a:rPr lang="en-US" altLang="zh-CN" dirty="0"/>
              <a:t>(port)</a:t>
            </a:r>
            <a:r>
              <a:rPr lang="zh-CN" altLang="en-US" dirty="0"/>
              <a:t>。把端口设为通信的抽象终点。</a:t>
            </a:r>
          </a:p>
          <a:p>
            <a:endParaRPr lang="zh-CN" altLang="en-US" dirty="0"/>
          </a:p>
        </p:txBody>
      </p:sp>
      <p:sp>
        <p:nvSpPr>
          <p:cNvPr id="75" name="标题 74">
            <a:extLst>
              <a:ext uri="{FF2B5EF4-FFF2-40B4-BE49-F238E27FC236}">
                <a16:creationId xmlns:a16="http://schemas.microsoft.com/office/drawing/2014/main" id="{0F4FB61A-4756-AAA4-D5AA-12704EE8F97E}"/>
              </a:ext>
            </a:extLst>
          </p:cNvPr>
          <p:cNvSpPr>
            <a:spLocks noGrp="1"/>
          </p:cNvSpPr>
          <p:nvPr>
            <p:ph type="title"/>
          </p:nvPr>
        </p:nvSpPr>
        <p:spPr>
          <a:xfrm>
            <a:off x="486000" y="550723"/>
            <a:ext cx="8172000" cy="338554"/>
          </a:xfrm>
          <a:prstGeom prst="rect">
            <a:avLst/>
          </a:prstGeom>
        </p:spPr>
        <p:txBody>
          <a:bodyPr/>
          <a:lstStyle/>
          <a:p>
            <a:r>
              <a:rPr lang="zh-CN" altLang="en-US" dirty="0"/>
              <a:t>端口号 </a:t>
            </a:r>
            <a:r>
              <a:rPr lang="en-US" altLang="zh-CN" dirty="0"/>
              <a:t>(protocol port number)</a:t>
            </a:r>
            <a:endParaRPr lang="zh-CN" altLang="en-US" dirty="0"/>
          </a:p>
        </p:txBody>
      </p:sp>
    </p:spTree>
    <p:extLst>
      <p:ext uri="{BB962C8B-B14F-4D97-AF65-F5344CB8AC3E}">
        <p14:creationId xmlns:p14="http://schemas.microsoft.com/office/powerpoint/2010/main" val="93622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animEffect transition="in" filter="wipe(left)">
                                      <p:cBhvr>
                                        <p:cTn id="13" dur="1000"/>
                                        <p:tgtEl>
                                          <p:spTgt spid="78"/>
                                        </p:tgtEl>
                                      </p:cBhvr>
                                    </p:animEffect>
                                  </p:childTnLst>
                                </p:cTn>
                              </p:par>
                            </p:childTnLst>
                          </p:cTn>
                        </p:par>
                        <p:par>
                          <p:cTn id="14" fill="hold">
                            <p:stCondLst>
                              <p:cond delay="1000"/>
                            </p:stCondLst>
                            <p:childTnLst>
                              <p:par>
                                <p:cTn id="15" presetID="22" presetClass="entr" presetSubtype="2" fill="hold" nodeType="afterEffect">
                                  <p:stCondLst>
                                    <p:cond delay="1000"/>
                                  </p:stCondLst>
                                  <p:childTnLst>
                                    <p:set>
                                      <p:cBhvr>
                                        <p:cTn id="16" dur="1" fill="hold">
                                          <p:stCondLst>
                                            <p:cond delay="0"/>
                                          </p:stCondLst>
                                        </p:cTn>
                                        <p:tgtEl>
                                          <p:spTgt spid="61"/>
                                        </p:tgtEl>
                                        <p:attrNameLst>
                                          <p:attrName>style.visibility</p:attrName>
                                        </p:attrNameLst>
                                      </p:cBhvr>
                                      <p:to>
                                        <p:strVal val="visible"/>
                                      </p:to>
                                    </p:set>
                                    <p:animEffect transition="in" filter="wipe(right)">
                                      <p:cBhvr>
                                        <p:cTn id="17" dur="1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36867915"/>
              </p:ext>
            </p:extLst>
          </p:nvPr>
        </p:nvGraphicFramePr>
        <p:xfrm>
          <a:off x="1505694" y="1201273"/>
          <a:ext cx="6377146" cy="28955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F3CF8926-F5C8-5D18-B548-8FFD0B738D1D}"/>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08ACE7AF-3B50-9EC0-9189-FC6870F0A2DE}"/>
              </a:ext>
            </a:extLst>
          </p:cNvPr>
          <p:cNvSpPr>
            <a:spLocks noGrp="1"/>
          </p:cNvSpPr>
          <p:nvPr>
            <p:ph type="title"/>
          </p:nvPr>
        </p:nvSpPr>
        <p:spPr>
          <a:xfrm>
            <a:off x="486000" y="550723"/>
            <a:ext cx="8172000" cy="338554"/>
          </a:xfrm>
          <a:prstGeom prst="rect">
            <a:avLst/>
          </a:prstGeom>
        </p:spPr>
        <p:txBody>
          <a:bodyPr/>
          <a:lstStyle/>
          <a:p>
            <a:r>
              <a:rPr lang="zh-CN" altLang="en-US" dirty="0"/>
              <a:t>软件端口与硬件端口</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p:cNvGrpSpPr/>
          <p:nvPr/>
        </p:nvGrpSpPr>
        <p:grpSpPr>
          <a:xfrm>
            <a:off x="2452764" y="2278276"/>
            <a:ext cx="4079887" cy="1740276"/>
            <a:chOff x="2452764" y="2487614"/>
            <a:chExt cx="4079887" cy="1740276"/>
          </a:xfrm>
        </p:grpSpPr>
        <p:grpSp>
          <p:nvGrpSpPr>
            <p:cNvPr id="4" name="组合 3"/>
            <p:cNvGrpSpPr/>
            <p:nvPr/>
          </p:nvGrpSpPr>
          <p:grpSpPr>
            <a:xfrm>
              <a:off x="5036729" y="2487614"/>
              <a:ext cx="1495922" cy="1740276"/>
              <a:chOff x="5020936" y="2487613"/>
              <a:chExt cx="1922848" cy="2160773"/>
            </a:xfrm>
          </p:grpSpPr>
          <p:grpSp>
            <p:nvGrpSpPr>
              <p:cNvPr id="25" name="Group 223"/>
              <p:cNvGrpSpPr>
                <a:grpSpLocks/>
              </p:cNvGrpSpPr>
              <p:nvPr/>
            </p:nvGrpSpPr>
            <p:grpSpPr bwMode="auto">
              <a:xfrm>
                <a:off x="5025269" y="2487613"/>
                <a:ext cx="1819273" cy="1360190"/>
                <a:chOff x="1234" y="3088"/>
                <a:chExt cx="572" cy="571"/>
              </a:xfrm>
            </p:grpSpPr>
            <p:sp>
              <p:nvSpPr>
                <p:cNvPr id="26"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7"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28"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9"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0"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1"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2"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3"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4"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35" name="Group 5"/>
              <p:cNvGrpSpPr>
                <a:grpSpLocks/>
              </p:cNvGrpSpPr>
              <p:nvPr/>
            </p:nvGrpSpPr>
            <p:grpSpPr bwMode="auto">
              <a:xfrm>
                <a:off x="5055491" y="3835401"/>
                <a:ext cx="1828800" cy="451861"/>
                <a:chOff x="3504" y="3216"/>
                <a:chExt cx="1200" cy="496"/>
              </a:xfrm>
              <a:solidFill>
                <a:srgbClr val="66FFFF"/>
              </a:solidFill>
            </p:grpSpPr>
            <p:sp>
              <p:nvSpPr>
                <p:cNvPr id="36"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37"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38"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39"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40" name="Oval 13"/>
              <p:cNvSpPr>
                <a:spLocks noChangeArrowheads="1"/>
              </p:cNvSpPr>
              <p:nvPr/>
            </p:nvSpPr>
            <p:spPr bwMode="auto">
              <a:xfrm>
                <a:off x="574326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41" name="Oval 14"/>
              <p:cNvSpPr>
                <a:spLocks noChangeArrowheads="1"/>
              </p:cNvSpPr>
              <p:nvPr/>
            </p:nvSpPr>
            <p:spPr bwMode="auto">
              <a:xfrm>
                <a:off x="52245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42" name="Oval 15"/>
              <p:cNvSpPr>
                <a:spLocks noChangeArrowheads="1"/>
              </p:cNvSpPr>
              <p:nvPr/>
            </p:nvSpPr>
            <p:spPr bwMode="auto">
              <a:xfrm>
                <a:off x="62151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43" name="AutoShape 16"/>
              <p:cNvSpPr>
                <a:spLocks noChangeArrowheads="1"/>
              </p:cNvSpPr>
              <p:nvPr/>
            </p:nvSpPr>
            <p:spPr bwMode="auto">
              <a:xfrm>
                <a:off x="582646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12" name="Text Box 10"/>
              <p:cNvSpPr txBox="1">
                <a:spLocks noChangeArrowheads="1"/>
              </p:cNvSpPr>
              <p:nvPr/>
            </p:nvSpPr>
            <p:spPr bwMode="auto">
              <a:xfrm>
                <a:off x="5020936" y="4266242"/>
                <a:ext cx="1922848"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92</a:t>
                </a: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68</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1</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7</a:t>
                </a:r>
                <a:r>
                  <a:rPr kumimoji="1" lang="zh-CN" altLang="en-US" sz="1400" b="1" dirty="0">
                    <a:solidFill>
                      <a:srgbClr val="C00000"/>
                    </a:solidFill>
                    <a:latin typeface="微软雅黑" pitchFamily="34" charset="-122"/>
                    <a:ea typeface="微软雅黑" pitchFamily="34" charset="-122"/>
                  </a:rPr>
                  <a:t>:80</a:t>
                </a:r>
                <a:endParaRPr kumimoji="1" lang="en-US" altLang="zh-CN" sz="1400" b="1" dirty="0">
                  <a:solidFill>
                    <a:srgbClr val="C00000"/>
                  </a:solidFill>
                  <a:latin typeface="微软雅黑" pitchFamily="34" charset="-122"/>
                  <a:ea typeface="微软雅黑" pitchFamily="34" charset="-122"/>
                </a:endParaRPr>
              </a:p>
            </p:txBody>
          </p:sp>
        </p:grpSp>
        <p:grpSp>
          <p:nvGrpSpPr>
            <p:cNvPr id="3" name="组合 2"/>
            <p:cNvGrpSpPr/>
            <p:nvPr/>
          </p:nvGrpSpPr>
          <p:grpSpPr>
            <a:xfrm>
              <a:off x="2452764" y="2487614"/>
              <a:ext cx="1606529" cy="1740276"/>
              <a:chOff x="1859918" y="2487613"/>
              <a:chExt cx="2065020" cy="2160773"/>
            </a:xfrm>
          </p:grpSpPr>
          <p:grpSp>
            <p:nvGrpSpPr>
              <p:cNvPr id="44" name="Group 223"/>
              <p:cNvGrpSpPr>
                <a:grpSpLocks/>
              </p:cNvGrpSpPr>
              <p:nvPr/>
            </p:nvGrpSpPr>
            <p:grpSpPr bwMode="auto">
              <a:xfrm>
                <a:off x="1935339" y="2487613"/>
                <a:ext cx="1819273" cy="1360190"/>
                <a:chOff x="1234" y="3088"/>
                <a:chExt cx="572" cy="571"/>
              </a:xfrm>
            </p:grpSpPr>
            <p:sp>
              <p:nvSpPr>
                <p:cNvPr id="45"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6"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47"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8"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9"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0"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1"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2"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3"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54" name="Group 5"/>
              <p:cNvGrpSpPr>
                <a:grpSpLocks/>
              </p:cNvGrpSpPr>
              <p:nvPr/>
            </p:nvGrpSpPr>
            <p:grpSpPr bwMode="auto">
              <a:xfrm>
                <a:off x="1965561" y="3835401"/>
                <a:ext cx="1828800" cy="451861"/>
                <a:chOff x="3504" y="3216"/>
                <a:chExt cx="1200" cy="496"/>
              </a:xfrm>
              <a:solidFill>
                <a:srgbClr val="66FFFF"/>
              </a:solidFill>
            </p:grpSpPr>
            <p:sp>
              <p:nvSpPr>
                <p:cNvPr id="55"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56"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57"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58"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59" name="Oval 13"/>
              <p:cNvSpPr>
                <a:spLocks noChangeArrowheads="1"/>
              </p:cNvSpPr>
              <p:nvPr/>
            </p:nvSpPr>
            <p:spPr bwMode="auto">
              <a:xfrm>
                <a:off x="265333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60" name="Oval 14"/>
              <p:cNvSpPr>
                <a:spLocks noChangeArrowheads="1"/>
              </p:cNvSpPr>
              <p:nvPr/>
            </p:nvSpPr>
            <p:spPr bwMode="auto">
              <a:xfrm>
                <a:off x="21345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61" name="Oval 15"/>
              <p:cNvSpPr>
                <a:spLocks noChangeArrowheads="1"/>
              </p:cNvSpPr>
              <p:nvPr/>
            </p:nvSpPr>
            <p:spPr bwMode="auto">
              <a:xfrm>
                <a:off x="31251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62" name="AutoShape 16"/>
              <p:cNvSpPr>
                <a:spLocks noChangeArrowheads="1"/>
              </p:cNvSpPr>
              <p:nvPr/>
            </p:nvSpPr>
            <p:spPr bwMode="auto">
              <a:xfrm>
                <a:off x="273653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63" name="Text Box 10"/>
              <p:cNvSpPr txBox="1">
                <a:spLocks noChangeArrowheads="1"/>
              </p:cNvSpPr>
              <p:nvPr/>
            </p:nvSpPr>
            <p:spPr bwMode="auto">
              <a:xfrm>
                <a:off x="1859918" y="4266242"/>
                <a:ext cx="2065020"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92</a:t>
                </a: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68</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10</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2</a:t>
                </a:r>
                <a:r>
                  <a:rPr kumimoji="1" lang="zh-CN" altLang="en-US" sz="1400" b="1" dirty="0">
                    <a:solidFill>
                      <a:srgbClr val="0000FF"/>
                    </a:solidFill>
                    <a:latin typeface="微软雅黑" pitchFamily="34" charset="-122"/>
                    <a:ea typeface="微软雅黑" pitchFamily="34" charset="-122"/>
                  </a:rPr>
                  <a:t>:80</a:t>
                </a:r>
                <a:endParaRPr kumimoji="1" lang="en-US" altLang="zh-CN" sz="1400" b="1" dirty="0">
                  <a:solidFill>
                    <a:srgbClr val="0000FF"/>
                  </a:solidFill>
                  <a:latin typeface="微软雅黑" pitchFamily="34" charset="-122"/>
                  <a:ea typeface="微软雅黑" pitchFamily="34" charset="-122"/>
                </a:endParaRPr>
              </a:p>
            </p:txBody>
          </p:sp>
        </p:grpSp>
        <p:sp>
          <p:nvSpPr>
            <p:cNvPr id="64" name="Rectangle 396"/>
            <p:cNvSpPr>
              <a:spLocks noChangeArrowheads="1"/>
            </p:cNvSpPr>
            <p:nvPr/>
          </p:nvSpPr>
          <p:spPr bwMode="auto">
            <a:xfrm>
              <a:off x="4264969" y="332061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C00000"/>
                  </a:solidFill>
                  <a:latin typeface="微软雅黑" pitchFamily="34" charset="-122"/>
                  <a:ea typeface="微软雅黑" pitchFamily="34" charset="-122"/>
                </a:rPr>
                <a:t>端口</a:t>
              </a:r>
            </a:p>
          </p:txBody>
        </p:sp>
        <p:sp>
          <p:nvSpPr>
            <p:cNvPr id="65" name="Line 399"/>
            <p:cNvSpPr>
              <a:spLocks noChangeShapeType="1"/>
            </p:cNvSpPr>
            <p:nvPr/>
          </p:nvSpPr>
          <p:spPr bwMode="auto">
            <a:xfrm flipH="1">
              <a:off x="3761794" y="3519669"/>
              <a:ext cx="488037" cy="303717"/>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66" name="Line 399"/>
            <p:cNvSpPr>
              <a:spLocks noChangeShapeType="1"/>
            </p:cNvSpPr>
            <p:nvPr/>
          </p:nvSpPr>
          <p:spPr bwMode="auto">
            <a:xfrm>
              <a:off x="4744254" y="3498824"/>
              <a:ext cx="496873" cy="324563"/>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grpSp>
      <p:sp>
        <p:nvSpPr>
          <p:cNvPr id="2" name="矩形 1"/>
          <p:cNvSpPr/>
          <p:nvPr/>
        </p:nvSpPr>
        <p:spPr>
          <a:xfrm>
            <a:off x="1452284" y="3997543"/>
            <a:ext cx="6302188" cy="759182"/>
          </a:xfrm>
          <a:prstGeom prst="rect">
            <a:avLst/>
          </a:prstGeom>
        </p:spPr>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由此可见，两个计算机中的进程要互相通信，不仅必须知道对方的端口号，而且还要知道对方的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a:t>
            </a:r>
          </a:p>
        </p:txBody>
      </p:sp>
      <p:sp>
        <p:nvSpPr>
          <p:cNvPr id="11" name="内容占位符 10">
            <a:extLst>
              <a:ext uri="{FF2B5EF4-FFF2-40B4-BE49-F238E27FC236}">
                <a16:creationId xmlns:a16="http://schemas.microsoft.com/office/drawing/2014/main" id="{B2DE4A8E-5190-02EF-8C91-0F841773F1FE}"/>
              </a:ext>
            </a:extLst>
          </p:cNvPr>
          <p:cNvSpPr>
            <a:spLocks noGrp="1"/>
          </p:cNvSpPr>
          <p:nvPr>
            <p:ph sz="quarter" idx="11"/>
          </p:nvPr>
        </p:nvSpPr>
        <p:spPr>
          <a:xfrm>
            <a:off x="486000" y="900000"/>
            <a:ext cx="8172000" cy="3703500"/>
          </a:xfrm>
        </p:spPr>
        <p:txBody>
          <a:bodyPr/>
          <a:lstStyle/>
          <a:p>
            <a:r>
              <a:rPr lang="zh-CN" altLang="en-US" dirty="0"/>
              <a:t>端口用一个 </a:t>
            </a:r>
            <a:r>
              <a:rPr lang="en-US" altLang="zh-CN" dirty="0"/>
              <a:t>16 </a:t>
            </a:r>
            <a:r>
              <a:rPr lang="zh-CN" altLang="en-US" dirty="0"/>
              <a:t>位端口号进行标志，允许有 </a:t>
            </a:r>
            <a:r>
              <a:rPr lang="en-US" altLang="zh-CN" dirty="0"/>
              <a:t>65,535 </a:t>
            </a:r>
            <a:r>
              <a:rPr lang="zh-CN" altLang="en-US" dirty="0"/>
              <a:t>个不同的端口号。</a:t>
            </a:r>
          </a:p>
          <a:p>
            <a:r>
              <a:rPr lang="zh-CN" altLang="en-US" dirty="0"/>
              <a:t>端口号只具有本地意义，只是为了标志本计算机应用层中的各进程。</a:t>
            </a:r>
            <a:endParaRPr lang="en-US" altLang="zh-CN" dirty="0"/>
          </a:p>
          <a:p>
            <a:r>
              <a:rPr lang="zh-CN" altLang="en-US" dirty="0"/>
              <a:t>在互联网中，不同计算机的相同端口号没有联系。</a:t>
            </a:r>
          </a:p>
          <a:p>
            <a:endParaRPr lang="zh-CN" altLang="en-US" dirty="0"/>
          </a:p>
          <a:p>
            <a:endParaRPr lang="zh-CN" altLang="en-US" dirty="0"/>
          </a:p>
        </p:txBody>
      </p:sp>
      <p:sp>
        <p:nvSpPr>
          <p:cNvPr id="9" name="标题 8">
            <a:extLst>
              <a:ext uri="{FF2B5EF4-FFF2-40B4-BE49-F238E27FC236}">
                <a16:creationId xmlns:a16="http://schemas.microsoft.com/office/drawing/2014/main" id="{568D03B5-836E-43D1-740E-ECE2056EFA1D}"/>
              </a:ext>
            </a:extLst>
          </p:cNvPr>
          <p:cNvSpPr>
            <a:spLocks noGrp="1"/>
          </p:cNvSpPr>
          <p:nvPr>
            <p:ph type="title"/>
          </p:nvPr>
        </p:nvSpPr>
        <p:spPr>
          <a:xfrm>
            <a:off x="486000" y="550723"/>
            <a:ext cx="8172000" cy="338554"/>
          </a:xfrm>
          <a:prstGeom prst="rect">
            <a:avLst/>
          </a:prstGeom>
        </p:spPr>
        <p:txBody>
          <a:bodyPr/>
          <a:lstStyle/>
          <a:p>
            <a:r>
              <a:rPr lang="en-US" altLang="zh-CN" dirty="0"/>
              <a:t>TCP/IP </a:t>
            </a:r>
            <a:r>
              <a:rPr lang="zh-CN" altLang="en-US" dirty="0"/>
              <a:t>运输层端口的标志</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903891" y="2339206"/>
            <a:ext cx="1187673" cy="336331"/>
            <a:chOff x="945931" y="1776249"/>
            <a:chExt cx="1187673" cy="336331"/>
          </a:xfrm>
        </p:grpSpPr>
        <p:cxnSp>
          <p:nvCxnSpPr>
            <p:cNvPr id="7" name="直接连接符 6"/>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nvGrpSpPr>
        <p:grpSpPr>
          <a:xfrm>
            <a:off x="2280747" y="2339206"/>
            <a:ext cx="3563006" cy="336331"/>
            <a:chOff x="945931" y="1776249"/>
            <a:chExt cx="1187673" cy="336331"/>
          </a:xfrm>
        </p:grpSpPr>
        <p:cxnSp>
          <p:nvCxnSpPr>
            <p:cNvPr id="14" name="直接连接符 13"/>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 name="组合 16"/>
          <p:cNvGrpSpPr/>
          <p:nvPr/>
        </p:nvGrpSpPr>
        <p:grpSpPr>
          <a:xfrm>
            <a:off x="6042288" y="2339206"/>
            <a:ext cx="2313438" cy="336331"/>
            <a:chOff x="945931" y="1776249"/>
            <a:chExt cx="1187673" cy="336331"/>
          </a:xfrm>
        </p:grpSpPr>
        <p:cxnSp>
          <p:nvCxnSpPr>
            <p:cNvPr id="18" name="直接连接符 17"/>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p:nvSpPr>
        <p:spPr>
          <a:xfrm>
            <a:off x="746241" y="2013398"/>
            <a:ext cx="311304"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0</a:t>
            </a:r>
            <a:endParaRPr lang="zh-CN" altLang="en-US" sz="1600" b="1" dirty="0">
              <a:latin typeface="微软雅黑" pitchFamily="34" charset="-122"/>
              <a:ea typeface="微软雅黑" pitchFamily="34" charset="-122"/>
            </a:endParaRPr>
          </a:p>
        </p:txBody>
      </p:sp>
      <p:sp>
        <p:nvSpPr>
          <p:cNvPr id="22" name="TextBox 21"/>
          <p:cNvSpPr txBox="1"/>
          <p:nvPr/>
        </p:nvSpPr>
        <p:spPr>
          <a:xfrm>
            <a:off x="1624957" y="2013398"/>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1023</a:t>
            </a:r>
            <a:endParaRPr lang="zh-CN" altLang="en-US" sz="1600" b="1" dirty="0">
              <a:latin typeface="微软雅黑" pitchFamily="34" charset="-122"/>
              <a:ea typeface="微软雅黑" pitchFamily="34" charset="-122"/>
            </a:endParaRPr>
          </a:p>
        </p:txBody>
      </p:sp>
      <p:sp>
        <p:nvSpPr>
          <p:cNvPr id="23" name="TextBox 22"/>
          <p:cNvSpPr txBox="1"/>
          <p:nvPr/>
        </p:nvSpPr>
        <p:spPr>
          <a:xfrm>
            <a:off x="2007484" y="2672439"/>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1024</a:t>
            </a:r>
            <a:endParaRPr lang="zh-CN" altLang="en-US" sz="1600" b="1" dirty="0">
              <a:latin typeface="微软雅黑" pitchFamily="34" charset="-122"/>
              <a:ea typeface="微软雅黑" pitchFamily="34" charset="-122"/>
            </a:endParaRPr>
          </a:p>
        </p:txBody>
      </p:sp>
      <p:sp>
        <p:nvSpPr>
          <p:cNvPr id="24" name="TextBox 23"/>
          <p:cNvSpPr txBox="1"/>
          <p:nvPr/>
        </p:nvSpPr>
        <p:spPr>
          <a:xfrm>
            <a:off x="5265688" y="2672439"/>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49,151</a:t>
            </a:r>
            <a:endParaRPr lang="zh-CN" altLang="en-US" sz="1600" b="1" dirty="0">
              <a:latin typeface="微软雅黑" pitchFamily="34" charset="-122"/>
              <a:ea typeface="微软雅黑" pitchFamily="34" charset="-122"/>
            </a:endParaRPr>
          </a:p>
        </p:txBody>
      </p:sp>
      <p:sp>
        <p:nvSpPr>
          <p:cNvPr id="25" name="TextBox 24"/>
          <p:cNvSpPr txBox="1"/>
          <p:nvPr/>
        </p:nvSpPr>
        <p:spPr>
          <a:xfrm>
            <a:off x="5804497"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49,152</a:t>
            </a:r>
            <a:endParaRPr lang="zh-CN" altLang="en-US" sz="1600" b="1" dirty="0">
              <a:latin typeface="微软雅黑" pitchFamily="34" charset="-122"/>
              <a:ea typeface="微软雅黑" pitchFamily="34" charset="-122"/>
            </a:endParaRPr>
          </a:p>
        </p:txBody>
      </p:sp>
      <p:sp>
        <p:nvSpPr>
          <p:cNvPr id="26" name="TextBox 25"/>
          <p:cNvSpPr txBox="1"/>
          <p:nvPr/>
        </p:nvSpPr>
        <p:spPr>
          <a:xfrm>
            <a:off x="7770616"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65,535</a:t>
            </a:r>
            <a:endParaRPr lang="zh-CN" altLang="en-US" sz="1600" b="1" dirty="0">
              <a:latin typeface="微软雅黑" pitchFamily="34" charset="-122"/>
              <a:ea typeface="微软雅黑" pitchFamily="34" charset="-122"/>
            </a:endParaRPr>
          </a:p>
        </p:txBody>
      </p:sp>
      <p:sp>
        <p:nvSpPr>
          <p:cNvPr id="27" name="矩形 26"/>
          <p:cNvSpPr/>
          <p:nvPr/>
        </p:nvSpPr>
        <p:spPr>
          <a:xfrm>
            <a:off x="2247313" y="1359718"/>
            <a:ext cx="2236510"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服务器端使用的端口号</a:t>
            </a:r>
          </a:p>
        </p:txBody>
      </p:sp>
      <p:sp>
        <p:nvSpPr>
          <p:cNvPr id="28" name="矩形 27"/>
          <p:cNvSpPr/>
          <p:nvPr/>
        </p:nvSpPr>
        <p:spPr>
          <a:xfrm>
            <a:off x="6183344" y="1359718"/>
            <a:ext cx="2031325"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客户端使用的端口号</a:t>
            </a:r>
          </a:p>
        </p:txBody>
      </p:sp>
      <p:sp>
        <p:nvSpPr>
          <p:cNvPr id="29" name="右大括号 28"/>
          <p:cNvSpPr/>
          <p:nvPr/>
        </p:nvSpPr>
        <p:spPr>
          <a:xfrm rot="16200000">
            <a:off x="3222679" y="-531117"/>
            <a:ext cx="285779" cy="4809227"/>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右大括号 29"/>
          <p:cNvSpPr/>
          <p:nvPr/>
        </p:nvSpPr>
        <p:spPr>
          <a:xfrm rot="16200000">
            <a:off x="7056117" y="716777"/>
            <a:ext cx="285779" cy="2313438"/>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AutoShape 16"/>
          <p:cNvSpPr>
            <a:spLocks noChangeArrowheads="1"/>
          </p:cNvSpPr>
          <p:nvPr/>
        </p:nvSpPr>
        <p:spPr bwMode="auto">
          <a:xfrm>
            <a:off x="1541606"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2" name="矩形 31"/>
          <p:cNvSpPr/>
          <p:nvPr/>
        </p:nvSpPr>
        <p:spPr>
          <a:xfrm>
            <a:off x="625769" y="3056515"/>
            <a:ext cx="2028119" cy="830997"/>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熟知端口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（全球通用端口号）</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负责分配）</a:t>
            </a:r>
          </a:p>
        </p:txBody>
      </p:sp>
      <p:sp>
        <p:nvSpPr>
          <p:cNvPr id="33" name="AutoShape 16"/>
          <p:cNvSpPr>
            <a:spLocks noChangeArrowheads="1"/>
          </p:cNvSpPr>
          <p:nvPr/>
        </p:nvSpPr>
        <p:spPr bwMode="auto">
          <a:xfrm>
            <a:off x="3929712"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4" name="矩形 33"/>
          <p:cNvSpPr/>
          <p:nvPr/>
        </p:nvSpPr>
        <p:spPr>
          <a:xfrm>
            <a:off x="3120325" y="3056515"/>
            <a:ext cx="1883850"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登记端口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（在 </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登记）</a:t>
            </a:r>
          </a:p>
        </p:txBody>
      </p:sp>
      <p:sp>
        <p:nvSpPr>
          <p:cNvPr id="35" name="AutoShape 16"/>
          <p:cNvSpPr>
            <a:spLocks noChangeArrowheads="1"/>
          </p:cNvSpPr>
          <p:nvPr/>
        </p:nvSpPr>
        <p:spPr bwMode="auto">
          <a:xfrm>
            <a:off x="7111293"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6" name="矩形 35"/>
          <p:cNvSpPr/>
          <p:nvPr/>
        </p:nvSpPr>
        <p:spPr>
          <a:xfrm>
            <a:off x="5772974" y="3056515"/>
            <a:ext cx="2852063"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短暂端口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（通信结束后，被系统收回）</a:t>
            </a:r>
          </a:p>
        </p:txBody>
      </p:sp>
      <p:sp>
        <p:nvSpPr>
          <p:cNvPr id="5" name="内容占位符 4">
            <a:extLst>
              <a:ext uri="{FF2B5EF4-FFF2-40B4-BE49-F238E27FC236}">
                <a16:creationId xmlns:a16="http://schemas.microsoft.com/office/drawing/2014/main" id="{4ADCA5A6-9A5C-7953-E15F-A98D666D8207}"/>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A518B84D-4CEA-9211-9000-6366D0D25C8E}"/>
              </a:ext>
            </a:extLst>
          </p:cNvPr>
          <p:cNvSpPr>
            <a:spLocks noGrp="1"/>
          </p:cNvSpPr>
          <p:nvPr>
            <p:ph type="title"/>
          </p:nvPr>
        </p:nvSpPr>
        <p:spPr>
          <a:xfrm>
            <a:off x="486000" y="550723"/>
            <a:ext cx="8172000" cy="338554"/>
          </a:xfrm>
          <a:prstGeom prst="rect">
            <a:avLst/>
          </a:prstGeom>
        </p:spPr>
        <p:txBody>
          <a:bodyPr/>
          <a:lstStyle/>
          <a:p>
            <a:r>
              <a:rPr lang="zh-CN" altLang="en-US" dirty="0"/>
              <a:t>两大类、三种类型的端口</a:t>
            </a:r>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4" name="Group 52"/>
          <p:cNvGraphicFramePr>
            <a:graphicFrameLocks noGrp="1"/>
          </p:cNvGraphicFramePr>
          <p:nvPr>
            <p:extLst>
              <p:ext uri="{D42A27DB-BD31-4B8C-83A1-F6EECF244321}">
                <p14:modId xmlns:p14="http://schemas.microsoft.com/office/powerpoint/2010/main" val="2017493336"/>
              </p:ext>
            </p:extLst>
          </p:nvPr>
        </p:nvGraphicFramePr>
        <p:xfrm>
          <a:off x="1347347" y="3442933"/>
          <a:ext cx="6396835" cy="640128"/>
        </p:xfrm>
        <a:graphic>
          <a:graphicData uri="http://schemas.openxmlformats.org/drawingml/2006/table">
            <a:tbl>
              <a:tblPr/>
              <a:tblGrid>
                <a:gridCol w="3391504">
                  <a:extLst>
                    <a:ext uri="{9D8B030D-6E8A-4147-A177-3AD203B41FA5}">
                      <a16:colId xmlns:a16="http://schemas.microsoft.com/office/drawing/2014/main" val="20000"/>
                    </a:ext>
                  </a:extLst>
                </a:gridCol>
                <a:gridCol w="3005331">
                  <a:extLst>
                    <a:ext uri="{9D8B030D-6E8A-4147-A177-3AD203B41FA5}">
                      <a16:colId xmlns:a16="http://schemas.microsoft.com/office/drawing/2014/main" val="20001"/>
                    </a:ext>
                  </a:extLst>
                </a:gridCol>
              </a:tblGrid>
              <a:tr h="268249">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UDP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C0504D"/>
                    </a:solid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TCP</a:t>
                      </a:r>
                    </a:p>
                  </a:txBody>
                  <a:tcPr marL="99060" marR="99060" marT="45732" marB="45732" horzOverflow="overflow">
                    <a:lnL w="1905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9BBB59"/>
                    </a:solidFill>
                  </a:tcPr>
                </a:tc>
                <a:extLst>
                  <a:ext uri="{0D108BD9-81ED-4DB2-BD59-A6C34878D82A}">
                    <a16:rowId xmlns:a16="http://schemas.microsoft.com/office/drawing/2014/main" val="10000"/>
                  </a:ext>
                </a:extLst>
              </a:tr>
              <a:tr h="268249">
                <a:tc gridSpan="2">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600" b="1" i="0" u="none" strike="noStrike" cap="none" normalizeH="0" baseline="0" dirty="0">
                          <a:ln>
                            <a:noFill/>
                          </a:ln>
                          <a:solidFill>
                            <a:schemeClr val="bg1"/>
                          </a:solidFill>
                          <a:effectLst/>
                          <a:latin typeface="微软雅黑" pitchFamily="34" charset="-122"/>
                          <a:ea typeface="微软雅黑" pitchFamily="34" charset="-122"/>
                        </a:rPr>
                        <a:t>IP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0000FF"/>
                    </a:solidFill>
                  </a:tcPr>
                </a:tc>
                <a:tc hMerge="1">
                  <a:txBody>
                    <a:bodyPr/>
                    <a:lstStyle/>
                    <a:p>
                      <a:endParaRPr lang="zh-CN" altLang="en-US"/>
                    </a:p>
                  </a:txBody>
                  <a:tcPr/>
                </a:tc>
                <a:extLst>
                  <a:ext uri="{0D108BD9-81ED-4DB2-BD59-A6C34878D82A}">
                    <a16:rowId xmlns:a16="http://schemas.microsoft.com/office/drawing/2014/main" val="10001"/>
                  </a:ext>
                </a:extLst>
              </a:tr>
            </a:tbl>
          </a:graphicData>
        </a:graphic>
      </p:graphicFrame>
      <p:grpSp>
        <p:nvGrpSpPr>
          <p:cNvPr id="145" name="组合 144"/>
          <p:cNvGrpSpPr/>
          <p:nvPr/>
        </p:nvGrpSpPr>
        <p:grpSpPr>
          <a:xfrm>
            <a:off x="1451405" y="1117895"/>
            <a:ext cx="6616240" cy="2370094"/>
            <a:chOff x="759902" y="1324147"/>
            <a:chExt cx="8990242" cy="3220518"/>
          </a:xfrm>
        </p:grpSpPr>
        <p:sp>
          <p:nvSpPr>
            <p:cNvPr id="146" name="Text Box 14"/>
            <p:cNvSpPr txBox="1">
              <a:spLocks noChangeArrowheads="1"/>
            </p:cNvSpPr>
            <p:nvPr/>
          </p:nvSpPr>
          <p:spPr bwMode="auto">
            <a:xfrm>
              <a:off x="5183702" y="3371439"/>
              <a:ext cx="14291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SMTP</a:t>
              </a:r>
            </a:p>
          </p:txBody>
        </p:sp>
        <p:sp>
          <p:nvSpPr>
            <p:cNvPr id="147" name="Text Box 15"/>
            <p:cNvSpPr txBox="1">
              <a:spLocks noChangeArrowheads="1"/>
            </p:cNvSpPr>
            <p:nvPr/>
          </p:nvSpPr>
          <p:spPr bwMode="auto">
            <a:xfrm>
              <a:off x="6228399" y="2905781"/>
              <a:ext cx="131908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FTP</a:t>
              </a:r>
            </a:p>
          </p:txBody>
        </p:sp>
        <p:sp>
          <p:nvSpPr>
            <p:cNvPr id="148" name="Text Box 16"/>
            <p:cNvSpPr txBox="1">
              <a:spLocks noChangeArrowheads="1"/>
            </p:cNvSpPr>
            <p:nvPr/>
          </p:nvSpPr>
          <p:spPr bwMode="auto">
            <a:xfrm>
              <a:off x="6899407" y="2401725"/>
              <a:ext cx="1539213"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Telnet</a:t>
              </a:r>
            </a:p>
          </p:txBody>
        </p:sp>
        <p:sp>
          <p:nvSpPr>
            <p:cNvPr id="149" name="Text Box 17"/>
            <p:cNvSpPr txBox="1">
              <a:spLocks noChangeArrowheads="1"/>
            </p:cNvSpPr>
            <p:nvPr/>
          </p:nvSpPr>
          <p:spPr bwMode="auto">
            <a:xfrm>
              <a:off x="759902" y="3447638"/>
              <a:ext cx="10989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RPC</a:t>
              </a:r>
            </a:p>
          </p:txBody>
        </p:sp>
        <p:sp>
          <p:nvSpPr>
            <p:cNvPr id="150" name="Text Box 18"/>
            <p:cNvSpPr txBox="1">
              <a:spLocks noChangeArrowheads="1"/>
            </p:cNvSpPr>
            <p:nvPr/>
          </p:nvSpPr>
          <p:spPr bwMode="auto">
            <a:xfrm>
              <a:off x="1547877" y="3066640"/>
              <a:ext cx="13190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DNS</a:t>
              </a:r>
            </a:p>
          </p:txBody>
        </p:sp>
        <p:sp>
          <p:nvSpPr>
            <p:cNvPr id="151" name="Text Box 19"/>
            <p:cNvSpPr txBox="1">
              <a:spLocks noChangeArrowheads="1"/>
            </p:cNvSpPr>
            <p:nvPr/>
          </p:nvSpPr>
          <p:spPr bwMode="auto">
            <a:xfrm>
              <a:off x="3186129" y="211623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a:t>
              </a:r>
            </a:p>
          </p:txBody>
        </p:sp>
        <p:sp>
          <p:nvSpPr>
            <p:cNvPr id="152" name="Text Box 20"/>
            <p:cNvSpPr txBox="1">
              <a:spLocks noChangeArrowheads="1"/>
            </p:cNvSpPr>
            <p:nvPr/>
          </p:nvSpPr>
          <p:spPr bwMode="auto">
            <a:xfrm>
              <a:off x="2349476" y="2545742"/>
              <a:ext cx="16492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TFTP</a:t>
              </a:r>
            </a:p>
          </p:txBody>
        </p:sp>
        <p:sp>
          <p:nvSpPr>
            <p:cNvPr id="153" name="Oval 21"/>
            <p:cNvSpPr>
              <a:spLocks noChangeArrowheads="1"/>
            </p:cNvSpPr>
            <p:nvPr/>
          </p:nvSpPr>
          <p:spPr bwMode="auto">
            <a:xfrm>
              <a:off x="900112"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4" name="Oval 22"/>
            <p:cNvSpPr>
              <a:spLocks noChangeArrowheads="1"/>
            </p:cNvSpPr>
            <p:nvPr/>
          </p:nvSpPr>
          <p:spPr bwMode="auto">
            <a:xfrm>
              <a:off x="182463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5" name="Oval 23"/>
            <p:cNvSpPr>
              <a:spLocks noChangeArrowheads="1"/>
            </p:cNvSpPr>
            <p:nvPr/>
          </p:nvSpPr>
          <p:spPr bwMode="auto">
            <a:xfrm>
              <a:off x="35163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6" name="Oval 24"/>
            <p:cNvSpPr>
              <a:spLocks noChangeArrowheads="1"/>
            </p:cNvSpPr>
            <p:nvPr/>
          </p:nvSpPr>
          <p:spPr bwMode="auto">
            <a:xfrm>
              <a:off x="2700006"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7" name="Oval 25"/>
            <p:cNvSpPr>
              <a:spLocks noChangeArrowheads="1"/>
            </p:cNvSpPr>
            <p:nvPr/>
          </p:nvSpPr>
          <p:spPr bwMode="auto">
            <a:xfrm>
              <a:off x="559645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8" name="Oval 26"/>
            <p:cNvSpPr>
              <a:spLocks noChangeArrowheads="1"/>
            </p:cNvSpPr>
            <p:nvPr/>
          </p:nvSpPr>
          <p:spPr bwMode="auto">
            <a:xfrm>
              <a:off x="6411433"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9" name="Oval 27"/>
            <p:cNvSpPr>
              <a:spLocks noChangeArrowheads="1"/>
            </p:cNvSpPr>
            <p:nvPr/>
          </p:nvSpPr>
          <p:spPr bwMode="auto">
            <a:xfrm>
              <a:off x="721928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0" name="Line 28"/>
            <p:cNvSpPr>
              <a:spLocks noChangeShapeType="1"/>
            </p:cNvSpPr>
            <p:nvPr/>
          </p:nvSpPr>
          <p:spPr bwMode="auto">
            <a:xfrm>
              <a:off x="1090099" y="3825526"/>
              <a:ext cx="0" cy="381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1" name="Line 29"/>
            <p:cNvSpPr>
              <a:spLocks noChangeShapeType="1"/>
            </p:cNvSpPr>
            <p:nvPr/>
          </p:nvSpPr>
          <p:spPr bwMode="auto">
            <a:xfrm>
              <a:off x="1989731" y="3444526"/>
              <a:ext cx="0" cy="762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2" name="Line 30"/>
            <p:cNvSpPr>
              <a:spLocks noChangeShapeType="1"/>
            </p:cNvSpPr>
            <p:nvPr/>
          </p:nvSpPr>
          <p:spPr bwMode="auto">
            <a:xfrm>
              <a:off x="3681427" y="2471191"/>
              <a:ext cx="0" cy="173533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3" name="Line 31"/>
            <p:cNvSpPr>
              <a:spLocks noChangeShapeType="1"/>
            </p:cNvSpPr>
            <p:nvPr/>
          </p:nvSpPr>
          <p:spPr bwMode="auto">
            <a:xfrm>
              <a:off x="2865106" y="2941289"/>
              <a:ext cx="0" cy="1265237"/>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4" name="Line 32"/>
            <p:cNvSpPr>
              <a:spLocks noChangeShapeType="1"/>
            </p:cNvSpPr>
            <p:nvPr/>
          </p:nvSpPr>
          <p:spPr bwMode="auto">
            <a:xfrm>
              <a:off x="5761551" y="3749326"/>
              <a:ext cx="0" cy="4572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5" name="Line 33"/>
            <p:cNvSpPr>
              <a:spLocks noChangeShapeType="1"/>
            </p:cNvSpPr>
            <p:nvPr/>
          </p:nvSpPr>
          <p:spPr bwMode="auto">
            <a:xfrm>
              <a:off x="6611375" y="3251645"/>
              <a:ext cx="0" cy="95488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6" name="Line 34"/>
            <p:cNvSpPr>
              <a:spLocks noChangeShapeType="1"/>
            </p:cNvSpPr>
            <p:nvPr/>
          </p:nvSpPr>
          <p:spPr bwMode="auto">
            <a:xfrm>
              <a:off x="7394707" y="2730747"/>
              <a:ext cx="0" cy="147577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8" name="Text Box 36"/>
            <p:cNvSpPr txBox="1">
              <a:spLocks noChangeArrowheads="1"/>
            </p:cNvSpPr>
            <p:nvPr/>
          </p:nvSpPr>
          <p:spPr bwMode="auto">
            <a:xfrm>
              <a:off x="1469582" y="3825527"/>
              <a:ext cx="1123026"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53</a:t>
              </a:r>
            </a:p>
          </p:txBody>
        </p:sp>
        <p:sp>
          <p:nvSpPr>
            <p:cNvPr id="169" name="Text Box 37"/>
            <p:cNvSpPr txBox="1">
              <a:spLocks noChangeArrowheads="1"/>
            </p:cNvSpPr>
            <p:nvPr/>
          </p:nvSpPr>
          <p:spPr bwMode="auto">
            <a:xfrm>
              <a:off x="3606878" y="3825528"/>
              <a:ext cx="816902"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161</a:t>
              </a:r>
            </a:p>
          </p:txBody>
        </p:sp>
        <p:sp>
          <p:nvSpPr>
            <p:cNvPr id="170" name="Text Box 38"/>
            <p:cNvSpPr txBox="1">
              <a:spLocks noChangeArrowheads="1"/>
            </p:cNvSpPr>
            <p:nvPr/>
          </p:nvSpPr>
          <p:spPr bwMode="auto">
            <a:xfrm>
              <a:off x="282340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69</a:t>
              </a:r>
            </a:p>
          </p:txBody>
        </p:sp>
        <p:sp>
          <p:nvSpPr>
            <p:cNvPr id="171" name="Text Box 39"/>
            <p:cNvSpPr txBox="1">
              <a:spLocks noChangeArrowheads="1"/>
            </p:cNvSpPr>
            <p:nvPr/>
          </p:nvSpPr>
          <p:spPr bwMode="auto">
            <a:xfrm>
              <a:off x="526095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25</a:t>
              </a:r>
            </a:p>
          </p:txBody>
        </p:sp>
        <p:sp>
          <p:nvSpPr>
            <p:cNvPr id="173" name="Text Box 41"/>
            <p:cNvSpPr txBox="1">
              <a:spLocks noChangeArrowheads="1"/>
            </p:cNvSpPr>
            <p:nvPr/>
          </p:nvSpPr>
          <p:spPr bwMode="auto">
            <a:xfrm>
              <a:off x="7367539"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23</a:t>
              </a:r>
            </a:p>
          </p:txBody>
        </p:sp>
        <p:sp>
          <p:nvSpPr>
            <p:cNvPr id="174" name="Text Box 42"/>
            <p:cNvSpPr txBox="1">
              <a:spLocks noChangeArrowheads="1"/>
            </p:cNvSpPr>
            <p:nvPr/>
          </p:nvSpPr>
          <p:spPr bwMode="auto">
            <a:xfrm>
              <a:off x="7619488" y="1810605"/>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a:t>
              </a:r>
            </a:p>
          </p:txBody>
        </p:sp>
        <p:sp>
          <p:nvSpPr>
            <p:cNvPr id="175" name="Oval 43"/>
            <p:cNvSpPr>
              <a:spLocks noChangeArrowheads="1"/>
            </p:cNvSpPr>
            <p:nvPr/>
          </p:nvSpPr>
          <p:spPr bwMode="auto">
            <a:xfrm>
              <a:off x="79795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6" name="Line 44"/>
            <p:cNvSpPr>
              <a:spLocks noChangeShapeType="1"/>
            </p:cNvSpPr>
            <p:nvPr/>
          </p:nvSpPr>
          <p:spPr bwMode="auto">
            <a:xfrm>
              <a:off x="8154945" y="2195164"/>
              <a:ext cx="0" cy="201136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77" name="Text Box 45"/>
            <p:cNvSpPr txBox="1">
              <a:spLocks noChangeArrowheads="1"/>
            </p:cNvSpPr>
            <p:nvPr/>
          </p:nvSpPr>
          <p:spPr bwMode="auto">
            <a:xfrm>
              <a:off x="812777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80</a:t>
              </a:r>
            </a:p>
          </p:txBody>
        </p:sp>
        <p:sp>
          <p:nvSpPr>
            <p:cNvPr id="178" name="Text Box 42"/>
            <p:cNvSpPr txBox="1">
              <a:spLocks noChangeArrowheads="1"/>
            </p:cNvSpPr>
            <p:nvPr/>
          </p:nvSpPr>
          <p:spPr bwMode="auto">
            <a:xfrm>
              <a:off x="8195552" y="132414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HTTPS</a:t>
              </a:r>
            </a:p>
          </p:txBody>
        </p:sp>
        <p:sp>
          <p:nvSpPr>
            <p:cNvPr id="179" name="Oval 43"/>
            <p:cNvSpPr>
              <a:spLocks noChangeArrowheads="1"/>
            </p:cNvSpPr>
            <p:nvPr/>
          </p:nvSpPr>
          <p:spPr bwMode="auto">
            <a:xfrm>
              <a:off x="8683525"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0" name="Line 44"/>
            <p:cNvSpPr>
              <a:spLocks noChangeShapeType="1"/>
            </p:cNvSpPr>
            <p:nvPr/>
          </p:nvSpPr>
          <p:spPr bwMode="auto">
            <a:xfrm>
              <a:off x="8858943" y="1676052"/>
              <a:ext cx="0" cy="2530474"/>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81" name="Text Box 45"/>
            <p:cNvSpPr txBox="1">
              <a:spLocks noChangeArrowheads="1"/>
            </p:cNvSpPr>
            <p:nvPr/>
          </p:nvSpPr>
          <p:spPr bwMode="auto">
            <a:xfrm>
              <a:off x="8831774"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443</a:t>
              </a:r>
            </a:p>
          </p:txBody>
        </p:sp>
        <p:sp>
          <p:nvSpPr>
            <p:cNvPr id="182" name="Text Box 19"/>
            <p:cNvSpPr txBox="1">
              <a:spLocks noChangeArrowheads="1"/>
            </p:cNvSpPr>
            <p:nvPr/>
          </p:nvSpPr>
          <p:spPr bwMode="auto">
            <a:xfrm>
              <a:off x="3659047" y="1448466"/>
              <a:ext cx="2167219"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SNMP(trap)</a:t>
              </a:r>
            </a:p>
          </p:txBody>
        </p:sp>
        <p:sp>
          <p:nvSpPr>
            <p:cNvPr id="183" name="Oval 23"/>
            <p:cNvSpPr>
              <a:spLocks noChangeArrowheads="1"/>
            </p:cNvSpPr>
            <p:nvPr/>
          </p:nvSpPr>
          <p:spPr bwMode="auto">
            <a:xfrm>
              <a:off x="433322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4" name="Line 30"/>
            <p:cNvSpPr>
              <a:spLocks noChangeShapeType="1"/>
            </p:cNvSpPr>
            <p:nvPr/>
          </p:nvSpPr>
          <p:spPr bwMode="auto">
            <a:xfrm>
              <a:off x="4498329" y="1818477"/>
              <a:ext cx="0" cy="238804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grpSp>
      <p:sp>
        <p:nvSpPr>
          <p:cNvPr id="187" name="Text Box 40"/>
          <p:cNvSpPr txBox="1">
            <a:spLocks noChangeArrowheads="1"/>
          </p:cNvSpPr>
          <p:nvPr/>
        </p:nvSpPr>
        <p:spPr bwMode="auto">
          <a:xfrm>
            <a:off x="5381640" y="2958750"/>
            <a:ext cx="8403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21   20</a:t>
            </a:r>
          </a:p>
        </p:txBody>
      </p:sp>
      <p:sp>
        <p:nvSpPr>
          <p:cNvPr id="188" name="Text Box 37"/>
          <p:cNvSpPr txBox="1">
            <a:spLocks noChangeArrowheads="1"/>
          </p:cNvSpPr>
          <p:nvPr/>
        </p:nvSpPr>
        <p:spPr bwMode="auto">
          <a:xfrm>
            <a:off x="4156926" y="2958750"/>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162</a:t>
            </a:r>
          </a:p>
        </p:txBody>
      </p:sp>
      <p:sp>
        <p:nvSpPr>
          <p:cNvPr id="189" name="Text Box 35"/>
          <p:cNvSpPr txBox="1">
            <a:spLocks noChangeArrowheads="1"/>
          </p:cNvSpPr>
          <p:nvPr/>
        </p:nvSpPr>
        <p:spPr bwMode="auto">
          <a:xfrm>
            <a:off x="1207355" y="2958748"/>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111</a:t>
            </a:r>
          </a:p>
        </p:txBody>
      </p:sp>
      <p:sp>
        <p:nvSpPr>
          <p:cNvPr id="6" name="内容占位符 5">
            <a:extLst>
              <a:ext uri="{FF2B5EF4-FFF2-40B4-BE49-F238E27FC236}">
                <a16:creationId xmlns:a16="http://schemas.microsoft.com/office/drawing/2014/main" id="{4728D037-D6BE-A401-556C-C26749DD072D}"/>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1321E150-D8DC-4FCC-E017-A89A40D44214}"/>
              </a:ext>
            </a:extLst>
          </p:cNvPr>
          <p:cNvSpPr>
            <a:spLocks noGrp="1"/>
          </p:cNvSpPr>
          <p:nvPr>
            <p:ph type="title"/>
          </p:nvPr>
        </p:nvSpPr>
        <p:spPr>
          <a:xfrm>
            <a:off x="486000" y="550723"/>
            <a:ext cx="8172000" cy="338554"/>
          </a:xfrm>
          <a:prstGeom prst="rect">
            <a:avLst/>
          </a:prstGeom>
        </p:spPr>
        <p:txBody>
          <a:bodyPr/>
          <a:lstStyle/>
          <a:p>
            <a:r>
              <a:rPr lang="zh-CN" altLang="en-US" dirty="0"/>
              <a:t>常用的熟知端口</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a:extLst>
              <a:ext uri="{FF2B5EF4-FFF2-40B4-BE49-F238E27FC236}">
                <a16:creationId xmlns:a16="http://schemas.microsoft.com/office/drawing/2014/main" id="{B81806C7-674E-1A0A-6753-538BAFFCA381}"/>
              </a:ext>
            </a:extLst>
          </p:cNvPr>
          <p:cNvSpPr>
            <a:spLocks noChangeArrowheads="1"/>
          </p:cNvSpPr>
          <p:nvPr/>
        </p:nvSpPr>
        <p:spPr bwMode="auto">
          <a:xfrm>
            <a:off x="2036224" y="209201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运输层</a:t>
            </a:r>
          </a:p>
        </p:txBody>
      </p:sp>
      <p:sp>
        <p:nvSpPr>
          <p:cNvPr id="5" name="Rectangle 5">
            <a:extLst>
              <a:ext uri="{FF2B5EF4-FFF2-40B4-BE49-F238E27FC236}">
                <a16:creationId xmlns:a16="http://schemas.microsoft.com/office/drawing/2014/main" id="{261E012A-802B-C0C1-D5A3-D78E549DB94E}"/>
              </a:ext>
            </a:extLst>
          </p:cNvPr>
          <p:cNvSpPr>
            <a:spLocks noChangeArrowheads="1"/>
          </p:cNvSpPr>
          <p:nvPr/>
        </p:nvSpPr>
        <p:spPr bwMode="auto">
          <a:xfrm>
            <a:off x="2036224" y="2690259"/>
            <a:ext cx="5078951"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网络层</a:t>
            </a:r>
          </a:p>
        </p:txBody>
      </p:sp>
      <p:sp>
        <p:nvSpPr>
          <p:cNvPr id="6" name="Rectangle 11">
            <a:extLst>
              <a:ext uri="{FF2B5EF4-FFF2-40B4-BE49-F238E27FC236}">
                <a16:creationId xmlns:a16="http://schemas.microsoft.com/office/drawing/2014/main" id="{CA2C8C31-D780-C628-EAD7-E68537D7DF14}"/>
              </a:ext>
            </a:extLst>
          </p:cNvPr>
          <p:cNvSpPr>
            <a:spLocks noChangeArrowheads="1"/>
          </p:cNvSpPr>
          <p:nvPr/>
        </p:nvSpPr>
        <p:spPr bwMode="auto">
          <a:xfrm>
            <a:off x="2751961" y="3284762"/>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 name="Rectangle 6">
            <a:extLst>
              <a:ext uri="{FF2B5EF4-FFF2-40B4-BE49-F238E27FC236}">
                <a16:creationId xmlns:a16="http://schemas.microsoft.com/office/drawing/2014/main" id="{F34287CC-44E0-B608-3EA0-A6325EEEDB21}"/>
              </a:ext>
            </a:extLst>
          </p:cNvPr>
          <p:cNvSpPr>
            <a:spLocks noChangeArrowheads="1"/>
          </p:cNvSpPr>
          <p:nvPr/>
        </p:nvSpPr>
        <p:spPr bwMode="auto">
          <a:xfrm>
            <a:off x="2790326" y="3291953"/>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A5ECCEB9-6DA3-A5A5-200F-DBB78CDB76E0}"/>
              </a:ext>
            </a:extLst>
          </p:cNvPr>
          <p:cNvSpPr>
            <a:spLocks noChangeShapeType="1"/>
          </p:cNvSpPr>
          <p:nvPr/>
        </p:nvSpPr>
        <p:spPr bwMode="auto">
          <a:xfrm>
            <a:off x="3613799" y="3284762"/>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9" name="Text Box 10">
            <a:extLst>
              <a:ext uri="{FF2B5EF4-FFF2-40B4-BE49-F238E27FC236}">
                <a16:creationId xmlns:a16="http://schemas.microsoft.com/office/drawing/2014/main" id="{ACA39C40-D8D5-09DE-09E5-A49B7FA453AF}"/>
              </a:ext>
            </a:extLst>
          </p:cNvPr>
          <p:cNvSpPr txBox="1">
            <a:spLocks noChangeArrowheads="1"/>
          </p:cNvSpPr>
          <p:nvPr/>
        </p:nvSpPr>
        <p:spPr bwMode="auto">
          <a:xfrm>
            <a:off x="2933485" y="3297397"/>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首部</a:t>
            </a:r>
          </a:p>
        </p:txBody>
      </p:sp>
      <p:sp>
        <p:nvSpPr>
          <p:cNvPr id="10" name="Rectangle 13">
            <a:extLst>
              <a:ext uri="{FF2B5EF4-FFF2-40B4-BE49-F238E27FC236}">
                <a16:creationId xmlns:a16="http://schemas.microsoft.com/office/drawing/2014/main" id="{5FF5C808-90B9-445E-C51E-239A6BD48434}"/>
              </a:ext>
            </a:extLst>
          </p:cNvPr>
          <p:cNvSpPr>
            <a:spLocks noChangeArrowheads="1"/>
          </p:cNvSpPr>
          <p:nvPr/>
        </p:nvSpPr>
        <p:spPr bwMode="auto">
          <a:xfrm>
            <a:off x="4419107" y="238700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11" name="Rectangle 15">
            <a:extLst>
              <a:ext uri="{FF2B5EF4-FFF2-40B4-BE49-F238E27FC236}">
                <a16:creationId xmlns:a16="http://schemas.microsoft.com/office/drawing/2014/main" id="{C94135C1-2C07-B474-4063-2539B4BA125C}"/>
              </a:ext>
            </a:extLst>
          </p:cNvPr>
          <p:cNvSpPr>
            <a:spLocks noChangeArrowheads="1"/>
          </p:cNvSpPr>
          <p:nvPr/>
        </p:nvSpPr>
        <p:spPr bwMode="auto">
          <a:xfrm>
            <a:off x="5280945" y="238700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12" name="Rectangle 17">
            <a:extLst>
              <a:ext uri="{FF2B5EF4-FFF2-40B4-BE49-F238E27FC236}">
                <a16:creationId xmlns:a16="http://schemas.microsoft.com/office/drawing/2014/main" id="{226EA678-5BE6-427D-8A36-B8A8BDA7DE20}"/>
              </a:ext>
            </a:extLst>
          </p:cNvPr>
          <p:cNvSpPr>
            <a:spLocks noChangeArrowheads="1"/>
          </p:cNvSpPr>
          <p:nvPr/>
        </p:nvSpPr>
        <p:spPr bwMode="auto">
          <a:xfrm>
            <a:off x="2981286" y="2770994"/>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13" name="Rectangle 19">
            <a:extLst>
              <a:ext uri="{FF2B5EF4-FFF2-40B4-BE49-F238E27FC236}">
                <a16:creationId xmlns:a16="http://schemas.microsoft.com/office/drawing/2014/main" id="{21961F24-87A0-494F-4E89-1B8F293F5AF4}"/>
              </a:ext>
            </a:extLst>
          </p:cNvPr>
          <p:cNvSpPr>
            <a:spLocks noChangeArrowheads="1"/>
          </p:cNvSpPr>
          <p:nvPr/>
        </p:nvSpPr>
        <p:spPr bwMode="auto">
          <a:xfrm>
            <a:off x="3786594"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14" name="Rectangle 21">
            <a:extLst>
              <a:ext uri="{FF2B5EF4-FFF2-40B4-BE49-F238E27FC236}">
                <a16:creationId xmlns:a16="http://schemas.microsoft.com/office/drawing/2014/main" id="{B76001CE-7A2A-9570-9988-4401C0D3B3AF}"/>
              </a:ext>
            </a:extLst>
          </p:cNvPr>
          <p:cNvSpPr>
            <a:spLocks noChangeArrowheads="1"/>
          </p:cNvSpPr>
          <p:nvPr/>
        </p:nvSpPr>
        <p:spPr bwMode="auto">
          <a:xfrm>
            <a:off x="6176917"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15" name="Text Box 31">
            <a:extLst>
              <a:ext uri="{FF2B5EF4-FFF2-40B4-BE49-F238E27FC236}">
                <a16:creationId xmlns:a16="http://schemas.microsoft.com/office/drawing/2014/main" id="{9AE876B8-B8F0-70BE-2405-CDCF5BF104BE}"/>
              </a:ext>
            </a:extLst>
          </p:cNvPr>
          <p:cNvSpPr txBox="1">
            <a:spLocks noChangeArrowheads="1"/>
          </p:cNvSpPr>
          <p:nvPr/>
        </p:nvSpPr>
        <p:spPr bwMode="auto">
          <a:xfrm>
            <a:off x="4207392" y="329739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数 据 部 分</a:t>
            </a:r>
          </a:p>
        </p:txBody>
      </p:sp>
      <p:sp>
        <p:nvSpPr>
          <p:cNvPr id="16" name="Line 32">
            <a:extLst>
              <a:ext uri="{FF2B5EF4-FFF2-40B4-BE49-F238E27FC236}">
                <a16:creationId xmlns:a16="http://schemas.microsoft.com/office/drawing/2014/main" id="{245896BC-072F-07FE-5A2D-D3FD2F8F5DCB}"/>
              </a:ext>
            </a:extLst>
          </p:cNvPr>
          <p:cNvSpPr>
            <a:spLocks noChangeShapeType="1"/>
          </p:cNvSpPr>
          <p:nvPr/>
        </p:nvSpPr>
        <p:spPr bwMode="auto">
          <a:xfrm>
            <a:off x="2751961" y="3775276"/>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17" name="Text Box 33">
            <a:extLst>
              <a:ext uri="{FF2B5EF4-FFF2-40B4-BE49-F238E27FC236}">
                <a16:creationId xmlns:a16="http://schemas.microsoft.com/office/drawing/2014/main" id="{8774D905-CA6A-DAE2-99AA-57591C1CD4D1}"/>
              </a:ext>
            </a:extLst>
          </p:cNvPr>
          <p:cNvSpPr txBox="1">
            <a:spLocks noChangeArrowheads="1"/>
          </p:cNvSpPr>
          <p:nvPr/>
        </p:nvSpPr>
        <p:spPr bwMode="auto">
          <a:xfrm>
            <a:off x="4245246" y="3636777"/>
            <a:ext cx="843501"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cxnSp>
        <p:nvCxnSpPr>
          <p:cNvPr id="18" name="直接箭头连接符 17">
            <a:extLst>
              <a:ext uri="{FF2B5EF4-FFF2-40B4-BE49-F238E27FC236}">
                <a16:creationId xmlns:a16="http://schemas.microsoft.com/office/drawing/2014/main" id="{A37FC8B6-46B2-16EC-F253-27F51E0ADB19}"/>
              </a:ext>
            </a:extLst>
          </p:cNvPr>
          <p:cNvCxnSpPr>
            <a:stCxn id="15" idx="0"/>
            <a:endCxn id="12" idx="2"/>
          </p:cNvCxnSpPr>
          <p:nvPr/>
        </p:nvCxnSpPr>
        <p:spPr>
          <a:xfrm flipH="1" flipV="1">
            <a:off x="3326342" y="2987602"/>
            <a:ext cx="1350891"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2258C5A-5FD2-370B-ABAB-F794877FB67A}"/>
              </a:ext>
            </a:extLst>
          </p:cNvPr>
          <p:cNvCxnSpPr>
            <a:stCxn id="15" idx="0"/>
            <a:endCxn id="13" idx="2"/>
          </p:cNvCxnSpPr>
          <p:nvPr/>
        </p:nvCxnSpPr>
        <p:spPr>
          <a:xfrm flipH="1" flipV="1">
            <a:off x="4131116" y="2987602"/>
            <a:ext cx="546117"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8532165D-AF49-A571-CEED-A70530C165AA}"/>
              </a:ext>
            </a:extLst>
          </p:cNvPr>
          <p:cNvCxnSpPr>
            <a:cxnSpLocks/>
            <a:stCxn id="6" idx="0"/>
            <a:endCxn id="10" idx="2"/>
          </p:cNvCxnSpPr>
          <p:nvPr/>
        </p:nvCxnSpPr>
        <p:spPr>
          <a:xfrm flipV="1">
            <a:off x="4677233" y="2603614"/>
            <a:ext cx="86396"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A775B081-7A06-12CC-D5A0-6A4F31E75ED1}"/>
              </a:ext>
            </a:extLst>
          </p:cNvPr>
          <p:cNvCxnSpPr>
            <a:stCxn id="15" idx="0"/>
            <a:endCxn id="11" idx="2"/>
          </p:cNvCxnSpPr>
          <p:nvPr/>
        </p:nvCxnSpPr>
        <p:spPr>
          <a:xfrm flipV="1">
            <a:off x="4677233" y="2603614"/>
            <a:ext cx="948768"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9251294B-5A8E-E3D7-FDE5-656EA1D6A731}"/>
              </a:ext>
            </a:extLst>
          </p:cNvPr>
          <p:cNvCxnSpPr>
            <a:stCxn id="15" idx="0"/>
            <a:endCxn id="14" idx="2"/>
          </p:cNvCxnSpPr>
          <p:nvPr/>
        </p:nvCxnSpPr>
        <p:spPr>
          <a:xfrm flipV="1">
            <a:off x="4677233" y="2987602"/>
            <a:ext cx="1844206"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4">
            <a:extLst>
              <a:ext uri="{FF2B5EF4-FFF2-40B4-BE49-F238E27FC236}">
                <a16:creationId xmlns:a16="http://schemas.microsoft.com/office/drawing/2014/main" id="{6CEBF8C7-5FC7-EB9A-0B5C-414FAB9DF16E}"/>
              </a:ext>
            </a:extLst>
          </p:cNvPr>
          <p:cNvSpPr>
            <a:spLocks noChangeArrowheads="1"/>
          </p:cNvSpPr>
          <p:nvPr/>
        </p:nvSpPr>
        <p:spPr bwMode="auto">
          <a:xfrm>
            <a:off x="2036224" y="150268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3" name="Rectangle 15">
            <a:extLst>
              <a:ext uri="{FF2B5EF4-FFF2-40B4-BE49-F238E27FC236}">
                <a16:creationId xmlns:a16="http://schemas.microsoft.com/office/drawing/2014/main" id="{49FA8B9A-7106-57B4-0DD1-5DA6BF4A2372}"/>
              </a:ext>
            </a:extLst>
          </p:cNvPr>
          <p:cNvSpPr>
            <a:spLocks noChangeArrowheads="1"/>
          </p:cNvSpPr>
          <p:nvPr/>
        </p:nvSpPr>
        <p:spPr bwMode="auto">
          <a:xfrm>
            <a:off x="5285176" y="1658803"/>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RIP</a:t>
            </a:r>
          </a:p>
        </p:txBody>
      </p:sp>
      <p:cxnSp>
        <p:nvCxnSpPr>
          <p:cNvPr id="26" name="直接箭头连接符 25">
            <a:extLst>
              <a:ext uri="{FF2B5EF4-FFF2-40B4-BE49-F238E27FC236}">
                <a16:creationId xmlns:a16="http://schemas.microsoft.com/office/drawing/2014/main" id="{D17AC084-4A3E-461F-904E-7DF0F0C363D5}"/>
              </a:ext>
            </a:extLst>
          </p:cNvPr>
          <p:cNvCxnSpPr>
            <a:stCxn id="11" idx="0"/>
            <a:endCxn id="23" idx="2"/>
          </p:cNvCxnSpPr>
          <p:nvPr/>
        </p:nvCxnSpPr>
        <p:spPr>
          <a:xfrm flipV="1">
            <a:off x="5626001" y="1875411"/>
            <a:ext cx="4231" cy="5115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15">
            <a:extLst>
              <a:ext uri="{FF2B5EF4-FFF2-40B4-BE49-F238E27FC236}">
                <a16:creationId xmlns:a16="http://schemas.microsoft.com/office/drawing/2014/main" id="{79A8A1DC-21A8-EB83-14FA-A12141E1395C}"/>
              </a:ext>
            </a:extLst>
          </p:cNvPr>
          <p:cNvSpPr>
            <a:spLocks noChangeArrowheads="1"/>
          </p:cNvSpPr>
          <p:nvPr/>
        </p:nvSpPr>
        <p:spPr bwMode="auto">
          <a:xfrm>
            <a:off x="5637682" y="2110585"/>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520</a:t>
            </a:r>
          </a:p>
        </p:txBody>
      </p:sp>
      <p:sp>
        <p:nvSpPr>
          <p:cNvPr id="28" name="Rectangle 15">
            <a:extLst>
              <a:ext uri="{FF2B5EF4-FFF2-40B4-BE49-F238E27FC236}">
                <a16:creationId xmlns:a16="http://schemas.microsoft.com/office/drawing/2014/main" id="{D45F7667-5304-2FC1-F2D9-180B98005EA3}"/>
              </a:ext>
            </a:extLst>
          </p:cNvPr>
          <p:cNvSpPr>
            <a:spLocks noChangeArrowheads="1"/>
          </p:cNvSpPr>
          <p:nvPr/>
        </p:nvSpPr>
        <p:spPr bwMode="auto">
          <a:xfrm>
            <a:off x="5228107" y="2831859"/>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17</a:t>
            </a:r>
          </a:p>
        </p:txBody>
      </p:sp>
    </p:spTree>
    <p:extLst>
      <p:ext uri="{BB962C8B-B14F-4D97-AF65-F5344CB8AC3E}">
        <p14:creationId xmlns:p14="http://schemas.microsoft.com/office/powerpoint/2010/main" val="13581907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27313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87956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0170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19139"/>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5.2.1                                              UDP </a:t>
            </a:r>
            <a:r>
              <a:rPr lang="zh-CN" altLang="en-US" sz="2000" b="1" dirty="0">
                <a:solidFill>
                  <a:schemeClr val="bg1"/>
                </a:solidFill>
                <a:latin typeface="微软雅黑" pitchFamily="34" charset="-122"/>
                <a:ea typeface="微软雅黑" pitchFamily="34" charset="-122"/>
              </a:rPr>
              <a:t>概述</a:t>
            </a:r>
          </a:p>
          <a:p>
            <a:pPr eaLnBrk="0" hangingPunct="0">
              <a:lnSpc>
                <a:spcPct val="200000"/>
              </a:lnSpc>
            </a:pPr>
            <a:r>
              <a:rPr lang="en-US" altLang="zh-CN" sz="2000" b="1" dirty="0">
                <a:solidFill>
                  <a:schemeClr val="bg1"/>
                </a:solidFill>
                <a:latin typeface="微软雅黑" pitchFamily="34" charset="-122"/>
                <a:ea typeface="微软雅黑" pitchFamily="34" charset="-122"/>
              </a:rPr>
              <a:t>5.2.2                                    UDP </a:t>
            </a:r>
            <a:r>
              <a:rPr lang="zh-CN" altLang="en-US" sz="2000" b="1" dirty="0">
                <a:solidFill>
                  <a:schemeClr val="bg1"/>
                </a:solidFill>
                <a:latin typeface="微软雅黑" pitchFamily="34" charset="-122"/>
                <a:ea typeface="微软雅黑" pitchFamily="34" charset="-122"/>
              </a:rPr>
              <a:t>的首部格式</a:t>
            </a:r>
          </a:p>
        </p:txBody>
      </p:sp>
      <p:sp>
        <p:nvSpPr>
          <p:cNvPr id="10" name="Rectangle 27"/>
          <p:cNvSpPr>
            <a:spLocks noChangeArrowheads="1"/>
          </p:cNvSpPr>
          <p:nvPr/>
        </p:nvSpPr>
        <p:spPr bwMode="auto">
          <a:xfrm>
            <a:off x="639730" y="127313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368071"/>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5.2</a:t>
            </a:r>
          </a:p>
          <a:p>
            <a:pPr eaLnBrk="0" hangingPunct="0"/>
            <a:r>
              <a:rPr lang="zh-CN" altLang="en-US" sz="2000" b="1" dirty="0">
                <a:solidFill>
                  <a:schemeClr val="bg1"/>
                </a:solidFill>
                <a:latin typeface="微软雅黑" pitchFamily="34" charset="-122"/>
                <a:ea typeface="微软雅黑" pitchFamily="34" charset="-122"/>
              </a:rPr>
              <a:t>用户数据报协议 </a:t>
            </a:r>
            <a:r>
              <a:rPr lang="en-US" altLang="zh-CN" sz="2000" b="1" dirty="0">
                <a:solidFill>
                  <a:schemeClr val="bg1"/>
                </a:solidFill>
                <a:latin typeface="微软雅黑" pitchFamily="34" charset="-122"/>
                <a:ea typeface="微软雅黑" pitchFamily="34" charset="-122"/>
              </a:rPr>
              <a:t>UDP</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对象 1"/>
          <p:cNvGraphicFramePr>
            <a:graphicFrameLocks noGrp="1" noChangeAspect="1"/>
          </p:cNvGraphicFramePr>
          <p:nvPr>
            <p:extLst>
              <p:ext uri="{D42A27DB-BD31-4B8C-83A1-F6EECF244321}">
                <p14:modId xmlns:p14="http://schemas.microsoft.com/office/powerpoint/2010/main" val="3324255847"/>
              </p:ext>
            </p:extLst>
          </p:nvPr>
        </p:nvGraphicFramePr>
        <p:xfrm>
          <a:off x="2361104" y="2302095"/>
          <a:ext cx="4187237" cy="1839595"/>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4"/>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1104" y="2302095"/>
                        <a:ext cx="4187237" cy="183959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内容占位符 2">
            <a:extLst>
              <a:ext uri="{FF2B5EF4-FFF2-40B4-BE49-F238E27FC236}">
                <a16:creationId xmlns:a16="http://schemas.microsoft.com/office/drawing/2014/main" id="{D91D63F6-FF46-BE85-8602-61DB2432B248}"/>
              </a:ext>
            </a:extLst>
          </p:cNvPr>
          <p:cNvSpPr>
            <a:spLocks noGrp="1"/>
          </p:cNvSpPr>
          <p:nvPr>
            <p:ph sz="quarter" idx="11"/>
          </p:nvPr>
        </p:nvSpPr>
        <p:spPr>
          <a:xfrm>
            <a:off x="486000" y="900000"/>
            <a:ext cx="8172000" cy="3703500"/>
          </a:xfrm>
        </p:spPr>
        <p:txBody>
          <a:bodyPr/>
          <a:lstStyle/>
          <a:p>
            <a:r>
              <a:rPr lang="en-US" altLang="zh-CN" dirty="0"/>
              <a:t>UDP </a:t>
            </a:r>
            <a:r>
              <a:rPr lang="zh-CN" altLang="en-US" dirty="0"/>
              <a:t>只在 </a:t>
            </a:r>
            <a:r>
              <a:rPr lang="en-US" altLang="zh-CN" dirty="0"/>
              <a:t>IP </a:t>
            </a:r>
            <a:r>
              <a:rPr lang="zh-CN" altLang="en-US" dirty="0"/>
              <a:t>的数据报服务之上增加了一些功能：</a:t>
            </a:r>
          </a:p>
          <a:p>
            <a:pPr lvl="1"/>
            <a:r>
              <a:rPr lang="zh-CN" altLang="en-US" dirty="0"/>
              <a:t>复用和分用</a:t>
            </a:r>
            <a:endParaRPr lang="en-US" altLang="zh-CN" dirty="0"/>
          </a:p>
          <a:p>
            <a:pPr lvl="1"/>
            <a:r>
              <a:rPr lang="zh-CN" altLang="en-US" dirty="0"/>
              <a:t>差错检测</a:t>
            </a:r>
          </a:p>
          <a:p>
            <a:endParaRPr lang="zh-CN" altLang="en-US" dirty="0"/>
          </a:p>
        </p:txBody>
      </p:sp>
      <p:sp>
        <p:nvSpPr>
          <p:cNvPr id="4" name="标题 3">
            <a:extLst>
              <a:ext uri="{FF2B5EF4-FFF2-40B4-BE49-F238E27FC236}">
                <a16:creationId xmlns:a16="http://schemas.microsoft.com/office/drawing/2014/main" id="{6B6EF5A6-E2E6-B50B-B6E8-75640D2B34CA}"/>
              </a:ext>
            </a:extLst>
          </p:cNvPr>
          <p:cNvSpPr>
            <a:spLocks noGrp="1"/>
          </p:cNvSpPr>
          <p:nvPr>
            <p:ph type="title"/>
          </p:nvPr>
        </p:nvSpPr>
        <p:spPr>
          <a:xfrm>
            <a:off x="486000" y="550723"/>
            <a:ext cx="8172000" cy="338554"/>
          </a:xfrm>
          <a:prstGeom prst="rect">
            <a:avLst/>
          </a:prstGeom>
        </p:spPr>
        <p:txBody>
          <a:bodyPr/>
          <a:lstStyle/>
          <a:p>
            <a:r>
              <a:rPr lang="en-US" altLang="zh-CN" dirty="0"/>
              <a:t>5.2.1  UDP </a:t>
            </a:r>
            <a:r>
              <a:rPr lang="zh-CN" altLang="en-US" dirty="0"/>
              <a:t>概述</a:t>
            </a:r>
          </a:p>
        </p:txBody>
      </p:sp>
    </p:spTree>
    <p:extLst>
      <p:ext uri="{BB962C8B-B14F-4D97-AF65-F5344CB8AC3E}">
        <p14:creationId xmlns:p14="http://schemas.microsoft.com/office/powerpoint/2010/main" val="6835817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583514" y="3781291"/>
            <a:ext cx="6006352" cy="378117"/>
          </a:xfrm>
          <a:prstGeom prst="rect">
            <a:avLst/>
          </a:prstGeom>
          <a:solidFill>
            <a:srgbClr val="800080"/>
          </a:solidFill>
        </p:spPr>
        <p:txBody>
          <a:bodyPr wrap="square">
            <a:spAutoFit/>
          </a:bodyPr>
          <a:lstStyle/>
          <a:p>
            <a:pPr algn="ctr">
              <a:lnSpc>
                <a:spcPts val="2400"/>
              </a:lnSpc>
              <a:buClr>
                <a:srgbClr val="0070C0"/>
              </a:buClr>
            </a:pP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通信的特点：简单方便，但不可靠。</a:t>
            </a:r>
          </a:p>
        </p:txBody>
      </p:sp>
      <p:sp>
        <p:nvSpPr>
          <p:cNvPr id="3" name="内容占位符 2">
            <a:extLst>
              <a:ext uri="{FF2B5EF4-FFF2-40B4-BE49-F238E27FC236}">
                <a16:creationId xmlns:a16="http://schemas.microsoft.com/office/drawing/2014/main" id="{EBA4CD23-1D75-C7D6-536F-0CFA852D72B7}"/>
              </a:ext>
            </a:extLst>
          </p:cNvPr>
          <p:cNvSpPr>
            <a:spLocks noGrp="1"/>
          </p:cNvSpPr>
          <p:nvPr>
            <p:ph sz="quarter" idx="11"/>
          </p:nvPr>
        </p:nvSpPr>
        <p:spPr>
          <a:xfrm>
            <a:off x="486000" y="900000"/>
            <a:ext cx="8172000" cy="3703500"/>
          </a:xfrm>
        </p:spPr>
        <p:txBody>
          <a:bodyPr/>
          <a:lstStyle/>
          <a:p>
            <a:r>
              <a:rPr lang="zh-CN" altLang="en-US" dirty="0"/>
              <a:t>无连接。发送数据之前不需要建立连接。</a:t>
            </a:r>
          </a:p>
          <a:p>
            <a:r>
              <a:rPr lang="zh-CN" altLang="en-US" dirty="0"/>
              <a:t>使用尽最大努力交付。即不保证可靠交付。</a:t>
            </a:r>
          </a:p>
          <a:p>
            <a:r>
              <a:rPr lang="zh-CN" altLang="en-US" dirty="0"/>
              <a:t>面向报文。</a:t>
            </a:r>
            <a:r>
              <a:rPr lang="en-US" altLang="zh-CN" dirty="0"/>
              <a:t>UDP </a:t>
            </a:r>
            <a:r>
              <a:rPr lang="zh-CN" altLang="en-US" dirty="0"/>
              <a:t>一次传送和交付一个完整的报文。 </a:t>
            </a:r>
            <a:endParaRPr lang="en-US" altLang="zh-CN" dirty="0"/>
          </a:p>
          <a:p>
            <a:r>
              <a:rPr lang="zh-CN" altLang="en-US" dirty="0"/>
              <a:t>没有拥塞控制。网络出现的拥塞不会使源主机的发送速率降低。很适合多媒体通信的要求。 </a:t>
            </a:r>
          </a:p>
          <a:p>
            <a:r>
              <a:rPr lang="zh-CN" altLang="en-US" dirty="0"/>
              <a:t>支持一对一、一对多、多对一、多对多等交互通信。</a:t>
            </a:r>
          </a:p>
          <a:p>
            <a:r>
              <a:rPr lang="zh-CN" altLang="en-US" dirty="0"/>
              <a:t>首部开销小，只有 </a:t>
            </a:r>
            <a:r>
              <a:rPr lang="en-US" altLang="zh-CN" dirty="0"/>
              <a:t>8 </a:t>
            </a:r>
            <a:r>
              <a:rPr lang="zh-CN" altLang="en-US" dirty="0"/>
              <a:t>个字节。</a:t>
            </a:r>
          </a:p>
          <a:p>
            <a:endParaRPr lang="zh-CN" altLang="en-US" dirty="0"/>
          </a:p>
        </p:txBody>
      </p:sp>
      <p:sp>
        <p:nvSpPr>
          <p:cNvPr id="4" name="标题 3">
            <a:extLst>
              <a:ext uri="{FF2B5EF4-FFF2-40B4-BE49-F238E27FC236}">
                <a16:creationId xmlns:a16="http://schemas.microsoft.com/office/drawing/2014/main" id="{68ED48FB-142C-BB12-D223-0B2EB14B12F7}"/>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的主要特点</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553426" y="1237129"/>
            <a:ext cx="5832888" cy="2070848"/>
            <a:chOff x="422071" y="1628800"/>
            <a:chExt cx="9004747" cy="3529013"/>
          </a:xfrm>
        </p:grpSpPr>
        <p:sp>
          <p:nvSpPr>
            <p:cNvPr id="6" name="AutoShape 3"/>
            <p:cNvSpPr>
              <a:spLocks noChangeArrowheads="1"/>
            </p:cNvSpPr>
            <p:nvPr/>
          </p:nvSpPr>
          <p:spPr bwMode="auto">
            <a:xfrm flipH="1">
              <a:off x="422071" y="4565675"/>
              <a:ext cx="863600" cy="363538"/>
            </a:xfrm>
            <a:prstGeom prst="rightArrow">
              <a:avLst>
                <a:gd name="adj1" fmla="val 50000"/>
                <a:gd name="adj2" fmla="val 118788"/>
              </a:avLst>
            </a:prstGeom>
            <a:solidFill>
              <a:srgbClr val="FF00FF"/>
            </a:solidFill>
            <a:ln w="12700">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7" name="Rectangle 4"/>
            <p:cNvSpPr>
              <a:spLocks noChangeArrowheads="1"/>
            </p:cNvSpPr>
            <p:nvPr/>
          </p:nvSpPr>
          <p:spPr bwMode="auto">
            <a:xfrm>
              <a:off x="2360409" y="3678263"/>
              <a:ext cx="5915024" cy="730250"/>
            </a:xfrm>
            <a:prstGeom prst="rect">
              <a:avLst/>
            </a:prstGeom>
            <a:gradFill flip="none" rotWithShape="1">
              <a:gsLst>
                <a:gs pos="0">
                  <a:srgbClr val="00FFFF"/>
                </a:gs>
                <a:gs pos="77000">
                  <a:srgbClr val="CCCCFF"/>
                </a:gs>
              </a:gsLst>
              <a:lin ang="5400000" scaled="1"/>
              <a:tileRect/>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8" name="Rectangle 5"/>
            <p:cNvSpPr>
              <a:spLocks noChangeArrowheads="1"/>
            </p:cNvSpPr>
            <p:nvPr/>
          </p:nvSpPr>
          <p:spPr bwMode="auto">
            <a:xfrm>
              <a:off x="3824084" y="2230461"/>
              <a:ext cx="4425949" cy="720726"/>
            </a:xfrm>
            <a:prstGeom prst="rect">
              <a:avLst/>
            </a:prstGeom>
            <a:gradFill rotWithShape="1">
              <a:gsLst>
                <a:gs pos="0">
                  <a:srgbClr val="66FF66"/>
                </a:gs>
                <a:gs pos="33000">
                  <a:srgbClr val="66FF66"/>
                </a:gs>
                <a:gs pos="100000">
                  <a:srgbClr val="00FFFF"/>
                </a:gs>
              </a:gsLst>
              <a:lin ang="5400000" scaled="1"/>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6"/>
            <p:cNvSpPr>
              <a:spLocks noChangeArrowheads="1"/>
            </p:cNvSpPr>
            <p:nvPr/>
          </p:nvSpPr>
          <p:spPr bwMode="auto">
            <a:xfrm>
              <a:off x="2360409" y="2952775"/>
              <a:ext cx="5915025" cy="722313"/>
            </a:xfrm>
            <a:prstGeom prst="rect">
              <a:avLst/>
            </a:prstGeom>
            <a:solidFill>
              <a:srgbClr val="00FFFF"/>
            </a:solidFill>
            <a:ln w="2857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7"/>
            <p:cNvSpPr>
              <a:spLocks noChangeArrowheads="1"/>
            </p:cNvSpPr>
            <p:nvPr/>
          </p:nvSpPr>
          <p:spPr bwMode="auto">
            <a:xfrm>
              <a:off x="1238046" y="4408513"/>
              <a:ext cx="7037388" cy="749300"/>
            </a:xfrm>
            <a:prstGeom prst="rect">
              <a:avLst/>
            </a:prstGeom>
            <a:solidFill>
              <a:srgbClr val="0000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Rectangle 8"/>
            <p:cNvSpPr>
              <a:spLocks noChangeArrowheads="1"/>
            </p:cNvSpPr>
            <p:nvPr/>
          </p:nvSpPr>
          <p:spPr bwMode="auto">
            <a:xfrm>
              <a:off x="2360410" y="4437088"/>
              <a:ext cx="5891213" cy="690561"/>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Rectangle 9"/>
            <p:cNvSpPr>
              <a:spLocks noChangeArrowheads="1"/>
            </p:cNvSpPr>
            <p:nvPr/>
          </p:nvSpPr>
          <p:spPr bwMode="auto">
            <a:xfrm>
              <a:off x="3747885" y="4573614"/>
              <a:ext cx="285827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数据报的数据部分</a:t>
              </a:r>
            </a:p>
          </p:txBody>
        </p:sp>
        <p:sp>
          <p:nvSpPr>
            <p:cNvPr id="13" name="Rectangle 10"/>
            <p:cNvSpPr>
              <a:spLocks noChangeArrowheads="1"/>
            </p:cNvSpPr>
            <p:nvPr/>
          </p:nvSpPr>
          <p:spPr bwMode="auto">
            <a:xfrm>
              <a:off x="1199946" y="4543449"/>
              <a:ext cx="1195282"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首部</a:t>
              </a:r>
            </a:p>
          </p:txBody>
        </p:sp>
        <p:sp>
          <p:nvSpPr>
            <p:cNvPr id="14" name="Rectangle 11"/>
            <p:cNvSpPr>
              <a:spLocks noChangeArrowheads="1"/>
            </p:cNvSpPr>
            <p:nvPr/>
          </p:nvSpPr>
          <p:spPr bwMode="auto">
            <a:xfrm>
              <a:off x="8313203" y="4553358"/>
              <a:ext cx="918116"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层</a:t>
              </a:r>
            </a:p>
          </p:txBody>
        </p:sp>
        <p:sp>
          <p:nvSpPr>
            <p:cNvPr id="15" name="Line 12"/>
            <p:cNvSpPr>
              <a:spLocks noChangeShapeType="1"/>
            </p:cNvSpPr>
            <p:nvPr/>
          </p:nvSpPr>
          <p:spPr bwMode="auto">
            <a:xfrm>
              <a:off x="3824084" y="2952775"/>
              <a:ext cx="0" cy="722313"/>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6" name="AutoShape 13"/>
            <p:cNvSpPr>
              <a:spLocks noChangeArrowheads="1"/>
            </p:cNvSpPr>
            <p:nvPr/>
          </p:nvSpPr>
          <p:spPr bwMode="auto">
            <a:xfrm rot="16200000" flipH="1">
              <a:off x="4890884" y="3994175"/>
              <a:ext cx="963612" cy="325438"/>
            </a:xfrm>
            <a:prstGeom prst="rightArrow">
              <a:avLst>
                <a:gd name="adj1" fmla="val 50000"/>
                <a:gd name="adj2" fmla="val 148062"/>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7" name="Rectangle 14"/>
            <p:cNvSpPr>
              <a:spLocks noChangeArrowheads="1"/>
            </p:cNvSpPr>
            <p:nvPr/>
          </p:nvSpPr>
          <p:spPr bwMode="auto">
            <a:xfrm>
              <a:off x="2360409" y="3060723"/>
              <a:ext cx="153678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首部</a:t>
              </a:r>
            </a:p>
          </p:txBody>
        </p:sp>
        <p:sp>
          <p:nvSpPr>
            <p:cNvPr id="18" name="Rectangle 15"/>
            <p:cNvSpPr>
              <a:spLocks noChangeArrowheads="1"/>
            </p:cNvSpPr>
            <p:nvPr/>
          </p:nvSpPr>
          <p:spPr bwMode="auto">
            <a:xfrm>
              <a:off x="4189209" y="3065488"/>
              <a:ext cx="375411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用户数据报的数据部分</a:t>
              </a:r>
            </a:p>
          </p:txBody>
        </p:sp>
        <p:sp>
          <p:nvSpPr>
            <p:cNvPr id="19" name="Rectangle 16"/>
            <p:cNvSpPr>
              <a:spLocks noChangeArrowheads="1"/>
            </p:cNvSpPr>
            <p:nvPr/>
          </p:nvSpPr>
          <p:spPr bwMode="auto">
            <a:xfrm>
              <a:off x="8313203" y="3086509"/>
              <a:ext cx="1113615" cy="52012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运输层</a:t>
              </a:r>
            </a:p>
          </p:txBody>
        </p:sp>
        <p:sp>
          <p:nvSpPr>
            <p:cNvPr id="20" name="Line 17"/>
            <p:cNvSpPr>
              <a:spLocks noChangeShapeType="1"/>
            </p:cNvSpPr>
            <p:nvPr/>
          </p:nvSpPr>
          <p:spPr bwMode="auto">
            <a:xfrm>
              <a:off x="2360409" y="4408513"/>
              <a:ext cx="0" cy="74930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1" name="AutoShape 18"/>
            <p:cNvSpPr>
              <a:spLocks noChangeArrowheads="1"/>
            </p:cNvSpPr>
            <p:nvPr/>
          </p:nvSpPr>
          <p:spPr bwMode="auto">
            <a:xfrm rot="16200000" flipH="1">
              <a:off x="5556841" y="2548756"/>
              <a:ext cx="963612" cy="327025"/>
            </a:xfrm>
            <a:prstGeom prst="rightArrow">
              <a:avLst>
                <a:gd name="adj1" fmla="val 50000"/>
                <a:gd name="adj2" fmla="val 147344"/>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2" name="Rectangle 19"/>
            <p:cNvSpPr>
              <a:spLocks noChangeArrowheads="1"/>
            </p:cNvSpPr>
            <p:nvPr/>
          </p:nvSpPr>
          <p:spPr bwMode="auto">
            <a:xfrm>
              <a:off x="3824084" y="1628800"/>
              <a:ext cx="4425950" cy="601663"/>
            </a:xfrm>
            <a:prstGeom prst="rect">
              <a:avLst/>
            </a:prstGeom>
            <a:solidFill>
              <a:srgbClr val="66FF66"/>
            </a:solidFill>
            <a:ln w="28575">
              <a:solidFill>
                <a:srgbClr val="000000"/>
              </a:solidFill>
              <a:miter lim="800000"/>
              <a:headEnd/>
              <a:tailEnd/>
            </a:ln>
            <a:effectLst/>
          </p:spPr>
          <p:txBody>
            <a:bodyPr wrap="none" anchor="ct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应用层报文</a:t>
              </a:r>
            </a:p>
          </p:txBody>
        </p:sp>
        <p:sp>
          <p:nvSpPr>
            <p:cNvPr id="23" name="Rectangle 20"/>
            <p:cNvSpPr>
              <a:spLocks noChangeArrowheads="1"/>
            </p:cNvSpPr>
            <p:nvPr/>
          </p:nvSpPr>
          <p:spPr bwMode="auto">
            <a:xfrm>
              <a:off x="8313203" y="1641884"/>
              <a:ext cx="1113615"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应用层</a:t>
              </a:r>
            </a:p>
          </p:txBody>
        </p:sp>
      </p:grpSp>
      <p:sp>
        <p:nvSpPr>
          <p:cNvPr id="24" name="矩形 23"/>
          <p:cNvSpPr/>
          <p:nvPr/>
        </p:nvSpPr>
        <p:spPr>
          <a:xfrm>
            <a:off x="660758" y="3496236"/>
            <a:ext cx="7945443"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发送方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对应用层交下来的报文，既不合并，也不拆分，按照样发送。</a:t>
            </a:r>
            <a:endParaRPr lang="en-US" altLang="zh-CN" sz="1600" b="1" dirty="0">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接收方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层交上来的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用户数据报，去除首部后就原封不动地交付上层的应用进程，一次交付一个完整的报文。</a:t>
            </a:r>
          </a:p>
        </p:txBody>
      </p:sp>
      <p:sp>
        <p:nvSpPr>
          <p:cNvPr id="25" name="内容占位符 24">
            <a:extLst>
              <a:ext uri="{FF2B5EF4-FFF2-40B4-BE49-F238E27FC236}">
                <a16:creationId xmlns:a16="http://schemas.microsoft.com/office/drawing/2014/main" id="{9B154347-60C9-D2EC-5344-DC3F7AA35482}"/>
              </a:ext>
            </a:extLst>
          </p:cNvPr>
          <p:cNvSpPr>
            <a:spLocks noGrp="1"/>
          </p:cNvSpPr>
          <p:nvPr>
            <p:ph sz="quarter" idx="11"/>
          </p:nvPr>
        </p:nvSpPr>
        <p:spPr/>
        <p:txBody>
          <a:bodyPr/>
          <a:lstStyle/>
          <a:p>
            <a:endParaRPr lang="zh-CN" altLang="en-US"/>
          </a:p>
        </p:txBody>
      </p:sp>
      <p:sp>
        <p:nvSpPr>
          <p:cNvPr id="26" name="标题 25">
            <a:extLst>
              <a:ext uri="{FF2B5EF4-FFF2-40B4-BE49-F238E27FC236}">
                <a16:creationId xmlns:a16="http://schemas.microsoft.com/office/drawing/2014/main" id="{8939AFC9-23F4-47B4-7DC9-528A71A466FD}"/>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585141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7">
            <a:extLst>
              <a:ext uri="{FF2B5EF4-FFF2-40B4-BE49-F238E27FC236}">
                <a16:creationId xmlns:a16="http://schemas.microsoft.com/office/drawing/2014/main" id="{2D2DBB46-AAAF-B897-7334-A992BA3304D6}"/>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A43F8E9-85DF-DA1F-F130-863823C80AE5}"/>
              </a:ext>
            </a:extLst>
          </p:cNvPr>
          <p:cNvGraphicFramePr>
            <a:graphicFrameLocks noGrp="1"/>
          </p:cNvGraphicFramePr>
          <p:nvPr>
            <p:extLst>
              <p:ext uri="{D42A27DB-BD31-4B8C-83A1-F6EECF244321}">
                <p14:modId xmlns:p14="http://schemas.microsoft.com/office/powerpoint/2010/main" val="2949740881"/>
              </p:ext>
            </p:extLst>
          </p:nvPr>
        </p:nvGraphicFramePr>
        <p:xfrm>
          <a:off x="2839640" y="2209568"/>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UDP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UDP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914CAF6E-D02A-F6AA-A7AC-F2E1163E0174}"/>
              </a:ext>
            </a:extLst>
          </p:cNvPr>
          <p:cNvGraphicFramePr>
            <a:graphicFrameLocks noGrp="1"/>
          </p:cNvGraphicFramePr>
          <p:nvPr>
            <p:extLst>
              <p:ext uri="{D42A27DB-BD31-4B8C-83A1-F6EECF244321}">
                <p14:modId xmlns:p14="http://schemas.microsoft.com/office/powerpoint/2010/main" val="3744981484"/>
              </p:ext>
            </p:extLst>
          </p:nvPr>
        </p:nvGraphicFramePr>
        <p:xfrm>
          <a:off x="3984239" y="1633419"/>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sp>
        <p:nvSpPr>
          <p:cNvPr id="18" name="AutoShape 66">
            <a:extLst>
              <a:ext uri="{FF2B5EF4-FFF2-40B4-BE49-F238E27FC236}">
                <a16:creationId xmlns:a16="http://schemas.microsoft.com/office/drawing/2014/main" id="{470F9A4F-AD34-343D-A71B-A79A9BB359D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8" name="表格 27">
            <a:extLst>
              <a:ext uri="{FF2B5EF4-FFF2-40B4-BE49-F238E27FC236}">
                <a16:creationId xmlns:a16="http://schemas.microsoft.com/office/drawing/2014/main" id="{A1A02F75-8FD6-88EB-1A4C-DEE73212CE0E}"/>
              </a:ext>
            </a:extLst>
          </p:cNvPr>
          <p:cNvGraphicFramePr>
            <a:graphicFrameLocks noGrp="1"/>
          </p:cNvGraphicFramePr>
          <p:nvPr>
            <p:extLst>
              <p:ext uri="{D42A27DB-BD31-4B8C-83A1-F6EECF244321}">
                <p14:modId xmlns:p14="http://schemas.microsoft.com/office/powerpoint/2010/main" val="2335547081"/>
              </p:ext>
            </p:extLst>
          </p:nvPr>
        </p:nvGraphicFramePr>
        <p:xfrm>
          <a:off x="1778320" y="2785718"/>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sp>
        <p:nvSpPr>
          <p:cNvPr id="24" name="AutoShape 70">
            <a:extLst>
              <a:ext uri="{FF2B5EF4-FFF2-40B4-BE49-F238E27FC236}">
                <a16:creationId xmlns:a16="http://schemas.microsoft.com/office/drawing/2014/main" id="{4B6980A1-FA9C-9027-2188-F22DACD061F1}"/>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263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a:off x="1559400" y="1159979"/>
            <a:ext cx="1844188" cy="1627483"/>
            <a:chOff x="1577330" y="1312384"/>
            <a:chExt cx="1844188" cy="1627483"/>
          </a:xfrm>
        </p:grpSpPr>
        <p:sp>
          <p:nvSpPr>
            <p:cNvPr id="2" name="Documents"/>
            <p:cNvSpPr>
              <a:spLocks noEditPoints="1" noChangeArrowheads="1"/>
            </p:cNvSpPr>
            <p:nvPr/>
          </p:nvSpPr>
          <p:spPr bwMode="auto">
            <a:xfrm rot="10800000">
              <a:off x="2842728" y="1312384"/>
              <a:ext cx="351223"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36" name="矩形 35"/>
            <p:cNvSpPr/>
            <p:nvPr/>
          </p:nvSpPr>
          <p:spPr>
            <a:xfrm>
              <a:off x="2675144" y="176641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endParaRPr lang="zh-CN" altLang="en-US" sz="1100" b="1" dirty="0">
                <a:solidFill>
                  <a:schemeClr val="tx1"/>
                </a:solidFill>
                <a:latin typeface="微软雅黑" pitchFamily="34" charset="-122"/>
                <a:ea typeface="微软雅黑" pitchFamily="34" charset="-122"/>
              </a:endParaRPr>
            </a:p>
          </p:txBody>
        </p:sp>
        <p:sp>
          <p:nvSpPr>
            <p:cNvPr id="37" name="矩形 36"/>
            <p:cNvSpPr/>
            <p:nvPr/>
          </p:nvSpPr>
          <p:spPr>
            <a:xfrm>
              <a:off x="2675145" y="2219896"/>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38" name="矩形 37"/>
            <p:cNvSpPr/>
            <p:nvPr/>
          </p:nvSpPr>
          <p:spPr>
            <a:xfrm>
              <a:off x="2125890" y="2219896"/>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r>
                <a:rPr lang="zh-CN" altLang="en-US" sz="900" b="1" dirty="0">
                  <a:solidFill>
                    <a:schemeClr val="tx1"/>
                  </a:solidFill>
                  <a:latin typeface="微软雅黑" pitchFamily="34" charset="-122"/>
                  <a:ea typeface="微软雅黑" pitchFamily="34" charset="-122"/>
                </a:rPr>
                <a:t>首部</a:t>
              </a:r>
            </a:p>
          </p:txBody>
        </p:sp>
        <p:sp>
          <p:nvSpPr>
            <p:cNvPr id="43" name="矩形 42"/>
            <p:cNvSpPr/>
            <p:nvPr/>
          </p:nvSpPr>
          <p:spPr>
            <a:xfrm>
              <a:off x="2125890" y="2677252"/>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62" name="矩形 61"/>
            <p:cNvSpPr/>
            <p:nvPr/>
          </p:nvSpPr>
          <p:spPr>
            <a:xfrm>
              <a:off x="1577330" y="2677252"/>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4" name="下箭头 3"/>
            <p:cNvSpPr/>
            <p:nvPr/>
          </p:nvSpPr>
          <p:spPr>
            <a:xfrm>
              <a:off x="2969387" y="160354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6" name="下箭头 65"/>
            <p:cNvSpPr/>
            <p:nvPr/>
          </p:nvSpPr>
          <p:spPr>
            <a:xfrm>
              <a:off x="2959412" y="205057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7" name="下箭头 66"/>
            <p:cNvSpPr/>
            <p:nvPr/>
          </p:nvSpPr>
          <p:spPr>
            <a:xfrm>
              <a:off x="2950986" y="2508724"/>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6" name="直接连接符 5"/>
            <p:cNvCxnSpPr/>
            <p:nvPr/>
          </p:nvCxnSpPr>
          <p:spPr>
            <a:xfrm>
              <a:off x="2694726"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3421518"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a:off x="3421518"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a:off x="2145471"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pSp>
        <p:nvGrpSpPr>
          <p:cNvPr id="9" name="组合 8"/>
          <p:cNvGrpSpPr/>
          <p:nvPr/>
        </p:nvGrpSpPr>
        <p:grpSpPr>
          <a:xfrm>
            <a:off x="5505656" y="1159978"/>
            <a:ext cx="1844189" cy="1627483"/>
            <a:chOff x="6052508" y="1312383"/>
            <a:chExt cx="1844189" cy="1627483"/>
          </a:xfrm>
        </p:grpSpPr>
        <p:sp>
          <p:nvSpPr>
            <p:cNvPr id="74" name="Documents"/>
            <p:cNvSpPr>
              <a:spLocks noEditPoints="1" noChangeArrowheads="1"/>
            </p:cNvSpPr>
            <p:nvPr/>
          </p:nvSpPr>
          <p:spPr bwMode="auto">
            <a:xfrm rot="10800000">
              <a:off x="7317907" y="1312383"/>
              <a:ext cx="351224"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75" name="矩形 74"/>
            <p:cNvSpPr/>
            <p:nvPr/>
          </p:nvSpPr>
          <p:spPr>
            <a:xfrm>
              <a:off x="7150323" y="1766414"/>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p>
          </p:txBody>
        </p:sp>
        <p:sp>
          <p:nvSpPr>
            <p:cNvPr id="76" name="矩形 75"/>
            <p:cNvSpPr/>
            <p:nvPr/>
          </p:nvSpPr>
          <p:spPr>
            <a:xfrm>
              <a:off x="7150324" y="221989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77" name="矩形 76"/>
            <p:cNvSpPr/>
            <p:nvPr/>
          </p:nvSpPr>
          <p:spPr>
            <a:xfrm>
              <a:off x="6601069" y="2219895"/>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p>
            <a:p>
              <a:pPr algn="ctr"/>
              <a:r>
                <a:rPr lang="zh-CN" altLang="en-US" sz="900" b="1" dirty="0">
                  <a:solidFill>
                    <a:schemeClr val="tx1"/>
                  </a:solidFill>
                  <a:latin typeface="微软雅黑" pitchFamily="34" charset="-122"/>
                  <a:ea typeface="微软雅黑" pitchFamily="34" charset="-122"/>
                </a:rPr>
                <a:t>首部</a:t>
              </a:r>
            </a:p>
          </p:txBody>
        </p:sp>
        <p:sp>
          <p:nvSpPr>
            <p:cNvPr id="78" name="矩形 77"/>
            <p:cNvSpPr/>
            <p:nvPr/>
          </p:nvSpPr>
          <p:spPr>
            <a:xfrm>
              <a:off x="6601069" y="2677251"/>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79" name="矩形 78"/>
            <p:cNvSpPr/>
            <p:nvPr/>
          </p:nvSpPr>
          <p:spPr>
            <a:xfrm>
              <a:off x="6052508" y="2677251"/>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82" name="下箭头 81"/>
            <p:cNvSpPr/>
            <p:nvPr/>
          </p:nvSpPr>
          <p:spPr>
            <a:xfrm flipV="1">
              <a:off x="7444566" y="160354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3" name="下箭头 82"/>
            <p:cNvSpPr/>
            <p:nvPr/>
          </p:nvSpPr>
          <p:spPr>
            <a:xfrm flipV="1">
              <a:off x="7434591" y="205057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4" name="下箭头 83"/>
            <p:cNvSpPr/>
            <p:nvPr/>
          </p:nvSpPr>
          <p:spPr>
            <a:xfrm flipV="1">
              <a:off x="7426167" y="2508723"/>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86" name="直接连接符 85"/>
            <p:cNvCxnSpPr/>
            <p:nvPr/>
          </p:nvCxnSpPr>
          <p:spPr>
            <a:xfrm>
              <a:off x="7169905"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7896697"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7896697"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6620650"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aphicFrame>
        <p:nvGraphicFramePr>
          <p:cNvPr id="46" name="Object 4"/>
          <p:cNvGraphicFramePr>
            <a:graphicFrameLocks noChangeAspect="1"/>
          </p:cNvGraphicFramePr>
          <p:nvPr>
            <p:extLst>
              <p:ext uri="{D42A27DB-BD31-4B8C-83A1-F6EECF244321}">
                <p14:modId xmlns:p14="http://schemas.microsoft.com/office/powerpoint/2010/main" val="515026737"/>
              </p:ext>
            </p:extLst>
          </p:nvPr>
        </p:nvGraphicFramePr>
        <p:xfrm>
          <a:off x="3853609" y="2330105"/>
          <a:ext cx="1183169" cy="70796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53609" y="2330105"/>
                        <a:ext cx="1183169" cy="70796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右箭头 7"/>
          <p:cNvSpPr/>
          <p:nvPr/>
        </p:nvSpPr>
        <p:spPr>
          <a:xfrm>
            <a:off x="3402967"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右箭头 49"/>
          <p:cNvSpPr/>
          <p:nvPr/>
        </p:nvSpPr>
        <p:spPr>
          <a:xfrm>
            <a:off x="4965994"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765799" y="3087650"/>
            <a:ext cx="7759635" cy="1134734"/>
          </a:xfrm>
          <a:prstGeom prst="rect">
            <a:avLst/>
          </a:prstGeom>
        </p:spPr>
        <p:txBody>
          <a:bodyPr wrap="square">
            <a:spAutoFit/>
          </a:bodyPr>
          <a:lstStyle/>
          <a:p>
            <a:pPr>
              <a:lnSpc>
                <a:spcPts val="2800"/>
              </a:lnSpc>
              <a:buClr>
                <a:srgbClr val="0070C0"/>
              </a:buClr>
            </a:pPr>
            <a:r>
              <a:rPr lang="zh-CN" altLang="en-US" b="1" dirty="0">
                <a:latin typeface="微软雅黑" pitchFamily="34" charset="-122"/>
                <a:ea typeface="微软雅黑" pitchFamily="34" charset="-122"/>
              </a:rPr>
              <a:t>应用程序必须选择</a:t>
            </a:r>
            <a:r>
              <a:rPr lang="zh-CN" altLang="en-US" b="1" dirty="0">
                <a:solidFill>
                  <a:srgbClr val="C00000"/>
                </a:solidFill>
                <a:latin typeface="微软雅黑" pitchFamily="34" charset="-122"/>
                <a:ea typeface="微软雅黑" pitchFamily="34" charset="-122"/>
              </a:rPr>
              <a:t>合适大小</a:t>
            </a:r>
            <a:r>
              <a:rPr lang="zh-CN" altLang="en-US" b="1" dirty="0">
                <a:latin typeface="微软雅黑" pitchFamily="34" charset="-122"/>
                <a:ea typeface="微软雅黑" pitchFamily="34" charset="-122"/>
              </a:rPr>
              <a:t>的报文。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若报文太长</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层在传送时可能要进行分片，降低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若报文太短</a:t>
            </a:r>
            <a:r>
              <a:rPr lang="zh-CN" altLang="en-US" b="1" dirty="0">
                <a:latin typeface="微软雅黑" pitchFamily="34" charset="-122"/>
                <a:ea typeface="微软雅黑" pitchFamily="34" charset="-122"/>
              </a:rPr>
              <a:t>，会使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数据报的首部的相对长度太大，降低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p:txBody>
      </p:sp>
      <p:sp>
        <p:nvSpPr>
          <p:cNvPr id="13" name="内容占位符 12">
            <a:extLst>
              <a:ext uri="{FF2B5EF4-FFF2-40B4-BE49-F238E27FC236}">
                <a16:creationId xmlns:a16="http://schemas.microsoft.com/office/drawing/2014/main" id="{A3431638-A226-8093-CA6C-9E4EA4A50EA1}"/>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586A711-160A-6B7C-40C8-3D8D40E63E6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3773091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794348" y="1128976"/>
            <a:ext cx="7538010" cy="2579179"/>
            <a:chOff x="794348" y="1128976"/>
            <a:chExt cx="7538010" cy="2579179"/>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7" name="直接箭头连接符 115"/>
            <p:cNvCxnSpPr>
              <a:cxnSpLocks noChangeShapeType="1"/>
            </p:cNvCxnSpPr>
            <p:nvPr/>
          </p:nvCxnSpPr>
          <p:spPr bwMode="auto">
            <a:xfrm flipH="1">
              <a:off x="2332542" y="2334367"/>
              <a:ext cx="10139" cy="422729"/>
            </a:xfrm>
            <a:prstGeom prst="straightConnector1">
              <a:avLst/>
            </a:prstGeom>
            <a:noFill/>
            <a:ln w="12700" algn="ctr">
              <a:solidFill>
                <a:schemeClr val="tx1"/>
              </a:solidFill>
              <a:round/>
              <a:headEnd/>
              <a:tailEnd type="triangle" w="sm" len="lg"/>
            </a:ln>
          </p:spPr>
        </p:cxn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59" name="下箭头 140"/>
            <p:cNvSpPr>
              <a:spLocks noChangeArrowheads="1"/>
            </p:cNvSpPr>
            <p:nvPr/>
          </p:nvSpPr>
          <p:spPr bwMode="auto">
            <a:xfrm>
              <a:off x="2358613" y="2384911"/>
              <a:ext cx="65178" cy="139378"/>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0" name="下箭头 141"/>
            <p:cNvSpPr>
              <a:spLocks noChangeArrowheads="1"/>
            </p:cNvSpPr>
            <p:nvPr/>
          </p:nvSpPr>
          <p:spPr bwMode="auto">
            <a:xfrm rot="8280000" flipH="1">
              <a:off x="6461911" y="2377253"/>
              <a:ext cx="66626" cy="139379"/>
            </a:xfrm>
            <a:prstGeom prst="downArrow">
              <a:avLst>
                <a:gd name="adj1" fmla="val 50000"/>
                <a:gd name="adj2" fmla="val 49457"/>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6" name="Rectangle 5"/>
            <p:cNvSpPr>
              <a:spLocks noChangeArrowheads="1"/>
            </p:cNvSpPr>
            <p:nvPr/>
          </p:nvSpPr>
          <p:spPr bwMode="auto">
            <a:xfrm rot="10800000" flipV="1">
              <a:off x="3936772" y="2984410"/>
              <a:ext cx="2268637" cy="294470"/>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b</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1"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2" name="下箭头 140"/>
            <p:cNvSpPr>
              <a:spLocks noChangeArrowheads="1"/>
            </p:cNvSpPr>
            <p:nvPr/>
          </p:nvSpPr>
          <p:spPr bwMode="auto">
            <a:xfrm rot="16200000">
              <a:off x="5041352" y="3215012"/>
              <a:ext cx="68924" cy="131803"/>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3"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gr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多对一的通信</a:t>
            </a:r>
          </a:p>
        </p:txBody>
      </p:sp>
      <p:sp>
        <p:nvSpPr>
          <p:cNvPr id="6" name="内容占位符 5">
            <a:extLst>
              <a:ext uri="{FF2B5EF4-FFF2-40B4-BE49-F238E27FC236}">
                <a16:creationId xmlns:a16="http://schemas.microsoft.com/office/drawing/2014/main" id="{54D2578F-6AC2-F6B4-FB41-6F54CA2C738E}"/>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2B5144F-9ECD-2165-DE13-8427F0A7BCF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18118811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EAFCD-8520-0526-D82A-2DDC22E6DE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A45EAC9-013E-F48D-C2FA-ADFAECB494CA}"/>
              </a:ext>
            </a:extLst>
          </p:cNvPr>
          <p:cNvSpPr>
            <a:spLocks noGrp="1"/>
          </p:cNvSpPr>
          <p:nvPr>
            <p:ph type="title"/>
          </p:nvPr>
        </p:nvSpPr>
        <p:spPr>
          <a:prstGeom prst="rect">
            <a:avLst/>
          </a:prstGeom>
        </p:spPr>
        <p:txBody>
          <a:bodyPr/>
          <a:lstStyle/>
          <a:p>
            <a:r>
              <a:rPr lang="zh-CN" altLang="en-US" dirty="0"/>
              <a:t>多对一</a:t>
            </a:r>
          </a:p>
        </p:txBody>
      </p:sp>
      <p:grpSp>
        <p:nvGrpSpPr>
          <p:cNvPr id="29" name="组合 28">
            <a:extLst>
              <a:ext uri="{FF2B5EF4-FFF2-40B4-BE49-F238E27FC236}">
                <a16:creationId xmlns:a16="http://schemas.microsoft.com/office/drawing/2014/main" id="{D434A184-88A3-DE24-481F-853F175E1C0D}"/>
              </a:ext>
            </a:extLst>
          </p:cNvPr>
          <p:cNvGrpSpPr/>
          <p:nvPr/>
        </p:nvGrpSpPr>
        <p:grpSpPr>
          <a:xfrm>
            <a:off x="2368256" y="2426213"/>
            <a:ext cx="288000" cy="360000"/>
            <a:chOff x="6541210" y="2426213"/>
            <a:chExt cx="288000" cy="360000"/>
          </a:xfrm>
        </p:grpSpPr>
        <p:sp>
          <p:nvSpPr>
            <p:cNvPr id="30" name="矩形 29">
              <a:extLst>
                <a:ext uri="{FF2B5EF4-FFF2-40B4-BE49-F238E27FC236}">
                  <a16:creationId xmlns:a16="http://schemas.microsoft.com/office/drawing/2014/main" id="{221F2CA8-04CF-A977-4145-E9C62DDD2217}"/>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3" name="矩形 32">
              <a:extLst>
                <a:ext uri="{FF2B5EF4-FFF2-40B4-BE49-F238E27FC236}">
                  <a16:creationId xmlns:a16="http://schemas.microsoft.com/office/drawing/2014/main" id="{1A231CDE-E3BE-6BAD-68B3-EFFB995A1F5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4" name="矩形 33">
              <a:extLst>
                <a:ext uri="{FF2B5EF4-FFF2-40B4-BE49-F238E27FC236}">
                  <a16:creationId xmlns:a16="http://schemas.microsoft.com/office/drawing/2014/main" id="{5905FCAC-D63C-80B4-DB30-FDE3E7F91C03}"/>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96E6B2DC-8967-3707-D319-B03BAAF60320}"/>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79B433DD-2BA3-AF15-930F-EBCF2D0F34F9}"/>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5CD92B2A-838D-7F09-A6DA-BE0B01BA5F00}"/>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6" name="文本框 65">
            <a:extLst>
              <a:ext uri="{FF2B5EF4-FFF2-40B4-BE49-F238E27FC236}">
                <a16:creationId xmlns:a16="http://schemas.microsoft.com/office/drawing/2014/main" id="{E8DE94FC-230B-5CF8-1FB7-DB31352A4382}"/>
              </a:ext>
            </a:extLst>
          </p:cNvPr>
          <p:cNvSpPr txBox="1"/>
          <p:nvPr/>
        </p:nvSpPr>
        <p:spPr>
          <a:xfrm>
            <a:off x="2362782" y="2792707"/>
            <a:ext cx="2888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b</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7" name="组合 66">
            <a:extLst>
              <a:ext uri="{FF2B5EF4-FFF2-40B4-BE49-F238E27FC236}">
                <a16:creationId xmlns:a16="http://schemas.microsoft.com/office/drawing/2014/main" id="{A69A3A9D-05BB-7EB0-4E6B-1BD742A373B0}"/>
              </a:ext>
            </a:extLst>
          </p:cNvPr>
          <p:cNvGrpSpPr/>
          <p:nvPr/>
        </p:nvGrpSpPr>
        <p:grpSpPr>
          <a:xfrm>
            <a:off x="2944256" y="2426213"/>
            <a:ext cx="288000" cy="360000"/>
            <a:chOff x="3158808" y="2426213"/>
            <a:chExt cx="288000" cy="360000"/>
          </a:xfrm>
        </p:grpSpPr>
        <p:sp>
          <p:nvSpPr>
            <p:cNvPr id="69" name="矩形 68">
              <a:extLst>
                <a:ext uri="{FF2B5EF4-FFF2-40B4-BE49-F238E27FC236}">
                  <a16:creationId xmlns:a16="http://schemas.microsoft.com/office/drawing/2014/main" id="{777141F5-1D7E-035E-DB5D-9B7D38D9CD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FF7F521E-2B1F-A890-67D1-4848A200197B}"/>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4184581D-AD64-6DB4-9723-CF3C82E5F717}"/>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0" name="矩形 79">
              <a:extLst>
                <a:ext uri="{FF2B5EF4-FFF2-40B4-BE49-F238E27FC236}">
                  <a16:creationId xmlns:a16="http://schemas.microsoft.com/office/drawing/2014/main" id="{090A65FE-171E-D3F7-467C-6EFBBEB5650B}"/>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1" name="矩形 80">
              <a:extLst>
                <a:ext uri="{FF2B5EF4-FFF2-40B4-BE49-F238E27FC236}">
                  <a16:creationId xmlns:a16="http://schemas.microsoft.com/office/drawing/2014/main" id="{3DE508FC-4BC0-4E28-B8D8-B69055C3F1C1}"/>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2" name="矩形 81">
              <a:extLst>
                <a:ext uri="{FF2B5EF4-FFF2-40B4-BE49-F238E27FC236}">
                  <a16:creationId xmlns:a16="http://schemas.microsoft.com/office/drawing/2014/main" id="{3B242EAE-4726-2BBD-87F9-C8B90698E027}"/>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3" name="文本框 82">
            <a:extLst>
              <a:ext uri="{FF2B5EF4-FFF2-40B4-BE49-F238E27FC236}">
                <a16:creationId xmlns:a16="http://schemas.microsoft.com/office/drawing/2014/main" id="{FE7ADC70-B56A-2F25-BBCC-B90EC268A191}"/>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4" name="组合 83">
            <a:extLst>
              <a:ext uri="{FF2B5EF4-FFF2-40B4-BE49-F238E27FC236}">
                <a16:creationId xmlns:a16="http://schemas.microsoft.com/office/drawing/2014/main" id="{BABD68D3-187A-9850-233E-78B4145A8EBD}"/>
              </a:ext>
            </a:extLst>
          </p:cNvPr>
          <p:cNvGrpSpPr/>
          <p:nvPr/>
        </p:nvGrpSpPr>
        <p:grpSpPr>
          <a:xfrm>
            <a:off x="1782170" y="2426213"/>
            <a:ext cx="288000" cy="360000"/>
            <a:chOff x="1907273" y="2426213"/>
            <a:chExt cx="288000" cy="360000"/>
          </a:xfrm>
        </p:grpSpPr>
        <p:sp>
          <p:nvSpPr>
            <p:cNvPr id="98" name="矩形 97">
              <a:extLst>
                <a:ext uri="{FF2B5EF4-FFF2-40B4-BE49-F238E27FC236}">
                  <a16:creationId xmlns:a16="http://schemas.microsoft.com/office/drawing/2014/main" id="{421F675B-E1D8-5025-65B2-0CD39024B98B}"/>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A75C1FDB-7FEC-7181-959A-7102942A6E8F}"/>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D4CC2978-BEE3-1962-EB6B-32213694BD3F}"/>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3" name="矩形 102">
              <a:extLst>
                <a:ext uri="{FF2B5EF4-FFF2-40B4-BE49-F238E27FC236}">
                  <a16:creationId xmlns:a16="http://schemas.microsoft.com/office/drawing/2014/main" id="{3B6792C0-C955-380C-C9B9-9F28190AD75E}"/>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4" name="矩形 103">
              <a:extLst>
                <a:ext uri="{FF2B5EF4-FFF2-40B4-BE49-F238E27FC236}">
                  <a16:creationId xmlns:a16="http://schemas.microsoft.com/office/drawing/2014/main" id="{5AD4E0F4-B4BC-2CB6-91D8-B54E831A31B3}"/>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5" name="矩形 104">
              <a:extLst>
                <a:ext uri="{FF2B5EF4-FFF2-40B4-BE49-F238E27FC236}">
                  <a16:creationId xmlns:a16="http://schemas.microsoft.com/office/drawing/2014/main" id="{8B07C799-9643-0552-5F28-A4727CC57FFE}"/>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11" name="文本框 110">
            <a:extLst>
              <a:ext uri="{FF2B5EF4-FFF2-40B4-BE49-F238E27FC236}">
                <a16:creationId xmlns:a16="http://schemas.microsoft.com/office/drawing/2014/main" id="{7932D236-F8C9-F4AD-81A1-A9B52617A93B}"/>
              </a:ext>
            </a:extLst>
          </p:cNvPr>
          <p:cNvSpPr txBox="1"/>
          <p:nvPr/>
        </p:nvSpPr>
        <p:spPr>
          <a:xfrm>
            <a:off x="1787350"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12" name="组合 111">
            <a:extLst>
              <a:ext uri="{FF2B5EF4-FFF2-40B4-BE49-F238E27FC236}">
                <a16:creationId xmlns:a16="http://schemas.microsoft.com/office/drawing/2014/main" id="{6EC0CE1A-AB48-E529-C54B-A2EDCF21B2BF}"/>
              </a:ext>
            </a:extLst>
          </p:cNvPr>
          <p:cNvGrpSpPr/>
          <p:nvPr/>
        </p:nvGrpSpPr>
        <p:grpSpPr>
          <a:xfrm>
            <a:off x="5277845" y="2426213"/>
            <a:ext cx="288000" cy="360000"/>
            <a:chOff x="7097072" y="2452049"/>
            <a:chExt cx="288000" cy="360000"/>
          </a:xfrm>
        </p:grpSpPr>
        <p:sp>
          <p:nvSpPr>
            <p:cNvPr id="116" name="矩形 115">
              <a:extLst>
                <a:ext uri="{FF2B5EF4-FFF2-40B4-BE49-F238E27FC236}">
                  <a16:creationId xmlns:a16="http://schemas.microsoft.com/office/drawing/2014/main" id="{2B2E644F-59CD-F0D4-6647-20AA5C1449BF}"/>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83056C77-CD08-EDAD-A494-EBE9BA7E96C3}"/>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555D35A1-7384-CAF0-07B2-0FE5D2F693F1}"/>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0" name="矩形 119">
              <a:extLst>
                <a:ext uri="{FF2B5EF4-FFF2-40B4-BE49-F238E27FC236}">
                  <a16:creationId xmlns:a16="http://schemas.microsoft.com/office/drawing/2014/main" id="{6B669DA2-5EAA-F17F-9430-E82D724BABDA}"/>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1" name="矩形 120">
              <a:extLst>
                <a:ext uri="{FF2B5EF4-FFF2-40B4-BE49-F238E27FC236}">
                  <a16:creationId xmlns:a16="http://schemas.microsoft.com/office/drawing/2014/main" id="{4AAE71EB-E983-3C4D-4588-09A68BEAA60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矩形 121">
              <a:extLst>
                <a:ext uri="{FF2B5EF4-FFF2-40B4-BE49-F238E27FC236}">
                  <a16:creationId xmlns:a16="http://schemas.microsoft.com/office/drawing/2014/main" id="{E8CDC611-49D6-AC07-2F6B-B1419694A4E1}"/>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3" name="文本框 122">
            <a:extLst>
              <a:ext uri="{FF2B5EF4-FFF2-40B4-BE49-F238E27FC236}">
                <a16:creationId xmlns:a16="http://schemas.microsoft.com/office/drawing/2014/main" id="{F4E215FE-B8F2-2316-25BC-D33158E2ECC3}"/>
              </a:ext>
            </a:extLst>
          </p:cNvPr>
          <p:cNvSpPr txBox="1"/>
          <p:nvPr/>
        </p:nvSpPr>
        <p:spPr>
          <a:xfrm>
            <a:off x="6439834" y="2792707"/>
            <a:ext cx="26802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24" name="组合 123">
            <a:extLst>
              <a:ext uri="{FF2B5EF4-FFF2-40B4-BE49-F238E27FC236}">
                <a16:creationId xmlns:a16="http://schemas.microsoft.com/office/drawing/2014/main" id="{7021A654-8057-1192-6290-D695C65F9F2C}"/>
              </a:ext>
            </a:extLst>
          </p:cNvPr>
          <p:cNvGrpSpPr/>
          <p:nvPr/>
        </p:nvGrpSpPr>
        <p:grpSpPr>
          <a:xfrm>
            <a:off x="6429845" y="2426213"/>
            <a:ext cx="288000" cy="360000"/>
            <a:chOff x="6014097" y="2452049"/>
            <a:chExt cx="288000" cy="360000"/>
          </a:xfrm>
        </p:grpSpPr>
        <p:sp>
          <p:nvSpPr>
            <p:cNvPr id="126" name="矩形 125">
              <a:extLst>
                <a:ext uri="{FF2B5EF4-FFF2-40B4-BE49-F238E27FC236}">
                  <a16:creationId xmlns:a16="http://schemas.microsoft.com/office/drawing/2014/main" id="{8E0032BE-A3D8-D67A-B7FE-8B3E4EA49495}"/>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7" name="矩形 126">
              <a:extLst>
                <a:ext uri="{FF2B5EF4-FFF2-40B4-BE49-F238E27FC236}">
                  <a16:creationId xmlns:a16="http://schemas.microsoft.com/office/drawing/2014/main" id="{4D93DFD5-E8DA-7AB5-219F-5A72FCC577ED}"/>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9" name="矩形 128">
              <a:extLst>
                <a:ext uri="{FF2B5EF4-FFF2-40B4-BE49-F238E27FC236}">
                  <a16:creationId xmlns:a16="http://schemas.microsoft.com/office/drawing/2014/main" id="{3847C06E-528A-C8A9-0A4F-E4568DC22654}"/>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1" name="矩形 130">
              <a:extLst>
                <a:ext uri="{FF2B5EF4-FFF2-40B4-BE49-F238E27FC236}">
                  <a16:creationId xmlns:a16="http://schemas.microsoft.com/office/drawing/2014/main" id="{898B7F2E-1F07-58F8-66D3-770326DE7C3B}"/>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2" name="矩形 131">
              <a:extLst>
                <a:ext uri="{FF2B5EF4-FFF2-40B4-BE49-F238E27FC236}">
                  <a16:creationId xmlns:a16="http://schemas.microsoft.com/office/drawing/2014/main" id="{C3073F2A-4726-37AC-56FE-8754299E64C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5" name="矩形 134">
              <a:extLst>
                <a:ext uri="{FF2B5EF4-FFF2-40B4-BE49-F238E27FC236}">
                  <a16:creationId xmlns:a16="http://schemas.microsoft.com/office/drawing/2014/main" id="{420BBA41-A99A-61D2-F7CF-96C0EF89391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36" name="文本框 135">
            <a:extLst>
              <a:ext uri="{FF2B5EF4-FFF2-40B4-BE49-F238E27FC236}">
                <a16:creationId xmlns:a16="http://schemas.microsoft.com/office/drawing/2014/main" id="{AFE9496D-15C9-C802-5EA7-AA14E58588AE}"/>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37" name="矩形 136">
            <a:extLst>
              <a:ext uri="{FF2B5EF4-FFF2-40B4-BE49-F238E27FC236}">
                <a16:creationId xmlns:a16="http://schemas.microsoft.com/office/drawing/2014/main" id="{ED3E5BEA-89CE-84A5-E9C0-5B12CAD2DD7F}"/>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8" name="文本框 137">
            <a:extLst>
              <a:ext uri="{FF2B5EF4-FFF2-40B4-BE49-F238E27FC236}">
                <a16:creationId xmlns:a16="http://schemas.microsoft.com/office/drawing/2014/main" id="{8102A6A4-D5BC-68C3-6B46-D204B4C66957}"/>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6890F6A3-5FB0-1F2E-D5E6-11555B069F2F}"/>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0" name="文本框 139">
            <a:extLst>
              <a:ext uri="{FF2B5EF4-FFF2-40B4-BE49-F238E27FC236}">
                <a16:creationId xmlns:a16="http://schemas.microsoft.com/office/drawing/2014/main" id="{3492A695-FE48-F01E-F69D-8FAC9DD86F41}"/>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2" name="矩形 141">
            <a:extLst>
              <a:ext uri="{FF2B5EF4-FFF2-40B4-BE49-F238E27FC236}">
                <a16:creationId xmlns:a16="http://schemas.microsoft.com/office/drawing/2014/main" id="{C6E6737B-AAB3-9C0F-B73C-89096C5FCDAC}"/>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43" name="连接符: 肘形 142">
            <a:extLst>
              <a:ext uri="{FF2B5EF4-FFF2-40B4-BE49-F238E27FC236}">
                <a16:creationId xmlns:a16="http://schemas.microsoft.com/office/drawing/2014/main" id="{ED4EDC0C-0742-ABA1-EF85-345C7C4D02FD}"/>
              </a:ext>
            </a:extLst>
          </p:cNvPr>
          <p:cNvCxnSpPr>
            <a:cxnSpLocks/>
            <a:stCxn id="137" idx="2"/>
            <a:endCxn id="142" idx="2"/>
          </p:cNvCxnSpPr>
          <p:nvPr/>
        </p:nvCxnSpPr>
        <p:spPr>
          <a:xfrm rot="16200000" flipH="1">
            <a:off x="4255050" y="1769912"/>
            <a:ext cx="12700" cy="3485589"/>
          </a:xfrm>
          <a:prstGeom prst="bentConnector3">
            <a:avLst>
              <a:gd name="adj1" fmla="val 487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44" name="文本框 143">
            <a:extLst>
              <a:ext uri="{FF2B5EF4-FFF2-40B4-BE49-F238E27FC236}">
                <a16:creationId xmlns:a16="http://schemas.microsoft.com/office/drawing/2014/main" id="{CF8596A6-6F6B-E9A5-E9DE-D96242B714FD}"/>
              </a:ext>
            </a:extLst>
          </p:cNvPr>
          <p:cNvSpPr txBox="1"/>
          <p:nvPr/>
        </p:nvSpPr>
        <p:spPr>
          <a:xfrm>
            <a:off x="35447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5" name="直接箭头连接符 144">
            <a:extLst>
              <a:ext uri="{FF2B5EF4-FFF2-40B4-BE49-F238E27FC236}">
                <a16:creationId xmlns:a16="http://schemas.microsoft.com/office/drawing/2014/main" id="{7A706646-1FD4-86B2-26F7-2355B51C626B}"/>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直接箭头连接符 145">
            <a:extLst>
              <a:ext uri="{FF2B5EF4-FFF2-40B4-BE49-F238E27FC236}">
                <a16:creationId xmlns:a16="http://schemas.microsoft.com/office/drawing/2014/main" id="{C308C6DD-6221-5EBD-AEFA-9154AE513F4F}"/>
              </a:ext>
            </a:extLst>
          </p:cNvPr>
          <p:cNvCxnSpPr>
            <a:cxnSpLocks/>
          </p:cNvCxnSpPr>
          <p:nvPr/>
        </p:nvCxnSpPr>
        <p:spPr>
          <a:xfrm>
            <a:off x="2512256"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4847BA3-D1C2-6C45-4813-7010357A4CB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直接箭头连接符 147">
            <a:extLst>
              <a:ext uri="{FF2B5EF4-FFF2-40B4-BE49-F238E27FC236}">
                <a16:creationId xmlns:a16="http://schemas.microsoft.com/office/drawing/2014/main" id="{90CA8FB0-BB66-A2FE-2715-2BC031207334}"/>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直接箭头连接符 148">
            <a:extLst>
              <a:ext uri="{FF2B5EF4-FFF2-40B4-BE49-F238E27FC236}">
                <a16:creationId xmlns:a16="http://schemas.microsoft.com/office/drawing/2014/main" id="{04389A40-BD15-DEE3-8815-92129D81E94C}"/>
              </a:ext>
            </a:extLst>
          </p:cNvPr>
          <p:cNvCxnSpPr>
            <a:cxnSpLocks/>
          </p:cNvCxnSpPr>
          <p:nvPr/>
        </p:nvCxnSpPr>
        <p:spPr>
          <a:xfrm>
            <a:off x="5421845"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sp>
        <p:nvSpPr>
          <p:cNvPr id="150" name="文本框 149">
            <a:extLst>
              <a:ext uri="{FF2B5EF4-FFF2-40B4-BE49-F238E27FC236}">
                <a16:creationId xmlns:a16="http://schemas.microsoft.com/office/drawing/2014/main" id="{BE31B19B-6437-B794-F513-6E03CD84EDA5}"/>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1" name="文本框 150">
            <a:extLst>
              <a:ext uri="{FF2B5EF4-FFF2-40B4-BE49-F238E27FC236}">
                <a16:creationId xmlns:a16="http://schemas.microsoft.com/office/drawing/2014/main" id="{8F26D343-815C-20B2-5B5D-8CFB89A50B3A}"/>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2" name="直接箭头连接符 151">
            <a:extLst>
              <a:ext uri="{FF2B5EF4-FFF2-40B4-BE49-F238E27FC236}">
                <a16:creationId xmlns:a16="http://schemas.microsoft.com/office/drawing/2014/main" id="{B2ED9F29-A6F0-5F38-3245-3A029DF74C42}"/>
              </a:ext>
            </a:extLst>
          </p:cNvPr>
          <p:cNvCxnSpPr>
            <a:cxnSpLocks/>
            <a:stCxn id="102" idx="2"/>
            <a:endCxn id="137" idx="2"/>
          </p:cNvCxnSpPr>
          <p:nvPr/>
        </p:nvCxnSpPr>
        <p:spPr>
          <a:xfrm>
            <a:off x="1926170" y="2786213"/>
            <a:ext cx="586086"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12378542-FECA-D2F2-76BE-7AF2C210E334}"/>
              </a:ext>
            </a:extLst>
          </p:cNvPr>
          <p:cNvCxnSpPr>
            <a:cxnSpLocks/>
            <a:stCxn id="79" idx="2"/>
            <a:endCxn id="137"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直接箭头连接符 153">
            <a:extLst>
              <a:ext uri="{FF2B5EF4-FFF2-40B4-BE49-F238E27FC236}">
                <a16:creationId xmlns:a16="http://schemas.microsoft.com/office/drawing/2014/main" id="{E191EADA-2D75-DC1D-7913-B3161628B0DB}"/>
              </a:ext>
            </a:extLst>
          </p:cNvPr>
          <p:cNvCxnSpPr>
            <a:cxnSpLocks/>
            <a:stCxn id="137" idx="0"/>
            <a:endCxn id="137" idx="2"/>
          </p:cNvCxnSpPr>
          <p:nvPr/>
        </p:nvCxnSpPr>
        <p:spPr>
          <a:xfrm>
            <a:off x="2512256" y="2792707"/>
            <a:ext cx="0" cy="720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直接箭头连接符 154">
            <a:extLst>
              <a:ext uri="{FF2B5EF4-FFF2-40B4-BE49-F238E27FC236}">
                <a16:creationId xmlns:a16="http://schemas.microsoft.com/office/drawing/2014/main" id="{11AC493A-4C69-1476-666C-5DB500F2E212}"/>
              </a:ext>
            </a:extLst>
          </p:cNvPr>
          <p:cNvCxnSpPr>
            <a:cxnSpLocks/>
            <a:stCxn id="142"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6" name="直接箭头连接符 155">
            <a:extLst>
              <a:ext uri="{FF2B5EF4-FFF2-40B4-BE49-F238E27FC236}">
                <a16:creationId xmlns:a16="http://schemas.microsoft.com/office/drawing/2014/main" id="{D5D574B6-62D3-6663-592D-5ACB68583E4B}"/>
              </a:ext>
            </a:extLst>
          </p:cNvPr>
          <p:cNvCxnSpPr>
            <a:cxnSpLocks/>
            <a:stCxn id="142"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C4718E69-2052-9688-8EBA-A766178230FE}"/>
              </a:ext>
            </a:extLst>
          </p:cNvPr>
          <p:cNvSpPr txBox="1"/>
          <p:nvPr/>
        </p:nvSpPr>
        <p:spPr>
          <a:xfrm>
            <a:off x="2329354"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8" name="文本框 157">
            <a:extLst>
              <a:ext uri="{FF2B5EF4-FFF2-40B4-BE49-F238E27FC236}">
                <a16:creationId xmlns:a16="http://schemas.microsoft.com/office/drawing/2014/main" id="{3BA035A8-388E-87BE-FCC1-6D07740F7831}"/>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9" name="文本框 158">
            <a:extLst>
              <a:ext uri="{FF2B5EF4-FFF2-40B4-BE49-F238E27FC236}">
                <a16:creationId xmlns:a16="http://schemas.microsoft.com/office/drawing/2014/main" id="{5B7257A8-7FFE-A817-FAA4-4B96DFAE7ABB}"/>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0" name="文本框 159">
            <a:extLst>
              <a:ext uri="{FF2B5EF4-FFF2-40B4-BE49-F238E27FC236}">
                <a16:creationId xmlns:a16="http://schemas.microsoft.com/office/drawing/2014/main" id="{9C03CD17-E80E-64CD-D32A-6CEEEEF0CFC0}"/>
              </a:ext>
            </a:extLst>
          </p:cNvPr>
          <p:cNvSpPr txBox="1"/>
          <p:nvPr/>
        </p:nvSpPr>
        <p:spPr>
          <a:xfrm>
            <a:off x="4132413" y="3881375"/>
            <a:ext cx="503664"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b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1" name="文本框 160">
            <a:extLst>
              <a:ext uri="{FF2B5EF4-FFF2-40B4-BE49-F238E27FC236}">
                <a16:creationId xmlns:a16="http://schemas.microsoft.com/office/drawing/2014/main" id="{C06F7E02-40B1-AA0A-B882-5791803FA88B}"/>
              </a:ext>
            </a:extLst>
          </p:cNvPr>
          <p:cNvSpPr txBox="1"/>
          <p:nvPr/>
        </p:nvSpPr>
        <p:spPr>
          <a:xfrm>
            <a:off x="4689593" y="3881375"/>
            <a:ext cx="48763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52" name="组合 51">
            <a:extLst>
              <a:ext uri="{FF2B5EF4-FFF2-40B4-BE49-F238E27FC236}">
                <a16:creationId xmlns:a16="http://schemas.microsoft.com/office/drawing/2014/main" id="{6BE7C96B-F754-569E-859A-FA934D0F236B}"/>
              </a:ext>
            </a:extLst>
          </p:cNvPr>
          <p:cNvGrpSpPr/>
          <p:nvPr/>
        </p:nvGrpSpPr>
        <p:grpSpPr>
          <a:xfrm>
            <a:off x="5277845" y="1474901"/>
            <a:ext cx="1440000" cy="720000"/>
            <a:chOff x="5277845" y="1779701"/>
            <a:chExt cx="1440000" cy="720000"/>
          </a:xfrm>
        </p:grpSpPr>
        <p:grpSp>
          <p:nvGrpSpPr>
            <p:cNvPr id="27" name="组合 26">
              <a:extLst>
                <a:ext uri="{FF2B5EF4-FFF2-40B4-BE49-F238E27FC236}">
                  <a16:creationId xmlns:a16="http://schemas.microsoft.com/office/drawing/2014/main" id="{95A4CA25-4E60-E661-A5B3-84F28F8418B1}"/>
                </a:ext>
              </a:extLst>
            </p:cNvPr>
            <p:cNvGrpSpPr/>
            <p:nvPr/>
          </p:nvGrpSpPr>
          <p:grpSpPr>
            <a:xfrm>
              <a:off x="6336009" y="1789913"/>
              <a:ext cx="381836" cy="619527"/>
              <a:chOff x="7787527" y="1370364"/>
              <a:chExt cx="381836" cy="619527"/>
            </a:xfrm>
          </p:grpSpPr>
          <p:pic>
            <p:nvPicPr>
              <p:cNvPr id="24" name="图形 23" descr="文档">
                <a:extLst>
                  <a:ext uri="{FF2B5EF4-FFF2-40B4-BE49-F238E27FC236}">
                    <a16:creationId xmlns:a16="http://schemas.microsoft.com/office/drawing/2014/main" id="{8CCC44DC-2E8C-16DD-32BD-5C9FB6AF14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25" name="文本框 24">
                <a:extLst>
                  <a:ext uri="{FF2B5EF4-FFF2-40B4-BE49-F238E27FC236}">
                    <a16:creationId xmlns:a16="http://schemas.microsoft.com/office/drawing/2014/main" id="{AC948BA4-6849-7D5D-9FD1-5F9182586B8F}"/>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41" name="矩形 140">
              <a:extLst>
                <a:ext uri="{FF2B5EF4-FFF2-40B4-BE49-F238E27FC236}">
                  <a16:creationId xmlns:a16="http://schemas.microsoft.com/office/drawing/2014/main" id="{A26A7F80-6C9E-9BE8-071B-3BC24ACBC445}"/>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36" name="组合 35">
              <a:extLst>
                <a:ext uri="{FF2B5EF4-FFF2-40B4-BE49-F238E27FC236}">
                  <a16:creationId xmlns:a16="http://schemas.microsoft.com/office/drawing/2014/main" id="{77E5DFFD-612A-A62E-CB7A-E1BEA3A13F07}"/>
                </a:ext>
              </a:extLst>
            </p:cNvPr>
            <p:cNvGrpSpPr/>
            <p:nvPr/>
          </p:nvGrpSpPr>
          <p:grpSpPr>
            <a:xfrm>
              <a:off x="5277845" y="1789913"/>
              <a:ext cx="396262" cy="619527"/>
              <a:chOff x="7787527" y="1370364"/>
              <a:chExt cx="396262" cy="619527"/>
            </a:xfrm>
          </p:grpSpPr>
          <p:pic>
            <p:nvPicPr>
              <p:cNvPr id="37" name="图形 36" descr="文档">
                <a:extLst>
                  <a:ext uri="{FF2B5EF4-FFF2-40B4-BE49-F238E27FC236}">
                    <a16:creationId xmlns:a16="http://schemas.microsoft.com/office/drawing/2014/main" id="{A2261D8D-EC4D-3CD1-3870-6DFC67974B7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38" name="文本框 37">
                <a:extLst>
                  <a:ext uri="{FF2B5EF4-FFF2-40B4-BE49-F238E27FC236}">
                    <a16:creationId xmlns:a16="http://schemas.microsoft.com/office/drawing/2014/main" id="{88FB19AE-539B-0E06-48E1-43C4BDCDC414}"/>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51" name="组合 50">
            <a:extLst>
              <a:ext uri="{FF2B5EF4-FFF2-40B4-BE49-F238E27FC236}">
                <a16:creationId xmlns:a16="http://schemas.microsoft.com/office/drawing/2014/main" id="{AB96C985-9C70-24A7-253D-864B2A21E0E1}"/>
              </a:ext>
            </a:extLst>
          </p:cNvPr>
          <p:cNvGrpSpPr/>
          <p:nvPr/>
        </p:nvGrpSpPr>
        <p:grpSpPr>
          <a:xfrm>
            <a:off x="1792256" y="1474901"/>
            <a:ext cx="1440000" cy="720000"/>
            <a:chOff x="5430245" y="1932101"/>
            <a:chExt cx="1440000" cy="720000"/>
          </a:xfrm>
        </p:grpSpPr>
        <p:grpSp>
          <p:nvGrpSpPr>
            <p:cNvPr id="39" name="组合 38">
              <a:extLst>
                <a:ext uri="{FF2B5EF4-FFF2-40B4-BE49-F238E27FC236}">
                  <a16:creationId xmlns:a16="http://schemas.microsoft.com/office/drawing/2014/main" id="{08BFF0EF-2E37-087C-69D8-B82CCC090D7D}"/>
                </a:ext>
              </a:extLst>
            </p:cNvPr>
            <p:cNvGrpSpPr/>
            <p:nvPr/>
          </p:nvGrpSpPr>
          <p:grpSpPr>
            <a:xfrm>
              <a:off x="6488409" y="1942313"/>
              <a:ext cx="381836" cy="619527"/>
              <a:chOff x="7787527" y="1370364"/>
              <a:chExt cx="381836" cy="619527"/>
            </a:xfrm>
          </p:grpSpPr>
          <p:pic>
            <p:nvPicPr>
              <p:cNvPr id="40" name="图形 39" descr="文档">
                <a:extLst>
                  <a:ext uri="{FF2B5EF4-FFF2-40B4-BE49-F238E27FC236}">
                    <a16:creationId xmlns:a16="http://schemas.microsoft.com/office/drawing/2014/main" id="{BC6FCD56-AE6B-AB0E-6839-91C867097B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1" name="文本框 40">
                <a:extLst>
                  <a:ext uri="{FF2B5EF4-FFF2-40B4-BE49-F238E27FC236}">
                    <a16:creationId xmlns:a16="http://schemas.microsoft.com/office/drawing/2014/main" id="{25C44E4E-FDA5-E661-AA16-725B25B8F04B}"/>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42" name="矩形 41">
              <a:extLst>
                <a:ext uri="{FF2B5EF4-FFF2-40B4-BE49-F238E27FC236}">
                  <a16:creationId xmlns:a16="http://schemas.microsoft.com/office/drawing/2014/main" id="{A7D1BB8D-3362-3322-827F-C13147F9A30C}"/>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43" name="组合 42">
              <a:extLst>
                <a:ext uri="{FF2B5EF4-FFF2-40B4-BE49-F238E27FC236}">
                  <a16:creationId xmlns:a16="http://schemas.microsoft.com/office/drawing/2014/main" id="{71797B1C-154A-E1EB-868E-8BDAD41FB273}"/>
                </a:ext>
              </a:extLst>
            </p:cNvPr>
            <p:cNvGrpSpPr/>
            <p:nvPr/>
          </p:nvGrpSpPr>
          <p:grpSpPr>
            <a:xfrm>
              <a:off x="5959327" y="1942313"/>
              <a:ext cx="383438" cy="619527"/>
              <a:chOff x="7787527" y="1370364"/>
              <a:chExt cx="383438" cy="619527"/>
            </a:xfrm>
          </p:grpSpPr>
          <p:pic>
            <p:nvPicPr>
              <p:cNvPr id="44" name="图形 43" descr="文档">
                <a:extLst>
                  <a:ext uri="{FF2B5EF4-FFF2-40B4-BE49-F238E27FC236}">
                    <a16:creationId xmlns:a16="http://schemas.microsoft.com/office/drawing/2014/main" id="{547DBF5C-E73B-4990-21BC-BEB100969C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5" name="文本框 44">
                <a:extLst>
                  <a:ext uri="{FF2B5EF4-FFF2-40B4-BE49-F238E27FC236}">
                    <a16:creationId xmlns:a16="http://schemas.microsoft.com/office/drawing/2014/main" id="{FA0A3919-E7C3-7DCC-572B-15281AF21C9A}"/>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47" name="组合 46">
              <a:extLst>
                <a:ext uri="{FF2B5EF4-FFF2-40B4-BE49-F238E27FC236}">
                  <a16:creationId xmlns:a16="http://schemas.microsoft.com/office/drawing/2014/main" id="{8089A18D-AC4F-5BA3-5ED6-323FD5D542AE}"/>
                </a:ext>
              </a:extLst>
            </p:cNvPr>
            <p:cNvGrpSpPr/>
            <p:nvPr/>
          </p:nvGrpSpPr>
          <p:grpSpPr>
            <a:xfrm>
              <a:off x="5430245" y="1942313"/>
              <a:ext cx="370918" cy="619527"/>
              <a:chOff x="7787527" y="1370364"/>
              <a:chExt cx="370918" cy="619527"/>
            </a:xfrm>
          </p:grpSpPr>
          <p:pic>
            <p:nvPicPr>
              <p:cNvPr id="49" name="图形 48" descr="文档">
                <a:extLst>
                  <a:ext uri="{FF2B5EF4-FFF2-40B4-BE49-F238E27FC236}">
                    <a16:creationId xmlns:a16="http://schemas.microsoft.com/office/drawing/2014/main" id="{3252380E-EB05-89E7-FFAC-F2753D8F07F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50" name="文本框 49">
                <a:extLst>
                  <a:ext uri="{FF2B5EF4-FFF2-40B4-BE49-F238E27FC236}">
                    <a16:creationId xmlns:a16="http://schemas.microsoft.com/office/drawing/2014/main" id="{0854450B-3476-42EF-BCB4-E11EAE526C6F}"/>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1730545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一对多的通信</a:t>
            </a:r>
          </a:p>
        </p:txBody>
      </p:sp>
      <p:grpSp>
        <p:nvGrpSpPr>
          <p:cNvPr id="2" name="组合 1"/>
          <p:cNvGrpSpPr/>
          <p:nvPr/>
        </p:nvGrpSpPr>
        <p:grpSpPr>
          <a:xfrm>
            <a:off x="794348" y="1138723"/>
            <a:ext cx="7538010" cy="2569432"/>
            <a:chOff x="794348" y="1138723"/>
            <a:chExt cx="7538010" cy="2569432"/>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sp>
          <p:nvSpPr>
            <p:cNvPr id="175" name="Rectangle 5"/>
            <p:cNvSpPr>
              <a:spLocks noChangeArrowheads="1"/>
            </p:cNvSpPr>
            <p:nvPr/>
          </p:nvSpPr>
          <p:spPr bwMode="auto">
            <a:xfrm rot="10800000" flipV="1">
              <a:off x="3936772" y="2988004"/>
              <a:ext cx="2268637"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76"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7"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8" name="下箭头 136"/>
            <p:cNvSpPr>
              <a:spLocks noChangeArrowheads="1"/>
            </p:cNvSpPr>
            <p:nvPr/>
          </p:nvSpPr>
          <p:spPr bwMode="auto">
            <a:xfrm rot="16200000">
              <a:off x="5035031"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下箭头 147"/>
            <p:cNvSpPr>
              <a:spLocks noChangeArrowheads="1"/>
            </p:cNvSpPr>
            <p:nvPr/>
          </p:nvSpPr>
          <p:spPr bwMode="auto">
            <a:xfrm rot="13445197">
              <a:off x="6920959" y="2592393"/>
              <a:ext cx="70957" cy="128776"/>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7" name="内容占位符 6">
            <a:extLst>
              <a:ext uri="{FF2B5EF4-FFF2-40B4-BE49-F238E27FC236}">
                <a16:creationId xmlns:a16="http://schemas.microsoft.com/office/drawing/2014/main" id="{043E1115-FDE6-8B9F-3E23-31EE057C306C}"/>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BFD19254-4336-2AD7-80F8-24C5926933A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23326386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DEB11DB-BE91-2005-EA1B-C194A14B695D}"/>
              </a:ext>
            </a:extLst>
          </p:cNvPr>
          <p:cNvSpPr>
            <a:spLocks noGrp="1"/>
          </p:cNvSpPr>
          <p:nvPr>
            <p:ph type="title"/>
          </p:nvPr>
        </p:nvSpPr>
        <p:spPr>
          <a:prstGeom prst="rect">
            <a:avLst/>
          </a:prstGeom>
        </p:spPr>
        <p:txBody>
          <a:bodyPr/>
          <a:lstStyle/>
          <a:p>
            <a:r>
              <a:rPr lang="zh-CN" altLang="en-US" dirty="0"/>
              <a:t>一对多</a:t>
            </a:r>
          </a:p>
        </p:txBody>
      </p:sp>
      <p:grpSp>
        <p:nvGrpSpPr>
          <p:cNvPr id="11" name="组合 10">
            <a:extLst>
              <a:ext uri="{FF2B5EF4-FFF2-40B4-BE49-F238E27FC236}">
                <a16:creationId xmlns:a16="http://schemas.microsoft.com/office/drawing/2014/main" id="{B35F5542-7CAF-A8FB-00BA-ED441C7CD1B1}"/>
              </a:ext>
            </a:extLst>
          </p:cNvPr>
          <p:cNvGrpSpPr/>
          <p:nvPr/>
        </p:nvGrpSpPr>
        <p:grpSpPr>
          <a:xfrm>
            <a:off x="5854406" y="2426213"/>
            <a:ext cx="288000" cy="360000"/>
            <a:chOff x="6541210" y="2426213"/>
            <a:chExt cx="288000" cy="360000"/>
          </a:xfrm>
        </p:grpSpPr>
        <p:sp>
          <p:nvSpPr>
            <p:cNvPr id="12" name="矩形 11">
              <a:extLst>
                <a:ext uri="{FF2B5EF4-FFF2-40B4-BE49-F238E27FC236}">
                  <a16:creationId xmlns:a16="http://schemas.microsoft.com/office/drawing/2014/main" id="{D186CCFA-DE92-FA5B-F0B1-1D0D9C329FDE}"/>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4" name="矩形 13">
              <a:extLst>
                <a:ext uri="{FF2B5EF4-FFF2-40B4-BE49-F238E27FC236}">
                  <a16:creationId xmlns:a16="http://schemas.microsoft.com/office/drawing/2014/main" id="{B6C6AF97-9711-E6D8-8E76-CFADB1F9689C}"/>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3" name="矩形 22">
              <a:extLst>
                <a:ext uri="{FF2B5EF4-FFF2-40B4-BE49-F238E27FC236}">
                  <a16:creationId xmlns:a16="http://schemas.microsoft.com/office/drawing/2014/main" id="{C8724B2E-7C8A-5C65-40D1-996F6A8A80E7}"/>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4" name="矩形 23">
              <a:extLst>
                <a:ext uri="{FF2B5EF4-FFF2-40B4-BE49-F238E27FC236}">
                  <a16:creationId xmlns:a16="http://schemas.microsoft.com/office/drawing/2014/main" id="{3617703E-F424-5924-824E-64C20F971CC2}"/>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5" name="矩形 24">
              <a:extLst>
                <a:ext uri="{FF2B5EF4-FFF2-40B4-BE49-F238E27FC236}">
                  <a16:creationId xmlns:a16="http://schemas.microsoft.com/office/drawing/2014/main" id="{B31DE7D5-F64A-D67D-AC4F-2A009D3BC3E2}"/>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9" name="矩形 28">
              <a:extLst>
                <a:ext uri="{FF2B5EF4-FFF2-40B4-BE49-F238E27FC236}">
                  <a16:creationId xmlns:a16="http://schemas.microsoft.com/office/drawing/2014/main" id="{8D5CB780-4727-608A-71CD-C1D4383CEE79}"/>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30" name="文本框 29">
            <a:extLst>
              <a:ext uri="{FF2B5EF4-FFF2-40B4-BE49-F238E27FC236}">
                <a16:creationId xmlns:a16="http://schemas.microsoft.com/office/drawing/2014/main" id="{AA9DB545-6EC4-3955-F09A-5D013D5A666C}"/>
              </a:ext>
            </a:extLst>
          </p:cNvPr>
          <p:cNvSpPr txBox="1"/>
          <p:nvPr/>
        </p:nvSpPr>
        <p:spPr>
          <a:xfrm>
            <a:off x="5864636" y="2792707"/>
            <a:ext cx="26802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33" name="组合 32">
            <a:extLst>
              <a:ext uri="{FF2B5EF4-FFF2-40B4-BE49-F238E27FC236}">
                <a16:creationId xmlns:a16="http://schemas.microsoft.com/office/drawing/2014/main" id="{60000E0E-81F3-8328-9370-5BF9B0A1F837}"/>
              </a:ext>
            </a:extLst>
          </p:cNvPr>
          <p:cNvGrpSpPr/>
          <p:nvPr/>
        </p:nvGrpSpPr>
        <p:grpSpPr>
          <a:xfrm>
            <a:off x="2944256" y="2426213"/>
            <a:ext cx="288000" cy="360000"/>
            <a:chOff x="3158808" y="2426213"/>
            <a:chExt cx="288000" cy="360000"/>
          </a:xfrm>
        </p:grpSpPr>
        <p:sp>
          <p:nvSpPr>
            <p:cNvPr id="34" name="矩形 33">
              <a:extLst>
                <a:ext uri="{FF2B5EF4-FFF2-40B4-BE49-F238E27FC236}">
                  <a16:creationId xmlns:a16="http://schemas.microsoft.com/office/drawing/2014/main" id="{AC6488E1-5F2E-BDAE-6267-FE5DFB4FF5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2BFCCCDC-07FB-BE1D-11E6-2114BC4525DC}"/>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B9240387-CF10-22BD-0C62-7A21FEB1FC0D}"/>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4C405444-2334-BCCE-7624-F036BE2584A1}"/>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9" name="矩形 48">
              <a:extLst>
                <a:ext uri="{FF2B5EF4-FFF2-40B4-BE49-F238E27FC236}">
                  <a16:creationId xmlns:a16="http://schemas.microsoft.com/office/drawing/2014/main" id="{F0DD9783-436E-3362-8B46-29275718F5BF}"/>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0" name="矩形 49">
              <a:extLst>
                <a:ext uri="{FF2B5EF4-FFF2-40B4-BE49-F238E27FC236}">
                  <a16:creationId xmlns:a16="http://schemas.microsoft.com/office/drawing/2014/main" id="{EB04B9C8-273E-5274-889A-B9FC3D698743}"/>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58" name="文本框 57">
            <a:extLst>
              <a:ext uri="{FF2B5EF4-FFF2-40B4-BE49-F238E27FC236}">
                <a16:creationId xmlns:a16="http://schemas.microsoft.com/office/drawing/2014/main" id="{A1A2F068-647F-F7F5-4115-A0A50928DB2C}"/>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6" name="组合 65">
            <a:extLst>
              <a:ext uri="{FF2B5EF4-FFF2-40B4-BE49-F238E27FC236}">
                <a16:creationId xmlns:a16="http://schemas.microsoft.com/office/drawing/2014/main" id="{840CE5D3-C28F-1924-5E46-D1A72941FF06}"/>
              </a:ext>
            </a:extLst>
          </p:cNvPr>
          <p:cNvGrpSpPr/>
          <p:nvPr/>
        </p:nvGrpSpPr>
        <p:grpSpPr>
          <a:xfrm>
            <a:off x="1792256" y="2426213"/>
            <a:ext cx="288000" cy="360000"/>
            <a:chOff x="1907273" y="2426213"/>
            <a:chExt cx="288000" cy="360000"/>
          </a:xfrm>
        </p:grpSpPr>
        <p:sp>
          <p:nvSpPr>
            <p:cNvPr id="67" name="矩形 66">
              <a:extLst>
                <a:ext uri="{FF2B5EF4-FFF2-40B4-BE49-F238E27FC236}">
                  <a16:creationId xmlns:a16="http://schemas.microsoft.com/office/drawing/2014/main" id="{CCD4E9BE-DFF9-D36A-71C2-B3D80571F56E}"/>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8" name="矩形 67">
              <a:extLst>
                <a:ext uri="{FF2B5EF4-FFF2-40B4-BE49-F238E27FC236}">
                  <a16:creationId xmlns:a16="http://schemas.microsoft.com/office/drawing/2014/main" id="{CB314D64-A335-1C9B-DEF5-5C424B3FC51B}"/>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9" name="矩形 68">
              <a:extLst>
                <a:ext uri="{FF2B5EF4-FFF2-40B4-BE49-F238E27FC236}">
                  <a16:creationId xmlns:a16="http://schemas.microsoft.com/office/drawing/2014/main" id="{64228073-F14A-5CA2-1FBF-51A67A2B2658}"/>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0" name="矩形 69">
              <a:extLst>
                <a:ext uri="{FF2B5EF4-FFF2-40B4-BE49-F238E27FC236}">
                  <a16:creationId xmlns:a16="http://schemas.microsoft.com/office/drawing/2014/main" id="{EB39AF97-5F41-6513-2828-1821248E9EAC}"/>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047DE1E2-BE8A-7F8A-2CA3-FD4139414608}"/>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0B972B15-298F-6738-3F41-C417EC64A348}"/>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0" name="文本框 79">
            <a:extLst>
              <a:ext uri="{FF2B5EF4-FFF2-40B4-BE49-F238E27FC236}">
                <a16:creationId xmlns:a16="http://schemas.microsoft.com/office/drawing/2014/main" id="{C3FA45CA-C67F-2F30-8B37-633A5957212E}"/>
              </a:ext>
            </a:extLst>
          </p:cNvPr>
          <p:cNvSpPr txBox="1"/>
          <p:nvPr/>
        </p:nvSpPr>
        <p:spPr>
          <a:xfrm>
            <a:off x="1797436"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1" name="组合 80">
            <a:extLst>
              <a:ext uri="{FF2B5EF4-FFF2-40B4-BE49-F238E27FC236}">
                <a16:creationId xmlns:a16="http://schemas.microsoft.com/office/drawing/2014/main" id="{6849257E-DD2F-CA34-34BE-76B45215C1C6}"/>
              </a:ext>
            </a:extLst>
          </p:cNvPr>
          <p:cNvGrpSpPr/>
          <p:nvPr/>
        </p:nvGrpSpPr>
        <p:grpSpPr>
          <a:xfrm>
            <a:off x="5277845" y="2426213"/>
            <a:ext cx="288000" cy="360000"/>
            <a:chOff x="7097072" y="2452049"/>
            <a:chExt cx="288000" cy="360000"/>
          </a:xfrm>
        </p:grpSpPr>
        <p:sp>
          <p:nvSpPr>
            <p:cNvPr id="82" name="矩形 81">
              <a:extLst>
                <a:ext uri="{FF2B5EF4-FFF2-40B4-BE49-F238E27FC236}">
                  <a16:creationId xmlns:a16="http://schemas.microsoft.com/office/drawing/2014/main" id="{AA1F75F2-09B0-1BFD-A023-73D631758690}"/>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3" name="矩形 82">
              <a:extLst>
                <a:ext uri="{FF2B5EF4-FFF2-40B4-BE49-F238E27FC236}">
                  <a16:creationId xmlns:a16="http://schemas.microsoft.com/office/drawing/2014/main" id="{3EF3C7A3-931D-F732-128A-E003ACDFF8B4}"/>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4" name="矩形 83">
              <a:extLst>
                <a:ext uri="{FF2B5EF4-FFF2-40B4-BE49-F238E27FC236}">
                  <a16:creationId xmlns:a16="http://schemas.microsoft.com/office/drawing/2014/main" id="{FDAD5BB5-481C-B2B0-DE06-3100BCFD8E44}"/>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8" name="矩形 97">
              <a:extLst>
                <a:ext uri="{FF2B5EF4-FFF2-40B4-BE49-F238E27FC236}">
                  <a16:creationId xmlns:a16="http://schemas.microsoft.com/office/drawing/2014/main" id="{1AAD010A-0A73-89D3-C983-5022940CCF86}"/>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677C3F7B-D35C-A306-23F5-9576B06D782A}"/>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65B3A2DD-B092-C441-090D-D4A0B2C72C3B}"/>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03" name="文本框 102">
            <a:extLst>
              <a:ext uri="{FF2B5EF4-FFF2-40B4-BE49-F238E27FC236}">
                <a16:creationId xmlns:a16="http://schemas.microsoft.com/office/drawing/2014/main" id="{14847BDE-22F8-508B-FFC6-2588671359F0}"/>
              </a:ext>
            </a:extLst>
          </p:cNvPr>
          <p:cNvSpPr txBox="1"/>
          <p:nvPr/>
        </p:nvSpPr>
        <p:spPr>
          <a:xfrm>
            <a:off x="6442238" y="2792707"/>
            <a:ext cx="26321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04" name="组合 103">
            <a:extLst>
              <a:ext uri="{FF2B5EF4-FFF2-40B4-BE49-F238E27FC236}">
                <a16:creationId xmlns:a16="http://schemas.microsoft.com/office/drawing/2014/main" id="{783364B6-6CA1-0185-4524-796808F75C5E}"/>
              </a:ext>
            </a:extLst>
          </p:cNvPr>
          <p:cNvGrpSpPr/>
          <p:nvPr/>
        </p:nvGrpSpPr>
        <p:grpSpPr>
          <a:xfrm>
            <a:off x="6429845" y="2426213"/>
            <a:ext cx="288000" cy="360000"/>
            <a:chOff x="6014097" y="2452049"/>
            <a:chExt cx="288000" cy="360000"/>
          </a:xfrm>
        </p:grpSpPr>
        <p:sp>
          <p:nvSpPr>
            <p:cNvPr id="105" name="矩形 104">
              <a:extLst>
                <a:ext uri="{FF2B5EF4-FFF2-40B4-BE49-F238E27FC236}">
                  <a16:creationId xmlns:a16="http://schemas.microsoft.com/office/drawing/2014/main" id="{8213CFE1-33C0-8BBA-7C94-CED85A05A43C}"/>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1" name="矩形 110">
              <a:extLst>
                <a:ext uri="{FF2B5EF4-FFF2-40B4-BE49-F238E27FC236}">
                  <a16:creationId xmlns:a16="http://schemas.microsoft.com/office/drawing/2014/main" id="{E0D24AA1-DAEA-2AD8-BE8D-D720C8E85EEC}"/>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2" name="矩形 111">
              <a:extLst>
                <a:ext uri="{FF2B5EF4-FFF2-40B4-BE49-F238E27FC236}">
                  <a16:creationId xmlns:a16="http://schemas.microsoft.com/office/drawing/2014/main" id="{DA6B4E51-8297-3ED7-1C6A-E3830945E98B}"/>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6" name="矩形 115">
              <a:extLst>
                <a:ext uri="{FF2B5EF4-FFF2-40B4-BE49-F238E27FC236}">
                  <a16:creationId xmlns:a16="http://schemas.microsoft.com/office/drawing/2014/main" id="{A56CF638-37E6-5EBC-93F2-C0AA424B0A12}"/>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ED8BF45B-5F31-2EF8-54A2-F3AABE0EAFF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AAA2EE00-6F28-2A2D-4E0A-B937BE450629}"/>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0" name="文本框 119">
            <a:extLst>
              <a:ext uri="{FF2B5EF4-FFF2-40B4-BE49-F238E27FC236}">
                <a16:creationId xmlns:a16="http://schemas.microsoft.com/office/drawing/2014/main" id="{9D0C730E-4C2C-CFAE-0573-99AD6C3C6B1D}"/>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21" name="矩形 120">
            <a:extLst>
              <a:ext uri="{FF2B5EF4-FFF2-40B4-BE49-F238E27FC236}">
                <a16:creationId xmlns:a16="http://schemas.microsoft.com/office/drawing/2014/main" id="{7FC7D3CE-DEED-4F7A-7873-C992226AB5B4}"/>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文本框 121">
            <a:extLst>
              <a:ext uri="{FF2B5EF4-FFF2-40B4-BE49-F238E27FC236}">
                <a16:creationId xmlns:a16="http://schemas.microsoft.com/office/drawing/2014/main" id="{3D8ECAB6-DCEC-BAE5-7025-435C6F847539}"/>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3" name="文本框 122">
            <a:extLst>
              <a:ext uri="{FF2B5EF4-FFF2-40B4-BE49-F238E27FC236}">
                <a16:creationId xmlns:a16="http://schemas.microsoft.com/office/drawing/2014/main" id="{8109B174-8168-7E78-E91B-705A04FDE570}"/>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4" name="文本框 123">
            <a:extLst>
              <a:ext uri="{FF2B5EF4-FFF2-40B4-BE49-F238E27FC236}">
                <a16:creationId xmlns:a16="http://schemas.microsoft.com/office/drawing/2014/main" id="{7CE115D3-138F-067D-4725-47B352BCDCD0}"/>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6" name="矩形 125">
            <a:extLst>
              <a:ext uri="{FF2B5EF4-FFF2-40B4-BE49-F238E27FC236}">
                <a16:creationId xmlns:a16="http://schemas.microsoft.com/office/drawing/2014/main" id="{240211E1-738A-32AF-BDCF-67F228CED559}"/>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27" name="连接符: 肘形 126">
            <a:extLst>
              <a:ext uri="{FF2B5EF4-FFF2-40B4-BE49-F238E27FC236}">
                <a16:creationId xmlns:a16="http://schemas.microsoft.com/office/drawing/2014/main" id="{C5B25C89-41F9-F523-391A-A49D06732233}"/>
              </a:ext>
            </a:extLst>
          </p:cNvPr>
          <p:cNvCxnSpPr>
            <a:cxnSpLocks/>
            <a:stCxn id="121" idx="2"/>
            <a:endCxn id="126" idx="2"/>
          </p:cNvCxnSpPr>
          <p:nvPr/>
        </p:nvCxnSpPr>
        <p:spPr>
          <a:xfrm rot="16200000" flipH="1">
            <a:off x="4255050" y="1769912"/>
            <a:ext cx="12700" cy="3485589"/>
          </a:xfrm>
          <a:prstGeom prst="bentConnector3">
            <a:avLst>
              <a:gd name="adj1" fmla="val 502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29" name="文本框 128">
            <a:extLst>
              <a:ext uri="{FF2B5EF4-FFF2-40B4-BE49-F238E27FC236}">
                <a16:creationId xmlns:a16="http://schemas.microsoft.com/office/drawing/2014/main" id="{D8F904EF-DF49-7E3E-3F9E-BAEDF0844712}"/>
              </a:ext>
            </a:extLst>
          </p:cNvPr>
          <p:cNvSpPr txBox="1"/>
          <p:nvPr/>
        </p:nvSpPr>
        <p:spPr>
          <a:xfrm>
            <a:off x="35451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31" name="直接箭头连接符 130">
            <a:extLst>
              <a:ext uri="{FF2B5EF4-FFF2-40B4-BE49-F238E27FC236}">
                <a16:creationId xmlns:a16="http://schemas.microsoft.com/office/drawing/2014/main" id="{30F14E70-0E38-0702-C732-FAA388AB9BBE}"/>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直接箭头连接符 131">
            <a:extLst>
              <a:ext uri="{FF2B5EF4-FFF2-40B4-BE49-F238E27FC236}">
                <a16:creationId xmlns:a16="http://schemas.microsoft.com/office/drawing/2014/main" id="{3E5AFDF5-E0FA-C5BD-37DD-FA10624C6A3A}"/>
              </a:ext>
            </a:extLst>
          </p:cNvPr>
          <p:cNvCxnSpPr>
            <a:cxnSpLocks/>
          </p:cNvCxnSpPr>
          <p:nvPr/>
        </p:nvCxnSpPr>
        <p:spPr>
          <a:xfrm>
            <a:off x="599840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直接箭头连接符 134">
            <a:extLst>
              <a:ext uri="{FF2B5EF4-FFF2-40B4-BE49-F238E27FC236}">
                <a16:creationId xmlns:a16="http://schemas.microsoft.com/office/drawing/2014/main" id="{1BCDF8DE-C697-C760-2C02-551A9D49B19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直接箭头连接符 135">
            <a:extLst>
              <a:ext uri="{FF2B5EF4-FFF2-40B4-BE49-F238E27FC236}">
                <a16:creationId xmlns:a16="http://schemas.microsoft.com/office/drawing/2014/main" id="{03A92B04-1EEF-6394-31E2-E48A7B051E07}"/>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直接箭头连接符 136">
            <a:extLst>
              <a:ext uri="{FF2B5EF4-FFF2-40B4-BE49-F238E27FC236}">
                <a16:creationId xmlns:a16="http://schemas.microsoft.com/office/drawing/2014/main" id="{D929EAD9-F491-5EA6-6E99-64B76B1DF5E0}"/>
              </a:ext>
            </a:extLst>
          </p:cNvPr>
          <p:cNvCxnSpPr>
            <a:cxnSpLocks/>
          </p:cNvCxnSpPr>
          <p:nvPr/>
        </p:nvCxnSpPr>
        <p:spPr>
          <a:xfrm>
            <a:off x="5421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8" name="文本框 137">
            <a:extLst>
              <a:ext uri="{FF2B5EF4-FFF2-40B4-BE49-F238E27FC236}">
                <a16:creationId xmlns:a16="http://schemas.microsoft.com/office/drawing/2014/main" id="{9C30A58B-77A3-6FB2-AB48-C2E75539D156}"/>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D6C8193A-4A77-2952-BFD8-3D5F68F04E81}"/>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0" name="直接箭头连接符 139">
            <a:extLst>
              <a:ext uri="{FF2B5EF4-FFF2-40B4-BE49-F238E27FC236}">
                <a16:creationId xmlns:a16="http://schemas.microsoft.com/office/drawing/2014/main" id="{81FB46A3-0BC0-AE78-2134-A38716AA8528}"/>
              </a:ext>
            </a:extLst>
          </p:cNvPr>
          <p:cNvCxnSpPr>
            <a:cxnSpLocks/>
            <a:stCxn id="69" idx="2"/>
            <a:endCxn id="121" idx="2"/>
          </p:cNvCxnSpPr>
          <p:nvPr/>
        </p:nvCxnSpPr>
        <p:spPr>
          <a:xfrm>
            <a:off x="1936256" y="2786213"/>
            <a:ext cx="576000"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接箭头连接符 140">
            <a:extLst>
              <a:ext uri="{FF2B5EF4-FFF2-40B4-BE49-F238E27FC236}">
                <a16:creationId xmlns:a16="http://schemas.microsoft.com/office/drawing/2014/main" id="{CD98C054-EFBD-D394-3D34-76E0A90B2B08}"/>
              </a:ext>
            </a:extLst>
          </p:cNvPr>
          <p:cNvCxnSpPr>
            <a:cxnSpLocks/>
            <a:stCxn id="46" idx="2"/>
            <a:endCxn id="121"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直接箭头连接符 141">
            <a:extLst>
              <a:ext uri="{FF2B5EF4-FFF2-40B4-BE49-F238E27FC236}">
                <a16:creationId xmlns:a16="http://schemas.microsoft.com/office/drawing/2014/main" id="{9B4F6203-E6B2-37D7-21ED-5A0BC2D21EC5}"/>
              </a:ext>
            </a:extLst>
          </p:cNvPr>
          <p:cNvCxnSpPr>
            <a:cxnSpLocks/>
            <a:stCxn id="23" idx="2"/>
            <a:endCxn id="126" idx="2"/>
          </p:cNvCxnSpPr>
          <p:nvPr/>
        </p:nvCxnSpPr>
        <p:spPr>
          <a:xfrm flipH="1">
            <a:off x="5997845" y="2786213"/>
            <a:ext cx="561" cy="726494"/>
          </a:xfrm>
          <a:prstGeom prst="straightConnector1">
            <a:avLst/>
          </a:prstGeom>
          <a:ln w="12700">
            <a:solidFill>
              <a:srgbClr val="EB3B5A"/>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43" name="直接箭头连接符 142">
            <a:extLst>
              <a:ext uri="{FF2B5EF4-FFF2-40B4-BE49-F238E27FC236}">
                <a16:creationId xmlns:a16="http://schemas.microsoft.com/office/drawing/2014/main" id="{7E6D2004-A337-1D90-3939-5BE6977ECAE9}"/>
              </a:ext>
            </a:extLst>
          </p:cNvPr>
          <p:cNvCxnSpPr>
            <a:cxnSpLocks/>
            <a:stCxn id="126"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D867F08A-4984-0C24-67D5-E63C0AF00467}"/>
              </a:ext>
            </a:extLst>
          </p:cNvPr>
          <p:cNvCxnSpPr>
            <a:cxnSpLocks/>
            <a:stCxn id="126"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5" name="文本框 144">
            <a:extLst>
              <a:ext uri="{FF2B5EF4-FFF2-40B4-BE49-F238E27FC236}">
                <a16:creationId xmlns:a16="http://schemas.microsoft.com/office/drawing/2014/main" id="{B4749F90-5964-8103-3F66-8B12D8BBF7A4}"/>
              </a:ext>
            </a:extLst>
          </p:cNvPr>
          <p:cNvSpPr txBox="1"/>
          <p:nvPr/>
        </p:nvSpPr>
        <p:spPr>
          <a:xfrm>
            <a:off x="2330155"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6" name="文本框 145">
            <a:extLst>
              <a:ext uri="{FF2B5EF4-FFF2-40B4-BE49-F238E27FC236}">
                <a16:creationId xmlns:a16="http://schemas.microsoft.com/office/drawing/2014/main" id="{0EC9A186-3D74-E902-A993-656C40B456AC}"/>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7" name="文本框 146">
            <a:extLst>
              <a:ext uri="{FF2B5EF4-FFF2-40B4-BE49-F238E27FC236}">
                <a16:creationId xmlns:a16="http://schemas.microsoft.com/office/drawing/2014/main" id="{CEF87110-753B-CF88-1E0B-689332E88726}"/>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8" name="文本框 147">
            <a:extLst>
              <a:ext uri="{FF2B5EF4-FFF2-40B4-BE49-F238E27FC236}">
                <a16:creationId xmlns:a16="http://schemas.microsoft.com/office/drawing/2014/main" id="{5036F3D0-0B97-2583-F76D-9BD18B279EC9}"/>
              </a:ext>
            </a:extLst>
          </p:cNvPr>
          <p:cNvSpPr txBox="1"/>
          <p:nvPr/>
        </p:nvSpPr>
        <p:spPr>
          <a:xfrm>
            <a:off x="4132413" y="3881375"/>
            <a:ext cx="492443"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9" name="文本框 148">
            <a:extLst>
              <a:ext uri="{FF2B5EF4-FFF2-40B4-BE49-F238E27FC236}">
                <a16:creationId xmlns:a16="http://schemas.microsoft.com/office/drawing/2014/main" id="{EA32EB4B-9EBF-941E-FA18-3ACF560AA058}"/>
              </a:ext>
            </a:extLst>
          </p:cNvPr>
          <p:cNvSpPr txBox="1"/>
          <p:nvPr/>
        </p:nvSpPr>
        <p:spPr>
          <a:xfrm>
            <a:off x="4689593" y="3881375"/>
            <a:ext cx="4828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50" name="组合 149">
            <a:extLst>
              <a:ext uri="{FF2B5EF4-FFF2-40B4-BE49-F238E27FC236}">
                <a16:creationId xmlns:a16="http://schemas.microsoft.com/office/drawing/2014/main" id="{AE318408-159B-A0B0-27A6-0824B024BBC0}"/>
              </a:ext>
            </a:extLst>
          </p:cNvPr>
          <p:cNvGrpSpPr/>
          <p:nvPr/>
        </p:nvGrpSpPr>
        <p:grpSpPr>
          <a:xfrm>
            <a:off x="5277845" y="1474901"/>
            <a:ext cx="1440000" cy="720000"/>
            <a:chOff x="5277845" y="1779701"/>
            <a:chExt cx="1440000" cy="720000"/>
          </a:xfrm>
        </p:grpSpPr>
        <p:grpSp>
          <p:nvGrpSpPr>
            <p:cNvPr id="151" name="组合 150">
              <a:extLst>
                <a:ext uri="{FF2B5EF4-FFF2-40B4-BE49-F238E27FC236}">
                  <a16:creationId xmlns:a16="http://schemas.microsoft.com/office/drawing/2014/main" id="{5537CBDE-74F3-B96E-DBA7-AD28155F27DB}"/>
                </a:ext>
              </a:extLst>
            </p:cNvPr>
            <p:cNvGrpSpPr/>
            <p:nvPr/>
          </p:nvGrpSpPr>
          <p:grpSpPr>
            <a:xfrm>
              <a:off x="6336009" y="1789913"/>
              <a:ext cx="381836" cy="619527"/>
              <a:chOff x="7787527" y="1370364"/>
              <a:chExt cx="381836" cy="619527"/>
            </a:xfrm>
          </p:grpSpPr>
          <p:pic>
            <p:nvPicPr>
              <p:cNvPr id="159" name="图形 158" descr="文档">
                <a:extLst>
                  <a:ext uri="{FF2B5EF4-FFF2-40B4-BE49-F238E27FC236}">
                    <a16:creationId xmlns:a16="http://schemas.microsoft.com/office/drawing/2014/main" id="{1D41E14A-4765-E702-800B-FF1176D2E11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0" name="文本框 159">
                <a:extLst>
                  <a:ext uri="{FF2B5EF4-FFF2-40B4-BE49-F238E27FC236}">
                    <a16:creationId xmlns:a16="http://schemas.microsoft.com/office/drawing/2014/main" id="{74C336F9-0FB1-CF75-4634-CCD0B998E0FE}"/>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52" name="矩形 151">
              <a:extLst>
                <a:ext uri="{FF2B5EF4-FFF2-40B4-BE49-F238E27FC236}">
                  <a16:creationId xmlns:a16="http://schemas.microsoft.com/office/drawing/2014/main" id="{C4E09F4D-DDDC-63C7-D348-E65A53427849}"/>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53" name="组合 152">
              <a:extLst>
                <a:ext uri="{FF2B5EF4-FFF2-40B4-BE49-F238E27FC236}">
                  <a16:creationId xmlns:a16="http://schemas.microsoft.com/office/drawing/2014/main" id="{4C02CEDE-D582-AC6F-ABA4-D49D57E235BA}"/>
                </a:ext>
              </a:extLst>
            </p:cNvPr>
            <p:cNvGrpSpPr/>
            <p:nvPr/>
          </p:nvGrpSpPr>
          <p:grpSpPr>
            <a:xfrm>
              <a:off x="5806927" y="1789913"/>
              <a:ext cx="396262" cy="619527"/>
              <a:chOff x="7787527" y="1370364"/>
              <a:chExt cx="396262" cy="619527"/>
            </a:xfrm>
          </p:grpSpPr>
          <p:pic>
            <p:nvPicPr>
              <p:cNvPr id="157" name="图形 156" descr="文档">
                <a:extLst>
                  <a:ext uri="{FF2B5EF4-FFF2-40B4-BE49-F238E27FC236}">
                    <a16:creationId xmlns:a16="http://schemas.microsoft.com/office/drawing/2014/main" id="{D167D7AE-363B-638B-602A-A8D3D34B6F2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8" name="文本框 157">
                <a:extLst>
                  <a:ext uri="{FF2B5EF4-FFF2-40B4-BE49-F238E27FC236}">
                    <a16:creationId xmlns:a16="http://schemas.microsoft.com/office/drawing/2014/main" id="{7A7DD118-7499-0B20-46D3-F64CA162D606}"/>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54" name="组合 153">
              <a:extLst>
                <a:ext uri="{FF2B5EF4-FFF2-40B4-BE49-F238E27FC236}">
                  <a16:creationId xmlns:a16="http://schemas.microsoft.com/office/drawing/2014/main" id="{4D23F33F-DB6C-7E15-4D74-92612CDF31E9}"/>
                </a:ext>
              </a:extLst>
            </p:cNvPr>
            <p:cNvGrpSpPr/>
            <p:nvPr/>
          </p:nvGrpSpPr>
          <p:grpSpPr>
            <a:xfrm>
              <a:off x="5277845" y="1789913"/>
              <a:ext cx="381836" cy="619527"/>
              <a:chOff x="7787527" y="1370364"/>
              <a:chExt cx="381836" cy="619527"/>
            </a:xfrm>
          </p:grpSpPr>
          <p:pic>
            <p:nvPicPr>
              <p:cNvPr id="155" name="图形 154" descr="文档">
                <a:extLst>
                  <a:ext uri="{FF2B5EF4-FFF2-40B4-BE49-F238E27FC236}">
                    <a16:creationId xmlns:a16="http://schemas.microsoft.com/office/drawing/2014/main" id="{4FF86915-A78A-E36C-A207-8339A5E6394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6" name="文本框 155">
                <a:extLst>
                  <a:ext uri="{FF2B5EF4-FFF2-40B4-BE49-F238E27FC236}">
                    <a16:creationId xmlns:a16="http://schemas.microsoft.com/office/drawing/2014/main" id="{557AF157-AA9C-4D34-09A3-C2EF3A3958D9}"/>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161" name="组合 160">
            <a:extLst>
              <a:ext uri="{FF2B5EF4-FFF2-40B4-BE49-F238E27FC236}">
                <a16:creationId xmlns:a16="http://schemas.microsoft.com/office/drawing/2014/main" id="{107B02F9-32BE-C93A-D001-E17C3E11CB50}"/>
              </a:ext>
            </a:extLst>
          </p:cNvPr>
          <p:cNvGrpSpPr/>
          <p:nvPr/>
        </p:nvGrpSpPr>
        <p:grpSpPr>
          <a:xfrm>
            <a:off x="1792256" y="1474901"/>
            <a:ext cx="1441602" cy="720000"/>
            <a:chOff x="5430245" y="1932101"/>
            <a:chExt cx="1441602" cy="720000"/>
          </a:xfrm>
        </p:grpSpPr>
        <p:grpSp>
          <p:nvGrpSpPr>
            <p:cNvPr id="162" name="组合 161">
              <a:extLst>
                <a:ext uri="{FF2B5EF4-FFF2-40B4-BE49-F238E27FC236}">
                  <a16:creationId xmlns:a16="http://schemas.microsoft.com/office/drawing/2014/main" id="{3732A27B-FFEB-9524-5993-8650A56AFF1F}"/>
                </a:ext>
              </a:extLst>
            </p:cNvPr>
            <p:cNvGrpSpPr/>
            <p:nvPr/>
          </p:nvGrpSpPr>
          <p:grpSpPr>
            <a:xfrm>
              <a:off x="6488409" y="1942313"/>
              <a:ext cx="383438" cy="619527"/>
              <a:chOff x="7787527" y="1370364"/>
              <a:chExt cx="383438" cy="619527"/>
            </a:xfrm>
          </p:grpSpPr>
          <p:pic>
            <p:nvPicPr>
              <p:cNvPr id="170" name="图形 169" descr="文档">
                <a:extLst>
                  <a:ext uri="{FF2B5EF4-FFF2-40B4-BE49-F238E27FC236}">
                    <a16:creationId xmlns:a16="http://schemas.microsoft.com/office/drawing/2014/main" id="{D145E361-93A8-89D0-7DBB-35284AB6701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71" name="文本框 170">
                <a:extLst>
                  <a:ext uri="{FF2B5EF4-FFF2-40B4-BE49-F238E27FC236}">
                    <a16:creationId xmlns:a16="http://schemas.microsoft.com/office/drawing/2014/main" id="{5DA5FF2E-ABFA-1D47-9496-0D0D0BE432D4}"/>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63" name="矩形 162">
              <a:extLst>
                <a:ext uri="{FF2B5EF4-FFF2-40B4-BE49-F238E27FC236}">
                  <a16:creationId xmlns:a16="http://schemas.microsoft.com/office/drawing/2014/main" id="{6FC8AA3B-00CE-D18B-B994-8E48797C1F34}"/>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65" name="组合 164">
              <a:extLst>
                <a:ext uri="{FF2B5EF4-FFF2-40B4-BE49-F238E27FC236}">
                  <a16:creationId xmlns:a16="http://schemas.microsoft.com/office/drawing/2014/main" id="{55EE3067-1C65-3FEC-E4D3-7ED494E004D9}"/>
                </a:ext>
              </a:extLst>
            </p:cNvPr>
            <p:cNvGrpSpPr/>
            <p:nvPr/>
          </p:nvGrpSpPr>
          <p:grpSpPr>
            <a:xfrm>
              <a:off x="5430245" y="1942313"/>
              <a:ext cx="370918" cy="619527"/>
              <a:chOff x="7787527" y="1370364"/>
              <a:chExt cx="370918" cy="619527"/>
            </a:xfrm>
          </p:grpSpPr>
          <p:pic>
            <p:nvPicPr>
              <p:cNvPr id="166" name="图形 165" descr="文档">
                <a:extLst>
                  <a:ext uri="{FF2B5EF4-FFF2-40B4-BE49-F238E27FC236}">
                    <a16:creationId xmlns:a16="http://schemas.microsoft.com/office/drawing/2014/main" id="{489F7B9A-E2DF-DDAF-FBA5-F049333223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7" name="文本框 166">
                <a:extLst>
                  <a:ext uri="{FF2B5EF4-FFF2-40B4-BE49-F238E27FC236}">
                    <a16:creationId xmlns:a16="http://schemas.microsoft.com/office/drawing/2014/main" id="{4EAE7A9A-63D6-FDFE-1853-1138B677FB3A}"/>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31507630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176546" y="3383327"/>
            <a:ext cx="7174141" cy="1323439"/>
          </a:xfrm>
          <a:prstGeom prst="rect">
            <a:avLst/>
          </a:prstGeom>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(1) </a:t>
            </a:r>
            <a:r>
              <a:rPr lang="zh-CN" altLang="en-US" sz="1600" b="1" dirty="0">
                <a:solidFill>
                  <a:srgbClr val="0000FF"/>
                </a:solidFill>
                <a:latin typeface="微软雅黑" panose="020B0503020204020204" pitchFamily="34" charset="-122"/>
                <a:ea typeface="微软雅黑" panose="020B0503020204020204" pitchFamily="34" charset="-122"/>
              </a:rPr>
              <a:t>源端口：</a:t>
            </a:r>
            <a:r>
              <a:rPr lang="zh-CN" altLang="en-US" sz="1600" b="1" dirty="0">
                <a:latin typeface="微软雅黑" panose="020B0503020204020204" pitchFamily="34" charset="-122"/>
                <a:ea typeface="微软雅黑" panose="020B0503020204020204" pitchFamily="34" charset="-122"/>
              </a:rPr>
              <a:t>源端口号。在需要对方回信时选用。不需要时可用全 </a:t>
            </a:r>
            <a:r>
              <a:rPr lang="en-US" altLang="zh-CN" sz="1600" b="1" dirty="0">
                <a:latin typeface="微软雅黑" panose="020B0503020204020204" pitchFamily="34" charset="-122"/>
                <a:ea typeface="微软雅黑" panose="020B0503020204020204" pitchFamily="34" charset="-122"/>
              </a:rPr>
              <a:t>0</a:t>
            </a:r>
            <a:r>
              <a:rPr lang="zh-CN" altLang="en-US" sz="1600" b="1" dirty="0">
                <a:latin typeface="微软雅黑" panose="020B0503020204020204" pitchFamily="34" charset="-122"/>
                <a:ea typeface="微软雅黑" panose="020B0503020204020204" pitchFamily="34" charset="-122"/>
              </a:rPr>
              <a:t>。</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(2) </a:t>
            </a:r>
            <a:r>
              <a:rPr lang="zh-CN" altLang="en-US" sz="1600" b="1" dirty="0">
                <a:solidFill>
                  <a:srgbClr val="0000FF"/>
                </a:solidFill>
                <a:latin typeface="微软雅黑" panose="020B0503020204020204" pitchFamily="34" charset="-122"/>
                <a:ea typeface="微软雅黑" panose="020B0503020204020204" pitchFamily="34" charset="-122"/>
              </a:rPr>
              <a:t>目的端口：</a:t>
            </a:r>
            <a:r>
              <a:rPr lang="zh-CN" altLang="en-US" sz="1600" b="1" dirty="0">
                <a:latin typeface="微软雅黑" panose="020B0503020204020204" pitchFamily="34" charset="-122"/>
                <a:ea typeface="微软雅黑" panose="020B0503020204020204" pitchFamily="34" charset="-122"/>
              </a:rPr>
              <a:t>目的端口号。终点交付报文时必须使用。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(3) </a:t>
            </a:r>
            <a:r>
              <a:rPr lang="zh-CN" altLang="en-US" sz="1600" b="1" dirty="0">
                <a:solidFill>
                  <a:srgbClr val="0000FF"/>
                </a:solidFill>
                <a:latin typeface="微软雅黑" panose="020B0503020204020204" pitchFamily="34" charset="-122"/>
                <a:ea typeface="微软雅黑" panose="020B0503020204020204" pitchFamily="34" charset="-122"/>
              </a:rPr>
              <a:t>长度：</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用户数据报的长度，其最小值是 </a:t>
            </a:r>
            <a:r>
              <a:rPr lang="en-US" altLang="zh-CN" sz="1600" b="1" dirty="0">
                <a:latin typeface="微软雅黑" panose="020B0503020204020204" pitchFamily="34" charset="-122"/>
                <a:ea typeface="微软雅黑" panose="020B0503020204020204" pitchFamily="34" charset="-122"/>
              </a:rPr>
              <a:t>8</a:t>
            </a:r>
            <a:r>
              <a:rPr lang="zh-CN" altLang="en-US" sz="1600" b="1" dirty="0">
                <a:latin typeface="微软雅黑" panose="020B0503020204020204" pitchFamily="34" charset="-122"/>
                <a:ea typeface="微软雅黑" panose="020B0503020204020204" pitchFamily="34" charset="-122"/>
              </a:rPr>
              <a:t>（仅有首部）。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(4) </a:t>
            </a:r>
            <a:r>
              <a:rPr lang="zh-CN" altLang="en-US" sz="1600" b="1" dirty="0">
                <a:solidFill>
                  <a:srgbClr val="0000FF"/>
                </a:solidFill>
                <a:latin typeface="微软雅黑" panose="020B0503020204020204" pitchFamily="34" charset="-122"/>
                <a:ea typeface="微软雅黑" panose="020B0503020204020204" pitchFamily="34" charset="-122"/>
              </a:rPr>
              <a:t>检验和：</a:t>
            </a:r>
            <a:r>
              <a:rPr lang="zh-CN" altLang="en-US" sz="1600" b="1" dirty="0">
                <a:latin typeface="微软雅黑" panose="020B0503020204020204" pitchFamily="34" charset="-122"/>
                <a:ea typeface="微软雅黑" panose="020B0503020204020204" pitchFamily="34" charset="-122"/>
              </a:rPr>
              <a:t>检测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用户数据报在传输中是否有错。有错就丢弃。</a:t>
            </a:r>
          </a:p>
        </p:txBody>
      </p:sp>
      <p:grpSp>
        <p:nvGrpSpPr>
          <p:cNvPr id="10" name="组合 9"/>
          <p:cNvGrpSpPr/>
          <p:nvPr/>
        </p:nvGrpSpPr>
        <p:grpSpPr>
          <a:xfrm>
            <a:off x="1624570" y="1139493"/>
            <a:ext cx="6624517" cy="918285"/>
            <a:chOff x="1624570" y="1139493"/>
            <a:chExt cx="6624517" cy="918285"/>
          </a:xfrm>
        </p:grpSpPr>
        <p:grpSp>
          <p:nvGrpSpPr>
            <p:cNvPr id="6" name="组合 5"/>
            <p:cNvGrpSpPr/>
            <p:nvPr/>
          </p:nvGrpSpPr>
          <p:grpSpPr>
            <a:xfrm>
              <a:off x="2091658" y="1139493"/>
              <a:ext cx="6157429" cy="918285"/>
              <a:chOff x="2091658" y="1139493"/>
              <a:chExt cx="6157429" cy="918285"/>
            </a:xfrm>
          </p:grpSpPr>
          <p:sp>
            <p:nvSpPr>
              <p:cNvPr id="12" name="Freeform 3"/>
              <p:cNvSpPr>
                <a:spLocks/>
              </p:cNvSpPr>
              <p:nvPr/>
            </p:nvSpPr>
            <p:spPr bwMode="auto">
              <a:xfrm>
                <a:off x="2091658" y="1670941"/>
                <a:ext cx="3283840" cy="38683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FFFF"/>
                  </a:gs>
                  <a:gs pos="84000">
                    <a:srgbClr val="FF99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Rectangle 8"/>
              <p:cNvSpPr>
                <a:spLocks noChangeArrowheads="1"/>
              </p:cNvSpPr>
              <p:nvPr/>
            </p:nvSpPr>
            <p:spPr bwMode="auto">
              <a:xfrm>
                <a:off x="2091658" y="1365241"/>
                <a:ext cx="3283840" cy="29907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0"/>
              <p:cNvSpPr>
                <a:spLocks noChangeShapeType="1"/>
              </p:cNvSpPr>
              <p:nvPr/>
            </p:nvSpPr>
            <p:spPr bwMode="auto">
              <a:xfrm>
                <a:off x="2912899" y="1365241"/>
                <a:ext cx="1124"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Line 13"/>
              <p:cNvSpPr>
                <a:spLocks noChangeShapeType="1"/>
              </p:cNvSpPr>
              <p:nvPr/>
            </p:nvSpPr>
            <p:spPr bwMode="auto">
              <a:xfrm>
                <a:off x="3733015" y="1365241"/>
                <a:ext cx="2250"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14"/>
              <p:cNvSpPr>
                <a:spLocks noChangeShapeType="1"/>
              </p:cNvSpPr>
              <p:nvPr/>
            </p:nvSpPr>
            <p:spPr bwMode="auto">
              <a:xfrm>
                <a:off x="4554256" y="1365241"/>
                <a:ext cx="1125"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Text Box 17"/>
              <p:cNvSpPr txBox="1">
                <a:spLocks noChangeArrowheads="1"/>
              </p:cNvSpPr>
              <p:nvPr/>
            </p:nvSpPr>
            <p:spPr bwMode="auto">
              <a:xfrm>
                <a:off x="2099533"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源端口</a:t>
                </a:r>
              </a:p>
            </p:txBody>
          </p:sp>
          <p:sp>
            <p:nvSpPr>
              <p:cNvPr id="26" name="Text Box 18"/>
              <p:cNvSpPr txBox="1">
                <a:spLocks noChangeArrowheads="1"/>
              </p:cNvSpPr>
              <p:nvPr/>
            </p:nvSpPr>
            <p:spPr bwMode="auto">
              <a:xfrm>
                <a:off x="2871274" y="136316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目的端口</a:t>
                </a:r>
              </a:p>
            </p:txBody>
          </p:sp>
          <p:sp>
            <p:nvSpPr>
              <p:cNvPr id="27" name="Text Box 19"/>
              <p:cNvSpPr txBox="1">
                <a:spLocks noChangeArrowheads="1"/>
              </p:cNvSpPr>
              <p:nvPr/>
            </p:nvSpPr>
            <p:spPr bwMode="auto">
              <a:xfrm>
                <a:off x="3817389" y="1362126"/>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长  度</a:t>
                </a:r>
              </a:p>
            </p:txBody>
          </p:sp>
          <p:sp>
            <p:nvSpPr>
              <p:cNvPr id="28" name="Text Box 20"/>
              <p:cNvSpPr txBox="1">
                <a:spLocks noChangeArrowheads="1"/>
              </p:cNvSpPr>
              <p:nvPr/>
            </p:nvSpPr>
            <p:spPr bwMode="auto">
              <a:xfrm>
                <a:off x="4628505"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检验和</a:t>
                </a:r>
              </a:p>
            </p:txBody>
          </p:sp>
          <p:sp>
            <p:nvSpPr>
              <p:cNvPr id="49" name="Text Box 41"/>
              <p:cNvSpPr txBox="1">
                <a:spLocks noChangeArrowheads="1"/>
              </p:cNvSpPr>
              <p:nvPr/>
            </p:nvSpPr>
            <p:spPr bwMode="auto">
              <a:xfrm>
                <a:off x="236742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0" name="Text Box 42"/>
              <p:cNvSpPr txBox="1">
                <a:spLocks noChangeArrowheads="1"/>
              </p:cNvSpPr>
              <p:nvPr/>
            </p:nvSpPr>
            <p:spPr bwMode="auto">
              <a:xfrm>
                <a:off x="323591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1" name="Text Box 43"/>
              <p:cNvSpPr txBox="1">
                <a:spLocks noChangeArrowheads="1"/>
              </p:cNvSpPr>
              <p:nvPr/>
            </p:nvSpPr>
            <p:spPr bwMode="auto">
              <a:xfrm>
                <a:off x="3994153"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2" name="Text Box 44"/>
              <p:cNvSpPr txBox="1">
                <a:spLocks noChangeArrowheads="1"/>
              </p:cNvSpPr>
              <p:nvPr/>
            </p:nvSpPr>
            <p:spPr bwMode="auto">
              <a:xfrm>
                <a:off x="4857018"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 name="矩形 4"/>
              <p:cNvSpPr/>
              <p:nvPr/>
            </p:nvSpPr>
            <p:spPr>
              <a:xfrm>
                <a:off x="5438833" y="1203915"/>
                <a:ext cx="2810254" cy="566309"/>
              </a:xfrm>
              <a:prstGeom prst="rect">
                <a:avLst/>
              </a:prstGeom>
            </p:spPr>
            <p:txBody>
              <a:bodyPr wrap="square">
                <a:spAutoFit/>
              </a:bodyPr>
              <a:lstStyle/>
              <a:p>
                <a:pPr>
                  <a:lnSpc>
                    <a:spcPct val="110000"/>
                  </a:lnSpc>
                </a:pPr>
                <a:r>
                  <a:rPr lang="zh-CN" altLang="en-US" sz="1400" b="1" dirty="0">
                    <a:latin typeface="微软雅黑" pitchFamily="34" charset="-122"/>
                    <a:ea typeface="微软雅黑" pitchFamily="34" charset="-122"/>
                  </a:rPr>
                  <a:t>首部字段：</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个字节，</a:t>
                </a:r>
                <a:r>
                  <a:rPr lang="en-US" altLang="zh-CN" sz="1400" b="1" dirty="0">
                    <a:latin typeface="微软雅黑" pitchFamily="34" charset="-122"/>
                    <a:ea typeface="微软雅黑" pitchFamily="34" charset="-122"/>
                  </a:rPr>
                  <a:t>4 </a:t>
                </a:r>
                <a:r>
                  <a:rPr lang="zh-CN" altLang="en-US" sz="1400" b="1" dirty="0">
                    <a:latin typeface="微软雅黑" pitchFamily="34" charset="-122"/>
                    <a:ea typeface="微软雅黑" pitchFamily="34" charset="-122"/>
                  </a:rPr>
                  <a:t>个字段，每个字段为 </a:t>
                </a:r>
                <a:r>
                  <a:rPr lang="en-US" altLang="zh-CN" sz="1400" b="1" dirty="0">
                    <a:latin typeface="微软雅黑" pitchFamily="34" charset="-122"/>
                    <a:ea typeface="微软雅黑" pitchFamily="34" charset="-122"/>
                  </a:rPr>
                  <a:t>2 </a:t>
                </a:r>
                <a:r>
                  <a:rPr lang="zh-CN" altLang="en-US" sz="1400" b="1" dirty="0">
                    <a:latin typeface="微软雅黑" pitchFamily="34" charset="-122"/>
                    <a:ea typeface="微软雅黑" pitchFamily="34" charset="-122"/>
                  </a:rPr>
                  <a:t>个字节。 </a:t>
                </a:r>
              </a:p>
            </p:txBody>
          </p:sp>
        </p:grpSp>
        <p:sp>
          <p:nvSpPr>
            <p:cNvPr id="42" name="Text Box 34"/>
            <p:cNvSpPr txBox="1">
              <a:spLocks noChangeArrowheads="1"/>
            </p:cNvSpPr>
            <p:nvPr/>
          </p:nvSpPr>
          <p:spPr bwMode="auto">
            <a:xfrm>
              <a:off x="1624570" y="11567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99"/>
                  </a:solidFill>
                  <a:latin typeface="微软雅黑" pitchFamily="34" charset="-122"/>
                  <a:ea typeface="微软雅黑" pitchFamily="34" charset="-122"/>
                </a:rPr>
                <a:t>字节</a:t>
              </a:r>
            </a:p>
          </p:txBody>
        </p:sp>
      </p:grpSp>
      <p:sp>
        <p:nvSpPr>
          <p:cNvPr id="59" name="Rectangle 4"/>
          <p:cNvSpPr>
            <a:spLocks noChangeArrowheads="1"/>
          </p:cNvSpPr>
          <p:nvPr/>
        </p:nvSpPr>
        <p:spPr bwMode="auto">
          <a:xfrm>
            <a:off x="2500126" y="2333140"/>
            <a:ext cx="3869267" cy="422758"/>
          </a:xfrm>
          <a:prstGeom prst="rect">
            <a:avLst/>
          </a:prstGeom>
          <a:gradFill flip="none" rotWithShape="1">
            <a:gsLst>
              <a:gs pos="100000">
                <a:srgbClr val="00B0F0"/>
              </a:gs>
              <a:gs pos="0">
                <a:srgbClr val="00FFFF"/>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 name="Rectangle 2"/>
          <p:cNvSpPr>
            <a:spLocks noChangeArrowheads="1"/>
          </p:cNvSpPr>
          <p:nvPr/>
        </p:nvSpPr>
        <p:spPr bwMode="auto">
          <a:xfrm>
            <a:off x="1732164" y="2648529"/>
            <a:ext cx="764992" cy="299074"/>
          </a:xfrm>
          <a:prstGeom prst="rect">
            <a:avLst/>
          </a:prstGeom>
          <a:solidFill>
            <a:srgbClr val="0000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6"/>
          <p:cNvSpPr>
            <a:spLocks noChangeArrowheads="1"/>
          </p:cNvSpPr>
          <p:nvPr/>
        </p:nvSpPr>
        <p:spPr bwMode="auto">
          <a:xfrm>
            <a:off x="1166295" y="2707721"/>
            <a:ext cx="565870" cy="188998"/>
          </a:xfrm>
          <a:prstGeom prst="leftArrow">
            <a:avLst>
              <a:gd name="adj1" fmla="val 50000"/>
              <a:gd name="adj2" fmla="val 69093"/>
            </a:avLst>
          </a:prstGeom>
          <a:solidFill>
            <a:srgbClr val="FF00FF"/>
          </a:solidFill>
          <a:ln w="1270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9"/>
          <p:cNvSpPr>
            <a:spLocks noChangeArrowheads="1"/>
          </p:cNvSpPr>
          <p:nvPr/>
        </p:nvSpPr>
        <p:spPr bwMode="auto">
          <a:xfrm>
            <a:off x="2497156" y="2650606"/>
            <a:ext cx="3877834" cy="29907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Text Box 21"/>
          <p:cNvSpPr txBox="1">
            <a:spLocks noChangeArrowheads="1"/>
          </p:cNvSpPr>
          <p:nvPr/>
        </p:nvSpPr>
        <p:spPr bwMode="auto">
          <a:xfrm>
            <a:off x="3972015" y="2641030"/>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30" name="Text Box 22"/>
          <p:cNvSpPr txBox="1">
            <a:spLocks noChangeArrowheads="1"/>
          </p:cNvSpPr>
          <p:nvPr/>
        </p:nvSpPr>
        <p:spPr bwMode="auto">
          <a:xfrm>
            <a:off x="1806413" y="2641030"/>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39" name="Line 31"/>
          <p:cNvSpPr>
            <a:spLocks noChangeShapeType="1"/>
          </p:cNvSpPr>
          <p:nvPr/>
        </p:nvSpPr>
        <p:spPr bwMode="auto">
          <a:xfrm>
            <a:off x="1701789" y="3099216"/>
            <a:ext cx="467320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0" name="Rectangle 32"/>
          <p:cNvSpPr>
            <a:spLocks noChangeArrowheads="1"/>
          </p:cNvSpPr>
          <p:nvPr/>
        </p:nvSpPr>
        <p:spPr bwMode="auto">
          <a:xfrm>
            <a:off x="3533270" y="2998486"/>
            <a:ext cx="831367" cy="191075"/>
          </a:xfrm>
          <a:prstGeom prst="rect">
            <a:avLst/>
          </a:prstGeom>
          <a:solidFill>
            <a:srgbClr val="C3E3F9"/>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33"/>
          <p:cNvSpPr txBox="1">
            <a:spLocks noChangeArrowheads="1"/>
          </p:cNvSpPr>
          <p:nvPr/>
        </p:nvSpPr>
        <p:spPr bwMode="auto">
          <a:xfrm>
            <a:off x="3546806" y="2958571"/>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54" name="Text Box 46"/>
          <p:cNvSpPr txBox="1">
            <a:spLocks noChangeArrowheads="1"/>
          </p:cNvSpPr>
          <p:nvPr/>
        </p:nvSpPr>
        <p:spPr bwMode="auto">
          <a:xfrm>
            <a:off x="781196" y="295552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99"/>
                </a:solidFill>
                <a:latin typeface="微软雅黑" pitchFamily="34" charset="-122"/>
                <a:ea typeface="微软雅黑" pitchFamily="34" charset="-122"/>
              </a:rPr>
              <a:t>发送在前</a:t>
            </a:r>
          </a:p>
        </p:txBody>
      </p:sp>
      <p:sp>
        <p:nvSpPr>
          <p:cNvPr id="3" name="矩形 2"/>
          <p:cNvSpPr/>
          <p:nvPr/>
        </p:nvSpPr>
        <p:spPr>
          <a:xfrm>
            <a:off x="6345474" y="1999868"/>
            <a:ext cx="2256915" cy="363176"/>
          </a:xfrm>
          <a:prstGeom prst="rect">
            <a:avLst/>
          </a:prstGeom>
        </p:spPr>
        <p:txBody>
          <a:bodyPr wrap="square">
            <a:spAutoFit/>
          </a:bodyPr>
          <a:lstStyle/>
          <a:p>
            <a:pPr>
              <a:lnSpc>
                <a:spcPct val="110000"/>
              </a:lnSpc>
            </a:pP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个字段：首部，数据。</a:t>
            </a:r>
            <a:endParaRPr lang="en-US" altLang="zh-CN" sz="1600" b="1" dirty="0">
              <a:latin typeface="微软雅黑" pitchFamily="34" charset="-122"/>
              <a:ea typeface="微软雅黑" pitchFamily="34" charset="-122"/>
            </a:endParaRPr>
          </a:p>
        </p:txBody>
      </p:sp>
      <p:sp>
        <p:nvSpPr>
          <p:cNvPr id="13" name="Rectangle 4"/>
          <p:cNvSpPr>
            <a:spLocks noChangeArrowheads="1"/>
          </p:cNvSpPr>
          <p:nvPr/>
        </p:nvSpPr>
        <p:spPr bwMode="auto">
          <a:xfrm>
            <a:off x="2496031" y="2033901"/>
            <a:ext cx="766118" cy="299074"/>
          </a:xfrm>
          <a:prstGeom prst="rect">
            <a:avLst/>
          </a:prstGeom>
          <a:solidFill>
            <a:srgbClr val="CC00CC"/>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48"/>
          <p:cNvSpPr>
            <a:spLocks noChangeArrowheads="1"/>
          </p:cNvSpPr>
          <p:nvPr/>
        </p:nvSpPr>
        <p:spPr bwMode="auto">
          <a:xfrm>
            <a:off x="3262148" y="2033901"/>
            <a:ext cx="3112842" cy="299074"/>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9"/>
          <p:cNvSpPr txBox="1">
            <a:spLocks noChangeArrowheads="1"/>
          </p:cNvSpPr>
          <p:nvPr/>
        </p:nvSpPr>
        <p:spPr bwMode="auto">
          <a:xfrm>
            <a:off x="4364636" y="2025363"/>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57" name="Text Box 50"/>
          <p:cNvSpPr txBox="1">
            <a:spLocks noChangeArrowheads="1"/>
          </p:cNvSpPr>
          <p:nvPr/>
        </p:nvSpPr>
        <p:spPr bwMode="auto">
          <a:xfrm>
            <a:off x="2596155" y="2025363"/>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58" name="Text Box 52"/>
          <p:cNvSpPr txBox="1">
            <a:spLocks noChangeArrowheads="1"/>
          </p:cNvSpPr>
          <p:nvPr/>
        </p:nvSpPr>
        <p:spPr bwMode="auto">
          <a:xfrm>
            <a:off x="940923" y="2031870"/>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9" name="内容占位符 8">
            <a:extLst>
              <a:ext uri="{FF2B5EF4-FFF2-40B4-BE49-F238E27FC236}">
                <a16:creationId xmlns:a16="http://schemas.microsoft.com/office/drawing/2014/main" id="{210322C3-6256-E032-F6F0-C63D2230A309}"/>
              </a:ext>
            </a:extLst>
          </p:cNvPr>
          <p:cNvSpPr>
            <a:spLocks noGrp="1"/>
          </p:cNvSpPr>
          <p:nvPr>
            <p:ph sz="quarter" idx="11"/>
          </p:nvPr>
        </p:nvSpPr>
        <p:spPr/>
        <p:txBody>
          <a:bodyPr/>
          <a:lstStyle/>
          <a:p>
            <a:endParaRPr lang="zh-CN" altLang="en-US"/>
          </a:p>
        </p:txBody>
      </p:sp>
      <p:sp>
        <p:nvSpPr>
          <p:cNvPr id="15" name="标题 14">
            <a:extLst>
              <a:ext uri="{FF2B5EF4-FFF2-40B4-BE49-F238E27FC236}">
                <a16:creationId xmlns:a16="http://schemas.microsoft.com/office/drawing/2014/main" id="{8BCF5290-1C81-75E5-117D-B8353B1C2F39}"/>
              </a:ext>
            </a:extLst>
          </p:cNvPr>
          <p:cNvSpPr>
            <a:spLocks noGrp="1"/>
          </p:cNvSpPr>
          <p:nvPr>
            <p:ph type="title"/>
          </p:nvPr>
        </p:nvSpPr>
        <p:spPr>
          <a:xfrm>
            <a:off x="486000" y="550723"/>
            <a:ext cx="8172000" cy="338554"/>
          </a:xfrm>
          <a:prstGeom prst="rect">
            <a:avLst/>
          </a:prstGeo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1000"/>
                                        <p:tgtEl>
                                          <p:spTgt spid="10"/>
                                        </p:tgtEl>
                                      </p:cBhvr>
                                    </p:animEffect>
                                  </p:childTnLst>
                                </p:cTn>
                              </p:par>
                            </p:childTnLst>
                          </p:cTn>
                        </p:par>
                        <p:par>
                          <p:cTn id="8" fill="hold">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898378" y="3556812"/>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54490"/>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85736"/>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616593"/>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81870"/>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452442"/>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0" name="Rectangle 9"/>
          <p:cNvSpPr>
            <a:spLocks noChangeArrowheads="1"/>
          </p:cNvSpPr>
          <p:nvPr/>
        </p:nvSpPr>
        <p:spPr bwMode="auto">
          <a:xfrm>
            <a:off x="3670978" y="3558910"/>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79822"/>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7982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45244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452442"/>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594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45034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4492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86179"/>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77035"/>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7982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805157"/>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805157"/>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05157"/>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0515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805157"/>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17</a:t>
            </a:r>
          </a:p>
        </p:txBody>
      </p:sp>
      <p:sp>
        <p:nvSpPr>
          <p:cNvPr id="32" name="Line 31"/>
          <p:cNvSpPr>
            <a:spLocks noChangeShapeType="1"/>
          </p:cNvSpPr>
          <p:nvPr/>
        </p:nvSpPr>
        <p:spPr bwMode="auto">
          <a:xfrm>
            <a:off x="2867701" y="4011982"/>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910250"/>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80264"/>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6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02832"/>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202832"/>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31083" y="385596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48" name="Rectangle 48"/>
          <p:cNvSpPr>
            <a:spLocks noChangeArrowheads="1"/>
          </p:cNvSpPr>
          <p:nvPr/>
        </p:nvSpPr>
        <p:spPr bwMode="auto">
          <a:xfrm>
            <a:off x="4443579" y="2985736"/>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9" name="Text Box 49"/>
          <p:cNvSpPr txBox="1">
            <a:spLocks noChangeArrowheads="1"/>
          </p:cNvSpPr>
          <p:nvPr/>
        </p:nvSpPr>
        <p:spPr bwMode="auto">
          <a:xfrm>
            <a:off x="5557032" y="3014054"/>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50" name="Text Box 50"/>
          <p:cNvSpPr txBox="1">
            <a:spLocks noChangeArrowheads="1"/>
          </p:cNvSpPr>
          <p:nvPr/>
        </p:nvSpPr>
        <p:spPr bwMode="auto">
          <a:xfrm>
            <a:off x="3770962" y="299576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51" name="Text Box 52"/>
          <p:cNvSpPr txBox="1">
            <a:spLocks noChangeArrowheads="1"/>
          </p:cNvSpPr>
          <p:nvPr/>
        </p:nvSpPr>
        <p:spPr bwMode="auto">
          <a:xfrm>
            <a:off x="2312929" y="2985737"/>
            <a:ext cx="13436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UDP </a:t>
            </a:r>
            <a:r>
              <a:rPr kumimoji="1" lang="zh-CN" altLang="en-US" sz="1200" b="1" dirty="0">
                <a:solidFill>
                  <a:srgbClr val="0033CC"/>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94983"/>
            <a:ext cx="3907750" cy="261617"/>
          </a:xfrm>
          <a:prstGeom prst="rect">
            <a:avLst/>
          </a:prstGeom>
          <a:gradFill flip="none" rotWithShape="1">
            <a:gsLst>
              <a:gs pos="0">
                <a:srgbClr val="00B0F0"/>
              </a:gs>
              <a:gs pos="100000">
                <a:srgbClr val="99FFCC"/>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a:off x="3317169" y="2443968"/>
            <a:ext cx="3318773"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7" name="内容占位符 56">
            <a:extLst>
              <a:ext uri="{FF2B5EF4-FFF2-40B4-BE49-F238E27FC236}">
                <a16:creationId xmlns:a16="http://schemas.microsoft.com/office/drawing/2014/main" id="{9921D565-C717-AB63-3D91-6B27F6193ABD}"/>
              </a:ext>
            </a:extLst>
          </p:cNvPr>
          <p:cNvSpPr>
            <a:spLocks noGrp="1"/>
          </p:cNvSpPr>
          <p:nvPr>
            <p:ph sz="quarter" idx="11"/>
          </p:nvPr>
        </p:nvSpPr>
        <p:spPr>
          <a:xfrm>
            <a:off x="486000" y="900000"/>
            <a:ext cx="8172000" cy="3703500"/>
          </a:xfrm>
        </p:spPr>
        <p:txBody>
          <a:bodyPr/>
          <a:lstStyle/>
          <a:p>
            <a:r>
              <a:rPr lang="zh-CN" altLang="en-US" dirty="0"/>
              <a:t>用户数据报 </a:t>
            </a:r>
            <a:r>
              <a:rPr lang="en-US" altLang="zh-CN" dirty="0"/>
              <a:t>UDP </a:t>
            </a:r>
            <a:r>
              <a:rPr lang="zh-CN" altLang="en-US" dirty="0"/>
              <a:t>有两个字段：数据字段和首部字段。首部字段有 </a:t>
            </a:r>
            <a:r>
              <a:rPr lang="en-US" altLang="zh-CN" dirty="0"/>
              <a:t>8 </a:t>
            </a:r>
            <a:r>
              <a:rPr lang="zh-CN" altLang="en-US" dirty="0"/>
              <a:t>个字节，由 </a:t>
            </a:r>
            <a:r>
              <a:rPr lang="en-US" altLang="zh-CN" dirty="0"/>
              <a:t>4 </a:t>
            </a:r>
            <a:r>
              <a:rPr lang="zh-CN" altLang="en-US" dirty="0"/>
              <a:t>个字段组成，每个字段都是 </a:t>
            </a:r>
            <a:r>
              <a:rPr lang="en-US" altLang="zh-CN" dirty="0"/>
              <a:t>2 </a:t>
            </a:r>
            <a:r>
              <a:rPr lang="zh-CN" altLang="en-US" dirty="0"/>
              <a:t>个字节。 </a:t>
            </a:r>
          </a:p>
          <a:p>
            <a:endParaRPr lang="zh-CN" altLang="en-US" dirty="0"/>
          </a:p>
        </p:txBody>
      </p:sp>
      <p:sp>
        <p:nvSpPr>
          <p:cNvPr id="59" name="标题 58">
            <a:extLst>
              <a:ext uri="{FF2B5EF4-FFF2-40B4-BE49-F238E27FC236}">
                <a16:creationId xmlns:a16="http://schemas.microsoft.com/office/drawing/2014/main" id="{CDFE2198-5379-D30F-5A9D-AE090ABFA0BA}"/>
              </a:ext>
            </a:extLst>
          </p:cNvPr>
          <p:cNvSpPr>
            <a:spLocks noGrp="1"/>
          </p:cNvSpPr>
          <p:nvPr>
            <p:ph type="title"/>
          </p:nvPr>
        </p:nvSpPr>
        <p:spPr>
          <a:xfrm>
            <a:off x="486000" y="550723"/>
            <a:ext cx="8172000" cy="338554"/>
          </a:xfrm>
          <a:prstGeom prst="rect">
            <a:avLst/>
          </a:prstGeo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14931287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afterEffect">
                                  <p:stCondLst>
                                    <p:cond delay="0"/>
                                  </p:stCondLst>
                                  <p:childTnLst>
                                    <p:anim calcmode="discrete" valueType="str">
                                      <p:cBhvr>
                                        <p:cTn id="6" dur="1000" fill="hold"/>
                                        <p:tgtEl>
                                          <p:spTgt spid="50"/>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35" presetClass="emph" presetSubtype="0" repeatCount="4000" fill="hold" grpId="0" nodeType="afterEffect">
                                  <p:stCondLst>
                                    <p:cond delay="250"/>
                                  </p:stCondLst>
                                  <p:childTnLst>
                                    <p:anim calcmode="discrete" valueType="str">
                                      <p:cBhvr>
                                        <p:cTn id="9"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3"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155"/>
          <p:cNvSpPr txBox="1">
            <a:spLocks noChangeArrowheads="1"/>
          </p:cNvSpPr>
          <p:nvPr/>
        </p:nvSpPr>
        <p:spPr bwMode="auto">
          <a:xfrm>
            <a:off x="1223160" y="3143356"/>
            <a:ext cx="6884520" cy="1631216"/>
          </a:xfrm>
          <a:prstGeom prst="rect">
            <a:avLst/>
          </a:prstGeom>
          <a:noFill/>
          <a:ln w="9525">
            <a:noFill/>
            <a:miter lim="800000"/>
            <a:headEnd/>
            <a:tailEnd/>
          </a:ln>
          <a:effectLst/>
        </p:spPr>
        <p:txBody>
          <a:bodyPr wrap="square">
            <a:spAutoFit/>
          </a:bodyPr>
          <a:lstStyle/>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根据首部中的目的端口号，把报文通过相应的端口上交给应用进程。</a:t>
            </a:r>
            <a:endParaRPr lang="en-US" altLang="zh-CN" b="1" dirty="0">
              <a:latin typeface="微软雅黑" pitchFamily="34" charset="-122"/>
              <a:ea typeface="微软雅黑" pitchFamily="34" charset="-122"/>
            </a:endParaRPr>
          </a:p>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如果接收方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发现收到的报文中的目的端口号不正确（即不存在对应于该端口号的应用进程），就丢弃该报文，并由 </a:t>
            </a:r>
            <a:r>
              <a:rPr lang="en-US" altLang="zh-CN" b="1" dirty="0">
                <a:latin typeface="微软雅黑" pitchFamily="34" charset="-122"/>
                <a:ea typeface="微软雅黑" pitchFamily="34" charset="-122"/>
              </a:rPr>
              <a:t>ICMP </a:t>
            </a:r>
            <a:r>
              <a:rPr lang="zh-CN" altLang="en-US" b="1" dirty="0">
                <a:latin typeface="微软雅黑" pitchFamily="34" charset="-122"/>
                <a:ea typeface="微软雅黑" pitchFamily="34" charset="-122"/>
              </a:rPr>
              <a:t>发送“端口不可达”差错报文给发送方。</a:t>
            </a:r>
          </a:p>
        </p:txBody>
      </p:sp>
      <p:grpSp>
        <p:nvGrpSpPr>
          <p:cNvPr id="8" name="Group 14"/>
          <p:cNvGrpSpPr>
            <a:grpSpLocks/>
          </p:cNvGrpSpPr>
          <p:nvPr/>
        </p:nvGrpSpPr>
        <p:grpSpPr bwMode="auto">
          <a:xfrm>
            <a:off x="2296774" y="1210432"/>
            <a:ext cx="4586655" cy="1776608"/>
            <a:chOff x="1655" y="663"/>
            <a:chExt cx="1951" cy="1316"/>
          </a:xfrm>
        </p:grpSpPr>
        <p:sp>
          <p:nvSpPr>
            <p:cNvPr id="9" name="Rectangle 4"/>
            <p:cNvSpPr>
              <a:spLocks noChangeArrowheads="1"/>
            </p:cNvSpPr>
            <p:nvPr/>
          </p:nvSpPr>
          <p:spPr bwMode="auto">
            <a:xfrm>
              <a:off x="2290" y="1752"/>
              <a:ext cx="681" cy="227"/>
            </a:xfrm>
            <a:prstGeom prst="rect">
              <a:avLst/>
            </a:prstGeom>
            <a:solidFill>
              <a:srgbClr val="0000FF"/>
            </a:solidFill>
            <a:ln w="9525">
              <a:solidFill>
                <a:schemeClr val="tx1"/>
              </a:solidFill>
              <a:miter lim="800000"/>
              <a:headEnd/>
              <a:tailEnd/>
            </a:ln>
            <a:effectLst/>
          </p:spPr>
          <p:txBody>
            <a:bodyPr wrap="none" anchor="ctr"/>
            <a:lstStyle/>
            <a:p>
              <a:pPr algn="ct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a:t>
              </a:r>
            </a:p>
          </p:txBody>
        </p:sp>
        <p:sp>
          <p:nvSpPr>
            <p:cNvPr id="10" name="Text Box 5"/>
            <p:cNvSpPr txBox="1">
              <a:spLocks noChangeArrowheads="1"/>
            </p:cNvSpPr>
            <p:nvPr/>
          </p:nvSpPr>
          <p:spPr bwMode="auto">
            <a:xfrm>
              <a:off x="1958" y="1482"/>
              <a:ext cx="647" cy="2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报文到达</a:t>
              </a:r>
            </a:p>
          </p:txBody>
        </p:sp>
        <p:sp>
          <p:nvSpPr>
            <p:cNvPr id="11" name="Rectangle 6"/>
            <p:cNvSpPr>
              <a:spLocks noChangeArrowheads="1"/>
            </p:cNvSpPr>
            <p:nvPr/>
          </p:nvSpPr>
          <p:spPr bwMode="auto">
            <a:xfrm>
              <a:off x="2381" y="663"/>
              <a:ext cx="499" cy="227"/>
            </a:xfrm>
            <a:prstGeom prst="rect">
              <a:avLst/>
            </a:prstGeom>
            <a:solidFill>
              <a:srgbClr val="FF99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2</a:t>
              </a:r>
            </a:p>
          </p:txBody>
        </p:sp>
        <p:sp>
          <p:nvSpPr>
            <p:cNvPr id="12" name="Line 7"/>
            <p:cNvSpPr>
              <a:spLocks noChangeShapeType="1"/>
            </p:cNvSpPr>
            <p:nvPr/>
          </p:nvSpPr>
          <p:spPr bwMode="auto">
            <a:xfrm flipV="1">
              <a:off x="2630" y="1434"/>
              <a:ext cx="0" cy="318"/>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3" name="Line 8"/>
            <p:cNvSpPr>
              <a:spLocks noChangeShapeType="1"/>
            </p:cNvSpPr>
            <p:nvPr/>
          </p:nvSpPr>
          <p:spPr bwMode="auto">
            <a:xfrm flipV="1">
              <a:off x="2630" y="890"/>
              <a:ext cx="0"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4" name="Line 9"/>
            <p:cNvSpPr>
              <a:spLocks noChangeShapeType="1"/>
            </p:cNvSpPr>
            <p:nvPr/>
          </p:nvSpPr>
          <p:spPr bwMode="auto">
            <a:xfrm flipV="1">
              <a:off x="2766"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5" name="Line 10"/>
            <p:cNvSpPr>
              <a:spLocks noChangeShapeType="1"/>
            </p:cNvSpPr>
            <p:nvPr/>
          </p:nvSpPr>
          <p:spPr bwMode="auto">
            <a:xfrm flipH="1" flipV="1">
              <a:off x="2018"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6" name="Rectangle 11"/>
            <p:cNvSpPr>
              <a:spLocks noChangeArrowheads="1"/>
            </p:cNvSpPr>
            <p:nvPr/>
          </p:nvSpPr>
          <p:spPr bwMode="auto">
            <a:xfrm>
              <a:off x="3107" y="663"/>
              <a:ext cx="499" cy="227"/>
            </a:xfrm>
            <a:prstGeom prst="rect">
              <a:avLst/>
            </a:prstGeom>
            <a:solidFill>
              <a:srgbClr val="99FFCC"/>
            </a:solidFill>
            <a:ln w="9525">
              <a:solidFill>
                <a:schemeClr val="tx1"/>
              </a:solidFill>
              <a:miter lim="800000"/>
              <a:headEnd/>
              <a:tailEnd/>
            </a:ln>
            <a:effectLst/>
          </p:spPr>
          <p:txBody>
            <a:bodyPr wrap="none" anchor="ctr"/>
            <a:lstStyle/>
            <a:p>
              <a:pPr algn="ctr"/>
              <a:r>
                <a:rPr lang="zh-CN" altLang="en-US" sz="1600" b="1" dirty="0">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3</a:t>
              </a:r>
            </a:p>
          </p:txBody>
        </p:sp>
        <p:sp>
          <p:nvSpPr>
            <p:cNvPr id="17" name="Rectangle 12"/>
            <p:cNvSpPr>
              <a:spLocks noChangeArrowheads="1"/>
            </p:cNvSpPr>
            <p:nvPr/>
          </p:nvSpPr>
          <p:spPr bwMode="auto">
            <a:xfrm>
              <a:off x="1655" y="663"/>
              <a:ext cx="499" cy="227"/>
            </a:xfrm>
            <a:prstGeom prst="rect">
              <a:avLst/>
            </a:prstGeom>
            <a:solidFill>
              <a:srgbClr val="00FF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1</a:t>
              </a:r>
            </a:p>
          </p:txBody>
        </p:sp>
        <p:sp>
          <p:nvSpPr>
            <p:cNvPr id="18" name="Rectangle 13"/>
            <p:cNvSpPr>
              <a:spLocks noChangeArrowheads="1"/>
            </p:cNvSpPr>
            <p:nvPr/>
          </p:nvSpPr>
          <p:spPr bwMode="auto">
            <a:xfrm>
              <a:off x="2290" y="1207"/>
              <a:ext cx="681" cy="227"/>
            </a:xfrm>
            <a:prstGeom prst="rect">
              <a:avLst/>
            </a:prstGeom>
            <a:solidFill>
              <a:srgbClr val="FFFF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分用</a:t>
              </a:r>
            </a:p>
          </p:txBody>
        </p:sp>
      </p:grpSp>
      <p:sp>
        <p:nvSpPr>
          <p:cNvPr id="5" name="内容占位符 4">
            <a:extLst>
              <a:ext uri="{FF2B5EF4-FFF2-40B4-BE49-F238E27FC236}">
                <a16:creationId xmlns:a16="http://schemas.microsoft.com/office/drawing/2014/main" id="{8BFBE1E2-8A47-8F01-3202-69A06CDB5EFC}"/>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E9438141-0406-0B55-D9F3-0B8104E3B98D}"/>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基于端口的分用</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724875"/>
            <a:ext cx="6593695" cy="701731"/>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在计算检验和时，临时把 </a:t>
            </a:r>
            <a:r>
              <a:rPr lang="en-US" altLang="zh-CN" b="1" dirty="0">
                <a:solidFill>
                  <a:schemeClr val="bg1"/>
                </a:solidFill>
                <a:latin typeface="微软雅黑" pitchFamily="34" charset="-122"/>
                <a:ea typeface="微软雅黑" pitchFamily="34" charset="-122"/>
              </a:rPr>
              <a:t>12 </a:t>
            </a:r>
            <a:r>
              <a:rPr lang="zh-CN" altLang="en-US" b="1" dirty="0">
                <a:solidFill>
                  <a:schemeClr val="bg1"/>
                </a:solidFill>
                <a:latin typeface="微软雅黑" pitchFamily="34" charset="-122"/>
                <a:ea typeface="微软雅黑" pitchFamily="34" charset="-122"/>
              </a:rPr>
              <a:t>字节的“</a:t>
            </a:r>
            <a:r>
              <a:rPr lang="zh-CN" altLang="en-US" b="1" dirty="0">
                <a:solidFill>
                  <a:srgbClr val="FFFF00"/>
                </a:solidFill>
                <a:latin typeface="微软雅黑" pitchFamily="34" charset="-122"/>
                <a:ea typeface="微软雅黑" pitchFamily="34" charset="-122"/>
              </a:rPr>
              <a:t>伪首部</a:t>
            </a:r>
            <a:r>
              <a:rPr lang="zh-CN" altLang="en-US" b="1" dirty="0">
                <a:solidFill>
                  <a:schemeClr val="bg1"/>
                </a:solidFill>
                <a:latin typeface="微软雅黑" pitchFamily="34" charset="-122"/>
                <a:ea typeface="微软雅黑" pitchFamily="34" charset="-122"/>
              </a:rPr>
              <a:t>”和 </a:t>
            </a: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用户数据报连接在一起。伪首部仅仅是为了计算检验和。</a:t>
            </a:r>
          </a:p>
        </p:txBody>
      </p:sp>
      <p:sp>
        <p:nvSpPr>
          <p:cNvPr id="4" name="Rectangle 2"/>
          <p:cNvSpPr>
            <a:spLocks noChangeArrowheads="1"/>
          </p:cNvSpPr>
          <p:nvPr/>
        </p:nvSpPr>
        <p:spPr bwMode="auto">
          <a:xfrm>
            <a:off x="2898378" y="351617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0078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57595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2816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398740"/>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2612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2612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39874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39874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0578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39664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39559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4554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363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2612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751455"/>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75145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75145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75145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751455"/>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17</a:t>
            </a:r>
          </a:p>
        </p:txBody>
      </p:sp>
      <p:sp>
        <p:nvSpPr>
          <p:cNvPr id="32" name="Line 31"/>
          <p:cNvSpPr>
            <a:spLocks noChangeShapeType="1"/>
          </p:cNvSpPr>
          <p:nvPr/>
        </p:nvSpPr>
        <p:spPr bwMode="auto">
          <a:xfrm>
            <a:off x="2867701" y="3971343"/>
            <a:ext cx="4719679"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86961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39625"/>
            <a:ext cx="845103"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09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14913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14913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20655" y="381532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119889" y="2932035"/>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4126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flipH="1">
            <a:off x="2420048" y="239026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10" name="Rectangle 9"/>
          <p:cNvSpPr>
            <a:spLocks noChangeArrowheads="1"/>
          </p:cNvSpPr>
          <p:nvPr/>
        </p:nvSpPr>
        <p:spPr bwMode="auto">
          <a:xfrm>
            <a:off x="3670978" y="351827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293203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3203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30322" y="2931904"/>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49" name="Text Box 49"/>
          <p:cNvSpPr txBox="1">
            <a:spLocks noChangeArrowheads="1"/>
          </p:cNvSpPr>
          <p:nvPr/>
        </p:nvSpPr>
        <p:spPr bwMode="auto">
          <a:xfrm>
            <a:off x="5536712" y="2929872"/>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组合 41"/>
          <p:cNvGrpSpPr/>
          <p:nvPr/>
        </p:nvGrpSpPr>
        <p:grpSpPr>
          <a:xfrm>
            <a:off x="2809248" y="1099293"/>
            <a:ext cx="4838720" cy="3287054"/>
            <a:chOff x="2662944" y="1099293"/>
            <a:chExt cx="4838720" cy="3287054"/>
          </a:xfrm>
        </p:grpSpPr>
        <p:sp>
          <p:nvSpPr>
            <p:cNvPr id="7" name="Text Box 7"/>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dirty="0">
                  <a:solidFill>
                    <a:srgbClr val="0000FF"/>
                  </a:solidFill>
                  <a:latin typeface="微软雅黑" pitchFamily="34" charset="-122"/>
                  <a:ea typeface="微软雅黑" pitchFamily="34" charset="-122"/>
                </a:rPr>
                <a:t>10011001 00010011  →  153.19</a:t>
              </a:r>
            </a:p>
            <a:p>
              <a:r>
                <a:rPr kumimoji="1" lang="en-US" altLang="zh-CN" sz="1200" b="1" dirty="0">
                  <a:solidFill>
                    <a:srgbClr val="0000FF"/>
                  </a:solidFill>
                  <a:latin typeface="微软雅黑" pitchFamily="34" charset="-122"/>
                  <a:ea typeface="微软雅黑" pitchFamily="34" charset="-122"/>
                </a:rPr>
                <a:t>00001000 01101000  →  8.104</a:t>
              </a:r>
            </a:p>
            <a:p>
              <a:r>
                <a:rPr kumimoji="1" lang="en-US" altLang="zh-CN" sz="1200" b="1" dirty="0">
                  <a:solidFill>
                    <a:srgbClr val="0000FF"/>
                  </a:solidFill>
                  <a:latin typeface="微软雅黑" pitchFamily="34" charset="-122"/>
                  <a:ea typeface="微软雅黑" pitchFamily="34" charset="-122"/>
                </a:rPr>
                <a:t>10101011 00000011  →  171.3</a:t>
              </a:r>
            </a:p>
            <a:p>
              <a:r>
                <a:rPr kumimoji="1" lang="en-US" altLang="zh-CN" sz="1200" b="1" dirty="0">
                  <a:solidFill>
                    <a:srgbClr val="0000FF"/>
                  </a:solidFill>
                  <a:latin typeface="微软雅黑" pitchFamily="34" charset="-122"/>
                  <a:ea typeface="微软雅黑" pitchFamily="34" charset="-122"/>
                </a:rPr>
                <a:t>00001110 00001011  →  14.11</a:t>
              </a:r>
            </a:p>
            <a:p>
              <a:r>
                <a:rPr kumimoji="1" lang="en-US" altLang="zh-CN" sz="1200" b="1" dirty="0">
                  <a:solidFill>
                    <a:srgbClr val="0000FF"/>
                  </a:solidFill>
                  <a:latin typeface="微软雅黑" pitchFamily="34" charset="-122"/>
                  <a:ea typeface="微软雅黑" pitchFamily="34" charset="-122"/>
                </a:rPr>
                <a:t>00000000 00010001  →  0 </a:t>
              </a:r>
              <a:r>
                <a:rPr kumimoji="1" lang="zh-CN" altLang="en-US" sz="1200" b="1" dirty="0">
                  <a:solidFill>
                    <a:srgbClr val="0000FF"/>
                  </a:solidFill>
                  <a:latin typeface="微软雅黑" pitchFamily="34" charset="-122"/>
                  <a:ea typeface="微软雅黑" pitchFamily="34" charset="-122"/>
                </a:rPr>
                <a:t>和 </a:t>
              </a:r>
              <a:r>
                <a:rPr kumimoji="1" lang="en-US" altLang="zh-CN" sz="1200" b="1" dirty="0">
                  <a:solidFill>
                    <a:srgbClr val="0000FF"/>
                  </a:solidFill>
                  <a:latin typeface="微软雅黑" pitchFamily="34" charset="-122"/>
                  <a:ea typeface="微软雅黑" pitchFamily="34" charset="-122"/>
                </a:rPr>
                <a:t>17</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00000100 00111111  →  1087</a:t>
              </a:r>
            </a:p>
            <a:p>
              <a:r>
                <a:rPr kumimoji="1" lang="en-US" altLang="zh-CN" sz="1200" b="1" dirty="0">
                  <a:solidFill>
                    <a:srgbClr val="0000FF"/>
                  </a:solidFill>
                  <a:latin typeface="微软雅黑" pitchFamily="34" charset="-122"/>
                  <a:ea typeface="微软雅黑" pitchFamily="34" charset="-122"/>
                </a:rPr>
                <a:t>00000000 00001101  →  13</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00000000 00000000  →  0</a:t>
              </a:r>
              <a:r>
                <a:rPr kumimoji="1" lang="zh-CN" altLang="en-US" sz="1200" b="1" dirty="0">
                  <a:solidFill>
                    <a:srgbClr val="0000FF"/>
                  </a:solidFill>
                  <a:latin typeface="微软雅黑" pitchFamily="34" charset="-122"/>
                  <a:ea typeface="微软雅黑" pitchFamily="34" charset="-122"/>
                </a:rPr>
                <a:t>（检验和）</a:t>
              </a:r>
            </a:p>
            <a:p>
              <a:r>
                <a:rPr kumimoji="1" lang="en-US" altLang="zh-CN" sz="1200" b="1" dirty="0">
                  <a:solidFill>
                    <a:srgbClr val="0000FF"/>
                  </a:solidFill>
                  <a:latin typeface="微软雅黑" pitchFamily="34" charset="-122"/>
                  <a:ea typeface="微软雅黑" pitchFamily="34" charset="-122"/>
                </a:rPr>
                <a:t>01010100 01000101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01010011 01010100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01001001 01001110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01000111 00000000  →  </a:t>
              </a:r>
              <a:r>
                <a:rPr kumimoji="1" lang="zh-CN" altLang="en-US" sz="1200" b="1" dirty="0">
                  <a:solidFill>
                    <a:srgbClr val="0000FF"/>
                  </a:solidFill>
                  <a:latin typeface="微软雅黑" pitchFamily="34" charset="-122"/>
                  <a:ea typeface="微软雅黑" pitchFamily="34" charset="-122"/>
                </a:rPr>
                <a:t>数据和 </a:t>
              </a:r>
              <a:r>
                <a:rPr kumimoji="1" lang="en-US" altLang="zh-CN" sz="1200" b="1" dirty="0">
                  <a:solidFill>
                    <a:srgbClr val="0000FF"/>
                  </a:solidFill>
                  <a:latin typeface="微软雅黑" pitchFamily="34" charset="-122"/>
                  <a:ea typeface="微软雅黑" pitchFamily="34" charset="-122"/>
                </a:rPr>
                <a:t>0</a:t>
              </a:r>
              <a:r>
                <a:rPr kumimoji="1" lang="zh-CN" altLang="en-US" sz="1200" b="1" dirty="0">
                  <a:solidFill>
                    <a:srgbClr val="0000FF"/>
                  </a:solidFill>
                  <a:latin typeface="微软雅黑" pitchFamily="34" charset="-122"/>
                  <a:ea typeface="微软雅黑" pitchFamily="34" charset="-122"/>
                </a:rPr>
                <a:t>（填充）</a:t>
              </a:r>
            </a:p>
            <a:p>
              <a:endParaRPr kumimoji="1" lang="zh-CN" altLang="en-US" sz="1200" b="1" dirty="0">
                <a:solidFill>
                  <a:srgbClr val="0000FF"/>
                </a:solidFill>
                <a:latin typeface="微软雅黑" pitchFamily="34" charset="-122"/>
                <a:ea typeface="微软雅黑" pitchFamily="34" charset="-122"/>
              </a:endParaRPr>
            </a:p>
            <a:p>
              <a:r>
                <a:rPr kumimoji="1" lang="en-US" altLang="zh-CN" sz="1200" b="1" dirty="0">
                  <a:solidFill>
                    <a:srgbClr val="0000FF"/>
                  </a:solidFill>
                  <a:latin typeface="微软雅黑" pitchFamily="34" charset="-122"/>
                  <a:ea typeface="微软雅黑" pitchFamily="34" charset="-122"/>
                </a:rPr>
                <a:t>10010110 11101101  →  </a:t>
              </a:r>
              <a:r>
                <a:rPr kumimoji="1" lang="zh-CN" altLang="en-US" sz="1200" b="1" dirty="0">
                  <a:solidFill>
                    <a:srgbClr val="0000FF"/>
                  </a:solidFill>
                  <a:latin typeface="微软雅黑" pitchFamily="34" charset="-122"/>
                  <a:ea typeface="微软雅黑" pitchFamily="34" charset="-122"/>
                </a:rPr>
                <a:t>求和得出的结果</a:t>
              </a:r>
            </a:p>
            <a:p>
              <a:pPr>
                <a:lnSpc>
                  <a:spcPct val="130000"/>
                </a:lnSpc>
              </a:pPr>
              <a:r>
                <a:rPr kumimoji="1" lang="en-US" altLang="zh-CN" sz="1200" b="1" dirty="0">
                  <a:solidFill>
                    <a:srgbClr val="0000FF"/>
                  </a:solidFill>
                  <a:latin typeface="微软雅黑" pitchFamily="34" charset="-122"/>
                  <a:ea typeface="微软雅黑" pitchFamily="34" charset="-122"/>
                </a:rPr>
                <a:t>01101001 00010010  →  </a:t>
              </a:r>
              <a:r>
                <a:rPr kumimoji="1" lang="zh-CN" altLang="en-US" sz="1200" b="1" dirty="0">
                  <a:solidFill>
                    <a:srgbClr val="0000FF"/>
                  </a:solidFill>
                  <a:latin typeface="微软雅黑" pitchFamily="34" charset="-122"/>
                  <a:ea typeface="微软雅黑" pitchFamily="34" charset="-122"/>
                </a:rPr>
                <a:t>检验和 </a:t>
              </a:r>
            </a:p>
          </p:txBody>
        </p:sp>
        <p:sp>
          <p:nvSpPr>
            <p:cNvPr id="32" name="Line 30"/>
            <p:cNvSpPr>
              <a:spLocks noChangeShapeType="1"/>
            </p:cNvSpPr>
            <p:nvPr/>
          </p:nvSpPr>
          <p:spPr bwMode="auto">
            <a:xfrm flipV="1">
              <a:off x="4235251" y="3795900"/>
              <a:ext cx="3164240" cy="5774"/>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3" name="Text Box 31"/>
            <p:cNvSpPr txBox="1">
              <a:spLocks noChangeArrowheads="1"/>
            </p:cNvSpPr>
            <p:nvPr/>
          </p:nvSpPr>
          <p:spPr bwMode="auto">
            <a:xfrm>
              <a:off x="2662944" y="3848835"/>
              <a:ext cx="1723549" cy="517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rgbClr val="A50021"/>
                  </a:solidFill>
                  <a:latin typeface="微软雅黑" pitchFamily="34" charset="-122"/>
                  <a:ea typeface="微软雅黑" pitchFamily="34" charset="-122"/>
                </a:rPr>
                <a:t>按二进制反码运算求和</a:t>
              </a:r>
            </a:p>
            <a:p>
              <a:pPr algn="r">
                <a:lnSpc>
                  <a:spcPct val="130000"/>
                </a:lnSpc>
              </a:pPr>
              <a:r>
                <a:rPr kumimoji="1" lang="zh-CN" altLang="en-US" sz="1200" b="1" dirty="0">
                  <a:solidFill>
                    <a:srgbClr val="A50021"/>
                  </a:solidFill>
                  <a:latin typeface="微软雅黑" pitchFamily="34" charset="-122"/>
                  <a:ea typeface="微软雅黑" pitchFamily="34" charset="-122"/>
                </a:rPr>
                <a:t>将得出的结果求反码</a:t>
              </a:r>
            </a:p>
          </p:txBody>
        </p:sp>
      </p:grpSp>
      <p:grpSp>
        <p:nvGrpSpPr>
          <p:cNvPr id="37" name="组合 36"/>
          <p:cNvGrpSpPr/>
          <p:nvPr/>
        </p:nvGrpSpPr>
        <p:grpSpPr>
          <a:xfrm>
            <a:off x="1408156" y="1309482"/>
            <a:ext cx="2792084" cy="2021473"/>
            <a:chOff x="1600944" y="1280222"/>
            <a:chExt cx="2540187" cy="1839099"/>
          </a:xfrm>
        </p:grpSpPr>
        <p:sp>
          <p:nvSpPr>
            <p:cNvPr id="5" name="Rectangle 36"/>
            <p:cNvSpPr>
              <a:spLocks noChangeArrowheads="1"/>
            </p:cNvSpPr>
            <p:nvPr/>
          </p:nvSpPr>
          <p:spPr bwMode="auto">
            <a:xfrm>
              <a:off x="3718677" y="2517848"/>
              <a:ext cx="414949" cy="219424"/>
            </a:xfrm>
            <a:prstGeom prst="rect">
              <a:avLst/>
            </a:prstGeom>
            <a:solidFill>
              <a:srgbClr val="FF66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6" name="Rectangle 35"/>
            <p:cNvSpPr>
              <a:spLocks noChangeArrowheads="1"/>
            </p:cNvSpPr>
            <p:nvPr/>
          </p:nvSpPr>
          <p:spPr bwMode="auto">
            <a:xfrm>
              <a:off x="2438255" y="1903528"/>
              <a:ext cx="1688985" cy="431467"/>
            </a:xfrm>
            <a:prstGeom prst="rect">
              <a:avLst/>
            </a:prstGeom>
            <a:solidFill>
              <a:srgbClr val="FFFF66"/>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8" name="Freeform 5"/>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solidFill>
              <a:srgbClr val="00FF9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9" name="Rectangle 6"/>
            <p:cNvSpPr>
              <a:spLocks noChangeArrowheads="1"/>
            </p:cNvSpPr>
            <p:nvPr/>
          </p:nvSpPr>
          <p:spPr bwMode="auto">
            <a:xfrm>
              <a:off x="2435465" y="1303319"/>
              <a:ext cx="1705666" cy="612077"/>
            </a:xfrm>
            <a:prstGeom prst="rect">
              <a:avLst/>
            </a:prstGeom>
            <a:solidFill>
              <a:srgbClr val="66FF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10" name="Rectangle 8"/>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Line 9"/>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2" name="Line 10"/>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3" name="Line 11"/>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4" name="Line 12"/>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5" name="Line 13"/>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6" name="Line 14"/>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7" name="Line 15"/>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8" name="Line 16"/>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9" name="Line 17"/>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0" name="Line 18"/>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1" name="Text Box 19"/>
            <p:cNvSpPr txBox="1">
              <a:spLocks noChangeArrowheads="1"/>
            </p:cNvSpPr>
            <p:nvPr/>
          </p:nvSpPr>
          <p:spPr bwMode="auto">
            <a:xfrm>
              <a:off x="2767006" y="1291771"/>
              <a:ext cx="986158"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153.19.8.104</a:t>
              </a:r>
            </a:p>
          </p:txBody>
        </p:sp>
        <p:sp>
          <p:nvSpPr>
            <p:cNvPr id="22" name="Text Box 20"/>
            <p:cNvSpPr txBox="1">
              <a:spLocks noChangeArrowheads="1"/>
            </p:cNvSpPr>
            <p:nvPr/>
          </p:nvSpPr>
          <p:spPr bwMode="auto">
            <a:xfrm>
              <a:off x="2788901" y="1498684"/>
              <a:ext cx="907406"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171.3.14.11</a:t>
              </a:r>
            </a:p>
          </p:txBody>
        </p:sp>
        <p:sp>
          <p:nvSpPr>
            <p:cNvPr id="23" name="AutoShape 22"/>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4" name="AutoShape 23"/>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AutoShape 24"/>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6" name="Text Box 25"/>
            <p:cNvSpPr txBox="1">
              <a:spLocks noChangeArrowheads="1"/>
            </p:cNvSpPr>
            <p:nvPr/>
          </p:nvSpPr>
          <p:spPr bwMode="auto">
            <a:xfrm>
              <a:off x="1703572"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100" b="1" dirty="0">
                  <a:solidFill>
                    <a:srgbClr val="000099"/>
                  </a:solidFill>
                  <a:latin typeface="微软雅黑" pitchFamily="34" charset="-122"/>
                  <a:ea typeface="微软雅黑" pitchFamily="34" charset="-122"/>
                </a:rPr>
                <a:t>12 </a:t>
              </a:r>
              <a:r>
                <a:rPr kumimoji="1" lang="zh-CN" altLang="en-US" sz="1100" b="1" dirty="0">
                  <a:solidFill>
                    <a:srgbClr val="000099"/>
                  </a:solidFill>
                  <a:latin typeface="微软雅黑" pitchFamily="34" charset="-122"/>
                  <a:ea typeface="微软雅黑" pitchFamily="34" charset="-122"/>
                </a:rPr>
                <a:t>字节</a:t>
              </a:r>
            </a:p>
            <a:p>
              <a:pPr algn="ctr"/>
              <a:r>
                <a:rPr kumimoji="1" lang="zh-CN" altLang="en-US" sz="1100" b="1" dirty="0">
                  <a:solidFill>
                    <a:srgbClr val="000099"/>
                  </a:solidFill>
                  <a:latin typeface="微软雅黑" pitchFamily="34" charset="-122"/>
                  <a:ea typeface="微软雅黑" pitchFamily="34" charset="-122"/>
                </a:rPr>
                <a:t>伪首部</a:t>
              </a:r>
            </a:p>
          </p:txBody>
        </p:sp>
        <p:sp>
          <p:nvSpPr>
            <p:cNvPr id="27" name="Text Box 26"/>
            <p:cNvSpPr txBox="1">
              <a:spLocks noChangeArrowheads="1"/>
            </p:cNvSpPr>
            <p:nvPr/>
          </p:nvSpPr>
          <p:spPr bwMode="auto">
            <a:xfrm>
              <a:off x="1600944" y="1876900"/>
              <a:ext cx="74844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dirty="0">
                  <a:solidFill>
                    <a:srgbClr val="000099"/>
                  </a:solidFill>
                  <a:latin typeface="微软雅黑" pitchFamily="34" charset="-122"/>
                  <a:ea typeface="微软雅黑" pitchFamily="34" charset="-122"/>
                </a:rPr>
                <a:t>8 </a:t>
              </a:r>
              <a:r>
                <a:rPr kumimoji="1" lang="zh-CN" altLang="en-US" sz="1100" b="1" dirty="0">
                  <a:solidFill>
                    <a:srgbClr val="000099"/>
                  </a:solidFill>
                  <a:latin typeface="微软雅黑" pitchFamily="34" charset="-122"/>
                  <a:ea typeface="微软雅黑" pitchFamily="34" charset="-122"/>
                </a:rPr>
                <a:t>字节</a:t>
              </a:r>
            </a:p>
            <a:p>
              <a:pPr algn="ctr"/>
              <a:r>
                <a:rPr kumimoji="1" lang="en-US" altLang="zh-CN" sz="1100" b="1" dirty="0">
                  <a:solidFill>
                    <a:srgbClr val="000099"/>
                  </a:solidFill>
                  <a:latin typeface="微软雅黑" pitchFamily="34" charset="-122"/>
                  <a:ea typeface="微软雅黑" pitchFamily="34" charset="-122"/>
                </a:rPr>
                <a:t>UDP </a:t>
              </a:r>
              <a:r>
                <a:rPr kumimoji="1" lang="zh-CN" altLang="en-US" sz="1100" b="1" dirty="0">
                  <a:solidFill>
                    <a:srgbClr val="000099"/>
                  </a:solidFill>
                  <a:latin typeface="微软雅黑" pitchFamily="34" charset="-122"/>
                  <a:ea typeface="微软雅黑" pitchFamily="34" charset="-122"/>
                </a:rPr>
                <a:t>首部</a:t>
              </a:r>
            </a:p>
          </p:txBody>
        </p:sp>
        <p:sp>
          <p:nvSpPr>
            <p:cNvPr id="28" name="Text Box 27"/>
            <p:cNvSpPr txBox="1">
              <a:spLocks noChangeArrowheads="1"/>
            </p:cNvSpPr>
            <p:nvPr/>
          </p:nvSpPr>
          <p:spPr bwMode="auto">
            <a:xfrm>
              <a:off x="1757139" y="2303237"/>
              <a:ext cx="54135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dirty="0">
                  <a:solidFill>
                    <a:srgbClr val="000099"/>
                  </a:solidFill>
                  <a:latin typeface="微软雅黑" pitchFamily="34" charset="-122"/>
                  <a:ea typeface="微软雅黑" pitchFamily="34" charset="-122"/>
                </a:rPr>
                <a:t>7 </a:t>
              </a:r>
              <a:r>
                <a:rPr kumimoji="1" lang="zh-CN" altLang="en-US" sz="1100" b="1">
                  <a:solidFill>
                    <a:srgbClr val="000099"/>
                  </a:solidFill>
                  <a:latin typeface="微软雅黑" pitchFamily="34" charset="-122"/>
                  <a:ea typeface="微软雅黑" pitchFamily="34" charset="-122"/>
                </a:rPr>
                <a:t>字节</a:t>
              </a:r>
            </a:p>
            <a:p>
              <a:pPr algn="ctr"/>
              <a:r>
                <a:rPr kumimoji="1" lang="zh-CN" altLang="en-US" sz="1100" b="1">
                  <a:solidFill>
                    <a:srgbClr val="000099"/>
                  </a:solidFill>
                  <a:latin typeface="微软雅黑" pitchFamily="34" charset="-122"/>
                  <a:ea typeface="微软雅黑" pitchFamily="34" charset="-122"/>
                </a:rPr>
                <a:t>数据</a:t>
              </a:r>
            </a:p>
          </p:txBody>
        </p:sp>
        <p:grpSp>
          <p:nvGrpSpPr>
            <p:cNvPr id="29" name="Group 34"/>
            <p:cNvGrpSpPr>
              <a:grpSpLocks/>
            </p:cNvGrpSpPr>
            <p:nvPr/>
          </p:nvGrpSpPr>
          <p:grpSpPr bwMode="auto">
            <a:xfrm>
              <a:off x="3597942" y="2707423"/>
              <a:ext cx="424331" cy="411898"/>
              <a:chOff x="1705" y="2787"/>
              <a:chExt cx="407" cy="428"/>
            </a:xfrm>
          </p:grpSpPr>
          <p:sp>
            <p:nvSpPr>
              <p:cNvPr id="30" name="Text Box 28"/>
              <p:cNvSpPr txBox="1">
                <a:spLocks noChangeArrowheads="1"/>
              </p:cNvSpPr>
              <p:nvPr/>
            </p:nvSpPr>
            <p:spPr bwMode="auto">
              <a:xfrm>
                <a:off x="1705" y="2968"/>
                <a:ext cx="407" cy="2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填充</a:t>
                </a:r>
              </a:p>
            </p:txBody>
          </p:sp>
          <p:sp>
            <p:nvSpPr>
              <p:cNvPr id="31" name="Line 29"/>
              <p:cNvSpPr>
                <a:spLocks noChangeShapeType="1"/>
              </p:cNvSpPr>
              <p:nvPr/>
            </p:nvSpPr>
            <p:spPr bwMode="auto">
              <a:xfrm flipV="1">
                <a:off x="1920" y="2787"/>
                <a:ext cx="134" cy="20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sp>
        <p:nvSpPr>
          <p:cNvPr id="39" name="矩形 38"/>
          <p:cNvSpPr/>
          <p:nvPr/>
        </p:nvSpPr>
        <p:spPr>
          <a:xfrm>
            <a:off x="977757" y="3206010"/>
            <a:ext cx="2148344" cy="523220"/>
          </a:xfrm>
          <a:prstGeom prst="rect">
            <a:avLst/>
          </a:prstGeom>
          <a:solidFill>
            <a:srgbClr val="000099"/>
          </a:solidFill>
          <a:ln>
            <a:solidFill>
              <a:schemeClr val="tx1"/>
            </a:solidFill>
          </a:ln>
        </p:spPr>
        <p:txBody>
          <a:bodyPr wrap="square">
            <a:spAutoFit/>
          </a:bodyPr>
          <a:lstStyle/>
          <a:p>
            <a:r>
              <a:rPr lang="en-US" altLang="zh-CN" sz="1400" b="1" dirty="0">
                <a:solidFill>
                  <a:schemeClr val="bg1"/>
                </a:solidFill>
                <a:latin typeface="微软雅黑" pitchFamily="34" charset="-122"/>
                <a:ea typeface="微软雅黑" pitchFamily="34" charset="-122"/>
              </a:rPr>
              <a:t>UDP </a:t>
            </a:r>
            <a:r>
              <a:rPr lang="zh-CN" altLang="zh-CN" sz="1400" b="1" dirty="0">
                <a:solidFill>
                  <a:schemeClr val="bg1"/>
                </a:solidFill>
                <a:latin typeface="微软雅黑" pitchFamily="34" charset="-122"/>
                <a:ea typeface="微软雅黑" pitchFamily="34" charset="-122"/>
              </a:rPr>
              <a:t>的检验和是把首部和数据部分一起都检验。</a:t>
            </a:r>
            <a:endParaRPr lang="zh-CN" altLang="en-US" sz="1400" b="1" dirty="0">
              <a:solidFill>
                <a:schemeClr val="bg1"/>
              </a:solidFill>
              <a:latin typeface="微软雅黑" pitchFamily="34" charset="-122"/>
              <a:ea typeface="微软雅黑" pitchFamily="34" charset="-122"/>
            </a:endParaRPr>
          </a:p>
        </p:txBody>
      </p:sp>
      <p:sp>
        <p:nvSpPr>
          <p:cNvPr id="41" name="Text Box 21"/>
          <p:cNvSpPr txBox="1">
            <a:spLocks noChangeArrowheads="1"/>
          </p:cNvSpPr>
          <p:nvPr/>
        </p:nvSpPr>
        <p:spPr bwMode="auto">
          <a:xfrm>
            <a:off x="2327763" y="1762003"/>
            <a:ext cx="2079937" cy="118237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ts val="1720"/>
              </a:lnSpc>
            </a:pPr>
            <a:r>
              <a:rPr kumimoji="1" lang="zh-CN" altLang="en-US" sz="1200" b="1" dirty="0">
                <a:latin typeface="微软雅黑" pitchFamily="34" charset="-122"/>
                <a:ea typeface="微软雅黑" pitchFamily="34" charset="-122"/>
              </a:rPr>
              <a:t>全 </a:t>
            </a:r>
            <a:r>
              <a:rPr kumimoji="1" lang="en-US" altLang="zh-CN" sz="1200" b="1" dirty="0">
                <a:latin typeface="微软雅黑" pitchFamily="34" charset="-122"/>
                <a:ea typeface="微软雅黑" pitchFamily="34" charset="-122"/>
              </a:rPr>
              <a:t>0    17          15</a:t>
            </a:r>
          </a:p>
          <a:p>
            <a:pPr>
              <a:lnSpc>
                <a:spcPts val="1720"/>
              </a:lnSpc>
            </a:pPr>
            <a:r>
              <a:rPr kumimoji="1" lang="en-US" altLang="zh-CN" sz="1200" b="1" dirty="0">
                <a:latin typeface="微软雅黑" pitchFamily="34" charset="-122"/>
                <a:ea typeface="微软雅黑" pitchFamily="34" charset="-122"/>
              </a:rPr>
              <a:t>    1087            13</a:t>
            </a:r>
          </a:p>
          <a:p>
            <a:pPr>
              <a:lnSpc>
                <a:spcPts val="1720"/>
              </a:lnSpc>
            </a:pPr>
            <a:r>
              <a:rPr kumimoji="1" lang="en-US" altLang="zh-CN" sz="1200" b="1" dirty="0">
                <a:latin typeface="微软雅黑" pitchFamily="34" charset="-122"/>
                <a:ea typeface="微软雅黑" pitchFamily="34" charset="-122"/>
              </a:rPr>
              <a:t>      15             </a:t>
            </a:r>
            <a:r>
              <a:rPr kumimoji="1" lang="zh-CN" altLang="en-US" sz="1200" b="1" dirty="0">
                <a:solidFill>
                  <a:srgbClr val="C00000"/>
                </a:solidFill>
                <a:latin typeface="微软雅黑" pitchFamily="34" charset="-122"/>
                <a:ea typeface="微软雅黑" pitchFamily="34" charset="-122"/>
              </a:rPr>
              <a:t>全 </a:t>
            </a:r>
            <a:r>
              <a:rPr kumimoji="1" lang="en-US" altLang="zh-CN" sz="1200" b="1" dirty="0">
                <a:solidFill>
                  <a:srgbClr val="C00000"/>
                </a:solidFill>
                <a:latin typeface="微软雅黑" pitchFamily="34" charset="-122"/>
                <a:ea typeface="微软雅黑" pitchFamily="34" charset="-122"/>
              </a:rPr>
              <a:t>0</a:t>
            </a:r>
          </a:p>
          <a:p>
            <a:pPr>
              <a:lnSpc>
                <a:spcPts val="1720"/>
              </a:lnSpc>
            </a:pPr>
            <a:r>
              <a:rPr kumimoji="1" lang="zh-CN" altLang="en-US" sz="1200" b="1" dirty="0">
                <a:latin typeface="微软雅黑" pitchFamily="34" charset="-122"/>
                <a:ea typeface="微软雅黑" pitchFamily="34" charset="-122"/>
              </a:rPr>
              <a:t>数据   数据    数据   数据</a:t>
            </a:r>
          </a:p>
          <a:p>
            <a:pPr>
              <a:lnSpc>
                <a:spcPts val="1720"/>
              </a:lnSpc>
            </a:pPr>
            <a:r>
              <a:rPr kumimoji="1" lang="zh-CN" altLang="en-US" sz="1200" b="1" dirty="0">
                <a:latin typeface="微软雅黑" pitchFamily="34" charset="-122"/>
                <a:ea typeface="微软雅黑" pitchFamily="34" charset="-122"/>
              </a:rPr>
              <a:t>数据   数据    数据   全 </a:t>
            </a:r>
            <a:r>
              <a:rPr kumimoji="1" lang="en-US" altLang="zh-CN" sz="1200" b="1" dirty="0">
                <a:latin typeface="微软雅黑" pitchFamily="34" charset="-122"/>
                <a:ea typeface="微软雅黑" pitchFamily="34" charset="-122"/>
              </a:rPr>
              <a:t>0</a:t>
            </a:r>
          </a:p>
        </p:txBody>
      </p:sp>
      <p:sp>
        <p:nvSpPr>
          <p:cNvPr id="34" name="内容占位符 33">
            <a:extLst>
              <a:ext uri="{FF2B5EF4-FFF2-40B4-BE49-F238E27FC236}">
                <a16:creationId xmlns:a16="http://schemas.microsoft.com/office/drawing/2014/main" id="{307F5263-DB53-B69C-C10A-473E8B845A61}"/>
              </a:ext>
            </a:extLst>
          </p:cNvPr>
          <p:cNvSpPr>
            <a:spLocks noGrp="1"/>
          </p:cNvSpPr>
          <p:nvPr>
            <p:ph sz="quarter" idx="11"/>
          </p:nvPr>
        </p:nvSpPr>
        <p:spPr/>
        <p:txBody>
          <a:bodyPr/>
          <a:lstStyle/>
          <a:p>
            <a:endParaRPr lang="zh-CN" altLang="en-US"/>
          </a:p>
        </p:txBody>
      </p:sp>
      <p:sp>
        <p:nvSpPr>
          <p:cNvPr id="35" name="标题 34">
            <a:extLst>
              <a:ext uri="{FF2B5EF4-FFF2-40B4-BE49-F238E27FC236}">
                <a16:creationId xmlns:a16="http://schemas.microsoft.com/office/drawing/2014/main" id="{3D89EAA3-8649-14A6-BC6C-869C0F61163E}"/>
              </a:ext>
            </a:extLst>
          </p:cNvPr>
          <p:cNvSpPr>
            <a:spLocks noGrp="1"/>
          </p:cNvSpPr>
          <p:nvPr>
            <p:ph type="title"/>
          </p:nvPr>
        </p:nvSpPr>
        <p:spPr>
          <a:xfrm>
            <a:off x="486000" y="550723"/>
            <a:ext cx="8172000" cy="338554"/>
          </a:xfrm>
          <a:prstGeom prst="rect">
            <a:avLst/>
          </a:prstGeom>
        </p:spPr>
        <p:txBody>
          <a:bodyPr/>
          <a:lstStyle/>
          <a:p>
            <a:r>
              <a:rPr lang="zh-CN" altLang="en-US" dirty="0"/>
              <a:t>计算 </a:t>
            </a:r>
            <a:r>
              <a:rPr lang="en-US" altLang="zh-CN" dirty="0"/>
              <a:t>UDP </a:t>
            </a:r>
            <a:r>
              <a:rPr lang="zh-CN" altLang="en-US" dirty="0"/>
              <a:t>检验和的例子</a:t>
            </a:r>
          </a:p>
        </p:txBody>
      </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8071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8714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Line 16"/>
          <p:cNvSpPr>
            <a:spLocks noChangeShapeType="1"/>
          </p:cNvSpPr>
          <p:nvPr/>
        </p:nvSpPr>
        <p:spPr bwMode="auto">
          <a:xfrm>
            <a:off x="3637198" y="130927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5" name="Rectangle 8"/>
          <p:cNvSpPr>
            <a:spLocks noChangeArrowheads="1"/>
          </p:cNvSpPr>
          <p:nvPr/>
        </p:nvSpPr>
        <p:spPr bwMode="auto">
          <a:xfrm>
            <a:off x="2700573" y="1126716"/>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5.3.1                                 TCP </a:t>
            </a:r>
            <a:r>
              <a:rPr lang="zh-CN" altLang="en-US" sz="2000" b="1" dirty="0">
                <a:solidFill>
                  <a:schemeClr val="bg1"/>
                </a:solidFill>
                <a:latin typeface="微软雅黑" pitchFamily="34" charset="-122"/>
                <a:ea typeface="微软雅黑" pitchFamily="34" charset="-122"/>
              </a:rPr>
              <a:t>最主要的特点</a:t>
            </a:r>
          </a:p>
          <a:p>
            <a:pPr eaLnBrk="0" hangingPunct="0">
              <a:lnSpc>
                <a:spcPct val="200000"/>
              </a:lnSpc>
            </a:pPr>
            <a:r>
              <a:rPr lang="en-US" altLang="zh-CN" sz="2000" b="1" dirty="0">
                <a:solidFill>
                  <a:schemeClr val="bg1"/>
                </a:solidFill>
                <a:latin typeface="微软雅黑" pitchFamily="34" charset="-122"/>
                <a:ea typeface="微软雅黑" pitchFamily="34" charset="-122"/>
              </a:rPr>
              <a:t>5.3.2                                           TCP </a:t>
            </a:r>
            <a:r>
              <a:rPr lang="zh-CN" altLang="en-US" sz="2000" b="1" dirty="0">
                <a:solidFill>
                  <a:schemeClr val="bg1"/>
                </a:solidFill>
                <a:latin typeface="微软雅黑" pitchFamily="34" charset="-122"/>
                <a:ea typeface="微软雅黑" pitchFamily="34" charset="-122"/>
              </a:rPr>
              <a:t>的连接</a:t>
            </a:r>
          </a:p>
        </p:txBody>
      </p:sp>
      <p:sp>
        <p:nvSpPr>
          <p:cNvPr id="6" name="Rectangle 27"/>
          <p:cNvSpPr>
            <a:spLocks noChangeArrowheads="1"/>
          </p:cNvSpPr>
          <p:nvPr/>
        </p:nvSpPr>
        <p:spPr bwMode="auto">
          <a:xfrm>
            <a:off x="639730" y="138071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7" name="Rectangle 29"/>
          <p:cNvSpPr>
            <a:spLocks noChangeArrowheads="1"/>
          </p:cNvSpPr>
          <p:nvPr/>
        </p:nvSpPr>
        <p:spPr bwMode="auto">
          <a:xfrm>
            <a:off x="648619" y="147564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5.3</a:t>
            </a:r>
          </a:p>
          <a:p>
            <a:pPr eaLnBrk="0" hangingPunct="0"/>
            <a:r>
              <a:rPr lang="zh-CN" altLang="en-US" sz="2000" b="1" dirty="0">
                <a:solidFill>
                  <a:schemeClr val="bg1"/>
                </a:solidFill>
                <a:latin typeface="微软雅黑" pitchFamily="34" charset="-122"/>
                <a:ea typeface="微软雅黑" pitchFamily="34" charset="-122"/>
              </a:rPr>
              <a:t>传输控制协议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概述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9205808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对象 5"/>
          <p:cNvGraphicFramePr>
            <a:graphicFrameLocks noGrp="1" noChangeAspect="1"/>
          </p:cNvGraphicFramePr>
          <p:nvPr>
            <p:extLst>
              <p:ext uri="{D42A27DB-BD31-4B8C-83A1-F6EECF244321}">
                <p14:modId xmlns:p14="http://schemas.microsoft.com/office/powerpoint/2010/main" val="1827045352"/>
              </p:ext>
            </p:extLst>
          </p:nvPr>
        </p:nvGraphicFramePr>
        <p:xfrm>
          <a:off x="2353509" y="2187681"/>
          <a:ext cx="4307267" cy="1892328"/>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3509" y="2187681"/>
                        <a:ext cx="4307267" cy="18923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内容占位符 8">
            <a:extLst>
              <a:ext uri="{FF2B5EF4-FFF2-40B4-BE49-F238E27FC236}">
                <a16:creationId xmlns:a16="http://schemas.microsoft.com/office/drawing/2014/main" id="{8927C137-9E12-D8BD-4412-EBA51325FF05}"/>
              </a:ext>
            </a:extLst>
          </p:cNvPr>
          <p:cNvSpPr>
            <a:spLocks noGrp="1"/>
          </p:cNvSpPr>
          <p:nvPr>
            <p:ph sz="quarter" idx="11"/>
          </p:nvPr>
        </p:nvSpPr>
        <p:spPr/>
        <p:txBody>
          <a:bodyPr/>
          <a:lstStyle/>
          <a:p>
            <a:r>
              <a:rPr lang="en-US" altLang="zh-CN" dirty="0"/>
              <a:t>TCP </a:t>
            </a:r>
            <a:r>
              <a:rPr lang="zh-CN" altLang="en-US" dirty="0"/>
              <a:t>是面向连接的运输层协议，在无连接的、不可靠的 </a:t>
            </a:r>
            <a:r>
              <a:rPr lang="en-US" altLang="zh-CN" dirty="0"/>
              <a:t>IP </a:t>
            </a:r>
            <a:r>
              <a:rPr lang="zh-CN" altLang="en-US" dirty="0"/>
              <a:t>网络服务基础之上提供可靠交付的服务。为此，在 </a:t>
            </a:r>
            <a:r>
              <a:rPr lang="en-US" altLang="zh-CN" dirty="0"/>
              <a:t>IP </a:t>
            </a:r>
            <a:r>
              <a:rPr lang="zh-CN" altLang="en-US" dirty="0"/>
              <a:t>的数据报服务基础之上，增加了保证可靠性的一系列措施。</a:t>
            </a:r>
          </a:p>
          <a:p>
            <a:endParaRPr lang="zh-CN" altLang="en-US" dirty="0"/>
          </a:p>
        </p:txBody>
      </p:sp>
      <p:sp>
        <p:nvSpPr>
          <p:cNvPr id="8" name="标题 7">
            <a:extLst>
              <a:ext uri="{FF2B5EF4-FFF2-40B4-BE49-F238E27FC236}">
                <a16:creationId xmlns:a16="http://schemas.microsoft.com/office/drawing/2014/main" id="{C8B482D3-0BB1-C93F-65BF-A867E6F189B5}"/>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2D25CA03-7F92-B901-B524-4E8BF50DECE4}"/>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是面向连接的运输层协议。</a:t>
            </a:r>
          </a:p>
          <a:p>
            <a:r>
              <a:rPr lang="zh-CN" altLang="en-US" dirty="0"/>
              <a:t>每一条 </a:t>
            </a:r>
            <a:r>
              <a:rPr lang="en-US" altLang="zh-CN" dirty="0"/>
              <a:t>TCP </a:t>
            </a:r>
            <a:r>
              <a:rPr lang="zh-CN" altLang="en-US" dirty="0"/>
              <a:t>连接只能有两个端点 </a:t>
            </a:r>
            <a:r>
              <a:rPr lang="en-US" altLang="zh-CN" dirty="0"/>
              <a:t>(endpoint)</a:t>
            </a:r>
            <a:r>
              <a:rPr lang="zh-CN" altLang="en-US" dirty="0"/>
              <a:t>，每一条 </a:t>
            </a:r>
            <a:r>
              <a:rPr lang="en-US" altLang="zh-CN" dirty="0"/>
              <a:t>TCP </a:t>
            </a:r>
            <a:r>
              <a:rPr lang="zh-CN" altLang="en-US" dirty="0"/>
              <a:t>连接只能是点对点的（一对一）。 </a:t>
            </a:r>
          </a:p>
          <a:p>
            <a:r>
              <a:rPr lang="en-US" altLang="zh-CN" dirty="0"/>
              <a:t>TCP </a:t>
            </a:r>
            <a:r>
              <a:rPr lang="zh-CN" altLang="en-US" dirty="0"/>
              <a:t>提供可靠交付的服务。</a:t>
            </a:r>
          </a:p>
          <a:p>
            <a:r>
              <a:rPr lang="en-US" altLang="zh-CN" dirty="0"/>
              <a:t>TCP </a:t>
            </a:r>
            <a:r>
              <a:rPr lang="zh-CN" altLang="en-US" dirty="0"/>
              <a:t>提供全双工通信。</a:t>
            </a:r>
          </a:p>
          <a:p>
            <a:r>
              <a:rPr lang="zh-CN" altLang="en-US" dirty="0"/>
              <a:t>面向字节流</a:t>
            </a:r>
          </a:p>
          <a:p>
            <a:r>
              <a:rPr lang="en-US" altLang="zh-CN" dirty="0"/>
              <a:t>TCP </a:t>
            </a:r>
            <a:r>
              <a:rPr lang="zh-CN" altLang="en-US" dirty="0"/>
              <a:t>中的“流”</a:t>
            </a:r>
            <a:r>
              <a:rPr lang="en-US" altLang="zh-CN" dirty="0"/>
              <a:t>(stream) </a:t>
            </a:r>
            <a:r>
              <a:rPr lang="zh-CN" altLang="en-US" dirty="0"/>
              <a:t>指的是流入或流出进程的字节序列。</a:t>
            </a:r>
          </a:p>
          <a:p>
            <a:r>
              <a:rPr lang="zh-CN" altLang="en-US" dirty="0"/>
              <a:t>面向字节流：虽然应用程序和 </a:t>
            </a:r>
            <a:r>
              <a:rPr lang="en-US" altLang="zh-CN" dirty="0"/>
              <a:t>TCP </a:t>
            </a:r>
            <a:r>
              <a:rPr lang="zh-CN" altLang="en-US" dirty="0"/>
              <a:t>的交互是一次一个数据块，但 </a:t>
            </a:r>
            <a:r>
              <a:rPr lang="en-US" altLang="zh-CN" dirty="0"/>
              <a:t>TCP </a:t>
            </a:r>
            <a:r>
              <a:rPr lang="zh-CN" altLang="en-US" dirty="0"/>
              <a:t>把应用程序交下来的数据看成仅仅是一连串无结构的字节流。</a:t>
            </a:r>
          </a:p>
          <a:p>
            <a:endParaRPr lang="zh-CN" altLang="en-US" dirty="0"/>
          </a:p>
        </p:txBody>
      </p:sp>
      <p:sp>
        <p:nvSpPr>
          <p:cNvPr id="5" name="标题 4">
            <a:extLst>
              <a:ext uri="{FF2B5EF4-FFF2-40B4-BE49-F238E27FC236}">
                <a16:creationId xmlns:a16="http://schemas.microsoft.com/office/drawing/2014/main" id="{A169247F-FD98-94AA-5654-AC3961C985A2}"/>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2633297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5" name="内容占位符 4">
            <a:extLst>
              <a:ext uri="{FF2B5EF4-FFF2-40B4-BE49-F238E27FC236}">
                <a16:creationId xmlns:a16="http://schemas.microsoft.com/office/drawing/2014/main" id="{4658076A-2871-4CE3-DA62-B74FF4F91BBC}"/>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不保证接收方应用程序所收到的数据块和发送方应用程序所发出的数据块具有对应大小的关系。</a:t>
            </a:r>
          </a:p>
          <a:p>
            <a:r>
              <a:rPr lang="zh-CN" altLang="en-US" dirty="0"/>
              <a:t>但接收方应用程序收到的字节流必须和发送方应用程序发出的字节流完全一样。</a:t>
            </a:r>
          </a:p>
          <a:p>
            <a:endParaRPr lang="zh-CN" altLang="en-US" dirty="0"/>
          </a:p>
        </p:txBody>
      </p:sp>
      <p:sp>
        <p:nvSpPr>
          <p:cNvPr id="8" name="标题 7">
            <a:extLst>
              <a:ext uri="{FF2B5EF4-FFF2-40B4-BE49-F238E27FC236}">
                <a16:creationId xmlns:a16="http://schemas.microsoft.com/office/drawing/2014/main" id="{0C24D6E9-7314-A9DD-09FD-4C708E55D6CD}"/>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636194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grpSp>
        <p:nvGrpSpPr>
          <p:cNvPr id="73" name="组合 72"/>
          <p:cNvGrpSpPr/>
          <p:nvPr/>
        </p:nvGrpSpPr>
        <p:grpSpPr>
          <a:xfrm>
            <a:off x="1371059" y="1133857"/>
            <a:ext cx="6364516" cy="3021160"/>
            <a:chOff x="1353129" y="1133857"/>
            <a:chExt cx="6364516" cy="3021160"/>
          </a:xfrm>
        </p:grpSpPr>
        <p:sp>
          <p:nvSpPr>
            <p:cNvPr id="5" name="AutoShape 47"/>
            <p:cNvSpPr>
              <a:spLocks noChangeArrowheads="1"/>
            </p:cNvSpPr>
            <p:nvPr/>
          </p:nvSpPr>
          <p:spPr bwMode="auto">
            <a:xfrm>
              <a:off x="5941645" y="3705611"/>
              <a:ext cx="197550" cy="90625"/>
            </a:xfrm>
            <a:prstGeom prst="rightArrow">
              <a:avLst>
                <a:gd name="adj1" fmla="val 50000"/>
                <a:gd name="adj2" fmla="val 50305"/>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107"/>
            <p:cNvSpPr>
              <a:spLocks noChangeArrowheads="1"/>
            </p:cNvSpPr>
            <p:nvPr/>
          </p:nvSpPr>
          <p:spPr bwMode="auto">
            <a:xfrm>
              <a:off x="3439663" y="1276633"/>
              <a:ext cx="2247619" cy="522608"/>
            </a:xfrm>
            <a:prstGeom prst="rect">
              <a:avLst/>
            </a:prstGeom>
            <a:solidFill>
              <a:srgbClr val="99FFCC"/>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100" b="1">
                <a:latin typeface="微软雅黑" pitchFamily="34" charset="-122"/>
                <a:ea typeface="微软雅黑" pitchFamily="34" charset="-122"/>
              </a:endParaRPr>
            </a:p>
          </p:txBody>
        </p:sp>
        <p:grpSp>
          <p:nvGrpSpPr>
            <p:cNvPr id="7" name="Group 80"/>
            <p:cNvGrpSpPr>
              <a:grpSpLocks/>
            </p:cNvGrpSpPr>
            <p:nvPr/>
          </p:nvGrpSpPr>
          <p:grpSpPr bwMode="auto">
            <a:xfrm>
              <a:off x="5325046" y="3643721"/>
              <a:ext cx="652517" cy="200037"/>
              <a:chOff x="2925" y="1570"/>
              <a:chExt cx="545" cy="181"/>
            </a:xfrm>
          </p:grpSpPr>
          <p:grpSp>
            <p:nvGrpSpPr>
              <p:cNvPr id="8" name="Group 81"/>
              <p:cNvGrpSpPr>
                <a:grpSpLocks/>
              </p:cNvGrpSpPr>
              <p:nvPr/>
            </p:nvGrpSpPr>
            <p:grpSpPr bwMode="auto">
              <a:xfrm>
                <a:off x="3061" y="1570"/>
                <a:ext cx="272" cy="181"/>
                <a:chOff x="3061" y="1842"/>
                <a:chExt cx="272" cy="181"/>
              </a:xfrm>
            </p:grpSpPr>
            <p:sp>
              <p:nvSpPr>
                <p:cNvPr id="11" name="Rectangle 82"/>
                <p:cNvSpPr>
                  <a:spLocks noChangeArrowheads="1"/>
                </p:cNvSpPr>
                <p:nvPr/>
              </p:nvSpPr>
              <p:spPr bwMode="auto">
                <a:xfrm>
                  <a:off x="3061"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a:t>
                  </a:r>
                </a:p>
              </p:txBody>
            </p:sp>
            <p:sp>
              <p:nvSpPr>
                <p:cNvPr id="12" name="Rectangle 83"/>
                <p:cNvSpPr>
                  <a:spLocks noChangeArrowheads="1"/>
                </p:cNvSpPr>
                <p:nvPr/>
              </p:nvSpPr>
              <p:spPr bwMode="auto">
                <a:xfrm>
                  <a:off x="3197"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6</a:t>
                  </a:r>
                </a:p>
              </p:txBody>
            </p:sp>
          </p:grpSp>
          <p:sp>
            <p:nvSpPr>
              <p:cNvPr id="9" name="Rectangle 84"/>
              <p:cNvSpPr>
                <a:spLocks noChangeArrowheads="1"/>
              </p:cNvSpPr>
              <p:nvPr/>
            </p:nvSpPr>
            <p:spPr bwMode="auto">
              <a:xfrm>
                <a:off x="2925" y="157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8</a:t>
                </a:r>
              </a:p>
            </p:txBody>
          </p:sp>
          <p:sp>
            <p:nvSpPr>
              <p:cNvPr id="10" name="Rectangle 85"/>
              <p:cNvSpPr>
                <a:spLocks noChangeArrowheads="1"/>
              </p:cNvSpPr>
              <p:nvPr/>
            </p:nvSpPr>
            <p:spPr bwMode="auto">
              <a:xfrm>
                <a:off x="3334" y="1570"/>
                <a:ext cx="136" cy="181"/>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sp>
          <p:nvSpPr>
            <p:cNvPr id="13" name="Text Box 62"/>
            <p:cNvSpPr txBox="1">
              <a:spLocks noChangeArrowheads="1"/>
            </p:cNvSpPr>
            <p:nvPr/>
          </p:nvSpPr>
          <p:spPr bwMode="auto">
            <a:xfrm>
              <a:off x="6422399"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4" name="Freeform 44"/>
            <p:cNvSpPr>
              <a:spLocks/>
            </p:cNvSpPr>
            <p:nvPr/>
          </p:nvSpPr>
          <p:spPr bwMode="auto">
            <a:xfrm>
              <a:off x="6467249" y="3392844"/>
              <a:ext cx="269388" cy="618901"/>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Text Box 45"/>
            <p:cNvSpPr txBox="1">
              <a:spLocks noChangeArrowheads="1"/>
            </p:cNvSpPr>
            <p:nvPr/>
          </p:nvSpPr>
          <p:spPr bwMode="auto">
            <a:xfrm>
              <a:off x="1696743"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6" name="AutoShape 46"/>
            <p:cNvSpPr>
              <a:spLocks noChangeArrowheads="1"/>
            </p:cNvSpPr>
            <p:nvPr/>
          </p:nvSpPr>
          <p:spPr bwMode="auto">
            <a:xfrm>
              <a:off x="4428286" y="3706716"/>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 name="AutoShape 48"/>
            <p:cNvSpPr>
              <a:spLocks noChangeArrowheads="1"/>
            </p:cNvSpPr>
            <p:nvPr/>
          </p:nvSpPr>
          <p:spPr bwMode="auto">
            <a:xfrm>
              <a:off x="3062191" y="3705611"/>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Line 49"/>
            <p:cNvSpPr>
              <a:spLocks noChangeShapeType="1"/>
            </p:cNvSpPr>
            <p:nvPr/>
          </p:nvSpPr>
          <p:spPr bwMode="auto">
            <a:xfrm>
              <a:off x="2012179" y="1889800"/>
              <a:ext cx="2395" cy="1035554"/>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 name="Text Box 50"/>
            <p:cNvSpPr txBox="1">
              <a:spLocks noChangeArrowheads="1"/>
            </p:cNvSpPr>
            <p:nvPr/>
          </p:nvSpPr>
          <p:spPr bwMode="auto">
            <a:xfrm>
              <a:off x="4846599" y="3376267"/>
              <a:ext cx="13424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发送 </a:t>
              </a:r>
              <a:r>
                <a:rPr kumimoji="1" lang="en-US" altLang="zh-CN" sz="1200" b="1" dirty="0">
                  <a:solidFill>
                    <a:srgbClr val="0000FF"/>
                  </a:solidFill>
                  <a:latin typeface="微软雅黑" pitchFamily="34" charset="-122"/>
                  <a:ea typeface="微软雅黑" pitchFamily="34" charset="-122"/>
                </a:rPr>
                <a:t>TCP </a:t>
              </a:r>
              <a:r>
                <a:rPr kumimoji="1" lang="zh-CN" altLang="en-US" sz="1200" b="1">
                  <a:solidFill>
                    <a:srgbClr val="0000FF"/>
                  </a:solidFill>
                  <a:latin typeface="微软雅黑" pitchFamily="34" charset="-122"/>
                  <a:ea typeface="微软雅黑" pitchFamily="34" charset="-122"/>
                </a:rPr>
                <a:t>报文段</a:t>
              </a:r>
            </a:p>
          </p:txBody>
        </p:sp>
        <p:sp>
          <p:nvSpPr>
            <p:cNvPr id="20" name="Rectangle 51"/>
            <p:cNvSpPr>
              <a:spLocks noChangeArrowheads="1"/>
            </p:cNvSpPr>
            <p:nvPr/>
          </p:nvSpPr>
          <p:spPr bwMode="auto">
            <a:xfrm>
              <a:off x="1390791" y="2917618"/>
              <a:ext cx="1254747"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1" name="Line 52"/>
            <p:cNvSpPr>
              <a:spLocks noChangeShapeType="1"/>
            </p:cNvSpPr>
            <p:nvPr/>
          </p:nvSpPr>
          <p:spPr bwMode="auto">
            <a:xfrm flipV="1">
              <a:off x="6756991" y="1889801"/>
              <a:ext cx="0" cy="1027817"/>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2" name="Rectangle 53"/>
            <p:cNvSpPr>
              <a:spLocks noChangeArrowheads="1"/>
            </p:cNvSpPr>
            <p:nvPr/>
          </p:nvSpPr>
          <p:spPr bwMode="auto">
            <a:xfrm>
              <a:off x="6129618" y="2917618"/>
              <a:ext cx="1253550"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3" name="Text Box 54"/>
            <p:cNvSpPr txBox="1">
              <a:spLocks noChangeArrowheads="1"/>
            </p:cNvSpPr>
            <p:nvPr/>
          </p:nvSpPr>
          <p:spPr bwMode="auto">
            <a:xfrm>
              <a:off x="1687816"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发送方</a:t>
              </a:r>
            </a:p>
          </p:txBody>
        </p:sp>
        <p:sp>
          <p:nvSpPr>
            <p:cNvPr id="24" name="Text Box 55"/>
            <p:cNvSpPr txBox="1">
              <a:spLocks noChangeArrowheads="1"/>
            </p:cNvSpPr>
            <p:nvPr/>
          </p:nvSpPr>
          <p:spPr bwMode="auto">
            <a:xfrm>
              <a:off x="6421852"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接收方</a:t>
              </a:r>
            </a:p>
          </p:txBody>
        </p:sp>
        <p:sp>
          <p:nvSpPr>
            <p:cNvPr id="25" name="AutoShape 56"/>
            <p:cNvSpPr>
              <a:spLocks noChangeArrowheads="1"/>
            </p:cNvSpPr>
            <p:nvPr/>
          </p:nvSpPr>
          <p:spPr bwMode="auto">
            <a:xfrm>
              <a:off x="2554545" y="2390447"/>
              <a:ext cx="909931" cy="424389"/>
            </a:xfrm>
            <a:prstGeom prst="wedgeRoundRectCallout">
              <a:avLst>
                <a:gd name="adj1" fmla="val -85792"/>
                <a:gd name="adj2" fmla="val 120833"/>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6" name="Text Box 57"/>
            <p:cNvSpPr txBox="1">
              <a:spLocks noChangeArrowheads="1"/>
            </p:cNvSpPr>
            <p:nvPr/>
          </p:nvSpPr>
          <p:spPr bwMode="auto">
            <a:xfrm>
              <a:off x="2548022" y="237828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把字节写入</a:t>
              </a:r>
            </a:p>
            <a:p>
              <a:pPr algn="ctr"/>
              <a:r>
                <a:rPr kumimoji="1" lang="zh-CN" altLang="en-US" sz="1200" b="1" dirty="0">
                  <a:latin typeface="微软雅黑" pitchFamily="34" charset="-122"/>
                  <a:ea typeface="微软雅黑" pitchFamily="34" charset="-122"/>
                </a:rPr>
                <a:t>发送缓存</a:t>
              </a:r>
            </a:p>
          </p:txBody>
        </p:sp>
        <p:sp>
          <p:nvSpPr>
            <p:cNvPr id="27" name="AutoShape 58"/>
            <p:cNvSpPr>
              <a:spLocks noChangeArrowheads="1"/>
            </p:cNvSpPr>
            <p:nvPr/>
          </p:nvSpPr>
          <p:spPr bwMode="auto">
            <a:xfrm>
              <a:off x="5650706" y="2190409"/>
              <a:ext cx="890775" cy="424389"/>
            </a:xfrm>
            <a:prstGeom prst="wedgeRoundRectCallout">
              <a:avLst>
                <a:gd name="adj1" fmla="val 80912"/>
                <a:gd name="adj2" fmla="val 17838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8" name="Text Box 59"/>
            <p:cNvSpPr txBox="1">
              <a:spLocks noChangeArrowheads="1"/>
            </p:cNvSpPr>
            <p:nvPr/>
          </p:nvSpPr>
          <p:spPr bwMode="auto">
            <a:xfrm>
              <a:off x="5620236" y="219040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从接收缓存</a:t>
              </a:r>
            </a:p>
            <a:p>
              <a:pPr algn="ctr"/>
              <a:r>
                <a:rPr kumimoji="1" lang="zh-CN" altLang="en-US" sz="1200" b="1" dirty="0">
                  <a:latin typeface="微软雅黑" pitchFamily="34" charset="-122"/>
                  <a:ea typeface="微软雅黑" pitchFamily="34" charset="-122"/>
                </a:rPr>
                <a:t>读取字节</a:t>
              </a:r>
            </a:p>
          </p:txBody>
        </p:sp>
        <p:sp>
          <p:nvSpPr>
            <p:cNvPr id="29" name="Text Box 60"/>
            <p:cNvSpPr txBox="1">
              <a:spLocks noChangeArrowheads="1"/>
            </p:cNvSpPr>
            <p:nvPr/>
          </p:nvSpPr>
          <p:spPr bwMode="auto">
            <a:xfrm>
              <a:off x="2175008" y="155161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应用进程</a:t>
              </a:r>
            </a:p>
          </p:txBody>
        </p:sp>
        <p:sp>
          <p:nvSpPr>
            <p:cNvPr id="30" name="Text Box 61"/>
            <p:cNvSpPr txBox="1">
              <a:spLocks noChangeArrowheads="1"/>
            </p:cNvSpPr>
            <p:nvPr/>
          </p:nvSpPr>
          <p:spPr bwMode="auto">
            <a:xfrm>
              <a:off x="6917426" y="15129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应用进程</a:t>
              </a:r>
            </a:p>
          </p:txBody>
        </p:sp>
        <p:grpSp>
          <p:nvGrpSpPr>
            <p:cNvPr id="31" name="Group 63"/>
            <p:cNvGrpSpPr>
              <a:grpSpLocks/>
            </p:cNvGrpSpPr>
            <p:nvPr/>
          </p:nvGrpSpPr>
          <p:grpSpPr bwMode="auto">
            <a:xfrm>
              <a:off x="6865943" y="1990372"/>
              <a:ext cx="162830" cy="801255"/>
              <a:chOff x="3107" y="210"/>
              <a:chExt cx="136" cy="725"/>
            </a:xfrm>
          </p:grpSpPr>
          <p:sp>
            <p:nvSpPr>
              <p:cNvPr id="32" name="Rectangle 64"/>
              <p:cNvSpPr>
                <a:spLocks noChangeArrowheads="1"/>
              </p:cNvSpPr>
              <p:nvPr/>
            </p:nvSpPr>
            <p:spPr bwMode="auto">
              <a:xfrm>
                <a:off x="3107" y="391"/>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1</a:t>
                </a:r>
              </a:p>
            </p:txBody>
          </p:sp>
          <p:sp>
            <p:nvSpPr>
              <p:cNvPr id="33" name="Rectangle 65"/>
              <p:cNvSpPr>
                <a:spLocks noChangeArrowheads="1"/>
              </p:cNvSpPr>
              <p:nvPr/>
            </p:nvSpPr>
            <p:spPr bwMode="auto">
              <a:xfrm>
                <a:off x="3107" y="573"/>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2</a:t>
                </a:r>
              </a:p>
            </p:txBody>
          </p:sp>
          <p:sp>
            <p:nvSpPr>
              <p:cNvPr id="34" name="Rectangle 66"/>
              <p:cNvSpPr>
                <a:spLocks noChangeArrowheads="1"/>
              </p:cNvSpPr>
              <p:nvPr/>
            </p:nvSpPr>
            <p:spPr bwMode="auto">
              <a:xfrm>
                <a:off x="3107" y="754"/>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3</a:t>
                </a:r>
              </a:p>
            </p:txBody>
          </p:sp>
          <p:sp>
            <p:nvSpPr>
              <p:cNvPr id="35" name="Rectangle 67"/>
              <p:cNvSpPr>
                <a:spLocks noChangeArrowheads="1"/>
              </p:cNvSpPr>
              <p:nvPr/>
            </p:nvSpPr>
            <p:spPr bwMode="auto">
              <a:xfrm>
                <a:off x="3107" y="21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0</a:t>
                </a:r>
              </a:p>
            </p:txBody>
          </p:sp>
        </p:grpSp>
        <p:sp>
          <p:nvSpPr>
            <p:cNvPr id="36" name="Rectangle 68"/>
            <p:cNvSpPr>
              <a:spLocks noChangeArrowheads="1"/>
            </p:cNvSpPr>
            <p:nvPr/>
          </p:nvSpPr>
          <p:spPr bwMode="auto">
            <a:xfrm>
              <a:off x="157756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18</a:t>
              </a:r>
            </a:p>
          </p:txBody>
        </p:sp>
        <p:sp>
          <p:nvSpPr>
            <p:cNvPr id="37" name="Rectangle 69"/>
            <p:cNvSpPr>
              <a:spLocks noChangeArrowheads="1"/>
            </p:cNvSpPr>
            <p:nvPr/>
          </p:nvSpPr>
          <p:spPr bwMode="auto">
            <a:xfrm>
              <a:off x="174039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17</a:t>
              </a:r>
            </a:p>
          </p:txBody>
        </p:sp>
        <p:sp>
          <p:nvSpPr>
            <p:cNvPr id="38" name="Rectangle 70"/>
            <p:cNvSpPr>
              <a:spLocks noChangeArrowheads="1"/>
            </p:cNvSpPr>
            <p:nvPr/>
          </p:nvSpPr>
          <p:spPr bwMode="auto">
            <a:xfrm>
              <a:off x="190322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16</a:t>
              </a:r>
            </a:p>
          </p:txBody>
        </p:sp>
        <p:sp>
          <p:nvSpPr>
            <p:cNvPr id="39" name="Rectangle 71"/>
            <p:cNvSpPr>
              <a:spLocks noChangeArrowheads="1"/>
            </p:cNvSpPr>
            <p:nvPr/>
          </p:nvSpPr>
          <p:spPr bwMode="auto">
            <a:xfrm>
              <a:off x="206605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15</a:t>
              </a:r>
            </a:p>
          </p:txBody>
        </p:sp>
        <p:sp>
          <p:nvSpPr>
            <p:cNvPr id="40" name="Rectangle 72"/>
            <p:cNvSpPr>
              <a:spLocks noChangeArrowheads="1"/>
            </p:cNvSpPr>
            <p:nvPr/>
          </p:nvSpPr>
          <p:spPr bwMode="auto">
            <a:xfrm>
              <a:off x="2228885" y="3130373"/>
              <a:ext cx="162830" cy="200038"/>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14</a:t>
              </a:r>
            </a:p>
          </p:txBody>
        </p:sp>
        <p:grpSp>
          <p:nvGrpSpPr>
            <p:cNvPr id="41" name="Group 73"/>
            <p:cNvGrpSpPr>
              <a:grpSpLocks/>
            </p:cNvGrpSpPr>
            <p:nvPr/>
          </p:nvGrpSpPr>
          <p:grpSpPr bwMode="auto">
            <a:xfrm>
              <a:off x="2119934" y="2053366"/>
              <a:ext cx="162830" cy="601218"/>
              <a:chOff x="1429" y="176"/>
              <a:chExt cx="136" cy="544"/>
            </a:xfrm>
          </p:grpSpPr>
          <p:sp>
            <p:nvSpPr>
              <p:cNvPr id="42" name="Rectangle 74"/>
              <p:cNvSpPr>
                <a:spLocks noChangeArrowheads="1"/>
              </p:cNvSpPr>
              <p:nvPr/>
            </p:nvSpPr>
            <p:spPr bwMode="auto">
              <a:xfrm>
                <a:off x="1429" y="539"/>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19</a:t>
                </a:r>
              </a:p>
            </p:txBody>
          </p:sp>
          <p:sp>
            <p:nvSpPr>
              <p:cNvPr id="43" name="Rectangle 75"/>
              <p:cNvSpPr>
                <a:spLocks noChangeArrowheads="1"/>
              </p:cNvSpPr>
              <p:nvPr/>
            </p:nvSpPr>
            <p:spPr bwMode="auto">
              <a:xfrm>
                <a:off x="1429" y="358"/>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20</a:t>
                </a:r>
              </a:p>
            </p:txBody>
          </p:sp>
          <p:sp>
            <p:nvSpPr>
              <p:cNvPr id="44" name="Rectangle 76"/>
              <p:cNvSpPr>
                <a:spLocks noChangeArrowheads="1"/>
              </p:cNvSpPr>
              <p:nvPr/>
            </p:nvSpPr>
            <p:spPr bwMode="auto">
              <a:xfrm>
                <a:off x="1429" y="176"/>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21</a:t>
                </a:r>
              </a:p>
            </p:txBody>
          </p:sp>
        </p:grpSp>
        <p:grpSp>
          <p:nvGrpSpPr>
            <p:cNvPr id="45" name="Group 77"/>
            <p:cNvGrpSpPr>
              <a:grpSpLocks/>
            </p:cNvGrpSpPr>
            <p:nvPr/>
          </p:nvGrpSpPr>
          <p:grpSpPr bwMode="auto">
            <a:xfrm>
              <a:off x="6595358" y="3141969"/>
              <a:ext cx="325659" cy="200037"/>
              <a:chOff x="2789" y="1842"/>
              <a:chExt cx="272" cy="181"/>
            </a:xfrm>
          </p:grpSpPr>
          <p:sp>
            <p:nvSpPr>
              <p:cNvPr id="46" name="Rectangle 78"/>
              <p:cNvSpPr>
                <a:spLocks noChangeArrowheads="1"/>
              </p:cNvSpPr>
              <p:nvPr/>
            </p:nvSpPr>
            <p:spPr bwMode="auto">
              <a:xfrm>
                <a:off x="2925"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4</a:t>
                </a:r>
              </a:p>
            </p:txBody>
          </p:sp>
          <p:sp>
            <p:nvSpPr>
              <p:cNvPr id="47" name="Rectangle 79"/>
              <p:cNvSpPr>
                <a:spLocks noChangeArrowheads="1"/>
              </p:cNvSpPr>
              <p:nvPr/>
            </p:nvSpPr>
            <p:spPr bwMode="auto">
              <a:xfrm>
                <a:off x="2789"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5</a:t>
                </a:r>
              </a:p>
            </p:txBody>
          </p:sp>
        </p:grpSp>
        <p:grpSp>
          <p:nvGrpSpPr>
            <p:cNvPr id="48" name="Group 86"/>
            <p:cNvGrpSpPr>
              <a:grpSpLocks/>
            </p:cNvGrpSpPr>
            <p:nvPr/>
          </p:nvGrpSpPr>
          <p:grpSpPr bwMode="auto">
            <a:xfrm>
              <a:off x="2446790" y="3643721"/>
              <a:ext cx="651319" cy="200037"/>
              <a:chOff x="2200" y="1298"/>
              <a:chExt cx="544" cy="181"/>
            </a:xfrm>
          </p:grpSpPr>
          <p:sp>
            <p:nvSpPr>
              <p:cNvPr id="49" name="Rectangle 87"/>
              <p:cNvSpPr>
                <a:spLocks noChangeArrowheads="1"/>
              </p:cNvSpPr>
              <p:nvPr/>
            </p:nvSpPr>
            <p:spPr bwMode="auto">
              <a:xfrm>
                <a:off x="2200"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13</a:t>
                </a:r>
              </a:p>
            </p:txBody>
          </p:sp>
          <p:sp>
            <p:nvSpPr>
              <p:cNvPr id="50" name="Rectangle 88"/>
              <p:cNvSpPr>
                <a:spLocks noChangeArrowheads="1"/>
              </p:cNvSpPr>
              <p:nvPr/>
            </p:nvSpPr>
            <p:spPr bwMode="auto">
              <a:xfrm>
                <a:off x="2336"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12</a:t>
                </a:r>
              </a:p>
            </p:txBody>
          </p:sp>
          <p:sp>
            <p:nvSpPr>
              <p:cNvPr id="51" name="Rectangle 89"/>
              <p:cNvSpPr>
                <a:spLocks noChangeArrowheads="1"/>
              </p:cNvSpPr>
              <p:nvPr/>
            </p:nvSpPr>
            <p:spPr bwMode="auto">
              <a:xfrm>
                <a:off x="2472"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11</a:t>
                </a:r>
              </a:p>
            </p:txBody>
          </p:sp>
          <p:sp>
            <p:nvSpPr>
              <p:cNvPr id="52" name="Rectangle 90"/>
              <p:cNvSpPr>
                <a:spLocks noChangeArrowheads="1"/>
              </p:cNvSpPr>
              <p:nvPr/>
            </p:nvSpPr>
            <p:spPr bwMode="auto">
              <a:xfrm>
                <a:off x="2608" y="1298"/>
                <a:ext cx="136" cy="181"/>
              </a:xfrm>
              <a:prstGeom prst="rect">
                <a:avLst/>
              </a:prstGeom>
              <a:solidFill>
                <a:srgbClr val="FF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grpSp>
          <p:nvGrpSpPr>
            <p:cNvPr id="53" name="Group 91"/>
            <p:cNvGrpSpPr>
              <a:grpSpLocks/>
            </p:cNvGrpSpPr>
            <p:nvPr/>
          </p:nvGrpSpPr>
          <p:grpSpPr bwMode="auto">
            <a:xfrm>
              <a:off x="3967333" y="3644825"/>
              <a:ext cx="325659" cy="200038"/>
              <a:chOff x="2290" y="482"/>
              <a:chExt cx="272" cy="181"/>
            </a:xfrm>
          </p:grpSpPr>
          <p:sp>
            <p:nvSpPr>
              <p:cNvPr id="54" name="Rectangle 92"/>
              <p:cNvSpPr>
                <a:spLocks noChangeArrowheads="1"/>
              </p:cNvSpPr>
              <p:nvPr/>
            </p:nvSpPr>
            <p:spPr bwMode="auto">
              <a:xfrm>
                <a:off x="2290"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10</a:t>
                </a:r>
              </a:p>
            </p:txBody>
          </p:sp>
          <p:sp>
            <p:nvSpPr>
              <p:cNvPr id="55" name="Rectangle 93"/>
              <p:cNvSpPr>
                <a:spLocks noChangeArrowheads="1"/>
              </p:cNvSpPr>
              <p:nvPr/>
            </p:nvSpPr>
            <p:spPr bwMode="auto">
              <a:xfrm>
                <a:off x="2426"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a:t>
                </a:r>
              </a:p>
            </p:txBody>
          </p:sp>
        </p:grpSp>
        <p:sp>
          <p:nvSpPr>
            <p:cNvPr id="56" name="Rectangle 94"/>
            <p:cNvSpPr>
              <a:spLocks noChangeArrowheads="1"/>
            </p:cNvSpPr>
            <p:nvPr/>
          </p:nvSpPr>
          <p:spPr bwMode="auto">
            <a:xfrm>
              <a:off x="4292992" y="3644825"/>
              <a:ext cx="162830" cy="200038"/>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57" name="AutoShape 95"/>
            <p:cNvSpPr>
              <a:spLocks noChangeArrowheads="1"/>
            </p:cNvSpPr>
            <p:nvPr/>
          </p:nvSpPr>
          <p:spPr bwMode="auto">
            <a:xfrm>
              <a:off x="3423769" y="2892198"/>
              <a:ext cx="1412788" cy="424389"/>
            </a:xfrm>
            <a:prstGeom prst="wedgeRoundRectCallout">
              <a:avLst>
                <a:gd name="adj1" fmla="val -73306"/>
                <a:gd name="adj2" fmla="val 126301"/>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58" name="Text Box 96"/>
            <p:cNvSpPr txBox="1">
              <a:spLocks noChangeArrowheads="1"/>
            </p:cNvSpPr>
            <p:nvPr/>
          </p:nvSpPr>
          <p:spPr bwMode="auto">
            <a:xfrm>
              <a:off x="3425430" y="2878936"/>
              <a:ext cx="13424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加上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首部</a:t>
              </a:r>
            </a:p>
            <a:p>
              <a:pPr algn="ctr"/>
              <a:r>
                <a:rPr kumimoji="1" lang="zh-CN" altLang="en-US" sz="1200" b="1" dirty="0">
                  <a:latin typeface="微软雅黑" pitchFamily="34" charset="-122"/>
                  <a:ea typeface="微软雅黑" pitchFamily="34" charset="-122"/>
                </a:rPr>
                <a:t>构成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59" name="Line 97"/>
            <p:cNvSpPr>
              <a:spLocks noChangeShapeType="1"/>
            </p:cNvSpPr>
            <p:nvPr/>
          </p:nvSpPr>
          <p:spPr bwMode="auto">
            <a:xfrm>
              <a:off x="2385873" y="2148412"/>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0" name="Line 98"/>
            <p:cNvSpPr>
              <a:spLocks noChangeShapeType="1"/>
            </p:cNvSpPr>
            <p:nvPr/>
          </p:nvSpPr>
          <p:spPr bwMode="auto">
            <a:xfrm flipV="1">
              <a:off x="7112726" y="2190409"/>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1" name="Text Box 99"/>
            <p:cNvSpPr txBox="1">
              <a:spLocks noChangeArrowheads="1"/>
            </p:cNvSpPr>
            <p:nvPr/>
          </p:nvSpPr>
          <p:spPr bwMode="auto">
            <a:xfrm>
              <a:off x="1353129" y="2868989"/>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2" name="Text Box 100"/>
            <p:cNvSpPr txBox="1">
              <a:spLocks noChangeArrowheads="1"/>
            </p:cNvSpPr>
            <p:nvPr/>
          </p:nvSpPr>
          <p:spPr bwMode="auto">
            <a:xfrm>
              <a:off x="6090757" y="2875621"/>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3" name="Text Box 101"/>
            <p:cNvSpPr txBox="1">
              <a:spLocks noChangeArrowheads="1"/>
            </p:cNvSpPr>
            <p:nvPr/>
          </p:nvSpPr>
          <p:spPr bwMode="auto">
            <a:xfrm>
              <a:off x="2337838"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4" name="Text Box 102"/>
            <p:cNvSpPr txBox="1">
              <a:spLocks noChangeArrowheads="1"/>
            </p:cNvSpPr>
            <p:nvPr/>
          </p:nvSpPr>
          <p:spPr bwMode="auto">
            <a:xfrm>
              <a:off x="7027575"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5" name="Rectangle 103"/>
            <p:cNvSpPr>
              <a:spLocks noChangeArrowheads="1"/>
            </p:cNvSpPr>
            <p:nvPr/>
          </p:nvSpPr>
          <p:spPr bwMode="auto">
            <a:xfrm>
              <a:off x="3547418" y="1313850"/>
              <a:ext cx="162830" cy="20003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66" name="Text Box 104"/>
            <p:cNvSpPr txBox="1">
              <a:spLocks noChangeArrowheads="1"/>
            </p:cNvSpPr>
            <p:nvPr/>
          </p:nvSpPr>
          <p:spPr bwMode="auto">
            <a:xfrm>
              <a:off x="3765323" y="1269839"/>
              <a:ext cx="18040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报文段的首部</a:t>
              </a:r>
            </a:p>
          </p:txBody>
        </p:sp>
        <p:sp>
          <p:nvSpPr>
            <p:cNvPr id="67" name="Rectangle 105"/>
            <p:cNvSpPr>
              <a:spLocks noChangeArrowheads="1"/>
            </p:cNvSpPr>
            <p:nvPr/>
          </p:nvSpPr>
          <p:spPr bwMode="auto">
            <a:xfrm>
              <a:off x="3547418" y="1552838"/>
              <a:ext cx="162830" cy="200037"/>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x</a:t>
              </a:r>
            </a:p>
          </p:txBody>
        </p:sp>
        <p:sp>
          <p:nvSpPr>
            <p:cNvPr id="68" name="Text Box 106"/>
            <p:cNvSpPr txBox="1">
              <a:spLocks noChangeArrowheads="1"/>
            </p:cNvSpPr>
            <p:nvPr/>
          </p:nvSpPr>
          <p:spPr bwMode="auto">
            <a:xfrm>
              <a:off x="3765323" y="1517972"/>
              <a:ext cx="19062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表示序号为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的数据字节</a:t>
              </a:r>
            </a:p>
          </p:txBody>
        </p:sp>
        <p:sp>
          <p:nvSpPr>
            <p:cNvPr id="69" name="AutoShape 108"/>
            <p:cNvSpPr>
              <a:spLocks noChangeArrowheads="1"/>
            </p:cNvSpPr>
            <p:nvPr/>
          </p:nvSpPr>
          <p:spPr bwMode="auto">
            <a:xfrm rot="16200000">
              <a:off x="4275908" y="1738621"/>
              <a:ext cx="250876" cy="4562826"/>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Text Box 109"/>
            <p:cNvSpPr txBox="1">
              <a:spLocks noChangeArrowheads="1"/>
            </p:cNvSpPr>
            <p:nvPr/>
          </p:nvSpPr>
          <p:spPr bwMode="auto">
            <a:xfrm>
              <a:off x="3107617" y="3878018"/>
              <a:ext cx="237314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71" name="Freeform 110"/>
            <p:cNvSpPr>
              <a:spLocks/>
            </p:cNvSpPr>
            <p:nvPr/>
          </p:nvSpPr>
          <p:spPr bwMode="auto">
            <a:xfrm>
              <a:off x="2018165" y="3392845"/>
              <a:ext cx="150857" cy="621111"/>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72" name="标题 71">
            <a:extLst>
              <a:ext uri="{FF2B5EF4-FFF2-40B4-BE49-F238E27FC236}">
                <a16:creationId xmlns:a16="http://schemas.microsoft.com/office/drawing/2014/main" id="{FE78A1CD-5591-3AA5-B949-644FB2353156}"/>
              </a:ext>
            </a:extLst>
          </p:cNvPr>
          <p:cNvSpPr>
            <a:spLocks noGrp="1"/>
          </p:cNvSpPr>
          <p:nvPr>
            <p:ph type="title"/>
          </p:nvPr>
        </p:nvSpPr>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3" name="内容占位符 2">
            <a:extLst>
              <a:ext uri="{FF2B5EF4-FFF2-40B4-BE49-F238E27FC236}">
                <a16:creationId xmlns:a16="http://schemas.microsoft.com/office/drawing/2014/main" id="{A8586DB0-BF05-A8F5-257A-F5021A6D96E9}"/>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不关心应用进程一次把多长的报文发送到 </a:t>
            </a:r>
            <a:r>
              <a:rPr lang="en-US" altLang="zh-CN" dirty="0"/>
              <a:t>TCP </a:t>
            </a:r>
            <a:r>
              <a:rPr lang="zh-CN" altLang="en-US" dirty="0"/>
              <a:t>缓存</a:t>
            </a:r>
            <a:endParaRPr lang="en-US" altLang="zh-CN" dirty="0"/>
          </a:p>
          <a:p>
            <a:r>
              <a:rPr lang="en-US" altLang="zh-CN" dirty="0"/>
              <a:t>TCP </a:t>
            </a:r>
            <a:r>
              <a:rPr lang="zh-CN" altLang="en-US" dirty="0"/>
              <a:t>根据对方给出的窗口值和当前网络拥塞程度来决定一个报文段应包含多少个字节，形成 </a:t>
            </a:r>
            <a:r>
              <a:rPr lang="en-US" altLang="zh-CN" dirty="0"/>
              <a:t>TCP </a:t>
            </a:r>
            <a:r>
              <a:rPr lang="zh-CN" altLang="en-US" dirty="0"/>
              <a:t>报文段</a:t>
            </a:r>
          </a:p>
          <a:p>
            <a:endParaRPr lang="zh-CN" altLang="en-US" dirty="0"/>
          </a:p>
        </p:txBody>
      </p:sp>
      <p:sp>
        <p:nvSpPr>
          <p:cNvPr id="2" name="标题 1">
            <a:extLst>
              <a:ext uri="{FF2B5EF4-FFF2-40B4-BE49-F238E27FC236}">
                <a16:creationId xmlns:a16="http://schemas.microsoft.com/office/drawing/2014/main" id="{11D59015-2F8E-4CCA-4DDE-86BA889547CE}"/>
              </a:ext>
            </a:extLst>
          </p:cNvPr>
          <p:cNvSpPr>
            <a:spLocks noGrp="1"/>
          </p:cNvSpPr>
          <p:nvPr>
            <p:ph type="title"/>
          </p:nvPr>
        </p:nvSpPr>
        <p:spPr>
          <a:xfrm>
            <a:off x="486000" y="550723"/>
            <a:ext cx="8172000" cy="338554"/>
          </a:xfrm>
        </p:spPr>
        <p:txBody>
          <a:bodyPr/>
          <a:lstStyle/>
          <a:p>
            <a:r>
              <a:rPr lang="en-US" altLang="zh-CN" dirty="0"/>
              <a:t>5.3.1  TCP </a:t>
            </a:r>
            <a:r>
              <a:rPr lang="zh-CN" altLang="en-US" dirty="0"/>
              <a:t>最主要的特点</a:t>
            </a:r>
          </a:p>
        </p:txBody>
      </p:sp>
      <p:sp>
        <p:nvSpPr>
          <p:cNvPr id="53" name="Text Box 8"/>
          <p:cNvSpPr txBox="1">
            <a:spLocks noChangeArrowheads="1"/>
          </p:cNvSpPr>
          <p:nvPr/>
        </p:nvSpPr>
        <p:spPr bwMode="auto">
          <a:xfrm>
            <a:off x="1751861" y="2826961"/>
            <a:ext cx="4821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port</a:t>
            </a:r>
            <a:endParaRPr lang="zh-CN" altLang="en-US" sz="1200" b="0" dirty="0">
              <a:latin typeface="微软雅黑 Light" panose="020B0502040204020203" pitchFamily="34" charset="-122"/>
              <a:ea typeface="微软雅黑 Light" panose="020B0502040204020203" pitchFamily="34" charset="-122"/>
            </a:endParaRPr>
          </a:p>
        </p:txBody>
      </p:sp>
      <p:sp>
        <p:nvSpPr>
          <p:cNvPr id="54" name="Line 9"/>
          <p:cNvSpPr>
            <a:spLocks noChangeShapeType="1"/>
          </p:cNvSpPr>
          <p:nvPr/>
        </p:nvSpPr>
        <p:spPr bwMode="auto">
          <a:xfrm>
            <a:off x="2285044" y="2339422"/>
            <a:ext cx="5311" cy="797207"/>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5" name="Text Box 10"/>
          <p:cNvSpPr txBox="1">
            <a:spLocks noChangeArrowheads="1"/>
          </p:cNvSpPr>
          <p:nvPr/>
        </p:nvSpPr>
        <p:spPr bwMode="auto">
          <a:xfrm rot="5400000">
            <a:off x="2356733" y="273025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56" name="Rectangle 12"/>
          <p:cNvSpPr>
            <a:spLocks noChangeArrowheads="1"/>
          </p:cNvSpPr>
          <p:nvPr/>
        </p:nvSpPr>
        <p:spPr bwMode="auto">
          <a:xfrm>
            <a:off x="2394441" y="2457289"/>
            <a:ext cx="436530" cy="114652"/>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7" name="Rectangle 13"/>
          <p:cNvSpPr>
            <a:spLocks noChangeArrowheads="1"/>
          </p:cNvSpPr>
          <p:nvPr/>
        </p:nvSpPr>
        <p:spPr bwMode="auto">
          <a:xfrm>
            <a:off x="2394441" y="2629802"/>
            <a:ext cx="108336"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8" name="Rectangle 14"/>
          <p:cNvSpPr>
            <a:spLocks noChangeArrowheads="1"/>
          </p:cNvSpPr>
          <p:nvPr/>
        </p:nvSpPr>
        <p:spPr bwMode="auto">
          <a:xfrm>
            <a:off x="2394441" y="2978045"/>
            <a:ext cx="272964"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9" name="Rectangle 15"/>
          <p:cNvSpPr>
            <a:spLocks noChangeArrowheads="1"/>
          </p:cNvSpPr>
          <p:nvPr/>
        </p:nvSpPr>
        <p:spPr bwMode="auto">
          <a:xfrm>
            <a:off x="1628656" y="3197776"/>
            <a:ext cx="1312775"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buffer</a:t>
            </a:r>
            <a:endParaRPr lang="zh-CN" altLang="en-US" sz="1200" dirty="0">
              <a:latin typeface="微软雅黑 Light" panose="020B0502040204020203" pitchFamily="34" charset="-122"/>
              <a:ea typeface="微软雅黑 Light" panose="020B0502040204020203" pitchFamily="34" charset="-122"/>
            </a:endParaRPr>
          </a:p>
        </p:txBody>
      </p:sp>
      <p:sp>
        <p:nvSpPr>
          <p:cNvPr id="60" name="Line 16"/>
          <p:cNvSpPr>
            <a:spLocks noChangeShapeType="1"/>
          </p:cNvSpPr>
          <p:nvPr/>
        </p:nvSpPr>
        <p:spPr bwMode="auto">
          <a:xfrm flipV="1">
            <a:off x="5953827" y="2339422"/>
            <a:ext cx="0" cy="871142"/>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Text Box 17"/>
          <p:cNvSpPr txBox="1">
            <a:spLocks noChangeArrowheads="1"/>
          </p:cNvSpPr>
          <p:nvPr/>
        </p:nvSpPr>
        <p:spPr bwMode="auto">
          <a:xfrm rot="5400000">
            <a:off x="6024454" y="273346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62" name="Rectangle 18"/>
          <p:cNvSpPr>
            <a:spLocks noChangeArrowheads="1"/>
          </p:cNvSpPr>
          <p:nvPr/>
        </p:nvSpPr>
        <p:spPr bwMode="auto">
          <a:xfrm>
            <a:off x="6063225" y="2978045"/>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3" name="Rectangle 19"/>
          <p:cNvSpPr>
            <a:spLocks noChangeArrowheads="1"/>
          </p:cNvSpPr>
          <p:nvPr/>
        </p:nvSpPr>
        <p:spPr bwMode="auto">
          <a:xfrm>
            <a:off x="5297439" y="3197776"/>
            <a:ext cx="1311713"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buffer</a:t>
            </a:r>
            <a:endParaRPr lang="zh-CN" altLang="en-US" sz="1200" dirty="0">
              <a:latin typeface="微软雅黑 Light" panose="020B0502040204020203" pitchFamily="34" charset="-122"/>
              <a:ea typeface="微软雅黑 Light" panose="020B0502040204020203" pitchFamily="34" charset="-122"/>
            </a:endParaRPr>
          </a:p>
        </p:txBody>
      </p:sp>
      <p:sp>
        <p:nvSpPr>
          <p:cNvPr id="71" name="Rectangle 27"/>
          <p:cNvSpPr>
            <a:spLocks noChangeArrowheads="1"/>
          </p:cNvSpPr>
          <p:nvPr/>
        </p:nvSpPr>
        <p:spPr bwMode="auto">
          <a:xfrm>
            <a:off x="6063225" y="2629802"/>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2" name="Rectangle 28"/>
          <p:cNvSpPr>
            <a:spLocks noChangeArrowheads="1"/>
          </p:cNvSpPr>
          <p:nvPr/>
        </p:nvSpPr>
        <p:spPr bwMode="auto">
          <a:xfrm>
            <a:off x="6063225" y="2457289"/>
            <a:ext cx="328194" cy="114652"/>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3" name="Text Box 29"/>
          <p:cNvSpPr txBox="1">
            <a:spLocks noChangeArrowheads="1"/>
          </p:cNvSpPr>
          <p:nvPr/>
        </p:nvSpPr>
        <p:spPr bwMode="auto">
          <a:xfrm>
            <a:off x="5401527" y="2844106"/>
            <a:ext cx="4821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port</a:t>
            </a:r>
            <a:endParaRPr lang="zh-CN" altLang="en-US" sz="1200" b="0" dirty="0">
              <a:latin typeface="微软雅黑 Light" panose="020B0502040204020203" pitchFamily="34" charset="-122"/>
              <a:ea typeface="微软雅黑 Light" panose="020B0502040204020203" pitchFamily="34" charset="-122"/>
            </a:endParaRPr>
          </a:p>
        </p:txBody>
      </p:sp>
      <p:sp>
        <p:nvSpPr>
          <p:cNvPr id="74" name="Text Box 30"/>
          <p:cNvSpPr txBox="1">
            <a:spLocks noChangeArrowheads="1"/>
          </p:cNvSpPr>
          <p:nvPr/>
        </p:nvSpPr>
        <p:spPr bwMode="auto">
          <a:xfrm>
            <a:off x="1961879"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dirty="0">
                <a:latin typeface="微软雅黑 Light" panose="020B0502040204020203" pitchFamily="34" charset="-122"/>
                <a:ea typeface="微软雅黑 Light" panose="020B0502040204020203" pitchFamily="34" charset="-122"/>
              </a:rPr>
              <a:t>发送端</a:t>
            </a:r>
          </a:p>
        </p:txBody>
      </p:sp>
      <p:sp>
        <p:nvSpPr>
          <p:cNvPr id="75" name="Text Box 31"/>
          <p:cNvSpPr txBox="1">
            <a:spLocks noChangeArrowheads="1"/>
          </p:cNvSpPr>
          <p:nvPr/>
        </p:nvSpPr>
        <p:spPr bwMode="auto">
          <a:xfrm>
            <a:off x="5626914"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a:latin typeface="微软雅黑 Light" panose="020B0502040204020203" pitchFamily="34" charset="-122"/>
                <a:ea typeface="微软雅黑 Light" panose="020B0502040204020203" pitchFamily="34" charset="-122"/>
              </a:rPr>
              <a:t>接收端</a:t>
            </a:r>
          </a:p>
        </p:txBody>
      </p:sp>
      <p:sp>
        <p:nvSpPr>
          <p:cNvPr id="43" name="AutoShape 108"/>
          <p:cNvSpPr>
            <a:spLocks noChangeArrowheads="1"/>
          </p:cNvSpPr>
          <p:nvPr/>
        </p:nvSpPr>
        <p:spPr bwMode="auto">
          <a:xfrm rot="16200000">
            <a:off x="3971292" y="2322240"/>
            <a:ext cx="346183" cy="3348000"/>
          </a:xfrm>
          <a:prstGeom prst="can">
            <a:avLst>
              <a:gd name="adj" fmla="val 28603"/>
            </a:avLst>
          </a:prstGeom>
          <a:noFill/>
          <a:ln w="9525">
            <a:solidFill>
              <a:schemeClr val="tx1"/>
            </a:solidFill>
            <a:round/>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44" name="Text Box 109"/>
          <p:cNvSpPr txBox="1">
            <a:spLocks noChangeArrowheads="1"/>
          </p:cNvSpPr>
          <p:nvPr/>
        </p:nvSpPr>
        <p:spPr bwMode="auto">
          <a:xfrm>
            <a:off x="3385425" y="4813337"/>
            <a:ext cx="23731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微软雅黑 Light" panose="020B0502040204020203" pitchFamily="34" charset="-122"/>
                <a:ea typeface="微软雅黑 Light" panose="020B0502040204020203" pitchFamily="34" charset="-122"/>
              </a:rPr>
              <a:t>TCP </a:t>
            </a:r>
            <a:r>
              <a:rPr kumimoji="1" lang="zh-CN" altLang="en-US" sz="1200" dirty="0">
                <a:latin typeface="微软雅黑 Light" panose="020B0502040204020203" pitchFamily="34" charset="-122"/>
                <a:ea typeface="微软雅黑 Light" panose="020B0502040204020203" pitchFamily="34" charset="-122"/>
              </a:rPr>
              <a:t>连接（虚连接，逻辑连接）</a:t>
            </a:r>
          </a:p>
        </p:txBody>
      </p:sp>
      <p:sp>
        <p:nvSpPr>
          <p:cNvPr id="50" name="AutoShape 5"/>
          <p:cNvSpPr>
            <a:spLocks noChangeArrowheads="1"/>
          </p:cNvSpPr>
          <p:nvPr/>
        </p:nvSpPr>
        <p:spPr bwMode="auto">
          <a:xfrm>
            <a:off x="3561241" y="3937635"/>
            <a:ext cx="208175" cy="144000"/>
          </a:xfrm>
          <a:prstGeom prst="rightArrow">
            <a:avLst>
              <a:gd name="adj1" fmla="val 50000"/>
              <a:gd name="adj2" fmla="val 31613"/>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1" name="AutoShape 6"/>
          <p:cNvSpPr>
            <a:spLocks noChangeArrowheads="1"/>
          </p:cNvSpPr>
          <p:nvPr/>
        </p:nvSpPr>
        <p:spPr bwMode="auto">
          <a:xfrm>
            <a:off x="5367094" y="3937635"/>
            <a:ext cx="206050" cy="144000"/>
          </a:xfrm>
          <a:prstGeom prst="rightArrow">
            <a:avLst>
              <a:gd name="adj1" fmla="val 50000"/>
              <a:gd name="adj2" fmla="val 31290"/>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7" name="Rectangle 23"/>
          <p:cNvSpPr>
            <a:spLocks noChangeArrowheads="1"/>
          </p:cNvSpPr>
          <p:nvPr/>
        </p:nvSpPr>
        <p:spPr bwMode="auto">
          <a:xfrm>
            <a:off x="2819756" y="3905163"/>
            <a:ext cx="728612" cy="208945"/>
          </a:xfrm>
          <a:prstGeom prst="rect">
            <a:avLst/>
          </a:prstGeom>
          <a:noFill/>
          <a:ln w="9525">
            <a:no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packet</a:t>
            </a:r>
            <a:endParaRPr lang="zh-CN" altLang="en-US" sz="1200" dirty="0">
              <a:latin typeface="微软雅黑 Light" panose="020B0502040204020203" pitchFamily="34" charset="-122"/>
              <a:ea typeface="微软雅黑 Light" panose="020B0502040204020203" pitchFamily="34" charset="-122"/>
            </a:endParaRPr>
          </a:p>
        </p:txBody>
      </p:sp>
      <p:sp>
        <p:nvSpPr>
          <p:cNvPr id="70" name="Rectangle 26"/>
          <p:cNvSpPr>
            <a:spLocks noChangeArrowheads="1"/>
          </p:cNvSpPr>
          <p:nvPr/>
        </p:nvSpPr>
        <p:spPr bwMode="auto">
          <a:xfrm>
            <a:off x="4626650" y="3905163"/>
            <a:ext cx="728612" cy="208945"/>
          </a:xfrm>
          <a:prstGeom prst="rect">
            <a:avLst/>
          </a:prstGeom>
          <a:noFill/>
          <a:ln w="9525">
            <a:no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packet</a:t>
            </a:r>
            <a:endParaRPr lang="zh-CN" altLang="en-US" sz="1200" dirty="0">
              <a:latin typeface="微软雅黑 Light" panose="020B0502040204020203" pitchFamily="34" charset="-122"/>
              <a:ea typeface="微软雅黑 Light" panose="020B0502040204020203" pitchFamily="34" charset="-122"/>
            </a:endParaRPr>
          </a:p>
        </p:txBody>
      </p:sp>
      <p:sp>
        <p:nvSpPr>
          <p:cNvPr id="68" name="Text Box 24"/>
          <p:cNvSpPr txBox="1">
            <a:spLocks noChangeArrowheads="1"/>
          </p:cNvSpPr>
          <p:nvPr/>
        </p:nvSpPr>
        <p:spPr bwMode="auto">
          <a:xfrm>
            <a:off x="4172379" y="387113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86" name="Freeform 44"/>
          <p:cNvSpPr>
            <a:spLocks/>
          </p:cNvSpPr>
          <p:nvPr/>
        </p:nvSpPr>
        <p:spPr bwMode="auto">
          <a:xfrm>
            <a:off x="5807597" y="3576119"/>
            <a:ext cx="158793" cy="408099"/>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7" name="Freeform 110"/>
          <p:cNvSpPr>
            <a:spLocks/>
          </p:cNvSpPr>
          <p:nvPr/>
        </p:nvSpPr>
        <p:spPr bwMode="auto">
          <a:xfrm>
            <a:off x="2278145" y="3576583"/>
            <a:ext cx="262399" cy="409556"/>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3" name="Rectangle 39"/>
          <p:cNvSpPr>
            <a:spLocks noChangeArrowheads="1"/>
          </p:cNvSpPr>
          <p:nvPr/>
        </p:nvSpPr>
        <p:spPr bwMode="auto">
          <a:xfrm>
            <a:off x="2211758"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84" name="Rectangle 40"/>
          <p:cNvSpPr>
            <a:spLocks noChangeArrowheads="1"/>
          </p:cNvSpPr>
          <p:nvPr/>
        </p:nvSpPr>
        <p:spPr bwMode="auto">
          <a:xfrm>
            <a:off x="5872044"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8E8F1D37-1AD8-43D1-4044-358912B8C7BE}"/>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把连接作为最基本的抽象。</a:t>
            </a:r>
          </a:p>
          <a:p>
            <a:endParaRPr lang="zh-CN" altLang="en-US" dirty="0"/>
          </a:p>
        </p:txBody>
      </p:sp>
      <p:sp>
        <p:nvSpPr>
          <p:cNvPr id="2" name="标题 1">
            <a:extLst>
              <a:ext uri="{FF2B5EF4-FFF2-40B4-BE49-F238E27FC236}">
                <a16:creationId xmlns:a16="http://schemas.microsoft.com/office/drawing/2014/main" id="{0CA530FA-1FD0-F4A5-9D74-24DFEE22F902}"/>
              </a:ext>
            </a:extLst>
          </p:cNvPr>
          <p:cNvSpPr>
            <a:spLocks noGrp="1"/>
          </p:cNvSpPr>
          <p:nvPr>
            <p:ph type="title"/>
          </p:nvPr>
        </p:nvSpPr>
        <p:spPr>
          <a:xfrm>
            <a:off x="486000" y="550723"/>
            <a:ext cx="8172000" cy="338554"/>
          </a:xfrm>
          <a:prstGeom prst="rect">
            <a:avLst/>
          </a:prstGeom>
        </p:spPr>
        <p:txBody>
          <a:bodyPr/>
          <a:lstStyle/>
          <a:p>
            <a:r>
              <a:rPr lang="en-US" altLang="zh-CN" dirty="0"/>
              <a:t>5.3.2  TCP </a:t>
            </a:r>
            <a:r>
              <a:rPr lang="zh-CN" altLang="en-US" dirty="0"/>
              <a:t>的连接</a:t>
            </a:r>
          </a:p>
        </p:txBody>
      </p:sp>
      <p:sp>
        <p:nvSpPr>
          <p:cNvPr id="7" name="矩形 6"/>
          <p:cNvSpPr/>
          <p:nvPr/>
        </p:nvSpPr>
        <p:spPr>
          <a:xfrm>
            <a:off x="1373423" y="2530517"/>
            <a:ext cx="2578172" cy="861532"/>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 name="Text Box 25"/>
          <p:cNvSpPr txBox="1">
            <a:spLocks noChangeArrowheads="1"/>
          </p:cNvSpPr>
          <p:nvPr/>
        </p:nvSpPr>
        <p:spPr bwMode="auto">
          <a:xfrm>
            <a:off x="3247857"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9" name="Text Box 26"/>
          <p:cNvSpPr txBox="1">
            <a:spLocks noChangeArrowheads="1"/>
          </p:cNvSpPr>
          <p:nvPr/>
        </p:nvSpPr>
        <p:spPr bwMode="auto">
          <a:xfrm>
            <a:off x="2343759"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grpSp>
        <p:nvGrpSpPr>
          <p:cNvPr id="10" name="组合 9"/>
          <p:cNvGrpSpPr/>
          <p:nvPr/>
        </p:nvGrpSpPr>
        <p:grpSpPr>
          <a:xfrm>
            <a:off x="1496229" y="2454208"/>
            <a:ext cx="513414" cy="196831"/>
            <a:chOff x="1452836" y="2079261"/>
            <a:chExt cx="586980" cy="241909"/>
          </a:xfrm>
        </p:grpSpPr>
        <p:sp>
          <p:nvSpPr>
            <p:cNvPr id="11" name="矩形 1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2" name="直接连接符 1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 name="Text Box 20"/>
          <p:cNvSpPr txBox="1">
            <a:spLocks noChangeArrowheads="1"/>
          </p:cNvSpPr>
          <p:nvPr/>
        </p:nvSpPr>
        <p:spPr bwMode="auto">
          <a:xfrm>
            <a:off x="1404184"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grpSp>
        <p:nvGrpSpPr>
          <p:cNvPr id="15" name="组合 14"/>
          <p:cNvGrpSpPr/>
          <p:nvPr/>
        </p:nvGrpSpPr>
        <p:grpSpPr>
          <a:xfrm>
            <a:off x="2427373" y="2394347"/>
            <a:ext cx="513414" cy="310492"/>
            <a:chOff x="1452836" y="2079261"/>
            <a:chExt cx="586980" cy="241909"/>
          </a:xfrm>
        </p:grpSpPr>
        <p:sp>
          <p:nvSpPr>
            <p:cNvPr id="16" name="矩形 1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7" name="直接连接符 1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3337892" y="2394347"/>
            <a:ext cx="513414" cy="310492"/>
            <a:chOff x="1452836" y="2079261"/>
            <a:chExt cx="586980" cy="241909"/>
          </a:xfrm>
        </p:grpSpPr>
        <p:sp>
          <p:nvSpPr>
            <p:cNvPr id="20" name="矩形 1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1" name="直接连接符 2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Rectangle 396"/>
          <p:cNvSpPr>
            <a:spLocks noChangeArrowheads="1"/>
          </p:cNvSpPr>
          <p:nvPr/>
        </p:nvSpPr>
        <p:spPr bwMode="auto">
          <a:xfrm>
            <a:off x="4318768" y="221702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0000FF"/>
                </a:solidFill>
                <a:latin typeface="微软雅黑" pitchFamily="34" charset="-122"/>
                <a:ea typeface="微软雅黑" pitchFamily="34" charset="-122"/>
              </a:rPr>
              <a:t>端口</a:t>
            </a:r>
          </a:p>
        </p:txBody>
      </p:sp>
      <p:sp>
        <p:nvSpPr>
          <p:cNvPr id="24" name="矩形 23"/>
          <p:cNvSpPr/>
          <p:nvPr/>
        </p:nvSpPr>
        <p:spPr>
          <a:xfrm>
            <a:off x="4962260" y="2530517"/>
            <a:ext cx="2578172" cy="86153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25" name="组合 24"/>
          <p:cNvGrpSpPr/>
          <p:nvPr/>
        </p:nvGrpSpPr>
        <p:grpSpPr>
          <a:xfrm>
            <a:off x="5085067" y="2454208"/>
            <a:ext cx="513414" cy="196831"/>
            <a:chOff x="1452836" y="2079261"/>
            <a:chExt cx="586980" cy="241909"/>
          </a:xfrm>
        </p:grpSpPr>
        <p:sp>
          <p:nvSpPr>
            <p:cNvPr id="26" name="矩形 2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7" name="直接连接符 2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组合 28"/>
          <p:cNvGrpSpPr/>
          <p:nvPr/>
        </p:nvGrpSpPr>
        <p:grpSpPr>
          <a:xfrm>
            <a:off x="5755115" y="2394348"/>
            <a:ext cx="992462" cy="310829"/>
            <a:chOff x="1452836" y="2079261"/>
            <a:chExt cx="586980" cy="241909"/>
          </a:xfrm>
        </p:grpSpPr>
        <p:sp>
          <p:nvSpPr>
            <p:cNvPr id="30" name="矩形 2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1" name="直接连接符 3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 name="组合 32"/>
          <p:cNvGrpSpPr/>
          <p:nvPr/>
        </p:nvGrpSpPr>
        <p:grpSpPr>
          <a:xfrm>
            <a:off x="6926729" y="2454208"/>
            <a:ext cx="513414" cy="196831"/>
            <a:chOff x="1452836" y="2079261"/>
            <a:chExt cx="586980" cy="241909"/>
          </a:xfrm>
        </p:grpSpPr>
        <p:sp>
          <p:nvSpPr>
            <p:cNvPr id="34" name="矩形 33"/>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5" name="直接连接符 34"/>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7" name="Line 399"/>
          <p:cNvSpPr>
            <a:spLocks noChangeShapeType="1"/>
          </p:cNvSpPr>
          <p:nvPr/>
        </p:nvSpPr>
        <p:spPr bwMode="auto">
          <a:xfrm>
            <a:off x="4752738" y="2418287"/>
            <a:ext cx="505018" cy="178292"/>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38" name="Text Box 25"/>
          <p:cNvSpPr txBox="1">
            <a:spLocks noChangeArrowheads="1"/>
          </p:cNvSpPr>
          <p:nvPr/>
        </p:nvSpPr>
        <p:spPr bwMode="auto">
          <a:xfrm>
            <a:off x="6826440"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39" name="Text Box 26"/>
          <p:cNvSpPr txBox="1">
            <a:spLocks noChangeArrowheads="1"/>
          </p:cNvSpPr>
          <p:nvPr/>
        </p:nvSpPr>
        <p:spPr bwMode="auto">
          <a:xfrm>
            <a:off x="5857992"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sp>
        <p:nvSpPr>
          <p:cNvPr id="40" name="Text Box 20"/>
          <p:cNvSpPr txBox="1">
            <a:spLocks noChangeArrowheads="1"/>
          </p:cNvSpPr>
          <p:nvPr/>
        </p:nvSpPr>
        <p:spPr bwMode="auto">
          <a:xfrm>
            <a:off x="4982767"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sp>
        <p:nvSpPr>
          <p:cNvPr id="41" name="Rectangle 396"/>
          <p:cNvSpPr>
            <a:spLocks noChangeArrowheads="1"/>
          </p:cNvSpPr>
          <p:nvPr/>
        </p:nvSpPr>
        <p:spPr bwMode="auto">
          <a:xfrm>
            <a:off x="5883179" y="162205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服务器</a:t>
            </a:r>
          </a:p>
        </p:txBody>
      </p:sp>
      <p:sp>
        <p:nvSpPr>
          <p:cNvPr id="42" name="Rectangle 396"/>
          <p:cNvSpPr>
            <a:spLocks noChangeArrowheads="1"/>
          </p:cNvSpPr>
          <p:nvPr/>
        </p:nvSpPr>
        <p:spPr bwMode="auto">
          <a:xfrm>
            <a:off x="2417248"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grpSp>
        <p:nvGrpSpPr>
          <p:cNvPr id="43" name="组合 42"/>
          <p:cNvGrpSpPr/>
          <p:nvPr/>
        </p:nvGrpSpPr>
        <p:grpSpPr>
          <a:xfrm>
            <a:off x="2670445" y="2635526"/>
            <a:ext cx="3884273" cy="404780"/>
            <a:chOff x="2551493" y="2475572"/>
            <a:chExt cx="4440845" cy="497481"/>
          </a:xfrm>
        </p:grpSpPr>
        <p:cxnSp>
          <p:nvCxnSpPr>
            <p:cNvPr id="44" name="直接连接符 43"/>
            <p:cNvCxnSpPr/>
            <p:nvPr/>
          </p:nvCxnSpPr>
          <p:spPr>
            <a:xfrm>
              <a:off x="2551493" y="2973053"/>
              <a:ext cx="4440845"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45" name="组合 44"/>
            <p:cNvGrpSpPr/>
            <p:nvPr/>
          </p:nvGrpSpPr>
          <p:grpSpPr>
            <a:xfrm>
              <a:off x="2562002" y="2475572"/>
              <a:ext cx="4430335" cy="497481"/>
              <a:chOff x="2665137" y="2409968"/>
              <a:chExt cx="4106940" cy="1165570"/>
            </a:xfrm>
          </p:grpSpPr>
          <p:cxnSp>
            <p:nvCxnSpPr>
              <p:cNvPr id="46" name="直接连接符 45"/>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grpSp>
      <p:sp>
        <p:nvSpPr>
          <p:cNvPr id="48" name="Rectangle 396"/>
          <p:cNvSpPr>
            <a:spLocks noChangeArrowheads="1"/>
          </p:cNvSpPr>
          <p:nvPr/>
        </p:nvSpPr>
        <p:spPr bwMode="auto">
          <a:xfrm>
            <a:off x="1400318" y="3053785"/>
            <a:ext cx="4780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49" name="Rectangle 396"/>
          <p:cNvSpPr>
            <a:spLocks noChangeArrowheads="1"/>
          </p:cNvSpPr>
          <p:nvPr/>
        </p:nvSpPr>
        <p:spPr bwMode="auto">
          <a:xfrm>
            <a:off x="7046932" y="3053785"/>
            <a:ext cx="4780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50" name="椭圆 49"/>
          <p:cNvSpPr/>
          <p:nvPr/>
        </p:nvSpPr>
        <p:spPr>
          <a:xfrm>
            <a:off x="5901834"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1" name="椭圆 50"/>
          <p:cNvSpPr/>
          <p:nvPr/>
        </p:nvSpPr>
        <p:spPr>
          <a:xfrm>
            <a:off x="6475997"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2" name="椭圆 51"/>
          <p:cNvSpPr/>
          <p:nvPr/>
        </p:nvSpPr>
        <p:spPr>
          <a:xfrm>
            <a:off x="2605360"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3" name="椭圆 52"/>
          <p:cNvSpPr/>
          <p:nvPr/>
        </p:nvSpPr>
        <p:spPr>
          <a:xfrm>
            <a:off x="3515879"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54" name="组合 53"/>
          <p:cNvGrpSpPr/>
          <p:nvPr/>
        </p:nvGrpSpPr>
        <p:grpSpPr>
          <a:xfrm>
            <a:off x="3571034" y="2641501"/>
            <a:ext cx="2418713" cy="226655"/>
            <a:chOff x="3581127" y="2482916"/>
            <a:chExt cx="2765287" cy="278563"/>
          </a:xfrm>
        </p:grpSpPr>
        <p:grpSp>
          <p:nvGrpSpPr>
            <p:cNvPr id="55" name="组合 54"/>
            <p:cNvGrpSpPr/>
            <p:nvPr/>
          </p:nvGrpSpPr>
          <p:grpSpPr>
            <a:xfrm>
              <a:off x="3589605" y="2482916"/>
              <a:ext cx="2746299" cy="269427"/>
              <a:chOff x="2665137" y="2409968"/>
              <a:chExt cx="4106940" cy="1165570"/>
            </a:xfrm>
          </p:grpSpPr>
          <p:cxnSp>
            <p:nvCxnSpPr>
              <p:cNvPr id="57" name="直接连接符 56"/>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56" name="直接连接符 55"/>
            <p:cNvCxnSpPr/>
            <p:nvPr/>
          </p:nvCxnSpPr>
          <p:spPr>
            <a:xfrm>
              <a:off x="3581127" y="2761479"/>
              <a:ext cx="2765287"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59" name="Rectangle 396"/>
          <p:cNvSpPr>
            <a:spLocks noChangeArrowheads="1"/>
          </p:cNvSpPr>
          <p:nvPr/>
        </p:nvSpPr>
        <p:spPr bwMode="auto">
          <a:xfrm>
            <a:off x="3349339"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sp>
        <p:nvSpPr>
          <p:cNvPr id="60" name="矩形 59"/>
          <p:cNvSpPr/>
          <p:nvPr/>
        </p:nvSpPr>
        <p:spPr>
          <a:xfrm>
            <a:off x="3002678" y="3350144"/>
            <a:ext cx="2956257" cy="425758"/>
          </a:xfrm>
          <a:prstGeom prst="rect">
            <a:avLst/>
          </a:prstGeom>
        </p:spPr>
        <p:txBody>
          <a:bodyPr wrap="none">
            <a:spAutoFit/>
          </a:bodyPr>
          <a:lstStyle/>
          <a:p>
            <a:pPr algn="ctr">
              <a:lnSpc>
                <a:spcPts val="2600"/>
              </a:lnSpc>
              <a:buClr>
                <a:srgbClr val="0070C0"/>
              </a:buClr>
            </a:pPr>
            <a:r>
              <a:rPr lang="zh-CN" altLang="en-US" sz="1600" b="1" dirty="0">
                <a:latin typeface="微软雅黑" pitchFamily="34" charset="-122"/>
                <a:ea typeface="微软雅黑" pitchFamily="34" charset="-122"/>
              </a:rPr>
              <a:t>每一条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连接有</a:t>
            </a:r>
            <a:r>
              <a:rPr lang="zh-CN" altLang="en-US" sz="1600" b="1" dirty="0">
                <a:solidFill>
                  <a:srgbClr val="C00000"/>
                </a:solidFill>
                <a:latin typeface="微软雅黑" pitchFamily="34" charset="-122"/>
                <a:ea typeface="微软雅黑" pitchFamily="34" charset="-122"/>
              </a:rPr>
              <a:t>两个端点。</a:t>
            </a:r>
            <a:endParaRPr lang="en-US" altLang="zh-CN" sz="1600" b="1" dirty="0">
              <a:solidFill>
                <a:srgbClr val="C00000"/>
              </a:solidFill>
              <a:latin typeface="微软雅黑" pitchFamily="34" charset="-122"/>
              <a:ea typeface="微软雅黑" pitchFamily="34" charset="-122"/>
            </a:endParaRPr>
          </a:p>
        </p:txBody>
      </p:sp>
      <p:sp>
        <p:nvSpPr>
          <p:cNvPr id="61" name="Rectangle 396"/>
          <p:cNvSpPr>
            <a:spLocks noChangeArrowheads="1"/>
          </p:cNvSpPr>
          <p:nvPr/>
        </p:nvSpPr>
        <p:spPr bwMode="auto">
          <a:xfrm>
            <a:off x="4090280" y="2629644"/>
            <a:ext cx="7858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a:t>
            </a:r>
            <a:r>
              <a:rPr kumimoji="1" lang="zh-CN" altLang="en-US" sz="1200" b="1" dirty="0">
                <a:solidFill>
                  <a:srgbClr val="CC00CC"/>
                </a:solidFill>
                <a:latin typeface="微软雅黑" pitchFamily="34" charset="-122"/>
                <a:ea typeface="微软雅黑" pitchFamily="34" charset="-122"/>
              </a:rPr>
              <a:t>连接</a:t>
            </a:r>
          </a:p>
        </p:txBody>
      </p:sp>
      <p:sp>
        <p:nvSpPr>
          <p:cNvPr id="62" name="Rectangle 396"/>
          <p:cNvSpPr>
            <a:spLocks noChangeArrowheads="1"/>
          </p:cNvSpPr>
          <p:nvPr/>
        </p:nvSpPr>
        <p:spPr bwMode="auto">
          <a:xfrm>
            <a:off x="4154860" y="1790001"/>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套接字</a:t>
            </a:r>
          </a:p>
        </p:txBody>
      </p:sp>
      <p:sp>
        <p:nvSpPr>
          <p:cNvPr id="63" name="Line 399"/>
          <p:cNvSpPr>
            <a:spLocks noChangeShapeType="1"/>
          </p:cNvSpPr>
          <p:nvPr/>
        </p:nvSpPr>
        <p:spPr bwMode="auto">
          <a:xfrm flipH="1">
            <a:off x="3673319" y="2058065"/>
            <a:ext cx="566073" cy="436531"/>
          </a:xfrm>
          <a:prstGeom prst="line">
            <a:avLst/>
          </a:prstGeom>
          <a:noFill/>
          <a:ln w="28575">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65" name="矩形 64"/>
          <p:cNvSpPr/>
          <p:nvPr/>
        </p:nvSpPr>
        <p:spPr>
          <a:xfrm>
            <a:off x="1694722" y="3741203"/>
            <a:ext cx="5558118" cy="416589"/>
          </a:xfrm>
          <a:prstGeom prst="rect">
            <a:avLst/>
          </a:prstGeom>
          <a:solidFill>
            <a:srgbClr val="000099"/>
          </a:solidFill>
          <a:ln>
            <a:noFill/>
          </a:ln>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lnSpc>
                <a:spcPts val="2800"/>
              </a:lnSpc>
              <a:buClr>
                <a:srgbClr val="0070C0"/>
              </a:buClr>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连接的端点：套接字 </a:t>
            </a:r>
            <a:r>
              <a:rPr lang="en-US" altLang="zh-CN" b="1" dirty="0">
                <a:solidFill>
                  <a:schemeClr val="bg1"/>
                </a:solidFill>
                <a:latin typeface="微软雅黑" pitchFamily="34" charset="-122"/>
                <a:ea typeface="微软雅黑" pitchFamily="34" charset="-122"/>
              </a:rPr>
              <a:t>(socket) </a:t>
            </a:r>
            <a:r>
              <a:rPr lang="zh-CN" altLang="en-US" b="1" dirty="0">
                <a:solidFill>
                  <a:schemeClr val="bg1"/>
                </a:solidFill>
                <a:latin typeface="微软雅黑" pitchFamily="34" charset="-122"/>
                <a:ea typeface="微软雅黑" pitchFamily="34" charset="-122"/>
              </a:rPr>
              <a:t>或插口。</a:t>
            </a:r>
          </a:p>
        </p:txBody>
      </p:sp>
    </p:spTree>
    <p:extLst>
      <p:ext uri="{BB962C8B-B14F-4D97-AF65-F5344CB8AC3E}">
        <p14:creationId xmlns:p14="http://schemas.microsoft.com/office/powerpoint/2010/main" val="42759162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4"/>
          <p:cNvSpPr>
            <a:spLocks noChangeArrowheads="1"/>
          </p:cNvSpPr>
          <p:nvPr/>
        </p:nvSpPr>
        <p:spPr bwMode="auto">
          <a:xfrm>
            <a:off x="1727139" y="1206521"/>
            <a:ext cx="5716077" cy="432475"/>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套接字 </a:t>
            </a:r>
            <a:r>
              <a:rPr lang="en-US" altLang="zh-CN" b="1" dirty="0">
                <a:latin typeface="微软雅黑" pitchFamily="34" charset="-122"/>
                <a:ea typeface="微软雅黑" pitchFamily="34" charset="-122"/>
              </a:rPr>
              <a:t>socket = (IP</a:t>
            </a:r>
            <a:r>
              <a:rPr lang="zh-CN" altLang="en-US" b="1" dirty="0">
                <a:latin typeface="微软雅黑" pitchFamily="34" charset="-122"/>
                <a:ea typeface="微软雅黑" pitchFamily="34" charset="-122"/>
              </a:rPr>
              <a:t>地址 </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端口号</a:t>
            </a:r>
            <a:r>
              <a:rPr lang="en-US" altLang="zh-CN" b="1" dirty="0">
                <a:latin typeface="微软雅黑" pitchFamily="34" charset="-122"/>
                <a:ea typeface="微软雅黑" pitchFamily="34" charset="-122"/>
              </a:rPr>
              <a:t>)                   (5-1)</a:t>
            </a:r>
          </a:p>
        </p:txBody>
      </p:sp>
      <p:sp>
        <p:nvSpPr>
          <p:cNvPr id="11" name="矩形 10"/>
          <p:cNvSpPr/>
          <p:nvPr/>
        </p:nvSpPr>
        <p:spPr>
          <a:xfrm>
            <a:off x="1727140" y="1712412"/>
            <a:ext cx="5572461" cy="378117"/>
          </a:xfrm>
          <a:prstGeom prst="rect">
            <a:avLst/>
          </a:prstGeom>
        </p:spPr>
        <p:txBody>
          <a:bodyPr wrap="square">
            <a:spAutoFit/>
          </a:bodyPr>
          <a:lstStyle/>
          <a:p>
            <a:pPr>
              <a:lnSpc>
                <a:spcPts val="2400"/>
              </a:lnSpc>
              <a:spcBef>
                <a:spcPct val="40000"/>
              </a:spcBef>
              <a:spcAft>
                <a:spcPct val="50000"/>
              </a:spcAft>
            </a:pPr>
            <a:r>
              <a:rPr lang="zh-CN" altLang="en-US" sz="1600" b="1" dirty="0">
                <a:latin typeface="微软雅黑" pitchFamily="34" charset="-122"/>
                <a:ea typeface="微软雅黑" pitchFamily="34" charset="-122"/>
              </a:rPr>
              <a:t>例如：</a:t>
            </a:r>
          </a:p>
        </p:txBody>
      </p:sp>
      <p:sp>
        <p:nvSpPr>
          <p:cNvPr id="12" name="Rectangle 4"/>
          <p:cNvSpPr>
            <a:spLocks noChangeArrowheads="1"/>
          </p:cNvSpPr>
          <p:nvPr/>
        </p:nvSpPr>
        <p:spPr bwMode="auto">
          <a:xfrm>
            <a:off x="1727139" y="2106307"/>
            <a:ext cx="5716077" cy="432475"/>
          </a:xfrm>
          <a:prstGeom prst="rect">
            <a:avLst/>
          </a:prstGeom>
          <a:solidFill>
            <a:schemeClr val="bg1"/>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套接字 </a:t>
            </a:r>
            <a:r>
              <a:rPr lang="en-US" altLang="zh-CN" sz="1600" b="1" dirty="0">
                <a:latin typeface="微软雅黑" pitchFamily="34" charset="-122"/>
                <a:ea typeface="微软雅黑" pitchFamily="34" charset="-122"/>
              </a:rPr>
              <a:t>socket = (192.169.1.20</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 2028)</a:t>
            </a:r>
          </a:p>
        </p:txBody>
      </p:sp>
      <p:grpSp>
        <p:nvGrpSpPr>
          <p:cNvPr id="2" name="组合 1"/>
          <p:cNvGrpSpPr/>
          <p:nvPr/>
        </p:nvGrpSpPr>
        <p:grpSpPr>
          <a:xfrm>
            <a:off x="641510" y="2921997"/>
            <a:ext cx="7894590" cy="899786"/>
            <a:chOff x="641510" y="2921997"/>
            <a:chExt cx="7894590" cy="899786"/>
          </a:xfrm>
        </p:grpSpPr>
        <p:sp>
          <p:nvSpPr>
            <p:cNvPr id="9" name="Rectangle 5"/>
            <p:cNvSpPr>
              <a:spLocks noChangeArrowheads="1"/>
            </p:cNvSpPr>
            <p:nvPr/>
          </p:nvSpPr>
          <p:spPr bwMode="auto">
            <a:xfrm>
              <a:off x="641510" y="3322725"/>
              <a:ext cx="7894590" cy="49905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nSpc>
                  <a:spcPct val="110000"/>
                </a:lnSpc>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 </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 {(IP</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(5-2)</a:t>
              </a:r>
            </a:p>
          </p:txBody>
        </p:sp>
        <p:sp>
          <p:nvSpPr>
            <p:cNvPr id="13" name="矩形 12"/>
            <p:cNvSpPr/>
            <p:nvPr/>
          </p:nvSpPr>
          <p:spPr>
            <a:xfrm>
              <a:off x="826544" y="2921997"/>
              <a:ext cx="7517266" cy="425758"/>
            </a:xfrm>
            <a:prstGeom prst="rect">
              <a:avLst/>
            </a:prstGeom>
          </p:spPr>
          <p:txBody>
            <a:bodyPr wrap="square">
              <a:spAutoFit/>
            </a:bodyPr>
            <a:lstStyle/>
            <a:p>
              <a:pPr>
                <a:lnSpc>
                  <a:spcPts val="2600"/>
                </a:lnSpc>
                <a:spcBef>
                  <a:spcPct val="40000"/>
                </a:spcBef>
                <a:spcAft>
                  <a:spcPct val="50000"/>
                </a:spcAft>
              </a:pPr>
              <a:r>
                <a:rPr lang="zh-CN" altLang="en-US" b="1" dirty="0">
                  <a:latin typeface="微软雅黑" pitchFamily="34" charset="-122"/>
                  <a:ea typeface="微软雅黑" pitchFamily="34" charset="-122"/>
                </a:rPr>
                <a:t>每一条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a:t>
              </a:r>
              <a:r>
                <a:rPr lang="zh-CN" altLang="en-US" b="1" dirty="0">
                  <a:solidFill>
                    <a:srgbClr val="C00000"/>
                  </a:solidFill>
                  <a:latin typeface="微软雅黑" pitchFamily="34" charset="-122"/>
                  <a:ea typeface="微软雅黑" pitchFamily="34" charset="-122"/>
                </a:rPr>
                <a:t>唯一</a:t>
              </a:r>
              <a:r>
                <a:rPr lang="zh-CN" altLang="en-US" b="1" dirty="0">
                  <a:latin typeface="微软雅黑" pitchFamily="34" charset="-122"/>
                  <a:ea typeface="微软雅黑" pitchFamily="34" charset="-122"/>
                </a:rPr>
                <a:t>地被通信两端的两个端点（即</a:t>
              </a:r>
              <a:r>
                <a:rPr lang="zh-CN" altLang="en-US" b="1" dirty="0">
                  <a:solidFill>
                    <a:srgbClr val="C00000"/>
                  </a:solidFill>
                  <a:latin typeface="微软雅黑" pitchFamily="34" charset="-122"/>
                  <a:ea typeface="微软雅黑" pitchFamily="34" charset="-122"/>
                </a:rPr>
                <a:t>两个套接字</a:t>
              </a:r>
              <a:r>
                <a:rPr lang="zh-CN" altLang="en-US" b="1" dirty="0">
                  <a:latin typeface="微软雅黑" pitchFamily="34" charset="-122"/>
                  <a:ea typeface="微软雅黑" pitchFamily="34" charset="-122"/>
                </a:rPr>
                <a:t>）所确定：</a:t>
              </a:r>
            </a:p>
          </p:txBody>
        </p:sp>
      </p:grpSp>
      <p:sp>
        <p:nvSpPr>
          <p:cNvPr id="21" name="内容占位符 20">
            <a:extLst>
              <a:ext uri="{FF2B5EF4-FFF2-40B4-BE49-F238E27FC236}">
                <a16:creationId xmlns:a16="http://schemas.microsoft.com/office/drawing/2014/main" id="{32BE528A-742A-8B4F-6F21-E1AA756848C2}"/>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CF4E46D-3F50-B83D-BC4C-B88C87DC204A}"/>
              </a:ext>
            </a:extLst>
          </p:cNvPr>
          <p:cNvSpPr>
            <a:spLocks noGrp="1"/>
          </p:cNvSpPr>
          <p:nvPr>
            <p:ph type="title"/>
          </p:nvPr>
        </p:nvSpPr>
        <p:spPr>
          <a:xfrm>
            <a:off x="486000" y="550723"/>
            <a:ext cx="8172000" cy="338554"/>
          </a:xfrm>
          <a:prstGeom prst="rect">
            <a:avLst/>
          </a:prstGeom>
        </p:spPr>
        <p:txBody>
          <a:bodyPr/>
          <a:lstStyle/>
          <a:p>
            <a:r>
              <a:rPr lang="zh-CN" altLang="en-US" dirty="0"/>
              <a:t>套接字 </a:t>
            </a:r>
            <a:r>
              <a:rPr lang="en-US" altLang="zh-CN" dirty="0"/>
              <a:t>(socket)</a:t>
            </a:r>
            <a:endParaRPr lang="zh-CN" altLang="en-US" dirty="0"/>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7242BEF4-3CAB-AEBA-3411-C6D06CF8F2B3}"/>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连接就是由协议软件所提供的一种抽象。</a:t>
            </a:r>
          </a:p>
          <a:p>
            <a:r>
              <a:rPr lang="en-US" altLang="zh-CN" dirty="0"/>
              <a:t>TCP </a:t>
            </a:r>
            <a:r>
              <a:rPr lang="zh-CN" altLang="en-US" dirty="0"/>
              <a:t>连接的端点是抽象的套接字，即（</a:t>
            </a:r>
            <a:r>
              <a:rPr lang="en-US" altLang="zh-CN" dirty="0"/>
              <a:t>IP </a:t>
            </a:r>
            <a:r>
              <a:rPr lang="zh-CN" altLang="en-US" dirty="0"/>
              <a:t>地址：端口号）。</a:t>
            </a:r>
          </a:p>
          <a:p>
            <a:r>
              <a:rPr lang="zh-CN" altLang="en-US" dirty="0"/>
              <a:t>同一个 </a:t>
            </a:r>
            <a:r>
              <a:rPr lang="en-US" altLang="zh-CN" dirty="0"/>
              <a:t>IP </a:t>
            </a:r>
            <a:r>
              <a:rPr lang="zh-CN" altLang="en-US" dirty="0"/>
              <a:t>地址可以有多个不同的 </a:t>
            </a:r>
            <a:r>
              <a:rPr lang="en-US" altLang="zh-CN" dirty="0"/>
              <a:t>TCP </a:t>
            </a:r>
            <a:r>
              <a:rPr lang="zh-CN" altLang="en-US" dirty="0"/>
              <a:t>连接。</a:t>
            </a:r>
          </a:p>
          <a:p>
            <a:r>
              <a:rPr lang="zh-CN" altLang="en-US" dirty="0"/>
              <a:t>同一个端口号也可以出现在多个不同的 </a:t>
            </a:r>
            <a:r>
              <a:rPr lang="en-US" altLang="zh-CN" dirty="0"/>
              <a:t>TCP </a:t>
            </a:r>
            <a:r>
              <a:rPr lang="zh-CN" altLang="en-US" dirty="0"/>
              <a:t>连接中。</a:t>
            </a:r>
          </a:p>
          <a:p>
            <a:endParaRPr lang="zh-CN" altLang="en-US" dirty="0"/>
          </a:p>
        </p:txBody>
      </p:sp>
      <p:sp>
        <p:nvSpPr>
          <p:cNvPr id="6" name="标题 5">
            <a:extLst>
              <a:ext uri="{FF2B5EF4-FFF2-40B4-BE49-F238E27FC236}">
                <a16:creationId xmlns:a16="http://schemas.microsoft.com/office/drawing/2014/main" id="{FCB97ED1-302E-3817-37BF-9DAF2B47989F}"/>
              </a:ext>
            </a:extLst>
          </p:cNvPr>
          <p:cNvSpPr>
            <a:spLocks noGrp="1"/>
          </p:cNvSpPr>
          <p:nvPr>
            <p:ph type="title"/>
          </p:nvPr>
        </p:nvSpPr>
        <p:spPr>
          <a:xfrm>
            <a:off x="486000" y="550723"/>
            <a:ext cx="8172000" cy="338554"/>
          </a:xfrm>
          <a:prstGeom prst="rect">
            <a:avLst/>
          </a:prstGeom>
        </p:spPr>
        <p:txBody>
          <a:bodyPr/>
          <a:lstStyle/>
          <a:p>
            <a:r>
              <a:rPr lang="en-US" altLang="zh-CN" dirty="0"/>
              <a:t>TCP </a:t>
            </a:r>
            <a:r>
              <a:rPr lang="zh-CN" altLang="en-US" dirty="0"/>
              <a:t>连接，</a:t>
            </a:r>
            <a:r>
              <a:rPr lang="en-US" altLang="zh-CN" dirty="0"/>
              <a:t>IP </a:t>
            </a:r>
            <a:r>
              <a:rPr lang="zh-CN" altLang="en-US" dirty="0"/>
              <a:t>地址，套接字</a:t>
            </a: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5D8427B2-FA42-4E16-0AC6-FF9B3CAAA650}"/>
              </a:ext>
            </a:extLst>
          </p:cNvPr>
          <p:cNvSpPr>
            <a:spLocks noGrp="1"/>
          </p:cNvSpPr>
          <p:nvPr>
            <p:ph sz="quarter" idx="11"/>
          </p:nvPr>
        </p:nvSpPr>
        <p:spPr>
          <a:xfrm>
            <a:off x="486000" y="900000"/>
            <a:ext cx="8172000" cy="3703500"/>
          </a:xfrm>
        </p:spPr>
        <p:txBody>
          <a:bodyPr/>
          <a:lstStyle/>
          <a:p>
            <a:r>
              <a:rPr lang="zh-CN" altLang="en-US" dirty="0"/>
              <a:t>应用编程接口  </a:t>
            </a:r>
            <a:r>
              <a:rPr lang="en-US" altLang="zh-CN" dirty="0"/>
              <a:t>API  </a:t>
            </a:r>
            <a:r>
              <a:rPr lang="zh-CN" altLang="en-US" dirty="0"/>
              <a:t>称为 </a:t>
            </a:r>
            <a:r>
              <a:rPr lang="en-US" altLang="zh-CN" dirty="0"/>
              <a:t>socket API, </a:t>
            </a:r>
            <a:r>
              <a:rPr lang="zh-CN" altLang="en-US" dirty="0"/>
              <a:t>简称为 </a:t>
            </a:r>
            <a:r>
              <a:rPr lang="en-US" altLang="zh-CN" dirty="0"/>
              <a:t>socket</a:t>
            </a:r>
            <a:r>
              <a:rPr lang="zh-CN" altLang="en-US" dirty="0"/>
              <a:t>。</a:t>
            </a:r>
          </a:p>
          <a:p>
            <a:r>
              <a:rPr lang="en-US" altLang="zh-CN" dirty="0"/>
              <a:t>socket API </a:t>
            </a:r>
            <a:r>
              <a:rPr lang="zh-CN" altLang="en-US" dirty="0"/>
              <a:t>中使用的一个函数名也叫作 </a:t>
            </a:r>
            <a:r>
              <a:rPr lang="en-US" altLang="zh-CN" dirty="0"/>
              <a:t>socket</a:t>
            </a:r>
            <a:r>
              <a:rPr lang="zh-CN" altLang="en-US" dirty="0"/>
              <a:t>。</a:t>
            </a:r>
          </a:p>
          <a:p>
            <a:r>
              <a:rPr lang="zh-CN" altLang="en-US" dirty="0"/>
              <a:t>调用 </a:t>
            </a:r>
            <a:r>
              <a:rPr lang="en-US" altLang="zh-CN" dirty="0"/>
              <a:t>socket </a:t>
            </a:r>
            <a:r>
              <a:rPr lang="zh-CN" altLang="en-US" dirty="0"/>
              <a:t>函数的端点称为 </a:t>
            </a:r>
            <a:r>
              <a:rPr lang="en-US" altLang="zh-CN" dirty="0"/>
              <a:t>socket</a:t>
            </a:r>
            <a:r>
              <a:rPr lang="zh-CN" altLang="en-US" dirty="0"/>
              <a:t>。</a:t>
            </a:r>
          </a:p>
          <a:p>
            <a:r>
              <a:rPr lang="zh-CN" altLang="en-US" dirty="0"/>
              <a:t>调用 </a:t>
            </a:r>
            <a:r>
              <a:rPr lang="en-US" altLang="zh-CN" dirty="0"/>
              <a:t>socket </a:t>
            </a:r>
            <a:r>
              <a:rPr lang="zh-CN" altLang="en-US" dirty="0"/>
              <a:t>函数时其返回值称为 </a:t>
            </a:r>
            <a:r>
              <a:rPr lang="en-US" altLang="zh-CN" dirty="0"/>
              <a:t>socket </a:t>
            </a:r>
            <a:r>
              <a:rPr lang="zh-CN" altLang="en-US" dirty="0"/>
              <a:t>描述符，可简称为 </a:t>
            </a:r>
            <a:r>
              <a:rPr lang="en-US" altLang="zh-CN" dirty="0"/>
              <a:t>socket</a:t>
            </a:r>
            <a:r>
              <a:rPr lang="zh-CN" altLang="en-US" dirty="0"/>
              <a:t>。</a:t>
            </a:r>
          </a:p>
          <a:p>
            <a:r>
              <a:rPr lang="zh-CN" altLang="en-US" dirty="0"/>
              <a:t>在操作系统内核中连网协议的 </a:t>
            </a:r>
            <a:r>
              <a:rPr lang="en-US" altLang="zh-CN" dirty="0"/>
              <a:t>Berkeley </a:t>
            </a:r>
            <a:r>
              <a:rPr lang="zh-CN" altLang="en-US" dirty="0"/>
              <a:t>实现，称为 </a:t>
            </a:r>
            <a:r>
              <a:rPr lang="en-US" altLang="zh-CN" dirty="0"/>
              <a:t>socket </a:t>
            </a:r>
            <a:r>
              <a:rPr lang="zh-CN" altLang="en-US" dirty="0"/>
              <a:t>实现。 </a:t>
            </a:r>
          </a:p>
          <a:p>
            <a:endParaRPr lang="zh-CN" altLang="en-US" dirty="0"/>
          </a:p>
        </p:txBody>
      </p:sp>
      <p:sp>
        <p:nvSpPr>
          <p:cNvPr id="8" name="标题 7">
            <a:extLst>
              <a:ext uri="{FF2B5EF4-FFF2-40B4-BE49-F238E27FC236}">
                <a16:creationId xmlns:a16="http://schemas.microsoft.com/office/drawing/2014/main" id="{34E9A2E4-9646-BA03-06F7-AA91F3BD847E}"/>
              </a:ext>
            </a:extLst>
          </p:cNvPr>
          <p:cNvSpPr>
            <a:spLocks noGrp="1"/>
          </p:cNvSpPr>
          <p:nvPr>
            <p:ph type="title"/>
          </p:nvPr>
        </p:nvSpPr>
        <p:spPr>
          <a:xfrm>
            <a:off x="486000" y="550723"/>
            <a:ext cx="8172000" cy="338554"/>
          </a:xfrm>
          <a:prstGeom prst="rect">
            <a:avLst/>
          </a:prstGeom>
        </p:spPr>
        <p:txBody>
          <a:bodyPr/>
          <a:lstStyle/>
          <a:p>
            <a:r>
              <a:rPr lang="en-US" altLang="zh-CN" dirty="0"/>
              <a:t>Socket </a:t>
            </a:r>
            <a:r>
              <a:rPr lang="zh-CN" altLang="en-US" dirty="0"/>
              <a:t>有多种不同的意思</a:t>
            </a:r>
          </a:p>
        </p:txBody>
      </p:sp>
    </p:spTree>
    <p:extLst>
      <p:ext uri="{BB962C8B-B14F-4D97-AF65-F5344CB8AC3E}">
        <p14:creationId xmlns:p14="http://schemas.microsoft.com/office/powerpoint/2010/main" val="11740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34485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95128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Line 16"/>
          <p:cNvSpPr>
            <a:spLocks noChangeShapeType="1"/>
          </p:cNvSpPr>
          <p:nvPr/>
        </p:nvSpPr>
        <p:spPr bwMode="auto">
          <a:xfrm>
            <a:off x="3637198" y="127341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Rectangle 8"/>
          <p:cNvSpPr>
            <a:spLocks noChangeArrowheads="1"/>
          </p:cNvSpPr>
          <p:nvPr/>
        </p:nvSpPr>
        <p:spPr bwMode="auto">
          <a:xfrm>
            <a:off x="2700573" y="1090855"/>
            <a:ext cx="561867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5.4.1                                           </a:t>
            </a:r>
            <a:r>
              <a:rPr lang="zh-CN" altLang="en-US" sz="2000" b="1" dirty="0">
                <a:solidFill>
                  <a:schemeClr val="bg1"/>
                </a:solidFill>
                <a:latin typeface="微软雅黑" pitchFamily="34" charset="-122"/>
                <a:ea typeface="微软雅黑" pitchFamily="34" charset="-122"/>
              </a:rPr>
              <a:t>停止等待协议</a:t>
            </a:r>
          </a:p>
          <a:p>
            <a:pPr eaLnBrk="0" hangingPunct="0">
              <a:lnSpc>
                <a:spcPct val="200000"/>
              </a:lnSpc>
            </a:pPr>
            <a:r>
              <a:rPr lang="en-US" altLang="zh-CN" sz="2000" b="1" dirty="0">
                <a:solidFill>
                  <a:schemeClr val="bg1"/>
                </a:solidFill>
                <a:latin typeface="微软雅黑" pitchFamily="34" charset="-122"/>
                <a:ea typeface="微软雅黑" pitchFamily="34" charset="-122"/>
              </a:rPr>
              <a:t>5.4.2                                        </a:t>
            </a:r>
            <a:r>
              <a:rPr lang="zh-CN" altLang="en-US" sz="2000" b="1" dirty="0">
                <a:solidFill>
                  <a:schemeClr val="bg1"/>
                </a:solidFill>
                <a:latin typeface="微软雅黑" pitchFamily="34" charset="-122"/>
                <a:ea typeface="微软雅黑" pitchFamily="34" charset="-122"/>
              </a:rPr>
              <a:t>连续 </a:t>
            </a:r>
            <a:r>
              <a:rPr lang="en-US" altLang="zh-CN" sz="2000" b="1" dirty="0">
                <a:solidFill>
                  <a:schemeClr val="bg1"/>
                </a:solidFill>
                <a:latin typeface="微软雅黑" pitchFamily="34" charset="-122"/>
                <a:ea typeface="微软雅黑" pitchFamily="34" charset="-122"/>
              </a:rPr>
              <a:t>ARQ </a:t>
            </a:r>
            <a:r>
              <a:rPr lang="zh-CN" altLang="en-US" sz="2000" b="1" dirty="0">
                <a:solidFill>
                  <a:schemeClr val="bg1"/>
                </a:solidFill>
                <a:latin typeface="微软雅黑" pitchFamily="34" charset="-122"/>
                <a:ea typeface="微软雅黑" pitchFamily="34" charset="-122"/>
              </a:rPr>
              <a:t>协议</a:t>
            </a:r>
          </a:p>
        </p:txBody>
      </p:sp>
      <p:sp>
        <p:nvSpPr>
          <p:cNvPr id="9" name="Rectangle 27"/>
          <p:cNvSpPr>
            <a:spLocks noChangeArrowheads="1"/>
          </p:cNvSpPr>
          <p:nvPr/>
        </p:nvSpPr>
        <p:spPr bwMode="auto">
          <a:xfrm>
            <a:off x="639730" y="134485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 name="Rectangle 29"/>
          <p:cNvSpPr>
            <a:spLocks noChangeArrowheads="1"/>
          </p:cNvSpPr>
          <p:nvPr/>
        </p:nvSpPr>
        <p:spPr bwMode="auto">
          <a:xfrm>
            <a:off x="648619" y="143978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5.4</a:t>
            </a:r>
          </a:p>
          <a:p>
            <a:pPr eaLnBrk="0" hangingPunct="0"/>
            <a:r>
              <a:rPr lang="zh-CN" altLang="en-US" sz="2000" b="1" dirty="0">
                <a:solidFill>
                  <a:schemeClr val="bg1"/>
                </a:solidFill>
                <a:latin typeface="微软雅黑" pitchFamily="34" charset="-122"/>
                <a:ea typeface="微软雅黑" pitchFamily="34" charset="-122"/>
              </a:rPr>
              <a:t>可靠传输的工作原理</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D8CA39D5-B03B-BE8F-2C31-5D69B12E4A8B}"/>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2BB0445-EE77-1E9E-3281-8A32A1516A74}"/>
              </a:ext>
            </a:extLst>
          </p:cNvPr>
          <p:cNvSpPr>
            <a:spLocks noGrp="1"/>
          </p:cNvSpPr>
          <p:nvPr>
            <p:ph type="title"/>
          </p:nvPr>
        </p:nvSpPr>
        <p:spPr>
          <a:xfrm>
            <a:off x="486000" y="550723"/>
            <a:ext cx="8172000" cy="338554"/>
          </a:xfrm>
          <a:prstGeom prst="rect">
            <a:avLst/>
          </a:prstGeom>
        </p:spPr>
        <p:txBody>
          <a:bodyPr/>
          <a:lstStyle/>
          <a:p>
            <a:r>
              <a:rPr lang="en-US" altLang="zh-CN" dirty="0"/>
              <a:t>IP </a:t>
            </a:r>
            <a:r>
              <a:rPr lang="zh-CN" altLang="en-US" dirty="0"/>
              <a:t>网络提供的是不可靠的传输</a:t>
            </a:r>
          </a:p>
        </p:txBody>
      </p:sp>
      <p:graphicFrame>
        <p:nvGraphicFramePr>
          <p:cNvPr id="6" name="对象 5"/>
          <p:cNvGraphicFramePr>
            <a:graphicFrameLocks noGrp="1" noChangeAspect="1"/>
          </p:cNvGraphicFramePr>
          <p:nvPr>
            <p:extLst>
              <p:ext uri="{D42A27DB-BD31-4B8C-83A1-F6EECF244321}">
                <p14:modId xmlns:p14="http://schemas.microsoft.com/office/powerpoint/2010/main" val="1926977613"/>
              </p:ext>
            </p:extLst>
          </p:nvPr>
        </p:nvGraphicFramePr>
        <p:xfrm>
          <a:off x="2277035" y="1245085"/>
          <a:ext cx="4706471" cy="2067712"/>
        </p:xfrm>
        <a:graphic>
          <a:graphicData uri="http://schemas.openxmlformats.org/presentationml/2006/ole">
            <mc:AlternateContent xmlns:mc="http://schemas.openxmlformats.org/markup-compatibility/2006">
              <mc:Choice xmlns:v="urn:schemas-microsoft-com:vml" Requires="v">
                <p:oleObj name="Visio" r:id="rId2" imgW="8715538" imgH="3819698" progId="">
                  <p:embed/>
                </p:oleObj>
              </mc:Choice>
              <mc:Fallback>
                <p:oleObj name="Visio" r:id="rId2" imgW="8715538" imgH="3819698"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7035" y="1245085"/>
                        <a:ext cx="4706471" cy="20677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91D78E3D-958A-FE73-DC77-C51B2AE4032F}"/>
              </a:ext>
            </a:extLst>
          </p:cNvPr>
          <p:cNvSpPr>
            <a:spLocks noGrp="1"/>
          </p:cNvSpPr>
          <p:nvPr>
            <p:ph sz="quarter" idx="11"/>
          </p:nvPr>
        </p:nvSpPr>
        <p:spPr>
          <a:xfrm>
            <a:off x="486000" y="900000"/>
            <a:ext cx="8172000" cy="3703500"/>
          </a:xfrm>
        </p:spPr>
        <p:txBody>
          <a:bodyPr/>
          <a:lstStyle/>
          <a:p>
            <a:r>
              <a:rPr lang="zh-CN" altLang="en-US" dirty="0"/>
              <a:t>传输信道不产生差错。</a:t>
            </a:r>
          </a:p>
          <a:p>
            <a:r>
              <a:rPr lang="zh-CN" altLang="en-US" dirty="0"/>
              <a:t>不管发送方以多快的速度发送数据，接收方总是来得及处理收到的数据。</a:t>
            </a:r>
          </a:p>
          <a:p>
            <a:endParaRPr lang="zh-CN" altLang="en-US" dirty="0"/>
          </a:p>
        </p:txBody>
      </p:sp>
      <p:sp>
        <p:nvSpPr>
          <p:cNvPr id="6" name="标题 5">
            <a:extLst>
              <a:ext uri="{FF2B5EF4-FFF2-40B4-BE49-F238E27FC236}">
                <a16:creationId xmlns:a16="http://schemas.microsoft.com/office/drawing/2014/main" id="{107FC477-53B5-78BF-0B0F-D0BAE613228C}"/>
              </a:ext>
            </a:extLst>
          </p:cNvPr>
          <p:cNvSpPr>
            <a:spLocks noGrp="1"/>
          </p:cNvSpPr>
          <p:nvPr>
            <p:ph type="title"/>
          </p:nvPr>
        </p:nvSpPr>
        <p:spPr>
          <a:xfrm>
            <a:off x="486000" y="550723"/>
            <a:ext cx="8172000" cy="338554"/>
          </a:xfrm>
          <a:prstGeom prst="rect">
            <a:avLst/>
          </a:prstGeom>
        </p:spPr>
        <p:txBody>
          <a:bodyPr/>
          <a:lstStyle/>
          <a:p>
            <a:r>
              <a:rPr lang="zh-CN" altLang="en-US" dirty="0"/>
              <a:t>理想传输条件的特点</a:t>
            </a:r>
          </a:p>
        </p:txBody>
      </p:sp>
      <p:sp>
        <p:nvSpPr>
          <p:cNvPr id="2" name="矩形 1"/>
          <p:cNvSpPr/>
          <p:nvPr/>
        </p:nvSpPr>
        <p:spPr>
          <a:xfrm>
            <a:off x="860997" y="2429086"/>
            <a:ext cx="7440707" cy="1169551"/>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itchFamily="34" charset="-122"/>
                <a:ea typeface="微软雅黑" pitchFamily="34" charset="-122"/>
              </a:rPr>
              <a:t>在理想传输条件下，不需要采取任何措施就能够实现可靠传输。</a:t>
            </a:r>
          </a:p>
          <a:p>
            <a:pPr marL="285750" indent="-285750">
              <a:lnSpc>
                <a:spcPts val="2800"/>
              </a:lnSpc>
              <a:buFont typeface="Wingdings" panose="05000000000000000000" pitchFamily="2" charset="2"/>
              <a:buChar char="l"/>
            </a:pPr>
            <a:r>
              <a:rPr lang="zh-CN" altLang="en-US" b="1" dirty="0">
                <a:solidFill>
                  <a:srgbClr val="0000FF"/>
                </a:solidFill>
                <a:latin typeface="微软雅黑" pitchFamily="34" charset="-122"/>
                <a:ea typeface="微软雅黑" pitchFamily="34" charset="-122"/>
              </a:rPr>
              <a:t>但实际网络都不具备理想传输条件。</a:t>
            </a:r>
            <a:r>
              <a:rPr lang="zh-CN" altLang="en-US" b="1" dirty="0">
                <a:latin typeface="微软雅黑" pitchFamily="34" charset="-122"/>
                <a:ea typeface="微软雅黑" pitchFamily="34" charset="-122"/>
              </a:rPr>
              <a:t>必须使用一些可靠传输协议，在不可靠的传输信道实现可靠传输。</a:t>
            </a:r>
          </a:p>
        </p:txBody>
      </p:sp>
    </p:spTree>
    <p:extLst>
      <p:ext uri="{BB962C8B-B14F-4D97-AF65-F5344CB8AC3E}">
        <p14:creationId xmlns:p14="http://schemas.microsoft.com/office/powerpoint/2010/main" val="1383721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206B22E-8477-46A2-B12E-4312E3C00CFE}"/>
              </a:ext>
            </a:extLst>
          </p:cNvPr>
          <p:cNvSpPr>
            <a:spLocks noGrp="1"/>
          </p:cNvSpPr>
          <p:nvPr>
            <p:ph sz="quarter" idx="11"/>
          </p:nvPr>
        </p:nvSpPr>
        <p:spPr>
          <a:xfrm>
            <a:off x="486000" y="900000"/>
            <a:ext cx="8172000" cy="3703500"/>
          </a:xfrm>
        </p:spPr>
        <p:txBody>
          <a:bodyPr/>
          <a:lstStyle/>
          <a:p>
            <a:r>
              <a:rPr lang="zh-CN" altLang="en-US" dirty="0"/>
              <a:t>每发送完一个分组就停止发送，等待对方的确认。在收到确认后再发送下一个分组。</a:t>
            </a:r>
          </a:p>
          <a:p>
            <a:r>
              <a:rPr lang="zh-CN" altLang="en-US" dirty="0"/>
              <a:t>全双工通信的双方既是发送方也是接收方。</a:t>
            </a:r>
          </a:p>
          <a:p>
            <a:r>
              <a:rPr lang="zh-CN" altLang="en-US" dirty="0"/>
              <a:t>假设仅考虑 </a:t>
            </a:r>
            <a:r>
              <a:rPr lang="en-US" altLang="zh-CN" dirty="0"/>
              <a:t>A </a:t>
            </a:r>
            <a:r>
              <a:rPr lang="zh-CN" altLang="en-US" dirty="0"/>
              <a:t>发送数据，而 </a:t>
            </a:r>
            <a:r>
              <a:rPr lang="en-US" altLang="zh-CN" dirty="0"/>
              <a:t>B </a:t>
            </a:r>
            <a:r>
              <a:rPr lang="zh-CN" altLang="en-US" dirty="0"/>
              <a:t>接收数据并发送确认。因此 </a:t>
            </a:r>
            <a:r>
              <a:rPr lang="en-US" altLang="zh-CN" dirty="0"/>
              <a:t>A </a:t>
            </a:r>
            <a:r>
              <a:rPr lang="zh-CN" altLang="en-US" dirty="0"/>
              <a:t>叫做发送方，而 </a:t>
            </a:r>
            <a:r>
              <a:rPr lang="en-US" altLang="zh-CN" dirty="0"/>
              <a:t>B </a:t>
            </a:r>
            <a:r>
              <a:rPr lang="zh-CN" altLang="en-US" dirty="0"/>
              <a:t>叫做接收方。</a:t>
            </a:r>
          </a:p>
          <a:p>
            <a:endParaRPr lang="zh-CN" altLang="en-US" dirty="0"/>
          </a:p>
        </p:txBody>
      </p:sp>
      <p:sp>
        <p:nvSpPr>
          <p:cNvPr id="5" name="标题 4">
            <a:extLst>
              <a:ext uri="{FF2B5EF4-FFF2-40B4-BE49-F238E27FC236}">
                <a16:creationId xmlns:a16="http://schemas.microsoft.com/office/drawing/2014/main" id="{EAD1EDDE-D6E3-9CE3-4A21-F13876C217C2}"/>
              </a:ext>
            </a:extLst>
          </p:cNvPr>
          <p:cNvSpPr>
            <a:spLocks noGrp="1"/>
          </p:cNvSpPr>
          <p:nvPr>
            <p:ph type="title"/>
          </p:nvPr>
        </p:nvSpPr>
        <p:spPr>
          <a:xfrm>
            <a:off x="486000" y="550723"/>
            <a:ext cx="8172000" cy="338554"/>
          </a:xfrm>
        </p:spPr>
        <p:txBody>
          <a:bodyPr/>
          <a:lstStyle/>
          <a:p>
            <a:r>
              <a:rPr lang="en-US" altLang="zh-CN" dirty="0"/>
              <a:t>5.4.1  </a:t>
            </a:r>
            <a:r>
              <a:rPr lang="zh-CN" altLang="en-US" dirty="0"/>
              <a:t>停止等待协议</a:t>
            </a: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Text Box 155"/>
          <p:cNvSpPr txBox="1">
            <a:spLocks noChangeArrowheads="1"/>
          </p:cNvSpPr>
          <p:nvPr/>
        </p:nvSpPr>
        <p:spPr bwMode="auto">
          <a:xfrm>
            <a:off x="6145420" y="3372327"/>
            <a:ext cx="2922380" cy="137473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发送完分组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 后就暂停发送，等待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的确认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收到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在收到了对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的确认后，就再发送下一个分组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2</a:t>
            </a:r>
            <a:r>
              <a:rPr lang="zh-CN" altLang="en-US" sz="1400" b="1" dirty="0">
                <a:latin typeface="微软雅黑" pitchFamily="34" charset="-122"/>
                <a:ea typeface="微软雅黑" pitchFamily="34" charset="-122"/>
              </a:rPr>
              <a:t>。</a:t>
            </a:r>
          </a:p>
        </p:txBody>
      </p:sp>
      <p:sp>
        <p:nvSpPr>
          <p:cNvPr id="68" name="Freeform 17"/>
          <p:cNvSpPr>
            <a:spLocks/>
          </p:cNvSpPr>
          <p:nvPr/>
        </p:nvSpPr>
        <p:spPr bwMode="auto">
          <a:xfrm>
            <a:off x="3104636" y="1473745"/>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9" name="AutoShape 18"/>
          <p:cNvSpPr>
            <a:spLocks noChangeArrowheads="1"/>
          </p:cNvSpPr>
          <p:nvPr/>
        </p:nvSpPr>
        <p:spPr bwMode="auto">
          <a:xfrm rot="480000">
            <a:off x="3961075"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0" name="Rectangle 19"/>
          <p:cNvSpPr>
            <a:spLocks noChangeArrowheads="1"/>
          </p:cNvSpPr>
          <p:nvPr/>
        </p:nvSpPr>
        <p:spPr bwMode="auto">
          <a:xfrm rot="540000">
            <a:off x="3356252" y="1588331"/>
            <a:ext cx="363839"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72" name="Freeform 21"/>
          <p:cNvSpPr>
            <a:spLocks/>
          </p:cNvSpPr>
          <p:nvPr/>
        </p:nvSpPr>
        <p:spPr bwMode="auto">
          <a:xfrm>
            <a:off x="3103455" y="2458943"/>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3" name="AutoShape 22"/>
          <p:cNvSpPr>
            <a:spLocks noChangeArrowheads="1"/>
          </p:cNvSpPr>
          <p:nvPr/>
        </p:nvSpPr>
        <p:spPr bwMode="auto">
          <a:xfrm rot="480000">
            <a:off x="3959894"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4" name="Rectangle 23"/>
          <p:cNvSpPr>
            <a:spLocks noChangeArrowheads="1"/>
          </p:cNvSpPr>
          <p:nvPr/>
        </p:nvSpPr>
        <p:spPr bwMode="auto">
          <a:xfrm rot="540000">
            <a:off x="3344439" y="2573529"/>
            <a:ext cx="385102"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2</a:t>
            </a:r>
          </a:p>
        </p:txBody>
      </p:sp>
      <p:sp>
        <p:nvSpPr>
          <p:cNvPr id="76" name="Line 26"/>
          <p:cNvSpPr>
            <a:spLocks noChangeShapeType="1"/>
          </p:cNvSpPr>
          <p:nvPr/>
        </p:nvSpPr>
        <p:spPr bwMode="auto">
          <a:xfrm flipH="1">
            <a:off x="3114893" y="214472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rot="21169770">
            <a:off x="3331126" y="2030135"/>
            <a:ext cx="587085" cy="276422"/>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79" name="Line 29"/>
          <p:cNvSpPr>
            <a:spLocks noChangeShapeType="1"/>
          </p:cNvSpPr>
          <p:nvPr/>
        </p:nvSpPr>
        <p:spPr bwMode="auto">
          <a:xfrm flipH="1">
            <a:off x="3105443" y="317953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0" name="Text Box 30"/>
          <p:cNvSpPr txBox="1">
            <a:spLocks noChangeArrowheads="1"/>
          </p:cNvSpPr>
          <p:nvPr/>
        </p:nvSpPr>
        <p:spPr bwMode="auto">
          <a:xfrm rot="21169770">
            <a:off x="3321676" y="3059038"/>
            <a:ext cx="608011" cy="276423"/>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2</a:t>
            </a:r>
          </a:p>
        </p:txBody>
      </p:sp>
      <p:grpSp>
        <p:nvGrpSpPr>
          <p:cNvPr id="81" name="Group 33"/>
          <p:cNvGrpSpPr>
            <a:grpSpLocks/>
          </p:cNvGrpSpPr>
          <p:nvPr/>
        </p:nvGrpSpPr>
        <p:grpSpPr bwMode="auto">
          <a:xfrm>
            <a:off x="461865" y="1747808"/>
            <a:ext cx="1741229" cy="538670"/>
            <a:chOff x="446" y="1800"/>
            <a:chExt cx="1474" cy="456"/>
          </a:xfrm>
        </p:grpSpPr>
        <p:sp>
          <p:nvSpPr>
            <p:cNvPr id="82"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7"/>
          <p:cNvGrpSpPr>
            <a:grpSpLocks/>
          </p:cNvGrpSpPr>
          <p:nvPr/>
        </p:nvGrpSpPr>
        <p:grpSpPr bwMode="auto">
          <a:xfrm>
            <a:off x="461865" y="2299923"/>
            <a:ext cx="1741229" cy="523313"/>
            <a:chOff x="446" y="2304"/>
            <a:chExt cx="1474" cy="443"/>
          </a:xfrm>
        </p:grpSpPr>
        <p:sp>
          <p:nvSpPr>
            <p:cNvPr id="85" name="Text Box 35"/>
            <p:cNvSpPr txBox="1">
              <a:spLocks noChangeArrowheads="1"/>
            </p:cNvSpPr>
            <p:nvPr/>
          </p:nvSpPr>
          <p:spPr bwMode="auto">
            <a:xfrm>
              <a:off x="446" y="2304"/>
              <a:ext cx="1114"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0000CC"/>
                  </a:solidFill>
                  <a:latin typeface="微软雅黑" pitchFamily="34" charset="-122"/>
                  <a:ea typeface="微软雅黑" pitchFamily="34" charset="-122"/>
                </a:rPr>
                <a:t>收到 </a:t>
              </a:r>
              <a:r>
                <a:rPr lang="en-US" altLang="zh-CN" sz="1400" b="1" dirty="0">
                  <a:solidFill>
                    <a:srgbClr val="0000CC"/>
                  </a:solidFill>
                  <a:latin typeface="微软雅黑" pitchFamily="34" charset="-122"/>
                  <a:ea typeface="微软雅黑" pitchFamily="34" charset="-122"/>
                </a:rPr>
                <a:t>ACK</a:t>
              </a:r>
              <a:r>
                <a:rPr lang="zh-CN" altLang="en-US" sz="1400" b="1" dirty="0">
                  <a:solidFill>
                    <a:srgbClr val="0000CC"/>
                  </a:solidFill>
                  <a:latin typeface="微软雅黑" pitchFamily="34" charset="-122"/>
                  <a:ea typeface="微软雅黑" pitchFamily="34" charset="-122"/>
                </a:rPr>
                <a:t>，继续发送</a:t>
              </a:r>
            </a:p>
          </p:txBody>
        </p:sp>
        <p:sp>
          <p:nvSpPr>
            <p:cNvPr id="86" name="Line 36"/>
            <p:cNvSpPr>
              <a:spLocks noChangeShapeType="1"/>
            </p:cNvSpPr>
            <p:nvPr/>
          </p:nvSpPr>
          <p:spPr bwMode="auto">
            <a:xfrm>
              <a:off x="1296" y="2448"/>
              <a:ext cx="624" cy="0"/>
            </a:xfrm>
            <a:prstGeom prst="line">
              <a:avLst/>
            </a:prstGeom>
            <a:noFill/>
            <a:ln w="28575">
              <a:solidFill>
                <a:srgbClr val="00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90" name="Line 4"/>
          <p:cNvSpPr>
            <a:spLocks noChangeShapeType="1"/>
          </p:cNvSpPr>
          <p:nvPr/>
        </p:nvSpPr>
        <p:spPr bwMode="auto">
          <a:xfrm>
            <a:off x="3105911" y="1374516"/>
            <a:ext cx="0" cy="236613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1" name="Line 5"/>
          <p:cNvSpPr>
            <a:spLocks noChangeShapeType="1"/>
          </p:cNvSpPr>
          <p:nvPr/>
        </p:nvSpPr>
        <p:spPr bwMode="auto">
          <a:xfrm>
            <a:off x="4467756" y="1374516"/>
            <a:ext cx="0" cy="2351954"/>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33" name="Group 33"/>
          <p:cNvGrpSpPr>
            <a:grpSpLocks/>
          </p:cNvGrpSpPr>
          <p:nvPr/>
        </p:nvGrpSpPr>
        <p:grpSpPr bwMode="auto">
          <a:xfrm>
            <a:off x="461865" y="2743732"/>
            <a:ext cx="1741229" cy="538670"/>
            <a:chOff x="446" y="1800"/>
            <a:chExt cx="1474" cy="456"/>
          </a:xfrm>
        </p:grpSpPr>
        <p:sp>
          <p:nvSpPr>
            <p:cNvPr id="34"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35"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36" name="Rectangle 38"/>
          <p:cNvSpPr>
            <a:spLocks noChangeArrowheads="1"/>
          </p:cNvSpPr>
          <p:nvPr/>
        </p:nvSpPr>
        <p:spPr bwMode="auto">
          <a:xfrm>
            <a:off x="293413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37" name="Rectangle 39"/>
          <p:cNvSpPr>
            <a:spLocks noChangeArrowheads="1"/>
          </p:cNvSpPr>
          <p:nvPr/>
        </p:nvSpPr>
        <p:spPr bwMode="auto">
          <a:xfrm>
            <a:off x="4306259"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5" name="标题 4">
            <a:extLst>
              <a:ext uri="{FF2B5EF4-FFF2-40B4-BE49-F238E27FC236}">
                <a16:creationId xmlns:a16="http://schemas.microsoft.com/office/drawing/2014/main" id="{004129B5-641B-2FE1-8CE5-DAAFEC634604}"/>
              </a:ext>
            </a:extLst>
          </p:cNvPr>
          <p:cNvSpPr>
            <a:spLocks noGrp="1"/>
          </p:cNvSpPr>
          <p:nvPr>
            <p:ph type="title"/>
          </p:nvPr>
        </p:nvSpPr>
        <p:spPr>
          <a:prstGeom prst="rect">
            <a:avLst/>
          </a:prstGeom>
        </p:spPr>
        <p:txBody>
          <a:bodyPr/>
          <a:lstStyle/>
          <a:p>
            <a:r>
              <a:rPr lang="en-US" altLang="zh-CN" dirty="0"/>
              <a:t>1. </a:t>
            </a:r>
            <a:r>
              <a:rPr lang="zh-CN" altLang="en-US" dirty="0"/>
              <a:t>无差</a:t>
            </a:r>
            <a:r>
              <a:rPr lang="en-US" altLang="zh-CN" dirty="0"/>
              <a:t>a</a:t>
            </a:r>
            <a:r>
              <a:rPr lang="zh-CN" altLang="en-US" dirty="0"/>
              <a:t>错情况</a:t>
            </a:r>
          </a:p>
        </p:txBody>
      </p:sp>
    </p:spTree>
    <p:extLst>
      <p:ext uri="{BB962C8B-B14F-4D97-AF65-F5344CB8AC3E}">
        <p14:creationId xmlns:p14="http://schemas.microsoft.com/office/powerpoint/2010/main" val="143245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1000"/>
                                        <p:tgtEl>
                                          <p:spTgt spid="81"/>
                                        </p:tgtEl>
                                      </p:cBhvr>
                                    </p:animEffect>
                                  </p:childTnLst>
                                </p:cTn>
                              </p:par>
                            </p:childTnLst>
                          </p:cTn>
                        </p:par>
                        <p:par>
                          <p:cTn id="8" fill="hold">
                            <p:stCondLst>
                              <p:cond delay="1000"/>
                            </p:stCondLst>
                            <p:childTnLst>
                              <p:par>
                                <p:cTn id="9" presetID="22" presetClass="entr" presetSubtype="8" fill="hold" nodeType="afterEffect">
                                  <p:stCondLst>
                                    <p:cond delay="1000"/>
                                  </p:stCondLst>
                                  <p:childTnLst>
                                    <p:set>
                                      <p:cBhvr>
                                        <p:cTn id="10" dur="1" fill="hold">
                                          <p:stCondLst>
                                            <p:cond delay="0"/>
                                          </p:stCondLst>
                                        </p:cTn>
                                        <p:tgtEl>
                                          <p:spTgt spid="84"/>
                                        </p:tgtEl>
                                        <p:attrNameLst>
                                          <p:attrName>style.visibility</p:attrName>
                                        </p:attrNameLst>
                                      </p:cBhvr>
                                      <p:to>
                                        <p:strVal val="visible"/>
                                      </p:to>
                                    </p:set>
                                    <p:animEffect transition="in" filter="wipe(left)">
                                      <p:cBhvr>
                                        <p:cTn id="11" dur="1000"/>
                                        <p:tgtEl>
                                          <p:spTgt spid="84"/>
                                        </p:tgtEl>
                                      </p:cBhvr>
                                    </p:animEffect>
                                  </p:childTnLst>
                                </p:cTn>
                              </p:par>
                            </p:childTnLst>
                          </p:cTn>
                        </p:par>
                        <p:par>
                          <p:cTn id="12" fill="hold">
                            <p:stCondLst>
                              <p:cond delay="3000"/>
                            </p:stCondLst>
                            <p:childTnLst>
                              <p:par>
                                <p:cTn id="13" presetID="22" presetClass="entr" presetSubtype="8"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left)">
                                      <p:cBhvr>
                                        <p:cTn id="15" dur="1000"/>
                                        <p:tgtEl>
                                          <p:spTgt spid="3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6"/>
                                        </p:tgtEl>
                                        <p:attrNameLst>
                                          <p:attrName>style.visibility</p:attrName>
                                        </p:attrNameLst>
                                      </p:cBhvr>
                                      <p:to>
                                        <p:strVal val="visible"/>
                                      </p:to>
                                    </p:set>
                                    <p:animEffect transition="in" filter="fade">
                                      <p:cBhvr>
                                        <p:cTn id="20"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D9A1A526-0B06-535D-9FC0-F4F43FB8E596}"/>
              </a:ext>
            </a:extLst>
          </p:cNvPr>
          <p:cNvSpPr>
            <a:spLocks noGrp="1"/>
          </p:cNvSpPr>
          <p:nvPr>
            <p:ph sz="quarter" idx="11"/>
          </p:nvPr>
        </p:nvSpPr>
        <p:spPr>
          <a:xfrm>
            <a:off x="486000" y="900000"/>
            <a:ext cx="8172000" cy="3703500"/>
          </a:xfrm>
        </p:spPr>
        <p:txBody>
          <a:bodyPr/>
          <a:lstStyle/>
          <a:p>
            <a:r>
              <a:rPr lang="zh-CN" altLang="en-US" dirty="0"/>
              <a:t>两种情况：</a:t>
            </a:r>
          </a:p>
          <a:p>
            <a:r>
              <a:rPr lang="en-US" altLang="zh-CN" dirty="0"/>
              <a:t>B </a:t>
            </a:r>
            <a:r>
              <a:rPr lang="zh-CN" altLang="en-US" dirty="0"/>
              <a:t>接收 </a:t>
            </a:r>
            <a:r>
              <a:rPr lang="en-US" altLang="zh-CN" dirty="0"/>
              <a:t>M1 </a:t>
            </a:r>
            <a:r>
              <a:rPr lang="zh-CN" altLang="en-US" dirty="0"/>
              <a:t>时检测出了差错，就丢弃 </a:t>
            </a:r>
            <a:r>
              <a:rPr lang="en-US" altLang="zh-CN" dirty="0"/>
              <a:t>M1</a:t>
            </a:r>
            <a:r>
              <a:rPr lang="zh-CN" altLang="en-US" dirty="0"/>
              <a:t>，其他什么也不做（不通知 </a:t>
            </a:r>
            <a:r>
              <a:rPr lang="en-US" altLang="zh-CN" dirty="0"/>
              <a:t>A </a:t>
            </a:r>
            <a:r>
              <a:rPr lang="zh-CN" altLang="en-US" dirty="0"/>
              <a:t>收到有差错的分组）。</a:t>
            </a:r>
          </a:p>
          <a:p>
            <a:r>
              <a:rPr lang="en-US" altLang="zh-CN" dirty="0"/>
              <a:t>M1 </a:t>
            </a:r>
            <a:r>
              <a:rPr lang="zh-CN" altLang="en-US" dirty="0"/>
              <a:t>在传输过程中丢失了，这时 </a:t>
            </a:r>
            <a:r>
              <a:rPr lang="en-US" altLang="zh-CN" dirty="0"/>
              <a:t>B </a:t>
            </a:r>
            <a:r>
              <a:rPr lang="zh-CN" altLang="en-US" dirty="0"/>
              <a:t>当然什么都不知道，也什么都不做。</a:t>
            </a:r>
          </a:p>
          <a:p>
            <a:endParaRPr lang="en-US" altLang="zh-CN" dirty="0"/>
          </a:p>
          <a:p>
            <a:r>
              <a:rPr lang="zh-CN" altLang="en-US" dirty="0"/>
              <a:t>在这两种情况下，</a:t>
            </a:r>
            <a:r>
              <a:rPr lang="en-US" altLang="zh-CN" dirty="0"/>
              <a:t>B </a:t>
            </a:r>
            <a:r>
              <a:rPr lang="zh-CN" altLang="en-US" dirty="0"/>
              <a:t>都不会发送任何信息。</a:t>
            </a:r>
            <a:endParaRPr lang="en-US" altLang="zh-CN" dirty="0"/>
          </a:p>
          <a:p>
            <a:endParaRPr lang="zh-CN" altLang="en-US" dirty="0"/>
          </a:p>
        </p:txBody>
      </p:sp>
      <p:sp>
        <p:nvSpPr>
          <p:cNvPr id="7" name="标题 6">
            <a:extLst>
              <a:ext uri="{FF2B5EF4-FFF2-40B4-BE49-F238E27FC236}">
                <a16:creationId xmlns:a16="http://schemas.microsoft.com/office/drawing/2014/main" id="{12056353-546F-4B15-319C-66934627137C}"/>
              </a:ext>
            </a:extLst>
          </p:cNvPr>
          <p:cNvSpPr>
            <a:spLocks noGrp="1"/>
          </p:cNvSpPr>
          <p:nvPr>
            <p:ph type="title"/>
          </p:nvPr>
        </p:nvSpPr>
        <p:spPr>
          <a:xfrm>
            <a:off x="486000" y="550723"/>
            <a:ext cx="8172000" cy="338554"/>
          </a:xfrm>
          <a:prstGeom prst="rect">
            <a:avLst/>
          </a:prstGeo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14E6C818-0020-D109-3162-311C9ED10A49}"/>
              </a:ext>
            </a:extLst>
          </p:cNvPr>
          <p:cNvSpPr>
            <a:spLocks noGrp="1"/>
          </p:cNvSpPr>
          <p:nvPr>
            <p:ph sz="quarter" idx="11"/>
          </p:nvPr>
        </p:nvSpPr>
        <p:spPr>
          <a:xfrm>
            <a:off x="486000" y="900000"/>
            <a:ext cx="8172000" cy="3703500"/>
          </a:xfrm>
        </p:spPr>
        <p:txBody>
          <a:bodyPr/>
          <a:lstStyle/>
          <a:p>
            <a:r>
              <a:rPr lang="zh-CN" altLang="en-US" dirty="0"/>
              <a:t>问题：</a:t>
            </a:r>
            <a:r>
              <a:rPr lang="en-US" altLang="zh-CN" dirty="0"/>
              <a:t>A </a:t>
            </a:r>
            <a:r>
              <a:rPr lang="zh-CN" altLang="en-US" dirty="0"/>
              <a:t>如何知道 </a:t>
            </a:r>
            <a:r>
              <a:rPr lang="en-US" altLang="zh-CN" dirty="0"/>
              <a:t>B </a:t>
            </a:r>
            <a:r>
              <a:rPr lang="zh-CN" altLang="en-US" dirty="0"/>
              <a:t>是否正确收到了 </a:t>
            </a:r>
            <a:r>
              <a:rPr lang="en-US" altLang="zh-CN" dirty="0"/>
              <a:t>M1 </a:t>
            </a:r>
            <a:r>
              <a:rPr lang="zh-CN" altLang="en-US" dirty="0"/>
              <a:t>呢？</a:t>
            </a:r>
          </a:p>
          <a:p>
            <a:r>
              <a:rPr lang="zh-CN" altLang="en-US" dirty="0"/>
              <a:t>解决方法：超时重传</a:t>
            </a:r>
          </a:p>
          <a:p>
            <a:r>
              <a:rPr lang="en-US" altLang="zh-CN" dirty="0"/>
              <a:t>A </a:t>
            </a:r>
            <a:r>
              <a:rPr lang="zh-CN" altLang="en-US" dirty="0"/>
              <a:t>为每一个已发送的分组设置一个超时计时器。</a:t>
            </a:r>
          </a:p>
          <a:p>
            <a:r>
              <a:rPr lang="en-US" altLang="zh-CN" dirty="0"/>
              <a:t>A </a:t>
            </a:r>
            <a:r>
              <a:rPr lang="zh-CN" altLang="en-US" dirty="0"/>
              <a:t>只要在超时计时器到期之前收到了相应的确认，就撤销该超时计时器，继续发送下一个分组 </a:t>
            </a:r>
            <a:r>
              <a:rPr lang="en-US" altLang="zh-CN" dirty="0"/>
              <a:t>M2 </a:t>
            </a:r>
            <a:r>
              <a:rPr lang="zh-CN" altLang="en-US" dirty="0"/>
              <a:t>。</a:t>
            </a:r>
            <a:endParaRPr lang="en-US" altLang="zh-CN" dirty="0"/>
          </a:p>
          <a:p>
            <a:r>
              <a:rPr lang="zh-CN" altLang="en-US" dirty="0"/>
              <a:t>若 </a:t>
            </a:r>
            <a:r>
              <a:rPr lang="en-US" altLang="zh-CN" dirty="0"/>
              <a:t>A </a:t>
            </a:r>
            <a:r>
              <a:rPr lang="zh-CN" altLang="en-US" dirty="0"/>
              <a:t>在超时计时器规定时间内没有收到 </a:t>
            </a:r>
            <a:r>
              <a:rPr lang="en-US" altLang="zh-CN" dirty="0"/>
              <a:t>B </a:t>
            </a:r>
            <a:r>
              <a:rPr lang="zh-CN" altLang="en-US" dirty="0"/>
              <a:t>的确认，就认为分组错误或丢失，就重发该分组。</a:t>
            </a:r>
            <a:endParaRPr lang="en-US" altLang="zh-CN" dirty="0"/>
          </a:p>
          <a:p>
            <a:endParaRPr lang="zh-CN" altLang="en-US" dirty="0"/>
          </a:p>
        </p:txBody>
      </p:sp>
      <p:sp>
        <p:nvSpPr>
          <p:cNvPr id="7" name="标题 6">
            <a:extLst>
              <a:ext uri="{FF2B5EF4-FFF2-40B4-BE49-F238E27FC236}">
                <a16:creationId xmlns:a16="http://schemas.microsoft.com/office/drawing/2014/main" id="{18138565-1739-2FB1-7248-BB36B7BA41DB}"/>
              </a:ext>
            </a:extLst>
          </p:cNvPr>
          <p:cNvSpPr>
            <a:spLocks noGrp="1"/>
          </p:cNvSpPr>
          <p:nvPr>
            <p:ph type="title"/>
          </p:nvPr>
        </p:nvSpPr>
        <p:spPr>
          <a:xfrm>
            <a:off x="486000" y="550723"/>
            <a:ext cx="8172000" cy="338554"/>
          </a:xfrm>
          <a:prstGeom prst="rect">
            <a:avLst/>
          </a:prstGeo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5904073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Text Box 28"/>
          <p:cNvSpPr txBox="1">
            <a:spLocks noChangeArrowheads="1"/>
          </p:cNvSpPr>
          <p:nvPr/>
        </p:nvSpPr>
        <p:spPr bwMode="auto">
          <a:xfrm>
            <a:off x="2565148" y="419845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Montserrat" panose="00000500000000000000" pitchFamily="2" charset="0"/>
                <a:ea typeface="微软雅黑 Light" panose="020B0502040204020203" pitchFamily="34" charset="-122"/>
              </a:rPr>
              <a:t>分组错误</a:t>
            </a:r>
          </a:p>
        </p:txBody>
      </p:sp>
      <p:sp>
        <p:nvSpPr>
          <p:cNvPr id="38" name="Line 36"/>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9" name="Line 37"/>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0" name="Rectangle 38"/>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41" name="Rectangle 39"/>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43" name="Freeform 41"/>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4" name="AutoShape 42"/>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5" name="Rectangle 43"/>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47" name="Freeform 45"/>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8" name="AutoShape 46"/>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9" name="Rectangle 47"/>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51" name="Line 52"/>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2" name="Text Box 53"/>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54" name="AutoShape 60"/>
          <p:cNvSpPr>
            <a:spLocks noChangeArrowheads="1"/>
          </p:cNvSpPr>
          <p:nvPr/>
        </p:nvSpPr>
        <p:spPr bwMode="auto">
          <a:xfrm>
            <a:off x="3421520" y="1941161"/>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7" name="AutoShape 26"/>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Text Box 27"/>
          <p:cNvSpPr txBox="1">
            <a:spLocks noChangeArrowheads="1"/>
          </p:cNvSpPr>
          <p:nvPr/>
        </p:nvSpPr>
        <p:spPr bwMode="auto">
          <a:xfrm>
            <a:off x="525584" y="1644075"/>
            <a:ext cx="46296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nvGrpSpPr>
          <p:cNvPr id="59" name="组合 58"/>
          <p:cNvGrpSpPr/>
          <p:nvPr/>
        </p:nvGrpSpPr>
        <p:grpSpPr>
          <a:xfrm>
            <a:off x="6402443" y="1572080"/>
            <a:ext cx="1159152" cy="2259658"/>
            <a:chOff x="6885560" y="1647602"/>
            <a:chExt cx="1840305" cy="3179763"/>
          </a:xfrm>
        </p:grpSpPr>
        <p:sp>
          <p:nvSpPr>
            <p:cNvPr id="60" name="Line 4"/>
            <p:cNvSpPr>
              <a:spLocks noChangeShapeType="1"/>
            </p:cNvSpPr>
            <p:nvPr/>
          </p:nvSpPr>
          <p:spPr bwMode="auto">
            <a:xfrm>
              <a:off x="6885560"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Line 5"/>
            <p:cNvSpPr>
              <a:spLocks noChangeShapeType="1"/>
            </p:cNvSpPr>
            <p:nvPr/>
          </p:nvSpPr>
          <p:spPr bwMode="auto">
            <a:xfrm>
              <a:off x="8725865" y="1647602"/>
              <a:ext cx="0" cy="3160712"/>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62" name="Rectangle 6"/>
          <p:cNvSpPr>
            <a:spLocks noChangeArrowheads="1"/>
          </p:cNvSpPr>
          <p:nvPr/>
        </p:nvSpPr>
        <p:spPr bwMode="auto">
          <a:xfrm>
            <a:off x="6280577" y="1242748"/>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63" name="Rectangle 7"/>
          <p:cNvSpPr>
            <a:spLocks noChangeArrowheads="1"/>
          </p:cNvSpPr>
          <p:nvPr/>
        </p:nvSpPr>
        <p:spPr bwMode="auto">
          <a:xfrm>
            <a:off x="7455482" y="1242748"/>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64" name="Group 8"/>
          <p:cNvGrpSpPr>
            <a:grpSpLocks/>
          </p:cNvGrpSpPr>
          <p:nvPr/>
        </p:nvGrpSpPr>
        <p:grpSpPr bwMode="auto">
          <a:xfrm>
            <a:off x="6404567" y="1656074"/>
            <a:ext cx="1071912" cy="489960"/>
            <a:chOff x="3769" y="1868"/>
            <a:chExt cx="1072" cy="490"/>
          </a:xfrm>
        </p:grpSpPr>
        <p:sp>
          <p:nvSpPr>
            <p:cNvPr id="65" name="Freeform 9"/>
            <p:cNvSpPr>
              <a:spLocks/>
            </p:cNvSpPr>
            <p:nvPr/>
          </p:nvSpPr>
          <p:spPr bwMode="auto">
            <a:xfrm>
              <a:off x="3769" y="1868"/>
              <a:ext cx="1072"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6" name="AutoShape 10"/>
            <p:cNvSpPr>
              <a:spLocks noChangeArrowheads="1"/>
            </p:cNvSpPr>
            <p:nvPr/>
          </p:nvSpPr>
          <p:spPr bwMode="auto">
            <a:xfrm rot="480000">
              <a:off x="4521"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Rectangle 11"/>
            <p:cNvSpPr>
              <a:spLocks noChangeArrowheads="1"/>
            </p:cNvSpPr>
            <p:nvPr/>
          </p:nvSpPr>
          <p:spPr bwMode="auto">
            <a:xfrm rot="540000">
              <a:off x="3968" y="1941"/>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8" name="Group 12"/>
          <p:cNvGrpSpPr>
            <a:grpSpLocks/>
          </p:cNvGrpSpPr>
          <p:nvPr/>
        </p:nvGrpSpPr>
        <p:grpSpPr bwMode="auto">
          <a:xfrm>
            <a:off x="6403567" y="2585997"/>
            <a:ext cx="1155905" cy="489960"/>
            <a:chOff x="3439" y="3564"/>
            <a:chExt cx="1156" cy="490"/>
          </a:xfrm>
        </p:grpSpPr>
        <p:sp>
          <p:nvSpPr>
            <p:cNvPr id="69" name="Freeform 13"/>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0" name="AutoShape 14"/>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Rectangle 15"/>
            <p:cNvSpPr>
              <a:spLocks noChangeArrowheads="1"/>
            </p:cNvSpPr>
            <p:nvPr/>
          </p:nvSpPr>
          <p:spPr bwMode="auto">
            <a:xfrm rot="540000">
              <a:off x="3642"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72" name="Text Box 16"/>
          <p:cNvSpPr txBox="1">
            <a:spLocks noChangeArrowheads="1"/>
          </p:cNvSpPr>
          <p:nvPr/>
        </p:nvSpPr>
        <p:spPr bwMode="auto">
          <a:xfrm>
            <a:off x="6557173" y="395279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分组丢失</a:t>
            </a:r>
          </a:p>
        </p:txBody>
      </p:sp>
      <p:grpSp>
        <p:nvGrpSpPr>
          <p:cNvPr id="73" name="Group 17"/>
          <p:cNvGrpSpPr>
            <a:grpSpLocks/>
          </p:cNvGrpSpPr>
          <p:nvPr/>
        </p:nvGrpSpPr>
        <p:grpSpPr bwMode="auto">
          <a:xfrm>
            <a:off x="6386568" y="3045962"/>
            <a:ext cx="1176904" cy="350972"/>
            <a:chOff x="2012" y="2265"/>
            <a:chExt cx="1177" cy="351"/>
          </a:xfrm>
        </p:grpSpPr>
        <p:sp>
          <p:nvSpPr>
            <p:cNvPr id="74" name="Line 18"/>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Text Box 19"/>
            <p:cNvSpPr txBox="1">
              <a:spLocks noChangeArrowheads="1"/>
            </p:cNvSpPr>
            <p:nvPr/>
          </p:nvSpPr>
          <p:spPr bwMode="auto">
            <a:xfrm rot="21169770">
              <a:off x="2147" y="2265"/>
              <a:ext cx="68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endParaRPr kumimoji="0" lang="en-US" altLang="zh-CN" sz="1400" b="1" dirty="0">
                <a:latin typeface="微软雅黑" pitchFamily="34" charset="-122"/>
                <a:ea typeface="微软雅黑" pitchFamily="34" charset="-122"/>
              </a:endParaRPr>
            </a:p>
          </p:txBody>
        </p:sp>
      </p:grpSp>
      <p:sp>
        <p:nvSpPr>
          <p:cNvPr id="76" name="AutoShape 20"/>
          <p:cNvSpPr>
            <a:spLocks noChangeArrowheads="1"/>
          </p:cNvSpPr>
          <p:nvPr/>
        </p:nvSpPr>
        <p:spPr bwMode="auto">
          <a:xfrm>
            <a:off x="7294494" y="1591079"/>
            <a:ext cx="475961" cy="4589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77" name="Text Box 24"/>
          <p:cNvSpPr txBox="1">
            <a:spLocks noChangeArrowheads="1"/>
          </p:cNvSpPr>
          <p:nvPr/>
        </p:nvSpPr>
        <p:spPr bwMode="auto">
          <a:xfrm>
            <a:off x="5472643" y="260699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78" name="Group 25"/>
          <p:cNvGrpSpPr>
            <a:grpSpLocks/>
          </p:cNvGrpSpPr>
          <p:nvPr/>
        </p:nvGrpSpPr>
        <p:grpSpPr bwMode="auto">
          <a:xfrm>
            <a:off x="5823613" y="2000045"/>
            <a:ext cx="502959" cy="583952"/>
            <a:chOff x="3188" y="2204"/>
            <a:chExt cx="503" cy="584"/>
          </a:xfrm>
        </p:grpSpPr>
        <p:sp>
          <p:nvSpPr>
            <p:cNvPr id="79" name="AutoShape 26"/>
            <p:cNvSpPr>
              <a:spLocks/>
            </p:cNvSpPr>
            <p:nvPr/>
          </p:nvSpPr>
          <p:spPr bwMode="auto">
            <a:xfrm>
              <a:off x="3635"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Text Box 27"/>
            <p:cNvSpPr txBox="1">
              <a:spLocks noChangeArrowheads="1"/>
            </p:cNvSpPr>
            <p:nvPr/>
          </p:nvSpPr>
          <p:spPr bwMode="auto">
            <a:xfrm>
              <a:off x="3188" y="2311"/>
              <a:ext cx="463"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sp>
        <p:nvSpPr>
          <p:cNvPr id="82" name="Text Box 31"/>
          <p:cNvSpPr txBox="1">
            <a:spLocks noChangeArrowheads="1"/>
          </p:cNvSpPr>
          <p:nvPr/>
        </p:nvSpPr>
        <p:spPr bwMode="auto">
          <a:xfrm>
            <a:off x="389174" y="1854628"/>
            <a:ext cx="1052534" cy="799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grpSp>
        <p:nvGrpSpPr>
          <p:cNvPr id="84" name="Group 33"/>
          <p:cNvGrpSpPr>
            <a:grpSpLocks/>
          </p:cNvGrpSpPr>
          <p:nvPr/>
        </p:nvGrpSpPr>
        <p:grpSpPr bwMode="auto">
          <a:xfrm>
            <a:off x="4945125" y="1854628"/>
            <a:ext cx="1333681" cy="799738"/>
            <a:chOff x="791" y="1800"/>
            <a:chExt cx="1129" cy="677"/>
          </a:xfrm>
        </p:grpSpPr>
        <p:sp>
          <p:nvSpPr>
            <p:cNvPr id="85" name="Text Box 31"/>
            <p:cNvSpPr txBox="1">
              <a:spLocks noChangeArrowheads="1"/>
            </p:cNvSpPr>
            <p:nvPr/>
          </p:nvSpPr>
          <p:spPr bwMode="auto">
            <a:xfrm>
              <a:off x="791" y="1800"/>
              <a:ext cx="825"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6"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8" name="TextBox 86"/>
          <p:cNvSpPr txBox="1"/>
          <p:nvPr/>
        </p:nvSpPr>
        <p:spPr>
          <a:xfrm>
            <a:off x="7553223" y="2988665"/>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8" name="标题 7">
            <a:extLst>
              <a:ext uri="{FF2B5EF4-FFF2-40B4-BE49-F238E27FC236}">
                <a16:creationId xmlns:a16="http://schemas.microsoft.com/office/drawing/2014/main" id="{4A41305C-57A5-CBA6-E7F9-7329568C6DC6}"/>
              </a:ext>
            </a:extLst>
          </p:cNvPr>
          <p:cNvSpPr>
            <a:spLocks noGrp="1"/>
          </p:cNvSpPr>
          <p:nvPr>
            <p:ph type="title"/>
          </p:nvPr>
        </p:nvSpPr>
        <p:spPr>
          <a:prstGeom prst="rect">
            <a:avLst/>
          </a:prstGeom>
        </p:spPr>
        <p:txBody>
          <a:bodyPr/>
          <a:lstStyle/>
          <a:p>
            <a:r>
              <a:rPr lang="en-US" altLang="zh-CN" dirty="0"/>
              <a:t>2. </a:t>
            </a:r>
            <a:r>
              <a:rPr lang="zh-CN" altLang="en-US" dirty="0"/>
              <a:t>出现差错</a:t>
            </a:r>
          </a:p>
        </p:txBody>
      </p:sp>
      <p:pic>
        <p:nvPicPr>
          <p:cNvPr id="3" name="图形 2" descr="时钟">
            <a:extLst>
              <a:ext uri="{FF2B5EF4-FFF2-40B4-BE49-F238E27FC236}">
                <a16:creationId xmlns:a16="http://schemas.microsoft.com/office/drawing/2014/main" id="{30AC21A3-FF3E-7D70-69B0-854E958EE93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4" name="TextBox 86">
            <a:extLst>
              <a:ext uri="{FF2B5EF4-FFF2-40B4-BE49-F238E27FC236}">
                <a16:creationId xmlns:a16="http://schemas.microsoft.com/office/drawing/2014/main" id="{8335279F-3770-8B98-DD9F-1D6A34CE9A76}"/>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5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5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8" fill="hold" nodeType="clickEffect">
                                  <p:stCondLst>
                                    <p:cond delay="2000"/>
                                  </p:stCondLst>
                                  <p:childTnLst>
                                    <p:set>
                                      <p:cBhvr>
                                        <p:cTn id="13" dur="1" fill="hold">
                                          <p:stCondLst>
                                            <p:cond delay="0"/>
                                          </p:stCondLst>
                                        </p:cTn>
                                        <p:tgtEl>
                                          <p:spTgt spid="64"/>
                                        </p:tgtEl>
                                        <p:attrNameLst>
                                          <p:attrName>style.visibility</p:attrName>
                                        </p:attrNameLst>
                                      </p:cBhvr>
                                      <p:to>
                                        <p:strVal val="visible"/>
                                      </p:to>
                                    </p:set>
                                    <p:animEffect transition="in" filter="wipe(left)">
                                      <p:cBhvr>
                                        <p:cTn id="14" dur="2000"/>
                                        <p:tgtEl>
                                          <p:spTgt spid="64"/>
                                        </p:tgtEl>
                                      </p:cBhvr>
                                    </p:animEffect>
                                  </p:childTnLst>
                                </p:cTn>
                              </p:par>
                            </p:childTnLst>
                          </p:cTn>
                        </p:par>
                        <p:par>
                          <p:cTn id="15" fill="hold">
                            <p:stCondLst>
                              <p:cond delay="4000"/>
                            </p:stCondLst>
                            <p:childTnLst>
                              <p:par>
                                <p:cTn id="16" presetID="22" presetClass="entr" presetSubtype="8" fill="hold" nodeType="afterEffect">
                                  <p:stCondLst>
                                    <p:cond delay="0"/>
                                  </p:stCondLst>
                                  <p:childTnLst>
                                    <p:set>
                                      <p:cBhvr>
                                        <p:cTn id="17" dur="1" fill="hold">
                                          <p:stCondLst>
                                            <p:cond delay="0"/>
                                          </p:stCondLst>
                                        </p:cTn>
                                        <p:tgtEl>
                                          <p:spTgt spid="84"/>
                                        </p:tgtEl>
                                        <p:attrNameLst>
                                          <p:attrName>style.visibility</p:attrName>
                                        </p:attrNameLst>
                                      </p:cBhvr>
                                      <p:to>
                                        <p:strVal val="visible"/>
                                      </p:to>
                                    </p:set>
                                    <p:animEffect transition="in" filter="wipe(left)">
                                      <p:cBhvr>
                                        <p:cTn id="18" dur="1000"/>
                                        <p:tgtEl>
                                          <p:spTgt spid="84"/>
                                        </p:tgtEl>
                                      </p:cBhvr>
                                    </p:animEffect>
                                  </p:childTnLst>
                                </p:cTn>
                              </p:par>
                            </p:childTnLst>
                          </p:cTn>
                        </p:par>
                        <p:par>
                          <p:cTn id="19" fill="hold">
                            <p:stCondLst>
                              <p:cond delay="5000"/>
                            </p:stCondLst>
                            <p:childTnLst>
                              <p:par>
                                <p:cTn id="20" presetID="1" presetClass="entr" presetSubtype="0" fill="hold" grpId="0" nodeType="afterEffect">
                                  <p:stCondLst>
                                    <p:cond delay="1000"/>
                                  </p:stCondLst>
                                  <p:childTnLst>
                                    <p:set>
                                      <p:cBhvr>
                                        <p:cTn id="21" dur="1" fill="hold">
                                          <p:stCondLst>
                                            <p:cond delay="0"/>
                                          </p:stCondLst>
                                        </p:cTn>
                                        <p:tgtEl>
                                          <p:spTgt spid="76"/>
                                        </p:tgtEl>
                                        <p:attrNameLst>
                                          <p:attrName>style.visibility</p:attrName>
                                        </p:attrNameLst>
                                      </p:cBhvr>
                                      <p:to>
                                        <p:strVal val="visible"/>
                                      </p:to>
                                    </p:set>
                                  </p:childTnLst>
                                </p:cTn>
                              </p:par>
                            </p:childTnLst>
                          </p:cTn>
                        </p:par>
                        <p:par>
                          <p:cTn id="22" fill="hold">
                            <p:stCondLst>
                              <p:cond delay="6000"/>
                            </p:stCondLst>
                            <p:childTnLst>
                              <p:par>
                                <p:cTn id="23" presetID="35" presetClass="emph" presetSubtype="0" repeatCount="3000" fill="hold" grpId="1" nodeType="afterEffect">
                                  <p:stCondLst>
                                    <p:cond delay="0"/>
                                  </p:stCondLst>
                                  <p:childTnLst>
                                    <p:anim calcmode="discrete" valueType="str">
                                      <p:cBhvr>
                                        <p:cTn id="24" dur="500" fill="hold"/>
                                        <p:tgtEl>
                                          <p:spTgt spid="76"/>
                                        </p:tgtEl>
                                        <p:attrNameLst>
                                          <p:attrName>style.visibility</p:attrName>
                                        </p:attrNameLst>
                                      </p:cBhvr>
                                      <p:tavLst>
                                        <p:tav tm="0">
                                          <p:val>
                                            <p:strVal val="hidden"/>
                                          </p:val>
                                        </p:tav>
                                        <p:tav tm="50000">
                                          <p:val>
                                            <p:strVal val="visible"/>
                                          </p:val>
                                        </p:tav>
                                      </p:tavLst>
                                    </p:anim>
                                  </p:childTnLst>
                                </p:cTn>
                              </p:par>
                            </p:childTnLst>
                          </p:cTn>
                        </p:par>
                        <p:par>
                          <p:cTn id="25" fill="hold">
                            <p:stCondLst>
                              <p:cond delay="7500"/>
                            </p:stCondLst>
                            <p:childTnLst>
                              <p:par>
                                <p:cTn id="26" presetID="1" presetClass="entr" presetSubtype="0" fill="hold" nodeType="afterEffect">
                                  <p:stCondLst>
                                    <p:cond delay="0"/>
                                  </p:stCondLst>
                                  <p:childTnLst>
                                    <p:set>
                                      <p:cBhvr>
                                        <p:cTn id="27" dur="1" fill="hold">
                                          <p:stCondLst>
                                            <p:cond delay="0"/>
                                          </p:stCondLst>
                                        </p:cTn>
                                        <p:tgtEl>
                                          <p:spTgt spid="78"/>
                                        </p:tgtEl>
                                        <p:attrNameLst>
                                          <p:attrName>style.visibility</p:attrName>
                                        </p:attrNameLst>
                                      </p:cBhvr>
                                      <p:to>
                                        <p:strVal val="visible"/>
                                      </p:to>
                                    </p:set>
                                  </p:childTnLst>
                                </p:cTn>
                              </p:par>
                            </p:childTnLst>
                          </p:cTn>
                        </p:par>
                        <p:par>
                          <p:cTn id="28" fill="hold">
                            <p:stCondLst>
                              <p:cond delay="7500"/>
                            </p:stCondLst>
                            <p:childTnLst>
                              <p:par>
                                <p:cTn id="29" presetID="35" presetClass="emph" presetSubtype="0" repeatCount="3000" fill="hold" nodeType="afterEffect">
                                  <p:stCondLst>
                                    <p:cond delay="0"/>
                                  </p:stCondLst>
                                  <p:childTnLst>
                                    <p:anim calcmode="discrete" valueType="str">
                                      <p:cBhvr>
                                        <p:cTn id="30" dur="500" fill="hold"/>
                                        <p:tgtEl>
                                          <p:spTgt spid="78"/>
                                        </p:tgtEl>
                                        <p:attrNameLst>
                                          <p:attrName>style.visibility</p:attrName>
                                        </p:attrNameLst>
                                      </p:cBhvr>
                                      <p:tavLst>
                                        <p:tav tm="0">
                                          <p:val>
                                            <p:strVal val="hidden"/>
                                          </p:val>
                                        </p:tav>
                                        <p:tav tm="50000">
                                          <p:val>
                                            <p:strVal val="visible"/>
                                          </p:val>
                                        </p:tav>
                                      </p:tavLst>
                                    </p:anim>
                                  </p:childTnLst>
                                </p:cTn>
                              </p:par>
                            </p:childTnLst>
                          </p:cTn>
                        </p:par>
                        <p:par>
                          <p:cTn id="31" fill="hold">
                            <p:stCondLst>
                              <p:cond delay="9000"/>
                            </p:stCondLst>
                            <p:childTnLst>
                              <p:par>
                                <p:cTn id="32" presetID="1" presetClass="entr" presetSubtype="0" fill="hold" grpId="0" nodeType="afterEffect">
                                  <p:stCondLst>
                                    <p:cond delay="1000"/>
                                  </p:stCondLst>
                                  <p:childTnLst>
                                    <p:set>
                                      <p:cBhvr>
                                        <p:cTn id="33" dur="1" fill="hold">
                                          <p:stCondLst>
                                            <p:cond delay="0"/>
                                          </p:stCondLst>
                                        </p:cTn>
                                        <p:tgtEl>
                                          <p:spTgt spid="77"/>
                                        </p:tgtEl>
                                        <p:attrNameLst>
                                          <p:attrName>style.visibility</p:attrName>
                                        </p:attrNameLst>
                                      </p:cBhvr>
                                      <p:to>
                                        <p:strVal val="visible"/>
                                      </p:to>
                                    </p:set>
                                  </p:childTnLst>
                                </p:cTn>
                              </p:par>
                            </p:childTnLst>
                          </p:cTn>
                        </p:par>
                        <p:par>
                          <p:cTn id="34" fill="hold">
                            <p:stCondLst>
                              <p:cond delay="10000"/>
                            </p:stCondLst>
                            <p:childTnLst>
                              <p:par>
                                <p:cTn id="35" presetID="35" presetClass="emph" presetSubtype="0" repeatCount="3000" fill="hold" grpId="1" nodeType="afterEffect">
                                  <p:stCondLst>
                                    <p:cond delay="0"/>
                                  </p:stCondLst>
                                  <p:childTnLst>
                                    <p:anim calcmode="discrete" valueType="str">
                                      <p:cBhvr>
                                        <p:cTn id="36" dur="500" fill="hold"/>
                                        <p:tgtEl>
                                          <p:spTgt spid="77"/>
                                        </p:tgtEl>
                                        <p:attrNameLst>
                                          <p:attrName>style.visibility</p:attrName>
                                        </p:attrNameLst>
                                      </p:cBhvr>
                                      <p:tavLst>
                                        <p:tav tm="0">
                                          <p:val>
                                            <p:strVal val="hidden"/>
                                          </p:val>
                                        </p:tav>
                                        <p:tav tm="50000">
                                          <p:val>
                                            <p:strVal val="visible"/>
                                          </p:val>
                                        </p:tav>
                                      </p:tavLst>
                                    </p:anim>
                                  </p:childTnLst>
                                </p:cTn>
                              </p:par>
                            </p:childTnLst>
                          </p:cTn>
                        </p:par>
                        <p:par>
                          <p:cTn id="37" fill="hold">
                            <p:stCondLst>
                              <p:cond delay="11500"/>
                            </p:stCondLst>
                            <p:childTnLst>
                              <p:par>
                                <p:cTn id="38" presetID="22" presetClass="entr" presetSubtype="8" fill="hold" nodeType="afterEffect">
                                  <p:stCondLst>
                                    <p:cond delay="0"/>
                                  </p:stCondLst>
                                  <p:childTnLst>
                                    <p:set>
                                      <p:cBhvr>
                                        <p:cTn id="39" dur="1" fill="hold">
                                          <p:stCondLst>
                                            <p:cond delay="0"/>
                                          </p:stCondLst>
                                        </p:cTn>
                                        <p:tgtEl>
                                          <p:spTgt spid="68"/>
                                        </p:tgtEl>
                                        <p:attrNameLst>
                                          <p:attrName>style.visibility</p:attrName>
                                        </p:attrNameLst>
                                      </p:cBhvr>
                                      <p:to>
                                        <p:strVal val="visible"/>
                                      </p:to>
                                    </p:set>
                                    <p:animEffect transition="in" filter="wipe(left)">
                                      <p:cBhvr>
                                        <p:cTn id="40" dur="2000"/>
                                        <p:tgtEl>
                                          <p:spTgt spid="68"/>
                                        </p:tgtEl>
                                      </p:cBhvr>
                                    </p:animEffect>
                                  </p:childTnLst>
                                </p:cTn>
                              </p:par>
                            </p:childTnLst>
                          </p:cTn>
                        </p:par>
                        <p:par>
                          <p:cTn id="41" fill="hold">
                            <p:stCondLst>
                              <p:cond delay="13500"/>
                            </p:stCondLst>
                            <p:childTnLst>
                              <p:par>
                                <p:cTn id="42" presetID="1" presetClass="entr" presetSubtype="0" fill="hold" grpId="0" nodeType="afterEffect">
                                  <p:stCondLst>
                                    <p:cond delay="0"/>
                                  </p:stCondLst>
                                  <p:childTnLst>
                                    <p:set>
                                      <p:cBhvr>
                                        <p:cTn id="43" dur="1" fill="hold">
                                          <p:stCondLst>
                                            <p:cond delay="999"/>
                                          </p:stCondLst>
                                        </p:cTn>
                                        <p:tgtEl>
                                          <p:spTgt spid="88"/>
                                        </p:tgtEl>
                                        <p:attrNameLst>
                                          <p:attrName>style.visibility</p:attrName>
                                        </p:attrNameLst>
                                      </p:cBhvr>
                                      <p:to>
                                        <p:strVal val="visible"/>
                                      </p:to>
                                    </p:set>
                                  </p:childTnLst>
                                </p:cTn>
                              </p:par>
                            </p:childTnLst>
                          </p:cTn>
                        </p:par>
                        <p:par>
                          <p:cTn id="44" fill="hold">
                            <p:stCondLst>
                              <p:cond delay="14500"/>
                            </p:stCondLst>
                            <p:childTnLst>
                              <p:par>
                                <p:cTn id="45" presetID="35" presetClass="emph" presetSubtype="0" repeatCount="3000" fill="hold" grpId="1" nodeType="afterEffect">
                                  <p:stCondLst>
                                    <p:cond delay="0"/>
                                  </p:stCondLst>
                                  <p:childTnLst>
                                    <p:anim calcmode="discrete" valueType="str">
                                      <p:cBhvr>
                                        <p:cTn id="46" dur="500" fill="hold"/>
                                        <p:tgtEl>
                                          <p:spTgt spid="88"/>
                                        </p:tgtEl>
                                        <p:attrNameLst>
                                          <p:attrName>style.visibility</p:attrName>
                                        </p:attrNameLst>
                                      </p:cBhvr>
                                      <p:tavLst>
                                        <p:tav tm="0">
                                          <p:val>
                                            <p:strVal val="hidden"/>
                                          </p:val>
                                        </p:tav>
                                        <p:tav tm="50000">
                                          <p:val>
                                            <p:strVal val="visible"/>
                                          </p:val>
                                        </p:tav>
                                      </p:tavLst>
                                    </p:anim>
                                  </p:childTnLst>
                                </p:cTn>
                              </p:par>
                            </p:childTnLst>
                          </p:cTn>
                        </p:par>
                        <p:par>
                          <p:cTn id="47" fill="hold">
                            <p:stCondLst>
                              <p:cond delay="16000"/>
                            </p:stCondLst>
                            <p:childTnLst>
                              <p:par>
                                <p:cTn id="48" presetID="22" presetClass="entr" presetSubtype="2" fill="hold" nodeType="afterEffect">
                                  <p:stCondLst>
                                    <p:cond delay="500"/>
                                  </p:stCondLst>
                                  <p:childTnLst>
                                    <p:set>
                                      <p:cBhvr>
                                        <p:cTn id="49" dur="1" fill="hold">
                                          <p:stCondLst>
                                            <p:cond delay="0"/>
                                          </p:stCondLst>
                                        </p:cTn>
                                        <p:tgtEl>
                                          <p:spTgt spid="73"/>
                                        </p:tgtEl>
                                        <p:attrNameLst>
                                          <p:attrName>style.visibility</p:attrName>
                                        </p:attrNameLst>
                                      </p:cBhvr>
                                      <p:to>
                                        <p:strVal val="visible"/>
                                      </p:to>
                                    </p:set>
                                    <p:animEffect transition="in" filter="wipe(right)">
                                      <p:cBhvr>
                                        <p:cTn id="50" dur="2000"/>
                                        <p:tgtEl>
                                          <p:spTgt spid="73"/>
                                        </p:tgtEl>
                                      </p:cBhvr>
                                    </p:animEffect>
                                  </p:childTnLst>
                                </p:cTn>
                              </p:par>
                            </p:childTnLst>
                          </p:cTn>
                        </p:par>
                        <p:par>
                          <p:cTn id="51" fill="hold">
                            <p:stCondLst>
                              <p:cond delay="18500"/>
                            </p:stCondLst>
                            <p:childTnLst>
                              <p:par>
                                <p:cTn id="52" presetID="1" presetClass="entr" presetSubtype="0" fill="hold" grpId="0" nodeType="afterEffect">
                                  <p:stCondLst>
                                    <p:cond delay="0"/>
                                  </p:stCondLst>
                                  <p:childTnLst>
                                    <p:set>
                                      <p:cBhvr>
                                        <p:cTn id="53" dur="1" fill="hold">
                                          <p:stCondLst>
                                            <p:cond delay="999"/>
                                          </p:stCondLst>
                                        </p:cTn>
                                        <p:tgtEl>
                                          <p:spTgt spid="4"/>
                                        </p:tgtEl>
                                        <p:attrNameLst>
                                          <p:attrName>style.visibility</p:attrName>
                                        </p:attrNameLst>
                                      </p:cBhvr>
                                      <p:to>
                                        <p:strVal val="visible"/>
                                      </p:to>
                                    </p:set>
                                  </p:childTnLst>
                                </p:cTn>
                              </p:par>
                              <p:par>
                                <p:cTn id="54" presetID="35" presetClass="emph" presetSubtype="0" repeatCount="3000" fill="hold" grpId="1" nodeType="withEffect">
                                  <p:stCondLst>
                                    <p:cond delay="0"/>
                                  </p:stCondLst>
                                  <p:childTnLst>
                                    <p:anim calcmode="discrete" valueType="str">
                                      <p:cBhvr>
                                        <p:cTn id="55" dur="5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P spid="54" grpId="1" animBg="1"/>
      <p:bldP spid="76" grpId="0" animBg="1"/>
      <p:bldP spid="76" grpId="1" animBg="1"/>
      <p:bldP spid="77" grpId="0"/>
      <p:bldP spid="77" grpId="1"/>
      <p:bldP spid="88" grpId="0"/>
      <p:bldP spid="88" grpId="1"/>
      <p:bldP spid="4" grpId="0"/>
      <p:bldP spid="4" grpId="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E5D3959C-F6ED-ECE8-9152-5C5DA29E426B}"/>
              </a:ext>
            </a:extLst>
          </p:cNvPr>
          <p:cNvSpPr>
            <a:spLocks noGrp="1"/>
          </p:cNvSpPr>
          <p:nvPr>
            <p:ph sz="quarter" idx="11"/>
          </p:nvPr>
        </p:nvSpPr>
        <p:spPr>
          <a:xfrm>
            <a:off x="486000" y="900000"/>
            <a:ext cx="8172000" cy="3703500"/>
          </a:xfrm>
        </p:spPr>
        <p:txBody>
          <a:bodyPr/>
          <a:lstStyle/>
          <a:p>
            <a:r>
              <a:rPr lang="zh-CN" altLang="en-US" dirty="0"/>
              <a:t>确认丢失</a:t>
            </a:r>
          </a:p>
          <a:p>
            <a:r>
              <a:rPr lang="zh-CN" altLang="en-US" dirty="0"/>
              <a:t>若 </a:t>
            </a:r>
            <a:r>
              <a:rPr lang="en-US" altLang="zh-CN" dirty="0"/>
              <a:t>B </a:t>
            </a:r>
            <a:r>
              <a:rPr lang="zh-CN" altLang="en-US" dirty="0"/>
              <a:t>所发送的对 </a:t>
            </a:r>
            <a:r>
              <a:rPr lang="en-US" altLang="zh-CN" dirty="0"/>
              <a:t>M1 </a:t>
            </a:r>
            <a:r>
              <a:rPr lang="zh-CN" altLang="en-US" dirty="0"/>
              <a:t>的确认丢失了，那么 </a:t>
            </a:r>
            <a:r>
              <a:rPr lang="en-US" altLang="zh-CN" dirty="0"/>
              <a:t>A </a:t>
            </a:r>
            <a:r>
              <a:rPr lang="zh-CN" altLang="en-US" dirty="0"/>
              <a:t>在设定的超时重传时间内将不会收到确认，因此 </a:t>
            </a:r>
            <a:r>
              <a:rPr lang="en-US" altLang="zh-CN" dirty="0"/>
              <a:t>A </a:t>
            </a:r>
            <a:r>
              <a:rPr lang="zh-CN" altLang="en-US" dirty="0"/>
              <a:t>在超时计时器到期后重传 </a:t>
            </a:r>
            <a:r>
              <a:rPr lang="en-US" altLang="zh-CN" dirty="0"/>
              <a:t>M1</a:t>
            </a:r>
            <a:r>
              <a:rPr lang="zh-CN" altLang="en-US" dirty="0"/>
              <a:t>。</a:t>
            </a:r>
          </a:p>
          <a:p>
            <a:r>
              <a:rPr lang="zh-CN" altLang="en-US" dirty="0"/>
              <a:t>假定 </a:t>
            </a:r>
            <a:r>
              <a:rPr lang="en-US" altLang="zh-CN" dirty="0"/>
              <a:t>B </a:t>
            </a:r>
            <a:r>
              <a:rPr lang="zh-CN" altLang="en-US" dirty="0"/>
              <a:t>正确收到了 </a:t>
            </a:r>
            <a:r>
              <a:rPr lang="en-US" altLang="zh-CN" dirty="0"/>
              <a:t>A </a:t>
            </a:r>
            <a:r>
              <a:rPr lang="zh-CN" altLang="en-US" dirty="0"/>
              <a:t>重传的分组 </a:t>
            </a:r>
            <a:r>
              <a:rPr lang="en-US" altLang="zh-CN" dirty="0"/>
              <a:t>M1</a:t>
            </a:r>
            <a:r>
              <a:rPr lang="zh-CN" altLang="en-US" dirty="0"/>
              <a:t>。这时 </a:t>
            </a:r>
            <a:r>
              <a:rPr lang="en-US" altLang="zh-CN" dirty="0"/>
              <a:t>B </a:t>
            </a:r>
            <a:r>
              <a:rPr lang="zh-CN" altLang="en-US" dirty="0"/>
              <a:t>应采取两个行动：</a:t>
            </a:r>
          </a:p>
          <a:p>
            <a:r>
              <a:rPr lang="en-US" altLang="zh-CN" dirty="0"/>
              <a:t>(1) </a:t>
            </a:r>
            <a:r>
              <a:rPr lang="zh-CN" altLang="en-US" dirty="0"/>
              <a:t>丢弃这个重复的分组 </a:t>
            </a:r>
            <a:r>
              <a:rPr lang="en-US" altLang="zh-CN" dirty="0"/>
              <a:t>M1</a:t>
            </a:r>
            <a:r>
              <a:rPr lang="zh-CN" altLang="en-US" dirty="0"/>
              <a:t>，不向上层交付。</a:t>
            </a:r>
          </a:p>
          <a:p>
            <a:r>
              <a:rPr lang="en-US" altLang="zh-CN" dirty="0"/>
              <a:t>(2) </a:t>
            </a:r>
            <a:r>
              <a:rPr lang="zh-CN" altLang="en-US" dirty="0"/>
              <a:t>向 </a:t>
            </a:r>
            <a:r>
              <a:rPr lang="en-US" altLang="zh-CN" dirty="0"/>
              <a:t>A </a:t>
            </a:r>
            <a:r>
              <a:rPr lang="zh-CN" altLang="en-US" dirty="0"/>
              <a:t>发送确认。</a:t>
            </a:r>
          </a:p>
          <a:p>
            <a:endParaRPr lang="zh-CN" altLang="en-US" dirty="0"/>
          </a:p>
        </p:txBody>
      </p:sp>
      <p:sp>
        <p:nvSpPr>
          <p:cNvPr id="8" name="标题 7">
            <a:extLst>
              <a:ext uri="{FF2B5EF4-FFF2-40B4-BE49-F238E27FC236}">
                <a16:creationId xmlns:a16="http://schemas.microsoft.com/office/drawing/2014/main" id="{EAC8B45F-E998-77D3-1958-B5FA41A252B0}"/>
              </a:ext>
            </a:extLst>
          </p:cNvPr>
          <p:cNvSpPr>
            <a:spLocks noGrp="1"/>
          </p:cNvSpPr>
          <p:nvPr>
            <p:ph type="title"/>
          </p:nvPr>
        </p:nvSpPr>
        <p:spPr>
          <a:xfrm>
            <a:off x="486000" y="550723"/>
            <a:ext cx="8172000" cy="338554"/>
          </a:xfrm>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863179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0F9E29E-AF0C-57E6-9BEC-E223B4DE4C3B}"/>
              </a:ext>
            </a:extLst>
          </p:cNvPr>
          <p:cNvSpPr>
            <a:spLocks noGrp="1"/>
          </p:cNvSpPr>
          <p:nvPr>
            <p:ph sz="quarter" idx="11"/>
          </p:nvPr>
        </p:nvSpPr>
        <p:spPr>
          <a:xfrm>
            <a:off x="486000" y="900000"/>
            <a:ext cx="8172000" cy="3703500"/>
          </a:xfrm>
        </p:spPr>
        <p:txBody>
          <a:bodyPr/>
          <a:lstStyle/>
          <a:p>
            <a:r>
              <a:rPr lang="zh-CN" altLang="en-US" dirty="0"/>
              <a:t>确认迟到</a:t>
            </a:r>
          </a:p>
          <a:p>
            <a:r>
              <a:rPr lang="en-US" altLang="zh-CN" dirty="0"/>
              <a:t>B </a:t>
            </a:r>
            <a:r>
              <a:rPr lang="zh-CN" altLang="en-US" dirty="0"/>
              <a:t>对分组 </a:t>
            </a:r>
            <a:r>
              <a:rPr lang="en-US" altLang="zh-CN" dirty="0"/>
              <a:t>M1 </a:t>
            </a:r>
            <a:r>
              <a:rPr lang="zh-CN" altLang="en-US" dirty="0"/>
              <a:t>的确认迟到了，因此 </a:t>
            </a:r>
            <a:r>
              <a:rPr lang="en-US" altLang="zh-CN" dirty="0"/>
              <a:t>A </a:t>
            </a:r>
            <a:r>
              <a:rPr lang="zh-CN" altLang="en-US" dirty="0"/>
              <a:t>在超时计时器到期后重传 </a:t>
            </a:r>
            <a:r>
              <a:rPr lang="en-US" altLang="zh-CN" dirty="0"/>
              <a:t>M1</a:t>
            </a:r>
            <a:r>
              <a:rPr lang="zh-CN" altLang="en-US" dirty="0"/>
              <a:t>。</a:t>
            </a:r>
            <a:endParaRPr lang="en-US" altLang="zh-CN" dirty="0"/>
          </a:p>
          <a:p>
            <a:r>
              <a:rPr lang="en-US" altLang="zh-CN" dirty="0"/>
              <a:t>B </a:t>
            </a:r>
            <a:r>
              <a:rPr lang="zh-CN" altLang="en-US" dirty="0"/>
              <a:t>会收到重复的 </a:t>
            </a:r>
            <a:r>
              <a:rPr lang="en-US" altLang="zh-CN" dirty="0"/>
              <a:t>M1</a:t>
            </a:r>
            <a:r>
              <a:rPr lang="zh-CN" altLang="en-US" dirty="0"/>
              <a:t>，丢弃重复的 </a:t>
            </a:r>
            <a:r>
              <a:rPr lang="en-US" altLang="zh-CN" dirty="0"/>
              <a:t>M1</a:t>
            </a:r>
            <a:r>
              <a:rPr lang="zh-CN" altLang="en-US" dirty="0"/>
              <a:t>，并重传确认分组。</a:t>
            </a:r>
          </a:p>
          <a:p>
            <a:r>
              <a:rPr lang="en-US" altLang="zh-CN" dirty="0"/>
              <a:t>A </a:t>
            </a:r>
            <a:r>
              <a:rPr lang="zh-CN" altLang="en-US" dirty="0"/>
              <a:t>会收到重复的确认。对重复的确认的处理：丢弃。</a:t>
            </a:r>
          </a:p>
          <a:p>
            <a:endParaRPr lang="zh-CN" altLang="en-US" dirty="0"/>
          </a:p>
        </p:txBody>
      </p:sp>
      <p:sp>
        <p:nvSpPr>
          <p:cNvPr id="8" name="标题 7">
            <a:extLst>
              <a:ext uri="{FF2B5EF4-FFF2-40B4-BE49-F238E27FC236}">
                <a16:creationId xmlns:a16="http://schemas.microsoft.com/office/drawing/2014/main" id="{D78F5F81-7539-906D-7400-1338D58CD5C6}"/>
              </a:ext>
            </a:extLst>
          </p:cNvPr>
          <p:cNvSpPr>
            <a:spLocks noGrp="1"/>
          </p:cNvSpPr>
          <p:nvPr>
            <p:ph type="title"/>
          </p:nvPr>
        </p:nvSpPr>
        <p:spPr>
          <a:xfrm>
            <a:off x="486000" y="550723"/>
            <a:ext cx="8172000" cy="338554"/>
          </a:xfrm>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6243687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A2D8C35-B046-98A8-EDB9-7F850AAB986B}"/>
              </a:ext>
            </a:extLst>
          </p:cNvPr>
          <p:cNvSpPr>
            <a:spLocks noGrp="1"/>
          </p:cNvSpPr>
          <p:nvPr>
            <p:ph type="title"/>
          </p:nvPr>
        </p:nvSpPr>
        <p:spPr>
          <a:xfrm>
            <a:off x="486000" y="550723"/>
            <a:ext cx="8172000" cy="338554"/>
          </a:xfrm>
        </p:spPr>
        <p:txBody>
          <a:bodyPr/>
          <a:lstStyle/>
          <a:p>
            <a:r>
              <a:rPr lang="zh-CN" altLang="en-US" dirty="0"/>
              <a:t>确认丢失</a:t>
            </a:r>
          </a:p>
        </p:txBody>
      </p:sp>
      <p:sp>
        <p:nvSpPr>
          <p:cNvPr id="5" name="Line 36">
            <a:extLst>
              <a:ext uri="{FF2B5EF4-FFF2-40B4-BE49-F238E27FC236}">
                <a16:creationId xmlns:a16="http://schemas.microsoft.com/office/drawing/2014/main" id="{EDE38C5F-DF9E-3812-85E2-C2AAA2712F59}"/>
              </a:ext>
            </a:extLst>
          </p:cNvPr>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F1B97DBF-8DF8-31BA-48DE-88A3397FFA9B}"/>
              </a:ext>
            </a:extLst>
          </p:cNvPr>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EB097374-2ED8-3A29-8994-0BF89B44B462}"/>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D3EEB67E-D265-8C32-4BB5-587502B062CB}"/>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60663EF3-E6E6-E448-75CB-9CB6735EFC2C}"/>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E40D72A3-A7B5-7BEB-E8ED-2EAC1D7024DF}"/>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D01A62F4-59BB-AA2D-50E8-12ABFC59B516}"/>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17B0FF49-C60B-7ED4-AE37-8CA18CD7DB7E}"/>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BADEC1B6-B3E5-10F2-0566-0E850E8A7444}"/>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A548E8A1-15AB-2036-B8EB-10554C634D7A}"/>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CC9E091A-2083-9FFF-5D06-C0CD6B1BD8D6}"/>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6D3D487E-07D9-F11B-0AE5-A161C46098E9}"/>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49E5BE39-1BE0-AE83-0E54-C83D3668C27A}"/>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218FDD7B-5B2E-DE27-0184-892B3EB53C7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2" name="Line 52">
            <a:extLst>
              <a:ext uri="{FF2B5EF4-FFF2-40B4-BE49-F238E27FC236}">
                <a16:creationId xmlns:a16="http://schemas.microsoft.com/office/drawing/2014/main" id="{16DA1BD4-A363-11AD-6304-7FC5FA71857A}"/>
              </a:ext>
            </a:extLst>
          </p:cNvPr>
          <p:cNvSpPr>
            <a:spLocks noChangeShapeType="1"/>
          </p:cNvSpPr>
          <p:nvPr/>
        </p:nvSpPr>
        <p:spPr bwMode="auto">
          <a:xfrm flipH="1">
            <a:off x="2427078" y="2206096"/>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AutoShape 60">
            <a:extLst>
              <a:ext uri="{FF2B5EF4-FFF2-40B4-BE49-F238E27FC236}">
                <a16:creationId xmlns:a16="http://schemas.microsoft.com/office/drawing/2014/main" id="{D1F08D59-B957-8C84-93D1-2330B537E75E}"/>
              </a:ext>
            </a:extLst>
          </p:cNvPr>
          <p:cNvSpPr>
            <a:spLocks noChangeArrowheads="1"/>
          </p:cNvSpPr>
          <p:nvPr/>
        </p:nvSpPr>
        <p:spPr bwMode="auto">
          <a:xfrm>
            <a:off x="2669557" y="2113377"/>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4" name="TextBox 86">
            <a:extLst>
              <a:ext uri="{FF2B5EF4-FFF2-40B4-BE49-F238E27FC236}">
                <a16:creationId xmlns:a16="http://schemas.microsoft.com/office/drawing/2014/main" id="{0DDFB30D-8DD4-8A08-60C4-F0AA610E86F1}"/>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
        <p:nvSpPr>
          <p:cNvPr id="25" name="TextBox 86">
            <a:extLst>
              <a:ext uri="{FF2B5EF4-FFF2-40B4-BE49-F238E27FC236}">
                <a16:creationId xmlns:a16="http://schemas.microsoft.com/office/drawing/2014/main" id="{A1705A10-CAF1-E97C-F291-F98758FAB7ED}"/>
              </a:ext>
            </a:extLst>
          </p:cNvPr>
          <p:cNvSpPr txBox="1"/>
          <p:nvPr/>
        </p:nvSpPr>
        <p:spPr>
          <a:xfrm>
            <a:off x="3575313" y="28509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Tree>
    <p:extLst>
      <p:ext uri="{BB962C8B-B14F-4D97-AF65-F5344CB8AC3E}">
        <p14:creationId xmlns:p14="http://schemas.microsoft.com/office/powerpoint/2010/main" val="28145133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23"/>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23"/>
                                        </p:tgtEl>
                                        <p:attrNameLst>
                                          <p:attrName>style.visibility</p:attrName>
                                        </p:attrNameLst>
                                      </p:cBhvr>
                                      <p:tavLst>
                                        <p:tav tm="0">
                                          <p:val>
                                            <p:strVal val="hidden"/>
                                          </p:val>
                                        </p:tav>
                                        <p:tav tm="50000">
                                          <p:val>
                                            <p:strVal val="visible"/>
                                          </p:val>
                                        </p:tav>
                                      </p:tavLst>
                                    </p:anim>
                                  </p:childTnLst>
                                </p:cTn>
                              </p:par>
                            </p:childTnLst>
                          </p:cTn>
                        </p:par>
                        <p:par>
                          <p:cTn id="10" fill="hold">
                            <p:stCondLst>
                              <p:cond delay="2500"/>
                            </p:stCondLst>
                            <p:childTnLst>
                              <p:par>
                                <p:cTn id="11" presetID="1" presetClass="entr" presetSubtype="0" fill="hold" grpId="0" nodeType="afterEffect">
                                  <p:stCondLst>
                                    <p:cond delay="0"/>
                                  </p:stCondLst>
                                  <p:childTnLst>
                                    <p:set>
                                      <p:cBhvr>
                                        <p:cTn id="12" dur="1" fill="hold">
                                          <p:stCondLst>
                                            <p:cond delay="999"/>
                                          </p:stCondLst>
                                        </p:cTn>
                                        <p:tgtEl>
                                          <p:spTgt spid="24"/>
                                        </p:tgtEl>
                                        <p:attrNameLst>
                                          <p:attrName>style.visibility</p:attrName>
                                        </p:attrNameLst>
                                      </p:cBhvr>
                                      <p:to>
                                        <p:strVal val="visible"/>
                                      </p:to>
                                    </p:set>
                                  </p:childTnLst>
                                </p:cTn>
                              </p:par>
                              <p:par>
                                <p:cTn id="13" presetID="35" presetClass="emph" presetSubtype="0" repeatCount="3000" fill="hold" grpId="1" nodeType="withEffect">
                                  <p:stCondLst>
                                    <p:cond delay="0"/>
                                  </p:stCondLst>
                                  <p:childTnLst>
                                    <p:anim calcmode="discrete" valueType="str">
                                      <p:cBhvr>
                                        <p:cTn id="14" dur="500" fill="hold"/>
                                        <p:tgtEl>
                                          <p:spTgt spid="24"/>
                                        </p:tgtEl>
                                        <p:attrNameLst>
                                          <p:attrName>style.visibility</p:attrName>
                                        </p:attrNameLst>
                                      </p:cBhvr>
                                      <p:tavLst>
                                        <p:tav tm="0">
                                          <p:val>
                                            <p:strVal val="hidden"/>
                                          </p:val>
                                        </p:tav>
                                        <p:tav tm="50000">
                                          <p:val>
                                            <p:strVal val="visible"/>
                                          </p:val>
                                        </p:tav>
                                      </p:tavLst>
                                    </p:anim>
                                  </p:childTnLst>
                                </p:cTn>
                              </p:par>
                            </p:childTnLst>
                          </p:cTn>
                        </p:par>
                        <p:par>
                          <p:cTn id="15" fill="hold">
                            <p:stCondLst>
                              <p:cond delay="4000"/>
                            </p:stCondLst>
                            <p:childTnLst>
                              <p:par>
                                <p:cTn id="16" presetID="1" presetClass="entr" presetSubtype="0" fill="hold" grpId="0" nodeType="afterEffect">
                                  <p:stCondLst>
                                    <p:cond delay="0"/>
                                  </p:stCondLst>
                                  <p:childTnLst>
                                    <p:set>
                                      <p:cBhvr>
                                        <p:cTn id="17" dur="1" fill="hold">
                                          <p:stCondLst>
                                            <p:cond delay="999"/>
                                          </p:stCondLst>
                                        </p:cTn>
                                        <p:tgtEl>
                                          <p:spTgt spid="25"/>
                                        </p:tgtEl>
                                        <p:attrNameLst>
                                          <p:attrName>style.visibility</p:attrName>
                                        </p:attrNameLst>
                                      </p:cBhvr>
                                      <p:to>
                                        <p:strVal val="visible"/>
                                      </p:to>
                                    </p:set>
                                  </p:childTnLst>
                                </p:cTn>
                              </p:par>
                              <p:par>
                                <p:cTn id="18" presetID="35" presetClass="emph" presetSubtype="0" repeatCount="3000" fill="hold" grpId="1" nodeType="withEffect">
                                  <p:stCondLst>
                                    <p:cond delay="0"/>
                                  </p:stCondLst>
                                  <p:childTnLst>
                                    <p:anim calcmode="discrete" valueType="str">
                                      <p:cBhvr>
                                        <p:cTn id="19" dur="5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p:bldP spid="24" grpId="1"/>
      <p:bldP spid="25" grpId="0"/>
      <p:bldP spid="25" grpId="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组合 52"/>
          <p:cNvGrpSpPr/>
          <p:nvPr/>
        </p:nvGrpSpPr>
        <p:grpSpPr>
          <a:xfrm>
            <a:off x="2151462" y="1337233"/>
            <a:ext cx="1082227" cy="2099762"/>
            <a:chOff x="1965184" y="1647602"/>
            <a:chExt cx="1834656" cy="3179763"/>
          </a:xfrm>
        </p:grpSpPr>
        <p:sp>
          <p:nvSpPr>
            <p:cNvPr id="54" name="Line 28"/>
            <p:cNvSpPr>
              <a:spLocks noChangeShapeType="1"/>
            </p:cNvSpPr>
            <p:nvPr/>
          </p:nvSpPr>
          <p:spPr bwMode="auto">
            <a:xfrm>
              <a:off x="1965184"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29"/>
            <p:cNvSpPr>
              <a:spLocks noChangeShapeType="1"/>
            </p:cNvSpPr>
            <p:nvPr/>
          </p:nvSpPr>
          <p:spPr bwMode="auto">
            <a:xfrm>
              <a:off x="3799840"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56" name="Rectangle 30"/>
          <p:cNvSpPr>
            <a:spLocks noChangeArrowheads="1"/>
          </p:cNvSpPr>
          <p:nvPr/>
        </p:nvSpPr>
        <p:spPr bwMode="auto">
          <a:xfrm>
            <a:off x="1982174"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57" name="Rectangle 31"/>
          <p:cNvSpPr>
            <a:spLocks noChangeArrowheads="1"/>
          </p:cNvSpPr>
          <p:nvPr/>
        </p:nvSpPr>
        <p:spPr bwMode="auto">
          <a:xfrm>
            <a:off x="3082484"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58" name="Group 32"/>
          <p:cNvGrpSpPr>
            <a:grpSpLocks/>
          </p:cNvGrpSpPr>
          <p:nvPr/>
        </p:nvGrpSpPr>
        <p:grpSpPr bwMode="auto">
          <a:xfrm>
            <a:off x="2153156" y="1415894"/>
            <a:ext cx="1080298" cy="458853"/>
            <a:chOff x="3769" y="1868"/>
            <a:chExt cx="1057" cy="490"/>
          </a:xfrm>
        </p:grpSpPr>
        <p:sp>
          <p:nvSpPr>
            <p:cNvPr id="59"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2" name="Group 36"/>
          <p:cNvGrpSpPr>
            <a:grpSpLocks/>
          </p:cNvGrpSpPr>
          <p:nvPr/>
        </p:nvGrpSpPr>
        <p:grpSpPr bwMode="auto">
          <a:xfrm>
            <a:off x="2152219" y="2286778"/>
            <a:ext cx="1082519" cy="458853"/>
            <a:chOff x="3439" y="3564"/>
            <a:chExt cx="1156" cy="490"/>
          </a:xfrm>
        </p:grpSpPr>
        <p:sp>
          <p:nvSpPr>
            <p:cNvPr id="63"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66" name="Text Box 40"/>
          <p:cNvSpPr txBox="1">
            <a:spLocks noChangeArrowheads="1"/>
          </p:cNvSpPr>
          <p:nvPr/>
        </p:nvSpPr>
        <p:spPr bwMode="auto">
          <a:xfrm>
            <a:off x="2263248"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确认丢失</a:t>
            </a:r>
          </a:p>
        </p:txBody>
      </p:sp>
      <p:grpSp>
        <p:nvGrpSpPr>
          <p:cNvPr id="67" name="Group 41"/>
          <p:cNvGrpSpPr>
            <a:grpSpLocks/>
          </p:cNvGrpSpPr>
          <p:nvPr/>
        </p:nvGrpSpPr>
        <p:grpSpPr bwMode="auto">
          <a:xfrm>
            <a:off x="2136299" y="2734396"/>
            <a:ext cx="1102183" cy="311833"/>
            <a:chOff x="2012" y="2283"/>
            <a:chExt cx="1177" cy="333"/>
          </a:xfrm>
        </p:grpSpPr>
        <p:sp>
          <p:nvSpPr>
            <p:cNvPr id="68"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9"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0" name="Text Box 47"/>
          <p:cNvSpPr txBox="1">
            <a:spLocks noChangeArrowheads="1"/>
          </p:cNvSpPr>
          <p:nvPr/>
        </p:nvSpPr>
        <p:spPr bwMode="auto">
          <a:xfrm>
            <a:off x="1280398"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C00CC"/>
                </a:solidFill>
                <a:latin typeface="微软雅黑" pitchFamily="34" charset="-122"/>
                <a:ea typeface="微软雅黑" pitchFamily="34" charset="-122"/>
              </a:rPr>
              <a:t>超时重传</a:t>
            </a:r>
          </a:p>
        </p:txBody>
      </p:sp>
      <p:grpSp>
        <p:nvGrpSpPr>
          <p:cNvPr id="71" name="Group 48"/>
          <p:cNvGrpSpPr>
            <a:grpSpLocks/>
          </p:cNvGrpSpPr>
          <p:nvPr/>
        </p:nvGrpSpPr>
        <p:grpSpPr bwMode="auto">
          <a:xfrm>
            <a:off x="1576311" y="1738027"/>
            <a:ext cx="499119" cy="546878"/>
            <a:chOff x="3153" y="2204"/>
            <a:chExt cx="533" cy="584"/>
          </a:xfrm>
        </p:grpSpPr>
        <p:sp>
          <p:nvSpPr>
            <p:cNvPr id="72"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74" name="Group 51"/>
          <p:cNvGrpSpPr>
            <a:grpSpLocks/>
          </p:cNvGrpSpPr>
          <p:nvPr/>
        </p:nvGrpSpPr>
        <p:grpSpPr bwMode="auto">
          <a:xfrm>
            <a:off x="2290137" y="1839164"/>
            <a:ext cx="937372" cy="336180"/>
            <a:chOff x="4012" y="2397"/>
            <a:chExt cx="1001" cy="359"/>
          </a:xfrm>
        </p:grpSpPr>
        <p:sp>
          <p:nvSpPr>
            <p:cNvPr id="75" name="Line 52"/>
            <p:cNvSpPr>
              <a:spLocks noChangeShapeType="1"/>
            </p:cNvSpPr>
            <p:nvPr/>
          </p:nvSpPr>
          <p:spPr bwMode="auto">
            <a:xfrm flipH="1">
              <a:off x="4012" y="2555"/>
              <a:ext cx="1001"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6" name="Text Box 53"/>
            <p:cNvSpPr txBox="1">
              <a:spLocks noChangeArrowheads="1"/>
            </p:cNvSpPr>
            <p:nvPr/>
          </p:nvSpPr>
          <p:spPr bwMode="auto">
            <a:xfrm rot="21169770">
              <a:off x="4145" y="2397"/>
              <a:ext cx="715"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7" name="AutoShape 57"/>
          <p:cNvSpPr>
            <a:spLocks noChangeArrowheads="1"/>
          </p:cNvSpPr>
          <p:nvPr/>
        </p:nvSpPr>
        <p:spPr bwMode="auto">
          <a:xfrm>
            <a:off x="2094160" y="1944043"/>
            <a:ext cx="414841" cy="3408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8" name="组合 77"/>
          <p:cNvGrpSpPr/>
          <p:nvPr/>
        </p:nvGrpSpPr>
        <p:grpSpPr>
          <a:xfrm>
            <a:off x="6030643" y="1337233"/>
            <a:ext cx="1082227" cy="2692542"/>
            <a:chOff x="6891708" y="1647602"/>
            <a:chExt cx="1834656" cy="3179763"/>
          </a:xfrm>
        </p:grpSpPr>
        <p:sp>
          <p:nvSpPr>
            <p:cNvPr id="79" name="Line 28"/>
            <p:cNvSpPr>
              <a:spLocks noChangeShapeType="1"/>
            </p:cNvSpPr>
            <p:nvPr/>
          </p:nvSpPr>
          <p:spPr bwMode="auto">
            <a:xfrm>
              <a:off x="6891708"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Line 29"/>
            <p:cNvSpPr>
              <a:spLocks noChangeShapeType="1"/>
            </p:cNvSpPr>
            <p:nvPr/>
          </p:nvSpPr>
          <p:spPr bwMode="auto">
            <a:xfrm>
              <a:off x="8726364"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81" name="Rectangle 30"/>
          <p:cNvSpPr>
            <a:spLocks noChangeArrowheads="1"/>
          </p:cNvSpPr>
          <p:nvPr/>
        </p:nvSpPr>
        <p:spPr bwMode="auto">
          <a:xfrm>
            <a:off x="5861356"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82" name="Rectangle 31"/>
          <p:cNvSpPr>
            <a:spLocks noChangeArrowheads="1"/>
          </p:cNvSpPr>
          <p:nvPr/>
        </p:nvSpPr>
        <p:spPr bwMode="auto">
          <a:xfrm>
            <a:off x="6961666"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83" name="Group 32"/>
          <p:cNvGrpSpPr>
            <a:grpSpLocks/>
          </p:cNvGrpSpPr>
          <p:nvPr/>
        </p:nvGrpSpPr>
        <p:grpSpPr bwMode="auto">
          <a:xfrm>
            <a:off x="6032337" y="1415894"/>
            <a:ext cx="1080298" cy="458853"/>
            <a:chOff x="3769" y="1868"/>
            <a:chExt cx="1057" cy="490"/>
          </a:xfrm>
        </p:grpSpPr>
        <p:sp>
          <p:nvSpPr>
            <p:cNvPr id="84"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6"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87" name="Group 36"/>
          <p:cNvGrpSpPr>
            <a:grpSpLocks/>
          </p:cNvGrpSpPr>
          <p:nvPr/>
        </p:nvGrpSpPr>
        <p:grpSpPr bwMode="auto">
          <a:xfrm>
            <a:off x="6031400" y="2286778"/>
            <a:ext cx="1082519" cy="458853"/>
            <a:chOff x="3439" y="3564"/>
            <a:chExt cx="1156" cy="490"/>
          </a:xfrm>
        </p:grpSpPr>
        <p:sp>
          <p:nvSpPr>
            <p:cNvPr id="88"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9"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91" name="Text Box 40"/>
          <p:cNvSpPr txBox="1">
            <a:spLocks noChangeArrowheads="1"/>
          </p:cNvSpPr>
          <p:nvPr/>
        </p:nvSpPr>
        <p:spPr bwMode="auto">
          <a:xfrm>
            <a:off x="6142429"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确认迟到</a:t>
            </a:r>
          </a:p>
        </p:txBody>
      </p:sp>
      <p:grpSp>
        <p:nvGrpSpPr>
          <p:cNvPr id="92" name="Group 41"/>
          <p:cNvGrpSpPr>
            <a:grpSpLocks/>
          </p:cNvGrpSpPr>
          <p:nvPr/>
        </p:nvGrpSpPr>
        <p:grpSpPr bwMode="auto">
          <a:xfrm>
            <a:off x="6015481" y="2734396"/>
            <a:ext cx="1102183" cy="311833"/>
            <a:chOff x="2012" y="2283"/>
            <a:chExt cx="1177" cy="333"/>
          </a:xfrm>
        </p:grpSpPr>
        <p:sp>
          <p:nvSpPr>
            <p:cNvPr id="93"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4"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95" name="Text Box 47"/>
          <p:cNvSpPr txBox="1">
            <a:spLocks noChangeArrowheads="1"/>
          </p:cNvSpPr>
          <p:nvPr/>
        </p:nvSpPr>
        <p:spPr bwMode="auto">
          <a:xfrm>
            <a:off x="5130084"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r"/>
            <a:r>
              <a:rPr kumimoji="0" lang="zh-CN" altLang="en-US" sz="1400" b="1" dirty="0">
                <a:solidFill>
                  <a:srgbClr val="CC00CC"/>
                </a:solidFill>
                <a:latin typeface="微软雅黑" pitchFamily="34" charset="-122"/>
                <a:ea typeface="微软雅黑" pitchFamily="34" charset="-122"/>
              </a:rPr>
              <a:t>超时重传</a:t>
            </a:r>
          </a:p>
        </p:txBody>
      </p:sp>
      <p:grpSp>
        <p:nvGrpSpPr>
          <p:cNvPr id="96" name="Group 48"/>
          <p:cNvGrpSpPr>
            <a:grpSpLocks/>
          </p:cNvGrpSpPr>
          <p:nvPr/>
        </p:nvGrpSpPr>
        <p:grpSpPr bwMode="auto">
          <a:xfrm>
            <a:off x="5455492" y="1738027"/>
            <a:ext cx="499119" cy="546878"/>
            <a:chOff x="3153" y="2204"/>
            <a:chExt cx="533" cy="584"/>
          </a:xfrm>
        </p:grpSpPr>
        <p:sp>
          <p:nvSpPr>
            <p:cNvPr id="97"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8"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99" name="Group 36"/>
          <p:cNvGrpSpPr>
            <a:grpSpLocks/>
          </p:cNvGrpSpPr>
          <p:nvPr/>
        </p:nvGrpSpPr>
        <p:grpSpPr bwMode="auto">
          <a:xfrm>
            <a:off x="6031400" y="3100539"/>
            <a:ext cx="1082519" cy="458853"/>
            <a:chOff x="3439" y="3564"/>
            <a:chExt cx="1156" cy="490"/>
          </a:xfrm>
        </p:grpSpPr>
        <p:sp>
          <p:nvSpPr>
            <p:cNvPr id="100"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1"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Rectangle 39"/>
            <p:cNvSpPr>
              <a:spLocks noChangeArrowheads="1"/>
            </p:cNvSpPr>
            <p:nvPr/>
          </p:nvSpPr>
          <p:spPr bwMode="auto">
            <a:xfrm rot="540000">
              <a:off x="3555" y="3623"/>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sp>
        <p:nvSpPr>
          <p:cNvPr id="103" name="矩形 102"/>
          <p:cNvSpPr/>
          <p:nvPr/>
        </p:nvSpPr>
        <p:spPr>
          <a:xfrm>
            <a:off x="4411990" y="3379484"/>
            <a:ext cx="1620906" cy="523220"/>
          </a:xfrm>
          <a:prstGeom prst="rect">
            <a:avLst/>
          </a:prstGeom>
        </p:spPr>
        <p:txBody>
          <a:bodyPr wrap="square">
            <a:spAutoFit/>
          </a:bodyPr>
          <a:lstStyle/>
          <a:p>
            <a:pPr algn="r"/>
            <a:r>
              <a:rPr lang="zh-CN" altLang="en-US" sz="1400" b="1" dirty="0">
                <a:solidFill>
                  <a:srgbClr val="C00000"/>
                </a:solidFill>
                <a:latin typeface="微软雅黑" pitchFamily="34" charset="-122"/>
                <a:ea typeface="微软雅黑" pitchFamily="34" charset="-122"/>
              </a:rPr>
              <a:t>重复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1</a:t>
            </a:r>
            <a:r>
              <a:rPr lang="zh-CN" altLang="en-US" sz="1400" b="1" dirty="0">
                <a:solidFill>
                  <a:srgbClr val="C00000"/>
                </a:solidFill>
                <a:latin typeface="微软雅黑" pitchFamily="34" charset="-122"/>
                <a:ea typeface="微软雅黑" pitchFamily="34" charset="-122"/>
              </a:rPr>
              <a:t>，丢弃</a:t>
            </a:r>
            <a:endParaRPr lang="en-US" altLang="zh-CN" sz="1400" dirty="0">
              <a:solidFill>
                <a:srgbClr val="C00000"/>
              </a:solidFill>
              <a:latin typeface="微软雅黑" pitchFamily="34" charset="-122"/>
              <a:ea typeface="微软雅黑" pitchFamily="34" charset="-122"/>
            </a:endParaRPr>
          </a:p>
          <a:p>
            <a:pPr algn="r"/>
            <a:r>
              <a:rPr lang="zh-CN" altLang="en-US" sz="1400" b="1" dirty="0">
                <a:solidFill>
                  <a:srgbClr val="C00000"/>
                </a:solidFill>
                <a:latin typeface="微软雅黑" pitchFamily="34" charset="-122"/>
                <a:ea typeface="微软雅黑" pitchFamily="34" charset="-122"/>
              </a:rPr>
              <a:t>等待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2</a:t>
            </a:r>
            <a:r>
              <a:rPr lang="en-US" altLang="zh-CN" sz="1400" b="1" dirty="0">
                <a:solidFill>
                  <a:srgbClr val="C00000"/>
                </a:solidFill>
                <a:latin typeface="微软雅黑" pitchFamily="34" charset="-122"/>
                <a:ea typeface="微软雅黑" pitchFamily="34" charset="-122"/>
              </a:rPr>
              <a:t> </a:t>
            </a:r>
          </a:p>
        </p:txBody>
      </p:sp>
      <p:grpSp>
        <p:nvGrpSpPr>
          <p:cNvPr id="104" name="组合 103"/>
          <p:cNvGrpSpPr/>
          <p:nvPr/>
        </p:nvGrpSpPr>
        <p:grpSpPr>
          <a:xfrm>
            <a:off x="6035835" y="1900192"/>
            <a:ext cx="1078084" cy="1699467"/>
            <a:chOff x="6900509" y="2601963"/>
            <a:chExt cx="1827632" cy="2881039"/>
          </a:xfrm>
        </p:grpSpPr>
        <p:sp>
          <p:nvSpPr>
            <p:cNvPr id="105" name="Freeform 48"/>
            <p:cNvSpPr>
              <a:spLocks/>
            </p:cNvSpPr>
            <p:nvPr/>
          </p:nvSpPr>
          <p:spPr bwMode="auto">
            <a:xfrm>
              <a:off x="6900509" y="2726308"/>
              <a:ext cx="1827632" cy="2756694"/>
            </a:xfrm>
            <a:custGeom>
              <a:avLst/>
              <a:gdLst>
                <a:gd name="T0" fmla="*/ 798 w 798"/>
                <a:gd name="T1" fmla="*/ 0 h 1134"/>
                <a:gd name="T2" fmla="*/ 589 w 798"/>
                <a:gd name="T3" fmla="*/ 70 h 1134"/>
                <a:gd name="T4" fmla="*/ 466 w 798"/>
                <a:gd name="T5" fmla="*/ 217 h 1134"/>
                <a:gd name="T6" fmla="*/ 418 w 798"/>
                <a:gd name="T7" fmla="*/ 376 h 1134"/>
                <a:gd name="T8" fmla="*/ 385 w 798"/>
                <a:gd name="T9" fmla="*/ 661 h 1134"/>
                <a:gd name="T10" fmla="*/ 310 w 798"/>
                <a:gd name="T11" fmla="*/ 1018 h 1134"/>
                <a:gd name="T12" fmla="*/ 0 w 798"/>
                <a:gd name="T13" fmla="*/ 1134 h 1134"/>
              </a:gdLst>
              <a:ahLst/>
              <a:cxnLst>
                <a:cxn ang="0">
                  <a:pos x="T0" y="T1"/>
                </a:cxn>
                <a:cxn ang="0">
                  <a:pos x="T2" y="T3"/>
                </a:cxn>
                <a:cxn ang="0">
                  <a:pos x="T4" y="T5"/>
                </a:cxn>
                <a:cxn ang="0">
                  <a:pos x="T6" y="T7"/>
                </a:cxn>
                <a:cxn ang="0">
                  <a:pos x="T8" y="T9"/>
                </a:cxn>
                <a:cxn ang="0">
                  <a:pos x="T10" y="T11"/>
                </a:cxn>
                <a:cxn ang="0">
                  <a:pos x="T12" y="T13"/>
                </a:cxn>
              </a:cxnLst>
              <a:rect l="0" t="0" r="r" b="b"/>
              <a:pathLst>
                <a:path w="798" h="1134">
                  <a:moveTo>
                    <a:pt x="798" y="0"/>
                  </a:moveTo>
                  <a:cubicBezTo>
                    <a:pt x="763" y="12"/>
                    <a:pt x="644" y="34"/>
                    <a:pt x="589" y="70"/>
                  </a:cubicBezTo>
                  <a:cubicBezTo>
                    <a:pt x="534" y="106"/>
                    <a:pt x="494" y="166"/>
                    <a:pt x="466" y="217"/>
                  </a:cubicBezTo>
                  <a:cubicBezTo>
                    <a:pt x="438" y="268"/>
                    <a:pt x="431" y="302"/>
                    <a:pt x="418" y="376"/>
                  </a:cubicBezTo>
                  <a:cubicBezTo>
                    <a:pt x="405" y="450"/>
                    <a:pt x="403" y="554"/>
                    <a:pt x="385" y="661"/>
                  </a:cubicBezTo>
                  <a:cubicBezTo>
                    <a:pt x="367" y="768"/>
                    <a:pt x="374" y="939"/>
                    <a:pt x="310" y="1018"/>
                  </a:cubicBezTo>
                  <a:cubicBezTo>
                    <a:pt x="246" y="1097"/>
                    <a:pt x="65" y="1110"/>
                    <a:pt x="0" y="1134"/>
                  </a:cubicBezTo>
                </a:path>
              </a:pathLst>
            </a:custGeom>
            <a:noFill/>
            <a:ln w="38100" cap="flat" cmpd="sng">
              <a:solidFill>
                <a:srgbClr val="CC00CC"/>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06" name="矩形 105"/>
            <p:cNvSpPr/>
            <p:nvPr/>
          </p:nvSpPr>
          <p:spPr>
            <a:xfrm rot="20115699">
              <a:off x="7511689" y="2601963"/>
              <a:ext cx="1047981" cy="469585"/>
            </a:xfrm>
            <a:prstGeom prst="rect">
              <a:avLst/>
            </a:prstGeom>
          </p:spPr>
          <p:txBody>
            <a:bodyPr wrap="none">
              <a:spAutoFit/>
            </a:bodyPr>
            <a:lstStyle/>
            <a:p>
              <a:r>
                <a:rPr lang="en-US" altLang="zh-CN" sz="1200" b="1" dirty="0">
                  <a:latin typeface="微软雅黑" pitchFamily="34" charset="-122"/>
                  <a:ea typeface="微软雅黑" pitchFamily="34" charset="-122"/>
                </a:rPr>
                <a:t>ACK </a:t>
              </a:r>
              <a:r>
                <a:rPr lang="en-US" altLang="zh-CN" sz="1200" b="1" baseline="-25000" dirty="0">
                  <a:latin typeface="微软雅黑" pitchFamily="34" charset="-122"/>
                  <a:ea typeface="微软雅黑" pitchFamily="34" charset="-122"/>
                </a:rPr>
                <a:t>1</a:t>
              </a:r>
            </a:p>
          </p:txBody>
        </p:sp>
      </p:grpSp>
      <p:sp>
        <p:nvSpPr>
          <p:cNvPr id="108" name="矩形 107"/>
          <p:cNvSpPr/>
          <p:nvPr/>
        </p:nvSpPr>
        <p:spPr>
          <a:xfrm>
            <a:off x="7105160" y="2557540"/>
            <a:ext cx="130091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0" name="矩形 109"/>
          <p:cNvSpPr/>
          <p:nvPr/>
        </p:nvSpPr>
        <p:spPr>
          <a:xfrm>
            <a:off x="3224851" y="2537641"/>
            <a:ext cx="130654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1" name="TextBox 86"/>
          <p:cNvSpPr txBox="1"/>
          <p:nvPr/>
        </p:nvSpPr>
        <p:spPr>
          <a:xfrm>
            <a:off x="3224250" y="1798868"/>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2" name="TextBox 86"/>
          <p:cNvSpPr txBox="1"/>
          <p:nvPr/>
        </p:nvSpPr>
        <p:spPr>
          <a:xfrm>
            <a:off x="7107679" y="1769991"/>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3" name="矩形 112"/>
          <p:cNvSpPr/>
          <p:nvPr/>
        </p:nvSpPr>
        <p:spPr>
          <a:xfrm>
            <a:off x="4907674" y="3054072"/>
            <a:ext cx="1125221" cy="307777"/>
          </a:xfrm>
          <a:prstGeom prst="rect">
            <a:avLst/>
          </a:prstGeom>
        </p:spPr>
        <p:txBody>
          <a:bodyPr wrap="square">
            <a:spAutoFit/>
          </a:bodyPr>
          <a:lstStyle/>
          <a:p>
            <a:pPr algn="r"/>
            <a:r>
              <a:rPr lang="zh-CN" altLang="en-US" sz="1400" b="1" dirty="0">
                <a:solidFill>
                  <a:srgbClr val="CC00CC"/>
                </a:solidFill>
                <a:latin typeface="微软雅黑" pitchFamily="34" charset="-122"/>
                <a:ea typeface="微软雅黑" pitchFamily="34" charset="-122"/>
              </a:rPr>
              <a:t>发送下一个</a:t>
            </a:r>
            <a:endParaRPr lang="zh-CN" altLang="en-US" sz="1400" dirty="0">
              <a:solidFill>
                <a:srgbClr val="CC00CC"/>
              </a:solidFill>
              <a:latin typeface="微软雅黑" pitchFamily="34" charset="-122"/>
              <a:ea typeface="微软雅黑" pitchFamily="34" charset="-122"/>
            </a:endParaRPr>
          </a:p>
        </p:txBody>
      </p:sp>
      <p:sp>
        <p:nvSpPr>
          <p:cNvPr id="8" name="标题 7">
            <a:extLst>
              <a:ext uri="{FF2B5EF4-FFF2-40B4-BE49-F238E27FC236}">
                <a16:creationId xmlns:a16="http://schemas.microsoft.com/office/drawing/2014/main" id="{1E6BB7DC-5EEB-4926-A1BB-8E1BA9B11E4C}"/>
              </a:ext>
            </a:extLst>
          </p:cNvPr>
          <p:cNvSpPr>
            <a:spLocks noGrp="1"/>
          </p:cNvSpPr>
          <p:nvPr>
            <p:ph type="title"/>
          </p:nvPr>
        </p:nvSpPr>
        <p:spPr>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944041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000"/>
                                        <p:tgtEl>
                                          <p:spTgt spid="58"/>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999"/>
                                          </p:stCondLst>
                                        </p:cTn>
                                        <p:tgtEl>
                                          <p:spTgt spid="111"/>
                                        </p:tgtEl>
                                        <p:attrNameLst>
                                          <p:attrName>style.visibility</p:attrName>
                                        </p:attrNameLst>
                                      </p:cBhvr>
                                      <p:to>
                                        <p:strVal val="visible"/>
                                      </p:to>
                                    </p:set>
                                  </p:childTnLst>
                                </p:cTn>
                              </p:par>
                            </p:childTnLst>
                          </p:cTn>
                        </p:par>
                        <p:par>
                          <p:cTn id="11" fill="hold">
                            <p:stCondLst>
                              <p:cond delay="3000"/>
                            </p:stCondLst>
                            <p:childTnLst>
                              <p:par>
                                <p:cTn id="12" presetID="35" presetClass="emph" presetSubtype="0" repeatCount="3000" fill="hold" grpId="1" nodeType="afterEffect">
                                  <p:stCondLst>
                                    <p:cond delay="0"/>
                                  </p:stCondLst>
                                  <p:childTnLst>
                                    <p:anim calcmode="discrete" valueType="str">
                                      <p:cBhvr>
                                        <p:cTn id="13" dur="500" fill="hold"/>
                                        <p:tgtEl>
                                          <p:spTgt spid="111"/>
                                        </p:tgtEl>
                                        <p:attrNameLst>
                                          <p:attrName>style.visibility</p:attrName>
                                        </p:attrNameLst>
                                      </p:cBhvr>
                                      <p:tavLst>
                                        <p:tav tm="0">
                                          <p:val>
                                            <p:strVal val="hidden"/>
                                          </p:val>
                                        </p:tav>
                                        <p:tav tm="50000">
                                          <p:val>
                                            <p:strVal val="visible"/>
                                          </p:val>
                                        </p:tav>
                                      </p:tavLst>
                                    </p:anim>
                                  </p:childTnLst>
                                </p:cTn>
                              </p:par>
                            </p:childTnLst>
                          </p:cTn>
                        </p:par>
                        <p:par>
                          <p:cTn id="14" fill="hold">
                            <p:stCondLst>
                              <p:cond delay="4500"/>
                            </p:stCondLst>
                            <p:childTnLst>
                              <p:par>
                                <p:cTn id="15" presetID="22" presetClass="entr" presetSubtype="2" fill="hold" nodeType="afterEffect">
                                  <p:stCondLst>
                                    <p:cond delay="1000"/>
                                  </p:stCondLst>
                                  <p:childTnLst>
                                    <p:set>
                                      <p:cBhvr>
                                        <p:cTn id="16" dur="1" fill="hold">
                                          <p:stCondLst>
                                            <p:cond delay="0"/>
                                          </p:stCondLst>
                                        </p:cTn>
                                        <p:tgtEl>
                                          <p:spTgt spid="74"/>
                                        </p:tgtEl>
                                        <p:attrNameLst>
                                          <p:attrName>style.visibility</p:attrName>
                                        </p:attrNameLst>
                                      </p:cBhvr>
                                      <p:to>
                                        <p:strVal val="visible"/>
                                      </p:to>
                                    </p:set>
                                    <p:animEffect transition="in" filter="wipe(right)">
                                      <p:cBhvr>
                                        <p:cTn id="17" dur="2000"/>
                                        <p:tgtEl>
                                          <p:spTgt spid="74"/>
                                        </p:tgtEl>
                                      </p:cBhvr>
                                    </p:animEffect>
                                  </p:childTnLst>
                                </p:cTn>
                              </p:par>
                            </p:childTnLst>
                          </p:cTn>
                        </p:par>
                        <p:par>
                          <p:cTn id="18" fill="hold">
                            <p:stCondLst>
                              <p:cond delay="7500"/>
                            </p:stCondLst>
                            <p:childTnLst>
                              <p:par>
                                <p:cTn id="19" presetID="1" presetClass="entr" presetSubtype="0" fill="hold" grpId="0" nodeType="afterEffect">
                                  <p:stCondLst>
                                    <p:cond delay="0"/>
                                  </p:stCondLst>
                                  <p:childTnLst>
                                    <p:set>
                                      <p:cBhvr>
                                        <p:cTn id="20" dur="1" fill="hold">
                                          <p:stCondLst>
                                            <p:cond delay="0"/>
                                          </p:stCondLst>
                                        </p:cTn>
                                        <p:tgtEl>
                                          <p:spTgt spid="77"/>
                                        </p:tgtEl>
                                        <p:attrNameLst>
                                          <p:attrName>style.visibility</p:attrName>
                                        </p:attrNameLst>
                                      </p:cBhvr>
                                      <p:to>
                                        <p:strVal val="visible"/>
                                      </p:to>
                                    </p:set>
                                  </p:childTnLst>
                                </p:cTn>
                              </p:par>
                            </p:childTnLst>
                          </p:cTn>
                        </p:par>
                        <p:par>
                          <p:cTn id="21" fill="hold">
                            <p:stCondLst>
                              <p:cond delay="7500"/>
                            </p:stCondLst>
                            <p:childTnLst>
                              <p:par>
                                <p:cTn id="22" presetID="35" presetClass="emph" presetSubtype="0" repeatCount="3000" fill="hold" grpId="1" nodeType="afterEffect">
                                  <p:stCondLst>
                                    <p:cond delay="0"/>
                                  </p:stCondLst>
                                  <p:childTnLst>
                                    <p:anim calcmode="discrete" valueType="str">
                                      <p:cBhvr>
                                        <p:cTn id="2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24" fill="hold">
                            <p:stCondLst>
                              <p:cond delay="9000"/>
                            </p:stCondLst>
                            <p:childTnLst>
                              <p:par>
                                <p:cTn id="25" presetID="1" presetClass="entr" presetSubtype="0" fill="hold" nodeType="afterEffect">
                                  <p:stCondLst>
                                    <p:cond delay="1000"/>
                                  </p:stCondLst>
                                  <p:childTnLst>
                                    <p:set>
                                      <p:cBhvr>
                                        <p:cTn id="26" dur="1" fill="hold">
                                          <p:stCondLst>
                                            <p:cond delay="9"/>
                                          </p:stCondLst>
                                        </p:cTn>
                                        <p:tgtEl>
                                          <p:spTgt spid="71"/>
                                        </p:tgtEl>
                                        <p:attrNameLst>
                                          <p:attrName>style.visibility</p:attrName>
                                        </p:attrNameLst>
                                      </p:cBhvr>
                                      <p:to>
                                        <p:strVal val="visible"/>
                                      </p:to>
                                    </p:set>
                                  </p:childTnLst>
                                </p:cTn>
                              </p:par>
                            </p:childTnLst>
                          </p:cTn>
                        </p:par>
                        <p:par>
                          <p:cTn id="27" fill="hold">
                            <p:stCondLst>
                              <p:cond delay="10010"/>
                            </p:stCondLst>
                            <p:childTnLst>
                              <p:par>
                                <p:cTn id="28" presetID="35" presetClass="emph" presetSubtype="0" repeatCount="3000" fill="hold" nodeType="afterEffect">
                                  <p:stCondLst>
                                    <p:cond delay="0"/>
                                  </p:stCondLst>
                                  <p:childTnLst>
                                    <p:anim calcmode="discrete" valueType="str">
                                      <p:cBhvr>
                                        <p:cTn id="29" dur="500" fill="hold"/>
                                        <p:tgtEl>
                                          <p:spTgt spid="71"/>
                                        </p:tgtEl>
                                        <p:attrNameLst>
                                          <p:attrName>style.visibility</p:attrName>
                                        </p:attrNameLst>
                                      </p:cBhvr>
                                      <p:tavLst>
                                        <p:tav tm="0">
                                          <p:val>
                                            <p:strVal val="hidden"/>
                                          </p:val>
                                        </p:tav>
                                        <p:tav tm="50000">
                                          <p:val>
                                            <p:strVal val="visible"/>
                                          </p:val>
                                        </p:tav>
                                      </p:tavLst>
                                    </p:anim>
                                  </p:childTnLst>
                                </p:cTn>
                              </p:par>
                            </p:childTnLst>
                          </p:cTn>
                        </p:par>
                        <p:par>
                          <p:cTn id="30" fill="hold">
                            <p:stCondLst>
                              <p:cond delay="11510"/>
                            </p:stCondLst>
                            <p:childTnLst>
                              <p:par>
                                <p:cTn id="31" presetID="1" presetClass="entr" presetSubtype="0" fill="hold" grpId="0" nodeType="after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childTnLst>
                          </p:cTn>
                        </p:par>
                        <p:par>
                          <p:cTn id="33" fill="hold">
                            <p:stCondLst>
                              <p:cond delay="11510"/>
                            </p:stCondLst>
                            <p:childTnLst>
                              <p:par>
                                <p:cTn id="34" presetID="35" presetClass="emph" presetSubtype="0" repeatCount="3000" fill="hold" grpId="1" nodeType="afterEffect">
                                  <p:stCondLst>
                                    <p:cond delay="0"/>
                                  </p:stCondLst>
                                  <p:childTnLst>
                                    <p:anim calcmode="discrete" valueType="str">
                                      <p:cBhvr>
                                        <p:cTn id="35" dur="500" fill="hold"/>
                                        <p:tgtEl>
                                          <p:spTgt spid="70"/>
                                        </p:tgtEl>
                                        <p:attrNameLst>
                                          <p:attrName>style.visibility</p:attrName>
                                        </p:attrNameLst>
                                      </p:cBhvr>
                                      <p:tavLst>
                                        <p:tav tm="0">
                                          <p:val>
                                            <p:strVal val="hidden"/>
                                          </p:val>
                                        </p:tav>
                                        <p:tav tm="50000">
                                          <p:val>
                                            <p:strVal val="visible"/>
                                          </p:val>
                                        </p:tav>
                                      </p:tavLst>
                                    </p:anim>
                                  </p:childTnLst>
                                </p:cTn>
                              </p:par>
                            </p:childTnLst>
                          </p:cTn>
                        </p:par>
                        <p:par>
                          <p:cTn id="36" fill="hold">
                            <p:stCondLst>
                              <p:cond delay="13010"/>
                            </p:stCondLst>
                            <p:childTnLst>
                              <p:par>
                                <p:cTn id="37" presetID="22" presetClass="entr" presetSubtype="8" fill="hold" nodeType="afterEffect">
                                  <p:stCondLst>
                                    <p:cond delay="100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2000"/>
                                        <p:tgtEl>
                                          <p:spTgt spid="62"/>
                                        </p:tgtEl>
                                      </p:cBhvr>
                                    </p:animEffect>
                                  </p:childTnLst>
                                </p:cTn>
                              </p:par>
                            </p:childTnLst>
                          </p:cTn>
                        </p:par>
                        <p:par>
                          <p:cTn id="40" fill="hold">
                            <p:stCondLst>
                              <p:cond delay="16010"/>
                            </p:stCondLst>
                            <p:childTnLst>
                              <p:par>
                                <p:cTn id="41" presetID="22" presetClass="entr" presetSubtype="8" fill="hold" grpId="0" nodeType="after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wipe(left)">
                                      <p:cBhvr>
                                        <p:cTn id="43" dur="2000"/>
                                        <p:tgtEl>
                                          <p:spTgt spid="110"/>
                                        </p:tgtEl>
                                      </p:cBhvr>
                                    </p:animEffect>
                                  </p:childTnLst>
                                </p:cTn>
                              </p:par>
                            </p:childTnLst>
                          </p:cTn>
                        </p:par>
                        <p:par>
                          <p:cTn id="44" fill="hold">
                            <p:stCondLst>
                              <p:cond delay="18010"/>
                            </p:stCondLst>
                            <p:childTnLst>
                              <p:par>
                                <p:cTn id="45" presetID="22" presetClass="entr" presetSubtype="2" fill="hold" nodeType="afterEffect">
                                  <p:stCondLst>
                                    <p:cond delay="500"/>
                                  </p:stCondLst>
                                  <p:childTnLst>
                                    <p:set>
                                      <p:cBhvr>
                                        <p:cTn id="46" dur="1" fill="hold">
                                          <p:stCondLst>
                                            <p:cond delay="0"/>
                                          </p:stCondLst>
                                        </p:cTn>
                                        <p:tgtEl>
                                          <p:spTgt spid="67"/>
                                        </p:tgtEl>
                                        <p:attrNameLst>
                                          <p:attrName>style.visibility</p:attrName>
                                        </p:attrNameLst>
                                      </p:cBhvr>
                                      <p:to>
                                        <p:strVal val="visible"/>
                                      </p:to>
                                    </p:set>
                                    <p:animEffect transition="in" filter="wipe(right)">
                                      <p:cBhvr>
                                        <p:cTn id="47" dur="2000"/>
                                        <p:tgtEl>
                                          <p:spTgt spid="6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83"/>
                                        </p:tgtEl>
                                        <p:attrNameLst>
                                          <p:attrName>style.visibility</p:attrName>
                                        </p:attrNameLst>
                                      </p:cBhvr>
                                      <p:to>
                                        <p:strVal val="visible"/>
                                      </p:to>
                                    </p:set>
                                    <p:animEffect transition="in" filter="wipe(left)">
                                      <p:cBhvr>
                                        <p:cTn id="52" dur="3000"/>
                                        <p:tgtEl>
                                          <p:spTgt spid="83"/>
                                        </p:tgtEl>
                                      </p:cBhvr>
                                    </p:animEffect>
                                  </p:childTnLst>
                                </p:cTn>
                              </p:par>
                            </p:childTnLst>
                          </p:cTn>
                        </p:par>
                        <p:par>
                          <p:cTn id="53" fill="hold">
                            <p:stCondLst>
                              <p:cond delay="3000"/>
                            </p:stCondLst>
                            <p:childTnLst>
                              <p:par>
                                <p:cTn id="54" presetID="1" presetClass="entr" presetSubtype="0" fill="hold" grpId="0" nodeType="afterEffect">
                                  <p:stCondLst>
                                    <p:cond delay="0"/>
                                  </p:stCondLst>
                                  <p:childTnLst>
                                    <p:set>
                                      <p:cBhvr>
                                        <p:cTn id="55" dur="1" fill="hold">
                                          <p:stCondLst>
                                            <p:cond delay="999"/>
                                          </p:stCondLst>
                                        </p:cTn>
                                        <p:tgtEl>
                                          <p:spTgt spid="112"/>
                                        </p:tgtEl>
                                        <p:attrNameLst>
                                          <p:attrName>style.visibility</p:attrName>
                                        </p:attrNameLst>
                                      </p:cBhvr>
                                      <p:to>
                                        <p:strVal val="visible"/>
                                      </p:to>
                                    </p:set>
                                  </p:childTnLst>
                                </p:cTn>
                              </p:par>
                              <p:par>
                                <p:cTn id="56" presetID="35" presetClass="emph" presetSubtype="0" repeatCount="3000" fill="hold" grpId="1" nodeType="withEffect">
                                  <p:stCondLst>
                                    <p:cond delay="0"/>
                                  </p:stCondLst>
                                  <p:childTnLst>
                                    <p:anim calcmode="discrete" valueType="str">
                                      <p:cBhvr>
                                        <p:cTn id="57" dur="500" fill="hold"/>
                                        <p:tgtEl>
                                          <p:spTgt spid="112"/>
                                        </p:tgtEl>
                                        <p:attrNameLst>
                                          <p:attrName>style.visibility</p:attrName>
                                        </p:attrNameLst>
                                      </p:cBhvr>
                                      <p:tavLst>
                                        <p:tav tm="0">
                                          <p:val>
                                            <p:strVal val="hidden"/>
                                          </p:val>
                                        </p:tav>
                                        <p:tav tm="50000">
                                          <p:val>
                                            <p:strVal val="visible"/>
                                          </p:val>
                                        </p:tav>
                                      </p:tavLst>
                                    </p:anim>
                                  </p:childTnLst>
                                </p:cTn>
                              </p:par>
                            </p:childTnLst>
                          </p:cTn>
                        </p:par>
                        <p:par>
                          <p:cTn id="58" fill="hold">
                            <p:stCondLst>
                              <p:cond delay="4500"/>
                            </p:stCondLst>
                            <p:childTnLst>
                              <p:par>
                                <p:cTn id="59" presetID="22" presetClass="entr" presetSubtype="1" fill="hold" nodeType="afterEffect">
                                  <p:stCondLst>
                                    <p:cond delay="0"/>
                                  </p:stCondLst>
                                  <p:childTnLst>
                                    <p:set>
                                      <p:cBhvr>
                                        <p:cTn id="60" dur="1" fill="hold">
                                          <p:stCondLst>
                                            <p:cond delay="0"/>
                                          </p:stCondLst>
                                        </p:cTn>
                                        <p:tgtEl>
                                          <p:spTgt spid="104"/>
                                        </p:tgtEl>
                                        <p:attrNameLst>
                                          <p:attrName>style.visibility</p:attrName>
                                        </p:attrNameLst>
                                      </p:cBhvr>
                                      <p:to>
                                        <p:strVal val="visible"/>
                                      </p:to>
                                    </p:set>
                                    <p:animEffect transition="in" filter="wipe(up)">
                                      <p:cBhvr>
                                        <p:cTn id="61" dur="23000"/>
                                        <p:tgtEl>
                                          <p:spTgt spid="104"/>
                                        </p:tgtEl>
                                      </p:cBhvr>
                                    </p:animEffect>
                                  </p:childTnLst>
                                </p:cTn>
                              </p:par>
                              <p:par>
                                <p:cTn id="62" presetID="1" presetClass="entr" presetSubtype="0" fill="hold" nodeType="withEffect">
                                  <p:stCondLst>
                                    <p:cond delay="2000"/>
                                  </p:stCondLst>
                                  <p:childTnLst>
                                    <p:set>
                                      <p:cBhvr>
                                        <p:cTn id="63" dur="1" fill="hold">
                                          <p:stCondLst>
                                            <p:cond delay="0"/>
                                          </p:stCondLst>
                                        </p:cTn>
                                        <p:tgtEl>
                                          <p:spTgt spid="96"/>
                                        </p:tgtEl>
                                        <p:attrNameLst>
                                          <p:attrName>style.visibility</p:attrName>
                                        </p:attrNameLst>
                                      </p:cBhvr>
                                      <p:to>
                                        <p:strVal val="visible"/>
                                      </p:to>
                                    </p:set>
                                  </p:childTnLst>
                                </p:cTn>
                              </p:par>
                              <p:par>
                                <p:cTn id="64" presetID="35" presetClass="emph" presetSubtype="0" repeatCount="3000" fill="hold" nodeType="withEffect">
                                  <p:stCondLst>
                                    <p:cond delay="2000"/>
                                  </p:stCondLst>
                                  <p:childTnLst>
                                    <p:anim calcmode="discrete" valueType="str">
                                      <p:cBhvr>
                                        <p:cTn id="65" dur="500" fill="hold"/>
                                        <p:tgtEl>
                                          <p:spTgt spid="96"/>
                                        </p:tgtEl>
                                        <p:attrNameLst>
                                          <p:attrName>style.visibility</p:attrName>
                                        </p:attrNameLst>
                                      </p:cBhvr>
                                      <p:tavLst>
                                        <p:tav tm="0">
                                          <p:val>
                                            <p:strVal val="hidden"/>
                                          </p:val>
                                        </p:tav>
                                        <p:tav tm="50000">
                                          <p:val>
                                            <p:strVal val="visible"/>
                                          </p:val>
                                        </p:tav>
                                      </p:tavLst>
                                    </p:anim>
                                  </p:childTnLst>
                                </p:cTn>
                              </p:par>
                              <p:par>
                                <p:cTn id="66" presetID="1" presetClass="entr" presetSubtype="0" fill="hold" grpId="0" nodeType="withEffect">
                                  <p:stCondLst>
                                    <p:cond delay="4000"/>
                                  </p:stCondLst>
                                  <p:childTnLst>
                                    <p:set>
                                      <p:cBhvr>
                                        <p:cTn id="67" dur="1" fill="hold">
                                          <p:stCondLst>
                                            <p:cond delay="0"/>
                                          </p:stCondLst>
                                        </p:cTn>
                                        <p:tgtEl>
                                          <p:spTgt spid="95"/>
                                        </p:tgtEl>
                                        <p:attrNameLst>
                                          <p:attrName>style.visibility</p:attrName>
                                        </p:attrNameLst>
                                      </p:cBhvr>
                                      <p:to>
                                        <p:strVal val="visible"/>
                                      </p:to>
                                    </p:set>
                                  </p:childTnLst>
                                </p:cTn>
                              </p:par>
                              <p:par>
                                <p:cTn id="68" presetID="35" presetClass="emph" presetSubtype="0" repeatCount="3000" fill="hold" grpId="1" nodeType="withEffect">
                                  <p:stCondLst>
                                    <p:cond delay="4000"/>
                                  </p:stCondLst>
                                  <p:childTnLst>
                                    <p:anim calcmode="discrete" valueType="str">
                                      <p:cBhvr>
                                        <p:cTn id="69" dur="500" fill="hold"/>
                                        <p:tgtEl>
                                          <p:spTgt spid="95"/>
                                        </p:tgtEl>
                                        <p:attrNameLst>
                                          <p:attrName>style.visibility</p:attrName>
                                        </p:attrNameLst>
                                      </p:cBhvr>
                                      <p:tavLst>
                                        <p:tav tm="0">
                                          <p:val>
                                            <p:strVal val="hidden"/>
                                          </p:val>
                                        </p:tav>
                                        <p:tav tm="50000">
                                          <p:val>
                                            <p:strVal val="visible"/>
                                          </p:val>
                                        </p:tav>
                                      </p:tavLst>
                                    </p:anim>
                                  </p:childTnLst>
                                </p:cTn>
                              </p:par>
                              <p:par>
                                <p:cTn id="70" presetID="22" presetClass="entr" presetSubtype="8" fill="hold" nodeType="withEffect">
                                  <p:stCondLst>
                                    <p:cond delay="6000"/>
                                  </p:stCondLst>
                                  <p:childTnLst>
                                    <p:set>
                                      <p:cBhvr>
                                        <p:cTn id="71" dur="1" fill="hold">
                                          <p:stCondLst>
                                            <p:cond delay="0"/>
                                          </p:stCondLst>
                                        </p:cTn>
                                        <p:tgtEl>
                                          <p:spTgt spid="87"/>
                                        </p:tgtEl>
                                        <p:attrNameLst>
                                          <p:attrName>style.visibility</p:attrName>
                                        </p:attrNameLst>
                                      </p:cBhvr>
                                      <p:to>
                                        <p:strVal val="visible"/>
                                      </p:to>
                                    </p:set>
                                    <p:animEffect transition="in" filter="wipe(left)">
                                      <p:cBhvr>
                                        <p:cTn id="72" dur="2000"/>
                                        <p:tgtEl>
                                          <p:spTgt spid="87"/>
                                        </p:tgtEl>
                                      </p:cBhvr>
                                    </p:animEffect>
                                  </p:childTnLst>
                                </p:cTn>
                              </p:par>
                              <p:par>
                                <p:cTn id="73" presetID="22" presetClass="entr" presetSubtype="8" fill="hold" grpId="0" nodeType="withEffect">
                                  <p:stCondLst>
                                    <p:cond delay="9000"/>
                                  </p:stCondLst>
                                  <p:childTnLst>
                                    <p:set>
                                      <p:cBhvr>
                                        <p:cTn id="74" dur="1" fill="hold">
                                          <p:stCondLst>
                                            <p:cond delay="0"/>
                                          </p:stCondLst>
                                        </p:cTn>
                                        <p:tgtEl>
                                          <p:spTgt spid="108"/>
                                        </p:tgtEl>
                                        <p:attrNameLst>
                                          <p:attrName>style.visibility</p:attrName>
                                        </p:attrNameLst>
                                      </p:cBhvr>
                                      <p:to>
                                        <p:strVal val="visible"/>
                                      </p:to>
                                    </p:set>
                                    <p:animEffect transition="in" filter="wipe(left)">
                                      <p:cBhvr>
                                        <p:cTn id="75" dur="2000"/>
                                        <p:tgtEl>
                                          <p:spTgt spid="108"/>
                                        </p:tgtEl>
                                      </p:cBhvr>
                                    </p:animEffect>
                                  </p:childTnLst>
                                </p:cTn>
                              </p:par>
                              <p:par>
                                <p:cTn id="76" presetID="22" presetClass="entr" presetSubtype="2" fill="hold" nodeType="withEffect">
                                  <p:stCondLst>
                                    <p:cond delay="12000"/>
                                  </p:stCondLst>
                                  <p:childTnLst>
                                    <p:set>
                                      <p:cBhvr>
                                        <p:cTn id="77" dur="1" fill="hold">
                                          <p:stCondLst>
                                            <p:cond delay="0"/>
                                          </p:stCondLst>
                                        </p:cTn>
                                        <p:tgtEl>
                                          <p:spTgt spid="92"/>
                                        </p:tgtEl>
                                        <p:attrNameLst>
                                          <p:attrName>style.visibility</p:attrName>
                                        </p:attrNameLst>
                                      </p:cBhvr>
                                      <p:to>
                                        <p:strVal val="visible"/>
                                      </p:to>
                                    </p:set>
                                    <p:animEffect transition="in" filter="wipe(right)">
                                      <p:cBhvr>
                                        <p:cTn id="78" dur="2000"/>
                                        <p:tgtEl>
                                          <p:spTgt spid="92"/>
                                        </p:tgtEl>
                                      </p:cBhvr>
                                    </p:animEffect>
                                  </p:childTnLst>
                                </p:cTn>
                              </p:par>
                              <p:par>
                                <p:cTn id="79" presetID="1" presetClass="entr" presetSubtype="0" fill="hold" grpId="0" nodeType="withEffect">
                                  <p:stCondLst>
                                    <p:cond delay="14500"/>
                                  </p:stCondLst>
                                  <p:childTnLst>
                                    <p:set>
                                      <p:cBhvr>
                                        <p:cTn id="80" dur="1" fill="hold">
                                          <p:stCondLst>
                                            <p:cond delay="0"/>
                                          </p:stCondLst>
                                        </p:cTn>
                                        <p:tgtEl>
                                          <p:spTgt spid="113"/>
                                        </p:tgtEl>
                                        <p:attrNameLst>
                                          <p:attrName>style.visibility</p:attrName>
                                        </p:attrNameLst>
                                      </p:cBhvr>
                                      <p:to>
                                        <p:strVal val="visible"/>
                                      </p:to>
                                    </p:set>
                                  </p:childTnLst>
                                </p:cTn>
                              </p:par>
                              <p:par>
                                <p:cTn id="81" presetID="35" presetClass="emph" presetSubtype="0" repeatCount="3000" fill="hold" grpId="1" nodeType="withEffect">
                                  <p:stCondLst>
                                    <p:cond delay="14500"/>
                                  </p:stCondLst>
                                  <p:childTnLst>
                                    <p:anim calcmode="discrete" valueType="str">
                                      <p:cBhvr>
                                        <p:cTn id="82" dur="500" fill="hold"/>
                                        <p:tgtEl>
                                          <p:spTgt spid="113"/>
                                        </p:tgtEl>
                                        <p:attrNameLst>
                                          <p:attrName>style.visibility</p:attrName>
                                        </p:attrNameLst>
                                      </p:cBhvr>
                                      <p:tavLst>
                                        <p:tav tm="0">
                                          <p:val>
                                            <p:strVal val="hidden"/>
                                          </p:val>
                                        </p:tav>
                                        <p:tav tm="50000">
                                          <p:val>
                                            <p:strVal val="visible"/>
                                          </p:val>
                                        </p:tav>
                                      </p:tavLst>
                                    </p:anim>
                                  </p:childTnLst>
                                </p:cTn>
                              </p:par>
                              <p:par>
                                <p:cTn id="83" presetID="22" presetClass="entr" presetSubtype="8" fill="hold" nodeType="withEffect">
                                  <p:stCondLst>
                                    <p:cond delay="1650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2000"/>
                                        <p:tgtEl>
                                          <p:spTgt spid="99"/>
                                        </p:tgtEl>
                                      </p:cBhvr>
                                    </p:animEffect>
                                  </p:childTnLst>
                                </p:cTn>
                              </p:par>
                              <p:par>
                                <p:cTn id="86" presetID="1" presetClass="entr" presetSubtype="0" fill="hold" grpId="0" nodeType="withEffect">
                                  <p:stCondLst>
                                    <p:cond delay="21500"/>
                                  </p:stCondLst>
                                  <p:childTnLst>
                                    <p:set>
                                      <p:cBhvr>
                                        <p:cTn id="87" dur="1" fill="hold">
                                          <p:stCondLst>
                                            <p:cond delay="0"/>
                                          </p:stCondLst>
                                        </p:cTn>
                                        <p:tgtEl>
                                          <p:spTgt spid="103"/>
                                        </p:tgtEl>
                                        <p:attrNameLst>
                                          <p:attrName>style.visibility</p:attrName>
                                        </p:attrNameLst>
                                      </p:cBhvr>
                                      <p:to>
                                        <p:strVal val="visible"/>
                                      </p:to>
                                    </p:set>
                                  </p:childTnLst>
                                </p:cTn>
                              </p:par>
                              <p:par>
                                <p:cTn id="88" presetID="35" presetClass="emph" presetSubtype="0" repeatCount="3000" fill="hold" grpId="1" nodeType="withEffect">
                                  <p:stCondLst>
                                    <p:cond delay="21500"/>
                                  </p:stCondLst>
                                  <p:childTnLst>
                                    <p:anim calcmode="discrete" valueType="str">
                                      <p:cBhvr>
                                        <p:cTn id="89" dur="500" fill="hold"/>
                                        <p:tgtEl>
                                          <p:spTgt spid="10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P spid="70" grpId="1"/>
      <p:bldP spid="77" grpId="0" animBg="1"/>
      <p:bldP spid="77" grpId="1" animBg="1"/>
      <p:bldP spid="95" grpId="0"/>
      <p:bldP spid="95" grpId="1"/>
      <p:bldP spid="103" grpId="0"/>
      <p:bldP spid="103" grpId="1"/>
      <p:bldP spid="108" grpId="0"/>
      <p:bldP spid="110" grpId="0"/>
      <p:bldP spid="111" grpId="0"/>
      <p:bldP spid="111" grpId="1"/>
      <p:bldP spid="112" grpId="0"/>
      <p:bldP spid="112" grpId="1"/>
      <p:bldP spid="113" grpId="0"/>
      <p:bldP spid="113" grpId="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3AFE1-EF08-1B4A-A269-7918C3E05A7B}"/>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6F31D1F-7528-F6A1-2EE1-650D50D3C5BD}"/>
              </a:ext>
            </a:extLst>
          </p:cNvPr>
          <p:cNvSpPr>
            <a:spLocks noGrp="1"/>
          </p:cNvSpPr>
          <p:nvPr>
            <p:ph type="title"/>
          </p:nvPr>
        </p:nvSpPr>
        <p:spPr>
          <a:xfrm>
            <a:off x="486000" y="550723"/>
            <a:ext cx="8172000" cy="338554"/>
          </a:xfrm>
        </p:spPr>
        <p:txBody>
          <a:bodyPr/>
          <a:lstStyle/>
          <a:p>
            <a:r>
              <a:rPr lang="zh-CN" altLang="en-US" dirty="0"/>
              <a:t>确认迟到</a:t>
            </a:r>
          </a:p>
        </p:txBody>
      </p:sp>
      <p:sp>
        <p:nvSpPr>
          <p:cNvPr id="5" name="Line 36">
            <a:extLst>
              <a:ext uri="{FF2B5EF4-FFF2-40B4-BE49-F238E27FC236}">
                <a16:creationId xmlns:a16="http://schemas.microsoft.com/office/drawing/2014/main" id="{6EE7DF07-4C45-3180-3B33-9347DD32BD2F}"/>
              </a:ext>
            </a:extLst>
          </p:cNvPr>
          <p:cNvSpPr>
            <a:spLocks noChangeShapeType="1"/>
          </p:cNvSpPr>
          <p:nvPr/>
        </p:nvSpPr>
        <p:spPr bwMode="auto">
          <a:xfrm>
            <a:off x="2442953"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48E9E65A-49D4-FF20-43C7-146D227DBDFC}"/>
              </a:ext>
            </a:extLst>
          </p:cNvPr>
          <p:cNvSpPr>
            <a:spLocks noChangeShapeType="1"/>
          </p:cNvSpPr>
          <p:nvPr/>
        </p:nvSpPr>
        <p:spPr bwMode="auto">
          <a:xfrm>
            <a:off x="3602105"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4AC51222-3625-E6E7-A23E-6FEAB0D04D66}"/>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2F2A92B4-507E-EA5D-CD4B-537A853A1C92}"/>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8524BFE0-5EE8-3255-426E-22346002D55E}"/>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1E1CF055-91C1-B1E2-D24D-5F1F7F547FC5}"/>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09CC7468-AB34-D728-8C50-C1B5F7FD0F5D}"/>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C1F58B55-120D-7E9E-2D78-128D3A9CE0F5}"/>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CA0F74FF-0117-A7A2-31FA-2E2D0B0FE28B}"/>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9AD99B57-18BD-0089-D024-9CFC1F6BDAE8}"/>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5E09CEEC-08E5-BF08-1EE3-F9CF992B0AA8}"/>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751A4A9C-9532-AAAB-A1B2-AFBCDE20EA9D}"/>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77282E2F-D10B-91DB-C4C6-8504F4BC2B51}"/>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46FD57B0-9D73-BE57-DAF0-086353C31D9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1" name="Freeform 45">
            <a:extLst>
              <a:ext uri="{FF2B5EF4-FFF2-40B4-BE49-F238E27FC236}">
                <a16:creationId xmlns:a16="http://schemas.microsoft.com/office/drawing/2014/main" id="{41F0A645-8F46-FE24-0B05-9FEB92382F1B}"/>
              </a:ext>
            </a:extLst>
          </p:cNvPr>
          <p:cNvSpPr>
            <a:spLocks/>
          </p:cNvSpPr>
          <p:nvPr/>
        </p:nvSpPr>
        <p:spPr bwMode="auto">
          <a:xfrm>
            <a:off x="2459313" y="3521041"/>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4" name="AutoShape 46">
            <a:extLst>
              <a:ext uri="{FF2B5EF4-FFF2-40B4-BE49-F238E27FC236}">
                <a16:creationId xmlns:a16="http://schemas.microsoft.com/office/drawing/2014/main" id="{7C4C1FAA-0325-3C97-1534-EAA1AFC8F2A7}"/>
              </a:ext>
            </a:extLst>
          </p:cNvPr>
          <p:cNvSpPr>
            <a:spLocks noChangeArrowheads="1"/>
          </p:cNvSpPr>
          <p:nvPr/>
        </p:nvSpPr>
        <p:spPr bwMode="auto">
          <a:xfrm rot="480000">
            <a:off x="3163781" y="3759022"/>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5" name="Rectangle 47">
            <a:extLst>
              <a:ext uri="{FF2B5EF4-FFF2-40B4-BE49-F238E27FC236}">
                <a16:creationId xmlns:a16="http://schemas.microsoft.com/office/drawing/2014/main" id="{92A2FEE6-98A0-6F14-D57A-375C523A4739}"/>
              </a:ext>
            </a:extLst>
          </p:cNvPr>
          <p:cNvSpPr>
            <a:spLocks noChangeArrowheads="1"/>
          </p:cNvSpPr>
          <p:nvPr/>
        </p:nvSpPr>
        <p:spPr bwMode="auto">
          <a:xfrm rot="540000">
            <a:off x="2668945" y="3604806"/>
            <a:ext cx="384722" cy="27443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2</a:t>
            </a:r>
          </a:p>
        </p:txBody>
      </p:sp>
      <p:sp>
        <p:nvSpPr>
          <p:cNvPr id="26" name="TextBox 86">
            <a:extLst>
              <a:ext uri="{FF2B5EF4-FFF2-40B4-BE49-F238E27FC236}">
                <a16:creationId xmlns:a16="http://schemas.microsoft.com/office/drawing/2014/main" id="{B731CAC9-AF66-8F40-2509-EA7262D5A790}"/>
              </a:ext>
            </a:extLst>
          </p:cNvPr>
          <p:cNvSpPr txBox="1"/>
          <p:nvPr/>
        </p:nvSpPr>
        <p:spPr>
          <a:xfrm>
            <a:off x="3575313" y="21651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27" name="TextBox 86">
            <a:extLst>
              <a:ext uri="{FF2B5EF4-FFF2-40B4-BE49-F238E27FC236}">
                <a16:creationId xmlns:a16="http://schemas.microsoft.com/office/drawing/2014/main" id="{4AC911D0-8A3D-A0DF-8B71-3C33B0E3FA2B}"/>
              </a:ext>
            </a:extLst>
          </p:cNvPr>
          <p:cNvSpPr txBox="1"/>
          <p:nvPr/>
        </p:nvSpPr>
        <p:spPr>
          <a:xfrm>
            <a:off x="3619857" y="2992108"/>
            <a:ext cx="982833" cy="461665"/>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重复、丢弃</a:t>
            </a:r>
            <a:endParaRPr lang="en-US" altLang="zh-CN" sz="1200" dirty="0">
              <a:latin typeface="微软雅黑 Light" panose="020B0502040204020203" pitchFamily="34" charset="-122"/>
              <a:ea typeface="微软雅黑 Light" panose="020B0502040204020203" pitchFamily="34" charset="-122"/>
            </a:endParaRPr>
          </a:p>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30" name="TextBox 86">
            <a:extLst>
              <a:ext uri="{FF2B5EF4-FFF2-40B4-BE49-F238E27FC236}">
                <a16:creationId xmlns:a16="http://schemas.microsoft.com/office/drawing/2014/main" id="{E2620326-DDC6-408A-386B-6CF66076CBFB}"/>
              </a:ext>
            </a:extLst>
          </p:cNvPr>
          <p:cNvSpPr txBox="1"/>
          <p:nvPr/>
        </p:nvSpPr>
        <p:spPr>
          <a:xfrm>
            <a:off x="1100729" y="3838320"/>
            <a:ext cx="1349921" cy="461665"/>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重复 </a:t>
            </a:r>
            <a:r>
              <a:rPr lang="en-US" altLang="zh-CN" sz="1200" dirty="0">
                <a:latin typeface="微软雅黑 Light" panose="020B0502040204020203" pitchFamily="34" charset="-122"/>
                <a:ea typeface="微软雅黑 Light" panose="020B0502040204020203" pitchFamily="34" charset="-122"/>
              </a:rPr>
              <a:t>ACK1</a:t>
            </a:r>
            <a:r>
              <a:rPr lang="zh-CN" altLang="en-US" sz="1200" dirty="0">
                <a:latin typeface="微软雅黑 Light" panose="020B0502040204020203" pitchFamily="34" charset="-122"/>
                <a:ea typeface="微软雅黑 Light" panose="020B0502040204020203" pitchFamily="34" charset="-122"/>
              </a:rPr>
              <a:t>，丢弃</a:t>
            </a:r>
          </a:p>
          <a:p>
            <a:pPr algn="r" defTabSz="762000" eaLnBrk="0" hangingPunct="0"/>
            <a:r>
              <a:rPr lang="zh-CN" altLang="en-US" sz="1200" dirty="0">
                <a:latin typeface="微软雅黑 Light" panose="020B0502040204020203" pitchFamily="34" charset="-122"/>
                <a:ea typeface="微软雅黑 Light" panose="020B0502040204020203" pitchFamily="34" charset="-122"/>
              </a:rPr>
              <a:t>等待 </a:t>
            </a:r>
            <a:r>
              <a:rPr lang="en-US" altLang="zh-CN" sz="1200" dirty="0">
                <a:latin typeface="微软雅黑 Light" panose="020B0502040204020203" pitchFamily="34" charset="-122"/>
                <a:ea typeface="微软雅黑 Light" panose="020B0502040204020203" pitchFamily="34" charset="-122"/>
              </a:rPr>
              <a:t>ACK2 </a:t>
            </a:r>
          </a:p>
        </p:txBody>
      </p:sp>
      <p:sp>
        <p:nvSpPr>
          <p:cNvPr id="31" name="Line 52">
            <a:extLst>
              <a:ext uri="{FF2B5EF4-FFF2-40B4-BE49-F238E27FC236}">
                <a16:creationId xmlns:a16="http://schemas.microsoft.com/office/drawing/2014/main" id="{4D3F3009-10AB-C497-FF54-7868C97C0A37}"/>
              </a:ext>
            </a:extLst>
          </p:cNvPr>
          <p:cNvSpPr>
            <a:spLocks noChangeShapeType="1"/>
          </p:cNvSpPr>
          <p:nvPr/>
        </p:nvSpPr>
        <p:spPr bwMode="auto">
          <a:xfrm flipH="1">
            <a:off x="2435256" y="2266841"/>
            <a:ext cx="1147737" cy="1744159"/>
          </a:xfrm>
          <a:prstGeom prst="line">
            <a:avLst/>
          </a:prstGeom>
          <a:noFill/>
          <a:ln w="12700">
            <a:solidFill>
              <a:srgbClr val="FF0000"/>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7070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999"/>
                                          </p:stCondLst>
                                        </p:cTn>
                                        <p:tgtEl>
                                          <p:spTgt spid="26"/>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500" fill="hold"/>
                                        <p:tgtEl>
                                          <p:spTgt spid="26"/>
                                        </p:tgtEl>
                                        <p:attrNameLst>
                                          <p:attrName>style.visibility</p:attrName>
                                        </p:attrNameLst>
                                      </p:cBhvr>
                                      <p:tavLst>
                                        <p:tav tm="0">
                                          <p:val>
                                            <p:strVal val="hidden"/>
                                          </p:val>
                                        </p:tav>
                                        <p:tav tm="50000">
                                          <p:val>
                                            <p:strVal val="visible"/>
                                          </p:val>
                                        </p:tav>
                                      </p:tavLst>
                                    </p:anim>
                                  </p:childTnLst>
                                </p:cTn>
                              </p:par>
                            </p:childTnLst>
                          </p:cTn>
                        </p:par>
                        <p:par>
                          <p:cTn id="9" fill="hold">
                            <p:stCondLst>
                              <p:cond delay="1500"/>
                            </p:stCondLst>
                            <p:childTnLst>
                              <p:par>
                                <p:cTn id="10" presetID="1" presetClass="entr" presetSubtype="0" fill="hold" grpId="0" nodeType="afterEffect">
                                  <p:stCondLst>
                                    <p:cond delay="0"/>
                                  </p:stCondLst>
                                  <p:childTnLst>
                                    <p:set>
                                      <p:cBhvr>
                                        <p:cTn id="11" dur="1" fill="hold">
                                          <p:stCondLst>
                                            <p:cond delay="999"/>
                                          </p:stCondLst>
                                        </p:cTn>
                                        <p:tgtEl>
                                          <p:spTgt spid="27"/>
                                        </p:tgtEl>
                                        <p:attrNameLst>
                                          <p:attrName>style.visibility</p:attrName>
                                        </p:attrNameLst>
                                      </p:cBhvr>
                                      <p:to>
                                        <p:strVal val="visible"/>
                                      </p:to>
                                    </p:set>
                                  </p:childTnLst>
                                </p:cTn>
                              </p:par>
                              <p:par>
                                <p:cTn id="12" presetID="35" presetClass="emph" presetSubtype="0" repeatCount="3000" fill="hold" grpId="1" nodeType="withEffect">
                                  <p:stCondLst>
                                    <p:cond delay="0"/>
                                  </p:stCondLst>
                                  <p:childTnLst>
                                    <p:anim calcmode="discrete" valueType="str">
                                      <p:cBhvr>
                                        <p:cTn id="13" dur="500" fill="hold"/>
                                        <p:tgtEl>
                                          <p:spTgt spid="27"/>
                                        </p:tgtEl>
                                        <p:attrNameLst>
                                          <p:attrName>style.visibility</p:attrName>
                                        </p:attrNameLst>
                                      </p:cBhvr>
                                      <p:tavLst>
                                        <p:tav tm="0">
                                          <p:val>
                                            <p:strVal val="hidden"/>
                                          </p:val>
                                        </p:tav>
                                        <p:tav tm="50000">
                                          <p:val>
                                            <p:strVal val="visible"/>
                                          </p:val>
                                        </p:tav>
                                      </p:tavLst>
                                    </p:anim>
                                  </p:childTnLst>
                                </p:cTn>
                              </p:par>
                            </p:childTnLst>
                          </p:cTn>
                        </p:par>
                        <p:par>
                          <p:cTn id="14" fill="hold">
                            <p:stCondLst>
                              <p:cond delay="3000"/>
                            </p:stCondLst>
                            <p:childTnLst>
                              <p:par>
                                <p:cTn id="15" presetID="1" presetClass="entr" presetSubtype="0" fill="hold" grpId="0" nodeType="afterEffect">
                                  <p:stCondLst>
                                    <p:cond delay="0"/>
                                  </p:stCondLst>
                                  <p:childTnLst>
                                    <p:set>
                                      <p:cBhvr>
                                        <p:cTn id="16" dur="1" fill="hold">
                                          <p:stCondLst>
                                            <p:cond delay="999"/>
                                          </p:stCondLst>
                                        </p:cTn>
                                        <p:tgtEl>
                                          <p:spTgt spid="30"/>
                                        </p:tgtEl>
                                        <p:attrNameLst>
                                          <p:attrName>style.visibility</p:attrName>
                                        </p:attrNameLst>
                                      </p:cBhvr>
                                      <p:to>
                                        <p:strVal val="visible"/>
                                      </p:to>
                                    </p:set>
                                  </p:childTnLst>
                                </p:cTn>
                              </p:par>
                              <p:par>
                                <p:cTn id="17" presetID="35" presetClass="emph" presetSubtype="0" repeatCount="3000" fill="hold" grpId="1" nodeType="withEffect">
                                  <p:stCondLst>
                                    <p:cond delay="0"/>
                                  </p:stCondLst>
                                  <p:childTnLst>
                                    <p:anim calcmode="discrete" valueType="str">
                                      <p:cBhvr>
                                        <p:cTn id="18" dur="500" fill="hold"/>
                                        <p:tgtEl>
                                          <p:spTgt spid="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6" grpId="1"/>
      <p:bldP spid="27" grpId="0"/>
      <p:bldP spid="27" grpId="1"/>
      <p:bldP spid="30" grpId="0"/>
      <p:bldP spid="30" grpId="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 Box 155"/>
          <p:cNvSpPr txBox="1">
            <a:spLocks noChangeArrowheads="1"/>
          </p:cNvSpPr>
          <p:nvPr/>
        </p:nvSpPr>
        <p:spPr bwMode="auto">
          <a:xfrm>
            <a:off x="1846729" y="3890323"/>
            <a:ext cx="5844989" cy="397032"/>
          </a:xfrm>
          <a:prstGeom prst="rect">
            <a:avLst/>
          </a:prstGeom>
          <a:solidFill>
            <a:srgbClr val="000099"/>
          </a:solidFill>
          <a:ln w="9525">
            <a:solidFill>
              <a:schemeClr val="tx1"/>
            </a:solidFill>
            <a:miter lim="800000"/>
            <a:headEnd/>
            <a:tailEnd/>
          </a:ln>
          <a:effectLst/>
        </p:spPr>
        <p:txBody>
          <a:bodyPr wrap="square">
            <a:spAutoFit/>
          </a:bodyPr>
          <a:lstStyle/>
          <a:p>
            <a:pPr algn="ctr">
              <a:lnSpc>
                <a:spcPct val="110000"/>
              </a:lnSpc>
            </a:pPr>
            <a:r>
              <a:rPr lang="zh-CN" altLang="en-US" b="1" dirty="0">
                <a:solidFill>
                  <a:srgbClr val="FFC000"/>
                </a:solidFill>
                <a:latin typeface="微软雅黑" pitchFamily="34" charset="-122"/>
                <a:ea typeface="微软雅黑" pitchFamily="34" charset="-122"/>
              </a:rPr>
              <a:t>优点：</a:t>
            </a:r>
            <a:r>
              <a:rPr lang="zh-CN" altLang="en-US" b="1" dirty="0">
                <a:solidFill>
                  <a:schemeClr val="bg1"/>
                </a:solidFill>
                <a:latin typeface="微软雅黑" pitchFamily="34" charset="-122"/>
                <a:ea typeface="微软雅黑" pitchFamily="34" charset="-122"/>
              </a:rPr>
              <a:t>简单。</a:t>
            </a:r>
            <a:r>
              <a:rPr lang="zh-CN" altLang="en-US" b="1" dirty="0">
                <a:solidFill>
                  <a:srgbClr val="FFC000"/>
                </a:solidFill>
                <a:latin typeface="微软雅黑" pitchFamily="34" charset="-122"/>
                <a:ea typeface="微软雅黑" pitchFamily="34" charset="-122"/>
              </a:rPr>
              <a:t>缺点：</a:t>
            </a:r>
            <a:r>
              <a:rPr lang="zh-CN" altLang="en-US" b="1" dirty="0">
                <a:solidFill>
                  <a:schemeClr val="bg1"/>
                </a:solidFill>
                <a:latin typeface="微软雅黑" pitchFamily="34" charset="-122"/>
                <a:ea typeface="微软雅黑" pitchFamily="34" charset="-122"/>
              </a:rPr>
              <a:t>信道利用率太低。</a:t>
            </a:r>
          </a:p>
        </p:txBody>
      </p:sp>
      <p:sp>
        <p:nvSpPr>
          <p:cNvPr id="28" name="Text Box 4"/>
          <p:cNvSpPr txBox="1">
            <a:spLocks noChangeArrowheads="1"/>
          </p:cNvSpPr>
          <p:nvPr/>
        </p:nvSpPr>
        <p:spPr bwMode="auto">
          <a:xfrm>
            <a:off x="2430781" y="2044553"/>
            <a:ext cx="36260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i="1" dirty="0">
                <a:latin typeface="微软雅黑" pitchFamily="34" charset="-122"/>
                <a:ea typeface="微软雅黑" pitchFamily="34" charset="-122"/>
              </a:rPr>
              <a:t>T</a:t>
            </a:r>
            <a:r>
              <a:rPr lang="en-US" altLang="zh-CN" sz="1200" b="1" i="1" baseline="-25000" dirty="0">
                <a:latin typeface="微软雅黑" pitchFamily="34" charset="-122"/>
                <a:ea typeface="微软雅黑" pitchFamily="34" charset="-122"/>
              </a:rPr>
              <a:t>D</a:t>
            </a:r>
          </a:p>
        </p:txBody>
      </p:sp>
      <p:sp>
        <p:nvSpPr>
          <p:cNvPr id="29" name="Line 5"/>
          <p:cNvSpPr>
            <a:spLocks noChangeShapeType="1"/>
          </p:cNvSpPr>
          <p:nvPr/>
        </p:nvSpPr>
        <p:spPr bwMode="auto">
          <a:xfrm flipV="1">
            <a:off x="2524893"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6"/>
          <p:cNvSpPr>
            <a:spLocks noChangeShapeType="1"/>
          </p:cNvSpPr>
          <p:nvPr/>
        </p:nvSpPr>
        <p:spPr bwMode="auto">
          <a:xfrm>
            <a:off x="2733296"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7"/>
          <p:cNvSpPr>
            <a:spLocks noChangeShapeType="1"/>
          </p:cNvSpPr>
          <p:nvPr/>
        </p:nvSpPr>
        <p:spPr bwMode="auto">
          <a:xfrm>
            <a:off x="4560147"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Line 8"/>
          <p:cNvSpPr>
            <a:spLocks noChangeShapeType="1"/>
          </p:cNvSpPr>
          <p:nvPr/>
        </p:nvSpPr>
        <p:spPr bwMode="auto">
          <a:xfrm>
            <a:off x="2732409" y="2200634"/>
            <a:ext cx="1826851"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Text Box 9"/>
          <p:cNvSpPr txBox="1">
            <a:spLocks noChangeArrowheads="1"/>
          </p:cNvSpPr>
          <p:nvPr/>
        </p:nvSpPr>
        <p:spPr bwMode="auto">
          <a:xfrm>
            <a:off x="3397524" y="2057855"/>
            <a:ext cx="484235" cy="276999"/>
          </a:xfrm>
          <a:prstGeom prst="rect">
            <a:avLst/>
          </a:prstGeom>
          <a:solidFill>
            <a:srgbClr val="C3E3F9"/>
          </a:solidFill>
          <a:ln>
            <a:noFill/>
          </a:ln>
          <a:effectLst/>
        </p:spPr>
        <p:txBody>
          <a:bodyPr wrap="none">
            <a:spAutoFit/>
          </a:bodyPr>
          <a:lstStyle/>
          <a:p>
            <a:r>
              <a:rPr lang="en-US" altLang="zh-CN" sz="1200" b="1" dirty="0">
                <a:solidFill>
                  <a:srgbClr val="C00000"/>
                </a:solidFill>
                <a:latin typeface="微软雅黑" pitchFamily="34" charset="-122"/>
                <a:ea typeface="微软雅黑" pitchFamily="34" charset="-122"/>
              </a:rPr>
              <a:t>RTT</a:t>
            </a:r>
          </a:p>
        </p:txBody>
      </p:sp>
      <p:sp>
        <p:nvSpPr>
          <p:cNvPr id="34" name="Line 10"/>
          <p:cNvSpPr>
            <a:spLocks noChangeShapeType="1"/>
          </p:cNvSpPr>
          <p:nvPr/>
        </p:nvSpPr>
        <p:spPr bwMode="auto">
          <a:xfrm rot="5400000" flipH="1" flipV="1">
            <a:off x="2399851" y="2076479"/>
            <a:ext cx="0" cy="24831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Text Box 11"/>
          <p:cNvSpPr txBox="1">
            <a:spLocks noChangeArrowheads="1"/>
          </p:cNvSpPr>
          <p:nvPr/>
        </p:nvSpPr>
        <p:spPr bwMode="auto">
          <a:xfrm>
            <a:off x="2126600" y="190094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A</a:t>
            </a:r>
          </a:p>
        </p:txBody>
      </p:sp>
      <p:sp>
        <p:nvSpPr>
          <p:cNvPr id="36" name="Line 12"/>
          <p:cNvSpPr>
            <a:spLocks noChangeShapeType="1"/>
          </p:cNvSpPr>
          <p:nvPr/>
        </p:nvSpPr>
        <p:spPr bwMode="auto">
          <a:xfrm flipV="1">
            <a:off x="4601827"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Line 13"/>
          <p:cNvSpPr>
            <a:spLocks noChangeShapeType="1"/>
          </p:cNvSpPr>
          <p:nvPr/>
        </p:nvSpPr>
        <p:spPr bwMode="auto">
          <a:xfrm>
            <a:off x="2524893" y="2423225"/>
            <a:ext cx="2076934"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8" name="Text Box 14"/>
          <p:cNvSpPr txBox="1">
            <a:spLocks noChangeArrowheads="1"/>
          </p:cNvSpPr>
          <p:nvPr/>
        </p:nvSpPr>
        <p:spPr bwMode="auto">
          <a:xfrm>
            <a:off x="2957661" y="2299957"/>
            <a:ext cx="1243610" cy="276999"/>
          </a:xfrm>
          <a:prstGeom prst="rect">
            <a:avLst/>
          </a:prstGeom>
          <a:solidFill>
            <a:srgbClr val="C3E3F9"/>
          </a:solidFill>
          <a:ln>
            <a:noFill/>
          </a:ln>
          <a:effectLst/>
        </p:spPr>
        <p:txBody>
          <a:bodyPr wrap="none">
            <a:spAutoFit/>
          </a:bodyPr>
          <a:lstStyle/>
          <a:p>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D</a:t>
            </a:r>
            <a:r>
              <a:rPr lang="en-US" altLang="zh-CN" sz="1200" b="1" dirty="0">
                <a:solidFill>
                  <a:srgbClr val="0000FF"/>
                </a:solidFill>
                <a:latin typeface="微软雅黑" pitchFamily="34" charset="-122"/>
                <a:ea typeface="微软雅黑" pitchFamily="34" charset="-122"/>
              </a:rPr>
              <a:t> + RTT + </a:t>
            </a:r>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A</a:t>
            </a:r>
          </a:p>
        </p:txBody>
      </p:sp>
      <p:sp>
        <p:nvSpPr>
          <p:cNvPr id="39" name="Freeform 16"/>
          <p:cNvSpPr>
            <a:spLocks/>
          </p:cNvSpPr>
          <p:nvPr/>
        </p:nvSpPr>
        <p:spPr bwMode="auto">
          <a:xfrm>
            <a:off x="2524893" y="1247301"/>
            <a:ext cx="1116508" cy="809668"/>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17"/>
          <p:cNvSpPr txBox="1">
            <a:spLocks noChangeArrowheads="1"/>
          </p:cNvSpPr>
          <p:nvPr/>
        </p:nvSpPr>
        <p:spPr bwMode="auto">
          <a:xfrm>
            <a:off x="2134581" y="110723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B</a:t>
            </a:r>
          </a:p>
        </p:txBody>
      </p:sp>
      <p:sp>
        <p:nvSpPr>
          <p:cNvPr id="41" name="Line 18"/>
          <p:cNvSpPr>
            <a:spLocks noChangeShapeType="1"/>
          </p:cNvSpPr>
          <p:nvPr/>
        </p:nvSpPr>
        <p:spPr bwMode="auto">
          <a:xfrm flipV="1">
            <a:off x="2524893" y="1249074"/>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19"/>
          <p:cNvSpPr>
            <a:spLocks noChangeShapeType="1"/>
          </p:cNvSpPr>
          <p:nvPr/>
        </p:nvSpPr>
        <p:spPr bwMode="auto">
          <a:xfrm flipV="1">
            <a:off x="2732409" y="1249074"/>
            <a:ext cx="912539"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Text Box 22"/>
          <p:cNvSpPr txBox="1">
            <a:spLocks noChangeArrowheads="1"/>
          </p:cNvSpPr>
          <p:nvPr/>
        </p:nvSpPr>
        <p:spPr bwMode="auto">
          <a:xfrm rot="19131970">
            <a:off x="2464974" y="1535050"/>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分组</a:t>
            </a:r>
          </a:p>
        </p:txBody>
      </p:sp>
      <p:sp>
        <p:nvSpPr>
          <p:cNvPr id="44" name="Text Box 23"/>
          <p:cNvSpPr txBox="1">
            <a:spLocks noChangeArrowheads="1"/>
          </p:cNvSpPr>
          <p:nvPr/>
        </p:nvSpPr>
        <p:spPr bwMode="auto">
          <a:xfrm rot="2307784">
            <a:off x="3852848" y="1319552"/>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45" name="Text Box 24"/>
          <p:cNvSpPr txBox="1">
            <a:spLocks noChangeArrowheads="1"/>
          </p:cNvSpPr>
          <p:nvPr/>
        </p:nvSpPr>
        <p:spPr bwMode="auto">
          <a:xfrm>
            <a:off x="6803803" y="1107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6" name="Text Box 25"/>
          <p:cNvSpPr txBox="1">
            <a:spLocks noChangeArrowheads="1"/>
          </p:cNvSpPr>
          <p:nvPr/>
        </p:nvSpPr>
        <p:spPr bwMode="auto">
          <a:xfrm>
            <a:off x="6803803" y="1879604"/>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7" name="Line 26"/>
          <p:cNvSpPr>
            <a:spLocks noChangeShapeType="1"/>
          </p:cNvSpPr>
          <p:nvPr/>
        </p:nvSpPr>
        <p:spPr bwMode="auto">
          <a:xfrm>
            <a:off x="4269269" y="1653465"/>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rot="15894661">
            <a:off x="2953671" y="1441071"/>
            <a:ext cx="128589" cy="172043"/>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28"/>
          <p:cNvSpPr>
            <a:spLocks/>
          </p:cNvSpPr>
          <p:nvPr/>
        </p:nvSpPr>
        <p:spPr bwMode="auto">
          <a:xfrm>
            <a:off x="574690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29"/>
          <p:cNvSpPr>
            <a:spLocks/>
          </p:cNvSpPr>
          <p:nvPr/>
        </p:nvSpPr>
        <p:spPr bwMode="auto">
          <a:xfrm>
            <a:off x="4618677" y="1249074"/>
            <a:ext cx="1116507" cy="810554"/>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flipV="1">
            <a:off x="4618677" y="1251735"/>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flipV="1">
            <a:off x="4826193" y="1251735"/>
            <a:ext cx="912538"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Text Box 34"/>
          <p:cNvSpPr txBox="1">
            <a:spLocks noChangeArrowheads="1"/>
          </p:cNvSpPr>
          <p:nvPr/>
        </p:nvSpPr>
        <p:spPr bwMode="auto">
          <a:xfrm rot="19044759">
            <a:off x="4516634" y="1576287"/>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分组</a:t>
            </a:r>
          </a:p>
        </p:txBody>
      </p:sp>
      <p:sp>
        <p:nvSpPr>
          <p:cNvPr id="56" name="Line 35"/>
          <p:cNvSpPr>
            <a:spLocks noChangeShapeType="1"/>
          </p:cNvSpPr>
          <p:nvPr/>
        </p:nvSpPr>
        <p:spPr bwMode="auto">
          <a:xfrm rot="15894661">
            <a:off x="5021293" y="1460138"/>
            <a:ext cx="128589" cy="171156"/>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Text Box 36"/>
          <p:cNvSpPr txBox="1">
            <a:spLocks noChangeArrowheads="1"/>
          </p:cNvSpPr>
          <p:nvPr/>
        </p:nvSpPr>
        <p:spPr bwMode="auto">
          <a:xfrm rot="2510398">
            <a:off x="5994520" y="1361233"/>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58" name="Line 37"/>
          <p:cNvSpPr>
            <a:spLocks noChangeShapeType="1"/>
          </p:cNvSpPr>
          <p:nvPr/>
        </p:nvSpPr>
        <p:spPr bwMode="auto">
          <a:xfrm>
            <a:off x="6391431" y="1675636"/>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38"/>
          <p:cNvSpPr>
            <a:spLocks noChangeShapeType="1"/>
          </p:cNvSpPr>
          <p:nvPr/>
        </p:nvSpPr>
        <p:spPr bwMode="auto">
          <a:xfrm>
            <a:off x="2398964" y="1249074"/>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39"/>
          <p:cNvSpPr>
            <a:spLocks noChangeShapeType="1"/>
          </p:cNvSpPr>
          <p:nvPr/>
        </p:nvSpPr>
        <p:spPr bwMode="auto">
          <a:xfrm>
            <a:off x="2398964" y="2056969"/>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Freeform 28"/>
          <p:cNvSpPr>
            <a:spLocks/>
          </p:cNvSpPr>
          <p:nvPr/>
        </p:nvSpPr>
        <p:spPr bwMode="auto">
          <a:xfrm>
            <a:off x="363842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4" name="组合 63"/>
          <p:cNvGrpSpPr/>
          <p:nvPr/>
        </p:nvGrpSpPr>
        <p:grpSpPr>
          <a:xfrm>
            <a:off x="2024468" y="2623770"/>
            <a:ext cx="5095061" cy="643610"/>
            <a:chOff x="603552" y="5085184"/>
            <a:chExt cx="9120681" cy="1152128"/>
          </a:xfrm>
          <a:solidFill>
            <a:srgbClr val="FFFF99"/>
          </a:solidFill>
        </p:grpSpPr>
        <p:sp>
          <p:nvSpPr>
            <p:cNvPr id="65" name="矩形 64"/>
            <p:cNvSpPr/>
            <p:nvPr/>
          </p:nvSpPr>
          <p:spPr bwMode="auto">
            <a:xfrm>
              <a:off x="603552" y="5085184"/>
              <a:ext cx="9120681" cy="1152128"/>
            </a:xfrm>
            <a:prstGeom prst="rect">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dirty="0">
                <a:ln>
                  <a:noFill/>
                </a:ln>
                <a:solidFill>
                  <a:schemeClr val="tx1"/>
                </a:solidFill>
                <a:effectLst/>
                <a:latin typeface="微软雅黑" pitchFamily="34" charset="-122"/>
                <a:ea typeface="微软雅黑" pitchFamily="34" charset="-122"/>
              </a:endParaRPr>
            </a:p>
          </p:txBody>
        </p:sp>
        <p:graphicFrame>
          <p:nvGraphicFramePr>
            <p:cNvPr id="66" name="Object 4"/>
            <p:cNvGraphicFramePr>
              <a:graphicFrameLocks noChangeAspect="1"/>
            </p:cNvGraphicFramePr>
            <p:nvPr>
              <p:extLst>
                <p:ext uri="{D42A27DB-BD31-4B8C-83A1-F6EECF244321}">
                  <p14:modId xmlns:p14="http://schemas.microsoft.com/office/powerpoint/2010/main" val="3646831734"/>
                </p:ext>
              </p:extLst>
            </p:nvPr>
          </p:nvGraphicFramePr>
          <p:xfrm>
            <a:off x="3361843" y="5109096"/>
            <a:ext cx="3175333" cy="1104600"/>
          </p:xfrm>
          <a:graphic>
            <a:graphicData uri="http://schemas.openxmlformats.org/presentationml/2006/ole">
              <mc:AlternateContent xmlns:mc="http://schemas.openxmlformats.org/markup-compatibility/2006">
                <mc:Choice xmlns:v="urn:schemas-microsoft-com:vml" Requires="v">
                  <p:oleObj name="公式" r:id="rId3" imgW="1091726" imgH="380835" progId="Equation.3">
                    <p:embed/>
                  </p:oleObj>
                </mc:Choice>
                <mc:Fallback>
                  <p:oleObj name="公式" r:id="rId3" imgW="1091726" imgH="380835" progId="Equation.3">
                    <p:embed/>
                    <p:pic>
                      <p:nvPicPr>
                        <p:cNvPr id="0" name="Picture 7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1843" y="5109096"/>
                          <a:ext cx="3175333" cy="1104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 name="Text Box 6"/>
            <p:cNvSpPr txBox="1">
              <a:spLocks noChangeArrowheads="1"/>
            </p:cNvSpPr>
            <p:nvPr/>
          </p:nvSpPr>
          <p:spPr bwMode="auto">
            <a:xfrm>
              <a:off x="8219829" y="5397242"/>
              <a:ext cx="1231607" cy="606046"/>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(5-3)</a:t>
              </a:r>
            </a:p>
          </p:txBody>
        </p:sp>
        <p:sp>
          <p:nvSpPr>
            <p:cNvPr id="68" name="TextBox 67"/>
            <p:cNvSpPr txBox="1"/>
            <p:nvPr/>
          </p:nvSpPr>
          <p:spPr>
            <a:xfrm>
              <a:off x="1050286" y="5399420"/>
              <a:ext cx="2167077" cy="606046"/>
            </a:xfrm>
            <a:prstGeom prst="rect">
              <a:avLst/>
            </a:prstGeom>
            <a:grp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3200" b="1">
                  <a:solidFill>
                    <a:srgbClr val="003399"/>
                  </a:solidFill>
                  <a:latin typeface="+mn-lt"/>
                  <a:ea typeface="黑体" pitchFamily="2" charset="-122"/>
                </a:defRPr>
              </a:lvl1pPr>
            </a:lstStyle>
            <a:p>
              <a:r>
                <a:rPr lang="zh-CN" altLang="en-US" sz="1600" dirty="0">
                  <a:solidFill>
                    <a:schemeClr val="tx1"/>
                  </a:solidFill>
                  <a:latin typeface="微软雅黑" pitchFamily="34" charset="-122"/>
                  <a:ea typeface="微软雅黑" pitchFamily="34" charset="-122"/>
                </a:rPr>
                <a:t>信道利用率</a:t>
              </a:r>
            </a:p>
          </p:txBody>
        </p:sp>
      </p:grpSp>
      <p:sp>
        <p:nvSpPr>
          <p:cNvPr id="2" name="矩形 1"/>
          <p:cNvSpPr/>
          <p:nvPr/>
        </p:nvSpPr>
        <p:spPr>
          <a:xfrm>
            <a:off x="1344707" y="3350401"/>
            <a:ext cx="6714564" cy="338554"/>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当往返时间 </a:t>
            </a:r>
            <a:r>
              <a:rPr lang="en-US" altLang="zh-CN" sz="1600" b="1" dirty="0">
                <a:latin typeface="微软雅黑" panose="020B0503020204020204" pitchFamily="34" charset="-122"/>
                <a:ea typeface="微软雅黑" panose="020B0503020204020204" pitchFamily="34" charset="-122"/>
              </a:rPr>
              <a:t>RTT </a:t>
            </a:r>
            <a:r>
              <a:rPr lang="zh-CN" altLang="en-US" sz="1600" b="1" dirty="0">
                <a:latin typeface="微软雅黑" panose="020B0503020204020204" pitchFamily="34" charset="-122"/>
                <a:ea typeface="微软雅黑" panose="020B0503020204020204" pitchFamily="34" charset="-122"/>
              </a:rPr>
              <a:t>远大于分组发送时间 </a:t>
            </a:r>
            <a:r>
              <a:rPr lang="en-US" altLang="zh-CN" sz="1600" b="1" dirty="0">
                <a:latin typeface="微软雅黑" panose="020B0503020204020204" pitchFamily="34" charset="-122"/>
                <a:ea typeface="微软雅黑" panose="020B0503020204020204" pitchFamily="34" charset="-122"/>
              </a:rPr>
              <a:t>T</a:t>
            </a:r>
            <a:r>
              <a:rPr lang="en-US" altLang="zh-CN" sz="1600" b="1" baseline="-25000" dirty="0">
                <a:latin typeface="微软雅黑" panose="020B0503020204020204" pitchFamily="34" charset="-122"/>
                <a:ea typeface="微软雅黑" panose="020B0503020204020204" pitchFamily="34" charset="-122"/>
              </a:rPr>
              <a:t>D</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时，信道的利用率会非常低。</a:t>
            </a:r>
          </a:p>
        </p:txBody>
      </p:sp>
      <p:sp>
        <p:nvSpPr>
          <p:cNvPr id="9" name="内容占位符 8">
            <a:extLst>
              <a:ext uri="{FF2B5EF4-FFF2-40B4-BE49-F238E27FC236}">
                <a16:creationId xmlns:a16="http://schemas.microsoft.com/office/drawing/2014/main" id="{1F882924-89B4-26A7-4A9D-33B0C18F5EF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0AD8D0C5-9B16-7DBD-4DDF-D60308163E5B}"/>
              </a:ext>
            </a:extLst>
          </p:cNvPr>
          <p:cNvSpPr>
            <a:spLocks noGrp="1"/>
          </p:cNvSpPr>
          <p:nvPr>
            <p:ph type="title"/>
          </p:nvPr>
        </p:nvSpPr>
        <p:spPr>
          <a:xfrm>
            <a:off x="486000" y="550723"/>
            <a:ext cx="8172000" cy="338554"/>
          </a:xfrm>
          <a:prstGeom prst="rect">
            <a:avLst/>
          </a:prstGeom>
        </p:spPr>
        <p:txBody>
          <a:bodyPr/>
          <a:lstStyle/>
          <a:p>
            <a:r>
              <a:rPr lang="en-US" altLang="zh-CN" dirty="0"/>
              <a:t>4. </a:t>
            </a:r>
            <a:r>
              <a:rPr lang="zh-CN" altLang="en-US" dirty="0"/>
              <a:t>信道利用率</a:t>
            </a:r>
          </a:p>
        </p:txBody>
      </p:sp>
    </p:spTree>
    <p:extLst>
      <p:ext uri="{BB962C8B-B14F-4D97-AF65-F5344CB8AC3E}">
        <p14:creationId xmlns:p14="http://schemas.microsoft.com/office/powerpoint/2010/main" val="10126033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77AC990-EF7B-DB4C-217C-5D9ADDB7646E}"/>
              </a:ext>
            </a:extLst>
          </p:cNvPr>
          <p:cNvSpPr>
            <a:spLocks noGrp="1"/>
          </p:cNvSpPr>
          <p:nvPr>
            <p:ph sz="quarter" idx="11"/>
          </p:nvPr>
        </p:nvSpPr>
        <p:spPr>
          <a:xfrm>
            <a:off x="486000" y="900000"/>
            <a:ext cx="8172000" cy="3703500"/>
          </a:xfrm>
        </p:spPr>
        <p:txBody>
          <a:bodyPr/>
          <a:lstStyle/>
          <a:p>
            <a:r>
              <a:rPr lang="zh-CN" altLang="en-US" dirty="0"/>
              <a:t>停止等待。发送方每次只发送一个分组。在收到确认后再发送下一个分组。</a:t>
            </a:r>
            <a:endParaRPr lang="en-US" altLang="zh-CN" dirty="0"/>
          </a:p>
          <a:p>
            <a:r>
              <a:rPr lang="zh-CN" altLang="en-US" dirty="0"/>
              <a:t>暂存：在发送完一个分组后，发送方必须暂存已发送的分组的副本，以备重发。</a:t>
            </a:r>
          </a:p>
          <a:p>
            <a:r>
              <a:rPr lang="zh-CN" altLang="en-US" dirty="0"/>
              <a:t>编号。对发送的每个分组和确认都进行编号。</a:t>
            </a:r>
            <a:endParaRPr lang="en-US" altLang="zh-CN" dirty="0"/>
          </a:p>
          <a:p>
            <a:r>
              <a:rPr lang="zh-CN" altLang="en-US" dirty="0"/>
              <a:t>超时重传。发送方为发送的每个分组设置一个超时计时器。若超时计时器超时位收到确认，发送方会自动超时重传分组。</a:t>
            </a:r>
            <a:endParaRPr lang="en-US" altLang="zh-CN" dirty="0"/>
          </a:p>
          <a:p>
            <a:r>
              <a:rPr lang="zh-CN" altLang="en-US" dirty="0"/>
              <a:t>超时计时器的重传时间应当比数据在分组传输的平均往返时间更长一些，防止不必要的重传。</a:t>
            </a:r>
          </a:p>
          <a:p>
            <a:r>
              <a:rPr lang="zh-CN" altLang="en-US" dirty="0"/>
              <a:t>简单，但信道利用率太低。</a:t>
            </a:r>
          </a:p>
          <a:p>
            <a:endParaRPr lang="zh-CN" altLang="en-US" dirty="0"/>
          </a:p>
        </p:txBody>
      </p:sp>
      <p:sp>
        <p:nvSpPr>
          <p:cNvPr id="5" name="标题 4">
            <a:extLst>
              <a:ext uri="{FF2B5EF4-FFF2-40B4-BE49-F238E27FC236}">
                <a16:creationId xmlns:a16="http://schemas.microsoft.com/office/drawing/2014/main" id="{1FD3B742-40EE-DECE-2034-CFB707F8FAE7}"/>
              </a:ext>
            </a:extLst>
          </p:cNvPr>
          <p:cNvSpPr>
            <a:spLocks noGrp="1"/>
          </p:cNvSpPr>
          <p:nvPr>
            <p:ph type="title"/>
          </p:nvPr>
        </p:nvSpPr>
        <p:spPr>
          <a:xfrm>
            <a:off x="486000" y="550723"/>
            <a:ext cx="8172000" cy="338554"/>
          </a:xfrm>
          <a:prstGeom prst="rect">
            <a:avLst/>
          </a:prstGeom>
        </p:spPr>
        <p:txBody>
          <a:bodyPr/>
          <a:lstStyle/>
          <a:p>
            <a:r>
              <a:rPr lang="zh-CN" altLang="en-US" dirty="0"/>
              <a:t>停止等待协议要点</a:t>
            </a:r>
          </a:p>
        </p:txBody>
      </p:sp>
    </p:spTree>
    <p:extLst>
      <p:ext uri="{BB962C8B-B14F-4D97-AF65-F5344CB8AC3E}">
        <p14:creationId xmlns:p14="http://schemas.microsoft.com/office/powerpoint/2010/main" val="753812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3BB71BE-AB6E-0199-3176-8301163E6B32}"/>
              </a:ext>
            </a:extLst>
          </p:cNvPr>
          <p:cNvSpPr>
            <a:spLocks noGrp="1"/>
          </p:cNvSpPr>
          <p:nvPr>
            <p:ph type="title"/>
          </p:nvPr>
        </p:nvSpPr>
        <p:spPr>
          <a:xfrm>
            <a:off x="486000" y="550723"/>
            <a:ext cx="8172000" cy="338554"/>
          </a:xfrm>
        </p:spPr>
        <p:txBody>
          <a:bodyPr/>
          <a:lstStyle/>
          <a:p>
            <a:r>
              <a:rPr lang="zh-CN" altLang="en-US" dirty="0"/>
              <a:t>提高传输效率：流水线传输</a:t>
            </a:r>
          </a:p>
        </p:txBody>
      </p:sp>
      <p:sp>
        <p:nvSpPr>
          <p:cNvPr id="25" name="Text Box 155"/>
          <p:cNvSpPr txBox="1">
            <a:spLocks noChangeArrowheads="1"/>
          </p:cNvSpPr>
          <p:nvPr/>
        </p:nvSpPr>
        <p:spPr bwMode="auto">
          <a:xfrm>
            <a:off x="2483225" y="3365643"/>
            <a:ext cx="4435888" cy="759182"/>
          </a:xfrm>
          <a:prstGeom prst="rect">
            <a:avLst/>
          </a:prstGeom>
          <a:solidFill>
            <a:srgbClr val="FFCC66"/>
          </a:solidFill>
          <a:ln w="9525">
            <a:solidFill>
              <a:schemeClr val="tx1"/>
            </a:solidFill>
            <a:miter lim="800000"/>
            <a:headEnd/>
            <a:tailEnd/>
          </a:ln>
          <a:effectLst/>
        </p:spPr>
        <p:txBody>
          <a:bodyPr wrap="square">
            <a:spAutoFit/>
          </a:bodyPr>
          <a:lstStyle/>
          <a:p>
            <a:pPr algn="ctr">
              <a:lnSpc>
                <a:spcPts val="2600"/>
              </a:lnSpc>
            </a:pPr>
            <a:r>
              <a:rPr lang="zh-CN" altLang="en-US" b="1" dirty="0">
                <a:latin typeface="微软雅黑" pitchFamily="34" charset="-122"/>
                <a:ea typeface="微软雅黑" pitchFamily="34" charset="-122"/>
              </a:rPr>
              <a:t>由于信道上一直有数据不间断地传送，</a:t>
            </a:r>
            <a:endParaRPr lang="en-US" altLang="zh-CN" b="1" dirty="0">
              <a:latin typeface="微软雅黑" pitchFamily="34" charset="-122"/>
              <a:ea typeface="微软雅黑" pitchFamily="34" charset="-122"/>
            </a:endParaRPr>
          </a:p>
          <a:p>
            <a:pPr algn="ctr">
              <a:lnSpc>
                <a:spcPts val="2600"/>
              </a:lnSpc>
            </a:pPr>
            <a:r>
              <a:rPr lang="zh-CN" altLang="en-US" b="1" dirty="0">
                <a:latin typeface="微软雅黑" pitchFamily="34" charset="-122"/>
                <a:ea typeface="微软雅黑" pitchFamily="34" charset="-122"/>
              </a:rPr>
              <a:t>流水线传输可获得很高的信道利用率。 </a:t>
            </a:r>
          </a:p>
        </p:txBody>
      </p:sp>
      <p:grpSp>
        <p:nvGrpSpPr>
          <p:cNvPr id="64" name="组合 63"/>
          <p:cNvGrpSpPr/>
          <p:nvPr/>
        </p:nvGrpSpPr>
        <p:grpSpPr>
          <a:xfrm>
            <a:off x="1211409" y="1027657"/>
            <a:ext cx="6790641" cy="1588776"/>
            <a:chOff x="667767" y="2780928"/>
            <a:chExt cx="8907112" cy="2083958"/>
          </a:xfrm>
        </p:grpSpPr>
        <p:sp>
          <p:nvSpPr>
            <p:cNvPr id="26" name="Freeform 4"/>
            <p:cNvSpPr>
              <a:spLocks/>
            </p:cNvSpPr>
            <p:nvPr/>
          </p:nvSpPr>
          <p:spPr bwMode="auto">
            <a:xfrm>
              <a:off x="1318642" y="3084140"/>
              <a:ext cx="7015162" cy="1627188"/>
            </a:xfrm>
            <a:custGeom>
              <a:avLst/>
              <a:gdLst>
                <a:gd name="T0" fmla="*/ 0 w 4131"/>
                <a:gd name="T1" fmla="*/ 1088 h 1088"/>
                <a:gd name="T2" fmla="*/ 987 w 4131"/>
                <a:gd name="T3" fmla="*/ 0 h 1088"/>
                <a:gd name="T4" fmla="*/ 4131 w 4131"/>
                <a:gd name="T5" fmla="*/ 6 h 1088"/>
                <a:gd name="T6" fmla="*/ 3165 w 4131"/>
                <a:gd name="T7" fmla="*/ 1080 h 1088"/>
                <a:gd name="T8" fmla="*/ 0 w 4131"/>
                <a:gd name="T9" fmla="*/ 1088 h 1088"/>
              </a:gdLst>
              <a:ahLst/>
              <a:cxnLst>
                <a:cxn ang="0">
                  <a:pos x="T0" y="T1"/>
                </a:cxn>
                <a:cxn ang="0">
                  <a:pos x="T2" y="T3"/>
                </a:cxn>
                <a:cxn ang="0">
                  <a:pos x="T4" y="T5"/>
                </a:cxn>
                <a:cxn ang="0">
                  <a:pos x="T6" y="T7"/>
                </a:cxn>
                <a:cxn ang="0">
                  <a:pos x="T8" y="T9"/>
                </a:cxn>
              </a:cxnLst>
              <a:rect l="0" t="0" r="r" b="b"/>
              <a:pathLst>
                <a:path w="4131" h="1088">
                  <a:moveTo>
                    <a:pt x="0" y="1088"/>
                  </a:moveTo>
                  <a:lnTo>
                    <a:pt x="987" y="0"/>
                  </a:lnTo>
                  <a:lnTo>
                    <a:pt x="4131" y="6"/>
                  </a:lnTo>
                  <a:lnTo>
                    <a:pt x="3165" y="1080"/>
                  </a:lnTo>
                  <a:lnTo>
                    <a:pt x="0" y="1088"/>
                  </a:lnTo>
                  <a:close/>
                </a:path>
              </a:pathLst>
            </a:custGeom>
            <a:solidFill>
              <a:srgbClr val="00FFFF"/>
            </a:solidFill>
            <a:ln>
              <a:noFill/>
            </a:ln>
            <a:effectLst/>
          </p:spPr>
          <p:txBody>
            <a:bodyPr/>
            <a:lstStyle/>
            <a:p>
              <a:endParaRPr lang="zh-CN" altLang="en-US" sz="1600" b="1">
                <a:latin typeface="微软雅黑" pitchFamily="34" charset="-122"/>
                <a:ea typeface="微软雅黑" pitchFamily="34" charset="-122"/>
              </a:endParaRPr>
            </a:p>
          </p:txBody>
        </p:sp>
        <p:sp>
          <p:nvSpPr>
            <p:cNvPr id="27" name="Line 5"/>
            <p:cNvSpPr>
              <a:spLocks noChangeShapeType="1"/>
            </p:cNvSpPr>
            <p:nvPr/>
          </p:nvSpPr>
          <p:spPr bwMode="auto">
            <a:xfrm>
              <a:off x="1044004" y="4711328"/>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6"/>
            <p:cNvSpPr>
              <a:spLocks noChangeShapeType="1"/>
            </p:cNvSpPr>
            <p:nvPr/>
          </p:nvSpPr>
          <p:spPr bwMode="auto">
            <a:xfrm>
              <a:off x="1044004" y="3084140"/>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7"/>
            <p:cNvSpPr txBox="1">
              <a:spLocks noChangeArrowheads="1"/>
            </p:cNvSpPr>
            <p:nvPr/>
          </p:nvSpPr>
          <p:spPr bwMode="auto">
            <a:xfrm>
              <a:off x="682054" y="2806329"/>
              <a:ext cx="42725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B</a:t>
              </a:r>
            </a:p>
          </p:txBody>
        </p:sp>
        <p:sp>
          <p:nvSpPr>
            <p:cNvPr id="30" name="Line 8"/>
            <p:cNvSpPr>
              <a:spLocks noChangeShapeType="1"/>
            </p:cNvSpPr>
            <p:nvPr/>
          </p:nvSpPr>
          <p:spPr bwMode="auto">
            <a:xfrm flipV="1">
              <a:off x="130752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1" name="Line 9"/>
            <p:cNvSpPr>
              <a:spLocks noChangeShapeType="1"/>
            </p:cNvSpPr>
            <p:nvPr/>
          </p:nvSpPr>
          <p:spPr bwMode="auto">
            <a:xfrm flipV="1">
              <a:off x="1694879"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2" name="Text Box 10"/>
            <p:cNvSpPr txBox="1">
              <a:spLocks noChangeArrowheads="1"/>
            </p:cNvSpPr>
            <p:nvPr/>
          </p:nvSpPr>
          <p:spPr bwMode="auto">
            <a:xfrm rot="18918223">
              <a:off x="1291934" y="3750311"/>
              <a:ext cx="780492"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分组</a:t>
              </a:r>
            </a:p>
          </p:txBody>
        </p:sp>
        <p:sp>
          <p:nvSpPr>
            <p:cNvPr id="33" name="Text Box 11"/>
            <p:cNvSpPr txBox="1">
              <a:spLocks noChangeArrowheads="1"/>
            </p:cNvSpPr>
            <p:nvPr/>
          </p:nvSpPr>
          <p:spPr bwMode="auto">
            <a:xfrm>
              <a:off x="9221217" y="2780928"/>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4" name="Text Box 12"/>
            <p:cNvSpPr txBox="1">
              <a:spLocks noChangeArrowheads="1"/>
            </p:cNvSpPr>
            <p:nvPr/>
          </p:nvSpPr>
          <p:spPr bwMode="auto">
            <a:xfrm>
              <a:off x="9221217" y="4366841"/>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5" name="Text Box 13"/>
            <p:cNvSpPr txBox="1">
              <a:spLocks noChangeArrowheads="1"/>
            </p:cNvSpPr>
            <p:nvPr/>
          </p:nvSpPr>
          <p:spPr bwMode="auto">
            <a:xfrm>
              <a:off x="667767" y="4420813"/>
              <a:ext cx="444073"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a:t>
              </a:r>
            </a:p>
          </p:txBody>
        </p:sp>
        <p:sp>
          <p:nvSpPr>
            <p:cNvPr id="36" name="Line 14"/>
            <p:cNvSpPr>
              <a:spLocks noChangeShapeType="1"/>
            </p:cNvSpPr>
            <p:nvPr/>
          </p:nvSpPr>
          <p:spPr bwMode="auto">
            <a:xfrm rot="15894661">
              <a:off x="2034604" y="3347666"/>
              <a:ext cx="350837" cy="461962"/>
            </a:xfrm>
            <a:prstGeom prst="line">
              <a:avLst/>
            </a:prstGeom>
            <a:noFill/>
            <a:ln w="5715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7" name="Line 15"/>
            <p:cNvSpPr>
              <a:spLocks noChangeShapeType="1"/>
            </p:cNvSpPr>
            <p:nvPr/>
          </p:nvSpPr>
          <p:spPr bwMode="auto">
            <a:xfrm flipV="1">
              <a:off x="2077467" y="3088903"/>
              <a:ext cx="1693862" cy="1627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8" name="Line 16"/>
            <p:cNvSpPr>
              <a:spLocks noChangeShapeType="1"/>
            </p:cNvSpPr>
            <p:nvPr/>
          </p:nvSpPr>
          <p:spPr bwMode="auto">
            <a:xfrm flipV="1">
              <a:off x="5544567" y="3088903"/>
              <a:ext cx="1693862" cy="1627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9" name="Line 17"/>
            <p:cNvSpPr>
              <a:spLocks noChangeShapeType="1"/>
            </p:cNvSpPr>
            <p:nvPr/>
          </p:nvSpPr>
          <p:spPr bwMode="auto">
            <a:xfrm flipH="1" flipV="1">
              <a:off x="3388742"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2" name="Line 20"/>
            <p:cNvSpPr>
              <a:spLocks noChangeShapeType="1"/>
            </p:cNvSpPr>
            <p:nvPr/>
          </p:nvSpPr>
          <p:spPr bwMode="auto">
            <a:xfrm flipV="1">
              <a:off x="2461642"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3" name="Line 21"/>
            <p:cNvSpPr>
              <a:spLocks noChangeShapeType="1"/>
            </p:cNvSpPr>
            <p:nvPr/>
          </p:nvSpPr>
          <p:spPr bwMode="auto">
            <a:xfrm flipV="1">
              <a:off x="2847404"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4" name="Line 22"/>
            <p:cNvSpPr>
              <a:spLocks noChangeShapeType="1"/>
            </p:cNvSpPr>
            <p:nvPr/>
          </p:nvSpPr>
          <p:spPr bwMode="auto">
            <a:xfrm flipV="1">
              <a:off x="3250629" y="310319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5" name="Line 23"/>
            <p:cNvSpPr>
              <a:spLocks noChangeShapeType="1"/>
            </p:cNvSpPr>
            <p:nvPr/>
          </p:nvSpPr>
          <p:spPr bwMode="auto">
            <a:xfrm flipV="1">
              <a:off x="36205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6" name="Line 24"/>
            <p:cNvSpPr>
              <a:spLocks noChangeShapeType="1"/>
            </p:cNvSpPr>
            <p:nvPr/>
          </p:nvSpPr>
          <p:spPr bwMode="auto">
            <a:xfrm flipV="1">
              <a:off x="43952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7" name="Line 25"/>
            <p:cNvSpPr>
              <a:spLocks noChangeShapeType="1"/>
            </p:cNvSpPr>
            <p:nvPr/>
          </p:nvSpPr>
          <p:spPr bwMode="auto">
            <a:xfrm flipV="1">
              <a:off x="47841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8" name="Line 26"/>
            <p:cNvSpPr>
              <a:spLocks noChangeShapeType="1"/>
            </p:cNvSpPr>
            <p:nvPr/>
          </p:nvSpPr>
          <p:spPr bwMode="auto">
            <a:xfrm flipV="1">
              <a:off x="5169917"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9" name="Line 27"/>
            <p:cNvSpPr>
              <a:spLocks noChangeShapeType="1"/>
            </p:cNvSpPr>
            <p:nvPr/>
          </p:nvSpPr>
          <p:spPr bwMode="auto">
            <a:xfrm flipV="1">
              <a:off x="55588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0" name="Line 28"/>
            <p:cNvSpPr>
              <a:spLocks noChangeShapeType="1"/>
            </p:cNvSpPr>
            <p:nvPr/>
          </p:nvSpPr>
          <p:spPr bwMode="auto">
            <a:xfrm flipV="1">
              <a:off x="4003104"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1" name="Line 29"/>
            <p:cNvSpPr>
              <a:spLocks noChangeShapeType="1"/>
            </p:cNvSpPr>
            <p:nvPr/>
          </p:nvSpPr>
          <p:spPr bwMode="auto">
            <a:xfrm flipV="1">
              <a:off x="5928742"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2" name="Line 30"/>
            <p:cNvSpPr>
              <a:spLocks noChangeShapeType="1"/>
            </p:cNvSpPr>
            <p:nvPr/>
          </p:nvSpPr>
          <p:spPr bwMode="auto">
            <a:xfrm flipV="1">
              <a:off x="630180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3" name="Line 31"/>
            <p:cNvSpPr>
              <a:spLocks noChangeShapeType="1"/>
            </p:cNvSpPr>
            <p:nvPr/>
          </p:nvSpPr>
          <p:spPr bwMode="auto">
            <a:xfrm flipV="1">
              <a:off x="667327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4" name="Line 32"/>
            <p:cNvSpPr>
              <a:spLocks noChangeShapeType="1"/>
            </p:cNvSpPr>
            <p:nvPr/>
          </p:nvSpPr>
          <p:spPr bwMode="auto">
            <a:xfrm flipH="1" flipV="1">
              <a:off x="37729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5" name="Line 33"/>
            <p:cNvSpPr>
              <a:spLocks noChangeShapeType="1"/>
            </p:cNvSpPr>
            <p:nvPr/>
          </p:nvSpPr>
          <p:spPr bwMode="auto">
            <a:xfrm flipH="1" flipV="1">
              <a:off x="4155504"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6" name="Line 34"/>
            <p:cNvSpPr>
              <a:spLocks noChangeShapeType="1"/>
            </p:cNvSpPr>
            <p:nvPr/>
          </p:nvSpPr>
          <p:spPr bwMode="auto">
            <a:xfrm flipH="1" flipV="1">
              <a:off x="4541267"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7" name="Line 35"/>
            <p:cNvSpPr>
              <a:spLocks noChangeShapeType="1"/>
            </p:cNvSpPr>
            <p:nvPr/>
          </p:nvSpPr>
          <p:spPr bwMode="auto">
            <a:xfrm flipH="1" flipV="1">
              <a:off x="49254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8" name="Line 36"/>
            <p:cNvSpPr>
              <a:spLocks noChangeShapeType="1"/>
            </p:cNvSpPr>
            <p:nvPr/>
          </p:nvSpPr>
          <p:spPr bwMode="auto">
            <a:xfrm flipH="1" flipV="1">
              <a:off x="5308029"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9" name="Line 37"/>
            <p:cNvSpPr>
              <a:spLocks noChangeShapeType="1"/>
            </p:cNvSpPr>
            <p:nvPr/>
          </p:nvSpPr>
          <p:spPr bwMode="auto">
            <a:xfrm flipH="1" flipV="1">
              <a:off x="5692204"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0" name="Line 38"/>
            <p:cNvSpPr>
              <a:spLocks noChangeShapeType="1"/>
            </p:cNvSpPr>
            <p:nvPr/>
          </p:nvSpPr>
          <p:spPr bwMode="auto">
            <a:xfrm flipH="1" flipV="1">
              <a:off x="6076379"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1" name="Line 39"/>
            <p:cNvSpPr>
              <a:spLocks noChangeShapeType="1"/>
            </p:cNvSpPr>
            <p:nvPr/>
          </p:nvSpPr>
          <p:spPr bwMode="auto">
            <a:xfrm flipH="1" flipV="1">
              <a:off x="6458967" y="3088903"/>
              <a:ext cx="1695450"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2" name="Line 40"/>
            <p:cNvSpPr>
              <a:spLocks noChangeShapeType="1"/>
            </p:cNvSpPr>
            <p:nvPr/>
          </p:nvSpPr>
          <p:spPr bwMode="auto">
            <a:xfrm flipH="1" flipV="1">
              <a:off x="68431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3" name="Line 41"/>
            <p:cNvSpPr>
              <a:spLocks noChangeShapeType="1"/>
            </p:cNvSpPr>
            <p:nvPr/>
          </p:nvSpPr>
          <p:spPr bwMode="auto">
            <a:xfrm flipH="1" flipV="1">
              <a:off x="72273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0" name="Text Box 18"/>
            <p:cNvSpPr txBox="1">
              <a:spLocks noChangeArrowheads="1"/>
            </p:cNvSpPr>
            <p:nvPr/>
          </p:nvSpPr>
          <p:spPr bwMode="auto">
            <a:xfrm rot="2268438">
              <a:off x="3392106" y="3533618"/>
              <a:ext cx="807658"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ACK</a:t>
              </a:r>
            </a:p>
          </p:txBody>
        </p:sp>
        <p:sp>
          <p:nvSpPr>
            <p:cNvPr id="41" name="Line 19"/>
            <p:cNvSpPr>
              <a:spLocks noChangeShapeType="1"/>
            </p:cNvSpPr>
            <p:nvPr/>
          </p:nvSpPr>
          <p:spPr bwMode="auto">
            <a:xfrm>
              <a:off x="4088829" y="3981078"/>
              <a:ext cx="292100" cy="279400"/>
            </a:xfrm>
            <a:prstGeom prst="line">
              <a:avLst/>
            </a:prstGeom>
            <a:noFill/>
            <a:ln w="3810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grpSp>
      <p:sp>
        <p:nvSpPr>
          <p:cNvPr id="2" name="左大括号 1"/>
          <p:cNvSpPr/>
          <p:nvPr/>
        </p:nvSpPr>
        <p:spPr>
          <a:xfrm rot="16200000">
            <a:off x="3000782" y="1289503"/>
            <a:ext cx="229088" cy="2775777"/>
          </a:xfrm>
          <a:prstGeom prst="leftBrace">
            <a:avLst>
              <a:gd name="adj1" fmla="val 30208"/>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 name="矩形 2"/>
          <p:cNvSpPr/>
          <p:nvPr/>
        </p:nvSpPr>
        <p:spPr>
          <a:xfrm>
            <a:off x="1182444" y="2765041"/>
            <a:ext cx="6186309"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流水线传输：</a:t>
            </a:r>
            <a:r>
              <a:rPr lang="zh-CN" altLang="en-US" b="1" dirty="0">
                <a:solidFill>
                  <a:srgbClr val="000099"/>
                </a:solidFill>
                <a:latin typeface="微软雅黑" pitchFamily="34" charset="-122"/>
                <a:ea typeface="微软雅黑" pitchFamily="34" charset="-122"/>
              </a:rPr>
              <a:t>在收到确认之前，发送方连续发出多个分组。</a:t>
            </a:r>
          </a:p>
        </p:txBody>
      </p:sp>
      <p:sp>
        <p:nvSpPr>
          <p:cNvPr id="4" name="矩形 3"/>
          <p:cNvSpPr/>
          <p:nvPr/>
        </p:nvSpPr>
        <p:spPr>
          <a:xfrm>
            <a:off x="1727437" y="4119737"/>
            <a:ext cx="5901528" cy="425758"/>
          </a:xfrm>
          <a:prstGeom prst="rect">
            <a:avLst/>
          </a:prstGeom>
          <a:solidFill>
            <a:schemeClr val="accent6">
              <a:lumMod val="50000"/>
            </a:schemeClr>
          </a:solidFill>
        </p:spPr>
        <p:txBody>
          <a:bodyPr wrap="square">
            <a:spAutoFit/>
          </a:bodyPr>
          <a:lstStyle/>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连续 </a:t>
            </a:r>
            <a:r>
              <a:rPr lang="en-US" altLang="zh-CN" b="1" dirty="0">
                <a:solidFill>
                  <a:schemeClr val="bg1"/>
                </a:solidFill>
                <a:latin typeface="微软雅黑" panose="020B0503020204020204" pitchFamily="34" charset="-122"/>
                <a:ea typeface="微软雅黑" panose="020B0503020204020204" pitchFamily="34" charset="-122"/>
              </a:rPr>
              <a:t>ARQ </a:t>
            </a:r>
            <a:r>
              <a:rPr lang="zh-CN" altLang="en-US" b="1" dirty="0">
                <a:solidFill>
                  <a:schemeClr val="bg1"/>
                </a:solidFill>
                <a:latin typeface="微软雅黑" panose="020B0503020204020204" pitchFamily="34" charset="-122"/>
                <a:ea typeface="微软雅黑" panose="020B0503020204020204" pitchFamily="34" charset="-122"/>
              </a:rPr>
              <a:t>协议和滑动窗口协议采用流水线传输方式。</a:t>
            </a:r>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71C5388-A48B-55D5-86D7-D9832992FE25}"/>
              </a:ext>
            </a:extLst>
          </p:cNvPr>
          <p:cNvSpPr>
            <a:spLocks noGrp="1"/>
          </p:cNvSpPr>
          <p:nvPr>
            <p:ph sz="quarter" idx="11"/>
          </p:nvPr>
        </p:nvSpPr>
        <p:spPr>
          <a:xfrm>
            <a:off x="486000" y="900000"/>
            <a:ext cx="8172000" cy="3703500"/>
          </a:xfrm>
        </p:spPr>
        <p:txBody>
          <a:bodyPr/>
          <a:lstStyle/>
          <a:p>
            <a:r>
              <a:rPr lang="zh-CN" altLang="en-US" dirty="0"/>
              <a:t>发送窗口：发送方维持一个发送窗口，位于发送窗口内的分组都可被连续发送出去，而不需要等待对方的确认。</a:t>
            </a:r>
            <a:endParaRPr lang="en-US" altLang="zh-CN" dirty="0"/>
          </a:p>
          <a:p>
            <a:r>
              <a:rPr lang="zh-CN" altLang="en-US" dirty="0"/>
              <a:t>发送窗口滑动：发送方每收到一个确认，就把发送窗口向前滑动一个分组的位置。</a:t>
            </a:r>
            <a:endParaRPr lang="en-US" altLang="zh-CN" dirty="0"/>
          </a:p>
          <a:p>
            <a:r>
              <a:rPr lang="zh-CN" altLang="en-US" dirty="0"/>
              <a:t>累积确认：接收方对按序到达的最后一个分组发送确认，表示：到这个分组为止的所有分组都已正确收到了。</a:t>
            </a:r>
            <a:endParaRPr lang="en-US" altLang="zh-CN" dirty="0"/>
          </a:p>
          <a:p>
            <a:endParaRPr lang="zh-CN" altLang="en-US" dirty="0"/>
          </a:p>
        </p:txBody>
      </p:sp>
      <p:sp>
        <p:nvSpPr>
          <p:cNvPr id="8" name="标题 7">
            <a:extLst>
              <a:ext uri="{FF2B5EF4-FFF2-40B4-BE49-F238E27FC236}">
                <a16:creationId xmlns:a16="http://schemas.microsoft.com/office/drawing/2014/main" id="{768021DB-D274-0A0A-E6E8-93171712004C}"/>
              </a:ext>
            </a:extLst>
          </p:cNvPr>
          <p:cNvSpPr>
            <a:spLocks noGrp="1"/>
          </p:cNvSpPr>
          <p:nvPr>
            <p:ph type="title"/>
          </p:nvPr>
        </p:nvSpPr>
        <p:spPr>
          <a:xfrm>
            <a:off x="486000" y="550723"/>
            <a:ext cx="8172000" cy="338554"/>
          </a:xfrm>
        </p:spPr>
        <p:txBody>
          <a:bodyPr/>
          <a:lstStyle/>
          <a:p>
            <a:r>
              <a:rPr lang="en-US" altLang="zh-CN" dirty="0"/>
              <a:t>5.4.2   </a:t>
            </a:r>
            <a:r>
              <a:rPr lang="zh-CN" altLang="en-US" dirty="0"/>
              <a:t>连续 </a:t>
            </a:r>
            <a:r>
              <a:rPr lang="en-US" altLang="zh-CN" dirty="0"/>
              <a:t>ARQ </a:t>
            </a:r>
            <a:r>
              <a:rPr lang="zh-CN" altLang="en-US" dirty="0"/>
              <a:t>协议</a:t>
            </a:r>
          </a:p>
        </p:txBody>
      </p:sp>
    </p:spTree>
    <p:extLst>
      <p:ext uri="{BB962C8B-B14F-4D97-AF65-F5344CB8AC3E}">
        <p14:creationId xmlns:p14="http://schemas.microsoft.com/office/powerpoint/2010/main" val="18954925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86CC97-3CD7-9D5B-1634-5383FA9E0FEA}"/>
              </a:ext>
            </a:extLst>
          </p:cNvPr>
          <p:cNvSpPr>
            <a:spLocks noGrp="1"/>
          </p:cNvSpPr>
          <p:nvPr>
            <p:ph type="title" idx="4294967295"/>
          </p:nvPr>
        </p:nvSpPr>
        <p:spPr>
          <a:xfrm>
            <a:off x="0" y="550863"/>
            <a:ext cx="8172450" cy="338137"/>
          </a:xfrm>
          <a:prstGeom prst="rect">
            <a:avLst/>
          </a:prstGeom>
        </p:spPr>
        <p:txBody>
          <a:bodyPr/>
          <a:lstStyle/>
          <a:p>
            <a:r>
              <a:rPr lang="zh-CN" altLang="en-US" dirty="0"/>
              <a:t>发送窗口</a:t>
            </a:r>
          </a:p>
        </p:txBody>
      </p:sp>
      <p:grpSp>
        <p:nvGrpSpPr>
          <p:cNvPr id="5" name="组合 4"/>
          <p:cNvGrpSpPr/>
          <p:nvPr/>
        </p:nvGrpSpPr>
        <p:grpSpPr>
          <a:xfrm>
            <a:off x="2077542" y="1049057"/>
            <a:ext cx="5014230" cy="1258442"/>
            <a:chOff x="930027" y="1412776"/>
            <a:chExt cx="8199437" cy="2057847"/>
          </a:xfrm>
        </p:grpSpPr>
        <p:sp>
          <p:nvSpPr>
            <p:cNvPr id="6" name="Rectangle 29"/>
            <p:cNvSpPr>
              <a:spLocks noChangeArrowheads="1"/>
            </p:cNvSpPr>
            <p:nvPr/>
          </p:nvSpPr>
          <p:spPr bwMode="auto">
            <a:xfrm>
              <a:off x="930027" y="1933476"/>
              <a:ext cx="3413125" cy="911225"/>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17"/>
            <p:cNvSpPr>
              <a:spLocks noChangeArrowheads="1"/>
            </p:cNvSpPr>
            <p:nvPr/>
          </p:nvSpPr>
          <p:spPr bwMode="auto">
            <a:xfrm>
              <a:off x="930027" y="2136676"/>
              <a:ext cx="8189912" cy="50482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5"/>
            <p:cNvSpPr>
              <a:spLocks noChangeArrowheads="1"/>
            </p:cNvSpPr>
            <p:nvPr/>
          </p:nvSpPr>
          <p:spPr bwMode="auto">
            <a:xfrm>
              <a:off x="930027"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9" name="Rectangle 6"/>
            <p:cNvSpPr>
              <a:spLocks noChangeArrowheads="1"/>
            </p:cNvSpPr>
            <p:nvPr/>
          </p:nvSpPr>
          <p:spPr bwMode="auto">
            <a:xfrm>
              <a:off x="1612652"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10" name="Rectangle 7"/>
            <p:cNvSpPr>
              <a:spLocks noChangeArrowheads="1"/>
            </p:cNvSpPr>
            <p:nvPr/>
          </p:nvSpPr>
          <p:spPr bwMode="auto">
            <a:xfrm>
              <a:off x="229686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11" name="Rectangle 8"/>
            <p:cNvSpPr>
              <a:spLocks noChangeArrowheads="1"/>
            </p:cNvSpPr>
            <p:nvPr/>
          </p:nvSpPr>
          <p:spPr bwMode="auto">
            <a:xfrm>
              <a:off x="29794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12" name="Rectangle 9"/>
            <p:cNvSpPr>
              <a:spLocks noChangeArrowheads="1"/>
            </p:cNvSpPr>
            <p:nvPr/>
          </p:nvSpPr>
          <p:spPr bwMode="auto">
            <a:xfrm>
              <a:off x="36637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13" name="Rectangle 10"/>
            <p:cNvSpPr>
              <a:spLocks noChangeArrowheads="1"/>
            </p:cNvSpPr>
            <p:nvPr/>
          </p:nvSpPr>
          <p:spPr bwMode="auto">
            <a:xfrm>
              <a:off x="434791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14" name="Rectangle 11"/>
            <p:cNvSpPr>
              <a:spLocks noChangeArrowheads="1"/>
            </p:cNvSpPr>
            <p:nvPr/>
          </p:nvSpPr>
          <p:spPr bwMode="auto">
            <a:xfrm>
              <a:off x="503053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15" name="Rectangle 12"/>
            <p:cNvSpPr>
              <a:spLocks noChangeArrowheads="1"/>
            </p:cNvSpPr>
            <p:nvPr/>
          </p:nvSpPr>
          <p:spPr bwMode="auto">
            <a:xfrm>
              <a:off x="571475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16" name="Rectangle 13"/>
            <p:cNvSpPr>
              <a:spLocks noChangeArrowheads="1"/>
            </p:cNvSpPr>
            <p:nvPr/>
          </p:nvSpPr>
          <p:spPr bwMode="auto">
            <a:xfrm>
              <a:off x="639578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17" name="Rectangle 14"/>
            <p:cNvSpPr>
              <a:spLocks noChangeArrowheads="1"/>
            </p:cNvSpPr>
            <p:nvPr/>
          </p:nvSpPr>
          <p:spPr bwMode="auto">
            <a:xfrm>
              <a:off x="70815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18" name="Rectangle 15"/>
            <p:cNvSpPr>
              <a:spLocks noChangeArrowheads="1"/>
            </p:cNvSpPr>
            <p:nvPr/>
          </p:nvSpPr>
          <p:spPr bwMode="auto">
            <a:xfrm>
              <a:off x="77658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19" name="Rectangle 16"/>
            <p:cNvSpPr>
              <a:spLocks noChangeArrowheads="1"/>
            </p:cNvSpPr>
            <p:nvPr/>
          </p:nvSpPr>
          <p:spPr bwMode="auto">
            <a:xfrm>
              <a:off x="844683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20" name="Line 18"/>
            <p:cNvSpPr>
              <a:spLocks noChangeShapeType="1"/>
            </p:cNvSpPr>
            <p:nvPr/>
          </p:nvSpPr>
          <p:spPr bwMode="auto">
            <a:xfrm>
              <a:off x="16126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19"/>
            <p:cNvSpPr>
              <a:spLocks noChangeShapeType="1"/>
            </p:cNvSpPr>
            <p:nvPr/>
          </p:nvSpPr>
          <p:spPr bwMode="auto">
            <a:xfrm>
              <a:off x="22952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20"/>
            <p:cNvSpPr>
              <a:spLocks noChangeShapeType="1"/>
            </p:cNvSpPr>
            <p:nvPr/>
          </p:nvSpPr>
          <p:spPr bwMode="auto">
            <a:xfrm>
              <a:off x="297631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21"/>
            <p:cNvSpPr>
              <a:spLocks noChangeShapeType="1"/>
            </p:cNvSpPr>
            <p:nvPr/>
          </p:nvSpPr>
          <p:spPr bwMode="auto">
            <a:xfrm>
              <a:off x="365893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22"/>
            <p:cNvSpPr>
              <a:spLocks noChangeShapeType="1"/>
            </p:cNvSpPr>
            <p:nvPr/>
          </p:nvSpPr>
          <p:spPr bwMode="auto">
            <a:xfrm>
              <a:off x="43399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3"/>
            <p:cNvSpPr>
              <a:spLocks noChangeShapeType="1"/>
            </p:cNvSpPr>
            <p:nvPr/>
          </p:nvSpPr>
          <p:spPr bwMode="auto">
            <a:xfrm>
              <a:off x="502260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4"/>
            <p:cNvSpPr>
              <a:spLocks noChangeShapeType="1"/>
            </p:cNvSpPr>
            <p:nvPr/>
          </p:nvSpPr>
          <p:spPr bwMode="auto">
            <a:xfrm>
              <a:off x="57052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a:off x="638626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706888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77499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28"/>
            <p:cNvSpPr>
              <a:spLocks noChangeShapeType="1"/>
            </p:cNvSpPr>
            <p:nvPr/>
          </p:nvSpPr>
          <p:spPr bwMode="auto">
            <a:xfrm>
              <a:off x="84325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Text Box 30"/>
            <p:cNvSpPr txBox="1">
              <a:spLocks noChangeArrowheads="1"/>
            </p:cNvSpPr>
            <p:nvPr/>
          </p:nvSpPr>
          <p:spPr bwMode="auto">
            <a:xfrm>
              <a:off x="2288927" y="2967336"/>
              <a:ext cx="6341411"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 </a:t>
              </a:r>
              <a:r>
                <a:rPr lang="zh-CN" altLang="en-US" sz="1400" b="1" dirty="0">
                  <a:solidFill>
                    <a:srgbClr val="000099"/>
                  </a:solidFill>
                  <a:latin typeface="微软雅黑" pitchFamily="34" charset="-122"/>
                  <a:ea typeface="微软雅黑" pitchFamily="34" charset="-122"/>
                </a:rPr>
                <a:t>发送方维持发送窗口（发送窗口大小是 </a:t>
              </a:r>
              <a:r>
                <a:rPr lang="en-US" altLang="zh-CN" sz="1400" b="1" dirty="0">
                  <a:solidFill>
                    <a:srgbClr val="000099"/>
                  </a:solidFill>
                  <a:latin typeface="微软雅黑" pitchFamily="34" charset="-122"/>
                  <a:ea typeface="微软雅黑" pitchFamily="34" charset="-122"/>
                </a:rPr>
                <a:t>5</a:t>
              </a:r>
              <a:r>
                <a:rPr lang="zh-CN" altLang="en-US" sz="1400" b="1" dirty="0">
                  <a:solidFill>
                    <a:srgbClr val="000099"/>
                  </a:solidFill>
                  <a:latin typeface="微软雅黑" pitchFamily="34" charset="-122"/>
                  <a:ea typeface="微软雅黑" pitchFamily="34" charset="-122"/>
                </a:rPr>
                <a:t>）</a:t>
              </a:r>
            </a:p>
          </p:txBody>
        </p:sp>
        <p:sp>
          <p:nvSpPr>
            <p:cNvPr id="32" name="Text Box 31"/>
            <p:cNvSpPr txBox="1">
              <a:spLocks noChangeArrowheads="1"/>
            </p:cNvSpPr>
            <p:nvPr/>
          </p:nvSpPr>
          <p:spPr bwMode="auto">
            <a:xfrm>
              <a:off x="1858714" y="1412776"/>
              <a:ext cx="1476307"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sp>
        <p:nvSpPr>
          <p:cNvPr id="36" name="Text Box 32"/>
          <p:cNvSpPr txBox="1">
            <a:spLocks noChangeArrowheads="1"/>
          </p:cNvSpPr>
          <p:nvPr/>
        </p:nvSpPr>
        <p:spPr bwMode="auto">
          <a:xfrm>
            <a:off x="2915850" y="3497760"/>
            <a:ext cx="337143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(b) </a:t>
            </a:r>
            <a:r>
              <a:rPr lang="zh-CN" altLang="en-US" sz="1400" b="1" dirty="0">
                <a:solidFill>
                  <a:srgbClr val="000099"/>
                </a:solidFill>
                <a:latin typeface="微软雅黑" pitchFamily="34" charset="-122"/>
                <a:ea typeface="微软雅黑" pitchFamily="34" charset="-122"/>
              </a:rPr>
              <a:t>收到一个确认后，发送窗口向前滑动</a:t>
            </a:r>
          </a:p>
        </p:txBody>
      </p:sp>
      <p:grpSp>
        <p:nvGrpSpPr>
          <p:cNvPr id="73" name="组合 72"/>
          <p:cNvGrpSpPr/>
          <p:nvPr/>
        </p:nvGrpSpPr>
        <p:grpSpPr>
          <a:xfrm>
            <a:off x="4158070" y="2409392"/>
            <a:ext cx="1261884" cy="328639"/>
            <a:chOff x="3716242" y="2442860"/>
            <a:chExt cx="1261884" cy="328639"/>
          </a:xfrm>
        </p:grpSpPr>
        <p:sp>
          <p:nvSpPr>
            <p:cNvPr id="38" name="Text Box 34"/>
            <p:cNvSpPr txBox="1">
              <a:spLocks noChangeArrowheads="1"/>
            </p:cNvSpPr>
            <p:nvPr/>
          </p:nvSpPr>
          <p:spPr bwMode="auto">
            <a:xfrm>
              <a:off x="3716242" y="244286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窗口向前滑动</a:t>
              </a:r>
            </a:p>
          </p:txBody>
        </p:sp>
        <p:sp>
          <p:nvSpPr>
            <p:cNvPr id="37" name="Line 33"/>
            <p:cNvSpPr>
              <a:spLocks noChangeShapeType="1"/>
            </p:cNvSpPr>
            <p:nvPr/>
          </p:nvSpPr>
          <p:spPr bwMode="auto">
            <a:xfrm>
              <a:off x="4142829" y="2771499"/>
              <a:ext cx="408710"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72" name="组合 71"/>
          <p:cNvGrpSpPr/>
          <p:nvPr/>
        </p:nvGrpSpPr>
        <p:grpSpPr>
          <a:xfrm>
            <a:off x="2059329" y="2605906"/>
            <a:ext cx="2087240" cy="857226"/>
            <a:chOff x="2059329" y="2428927"/>
            <a:chExt cx="2087240" cy="857226"/>
          </a:xfrm>
        </p:grpSpPr>
        <p:sp>
          <p:nvSpPr>
            <p:cNvPr id="34" name="Rectangle 60"/>
            <p:cNvSpPr>
              <a:spLocks noChangeArrowheads="1"/>
            </p:cNvSpPr>
            <p:nvPr/>
          </p:nvSpPr>
          <p:spPr bwMode="auto">
            <a:xfrm>
              <a:off x="2059329" y="2727937"/>
              <a:ext cx="2087240" cy="558216"/>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Text Box 61"/>
            <p:cNvSpPr txBox="1">
              <a:spLocks noChangeArrowheads="1"/>
            </p:cNvSpPr>
            <p:nvPr/>
          </p:nvSpPr>
          <p:spPr bwMode="auto">
            <a:xfrm>
              <a:off x="2715596" y="242892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grpSp>
        <p:nvGrpSpPr>
          <p:cNvPr id="71" name="组合 70"/>
          <p:cNvGrpSpPr/>
          <p:nvPr/>
        </p:nvGrpSpPr>
        <p:grpSpPr>
          <a:xfrm>
            <a:off x="1895639" y="3409736"/>
            <a:ext cx="723275" cy="602023"/>
            <a:chOff x="1895639" y="3232757"/>
            <a:chExt cx="723275" cy="602023"/>
          </a:xfrm>
        </p:grpSpPr>
        <p:sp>
          <p:nvSpPr>
            <p:cNvPr id="66" name="Line 33"/>
            <p:cNvSpPr>
              <a:spLocks noChangeShapeType="1"/>
            </p:cNvSpPr>
            <p:nvPr/>
          </p:nvSpPr>
          <p:spPr bwMode="auto">
            <a:xfrm flipV="1">
              <a:off x="2251262" y="3232757"/>
              <a:ext cx="0" cy="348035"/>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34"/>
            <p:cNvSpPr txBox="1">
              <a:spLocks noChangeArrowheads="1"/>
            </p:cNvSpPr>
            <p:nvPr/>
          </p:nvSpPr>
          <p:spPr bwMode="auto">
            <a:xfrm>
              <a:off x="1895639" y="352700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00000"/>
                  </a:solidFill>
                  <a:latin typeface="微软雅黑" pitchFamily="34" charset="-122"/>
                  <a:ea typeface="微软雅黑" pitchFamily="34" charset="-122"/>
                </a:rPr>
                <a:t>被确认</a:t>
              </a:r>
            </a:p>
          </p:txBody>
        </p:sp>
      </p:grpSp>
      <p:grpSp>
        <p:nvGrpSpPr>
          <p:cNvPr id="69" name="组合 68"/>
          <p:cNvGrpSpPr/>
          <p:nvPr/>
        </p:nvGrpSpPr>
        <p:grpSpPr>
          <a:xfrm>
            <a:off x="2057401" y="3029180"/>
            <a:ext cx="5014229" cy="309689"/>
            <a:chOff x="2057401" y="2852201"/>
            <a:chExt cx="5014229" cy="309689"/>
          </a:xfrm>
        </p:grpSpPr>
        <p:sp>
          <p:nvSpPr>
            <p:cNvPr id="35" name="Rectangle 48"/>
            <p:cNvSpPr>
              <a:spLocks noChangeArrowheads="1"/>
            </p:cNvSpPr>
            <p:nvPr/>
          </p:nvSpPr>
          <p:spPr bwMode="auto">
            <a:xfrm>
              <a:off x="2057401" y="2852201"/>
              <a:ext cx="5007434" cy="30968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6"/>
            <p:cNvSpPr>
              <a:spLocks noChangeArrowheads="1"/>
            </p:cNvSpPr>
            <p:nvPr/>
          </p:nvSpPr>
          <p:spPr bwMode="auto">
            <a:xfrm>
              <a:off x="2057401"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40" name="Rectangle 37"/>
            <p:cNvSpPr>
              <a:spLocks noChangeArrowheads="1"/>
            </p:cNvSpPr>
            <p:nvPr/>
          </p:nvSpPr>
          <p:spPr bwMode="auto">
            <a:xfrm>
              <a:off x="2474849"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41" name="Rectangle 38"/>
            <p:cNvSpPr>
              <a:spLocks noChangeArrowheads="1"/>
            </p:cNvSpPr>
            <p:nvPr/>
          </p:nvSpPr>
          <p:spPr bwMode="auto">
            <a:xfrm>
              <a:off x="2893267"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42" name="Rectangle 39"/>
            <p:cNvSpPr>
              <a:spLocks noChangeArrowheads="1"/>
            </p:cNvSpPr>
            <p:nvPr/>
          </p:nvSpPr>
          <p:spPr bwMode="auto">
            <a:xfrm>
              <a:off x="3309745"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43" name="Rectangle 40"/>
            <p:cNvSpPr>
              <a:spLocks noChangeArrowheads="1"/>
            </p:cNvSpPr>
            <p:nvPr/>
          </p:nvSpPr>
          <p:spPr bwMode="auto">
            <a:xfrm>
              <a:off x="3729134"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44" name="Rectangle 41"/>
            <p:cNvSpPr>
              <a:spLocks noChangeArrowheads="1"/>
            </p:cNvSpPr>
            <p:nvPr/>
          </p:nvSpPr>
          <p:spPr bwMode="auto">
            <a:xfrm>
              <a:off x="4147553"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45" name="Rectangle 42"/>
            <p:cNvSpPr>
              <a:spLocks noChangeArrowheads="1"/>
            </p:cNvSpPr>
            <p:nvPr/>
          </p:nvSpPr>
          <p:spPr bwMode="auto">
            <a:xfrm>
              <a:off x="4564030"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46" name="Rectangle 43"/>
            <p:cNvSpPr>
              <a:spLocks noChangeArrowheads="1"/>
            </p:cNvSpPr>
            <p:nvPr/>
          </p:nvSpPr>
          <p:spPr bwMode="auto">
            <a:xfrm>
              <a:off x="4983420"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47" name="Rectangle 44"/>
            <p:cNvSpPr>
              <a:spLocks noChangeArrowheads="1"/>
            </p:cNvSpPr>
            <p:nvPr/>
          </p:nvSpPr>
          <p:spPr bwMode="auto">
            <a:xfrm>
              <a:off x="539989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48" name="Rectangle 45"/>
            <p:cNvSpPr>
              <a:spLocks noChangeArrowheads="1"/>
            </p:cNvSpPr>
            <p:nvPr/>
          </p:nvSpPr>
          <p:spPr bwMode="auto">
            <a:xfrm>
              <a:off x="581831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49" name="Rectangle 46"/>
            <p:cNvSpPr>
              <a:spLocks noChangeArrowheads="1"/>
            </p:cNvSpPr>
            <p:nvPr/>
          </p:nvSpPr>
          <p:spPr bwMode="auto">
            <a:xfrm>
              <a:off x="6236734"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50" name="Rectangle 47"/>
            <p:cNvSpPr>
              <a:spLocks noChangeArrowheads="1"/>
            </p:cNvSpPr>
            <p:nvPr/>
          </p:nvSpPr>
          <p:spPr bwMode="auto">
            <a:xfrm>
              <a:off x="6654182"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51" name="Line 49"/>
            <p:cNvSpPr>
              <a:spLocks noChangeShapeType="1"/>
            </p:cNvSpPr>
            <p:nvPr/>
          </p:nvSpPr>
          <p:spPr bwMode="auto">
            <a:xfrm>
              <a:off x="24748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50"/>
            <p:cNvSpPr>
              <a:spLocks noChangeShapeType="1"/>
            </p:cNvSpPr>
            <p:nvPr/>
          </p:nvSpPr>
          <p:spPr bwMode="auto">
            <a:xfrm>
              <a:off x="289132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Line 51"/>
            <p:cNvSpPr>
              <a:spLocks noChangeShapeType="1"/>
            </p:cNvSpPr>
            <p:nvPr/>
          </p:nvSpPr>
          <p:spPr bwMode="auto">
            <a:xfrm>
              <a:off x="3308773"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Line 52"/>
            <p:cNvSpPr>
              <a:spLocks noChangeShapeType="1"/>
            </p:cNvSpPr>
            <p:nvPr/>
          </p:nvSpPr>
          <p:spPr bwMode="auto">
            <a:xfrm>
              <a:off x="3725251"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Line 53"/>
            <p:cNvSpPr>
              <a:spLocks noChangeShapeType="1"/>
            </p:cNvSpPr>
            <p:nvPr/>
          </p:nvSpPr>
          <p:spPr bwMode="auto">
            <a:xfrm>
              <a:off x="414269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6" name="Line 54"/>
            <p:cNvSpPr>
              <a:spLocks noChangeShapeType="1"/>
            </p:cNvSpPr>
            <p:nvPr/>
          </p:nvSpPr>
          <p:spPr bwMode="auto">
            <a:xfrm>
              <a:off x="456014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Line 55"/>
            <p:cNvSpPr>
              <a:spLocks noChangeShapeType="1"/>
            </p:cNvSpPr>
            <p:nvPr/>
          </p:nvSpPr>
          <p:spPr bwMode="auto">
            <a:xfrm>
              <a:off x="4976624"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56"/>
            <p:cNvSpPr>
              <a:spLocks noChangeShapeType="1"/>
            </p:cNvSpPr>
            <p:nvPr/>
          </p:nvSpPr>
          <p:spPr bwMode="auto">
            <a:xfrm>
              <a:off x="5394072"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57"/>
            <p:cNvSpPr>
              <a:spLocks noChangeShapeType="1"/>
            </p:cNvSpPr>
            <p:nvPr/>
          </p:nvSpPr>
          <p:spPr bwMode="auto">
            <a:xfrm>
              <a:off x="58105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58"/>
            <p:cNvSpPr>
              <a:spLocks noChangeShapeType="1"/>
            </p:cNvSpPr>
            <p:nvPr/>
          </p:nvSpPr>
          <p:spPr bwMode="auto">
            <a:xfrm>
              <a:off x="622799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664544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3563511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73"/>
                                        </p:tgtEl>
                                        <p:attrNameLst>
                                          <p:attrName>style.visibility</p:attrName>
                                        </p:attrNameLst>
                                      </p:cBhvr>
                                      <p:to>
                                        <p:strVal val="visible"/>
                                      </p:to>
                                    </p:set>
                                  </p:childTnLst>
                                </p:cTn>
                              </p:par>
                            </p:childTnLst>
                          </p:cTn>
                        </p:par>
                        <p:par>
                          <p:cTn id="10" fill="hold">
                            <p:stCondLst>
                              <p:cond delay="0"/>
                            </p:stCondLst>
                            <p:childTnLst>
                              <p:par>
                                <p:cTn id="11" presetID="35" presetClass="emph" presetSubtype="0" repeatCount="3000" fill="hold" nodeType="afterEffect">
                                  <p:stCondLst>
                                    <p:cond delay="0"/>
                                  </p:stCondLst>
                                  <p:childTnLst>
                                    <p:anim calcmode="discrete" valueType="str">
                                      <p:cBhvr>
                                        <p:cTn id="12" dur="1000" fill="hold"/>
                                        <p:tgtEl>
                                          <p:spTgt spid="73"/>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63" presetClass="path" presetSubtype="0" accel="50000" decel="50000" fill="hold" nodeType="afterEffect">
                                  <p:stCondLst>
                                    <p:cond delay="0"/>
                                  </p:stCondLst>
                                  <p:childTnLst>
                                    <p:animMotion origin="layout" path="M 3.88889E-6 -3.45679E-6 L 0.04548 -3.45679E-6 " pathEditMode="relative" rAng="0" ptsTypes="AA">
                                      <p:cBhvr>
                                        <p:cTn id="15" dur="2000" fill="hold"/>
                                        <p:tgtEl>
                                          <p:spTgt spid="72"/>
                                        </p:tgtEl>
                                        <p:attrNameLst>
                                          <p:attrName>ppt_x</p:attrName>
                                          <p:attrName>ppt_y</p:attrName>
                                        </p:attrNameLst>
                                      </p:cBhvr>
                                      <p:rCtr x="227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CB8ADEDB-CD5B-E37C-6460-67AF5DA3053C}"/>
              </a:ext>
            </a:extLst>
          </p:cNvPr>
          <p:cNvSpPr>
            <a:spLocks noChangeArrowheads="1"/>
          </p:cNvSpPr>
          <p:nvPr/>
        </p:nvSpPr>
        <p:spPr bwMode="auto">
          <a:xfrm>
            <a:off x="2077541" y="1367482"/>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0" name="Text Box 31">
            <a:extLst>
              <a:ext uri="{FF2B5EF4-FFF2-40B4-BE49-F238E27FC236}">
                <a16:creationId xmlns:a16="http://schemas.microsoft.com/office/drawing/2014/main" id="{CE160EBD-7171-0F42-2D6E-B1E26D0B76BA}"/>
              </a:ext>
            </a:extLst>
          </p:cNvPr>
          <p:cNvSpPr txBox="1">
            <a:spLocks noChangeArrowheads="1"/>
          </p:cNvSpPr>
          <p:nvPr/>
        </p:nvSpPr>
        <p:spPr bwMode="auto">
          <a:xfrm>
            <a:off x="3342431" y="103875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31" name="表格 30">
            <a:extLst>
              <a:ext uri="{FF2B5EF4-FFF2-40B4-BE49-F238E27FC236}">
                <a16:creationId xmlns:a16="http://schemas.microsoft.com/office/drawing/2014/main" id="{3A93FFC0-D82B-A3A2-A5C2-0A4EEDE22CB2}"/>
              </a:ext>
            </a:extLst>
          </p:cNvPr>
          <p:cNvGraphicFramePr>
            <a:graphicFrameLocks noGrp="1"/>
          </p:cNvGraphicFramePr>
          <p:nvPr>
            <p:extLst>
              <p:ext uri="{D42A27DB-BD31-4B8C-83A1-F6EECF244321}">
                <p14:modId xmlns:p14="http://schemas.microsoft.com/office/powerpoint/2010/main" val="3169804642"/>
              </p:ext>
            </p:extLst>
          </p:nvPr>
        </p:nvGraphicFramePr>
        <p:xfrm>
          <a:off x="642065" y="1460684"/>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32" name="AutoShape 26">
            <a:extLst>
              <a:ext uri="{FF2B5EF4-FFF2-40B4-BE49-F238E27FC236}">
                <a16:creationId xmlns:a16="http://schemas.microsoft.com/office/drawing/2014/main" id="{6E6E67BF-0C2B-64DE-7126-350FD971904F}"/>
              </a:ext>
            </a:extLst>
          </p:cNvPr>
          <p:cNvSpPr>
            <a:spLocks/>
          </p:cNvSpPr>
          <p:nvPr/>
        </p:nvSpPr>
        <p:spPr bwMode="auto">
          <a:xfrm rot="16200000">
            <a:off x="4409693"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3" name="AutoShape 26">
            <a:extLst>
              <a:ext uri="{FF2B5EF4-FFF2-40B4-BE49-F238E27FC236}">
                <a16:creationId xmlns:a16="http://schemas.microsoft.com/office/drawing/2014/main" id="{27556AE5-7E0A-B51E-5AC8-DB9D1E58A796}"/>
              </a:ext>
            </a:extLst>
          </p:cNvPr>
          <p:cNvSpPr>
            <a:spLocks/>
          </p:cNvSpPr>
          <p:nvPr/>
        </p:nvSpPr>
        <p:spPr bwMode="auto">
          <a:xfrm rot="16200000">
            <a:off x="2743541"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5" name="AutoShape 26">
            <a:extLst>
              <a:ext uri="{FF2B5EF4-FFF2-40B4-BE49-F238E27FC236}">
                <a16:creationId xmlns:a16="http://schemas.microsoft.com/office/drawing/2014/main" id="{2BEA4913-768B-DEA7-66B5-78C630B78707}"/>
              </a:ext>
            </a:extLst>
          </p:cNvPr>
          <p:cNvSpPr>
            <a:spLocks/>
          </p:cNvSpPr>
          <p:nvPr/>
        </p:nvSpPr>
        <p:spPr bwMode="auto">
          <a:xfrm rot="16200000">
            <a:off x="1308065" y="1412023"/>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6" name="AutoShape 26">
            <a:extLst>
              <a:ext uri="{FF2B5EF4-FFF2-40B4-BE49-F238E27FC236}">
                <a16:creationId xmlns:a16="http://schemas.microsoft.com/office/drawing/2014/main" id="{34B5F3B1-1EAE-E2E9-21E3-95D5158A20CB}"/>
              </a:ext>
            </a:extLst>
          </p:cNvPr>
          <p:cNvSpPr>
            <a:spLocks/>
          </p:cNvSpPr>
          <p:nvPr/>
        </p:nvSpPr>
        <p:spPr bwMode="auto">
          <a:xfrm rot="16200000">
            <a:off x="6060069"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7" name="文本框 36">
            <a:extLst>
              <a:ext uri="{FF2B5EF4-FFF2-40B4-BE49-F238E27FC236}">
                <a16:creationId xmlns:a16="http://schemas.microsoft.com/office/drawing/2014/main" id="{E06DADD9-1CB5-5A33-3373-B55F0CC83092}"/>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38" name="文本框 37">
            <a:extLst>
              <a:ext uri="{FF2B5EF4-FFF2-40B4-BE49-F238E27FC236}">
                <a16:creationId xmlns:a16="http://schemas.microsoft.com/office/drawing/2014/main" id="{F165BC0C-9023-BCF4-DC4A-9565937E9C5C}"/>
              </a:ext>
            </a:extLst>
          </p:cNvPr>
          <p:cNvSpPr txBox="1"/>
          <p:nvPr/>
        </p:nvSpPr>
        <p:spPr>
          <a:xfrm>
            <a:off x="4136879" y="2257769"/>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p:txBody>
      </p:sp>
      <p:sp>
        <p:nvSpPr>
          <p:cNvPr id="39" name="文本框 38">
            <a:extLst>
              <a:ext uri="{FF2B5EF4-FFF2-40B4-BE49-F238E27FC236}">
                <a16:creationId xmlns:a16="http://schemas.microsoft.com/office/drawing/2014/main" id="{89C38842-852D-6020-61F3-3B2EAC3805B9}"/>
              </a:ext>
            </a:extLst>
          </p:cNvPr>
          <p:cNvSpPr txBox="1"/>
          <p:nvPr/>
        </p:nvSpPr>
        <p:spPr>
          <a:xfrm>
            <a:off x="1038900"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40" name="文本框 39">
            <a:extLst>
              <a:ext uri="{FF2B5EF4-FFF2-40B4-BE49-F238E27FC236}">
                <a16:creationId xmlns:a16="http://schemas.microsoft.com/office/drawing/2014/main" id="{C0C0ACD1-9DC4-B41A-CB4B-E106BF866FFB}"/>
              </a:ext>
            </a:extLst>
          </p:cNvPr>
          <p:cNvSpPr txBox="1"/>
          <p:nvPr/>
        </p:nvSpPr>
        <p:spPr>
          <a:xfrm>
            <a:off x="5790903"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 name="Rectangle 29">
            <a:extLst>
              <a:ext uri="{FF2B5EF4-FFF2-40B4-BE49-F238E27FC236}">
                <a16:creationId xmlns:a16="http://schemas.microsoft.com/office/drawing/2014/main" id="{5236DE82-61C0-C0AE-FEAB-22478EAB46A7}"/>
              </a:ext>
            </a:extLst>
          </p:cNvPr>
          <p:cNvSpPr>
            <a:spLocks noChangeArrowheads="1"/>
          </p:cNvSpPr>
          <p:nvPr/>
        </p:nvSpPr>
        <p:spPr bwMode="auto">
          <a:xfrm>
            <a:off x="2077541" y="3266269"/>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0E46EBBD-5D4F-4C71-20A9-C8F8626F2570}"/>
              </a:ext>
            </a:extLst>
          </p:cNvPr>
          <p:cNvSpPr txBox="1">
            <a:spLocks noChangeArrowheads="1"/>
          </p:cNvSpPr>
          <p:nvPr/>
        </p:nvSpPr>
        <p:spPr bwMode="auto">
          <a:xfrm>
            <a:off x="3342432" y="2937537"/>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接收窗口</a:t>
            </a:r>
          </a:p>
        </p:txBody>
      </p:sp>
      <p:graphicFrame>
        <p:nvGraphicFramePr>
          <p:cNvPr id="5" name="表格 4">
            <a:extLst>
              <a:ext uri="{FF2B5EF4-FFF2-40B4-BE49-F238E27FC236}">
                <a16:creationId xmlns:a16="http://schemas.microsoft.com/office/drawing/2014/main" id="{25CD0DED-9755-3BEE-57D7-83BFBF16E324}"/>
              </a:ext>
            </a:extLst>
          </p:cNvPr>
          <p:cNvGraphicFramePr>
            <a:graphicFrameLocks noGrp="1"/>
          </p:cNvGraphicFramePr>
          <p:nvPr>
            <p:extLst>
              <p:ext uri="{D42A27DB-BD31-4B8C-83A1-F6EECF244321}">
                <p14:modId xmlns:p14="http://schemas.microsoft.com/office/powerpoint/2010/main" val="1648239173"/>
              </p:ext>
            </p:extLst>
          </p:nvPr>
        </p:nvGraphicFramePr>
        <p:xfrm>
          <a:off x="642065" y="3359471"/>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40830B2F-6354-BA21-249E-D098B656A358}"/>
              </a:ext>
            </a:extLst>
          </p:cNvPr>
          <p:cNvSpPr>
            <a:spLocks/>
          </p:cNvSpPr>
          <p:nvPr/>
        </p:nvSpPr>
        <p:spPr bwMode="auto">
          <a:xfrm rot="16200000">
            <a:off x="4409693" y="3112811"/>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 name="AutoShape 26">
            <a:extLst>
              <a:ext uri="{FF2B5EF4-FFF2-40B4-BE49-F238E27FC236}">
                <a16:creationId xmlns:a16="http://schemas.microsoft.com/office/drawing/2014/main" id="{3486C548-2C08-2175-E240-55DED8817CB8}"/>
              </a:ext>
            </a:extLst>
          </p:cNvPr>
          <p:cNvSpPr>
            <a:spLocks/>
          </p:cNvSpPr>
          <p:nvPr/>
        </p:nvSpPr>
        <p:spPr bwMode="auto">
          <a:xfrm rot="16200000">
            <a:off x="2257541" y="3796811"/>
            <a:ext cx="108000" cy="4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61B1B53D-FB4C-75A7-877E-B37D0F093897}"/>
              </a:ext>
            </a:extLst>
          </p:cNvPr>
          <p:cNvSpPr>
            <a:spLocks/>
          </p:cNvSpPr>
          <p:nvPr/>
        </p:nvSpPr>
        <p:spPr bwMode="auto">
          <a:xfrm rot="16200000">
            <a:off x="1308065" y="3310810"/>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 name="文本框 9">
            <a:extLst>
              <a:ext uri="{FF2B5EF4-FFF2-40B4-BE49-F238E27FC236}">
                <a16:creationId xmlns:a16="http://schemas.microsoft.com/office/drawing/2014/main" id="{0B232B86-25D1-DBF1-7423-4FA2C61BDAEA}"/>
              </a:ext>
            </a:extLst>
          </p:cNvPr>
          <p:cNvSpPr txBox="1"/>
          <p:nvPr/>
        </p:nvSpPr>
        <p:spPr>
          <a:xfrm>
            <a:off x="2700875"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1" name="文本框 10">
            <a:extLst>
              <a:ext uri="{FF2B5EF4-FFF2-40B4-BE49-F238E27FC236}">
                <a16:creationId xmlns:a16="http://schemas.microsoft.com/office/drawing/2014/main" id="{AC8E8E76-F025-6645-D6FD-6C6A13C78A45}"/>
              </a:ext>
            </a:extLst>
          </p:cNvPr>
          <p:cNvSpPr txBox="1"/>
          <p:nvPr/>
        </p:nvSpPr>
        <p:spPr>
          <a:xfrm>
            <a:off x="4135280" y="4156556"/>
            <a:ext cx="649537"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可接收</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F1D801A5-B9EB-BEB2-56CF-E41AD520508E}"/>
              </a:ext>
            </a:extLst>
          </p:cNvPr>
          <p:cNvSpPr txBox="1"/>
          <p:nvPr/>
        </p:nvSpPr>
        <p:spPr>
          <a:xfrm>
            <a:off x="1038900"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14" name="AutoShape 26">
            <a:extLst>
              <a:ext uri="{FF2B5EF4-FFF2-40B4-BE49-F238E27FC236}">
                <a16:creationId xmlns:a16="http://schemas.microsoft.com/office/drawing/2014/main" id="{783E87A3-EA8B-DB21-C0C4-4DD83FA846FB}"/>
              </a:ext>
            </a:extLst>
          </p:cNvPr>
          <p:cNvSpPr>
            <a:spLocks/>
          </p:cNvSpPr>
          <p:nvPr/>
        </p:nvSpPr>
        <p:spPr bwMode="auto">
          <a:xfrm rot="16200000">
            <a:off x="2970040" y="3562811"/>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 name="文本框 14">
            <a:extLst>
              <a:ext uri="{FF2B5EF4-FFF2-40B4-BE49-F238E27FC236}">
                <a16:creationId xmlns:a16="http://schemas.microsoft.com/office/drawing/2014/main" id="{6C92EF24-CF68-F2D8-A0B6-A3C383863063}"/>
              </a:ext>
            </a:extLst>
          </p:cNvPr>
          <p:cNvSpPr txBox="1"/>
          <p:nvPr/>
        </p:nvSpPr>
        <p:spPr>
          <a:xfrm>
            <a:off x="1982872" y="4156556"/>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未收到</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105388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7"/>
          <p:cNvSpPr txBox="1">
            <a:spLocks noChangeArrowheads="1"/>
          </p:cNvSpPr>
          <p:nvPr/>
        </p:nvSpPr>
        <p:spPr bwMode="auto">
          <a:xfrm>
            <a:off x="4649014" y="2270237"/>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7" name="Text Box 8"/>
          <p:cNvSpPr txBox="1">
            <a:spLocks noChangeArrowheads="1"/>
          </p:cNvSpPr>
          <p:nvPr/>
        </p:nvSpPr>
        <p:spPr bwMode="auto">
          <a:xfrm>
            <a:off x="4649014" y="2516411"/>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8" name="Text Box 9"/>
          <p:cNvSpPr txBox="1">
            <a:spLocks noChangeArrowheads="1"/>
          </p:cNvSpPr>
          <p:nvPr/>
        </p:nvSpPr>
        <p:spPr bwMode="auto">
          <a:xfrm>
            <a:off x="4649014" y="276912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grpSp>
        <p:nvGrpSpPr>
          <p:cNvPr id="3" name="组合 2"/>
          <p:cNvGrpSpPr/>
          <p:nvPr/>
        </p:nvGrpSpPr>
        <p:grpSpPr>
          <a:xfrm>
            <a:off x="1211428" y="1294256"/>
            <a:ext cx="3358863" cy="320244"/>
            <a:chOff x="1211428" y="1464591"/>
            <a:chExt cx="3358863" cy="320244"/>
          </a:xfrm>
        </p:grpSpPr>
        <p:sp>
          <p:nvSpPr>
            <p:cNvPr id="13" name="Line 14"/>
            <p:cNvSpPr>
              <a:spLocks noChangeShapeType="1"/>
            </p:cNvSpPr>
            <p:nvPr/>
          </p:nvSpPr>
          <p:spPr bwMode="auto">
            <a:xfrm>
              <a:off x="1211428" y="1464591"/>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4" name="Group 15"/>
            <p:cNvGrpSpPr>
              <a:grpSpLocks/>
            </p:cNvGrpSpPr>
            <p:nvPr/>
          </p:nvGrpSpPr>
          <p:grpSpPr bwMode="auto">
            <a:xfrm rot="344460">
              <a:off x="1533819" y="1464591"/>
              <a:ext cx="1357040" cy="191711"/>
              <a:chOff x="3024" y="1776"/>
              <a:chExt cx="1008" cy="144"/>
            </a:xfrm>
          </p:grpSpPr>
          <p:sp>
            <p:nvSpPr>
              <p:cNvPr id="96" name="Rectangle 16"/>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p>
            </p:txBody>
          </p:sp>
          <p:sp>
            <p:nvSpPr>
              <p:cNvPr id="97" name="AutoShape 17"/>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4" name="组合 3"/>
          <p:cNvGrpSpPr/>
          <p:nvPr/>
        </p:nvGrpSpPr>
        <p:grpSpPr>
          <a:xfrm>
            <a:off x="1211428" y="1550233"/>
            <a:ext cx="3358863" cy="320244"/>
            <a:chOff x="1211428" y="1720568"/>
            <a:chExt cx="3358863" cy="320244"/>
          </a:xfrm>
        </p:grpSpPr>
        <p:sp>
          <p:nvSpPr>
            <p:cNvPr id="16" name="Line 19"/>
            <p:cNvSpPr>
              <a:spLocks noChangeShapeType="1"/>
            </p:cNvSpPr>
            <p:nvPr/>
          </p:nvSpPr>
          <p:spPr bwMode="auto">
            <a:xfrm>
              <a:off x="1211428" y="172056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7" name="Group 20"/>
            <p:cNvGrpSpPr>
              <a:grpSpLocks/>
            </p:cNvGrpSpPr>
            <p:nvPr/>
          </p:nvGrpSpPr>
          <p:grpSpPr bwMode="auto">
            <a:xfrm rot="344460">
              <a:off x="1533819" y="1720568"/>
              <a:ext cx="1357040" cy="191711"/>
              <a:chOff x="3024" y="1776"/>
              <a:chExt cx="1008" cy="144"/>
            </a:xfrm>
          </p:grpSpPr>
          <p:sp>
            <p:nvSpPr>
              <p:cNvPr id="94" name="Rectangle 21"/>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p>
            </p:txBody>
          </p:sp>
          <p:sp>
            <p:nvSpPr>
              <p:cNvPr id="95" name="AutoShape 22"/>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0" name="组合 99"/>
          <p:cNvGrpSpPr/>
          <p:nvPr/>
        </p:nvGrpSpPr>
        <p:grpSpPr>
          <a:xfrm>
            <a:off x="1211428" y="2317075"/>
            <a:ext cx="3358863" cy="320244"/>
            <a:chOff x="1211428" y="2487410"/>
            <a:chExt cx="3358863" cy="320244"/>
          </a:xfrm>
        </p:grpSpPr>
        <p:sp>
          <p:nvSpPr>
            <p:cNvPr id="22" name="Line 31"/>
            <p:cNvSpPr>
              <a:spLocks noChangeShapeType="1"/>
            </p:cNvSpPr>
            <p:nvPr/>
          </p:nvSpPr>
          <p:spPr bwMode="auto">
            <a:xfrm>
              <a:off x="1211428" y="2487410"/>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3" name="Group 32"/>
            <p:cNvGrpSpPr>
              <a:grpSpLocks/>
            </p:cNvGrpSpPr>
            <p:nvPr/>
          </p:nvGrpSpPr>
          <p:grpSpPr bwMode="auto">
            <a:xfrm rot="344460">
              <a:off x="1533819" y="2487410"/>
              <a:ext cx="1357040" cy="191711"/>
              <a:chOff x="3024" y="1776"/>
              <a:chExt cx="1008" cy="144"/>
            </a:xfrm>
            <a:solidFill>
              <a:srgbClr val="FFFF99"/>
            </a:solidFill>
          </p:grpSpPr>
          <p:sp>
            <p:nvSpPr>
              <p:cNvPr id="88" name="Rectangle 33"/>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p>
            </p:txBody>
          </p:sp>
          <p:sp>
            <p:nvSpPr>
              <p:cNvPr id="89" name="AutoShape 34"/>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1" name="组合 100"/>
          <p:cNvGrpSpPr/>
          <p:nvPr/>
        </p:nvGrpSpPr>
        <p:grpSpPr>
          <a:xfrm>
            <a:off x="1211428" y="2573053"/>
            <a:ext cx="3358863" cy="320244"/>
            <a:chOff x="1211428" y="2743388"/>
            <a:chExt cx="3358863" cy="320244"/>
          </a:xfrm>
        </p:grpSpPr>
        <p:sp>
          <p:nvSpPr>
            <p:cNvPr id="24" name="Line 35"/>
            <p:cNvSpPr>
              <a:spLocks noChangeShapeType="1"/>
            </p:cNvSpPr>
            <p:nvPr/>
          </p:nvSpPr>
          <p:spPr bwMode="auto">
            <a:xfrm>
              <a:off x="1211428" y="274338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5" name="Group 36"/>
            <p:cNvGrpSpPr>
              <a:grpSpLocks/>
            </p:cNvGrpSpPr>
            <p:nvPr/>
          </p:nvGrpSpPr>
          <p:grpSpPr bwMode="auto">
            <a:xfrm rot="344460">
              <a:off x="1533819" y="2743388"/>
              <a:ext cx="1357040" cy="191711"/>
              <a:chOff x="3024" y="1776"/>
              <a:chExt cx="1008" cy="144"/>
            </a:xfrm>
            <a:solidFill>
              <a:srgbClr val="FFFF99"/>
            </a:solidFill>
          </p:grpSpPr>
          <p:sp>
            <p:nvSpPr>
              <p:cNvPr id="86" name="Rectangle 37"/>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p>
            </p:txBody>
          </p:sp>
          <p:sp>
            <p:nvSpPr>
              <p:cNvPr id="87" name="AutoShape 38"/>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2" name="组合 101"/>
          <p:cNvGrpSpPr/>
          <p:nvPr/>
        </p:nvGrpSpPr>
        <p:grpSpPr>
          <a:xfrm>
            <a:off x="1211428" y="1654802"/>
            <a:ext cx="3358863" cy="343119"/>
            <a:chOff x="1211428" y="1825137"/>
            <a:chExt cx="3358863" cy="343119"/>
          </a:xfrm>
        </p:grpSpPr>
        <p:sp>
          <p:nvSpPr>
            <p:cNvPr id="15" name="Line 18"/>
            <p:cNvSpPr>
              <a:spLocks noChangeShapeType="1"/>
            </p:cNvSpPr>
            <p:nvPr/>
          </p:nvSpPr>
          <p:spPr bwMode="auto">
            <a:xfrm flipH="1">
              <a:off x="1211428" y="1849101"/>
              <a:ext cx="3358863" cy="319155"/>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3" name="Group 50"/>
            <p:cNvGrpSpPr>
              <a:grpSpLocks/>
            </p:cNvGrpSpPr>
            <p:nvPr/>
          </p:nvGrpSpPr>
          <p:grpSpPr bwMode="auto">
            <a:xfrm rot="21254618">
              <a:off x="3213250" y="1825137"/>
              <a:ext cx="775987" cy="191711"/>
              <a:chOff x="3840" y="2448"/>
              <a:chExt cx="576" cy="144"/>
            </a:xfrm>
          </p:grpSpPr>
          <p:sp>
            <p:nvSpPr>
              <p:cNvPr id="80" name="AutoShape 51"/>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solidFill>
                    <a:schemeClr val="bg1"/>
                  </a:solidFill>
                  <a:latin typeface="微软雅黑" pitchFamily="34" charset="-122"/>
                  <a:ea typeface="微软雅黑" pitchFamily="34" charset="-122"/>
                </a:endParaRPr>
              </a:p>
            </p:txBody>
          </p:sp>
          <p:sp>
            <p:nvSpPr>
              <p:cNvPr id="81" name="Rectangle 52"/>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0</a:t>
                </a:r>
              </a:p>
            </p:txBody>
          </p:sp>
        </p:grpSp>
      </p:grpSp>
      <p:sp>
        <p:nvSpPr>
          <p:cNvPr id="35" name="Text Box 56"/>
          <p:cNvSpPr txBox="1">
            <a:spLocks noChangeArrowheads="1"/>
          </p:cNvSpPr>
          <p:nvPr/>
        </p:nvSpPr>
        <p:spPr bwMode="auto">
          <a:xfrm>
            <a:off x="4635269" y="1477252"/>
            <a:ext cx="397047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6" name="Text Box 57"/>
          <p:cNvSpPr txBox="1">
            <a:spLocks noChangeArrowheads="1"/>
          </p:cNvSpPr>
          <p:nvPr/>
        </p:nvSpPr>
        <p:spPr bwMode="auto">
          <a:xfrm>
            <a:off x="4649013" y="1746301"/>
            <a:ext cx="375040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7" name="Text Box 58"/>
          <p:cNvSpPr txBox="1">
            <a:spLocks noChangeArrowheads="1"/>
          </p:cNvSpPr>
          <p:nvPr/>
        </p:nvSpPr>
        <p:spPr bwMode="auto">
          <a:xfrm>
            <a:off x="4649014" y="2005546"/>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40" name="Text Box 63"/>
          <p:cNvSpPr txBox="1">
            <a:spLocks noChangeArrowheads="1"/>
          </p:cNvSpPr>
          <p:nvPr/>
        </p:nvSpPr>
        <p:spPr bwMode="auto">
          <a:xfrm>
            <a:off x="4649014" y="3064286"/>
            <a:ext cx="188224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为</a:t>
            </a:r>
            <a:r>
              <a:rPr lang="zh-CN" altLang="en-US" sz="1200" b="1" dirty="0">
                <a:solidFill>
                  <a:srgbClr val="C00000"/>
                </a:solidFill>
                <a:latin typeface="微软雅黑" pitchFamily="34" charset="-122"/>
                <a:ea typeface="微软雅黑" pitchFamily="34" charset="-122"/>
              </a:rPr>
              <a:t>累积确认，</a:t>
            </a:r>
            <a:endParaRPr lang="en-US" altLang="zh-CN" sz="1200" b="1" dirty="0">
              <a:solidFill>
                <a:srgbClr val="C00000"/>
              </a:solidFill>
              <a:latin typeface="微软雅黑" pitchFamily="34" charset="-122"/>
              <a:ea typeface="微软雅黑" pitchFamily="34" charset="-122"/>
            </a:endParaRPr>
          </a:p>
          <a:p>
            <a:pPr eaLnBrk="1" hangingPunct="1"/>
            <a:r>
              <a:rPr lang="zh-CN" altLang="en-US" sz="1200" b="1" dirty="0">
                <a:latin typeface="微软雅黑" pitchFamily="34" charset="-122"/>
                <a:ea typeface="微软雅黑" pitchFamily="34" charset="-122"/>
              </a:rPr>
              <a:t>表示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及之前的 </a:t>
            </a:r>
            <a:endParaRPr lang="en-US" altLang="zh-CN" sz="1200" b="1" dirty="0">
              <a:latin typeface="微软雅黑" pitchFamily="34" charset="-122"/>
              <a:ea typeface="微软雅黑" pitchFamily="34" charset="-122"/>
            </a:endParaRPr>
          </a:p>
          <a:p>
            <a:pPr eaLnBrk="1" hangingPunct="1"/>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都正确。</a:t>
            </a:r>
            <a:endParaRPr lang="en-US" altLang="zh-CN" sz="1200" b="1" dirty="0">
              <a:latin typeface="微软雅黑" pitchFamily="34" charset="-122"/>
              <a:ea typeface="微软雅黑" pitchFamily="34" charset="-122"/>
            </a:endParaRPr>
          </a:p>
        </p:txBody>
      </p:sp>
      <p:sp>
        <p:nvSpPr>
          <p:cNvPr id="52" name="Text Box 81"/>
          <p:cNvSpPr txBox="1">
            <a:spLocks noChangeArrowheads="1"/>
          </p:cNvSpPr>
          <p:nvPr/>
        </p:nvSpPr>
        <p:spPr bwMode="auto">
          <a:xfrm>
            <a:off x="6292060" y="3083331"/>
            <a:ext cx="195214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将</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p>
          <a:p>
            <a:pPr eaLnBrk="1" hangingPunct="1"/>
            <a:r>
              <a:rPr lang="zh-CN" altLang="en-US" sz="1200" b="1" dirty="0">
                <a:solidFill>
                  <a:srgbClr val="0000FF"/>
                </a:solidFill>
                <a:latin typeface="微软雅黑" pitchFamily="34" charset="-122"/>
                <a:ea typeface="微软雅黑" pitchFamily="34" charset="-122"/>
              </a:rPr>
              <a:t>提交给上层协议或用户</a:t>
            </a:r>
          </a:p>
        </p:txBody>
      </p:sp>
      <p:grpSp>
        <p:nvGrpSpPr>
          <p:cNvPr id="104" name="组合 103"/>
          <p:cNvGrpSpPr/>
          <p:nvPr/>
        </p:nvGrpSpPr>
        <p:grpSpPr>
          <a:xfrm>
            <a:off x="1211428" y="3200142"/>
            <a:ext cx="3358863" cy="323512"/>
            <a:chOff x="1211428" y="3370477"/>
            <a:chExt cx="3358863" cy="323512"/>
          </a:xfrm>
        </p:grpSpPr>
        <p:sp>
          <p:nvSpPr>
            <p:cNvPr id="10" name="Line 11"/>
            <p:cNvSpPr>
              <a:spLocks noChangeShapeType="1"/>
            </p:cNvSpPr>
            <p:nvPr/>
          </p:nvSpPr>
          <p:spPr bwMode="auto">
            <a:xfrm flipH="1">
              <a:off x="1211428" y="3373745"/>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58" name="Group 89"/>
            <p:cNvGrpSpPr>
              <a:grpSpLocks/>
            </p:cNvGrpSpPr>
            <p:nvPr/>
          </p:nvGrpSpPr>
          <p:grpSpPr bwMode="auto">
            <a:xfrm rot="21254618">
              <a:off x="3213250" y="3370477"/>
              <a:ext cx="775987" cy="191711"/>
              <a:chOff x="3840" y="2448"/>
              <a:chExt cx="576" cy="144"/>
            </a:xfrm>
          </p:grpSpPr>
          <p:sp>
            <p:nvSpPr>
              <p:cNvPr id="63" name="AutoShape 90"/>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67" name="Rectangle 91"/>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5</a:t>
                </a:r>
              </a:p>
            </p:txBody>
          </p:sp>
        </p:grpSp>
      </p:grpSp>
      <p:grpSp>
        <p:nvGrpSpPr>
          <p:cNvPr id="2" name="组合 1"/>
          <p:cNvGrpSpPr/>
          <p:nvPr/>
        </p:nvGrpSpPr>
        <p:grpSpPr>
          <a:xfrm>
            <a:off x="1211428" y="1067656"/>
            <a:ext cx="3358863" cy="2804856"/>
            <a:chOff x="1211428" y="1211865"/>
            <a:chExt cx="3358863" cy="3028156"/>
          </a:xfrm>
        </p:grpSpPr>
        <p:sp>
          <p:nvSpPr>
            <p:cNvPr id="32" name="Line 49"/>
            <p:cNvSpPr>
              <a:spLocks noChangeShapeType="1"/>
            </p:cNvSpPr>
            <p:nvPr/>
          </p:nvSpPr>
          <p:spPr bwMode="auto">
            <a:xfrm>
              <a:off x="4570291" y="1211865"/>
              <a:ext cx="0" cy="30281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60" name="Line 95"/>
            <p:cNvSpPr>
              <a:spLocks noChangeShapeType="1"/>
            </p:cNvSpPr>
            <p:nvPr/>
          </p:nvSpPr>
          <p:spPr bwMode="auto">
            <a:xfrm>
              <a:off x="1211428" y="1235829"/>
              <a:ext cx="0" cy="300419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nvGrpSpPr>
          <p:cNvPr id="98" name="组合 97"/>
          <p:cNvGrpSpPr/>
          <p:nvPr/>
        </p:nvGrpSpPr>
        <p:grpSpPr>
          <a:xfrm>
            <a:off x="1211428" y="1806210"/>
            <a:ext cx="3358863" cy="319155"/>
            <a:chOff x="1211428" y="1976545"/>
            <a:chExt cx="3358863" cy="319155"/>
          </a:xfrm>
        </p:grpSpPr>
        <p:sp>
          <p:nvSpPr>
            <p:cNvPr id="18" name="Line 23"/>
            <p:cNvSpPr>
              <a:spLocks noChangeShapeType="1"/>
            </p:cNvSpPr>
            <p:nvPr/>
          </p:nvSpPr>
          <p:spPr bwMode="auto">
            <a:xfrm>
              <a:off x="1211428" y="1976545"/>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9" name="Group 24"/>
            <p:cNvGrpSpPr>
              <a:grpSpLocks/>
            </p:cNvGrpSpPr>
            <p:nvPr/>
          </p:nvGrpSpPr>
          <p:grpSpPr bwMode="auto">
            <a:xfrm rot="344460">
              <a:off x="1533819" y="1976545"/>
              <a:ext cx="1357040" cy="191711"/>
              <a:chOff x="3024" y="1776"/>
              <a:chExt cx="1008" cy="144"/>
            </a:xfrm>
          </p:grpSpPr>
          <p:sp>
            <p:nvSpPr>
              <p:cNvPr id="92" name="Rectangle 25"/>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p>
            </p:txBody>
          </p:sp>
          <p:sp>
            <p:nvSpPr>
              <p:cNvPr id="93" name="AutoShape 26"/>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3" name="组合 102"/>
          <p:cNvGrpSpPr/>
          <p:nvPr/>
        </p:nvGrpSpPr>
        <p:grpSpPr>
          <a:xfrm>
            <a:off x="1211428" y="1933654"/>
            <a:ext cx="3358863" cy="320244"/>
            <a:chOff x="1211428" y="2103989"/>
            <a:chExt cx="3358863" cy="320244"/>
          </a:xfrm>
        </p:grpSpPr>
        <p:sp>
          <p:nvSpPr>
            <p:cNvPr id="12" name="Line 13"/>
            <p:cNvSpPr>
              <a:spLocks noChangeShapeType="1"/>
            </p:cNvSpPr>
            <p:nvPr/>
          </p:nvSpPr>
          <p:spPr bwMode="auto">
            <a:xfrm flipH="1">
              <a:off x="1211428" y="2103989"/>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4" name="Group 53"/>
            <p:cNvGrpSpPr>
              <a:grpSpLocks/>
            </p:cNvGrpSpPr>
            <p:nvPr/>
          </p:nvGrpSpPr>
          <p:grpSpPr bwMode="auto">
            <a:xfrm rot="21254618">
              <a:off x="3213250" y="2103989"/>
              <a:ext cx="775987" cy="191711"/>
              <a:chOff x="3840" y="2448"/>
              <a:chExt cx="576" cy="144"/>
            </a:xfrm>
          </p:grpSpPr>
          <p:sp>
            <p:nvSpPr>
              <p:cNvPr id="78" name="AutoShape 54"/>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79" name="Rectangle 55"/>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1</a:t>
                </a:r>
              </a:p>
            </p:txBody>
          </p:sp>
        </p:grpSp>
      </p:grpSp>
      <p:grpSp>
        <p:nvGrpSpPr>
          <p:cNvPr id="99" name="组合 98"/>
          <p:cNvGrpSpPr/>
          <p:nvPr/>
        </p:nvGrpSpPr>
        <p:grpSpPr>
          <a:xfrm>
            <a:off x="1211428" y="2062187"/>
            <a:ext cx="3358863" cy="319155"/>
            <a:chOff x="1211428" y="2232522"/>
            <a:chExt cx="3358863" cy="319155"/>
          </a:xfrm>
        </p:grpSpPr>
        <p:sp>
          <p:nvSpPr>
            <p:cNvPr id="20" name="Line 27"/>
            <p:cNvSpPr>
              <a:spLocks noChangeShapeType="1"/>
            </p:cNvSpPr>
            <p:nvPr/>
          </p:nvSpPr>
          <p:spPr bwMode="auto">
            <a:xfrm>
              <a:off x="1211428" y="2232522"/>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1" name="Group 28"/>
            <p:cNvGrpSpPr>
              <a:grpSpLocks/>
            </p:cNvGrpSpPr>
            <p:nvPr/>
          </p:nvGrpSpPr>
          <p:grpSpPr bwMode="auto">
            <a:xfrm rot="344460">
              <a:off x="1533819" y="2232522"/>
              <a:ext cx="1357040" cy="191711"/>
              <a:chOff x="3024" y="1776"/>
              <a:chExt cx="1008" cy="144"/>
            </a:xfrm>
          </p:grpSpPr>
          <p:sp>
            <p:nvSpPr>
              <p:cNvPr id="90" name="Rectangle 29"/>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p>
            </p:txBody>
          </p:sp>
          <p:sp>
            <p:nvSpPr>
              <p:cNvPr id="91" name="AutoShape 30"/>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sp>
        <p:nvSpPr>
          <p:cNvPr id="5" name="标题 4">
            <a:extLst>
              <a:ext uri="{FF2B5EF4-FFF2-40B4-BE49-F238E27FC236}">
                <a16:creationId xmlns:a16="http://schemas.microsoft.com/office/drawing/2014/main" id="{30DE72BD-E175-7485-4B6E-D5FB710E05DB}"/>
              </a:ext>
            </a:extLst>
          </p:cNvPr>
          <p:cNvSpPr>
            <a:spLocks noGrp="1"/>
          </p:cNvSpPr>
          <p:nvPr>
            <p:ph type="title"/>
          </p:nvPr>
        </p:nvSpPr>
        <p:spPr>
          <a:xfrm>
            <a:off x="486000" y="550723"/>
            <a:ext cx="8172000" cy="338554"/>
          </a:xfrm>
        </p:spPr>
        <p:txBody>
          <a:bodyPr/>
          <a:lstStyle/>
          <a:p>
            <a:r>
              <a:rPr lang="zh-CN" altLang="en-US" dirty="0"/>
              <a:t>累积确认</a:t>
            </a:r>
          </a:p>
        </p:txBody>
      </p:sp>
    </p:spTree>
    <p:extLst>
      <p:ext uri="{BB962C8B-B14F-4D97-AF65-F5344CB8AC3E}">
        <p14:creationId xmlns:p14="http://schemas.microsoft.com/office/powerpoint/2010/main" val="38997409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0"/>
                                        <p:tgtEl>
                                          <p:spTgt spid="3"/>
                                        </p:tgtEl>
                                      </p:cBhvr>
                                    </p:animEffect>
                                  </p:childTnLst>
                                </p:cTn>
                              </p:par>
                              <p:par>
                                <p:cTn id="8" presetID="22" presetClass="entr" presetSubtype="8" fill="hold" nodeType="withEffect">
                                  <p:stCondLst>
                                    <p:cond delay="10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2000"/>
                                        <p:tgtEl>
                                          <p:spTgt spid="4"/>
                                        </p:tgtEl>
                                      </p:cBhvr>
                                    </p:animEffect>
                                  </p:childTnLst>
                                </p:cTn>
                              </p:par>
                              <p:par>
                                <p:cTn id="11" presetID="22" presetClass="entr" presetSubtype="2" fill="hold" nodeType="withEffect">
                                  <p:stCondLst>
                                    <p:cond delay="2250"/>
                                  </p:stCondLst>
                                  <p:childTnLst>
                                    <p:set>
                                      <p:cBhvr>
                                        <p:cTn id="12" dur="1" fill="hold">
                                          <p:stCondLst>
                                            <p:cond delay="0"/>
                                          </p:stCondLst>
                                        </p:cTn>
                                        <p:tgtEl>
                                          <p:spTgt spid="102"/>
                                        </p:tgtEl>
                                        <p:attrNameLst>
                                          <p:attrName>style.visibility</p:attrName>
                                        </p:attrNameLst>
                                      </p:cBhvr>
                                      <p:to>
                                        <p:strVal val="visible"/>
                                      </p:to>
                                    </p:set>
                                    <p:animEffect transition="in" filter="wipe(right)">
                                      <p:cBhvr>
                                        <p:cTn id="13" dur="2000"/>
                                        <p:tgtEl>
                                          <p:spTgt spid="102"/>
                                        </p:tgtEl>
                                      </p:cBhvr>
                                    </p:animEffect>
                                  </p:childTnLst>
                                </p:cTn>
                              </p:par>
                              <p:par>
                                <p:cTn id="14" presetID="22" presetClass="entr" presetSubtype="8" fill="hold" grpId="0" nodeType="withEffect">
                                  <p:stCondLst>
                                    <p:cond delay="3000"/>
                                  </p:stCondLst>
                                  <p:childTnLst>
                                    <p:set>
                                      <p:cBhvr>
                                        <p:cTn id="15" dur="1" fill="hold">
                                          <p:stCondLst>
                                            <p:cond delay="0"/>
                                          </p:stCondLst>
                                        </p:cTn>
                                        <p:tgtEl>
                                          <p:spTgt spid="35"/>
                                        </p:tgtEl>
                                        <p:attrNameLst>
                                          <p:attrName>style.visibility</p:attrName>
                                        </p:attrNameLst>
                                      </p:cBhvr>
                                      <p:to>
                                        <p:strVal val="visible"/>
                                      </p:to>
                                    </p:set>
                                    <p:animEffect transition="in" filter="wipe(left)">
                                      <p:cBhvr>
                                        <p:cTn id="16" dur="2000"/>
                                        <p:tgtEl>
                                          <p:spTgt spid="35"/>
                                        </p:tgtEl>
                                      </p:cBhvr>
                                    </p:animEffect>
                                  </p:childTnLst>
                                </p:cTn>
                              </p:par>
                              <p:par>
                                <p:cTn id="17" presetID="22" presetClass="entr" presetSubtype="8" fill="hold" nodeType="withEffect">
                                  <p:stCondLst>
                                    <p:cond delay="4750"/>
                                  </p:stCondLst>
                                  <p:childTnLst>
                                    <p:set>
                                      <p:cBhvr>
                                        <p:cTn id="18" dur="1" fill="hold">
                                          <p:stCondLst>
                                            <p:cond delay="0"/>
                                          </p:stCondLst>
                                        </p:cTn>
                                        <p:tgtEl>
                                          <p:spTgt spid="98"/>
                                        </p:tgtEl>
                                        <p:attrNameLst>
                                          <p:attrName>style.visibility</p:attrName>
                                        </p:attrNameLst>
                                      </p:cBhvr>
                                      <p:to>
                                        <p:strVal val="visible"/>
                                      </p:to>
                                    </p:set>
                                    <p:animEffect transition="in" filter="wipe(left)">
                                      <p:cBhvr>
                                        <p:cTn id="19" dur="2000"/>
                                        <p:tgtEl>
                                          <p:spTgt spid="98"/>
                                        </p:tgtEl>
                                      </p:cBhvr>
                                    </p:animEffect>
                                  </p:childTnLst>
                                </p:cTn>
                              </p:par>
                              <p:par>
                                <p:cTn id="20" presetID="22" presetClass="entr" presetSubtype="8" fill="hold" grpId="0" nodeType="withEffect">
                                  <p:stCondLst>
                                    <p:cond delay="7000"/>
                                  </p:stCondLst>
                                  <p:childTnLst>
                                    <p:set>
                                      <p:cBhvr>
                                        <p:cTn id="21" dur="1" fill="hold">
                                          <p:stCondLst>
                                            <p:cond delay="0"/>
                                          </p:stCondLst>
                                        </p:cTn>
                                        <p:tgtEl>
                                          <p:spTgt spid="37"/>
                                        </p:tgtEl>
                                        <p:attrNameLst>
                                          <p:attrName>style.visibility</p:attrName>
                                        </p:attrNameLst>
                                      </p:cBhvr>
                                      <p:to>
                                        <p:strVal val="visible"/>
                                      </p:to>
                                    </p:set>
                                    <p:animEffect transition="in" filter="wipe(left)">
                                      <p:cBhvr>
                                        <p:cTn id="22" dur="2000"/>
                                        <p:tgtEl>
                                          <p:spTgt spid="37"/>
                                        </p:tgtEl>
                                      </p:cBhvr>
                                    </p:animEffect>
                                  </p:childTnLst>
                                </p:cTn>
                              </p:par>
                              <p:par>
                                <p:cTn id="23" presetID="22" presetClass="entr" presetSubtype="2" fill="hold" nodeType="withEffect">
                                  <p:stCondLst>
                                    <p:cond delay="7000"/>
                                  </p:stCondLst>
                                  <p:childTnLst>
                                    <p:set>
                                      <p:cBhvr>
                                        <p:cTn id="24" dur="1" fill="hold">
                                          <p:stCondLst>
                                            <p:cond delay="0"/>
                                          </p:stCondLst>
                                        </p:cTn>
                                        <p:tgtEl>
                                          <p:spTgt spid="103"/>
                                        </p:tgtEl>
                                        <p:attrNameLst>
                                          <p:attrName>style.visibility</p:attrName>
                                        </p:attrNameLst>
                                      </p:cBhvr>
                                      <p:to>
                                        <p:strVal val="visible"/>
                                      </p:to>
                                    </p:set>
                                    <p:animEffect transition="in" filter="wipe(right)">
                                      <p:cBhvr>
                                        <p:cTn id="25" dur="2000"/>
                                        <p:tgtEl>
                                          <p:spTgt spid="103"/>
                                        </p:tgtEl>
                                      </p:cBhvr>
                                    </p:animEffect>
                                  </p:childTnLst>
                                </p:cTn>
                              </p:par>
                              <p:par>
                                <p:cTn id="26" presetID="22" presetClass="entr" presetSubtype="8" fill="hold" grpId="0" nodeType="withEffect">
                                  <p:stCondLst>
                                    <p:cond delay="8000"/>
                                  </p:stCondLst>
                                  <p:childTnLst>
                                    <p:set>
                                      <p:cBhvr>
                                        <p:cTn id="27" dur="1" fill="hold">
                                          <p:stCondLst>
                                            <p:cond delay="0"/>
                                          </p:stCondLst>
                                        </p:cTn>
                                        <p:tgtEl>
                                          <p:spTgt spid="36"/>
                                        </p:tgtEl>
                                        <p:attrNameLst>
                                          <p:attrName>style.visibility</p:attrName>
                                        </p:attrNameLst>
                                      </p:cBhvr>
                                      <p:to>
                                        <p:strVal val="visible"/>
                                      </p:to>
                                    </p:set>
                                    <p:animEffect transition="in" filter="wipe(left)">
                                      <p:cBhvr>
                                        <p:cTn id="28" dur="2000"/>
                                        <p:tgtEl>
                                          <p:spTgt spid="36"/>
                                        </p:tgtEl>
                                      </p:cBhvr>
                                    </p:animEffect>
                                  </p:childTnLst>
                                </p:cTn>
                              </p:par>
                              <p:par>
                                <p:cTn id="29" presetID="22" presetClass="entr" presetSubtype="8" fill="hold" nodeType="withEffect">
                                  <p:stCondLst>
                                    <p:cond delay="7250"/>
                                  </p:stCondLst>
                                  <p:childTnLst>
                                    <p:set>
                                      <p:cBhvr>
                                        <p:cTn id="30" dur="1" fill="hold">
                                          <p:stCondLst>
                                            <p:cond delay="0"/>
                                          </p:stCondLst>
                                        </p:cTn>
                                        <p:tgtEl>
                                          <p:spTgt spid="99"/>
                                        </p:tgtEl>
                                        <p:attrNameLst>
                                          <p:attrName>style.visibility</p:attrName>
                                        </p:attrNameLst>
                                      </p:cBhvr>
                                      <p:to>
                                        <p:strVal val="visible"/>
                                      </p:to>
                                    </p:set>
                                    <p:animEffect transition="in" filter="wipe(left)">
                                      <p:cBhvr>
                                        <p:cTn id="31" dur="2000"/>
                                        <p:tgtEl>
                                          <p:spTgt spid="99"/>
                                        </p:tgtEl>
                                      </p:cBhvr>
                                    </p:animEffect>
                                  </p:childTnLst>
                                </p:cTn>
                              </p:par>
                              <p:par>
                                <p:cTn id="32" presetID="22" presetClass="entr" presetSubtype="8" fill="hold" grpId="0" nodeType="withEffect">
                                  <p:stCondLst>
                                    <p:cond delay="925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2000"/>
                                        <p:tgtEl>
                                          <p:spTgt spid="6"/>
                                        </p:tgtEl>
                                      </p:cBhvr>
                                    </p:animEffect>
                                  </p:childTnLst>
                                </p:cTn>
                              </p:par>
                              <p:par>
                                <p:cTn id="35" presetID="22" presetClass="entr" presetSubtype="8" fill="hold" nodeType="withEffect">
                                  <p:stCondLst>
                                    <p:cond delay="10000"/>
                                  </p:stCondLst>
                                  <p:childTnLst>
                                    <p:set>
                                      <p:cBhvr>
                                        <p:cTn id="36" dur="1" fill="hold">
                                          <p:stCondLst>
                                            <p:cond delay="0"/>
                                          </p:stCondLst>
                                        </p:cTn>
                                        <p:tgtEl>
                                          <p:spTgt spid="100"/>
                                        </p:tgtEl>
                                        <p:attrNameLst>
                                          <p:attrName>style.visibility</p:attrName>
                                        </p:attrNameLst>
                                      </p:cBhvr>
                                      <p:to>
                                        <p:strVal val="visible"/>
                                      </p:to>
                                    </p:set>
                                    <p:animEffect transition="in" filter="wipe(left)">
                                      <p:cBhvr>
                                        <p:cTn id="37" dur="2000"/>
                                        <p:tgtEl>
                                          <p:spTgt spid="100"/>
                                        </p:tgtEl>
                                      </p:cBhvr>
                                    </p:animEffect>
                                  </p:childTnLst>
                                </p:cTn>
                              </p:par>
                              <p:par>
                                <p:cTn id="38" presetID="22" presetClass="entr" presetSubtype="8" fill="hold" grpId="0" nodeType="withEffect">
                                  <p:stCondLst>
                                    <p:cond delay="12000"/>
                                  </p:stCondLst>
                                  <p:childTnLst>
                                    <p:set>
                                      <p:cBhvr>
                                        <p:cTn id="39" dur="1" fill="hold">
                                          <p:stCondLst>
                                            <p:cond delay="0"/>
                                          </p:stCondLst>
                                        </p:cTn>
                                        <p:tgtEl>
                                          <p:spTgt spid="7"/>
                                        </p:tgtEl>
                                        <p:attrNameLst>
                                          <p:attrName>style.visibility</p:attrName>
                                        </p:attrNameLst>
                                      </p:cBhvr>
                                      <p:to>
                                        <p:strVal val="visible"/>
                                      </p:to>
                                    </p:set>
                                    <p:animEffect transition="in" filter="wipe(left)">
                                      <p:cBhvr>
                                        <p:cTn id="40" dur="2000"/>
                                        <p:tgtEl>
                                          <p:spTgt spid="7"/>
                                        </p:tgtEl>
                                      </p:cBhvr>
                                    </p:animEffect>
                                  </p:childTnLst>
                                </p:cTn>
                              </p:par>
                              <p:par>
                                <p:cTn id="41" presetID="22" presetClass="entr" presetSubtype="8" fill="hold" nodeType="withEffect">
                                  <p:stCondLst>
                                    <p:cond delay="11000"/>
                                  </p:stCondLst>
                                  <p:childTnLst>
                                    <p:set>
                                      <p:cBhvr>
                                        <p:cTn id="42" dur="1" fill="hold">
                                          <p:stCondLst>
                                            <p:cond delay="0"/>
                                          </p:stCondLst>
                                        </p:cTn>
                                        <p:tgtEl>
                                          <p:spTgt spid="101"/>
                                        </p:tgtEl>
                                        <p:attrNameLst>
                                          <p:attrName>style.visibility</p:attrName>
                                        </p:attrNameLst>
                                      </p:cBhvr>
                                      <p:to>
                                        <p:strVal val="visible"/>
                                      </p:to>
                                    </p:set>
                                    <p:animEffect transition="in" filter="wipe(left)">
                                      <p:cBhvr>
                                        <p:cTn id="43" dur="2000"/>
                                        <p:tgtEl>
                                          <p:spTgt spid="101"/>
                                        </p:tgtEl>
                                      </p:cBhvr>
                                    </p:animEffect>
                                  </p:childTnLst>
                                </p:cTn>
                              </p:par>
                              <p:par>
                                <p:cTn id="44" presetID="22" presetClass="entr" presetSubtype="8" fill="hold" grpId="0" nodeType="withEffect">
                                  <p:stCondLst>
                                    <p:cond delay="13250"/>
                                  </p:stCondLst>
                                  <p:childTnLst>
                                    <p:set>
                                      <p:cBhvr>
                                        <p:cTn id="45" dur="1" fill="hold">
                                          <p:stCondLst>
                                            <p:cond delay="0"/>
                                          </p:stCondLst>
                                        </p:cTn>
                                        <p:tgtEl>
                                          <p:spTgt spid="8"/>
                                        </p:tgtEl>
                                        <p:attrNameLst>
                                          <p:attrName>style.visibility</p:attrName>
                                        </p:attrNameLst>
                                      </p:cBhvr>
                                      <p:to>
                                        <p:strVal val="visible"/>
                                      </p:to>
                                    </p:set>
                                    <p:animEffect transition="in" filter="wipe(left)">
                                      <p:cBhvr>
                                        <p:cTn id="46" dur="2000"/>
                                        <p:tgtEl>
                                          <p:spTgt spid="8"/>
                                        </p:tgtEl>
                                      </p:cBhvr>
                                    </p:animEffect>
                                  </p:childTnLst>
                                </p:cTn>
                              </p:par>
                            </p:childTnLst>
                          </p:cTn>
                        </p:par>
                        <p:par>
                          <p:cTn id="47" fill="hold">
                            <p:stCondLst>
                              <p:cond delay="15250"/>
                            </p:stCondLst>
                            <p:childTnLst>
                              <p:par>
                                <p:cTn id="48" presetID="22" presetClass="entr" presetSubtype="2" fill="hold" nodeType="afterEffect">
                                  <p:stCondLst>
                                    <p:cond delay="0"/>
                                  </p:stCondLst>
                                  <p:childTnLst>
                                    <p:set>
                                      <p:cBhvr>
                                        <p:cTn id="49" dur="1" fill="hold">
                                          <p:stCondLst>
                                            <p:cond delay="0"/>
                                          </p:stCondLst>
                                        </p:cTn>
                                        <p:tgtEl>
                                          <p:spTgt spid="104"/>
                                        </p:tgtEl>
                                        <p:attrNameLst>
                                          <p:attrName>style.visibility</p:attrName>
                                        </p:attrNameLst>
                                      </p:cBhvr>
                                      <p:to>
                                        <p:strVal val="visible"/>
                                      </p:to>
                                    </p:set>
                                    <p:animEffect transition="in" filter="wipe(right)">
                                      <p:cBhvr>
                                        <p:cTn id="50" dur="2000"/>
                                        <p:tgtEl>
                                          <p:spTgt spid="104"/>
                                        </p:tgtEl>
                                      </p:cBhvr>
                                    </p:animEffect>
                                  </p:childTnLst>
                                </p:cTn>
                              </p:par>
                            </p:childTnLst>
                          </p:cTn>
                        </p:par>
                        <p:par>
                          <p:cTn id="51" fill="hold">
                            <p:stCondLst>
                              <p:cond delay="17250"/>
                            </p:stCondLst>
                            <p:childTnLst>
                              <p:par>
                                <p:cTn id="52" presetID="22" presetClass="entr" presetSubtype="8" fill="hold" grpId="0" nodeType="afterEffect">
                                  <p:stCondLst>
                                    <p:cond delay="500"/>
                                  </p:stCondLst>
                                  <p:childTnLst>
                                    <p:set>
                                      <p:cBhvr>
                                        <p:cTn id="53" dur="1" fill="hold">
                                          <p:stCondLst>
                                            <p:cond delay="0"/>
                                          </p:stCondLst>
                                        </p:cTn>
                                        <p:tgtEl>
                                          <p:spTgt spid="40"/>
                                        </p:tgtEl>
                                        <p:attrNameLst>
                                          <p:attrName>style.visibility</p:attrName>
                                        </p:attrNameLst>
                                      </p:cBhvr>
                                      <p:to>
                                        <p:strVal val="visible"/>
                                      </p:to>
                                    </p:set>
                                    <p:animEffect transition="in" filter="wipe(left)">
                                      <p:cBhvr>
                                        <p:cTn id="54" dur="1000"/>
                                        <p:tgtEl>
                                          <p:spTgt spid="40"/>
                                        </p:tgtEl>
                                      </p:cBhvr>
                                    </p:animEffect>
                                  </p:childTnLst>
                                </p:cTn>
                              </p:par>
                            </p:childTnLst>
                          </p:cTn>
                        </p:par>
                        <p:par>
                          <p:cTn id="55" fill="hold">
                            <p:stCondLst>
                              <p:cond delay="18750"/>
                            </p:stCondLst>
                            <p:childTnLst>
                              <p:par>
                                <p:cTn id="56" presetID="22" presetClass="entr" presetSubtype="8" fill="hold" grpId="0" nodeType="after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wipe(left)">
                                      <p:cBhvr>
                                        <p:cTn id="58" dur="10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35" grpId="0"/>
      <p:bldP spid="36" grpId="0"/>
      <p:bldP spid="37" grpId="0"/>
      <p:bldP spid="40" grpId="0"/>
      <p:bldP spid="52"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02323020"/>
              </p:ext>
            </p:extLst>
          </p:nvPr>
        </p:nvGraphicFramePr>
        <p:xfrm>
          <a:off x="1918832" y="1059835"/>
          <a:ext cx="5325036" cy="2303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矩形 2"/>
          <p:cNvSpPr/>
          <p:nvPr/>
        </p:nvSpPr>
        <p:spPr>
          <a:xfrm>
            <a:off x="964941" y="3347838"/>
            <a:ext cx="7640798" cy="1015663"/>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400"/>
              </a:lnSpc>
              <a:buClr>
                <a:srgbClr val="0070C0"/>
              </a:buClr>
            </a:pPr>
            <a:r>
              <a:rPr lang="zh-CN" altLang="en-US" b="1" dirty="0">
                <a:latin typeface="微软雅黑" pitchFamily="34" charset="-122"/>
                <a:ea typeface="微软雅黑" pitchFamily="34" charset="-122"/>
              </a:rPr>
              <a:t>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协议采用 </a:t>
            </a:r>
            <a:r>
              <a:rPr lang="en-US" altLang="zh-CN" b="1" dirty="0">
                <a:latin typeface="微软雅黑" pitchFamily="34" charset="-122"/>
                <a:ea typeface="微软雅黑" pitchFamily="34" charset="-122"/>
              </a:rPr>
              <a:t>Go-back-N</a:t>
            </a:r>
            <a:r>
              <a:rPr lang="zh-CN" altLang="en-US" b="1" dirty="0">
                <a:latin typeface="微软雅黑" pitchFamily="34" charset="-122"/>
                <a:ea typeface="微软雅黑" pitchFamily="34" charset="-122"/>
              </a:rPr>
              <a:t>（回退</a:t>
            </a:r>
            <a:r>
              <a:rPr lang="en-US" altLang="zh-CN" b="1" dirty="0">
                <a:latin typeface="微软雅黑" pitchFamily="34" charset="-122"/>
                <a:ea typeface="微软雅黑" pitchFamily="34" charset="-122"/>
              </a:rPr>
              <a:t>N</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buClr>
                <a:srgbClr val="0070C0"/>
              </a:buClr>
            </a:pPr>
            <a:r>
              <a:rPr lang="en-US" altLang="zh-CN" b="1" dirty="0">
                <a:solidFill>
                  <a:srgbClr val="C00000"/>
                </a:solidFill>
                <a:latin typeface="微软雅黑" pitchFamily="34" charset="-122"/>
                <a:ea typeface="微软雅黑" pitchFamily="34" charset="-122"/>
              </a:rPr>
              <a:t>Go-back-N</a:t>
            </a:r>
            <a:r>
              <a:rPr lang="zh-CN" altLang="en-US" b="1" dirty="0">
                <a:solidFill>
                  <a:srgbClr val="C00000"/>
                </a:solidFill>
                <a:latin typeface="微软雅黑" pitchFamily="34" charset="-122"/>
                <a:ea typeface="微软雅黑" pitchFamily="34" charset="-122"/>
              </a:rPr>
              <a:t>（回退</a:t>
            </a:r>
            <a:r>
              <a:rPr lang="en-US" altLang="zh-CN" b="1" dirty="0">
                <a:solidFill>
                  <a:srgbClr val="C00000"/>
                </a:solidFill>
                <a:latin typeface="微软雅黑" pitchFamily="34" charset="-122"/>
                <a:ea typeface="微软雅黑" pitchFamily="34" charset="-122"/>
              </a:rPr>
              <a:t>N</a:t>
            </a:r>
            <a:r>
              <a:rPr lang="zh-CN" altLang="en-US" b="1" dirty="0">
                <a:solidFill>
                  <a:srgbClr val="C00000"/>
                </a:solidFill>
                <a:latin typeface="微软雅黑" pitchFamily="34" charset="-122"/>
                <a:ea typeface="微软雅黑" pitchFamily="34" charset="-122"/>
              </a:rPr>
              <a:t>）：</a:t>
            </a:r>
            <a:r>
              <a:rPr lang="zh-CN" altLang="en-US" b="1" dirty="0">
                <a:latin typeface="微软雅黑" pitchFamily="34" charset="-122"/>
                <a:ea typeface="微软雅黑" pitchFamily="34" charset="-122"/>
              </a:rPr>
              <a:t>表示需要再</a:t>
            </a:r>
            <a:r>
              <a:rPr lang="zh-CN" altLang="en-US" b="1" dirty="0">
                <a:solidFill>
                  <a:srgbClr val="0000CC"/>
                </a:solidFill>
                <a:latin typeface="微软雅黑" pitchFamily="34" charset="-122"/>
                <a:ea typeface="微软雅黑" pitchFamily="34" charset="-122"/>
              </a:rPr>
              <a:t>退回</a:t>
            </a:r>
            <a:r>
              <a:rPr lang="zh-CN" altLang="en-US" b="1" dirty="0">
                <a:latin typeface="微软雅黑" pitchFamily="34" charset="-122"/>
                <a:ea typeface="微软雅黑" pitchFamily="34" charset="-122"/>
              </a:rPr>
              <a:t>来</a:t>
            </a:r>
            <a:r>
              <a:rPr lang="zh-CN" altLang="en-US" b="1" dirty="0">
                <a:solidFill>
                  <a:srgbClr val="0000CC"/>
                </a:solidFill>
                <a:latin typeface="微软雅黑" pitchFamily="34" charset="-122"/>
                <a:ea typeface="微软雅黑" pitchFamily="34" charset="-122"/>
              </a:rPr>
              <a:t>重传</a:t>
            </a:r>
            <a:r>
              <a:rPr lang="zh-CN" altLang="en-US" b="1" dirty="0">
                <a:latin typeface="微软雅黑" pitchFamily="34" charset="-122"/>
                <a:ea typeface="微软雅黑" pitchFamily="34" charset="-122"/>
              </a:rPr>
              <a:t>已发送过的 </a:t>
            </a:r>
            <a:r>
              <a:rPr lang="en-US" altLang="zh-CN" b="1" dirty="0">
                <a:latin typeface="微软雅黑" pitchFamily="34" charset="-122"/>
                <a:ea typeface="微软雅黑" pitchFamily="34" charset="-122"/>
              </a:rPr>
              <a:t>N </a:t>
            </a:r>
            <a:r>
              <a:rPr lang="zh-CN" altLang="en-US" b="1" dirty="0">
                <a:latin typeface="微软雅黑" pitchFamily="34" charset="-122"/>
                <a:ea typeface="微软雅黑" pitchFamily="34" charset="-122"/>
              </a:rPr>
              <a:t>个分组。</a:t>
            </a:r>
            <a:endParaRPr lang="en-US" altLang="zh-CN" b="1" dirty="0">
              <a:latin typeface="微软雅黑" pitchFamily="34" charset="-122"/>
              <a:ea typeface="微软雅黑" pitchFamily="34" charset="-122"/>
            </a:endParaRPr>
          </a:p>
          <a:p>
            <a:pPr>
              <a:lnSpc>
                <a:spcPts val="2400"/>
              </a:lnSpc>
              <a:buClr>
                <a:srgbClr val="0070C0"/>
              </a:buClr>
            </a:pPr>
            <a:r>
              <a:rPr lang="zh-CN" altLang="en-US" b="1" dirty="0">
                <a:latin typeface="微软雅黑" pitchFamily="34" charset="-122"/>
                <a:ea typeface="微软雅黑" pitchFamily="34" charset="-122"/>
              </a:rPr>
              <a:t>当通信线路质量不好时，连续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协议会带来负面的影响。</a:t>
            </a:r>
          </a:p>
        </p:txBody>
      </p:sp>
      <p:sp>
        <p:nvSpPr>
          <p:cNvPr id="4" name="标题 3">
            <a:extLst>
              <a:ext uri="{FF2B5EF4-FFF2-40B4-BE49-F238E27FC236}">
                <a16:creationId xmlns:a16="http://schemas.microsoft.com/office/drawing/2014/main" id="{A01005FA-B250-5FC3-74E9-64C088C11A0B}"/>
              </a:ext>
            </a:extLst>
          </p:cNvPr>
          <p:cNvSpPr>
            <a:spLocks noGrp="1"/>
          </p:cNvSpPr>
          <p:nvPr>
            <p:ph type="title"/>
          </p:nvPr>
        </p:nvSpPr>
        <p:spPr>
          <a:xfrm>
            <a:off x="486000" y="550723"/>
            <a:ext cx="8172000" cy="338554"/>
          </a:xfrm>
        </p:spPr>
        <p:txBody>
          <a:bodyPr/>
          <a:lstStyle/>
          <a:p>
            <a:r>
              <a:rPr lang="zh-CN" altLang="en-US" dirty="0"/>
              <a:t>累积确认</a:t>
            </a:r>
          </a:p>
        </p:txBody>
      </p:sp>
    </p:spTree>
    <p:extLst>
      <p:ext uri="{BB962C8B-B14F-4D97-AF65-F5344CB8AC3E}">
        <p14:creationId xmlns:p14="http://schemas.microsoft.com/office/powerpoint/2010/main" val="26206575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42ED8B4-6B40-0BB2-75B1-E289F8A764AD}"/>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虽然是面向字节流的，但 </a:t>
            </a:r>
            <a:r>
              <a:rPr lang="en-US" altLang="zh-CN" dirty="0"/>
              <a:t>TCP </a:t>
            </a:r>
            <a:r>
              <a:rPr lang="zh-CN" altLang="en-US" dirty="0"/>
              <a:t>传送的数据单元却是报文段。</a:t>
            </a:r>
          </a:p>
          <a:p>
            <a:r>
              <a:rPr lang="zh-CN" altLang="en-US" dirty="0"/>
              <a:t>一个 </a:t>
            </a:r>
            <a:r>
              <a:rPr lang="en-US" altLang="zh-CN" dirty="0"/>
              <a:t>TCP </a:t>
            </a:r>
            <a:r>
              <a:rPr lang="zh-CN" altLang="en-US" dirty="0"/>
              <a:t>报文段分为首部和数据两部分，而 </a:t>
            </a:r>
            <a:r>
              <a:rPr lang="en-US" altLang="zh-CN" dirty="0"/>
              <a:t>TCP </a:t>
            </a:r>
            <a:r>
              <a:rPr lang="zh-CN" altLang="en-US" dirty="0"/>
              <a:t>的全部功能都体现在它首部中各字段的作用。</a:t>
            </a:r>
          </a:p>
          <a:p>
            <a:r>
              <a:rPr lang="en-US" altLang="zh-CN" dirty="0"/>
              <a:t>TCP </a:t>
            </a:r>
            <a:r>
              <a:rPr lang="zh-CN" altLang="en-US" dirty="0"/>
              <a:t>报文段首部的前 </a:t>
            </a:r>
            <a:r>
              <a:rPr lang="en-US" altLang="zh-CN" dirty="0"/>
              <a:t>20 </a:t>
            </a:r>
            <a:r>
              <a:rPr lang="zh-CN" altLang="en-US" dirty="0"/>
              <a:t>个字节是固定的，后面有 </a:t>
            </a:r>
            <a:r>
              <a:rPr lang="en-US" altLang="zh-CN" dirty="0"/>
              <a:t>4n </a:t>
            </a:r>
            <a:r>
              <a:rPr lang="zh-CN" altLang="en-US" dirty="0"/>
              <a:t>字节是根据需要而增加的选项 </a:t>
            </a:r>
            <a:r>
              <a:rPr lang="en-US" altLang="zh-CN" dirty="0"/>
              <a:t>(n </a:t>
            </a:r>
            <a:r>
              <a:rPr lang="zh-CN" altLang="en-US" dirty="0"/>
              <a:t>是整数</a:t>
            </a:r>
            <a:r>
              <a:rPr lang="en-US" altLang="zh-CN" dirty="0"/>
              <a:t>)</a:t>
            </a:r>
            <a:r>
              <a:rPr lang="zh-CN" altLang="en-US" dirty="0"/>
              <a:t>。因此 </a:t>
            </a:r>
            <a:r>
              <a:rPr lang="en-US" altLang="zh-CN" dirty="0"/>
              <a:t>TCP </a:t>
            </a:r>
            <a:r>
              <a:rPr lang="zh-CN" altLang="en-US" dirty="0"/>
              <a:t>首部的最小长度是 </a:t>
            </a:r>
            <a:r>
              <a:rPr lang="en-US" altLang="zh-CN" dirty="0"/>
              <a:t>20 </a:t>
            </a:r>
            <a:r>
              <a:rPr lang="zh-CN" altLang="en-US" dirty="0"/>
              <a:t>字节。</a:t>
            </a:r>
          </a:p>
          <a:p>
            <a:endParaRPr lang="zh-CN" altLang="en-US" dirty="0"/>
          </a:p>
        </p:txBody>
      </p:sp>
      <p:sp>
        <p:nvSpPr>
          <p:cNvPr id="8" name="标题 7">
            <a:extLst>
              <a:ext uri="{FF2B5EF4-FFF2-40B4-BE49-F238E27FC236}">
                <a16:creationId xmlns:a16="http://schemas.microsoft.com/office/drawing/2014/main" id="{7E8811FB-71C8-6E02-2049-C616D8102C08}"/>
              </a:ext>
            </a:extLst>
          </p:cNvPr>
          <p:cNvSpPr>
            <a:spLocks noGrp="1"/>
          </p:cNvSpPr>
          <p:nvPr>
            <p:ph type="title"/>
          </p:nvPr>
        </p:nvSpPr>
        <p:spPr>
          <a:xfrm>
            <a:off x="486000" y="550723"/>
            <a:ext cx="8172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4529886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Freeform 5"/>
          <p:cNvSpPr>
            <a:spLocks/>
          </p:cNvSpPr>
          <p:nvPr/>
        </p:nvSpPr>
        <p:spPr bwMode="auto">
          <a:xfrm>
            <a:off x="2466523" y="3184393"/>
            <a:ext cx="4206284" cy="314892"/>
          </a:xfrm>
          <a:custGeom>
            <a:avLst/>
            <a:gdLst>
              <a:gd name="T0" fmla="*/ 0 w 4626"/>
              <a:gd name="T1" fmla="*/ 0 h 544"/>
              <a:gd name="T2" fmla="*/ 861 w 4626"/>
              <a:gd name="T3" fmla="*/ 544 h 544"/>
              <a:gd name="T4" fmla="*/ 1814 w 4626"/>
              <a:gd name="T5" fmla="*/ 544 h 544"/>
              <a:gd name="T6" fmla="*/ 4626 w 4626"/>
              <a:gd name="T7" fmla="*/ 0 h 544"/>
              <a:gd name="T8" fmla="*/ 0 w 4626"/>
              <a:gd name="T9" fmla="*/ 0 h 544"/>
            </a:gdLst>
            <a:ahLst/>
            <a:cxnLst>
              <a:cxn ang="0">
                <a:pos x="T0" y="T1"/>
              </a:cxn>
              <a:cxn ang="0">
                <a:pos x="T2" y="T3"/>
              </a:cxn>
              <a:cxn ang="0">
                <a:pos x="T4" y="T5"/>
              </a:cxn>
              <a:cxn ang="0">
                <a:pos x="T6" y="T7"/>
              </a:cxn>
              <a:cxn ang="0">
                <a:pos x="T8" y="T9"/>
              </a:cxn>
            </a:cxnLst>
            <a:rect l="0" t="0" r="r" b="b"/>
            <a:pathLst>
              <a:path w="4626" h="544">
                <a:moveTo>
                  <a:pt x="0" y="0"/>
                </a:moveTo>
                <a:lnTo>
                  <a:pt x="861" y="544"/>
                </a:lnTo>
                <a:lnTo>
                  <a:pt x="1814" y="544"/>
                </a:lnTo>
                <a:lnTo>
                  <a:pt x="4626" y="0"/>
                </a:lnTo>
                <a:lnTo>
                  <a:pt x="0" y="0"/>
                </a:lnTo>
                <a:close/>
              </a:path>
            </a:pathLst>
          </a:custGeom>
          <a:gradFill rotWithShape="1">
            <a:gsLst>
              <a:gs pos="0">
                <a:srgbClr val="99FFCC"/>
              </a:gs>
              <a:gs pos="100000">
                <a:srgbClr val="00B0F0"/>
              </a:gs>
            </a:gsLst>
            <a:lin ang="5400000" scaled="1"/>
          </a:gradFill>
          <a:ln>
            <a:noFill/>
          </a:ln>
          <a:effectLst/>
        </p:spPr>
        <p:txBody>
          <a:bodyPr/>
          <a:lstStyle/>
          <a:p>
            <a:endParaRPr lang="zh-CN" altLang="en-US" sz="1000" b="1">
              <a:latin typeface="微软雅黑" pitchFamily="34" charset="-122"/>
              <a:ea typeface="微软雅黑" pitchFamily="34" charset="-122"/>
            </a:endParaRPr>
          </a:p>
        </p:txBody>
      </p:sp>
      <p:sp>
        <p:nvSpPr>
          <p:cNvPr id="7" name="AutoShape 4"/>
          <p:cNvSpPr>
            <a:spLocks noChangeArrowheads="1"/>
          </p:cNvSpPr>
          <p:nvPr/>
        </p:nvSpPr>
        <p:spPr bwMode="auto">
          <a:xfrm>
            <a:off x="2115346" y="4053589"/>
            <a:ext cx="391282" cy="143571"/>
          </a:xfrm>
          <a:prstGeom prst="leftArrow">
            <a:avLst>
              <a:gd name="adj1" fmla="val 50000"/>
              <a:gd name="adj2" fmla="val 62893"/>
            </a:avLst>
          </a:prstGeom>
          <a:solidFill>
            <a:srgbClr val="FF00FF"/>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8" name="Rectangle 106"/>
          <p:cNvSpPr>
            <a:spLocks noChangeArrowheads="1"/>
          </p:cNvSpPr>
          <p:nvPr/>
        </p:nvSpPr>
        <p:spPr bwMode="auto">
          <a:xfrm>
            <a:off x="2486086" y="3982255"/>
            <a:ext cx="755175" cy="287141"/>
          </a:xfrm>
          <a:prstGeom prst="rect">
            <a:avLst/>
          </a:prstGeom>
          <a:solidFill>
            <a:srgbClr val="66FF66"/>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Line 33"/>
          <p:cNvSpPr>
            <a:spLocks noChangeShapeType="1"/>
          </p:cNvSpPr>
          <p:nvPr/>
        </p:nvSpPr>
        <p:spPr bwMode="auto">
          <a:xfrm flipH="1">
            <a:off x="2282620" y="1613244"/>
            <a:ext cx="9782" cy="1568439"/>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 name="Rectangle 34"/>
          <p:cNvSpPr>
            <a:spLocks noChangeArrowheads="1"/>
          </p:cNvSpPr>
          <p:nvPr/>
        </p:nvSpPr>
        <p:spPr bwMode="auto">
          <a:xfrm>
            <a:off x="2024068" y="2221838"/>
            <a:ext cx="439224"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0000FF"/>
                </a:solidFill>
                <a:latin typeface="微软雅黑" pitchFamily="34" charset="-122"/>
                <a:ea typeface="微软雅黑" pitchFamily="34" charset="-122"/>
              </a:rPr>
              <a:t>TCP</a:t>
            </a:r>
          </a:p>
          <a:p>
            <a:pPr algn="ctr" defTabSz="762000" eaLnBrk="0" hangingPunct="0">
              <a:lnSpc>
                <a:spcPct val="90000"/>
              </a:lnSpc>
            </a:pPr>
            <a:r>
              <a:rPr kumimoji="1" lang="zh-CN" altLang="en-US" sz="1000" b="1" dirty="0">
                <a:solidFill>
                  <a:srgbClr val="0000FF"/>
                </a:solidFill>
                <a:latin typeface="微软雅黑" pitchFamily="34" charset="-122"/>
                <a:ea typeface="微软雅黑" pitchFamily="34" charset="-122"/>
              </a:rPr>
              <a:t>首部</a:t>
            </a:r>
          </a:p>
        </p:txBody>
      </p:sp>
      <p:sp>
        <p:nvSpPr>
          <p:cNvPr id="11" name="Line 35"/>
          <p:cNvSpPr>
            <a:spLocks noChangeShapeType="1"/>
          </p:cNvSpPr>
          <p:nvPr/>
        </p:nvSpPr>
        <p:spPr bwMode="auto">
          <a:xfrm>
            <a:off x="6919314" y="1609631"/>
            <a:ext cx="0" cy="1317417"/>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2" name="Rectangle 36"/>
          <p:cNvSpPr>
            <a:spLocks noChangeArrowheads="1"/>
          </p:cNvSpPr>
          <p:nvPr/>
        </p:nvSpPr>
        <p:spPr bwMode="auto">
          <a:xfrm>
            <a:off x="6635856" y="2090188"/>
            <a:ext cx="763030"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CC00CC"/>
                </a:solidFill>
                <a:latin typeface="微软雅黑" pitchFamily="34" charset="-122"/>
                <a:ea typeface="微软雅黑" pitchFamily="34" charset="-122"/>
              </a:rPr>
              <a:t>20 </a:t>
            </a:r>
            <a:r>
              <a:rPr kumimoji="1" lang="zh-CN" altLang="en-US" sz="1000" b="1" dirty="0">
                <a:solidFill>
                  <a:srgbClr val="CC00CC"/>
                </a:solidFill>
                <a:latin typeface="微软雅黑" pitchFamily="34" charset="-122"/>
                <a:ea typeface="微软雅黑" pitchFamily="34" charset="-122"/>
              </a:rPr>
              <a:t>字节的</a:t>
            </a:r>
          </a:p>
          <a:p>
            <a:pPr algn="ctr" defTabSz="762000" eaLnBrk="0" hangingPunct="0">
              <a:lnSpc>
                <a:spcPct val="90000"/>
              </a:lnSpc>
            </a:pPr>
            <a:r>
              <a:rPr kumimoji="1" lang="zh-CN" altLang="en-US" sz="1000" b="1" dirty="0">
                <a:solidFill>
                  <a:srgbClr val="CC00CC"/>
                </a:solidFill>
                <a:latin typeface="微软雅黑" pitchFamily="34" charset="-122"/>
                <a:ea typeface="微软雅黑" pitchFamily="34" charset="-122"/>
              </a:rPr>
              <a:t>固定首部</a:t>
            </a:r>
          </a:p>
        </p:txBody>
      </p:sp>
      <p:sp>
        <p:nvSpPr>
          <p:cNvPr id="13" name="Rectangle 75"/>
          <p:cNvSpPr>
            <a:spLocks noChangeArrowheads="1"/>
          </p:cNvSpPr>
          <p:nvPr/>
        </p:nvSpPr>
        <p:spPr bwMode="auto">
          <a:xfrm>
            <a:off x="2460653" y="1612340"/>
            <a:ext cx="4196502" cy="1572052"/>
          </a:xfrm>
          <a:prstGeom prst="rect">
            <a:avLst/>
          </a:prstGeom>
          <a:solidFill>
            <a:srgbClr val="00FFFF"/>
          </a:solidFill>
          <a:ln w="254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5" name="Line 6"/>
          <p:cNvSpPr>
            <a:spLocks noChangeShapeType="1"/>
          </p:cNvSpPr>
          <p:nvPr/>
        </p:nvSpPr>
        <p:spPr bwMode="auto">
          <a:xfrm>
            <a:off x="2456740" y="1879616"/>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6" name="Line 7"/>
          <p:cNvSpPr>
            <a:spLocks noChangeShapeType="1"/>
          </p:cNvSpPr>
          <p:nvPr/>
        </p:nvSpPr>
        <p:spPr bwMode="auto">
          <a:xfrm>
            <a:off x="2464566" y="2144183"/>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7" name="Line 8"/>
          <p:cNvSpPr>
            <a:spLocks noChangeShapeType="1"/>
          </p:cNvSpPr>
          <p:nvPr/>
        </p:nvSpPr>
        <p:spPr bwMode="auto">
          <a:xfrm>
            <a:off x="2456740" y="2407847"/>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8" name="Line 9"/>
          <p:cNvSpPr>
            <a:spLocks noChangeShapeType="1"/>
          </p:cNvSpPr>
          <p:nvPr/>
        </p:nvSpPr>
        <p:spPr bwMode="auto">
          <a:xfrm>
            <a:off x="2456740" y="2671511"/>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9" name="Line 10"/>
          <p:cNvSpPr>
            <a:spLocks noChangeShapeType="1"/>
          </p:cNvSpPr>
          <p:nvPr/>
        </p:nvSpPr>
        <p:spPr bwMode="auto">
          <a:xfrm>
            <a:off x="2464566" y="2936078"/>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0" name="Line 11"/>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1" name="Rectangle 12"/>
          <p:cNvSpPr>
            <a:spLocks noChangeArrowheads="1"/>
          </p:cNvSpPr>
          <p:nvPr/>
        </p:nvSpPr>
        <p:spPr bwMode="auto">
          <a:xfrm>
            <a:off x="5215280" y="1619919"/>
            <a:ext cx="92653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目  的  端  口</a:t>
            </a:r>
          </a:p>
        </p:txBody>
      </p:sp>
      <p:sp>
        <p:nvSpPr>
          <p:cNvPr id="22" name="Rectangle 13"/>
          <p:cNvSpPr>
            <a:spLocks noChangeArrowheads="1"/>
          </p:cNvSpPr>
          <p:nvPr/>
        </p:nvSpPr>
        <p:spPr bwMode="auto">
          <a:xfrm>
            <a:off x="2427738" y="2418327"/>
            <a:ext cx="69648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数据偏移</a:t>
            </a:r>
          </a:p>
        </p:txBody>
      </p:sp>
      <p:sp>
        <p:nvSpPr>
          <p:cNvPr id="23" name="Rectangle 14"/>
          <p:cNvSpPr>
            <a:spLocks noChangeArrowheads="1"/>
          </p:cNvSpPr>
          <p:nvPr/>
        </p:nvSpPr>
        <p:spPr bwMode="auto">
          <a:xfrm>
            <a:off x="3133659" y="2687308"/>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检   验   和</a:t>
            </a:r>
          </a:p>
        </p:txBody>
      </p:sp>
      <p:sp>
        <p:nvSpPr>
          <p:cNvPr id="24" name="Rectangle 15"/>
          <p:cNvSpPr>
            <a:spLocks noChangeArrowheads="1"/>
          </p:cNvSpPr>
          <p:nvPr/>
        </p:nvSpPr>
        <p:spPr bwMode="auto">
          <a:xfrm>
            <a:off x="3244195" y="2931107"/>
            <a:ext cx="17460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000" b="1">
                <a:latin typeface="微软雅黑" pitchFamily="34" charset="-122"/>
                <a:ea typeface="微软雅黑" pitchFamily="34" charset="-122"/>
              </a:rPr>
              <a:t>选    项    （长  度  可  变）</a:t>
            </a:r>
          </a:p>
        </p:txBody>
      </p:sp>
      <p:sp>
        <p:nvSpPr>
          <p:cNvPr id="25" name="Rectangle 16"/>
          <p:cNvSpPr>
            <a:spLocks noChangeArrowheads="1"/>
          </p:cNvSpPr>
          <p:nvPr/>
        </p:nvSpPr>
        <p:spPr bwMode="auto">
          <a:xfrm>
            <a:off x="3196264" y="1619919"/>
            <a:ext cx="72135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源  端  口</a:t>
            </a:r>
          </a:p>
        </p:txBody>
      </p:sp>
      <p:sp>
        <p:nvSpPr>
          <p:cNvPr id="26" name="Rectangle 17"/>
          <p:cNvSpPr>
            <a:spLocks noChangeArrowheads="1"/>
          </p:cNvSpPr>
          <p:nvPr/>
        </p:nvSpPr>
        <p:spPr bwMode="auto">
          <a:xfrm>
            <a:off x="4317288" y="1880873"/>
            <a:ext cx="6299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序   号</a:t>
            </a:r>
          </a:p>
        </p:txBody>
      </p:sp>
      <p:sp>
        <p:nvSpPr>
          <p:cNvPr id="27" name="Line 18"/>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8" name="Rectangle 19"/>
          <p:cNvSpPr>
            <a:spLocks noChangeArrowheads="1"/>
          </p:cNvSpPr>
          <p:nvPr/>
        </p:nvSpPr>
        <p:spPr bwMode="auto">
          <a:xfrm>
            <a:off x="5127242" y="2687308"/>
            <a:ext cx="104195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紧   急   指   针</a:t>
            </a:r>
          </a:p>
        </p:txBody>
      </p:sp>
      <p:sp>
        <p:nvSpPr>
          <p:cNvPr id="29" name="Rectangle 20"/>
          <p:cNvSpPr>
            <a:spLocks noChangeArrowheads="1"/>
          </p:cNvSpPr>
          <p:nvPr/>
        </p:nvSpPr>
        <p:spPr bwMode="auto">
          <a:xfrm>
            <a:off x="5372771" y="2413711"/>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窗   口</a:t>
            </a:r>
          </a:p>
        </p:txBody>
      </p:sp>
      <p:sp>
        <p:nvSpPr>
          <p:cNvPr id="30" name="Rectangle 21"/>
          <p:cNvSpPr>
            <a:spLocks noChangeArrowheads="1"/>
          </p:cNvSpPr>
          <p:nvPr/>
        </p:nvSpPr>
        <p:spPr bwMode="auto">
          <a:xfrm>
            <a:off x="4183272" y="2148961"/>
            <a:ext cx="92629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确    认    号</a:t>
            </a:r>
          </a:p>
        </p:txBody>
      </p:sp>
      <p:sp>
        <p:nvSpPr>
          <p:cNvPr id="31" name="Line 22"/>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2" name="Line 23"/>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3" name="Line 24"/>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4" name="Line 25"/>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5" name="Line 26"/>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6" name="Line 27"/>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7" name="Line 28"/>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8" name="Rectangle 29"/>
          <p:cNvSpPr>
            <a:spLocks noChangeArrowheads="1"/>
          </p:cNvSpPr>
          <p:nvPr/>
        </p:nvSpPr>
        <p:spPr bwMode="auto">
          <a:xfrm>
            <a:off x="3147354" y="2419129"/>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保   留</a:t>
            </a:r>
          </a:p>
        </p:txBody>
      </p:sp>
      <p:sp>
        <p:nvSpPr>
          <p:cNvPr id="39" name="Rectangle 30"/>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b="1" dirty="0">
                <a:latin typeface="微软雅黑" pitchFamily="34" charset="-122"/>
                <a:ea typeface="微软雅黑" pitchFamily="34" charset="-122"/>
              </a:rPr>
              <a:t>F</a:t>
            </a:r>
          </a:p>
          <a:p>
            <a:pPr algn="ctr" defTabSz="762000" eaLnBrk="0" hangingPunct="0">
              <a:lnSpc>
                <a:spcPct val="75000"/>
              </a:lnSpc>
            </a:pPr>
            <a:r>
              <a:rPr kumimoji="1" lang="en-US" altLang="zh-CN" sz="700" b="1" dirty="0">
                <a:latin typeface="微软雅黑" pitchFamily="34" charset="-122"/>
                <a:ea typeface="微软雅黑" pitchFamily="34" charset="-122"/>
              </a:rPr>
              <a:t>I</a:t>
            </a:r>
          </a:p>
          <a:p>
            <a:pPr algn="ct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40" name="Line 31"/>
          <p:cNvSpPr>
            <a:spLocks noChangeShapeType="1"/>
          </p:cNvSpPr>
          <p:nvPr/>
        </p:nvSpPr>
        <p:spPr bwMode="auto">
          <a:xfrm>
            <a:off x="2467500" y="1224367"/>
            <a:ext cx="4186720"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1" name="Rectangle 32"/>
          <p:cNvSpPr>
            <a:spLocks noChangeArrowheads="1"/>
          </p:cNvSpPr>
          <p:nvPr/>
        </p:nvSpPr>
        <p:spPr bwMode="auto">
          <a:xfrm>
            <a:off x="4291854" y="1114069"/>
            <a:ext cx="506551" cy="243656"/>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00" b="1" dirty="0">
                <a:solidFill>
                  <a:srgbClr val="0000FF"/>
                </a:solidFill>
                <a:latin typeface="微软雅黑" pitchFamily="34" charset="-122"/>
                <a:ea typeface="微软雅黑" pitchFamily="34" charset="-122"/>
              </a:rPr>
              <a:t>32 </a:t>
            </a:r>
            <a:r>
              <a:rPr kumimoji="1" lang="zh-CN" altLang="en-US" sz="1000" b="1" dirty="0">
                <a:solidFill>
                  <a:srgbClr val="0000FF"/>
                </a:solidFill>
                <a:latin typeface="微软雅黑" pitchFamily="34" charset="-122"/>
                <a:ea typeface="微软雅黑" pitchFamily="34" charset="-122"/>
              </a:rPr>
              <a:t>位</a:t>
            </a:r>
          </a:p>
        </p:txBody>
      </p:sp>
      <p:sp>
        <p:nvSpPr>
          <p:cNvPr id="80" name="Rectangle 76"/>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Y</a:t>
            </a:r>
          </a:p>
          <a:p>
            <a:pP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81" name="Rectangle 77"/>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T</a:t>
            </a:r>
          </a:p>
        </p:txBody>
      </p:sp>
      <p:sp>
        <p:nvSpPr>
          <p:cNvPr id="82" name="Rectangle 78"/>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P</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H</a:t>
            </a:r>
          </a:p>
        </p:txBody>
      </p:sp>
      <p:sp>
        <p:nvSpPr>
          <p:cNvPr id="83" name="Rectangle 79"/>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A</a:t>
            </a:r>
          </a:p>
          <a:p>
            <a:pPr defTabSz="762000" eaLnBrk="0" hangingPunct="0">
              <a:lnSpc>
                <a:spcPct val="75000"/>
              </a:lnSpc>
            </a:pPr>
            <a:r>
              <a:rPr kumimoji="1" lang="en-US" altLang="zh-CN" sz="700" b="1" dirty="0">
                <a:latin typeface="微软雅黑" pitchFamily="34" charset="-122"/>
                <a:ea typeface="微软雅黑" pitchFamily="34" charset="-122"/>
              </a:rPr>
              <a:t>C</a:t>
            </a:r>
          </a:p>
          <a:p>
            <a:pPr defTabSz="762000" eaLnBrk="0" hangingPunct="0">
              <a:lnSpc>
                <a:spcPct val="75000"/>
              </a:lnSpc>
            </a:pPr>
            <a:r>
              <a:rPr kumimoji="1" lang="en-US" altLang="zh-CN" sz="700" b="1" dirty="0">
                <a:latin typeface="微软雅黑" pitchFamily="34" charset="-122"/>
                <a:ea typeface="微软雅黑" pitchFamily="34" charset="-122"/>
              </a:rPr>
              <a:t>K</a:t>
            </a:r>
          </a:p>
        </p:txBody>
      </p:sp>
      <p:sp>
        <p:nvSpPr>
          <p:cNvPr id="84" name="Rectangle 80"/>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U</a:t>
            </a:r>
          </a:p>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G</a:t>
            </a:r>
          </a:p>
        </p:txBody>
      </p:sp>
      <p:sp>
        <p:nvSpPr>
          <p:cNvPr id="86" name="Line 82"/>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87" name="Rectangle 105"/>
          <p:cNvSpPr>
            <a:spLocks noChangeArrowheads="1"/>
          </p:cNvSpPr>
          <p:nvPr/>
        </p:nvSpPr>
        <p:spPr bwMode="auto">
          <a:xfrm>
            <a:off x="4128493" y="3513732"/>
            <a:ext cx="2652894" cy="280821"/>
          </a:xfrm>
          <a:prstGeom prst="rect">
            <a:avLst/>
          </a:prstGeom>
          <a:solidFill>
            <a:srgbClr val="99FFCC"/>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88" name="Rectangle 83"/>
          <p:cNvSpPr>
            <a:spLocks noChangeArrowheads="1"/>
          </p:cNvSpPr>
          <p:nvPr/>
        </p:nvSpPr>
        <p:spPr bwMode="auto">
          <a:xfrm>
            <a:off x="5880459" y="2931107"/>
            <a:ext cx="710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填    充</a:t>
            </a:r>
          </a:p>
        </p:txBody>
      </p:sp>
      <p:sp>
        <p:nvSpPr>
          <p:cNvPr id="89" name="Rectangle 84"/>
          <p:cNvSpPr>
            <a:spLocks noChangeArrowheads="1"/>
          </p:cNvSpPr>
          <p:nvPr/>
        </p:nvSpPr>
        <p:spPr bwMode="auto">
          <a:xfrm>
            <a:off x="4982467" y="3523392"/>
            <a:ext cx="98584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数据部分</a:t>
            </a:r>
          </a:p>
        </p:txBody>
      </p:sp>
      <p:sp>
        <p:nvSpPr>
          <p:cNvPr id="90" name="Rectangle 85"/>
          <p:cNvSpPr>
            <a:spLocks noChangeArrowheads="1"/>
          </p:cNvSpPr>
          <p:nvPr/>
        </p:nvSpPr>
        <p:spPr bwMode="auto">
          <a:xfrm>
            <a:off x="3249087" y="3499285"/>
            <a:ext cx="866690" cy="288044"/>
          </a:xfrm>
          <a:prstGeom prst="rect">
            <a:avLst/>
          </a:prstGeom>
          <a:solidFill>
            <a:srgbClr val="3366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91" name="Rectangle 86"/>
          <p:cNvSpPr>
            <a:spLocks noChangeArrowheads="1"/>
          </p:cNvSpPr>
          <p:nvPr/>
        </p:nvSpPr>
        <p:spPr bwMode="auto">
          <a:xfrm>
            <a:off x="3249087" y="3499285"/>
            <a:ext cx="3547952" cy="288044"/>
          </a:xfrm>
          <a:prstGeom prst="rect">
            <a:avLst/>
          </a:prstGeom>
          <a:noFill/>
          <a:ln w="19050">
            <a:solidFill>
              <a:srgbClr val="333399"/>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2" name="Line 87"/>
          <p:cNvSpPr>
            <a:spLocks noChangeShapeType="1"/>
          </p:cNvSpPr>
          <p:nvPr/>
        </p:nvSpPr>
        <p:spPr bwMode="auto">
          <a:xfrm flipH="1">
            <a:off x="4115777" y="3505606"/>
            <a:ext cx="0" cy="2817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93" name="Rectangle 88"/>
          <p:cNvSpPr>
            <a:spLocks noChangeArrowheads="1"/>
          </p:cNvSpPr>
          <p:nvPr/>
        </p:nvSpPr>
        <p:spPr bwMode="auto">
          <a:xfrm>
            <a:off x="3369406" y="3572425"/>
            <a:ext cx="444105" cy="153503"/>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4" name="Rectangle 89"/>
          <p:cNvSpPr>
            <a:spLocks noChangeArrowheads="1"/>
          </p:cNvSpPr>
          <p:nvPr/>
        </p:nvSpPr>
        <p:spPr bwMode="auto">
          <a:xfrm>
            <a:off x="3345038" y="3523392"/>
            <a:ext cx="72936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solidFill>
                  <a:schemeClr val="bg1"/>
                </a:solidFill>
                <a:latin typeface="微软雅黑" pitchFamily="34" charset="-122"/>
                <a:ea typeface="微软雅黑" pitchFamily="34" charset="-122"/>
              </a:rPr>
              <a:t>TCP </a:t>
            </a:r>
            <a:r>
              <a:rPr kumimoji="1" lang="zh-CN" altLang="en-US" sz="1000" b="1" dirty="0">
                <a:solidFill>
                  <a:schemeClr val="bg1"/>
                </a:solidFill>
                <a:latin typeface="微软雅黑" pitchFamily="34" charset="-122"/>
                <a:ea typeface="微软雅黑" pitchFamily="34" charset="-122"/>
              </a:rPr>
              <a:t>首部</a:t>
            </a:r>
          </a:p>
        </p:txBody>
      </p:sp>
      <p:sp>
        <p:nvSpPr>
          <p:cNvPr id="95" name="Rectangle 93"/>
          <p:cNvSpPr>
            <a:spLocks noChangeArrowheads="1"/>
          </p:cNvSpPr>
          <p:nvPr/>
        </p:nvSpPr>
        <p:spPr bwMode="auto">
          <a:xfrm>
            <a:off x="6761170" y="3508714"/>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96" name="Rectangle 94"/>
          <p:cNvSpPr>
            <a:spLocks noChangeArrowheads="1"/>
          </p:cNvSpPr>
          <p:nvPr/>
        </p:nvSpPr>
        <p:spPr bwMode="auto">
          <a:xfrm>
            <a:off x="3241261" y="3982255"/>
            <a:ext cx="3555777" cy="287141"/>
          </a:xfrm>
          <a:prstGeom prst="rect">
            <a:avLst/>
          </a:prstGeom>
          <a:solidFill>
            <a:srgbClr val="00FFFF"/>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7" name="Rectangle 96"/>
          <p:cNvSpPr>
            <a:spLocks noChangeArrowheads="1"/>
          </p:cNvSpPr>
          <p:nvPr/>
        </p:nvSpPr>
        <p:spPr bwMode="auto">
          <a:xfrm>
            <a:off x="4268658" y="4010402"/>
            <a:ext cx="1413850"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数据报的</a:t>
            </a: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数据部分</a:t>
            </a:r>
          </a:p>
        </p:txBody>
      </p:sp>
      <p:sp>
        <p:nvSpPr>
          <p:cNvPr id="98" name="Rectangle 97"/>
          <p:cNvSpPr>
            <a:spLocks noChangeArrowheads="1"/>
          </p:cNvSpPr>
          <p:nvPr/>
        </p:nvSpPr>
        <p:spPr bwMode="auto">
          <a:xfrm>
            <a:off x="2560641" y="4001034"/>
            <a:ext cx="605936"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首部</a:t>
            </a:r>
          </a:p>
        </p:txBody>
      </p:sp>
      <p:sp>
        <p:nvSpPr>
          <p:cNvPr id="99" name="Line 100"/>
          <p:cNvSpPr>
            <a:spLocks noChangeShapeType="1"/>
          </p:cNvSpPr>
          <p:nvPr/>
        </p:nvSpPr>
        <p:spPr bwMode="auto">
          <a:xfrm>
            <a:off x="6714869" y="1603310"/>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0" name="Line 101"/>
          <p:cNvSpPr>
            <a:spLocks noChangeShapeType="1"/>
          </p:cNvSpPr>
          <p:nvPr/>
        </p:nvSpPr>
        <p:spPr bwMode="auto">
          <a:xfrm>
            <a:off x="6714869" y="2932466"/>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Line 102"/>
          <p:cNvSpPr>
            <a:spLocks noChangeShapeType="1"/>
          </p:cNvSpPr>
          <p:nvPr/>
        </p:nvSpPr>
        <p:spPr bwMode="auto">
          <a:xfrm>
            <a:off x="2135889" y="1617757"/>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2" name="Line 103"/>
          <p:cNvSpPr>
            <a:spLocks noChangeShapeType="1"/>
          </p:cNvSpPr>
          <p:nvPr/>
        </p:nvSpPr>
        <p:spPr bwMode="auto">
          <a:xfrm>
            <a:off x="2143714" y="3177168"/>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3" name="Rectangle 104"/>
          <p:cNvSpPr>
            <a:spLocks noChangeArrowheads="1"/>
          </p:cNvSpPr>
          <p:nvPr/>
        </p:nvSpPr>
        <p:spPr bwMode="auto">
          <a:xfrm>
            <a:off x="1793206" y="3826947"/>
            <a:ext cx="695704"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发送在前</a:t>
            </a:r>
          </a:p>
        </p:txBody>
      </p:sp>
      <p:sp>
        <p:nvSpPr>
          <p:cNvPr id="104" name="矩形 103"/>
          <p:cNvSpPr/>
          <p:nvPr/>
        </p:nvSpPr>
        <p:spPr bwMode="auto">
          <a:xfrm>
            <a:off x="3249087" y="3781786"/>
            <a:ext cx="3532300" cy="194595"/>
          </a:xfrm>
          <a:prstGeom prst="rect">
            <a:avLst/>
          </a:prstGeom>
          <a:gradFill flip="none" rotWithShape="1">
            <a:gsLst>
              <a:gs pos="0">
                <a:srgbClr val="00FFFF"/>
              </a:gs>
              <a:gs pos="100000">
                <a:srgbClr val="00B0F0"/>
              </a:gs>
            </a:gsLst>
            <a:lin ang="54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000" b="0" i="0" u="none" strike="noStrike" cap="none" normalizeH="0" baseline="0">
              <a:ln>
                <a:noFill/>
              </a:ln>
              <a:effectLst/>
              <a:latin typeface="微软雅黑" pitchFamily="34" charset="-122"/>
              <a:ea typeface="微软雅黑" pitchFamily="34" charset="-122"/>
            </a:endParaRPr>
          </a:p>
        </p:txBody>
      </p:sp>
      <p:sp>
        <p:nvSpPr>
          <p:cNvPr id="105" name="AutoShape 99"/>
          <p:cNvSpPr>
            <a:spLocks noChangeArrowheads="1"/>
          </p:cNvSpPr>
          <p:nvPr/>
        </p:nvSpPr>
        <p:spPr bwMode="auto">
          <a:xfrm rot="16200000">
            <a:off x="4852113" y="3796139"/>
            <a:ext cx="267600" cy="247299"/>
          </a:xfrm>
          <a:prstGeom prst="leftArrow">
            <a:avLst>
              <a:gd name="adj1" fmla="val 50000"/>
              <a:gd name="adj2" fmla="val 52851"/>
            </a:avLst>
          </a:prstGeom>
          <a:solidFill>
            <a:srgbClr val="FFFF00"/>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2224351" y="1296751"/>
            <a:ext cx="4531691" cy="255995"/>
            <a:chOff x="2340896" y="1296751"/>
            <a:chExt cx="4531691" cy="255995"/>
          </a:xfrm>
        </p:grpSpPr>
        <p:sp>
          <p:nvSpPr>
            <p:cNvPr id="42" name="Line 37"/>
            <p:cNvSpPr>
              <a:spLocks noChangeShapeType="1"/>
            </p:cNvSpPr>
            <p:nvPr/>
          </p:nvSpPr>
          <p:spPr bwMode="auto">
            <a:xfrm>
              <a:off x="2575242" y="1552744"/>
              <a:ext cx="419063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4" name="Line 39"/>
            <p:cNvSpPr>
              <a:spLocks noChangeShapeType="1"/>
            </p:cNvSpPr>
            <p:nvPr/>
          </p:nvSpPr>
          <p:spPr bwMode="auto">
            <a:xfrm flipH="1">
              <a:off x="2706320"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5" name="Line 40"/>
            <p:cNvSpPr>
              <a:spLocks noChangeShapeType="1"/>
            </p:cNvSpPr>
            <p:nvPr/>
          </p:nvSpPr>
          <p:spPr bwMode="auto">
            <a:xfrm>
              <a:off x="2837401"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6" name="Line 41"/>
            <p:cNvSpPr>
              <a:spLocks noChangeShapeType="1"/>
            </p:cNvSpPr>
            <p:nvPr/>
          </p:nvSpPr>
          <p:spPr bwMode="auto">
            <a:xfrm>
              <a:off x="296848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7" name="Line 42"/>
            <p:cNvSpPr>
              <a:spLocks noChangeShapeType="1"/>
            </p:cNvSpPr>
            <p:nvPr/>
          </p:nvSpPr>
          <p:spPr bwMode="auto">
            <a:xfrm>
              <a:off x="309956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8" name="Line 43"/>
            <p:cNvSpPr>
              <a:spLocks noChangeShapeType="1"/>
            </p:cNvSpPr>
            <p:nvPr/>
          </p:nvSpPr>
          <p:spPr bwMode="auto">
            <a:xfrm>
              <a:off x="32306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9" name="Line 44"/>
            <p:cNvSpPr>
              <a:spLocks noChangeShapeType="1"/>
            </p:cNvSpPr>
            <p:nvPr/>
          </p:nvSpPr>
          <p:spPr bwMode="auto">
            <a:xfrm>
              <a:off x="33607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0" name="Line 45"/>
            <p:cNvSpPr>
              <a:spLocks noChangeShapeType="1"/>
            </p:cNvSpPr>
            <p:nvPr/>
          </p:nvSpPr>
          <p:spPr bwMode="auto">
            <a:xfrm>
              <a:off x="349182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1" name="Line 46"/>
            <p:cNvSpPr>
              <a:spLocks noChangeShapeType="1"/>
            </p:cNvSpPr>
            <p:nvPr/>
          </p:nvSpPr>
          <p:spPr bwMode="auto">
            <a:xfrm>
              <a:off x="3622900"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2" name="Line 47"/>
            <p:cNvSpPr>
              <a:spLocks noChangeShapeType="1"/>
            </p:cNvSpPr>
            <p:nvPr/>
          </p:nvSpPr>
          <p:spPr bwMode="auto">
            <a:xfrm>
              <a:off x="37539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3" name="Line 48"/>
            <p:cNvSpPr>
              <a:spLocks noChangeShapeType="1"/>
            </p:cNvSpPr>
            <p:nvPr/>
          </p:nvSpPr>
          <p:spPr bwMode="auto">
            <a:xfrm>
              <a:off x="388505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4" name="Line 49"/>
            <p:cNvSpPr>
              <a:spLocks noChangeShapeType="1"/>
            </p:cNvSpPr>
            <p:nvPr/>
          </p:nvSpPr>
          <p:spPr bwMode="auto">
            <a:xfrm>
              <a:off x="4016138"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5" name="Line 50"/>
            <p:cNvSpPr>
              <a:spLocks noChangeShapeType="1"/>
            </p:cNvSpPr>
            <p:nvPr/>
          </p:nvSpPr>
          <p:spPr bwMode="auto">
            <a:xfrm>
              <a:off x="414721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6" name="Line 51"/>
            <p:cNvSpPr>
              <a:spLocks noChangeShapeType="1"/>
            </p:cNvSpPr>
            <p:nvPr/>
          </p:nvSpPr>
          <p:spPr bwMode="auto">
            <a:xfrm>
              <a:off x="42782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7" name="Line 52"/>
            <p:cNvSpPr>
              <a:spLocks noChangeShapeType="1"/>
            </p:cNvSpPr>
            <p:nvPr/>
          </p:nvSpPr>
          <p:spPr bwMode="auto">
            <a:xfrm>
              <a:off x="440839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8" name="Line 53"/>
            <p:cNvSpPr>
              <a:spLocks noChangeShapeType="1"/>
            </p:cNvSpPr>
            <p:nvPr/>
          </p:nvSpPr>
          <p:spPr bwMode="auto">
            <a:xfrm>
              <a:off x="45394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9" name="Line 54"/>
            <p:cNvSpPr>
              <a:spLocks noChangeShapeType="1"/>
            </p:cNvSpPr>
            <p:nvPr/>
          </p:nvSpPr>
          <p:spPr bwMode="auto">
            <a:xfrm>
              <a:off x="4670558"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0" name="Line 55"/>
            <p:cNvSpPr>
              <a:spLocks noChangeShapeType="1"/>
            </p:cNvSpPr>
            <p:nvPr/>
          </p:nvSpPr>
          <p:spPr bwMode="auto">
            <a:xfrm>
              <a:off x="480163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1" name="Line 56"/>
            <p:cNvSpPr>
              <a:spLocks noChangeShapeType="1"/>
            </p:cNvSpPr>
            <p:nvPr/>
          </p:nvSpPr>
          <p:spPr bwMode="auto">
            <a:xfrm>
              <a:off x="493271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2" name="Line 57"/>
            <p:cNvSpPr>
              <a:spLocks noChangeShapeType="1"/>
            </p:cNvSpPr>
            <p:nvPr/>
          </p:nvSpPr>
          <p:spPr bwMode="auto">
            <a:xfrm>
              <a:off x="50637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3" name="Line 58"/>
            <p:cNvSpPr>
              <a:spLocks noChangeShapeType="1"/>
            </p:cNvSpPr>
            <p:nvPr/>
          </p:nvSpPr>
          <p:spPr bwMode="auto">
            <a:xfrm>
              <a:off x="519487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4" name="Line 59"/>
            <p:cNvSpPr>
              <a:spLocks noChangeShapeType="1"/>
            </p:cNvSpPr>
            <p:nvPr/>
          </p:nvSpPr>
          <p:spPr bwMode="auto">
            <a:xfrm>
              <a:off x="532595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5" name="Line 60"/>
            <p:cNvSpPr>
              <a:spLocks noChangeShapeType="1"/>
            </p:cNvSpPr>
            <p:nvPr/>
          </p:nvSpPr>
          <p:spPr bwMode="auto">
            <a:xfrm>
              <a:off x="545605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6" name="Line 61"/>
            <p:cNvSpPr>
              <a:spLocks noChangeShapeType="1"/>
            </p:cNvSpPr>
            <p:nvPr/>
          </p:nvSpPr>
          <p:spPr bwMode="auto">
            <a:xfrm>
              <a:off x="558713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7" name="Line 62"/>
            <p:cNvSpPr>
              <a:spLocks noChangeShapeType="1"/>
            </p:cNvSpPr>
            <p:nvPr/>
          </p:nvSpPr>
          <p:spPr bwMode="auto">
            <a:xfrm flipH="1">
              <a:off x="5718215" y="1403190"/>
              <a:ext cx="979"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8" name="Line 63"/>
            <p:cNvSpPr>
              <a:spLocks noChangeShapeType="1"/>
            </p:cNvSpPr>
            <p:nvPr/>
          </p:nvSpPr>
          <p:spPr bwMode="auto">
            <a:xfrm>
              <a:off x="584929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9" name="Line 64"/>
            <p:cNvSpPr>
              <a:spLocks noChangeShapeType="1"/>
            </p:cNvSpPr>
            <p:nvPr/>
          </p:nvSpPr>
          <p:spPr bwMode="auto">
            <a:xfrm>
              <a:off x="598037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0" name="Line 65"/>
            <p:cNvSpPr>
              <a:spLocks noChangeShapeType="1"/>
            </p:cNvSpPr>
            <p:nvPr/>
          </p:nvSpPr>
          <p:spPr bwMode="auto">
            <a:xfrm>
              <a:off x="6111455"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1" name="Line 66"/>
            <p:cNvSpPr>
              <a:spLocks noChangeShapeType="1"/>
            </p:cNvSpPr>
            <p:nvPr/>
          </p:nvSpPr>
          <p:spPr bwMode="auto">
            <a:xfrm>
              <a:off x="624253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2" name="Line 67"/>
            <p:cNvSpPr>
              <a:spLocks noChangeShapeType="1"/>
            </p:cNvSpPr>
            <p:nvPr/>
          </p:nvSpPr>
          <p:spPr bwMode="auto">
            <a:xfrm>
              <a:off x="6373614"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3" name="Line 68"/>
            <p:cNvSpPr>
              <a:spLocks noChangeShapeType="1"/>
            </p:cNvSpPr>
            <p:nvPr/>
          </p:nvSpPr>
          <p:spPr bwMode="auto">
            <a:xfrm>
              <a:off x="650371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4" name="Line 69"/>
            <p:cNvSpPr>
              <a:spLocks noChangeShapeType="1"/>
            </p:cNvSpPr>
            <p:nvPr/>
          </p:nvSpPr>
          <p:spPr bwMode="auto">
            <a:xfrm>
              <a:off x="663479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5" name="Line 70"/>
            <p:cNvSpPr>
              <a:spLocks noChangeShapeType="1"/>
            </p:cNvSpPr>
            <p:nvPr/>
          </p:nvSpPr>
          <p:spPr bwMode="auto">
            <a:xfrm>
              <a:off x="6765875" y="1403190"/>
              <a:ext cx="0" cy="149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7" name="Rectangle 81"/>
            <p:cNvSpPr>
              <a:spLocks noChangeArrowheads="1"/>
            </p:cNvSpPr>
            <p:nvPr/>
          </p:nvSpPr>
          <p:spPr bwMode="auto">
            <a:xfrm>
              <a:off x="2340896" y="1296751"/>
              <a:ext cx="4531691" cy="21287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800" b="1" dirty="0">
                  <a:solidFill>
                    <a:srgbClr val="0000FF"/>
                  </a:solidFill>
                  <a:latin typeface="微软雅黑" pitchFamily="34" charset="-122"/>
                  <a:ea typeface="微软雅黑" pitchFamily="34" charset="-122"/>
                </a:rPr>
                <a:t>位  </a:t>
              </a:r>
              <a:r>
                <a:rPr kumimoji="1" lang="en-US" altLang="zh-CN" sz="800" b="1" dirty="0">
                  <a:solidFill>
                    <a:srgbClr val="0000FF"/>
                  </a:solidFill>
                  <a:latin typeface="微软雅黑" pitchFamily="34" charset="-122"/>
                  <a:ea typeface="微软雅黑" pitchFamily="34" charset="-122"/>
                </a:rPr>
                <a:t>0                                 8                                16                               24                          31</a:t>
              </a:r>
            </a:p>
          </p:txBody>
        </p:sp>
      </p:grpSp>
      <p:sp>
        <p:nvSpPr>
          <p:cNvPr id="110" name="Rectangle 93"/>
          <p:cNvSpPr>
            <a:spLocks noChangeArrowheads="1"/>
          </p:cNvSpPr>
          <p:nvPr/>
        </p:nvSpPr>
        <p:spPr bwMode="auto">
          <a:xfrm>
            <a:off x="6761170" y="3984452"/>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2" name="矩形 1"/>
          <p:cNvSpPr/>
          <p:nvPr/>
        </p:nvSpPr>
        <p:spPr>
          <a:xfrm>
            <a:off x="746838" y="1987196"/>
            <a:ext cx="1300112"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a:t>
            </a:r>
            <a:r>
              <a:rPr lang="zh-CN" altLang="en-US" sz="1400" b="1" dirty="0">
                <a:solidFill>
                  <a:srgbClr val="0000CC"/>
                </a:solidFill>
                <a:latin typeface="微软雅黑" pitchFamily="34" charset="-122"/>
                <a:ea typeface="微软雅黑" pitchFamily="34" charset="-122"/>
              </a:rPr>
              <a:t>首部的长度是 </a:t>
            </a:r>
            <a:r>
              <a:rPr lang="en-US" altLang="zh-CN" sz="1400" b="1" dirty="0">
                <a:solidFill>
                  <a:srgbClr val="0000CC"/>
                </a:solidFill>
                <a:latin typeface="微软雅黑" pitchFamily="34" charset="-122"/>
                <a:ea typeface="微软雅黑" pitchFamily="34" charset="-122"/>
              </a:rPr>
              <a:t>4n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n </a:t>
            </a:r>
            <a:r>
              <a:rPr lang="zh-CN" altLang="en-US" sz="1400" b="1" dirty="0">
                <a:solidFill>
                  <a:srgbClr val="0000CC"/>
                </a:solidFill>
                <a:latin typeface="微软雅黑" pitchFamily="34" charset="-122"/>
                <a:ea typeface="微软雅黑" pitchFamily="34" charset="-122"/>
              </a:rPr>
              <a:t>是整数）。</a:t>
            </a:r>
          </a:p>
        </p:txBody>
      </p:sp>
      <p:sp>
        <p:nvSpPr>
          <p:cNvPr id="111" name="Line 40"/>
          <p:cNvSpPr>
            <a:spLocks noChangeShapeType="1"/>
          </p:cNvSpPr>
          <p:nvPr/>
        </p:nvSpPr>
        <p:spPr bwMode="auto">
          <a:xfrm>
            <a:off x="2463121" y="1430007"/>
            <a:ext cx="0" cy="11377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12" name="矩形 111"/>
          <p:cNvSpPr/>
          <p:nvPr/>
        </p:nvSpPr>
        <p:spPr>
          <a:xfrm>
            <a:off x="7345086" y="1793903"/>
            <a:ext cx="1188986"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 </a:t>
            </a:r>
            <a:r>
              <a:rPr lang="zh-CN" altLang="en-US" sz="1400" b="1" dirty="0">
                <a:solidFill>
                  <a:srgbClr val="0000CC"/>
                </a:solidFill>
                <a:latin typeface="微软雅黑" pitchFamily="34" charset="-122"/>
                <a:ea typeface="微软雅黑" pitchFamily="34" charset="-122"/>
              </a:rPr>
              <a:t>首部的最小长度是 </a:t>
            </a:r>
            <a:r>
              <a:rPr lang="en-US" altLang="zh-CN" sz="1400" b="1" dirty="0">
                <a:solidFill>
                  <a:srgbClr val="0000CC"/>
                </a:solidFill>
                <a:latin typeface="微软雅黑" pitchFamily="34" charset="-122"/>
                <a:ea typeface="微软雅黑" pitchFamily="34" charset="-122"/>
              </a:rPr>
              <a:t>20 </a:t>
            </a:r>
            <a:r>
              <a:rPr lang="zh-CN" altLang="en-US" sz="1400" b="1" dirty="0">
                <a:solidFill>
                  <a:srgbClr val="0000CC"/>
                </a:solidFill>
                <a:latin typeface="微软雅黑" pitchFamily="34" charset="-122"/>
                <a:ea typeface="微软雅黑" pitchFamily="34" charset="-122"/>
              </a:rPr>
              <a:t>字节。</a:t>
            </a:r>
          </a:p>
        </p:txBody>
      </p:sp>
      <p:sp>
        <p:nvSpPr>
          <p:cNvPr id="4" name="标题 3">
            <a:extLst>
              <a:ext uri="{FF2B5EF4-FFF2-40B4-BE49-F238E27FC236}">
                <a16:creationId xmlns:a16="http://schemas.microsoft.com/office/drawing/2014/main" id="{7717DACD-46B0-0082-928A-6DFD363F605A}"/>
              </a:ext>
            </a:extLst>
          </p:cNvPr>
          <p:cNvSpPr>
            <a:spLocks noGrp="1"/>
          </p:cNvSpPr>
          <p:nvPr>
            <p:ph type="title"/>
          </p:nvPr>
        </p:nvSpPr>
        <p:spPr>
          <a:xfrm>
            <a:off x="486000" y="550723"/>
            <a:ext cx="8172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8504706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93321A-6517-5D01-BD9B-13A6E3F9BF40}"/>
              </a:ext>
            </a:extLst>
          </p:cNvPr>
          <p:cNvSpPr>
            <a:spLocks noGrp="1"/>
          </p:cNvSpPr>
          <p:nvPr>
            <p:ph type="title"/>
          </p:nvPr>
        </p:nvSpPr>
        <p:spPr/>
        <p:txBody>
          <a:bodyPr/>
          <a:lstStyle/>
          <a:p>
            <a:endParaRPr lang="zh-CN" altLang="en-US"/>
          </a:p>
        </p:txBody>
      </p:sp>
      <p:sp>
        <p:nvSpPr>
          <p:cNvPr id="3" name="AutoShape 37">
            <a:extLst>
              <a:ext uri="{FF2B5EF4-FFF2-40B4-BE49-F238E27FC236}">
                <a16:creationId xmlns:a16="http://schemas.microsoft.com/office/drawing/2014/main" id="{CB6545F6-53F2-0C41-ADAE-0A9BA8B94161}"/>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4" name="表格 3">
            <a:extLst>
              <a:ext uri="{FF2B5EF4-FFF2-40B4-BE49-F238E27FC236}">
                <a16:creationId xmlns:a16="http://schemas.microsoft.com/office/drawing/2014/main" id="{E88BF332-EBA1-1485-61DB-338C16D3D8A1}"/>
              </a:ext>
            </a:extLst>
          </p:cNvPr>
          <p:cNvGraphicFramePr>
            <a:graphicFrameLocks noGrp="1"/>
          </p:cNvGraphicFramePr>
          <p:nvPr>
            <p:extLst>
              <p:ext uri="{D42A27DB-BD31-4B8C-83A1-F6EECF244321}">
                <p14:modId xmlns:p14="http://schemas.microsoft.com/office/powerpoint/2010/main" val="2461671469"/>
              </p:ext>
            </p:extLst>
          </p:nvPr>
        </p:nvGraphicFramePr>
        <p:xfrm>
          <a:off x="2839640" y="2209568"/>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TCP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TCP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r>
                        <a:rPr kumimoji="1" lang="en-US" altLang="zh-CN" sz="1200" b="0" dirty="0">
                          <a:solidFill>
                            <a:schemeClr val="tx1"/>
                          </a:solidFill>
                          <a:latin typeface="Montserrat" panose="00000500000000000000" pitchFamily="2" charset="0"/>
                          <a:ea typeface="微软雅黑 Light" panose="020B0502040204020203" pitchFamily="34" charset="-122"/>
                        </a:rPr>
                        <a:t>-MSS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5" name="表格 4">
            <a:extLst>
              <a:ext uri="{FF2B5EF4-FFF2-40B4-BE49-F238E27FC236}">
                <a16:creationId xmlns:a16="http://schemas.microsoft.com/office/drawing/2014/main" id="{217F7E6B-2AAC-C7C7-155D-4481E0B871DF}"/>
              </a:ext>
            </a:extLst>
          </p:cNvPr>
          <p:cNvGraphicFramePr>
            <a:graphicFrameLocks noGrp="1"/>
          </p:cNvGraphicFramePr>
          <p:nvPr>
            <p:extLst>
              <p:ext uri="{D42A27DB-BD31-4B8C-83A1-F6EECF244321}">
                <p14:modId xmlns:p14="http://schemas.microsoft.com/office/powerpoint/2010/main" val="358748969"/>
              </p:ext>
            </p:extLst>
          </p:nvPr>
        </p:nvGraphicFramePr>
        <p:xfrm>
          <a:off x="3984239" y="1633419"/>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sp>
        <p:nvSpPr>
          <p:cNvPr id="6" name="AutoShape 66">
            <a:extLst>
              <a:ext uri="{FF2B5EF4-FFF2-40B4-BE49-F238E27FC236}">
                <a16:creationId xmlns:a16="http://schemas.microsoft.com/office/drawing/2014/main" id="{B5E814C1-4714-F7F3-931E-CB4D1692B4FA}"/>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7" name="表格 6">
            <a:extLst>
              <a:ext uri="{FF2B5EF4-FFF2-40B4-BE49-F238E27FC236}">
                <a16:creationId xmlns:a16="http://schemas.microsoft.com/office/drawing/2014/main" id="{1EA31795-1739-B752-FDC4-1F14B30567D4}"/>
              </a:ext>
            </a:extLst>
          </p:cNvPr>
          <p:cNvGraphicFramePr>
            <a:graphicFrameLocks noGrp="1"/>
          </p:cNvGraphicFramePr>
          <p:nvPr>
            <p:extLst>
              <p:ext uri="{D42A27DB-BD31-4B8C-83A1-F6EECF244321}">
                <p14:modId xmlns:p14="http://schemas.microsoft.com/office/powerpoint/2010/main" val="3903281030"/>
              </p:ext>
            </p:extLst>
          </p:nvPr>
        </p:nvGraphicFramePr>
        <p:xfrm>
          <a:off x="1778320" y="2785718"/>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sp>
        <p:nvSpPr>
          <p:cNvPr id="8" name="AutoShape 70">
            <a:extLst>
              <a:ext uri="{FF2B5EF4-FFF2-40B4-BE49-F238E27FC236}">
                <a16:creationId xmlns:a16="http://schemas.microsoft.com/office/drawing/2014/main" id="{7534E1FB-F31F-20B5-E217-BC4026DA8E8C}"/>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208598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5">
            <a:extLst>
              <a:ext uri="{FF2B5EF4-FFF2-40B4-BE49-F238E27FC236}">
                <a16:creationId xmlns:a16="http://schemas.microsoft.com/office/drawing/2014/main" id="{B935FF4B-37D5-4943-86F6-6A482461867E}"/>
              </a:ext>
            </a:extLst>
          </p:cNvPr>
          <p:cNvSpPr>
            <a:spLocks noChangeArrowheads="1"/>
          </p:cNvSpPr>
          <p:nvPr/>
        </p:nvSpPr>
        <p:spPr bwMode="auto">
          <a:xfrm>
            <a:off x="2267485" y="1612340"/>
            <a:ext cx="4464000" cy="1584000"/>
          </a:xfrm>
          <a:prstGeom prst="rect">
            <a:avLst/>
          </a:prstGeom>
          <a:noFill/>
          <a:ln w="19050">
            <a:solidFill>
              <a:schemeClr val="tx1"/>
            </a:solidFill>
            <a:miter lim="800000"/>
            <a:headEnd/>
            <a:tailEnd/>
          </a:ln>
          <a:effec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5" name="Line 6">
            <a:extLst>
              <a:ext uri="{FF2B5EF4-FFF2-40B4-BE49-F238E27FC236}">
                <a16:creationId xmlns:a16="http://schemas.microsoft.com/office/drawing/2014/main" id="{EA585CC3-7D83-0D87-0948-B997442D4197}"/>
              </a:ext>
            </a:extLst>
          </p:cNvPr>
          <p:cNvSpPr>
            <a:spLocks noChangeShapeType="1"/>
          </p:cNvSpPr>
          <p:nvPr/>
        </p:nvSpPr>
        <p:spPr bwMode="auto">
          <a:xfrm>
            <a:off x="2267485" y="1879616"/>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6" name="Line 7">
            <a:extLst>
              <a:ext uri="{FF2B5EF4-FFF2-40B4-BE49-F238E27FC236}">
                <a16:creationId xmlns:a16="http://schemas.microsoft.com/office/drawing/2014/main" id="{94E9D290-1F8E-6CAE-0EB7-7E884E5AF453}"/>
              </a:ext>
            </a:extLst>
          </p:cNvPr>
          <p:cNvSpPr>
            <a:spLocks noChangeShapeType="1"/>
          </p:cNvSpPr>
          <p:nvPr/>
        </p:nvSpPr>
        <p:spPr bwMode="auto">
          <a:xfrm>
            <a:off x="2267485" y="2144183"/>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7" name="Line 8">
            <a:extLst>
              <a:ext uri="{FF2B5EF4-FFF2-40B4-BE49-F238E27FC236}">
                <a16:creationId xmlns:a16="http://schemas.microsoft.com/office/drawing/2014/main" id="{4A5E5BD1-EE5D-0914-71DB-3CF7255A7043}"/>
              </a:ext>
            </a:extLst>
          </p:cNvPr>
          <p:cNvSpPr>
            <a:spLocks noChangeShapeType="1"/>
          </p:cNvSpPr>
          <p:nvPr/>
        </p:nvSpPr>
        <p:spPr bwMode="auto">
          <a:xfrm>
            <a:off x="2267485" y="2407847"/>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31AA4835-DFFA-F14D-01D5-981475D05F93}"/>
              </a:ext>
            </a:extLst>
          </p:cNvPr>
          <p:cNvSpPr>
            <a:spLocks noChangeShapeType="1"/>
          </p:cNvSpPr>
          <p:nvPr/>
        </p:nvSpPr>
        <p:spPr bwMode="auto">
          <a:xfrm>
            <a:off x="2267485" y="2671511"/>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9" name="Line 10">
            <a:extLst>
              <a:ext uri="{FF2B5EF4-FFF2-40B4-BE49-F238E27FC236}">
                <a16:creationId xmlns:a16="http://schemas.microsoft.com/office/drawing/2014/main" id="{4B32149E-86E4-5AF1-BA63-2AEEF3D0C065}"/>
              </a:ext>
            </a:extLst>
          </p:cNvPr>
          <p:cNvSpPr>
            <a:spLocks noChangeShapeType="1"/>
          </p:cNvSpPr>
          <p:nvPr/>
        </p:nvSpPr>
        <p:spPr bwMode="auto">
          <a:xfrm>
            <a:off x="2267485" y="2936078"/>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0" name="Line 11">
            <a:extLst>
              <a:ext uri="{FF2B5EF4-FFF2-40B4-BE49-F238E27FC236}">
                <a16:creationId xmlns:a16="http://schemas.microsoft.com/office/drawing/2014/main" id="{DF86B5BA-B378-2383-FA50-1C80B90B6DD0}"/>
              </a:ext>
            </a:extLst>
          </p:cNvPr>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1" name="Rectangle 12">
            <a:extLst>
              <a:ext uri="{FF2B5EF4-FFF2-40B4-BE49-F238E27FC236}">
                <a16:creationId xmlns:a16="http://schemas.microsoft.com/office/drawing/2014/main" id="{C3D83F00-B70A-8BF7-6A88-136E9616275F}"/>
              </a:ext>
            </a:extLst>
          </p:cNvPr>
          <p:cNvSpPr>
            <a:spLocks noChangeArrowheads="1"/>
          </p:cNvSpPr>
          <p:nvPr/>
        </p:nvSpPr>
        <p:spPr bwMode="auto">
          <a:xfrm>
            <a:off x="5107202" y="1619919"/>
            <a:ext cx="1126913"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Destination port</a:t>
            </a:r>
            <a:endParaRPr kumimoji="1" lang="zh-CN" altLang="en-US" sz="900" dirty="0">
              <a:latin typeface="Montserrat" panose="00000500000000000000" pitchFamily="2" charset="0"/>
              <a:ea typeface="微软雅黑 Light" panose="020B0502040204020203" pitchFamily="34" charset="-122"/>
            </a:endParaRPr>
          </a:p>
        </p:txBody>
      </p:sp>
      <p:sp>
        <p:nvSpPr>
          <p:cNvPr id="12" name="Rectangle 13">
            <a:extLst>
              <a:ext uri="{FF2B5EF4-FFF2-40B4-BE49-F238E27FC236}">
                <a16:creationId xmlns:a16="http://schemas.microsoft.com/office/drawing/2014/main" id="{92C13079-2671-33EA-BCA9-1B4AAE05427D}"/>
              </a:ext>
            </a:extLst>
          </p:cNvPr>
          <p:cNvSpPr>
            <a:spLocks noChangeArrowheads="1"/>
          </p:cNvSpPr>
          <p:nvPr/>
        </p:nvSpPr>
        <p:spPr bwMode="auto">
          <a:xfrm>
            <a:off x="2170010" y="2418327"/>
            <a:ext cx="988332"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Data Offset</a:t>
            </a:r>
            <a:endParaRPr kumimoji="1" lang="zh-CN" altLang="en-US" sz="900" dirty="0">
              <a:latin typeface="Montserrat" panose="00000500000000000000" pitchFamily="2" charset="0"/>
              <a:ea typeface="微软雅黑 Light" panose="020B0502040204020203" pitchFamily="34" charset="-122"/>
            </a:endParaRPr>
          </a:p>
        </p:txBody>
      </p:sp>
      <p:sp>
        <p:nvSpPr>
          <p:cNvPr id="13" name="Rectangle 14">
            <a:extLst>
              <a:ext uri="{FF2B5EF4-FFF2-40B4-BE49-F238E27FC236}">
                <a16:creationId xmlns:a16="http://schemas.microsoft.com/office/drawing/2014/main" id="{48D53D57-EB1B-2D7D-5D25-57369B589D95}"/>
              </a:ext>
            </a:extLst>
          </p:cNvPr>
          <p:cNvSpPr>
            <a:spLocks noChangeArrowheads="1"/>
          </p:cNvSpPr>
          <p:nvPr/>
        </p:nvSpPr>
        <p:spPr bwMode="auto">
          <a:xfrm>
            <a:off x="3131253" y="2687308"/>
            <a:ext cx="803106"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Checksum</a:t>
            </a:r>
            <a:endParaRPr kumimoji="1" lang="zh-CN" altLang="en-US" sz="900" dirty="0">
              <a:latin typeface="Montserrat" panose="00000500000000000000" pitchFamily="2" charset="0"/>
              <a:ea typeface="微软雅黑 Light" panose="020B0502040204020203" pitchFamily="34" charset="-122"/>
            </a:endParaRPr>
          </a:p>
        </p:txBody>
      </p:sp>
      <p:sp>
        <p:nvSpPr>
          <p:cNvPr id="14" name="Rectangle 15">
            <a:extLst>
              <a:ext uri="{FF2B5EF4-FFF2-40B4-BE49-F238E27FC236}">
                <a16:creationId xmlns:a16="http://schemas.microsoft.com/office/drawing/2014/main" id="{CEF88FFC-AD40-0EE0-69A0-7E8EBABE93FD}"/>
              </a:ext>
            </a:extLst>
          </p:cNvPr>
          <p:cNvSpPr>
            <a:spLocks noChangeArrowheads="1"/>
          </p:cNvSpPr>
          <p:nvPr/>
        </p:nvSpPr>
        <p:spPr bwMode="auto">
          <a:xfrm>
            <a:off x="3244195" y="2931107"/>
            <a:ext cx="174609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Options </a:t>
            </a:r>
            <a:endParaRPr kumimoji="1" lang="zh-CN" altLang="en-US" sz="900" dirty="0">
              <a:latin typeface="Montserrat" panose="00000500000000000000" pitchFamily="2" charset="0"/>
              <a:ea typeface="微软雅黑 Light" panose="020B0502040204020203" pitchFamily="34" charset="-122"/>
            </a:endParaRPr>
          </a:p>
        </p:txBody>
      </p:sp>
      <p:sp>
        <p:nvSpPr>
          <p:cNvPr id="15" name="Rectangle 16">
            <a:extLst>
              <a:ext uri="{FF2B5EF4-FFF2-40B4-BE49-F238E27FC236}">
                <a16:creationId xmlns:a16="http://schemas.microsoft.com/office/drawing/2014/main" id="{6D241AF6-07D6-13F1-D79B-05F392211653}"/>
              </a:ext>
            </a:extLst>
          </p:cNvPr>
          <p:cNvSpPr>
            <a:spLocks noChangeArrowheads="1"/>
          </p:cNvSpPr>
          <p:nvPr/>
        </p:nvSpPr>
        <p:spPr bwMode="auto">
          <a:xfrm>
            <a:off x="3128138" y="1619919"/>
            <a:ext cx="857607"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Source port</a:t>
            </a:r>
            <a:endParaRPr kumimoji="1" lang="zh-CN" altLang="en-US" sz="900" dirty="0">
              <a:latin typeface="Montserrat" panose="00000500000000000000" pitchFamily="2" charset="0"/>
              <a:ea typeface="微软雅黑 Light" panose="020B0502040204020203" pitchFamily="34" charset="-122"/>
            </a:endParaRPr>
          </a:p>
        </p:txBody>
      </p:sp>
      <p:sp>
        <p:nvSpPr>
          <p:cNvPr id="16" name="Rectangle 17">
            <a:extLst>
              <a:ext uri="{FF2B5EF4-FFF2-40B4-BE49-F238E27FC236}">
                <a16:creationId xmlns:a16="http://schemas.microsoft.com/office/drawing/2014/main" id="{D096231D-0E10-C407-A1EB-D6E1E5843CE2}"/>
              </a:ext>
            </a:extLst>
          </p:cNvPr>
          <p:cNvSpPr>
            <a:spLocks noChangeArrowheads="1"/>
          </p:cNvSpPr>
          <p:nvPr/>
        </p:nvSpPr>
        <p:spPr bwMode="auto">
          <a:xfrm>
            <a:off x="3494447" y="1880873"/>
            <a:ext cx="2128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Sequence number</a:t>
            </a:r>
            <a:endParaRPr kumimoji="1" lang="zh-CN" altLang="en-US" sz="900" dirty="0">
              <a:latin typeface="Montserrat" panose="00000500000000000000" pitchFamily="2" charset="0"/>
              <a:ea typeface="微软雅黑 Light" panose="020B0502040204020203" pitchFamily="34" charset="-122"/>
            </a:endParaRPr>
          </a:p>
        </p:txBody>
      </p:sp>
      <p:sp>
        <p:nvSpPr>
          <p:cNvPr id="17" name="Line 18">
            <a:extLst>
              <a:ext uri="{FF2B5EF4-FFF2-40B4-BE49-F238E27FC236}">
                <a16:creationId xmlns:a16="http://schemas.microsoft.com/office/drawing/2014/main" id="{5713FE7F-8707-78E4-BD8B-7B74C25843F8}"/>
              </a:ext>
            </a:extLst>
          </p:cNvPr>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8" name="Rectangle 19">
            <a:extLst>
              <a:ext uri="{FF2B5EF4-FFF2-40B4-BE49-F238E27FC236}">
                <a16:creationId xmlns:a16="http://schemas.microsoft.com/office/drawing/2014/main" id="{1711B409-3053-5402-6E42-4E92B8460559}"/>
              </a:ext>
            </a:extLst>
          </p:cNvPr>
          <p:cNvSpPr>
            <a:spLocks noChangeArrowheads="1"/>
          </p:cNvSpPr>
          <p:nvPr/>
        </p:nvSpPr>
        <p:spPr bwMode="auto">
          <a:xfrm>
            <a:off x="5145674" y="2687308"/>
            <a:ext cx="104996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Urgent Pointer</a:t>
            </a:r>
            <a:endParaRPr kumimoji="1" lang="zh-CN" altLang="en-US" sz="900" dirty="0">
              <a:latin typeface="Montserrat" panose="00000500000000000000" pitchFamily="2" charset="0"/>
              <a:ea typeface="微软雅黑 Light" panose="020B0502040204020203" pitchFamily="34" charset="-122"/>
            </a:endParaRPr>
          </a:p>
        </p:txBody>
      </p:sp>
      <p:sp>
        <p:nvSpPr>
          <p:cNvPr id="19" name="Rectangle 20">
            <a:extLst>
              <a:ext uri="{FF2B5EF4-FFF2-40B4-BE49-F238E27FC236}">
                <a16:creationId xmlns:a16="http://schemas.microsoft.com/office/drawing/2014/main" id="{48A8DA76-57C5-D132-6047-EC0B24EACDF4}"/>
              </a:ext>
            </a:extLst>
          </p:cNvPr>
          <p:cNvSpPr>
            <a:spLocks noChangeArrowheads="1"/>
          </p:cNvSpPr>
          <p:nvPr/>
        </p:nvSpPr>
        <p:spPr bwMode="auto">
          <a:xfrm>
            <a:off x="5342719" y="2413711"/>
            <a:ext cx="67165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Window</a:t>
            </a:r>
            <a:endParaRPr kumimoji="1" lang="zh-CN" altLang="en-US" sz="900" dirty="0">
              <a:latin typeface="Montserrat" panose="00000500000000000000" pitchFamily="2" charset="0"/>
              <a:ea typeface="微软雅黑 Light" panose="020B0502040204020203" pitchFamily="34" charset="-122"/>
            </a:endParaRPr>
          </a:p>
        </p:txBody>
      </p:sp>
      <p:sp>
        <p:nvSpPr>
          <p:cNvPr id="20" name="Rectangle 21">
            <a:extLst>
              <a:ext uri="{FF2B5EF4-FFF2-40B4-BE49-F238E27FC236}">
                <a16:creationId xmlns:a16="http://schemas.microsoft.com/office/drawing/2014/main" id="{C35AAB0A-1570-718D-EE53-9B7DA87596A2}"/>
              </a:ext>
            </a:extLst>
          </p:cNvPr>
          <p:cNvSpPr>
            <a:spLocks noChangeArrowheads="1"/>
          </p:cNvSpPr>
          <p:nvPr/>
        </p:nvSpPr>
        <p:spPr bwMode="auto">
          <a:xfrm>
            <a:off x="3270335" y="2148961"/>
            <a:ext cx="257713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Acknowledgment Number</a:t>
            </a:r>
            <a:endParaRPr kumimoji="1" lang="zh-CN" altLang="en-US" sz="900" dirty="0">
              <a:latin typeface="Montserrat" panose="00000500000000000000" pitchFamily="2" charset="0"/>
              <a:ea typeface="微软雅黑 Light" panose="020B0502040204020203" pitchFamily="34" charset="-122"/>
            </a:endParaRPr>
          </a:p>
        </p:txBody>
      </p:sp>
      <p:sp>
        <p:nvSpPr>
          <p:cNvPr id="21" name="Line 22">
            <a:extLst>
              <a:ext uri="{FF2B5EF4-FFF2-40B4-BE49-F238E27FC236}">
                <a16:creationId xmlns:a16="http://schemas.microsoft.com/office/drawing/2014/main" id="{0929215A-54BB-A794-2E65-4142084714F2}"/>
              </a:ext>
            </a:extLst>
          </p:cNvPr>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2" name="Line 23">
            <a:extLst>
              <a:ext uri="{FF2B5EF4-FFF2-40B4-BE49-F238E27FC236}">
                <a16:creationId xmlns:a16="http://schemas.microsoft.com/office/drawing/2014/main" id="{18821F3F-5585-0BDE-F2F3-00C19253C810}"/>
              </a:ext>
            </a:extLst>
          </p:cNvPr>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3" name="Line 24">
            <a:extLst>
              <a:ext uri="{FF2B5EF4-FFF2-40B4-BE49-F238E27FC236}">
                <a16:creationId xmlns:a16="http://schemas.microsoft.com/office/drawing/2014/main" id="{2A5A18F2-E548-C967-8D5A-695CE2AC256A}"/>
              </a:ext>
            </a:extLst>
          </p:cNvPr>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4" name="Line 25">
            <a:extLst>
              <a:ext uri="{FF2B5EF4-FFF2-40B4-BE49-F238E27FC236}">
                <a16:creationId xmlns:a16="http://schemas.microsoft.com/office/drawing/2014/main" id="{058FA106-A17D-CBF8-E1C7-72090D1D3AB4}"/>
              </a:ext>
            </a:extLst>
          </p:cNvPr>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5" name="Line 26">
            <a:extLst>
              <a:ext uri="{FF2B5EF4-FFF2-40B4-BE49-F238E27FC236}">
                <a16:creationId xmlns:a16="http://schemas.microsoft.com/office/drawing/2014/main" id="{A0630D12-71A9-3E68-7161-341AAB7FD53E}"/>
              </a:ext>
            </a:extLst>
          </p:cNvPr>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6" name="Line 27">
            <a:extLst>
              <a:ext uri="{FF2B5EF4-FFF2-40B4-BE49-F238E27FC236}">
                <a16:creationId xmlns:a16="http://schemas.microsoft.com/office/drawing/2014/main" id="{67819EFC-EED9-3E14-7513-98283D6F3D7C}"/>
              </a:ext>
            </a:extLst>
          </p:cNvPr>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7" name="Line 28">
            <a:extLst>
              <a:ext uri="{FF2B5EF4-FFF2-40B4-BE49-F238E27FC236}">
                <a16:creationId xmlns:a16="http://schemas.microsoft.com/office/drawing/2014/main" id="{C784DDBA-7ABB-CD07-B546-CEC55A339BA6}"/>
              </a:ext>
            </a:extLst>
          </p:cNvPr>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8" name="Rectangle 29">
            <a:extLst>
              <a:ext uri="{FF2B5EF4-FFF2-40B4-BE49-F238E27FC236}">
                <a16:creationId xmlns:a16="http://schemas.microsoft.com/office/drawing/2014/main" id="{615EDD3E-ED4B-CCC6-0304-290D86848934}"/>
              </a:ext>
            </a:extLst>
          </p:cNvPr>
          <p:cNvSpPr>
            <a:spLocks noChangeArrowheads="1"/>
          </p:cNvSpPr>
          <p:nvPr/>
        </p:nvSpPr>
        <p:spPr bwMode="auto">
          <a:xfrm>
            <a:off x="3038170" y="2419129"/>
            <a:ext cx="716544"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900" dirty="0">
                <a:latin typeface="Montserrat" panose="00000500000000000000" pitchFamily="2" charset="0"/>
                <a:ea typeface="微软雅黑 Light" panose="020B0502040204020203" pitchFamily="34" charset="-122"/>
              </a:rPr>
              <a:t>Reserved</a:t>
            </a:r>
            <a:endParaRPr kumimoji="1" lang="zh-CN" altLang="en-US" sz="900" dirty="0">
              <a:latin typeface="Montserrat" panose="00000500000000000000" pitchFamily="2" charset="0"/>
              <a:ea typeface="微软雅黑 Light" panose="020B0502040204020203" pitchFamily="34" charset="-122"/>
            </a:endParaRPr>
          </a:p>
        </p:txBody>
      </p:sp>
      <p:sp>
        <p:nvSpPr>
          <p:cNvPr id="29" name="Rectangle 30">
            <a:extLst>
              <a:ext uri="{FF2B5EF4-FFF2-40B4-BE49-F238E27FC236}">
                <a16:creationId xmlns:a16="http://schemas.microsoft.com/office/drawing/2014/main" id="{3F209370-8E3C-763F-FF49-2A186DBCE07C}"/>
              </a:ext>
            </a:extLst>
          </p:cNvPr>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F</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I</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0" name="Rectangle 76">
            <a:extLst>
              <a:ext uri="{FF2B5EF4-FFF2-40B4-BE49-F238E27FC236}">
                <a16:creationId xmlns:a16="http://schemas.microsoft.com/office/drawing/2014/main" id="{3ADAE363-1375-25D0-635B-AB6261E19FD1}"/>
              </a:ext>
            </a:extLst>
          </p:cNvPr>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Y</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1" name="Rectangle 77">
            <a:extLst>
              <a:ext uri="{FF2B5EF4-FFF2-40B4-BE49-F238E27FC236}">
                <a16:creationId xmlns:a16="http://schemas.microsoft.com/office/drawing/2014/main" id="{D63CF201-167C-3531-F8AA-F4EC81056E68}"/>
              </a:ext>
            </a:extLst>
          </p:cNvPr>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T</a:t>
            </a:r>
          </a:p>
        </p:txBody>
      </p:sp>
      <p:sp>
        <p:nvSpPr>
          <p:cNvPr id="32" name="Rectangle 78">
            <a:extLst>
              <a:ext uri="{FF2B5EF4-FFF2-40B4-BE49-F238E27FC236}">
                <a16:creationId xmlns:a16="http://schemas.microsoft.com/office/drawing/2014/main" id="{82B969E7-CD96-4EBC-8CEB-D531C2F91C0A}"/>
              </a:ext>
            </a:extLst>
          </p:cNvPr>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P</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H</a:t>
            </a:r>
          </a:p>
        </p:txBody>
      </p:sp>
      <p:sp>
        <p:nvSpPr>
          <p:cNvPr id="33" name="Rectangle 79">
            <a:extLst>
              <a:ext uri="{FF2B5EF4-FFF2-40B4-BE49-F238E27FC236}">
                <a16:creationId xmlns:a16="http://schemas.microsoft.com/office/drawing/2014/main" id="{71BC4ED5-2DE7-63C8-9C34-A5F38C1BC546}"/>
              </a:ext>
            </a:extLst>
          </p:cNvPr>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A</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C</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K</a:t>
            </a:r>
          </a:p>
        </p:txBody>
      </p:sp>
      <p:sp>
        <p:nvSpPr>
          <p:cNvPr id="34" name="Rectangle 80">
            <a:extLst>
              <a:ext uri="{FF2B5EF4-FFF2-40B4-BE49-F238E27FC236}">
                <a16:creationId xmlns:a16="http://schemas.microsoft.com/office/drawing/2014/main" id="{63132564-3958-9F43-34CA-FE73D7CC7B6D}"/>
              </a:ext>
            </a:extLst>
          </p:cNvPr>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U</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G</a:t>
            </a:r>
          </a:p>
        </p:txBody>
      </p:sp>
      <p:sp>
        <p:nvSpPr>
          <p:cNvPr id="35" name="Line 82">
            <a:extLst>
              <a:ext uri="{FF2B5EF4-FFF2-40B4-BE49-F238E27FC236}">
                <a16:creationId xmlns:a16="http://schemas.microsoft.com/office/drawing/2014/main" id="{065A1FF5-B66F-F38B-7B80-F00439B2641B}"/>
              </a:ext>
            </a:extLst>
          </p:cNvPr>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a:latin typeface="Montserrat" panose="00000500000000000000" pitchFamily="2" charset="0"/>
              <a:ea typeface="微软雅黑 Light" panose="020B0502040204020203" pitchFamily="34" charset="-122"/>
            </a:endParaRPr>
          </a:p>
        </p:txBody>
      </p:sp>
      <p:sp>
        <p:nvSpPr>
          <p:cNvPr id="36" name="Rectangle 83">
            <a:extLst>
              <a:ext uri="{FF2B5EF4-FFF2-40B4-BE49-F238E27FC236}">
                <a16:creationId xmlns:a16="http://schemas.microsoft.com/office/drawing/2014/main" id="{4704E885-0EE0-E572-990B-30AA34359299}"/>
              </a:ext>
            </a:extLst>
          </p:cNvPr>
          <p:cNvSpPr>
            <a:spLocks noChangeArrowheads="1"/>
          </p:cNvSpPr>
          <p:nvPr/>
        </p:nvSpPr>
        <p:spPr bwMode="auto">
          <a:xfrm>
            <a:off x="5592087" y="2931107"/>
            <a:ext cx="110771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Padding</a:t>
            </a:r>
            <a:endParaRPr kumimoji="1" lang="zh-CN" altLang="en-US" sz="9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884978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3"/>
          <p:cNvSpPr>
            <a:spLocks noChangeShapeType="1"/>
          </p:cNvSpPr>
          <p:nvPr/>
        </p:nvSpPr>
        <p:spPr bwMode="auto">
          <a:xfrm flipH="1">
            <a:off x="1909886" y="2242447"/>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Rectangle 4"/>
          <p:cNvSpPr>
            <a:spLocks noChangeArrowheads="1"/>
          </p:cNvSpPr>
          <p:nvPr/>
        </p:nvSpPr>
        <p:spPr bwMode="auto">
          <a:xfrm>
            <a:off x="1620893" y="3222395"/>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10" name="Line 5"/>
          <p:cNvSpPr>
            <a:spLocks noChangeShapeType="1"/>
          </p:cNvSpPr>
          <p:nvPr/>
        </p:nvSpPr>
        <p:spPr bwMode="auto">
          <a:xfrm>
            <a:off x="7187795" y="2237076"/>
            <a:ext cx="0" cy="1953179"/>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Rectangle 6"/>
          <p:cNvSpPr>
            <a:spLocks noChangeArrowheads="1"/>
          </p:cNvSpPr>
          <p:nvPr/>
        </p:nvSpPr>
        <p:spPr bwMode="auto">
          <a:xfrm>
            <a:off x="6952074" y="2844870"/>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2" name="Rectangle 7"/>
          <p:cNvSpPr>
            <a:spLocks noChangeArrowheads="1"/>
          </p:cNvSpPr>
          <p:nvPr/>
        </p:nvSpPr>
        <p:spPr bwMode="auto">
          <a:xfrm>
            <a:off x="2154821" y="2240656"/>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0"/>
          <p:cNvSpPr>
            <a:spLocks noChangeShapeType="1"/>
          </p:cNvSpPr>
          <p:nvPr/>
        </p:nvSpPr>
        <p:spPr bwMode="auto">
          <a:xfrm>
            <a:off x="2149973" y="2637199"/>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1"/>
          <p:cNvSpPr>
            <a:spLocks noChangeShapeType="1"/>
          </p:cNvSpPr>
          <p:nvPr/>
        </p:nvSpPr>
        <p:spPr bwMode="auto">
          <a:xfrm>
            <a:off x="2158700" y="3029267"/>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2"/>
          <p:cNvSpPr>
            <a:spLocks noChangeShapeType="1"/>
          </p:cNvSpPr>
          <p:nvPr/>
        </p:nvSpPr>
        <p:spPr bwMode="auto">
          <a:xfrm>
            <a:off x="2149973" y="342044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3"/>
          <p:cNvSpPr>
            <a:spLocks noChangeShapeType="1"/>
          </p:cNvSpPr>
          <p:nvPr/>
        </p:nvSpPr>
        <p:spPr bwMode="auto">
          <a:xfrm>
            <a:off x="2149973" y="3810718"/>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4"/>
          <p:cNvSpPr>
            <a:spLocks noChangeShapeType="1"/>
          </p:cNvSpPr>
          <p:nvPr/>
        </p:nvSpPr>
        <p:spPr bwMode="auto">
          <a:xfrm>
            <a:off x="2158700" y="4202786"/>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5"/>
          <p:cNvSpPr>
            <a:spLocks noChangeShapeType="1"/>
          </p:cNvSpPr>
          <p:nvPr/>
        </p:nvSpPr>
        <p:spPr bwMode="auto">
          <a:xfrm>
            <a:off x="4503500" y="2245132"/>
            <a:ext cx="0" cy="40012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Rectangle 16"/>
          <p:cNvSpPr>
            <a:spLocks noChangeArrowheads="1"/>
          </p:cNvSpPr>
          <p:nvPr/>
        </p:nvSpPr>
        <p:spPr bwMode="auto">
          <a:xfrm>
            <a:off x="5236614" y="2316742"/>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0" name="Rectangle 17"/>
          <p:cNvSpPr>
            <a:spLocks noChangeArrowheads="1"/>
          </p:cNvSpPr>
          <p:nvPr/>
        </p:nvSpPr>
        <p:spPr bwMode="auto">
          <a:xfrm>
            <a:off x="2234255" y="3386117"/>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 name="Rectangle 18"/>
          <p:cNvSpPr>
            <a:spLocks noChangeArrowheads="1"/>
          </p:cNvSpPr>
          <p:nvPr/>
        </p:nvSpPr>
        <p:spPr bwMode="auto">
          <a:xfrm>
            <a:off x="2908299" y="388859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2" name="Rectangle 19"/>
          <p:cNvSpPr>
            <a:spLocks noChangeArrowheads="1"/>
          </p:cNvSpPr>
          <p:nvPr/>
        </p:nvSpPr>
        <p:spPr bwMode="auto">
          <a:xfrm>
            <a:off x="3031454" y="4250227"/>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3" name="Rectangle 20"/>
          <p:cNvSpPr>
            <a:spLocks noChangeArrowheads="1"/>
          </p:cNvSpPr>
          <p:nvPr/>
        </p:nvSpPr>
        <p:spPr bwMode="auto">
          <a:xfrm>
            <a:off x="2978119" y="2316742"/>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4" name="Rectangle 21"/>
          <p:cNvSpPr>
            <a:spLocks noChangeArrowheads="1"/>
          </p:cNvSpPr>
          <p:nvPr/>
        </p:nvSpPr>
        <p:spPr bwMode="auto">
          <a:xfrm>
            <a:off x="4071046" y="2689705"/>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5" name="Line 22"/>
          <p:cNvSpPr>
            <a:spLocks noChangeShapeType="1"/>
          </p:cNvSpPr>
          <p:nvPr/>
        </p:nvSpPr>
        <p:spPr bwMode="auto">
          <a:xfrm>
            <a:off x="4507379" y="3425811"/>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Rectangle 23"/>
          <p:cNvSpPr>
            <a:spLocks noChangeArrowheads="1"/>
          </p:cNvSpPr>
          <p:nvPr/>
        </p:nvSpPr>
        <p:spPr bwMode="auto">
          <a:xfrm>
            <a:off x="5138672" y="3888594"/>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7" name="Rectangle 24"/>
          <p:cNvSpPr>
            <a:spLocks noChangeArrowheads="1"/>
          </p:cNvSpPr>
          <p:nvPr/>
        </p:nvSpPr>
        <p:spPr bwMode="auto">
          <a:xfrm>
            <a:off x="5391158" y="3475784"/>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8" name="Rectangle 25"/>
          <p:cNvSpPr>
            <a:spLocks noChangeArrowheads="1"/>
          </p:cNvSpPr>
          <p:nvPr/>
        </p:nvSpPr>
        <p:spPr bwMode="auto">
          <a:xfrm>
            <a:off x="3921708" y="3097885"/>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9" name="Line 26"/>
          <p:cNvSpPr>
            <a:spLocks noChangeShapeType="1"/>
          </p:cNvSpPr>
          <p:nvPr/>
        </p:nvSpPr>
        <p:spPr bwMode="auto">
          <a:xfrm>
            <a:off x="2739567"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7"/>
          <p:cNvSpPr>
            <a:spLocks noChangeShapeType="1"/>
          </p:cNvSpPr>
          <p:nvPr/>
        </p:nvSpPr>
        <p:spPr bwMode="auto">
          <a:xfrm>
            <a:off x="3916815" y="3421336"/>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8"/>
          <p:cNvSpPr>
            <a:spLocks noChangeShapeType="1"/>
          </p:cNvSpPr>
          <p:nvPr/>
        </p:nvSpPr>
        <p:spPr bwMode="auto">
          <a:xfrm>
            <a:off x="3615229"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9"/>
          <p:cNvSpPr>
            <a:spLocks noChangeShapeType="1"/>
          </p:cNvSpPr>
          <p:nvPr/>
        </p:nvSpPr>
        <p:spPr bwMode="auto">
          <a:xfrm>
            <a:off x="3764568"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0"/>
          <p:cNvSpPr>
            <a:spLocks noChangeShapeType="1"/>
          </p:cNvSpPr>
          <p:nvPr/>
        </p:nvSpPr>
        <p:spPr bwMode="auto">
          <a:xfrm>
            <a:off x="4210642"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1"/>
          <p:cNvSpPr>
            <a:spLocks noChangeShapeType="1"/>
          </p:cNvSpPr>
          <p:nvPr/>
        </p:nvSpPr>
        <p:spPr bwMode="auto">
          <a:xfrm>
            <a:off x="4063244"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2"/>
          <p:cNvSpPr>
            <a:spLocks noChangeShapeType="1"/>
          </p:cNvSpPr>
          <p:nvPr/>
        </p:nvSpPr>
        <p:spPr bwMode="auto">
          <a:xfrm>
            <a:off x="4359980"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Rectangle 33"/>
          <p:cNvSpPr>
            <a:spLocks noChangeArrowheads="1"/>
          </p:cNvSpPr>
          <p:nvPr/>
        </p:nvSpPr>
        <p:spPr bwMode="auto">
          <a:xfrm>
            <a:off x="2900900" y="348384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7" name="Rectangle 34"/>
          <p:cNvSpPr>
            <a:spLocks noChangeArrowheads="1"/>
          </p:cNvSpPr>
          <p:nvPr/>
        </p:nvSpPr>
        <p:spPr bwMode="auto">
          <a:xfrm>
            <a:off x="4280467" y="3414608"/>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6" name="Rectangle 75"/>
          <p:cNvSpPr>
            <a:spLocks noChangeArrowheads="1"/>
          </p:cNvSpPr>
          <p:nvPr/>
        </p:nvSpPr>
        <p:spPr bwMode="auto">
          <a:xfrm>
            <a:off x="4152650" y="3414608"/>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7" name="Rectangle 76"/>
          <p:cNvSpPr>
            <a:spLocks noChangeArrowheads="1"/>
          </p:cNvSpPr>
          <p:nvPr/>
        </p:nvSpPr>
        <p:spPr bwMode="auto">
          <a:xfrm>
            <a:off x="4021820" y="3414608"/>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8" name="Rectangle 77"/>
          <p:cNvSpPr>
            <a:spLocks noChangeArrowheads="1"/>
          </p:cNvSpPr>
          <p:nvPr/>
        </p:nvSpPr>
        <p:spPr bwMode="auto">
          <a:xfrm>
            <a:off x="3850095" y="3414608"/>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9" name="Rectangle 78"/>
          <p:cNvSpPr>
            <a:spLocks noChangeArrowheads="1"/>
          </p:cNvSpPr>
          <p:nvPr/>
        </p:nvSpPr>
        <p:spPr bwMode="auto">
          <a:xfrm>
            <a:off x="3703666" y="3414608"/>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80" name="Rectangle 79"/>
          <p:cNvSpPr>
            <a:spLocks noChangeArrowheads="1"/>
          </p:cNvSpPr>
          <p:nvPr/>
        </p:nvSpPr>
        <p:spPr bwMode="auto">
          <a:xfrm>
            <a:off x="3558291" y="3414608"/>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82" name="Line 81"/>
          <p:cNvSpPr>
            <a:spLocks noChangeShapeType="1"/>
          </p:cNvSpPr>
          <p:nvPr/>
        </p:nvSpPr>
        <p:spPr bwMode="auto">
          <a:xfrm flipH="1">
            <a:off x="5668142" y="4212632"/>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Rectangle 83"/>
          <p:cNvSpPr>
            <a:spLocks noChangeArrowheads="1"/>
          </p:cNvSpPr>
          <p:nvPr/>
        </p:nvSpPr>
        <p:spPr bwMode="auto">
          <a:xfrm>
            <a:off x="5952104" y="4250227"/>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4" name="Line 96"/>
          <p:cNvSpPr>
            <a:spLocks noChangeShapeType="1"/>
          </p:cNvSpPr>
          <p:nvPr/>
        </p:nvSpPr>
        <p:spPr bwMode="auto">
          <a:xfrm>
            <a:off x="6875531" y="2227228"/>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Line 97"/>
          <p:cNvSpPr>
            <a:spLocks noChangeShapeType="1"/>
          </p:cNvSpPr>
          <p:nvPr/>
        </p:nvSpPr>
        <p:spPr bwMode="auto">
          <a:xfrm>
            <a:off x="6875531" y="41983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Line 99"/>
          <p:cNvSpPr>
            <a:spLocks noChangeShapeType="1"/>
          </p:cNvSpPr>
          <p:nvPr/>
        </p:nvSpPr>
        <p:spPr bwMode="auto">
          <a:xfrm>
            <a:off x="1836057" y="456083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9" name="Rectangle 104"/>
          <p:cNvSpPr>
            <a:spLocks noChangeArrowheads="1"/>
          </p:cNvSpPr>
          <p:nvPr/>
        </p:nvSpPr>
        <p:spPr bwMode="auto">
          <a:xfrm>
            <a:off x="2159946" y="2232599"/>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2" name="组合 1"/>
          <p:cNvGrpSpPr/>
          <p:nvPr/>
        </p:nvGrpSpPr>
        <p:grpSpPr>
          <a:xfrm>
            <a:off x="1827330" y="1874296"/>
            <a:ext cx="5158580" cy="374416"/>
            <a:chOff x="1827330" y="782473"/>
            <a:chExt cx="5158580" cy="374416"/>
          </a:xfrm>
        </p:grpSpPr>
        <p:sp>
          <p:nvSpPr>
            <p:cNvPr id="38"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91"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72" name="内容占位符 71">
            <a:extLst>
              <a:ext uri="{FF2B5EF4-FFF2-40B4-BE49-F238E27FC236}">
                <a16:creationId xmlns:a16="http://schemas.microsoft.com/office/drawing/2014/main" id="{51D84DBB-2605-08BA-15C8-43B9A8483C5B}"/>
              </a:ext>
            </a:extLst>
          </p:cNvPr>
          <p:cNvSpPr>
            <a:spLocks noGrp="1"/>
          </p:cNvSpPr>
          <p:nvPr>
            <p:ph sz="quarter" idx="11"/>
          </p:nvPr>
        </p:nvSpPr>
        <p:spPr>
          <a:xfrm>
            <a:off x="486000" y="900000"/>
            <a:ext cx="8172000" cy="3703500"/>
          </a:xfrm>
        </p:spPr>
        <p:txBody>
          <a:bodyPr/>
          <a:lstStyle/>
          <a:p>
            <a:r>
              <a:rPr lang="zh-CN" altLang="en-US" dirty="0"/>
              <a:t>源端口和目的端口：各占 </a:t>
            </a:r>
            <a:r>
              <a:rPr lang="en-US" altLang="zh-CN" dirty="0"/>
              <a:t>2 </a:t>
            </a:r>
            <a:r>
              <a:rPr lang="zh-CN" altLang="en-US" dirty="0"/>
              <a:t>字节。端口是运输层与应用层的服务接口。</a:t>
            </a:r>
            <a:endParaRPr lang="en-US" altLang="zh-CN" dirty="0"/>
          </a:p>
          <a:p>
            <a:r>
              <a:rPr lang="zh-CN" altLang="en-US" dirty="0"/>
              <a:t>运输层的复用和分用功能通过端口实现。 </a:t>
            </a:r>
          </a:p>
          <a:p>
            <a:endParaRPr lang="zh-CN" altLang="en-US" dirty="0"/>
          </a:p>
        </p:txBody>
      </p:sp>
      <p:sp>
        <p:nvSpPr>
          <p:cNvPr id="74" name="标题 73">
            <a:extLst>
              <a:ext uri="{FF2B5EF4-FFF2-40B4-BE49-F238E27FC236}">
                <a16:creationId xmlns:a16="http://schemas.microsoft.com/office/drawing/2014/main" id="{0AB75E9C-A731-D428-986A-B54B7E5AC81C}"/>
              </a:ext>
            </a:extLst>
          </p:cNvPr>
          <p:cNvSpPr>
            <a:spLocks noGrp="1"/>
          </p:cNvSpPr>
          <p:nvPr>
            <p:ph type="title"/>
          </p:nvPr>
        </p:nvSpPr>
        <p:spPr>
          <a:xfrm>
            <a:off x="486000" y="550723"/>
            <a:ext cx="8172000" cy="338554"/>
          </a:xfrm>
        </p:spPr>
        <p:txBody>
          <a:bodyPr/>
          <a:lstStyle/>
          <a:p>
            <a:r>
              <a:rPr lang="zh-CN" altLang="en-US" dirty="0"/>
              <a:t>源端口和目的端口</a:t>
            </a:r>
          </a:p>
        </p:txBody>
      </p:sp>
    </p:spTree>
    <p:extLst>
      <p:ext uri="{BB962C8B-B14F-4D97-AF65-F5344CB8AC3E}">
        <p14:creationId xmlns:p14="http://schemas.microsoft.com/office/powerpoint/2010/main" val="14580716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 grpId="1"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2351629"/>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2346257"/>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2954052"/>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2349837"/>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2746381"/>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3138449"/>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3529622"/>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391990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4311968"/>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2354313"/>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2425923"/>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34952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399777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4359409"/>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2425923"/>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2798887"/>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3534993"/>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399777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358496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3207067"/>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3530517"/>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3593022"/>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3523789"/>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3523789"/>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3523789"/>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3523789"/>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3523789"/>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3523789"/>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4321814"/>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4359409"/>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23364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4307492"/>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2357893"/>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4670021"/>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2754478"/>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1983478"/>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3331577"/>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6C02A3FA-823D-0E67-4021-B89DC13BB97F}"/>
              </a:ext>
            </a:extLst>
          </p:cNvPr>
          <p:cNvSpPr>
            <a:spLocks noGrp="1"/>
          </p:cNvSpPr>
          <p:nvPr>
            <p:ph sz="quarter" idx="11"/>
          </p:nvPr>
        </p:nvSpPr>
        <p:spPr>
          <a:xfrm>
            <a:off x="486000" y="900000"/>
            <a:ext cx="8172000" cy="3703500"/>
          </a:xfrm>
        </p:spPr>
        <p:txBody>
          <a:bodyPr/>
          <a:lstStyle/>
          <a:p>
            <a:r>
              <a:rPr lang="zh-CN" altLang="en-US" dirty="0"/>
              <a:t>序号：占 </a:t>
            </a:r>
            <a:r>
              <a:rPr lang="en-US" altLang="zh-CN" dirty="0"/>
              <a:t>4 </a:t>
            </a:r>
            <a:r>
              <a:rPr lang="zh-CN" altLang="en-US" dirty="0"/>
              <a:t>字节。</a:t>
            </a:r>
            <a:r>
              <a:rPr lang="en-US" altLang="zh-CN" dirty="0"/>
              <a:t>TCP </a:t>
            </a:r>
            <a:r>
              <a:rPr lang="zh-CN" altLang="en-US" dirty="0"/>
              <a:t>连接中传送的数据流中的每一个字节都有一个序号。序号字段的值则指的是本报文段所发送的数据的第一个字节的序号。 </a:t>
            </a:r>
          </a:p>
          <a:p>
            <a:endParaRPr lang="zh-CN" altLang="en-US" dirty="0"/>
          </a:p>
        </p:txBody>
      </p:sp>
      <p:sp>
        <p:nvSpPr>
          <p:cNvPr id="5" name="标题 4">
            <a:extLst>
              <a:ext uri="{FF2B5EF4-FFF2-40B4-BE49-F238E27FC236}">
                <a16:creationId xmlns:a16="http://schemas.microsoft.com/office/drawing/2014/main" id="{708E9CA8-0712-1F10-9B2A-934EC65AE712}"/>
              </a:ext>
            </a:extLst>
          </p:cNvPr>
          <p:cNvSpPr>
            <a:spLocks noGrp="1"/>
          </p:cNvSpPr>
          <p:nvPr>
            <p:ph type="title"/>
          </p:nvPr>
        </p:nvSpPr>
        <p:spPr>
          <a:xfrm>
            <a:off x="486000" y="550723"/>
            <a:ext cx="8172000" cy="338554"/>
          </a:xfrm>
        </p:spPr>
        <p:txBody>
          <a:bodyPr/>
          <a:lstStyle/>
          <a:p>
            <a:r>
              <a:rPr lang="zh-CN" altLang="en-US" dirty="0"/>
              <a:t>序号</a:t>
            </a:r>
          </a:p>
        </p:txBody>
      </p:sp>
    </p:spTree>
    <p:extLst>
      <p:ext uri="{BB962C8B-B14F-4D97-AF65-F5344CB8AC3E}">
        <p14:creationId xmlns:p14="http://schemas.microsoft.com/office/powerpoint/2010/main" val="124757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418897" y="830896"/>
            <a:ext cx="6442841" cy="656590"/>
          </a:xfrm>
          <a:prstGeom prst="rect">
            <a:avLst/>
          </a:prstGeom>
        </p:spPr>
        <p:txBody>
          <a:bodyPr wrap="square">
            <a:spAutoFit/>
          </a:bodyPr>
          <a:lstStyle/>
          <a:p>
            <a:pPr algn="ctr">
              <a:lnSpc>
                <a:spcPts val="2200"/>
              </a:lnSpc>
            </a:pPr>
            <a:r>
              <a:rPr lang="zh-CN" altLang="en-US" sz="1600" b="1" dirty="0">
                <a:latin typeface="微软雅黑" pitchFamily="34" charset="-122"/>
                <a:ea typeface="微软雅黑" pitchFamily="34" charset="-122"/>
              </a:rPr>
              <a:t>现有 </a:t>
            </a:r>
            <a:r>
              <a:rPr lang="en-US" altLang="zh-CN" sz="1600" b="1" dirty="0">
                <a:latin typeface="微软雅黑" pitchFamily="34" charset="-122"/>
                <a:ea typeface="微软雅黑" pitchFamily="34" charset="-122"/>
              </a:rPr>
              <a:t>5000 </a:t>
            </a:r>
            <a:r>
              <a:rPr lang="zh-CN" altLang="en-US" sz="1600" b="1" dirty="0">
                <a:latin typeface="微软雅黑" pitchFamily="34" charset="-122"/>
                <a:ea typeface="微软雅黑" pitchFamily="34" charset="-122"/>
              </a:rPr>
              <a:t>个字节的数据。</a:t>
            </a:r>
            <a:endParaRPr lang="en-US" altLang="zh-CN" sz="1600" b="1" dirty="0">
              <a:latin typeface="微软雅黑" pitchFamily="34" charset="-122"/>
              <a:ea typeface="微软雅黑" pitchFamily="34" charset="-122"/>
            </a:endParaRPr>
          </a:p>
          <a:p>
            <a:pPr algn="ctr">
              <a:lnSpc>
                <a:spcPts val="2200"/>
              </a:lnSpc>
            </a:pPr>
            <a:r>
              <a:rPr lang="zh-CN" altLang="en-US" sz="1600" b="1" dirty="0">
                <a:latin typeface="微软雅黑" pitchFamily="34" charset="-122"/>
                <a:ea typeface="微软雅黑" pitchFamily="34" charset="-122"/>
              </a:rPr>
              <a:t>假设报文段的最大数据长度为 </a:t>
            </a:r>
            <a:r>
              <a:rPr lang="en-US" altLang="zh-CN" sz="1600" b="1" dirty="0">
                <a:latin typeface="微软雅黑" pitchFamily="34" charset="-122"/>
                <a:ea typeface="微软雅黑" pitchFamily="34" charset="-122"/>
              </a:rPr>
              <a:t>1000 </a:t>
            </a:r>
            <a:r>
              <a:rPr lang="zh-CN" altLang="en-US" sz="1600" b="1" dirty="0">
                <a:latin typeface="微软雅黑" pitchFamily="34" charset="-122"/>
                <a:ea typeface="微软雅黑" pitchFamily="34" charset="-122"/>
              </a:rPr>
              <a:t>个字节，初始序号为 </a:t>
            </a:r>
            <a:r>
              <a:rPr lang="en-US" altLang="zh-CN" sz="1600" b="1" dirty="0">
                <a:latin typeface="微软雅黑" pitchFamily="34" charset="-122"/>
                <a:ea typeface="微软雅黑" pitchFamily="34" charset="-122"/>
              </a:rPr>
              <a:t>1001</a:t>
            </a:r>
            <a:r>
              <a:rPr lang="zh-CN" altLang="en-US" sz="1600" b="1" dirty="0">
                <a:latin typeface="微软雅黑" pitchFamily="34" charset="-122"/>
                <a:ea typeface="微软雅黑" pitchFamily="34" charset="-122"/>
              </a:rPr>
              <a:t>。</a:t>
            </a:r>
          </a:p>
        </p:txBody>
      </p:sp>
      <p:sp>
        <p:nvSpPr>
          <p:cNvPr id="87" name="矩形 86"/>
          <p:cNvSpPr/>
          <p:nvPr/>
        </p:nvSpPr>
        <p:spPr>
          <a:xfrm>
            <a:off x="1881361" y="1566624"/>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1001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1001 ~ 2000</a:t>
            </a:r>
            <a:r>
              <a:rPr lang="zh-CN" altLang="en-US" sz="1600" b="1" dirty="0">
                <a:latin typeface="微软雅黑" pitchFamily="34" charset="-122"/>
                <a:ea typeface="微软雅黑" pitchFamily="34" charset="-122"/>
              </a:rPr>
              <a:t>）</a:t>
            </a:r>
          </a:p>
        </p:txBody>
      </p:sp>
      <p:sp>
        <p:nvSpPr>
          <p:cNvPr id="88" name="矩形 87"/>
          <p:cNvSpPr/>
          <p:nvPr/>
        </p:nvSpPr>
        <p:spPr>
          <a:xfrm>
            <a:off x="1881361" y="1972615"/>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2001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2001 ~ 3000</a:t>
            </a:r>
            <a:r>
              <a:rPr lang="zh-CN" altLang="en-US" sz="1600" b="1" dirty="0">
                <a:latin typeface="微软雅黑" pitchFamily="34" charset="-122"/>
                <a:ea typeface="微软雅黑" pitchFamily="34" charset="-122"/>
              </a:rPr>
              <a:t>）</a:t>
            </a:r>
          </a:p>
        </p:txBody>
      </p:sp>
      <p:sp>
        <p:nvSpPr>
          <p:cNvPr id="89" name="矩形 88"/>
          <p:cNvSpPr/>
          <p:nvPr/>
        </p:nvSpPr>
        <p:spPr>
          <a:xfrm>
            <a:off x="1881361" y="2380666"/>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3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3001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3001 ~ 4000</a:t>
            </a:r>
            <a:r>
              <a:rPr lang="zh-CN" altLang="en-US" sz="1600" b="1" dirty="0">
                <a:latin typeface="微软雅黑" pitchFamily="34" charset="-122"/>
                <a:ea typeface="微软雅黑" pitchFamily="34" charset="-122"/>
              </a:rPr>
              <a:t>）</a:t>
            </a:r>
          </a:p>
        </p:txBody>
      </p:sp>
      <p:sp>
        <p:nvSpPr>
          <p:cNvPr id="90" name="矩形 89"/>
          <p:cNvSpPr/>
          <p:nvPr/>
        </p:nvSpPr>
        <p:spPr>
          <a:xfrm>
            <a:off x="1881361" y="2786657"/>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4001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4001 ~ 5000</a:t>
            </a:r>
            <a:r>
              <a:rPr lang="zh-CN" altLang="en-US" sz="1600" b="1" dirty="0">
                <a:latin typeface="微软雅黑" pitchFamily="34" charset="-122"/>
                <a:ea typeface="微软雅黑" pitchFamily="34" charset="-122"/>
              </a:rPr>
              <a:t>）</a:t>
            </a:r>
          </a:p>
        </p:txBody>
      </p:sp>
      <p:sp>
        <p:nvSpPr>
          <p:cNvPr id="91" name="矩形 90"/>
          <p:cNvSpPr/>
          <p:nvPr/>
        </p:nvSpPr>
        <p:spPr>
          <a:xfrm>
            <a:off x="1881361" y="3192648"/>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5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5001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5001 ~ 6000</a:t>
            </a:r>
            <a:r>
              <a:rPr lang="zh-CN" altLang="en-US" sz="1600" b="1" dirty="0">
                <a:latin typeface="微软雅黑" pitchFamily="34" charset="-122"/>
                <a:ea typeface="微软雅黑" pitchFamily="34" charset="-122"/>
              </a:rPr>
              <a:t>）</a:t>
            </a:r>
          </a:p>
        </p:txBody>
      </p:sp>
    </p:spTree>
    <p:extLst>
      <p:ext uri="{BB962C8B-B14F-4D97-AF65-F5344CB8AC3E}">
        <p14:creationId xmlns:p14="http://schemas.microsoft.com/office/powerpoint/2010/main" val="76556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928377"/>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520216" y="3536782"/>
            <a:ext cx="588891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字节，是</a:t>
            </a:r>
            <a:r>
              <a:rPr lang="zh-CN" altLang="en-US" sz="1600" b="1" dirty="0">
                <a:solidFill>
                  <a:srgbClr val="FFC000"/>
                </a:solidFill>
                <a:latin typeface="微软雅黑" pitchFamily="34" charset="-122"/>
                <a:ea typeface="微软雅黑" pitchFamily="34" charset="-122"/>
              </a:rPr>
              <a:t>期望收到</a:t>
            </a:r>
            <a:r>
              <a:rPr lang="zh-CN" altLang="en-US" sz="1600" b="1" dirty="0">
                <a:solidFill>
                  <a:schemeClr val="bg1"/>
                </a:solidFill>
                <a:latin typeface="微软雅黑" pitchFamily="34" charset="-122"/>
                <a:ea typeface="微软雅黑" pitchFamily="34" charset="-122"/>
              </a:rPr>
              <a:t>对方的下一个报文段的数据的</a:t>
            </a:r>
            <a:r>
              <a:rPr lang="zh-CN" altLang="en-US" sz="1600" b="1" dirty="0">
                <a:solidFill>
                  <a:srgbClr val="FFC000"/>
                </a:solidFill>
                <a:latin typeface="微软雅黑" pitchFamily="34" charset="-122"/>
                <a:ea typeface="微软雅黑" pitchFamily="34" charset="-122"/>
              </a:rPr>
              <a:t>第一个字节</a:t>
            </a:r>
            <a:r>
              <a:rPr lang="zh-CN" altLang="en-US" sz="1600" b="1" dirty="0">
                <a:solidFill>
                  <a:schemeClr val="bg1"/>
                </a:solidFill>
                <a:latin typeface="微软雅黑" pitchFamily="34" charset="-122"/>
                <a:ea typeface="微软雅黑" pitchFamily="34" charset="-122"/>
              </a:rPr>
              <a:t>的序号。 </a:t>
            </a:r>
          </a:p>
        </p:txBody>
      </p:sp>
      <p:grpSp>
        <p:nvGrpSpPr>
          <p:cNvPr id="123" name="组合 122"/>
          <p:cNvGrpSpPr/>
          <p:nvPr/>
        </p:nvGrpSpPr>
        <p:grpSpPr>
          <a:xfrm>
            <a:off x="1827330" y="782473"/>
            <a:ext cx="5158580" cy="374416"/>
            <a:chOff x="1827330" y="782473"/>
            <a:chExt cx="5158580" cy="374416"/>
          </a:xfrm>
        </p:grpSpPr>
        <p:sp>
          <p:nvSpPr>
            <p:cNvPr id="124"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5"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6"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7"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8"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9"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0"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1"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2"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3"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4"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5"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6"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7"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8"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9"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0"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1"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2"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3"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4"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5"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6"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7"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8"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9"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0"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1"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2"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3"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4"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5"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6"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7"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8"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9"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4"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210628" y="4393791"/>
            <a:ext cx="6866964" cy="323165"/>
          </a:xfrm>
          <a:prstGeom prst="rect">
            <a:avLst/>
          </a:prstGeom>
          <a:solidFill>
            <a:srgbClr val="009900"/>
          </a:solidFill>
        </p:spPr>
        <p:txBody>
          <a:bodyPr wrap="square">
            <a:spAutoFit/>
          </a:bodyPr>
          <a:lstStyle/>
          <a:p>
            <a:pPr algn="ctr"/>
            <a:r>
              <a:rPr lang="zh-CN" altLang="en-US" sz="1500" b="1" dirty="0">
                <a:solidFill>
                  <a:schemeClr val="bg1"/>
                </a:solidFill>
                <a:latin typeface="微软雅黑" panose="020B0503020204020204" pitchFamily="34" charset="-122"/>
                <a:ea typeface="微软雅黑" panose="020B0503020204020204" pitchFamily="34" charset="-122"/>
              </a:rPr>
              <a:t>记住：若确认号 </a:t>
            </a:r>
            <a:r>
              <a:rPr lang="en-US" altLang="zh-CN" sz="1500" b="1" dirty="0">
                <a:solidFill>
                  <a:schemeClr val="bg1"/>
                </a:solidFill>
                <a:latin typeface="微软雅黑" panose="020B0503020204020204" pitchFamily="34" charset="-122"/>
                <a:ea typeface="微软雅黑" panose="020B0503020204020204" pitchFamily="34" charset="-122"/>
              </a:rPr>
              <a:t>= N</a:t>
            </a:r>
            <a:r>
              <a:rPr lang="zh-CN" altLang="en-US" sz="1500" b="1" dirty="0">
                <a:solidFill>
                  <a:schemeClr val="bg1"/>
                </a:solidFill>
                <a:latin typeface="微软雅黑" panose="020B0503020204020204" pitchFamily="34" charset="-122"/>
                <a:ea typeface="微软雅黑" panose="020B0503020204020204" pitchFamily="34" charset="-122"/>
              </a:rPr>
              <a:t>，则表明：到序号 </a:t>
            </a:r>
            <a:r>
              <a:rPr lang="en-US" altLang="zh-CN" sz="1500" b="1" dirty="0">
                <a:solidFill>
                  <a:schemeClr val="bg1"/>
                </a:solidFill>
                <a:latin typeface="微软雅黑" panose="020B0503020204020204" pitchFamily="34" charset="-122"/>
                <a:ea typeface="微软雅黑" panose="020B0503020204020204" pitchFamily="34" charset="-122"/>
              </a:rPr>
              <a:t>N – 1 </a:t>
            </a:r>
            <a:r>
              <a:rPr lang="zh-CN" altLang="en-US" sz="1500" b="1" dirty="0">
                <a:solidFill>
                  <a:schemeClr val="bg1"/>
                </a:solidFill>
                <a:latin typeface="微软雅黑" panose="020B0503020204020204" pitchFamily="34" charset="-122"/>
                <a:ea typeface="微软雅黑" panose="020B0503020204020204" pitchFamily="34" charset="-122"/>
              </a:rPr>
              <a:t>为止的所有数据都已正确收到。</a:t>
            </a:r>
          </a:p>
        </p:txBody>
      </p:sp>
      <p:sp>
        <p:nvSpPr>
          <p:cNvPr id="5" name="标题 4">
            <a:extLst>
              <a:ext uri="{FF2B5EF4-FFF2-40B4-BE49-F238E27FC236}">
                <a16:creationId xmlns:a16="http://schemas.microsoft.com/office/drawing/2014/main" id="{4FCAB39E-6807-5CD4-6CE4-4B352B028848}"/>
              </a:ext>
            </a:extLst>
          </p:cNvPr>
          <p:cNvSpPr>
            <a:spLocks noGrp="1"/>
          </p:cNvSpPr>
          <p:nvPr>
            <p:ph type="title"/>
          </p:nvPr>
        </p:nvSpPr>
        <p:spPr>
          <a:xfrm>
            <a:off x="486000" y="550723"/>
            <a:ext cx="8172000" cy="338554"/>
          </a:xfrm>
        </p:spPr>
        <p:txBody>
          <a:bodyPr/>
          <a:lstStyle/>
          <a:p>
            <a:r>
              <a:rPr lang="zh-CN" altLang="en-US" dirty="0"/>
              <a:t>确认号</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20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5"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16"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17"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18"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9"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20"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21"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22"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3"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4"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5"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6"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7"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8"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9"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230"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5"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6"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267"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268"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269"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270"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1"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272"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3"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4"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5"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6" name="Rectangle 104"/>
          <p:cNvSpPr>
            <a:spLocks noChangeArrowheads="1"/>
          </p:cNvSpPr>
          <p:nvPr/>
        </p:nvSpPr>
        <p:spPr bwMode="auto">
          <a:xfrm>
            <a:off x="2159946" y="2315473"/>
            <a:ext cx="579621"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7" name="Text Box 155"/>
          <p:cNvSpPr txBox="1">
            <a:spLocks noChangeArrowheads="1"/>
          </p:cNvSpPr>
          <p:nvPr/>
        </p:nvSpPr>
        <p:spPr bwMode="auto">
          <a:xfrm>
            <a:off x="1069848" y="3528826"/>
            <a:ext cx="706114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数据偏移（即首部长度）：占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位，指出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a:t>
            </a:r>
            <a:r>
              <a:rPr lang="zh-CN" altLang="en-US" sz="1600" b="1" dirty="0">
                <a:solidFill>
                  <a:srgbClr val="FFC000"/>
                </a:solidFill>
                <a:latin typeface="微软雅黑" pitchFamily="34" charset="-122"/>
                <a:ea typeface="微软雅黑" pitchFamily="34" charset="-122"/>
              </a:rPr>
              <a:t>数据起始处</a:t>
            </a:r>
            <a:r>
              <a:rPr lang="zh-CN" altLang="en-US" sz="1600" b="1" dirty="0">
                <a:solidFill>
                  <a:schemeClr val="bg1"/>
                </a:solidFill>
                <a:latin typeface="微软雅黑" pitchFamily="34" charset="-122"/>
                <a:ea typeface="微软雅黑" pitchFamily="34" charset="-122"/>
              </a:rPr>
              <a:t>距离 </a:t>
            </a:r>
            <a:r>
              <a:rPr lang="en-US" altLang="zh-CN" sz="1600" b="1" dirty="0">
                <a:solidFill>
                  <a:schemeClr val="bg1"/>
                </a:solidFill>
                <a:latin typeface="微软雅黑" pitchFamily="34" charset="-122"/>
                <a:ea typeface="微软雅黑" pitchFamily="34" charset="-122"/>
              </a:rPr>
              <a:t>TCP </a:t>
            </a:r>
            <a:r>
              <a:rPr lang="zh-CN" altLang="en-US" sz="1600" b="1" dirty="0">
                <a:solidFill>
                  <a:srgbClr val="FFC000"/>
                </a:solidFill>
                <a:latin typeface="微软雅黑" pitchFamily="34" charset="-122"/>
                <a:ea typeface="微软雅黑" pitchFamily="34" charset="-122"/>
              </a:rPr>
              <a:t>报文段的起始处</a:t>
            </a:r>
            <a:r>
              <a:rPr lang="zh-CN" altLang="en-US" sz="1600" b="1" dirty="0">
                <a:solidFill>
                  <a:schemeClr val="bg1"/>
                </a:solidFill>
                <a:latin typeface="微软雅黑" pitchFamily="34" charset="-122"/>
                <a:ea typeface="微软雅黑" pitchFamily="34" charset="-122"/>
              </a:rPr>
              <a:t>有多远。单位是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位字（以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字节为计算单位）。 </a:t>
            </a:r>
          </a:p>
        </p:txBody>
      </p:sp>
      <p:grpSp>
        <p:nvGrpSpPr>
          <p:cNvPr id="84" name="组合 83"/>
          <p:cNvGrpSpPr/>
          <p:nvPr/>
        </p:nvGrpSpPr>
        <p:grpSpPr>
          <a:xfrm>
            <a:off x="1827330" y="782473"/>
            <a:ext cx="5158580" cy="374416"/>
            <a:chOff x="1827330" y="782473"/>
            <a:chExt cx="5158580" cy="374416"/>
          </a:xfrm>
        </p:grpSpPr>
        <p:sp>
          <p:nvSpPr>
            <p:cNvPr id="85"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0"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3"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7" name="标题 6">
            <a:extLst>
              <a:ext uri="{FF2B5EF4-FFF2-40B4-BE49-F238E27FC236}">
                <a16:creationId xmlns:a16="http://schemas.microsoft.com/office/drawing/2014/main" id="{EA13F588-3935-700F-FB4A-73F08E61EC46}"/>
              </a:ext>
            </a:extLst>
          </p:cNvPr>
          <p:cNvSpPr>
            <a:spLocks noGrp="1"/>
          </p:cNvSpPr>
          <p:nvPr>
            <p:ph type="title"/>
          </p:nvPr>
        </p:nvSpPr>
        <p:spPr>
          <a:xfrm>
            <a:off x="486000" y="550723"/>
            <a:ext cx="8172000" cy="338554"/>
          </a:xfrm>
        </p:spPr>
        <p:txBody>
          <a:bodyPr/>
          <a:lstStyle/>
          <a:p>
            <a:r>
              <a:rPr lang="zh-CN" altLang="en-US" dirty="0"/>
              <a:t>数据偏移</a:t>
            </a:r>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27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 grpId="1"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flipH="1">
            <a:off x="2739567" y="2315473"/>
            <a:ext cx="878572"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417320" y="3528826"/>
            <a:ext cx="630936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保留：占 </a:t>
            </a:r>
            <a:r>
              <a:rPr lang="en-US" altLang="zh-CN" sz="1600" b="1" dirty="0">
                <a:solidFill>
                  <a:schemeClr val="bg1"/>
                </a:solidFill>
                <a:latin typeface="微软雅黑" pitchFamily="34" charset="-122"/>
                <a:ea typeface="微软雅黑" pitchFamily="34" charset="-122"/>
              </a:rPr>
              <a:t>6 </a:t>
            </a:r>
            <a:r>
              <a:rPr lang="zh-CN" altLang="en-US" sz="1600" b="1" dirty="0">
                <a:solidFill>
                  <a:schemeClr val="bg1"/>
                </a:solidFill>
                <a:latin typeface="微软雅黑" pitchFamily="34" charset="-122"/>
                <a:ea typeface="微软雅黑" pitchFamily="34" charset="-122"/>
              </a:rPr>
              <a:t>位，保留为今后使用，但目前应置为 </a:t>
            </a:r>
            <a:r>
              <a:rPr lang="en-US" altLang="zh-CN" sz="1600" b="1" dirty="0">
                <a:solidFill>
                  <a:schemeClr val="bg1"/>
                </a:solidFill>
                <a:latin typeface="微软雅黑" pitchFamily="34" charset="-122"/>
                <a:ea typeface="微软雅黑" pitchFamily="34" charset="-122"/>
              </a:rPr>
              <a:t>0</a:t>
            </a:r>
            <a:r>
              <a:rPr lang="zh-CN" altLang="en-US" sz="1600" b="1" dirty="0">
                <a:solidFill>
                  <a:schemeClr val="bg1"/>
                </a:solidFill>
                <a:latin typeface="微软雅黑" pitchFamily="34" charset="-122"/>
                <a:ea typeface="微软雅黑" pitchFamily="34" charset="-122"/>
              </a:rPr>
              <a:t>。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E31E7A35-4FCB-A58F-3EEE-E05345CB6489}"/>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64230A14-FE0C-96BD-7EC3-D10C1F7E3B1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069848" y="3528826"/>
            <a:ext cx="707745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 </a:t>
            </a:r>
            <a:r>
              <a:rPr lang="en-US" altLang="zh-CN" sz="1600" b="1" dirty="0">
                <a:solidFill>
                  <a:schemeClr val="bg1"/>
                </a:solidFill>
                <a:latin typeface="微软雅黑" pitchFamily="34" charset="-122"/>
                <a:ea typeface="微软雅黑" pitchFamily="34" charset="-122"/>
              </a:rPr>
              <a:t>URG</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URG = 1 </a:t>
            </a:r>
            <a:r>
              <a:rPr lang="zh-CN" altLang="en-US" sz="1600" b="1" dirty="0">
                <a:solidFill>
                  <a:schemeClr val="bg1"/>
                </a:solidFill>
                <a:latin typeface="微软雅黑" pitchFamily="34" charset="-122"/>
                <a:ea typeface="微软雅黑" pitchFamily="34" charset="-122"/>
              </a:rPr>
              <a:t>时，表明紧急指针字段有效，告诉系统此报文段中有紧急数据，应尽快传送 </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相当于高优先级的数据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 </a:t>
            </a:r>
          </a:p>
        </p:txBody>
      </p:sp>
      <p:sp>
        <p:nvSpPr>
          <p:cNvPr id="85" name="Rectangle 104"/>
          <p:cNvSpPr>
            <a:spLocks noChangeArrowheads="1"/>
          </p:cNvSpPr>
          <p:nvPr/>
        </p:nvSpPr>
        <p:spPr bwMode="auto">
          <a:xfrm>
            <a:off x="3603849"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7F2CE067-7C21-5482-42CF-469F3C48F953}"/>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5A4713DB-19A9-D343-34DC-A71A019BE3A8}"/>
              </a:ext>
            </a:extLst>
          </p:cNvPr>
          <p:cNvSpPr>
            <a:spLocks noGrp="1"/>
          </p:cNvSpPr>
          <p:nvPr>
            <p:ph type="title"/>
          </p:nvPr>
        </p:nvSpPr>
        <p:spPr/>
        <p:txBody>
          <a:bodyPr/>
          <a:lstStyle/>
          <a:p>
            <a:r>
              <a:rPr lang="en-US" altLang="zh-CN" dirty="0"/>
              <a:t>URG</a:t>
            </a:r>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88141" y="3528831"/>
            <a:ext cx="6140824"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 </a:t>
            </a:r>
            <a:r>
              <a:rPr lang="en-US" altLang="zh-CN" sz="1600" b="1" dirty="0">
                <a:solidFill>
                  <a:schemeClr val="bg1"/>
                </a:solidFill>
                <a:latin typeface="微软雅黑" pitchFamily="34" charset="-122"/>
                <a:ea typeface="微软雅黑" pitchFamily="34" charset="-122"/>
              </a:rPr>
              <a:t>ACK</a:t>
            </a:r>
            <a:r>
              <a:rPr lang="zh-CN" altLang="en-US" sz="1600" b="1" dirty="0">
                <a:solidFill>
                  <a:schemeClr val="bg1"/>
                </a:solidFill>
                <a:latin typeface="微软雅黑" pitchFamily="34" charset="-122"/>
                <a:ea typeface="微软雅黑" pitchFamily="34" charset="-122"/>
              </a:rPr>
              <a:t>：控制位。只有当 </a:t>
            </a:r>
            <a:r>
              <a:rPr lang="en-US" altLang="zh-CN" sz="1600" b="1" dirty="0">
                <a:solidFill>
                  <a:schemeClr val="bg1"/>
                </a:solidFill>
                <a:latin typeface="微软雅黑" pitchFamily="34" charset="-122"/>
                <a:ea typeface="微软雅黑" pitchFamily="34" charset="-122"/>
              </a:rPr>
              <a:t>ACK =1 </a:t>
            </a:r>
            <a:r>
              <a:rPr lang="zh-CN" altLang="en-US" sz="1600" b="1" dirty="0">
                <a:solidFill>
                  <a:schemeClr val="bg1"/>
                </a:solidFill>
                <a:latin typeface="微软雅黑" pitchFamily="34" charset="-122"/>
                <a:ea typeface="微软雅黑" pitchFamily="34" charset="-122"/>
              </a:rPr>
              <a:t>时，确认号字段才有效。当 </a:t>
            </a:r>
            <a:r>
              <a:rPr lang="en-US" altLang="zh-CN" sz="1600" b="1" dirty="0">
                <a:solidFill>
                  <a:schemeClr val="bg1"/>
                </a:solidFill>
                <a:latin typeface="微软雅黑" pitchFamily="34" charset="-122"/>
                <a:ea typeface="微软雅黑" pitchFamily="34" charset="-122"/>
              </a:rPr>
              <a:t>ACK =0 </a:t>
            </a:r>
            <a:r>
              <a:rPr lang="zh-CN" altLang="en-US" sz="1600" b="1" dirty="0">
                <a:solidFill>
                  <a:schemeClr val="bg1"/>
                </a:solidFill>
                <a:latin typeface="微软雅黑" pitchFamily="34" charset="-122"/>
                <a:ea typeface="微软雅黑" pitchFamily="34" charset="-122"/>
              </a:rPr>
              <a:t>时，确认号无效。 </a:t>
            </a:r>
          </a:p>
        </p:txBody>
      </p:sp>
      <p:sp>
        <p:nvSpPr>
          <p:cNvPr id="84" name="Rectangle 104"/>
          <p:cNvSpPr>
            <a:spLocks noChangeArrowheads="1"/>
          </p:cNvSpPr>
          <p:nvPr/>
        </p:nvSpPr>
        <p:spPr bwMode="auto">
          <a:xfrm>
            <a:off x="3744545"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E2DB623C-F615-D7FF-523E-1A596C21744B}"/>
              </a:ext>
            </a:extLst>
          </p:cNvPr>
          <p:cNvSpPr>
            <a:spLocks noGrp="1"/>
          </p:cNvSpPr>
          <p:nvPr>
            <p:ph type="title"/>
          </p:nvPr>
        </p:nvSpPr>
        <p:spPr/>
        <p:txBody>
          <a:bodyPr/>
          <a:lstStyle/>
          <a:p>
            <a:r>
              <a:rPr lang="en-US" altLang="zh-CN" dirty="0"/>
              <a:t>ACK</a:t>
            </a:r>
            <a:endParaRPr lang="zh-CN" altLang="en-US" dirty="0"/>
          </a:p>
        </p:txBody>
      </p:sp>
    </p:spTree>
    <p:extLst>
      <p:ext uri="{BB962C8B-B14F-4D97-AF65-F5344CB8AC3E}">
        <p14:creationId xmlns:p14="http://schemas.microsoft.com/office/powerpoint/2010/main" val="1477852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26464" y="3528830"/>
            <a:ext cx="6400799" cy="344325"/>
          </a:xfrm>
          <a:prstGeom prst="rect">
            <a:avLst/>
          </a:prstGeom>
          <a:solidFill>
            <a:srgbClr val="0000FF"/>
          </a:solidFill>
          <a:ln w="9525">
            <a:noFill/>
            <a:miter lim="800000"/>
            <a:headEnd/>
            <a:tailEnd/>
          </a:ln>
          <a:effectLst/>
        </p:spPr>
        <p:txBody>
          <a:bodyPr wrap="square">
            <a:spAutoFit/>
          </a:bodyPr>
          <a:lstStyle/>
          <a:p>
            <a:pPr algn="ctr">
              <a:lnSpc>
                <a:spcPct val="110000"/>
              </a:lnSpc>
            </a:pPr>
            <a:endParaRPr lang="zh-CN" altLang="en-US"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3889736"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8" name="内容占位符 7">
            <a:extLst>
              <a:ext uri="{FF2B5EF4-FFF2-40B4-BE49-F238E27FC236}">
                <a16:creationId xmlns:a16="http://schemas.microsoft.com/office/drawing/2014/main" id="{2B9D5E3B-3E1A-58EA-8AF6-5529834707DE}"/>
              </a:ext>
            </a:extLst>
          </p:cNvPr>
          <p:cNvSpPr>
            <a:spLocks noGrp="1"/>
          </p:cNvSpPr>
          <p:nvPr>
            <p:ph sz="quarter" idx="11"/>
          </p:nvPr>
        </p:nvSpPr>
        <p:spPr>
          <a:xfrm>
            <a:off x="486000" y="900000"/>
            <a:ext cx="8172000" cy="3703500"/>
          </a:xfrm>
        </p:spPr>
        <p:txBody>
          <a:bodyPr/>
          <a:lstStyle/>
          <a:p>
            <a:r>
              <a:rPr lang="zh-CN" altLang="en-US" dirty="0"/>
              <a:t>推送 </a:t>
            </a:r>
            <a:r>
              <a:rPr lang="en-US" altLang="zh-CN" dirty="0"/>
              <a:t>PSH (</a:t>
            </a:r>
            <a:r>
              <a:rPr lang="en-US" altLang="zh-CN" dirty="0" err="1"/>
              <a:t>PuSH</a:t>
            </a:r>
            <a:r>
              <a:rPr lang="en-US" altLang="zh-CN" dirty="0"/>
              <a:t>) </a:t>
            </a:r>
            <a:r>
              <a:rPr lang="zh-CN" altLang="en-US" dirty="0"/>
              <a:t>：控制位。接收 </a:t>
            </a:r>
            <a:r>
              <a:rPr lang="en-US" altLang="zh-CN" dirty="0"/>
              <a:t>TCP </a:t>
            </a:r>
            <a:r>
              <a:rPr lang="zh-CN" altLang="en-US" dirty="0"/>
              <a:t>收到 </a:t>
            </a:r>
            <a:r>
              <a:rPr lang="en-US" altLang="zh-CN" dirty="0"/>
              <a:t>PSH = 1 </a:t>
            </a:r>
            <a:r>
              <a:rPr lang="zh-CN" altLang="en-US" dirty="0"/>
              <a:t>的报文段后，就尽快（即“推送”向前）交付接收应用进程，而不再等到整个缓存都填满后再交付。 </a:t>
            </a:r>
          </a:p>
          <a:p>
            <a:endParaRPr lang="zh-CN" altLang="en-US" dirty="0"/>
          </a:p>
        </p:txBody>
      </p:sp>
      <p:sp>
        <p:nvSpPr>
          <p:cNvPr id="38" name="标题 37">
            <a:extLst>
              <a:ext uri="{FF2B5EF4-FFF2-40B4-BE49-F238E27FC236}">
                <a16:creationId xmlns:a16="http://schemas.microsoft.com/office/drawing/2014/main" id="{FAC11441-FC94-CF2F-2867-9E5101BDD6A4}"/>
              </a:ext>
            </a:extLst>
          </p:cNvPr>
          <p:cNvSpPr>
            <a:spLocks noGrp="1"/>
          </p:cNvSpPr>
          <p:nvPr>
            <p:ph type="title"/>
          </p:nvPr>
        </p:nvSpPr>
        <p:spPr>
          <a:xfrm>
            <a:off x="486000" y="550723"/>
            <a:ext cx="8172000" cy="338554"/>
          </a:xfrm>
        </p:spPr>
        <p:txBody>
          <a:bodyPr/>
          <a:lstStyle/>
          <a:p>
            <a:r>
              <a:rPr lang="en-US" altLang="zh-CN" dirty="0"/>
              <a:t>PSH</a:t>
            </a:r>
            <a:endParaRPr lang="zh-CN" altLang="en-US" dirty="0"/>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4"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2"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3"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4"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5"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6"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7"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9"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30"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1"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8"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9"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4"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5"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6"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7"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8"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9"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1"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052633" y="3528830"/>
            <a:ext cx="715903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复位 </a:t>
            </a:r>
            <a:r>
              <a:rPr lang="en-US" altLang="zh-CN" sz="1600" b="1" dirty="0">
                <a:solidFill>
                  <a:schemeClr val="bg1"/>
                </a:solidFill>
                <a:latin typeface="微软雅黑" pitchFamily="34" charset="-122"/>
                <a:ea typeface="微软雅黑" pitchFamily="34" charset="-122"/>
              </a:rPr>
              <a:t>RST (</a:t>
            </a:r>
            <a:r>
              <a:rPr lang="en-US" altLang="zh-CN" sz="1600" b="1" dirty="0" err="1">
                <a:solidFill>
                  <a:schemeClr val="bg1"/>
                </a:solidFill>
                <a:latin typeface="微软雅黑" pitchFamily="34" charset="-122"/>
                <a:ea typeface="微软雅黑" pitchFamily="34" charset="-122"/>
              </a:rPr>
              <a:t>ReSeT</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RST=1 </a:t>
            </a:r>
            <a:r>
              <a:rPr lang="zh-CN" altLang="en-US" sz="1600" b="1" dirty="0">
                <a:solidFill>
                  <a:schemeClr val="bg1"/>
                </a:solidFill>
                <a:latin typeface="微软雅黑" pitchFamily="34" charset="-122"/>
                <a:ea typeface="微软雅黑" pitchFamily="34" charset="-122"/>
              </a:rPr>
              <a:t>时，表明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连接中出现严重差错（如主机崩溃或其他原因），必须释放连接，然后再重新建立运输连接。 </a:t>
            </a:r>
          </a:p>
        </p:txBody>
      </p:sp>
      <p:sp>
        <p:nvSpPr>
          <p:cNvPr id="87" name="Rectangle 104"/>
          <p:cNvSpPr>
            <a:spLocks noChangeArrowheads="1"/>
          </p:cNvSpPr>
          <p:nvPr/>
        </p:nvSpPr>
        <p:spPr bwMode="auto">
          <a:xfrm>
            <a:off x="4058963"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6" name="组合 85"/>
          <p:cNvGrpSpPr/>
          <p:nvPr/>
        </p:nvGrpSpPr>
        <p:grpSpPr>
          <a:xfrm>
            <a:off x="1827330" y="782473"/>
            <a:ext cx="5158580" cy="374416"/>
            <a:chOff x="1827330" y="782473"/>
            <a:chExt cx="5158580" cy="374416"/>
          </a:xfrm>
        </p:grpSpPr>
        <p:sp>
          <p:nvSpPr>
            <p:cNvPr id="90"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4"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B8D2BF87-1B8B-487D-94C9-261F68DE9995}"/>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A2C0DAF-8950-765B-6872-3E6CAFD58283}"/>
              </a:ext>
            </a:extLst>
          </p:cNvPr>
          <p:cNvSpPr>
            <a:spLocks noGrp="1"/>
          </p:cNvSpPr>
          <p:nvPr>
            <p:ph type="title"/>
          </p:nvPr>
        </p:nvSpPr>
        <p:spPr/>
        <p:txBody>
          <a:bodyPr/>
          <a:lstStyle/>
          <a:p>
            <a:r>
              <a:rPr lang="en-US" altLang="zh-CN" dirty="0"/>
              <a:t>RST</a:t>
            </a:r>
            <a:endParaRPr lang="zh-CN" altLang="en-US" dirty="0"/>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1"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106424" y="3528826"/>
            <a:ext cx="6986016" cy="104028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a:t>
            </a:r>
            <a:r>
              <a:rPr lang="en-US" altLang="zh-CN" sz="1400" b="1" dirty="0" err="1">
                <a:solidFill>
                  <a:schemeClr val="bg1"/>
                </a:solidFill>
                <a:latin typeface="微软雅黑" pitchFamily="34" charset="-122"/>
                <a:ea typeface="微软雅黑" pitchFamily="34" charset="-122"/>
              </a:rPr>
              <a:t>SYNchronization</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：控制位。</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 1 </a:t>
            </a:r>
            <a:r>
              <a:rPr lang="zh-CN" altLang="en-US" sz="1400" b="1" dirty="0">
                <a:solidFill>
                  <a:schemeClr val="bg1"/>
                </a:solidFill>
                <a:latin typeface="微软雅黑" pitchFamily="34" charset="-122"/>
                <a:ea typeface="微软雅黑" pitchFamily="34" charset="-122"/>
              </a:rPr>
              <a:t>表示这是一个连接请求或连接接受报文。 </a:t>
            </a: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0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连接请求</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1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连接接受</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419381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F34AB039-3078-0833-7EA9-3C1D1D850568}"/>
              </a:ext>
            </a:extLst>
          </p:cNvPr>
          <p:cNvSpPr>
            <a:spLocks noGrp="1"/>
          </p:cNvSpPr>
          <p:nvPr>
            <p:ph type="title"/>
          </p:nvPr>
        </p:nvSpPr>
        <p:spPr/>
        <p:txBody>
          <a:bodyPr/>
          <a:lstStyle/>
          <a:p>
            <a:r>
              <a:rPr lang="en-US" altLang="zh-CN" dirty="0"/>
              <a:t>SYN</a:t>
            </a:r>
            <a:endParaRPr lang="zh-CN" altLang="en-US" dirty="0"/>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097459"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终止 </a:t>
            </a:r>
            <a:r>
              <a:rPr lang="en-US" altLang="zh-CN" sz="1600" b="1" dirty="0">
                <a:solidFill>
                  <a:schemeClr val="bg1"/>
                </a:solidFill>
                <a:latin typeface="微软雅黑" pitchFamily="34" charset="-122"/>
                <a:ea typeface="微软雅黑" pitchFamily="34" charset="-122"/>
              </a:rPr>
              <a:t>FIN (</a:t>
            </a:r>
            <a:r>
              <a:rPr lang="en-US" altLang="zh-CN" sz="1600" b="1" dirty="0" err="1">
                <a:solidFill>
                  <a:schemeClr val="bg1"/>
                </a:solidFill>
                <a:latin typeface="微软雅黑" pitchFamily="34" charset="-122"/>
                <a:ea typeface="微软雅黑" pitchFamily="34" charset="-122"/>
              </a:rPr>
              <a:t>FINish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：控制位。用来释放一个连接。</a:t>
            </a:r>
            <a:endParaRPr lang="en-US" altLang="zh-CN" sz="1600" b="1" dirty="0">
              <a:solidFill>
                <a:schemeClr val="bg1"/>
              </a:solidFill>
              <a:latin typeface="微软雅黑" pitchFamily="34" charset="-122"/>
              <a:ea typeface="微软雅黑" pitchFamily="34" charset="-122"/>
            </a:endParaRPr>
          </a:p>
          <a:p>
            <a:pPr algn="ctr">
              <a:lnSpc>
                <a:spcPct val="110000"/>
              </a:lnSpc>
            </a:pPr>
            <a:r>
              <a:rPr lang="en-US" altLang="zh-CN" sz="1600" b="1" dirty="0">
                <a:solidFill>
                  <a:schemeClr val="bg1"/>
                </a:solidFill>
                <a:latin typeface="微软雅黑" pitchFamily="34" charset="-122"/>
                <a:ea typeface="微软雅黑" pitchFamily="34" charset="-122"/>
              </a:rPr>
              <a:t>FIN=1 </a:t>
            </a:r>
            <a:r>
              <a:rPr lang="zh-CN" altLang="en-US" sz="1600" b="1" dirty="0">
                <a:solidFill>
                  <a:schemeClr val="bg1"/>
                </a:solidFill>
                <a:latin typeface="微软雅黑" pitchFamily="34" charset="-122"/>
                <a:ea typeface="微软雅黑" pitchFamily="34" charset="-122"/>
              </a:rPr>
              <a:t>表明此报文段的发送端的数据已发送完毕，并要求释放运输连接。 </a:t>
            </a:r>
          </a:p>
        </p:txBody>
      </p:sp>
      <p:sp>
        <p:nvSpPr>
          <p:cNvPr id="86" name="Rectangle 104"/>
          <p:cNvSpPr>
            <a:spLocks noChangeArrowheads="1"/>
          </p:cNvSpPr>
          <p:nvPr/>
        </p:nvSpPr>
        <p:spPr bwMode="auto">
          <a:xfrm>
            <a:off x="432855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045242A2-7A2F-5488-36B3-C8AA249DC00D}"/>
              </a:ext>
            </a:extLst>
          </p:cNvPr>
          <p:cNvSpPr>
            <a:spLocks noGrp="1"/>
          </p:cNvSpPr>
          <p:nvPr>
            <p:ph type="title"/>
          </p:nvPr>
        </p:nvSpPr>
        <p:spPr>
          <a:xfrm>
            <a:off x="486000" y="550723"/>
            <a:ext cx="8172000" cy="338554"/>
          </a:xfrm>
        </p:spPr>
        <p:txBody>
          <a:bodyPr/>
          <a:lstStyle/>
          <a:p>
            <a:r>
              <a:rPr lang="en-US" altLang="zh-CN" dirty="0"/>
              <a:t>FIN</a:t>
            </a:r>
            <a:endParaRPr lang="zh-CN" altLang="en-US" dirty="0"/>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620894" y="3528826"/>
            <a:ext cx="5761804"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窗口：占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窗口值告诉对方：从本报文段首部中的确认号算起，接收方目前允许对方发送的数据量（以字节为单位）。</a:t>
            </a:r>
            <a:endParaRPr lang="en-US" altLang="zh-CN"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flipH="1">
            <a:off x="4518888" y="231599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106424" y="4434611"/>
            <a:ext cx="6986016" cy="3231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500" b="1" dirty="0">
                <a:solidFill>
                  <a:srgbClr val="000099"/>
                </a:solidFill>
                <a:latin typeface="微软雅黑" panose="020B0503020204020204" pitchFamily="34" charset="-122"/>
                <a:ea typeface="微软雅黑" panose="020B0503020204020204" pitchFamily="34" charset="-122"/>
              </a:rPr>
              <a:t>记住：窗口字段明确指出了现在允许对方发送的数据量。窗口值经常在</a:t>
            </a:r>
            <a:r>
              <a:rPr lang="zh-CN" altLang="en-US" sz="1500" b="1" dirty="0">
                <a:solidFill>
                  <a:srgbClr val="C00000"/>
                </a:solidFill>
                <a:latin typeface="微软雅黑" panose="020B0503020204020204" pitchFamily="34" charset="-122"/>
                <a:ea typeface="微软雅黑" panose="020B0503020204020204" pitchFamily="34" charset="-122"/>
              </a:rPr>
              <a:t>动态变化。</a:t>
            </a:r>
          </a:p>
        </p:txBody>
      </p:sp>
      <p:sp>
        <p:nvSpPr>
          <p:cNvPr id="5" name="标题 4">
            <a:extLst>
              <a:ext uri="{FF2B5EF4-FFF2-40B4-BE49-F238E27FC236}">
                <a16:creationId xmlns:a16="http://schemas.microsoft.com/office/drawing/2014/main" id="{CC31D665-7B92-DF22-A713-1C65165284D1}"/>
              </a:ext>
            </a:extLst>
          </p:cNvPr>
          <p:cNvSpPr>
            <a:spLocks noGrp="1"/>
          </p:cNvSpPr>
          <p:nvPr>
            <p:ph type="title"/>
          </p:nvPr>
        </p:nvSpPr>
        <p:spPr/>
        <p:txBody>
          <a:bodyPr/>
          <a:lstStyle/>
          <a:p>
            <a:r>
              <a:rPr lang="en-US" altLang="zh-CN" dirty="0"/>
              <a:t>Window</a:t>
            </a:r>
            <a:endParaRPr lang="zh-CN" altLang="en-US" dirty="0"/>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614653"/>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609281"/>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2217076"/>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612861"/>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200940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240147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79264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3182924"/>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574992"/>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617337"/>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688947"/>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758323"/>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3260800"/>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622433"/>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688947"/>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2061911"/>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798017"/>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3260800"/>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84799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470090"/>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793541"/>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85604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786813"/>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786813"/>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786813"/>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786813"/>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786813"/>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786813"/>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584838"/>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622433"/>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599434"/>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570516"/>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620917"/>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933045"/>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106424" y="3992856"/>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检验和：占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字节。检验和字段检验的范围包括首部和数据这两部分。</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在计算检验和时，要在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报文段的前面加上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p>
        </p:txBody>
      </p:sp>
      <p:sp>
        <p:nvSpPr>
          <p:cNvPr id="86" name="Rectangle 104"/>
          <p:cNvSpPr>
            <a:spLocks noChangeArrowheads="1"/>
          </p:cNvSpPr>
          <p:nvPr/>
        </p:nvSpPr>
        <p:spPr bwMode="auto">
          <a:xfrm flipH="1">
            <a:off x="2162453" y="3177774"/>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1246502"/>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594601"/>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A49A2CEE-63CD-D8FF-3D51-B80B5F2365A1}"/>
              </a:ext>
            </a:extLst>
          </p:cNvPr>
          <p:cNvSpPr>
            <a:spLocks noGrp="1"/>
          </p:cNvSpPr>
          <p:nvPr>
            <p:ph type="title"/>
          </p:nvPr>
        </p:nvSpPr>
        <p:spPr/>
        <p:txBody>
          <a:bodyPr/>
          <a:lstStyle/>
          <a:p>
            <a:r>
              <a:rPr lang="zh-CN" altLang="en-US" dirty="0"/>
              <a:t>校验和</a:t>
            </a: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816315"/>
            <a:ext cx="659369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在计算检验和时，临时把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r>
              <a:rPr lang="zh-CN" altLang="en-US" sz="1600" b="1" dirty="0">
                <a:solidFill>
                  <a:schemeClr val="bg1"/>
                </a:solidFill>
                <a:latin typeface="微软雅黑" pitchFamily="34" charset="-122"/>
                <a:ea typeface="微软雅黑" pitchFamily="34" charset="-122"/>
              </a:rPr>
              <a:t>”和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报文段连接在一起。伪首部仅仅是为了计算检验和。</a:t>
            </a:r>
          </a:p>
        </p:txBody>
      </p:sp>
      <p:sp>
        <p:nvSpPr>
          <p:cNvPr id="4" name="Rectangle 2"/>
          <p:cNvSpPr>
            <a:spLocks noChangeArrowheads="1"/>
          </p:cNvSpPr>
          <p:nvPr/>
        </p:nvSpPr>
        <p:spPr bwMode="auto">
          <a:xfrm>
            <a:off x="2898378" y="364825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83286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70803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16024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530820"/>
            <a:ext cx="3316500" cy="302048"/>
          </a:xfrm>
          <a:prstGeom prst="rect">
            <a:avLst/>
          </a:prstGeom>
          <a:solidFill>
            <a:srgbClr val="00FFFF"/>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首部</a:t>
            </a:r>
          </a:p>
        </p:txBody>
      </p:sp>
      <p:sp>
        <p:nvSpPr>
          <p:cNvPr id="12" name="Rectangle 11"/>
          <p:cNvSpPr>
            <a:spLocks noChangeArrowheads="1"/>
          </p:cNvSpPr>
          <p:nvPr/>
        </p:nvSpPr>
        <p:spPr bwMode="auto">
          <a:xfrm>
            <a:off x="1915585" y="185820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85820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53082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53786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23" name="Text Box 22"/>
          <p:cNvSpPr txBox="1">
            <a:spLocks noChangeArrowheads="1"/>
          </p:cNvSpPr>
          <p:nvPr/>
        </p:nvSpPr>
        <p:spPr bwMode="auto">
          <a:xfrm>
            <a:off x="2982509" y="366847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85820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789881" y="188353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总长度</a:t>
            </a:r>
          </a:p>
        </p:txBody>
      </p:sp>
      <p:sp>
        <p:nvSpPr>
          <p:cNvPr id="28" name="Text Box 27"/>
          <p:cNvSpPr txBox="1">
            <a:spLocks noChangeArrowheads="1"/>
          </p:cNvSpPr>
          <p:nvPr/>
        </p:nvSpPr>
        <p:spPr bwMode="auto">
          <a:xfrm>
            <a:off x="2229388" y="188353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8353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530901"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6</a:t>
            </a:r>
          </a:p>
        </p:txBody>
      </p:sp>
      <p:sp>
        <p:nvSpPr>
          <p:cNvPr id="32" name="Line 31"/>
          <p:cNvSpPr>
            <a:spLocks noChangeShapeType="1"/>
          </p:cNvSpPr>
          <p:nvPr/>
        </p:nvSpPr>
        <p:spPr bwMode="auto">
          <a:xfrm>
            <a:off x="2867701" y="4103423"/>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34"/>
          <p:cNvSpPr txBox="1">
            <a:spLocks noChangeArrowheads="1"/>
          </p:cNvSpPr>
          <p:nvPr/>
        </p:nvSpPr>
        <p:spPr bwMode="auto">
          <a:xfrm>
            <a:off x="1480429" y="164202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8121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6" name="Text Box 45"/>
          <p:cNvSpPr txBox="1">
            <a:spLocks noChangeArrowheads="1"/>
          </p:cNvSpPr>
          <p:nvPr/>
        </p:nvSpPr>
        <p:spPr bwMode="auto">
          <a:xfrm>
            <a:off x="1957142" y="228121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928825" y="39474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312929" y="306411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TCP </a:t>
            </a:r>
            <a:r>
              <a:rPr kumimoji="1" lang="zh-CN" altLang="en-US" sz="1200" b="1" dirty="0">
                <a:solidFill>
                  <a:srgbClr val="0033CC"/>
                </a:solidFill>
                <a:latin typeface="微软雅黑" pitchFamily="34" charset="-122"/>
                <a:ea typeface="微软雅黑" pitchFamily="34" charset="-122"/>
              </a:rPr>
              <a:t>报文段</a:t>
            </a:r>
          </a:p>
        </p:txBody>
      </p:sp>
      <p:sp>
        <p:nvSpPr>
          <p:cNvPr id="53" name="Rectangle 59"/>
          <p:cNvSpPr>
            <a:spLocks noChangeArrowheads="1"/>
          </p:cNvSpPr>
          <p:nvPr/>
        </p:nvSpPr>
        <p:spPr bwMode="auto">
          <a:xfrm flipH="1">
            <a:off x="2420048" y="252234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2" name="Rectangle 4"/>
          <p:cNvSpPr>
            <a:spLocks noChangeArrowheads="1"/>
          </p:cNvSpPr>
          <p:nvPr/>
        </p:nvSpPr>
        <p:spPr bwMode="auto">
          <a:xfrm>
            <a:off x="3673978" y="337334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9"/>
          <p:cNvSpPr>
            <a:spLocks noChangeArrowheads="1"/>
          </p:cNvSpPr>
          <p:nvPr/>
        </p:nvSpPr>
        <p:spPr bwMode="auto">
          <a:xfrm>
            <a:off x="3670978" y="365035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306411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306411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70962" y="307414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33" name="Rectangle 32"/>
          <p:cNvSpPr>
            <a:spLocks noChangeArrowheads="1"/>
          </p:cNvSpPr>
          <p:nvPr/>
        </p:nvSpPr>
        <p:spPr bwMode="auto">
          <a:xfrm>
            <a:off x="4717397" y="400169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971705"/>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22" name="Text Box 21"/>
          <p:cNvSpPr txBox="1">
            <a:spLocks noChangeArrowheads="1"/>
          </p:cNvSpPr>
          <p:nvPr/>
        </p:nvSpPr>
        <p:spPr bwMode="auto">
          <a:xfrm>
            <a:off x="5160505" y="367762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49" name="Text Box 49"/>
          <p:cNvSpPr txBox="1">
            <a:spLocks noChangeArrowheads="1"/>
          </p:cNvSpPr>
          <p:nvPr/>
        </p:nvSpPr>
        <p:spPr bwMode="auto">
          <a:xfrm>
            <a:off x="5557032" y="3092432"/>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Tree>
    <p:extLst>
      <p:ext uri="{BB962C8B-B14F-4D97-AF65-F5344CB8AC3E}">
        <p14:creationId xmlns:p14="http://schemas.microsoft.com/office/powerpoint/2010/main" val="1953030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959224" y="3528826"/>
            <a:ext cx="729727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紧急指针：占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字节。在 </a:t>
            </a:r>
            <a:r>
              <a:rPr lang="en-US" altLang="zh-CN" sz="1600" b="1" dirty="0">
                <a:solidFill>
                  <a:schemeClr val="bg1"/>
                </a:solidFill>
                <a:latin typeface="微软雅黑" pitchFamily="34" charset="-122"/>
                <a:ea typeface="微软雅黑" pitchFamily="34" charset="-122"/>
              </a:rPr>
              <a:t>URG = 1</a:t>
            </a:r>
            <a:r>
              <a:rPr lang="zh-CN" altLang="en-US" sz="1600" b="1" dirty="0">
                <a:solidFill>
                  <a:schemeClr val="bg1"/>
                </a:solidFill>
                <a:latin typeface="微软雅黑" pitchFamily="34" charset="-122"/>
                <a:ea typeface="微软雅黑" pitchFamily="34" charset="-122"/>
              </a:rPr>
              <a:t>时，指出本报文段中的紧急数据的字节数（紧急数据结束后就是普通数据），指出了紧急数据的末尾在报文段中的位置。 </a:t>
            </a:r>
          </a:p>
        </p:txBody>
      </p:sp>
      <p:sp>
        <p:nvSpPr>
          <p:cNvPr id="86" name="Rectangle 104"/>
          <p:cNvSpPr>
            <a:spLocks noChangeArrowheads="1"/>
          </p:cNvSpPr>
          <p:nvPr/>
        </p:nvSpPr>
        <p:spPr bwMode="auto">
          <a:xfrm>
            <a:off x="4496711" y="2713745"/>
            <a:ext cx="2344800"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28687F51-ABB0-CF24-4C99-8BADBDB7B072}"/>
              </a:ext>
            </a:extLst>
          </p:cNvPr>
          <p:cNvSpPr>
            <a:spLocks noGrp="1"/>
          </p:cNvSpPr>
          <p:nvPr>
            <p:ph type="title"/>
          </p:nvPr>
        </p:nvSpPr>
        <p:spPr>
          <a:xfrm>
            <a:off x="486000" y="550723"/>
            <a:ext cx="8172000" cy="338554"/>
          </a:xfrm>
        </p:spPr>
        <p:txBody>
          <a:bodyPr/>
          <a:lstStyle/>
          <a:p>
            <a:r>
              <a:rPr lang="zh-CN" altLang="en-US" dirty="0"/>
              <a:t>紧急指针</a:t>
            </a: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4432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选项：长度可变，最长可达 </a:t>
            </a:r>
            <a:r>
              <a:rPr lang="en-US" altLang="zh-CN" sz="1600" b="1" dirty="0">
                <a:solidFill>
                  <a:schemeClr val="bg1"/>
                </a:solidFill>
                <a:latin typeface="微软雅黑" pitchFamily="34" charset="-122"/>
                <a:ea typeface="微软雅黑" pitchFamily="34" charset="-122"/>
              </a:rPr>
              <a:t>40 </a:t>
            </a:r>
            <a:r>
              <a:rPr lang="zh-CN" altLang="en-US" sz="1600" b="1" dirty="0">
                <a:solidFill>
                  <a:schemeClr val="bg1"/>
                </a:solidFill>
                <a:latin typeface="微软雅黑" pitchFamily="34" charset="-122"/>
                <a:ea typeface="微软雅黑" pitchFamily="34" charset="-122"/>
              </a:rPr>
              <a:t>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47FAFAFE-0D0B-04C8-D4FB-4D68A0E56D0B}"/>
              </a:ext>
            </a:extLst>
          </p:cNvPr>
          <p:cNvSpPr>
            <a:spLocks noGrp="1"/>
          </p:cNvSpPr>
          <p:nvPr>
            <p:ph type="title"/>
          </p:nvPr>
        </p:nvSpPr>
        <p:spPr>
          <a:xfrm>
            <a:off x="486000" y="550723"/>
            <a:ext cx="8172000" cy="338554"/>
          </a:xfrm>
        </p:spPr>
        <p:txBody>
          <a:bodyPr/>
          <a:lstStyle/>
          <a:p>
            <a:r>
              <a:rPr lang="zh-CN" altLang="en-US" dirty="0"/>
              <a:t>选项</a:t>
            </a: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填充：使整个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首部长度是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字节的整数倍。</a:t>
            </a:r>
          </a:p>
        </p:txBody>
      </p:sp>
      <p:sp>
        <p:nvSpPr>
          <p:cNvPr id="84" name="Rectangle 104"/>
          <p:cNvSpPr>
            <a:spLocks noChangeArrowheads="1"/>
          </p:cNvSpPr>
          <p:nvPr/>
        </p:nvSpPr>
        <p:spPr bwMode="auto">
          <a:xfrm>
            <a:off x="5668142" y="3110963"/>
            <a:ext cx="1185287"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FD1192AF-990D-BADD-130A-7FFDEA7D1066}"/>
              </a:ext>
            </a:extLst>
          </p:cNvPr>
          <p:cNvSpPr>
            <a:spLocks noGrp="1"/>
          </p:cNvSpPr>
          <p:nvPr>
            <p:ph type="title"/>
          </p:nvPr>
        </p:nvSpPr>
        <p:spPr>
          <a:xfrm>
            <a:off x="486000" y="550723"/>
            <a:ext cx="8172000" cy="338554"/>
          </a:xfrm>
        </p:spPr>
        <p:txBody>
          <a:bodyPr/>
          <a:lstStyle/>
          <a:p>
            <a:r>
              <a:rPr lang="zh-CN" altLang="en-US" dirty="0"/>
              <a:t>填充</a:t>
            </a:r>
          </a:p>
        </p:txBody>
      </p:sp>
    </p:spTree>
    <p:extLst>
      <p:ext uri="{BB962C8B-B14F-4D97-AF65-F5344CB8AC3E}">
        <p14:creationId xmlns:p14="http://schemas.microsoft.com/office/powerpoint/2010/main" val="3767242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645371"/>
            <a:ext cx="7086600" cy="803297"/>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选项：长度可变，最长可达 </a:t>
            </a:r>
            <a:r>
              <a:rPr lang="en-US" altLang="zh-CN" sz="1400" b="1" dirty="0">
                <a:solidFill>
                  <a:schemeClr val="bg1"/>
                </a:solidFill>
                <a:latin typeface="微软雅黑" pitchFamily="34" charset="-122"/>
                <a:ea typeface="微软雅黑" pitchFamily="34" charset="-122"/>
              </a:rPr>
              <a:t>40 </a:t>
            </a:r>
            <a:r>
              <a:rPr lang="zh-CN" altLang="en-US" sz="1400" b="1" dirty="0">
                <a:solidFill>
                  <a:schemeClr val="bg1"/>
                </a:solidFill>
                <a:latin typeface="微软雅黑" pitchFamily="34" charset="-122"/>
                <a:ea typeface="微软雅黑" pitchFamily="34" charset="-122"/>
              </a:rPr>
              <a:t>字节。</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长度可变。</a:t>
            </a:r>
            <a:r>
              <a:rPr lang="en-US" altLang="zh-CN" sz="1400" b="1" dirty="0">
                <a:solidFill>
                  <a:schemeClr val="bg1"/>
                </a:solidFill>
                <a:latin typeface="微软雅黑" pitchFamily="34" charset="-122"/>
                <a:ea typeface="微软雅黑" pitchFamily="34" charset="-122"/>
              </a:rPr>
              <a:t>TCP </a:t>
            </a:r>
            <a:r>
              <a:rPr lang="zh-CN" altLang="en-US" sz="1400" b="1" dirty="0">
                <a:solidFill>
                  <a:schemeClr val="bg1"/>
                </a:solidFill>
                <a:latin typeface="微软雅黑" pitchFamily="34" charset="-122"/>
                <a:ea typeface="微软雅黑" pitchFamily="34" charset="-122"/>
              </a:rPr>
              <a:t>最初只规定了一种选项，即最大报文段长度 </a:t>
            </a:r>
            <a:r>
              <a:rPr lang="en-US" altLang="zh-CN" sz="1400" b="1" dirty="0">
                <a:solidFill>
                  <a:schemeClr val="bg1"/>
                </a:solidFill>
                <a:latin typeface="微软雅黑" pitchFamily="34" charset="-122"/>
                <a:ea typeface="微软雅黑" pitchFamily="34" charset="-122"/>
              </a:rPr>
              <a:t>MSS</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告诉对方 </a:t>
            </a:r>
            <a:r>
              <a:rPr lang="en-US" altLang="zh-CN" sz="1400" b="1" dirty="0">
                <a:solidFill>
                  <a:schemeClr val="bg1"/>
                </a:solidFill>
                <a:latin typeface="微软雅黑" pitchFamily="34" charset="-122"/>
                <a:ea typeface="微软雅黑" pitchFamily="34" charset="-122"/>
              </a:rPr>
              <a:t>TCP</a:t>
            </a:r>
            <a:r>
              <a:rPr lang="zh-CN" altLang="en-US" sz="1400" b="1" dirty="0">
                <a:solidFill>
                  <a:schemeClr val="bg1"/>
                </a:solidFill>
                <a:latin typeface="微软雅黑" pitchFamily="34" charset="-122"/>
                <a:ea typeface="微软雅黑" pitchFamily="34" charset="-122"/>
              </a:rPr>
              <a:t>：“我的缓存所能接收的报文段的数据字段的最大长度是 </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个字节。”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Text Box 155"/>
          <p:cNvSpPr txBox="1">
            <a:spLocks noChangeArrowheads="1"/>
          </p:cNvSpPr>
          <p:nvPr/>
        </p:nvSpPr>
        <p:spPr bwMode="auto">
          <a:xfrm>
            <a:off x="1417320" y="765443"/>
            <a:ext cx="6300216" cy="1175706"/>
          </a:xfrm>
          <a:prstGeom prst="rect">
            <a:avLst/>
          </a:prstGeom>
          <a:solidFill>
            <a:srgbClr val="66FF99"/>
          </a:solidFill>
          <a:ln w="9525">
            <a:solidFill>
              <a:schemeClr val="tx1"/>
            </a:solid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MSS (Maximum Segment Size)</a:t>
            </a:r>
          </a:p>
          <a:p>
            <a:pPr algn="ctr">
              <a:lnSpc>
                <a:spcPct val="110000"/>
              </a:lnSpc>
            </a:pP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报文段中的数据字段的最大长度。</a:t>
            </a:r>
          </a:p>
          <a:p>
            <a:pPr algn="ctr">
              <a:lnSpc>
                <a:spcPct val="110000"/>
              </a:lnSpc>
            </a:pPr>
            <a:r>
              <a:rPr lang="zh-CN" altLang="en-US" sz="1600" b="1" dirty="0">
                <a:latin typeface="微软雅黑" pitchFamily="34" charset="-122"/>
                <a:ea typeface="微软雅黑" pitchFamily="34" charset="-122"/>
              </a:rPr>
              <a:t>数据字段加上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首部才等于整个的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a:t>
            </a:r>
          </a:p>
          <a:p>
            <a:pPr algn="ctr">
              <a:lnSpc>
                <a:spcPct val="110000"/>
              </a:lnSpc>
            </a:pPr>
            <a:r>
              <a:rPr lang="zh-CN" altLang="en-US" sz="1600" b="1" dirty="0">
                <a:latin typeface="微软雅黑" pitchFamily="34" charset="-122"/>
                <a:ea typeface="微软雅黑" pitchFamily="34" charset="-122"/>
              </a:rPr>
              <a:t>所以，</a:t>
            </a:r>
            <a:r>
              <a:rPr lang="en-US" altLang="zh-CN" sz="1600" b="1" dirty="0">
                <a:latin typeface="微软雅黑" pitchFamily="34" charset="-122"/>
                <a:ea typeface="微软雅黑" pitchFamily="34" charset="-122"/>
              </a:rPr>
              <a:t>MSS</a:t>
            </a:r>
            <a:r>
              <a:rPr lang="zh-CN" altLang="en-US" sz="1600" b="1" dirty="0">
                <a:latin typeface="微软雅黑" pitchFamily="34" charset="-122"/>
                <a:ea typeface="微软雅黑" pitchFamily="34" charset="-122"/>
              </a:rPr>
              <a:t>是“</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报文段长度减去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首部长度”。</a:t>
            </a:r>
          </a:p>
        </p:txBody>
      </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Tree>
    <p:extLst>
      <p:ext uri="{BB962C8B-B14F-4D97-AF65-F5344CB8AC3E}">
        <p14:creationId xmlns:p14="http://schemas.microsoft.com/office/powerpoint/2010/main" val="2375101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8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1000" fill="hold"/>
                                        <p:tgtEl>
                                          <p:spTgt spid="84"/>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53" presetClass="entr" presetSubtype="16" fill="hold" grpId="0" nodeType="afterEffect">
                                  <p:stCondLst>
                                    <p:cond delay="1000"/>
                                  </p:stCondLst>
                                  <p:childTnLst>
                                    <p:set>
                                      <p:cBhvr>
                                        <p:cTn id="12" dur="1" fill="hold">
                                          <p:stCondLst>
                                            <p:cond delay="0"/>
                                          </p:stCondLst>
                                        </p:cTn>
                                        <p:tgtEl>
                                          <p:spTgt spid="88"/>
                                        </p:tgtEl>
                                        <p:attrNameLst>
                                          <p:attrName>style.visibility</p:attrName>
                                        </p:attrNameLst>
                                      </p:cBhvr>
                                      <p:to>
                                        <p:strVal val="visible"/>
                                      </p:to>
                                    </p:set>
                                    <p:anim calcmode="lin" valueType="num">
                                      <p:cBhvr>
                                        <p:cTn id="13" dur="500" fill="hold"/>
                                        <p:tgtEl>
                                          <p:spTgt spid="88"/>
                                        </p:tgtEl>
                                        <p:attrNameLst>
                                          <p:attrName>ppt_w</p:attrName>
                                        </p:attrNameLst>
                                      </p:cBhvr>
                                      <p:tavLst>
                                        <p:tav tm="0">
                                          <p:val>
                                            <p:fltVal val="0"/>
                                          </p:val>
                                        </p:tav>
                                        <p:tav tm="100000">
                                          <p:val>
                                            <p:strVal val="#ppt_w"/>
                                          </p:val>
                                        </p:tav>
                                      </p:tavLst>
                                    </p:anim>
                                    <p:anim calcmode="lin" valueType="num">
                                      <p:cBhvr>
                                        <p:cTn id="14" dur="500" fill="hold"/>
                                        <p:tgtEl>
                                          <p:spTgt spid="88"/>
                                        </p:tgtEl>
                                        <p:attrNameLst>
                                          <p:attrName>ppt_h</p:attrName>
                                        </p:attrNameLst>
                                      </p:cBhvr>
                                      <p:tavLst>
                                        <p:tav tm="0">
                                          <p:val>
                                            <p:fltVal val="0"/>
                                          </p:val>
                                        </p:tav>
                                        <p:tav tm="100000">
                                          <p:val>
                                            <p:strVal val="#ppt_h"/>
                                          </p:val>
                                        </p:tav>
                                      </p:tavLst>
                                    </p:anim>
                                    <p:animEffect transition="in" filter="fade">
                                      <p:cBhvr>
                                        <p:cTn id="15" dur="500"/>
                                        <p:tgtEl>
                                          <p:spTgt spid="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84" grpId="1" animBg="1"/>
      <p:bldP spid="88"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506455" y="3710627"/>
            <a:ext cx="6149787" cy="759182"/>
          </a:xfrm>
          <a:prstGeom prst="rect">
            <a:avLst/>
          </a:prstGeom>
          <a:solidFill>
            <a:srgbClr val="000099"/>
          </a:solidFill>
        </p:spPr>
        <p:txBody>
          <a:bodyPr wrap="square">
            <a:spAutoFit/>
          </a:bodyPr>
          <a:lstStyle/>
          <a:p>
            <a:pPr algn="ctr">
              <a:lnSpc>
                <a:spcPts val="2600"/>
              </a:lnSpc>
            </a:pPr>
            <a:r>
              <a:rPr lang="en-US" altLang="zh-CN" b="1" dirty="0">
                <a:solidFill>
                  <a:schemeClr val="bg1"/>
                </a:solidFill>
                <a:latin typeface="微软雅黑" panose="020B0503020204020204" pitchFamily="34" charset="-122"/>
                <a:ea typeface="微软雅黑" panose="020B0503020204020204" pitchFamily="34" charset="-122"/>
              </a:rPr>
              <a:t>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a:t>
            </a: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p>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endParaRPr lang="en-US" altLang="zh-CN" b="1" dirty="0">
              <a:solidFill>
                <a:schemeClr val="bg1"/>
              </a:solidFill>
              <a:latin typeface="微软雅黑" panose="020B0503020204020204" pitchFamily="34" charset="-122"/>
              <a:ea typeface="微软雅黑" panose="020B0503020204020204" pitchFamily="34" charset="-122"/>
            </a:endParaRPr>
          </a:p>
        </p:txBody>
      </p:sp>
      <p:grpSp>
        <p:nvGrpSpPr>
          <p:cNvPr id="28" name="组合 27"/>
          <p:cNvGrpSpPr/>
          <p:nvPr/>
        </p:nvGrpSpPr>
        <p:grpSpPr>
          <a:xfrm>
            <a:off x="1506455" y="2130011"/>
            <a:ext cx="6328790" cy="1391025"/>
            <a:chOff x="1177329" y="2056381"/>
            <a:chExt cx="6976306" cy="1594803"/>
          </a:xfrm>
        </p:grpSpPr>
        <p:sp>
          <p:nvSpPr>
            <p:cNvPr id="31" name="矩形 30"/>
            <p:cNvSpPr/>
            <p:nvPr/>
          </p:nvSpPr>
          <p:spPr>
            <a:xfrm>
              <a:off x="1177329"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首部</a:t>
              </a:r>
            </a:p>
          </p:txBody>
        </p:sp>
        <p:sp>
          <p:nvSpPr>
            <p:cNvPr id="32" name="矩形 31"/>
            <p:cNvSpPr/>
            <p:nvPr/>
          </p:nvSpPr>
          <p:spPr>
            <a:xfrm>
              <a:off x="7158848"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尾部</a:t>
              </a:r>
            </a:p>
          </p:txBody>
        </p:sp>
        <p:sp>
          <p:nvSpPr>
            <p:cNvPr id="33" name="矩形 32"/>
            <p:cNvSpPr/>
            <p:nvPr/>
          </p:nvSpPr>
          <p:spPr>
            <a:xfrm>
              <a:off x="2162907" y="2556567"/>
              <a:ext cx="4995941" cy="548348"/>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latin typeface="微软雅黑" panose="020B0503020204020204" pitchFamily="34" charset="-122"/>
                <a:ea typeface="微软雅黑" panose="020B0503020204020204" pitchFamily="34" charset="-122"/>
              </a:endParaRPr>
            </a:p>
          </p:txBody>
        </p:sp>
        <p:grpSp>
          <p:nvGrpSpPr>
            <p:cNvPr id="16" name="组合 15"/>
            <p:cNvGrpSpPr/>
            <p:nvPr/>
          </p:nvGrpSpPr>
          <p:grpSpPr>
            <a:xfrm>
              <a:off x="2682910" y="2629828"/>
              <a:ext cx="3959051" cy="411982"/>
              <a:chOff x="1748413" y="2421653"/>
              <a:chExt cx="3959051" cy="411982"/>
            </a:xfrm>
          </p:grpSpPr>
          <p:sp>
            <p:nvSpPr>
              <p:cNvPr id="15" name="矩形 14"/>
              <p:cNvSpPr/>
              <p:nvPr/>
            </p:nvSpPr>
            <p:spPr>
              <a:xfrm>
                <a:off x="1748413" y="2421653"/>
                <a:ext cx="994787" cy="411982"/>
              </a:xfrm>
              <a:prstGeom prst="rect">
                <a:avLst/>
              </a:prstGeom>
              <a:solidFill>
                <a:srgbClr val="0080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IP </a:t>
                </a:r>
                <a:r>
                  <a:rPr lang="zh-CN" altLang="en-US" sz="1200" b="1" dirty="0">
                    <a:latin typeface="微软雅黑" panose="020B0503020204020204" pitchFamily="34" charset="-122"/>
                    <a:ea typeface="微软雅黑" panose="020B0503020204020204" pitchFamily="34" charset="-122"/>
                  </a:rPr>
                  <a:t>首部</a:t>
                </a:r>
              </a:p>
            </p:txBody>
          </p:sp>
          <p:sp>
            <p:nvSpPr>
              <p:cNvPr id="17" name="矩形 16"/>
              <p:cNvSpPr/>
              <p:nvPr/>
            </p:nvSpPr>
            <p:spPr>
              <a:xfrm>
                <a:off x="2743196" y="2421653"/>
                <a:ext cx="994787" cy="411982"/>
              </a:xfrm>
              <a:prstGeom prst="rect">
                <a:avLst/>
              </a:prstGeom>
              <a:solidFill>
                <a:srgbClr val="00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TCP </a:t>
                </a:r>
                <a:r>
                  <a:rPr lang="zh-CN" altLang="en-US" sz="1200" b="1" dirty="0">
                    <a:latin typeface="微软雅黑" panose="020B0503020204020204" pitchFamily="34" charset="-122"/>
                    <a:ea typeface="微软雅黑" panose="020B0503020204020204" pitchFamily="34" charset="-122"/>
                  </a:rPr>
                  <a:t>首部</a:t>
                </a:r>
              </a:p>
            </p:txBody>
          </p:sp>
          <p:sp>
            <p:nvSpPr>
              <p:cNvPr id="18" name="矩形 17"/>
              <p:cNvSpPr/>
              <p:nvPr/>
            </p:nvSpPr>
            <p:spPr>
              <a:xfrm>
                <a:off x="3737983" y="2421653"/>
                <a:ext cx="1969481" cy="411982"/>
              </a:xfrm>
              <a:prstGeom prst="rect">
                <a:avLst/>
              </a:prstGeom>
              <a:solidFill>
                <a:srgbClr val="9933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数据</a:t>
                </a:r>
              </a:p>
            </p:txBody>
          </p:sp>
        </p:grpSp>
        <p:cxnSp>
          <p:nvCxnSpPr>
            <p:cNvPr id="23" name="直接箭头连接符 22"/>
            <p:cNvCxnSpPr/>
            <p:nvPr/>
          </p:nvCxnSpPr>
          <p:spPr>
            <a:xfrm>
              <a:off x="3677693" y="2394323"/>
              <a:ext cx="2964268" cy="0"/>
            </a:xfrm>
            <a:prstGeom prst="straightConnector1">
              <a:avLst/>
            </a:prstGeom>
            <a:ln w="12700">
              <a:solidFill>
                <a:srgbClr val="CC00CC"/>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4" name="Rectangle 4"/>
            <p:cNvSpPr>
              <a:spLocks noChangeArrowheads="1"/>
            </p:cNvSpPr>
            <p:nvPr/>
          </p:nvSpPr>
          <p:spPr bwMode="auto">
            <a:xfrm>
              <a:off x="4627267" y="2208572"/>
              <a:ext cx="1135465"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 </a:t>
              </a:r>
              <a:r>
                <a:rPr kumimoji="1" lang="zh-CN" altLang="en-US" sz="1200" b="1" dirty="0">
                  <a:solidFill>
                    <a:srgbClr val="CC00CC"/>
                  </a:solidFill>
                  <a:latin typeface="微软雅黑" pitchFamily="34" charset="-122"/>
                  <a:ea typeface="微软雅黑" pitchFamily="34" charset="-122"/>
                </a:rPr>
                <a:t>报文段</a:t>
              </a:r>
            </a:p>
          </p:txBody>
        </p:sp>
        <p:cxnSp>
          <p:nvCxnSpPr>
            <p:cNvPr id="26" name="直接箭头连接符 25"/>
            <p:cNvCxnSpPr/>
            <p:nvPr/>
          </p:nvCxnSpPr>
          <p:spPr>
            <a:xfrm>
              <a:off x="4662435" y="3319097"/>
              <a:ext cx="1979526" cy="0"/>
            </a:xfrm>
            <a:prstGeom prst="straightConnector1">
              <a:avLst/>
            </a:prstGeom>
            <a:ln w="12700">
              <a:solidFill>
                <a:srgbClr val="C00000"/>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7" name="Rectangle 4"/>
            <p:cNvSpPr>
              <a:spLocks noChangeArrowheads="1"/>
            </p:cNvSpPr>
            <p:nvPr/>
          </p:nvSpPr>
          <p:spPr bwMode="auto">
            <a:xfrm>
              <a:off x="5293193" y="3153442"/>
              <a:ext cx="615237"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00000"/>
                  </a:solidFill>
                  <a:latin typeface="微软雅黑" pitchFamily="34" charset="-122"/>
                  <a:ea typeface="微软雅黑" pitchFamily="34" charset="-122"/>
                </a:rPr>
                <a:t>MSS</a:t>
              </a:r>
              <a:endParaRPr kumimoji="1" lang="zh-CN" altLang="en-US" sz="1200" b="1" dirty="0">
                <a:solidFill>
                  <a:srgbClr val="C00000"/>
                </a:solidFill>
                <a:latin typeface="微软雅黑" pitchFamily="34" charset="-122"/>
                <a:ea typeface="微软雅黑" pitchFamily="34" charset="-122"/>
              </a:endParaRPr>
            </a:p>
          </p:txBody>
        </p:sp>
        <p:cxnSp>
          <p:nvCxnSpPr>
            <p:cNvPr id="29" name="直接箭头连接符 28"/>
            <p:cNvCxnSpPr/>
            <p:nvPr/>
          </p:nvCxnSpPr>
          <p:spPr>
            <a:xfrm>
              <a:off x="2682910" y="3493864"/>
              <a:ext cx="3959051" cy="0"/>
            </a:xfrm>
            <a:prstGeom prst="straightConnector1">
              <a:avLst/>
            </a:prstGeom>
            <a:ln w="19050">
              <a:solidFill>
                <a:schemeClr val="tx1"/>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30" name="Rectangle 4"/>
            <p:cNvSpPr>
              <a:spLocks noChangeArrowheads="1"/>
            </p:cNvSpPr>
            <p:nvPr/>
          </p:nvSpPr>
          <p:spPr bwMode="auto">
            <a:xfrm>
              <a:off x="3891935" y="3336547"/>
              <a:ext cx="64243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latin typeface="微软雅黑" pitchFamily="34" charset="-122"/>
                  <a:ea typeface="微软雅黑" pitchFamily="34" charset="-122"/>
                </a:rPr>
                <a:t>MTU</a:t>
              </a:r>
              <a:endParaRPr kumimoji="1" lang="zh-CN" altLang="en-US" sz="1200" b="1" dirty="0">
                <a:latin typeface="微软雅黑" pitchFamily="34" charset="-122"/>
                <a:ea typeface="微软雅黑" pitchFamily="34" charset="-122"/>
              </a:endParaRPr>
            </a:p>
          </p:txBody>
        </p:sp>
        <p:cxnSp>
          <p:nvCxnSpPr>
            <p:cNvPr id="20" name="直接箭头连接符 19"/>
            <p:cNvCxnSpPr/>
            <p:nvPr/>
          </p:nvCxnSpPr>
          <p:spPr>
            <a:xfrm>
              <a:off x="2682910" y="2213698"/>
              <a:ext cx="3959051" cy="0"/>
            </a:xfrm>
            <a:prstGeom prst="straightConnector1">
              <a:avLst/>
            </a:prstGeom>
            <a:ln w="12700">
              <a:solidFill>
                <a:srgbClr val="000099"/>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2" name="Rectangle 4"/>
            <p:cNvSpPr>
              <a:spLocks noChangeArrowheads="1"/>
            </p:cNvSpPr>
            <p:nvPr/>
          </p:nvSpPr>
          <p:spPr bwMode="auto">
            <a:xfrm>
              <a:off x="3711821" y="2056381"/>
              <a:ext cx="95459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数据报</a:t>
              </a:r>
            </a:p>
          </p:txBody>
        </p:sp>
      </p:grpSp>
      <p:sp>
        <p:nvSpPr>
          <p:cNvPr id="10" name="内容占位符 9">
            <a:extLst>
              <a:ext uri="{FF2B5EF4-FFF2-40B4-BE49-F238E27FC236}">
                <a16:creationId xmlns:a16="http://schemas.microsoft.com/office/drawing/2014/main" id="{131AC2E9-1868-4EB8-C3DB-B0EC2E8CF6B9}"/>
              </a:ext>
            </a:extLst>
          </p:cNvPr>
          <p:cNvSpPr>
            <a:spLocks noGrp="1"/>
          </p:cNvSpPr>
          <p:nvPr>
            <p:ph sz="quarter" idx="11"/>
          </p:nvPr>
        </p:nvSpPr>
        <p:spPr>
          <a:xfrm>
            <a:off x="486000" y="900000"/>
            <a:ext cx="8172000" cy="3703500"/>
          </a:xfrm>
        </p:spPr>
        <p:txBody>
          <a:bodyPr/>
          <a:lstStyle/>
          <a:p>
            <a:r>
              <a:rPr lang="zh-CN" altLang="en-US" dirty="0"/>
              <a:t>最大报文段长度 </a:t>
            </a:r>
            <a:r>
              <a:rPr lang="en-US" altLang="zh-CN" dirty="0"/>
              <a:t>MSS  (Maximum Segment Size) </a:t>
            </a:r>
            <a:r>
              <a:rPr lang="zh-CN" altLang="en-US" dirty="0"/>
              <a:t>是每个 </a:t>
            </a:r>
            <a:r>
              <a:rPr lang="en-US" altLang="zh-CN" dirty="0"/>
              <a:t>TCP </a:t>
            </a:r>
            <a:r>
              <a:rPr lang="zh-CN" altLang="en-US" dirty="0"/>
              <a:t>报文段中的数据字段的最大长度。</a:t>
            </a:r>
            <a:endParaRPr lang="en-US" altLang="zh-CN" dirty="0"/>
          </a:p>
          <a:p>
            <a:r>
              <a:rPr lang="zh-CN" altLang="en-US" dirty="0"/>
              <a:t>与接收窗口值没有关系。</a:t>
            </a:r>
            <a:endParaRPr lang="en-US" altLang="zh-CN" dirty="0"/>
          </a:p>
          <a:p>
            <a:endParaRPr lang="zh-CN" altLang="en-US" dirty="0"/>
          </a:p>
        </p:txBody>
      </p:sp>
      <p:sp>
        <p:nvSpPr>
          <p:cNvPr id="9" name="标题 8">
            <a:extLst>
              <a:ext uri="{FF2B5EF4-FFF2-40B4-BE49-F238E27FC236}">
                <a16:creationId xmlns:a16="http://schemas.microsoft.com/office/drawing/2014/main" id="{80A31EC4-9590-2616-AF18-805513482DF4}"/>
              </a:ext>
            </a:extLst>
          </p:cNvPr>
          <p:cNvSpPr>
            <a:spLocks noGrp="1"/>
          </p:cNvSpPr>
          <p:nvPr>
            <p:ph type="title"/>
          </p:nvPr>
        </p:nvSpPr>
        <p:spPr>
          <a:xfrm>
            <a:off x="486000" y="550723"/>
            <a:ext cx="8172000" cy="338554"/>
          </a:xfrm>
        </p:spPr>
        <p:txBody>
          <a:bodyPr/>
          <a:lstStyle/>
          <a:p>
            <a:r>
              <a:rPr lang="zh-CN" altLang="en-US" dirty="0"/>
              <a:t>选项（</a:t>
            </a:r>
            <a:r>
              <a:rPr lang="en-US" altLang="zh-CN" dirty="0"/>
              <a:t>2</a:t>
            </a:r>
            <a:r>
              <a:rPr lang="zh-CN" altLang="en-US" dirty="0"/>
              <a:t>）：最大报文段长度 </a:t>
            </a:r>
            <a:r>
              <a:rPr lang="en-US" altLang="zh-CN" dirty="0"/>
              <a:t>MSS</a:t>
            </a:r>
            <a:endParaRPr lang="zh-CN" altLang="en-US" dirty="0"/>
          </a:p>
        </p:txBody>
      </p:sp>
    </p:spTree>
    <p:extLst>
      <p:ext uri="{BB962C8B-B14F-4D97-AF65-F5344CB8AC3E}">
        <p14:creationId xmlns:p14="http://schemas.microsoft.com/office/powerpoint/2010/main" val="37172434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556963" y="1280202"/>
            <a:ext cx="7992748" cy="2497978"/>
            <a:chOff x="799560" y="1280202"/>
            <a:chExt cx="7620959" cy="2497978"/>
          </a:xfrm>
        </p:grpSpPr>
        <p:sp>
          <p:nvSpPr>
            <p:cNvPr id="9" name="任意多边形 8"/>
            <p:cNvSpPr/>
            <p:nvPr/>
          </p:nvSpPr>
          <p:spPr>
            <a:xfrm>
              <a:off x="799560"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不能太小</a:t>
              </a:r>
            </a:p>
          </p:txBody>
        </p:sp>
        <p:sp>
          <p:nvSpPr>
            <p:cNvPr id="10" name="任意多边形 9"/>
            <p:cNvSpPr/>
            <p:nvPr/>
          </p:nvSpPr>
          <p:spPr>
            <a:xfrm>
              <a:off x="799560"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网络利用率降低。</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例如：仅 </a:t>
              </a:r>
              <a:r>
                <a:rPr lang="en-US" altLang="zh-CN" sz="1400" b="1" kern="1200" dirty="0">
                  <a:latin typeface="微软雅黑" panose="020B0503020204020204" pitchFamily="34" charset="-122"/>
                  <a:ea typeface="微软雅黑" panose="020B0503020204020204" pitchFamily="34" charset="-122"/>
                </a:rPr>
                <a:t>1 </a:t>
              </a:r>
              <a:r>
                <a:rPr lang="zh-CN" altLang="en-US" sz="1400" b="1" kern="1200" dirty="0">
                  <a:latin typeface="微软雅黑" panose="020B0503020204020204" pitchFamily="34" charset="-122"/>
                  <a:ea typeface="微软雅黑" panose="020B0503020204020204" pitchFamily="34" charset="-122"/>
                </a:rPr>
                <a:t>个字节。利用率就不会超过</a:t>
              </a:r>
              <a:r>
                <a:rPr lang="en-US" altLang="en-US" sz="1400" b="1" kern="1200" dirty="0">
                  <a:latin typeface="微软雅黑" panose="020B0503020204020204" pitchFamily="34" charset="-122"/>
                  <a:ea typeface="微软雅黑" panose="020B0503020204020204" pitchFamily="34" charset="-122"/>
                </a:rPr>
                <a:t>1/41</a:t>
              </a:r>
              <a:r>
                <a:rPr lang="zh-CN" altLang="en-US" sz="1400" b="1" kern="1200" dirty="0">
                  <a:latin typeface="微软雅黑" panose="020B0503020204020204" pitchFamily="34" charset="-122"/>
                  <a:ea typeface="微软雅黑" panose="020B0503020204020204" pitchFamily="34" charset="-122"/>
                </a:rPr>
                <a:t>。</a:t>
              </a:r>
            </a:p>
          </p:txBody>
        </p:sp>
        <p:sp>
          <p:nvSpPr>
            <p:cNvPr id="11" name="任意多边形 10"/>
            <p:cNvSpPr/>
            <p:nvPr/>
          </p:nvSpPr>
          <p:spPr>
            <a:xfrm>
              <a:off x="3333038"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不能太大</a:t>
              </a:r>
            </a:p>
          </p:txBody>
        </p:sp>
        <p:sp>
          <p:nvSpPr>
            <p:cNvPr id="12" name="任意多边形 11"/>
            <p:cNvSpPr/>
            <p:nvPr/>
          </p:nvSpPr>
          <p:spPr>
            <a:xfrm>
              <a:off x="3333038"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开销增大。</a:t>
              </a:r>
            </a:p>
            <a:p>
              <a:pPr marL="114300" lvl="1" indent="-114300" algn="l" defTabSz="533400">
                <a:lnSpc>
                  <a:spcPts val="2400"/>
                </a:lnSpc>
                <a:spcBef>
                  <a:spcPct val="0"/>
                </a:spcBef>
                <a:spcAft>
                  <a:spcPts val="0"/>
                </a:spcAft>
                <a:buChar char="••"/>
              </a:pP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层传输时要分片，终点要装配。</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分片传输出错时，要整个分组。</a:t>
              </a:r>
            </a:p>
          </p:txBody>
        </p:sp>
        <p:sp>
          <p:nvSpPr>
            <p:cNvPr id="13" name="任意多边形 12"/>
            <p:cNvSpPr/>
            <p:nvPr/>
          </p:nvSpPr>
          <p:spPr>
            <a:xfrm>
              <a:off x="5866519" y="1280202"/>
              <a:ext cx="2554000"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chemeClr val="bg1"/>
                  </a:solidFill>
                  <a:latin typeface="微软雅黑" panose="020B0503020204020204" pitchFamily="34" charset="-122"/>
                  <a:ea typeface="微软雅黑" panose="020B0503020204020204" pitchFamily="34" charset="-122"/>
                </a:rPr>
                <a:t>应尽可能大</a:t>
              </a:r>
            </a:p>
          </p:txBody>
        </p:sp>
        <p:sp>
          <p:nvSpPr>
            <p:cNvPr id="14" name="任意多边形 13"/>
            <p:cNvSpPr/>
            <p:nvPr/>
          </p:nvSpPr>
          <p:spPr>
            <a:xfrm>
              <a:off x="5866519" y="1691519"/>
              <a:ext cx="2554000"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只要在 </a:t>
              </a: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层传输时不再分片。</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默认值</a:t>
              </a:r>
              <a:r>
                <a:rPr lang="en-US" altLang="zh-CN"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zh-CN" altLang="en-US" sz="1400" b="1" kern="1200" dirty="0">
                  <a:solidFill>
                    <a:srgbClr val="C00000"/>
                  </a:solidFill>
                  <a:latin typeface="微软雅黑" panose="020B0503020204020204" pitchFamily="34" charset="-122"/>
                  <a:ea typeface="微软雅黑" panose="020B0503020204020204" pitchFamily="34" charset="-122"/>
                </a:rPr>
                <a:t>报文段长度 </a:t>
              </a:r>
              <a:r>
                <a:rPr lang="en-US" altLang="zh-CN" sz="1400" b="1" kern="1200" dirty="0">
                  <a:latin typeface="微软雅黑" panose="020B0503020204020204" pitchFamily="34" charset="-122"/>
                  <a:ea typeface="微软雅黑" panose="020B0503020204020204" pitchFamily="34" charset="-122"/>
                </a:rPr>
                <a:t>=</a:t>
              </a:r>
              <a:r>
                <a:rPr lang="zh-CN" altLang="en-US"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en-US" altLang="zh-CN" sz="1400" b="1" kern="1200" dirty="0">
                  <a:latin typeface="微软雅黑" panose="020B0503020204020204" pitchFamily="34" charset="-122"/>
                  <a:ea typeface="微软雅黑" panose="020B0503020204020204" pitchFamily="34" charset="-122"/>
                </a:rPr>
                <a:t>+</a:t>
              </a:r>
              <a:r>
                <a:rPr lang="en-US" altLang="en-US" sz="1400" b="1" kern="1200" dirty="0">
                  <a:latin typeface="微软雅黑" panose="020B0503020204020204" pitchFamily="34" charset="-122"/>
                  <a:ea typeface="微软雅黑" panose="020B0503020204020204" pitchFamily="34" charset="-122"/>
                </a:rPr>
                <a:t> 20 </a:t>
              </a:r>
              <a:r>
                <a:rPr lang="en-US" altLang="zh-CN" sz="1400" b="1" kern="1200" dirty="0">
                  <a:latin typeface="微软雅黑" panose="020B0503020204020204" pitchFamily="34" charset="-122"/>
                  <a:ea typeface="微软雅黑" panose="020B0503020204020204" pitchFamily="34" charset="-122"/>
                </a:rPr>
                <a:t>= 556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en-US" altLang="zh-CN" sz="1400" b="1" dirty="0">
                  <a:solidFill>
                    <a:srgbClr val="C00000"/>
                  </a:solidFill>
                  <a:latin typeface="微软雅黑" panose="020B0503020204020204" pitchFamily="34" charset="-122"/>
                  <a:ea typeface="微软雅黑" panose="020B0503020204020204" pitchFamily="34" charset="-122"/>
                </a:rPr>
                <a:t>IP </a:t>
              </a:r>
              <a:r>
                <a:rPr lang="zh-CN" altLang="en-US" sz="1400" b="1" dirty="0">
                  <a:solidFill>
                    <a:srgbClr val="C00000"/>
                  </a:solidFill>
                  <a:latin typeface="微软雅黑" panose="020B0503020204020204" pitchFamily="34" charset="-122"/>
                  <a:ea typeface="微软雅黑" panose="020B0503020204020204" pitchFamily="34" charset="-122"/>
                </a:rPr>
                <a:t>数据报长度 </a:t>
              </a:r>
              <a:r>
                <a:rPr lang="en-US" altLang="zh-CN" sz="1400" b="1" dirty="0">
                  <a:latin typeface="微软雅黑" panose="020B0503020204020204" pitchFamily="34" charset="-122"/>
                  <a:ea typeface="微软雅黑" panose="020B0503020204020204" pitchFamily="34" charset="-122"/>
                </a:rPr>
                <a:t>= 576 </a:t>
              </a:r>
              <a:r>
                <a:rPr lang="zh-CN" altLang="en-US" sz="1400" b="1" dirty="0">
                  <a:latin typeface="微软雅黑" panose="020B0503020204020204" pitchFamily="34" charset="-122"/>
                  <a:ea typeface="微软雅黑" panose="020B0503020204020204" pitchFamily="34" charset="-122"/>
                </a:rPr>
                <a:t>字节。</a:t>
              </a:r>
              <a:endParaRPr lang="zh-CN" altLang="en-US" sz="1400" b="1" kern="1200" dirty="0">
                <a:latin typeface="微软雅黑" panose="020B0503020204020204" pitchFamily="34" charset="-122"/>
                <a:ea typeface="微软雅黑" panose="020B0503020204020204" pitchFamily="34" charset="-122"/>
              </a:endParaRPr>
            </a:p>
          </p:txBody>
        </p:sp>
      </p:grpSp>
      <p:sp>
        <p:nvSpPr>
          <p:cNvPr id="4" name="标题 3">
            <a:extLst>
              <a:ext uri="{FF2B5EF4-FFF2-40B4-BE49-F238E27FC236}">
                <a16:creationId xmlns:a16="http://schemas.microsoft.com/office/drawing/2014/main" id="{4646C5FD-99D9-0421-C8B9-893FB939EEC4}"/>
              </a:ext>
            </a:extLst>
          </p:cNvPr>
          <p:cNvSpPr>
            <a:spLocks noGrp="1"/>
          </p:cNvSpPr>
          <p:nvPr>
            <p:ph type="title"/>
          </p:nvPr>
        </p:nvSpPr>
        <p:spPr>
          <a:xfrm>
            <a:off x="486000" y="550723"/>
            <a:ext cx="8172000" cy="338554"/>
          </a:xfrm>
        </p:spPr>
        <p:txBody>
          <a:bodyPr/>
          <a:lstStyle/>
          <a:p>
            <a:r>
              <a:rPr lang="zh-CN" altLang="en-US" dirty="0"/>
              <a:t>选项（</a:t>
            </a:r>
            <a:r>
              <a:rPr lang="en-US" altLang="zh-CN" dirty="0"/>
              <a:t>2</a:t>
            </a:r>
            <a:r>
              <a:rPr lang="zh-CN" altLang="en-US" dirty="0"/>
              <a:t>）：最大报文段长度 </a:t>
            </a:r>
            <a:r>
              <a:rPr lang="en-US" altLang="zh-CN" dirty="0"/>
              <a:t>MSS</a:t>
            </a:r>
          </a:p>
        </p:txBody>
      </p:sp>
    </p:spTree>
    <p:extLst>
      <p:ext uri="{BB962C8B-B14F-4D97-AF65-F5344CB8AC3E}">
        <p14:creationId xmlns:p14="http://schemas.microsoft.com/office/powerpoint/2010/main" val="28332606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1595338"/>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595338"/>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8" name="矩形 7"/>
          <p:cNvSpPr/>
          <p:nvPr/>
        </p:nvSpPr>
        <p:spPr>
          <a:xfrm>
            <a:off x="2402902" y="2205895"/>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911225"/>
            <a:ext cx="3852651" cy="201843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2927772" y="2245577"/>
            <a:ext cx="1692409" cy="179438"/>
            <a:chOff x="3217033" y="1975584"/>
            <a:chExt cx="1731485" cy="211386"/>
          </a:xfrm>
        </p:grpSpPr>
        <p:sp>
          <p:nvSpPr>
            <p:cNvPr id="12"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nvGrpSpPr>
        <p:grpSpPr>
          <a:xfrm>
            <a:off x="2883725" y="1897314"/>
            <a:ext cx="965479" cy="272078"/>
            <a:chOff x="3171969" y="1579654"/>
            <a:chExt cx="987771" cy="320520"/>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987771" cy="287034"/>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64 KB </a:t>
              </a:r>
              <a:r>
                <a:rPr lang="zh-CN" altLang="en-US" sz="1200" b="1" dirty="0">
                  <a:latin typeface="微软雅黑" panose="020B0503020204020204" pitchFamily="34" charset="-122"/>
                  <a:ea typeface="微软雅黑" panose="020B0503020204020204" pitchFamily="34" charset="-122"/>
                </a:rPr>
                <a:t>窗口</a:t>
              </a:r>
            </a:p>
          </p:txBody>
        </p:sp>
      </p:grpSp>
      <p:grpSp>
        <p:nvGrpSpPr>
          <p:cNvPr id="23" name="组合 22"/>
          <p:cNvGrpSpPr/>
          <p:nvPr/>
        </p:nvGrpSpPr>
        <p:grpSpPr>
          <a:xfrm>
            <a:off x="4244378" y="2616885"/>
            <a:ext cx="1692409" cy="179438"/>
            <a:chOff x="3217033" y="1975584"/>
            <a:chExt cx="1731485" cy="211386"/>
          </a:xfrm>
        </p:grpSpPr>
        <p:sp>
          <p:nvSpPr>
            <p:cNvPr id="24"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5"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6"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7"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28" name="直接箭头连接符 27"/>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5301798" y="2978735"/>
            <a:ext cx="1310628" cy="179438"/>
            <a:chOff x="5535041" y="2855264"/>
            <a:chExt cx="1340889" cy="211386"/>
          </a:xfrm>
        </p:grpSpPr>
        <p:sp>
          <p:nvSpPr>
            <p:cNvPr id="31" name="Rectangle 14"/>
            <p:cNvSpPr>
              <a:spLocks noChangeArrowheads="1"/>
            </p:cNvSpPr>
            <p:nvPr/>
          </p:nvSpPr>
          <p:spPr bwMode="auto">
            <a:xfrm>
              <a:off x="5535041"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2" name="Rectangle 15"/>
            <p:cNvSpPr>
              <a:spLocks noChangeArrowheads="1"/>
            </p:cNvSpPr>
            <p:nvPr/>
          </p:nvSpPr>
          <p:spPr bwMode="auto">
            <a:xfrm>
              <a:off x="5765307"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3" name="Rectangle 16"/>
            <p:cNvSpPr>
              <a:spLocks noChangeArrowheads="1"/>
            </p:cNvSpPr>
            <p:nvPr/>
          </p:nvSpPr>
          <p:spPr bwMode="auto">
            <a:xfrm>
              <a:off x="6004537"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4" name="Rectangle 17"/>
            <p:cNvSpPr>
              <a:spLocks noChangeArrowheads="1"/>
            </p:cNvSpPr>
            <p:nvPr/>
          </p:nvSpPr>
          <p:spPr bwMode="auto">
            <a:xfrm>
              <a:off x="6234803"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5" name="直接箭头连接符 34"/>
            <p:cNvCxnSpPr/>
            <p:nvPr/>
          </p:nvCxnSpPr>
          <p:spPr>
            <a:xfrm>
              <a:off x="6513490" y="2950527"/>
              <a:ext cx="362440"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组合 45"/>
          <p:cNvGrpSpPr/>
          <p:nvPr/>
        </p:nvGrpSpPr>
        <p:grpSpPr>
          <a:xfrm>
            <a:off x="5222917" y="3347206"/>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571027"/>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2" name="矩形 41"/>
          <p:cNvSpPr/>
          <p:nvPr/>
        </p:nvSpPr>
        <p:spPr>
          <a:xfrm>
            <a:off x="2402902" y="2936159"/>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3</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3" name="矩形 42"/>
          <p:cNvSpPr/>
          <p:nvPr/>
        </p:nvSpPr>
        <p:spPr>
          <a:xfrm>
            <a:off x="2402902" y="3325664"/>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4</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4" name="直接连接符 43"/>
          <p:cNvCxnSpPr/>
          <p:nvPr/>
        </p:nvCxnSpPr>
        <p:spPr>
          <a:xfrm>
            <a:off x="2823424" y="2463071"/>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823424" y="2830594"/>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8" name="直接连接符 47"/>
          <p:cNvCxnSpPr/>
          <p:nvPr/>
        </p:nvCxnSpPr>
        <p:spPr>
          <a:xfrm>
            <a:off x="2823424" y="3198117"/>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9" name="直接连接符 48"/>
          <p:cNvCxnSpPr/>
          <p:nvPr/>
        </p:nvCxnSpPr>
        <p:spPr>
          <a:xfrm>
            <a:off x="2823424" y="3565640"/>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6" name="内容占位符 5">
            <a:extLst>
              <a:ext uri="{FF2B5EF4-FFF2-40B4-BE49-F238E27FC236}">
                <a16:creationId xmlns:a16="http://schemas.microsoft.com/office/drawing/2014/main" id="{49D9B153-A0DF-608D-611D-28BDBE08EB8B}"/>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窗口字段长度</a:t>
            </a:r>
            <a:r>
              <a:rPr lang="en-US" altLang="zh-CN" dirty="0"/>
              <a:t>= 16 </a:t>
            </a:r>
            <a:r>
              <a:rPr lang="zh-CN" altLang="en-US" dirty="0"/>
              <a:t>位，最大窗口大小 </a:t>
            </a:r>
            <a:r>
              <a:rPr lang="en-US" altLang="zh-CN" dirty="0"/>
              <a:t>= 64 K </a:t>
            </a:r>
            <a:r>
              <a:rPr lang="zh-CN" altLang="en-US" dirty="0"/>
              <a:t>字节。</a:t>
            </a:r>
          </a:p>
          <a:p>
            <a:r>
              <a:rPr lang="zh-CN" altLang="en-US" dirty="0"/>
              <a:t>对于传播时延和带宽都很大的网络，为获得高吞吐率较，需要更大的窗口。</a:t>
            </a:r>
            <a:endParaRPr lang="en-US" altLang="zh-CN" dirty="0"/>
          </a:p>
          <a:p>
            <a:endParaRPr lang="zh-CN" altLang="en-US" dirty="0"/>
          </a:p>
        </p:txBody>
      </p:sp>
      <p:sp>
        <p:nvSpPr>
          <p:cNvPr id="17" name="标题 16">
            <a:extLst>
              <a:ext uri="{FF2B5EF4-FFF2-40B4-BE49-F238E27FC236}">
                <a16:creationId xmlns:a16="http://schemas.microsoft.com/office/drawing/2014/main" id="{45DAC475-8586-3973-2D53-246C7A7F1904}"/>
              </a:ext>
            </a:extLst>
          </p:cNvPr>
          <p:cNvSpPr>
            <a:spLocks noGrp="1"/>
          </p:cNvSpPr>
          <p:nvPr>
            <p:ph type="title"/>
          </p:nvPr>
        </p:nvSpPr>
        <p:spPr>
          <a:xfrm>
            <a:off x="486000" y="550723"/>
            <a:ext cx="8172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27090220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2448324"/>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2448324"/>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2764211"/>
            <a:ext cx="3852651" cy="144915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6" name="组合 5"/>
          <p:cNvGrpSpPr/>
          <p:nvPr/>
        </p:nvGrpSpPr>
        <p:grpSpPr>
          <a:xfrm>
            <a:off x="2402902" y="3424013"/>
            <a:ext cx="4227639" cy="297797"/>
            <a:chOff x="2402902" y="2086530"/>
            <a:chExt cx="4227639" cy="297797"/>
          </a:xfrm>
        </p:grpSpPr>
        <p:grpSp>
          <p:nvGrpSpPr>
            <p:cNvPr id="46" name="组合 45"/>
            <p:cNvGrpSpPr/>
            <p:nvPr/>
          </p:nvGrpSpPr>
          <p:grpSpPr>
            <a:xfrm>
              <a:off x="3723801" y="2136390"/>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4" name="组合 3"/>
          <p:cNvGrpSpPr/>
          <p:nvPr/>
        </p:nvGrpSpPr>
        <p:grpSpPr>
          <a:xfrm>
            <a:off x="2402902" y="2750301"/>
            <a:ext cx="5176253" cy="606377"/>
            <a:chOff x="2402902" y="1412818"/>
            <a:chExt cx="5176253" cy="606377"/>
          </a:xfrm>
        </p:grpSpPr>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12" name="Rectangle 14"/>
            <p:cNvSpPr>
              <a:spLocks noChangeArrowheads="1"/>
            </p:cNvSpPr>
            <p:nvPr/>
          </p:nvSpPr>
          <p:spPr bwMode="auto">
            <a:xfrm>
              <a:off x="292777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15407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38038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60668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6100839" y="1846125"/>
              <a:ext cx="365132"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883726" y="1412818"/>
              <a:ext cx="1082348" cy="276999"/>
              <a:chOff x="3171969" y="1579654"/>
              <a:chExt cx="1107338" cy="326317"/>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1107338" cy="326317"/>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256 KB </a:t>
                </a:r>
                <a:r>
                  <a:rPr lang="zh-CN" altLang="en-US" sz="1200" b="1" dirty="0">
                    <a:latin typeface="微软雅黑" panose="020B0503020204020204" pitchFamily="34" charset="-122"/>
                    <a:ea typeface="微软雅黑" panose="020B0503020204020204" pitchFamily="34" charset="-122"/>
                  </a:rPr>
                  <a:t>窗口</a:t>
                </a:r>
              </a:p>
            </p:txBody>
          </p:sp>
        </p:gr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45" name="Rectangle 14"/>
            <p:cNvSpPr>
              <a:spLocks noChangeArrowheads="1"/>
            </p:cNvSpPr>
            <p:nvPr/>
          </p:nvSpPr>
          <p:spPr bwMode="auto">
            <a:xfrm>
              <a:off x="3832988"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1" name="Rectangle 15"/>
            <p:cNvSpPr>
              <a:spLocks noChangeArrowheads="1"/>
            </p:cNvSpPr>
            <p:nvPr/>
          </p:nvSpPr>
          <p:spPr bwMode="auto">
            <a:xfrm>
              <a:off x="4059292"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3" name="Rectangle 16"/>
            <p:cNvSpPr>
              <a:spLocks noChangeArrowheads="1"/>
            </p:cNvSpPr>
            <p:nvPr/>
          </p:nvSpPr>
          <p:spPr bwMode="auto">
            <a:xfrm>
              <a:off x="4285596"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4" name="Rectangle 17"/>
            <p:cNvSpPr>
              <a:spLocks noChangeArrowheads="1"/>
            </p:cNvSpPr>
            <p:nvPr/>
          </p:nvSpPr>
          <p:spPr bwMode="auto">
            <a:xfrm>
              <a:off x="4511900"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5" name="Rectangle 14"/>
            <p:cNvSpPr>
              <a:spLocks noChangeArrowheads="1"/>
            </p:cNvSpPr>
            <p:nvPr/>
          </p:nvSpPr>
          <p:spPr bwMode="auto">
            <a:xfrm>
              <a:off x="4738204"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6" name="Rectangle 15"/>
            <p:cNvSpPr>
              <a:spLocks noChangeArrowheads="1"/>
            </p:cNvSpPr>
            <p:nvPr/>
          </p:nvSpPr>
          <p:spPr bwMode="auto">
            <a:xfrm>
              <a:off x="4964508"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8" name="Rectangle 16"/>
            <p:cNvSpPr>
              <a:spLocks noChangeArrowheads="1"/>
            </p:cNvSpPr>
            <p:nvPr/>
          </p:nvSpPr>
          <p:spPr bwMode="auto">
            <a:xfrm>
              <a:off x="519081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9" name="Rectangle 17"/>
            <p:cNvSpPr>
              <a:spLocks noChangeArrowheads="1"/>
            </p:cNvSpPr>
            <p:nvPr/>
          </p:nvSpPr>
          <p:spPr bwMode="auto">
            <a:xfrm>
              <a:off x="541711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0" name="Rectangle 14"/>
            <p:cNvSpPr>
              <a:spLocks noChangeArrowheads="1"/>
            </p:cNvSpPr>
            <p:nvPr/>
          </p:nvSpPr>
          <p:spPr bwMode="auto">
            <a:xfrm>
              <a:off x="564342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1" name="Rectangle 15"/>
            <p:cNvSpPr>
              <a:spLocks noChangeArrowheads="1"/>
            </p:cNvSpPr>
            <p:nvPr/>
          </p:nvSpPr>
          <p:spPr bwMode="auto">
            <a:xfrm>
              <a:off x="586972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2" name="Rectangle 16"/>
            <p:cNvSpPr>
              <a:spLocks noChangeArrowheads="1"/>
            </p:cNvSpPr>
            <p:nvPr/>
          </p:nvSpPr>
          <p:spPr bwMode="auto">
            <a:xfrm>
              <a:off x="6735823"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3" name="Rectangle 17"/>
            <p:cNvSpPr>
              <a:spLocks noChangeArrowheads="1"/>
            </p:cNvSpPr>
            <p:nvPr/>
          </p:nvSpPr>
          <p:spPr bwMode="auto">
            <a:xfrm>
              <a:off x="6962123"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4" name="Rectangle 16"/>
            <p:cNvSpPr>
              <a:spLocks noChangeArrowheads="1"/>
            </p:cNvSpPr>
            <p:nvPr/>
          </p:nvSpPr>
          <p:spPr bwMode="auto">
            <a:xfrm>
              <a:off x="7184671"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5" name="Rectangle 17"/>
            <p:cNvSpPr>
              <a:spLocks noChangeArrowheads="1"/>
            </p:cNvSpPr>
            <p:nvPr/>
          </p:nvSpPr>
          <p:spPr bwMode="auto">
            <a:xfrm>
              <a:off x="7410971"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6" name="矩形 65"/>
            <p:cNvSpPr/>
            <p:nvPr/>
          </p:nvSpPr>
          <p:spPr>
            <a:xfrm>
              <a:off x="6738818" y="1516713"/>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到达的</a:t>
              </a:r>
            </a:p>
          </p:txBody>
        </p:sp>
      </p:grpSp>
      <p:sp>
        <p:nvSpPr>
          <p:cNvPr id="23" name="内容占位符 22">
            <a:extLst>
              <a:ext uri="{FF2B5EF4-FFF2-40B4-BE49-F238E27FC236}">
                <a16:creationId xmlns:a16="http://schemas.microsoft.com/office/drawing/2014/main" id="{4E5927D9-6B9D-B3D7-A997-F8A996803AEE}"/>
              </a:ext>
            </a:extLst>
          </p:cNvPr>
          <p:cNvSpPr>
            <a:spLocks noGrp="1"/>
          </p:cNvSpPr>
          <p:nvPr>
            <p:ph sz="quarter" idx="11"/>
          </p:nvPr>
        </p:nvSpPr>
        <p:spPr>
          <a:xfrm>
            <a:off x="486000" y="900000"/>
            <a:ext cx="8172000" cy="3703500"/>
          </a:xfrm>
        </p:spPr>
        <p:txBody>
          <a:bodyPr/>
          <a:lstStyle/>
          <a:p>
            <a:r>
              <a:rPr lang="zh-CN" altLang="en-US" dirty="0"/>
              <a:t>窗口扩大选项：占 </a:t>
            </a:r>
            <a:r>
              <a:rPr lang="en-US" altLang="zh-CN" dirty="0"/>
              <a:t>3 </a:t>
            </a:r>
            <a:r>
              <a:rPr lang="zh-CN" altLang="en-US" dirty="0"/>
              <a:t>字节，其中一个字节表示移位值 </a:t>
            </a:r>
            <a:r>
              <a:rPr lang="en-US" altLang="zh-CN" dirty="0"/>
              <a:t>S</a:t>
            </a:r>
            <a:r>
              <a:rPr lang="zh-CN" altLang="en-US" dirty="0"/>
              <a:t>。</a:t>
            </a:r>
          </a:p>
          <a:p>
            <a:r>
              <a:rPr lang="zh-CN" altLang="en-US" dirty="0"/>
              <a:t>新的窗口值位数从 </a:t>
            </a:r>
            <a:r>
              <a:rPr lang="en-US" altLang="zh-CN" dirty="0"/>
              <a:t>16 </a:t>
            </a:r>
            <a:r>
              <a:rPr lang="zh-CN" altLang="en-US" dirty="0"/>
              <a:t>增大到 </a:t>
            </a:r>
            <a:r>
              <a:rPr lang="en-US" altLang="zh-CN" dirty="0"/>
              <a:t>(16 + S)</a:t>
            </a:r>
            <a:r>
              <a:rPr lang="zh-CN" altLang="en-US" dirty="0"/>
              <a:t>，相当于把窗口值向左移动 </a:t>
            </a:r>
            <a:r>
              <a:rPr lang="en-US" altLang="zh-CN" dirty="0"/>
              <a:t>S </a:t>
            </a:r>
            <a:r>
              <a:rPr lang="zh-CN" altLang="en-US" dirty="0"/>
              <a:t>位。</a:t>
            </a:r>
          </a:p>
          <a:p>
            <a:r>
              <a:rPr lang="zh-CN" altLang="en-US" dirty="0"/>
              <a:t>移位值允许使用的最大值是 </a:t>
            </a:r>
            <a:r>
              <a:rPr lang="en-US" altLang="zh-CN" dirty="0"/>
              <a:t>14</a:t>
            </a:r>
            <a:r>
              <a:rPr lang="zh-CN" altLang="en-US" dirty="0"/>
              <a:t>，窗口最大值增大到 </a:t>
            </a:r>
            <a:r>
              <a:rPr lang="en-US" altLang="zh-CN" dirty="0"/>
              <a:t>2(16 + 14) – 1 = 230 – 1</a:t>
            </a:r>
            <a:r>
              <a:rPr lang="zh-CN" altLang="en-US" dirty="0"/>
              <a:t>。</a:t>
            </a:r>
          </a:p>
          <a:p>
            <a:r>
              <a:rPr lang="zh-CN" altLang="en-US" dirty="0"/>
              <a:t>窗口扩大选项可以在双方初始建立 </a:t>
            </a:r>
            <a:r>
              <a:rPr lang="en-US" altLang="zh-CN" dirty="0"/>
              <a:t>TCP </a:t>
            </a:r>
            <a:r>
              <a:rPr lang="zh-CN" altLang="en-US" dirty="0"/>
              <a:t>连接时进行协商。</a:t>
            </a:r>
          </a:p>
          <a:p>
            <a:endParaRPr lang="zh-CN" altLang="en-US" dirty="0"/>
          </a:p>
        </p:txBody>
      </p:sp>
      <p:sp>
        <p:nvSpPr>
          <p:cNvPr id="22" name="标题 21">
            <a:extLst>
              <a:ext uri="{FF2B5EF4-FFF2-40B4-BE49-F238E27FC236}">
                <a16:creationId xmlns:a16="http://schemas.microsoft.com/office/drawing/2014/main" id="{49CE655C-EA57-AADF-E04E-F7747DC9B681}"/>
              </a:ext>
            </a:extLst>
          </p:cNvPr>
          <p:cNvSpPr>
            <a:spLocks noGrp="1"/>
          </p:cNvSpPr>
          <p:nvPr>
            <p:ph type="title"/>
          </p:nvPr>
        </p:nvSpPr>
        <p:spPr>
          <a:xfrm>
            <a:off x="486000" y="550723"/>
            <a:ext cx="8172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17109798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93243F9-CB86-CAD6-A80D-B97304FEF43E}"/>
              </a:ext>
            </a:extLst>
          </p:cNvPr>
          <p:cNvSpPr>
            <a:spLocks noGrp="1"/>
          </p:cNvSpPr>
          <p:nvPr>
            <p:ph sz="quarter" idx="11"/>
          </p:nvPr>
        </p:nvSpPr>
        <p:spPr>
          <a:xfrm>
            <a:off x="486000" y="900000"/>
            <a:ext cx="8172000" cy="3703500"/>
          </a:xfrm>
        </p:spPr>
        <p:txBody>
          <a:bodyPr/>
          <a:lstStyle/>
          <a:p>
            <a:r>
              <a:rPr lang="zh-CN" altLang="en-US" dirty="0"/>
              <a:t>占 </a:t>
            </a:r>
            <a:r>
              <a:rPr lang="en-US" altLang="zh-CN" dirty="0"/>
              <a:t>10 </a:t>
            </a:r>
            <a:r>
              <a:rPr lang="zh-CN" altLang="en-US" dirty="0"/>
              <a:t>字节。最主要的 </a:t>
            </a:r>
            <a:r>
              <a:rPr lang="en-US" altLang="zh-CN" dirty="0"/>
              <a:t>2 </a:t>
            </a:r>
            <a:r>
              <a:rPr lang="zh-CN" altLang="en-US" dirty="0"/>
              <a:t>个字段：</a:t>
            </a:r>
            <a:endParaRPr lang="en-US" altLang="zh-CN" dirty="0"/>
          </a:p>
          <a:p>
            <a:r>
              <a:rPr lang="zh-CN" altLang="en-US" dirty="0"/>
              <a:t>时间戳值字段（</a:t>
            </a:r>
            <a:r>
              <a:rPr lang="en-US" altLang="zh-CN" dirty="0"/>
              <a:t>4</a:t>
            </a:r>
            <a:r>
              <a:rPr lang="zh-CN" altLang="en-US" dirty="0"/>
              <a:t>字节）和时间戳回送回答字段（</a:t>
            </a:r>
            <a:r>
              <a:rPr lang="en-US" altLang="zh-CN" dirty="0"/>
              <a:t>4</a:t>
            </a:r>
            <a:r>
              <a:rPr lang="zh-CN" altLang="en-US" dirty="0"/>
              <a:t>字节）。</a:t>
            </a:r>
            <a:endParaRPr lang="en-US" altLang="zh-CN" dirty="0"/>
          </a:p>
          <a:p>
            <a:r>
              <a:rPr lang="en-US" altLang="zh-CN" dirty="0"/>
              <a:t>2 </a:t>
            </a:r>
            <a:r>
              <a:rPr lang="zh-CN" altLang="en-US" dirty="0"/>
              <a:t>个主要功能：</a:t>
            </a:r>
            <a:endParaRPr lang="en-US" altLang="zh-CN" dirty="0"/>
          </a:p>
          <a:p>
            <a:r>
              <a:rPr lang="zh-CN" altLang="en-US" dirty="0"/>
              <a:t>计算往返时间 </a:t>
            </a:r>
            <a:r>
              <a:rPr lang="en-US" altLang="zh-CN" dirty="0"/>
              <a:t>RTT</a:t>
            </a:r>
          </a:p>
          <a:p>
            <a:r>
              <a:rPr lang="zh-CN" altLang="en-US" dirty="0"/>
              <a:t>防止序号绕回 </a:t>
            </a:r>
            <a:r>
              <a:rPr lang="en-US" altLang="zh-CN" dirty="0"/>
              <a:t>PAWS (Protect Against Wrapped Sequence numbers)</a:t>
            </a:r>
            <a:r>
              <a:rPr lang="zh-CN" altLang="en-US" dirty="0"/>
              <a:t>。</a:t>
            </a:r>
            <a:endParaRPr lang="en-US" altLang="zh-CN" dirty="0"/>
          </a:p>
          <a:p>
            <a:pPr lvl="1"/>
            <a:r>
              <a:rPr lang="zh-CN" altLang="en-US" dirty="0"/>
              <a:t>序号重复时，为了使接收方能够把新报文段和迟到很久的旧报文段区分开，可以在报文段中加上时间戳。</a:t>
            </a:r>
            <a:endParaRPr lang="en-US" altLang="zh-CN" dirty="0"/>
          </a:p>
          <a:p>
            <a:endParaRPr lang="zh-CN" altLang="en-US" dirty="0"/>
          </a:p>
        </p:txBody>
      </p:sp>
      <p:sp>
        <p:nvSpPr>
          <p:cNvPr id="8" name="标题 7">
            <a:extLst>
              <a:ext uri="{FF2B5EF4-FFF2-40B4-BE49-F238E27FC236}">
                <a16:creationId xmlns:a16="http://schemas.microsoft.com/office/drawing/2014/main" id="{7B49C007-E943-212B-10E1-CA3E65F89013}"/>
              </a:ext>
            </a:extLst>
          </p:cNvPr>
          <p:cNvSpPr>
            <a:spLocks noGrp="1"/>
          </p:cNvSpPr>
          <p:nvPr>
            <p:ph type="title"/>
          </p:nvPr>
        </p:nvSpPr>
        <p:spPr>
          <a:xfrm>
            <a:off x="486000" y="550723"/>
            <a:ext cx="8172000" cy="338554"/>
          </a:xfrm>
        </p:spPr>
        <p:txBody>
          <a:bodyPr/>
          <a:lstStyle/>
          <a:p>
            <a:r>
              <a:rPr lang="zh-CN" altLang="en-US" dirty="0"/>
              <a:t>选项（</a:t>
            </a:r>
            <a:r>
              <a:rPr lang="en-US" altLang="zh-CN" dirty="0"/>
              <a:t>8</a:t>
            </a:r>
            <a:r>
              <a:rPr lang="zh-CN" altLang="en-US" dirty="0"/>
              <a:t>）：时间戳</a:t>
            </a:r>
          </a:p>
        </p:txBody>
      </p:sp>
    </p:spTree>
    <p:extLst>
      <p:ext uri="{BB962C8B-B14F-4D97-AF65-F5344CB8AC3E}">
        <p14:creationId xmlns:p14="http://schemas.microsoft.com/office/powerpoint/2010/main" val="106298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p:cNvSpPr>
            <a:spLocks noChangeArrowheads="1"/>
          </p:cNvSpPr>
          <p:nvPr/>
        </p:nvSpPr>
        <p:spPr bwMode="auto">
          <a:xfrm>
            <a:off x="2629135" y="252922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072922"/>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5.6.1                          </a:t>
            </a:r>
            <a:r>
              <a:rPr lang="zh-CN" altLang="en-US" sz="2000" b="1" dirty="0">
                <a:solidFill>
                  <a:schemeClr val="bg1"/>
                </a:solidFill>
                <a:latin typeface="微软雅黑" pitchFamily="34" charset="-122"/>
                <a:ea typeface="微软雅黑" pitchFamily="34" charset="-122"/>
              </a:rPr>
              <a:t>以字节为单位的滑动窗口</a:t>
            </a:r>
          </a:p>
          <a:p>
            <a:pPr eaLnBrk="0" hangingPunct="0">
              <a:lnSpc>
                <a:spcPct val="200000"/>
              </a:lnSpc>
            </a:pPr>
            <a:r>
              <a:rPr lang="en-US" altLang="zh-CN" sz="2000" b="1" dirty="0">
                <a:solidFill>
                  <a:schemeClr val="bg1"/>
                </a:solidFill>
                <a:latin typeface="微软雅黑" pitchFamily="34" charset="-122"/>
                <a:ea typeface="微软雅黑" pitchFamily="34" charset="-122"/>
              </a:rPr>
              <a:t>5.6.2                                 </a:t>
            </a:r>
            <a:r>
              <a:rPr lang="zh-CN" altLang="en-US" sz="2000" b="1" dirty="0">
                <a:solidFill>
                  <a:schemeClr val="bg1"/>
                </a:solidFill>
                <a:latin typeface="微软雅黑" pitchFamily="34" charset="-122"/>
                <a:ea typeface="微软雅黑" pitchFamily="34" charset="-122"/>
              </a:rPr>
              <a:t>超时重传时间的选择  </a:t>
            </a:r>
          </a:p>
          <a:p>
            <a:pPr eaLnBrk="0" hangingPunct="0">
              <a:lnSpc>
                <a:spcPct val="200000"/>
              </a:lnSpc>
            </a:pPr>
            <a:r>
              <a:rPr lang="en-US" altLang="zh-CN" sz="2000" b="1" dirty="0">
                <a:solidFill>
                  <a:schemeClr val="bg1"/>
                </a:solidFill>
                <a:latin typeface="微软雅黑" pitchFamily="34" charset="-122"/>
                <a:ea typeface="微软雅黑" pitchFamily="34" charset="-122"/>
              </a:rPr>
              <a:t>5.6.3                                       </a:t>
            </a:r>
            <a:r>
              <a:rPr lang="zh-CN" altLang="en-US" sz="2000" b="1" dirty="0">
                <a:solidFill>
                  <a:schemeClr val="bg1"/>
                </a:solidFill>
                <a:latin typeface="微软雅黑" pitchFamily="34" charset="-122"/>
                <a:ea typeface="微软雅黑" pitchFamily="34" charset="-122"/>
              </a:rPr>
              <a:t>选择确认 </a:t>
            </a:r>
            <a:r>
              <a:rPr lang="en-US" altLang="zh-CN" sz="2000" b="1" dirty="0">
                <a:solidFill>
                  <a:schemeClr val="bg1"/>
                </a:solidFill>
                <a:latin typeface="微软雅黑" pitchFamily="34" charset="-122"/>
                <a:ea typeface="微软雅黑" pitchFamily="34" charset="-122"/>
              </a:rPr>
              <a:t>SACK</a:t>
            </a:r>
          </a:p>
        </p:txBody>
      </p:sp>
      <p:sp>
        <p:nvSpPr>
          <p:cNvPr id="11"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2"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5.6</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可靠传输的实现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B644019-AF70-0851-831A-ECB7EDA9D8C8}"/>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使用流水线传输和滑动窗口协议实现高效、可靠的传输。</a:t>
            </a:r>
            <a:endParaRPr lang="en-US" altLang="zh-CN" dirty="0"/>
          </a:p>
          <a:p>
            <a:r>
              <a:rPr lang="en-US" altLang="zh-CN" dirty="0"/>
              <a:t>TCP </a:t>
            </a:r>
            <a:r>
              <a:rPr lang="zh-CN" altLang="en-US" dirty="0"/>
              <a:t>的滑动窗口是以字节为单位的。</a:t>
            </a:r>
            <a:endParaRPr lang="en-US" altLang="zh-CN" dirty="0"/>
          </a:p>
          <a:p>
            <a:r>
              <a:rPr lang="zh-CN" altLang="en-US" dirty="0"/>
              <a:t>发送方 </a:t>
            </a:r>
            <a:r>
              <a:rPr lang="en-US" altLang="zh-CN" dirty="0"/>
              <a:t>A </a:t>
            </a:r>
            <a:r>
              <a:rPr lang="zh-CN" altLang="en-US" dirty="0"/>
              <a:t>和接收方 </a:t>
            </a:r>
            <a:r>
              <a:rPr lang="en-US" altLang="zh-CN" dirty="0"/>
              <a:t>B </a:t>
            </a:r>
            <a:r>
              <a:rPr lang="zh-CN" altLang="en-US" dirty="0"/>
              <a:t>分别维持一个发送窗口和一个接收窗口。</a:t>
            </a:r>
            <a:endParaRPr lang="en-US" altLang="zh-CN" dirty="0"/>
          </a:p>
          <a:p>
            <a:r>
              <a:rPr lang="zh-CN" altLang="en-US" dirty="0"/>
              <a:t>发送窗口：在没有收到确认的情况下，发送方可以连续把窗口内的数据全部发送出去。凡是已经发送过的数据，在未收到确认之前都必须暂时保留，以便在超时重传时使用。</a:t>
            </a:r>
            <a:endParaRPr lang="en-US" altLang="zh-CN" dirty="0"/>
          </a:p>
          <a:p>
            <a:r>
              <a:rPr lang="zh-CN" altLang="en-US" dirty="0"/>
              <a:t>接收窗口：只允许接收落入窗口内的数据。</a:t>
            </a:r>
            <a:endParaRPr lang="en-US" altLang="zh-CN" dirty="0"/>
          </a:p>
          <a:p>
            <a:endParaRPr lang="zh-CN" altLang="en-US" dirty="0"/>
          </a:p>
        </p:txBody>
      </p:sp>
      <p:sp>
        <p:nvSpPr>
          <p:cNvPr id="3" name="标题 2">
            <a:extLst>
              <a:ext uri="{FF2B5EF4-FFF2-40B4-BE49-F238E27FC236}">
                <a16:creationId xmlns:a16="http://schemas.microsoft.com/office/drawing/2014/main" id="{34799894-B7D1-1D8A-28B5-7512C748674A}"/>
              </a:ext>
            </a:extLst>
          </p:cNvPr>
          <p:cNvSpPr>
            <a:spLocks noGrp="1"/>
          </p:cNvSpPr>
          <p:nvPr>
            <p:ph type="title"/>
          </p:nvPr>
        </p:nvSpPr>
        <p:spPr>
          <a:xfrm>
            <a:off x="486000" y="550723"/>
            <a:ext cx="8172000" cy="338554"/>
          </a:xfrm>
        </p:spPr>
        <p:txBody>
          <a:bodyPr/>
          <a:lstStyle/>
          <a:p>
            <a:r>
              <a:rPr lang="en-US" altLang="zh-CN" dirty="0"/>
              <a:t>5.6.1   </a:t>
            </a:r>
            <a:r>
              <a:rPr lang="zh-CN" altLang="en-US" dirty="0"/>
              <a:t>以字节为单位的滑动窗口</a:t>
            </a:r>
          </a:p>
        </p:txBody>
      </p:sp>
    </p:spTree>
    <p:extLst>
      <p:ext uri="{BB962C8B-B14F-4D97-AF65-F5344CB8AC3E}">
        <p14:creationId xmlns:p14="http://schemas.microsoft.com/office/powerpoint/2010/main" val="1734470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50043"/>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7" name="Text Box 4"/>
          <p:cNvSpPr txBox="1">
            <a:spLocks noChangeArrowheads="1"/>
          </p:cNvSpPr>
          <p:nvPr/>
        </p:nvSpPr>
        <p:spPr bwMode="auto">
          <a:xfrm>
            <a:off x="7153966" y="263230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AutoShape 6"/>
          <p:cNvSpPr>
            <a:spLocks noChangeArrowheads="1"/>
          </p:cNvSpPr>
          <p:nvPr/>
        </p:nvSpPr>
        <p:spPr bwMode="auto">
          <a:xfrm flipH="1">
            <a:off x="6349885" y="271475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0" name="AutoShape 7"/>
          <p:cNvSpPr>
            <a:spLocks noChangeArrowheads="1"/>
          </p:cNvSpPr>
          <p:nvPr/>
        </p:nvSpPr>
        <p:spPr bwMode="auto">
          <a:xfrm>
            <a:off x="2146903"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1" name="Text Box 8"/>
          <p:cNvSpPr txBox="1">
            <a:spLocks noChangeArrowheads="1"/>
          </p:cNvSpPr>
          <p:nvPr/>
        </p:nvSpPr>
        <p:spPr bwMode="auto">
          <a:xfrm>
            <a:off x="6714887" y="3517616"/>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8209"/>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63511"/>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5170"/>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31254"/>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7306"/>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17" name="Rectangle 14"/>
          <p:cNvSpPr>
            <a:spLocks noChangeArrowheads="1"/>
          </p:cNvSpPr>
          <p:nvPr/>
        </p:nvSpPr>
        <p:spPr bwMode="auto">
          <a:xfrm>
            <a:off x="1034796" y="324613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324496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324380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324263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29</a:t>
            </a:r>
          </a:p>
        </p:txBody>
      </p:sp>
      <p:sp>
        <p:nvSpPr>
          <p:cNvPr id="21" name="Rectangle 18"/>
          <p:cNvSpPr>
            <a:spLocks noChangeArrowheads="1"/>
          </p:cNvSpPr>
          <p:nvPr/>
        </p:nvSpPr>
        <p:spPr bwMode="auto">
          <a:xfrm>
            <a:off x="1955859" y="324146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sp>
        <p:nvSpPr>
          <p:cNvPr id="22" name="Rectangle 19"/>
          <p:cNvSpPr>
            <a:spLocks noChangeArrowheads="1"/>
          </p:cNvSpPr>
          <p:nvPr/>
        </p:nvSpPr>
        <p:spPr bwMode="auto">
          <a:xfrm>
            <a:off x="2186124" y="324029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913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796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679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562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3445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33289"/>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3212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3095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978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861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7451"/>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6282"/>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511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2394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2277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2161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2044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927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810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sp>
        <p:nvSpPr>
          <p:cNvPr id="42" name="Rectangle 39"/>
          <p:cNvSpPr>
            <a:spLocks noChangeArrowheads="1"/>
          </p:cNvSpPr>
          <p:nvPr/>
        </p:nvSpPr>
        <p:spPr bwMode="auto">
          <a:xfrm>
            <a:off x="6791439" y="321693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321577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321460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321343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sp>
        <p:nvSpPr>
          <p:cNvPr id="48" name="Line 45"/>
          <p:cNvSpPr>
            <a:spLocks noChangeShapeType="1"/>
          </p:cNvSpPr>
          <p:nvPr/>
        </p:nvSpPr>
        <p:spPr bwMode="auto">
          <a:xfrm flipH="1" flipV="1">
            <a:off x="2272158" y="3468033"/>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5676"/>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0" name="Line 47"/>
          <p:cNvSpPr>
            <a:spLocks noChangeShapeType="1"/>
          </p:cNvSpPr>
          <p:nvPr/>
        </p:nvSpPr>
        <p:spPr bwMode="auto">
          <a:xfrm>
            <a:off x="2146903" y="261548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1" name="Text Box 48"/>
          <p:cNvSpPr txBox="1">
            <a:spLocks noChangeArrowheads="1"/>
          </p:cNvSpPr>
          <p:nvPr/>
        </p:nvSpPr>
        <p:spPr bwMode="auto">
          <a:xfrm>
            <a:off x="6490241"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sp>
        <p:nvSpPr>
          <p:cNvPr id="53" name="Line 50"/>
          <p:cNvSpPr>
            <a:spLocks noChangeShapeType="1"/>
          </p:cNvSpPr>
          <p:nvPr/>
        </p:nvSpPr>
        <p:spPr bwMode="auto">
          <a:xfrm>
            <a:off x="6744626" y="260497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63347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55" name="Text Box 52"/>
          <p:cNvSpPr txBox="1">
            <a:spLocks noChangeArrowheads="1"/>
          </p:cNvSpPr>
          <p:nvPr/>
        </p:nvSpPr>
        <p:spPr bwMode="auto">
          <a:xfrm>
            <a:off x="5890539" y="263113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a:latin typeface="微软雅黑" pitchFamily="34" charset="-122"/>
                <a:ea typeface="微软雅黑" pitchFamily="34" charset="-122"/>
              </a:rPr>
              <a:t>收缩</a:t>
            </a:r>
          </a:p>
        </p:txBody>
      </p:sp>
      <p:sp>
        <p:nvSpPr>
          <p:cNvPr id="2" name="乘号 1"/>
          <p:cNvSpPr/>
          <p:nvPr/>
        </p:nvSpPr>
        <p:spPr>
          <a:xfrm>
            <a:off x="6428873" y="262857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a:extLst>
              <a:ext uri="{FF2B5EF4-FFF2-40B4-BE49-F238E27FC236}">
                <a16:creationId xmlns:a16="http://schemas.microsoft.com/office/drawing/2014/main" id="{56D74304-3855-8340-73FA-3FFFD0CFF647}"/>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2274751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grpId="0" nodeType="afterEffect">
                                  <p:stCondLst>
                                    <p:cond delay="0"/>
                                  </p:stCondLst>
                                  <p:childTnLst>
                                    <p:anim calcmode="discrete" valueType="str">
                                      <p:cBhvr>
                                        <p:cTn id="9" dur="1000" fill="hold"/>
                                        <p:tgtEl>
                                          <p:spTgt spid="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49"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45248"/>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11" name="Text Box 8"/>
          <p:cNvSpPr txBox="1">
            <a:spLocks noChangeArrowheads="1"/>
          </p:cNvSpPr>
          <p:nvPr/>
        </p:nvSpPr>
        <p:spPr bwMode="auto">
          <a:xfrm>
            <a:off x="6714886" y="3512821"/>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3414"/>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58716"/>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0375"/>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26459"/>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2511"/>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1034796" y="3236670"/>
            <a:ext cx="1093130" cy="216057"/>
            <a:chOff x="1034796" y="2936655"/>
            <a:chExt cx="1093130" cy="216057"/>
          </a:xfrm>
        </p:grpSpPr>
        <p:sp>
          <p:nvSpPr>
            <p:cNvPr id="17" name="Rectangle 14"/>
            <p:cNvSpPr>
              <a:spLocks noChangeArrowheads="1"/>
            </p:cNvSpPr>
            <p:nvPr/>
          </p:nvSpPr>
          <p:spPr bwMode="auto">
            <a:xfrm>
              <a:off x="1034796" y="294132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294015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293899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293782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29</a:t>
              </a:r>
            </a:p>
          </p:txBody>
        </p:sp>
        <p:sp>
          <p:nvSpPr>
            <p:cNvPr id="21" name="Rectangle 18"/>
            <p:cNvSpPr>
              <a:spLocks noChangeArrowheads="1"/>
            </p:cNvSpPr>
            <p:nvPr/>
          </p:nvSpPr>
          <p:spPr bwMode="auto">
            <a:xfrm>
              <a:off x="1955859" y="293665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grpSp>
      <p:sp>
        <p:nvSpPr>
          <p:cNvPr id="22" name="Rectangle 19"/>
          <p:cNvSpPr>
            <a:spLocks noChangeArrowheads="1"/>
          </p:cNvSpPr>
          <p:nvPr/>
        </p:nvSpPr>
        <p:spPr bwMode="auto">
          <a:xfrm>
            <a:off x="2186124" y="323550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433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316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199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083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2966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28494"/>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2732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2615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499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382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2656"/>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1487"/>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032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1915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1798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1681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1564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448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331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grpSp>
        <p:nvGrpSpPr>
          <p:cNvPr id="4" name="组合 3"/>
          <p:cNvGrpSpPr/>
          <p:nvPr/>
        </p:nvGrpSpPr>
        <p:grpSpPr>
          <a:xfrm>
            <a:off x="6791439" y="3207472"/>
            <a:ext cx="1317069" cy="216058"/>
            <a:chOff x="6791439" y="2907457"/>
            <a:chExt cx="1317069" cy="216058"/>
          </a:xfrm>
        </p:grpSpPr>
        <p:sp>
          <p:nvSpPr>
            <p:cNvPr id="42" name="Rectangle 39"/>
            <p:cNvSpPr>
              <a:spLocks noChangeArrowheads="1"/>
            </p:cNvSpPr>
            <p:nvPr/>
          </p:nvSpPr>
          <p:spPr bwMode="auto">
            <a:xfrm>
              <a:off x="6791439" y="291212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291096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290979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290862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grpSp>
      <p:sp>
        <p:nvSpPr>
          <p:cNvPr id="48" name="Line 45"/>
          <p:cNvSpPr>
            <a:spLocks noChangeShapeType="1"/>
          </p:cNvSpPr>
          <p:nvPr/>
        </p:nvSpPr>
        <p:spPr bwMode="auto">
          <a:xfrm flipH="1" flipV="1">
            <a:off x="2272158" y="3463238"/>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0881"/>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1" name="Text Box 48"/>
          <p:cNvSpPr txBox="1">
            <a:spLocks noChangeArrowheads="1"/>
          </p:cNvSpPr>
          <p:nvPr/>
        </p:nvSpPr>
        <p:spPr bwMode="auto">
          <a:xfrm>
            <a:off x="6490241"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grpSp>
        <p:nvGrpSpPr>
          <p:cNvPr id="57" name="组合 56"/>
          <p:cNvGrpSpPr/>
          <p:nvPr/>
        </p:nvGrpSpPr>
        <p:grpSpPr>
          <a:xfrm>
            <a:off x="5890539" y="2623775"/>
            <a:ext cx="860414" cy="290172"/>
            <a:chOff x="5890539" y="2323760"/>
            <a:chExt cx="860414" cy="290172"/>
          </a:xfrm>
        </p:grpSpPr>
        <p:sp>
          <p:nvSpPr>
            <p:cNvPr id="9" name="AutoShape 6"/>
            <p:cNvSpPr>
              <a:spLocks noChangeArrowheads="1"/>
            </p:cNvSpPr>
            <p:nvPr/>
          </p:nvSpPr>
          <p:spPr bwMode="auto">
            <a:xfrm flipH="1">
              <a:off x="6349885" y="240994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5" name="Text Box 52"/>
            <p:cNvSpPr txBox="1">
              <a:spLocks noChangeArrowheads="1"/>
            </p:cNvSpPr>
            <p:nvPr/>
          </p:nvSpPr>
          <p:spPr bwMode="auto">
            <a:xfrm>
              <a:off x="5890539" y="232632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收缩</a:t>
              </a:r>
            </a:p>
          </p:txBody>
        </p:sp>
        <p:sp>
          <p:nvSpPr>
            <p:cNvPr id="2" name="乘号 1"/>
            <p:cNvSpPr/>
            <p:nvPr/>
          </p:nvSpPr>
          <p:spPr>
            <a:xfrm>
              <a:off x="6428873" y="232376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9" name="组合 58"/>
          <p:cNvGrpSpPr/>
          <p:nvPr/>
        </p:nvGrpSpPr>
        <p:grpSpPr>
          <a:xfrm>
            <a:off x="6731974" y="2600179"/>
            <a:ext cx="933295" cy="998533"/>
            <a:chOff x="6731974" y="2300164"/>
            <a:chExt cx="933295" cy="998533"/>
          </a:xfrm>
        </p:grpSpPr>
        <p:grpSp>
          <p:nvGrpSpPr>
            <p:cNvPr id="56" name="组合 55"/>
            <p:cNvGrpSpPr/>
            <p:nvPr/>
          </p:nvGrpSpPr>
          <p:grpSpPr>
            <a:xfrm>
              <a:off x="6731974" y="2327494"/>
              <a:ext cx="933295" cy="287607"/>
              <a:chOff x="6731974" y="2327494"/>
              <a:chExt cx="933295" cy="287607"/>
            </a:xfrm>
          </p:grpSpPr>
          <p:sp>
            <p:nvSpPr>
              <p:cNvPr id="7" name="Text Box 4"/>
              <p:cNvSpPr txBox="1">
                <a:spLocks noChangeArrowheads="1"/>
              </p:cNvSpPr>
              <p:nvPr/>
            </p:nvSpPr>
            <p:spPr bwMode="auto">
              <a:xfrm>
                <a:off x="7153966" y="232749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3" name="Line 50"/>
            <p:cNvSpPr>
              <a:spLocks noChangeShapeType="1"/>
            </p:cNvSpPr>
            <p:nvPr/>
          </p:nvSpPr>
          <p:spPr bwMode="auto">
            <a:xfrm>
              <a:off x="6744626" y="230016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grpSp>
        <p:nvGrpSpPr>
          <p:cNvPr id="58" name="组合 57"/>
          <p:cNvGrpSpPr/>
          <p:nvPr/>
        </p:nvGrpSpPr>
        <p:grpSpPr>
          <a:xfrm>
            <a:off x="2146903" y="2610689"/>
            <a:ext cx="874334" cy="998532"/>
            <a:chOff x="2146903" y="2310674"/>
            <a:chExt cx="874334" cy="998532"/>
          </a:xfrm>
        </p:grpSpPr>
        <p:grpSp>
          <p:nvGrpSpPr>
            <p:cNvPr id="5" name="组合 4"/>
            <p:cNvGrpSpPr/>
            <p:nvPr/>
          </p:nvGrpSpPr>
          <p:grpSpPr>
            <a:xfrm>
              <a:off x="2146903" y="2328660"/>
              <a:ext cx="874334" cy="287607"/>
              <a:chOff x="2146903" y="2328660"/>
              <a:chExt cx="874334" cy="287607"/>
            </a:xfrm>
          </p:grpSpPr>
          <p:sp>
            <p:nvSpPr>
              <p:cNvPr id="10" name="AutoShape 7"/>
              <p:cNvSpPr>
                <a:spLocks noChangeArrowheads="1"/>
              </p:cNvSpPr>
              <p:nvPr/>
            </p:nvSpPr>
            <p:spPr bwMode="auto">
              <a:xfrm>
                <a:off x="2146903"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32866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grpSp>
        <p:sp>
          <p:nvSpPr>
            <p:cNvPr id="50" name="Line 47"/>
            <p:cNvSpPr>
              <a:spLocks noChangeShapeType="1"/>
            </p:cNvSpPr>
            <p:nvPr/>
          </p:nvSpPr>
          <p:spPr bwMode="auto">
            <a:xfrm>
              <a:off x="2146903" y="231067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sp>
        <p:nvSpPr>
          <p:cNvPr id="60" name="标题 59">
            <a:extLst>
              <a:ext uri="{FF2B5EF4-FFF2-40B4-BE49-F238E27FC236}">
                <a16:creationId xmlns:a16="http://schemas.microsoft.com/office/drawing/2014/main" id="{BD15A372-01EC-5697-D647-AE48B772A680}"/>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2204090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grpId="0" nodeType="clickEffect">
                                  <p:stCondLst>
                                    <p:cond delay="0"/>
                                  </p:stCondLst>
                                  <p:childTnLst>
                                    <p:anim calcmode="discrete" valueType="str">
                                      <p:cBhvr>
                                        <p:cTn id="12" dur="1000" fill="hold"/>
                                        <p:tgtEl>
                                          <p:spTgt spid="52"/>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4.72222E-6 3.7037E-7 L 0.10138 3.7037E-7 " pathEditMode="relative" rAng="0" ptsTypes="AA">
                                      <p:cBhvr>
                                        <p:cTn id="18" dur="2000" fill="hold"/>
                                        <p:tgtEl>
                                          <p:spTgt spid="58"/>
                                        </p:tgtEl>
                                        <p:attrNameLst>
                                          <p:attrName>ppt_x</p:attrName>
                                          <p:attrName>ppt_y</p:attrName>
                                        </p:attrNameLst>
                                      </p:cBhvr>
                                      <p:rCtr x="5069" y="0"/>
                                    </p:animMotion>
                                  </p:childTnLst>
                                </p:cTn>
                              </p:par>
                              <p:par>
                                <p:cTn id="19" presetID="63" presetClass="path" presetSubtype="0" accel="50000" decel="50000" fill="hold" nodeType="withEffect">
                                  <p:stCondLst>
                                    <p:cond delay="0"/>
                                  </p:stCondLst>
                                  <p:childTnLst>
                                    <p:animMotion origin="layout" path="M 3.61111E-6 8.64198E-7 L 0.10086 8.64198E-7 " pathEditMode="relative" rAng="0" ptsTypes="AA">
                                      <p:cBhvr>
                                        <p:cTn id="20" dur="2000" fill="hold"/>
                                        <p:tgtEl>
                                          <p:spTgt spid="59"/>
                                        </p:tgtEl>
                                        <p:attrNameLst>
                                          <p:attrName>ppt_x</p:attrName>
                                          <p:attrName>ppt_y</p:attrName>
                                        </p:attrNameLst>
                                      </p:cBhvr>
                                      <p:rCtr x="5035" y="0"/>
                                    </p:animMotion>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nodeType="clickEffect">
                                  <p:stCondLst>
                                    <p:cond delay="0"/>
                                  </p:stCondLst>
                                  <p:childTnLst>
                                    <p:anim calcmode="discrete" valueType="str">
                                      <p:cBhvr>
                                        <p:cTn id="24"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2202543" y="1112632"/>
            <a:ext cx="5026159"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假定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发送了序号为 </a:t>
            </a:r>
            <a:r>
              <a:rPr lang="en-US" altLang="zh-CN" sz="1600" b="1" dirty="0">
                <a:latin typeface="微软雅黑" pitchFamily="34" charset="-122"/>
                <a:ea typeface="微软雅黑" pitchFamily="34" charset="-122"/>
              </a:rPr>
              <a:t>31 ~ 41 </a:t>
            </a:r>
            <a:r>
              <a:rPr lang="zh-CN" altLang="en-US" sz="1600" b="1" dirty="0">
                <a:latin typeface="微软雅黑" pitchFamily="34" charset="-122"/>
                <a:ea typeface="微软雅黑" pitchFamily="34" charset="-122"/>
              </a:rPr>
              <a:t>共 </a:t>
            </a:r>
            <a:r>
              <a:rPr lang="en-US" altLang="zh-CN" sz="1600" b="1" dirty="0">
                <a:latin typeface="微软雅黑" pitchFamily="34" charset="-122"/>
                <a:ea typeface="微软雅黑" pitchFamily="34" charset="-122"/>
              </a:rPr>
              <a:t>11 </a:t>
            </a:r>
            <a:r>
              <a:rPr lang="zh-CN" altLang="en-US" sz="1600" b="1" dirty="0">
                <a:latin typeface="微软雅黑" pitchFamily="34" charset="-122"/>
                <a:ea typeface="微软雅黑" pitchFamily="34" charset="-122"/>
              </a:rPr>
              <a:t>个字节的数据</a:t>
            </a:r>
          </a:p>
        </p:txBody>
      </p:sp>
      <p:sp>
        <p:nvSpPr>
          <p:cNvPr id="61" name="Text Box 155"/>
          <p:cNvSpPr txBox="1">
            <a:spLocks noChangeArrowheads="1"/>
          </p:cNvSpPr>
          <p:nvPr/>
        </p:nvSpPr>
        <p:spPr bwMode="auto">
          <a:xfrm>
            <a:off x="2379165" y="3069409"/>
            <a:ext cx="5100029" cy="1220847"/>
          </a:xfrm>
          <a:prstGeom prst="rect">
            <a:avLst/>
          </a:prstGeom>
          <a:solidFill>
            <a:schemeClr val="bg1"/>
          </a:solidFill>
          <a:ln w="9525">
            <a:solidFill>
              <a:schemeClr val="tx1"/>
            </a:solidFill>
            <a:miter lim="800000"/>
            <a:headEnd/>
            <a:tailEnd/>
          </a:ln>
          <a:effectLst/>
        </p:spPr>
        <p:txBody>
          <a:bodyPr wrap="square">
            <a:spAutoFit/>
          </a:bodyPr>
          <a:lstStyle/>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后沿，</a:t>
            </a:r>
            <a:r>
              <a:rPr lang="en-US" altLang="zh-CN" sz="1400" b="1" dirty="0">
                <a:latin typeface="微软雅黑" pitchFamily="34" charset="-122"/>
                <a:ea typeface="微软雅黑" pitchFamily="34" charset="-122"/>
              </a:rPr>
              <a:t>P2 = </a:t>
            </a:r>
            <a:r>
              <a:rPr lang="zh-CN" altLang="en-US" sz="1400" b="1" dirty="0">
                <a:latin typeface="微软雅黑" pitchFamily="34" charset="-122"/>
                <a:ea typeface="微软雅黑" pitchFamily="34" charset="-122"/>
              </a:rPr>
              <a:t>当前，</a:t>
            </a: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前沿。</a:t>
            </a:r>
            <a:endParaRPr lang="en-US" altLang="zh-CN" sz="1400" b="1" dirty="0">
              <a:latin typeface="微软雅黑" pitchFamily="34" charset="-122"/>
              <a:ea typeface="微软雅黑" pitchFamily="34" charset="-122"/>
            </a:endParaRP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 </a:t>
            </a:r>
            <a:r>
              <a:rPr lang="zh-CN" altLang="en-US" sz="1400" b="1" dirty="0">
                <a:latin typeface="微软雅黑" pitchFamily="34" charset="-122"/>
                <a:ea typeface="微软雅黑" pitchFamily="34" charset="-122"/>
              </a:rPr>
              <a:t>的发送窗口（又称为</a:t>
            </a:r>
            <a:r>
              <a:rPr lang="zh-CN" altLang="en-US" sz="1400" b="1" dirty="0">
                <a:solidFill>
                  <a:srgbClr val="0000FF"/>
                </a:solidFill>
                <a:latin typeface="微软雅黑" pitchFamily="34" charset="-122"/>
                <a:ea typeface="微软雅黑" pitchFamily="34" charset="-122"/>
              </a:rPr>
              <a:t>通知窗口</a:t>
            </a:r>
            <a:r>
              <a:rPr lang="zh-CN" altLang="en-US" sz="1400" b="1" dirty="0">
                <a:latin typeface="微软雅黑" pitchFamily="34" charset="-122"/>
                <a:ea typeface="微软雅黑" pitchFamily="34" charset="-122"/>
              </a:rPr>
              <a:t>）</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已发送但尚未收到确认的字节数</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允许发送但尚未发送的字节数（又称为</a:t>
            </a:r>
            <a:r>
              <a:rPr lang="zh-CN" altLang="en-US" sz="1400" b="1" dirty="0">
                <a:solidFill>
                  <a:srgbClr val="0000FF"/>
                </a:solidFill>
                <a:latin typeface="微软雅黑" pitchFamily="34" charset="-122"/>
                <a:ea typeface="微软雅黑" pitchFamily="34" charset="-122"/>
              </a:rPr>
              <a:t>可用窗口</a:t>
            </a:r>
            <a:r>
              <a:rPr lang="zh-CN" altLang="en-US" sz="1400" b="1" dirty="0">
                <a:latin typeface="微软雅黑" pitchFamily="34" charset="-122"/>
                <a:ea typeface="微软雅黑" pitchFamily="34" charset="-122"/>
              </a:rPr>
              <a:t>） </a:t>
            </a:r>
          </a:p>
        </p:txBody>
      </p:sp>
      <p:sp>
        <p:nvSpPr>
          <p:cNvPr id="63" name="Line 5"/>
          <p:cNvSpPr>
            <a:spLocks noChangeShapeType="1"/>
          </p:cNvSpPr>
          <p:nvPr/>
        </p:nvSpPr>
        <p:spPr bwMode="auto">
          <a:xfrm flipV="1">
            <a:off x="2399443" y="1602217"/>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64" name="Text Box 6"/>
          <p:cNvSpPr txBox="1">
            <a:spLocks noChangeArrowheads="1"/>
          </p:cNvSpPr>
          <p:nvPr/>
        </p:nvSpPr>
        <p:spPr bwMode="auto">
          <a:xfrm>
            <a:off x="6834797" y="2411073"/>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65" name="Text Box 7"/>
          <p:cNvSpPr txBox="1">
            <a:spLocks noChangeArrowheads="1"/>
          </p:cNvSpPr>
          <p:nvPr/>
        </p:nvSpPr>
        <p:spPr bwMode="auto">
          <a:xfrm>
            <a:off x="1461412" y="2420217"/>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66" name="Text Box 8"/>
          <p:cNvSpPr txBox="1">
            <a:spLocks noChangeArrowheads="1"/>
          </p:cNvSpPr>
          <p:nvPr/>
        </p:nvSpPr>
        <p:spPr bwMode="auto">
          <a:xfrm>
            <a:off x="2766594" y="1469764"/>
            <a:ext cx="3515706"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r>
              <a:rPr lang="zh-CN" altLang="en-US" sz="1200" b="1" dirty="0">
                <a:solidFill>
                  <a:srgbClr val="0000FF"/>
                </a:solidFill>
                <a:latin typeface="微软雅黑" pitchFamily="34" charset="-122"/>
                <a:ea typeface="微软雅黑" pitchFamily="34" charset="-122"/>
              </a:rPr>
              <a:t>字节，未收到确认前</a:t>
            </a:r>
            <a:r>
              <a:rPr lang="zh-CN" altLang="en-US" sz="1200" b="1" dirty="0">
                <a:solidFill>
                  <a:srgbClr val="C00000"/>
                </a:solidFill>
                <a:latin typeface="微软雅黑" pitchFamily="34" charset="-122"/>
                <a:ea typeface="微软雅黑" pitchFamily="34" charset="-122"/>
              </a:rPr>
              <a:t>位置不变</a:t>
            </a:r>
          </a:p>
        </p:txBody>
      </p:sp>
      <p:sp>
        <p:nvSpPr>
          <p:cNvPr id="67" name="Text Box 9"/>
          <p:cNvSpPr txBox="1">
            <a:spLocks noChangeArrowheads="1"/>
          </p:cNvSpPr>
          <p:nvPr/>
        </p:nvSpPr>
        <p:spPr bwMode="auto">
          <a:xfrm>
            <a:off x="4999578" y="2480956"/>
            <a:ext cx="1569660"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允许发送但</a:t>
            </a:r>
            <a:r>
              <a:rPr lang="zh-CN" altLang="en-US" sz="1200" b="1" dirty="0">
                <a:solidFill>
                  <a:srgbClr val="CC00CC"/>
                </a:solidFill>
                <a:latin typeface="微软雅黑" pitchFamily="34" charset="-122"/>
                <a:ea typeface="微软雅黑" pitchFamily="34" charset="-122"/>
              </a:rPr>
              <a:t>尚未发送</a:t>
            </a:r>
          </a:p>
        </p:txBody>
      </p:sp>
      <p:sp>
        <p:nvSpPr>
          <p:cNvPr id="68" name="Rectangle 10"/>
          <p:cNvSpPr>
            <a:spLocks noChangeArrowheads="1"/>
          </p:cNvSpPr>
          <p:nvPr/>
        </p:nvSpPr>
        <p:spPr bwMode="auto">
          <a:xfrm>
            <a:off x="2404213" y="2022947"/>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69" name="Rectangle 11"/>
          <p:cNvSpPr>
            <a:spLocks noChangeArrowheads="1"/>
          </p:cNvSpPr>
          <p:nvPr/>
        </p:nvSpPr>
        <p:spPr bwMode="auto">
          <a:xfrm>
            <a:off x="1348648" y="217268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70" name="Rectangle 12"/>
          <p:cNvSpPr>
            <a:spLocks noChangeArrowheads="1"/>
          </p:cNvSpPr>
          <p:nvPr/>
        </p:nvSpPr>
        <p:spPr bwMode="auto">
          <a:xfrm>
            <a:off x="1565725" y="217158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71" name="Rectangle 13"/>
          <p:cNvSpPr>
            <a:spLocks noChangeArrowheads="1"/>
          </p:cNvSpPr>
          <p:nvPr/>
        </p:nvSpPr>
        <p:spPr bwMode="auto">
          <a:xfrm>
            <a:off x="1782801" y="217047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72" name="Rectangle 14"/>
          <p:cNvSpPr>
            <a:spLocks noChangeArrowheads="1"/>
          </p:cNvSpPr>
          <p:nvPr/>
        </p:nvSpPr>
        <p:spPr bwMode="auto">
          <a:xfrm>
            <a:off x="1999878" y="216937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73" name="Rectangle 15"/>
          <p:cNvSpPr>
            <a:spLocks noChangeArrowheads="1"/>
          </p:cNvSpPr>
          <p:nvPr/>
        </p:nvSpPr>
        <p:spPr bwMode="auto">
          <a:xfrm>
            <a:off x="2216954" y="216827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2" name="组合 1"/>
          <p:cNvGrpSpPr/>
          <p:nvPr/>
        </p:nvGrpSpPr>
        <p:grpSpPr>
          <a:xfrm>
            <a:off x="2434031" y="2156167"/>
            <a:ext cx="2332978" cy="210286"/>
            <a:chOff x="2434031" y="1636215"/>
            <a:chExt cx="2332978" cy="210286"/>
          </a:xfrm>
        </p:grpSpPr>
        <p:sp>
          <p:nvSpPr>
            <p:cNvPr id="74"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75"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76"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77"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78"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79"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80"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81"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82"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83"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84"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3" name="组合 2"/>
          <p:cNvGrpSpPr/>
          <p:nvPr/>
        </p:nvGrpSpPr>
        <p:grpSpPr>
          <a:xfrm>
            <a:off x="4821875" y="2146257"/>
            <a:ext cx="1898824" cy="208086"/>
            <a:chOff x="4821875" y="1626305"/>
            <a:chExt cx="1898824" cy="208086"/>
          </a:xfrm>
        </p:grpSpPr>
        <p:sp>
          <p:nvSpPr>
            <p:cNvPr id="85"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86"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87"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88"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89"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90"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91"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92"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93"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4" name="Rectangle 36"/>
          <p:cNvSpPr>
            <a:spLocks noChangeArrowheads="1"/>
          </p:cNvSpPr>
          <p:nvPr/>
        </p:nvSpPr>
        <p:spPr bwMode="auto">
          <a:xfrm>
            <a:off x="6775565" y="2145157"/>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95" name="Rectangle 37"/>
          <p:cNvSpPr>
            <a:spLocks noChangeArrowheads="1"/>
          </p:cNvSpPr>
          <p:nvPr/>
        </p:nvSpPr>
        <p:spPr bwMode="auto">
          <a:xfrm>
            <a:off x="6992642" y="2144055"/>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96" name="Rectangle 38"/>
          <p:cNvSpPr>
            <a:spLocks noChangeArrowheads="1"/>
          </p:cNvSpPr>
          <p:nvPr/>
        </p:nvSpPr>
        <p:spPr bwMode="auto">
          <a:xfrm>
            <a:off x="7209718" y="2142955"/>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97" name="Rectangle 39"/>
          <p:cNvSpPr>
            <a:spLocks noChangeArrowheads="1"/>
          </p:cNvSpPr>
          <p:nvPr/>
        </p:nvSpPr>
        <p:spPr bwMode="auto">
          <a:xfrm>
            <a:off x="7426795" y="2141853"/>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98" name="Rectangle 40"/>
          <p:cNvSpPr>
            <a:spLocks noChangeArrowheads="1"/>
          </p:cNvSpPr>
          <p:nvPr/>
        </p:nvSpPr>
        <p:spPr bwMode="auto">
          <a:xfrm>
            <a:off x="7643872"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99" name="Text Box 41"/>
          <p:cNvSpPr txBox="1">
            <a:spLocks noChangeArrowheads="1"/>
          </p:cNvSpPr>
          <p:nvPr/>
        </p:nvSpPr>
        <p:spPr bwMode="auto">
          <a:xfrm>
            <a:off x="2715938" y="2493068"/>
            <a:ext cx="156966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已发送但</a:t>
            </a:r>
            <a:r>
              <a:rPr lang="zh-CN" altLang="en-US" sz="1200" b="1" dirty="0">
                <a:solidFill>
                  <a:srgbClr val="CC00CC"/>
                </a:solidFill>
                <a:latin typeface="微软雅黑" pitchFamily="34" charset="-122"/>
                <a:ea typeface="微软雅黑" pitchFamily="34" charset="-122"/>
              </a:rPr>
              <a:t>未收到确认</a:t>
            </a:r>
          </a:p>
        </p:txBody>
      </p:sp>
      <p:sp>
        <p:nvSpPr>
          <p:cNvPr id="100" name="Rectangle 42"/>
          <p:cNvSpPr>
            <a:spLocks noChangeArrowheads="1"/>
          </p:cNvSpPr>
          <p:nvPr/>
        </p:nvSpPr>
        <p:spPr bwMode="auto">
          <a:xfrm>
            <a:off x="7854985"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2360115" y="2373060"/>
            <a:ext cx="348173" cy="656838"/>
            <a:chOff x="2360115" y="2373060"/>
            <a:chExt cx="348173" cy="656838"/>
          </a:xfrm>
        </p:grpSpPr>
        <p:sp>
          <p:nvSpPr>
            <p:cNvPr id="101"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2"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5" name="组合 4"/>
          <p:cNvGrpSpPr/>
          <p:nvPr/>
        </p:nvGrpSpPr>
        <p:grpSpPr>
          <a:xfrm>
            <a:off x="4761080" y="2373060"/>
            <a:ext cx="348173" cy="656838"/>
            <a:chOff x="4761080" y="2373060"/>
            <a:chExt cx="348173" cy="656838"/>
          </a:xfrm>
        </p:grpSpPr>
        <p:sp>
          <p:nvSpPr>
            <p:cNvPr id="103"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Text Box 48"/>
            <p:cNvSpPr txBox="1">
              <a:spLocks noChangeArrowheads="1"/>
            </p:cNvSpPr>
            <p:nvPr/>
          </p:nvSpPr>
          <p:spPr bwMode="auto">
            <a:xfrm>
              <a:off x="4761080"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2</a:t>
              </a:r>
            </a:p>
          </p:txBody>
        </p:sp>
      </p:grpSp>
      <p:grpSp>
        <p:nvGrpSpPr>
          <p:cNvPr id="7" name="组合 6"/>
          <p:cNvGrpSpPr/>
          <p:nvPr/>
        </p:nvGrpSpPr>
        <p:grpSpPr>
          <a:xfrm>
            <a:off x="6713577" y="2373060"/>
            <a:ext cx="348173" cy="656838"/>
            <a:chOff x="6713577" y="2373060"/>
            <a:chExt cx="348173" cy="656838"/>
          </a:xfrm>
        </p:grpSpPr>
        <p:sp>
          <p:nvSpPr>
            <p:cNvPr id="105"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6" name="Text Box 51"/>
            <p:cNvSpPr txBox="1">
              <a:spLocks noChangeArrowheads="1"/>
            </p:cNvSpPr>
            <p:nvPr/>
          </p:nvSpPr>
          <p:spPr bwMode="auto">
            <a:xfrm>
              <a:off x="6713577"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3</a:t>
              </a:r>
            </a:p>
          </p:txBody>
        </p:sp>
      </p:grpSp>
      <p:sp>
        <p:nvSpPr>
          <p:cNvPr id="147" name="AutoShape 91"/>
          <p:cNvSpPr>
            <a:spLocks/>
          </p:cNvSpPr>
          <p:nvPr/>
        </p:nvSpPr>
        <p:spPr bwMode="auto">
          <a:xfrm rot="5400000">
            <a:off x="5692521" y="1041286"/>
            <a:ext cx="127714" cy="1892861"/>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latin typeface="微软雅黑" pitchFamily="34" charset="-122"/>
              <a:ea typeface="微软雅黑" pitchFamily="34" charset="-122"/>
            </a:endParaRPr>
          </a:p>
        </p:txBody>
      </p:sp>
      <p:sp>
        <p:nvSpPr>
          <p:cNvPr id="148" name="Text Box 92"/>
          <p:cNvSpPr txBox="1">
            <a:spLocks noChangeArrowheads="1"/>
          </p:cNvSpPr>
          <p:nvPr/>
        </p:nvSpPr>
        <p:spPr bwMode="auto">
          <a:xfrm>
            <a:off x="5344146" y="1678005"/>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可用窗口</a:t>
            </a:r>
          </a:p>
        </p:txBody>
      </p:sp>
      <p:sp>
        <p:nvSpPr>
          <p:cNvPr id="8" name="标题 7">
            <a:extLst>
              <a:ext uri="{FF2B5EF4-FFF2-40B4-BE49-F238E27FC236}">
                <a16:creationId xmlns:a16="http://schemas.microsoft.com/office/drawing/2014/main" id="{BD1AE9B4-C5D7-F4EB-1293-C6E9AA45BE2A}"/>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1000"/>
                                  </p:stCondLst>
                                  <p:childTnLst>
                                    <p:anim calcmode="discrete" valueType="str">
                                      <p:cBhvr>
                                        <p:cTn id="9" dur="1000" fill="hold"/>
                                        <p:tgtEl>
                                          <p:spTgt spid="2"/>
                                        </p:tgtEl>
                                        <p:attrNameLst>
                                          <p:attrName>style.visibility</p:attrName>
                                        </p:attrNameLst>
                                      </p:cBhvr>
                                      <p:tavLst>
                                        <p:tav tm="0">
                                          <p:val>
                                            <p:strVal val="hidden"/>
                                          </p:val>
                                        </p:tav>
                                        <p:tav tm="50000">
                                          <p:val>
                                            <p:strVal val="visible"/>
                                          </p:val>
                                        </p:tav>
                                      </p:tavLst>
                                    </p:anim>
                                  </p:childTnLst>
                                </p:cTn>
                              </p:par>
                            </p:childTnLst>
                          </p:cTn>
                        </p:par>
                        <p:par>
                          <p:cTn id="10" fill="hold">
                            <p:stCondLst>
                              <p:cond delay="7000"/>
                            </p:stCondLst>
                            <p:childTnLst>
                              <p:par>
                                <p:cTn id="11" presetID="35" presetClass="emph" presetSubtype="0" repeatCount="3000" fill="hold" nodeType="afterEffect">
                                  <p:stCondLst>
                                    <p:cond delay="100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nodeType="clickEffect">
                                  <p:stCondLst>
                                    <p:cond delay="0"/>
                                  </p:stCondLst>
                                  <p:childTnLst>
                                    <p:anim calcmode="discrete" valueType="str">
                                      <p:cBhvr>
                                        <p:cTn id="16" dur="1000" fill="hold"/>
                                        <p:tgtEl>
                                          <p:spTgt spid="4"/>
                                        </p:tgtEl>
                                        <p:attrNameLst>
                                          <p:attrName>style.visibility</p:attrName>
                                        </p:attrNameLst>
                                      </p:cBhvr>
                                      <p:tavLst>
                                        <p:tav tm="0">
                                          <p:val>
                                            <p:strVal val="hidden"/>
                                          </p:val>
                                        </p:tav>
                                        <p:tav tm="50000">
                                          <p:val>
                                            <p:strVal val="visible"/>
                                          </p:val>
                                        </p:tav>
                                      </p:tavLst>
                                    </p:anim>
                                  </p:childTnLst>
                                </p:cTn>
                              </p:par>
                              <p:par>
                                <p:cTn id="17" presetID="35" presetClass="emph" presetSubtype="0" repeatCount="3000" fill="hold" nodeType="withEffect">
                                  <p:stCondLst>
                                    <p:cond delay="0"/>
                                  </p:stCondLst>
                                  <p:childTnLst>
                                    <p:anim calcmode="discrete" valueType="str">
                                      <p:cBhvr>
                                        <p:cTn id="18" dur="1000" fill="hold"/>
                                        <p:tgtEl>
                                          <p:spTgt spid="5"/>
                                        </p:tgtEl>
                                        <p:attrNameLst>
                                          <p:attrName>style.visibility</p:attrName>
                                        </p:attrNameLst>
                                      </p:cBhvr>
                                      <p:tavLst>
                                        <p:tav tm="0">
                                          <p:val>
                                            <p:strVal val="hidden"/>
                                          </p:val>
                                        </p:tav>
                                        <p:tav tm="50000">
                                          <p:val>
                                            <p:strVal val="visible"/>
                                          </p:val>
                                        </p:tav>
                                      </p:tavLst>
                                    </p:anim>
                                  </p:childTnLst>
                                </p:cTn>
                              </p:par>
                              <p:par>
                                <p:cTn id="19" presetID="35" presetClass="emph" presetSubtype="0" repeatCount="3000" fill="hold" nodeType="withEffect">
                                  <p:stCondLst>
                                    <p:cond delay="0"/>
                                  </p:stCondLst>
                                  <p:childTnLst>
                                    <p:anim calcmode="discrete" valueType="str">
                                      <p:cBhvr>
                                        <p:cTn id="2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1405590"/>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1929920"/>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1966496"/>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1245990"/>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199988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1557210"/>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170694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170584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170474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170363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170253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170143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1700337"/>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1699235"/>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1698135"/>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169703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169593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169483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169373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169263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1691529"/>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169042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168932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168822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168712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168602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168492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168382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168272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168162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168052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167941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167831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167721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1676116"/>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1898510"/>
            <a:ext cx="813441" cy="874348"/>
            <a:chOff x="2432838" y="1898510"/>
            <a:chExt cx="813441" cy="874348"/>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49638"/>
              <a:ext cx="813441" cy="523220"/>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400" b="1" dirty="0">
                  <a:latin typeface="微软雅黑" pitchFamily="34" charset="-122"/>
                  <a:ea typeface="微软雅黑" pitchFamily="34" charset="-122"/>
                </a:rPr>
                <a:t>未按序收到</a:t>
              </a:r>
            </a:p>
          </p:txBody>
        </p:sp>
      </p:grpSp>
      <p:sp>
        <p:nvSpPr>
          <p:cNvPr id="4" name="矩形 3"/>
          <p:cNvSpPr/>
          <p:nvPr/>
        </p:nvSpPr>
        <p:spPr>
          <a:xfrm>
            <a:off x="1347455" y="2927938"/>
            <a:ext cx="6697345" cy="707886"/>
          </a:xfrm>
          <a:prstGeom prst="rect">
            <a:avLst/>
          </a:prstGeom>
          <a:solidFill>
            <a:schemeClr val="bg1"/>
          </a:solidFill>
        </p:spPr>
        <p:txBody>
          <a:bodyPr wrap="square">
            <a:spAutoFit/>
          </a:bodyPr>
          <a:lstStyle/>
          <a:p>
            <a:pPr>
              <a:lnSpc>
                <a:spcPts val="2400"/>
              </a:lnSpc>
            </a:pP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收到了序号为 </a:t>
            </a:r>
            <a:r>
              <a:rPr lang="en-US" altLang="zh-CN" sz="1600" b="1" dirty="0">
                <a:latin typeface="微软雅黑" panose="020B0503020204020204" pitchFamily="34" charset="-122"/>
                <a:ea typeface="微软雅黑" panose="020B0503020204020204" pitchFamily="34" charset="-122"/>
              </a:rPr>
              <a:t>32 </a:t>
            </a:r>
            <a:r>
              <a:rPr lang="zh-CN" altLang="en-US" sz="1600" b="1" dirty="0">
                <a:latin typeface="微软雅黑" panose="020B0503020204020204" pitchFamily="34" charset="-122"/>
                <a:ea typeface="微软雅黑" panose="020B0503020204020204" pitchFamily="34" charset="-122"/>
              </a:rPr>
              <a:t>和 </a:t>
            </a:r>
            <a:r>
              <a:rPr lang="en-US" altLang="zh-CN" sz="1600" b="1" dirty="0">
                <a:latin typeface="微软雅黑" panose="020B0503020204020204" pitchFamily="34" charset="-122"/>
                <a:ea typeface="微软雅黑" panose="020B0503020204020204" pitchFamily="34" charset="-122"/>
              </a:rPr>
              <a:t>33 </a:t>
            </a:r>
            <a:r>
              <a:rPr lang="zh-CN" altLang="en-US" sz="1600" b="1" dirty="0">
                <a:latin typeface="微软雅黑" panose="020B0503020204020204" pitchFamily="34" charset="-122"/>
                <a:ea typeface="微软雅黑" panose="020B0503020204020204" pitchFamily="34" charset="-122"/>
              </a:rPr>
              <a:t>的数据，但未收到序号为 </a:t>
            </a:r>
            <a:r>
              <a:rPr lang="en-US" altLang="zh-CN" sz="1600" b="1" dirty="0">
                <a:latin typeface="微软雅黑" panose="020B0503020204020204" pitchFamily="34" charset="-122"/>
                <a:ea typeface="微软雅黑" panose="020B0503020204020204" pitchFamily="34" charset="-122"/>
              </a:rPr>
              <a:t>31 </a:t>
            </a:r>
            <a:r>
              <a:rPr lang="zh-CN" altLang="en-US" sz="1600" b="1" dirty="0">
                <a:latin typeface="微软雅黑" panose="020B0503020204020204" pitchFamily="34" charset="-122"/>
                <a:ea typeface="微软雅黑" panose="020B0503020204020204" pitchFamily="34" charset="-122"/>
              </a:rPr>
              <a:t>的数据。</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因此，因此发送的确认报文段中的确认号是 </a:t>
            </a:r>
            <a:r>
              <a:rPr lang="en-US" altLang="zh-CN" sz="1600" b="1" dirty="0">
                <a:latin typeface="微软雅黑" panose="020B0503020204020204" pitchFamily="34" charset="-122"/>
                <a:ea typeface="微软雅黑" panose="020B0503020204020204" pitchFamily="34" charset="-122"/>
              </a:rPr>
              <a:t>31</a:t>
            </a:r>
            <a:r>
              <a:rPr lang="zh-CN" altLang="en-US" sz="1600" b="1" dirty="0">
                <a:latin typeface="微软雅黑" panose="020B0503020204020204" pitchFamily="34" charset="-122"/>
                <a:ea typeface="微软雅黑" panose="020B0503020204020204" pitchFamily="34" charset="-122"/>
              </a:rPr>
              <a:t>（即期望收到的序号）。</a:t>
            </a:r>
          </a:p>
        </p:txBody>
      </p:sp>
      <p:sp>
        <p:nvSpPr>
          <p:cNvPr id="2" name="标题 1">
            <a:extLst>
              <a:ext uri="{FF2B5EF4-FFF2-40B4-BE49-F238E27FC236}">
                <a16:creationId xmlns:a16="http://schemas.microsoft.com/office/drawing/2014/main" id="{F7785425-0860-D3D9-8A2D-85F4C6C6A220}"/>
              </a:ext>
            </a:extLst>
          </p:cNvPr>
          <p:cNvSpPr>
            <a:spLocks noGrp="1"/>
          </p:cNvSpPr>
          <p:nvPr>
            <p:ph type="title"/>
          </p:nvPr>
        </p:nvSpPr>
        <p:spPr>
          <a:xfrm>
            <a:off x="486000" y="550723"/>
            <a:ext cx="8172000" cy="338554"/>
          </a:xfrm>
        </p:spPr>
        <p:txBody>
          <a:bodyPr/>
          <a:lstStyle/>
          <a:p>
            <a:r>
              <a:rPr lang="zh-CN" altLang="en-US" dirty="0"/>
              <a:t>接收窗口</a:t>
            </a:r>
          </a:p>
        </p:txBody>
      </p:sp>
    </p:spTree>
    <p:extLst>
      <p:ext uri="{BB962C8B-B14F-4D97-AF65-F5344CB8AC3E}">
        <p14:creationId xmlns:p14="http://schemas.microsoft.com/office/powerpoint/2010/main" val="31368554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07"/>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nodeType="clickEffect">
                                  <p:stCondLst>
                                    <p:cond delay="0"/>
                                  </p:stCondLst>
                                  <p:childTnLst>
                                    <p:anim calcmode="discrete" valueType="str">
                                      <p:cBhvr>
                                        <p:cTn id="12" dur="1000" fill="hold"/>
                                        <p:tgtEl>
                                          <p:spTgt spid="5"/>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animBg="1"/>
      <p:bldP spid="108" grpId="0" animBg="1"/>
      <p:bldP spid="4"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3610782"/>
            <a:ext cx="813441" cy="601232"/>
            <a:chOff x="2432838" y="1898510"/>
            <a:chExt cx="813441" cy="601232"/>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22743"/>
              <a:ext cx="813441"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endParaRPr lang="zh-CN" altLang="en-US" sz="1200" b="1" dirty="0">
                <a:latin typeface="微软雅黑" panose="020B0503020204020204" pitchFamily="34" charset="-122"/>
                <a:ea typeface="微软雅黑" panose="020B0503020204020204" pitchFamily="34" charset="-122"/>
              </a:endParaRP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4" name="标题 3">
            <a:extLst>
              <a:ext uri="{FF2B5EF4-FFF2-40B4-BE49-F238E27FC236}">
                <a16:creationId xmlns:a16="http://schemas.microsoft.com/office/drawing/2014/main" id="{627C2A6A-6781-B725-00EE-13DB61463681}"/>
              </a:ext>
            </a:extLst>
          </p:cNvPr>
          <p:cNvSpPr>
            <a:spLocks noGrp="1"/>
          </p:cNvSpPr>
          <p:nvPr>
            <p:ph type="title"/>
          </p:nvPr>
        </p:nvSpPr>
        <p:spPr>
          <a:xfrm>
            <a:off x="486000" y="550723"/>
            <a:ext cx="8172000" cy="338554"/>
          </a:xfrm>
        </p:spPr>
        <p:txBody>
          <a:bodyPr/>
          <a:lstStyle/>
          <a:p>
            <a:r>
              <a:rPr lang="zh-CN" altLang="en-US" dirty="0"/>
              <a:t>窗口的滑动</a:t>
            </a:r>
          </a:p>
        </p:txBody>
      </p:sp>
    </p:spTree>
    <p:extLst>
      <p:ext uri="{BB962C8B-B14F-4D97-AF65-F5344CB8AC3E}">
        <p14:creationId xmlns:p14="http://schemas.microsoft.com/office/powerpoint/2010/main" val="875165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Tree>
    <p:extLst>
      <p:ext uri="{BB962C8B-B14F-4D97-AF65-F5344CB8AC3E}">
        <p14:creationId xmlns:p14="http://schemas.microsoft.com/office/powerpoint/2010/main" val="28570369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2399443"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4" name="组合 3"/>
          <p:cNvGrpSpPr/>
          <p:nvPr/>
        </p:nvGrpSpPr>
        <p:grpSpPr>
          <a:xfrm>
            <a:off x="6723936" y="3011170"/>
            <a:ext cx="583847" cy="339333"/>
            <a:chOff x="6723936" y="3011170"/>
            <a:chExt cx="583847" cy="339333"/>
          </a:xfrm>
        </p:grpSpPr>
        <p:sp>
          <p:nvSpPr>
            <p:cNvPr id="97" name="Text Box 4"/>
            <p:cNvSpPr txBox="1">
              <a:spLocks noChangeArrowheads="1"/>
            </p:cNvSpPr>
            <p:nvPr/>
          </p:nvSpPr>
          <p:spPr bwMode="auto">
            <a:xfrm>
              <a:off x="6796480" y="3011170"/>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98" name="AutoShape 5"/>
            <p:cNvSpPr>
              <a:spLocks noChangeArrowheads="1"/>
            </p:cNvSpPr>
            <p:nvPr/>
          </p:nvSpPr>
          <p:spPr bwMode="auto">
            <a:xfrm>
              <a:off x="6723936" y="3244226"/>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Tree>
    <p:extLst>
      <p:ext uri="{BB962C8B-B14F-4D97-AF65-F5344CB8AC3E}">
        <p14:creationId xmlns:p14="http://schemas.microsoft.com/office/powerpoint/2010/main" val="3937048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par>
                          <p:cTn id="11" fill="hold">
                            <p:stCondLst>
                              <p:cond delay="0"/>
                            </p:stCondLst>
                            <p:childTnLst>
                              <p:par>
                                <p:cTn id="12" presetID="63" presetClass="path" presetSubtype="0" accel="50000" decel="50000" fill="hold" nodeType="afterEffect">
                                  <p:stCondLst>
                                    <p:cond delay="0"/>
                                  </p:stCondLst>
                                  <p:childTnLst>
                                    <p:animMotion origin="layout" path="M 4.16667E-6 1.35802E-6 L 0.07135 1.35802E-6 " pathEditMode="relative" rAng="0" ptsTypes="AA">
                                      <p:cBhvr>
                                        <p:cTn id="13" dur="2000" fill="hold"/>
                                        <p:tgtEl>
                                          <p:spTgt spid="7"/>
                                        </p:tgtEl>
                                        <p:attrNameLst>
                                          <p:attrName>ppt_x</p:attrName>
                                          <p:attrName>ppt_y</p:attrName>
                                        </p:attrNameLst>
                                      </p:cBhvr>
                                      <p:rCtr x="366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96" name="组合 95"/>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Tree>
    <p:extLst>
      <p:ext uri="{BB962C8B-B14F-4D97-AF65-F5344CB8AC3E}">
        <p14:creationId xmlns:p14="http://schemas.microsoft.com/office/powerpoint/2010/main" val="1992150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Tree>
    <p:extLst>
      <p:ext uri="{BB962C8B-B14F-4D97-AF65-F5344CB8AC3E}">
        <p14:creationId xmlns:p14="http://schemas.microsoft.com/office/powerpoint/2010/main" val="14205620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4" name="组合 3"/>
          <p:cNvGrpSpPr/>
          <p:nvPr/>
        </p:nvGrpSpPr>
        <p:grpSpPr>
          <a:xfrm>
            <a:off x="4821875" y="1541671"/>
            <a:ext cx="2550054" cy="211388"/>
            <a:chOff x="4821875" y="1541671"/>
            <a:chExt cx="2550054" cy="211388"/>
          </a:xfrm>
        </p:grpSpPr>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Tree>
    <p:extLst>
      <p:ext uri="{BB962C8B-B14F-4D97-AF65-F5344CB8AC3E}">
        <p14:creationId xmlns:p14="http://schemas.microsoft.com/office/powerpoint/2010/main" val="2338759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p:grpSpPr>
        <p:grpSp>
          <p:nvGrpSpPr>
            <p:cNvPr id="110" name="组合 109"/>
            <p:cNvGrpSpPr/>
            <p:nvPr/>
          </p:nvGrpSpPr>
          <p:grpSpPr>
            <a:xfrm>
              <a:off x="4821875" y="1544973"/>
              <a:ext cx="1898824" cy="208086"/>
              <a:chOff x="4821875" y="1626305"/>
              <a:chExt cx="1898824" cy="208086"/>
            </a:xfrm>
          </p:grpSpPr>
          <p:sp>
            <p:nvSpPr>
              <p:cNvPr id="114"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62" name="组合 61"/>
          <p:cNvGrpSpPr/>
          <p:nvPr/>
        </p:nvGrpSpPr>
        <p:grpSpPr>
          <a:xfrm>
            <a:off x="4819970" y="1542931"/>
            <a:ext cx="2550054" cy="211388"/>
            <a:chOff x="4821875" y="1541671"/>
            <a:chExt cx="2550054" cy="211388"/>
          </a:xfrm>
          <a:solidFill>
            <a:srgbClr val="FF99FF"/>
          </a:solidFill>
        </p:grpSpPr>
        <p:grpSp>
          <p:nvGrpSpPr>
            <p:cNvPr id="85" name="组合 84"/>
            <p:cNvGrpSpPr/>
            <p:nvPr/>
          </p:nvGrpSpPr>
          <p:grpSpPr>
            <a:xfrm>
              <a:off x="4821875" y="1544973"/>
              <a:ext cx="1898824" cy="208086"/>
              <a:chOff x="4821875" y="1626305"/>
              <a:chExt cx="1898824" cy="208086"/>
            </a:xfrm>
            <a:grpFill/>
          </p:grpSpPr>
          <p:sp>
            <p:nvSpPr>
              <p:cNvPr id="96"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98"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99"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102"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03"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04"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05"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07"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08"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0"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91"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92"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2" name="组合 1"/>
          <p:cNvGrpSpPr/>
          <p:nvPr/>
        </p:nvGrpSpPr>
        <p:grpSpPr>
          <a:xfrm>
            <a:off x="4785360" y="1771776"/>
            <a:ext cx="328937" cy="633755"/>
            <a:chOff x="4785360" y="1771776"/>
            <a:chExt cx="328937" cy="633755"/>
          </a:xfrm>
        </p:grpSpPr>
        <p:sp>
          <p:nvSpPr>
            <p:cNvPr id="123" name="Line 47"/>
            <p:cNvSpPr>
              <a:spLocks noChangeShapeType="1"/>
            </p:cNvSpPr>
            <p:nvPr/>
          </p:nvSpPr>
          <p:spPr bwMode="auto">
            <a:xfrm flipV="1">
              <a:off x="4917642" y="1771776"/>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24" name="Text Box 48"/>
            <p:cNvSpPr txBox="1">
              <a:spLocks noChangeArrowheads="1"/>
            </p:cNvSpPr>
            <p:nvPr/>
          </p:nvSpPr>
          <p:spPr bwMode="auto">
            <a:xfrm>
              <a:off x="4785360" y="2151615"/>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spTree>
    <p:extLst>
      <p:ext uri="{BB962C8B-B14F-4D97-AF65-F5344CB8AC3E}">
        <p14:creationId xmlns:p14="http://schemas.microsoft.com/office/powerpoint/2010/main" val="1914214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wipe(left)">
                                      <p:cBhvr>
                                        <p:cTn id="7" dur="2000"/>
                                        <p:tgtEl>
                                          <p:spTgt spid="62"/>
                                        </p:tgtEl>
                                      </p:cBhvr>
                                    </p:animEffect>
                                  </p:childTnLst>
                                </p:cTn>
                              </p:par>
                              <p:par>
                                <p:cTn id="8" presetID="63" presetClass="path" presetSubtype="0" accel="50000" decel="50000" fill="hold" nodeType="withEffect">
                                  <p:stCondLst>
                                    <p:cond delay="0"/>
                                  </p:stCondLst>
                                  <p:childTnLst>
                                    <p:animMotion origin="layout" path="M 5.55556E-7 -4.19753E-6 L 0.28073 -4.19753E-6 " pathEditMode="relative" rAng="0" ptsTypes="AA">
                                      <p:cBhvr>
                                        <p:cTn id="9" dur="2000" fill="hold"/>
                                        <p:tgtEl>
                                          <p:spTgt spid="2"/>
                                        </p:tgtEl>
                                        <p:attrNameLst>
                                          <p:attrName>ppt_x</p:attrName>
                                          <p:attrName>ppt_y</p:attrName>
                                        </p:attrNameLst>
                                      </p:cBhvr>
                                      <p:rCtr x="14028" y="0"/>
                                    </p:animMotion>
                                  </p:childTnLst>
                                </p:cTn>
                              </p:par>
                            </p:childTnLst>
                          </p:cTn>
                        </p:par>
                        <p:par>
                          <p:cTn id="10" fill="hold">
                            <p:stCondLst>
                              <p:cond delay="2000"/>
                            </p:stCondLst>
                            <p:childTnLst>
                              <p:par>
                                <p:cTn id="11" presetID="1" presetClass="exit" presetSubtype="0" fill="hold" nodeType="afterEffect">
                                  <p:stCondLst>
                                    <p:cond delay="0"/>
                                  </p:stCondLst>
                                  <p:childTnLst>
                                    <p:set>
                                      <p:cBhvr>
                                        <p:cTn id="12" dur="1" fill="hold">
                                          <p:stCondLst>
                                            <p:cond delay="0"/>
                                          </p:stCondLst>
                                        </p:cTn>
                                        <p:tgtEl>
                                          <p:spTgt spid="2"/>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5"/>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145"/>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nodeType="withEffect">
                                  <p:stCondLst>
                                    <p:cond delay="0"/>
                                  </p:stCondLst>
                                  <p:childTnLst>
                                    <p:anim calcmode="discrete" valueType="str">
                                      <p:cBhvr>
                                        <p:cTn id="21"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a:solidFill>
            <a:srgbClr val="FF99FF"/>
          </a:solidFill>
        </p:grpSpPr>
        <p:grpSp>
          <p:nvGrpSpPr>
            <p:cNvPr id="110" name="组合 109"/>
            <p:cNvGrpSpPr/>
            <p:nvPr/>
          </p:nvGrpSpPr>
          <p:grpSpPr>
            <a:xfrm>
              <a:off x="4821875" y="1544973"/>
              <a:ext cx="1898824" cy="208086"/>
              <a:chOff x="4821875" y="1626305"/>
              <a:chExt cx="1898824" cy="208086"/>
            </a:xfrm>
            <a:grpFill/>
          </p:grpSpPr>
          <p:sp>
            <p:nvSpPr>
              <p:cNvPr id="114"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Tree>
    <p:extLst>
      <p:ext uri="{BB962C8B-B14F-4D97-AF65-F5344CB8AC3E}">
        <p14:creationId xmlns:p14="http://schemas.microsoft.com/office/powerpoint/2010/main" val="12086833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45"/>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0"/>
                                  </p:stCondLst>
                                  <p:childTnLst>
                                    <p:anim calcmode="discrete" valueType="str">
                                      <p:cBhvr>
                                        <p:cTn id="9"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8" name="Rectangle 6"/>
          <p:cNvSpPr>
            <a:spLocks noChangeArrowheads="1"/>
          </p:cNvSpPr>
          <p:nvPr/>
        </p:nvSpPr>
        <p:spPr bwMode="auto">
          <a:xfrm>
            <a:off x="3278387"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发送缓存与发送窗口 </a:t>
            </a:r>
          </a:p>
        </p:txBody>
      </p:sp>
      <p:sp>
        <p:nvSpPr>
          <p:cNvPr id="20" name="Text Box 155"/>
          <p:cNvSpPr txBox="1">
            <a:spLocks noChangeArrowheads="1"/>
          </p:cNvSpPr>
          <p:nvPr/>
        </p:nvSpPr>
        <p:spPr bwMode="auto">
          <a:xfrm>
            <a:off x="2102735" y="1114884"/>
            <a:ext cx="531823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发送方的应用进程把字节流写入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发送缓存。</a:t>
            </a:r>
          </a:p>
        </p:txBody>
      </p:sp>
      <p:grpSp>
        <p:nvGrpSpPr>
          <p:cNvPr id="22" name="组合 21"/>
          <p:cNvGrpSpPr/>
          <p:nvPr/>
        </p:nvGrpSpPr>
        <p:grpSpPr>
          <a:xfrm>
            <a:off x="2154856" y="1600921"/>
            <a:ext cx="6280932" cy="2524082"/>
            <a:chOff x="366836" y="2074454"/>
            <a:chExt cx="10389633" cy="4175220"/>
          </a:xfrm>
        </p:grpSpPr>
        <p:sp>
          <p:nvSpPr>
            <p:cNvPr id="23"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Text Box 6"/>
            <p:cNvSpPr txBox="1">
              <a:spLocks noChangeArrowheads="1"/>
            </p:cNvSpPr>
            <p:nvPr/>
          </p:nvSpPr>
          <p:spPr bwMode="auto">
            <a:xfrm>
              <a:off x="1410826" y="5486009"/>
              <a:ext cx="1578242"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最后被确认</a:t>
              </a:r>
            </a:p>
            <a:p>
              <a:pPr algn="ctr"/>
              <a:r>
                <a:rPr lang="zh-CN" altLang="en-US" sz="1200" b="1" dirty="0">
                  <a:latin typeface="微软雅黑" pitchFamily="34" charset="-122"/>
                  <a:ea typeface="微软雅黑" pitchFamily="34" charset="-122"/>
                </a:rPr>
                <a:t>的字节</a:t>
              </a:r>
            </a:p>
          </p:txBody>
        </p:sp>
        <p:sp>
          <p:nvSpPr>
            <p:cNvPr id="25" name="Rectangle 7"/>
            <p:cNvSpPr>
              <a:spLocks noChangeArrowheads="1"/>
            </p:cNvSpPr>
            <p:nvPr/>
          </p:nvSpPr>
          <p:spPr bwMode="auto">
            <a:xfrm>
              <a:off x="5407545" y="4455814"/>
              <a:ext cx="1745588" cy="534988"/>
            </a:xfrm>
            <a:prstGeom prst="rect">
              <a:avLst/>
            </a:prstGeom>
            <a:solidFill>
              <a:srgbClr val="00FF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26"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发送方应用程序</a:t>
              </a:r>
            </a:p>
          </p:txBody>
        </p:sp>
        <p:sp>
          <p:nvSpPr>
            <p:cNvPr id="27" name="Line 9"/>
            <p:cNvSpPr>
              <a:spLocks noChangeShapeType="1"/>
            </p:cNvSpPr>
            <p:nvPr/>
          </p:nvSpPr>
          <p:spPr bwMode="auto">
            <a:xfrm>
              <a:off x="463144" y="3066754"/>
              <a:ext cx="10293325"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Rectangle 30"/>
            <p:cNvSpPr>
              <a:spLocks noChangeArrowheads="1"/>
            </p:cNvSpPr>
            <p:nvPr/>
          </p:nvSpPr>
          <p:spPr bwMode="auto">
            <a:xfrm>
              <a:off x="2207012" y="4243090"/>
              <a:ext cx="3929725" cy="962025"/>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9"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3"/>
            <p:cNvSpPr>
              <a:spLocks noChangeShapeType="1"/>
            </p:cNvSpPr>
            <p:nvPr/>
          </p:nvSpPr>
          <p:spPr bwMode="auto">
            <a:xfrm flipH="1">
              <a:off x="7153133" y="4455814"/>
              <a:ext cx="0" cy="53498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发送缓存</a:t>
              </a:r>
            </a:p>
          </p:txBody>
        </p:sp>
        <p:sp>
          <p:nvSpPr>
            <p:cNvPr id="34" name="Text Box 16"/>
            <p:cNvSpPr txBox="1">
              <a:spLocks noChangeArrowheads="1"/>
            </p:cNvSpPr>
            <p:nvPr/>
          </p:nvSpPr>
          <p:spPr bwMode="auto">
            <a:xfrm>
              <a:off x="4752044" y="5486009"/>
              <a:ext cx="1323686"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最后发送</a:t>
              </a:r>
            </a:p>
            <a:p>
              <a:pPr algn="ctr"/>
              <a:r>
                <a:rPr lang="zh-CN" altLang="en-US" sz="1200" b="1" dirty="0">
                  <a:latin typeface="微软雅黑" pitchFamily="34" charset="-122"/>
                  <a:ea typeface="微软雅黑" pitchFamily="34" charset="-122"/>
                </a:rPr>
                <a:t>的字节</a:t>
              </a:r>
            </a:p>
          </p:txBody>
        </p:sp>
        <p:sp>
          <p:nvSpPr>
            <p:cNvPr id="35" name="Line 17"/>
            <p:cNvSpPr>
              <a:spLocks noChangeShapeType="1"/>
            </p:cNvSpPr>
            <p:nvPr/>
          </p:nvSpPr>
          <p:spPr bwMode="auto">
            <a:xfrm>
              <a:off x="5407545"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Text Box 18"/>
            <p:cNvSpPr txBox="1">
              <a:spLocks noChangeArrowheads="1"/>
            </p:cNvSpPr>
            <p:nvPr/>
          </p:nvSpPr>
          <p:spPr bwMode="auto">
            <a:xfrm>
              <a:off x="3586363" y="383500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0000FF"/>
                  </a:solidFill>
                  <a:latin typeface="微软雅黑" pitchFamily="34" charset="-122"/>
                  <a:ea typeface="微软雅黑" pitchFamily="34" charset="-122"/>
                </a:rPr>
                <a:t>发送窗口</a:t>
              </a:r>
            </a:p>
          </p:txBody>
        </p:sp>
        <p:sp>
          <p:nvSpPr>
            <p:cNvPr id="37" name="Rectangle 19"/>
            <p:cNvSpPr>
              <a:spLocks noChangeArrowheads="1"/>
            </p:cNvSpPr>
            <p:nvPr/>
          </p:nvSpPr>
          <p:spPr bwMode="auto">
            <a:xfrm>
              <a:off x="2207013" y="4455814"/>
              <a:ext cx="3200533" cy="534988"/>
            </a:xfrm>
            <a:prstGeom prst="rect">
              <a:avLst/>
            </a:prstGeom>
            <a:solidFill>
              <a:srgbClr val="99FFCC"/>
            </a:solidFill>
            <a:ln>
              <a:noFill/>
            </a:ln>
            <a:effectLst/>
          </p:spPr>
          <p:txBody>
            <a:bodyPr wrap="none" anchor="ctr"/>
            <a:lstStyle/>
            <a:p>
              <a:pPr algn="ctr"/>
              <a:r>
                <a:rPr lang="zh-CN" altLang="en-US" sz="1400" b="1" dirty="0">
                  <a:latin typeface="微软雅黑" pitchFamily="34" charset="-122"/>
                  <a:ea typeface="微软雅黑" pitchFamily="34" charset="-122"/>
                </a:rPr>
                <a:t>已发送</a:t>
              </a:r>
            </a:p>
          </p:txBody>
        </p:sp>
        <p:grpSp>
          <p:nvGrpSpPr>
            <p:cNvPr id="38" name="Group 35"/>
            <p:cNvGrpSpPr>
              <a:grpSpLocks/>
            </p:cNvGrpSpPr>
            <p:nvPr/>
          </p:nvGrpSpPr>
          <p:grpSpPr bwMode="auto">
            <a:xfrm>
              <a:off x="2207013" y="4990802"/>
              <a:ext cx="3200533" cy="500062"/>
              <a:chOff x="1154" y="3189"/>
              <a:chExt cx="1861" cy="270"/>
            </a:xfrm>
          </p:grpSpPr>
          <p:sp>
            <p:nvSpPr>
              <p:cNvPr id="47" name="Line 15"/>
              <p:cNvSpPr>
                <a:spLocks noChangeShapeType="1"/>
              </p:cNvSpPr>
              <p:nvPr/>
            </p:nvSpPr>
            <p:spPr bwMode="auto">
              <a:xfrm flipV="1">
                <a:off x="1154"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8" name="Line 23"/>
              <p:cNvSpPr>
                <a:spLocks noChangeShapeType="1"/>
              </p:cNvSpPr>
              <p:nvPr/>
            </p:nvSpPr>
            <p:spPr bwMode="auto">
              <a:xfrm flipV="1">
                <a:off x="3015"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9" name="Line 24"/>
            <p:cNvSpPr>
              <a:spLocks noChangeShapeType="1"/>
            </p:cNvSpPr>
            <p:nvPr/>
          </p:nvSpPr>
          <p:spPr bwMode="auto">
            <a:xfrm>
              <a:off x="2207013" y="3387427"/>
              <a:ext cx="0" cy="8556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Freeform 26"/>
            <p:cNvSpPr>
              <a:spLocks/>
            </p:cNvSpPr>
            <p:nvPr/>
          </p:nvSpPr>
          <p:spPr bwMode="auto">
            <a:xfrm>
              <a:off x="5154463" y="2741314"/>
              <a:ext cx="1998671" cy="1714500"/>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Text Box 27"/>
            <p:cNvSpPr txBox="1">
              <a:spLocks noChangeArrowheads="1"/>
            </p:cNvSpPr>
            <p:nvPr/>
          </p:nvSpPr>
          <p:spPr bwMode="auto">
            <a:xfrm>
              <a:off x="9654000" y="3047153"/>
              <a:ext cx="874609"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43"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31"/>
            <p:cNvSpPr>
              <a:spLocks noChangeShapeType="1"/>
            </p:cNvSpPr>
            <p:nvPr/>
          </p:nvSpPr>
          <p:spPr bwMode="auto">
            <a:xfrm>
              <a:off x="7409068" y="5212233"/>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Text Box 32"/>
            <p:cNvSpPr txBox="1">
              <a:spLocks noChangeArrowheads="1"/>
            </p:cNvSpPr>
            <p:nvPr/>
          </p:nvSpPr>
          <p:spPr bwMode="auto">
            <a:xfrm>
              <a:off x="7424503" y="5268891"/>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grpSp>
      <p:grpSp>
        <p:nvGrpSpPr>
          <p:cNvPr id="7" name="组合 6"/>
          <p:cNvGrpSpPr/>
          <p:nvPr/>
        </p:nvGrpSpPr>
        <p:grpSpPr>
          <a:xfrm>
            <a:off x="770823" y="3301249"/>
            <a:ext cx="2647233" cy="738664"/>
            <a:chOff x="770823" y="3301249"/>
            <a:chExt cx="2647233" cy="738664"/>
          </a:xfrm>
        </p:grpSpPr>
        <p:sp>
          <p:nvSpPr>
            <p:cNvPr id="21" name="Text Box 57"/>
            <p:cNvSpPr txBox="1">
              <a:spLocks noChangeArrowheads="1"/>
            </p:cNvSpPr>
            <p:nvPr/>
          </p:nvSpPr>
          <p:spPr bwMode="auto">
            <a:xfrm>
              <a:off x="770823" y="3301249"/>
              <a:ext cx="1289714" cy="738664"/>
            </a:xfrm>
            <a:prstGeom prst="rect">
              <a:avLst/>
            </a:prstGeom>
            <a:solidFill>
              <a:srgbClr val="0000FF"/>
            </a:solidFill>
            <a:ln w="9525">
              <a:solidFill>
                <a:schemeClr val="tx1"/>
              </a:solidFill>
              <a:miter lim="800000"/>
              <a:headEnd/>
              <a:tailEnd/>
            </a:ln>
            <a:effectLst/>
          </p:spPr>
          <p:txBody>
            <a:bodyPr wrap="square">
              <a:spAutoFit/>
            </a:bodyPr>
            <a:lstStyle/>
            <a:p>
              <a:r>
                <a:rPr lang="zh-CN" altLang="en-US" sz="1400" b="1" dirty="0">
                  <a:solidFill>
                    <a:schemeClr val="bg1"/>
                  </a:solidFill>
                  <a:latin typeface="微软雅黑" pitchFamily="34" charset="-122"/>
                  <a:ea typeface="微软雅黑" pitchFamily="34" charset="-122"/>
                </a:rPr>
                <a:t>发送窗口通常只是发送缓存的一部分。</a:t>
              </a:r>
            </a:p>
          </p:txBody>
        </p:sp>
        <p:cxnSp>
          <p:nvCxnSpPr>
            <p:cNvPr id="3" name="直接箭头连接符 2"/>
            <p:cNvCxnSpPr/>
            <p:nvPr/>
          </p:nvCxnSpPr>
          <p:spPr>
            <a:xfrm flipH="1">
              <a:off x="2060537" y="3425442"/>
              <a:ext cx="1357519" cy="4298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组合 5"/>
          <p:cNvGrpSpPr/>
          <p:nvPr/>
        </p:nvGrpSpPr>
        <p:grpSpPr>
          <a:xfrm>
            <a:off x="5716644" y="1610996"/>
            <a:ext cx="2655368" cy="791373"/>
            <a:chOff x="5716644" y="1610996"/>
            <a:chExt cx="2655368" cy="791373"/>
          </a:xfrm>
        </p:grpSpPr>
        <p:sp>
          <p:nvSpPr>
            <p:cNvPr id="5" name="矩形 4"/>
            <p:cNvSpPr/>
            <p:nvPr/>
          </p:nvSpPr>
          <p:spPr>
            <a:xfrm>
              <a:off x="6491161" y="1610996"/>
              <a:ext cx="1880851" cy="523220"/>
            </a:xfrm>
            <a:prstGeom prst="rect">
              <a:avLst/>
            </a:prstGeom>
            <a:solidFill>
              <a:schemeClr val="bg1"/>
            </a:solidFill>
          </p:spPr>
          <p:txBody>
            <a:bodyPr wrap="square">
              <a:spAutoFit/>
            </a:bodyPr>
            <a:lstStyle/>
            <a:p>
              <a:r>
                <a:rPr lang="zh-CN" altLang="en-US" sz="1400" b="1" dirty="0">
                  <a:latin typeface="微软雅黑" panose="020B0503020204020204" pitchFamily="34" charset="-122"/>
                  <a:ea typeface="微软雅黑" panose="020B0503020204020204" pitchFamily="34" charset="-122"/>
                </a:rPr>
                <a:t>不能发送太快，否则发送缓存会溢出。</a:t>
              </a:r>
            </a:p>
          </p:txBody>
        </p:sp>
        <p:cxnSp>
          <p:nvCxnSpPr>
            <p:cNvPr id="49" name="直接箭头连接符 48"/>
            <p:cNvCxnSpPr/>
            <p:nvPr/>
          </p:nvCxnSpPr>
          <p:spPr>
            <a:xfrm flipV="1">
              <a:off x="5716644" y="2004064"/>
              <a:ext cx="774517" cy="3983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矩形 7"/>
          <p:cNvSpPr/>
          <p:nvPr/>
        </p:nvSpPr>
        <p:spPr>
          <a:xfrm>
            <a:off x="995082" y="4238706"/>
            <a:ext cx="698527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缓存中的字节数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发送应用程序最后写入缓存的字节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最后被确认的字节</a:t>
            </a:r>
          </a:p>
        </p:txBody>
      </p:sp>
      <p:grpSp>
        <p:nvGrpSpPr>
          <p:cNvPr id="9" name="组合 8"/>
          <p:cNvGrpSpPr/>
          <p:nvPr/>
        </p:nvGrpSpPr>
        <p:grpSpPr>
          <a:xfrm>
            <a:off x="6256453" y="2471721"/>
            <a:ext cx="1782827" cy="556723"/>
            <a:chOff x="6256453" y="2471721"/>
            <a:chExt cx="1782827" cy="556723"/>
          </a:xfrm>
        </p:grpSpPr>
        <p:sp>
          <p:nvSpPr>
            <p:cNvPr id="50" name="矩形 49"/>
            <p:cNvSpPr/>
            <p:nvPr/>
          </p:nvSpPr>
          <p:spPr>
            <a:xfrm>
              <a:off x="6902048" y="2471721"/>
              <a:ext cx="1137232" cy="461665"/>
            </a:xfrm>
            <a:prstGeom prst="rect">
              <a:avLst/>
            </a:prstGeom>
            <a:solidFill>
              <a:srgbClr val="C3E3F9"/>
            </a:solidFill>
          </p:spPr>
          <p:txBody>
            <a:bodyPr wrap="square">
              <a:spAutoFit/>
            </a:bodyPr>
            <a:lstStyle/>
            <a:p>
              <a:pPr algn="ctr"/>
              <a:r>
                <a:rPr lang="zh-CN" altLang="en-US" sz="1200" b="1" dirty="0">
                  <a:latin typeface="微软雅黑" panose="020B0503020204020204" pitchFamily="34" charset="-122"/>
                  <a:ea typeface="微软雅黑" panose="020B0503020204020204" pitchFamily="34" charset="-122"/>
                </a:rPr>
                <a:t>最后写入缓存</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的字节</a:t>
              </a:r>
            </a:p>
          </p:txBody>
        </p:sp>
        <p:cxnSp>
          <p:nvCxnSpPr>
            <p:cNvPr id="51" name="直接箭头连接符 50"/>
            <p:cNvCxnSpPr/>
            <p:nvPr/>
          </p:nvCxnSpPr>
          <p:spPr>
            <a:xfrm flipV="1">
              <a:off x="6256453" y="2752164"/>
              <a:ext cx="813032" cy="2762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nvGrpSpPr>
        <p:grpSpPr>
          <a:xfrm>
            <a:off x="644584" y="1547806"/>
            <a:ext cx="2884051" cy="1374735"/>
            <a:chOff x="644584" y="1547806"/>
            <a:chExt cx="2884051" cy="1374735"/>
          </a:xfrm>
        </p:grpSpPr>
        <p:sp>
          <p:nvSpPr>
            <p:cNvPr id="13" name="矩形 12"/>
            <p:cNvSpPr/>
            <p:nvPr/>
          </p:nvSpPr>
          <p:spPr>
            <a:xfrm>
              <a:off x="644584" y="1547806"/>
              <a:ext cx="2392290"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发送应用程序传送给发送方 </a:t>
              </a:r>
              <a:r>
                <a:rPr lang="en-US" altLang="zh-CN" sz="1400" b="1" dirty="0">
                  <a:latin typeface="微软雅黑" panose="020B0503020204020204" pitchFamily="34" charset="-122"/>
                  <a:ea typeface="微软雅黑" panose="020B0503020204020204" pitchFamily="34" charset="-122"/>
                </a:rPr>
                <a:t>TCP </a:t>
              </a:r>
              <a:r>
                <a:rPr lang="zh-CN" altLang="en-US" sz="1400" b="1" dirty="0">
                  <a:solidFill>
                    <a:srgbClr val="C00000"/>
                  </a:solidFill>
                  <a:latin typeface="微软雅黑" panose="020B0503020204020204" pitchFamily="34" charset="-122"/>
                  <a:ea typeface="微软雅黑" panose="020B0503020204020204" pitchFamily="34" charset="-122"/>
                </a:rPr>
                <a:t>准备发送</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TCP </a:t>
              </a:r>
              <a:r>
                <a:rPr lang="zh-CN" altLang="en-US" sz="1400" b="1" dirty="0">
                  <a:solidFill>
                    <a:srgbClr val="C00000"/>
                  </a:solidFill>
                  <a:latin typeface="微软雅黑" panose="020B0503020204020204" pitchFamily="34" charset="-122"/>
                  <a:ea typeface="微软雅黑" panose="020B0503020204020204" pitchFamily="34" charset="-122"/>
                </a:rPr>
                <a:t>已发送出但尚未收到确认</a:t>
              </a:r>
              <a:r>
                <a:rPr lang="zh-CN" altLang="en-US" sz="1400" b="1" dirty="0">
                  <a:latin typeface="微软雅黑" panose="020B0503020204020204" pitchFamily="34" charset="-122"/>
                  <a:ea typeface="微软雅黑" panose="020B0503020204020204" pitchFamily="34" charset="-122"/>
                </a:rPr>
                <a:t>的数据。</a:t>
              </a:r>
            </a:p>
          </p:txBody>
        </p:sp>
        <p:cxnSp>
          <p:nvCxnSpPr>
            <p:cNvPr id="52" name="直接箭头连接符 51"/>
            <p:cNvCxnSpPr/>
            <p:nvPr/>
          </p:nvCxnSpPr>
          <p:spPr>
            <a:xfrm flipH="1" flipV="1">
              <a:off x="2855501" y="2686939"/>
              <a:ext cx="673134" cy="1004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21242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fltVal val="0"/>
                                          </p:val>
                                        </p:tav>
                                        <p:tav tm="100000">
                                          <p:val>
                                            <p:strVal val="#ppt_w"/>
                                          </p:val>
                                        </p:tav>
                                      </p:tavLst>
                                    </p:anim>
                                    <p:anim calcmode="lin" valueType="num">
                                      <p:cBhvr>
                                        <p:cTn id="13" dur="500" fill="hold"/>
                                        <p:tgtEl>
                                          <p:spTgt spid="20"/>
                                        </p:tgtEl>
                                        <p:attrNameLst>
                                          <p:attrName>ppt_h</p:attrName>
                                        </p:attrNameLst>
                                      </p:cBhvr>
                                      <p:tavLst>
                                        <p:tav tm="0">
                                          <p:val>
                                            <p:fltVal val="0"/>
                                          </p:val>
                                        </p:tav>
                                        <p:tav tm="100000">
                                          <p:val>
                                            <p:strVal val="#ppt_h"/>
                                          </p:val>
                                        </p:tav>
                                      </p:tavLst>
                                    </p:anim>
                                    <p:animEffect transition="in" filter="fade">
                                      <p:cBhvr>
                                        <p:cTn id="14" dur="500"/>
                                        <p:tgtEl>
                                          <p:spTgt spid="20"/>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8" grpId="0"/>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4" name="Text Box 155"/>
          <p:cNvSpPr txBox="1">
            <a:spLocks noChangeArrowheads="1"/>
          </p:cNvSpPr>
          <p:nvPr/>
        </p:nvSpPr>
        <p:spPr bwMode="auto">
          <a:xfrm>
            <a:off x="1741120" y="1123849"/>
            <a:ext cx="591474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接收方的应用进程从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接收缓存中读取尚未被读取的字节。</a:t>
            </a:r>
          </a:p>
        </p:txBody>
      </p:sp>
      <p:grpSp>
        <p:nvGrpSpPr>
          <p:cNvPr id="45" name="组合 44"/>
          <p:cNvGrpSpPr/>
          <p:nvPr/>
        </p:nvGrpSpPr>
        <p:grpSpPr>
          <a:xfrm>
            <a:off x="2521051" y="1609886"/>
            <a:ext cx="5753372" cy="2517796"/>
            <a:chOff x="366836" y="2074454"/>
            <a:chExt cx="9516969" cy="4164822"/>
          </a:xfrm>
        </p:grpSpPr>
        <p:sp>
          <p:nvSpPr>
            <p:cNvPr id="46"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6"/>
            <p:cNvSpPr txBox="1">
              <a:spLocks noChangeArrowheads="1"/>
            </p:cNvSpPr>
            <p:nvPr/>
          </p:nvSpPr>
          <p:spPr bwMode="auto">
            <a:xfrm>
              <a:off x="2688908"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下一个期望收到的字节</a:t>
              </a:r>
            </a:p>
          </p:txBody>
        </p:sp>
        <p:sp>
          <p:nvSpPr>
            <p:cNvPr id="48"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接收方应用程序</a:t>
              </a:r>
            </a:p>
          </p:txBody>
        </p:sp>
        <p:sp>
          <p:nvSpPr>
            <p:cNvPr id="49" name="Line 9"/>
            <p:cNvSpPr>
              <a:spLocks noChangeShapeType="1"/>
            </p:cNvSpPr>
            <p:nvPr/>
          </p:nvSpPr>
          <p:spPr bwMode="auto">
            <a:xfrm>
              <a:off x="463143" y="3066754"/>
              <a:ext cx="9420662"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0" name="Rectangle 30"/>
            <p:cNvSpPr>
              <a:spLocks noChangeArrowheads="1"/>
            </p:cNvSpPr>
            <p:nvPr/>
          </p:nvSpPr>
          <p:spPr bwMode="auto">
            <a:xfrm>
              <a:off x="3807279" y="4243089"/>
              <a:ext cx="4085363" cy="962024"/>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1"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2"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4"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接收缓存</a:t>
              </a:r>
            </a:p>
          </p:txBody>
        </p:sp>
        <p:sp>
          <p:nvSpPr>
            <p:cNvPr id="55" name="Text Box 18"/>
            <p:cNvSpPr txBox="1">
              <a:spLocks noChangeArrowheads="1"/>
            </p:cNvSpPr>
            <p:nvPr/>
          </p:nvSpPr>
          <p:spPr bwMode="auto">
            <a:xfrm>
              <a:off x="5158235" y="384983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接收窗口</a:t>
              </a:r>
            </a:p>
          </p:txBody>
        </p:sp>
        <p:sp>
          <p:nvSpPr>
            <p:cNvPr id="56" name="Rectangle 19"/>
            <p:cNvSpPr>
              <a:spLocks noChangeArrowheads="1"/>
            </p:cNvSpPr>
            <p:nvPr/>
          </p:nvSpPr>
          <p:spPr bwMode="auto">
            <a:xfrm>
              <a:off x="2207015" y="4455814"/>
              <a:ext cx="1600265"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57" name="Line 24"/>
            <p:cNvSpPr>
              <a:spLocks noChangeShapeType="1"/>
            </p:cNvSpPr>
            <p:nvPr/>
          </p:nvSpPr>
          <p:spPr bwMode="auto">
            <a:xfrm>
              <a:off x="2207013" y="3387427"/>
              <a:ext cx="0" cy="106838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8"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Freeform 26"/>
            <p:cNvSpPr>
              <a:spLocks/>
            </p:cNvSpPr>
            <p:nvPr/>
          </p:nvSpPr>
          <p:spPr bwMode="auto">
            <a:xfrm flipH="1">
              <a:off x="2220773" y="2741315"/>
              <a:ext cx="2933693" cy="1714501"/>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Text Box 27"/>
            <p:cNvSpPr txBox="1">
              <a:spLocks noChangeArrowheads="1"/>
            </p:cNvSpPr>
            <p:nvPr/>
          </p:nvSpPr>
          <p:spPr bwMode="auto">
            <a:xfrm>
              <a:off x="8838477" y="3042940"/>
              <a:ext cx="874610"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61"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3" name="Line 31"/>
            <p:cNvSpPr>
              <a:spLocks noChangeShapeType="1"/>
            </p:cNvSpPr>
            <p:nvPr/>
          </p:nvSpPr>
          <p:spPr bwMode="auto">
            <a:xfrm>
              <a:off x="7994374" y="5301209"/>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Text Box 32"/>
            <p:cNvSpPr txBox="1">
              <a:spLocks noChangeArrowheads="1"/>
            </p:cNvSpPr>
            <p:nvPr/>
          </p:nvSpPr>
          <p:spPr bwMode="auto">
            <a:xfrm>
              <a:off x="8009809" y="5357867"/>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sp>
          <p:nvSpPr>
            <p:cNvPr id="65" name="Rectangle 19"/>
            <p:cNvSpPr>
              <a:spLocks noChangeArrowheads="1"/>
            </p:cNvSpPr>
            <p:nvPr/>
          </p:nvSpPr>
          <p:spPr bwMode="auto">
            <a:xfrm>
              <a:off x="4912276" y="4455814"/>
              <a:ext cx="242188"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66" name="Text Box 6"/>
            <p:cNvSpPr txBox="1">
              <a:spLocks noChangeArrowheads="1"/>
            </p:cNvSpPr>
            <p:nvPr/>
          </p:nvSpPr>
          <p:spPr bwMode="auto">
            <a:xfrm>
              <a:off x="580657" y="3591854"/>
              <a:ext cx="157824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下一个读取</a:t>
              </a:r>
            </a:p>
            <a:p>
              <a:pPr algn="ctr"/>
              <a:r>
                <a:rPr lang="zh-CN" altLang="en-US" sz="1200" b="1" dirty="0">
                  <a:latin typeface="微软雅黑" pitchFamily="34" charset="-122"/>
                  <a:ea typeface="微软雅黑" pitchFamily="34" charset="-122"/>
                </a:rPr>
                <a:t>的字节</a:t>
              </a:r>
            </a:p>
          </p:txBody>
        </p:sp>
        <p:sp>
          <p:nvSpPr>
            <p:cNvPr id="34" name="Text Box 6"/>
            <p:cNvSpPr txBox="1">
              <a:spLocks noChangeArrowheads="1"/>
            </p:cNvSpPr>
            <p:nvPr/>
          </p:nvSpPr>
          <p:spPr bwMode="auto">
            <a:xfrm>
              <a:off x="4535610"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未按序到达的字节</a:t>
              </a:r>
            </a:p>
          </p:txBody>
        </p:sp>
        <p:sp>
          <p:nvSpPr>
            <p:cNvPr id="35" name="Text Box 6"/>
            <p:cNvSpPr txBox="1">
              <a:spLocks noChangeArrowheads="1"/>
            </p:cNvSpPr>
            <p:nvPr/>
          </p:nvSpPr>
          <p:spPr bwMode="auto">
            <a:xfrm>
              <a:off x="2158897" y="4361320"/>
              <a:ext cx="154188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按序到达的字节</a:t>
              </a:r>
            </a:p>
          </p:txBody>
        </p:sp>
      </p:grpSp>
      <p:sp>
        <p:nvSpPr>
          <p:cNvPr id="67" name="Line 15"/>
          <p:cNvSpPr>
            <a:spLocks noChangeShapeType="1"/>
          </p:cNvSpPr>
          <p:nvPr/>
        </p:nvSpPr>
        <p:spPr bwMode="auto">
          <a:xfrm flipV="1">
            <a:off x="4594602" y="3372931"/>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 name="组合 1"/>
          <p:cNvGrpSpPr/>
          <p:nvPr/>
        </p:nvGrpSpPr>
        <p:grpSpPr>
          <a:xfrm>
            <a:off x="644584" y="1547806"/>
            <a:ext cx="3515956" cy="1374735"/>
            <a:chOff x="644584" y="1547806"/>
            <a:chExt cx="3515956" cy="1374735"/>
          </a:xfrm>
        </p:grpSpPr>
        <p:sp>
          <p:nvSpPr>
            <p:cNvPr id="30" name="矩形 29"/>
            <p:cNvSpPr/>
            <p:nvPr/>
          </p:nvSpPr>
          <p:spPr>
            <a:xfrm>
              <a:off x="644584" y="1547806"/>
              <a:ext cx="1964145"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按序到达的、但尚</a:t>
              </a:r>
              <a:r>
                <a:rPr lang="zh-CN" altLang="en-US" sz="1400" b="1" dirty="0">
                  <a:solidFill>
                    <a:srgbClr val="C00000"/>
                  </a:solidFill>
                  <a:latin typeface="微软雅黑" panose="020B0503020204020204" pitchFamily="34" charset="-122"/>
                  <a:ea typeface="微软雅黑" panose="020B0503020204020204" pitchFamily="34" charset="-122"/>
                </a:rPr>
                <a:t>未被</a:t>
              </a:r>
              <a:r>
                <a:rPr lang="zh-CN" altLang="en-US" sz="1400" b="1" dirty="0">
                  <a:latin typeface="微软雅黑" panose="020B0503020204020204" pitchFamily="34" charset="-122"/>
                  <a:ea typeface="微软雅黑" panose="020B0503020204020204" pitchFamily="34" charset="-122"/>
                </a:rPr>
                <a:t>接收应用程序</a:t>
              </a:r>
              <a:r>
                <a:rPr lang="zh-CN" altLang="en-US" sz="1400" b="1" dirty="0">
                  <a:solidFill>
                    <a:srgbClr val="C00000"/>
                  </a:solidFill>
                  <a:latin typeface="微软雅黑" panose="020B0503020204020204" pitchFamily="34" charset="-122"/>
                  <a:ea typeface="微软雅黑" panose="020B0503020204020204" pitchFamily="34" charset="-122"/>
                </a:rPr>
                <a:t>读取</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a:t>
              </a:r>
              <a:r>
                <a:rPr lang="zh-CN" altLang="en-US" sz="1400" b="1" dirty="0">
                  <a:solidFill>
                    <a:srgbClr val="C00000"/>
                  </a:solidFill>
                  <a:latin typeface="微软雅黑" panose="020B0503020204020204" pitchFamily="34" charset="-122"/>
                  <a:ea typeface="微软雅黑" panose="020B0503020204020204" pitchFamily="34" charset="-122"/>
                </a:rPr>
                <a:t>未按序到达</a:t>
              </a:r>
              <a:r>
                <a:rPr lang="zh-CN" altLang="en-US" sz="1400" b="1" dirty="0">
                  <a:latin typeface="微软雅黑" panose="020B0503020204020204" pitchFamily="34" charset="-122"/>
                  <a:ea typeface="微软雅黑" panose="020B0503020204020204" pitchFamily="34" charset="-122"/>
                </a:rPr>
                <a:t>的数据。</a:t>
              </a:r>
            </a:p>
          </p:txBody>
        </p:sp>
        <p:cxnSp>
          <p:nvCxnSpPr>
            <p:cNvPr id="31" name="直接箭头连接符 30"/>
            <p:cNvCxnSpPr/>
            <p:nvPr/>
          </p:nvCxnSpPr>
          <p:spPr>
            <a:xfrm flipH="1" flipV="1">
              <a:off x="2470841" y="2378489"/>
              <a:ext cx="1689699" cy="351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3" name="Line 15"/>
          <p:cNvSpPr>
            <a:spLocks noChangeShapeType="1"/>
          </p:cNvSpPr>
          <p:nvPr/>
        </p:nvSpPr>
        <p:spPr bwMode="auto">
          <a:xfrm flipV="1">
            <a:off x="5342150" y="3351337"/>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cxnSp>
        <p:nvCxnSpPr>
          <p:cNvPr id="37" name="直接箭头连接符 36"/>
          <p:cNvCxnSpPr/>
          <p:nvPr/>
        </p:nvCxnSpPr>
        <p:spPr>
          <a:xfrm>
            <a:off x="3395557" y="2859075"/>
            <a:ext cx="191165" cy="149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624722" y="3452644"/>
            <a:ext cx="3235870" cy="1118255"/>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若不能及时读取，缓存最终会被填满，使接收窗口减小到零。</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如果能够及时读取，接收窗口就可以增大，但最大不能超过接收缓存的大小。</a:t>
            </a:r>
          </a:p>
        </p:txBody>
      </p:sp>
      <p:sp>
        <p:nvSpPr>
          <p:cNvPr id="41" name="Rectangle 6"/>
          <p:cNvSpPr>
            <a:spLocks noChangeArrowheads="1"/>
          </p:cNvSpPr>
          <p:nvPr/>
        </p:nvSpPr>
        <p:spPr bwMode="auto">
          <a:xfrm>
            <a:off x="3278393"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接收缓存与接收窗口 </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44"/>
                                        </p:tgtEl>
                                        <p:attrNameLst>
                                          <p:attrName>style.visibility</p:attrName>
                                        </p:attrNameLst>
                                      </p:cBhvr>
                                      <p:to>
                                        <p:strVal val="visible"/>
                                      </p:to>
                                    </p:set>
                                    <p:anim calcmode="lin" valueType="num">
                                      <p:cBhvr>
                                        <p:cTn id="12" dur="500" fill="hold"/>
                                        <p:tgtEl>
                                          <p:spTgt spid="44"/>
                                        </p:tgtEl>
                                        <p:attrNameLst>
                                          <p:attrName>ppt_w</p:attrName>
                                        </p:attrNameLst>
                                      </p:cBhvr>
                                      <p:tavLst>
                                        <p:tav tm="0">
                                          <p:val>
                                            <p:fltVal val="0"/>
                                          </p:val>
                                        </p:tav>
                                        <p:tav tm="100000">
                                          <p:val>
                                            <p:strVal val="#ppt_w"/>
                                          </p:val>
                                        </p:tav>
                                      </p:tavLst>
                                    </p:anim>
                                    <p:anim calcmode="lin" valueType="num">
                                      <p:cBhvr>
                                        <p:cTn id="13" dur="500" fill="hold"/>
                                        <p:tgtEl>
                                          <p:spTgt spid="44"/>
                                        </p:tgtEl>
                                        <p:attrNameLst>
                                          <p:attrName>ppt_h</p:attrName>
                                        </p:attrNameLst>
                                      </p:cBhvr>
                                      <p:tavLst>
                                        <p:tav tm="0">
                                          <p:val>
                                            <p:fltVal val="0"/>
                                          </p:val>
                                        </p:tav>
                                        <p:tav tm="100000">
                                          <p:val>
                                            <p:strVal val="#ppt_h"/>
                                          </p:val>
                                        </p:tav>
                                      </p:tavLst>
                                    </p:anim>
                                    <p:animEffect transition="in" filter="fade">
                                      <p:cBhvr>
                                        <p:cTn id="14" dur="500"/>
                                        <p:tgtEl>
                                          <p:spTgt spid="4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 grpId="0" animBg="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E517906-95D6-74CE-B9A2-901DDBDB39CF}"/>
              </a:ext>
            </a:extLst>
          </p:cNvPr>
          <p:cNvSpPr>
            <a:spLocks noGrp="1"/>
          </p:cNvSpPr>
          <p:nvPr>
            <p:ph sz="quarter" idx="11"/>
          </p:nvPr>
        </p:nvSpPr>
        <p:spPr>
          <a:xfrm>
            <a:off x="486000" y="900000"/>
            <a:ext cx="8172000" cy="3703500"/>
          </a:xfrm>
        </p:spPr>
        <p:txBody>
          <a:bodyPr/>
          <a:lstStyle/>
          <a:p>
            <a:r>
              <a:rPr lang="zh-CN" altLang="en-US" dirty="0"/>
              <a:t>第一，发送窗口是根据接收窗口设置的，但在同一时刻，发送窗口并不总是和接收窗口一样大（因为有一定的时间滞后）。</a:t>
            </a:r>
          </a:p>
          <a:p>
            <a:r>
              <a:rPr lang="zh-CN" altLang="en-US" dirty="0"/>
              <a:t>第二，</a:t>
            </a:r>
            <a:r>
              <a:rPr lang="en-US" altLang="zh-CN" dirty="0"/>
              <a:t>TCP </a:t>
            </a:r>
            <a:r>
              <a:rPr lang="zh-CN" altLang="en-US" dirty="0"/>
              <a:t>标准没有规定对不按序到达的数据应如何处理。通常是先临时存放在接收窗口中，等到字节流中所缺少的字节收到后，再按序交付上层的应用进程。</a:t>
            </a:r>
          </a:p>
          <a:p>
            <a:r>
              <a:rPr lang="zh-CN" altLang="en-US" dirty="0"/>
              <a:t>第三，</a:t>
            </a:r>
            <a:r>
              <a:rPr lang="en-US" altLang="zh-CN" dirty="0"/>
              <a:t>TCP </a:t>
            </a:r>
            <a:r>
              <a:rPr lang="zh-CN" altLang="en-US" dirty="0"/>
              <a:t>要求接收方必须有累积确认的功能，以减小传输开销。接收方可以在合适的时候发送确认，也可以在自己有数据要发送时把确认信息顺便捎带上。但接收方不应过分推迟发送确认，否则会导致发送方不必要的重传，捎带确认实际上并不经常发生。</a:t>
            </a:r>
          </a:p>
          <a:p>
            <a:endParaRPr lang="zh-CN" altLang="en-US" dirty="0"/>
          </a:p>
        </p:txBody>
      </p:sp>
      <p:sp>
        <p:nvSpPr>
          <p:cNvPr id="5" name="标题 4">
            <a:extLst>
              <a:ext uri="{FF2B5EF4-FFF2-40B4-BE49-F238E27FC236}">
                <a16:creationId xmlns:a16="http://schemas.microsoft.com/office/drawing/2014/main" id="{FA624BB6-6621-04D2-A126-DB0800F9AFE1}"/>
              </a:ext>
            </a:extLst>
          </p:cNvPr>
          <p:cNvSpPr>
            <a:spLocks noGrp="1"/>
          </p:cNvSpPr>
          <p:nvPr>
            <p:ph type="title"/>
          </p:nvPr>
        </p:nvSpPr>
        <p:spPr>
          <a:xfrm>
            <a:off x="486000" y="550723"/>
            <a:ext cx="8172000" cy="338554"/>
          </a:xfrm>
        </p:spPr>
        <p:txBody>
          <a:bodyPr/>
          <a:lstStyle/>
          <a:p>
            <a:r>
              <a:rPr lang="zh-CN" altLang="en-US" dirty="0"/>
              <a:t>需要强调三点</a:t>
            </a:r>
          </a:p>
        </p:txBody>
      </p:sp>
    </p:spTree>
    <p:extLst>
      <p:ext uri="{BB962C8B-B14F-4D97-AF65-F5344CB8AC3E}">
        <p14:creationId xmlns:p14="http://schemas.microsoft.com/office/powerpoint/2010/main" val="37765666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组合 7"/>
          <p:cNvGrpSpPr/>
          <p:nvPr/>
        </p:nvGrpSpPr>
        <p:grpSpPr>
          <a:xfrm>
            <a:off x="1369298" y="2734234"/>
            <a:ext cx="6424106" cy="1419254"/>
            <a:chOff x="-684726" y="2708920"/>
            <a:chExt cx="10194576" cy="3359123"/>
          </a:xfrm>
        </p:grpSpPr>
        <p:sp>
          <p:nvSpPr>
            <p:cNvPr id="9" name="Line 4"/>
            <p:cNvSpPr>
              <a:spLocks noChangeShapeType="1"/>
            </p:cNvSpPr>
            <p:nvPr/>
          </p:nvSpPr>
          <p:spPr bwMode="auto">
            <a:xfrm>
              <a:off x="779976" y="5436244"/>
              <a:ext cx="8659152" cy="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5"/>
            <p:cNvSpPr>
              <a:spLocks noChangeShapeType="1"/>
            </p:cNvSpPr>
            <p:nvPr/>
          </p:nvSpPr>
          <p:spPr bwMode="auto">
            <a:xfrm rot="5400000" flipH="1">
              <a:off x="-515556" y="4140712"/>
              <a:ext cx="2587625" cy="344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Freeform 6"/>
            <p:cNvSpPr>
              <a:spLocks/>
            </p:cNvSpPr>
            <p:nvPr/>
          </p:nvSpPr>
          <p:spPr bwMode="auto">
            <a:xfrm>
              <a:off x="2953793" y="2818458"/>
              <a:ext cx="2005277" cy="2617787"/>
            </a:xfrm>
            <a:custGeom>
              <a:avLst/>
              <a:gdLst>
                <a:gd name="T0" fmla="*/ 0 w 360"/>
                <a:gd name="T1" fmla="*/ 1012 h 1012"/>
                <a:gd name="T2" fmla="*/ 84 w 360"/>
                <a:gd name="T3" fmla="*/ 982 h 1012"/>
                <a:gd name="T4" fmla="*/ 117 w 360"/>
                <a:gd name="T5" fmla="*/ 934 h 1012"/>
                <a:gd name="T6" fmla="*/ 135 w 360"/>
                <a:gd name="T7" fmla="*/ 844 h 1012"/>
                <a:gd name="T8" fmla="*/ 159 w 360"/>
                <a:gd name="T9" fmla="*/ 364 h 1012"/>
                <a:gd name="T10" fmla="*/ 171 w 360"/>
                <a:gd name="T11" fmla="*/ 109 h 1012"/>
                <a:gd name="T12" fmla="*/ 183 w 360"/>
                <a:gd name="T13" fmla="*/ 16 h 1012"/>
                <a:gd name="T14" fmla="*/ 201 w 360"/>
                <a:gd name="T15" fmla="*/ 16 h 1012"/>
                <a:gd name="T16" fmla="*/ 207 w 360"/>
                <a:gd name="T17" fmla="*/ 112 h 1012"/>
                <a:gd name="T18" fmla="*/ 216 w 360"/>
                <a:gd name="T19" fmla="*/ 367 h 1012"/>
                <a:gd name="T20" fmla="*/ 231 w 360"/>
                <a:gd name="T21" fmla="*/ 847 h 1012"/>
                <a:gd name="T22" fmla="*/ 255 w 360"/>
                <a:gd name="T23" fmla="*/ 961 h 1012"/>
                <a:gd name="T24" fmla="*/ 360 w 360"/>
                <a:gd name="T25" fmla="*/ 1009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0" h="1012">
                  <a:moveTo>
                    <a:pt x="0" y="1012"/>
                  </a:moveTo>
                  <a:cubicBezTo>
                    <a:pt x="14" y="1007"/>
                    <a:pt x="65" y="995"/>
                    <a:pt x="84" y="982"/>
                  </a:cubicBezTo>
                  <a:cubicBezTo>
                    <a:pt x="110" y="970"/>
                    <a:pt x="105" y="960"/>
                    <a:pt x="117" y="934"/>
                  </a:cubicBezTo>
                  <a:cubicBezTo>
                    <a:pt x="129" y="908"/>
                    <a:pt x="128" y="939"/>
                    <a:pt x="135" y="844"/>
                  </a:cubicBezTo>
                  <a:cubicBezTo>
                    <a:pt x="142" y="749"/>
                    <a:pt x="153" y="486"/>
                    <a:pt x="159" y="364"/>
                  </a:cubicBezTo>
                  <a:cubicBezTo>
                    <a:pt x="165" y="242"/>
                    <a:pt x="167" y="167"/>
                    <a:pt x="171" y="109"/>
                  </a:cubicBezTo>
                  <a:cubicBezTo>
                    <a:pt x="175" y="51"/>
                    <a:pt x="178" y="31"/>
                    <a:pt x="183" y="16"/>
                  </a:cubicBezTo>
                  <a:cubicBezTo>
                    <a:pt x="188" y="1"/>
                    <a:pt x="197" y="0"/>
                    <a:pt x="201" y="16"/>
                  </a:cubicBezTo>
                  <a:cubicBezTo>
                    <a:pt x="205" y="32"/>
                    <a:pt x="205" y="54"/>
                    <a:pt x="207" y="112"/>
                  </a:cubicBezTo>
                  <a:cubicBezTo>
                    <a:pt x="209" y="170"/>
                    <a:pt x="212" y="245"/>
                    <a:pt x="216" y="367"/>
                  </a:cubicBezTo>
                  <a:cubicBezTo>
                    <a:pt x="220" y="489"/>
                    <a:pt x="225" y="748"/>
                    <a:pt x="231" y="847"/>
                  </a:cubicBezTo>
                  <a:cubicBezTo>
                    <a:pt x="237" y="946"/>
                    <a:pt x="234" y="934"/>
                    <a:pt x="255" y="961"/>
                  </a:cubicBezTo>
                  <a:cubicBezTo>
                    <a:pt x="281" y="988"/>
                    <a:pt x="339" y="998"/>
                    <a:pt x="360" y="1009"/>
                  </a:cubicBez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Freeform 7"/>
            <p:cNvSpPr>
              <a:spLocks/>
            </p:cNvSpPr>
            <p:nvPr/>
          </p:nvSpPr>
          <p:spPr bwMode="auto">
            <a:xfrm>
              <a:off x="2496328" y="4780610"/>
              <a:ext cx="5897167" cy="655638"/>
            </a:xfrm>
            <a:custGeom>
              <a:avLst/>
              <a:gdLst>
                <a:gd name="T0" fmla="*/ 0 w 1608"/>
                <a:gd name="T1" fmla="*/ 160 h 160"/>
                <a:gd name="T2" fmla="*/ 120 w 1608"/>
                <a:gd name="T3" fmla="*/ 94 h 160"/>
                <a:gd name="T4" fmla="*/ 264 w 1608"/>
                <a:gd name="T5" fmla="*/ 13 h 160"/>
                <a:gd name="T6" fmla="*/ 441 w 1608"/>
                <a:gd name="T7" fmla="*/ 13 h 160"/>
                <a:gd name="T8" fmla="*/ 708 w 1608"/>
                <a:gd name="T9" fmla="*/ 70 h 160"/>
                <a:gd name="T10" fmla="*/ 858 w 1608"/>
                <a:gd name="T11" fmla="*/ 112 h 160"/>
                <a:gd name="T12" fmla="*/ 1041 w 1608"/>
                <a:gd name="T13" fmla="*/ 133 h 160"/>
                <a:gd name="T14" fmla="*/ 1230 w 1608"/>
                <a:gd name="T15" fmla="*/ 145 h 160"/>
                <a:gd name="T16" fmla="*/ 1608 w 1608"/>
                <a:gd name="T17" fmla="*/ 16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08" h="160">
                  <a:moveTo>
                    <a:pt x="0" y="160"/>
                  </a:moveTo>
                  <a:cubicBezTo>
                    <a:pt x="20" y="149"/>
                    <a:pt x="76" y="118"/>
                    <a:pt x="120" y="94"/>
                  </a:cubicBezTo>
                  <a:cubicBezTo>
                    <a:pt x="164" y="70"/>
                    <a:pt x="211" y="26"/>
                    <a:pt x="264" y="13"/>
                  </a:cubicBezTo>
                  <a:cubicBezTo>
                    <a:pt x="317" y="0"/>
                    <a:pt x="367" y="4"/>
                    <a:pt x="441" y="13"/>
                  </a:cubicBezTo>
                  <a:cubicBezTo>
                    <a:pt x="515" y="22"/>
                    <a:pt x="639" y="54"/>
                    <a:pt x="708" y="70"/>
                  </a:cubicBezTo>
                  <a:cubicBezTo>
                    <a:pt x="777" y="86"/>
                    <a:pt x="803" y="102"/>
                    <a:pt x="858" y="112"/>
                  </a:cubicBezTo>
                  <a:cubicBezTo>
                    <a:pt x="913" y="122"/>
                    <a:pt x="979" y="128"/>
                    <a:pt x="1041" y="133"/>
                  </a:cubicBezTo>
                  <a:cubicBezTo>
                    <a:pt x="1103" y="138"/>
                    <a:pt x="1136" y="141"/>
                    <a:pt x="1230" y="145"/>
                  </a:cubicBezTo>
                  <a:cubicBezTo>
                    <a:pt x="1324" y="149"/>
                    <a:pt x="1529" y="157"/>
                    <a:pt x="1608" y="160"/>
                  </a:cubicBezTo>
                </a:path>
              </a:pathLst>
            </a:custGeom>
            <a:noFill/>
            <a:ln w="571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4014905" y="2708920"/>
              <a:ext cx="0" cy="27273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4959070"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7946348"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Text Box 11"/>
            <p:cNvSpPr txBox="1">
              <a:spLocks noChangeArrowheads="1"/>
            </p:cNvSpPr>
            <p:nvPr/>
          </p:nvSpPr>
          <p:spPr bwMode="auto">
            <a:xfrm>
              <a:off x="8728380" y="5391297"/>
              <a:ext cx="781470"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时间</a:t>
              </a:r>
            </a:p>
          </p:txBody>
        </p:sp>
        <p:sp>
          <p:nvSpPr>
            <p:cNvPr id="17" name="Line 12"/>
            <p:cNvSpPr>
              <a:spLocks noChangeShapeType="1"/>
            </p:cNvSpPr>
            <p:nvPr/>
          </p:nvSpPr>
          <p:spPr bwMode="auto">
            <a:xfrm>
              <a:off x="3137006" y="4142815"/>
              <a:ext cx="602732" cy="292423"/>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Text Box 13"/>
            <p:cNvSpPr txBox="1">
              <a:spLocks noChangeArrowheads="1"/>
            </p:cNvSpPr>
            <p:nvPr/>
          </p:nvSpPr>
          <p:spPr bwMode="auto">
            <a:xfrm>
              <a:off x="1534478" y="3750121"/>
              <a:ext cx="1717605" cy="7284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数据链路层</a:t>
              </a:r>
            </a:p>
          </p:txBody>
        </p:sp>
        <p:grpSp>
          <p:nvGrpSpPr>
            <p:cNvPr id="19" name="Group 14"/>
            <p:cNvGrpSpPr>
              <a:grpSpLocks/>
            </p:cNvGrpSpPr>
            <p:nvPr/>
          </p:nvGrpSpPr>
          <p:grpSpPr bwMode="auto">
            <a:xfrm>
              <a:off x="5124174" y="4320233"/>
              <a:ext cx="1525456" cy="728663"/>
              <a:chOff x="3002" y="3126"/>
              <a:chExt cx="887" cy="459"/>
            </a:xfrm>
          </p:grpSpPr>
          <p:sp>
            <p:nvSpPr>
              <p:cNvPr id="24" name="Text Box 15"/>
              <p:cNvSpPr txBox="1">
                <a:spLocks noChangeArrowheads="1"/>
              </p:cNvSpPr>
              <p:nvPr/>
            </p:nvSpPr>
            <p:spPr bwMode="auto">
              <a:xfrm>
                <a:off x="3222" y="3126"/>
                <a:ext cx="667" cy="4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运输层</a:t>
                </a:r>
              </a:p>
            </p:txBody>
          </p:sp>
          <p:sp>
            <p:nvSpPr>
              <p:cNvPr id="25" name="Line 16"/>
              <p:cNvSpPr>
                <a:spLocks noChangeShapeType="1"/>
              </p:cNvSpPr>
              <p:nvPr/>
            </p:nvSpPr>
            <p:spPr bwMode="auto">
              <a:xfrm flipH="1">
                <a:off x="3002" y="3363"/>
                <a:ext cx="276" cy="217"/>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20" name="Text Box 17"/>
            <p:cNvSpPr txBox="1">
              <a:spLocks noChangeArrowheads="1"/>
            </p:cNvSpPr>
            <p:nvPr/>
          </p:nvSpPr>
          <p:spPr bwMode="auto">
            <a:xfrm>
              <a:off x="3739737" y="5412435"/>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dirty="0">
                  <a:latin typeface="微软雅黑" pitchFamily="34" charset="-122"/>
                  <a:ea typeface="微软雅黑" pitchFamily="34" charset="-122"/>
                </a:rPr>
                <a:t>T</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21" name="Text Box 18"/>
            <p:cNvSpPr txBox="1">
              <a:spLocks noChangeArrowheads="1"/>
            </p:cNvSpPr>
            <p:nvPr/>
          </p:nvSpPr>
          <p:spPr bwMode="auto">
            <a:xfrm>
              <a:off x="466670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22" name="Text Box 19"/>
            <p:cNvSpPr txBox="1">
              <a:spLocks noChangeArrowheads="1"/>
            </p:cNvSpPr>
            <p:nvPr/>
          </p:nvSpPr>
          <p:spPr bwMode="auto">
            <a:xfrm>
              <a:off x="765398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23" name="Text Box 20"/>
            <p:cNvSpPr txBox="1">
              <a:spLocks noChangeArrowheads="1"/>
            </p:cNvSpPr>
            <p:nvPr/>
          </p:nvSpPr>
          <p:spPr bwMode="auto">
            <a:xfrm>
              <a:off x="-684726" y="2713682"/>
              <a:ext cx="1514096" cy="1092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往返时间的</a:t>
              </a:r>
            </a:p>
            <a:p>
              <a:r>
                <a:rPr kumimoji="1" lang="zh-CN" altLang="en-US" sz="1200" b="1" dirty="0">
                  <a:latin typeface="微软雅黑" pitchFamily="34" charset="-122"/>
                  <a:ea typeface="微软雅黑" pitchFamily="34" charset="-122"/>
                </a:rPr>
                <a:t>概率分布</a:t>
              </a:r>
            </a:p>
          </p:txBody>
        </p:sp>
      </p:grpSp>
      <p:sp>
        <p:nvSpPr>
          <p:cNvPr id="28" name="内容占位符 27">
            <a:extLst>
              <a:ext uri="{FF2B5EF4-FFF2-40B4-BE49-F238E27FC236}">
                <a16:creationId xmlns:a16="http://schemas.microsoft.com/office/drawing/2014/main" id="{3D94EE02-62FD-0AA5-7F44-F14B328BE2D3}"/>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发送方在规定的时间内没有收到确认就要重传已发送的报文段。</a:t>
            </a:r>
            <a:endParaRPr lang="en-US" altLang="zh-CN" dirty="0"/>
          </a:p>
          <a:p>
            <a:r>
              <a:rPr lang="zh-CN" altLang="en-US" dirty="0"/>
              <a:t>但重传时间的选择是 </a:t>
            </a:r>
            <a:r>
              <a:rPr lang="en-US" altLang="zh-CN" dirty="0"/>
              <a:t>TCP </a:t>
            </a:r>
            <a:r>
              <a:rPr lang="zh-CN" altLang="en-US" dirty="0"/>
              <a:t>最复杂的问题之一。</a:t>
            </a:r>
            <a:endParaRPr lang="en-US" altLang="zh-CN" dirty="0"/>
          </a:p>
          <a:p>
            <a:r>
              <a:rPr lang="zh-CN" altLang="en-US" dirty="0"/>
              <a:t>互联网环境复杂，</a:t>
            </a:r>
            <a:r>
              <a:rPr lang="en-US" altLang="zh-CN" dirty="0"/>
              <a:t>IP </a:t>
            </a:r>
            <a:r>
              <a:rPr lang="zh-CN" altLang="en-US" dirty="0"/>
              <a:t>数据报所选择的路由变化很大，导致运输层的往返时间 </a:t>
            </a:r>
            <a:r>
              <a:rPr lang="en-US" altLang="zh-CN" dirty="0"/>
              <a:t>(RTT) </a:t>
            </a:r>
            <a:r>
              <a:rPr lang="zh-CN" altLang="en-US" dirty="0"/>
              <a:t>的变化也很大。</a:t>
            </a:r>
          </a:p>
          <a:p>
            <a:endParaRPr lang="zh-CN" altLang="en-US" dirty="0"/>
          </a:p>
        </p:txBody>
      </p:sp>
      <p:sp>
        <p:nvSpPr>
          <p:cNvPr id="27" name="标题 26">
            <a:extLst>
              <a:ext uri="{FF2B5EF4-FFF2-40B4-BE49-F238E27FC236}">
                <a16:creationId xmlns:a16="http://schemas.microsoft.com/office/drawing/2014/main" id="{E9804C28-B4F4-E191-26F1-57BC669B0485}"/>
              </a:ext>
            </a:extLst>
          </p:cNvPr>
          <p:cNvSpPr>
            <a:spLocks noGrp="1"/>
          </p:cNvSpPr>
          <p:nvPr>
            <p:ph type="title"/>
          </p:nvPr>
        </p:nvSpPr>
        <p:spPr>
          <a:xfrm>
            <a:off x="486000" y="550723"/>
            <a:ext cx="8172000" cy="338554"/>
          </a:xfrm>
        </p:spPr>
        <p:txBody>
          <a:bodyPr/>
          <a:lstStyle/>
          <a:p>
            <a:r>
              <a:rPr lang="en-US" altLang="zh-CN" dirty="0"/>
              <a:t>5.6.2   </a:t>
            </a:r>
            <a:r>
              <a:rPr lang="zh-CN" altLang="en-US" dirty="0"/>
              <a:t>超时重传时间的选择</a:t>
            </a:r>
          </a:p>
        </p:txBody>
      </p:sp>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64885" y="1986005"/>
            <a:ext cx="6758814" cy="1331259"/>
            <a:chOff x="502922" y="2655525"/>
            <a:chExt cx="8129014" cy="1331259"/>
          </a:xfrm>
        </p:grpSpPr>
        <p:sp>
          <p:nvSpPr>
            <p:cNvPr id="7" name="对角圆角矩形 6"/>
            <p:cNvSpPr/>
            <p:nvPr/>
          </p:nvSpPr>
          <p:spPr>
            <a:xfrm>
              <a:off x="502922" y="2655525"/>
              <a:ext cx="8129014" cy="133125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797141" y="2733577"/>
              <a:ext cx="7699646" cy="1169551"/>
            </a:xfrm>
            <a:prstGeom prst="rect">
              <a:avLst/>
            </a:prstGeom>
          </p:spPr>
          <p:txBody>
            <a:bodyPr wrap="square">
              <a:spAutoFit/>
            </a:bodyPr>
            <a:lstStyle/>
            <a:p>
              <a:pPr>
                <a:lnSpc>
                  <a:spcPts val="2800"/>
                </a:lnSpc>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采用了一种</a:t>
              </a:r>
              <a:r>
                <a:rPr lang="zh-CN" altLang="en-US" b="1" dirty="0">
                  <a:solidFill>
                    <a:srgbClr val="FFFF00"/>
                  </a:solidFill>
                  <a:latin typeface="微软雅黑" pitchFamily="34" charset="-122"/>
                  <a:ea typeface="微软雅黑" pitchFamily="34" charset="-122"/>
                </a:rPr>
                <a:t>自适应算法，</a:t>
              </a:r>
              <a:r>
                <a:rPr lang="zh-CN" altLang="en-US" b="1" dirty="0">
                  <a:solidFill>
                    <a:schemeClr val="bg1"/>
                  </a:solidFill>
                  <a:latin typeface="微软雅黑" pitchFamily="34" charset="-122"/>
                  <a:ea typeface="微软雅黑" pitchFamily="34" charset="-122"/>
                </a:rPr>
                <a:t>它记录一个报文段发出的时间，以及收到相应确认的时间。</a:t>
              </a:r>
              <a:endParaRPr lang="en-US" altLang="zh-CN" b="1" dirty="0">
                <a:solidFill>
                  <a:schemeClr val="bg1"/>
                </a:solidFill>
                <a:latin typeface="微软雅黑" pitchFamily="34" charset="-122"/>
                <a:ea typeface="微软雅黑" pitchFamily="34" charset="-122"/>
              </a:endParaRPr>
            </a:p>
            <a:p>
              <a:pPr>
                <a:lnSpc>
                  <a:spcPts val="2800"/>
                </a:lnSpc>
              </a:pPr>
              <a:r>
                <a:rPr lang="zh-CN" altLang="en-US" b="1" dirty="0">
                  <a:solidFill>
                    <a:schemeClr val="bg1"/>
                  </a:solidFill>
                  <a:latin typeface="微软雅黑" pitchFamily="34" charset="-122"/>
                  <a:ea typeface="微软雅黑" pitchFamily="34" charset="-122"/>
                </a:rPr>
                <a:t>这两个时间</a:t>
              </a:r>
              <a:r>
                <a:rPr lang="zh-CN" altLang="en-US" b="1" dirty="0">
                  <a:solidFill>
                    <a:srgbClr val="FFFF00"/>
                  </a:solidFill>
                  <a:latin typeface="微软雅黑" pitchFamily="34" charset="-122"/>
                  <a:ea typeface="微软雅黑" pitchFamily="34" charset="-122"/>
                </a:rPr>
                <a:t>之差</a:t>
              </a:r>
              <a:r>
                <a:rPr lang="zh-CN" altLang="en-US" b="1" dirty="0">
                  <a:solidFill>
                    <a:schemeClr val="bg1"/>
                  </a:solidFill>
                  <a:latin typeface="微软雅黑" pitchFamily="34" charset="-122"/>
                  <a:ea typeface="微软雅黑" pitchFamily="34" charset="-122"/>
                </a:rPr>
                <a:t>就是报文段的</a:t>
              </a:r>
              <a:r>
                <a:rPr lang="zh-CN" altLang="en-US" b="1" dirty="0">
                  <a:solidFill>
                    <a:srgbClr val="FFFF00"/>
                  </a:solidFill>
                  <a:latin typeface="微软雅黑" pitchFamily="34" charset="-122"/>
                  <a:ea typeface="微软雅黑" pitchFamily="34" charset="-122"/>
                </a:rPr>
                <a:t>往返时间 </a:t>
              </a:r>
              <a:r>
                <a:rPr lang="en-US" altLang="zh-CN" b="1" dirty="0">
                  <a:solidFill>
                    <a:srgbClr val="FFFF00"/>
                  </a:solidFill>
                  <a:latin typeface="微软雅黑" pitchFamily="34" charset="-122"/>
                  <a:ea typeface="微软雅黑" pitchFamily="34" charset="-122"/>
                </a:rPr>
                <a:t>RTT</a:t>
              </a:r>
              <a:r>
                <a:rPr lang="zh-CN" altLang="en-US" b="1" dirty="0">
                  <a:solidFill>
                    <a:srgbClr val="FFFF00"/>
                  </a:solidFill>
                  <a:latin typeface="微软雅黑" pitchFamily="34" charset="-122"/>
                  <a:ea typeface="微软雅黑" pitchFamily="34" charset="-122"/>
                </a:rPr>
                <a:t>。</a:t>
              </a:r>
            </a:p>
          </p:txBody>
        </p:sp>
      </p:grpSp>
      <p:sp>
        <p:nvSpPr>
          <p:cNvPr id="9" name="内容占位符 8">
            <a:extLst>
              <a:ext uri="{FF2B5EF4-FFF2-40B4-BE49-F238E27FC236}">
                <a16:creationId xmlns:a16="http://schemas.microsoft.com/office/drawing/2014/main" id="{6F92E391-1B54-11DD-1FF9-F7F35610E3EE}"/>
              </a:ext>
            </a:extLst>
          </p:cNvPr>
          <p:cNvSpPr>
            <a:spLocks noGrp="1"/>
          </p:cNvSpPr>
          <p:nvPr>
            <p:ph sz="quarter" idx="11"/>
          </p:nvPr>
        </p:nvSpPr>
        <p:spPr>
          <a:xfrm>
            <a:off x="486000" y="900000"/>
            <a:ext cx="8172000" cy="3703500"/>
          </a:xfrm>
        </p:spPr>
        <p:txBody>
          <a:bodyPr/>
          <a:lstStyle/>
          <a:p>
            <a:r>
              <a:rPr lang="zh-CN" altLang="en-US" dirty="0"/>
              <a:t>不能太短，否则会引起很多报文段的不必要的重传，使网络负荷增大。</a:t>
            </a:r>
          </a:p>
          <a:p>
            <a:r>
              <a:rPr lang="zh-CN" altLang="en-US" dirty="0"/>
              <a:t>不能过长，会使网络的空闲时间增大，降低了传输效率。</a:t>
            </a:r>
          </a:p>
          <a:p>
            <a:endParaRPr lang="zh-CN" altLang="en-US" dirty="0"/>
          </a:p>
        </p:txBody>
      </p:sp>
      <p:sp>
        <p:nvSpPr>
          <p:cNvPr id="5" name="标题 4">
            <a:extLst>
              <a:ext uri="{FF2B5EF4-FFF2-40B4-BE49-F238E27FC236}">
                <a16:creationId xmlns:a16="http://schemas.microsoft.com/office/drawing/2014/main" id="{002A410D-7657-D2C2-1447-4F6525EC4149}"/>
              </a:ext>
            </a:extLst>
          </p:cNvPr>
          <p:cNvSpPr>
            <a:spLocks noGrp="1"/>
          </p:cNvSpPr>
          <p:nvPr>
            <p:ph type="title"/>
          </p:nvPr>
        </p:nvSpPr>
        <p:spPr>
          <a:xfrm>
            <a:off x="486000" y="550723"/>
            <a:ext cx="8172000" cy="338554"/>
          </a:xfrm>
        </p:spPr>
        <p:txBody>
          <a:bodyPr/>
          <a:lstStyle/>
          <a:p>
            <a:r>
              <a:rPr lang="en-US" altLang="zh-CN" dirty="0"/>
              <a:t>TCP </a:t>
            </a:r>
            <a:r>
              <a:rPr lang="zh-CN" altLang="en-US" dirty="0"/>
              <a:t>超时重传时间设置</a:t>
            </a:r>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58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059269" y="583372"/>
            <a:ext cx="30441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加权平均往返时间 </a:t>
            </a:r>
            <a:r>
              <a:rPr lang="en-US" altLang="zh-CN" sz="2000" b="1" dirty="0">
                <a:solidFill>
                  <a:schemeClr val="bg1"/>
                </a:solidFill>
                <a:latin typeface="微软雅黑" pitchFamily="34" charset="-122"/>
                <a:ea typeface="微软雅黑" pitchFamily="34" charset="-122"/>
              </a:rPr>
              <a:t>RTT</a:t>
            </a:r>
            <a:r>
              <a:rPr lang="en-US" altLang="zh-CN" sz="2000" b="1" baseline="-25000" dirty="0">
                <a:solidFill>
                  <a:schemeClr val="bg1"/>
                </a:solidFill>
                <a:latin typeface="微软雅黑" pitchFamily="34" charset="-122"/>
                <a:ea typeface="微软雅黑" pitchFamily="34" charset="-122"/>
              </a:rPr>
              <a:t>S</a:t>
            </a:r>
            <a:r>
              <a:rPr lang="en-US" altLang="zh-CN" sz="2000" b="1" dirty="0">
                <a:solidFill>
                  <a:schemeClr val="bg1"/>
                </a:solidFill>
                <a:latin typeface="微软雅黑" pitchFamily="34" charset="-122"/>
                <a:ea typeface="微软雅黑" pitchFamily="34" charset="-122"/>
              </a:rPr>
              <a:t> </a:t>
            </a:r>
            <a:endParaRPr lang="zh-CN" altLang="en-US" sz="2000" b="1" dirty="0">
              <a:solidFill>
                <a:schemeClr val="bg1"/>
              </a:solidFill>
              <a:latin typeface="微软雅黑" pitchFamily="34" charset="-122"/>
              <a:ea typeface="微软雅黑" pitchFamily="34" charset="-122"/>
            </a:endParaRPr>
          </a:p>
        </p:txBody>
      </p:sp>
      <p:sp>
        <p:nvSpPr>
          <p:cNvPr id="7" name="Rectangle 68"/>
          <p:cNvSpPr>
            <a:spLocks noChangeArrowheads="1"/>
          </p:cNvSpPr>
          <p:nvPr/>
        </p:nvSpPr>
        <p:spPr bwMode="auto">
          <a:xfrm>
            <a:off x="556963" y="979682"/>
            <a:ext cx="8184960" cy="4069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a:t>
            </a:r>
            <a:r>
              <a:rPr lang="zh-CN" altLang="en-US" b="1" dirty="0">
                <a:latin typeface="微软雅黑" pitchFamily="34" charset="-122"/>
                <a:ea typeface="微软雅黑" pitchFamily="34" charset="-122"/>
              </a:rPr>
              <a:t> 又称为</a:t>
            </a:r>
            <a:r>
              <a:rPr lang="zh-CN" altLang="en-US" b="1" dirty="0">
                <a:solidFill>
                  <a:srgbClr val="C00000"/>
                </a:solidFill>
                <a:latin typeface="微软雅黑" pitchFamily="34" charset="-122"/>
                <a:ea typeface="微软雅黑" pitchFamily="34" charset="-122"/>
              </a:rPr>
              <a:t>平滑的往返时间。</a:t>
            </a:r>
          </a:p>
        </p:txBody>
      </p:sp>
      <p:sp>
        <p:nvSpPr>
          <p:cNvPr id="8" name="Rectangle 4"/>
          <p:cNvSpPr>
            <a:spLocks noChangeArrowheads="1"/>
          </p:cNvSpPr>
          <p:nvPr/>
        </p:nvSpPr>
        <p:spPr bwMode="auto">
          <a:xfrm>
            <a:off x="794338" y="1479174"/>
            <a:ext cx="7574025" cy="599077"/>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 </a:t>
            </a:r>
            <a:r>
              <a:rPr lang="en-US" altLang="zh-CN" b="1" dirty="0">
                <a:solidFill>
                  <a:schemeClr val="dk1"/>
                </a:solidFill>
                <a:latin typeface="微软雅黑" pitchFamily="34" charset="-122"/>
                <a:ea typeface="微软雅黑" pitchFamily="34" charset="-122"/>
              </a:rPr>
              <a:t> (1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旧的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 </a:t>
            </a:r>
            <a:r>
              <a:rPr lang="zh-CN" altLang="zh-CN" b="1" dirty="0">
                <a:solidFill>
                  <a:schemeClr val="dk1"/>
                </a:solidFill>
                <a:latin typeface="微软雅黑" pitchFamily="34" charset="-122"/>
                <a:ea typeface="微软雅黑" pitchFamily="34" charset="-122"/>
              </a:rPr>
              <a:t>样本</a:t>
            </a:r>
            <a:r>
              <a:rPr lang="en-US" altLang="zh-CN" b="1" dirty="0">
                <a:solidFill>
                  <a:schemeClr val="dk1"/>
                </a:solidFill>
                <a:latin typeface="微软雅黑" pitchFamily="34" charset="-122"/>
                <a:ea typeface="微软雅黑" pitchFamily="34" charset="-122"/>
              </a:rPr>
              <a:t>)       (5-4)</a:t>
            </a:r>
          </a:p>
        </p:txBody>
      </p:sp>
      <mc:AlternateContent xmlns:mc="http://schemas.openxmlformats.org/markup-compatibility/2006" xmlns:a14="http://schemas.microsoft.com/office/drawing/2010/main">
        <mc:Choice Requires="a14">
          <p:sp>
            <p:nvSpPr>
              <p:cNvPr id="2" name="矩形 1"/>
              <p:cNvSpPr/>
              <p:nvPr/>
            </p:nvSpPr>
            <p:spPr>
              <a:xfrm>
                <a:off x="1963271" y="2123076"/>
                <a:ext cx="4572000" cy="1528624"/>
              </a:xfrm>
              <a:prstGeom prst="rect">
                <a:avLst/>
              </a:prstGeom>
            </p:spPr>
            <p:txBody>
              <a:bodyPr>
                <a:spAutoFit/>
              </a:bodyPr>
              <a:lstStyle/>
              <a:p>
                <a:pPr>
                  <a:lnSpc>
                    <a:spcPts val="2800"/>
                  </a:lnSpc>
                </a:pPr>
                <a:r>
                  <a:rPr lang="zh-CN" altLang="en-US" b="1" dirty="0">
                    <a:latin typeface="微软雅黑" panose="020B0503020204020204" pitchFamily="34" charset="-122"/>
                    <a:ea typeface="微软雅黑" panose="020B0503020204020204" pitchFamily="34" charset="-122"/>
                  </a:rPr>
                  <a:t>其中，</a:t>
                </a:r>
                <a14:m>
                  <m:oMath xmlns:m="http://schemas.openxmlformats.org/officeDocument/2006/math">
                    <m:r>
                      <a:rPr lang="en-US" altLang="zh-CN" sz="2000" b="1" i="1" smtClean="0">
                        <a:latin typeface="Cambria Math" panose="02040503050406030204" pitchFamily="18" charset="0"/>
                        <a:ea typeface="微软雅黑" panose="020B0503020204020204" pitchFamily="34" charset="-122"/>
                      </a:rPr>
                      <m:t>𝟎</m:t>
                    </m:r>
                    <m:r>
                      <a:rPr lang="en-US" altLang="zh-CN" sz="2000" b="1" i="1" smtClean="0">
                        <a:latin typeface="Cambria Math" panose="02040503050406030204" pitchFamily="18" charset="0"/>
                        <a:ea typeface="Cambria Math" panose="02040503050406030204" pitchFamily="18" charset="0"/>
                      </a:rPr>
                      <m:t>≤</m:t>
                    </m:r>
                    <m:r>
                      <a:rPr lang="zh-CN" altLang="en-US" sz="2000" b="1" i="1" smtClean="0">
                        <a:latin typeface="Cambria Math" panose="02040503050406030204" pitchFamily="18" charset="0"/>
                        <a:ea typeface="Cambria Math" panose="02040503050406030204" pitchFamily="18" charset="0"/>
                      </a:rPr>
                      <m:t>𝜶</m:t>
                    </m:r>
                    <m:r>
                      <a:rPr lang="en-US" altLang="zh-CN" sz="2000" b="1" i="1" smtClean="0">
                        <a:latin typeface="Cambria Math" panose="02040503050406030204" pitchFamily="18" charset="0"/>
                        <a:ea typeface="Cambria Math" panose="02040503050406030204" pitchFamily="18" charset="0"/>
                      </a:rPr>
                      <m:t>&lt;</m:t>
                    </m:r>
                    <m:r>
                      <a:rPr lang="en-US" altLang="zh-CN" sz="2000" b="1" i="1" smtClean="0">
                        <a:latin typeface="Cambria Math" panose="02040503050406030204" pitchFamily="18" charset="0"/>
                        <a:ea typeface="Cambria Math" panose="02040503050406030204" pitchFamily="18" charset="0"/>
                      </a:rPr>
                      <m:t>𝟏</m:t>
                    </m:r>
                    <m:r>
                      <a:rPr lang="en-US" altLang="zh-CN" sz="2000" b="1" i="0" smtClean="0">
                        <a:latin typeface="Cambria Math" panose="02040503050406030204" pitchFamily="18" charset="0"/>
                        <a:ea typeface="Cambria Math" panose="02040503050406030204" pitchFamily="18" charset="0"/>
                      </a:rPr>
                      <m:t> </m:t>
                    </m:r>
                    <m:r>
                      <a:rPr lang="zh-CN" altLang="en-US" sz="2000" b="1" i="1">
                        <a:latin typeface="Cambria Math" panose="02040503050406030204" pitchFamily="18" charset="0"/>
                        <a:ea typeface="Cambria Math" panose="02040503050406030204" pitchFamily="18" charset="0"/>
                      </a:rPr>
                      <m:t>。</m:t>
                    </m:r>
                  </m:oMath>
                </a14:m>
                <a:endParaRPr lang="zh-CN" altLang="en-US" sz="2000" b="1" dirty="0">
                  <a:latin typeface="微软雅黑" panose="020B0503020204020204" pitchFamily="34" charset="-122"/>
                  <a:ea typeface="微软雅黑" panose="020B0503020204020204" pitchFamily="34" charset="-122"/>
                </a:endParaRPr>
              </a:p>
              <a:p>
                <a:pPr>
                  <a:lnSpc>
                    <a:spcPts val="2800"/>
                  </a:lnSpc>
                </a:pPr>
                <a:r>
                  <a:rPr lang="zh-CN" altLang="en-US" b="1" dirty="0">
                    <a:latin typeface="微软雅黑" panose="020B0503020204020204" pitchFamily="34" charset="-122"/>
                    <a:ea typeface="微软雅黑" panose="020B0503020204020204" pitchFamily="34" charset="-122"/>
                  </a:rPr>
                  <a:t>若 </a:t>
                </a:r>
                <a14:m>
                  <m:oMath xmlns:m="http://schemas.openxmlformats.org/officeDocument/2006/math">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𝟎</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值更新较慢。</a:t>
                </a:r>
              </a:p>
              <a:p>
                <a:pPr>
                  <a:lnSpc>
                    <a:spcPts val="2800"/>
                  </a:lnSpc>
                </a:pPr>
                <a:r>
                  <a:rPr lang="zh-CN" altLang="en-US" b="1" dirty="0">
                    <a:latin typeface="微软雅黑" panose="020B0503020204020204" pitchFamily="34" charset="-122"/>
                    <a:ea typeface="微软雅黑" panose="020B0503020204020204" pitchFamily="34" charset="-122"/>
                  </a:rPr>
                  <a:t>若</a:t>
                </a:r>
                <a14:m>
                  <m:oMath xmlns:m="http://schemas.openxmlformats.org/officeDocument/2006/math">
                    <m:r>
                      <a:rPr lang="en-US" altLang="zh-CN" b="1" i="0" smtClean="0">
                        <a:latin typeface="Cambria Math" panose="02040503050406030204" pitchFamily="18" charset="0"/>
                        <a:ea typeface="微软雅黑" panose="020B0503020204020204" pitchFamily="34" charset="-122"/>
                      </a:rPr>
                      <m:t> </m:t>
                    </m:r>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𝟏</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值更新较快。</a:t>
                </a:r>
              </a:p>
              <a:p>
                <a:pPr>
                  <a:lnSpc>
                    <a:spcPts val="2800"/>
                  </a:lnSpc>
                </a:pPr>
                <a:r>
                  <a:rPr lang="en-US" altLang="zh-CN" b="1" dirty="0">
                    <a:latin typeface="微软雅黑" panose="020B0503020204020204" pitchFamily="34" charset="-122"/>
                    <a:ea typeface="微软雅黑" panose="020B0503020204020204" pitchFamily="34" charset="-122"/>
                  </a:rPr>
                  <a:t>RFC 6298 </a:t>
                </a:r>
                <a:r>
                  <a:rPr lang="zh-CN" altLang="en-US" b="1" dirty="0">
                    <a:latin typeface="微软雅黑" panose="020B0503020204020204" pitchFamily="34" charset="-122"/>
                    <a:ea typeface="微软雅黑" panose="020B0503020204020204" pitchFamily="34" charset="-122"/>
                  </a:rPr>
                  <a:t>推荐的 </a:t>
                </a:r>
                <a:r>
                  <a:rPr lang="en-US" altLang="zh-CN" b="1" dirty="0">
                    <a:solidFill>
                      <a:schemeClr val="dk1"/>
                    </a:solidFill>
                    <a:latin typeface="微软雅黑" pitchFamily="34" charset="-122"/>
                    <a:ea typeface="微软雅黑" pitchFamily="34" charset="-122"/>
                    <a:sym typeface="Symbol"/>
                  </a:rPr>
                  <a:t> </a:t>
                </a:r>
                <a:r>
                  <a:rPr lang="zh-CN" altLang="en-US" b="1" dirty="0">
                    <a:latin typeface="微软雅黑" panose="020B0503020204020204" pitchFamily="34" charset="-122"/>
                    <a:ea typeface="微软雅黑" panose="020B0503020204020204" pitchFamily="34" charset="-122"/>
                  </a:rPr>
                  <a:t>值为 </a:t>
                </a:r>
                <a:r>
                  <a:rPr lang="en-US" altLang="zh-CN" b="1" dirty="0">
                    <a:latin typeface="微软雅黑" panose="020B0503020204020204" pitchFamily="34" charset="-122"/>
                    <a:ea typeface="微软雅黑" panose="020B0503020204020204" pitchFamily="34" charset="-122"/>
                  </a:rPr>
                  <a:t>1/8</a:t>
                </a:r>
                <a:r>
                  <a:rPr lang="zh-CN" altLang="en-US" b="1" dirty="0">
                    <a:latin typeface="微软雅黑" panose="020B0503020204020204" pitchFamily="34" charset="-122"/>
                    <a:ea typeface="微软雅黑" panose="020B0503020204020204" pitchFamily="34" charset="-122"/>
                  </a:rPr>
                  <a:t>，即 </a:t>
                </a:r>
                <a:r>
                  <a:rPr lang="en-US" altLang="zh-CN" b="1" dirty="0">
                    <a:latin typeface="微软雅黑" panose="020B0503020204020204" pitchFamily="34" charset="-122"/>
                    <a:ea typeface="微软雅黑" panose="020B0503020204020204" pitchFamily="34" charset="-122"/>
                  </a:rPr>
                  <a:t>0.125</a:t>
                </a:r>
                <a:r>
                  <a:rPr lang="zh-CN" altLang="en-US" b="1" dirty="0">
                    <a:latin typeface="微软雅黑" panose="020B0503020204020204" pitchFamily="34" charset="-122"/>
                    <a:ea typeface="微软雅黑" panose="020B0503020204020204" pitchFamily="34" charset="-122"/>
                  </a:rPr>
                  <a:t>。 </a:t>
                </a:r>
              </a:p>
            </p:txBody>
          </p:sp>
        </mc:Choice>
        <mc:Fallback xmlns="">
          <p:sp>
            <p:nvSpPr>
              <p:cNvPr id="2" name="矩形 1"/>
              <p:cNvSpPr>
                <a:spLocks noRot="1" noChangeAspect="1" noMove="1" noResize="1" noEditPoints="1" noAdjustHandles="1" noChangeArrowheads="1" noChangeShapeType="1" noTextEdit="1"/>
              </p:cNvSpPr>
              <p:nvPr/>
            </p:nvSpPr>
            <p:spPr>
              <a:xfrm>
                <a:off x="1963271" y="2123076"/>
                <a:ext cx="4572000" cy="1528624"/>
              </a:xfrm>
              <a:prstGeom prst="rect">
                <a:avLst/>
              </a:prstGeom>
              <a:blipFill>
                <a:blip r:embed="rId2"/>
                <a:stretch>
                  <a:fillRect l="-1067" r="-1733" b="-3187"/>
                </a:stretch>
              </a:blipFill>
            </p:spPr>
            <p:txBody>
              <a:bodyPr/>
              <a:lstStyle/>
              <a:p>
                <a:r>
                  <a:rPr lang="zh-CN" altLang="en-US">
                    <a:noFill/>
                  </a:rPr>
                  <a:t> </a:t>
                </a:r>
              </a:p>
            </p:txBody>
          </p:sp>
        </mc:Fallback>
      </mc:AlternateContent>
      <p:sp>
        <p:nvSpPr>
          <p:cNvPr id="11" name="内容占位符 10">
            <a:extLst>
              <a:ext uri="{FF2B5EF4-FFF2-40B4-BE49-F238E27FC236}">
                <a16:creationId xmlns:a16="http://schemas.microsoft.com/office/drawing/2014/main" id="{56C6C8F0-BD37-9F15-AB48-2D004B668FA5}"/>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7B73AF17-72EA-2365-3E47-E88F65717ED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17275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255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3414270" y="592333"/>
            <a:ext cx="23341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超时重传时间 </a:t>
            </a:r>
            <a:r>
              <a:rPr lang="en-US" altLang="zh-CN" sz="2000" b="1" dirty="0">
                <a:solidFill>
                  <a:schemeClr val="bg1"/>
                </a:solidFill>
                <a:latin typeface="微软雅黑" pitchFamily="34" charset="-122"/>
                <a:ea typeface="微软雅黑" pitchFamily="34" charset="-122"/>
              </a:rPr>
              <a:t>RTO</a:t>
            </a:r>
            <a:endParaRPr lang="zh-CN" altLang="en-US" sz="2000" b="1" dirty="0">
              <a:solidFill>
                <a:schemeClr val="bg1"/>
              </a:solidFill>
              <a:latin typeface="微软雅黑" pitchFamily="34" charset="-122"/>
              <a:ea typeface="微软雅黑" pitchFamily="34" charset="-122"/>
            </a:endParaRPr>
          </a:p>
        </p:txBody>
      </p:sp>
      <p:sp>
        <p:nvSpPr>
          <p:cNvPr id="13" name="Rectangle 68"/>
          <p:cNvSpPr>
            <a:spLocks noChangeArrowheads="1"/>
          </p:cNvSpPr>
          <p:nvPr/>
        </p:nvSpPr>
        <p:spPr bwMode="auto">
          <a:xfrm>
            <a:off x="556963" y="988643"/>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RTO (Retransmission Time-Out) </a:t>
            </a:r>
            <a:r>
              <a:rPr lang="zh-CN" altLang="en-US" b="1" dirty="0">
                <a:latin typeface="微软雅黑" pitchFamily="34" charset="-122"/>
                <a:ea typeface="微软雅黑" pitchFamily="34" charset="-122"/>
              </a:rPr>
              <a:t>应</a:t>
            </a:r>
            <a:r>
              <a:rPr lang="zh-CN" altLang="en-US" b="1" dirty="0">
                <a:solidFill>
                  <a:srgbClr val="C00000"/>
                </a:solidFill>
                <a:latin typeface="微软雅黑" pitchFamily="34" charset="-122"/>
                <a:ea typeface="微软雅黑" pitchFamily="34" charset="-122"/>
              </a:rPr>
              <a:t>略大于</a:t>
            </a: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 </a:t>
            </a:r>
            <a:r>
              <a:rPr lang="zh-CN" altLang="en-US"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RTO</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其中：</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偏差的加权平均值。</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RTT</a:t>
            </a:r>
            <a:r>
              <a:rPr lang="en-US" altLang="zh-CN" b="1" baseline="-25000" dirty="0">
                <a:solidFill>
                  <a:srgbClr val="C00000"/>
                </a:solidFill>
                <a:latin typeface="微软雅黑" pitchFamily="34" charset="-122"/>
                <a:ea typeface="微软雅黑" pitchFamily="34" charset="-122"/>
              </a:rPr>
              <a:t>D</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sym typeface="Symbol" pitchFamily="18" charset="2"/>
              </a:rPr>
              <a:t>其中：</a:t>
            </a:r>
            <a:r>
              <a:rPr lang="en-US" altLang="zh-CN" sz="1600"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是个小于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的系数，其推荐值是 </a:t>
            </a:r>
            <a:r>
              <a:rPr lang="en-US" altLang="zh-CN" sz="1600" b="1" dirty="0">
                <a:latin typeface="微软雅黑" pitchFamily="34" charset="-122"/>
                <a:ea typeface="微软雅黑" pitchFamily="34" charset="-122"/>
              </a:rPr>
              <a:t>1/4</a:t>
            </a:r>
            <a:r>
              <a:rPr lang="zh-CN" altLang="en-US" sz="1600" b="1" dirty="0">
                <a:latin typeface="微软雅黑" pitchFamily="34" charset="-122"/>
                <a:ea typeface="微软雅黑" pitchFamily="34" charset="-122"/>
              </a:rPr>
              <a:t>，即 </a:t>
            </a:r>
            <a:r>
              <a:rPr lang="en-US" altLang="zh-CN" sz="1600" b="1" dirty="0">
                <a:latin typeface="微软雅黑" pitchFamily="34" charset="-122"/>
                <a:ea typeface="微软雅黑" pitchFamily="34" charset="-122"/>
              </a:rPr>
              <a:t>0.25</a:t>
            </a:r>
            <a:r>
              <a:rPr lang="zh-CN" altLang="en-US" sz="1600" b="1" dirty="0">
                <a:latin typeface="微软雅黑" pitchFamily="34" charset="-122"/>
                <a:ea typeface="微软雅黑" pitchFamily="34" charset="-122"/>
              </a:rPr>
              <a:t>。</a:t>
            </a:r>
          </a:p>
        </p:txBody>
      </p:sp>
      <p:sp>
        <p:nvSpPr>
          <p:cNvPr id="15" name="矩形 14"/>
          <p:cNvSpPr/>
          <p:nvPr/>
        </p:nvSpPr>
        <p:spPr>
          <a:xfrm>
            <a:off x="1005840" y="1810030"/>
            <a:ext cx="7408818" cy="369332"/>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en-US" altLang="zh-CN" b="1" dirty="0">
                <a:solidFill>
                  <a:schemeClr val="dk1"/>
                </a:solidFill>
                <a:latin typeface="微软雅黑" pitchFamily="34" charset="-122"/>
                <a:ea typeface="微软雅黑" pitchFamily="34" charset="-122"/>
              </a:rPr>
              <a:t>RTO =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+ 4 </a:t>
            </a:r>
            <a:r>
              <a:rPr lang="en-US" altLang="zh-CN" dirty="0">
                <a:solidFill>
                  <a:schemeClr val="tx1"/>
                </a:solidFill>
                <a:latin typeface="微软雅黑" pitchFamily="34" charset="-122"/>
                <a:ea typeface="微软雅黑" pitchFamily="34" charset="-122"/>
                <a:sym typeface="Symbol" pitchFamily="18" charset="2"/>
              </a:rPr>
              <a:t></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D</a:t>
            </a:r>
            <a:r>
              <a:rPr lang="en-US" altLang="zh-CN" b="1" dirty="0">
                <a:solidFill>
                  <a:schemeClr val="dk1"/>
                </a:solidFill>
                <a:latin typeface="微软雅黑" pitchFamily="34" charset="-122"/>
                <a:ea typeface="微软雅黑" pitchFamily="34" charset="-122"/>
              </a:rPr>
              <a:t> 					 (5-5)</a:t>
            </a:r>
          </a:p>
        </p:txBody>
      </p:sp>
      <p:sp>
        <p:nvSpPr>
          <p:cNvPr id="16" name="矩形 15"/>
          <p:cNvSpPr/>
          <p:nvPr/>
        </p:nvSpPr>
        <p:spPr>
          <a:xfrm>
            <a:off x="1005840" y="2952193"/>
            <a:ext cx="7408818" cy="38267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rPr>
              <a:t>= (1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 </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zh-CN" altLang="en-US" sz="1600" b="1" dirty="0">
                <a:solidFill>
                  <a:schemeClr val="tx1"/>
                </a:solidFill>
                <a:latin typeface="微软雅黑" pitchFamily="34" charset="-122"/>
                <a:ea typeface="微软雅黑" pitchFamily="34" charset="-122"/>
              </a:rPr>
              <a:t>旧的 </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D</a:t>
            </a:r>
            <a:r>
              <a:rPr lang="en-US" altLang="zh-CN" sz="1600" b="1" dirty="0">
                <a:solidFill>
                  <a:schemeClr val="tx1"/>
                </a:solidFill>
                <a:latin typeface="微软雅黑" pitchFamily="34" charset="-122"/>
                <a:ea typeface="微软雅黑" pitchFamily="34" charset="-122"/>
              </a:rPr>
              <a:t>)  +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S</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 </a:t>
            </a:r>
            <a:r>
              <a:rPr lang="zh-CN" altLang="en-US" sz="1600" b="1" dirty="0">
                <a:latin typeface="微软雅黑" pitchFamily="34" charset="-122"/>
                <a:ea typeface="微软雅黑" pitchFamily="34" charset="-122"/>
              </a:rPr>
              <a:t>样本</a:t>
            </a:r>
            <a:r>
              <a:rPr lang="en-US" altLang="zh-CN" sz="1600" b="1" dirty="0">
                <a:solidFill>
                  <a:schemeClr val="tx1"/>
                </a:solidFill>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  </a:t>
            </a:r>
            <a:r>
              <a:rPr lang="en-US" altLang="zh-CN" b="1" dirty="0">
                <a:latin typeface="微软雅黑" pitchFamily="34" charset="-122"/>
                <a:ea typeface="微软雅黑" pitchFamily="34" charset="-122"/>
              </a:rPr>
              <a:t>(5-6)</a:t>
            </a:r>
            <a:endParaRPr lang="en-US" altLang="zh-CN" sz="1600" b="1" dirty="0">
              <a:solidFill>
                <a:schemeClr val="dk1"/>
              </a:solidFill>
              <a:latin typeface="微软雅黑" pitchFamily="34" charset="-122"/>
              <a:ea typeface="微软雅黑" pitchFamily="34" charset="-122"/>
            </a:endParaRPr>
          </a:p>
        </p:txBody>
      </p:sp>
      <p:sp>
        <p:nvSpPr>
          <p:cNvPr id="6" name="内容占位符 5">
            <a:extLst>
              <a:ext uri="{FF2B5EF4-FFF2-40B4-BE49-F238E27FC236}">
                <a16:creationId xmlns:a16="http://schemas.microsoft.com/office/drawing/2014/main" id="{D853AE8A-083E-3AD7-EFD6-0132FE4B1B6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C5C7168-1D1A-87AD-B151-7E84F8F55AB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95222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601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613634" y="592799"/>
            <a:ext cx="39354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往返时间 </a:t>
            </a:r>
            <a:r>
              <a:rPr lang="en-US" altLang="zh-CN" sz="2000" b="1" dirty="0">
                <a:solidFill>
                  <a:schemeClr val="bg1"/>
                </a:solidFill>
                <a:latin typeface="微软雅黑" pitchFamily="34" charset="-122"/>
                <a:ea typeface="微软雅黑" pitchFamily="34" charset="-122"/>
              </a:rPr>
              <a:t>(RTT) </a:t>
            </a:r>
            <a:r>
              <a:rPr lang="zh-CN" altLang="en-US" sz="2000" b="1" dirty="0">
                <a:solidFill>
                  <a:schemeClr val="bg1"/>
                </a:solidFill>
                <a:latin typeface="微软雅黑" pitchFamily="34" charset="-122"/>
                <a:ea typeface="微软雅黑" pitchFamily="34" charset="-122"/>
              </a:rPr>
              <a:t>的测量相当复杂</a:t>
            </a:r>
          </a:p>
        </p:txBody>
      </p:sp>
      <p:sp>
        <p:nvSpPr>
          <p:cNvPr id="7" name="Rectangle 68"/>
          <p:cNvSpPr>
            <a:spLocks noChangeArrowheads="1"/>
          </p:cNvSpPr>
          <p:nvPr/>
        </p:nvSpPr>
        <p:spPr bwMode="auto">
          <a:xfrm>
            <a:off x="556963" y="989109"/>
            <a:ext cx="818496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sz="2000" b="1" dirty="0">
                <a:latin typeface="微软雅黑" pitchFamily="34" charset="-122"/>
                <a:ea typeface="微软雅黑" pitchFamily="34" charset="-122"/>
              </a:rPr>
              <a:t>超时重传报文段后，如何判定此确认报文段是对原来的报文段的确认，还是对重传报文段的确认？ </a:t>
            </a:r>
          </a:p>
        </p:txBody>
      </p:sp>
      <p:sp>
        <p:nvSpPr>
          <p:cNvPr id="10" name="Line 2"/>
          <p:cNvSpPr>
            <a:spLocks noChangeShapeType="1"/>
          </p:cNvSpPr>
          <p:nvPr/>
        </p:nvSpPr>
        <p:spPr bwMode="auto">
          <a:xfrm>
            <a:off x="3922783" y="3167077"/>
            <a:ext cx="2463212"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Text Box 3"/>
          <p:cNvSpPr txBox="1">
            <a:spLocks noChangeArrowheads="1"/>
          </p:cNvSpPr>
          <p:nvPr/>
        </p:nvSpPr>
        <p:spPr bwMode="auto">
          <a:xfrm>
            <a:off x="4639446" y="3023153"/>
            <a:ext cx="1146276" cy="276999"/>
          </a:xfrm>
          <a:prstGeom prst="rect">
            <a:avLst/>
          </a:prstGeom>
          <a:solidFill>
            <a:srgbClr val="FFC000"/>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12" name="Line 6"/>
          <p:cNvSpPr>
            <a:spLocks noChangeShapeType="1"/>
          </p:cNvSpPr>
          <p:nvPr/>
        </p:nvSpPr>
        <p:spPr bwMode="auto">
          <a:xfrm>
            <a:off x="1870293" y="2971832"/>
            <a:ext cx="5541947" cy="0"/>
          </a:xfrm>
          <a:prstGeom prst="line">
            <a:avLst/>
          </a:prstGeom>
          <a:noFill/>
          <a:ln w="28575">
            <a:solidFill>
              <a:srgbClr val="0033CC"/>
            </a:solidFill>
            <a:round/>
            <a:headEnd type="non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7"/>
          <p:cNvSpPr>
            <a:spLocks noChangeShapeType="1"/>
          </p:cNvSpPr>
          <p:nvPr/>
        </p:nvSpPr>
        <p:spPr bwMode="auto">
          <a:xfrm rot="16200000">
            <a:off x="188664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8"/>
          <p:cNvSpPr txBox="1">
            <a:spLocks noChangeArrowheads="1"/>
          </p:cNvSpPr>
          <p:nvPr/>
        </p:nvSpPr>
        <p:spPr bwMode="auto">
          <a:xfrm>
            <a:off x="1699605" y="2175492"/>
            <a:ext cx="8002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发送一个</a:t>
            </a:r>
          </a:p>
          <a:p>
            <a:pPr algn="ctr"/>
            <a:r>
              <a:rPr kumimoji="1" lang="zh-CN" altLang="en-US" sz="1200" b="1" dirty="0">
                <a:latin typeface="微软雅黑" pitchFamily="34" charset="-122"/>
                <a:ea typeface="微软雅黑" pitchFamily="34" charset="-122"/>
              </a:rPr>
              <a:t>报文段</a:t>
            </a:r>
          </a:p>
        </p:txBody>
      </p:sp>
      <p:sp>
        <p:nvSpPr>
          <p:cNvPr id="15" name="Line 9"/>
          <p:cNvSpPr>
            <a:spLocks noChangeShapeType="1"/>
          </p:cNvSpPr>
          <p:nvPr/>
        </p:nvSpPr>
        <p:spPr bwMode="auto">
          <a:xfrm rot="16200000">
            <a:off x="373321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Text Box 10"/>
          <p:cNvSpPr txBox="1">
            <a:spLocks noChangeArrowheads="1"/>
          </p:cNvSpPr>
          <p:nvPr/>
        </p:nvSpPr>
        <p:spPr bwMode="auto">
          <a:xfrm>
            <a:off x="3576113" y="217549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重传</a:t>
            </a:r>
          </a:p>
          <a:p>
            <a:pPr algn="ctr"/>
            <a:r>
              <a:rPr kumimoji="1" lang="zh-CN" altLang="en-US" sz="1200" b="1" dirty="0">
                <a:latin typeface="微软雅黑" pitchFamily="34" charset="-122"/>
                <a:ea typeface="微软雅黑" pitchFamily="34" charset="-122"/>
              </a:rPr>
              <a:t>报文段</a:t>
            </a:r>
          </a:p>
        </p:txBody>
      </p:sp>
      <p:sp>
        <p:nvSpPr>
          <p:cNvPr id="17" name="Line 11"/>
          <p:cNvSpPr>
            <a:spLocks noChangeShapeType="1"/>
          </p:cNvSpPr>
          <p:nvPr/>
        </p:nvSpPr>
        <p:spPr bwMode="auto">
          <a:xfrm rot="16200000">
            <a:off x="6196430" y="2782268"/>
            <a:ext cx="379128" cy="0"/>
          </a:xfrm>
          <a:prstGeom prst="line">
            <a:avLst/>
          </a:prstGeom>
          <a:noFill/>
          <a:ln w="762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12"/>
          <p:cNvSpPr txBox="1">
            <a:spLocks noChangeArrowheads="1"/>
          </p:cNvSpPr>
          <p:nvPr/>
        </p:nvSpPr>
        <p:spPr bwMode="auto">
          <a:xfrm>
            <a:off x="5954274" y="2384918"/>
            <a:ext cx="863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收到 </a:t>
            </a:r>
            <a:r>
              <a:rPr kumimoji="1" lang="en-US" altLang="zh-CN" sz="1200" b="1" dirty="0">
                <a:latin typeface="微软雅黑" pitchFamily="34" charset="-122"/>
                <a:ea typeface="微软雅黑" pitchFamily="34" charset="-122"/>
              </a:rPr>
              <a:t>ACK</a:t>
            </a:r>
          </a:p>
        </p:txBody>
      </p:sp>
      <p:sp>
        <p:nvSpPr>
          <p:cNvPr id="19" name="Text Box 13"/>
          <p:cNvSpPr txBox="1">
            <a:spLocks noChangeArrowheads="1"/>
          </p:cNvSpPr>
          <p:nvPr/>
        </p:nvSpPr>
        <p:spPr bwMode="auto">
          <a:xfrm>
            <a:off x="7136153" y="298243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时间</a:t>
            </a:r>
          </a:p>
        </p:txBody>
      </p:sp>
      <p:sp>
        <p:nvSpPr>
          <p:cNvPr id="22" name="Line 16"/>
          <p:cNvSpPr>
            <a:spLocks noChangeShapeType="1"/>
          </p:cNvSpPr>
          <p:nvPr/>
        </p:nvSpPr>
        <p:spPr bwMode="auto">
          <a:xfrm>
            <a:off x="3922783" y="3025551"/>
            <a:ext cx="0" cy="163221"/>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17"/>
          <p:cNvSpPr>
            <a:spLocks noChangeShapeType="1"/>
          </p:cNvSpPr>
          <p:nvPr/>
        </p:nvSpPr>
        <p:spPr bwMode="auto">
          <a:xfrm>
            <a:off x="6385995" y="3025551"/>
            <a:ext cx="0" cy="625824"/>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18"/>
          <p:cNvSpPr>
            <a:spLocks noChangeShapeType="1"/>
          </p:cNvSpPr>
          <p:nvPr/>
        </p:nvSpPr>
        <p:spPr bwMode="auto">
          <a:xfrm>
            <a:off x="2076213" y="3025550"/>
            <a:ext cx="0" cy="625825"/>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19"/>
          <p:cNvSpPr>
            <a:spLocks noChangeShapeType="1"/>
          </p:cNvSpPr>
          <p:nvPr/>
        </p:nvSpPr>
        <p:spPr bwMode="auto">
          <a:xfrm>
            <a:off x="2076213" y="3513992"/>
            <a:ext cx="4309781"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20"/>
          <p:cNvSpPr txBox="1">
            <a:spLocks noChangeArrowheads="1"/>
          </p:cNvSpPr>
          <p:nvPr/>
        </p:nvSpPr>
        <p:spPr bwMode="auto">
          <a:xfrm>
            <a:off x="3622372" y="3374377"/>
            <a:ext cx="1146276" cy="276999"/>
          </a:xfrm>
          <a:prstGeom prst="rect">
            <a:avLst/>
          </a:prstGeom>
          <a:solidFill>
            <a:srgbClr val="00FFFF"/>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27" name="Freeform 21"/>
          <p:cNvSpPr>
            <a:spLocks/>
          </p:cNvSpPr>
          <p:nvPr/>
        </p:nvSpPr>
        <p:spPr bwMode="auto">
          <a:xfrm>
            <a:off x="4075394" y="2188782"/>
            <a:ext cx="2174067" cy="254261"/>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Freeform 22"/>
          <p:cNvSpPr>
            <a:spLocks/>
          </p:cNvSpPr>
          <p:nvPr/>
        </p:nvSpPr>
        <p:spPr bwMode="auto">
          <a:xfrm>
            <a:off x="2393576" y="1999735"/>
            <a:ext cx="3855885" cy="443309"/>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5798014" y="1866981"/>
            <a:ext cx="1415772"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是对哪一个报文段</a:t>
            </a:r>
          </a:p>
          <a:p>
            <a:pPr algn="ctr"/>
            <a:r>
              <a:rPr kumimoji="1" lang="zh-CN" altLang="en-US" sz="1200" b="1" dirty="0">
                <a:latin typeface="微软雅黑" pitchFamily="34" charset="-122"/>
                <a:ea typeface="微软雅黑" pitchFamily="34" charset="-122"/>
              </a:rPr>
              <a:t>的确认？</a:t>
            </a:r>
          </a:p>
        </p:txBody>
      </p:sp>
      <p:sp>
        <p:nvSpPr>
          <p:cNvPr id="2" name="矩形 1"/>
          <p:cNvSpPr/>
          <p:nvPr/>
        </p:nvSpPr>
        <p:spPr>
          <a:xfrm>
            <a:off x="2774740" y="2659876"/>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超时</a:t>
            </a:r>
            <a:endParaRPr lang="zh-CN" altLang="en-US" sz="1200" dirty="0"/>
          </a:p>
        </p:txBody>
      </p:sp>
      <p:sp>
        <p:nvSpPr>
          <p:cNvPr id="30" name="Line 2"/>
          <p:cNvSpPr>
            <a:spLocks noChangeShapeType="1"/>
          </p:cNvSpPr>
          <p:nvPr/>
        </p:nvSpPr>
        <p:spPr bwMode="auto">
          <a:xfrm>
            <a:off x="2124587" y="2891148"/>
            <a:ext cx="1780266" cy="0"/>
          </a:xfrm>
          <a:prstGeom prst="line">
            <a:avLst/>
          </a:prstGeom>
          <a:noFill/>
          <a:ln w="12700">
            <a:solidFill>
              <a:schemeClr val="tx1"/>
            </a:solidFill>
            <a:prstDash val="sys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 name="内容占位符 3">
            <a:extLst>
              <a:ext uri="{FF2B5EF4-FFF2-40B4-BE49-F238E27FC236}">
                <a16:creationId xmlns:a16="http://schemas.microsoft.com/office/drawing/2014/main" id="{5387FEAB-F396-285F-A763-094ACA8C83C3}"/>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CF585AE0-3767-7B3F-A607-B8E08C7CF8D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883565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3000"/>
                                        <p:tgtEl>
                                          <p:spTgt spid="27"/>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right)">
                                      <p:cBhvr>
                                        <p:cTn id="10" dur="3000"/>
                                        <p:tgtEl>
                                          <p:spTgt spid="28"/>
                                        </p:tgtEl>
                                      </p:cBhvr>
                                    </p:animEffect>
                                  </p:childTnLst>
                                </p:cTn>
                              </p:par>
                            </p:childTnLst>
                          </p:cTn>
                        </p:par>
                        <p:par>
                          <p:cTn id="11" fill="hold">
                            <p:stCondLst>
                              <p:cond delay="3000"/>
                            </p:stCondLst>
                            <p:childTnLst>
                              <p:par>
                                <p:cTn id="12" presetID="35" presetClass="emph" presetSubtype="0" repeatCount="3000" fill="hold" grpId="0" nodeType="afterEffect">
                                  <p:stCondLst>
                                    <p:cond delay="1000"/>
                                  </p:stCondLst>
                                  <p:childTnLst>
                                    <p:anim calcmode="discrete" valueType="str">
                                      <p:cBhvr>
                                        <p:cTn id="13" dur="1000" fill="hold"/>
                                        <p:tgtEl>
                                          <p:spTgt spid="26"/>
                                        </p:tgtEl>
                                        <p:attrNameLst>
                                          <p:attrName>style.visibility</p:attrName>
                                        </p:attrNameLst>
                                      </p:cBhvr>
                                      <p:tavLst>
                                        <p:tav tm="0">
                                          <p:val>
                                            <p:strVal val="hidden"/>
                                          </p:val>
                                        </p:tav>
                                        <p:tav tm="50000">
                                          <p:val>
                                            <p:strVal val="visible"/>
                                          </p:val>
                                        </p:tav>
                                      </p:tavLst>
                                    </p:anim>
                                  </p:childTnLst>
                                </p:cTn>
                              </p:par>
                              <p:par>
                                <p:cTn id="14" presetID="35" presetClass="emph" presetSubtype="0" repeatCount="3000" fill="hold" grpId="0" nodeType="withEffect">
                                  <p:stCondLst>
                                    <p:cond delay="1000"/>
                                  </p:stCondLst>
                                  <p:childTnLst>
                                    <p:anim calcmode="discrete" valueType="str">
                                      <p:cBhvr>
                                        <p:cTn id="15"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6" grpId="0" animBg="1"/>
      <p:bldP spid="27" grpId="0" animBg="1"/>
      <p:bldP spid="28"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3057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93183" y="597359"/>
            <a:ext cx="13763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7" name="Rectangle 68"/>
          <p:cNvSpPr>
            <a:spLocks noChangeArrowheads="1"/>
          </p:cNvSpPr>
          <p:nvPr/>
        </p:nvSpPr>
        <p:spPr bwMode="auto">
          <a:xfrm>
            <a:off x="556963" y="993669"/>
            <a:ext cx="8184960" cy="255454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在计算平均往返时间 </a:t>
            </a:r>
            <a:r>
              <a:rPr lang="en-US" altLang="zh-CN" sz="2000" b="1" dirty="0">
                <a:solidFill>
                  <a:srgbClr val="0000FF"/>
                </a:solidFill>
                <a:latin typeface="微软雅黑" pitchFamily="34" charset="-122"/>
                <a:ea typeface="微软雅黑" pitchFamily="34" charset="-122"/>
              </a:rPr>
              <a:t>RTT </a:t>
            </a:r>
            <a:r>
              <a:rPr lang="zh-CN" altLang="en-US" sz="2000" b="1" dirty="0">
                <a:solidFill>
                  <a:srgbClr val="0000FF"/>
                </a:solidFill>
                <a:latin typeface="微软雅黑" pitchFamily="34" charset="-122"/>
                <a:ea typeface="微软雅黑" pitchFamily="34" charset="-122"/>
              </a:rPr>
              <a:t>时，只要报文段</a:t>
            </a:r>
            <a:r>
              <a:rPr lang="zh-CN" altLang="en-US" sz="2000" b="1" dirty="0">
                <a:solidFill>
                  <a:srgbClr val="C00000"/>
                </a:solidFill>
                <a:latin typeface="微软雅黑" pitchFamily="34" charset="-122"/>
                <a:ea typeface="微软雅黑" pitchFamily="34" charset="-122"/>
              </a:rPr>
              <a:t>重传</a:t>
            </a:r>
            <a:r>
              <a:rPr lang="zh-CN" altLang="en-US" sz="2000" b="1" dirty="0">
                <a:solidFill>
                  <a:srgbClr val="0000FF"/>
                </a:solidFill>
                <a:latin typeface="微软雅黑" pitchFamily="34" charset="-122"/>
                <a:ea typeface="微软雅黑" pitchFamily="34" charset="-122"/>
              </a:rPr>
              <a:t>了，就</a:t>
            </a:r>
            <a:r>
              <a:rPr lang="zh-CN" altLang="en-US" sz="2000" b="1" dirty="0">
                <a:solidFill>
                  <a:srgbClr val="C00000"/>
                </a:solidFill>
                <a:latin typeface="微软雅黑" pitchFamily="34" charset="-122"/>
                <a:ea typeface="微软雅黑" pitchFamily="34" charset="-122"/>
              </a:rPr>
              <a:t>不采用</a:t>
            </a:r>
            <a:r>
              <a:rPr lang="zh-CN" altLang="en-US" sz="2000" b="1" dirty="0">
                <a:solidFill>
                  <a:srgbClr val="0000FF"/>
                </a:solidFill>
                <a:latin typeface="微软雅黑" pitchFamily="34" charset="-122"/>
                <a:ea typeface="微软雅黑" pitchFamily="34" charset="-122"/>
              </a:rPr>
              <a:t>其往返时间样本。</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新问题：</a:t>
            </a:r>
            <a:r>
              <a:rPr lang="zh-CN" altLang="en-US" sz="2000" b="1" dirty="0">
                <a:latin typeface="微软雅黑" pitchFamily="34" charset="-122"/>
                <a:ea typeface="微软雅黑" pitchFamily="34" charset="-122"/>
              </a:rPr>
              <a:t>当报文段的时延突然</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很多时，在原来得出的重传时间内，不会收到确认报文段，于是就重传报文段。但根据 </a:t>
            </a:r>
            <a:r>
              <a:rPr lang="en-US" altLang="zh-CN" sz="2000" b="1" dirty="0" err="1">
                <a:latin typeface="微软雅黑" pitchFamily="34" charset="-122"/>
                <a:ea typeface="微软雅黑" pitchFamily="34" charset="-122"/>
              </a:rPr>
              <a:t>Karn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算法，不考虑重传的报文段的往返时间样本。这样，</a:t>
            </a:r>
            <a:r>
              <a:rPr lang="zh-CN" altLang="en-US" sz="2000" b="1" dirty="0">
                <a:solidFill>
                  <a:srgbClr val="C00000"/>
                </a:solidFill>
                <a:latin typeface="微软雅黑" pitchFamily="34" charset="-122"/>
                <a:ea typeface="微软雅黑" pitchFamily="34" charset="-122"/>
              </a:rPr>
              <a:t>超时重传时间就无法更新，造成很多不必要的重传。</a:t>
            </a:r>
          </a:p>
        </p:txBody>
      </p:sp>
      <p:sp>
        <p:nvSpPr>
          <p:cNvPr id="9" name="内容占位符 8">
            <a:extLst>
              <a:ext uri="{FF2B5EF4-FFF2-40B4-BE49-F238E27FC236}">
                <a16:creationId xmlns:a16="http://schemas.microsoft.com/office/drawing/2014/main" id="{2A265066-F9F2-52EA-626D-4FFE422E56F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3F8BE0E0-0CCF-76A4-F57D-75C943DE5C6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1207327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5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3431518" y="592160"/>
            <a:ext cx="2299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修正的 </a:t>
            </a: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9" name="Rectangle 68"/>
          <p:cNvSpPr>
            <a:spLocks noChangeArrowheads="1"/>
          </p:cNvSpPr>
          <p:nvPr/>
        </p:nvSpPr>
        <p:spPr bwMode="auto">
          <a:xfrm>
            <a:off x="556963" y="988470"/>
            <a:ext cx="8184960"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报文段每重传一次，就把 </a:t>
            </a:r>
            <a:r>
              <a:rPr lang="en-US" altLang="zh-CN" sz="2000" b="1" dirty="0">
                <a:solidFill>
                  <a:srgbClr val="0000FF"/>
                </a:solidFill>
                <a:latin typeface="微软雅黑" pitchFamily="34" charset="-122"/>
                <a:ea typeface="微软雅黑" pitchFamily="34" charset="-122"/>
              </a:rPr>
              <a:t>RTO </a:t>
            </a:r>
            <a:r>
              <a:rPr lang="zh-CN" altLang="en-US" sz="2000" b="1" dirty="0">
                <a:solidFill>
                  <a:srgbClr val="0000FF"/>
                </a:solidFill>
                <a:latin typeface="微软雅黑" pitchFamily="34" charset="-122"/>
                <a:ea typeface="微软雅黑" pitchFamily="34" charset="-122"/>
              </a:rPr>
              <a:t>增大一些：</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系数 </a:t>
            </a:r>
            <a:r>
              <a:rPr lang="zh-CN" altLang="en-US" sz="2000" b="1" dirty="0">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的典型值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a:t>
            </a:r>
            <a:r>
              <a:rPr lang="zh-CN" altLang="en-US" sz="2000" b="1" dirty="0">
                <a:solidFill>
                  <a:srgbClr val="C00000"/>
                </a:solidFill>
                <a:latin typeface="微软雅黑" pitchFamily="34" charset="-122"/>
                <a:ea typeface="微软雅黑" pitchFamily="34" charset="-122"/>
              </a:rPr>
              <a:t>不再发生</a:t>
            </a:r>
            <a:r>
              <a:rPr lang="zh-CN" altLang="en-US" sz="2000" b="1" dirty="0">
                <a:latin typeface="微软雅黑" pitchFamily="34" charset="-122"/>
                <a:ea typeface="微软雅黑" pitchFamily="34" charset="-122"/>
              </a:rPr>
              <a:t>报文段的重传时，才根据报文段的往返时延</a:t>
            </a:r>
            <a:r>
              <a:rPr lang="zh-CN" altLang="en-US" sz="2000" b="1" dirty="0">
                <a:solidFill>
                  <a:srgbClr val="C00000"/>
                </a:solidFill>
                <a:latin typeface="微软雅黑" pitchFamily="34" charset="-122"/>
                <a:ea typeface="微软雅黑" pitchFamily="34" charset="-122"/>
              </a:rPr>
              <a:t>更新</a:t>
            </a:r>
            <a:r>
              <a:rPr lang="zh-CN" altLang="en-US" sz="2000" b="1" dirty="0">
                <a:latin typeface="微软雅黑" pitchFamily="34" charset="-122"/>
                <a:ea typeface="微软雅黑" pitchFamily="34" charset="-122"/>
              </a:rPr>
              <a:t>平均往返时延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和超时重传时间 </a:t>
            </a:r>
            <a:r>
              <a:rPr lang="en-US" altLang="zh-CN" sz="2000" b="1" dirty="0">
                <a:latin typeface="微软雅黑" pitchFamily="34" charset="-122"/>
                <a:ea typeface="微软雅黑" pitchFamily="34" charset="-122"/>
              </a:rPr>
              <a:t>RTO </a:t>
            </a:r>
            <a:r>
              <a:rPr lang="zh-CN" altLang="en-US" sz="2000" b="1" dirty="0">
                <a:latin typeface="微软雅黑" pitchFamily="34" charset="-122"/>
                <a:ea typeface="微软雅黑" pitchFamily="34" charset="-122"/>
              </a:rPr>
              <a:t>的数值。</a:t>
            </a:r>
          </a:p>
        </p:txBody>
      </p:sp>
      <p:sp>
        <p:nvSpPr>
          <p:cNvPr id="11" name="矩形 10"/>
          <p:cNvSpPr/>
          <p:nvPr/>
        </p:nvSpPr>
        <p:spPr>
          <a:xfrm>
            <a:off x="1023770" y="1550232"/>
            <a:ext cx="6470725" cy="484753"/>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新的 </a:t>
            </a:r>
            <a:r>
              <a:rPr lang="en-US" altLang="zh-CN" b="1" dirty="0">
                <a:latin typeface="微软雅黑" pitchFamily="34" charset="-122"/>
                <a:ea typeface="微软雅黑" pitchFamily="34" charset="-122"/>
              </a:rPr>
              <a:t>RTO</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旧的 </a:t>
            </a:r>
            <a:r>
              <a:rPr lang="en-US" altLang="zh-CN" b="1" dirty="0">
                <a:latin typeface="微软雅黑" pitchFamily="34" charset="-122"/>
                <a:ea typeface="微软雅黑" pitchFamily="34" charset="-122"/>
              </a:rPr>
              <a:t>RTO) </a:t>
            </a:r>
          </a:p>
        </p:txBody>
      </p:sp>
      <p:sp>
        <p:nvSpPr>
          <p:cNvPr id="6" name="内容占位符 5">
            <a:extLst>
              <a:ext uri="{FF2B5EF4-FFF2-40B4-BE49-F238E27FC236}">
                <a16:creationId xmlns:a16="http://schemas.microsoft.com/office/drawing/2014/main" id="{6DD6E603-DD80-E748-89AD-866116C8568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8D584D8-123E-BD46-52AB-F9323336AD1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180011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56963" y="1058278"/>
            <a:ext cx="8048776" cy="20117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2728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3563" y="585015"/>
            <a:ext cx="33568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5.6.3   </a:t>
            </a:r>
            <a:r>
              <a:rPr lang="zh-CN" altLang="en-US" sz="2400" b="1" dirty="0">
                <a:solidFill>
                  <a:schemeClr val="bg1"/>
                </a:solidFill>
                <a:latin typeface="微软雅黑" pitchFamily="34" charset="-122"/>
                <a:ea typeface="微软雅黑" pitchFamily="34" charset="-122"/>
              </a:rPr>
              <a:t>选择确认 </a:t>
            </a:r>
            <a:r>
              <a:rPr lang="en-US" altLang="zh-CN" sz="2400" b="1" dirty="0">
                <a:solidFill>
                  <a:schemeClr val="bg1"/>
                </a:solidFill>
                <a:latin typeface="微软雅黑" pitchFamily="34" charset="-122"/>
                <a:ea typeface="微软雅黑" pitchFamily="34" charset="-122"/>
              </a:rPr>
              <a:t>SACK</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56963" y="3063667"/>
            <a:ext cx="8048776"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若收到的报文段无差错，只是未按序号，中间还缺少一些序号的数据，那么能否设法</a:t>
            </a:r>
            <a:r>
              <a:rPr lang="zh-CN" altLang="en-US" sz="2000" b="1" dirty="0">
                <a:solidFill>
                  <a:srgbClr val="C00000"/>
                </a:solidFill>
                <a:latin typeface="微软雅黑" pitchFamily="34" charset="-122"/>
                <a:ea typeface="微软雅黑" pitchFamily="34" charset="-122"/>
              </a:rPr>
              <a:t>只传送缺少的数据</a:t>
            </a:r>
            <a:r>
              <a:rPr lang="zh-CN" altLang="en-US" sz="2000" b="1" dirty="0">
                <a:latin typeface="微软雅黑" pitchFamily="34" charset="-122"/>
                <a:ea typeface="微软雅黑" pitchFamily="34" charset="-122"/>
              </a:rPr>
              <a:t>而不重传已经正确到达接收方的数据？</a:t>
            </a:r>
          </a:p>
        </p:txBody>
      </p:sp>
      <p:sp>
        <p:nvSpPr>
          <p:cNvPr id="2" name="矩形 1"/>
          <p:cNvSpPr/>
          <p:nvPr/>
        </p:nvSpPr>
        <p:spPr>
          <a:xfrm>
            <a:off x="1589520" y="4242032"/>
            <a:ext cx="5122282" cy="451406"/>
          </a:xfrm>
          <a:prstGeom prst="rect">
            <a:avLst/>
          </a:prstGeom>
          <a:solidFill>
            <a:srgbClr val="FFC000"/>
          </a:solidFill>
        </p:spPr>
        <p:txBody>
          <a:bodyPr wrap="square">
            <a:spAutoFit/>
          </a:bodyPr>
          <a:lstStyle/>
          <a:p>
            <a:pPr algn="ctr">
              <a:lnSpc>
                <a:spcPts val="2800"/>
              </a:lnSpc>
              <a:buClr>
                <a:srgbClr val="0070C0"/>
              </a:buClr>
            </a:pPr>
            <a:r>
              <a:rPr lang="zh-CN" altLang="en-US" b="1" dirty="0">
                <a:solidFill>
                  <a:srgbClr val="0000FF"/>
                </a:solidFill>
                <a:latin typeface="微软雅黑" pitchFamily="34" charset="-122"/>
                <a:ea typeface="微软雅黑" pitchFamily="34" charset="-122"/>
              </a:rPr>
              <a:t>解决：</a:t>
            </a:r>
            <a:r>
              <a:rPr lang="zh-CN" altLang="en-US" b="1" dirty="0">
                <a:solidFill>
                  <a:srgbClr val="C00000"/>
                </a:solidFill>
                <a:latin typeface="微软雅黑" pitchFamily="34" charset="-122"/>
                <a:ea typeface="微软雅黑" pitchFamily="34" charset="-122"/>
              </a:rPr>
              <a:t>选择确认 </a:t>
            </a:r>
            <a:r>
              <a:rPr lang="en-US" altLang="zh-CN" b="1" dirty="0">
                <a:solidFill>
                  <a:srgbClr val="C00000"/>
                </a:solidFill>
                <a:latin typeface="微软雅黑" pitchFamily="34" charset="-122"/>
                <a:ea typeface="微软雅黑" pitchFamily="34" charset="-122"/>
              </a:rPr>
              <a:t>SACK  </a:t>
            </a:r>
            <a:r>
              <a:rPr lang="en-US" altLang="zh-CN" b="1" dirty="0">
                <a:latin typeface="微软雅黑" pitchFamily="34" charset="-122"/>
                <a:ea typeface="微软雅黑" pitchFamily="34" charset="-122"/>
              </a:rPr>
              <a:t>(Selective ACK) </a:t>
            </a:r>
            <a:endParaRPr lang="zh-CN" altLang="en-US" b="1" dirty="0">
              <a:latin typeface="微软雅黑" pitchFamily="34" charset="-122"/>
              <a:ea typeface="微软雅黑" pitchFamily="34" charset="-122"/>
            </a:endParaRPr>
          </a:p>
        </p:txBody>
      </p:sp>
      <p:sp>
        <p:nvSpPr>
          <p:cNvPr id="59" name="Rectangle 6"/>
          <p:cNvSpPr>
            <a:spLocks noChangeArrowheads="1"/>
          </p:cNvSpPr>
          <p:nvPr/>
        </p:nvSpPr>
        <p:spPr bwMode="auto">
          <a:xfrm>
            <a:off x="1403441" y="2284453"/>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Rectangle 7"/>
          <p:cNvSpPr>
            <a:spLocks noChangeArrowheads="1"/>
          </p:cNvSpPr>
          <p:nvPr/>
        </p:nvSpPr>
        <p:spPr bwMode="auto">
          <a:xfrm>
            <a:off x="3585299" y="2284453"/>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8"/>
          <p:cNvSpPr>
            <a:spLocks noChangeArrowheads="1"/>
          </p:cNvSpPr>
          <p:nvPr/>
        </p:nvSpPr>
        <p:spPr bwMode="auto">
          <a:xfrm>
            <a:off x="5606448" y="2284453"/>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5"/>
          <p:cNvSpPr>
            <a:spLocks noChangeShapeType="1"/>
          </p:cNvSpPr>
          <p:nvPr/>
        </p:nvSpPr>
        <p:spPr bwMode="auto">
          <a:xfrm>
            <a:off x="1403441" y="2098842"/>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Text Box 9"/>
          <p:cNvSpPr txBox="1">
            <a:spLocks noChangeArrowheads="1"/>
          </p:cNvSpPr>
          <p:nvPr/>
        </p:nvSpPr>
        <p:spPr bwMode="auto">
          <a:xfrm>
            <a:off x="3052377" y="2221798"/>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5" name="Text Box 10"/>
          <p:cNvSpPr txBox="1">
            <a:spLocks noChangeArrowheads="1"/>
          </p:cNvSpPr>
          <p:nvPr/>
        </p:nvSpPr>
        <p:spPr bwMode="auto">
          <a:xfrm>
            <a:off x="5148159" y="219777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6" name="Line 11"/>
          <p:cNvSpPr>
            <a:spLocks noChangeShapeType="1"/>
          </p:cNvSpPr>
          <p:nvPr/>
        </p:nvSpPr>
        <p:spPr bwMode="auto">
          <a:xfrm flipH="1">
            <a:off x="1416731"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12"/>
          <p:cNvSpPr txBox="1">
            <a:spLocks noChangeArrowheads="1"/>
          </p:cNvSpPr>
          <p:nvPr/>
        </p:nvSpPr>
        <p:spPr bwMode="auto">
          <a:xfrm>
            <a:off x="1633145" y="1974803"/>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69" name="Text Box 16"/>
          <p:cNvSpPr txBox="1">
            <a:spLocks noChangeArrowheads="1"/>
          </p:cNvSpPr>
          <p:nvPr/>
        </p:nvSpPr>
        <p:spPr bwMode="auto">
          <a:xfrm>
            <a:off x="2000518"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74" name="Text Box 17"/>
          <p:cNvSpPr txBox="1">
            <a:spLocks noChangeArrowheads="1"/>
          </p:cNvSpPr>
          <p:nvPr/>
        </p:nvSpPr>
        <p:spPr bwMode="auto">
          <a:xfrm>
            <a:off x="4128416"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75" name="Text Box 18"/>
          <p:cNvSpPr txBox="1">
            <a:spLocks noChangeArrowheads="1"/>
          </p:cNvSpPr>
          <p:nvPr/>
        </p:nvSpPr>
        <p:spPr bwMode="auto">
          <a:xfrm>
            <a:off x="6522594"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86" name="Text Box 24"/>
          <p:cNvSpPr txBox="1">
            <a:spLocks noChangeArrowheads="1"/>
          </p:cNvSpPr>
          <p:nvPr/>
        </p:nvSpPr>
        <p:spPr bwMode="auto">
          <a:xfrm>
            <a:off x="3761042" y="1966141"/>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87" name="Text Box 25"/>
          <p:cNvSpPr txBox="1">
            <a:spLocks noChangeArrowheads="1"/>
          </p:cNvSpPr>
          <p:nvPr/>
        </p:nvSpPr>
        <p:spPr bwMode="auto">
          <a:xfrm>
            <a:off x="6129413" y="1959644"/>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88" name="Line 11"/>
          <p:cNvSpPr>
            <a:spLocks noChangeShapeType="1"/>
          </p:cNvSpPr>
          <p:nvPr/>
        </p:nvSpPr>
        <p:spPr bwMode="auto">
          <a:xfrm flipH="1">
            <a:off x="2947164"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15"/>
          <p:cNvSpPr txBox="1">
            <a:spLocks noChangeArrowheads="1"/>
          </p:cNvSpPr>
          <p:nvPr/>
        </p:nvSpPr>
        <p:spPr bwMode="auto">
          <a:xfrm>
            <a:off x="1412133" y="2271216"/>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sp>
        <p:nvSpPr>
          <p:cNvPr id="3" name="矩形 2"/>
          <p:cNvSpPr/>
          <p:nvPr/>
        </p:nvSpPr>
        <p:spPr>
          <a:xfrm>
            <a:off x="1454783" y="1104853"/>
            <a:ext cx="6544042" cy="861774"/>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假设最大报文段长度 </a:t>
            </a:r>
            <a:r>
              <a:rPr lang="en-US" altLang="zh-CN" sz="1400" b="1" dirty="0">
                <a:latin typeface="微软雅黑" panose="020B0503020204020204" pitchFamily="34" charset="-122"/>
                <a:ea typeface="微软雅黑" panose="020B0503020204020204" pitchFamily="34" charset="-122"/>
              </a:rPr>
              <a:t>MSS = 5000 </a:t>
            </a:r>
            <a:r>
              <a:rPr lang="zh-CN" altLang="en-US" sz="1400" b="1" dirty="0">
                <a:latin typeface="微软雅黑" panose="020B0503020204020204" pitchFamily="34" charset="-122"/>
                <a:ea typeface="微软雅黑" panose="020B0503020204020204" pitchFamily="34" charset="-122"/>
              </a:rPr>
              <a:t>字节，起始序号 </a:t>
            </a:r>
            <a:r>
              <a:rPr lang="en-US" altLang="zh-CN" sz="1400" b="1" dirty="0">
                <a:latin typeface="微软雅黑" panose="020B0503020204020204" pitchFamily="34" charset="-122"/>
                <a:ea typeface="微软雅黑" panose="020B0503020204020204" pitchFamily="34" charset="-122"/>
              </a:rPr>
              <a:t>= 1</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接收方收到了和前面的字节流不连续的两个字节块，缺少序号 </a:t>
            </a:r>
            <a:r>
              <a:rPr lang="en-US" altLang="zh-CN" sz="1400" b="1" dirty="0">
                <a:latin typeface="微软雅黑" panose="020B0503020204020204" pitchFamily="34" charset="-122"/>
                <a:ea typeface="微软雅黑" panose="020B0503020204020204" pitchFamily="34" charset="-122"/>
              </a:rPr>
              <a:t>1001 ~ 1500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3001 ~ 3500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4501~5000 </a:t>
            </a:r>
            <a:r>
              <a:rPr lang="zh-CN" altLang="en-US" sz="1400" b="1" dirty="0">
                <a:latin typeface="微软雅黑" panose="020B0503020204020204" pitchFamily="34" charset="-122"/>
                <a:ea typeface="微软雅黑" panose="020B0503020204020204" pitchFamily="34" charset="-122"/>
              </a:rPr>
              <a:t>的字节。</a:t>
            </a:r>
          </a:p>
        </p:txBody>
      </p:sp>
      <p:sp>
        <p:nvSpPr>
          <p:cNvPr id="90" name="矩形 89"/>
          <p:cNvSpPr/>
          <p:nvPr/>
        </p:nvSpPr>
        <p:spPr>
          <a:xfrm>
            <a:off x="1454783" y="2685739"/>
            <a:ext cx="6544042" cy="307777"/>
          </a:xfrm>
          <a:prstGeom prst="rect">
            <a:avLst/>
          </a:prstGeom>
          <a:solidFill>
            <a:srgbClr val="92D050"/>
          </a:solidFill>
        </p:spPr>
        <p:txBody>
          <a:bodyPr wrap="square">
            <a:spAutoFit/>
          </a:bodyPr>
          <a:lstStyle/>
          <a:p>
            <a:r>
              <a:rPr lang="zh-CN" altLang="en-US" sz="1400" b="1" dirty="0">
                <a:solidFill>
                  <a:srgbClr val="000099"/>
                </a:solidFill>
                <a:latin typeface="微软雅黑" panose="020B0503020204020204" pitchFamily="34" charset="-122"/>
                <a:ea typeface="微软雅黑" panose="020B0503020204020204" pitchFamily="34" charset="-122"/>
              </a:rPr>
              <a:t>确认报文：</a:t>
            </a:r>
            <a:r>
              <a:rPr lang="en-US" altLang="zh-CN" sz="1400" b="1" dirty="0">
                <a:solidFill>
                  <a:srgbClr val="000099"/>
                </a:solidFill>
                <a:latin typeface="微软雅黑" panose="020B0503020204020204" pitchFamily="34" charset="-122"/>
                <a:ea typeface="微软雅黑" panose="020B0503020204020204" pitchFamily="34" charset="-122"/>
              </a:rPr>
              <a:t>ACK = 1</a:t>
            </a:r>
            <a:r>
              <a:rPr lang="zh-CN" altLang="en-US" sz="1400" b="1" dirty="0">
                <a:solidFill>
                  <a:srgbClr val="000099"/>
                </a:solidFill>
                <a:latin typeface="微软雅黑" panose="020B0503020204020204" pitchFamily="34" charset="-122"/>
                <a:ea typeface="微软雅黑" panose="020B0503020204020204" pitchFamily="34" charset="-122"/>
              </a:rPr>
              <a:t>，确认号 </a:t>
            </a:r>
            <a:r>
              <a:rPr lang="en-US" altLang="zh-CN" sz="1400" b="1" dirty="0">
                <a:solidFill>
                  <a:srgbClr val="000099"/>
                </a:solidFill>
                <a:latin typeface="微软雅黑" panose="020B0503020204020204" pitchFamily="34" charset="-122"/>
                <a:ea typeface="微软雅黑" panose="020B0503020204020204" pitchFamily="34" charset="-122"/>
              </a:rPr>
              <a:t>= 1001</a:t>
            </a:r>
            <a:r>
              <a:rPr lang="zh-CN" altLang="en-US" sz="1400" b="1" dirty="0">
                <a:solidFill>
                  <a:srgbClr val="000099"/>
                </a:solidFill>
                <a:latin typeface="微软雅黑" panose="020B0503020204020204" pitchFamily="34" charset="-122"/>
                <a:ea typeface="微软雅黑" panose="020B0503020204020204" pitchFamily="34" charset="-122"/>
              </a:rPr>
              <a:t>，窗口 </a:t>
            </a:r>
            <a:r>
              <a:rPr lang="en-US" altLang="zh-CN" sz="1400" b="1" dirty="0">
                <a:solidFill>
                  <a:srgbClr val="000099"/>
                </a:solidFill>
                <a:latin typeface="微软雅黑" panose="020B0503020204020204" pitchFamily="34" charset="-122"/>
                <a:ea typeface="微软雅黑" panose="020B0503020204020204" pitchFamily="34" charset="-122"/>
              </a:rPr>
              <a:t>= 6000</a:t>
            </a:r>
          </a:p>
        </p:txBody>
      </p:sp>
      <p:sp>
        <p:nvSpPr>
          <p:cNvPr id="11" name="内容占位符 10">
            <a:extLst>
              <a:ext uri="{FF2B5EF4-FFF2-40B4-BE49-F238E27FC236}">
                <a16:creationId xmlns:a16="http://schemas.microsoft.com/office/drawing/2014/main" id="{B94BBE8F-E567-DB8B-D86B-D6C075763CF7}"/>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49848B2A-974F-7E5D-EAF2-670A4A48B28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5365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animEffect transition="in" filter="fade">
                                      <p:cBhvr>
                                        <p:cTn id="7" dur="500"/>
                                        <p:tgtEl>
                                          <p:spTgt spid="9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90"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42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10511" y="591084"/>
            <a:ext cx="334168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RFC 2018 </a:t>
            </a:r>
            <a:r>
              <a:rPr lang="zh-CN" altLang="en-US" sz="2000" b="1" dirty="0">
                <a:solidFill>
                  <a:schemeClr val="bg1"/>
                </a:solidFill>
                <a:latin typeface="微软雅黑" pitchFamily="34" charset="-122"/>
                <a:ea typeface="微软雅黑" pitchFamily="34" charset="-122"/>
              </a:rPr>
              <a:t>对 </a:t>
            </a:r>
            <a:r>
              <a:rPr lang="en-US" altLang="zh-CN" sz="2000" b="1" dirty="0">
                <a:solidFill>
                  <a:schemeClr val="bg1"/>
                </a:solidFill>
                <a:latin typeface="微软雅黑" pitchFamily="34" charset="-122"/>
                <a:ea typeface="微软雅黑" pitchFamily="34" charset="-122"/>
              </a:rPr>
              <a:t>SACK </a:t>
            </a:r>
            <a:r>
              <a:rPr lang="zh-CN" altLang="en-US" sz="2000" b="1" dirty="0">
                <a:solidFill>
                  <a:schemeClr val="bg1"/>
                </a:solidFill>
                <a:latin typeface="微软雅黑" pitchFamily="34" charset="-122"/>
                <a:ea typeface="微软雅黑" pitchFamily="34" charset="-122"/>
              </a:rPr>
              <a:t>的规定</a:t>
            </a:r>
          </a:p>
        </p:txBody>
      </p:sp>
      <p:sp>
        <p:nvSpPr>
          <p:cNvPr id="9" name="Rectangle 68"/>
          <p:cNvSpPr>
            <a:spLocks noChangeArrowheads="1"/>
          </p:cNvSpPr>
          <p:nvPr/>
        </p:nvSpPr>
        <p:spPr bwMode="auto">
          <a:xfrm>
            <a:off x="556963" y="987394"/>
            <a:ext cx="3701272"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如果要使用</a:t>
            </a:r>
            <a:r>
              <a:rPr lang="zh-CN" altLang="en-US" b="1" dirty="0">
                <a:solidFill>
                  <a:srgbClr val="C00000"/>
                </a:solidFill>
                <a:latin typeface="微软雅黑" pitchFamily="34" charset="-122"/>
                <a:ea typeface="微软雅黑" pitchFamily="34" charset="-122"/>
              </a:rPr>
              <a:t>选择确认，</a:t>
            </a:r>
            <a:r>
              <a:rPr lang="zh-CN" altLang="en-US" b="1" dirty="0">
                <a:latin typeface="微软雅黑" pitchFamily="34" charset="-122"/>
                <a:ea typeface="微软雅黑" pitchFamily="34" charset="-122"/>
              </a:rPr>
              <a:t>在建立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连接时，要在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首部的选项中加上</a:t>
            </a:r>
            <a:r>
              <a:rPr lang="zh-CN" altLang="en-US" b="1" dirty="0">
                <a:solidFill>
                  <a:srgbClr val="C00000"/>
                </a:solidFill>
                <a:latin typeface="微软雅黑" pitchFamily="34" charset="-122"/>
                <a:ea typeface="微软雅黑" pitchFamily="34" charset="-122"/>
              </a:rPr>
              <a:t>允许 </a:t>
            </a:r>
            <a:r>
              <a:rPr lang="en-US" altLang="zh-CN" b="1" dirty="0">
                <a:solidFill>
                  <a:srgbClr val="C00000"/>
                </a:solidFill>
                <a:latin typeface="微软雅黑" pitchFamily="34" charset="-122"/>
                <a:ea typeface="微软雅黑" pitchFamily="34" charset="-122"/>
              </a:rPr>
              <a:t>SACK </a:t>
            </a:r>
            <a:r>
              <a:rPr lang="zh-CN" altLang="en-US" b="1" dirty="0">
                <a:latin typeface="微软雅黑" pitchFamily="34" charset="-122"/>
                <a:ea typeface="微软雅黑" pitchFamily="34" charset="-122"/>
              </a:rPr>
              <a:t>选项，且双方必须事先商定好。</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如果使用选择确认，原来首部中的</a:t>
            </a:r>
            <a:r>
              <a:rPr lang="zh-CN" altLang="en-US" b="1" dirty="0">
                <a:solidFill>
                  <a:srgbClr val="C00000"/>
                </a:solidFill>
                <a:latin typeface="微软雅黑" pitchFamily="34" charset="-122"/>
                <a:ea typeface="微软雅黑" pitchFamily="34" charset="-122"/>
              </a:rPr>
              <a:t>确认号</a:t>
            </a:r>
            <a:r>
              <a:rPr lang="zh-CN" altLang="en-US" b="1" dirty="0">
                <a:latin typeface="微软雅黑" pitchFamily="34" charset="-122"/>
                <a:ea typeface="微软雅黑" pitchFamily="34" charset="-122"/>
              </a:rPr>
              <a:t>的用法仍然不变（累积确认）。只是在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首部中都增加了 </a:t>
            </a:r>
            <a:r>
              <a:rPr lang="en-US" altLang="zh-CN" b="1" dirty="0">
                <a:solidFill>
                  <a:srgbClr val="C00000"/>
                </a:solidFill>
                <a:latin typeface="微软雅黑" pitchFamily="34" charset="-122"/>
                <a:ea typeface="微软雅黑" pitchFamily="34" charset="-122"/>
              </a:rPr>
              <a:t>SACK </a:t>
            </a:r>
            <a:r>
              <a:rPr lang="zh-CN" altLang="en-US" b="1" dirty="0">
                <a:solidFill>
                  <a:srgbClr val="C00000"/>
                </a:solidFill>
                <a:latin typeface="微软雅黑" pitchFamily="34" charset="-122"/>
                <a:ea typeface="微软雅黑" pitchFamily="34" charset="-122"/>
              </a:rPr>
              <a:t>选项，</a:t>
            </a:r>
            <a:r>
              <a:rPr lang="zh-CN" altLang="en-US" b="1" dirty="0">
                <a:latin typeface="微软雅黑" pitchFamily="34" charset="-122"/>
                <a:ea typeface="微软雅黑" pitchFamily="34" charset="-122"/>
              </a:rPr>
              <a:t>以便报告收到的</a:t>
            </a:r>
            <a:r>
              <a:rPr lang="zh-CN" altLang="en-US" b="1" dirty="0">
                <a:solidFill>
                  <a:srgbClr val="0000FF"/>
                </a:solidFill>
                <a:latin typeface="微软雅黑" pitchFamily="34" charset="-122"/>
                <a:ea typeface="微软雅黑" pitchFamily="34" charset="-122"/>
              </a:rPr>
              <a:t>不连续的</a:t>
            </a:r>
            <a:r>
              <a:rPr lang="zh-CN" altLang="en-US" b="1" dirty="0">
                <a:latin typeface="微软雅黑" pitchFamily="34" charset="-122"/>
                <a:ea typeface="微软雅黑" pitchFamily="34" charset="-122"/>
              </a:rPr>
              <a:t>字节块的</a:t>
            </a:r>
            <a:r>
              <a:rPr lang="zh-CN" altLang="en-US" b="1" dirty="0">
                <a:solidFill>
                  <a:srgbClr val="C00000"/>
                </a:solidFill>
                <a:latin typeface="微软雅黑" pitchFamily="34" charset="-122"/>
                <a:ea typeface="微软雅黑" pitchFamily="34" charset="-122"/>
              </a:rPr>
              <a:t>边界。</a:t>
            </a:r>
          </a:p>
        </p:txBody>
      </p:sp>
      <p:grpSp>
        <p:nvGrpSpPr>
          <p:cNvPr id="4" name="组合 3"/>
          <p:cNvGrpSpPr/>
          <p:nvPr/>
        </p:nvGrpSpPr>
        <p:grpSpPr>
          <a:xfrm>
            <a:off x="5988418" y="1213171"/>
            <a:ext cx="1922724" cy="259977"/>
            <a:chOff x="6306464" y="1362635"/>
            <a:chExt cx="2043954" cy="259977"/>
          </a:xfrm>
        </p:grpSpPr>
        <p:sp>
          <p:nvSpPr>
            <p:cNvPr id="2" name="矩形 1"/>
            <p:cNvSpPr/>
            <p:nvPr/>
          </p:nvSpPr>
          <p:spPr>
            <a:xfrm>
              <a:off x="6306464" y="136263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4</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1" name="矩形 10"/>
            <p:cNvSpPr/>
            <p:nvPr/>
          </p:nvSpPr>
          <p:spPr>
            <a:xfrm>
              <a:off x="7328441" y="136263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=2</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12" name="Rectangle 12"/>
          <p:cNvSpPr>
            <a:spLocks noChangeArrowheads="1"/>
          </p:cNvSpPr>
          <p:nvPr/>
        </p:nvSpPr>
        <p:spPr bwMode="auto">
          <a:xfrm>
            <a:off x="6078248" y="1472381"/>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允许 </a:t>
            </a: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6" name="组合 25"/>
          <p:cNvGrpSpPr/>
          <p:nvPr/>
        </p:nvGrpSpPr>
        <p:grpSpPr>
          <a:xfrm>
            <a:off x="4365806" y="1903438"/>
            <a:ext cx="4598901" cy="2643577"/>
            <a:chOff x="4365806" y="1903438"/>
            <a:chExt cx="4598901" cy="2643577"/>
          </a:xfrm>
        </p:grpSpPr>
        <p:sp>
          <p:nvSpPr>
            <p:cNvPr id="10" name="AutoShape 13"/>
            <p:cNvSpPr>
              <a:spLocks/>
            </p:cNvSpPr>
            <p:nvPr/>
          </p:nvSpPr>
          <p:spPr bwMode="auto">
            <a:xfrm flipH="1">
              <a:off x="7933757" y="2190662"/>
              <a:ext cx="175656" cy="2039611"/>
            </a:xfrm>
            <a:prstGeom prst="leftBrace">
              <a:avLst>
                <a:gd name="adj1" fmla="val 42270"/>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Rectangle 12"/>
            <p:cNvSpPr>
              <a:spLocks noChangeArrowheads="1"/>
            </p:cNvSpPr>
            <p:nvPr/>
          </p:nvSpPr>
          <p:spPr bwMode="auto">
            <a:xfrm>
              <a:off x="5400543" y="4239238"/>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4" name="组合 23"/>
            <p:cNvGrpSpPr/>
            <p:nvPr/>
          </p:nvGrpSpPr>
          <p:grpSpPr>
            <a:xfrm>
              <a:off x="4365806" y="1903438"/>
              <a:ext cx="3545336" cy="2336725"/>
              <a:chOff x="4805082" y="2217885"/>
              <a:chExt cx="3545336" cy="2336725"/>
            </a:xfrm>
          </p:grpSpPr>
          <p:grpSp>
            <p:nvGrpSpPr>
              <p:cNvPr id="3" name="组合 2"/>
              <p:cNvGrpSpPr/>
              <p:nvPr/>
            </p:nvGrpSpPr>
            <p:grpSpPr>
              <a:xfrm>
                <a:off x="6427694" y="2217885"/>
                <a:ext cx="1922724" cy="259977"/>
                <a:chOff x="6306464" y="2217885"/>
                <a:chExt cx="2043954" cy="259977"/>
              </a:xfrm>
            </p:grpSpPr>
            <p:sp>
              <p:nvSpPr>
                <p:cNvPr id="13" name="矩形 1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4" name="矩形 1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a:t>
                  </a:r>
                  <a:r>
                    <a:rPr lang="zh-CN" altLang="en-US" sz="1200" b="1" dirty="0">
                      <a:solidFill>
                        <a:srgbClr val="000066"/>
                      </a:solidFill>
                      <a:latin typeface="微软雅黑" panose="020B0503020204020204" pitchFamily="34" charset="-122"/>
                      <a:ea typeface="微软雅黑" panose="020B0503020204020204" pitchFamily="34" charset="-122"/>
                    </a:rPr>
                    <a:t>？</a:t>
                  </a:r>
                </a:p>
              </p:txBody>
            </p:sp>
          </p:grpSp>
          <p:sp>
            <p:nvSpPr>
              <p:cNvPr id="16" name="矩形 15"/>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7" name="矩形 16"/>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18" name="矩形 17"/>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9" name="矩形 18"/>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0" name="矩形 19"/>
              <p:cNvSpPr/>
              <p:nvPr/>
            </p:nvSpPr>
            <p:spPr>
              <a:xfrm>
                <a:off x="4805082" y="3515469"/>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1" name="矩形 20"/>
              <p:cNvSpPr/>
              <p:nvPr/>
            </p:nvSpPr>
            <p:spPr>
              <a:xfrm>
                <a:off x="4805082" y="3775446"/>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2" name="矩形 21"/>
              <p:cNvSpPr/>
              <p:nvPr/>
            </p:nvSpPr>
            <p:spPr>
              <a:xfrm>
                <a:off x="4805082" y="4034656"/>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3" name="矩形 22"/>
              <p:cNvSpPr/>
              <p:nvPr/>
            </p:nvSpPr>
            <p:spPr>
              <a:xfrm>
                <a:off x="4805082" y="4294633"/>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grpSp>
        <p:sp>
          <p:nvSpPr>
            <p:cNvPr id="25" name="Rectangle 12"/>
            <p:cNvSpPr>
              <a:spLocks noChangeArrowheads="1"/>
            </p:cNvSpPr>
            <p:nvPr/>
          </p:nvSpPr>
          <p:spPr bwMode="auto">
            <a:xfrm>
              <a:off x="8021585" y="2934685"/>
              <a:ext cx="94312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latin typeface="微软雅黑" panose="020B0503020204020204" pitchFamily="34" charset="-122"/>
                  <a:ea typeface="微软雅黑" panose="020B0503020204020204" pitchFamily="34" charset="-122"/>
                </a:rPr>
                <a:t>最多 </a:t>
              </a:r>
              <a:r>
                <a:rPr lang="en-US" altLang="zh-CN" sz="1400" b="1" dirty="0">
                  <a:latin typeface="微软雅黑" panose="020B0503020204020204" pitchFamily="34" charset="-122"/>
                  <a:ea typeface="微软雅黑" panose="020B0503020204020204" pitchFamily="34" charset="-122"/>
                </a:rPr>
                <a:t>4 </a:t>
              </a:r>
              <a:r>
                <a:rPr lang="zh-CN" altLang="en-US" sz="1400" b="1" dirty="0">
                  <a:latin typeface="微软雅黑" panose="020B0503020204020204" pitchFamily="34" charset="-122"/>
                  <a:ea typeface="微软雅黑" panose="020B0503020204020204" pitchFamily="34" charset="-122"/>
                </a:rPr>
                <a:t>个</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字节块</a:t>
              </a:r>
              <a:endParaRPr lang="en-US" altLang="zh-CN" sz="1400" b="1" dirty="0">
                <a:latin typeface="微软雅黑" panose="020B0503020204020204" pitchFamily="34" charset="-122"/>
                <a:ea typeface="微软雅黑" panose="020B0503020204020204" pitchFamily="34" charset="-122"/>
              </a:endParaRPr>
            </a:p>
          </p:txBody>
        </p:sp>
      </p:grpSp>
      <p:sp>
        <p:nvSpPr>
          <p:cNvPr id="29" name="内容占位符 28">
            <a:extLst>
              <a:ext uri="{FF2B5EF4-FFF2-40B4-BE49-F238E27FC236}">
                <a16:creationId xmlns:a16="http://schemas.microsoft.com/office/drawing/2014/main" id="{2631BAED-7D48-0CA1-D38F-F64439D8ED84}"/>
              </a:ext>
            </a:extLst>
          </p:cNvPr>
          <p:cNvSpPr>
            <a:spLocks noGrp="1"/>
          </p:cNvSpPr>
          <p:nvPr>
            <p:ph sz="quarter" idx="11"/>
          </p:nvPr>
        </p:nvSpPr>
        <p:spPr/>
        <p:txBody>
          <a:bodyPr/>
          <a:lstStyle/>
          <a:p>
            <a:endParaRPr lang="zh-CN" altLang="en-US"/>
          </a:p>
        </p:txBody>
      </p:sp>
      <p:sp>
        <p:nvSpPr>
          <p:cNvPr id="28" name="标题 27">
            <a:extLst>
              <a:ext uri="{FF2B5EF4-FFF2-40B4-BE49-F238E27FC236}">
                <a16:creationId xmlns:a16="http://schemas.microsoft.com/office/drawing/2014/main" id="{6C718BEC-F1AB-E5CD-70E9-CF4CA122962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604409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6"/>
          <p:cNvSpPr>
            <a:spLocks noChangeArrowheads="1"/>
          </p:cNvSpPr>
          <p:nvPr/>
        </p:nvSpPr>
        <p:spPr bwMode="auto">
          <a:xfrm>
            <a:off x="1403441" y="1417747"/>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7"/>
          <p:cNvSpPr>
            <a:spLocks noChangeArrowheads="1"/>
          </p:cNvSpPr>
          <p:nvPr/>
        </p:nvSpPr>
        <p:spPr bwMode="auto">
          <a:xfrm>
            <a:off x="3585299" y="1417747"/>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8"/>
          <p:cNvSpPr>
            <a:spLocks noChangeArrowheads="1"/>
          </p:cNvSpPr>
          <p:nvPr/>
        </p:nvSpPr>
        <p:spPr bwMode="auto">
          <a:xfrm>
            <a:off x="5606448" y="1417747"/>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19"/>
          <p:cNvSpPr txBox="1">
            <a:spLocks noChangeArrowheads="1"/>
          </p:cNvSpPr>
          <p:nvPr/>
        </p:nvSpPr>
        <p:spPr bwMode="auto">
          <a:xfrm>
            <a:off x="2062023" y="1908649"/>
            <a:ext cx="1234633"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CC00CC"/>
                </a:solidFill>
                <a:latin typeface="微软雅黑" pitchFamily="34" charset="-122"/>
                <a:ea typeface="微软雅黑" pitchFamily="34" charset="-122"/>
              </a:rPr>
              <a:t>确认号 </a:t>
            </a:r>
            <a:r>
              <a:rPr lang="en-US" altLang="zh-CN" sz="1200" b="1" dirty="0">
                <a:solidFill>
                  <a:srgbClr val="CC00CC"/>
                </a:solidFill>
                <a:latin typeface="微软雅黑" pitchFamily="34" charset="-122"/>
                <a:ea typeface="微软雅黑" pitchFamily="34" charset="-122"/>
              </a:rPr>
              <a:t>= 1001</a:t>
            </a:r>
          </a:p>
        </p:txBody>
      </p:sp>
      <p:sp>
        <p:nvSpPr>
          <p:cNvPr id="19" name="Line 5"/>
          <p:cNvSpPr>
            <a:spLocks noChangeShapeType="1"/>
          </p:cNvSpPr>
          <p:nvPr/>
        </p:nvSpPr>
        <p:spPr bwMode="auto">
          <a:xfrm>
            <a:off x="1403441" y="1232136"/>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Text Box 9"/>
          <p:cNvSpPr txBox="1">
            <a:spLocks noChangeArrowheads="1"/>
          </p:cNvSpPr>
          <p:nvPr/>
        </p:nvSpPr>
        <p:spPr bwMode="auto">
          <a:xfrm>
            <a:off x="3052377" y="1355092"/>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1" name="Text Box 10"/>
          <p:cNvSpPr txBox="1">
            <a:spLocks noChangeArrowheads="1"/>
          </p:cNvSpPr>
          <p:nvPr/>
        </p:nvSpPr>
        <p:spPr bwMode="auto">
          <a:xfrm>
            <a:off x="5148159" y="1331067"/>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2" name="Line 11"/>
          <p:cNvSpPr>
            <a:spLocks noChangeShapeType="1"/>
          </p:cNvSpPr>
          <p:nvPr/>
        </p:nvSpPr>
        <p:spPr bwMode="auto">
          <a:xfrm flipH="1">
            <a:off x="1416731"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12"/>
          <p:cNvSpPr txBox="1">
            <a:spLocks noChangeArrowheads="1"/>
          </p:cNvSpPr>
          <p:nvPr/>
        </p:nvSpPr>
        <p:spPr bwMode="auto">
          <a:xfrm>
            <a:off x="1633145" y="1108097"/>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24" name="Line 14"/>
          <p:cNvSpPr>
            <a:spLocks noChangeShapeType="1"/>
          </p:cNvSpPr>
          <p:nvPr/>
        </p:nvSpPr>
        <p:spPr bwMode="auto">
          <a:xfrm flipV="1">
            <a:off x="2981181" y="1613736"/>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16"/>
          <p:cNvSpPr txBox="1">
            <a:spLocks noChangeArrowheads="1"/>
          </p:cNvSpPr>
          <p:nvPr/>
        </p:nvSpPr>
        <p:spPr bwMode="auto">
          <a:xfrm>
            <a:off x="2000518"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6" name="Text Box 17"/>
          <p:cNvSpPr txBox="1">
            <a:spLocks noChangeArrowheads="1"/>
          </p:cNvSpPr>
          <p:nvPr/>
        </p:nvSpPr>
        <p:spPr bwMode="auto">
          <a:xfrm>
            <a:off x="4128416"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27" name="Text Box 18"/>
          <p:cNvSpPr txBox="1">
            <a:spLocks noChangeArrowheads="1"/>
          </p:cNvSpPr>
          <p:nvPr/>
        </p:nvSpPr>
        <p:spPr bwMode="auto">
          <a:xfrm>
            <a:off x="6522594"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grpSp>
        <p:nvGrpSpPr>
          <p:cNvPr id="2" name="组合 1"/>
          <p:cNvGrpSpPr/>
          <p:nvPr/>
        </p:nvGrpSpPr>
        <p:grpSpPr>
          <a:xfrm>
            <a:off x="3415064" y="1613736"/>
            <a:ext cx="2087943" cy="571913"/>
            <a:chOff x="3415064" y="2475207"/>
            <a:chExt cx="2087943" cy="571913"/>
          </a:xfrm>
        </p:grpSpPr>
        <p:sp>
          <p:nvSpPr>
            <p:cNvPr id="15" name="Text Box 26"/>
            <p:cNvSpPr txBox="1">
              <a:spLocks noChangeArrowheads="1"/>
            </p:cNvSpPr>
            <p:nvPr/>
          </p:nvSpPr>
          <p:spPr bwMode="auto">
            <a:xfrm>
              <a:off x="3415064"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L</a:t>
              </a:r>
              <a:r>
                <a:rPr lang="en-US" altLang="zh-CN" sz="1200" b="1" baseline="-25000">
                  <a:latin typeface="微软雅黑" pitchFamily="34" charset="-122"/>
                  <a:ea typeface="微软雅黑" pitchFamily="34" charset="-122"/>
                </a:rPr>
                <a:t>1</a:t>
              </a:r>
              <a:r>
                <a:rPr lang="en-US" altLang="zh-CN" sz="1200" b="1">
                  <a:latin typeface="微软雅黑" pitchFamily="34" charset="-122"/>
                  <a:ea typeface="微软雅黑" pitchFamily="34" charset="-122"/>
                </a:rPr>
                <a:t> = 1501</a:t>
              </a:r>
            </a:p>
          </p:txBody>
        </p:sp>
        <p:sp>
          <p:nvSpPr>
            <p:cNvPr id="17" name="Text Box 28"/>
            <p:cNvSpPr txBox="1">
              <a:spLocks noChangeArrowheads="1"/>
            </p:cNvSpPr>
            <p:nvPr/>
          </p:nvSpPr>
          <p:spPr bwMode="auto">
            <a:xfrm>
              <a:off x="4560120" y="2770120"/>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3001</a:t>
              </a:r>
            </a:p>
          </p:txBody>
        </p:sp>
        <p:sp>
          <p:nvSpPr>
            <p:cNvPr id="28" name="Line 20"/>
            <p:cNvSpPr>
              <a:spLocks noChangeShapeType="1"/>
            </p:cNvSpPr>
            <p:nvPr/>
          </p:nvSpPr>
          <p:spPr bwMode="auto">
            <a:xfrm flipV="1">
              <a:off x="3833544"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1"/>
            <p:cNvSpPr>
              <a:spLocks noChangeShapeType="1"/>
            </p:cNvSpPr>
            <p:nvPr/>
          </p:nvSpPr>
          <p:spPr bwMode="auto">
            <a:xfrm flipV="1">
              <a:off x="5075061"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3" name="组合 2"/>
          <p:cNvGrpSpPr/>
          <p:nvPr/>
        </p:nvGrpSpPr>
        <p:grpSpPr>
          <a:xfrm>
            <a:off x="5527383" y="1613736"/>
            <a:ext cx="2522583" cy="571913"/>
            <a:chOff x="5527383" y="2475207"/>
            <a:chExt cx="2522583" cy="571913"/>
          </a:xfrm>
        </p:grpSpPr>
        <p:sp>
          <p:nvSpPr>
            <p:cNvPr id="16" name="Text Box 27"/>
            <p:cNvSpPr txBox="1">
              <a:spLocks noChangeArrowheads="1"/>
            </p:cNvSpPr>
            <p:nvPr/>
          </p:nvSpPr>
          <p:spPr bwMode="auto">
            <a:xfrm>
              <a:off x="5527383"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L</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 3501</a:t>
              </a:r>
            </a:p>
          </p:txBody>
        </p:sp>
        <p:sp>
          <p:nvSpPr>
            <p:cNvPr id="18" name="Text Box 29"/>
            <p:cNvSpPr txBox="1">
              <a:spLocks noChangeArrowheads="1"/>
            </p:cNvSpPr>
            <p:nvPr/>
          </p:nvSpPr>
          <p:spPr bwMode="auto">
            <a:xfrm>
              <a:off x="7107079" y="2755465"/>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4501</a:t>
              </a:r>
            </a:p>
          </p:txBody>
        </p:sp>
        <p:sp>
          <p:nvSpPr>
            <p:cNvPr id="30" name="Line 22"/>
            <p:cNvSpPr>
              <a:spLocks noChangeShapeType="1"/>
            </p:cNvSpPr>
            <p:nvPr/>
          </p:nvSpPr>
          <p:spPr bwMode="auto">
            <a:xfrm flipV="1">
              <a:off x="59104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23"/>
            <p:cNvSpPr>
              <a:spLocks noChangeShapeType="1"/>
            </p:cNvSpPr>
            <p:nvPr/>
          </p:nvSpPr>
          <p:spPr bwMode="auto">
            <a:xfrm flipV="1">
              <a:off x="76815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2" name="Text Box 24"/>
          <p:cNvSpPr txBox="1">
            <a:spLocks noChangeArrowheads="1"/>
          </p:cNvSpPr>
          <p:nvPr/>
        </p:nvSpPr>
        <p:spPr bwMode="auto">
          <a:xfrm>
            <a:off x="3761042" y="1099435"/>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33" name="Text Box 25"/>
          <p:cNvSpPr txBox="1">
            <a:spLocks noChangeArrowheads="1"/>
          </p:cNvSpPr>
          <p:nvPr/>
        </p:nvSpPr>
        <p:spPr bwMode="auto">
          <a:xfrm>
            <a:off x="6129413" y="1092938"/>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34" name="Line 11"/>
          <p:cNvSpPr>
            <a:spLocks noChangeShapeType="1"/>
          </p:cNvSpPr>
          <p:nvPr/>
        </p:nvSpPr>
        <p:spPr bwMode="auto">
          <a:xfrm flipH="1">
            <a:off x="2947164"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Text Box 15"/>
          <p:cNvSpPr txBox="1">
            <a:spLocks noChangeArrowheads="1"/>
          </p:cNvSpPr>
          <p:nvPr/>
        </p:nvSpPr>
        <p:spPr bwMode="auto">
          <a:xfrm>
            <a:off x="1412133" y="1404510"/>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grpSp>
        <p:nvGrpSpPr>
          <p:cNvPr id="4" name="组合 3"/>
          <p:cNvGrpSpPr/>
          <p:nvPr/>
        </p:nvGrpSpPr>
        <p:grpSpPr>
          <a:xfrm>
            <a:off x="1836669" y="2453730"/>
            <a:ext cx="5628778" cy="1298351"/>
            <a:chOff x="1836669" y="2453730"/>
            <a:chExt cx="5628778" cy="1298351"/>
          </a:xfrm>
        </p:grpSpPr>
        <p:sp>
          <p:nvSpPr>
            <p:cNvPr id="38" name="矩形 37"/>
            <p:cNvSpPr/>
            <p:nvPr/>
          </p:nvSpPr>
          <p:spPr>
            <a:xfrm>
              <a:off x="1836669" y="2712940"/>
              <a:ext cx="1808943"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确认号 </a:t>
              </a:r>
              <a:r>
                <a:rPr lang="en-US" altLang="zh-CN" sz="1200" b="1" dirty="0">
                  <a:solidFill>
                    <a:srgbClr val="000066"/>
                  </a:solidFill>
                  <a:latin typeface="微软雅黑" panose="020B0503020204020204" pitchFamily="34" charset="-122"/>
                  <a:ea typeface="微软雅黑" panose="020B0503020204020204" pitchFamily="34" charset="-122"/>
                </a:rPr>
                <a:t>=1001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nvGrpSpPr>
            <p:cNvPr id="42" name="组合 41"/>
            <p:cNvGrpSpPr/>
            <p:nvPr/>
          </p:nvGrpSpPr>
          <p:grpSpPr>
            <a:xfrm>
              <a:off x="3920111" y="2453730"/>
              <a:ext cx="3545336" cy="1298351"/>
              <a:chOff x="4805082" y="2217885"/>
              <a:chExt cx="3545336" cy="1298351"/>
            </a:xfrm>
          </p:grpSpPr>
          <p:grpSp>
            <p:nvGrpSpPr>
              <p:cNvPr id="44" name="组合 43"/>
              <p:cNvGrpSpPr/>
              <p:nvPr/>
            </p:nvGrpSpPr>
            <p:grpSpPr>
              <a:xfrm>
                <a:off x="6427694" y="2217885"/>
                <a:ext cx="1922724" cy="259977"/>
                <a:chOff x="6306464" y="2217885"/>
                <a:chExt cx="2043954" cy="259977"/>
              </a:xfrm>
            </p:grpSpPr>
            <p:sp>
              <p:nvSpPr>
                <p:cNvPr id="53" name="矩形 5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54" name="矩形 5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=18</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45" name="矩形 44"/>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1501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6" name="矩形 45"/>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7" name="矩形 46"/>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8" name="矩形 47"/>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4501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grpSp>
      <p:sp>
        <p:nvSpPr>
          <p:cNvPr id="13" name="矩形 12"/>
          <p:cNvSpPr/>
          <p:nvPr/>
        </p:nvSpPr>
        <p:spPr>
          <a:xfrm>
            <a:off x="906187" y="3939311"/>
            <a:ext cx="743232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左边界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第一个字节的序号，右边界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最后一个字节序号 </a:t>
            </a:r>
            <a:r>
              <a:rPr lang="en-US" altLang="zh-CN" sz="1600" b="1" dirty="0">
                <a:latin typeface="微软雅黑" panose="020B0503020204020204" pitchFamily="34" charset="-122"/>
                <a:ea typeface="微软雅黑" panose="020B0503020204020204" pitchFamily="34" charset="-122"/>
              </a:rPr>
              <a:t>+ 1</a:t>
            </a:r>
            <a:r>
              <a:rPr lang="zh-CN" altLang="en-US" sz="1600" b="1" dirty="0">
                <a:latin typeface="微软雅黑" panose="020B0503020204020204" pitchFamily="34" charset="-122"/>
                <a:ea typeface="微软雅黑" panose="020B0503020204020204" pitchFamily="34" charset="-122"/>
              </a:rPr>
              <a:t>。</a:t>
            </a:r>
          </a:p>
        </p:txBody>
      </p:sp>
      <p:sp>
        <p:nvSpPr>
          <p:cNvPr id="8" name="标题 7">
            <a:extLst>
              <a:ext uri="{FF2B5EF4-FFF2-40B4-BE49-F238E27FC236}">
                <a16:creationId xmlns:a16="http://schemas.microsoft.com/office/drawing/2014/main" id="{DF02B8CD-193F-B2D5-70CC-240076ED56AA}"/>
              </a:ext>
            </a:extLst>
          </p:cNvPr>
          <p:cNvSpPr>
            <a:spLocks noGrp="1"/>
          </p:cNvSpPr>
          <p:nvPr>
            <p:ph type="title"/>
          </p:nvPr>
        </p:nvSpPr>
        <p:spPr>
          <a:xfrm>
            <a:off x="486000" y="550723"/>
            <a:ext cx="8172000" cy="338554"/>
          </a:xfrm>
        </p:spPr>
        <p:txBody>
          <a:bodyPr/>
          <a:lstStyle/>
          <a:p>
            <a:r>
              <a:rPr lang="en-US" altLang="zh-CN" dirty="0"/>
              <a:t>SACK</a:t>
            </a:r>
            <a:endParaRPr lang="zh-CN" altLang="en-US" dirty="0"/>
          </a:p>
        </p:txBody>
      </p:sp>
    </p:spTree>
    <p:extLst>
      <p:ext uri="{BB962C8B-B14F-4D97-AF65-F5344CB8AC3E}">
        <p14:creationId xmlns:p14="http://schemas.microsoft.com/office/powerpoint/2010/main" val="1895852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307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914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36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53922"/>
            <a:ext cx="560970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5.7.1                       </a:t>
            </a:r>
            <a:r>
              <a:rPr lang="zh-CN" altLang="en-US" sz="2000" b="1" dirty="0">
                <a:solidFill>
                  <a:schemeClr val="bg1"/>
                </a:solidFill>
                <a:latin typeface="微软雅黑" pitchFamily="34" charset="-122"/>
                <a:ea typeface="微软雅黑" pitchFamily="34" charset="-122"/>
              </a:rPr>
              <a:t>利用滑动窗口实现流量控制</a:t>
            </a:r>
          </a:p>
          <a:p>
            <a:pPr eaLnBrk="0" hangingPunct="0">
              <a:lnSpc>
                <a:spcPct val="200000"/>
              </a:lnSpc>
            </a:pPr>
            <a:r>
              <a:rPr lang="en-US" altLang="zh-CN" sz="2000" b="1" dirty="0">
                <a:solidFill>
                  <a:schemeClr val="bg1"/>
                </a:solidFill>
                <a:latin typeface="微软雅黑" pitchFamily="34" charset="-122"/>
                <a:ea typeface="微软雅黑" pitchFamily="34" charset="-122"/>
              </a:rPr>
              <a:t>5.7.2                                       TCP </a:t>
            </a:r>
            <a:r>
              <a:rPr lang="zh-CN" altLang="en-US" sz="2000" b="1" dirty="0">
                <a:solidFill>
                  <a:schemeClr val="bg1"/>
                </a:solidFill>
                <a:latin typeface="微软雅黑" pitchFamily="34" charset="-122"/>
                <a:ea typeface="微软雅黑" pitchFamily="34" charset="-122"/>
              </a:rPr>
              <a:t>的传输效率</a:t>
            </a:r>
          </a:p>
        </p:txBody>
      </p:sp>
      <p:sp>
        <p:nvSpPr>
          <p:cNvPr id="10" name="Rectangle 27"/>
          <p:cNvSpPr>
            <a:spLocks noChangeArrowheads="1"/>
          </p:cNvSpPr>
          <p:nvPr/>
        </p:nvSpPr>
        <p:spPr bwMode="auto">
          <a:xfrm>
            <a:off x="639730" y="1307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402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5.7</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的流量控制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53008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525D3E0D-DEC4-8D5F-7346-78D99E2053E8}"/>
              </a:ext>
            </a:extLst>
          </p:cNvPr>
          <p:cNvSpPr>
            <a:spLocks noGrp="1"/>
          </p:cNvSpPr>
          <p:nvPr>
            <p:ph sz="quarter" idx="11"/>
          </p:nvPr>
        </p:nvSpPr>
        <p:spPr>
          <a:xfrm>
            <a:off x="486000" y="900000"/>
            <a:ext cx="8172000" cy="3703500"/>
          </a:xfrm>
        </p:spPr>
        <p:txBody>
          <a:bodyPr/>
          <a:lstStyle/>
          <a:p>
            <a:r>
              <a:rPr lang="zh-CN" altLang="en-US" dirty="0"/>
              <a:t>流量控制 </a:t>
            </a:r>
            <a:r>
              <a:rPr lang="en-US" altLang="zh-CN" dirty="0"/>
              <a:t>(flow control) </a:t>
            </a:r>
            <a:r>
              <a:rPr lang="zh-CN" altLang="en-US" dirty="0"/>
              <a:t>：让发送方的发送速率不要太快，使接收方来得及接收。</a:t>
            </a:r>
            <a:endParaRPr lang="en-US" altLang="zh-CN" dirty="0"/>
          </a:p>
          <a:p>
            <a:r>
              <a:rPr lang="zh-CN" altLang="en-US" dirty="0"/>
              <a:t>利用滑动窗口机制可以很方便地在 </a:t>
            </a:r>
            <a:r>
              <a:rPr lang="en-US" altLang="zh-CN" dirty="0"/>
              <a:t>TCP </a:t>
            </a:r>
            <a:r>
              <a:rPr lang="zh-CN" altLang="en-US" dirty="0"/>
              <a:t>连接上实现对发送方的流量控制。 </a:t>
            </a:r>
            <a:endParaRPr lang="en-US" altLang="zh-CN" dirty="0"/>
          </a:p>
          <a:p>
            <a:endParaRPr lang="zh-CN" altLang="en-US" dirty="0"/>
          </a:p>
        </p:txBody>
      </p:sp>
      <p:sp>
        <p:nvSpPr>
          <p:cNvPr id="8" name="标题 7">
            <a:extLst>
              <a:ext uri="{FF2B5EF4-FFF2-40B4-BE49-F238E27FC236}">
                <a16:creationId xmlns:a16="http://schemas.microsoft.com/office/drawing/2014/main" id="{8FE10A9E-80EA-E65A-BBD7-AB4415F4FAEE}"/>
              </a:ext>
            </a:extLst>
          </p:cNvPr>
          <p:cNvSpPr>
            <a:spLocks noGrp="1"/>
          </p:cNvSpPr>
          <p:nvPr>
            <p:ph type="title"/>
          </p:nvPr>
        </p:nvSpPr>
        <p:spPr>
          <a:xfrm>
            <a:off x="486000" y="550723"/>
            <a:ext cx="8172000" cy="338554"/>
          </a:xfrm>
        </p:spPr>
        <p:txBody>
          <a:bodyPr/>
          <a:lstStyle/>
          <a:p>
            <a:r>
              <a:rPr lang="en-US" altLang="zh-CN" dirty="0"/>
              <a:t>5.7.1   </a:t>
            </a:r>
            <a:r>
              <a:rPr lang="zh-CN" altLang="en-US" dirty="0"/>
              <a:t>利用滑动窗口实现流量控制</a:t>
            </a:r>
          </a:p>
        </p:txBody>
      </p:sp>
    </p:spTree>
    <p:extLst>
      <p:ext uri="{BB962C8B-B14F-4D97-AF65-F5344CB8AC3E}">
        <p14:creationId xmlns:p14="http://schemas.microsoft.com/office/powerpoint/2010/main" val="36280003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内容占位符 53">
            <a:extLst>
              <a:ext uri="{FF2B5EF4-FFF2-40B4-BE49-F238E27FC236}">
                <a16:creationId xmlns:a16="http://schemas.microsoft.com/office/drawing/2014/main" id="{EFB877AD-56DC-5147-EF6B-B9AA1F50B5D1}"/>
              </a:ext>
            </a:extLst>
          </p:cNvPr>
          <p:cNvSpPr>
            <a:spLocks noGrp="1"/>
          </p:cNvSpPr>
          <p:nvPr>
            <p:ph sz="quarter" idx="11"/>
          </p:nvPr>
        </p:nvSpPr>
        <p:spPr>
          <a:xfrm>
            <a:off x="486000" y="900000"/>
            <a:ext cx="8172000" cy="3703500"/>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8" name="标题 7">
            <a:extLst>
              <a:ext uri="{FF2B5EF4-FFF2-40B4-BE49-F238E27FC236}">
                <a16:creationId xmlns:a16="http://schemas.microsoft.com/office/drawing/2014/main" id="{162E63FA-FCE2-5882-1AC7-79D142EE7B49}"/>
              </a:ext>
            </a:extLst>
          </p:cNvPr>
          <p:cNvSpPr>
            <a:spLocks noGrp="1"/>
          </p:cNvSpPr>
          <p:nvPr>
            <p:ph type="title"/>
          </p:nvPr>
        </p:nvSpPr>
        <p:spPr>
          <a:xfrm>
            <a:off x="486000" y="550723"/>
            <a:ext cx="8172000" cy="338554"/>
          </a:xfrm>
        </p:spPr>
        <p:txBody>
          <a:bodyPr/>
          <a:lstStyle/>
          <a:p>
            <a:r>
              <a:rPr lang="en-US" altLang="zh-CN" dirty="0"/>
              <a:t>5.7.1   </a:t>
            </a:r>
            <a:r>
              <a:rPr lang="zh-CN" altLang="en-US" dirty="0"/>
              <a:t>利用滑动窗口实现流量控制</a:t>
            </a:r>
          </a:p>
        </p:txBody>
      </p:sp>
      <p:sp>
        <p:nvSpPr>
          <p:cNvPr id="9" name="Line 4"/>
          <p:cNvSpPr>
            <a:spLocks noChangeShapeType="1"/>
          </p:cNvSpPr>
          <p:nvPr/>
        </p:nvSpPr>
        <p:spPr bwMode="auto">
          <a:xfrm>
            <a:off x="4175828"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50972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Tree>
    <p:extLst>
      <p:ext uri="{BB962C8B-B14F-4D97-AF65-F5344CB8AC3E}">
        <p14:creationId xmlns:p14="http://schemas.microsoft.com/office/powerpoint/2010/main" val="23643624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wipe(left)">
                                      <p:cBhvr>
                                        <p:cTn id="11" dur="1000"/>
                                        <p:tgtEl>
                                          <p:spTgt spid="46"/>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wipe(left)">
                                      <p:cBhvr>
                                        <p:cTn id="15" dur="1000"/>
                                        <p:tgtEl>
                                          <p:spTgt spid="4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wipe(right)">
                                      <p:cBhvr>
                                        <p:cTn id="20" dur="1000"/>
                                        <p:tgtEl>
                                          <p:spTgt spid="2"/>
                                        </p:tgtEl>
                                      </p:cBhvr>
                                    </p:animEffect>
                                  </p:childTnLst>
                                </p:cTn>
                              </p:par>
                            </p:childTnLst>
                          </p:cTn>
                        </p:par>
                        <p:par>
                          <p:cTn id="21" fill="hold">
                            <p:stCondLst>
                              <p:cond delay="1000"/>
                            </p:stCondLst>
                            <p:childTnLst>
                              <p:par>
                                <p:cTn id="22" presetID="1" presetClass="entr" presetSubtype="0" fill="hold" grpId="1" nodeType="after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35" presetClass="emph" presetSubtype="0" repeatCount="3000" fill="hold" grpId="0" nodeType="withEffect">
                                  <p:stCondLst>
                                    <p:cond delay="0"/>
                                  </p:stCondLst>
                                  <p:childTnLst>
                                    <p:anim calcmode="discrete" valueType="str">
                                      <p:cBhvr>
                                        <p:cTn id="25"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wipe(left)">
                                      <p:cBhvr>
                                        <p:cTn id="30" dur="1000"/>
                                        <p:tgtEl>
                                          <p:spTgt spid="49"/>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wipe(left)">
                                      <p:cBhvr>
                                        <p:cTn id="34" dur="1000"/>
                                        <p:tgtEl>
                                          <p:spTgt spid="5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wipe(left)">
                                      <p:cBhvr>
                                        <p:cTn id="39" dur="1000"/>
                                        <p:tgtEl>
                                          <p:spTgt spid="5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right)">
                                      <p:cBhvr>
                                        <p:cTn id="44" dur="1000"/>
                                        <p:tgtEl>
                                          <p:spTgt spid="3"/>
                                        </p:tgtEl>
                                      </p:cBhvr>
                                    </p:animEffect>
                                  </p:childTnLst>
                                </p:cTn>
                              </p:par>
                            </p:childTnLst>
                          </p:cTn>
                        </p:par>
                        <p:par>
                          <p:cTn id="45" fill="hold">
                            <p:stCondLst>
                              <p:cond delay="1000"/>
                            </p:stCondLst>
                            <p:childTnLst>
                              <p:par>
                                <p:cTn id="46" presetID="1" presetClass="entr" presetSubtype="0" fill="hold" grpId="1" nodeType="afterEffect">
                                  <p:stCondLst>
                                    <p:cond delay="0"/>
                                  </p:stCondLst>
                                  <p:childTnLst>
                                    <p:set>
                                      <p:cBhvr>
                                        <p:cTn id="47" dur="1" fill="hold">
                                          <p:stCondLst>
                                            <p:cond delay="0"/>
                                          </p:stCondLst>
                                        </p:cTn>
                                        <p:tgtEl>
                                          <p:spTgt spid="38"/>
                                        </p:tgtEl>
                                        <p:attrNameLst>
                                          <p:attrName>style.visibility</p:attrName>
                                        </p:attrNameLst>
                                      </p:cBhvr>
                                      <p:to>
                                        <p:strVal val="visible"/>
                                      </p:to>
                                    </p:set>
                                  </p:childTnLst>
                                </p:cTn>
                              </p:par>
                            </p:childTnLst>
                          </p:cTn>
                        </p:par>
                        <p:par>
                          <p:cTn id="48" fill="hold">
                            <p:stCondLst>
                              <p:cond delay="1000"/>
                            </p:stCondLst>
                            <p:childTnLst>
                              <p:par>
                                <p:cTn id="49" presetID="35" presetClass="emph" presetSubtype="0" repeatCount="3000" fill="hold" grpId="0" nodeType="afterEffect">
                                  <p:stCondLst>
                                    <p:cond delay="0"/>
                                  </p:stCondLst>
                                  <p:childTnLst>
                                    <p:anim calcmode="discrete" valueType="str">
                                      <p:cBhvr>
                                        <p:cTn id="50"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wipe(left)">
                                      <p:cBhvr>
                                        <p:cTn id="55" dur="10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2" fill="hold" nodeType="clickEffect">
                                  <p:stCondLst>
                                    <p:cond delay="0"/>
                                  </p:stCondLst>
                                  <p:childTnLst>
                                    <p:set>
                                      <p:cBhvr>
                                        <p:cTn id="59" dur="1" fill="hold">
                                          <p:stCondLst>
                                            <p:cond delay="0"/>
                                          </p:stCondLst>
                                        </p:cTn>
                                        <p:tgtEl>
                                          <p:spTgt spid="4"/>
                                        </p:tgtEl>
                                        <p:attrNameLst>
                                          <p:attrName>style.visibility</p:attrName>
                                        </p:attrNameLst>
                                      </p:cBhvr>
                                      <p:to>
                                        <p:strVal val="visible"/>
                                      </p:to>
                                    </p:set>
                                    <p:animEffect transition="in" filter="wipe(right)">
                                      <p:cBhvr>
                                        <p:cTn id="60" dur="1000"/>
                                        <p:tgtEl>
                                          <p:spTgt spid="4"/>
                                        </p:tgtEl>
                                      </p:cBhvr>
                                    </p:animEffect>
                                  </p:childTnLst>
                                </p:cTn>
                              </p:par>
                            </p:childTnLst>
                          </p:cTn>
                        </p:par>
                        <p:par>
                          <p:cTn id="61" fill="hold">
                            <p:stCondLst>
                              <p:cond delay="1000"/>
                            </p:stCondLst>
                            <p:childTnLst>
                              <p:par>
                                <p:cTn id="62" presetID="1" presetClass="entr" presetSubtype="0" fill="hold" grpId="1" nodeType="afterEffect">
                                  <p:stCondLst>
                                    <p:cond delay="0"/>
                                  </p:stCondLst>
                                  <p:childTnLst>
                                    <p:set>
                                      <p:cBhvr>
                                        <p:cTn id="63" dur="1" fill="hold">
                                          <p:stCondLst>
                                            <p:cond delay="0"/>
                                          </p:stCondLst>
                                        </p:cTn>
                                        <p:tgtEl>
                                          <p:spTgt spid="40"/>
                                        </p:tgtEl>
                                        <p:attrNameLst>
                                          <p:attrName>style.visibility</p:attrName>
                                        </p:attrNameLst>
                                      </p:cBhvr>
                                      <p:to>
                                        <p:strVal val="visible"/>
                                      </p:to>
                                    </p:set>
                                  </p:childTnLst>
                                </p:cTn>
                              </p:par>
                            </p:childTnLst>
                          </p:cTn>
                        </p:par>
                        <p:par>
                          <p:cTn id="64" fill="hold">
                            <p:stCondLst>
                              <p:cond delay="1000"/>
                            </p:stCondLst>
                            <p:childTnLst>
                              <p:par>
                                <p:cTn id="65" presetID="35" presetClass="emph" presetSubtype="0" repeatCount="3000" fill="hold" grpId="0" nodeType="afterEffect">
                                  <p:stCondLst>
                                    <p:cond delay="0"/>
                                  </p:stCondLst>
                                  <p:childTnLst>
                                    <p:anim calcmode="discrete" valueType="str">
                                      <p:cBhvr>
                                        <p:cTn id="66" dur="1000" fill="hold"/>
                                        <p:tgtEl>
                                          <p:spTgt spid="4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P spid="38" grpId="0"/>
      <p:bldP spid="38" grpId="1"/>
      <p:bldP spid="40" grpId="0"/>
      <p:bldP spid="40" grpId="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矩形 56">
            <a:extLst>
              <a:ext uri="{FF2B5EF4-FFF2-40B4-BE49-F238E27FC236}">
                <a16:creationId xmlns:a16="http://schemas.microsoft.com/office/drawing/2014/main" id="{D541A28C-54A2-E921-E839-97CFBA2536BB}"/>
              </a:ext>
            </a:extLst>
          </p:cNvPr>
          <p:cNvSpPr/>
          <p:nvPr/>
        </p:nvSpPr>
        <p:spPr>
          <a:xfrm>
            <a:off x="0" y="0"/>
            <a:ext cx="9144000" cy="51435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Line 4">
            <a:extLst>
              <a:ext uri="{FF2B5EF4-FFF2-40B4-BE49-F238E27FC236}">
                <a16:creationId xmlns:a16="http://schemas.microsoft.com/office/drawing/2014/main" id="{1E20D6B6-09AD-7D32-267A-984819B57C82}"/>
              </a:ext>
            </a:extLst>
          </p:cNvPr>
          <p:cNvSpPr>
            <a:spLocks noChangeShapeType="1"/>
          </p:cNvSpPr>
          <p:nvPr/>
        </p:nvSpPr>
        <p:spPr bwMode="auto">
          <a:xfrm>
            <a:off x="3013348" y="292354"/>
            <a:ext cx="0" cy="4680000"/>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6" name="Line 19">
            <a:extLst>
              <a:ext uri="{FF2B5EF4-FFF2-40B4-BE49-F238E27FC236}">
                <a16:creationId xmlns:a16="http://schemas.microsoft.com/office/drawing/2014/main" id="{8CF6DE64-D143-37D2-686F-E43512857FDA}"/>
              </a:ext>
            </a:extLst>
          </p:cNvPr>
          <p:cNvSpPr>
            <a:spLocks noChangeShapeType="1"/>
          </p:cNvSpPr>
          <p:nvPr/>
        </p:nvSpPr>
        <p:spPr bwMode="auto">
          <a:xfrm flipH="1">
            <a:off x="515315" y="1287126"/>
            <a:ext cx="2498033"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7" name="Rectangle 20">
            <a:extLst>
              <a:ext uri="{FF2B5EF4-FFF2-40B4-BE49-F238E27FC236}">
                <a16:creationId xmlns:a16="http://schemas.microsoft.com/office/drawing/2014/main" id="{325B524B-F7E6-DB4B-CE73-13512669B055}"/>
              </a:ext>
            </a:extLst>
          </p:cNvPr>
          <p:cNvSpPr>
            <a:spLocks noChangeArrowheads="1"/>
          </p:cNvSpPr>
          <p:nvPr/>
        </p:nvSpPr>
        <p:spPr bwMode="auto">
          <a:xfrm flipH="1">
            <a:off x="661611" y="1052558"/>
            <a:ext cx="205665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201, </a:t>
            </a:r>
            <a:r>
              <a:rPr kumimoji="1" lang="en-US" altLang="zh-CN" sz="1000" dirty="0">
                <a:solidFill>
                  <a:srgbClr val="00B050"/>
                </a:solidFill>
                <a:latin typeface="Montserrat" panose="00000500000000000000" pitchFamily="2" charset="0"/>
                <a:ea typeface="微软雅黑 Light" panose="020B0502040204020203" pitchFamily="34" charset="-122"/>
              </a:rPr>
              <a:t>rwnd = 300</a:t>
            </a:r>
          </a:p>
        </p:txBody>
      </p:sp>
      <p:sp>
        <p:nvSpPr>
          <p:cNvPr id="9" name="Line 21">
            <a:extLst>
              <a:ext uri="{FF2B5EF4-FFF2-40B4-BE49-F238E27FC236}">
                <a16:creationId xmlns:a16="http://schemas.microsoft.com/office/drawing/2014/main" id="{CB25839B-FFB6-0838-39A0-0D8D1EA01E65}"/>
              </a:ext>
            </a:extLst>
          </p:cNvPr>
          <p:cNvSpPr>
            <a:spLocks noChangeShapeType="1"/>
          </p:cNvSpPr>
          <p:nvPr/>
        </p:nvSpPr>
        <p:spPr bwMode="auto">
          <a:xfrm flipH="1">
            <a:off x="522828" y="3090216"/>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0" name="Rectangle 22">
            <a:extLst>
              <a:ext uri="{FF2B5EF4-FFF2-40B4-BE49-F238E27FC236}">
                <a16:creationId xmlns:a16="http://schemas.microsoft.com/office/drawing/2014/main" id="{2C6F0227-B1D3-CCDB-BD13-21033402836C}"/>
              </a:ext>
            </a:extLst>
          </p:cNvPr>
          <p:cNvSpPr>
            <a:spLocks noChangeArrowheads="1"/>
          </p:cNvSpPr>
          <p:nvPr/>
        </p:nvSpPr>
        <p:spPr bwMode="auto">
          <a:xfrm flipH="1">
            <a:off x="740158" y="2855646"/>
            <a:ext cx="190597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0</a:t>
            </a:r>
          </a:p>
        </p:txBody>
      </p:sp>
      <p:sp>
        <p:nvSpPr>
          <p:cNvPr id="12" name="Line 23">
            <a:extLst>
              <a:ext uri="{FF2B5EF4-FFF2-40B4-BE49-F238E27FC236}">
                <a16:creationId xmlns:a16="http://schemas.microsoft.com/office/drawing/2014/main" id="{741AC5B4-A673-592E-5F4A-B1EF48EA312C}"/>
              </a:ext>
            </a:extLst>
          </p:cNvPr>
          <p:cNvSpPr>
            <a:spLocks noChangeShapeType="1"/>
          </p:cNvSpPr>
          <p:nvPr/>
        </p:nvSpPr>
        <p:spPr bwMode="auto">
          <a:xfrm flipH="1">
            <a:off x="513436" y="2484560"/>
            <a:ext cx="2499912"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3" name="Rectangle 24">
            <a:extLst>
              <a:ext uri="{FF2B5EF4-FFF2-40B4-BE49-F238E27FC236}">
                <a16:creationId xmlns:a16="http://schemas.microsoft.com/office/drawing/2014/main" id="{B4D5672F-ADCF-7B0F-3B19-2F9632375A64}"/>
              </a:ext>
            </a:extLst>
          </p:cNvPr>
          <p:cNvSpPr>
            <a:spLocks noChangeArrowheads="1"/>
          </p:cNvSpPr>
          <p:nvPr/>
        </p:nvSpPr>
        <p:spPr bwMode="auto">
          <a:xfrm flipH="1">
            <a:off x="661611" y="2254327"/>
            <a:ext cx="203100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501, </a:t>
            </a:r>
            <a:r>
              <a:rPr kumimoji="1" lang="en-US" altLang="zh-CN" sz="1000" dirty="0">
                <a:solidFill>
                  <a:srgbClr val="00B050"/>
                </a:solidFill>
                <a:latin typeface="Montserrat" panose="00000500000000000000" pitchFamily="2" charset="0"/>
                <a:ea typeface="微软雅黑 Light" panose="020B0502040204020203" pitchFamily="34" charset="-122"/>
              </a:rPr>
              <a:t>rwnd = 100</a:t>
            </a:r>
          </a:p>
        </p:txBody>
      </p:sp>
      <p:sp>
        <p:nvSpPr>
          <p:cNvPr id="14" name="Rectangle 25">
            <a:extLst>
              <a:ext uri="{FF2B5EF4-FFF2-40B4-BE49-F238E27FC236}">
                <a16:creationId xmlns:a16="http://schemas.microsoft.com/office/drawing/2014/main" id="{41704CF8-A9D1-58BA-BFF7-4C12EED553D8}"/>
              </a:ext>
            </a:extLst>
          </p:cNvPr>
          <p:cNvSpPr>
            <a:spLocks noChangeArrowheads="1"/>
          </p:cNvSpPr>
          <p:nvPr/>
        </p:nvSpPr>
        <p:spPr bwMode="auto">
          <a:xfrm>
            <a:off x="375721" y="9375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A</a:t>
            </a:r>
          </a:p>
        </p:txBody>
      </p:sp>
      <p:sp>
        <p:nvSpPr>
          <p:cNvPr id="15" name="Rectangle 26">
            <a:extLst>
              <a:ext uri="{FF2B5EF4-FFF2-40B4-BE49-F238E27FC236}">
                <a16:creationId xmlns:a16="http://schemas.microsoft.com/office/drawing/2014/main" id="{AEFD902F-FC46-9A71-9CCE-D4ADE1F365C0}"/>
              </a:ext>
            </a:extLst>
          </p:cNvPr>
          <p:cNvSpPr>
            <a:spLocks noChangeArrowheads="1"/>
          </p:cNvSpPr>
          <p:nvPr/>
        </p:nvSpPr>
        <p:spPr bwMode="auto">
          <a:xfrm>
            <a:off x="2868366" y="9375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B</a:t>
            </a:r>
          </a:p>
        </p:txBody>
      </p:sp>
      <p:sp>
        <p:nvSpPr>
          <p:cNvPr id="16" name="Rectangle 27">
            <a:extLst>
              <a:ext uri="{FF2B5EF4-FFF2-40B4-BE49-F238E27FC236}">
                <a16:creationId xmlns:a16="http://schemas.microsoft.com/office/drawing/2014/main" id="{2B603B4D-8954-82D0-04F1-64346E619452}"/>
              </a:ext>
            </a:extLst>
          </p:cNvPr>
          <p:cNvSpPr>
            <a:spLocks noChangeArrowheads="1"/>
          </p:cNvSpPr>
          <p:nvPr/>
        </p:nvSpPr>
        <p:spPr bwMode="auto">
          <a:xfrm>
            <a:off x="3013348" y="1171016"/>
            <a:ext cx="2511907"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[201,500]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18" name="Line 13">
            <a:extLst>
              <a:ext uri="{FF2B5EF4-FFF2-40B4-BE49-F238E27FC236}">
                <a16:creationId xmlns:a16="http://schemas.microsoft.com/office/drawing/2014/main" id="{4A245983-ACE8-1A61-703D-66C1477B9FEE}"/>
              </a:ext>
            </a:extLst>
          </p:cNvPr>
          <p:cNvSpPr>
            <a:spLocks noChangeShapeType="1"/>
          </p:cNvSpPr>
          <p:nvPr/>
        </p:nvSpPr>
        <p:spPr bwMode="auto">
          <a:xfrm>
            <a:off x="514373" y="676268"/>
            <a:ext cx="2509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9" name="Rectangle 14">
            <a:extLst>
              <a:ext uri="{FF2B5EF4-FFF2-40B4-BE49-F238E27FC236}">
                <a16:creationId xmlns:a16="http://schemas.microsoft.com/office/drawing/2014/main" id="{C28AD02C-FB17-785F-D77A-0722C590F2B4}"/>
              </a:ext>
            </a:extLst>
          </p:cNvPr>
          <p:cNvSpPr>
            <a:spLocks noChangeArrowheads="1"/>
          </p:cNvSpPr>
          <p:nvPr/>
        </p:nvSpPr>
        <p:spPr bwMode="auto">
          <a:xfrm>
            <a:off x="1142512" y="433027"/>
            <a:ext cx="115095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101, DATA</a:t>
            </a:r>
          </a:p>
        </p:txBody>
      </p:sp>
      <p:sp>
        <p:nvSpPr>
          <p:cNvPr id="20" name="Rectangle 28">
            <a:extLst>
              <a:ext uri="{FF2B5EF4-FFF2-40B4-BE49-F238E27FC236}">
                <a16:creationId xmlns:a16="http://schemas.microsoft.com/office/drawing/2014/main" id="{2542EBB7-B01D-D2AB-ADCC-43ABFFEF9A66}"/>
              </a:ext>
            </a:extLst>
          </p:cNvPr>
          <p:cNvSpPr>
            <a:spLocks noChangeArrowheads="1"/>
          </p:cNvSpPr>
          <p:nvPr/>
        </p:nvSpPr>
        <p:spPr bwMode="auto">
          <a:xfrm>
            <a:off x="3013348" y="558896"/>
            <a:ext cx="268984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[101,200]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200 </a:t>
            </a:r>
            <a:r>
              <a:rPr kumimoji="1" lang="zh-CN" altLang="en-US" sz="1100" dirty="0">
                <a:latin typeface="Montserrat" panose="00000500000000000000" pitchFamily="2" charset="0"/>
                <a:ea typeface="微软雅黑 Light" panose="020B0502040204020203" pitchFamily="34" charset="-122"/>
              </a:rPr>
              <a:t>字节</a:t>
            </a:r>
          </a:p>
        </p:txBody>
      </p:sp>
      <p:sp>
        <p:nvSpPr>
          <p:cNvPr id="22" name="Line 11">
            <a:extLst>
              <a:ext uri="{FF2B5EF4-FFF2-40B4-BE49-F238E27FC236}">
                <a16:creationId xmlns:a16="http://schemas.microsoft.com/office/drawing/2014/main" id="{DFCECF88-3070-B572-D03A-F0B4EC6E1F1E}"/>
              </a:ext>
            </a:extLst>
          </p:cNvPr>
          <p:cNvSpPr>
            <a:spLocks noChangeShapeType="1"/>
          </p:cNvSpPr>
          <p:nvPr/>
        </p:nvSpPr>
        <p:spPr bwMode="auto">
          <a:xfrm>
            <a:off x="514373" y="1579113"/>
            <a:ext cx="248206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3" name="Rectangle 12">
            <a:extLst>
              <a:ext uri="{FF2B5EF4-FFF2-40B4-BE49-F238E27FC236}">
                <a16:creationId xmlns:a16="http://schemas.microsoft.com/office/drawing/2014/main" id="{9C8A4256-AF4D-3AAC-B85D-CF39F3576D1D}"/>
              </a:ext>
            </a:extLst>
          </p:cNvPr>
          <p:cNvSpPr>
            <a:spLocks noChangeArrowheads="1"/>
          </p:cNvSpPr>
          <p:nvPr/>
        </p:nvSpPr>
        <p:spPr bwMode="auto">
          <a:xfrm>
            <a:off x="1142512" y="1327201"/>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301, DATA</a:t>
            </a:r>
          </a:p>
        </p:txBody>
      </p:sp>
      <p:sp>
        <p:nvSpPr>
          <p:cNvPr id="24" name="Rectangle 29">
            <a:extLst>
              <a:ext uri="{FF2B5EF4-FFF2-40B4-BE49-F238E27FC236}">
                <a16:creationId xmlns:a16="http://schemas.microsoft.com/office/drawing/2014/main" id="{D0C48892-8A4E-D8DE-735F-862544AD42B7}"/>
              </a:ext>
            </a:extLst>
          </p:cNvPr>
          <p:cNvSpPr>
            <a:spLocks noChangeArrowheads="1"/>
          </p:cNvSpPr>
          <p:nvPr/>
        </p:nvSpPr>
        <p:spPr bwMode="auto">
          <a:xfrm>
            <a:off x="3013348" y="1477076"/>
            <a:ext cx="2947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[301,400]</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字节新数据</a:t>
            </a:r>
          </a:p>
        </p:txBody>
      </p:sp>
      <p:sp>
        <p:nvSpPr>
          <p:cNvPr id="26" name="Line 5">
            <a:extLst>
              <a:ext uri="{FF2B5EF4-FFF2-40B4-BE49-F238E27FC236}">
                <a16:creationId xmlns:a16="http://schemas.microsoft.com/office/drawing/2014/main" id="{61880D64-B5CE-5865-D457-21480DFEFE0C}"/>
              </a:ext>
            </a:extLst>
          </p:cNvPr>
          <p:cNvSpPr>
            <a:spLocks noChangeShapeType="1"/>
          </p:cNvSpPr>
          <p:nvPr/>
        </p:nvSpPr>
        <p:spPr bwMode="auto">
          <a:xfrm>
            <a:off x="514373" y="382358"/>
            <a:ext cx="248018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7" name="Rectangle 6">
            <a:extLst>
              <a:ext uri="{FF2B5EF4-FFF2-40B4-BE49-F238E27FC236}">
                <a16:creationId xmlns:a16="http://schemas.microsoft.com/office/drawing/2014/main" id="{3874EBE0-10F1-666C-9E9C-B813D13B9550}"/>
              </a:ext>
            </a:extLst>
          </p:cNvPr>
          <p:cNvSpPr>
            <a:spLocks noChangeArrowheads="1"/>
          </p:cNvSpPr>
          <p:nvPr/>
        </p:nvSpPr>
        <p:spPr bwMode="auto">
          <a:xfrm>
            <a:off x="1221059" y="144509"/>
            <a:ext cx="101951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 DATA</a:t>
            </a:r>
          </a:p>
        </p:txBody>
      </p:sp>
      <p:sp>
        <p:nvSpPr>
          <p:cNvPr id="28" name="Rectangle 30">
            <a:extLst>
              <a:ext uri="{FF2B5EF4-FFF2-40B4-BE49-F238E27FC236}">
                <a16:creationId xmlns:a16="http://schemas.microsoft.com/office/drawing/2014/main" id="{1C424C09-5122-7B4D-62C3-8C9906FB4686}"/>
              </a:ext>
            </a:extLst>
          </p:cNvPr>
          <p:cNvSpPr>
            <a:spLocks noChangeArrowheads="1"/>
          </p:cNvSpPr>
          <p:nvPr/>
        </p:nvSpPr>
        <p:spPr bwMode="auto">
          <a:xfrm>
            <a:off x="3013348" y="252836"/>
            <a:ext cx="255358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 100]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30" name="Line 9">
            <a:extLst>
              <a:ext uri="{FF2B5EF4-FFF2-40B4-BE49-F238E27FC236}">
                <a16:creationId xmlns:a16="http://schemas.microsoft.com/office/drawing/2014/main" id="{4C536EC5-D803-919B-74B0-165E12391C09}"/>
              </a:ext>
            </a:extLst>
          </p:cNvPr>
          <p:cNvSpPr>
            <a:spLocks noChangeShapeType="1"/>
          </p:cNvSpPr>
          <p:nvPr/>
        </p:nvSpPr>
        <p:spPr bwMode="auto">
          <a:xfrm>
            <a:off x="514373" y="1884976"/>
            <a:ext cx="247830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1" name="Rectangle 10">
            <a:extLst>
              <a:ext uri="{FF2B5EF4-FFF2-40B4-BE49-F238E27FC236}">
                <a16:creationId xmlns:a16="http://schemas.microsoft.com/office/drawing/2014/main" id="{8AA8CF74-D8BE-667D-878A-76C91044F2BF}"/>
              </a:ext>
            </a:extLst>
          </p:cNvPr>
          <p:cNvSpPr>
            <a:spLocks noChangeArrowheads="1"/>
          </p:cNvSpPr>
          <p:nvPr/>
        </p:nvSpPr>
        <p:spPr bwMode="auto">
          <a:xfrm>
            <a:off x="1142512" y="1638266"/>
            <a:ext cx="118942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401, DATA</a:t>
            </a:r>
          </a:p>
        </p:txBody>
      </p:sp>
      <p:sp>
        <p:nvSpPr>
          <p:cNvPr id="32" name="Rectangle 31">
            <a:extLst>
              <a:ext uri="{FF2B5EF4-FFF2-40B4-BE49-F238E27FC236}">
                <a16:creationId xmlns:a16="http://schemas.microsoft.com/office/drawing/2014/main" id="{41BC5FF7-A9DB-D9EE-20BD-708B64C9ED3F}"/>
              </a:ext>
            </a:extLst>
          </p:cNvPr>
          <p:cNvSpPr>
            <a:spLocks noChangeArrowheads="1"/>
          </p:cNvSpPr>
          <p:nvPr/>
        </p:nvSpPr>
        <p:spPr bwMode="auto">
          <a:xfrm>
            <a:off x="3013348" y="1783136"/>
            <a:ext cx="2391681"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[401,500]</a:t>
            </a:r>
            <a:r>
              <a:rPr kumimoji="1" lang="zh-CN" altLang="en-US" sz="1100" dirty="0">
                <a:latin typeface="Montserrat" panose="00000500000000000000" pitchFamily="2" charset="0"/>
                <a:ea typeface="微软雅黑 Light" panose="020B0502040204020203" pitchFamily="34" charset="-122"/>
              </a:rPr>
              <a:t>，不能再发新数据</a:t>
            </a:r>
          </a:p>
        </p:txBody>
      </p:sp>
      <p:sp>
        <p:nvSpPr>
          <p:cNvPr id="34" name="Line 7">
            <a:extLst>
              <a:ext uri="{FF2B5EF4-FFF2-40B4-BE49-F238E27FC236}">
                <a16:creationId xmlns:a16="http://schemas.microsoft.com/office/drawing/2014/main" id="{65E7B78E-2182-293C-F22E-D179C28F39BB}"/>
              </a:ext>
            </a:extLst>
          </p:cNvPr>
          <p:cNvSpPr>
            <a:spLocks noChangeShapeType="1"/>
          </p:cNvSpPr>
          <p:nvPr/>
        </p:nvSpPr>
        <p:spPr bwMode="auto">
          <a:xfrm>
            <a:off x="514373" y="2182167"/>
            <a:ext cx="247924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5" name="Rectangle 8">
            <a:extLst>
              <a:ext uri="{FF2B5EF4-FFF2-40B4-BE49-F238E27FC236}">
                <a16:creationId xmlns:a16="http://schemas.microsoft.com/office/drawing/2014/main" id="{AA16BD31-835D-EA5E-668C-57B3CFB7F0A3}"/>
              </a:ext>
            </a:extLst>
          </p:cNvPr>
          <p:cNvSpPr>
            <a:spLocks noChangeArrowheads="1"/>
          </p:cNvSpPr>
          <p:nvPr/>
        </p:nvSpPr>
        <p:spPr bwMode="auto">
          <a:xfrm>
            <a:off x="1142512" y="1934588"/>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36" name="Rectangle 32">
            <a:extLst>
              <a:ext uri="{FF2B5EF4-FFF2-40B4-BE49-F238E27FC236}">
                <a16:creationId xmlns:a16="http://schemas.microsoft.com/office/drawing/2014/main" id="{C745EF8C-2F86-9ACC-7F3F-2A88B09644E0}"/>
              </a:ext>
            </a:extLst>
          </p:cNvPr>
          <p:cNvSpPr>
            <a:spLocks noChangeArrowheads="1"/>
          </p:cNvSpPr>
          <p:nvPr/>
        </p:nvSpPr>
        <p:spPr bwMode="auto">
          <a:xfrm>
            <a:off x="3013348" y="2089196"/>
            <a:ext cx="243656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超时重传旧数据，不能发送新数据</a:t>
            </a:r>
          </a:p>
        </p:txBody>
      </p:sp>
      <p:sp>
        <p:nvSpPr>
          <p:cNvPr id="37" name="Rectangle 33">
            <a:extLst>
              <a:ext uri="{FF2B5EF4-FFF2-40B4-BE49-F238E27FC236}">
                <a16:creationId xmlns:a16="http://schemas.microsoft.com/office/drawing/2014/main" id="{A84F8A74-5EF8-6445-D192-BA8763AE0A51}"/>
              </a:ext>
            </a:extLst>
          </p:cNvPr>
          <p:cNvSpPr>
            <a:spLocks noChangeArrowheads="1"/>
          </p:cNvSpPr>
          <p:nvPr/>
        </p:nvSpPr>
        <p:spPr bwMode="auto">
          <a:xfrm>
            <a:off x="3013348" y="2395256"/>
            <a:ext cx="30665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a:t>
            </a:r>
          </a:p>
        </p:txBody>
      </p:sp>
      <p:sp>
        <p:nvSpPr>
          <p:cNvPr id="39" name="Line 17">
            <a:extLst>
              <a:ext uri="{FF2B5EF4-FFF2-40B4-BE49-F238E27FC236}">
                <a16:creationId xmlns:a16="http://schemas.microsoft.com/office/drawing/2014/main" id="{DF8B367A-9B6F-E61F-3D8A-513071E182AE}"/>
              </a:ext>
            </a:extLst>
          </p:cNvPr>
          <p:cNvSpPr>
            <a:spLocks noChangeShapeType="1"/>
          </p:cNvSpPr>
          <p:nvPr/>
        </p:nvSpPr>
        <p:spPr bwMode="auto">
          <a:xfrm>
            <a:off x="514373" y="2786954"/>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0" name="Rectangle 18">
            <a:extLst>
              <a:ext uri="{FF2B5EF4-FFF2-40B4-BE49-F238E27FC236}">
                <a16:creationId xmlns:a16="http://schemas.microsoft.com/office/drawing/2014/main" id="{386CEF66-7D2E-63D6-E95D-A626A4944B6F}"/>
              </a:ext>
            </a:extLst>
          </p:cNvPr>
          <p:cNvSpPr>
            <a:spLocks noChangeArrowheads="1"/>
          </p:cNvSpPr>
          <p:nvPr/>
        </p:nvSpPr>
        <p:spPr bwMode="auto">
          <a:xfrm>
            <a:off x="1142512" y="4373863"/>
            <a:ext cx="120866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602, DATA</a:t>
            </a:r>
          </a:p>
        </p:txBody>
      </p:sp>
      <p:sp>
        <p:nvSpPr>
          <p:cNvPr id="41" name="Rectangle 34">
            <a:extLst>
              <a:ext uri="{FF2B5EF4-FFF2-40B4-BE49-F238E27FC236}">
                <a16:creationId xmlns:a16="http://schemas.microsoft.com/office/drawing/2014/main" id="{358F85C5-0610-F7C8-D56A-EB1D80760CAB}"/>
              </a:ext>
            </a:extLst>
          </p:cNvPr>
          <p:cNvSpPr>
            <a:spLocks noChangeArrowheads="1"/>
          </p:cNvSpPr>
          <p:nvPr/>
        </p:nvSpPr>
        <p:spPr bwMode="auto">
          <a:xfrm>
            <a:off x="3013348" y="2701316"/>
            <a:ext cx="25712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a:t>
            </a:r>
            <a:r>
              <a:rPr kumimoji="1" lang="zh-CN" altLang="en-US" sz="1100" dirty="0">
                <a:latin typeface="Montserrat" panose="00000500000000000000" pitchFamily="2" charset="0"/>
                <a:ea typeface="微软雅黑 Light" panose="020B0502040204020203" pitchFamily="34" charset="-122"/>
              </a:rPr>
              <a:t>，不能再发送新数据</a:t>
            </a:r>
          </a:p>
        </p:txBody>
      </p:sp>
      <p:sp>
        <p:nvSpPr>
          <p:cNvPr id="42" name="Rectangle 35">
            <a:extLst>
              <a:ext uri="{FF2B5EF4-FFF2-40B4-BE49-F238E27FC236}">
                <a16:creationId xmlns:a16="http://schemas.microsoft.com/office/drawing/2014/main" id="{C8446E18-A0E2-6FCA-C3B0-A8ACA33624DC}"/>
              </a:ext>
            </a:extLst>
          </p:cNvPr>
          <p:cNvSpPr>
            <a:spLocks noChangeArrowheads="1"/>
          </p:cNvSpPr>
          <p:nvPr/>
        </p:nvSpPr>
        <p:spPr bwMode="auto">
          <a:xfrm>
            <a:off x="3013348" y="3007376"/>
            <a:ext cx="134652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不允许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再发送</a:t>
            </a:r>
          </a:p>
        </p:txBody>
      </p:sp>
      <p:sp>
        <p:nvSpPr>
          <p:cNvPr id="44" name="Line 15">
            <a:extLst>
              <a:ext uri="{FF2B5EF4-FFF2-40B4-BE49-F238E27FC236}">
                <a16:creationId xmlns:a16="http://schemas.microsoft.com/office/drawing/2014/main" id="{271D627A-C4F0-8A09-06AA-523088EB3C41}"/>
              </a:ext>
            </a:extLst>
          </p:cNvPr>
          <p:cNvSpPr>
            <a:spLocks noChangeShapeType="1"/>
          </p:cNvSpPr>
          <p:nvPr/>
        </p:nvSpPr>
        <p:spPr bwMode="auto">
          <a:xfrm>
            <a:off x="514373" y="986467"/>
            <a:ext cx="148108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5" name="Rectangle 16">
            <a:extLst>
              <a:ext uri="{FF2B5EF4-FFF2-40B4-BE49-F238E27FC236}">
                <a16:creationId xmlns:a16="http://schemas.microsoft.com/office/drawing/2014/main" id="{34FB149F-24D2-9D7D-EB58-87D39A309E89}"/>
              </a:ext>
            </a:extLst>
          </p:cNvPr>
          <p:cNvSpPr>
            <a:spLocks noChangeArrowheads="1"/>
          </p:cNvSpPr>
          <p:nvPr/>
        </p:nvSpPr>
        <p:spPr bwMode="auto">
          <a:xfrm>
            <a:off x="842261" y="752765"/>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47" name="AutoShape 36">
            <a:extLst>
              <a:ext uri="{FF2B5EF4-FFF2-40B4-BE49-F238E27FC236}">
                <a16:creationId xmlns:a16="http://schemas.microsoft.com/office/drawing/2014/main" id="{BB8357D9-461C-06F1-C161-759068BE7F0A}"/>
              </a:ext>
            </a:extLst>
          </p:cNvPr>
          <p:cNvSpPr>
            <a:spLocks noChangeArrowheads="1"/>
          </p:cNvSpPr>
          <p:nvPr/>
        </p:nvSpPr>
        <p:spPr bwMode="auto">
          <a:xfrm>
            <a:off x="2077584" y="657149"/>
            <a:ext cx="688658" cy="415665"/>
          </a:xfrm>
          <a:prstGeom prst="irregularSeal1">
            <a:avLst/>
          </a:prstGeom>
          <a:solidFill>
            <a:srgbClr val="C00000"/>
          </a:solidFill>
          <a:ln w="6350">
            <a:noFill/>
            <a:miter lim="800000"/>
            <a:headEnd/>
            <a:tailEnd/>
          </a:ln>
          <a:effectLst/>
        </p:spPr>
        <p:txBody>
          <a:bodyPr wrap="none" anchor="ctr"/>
          <a:lstStyle/>
          <a:p>
            <a:r>
              <a:rPr kumimoji="1" lang="zh-CN" altLang="en-US" sz="1100" dirty="0">
                <a:solidFill>
                  <a:schemeClr val="bg1"/>
                </a:solidFill>
                <a:latin typeface="Montserrat" panose="00000500000000000000" pitchFamily="2" charset="0"/>
                <a:ea typeface="微软雅黑 Light" panose="020B0502040204020203" pitchFamily="34" charset="-122"/>
              </a:rPr>
              <a:t>丢失</a:t>
            </a:r>
          </a:p>
        </p:txBody>
      </p:sp>
      <p:sp>
        <p:nvSpPr>
          <p:cNvPr id="48" name="Rectangle 37">
            <a:extLst>
              <a:ext uri="{FF2B5EF4-FFF2-40B4-BE49-F238E27FC236}">
                <a16:creationId xmlns:a16="http://schemas.microsoft.com/office/drawing/2014/main" id="{34298651-C8D3-A223-9BA6-1DD9A2DC3C1A}"/>
              </a:ext>
            </a:extLst>
          </p:cNvPr>
          <p:cNvSpPr>
            <a:spLocks noChangeArrowheads="1"/>
          </p:cNvSpPr>
          <p:nvPr/>
        </p:nvSpPr>
        <p:spPr bwMode="auto">
          <a:xfrm>
            <a:off x="2197304" y="737872"/>
            <a:ext cx="182808"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endParaRPr kumimoji="1" lang="zh-CN" altLang="en-US" sz="1000" dirty="0">
              <a:solidFill>
                <a:schemeClr val="bg1"/>
              </a:solidFill>
              <a:latin typeface="Montserrat" panose="00000500000000000000" pitchFamily="2" charset="0"/>
              <a:ea typeface="微软雅黑 Light" panose="020B0502040204020203" pitchFamily="34" charset="-122"/>
            </a:endParaRPr>
          </a:p>
        </p:txBody>
      </p:sp>
      <p:sp>
        <p:nvSpPr>
          <p:cNvPr id="49" name="Line 38">
            <a:extLst>
              <a:ext uri="{FF2B5EF4-FFF2-40B4-BE49-F238E27FC236}">
                <a16:creationId xmlns:a16="http://schemas.microsoft.com/office/drawing/2014/main" id="{0A7208C7-5715-F8AA-B887-C54D2935EF97}"/>
              </a:ext>
            </a:extLst>
          </p:cNvPr>
          <p:cNvSpPr>
            <a:spLocks noChangeShapeType="1"/>
          </p:cNvSpPr>
          <p:nvPr/>
        </p:nvSpPr>
        <p:spPr bwMode="auto">
          <a:xfrm>
            <a:off x="514373" y="292354"/>
            <a:ext cx="0" cy="4680000"/>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graphicFrame>
        <p:nvGraphicFramePr>
          <p:cNvPr id="50" name="表格 49">
            <a:extLst>
              <a:ext uri="{FF2B5EF4-FFF2-40B4-BE49-F238E27FC236}">
                <a16:creationId xmlns:a16="http://schemas.microsoft.com/office/drawing/2014/main" id="{FD9DF24A-440C-BC93-80EE-3B930DCFA0FE}"/>
              </a:ext>
            </a:extLst>
          </p:cNvPr>
          <p:cNvGraphicFramePr>
            <a:graphicFrameLocks noGrp="1"/>
          </p:cNvGraphicFramePr>
          <p:nvPr>
            <p:extLst>
              <p:ext uri="{D42A27DB-BD31-4B8C-83A1-F6EECF244321}">
                <p14:modId xmlns:p14="http://schemas.microsoft.com/office/powerpoint/2010/main" val="1638817001"/>
              </p:ext>
            </p:extLst>
          </p:nvPr>
        </p:nvGraphicFramePr>
        <p:xfrm>
          <a:off x="5967304" y="244165"/>
          <a:ext cx="2880000" cy="45360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43390362"/>
                    </a:ext>
                  </a:extLst>
                </a:gridCol>
                <a:gridCol w="720000">
                  <a:extLst>
                    <a:ext uri="{9D8B030D-6E8A-4147-A177-3AD203B41FA5}">
                      <a16:colId xmlns:a16="http://schemas.microsoft.com/office/drawing/2014/main" val="3195879906"/>
                    </a:ext>
                  </a:extLst>
                </a:gridCol>
                <a:gridCol w="720000">
                  <a:extLst>
                    <a:ext uri="{9D8B030D-6E8A-4147-A177-3AD203B41FA5}">
                      <a16:colId xmlns:a16="http://schemas.microsoft.com/office/drawing/2014/main" val="2688598970"/>
                    </a:ext>
                  </a:extLst>
                </a:gridCol>
                <a:gridCol w="720000">
                  <a:extLst>
                    <a:ext uri="{9D8B030D-6E8A-4147-A177-3AD203B41FA5}">
                      <a16:colId xmlns:a16="http://schemas.microsoft.com/office/drawing/2014/main" val="1776593180"/>
                    </a:ext>
                  </a:extLst>
                </a:gridCol>
              </a:tblGrid>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68312"/>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3275141"/>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330698"/>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0043573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6018702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2256197055"/>
                  </a:ext>
                </a:extLst>
              </a:tr>
              <a:tr h="302400">
                <a:tc>
                  <a:txBody>
                    <a:bodyPr/>
                    <a:lstStyle/>
                    <a:p>
                      <a:pPr algn="ctr"/>
                      <a:r>
                        <a:rPr lang="en-US" altLang="zh-CN" sz="1000" b="0" baseline="0" dirty="0">
                          <a:solidFill>
                            <a:srgbClr val="00B050"/>
                          </a:solidFill>
                          <a:latin typeface="Montserrat" panose="00000500000000000000" pitchFamily="2" charset="0"/>
                          <a:ea typeface="微软雅黑 Light" panose="020B0502040204020203" pitchFamily="34" charset="-122"/>
                        </a:rPr>
                        <a:t>201-300</a:t>
                      </a:r>
                      <a:endParaRPr lang="zh-CN" altLang="en-US" sz="1000" b="0" baseline="0" dirty="0">
                        <a:solidFill>
                          <a:srgbClr val="00B05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72907929"/>
                  </a:ext>
                </a:extLst>
              </a:tr>
              <a:tr h="302400">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236701213"/>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501-600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776333326"/>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41576982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9546364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94455559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936927741"/>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78714267"/>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602-701</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9666323"/>
                  </a:ext>
                </a:extLst>
              </a:tr>
            </a:tbl>
          </a:graphicData>
        </a:graphic>
      </p:graphicFrame>
      <p:sp>
        <p:nvSpPr>
          <p:cNvPr id="2" name="Rectangle 27">
            <a:extLst>
              <a:ext uri="{FF2B5EF4-FFF2-40B4-BE49-F238E27FC236}">
                <a16:creationId xmlns:a16="http://schemas.microsoft.com/office/drawing/2014/main" id="{E4AE02B8-A353-7C84-A955-7AAAF965632A}"/>
              </a:ext>
            </a:extLst>
          </p:cNvPr>
          <p:cNvSpPr>
            <a:spLocks noChangeArrowheads="1"/>
          </p:cNvSpPr>
          <p:nvPr/>
        </p:nvSpPr>
        <p:spPr bwMode="auto">
          <a:xfrm>
            <a:off x="3024097" y="3313436"/>
            <a:ext cx="1473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允许 </a:t>
            </a:r>
            <a:r>
              <a:rPr kumimoji="1" lang="en-US" altLang="zh-CN" sz="1000" dirty="0">
                <a:latin typeface="Montserrat" panose="00000500000000000000" pitchFamily="2" charset="0"/>
                <a:ea typeface="微软雅黑 Light" panose="020B0502040204020203" pitchFamily="34" charset="-122"/>
              </a:rPr>
              <a:t>A </a:t>
            </a:r>
            <a:r>
              <a:rPr kumimoji="1" lang="zh-CN" altLang="en-US" sz="1000" dirty="0">
                <a:latin typeface="Montserrat" panose="00000500000000000000" pitchFamily="2" charset="0"/>
                <a:ea typeface="微软雅黑 Light" panose="020B0502040204020203" pitchFamily="34" charset="-122"/>
              </a:rPr>
              <a:t>发送</a:t>
            </a:r>
            <a:r>
              <a:rPr kumimoji="1" lang="en-US" altLang="zh-CN" sz="1000" dirty="0">
                <a:latin typeface="Montserrat" panose="00000500000000000000" pitchFamily="2" charset="0"/>
                <a:ea typeface="微软雅黑 Light" panose="020B0502040204020203" pitchFamily="34" charset="-122"/>
              </a:rPr>
              <a:t>[601,1000]</a:t>
            </a:r>
            <a:endParaRPr kumimoji="1" lang="zh-CN" altLang="en-US" sz="1000" dirty="0">
              <a:latin typeface="Montserrat" panose="00000500000000000000" pitchFamily="2" charset="0"/>
              <a:ea typeface="微软雅黑 Light" panose="020B0502040204020203" pitchFamily="34" charset="-122"/>
            </a:endParaRPr>
          </a:p>
        </p:txBody>
      </p:sp>
      <p:sp>
        <p:nvSpPr>
          <p:cNvPr id="5" name="Rectangle 22">
            <a:extLst>
              <a:ext uri="{FF2B5EF4-FFF2-40B4-BE49-F238E27FC236}">
                <a16:creationId xmlns:a16="http://schemas.microsoft.com/office/drawing/2014/main" id="{7081D618-6BF3-4514-BB91-16AB916DE279}"/>
              </a:ext>
            </a:extLst>
          </p:cNvPr>
          <p:cNvSpPr>
            <a:spLocks noChangeArrowheads="1"/>
          </p:cNvSpPr>
          <p:nvPr/>
        </p:nvSpPr>
        <p:spPr bwMode="auto">
          <a:xfrm flipH="1">
            <a:off x="1023858" y="3165249"/>
            <a:ext cx="207589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400</a:t>
            </a:r>
          </a:p>
        </p:txBody>
      </p:sp>
      <p:sp>
        <p:nvSpPr>
          <p:cNvPr id="8" name="Line 21">
            <a:extLst>
              <a:ext uri="{FF2B5EF4-FFF2-40B4-BE49-F238E27FC236}">
                <a16:creationId xmlns:a16="http://schemas.microsoft.com/office/drawing/2014/main" id="{E920EEC0-75A5-93A8-7D47-FBF3C6B0A78C}"/>
              </a:ext>
            </a:extLst>
          </p:cNvPr>
          <p:cNvSpPr>
            <a:spLocks noChangeShapeType="1"/>
          </p:cNvSpPr>
          <p:nvPr/>
        </p:nvSpPr>
        <p:spPr bwMode="auto">
          <a:xfrm flipH="1">
            <a:off x="1213348" y="3391200"/>
            <a:ext cx="180000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7" name="AutoShape 36">
            <a:extLst>
              <a:ext uri="{FF2B5EF4-FFF2-40B4-BE49-F238E27FC236}">
                <a16:creationId xmlns:a16="http://schemas.microsoft.com/office/drawing/2014/main" id="{2B5928A1-B132-D148-2FA2-312DE86FAC4B}"/>
              </a:ext>
            </a:extLst>
          </p:cNvPr>
          <p:cNvSpPr>
            <a:spLocks noChangeArrowheads="1"/>
          </p:cNvSpPr>
          <p:nvPr/>
        </p:nvSpPr>
        <p:spPr bwMode="auto">
          <a:xfrm>
            <a:off x="513338" y="3133678"/>
            <a:ext cx="688658" cy="415665"/>
          </a:xfrm>
          <a:prstGeom prst="irregularSeal1">
            <a:avLst/>
          </a:prstGeom>
          <a:solidFill>
            <a:srgbClr val="C00000"/>
          </a:solidFill>
          <a:ln w="6350">
            <a:noFill/>
            <a:miter lim="800000"/>
            <a:headEnd/>
            <a:tailEnd/>
          </a:ln>
          <a:effectLst/>
        </p:spPr>
        <p:txBody>
          <a:bodyPr wrap="none" anchor="ctr"/>
          <a:lstStyle/>
          <a:p>
            <a:pPr algn="ctr"/>
            <a:r>
              <a:rPr kumimoji="1" lang="zh-CN" altLang="en-US" sz="1000" dirty="0">
                <a:solidFill>
                  <a:schemeClr val="bg1"/>
                </a:solidFill>
                <a:latin typeface="Montserrat" panose="00000500000000000000" pitchFamily="2" charset="0"/>
                <a:ea typeface="微软雅黑 Light" panose="020B0502040204020203" pitchFamily="34" charset="-122"/>
              </a:rPr>
              <a:t>丢失</a:t>
            </a:r>
            <a:endParaRPr lang="zh-CN" altLang="en-US" sz="1000" dirty="0">
              <a:latin typeface="Montserrat" panose="00000500000000000000" pitchFamily="2" charset="0"/>
              <a:ea typeface="微软雅黑 Light" panose="020B0502040204020203" pitchFamily="34" charset="-122"/>
            </a:endParaRPr>
          </a:p>
        </p:txBody>
      </p:sp>
      <p:sp>
        <p:nvSpPr>
          <p:cNvPr id="29" name="Rectangle 28">
            <a:extLst>
              <a:ext uri="{FF2B5EF4-FFF2-40B4-BE49-F238E27FC236}">
                <a16:creationId xmlns:a16="http://schemas.microsoft.com/office/drawing/2014/main" id="{68C2D8A2-57CB-57FE-7857-DF874EAAECFB}"/>
              </a:ext>
            </a:extLst>
          </p:cNvPr>
          <p:cNvSpPr>
            <a:spLocks noChangeArrowheads="1"/>
          </p:cNvSpPr>
          <p:nvPr/>
        </p:nvSpPr>
        <p:spPr bwMode="auto">
          <a:xfrm>
            <a:off x="3024097" y="3604107"/>
            <a:ext cx="268663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在等待非</a:t>
            </a:r>
            <a:r>
              <a:rPr kumimoji="1" lang="en-US" altLang="zh-CN" sz="1000" dirty="0">
                <a:latin typeface="Montserrat" panose="00000500000000000000" pitchFamily="2" charset="0"/>
                <a:ea typeface="微软雅黑 Light" panose="020B0502040204020203" pitchFamily="34" charset="-122"/>
              </a:rPr>
              <a:t>0</a:t>
            </a:r>
            <a:r>
              <a:rPr kumimoji="1" lang="zh-CN" altLang="en-US" sz="1000" dirty="0">
                <a:latin typeface="Montserrat" panose="00000500000000000000" pitchFamily="2" charset="0"/>
                <a:ea typeface="微软雅黑 Light" panose="020B0502040204020203" pitchFamily="34" charset="-122"/>
              </a:rPr>
              <a:t>窗口；</a:t>
            </a:r>
            <a:r>
              <a:rPr kumimoji="1" lang="en-US" altLang="zh-CN" sz="1000" dirty="0">
                <a:latin typeface="Montserrat" panose="00000500000000000000" pitchFamily="2" charset="0"/>
                <a:ea typeface="微软雅黑 Light" panose="020B0502040204020203" pitchFamily="34" charset="-122"/>
              </a:rPr>
              <a:t>B</a:t>
            </a:r>
            <a:r>
              <a:rPr kumimoji="1" lang="zh-CN" altLang="en-US" sz="1000" dirty="0">
                <a:latin typeface="Montserrat" panose="00000500000000000000" pitchFamily="2" charset="0"/>
                <a:ea typeface="微软雅黑 Light" panose="020B0502040204020203" pitchFamily="34" charset="-122"/>
              </a:rPr>
              <a:t>处理数据并等待</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探测</a:t>
            </a:r>
          </a:p>
        </p:txBody>
      </p:sp>
      <p:pic>
        <p:nvPicPr>
          <p:cNvPr id="43" name="图形 42" descr="时钟">
            <a:extLst>
              <a:ext uri="{FF2B5EF4-FFF2-40B4-BE49-F238E27FC236}">
                <a16:creationId xmlns:a16="http://schemas.microsoft.com/office/drawing/2014/main" id="{24F052FE-215D-D2B3-288F-E305FD909AB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244698"/>
            <a:ext cx="288000" cy="288000"/>
          </a:xfrm>
          <a:prstGeom prst="rect">
            <a:avLst/>
          </a:prstGeom>
        </p:spPr>
      </p:pic>
      <p:pic>
        <p:nvPicPr>
          <p:cNvPr id="51" name="图形 50" descr="时钟">
            <a:extLst>
              <a:ext uri="{FF2B5EF4-FFF2-40B4-BE49-F238E27FC236}">
                <a16:creationId xmlns:a16="http://schemas.microsoft.com/office/drawing/2014/main" id="{69904A81-81B0-421C-847E-DD0D5363F45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2938410"/>
            <a:ext cx="288000" cy="288000"/>
          </a:xfrm>
          <a:prstGeom prst="rect">
            <a:avLst/>
          </a:prstGeom>
        </p:spPr>
      </p:pic>
      <p:sp>
        <p:nvSpPr>
          <p:cNvPr id="52" name="Rectangle 28">
            <a:extLst>
              <a:ext uri="{FF2B5EF4-FFF2-40B4-BE49-F238E27FC236}">
                <a16:creationId xmlns:a16="http://schemas.microsoft.com/office/drawing/2014/main" id="{44FB65D5-07F7-9C18-72D6-3F30AEC9352D}"/>
              </a:ext>
            </a:extLst>
          </p:cNvPr>
          <p:cNvSpPr>
            <a:spLocks noChangeArrowheads="1"/>
          </p:cNvSpPr>
          <p:nvPr/>
        </p:nvSpPr>
        <p:spPr bwMode="auto">
          <a:xfrm>
            <a:off x="907014" y="3775698"/>
            <a:ext cx="160460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it-IT" altLang="zh-CN" sz="1000" dirty="0">
                <a:latin typeface="Montserrat" panose="00000500000000000000" pitchFamily="2" charset="0"/>
                <a:ea typeface="微软雅黑 Light" panose="020B0502040204020203" pitchFamily="34" charset="-122"/>
              </a:rPr>
              <a:t>[Probe: seq=601, 1 byte</a:t>
            </a:r>
            <a:endParaRPr kumimoji="1" lang="zh-CN" altLang="en-US" sz="1000" dirty="0">
              <a:latin typeface="Montserrat" panose="00000500000000000000" pitchFamily="2" charset="0"/>
              <a:ea typeface="微软雅黑 Light" panose="020B0502040204020203" pitchFamily="34" charset="-122"/>
            </a:endParaRPr>
          </a:p>
        </p:txBody>
      </p:sp>
      <p:sp>
        <p:nvSpPr>
          <p:cNvPr id="53" name="Line 17">
            <a:extLst>
              <a:ext uri="{FF2B5EF4-FFF2-40B4-BE49-F238E27FC236}">
                <a16:creationId xmlns:a16="http://schemas.microsoft.com/office/drawing/2014/main" id="{056B5341-3751-C922-51D3-6B3F670341AC}"/>
              </a:ext>
            </a:extLst>
          </p:cNvPr>
          <p:cNvSpPr>
            <a:spLocks noChangeShapeType="1"/>
          </p:cNvSpPr>
          <p:nvPr/>
        </p:nvSpPr>
        <p:spPr bwMode="auto">
          <a:xfrm>
            <a:off x="504526" y="4019354"/>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grpSp>
        <p:nvGrpSpPr>
          <p:cNvPr id="56" name="组合 55">
            <a:extLst>
              <a:ext uri="{FF2B5EF4-FFF2-40B4-BE49-F238E27FC236}">
                <a16:creationId xmlns:a16="http://schemas.microsoft.com/office/drawing/2014/main" id="{C26F4569-3E2C-A2D6-9AB4-889F03FB0653}"/>
              </a:ext>
            </a:extLst>
          </p:cNvPr>
          <p:cNvGrpSpPr/>
          <p:nvPr/>
        </p:nvGrpSpPr>
        <p:grpSpPr>
          <a:xfrm>
            <a:off x="502257" y="4094421"/>
            <a:ext cx="2490520" cy="243656"/>
            <a:chOff x="675228" y="3360846"/>
            <a:chExt cx="2490520" cy="243656"/>
          </a:xfrm>
        </p:grpSpPr>
        <p:sp>
          <p:nvSpPr>
            <p:cNvPr id="54" name="Line 21">
              <a:extLst>
                <a:ext uri="{FF2B5EF4-FFF2-40B4-BE49-F238E27FC236}">
                  <a16:creationId xmlns:a16="http://schemas.microsoft.com/office/drawing/2014/main" id="{84AE0B99-3C90-6547-ED35-894F09CC1609}"/>
                </a:ext>
              </a:extLst>
            </p:cNvPr>
            <p:cNvSpPr>
              <a:spLocks noChangeShapeType="1"/>
            </p:cNvSpPr>
            <p:nvPr/>
          </p:nvSpPr>
          <p:spPr bwMode="auto">
            <a:xfrm flipH="1">
              <a:off x="675228" y="3595416"/>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55" name="Rectangle 22">
              <a:extLst>
                <a:ext uri="{FF2B5EF4-FFF2-40B4-BE49-F238E27FC236}">
                  <a16:creationId xmlns:a16="http://schemas.microsoft.com/office/drawing/2014/main" id="{DF68ECCE-C90C-DD3C-884C-326D72318079}"/>
                </a:ext>
              </a:extLst>
            </p:cNvPr>
            <p:cNvSpPr>
              <a:spLocks noChangeArrowheads="1"/>
            </p:cNvSpPr>
            <p:nvPr/>
          </p:nvSpPr>
          <p:spPr bwMode="auto">
            <a:xfrm flipH="1">
              <a:off x="892558" y="3360846"/>
              <a:ext cx="210153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602, rwnd = 400</a:t>
              </a:r>
              <a:endParaRPr kumimoji="1" lang="en-US" altLang="zh-CN" sz="1000" dirty="0">
                <a:solidFill>
                  <a:srgbClr val="00B050"/>
                </a:solidFill>
                <a:latin typeface="Montserrat" panose="00000500000000000000" pitchFamily="2" charset="0"/>
                <a:ea typeface="微软雅黑 Light" panose="020B0502040204020203" pitchFamily="34" charset="-122"/>
              </a:endParaRPr>
            </a:p>
          </p:txBody>
        </p:sp>
      </p:grpSp>
      <p:sp>
        <p:nvSpPr>
          <p:cNvPr id="58" name="Rectangle 28">
            <a:extLst>
              <a:ext uri="{FF2B5EF4-FFF2-40B4-BE49-F238E27FC236}">
                <a16:creationId xmlns:a16="http://schemas.microsoft.com/office/drawing/2014/main" id="{170D961C-597D-76B0-3470-CA6DA03EDF89}"/>
              </a:ext>
            </a:extLst>
          </p:cNvPr>
          <p:cNvSpPr>
            <a:spLocks noChangeArrowheads="1"/>
          </p:cNvSpPr>
          <p:nvPr/>
        </p:nvSpPr>
        <p:spPr bwMode="auto">
          <a:xfrm>
            <a:off x="2999533" y="3894778"/>
            <a:ext cx="289662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持续计时器超时后，</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发送探测报，消耗</a:t>
            </a:r>
            <a:r>
              <a:rPr kumimoji="1" lang="en-US" altLang="zh-CN" sz="1000" dirty="0">
                <a:latin typeface="Montserrat" panose="00000500000000000000" pitchFamily="2" charset="0"/>
                <a:ea typeface="微软雅黑 Light" panose="020B0502040204020203" pitchFamily="34" charset="-122"/>
              </a:rPr>
              <a:t>1</a:t>
            </a:r>
            <a:r>
              <a:rPr kumimoji="1" lang="zh-CN" altLang="en-US" sz="1000" dirty="0">
                <a:latin typeface="Montserrat" panose="00000500000000000000" pitchFamily="2" charset="0"/>
                <a:ea typeface="微软雅黑 Light" panose="020B0502040204020203" pitchFamily="34" charset="-122"/>
              </a:rPr>
              <a:t>个序号</a:t>
            </a:r>
          </a:p>
        </p:txBody>
      </p:sp>
      <p:sp>
        <p:nvSpPr>
          <p:cNvPr id="60" name="Rectangle 33">
            <a:extLst>
              <a:ext uri="{FF2B5EF4-FFF2-40B4-BE49-F238E27FC236}">
                <a16:creationId xmlns:a16="http://schemas.microsoft.com/office/drawing/2014/main" id="{460031EA-DF7B-FC4F-F777-FC924C615B59}"/>
              </a:ext>
            </a:extLst>
          </p:cNvPr>
          <p:cNvSpPr>
            <a:spLocks noChangeArrowheads="1"/>
          </p:cNvSpPr>
          <p:nvPr/>
        </p:nvSpPr>
        <p:spPr bwMode="auto">
          <a:xfrm>
            <a:off x="3010003" y="4185449"/>
            <a:ext cx="289662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[602,1001]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400 </a:t>
            </a:r>
            <a:r>
              <a:rPr kumimoji="1" lang="zh-CN" altLang="en-US" sz="1100" dirty="0">
                <a:latin typeface="Montserrat" panose="00000500000000000000" pitchFamily="2" charset="0"/>
                <a:ea typeface="微软雅黑 Light" panose="020B0502040204020203" pitchFamily="34" charset="-122"/>
              </a:rPr>
              <a:t>字节</a:t>
            </a:r>
          </a:p>
        </p:txBody>
      </p:sp>
      <p:sp>
        <p:nvSpPr>
          <p:cNvPr id="62" name="Line 17">
            <a:extLst>
              <a:ext uri="{FF2B5EF4-FFF2-40B4-BE49-F238E27FC236}">
                <a16:creationId xmlns:a16="http://schemas.microsoft.com/office/drawing/2014/main" id="{AF7881AA-5A02-08E1-4AB7-AD34B4C17D22}"/>
              </a:ext>
            </a:extLst>
          </p:cNvPr>
          <p:cNvSpPr>
            <a:spLocks noChangeShapeType="1"/>
          </p:cNvSpPr>
          <p:nvPr/>
        </p:nvSpPr>
        <p:spPr bwMode="auto">
          <a:xfrm>
            <a:off x="519350" y="4621037"/>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63" name="Rectangle 29">
            <a:extLst>
              <a:ext uri="{FF2B5EF4-FFF2-40B4-BE49-F238E27FC236}">
                <a16:creationId xmlns:a16="http://schemas.microsoft.com/office/drawing/2014/main" id="{D75CB23B-9E9E-BEB1-53B6-ED1EB52AB409}"/>
              </a:ext>
            </a:extLst>
          </p:cNvPr>
          <p:cNvSpPr>
            <a:spLocks noChangeArrowheads="1"/>
          </p:cNvSpPr>
          <p:nvPr/>
        </p:nvSpPr>
        <p:spPr bwMode="auto">
          <a:xfrm>
            <a:off x="2999533" y="4491515"/>
            <a:ext cx="296074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[602,701]</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字节新数据</a:t>
            </a:r>
          </a:p>
        </p:txBody>
      </p:sp>
      <p:pic>
        <p:nvPicPr>
          <p:cNvPr id="64" name="图形 63" descr="时钟">
            <a:extLst>
              <a:ext uri="{FF2B5EF4-FFF2-40B4-BE49-F238E27FC236}">
                <a16:creationId xmlns:a16="http://schemas.microsoft.com/office/drawing/2014/main" id="{C996295E-DE67-D481-B922-47BF99A597C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550985"/>
            <a:ext cx="288000" cy="288000"/>
          </a:xfrm>
          <a:prstGeom prst="rect">
            <a:avLst/>
          </a:prstGeom>
        </p:spPr>
      </p:pic>
    </p:spTree>
    <p:extLst>
      <p:ext uri="{BB962C8B-B14F-4D97-AF65-F5344CB8AC3E}">
        <p14:creationId xmlns:p14="http://schemas.microsoft.com/office/powerpoint/2010/main" val="33726510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1" nodeType="after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35" presetClass="emph" presetSubtype="0" repeatCount="3000" fill="hold" grpId="0" nodeType="withEffect">
                                  <p:stCondLst>
                                    <p:cond delay="0"/>
                                  </p:stCondLst>
                                  <p:childTnLst>
                                    <p:anim calcmode="discrete" valueType="str">
                                      <p:cBhvr>
                                        <p:cTn id="8"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1" nodeType="afterEffect">
                                  <p:stCondLst>
                                    <p:cond delay="0"/>
                                  </p:stCondLst>
                                  <p:childTnLst>
                                    <p:set>
                                      <p:cBhvr>
                                        <p:cTn id="11" dur="1" fill="hold">
                                          <p:stCondLst>
                                            <p:cond delay="0"/>
                                          </p:stCondLst>
                                        </p:cTn>
                                        <p:tgtEl>
                                          <p:spTgt spid="37"/>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0" nodeType="after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6000"/>
                            </p:stCondLst>
                            <p:childTnLst>
                              <p:par>
                                <p:cTn id="16" presetID="1" presetClass="entr" presetSubtype="0" fill="hold" grpId="1" nodeType="afterEffect">
                                  <p:stCondLst>
                                    <p:cond delay="0"/>
                                  </p:stCondLst>
                                  <p:childTnLst>
                                    <p:set>
                                      <p:cBhvr>
                                        <p:cTn id="17" dur="1" fill="hold">
                                          <p:stCondLst>
                                            <p:cond delay="0"/>
                                          </p:stCondLst>
                                        </p:cTn>
                                        <p:tgtEl>
                                          <p:spTgt spid="42"/>
                                        </p:tgtEl>
                                        <p:attrNameLst>
                                          <p:attrName>style.visibility</p:attrName>
                                        </p:attrNameLst>
                                      </p:cBhvr>
                                      <p:to>
                                        <p:strVal val="visible"/>
                                      </p:to>
                                    </p:set>
                                  </p:childTnLst>
                                </p:cTn>
                              </p:par>
                            </p:childTnLst>
                          </p:cTn>
                        </p:par>
                        <p:par>
                          <p:cTn id="18" fill="hold">
                            <p:stCondLst>
                              <p:cond delay="6000"/>
                            </p:stCondLst>
                            <p:childTnLst>
                              <p:par>
                                <p:cTn id="19" presetID="35" presetClass="emph" presetSubtype="0" repeatCount="3000" fill="hold" grpId="0" nodeType="afterEffect">
                                  <p:stCondLst>
                                    <p:cond delay="0"/>
                                  </p:stCondLst>
                                  <p:childTnLst>
                                    <p:anim calcmode="discrete" valueType="str">
                                      <p:cBhvr>
                                        <p:cTn id="20" dur="1000" fill="hold"/>
                                        <p:tgtEl>
                                          <p:spTgt spid="42"/>
                                        </p:tgtEl>
                                        <p:attrNameLst>
                                          <p:attrName>style.visibility</p:attrName>
                                        </p:attrNameLst>
                                      </p:cBhvr>
                                      <p:tavLst>
                                        <p:tav tm="0">
                                          <p:val>
                                            <p:strVal val="hidden"/>
                                          </p:val>
                                        </p:tav>
                                        <p:tav tm="50000">
                                          <p:val>
                                            <p:strVal val="visible"/>
                                          </p:val>
                                        </p:tav>
                                      </p:tavLst>
                                    </p:anim>
                                  </p:childTnLst>
                                </p:cTn>
                              </p:par>
                              <p:par>
                                <p:cTn id="21" presetID="1" presetClass="entr" presetSubtype="0"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childTnLst>
                                </p:cTn>
                              </p:par>
                              <p:par>
                                <p:cTn id="23" presetID="35" presetClass="emph" presetSubtype="0" repeatCount="3000" fill="hold" grpId="1" nodeType="withEffect">
                                  <p:stCondLst>
                                    <p:cond delay="0"/>
                                  </p:stCondLst>
                                  <p:childTnLst>
                                    <p:anim calcmode="discrete" valueType="str">
                                      <p:cBhvr>
                                        <p:cTn id="24" dur="1000" fill="hold"/>
                                        <p:tgtEl>
                                          <p:spTgt spid="2"/>
                                        </p:tgtEl>
                                        <p:attrNameLst>
                                          <p:attrName>style.visibility</p:attrName>
                                        </p:attrNameLst>
                                      </p:cBhvr>
                                      <p:tavLst>
                                        <p:tav tm="0">
                                          <p:val>
                                            <p:strVal val="hidden"/>
                                          </p:val>
                                        </p:tav>
                                        <p:tav tm="50000">
                                          <p:val>
                                            <p:strVal val="visible"/>
                                          </p:val>
                                        </p:tav>
                                      </p:tavLst>
                                    </p:anim>
                                  </p:childTnLst>
                                </p:cTn>
                              </p:par>
                            </p:childTnLst>
                          </p:cTn>
                        </p:par>
                        <p:par>
                          <p:cTn id="25" fill="hold">
                            <p:stCondLst>
                              <p:cond delay="9000"/>
                            </p:stCondLst>
                            <p:childTnLst>
                              <p:par>
                                <p:cTn id="26" presetID="1" presetClass="entr" presetSubtype="0" fill="hold" grpId="1" nodeType="afterEffect">
                                  <p:stCondLst>
                                    <p:cond delay="0"/>
                                  </p:stCondLst>
                                  <p:childTnLst>
                                    <p:set>
                                      <p:cBhvr>
                                        <p:cTn id="27" dur="1" fill="hold">
                                          <p:stCondLst>
                                            <p:cond delay="0"/>
                                          </p:stCondLst>
                                        </p:cTn>
                                        <p:tgtEl>
                                          <p:spTgt spid="60"/>
                                        </p:tgtEl>
                                        <p:attrNameLst>
                                          <p:attrName>style.visibility</p:attrName>
                                        </p:attrNameLst>
                                      </p:cBhvr>
                                      <p:to>
                                        <p:strVal val="visible"/>
                                      </p:to>
                                    </p:set>
                                  </p:childTnLst>
                                </p:cTn>
                              </p:par>
                            </p:childTnLst>
                          </p:cTn>
                        </p:par>
                        <p:par>
                          <p:cTn id="28" fill="hold">
                            <p:stCondLst>
                              <p:cond delay="9000"/>
                            </p:stCondLst>
                            <p:childTnLst>
                              <p:par>
                                <p:cTn id="29" presetID="35" presetClass="emph" presetSubtype="0" repeatCount="3000" fill="hold" grpId="0" nodeType="afterEffect">
                                  <p:stCondLst>
                                    <p:cond delay="0"/>
                                  </p:stCondLst>
                                  <p:childTnLst>
                                    <p:anim calcmode="discrete" valueType="str">
                                      <p:cBhvr>
                                        <p:cTn id="30"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6" grpId="1"/>
      <p:bldP spid="37" grpId="0"/>
      <p:bldP spid="37" grpId="1"/>
      <p:bldP spid="42" grpId="0"/>
      <p:bldP spid="42" grpId="1"/>
      <p:bldP spid="2" grpId="0"/>
      <p:bldP spid="2" grpId="1"/>
      <p:bldP spid="60" grpId="0"/>
      <p:bldP spid="60" grpId="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7EF9FA09-DFEB-C7D3-BFDF-026EE13E5413}"/>
              </a:ext>
            </a:extLst>
          </p:cNvPr>
          <p:cNvSpPr>
            <a:spLocks noGrp="1"/>
          </p:cNvSpPr>
          <p:nvPr>
            <p:ph sz="quarter" idx="11"/>
          </p:nvPr>
        </p:nvSpPr>
        <p:spPr>
          <a:xfrm>
            <a:off x="486000" y="900000"/>
            <a:ext cx="8172000" cy="3703500"/>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56" name="标题 55">
            <a:extLst>
              <a:ext uri="{FF2B5EF4-FFF2-40B4-BE49-F238E27FC236}">
                <a16:creationId xmlns:a16="http://schemas.microsoft.com/office/drawing/2014/main" id="{37AF30DC-1A36-BC67-F6E6-8D25D425F1D9}"/>
              </a:ext>
            </a:extLst>
          </p:cNvPr>
          <p:cNvSpPr>
            <a:spLocks noGrp="1"/>
          </p:cNvSpPr>
          <p:nvPr>
            <p:ph type="title"/>
          </p:nvPr>
        </p:nvSpPr>
        <p:spPr>
          <a:xfrm>
            <a:off x="486000" y="550723"/>
            <a:ext cx="8172000" cy="338554"/>
          </a:xfrm>
        </p:spPr>
        <p:txBody>
          <a:bodyPr/>
          <a:lstStyle/>
          <a:p>
            <a:r>
              <a:rPr lang="zh-CN" altLang="en-US" dirty="0"/>
              <a:t>可能发生死锁</a:t>
            </a:r>
          </a:p>
        </p:txBody>
      </p:sp>
      <p:sp>
        <p:nvSpPr>
          <p:cNvPr id="9" name="Line 4"/>
          <p:cNvSpPr>
            <a:spLocks noChangeShapeType="1"/>
          </p:cNvSpPr>
          <p:nvPr/>
        </p:nvSpPr>
        <p:spPr bwMode="auto">
          <a:xfrm>
            <a:off x="4175827" y="1875280"/>
            <a:ext cx="64290" cy="2822225"/>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481121"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822224"/>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54" name="Rectangle 27"/>
          <p:cNvSpPr>
            <a:spLocks noChangeArrowheads="1"/>
          </p:cNvSpPr>
          <p:nvPr/>
        </p:nvSpPr>
        <p:spPr bwMode="auto">
          <a:xfrm>
            <a:off x="4235218" y="4181721"/>
            <a:ext cx="29399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601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1000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400 </a:t>
            </a:r>
            <a:r>
              <a:rPr kumimoji="1" lang="zh-CN" altLang="en-US" sz="1100" b="1" dirty="0">
                <a:solidFill>
                  <a:srgbClr val="C00000"/>
                </a:solidFill>
                <a:latin typeface="微软雅黑" pitchFamily="34" charset="-122"/>
                <a:ea typeface="微软雅黑" pitchFamily="34" charset="-122"/>
              </a:rPr>
              <a:t>字节</a:t>
            </a:r>
          </a:p>
        </p:txBody>
      </p:sp>
      <p:grpSp>
        <p:nvGrpSpPr>
          <p:cNvPr id="61" name="组合 60"/>
          <p:cNvGrpSpPr/>
          <p:nvPr/>
        </p:nvGrpSpPr>
        <p:grpSpPr>
          <a:xfrm>
            <a:off x="1896233" y="4094049"/>
            <a:ext cx="2288554" cy="243656"/>
            <a:chOff x="1896233" y="4094049"/>
            <a:chExt cx="2288554" cy="243656"/>
          </a:xfrm>
        </p:grpSpPr>
        <p:sp>
          <p:nvSpPr>
            <p:cNvPr id="53" name="Rectangle 22"/>
            <p:cNvSpPr>
              <a:spLocks noChangeArrowheads="1"/>
            </p:cNvSpPr>
            <p:nvPr/>
          </p:nvSpPr>
          <p:spPr bwMode="auto">
            <a:xfrm flipH="1">
              <a:off x="1896233" y="4094049"/>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400</a:t>
              </a:r>
            </a:p>
          </p:txBody>
        </p:sp>
        <p:sp>
          <p:nvSpPr>
            <p:cNvPr id="55" name="Line 21"/>
            <p:cNvSpPr>
              <a:spLocks noChangeShapeType="1"/>
            </p:cNvSpPr>
            <p:nvPr/>
          </p:nvSpPr>
          <p:spPr bwMode="auto">
            <a:xfrm flipH="1">
              <a:off x="1990896" y="4318963"/>
              <a:ext cx="2193891"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grpSp>
      <p:grpSp>
        <p:nvGrpSpPr>
          <p:cNvPr id="8" name="组合 7"/>
          <p:cNvGrpSpPr/>
          <p:nvPr/>
        </p:nvGrpSpPr>
        <p:grpSpPr>
          <a:xfrm>
            <a:off x="1348538" y="4048078"/>
            <a:ext cx="688658" cy="415665"/>
            <a:chOff x="944890" y="3823961"/>
            <a:chExt cx="688658" cy="415665"/>
          </a:xfrm>
        </p:grpSpPr>
        <p:sp>
          <p:nvSpPr>
            <p:cNvPr id="57" name="AutoShape 36"/>
            <p:cNvSpPr>
              <a:spLocks noChangeArrowheads="1"/>
            </p:cNvSpPr>
            <p:nvPr/>
          </p:nvSpPr>
          <p:spPr bwMode="auto">
            <a:xfrm>
              <a:off x="944890" y="3823961"/>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58" name="Rectangle 37"/>
            <p:cNvSpPr>
              <a:spLocks noChangeArrowheads="1"/>
            </p:cNvSpPr>
            <p:nvPr/>
          </p:nvSpPr>
          <p:spPr bwMode="auto">
            <a:xfrm>
              <a:off x="1064610" y="3904684"/>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nvGrpSpPr>
          <p:cNvPr id="64" name="组合 63"/>
          <p:cNvGrpSpPr/>
          <p:nvPr/>
        </p:nvGrpSpPr>
        <p:grpSpPr>
          <a:xfrm>
            <a:off x="676495" y="4425557"/>
            <a:ext cx="4494877" cy="259045"/>
            <a:chOff x="676495" y="4425557"/>
            <a:chExt cx="4494877" cy="259045"/>
          </a:xfrm>
        </p:grpSpPr>
        <p:sp>
          <p:nvSpPr>
            <p:cNvPr id="62" name="Rectangle 28"/>
            <p:cNvSpPr>
              <a:spLocks noChangeArrowheads="1"/>
            </p:cNvSpPr>
            <p:nvPr/>
          </p:nvSpPr>
          <p:spPr bwMode="auto">
            <a:xfrm>
              <a:off x="4235217" y="4425557"/>
              <a:ext cx="9361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a:t>
              </a:r>
            </a:p>
          </p:txBody>
        </p:sp>
        <p:sp>
          <p:nvSpPr>
            <p:cNvPr id="63" name="Rectangle 28"/>
            <p:cNvSpPr>
              <a:spLocks noChangeArrowheads="1"/>
            </p:cNvSpPr>
            <p:nvPr/>
          </p:nvSpPr>
          <p:spPr bwMode="auto">
            <a:xfrm>
              <a:off x="676495" y="4425557"/>
              <a:ext cx="105798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等待非 </a:t>
              </a:r>
              <a:r>
                <a:rPr kumimoji="1" lang="en-US" altLang="zh-CN" sz="1100" b="1" dirty="0">
                  <a:latin typeface="微软雅黑" pitchFamily="34" charset="-122"/>
                  <a:ea typeface="微软雅黑" pitchFamily="34" charset="-122"/>
                </a:rPr>
                <a:t>0 </a:t>
              </a:r>
              <a:r>
                <a:rPr kumimoji="1" lang="zh-CN" altLang="en-US" sz="1100" b="1" dirty="0">
                  <a:latin typeface="微软雅黑" pitchFamily="34" charset="-122"/>
                  <a:ea typeface="微软雅黑" pitchFamily="34" charset="-122"/>
                </a:rPr>
                <a:t>窗口</a:t>
              </a:r>
            </a:p>
          </p:txBody>
        </p:sp>
      </p:grpSp>
    </p:spTree>
    <p:extLst>
      <p:ext uri="{BB962C8B-B14F-4D97-AF65-F5344CB8AC3E}">
        <p14:creationId xmlns:p14="http://schemas.microsoft.com/office/powerpoint/2010/main" val="2260185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right)">
                                      <p:cBhvr>
                                        <p:cTn id="7" dur="1000"/>
                                        <p:tgtEl>
                                          <p:spTgt spid="61"/>
                                        </p:tgtEl>
                                      </p:cBhvr>
                                    </p:animEffect>
                                  </p:childTnLst>
                                </p:cTn>
                              </p:par>
                              <p:par>
                                <p:cTn id="8" presetID="1" presetClass="entr" presetSubtype="0" fill="hold" grpId="0" nodeType="withEffect">
                                  <p:stCondLst>
                                    <p:cond delay="0"/>
                                  </p:stCondLst>
                                  <p:childTnLst>
                                    <p:set>
                                      <p:cBhvr>
                                        <p:cTn id="9" dur="1" fill="hold">
                                          <p:stCondLst>
                                            <p:cond delay="0"/>
                                          </p:stCondLst>
                                        </p:cTn>
                                        <p:tgtEl>
                                          <p:spTgt spid="54"/>
                                        </p:tgtEl>
                                        <p:attrNameLst>
                                          <p:attrName>style.visibility</p:attrName>
                                        </p:attrNameLst>
                                      </p:cBhvr>
                                      <p:to>
                                        <p:strVal val="visible"/>
                                      </p:to>
                                    </p:set>
                                  </p:childTnLst>
                                </p:cTn>
                              </p:par>
                              <p:par>
                                <p:cTn id="10" presetID="35" presetClass="emph" presetSubtype="0" repeatCount="3000" fill="hold" grpId="1" nodeType="withEffect">
                                  <p:stCondLst>
                                    <p:cond delay="0"/>
                                  </p:stCondLst>
                                  <p:childTnLst>
                                    <p:anim calcmode="discrete" valueType="str">
                                      <p:cBhvr>
                                        <p:cTn id="11" dur="1000" fill="hold"/>
                                        <p:tgtEl>
                                          <p:spTgt spid="54"/>
                                        </p:tgtEl>
                                        <p:attrNameLst>
                                          <p:attrName>style.visibility</p:attrName>
                                        </p:attrNameLst>
                                      </p:cBhvr>
                                      <p:tavLst>
                                        <p:tav tm="0">
                                          <p:val>
                                            <p:strVal val="hidden"/>
                                          </p:val>
                                        </p:tav>
                                        <p:tav tm="50000">
                                          <p:val>
                                            <p:strVal val="visible"/>
                                          </p:val>
                                        </p:tav>
                                      </p:tavLst>
                                    </p:anim>
                                  </p:childTnLst>
                                </p:cTn>
                              </p:par>
                            </p:childTnLst>
                          </p:cTn>
                        </p:par>
                        <p:par>
                          <p:cTn id="12" fill="hold">
                            <p:stCondLst>
                              <p:cond delay="3000"/>
                            </p:stCondLst>
                            <p:childTnLst>
                              <p:par>
                                <p:cTn id="13" presetID="22" presetClass="entr" presetSubtype="2"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1000"/>
                                        <p:tgtEl>
                                          <p:spTgt spid="8"/>
                                        </p:tgtEl>
                                      </p:cBhvr>
                                    </p:animEffect>
                                  </p:childTnLst>
                                </p:cTn>
                              </p:par>
                            </p:childTnLst>
                          </p:cTn>
                        </p:par>
                        <p:par>
                          <p:cTn id="16" fill="hold">
                            <p:stCondLst>
                              <p:cond delay="4000"/>
                            </p:stCondLst>
                            <p:childTnLst>
                              <p:par>
                                <p:cTn id="17" presetID="35" presetClass="emph" presetSubtype="0" repeatCount="3000" fill="hold" nodeType="afterEffect">
                                  <p:stCondLst>
                                    <p:cond delay="0"/>
                                  </p:stCondLst>
                                  <p:childTnLst>
                                    <p:anim calcmode="discrete" valueType="str">
                                      <p:cBhvr>
                                        <p:cTn id="18" dur="1000" fill="hold"/>
                                        <p:tgtEl>
                                          <p:spTgt spid="8"/>
                                        </p:tgtEl>
                                        <p:attrNameLst>
                                          <p:attrName>style.visibility</p:attrName>
                                        </p:attrNameLst>
                                      </p:cBhvr>
                                      <p:tavLst>
                                        <p:tav tm="0">
                                          <p:val>
                                            <p:strVal val="hidden"/>
                                          </p:val>
                                        </p:tav>
                                        <p:tav tm="50000">
                                          <p:val>
                                            <p:strVal val="visible"/>
                                          </p:val>
                                        </p:tav>
                                      </p:tavLst>
                                    </p:anim>
                                  </p:childTnLst>
                                </p:cTn>
                              </p:par>
                            </p:childTnLst>
                          </p:cTn>
                        </p:par>
                        <p:par>
                          <p:cTn id="19" fill="hold">
                            <p:stCondLst>
                              <p:cond delay="7000"/>
                            </p:stCondLst>
                            <p:childTnLst>
                              <p:par>
                                <p:cTn id="20" presetID="22" presetClass="entr" presetSubtype="1" fill="hold" nodeType="after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wipe(up)">
                                      <p:cBhvr>
                                        <p:cTn id="22" dur="10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4" grpId="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CB31C788-BD1C-A5C2-E6C6-0B1355BF18D0}"/>
              </a:ext>
            </a:extLst>
          </p:cNvPr>
          <p:cNvSpPr>
            <a:spLocks noGrp="1"/>
          </p:cNvSpPr>
          <p:nvPr>
            <p:ph sz="quarter" idx="11"/>
          </p:nvPr>
        </p:nvSpPr>
        <p:spPr>
          <a:xfrm>
            <a:off x="486000" y="900000"/>
            <a:ext cx="8172000" cy="3703500"/>
          </a:xfrm>
        </p:spPr>
        <p:txBody>
          <a:bodyPr/>
          <a:lstStyle/>
          <a:p>
            <a:r>
              <a:rPr lang="zh-CN" altLang="en-US" dirty="0"/>
              <a:t>持续计时器  </a:t>
            </a:r>
            <a:r>
              <a:rPr lang="en-US" altLang="zh-CN" dirty="0"/>
              <a:t>(persistence timer)</a:t>
            </a:r>
            <a:r>
              <a:rPr lang="zh-CN" altLang="en-US" dirty="0"/>
              <a:t>：只要 </a:t>
            </a:r>
            <a:r>
              <a:rPr lang="en-US" altLang="zh-CN" dirty="0"/>
              <a:t>TCP </a:t>
            </a:r>
            <a:r>
              <a:rPr lang="zh-CN" altLang="en-US" dirty="0"/>
              <a:t>连接的一方收到对方的零窗口通知，就启动该持续计时器。</a:t>
            </a:r>
          </a:p>
          <a:p>
            <a:pPr lvl="1"/>
            <a:r>
              <a:rPr lang="zh-CN" altLang="en-US" dirty="0"/>
              <a:t>若持续计时器设置的时间到期，就发送一个零窗口探测报文段（仅携带 </a:t>
            </a:r>
            <a:r>
              <a:rPr lang="en-US" altLang="zh-CN" dirty="0"/>
              <a:t>1 </a:t>
            </a:r>
            <a:r>
              <a:rPr lang="zh-CN" altLang="en-US" dirty="0"/>
              <a:t>字节的数据），对方在确认这个探测报文段时给出当前窗口值。</a:t>
            </a:r>
          </a:p>
          <a:p>
            <a:pPr lvl="1"/>
            <a:r>
              <a:rPr lang="zh-CN" altLang="en-US" dirty="0"/>
              <a:t>若窗口仍然是零，收到这个报文段的一方就重新设置持续计时器。</a:t>
            </a:r>
          </a:p>
          <a:p>
            <a:pPr lvl="1"/>
            <a:r>
              <a:rPr lang="zh-CN" altLang="en-US" dirty="0"/>
              <a:t>若窗口不是零，则死锁的僵局就可以打破了。 </a:t>
            </a:r>
          </a:p>
          <a:p>
            <a:endParaRPr lang="zh-CN" altLang="en-US" dirty="0"/>
          </a:p>
        </p:txBody>
      </p:sp>
      <p:sp>
        <p:nvSpPr>
          <p:cNvPr id="5" name="标题 4">
            <a:extLst>
              <a:ext uri="{FF2B5EF4-FFF2-40B4-BE49-F238E27FC236}">
                <a16:creationId xmlns:a16="http://schemas.microsoft.com/office/drawing/2014/main" id="{E8BB8BC2-7F8B-39C3-D17D-81429D2D9179}"/>
              </a:ext>
            </a:extLst>
          </p:cNvPr>
          <p:cNvSpPr>
            <a:spLocks noGrp="1"/>
          </p:cNvSpPr>
          <p:nvPr>
            <p:ph type="title"/>
          </p:nvPr>
        </p:nvSpPr>
        <p:spPr>
          <a:xfrm>
            <a:off x="486000" y="550723"/>
            <a:ext cx="8172000" cy="338554"/>
          </a:xfrm>
        </p:spPr>
        <p:txBody>
          <a:bodyPr/>
          <a:lstStyle/>
          <a:p>
            <a:r>
              <a:rPr lang="zh-CN" altLang="en-US" dirty="0"/>
              <a:t>持续计时器</a:t>
            </a:r>
          </a:p>
        </p:txBody>
      </p:sp>
    </p:spTree>
    <p:extLst>
      <p:ext uri="{BB962C8B-B14F-4D97-AF65-F5344CB8AC3E}">
        <p14:creationId xmlns:p14="http://schemas.microsoft.com/office/powerpoint/2010/main" val="30353614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398495" y="3570469"/>
            <a:ext cx="6660776" cy="438582"/>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lnSpc>
                <a:spcPts val="2700"/>
              </a:lnSpc>
              <a:buClr>
                <a:srgbClr val="0070C0"/>
              </a:buClr>
            </a:pPr>
            <a:r>
              <a:rPr lang="zh-CN" altLang="en-US" b="1" dirty="0">
                <a:solidFill>
                  <a:schemeClr val="bg1"/>
                </a:solidFill>
                <a:latin typeface="微软雅黑" pitchFamily="34" charset="-122"/>
                <a:ea typeface="微软雅黑" pitchFamily="34" charset="-122"/>
              </a:rPr>
              <a:t>如何控制 </a:t>
            </a: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发送报文段的时机仍然是一个较为复杂的问题。</a:t>
            </a:r>
          </a:p>
        </p:txBody>
      </p:sp>
      <p:sp>
        <p:nvSpPr>
          <p:cNvPr id="7" name="内容占位符 6">
            <a:extLst>
              <a:ext uri="{FF2B5EF4-FFF2-40B4-BE49-F238E27FC236}">
                <a16:creationId xmlns:a16="http://schemas.microsoft.com/office/drawing/2014/main" id="{95BF47C6-468D-04DF-CBA4-5D86131B39E1}"/>
              </a:ext>
            </a:extLst>
          </p:cNvPr>
          <p:cNvSpPr>
            <a:spLocks noGrp="1"/>
          </p:cNvSpPr>
          <p:nvPr>
            <p:ph sz="quarter" idx="11"/>
          </p:nvPr>
        </p:nvSpPr>
        <p:spPr>
          <a:xfrm>
            <a:off x="486000" y="900000"/>
            <a:ext cx="8172000" cy="3703500"/>
          </a:xfrm>
        </p:spPr>
        <p:txBody>
          <a:bodyPr/>
          <a:lstStyle/>
          <a:p>
            <a:r>
              <a:rPr lang="zh-CN" altLang="en-US" dirty="0"/>
              <a:t>控制</a:t>
            </a:r>
            <a:r>
              <a:rPr lang="en-US" altLang="zh-CN" dirty="0"/>
              <a:t>TCP</a:t>
            </a:r>
            <a:r>
              <a:rPr lang="zh-CN" altLang="en-US" dirty="0"/>
              <a:t>发送报文段的时机：三种机制</a:t>
            </a:r>
            <a:endParaRPr lang="en-US" altLang="zh-CN" dirty="0"/>
          </a:p>
          <a:p>
            <a:r>
              <a:rPr lang="en-US" altLang="zh-CN" dirty="0"/>
              <a:t>TCP </a:t>
            </a:r>
            <a:r>
              <a:rPr lang="zh-CN" altLang="en-US" dirty="0"/>
              <a:t>维持一个变量，它等于最大报文段长度 </a:t>
            </a:r>
            <a:r>
              <a:rPr lang="en-US" altLang="zh-CN" dirty="0"/>
              <a:t>MSS</a:t>
            </a:r>
            <a:r>
              <a:rPr lang="zh-CN" altLang="en-US" dirty="0"/>
              <a:t>。只要缓存中存放的数据达到 </a:t>
            </a:r>
            <a:r>
              <a:rPr lang="en-US" altLang="zh-CN" dirty="0"/>
              <a:t>MSS </a:t>
            </a:r>
            <a:r>
              <a:rPr lang="zh-CN" altLang="en-US" dirty="0"/>
              <a:t>字节时，就组装成一个 </a:t>
            </a:r>
            <a:r>
              <a:rPr lang="en-US" altLang="zh-CN" dirty="0"/>
              <a:t>TCP </a:t>
            </a:r>
            <a:r>
              <a:rPr lang="zh-CN" altLang="en-US" dirty="0"/>
              <a:t>报文段发送出去。</a:t>
            </a:r>
          </a:p>
          <a:p>
            <a:r>
              <a:rPr lang="zh-CN" altLang="en-US" dirty="0"/>
              <a:t>由发送方的应用进程指明要求发送报文段，即 </a:t>
            </a:r>
            <a:r>
              <a:rPr lang="en-US" altLang="zh-CN" dirty="0"/>
              <a:t>TCP </a:t>
            </a:r>
            <a:r>
              <a:rPr lang="zh-CN" altLang="en-US" dirty="0"/>
              <a:t>支持的推送 </a:t>
            </a:r>
            <a:r>
              <a:rPr lang="en-US" altLang="zh-CN" dirty="0"/>
              <a:t>(push) </a:t>
            </a:r>
            <a:r>
              <a:rPr lang="zh-CN" altLang="en-US" dirty="0"/>
              <a:t>操作。</a:t>
            </a:r>
          </a:p>
          <a:p>
            <a:r>
              <a:rPr lang="zh-CN" altLang="en-US" dirty="0"/>
              <a:t>发送方的一个计时器期限到了，这时就把当前已有的缓存数据装入报文段（但长度不能超过 </a:t>
            </a:r>
            <a:r>
              <a:rPr lang="en-US" altLang="zh-CN" dirty="0"/>
              <a:t>MSS</a:t>
            </a:r>
            <a:r>
              <a:rPr lang="zh-CN" altLang="en-US" dirty="0"/>
              <a:t>）发送出去。</a:t>
            </a:r>
          </a:p>
          <a:p>
            <a:endParaRPr lang="zh-CN" altLang="en-US" dirty="0"/>
          </a:p>
        </p:txBody>
      </p:sp>
      <p:sp>
        <p:nvSpPr>
          <p:cNvPr id="6" name="标题 5">
            <a:extLst>
              <a:ext uri="{FF2B5EF4-FFF2-40B4-BE49-F238E27FC236}">
                <a16:creationId xmlns:a16="http://schemas.microsoft.com/office/drawing/2014/main" id="{4BC46DE5-5A6E-7CF5-7B13-7345FC27FC05}"/>
              </a:ext>
            </a:extLst>
          </p:cNvPr>
          <p:cNvSpPr>
            <a:spLocks noGrp="1"/>
          </p:cNvSpPr>
          <p:nvPr>
            <p:ph type="title"/>
          </p:nvPr>
        </p:nvSpPr>
        <p:spPr>
          <a:xfrm>
            <a:off x="486000" y="550723"/>
            <a:ext cx="8172000" cy="338554"/>
          </a:xfrm>
        </p:spPr>
        <p:txBody>
          <a:bodyPr/>
          <a:lstStyle/>
          <a:p>
            <a:r>
              <a:rPr lang="en-US" altLang="zh-CN" dirty="0"/>
              <a:t>5.7.2   TCP </a:t>
            </a:r>
            <a:r>
              <a:rPr lang="zh-CN" altLang="en-US" dirty="0"/>
              <a:t>的传输效率</a:t>
            </a:r>
          </a:p>
        </p:txBody>
      </p:sp>
    </p:spTree>
    <p:extLst>
      <p:ext uri="{BB962C8B-B14F-4D97-AF65-F5344CB8AC3E}">
        <p14:creationId xmlns:p14="http://schemas.microsoft.com/office/powerpoint/2010/main" val="2124124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5999256" y="2287616"/>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3" name="矩形 2"/>
          <p:cNvSpPr/>
          <p:nvPr/>
        </p:nvSpPr>
        <p:spPr>
          <a:xfrm>
            <a:off x="6080084" y="2002886"/>
            <a:ext cx="543739"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数据</a:t>
            </a:r>
          </a:p>
        </p:txBody>
      </p:sp>
      <p:sp>
        <p:nvSpPr>
          <p:cNvPr id="7" name="矩形 6"/>
          <p:cNvSpPr/>
          <p:nvPr/>
        </p:nvSpPr>
        <p:spPr>
          <a:xfrm>
            <a:off x="5999256" y="2770942"/>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8" name="矩形 7"/>
          <p:cNvSpPr/>
          <p:nvPr/>
        </p:nvSpPr>
        <p:spPr>
          <a:xfrm>
            <a:off x="3591337" y="2770942"/>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9" name="矩形 8"/>
          <p:cNvSpPr/>
          <p:nvPr/>
        </p:nvSpPr>
        <p:spPr>
          <a:xfrm>
            <a:off x="5999256" y="3267330"/>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13" name="矩形 12"/>
          <p:cNvSpPr/>
          <p:nvPr/>
        </p:nvSpPr>
        <p:spPr>
          <a:xfrm>
            <a:off x="3591337" y="3267330"/>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4" name="矩形 13"/>
          <p:cNvSpPr/>
          <p:nvPr/>
        </p:nvSpPr>
        <p:spPr>
          <a:xfrm>
            <a:off x="1180012" y="3267330"/>
            <a:ext cx="2411325" cy="339634"/>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5" name="矩形 14"/>
          <p:cNvSpPr/>
          <p:nvPr/>
        </p:nvSpPr>
        <p:spPr>
          <a:xfrm>
            <a:off x="4057342" y="2473361"/>
            <a:ext cx="1479315"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报文段首部</a:t>
            </a:r>
          </a:p>
        </p:txBody>
      </p:sp>
      <p:sp>
        <p:nvSpPr>
          <p:cNvPr id="16" name="矩形 15"/>
          <p:cNvSpPr/>
          <p:nvPr/>
        </p:nvSpPr>
        <p:spPr>
          <a:xfrm>
            <a:off x="1728284" y="2959553"/>
            <a:ext cx="1314782"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a:t>
            </a:r>
          </a:p>
        </p:txBody>
      </p:sp>
      <p:sp>
        <p:nvSpPr>
          <p:cNvPr id="17" name="矩形 16"/>
          <p:cNvSpPr/>
          <p:nvPr/>
        </p:nvSpPr>
        <p:spPr>
          <a:xfrm>
            <a:off x="6758006" y="2786870"/>
            <a:ext cx="1120243"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a:t>
            </a:r>
          </a:p>
        </p:txBody>
      </p:sp>
      <p:sp>
        <p:nvSpPr>
          <p:cNvPr id="18" name="矩形 17"/>
          <p:cNvSpPr/>
          <p:nvPr/>
        </p:nvSpPr>
        <p:spPr>
          <a:xfrm>
            <a:off x="6758006" y="3296321"/>
            <a:ext cx="955711"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a:t>
            </a:r>
          </a:p>
        </p:txBody>
      </p:sp>
      <p:sp>
        <p:nvSpPr>
          <p:cNvPr id="4" name="矩形 3"/>
          <p:cNvSpPr/>
          <p:nvPr/>
        </p:nvSpPr>
        <p:spPr>
          <a:xfrm>
            <a:off x="2408898" y="3770606"/>
            <a:ext cx="4104009" cy="338554"/>
          </a:xfrm>
          <a:prstGeom prst="rect">
            <a:avLst/>
          </a:prstGeom>
        </p:spPr>
        <p:txBody>
          <a:bodyPr wrap="none">
            <a:spAutoFit/>
          </a:bodyPr>
          <a:lstStyle/>
          <a:p>
            <a:r>
              <a:rPr lang="zh-CN" altLang="en-US" sz="1600" b="1" dirty="0">
                <a:latin typeface="微软雅黑" pitchFamily="34" charset="-122"/>
                <a:ea typeface="微软雅黑" pitchFamily="34" charset="-122"/>
              </a:rPr>
              <a:t>此时，有效数据传输效率 </a:t>
            </a:r>
            <a:r>
              <a:rPr lang="en-US" altLang="zh-CN" sz="1600" b="1" dirty="0">
                <a:latin typeface="微软雅黑" pitchFamily="34" charset="-122"/>
                <a:ea typeface="微软雅黑" pitchFamily="34" charset="-122"/>
              </a:rPr>
              <a:t>= 1/41 = 2.44%</a:t>
            </a:r>
            <a:endParaRPr lang="zh-CN" altLang="en-US" sz="1600" dirty="0"/>
          </a:p>
        </p:txBody>
      </p:sp>
      <p:sp>
        <p:nvSpPr>
          <p:cNvPr id="22" name="内容占位符 21">
            <a:extLst>
              <a:ext uri="{FF2B5EF4-FFF2-40B4-BE49-F238E27FC236}">
                <a16:creationId xmlns:a16="http://schemas.microsoft.com/office/drawing/2014/main" id="{9CD8166D-3013-9090-6451-66F2300880E9}"/>
              </a:ext>
            </a:extLst>
          </p:cNvPr>
          <p:cNvSpPr>
            <a:spLocks noGrp="1"/>
          </p:cNvSpPr>
          <p:nvPr>
            <p:ph sz="quarter" idx="11"/>
          </p:nvPr>
        </p:nvSpPr>
        <p:spPr>
          <a:xfrm>
            <a:off x="486000" y="900000"/>
            <a:ext cx="8172000" cy="3703500"/>
          </a:xfrm>
        </p:spPr>
        <p:txBody>
          <a:bodyPr/>
          <a:lstStyle/>
          <a:p>
            <a:r>
              <a:rPr lang="zh-CN" altLang="en-US" dirty="0"/>
              <a:t>糊涂窗口综合症：每次仅发送一个字节或很少几个字节的数据时，有效数据传输效率变得很低的现象。</a:t>
            </a:r>
          </a:p>
          <a:p>
            <a:endParaRPr lang="zh-CN" altLang="en-US" dirty="0"/>
          </a:p>
        </p:txBody>
      </p:sp>
      <p:sp>
        <p:nvSpPr>
          <p:cNvPr id="21" name="标题 20">
            <a:extLst>
              <a:ext uri="{FF2B5EF4-FFF2-40B4-BE49-F238E27FC236}">
                <a16:creationId xmlns:a16="http://schemas.microsoft.com/office/drawing/2014/main" id="{1574EFF6-A430-A70F-ED93-69F7AEFEF900}"/>
              </a:ext>
            </a:extLst>
          </p:cNvPr>
          <p:cNvSpPr>
            <a:spLocks noGrp="1"/>
          </p:cNvSpPr>
          <p:nvPr>
            <p:ph type="title"/>
          </p:nvPr>
        </p:nvSpPr>
        <p:spPr>
          <a:xfrm>
            <a:off x="486000" y="550723"/>
            <a:ext cx="8172000" cy="338554"/>
          </a:xfrm>
        </p:spPr>
        <p:txBody>
          <a:bodyPr/>
          <a:lstStyle/>
          <a:p>
            <a:r>
              <a:rPr lang="zh-CN" altLang="en-US" dirty="0"/>
              <a:t>糊涂窗口综合症</a:t>
            </a:r>
          </a:p>
        </p:txBody>
      </p:sp>
    </p:spTree>
    <p:extLst>
      <p:ext uri="{BB962C8B-B14F-4D97-AF65-F5344CB8AC3E}">
        <p14:creationId xmlns:p14="http://schemas.microsoft.com/office/powerpoint/2010/main" val="3611006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703293" y="2289634"/>
            <a:ext cx="6033247" cy="1900517"/>
            <a:chOff x="1442554" y="1293222"/>
            <a:chExt cx="6186146" cy="2913016"/>
          </a:xfrm>
        </p:grpSpPr>
        <p:sp>
          <p:nvSpPr>
            <p:cNvPr id="7" name="矩形 6"/>
            <p:cNvSpPr/>
            <p:nvPr/>
          </p:nvSpPr>
          <p:spPr>
            <a:xfrm>
              <a:off x="1442554" y="1293222"/>
              <a:ext cx="2592000" cy="418011"/>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发送第 </a:t>
              </a:r>
              <a:r>
                <a:rPr lang="en-US" altLang="zh-CN" sz="1100" b="1" dirty="0">
                  <a:solidFill>
                    <a:schemeClr val="tx1"/>
                  </a:solidFill>
                  <a:latin typeface="微软雅黑" pitchFamily="34" charset="-122"/>
                  <a:ea typeface="微软雅黑" pitchFamily="34" charset="-122"/>
                </a:rPr>
                <a:t>1 </a:t>
              </a:r>
              <a:r>
                <a:rPr lang="zh-CN" altLang="en-US" sz="1100" b="1" dirty="0">
                  <a:solidFill>
                    <a:schemeClr val="tx1"/>
                  </a:solidFill>
                  <a:latin typeface="微软雅黑" pitchFamily="34" charset="-122"/>
                  <a:ea typeface="微软雅黑" pitchFamily="34" charset="-122"/>
                </a:rPr>
                <a:t>个数据字节</a:t>
              </a:r>
            </a:p>
          </p:txBody>
        </p:sp>
        <p:sp>
          <p:nvSpPr>
            <p:cNvPr id="8" name="流程图: 决策 7"/>
            <p:cNvSpPr/>
            <p:nvPr/>
          </p:nvSpPr>
          <p:spPr>
            <a:xfrm>
              <a:off x="1442554" y="2063927"/>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bg1"/>
                  </a:solidFill>
                  <a:latin typeface="微软雅黑" pitchFamily="34" charset="-122"/>
                  <a:ea typeface="微软雅黑" pitchFamily="34" charset="-122"/>
                </a:rPr>
                <a:t>收到确认？</a:t>
              </a:r>
            </a:p>
          </p:txBody>
        </p:sp>
        <p:sp>
          <p:nvSpPr>
            <p:cNvPr id="9" name="矩形 8"/>
            <p:cNvSpPr/>
            <p:nvPr/>
          </p:nvSpPr>
          <p:spPr>
            <a:xfrm>
              <a:off x="1442554"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发送缓存中的所有数据</a:t>
              </a:r>
            </a:p>
          </p:txBody>
        </p:sp>
        <p:sp>
          <p:nvSpPr>
            <p:cNvPr id="13" name="流程图: 决策 12"/>
            <p:cNvSpPr/>
            <p:nvPr/>
          </p:nvSpPr>
          <p:spPr>
            <a:xfrm>
              <a:off x="4532808" y="2063926"/>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zh-CN" altLang="en-US" sz="900" b="1" dirty="0">
                  <a:solidFill>
                    <a:schemeClr val="bg1"/>
                  </a:solidFill>
                  <a:latin typeface="微软雅黑" pitchFamily="34" charset="-122"/>
                  <a:ea typeface="微软雅黑" pitchFamily="34" charset="-122"/>
                </a:rPr>
                <a:t>到达的数据</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已达到发送窗口一半 或 </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已达到报文段的最大长度时？</a:t>
              </a:r>
            </a:p>
          </p:txBody>
        </p:sp>
        <p:sp>
          <p:nvSpPr>
            <p:cNvPr id="14" name="矩形 13"/>
            <p:cNvSpPr/>
            <p:nvPr/>
          </p:nvSpPr>
          <p:spPr>
            <a:xfrm>
              <a:off x="4532808"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立即发送数据</a:t>
              </a:r>
            </a:p>
          </p:txBody>
        </p:sp>
        <p:cxnSp>
          <p:nvCxnSpPr>
            <p:cNvPr id="15" name="直接箭头连接符 14"/>
            <p:cNvCxnSpPr>
              <a:stCxn id="7" idx="2"/>
              <a:endCxn id="8" idx="0"/>
            </p:cNvCxnSpPr>
            <p:nvPr/>
          </p:nvCxnSpPr>
          <p:spPr>
            <a:xfrm>
              <a:off x="2738554" y="1711233"/>
              <a:ext cx="0" cy="35269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8" idx="2"/>
              <a:endCxn id="9" idx="0"/>
            </p:cNvCxnSpPr>
            <p:nvPr/>
          </p:nvCxnSpPr>
          <p:spPr>
            <a:xfrm>
              <a:off x="2738554" y="3148146"/>
              <a:ext cx="0" cy="29844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a:stCxn id="8" idx="3"/>
              <a:endCxn id="13" idx="1"/>
            </p:cNvCxnSpPr>
            <p:nvPr/>
          </p:nvCxnSpPr>
          <p:spPr>
            <a:xfrm flipV="1">
              <a:off x="4034554" y="2606036"/>
              <a:ext cx="498254"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13" idx="2"/>
              <a:endCxn id="14" idx="0"/>
            </p:cNvCxnSpPr>
            <p:nvPr/>
          </p:nvCxnSpPr>
          <p:spPr>
            <a:xfrm>
              <a:off x="5828808" y="3148145"/>
              <a:ext cx="0" cy="29844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9" idx="2"/>
            </p:cNvCxnSpPr>
            <p:nvPr/>
          </p:nvCxnSpPr>
          <p:spPr>
            <a:xfrm>
              <a:off x="2738554"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a:stCxn id="14" idx="2"/>
            </p:cNvCxnSpPr>
            <p:nvPr/>
          </p:nvCxnSpPr>
          <p:spPr>
            <a:xfrm>
              <a:off x="5828808"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744151" y="1887580"/>
              <a:ext cx="4884549" cy="2318658"/>
              <a:chOff x="2744151" y="1952894"/>
              <a:chExt cx="5694455" cy="2462354"/>
            </a:xfrm>
          </p:grpSpPr>
          <p:cxnSp>
            <p:nvCxnSpPr>
              <p:cNvPr id="28" name="直接箭头连接符 27"/>
              <p:cNvCxnSpPr/>
              <p:nvPr/>
            </p:nvCxnSpPr>
            <p:spPr>
              <a:xfrm flipV="1">
                <a:off x="2744151" y="4415247"/>
                <a:ext cx="5681392"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H="1" flipV="1">
                <a:off x="2757214" y="1952894"/>
                <a:ext cx="56813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cxnSp>
          <p:nvCxnSpPr>
            <p:cNvPr id="22" name="直接箭头连接符 21"/>
            <p:cNvCxnSpPr/>
            <p:nvPr/>
          </p:nvCxnSpPr>
          <p:spPr>
            <a:xfrm>
              <a:off x="7628700" y="1887580"/>
              <a:ext cx="0" cy="2318658"/>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flipV="1">
              <a:off x="7124808" y="2606037"/>
              <a:ext cx="5038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4" name="TextBox 44"/>
            <p:cNvSpPr txBox="1"/>
            <p:nvPr/>
          </p:nvSpPr>
          <p:spPr>
            <a:xfrm>
              <a:off x="2381117" y="3103226"/>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5" name="TextBox 45"/>
            <p:cNvSpPr txBox="1"/>
            <p:nvPr/>
          </p:nvSpPr>
          <p:spPr>
            <a:xfrm>
              <a:off x="5471371" y="3103227"/>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6" name="TextBox 46"/>
            <p:cNvSpPr txBox="1"/>
            <p:nvPr/>
          </p:nvSpPr>
          <p:spPr>
            <a:xfrm>
              <a:off x="4037278"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sp>
          <p:nvSpPr>
            <p:cNvPr id="27" name="TextBox 47"/>
            <p:cNvSpPr txBox="1"/>
            <p:nvPr/>
          </p:nvSpPr>
          <p:spPr>
            <a:xfrm>
              <a:off x="7150933"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grpSp>
      <p:sp>
        <p:nvSpPr>
          <p:cNvPr id="31" name="内容占位符 30">
            <a:extLst>
              <a:ext uri="{FF2B5EF4-FFF2-40B4-BE49-F238E27FC236}">
                <a16:creationId xmlns:a16="http://schemas.microsoft.com/office/drawing/2014/main" id="{08D016ED-DE8F-9680-1661-F71F154BCFCA}"/>
              </a:ext>
            </a:extLst>
          </p:cNvPr>
          <p:cNvSpPr>
            <a:spLocks noGrp="1"/>
          </p:cNvSpPr>
          <p:nvPr>
            <p:ph sz="quarter" idx="11"/>
          </p:nvPr>
        </p:nvSpPr>
        <p:spPr>
          <a:xfrm>
            <a:off x="486000" y="900000"/>
            <a:ext cx="8172000" cy="3703500"/>
          </a:xfrm>
        </p:spPr>
        <p:txBody>
          <a:bodyPr/>
          <a:lstStyle/>
          <a:p>
            <a:r>
              <a:rPr lang="zh-CN" altLang="en-US" dirty="0"/>
              <a:t>发送方 </a:t>
            </a:r>
            <a:r>
              <a:rPr lang="en-US" altLang="zh-CN" dirty="0"/>
              <a:t>TCP </a:t>
            </a:r>
            <a:r>
              <a:rPr lang="zh-CN" altLang="en-US" dirty="0"/>
              <a:t>每次接收到一字节的数据后就发送。</a:t>
            </a:r>
          </a:p>
          <a:p>
            <a:r>
              <a:rPr lang="zh-CN" altLang="en-US" dirty="0"/>
              <a:t>发送一个字节需要形成 </a:t>
            </a:r>
            <a:r>
              <a:rPr lang="en-US" altLang="zh-CN" dirty="0"/>
              <a:t>41 </a:t>
            </a:r>
            <a:r>
              <a:rPr lang="zh-CN" altLang="en-US" dirty="0"/>
              <a:t>字节长的 </a:t>
            </a:r>
            <a:r>
              <a:rPr lang="en-US" altLang="zh-CN" dirty="0"/>
              <a:t>IP </a:t>
            </a:r>
            <a:r>
              <a:rPr lang="zh-CN" altLang="en-US" dirty="0"/>
              <a:t>数据报。效率很低。</a:t>
            </a:r>
          </a:p>
          <a:p>
            <a:r>
              <a:rPr lang="zh-CN" altLang="en-US" dirty="0"/>
              <a:t>解决方法：使用 </a:t>
            </a:r>
            <a:r>
              <a:rPr lang="en-US" altLang="zh-CN" dirty="0"/>
              <a:t>Nagle </a:t>
            </a:r>
            <a:r>
              <a:rPr lang="zh-CN" altLang="en-US" dirty="0"/>
              <a:t>算法。</a:t>
            </a:r>
          </a:p>
          <a:p>
            <a:endParaRPr lang="zh-CN" altLang="en-US" dirty="0"/>
          </a:p>
        </p:txBody>
      </p:sp>
      <p:sp>
        <p:nvSpPr>
          <p:cNvPr id="30" name="标题 29">
            <a:extLst>
              <a:ext uri="{FF2B5EF4-FFF2-40B4-BE49-F238E27FC236}">
                <a16:creationId xmlns:a16="http://schemas.microsoft.com/office/drawing/2014/main" id="{39EF4EF3-C1BA-5D92-EABA-FA24FAACDE51}"/>
              </a:ext>
            </a:extLst>
          </p:cNvPr>
          <p:cNvSpPr>
            <a:spLocks noGrp="1"/>
          </p:cNvSpPr>
          <p:nvPr>
            <p:ph type="title"/>
          </p:nvPr>
        </p:nvSpPr>
        <p:spPr>
          <a:xfrm>
            <a:off x="486000" y="550723"/>
            <a:ext cx="8172000" cy="338554"/>
          </a:xfrm>
        </p:spPr>
        <p:txBody>
          <a:bodyPr/>
          <a:lstStyle/>
          <a:p>
            <a:r>
              <a:rPr lang="zh-CN" altLang="en-US" dirty="0"/>
              <a:t>发送方糊涂窗口综合症</a:t>
            </a:r>
          </a:p>
        </p:txBody>
      </p:sp>
    </p:spTree>
    <p:extLst>
      <p:ext uri="{BB962C8B-B14F-4D97-AF65-F5344CB8AC3E}">
        <p14:creationId xmlns:p14="http://schemas.microsoft.com/office/powerpoint/2010/main" val="3324824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Line 4"/>
          <p:cNvSpPr>
            <a:spLocks noChangeShapeType="1"/>
          </p:cNvSpPr>
          <p:nvPr/>
        </p:nvSpPr>
        <p:spPr bwMode="auto">
          <a:xfrm>
            <a:off x="4175828"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95644" y="2658984"/>
            <a:ext cx="2480184" cy="243656"/>
            <a:chOff x="1695644" y="2200317"/>
            <a:chExt cx="2480184" cy="243656"/>
          </a:xfrm>
        </p:grpSpPr>
        <p:sp>
          <p:nvSpPr>
            <p:cNvPr id="12"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601, DATA</a:t>
              </a:r>
            </a:p>
          </p:txBody>
        </p:sp>
      </p:grpSp>
      <p:grpSp>
        <p:nvGrpSpPr>
          <p:cNvPr id="46" name="组合 45"/>
          <p:cNvGrpSpPr/>
          <p:nvPr/>
        </p:nvGrpSpPr>
        <p:grpSpPr>
          <a:xfrm>
            <a:off x="1685307" y="1806415"/>
            <a:ext cx="2490520" cy="243656"/>
            <a:chOff x="1685307" y="3878203"/>
            <a:chExt cx="2490520" cy="243656"/>
          </a:xfrm>
        </p:grpSpPr>
        <p:sp>
          <p:nvSpPr>
            <p:cNvPr id="28"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0</a:t>
              </a:r>
            </a:p>
          </p:txBody>
        </p:sp>
      </p:grpSp>
      <p:sp>
        <p:nvSpPr>
          <p:cNvPr id="32" name="Rectangle 25"/>
          <p:cNvSpPr>
            <a:spLocks noChangeArrowheads="1"/>
          </p:cNvSpPr>
          <p:nvPr/>
        </p:nvSpPr>
        <p:spPr bwMode="auto">
          <a:xfrm>
            <a:off x="1579145" y="1662980"/>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3" name="Rectangle 26"/>
          <p:cNvSpPr>
            <a:spLocks noChangeArrowheads="1"/>
          </p:cNvSpPr>
          <p:nvPr/>
        </p:nvSpPr>
        <p:spPr bwMode="auto">
          <a:xfrm>
            <a:off x="4064966" y="1662980"/>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4" name="Rectangle 27"/>
          <p:cNvSpPr>
            <a:spLocks noChangeArrowheads="1"/>
          </p:cNvSpPr>
          <p:nvPr/>
        </p:nvSpPr>
        <p:spPr bwMode="auto">
          <a:xfrm>
            <a:off x="4235218" y="24322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sp>
        <p:nvSpPr>
          <p:cNvPr id="42" name="Rectangle 35"/>
          <p:cNvSpPr>
            <a:spLocks noChangeArrowheads="1"/>
          </p:cNvSpPr>
          <p:nvPr/>
        </p:nvSpPr>
        <p:spPr bwMode="auto">
          <a:xfrm>
            <a:off x="4235218" y="1896713"/>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不允许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再发送（到序号 </a:t>
            </a:r>
            <a:r>
              <a:rPr kumimoji="1" lang="en-US" altLang="zh-CN" sz="1100" b="1" dirty="0">
                <a:latin typeface="微软雅黑" pitchFamily="34" charset="-122"/>
                <a:ea typeface="微软雅黑" pitchFamily="34" charset="-122"/>
              </a:rPr>
              <a:t>600 </a:t>
            </a:r>
            <a:r>
              <a:rPr kumimoji="1" lang="zh-CN" altLang="en-US" sz="1100" b="1" dirty="0">
                <a:latin typeface="微软雅黑" pitchFamily="34" charset="-122"/>
                <a:ea typeface="微软雅黑" pitchFamily="34" charset="-122"/>
              </a:rPr>
              <a:t>为止的数据都收到了）</a:t>
            </a:r>
          </a:p>
        </p:txBody>
      </p:sp>
      <p:sp>
        <p:nvSpPr>
          <p:cNvPr id="45" name="Line 38"/>
          <p:cNvSpPr>
            <a:spLocks noChangeShapeType="1"/>
          </p:cNvSpPr>
          <p:nvPr/>
        </p:nvSpPr>
        <p:spPr bwMode="auto">
          <a:xfrm>
            <a:off x="1676853"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7" name="Rectangle 35"/>
          <p:cNvSpPr>
            <a:spLocks noChangeArrowheads="1"/>
          </p:cNvSpPr>
          <p:nvPr/>
        </p:nvSpPr>
        <p:spPr bwMode="auto">
          <a:xfrm>
            <a:off x="4235218" y="2155758"/>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48" name="组合 47"/>
          <p:cNvGrpSpPr/>
          <p:nvPr/>
        </p:nvGrpSpPr>
        <p:grpSpPr>
          <a:xfrm>
            <a:off x="1685307" y="2358588"/>
            <a:ext cx="2490520" cy="243656"/>
            <a:chOff x="1685307" y="3878203"/>
            <a:chExt cx="2490520" cy="243656"/>
          </a:xfrm>
        </p:grpSpPr>
        <p:sp>
          <p:nvSpPr>
            <p:cNvPr id="49"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50"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52" name="Rectangle 29"/>
          <p:cNvSpPr>
            <a:spLocks noChangeArrowheads="1"/>
          </p:cNvSpPr>
          <p:nvPr/>
        </p:nvSpPr>
        <p:spPr bwMode="auto">
          <a:xfrm>
            <a:off x="4235218" y="27409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字节，不能再发送了</a:t>
            </a:r>
          </a:p>
        </p:txBody>
      </p:sp>
      <p:sp>
        <p:nvSpPr>
          <p:cNvPr id="67" name="Rectangle 35"/>
          <p:cNvSpPr>
            <a:spLocks noChangeArrowheads="1"/>
          </p:cNvSpPr>
          <p:nvPr/>
        </p:nvSpPr>
        <p:spPr bwMode="auto">
          <a:xfrm>
            <a:off x="4235218" y="3046209"/>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68" name="组合 67"/>
          <p:cNvGrpSpPr/>
          <p:nvPr/>
        </p:nvGrpSpPr>
        <p:grpSpPr>
          <a:xfrm>
            <a:off x="1695644" y="3563784"/>
            <a:ext cx="2480184" cy="243656"/>
            <a:chOff x="1695644" y="2200317"/>
            <a:chExt cx="2480184" cy="243656"/>
          </a:xfrm>
        </p:grpSpPr>
        <p:sp>
          <p:nvSpPr>
            <p:cNvPr id="69"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0"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602, DATA</a:t>
              </a:r>
            </a:p>
          </p:txBody>
        </p:sp>
      </p:grpSp>
      <p:sp>
        <p:nvSpPr>
          <p:cNvPr id="71" name="Rectangle 27"/>
          <p:cNvSpPr>
            <a:spLocks noChangeArrowheads="1"/>
          </p:cNvSpPr>
          <p:nvPr/>
        </p:nvSpPr>
        <p:spPr bwMode="auto">
          <a:xfrm>
            <a:off x="4235218" y="33370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grpSp>
        <p:nvGrpSpPr>
          <p:cNvPr id="72" name="组合 71"/>
          <p:cNvGrpSpPr/>
          <p:nvPr/>
        </p:nvGrpSpPr>
        <p:grpSpPr>
          <a:xfrm>
            <a:off x="1685307" y="3263388"/>
            <a:ext cx="2490520" cy="243656"/>
            <a:chOff x="1685307" y="3878203"/>
            <a:chExt cx="2490520" cy="243656"/>
          </a:xfrm>
        </p:grpSpPr>
        <p:sp>
          <p:nvSpPr>
            <p:cNvPr id="73"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4"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602,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75" name="Rectangle 29"/>
          <p:cNvSpPr>
            <a:spLocks noChangeArrowheads="1"/>
          </p:cNvSpPr>
          <p:nvPr/>
        </p:nvSpPr>
        <p:spPr bwMode="auto">
          <a:xfrm>
            <a:off x="4235218" y="36457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字节，不能再发送了</a:t>
            </a:r>
          </a:p>
        </p:txBody>
      </p:sp>
      <p:sp>
        <p:nvSpPr>
          <p:cNvPr id="4" name="内容占位符 3">
            <a:extLst>
              <a:ext uri="{FF2B5EF4-FFF2-40B4-BE49-F238E27FC236}">
                <a16:creationId xmlns:a16="http://schemas.microsoft.com/office/drawing/2014/main" id="{0A1F291F-8833-84C8-A1C6-3EA2DFED59F0}"/>
              </a:ext>
            </a:extLst>
          </p:cNvPr>
          <p:cNvSpPr>
            <a:spLocks noGrp="1"/>
          </p:cNvSpPr>
          <p:nvPr>
            <p:ph sz="quarter" idx="11"/>
          </p:nvPr>
        </p:nvSpPr>
        <p:spPr>
          <a:xfrm>
            <a:off x="486000" y="900000"/>
            <a:ext cx="8172000" cy="3703500"/>
          </a:xfrm>
        </p:spPr>
        <p:txBody>
          <a:bodyPr/>
          <a:lstStyle/>
          <a:p>
            <a:r>
              <a:rPr lang="zh-CN" altLang="en-US" dirty="0"/>
              <a:t>原因：接收方应用进程消耗数据太慢，例如：每次只读取一个字节。</a:t>
            </a:r>
          </a:p>
          <a:p>
            <a:endParaRPr lang="zh-CN" altLang="en-US" dirty="0"/>
          </a:p>
        </p:txBody>
      </p:sp>
      <p:sp>
        <p:nvSpPr>
          <p:cNvPr id="10" name="标题 9">
            <a:extLst>
              <a:ext uri="{FF2B5EF4-FFF2-40B4-BE49-F238E27FC236}">
                <a16:creationId xmlns:a16="http://schemas.microsoft.com/office/drawing/2014/main" id="{93BEBC3B-D019-71F9-178C-1B29F5316DA7}"/>
              </a:ext>
            </a:extLst>
          </p:cNvPr>
          <p:cNvSpPr>
            <a:spLocks noGrp="1"/>
          </p:cNvSpPr>
          <p:nvPr>
            <p:ph type="title"/>
          </p:nvPr>
        </p:nvSpPr>
        <p:spPr>
          <a:xfrm>
            <a:off x="486000" y="550723"/>
            <a:ext cx="8172000" cy="338554"/>
          </a:xfrm>
        </p:spPr>
        <p:txBody>
          <a:bodyPr/>
          <a:lstStyle/>
          <a:p>
            <a:r>
              <a:rPr lang="zh-CN" altLang="en-US" dirty="0"/>
              <a:t>接收方糊涂窗口综合症</a:t>
            </a:r>
          </a:p>
        </p:txBody>
      </p:sp>
    </p:spTree>
    <p:extLst>
      <p:ext uri="{BB962C8B-B14F-4D97-AF65-F5344CB8AC3E}">
        <p14:creationId xmlns:p14="http://schemas.microsoft.com/office/powerpoint/2010/main" val="158837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right)">
                                      <p:cBhvr>
                                        <p:cTn id="7" dur="2000"/>
                                        <p:tgtEl>
                                          <p:spTgt spid="46"/>
                                        </p:tgtEl>
                                      </p:cBhvr>
                                    </p:animEffect>
                                  </p:childTnLst>
                                </p:cTn>
                              </p:par>
                            </p:childTnLst>
                          </p:cTn>
                        </p:par>
                        <p:par>
                          <p:cTn id="8" fill="hold">
                            <p:stCondLst>
                              <p:cond delay="2000"/>
                            </p:stCondLst>
                            <p:childTnLst>
                              <p:par>
                                <p:cTn id="9" presetID="22" presetClass="entr" presetSubtype="1" fill="hold" grpId="0" nodeType="afterEffect">
                                  <p:stCondLst>
                                    <p:cond delay="0"/>
                                  </p:stCondLst>
                                  <p:childTnLst>
                                    <p:set>
                                      <p:cBhvr>
                                        <p:cTn id="10" dur="1" fill="hold">
                                          <p:stCondLst>
                                            <p:cond delay="0"/>
                                          </p:stCondLst>
                                        </p:cTn>
                                        <p:tgtEl>
                                          <p:spTgt spid="42"/>
                                        </p:tgtEl>
                                        <p:attrNameLst>
                                          <p:attrName>style.visibility</p:attrName>
                                        </p:attrNameLst>
                                      </p:cBhvr>
                                      <p:to>
                                        <p:strVal val="visible"/>
                                      </p:to>
                                    </p:set>
                                    <p:animEffect transition="in" filter="wipe(up)">
                                      <p:cBhvr>
                                        <p:cTn id="11" dur="1000"/>
                                        <p:tgtEl>
                                          <p:spTgt spid="42"/>
                                        </p:tgtEl>
                                      </p:cBhvr>
                                    </p:animEffect>
                                  </p:childTnLst>
                                </p:cTn>
                              </p:par>
                            </p:childTnLst>
                          </p:cTn>
                        </p:par>
                        <p:par>
                          <p:cTn id="12" fill="hold">
                            <p:stCondLst>
                              <p:cond delay="3000"/>
                            </p:stCondLst>
                            <p:childTnLst>
                              <p:par>
                                <p:cTn id="13" presetID="1" presetClass="entr" presetSubtype="0" fill="hold" grpId="0" nodeType="after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35" presetClass="emph" presetSubtype="0" repeatCount="3000" fill="hold" grpId="1" nodeType="withEffect">
                                  <p:stCondLst>
                                    <p:cond delay="0"/>
                                  </p:stCondLst>
                                  <p:childTnLst>
                                    <p:anim calcmode="discrete" valueType="str">
                                      <p:cBhvr>
                                        <p:cTn id="16"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7" fill="hold">
                            <p:stCondLst>
                              <p:cond delay="6000"/>
                            </p:stCondLst>
                            <p:childTnLst>
                              <p:par>
                                <p:cTn id="18" presetID="22" presetClass="entr" presetSubtype="2" fill="hold" nodeType="after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wipe(right)">
                                      <p:cBhvr>
                                        <p:cTn id="20" dur="2000"/>
                                        <p:tgtEl>
                                          <p:spTgt spid="48"/>
                                        </p:tgtEl>
                                      </p:cBhvr>
                                    </p:animEffect>
                                  </p:childTnLst>
                                </p:cTn>
                              </p:par>
                            </p:childTnLst>
                          </p:cTn>
                        </p:par>
                        <p:par>
                          <p:cTn id="21" fill="hold">
                            <p:stCondLst>
                              <p:cond delay="8000"/>
                            </p:stCondLst>
                            <p:childTnLst>
                              <p:par>
                                <p:cTn id="22" presetID="22" presetClass="entr" presetSubtype="1"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wipe(up)">
                                      <p:cBhvr>
                                        <p:cTn id="24" dur="2000"/>
                                        <p:tgtEl>
                                          <p:spTgt spid="34"/>
                                        </p:tgtEl>
                                      </p:cBhvr>
                                    </p:animEffect>
                                  </p:childTnLst>
                                </p:cTn>
                              </p:par>
                            </p:childTnLst>
                          </p:cTn>
                        </p:par>
                        <p:par>
                          <p:cTn id="25" fill="hold">
                            <p:stCondLst>
                              <p:cond delay="10000"/>
                            </p:stCondLst>
                            <p:childTnLst>
                              <p:par>
                                <p:cTn id="26" presetID="22" presetClass="entr" presetSubtype="8" fill="hold" nodeType="after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wipe(left)">
                                      <p:cBhvr>
                                        <p:cTn id="28" dur="2000"/>
                                        <p:tgtEl>
                                          <p:spTgt spid="2"/>
                                        </p:tgtEl>
                                      </p:cBhvr>
                                    </p:animEffect>
                                  </p:childTnLst>
                                </p:cTn>
                              </p:par>
                            </p:childTnLst>
                          </p:cTn>
                        </p:par>
                        <p:par>
                          <p:cTn id="29" fill="hold">
                            <p:stCondLst>
                              <p:cond delay="12000"/>
                            </p:stCondLst>
                            <p:childTnLst>
                              <p:par>
                                <p:cTn id="30" presetID="22" presetClass="entr" presetSubtype="8" fill="hold" grpId="0" nodeType="after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wipe(left)">
                                      <p:cBhvr>
                                        <p:cTn id="32" dur="2000"/>
                                        <p:tgtEl>
                                          <p:spTgt spid="52"/>
                                        </p:tgtEl>
                                      </p:cBhvr>
                                    </p:animEffect>
                                  </p:childTnLst>
                                </p:cTn>
                              </p:par>
                            </p:childTnLst>
                          </p:cTn>
                        </p:par>
                        <p:par>
                          <p:cTn id="33" fill="hold">
                            <p:stCondLst>
                              <p:cond delay="14000"/>
                            </p:stCondLst>
                            <p:childTnLst>
                              <p:par>
                                <p:cTn id="34" presetID="1" presetClass="entr" presetSubtype="0" fill="hold" grpId="0" nodeType="afterEffect">
                                  <p:stCondLst>
                                    <p:cond delay="1000"/>
                                  </p:stCondLst>
                                  <p:childTnLst>
                                    <p:set>
                                      <p:cBhvr>
                                        <p:cTn id="35" dur="1" fill="hold">
                                          <p:stCondLst>
                                            <p:cond delay="0"/>
                                          </p:stCondLst>
                                        </p:cTn>
                                        <p:tgtEl>
                                          <p:spTgt spid="67"/>
                                        </p:tgtEl>
                                        <p:attrNameLst>
                                          <p:attrName>style.visibility</p:attrName>
                                        </p:attrNameLst>
                                      </p:cBhvr>
                                      <p:to>
                                        <p:strVal val="visible"/>
                                      </p:to>
                                    </p:set>
                                  </p:childTnLst>
                                </p:cTn>
                              </p:par>
                              <p:par>
                                <p:cTn id="36" presetID="35" presetClass="emph" presetSubtype="0" repeatCount="3000" fill="hold" grpId="1" nodeType="withEffect">
                                  <p:stCondLst>
                                    <p:cond delay="1000"/>
                                  </p:stCondLst>
                                  <p:childTnLst>
                                    <p:anim calcmode="discrete" valueType="str">
                                      <p:cBhvr>
                                        <p:cTn id="37"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38" fill="hold">
                            <p:stCondLst>
                              <p:cond delay="18000"/>
                            </p:stCondLst>
                            <p:childTnLst>
                              <p:par>
                                <p:cTn id="39" presetID="22" presetClass="entr" presetSubtype="2" fill="hold" nodeType="after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wipe(right)">
                                      <p:cBhvr>
                                        <p:cTn id="41" dur="2000"/>
                                        <p:tgtEl>
                                          <p:spTgt spid="72"/>
                                        </p:tgtEl>
                                      </p:cBhvr>
                                    </p:animEffect>
                                  </p:childTnLst>
                                </p:cTn>
                              </p:par>
                            </p:childTnLst>
                          </p:cTn>
                        </p:par>
                        <p:par>
                          <p:cTn id="42" fill="hold">
                            <p:stCondLst>
                              <p:cond delay="20000"/>
                            </p:stCondLst>
                            <p:childTnLst>
                              <p:par>
                                <p:cTn id="43" presetID="22" presetClass="entr" presetSubtype="1" fill="hold" grpId="0" nodeType="afterEffect">
                                  <p:stCondLst>
                                    <p:cond delay="0"/>
                                  </p:stCondLst>
                                  <p:childTnLst>
                                    <p:set>
                                      <p:cBhvr>
                                        <p:cTn id="44" dur="1" fill="hold">
                                          <p:stCondLst>
                                            <p:cond delay="0"/>
                                          </p:stCondLst>
                                        </p:cTn>
                                        <p:tgtEl>
                                          <p:spTgt spid="71"/>
                                        </p:tgtEl>
                                        <p:attrNameLst>
                                          <p:attrName>style.visibility</p:attrName>
                                        </p:attrNameLst>
                                      </p:cBhvr>
                                      <p:to>
                                        <p:strVal val="visible"/>
                                      </p:to>
                                    </p:set>
                                    <p:animEffect transition="in" filter="wipe(up)">
                                      <p:cBhvr>
                                        <p:cTn id="45" dur="2000"/>
                                        <p:tgtEl>
                                          <p:spTgt spid="71"/>
                                        </p:tgtEl>
                                      </p:cBhvr>
                                    </p:animEffect>
                                  </p:childTnLst>
                                </p:cTn>
                              </p:par>
                            </p:childTnLst>
                          </p:cTn>
                        </p:par>
                        <p:par>
                          <p:cTn id="46" fill="hold">
                            <p:stCondLst>
                              <p:cond delay="22000"/>
                            </p:stCondLst>
                            <p:childTnLst>
                              <p:par>
                                <p:cTn id="47" presetID="22" presetClass="entr" presetSubtype="8" fill="hold" nodeType="afterEffect">
                                  <p:stCondLst>
                                    <p:cond delay="0"/>
                                  </p:stCondLst>
                                  <p:childTnLst>
                                    <p:set>
                                      <p:cBhvr>
                                        <p:cTn id="48" dur="1" fill="hold">
                                          <p:stCondLst>
                                            <p:cond delay="0"/>
                                          </p:stCondLst>
                                        </p:cTn>
                                        <p:tgtEl>
                                          <p:spTgt spid="68"/>
                                        </p:tgtEl>
                                        <p:attrNameLst>
                                          <p:attrName>style.visibility</p:attrName>
                                        </p:attrNameLst>
                                      </p:cBhvr>
                                      <p:to>
                                        <p:strVal val="visible"/>
                                      </p:to>
                                    </p:set>
                                    <p:animEffect transition="in" filter="wipe(left)">
                                      <p:cBhvr>
                                        <p:cTn id="49" dur="2000"/>
                                        <p:tgtEl>
                                          <p:spTgt spid="68"/>
                                        </p:tgtEl>
                                      </p:cBhvr>
                                    </p:animEffect>
                                  </p:childTnLst>
                                </p:cTn>
                              </p:par>
                            </p:childTnLst>
                          </p:cTn>
                        </p:par>
                        <p:par>
                          <p:cTn id="50" fill="hold">
                            <p:stCondLst>
                              <p:cond delay="24000"/>
                            </p:stCondLst>
                            <p:childTnLst>
                              <p:par>
                                <p:cTn id="51" presetID="22" presetClass="entr" presetSubtype="8" fill="hold" grpId="0" nodeType="after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wipe(left)">
                                      <p:cBhvr>
                                        <p:cTn id="53" dur="20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2" grpId="0"/>
      <p:bldP spid="47" grpId="0"/>
      <p:bldP spid="47" grpId="1"/>
      <p:bldP spid="52" grpId="0"/>
      <p:bldP spid="67" grpId="0"/>
      <p:bldP spid="67" grpId="1"/>
      <p:bldP spid="71" grpId="0"/>
      <p:bldP spid="75" grpId="0"/>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内容占位符 11">
            <a:extLst>
              <a:ext uri="{FF2B5EF4-FFF2-40B4-BE49-F238E27FC236}">
                <a16:creationId xmlns:a16="http://schemas.microsoft.com/office/drawing/2014/main" id="{4DAE0A53-3105-3315-CFC4-FFCBE40AF98C}"/>
              </a:ext>
            </a:extLst>
          </p:cNvPr>
          <p:cNvSpPr>
            <a:spLocks noGrp="1"/>
          </p:cNvSpPr>
          <p:nvPr>
            <p:ph sz="quarter" idx="11"/>
          </p:nvPr>
        </p:nvSpPr>
        <p:spPr>
          <a:xfrm>
            <a:off x="486000" y="900000"/>
            <a:ext cx="8172000" cy="3703500"/>
          </a:xfrm>
        </p:spPr>
        <p:txBody>
          <a:bodyPr/>
          <a:lstStyle/>
          <a:p>
            <a:r>
              <a:rPr lang="zh-CN" altLang="en-US" dirty="0"/>
              <a:t>解决方法：让接收方等待一段时间，使得或者接收缓存已有足够空间容纳一个最长的报文段，或者等到接收缓存已有一半空闲的空间。只要出现这两种情况之一，接收方就发出确认报文，并向发送方通知当前的窗口大小。</a:t>
            </a:r>
          </a:p>
          <a:p>
            <a:r>
              <a:rPr lang="zh-CN" altLang="en-US" dirty="0"/>
              <a:t>上述两种方法可配合使用，使得在发送方不发送很小的报文段的同时，接收方也不要在缓存刚刚有了一点小的空间就急忙把这个很小的窗口大小信息通知给发送方。</a:t>
            </a:r>
          </a:p>
          <a:p>
            <a:endParaRPr lang="zh-CN" altLang="en-US" dirty="0"/>
          </a:p>
        </p:txBody>
      </p:sp>
      <p:sp>
        <p:nvSpPr>
          <p:cNvPr id="11" name="标题 10">
            <a:extLst>
              <a:ext uri="{FF2B5EF4-FFF2-40B4-BE49-F238E27FC236}">
                <a16:creationId xmlns:a16="http://schemas.microsoft.com/office/drawing/2014/main" id="{EDB2E80C-A62C-4799-4481-4D408EE32163}"/>
              </a:ext>
            </a:extLst>
          </p:cNvPr>
          <p:cNvSpPr>
            <a:spLocks noGrp="1"/>
          </p:cNvSpPr>
          <p:nvPr>
            <p:ph type="title"/>
          </p:nvPr>
        </p:nvSpPr>
        <p:spPr>
          <a:xfrm>
            <a:off x="486000" y="550723"/>
            <a:ext cx="8172000" cy="338554"/>
          </a:xfrm>
        </p:spPr>
        <p:txBody>
          <a:bodyPr/>
          <a:lstStyle/>
          <a:p>
            <a:r>
              <a:rPr lang="zh-CN" altLang="en-US" dirty="0"/>
              <a:t>接收方糊涂窗口综合症</a:t>
            </a:r>
          </a:p>
        </p:txBody>
      </p:sp>
    </p:spTree>
    <p:extLst>
      <p:ext uri="{BB962C8B-B14F-4D97-AF65-F5344CB8AC3E}">
        <p14:creationId xmlns:p14="http://schemas.microsoft.com/office/powerpoint/2010/main" val="4133646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263627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43396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204039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36252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179966"/>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5.8.1                                 </a:t>
            </a:r>
            <a:r>
              <a:rPr lang="zh-CN" altLang="en-US" sz="2000" b="1" dirty="0">
                <a:solidFill>
                  <a:schemeClr val="bg1"/>
                </a:solidFill>
                <a:latin typeface="微软雅黑" pitchFamily="34" charset="-122"/>
                <a:ea typeface="微软雅黑" pitchFamily="34" charset="-122"/>
              </a:rPr>
              <a:t>拥塞控制的一般原理</a:t>
            </a:r>
          </a:p>
          <a:p>
            <a:pPr eaLnBrk="0" hangingPunct="0">
              <a:lnSpc>
                <a:spcPct val="200000"/>
              </a:lnSpc>
            </a:pPr>
            <a:r>
              <a:rPr lang="en-US" altLang="zh-CN" sz="2000" b="1" dirty="0">
                <a:solidFill>
                  <a:schemeClr val="bg1"/>
                </a:solidFill>
                <a:latin typeface="微软雅黑" pitchFamily="34" charset="-122"/>
                <a:ea typeface="微软雅黑" pitchFamily="34" charset="-122"/>
              </a:rPr>
              <a:t>5.8.2                                TCP </a:t>
            </a:r>
            <a:r>
              <a:rPr lang="zh-CN" altLang="en-US" sz="2000" b="1" dirty="0">
                <a:solidFill>
                  <a:schemeClr val="bg1"/>
                </a:solidFill>
                <a:latin typeface="微软雅黑" pitchFamily="34" charset="-122"/>
                <a:ea typeface="微软雅黑" pitchFamily="34" charset="-122"/>
              </a:rPr>
              <a:t>的拥塞控制方法</a:t>
            </a:r>
          </a:p>
          <a:p>
            <a:pPr eaLnBrk="0" hangingPunct="0">
              <a:lnSpc>
                <a:spcPct val="200000"/>
              </a:lnSpc>
            </a:pPr>
            <a:r>
              <a:rPr lang="en-US" altLang="zh-CN" sz="2000" b="1" dirty="0">
                <a:solidFill>
                  <a:schemeClr val="bg1"/>
                </a:solidFill>
                <a:latin typeface="微软雅黑" pitchFamily="34" charset="-122"/>
                <a:ea typeface="微软雅黑" pitchFamily="34" charset="-122"/>
              </a:rPr>
              <a:t>5.8.3                                 </a:t>
            </a:r>
            <a:r>
              <a:rPr lang="zh-CN" altLang="en-US" sz="2000" b="1" dirty="0">
                <a:solidFill>
                  <a:schemeClr val="bg1"/>
                </a:solidFill>
                <a:latin typeface="微软雅黑" pitchFamily="34" charset="-122"/>
                <a:ea typeface="微软雅黑" pitchFamily="34" charset="-122"/>
              </a:rPr>
              <a:t>主动队列管理 </a:t>
            </a:r>
            <a:r>
              <a:rPr lang="en-US" altLang="zh-CN" sz="2000" b="1" dirty="0">
                <a:solidFill>
                  <a:schemeClr val="bg1"/>
                </a:solidFill>
                <a:latin typeface="微软雅黑" pitchFamily="34" charset="-122"/>
                <a:ea typeface="微软雅黑" pitchFamily="34" charset="-122"/>
              </a:rPr>
              <a:t>AQM</a:t>
            </a:r>
          </a:p>
        </p:txBody>
      </p:sp>
      <p:sp>
        <p:nvSpPr>
          <p:cNvPr id="10" name="Rectangle 27"/>
          <p:cNvSpPr>
            <a:spLocks noChangeArrowheads="1"/>
          </p:cNvSpPr>
          <p:nvPr/>
        </p:nvSpPr>
        <p:spPr bwMode="auto">
          <a:xfrm>
            <a:off x="639730" y="143396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52889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5.8</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的拥塞控制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29508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a:spLocks noChangeArrowheads="1"/>
          </p:cNvSpPr>
          <p:nvPr/>
        </p:nvSpPr>
        <p:spPr bwMode="auto">
          <a:xfrm>
            <a:off x="6798893" y="1586270"/>
            <a:ext cx="484747" cy="2317428"/>
          </a:xfrm>
          <a:prstGeom prst="rect">
            <a:avLst/>
          </a:prstGeom>
          <a:solidFill>
            <a:srgbClr val="00FFFF"/>
          </a:solidFill>
          <a:ln>
            <a:noFill/>
          </a:ln>
          <a:effectLst/>
          <a:extLs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endParaRPr lang="zh-CN" altLang="en-US" sz="1200" b="1">
              <a:latin typeface="微软雅黑" pitchFamily="34" charset="-122"/>
              <a:ea typeface="微软雅黑" pitchFamily="34" charset="-122"/>
            </a:endParaRPr>
          </a:p>
        </p:txBody>
      </p:sp>
      <p:grpSp>
        <p:nvGrpSpPr>
          <p:cNvPr id="3" name="组合 2"/>
          <p:cNvGrpSpPr/>
          <p:nvPr/>
        </p:nvGrpSpPr>
        <p:grpSpPr>
          <a:xfrm>
            <a:off x="5018115" y="1419034"/>
            <a:ext cx="3122419" cy="2737100"/>
            <a:chOff x="4857857" y="1639611"/>
            <a:chExt cx="3122419" cy="2737100"/>
          </a:xfrm>
        </p:grpSpPr>
        <p:sp>
          <p:nvSpPr>
            <p:cNvPr id="10" name="Line 5"/>
            <p:cNvSpPr>
              <a:spLocks noChangeShapeType="1"/>
            </p:cNvSpPr>
            <p:nvPr/>
          </p:nvSpPr>
          <p:spPr bwMode="auto">
            <a:xfrm flipH="1" flipV="1">
              <a:off x="5130534" y="1722576"/>
              <a:ext cx="0" cy="1053377"/>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1" name="Line 6"/>
            <p:cNvSpPr>
              <a:spLocks noChangeShapeType="1"/>
            </p:cNvSpPr>
            <p:nvPr/>
          </p:nvSpPr>
          <p:spPr bwMode="auto">
            <a:xfrm>
              <a:off x="5130534" y="2775953"/>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2" name="Freeform 7"/>
            <p:cNvSpPr>
              <a:spLocks/>
            </p:cNvSpPr>
            <p:nvPr/>
          </p:nvSpPr>
          <p:spPr bwMode="auto">
            <a:xfrm>
              <a:off x="5130534" y="1806847"/>
              <a:ext cx="1777405" cy="979640"/>
            </a:xfrm>
            <a:custGeom>
              <a:avLst/>
              <a:gdLst>
                <a:gd name="T0" fmla="*/ 0 w 1584"/>
                <a:gd name="T1" fmla="*/ 2147483647 h 1212"/>
                <a:gd name="T2" fmla="*/ 0 w 1584"/>
                <a:gd name="T3" fmla="*/ 2147483647 h 1212"/>
                <a:gd name="T4" fmla="*/ 2147483647 w 1584"/>
                <a:gd name="T5" fmla="*/ 2147483647 h 1212"/>
                <a:gd name="T6" fmla="*/ 2147483647 w 1584"/>
                <a:gd name="T7" fmla="*/ 2147483647 h 1212"/>
                <a:gd name="T8" fmla="*/ 2147483647 w 1584"/>
                <a:gd name="T9" fmla="*/ 2147483647 h 1212"/>
                <a:gd name="T10" fmla="*/ 2147483647 w 1584"/>
                <a:gd name="T11" fmla="*/ 2147483647 h 1212"/>
                <a:gd name="T12" fmla="*/ 2147483647 w 1584"/>
                <a:gd name="T13" fmla="*/ 0 h 1212"/>
                <a:gd name="T14" fmla="*/ 2147483647 w 1584"/>
                <a:gd name="T15" fmla="*/ 0 h 1212"/>
                <a:gd name="T16" fmla="*/ 2147483647 w 1584"/>
                <a:gd name="T17" fmla="*/ 2147483647 h 1212"/>
                <a:gd name="T18" fmla="*/ 2147483647 w 1584"/>
                <a:gd name="T19" fmla="*/ 2147483647 h 1212"/>
                <a:gd name="T20" fmla="*/ 2147483647 w 1584"/>
                <a:gd name="T21" fmla="*/ 2147483647 h 1212"/>
                <a:gd name="T22" fmla="*/ 2147483647 w 1584"/>
                <a:gd name="T23" fmla="*/ 2147483647 h 121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584" h="1212">
                  <a:moveTo>
                    <a:pt x="0" y="1212"/>
                  </a:moveTo>
                  <a:cubicBezTo>
                    <a:pt x="0" y="1198"/>
                    <a:pt x="0" y="1184"/>
                    <a:pt x="0" y="1170"/>
                  </a:cubicBezTo>
                  <a:lnTo>
                    <a:pt x="96" y="768"/>
                  </a:lnTo>
                  <a:lnTo>
                    <a:pt x="240" y="480"/>
                  </a:lnTo>
                  <a:lnTo>
                    <a:pt x="480" y="192"/>
                  </a:lnTo>
                  <a:lnTo>
                    <a:pt x="816" y="48"/>
                  </a:lnTo>
                  <a:lnTo>
                    <a:pt x="1104" y="0"/>
                  </a:lnTo>
                  <a:lnTo>
                    <a:pt x="1344" y="0"/>
                  </a:lnTo>
                  <a:lnTo>
                    <a:pt x="1392" y="480"/>
                  </a:lnTo>
                  <a:lnTo>
                    <a:pt x="1488" y="1008"/>
                  </a:lnTo>
                  <a:lnTo>
                    <a:pt x="1536" y="1152"/>
                  </a:lnTo>
                  <a:lnTo>
                    <a:pt x="1584" y="120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3" name="Line 8"/>
            <p:cNvSpPr>
              <a:spLocks noChangeShapeType="1"/>
            </p:cNvSpPr>
            <p:nvPr/>
          </p:nvSpPr>
          <p:spPr bwMode="auto">
            <a:xfrm>
              <a:off x="6628125"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4" name="Line 9"/>
            <p:cNvSpPr>
              <a:spLocks noChangeShapeType="1"/>
            </p:cNvSpPr>
            <p:nvPr/>
          </p:nvSpPr>
          <p:spPr bwMode="auto">
            <a:xfrm>
              <a:off x="5669141"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flipH="1" flipV="1">
              <a:off x="5130534" y="2944493"/>
              <a:ext cx="0" cy="1179782"/>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5130534" y="4114218"/>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5669141" y="2944493"/>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6628125" y="2944494"/>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5669141" y="1806847"/>
              <a:ext cx="96949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1" name="Freeform 16"/>
            <p:cNvSpPr>
              <a:spLocks/>
            </p:cNvSpPr>
            <p:nvPr/>
          </p:nvSpPr>
          <p:spPr bwMode="auto">
            <a:xfrm>
              <a:off x="5130534" y="3018331"/>
              <a:ext cx="1561962" cy="1061900"/>
            </a:xfrm>
            <a:custGeom>
              <a:avLst/>
              <a:gdLst>
                <a:gd name="T0" fmla="*/ 0 w 1392"/>
                <a:gd name="T1" fmla="*/ 2147483647 h 1248"/>
                <a:gd name="T2" fmla="*/ 2147483647 w 1392"/>
                <a:gd name="T3" fmla="*/ 2147483647 h 1248"/>
                <a:gd name="T4" fmla="*/ 2147483647 w 1392"/>
                <a:gd name="T5" fmla="*/ 2147483647 h 1248"/>
                <a:gd name="T6" fmla="*/ 2147483647 w 1392"/>
                <a:gd name="T7" fmla="*/ 2147483647 h 1248"/>
                <a:gd name="T8" fmla="*/ 2147483647 w 1392"/>
                <a:gd name="T9" fmla="*/ 2147483647 h 1248"/>
                <a:gd name="T10" fmla="*/ 2147483647 w 1392"/>
                <a:gd name="T11" fmla="*/ 2147483647 h 1248"/>
                <a:gd name="T12" fmla="*/ 2147483647 w 1392"/>
                <a:gd name="T13" fmla="*/ 0 h 124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92" h="1248">
                  <a:moveTo>
                    <a:pt x="0" y="1248"/>
                  </a:moveTo>
                  <a:lnTo>
                    <a:pt x="480" y="1152"/>
                  </a:lnTo>
                  <a:lnTo>
                    <a:pt x="816" y="912"/>
                  </a:lnTo>
                  <a:lnTo>
                    <a:pt x="1104" y="624"/>
                  </a:lnTo>
                  <a:lnTo>
                    <a:pt x="1296" y="384"/>
                  </a:lnTo>
                  <a:lnTo>
                    <a:pt x="1344" y="288"/>
                  </a:lnTo>
                  <a:lnTo>
                    <a:pt x="1392" y="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2" name="Text Box 17"/>
            <p:cNvSpPr txBox="1">
              <a:spLocks noChangeArrowheads="1"/>
            </p:cNvSpPr>
            <p:nvPr/>
          </p:nvSpPr>
          <p:spPr bwMode="auto">
            <a:xfrm>
              <a:off x="7152187" y="4124276"/>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3" name="Text Box 18"/>
            <p:cNvSpPr txBox="1">
              <a:spLocks noChangeArrowheads="1"/>
            </p:cNvSpPr>
            <p:nvPr/>
          </p:nvSpPr>
          <p:spPr bwMode="auto">
            <a:xfrm>
              <a:off x="7152187" y="2775953"/>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4" name="Text Box 19"/>
            <p:cNvSpPr txBox="1">
              <a:spLocks noChangeArrowheads="1"/>
            </p:cNvSpPr>
            <p:nvPr/>
          </p:nvSpPr>
          <p:spPr bwMode="auto">
            <a:xfrm rot="16200000">
              <a:off x="4695016" y="1958209"/>
              <a:ext cx="592753"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吞量率</a:t>
              </a:r>
              <a:endParaRPr kumimoji="0" lang="en-US" altLang="zh-CN" sz="1200" b="1" dirty="0">
                <a:latin typeface="微软雅黑" pitchFamily="34" charset="-122"/>
                <a:ea typeface="微软雅黑" pitchFamily="34" charset="-122"/>
              </a:endParaRPr>
            </a:p>
          </p:txBody>
        </p:sp>
        <p:sp>
          <p:nvSpPr>
            <p:cNvPr id="25" name="Text Box 20"/>
            <p:cNvSpPr txBox="1">
              <a:spLocks noChangeArrowheads="1"/>
            </p:cNvSpPr>
            <p:nvPr/>
          </p:nvSpPr>
          <p:spPr bwMode="auto">
            <a:xfrm rot="16200000">
              <a:off x="4763550" y="3001052"/>
              <a:ext cx="451200"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延迟</a:t>
              </a:r>
              <a:endParaRPr kumimoji="0" lang="en-US" altLang="zh-CN" sz="1200" b="1" dirty="0">
                <a:latin typeface="微软雅黑" pitchFamily="34" charset="-122"/>
                <a:ea typeface="微软雅黑" pitchFamily="34" charset="-122"/>
              </a:endParaRPr>
            </a:p>
          </p:txBody>
        </p:sp>
        <p:sp>
          <p:nvSpPr>
            <p:cNvPr id="28" name="Text Box 23"/>
            <p:cNvSpPr txBox="1">
              <a:spLocks noChangeArrowheads="1"/>
            </p:cNvSpPr>
            <p:nvPr/>
          </p:nvSpPr>
          <p:spPr bwMode="auto">
            <a:xfrm>
              <a:off x="7378708" y="2244822"/>
              <a:ext cx="570038"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00000"/>
                  </a:solidFill>
                  <a:latin typeface="微软雅黑" pitchFamily="34" charset="-122"/>
                  <a:ea typeface="微软雅黑" pitchFamily="34" charset="-122"/>
                </a:rPr>
                <a:t>系统</a:t>
              </a:r>
              <a:endParaRPr kumimoji="0" lang="en-US" altLang="zh-CN" sz="1200" b="1" dirty="0">
                <a:solidFill>
                  <a:srgbClr val="C00000"/>
                </a:solidFill>
                <a:latin typeface="微软雅黑" pitchFamily="34" charset="-122"/>
                <a:ea typeface="微软雅黑" pitchFamily="34" charset="-122"/>
              </a:endParaRPr>
            </a:p>
            <a:p>
              <a:r>
                <a:rPr kumimoji="0" lang="zh-CN" altLang="en-US" sz="1200" b="1" dirty="0">
                  <a:solidFill>
                    <a:srgbClr val="C00000"/>
                  </a:solidFill>
                  <a:latin typeface="微软雅黑" pitchFamily="34" charset="-122"/>
                  <a:ea typeface="微软雅黑" pitchFamily="34" charset="-122"/>
                </a:rPr>
                <a:t>崩溃</a:t>
              </a:r>
              <a:endParaRPr kumimoji="0" lang="en-US" altLang="zh-CN" sz="1200" b="1" dirty="0">
                <a:solidFill>
                  <a:srgbClr val="C00000"/>
                </a:solidFill>
                <a:latin typeface="微软雅黑" pitchFamily="34" charset="-122"/>
                <a:ea typeface="微软雅黑" pitchFamily="34" charset="-122"/>
              </a:endParaRPr>
            </a:p>
          </p:txBody>
        </p:sp>
        <p:sp>
          <p:nvSpPr>
            <p:cNvPr id="30" name="Line 25"/>
            <p:cNvSpPr>
              <a:spLocks noChangeShapeType="1"/>
            </p:cNvSpPr>
            <p:nvPr/>
          </p:nvSpPr>
          <p:spPr bwMode="auto">
            <a:xfrm flipH="1">
              <a:off x="6891107" y="2396737"/>
              <a:ext cx="538608" cy="33708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31" name="Text Box 26"/>
            <p:cNvSpPr txBox="1">
              <a:spLocks noChangeArrowheads="1"/>
            </p:cNvSpPr>
            <p:nvPr/>
          </p:nvSpPr>
          <p:spPr bwMode="auto">
            <a:xfrm>
              <a:off x="7289563" y="1639611"/>
              <a:ext cx="690713" cy="439298"/>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C00CC"/>
                  </a:solidFill>
                  <a:latin typeface="微软雅黑" pitchFamily="34" charset="-122"/>
                  <a:ea typeface="微软雅黑" pitchFamily="34" charset="-122"/>
                </a:rPr>
                <a:t>分组丢失增多</a:t>
              </a:r>
              <a:endParaRPr kumimoji="0" lang="en-US" altLang="zh-CN" sz="1200" b="1" dirty="0">
                <a:solidFill>
                  <a:srgbClr val="CC00CC"/>
                </a:solidFill>
                <a:latin typeface="微软雅黑" pitchFamily="34" charset="-122"/>
                <a:ea typeface="微软雅黑" pitchFamily="34" charset="-122"/>
              </a:endParaRPr>
            </a:p>
          </p:txBody>
        </p:sp>
        <p:sp>
          <p:nvSpPr>
            <p:cNvPr id="32" name="Line 27"/>
            <p:cNvSpPr>
              <a:spLocks noChangeShapeType="1"/>
            </p:cNvSpPr>
            <p:nvPr/>
          </p:nvSpPr>
          <p:spPr bwMode="auto">
            <a:xfrm flipH="1">
              <a:off x="6954167" y="1859016"/>
              <a:ext cx="377025" cy="8427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grpSp>
      <p:sp>
        <p:nvSpPr>
          <p:cNvPr id="26" name="内容占位符 25">
            <a:extLst>
              <a:ext uri="{FF2B5EF4-FFF2-40B4-BE49-F238E27FC236}">
                <a16:creationId xmlns:a16="http://schemas.microsoft.com/office/drawing/2014/main" id="{4E0008FA-ED30-F35D-0B84-627C38060B5A}"/>
              </a:ext>
            </a:extLst>
          </p:cNvPr>
          <p:cNvSpPr>
            <a:spLocks noGrp="1"/>
          </p:cNvSpPr>
          <p:nvPr>
            <p:ph sz="quarter" idx="11"/>
          </p:nvPr>
        </p:nvSpPr>
        <p:spPr>
          <a:xfrm>
            <a:off x="486000" y="900000"/>
            <a:ext cx="8172000" cy="3703500"/>
          </a:xfrm>
        </p:spPr>
        <p:txBody>
          <a:bodyPr/>
          <a:lstStyle/>
          <a:p>
            <a:r>
              <a:rPr lang="zh-CN" altLang="en-US" dirty="0"/>
              <a:t>在某段时间，若对网络中某资源的需求超过了该资源所能提供的可用部分，网络的性能就要明显变坏，整个网络的吞吐量将随输入负荷的增大而下降。这种现象称为拥塞 </a:t>
            </a:r>
            <a:r>
              <a:rPr lang="en-US" altLang="zh-CN" dirty="0"/>
              <a:t>(congestion)</a:t>
            </a:r>
            <a:r>
              <a:rPr lang="zh-CN" altLang="en-US" dirty="0"/>
              <a:t>。</a:t>
            </a:r>
            <a:endParaRPr lang="en-US" altLang="zh-CN" dirty="0"/>
          </a:p>
          <a:p>
            <a:r>
              <a:rPr lang="zh-CN" altLang="en-US" dirty="0"/>
              <a:t>最坏结果：系统崩溃。</a:t>
            </a:r>
          </a:p>
          <a:p>
            <a:endParaRPr lang="zh-CN" altLang="en-US" dirty="0"/>
          </a:p>
        </p:txBody>
      </p:sp>
      <p:sp>
        <p:nvSpPr>
          <p:cNvPr id="20" name="标题 19">
            <a:extLst>
              <a:ext uri="{FF2B5EF4-FFF2-40B4-BE49-F238E27FC236}">
                <a16:creationId xmlns:a16="http://schemas.microsoft.com/office/drawing/2014/main" id="{84CB527E-CE72-A6E9-4459-8412B1DFE490}"/>
              </a:ext>
            </a:extLst>
          </p:cNvPr>
          <p:cNvSpPr>
            <a:spLocks noGrp="1"/>
          </p:cNvSpPr>
          <p:nvPr>
            <p:ph type="title"/>
          </p:nvPr>
        </p:nvSpPr>
        <p:spPr>
          <a:xfrm>
            <a:off x="486000" y="550723"/>
            <a:ext cx="8172000" cy="338554"/>
          </a:xfrm>
        </p:spPr>
        <p:txBody>
          <a:bodyPr/>
          <a:lstStyle/>
          <a:p>
            <a:r>
              <a:rPr lang="en-US" altLang="zh-CN" dirty="0"/>
              <a:t>5.8.1   </a:t>
            </a:r>
            <a:r>
              <a:rPr lang="zh-CN" altLang="en-US" dirty="0"/>
              <a:t>拥塞控制的一般原理</a:t>
            </a:r>
          </a:p>
        </p:txBody>
      </p:sp>
    </p:spTree>
    <p:extLst>
      <p:ext uri="{BB962C8B-B14F-4D97-AF65-F5344CB8AC3E}">
        <p14:creationId xmlns:p14="http://schemas.microsoft.com/office/powerpoint/2010/main" val="2940896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grpId="0" nodeType="withEffect">
                                  <p:stCondLst>
                                    <p:cond delay="0"/>
                                  </p:stCondLst>
                                  <p:endCondLst>
                                    <p:cond evt="onNext" delay="0">
                                      <p:tgtEl>
                                        <p:sldTgt/>
                                      </p:tgtEl>
                                    </p:cond>
                                  </p:end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164330" y="3610397"/>
            <a:ext cx="6834042" cy="509959"/>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 </a:t>
            </a:r>
            <a:r>
              <a:rPr lang="zh-CN" altLang="en-US" sz="24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对资源需求  </a:t>
            </a:r>
            <a:r>
              <a:rPr lang="en-US" altLang="zh-CN" sz="2000" b="1" dirty="0">
                <a:latin typeface="微软雅黑" pitchFamily="34" charset="-122"/>
                <a:ea typeface="微软雅黑" pitchFamily="34" charset="-122"/>
              </a:rPr>
              <a:t>&gt; </a:t>
            </a:r>
            <a:r>
              <a:rPr lang="zh-CN" altLang="en-US" sz="2000" b="1" dirty="0">
                <a:latin typeface="微软雅黑" pitchFamily="34" charset="-122"/>
                <a:ea typeface="微软雅黑" pitchFamily="34" charset="-122"/>
              </a:rPr>
              <a:t>可用资源                      </a:t>
            </a:r>
            <a:r>
              <a:rPr lang="en-US" altLang="zh-CN" sz="2000" b="1" dirty="0">
                <a:latin typeface="微软雅黑" pitchFamily="34" charset="-122"/>
                <a:ea typeface="微软雅黑" pitchFamily="34" charset="-122"/>
              </a:rPr>
              <a:t>(5-7)</a:t>
            </a:r>
          </a:p>
        </p:txBody>
      </p:sp>
      <p:sp>
        <p:nvSpPr>
          <p:cNvPr id="7" name="内容占位符 6">
            <a:extLst>
              <a:ext uri="{FF2B5EF4-FFF2-40B4-BE49-F238E27FC236}">
                <a16:creationId xmlns:a16="http://schemas.microsoft.com/office/drawing/2014/main" id="{697CDC23-6CE0-F7BE-5856-647D11378F10}"/>
              </a:ext>
            </a:extLst>
          </p:cNvPr>
          <p:cNvSpPr>
            <a:spLocks noGrp="1"/>
          </p:cNvSpPr>
          <p:nvPr>
            <p:ph sz="quarter" idx="11"/>
          </p:nvPr>
        </p:nvSpPr>
        <p:spPr>
          <a:xfrm>
            <a:off x="486000" y="900000"/>
            <a:ext cx="8172000" cy="3703500"/>
          </a:xfrm>
        </p:spPr>
        <p:txBody>
          <a:bodyPr/>
          <a:lstStyle/>
          <a:p>
            <a:r>
              <a:rPr lang="zh-CN" altLang="en-US" dirty="0"/>
              <a:t>由许多因素引起。例如：</a:t>
            </a:r>
            <a:endParaRPr lang="en-US" altLang="zh-CN" dirty="0"/>
          </a:p>
          <a:p>
            <a:r>
              <a:rPr lang="zh-CN" altLang="en-US" dirty="0"/>
              <a:t>节点缓存容量太小；</a:t>
            </a:r>
            <a:endParaRPr lang="en-US" altLang="zh-CN" dirty="0"/>
          </a:p>
          <a:p>
            <a:r>
              <a:rPr lang="zh-CN" altLang="en-US" dirty="0"/>
              <a:t>链路容量不足；</a:t>
            </a:r>
            <a:endParaRPr lang="en-US" altLang="zh-CN" dirty="0"/>
          </a:p>
          <a:p>
            <a:r>
              <a:rPr lang="zh-CN" altLang="en-US" dirty="0"/>
              <a:t>处理机处理速率太慢；</a:t>
            </a:r>
            <a:endParaRPr lang="en-US" altLang="zh-CN" dirty="0"/>
          </a:p>
          <a:p>
            <a:r>
              <a:rPr lang="zh-CN" altLang="en-US" dirty="0"/>
              <a:t>拥塞本身会进一步加剧拥塞；</a:t>
            </a:r>
            <a:endParaRPr lang="en-US" altLang="zh-CN" dirty="0"/>
          </a:p>
          <a:p>
            <a:r>
              <a:rPr lang="zh-CN" altLang="en-US" dirty="0"/>
              <a:t>出现网络拥塞的条件：</a:t>
            </a:r>
          </a:p>
          <a:p>
            <a:endParaRPr lang="zh-CN" altLang="en-US" dirty="0"/>
          </a:p>
        </p:txBody>
      </p:sp>
      <p:sp>
        <p:nvSpPr>
          <p:cNvPr id="6" name="标题 5">
            <a:extLst>
              <a:ext uri="{FF2B5EF4-FFF2-40B4-BE49-F238E27FC236}">
                <a16:creationId xmlns:a16="http://schemas.microsoft.com/office/drawing/2014/main" id="{1B8332EC-4D95-DC91-2850-A61722867FC1}"/>
              </a:ext>
            </a:extLst>
          </p:cNvPr>
          <p:cNvSpPr>
            <a:spLocks noGrp="1"/>
          </p:cNvSpPr>
          <p:nvPr>
            <p:ph type="title"/>
          </p:nvPr>
        </p:nvSpPr>
        <p:spPr>
          <a:xfrm>
            <a:off x="486000" y="550723"/>
            <a:ext cx="8172000" cy="338554"/>
          </a:xfrm>
        </p:spPr>
        <p:txBody>
          <a:bodyPr/>
          <a:lstStyle/>
          <a:p>
            <a:r>
              <a:rPr lang="zh-CN" altLang="en-US" dirty="0"/>
              <a:t>拥塞产生的原因</a:t>
            </a:r>
          </a:p>
        </p:txBody>
      </p:sp>
    </p:spTree>
    <p:extLst>
      <p:ext uri="{BB962C8B-B14F-4D97-AF65-F5344CB8AC3E}">
        <p14:creationId xmlns:p14="http://schemas.microsoft.com/office/powerpoint/2010/main" val="1934131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6FA15031-680D-D453-41F6-F447F9DCE731}"/>
              </a:ext>
            </a:extLst>
          </p:cNvPr>
          <p:cNvSpPr>
            <a:spLocks noGrp="1"/>
          </p:cNvSpPr>
          <p:nvPr>
            <p:ph sz="quarter" idx="11"/>
          </p:nvPr>
        </p:nvSpPr>
        <p:spPr>
          <a:xfrm>
            <a:off x="486000" y="900000"/>
            <a:ext cx="8172000" cy="3703500"/>
          </a:xfrm>
        </p:spPr>
        <p:txBody>
          <a:bodyPr/>
          <a:lstStyle/>
          <a:p>
            <a:r>
              <a:rPr lang="zh-CN" altLang="en-US" dirty="0"/>
              <a:t>不能，而且还可能使网络的性能更坏。</a:t>
            </a:r>
          </a:p>
          <a:p>
            <a:r>
              <a:rPr lang="zh-CN" altLang="en-US" dirty="0"/>
              <a:t>例如：</a:t>
            </a:r>
          </a:p>
          <a:p>
            <a:r>
              <a:rPr lang="zh-CN" altLang="en-US" dirty="0"/>
              <a:t>增大缓存，但未提高输出链路的容量和处理机的速度，排队等待时间将会大大增加，引起大量超时重传，解决不了网络拥塞；</a:t>
            </a:r>
          </a:p>
          <a:p>
            <a:r>
              <a:rPr lang="zh-CN" altLang="en-US" dirty="0"/>
              <a:t>提高处理机处理的速率会将瓶颈转移到其他地方；</a:t>
            </a:r>
            <a:endParaRPr lang="en-US" altLang="zh-CN" dirty="0"/>
          </a:p>
          <a:p>
            <a:r>
              <a:rPr lang="zh-CN" altLang="en-US" dirty="0"/>
              <a:t>拥塞引起的重传并不会缓解网络的拥塞，反而会加剧网络的拥塞。</a:t>
            </a:r>
          </a:p>
          <a:p>
            <a:endParaRPr lang="zh-CN" altLang="en-US" dirty="0"/>
          </a:p>
        </p:txBody>
      </p:sp>
      <p:sp>
        <p:nvSpPr>
          <p:cNvPr id="9" name="标题 8">
            <a:extLst>
              <a:ext uri="{FF2B5EF4-FFF2-40B4-BE49-F238E27FC236}">
                <a16:creationId xmlns:a16="http://schemas.microsoft.com/office/drawing/2014/main" id="{09D840DB-7DB8-10ED-7973-AB76AFB1E282}"/>
              </a:ext>
            </a:extLst>
          </p:cNvPr>
          <p:cNvSpPr>
            <a:spLocks noGrp="1"/>
          </p:cNvSpPr>
          <p:nvPr>
            <p:ph type="title"/>
          </p:nvPr>
        </p:nvSpPr>
        <p:spPr>
          <a:xfrm>
            <a:off x="486000" y="550723"/>
            <a:ext cx="8172000" cy="338554"/>
          </a:xfrm>
        </p:spPr>
        <p:txBody>
          <a:bodyPr/>
          <a:lstStyle/>
          <a:p>
            <a:r>
              <a:rPr lang="zh-CN" altLang="en-US" dirty="0"/>
              <a:t>增加资源能解决拥塞吗？</a:t>
            </a:r>
          </a:p>
        </p:txBody>
      </p:sp>
    </p:spTree>
    <p:extLst>
      <p:ext uri="{BB962C8B-B14F-4D97-AF65-F5344CB8AC3E}">
        <p14:creationId xmlns:p14="http://schemas.microsoft.com/office/powerpoint/2010/main" val="29820675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744610048"/>
              </p:ext>
            </p:extLst>
          </p:nvPr>
        </p:nvGraphicFramePr>
        <p:xfrm>
          <a:off x="1062087" y="1042331"/>
          <a:ext cx="7110952" cy="34448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253A8BC7-CDF5-C9AA-24C9-06A26920A1FA}"/>
              </a:ext>
            </a:extLst>
          </p:cNvPr>
          <p:cNvSpPr>
            <a:spLocks noGrp="1"/>
          </p:cNvSpPr>
          <p:nvPr>
            <p:ph type="title"/>
          </p:nvPr>
        </p:nvSpPr>
        <p:spPr>
          <a:xfrm>
            <a:off x="486000" y="550723"/>
            <a:ext cx="8172000" cy="338554"/>
          </a:xfrm>
        </p:spPr>
        <p:txBody>
          <a:bodyPr/>
          <a:lstStyle/>
          <a:p>
            <a:r>
              <a:rPr lang="zh-CN" altLang="en-US" dirty="0"/>
              <a:t>拥塞控制与流量控制的区别</a:t>
            </a:r>
          </a:p>
        </p:txBody>
      </p:sp>
    </p:spTree>
    <p:extLst>
      <p:ext uri="{BB962C8B-B14F-4D97-AF65-F5344CB8AC3E}">
        <p14:creationId xmlns:p14="http://schemas.microsoft.com/office/powerpoint/2010/main" val="17357930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23"/>
          <p:cNvGrpSpPr>
            <a:grpSpLocks/>
          </p:cNvGrpSpPr>
          <p:nvPr/>
        </p:nvGrpSpPr>
        <p:grpSpPr bwMode="auto">
          <a:xfrm>
            <a:off x="1727122" y="2465424"/>
            <a:ext cx="4605001" cy="1692477"/>
            <a:chOff x="651" y="2544"/>
            <a:chExt cx="3908" cy="1556"/>
          </a:xfrm>
        </p:grpSpPr>
        <p:sp>
          <p:nvSpPr>
            <p:cNvPr id="62" name="Line 24"/>
            <p:cNvSpPr>
              <a:spLocks noChangeShapeType="1"/>
            </p:cNvSpPr>
            <p:nvPr/>
          </p:nvSpPr>
          <p:spPr bwMode="auto">
            <a:xfrm>
              <a:off x="2585" y="3737"/>
              <a:ext cx="848"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3" name="Line 25"/>
            <p:cNvSpPr>
              <a:spLocks noChangeShapeType="1"/>
            </p:cNvSpPr>
            <p:nvPr/>
          </p:nvSpPr>
          <p:spPr bwMode="auto">
            <a:xfrm>
              <a:off x="1633" y="3737"/>
              <a:ext cx="9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nvGrpSpPr>
            <p:cNvPr id="64" name="Group 26"/>
            <p:cNvGrpSpPr>
              <a:grpSpLocks/>
            </p:cNvGrpSpPr>
            <p:nvPr/>
          </p:nvGrpSpPr>
          <p:grpSpPr bwMode="auto">
            <a:xfrm>
              <a:off x="651" y="2544"/>
              <a:ext cx="3908" cy="1556"/>
              <a:chOff x="651" y="2544"/>
              <a:chExt cx="3908" cy="1556"/>
            </a:xfrm>
          </p:grpSpPr>
          <p:grpSp>
            <p:nvGrpSpPr>
              <p:cNvPr id="65" name="Group 27"/>
              <p:cNvGrpSpPr>
                <a:grpSpLocks/>
              </p:cNvGrpSpPr>
              <p:nvPr/>
            </p:nvGrpSpPr>
            <p:grpSpPr bwMode="auto">
              <a:xfrm>
                <a:off x="651" y="2544"/>
                <a:ext cx="3908" cy="1252"/>
                <a:chOff x="651" y="2544"/>
                <a:chExt cx="3908" cy="1252"/>
              </a:xfrm>
            </p:grpSpPr>
            <p:sp>
              <p:nvSpPr>
                <p:cNvPr id="68" name="Freeform 28"/>
                <p:cNvSpPr>
                  <a:spLocks/>
                </p:cNvSpPr>
                <p:nvPr/>
              </p:nvSpPr>
              <p:spPr bwMode="auto">
                <a:xfrm>
                  <a:off x="651" y="2595"/>
                  <a:ext cx="2773" cy="964"/>
                </a:xfrm>
                <a:custGeom>
                  <a:avLst/>
                  <a:gdLst>
                    <a:gd name="T0" fmla="*/ 0 w 1728"/>
                    <a:gd name="T1" fmla="*/ 964 h 781"/>
                    <a:gd name="T2" fmla="*/ 1204 w 1728"/>
                    <a:gd name="T3" fmla="*/ 186 h 781"/>
                    <a:gd name="T4" fmla="*/ 1733 w 1728"/>
                    <a:gd name="T5" fmla="*/ 23 h 781"/>
                    <a:gd name="T6" fmla="*/ 2109 w 1728"/>
                    <a:gd name="T7" fmla="*/ 46 h 781"/>
                    <a:gd name="T8" fmla="*/ 2388 w 1728"/>
                    <a:gd name="T9" fmla="*/ 216 h 781"/>
                    <a:gd name="T10" fmla="*/ 2571 w 1728"/>
                    <a:gd name="T11" fmla="*/ 453 h 781"/>
                    <a:gd name="T12" fmla="*/ 2706 w 1728"/>
                    <a:gd name="T13" fmla="*/ 727 h 781"/>
                    <a:gd name="T14" fmla="*/ 2773 w 1728"/>
                    <a:gd name="T15" fmla="*/ 964 h 7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728" h="781">
                      <a:moveTo>
                        <a:pt x="0" y="781"/>
                      </a:moveTo>
                      <a:cubicBezTo>
                        <a:pt x="285" y="529"/>
                        <a:pt x="570" y="278"/>
                        <a:pt x="750" y="151"/>
                      </a:cubicBezTo>
                      <a:cubicBezTo>
                        <a:pt x="930" y="24"/>
                        <a:pt x="986" y="38"/>
                        <a:pt x="1080" y="19"/>
                      </a:cubicBezTo>
                      <a:cubicBezTo>
                        <a:pt x="1174" y="0"/>
                        <a:pt x="1246" y="11"/>
                        <a:pt x="1314" y="37"/>
                      </a:cubicBezTo>
                      <a:cubicBezTo>
                        <a:pt x="1382" y="63"/>
                        <a:pt x="1440" y="120"/>
                        <a:pt x="1488" y="175"/>
                      </a:cubicBezTo>
                      <a:cubicBezTo>
                        <a:pt x="1536" y="230"/>
                        <a:pt x="1569" y="298"/>
                        <a:pt x="1602" y="367"/>
                      </a:cubicBezTo>
                      <a:cubicBezTo>
                        <a:pt x="1635" y="436"/>
                        <a:pt x="1665" y="520"/>
                        <a:pt x="1686" y="589"/>
                      </a:cubicBezTo>
                      <a:cubicBezTo>
                        <a:pt x="1707" y="658"/>
                        <a:pt x="1717" y="719"/>
                        <a:pt x="1728" y="781"/>
                      </a:cubicBezTo>
                    </a:path>
                  </a:pathLst>
                </a:custGeom>
                <a:noFill/>
                <a:ln w="38100" cmpd="sng">
                  <a:solidFill>
                    <a:srgbClr val="00CC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9" name="Line 29"/>
                <p:cNvSpPr>
                  <a:spLocks noChangeShapeType="1"/>
                </p:cNvSpPr>
                <p:nvPr/>
              </p:nvSpPr>
              <p:spPr bwMode="auto">
                <a:xfrm>
                  <a:off x="2576" y="2611"/>
                  <a:ext cx="0" cy="94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0" name="Text Box 30"/>
                <p:cNvSpPr txBox="1">
                  <a:spLocks noChangeArrowheads="1"/>
                </p:cNvSpPr>
                <p:nvPr/>
              </p:nvSpPr>
              <p:spPr bwMode="auto">
                <a:xfrm>
                  <a:off x="3532" y="2544"/>
                  <a:ext cx="1027"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66"/>
                      </a:solidFill>
                      <a:latin typeface="微软雅黑" pitchFamily="34" charset="-122"/>
                      <a:ea typeface="微软雅黑" pitchFamily="34" charset="-122"/>
                    </a:rPr>
                    <a:t>无拥塞控制</a:t>
                  </a:r>
                </a:p>
              </p:txBody>
            </p:sp>
            <p:sp>
              <p:nvSpPr>
                <p:cNvPr id="71" name="Line 31"/>
                <p:cNvSpPr>
                  <a:spLocks noChangeShapeType="1"/>
                </p:cNvSpPr>
                <p:nvPr/>
              </p:nvSpPr>
              <p:spPr bwMode="auto">
                <a:xfrm flipH="1">
                  <a:off x="3125" y="2759"/>
                  <a:ext cx="453" cy="1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2" name="Line 32"/>
                <p:cNvSpPr>
                  <a:spLocks noChangeShapeType="1"/>
                </p:cNvSpPr>
                <p:nvPr/>
              </p:nvSpPr>
              <p:spPr bwMode="auto">
                <a:xfrm>
                  <a:off x="1619" y="2848"/>
                  <a:ext cx="0" cy="71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3" name="Line 33"/>
                <p:cNvSpPr>
                  <a:spLocks noChangeShapeType="1"/>
                </p:cNvSpPr>
                <p:nvPr/>
              </p:nvSpPr>
              <p:spPr bwMode="auto">
                <a:xfrm>
                  <a:off x="2576"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4" name="Line 34"/>
                <p:cNvSpPr>
                  <a:spLocks noChangeShapeType="1"/>
                </p:cNvSpPr>
                <p:nvPr/>
              </p:nvSpPr>
              <p:spPr bwMode="auto">
                <a:xfrm>
                  <a:off x="3424"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5" name="Line 35"/>
                <p:cNvSpPr>
                  <a:spLocks noChangeShapeType="1"/>
                </p:cNvSpPr>
                <p:nvPr/>
              </p:nvSpPr>
              <p:spPr bwMode="auto">
                <a:xfrm>
                  <a:off x="1619"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sp>
            <p:nvSpPr>
              <p:cNvPr id="66" name="Text Box 36"/>
              <p:cNvSpPr txBox="1">
                <a:spLocks noChangeArrowheads="1"/>
              </p:cNvSpPr>
              <p:nvPr/>
            </p:nvSpPr>
            <p:spPr bwMode="auto">
              <a:xfrm>
                <a:off x="2748" y="3589"/>
                <a:ext cx="461" cy="283"/>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拥塞</a:t>
                </a:r>
              </a:p>
            </p:txBody>
          </p:sp>
          <p:sp>
            <p:nvSpPr>
              <p:cNvPr id="67" name="Text Box 37"/>
              <p:cNvSpPr txBox="1">
                <a:spLocks noChangeArrowheads="1"/>
              </p:cNvSpPr>
              <p:nvPr/>
            </p:nvSpPr>
            <p:spPr bwMode="auto">
              <a:xfrm>
                <a:off x="1872" y="3619"/>
                <a:ext cx="461" cy="4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eaLnBrk="1" hangingPunct="1"/>
                <a:r>
                  <a:rPr lang="zh-CN" altLang="en-US" sz="1400" dirty="0">
                    <a:latin typeface="微软雅黑" pitchFamily="34" charset="-122"/>
                    <a:ea typeface="微软雅黑" pitchFamily="34" charset="-122"/>
                  </a:rPr>
                  <a:t>轻度</a:t>
                </a:r>
              </a:p>
              <a:p>
                <a:pPr algn="ctr" eaLnBrk="1" hangingPunct="1"/>
                <a:r>
                  <a:rPr lang="zh-CN" altLang="en-US" sz="1400" dirty="0">
                    <a:latin typeface="微软雅黑" pitchFamily="34" charset="-122"/>
                    <a:ea typeface="微软雅黑" pitchFamily="34" charset="-122"/>
                  </a:rPr>
                  <a:t>拥塞</a:t>
                </a:r>
              </a:p>
            </p:txBody>
          </p:sp>
        </p:grpSp>
      </p:grpSp>
      <p:sp>
        <p:nvSpPr>
          <p:cNvPr id="41" name="Line 3"/>
          <p:cNvSpPr>
            <a:spLocks noChangeShapeType="1"/>
          </p:cNvSpPr>
          <p:nvPr/>
        </p:nvSpPr>
        <p:spPr bwMode="auto">
          <a:xfrm rot="16200000">
            <a:off x="534447" y="2382214"/>
            <a:ext cx="2385349"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2" name="Text Box 4"/>
          <p:cNvSpPr txBox="1">
            <a:spLocks noChangeArrowheads="1"/>
          </p:cNvSpPr>
          <p:nvPr/>
        </p:nvSpPr>
        <p:spPr bwMode="auto">
          <a:xfrm>
            <a:off x="6275535" y="3599906"/>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提供的负载</a:t>
            </a:r>
          </a:p>
        </p:txBody>
      </p:sp>
      <p:sp>
        <p:nvSpPr>
          <p:cNvPr id="43" name="Text Box 5"/>
          <p:cNvSpPr txBox="1">
            <a:spLocks noChangeArrowheads="1"/>
          </p:cNvSpPr>
          <p:nvPr/>
        </p:nvSpPr>
        <p:spPr bwMode="auto">
          <a:xfrm>
            <a:off x="1727121" y="111649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吞吐量</a:t>
            </a:r>
          </a:p>
        </p:txBody>
      </p:sp>
      <p:grpSp>
        <p:nvGrpSpPr>
          <p:cNvPr id="44" name="Group 6"/>
          <p:cNvGrpSpPr>
            <a:grpSpLocks/>
          </p:cNvGrpSpPr>
          <p:nvPr/>
        </p:nvGrpSpPr>
        <p:grpSpPr bwMode="auto">
          <a:xfrm>
            <a:off x="1727121" y="1622449"/>
            <a:ext cx="4810036" cy="1952440"/>
            <a:chOff x="651" y="1764"/>
            <a:chExt cx="4082" cy="1795"/>
          </a:xfrm>
        </p:grpSpPr>
        <p:sp>
          <p:nvSpPr>
            <p:cNvPr id="45" name="Line 7"/>
            <p:cNvSpPr>
              <a:spLocks noChangeShapeType="1"/>
            </p:cNvSpPr>
            <p:nvPr/>
          </p:nvSpPr>
          <p:spPr bwMode="auto">
            <a:xfrm flipV="1">
              <a:off x="651" y="2077"/>
              <a:ext cx="1925" cy="1482"/>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6" name="Line 8"/>
            <p:cNvSpPr>
              <a:spLocks noChangeShapeType="1"/>
            </p:cNvSpPr>
            <p:nvPr/>
          </p:nvSpPr>
          <p:spPr bwMode="auto">
            <a:xfrm>
              <a:off x="2576" y="2077"/>
              <a:ext cx="2157"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7" name="Text Box 9"/>
            <p:cNvSpPr txBox="1">
              <a:spLocks noChangeArrowheads="1"/>
            </p:cNvSpPr>
            <p:nvPr/>
          </p:nvSpPr>
          <p:spPr bwMode="auto">
            <a:xfrm>
              <a:off x="2901" y="1764"/>
              <a:ext cx="1376"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C00CC"/>
                  </a:solidFill>
                  <a:latin typeface="微软雅黑" pitchFamily="34" charset="-122"/>
                  <a:ea typeface="微软雅黑" pitchFamily="34" charset="-122"/>
                </a:rPr>
                <a:t>理想的拥塞控制</a:t>
              </a:r>
            </a:p>
          </p:txBody>
        </p:sp>
      </p:grpSp>
      <p:grpSp>
        <p:nvGrpSpPr>
          <p:cNvPr id="49" name="Group 11"/>
          <p:cNvGrpSpPr>
            <a:grpSpLocks/>
          </p:cNvGrpSpPr>
          <p:nvPr/>
        </p:nvGrpSpPr>
        <p:grpSpPr bwMode="auto">
          <a:xfrm>
            <a:off x="1727121" y="2014024"/>
            <a:ext cx="4879559" cy="1560864"/>
            <a:chOff x="651" y="2124"/>
            <a:chExt cx="4141" cy="1435"/>
          </a:xfrm>
        </p:grpSpPr>
        <p:sp>
          <p:nvSpPr>
            <p:cNvPr id="50" name="Freeform 12"/>
            <p:cNvSpPr>
              <a:spLocks/>
            </p:cNvSpPr>
            <p:nvPr/>
          </p:nvSpPr>
          <p:spPr bwMode="auto">
            <a:xfrm>
              <a:off x="651" y="2422"/>
              <a:ext cx="4141" cy="1137"/>
            </a:xfrm>
            <a:custGeom>
              <a:avLst/>
              <a:gdLst>
                <a:gd name="T0" fmla="*/ 0 w 2581"/>
                <a:gd name="T1" fmla="*/ 1137 h 921"/>
                <a:gd name="T2" fmla="*/ 1405 w 2581"/>
                <a:gd name="T3" fmla="*/ 426 h 921"/>
                <a:gd name="T4" fmla="*/ 2002 w 2581"/>
                <a:gd name="T5" fmla="*/ 226 h 921"/>
                <a:gd name="T6" fmla="*/ 2541 w 2581"/>
                <a:gd name="T7" fmla="*/ 130 h 921"/>
                <a:gd name="T8" fmla="*/ 3032 w 2581"/>
                <a:gd name="T9" fmla="*/ 78 h 921"/>
                <a:gd name="T10" fmla="*/ 3581 w 2581"/>
                <a:gd name="T11" fmla="*/ 26 h 921"/>
                <a:gd name="T12" fmla="*/ 4072 w 2581"/>
                <a:gd name="T13" fmla="*/ 4 h 921"/>
                <a:gd name="T14" fmla="*/ 3995 w 2581"/>
                <a:gd name="T15" fmla="*/ 4 h 92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81" h="921">
                  <a:moveTo>
                    <a:pt x="0" y="921"/>
                  </a:moveTo>
                  <a:cubicBezTo>
                    <a:pt x="334" y="694"/>
                    <a:pt x="668" y="468"/>
                    <a:pt x="876" y="345"/>
                  </a:cubicBezTo>
                  <a:cubicBezTo>
                    <a:pt x="1084" y="222"/>
                    <a:pt x="1130" y="223"/>
                    <a:pt x="1248" y="183"/>
                  </a:cubicBezTo>
                  <a:cubicBezTo>
                    <a:pt x="1366" y="143"/>
                    <a:pt x="1477" y="125"/>
                    <a:pt x="1584" y="105"/>
                  </a:cubicBezTo>
                  <a:cubicBezTo>
                    <a:pt x="1691" y="85"/>
                    <a:pt x="1782" y="77"/>
                    <a:pt x="1890" y="63"/>
                  </a:cubicBezTo>
                  <a:cubicBezTo>
                    <a:pt x="1998" y="49"/>
                    <a:pt x="2124" y="31"/>
                    <a:pt x="2232" y="21"/>
                  </a:cubicBezTo>
                  <a:cubicBezTo>
                    <a:pt x="2340" y="11"/>
                    <a:pt x="2495" y="6"/>
                    <a:pt x="2538" y="3"/>
                  </a:cubicBezTo>
                  <a:cubicBezTo>
                    <a:pt x="2581" y="0"/>
                    <a:pt x="2498" y="3"/>
                    <a:pt x="2490" y="3"/>
                  </a:cubicBezTo>
                </a:path>
              </a:pathLst>
            </a:custGeom>
            <a:noFill/>
            <a:ln w="3810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nvGrpSpPr>
            <p:cNvPr id="51" name="Group 13"/>
            <p:cNvGrpSpPr>
              <a:grpSpLocks/>
            </p:cNvGrpSpPr>
            <p:nvPr/>
          </p:nvGrpSpPr>
          <p:grpSpPr bwMode="auto">
            <a:xfrm>
              <a:off x="2451" y="2124"/>
              <a:ext cx="1376" cy="439"/>
              <a:chOff x="2451" y="2124"/>
              <a:chExt cx="1376" cy="439"/>
            </a:xfrm>
          </p:grpSpPr>
          <p:sp>
            <p:nvSpPr>
              <p:cNvPr id="52" name="Text Box 14"/>
              <p:cNvSpPr txBox="1">
                <a:spLocks noChangeArrowheads="1"/>
              </p:cNvSpPr>
              <p:nvPr/>
            </p:nvSpPr>
            <p:spPr bwMode="auto">
              <a:xfrm>
                <a:off x="2451" y="2124"/>
                <a:ext cx="1376" cy="311"/>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FF"/>
                    </a:solidFill>
                    <a:latin typeface="微软雅黑" pitchFamily="34" charset="-122"/>
                    <a:ea typeface="微软雅黑" pitchFamily="34" charset="-122"/>
                  </a:rPr>
                  <a:t>实际的拥塞控制</a:t>
                </a:r>
              </a:p>
            </p:txBody>
          </p:sp>
          <p:sp>
            <p:nvSpPr>
              <p:cNvPr id="53" name="Line 15"/>
              <p:cNvSpPr>
                <a:spLocks noChangeShapeType="1"/>
              </p:cNvSpPr>
              <p:nvPr/>
            </p:nvSpPr>
            <p:spPr bwMode="auto">
              <a:xfrm>
                <a:off x="3016" y="2387"/>
                <a:ext cx="100" cy="17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grpSp>
      <p:sp>
        <p:nvSpPr>
          <p:cNvPr id="54" name="Line 16"/>
          <p:cNvSpPr>
            <a:spLocks noChangeShapeType="1"/>
          </p:cNvSpPr>
          <p:nvPr/>
        </p:nvSpPr>
        <p:spPr bwMode="auto">
          <a:xfrm>
            <a:off x="1727121" y="3574888"/>
            <a:ext cx="5174147"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5" name="Text Box 17"/>
          <p:cNvSpPr txBox="1">
            <a:spLocks noChangeArrowheads="1"/>
          </p:cNvSpPr>
          <p:nvPr/>
        </p:nvSpPr>
        <p:spPr bwMode="auto">
          <a:xfrm>
            <a:off x="1442736" y="3422881"/>
            <a:ext cx="31130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600" dirty="0">
                <a:solidFill>
                  <a:srgbClr val="333399"/>
                </a:solidFill>
                <a:latin typeface="微软雅黑" pitchFamily="34" charset="-122"/>
                <a:ea typeface="微软雅黑" pitchFamily="34" charset="-122"/>
              </a:rPr>
              <a:t>0</a:t>
            </a:r>
          </a:p>
        </p:txBody>
      </p:sp>
      <p:grpSp>
        <p:nvGrpSpPr>
          <p:cNvPr id="56" name="Group 18"/>
          <p:cNvGrpSpPr>
            <a:grpSpLocks/>
          </p:cNvGrpSpPr>
          <p:nvPr/>
        </p:nvGrpSpPr>
        <p:grpSpPr bwMode="auto">
          <a:xfrm>
            <a:off x="4906315" y="2847212"/>
            <a:ext cx="2651294" cy="792941"/>
            <a:chOff x="3349" y="2890"/>
            <a:chExt cx="2250" cy="729"/>
          </a:xfrm>
        </p:grpSpPr>
        <p:grpSp>
          <p:nvGrpSpPr>
            <p:cNvPr id="57" name="Group 19"/>
            <p:cNvGrpSpPr>
              <a:grpSpLocks/>
            </p:cNvGrpSpPr>
            <p:nvPr/>
          </p:nvGrpSpPr>
          <p:grpSpPr bwMode="auto">
            <a:xfrm>
              <a:off x="3477" y="2890"/>
              <a:ext cx="2122" cy="600"/>
              <a:chOff x="3477" y="2890"/>
              <a:chExt cx="2122" cy="600"/>
            </a:xfrm>
          </p:grpSpPr>
          <p:sp>
            <p:nvSpPr>
              <p:cNvPr id="59" name="Text Box 20"/>
              <p:cNvSpPr txBox="1">
                <a:spLocks noChangeArrowheads="1"/>
              </p:cNvSpPr>
              <p:nvPr/>
            </p:nvSpPr>
            <p:spPr bwMode="auto">
              <a:xfrm>
                <a:off x="3881" y="2890"/>
                <a:ext cx="1718"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00000"/>
                    </a:solidFill>
                    <a:latin typeface="微软雅黑" pitchFamily="34" charset="-122"/>
                    <a:ea typeface="微软雅黑" pitchFamily="34" charset="-122"/>
                  </a:rPr>
                  <a:t>死锁（吞吐量 </a:t>
                </a:r>
                <a:r>
                  <a:rPr lang="en-US" altLang="zh-CN" sz="1600" dirty="0">
                    <a:solidFill>
                      <a:srgbClr val="C00000"/>
                    </a:solidFill>
                    <a:latin typeface="微软雅黑" pitchFamily="34" charset="-122"/>
                    <a:ea typeface="微软雅黑" pitchFamily="34" charset="-122"/>
                  </a:rPr>
                  <a:t>= 0</a:t>
                </a:r>
                <a:r>
                  <a:rPr lang="zh-CN" altLang="en-US" sz="1600" dirty="0">
                    <a:solidFill>
                      <a:srgbClr val="C00000"/>
                    </a:solidFill>
                    <a:latin typeface="微软雅黑" pitchFamily="34" charset="-122"/>
                    <a:ea typeface="微软雅黑" pitchFamily="34" charset="-122"/>
                  </a:rPr>
                  <a:t>）</a:t>
                </a:r>
              </a:p>
            </p:txBody>
          </p:sp>
          <p:sp>
            <p:nvSpPr>
              <p:cNvPr id="60" name="Line 21"/>
              <p:cNvSpPr>
                <a:spLocks noChangeShapeType="1"/>
              </p:cNvSpPr>
              <p:nvPr/>
            </p:nvSpPr>
            <p:spPr bwMode="auto">
              <a:xfrm flipH="1">
                <a:off x="3477" y="3104"/>
                <a:ext cx="457" cy="386"/>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58" name="Oval 22"/>
            <p:cNvSpPr>
              <a:spLocks noChangeArrowheads="1"/>
            </p:cNvSpPr>
            <p:nvPr/>
          </p:nvSpPr>
          <p:spPr bwMode="auto">
            <a:xfrm>
              <a:off x="3349" y="3485"/>
              <a:ext cx="141" cy="134"/>
            </a:xfrm>
            <a:prstGeom prst="ellipse">
              <a:avLst/>
            </a:prstGeom>
            <a:solidFill>
              <a:srgbClr val="C00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C0E458C-CF8D-1C39-69ED-302644E2F4C2}"/>
              </a:ext>
            </a:extLst>
          </p:cNvPr>
          <p:cNvSpPr>
            <a:spLocks noGrp="1"/>
          </p:cNvSpPr>
          <p:nvPr>
            <p:ph type="title"/>
          </p:nvPr>
        </p:nvSpPr>
        <p:spPr>
          <a:xfrm>
            <a:off x="486000" y="550723"/>
            <a:ext cx="8172000" cy="338554"/>
          </a:xfrm>
        </p:spPr>
        <p:txBody>
          <a:bodyPr/>
          <a:lstStyle/>
          <a:p>
            <a:r>
              <a:rPr lang="zh-CN" altLang="en-US" dirty="0"/>
              <a:t>拥塞控制所起的作用</a:t>
            </a:r>
          </a:p>
        </p:txBody>
      </p:sp>
    </p:spTree>
    <p:extLst>
      <p:ext uri="{BB962C8B-B14F-4D97-AF65-F5344CB8AC3E}">
        <p14:creationId xmlns:p14="http://schemas.microsoft.com/office/powerpoint/2010/main" val="39710728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left)">
                                      <p:cBhvr>
                                        <p:cTn id="7" dur="3000"/>
                                        <p:tgtEl>
                                          <p:spTgt spid="61"/>
                                        </p:tgtEl>
                                      </p:cBhvr>
                                    </p:animEffect>
                                  </p:childTnLst>
                                </p:cTn>
                              </p:par>
                            </p:childTnLst>
                          </p:cTn>
                        </p:par>
                        <p:par>
                          <p:cTn id="8" fill="hold">
                            <p:stCondLst>
                              <p:cond delay="3000"/>
                            </p:stCondLst>
                            <p:childTnLst>
                              <p:par>
                                <p:cTn id="9" presetID="1" presetClass="entr" presetSubtype="0" fill="hold" nodeType="after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animEffect transition="in" filter="wipe(left)">
                                      <p:cBhvr>
                                        <p:cTn id="15" dur="2750"/>
                                        <p:tgtEl>
                                          <p:spTgt spid="4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wipe(left)">
                                      <p:cBhvr>
                                        <p:cTn id="20" dur="30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09AC980-9AFC-1BB5-4AB2-8BC8AB9969B3}"/>
              </a:ext>
            </a:extLst>
          </p:cNvPr>
          <p:cNvSpPr>
            <a:spLocks noGrp="1"/>
          </p:cNvSpPr>
          <p:nvPr>
            <p:ph sz="quarter" idx="11"/>
          </p:nvPr>
        </p:nvSpPr>
        <p:spPr>
          <a:xfrm>
            <a:off x="486000" y="900000"/>
            <a:ext cx="8172000" cy="3703500"/>
          </a:xfrm>
        </p:spPr>
        <p:txBody>
          <a:bodyPr/>
          <a:lstStyle/>
          <a:p>
            <a:r>
              <a:rPr lang="zh-CN" altLang="en-US" dirty="0"/>
              <a:t>拥塞控制的前提：网络能够承受现有的网络负荷。</a:t>
            </a:r>
            <a:endParaRPr lang="en-US" altLang="zh-CN" dirty="0"/>
          </a:p>
          <a:p>
            <a:r>
              <a:rPr lang="zh-CN" altLang="en-US" dirty="0"/>
              <a:t>实践证明，拥塞控制是很难设计的，因为它是一个动态问题。</a:t>
            </a:r>
          </a:p>
          <a:p>
            <a:r>
              <a:rPr lang="zh-CN" altLang="en-US" dirty="0"/>
              <a:t>分组的丢失是网络发生拥塞的征兆，而不是原因。</a:t>
            </a:r>
          </a:p>
          <a:p>
            <a:r>
              <a:rPr lang="zh-CN" altLang="en-US" dirty="0"/>
              <a:t>在许多情况下，甚至正是拥塞控制本身成为引起网络性能恶化、甚至发生死锁的原因。</a:t>
            </a:r>
          </a:p>
          <a:p>
            <a:endParaRPr lang="zh-CN" altLang="en-US" dirty="0"/>
          </a:p>
        </p:txBody>
      </p:sp>
      <p:sp>
        <p:nvSpPr>
          <p:cNvPr id="5" name="标题 4">
            <a:extLst>
              <a:ext uri="{FF2B5EF4-FFF2-40B4-BE49-F238E27FC236}">
                <a16:creationId xmlns:a16="http://schemas.microsoft.com/office/drawing/2014/main" id="{4CD16FD9-605E-48EE-AFE2-749321A51AE7}"/>
              </a:ext>
            </a:extLst>
          </p:cNvPr>
          <p:cNvSpPr>
            <a:spLocks noGrp="1"/>
          </p:cNvSpPr>
          <p:nvPr>
            <p:ph type="title"/>
          </p:nvPr>
        </p:nvSpPr>
        <p:spPr>
          <a:xfrm>
            <a:off x="486000" y="550723"/>
            <a:ext cx="8172000" cy="338554"/>
          </a:xfrm>
        </p:spPr>
        <p:txBody>
          <a:bodyPr/>
          <a:lstStyle/>
          <a:p>
            <a:r>
              <a:rPr lang="zh-CN" altLang="en-US" dirty="0"/>
              <a:t>拥塞控制的一般原理</a:t>
            </a:r>
          </a:p>
        </p:txBody>
      </p:sp>
    </p:spTree>
    <p:extLst>
      <p:ext uri="{BB962C8B-B14F-4D97-AF65-F5344CB8AC3E}">
        <p14:creationId xmlns:p14="http://schemas.microsoft.com/office/powerpoint/2010/main" val="3246730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图示 12"/>
          <p:cNvGraphicFramePr/>
          <p:nvPr>
            <p:extLst>
              <p:ext uri="{D42A27DB-BD31-4B8C-83A1-F6EECF244321}">
                <p14:modId xmlns:p14="http://schemas.microsoft.com/office/powerpoint/2010/main" val="368467618"/>
              </p:ext>
            </p:extLst>
          </p:nvPr>
        </p:nvGraphicFramePr>
        <p:xfrm>
          <a:off x="1062087" y="1042332"/>
          <a:ext cx="7110952" cy="27378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1C731252-D192-BAF5-6F74-2658026BD46C}"/>
              </a:ext>
            </a:extLst>
          </p:cNvPr>
          <p:cNvSpPr>
            <a:spLocks noGrp="1"/>
          </p:cNvSpPr>
          <p:nvPr>
            <p:ph type="title"/>
          </p:nvPr>
        </p:nvSpPr>
        <p:spPr>
          <a:xfrm>
            <a:off x="486000" y="550723"/>
            <a:ext cx="8172000" cy="338554"/>
          </a:xfrm>
        </p:spPr>
        <p:txBody>
          <a:bodyPr/>
          <a:lstStyle/>
          <a:p>
            <a:r>
              <a:rPr lang="zh-CN" altLang="en-US" dirty="0"/>
              <a:t>开环控制和闭环控制</a:t>
            </a:r>
          </a:p>
        </p:txBody>
      </p:sp>
    </p:spTree>
    <p:extLst>
      <p:ext uri="{BB962C8B-B14F-4D97-AF65-F5344CB8AC3E}">
        <p14:creationId xmlns:p14="http://schemas.microsoft.com/office/powerpoint/2010/main" val="1783840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406505213"/>
              </p:ext>
            </p:extLst>
          </p:nvPr>
        </p:nvGraphicFramePr>
        <p:xfrm>
          <a:off x="2376691"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DEB1ADA9-363C-ABF9-EE21-2CDB0933B504}"/>
              </a:ext>
            </a:extLst>
          </p:cNvPr>
          <p:cNvSpPr>
            <a:spLocks noGrp="1"/>
          </p:cNvSpPr>
          <p:nvPr>
            <p:ph type="title"/>
          </p:nvPr>
        </p:nvSpPr>
        <p:spPr>
          <a:xfrm>
            <a:off x="486000" y="550723"/>
            <a:ext cx="8172000" cy="338554"/>
          </a:xfrm>
        </p:spPr>
        <p:txBody>
          <a:bodyPr/>
          <a:lstStyle/>
          <a:p>
            <a:r>
              <a:rPr lang="zh-CN" altLang="en-US" dirty="0"/>
              <a:t>闭环控制措施</a:t>
            </a:r>
          </a:p>
        </p:txBody>
      </p:sp>
    </p:spTree>
    <p:extLst>
      <p:ext uri="{BB962C8B-B14F-4D97-AF65-F5344CB8AC3E}">
        <p14:creationId xmlns:p14="http://schemas.microsoft.com/office/powerpoint/2010/main" val="28144475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424495821"/>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442302"/>
            <a:ext cx="3323803" cy="2205872"/>
          </a:xfrm>
          <a:prstGeom prst="borderCallout1">
            <a:avLst>
              <a:gd name="adj1" fmla="val 8441"/>
              <a:gd name="adj2" fmla="val -96"/>
              <a:gd name="adj3" fmla="val 696"/>
              <a:gd name="adj4" fmla="val -10217"/>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主要指标有：</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由于缺少缓存空间而被丢弃的分组的百分数；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平均队列长度；</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超时重传的分组数；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平均分组时延；</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分组时延的标准差，等等。</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这些指标的上升都标志着拥塞的增长。</a:t>
            </a:r>
          </a:p>
        </p:txBody>
      </p:sp>
      <p:sp>
        <p:nvSpPr>
          <p:cNvPr id="4" name="标题 3">
            <a:extLst>
              <a:ext uri="{FF2B5EF4-FFF2-40B4-BE49-F238E27FC236}">
                <a16:creationId xmlns:a16="http://schemas.microsoft.com/office/drawing/2014/main" id="{6AA3CC6C-A7CA-CF61-4A4D-E6F8E22160DD}"/>
              </a:ext>
            </a:extLst>
          </p:cNvPr>
          <p:cNvSpPr>
            <a:spLocks noGrp="1"/>
          </p:cNvSpPr>
          <p:nvPr>
            <p:ph type="title"/>
          </p:nvPr>
        </p:nvSpPr>
        <p:spPr>
          <a:xfrm>
            <a:off x="486000" y="550723"/>
            <a:ext cx="8172000" cy="338554"/>
          </a:xfrm>
        </p:spPr>
        <p:txBody>
          <a:bodyPr/>
          <a:lstStyle/>
          <a:p>
            <a:r>
              <a:rPr lang="zh-CN" altLang="en-US" dirty="0"/>
              <a:t>闭环控制措施</a:t>
            </a:r>
          </a:p>
        </p:txBody>
      </p:sp>
    </p:spTree>
    <p:extLst>
      <p:ext uri="{BB962C8B-B14F-4D97-AF65-F5344CB8AC3E}">
        <p14:creationId xmlns:p14="http://schemas.microsoft.com/office/powerpoint/2010/main" val="6292891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85682877"/>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894788"/>
            <a:ext cx="3323803" cy="1753385"/>
          </a:xfrm>
          <a:prstGeom prst="borderCallout1">
            <a:avLst>
              <a:gd name="adj1" fmla="val 42353"/>
              <a:gd name="adj2" fmla="val -96"/>
              <a:gd name="adj3" fmla="val 34925"/>
              <a:gd name="adj4" fmla="val -9366"/>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将拥塞发生的信息传送到产生分组的</a:t>
            </a:r>
            <a:r>
              <a:rPr lang="zh-CN" altLang="en-US" sz="1400" b="1" dirty="0">
                <a:solidFill>
                  <a:srgbClr val="C00000"/>
                </a:solidFill>
                <a:latin typeface="微软雅黑" pitchFamily="34" charset="-122"/>
                <a:ea typeface="微软雅黑" pitchFamily="34" charset="-122"/>
              </a:rPr>
              <a:t>源站。</a:t>
            </a:r>
          </a:p>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在路由器转发的分组中保留一个比特或字段，用该</a:t>
            </a:r>
            <a:r>
              <a:rPr lang="zh-CN" altLang="en-US" sz="1400" b="1" dirty="0">
                <a:solidFill>
                  <a:srgbClr val="C00000"/>
                </a:solidFill>
                <a:latin typeface="微软雅黑" pitchFamily="34" charset="-122"/>
                <a:ea typeface="微软雅黑" pitchFamily="34" charset="-122"/>
              </a:rPr>
              <a:t>比特或字段</a:t>
            </a:r>
            <a:r>
              <a:rPr lang="zh-CN" altLang="en-US" sz="1400" b="1" dirty="0">
                <a:solidFill>
                  <a:schemeClr val="tx1"/>
                </a:solidFill>
                <a:latin typeface="微软雅黑" pitchFamily="34" charset="-122"/>
                <a:ea typeface="微软雅黑" pitchFamily="34" charset="-122"/>
              </a:rPr>
              <a:t>的值表示网络没有拥塞或产生了拥塞。</a:t>
            </a:r>
          </a:p>
          <a:p>
            <a:pPr marL="179388" indent="-179388">
              <a:lnSpc>
                <a:spcPts val="2000"/>
              </a:lnSpc>
              <a:buClr>
                <a:srgbClr val="9900CC"/>
              </a:buClr>
              <a:buFont typeface="+mj-lt"/>
              <a:buAutoNum type="arabicPeriod"/>
            </a:pPr>
            <a:r>
              <a:rPr lang="zh-CN" altLang="en-US" sz="1400" b="1" dirty="0">
                <a:solidFill>
                  <a:srgbClr val="C00000"/>
                </a:solidFill>
                <a:latin typeface="微软雅黑" pitchFamily="34" charset="-122"/>
                <a:ea typeface="微软雅黑" pitchFamily="34" charset="-122"/>
              </a:rPr>
              <a:t>周期性</a:t>
            </a:r>
            <a:r>
              <a:rPr lang="zh-CN" altLang="en-US" sz="1400" b="1" dirty="0">
                <a:solidFill>
                  <a:schemeClr val="tx1"/>
                </a:solidFill>
                <a:latin typeface="微软雅黑" pitchFamily="34" charset="-122"/>
                <a:ea typeface="微软雅黑" pitchFamily="34" charset="-122"/>
              </a:rPr>
              <a:t>地发出探测分组等。</a:t>
            </a:r>
          </a:p>
        </p:txBody>
      </p:sp>
      <p:sp>
        <p:nvSpPr>
          <p:cNvPr id="4" name="标题 3">
            <a:extLst>
              <a:ext uri="{FF2B5EF4-FFF2-40B4-BE49-F238E27FC236}">
                <a16:creationId xmlns:a16="http://schemas.microsoft.com/office/drawing/2014/main" id="{B8654CCE-1278-D2CF-12D6-942618BB19FF}"/>
              </a:ext>
            </a:extLst>
          </p:cNvPr>
          <p:cNvSpPr>
            <a:spLocks noGrp="1"/>
          </p:cNvSpPr>
          <p:nvPr>
            <p:ph type="title"/>
          </p:nvPr>
        </p:nvSpPr>
        <p:spPr>
          <a:xfrm>
            <a:off x="486000" y="550723"/>
            <a:ext cx="8172000" cy="338554"/>
          </a:xfrm>
        </p:spPr>
        <p:txBody>
          <a:bodyPr/>
          <a:lstStyle/>
          <a:p>
            <a:r>
              <a:rPr lang="zh-CN" altLang="en-US" dirty="0"/>
              <a:t>闭环控制措施</a:t>
            </a:r>
          </a:p>
        </p:txBody>
      </p:sp>
    </p:spTree>
    <p:extLst>
      <p:ext uri="{BB962C8B-B14F-4D97-AF65-F5344CB8AC3E}">
        <p14:creationId xmlns:p14="http://schemas.microsoft.com/office/powerpoint/2010/main" val="12749181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561655422"/>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2686639"/>
            <a:ext cx="3398287" cy="961534"/>
          </a:xfrm>
          <a:prstGeom prst="borderCallout1">
            <a:avLst>
              <a:gd name="adj1" fmla="val 74102"/>
              <a:gd name="adj2" fmla="val -96"/>
              <a:gd name="adj3" fmla="val 89195"/>
              <a:gd name="adj4" fmla="val -9915"/>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过于频繁，会使系统产生不稳定的振荡。</a:t>
            </a:r>
          </a:p>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过于迟缓，不具有任何实用价值。</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选择正确的时间常数是相当困难的。</a:t>
            </a:r>
          </a:p>
        </p:txBody>
      </p:sp>
      <p:sp>
        <p:nvSpPr>
          <p:cNvPr id="4" name="标题 3">
            <a:extLst>
              <a:ext uri="{FF2B5EF4-FFF2-40B4-BE49-F238E27FC236}">
                <a16:creationId xmlns:a16="http://schemas.microsoft.com/office/drawing/2014/main" id="{FA77A60E-F80B-D74A-B511-3D74FB29D4E2}"/>
              </a:ext>
            </a:extLst>
          </p:cNvPr>
          <p:cNvSpPr>
            <a:spLocks noGrp="1"/>
          </p:cNvSpPr>
          <p:nvPr>
            <p:ph type="title"/>
          </p:nvPr>
        </p:nvSpPr>
        <p:spPr>
          <a:xfrm>
            <a:off x="486000" y="550723"/>
            <a:ext cx="8172000" cy="338554"/>
          </a:xfrm>
        </p:spPr>
        <p:txBody>
          <a:bodyPr/>
          <a:lstStyle/>
          <a:p>
            <a:r>
              <a:rPr lang="zh-CN" altLang="en-US" dirty="0"/>
              <a:t>闭环控制措施</a:t>
            </a:r>
          </a:p>
        </p:txBody>
      </p:sp>
    </p:spTree>
    <p:extLst>
      <p:ext uri="{BB962C8B-B14F-4D97-AF65-F5344CB8AC3E}">
        <p14:creationId xmlns:p14="http://schemas.microsoft.com/office/powerpoint/2010/main" val="22639322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矩形 39"/>
          <p:cNvSpPr/>
          <p:nvPr/>
        </p:nvSpPr>
        <p:spPr>
          <a:xfrm>
            <a:off x="556963" y="3686475"/>
            <a:ext cx="8048776" cy="499026"/>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真正的发送窗口值 </a:t>
            </a:r>
            <a:r>
              <a:rPr lang="en-US" altLang="zh-CN" sz="2000" b="1" dirty="0">
                <a:latin typeface="微软雅黑" pitchFamily="34" charset="-122"/>
                <a:ea typeface="微软雅黑" pitchFamily="34" charset="-122"/>
              </a:rPr>
              <a:t>= Min (</a:t>
            </a:r>
            <a:r>
              <a:rPr lang="zh-CN" altLang="en-US" sz="2000" b="1" dirty="0">
                <a:latin typeface="微软雅黑" pitchFamily="34" charset="-122"/>
                <a:ea typeface="微软雅黑" pitchFamily="34" charset="-122"/>
              </a:rPr>
              <a:t>接收方通知的窗口值，拥塞窗口值</a:t>
            </a:r>
            <a:r>
              <a:rPr lang="en-US" altLang="zh-CN" sz="2000" b="1" dirty="0">
                <a:latin typeface="微软雅黑" pitchFamily="34" charset="-122"/>
                <a:ea typeface="微软雅黑" pitchFamily="34" charset="-122"/>
              </a:rPr>
              <a:t>)</a:t>
            </a:r>
          </a:p>
        </p:txBody>
      </p:sp>
      <p:sp>
        <p:nvSpPr>
          <p:cNvPr id="6" name="内容占位符 5">
            <a:extLst>
              <a:ext uri="{FF2B5EF4-FFF2-40B4-BE49-F238E27FC236}">
                <a16:creationId xmlns:a16="http://schemas.microsoft.com/office/drawing/2014/main" id="{CE35B60B-0423-57EB-9B0C-7538D09F9CCA}"/>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采用基于滑动窗口的方法进行拥塞控制，属于闭环控制方法。</a:t>
            </a:r>
          </a:p>
          <a:p>
            <a:r>
              <a:rPr lang="en-US" altLang="zh-CN" dirty="0"/>
              <a:t>TCP </a:t>
            </a:r>
            <a:r>
              <a:rPr lang="zh-CN" altLang="en-US" dirty="0"/>
              <a:t>发送方维持一个拥塞窗口 </a:t>
            </a:r>
            <a:r>
              <a:rPr lang="en-US" altLang="zh-CN" dirty="0" err="1"/>
              <a:t>cwnd</a:t>
            </a:r>
            <a:r>
              <a:rPr lang="en-US" altLang="zh-CN" dirty="0"/>
              <a:t> (Congestion Window)</a:t>
            </a:r>
          </a:p>
          <a:p>
            <a:r>
              <a:rPr lang="zh-CN" altLang="en-US" dirty="0"/>
              <a:t>拥塞窗口的大小取决于网络的拥塞程度，并且是动态变化的。</a:t>
            </a:r>
            <a:endParaRPr lang="en-US" altLang="zh-CN" dirty="0"/>
          </a:p>
          <a:p>
            <a:r>
              <a:rPr lang="zh-CN" altLang="en-US" dirty="0"/>
              <a:t>发送端利用拥塞窗口根据网络的拥塞情况调整发送的数据量。</a:t>
            </a:r>
            <a:endParaRPr lang="en-US" altLang="zh-CN" dirty="0"/>
          </a:p>
          <a:p>
            <a:r>
              <a:rPr lang="zh-CN" altLang="en-US" dirty="0"/>
              <a:t>发送窗口大小不仅取决于接收方窗口，还取决于网络的拥塞状况。</a:t>
            </a:r>
            <a:endParaRPr lang="en-US" altLang="zh-CN" dirty="0"/>
          </a:p>
          <a:p>
            <a:r>
              <a:rPr lang="zh-CN" altLang="en-US" dirty="0"/>
              <a:t>真正的发送窗口值：</a:t>
            </a:r>
          </a:p>
          <a:p>
            <a:endParaRPr lang="zh-CN" altLang="en-US" dirty="0"/>
          </a:p>
        </p:txBody>
      </p:sp>
      <p:sp>
        <p:nvSpPr>
          <p:cNvPr id="5" name="标题 4">
            <a:extLst>
              <a:ext uri="{FF2B5EF4-FFF2-40B4-BE49-F238E27FC236}">
                <a16:creationId xmlns:a16="http://schemas.microsoft.com/office/drawing/2014/main" id="{ABFD0A1E-F252-72C0-E802-171C72AA8276}"/>
              </a:ext>
            </a:extLst>
          </p:cNvPr>
          <p:cNvSpPr>
            <a:spLocks noGrp="1"/>
          </p:cNvSpPr>
          <p:nvPr>
            <p:ph type="title"/>
          </p:nvPr>
        </p:nvSpPr>
        <p:spPr>
          <a:xfrm>
            <a:off x="486000" y="550723"/>
            <a:ext cx="8172000" cy="338554"/>
          </a:xfrm>
        </p:spPr>
        <p:txBody>
          <a:bodyPr/>
          <a:lstStyle/>
          <a:p>
            <a:r>
              <a:rPr lang="en-US" altLang="zh-CN" dirty="0"/>
              <a:t>5.8.2  TCP </a:t>
            </a:r>
            <a:r>
              <a:rPr lang="zh-CN" altLang="en-US" dirty="0"/>
              <a:t>的拥塞控制方法</a:t>
            </a:r>
          </a:p>
        </p:txBody>
      </p:sp>
    </p:spTree>
    <p:extLst>
      <p:ext uri="{BB962C8B-B14F-4D97-AF65-F5344CB8AC3E}">
        <p14:creationId xmlns:p14="http://schemas.microsoft.com/office/powerpoint/2010/main" val="40539807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5596F08A-7288-5661-F81D-CDD08F3E5072}"/>
              </a:ext>
            </a:extLst>
          </p:cNvPr>
          <p:cNvSpPr>
            <a:spLocks noGrp="1"/>
          </p:cNvSpPr>
          <p:nvPr>
            <p:ph sz="quarter" idx="11"/>
          </p:nvPr>
        </p:nvSpPr>
        <p:spPr>
          <a:xfrm>
            <a:off x="486000" y="900000"/>
            <a:ext cx="8172000" cy="3703500"/>
          </a:xfrm>
        </p:spPr>
        <p:txBody>
          <a:bodyPr/>
          <a:lstStyle/>
          <a:p>
            <a:r>
              <a:rPr lang="zh-CN" altLang="en-US" dirty="0"/>
              <a:t>只要网络没有出现拥塞，拥塞窗口就可以再增大一些，以便把更多的分组发送出去，提高网络的利用率。</a:t>
            </a:r>
          </a:p>
          <a:p>
            <a:r>
              <a:rPr lang="zh-CN" altLang="en-US" dirty="0"/>
              <a:t>但只要网络出现拥塞或有可能出现拥塞，就必须把拥塞窗口减小一些，以减少注入到网络中的分组数，缓解网络出现的拥塞。</a:t>
            </a:r>
          </a:p>
          <a:p>
            <a:endParaRPr lang="zh-CN" altLang="en-US" dirty="0"/>
          </a:p>
        </p:txBody>
      </p:sp>
      <p:sp>
        <p:nvSpPr>
          <p:cNvPr id="5" name="标题 4">
            <a:extLst>
              <a:ext uri="{FF2B5EF4-FFF2-40B4-BE49-F238E27FC236}">
                <a16:creationId xmlns:a16="http://schemas.microsoft.com/office/drawing/2014/main" id="{57670961-9006-2A6E-3F3C-D69103E79BC1}"/>
              </a:ext>
            </a:extLst>
          </p:cNvPr>
          <p:cNvSpPr>
            <a:spLocks noGrp="1"/>
          </p:cNvSpPr>
          <p:nvPr>
            <p:ph type="title"/>
          </p:nvPr>
        </p:nvSpPr>
        <p:spPr>
          <a:xfrm>
            <a:off x="486000" y="550723"/>
            <a:ext cx="8172000" cy="338554"/>
          </a:xfrm>
        </p:spPr>
        <p:txBody>
          <a:bodyPr/>
          <a:lstStyle/>
          <a:p>
            <a:r>
              <a:rPr lang="zh-CN" altLang="en-US" dirty="0"/>
              <a:t>控制拥塞窗口变化的原则</a:t>
            </a:r>
          </a:p>
        </p:txBody>
      </p:sp>
    </p:spTree>
    <p:extLst>
      <p:ext uri="{BB962C8B-B14F-4D97-AF65-F5344CB8AC3E}">
        <p14:creationId xmlns:p14="http://schemas.microsoft.com/office/powerpoint/2010/main" val="2671035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4178475380"/>
              </p:ext>
            </p:extLst>
          </p:nvPr>
        </p:nvGraphicFramePr>
        <p:xfrm>
          <a:off x="875047" y="1155452"/>
          <a:ext cx="7429968" cy="15751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1186111" y="2910102"/>
            <a:ext cx="6790480" cy="861774"/>
          </a:xfrm>
          <a:prstGeom prst="rect">
            <a:avLst/>
          </a:prstGeom>
        </p:spPr>
        <p:txBody>
          <a:bodyPr wrap="square">
            <a:spAutoFit/>
          </a:bodyPr>
          <a:lstStyle/>
          <a:p>
            <a:pPr>
              <a:lnSpc>
                <a:spcPts val="3000"/>
              </a:lnSpc>
            </a:pPr>
            <a:r>
              <a:rPr lang="zh-CN" altLang="en-US" b="1" dirty="0">
                <a:latin typeface="微软雅黑" panose="020B0503020204020204" pitchFamily="34" charset="-122"/>
                <a:ea typeface="微软雅黑" panose="020B0503020204020204" pitchFamily="34" charset="-122"/>
              </a:rPr>
              <a:t>因传输出差错而丢弃分组的</a:t>
            </a:r>
            <a:r>
              <a:rPr lang="zh-CN" altLang="en-US" b="1" dirty="0">
                <a:solidFill>
                  <a:srgbClr val="C00000"/>
                </a:solidFill>
                <a:latin typeface="微软雅黑" panose="020B0503020204020204" pitchFamily="34" charset="-122"/>
                <a:ea typeface="微软雅黑" panose="020B0503020204020204" pitchFamily="34" charset="-122"/>
              </a:rPr>
              <a:t>概率很小</a:t>
            </a:r>
            <a:r>
              <a:rPr lang="zh-CN" altLang="en-US" b="1" dirty="0">
                <a:latin typeface="微软雅黑" panose="020B0503020204020204" pitchFamily="34" charset="-122"/>
                <a:ea typeface="微软雅黑" panose="020B0503020204020204" pitchFamily="34" charset="-122"/>
              </a:rPr>
              <a:t>（远小于</a:t>
            </a:r>
            <a:r>
              <a:rPr lang="en-US" altLang="zh-CN" b="1" dirty="0">
                <a:latin typeface="微软雅黑" panose="020B0503020204020204" pitchFamily="34" charset="-122"/>
                <a:ea typeface="微软雅黑" panose="020B0503020204020204" pitchFamily="34" charset="-122"/>
              </a:rPr>
              <a:t>1 %</a:t>
            </a:r>
            <a:r>
              <a:rPr lang="zh-CN" altLang="en-US" b="1" dirty="0">
                <a:latin typeface="微软雅黑" panose="020B0503020204020204" pitchFamily="34" charset="-122"/>
                <a:ea typeface="微软雅黑" panose="020B0503020204020204" pitchFamily="34" charset="-122"/>
              </a:rPr>
              <a:t>）。</a:t>
            </a:r>
            <a:endParaRPr lang="en-US" altLang="zh-CN" b="1" dirty="0">
              <a:latin typeface="微软雅黑" panose="020B0503020204020204" pitchFamily="34" charset="-122"/>
              <a:ea typeface="微软雅黑" panose="020B0503020204020204" pitchFamily="34" charset="-122"/>
            </a:endParaRPr>
          </a:p>
          <a:p>
            <a:pPr>
              <a:lnSpc>
                <a:spcPts val="3000"/>
              </a:lnSpc>
            </a:pPr>
            <a:r>
              <a:rPr lang="zh-CN" altLang="en-US" b="1" dirty="0">
                <a:latin typeface="微软雅黑" panose="020B0503020204020204" pitchFamily="34" charset="-122"/>
                <a:ea typeface="微软雅黑" panose="020B0503020204020204" pitchFamily="34" charset="-122"/>
              </a:rPr>
              <a:t>因此，发送方在超时重传计时器启动时，</a:t>
            </a:r>
            <a:r>
              <a:rPr lang="zh-CN" altLang="en-US" b="1" dirty="0">
                <a:solidFill>
                  <a:srgbClr val="C00000"/>
                </a:solidFill>
                <a:latin typeface="微软雅黑" panose="020B0503020204020204" pitchFamily="34" charset="-122"/>
                <a:ea typeface="微软雅黑" panose="020B0503020204020204" pitchFamily="34" charset="-122"/>
              </a:rPr>
              <a:t>就判断网络出现了拥塞。</a:t>
            </a:r>
          </a:p>
        </p:txBody>
      </p:sp>
      <p:sp>
        <p:nvSpPr>
          <p:cNvPr id="3" name="标题 2">
            <a:extLst>
              <a:ext uri="{FF2B5EF4-FFF2-40B4-BE49-F238E27FC236}">
                <a16:creationId xmlns:a16="http://schemas.microsoft.com/office/drawing/2014/main" id="{495D013B-2310-E411-41E9-EFB63C1687A1}"/>
              </a:ext>
            </a:extLst>
          </p:cNvPr>
          <p:cNvSpPr>
            <a:spLocks noGrp="1"/>
          </p:cNvSpPr>
          <p:nvPr>
            <p:ph type="title"/>
          </p:nvPr>
        </p:nvSpPr>
        <p:spPr>
          <a:xfrm>
            <a:off x="486000" y="550723"/>
            <a:ext cx="8172000" cy="338554"/>
          </a:xfrm>
        </p:spPr>
        <p:txBody>
          <a:bodyPr/>
          <a:lstStyle/>
          <a:p>
            <a:r>
              <a:rPr lang="zh-CN" altLang="en-US" dirty="0"/>
              <a:t>发送方判断拥塞的方法：隐式反馈</a:t>
            </a:r>
          </a:p>
        </p:txBody>
      </p:sp>
    </p:spTree>
    <p:extLst>
      <p:ext uri="{BB962C8B-B14F-4D97-AF65-F5344CB8AC3E}">
        <p14:creationId xmlns:p14="http://schemas.microsoft.com/office/powerpoint/2010/main" val="4181348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D4AB772E-80B8-6823-E4B3-068A3667C5A7}"/>
              </a:ext>
            </a:extLst>
          </p:cNvPr>
          <p:cNvSpPr>
            <a:spLocks noGrp="1"/>
          </p:cNvSpPr>
          <p:nvPr>
            <p:ph sz="quarter" idx="11"/>
          </p:nvPr>
        </p:nvSpPr>
        <p:spPr>
          <a:xfrm>
            <a:off x="486000" y="900000"/>
            <a:ext cx="8172000" cy="3703500"/>
          </a:xfrm>
        </p:spPr>
        <p:txBody>
          <a:bodyPr/>
          <a:lstStyle/>
          <a:p>
            <a:r>
              <a:rPr lang="zh-CN" altLang="en-US" dirty="0"/>
              <a:t>四种拥塞控制算法（ </a:t>
            </a:r>
            <a:r>
              <a:rPr lang="en-US" altLang="zh-CN" dirty="0"/>
              <a:t>RFC 5681</a:t>
            </a:r>
            <a:r>
              <a:rPr lang="zh-CN" altLang="en-US" dirty="0"/>
              <a:t>） ：</a:t>
            </a:r>
          </a:p>
          <a:p>
            <a:r>
              <a:rPr lang="zh-CN" altLang="en-US" dirty="0"/>
              <a:t>慢开始 </a:t>
            </a:r>
            <a:r>
              <a:rPr lang="en-US" altLang="zh-CN" dirty="0"/>
              <a:t>(slow-start)</a:t>
            </a:r>
          </a:p>
          <a:p>
            <a:r>
              <a:rPr lang="zh-CN" altLang="en-US" dirty="0"/>
              <a:t>拥塞避免 </a:t>
            </a:r>
            <a:r>
              <a:rPr lang="en-US" altLang="zh-CN" dirty="0"/>
              <a:t>(congestion avoidance)</a:t>
            </a:r>
          </a:p>
          <a:p>
            <a:r>
              <a:rPr lang="zh-CN" altLang="en-US" dirty="0"/>
              <a:t>快重传 </a:t>
            </a:r>
            <a:r>
              <a:rPr lang="en-US" altLang="zh-CN" dirty="0"/>
              <a:t>(fast retransmit)</a:t>
            </a:r>
          </a:p>
          <a:p>
            <a:r>
              <a:rPr lang="zh-CN" altLang="en-US" dirty="0"/>
              <a:t>快恢复 </a:t>
            </a:r>
            <a:r>
              <a:rPr lang="en-US" altLang="zh-CN" dirty="0"/>
              <a:t>(fast recovery)</a:t>
            </a:r>
          </a:p>
          <a:p>
            <a:endParaRPr lang="zh-CN" altLang="en-US" dirty="0"/>
          </a:p>
        </p:txBody>
      </p:sp>
      <p:sp>
        <p:nvSpPr>
          <p:cNvPr id="5" name="标题 4">
            <a:extLst>
              <a:ext uri="{FF2B5EF4-FFF2-40B4-BE49-F238E27FC236}">
                <a16:creationId xmlns:a16="http://schemas.microsoft.com/office/drawing/2014/main" id="{D7947292-7CE9-5A53-09D3-1298FD515067}"/>
              </a:ext>
            </a:extLst>
          </p:cNvPr>
          <p:cNvSpPr>
            <a:spLocks noGrp="1"/>
          </p:cNvSpPr>
          <p:nvPr>
            <p:ph type="title"/>
          </p:nvPr>
        </p:nvSpPr>
        <p:spPr>
          <a:xfrm>
            <a:off x="486000" y="550723"/>
            <a:ext cx="8172000" cy="338554"/>
          </a:xfrm>
        </p:spPr>
        <p:txBody>
          <a:bodyPr/>
          <a:lstStyle/>
          <a:p>
            <a:r>
              <a:rPr lang="en-US" altLang="zh-CN" dirty="0"/>
              <a:t>TCP </a:t>
            </a:r>
            <a:r>
              <a:rPr lang="zh-CN" altLang="en-US" dirty="0"/>
              <a:t>拥塞控制算法</a:t>
            </a:r>
          </a:p>
        </p:txBody>
      </p:sp>
    </p:spTree>
    <p:extLst>
      <p:ext uri="{BB962C8B-B14F-4D97-AF65-F5344CB8AC3E}">
        <p14:creationId xmlns:p14="http://schemas.microsoft.com/office/powerpoint/2010/main" val="3258941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299569659"/>
              </p:ext>
            </p:extLst>
          </p:nvPr>
        </p:nvGraphicFramePr>
        <p:xfrm>
          <a:off x="2932192" y="2187018"/>
          <a:ext cx="4448995" cy="23567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4E12C899-C201-AB9D-A4AD-6D7EF86E4850}"/>
              </a:ext>
            </a:extLst>
          </p:cNvPr>
          <p:cNvSpPr>
            <a:spLocks noGrp="1"/>
          </p:cNvSpPr>
          <p:nvPr>
            <p:ph sz="quarter" idx="11"/>
          </p:nvPr>
        </p:nvSpPr>
        <p:spPr>
          <a:xfrm>
            <a:off x="486000" y="900000"/>
            <a:ext cx="8172000" cy="3703500"/>
          </a:xfrm>
        </p:spPr>
        <p:txBody>
          <a:bodyPr/>
          <a:lstStyle/>
          <a:p>
            <a:r>
              <a:rPr lang="zh-CN" altLang="en-US" dirty="0"/>
              <a:t>目的：探测网络的负载能力或拥塞程度。</a:t>
            </a:r>
          </a:p>
          <a:p>
            <a:r>
              <a:rPr lang="zh-CN" altLang="en-US" dirty="0"/>
              <a:t>算法：由小到大逐渐增大注入到网络中的数据字节，即：由小到大逐渐增大拥塞窗口数值。</a:t>
            </a:r>
            <a:endParaRPr lang="en-US" altLang="zh-CN" dirty="0"/>
          </a:p>
          <a:p>
            <a:r>
              <a:rPr lang="en-US" altLang="zh-CN" dirty="0"/>
              <a:t>2 </a:t>
            </a:r>
            <a:r>
              <a:rPr lang="zh-CN" altLang="en-US" dirty="0"/>
              <a:t>个控制变量：</a:t>
            </a:r>
          </a:p>
          <a:p>
            <a:endParaRPr lang="zh-CN" altLang="en-US" dirty="0"/>
          </a:p>
        </p:txBody>
      </p:sp>
      <p:sp>
        <p:nvSpPr>
          <p:cNvPr id="6" name="标题 5">
            <a:extLst>
              <a:ext uri="{FF2B5EF4-FFF2-40B4-BE49-F238E27FC236}">
                <a16:creationId xmlns:a16="http://schemas.microsoft.com/office/drawing/2014/main" id="{3B8D63E4-D6FD-3AE0-12CB-F140C0509615}"/>
              </a:ext>
            </a:extLst>
          </p:cNvPr>
          <p:cNvSpPr>
            <a:spLocks noGrp="1"/>
          </p:cNvSpPr>
          <p:nvPr>
            <p:ph type="title"/>
          </p:nvPr>
        </p:nvSpPr>
        <p:spPr>
          <a:xfrm>
            <a:off x="486000" y="550723"/>
            <a:ext cx="8172000" cy="338554"/>
          </a:xfrm>
        </p:spPr>
        <p:txBody>
          <a:bodyPr/>
          <a:lstStyle/>
          <a:p>
            <a:r>
              <a:rPr lang="en-US" altLang="zh-CN" dirty="0"/>
              <a:t>1. </a:t>
            </a:r>
            <a:r>
              <a:rPr lang="zh-CN" altLang="en-US" dirty="0"/>
              <a:t>慢开始 </a:t>
            </a:r>
            <a:r>
              <a:rPr lang="en-US" altLang="zh-CN" dirty="0"/>
              <a:t>(Slow start)</a:t>
            </a:r>
            <a:endParaRPr lang="zh-CN" altLang="en-US" dirty="0"/>
          </a:p>
        </p:txBody>
      </p:sp>
    </p:spTree>
    <p:extLst>
      <p:ext uri="{BB962C8B-B14F-4D97-AF65-F5344CB8AC3E}">
        <p14:creationId xmlns:p14="http://schemas.microsoft.com/office/powerpoint/2010/main" val="3098884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矩形 38"/>
          <p:cNvSpPr/>
          <p:nvPr/>
        </p:nvSpPr>
        <p:spPr>
          <a:xfrm>
            <a:off x="1042543" y="2261782"/>
            <a:ext cx="7213799" cy="57568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b="1" dirty="0">
                <a:latin typeface="微软雅黑" pitchFamily="34" charset="-122"/>
                <a:ea typeface="微软雅黑" pitchFamily="34" charset="-122"/>
              </a:rPr>
              <a:t>拥塞窗口 </a:t>
            </a:r>
            <a:r>
              <a:rPr lang="en-US" altLang="zh-CN" b="1" dirty="0" err="1">
                <a:latin typeface="微软雅黑" pitchFamily="34" charset="-122"/>
                <a:ea typeface="微软雅黑" pitchFamily="34" charset="-122"/>
              </a:rPr>
              <a:t>cwnd</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每次的增加量 </a:t>
            </a:r>
            <a:r>
              <a:rPr lang="en-US" altLang="zh-CN" b="1" dirty="0">
                <a:latin typeface="微软雅黑" pitchFamily="34" charset="-122"/>
                <a:ea typeface="微软雅黑" pitchFamily="34" charset="-122"/>
              </a:rPr>
              <a:t>= min (</a:t>
            </a:r>
            <a:r>
              <a:rPr lang="en-US" altLang="zh-CN" b="1" i="1" dirty="0">
                <a:latin typeface="微软雅黑" pitchFamily="34" charset="-122"/>
                <a:ea typeface="微软雅黑" pitchFamily="34" charset="-122"/>
              </a:rPr>
              <a:t>N</a:t>
            </a:r>
            <a:r>
              <a:rPr lang="en-US" altLang="zh-CN" b="1" dirty="0">
                <a:latin typeface="微软雅黑" pitchFamily="34" charset="-122"/>
                <a:ea typeface="微软雅黑" pitchFamily="34" charset="-122"/>
              </a:rPr>
              <a:t>, SMSS)          (5-8)</a:t>
            </a:r>
          </a:p>
        </p:txBody>
      </p:sp>
      <p:sp>
        <p:nvSpPr>
          <p:cNvPr id="8" name="内容占位符 7">
            <a:extLst>
              <a:ext uri="{FF2B5EF4-FFF2-40B4-BE49-F238E27FC236}">
                <a16:creationId xmlns:a16="http://schemas.microsoft.com/office/drawing/2014/main" id="{65512EDA-64D2-A3BC-DB55-D6DAF3A3CB49}"/>
              </a:ext>
            </a:extLst>
          </p:cNvPr>
          <p:cNvSpPr>
            <a:spLocks noGrp="1"/>
          </p:cNvSpPr>
          <p:nvPr>
            <p:ph sz="quarter" idx="11"/>
          </p:nvPr>
        </p:nvSpPr>
        <p:spPr>
          <a:xfrm>
            <a:off x="486000" y="900000"/>
            <a:ext cx="8172000" cy="3703500"/>
          </a:xfrm>
        </p:spPr>
        <p:txBody>
          <a:bodyPr/>
          <a:lstStyle/>
          <a:p>
            <a:r>
              <a:rPr lang="zh-CN" altLang="en-US" dirty="0"/>
              <a:t>拥塞窗口 </a:t>
            </a:r>
            <a:r>
              <a:rPr lang="en-US" altLang="zh-CN" dirty="0" err="1"/>
              <a:t>cwnd</a:t>
            </a:r>
            <a:r>
              <a:rPr lang="en-US" altLang="zh-CN" dirty="0"/>
              <a:t> </a:t>
            </a:r>
            <a:r>
              <a:rPr lang="zh-CN" altLang="en-US" dirty="0"/>
              <a:t>增大：在每收到一个对新的报文段的确认，就把拥塞窗口增加最多一个发送方的最大报文段 </a:t>
            </a:r>
            <a:r>
              <a:rPr lang="en-US" altLang="zh-CN" dirty="0"/>
              <a:t>SMSS  (Sender Maximum Segment Size) </a:t>
            </a:r>
            <a:r>
              <a:rPr lang="zh-CN" altLang="en-US" dirty="0"/>
              <a:t>的数值。</a:t>
            </a:r>
          </a:p>
          <a:p>
            <a:r>
              <a:rPr lang="zh-CN" altLang="en-US" dirty="0"/>
              <a:t>其中 </a:t>
            </a:r>
            <a:r>
              <a:rPr lang="en-US" altLang="zh-CN" dirty="0"/>
              <a:t>N </a:t>
            </a:r>
            <a:r>
              <a:rPr lang="zh-CN" altLang="en-US" dirty="0"/>
              <a:t>是原先未被确认的、但现在被刚收到的确认报文段所确认的字节数。</a:t>
            </a:r>
          </a:p>
          <a:p>
            <a:endParaRPr lang="zh-CN" altLang="en-US" dirty="0"/>
          </a:p>
        </p:txBody>
      </p:sp>
      <p:sp>
        <p:nvSpPr>
          <p:cNvPr id="5" name="标题 4">
            <a:extLst>
              <a:ext uri="{FF2B5EF4-FFF2-40B4-BE49-F238E27FC236}">
                <a16:creationId xmlns:a16="http://schemas.microsoft.com/office/drawing/2014/main" id="{C05F23E5-C9E9-FA95-E528-4919846C22FA}"/>
              </a:ext>
            </a:extLst>
          </p:cNvPr>
          <p:cNvSpPr>
            <a:spLocks noGrp="1"/>
          </p:cNvSpPr>
          <p:nvPr>
            <p:ph type="title"/>
          </p:nvPr>
        </p:nvSpPr>
        <p:spPr>
          <a:xfrm>
            <a:off x="486000" y="550723"/>
            <a:ext cx="8172000" cy="338554"/>
          </a:xfrm>
        </p:spPr>
        <p:txBody>
          <a:bodyPr/>
          <a:lstStyle/>
          <a:p>
            <a:r>
              <a:rPr lang="en-US" altLang="zh-CN" dirty="0"/>
              <a:t>1. </a:t>
            </a:r>
            <a:r>
              <a:rPr lang="zh-CN" altLang="en-US" dirty="0"/>
              <a:t>慢开始 </a:t>
            </a:r>
            <a:r>
              <a:rPr lang="en-US" altLang="zh-CN" dirty="0"/>
              <a:t>(Slow start)</a:t>
            </a:r>
            <a:endParaRPr lang="zh-CN" altLang="en-US" dirty="0"/>
          </a:p>
        </p:txBody>
      </p:sp>
    </p:spTree>
    <p:extLst>
      <p:ext uri="{BB962C8B-B14F-4D97-AF65-F5344CB8AC3E}">
        <p14:creationId xmlns:p14="http://schemas.microsoft.com/office/powerpoint/2010/main" val="19696151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360605" y="1224875"/>
            <a:ext cx="2592000" cy="418011"/>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 1</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p>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SSTH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n</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8" name="矩形 7"/>
          <p:cNvSpPr/>
          <p:nvPr/>
        </p:nvSpPr>
        <p:spPr>
          <a:xfrm>
            <a:off x="5736553" y="3635415"/>
            <a:ext cx="1765717" cy="418011"/>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执行拥塞避免算法</a:t>
            </a:r>
          </a:p>
        </p:txBody>
      </p:sp>
      <p:cxnSp>
        <p:nvCxnSpPr>
          <p:cNvPr id="11" name="直接箭头连接符 10"/>
          <p:cNvCxnSpPr>
            <a:stCxn id="2" idx="2"/>
            <a:endCxn id="27" idx="0"/>
          </p:cNvCxnSpPr>
          <p:nvPr/>
        </p:nvCxnSpPr>
        <p:spPr>
          <a:xfrm>
            <a:off x="3656605" y="1642886"/>
            <a:ext cx="0" cy="354264"/>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7" idx="2"/>
            <a:endCxn id="37" idx="0"/>
          </p:cNvCxnSpPr>
          <p:nvPr/>
        </p:nvCxnSpPr>
        <p:spPr>
          <a:xfrm>
            <a:off x="3656605" y="2283488"/>
            <a:ext cx="0" cy="281668"/>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a:stCxn id="37" idx="2"/>
            <a:endCxn id="42" idx="0"/>
          </p:cNvCxnSpPr>
          <p:nvPr/>
        </p:nvCxnSpPr>
        <p:spPr>
          <a:xfrm>
            <a:off x="3656605" y="3286248"/>
            <a:ext cx="0" cy="287119"/>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3" name="直接箭头连接符 42"/>
          <p:cNvCxnSpPr>
            <a:stCxn id="42" idx="3"/>
            <a:endCxn id="8" idx="1"/>
          </p:cNvCxnSpPr>
          <p:nvPr/>
        </p:nvCxnSpPr>
        <p:spPr>
          <a:xfrm flipV="1">
            <a:off x="4952605" y="3844421"/>
            <a:ext cx="783948" cy="1"/>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2009700" y="3594889"/>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是</a:t>
            </a:r>
          </a:p>
        </p:txBody>
      </p:sp>
      <p:sp>
        <p:nvSpPr>
          <p:cNvPr id="48" name="TextBox 47"/>
          <p:cNvSpPr txBox="1"/>
          <p:nvPr/>
        </p:nvSpPr>
        <p:spPr>
          <a:xfrm>
            <a:off x="4942929" y="3595051"/>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否</a:t>
            </a:r>
          </a:p>
        </p:txBody>
      </p:sp>
      <p:sp>
        <p:nvSpPr>
          <p:cNvPr id="27" name="矩形 26"/>
          <p:cNvSpPr/>
          <p:nvPr/>
        </p:nvSpPr>
        <p:spPr>
          <a:xfrm>
            <a:off x="2360605" y="1997150"/>
            <a:ext cx="2592000" cy="286338"/>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发送报文段</a:t>
            </a:r>
          </a:p>
        </p:txBody>
      </p:sp>
      <p:sp>
        <p:nvSpPr>
          <p:cNvPr id="37" name="矩形 36"/>
          <p:cNvSpPr/>
          <p:nvPr/>
        </p:nvSpPr>
        <p:spPr>
          <a:xfrm>
            <a:off x="2360605" y="2565156"/>
            <a:ext cx="2592000" cy="72109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（重传定时器未超时）</a:t>
            </a:r>
            <a:endParaRPr lang="en-US" altLang="zh-CN" sz="1200" dirty="0">
              <a:solidFill>
                <a:sysClr val="windowText" lastClr="000000"/>
              </a:solidFill>
              <a:latin typeface="Montserrat" panose="00000500000000000000" pitchFamily="2" charset="0"/>
              <a:ea typeface="微软雅黑 Light" panose="020B0502040204020203" pitchFamily="34" charset="-122"/>
            </a:endParaRPr>
          </a:p>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每收到一个对新的报文段的确认</a:t>
            </a:r>
          </a:p>
          <a:p>
            <a:pPr algn="ctr">
              <a:lnSpc>
                <a:spcPts val="18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cwnd +1</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2" name="流程图: 决策 41"/>
          <p:cNvSpPr/>
          <p:nvPr/>
        </p:nvSpPr>
        <p:spPr>
          <a:xfrm>
            <a:off x="2360605" y="3573367"/>
            <a:ext cx="2592000" cy="542110"/>
          </a:xfrm>
          <a:prstGeom prst="flowChartDecision">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cwnd &lt; SSTH</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9" name="矩形 8"/>
          <p:cNvSpPr/>
          <p:nvPr/>
        </p:nvSpPr>
        <p:spPr>
          <a:xfrm>
            <a:off x="4800205" y="1271450"/>
            <a:ext cx="3388665"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（假设发送方设置 </a:t>
            </a:r>
            <a:r>
              <a:rPr lang="en-US" altLang="zh-CN" sz="1200" dirty="0">
                <a:latin typeface="Montserrat" panose="00000500000000000000" pitchFamily="2" charset="0"/>
                <a:ea typeface="微软雅黑 Light" panose="020B0502040204020203" pitchFamily="34" charset="-122"/>
              </a:rPr>
              <a:t>cwnd = 1 </a:t>
            </a:r>
            <a:r>
              <a:rPr lang="zh-CN" altLang="en-US" sz="1200" dirty="0">
                <a:latin typeface="Montserrat" panose="00000500000000000000" pitchFamily="2" charset="0"/>
                <a:ea typeface="微软雅黑 Light" panose="020B0502040204020203" pitchFamily="34" charset="-122"/>
              </a:rPr>
              <a:t>个 </a:t>
            </a:r>
            <a:r>
              <a:rPr lang="en-US" altLang="zh-CN" sz="1200" dirty="0">
                <a:latin typeface="Montserrat" panose="00000500000000000000" pitchFamily="2" charset="0"/>
                <a:ea typeface="微软雅黑 Light" panose="020B0502040204020203" pitchFamily="34" charset="-122"/>
              </a:rPr>
              <a:t>SMSS</a:t>
            </a:r>
            <a:r>
              <a:rPr lang="zh-CN" altLang="en-US" sz="1200" dirty="0">
                <a:latin typeface="Montserrat" panose="00000500000000000000" pitchFamily="2" charset="0"/>
                <a:ea typeface="微软雅黑 Light" panose="020B0502040204020203" pitchFamily="34" charset="-122"/>
              </a:rPr>
              <a:t>）</a:t>
            </a:r>
          </a:p>
        </p:txBody>
      </p:sp>
      <p:sp>
        <p:nvSpPr>
          <p:cNvPr id="3" name="标题 2">
            <a:extLst>
              <a:ext uri="{FF2B5EF4-FFF2-40B4-BE49-F238E27FC236}">
                <a16:creationId xmlns:a16="http://schemas.microsoft.com/office/drawing/2014/main" id="{F1D38EF7-7D0E-6ED8-1C33-57A1FF6E2D86}"/>
              </a:ext>
            </a:extLst>
          </p:cNvPr>
          <p:cNvSpPr>
            <a:spLocks noGrp="1"/>
          </p:cNvSpPr>
          <p:nvPr>
            <p:ph type="title"/>
          </p:nvPr>
        </p:nvSpPr>
        <p:spPr>
          <a:xfrm>
            <a:off x="486000" y="550723"/>
            <a:ext cx="8172000" cy="338554"/>
          </a:xfrm>
        </p:spPr>
        <p:txBody>
          <a:bodyPr/>
          <a:lstStyle/>
          <a:p>
            <a:r>
              <a:rPr lang="en-US" altLang="zh-CN" dirty="0"/>
              <a:t>1. </a:t>
            </a:r>
            <a:r>
              <a:rPr lang="zh-CN" altLang="en-US" dirty="0"/>
              <a:t>慢开始 </a:t>
            </a:r>
            <a:r>
              <a:rPr lang="en-US" altLang="zh-CN" dirty="0"/>
              <a:t>(Slow start)</a:t>
            </a:r>
            <a:endParaRPr lang="zh-CN" altLang="en-US" dirty="0"/>
          </a:p>
        </p:txBody>
      </p:sp>
      <p:cxnSp>
        <p:nvCxnSpPr>
          <p:cNvPr id="14" name="连接符: 肘形 13">
            <a:extLst>
              <a:ext uri="{FF2B5EF4-FFF2-40B4-BE49-F238E27FC236}">
                <a16:creationId xmlns:a16="http://schemas.microsoft.com/office/drawing/2014/main" id="{826859FF-45E2-532D-7865-0C81A7DFA3FA}"/>
              </a:ext>
            </a:extLst>
          </p:cNvPr>
          <p:cNvCxnSpPr>
            <a:cxnSpLocks/>
            <a:stCxn id="42" idx="1"/>
          </p:cNvCxnSpPr>
          <p:nvPr/>
        </p:nvCxnSpPr>
        <p:spPr>
          <a:xfrm rot="10800000" flipH="1">
            <a:off x="2360605" y="1777248"/>
            <a:ext cx="1283300" cy="2067175"/>
          </a:xfrm>
          <a:prstGeom prst="bentConnector4">
            <a:avLst>
              <a:gd name="adj1" fmla="val -71627"/>
              <a:gd name="adj2" fmla="val 10048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139534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 Box 155"/>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a:solidFill>
                  <a:schemeClr val="bg1"/>
                </a:solidFill>
                <a:latin typeface="Montserrat" panose="00000500000000000000" pitchFamily="2" charset="0"/>
                <a:ea typeface="微软雅黑 Light" panose="020B0502040204020203" pitchFamily="34" charset="-122"/>
              </a:rPr>
              <a:t>cwnd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
        <p:nvSpPr>
          <p:cNvPr id="117" name="Rectangle 3"/>
          <p:cNvSpPr>
            <a:spLocks noChangeArrowheads="1"/>
          </p:cNvSpPr>
          <p:nvPr/>
        </p:nvSpPr>
        <p:spPr bwMode="auto">
          <a:xfrm>
            <a:off x="3613957" y="2904955"/>
            <a:ext cx="3600000" cy="885249"/>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8" name="Rectangle 4"/>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9"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120"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121" name="Text Box 7"/>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122" name="Line 8"/>
          <p:cNvSpPr>
            <a:spLocks noChangeShapeType="1"/>
          </p:cNvSpPr>
          <p:nvPr/>
        </p:nvSpPr>
        <p:spPr bwMode="auto">
          <a:xfrm>
            <a:off x="3613957" y="1788558"/>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3" name="Line 9"/>
          <p:cNvSpPr>
            <a:spLocks noChangeShapeType="1"/>
          </p:cNvSpPr>
          <p:nvPr/>
        </p:nvSpPr>
        <p:spPr bwMode="auto">
          <a:xfrm>
            <a:off x="3613957" y="229921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5" name="Text Box 11"/>
          <p:cNvSpPr txBox="1">
            <a:spLocks noChangeArrowheads="1"/>
          </p:cNvSpPr>
          <p:nvPr/>
        </p:nvSpPr>
        <p:spPr bwMode="auto">
          <a:xfrm>
            <a:off x="5322980" y="187118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26" name="Line 12"/>
          <p:cNvSpPr>
            <a:spLocks noChangeShapeType="1"/>
          </p:cNvSpPr>
          <p:nvPr/>
        </p:nvSpPr>
        <p:spPr bwMode="auto">
          <a:xfrm>
            <a:off x="3613957" y="3855202"/>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9" name="Line 15"/>
          <p:cNvSpPr>
            <a:spLocks noChangeShapeType="1"/>
          </p:cNvSpPr>
          <p:nvPr/>
        </p:nvSpPr>
        <p:spPr bwMode="auto">
          <a:xfrm>
            <a:off x="3613957"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0" name="Line 16"/>
          <p:cNvSpPr>
            <a:spLocks noChangeShapeType="1"/>
          </p:cNvSpPr>
          <p:nvPr/>
        </p:nvSpPr>
        <p:spPr bwMode="auto">
          <a:xfrm>
            <a:off x="5322980"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1" name="Text Box 17"/>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32" name="Line 18"/>
          <p:cNvSpPr>
            <a:spLocks noChangeShapeType="1"/>
          </p:cNvSpPr>
          <p:nvPr/>
        </p:nvSpPr>
        <p:spPr bwMode="auto">
          <a:xfrm>
            <a:off x="3613957" y="246397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3" name="Text Box 19"/>
          <p:cNvSpPr txBox="1">
            <a:spLocks noChangeArrowheads="1"/>
          </p:cNvSpPr>
          <p:nvPr/>
        </p:nvSpPr>
        <p:spPr bwMode="auto">
          <a:xfrm>
            <a:off x="5322980" y="2402495"/>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6" name="Text Box 22"/>
          <p:cNvSpPr txBox="1">
            <a:spLocks noChangeArrowheads="1"/>
          </p:cNvSpPr>
          <p:nvPr/>
        </p:nvSpPr>
        <p:spPr bwMode="auto">
          <a:xfrm>
            <a:off x="2578097" y="273405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sp>
        <p:nvSpPr>
          <p:cNvPr id="137" name="Text Box 23"/>
          <p:cNvSpPr txBox="1">
            <a:spLocks noChangeArrowheads="1"/>
          </p:cNvSpPr>
          <p:nvPr/>
        </p:nvSpPr>
        <p:spPr bwMode="auto">
          <a:xfrm>
            <a:off x="5322980" y="3016431"/>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2" name="Text Box 28"/>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143" name="Text Box 29"/>
          <p:cNvSpPr txBox="1">
            <a:spLocks noChangeArrowheads="1"/>
          </p:cNvSpPr>
          <p:nvPr/>
        </p:nvSpPr>
        <p:spPr bwMode="auto">
          <a:xfrm>
            <a:off x="1729480" y="2734052"/>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144" name="Text Box 30"/>
          <p:cNvSpPr txBox="1">
            <a:spLocks noChangeArrowheads="1"/>
          </p:cNvSpPr>
          <p:nvPr/>
        </p:nvSpPr>
        <p:spPr bwMode="auto">
          <a:xfrm>
            <a:off x="2538021" y="3796877"/>
            <a:ext cx="1075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8</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15</a:t>
            </a:r>
          </a:p>
        </p:txBody>
      </p:sp>
      <p:sp>
        <p:nvSpPr>
          <p:cNvPr id="146" name="Text Box 32"/>
          <p:cNvSpPr txBox="1">
            <a:spLocks noChangeArrowheads="1"/>
          </p:cNvSpPr>
          <p:nvPr/>
        </p:nvSpPr>
        <p:spPr bwMode="auto">
          <a:xfrm rot="5400000">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147" name="Line 33"/>
          <p:cNvSpPr>
            <a:spLocks noChangeShapeType="1"/>
          </p:cNvSpPr>
          <p:nvPr/>
        </p:nvSpPr>
        <p:spPr bwMode="auto">
          <a:xfrm>
            <a:off x="3613957" y="290413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8" name="Line 34"/>
          <p:cNvSpPr>
            <a:spLocks noChangeShapeType="1"/>
          </p:cNvSpPr>
          <p:nvPr/>
        </p:nvSpPr>
        <p:spPr bwMode="auto">
          <a:xfrm>
            <a:off x="3613957" y="306889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9" name="Line 35"/>
          <p:cNvSpPr>
            <a:spLocks noChangeShapeType="1"/>
          </p:cNvSpPr>
          <p:nvPr/>
        </p:nvSpPr>
        <p:spPr bwMode="auto">
          <a:xfrm>
            <a:off x="3613957" y="3233645"/>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0" name="Line 36"/>
          <p:cNvSpPr>
            <a:spLocks noChangeShapeType="1"/>
          </p:cNvSpPr>
          <p:nvPr/>
        </p:nvSpPr>
        <p:spPr bwMode="auto">
          <a:xfrm>
            <a:off x="3613957" y="339840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42" name="Text Box 29"/>
          <p:cNvSpPr txBox="1">
            <a:spLocks noChangeArrowheads="1"/>
          </p:cNvSpPr>
          <p:nvPr/>
        </p:nvSpPr>
        <p:spPr bwMode="auto">
          <a:xfrm>
            <a:off x="1729480" y="3796877"/>
            <a:ext cx="920445"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8 </a:t>
            </a:r>
          </a:p>
        </p:txBody>
      </p:sp>
      <p:sp>
        <p:nvSpPr>
          <p:cNvPr id="43" name="Text Box 40"/>
          <p:cNvSpPr txBox="1">
            <a:spLocks noChangeArrowheads="1"/>
          </p:cNvSpPr>
          <p:nvPr/>
        </p:nvSpPr>
        <p:spPr bwMode="auto">
          <a:xfrm>
            <a:off x="6686248" y="1871180"/>
            <a:ext cx="52770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20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Text Box 41"/>
          <p:cNvSpPr txBox="1">
            <a:spLocks noChangeArrowheads="1"/>
          </p:cNvSpPr>
          <p:nvPr/>
        </p:nvSpPr>
        <p:spPr bwMode="auto">
          <a:xfrm>
            <a:off x="6654188" y="2402495"/>
            <a:ext cx="55976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45" name="Text Box 42"/>
          <p:cNvSpPr txBox="1">
            <a:spLocks noChangeArrowheads="1"/>
          </p:cNvSpPr>
          <p:nvPr/>
        </p:nvSpPr>
        <p:spPr bwMode="auto">
          <a:xfrm>
            <a:off x="6655791" y="3016431"/>
            <a:ext cx="558166"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RTT3</a:t>
            </a:r>
          </a:p>
        </p:txBody>
      </p:sp>
      <p:sp>
        <p:nvSpPr>
          <p:cNvPr id="7" name="Text Box 28">
            <a:extLst>
              <a:ext uri="{FF2B5EF4-FFF2-40B4-BE49-F238E27FC236}">
                <a16:creationId xmlns:a16="http://schemas.microsoft.com/office/drawing/2014/main" id="{D226BD6E-F656-E2ED-22E3-116E5D61A751}"/>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Tree>
    <p:extLst>
      <p:ext uri="{BB962C8B-B14F-4D97-AF65-F5344CB8AC3E}">
        <p14:creationId xmlns:p14="http://schemas.microsoft.com/office/powerpoint/2010/main" val="2139162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P spid="44" grpId="0"/>
      <p:bldP spid="45" grpId="0"/>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Rectangle 2"/>
          <p:cNvSpPr>
            <a:spLocks noChangeArrowheads="1"/>
          </p:cNvSpPr>
          <p:nvPr/>
        </p:nvSpPr>
        <p:spPr bwMode="auto">
          <a:xfrm>
            <a:off x="3613957" y="2286101"/>
            <a:ext cx="4768068"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4"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153"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154" name="Text Box 43"/>
          <p:cNvSpPr txBox="1">
            <a:spLocks noChangeArrowheads="1"/>
          </p:cNvSpPr>
          <p:nvPr/>
        </p:nvSpPr>
        <p:spPr bwMode="auto">
          <a:xfrm>
            <a:off x="980385" y="3520463"/>
            <a:ext cx="2558190" cy="307777"/>
          </a:xfrm>
          <a:prstGeom prst="rect">
            <a:avLst/>
          </a:prstGeom>
          <a:solidFill>
            <a:srgbClr val="FFFF00"/>
          </a:solidFill>
          <a:ln w="19050">
            <a:solidFill>
              <a:srgbClr val="333399"/>
            </a:solidFill>
            <a:miter lim="800000"/>
            <a:headEnd/>
            <a:tailEnd/>
          </a:ln>
          <a:effec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窗口大小</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按指数</a:t>
            </a: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增加，不慢！</a:t>
            </a:r>
          </a:p>
        </p:txBody>
      </p:sp>
      <p:sp>
        <p:nvSpPr>
          <p:cNvPr id="155" name="矩形 154"/>
          <p:cNvSpPr/>
          <p:nvPr/>
        </p:nvSpPr>
        <p:spPr>
          <a:xfrm>
            <a:off x="980385" y="3006671"/>
            <a:ext cx="2558189" cy="523220"/>
          </a:xfrm>
          <a:prstGeom prst="rect">
            <a:avLst/>
          </a:prstGeom>
          <a:solidFill>
            <a:srgbClr val="0000FF"/>
          </a:solidFill>
          <a:ln w="19050">
            <a:solidFill>
              <a:srgbClr val="333399"/>
            </a:solidFill>
            <a:miter lim="800000"/>
            <a:headEnd/>
            <a:tailEnd/>
          </a:ln>
          <a:effectLst/>
        </p:spPr>
        <p:txBody>
          <a:bodyPr wrap="square">
            <a:spAutoFit/>
          </a:bodyPr>
          <a:lstStyle/>
          <a:p>
            <a:pPr eaLnBrk="1" fontAlgn="auto" hangingPunct="1">
              <a:spcBef>
                <a:spcPts val="0"/>
              </a:spcBef>
              <a:spcAft>
                <a:spcPts val="0"/>
              </a:spcAft>
            </a:pPr>
            <a:r>
              <a:rPr kumimoji="1" lang="zh-CN" altLang="zh-CN" sz="1400" b="1" kern="0" dirty="0">
                <a:solidFill>
                  <a:schemeClr val="bg1"/>
                </a:solidFill>
                <a:latin typeface="微软雅黑" pitchFamily="34" charset="-122"/>
                <a:ea typeface="微软雅黑" pitchFamily="34" charset="-122"/>
              </a:rPr>
              <a:t>每经过一个传输轮次，拥塞窗口就加倍。</a:t>
            </a:r>
            <a:endParaRPr kumimoji="1" lang="zh-CN" altLang="en-US" sz="1400" b="1" kern="0" dirty="0">
              <a:solidFill>
                <a:schemeClr val="bg1"/>
              </a:solidFill>
              <a:latin typeface="微软雅黑" pitchFamily="34" charset="-122"/>
              <a:ea typeface="微软雅黑" pitchFamily="34" charset="-122"/>
            </a:endParaRPr>
          </a:p>
        </p:txBody>
      </p:sp>
      <p:sp>
        <p:nvSpPr>
          <p:cNvPr id="44"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6"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47"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2" name="Text Box 155">
            <a:extLst>
              <a:ext uri="{FF2B5EF4-FFF2-40B4-BE49-F238E27FC236}">
                <a16:creationId xmlns:a16="http://schemas.microsoft.com/office/drawing/2014/main" id="{648358DC-C7C1-8DED-3B22-2F7F8D7AE69F}"/>
              </a:ext>
            </a:extLst>
          </p:cNvPr>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err="1">
                <a:solidFill>
                  <a:schemeClr val="bg1"/>
                </a:solidFill>
                <a:latin typeface="Montserrat" panose="00000500000000000000" pitchFamily="2" charset="0"/>
                <a:ea typeface="微软雅黑 Light" panose="020B0502040204020203" pitchFamily="34" charset="-122"/>
              </a:rPr>
              <a:t>cwnd</a:t>
            </a:r>
            <a:r>
              <a:rPr lang="en-US" altLang="zh-CN" sz="1200" dirty="0">
                <a:solidFill>
                  <a:schemeClr val="bg1"/>
                </a:solidFill>
                <a:latin typeface="Montserrat" panose="00000500000000000000" pitchFamily="2" charset="0"/>
                <a:ea typeface="微软雅黑 Light" panose="020B0502040204020203" pitchFamily="34" charset="-122"/>
              </a:rPr>
              <a:t>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Tree>
    <p:extLst>
      <p:ext uri="{BB962C8B-B14F-4D97-AF65-F5344CB8AC3E}">
        <p14:creationId xmlns:p14="http://schemas.microsoft.com/office/powerpoint/2010/main" val="21328677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53"/>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152"/>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151"/>
                                        </p:tgtEl>
                                        <p:attrNameLst>
                                          <p:attrName>style.visibility</p:attrName>
                                        </p:attrNameLst>
                                      </p:cBhvr>
                                      <p:tavLst>
                                        <p:tav tm="0">
                                          <p:val>
                                            <p:strVal val="hidden"/>
                                          </p:val>
                                        </p:tav>
                                        <p:tav tm="50000">
                                          <p:val>
                                            <p:strVal val="visible"/>
                                          </p:val>
                                        </p:tav>
                                      </p:tavLst>
                                    </p:anim>
                                  </p:childTnLst>
                                </p:cTn>
                              </p:par>
                              <p:par>
                                <p:cTn id="11" presetID="22" presetClass="entr" presetSubtype="1" fill="hold" grpId="0" nodeType="withEffect">
                                  <p:stCondLst>
                                    <p:cond delay="3000"/>
                                  </p:stCondLst>
                                  <p:childTnLst>
                                    <p:set>
                                      <p:cBhvr>
                                        <p:cTn id="12" dur="1" fill="hold">
                                          <p:stCondLst>
                                            <p:cond delay="0"/>
                                          </p:stCondLst>
                                        </p:cTn>
                                        <p:tgtEl>
                                          <p:spTgt spid="155"/>
                                        </p:tgtEl>
                                        <p:attrNameLst>
                                          <p:attrName>style.visibility</p:attrName>
                                        </p:attrNameLst>
                                      </p:cBhvr>
                                      <p:to>
                                        <p:strVal val="visible"/>
                                      </p:to>
                                    </p:set>
                                    <p:animEffect transition="in" filter="wipe(up)">
                                      <p:cBhvr>
                                        <p:cTn id="13" dur="2000"/>
                                        <p:tgtEl>
                                          <p:spTgt spid="155"/>
                                        </p:tgtEl>
                                      </p:cBhvr>
                                    </p:animEffect>
                                  </p:childTnLst>
                                </p:cTn>
                              </p:par>
                              <p:par>
                                <p:cTn id="14" presetID="22" presetClass="entr" presetSubtype="1" fill="hold" grpId="0" nodeType="withEffect">
                                  <p:stCondLst>
                                    <p:cond delay="5000"/>
                                  </p:stCondLst>
                                  <p:childTnLst>
                                    <p:set>
                                      <p:cBhvr>
                                        <p:cTn id="15" dur="1" fill="hold">
                                          <p:stCondLst>
                                            <p:cond delay="0"/>
                                          </p:stCondLst>
                                        </p:cTn>
                                        <p:tgtEl>
                                          <p:spTgt spid="154"/>
                                        </p:tgtEl>
                                        <p:attrNameLst>
                                          <p:attrName>style.visibility</p:attrName>
                                        </p:attrNameLst>
                                      </p:cBhvr>
                                      <p:to>
                                        <p:strVal val="visible"/>
                                      </p:to>
                                    </p:set>
                                    <p:animEffect transition="in" filter="wipe(up)">
                                      <p:cBhvr>
                                        <p:cTn id="16" dur="1000"/>
                                        <p:tgtEl>
                                          <p:spTgt spid="1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animBg="1"/>
      <p:bldP spid="152" grpId="0" animBg="1"/>
      <p:bldP spid="153" grpId="0" animBg="1"/>
      <p:bldP spid="154" grpId="0" animBg="1"/>
      <p:bldP spid="155"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F765A45-128A-A31E-3446-E90EA8F3897B}"/>
              </a:ext>
            </a:extLst>
          </p:cNvPr>
          <p:cNvSpPr>
            <a:spLocks noGrp="1"/>
          </p:cNvSpPr>
          <p:nvPr>
            <p:ph sz="quarter" idx="11"/>
          </p:nvPr>
        </p:nvSpPr>
        <p:spPr>
          <a:xfrm>
            <a:off x="486000" y="900000"/>
            <a:ext cx="8172000" cy="3703500"/>
          </a:xfrm>
        </p:spPr>
        <p:txBody>
          <a:bodyPr/>
          <a:lstStyle/>
          <a:p>
            <a:r>
              <a:rPr lang="zh-CN" altLang="en-US" dirty="0"/>
              <a:t>一个传输轮次所经历的时间其实就是往返时间 </a:t>
            </a:r>
            <a:r>
              <a:rPr lang="en-US" altLang="zh-CN" dirty="0"/>
              <a:t>RTT</a:t>
            </a:r>
            <a:r>
              <a:rPr lang="zh-CN" altLang="en-US" dirty="0"/>
              <a:t>。</a:t>
            </a:r>
          </a:p>
          <a:p>
            <a:r>
              <a:rPr lang="zh-CN" altLang="en-US" dirty="0"/>
              <a:t>传输轮次强调：把拥塞窗口 </a:t>
            </a:r>
            <a:r>
              <a:rPr lang="en-US" altLang="zh-CN" dirty="0" err="1"/>
              <a:t>cwnd</a:t>
            </a:r>
            <a:r>
              <a:rPr lang="en-US" altLang="zh-CN" dirty="0"/>
              <a:t> </a:t>
            </a:r>
            <a:r>
              <a:rPr lang="zh-CN" altLang="en-US" dirty="0"/>
              <a:t>所允许发送的报文段都连续发送出去，并收到了对已发送的最后一个字节的确认。</a:t>
            </a:r>
          </a:p>
          <a:p>
            <a:r>
              <a:rPr lang="zh-CN" altLang="en-US" dirty="0"/>
              <a:t>例如：拥塞窗口 </a:t>
            </a:r>
            <a:r>
              <a:rPr lang="en-US" altLang="zh-CN" dirty="0" err="1"/>
              <a:t>cwnd</a:t>
            </a:r>
            <a:r>
              <a:rPr lang="en-US" altLang="zh-CN" dirty="0"/>
              <a:t> = 4</a:t>
            </a:r>
            <a:r>
              <a:rPr lang="zh-CN" altLang="en-US" dirty="0"/>
              <a:t>，这时的往返时间 </a:t>
            </a:r>
            <a:r>
              <a:rPr lang="en-US" altLang="zh-CN" dirty="0"/>
              <a:t>RTT </a:t>
            </a:r>
            <a:r>
              <a:rPr lang="zh-CN" altLang="en-US" dirty="0"/>
              <a:t>就是发送方连续发送 </a:t>
            </a:r>
            <a:r>
              <a:rPr lang="en-US" altLang="zh-CN" dirty="0"/>
              <a:t>4 </a:t>
            </a:r>
            <a:r>
              <a:rPr lang="zh-CN" altLang="en-US" dirty="0"/>
              <a:t>个报文段，并收到这 </a:t>
            </a:r>
            <a:r>
              <a:rPr lang="en-US" altLang="zh-CN" dirty="0"/>
              <a:t>4 </a:t>
            </a:r>
            <a:r>
              <a:rPr lang="zh-CN" altLang="en-US" dirty="0"/>
              <a:t>个报文段的确认，总共经历的时间。 </a:t>
            </a:r>
          </a:p>
          <a:p>
            <a:endParaRPr lang="zh-CN" altLang="en-US" dirty="0"/>
          </a:p>
        </p:txBody>
      </p:sp>
      <p:sp>
        <p:nvSpPr>
          <p:cNvPr id="8" name="标题 7">
            <a:extLst>
              <a:ext uri="{FF2B5EF4-FFF2-40B4-BE49-F238E27FC236}">
                <a16:creationId xmlns:a16="http://schemas.microsoft.com/office/drawing/2014/main" id="{14201A16-2CC6-FA6C-EE58-3CF9F91F005B}"/>
              </a:ext>
            </a:extLst>
          </p:cNvPr>
          <p:cNvSpPr>
            <a:spLocks noGrp="1"/>
          </p:cNvSpPr>
          <p:nvPr>
            <p:ph type="title"/>
          </p:nvPr>
        </p:nvSpPr>
        <p:spPr>
          <a:xfrm>
            <a:off x="486000" y="550723"/>
            <a:ext cx="8172000" cy="338554"/>
          </a:xfrm>
        </p:spPr>
        <p:txBody>
          <a:bodyPr/>
          <a:lstStyle/>
          <a:p>
            <a:r>
              <a:rPr lang="zh-CN" altLang="en-US" dirty="0"/>
              <a:t>传输轮次（</a:t>
            </a:r>
            <a:r>
              <a:rPr lang="en-US" altLang="zh-CN" dirty="0"/>
              <a:t>transmission round</a:t>
            </a:r>
            <a:r>
              <a:rPr lang="zh-CN" altLang="en-US" dirty="0"/>
              <a:t>）</a:t>
            </a:r>
          </a:p>
        </p:txBody>
      </p:sp>
    </p:spTree>
    <p:extLst>
      <p:ext uri="{BB962C8B-B14F-4D97-AF65-F5344CB8AC3E}">
        <p14:creationId xmlns:p14="http://schemas.microsoft.com/office/powerpoint/2010/main" val="3863224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8208344A-1534-96A2-30E3-CC469A14854B}"/>
              </a:ext>
            </a:extLst>
          </p:cNvPr>
          <p:cNvSpPr>
            <a:spLocks noGrp="1"/>
          </p:cNvSpPr>
          <p:nvPr>
            <p:ph sz="quarter" idx="11"/>
          </p:nvPr>
        </p:nvSpPr>
        <p:spPr>
          <a:xfrm>
            <a:off x="486000" y="900000"/>
            <a:ext cx="8172000" cy="3703500"/>
          </a:xfrm>
        </p:spPr>
        <p:txBody>
          <a:bodyPr/>
          <a:lstStyle/>
          <a:p>
            <a:r>
              <a:rPr lang="zh-CN" altLang="en-US" dirty="0"/>
              <a:t>防止拥塞窗口 </a:t>
            </a:r>
            <a:r>
              <a:rPr lang="en-US" altLang="zh-CN" dirty="0" err="1"/>
              <a:t>cwnd</a:t>
            </a:r>
            <a:r>
              <a:rPr lang="en-US" altLang="zh-CN" dirty="0"/>
              <a:t> </a:t>
            </a:r>
            <a:r>
              <a:rPr lang="zh-CN" altLang="en-US" dirty="0"/>
              <a:t>增长过大引起网络拥塞。</a:t>
            </a:r>
            <a:endParaRPr lang="en-US" altLang="zh-CN" dirty="0"/>
          </a:p>
          <a:p>
            <a:r>
              <a:rPr lang="zh-CN" altLang="en-US" dirty="0"/>
              <a:t>用法：</a:t>
            </a:r>
          </a:p>
          <a:p>
            <a:r>
              <a:rPr lang="zh-CN" altLang="en-US" dirty="0"/>
              <a:t>当 </a:t>
            </a:r>
            <a:r>
              <a:rPr lang="en-US" altLang="zh-CN" dirty="0" err="1"/>
              <a:t>cwnd</a:t>
            </a:r>
            <a:r>
              <a:rPr lang="en-US" altLang="zh-CN" dirty="0"/>
              <a:t> &lt; </a:t>
            </a:r>
            <a:r>
              <a:rPr lang="en-US" altLang="zh-CN" dirty="0" err="1"/>
              <a:t>ssthresh</a:t>
            </a:r>
            <a:r>
              <a:rPr lang="en-US" altLang="zh-CN" dirty="0"/>
              <a:t> </a:t>
            </a:r>
            <a:r>
              <a:rPr lang="zh-CN" altLang="en-US" dirty="0"/>
              <a:t>时，使用慢开始算法。</a:t>
            </a:r>
          </a:p>
          <a:p>
            <a:r>
              <a:rPr lang="zh-CN" altLang="en-US" dirty="0"/>
              <a:t>当 </a:t>
            </a:r>
            <a:r>
              <a:rPr lang="en-US" altLang="zh-CN" dirty="0" err="1"/>
              <a:t>cwnd</a:t>
            </a:r>
            <a:r>
              <a:rPr lang="en-US" altLang="zh-CN" dirty="0"/>
              <a:t> &gt; </a:t>
            </a:r>
            <a:r>
              <a:rPr lang="en-US" altLang="zh-CN" dirty="0" err="1"/>
              <a:t>ssthresh</a:t>
            </a:r>
            <a:r>
              <a:rPr lang="en-US" altLang="zh-CN" dirty="0"/>
              <a:t> </a:t>
            </a:r>
            <a:r>
              <a:rPr lang="zh-CN" altLang="en-US" dirty="0"/>
              <a:t>时，停止使用慢开始算法，改用拥塞避免算法。</a:t>
            </a:r>
          </a:p>
          <a:p>
            <a:r>
              <a:rPr lang="zh-CN" altLang="en-US" dirty="0"/>
              <a:t>当 </a:t>
            </a:r>
            <a:r>
              <a:rPr lang="en-US" altLang="zh-CN" dirty="0" err="1"/>
              <a:t>cwnd</a:t>
            </a:r>
            <a:r>
              <a:rPr lang="en-US" altLang="zh-CN" dirty="0"/>
              <a:t> = </a:t>
            </a:r>
            <a:r>
              <a:rPr lang="en-US" altLang="zh-CN" dirty="0" err="1"/>
              <a:t>ssthresh</a:t>
            </a:r>
            <a:r>
              <a:rPr lang="en-US" altLang="zh-CN" dirty="0"/>
              <a:t> </a:t>
            </a:r>
            <a:r>
              <a:rPr lang="zh-CN" altLang="en-US" dirty="0"/>
              <a:t>时，既可使用慢开始算法，也可使用拥塞避免算法。</a:t>
            </a:r>
          </a:p>
          <a:p>
            <a:endParaRPr lang="zh-CN" altLang="en-US" dirty="0"/>
          </a:p>
        </p:txBody>
      </p:sp>
      <p:sp>
        <p:nvSpPr>
          <p:cNvPr id="8" name="标题 7">
            <a:extLst>
              <a:ext uri="{FF2B5EF4-FFF2-40B4-BE49-F238E27FC236}">
                <a16:creationId xmlns:a16="http://schemas.microsoft.com/office/drawing/2014/main" id="{A114C189-921F-E76F-DA4F-53591C7C7F17}"/>
              </a:ext>
            </a:extLst>
          </p:cNvPr>
          <p:cNvSpPr>
            <a:spLocks noGrp="1"/>
          </p:cNvSpPr>
          <p:nvPr>
            <p:ph type="title"/>
          </p:nvPr>
        </p:nvSpPr>
        <p:spPr>
          <a:xfrm>
            <a:off x="486000" y="550723"/>
            <a:ext cx="8172000" cy="338554"/>
          </a:xfrm>
        </p:spPr>
        <p:txBody>
          <a:bodyPr/>
          <a:lstStyle/>
          <a:p>
            <a:r>
              <a:rPr lang="zh-CN" altLang="en-US" dirty="0"/>
              <a:t>慢开始门限 </a:t>
            </a:r>
            <a:r>
              <a:rPr lang="en-US" altLang="zh-CN" dirty="0" err="1"/>
              <a:t>ssthresh</a:t>
            </a:r>
            <a:endParaRPr lang="zh-CN" altLang="en-US" dirty="0"/>
          </a:p>
        </p:txBody>
      </p:sp>
    </p:spTree>
    <p:extLst>
      <p:ext uri="{BB962C8B-B14F-4D97-AF65-F5344CB8AC3E}">
        <p14:creationId xmlns:p14="http://schemas.microsoft.com/office/powerpoint/2010/main" val="425802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725101" y="3203737"/>
            <a:ext cx="6127425" cy="1092607"/>
          </a:xfrm>
          <a:prstGeom prst="rect">
            <a:avLst/>
          </a:prstGeom>
          <a:solidFill>
            <a:srgbClr val="A50021"/>
          </a:solidFill>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注意：</a:t>
            </a:r>
            <a:endParaRPr lang="en-US" altLang="zh-CN" sz="2000" b="1" dirty="0">
              <a:solidFill>
                <a:schemeClr val="bg1"/>
              </a:solidFill>
              <a:latin typeface="微软雅黑" panose="020B0503020204020204" pitchFamily="34" charset="-122"/>
              <a:ea typeface="微软雅黑" panose="020B0503020204020204" pitchFamily="34" charset="-122"/>
            </a:endParaRPr>
          </a:p>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拥塞避免并非完全避免拥塞，而是让拥塞窗口增长得缓慢些，使网络不容易出现拥塞。</a:t>
            </a:r>
          </a:p>
        </p:txBody>
      </p:sp>
      <p:sp>
        <p:nvSpPr>
          <p:cNvPr id="7" name="内容占位符 6">
            <a:extLst>
              <a:ext uri="{FF2B5EF4-FFF2-40B4-BE49-F238E27FC236}">
                <a16:creationId xmlns:a16="http://schemas.microsoft.com/office/drawing/2014/main" id="{056836D9-2D39-356D-B116-967B75606BE0}"/>
              </a:ext>
            </a:extLst>
          </p:cNvPr>
          <p:cNvSpPr>
            <a:spLocks noGrp="1"/>
          </p:cNvSpPr>
          <p:nvPr>
            <p:ph sz="quarter" idx="11"/>
          </p:nvPr>
        </p:nvSpPr>
        <p:spPr>
          <a:xfrm>
            <a:off x="486000" y="900000"/>
            <a:ext cx="8172000" cy="3703500"/>
          </a:xfrm>
        </p:spPr>
        <p:txBody>
          <a:bodyPr/>
          <a:lstStyle/>
          <a:p>
            <a:r>
              <a:rPr lang="zh-CN" altLang="en-US" dirty="0"/>
              <a:t>目的：让拥塞窗口 </a:t>
            </a:r>
            <a:r>
              <a:rPr lang="en-US" altLang="zh-CN" dirty="0" err="1"/>
              <a:t>cwnd</a:t>
            </a:r>
            <a:r>
              <a:rPr lang="en-US" altLang="zh-CN" dirty="0"/>
              <a:t> </a:t>
            </a:r>
            <a:r>
              <a:rPr lang="zh-CN" altLang="en-US" dirty="0"/>
              <a:t>缓慢地增大，避免出现拥塞。</a:t>
            </a:r>
            <a:endParaRPr lang="en-US" altLang="zh-CN" dirty="0"/>
          </a:p>
          <a:p>
            <a:r>
              <a:rPr lang="zh-CN" altLang="en-US" dirty="0"/>
              <a:t>拥塞窗口 </a:t>
            </a:r>
            <a:r>
              <a:rPr lang="en-US" altLang="zh-CN" dirty="0" err="1"/>
              <a:t>cwnd</a:t>
            </a:r>
            <a:r>
              <a:rPr lang="en-US" altLang="zh-CN" dirty="0"/>
              <a:t> </a:t>
            </a:r>
            <a:r>
              <a:rPr lang="zh-CN" altLang="en-US" dirty="0"/>
              <a:t>增大：每经过一个往返时间 </a:t>
            </a:r>
            <a:r>
              <a:rPr lang="en-US" altLang="zh-CN" dirty="0"/>
              <a:t>RTT</a:t>
            </a:r>
            <a:r>
              <a:rPr lang="zh-CN" altLang="en-US" dirty="0"/>
              <a:t>（不管在此期间收到了多少确认），发送方的拥塞窗口 </a:t>
            </a:r>
            <a:r>
              <a:rPr lang="en-US" altLang="zh-CN" dirty="0" err="1"/>
              <a:t>cwnd</a:t>
            </a:r>
            <a:r>
              <a:rPr lang="en-US" altLang="zh-CN" dirty="0"/>
              <a:t> = </a:t>
            </a:r>
            <a:r>
              <a:rPr lang="en-US" altLang="zh-CN" dirty="0" err="1"/>
              <a:t>cwnd</a:t>
            </a:r>
            <a:r>
              <a:rPr lang="en-US" altLang="zh-CN" dirty="0"/>
              <a:t> + 1</a:t>
            </a:r>
            <a:r>
              <a:rPr lang="zh-CN" altLang="en-US" dirty="0"/>
              <a:t>。</a:t>
            </a:r>
            <a:endParaRPr lang="en-US" altLang="zh-CN" dirty="0"/>
          </a:p>
          <a:p>
            <a:r>
              <a:rPr lang="zh-CN" altLang="en-US" dirty="0"/>
              <a:t>具有加法增大 </a:t>
            </a:r>
            <a:r>
              <a:rPr lang="en-US" altLang="zh-CN" dirty="0"/>
              <a:t>AI</a:t>
            </a:r>
            <a:r>
              <a:rPr lang="zh-CN" altLang="en-US" dirty="0"/>
              <a:t> </a:t>
            </a:r>
            <a:r>
              <a:rPr lang="en-US" altLang="zh-CN" dirty="0"/>
              <a:t>(Additive Increase) </a:t>
            </a:r>
            <a:r>
              <a:rPr lang="zh-CN" altLang="en-US" dirty="0"/>
              <a:t>特点：使拥塞窗口 </a:t>
            </a:r>
            <a:r>
              <a:rPr lang="en-US" altLang="zh-CN" dirty="0" err="1"/>
              <a:t>cwnd</a:t>
            </a:r>
            <a:r>
              <a:rPr lang="en-US" altLang="zh-CN" dirty="0"/>
              <a:t> </a:t>
            </a:r>
            <a:r>
              <a:rPr lang="zh-CN" altLang="en-US" dirty="0"/>
              <a:t>按线性规律缓慢增长。</a:t>
            </a:r>
          </a:p>
          <a:p>
            <a:endParaRPr lang="zh-CN" altLang="en-US" dirty="0"/>
          </a:p>
        </p:txBody>
      </p:sp>
      <p:sp>
        <p:nvSpPr>
          <p:cNvPr id="6" name="标题 5">
            <a:extLst>
              <a:ext uri="{FF2B5EF4-FFF2-40B4-BE49-F238E27FC236}">
                <a16:creationId xmlns:a16="http://schemas.microsoft.com/office/drawing/2014/main" id="{C68E8FE8-7667-7A42-C64E-B26CF793B904}"/>
              </a:ext>
            </a:extLst>
          </p:cNvPr>
          <p:cNvSpPr>
            <a:spLocks noGrp="1"/>
          </p:cNvSpPr>
          <p:nvPr>
            <p:ph type="title"/>
          </p:nvPr>
        </p:nvSpPr>
        <p:spPr>
          <a:xfrm>
            <a:off x="486000" y="550723"/>
            <a:ext cx="8172000" cy="338554"/>
          </a:xfrm>
        </p:spPr>
        <p:txBody>
          <a:bodyPr/>
          <a:lstStyle/>
          <a:p>
            <a:r>
              <a:rPr lang="en-US" altLang="zh-CN" dirty="0"/>
              <a:t>2. </a:t>
            </a:r>
            <a:r>
              <a:rPr lang="zh-CN" altLang="en-US" dirty="0"/>
              <a:t>拥塞避免</a:t>
            </a:r>
          </a:p>
        </p:txBody>
      </p:sp>
    </p:spTree>
    <p:extLst>
      <p:ext uri="{BB962C8B-B14F-4D97-AF65-F5344CB8AC3E}">
        <p14:creationId xmlns:p14="http://schemas.microsoft.com/office/powerpoint/2010/main" val="3027741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E726A29-6B44-8912-798E-303AFA03E364}"/>
              </a:ext>
            </a:extLst>
          </p:cNvPr>
          <p:cNvSpPr>
            <a:spLocks noChangeArrowheads="1"/>
          </p:cNvSpPr>
          <p:nvPr/>
        </p:nvSpPr>
        <p:spPr bwMode="auto">
          <a:xfrm>
            <a:off x="3613957" y="2904955"/>
            <a:ext cx="3600000" cy="742805"/>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5" name="Rectangle 4">
            <a:extLst>
              <a:ext uri="{FF2B5EF4-FFF2-40B4-BE49-F238E27FC236}">
                <a16:creationId xmlns:a16="http://schemas.microsoft.com/office/drawing/2014/main" id="{50ECC536-9AF2-70BF-0247-7069CFF1F643}"/>
              </a:ext>
            </a:extLst>
          </p:cNvPr>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6" name="Text Box 5">
            <a:extLst>
              <a:ext uri="{FF2B5EF4-FFF2-40B4-BE49-F238E27FC236}">
                <a16:creationId xmlns:a16="http://schemas.microsoft.com/office/drawing/2014/main" id="{3344078A-A3FF-351A-6799-D3F2DBF36CDB}"/>
              </a:ext>
            </a:extLst>
          </p:cNvPr>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 name="Text Box 6">
            <a:extLst>
              <a:ext uri="{FF2B5EF4-FFF2-40B4-BE49-F238E27FC236}">
                <a16:creationId xmlns:a16="http://schemas.microsoft.com/office/drawing/2014/main" id="{66DD75BA-918C-ACC0-685E-C4CE4C1F92D6}"/>
              </a:ext>
            </a:extLst>
          </p:cNvPr>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 name="Text Box 7">
            <a:extLst>
              <a:ext uri="{FF2B5EF4-FFF2-40B4-BE49-F238E27FC236}">
                <a16:creationId xmlns:a16="http://schemas.microsoft.com/office/drawing/2014/main" id="{AD97A86B-840E-2C8A-3ADD-34B02A059834}"/>
              </a:ext>
            </a:extLst>
          </p:cNvPr>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9" name="Line 8">
            <a:extLst>
              <a:ext uri="{FF2B5EF4-FFF2-40B4-BE49-F238E27FC236}">
                <a16:creationId xmlns:a16="http://schemas.microsoft.com/office/drawing/2014/main" id="{3BDC03A7-7DA9-5C11-0151-768C4F76E12D}"/>
              </a:ext>
            </a:extLst>
          </p:cNvPr>
          <p:cNvSpPr>
            <a:spLocks noChangeShapeType="1"/>
          </p:cNvSpPr>
          <p:nvPr/>
        </p:nvSpPr>
        <p:spPr bwMode="auto">
          <a:xfrm>
            <a:off x="3613957" y="1788558"/>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0" name="Line 9">
            <a:extLst>
              <a:ext uri="{FF2B5EF4-FFF2-40B4-BE49-F238E27FC236}">
                <a16:creationId xmlns:a16="http://schemas.microsoft.com/office/drawing/2014/main" id="{86D27867-74A9-4834-865A-1ED7946A02C1}"/>
              </a:ext>
            </a:extLst>
          </p:cNvPr>
          <p:cNvSpPr>
            <a:spLocks noChangeShapeType="1"/>
          </p:cNvSpPr>
          <p:nvPr/>
        </p:nvSpPr>
        <p:spPr bwMode="auto">
          <a:xfrm>
            <a:off x="3613957" y="229921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 name="Line 10">
            <a:extLst>
              <a:ext uri="{FF2B5EF4-FFF2-40B4-BE49-F238E27FC236}">
                <a16:creationId xmlns:a16="http://schemas.microsoft.com/office/drawing/2014/main" id="{B6BBDAC5-D1EE-7347-E9C4-ABA4D7CAD105}"/>
              </a:ext>
            </a:extLst>
          </p:cNvPr>
          <p:cNvSpPr>
            <a:spLocks noChangeShapeType="1"/>
          </p:cNvSpPr>
          <p:nvPr/>
        </p:nvSpPr>
        <p:spPr bwMode="auto">
          <a:xfrm flipH="1">
            <a:off x="3613957" y="2023805"/>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 name="Text Box 11">
            <a:extLst>
              <a:ext uri="{FF2B5EF4-FFF2-40B4-BE49-F238E27FC236}">
                <a16:creationId xmlns:a16="http://schemas.microsoft.com/office/drawing/2014/main" id="{045C86C1-8C6C-8F11-F8F0-354CCE44AB47}"/>
              </a:ext>
            </a:extLst>
          </p:cNvPr>
          <p:cNvSpPr txBox="1">
            <a:spLocks noChangeArrowheads="1"/>
          </p:cNvSpPr>
          <p:nvPr/>
        </p:nvSpPr>
        <p:spPr bwMode="auto">
          <a:xfrm>
            <a:off x="5322980" y="187118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 name="Line 12">
            <a:extLst>
              <a:ext uri="{FF2B5EF4-FFF2-40B4-BE49-F238E27FC236}">
                <a16:creationId xmlns:a16="http://schemas.microsoft.com/office/drawing/2014/main" id="{BF005F77-3F5B-2760-F855-2D8A3993CC0A}"/>
              </a:ext>
            </a:extLst>
          </p:cNvPr>
          <p:cNvSpPr>
            <a:spLocks noChangeShapeType="1"/>
          </p:cNvSpPr>
          <p:nvPr/>
        </p:nvSpPr>
        <p:spPr bwMode="auto">
          <a:xfrm>
            <a:off x="3613957" y="372554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 name="Line 13">
            <a:extLst>
              <a:ext uri="{FF2B5EF4-FFF2-40B4-BE49-F238E27FC236}">
                <a16:creationId xmlns:a16="http://schemas.microsoft.com/office/drawing/2014/main" id="{FDC25AC4-2865-625A-FD86-42C8E59FA2A0}"/>
              </a:ext>
            </a:extLst>
          </p:cNvPr>
          <p:cNvSpPr>
            <a:spLocks noChangeShapeType="1"/>
          </p:cNvSpPr>
          <p:nvPr/>
        </p:nvSpPr>
        <p:spPr bwMode="auto">
          <a:xfrm flipH="1">
            <a:off x="3613957" y="3122989"/>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 name="Line 15">
            <a:extLst>
              <a:ext uri="{FF2B5EF4-FFF2-40B4-BE49-F238E27FC236}">
                <a16:creationId xmlns:a16="http://schemas.microsoft.com/office/drawing/2014/main" id="{9E829163-7B9F-DD25-CD9A-331FC3AA05C4}"/>
              </a:ext>
            </a:extLst>
          </p:cNvPr>
          <p:cNvSpPr>
            <a:spLocks noChangeShapeType="1"/>
          </p:cNvSpPr>
          <p:nvPr/>
        </p:nvSpPr>
        <p:spPr bwMode="auto">
          <a:xfrm>
            <a:off x="3613957"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6" name="Line 16">
            <a:extLst>
              <a:ext uri="{FF2B5EF4-FFF2-40B4-BE49-F238E27FC236}">
                <a16:creationId xmlns:a16="http://schemas.microsoft.com/office/drawing/2014/main" id="{50F19E67-601C-98C0-92F0-81663A0908E2}"/>
              </a:ext>
            </a:extLst>
          </p:cNvPr>
          <p:cNvSpPr>
            <a:spLocks noChangeShapeType="1"/>
          </p:cNvSpPr>
          <p:nvPr/>
        </p:nvSpPr>
        <p:spPr bwMode="auto">
          <a:xfrm>
            <a:off x="5322980"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7" name="Text Box 17">
            <a:extLst>
              <a:ext uri="{FF2B5EF4-FFF2-40B4-BE49-F238E27FC236}">
                <a16:creationId xmlns:a16="http://schemas.microsoft.com/office/drawing/2014/main" id="{FFA6B4B6-9CC0-68D3-1941-030FFC02B8B2}"/>
              </a:ext>
            </a:extLst>
          </p:cNvPr>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8" name="Line 18">
            <a:extLst>
              <a:ext uri="{FF2B5EF4-FFF2-40B4-BE49-F238E27FC236}">
                <a16:creationId xmlns:a16="http://schemas.microsoft.com/office/drawing/2014/main" id="{03B7D948-3DA5-B5BB-CCB5-0F21D5D8F3B5}"/>
              </a:ext>
            </a:extLst>
          </p:cNvPr>
          <p:cNvSpPr>
            <a:spLocks noChangeShapeType="1"/>
          </p:cNvSpPr>
          <p:nvPr/>
        </p:nvSpPr>
        <p:spPr bwMode="auto">
          <a:xfrm>
            <a:off x="3613957" y="246397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9" name="Text Box 19">
            <a:extLst>
              <a:ext uri="{FF2B5EF4-FFF2-40B4-BE49-F238E27FC236}">
                <a16:creationId xmlns:a16="http://schemas.microsoft.com/office/drawing/2014/main" id="{B126D505-BAAF-AF9A-F56B-41B5428D3581}"/>
              </a:ext>
            </a:extLst>
          </p:cNvPr>
          <p:cNvSpPr txBox="1">
            <a:spLocks noChangeArrowheads="1"/>
          </p:cNvSpPr>
          <p:nvPr/>
        </p:nvSpPr>
        <p:spPr bwMode="auto">
          <a:xfrm>
            <a:off x="5322980" y="2402495"/>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0" name="Line 20">
            <a:extLst>
              <a:ext uri="{FF2B5EF4-FFF2-40B4-BE49-F238E27FC236}">
                <a16:creationId xmlns:a16="http://schemas.microsoft.com/office/drawing/2014/main" id="{778936B2-01AC-37CF-DACD-EBD0CD723803}"/>
              </a:ext>
            </a:extLst>
          </p:cNvPr>
          <p:cNvSpPr>
            <a:spLocks noChangeShapeType="1"/>
          </p:cNvSpPr>
          <p:nvPr/>
        </p:nvSpPr>
        <p:spPr bwMode="auto">
          <a:xfrm flipH="1">
            <a:off x="3613957" y="2519708"/>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1" name="Line 21">
            <a:extLst>
              <a:ext uri="{FF2B5EF4-FFF2-40B4-BE49-F238E27FC236}">
                <a16:creationId xmlns:a16="http://schemas.microsoft.com/office/drawing/2014/main" id="{BD6711AE-1254-1648-70B5-348465E26F74}"/>
              </a:ext>
            </a:extLst>
          </p:cNvPr>
          <p:cNvSpPr>
            <a:spLocks noChangeShapeType="1"/>
          </p:cNvSpPr>
          <p:nvPr/>
        </p:nvSpPr>
        <p:spPr bwMode="auto">
          <a:xfrm flipH="1">
            <a:off x="3613957" y="2684463"/>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2" name="Text Box 22">
            <a:extLst>
              <a:ext uri="{FF2B5EF4-FFF2-40B4-BE49-F238E27FC236}">
                <a16:creationId xmlns:a16="http://schemas.microsoft.com/office/drawing/2014/main" id="{E356FD9A-893B-6474-FF75-360080B1AF36}"/>
              </a:ext>
            </a:extLst>
          </p:cNvPr>
          <p:cNvSpPr txBox="1">
            <a:spLocks noChangeArrowheads="1"/>
          </p:cNvSpPr>
          <p:nvPr/>
        </p:nvSpPr>
        <p:spPr bwMode="auto">
          <a:xfrm>
            <a:off x="2568478" y="2734052"/>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23" name="Text Box 23">
            <a:extLst>
              <a:ext uri="{FF2B5EF4-FFF2-40B4-BE49-F238E27FC236}">
                <a16:creationId xmlns:a16="http://schemas.microsoft.com/office/drawing/2014/main" id="{94826B90-6A69-DF62-FE50-BA49FE60B1CB}"/>
              </a:ext>
            </a:extLst>
          </p:cNvPr>
          <p:cNvSpPr txBox="1">
            <a:spLocks noChangeArrowheads="1"/>
          </p:cNvSpPr>
          <p:nvPr/>
        </p:nvSpPr>
        <p:spPr bwMode="auto">
          <a:xfrm>
            <a:off x="5322980" y="3016431"/>
            <a:ext cx="111280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4" name="Line 24">
            <a:extLst>
              <a:ext uri="{FF2B5EF4-FFF2-40B4-BE49-F238E27FC236}">
                <a16:creationId xmlns:a16="http://schemas.microsoft.com/office/drawing/2014/main" id="{A73A5FD9-18EE-1E90-B7FC-C5B138866081}"/>
              </a:ext>
            </a:extLst>
          </p:cNvPr>
          <p:cNvSpPr>
            <a:spLocks noChangeShapeType="1"/>
          </p:cNvSpPr>
          <p:nvPr/>
        </p:nvSpPr>
        <p:spPr bwMode="auto">
          <a:xfrm flipH="1">
            <a:off x="3613957" y="3287744"/>
            <a:ext cx="1709023" cy="16557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5" name="Line 25">
            <a:extLst>
              <a:ext uri="{FF2B5EF4-FFF2-40B4-BE49-F238E27FC236}">
                <a16:creationId xmlns:a16="http://schemas.microsoft.com/office/drawing/2014/main" id="{1021ECF0-B03F-5BBF-D029-72F1D931012A}"/>
              </a:ext>
            </a:extLst>
          </p:cNvPr>
          <p:cNvSpPr>
            <a:spLocks noChangeShapeType="1"/>
          </p:cNvSpPr>
          <p:nvPr/>
        </p:nvSpPr>
        <p:spPr bwMode="auto">
          <a:xfrm flipH="1">
            <a:off x="3613957" y="3453318"/>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E5CC01CD-22DB-90DB-85E5-3A6E6C4EDC02}"/>
              </a:ext>
            </a:extLst>
          </p:cNvPr>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28" name="Text Box 29">
            <a:extLst>
              <a:ext uri="{FF2B5EF4-FFF2-40B4-BE49-F238E27FC236}">
                <a16:creationId xmlns:a16="http://schemas.microsoft.com/office/drawing/2014/main" id="{9B7D22D6-2DA2-7989-7BED-56B6D342BB8F}"/>
              </a:ext>
            </a:extLst>
          </p:cNvPr>
          <p:cNvSpPr txBox="1">
            <a:spLocks noChangeArrowheads="1"/>
          </p:cNvSpPr>
          <p:nvPr/>
        </p:nvSpPr>
        <p:spPr bwMode="auto">
          <a:xfrm>
            <a:off x="1729480" y="2734052"/>
            <a:ext cx="909223"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3 </a:t>
            </a:r>
          </a:p>
        </p:txBody>
      </p:sp>
      <p:sp>
        <p:nvSpPr>
          <p:cNvPr id="29" name="Text Box 30">
            <a:extLst>
              <a:ext uri="{FF2B5EF4-FFF2-40B4-BE49-F238E27FC236}">
                <a16:creationId xmlns:a16="http://schemas.microsoft.com/office/drawing/2014/main" id="{11DEA278-582E-7CF1-41A9-27939BFCD747}"/>
              </a:ext>
            </a:extLst>
          </p:cNvPr>
          <p:cNvSpPr txBox="1">
            <a:spLocks noChangeArrowheads="1"/>
          </p:cNvSpPr>
          <p:nvPr/>
        </p:nvSpPr>
        <p:spPr bwMode="auto">
          <a:xfrm>
            <a:off x="2533212" y="3667221"/>
            <a:ext cx="10807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10</a:t>
            </a:r>
          </a:p>
        </p:txBody>
      </p:sp>
      <p:sp>
        <p:nvSpPr>
          <p:cNvPr id="30" name="Text Box 32">
            <a:extLst>
              <a:ext uri="{FF2B5EF4-FFF2-40B4-BE49-F238E27FC236}">
                <a16:creationId xmlns:a16="http://schemas.microsoft.com/office/drawing/2014/main" id="{3C95150C-C5ED-6A9A-78DF-57D09F65C53F}"/>
              </a:ext>
            </a:extLst>
          </p:cNvPr>
          <p:cNvSpPr txBox="1">
            <a:spLocks noChangeArrowheads="1"/>
          </p:cNvSpPr>
          <p:nvPr/>
        </p:nvSpPr>
        <p:spPr bwMode="auto">
          <a:xfrm rot="5400000">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31" name="Line 33">
            <a:extLst>
              <a:ext uri="{FF2B5EF4-FFF2-40B4-BE49-F238E27FC236}">
                <a16:creationId xmlns:a16="http://schemas.microsoft.com/office/drawing/2014/main" id="{7E2FF849-5151-E0CF-8D05-8C89140BCB47}"/>
              </a:ext>
            </a:extLst>
          </p:cNvPr>
          <p:cNvSpPr>
            <a:spLocks noChangeShapeType="1"/>
          </p:cNvSpPr>
          <p:nvPr/>
        </p:nvSpPr>
        <p:spPr bwMode="auto">
          <a:xfrm>
            <a:off x="3613957" y="290413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58C9076A-1C96-1703-31C4-784705013F59}"/>
              </a:ext>
            </a:extLst>
          </p:cNvPr>
          <p:cNvSpPr>
            <a:spLocks noChangeShapeType="1"/>
          </p:cNvSpPr>
          <p:nvPr/>
        </p:nvSpPr>
        <p:spPr bwMode="auto">
          <a:xfrm>
            <a:off x="3613957" y="306889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3" name="Line 35">
            <a:extLst>
              <a:ext uri="{FF2B5EF4-FFF2-40B4-BE49-F238E27FC236}">
                <a16:creationId xmlns:a16="http://schemas.microsoft.com/office/drawing/2014/main" id="{1C2FA6EF-7724-227A-2A6E-D60A4082B8F9}"/>
              </a:ext>
            </a:extLst>
          </p:cNvPr>
          <p:cNvSpPr>
            <a:spLocks noChangeShapeType="1"/>
          </p:cNvSpPr>
          <p:nvPr/>
        </p:nvSpPr>
        <p:spPr bwMode="auto">
          <a:xfrm>
            <a:off x="3613957" y="3233645"/>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5" name="Text Box 29">
            <a:extLst>
              <a:ext uri="{FF2B5EF4-FFF2-40B4-BE49-F238E27FC236}">
                <a16:creationId xmlns:a16="http://schemas.microsoft.com/office/drawing/2014/main" id="{722A49B8-7141-0D9C-9E46-13F43A7D4B51}"/>
              </a:ext>
            </a:extLst>
          </p:cNvPr>
          <p:cNvSpPr txBox="1">
            <a:spLocks noChangeArrowheads="1"/>
          </p:cNvSpPr>
          <p:nvPr/>
        </p:nvSpPr>
        <p:spPr bwMode="auto">
          <a:xfrm>
            <a:off x="1729480" y="3667221"/>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36" name="Text Box 40">
            <a:extLst>
              <a:ext uri="{FF2B5EF4-FFF2-40B4-BE49-F238E27FC236}">
                <a16:creationId xmlns:a16="http://schemas.microsoft.com/office/drawing/2014/main" id="{02941E61-3BD5-EC48-03CB-C6D0A15E9548}"/>
              </a:ext>
            </a:extLst>
          </p:cNvPr>
          <p:cNvSpPr txBox="1">
            <a:spLocks noChangeArrowheads="1"/>
          </p:cNvSpPr>
          <p:nvPr/>
        </p:nvSpPr>
        <p:spPr bwMode="auto">
          <a:xfrm>
            <a:off x="6686248" y="1871180"/>
            <a:ext cx="52770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20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7" name="Text Box 41">
            <a:extLst>
              <a:ext uri="{FF2B5EF4-FFF2-40B4-BE49-F238E27FC236}">
                <a16:creationId xmlns:a16="http://schemas.microsoft.com/office/drawing/2014/main" id="{8D1EBEEB-0E61-8856-4A93-482724586048}"/>
              </a:ext>
            </a:extLst>
          </p:cNvPr>
          <p:cNvSpPr txBox="1">
            <a:spLocks noChangeArrowheads="1"/>
          </p:cNvSpPr>
          <p:nvPr/>
        </p:nvSpPr>
        <p:spPr bwMode="auto">
          <a:xfrm>
            <a:off x="6654188" y="2402495"/>
            <a:ext cx="55976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38" name="Text Box 42">
            <a:extLst>
              <a:ext uri="{FF2B5EF4-FFF2-40B4-BE49-F238E27FC236}">
                <a16:creationId xmlns:a16="http://schemas.microsoft.com/office/drawing/2014/main" id="{7F99B511-54C8-E195-2DED-F348AB011E84}"/>
              </a:ext>
            </a:extLst>
          </p:cNvPr>
          <p:cNvSpPr txBox="1">
            <a:spLocks noChangeArrowheads="1"/>
          </p:cNvSpPr>
          <p:nvPr/>
        </p:nvSpPr>
        <p:spPr bwMode="auto">
          <a:xfrm>
            <a:off x="6655791" y="3016431"/>
            <a:ext cx="558166"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RTT3</a:t>
            </a:r>
          </a:p>
        </p:txBody>
      </p:sp>
      <p:sp>
        <p:nvSpPr>
          <p:cNvPr id="39" name="Text Box 28">
            <a:extLst>
              <a:ext uri="{FF2B5EF4-FFF2-40B4-BE49-F238E27FC236}">
                <a16:creationId xmlns:a16="http://schemas.microsoft.com/office/drawing/2014/main" id="{C633C733-9D92-F871-E60F-E52BA3C94C2D}"/>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
        <p:nvSpPr>
          <p:cNvPr id="40" name="Text Box 155">
            <a:extLst>
              <a:ext uri="{FF2B5EF4-FFF2-40B4-BE49-F238E27FC236}">
                <a16:creationId xmlns:a16="http://schemas.microsoft.com/office/drawing/2014/main" id="{8F771EAA-3ACD-5A31-83B7-0C1473164D10}"/>
              </a:ext>
            </a:extLst>
          </p:cNvPr>
          <p:cNvSpPr txBox="1">
            <a:spLocks noChangeArrowheads="1"/>
          </p:cNvSpPr>
          <p:nvPr/>
        </p:nvSpPr>
        <p:spPr bwMode="auto">
          <a:xfrm>
            <a:off x="1659118" y="642816"/>
            <a:ext cx="5910606" cy="282641"/>
          </a:xfrm>
          <a:prstGeom prst="rect">
            <a:avLst/>
          </a:prstGeom>
          <a:solidFill>
            <a:srgbClr val="000099"/>
          </a:solidFill>
          <a:ln w="9525">
            <a:noFill/>
            <a:miter lim="800000"/>
            <a:headEnd/>
            <a:tailEnd/>
          </a:ln>
          <a:effectLst/>
        </p:spPr>
        <p:txBody>
          <a:bodyPr wrap="square">
            <a:spAutoFit/>
          </a:bodyPr>
          <a:lstStyle>
            <a:defPPr>
              <a:defRPr lang="zh-CN"/>
            </a:defPPr>
            <a:lvl1pPr algn="ctr">
              <a:lnSpc>
                <a:spcPct val="110000"/>
              </a:lnSpc>
              <a:defRPr sz="1200">
                <a:solidFill>
                  <a:schemeClr val="bg1"/>
                </a:solidFill>
                <a:latin typeface="Montserrat" panose="00000500000000000000" pitchFamily="2" charset="0"/>
                <a:ea typeface="微软雅黑 Light" panose="020B0502040204020203" pitchFamily="34" charset="-122"/>
              </a:defRPr>
            </a:lvl1pPr>
          </a:lstStyle>
          <a:p>
            <a:r>
              <a:rPr lang="zh-CN" altLang="en-US" dirty="0"/>
              <a:t>每经过一个往返时间 </a:t>
            </a:r>
            <a:r>
              <a:rPr lang="en-US" altLang="zh-CN" dirty="0"/>
              <a:t>RTT</a:t>
            </a:r>
            <a:r>
              <a:rPr lang="zh-CN" altLang="en-US" dirty="0"/>
              <a:t>，发送方就把拥塞窗口 </a:t>
            </a:r>
            <a:r>
              <a:rPr lang="en-US" altLang="zh-CN" dirty="0"/>
              <a:t>cwnd </a:t>
            </a:r>
            <a:r>
              <a:rPr lang="zh-CN" altLang="en-US" dirty="0"/>
              <a:t>加 </a:t>
            </a:r>
            <a:r>
              <a:rPr lang="en-US" altLang="zh-CN" dirty="0"/>
              <a:t>1</a:t>
            </a:r>
            <a:r>
              <a:rPr lang="zh-CN" altLang="en-US" dirty="0"/>
              <a:t>。 </a:t>
            </a:r>
          </a:p>
        </p:txBody>
      </p:sp>
    </p:spTree>
    <p:extLst>
      <p:ext uri="{BB962C8B-B14F-4D97-AF65-F5344CB8AC3E}">
        <p14:creationId xmlns:p14="http://schemas.microsoft.com/office/powerpoint/2010/main" val="10009050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38"/>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37"/>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3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P spid="37" grpId="0"/>
      <p:bldP spid="38" grpId="0"/>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8983B389-E38D-BE4A-32AC-05557FA075A6}"/>
              </a:ext>
            </a:extLst>
          </p:cNvPr>
          <p:cNvSpPr>
            <a:spLocks noGrp="1"/>
          </p:cNvSpPr>
          <p:nvPr>
            <p:ph sz="quarter" idx="11"/>
          </p:nvPr>
        </p:nvSpPr>
        <p:spPr>
          <a:xfrm>
            <a:off x="486000" y="900000"/>
            <a:ext cx="8172000" cy="3703500"/>
          </a:xfrm>
        </p:spPr>
        <p:txBody>
          <a:bodyPr/>
          <a:lstStyle/>
          <a:p>
            <a:r>
              <a:rPr lang="zh-CN" altLang="en-US" dirty="0"/>
              <a:t>无论在慢开始阶段还是在拥塞避免阶段，只要发送方判断网络出现拥塞（重传定时器超时）：</a:t>
            </a:r>
          </a:p>
          <a:p>
            <a:pPr lvl="1"/>
            <a:r>
              <a:rPr lang="en-US" altLang="zh-CN" dirty="0" err="1"/>
              <a:t>ssthresh</a:t>
            </a:r>
            <a:r>
              <a:rPr lang="en-US" altLang="zh-CN" dirty="0"/>
              <a:t> = max (</a:t>
            </a:r>
            <a:r>
              <a:rPr lang="en-US" altLang="zh-CN" dirty="0" err="1"/>
              <a:t>cwnd</a:t>
            </a:r>
            <a:r>
              <a:rPr lang="en-US" altLang="zh-CN" dirty="0"/>
              <a:t>/2</a:t>
            </a:r>
            <a:r>
              <a:rPr lang="zh-CN" altLang="en-US" dirty="0"/>
              <a:t>，</a:t>
            </a:r>
            <a:r>
              <a:rPr lang="en-US" altLang="zh-CN" dirty="0"/>
              <a:t>2)</a:t>
            </a:r>
          </a:p>
          <a:p>
            <a:pPr lvl="1"/>
            <a:r>
              <a:rPr lang="en-US" altLang="zh-CN" dirty="0" err="1"/>
              <a:t>cwnd</a:t>
            </a:r>
            <a:r>
              <a:rPr lang="en-US" altLang="zh-CN" dirty="0"/>
              <a:t> = 1</a:t>
            </a:r>
          </a:p>
          <a:p>
            <a:pPr lvl="1"/>
            <a:r>
              <a:rPr lang="zh-CN" altLang="en-US" dirty="0"/>
              <a:t>执行慢开始算法</a:t>
            </a:r>
          </a:p>
          <a:p>
            <a:r>
              <a:rPr lang="zh-CN" altLang="en-US" dirty="0"/>
              <a:t>目的：迅速减少主机发送到网络中的分组数，使得发生拥塞的路由器有足够时间把队列中积压的分组处理完毕。 </a:t>
            </a:r>
          </a:p>
          <a:p>
            <a:endParaRPr lang="zh-CN" altLang="en-US" dirty="0"/>
          </a:p>
        </p:txBody>
      </p:sp>
      <p:sp>
        <p:nvSpPr>
          <p:cNvPr id="2" name="标题 1">
            <a:extLst>
              <a:ext uri="{FF2B5EF4-FFF2-40B4-BE49-F238E27FC236}">
                <a16:creationId xmlns:a16="http://schemas.microsoft.com/office/drawing/2014/main" id="{3BB718E9-CFD1-EF48-7320-866540EC23D3}"/>
              </a:ext>
            </a:extLst>
          </p:cNvPr>
          <p:cNvSpPr>
            <a:spLocks noGrp="1"/>
          </p:cNvSpPr>
          <p:nvPr>
            <p:ph type="title"/>
          </p:nvPr>
        </p:nvSpPr>
        <p:spPr>
          <a:xfrm>
            <a:off x="486000" y="550723"/>
            <a:ext cx="8172000" cy="338554"/>
          </a:xfrm>
        </p:spPr>
        <p:txBody>
          <a:bodyPr/>
          <a:lstStyle/>
          <a:p>
            <a:r>
              <a:rPr lang="zh-CN" altLang="en-US"/>
              <a:t>当网络出现拥塞时</a:t>
            </a:r>
            <a:endParaRPr lang="zh-CN" altLang="en-US" dirty="0"/>
          </a:p>
        </p:txBody>
      </p:sp>
    </p:spTree>
    <p:extLst>
      <p:ext uri="{BB962C8B-B14F-4D97-AF65-F5344CB8AC3E}">
        <p14:creationId xmlns:p14="http://schemas.microsoft.com/office/powerpoint/2010/main" val="2243759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Text Box 155"/>
          <p:cNvSpPr txBox="1">
            <a:spLocks noChangeArrowheads="1"/>
          </p:cNvSpPr>
          <p:nvPr/>
        </p:nvSpPr>
        <p:spPr bwMode="auto">
          <a:xfrm>
            <a:off x="1655268" y="3391025"/>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 </a:t>
            </a:r>
            <a:r>
              <a:rPr lang="en-US" altLang="zh-CN" sz="1600" b="1" dirty="0">
                <a:solidFill>
                  <a:srgbClr val="0000FF"/>
                </a:solidFill>
                <a:latin typeface="微软雅黑" pitchFamily="34" charset="-122"/>
                <a:ea typeface="微软雅黑" pitchFamily="34" charset="-122"/>
              </a:rPr>
              <a:t>TCP </a:t>
            </a:r>
            <a:r>
              <a:rPr lang="zh-CN" altLang="en-US" sz="1600" b="1" dirty="0">
                <a:solidFill>
                  <a:srgbClr val="0000FF"/>
                </a:solidFill>
                <a:latin typeface="微软雅黑" pitchFamily="34" charset="-122"/>
                <a:ea typeface="微软雅黑" pitchFamily="34" charset="-122"/>
              </a:rPr>
              <a:t>连接进行初始化时，将拥塞窗口置为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（窗口单位不使用字节而使用报文段）。</a:t>
            </a:r>
          </a:p>
        </p:txBody>
      </p:sp>
      <p:sp>
        <p:nvSpPr>
          <p:cNvPr id="170" name="Text Box 155"/>
          <p:cNvSpPr txBox="1">
            <a:spLocks noChangeArrowheads="1"/>
          </p:cNvSpPr>
          <p:nvPr/>
        </p:nvSpPr>
        <p:spPr bwMode="auto">
          <a:xfrm>
            <a:off x="1655268" y="3954770"/>
            <a:ext cx="6300012"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将慢开始门限的初始值设置为 </a:t>
            </a:r>
            <a:r>
              <a:rPr lang="en-US" altLang="zh-CN" sz="1600" b="1" dirty="0">
                <a:solidFill>
                  <a:srgbClr val="0000FF"/>
                </a:solidFill>
                <a:latin typeface="微软雅黑" pitchFamily="34" charset="-122"/>
                <a:ea typeface="微软雅黑" pitchFamily="34" charset="-122"/>
              </a:rPr>
              <a:t>16 </a:t>
            </a:r>
            <a:r>
              <a:rPr lang="zh-CN" altLang="en-US" sz="1600" b="1" dirty="0">
                <a:solidFill>
                  <a:srgbClr val="0000FF"/>
                </a:solidFill>
                <a:latin typeface="微软雅黑" pitchFamily="34" charset="-122"/>
                <a:ea typeface="微软雅黑" pitchFamily="34" charset="-122"/>
              </a:rPr>
              <a:t>个报文段，即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16</a:t>
            </a:r>
            <a:r>
              <a:rPr lang="zh-CN" altLang="en-US" sz="1600" b="1" dirty="0">
                <a:solidFill>
                  <a:srgbClr val="0000FF"/>
                </a:solidFill>
                <a:latin typeface="微软雅黑" pitchFamily="34" charset="-122"/>
                <a:ea typeface="微软雅黑" pitchFamily="34" charset="-122"/>
              </a:rPr>
              <a:t>。</a:t>
            </a:r>
          </a:p>
        </p:txBody>
      </p:sp>
      <p:grpSp>
        <p:nvGrpSpPr>
          <p:cNvPr id="122" name="组合 121"/>
          <p:cNvGrpSpPr/>
          <p:nvPr/>
        </p:nvGrpSpPr>
        <p:grpSpPr>
          <a:xfrm>
            <a:off x="1317046" y="1115751"/>
            <a:ext cx="6855510" cy="2262108"/>
            <a:chOff x="1317046" y="1115751"/>
            <a:chExt cx="6855510" cy="2262108"/>
          </a:xfrm>
        </p:grpSpPr>
        <p:grpSp>
          <p:nvGrpSpPr>
            <p:cNvPr id="153" name="组合 152"/>
            <p:cNvGrpSpPr/>
            <p:nvPr/>
          </p:nvGrpSpPr>
          <p:grpSpPr>
            <a:xfrm>
              <a:off x="1317046" y="1115751"/>
              <a:ext cx="6808860" cy="2262108"/>
              <a:chOff x="300646" y="840152"/>
              <a:chExt cx="9638211" cy="3093013"/>
            </a:xfrm>
          </p:grpSpPr>
          <p:sp>
            <p:nvSpPr>
              <p:cNvPr id="172"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73"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4"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5"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9"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04"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5"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06"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07"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08"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9"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10"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11"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12"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13"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14"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5"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6"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17"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18"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19"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20"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21"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37"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38"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42"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43"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45"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4"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55"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6"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59"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60"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61"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65"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6" name="直接连接符 134"/>
              <p:cNvCxnSpPr>
                <a:cxnSpLocks noChangeShapeType="1"/>
                <a:stCxn id="257" idx="4"/>
                <a:endCxn id="261" idx="3"/>
              </p:cNvCxnSpPr>
              <p:nvPr/>
            </p:nvCxnSpPr>
            <p:spPr bwMode="auto">
              <a:xfrm>
                <a:off x="6706617" y="2109019"/>
                <a:ext cx="200025" cy="785812"/>
              </a:xfrm>
              <a:prstGeom prst="line">
                <a:avLst/>
              </a:prstGeom>
              <a:noFill/>
              <a:ln w="19050" algn="ctr">
                <a:solidFill>
                  <a:srgbClr val="0000FF"/>
                </a:solidFill>
                <a:round/>
                <a:headEnd/>
                <a:tailEnd/>
              </a:ln>
            </p:spPr>
          </p:cxnSp>
          <p:sp>
            <p:nvSpPr>
              <p:cNvPr id="267"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8"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9"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0"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71"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72" name="直接连接符 271"/>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73"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74"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5"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6"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7"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8"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79" name="直接连接符 278"/>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80"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71"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1" name="Line 167"/>
          <p:cNvSpPr>
            <a:spLocks noChangeShapeType="1"/>
          </p:cNvSpPr>
          <p:nvPr/>
        </p:nvSpPr>
        <p:spPr bwMode="auto">
          <a:xfrm>
            <a:off x="2058564" y="2960685"/>
            <a:ext cx="376817" cy="111459"/>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2" name="Line 167"/>
          <p:cNvSpPr>
            <a:spLocks noChangeShapeType="1"/>
          </p:cNvSpPr>
          <p:nvPr/>
        </p:nvSpPr>
        <p:spPr bwMode="auto">
          <a:xfrm>
            <a:off x="4264620" y="2953682"/>
            <a:ext cx="262426" cy="98688"/>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3" name="Text Box 209"/>
          <p:cNvSpPr txBox="1">
            <a:spLocks noChangeArrowheads="1"/>
          </p:cNvSpPr>
          <p:nvPr/>
        </p:nvSpPr>
        <p:spPr bwMode="auto">
          <a:xfrm>
            <a:off x="1393490" y="2710463"/>
            <a:ext cx="753634"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84" name="Text Box 209"/>
          <p:cNvSpPr txBox="1">
            <a:spLocks noChangeArrowheads="1"/>
          </p:cNvSpPr>
          <p:nvPr/>
        </p:nvSpPr>
        <p:spPr bwMode="auto">
          <a:xfrm>
            <a:off x="3532258" y="2694952"/>
            <a:ext cx="753635"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 name="标题 1">
            <a:extLst>
              <a:ext uri="{FF2B5EF4-FFF2-40B4-BE49-F238E27FC236}">
                <a16:creationId xmlns:a16="http://schemas.microsoft.com/office/drawing/2014/main" id="{3A1F63B5-2F2A-459B-5352-943DCBE5B957}"/>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356808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Text Box 155"/>
          <p:cNvSpPr txBox="1">
            <a:spLocks noChangeArrowheads="1"/>
          </p:cNvSpPr>
          <p:nvPr/>
        </p:nvSpPr>
        <p:spPr bwMode="auto">
          <a:xfrm>
            <a:off x="1702402" y="3485394"/>
            <a:ext cx="6131271"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开始执行慢开始算法时，拥塞窗口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，发送第一个报文段。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3" name="Line 167"/>
          <p:cNvSpPr>
            <a:spLocks noChangeShapeType="1"/>
          </p:cNvSpPr>
          <p:nvPr/>
        </p:nvSpPr>
        <p:spPr bwMode="auto">
          <a:xfrm>
            <a:off x="1968382" y="272449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9BE35F-D1C3-2411-6F72-DC0A252AFD9B}"/>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9082961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2117253" y="2660866"/>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A1F374F8-EA85-B314-D0F0-96E3C1A781D4}"/>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15600712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279464" y="25316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CD88A09C-5201-6E5B-0478-4D168B78C294}"/>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234199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237" name="组合 236"/>
          <p:cNvGrpSpPr/>
          <p:nvPr/>
        </p:nvGrpSpPr>
        <p:grpSpPr>
          <a:xfrm>
            <a:off x="1317046" y="1115751"/>
            <a:ext cx="6855510" cy="2262108"/>
            <a:chOff x="1317046" y="1115751"/>
            <a:chExt cx="6855510" cy="2262108"/>
          </a:xfrm>
        </p:grpSpPr>
        <p:grpSp>
          <p:nvGrpSpPr>
            <p:cNvPr id="238" name="组合 237"/>
            <p:cNvGrpSpPr/>
            <p:nvPr/>
          </p:nvGrpSpPr>
          <p:grpSpPr>
            <a:xfrm>
              <a:off x="1317046" y="1115751"/>
              <a:ext cx="6808860" cy="2262108"/>
              <a:chOff x="300646" y="840152"/>
              <a:chExt cx="9638211" cy="3093013"/>
            </a:xfrm>
          </p:grpSpPr>
          <p:sp>
            <p:nvSpPr>
              <p:cNvPr id="24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24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7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7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7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7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7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7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7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8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8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8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8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8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8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9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9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30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30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0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31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31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31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2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32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2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32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32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33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33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35" name="直接连接符 134"/>
              <p:cNvCxnSpPr>
                <a:cxnSpLocks noChangeShapeType="1"/>
                <a:stCxn id="326" idx="4"/>
                <a:endCxn id="330" idx="3"/>
              </p:cNvCxnSpPr>
              <p:nvPr/>
            </p:nvCxnSpPr>
            <p:spPr bwMode="auto">
              <a:xfrm>
                <a:off x="6706617" y="2109019"/>
                <a:ext cx="200025" cy="785812"/>
              </a:xfrm>
              <a:prstGeom prst="line">
                <a:avLst/>
              </a:prstGeom>
              <a:noFill/>
              <a:ln w="19050" algn="ctr">
                <a:solidFill>
                  <a:srgbClr val="0000FF"/>
                </a:solidFill>
                <a:round/>
                <a:headEnd/>
                <a:tailEnd/>
              </a:ln>
            </p:spPr>
          </p:cxnSp>
          <p:sp>
            <p:nvSpPr>
              <p:cNvPr id="33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3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34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341" name="直接连接符 34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34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34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4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48" name="直接连接符 34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34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23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24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434414" y="2267461"/>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D4AC7CA-8C6A-A7E1-E10B-C21D5CC4B3D9}"/>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515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xt Box 155"/>
          <p:cNvSpPr txBox="1">
            <a:spLocks noChangeArrowheads="1"/>
          </p:cNvSpPr>
          <p:nvPr/>
        </p:nvSpPr>
        <p:spPr bwMode="auto">
          <a:xfrm>
            <a:off x="1655268" y="3420248"/>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增长到慢开始门限值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时，改为执行拥塞避免算法，拥塞窗口按线性规律增长。</a:t>
            </a:r>
          </a:p>
        </p:txBody>
      </p:sp>
      <p:sp>
        <p:nvSpPr>
          <p:cNvPr id="148" name="Line 167"/>
          <p:cNvSpPr>
            <a:spLocks noChangeShapeType="1"/>
          </p:cNvSpPr>
          <p:nvPr/>
        </p:nvSpPr>
        <p:spPr bwMode="auto">
          <a:xfrm>
            <a:off x="2597067" y="17009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grpSp>
        <p:nvGrpSpPr>
          <p:cNvPr id="2" name="组合 1"/>
          <p:cNvGrpSpPr/>
          <p:nvPr/>
        </p:nvGrpSpPr>
        <p:grpSpPr>
          <a:xfrm>
            <a:off x="1317046" y="1115751"/>
            <a:ext cx="6855510" cy="2262108"/>
            <a:chOff x="1317046" y="1115751"/>
            <a:chExt cx="6855510" cy="2262108"/>
          </a:xfrm>
        </p:grpSpPr>
        <p:grpSp>
          <p:nvGrpSpPr>
            <p:cNvPr id="37" name="组合 36"/>
            <p:cNvGrpSpPr/>
            <p:nvPr/>
          </p:nvGrpSpPr>
          <p:grpSpPr>
            <a:xfrm>
              <a:off x="1317046" y="1115751"/>
              <a:ext cx="6808860" cy="2262108"/>
              <a:chOff x="300646" y="840152"/>
              <a:chExt cx="9638211" cy="3093013"/>
            </a:xfrm>
          </p:grpSpPr>
          <p:sp>
            <p:nvSpPr>
              <p:cNvPr id="3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3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7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7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7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7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7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7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7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7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7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7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8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8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8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8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8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8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8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8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0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0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0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0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0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11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2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12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2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12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12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12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13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32" name="直接连接符 134"/>
              <p:cNvCxnSpPr>
                <a:cxnSpLocks noChangeShapeType="1"/>
                <a:stCxn id="123" idx="4"/>
                <a:endCxn id="127" idx="3"/>
              </p:cNvCxnSpPr>
              <p:nvPr/>
            </p:nvCxnSpPr>
            <p:spPr bwMode="auto">
              <a:xfrm>
                <a:off x="6706617" y="2109019"/>
                <a:ext cx="200025" cy="785812"/>
              </a:xfrm>
              <a:prstGeom prst="line">
                <a:avLst/>
              </a:prstGeom>
              <a:noFill/>
              <a:ln w="19050" algn="ctr">
                <a:solidFill>
                  <a:srgbClr val="0000FF"/>
                </a:solidFill>
                <a:round/>
                <a:headEnd/>
                <a:tailEnd/>
              </a:ln>
            </p:spPr>
          </p:cxnSp>
          <p:sp>
            <p:nvSpPr>
              <p:cNvPr id="13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3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13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138" name="直接连接符 13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13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14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4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45" name="直接连接符 14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14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2"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3"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3" name="标题 2">
            <a:extLst>
              <a:ext uri="{FF2B5EF4-FFF2-40B4-BE49-F238E27FC236}">
                <a16:creationId xmlns:a16="http://schemas.microsoft.com/office/drawing/2014/main" id="{5B70A799-DB1A-60A3-A65F-6B258813BA21}"/>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941753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3886896" y="1128042"/>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369E398E-F377-439A-28A3-20DDADF7533C}"/>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41984383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2" name="组合 141"/>
          <p:cNvGrpSpPr/>
          <p:nvPr/>
        </p:nvGrpSpPr>
        <p:grpSpPr>
          <a:xfrm>
            <a:off x="1317046" y="1115751"/>
            <a:ext cx="6855510" cy="2262108"/>
            <a:chOff x="1317046" y="1115751"/>
            <a:chExt cx="6855510" cy="2262108"/>
          </a:xfrm>
        </p:grpSpPr>
        <p:grpSp>
          <p:nvGrpSpPr>
            <p:cNvPr id="148" name="组合 147"/>
            <p:cNvGrpSpPr/>
            <p:nvPr/>
          </p:nvGrpSpPr>
          <p:grpSpPr>
            <a:xfrm>
              <a:off x="1317046" y="1115751"/>
              <a:ext cx="6808860" cy="2262108"/>
              <a:chOff x="300646" y="840152"/>
              <a:chExt cx="9638211" cy="3093013"/>
            </a:xfrm>
          </p:grpSpPr>
          <p:sp>
            <p:nvSpPr>
              <p:cNvPr id="15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8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8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8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8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9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9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1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1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3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3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5" name="直接连接符 134"/>
              <p:cNvCxnSpPr>
                <a:cxnSpLocks noChangeShapeType="1"/>
                <a:stCxn id="236" idx="4"/>
                <a:endCxn id="240" idx="3"/>
              </p:cNvCxnSpPr>
              <p:nvPr/>
            </p:nvCxnSpPr>
            <p:spPr bwMode="auto">
              <a:xfrm>
                <a:off x="6706617" y="2109019"/>
                <a:ext cx="200025" cy="785812"/>
              </a:xfrm>
              <a:prstGeom prst="line">
                <a:avLst/>
              </a:prstGeom>
              <a:noFill/>
              <a:ln w="19050" algn="ctr">
                <a:solidFill>
                  <a:srgbClr val="0000FF"/>
                </a:solidFill>
                <a:round/>
                <a:headEnd/>
                <a:tailEnd/>
              </a:ln>
            </p:spPr>
          </p:cxnSp>
          <p:sp>
            <p:nvSpPr>
              <p:cNvPr id="24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4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1" name="直接连接符 25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8" name="直接连接符 25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5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4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3" name="Line 167"/>
          <p:cNvSpPr>
            <a:spLocks noChangeShapeType="1"/>
          </p:cNvSpPr>
          <p:nvPr/>
        </p:nvSpPr>
        <p:spPr bwMode="auto">
          <a:xfrm>
            <a:off x="4052839" y="2709948"/>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0"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2" name="标题 1">
            <a:extLst>
              <a:ext uri="{FF2B5EF4-FFF2-40B4-BE49-F238E27FC236}">
                <a16:creationId xmlns:a16="http://schemas.microsoft.com/office/drawing/2014/main" id="{5A3C3EBF-CE3A-9BAF-F0A6-9A32B753E69C}"/>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18145123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121791" y="3419682"/>
            <a:ext cx="7051250" cy="886012"/>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按照慢开始算法，发送方每收到一个对新报文段的确认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12 </a:t>
            </a:r>
            <a:r>
              <a:rPr lang="zh-CN" altLang="en-US" sz="1600" b="1" dirty="0">
                <a:solidFill>
                  <a:srgbClr val="0000FF"/>
                </a:solidFill>
                <a:latin typeface="微软雅黑" pitchFamily="34" charset="-122"/>
                <a:ea typeface="微软雅黑" pitchFamily="34" charset="-122"/>
              </a:rPr>
              <a:t>时，改为执行拥塞避免算法，拥塞窗口按线性规律增大。</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flipH="1" flipV="1">
            <a:off x="5235509" y="2380562"/>
            <a:ext cx="409373" cy="327412"/>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67C52BE-6B3E-97A7-F652-F86B0174BB33}"/>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821281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C816E65-F579-7033-0EE5-516B57D0BD7A}"/>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7952514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对角圆角矩形 47"/>
          <p:cNvSpPr/>
          <p:nvPr/>
        </p:nvSpPr>
        <p:spPr>
          <a:xfrm>
            <a:off x="1000026" y="3373347"/>
            <a:ext cx="6758236" cy="120297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1272621" y="3467999"/>
            <a:ext cx="6297103" cy="1015663"/>
          </a:xfrm>
          <a:prstGeom prst="rect">
            <a:avLst/>
          </a:prstGeom>
        </p:spPr>
        <p:txBody>
          <a:bodyPr wrap="square">
            <a:spAutoFit/>
          </a:bodyPr>
          <a:lstStyle/>
          <a:p>
            <a:pPr>
              <a:lnSpc>
                <a:spcPts val="2400"/>
              </a:lnSpc>
            </a:pPr>
            <a:r>
              <a:rPr lang="zh-CN" altLang="en-US" b="1" dirty="0">
                <a:solidFill>
                  <a:srgbClr val="FFFF00"/>
                </a:solidFill>
                <a:latin typeface="微软雅黑" pitchFamily="34" charset="-122"/>
                <a:ea typeface="微软雅黑" pitchFamily="34" charset="-122"/>
              </a:rPr>
              <a:t>注意：</a:t>
            </a:r>
            <a:endParaRPr lang="en-US" altLang="zh-CN" b="1" dirty="0">
              <a:solidFill>
                <a:srgbClr val="FFFF00"/>
              </a:solidFill>
              <a:latin typeface="微软雅黑" pitchFamily="34" charset="-122"/>
              <a:ea typeface="微软雅黑" pitchFamily="34" charset="-122"/>
            </a:endParaRPr>
          </a:p>
          <a:p>
            <a:pPr>
              <a:lnSpc>
                <a:spcPts val="2400"/>
              </a:lnSpc>
            </a:pPr>
            <a:r>
              <a:rPr lang="zh-CN" altLang="en-US" b="1" dirty="0">
                <a:solidFill>
                  <a:schemeClr val="bg1"/>
                </a:solidFill>
                <a:latin typeface="微软雅黑" pitchFamily="34" charset="-122"/>
                <a:ea typeface="微软雅黑" pitchFamily="34" charset="-122"/>
              </a:rPr>
              <a:t>快重传并非取消重传计时器，而是在某些情况下可以更早地（</a:t>
            </a:r>
            <a:r>
              <a:rPr lang="zh-CN" altLang="en-US" b="1" dirty="0">
                <a:solidFill>
                  <a:srgbClr val="FFFF00"/>
                </a:solidFill>
                <a:latin typeface="微软雅黑" pitchFamily="34" charset="-122"/>
                <a:ea typeface="微软雅黑" pitchFamily="34" charset="-122"/>
              </a:rPr>
              <a:t>更快地</a:t>
            </a:r>
            <a:r>
              <a:rPr lang="zh-CN" altLang="en-US" b="1" dirty="0">
                <a:solidFill>
                  <a:schemeClr val="bg1"/>
                </a:solidFill>
                <a:latin typeface="微软雅黑" pitchFamily="34" charset="-122"/>
                <a:ea typeface="微软雅黑" pitchFamily="34" charset="-122"/>
              </a:rPr>
              <a:t>）重传丢失的报文段。 </a:t>
            </a:r>
          </a:p>
        </p:txBody>
      </p:sp>
      <p:sp>
        <p:nvSpPr>
          <p:cNvPr id="6" name="内容占位符 5">
            <a:extLst>
              <a:ext uri="{FF2B5EF4-FFF2-40B4-BE49-F238E27FC236}">
                <a16:creationId xmlns:a16="http://schemas.microsoft.com/office/drawing/2014/main" id="{D57ADE30-7681-B811-AF4B-DD6E95CBDCAB}"/>
              </a:ext>
            </a:extLst>
          </p:cNvPr>
          <p:cNvSpPr>
            <a:spLocks noGrp="1"/>
          </p:cNvSpPr>
          <p:nvPr>
            <p:ph sz="quarter" idx="11"/>
          </p:nvPr>
        </p:nvSpPr>
        <p:spPr>
          <a:xfrm>
            <a:off x="486000" y="900000"/>
            <a:ext cx="8172000" cy="3703500"/>
          </a:xfrm>
        </p:spPr>
        <p:txBody>
          <a:bodyPr/>
          <a:lstStyle/>
          <a:p>
            <a:r>
              <a:rPr lang="zh-CN" altLang="en-US" dirty="0"/>
              <a:t>目的：让发送方尽早知道发生了个别报文段的丢失。</a:t>
            </a:r>
            <a:endParaRPr lang="en-US" altLang="zh-CN" dirty="0"/>
          </a:p>
          <a:p>
            <a:r>
              <a:rPr lang="zh-CN" altLang="en-US" dirty="0"/>
              <a:t>发送方只要连续收到三个重复的确认，就立即进行重传（即“快重传”），这样就不会出现超时。</a:t>
            </a:r>
          </a:p>
          <a:p>
            <a:r>
              <a:rPr lang="zh-CN" altLang="en-US" dirty="0"/>
              <a:t>使用快重传可以使整个网络的吞吐量提高约 </a:t>
            </a:r>
            <a:r>
              <a:rPr lang="en-US" altLang="zh-CN" dirty="0"/>
              <a:t>20%</a:t>
            </a:r>
            <a:r>
              <a:rPr lang="zh-CN" altLang="en-US" dirty="0"/>
              <a:t>。</a:t>
            </a:r>
            <a:endParaRPr lang="en-US" altLang="zh-CN" dirty="0"/>
          </a:p>
          <a:p>
            <a:r>
              <a:rPr lang="zh-CN" altLang="en-US" dirty="0"/>
              <a:t>快重传算法要求接收方立即发送确认，即使收到了失序的报文段，也要立即发出对已收到的报文段的重复确认。</a:t>
            </a:r>
          </a:p>
          <a:p>
            <a:endParaRPr lang="zh-CN" altLang="en-US" dirty="0"/>
          </a:p>
        </p:txBody>
      </p:sp>
      <p:sp>
        <p:nvSpPr>
          <p:cNvPr id="5" name="标题 4">
            <a:extLst>
              <a:ext uri="{FF2B5EF4-FFF2-40B4-BE49-F238E27FC236}">
                <a16:creationId xmlns:a16="http://schemas.microsoft.com/office/drawing/2014/main" id="{8C6E6C59-8705-EB25-C77F-A433EDAC49DF}"/>
              </a:ext>
            </a:extLst>
          </p:cNvPr>
          <p:cNvSpPr>
            <a:spLocks noGrp="1"/>
          </p:cNvSpPr>
          <p:nvPr>
            <p:ph type="title"/>
          </p:nvPr>
        </p:nvSpPr>
        <p:spPr>
          <a:xfrm>
            <a:off x="486000" y="550723"/>
            <a:ext cx="8172000" cy="338554"/>
          </a:xfrm>
        </p:spPr>
        <p:txBody>
          <a:bodyPr/>
          <a:lstStyle/>
          <a:p>
            <a:r>
              <a:rPr lang="zh-CN" altLang="en-US" dirty="0"/>
              <a:t>快重传 </a:t>
            </a:r>
            <a:r>
              <a:rPr lang="en-US" altLang="zh-CN" dirty="0"/>
              <a:t>FR (Fast Retransmission) </a:t>
            </a:r>
            <a:r>
              <a:rPr lang="zh-CN" altLang="en-US" dirty="0"/>
              <a:t>算法</a:t>
            </a:r>
          </a:p>
        </p:txBody>
      </p:sp>
    </p:spTree>
    <p:extLst>
      <p:ext uri="{BB962C8B-B14F-4D97-AF65-F5344CB8AC3E}">
        <p14:creationId xmlns:p14="http://schemas.microsoft.com/office/powerpoint/2010/main" val="2809486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Text Box 3"/>
          <p:cNvSpPr txBox="1">
            <a:spLocks noChangeArrowheads="1"/>
          </p:cNvSpPr>
          <p:nvPr/>
        </p:nvSpPr>
        <p:spPr bwMode="auto">
          <a:xfrm>
            <a:off x="4178937" y="109133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9" name="Text Box 4"/>
          <p:cNvSpPr txBox="1">
            <a:spLocks noChangeArrowheads="1"/>
          </p:cNvSpPr>
          <p:nvPr/>
        </p:nvSpPr>
        <p:spPr bwMode="auto">
          <a:xfrm>
            <a:off x="6361439" y="109939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0" name="Text Box 5"/>
          <p:cNvSpPr txBox="1">
            <a:spLocks noChangeArrowheads="1"/>
          </p:cNvSpPr>
          <p:nvPr/>
        </p:nvSpPr>
        <p:spPr bwMode="auto">
          <a:xfrm>
            <a:off x="3776205" y="1332324"/>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81" name="Line 6"/>
          <p:cNvSpPr>
            <a:spLocks noChangeShapeType="1"/>
          </p:cNvSpPr>
          <p:nvPr/>
        </p:nvSpPr>
        <p:spPr bwMode="auto">
          <a:xfrm>
            <a:off x="4493304" y="1492800"/>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2" name="Line 7"/>
          <p:cNvSpPr>
            <a:spLocks noChangeShapeType="1"/>
          </p:cNvSpPr>
          <p:nvPr/>
        </p:nvSpPr>
        <p:spPr bwMode="auto">
          <a:xfrm flipH="1">
            <a:off x="4493304" y="1773888"/>
            <a:ext cx="2189423" cy="20238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3" name="Text Box 8"/>
          <p:cNvSpPr txBox="1">
            <a:spLocks noChangeArrowheads="1"/>
          </p:cNvSpPr>
          <p:nvPr/>
        </p:nvSpPr>
        <p:spPr bwMode="auto">
          <a:xfrm>
            <a:off x="6617310" y="1657364"/>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6" name="Line 11"/>
          <p:cNvSpPr>
            <a:spLocks noChangeShapeType="1"/>
          </p:cNvSpPr>
          <p:nvPr/>
        </p:nvSpPr>
        <p:spPr bwMode="auto">
          <a:xfrm>
            <a:off x="4493304" y="1393652"/>
            <a:ext cx="0" cy="2798618"/>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7" name="Line 12"/>
          <p:cNvSpPr>
            <a:spLocks noChangeShapeType="1"/>
          </p:cNvSpPr>
          <p:nvPr/>
        </p:nvSpPr>
        <p:spPr bwMode="auto">
          <a:xfrm>
            <a:off x="6682727" y="1393652"/>
            <a:ext cx="0" cy="2798618"/>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8" name="Text Box 13"/>
          <p:cNvSpPr txBox="1">
            <a:spLocks noChangeArrowheads="1"/>
          </p:cNvSpPr>
          <p:nvPr/>
        </p:nvSpPr>
        <p:spPr bwMode="auto">
          <a:xfrm>
            <a:off x="6617310" y="1974228"/>
            <a:ext cx="962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9" name="Line 14"/>
          <p:cNvSpPr>
            <a:spLocks noChangeShapeType="1"/>
          </p:cNvSpPr>
          <p:nvPr/>
        </p:nvSpPr>
        <p:spPr bwMode="auto">
          <a:xfrm flipH="1">
            <a:off x="4493304" y="2111194"/>
            <a:ext cx="2189423" cy="201362"/>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5" name="Text Box 20"/>
          <p:cNvSpPr txBox="1">
            <a:spLocks noChangeArrowheads="1"/>
          </p:cNvSpPr>
          <p:nvPr/>
        </p:nvSpPr>
        <p:spPr bwMode="auto">
          <a:xfrm>
            <a:off x="3776205" y="23105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p>
        </p:txBody>
      </p:sp>
      <p:sp>
        <p:nvSpPr>
          <p:cNvPr id="96" name="Line 21"/>
          <p:cNvSpPr>
            <a:spLocks noChangeShapeType="1"/>
          </p:cNvSpPr>
          <p:nvPr/>
        </p:nvSpPr>
        <p:spPr bwMode="auto">
          <a:xfrm>
            <a:off x="4493304" y="2512896"/>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0" name="Line 15"/>
          <p:cNvSpPr>
            <a:spLocks noChangeShapeType="1"/>
          </p:cNvSpPr>
          <p:nvPr/>
        </p:nvSpPr>
        <p:spPr bwMode="auto">
          <a:xfrm flipH="1">
            <a:off x="4493304" y="2783762"/>
            <a:ext cx="2189423" cy="200339"/>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0" name="Text Box 25"/>
          <p:cNvSpPr txBox="1">
            <a:spLocks noChangeArrowheads="1"/>
          </p:cNvSpPr>
          <p:nvPr/>
        </p:nvSpPr>
        <p:spPr bwMode="auto">
          <a:xfrm>
            <a:off x="6617310" y="259671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1" name="Line 16"/>
          <p:cNvSpPr>
            <a:spLocks noChangeShapeType="1"/>
          </p:cNvSpPr>
          <p:nvPr/>
        </p:nvSpPr>
        <p:spPr bwMode="auto">
          <a:xfrm flipH="1">
            <a:off x="4493304" y="3118002"/>
            <a:ext cx="2189423" cy="20238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4" name="Text Box 29"/>
          <p:cNvSpPr txBox="1">
            <a:spLocks noChangeArrowheads="1"/>
          </p:cNvSpPr>
          <p:nvPr/>
        </p:nvSpPr>
        <p:spPr bwMode="auto">
          <a:xfrm>
            <a:off x="6617310" y="295343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2" name="Line 17"/>
          <p:cNvSpPr>
            <a:spLocks noChangeShapeType="1"/>
          </p:cNvSpPr>
          <p:nvPr/>
        </p:nvSpPr>
        <p:spPr bwMode="auto">
          <a:xfrm flipH="1">
            <a:off x="4493304" y="3452241"/>
            <a:ext cx="2189423" cy="203406"/>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07" name="Line 32"/>
          <p:cNvSpPr>
            <a:spLocks noChangeShapeType="1"/>
          </p:cNvSpPr>
          <p:nvPr/>
        </p:nvSpPr>
        <p:spPr bwMode="auto">
          <a:xfrm>
            <a:off x="4497392" y="3520725"/>
            <a:ext cx="2188400"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8" name="Text Box 33"/>
          <p:cNvSpPr txBox="1">
            <a:spLocks noChangeArrowheads="1"/>
          </p:cNvSpPr>
          <p:nvPr/>
        </p:nvSpPr>
        <p:spPr bwMode="auto">
          <a:xfrm>
            <a:off x="3776205" y="335513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grpSp>
        <p:nvGrpSpPr>
          <p:cNvPr id="109" name="Group 34"/>
          <p:cNvGrpSpPr>
            <a:grpSpLocks/>
          </p:cNvGrpSpPr>
          <p:nvPr/>
        </p:nvGrpSpPr>
        <p:grpSpPr bwMode="auto">
          <a:xfrm>
            <a:off x="1416328" y="2939639"/>
            <a:ext cx="3018729" cy="830998"/>
            <a:chOff x="91" y="2556"/>
            <a:chExt cx="2765" cy="813"/>
          </a:xfrm>
        </p:grpSpPr>
        <p:sp>
          <p:nvSpPr>
            <p:cNvPr id="114" name="Line 38"/>
            <p:cNvSpPr>
              <a:spLocks noChangeShapeType="1"/>
            </p:cNvSpPr>
            <p:nvPr/>
          </p:nvSpPr>
          <p:spPr bwMode="auto">
            <a:xfrm>
              <a:off x="1919" y="3270"/>
              <a:ext cx="937" cy="0"/>
            </a:xfrm>
            <a:prstGeom prst="line">
              <a:avLst/>
            </a:prstGeom>
            <a:noFill/>
            <a:ln w="28575">
              <a:solidFill>
                <a:srgbClr val="000066"/>
              </a:solidFill>
              <a:prstDash val="sysDash"/>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1" name="Text Box 39"/>
            <p:cNvSpPr txBox="1">
              <a:spLocks noChangeArrowheads="1"/>
            </p:cNvSpPr>
            <p:nvPr/>
          </p:nvSpPr>
          <p:spPr bwMode="auto">
            <a:xfrm>
              <a:off x="91" y="2556"/>
              <a:ext cx="1836" cy="813"/>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收到三个连续的</a:t>
              </a:r>
            </a:p>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对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的重复确认</a:t>
              </a:r>
              <a:r>
                <a:rPr kumimoji="0" lang="zh-CN" altLang="en-US" sz="1600" kern="0" dirty="0">
                  <a:latin typeface="微软雅黑" pitchFamily="34" charset="-122"/>
                  <a:ea typeface="微软雅黑" pitchFamily="34" charset="-122"/>
                </a:rPr>
                <a: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立即重传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p>
          </p:txBody>
        </p:sp>
      </p:grpSp>
      <p:sp>
        <p:nvSpPr>
          <p:cNvPr id="93" name="Text Box 18"/>
          <p:cNvSpPr txBox="1">
            <a:spLocks noChangeArrowheads="1"/>
          </p:cNvSpPr>
          <p:nvPr/>
        </p:nvSpPr>
        <p:spPr bwMode="auto">
          <a:xfrm>
            <a:off x="3776205" y="165634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p>
        </p:txBody>
      </p:sp>
      <p:sp>
        <p:nvSpPr>
          <p:cNvPr id="117" name="Line 42"/>
          <p:cNvSpPr>
            <a:spLocks noChangeShapeType="1"/>
          </p:cNvSpPr>
          <p:nvPr/>
        </p:nvSpPr>
        <p:spPr bwMode="auto">
          <a:xfrm>
            <a:off x="4493304" y="1843394"/>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4" name="Text Box 19"/>
          <p:cNvSpPr txBox="1">
            <a:spLocks noChangeArrowheads="1"/>
          </p:cNvSpPr>
          <p:nvPr/>
        </p:nvSpPr>
        <p:spPr bwMode="auto">
          <a:xfrm>
            <a:off x="3776205" y="198444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15" name="AutoShape 40"/>
          <p:cNvSpPr>
            <a:spLocks noChangeArrowheads="1"/>
          </p:cNvSpPr>
          <p:nvPr/>
        </p:nvSpPr>
        <p:spPr bwMode="auto">
          <a:xfrm>
            <a:off x="5615613" y="1938453"/>
            <a:ext cx="561154" cy="706298"/>
          </a:xfrm>
          <a:prstGeom prst="irregularSeal1">
            <a:avLst/>
          </a:prstGeom>
          <a:solidFill>
            <a:srgbClr val="C00000"/>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116" name="Text Box 41"/>
          <p:cNvSpPr txBox="1">
            <a:spLocks noChangeArrowheads="1"/>
          </p:cNvSpPr>
          <p:nvPr/>
        </p:nvSpPr>
        <p:spPr bwMode="auto">
          <a:xfrm>
            <a:off x="5661609" y="21521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rPr>
              <a:t>丢失</a:t>
            </a:r>
          </a:p>
        </p:txBody>
      </p:sp>
      <p:sp>
        <p:nvSpPr>
          <p:cNvPr id="118" name="Line 43"/>
          <p:cNvSpPr>
            <a:spLocks noChangeShapeType="1"/>
          </p:cNvSpPr>
          <p:nvPr/>
        </p:nvSpPr>
        <p:spPr bwMode="auto">
          <a:xfrm>
            <a:off x="4493304" y="2177634"/>
            <a:ext cx="1178527" cy="1022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8" name="Text Box 23"/>
          <p:cNvSpPr txBox="1">
            <a:spLocks noChangeArrowheads="1"/>
          </p:cNvSpPr>
          <p:nvPr/>
        </p:nvSpPr>
        <p:spPr bwMode="auto">
          <a:xfrm>
            <a:off x="3776205" y="266315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5</a:t>
            </a:r>
          </a:p>
        </p:txBody>
      </p:sp>
      <p:sp>
        <p:nvSpPr>
          <p:cNvPr id="119" name="Line 44"/>
          <p:cNvSpPr>
            <a:spLocks noChangeShapeType="1"/>
          </p:cNvSpPr>
          <p:nvPr/>
        </p:nvSpPr>
        <p:spPr bwMode="auto">
          <a:xfrm>
            <a:off x="4497392" y="2848157"/>
            <a:ext cx="2188400" cy="20340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9" name="Text Box 24"/>
          <p:cNvSpPr txBox="1">
            <a:spLocks noChangeArrowheads="1"/>
          </p:cNvSpPr>
          <p:nvPr/>
        </p:nvSpPr>
        <p:spPr bwMode="auto">
          <a:xfrm>
            <a:off x="3776205" y="29984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120" name="Line 45"/>
          <p:cNvSpPr>
            <a:spLocks noChangeShapeType="1"/>
          </p:cNvSpPr>
          <p:nvPr/>
        </p:nvSpPr>
        <p:spPr bwMode="auto">
          <a:xfrm>
            <a:off x="4497392" y="3184441"/>
            <a:ext cx="2188400"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2" name="Line 27"/>
          <p:cNvSpPr>
            <a:spLocks noChangeShapeType="1"/>
          </p:cNvSpPr>
          <p:nvPr/>
        </p:nvSpPr>
        <p:spPr bwMode="auto">
          <a:xfrm>
            <a:off x="4493304" y="3789547"/>
            <a:ext cx="2189423" cy="203406"/>
          </a:xfrm>
          <a:prstGeom prst="line">
            <a:avLst/>
          </a:prstGeom>
          <a:noFill/>
          <a:ln w="127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60" name="Text Box 33"/>
          <p:cNvSpPr txBox="1">
            <a:spLocks noChangeArrowheads="1"/>
          </p:cNvSpPr>
          <p:nvPr/>
        </p:nvSpPr>
        <p:spPr bwMode="auto">
          <a:xfrm>
            <a:off x="3483631" y="3666889"/>
            <a:ext cx="10679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kern="0" dirty="0">
                <a:solidFill>
                  <a:srgbClr val="C00000"/>
                </a:solidFill>
                <a:latin typeface="Montserrat" panose="00000500000000000000" pitchFamily="2" charset="0"/>
                <a:ea typeface="微软雅黑 Light" panose="020B0502040204020203" pitchFamily="34" charset="-122"/>
              </a:rPr>
              <a:t>立即重传</a:t>
            </a:r>
            <a:r>
              <a:rPr kumimoji="0" lang="zh-CN" altLang="en-US"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 </a:t>
            </a:r>
            <a:r>
              <a:rPr kumimoji="0" lang="en-US" altLang="zh-CN"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solidFill>
                  <a:srgbClr val="C00000"/>
                </a:solidFill>
                <a:effectLst/>
                <a:uLnTx/>
                <a:uFillTx/>
                <a:latin typeface="Montserrat" panose="00000500000000000000" pitchFamily="2" charset="0"/>
                <a:ea typeface="微软雅黑 Light" panose="020B0502040204020203" pitchFamily="34" charset="-122"/>
              </a:rPr>
              <a:t>3</a:t>
            </a:r>
          </a:p>
        </p:txBody>
      </p:sp>
      <p:sp>
        <p:nvSpPr>
          <p:cNvPr id="64" name="Line 17"/>
          <p:cNvSpPr>
            <a:spLocks noChangeShapeType="1"/>
          </p:cNvSpPr>
          <p:nvPr/>
        </p:nvSpPr>
        <p:spPr bwMode="auto">
          <a:xfrm flipH="1">
            <a:off x="6154051" y="3780345"/>
            <a:ext cx="528675" cy="7666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65" name="Text Box 30"/>
          <p:cNvSpPr txBox="1">
            <a:spLocks noChangeArrowheads="1"/>
          </p:cNvSpPr>
          <p:nvPr/>
        </p:nvSpPr>
        <p:spPr bwMode="auto">
          <a:xfrm>
            <a:off x="6617310" y="361782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FAC2682C-5518-F468-83E5-39EC0DBF90BB}"/>
              </a:ext>
            </a:extLst>
          </p:cNvPr>
          <p:cNvSpPr>
            <a:spLocks noGrp="1"/>
          </p:cNvSpPr>
          <p:nvPr>
            <p:ph type="title"/>
          </p:nvPr>
        </p:nvSpPr>
        <p:spPr>
          <a:xfrm>
            <a:off x="486000" y="550723"/>
            <a:ext cx="8172000" cy="338554"/>
          </a:xfrm>
        </p:spPr>
        <p:txBody>
          <a:bodyPr/>
          <a:lstStyle/>
          <a:p>
            <a:r>
              <a:rPr lang="zh-CN" altLang="en-US" dirty="0"/>
              <a:t>快重传举例</a:t>
            </a:r>
          </a:p>
        </p:txBody>
      </p:sp>
    </p:spTree>
    <p:extLst>
      <p:ext uri="{BB962C8B-B14F-4D97-AF65-F5344CB8AC3E}">
        <p14:creationId xmlns:p14="http://schemas.microsoft.com/office/powerpoint/2010/main" val="327812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109"/>
                                        </p:tgtEl>
                                        <p:attrNameLst>
                                          <p:attrName>style.visibility</p:attrName>
                                        </p:attrNameLst>
                                      </p:cBhvr>
                                      <p:to>
                                        <p:strVal val="visible"/>
                                      </p:to>
                                    </p:set>
                                    <p:animEffect transition="in" filter="wipe(right)">
                                      <p:cBhvr>
                                        <p:cTn id="7" dur="10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对角圆角矩形 5"/>
          <p:cNvSpPr/>
          <p:nvPr/>
        </p:nvSpPr>
        <p:spPr>
          <a:xfrm>
            <a:off x="764353" y="3458761"/>
            <a:ext cx="7823464" cy="69845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994919" y="3580325"/>
            <a:ext cx="7413788" cy="400110"/>
          </a:xfrm>
          <a:prstGeom prst="rect">
            <a:avLst/>
          </a:prstGeom>
        </p:spPr>
        <p:txBody>
          <a:bodyPr wrap="square">
            <a:spAutoFit/>
          </a:bodyPr>
          <a:lstStyle/>
          <a:p>
            <a:pPr>
              <a:lnSpc>
                <a:spcPts val="2400"/>
              </a:lnSpc>
            </a:pPr>
            <a:r>
              <a:rPr lang="zh-CN" altLang="en-US" sz="2000" b="1" dirty="0">
                <a:solidFill>
                  <a:schemeClr val="bg1"/>
                </a:solidFill>
                <a:latin typeface="微软雅黑" pitchFamily="34" charset="-122"/>
                <a:ea typeface="微软雅黑" pitchFamily="34" charset="-122"/>
              </a:rPr>
              <a:t>二者合在一起就是所谓的 </a:t>
            </a:r>
            <a:r>
              <a:rPr lang="en-US" altLang="zh-CN" sz="2000" b="1" dirty="0">
                <a:solidFill>
                  <a:srgbClr val="FFFF00"/>
                </a:solidFill>
                <a:latin typeface="微软雅黑" pitchFamily="34" charset="-122"/>
                <a:ea typeface="微软雅黑" pitchFamily="34" charset="-122"/>
              </a:rPr>
              <a:t>AIMD</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算法，使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性能有明显改进。</a:t>
            </a:r>
          </a:p>
        </p:txBody>
      </p:sp>
      <p:sp>
        <p:nvSpPr>
          <p:cNvPr id="8" name="内容占位符 7">
            <a:extLst>
              <a:ext uri="{FF2B5EF4-FFF2-40B4-BE49-F238E27FC236}">
                <a16:creationId xmlns:a16="http://schemas.microsoft.com/office/drawing/2014/main" id="{921B79AE-BC7C-9F2C-FC86-0B6D0E529EEA}"/>
              </a:ext>
            </a:extLst>
          </p:cNvPr>
          <p:cNvSpPr>
            <a:spLocks noGrp="1"/>
          </p:cNvSpPr>
          <p:nvPr>
            <p:ph sz="quarter" idx="11"/>
          </p:nvPr>
        </p:nvSpPr>
        <p:spPr>
          <a:xfrm>
            <a:off x="486000" y="900000"/>
            <a:ext cx="8172000" cy="3703500"/>
          </a:xfrm>
        </p:spPr>
        <p:txBody>
          <a:bodyPr/>
          <a:lstStyle/>
          <a:p>
            <a:r>
              <a:rPr lang="zh-CN" altLang="en-US" dirty="0"/>
              <a:t>当发送端收到连续三个重复的确认时，不执行慢开始算法，而是执行快恢复算法 </a:t>
            </a:r>
            <a:r>
              <a:rPr lang="en-US" altLang="zh-CN" dirty="0"/>
              <a:t>FR (Fast Recovery) </a:t>
            </a:r>
            <a:r>
              <a:rPr lang="zh-CN" altLang="en-US" dirty="0"/>
              <a:t>算法：</a:t>
            </a:r>
          </a:p>
          <a:p>
            <a:pPr lvl="1"/>
            <a:r>
              <a:rPr lang="zh-CN" altLang="en-US" dirty="0"/>
              <a:t>慢开始门限 </a:t>
            </a:r>
            <a:r>
              <a:rPr lang="en-US" altLang="zh-CN" dirty="0" err="1"/>
              <a:t>ssthresh</a:t>
            </a:r>
            <a:r>
              <a:rPr lang="en-US" altLang="zh-CN" dirty="0"/>
              <a:t> = </a:t>
            </a:r>
            <a:r>
              <a:rPr lang="zh-CN" altLang="en-US" dirty="0"/>
              <a:t>当前拥塞窗口 </a:t>
            </a:r>
            <a:r>
              <a:rPr lang="en-US" altLang="zh-CN" dirty="0" err="1"/>
              <a:t>cwnd</a:t>
            </a:r>
            <a:r>
              <a:rPr lang="en-US" altLang="zh-CN" dirty="0"/>
              <a:t> / 2 </a:t>
            </a:r>
            <a:r>
              <a:rPr lang="zh-CN" altLang="en-US" dirty="0"/>
              <a:t>；</a:t>
            </a:r>
          </a:p>
          <a:p>
            <a:pPr lvl="1"/>
            <a:r>
              <a:rPr lang="zh-CN" altLang="en-US" dirty="0"/>
              <a:t>乘法减小 </a:t>
            </a:r>
            <a:r>
              <a:rPr lang="en-US" altLang="zh-CN" dirty="0"/>
              <a:t>MD (Multiplicative Decrease) </a:t>
            </a:r>
            <a:r>
              <a:rPr lang="zh-CN" altLang="en-US" dirty="0"/>
              <a:t>拥塞窗口。</a:t>
            </a:r>
            <a:endParaRPr lang="en-US" altLang="zh-CN" dirty="0"/>
          </a:p>
          <a:p>
            <a:pPr lvl="1"/>
            <a:r>
              <a:rPr lang="en-US" altLang="zh-CN" dirty="0"/>
              <a:t>     </a:t>
            </a:r>
            <a:r>
              <a:rPr lang="zh-CN" altLang="en-US" dirty="0"/>
              <a:t>新拥塞窗口 </a:t>
            </a:r>
            <a:r>
              <a:rPr lang="en-US" altLang="zh-CN" dirty="0" err="1"/>
              <a:t>cwnd</a:t>
            </a:r>
            <a:r>
              <a:rPr lang="en-US" altLang="zh-CN" dirty="0"/>
              <a:t> = </a:t>
            </a:r>
            <a:r>
              <a:rPr lang="zh-CN" altLang="en-US" dirty="0"/>
              <a:t>慢开始门限 </a:t>
            </a:r>
            <a:r>
              <a:rPr lang="en-US" altLang="zh-CN" dirty="0" err="1"/>
              <a:t>ssthresh</a:t>
            </a:r>
            <a:r>
              <a:rPr lang="en-US" altLang="zh-CN" dirty="0"/>
              <a:t> </a:t>
            </a:r>
            <a:r>
              <a:rPr lang="zh-CN" altLang="en-US" dirty="0"/>
              <a:t>；</a:t>
            </a:r>
          </a:p>
          <a:p>
            <a:pPr lvl="1"/>
            <a:r>
              <a:rPr lang="zh-CN" altLang="en-US" dirty="0"/>
              <a:t>执行拥塞避免算法，使拥塞窗口缓慢地线性增大（加法增大 </a:t>
            </a:r>
            <a:r>
              <a:rPr lang="en-US" altLang="zh-CN" dirty="0"/>
              <a:t>AI</a:t>
            </a:r>
            <a:r>
              <a:rPr lang="zh-CN" altLang="en-US" dirty="0"/>
              <a:t>）。 </a:t>
            </a:r>
            <a:endParaRPr lang="en-US" altLang="zh-CN" dirty="0"/>
          </a:p>
          <a:p>
            <a:endParaRPr lang="zh-CN" altLang="en-US" dirty="0"/>
          </a:p>
        </p:txBody>
      </p:sp>
      <p:sp>
        <p:nvSpPr>
          <p:cNvPr id="5" name="标题 4">
            <a:extLst>
              <a:ext uri="{FF2B5EF4-FFF2-40B4-BE49-F238E27FC236}">
                <a16:creationId xmlns:a16="http://schemas.microsoft.com/office/drawing/2014/main" id="{6756D0BB-F9C3-5E4D-CBC3-79620B78828F}"/>
              </a:ext>
            </a:extLst>
          </p:cNvPr>
          <p:cNvSpPr>
            <a:spLocks noGrp="1"/>
          </p:cNvSpPr>
          <p:nvPr>
            <p:ph type="title"/>
          </p:nvPr>
        </p:nvSpPr>
        <p:spPr>
          <a:xfrm>
            <a:off x="486000" y="550723"/>
            <a:ext cx="8172000" cy="338554"/>
          </a:xfrm>
        </p:spPr>
        <p:txBody>
          <a:bodyPr/>
          <a:lstStyle/>
          <a:p>
            <a:r>
              <a:rPr lang="zh-CN" altLang="en-US" dirty="0"/>
              <a:t>快恢复 </a:t>
            </a:r>
            <a:r>
              <a:rPr lang="en-US" altLang="zh-CN" dirty="0"/>
              <a:t>FR (Fast Recovery)</a:t>
            </a:r>
            <a:r>
              <a:rPr lang="zh-CN" altLang="en-US" dirty="0"/>
              <a:t>算法</a:t>
            </a:r>
          </a:p>
        </p:txBody>
      </p:sp>
    </p:spTree>
    <p:extLst>
      <p:ext uri="{BB962C8B-B14F-4D97-AF65-F5344CB8AC3E}">
        <p14:creationId xmlns:p14="http://schemas.microsoft.com/office/powerpoint/2010/main" val="30160134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EC75BA6F-C9B8-2A82-B169-5AFD00331ED1}"/>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627534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317046" y="3467383"/>
            <a:ext cx="711994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算法：发送方调整门限值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 = 8</a:t>
            </a:r>
            <a:r>
              <a:rPr lang="zh-CN" altLang="en-US" sz="1600" b="1" dirty="0">
                <a:solidFill>
                  <a:srgbClr val="0000FF"/>
                </a:solidFill>
                <a:latin typeface="微软雅黑" pitchFamily="34" charset="-122"/>
                <a:ea typeface="微软雅黑" pitchFamily="34" charset="-122"/>
              </a:rPr>
              <a:t>，设置拥塞窗口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8</a:t>
            </a:r>
            <a:r>
              <a:rPr lang="zh-CN" altLang="en-US" sz="1600" b="1" dirty="0">
                <a:solidFill>
                  <a:srgbClr val="0000FF"/>
                </a:solidFill>
                <a:latin typeface="微软雅黑" pitchFamily="34" charset="-122"/>
                <a:ea typeface="微软雅黑" pitchFamily="34" charset="-122"/>
              </a:rPr>
              <a:t>，开始执行拥塞避免算法。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5583023" y="2304434"/>
            <a:ext cx="367846" cy="292541"/>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412B77-4845-D994-E517-FDDA9FAF0975}"/>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96682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5" name="肘形连接符 105"/>
          <p:cNvCxnSpPr>
            <a:cxnSpLocks/>
            <a:stCxn id="21" idx="3"/>
            <a:endCxn id="12" idx="0"/>
          </p:cNvCxnSpPr>
          <p:nvPr/>
        </p:nvCxnSpPr>
        <p:spPr>
          <a:xfrm>
            <a:off x="6166318" y="2139186"/>
            <a:ext cx="1019605" cy="485512"/>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 name="肘形连接符 13"/>
          <p:cNvCxnSpPr>
            <a:cxnSpLocks/>
            <a:stCxn id="25" idx="3"/>
            <a:endCxn id="12" idx="2"/>
          </p:cNvCxnSpPr>
          <p:nvPr/>
        </p:nvCxnSpPr>
        <p:spPr>
          <a:xfrm flipV="1">
            <a:off x="6166318" y="3086363"/>
            <a:ext cx="1019605" cy="421549"/>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 name="直接箭头连接符 4"/>
          <p:cNvCxnSpPr>
            <a:cxnSpLocks/>
            <a:stCxn id="6" idx="2"/>
            <a:endCxn id="19" idx="0"/>
          </p:cNvCxnSpPr>
          <p:nvPr/>
        </p:nvCxnSpPr>
        <p:spPr>
          <a:xfrm>
            <a:off x="4620953" y="1416151"/>
            <a:ext cx="0" cy="290430"/>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6" name="TextBox 31"/>
          <p:cNvSpPr txBox="1">
            <a:spLocks noChangeArrowheads="1"/>
          </p:cNvSpPr>
          <p:nvPr/>
        </p:nvSpPr>
        <p:spPr bwMode="auto">
          <a:xfrm>
            <a:off x="4049930" y="1139152"/>
            <a:ext cx="114204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连接建立</a:t>
            </a:r>
          </a:p>
        </p:txBody>
      </p:sp>
      <p:cxnSp>
        <p:nvCxnSpPr>
          <p:cNvPr id="7" name="直接箭头连接符 6"/>
          <p:cNvCxnSpPr>
            <a:cxnSpLocks/>
            <a:stCxn id="18" idx="2"/>
            <a:endCxn id="24" idx="0"/>
          </p:cNvCxnSpPr>
          <p:nvPr/>
        </p:nvCxnSpPr>
        <p:spPr>
          <a:xfrm>
            <a:off x="4620952" y="2574331"/>
            <a:ext cx="1" cy="513577"/>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8" name="AutoShape 5"/>
          <p:cNvSpPr>
            <a:spLocks noChangeArrowheads="1"/>
          </p:cNvSpPr>
          <p:nvPr/>
        </p:nvSpPr>
        <p:spPr bwMode="auto">
          <a:xfrm>
            <a:off x="3105135" y="3120414"/>
            <a:ext cx="3031634" cy="728202"/>
          </a:xfrm>
          <a:prstGeom prst="flowChartProcess">
            <a:avLst/>
          </a:prstGeom>
          <a:noFill/>
          <a:ln w="9525">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9" name="TextBox 65"/>
          <p:cNvSpPr txBox="1">
            <a:spLocks noChangeArrowheads="1"/>
          </p:cNvSpPr>
          <p:nvPr/>
        </p:nvSpPr>
        <p:spPr bwMode="auto">
          <a:xfrm>
            <a:off x="1382573" y="1251663"/>
            <a:ext cx="1701612" cy="461665"/>
          </a:xfrm>
          <a:prstGeom prst="rect">
            <a:avLst/>
          </a:prstGeom>
          <a:noFill/>
          <a:ln w="9525">
            <a:solidFill>
              <a:schemeClr val="tx1"/>
            </a:solidFill>
            <a:miter lim="800000"/>
            <a:headEnd/>
            <a:tailEnd/>
          </a:ln>
        </p:spPr>
        <p:txBody>
          <a:bodyPr wrap="none" anchor="ctr"/>
          <a:lstStyle>
            <a:defPPr>
              <a:defRPr lang="zh-CN"/>
            </a:defPPr>
            <a:lvl1pPr algn="ctr">
              <a:defRPr sz="1200">
                <a:solidFill>
                  <a:sysClr val="windowText" lastClr="000000"/>
                </a:solidFill>
                <a:latin typeface="Montserrat" panose="00000500000000000000" pitchFamily="2" charset="0"/>
                <a:ea typeface="微软雅黑 Light" panose="020B0502040204020203" pitchFamily="34"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r>
              <a:rPr lang="en-US" altLang="zh-CN"/>
              <a:t>ssthresh</a:t>
            </a:r>
            <a:r>
              <a:rPr lang="en-US" altLang="zh-CN" dirty="0"/>
              <a:t> </a:t>
            </a:r>
            <a:r>
              <a:rPr lang="en-US" altLang="zh-CN"/>
              <a:t>= cwnd</a:t>
            </a:r>
            <a:r>
              <a:rPr lang="en-US" altLang="zh-CN" dirty="0"/>
              <a:t> / 2</a:t>
            </a:r>
          </a:p>
          <a:p>
            <a:r>
              <a:rPr lang="en-US" altLang="zh-CN"/>
              <a:t>cwnd</a:t>
            </a:r>
            <a:r>
              <a:rPr lang="en-US" altLang="zh-CN" dirty="0"/>
              <a:t> = 1</a:t>
            </a:r>
            <a:endParaRPr lang="zh-CN" altLang="en-US" dirty="0"/>
          </a:p>
        </p:txBody>
      </p:sp>
      <p:cxnSp>
        <p:nvCxnSpPr>
          <p:cNvPr id="10" name="肘形连接符 9"/>
          <p:cNvCxnSpPr>
            <a:stCxn id="22" idx="1"/>
            <a:endCxn id="9" idx="2"/>
          </p:cNvCxnSpPr>
          <p:nvPr/>
        </p:nvCxnSpPr>
        <p:spPr>
          <a:xfrm rot="10800000">
            <a:off x="2233379" y="1713328"/>
            <a:ext cx="872890" cy="422450"/>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1" name="肘形连接符 10"/>
          <p:cNvCxnSpPr>
            <a:stCxn id="8" idx="1"/>
            <a:endCxn id="9" idx="2"/>
          </p:cNvCxnSpPr>
          <p:nvPr/>
        </p:nvCxnSpPr>
        <p:spPr>
          <a:xfrm rot="10800000">
            <a:off x="2233379" y="1713329"/>
            <a:ext cx="871756" cy="1771187"/>
          </a:xfrm>
          <a:prstGeom prst="bentConnector2">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36"/>
          <p:cNvSpPr txBox="1">
            <a:spLocks noChangeArrowheads="1"/>
          </p:cNvSpPr>
          <p:nvPr/>
        </p:nvSpPr>
        <p:spPr bwMode="auto">
          <a:xfrm>
            <a:off x="6245181" y="2624698"/>
            <a:ext cx="1881484" cy="461665"/>
          </a:xfrm>
          <a:prstGeom prst="rect">
            <a:avLst/>
          </a:prstGeom>
          <a:noFill/>
          <a:ln w="9525">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a:solidFill>
                  <a:sysClr val="windowText" lastClr="000000"/>
                </a:solidFill>
                <a:latin typeface="Montserrat" panose="00000500000000000000" pitchFamily="2" charset="0"/>
                <a:ea typeface="微软雅黑 Light" panose="020B0502040204020203" pitchFamily="34" charset="-122"/>
                <a:cs typeface="Times New Roman" pitchFamily="18" charset="0"/>
              </a:rPr>
              <a:t>ssthresh = cwnd / 2</a:t>
            </a:r>
          </a:p>
          <a:p>
            <a:pPr algn="ctr" eaLnBrk="1" hangingPunct="1"/>
            <a:r>
              <a:rPr lang="en-US" altLang="zh-CN" sz="1200">
                <a:solidFill>
                  <a:sysClr val="windowText" lastClr="000000"/>
                </a:solidFill>
                <a:latin typeface="Montserrat" panose="00000500000000000000" pitchFamily="2" charset="0"/>
                <a:ea typeface="微软雅黑 Light" panose="020B0502040204020203" pitchFamily="34" charset="-122"/>
                <a:cs typeface="Times New Roman" pitchFamily="18" charset="0"/>
              </a:rPr>
              <a:t>cwnd = ssthresh</a:t>
            </a:r>
            <a:endParaRPr lang="zh-CN" altLang="en-US" sz="1200">
              <a:solidFill>
                <a:sysClr val="windowText" lastClr="000000"/>
              </a:solidFill>
              <a:latin typeface="Montserrat" panose="00000500000000000000" pitchFamily="2" charset="0"/>
              <a:ea typeface="微软雅黑 Light" panose="020B0502040204020203" pitchFamily="34" charset="-122"/>
              <a:cs typeface="Times New Roman" pitchFamily="18" charset="0"/>
            </a:endParaRPr>
          </a:p>
        </p:txBody>
      </p:sp>
      <p:cxnSp>
        <p:nvCxnSpPr>
          <p:cNvPr id="13" name="直接箭头连接符 12"/>
          <p:cNvCxnSpPr>
            <a:cxnSpLocks/>
            <a:stCxn id="12" idx="1"/>
          </p:cNvCxnSpPr>
          <p:nvPr/>
        </p:nvCxnSpPr>
        <p:spPr>
          <a:xfrm flipH="1">
            <a:off x="4620952" y="2855531"/>
            <a:ext cx="1624229" cy="0"/>
          </a:xfrm>
          <a:prstGeom prst="straightConnector1">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cxnSpLocks/>
            <a:stCxn id="8" idx="2"/>
            <a:endCxn id="17" idx="0"/>
          </p:cNvCxnSpPr>
          <p:nvPr/>
        </p:nvCxnSpPr>
        <p:spPr>
          <a:xfrm>
            <a:off x="4620952" y="3848616"/>
            <a:ext cx="1" cy="262472"/>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17" name="TextBox 114"/>
          <p:cNvSpPr txBox="1">
            <a:spLocks noChangeArrowheads="1"/>
          </p:cNvSpPr>
          <p:nvPr/>
        </p:nvSpPr>
        <p:spPr bwMode="auto">
          <a:xfrm>
            <a:off x="4049931" y="4111088"/>
            <a:ext cx="11420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连接释放</a:t>
            </a:r>
          </a:p>
        </p:txBody>
      </p:sp>
      <p:sp>
        <p:nvSpPr>
          <p:cNvPr id="18" name="AutoShape 5"/>
          <p:cNvSpPr>
            <a:spLocks noChangeArrowheads="1"/>
          </p:cNvSpPr>
          <p:nvPr/>
        </p:nvSpPr>
        <p:spPr bwMode="auto">
          <a:xfrm>
            <a:off x="3105135" y="1728525"/>
            <a:ext cx="3031634" cy="845806"/>
          </a:xfrm>
          <a:prstGeom prst="flowChartProcess">
            <a:avLst/>
          </a:prstGeom>
          <a:noFill/>
          <a:ln w="9525">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19" name="Text Box 15"/>
          <p:cNvSpPr txBox="1">
            <a:spLocks noChangeArrowheads="1"/>
          </p:cNvSpPr>
          <p:nvPr/>
        </p:nvSpPr>
        <p:spPr bwMode="auto">
          <a:xfrm>
            <a:off x="4297787" y="1706581"/>
            <a:ext cx="646331"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慢开始</a:t>
            </a:r>
          </a:p>
        </p:txBody>
      </p:sp>
      <p:sp>
        <p:nvSpPr>
          <p:cNvPr id="20" name="Text Box 16"/>
          <p:cNvSpPr txBox="1">
            <a:spLocks noChangeArrowheads="1"/>
          </p:cNvSpPr>
          <p:nvPr/>
        </p:nvSpPr>
        <p:spPr bwMode="auto">
          <a:xfrm>
            <a:off x="3625782" y="2008202"/>
            <a:ext cx="19903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初始拥塞窗口 </a:t>
            </a:r>
            <a:r>
              <a:rPr lang="en-US" altLang="zh-CN" sz="1200" dirty="0">
                <a:solidFill>
                  <a:sysClr val="windowText" lastClr="000000"/>
                </a:solidFill>
                <a:latin typeface="Montserrat" panose="00000500000000000000" pitchFamily="2" charset="0"/>
                <a:ea typeface="微软雅黑 Light" panose="020B0502040204020203" pitchFamily="34" charset="-122"/>
              </a:rPr>
              <a:t>cwnd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1 </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按指数规律增大</a:t>
            </a:r>
            <a:endParaRPr lang="en-US" altLang="zh-CN" sz="1200" u="sng" dirty="0">
              <a:solidFill>
                <a:sysClr val="windowText" lastClr="000000"/>
              </a:solidFill>
              <a:latin typeface="Montserrat" panose="00000500000000000000" pitchFamily="2" charset="0"/>
              <a:ea typeface="微软雅黑 Light" panose="020B0502040204020203" pitchFamily="34" charset="-122"/>
              <a:sym typeface="Symbol" pitchFamily="18" charset="2"/>
            </a:endParaRPr>
          </a:p>
        </p:txBody>
      </p:sp>
      <p:sp>
        <p:nvSpPr>
          <p:cNvPr id="21" name="TextBox 25"/>
          <p:cNvSpPr txBox="1">
            <a:spLocks noChangeArrowheads="1"/>
          </p:cNvSpPr>
          <p:nvPr/>
        </p:nvSpPr>
        <p:spPr bwMode="auto">
          <a:xfrm>
            <a:off x="5297863" y="1908353"/>
            <a:ext cx="86845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3 </a:t>
            </a:r>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的 </a:t>
            </a:r>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ACK</a:t>
            </a:r>
            <a:endPar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endParaRPr>
          </a:p>
        </p:txBody>
      </p:sp>
      <p:sp>
        <p:nvSpPr>
          <p:cNvPr id="22" name="TextBox 26"/>
          <p:cNvSpPr txBox="1">
            <a:spLocks noChangeArrowheads="1"/>
          </p:cNvSpPr>
          <p:nvPr/>
        </p:nvSpPr>
        <p:spPr bwMode="auto">
          <a:xfrm>
            <a:off x="3106269" y="1997278"/>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超时</a:t>
            </a:r>
          </a:p>
        </p:txBody>
      </p:sp>
      <p:sp>
        <p:nvSpPr>
          <p:cNvPr id="24" name="Text Box 15"/>
          <p:cNvSpPr txBox="1">
            <a:spLocks noChangeArrowheads="1"/>
          </p:cNvSpPr>
          <p:nvPr/>
        </p:nvSpPr>
        <p:spPr bwMode="auto">
          <a:xfrm>
            <a:off x="4220843" y="3087908"/>
            <a:ext cx="800219"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拥塞避免</a:t>
            </a:r>
          </a:p>
        </p:txBody>
      </p:sp>
      <p:sp>
        <p:nvSpPr>
          <p:cNvPr id="25" name="TextBox 41"/>
          <p:cNvSpPr txBox="1">
            <a:spLocks noChangeArrowheads="1"/>
          </p:cNvSpPr>
          <p:nvPr/>
        </p:nvSpPr>
        <p:spPr bwMode="auto">
          <a:xfrm>
            <a:off x="5327413" y="3277079"/>
            <a:ext cx="83890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latin typeface="Montserrat" panose="00000500000000000000" pitchFamily="2" charset="0"/>
                <a:ea typeface="微软雅黑 Light" panose="020B0502040204020203" pitchFamily="34" charset="-122"/>
                <a:cs typeface="Times New Roman" pitchFamily="18" charset="0"/>
              </a:rPr>
              <a:t>3 </a:t>
            </a:r>
            <a:r>
              <a:rPr lang="zh-CN" altLang="en-US" sz="1200" dirty="0">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latin typeface="Montserrat" panose="00000500000000000000" pitchFamily="2" charset="0"/>
                <a:ea typeface="微软雅黑 Light" panose="020B0502040204020203" pitchFamily="34" charset="-122"/>
                <a:cs typeface="Times New Roman" pitchFamily="18" charset="0"/>
              </a:rPr>
              <a:t>的 </a:t>
            </a:r>
            <a:r>
              <a:rPr lang="en-US" altLang="zh-CN" sz="1200" dirty="0">
                <a:latin typeface="Montserrat" panose="00000500000000000000" pitchFamily="2" charset="0"/>
                <a:ea typeface="微软雅黑 Light" panose="020B0502040204020203" pitchFamily="34" charset="-122"/>
                <a:cs typeface="Times New Roman" pitchFamily="18" charset="0"/>
              </a:rPr>
              <a:t>ACK</a:t>
            </a:r>
            <a:endParaRPr lang="zh-CN" altLang="en-US" sz="1200" dirty="0">
              <a:latin typeface="Montserrat" panose="00000500000000000000" pitchFamily="2" charset="0"/>
              <a:ea typeface="微软雅黑 Light" panose="020B0502040204020203" pitchFamily="34" charset="-122"/>
              <a:cs typeface="Times New Roman" pitchFamily="18" charset="0"/>
            </a:endParaRPr>
          </a:p>
        </p:txBody>
      </p:sp>
      <p:sp>
        <p:nvSpPr>
          <p:cNvPr id="26" name="TextBox 42"/>
          <p:cNvSpPr txBox="1">
            <a:spLocks noChangeArrowheads="1"/>
          </p:cNvSpPr>
          <p:nvPr/>
        </p:nvSpPr>
        <p:spPr bwMode="auto">
          <a:xfrm>
            <a:off x="3106269" y="332251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超时</a:t>
            </a:r>
          </a:p>
        </p:txBody>
      </p:sp>
      <p:sp>
        <p:nvSpPr>
          <p:cNvPr id="27" name="Text Box 16"/>
          <p:cNvSpPr txBox="1">
            <a:spLocks noChangeArrowheads="1"/>
          </p:cNvSpPr>
          <p:nvPr/>
        </p:nvSpPr>
        <p:spPr bwMode="auto">
          <a:xfrm>
            <a:off x="3929972" y="3364758"/>
            <a:ext cx="13819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latin typeface="Montserrat" panose="00000500000000000000" pitchFamily="2" charset="0"/>
                <a:ea typeface="微软雅黑 Light" panose="020B0502040204020203" pitchFamily="34" charset="-122"/>
              </a:rPr>
              <a:t>拥塞窗口 </a:t>
            </a:r>
            <a:r>
              <a:rPr lang="en-US" altLang="zh-CN" sz="1200" dirty="0">
                <a:latin typeface="Montserrat" panose="00000500000000000000" pitchFamily="2" charset="0"/>
                <a:ea typeface="微软雅黑 Light" panose="020B0502040204020203" pitchFamily="34" charset="-122"/>
              </a:rPr>
              <a:t>cwnd </a:t>
            </a:r>
            <a:endParaRPr lang="zh-CN" altLang="en-US" sz="1200" dirty="0">
              <a:latin typeface="Montserrat" panose="00000500000000000000" pitchFamily="2" charset="0"/>
              <a:ea typeface="微软雅黑 Light" panose="020B0502040204020203" pitchFamily="34" charset="-122"/>
            </a:endParaRPr>
          </a:p>
          <a:p>
            <a:pPr algn="ctr" eaLnBrk="1" hangingPunct="1"/>
            <a:r>
              <a:rPr lang="zh-CN" altLang="en-US" sz="1200" dirty="0">
                <a:latin typeface="Montserrat" panose="00000500000000000000" pitchFamily="2" charset="0"/>
                <a:ea typeface="微软雅黑 Light" panose="020B0502040204020203" pitchFamily="34" charset="-122"/>
              </a:rPr>
              <a:t>按线性规律增大</a:t>
            </a:r>
            <a:endParaRPr lang="en-US" altLang="zh-CN" sz="1200" u="sng" dirty="0">
              <a:latin typeface="Montserrat" panose="00000500000000000000" pitchFamily="2" charset="0"/>
              <a:ea typeface="微软雅黑 Light" panose="020B0502040204020203" pitchFamily="34" charset="-122"/>
              <a:sym typeface="Symbol" pitchFamily="18" charset="2"/>
            </a:endParaRPr>
          </a:p>
        </p:txBody>
      </p:sp>
      <p:cxnSp>
        <p:nvCxnSpPr>
          <p:cNvPr id="29" name="直接连接符 28"/>
          <p:cNvCxnSpPr/>
          <p:nvPr/>
        </p:nvCxnSpPr>
        <p:spPr bwMode="auto">
          <a:xfrm>
            <a:off x="3084185" y="1481084"/>
            <a:ext cx="727878" cy="3"/>
          </a:xfrm>
          <a:prstGeom prst="line">
            <a:avLst/>
          </a:pr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 name="直接箭头连接符 29"/>
          <p:cNvCxnSpPr/>
          <p:nvPr/>
        </p:nvCxnSpPr>
        <p:spPr bwMode="auto">
          <a:xfrm>
            <a:off x="3812063" y="1481084"/>
            <a:ext cx="0" cy="247442"/>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32" name="标题 31">
            <a:extLst>
              <a:ext uri="{FF2B5EF4-FFF2-40B4-BE49-F238E27FC236}">
                <a16:creationId xmlns:a16="http://schemas.microsoft.com/office/drawing/2014/main" id="{43575F59-197D-36C7-F34F-985F2B8E6855}"/>
              </a:ext>
            </a:extLst>
          </p:cNvPr>
          <p:cNvSpPr>
            <a:spLocks noGrp="1"/>
          </p:cNvSpPr>
          <p:nvPr>
            <p:ph type="title"/>
          </p:nvPr>
        </p:nvSpPr>
        <p:spPr>
          <a:xfrm>
            <a:off x="486000" y="550723"/>
            <a:ext cx="8172000" cy="338554"/>
          </a:xfrm>
        </p:spPr>
        <p:txBody>
          <a:bodyPr/>
          <a:lstStyle/>
          <a:p>
            <a:r>
              <a:rPr lang="en-US" altLang="zh-CN" dirty="0"/>
              <a:t>TCP </a:t>
            </a:r>
            <a:r>
              <a:rPr lang="zh-CN" altLang="en-US" dirty="0"/>
              <a:t>拥塞控制流程图</a:t>
            </a:r>
          </a:p>
        </p:txBody>
      </p:sp>
    </p:spTree>
    <p:extLst>
      <p:ext uri="{BB962C8B-B14F-4D97-AF65-F5344CB8AC3E}">
        <p14:creationId xmlns:p14="http://schemas.microsoft.com/office/powerpoint/2010/main" val="3719848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938358" y="3335408"/>
            <a:ext cx="7267284" cy="531100"/>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发送窗口的上限值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Min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(5-9)</a:t>
            </a:r>
          </a:p>
        </p:txBody>
      </p:sp>
      <p:sp>
        <p:nvSpPr>
          <p:cNvPr id="7" name="内容占位符 6">
            <a:extLst>
              <a:ext uri="{FF2B5EF4-FFF2-40B4-BE49-F238E27FC236}">
                <a16:creationId xmlns:a16="http://schemas.microsoft.com/office/drawing/2014/main" id="{13AAC761-E54D-56E8-5AA7-C0BF0B5A82EE}"/>
              </a:ext>
            </a:extLst>
          </p:cNvPr>
          <p:cNvSpPr>
            <a:spLocks noGrp="1"/>
          </p:cNvSpPr>
          <p:nvPr>
            <p:ph sz="quarter" idx="11"/>
          </p:nvPr>
        </p:nvSpPr>
        <p:spPr>
          <a:xfrm>
            <a:off x="486000" y="900000"/>
            <a:ext cx="8172000" cy="3703500"/>
          </a:xfrm>
        </p:spPr>
        <p:txBody>
          <a:bodyPr/>
          <a:lstStyle/>
          <a:p>
            <a:r>
              <a:rPr lang="zh-CN" altLang="en-US" dirty="0"/>
              <a:t>当 </a:t>
            </a:r>
            <a:r>
              <a:rPr lang="en-US" altLang="zh-CN" dirty="0" err="1"/>
              <a:t>rwnd</a:t>
            </a:r>
            <a:r>
              <a:rPr lang="en-US" altLang="zh-CN" dirty="0"/>
              <a:t> &lt; </a:t>
            </a:r>
            <a:r>
              <a:rPr lang="en-US" altLang="zh-CN" dirty="0" err="1"/>
              <a:t>cwnd</a:t>
            </a:r>
            <a:r>
              <a:rPr lang="en-US" altLang="zh-CN" dirty="0"/>
              <a:t> </a:t>
            </a:r>
            <a:r>
              <a:rPr lang="zh-CN" altLang="en-US" dirty="0"/>
              <a:t>时，是接收方的接收能力限制发送窗口的最大值。</a:t>
            </a:r>
          </a:p>
          <a:p>
            <a:r>
              <a:rPr lang="zh-CN" altLang="en-US" dirty="0"/>
              <a:t>当 </a:t>
            </a:r>
            <a:r>
              <a:rPr lang="en-US" altLang="zh-CN" dirty="0" err="1"/>
              <a:t>cwnd</a:t>
            </a:r>
            <a:r>
              <a:rPr lang="en-US" altLang="zh-CN" dirty="0"/>
              <a:t> &lt; </a:t>
            </a:r>
            <a:r>
              <a:rPr lang="en-US" altLang="zh-CN" dirty="0" err="1"/>
              <a:t>rwnd</a:t>
            </a:r>
            <a:r>
              <a:rPr lang="en-US" altLang="zh-CN" dirty="0"/>
              <a:t> </a:t>
            </a:r>
            <a:r>
              <a:rPr lang="zh-CN" altLang="en-US" dirty="0"/>
              <a:t>时，是网络拥塞限制发送窗口的最大值。 </a:t>
            </a:r>
          </a:p>
          <a:p>
            <a:endParaRPr lang="zh-CN" altLang="en-US" dirty="0"/>
          </a:p>
        </p:txBody>
      </p:sp>
      <p:sp>
        <p:nvSpPr>
          <p:cNvPr id="9" name="标题 8">
            <a:extLst>
              <a:ext uri="{FF2B5EF4-FFF2-40B4-BE49-F238E27FC236}">
                <a16:creationId xmlns:a16="http://schemas.microsoft.com/office/drawing/2014/main" id="{454C5513-A595-EB5F-492A-79A590055274}"/>
              </a:ext>
            </a:extLst>
          </p:cNvPr>
          <p:cNvSpPr>
            <a:spLocks noGrp="1"/>
          </p:cNvSpPr>
          <p:nvPr>
            <p:ph type="title"/>
          </p:nvPr>
        </p:nvSpPr>
        <p:spPr>
          <a:xfrm>
            <a:off x="486000" y="550723"/>
            <a:ext cx="8172000" cy="338554"/>
          </a:xfrm>
        </p:spPr>
        <p:txBody>
          <a:bodyPr/>
          <a:lstStyle/>
          <a:p>
            <a:r>
              <a:rPr lang="zh-CN" altLang="en-US" dirty="0"/>
              <a:t>发送窗口的上限值</a:t>
            </a:r>
          </a:p>
        </p:txBody>
      </p:sp>
    </p:spTree>
    <p:extLst>
      <p:ext uri="{BB962C8B-B14F-4D97-AF65-F5344CB8AC3E}">
        <p14:creationId xmlns:p14="http://schemas.microsoft.com/office/powerpoint/2010/main" val="40395356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013F4D5-24AC-E41C-C4BE-C72246B5EFE0}"/>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拥塞控制和网络层采取的策略有密切联系。</a:t>
            </a:r>
            <a:endParaRPr lang="en-US" altLang="zh-CN" dirty="0"/>
          </a:p>
          <a:p>
            <a:r>
              <a:rPr lang="zh-CN" altLang="en-US" dirty="0"/>
              <a:t>例如：</a:t>
            </a:r>
            <a:endParaRPr lang="en-US" altLang="zh-CN" dirty="0"/>
          </a:p>
          <a:p>
            <a:pPr lvl="1"/>
            <a:r>
              <a:rPr lang="zh-CN" altLang="en-US" dirty="0"/>
              <a:t>若路由器对某些分组的处理时间特别长，就可能引起发送方 </a:t>
            </a:r>
            <a:r>
              <a:rPr lang="en-US" altLang="zh-CN" dirty="0"/>
              <a:t>TCP </a:t>
            </a:r>
            <a:r>
              <a:rPr lang="zh-CN" altLang="en-US" dirty="0"/>
              <a:t>超时，对这些报文段进行重传。</a:t>
            </a:r>
          </a:p>
          <a:p>
            <a:pPr lvl="1"/>
            <a:r>
              <a:rPr lang="zh-CN" altLang="en-US" dirty="0"/>
              <a:t>重传会使 </a:t>
            </a:r>
            <a:r>
              <a:rPr lang="en-US" altLang="zh-CN" dirty="0"/>
              <a:t>TCP </a:t>
            </a:r>
            <a:r>
              <a:rPr lang="zh-CN" altLang="en-US" dirty="0"/>
              <a:t>连接的发送端认为在网络中发生了拥塞，但实际上网络并没有发生拥塞。</a:t>
            </a:r>
            <a:endParaRPr lang="en-US" altLang="zh-CN" dirty="0"/>
          </a:p>
          <a:p>
            <a:r>
              <a:rPr lang="zh-CN" altLang="en-US" dirty="0"/>
              <a:t>对 </a:t>
            </a:r>
            <a:r>
              <a:rPr lang="en-US" altLang="zh-CN" dirty="0"/>
              <a:t>TCP </a:t>
            </a:r>
            <a:r>
              <a:rPr lang="zh-CN" altLang="en-US" dirty="0"/>
              <a:t>拥塞控制影响最大的就是路由器的分组丢弃策略。</a:t>
            </a:r>
          </a:p>
          <a:p>
            <a:endParaRPr lang="zh-CN" altLang="en-US" dirty="0"/>
          </a:p>
        </p:txBody>
      </p:sp>
      <p:sp>
        <p:nvSpPr>
          <p:cNvPr id="8" name="标题 7">
            <a:extLst>
              <a:ext uri="{FF2B5EF4-FFF2-40B4-BE49-F238E27FC236}">
                <a16:creationId xmlns:a16="http://schemas.microsoft.com/office/drawing/2014/main" id="{C6078323-2DDB-02E6-CC64-0ADFE0DEEF05}"/>
              </a:ext>
            </a:extLst>
          </p:cNvPr>
          <p:cNvSpPr>
            <a:spLocks noGrp="1"/>
          </p:cNvSpPr>
          <p:nvPr>
            <p:ph type="title"/>
          </p:nvPr>
        </p:nvSpPr>
        <p:spPr>
          <a:xfrm>
            <a:off x="486000" y="550723"/>
            <a:ext cx="8172000" cy="338554"/>
          </a:xfrm>
        </p:spPr>
        <p:txBody>
          <a:bodyPr/>
          <a:lstStyle/>
          <a:p>
            <a:r>
              <a:rPr lang="en-US" altLang="zh-CN" dirty="0"/>
              <a:t>5.8.3   </a:t>
            </a:r>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284562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3FCE023-E2F4-3A8C-D8B3-2AF82D4AFD15}"/>
              </a:ext>
            </a:extLst>
          </p:cNvPr>
          <p:cNvSpPr>
            <a:spLocks noGrp="1"/>
          </p:cNvSpPr>
          <p:nvPr>
            <p:ph sz="quarter" idx="11"/>
          </p:nvPr>
        </p:nvSpPr>
        <p:spPr>
          <a:xfrm>
            <a:off x="486000" y="900000"/>
            <a:ext cx="8172000" cy="3703500"/>
          </a:xfrm>
        </p:spPr>
        <p:txBody>
          <a:bodyPr/>
          <a:lstStyle/>
          <a:p>
            <a:r>
              <a:rPr lang="zh-CN" altLang="en-US" dirty="0"/>
              <a:t>先进先出</a:t>
            </a:r>
            <a:r>
              <a:rPr lang="en-US" altLang="zh-CN" dirty="0"/>
              <a:t>FIFO (First In First Out) </a:t>
            </a:r>
            <a:r>
              <a:rPr lang="zh-CN" altLang="en-US" dirty="0"/>
              <a:t>处理规则：</a:t>
            </a:r>
          </a:p>
          <a:p>
            <a:r>
              <a:rPr lang="zh-CN" altLang="en-US" dirty="0"/>
              <a:t>尾部丢弃策略 </a:t>
            </a:r>
            <a:r>
              <a:rPr lang="en-US" altLang="zh-CN" dirty="0"/>
              <a:t>(tail-drop policy)</a:t>
            </a:r>
            <a:r>
              <a:rPr lang="zh-CN" altLang="en-US" dirty="0"/>
              <a:t>：当队列已满时，以后到达的所有分组（如果能够继续排队，这些分组都将排在队列的尾部）将都被丢弃。</a:t>
            </a:r>
            <a:endParaRPr lang="en-US" altLang="zh-CN" dirty="0"/>
          </a:p>
          <a:p>
            <a:r>
              <a:rPr lang="zh-CN" altLang="en-US" dirty="0"/>
              <a:t>路由器的尾部丢弃往往会导致一连串分组的丢失，这就使发送方出现超时重传，使 </a:t>
            </a:r>
            <a:r>
              <a:rPr lang="en-US" altLang="zh-CN" dirty="0"/>
              <a:t>TCP </a:t>
            </a:r>
            <a:r>
              <a:rPr lang="zh-CN" altLang="en-US" dirty="0"/>
              <a:t>进入拥塞控制的慢开始状态，结果使 </a:t>
            </a:r>
            <a:r>
              <a:rPr lang="en-US" altLang="zh-CN" dirty="0"/>
              <a:t>TCP </a:t>
            </a:r>
            <a:r>
              <a:rPr lang="zh-CN" altLang="en-US" dirty="0"/>
              <a:t>连接的发送方突然把数据的发送速率降低到很小的数值。</a:t>
            </a:r>
          </a:p>
          <a:p>
            <a:endParaRPr lang="zh-CN" altLang="en-US" dirty="0"/>
          </a:p>
        </p:txBody>
      </p:sp>
      <p:sp>
        <p:nvSpPr>
          <p:cNvPr id="8" name="标题 7">
            <a:extLst>
              <a:ext uri="{FF2B5EF4-FFF2-40B4-BE49-F238E27FC236}">
                <a16:creationId xmlns:a16="http://schemas.microsoft.com/office/drawing/2014/main" id="{E0AAF2B4-5620-2208-973D-77E7186B6BBA}"/>
              </a:ext>
            </a:extLst>
          </p:cNvPr>
          <p:cNvSpPr>
            <a:spLocks noGrp="1"/>
          </p:cNvSpPr>
          <p:nvPr>
            <p:ph type="title"/>
          </p:nvPr>
        </p:nvSpPr>
        <p:spPr>
          <a:xfrm>
            <a:off x="486000" y="550723"/>
            <a:ext cx="8172000" cy="338554"/>
          </a:xfrm>
        </p:spPr>
        <p:txBody>
          <a:bodyPr/>
          <a:lstStyle/>
          <a:p>
            <a:r>
              <a:rPr lang="zh-CN" altLang="en-US" dirty="0"/>
              <a:t>“先进先出”</a:t>
            </a:r>
            <a:r>
              <a:rPr lang="en-US" altLang="zh-CN" dirty="0"/>
              <a:t>FIFO </a:t>
            </a:r>
            <a:r>
              <a:rPr lang="zh-CN" altLang="en-US" dirty="0"/>
              <a:t>处理规则</a:t>
            </a:r>
          </a:p>
        </p:txBody>
      </p:sp>
    </p:spTree>
    <p:extLst>
      <p:ext uri="{BB962C8B-B14F-4D97-AF65-F5344CB8AC3E}">
        <p14:creationId xmlns:p14="http://schemas.microsoft.com/office/powerpoint/2010/main" val="3074458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9"/>
          <p:cNvSpPr>
            <a:spLocks noChangeArrowheads="1"/>
          </p:cNvSpPr>
          <p:nvPr/>
        </p:nvSpPr>
        <p:spPr bwMode="auto">
          <a:xfrm>
            <a:off x="3516080"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0" name="Rectangle 10"/>
          <p:cNvSpPr>
            <a:spLocks noChangeArrowheads="1"/>
          </p:cNvSpPr>
          <p:nvPr/>
        </p:nvSpPr>
        <p:spPr bwMode="auto">
          <a:xfrm>
            <a:off x="2873825" y="270843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1"/>
          <p:cNvSpPr>
            <a:spLocks noChangeArrowheads="1"/>
          </p:cNvSpPr>
          <p:nvPr/>
        </p:nvSpPr>
        <p:spPr bwMode="auto">
          <a:xfrm>
            <a:off x="2270759" y="28238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7" name="Rectangle 17"/>
          <p:cNvSpPr>
            <a:spLocks noChangeArrowheads="1"/>
          </p:cNvSpPr>
          <p:nvPr/>
        </p:nvSpPr>
        <p:spPr bwMode="auto">
          <a:xfrm>
            <a:off x="1693819" y="30524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8" name="Rectangle 18"/>
          <p:cNvSpPr>
            <a:spLocks noChangeArrowheads="1"/>
          </p:cNvSpPr>
          <p:nvPr/>
        </p:nvSpPr>
        <p:spPr bwMode="auto">
          <a:xfrm>
            <a:off x="1127764" y="33572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9" name="矩形 28"/>
          <p:cNvSpPr/>
          <p:nvPr/>
        </p:nvSpPr>
        <p:spPr>
          <a:xfrm>
            <a:off x="1652453" y="1140973"/>
            <a:ext cx="6096380" cy="86177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在最简单的情况下，路由器队列通常采用</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rgbClr val="FFC000"/>
                </a:solidFill>
                <a:latin typeface="微软雅黑" pitchFamily="34" charset="-122"/>
                <a:ea typeface="微软雅黑" pitchFamily="34" charset="-122"/>
              </a:rPr>
              <a:t>先进先出</a:t>
            </a: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(FIFO) </a:t>
            </a:r>
            <a:r>
              <a:rPr lang="zh-CN" altLang="en-US" sz="1600" b="1" dirty="0">
                <a:solidFill>
                  <a:schemeClr val="bg1"/>
                </a:solidFill>
                <a:latin typeface="微软雅黑" pitchFamily="34" charset="-122"/>
                <a:ea typeface="微软雅黑" pitchFamily="34" charset="-122"/>
              </a:rPr>
              <a:t>处理规则与</a:t>
            </a:r>
            <a:r>
              <a:rPr lang="zh-CN" altLang="en-US" sz="1600" b="1" dirty="0">
                <a:solidFill>
                  <a:srgbClr val="FFC000"/>
                </a:solidFill>
                <a:latin typeface="微软雅黑" pitchFamily="34" charset="-122"/>
                <a:ea typeface="微软雅黑" pitchFamily="34" charset="-122"/>
              </a:rPr>
              <a:t>尾部丢弃策略 </a:t>
            </a:r>
            <a:r>
              <a:rPr lang="en-US" altLang="zh-CN" sz="1600" b="1" dirty="0">
                <a:solidFill>
                  <a:schemeClr val="bg1"/>
                </a:solidFill>
                <a:latin typeface="微软雅黑" pitchFamily="34" charset="-122"/>
                <a:ea typeface="微软雅黑" pitchFamily="34" charset="-122"/>
              </a:rPr>
              <a:t>(tail-drop policy)</a:t>
            </a:r>
            <a:r>
              <a:rPr lang="zh-CN" altLang="en-US" sz="1600" b="1" dirty="0">
                <a:solidFill>
                  <a:schemeClr val="bg1"/>
                </a:solidFill>
                <a:latin typeface="微软雅黑" pitchFamily="34" charset="-122"/>
                <a:ea typeface="微软雅黑" pitchFamily="34" charset="-122"/>
              </a:rPr>
              <a:t>。</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当队列已满时，以后到达的所有分组将都被丢弃。</a:t>
            </a:r>
          </a:p>
        </p:txBody>
      </p:sp>
      <p:grpSp>
        <p:nvGrpSpPr>
          <p:cNvPr id="39" name="组合 38"/>
          <p:cNvGrpSpPr/>
          <p:nvPr/>
        </p:nvGrpSpPr>
        <p:grpSpPr>
          <a:xfrm>
            <a:off x="4235261" y="2161969"/>
            <a:ext cx="4165845" cy="1143000"/>
            <a:chOff x="4235261" y="2103118"/>
            <a:chExt cx="4165845" cy="1143000"/>
          </a:xfrm>
        </p:grpSpPr>
        <p:grpSp>
          <p:nvGrpSpPr>
            <p:cNvPr id="40" name="组合 39"/>
            <p:cNvGrpSpPr/>
            <p:nvPr/>
          </p:nvGrpSpPr>
          <p:grpSpPr>
            <a:xfrm>
              <a:off x="4235261" y="2103118"/>
              <a:ext cx="3864782" cy="1143000"/>
              <a:chOff x="4313639" y="2103118"/>
              <a:chExt cx="3864782" cy="1143000"/>
            </a:xfrm>
          </p:grpSpPr>
          <p:sp>
            <p:nvSpPr>
              <p:cNvPr id="42"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3"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41"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25" name="Line 25"/>
          <p:cNvSpPr>
            <a:spLocks noChangeShapeType="1"/>
          </p:cNvSpPr>
          <p:nvPr/>
        </p:nvSpPr>
        <p:spPr bwMode="auto">
          <a:xfrm flipV="1">
            <a:off x="4260713" y="3355043"/>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Text Box 26"/>
          <p:cNvSpPr txBox="1">
            <a:spLocks noChangeArrowheads="1"/>
          </p:cNvSpPr>
          <p:nvPr/>
        </p:nvSpPr>
        <p:spPr bwMode="auto">
          <a:xfrm>
            <a:off x="4263664" y="3532827"/>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5" name="Rectangle 5"/>
          <p:cNvSpPr>
            <a:spLocks noChangeArrowheads="1"/>
          </p:cNvSpPr>
          <p:nvPr/>
        </p:nvSpPr>
        <p:spPr bwMode="auto">
          <a:xfrm>
            <a:off x="67774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6" name="Rectangle 6"/>
          <p:cNvSpPr>
            <a:spLocks noChangeArrowheads="1"/>
          </p:cNvSpPr>
          <p:nvPr/>
        </p:nvSpPr>
        <p:spPr bwMode="auto">
          <a:xfrm>
            <a:off x="60154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7"/>
          <p:cNvSpPr>
            <a:spLocks noChangeArrowheads="1"/>
          </p:cNvSpPr>
          <p:nvPr/>
        </p:nvSpPr>
        <p:spPr bwMode="auto">
          <a:xfrm>
            <a:off x="51772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8" name="Rectangle 8"/>
          <p:cNvSpPr>
            <a:spLocks noChangeArrowheads="1"/>
          </p:cNvSpPr>
          <p:nvPr/>
        </p:nvSpPr>
        <p:spPr bwMode="auto">
          <a:xfrm>
            <a:off x="44152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4" name="标题 3">
            <a:extLst>
              <a:ext uri="{FF2B5EF4-FFF2-40B4-BE49-F238E27FC236}">
                <a16:creationId xmlns:a16="http://schemas.microsoft.com/office/drawing/2014/main" id="{F5D4AF3C-D8B6-48C7-FC44-AB41A0112914}"/>
              </a:ext>
            </a:extLst>
          </p:cNvPr>
          <p:cNvSpPr>
            <a:spLocks noGrp="1"/>
          </p:cNvSpPr>
          <p:nvPr>
            <p:ph type="title"/>
          </p:nvPr>
        </p:nvSpPr>
        <p:spPr>
          <a:xfrm>
            <a:off x="486000" y="550723"/>
            <a:ext cx="8172000" cy="338554"/>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16284251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2000" fill="hold"/>
                                        <p:tgtEl>
                                          <p:spTgt spid="5"/>
                                        </p:tgtEl>
                                        <p:attrNameLst>
                                          <p:attrName>ppt_x</p:attrName>
                                        </p:attrNameLst>
                                      </p:cBhvr>
                                      <p:tavLst>
                                        <p:tav tm="0">
                                          <p:val>
                                            <p:strVal val="0-#ppt_w/2"/>
                                          </p:val>
                                        </p:tav>
                                        <p:tav tm="100000">
                                          <p:val>
                                            <p:strVal val="#ppt_x"/>
                                          </p:val>
                                        </p:tav>
                                      </p:tavLst>
                                    </p:anim>
                                    <p:anim calcmode="lin" valueType="num">
                                      <p:cBhvr additive="base">
                                        <p:cTn id="8" dur="2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2000" fill="hold"/>
                                        <p:tgtEl>
                                          <p:spTgt spid="6"/>
                                        </p:tgtEl>
                                        <p:attrNameLst>
                                          <p:attrName>ppt_x</p:attrName>
                                        </p:attrNameLst>
                                      </p:cBhvr>
                                      <p:tavLst>
                                        <p:tav tm="0">
                                          <p:val>
                                            <p:strVal val="0-#ppt_w/2"/>
                                          </p:val>
                                        </p:tav>
                                        <p:tav tm="100000">
                                          <p:val>
                                            <p:strVal val="#ppt_x"/>
                                          </p:val>
                                        </p:tav>
                                      </p:tavLst>
                                    </p:anim>
                                    <p:anim calcmode="lin" valueType="num">
                                      <p:cBhvr additive="base">
                                        <p:cTn id="12" dur="2000" fill="hold"/>
                                        <p:tgtEl>
                                          <p:spTgt spid="6"/>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2000" fill="hold"/>
                                        <p:tgtEl>
                                          <p:spTgt spid="7"/>
                                        </p:tgtEl>
                                        <p:attrNameLst>
                                          <p:attrName>ppt_x</p:attrName>
                                        </p:attrNameLst>
                                      </p:cBhvr>
                                      <p:tavLst>
                                        <p:tav tm="0">
                                          <p:val>
                                            <p:strVal val="0-#ppt_w/2"/>
                                          </p:val>
                                        </p:tav>
                                        <p:tav tm="100000">
                                          <p:val>
                                            <p:strVal val="#ppt_x"/>
                                          </p:val>
                                        </p:tav>
                                      </p:tavLst>
                                    </p:anim>
                                    <p:anim calcmode="lin" valueType="num">
                                      <p:cBhvr additive="base">
                                        <p:cTn id="16" dur="20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2000" fill="hold"/>
                                        <p:tgtEl>
                                          <p:spTgt spid="8"/>
                                        </p:tgtEl>
                                        <p:attrNameLst>
                                          <p:attrName>ppt_x</p:attrName>
                                        </p:attrNameLst>
                                      </p:cBhvr>
                                      <p:tavLst>
                                        <p:tav tm="0">
                                          <p:val>
                                            <p:strVal val="0-#ppt_w/2"/>
                                          </p:val>
                                        </p:tav>
                                        <p:tav tm="100000">
                                          <p:val>
                                            <p:strVal val="#ppt_x"/>
                                          </p:val>
                                        </p:tav>
                                      </p:tavLst>
                                    </p:anim>
                                    <p:anim calcmode="lin" valueType="num">
                                      <p:cBhvr additive="base">
                                        <p:cTn id="20" dur="2000" fill="hold"/>
                                        <p:tgtEl>
                                          <p:spTgt spid="8"/>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2000" fill="hold"/>
                                        <p:tgtEl>
                                          <p:spTgt spid="9"/>
                                        </p:tgtEl>
                                        <p:attrNameLst>
                                          <p:attrName>ppt_x</p:attrName>
                                        </p:attrNameLst>
                                      </p:cBhvr>
                                      <p:tavLst>
                                        <p:tav tm="0">
                                          <p:val>
                                            <p:strVal val="0-#ppt_w/2"/>
                                          </p:val>
                                        </p:tav>
                                        <p:tav tm="100000">
                                          <p:val>
                                            <p:strVal val="#ppt_x"/>
                                          </p:val>
                                        </p:tav>
                                      </p:tavLst>
                                    </p:anim>
                                    <p:anim calcmode="lin" valueType="num">
                                      <p:cBhvr additive="base">
                                        <p:cTn id="24" dur="2000" fill="hold"/>
                                        <p:tgtEl>
                                          <p:spTgt spid="9"/>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2000" fill="hold"/>
                                        <p:tgtEl>
                                          <p:spTgt spid="10"/>
                                        </p:tgtEl>
                                        <p:attrNameLst>
                                          <p:attrName>ppt_x</p:attrName>
                                        </p:attrNameLst>
                                      </p:cBhvr>
                                      <p:tavLst>
                                        <p:tav tm="0">
                                          <p:val>
                                            <p:strVal val="0-#ppt_w/2"/>
                                          </p:val>
                                        </p:tav>
                                        <p:tav tm="100000">
                                          <p:val>
                                            <p:strVal val="#ppt_x"/>
                                          </p:val>
                                        </p:tav>
                                      </p:tavLst>
                                    </p:anim>
                                    <p:anim calcmode="lin" valueType="num">
                                      <p:cBhvr additive="base">
                                        <p:cTn id="28" dur="2000" fill="hold"/>
                                        <p:tgtEl>
                                          <p:spTgt spid="1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 calcmode="lin" valueType="num">
                                      <p:cBhvr additive="base">
                                        <p:cTn id="35" dur="2000" fill="hold"/>
                                        <p:tgtEl>
                                          <p:spTgt spid="17"/>
                                        </p:tgtEl>
                                        <p:attrNameLst>
                                          <p:attrName>ppt_x</p:attrName>
                                        </p:attrNameLst>
                                      </p:cBhvr>
                                      <p:tavLst>
                                        <p:tav tm="0">
                                          <p:val>
                                            <p:strVal val="0-#ppt_w/2"/>
                                          </p:val>
                                        </p:tav>
                                        <p:tav tm="100000">
                                          <p:val>
                                            <p:strVal val="#ppt_x"/>
                                          </p:val>
                                        </p:tav>
                                      </p:tavLst>
                                    </p:anim>
                                    <p:anim calcmode="lin" valueType="num">
                                      <p:cBhvr additive="base">
                                        <p:cTn id="36" dur="2000" fill="hold"/>
                                        <p:tgtEl>
                                          <p:spTgt spid="17"/>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 calcmode="lin" valueType="num">
                                      <p:cBhvr additive="base">
                                        <p:cTn id="39" dur="2000" fill="hold"/>
                                        <p:tgtEl>
                                          <p:spTgt spid="18"/>
                                        </p:tgtEl>
                                        <p:attrNameLst>
                                          <p:attrName>ppt_x</p:attrName>
                                        </p:attrNameLst>
                                      </p:cBhvr>
                                      <p:tavLst>
                                        <p:tav tm="0">
                                          <p:val>
                                            <p:strVal val="0-#ppt_w/2"/>
                                          </p:val>
                                        </p:tav>
                                        <p:tav tm="100000">
                                          <p:val>
                                            <p:strVal val="#ppt_x"/>
                                          </p:val>
                                        </p:tav>
                                      </p:tavLst>
                                    </p:anim>
                                    <p:anim calcmode="lin" valueType="num">
                                      <p:cBhvr additive="base">
                                        <p:cTn id="40" dur="2000" fill="hold"/>
                                        <p:tgtEl>
                                          <p:spTgt spid="18"/>
                                        </p:tgtEl>
                                        <p:attrNameLst>
                                          <p:attrName>ppt_y</p:attrName>
                                        </p:attrNameLst>
                                      </p:cBhvr>
                                      <p:tavLst>
                                        <p:tav tm="0">
                                          <p:val>
                                            <p:strVal val="#ppt_y"/>
                                          </p:val>
                                        </p:tav>
                                        <p:tav tm="100000">
                                          <p:val>
                                            <p:strVal val="#ppt_y"/>
                                          </p:val>
                                        </p:tav>
                                      </p:tavLst>
                                    </p:anim>
                                  </p:childTnLst>
                                </p:cTn>
                              </p:par>
                            </p:childTnLst>
                          </p:cTn>
                        </p:par>
                        <p:par>
                          <p:cTn id="41" fill="hold">
                            <p:stCondLst>
                              <p:cond delay="2000"/>
                            </p:stCondLst>
                            <p:childTnLst>
                              <p:par>
                                <p:cTn id="42" presetID="2" presetClass="exit" presetSubtype="4" fill="hold" grpId="1" nodeType="afterEffect">
                                  <p:stCondLst>
                                    <p:cond delay="1000"/>
                                  </p:stCondLst>
                                  <p:childTnLst>
                                    <p:anim calcmode="lin" valueType="num">
                                      <p:cBhvr additive="base">
                                        <p:cTn id="43" dur="2000"/>
                                        <p:tgtEl>
                                          <p:spTgt spid="9"/>
                                        </p:tgtEl>
                                        <p:attrNameLst>
                                          <p:attrName>ppt_x</p:attrName>
                                        </p:attrNameLst>
                                      </p:cBhvr>
                                      <p:tavLst>
                                        <p:tav tm="0">
                                          <p:val>
                                            <p:strVal val="ppt_x"/>
                                          </p:val>
                                        </p:tav>
                                        <p:tav tm="100000">
                                          <p:val>
                                            <p:strVal val="ppt_x"/>
                                          </p:val>
                                        </p:tav>
                                      </p:tavLst>
                                    </p:anim>
                                    <p:anim calcmode="lin" valueType="num">
                                      <p:cBhvr additive="base">
                                        <p:cTn id="44" dur="2000"/>
                                        <p:tgtEl>
                                          <p:spTgt spid="9"/>
                                        </p:tgtEl>
                                        <p:attrNameLst>
                                          <p:attrName>ppt_y</p:attrName>
                                        </p:attrNameLst>
                                      </p:cBhvr>
                                      <p:tavLst>
                                        <p:tav tm="0">
                                          <p:val>
                                            <p:strVal val="ppt_y"/>
                                          </p:val>
                                        </p:tav>
                                        <p:tav tm="100000">
                                          <p:val>
                                            <p:strVal val="1+ppt_h/2"/>
                                          </p:val>
                                        </p:tav>
                                      </p:tavLst>
                                    </p:anim>
                                    <p:set>
                                      <p:cBhvr>
                                        <p:cTn id="45" dur="1" fill="hold">
                                          <p:stCondLst>
                                            <p:cond delay="1999"/>
                                          </p:stCondLst>
                                        </p:cTn>
                                        <p:tgtEl>
                                          <p:spTgt spid="9"/>
                                        </p:tgtEl>
                                        <p:attrNameLst>
                                          <p:attrName>style.visibility</p:attrName>
                                        </p:attrNameLst>
                                      </p:cBhvr>
                                      <p:to>
                                        <p:strVal val="hidden"/>
                                      </p:to>
                                    </p:set>
                                  </p:childTnLst>
                                </p:cTn>
                              </p:par>
                              <p:par>
                                <p:cTn id="46" presetID="2" presetClass="exit" presetSubtype="4" fill="hold" grpId="1" nodeType="withEffect">
                                  <p:stCondLst>
                                    <p:cond delay="1000"/>
                                  </p:stCondLst>
                                  <p:childTnLst>
                                    <p:anim calcmode="lin" valueType="num">
                                      <p:cBhvr additive="base">
                                        <p:cTn id="47" dur="2000"/>
                                        <p:tgtEl>
                                          <p:spTgt spid="10"/>
                                        </p:tgtEl>
                                        <p:attrNameLst>
                                          <p:attrName>ppt_x</p:attrName>
                                        </p:attrNameLst>
                                      </p:cBhvr>
                                      <p:tavLst>
                                        <p:tav tm="0">
                                          <p:val>
                                            <p:strVal val="ppt_x"/>
                                          </p:val>
                                        </p:tav>
                                        <p:tav tm="100000">
                                          <p:val>
                                            <p:strVal val="ppt_x"/>
                                          </p:val>
                                        </p:tav>
                                      </p:tavLst>
                                    </p:anim>
                                    <p:anim calcmode="lin" valueType="num">
                                      <p:cBhvr additive="base">
                                        <p:cTn id="48" dur="2000"/>
                                        <p:tgtEl>
                                          <p:spTgt spid="10"/>
                                        </p:tgtEl>
                                        <p:attrNameLst>
                                          <p:attrName>ppt_y</p:attrName>
                                        </p:attrNameLst>
                                      </p:cBhvr>
                                      <p:tavLst>
                                        <p:tav tm="0">
                                          <p:val>
                                            <p:strVal val="ppt_y"/>
                                          </p:val>
                                        </p:tav>
                                        <p:tav tm="100000">
                                          <p:val>
                                            <p:strVal val="1+ppt_h/2"/>
                                          </p:val>
                                        </p:tav>
                                      </p:tavLst>
                                    </p:anim>
                                    <p:set>
                                      <p:cBhvr>
                                        <p:cTn id="49" dur="1" fill="hold">
                                          <p:stCondLst>
                                            <p:cond delay="1999"/>
                                          </p:stCondLst>
                                        </p:cTn>
                                        <p:tgtEl>
                                          <p:spTgt spid="10"/>
                                        </p:tgtEl>
                                        <p:attrNameLst>
                                          <p:attrName>style.visibility</p:attrName>
                                        </p:attrNameLst>
                                      </p:cBhvr>
                                      <p:to>
                                        <p:strVal val="hidden"/>
                                      </p:to>
                                    </p:set>
                                  </p:childTnLst>
                                </p:cTn>
                              </p:par>
                              <p:par>
                                <p:cTn id="50" presetID="2" presetClass="exit" presetSubtype="4" fill="hold" grpId="1" nodeType="withEffect">
                                  <p:stCondLst>
                                    <p:cond delay="1000"/>
                                  </p:stCondLst>
                                  <p:childTnLst>
                                    <p:anim calcmode="lin" valueType="num">
                                      <p:cBhvr additive="base">
                                        <p:cTn id="51" dur="2000"/>
                                        <p:tgtEl>
                                          <p:spTgt spid="11"/>
                                        </p:tgtEl>
                                        <p:attrNameLst>
                                          <p:attrName>ppt_x</p:attrName>
                                        </p:attrNameLst>
                                      </p:cBhvr>
                                      <p:tavLst>
                                        <p:tav tm="0">
                                          <p:val>
                                            <p:strVal val="ppt_x"/>
                                          </p:val>
                                        </p:tav>
                                        <p:tav tm="100000">
                                          <p:val>
                                            <p:strVal val="ppt_x"/>
                                          </p:val>
                                        </p:tav>
                                      </p:tavLst>
                                    </p:anim>
                                    <p:anim calcmode="lin" valueType="num">
                                      <p:cBhvr additive="base">
                                        <p:cTn id="52" dur="2000"/>
                                        <p:tgtEl>
                                          <p:spTgt spid="11"/>
                                        </p:tgtEl>
                                        <p:attrNameLst>
                                          <p:attrName>ppt_y</p:attrName>
                                        </p:attrNameLst>
                                      </p:cBhvr>
                                      <p:tavLst>
                                        <p:tav tm="0">
                                          <p:val>
                                            <p:strVal val="ppt_y"/>
                                          </p:val>
                                        </p:tav>
                                        <p:tav tm="100000">
                                          <p:val>
                                            <p:strVal val="1+ppt_h/2"/>
                                          </p:val>
                                        </p:tav>
                                      </p:tavLst>
                                    </p:anim>
                                    <p:set>
                                      <p:cBhvr>
                                        <p:cTn id="53" dur="1" fill="hold">
                                          <p:stCondLst>
                                            <p:cond delay="1999"/>
                                          </p:stCondLst>
                                        </p:cTn>
                                        <p:tgtEl>
                                          <p:spTgt spid="11"/>
                                        </p:tgtEl>
                                        <p:attrNameLst>
                                          <p:attrName>style.visibility</p:attrName>
                                        </p:attrNameLst>
                                      </p:cBhvr>
                                      <p:to>
                                        <p:strVal val="hidden"/>
                                      </p:to>
                                    </p:set>
                                  </p:childTnLst>
                                </p:cTn>
                              </p:par>
                              <p:par>
                                <p:cTn id="54" presetID="2" presetClass="exit" presetSubtype="4" fill="hold" grpId="1" nodeType="withEffect">
                                  <p:stCondLst>
                                    <p:cond delay="1000"/>
                                  </p:stCondLst>
                                  <p:childTnLst>
                                    <p:anim calcmode="lin" valueType="num">
                                      <p:cBhvr additive="base">
                                        <p:cTn id="55" dur="2000"/>
                                        <p:tgtEl>
                                          <p:spTgt spid="17"/>
                                        </p:tgtEl>
                                        <p:attrNameLst>
                                          <p:attrName>ppt_x</p:attrName>
                                        </p:attrNameLst>
                                      </p:cBhvr>
                                      <p:tavLst>
                                        <p:tav tm="0">
                                          <p:val>
                                            <p:strVal val="ppt_x"/>
                                          </p:val>
                                        </p:tav>
                                        <p:tav tm="100000">
                                          <p:val>
                                            <p:strVal val="ppt_x"/>
                                          </p:val>
                                        </p:tav>
                                      </p:tavLst>
                                    </p:anim>
                                    <p:anim calcmode="lin" valueType="num">
                                      <p:cBhvr additive="base">
                                        <p:cTn id="56" dur="2000"/>
                                        <p:tgtEl>
                                          <p:spTgt spid="17"/>
                                        </p:tgtEl>
                                        <p:attrNameLst>
                                          <p:attrName>ppt_y</p:attrName>
                                        </p:attrNameLst>
                                      </p:cBhvr>
                                      <p:tavLst>
                                        <p:tav tm="0">
                                          <p:val>
                                            <p:strVal val="ppt_y"/>
                                          </p:val>
                                        </p:tav>
                                        <p:tav tm="100000">
                                          <p:val>
                                            <p:strVal val="1+ppt_h/2"/>
                                          </p:val>
                                        </p:tav>
                                      </p:tavLst>
                                    </p:anim>
                                    <p:set>
                                      <p:cBhvr>
                                        <p:cTn id="57" dur="1" fill="hold">
                                          <p:stCondLst>
                                            <p:cond delay="1999"/>
                                          </p:stCondLst>
                                        </p:cTn>
                                        <p:tgtEl>
                                          <p:spTgt spid="17"/>
                                        </p:tgtEl>
                                        <p:attrNameLst>
                                          <p:attrName>style.visibility</p:attrName>
                                        </p:attrNameLst>
                                      </p:cBhvr>
                                      <p:to>
                                        <p:strVal val="hidden"/>
                                      </p:to>
                                    </p:set>
                                  </p:childTnLst>
                                </p:cTn>
                              </p:par>
                              <p:par>
                                <p:cTn id="58" presetID="2" presetClass="exit" presetSubtype="4" fill="hold" grpId="1" nodeType="withEffect">
                                  <p:stCondLst>
                                    <p:cond delay="1000"/>
                                  </p:stCondLst>
                                  <p:childTnLst>
                                    <p:anim calcmode="lin" valueType="num">
                                      <p:cBhvr additive="base">
                                        <p:cTn id="59" dur="2000"/>
                                        <p:tgtEl>
                                          <p:spTgt spid="18"/>
                                        </p:tgtEl>
                                        <p:attrNameLst>
                                          <p:attrName>ppt_x</p:attrName>
                                        </p:attrNameLst>
                                      </p:cBhvr>
                                      <p:tavLst>
                                        <p:tav tm="0">
                                          <p:val>
                                            <p:strVal val="ppt_x"/>
                                          </p:val>
                                        </p:tav>
                                        <p:tav tm="100000">
                                          <p:val>
                                            <p:strVal val="ppt_x"/>
                                          </p:val>
                                        </p:tav>
                                      </p:tavLst>
                                    </p:anim>
                                    <p:anim calcmode="lin" valueType="num">
                                      <p:cBhvr additive="base">
                                        <p:cTn id="60" dur="2000"/>
                                        <p:tgtEl>
                                          <p:spTgt spid="18"/>
                                        </p:tgtEl>
                                        <p:attrNameLst>
                                          <p:attrName>ppt_y</p:attrName>
                                        </p:attrNameLst>
                                      </p:cBhvr>
                                      <p:tavLst>
                                        <p:tav tm="0">
                                          <p:val>
                                            <p:strVal val="ppt_y"/>
                                          </p:val>
                                        </p:tav>
                                        <p:tav tm="100000">
                                          <p:val>
                                            <p:strVal val="1+ppt_h/2"/>
                                          </p:val>
                                        </p:tav>
                                      </p:tavLst>
                                    </p:anim>
                                    <p:set>
                                      <p:cBhvr>
                                        <p:cTn id="61" dur="1" fill="hold">
                                          <p:stCondLst>
                                            <p:cond delay="19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7" grpId="0" animBg="1"/>
      <p:bldP spid="17" grpId="1" animBg="1"/>
      <p:bldP spid="18" grpId="0" animBg="1"/>
      <p:bldP spid="18" grpId="1" animBg="1"/>
      <p:bldP spid="5" grpId="0" animBg="1"/>
      <p:bldP spid="6" grpId="0" animBg="1"/>
      <p:bldP spid="7" grpId="0" animBg="1"/>
      <p:bldP spid="8" grpId="0" animBg="1"/>
    </p:bldLst>
  </p:timing>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621410" y="1145619"/>
            <a:ext cx="6099143" cy="348813"/>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连接进入</a:t>
            </a:r>
            <a:r>
              <a:rPr lang="zh-CN" altLang="en-US" sz="1600" b="1" dirty="0">
                <a:solidFill>
                  <a:srgbClr val="FFC000"/>
                </a:solidFill>
                <a:latin typeface="微软雅黑" pitchFamily="34" charset="-122"/>
                <a:ea typeface="微软雅黑" pitchFamily="34" charset="-122"/>
              </a:rPr>
              <a:t>慢开始</a:t>
            </a:r>
            <a:r>
              <a:rPr lang="zh-CN" altLang="en-US" sz="1600" b="1" dirty="0">
                <a:solidFill>
                  <a:schemeClr val="bg1"/>
                </a:solidFill>
                <a:latin typeface="微软雅黑" pitchFamily="34" charset="-122"/>
                <a:ea typeface="微软雅黑" pitchFamily="34" charset="-122"/>
              </a:rPr>
              <a:t>状态。</a:t>
            </a:r>
          </a:p>
        </p:txBody>
      </p:sp>
      <p:sp>
        <p:nvSpPr>
          <p:cNvPr id="70" name="Line 6"/>
          <p:cNvSpPr>
            <a:spLocks noChangeShapeType="1"/>
          </p:cNvSpPr>
          <p:nvPr/>
        </p:nvSpPr>
        <p:spPr bwMode="auto">
          <a:xfrm>
            <a:off x="2286000" y="4035834"/>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5118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105179"/>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3877084"/>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6" name="Line 12"/>
          <p:cNvSpPr>
            <a:spLocks noChangeShapeType="1"/>
          </p:cNvSpPr>
          <p:nvPr/>
        </p:nvSpPr>
        <p:spPr bwMode="auto">
          <a:xfrm>
            <a:off x="2286000" y="37945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3" name="Text Box 19"/>
          <p:cNvSpPr txBox="1">
            <a:spLocks noChangeArrowheads="1"/>
          </p:cNvSpPr>
          <p:nvPr/>
        </p:nvSpPr>
        <p:spPr bwMode="auto">
          <a:xfrm>
            <a:off x="6891311" y="2353084"/>
            <a:ext cx="95728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648619"/>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334419"/>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648619"/>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648619"/>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334419"/>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168005"/>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168006"/>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2" name="标题 1">
            <a:extLst>
              <a:ext uri="{FF2B5EF4-FFF2-40B4-BE49-F238E27FC236}">
                <a16:creationId xmlns:a16="http://schemas.microsoft.com/office/drawing/2014/main" id="{7693F21C-AE30-D8E6-15F5-5BCBA0421B0A}"/>
              </a:ext>
            </a:extLst>
          </p:cNvPr>
          <p:cNvSpPr>
            <a:spLocks noGrp="1"/>
          </p:cNvSpPr>
          <p:nvPr>
            <p:ph type="title"/>
          </p:nvPr>
        </p:nvSpPr>
        <p:spPr>
          <a:xfrm>
            <a:off x="486000" y="550723"/>
            <a:ext cx="8172000" cy="338554"/>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40486318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a:spLocks noChangeArrowheads="1"/>
          </p:cNvSpPr>
          <p:nvPr/>
        </p:nvSpPr>
        <p:spPr bwMode="auto">
          <a:xfrm>
            <a:off x="3634390"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0"/>
          <p:cNvSpPr>
            <a:spLocks noChangeArrowheads="1"/>
          </p:cNvSpPr>
          <p:nvPr/>
        </p:nvSpPr>
        <p:spPr bwMode="auto">
          <a:xfrm>
            <a:off x="3101537"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12" name="Rectangle 11"/>
          <p:cNvSpPr>
            <a:spLocks noChangeArrowheads="1"/>
          </p:cNvSpPr>
          <p:nvPr/>
        </p:nvSpPr>
        <p:spPr bwMode="auto">
          <a:xfrm>
            <a:off x="2529495"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3" name="Rectangle 12"/>
          <p:cNvSpPr>
            <a:spLocks noChangeArrowheads="1"/>
          </p:cNvSpPr>
          <p:nvPr/>
        </p:nvSpPr>
        <p:spPr bwMode="auto">
          <a:xfrm>
            <a:off x="3634390"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4" name="Rectangle 13"/>
          <p:cNvSpPr>
            <a:spLocks noChangeArrowheads="1"/>
          </p:cNvSpPr>
          <p:nvPr/>
        </p:nvSpPr>
        <p:spPr bwMode="auto">
          <a:xfrm>
            <a:off x="3101537"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15" name="Rectangle 14"/>
          <p:cNvSpPr>
            <a:spLocks noChangeArrowheads="1"/>
          </p:cNvSpPr>
          <p:nvPr/>
        </p:nvSpPr>
        <p:spPr bwMode="auto">
          <a:xfrm>
            <a:off x="2529495"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3" name="Rectangle 22"/>
          <p:cNvSpPr>
            <a:spLocks noChangeArrowheads="1"/>
          </p:cNvSpPr>
          <p:nvPr/>
        </p:nvSpPr>
        <p:spPr bwMode="auto">
          <a:xfrm>
            <a:off x="1918264"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24" name="Rectangle 23"/>
          <p:cNvSpPr>
            <a:spLocks noChangeArrowheads="1"/>
          </p:cNvSpPr>
          <p:nvPr/>
        </p:nvSpPr>
        <p:spPr bwMode="auto">
          <a:xfrm>
            <a:off x="1320096" y="2043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5" name="Rectangle 24"/>
          <p:cNvSpPr>
            <a:spLocks noChangeArrowheads="1"/>
          </p:cNvSpPr>
          <p:nvPr/>
        </p:nvSpPr>
        <p:spPr bwMode="auto">
          <a:xfrm>
            <a:off x="1918264"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26" name="Rectangle 25"/>
          <p:cNvSpPr>
            <a:spLocks noChangeArrowheads="1"/>
          </p:cNvSpPr>
          <p:nvPr/>
        </p:nvSpPr>
        <p:spPr bwMode="auto">
          <a:xfrm>
            <a:off x="1320096" y="2805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36" name="矩形 35"/>
          <p:cNvSpPr/>
          <p:nvPr/>
        </p:nvSpPr>
        <p:spPr>
          <a:xfrm>
            <a:off x="1652453" y="1132117"/>
            <a:ext cx="5957271"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若路由器进行了尾部丢弃，</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所有到达的分组都被丢弃，不论它们属于哪个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p>
        </p:txBody>
      </p:sp>
      <p:grpSp>
        <p:nvGrpSpPr>
          <p:cNvPr id="37" name="组合 36"/>
          <p:cNvGrpSpPr/>
          <p:nvPr/>
        </p:nvGrpSpPr>
        <p:grpSpPr>
          <a:xfrm>
            <a:off x="4268659" y="1963868"/>
            <a:ext cx="4165845" cy="1143000"/>
            <a:chOff x="4235261" y="2103118"/>
            <a:chExt cx="4165845" cy="1143000"/>
          </a:xfrm>
        </p:grpSpPr>
        <p:grpSp>
          <p:nvGrpSpPr>
            <p:cNvPr id="38" name="组合 37"/>
            <p:cNvGrpSpPr/>
            <p:nvPr/>
          </p:nvGrpSpPr>
          <p:grpSpPr>
            <a:xfrm>
              <a:off x="4235261" y="2103118"/>
              <a:ext cx="3864782" cy="1143000"/>
              <a:chOff x="4313639" y="2103118"/>
              <a:chExt cx="3864782" cy="1143000"/>
            </a:xfrm>
          </p:grpSpPr>
          <p:sp>
            <p:nvSpPr>
              <p:cNvPr id="40"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1"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2"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39"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 name="Rectangle 5"/>
          <p:cNvSpPr>
            <a:spLocks noChangeArrowheads="1"/>
          </p:cNvSpPr>
          <p:nvPr/>
        </p:nvSpPr>
        <p:spPr bwMode="auto">
          <a:xfrm>
            <a:off x="67085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6"/>
          <p:cNvSpPr>
            <a:spLocks noChangeArrowheads="1"/>
          </p:cNvSpPr>
          <p:nvPr/>
        </p:nvSpPr>
        <p:spPr bwMode="auto">
          <a:xfrm>
            <a:off x="59465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8" name="Rectangle 7"/>
          <p:cNvSpPr>
            <a:spLocks noChangeArrowheads="1"/>
          </p:cNvSpPr>
          <p:nvPr/>
        </p:nvSpPr>
        <p:spPr bwMode="auto">
          <a:xfrm>
            <a:off x="51083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9" name="Rectangle 8"/>
          <p:cNvSpPr>
            <a:spLocks noChangeArrowheads="1"/>
          </p:cNvSpPr>
          <p:nvPr/>
        </p:nvSpPr>
        <p:spPr bwMode="auto">
          <a:xfrm>
            <a:off x="43463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31" name="Line 25"/>
          <p:cNvSpPr>
            <a:spLocks noChangeShapeType="1"/>
          </p:cNvSpPr>
          <p:nvPr/>
        </p:nvSpPr>
        <p:spPr bwMode="auto">
          <a:xfrm flipV="1">
            <a:off x="4279567" y="3147654"/>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Text Box 26"/>
          <p:cNvSpPr txBox="1">
            <a:spLocks noChangeArrowheads="1"/>
          </p:cNvSpPr>
          <p:nvPr/>
        </p:nvSpPr>
        <p:spPr bwMode="auto">
          <a:xfrm>
            <a:off x="4282518" y="3325438"/>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4" name="标题 3">
            <a:extLst>
              <a:ext uri="{FF2B5EF4-FFF2-40B4-BE49-F238E27FC236}">
                <a16:creationId xmlns:a16="http://schemas.microsoft.com/office/drawing/2014/main" id="{6DFDA73C-C3E4-10C7-E297-530F756E8235}"/>
              </a:ext>
            </a:extLst>
          </p:cNvPr>
          <p:cNvSpPr>
            <a:spLocks noGrp="1"/>
          </p:cNvSpPr>
          <p:nvPr>
            <p:ph type="title"/>
          </p:nvPr>
        </p:nvSpPr>
        <p:spPr>
          <a:xfrm>
            <a:off x="486000" y="550723"/>
            <a:ext cx="8172000" cy="338554"/>
          </a:xfrm>
        </p:spPr>
        <p:txBody>
          <a:bodyPr/>
          <a:lstStyle/>
          <a:p>
            <a:r>
              <a:rPr lang="zh-CN" altLang="en-US" dirty="0"/>
              <a:t>严重问题：全局同步</a:t>
            </a:r>
          </a:p>
        </p:txBody>
      </p:sp>
    </p:spTree>
    <p:extLst>
      <p:ext uri="{BB962C8B-B14F-4D97-AF65-F5344CB8AC3E}">
        <p14:creationId xmlns:p14="http://schemas.microsoft.com/office/powerpoint/2010/main" val="14024507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2000" fill="hold"/>
                                        <p:tgtEl>
                                          <p:spTgt spid="6"/>
                                        </p:tgtEl>
                                        <p:attrNameLst>
                                          <p:attrName>ppt_x</p:attrName>
                                        </p:attrNameLst>
                                      </p:cBhvr>
                                      <p:tavLst>
                                        <p:tav tm="0">
                                          <p:val>
                                            <p:strVal val="0-#ppt_w/2"/>
                                          </p:val>
                                        </p:tav>
                                        <p:tav tm="100000">
                                          <p:val>
                                            <p:strVal val="#ppt_x"/>
                                          </p:val>
                                        </p:tav>
                                      </p:tavLst>
                                    </p:anim>
                                    <p:anim calcmode="lin" valueType="num">
                                      <p:cBhvr additive="base">
                                        <p:cTn id="8" dur="20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2000" fill="hold"/>
                                        <p:tgtEl>
                                          <p:spTgt spid="7"/>
                                        </p:tgtEl>
                                        <p:attrNameLst>
                                          <p:attrName>ppt_x</p:attrName>
                                        </p:attrNameLst>
                                      </p:cBhvr>
                                      <p:tavLst>
                                        <p:tav tm="0">
                                          <p:val>
                                            <p:strVal val="0-#ppt_w/2"/>
                                          </p:val>
                                        </p:tav>
                                        <p:tav tm="100000">
                                          <p:val>
                                            <p:strVal val="#ppt_x"/>
                                          </p:val>
                                        </p:tav>
                                      </p:tavLst>
                                    </p:anim>
                                    <p:anim calcmode="lin" valueType="num">
                                      <p:cBhvr additive="base">
                                        <p:cTn id="12" dur="2000" fill="hold"/>
                                        <p:tgtEl>
                                          <p:spTgt spid="7"/>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2000" fill="hold"/>
                                        <p:tgtEl>
                                          <p:spTgt spid="8"/>
                                        </p:tgtEl>
                                        <p:attrNameLst>
                                          <p:attrName>ppt_x</p:attrName>
                                        </p:attrNameLst>
                                      </p:cBhvr>
                                      <p:tavLst>
                                        <p:tav tm="0">
                                          <p:val>
                                            <p:strVal val="0-#ppt_w/2"/>
                                          </p:val>
                                        </p:tav>
                                        <p:tav tm="100000">
                                          <p:val>
                                            <p:strVal val="#ppt_x"/>
                                          </p:val>
                                        </p:tav>
                                      </p:tavLst>
                                    </p:anim>
                                    <p:anim calcmode="lin" valueType="num">
                                      <p:cBhvr additive="base">
                                        <p:cTn id="16" dur="2000" fill="hold"/>
                                        <p:tgtEl>
                                          <p:spTgt spid="8"/>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2000" fill="hold"/>
                                        <p:tgtEl>
                                          <p:spTgt spid="9"/>
                                        </p:tgtEl>
                                        <p:attrNameLst>
                                          <p:attrName>ppt_x</p:attrName>
                                        </p:attrNameLst>
                                      </p:cBhvr>
                                      <p:tavLst>
                                        <p:tav tm="0">
                                          <p:val>
                                            <p:strVal val="0-#ppt_w/2"/>
                                          </p:val>
                                        </p:tav>
                                        <p:tav tm="100000">
                                          <p:val>
                                            <p:strVal val="#ppt_x"/>
                                          </p:val>
                                        </p:tav>
                                      </p:tavLst>
                                    </p:anim>
                                    <p:anim calcmode="lin" valueType="num">
                                      <p:cBhvr additive="base">
                                        <p:cTn id="20" dur="2000" fill="hold"/>
                                        <p:tgtEl>
                                          <p:spTgt spid="9"/>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2000" fill="hold"/>
                                        <p:tgtEl>
                                          <p:spTgt spid="10"/>
                                        </p:tgtEl>
                                        <p:attrNameLst>
                                          <p:attrName>ppt_x</p:attrName>
                                        </p:attrNameLst>
                                      </p:cBhvr>
                                      <p:tavLst>
                                        <p:tav tm="0">
                                          <p:val>
                                            <p:strVal val="0-#ppt_w/2"/>
                                          </p:val>
                                        </p:tav>
                                        <p:tav tm="100000">
                                          <p:val>
                                            <p:strVal val="#ppt_x"/>
                                          </p:val>
                                        </p:tav>
                                      </p:tavLst>
                                    </p:anim>
                                    <p:anim calcmode="lin" valueType="num">
                                      <p:cBhvr additive="base">
                                        <p:cTn id="24" dur="2000" fill="hold"/>
                                        <p:tgtEl>
                                          <p:spTgt spid="10"/>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2000" fill="hold"/>
                                        <p:tgtEl>
                                          <p:spTgt spid="13"/>
                                        </p:tgtEl>
                                        <p:attrNameLst>
                                          <p:attrName>ppt_x</p:attrName>
                                        </p:attrNameLst>
                                      </p:cBhvr>
                                      <p:tavLst>
                                        <p:tav tm="0">
                                          <p:val>
                                            <p:strVal val="0-#ppt_w/2"/>
                                          </p:val>
                                        </p:tav>
                                        <p:tav tm="100000">
                                          <p:val>
                                            <p:strVal val="#ppt_x"/>
                                          </p:val>
                                        </p:tav>
                                      </p:tavLst>
                                    </p:anim>
                                    <p:anim calcmode="lin" valueType="num">
                                      <p:cBhvr additive="base">
                                        <p:cTn id="28" dur="2000" fill="hold"/>
                                        <p:tgtEl>
                                          <p:spTgt spid="13"/>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additive="base">
                                        <p:cTn id="35" dur="2000" fill="hold"/>
                                        <p:tgtEl>
                                          <p:spTgt spid="14"/>
                                        </p:tgtEl>
                                        <p:attrNameLst>
                                          <p:attrName>ppt_x</p:attrName>
                                        </p:attrNameLst>
                                      </p:cBhvr>
                                      <p:tavLst>
                                        <p:tav tm="0">
                                          <p:val>
                                            <p:strVal val="0-#ppt_w/2"/>
                                          </p:val>
                                        </p:tav>
                                        <p:tav tm="100000">
                                          <p:val>
                                            <p:strVal val="#ppt_x"/>
                                          </p:val>
                                        </p:tav>
                                      </p:tavLst>
                                    </p:anim>
                                    <p:anim calcmode="lin" valueType="num">
                                      <p:cBhvr additive="base">
                                        <p:cTn id="36" dur="2000" fill="hold"/>
                                        <p:tgtEl>
                                          <p:spTgt spid="14"/>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2000" fill="hold"/>
                                        <p:tgtEl>
                                          <p:spTgt spid="12"/>
                                        </p:tgtEl>
                                        <p:attrNameLst>
                                          <p:attrName>ppt_x</p:attrName>
                                        </p:attrNameLst>
                                      </p:cBhvr>
                                      <p:tavLst>
                                        <p:tav tm="0">
                                          <p:val>
                                            <p:strVal val="0-#ppt_w/2"/>
                                          </p:val>
                                        </p:tav>
                                        <p:tav tm="100000">
                                          <p:val>
                                            <p:strVal val="#ppt_x"/>
                                          </p:val>
                                        </p:tav>
                                      </p:tavLst>
                                    </p:anim>
                                    <p:anim calcmode="lin" valueType="num">
                                      <p:cBhvr additive="base">
                                        <p:cTn id="40" dur="2000" fill="hold"/>
                                        <p:tgtEl>
                                          <p:spTgt spid="12"/>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2000" fill="hold"/>
                                        <p:tgtEl>
                                          <p:spTgt spid="15"/>
                                        </p:tgtEl>
                                        <p:attrNameLst>
                                          <p:attrName>ppt_x</p:attrName>
                                        </p:attrNameLst>
                                      </p:cBhvr>
                                      <p:tavLst>
                                        <p:tav tm="0">
                                          <p:val>
                                            <p:strVal val="0-#ppt_w/2"/>
                                          </p:val>
                                        </p:tav>
                                        <p:tav tm="100000">
                                          <p:val>
                                            <p:strVal val="#ppt_x"/>
                                          </p:val>
                                        </p:tav>
                                      </p:tavLst>
                                    </p:anim>
                                    <p:anim calcmode="lin" valueType="num">
                                      <p:cBhvr additive="base">
                                        <p:cTn id="44" dur="2000" fill="hold"/>
                                        <p:tgtEl>
                                          <p:spTgt spid="15"/>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 calcmode="lin" valueType="num">
                                      <p:cBhvr additive="base">
                                        <p:cTn id="47" dur="2000" fill="hold"/>
                                        <p:tgtEl>
                                          <p:spTgt spid="25"/>
                                        </p:tgtEl>
                                        <p:attrNameLst>
                                          <p:attrName>ppt_x</p:attrName>
                                        </p:attrNameLst>
                                      </p:cBhvr>
                                      <p:tavLst>
                                        <p:tav tm="0">
                                          <p:val>
                                            <p:strVal val="0-#ppt_w/2"/>
                                          </p:val>
                                        </p:tav>
                                        <p:tav tm="100000">
                                          <p:val>
                                            <p:strVal val="#ppt_x"/>
                                          </p:val>
                                        </p:tav>
                                      </p:tavLst>
                                    </p:anim>
                                    <p:anim calcmode="lin" valueType="num">
                                      <p:cBhvr additive="base">
                                        <p:cTn id="48" dur="2000" fill="hold"/>
                                        <p:tgtEl>
                                          <p:spTgt spid="25"/>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 calcmode="lin" valueType="num">
                                      <p:cBhvr additive="base">
                                        <p:cTn id="51" dur="2000" fill="hold"/>
                                        <p:tgtEl>
                                          <p:spTgt spid="23"/>
                                        </p:tgtEl>
                                        <p:attrNameLst>
                                          <p:attrName>ppt_x</p:attrName>
                                        </p:attrNameLst>
                                      </p:cBhvr>
                                      <p:tavLst>
                                        <p:tav tm="0">
                                          <p:val>
                                            <p:strVal val="0-#ppt_w/2"/>
                                          </p:val>
                                        </p:tav>
                                        <p:tav tm="100000">
                                          <p:val>
                                            <p:strVal val="#ppt_x"/>
                                          </p:val>
                                        </p:tav>
                                      </p:tavLst>
                                    </p:anim>
                                    <p:anim calcmode="lin" valueType="num">
                                      <p:cBhvr additive="base">
                                        <p:cTn id="52" dur="2000" fill="hold"/>
                                        <p:tgtEl>
                                          <p:spTgt spid="2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 calcmode="lin" valueType="num">
                                      <p:cBhvr additive="base">
                                        <p:cTn id="55" dur="2000" fill="hold"/>
                                        <p:tgtEl>
                                          <p:spTgt spid="24"/>
                                        </p:tgtEl>
                                        <p:attrNameLst>
                                          <p:attrName>ppt_x</p:attrName>
                                        </p:attrNameLst>
                                      </p:cBhvr>
                                      <p:tavLst>
                                        <p:tav tm="0">
                                          <p:val>
                                            <p:strVal val="0-#ppt_w/2"/>
                                          </p:val>
                                        </p:tav>
                                        <p:tav tm="100000">
                                          <p:val>
                                            <p:strVal val="#ppt_x"/>
                                          </p:val>
                                        </p:tav>
                                      </p:tavLst>
                                    </p:anim>
                                    <p:anim calcmode="lin" valueType="num">
                                      <p:cBhvr additive="base">
                                        <p:cTn id="56" dur="2000" fill="hold"/>
                                        <p:tgtEl>
                                          <p:spTgt spid="24"/>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 calcmode="lin" valueType="num">
                                      <p:cBhvr additive="base">
                                        <p:cTn id="59" dur="2000" fill="hold"/>
                                        <p:tgtEl>
                                          <p:spTgt spid="26"/>
                                        </p:tgtEl>
                                        <p:attrNameLst>
                                          <p:attrName>ppt_x</p:attrName>
                                        </p:attrNameLst>
                                      </p:cBhvr>
                                      <p:tavLst>
                                        <p:tav tm="0">
                                          <p:val>
                                            <p:strVal val="0-#ppt_w/2"/>
                                          </p:val>
                                        </p:tav>
                                        <p:tav tm="100000">
                                          <p:val>
                                            <p:strVal val="#ppt_x"/>
                                          </p:val>
                                        </p:tav>
                                      </p:tavLst>
                                    </p:anim>
                                    <p:anim calcmode="lin" valueType="num">
                                      <p:cBhvr additive="base">
                                        <p:cTn id="60" dur="2000" fill="hold"/>
                                        <p:tgtEl>
                                          <p:spTgt spid="26"/>
                                        </p:tgtEl>
                                        <p:attrNameLst>
                                          <p:attrName>ppt_y</p:attrName>
                                        </p:attrNameLst>
                                      </p:cBhvr>
                                      <p:tavLst>
                                        <p:tav tm="0">
                                          <p:val>
                                            <p:strVal val="#ppt_y"/>
                                          </p:val>
                                        </p:tav>
                                        <p:tav tm="100000">
                                          <p:val>
                                            <p:strVal val="#ppt_y"/>
                                          </p:val>
                                        </p:tav>
                                      </p:tavLst>
                                    </p:anim>
                                  </p:childTnLst>
                                </p:cTn>
                              </p:par>
                            </p:childTnLst>
                          </p:cTn>
                        </p:par>
                        <p:par>
                          <p:cTn id="61" fill="hold">
                            <p:stCondLst>
                              <p:cond delay="2000"/>
                            </p:stCondLst>
                            <p:childTnLst>
                              <p:par>
                                <p:cTn id="62" presetID="2" presetClass="exit" presetSubtype="4" fill="hold" grpId="1" nodeType="afterEffect">
                                  <p:stCondLst>
                                    <p:cond delay="1000"/>
                                  </p:stCondLst>
                                  <p:childTnLst>
                                    <p:anim calcmode="lin" valueType="num">
                                      <p:cBhvr additive="base">
                                        <p:cTn id="63" dur="2000"/>
                                        <p:tgtEl>
                                          <p:spTgt spid="10"/>
                                        </p:tgtEl>
                                        <p:attrNameLst>
                                          <p:attrName>ppt_x</p:attrName>
                                        </p:attrNameLst>
                                      </p:cBhvr>
                                      <p:tavLst>
                                        <p:tav tm="0">
                                          <p:val>
                                            <p:strVal val="ppt_x"/>
                                          </p:val>
                                        </p:tav>
                                        <p:tav tm="100000">
                                          <p:val>
                                            <p:strVal val="ppt_x"/>
                                          </p:val>
                                        </p:tav>
                                      </p:tavLst>
                                    </p:anim>
                                    <p:anim calcmode="lin" valueType="num">
                                      <p:cBhvr additive="base">
                                        <p:cTn id="64" dur="2000"/>
                                        <p:tgtEl>
                                          <p:spTgt spid="10"/>
                                        </p:tgtEl>
                                        <p:attrNameLst>
                                          <p:attrName>ppt_y</p:attrName>
                                        </p:attrNameLst>
                                      </p:cBhvr>
                                      <p:tavLst>
                                        <p:tav tm="0">
                                          <p:val>
                                            <p:strVal val="ppt_y"/>
                                          </p:val>
                                        </p:tav>
                                        <p:tav tm="100000">
                                          <p:val>
                                            <p:strVal val="1+ppt_h/2"/>
                                          </p:val>
                                        </p:tav>
                                      </p:tavLst>
                                    </p:anim>
                                    <p:set>
                                      <p:cBhvr>
                                        <p:cTn id="65" dur="1" fill="hold">
                                          <p:stCondLst>
                                            <p:cond delay="1999"/>
                                          </p:stCondLst>
                                        </p:cTn>
                                        <p:tgtEl>
                                          <p:spTgt spid="10"/>
                                        </p:tgtEl>
                                        <p:attrNameLst>
                                          <p:attrName>style.visibility</p:attrName>
                                        </p:attrNameLst>
                                      </p:cBhvr>
                                      <p:to>
                                        <p:strVal val="hidden"/>
                                      </p:to>
                                    </p:set>
                                  </p:childTnLst>
                                </p:cTn>
                              </p:par>
                              <p:par>
                                <p:cTn id="66" presetID="2" presetClass="exit" presetSubtype="4" fill="hold" grpId="1" nodeType="withEffect">
                                  <p:stCondLst>
                                    <p:cond delay="1000"/>
                                  </p:stCondLst>
                                  <p:childTnLst>
                                    <p:anim calcmode="lin" valueType="num">
                                      <p:cBhvr additive="base">
                                        <p:cTn id="67" dur="2000"/>
                                        <p:tgtEl>
                                          <p:spTgt spid="13"/>
                                        </p:tgtEl>
                                        <p:attrNameLst>
                                          <p:attrName>ppt_x</p:attrName>
                                        </p:attrNameLst>
                                      </p:cBhvr>
                                      <p:tavLst>
                                        <p:tav tm="0">
                                          <p:val>
                                            <p:strVal val="ppt_x"/>
                                          </p:val>
                                        </p:tav>
                                        <p:tav tm="100000">
                                          <p:val>
                                            <p:strVal val="ppt_x"/>
                                          </p:val>
                                        </p:tav>
                                      </p:tavLst>
                                    </p:anim>
                                    <p:anim calcmode="lin" valueType="num">
                                      <p:cBhvr additive="base">
                                        <p:cTn id="68" dur="2000"/>
                                        <p:tgtEl>
                                          <p:spTgt spid="13"/>
                                        </p:tgtEl>
                                        <p:attrNameLst>
                                          <p:attrName>ppt_y</p:attrName>
                                        </p:attrNameLst>
                                      </p:cBhvr>
                                      <p:tavLst>
                                        <p:tav tm="0">
                                          <p:val>
                                            <p:strVal val="ppt_y"/>
                                          </p:val>
                                        </p:tav>
                                        <p:tav tm="100000">
                                          <p:val>
                                            <p:strVal val="1+ppt_h/2"/>
                                          </p:val>
                                        </p:tav>
                                      </p:tavLst>
                                    </p:anim>
                                    <p:set>
                                      <p:cBhvr>
                                        <p:cTn id="69" dur="1" fill="hold">
                                          <p:stCondLst>
                                            <p:cond delay="1999"/>
                                          </p:stCondLst>
                                        </p:cTn>
                                        <p:tgtEl>
                                          <p:spTgt spid="13"/>
                                        </p:tgtEl>
                                        <p:attrNameLst>
                                          <p:attrName>style.visibility</p:attrName>
                                        </p:attrNameLst>
                                      </p:cBhvr>
                                      <p:to>
                                        <p:strVal val="hidden"/>
                                      </p:to>
                                    </p:set>
                                  </p:childTnLst>
                                </p:cTn>
                              </p:par>
                              <p:par>
                                <p:cTn id="70" presetID="2" presetClass="exit" presetSubtype="4" fill="hold" grpId="1" nodeType="withEffect">
                                  <p:stCondLst>
                                    <p:cond delay="1000"/>
                                  </p:stCondLst>
                                  <p:childTnLst>
                                    <p:anim calcmode="lin" valueType="num">
                                      <p:cBhvr additive="base">
                                        <p:cTn id="71" dur="2000"/>
                                        <p:tgtEl>
                                          <p:spTgt spid="11"/>
                                        </p:tgtEl>
                                        <p:attrNameLst>
                                          <p:attrName>ppt_x</p:attrName>
                                        </p:attrNameLst>
                                      </p:cBhvr>
                                      <p:tavLst>
                                        <p:tav tm="0">
                                          <p:val>
                                            <p:strVal val="ppt_x"/>
                                          </p:val>
                                        </p:tav>
                                        <p:tav tm="100000">
                                          <p:val>
                                            <p:strVal val="ppt_x"/>
                                          </p:val>
                                        </p:tav>
                                      </p:tavLst>
                                    </p:anim>
                                    <p:anim calcmode="lin" valueType="num">
                                      <p:cBhvr additive="base">
                                        <p:cTn id="72" dur="2000"/>
                                        <p:tgtEl>
                                          <p:spTgt spid="11"/>
                                        </p:tgtEl>
                                        <p:attrNameLst>
                                          <p:attrName>ppt_y</p:attrName>
                                        </p:attrNameLst>
                                      </p:cBhvr>
                                      <p:tavLst>
                                        <p:tav tm="0">
                                          <p:val>
                                            <p:strVal val="ppt_y"/>
                                          </p:val>
                                        </p:tav>
                                        <p:tav tm="100000">
                                          <p:val>
                                            <p:strVal val="1+ppt_h/2"/>
                                          </p:val>
                                        </p:tav>
                                      </p:tavLst>
                                    </p:anim>
                                    <p:set>
                                      <p:cBhvr>
                                        <p:cTn id="73" dur="1" fill="hold">
                                          <p:stCondLst>
                                            <p:cond delay="1999"/>
                                          </p:stCondLst>
                                        </p:cTn>
                                        <p:tgtEl>
                                          <p:spTgt spid="11"/>
                                        </p:tgtEl>
                                        <p:attrNameLst>
                                          <p:attrName>style.visibility</p:attrName>
                                        </p:attrNameLst>
                                      </p:cBhvr>
                                      <p:to>
                                        <p:strVal val="hidden"/>
                                      </p:to>
                                    </p:set>
                                  </p:childTnLst>
                                </p:cTn>
                              </p:par>
                              <p:par>
                                <p:cTn id="74" presetID="2" presetClass="exit" presetSubtype="4" fill="hold" grpId="1" nodeType="withEffect">
                                  <p:stCondLst>
                                    <p:cond delay="1000"/>
                                  </p:stCondLst>
                                  <p:childTnLst>
                                    <p:anim calcmode="lin" valueType="num">
                                      <p:cBhvr additive="base">
                                        <p:cTn id="75" dur="2000"/>
                                        <p:tgtEl>
                                          <p:spTgt spid="14"/>
                                        </p:tgtEl>
                                        <p:attrNameLst>
                                          <p:attrName>ppt_x</p:attrName>
                                        </p:attrNameLst>
                                      </p:cBhvr>
                                      <p:tavLst>
                                        <p:tav tm="0">
                                          <p:val>
                                            <p:strVal val="ppt_x"/>
                                          </p:val>
                                        </p:tav>
                                        <p:tav tm="100000">
                                          <p:val>
                                            <p:strVal val="ppt_x"/>
                                          </p:val>
                                        </p:tav>
                                      </p:tavLst>
                                    </p:anim>
                                    <p:anim calcmode="lin" valueType="num">
                                      <p:cBhvr additive="base">
                                        <p:cTn id="76" dur="2000"/>
                                        <p:tgtEl>
                                          <p:spTgt spid="14"/>
                                        </p:tgtEl>
                                        <p:attrNameLst>
                                          <p:attrName>ppt_y</p:attrName>
                                        </p:attrNameLst>
                                      </p:cBhvr>
                                      <p:tavLst>
                                        <p:tav tm="0">
                                          <p:val>
                                            <p:strVal val="ppt_y"/>
                                          </p:val>
                                        </p:tav>
                                        <p:tav tm="100000">
                                          <p:val>
                                            <p:strVal val="1+ppt_h/2"/>
                                          </p:val>
                                        </p:tav>
                                      </p:tavLst>
                                    </p:anim>
                                    <p:set>
                                      <p:cBhvr>
                                        <p:cTn id="77" dur="1" fill="hold">
                                          <p:stCondLst>
                                            <p:cond delay="1999"/>
                                          </p:stCondLst>
                                        </p:cTn>
                                        <p:tgtEl>
                                          <p:spTgt spid="14"/>
                                        </p:tgtEl>
                                        <p:attrNameLst>
                                          <p:attrName>style.visibility</p:attrName>
                                        </p:attrNameLst>
                                      </p:cBhvr>
                                      <p:to>
                                        <p:strVal val="hidden"/>
                                      </p:to>
                                    </p:set>
                                  </p:childTnLst>
                                </p:cTn>
                              </p:par>
                              <p:par>
                                <p:cTn id="78" presetID="2" presetClass="exit" presetSubtype="4" fill="hold" grpId="1" nodeType="withEffect">
                                  <p:stCondLst>
                                    <p:cond delay="1000"/>
                                  </p:stCondLst>
                                  <p:childTnLst>
                                    <p:anim calcmode="lin" valueType="num">
                                      <p:cBhvr additive="base">
                                        <p:cTn id="79" dur="2000"/>
                                        <p:tgtEl>
                                          <p:spTgt spid="12"/>
                                        </p:tgtEl>
                                        <p:attrNameLst>
                                          <p:attrName>ppt_x</p:attrName>
                                        </p:attrNameLst>
                                      </p:cBhvr>
                                      <p:tavLst>
                                        <p:tav tm="0">
                                          <p:val>
                                            <p:strVal val="ppt_x"/>
                                          </p:val>
                                        </p:tav>
                                        <p:tav tm="100000">
                                          <p:val>
                                            <p:strVal val="ppt_x"/>
                                          </p:val>
                                        </p:tav>
                                      </p:tavLst>
                                    </p:anim>
                                    <p:anim calcmode="lin" valueType="num">
                                      <p:cBhvr additive="base">
                                        <p:cTn id="80" dur="2000"/>
                                        <p:tgtEl>
                                          <p:spTgt spid="12"/>
                                        </p:tgtEl>
                                        <p:attrNameLst>
                                          <p:attrName>ppt_y</p:attrName>
                                        </p:attrNameLst>
                                      </p:cBhvr>
                                      <p:tavLst>
                                        <p:tav tm="0">
                                          <p:val>
                                            <p:strVal val="ppt_y"/>
                                          </p:val>
                                        </p:tav>
                                        <p:tav tm="100000">
                                          <p:val>
                                            <p:strVal val="1+ppt_h/2"/>
                                          </p:val>
                                        </p:tav>
                                      </p:tavLst>
                                    </p:anim>
                                    <p:set>
                                      <p:cBhvr>
                                        <p:cTn id="81" dur="1" fill="hold">
                                          <p:stCondLst>
                                            <p:cond delay="1999"/>
                                          </p:stCondLst>
                                        </p:cTn>
                                        <p:tgtEl>
                                          <p:spTgt spid="12"/>
                                        </p:tgtEl>
                                        <p:attrNameLst>
                                          <p:attrName>style.visibility</p:attrName>
                                        </p:attrNameLst>
                                      </p:cBhvr>
                                      <p:to>
                                        <p:strVal val="hidden"/>
                                      </p:to>
                                    </p:set>
                                  </p:childTnLst>
                                </p:cTn>
                              </p:par>
                              <p:par>
                                <p:cTn id="82" presetID="2" presetClass="exit" presetSubtype="4" fill="hold" grpId="1" nodeType="withEffect">
                                  <p:stCondLst>
                                    <p:cond delay="1000"/>
                                  </p:stCondLst>
                                  <p:childTnLst>
                                    <p:anim calcmode="lin" valueType="num">
                                      <p:cBhvr additive="base">
                                        <p:cTn id="83" dur="2000"/>
                                        <p:tgtEl>
                                          <p:spTgt spid="15"/>
                                        </p:tgtEl>
                                        <p:attrNameLst>
                                          <p:attrName>ppt_x</p:attrName>
                                        </p:attrNameLst>
                                      </p:cBhvr>
                                      <p:tavLst>
                                        <p:tav tm="0">
                                          <p:val>
                                            <p:strVal val="ppt_x"/>
                                          </p:val>
                                        </p:tav>
                                        <p:tav tm="100000">
                                          <p:val>
                                            <p:strVal val="ppt_x"/>
                                          </p:val>
                                        </p:tav>
                                      </p:tavLst>
                                    </p:anim>
                                    <p:anim calcmode="lin" valueType="num">
                                      <p:cBhvr additive="base">
                                        <p:cTn id="84" dur="2000"/>
                                        <p:tgtEl>
                                          <p:spTgt spid="15"/>
                                        </p:tgtEl>
                                        <p:attrNameLst>
                                          <p:attrName>ppt_y</p:attrName>
                                        </p:attrNameLst>
                                      </p:cBhvr>
                                      <p:tavLst>
                                        <p:tav tm="0">
                                          <p:val>
                                            <p:strVal val="ppt_y"/>
                                          </p:val>
                                        </p:tav>
                                        <p:tav tm="100000">
                                          <p:val>
                                            <p:strVal val="1+ppt_h/2"/>
                                          </p:val>
                                        </p:tav>
                                      </p:tavLst>
                                    </p:anim>
                                    <p:set>
                                      <p:cBhvr>
                                        <p:cTn id="85" dur="1" fill="hold">
                                          <p:stCondLst>
                                            <p:cond delay="1999"/>
                                          </p:stCondLst>
                                        </p:cTn>
                                        <p:tgtEl>
                                          <p:spTgt spid="15"/>
                                        </p:tgtEl>
                                        <p:attrNameLst>
                                          <p:attrName>style.visibility</p:attrName>
                                        </p:attrNameLst>
                                      </p:cBhvr>
                                      <p:to>
                                        <p:strVal val="hidden"/>
                                      </p:to>
                                    </p:set>
                                  </p:childTnLst>
                                </p:cTn>
                              </p:par>
                              <p:par>
                                <p:cTn id="86" presetID="2" presetClass="exit" presetSubtype="4" fill="hold" grpId="1" nodeType="withEffect">
                                  <p:stCondLst>
                                    <p:cond delay="1000"/>
                                  </p:stCondLst>
                                  <p:childTnLst>
                                    <p:anim calcmode="lin" valueType="num">
                                      <p:cBhvr additive="base">
                                        <p:cTn id="87" dur="2000"/>
                                        <p:tgtEl>
                                          <p:spTgt spid="25"/>
                                        </p:tgtEl>
                                        <p:attrNameLst>
                                          <p:attrName>ppt_x</p:attrName>
                                        </p:attrNameLst>
                                      </p:cBhvr>
                                      <p:tavLst>
                                        <p:tav tm="0">
                                          <p:val>
                                            <p:strVal val="ppt_x"/>
                                          </p:val>
                                        </p:tav>
                                        <p:tav tm="100000">
                                          <p:val>
                                            <p:strVal val="ppt_x"/>
                                          </p:val>
                                        </p:tav>
                                      </p:tavLst>
                                    </p:anim>
                                    <p:anim calcmode="lin" valueType="num">
                                      <p:cBhvr additive="base">
                                        <p:cTn id="88" dur="2000"/>
                                        <p:tgtEl>
                                          <p:spTgt spid="25"/>
                                        </p:tgtEl>
                                        <p:attrNameLst>
                                          <p:attrName>ppt_y</p:attrName>
                                        </p:attrNameLst>
                                      </p:cBhvr>
                                      <p:tavLst>
                                        <p:tav tm="0">
                                          <p:val>
                                            <p:strVal val="ppt_y"/>
                                          </p:val>
                                        </p:tav>
                                        <p:tav tm="100000">
                                          <p:val>
                                            <p:strVal val="1+ppt_h/2"/>
                                          </p:val>
                                        </p:tav>
                                      </p:tavLst>
                                    </p:anim>
                                    <p:set>
                                      <p:cBhvr>
                                        <p:cTn id="89" dur="1" fill="hold">
                                          <p:stCondLst>
                                            <p:cond delay="1999"/>
                                          </p:stCondLst>
                                        </p:cTn>
                                        <p:tgtEl>
                                          <p:spTgt spid="25"/>
                                        </p:tgtEl>
                                        <p:attrNameLst>
                                          <p:attrName>style.visibility</p:attrName>
                                        </p:attrNameLst>
                                      </p:cBhvr>
                                      <p:to>
                                        <p:strVal val="hidden"/>
                                      </p:to>
                                    </p:set>
                                  </p:childTnLst>
                                </p:cTn>
                              </p:par>
                              <p:par>
                                <p:cTn id="90" presetID="2" presetClass="exit" presetSubtype="4" fill="hold" grpId="1" nodeType="withEffect">
                                  <p:stCondLst>
                                    <p:cond delay="1000"/>
                                  </p:stCondLst>
                                  <p:childTnLst>
                                    <p:anim calcmode="lin" valueType="num">
                                      <p:cBhvr additive="base">
                                        <p:cTn id="91" dur="2000"/>
                                        <p:tgtEl>
                                          <p:spTgt spid="23"/>
                                        </p:tgtEl>
                                        <p:attrNameLst>
                                          <p:attrName>ppt_x</p:attrName>
                                        </p:attrNameLst>
                                      </p:cBhvr>
                                      <p:tavLst>
                                        <p:tav tm="0">
                                          <p:val>
                                            <p:strVal val="ppt_x"/>
                                          </p:val>
                                        </p:tav>
                                        <p:tav tm="100000">
                                          <p:val>
                                            <p:strVal val="ppt_x"/>
                                          </p:val>
                                        </p:tav>
                                      </p:tavLst>
                                    </p:anim>
                                    <p:anim calcmode="lin" valueType="num">
                                      <p:cBhvr additive="base">
                                        <p:cTn id="92" dur="2000"/>
                                        <p:tgtEl>
                                          <p:spTgt spid="23"/>
                                        </p:tgtEl>
                                        <p:attrNameLst>
                                          <p:attrName>ppt_y</p:attrName>
                                        </p:attrNameLst>
                                      </p:cBhvr>
                                      <p:tavLst>
                                        <p:tav tm="0">
                                          <p:val>
                                            <p:strVal val="ppt_y"/>
                                          </p:val>
                                        </p:tav>
                                        <p:tav tm="100000">
                                          <p:val>
                                            <p:strVal val="1+ppt_h/2"/>
                                          </p:val>
                                        </p:tav>
                                      </p:tavLst>
                                    </p:anim>
                                    <p:set>
                                      <p:cBhvr>
                                        <p:cTn id="93" dur="1" fill="hold">
                                          <p:stCondLst>
                                            <p:cond delay="1999"/>
                                          </p:stCondLst>
                                        </p:cTn>
                                        <p:tgtEl>
                                          <p:spTgt spid="23"/>
                                        </p:tgtEl>
                                        <p:attrNameLst>
                                          <p:attrName>style.visibility</p:attrName>
                                        </p:attrNameLst>
                                      </p:cBhvr>
                                      <p:to>
                                        <p:strVal val="hidden"/>
                                      </p:to>
                                    </p:set>
                                  </p:childTnLst>
                                </p:cTn>
                              </p:par>
                              <p:par>
                                <p:cTn id="94" presetID="2" presetClass="exit" presetSubtype="4" fill="hold" grpId="1" nodeType="withEffect">
                                  <p:stCondLst>
                                    <p:cond delay="1000"/>
                                  </p:stCondLst>
                                  <p:childTnLst>
                                    <p:anim calcmode="lin" valueType="num">
                                      <p:cBhvr additive="base">
                                        <p:cTn id="95" dur="2000"/>
                                        <p:tgtEl>
                                          <p:spTgt spid="24"/>
                                        </p:tgtEl>
                                        <p:attrNameLst>
                                          <p:attrName>ppt_x</p:attrName>
                                        </p:attrNameLst>
                                      </p:cBhvr>
                                      <p:tavLst>
                                        <p:tav tm="0">
                                          <p:val>
                                            <p:strVal val="ppt_x"/>
                                          </p:val>
                                        </p:tav>
                                        <p:tav tm="100000">
                                          <p:val>
                                            <p:strVal val="ppt_x"/>
                                          </p:val>
                                        </p:tav>
                                      </p:tavLst>
                                    </p:anim>
                                    <p:anim calcmode="lin" valueType="num">
                                      <p:cBhvr additive="base">
                                        <p:cTn id="96" dur="2000"/>
                                        <p:tgtEl>
                                          <p:spTgt spid="24"/>
                                        </p:tgtEl>
                                        <p:attrNameLst>
                                          <p:attrName>ppt_y</p:attrName>
                                        </p:attrNameLst>
                                      </p:cBhvr>
                                      <p:tavLst>
                                        <p:tav tm="0">
                                          <p:val>
                                            <p:strVal val="ppt_y"/>
                                          </p:val>
                                        </p:tav>
                                        <p:tav tm="100000">
                                          <p:val>
                                            <p:strVal val="1+ppt_h/2"/>
                                          </p:val>
                                        </p:tav>
                                      </p:tavLst>
                                    </p:anim>
                                    <p:set>
                                      <p:cBhvr>
                                        <p:cTn id="97" dur="1" fill="hold">
                                          <p:stCondLst>
                                            <p:cond delay="1999"/>
                                          </p:stCondLst>
                                        </p:cTn>
                                        <p:tgtEl>
                                          <p:spTgt spid="24"/>
                                        </p:tgtEl>
                                        <p:attrNameLst>
                                          <p:attrName>style.visibility</p:attrName>
                                        </p:attrNameLst>
                                      </p:cBhvr>
                                      <p:to>
                                        <p:strVal val="hidden"/>
                                      </p:to>
                                    </p:set>
                                  </p:childTnLst>
                                </p:cTn>
                              </p:par>
                              <p:par>
                                <p:cTn id="98" presetID="2" presetClass="exit" presetSubtype="4" fill="hold" grpId="1" nodeType="withEffect">
                                  <p:stCondLst>
                                    <p:cond delay="1000"/>
                                  </p:stCondLst>
                                  <p:childTnLst>
                                    <p:anim calcmode="lin" valueType="num">
                                      <p:cBhvr additive="base">
                                        <p:cTn id="99" dur="2000"/>
                                        <p:tgtEl>
                                          <p:spTgt spid="26"/>
                                        </p:tgtEl>
                                        <p:attrNameLst>
                                          <p:attrName>ppt_x</p:attrName>
                                        </p:attrNameLst>
                                      </p:cBhvr>
                                      <p:tavLst>
                                        <p:tav tm="0">
                                          <p:val>
                                            <p:strVal val="ppt_x"/>
                                          </p:val>
                                        </p:tav>
                                        <p:tav tm="100000">
                                          <p:val>
                                            <p:strVal val="ppt_x"/>
                                          </p:val>
                                        </p:tav>
                                      </p:tavLst>
                                    </p:anim>
                                    <p:anim calcmode="lin" valueType="num">
                                      <p:cBhvr additive="base">
                                        <p:cTn id="100" dur="2000"/>
                                        <p:tgtEl>
                                          <p:spTgt spid="26"/>
                                        </p:tgtEl>
                                        <p:attrNameLst>
                                          <p:attrName>ppt_y</p:attrName>
                                        </p:attrNameLst>
                                      </p:cBhvr>
                                      <p:tavLst>
                                        <p:tav tm="0">
                                          <p:val>
                                            <p:strVal val="ppt_y"/>
                                          </p:val>
                                        </p:tav>
                                        <p:tav tm="100000">
                                          <p:val>
                                            <p:strVal val="1+ppt_h/2"/>
                                          </p:val>
                                        </p:tav>
                                      </p:tavLst>
                                    </p:anim>
                                    <p:set>
                                      <p:cBhvr>
                                        <p:cTn id="101" dur="1" fill="hold">
                                          <p:stCondLst>
                                            <p:cond delay="19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23" grpId="0" animBg="1"/>
      <p:bldP spid="23" grpId="1" animBg="1"/>
      <p:bldP spid="24" grpId="0" animBg="1"/>
      <p:bldP spid="24" grpId="1" animBg="1"/>
      <p:bldP spid="25" grpId="0" animBg="1"/>
      <p:bldP spid="25" grpId="1" animBg="1"/>
      <p:bldP spid="26" grpId="0" animBg="1"/>
      <p:bldP spid="26" grpId="1" animBg="1"/>
      <p:bldP spid="6" grpId="0" animBg="1"/>
      <p:bldP spid="7" grpId="0" animBg="1"/>
      <p:bldP spid="8" grpId="0" animBg="1"/>
      <p:bldP spid="9" grpId="0" animBg="1"/>
    </p:bldLst>
  </p:timing>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212560" y="1098905"/>
            <a:ext cx="6777445"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分组丢弃使发送方出现超时重传，使多个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r>
              <a:rPr lang="zh-CN" altLang="en-US" sz="1600" b="1" dirty="0">
                <a:solidFill>
                  <a:srgbClr val="FFC000"/>
                </a:solidFill>
                <a:latin typeface="微软雅黑" pitchFamily="34" charset="-122"/>
                <a:ea typeface="微软雅黑" pitchFamily="34" charset="-122"/>
              </a:rPr>
              <a:t>同时</a:t>
            </a:r>
            <a:r>
              <a:rPr lang="zh-CN" altLang="en-US" sz="1600" b="1" dirty="0">
                <a:solidFill>
                  <a:schemeClr val="bg1"/>
                </a:solidFill>
                <a:latin typeface="微软雅黑" pitchFamily="34" charset="-122"/>
                <a:ea typeface="微软雅黑" pitchFamily="34" charset="-122"/>
              </a:rPr>
              <a:t>进入慢开始状态，</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发生</a:t>
            </a:r>
            <a:r>
              <a:rPr lang="zh-CN" altLang="en-US" sz="1600" b="1" dirty="0">
                <a:solidFill>
                  <a:srgbClr val="FFC000"/>
                </a:solidFill>
                <a:latin typeface="微软雅黑" pitchFamily="34" charset="-122"/>
                <a:ea typeface="微软雅黑" pitchFamily="34" charset="-122"/>
              </a:rPr>
              <a:t>全局同步 </a:t>
            </a:r>
            <a:r>
              <a:rPr lang="en-US" altLang="zh-CN" sz="1600" b="1" dirty="0">
                <a:solidFill>
                  <a:schemeClr val="bg1"/>
                </a:solidFill>
                <a:latin typeface="微软雅黑" pitchFamily="34" charset="-122"/>
                <a:ea typeface="微软雅黑" pitchFamily="34" charset="-122"/>
              </a:rPr>
              <a:t>(global </a:t>
            </a:r>
            <a:r>
              <a:rPr lang="en-US" altLang="zh-CN" sz="1600" b="1" dirty="0" err="1">
                <a:solidFill>
                  <a:schemeClr val="bg1"/>
                </a:solidFill>
                <a:latin typeface="微软雅黑" pitchFamily="34" charset="-122"/>
                <a:ea typeface="微软雅黑" pitchFamily="34" charset="-122"/>
              </a:rPr>
              <a:t>syncronization</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p:txBody>
      </p:sp>
      <p:sp>
        <p:nvSpPr>
          <p:cNvPr id="70" name="Line 6"/>
          <p:cNvSpPr>
            <a:spLocks noChangeShapeType="1"/>
          </p:cNvSpPr>
          <p:nvPr/>
        </p:nvSpPr>
        <p:spPr bwMode="auto">
          <a:xfrm>
            <a:off x="2286000" y="4182000"/>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6580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251345"/>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4023250"/>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6" name="Line 12"/>
          <p:cNvSpPr>
            <a:spLocks noChangeShapeType="1"/>
          </p:cNvSpPr>
          <p:nvPr/>
        </p:nvSpPr>
        <p:spPr bwMode="auto">
          <a:xfrm>
            <a:off x="2286000" y="39407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4" name="组合 3"/>
          <p:cNvGrpSpPr/>
          <p:nvPr/>
        </p:nvGrpSpPr>
        <p:grpSpPr>
          <a:xfrm>
            <a:off x="2286000" y="2658000"/>
            <a:ext cx="3659188" cy="1295400"/>
            <a:chOff x="2286000" y="2511834"/>
            <a:chExt cx="3659188" cy="1295400"/>
          </a:xfrm>
        </p:grpSpPr>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83" name="Text Box 19"/>
          <p:cNvSpPr txBox="1">
            <a:spLocks noChangeArrowheads="1"/>
          </p:cNvSpPr>
          <p:nvPr/>
        </p:nvSpPr>
        <p:spPr bwMode="auto">
          <a:xfrm>
            <a:off x="6881884" y="2515790"/>
            <a:ext cx="105155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794785"/>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480585"/>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794785"/>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794785"/>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480585"/>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314171"/>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314172"/>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28" name="组合 27"/>
          <p:cNvGrpSpPr/>
          <p:nvPr/>
        </p:nvGrpSpPr>
        <p:grpSpPr>
          <a:xfrm>
            <a:off x="2286000" y="3410226"/>
            <a:ext cx="3659188" cy="534646"/>
            <a:chOff x="2286000" y="2511834"/>
            <a:chExt cx="3659188" cy="1295400"/>
          </a:xfrm>
        </p:grpSpPr>
        <p:sp>
          <p:nvSpPr>
            <p:cNvPr id="3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grpSp>
        <p:nvGrpSpPr>
          <p:cNvPr id="59" name="组合 58"/>
          <p:cNvGrpSpPr/>
          <p:nvPr/>
        </p:nvGrpSpPr>
        <p:grpSpPr>
          <a:xfrm>
            <a:off x="2286000" y="3248085"/>
            <a:ext cx="3659188" cy="714261"/>
            <a:chOff x="2286000" y="2511834"/>
            <a:chExt cx="3659188" cy="1295400"/>
          </a:xfrm>
        </p:grpSpPr>
        <p:sp>
          <p:nvSpPr>
            <p:cNvPr id="6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2" name="标题 1">
            <a:extLst>
              <a:ext uri="{FF2B5EF4-FFF2-40B4-BE49-F238E27FC236}">
                <a16:creationId xmlns:a16="http://schemas.microsoft.com/office/drawing/2014/main" id="{42B8B07D-D531-22EC-12BC-FF49825F50BB}"/>
              </a:ext>
            </a:extLst>
          </p:cNvPr>
          <p:cNvSpPr>
            <a:spLocks noGrp="1"/>
          </p:cNvSpPr>
          <p:nvPr>
            <p:ph type="title"/>
          </p:nvPr>
        </p:nvSpPr>
        <p:spPr>
          <a:xfrm>
            <a:off x="486000" y="550723"/>
            <a:ext cx="8172000" cy="338554"/>
          </a:xfrm>
        </p:spPr>
        <p:txBody>
          <a:bodyPr/>
          <a:lstStyle/>
          <a:p>
            <a:r>
              <a:rPr lang="zh-CN" altLang="en-US" dirty="0"/>
              <a:t>严重问题：全局同步</a:t>
            </a:r>
          </a:p>
        </p:txBody>
      </p:sp>
    </p:spTree>
    <p:extLst>
      <p:ext uri="{BB962C8B-B14F-4D97-AF65-F5344CB8AC3E}">
        <p14:creationId xmlns:p14="http://schemas.microsoft.com/office/powerpoint/2010/main" val="28531269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ACBE005-CC6A-3CE9-1E3E-9AA59A4C2901}"/>
              </a:ext>
            </a:extLst>
          </p:cNvPr>
          <p:cNvSpPr>
            <a:spLocks noGrp="1"/>
          </p:cNvSpPr>
          <p:nvPr>
            <p:ph sz="quarter" idx="11"/>
          </p:nvPr>
        </p:nvSpPr>
        <p:spPr>
          <a:xfrm>
            <a:off x="486000" y="900000"/>
            <a:ext cx="8172000" cy="3703500"/>
          </a:xfrm>
        </p:spPr>
        <p:txBody>
          <a:bodyPr/>
          <a:lstStyle/>
          <a:p>
            <a:r>
              <a:rPr lang="en-US" altLang="zh-CN" dirty="0"/>
              <a:t>1998 </a:t>
            </a:r>
            <a:r>
              <a:rPr lang="zh-CN" altLang="en-US" dirty="0"/>
              <a:t>年提出了主动队列管理 </a:t>
            </a:r>
            <a:r>
              <a:rPr lang="en-US" altLang="zh-CN" dirty="0"/>
              <a:t>AQM (Active Queue Management)</a:t>
            </a:r>
            <a:r>
              <a:rPr lang="zh-CN" altLang="en-US" dirty="0"/>
              <a:t>。</a:t>
            </a:r>
          </a:p>
          <a:p>
            <a:r>
              <a:rPr lang="zh-CN" altLang="en-US" dirty="0"/>
              <a:t>主动：不要等到路由器的队列长度已经达到最大值时才不得不丢弃后面到达的分组，而是在队列长度达到某个值得警惕的数值时（即当网络拥塞有了某些拥塞征兆时），就主动丢弃到达的分组。</a:t>
            </a:r>
          </a:p>
          <a:p>
            <a:r>
              <a:rPr lang="en-US" altLang="zh-CN" dirty="0"/>
              <a:t>AQM </a:t>
            </a:r>
            <a:r>
              <a:rPr lang="zh-CN" altLang="en-US" dirty="0"/>
              <a:t>可以有不同实现方法，其中曾流行多年的就是随机早期检测 </a:t>
            </a:r>
            <a:r>
              <a:rPr lang="en-US" altLang="zh-CN" dirty="0"/>
              <a:t>RED (Random Early Detection)</a:t>
            </a:r>
            <a:r>
              <a:rPr lang="zh-CN" altLang="en-US" dirty="0"/>
              <a:t>。</a:t>
            </a:r>
          </a:p>
          <a:p>
            <a:endParaRPr lang="zh-CN" altLang="en-US" dirty="0"/>
          </a:p>
        </p:txBody>
      </p:sp>
      <p:sp>
        <p:nvSpPr>
          <p:cNvPr id="8" name="标题 7">
            <a:extLst>
              <a:ext uri="{FF2B5EF4-FFF2-40B4-BE49-F238E27FC236}">
                <a16:creationId xmlns:a16="http://schemas.microsoft.com/office/drawing/2014/main" id="{CA31D2CB-D21A-E655-9096-539881F4DEC0}"/>
              </a:ext>
            </a:extLst>
          </p:cNvPr>
          <p:cNvSpPr>
            <a:spLocks noGrp="1"/>
          </p:cNvSpPr>
          <p:nvPr>
            <p:ph type="title"/>
          </p:nvPr>
        </p:nvSpPr>
        <p:spPr>
          <a:xfrm>
            <a:off x="486000" y="550723"/>
            <a:ext cx="8172000" cy="338554"/>
          </a:xfrm>
        </p:spPr>
        <p:txBody>
          <a:bodyPr/>
          <a:lstStyle/>
          <a:p>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0482834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51A019F-CF88-D021-E368-14E7FFA4D75D}"/>
              </a:ext>
            </a:extLst>
          </p:cNvPr>
          <p:cNvSpPr>
            <a:spLocks noGrp="1"/>
          </p:cNvSpPr>
          <p:nvPr>
            <p:ph sz="quarter" idx="11"/>
          </p:nvPr>
        </p:nvSpPr>
        <p:spPr>
          <a:xfrm>
            <a:off x="486000" y="900000"/>
            <a:ext cx="8172000" cy="3703500"/>
          </a:xfrm>
        </p:spPr>
        <p:txBody>
          <a:bodyPr/>
          <a:lstStyle/>
          <a:p>
            <a:r>
              <a:rPr lang="zh-CN" altLang="en-US" dirty="0"/>
              <a:t>路由器队列维持两个参数：</a:t>
            </a:r>
            <a:endParaRPr lang="en-US" altLang="zh-CN" dirty="0"/>
          </a:p>
          <a:p>
            <a:pPr lvl="1"/>
            <a:r>
              <a:rPr lang="zh-CN" altLang="en-US" dirty="0"/>
              <a:t>队列长度最小门限 </a:t>
            </a:r>
            <a:r>
              <a:rPr lang="en-US" altLang="zh-CN" dirty="0" err="1"/>
              <a:t>THmin</a:t>
            </a:r>
            <a:r>
              <a:rPr lang="en-US" altLang="zh-CN" dirty="0"/>
              <a:t> </a:t>
            </a:r>
          </a:p>
          <a:p>
            <a:pPr lvl="1"/>
            <a:r>
              <a:rPr lang="zh-CN" altLang="en-US" dirty="0"/>
              <a:t>队列长度最大门限 </a:t>
            </a:r>
            <a:r>
              <a:rPr lang="en-US" altLang="zh-CN" dirty="0" err="1"/>
              <a:t>THmax</a:t>
            </a:r>
            <a:r>
              <a:rPr lang="en-US" altLang="zh-CN" dirty="0"/>
              <a:t> </a:t>
            </a:r>
            <a:r>
              <a:rPr lang="zh-CN" altLang="en-US" dirty="0"/>
              <a:t>。</a:t>
            </a:r>
          </a:p>
          <a:p>
            <a:r>
              <a:rPr lang="en-US" altLang="zh-CN" dirty="0"/>
              <a:t>RED </a:t>
            </a:r>
            <a:r>
              <a:rPr lang="zh-CN" altLang="en-US" dirty="0"/>
              <a:t>对每一个到达的分组都先计算平均队列长度 </a:t>
            </a:r>
            <a:r>
              <a:rPr lang="en-US" altLang="zh-CN" dirty="0"/>
              <a:t>LAV </a:t>
            </a:r>
            <a:r>
              <a:rPr lang="zh-CN" altLang="en-US" dirty="0"/>
              <a:t>。</a:t>
            </a:r>
          </a:p>
          <a:p>
            <a:r>
              <a:rPr lang="zh-CN" altLang="en-US" dirty="0"/>
              <a:t>若平均队列长度小于最小门限 </a:t>
            </a:r>
            <a:r>
              <a:rPr lang="en-US" altLang="zh-CN" dirty="0" err="1"/>
              <a:t>THmin</a:t>
            </a:r>
            <a:r>
              <a:rPr lang="zh-CN" altLang="en-US" dirty="0"/>
              <a:t>，则将新到达的分组放入队列进行排队。</a:t>
            </a:r>
          </a:p>
          <a:p>
            <a:r>
              <a:rPr lang="zh-CN" altLang="en-US" dirty="0"/>
              <a:t>若平均队列长度超过最大门限 </a:t>
            </a:r>
            <a:r>
              <a:rPr lang="en-US" altLang="zh-CN" dirty="0" err="1"/>
              <a:t>THmax</a:t>
            </a:r>
            <a:r>
              <a:rPr lang="en-US" altLang="zh-CN" dirty="0"/>
              <a:t> </a:t>
            </a:r>
            <a:r>
              <a:rPr lang="zh-CN" altLang="en-US" dirty="0"/>
              <a:t>，则将新到达的分组丢弃。</a:t>
            </a:r>
          </a:p>
          <a:p>
            <a:r>
              <a:rPr lang="zh-CN" altLang="en-US" dirty="0"/>
              <a:t>若平均队列长度介于在最小门限 </a:t>
            </a:r>
            <a:r>
              <a:rPr lang="en-US" altLang="zh-CN" dirty="0" err="1"/>
              <a:t>THmin</a:t>
            </a:r>
            <a:r>
              <a:rPr lang="en-US" altLang="zh-CN" dirty="0"/>
              <a:t> </a:t>
            </a:r>
            <a:r>
              <a:rPr lang="zh-CN" altLang="en-US" dirty="0"/>
              <a:t>和最大门限 </a:t>
            </a:r>
            <a:r>
              <a:rPr lang="en-US" altLang="zh-CN" dirty="0" err="1"/>
              <a:t>THax</a:t>
            </a:r>
            <a:r>
              <a:rPr lang="en-US" altLang="zh-CN" dirty="0"/>
              <a:t> </a:t>
            </a:r>
            <a:r>
              <a:rPr lang="zh-CN" altLang="en-US" dirty="0"/>
              <a:t>之间，则按照某一概率 </a:t>
            </a:r>
            <a:r>
              <a:rPr lang="en-US" altLang="zh-CN" dirty="0"/>
              <a:t>p </a:t>
            </a:r>
            <a:r>
              <a:rPr lang="zh-CN" altLang="en-US" dirty="0"/>
              <a:t>将新到达的分组丢弃。</a:t>
            </a:r>
          </a:p>
          <a:p>
            <a:endParaRPr lang="zh-CN" altLang="en-US" dirty="0"/>
          </a:p>
        </p:txBody>
      </p:sp>
      <p:sp>
        <p:nvSpPr>
          <p:cNvPr id="8" name="标题 7">
            <a:extLst>
              <a:ext uri="{FF2B5EF4-FFF2-40B4-BE49-F238E27FC236}">
                <a16:creationId xmlns:a16="http://schemas.microsoft.com/office/drawing/2014/main" id="{A2FBE126-4901-BB27-52C5-33DBED8AE693}"/>
              </a:ext>
            </a:extLst>
          </p:cNvPr>
          <p:cNvSpPr>
            <a:spLocks noGrp="1"/>
          </p:cNvSpPr>
          <p:nvPr>
            <p:ph type="title"/>
          </p:nvPr>
        </p:nvSpPr>
        <p:spPr>
          <a:xfrm>
            <a:off x="486000" y="550723"/>
            <a:ext cx="8172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0256526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00401" y="970981"/>
            <a:ext cx="8184960" cy="438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2700"/>
              </a:lnSpc>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路由器到达队列维持</a:t>
            </a:r>
            <a:r>
              <a:rPr lang="zh-CN" altLang="en-US" b="1" dirty="0">
                <a:solidFill>
                  <a:srgbClr val="C00000"/>
                </a:solidFill>
                <a:latin typeface="微软雅黑" pitchFamily="34" charset="-122"/>
                <a:ea typeface="微软雅黑" pitchFamily="34" charset="-122"/>
              </a:rPr>
              <a:t>两个参数：</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zh-CN" altLang="en-US" b="1" dirty="0">
                <a:latin typeface="微软雅黑" pitchFamily="34" charset="-122"/>
                <a:ea typeface="微软雅黑" pitchFamily="34" charset="-122"/>
              </a:rPr>
              <a:t>，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，分成为</a:t>
            </a:r>
            <a:r>
              <a:rPr lang="zh-CN" altLang="en-US" b="1" dirty="0">
                <a:solidFill>
                  <a:srgbClr val="C00000"/>
                </a:solidFill>
                <a:latin typeface="微软雅黑" pitchFamily="34" charset="-122"/>
                <a:ea typeface="微软雅黑" pitchFamily="34" charset="-122"/>
              </a:rPr>
              <a:t>三个区域： </a:t>
            </a:r>
          </a:p>
        </p:txBody>
      </p:sp>
      <p:grpSp>
        <p:nvGrpSpPr>
          <p:cNvPr id="36" name="组合 35"/>
          <p:cNvGrpSpPr/>
          <p:nvPr/>
        </p:nvGrpSpPr>
        <p:grpSpPr>
          <a:xfrm>
            <a:off x="1357257" y="1521364"/>
            <a:ext cx="6594516" cy="2665222"/>
            <a:chOff x="725398" y="2057562"/>
            <a:chExt cx="8961415" cy="3621820"/>
          </a:xfrm>
        </p:grpSpPr>
        <p:sp>
          <p:nvSpPr>
            <p:cNvPr id="6" name="Rectangle 35"/>
            <p:cNvSpPr>
              <a:spLocks noChangeArrowheads="1"/>
            </p:cNvSpPr>
            <p:nvPr/>
          </p:nvSpPr>
          <p:spPr bwMode="auto">
            <a:xfrm>
              <a:off x="2952883" y="2059150"/>
              <a:ext cx="3437863" cy="3013075"/>
            </a:xfrm>
            <a:prstGeom prst="rect">
              <a:avLst/>
            </a:prstGeom>
            <a:solidFill>
              <a:srgbClr val="99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Rectangle 34"/>
            <p:cNvSpPr>
              <a:spLocks noChangeArrowheads="1"/>
            </p:cNvSpPr>
            <p:nvPr/>
          </p:nvSpPr>
          <p:spPr bwMode="auto">
            <a:xfrm>
              <a:off x="6394185" y="2057562"/>
              <a:ext cx="1024996" cy="247650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Rectangle 33"/>
            <p:cNvSpPr>
              <a:spLocks noChangeArrowheads="1"/>
            </p:cNvSpPr>
            <p:nvPr/>
          </p:nvSpPr>
          <p:spPr bwMode="auto">
            <a:xfrm>
              <a:off x="1676798" y="2057563"/>
              <a:ext cx="1276085" cy="3444875"/>
            </a:xfrm>
            <a:prstGeom prst="rect">
              <a:avLst/>
            </a:prstGeom>
            <a:solidFill>
              <a:srgbClr val="6699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Rectangle 4"/>
            <p:cNvSpPr>
              <a:spLocks noChangeArrowheads="1"/>
            </p:cNvSpPr>
            <p:nvPr/>
          </p:nvSpPr>
          <p:spPr bwMode="auto">
            <a:xfrm>
              <a:off x="4975358" y="2757649"/>
              <a:ext cx="2445544" cy="127635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Freeform 5"/>
            <p:cNvSpPr>
              <a:spLocks/>
            </p:cNvSpPr>
            <p:nvPr/>
          </p:nvSpPr>
          <p:spPr bwMode="auto">
            <a:xfrm>
              <a:off x="1948525" y="2757649"/>
              <a:ext cx="5472377" cy="1276350"/>
            </a:xfrm>
            <a:custGeom>
              <a:avLst/>
              <a:gdLst>
                <a:gd name="T0" fmla="*/ 0 w 1920"/>
                <a:gd name="T1" fmla="*/ 0 h 528"/>
                <a:gd name="T2" fmla="*/ 1920 w 1920"/>
                <a:gd name="T3" fmla="*/ 0 h 528"/>
                <a:gd name="T4" fmla="*/ 1920 w 1920"/>
                <a:gd name="T5" fmla="*/ 528 h 528"/>
                <a:gd name="T6" fmla="*/ 0 w 1920"/>
                <a:gd name="T7" fmla="*/ 528 h 528"/>
              </a:gdLst>
              <a:ahLst/>
              <a:cxnLst>
                <a:cxn ang="0">
                  <a:pos x="T0" y="T1"/>
                </a:cxn>
                <a:cxn ang="0">
                  <a:pos x="T2" y="T3"/>
                </a:cxn>
                <a:cxn ang="0">
                  <a:pos x="T4" y="T5"/>
                </a:cxn>
                <a:cxn ang="0">
                  <a:pos x="T6" y="T7"/>
                </a:cxn>
              </a:cxnLst>
              <a:rect l="0" t="0" r="r" b="b"/>
              <a:pathLst>
                <a:path w="1920" h="528">
                  <a:moveTo>
                    <a:pt x="0" y="0"/>
                  </a:moveTo>
                  <a:lnTo>
                    <a:pt x="1920" y="0"/>
                  </a:lnTo>
                  <a:lnTo>
                    <a:pt x="1920" y="528"/>
                  </a:lnTo>
                  <a:lnTo>
                    <a:pt x="0" y="528"/>
                  </a:lnTo>
                </a:path>
              </a:pathLst>
            </a:custGeom>
            <a:noFill/>
            <a:ln w="28575"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a:off x="7073504"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672438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6373548" y="2290924"/>
              <a:ext cx="0" cy="2032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6024431"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5675313"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532447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2964921" y="2309975"/>
              <a:ext cx="0" cy="3160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AutoShape 13"/>
            <p:cNvSpPr>
              <a:spLocks noChangeArrowheads="1"/>
            </p:cNvSpPr>
            <p:nvPr/>
          </p:nvSpPr>
          <p:spPr bwMode="auto">
            <a:xfrm>
              <a:off x="7305676" y="3105313"/>
              <a:ext cx="1049073" cy="465137"/>
            </a:xfrm>
            <a:prstGeom prst="rightArrow">
              <a:avLst>
                <a:gd name="adj1" fmla="val 50000"/>
                <a:gd name="adj2" fmla="val 52048"/>
              </a:avLst>
            </a:prstGeom>
            <a:solidFill>
              <a:srgbClr val="FF00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9" name="Text Box 14"/>
            <p:cNvSpPr txBox="1">
              <a:spLocks noChangeArrowheads="1"/>
            </p:cNvSpPr>
            <p:nvPr/>
          </p:nvSpPr>
          <p:spPr bwMode="auto">
            <a:xfrm>
              <a:off x="8288101" y="2986250"/>
              <a:ext cx="982872"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从队首</a:t>
              </a:r>
            </a:p>
            <a:p>
              <a:pPr algn="ctr"/>
              <a:r>
                <a:rPr kumimoji="1" lang="zh-CN" altLang="en-US" sz="1400" b="1">
                  <a:latin typeface="微软雅黑" pitchFamily="34" charset="-122"/>
                  <a:ea typeface="微软雅黑" pitchFamily="34" charset="-122"/>
                </a:rPr>
                <a:t>发送</a:t>
              </a:r>
            </a:p>
          </p:txBody>
        </p:sp>
        <p:sp>
          <p:nvSpPr>
            <p:cNvPr id="20" name="Line 15"/>
            <p:cNvSpPr>
              <a:spLocks noChangeShapeType="1"/>
            </p:cNvSpPr>
            <p:nvPr/>
          </p:nvSpPr>
          <p:spPr bwMode="auto">
            <a:xfrm>
              <a:off x="4975358"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Text Box 16"/>
            <p:cNvSpPr txBox="1">
              <a:spLocks noChangeArrowheads="1"/>
            </p:cNvSpPr>
            <p:nvPr/>
          </p:nvSpPr>
          <p:spPr bwMode="auto">
            <a:xfrm>
              <a:off x="7571469" y="4363378"/>
              <a:ext cx="2115344"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400" b="1" dirty="0">
                  <a:solidFill>
                    <a:srgbClr val="C00000"/>
                  </a:solidFill>
                  <a:latin typeface="微软雅黑" pitchFamily="34" charset="-122"/>
                  <a:ea typeface="微软雅黑" pitchFamily="34" charset="-122"/>
                </a:rPr>
                <a:t>最小门限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min</a:t>
              </a:r>
              <a:endParaRPr kumimoji="1" lang="en-US" altLang="zh-CN" sz="1400" b="1" baseline="-25000" dirty="0">
                <a:solidFill>
                  <a:srgbClr val="C00000"/>
                </a:solidFill>
                <a:latin typeface="微软雅黑" pitchFamily="34" charset="-122"/>
                <a:ea typeface="微软雅黑" pitchFamily="34" charset="-122"/>
              </a:endParaRPr>
            </a:p>
          </p:txBody>
        </p:sp>
        <p:sp>
          <p:nvSpPr>
            <p:cNvPr id="22" name="Text Box 17"/>
            <p:cNvSpPr txBox="1">
              <a:spLocks noChangeArrowheads="1"/>
            </p:cNvSpPr>
            <p:nvPr/>
          </p:nvSpPr>
          <p:spPr bwMode="auto">
            <a:xfrm>
              <a:off x="4244446" y="5261138"/>
              <a:ext cx="1956595"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最大门限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max</a:t>
              </a:r>
              <a:endParaRPr kumimoji="1" lang="en-US" altLang="zh-CN" sz="1400" b="1" baseline="-25000" dirty="0">
                <a:solidFill>
                  <a:srgbClr val="C00000"/>
                </a:solidFill>
                <a:latin typeface="微软雅黑" pitchFamily="34" charset="-122"/>
                <a:ea typeface="微软雅黑" pitchFamily="34" charset="-122"/>
              </a:endParaRPr>
            </a:p>
          </p:txBody>
        </p:sp>
        <p:sp>
          <p:nvSpPr>
            <p:cNvPr id="23" name="AutoShape 18"/>
            <p:cNvSpPr>
              <a:spLocks noChangeArrowheads="1"/>
            </p:cNvSpPr>
            <p:nvPr/>
          </p:nvSpPr>
          <p:spPr bwMode="auto">
            <a:xfrm>
              <a:off x="1434443" y="3138648"/>
              <a:ext cx="2146300" cy="431800"/>
            </a:xfrm>
            <a:prstGeom prst="rightArrow">
              <a:avLst>
                <a:gd name="adj1" fmla="val 50000"/>
                <a:gd name="adj2" fmla="val 114706"/>
              </a:avLst>
            </a:prstGeom>
            <a:solidFill>
              <a:schemeClr val="accent6">
                <a:lumMod val="75000"/>
              </a:schemeClr>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4" name="Text Box 19"/>
            <p:cNvSpPr txBox="1">
              <a:spLocks noChangeArrowheads="1"/>
            </p:cNvSpPr>
            <p:nvPr/>
          </p:nvSpPr>
          <p:spPr bwMode="auto">
            <a:xfrm>
              <a:off x="725398" y="2979077"/>
              <a:ext cx="738897"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分组</a:t>
              </a:r>
            </a:p>
            <a:p>
              <a:pPr algn="ctr"/>
              <a:r>
                <a:rPr kumimoji="1" lang="zh-CN" altLang="en-US" sz="1400" b="1" dirty="0">
                  <a:latin typeface="微软雅黑" pitchFamily="34" charset="-122"/>
                  <a:ea typeface="微软雅黑" pitchFamily="34" charset="-122"/>
                </a:rPr>
                <a:t>到达</a:t>
              </a:r>
            </a:p>
          </p:txBody>
        </p:sp>
        <p:sp>
          <p:nvSpPr>
            <p:cNvPr id="25" name="Text Box 20"/>
            <p:cNvSpPr txBox="1">
              <a:spLocks noChangeArrowheads="1"/>
            </p:cNvSpPr>
            <p:nvPr/>
          </p:nvSpPr>
          <p:spPr bwMode="auto">
            <a:xfrm>
              <a:off x="5102623" y="4686464"/>
              <a:ext cx="210690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平均队列长度 </a:t>
              </a:r>
              <a:r>
                <a:rPr kumimoji="1" lang="en-US" altLang="zh-CN" sz="1400" b="1" i="1" dirty="0" err="1">
                  <a:solidFill>
                    <a:srgbClr val="0000FF"/>
                  </a:solidFill>
                  <a:latin typeface="微软雅黑" pitchFamily="34" charset="-122"/>
                  <a:ea typeface="微软雅黑" pitchFamily="34" charset="-122"/>
                </a:rPr>
                <a:t>L</a:t>
              </a:r>
              <a:r>
                <a:rPr kumimoji="1" lang="en-US" altLang="zh-CN" sz="1400" b="1" baseline="-25000" dirty="0" err="1">
                  <a:solidFill>
                    <a:srgbClr val="0000FF"/>
                  </a:solidFill>
                  <a:latin typeface="微软雅黑" pitchFamily="34" charset="-122"/>
                  <a:ea typeface="微软雅黑" pitchFamily="34" charset="-122"/>
                </a:rPr>
                <a:t>av</a:t>
              </a:r>
              <a:endParaRPr kumimoji="1" lang="en-US" altLang="zh-CN" sz="1400" b="1" baseline="-25000" dirty="0">
                <a:solidFill>
                  <a:srgbClr val="0000FF"/>
                </a:solidFill>
                <a:latin typeface="微软雅黑" pitchFamily="34" charset="-122"/>
                <a:ea typeface="微软雅黑" pitchFamily="34" charset="-122"/>
              </a:endParaRPr>
            </a:p>
          </p:txBody>
        </p:sp>
        <p:sp>
          <p:nvSpPr>
            <p:cNvPr id="26" name="Line 21"/>
            <p:cNvSpPr>
              <a:spLocks noChangeShapeType="1"/>
            </p:cNvSpPr>
            <p:nvPr/>
          </p:nvSpPr>
          <p:spPr bwMode="auto">
            <a:xfrm>
              <a:off x="7420902" y="2295687"/>
              <a:ext cx="0" cy="46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Text Box 22"/>
            <p:cNvSpPr txBox="1">
              <a:spLocks noChangeArrowheads="1"/>
            </p:cNvSpPr>
            <p:nvPr/>
          </p:nvSpPr>
          <p:spPr bwMode="auto">
            <a:xfrm>
              <a:off x="6490494"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排队</a:t>
              </a:r>
            </a:p>
          </p:txBody>
        </p:sp>
        <p:sp>
          <p:nvSpPr>
            <p:cNvPr id="28" name="Text Box 23"/>
            <p:cNvSpPr txBox="1">
              <a:spLocks noChangeArrowheads="1"/>
            </p:cNvSpPr>
            <p:nvPr/>
          </p:nvSpPr>
          <p:spPr bwMode="auto">
            <a:xfrm>
              <a:off x="2094705"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丢弃</a:t>
              </a:r>
            </a:p>
          </p:txBody>
        </p:sp>
        <p:sp>
          <p:nvSpPr>
            <p:cNvPr id="29" name="Text Box 24"/>
            <p:cNvSpPr txBox="1">
              <a:spLocks noChangeArrowheads="1"/>
            </p:cNvSpPr>
            <p:nvPr/>
          </p:nvSpPr>
          <p:spPr bwMode="auto">
            <a:xfrm>
              <a:off x="3730229" y="2309974"/>
              <a:ext cx="177797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以概率</a:t>
              </a:r>
              <a:r>
                <a:rPr kumimoji="1" lang="zh-CN" altLang="en-US" sz="1400" b="1" i="1">
                  <a:latin typeface="微软雅黑" pitchFamily="34" charset="-122"/>
                  <a:ea typeface="微软雅黑" pitchFamily="34" charset="-122"/>
                </a:rPr>
                <a:t> </a:t>
              </a:r>
              <a:r>
                <a:rPr kumimoji="1" lang="en-US" altLang="zh-CN" sz="1400" b="1" i="1">
                  <a:latin typeface="微软雅黑" pitchFamily="34" charset="-122"/>
                  <a:ea typeface="微软雅黑" pitchFamily="34" charset="-122"/>
                </a:rPr>
                <a:t>p</a:t>
              </a:r>
              <a:r>
                <a:rPr kumimoji="1" lang="en-US" altLang="zh-CN" sz="1400" b="1">
                  <a:latin typeface="微软雅黑" pitchFamily="34" charset="-122"/>
                  <a:ea typeface="微软雅黑" pitchFamily="34" charset="-122"/>
                </a:rPr>
                <a:t> </a:t>
              </a:r>
              <a:r>
                <a:rPr kumimoji="1" lang="zh-CN" altLang="en-US" sz="1400" b="1">
                  <a:latin typeface="微软雅黑" pitchFamily="34" charset="-122"/>
                  <a:ea typeface="微软雅黑" pitchFamily="34" charset="-122"/>
                </a:rPr>
                <a:t>丢弃</a:t>
              </a:r>
            </a:p>
          </p:txBody>
        </p:sp>
        <p:sp>
          <p:nvSpPr>
            <p:cNvPr id="30" name="Line 25"/>
            <p:cNvSpPr>
              <a:spLocks noChangeShapeType="1"/>
            </p:cNvSpPr>
            <p:nvPr/>
          </p:nvSpPr>
          <p:spPr bwMode="auto">
            <a:xfrm>
              <a:off x="4990836" y="4703924"/>
              <a:ext cx="24111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6"/>
            <p:cNvSpPr>
              <a:spLocks noChangeShapeType="1"/>
            </p:cNvSpPr>
            <p:nvPr/>
          </p:nvSpPr>
          <p:spPr bwMode="auto">
            <a:xfrm flipH="1">
              <a:off x="7420902" y="4076862"/>
              <a:ext cx="15478" cy="1509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27"/>
            <p:cNvSpPr>
              <a:spLocks noChangeShapeType="1"/>
            </p:cNvSpPr>
            <p:nvPr/>
          </p:nvSpPr>
          <p:spPr bwMode="auto">
            <a:xfrm>
              <a:off x="4982237" y="4067337"/>
              <a:ext cx="0" cy="8699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28"/>
            <p:cNvSpPr>
              <a:spLocks noChangeShapeType="1"/>
            </p:cNvSpPr>
            <p:nvPr/>
          </p:nvSpPr>
          <p:spPr bwMode="auto">
            <a:xfrm>
              <a:off x="6370109" y="4227674"/>
              <a:ext cx="10903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29"/>
            <p:cNvSpPr>
              <a:spLocks noChangeShapeType="1"/>
            </p:cNvSpPr>
            <p:nvPr/>
          </p:nvSpPr>
          <p:spPr bwMode="auto">
            <a:xfrm>
              <a:off x="2975239" y="5253199"/>
              <a:ext cx="4437063"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30"/>
            <p:cNvSpPr>
              <a:spLocks noChangeShapeType="1"/>
            </p:cNvSpPr>
            <p:nvPr/>
          </p:nvSpPr>
          <p:spPr bwMode="auto">
            <a:xfrm flipH="1" flipV="1">
              <a:off x="6877446" y="4284002"/>
              <a:ext cx="718873" cy="288496"/>
            </a:xfrm>
            <a:prstGeom prst="line">
              <a:avLst/>
            </a:prstGeom>
            <a:noFill/>
            <a:ln w="19050">
              <a:solidFill>
                <a:srgbClr val="00006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7" name="矩形 36"/>
          <p:cNvSpPr/>
          <p:nvPr/>
        </p:nvSpPr>
        <p:spPr>
          <a:xfrm>
            <a:off x="1378628" y="4289602"/>
            <a:ext cx="6360778" cy="369332"/>
          </a:xfrm>
          <a:prstGeom prst="rect">
            <a:avLst/>
          </a:prstGeom>
        </p:spPr>
        <p:txBody>
          <a:bodyPr wrap="square">
            <a:spAutoFit/>
          </a:bodyPr>
          <a:lstStyle/>
          <a:p>
            <a:pPr algn="ctr">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对每一个到达的分组都先计算</a:t>
            </a:r>
            <a:r>
              <a:rPr lang="zh-CN" altLang="en-US" b="1" dirty="0">
                <a:solidFill>
                  <a:srgbClr val="C00000"/>
                </a:solidFill>
                <a:latin typeface="微软雅黑" pitchFamily="34" charset="-122"/>
                <a:ea typeface="微软雅黑" pitchFamily="34" charset="-122"/>
              </a:rPr>
              <a:t>平均队列长度 </a:t>
            </a:r>
            <a:r>
              <a:rPr lang="en-US" altLang="zh-CN" b="1" i="1" dirty="0">
                <a:solidFill>
                  <a:srgbClr val="C00000"/>
                </a:solidFill>
                <a:latin typeface="微软雅黑" pitchFamily="34" charset="-122"/>
                <a:ea typeface="微软雅黑" pitchFamily="34" charset="-122"/>
              </a:rPr>
              <a:t>L</a:t>
            </a:r>
            <a:r>
              <a:rPr lang="en-US" altLang="zh-CN" b="1" baseline="-25000" dirty="0">
                <a:solidFill>
                  <a:srgbClr val="C00000"/>
                </a:solidFill>
                <a:latin typeface="微软雅黑" pitchFamily="34" charset="-122"/>
                <a:ea typeface="微软雅黑" pitchFamily="34" charset="-122"/>
              </a:rPr>
              <a:t>AV</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p:txBody>
      </p:sp>
      <p:sp>
        <p:nvSpPr>
          <p:cNvPr id="38" name="标题 37">
            <a:extLst>
              <a:ext uri="{FF2B5EF4-FFF2-40B4-BE49-F238E27FC236}">
                <a16:creationId xmlns:a16="http://schemas.microsoft.com/office/drawing/2014/main" id="{A7F7AEC9-06C0-DFBE-3300-4839DF72DDD1}"/>
              </a:ext>
            </a:extLst>
          </p:cNvPr>
          <p:cNvSpPr>
            <a:spLocks noGrp="1"/>
          </p:cNvSpPr>
          <p:nvPr>
            <p:ph type="title"/>
          </p:nvPr>
        </p:nvSpPr>
        <p:spPr>
          <a:xfrm>
            <a:off x="486000" y="550723"/>
            <a:ext cx="8172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392068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556963" y="940075"/>
            <a:ext cx="8184960" cy="1131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baseline="-25000"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0</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1</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b="1" dirty="0">
                <a:latin typeface="微软雅黑" pitchFamily="34" charset="-122"/>
                <a:ea typeface="微软雅黑" pitchFamily="34" charset="-12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0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a:t>
            </a:r>
          </a:p>
        </p:txBody>
      </p:sp>
      <p:sp>
        <p:nvSpPr>
          <p:cNvPr id="37" name="Text Box 155"/>
          <p:cNvSpPr txBox="1">
            <a:spLocks noChangeArrowheads="1"/>
          </p:cNvSpPr>
          <p:nvPr/>
        </p:nvSpPr>
        <p:spPr bwMode="auto">
          <a:xfrm>
            <a:off x="1979629" y="2130284"/>
            <a:ext cx="5312624"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rgbClr val="FFC000"/>
                </a:solidFill>
                <a:latin typeface="微软雅黑" pitchFamily="34" charset="-122"/>
                <a:ea typeface="微软雅黑" pitchFamily="34" charset="-122"/>
              </a:rPr>
              <a:t>困难：</a:t>
            </a:r>
            <a:r>
              <a:rPr lang="zh-CN" altLang="en-US" sz="1600" b="1" dirty="0">
                <a:solidFill>
                  <a:schemeClr val="bg1"/>
                </a:solidFill>
                <a:latin typeface="微软雅黑" pitchFamily="34" charset="-122"/>
                <a:ea typeface="微软雅黑" pitchFamily="34" charset="-122"/>
              </a:rPr>
              <a:t>丢弃概率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的选择，因为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并不是个常数。</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例如，按线性规律变化，从 </a:t>
            </a:r>
            <a:r>
              <a:rPr lang="en-US" altLang="zh-CN" sz="1600" b="1" dirty="0">
                <a:solidFill>
                  <a:schemeClr val="bg1"/>
                </a:solidFill>
                <a:latin typeface="微软雅黑" pitchFamily="34" charset="-122"/>
                <a:ea typeface="微软雅黑" pitchFamily="34" charset="-122"/>
              </a:rPr>
              <a:t>0 </a:t>
            </a:r>
            <a:r>
              <a:rPr lang="zh-CN" altLang="en-US" sz="1600" b="1" dirty="0">
                <a:solidFill>
                  <a:schemeClr val="bg1"/>
                </a:solidFill>
                <a:latin typeface="微软雅黑" pitchFamily="34" charset="-122"/>
                <a:ea typeface="微软雅黑" pitchFamily="34" charset="-122"/>
              </a:rPr>
              <a:t>变到 </a:t>
            </a:r>
            <a:r>
              <a:rPr lang="en-US" altLang="zh-CN" sz="1600" b="1" i="1" dirty="0" err="1">
                <a:solidFill>
                  <a:schemeClr val="bg1"/>
                </a:solidFill>
                <a:latin typeface="微软雅黑" pitchFamily="34" charset="-122"/>
                <a:ea typeface="微软雅黑" pitchFamily="34" charset="-122"/>
              </a:rPr>
              <a:t>p</a:t>
            </a:r>
            <a:r>
              <a:rPr lang="en-US" altLang="zh-CN" sz="1600" b="1" baseline="-25000" dirty="0" err="1">
                <a:solidFill>
                  <a:schemeClr val="bg1"/>
                </a:solidFill>
                <a:latin typeface="微软雅黑" pitchFamily="34" charset="-122"/>
                <a:ea typeface="微软雅黑" pitchFamily="34" charset="-122"/>
              </a:rPr>
              <a:t>max</a:t>
            </a:r>
            <a:r>
              <a:rPr lang="zh-CN" altLang="en-US" sz="1600" b="1" dirty="0">
                <a:solidFill>
                  <a:schemeClr val="bg1"/>
                </a:solidFill>
                <a:latin typeface="微软雅黑" pitchFamily="34" charset="-122"/>
                <a:ea typeface="微软雅黑" pitchFamily="34" charset="-122"/>
              </a:rPr>
              <a:t>。</a:t>
            </a:r>
          </a:p>
        </p:txBody>
      </p:sp>
      <p:sp>
        <p:nvSpPr>
          <p:cNvPr id="38" name="Line 4"/>
          <p:cNvSpPr>
            <a:spLocks noChangeShapeType="1"/>
          </p:cNvSpPr>
          <p:nvPr/>
        </p:nvSpPr>
        <p:spPr bwMode="auto">
          <a:xfrm>
            <a:off x="1805344" y="4003051"/>
            <a:ext cx="5486909"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Line 5"/>
          <p:cNvSpPr>
            <a:spLocks noChangeShapeType="1"/>
          </p:cNvSpPr>
          <p:nvPr/>
        </p:nvSpPr>
        <p:spPr bwMode="auto">
          <a:xfrm rot="16200000">
            <a:off x="1189140" y="3386848"/>
            <a:ext cx="1232407"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6"/>
          <p:cNvSpPr txBox="1">
            <a:spLocks noChangeArrowheads="1"/>
          </p:cNvSpPr>
          <p:nvPr/>
        </p:nvSpPr>
        <p:spPr bwMode="auto">
          <a:xfrm>
            <a:off x="2600370" y="4019567"/>
            <a:ext cx="14446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最小门限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min</a:t>
            </a:r>
            <a:endParaRPr kumimoji="1" lang="en-US" altLang="zh-CN" sz="1400" b="1" baseline="-25000" dirty="0">
              <a:solidFill>
                <a:srgbClr val="0000FF"/>
              </a:solidFill>
              <a:latin typeface="微软雅黑" pitchFamily="34" charset="-122"/>
              <a:ea typeface="微软雅黑" pitchFamily="34" charset="-122"/>
            </a:endParaRPr>
          </a:p>
        </p:txBody>
      </p:sp>
      <p:sp>
        <p:nvSpPr>
          <p:cNvPr id="41" name="Text Box 7"/>
          <p:cNvSpPr txBox="1">
            <a:spLocks noChangeArrowheads="1"/>
          </p:cNvSpPr>
          <p:nvPr/>
        </p:nvSpPr>
        <p:spPr bwMode="auto">
          <a:xfrm>
            <a:off x="4579548" y="3998923"/>
            <a:ext cx="14718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最大门限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max</a:t>
            </a:r>
            <a:endParaRPr kumimoji="1" lang="en-US" altLang="zh-CN" sz="1400" b="1" baseline="-25000" dirty="0">
              <a:solidFill>
                <a:srgbClr val="0000FF"/>
              </a:solidFill>
              <a:latin typeface="微软雅黑" pitchFamily="34" charset="-122"/>
              <a:ea typeface="微软雅黑" pitchFamily="34" charset="-122"/>
            </a:endParaRPr>
          </a:p>
        </p:txBody>
      </p:sp>
      <p:sp>
        <p:nvSpPr>
          <p:cNvPr id="42" name="Text Box 8"/>
          <p:cNvSpPr txBox="1">
            <a:spLocks noChangeArrowheads="1"/>
          </p:cNvSpPr>
          <p:nvPr/>
        </p:nvSpPr>
        <p:spPr bwMode="auto">
          <a:xfrm>
            <a:off x="6479151" y="4007946"/>
            <a:ext cx="1580636" cy="307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平均队列长度 </a:t>
            </a:r>
            <a:r>
              <a:rPr kumimoji="1" lang="en-US" altLang="zh-CN" sz="1400" b="1" i="1" dirty="0" err="1">
                <a:latin typeface="微软雅黑" pitchFamily="34" charset="-122"/>
                <a:ea typeface="微软雅黑" pitchFamily="34" charset="-122"/>
              </a:rPr>
              <a:t>L</a:t>
            </a:r>
            <a:r>
              <a:rPr kumimoji="1" lang="en-US" altLang="zh-CN" sz="1400" b="1" baseline="-25000" dirty="0" err="1">
                <a:latin typeface="微软雅黑" pitchFamily="34" charset="-122"/>
                <a:ea typeface="微软雅黑" pitchFamily="34" charset="-122"/>
              </a:rPr>
              <a:t>av</a:t>
            </a:r>
            <a:endParaRPr kumimoji="1" lang="en-US" altLang="zh-CN" sz="1400" b="1" baseline="-25000" dirty="0">
              <a:latin typeface="微软雅黑" pitchFamily="34" charset="-122"/>
              <a:ea typeface="微软雅黑" pitchFamily="34" charset="-122"/>
            </a:endParaRPr>
          </a:p>
        </p:txBody>
      </p:sp>
      <p:sp>
        <p:nvSpPr>
          <p:cNvPr id="43" name="Text Box 9"/>
          <p:cNvSpPr txBox="1">
            <a:spLocks noChangeArrowheads="1"/>
          </p:cNvSpPr>
          <p:nvPr/>
        </p:nvSpPr>
        <p:spPr bwMode="auto">
          <a:xfrm>
            <a:off x="1884735" y="2755163"/>
            <a:ext cx="1499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分组丢弃概率</a:t>
            </a:r>
            <a:r>
              <a:rPr kumimoji="1" lang="zh-CN" altLang="en-US" sz="1400" b="1" i="1" dirty="0">
                <a:latin typeface="微软雅黑" pitchFamily="34" charset="-122"/>
                <a:ea typeface="微软雅黑" pitchFamily="34" charset="-122"/>
              </a:rPr>
              <a:t> </a:t>
            </a:r>
            <a:r>
              <a:rPr kumimoji="1" lang="en-US" altLang="zh-CN" sz="1400" b="1" i="1" dirty="0">
                <a:latin typeface="微软雅黑" pitchFamily="34" charset="-122"/>
                <a:ea typeface="微软雅黑" pitchFamily="34" charset="-122"/>
              </a:rPr>
              <a:t>p</a:t>
            </a:r>
          </a:p>
        </p:txBody>
      </p:sp>
      <p:sp>
        <p:nvSpPr>
          <p:cNvPr id="44" name="Line 10"/>
          <p:cNvSpPr>
            <a:spLocks noChangeShapeType="1"/>
          </p:cNvSpPr>
          <p:nvPr/>
        </p:nvSpPr>
        <p:spPr bwMode="auto">
          <a:xfrm>
            <a:off x="5383519" y="3694434"/>
            <a:ext cx="0" cy="308617"/>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11"/>
          <p:cNvSpPr>
            <a:spLocks noChangeShapeType="1"/>
          </p:cNvSpPr>
          <p:nvPr/>
        </p:nvSpPr>
        <p:spPr bwMode="auto">
          <a:xfrm>
            <a:off x="3395395" y="3951444"/>
            <a:ext cx="0" cy="516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12"/>
          <p:cNvSpPr>
            <a:spLocks noChangeShapeType="1"/>
          </p:cNvSpPr>
          <p:nvPr/>
        </p:nvSpPr>
        <p:spPr bwMode="auto">
          <a:xfrm rot="16200000">
            <a:off x="1845039" y="2987959"/>
            <a:ext cx="0" cy="793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4"/>
          <p:cNvSpPr txBox="1">
            <a:spLocks noChangeArrowheads="1"/>
          </p:cNvSpPr>
          <p:nvPr/>
        </p:nvSpPr>
        <p:spPr bwMode="auto">
          <a:xfrm>
            <a:off x="1359269" y="2838769"/>
            <a:ext cx="4571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dirty="0">
                <a:solidFill>
                  <a:srgbClr val="000099"/>
                </a:solidFill>
                <a:latin typeface="微软雅黑" pitchFamily="34" charset="-122"/>
                <a:ea typeface="微软雅黑" pitchFamily="34" charset="-122"/>
              </a:rPr>
              <a:t>1.0</a:t>
            </a:r>
            <a:endParaRPr kumimoji="1" lang="en-US" altLang="zh-CN" sz="1400" b="1" i="1" dirty="0">
              <a:solidFill>
                <a:srgbClr val="000099"/>
              </a:solidFill>
              <a:latin typeface="微软雅黑" pitchFamily="34" charset="-122"/>
              <a:ea typeface="微软雅黑" pitchFamily="34" charset="-122"/>
            </a:endParaRPr>
          </a:p>
        </p:txBody>
      </p:sp>
      <p:sp>
        <p:nvSpPr>
          <p:cNvPr id="49" name="Text Box 15"/>
          <p:cNvSpPr txBox="1">
            <a:spLocks noChangeArrowheads="1"/>
          </p:cNvSpPr>
          <p:nvPr/>
        </p:nvSpPr>
        <p:spPr bwMode="auto">
          <a:xfrm>
            <a:off x="1506790" y="3793523"/>
            <a:ext cx="274557" cy="2861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0</a:t>
            </a:r>
            <a:endParaRPr kumimoji="1" lang="en-US" altLang="zh-CN" sz="1400" b="1" i="1">
              <a:solidFill>
                <a:srgbClr val="000099"/>
              </a:solidFill>
              <a:latin typeface="微软雅黑" pitchFamily="34" charset="-122"/>
              <a:ea typeface="微软雅黑" pitchFamily="34" charset="-122"/>
            </a:endParaRPr>
          </a:p>
        </p:txBody>
      </p:sp>
      <p:sp>
        <p:nvSpPr>
          <p:cNvPr id="50" name="Line 16"/>
          <p:cNvSpPr>
            <a:spLocks noChangeShapeType="1"/>
          </p:cNvSpPr>
          <p:nvPr/>
        </p:nvSpPr>
        <p:spPr bwMode="auto">
          <a:xfrm>
            <a:off x="1805343" y="3694434"/>
            <a:ext cx="3578175"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Text Box 17"/>
          <p:cNvSpPr txBox="1">
            <a:spLocks noChangeArrowheads="1"/>
          </p:cNvSpPr>
          <p:nvPr/>
        </p:nvSpPr>
        <p:spPr bwMode="auto">
          <a:xfrm>
            <a:off x="1255073" y="3493161"/>
            <a:ext cx="5613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i="1">
                <a:solidFill>
                  <a:srgbClr val="000099"/>
                </a:solidFill>
                <a:latin typeface="微软雅黑" pitchFamily="34" charset="-122"/>
                <a:ea typeface="微软雅黑" pitchFamily="34" charset="-122"/>
              </a:rPr>
              <a:t>p</a:t>
            </a:r>
            <a:r>
              <a:rPr kumimoji="1" lang="en-US" altLang="zh-CN" sz="1400" b="1" baseline="-25000">
                <a:solidFill>
                  <a:srgbClr val="000099"/>
                </a:solidFill>
                <a:latin typeface="微软雅黑" pitchFamily="34" charset="-122"/>
                <a:ea typeface="微软雅黑" pitchFamily="34" charset="-122"/>
              </a:rPr>
              <a:t>max</a:t>
            </a:r>
            <a:endParaRPr kumimoji="1" lang="en-US" altLang="zh-CN" sz="1400" b="1" i="1" baseline="-25000">
              <a:solidFill>
                <a:srgbClr val="000099"/>
              </a:solidFill>
              <a:latin typeface="微软雅黑" pitchFamily="34" charset="-122"/>
              <a:ea typeface="微软雅黑" pitchFamily="34" charset="-122"/>
            </a:endParaRPr>
          </a:p>
        </p:txBody>
      </p:sp>
      <p:grpSp>
        <p:nvGrpSpPr>
          <p:cNvPr id="8" name="组合 7"/>
          <p:cNvGrpSpPr/>
          <p:nvPr/>
        </p:nvGrpSpPr>
        <p:grpSpPr>
          <a:xfrm>
            <a:off x="1805344" y="3027655"/>
            <a:ext cx="5328127" cy="975397"/>
            <a:chOff x="1805344" y="3027655"/>
            <a:chExt cx="5328127" cy="975397"/>
          </a:xfrm>
        </p:grpSpPr>
        <p:sp>
          <p:nvSpPr>
            <p:cNvPr id="47" name="Freeform 13"/>
            <p:cNvSpPr>
              <a:spLocks/>
            </p:cNvSpPr>
            <p:nvPr/>
          </p:nvSpPr>
          <p:spPr bwMode="auto">
            <a:xfrm>
              <a:off x="3395395" y="3027655"/>
              <a:ext cx="3738076" cy="975397"/>
            </a:xfrm>
            <a:custGeom>
              <a:avLst/>
              <a:gdLst>
                <a:gd name="T0" fmla="*/ 0 w 2256"/>
                <a:gd name="T1" fmla="*/ 912 h 912"/>
                <a:gd name="T2" fmla="*/ 1200 w 2256"/>
                <a:gd name="T3" fmla="*/ 624 h 912"/>
                <a:gd name="T4" fmla="*/ 1200 w 2256"/>
                <a:gd name="T5" fmla="*/ 0 h 912"/>
                <a:gd name="T6" fmla="*/ 2256 w 2256"/>
                <a:gd name="T7" fmla="*/ 0 h 912"/>
              </a:gdLst>
              <a:ahLst/>
              <a:cxnLst>
                <a:cxn ang="0">
                  <a:pos x="T0" y="T1"/>
                </a:cxn>
                <a:cxn ang="0">
                  <a:pos x="T2" y="T3"/>
                </a:cxn>
                <a:cxn ang="0">
                  <a:pos x="T4" y="T5"/>
                </a:cxn>
                <a:cxn ang="0">
                  <a:pos x="T6" y="T7"/>
                </a:cxn>
              </a:cxnLst>
              <a:rect l="0" t="0" r="r" b="b"/>
              <a:pathLst>
                <a:path w="2256" h="912">
                  <a:moveTo>
                    <a:pt x="0" y="912"/>
                  </a:moveTo>
                  <a:lnTo>
                    <a:pt x="1200" y="624"/>
                  </a:lnTo>
                  <a:lnTo>
                    <a:pt x="1200" y="0"/>
                  </a:lnTo>
                  <a:lnTo>
                    <a:pt x="2256" y="0"/>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cxnSp>
          <p:nvCxnSpPr>
            <p:cNvPr id="7" name="直接连接符 6"/>
            <p:cNvCxnSpPr>
              <a:stCxn id="39" idx="0"/>
              <a:endCxn id="45" idx="1"/>
            </p:cNvCxnSpPr>
            <p:nvPr/>
          </p:nvCxnSpPr>
          <p:spPr>
            <a:xfrm>
              <a:off x="1805344" y="4003052"/>
              <a:ext cx="1590052" cy="0"/>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
        <p:nvSpPr>
          <p:cNvPr id="9" name="TextBox 8"/>
          <p:cNvSpPr txBox="1"/>
          <p:nvPr/>
        </p:nvSpPr>
        <p:spPr>
          <a:xfrm>
            <a:off x="2155448" y="3378978"/>
            <a:ext cx="692255" cy="276999"/>
          </a:xfrm>
          <a:prstGeom prst="rect">
            <a:avLst/>
          </a:prstGeom>
          <a:noFill/>
        </p:spPr>
        <p:txBody>
          <a:bodyPr wrap="square" rtlCol="0">
            <a:spAutoFit/>
          </a:bodyPr>
          <a:lstStyle/>
          <a:p>
            <a:r>
              <a:rPr lang="zh-CN" altLang="en-US" sz="1200" b="1" dirty="0">
                <a:solidFill>
                  <a:srgbClr val="0000FF"/>
                </a:solidFill>
                <a:latin typeface="微软雅黑" pitchFamily="34" charset="-122"/>
                <a:ea typeface="微软雅黑" pitchFamily="34" charset="-122"/>
              </a:rPr>
              <a:t>排队</a:t>
            </a:r>
          </a:p>
        </p:txBody>
      </p:sp>
      <p:sp>
        <p:nvSpPr>
          <p:cNvPr id="27" name="TextBox 26"/>
          <p:cNvSpPr txBox="1"/>
          <p:nvPr/>
        </p:nvSpPr>
        <p:spPr>
          <a:xfrm>
            <a:off x="3970251" y="3010538"/>
            <a:ext cx="1072012" cy="461665"/>
          </a:xfrm>
          <a:prstGeom prst="rect">
            <a:avLst/>
          </a:prstGeom>
          <a:noFill/>
        </p:spPr>
        <p:txBody>
          <a:bodyPr wrap="square" rtlCol="0">
            <a:spAutoFit/>
          </a:bodyPr>
          <a:lstStyle/>
          <a:p>
            <a:r>
              <a:rPr lang="zh-CN" altLang="en-US" sz="1200" b="1" dirty="0">
                <a:solidFill>
                  <a:srgbClr val="CC00CC"/>
                </a:solidFill>
                <a:latin typeface="微软雅黑" pitchFamily="34" charset="-122"/>
                <a:ea typeface="微软雅黑" pitchFamily="34" charset="-122"/>
              </a:rPr>
              <a:t>丢弃或排队。以概率</a:t>
            </a:r>
            <a:r>
              <a:rPr lang="en-US" altLang="zh-CN" sz="1200" b="1" dirty="0">
                <a:solidFill>
                  <a:srgbClr val="CC00CC"/>
                </a:solidFill>
                <a:latin typeface="微软雅黑" pitchFamily="34" charset="-122"/>
                <a:ea typeface="微软雅黑" pitchFamily="34" charset="-122"/>
              </a:rPr>
              <a:t>p</a:t>
            </a:r>
            <a:r>
              <a:rPr lang="zh-CN" altLang="en-US" sz="1200" b="1" dirty="0">
                <a:solidFill>
                  <a:srgbClr val="CC00CC"/>
                </a:solidFill>
                <a:latin typeface="微软雅黑" pitchFamily="34" charset="-122"/>
                <a:ea typeface="微软雅黑" pitchFamily="34" charset="-122"/>
              </a:rPr>
              <a:t>丢弃</a:t>
            </a:r>
          </a:p>
        </p:txBody>
      </p:sp>
      <p:sp>
        <p:nvSpPr>
          <p:cNvPr id="28" name="TextBox 27"/>
          <p:cNvSpPr txBox="1"/>
          <p:nvPr/>
        </p:nvSpPr>
        <p:spPr>
          <a:xfrm>
            <a:off x="6061459" y="3389525"/>
            <a:ext cx="1072012" cy="276999"/>
          </a:xfrm>
          <a:prstGeom prst="rect">
            <a:avLst/>
          </a:prstGeom>
          <a:noFill/>
        </p:spPr>
        <p:txBody>
          <a:bodyPr wrap="square" rtlCol="0">
            <a:spAutoFit/>
          </a:bodyPr>
          <a:lstStyle/>
          <a:p>
            <a:r>
              <a:rPr lang="zh-CN" altLang="en-US" sz="1200" b="1" dirty="0">
                <a:solidFill>
                  <a:srgbClr val="C00000"/>
                </a:solidFill>
                <a:latin typeface="微软雅黑" pitchFamily="34" charset="-122"/>
                <a:ea typeface="微软雅黑" pitchFamily="34" charset="-122"/>
              </a:rPr>
              <a:t>丢弃</a:t>
            </a:r>
          </a:p>
        </p:txBody>
      </p:sp>
      <p:cxnSp>
        <p:nvCxnSpPr>
          <p:cNvPr id="11" name="直接箭头连接符 10"/>
          <p:cNvCxnSpPr/>
          <p:nvPr/>
        </p:nvCxnSpPr>
        <p:spPr>
          <a:xfrm>
            <a:off x="2364377" y="3616788"/>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4493194" y="3452162"/>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295869" y="3041346"/>
            <a:ext cx="0" cy="360782"/>
          </a:xfrm>
          <a:prstGeom prst="straightConnector1">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52C58593-1B4A-8015-D83E-07287AC8F83D}"/>
              </a:ext>
            </a:extLst>
          </p:cNvPr>
          <p:cNvSpPr>
            <a:spLocks noGrp="1"/>
          </p:cNvSpPr>
          <p:nvPr>
            <p:ph type="title"/>
          </p:nvPr>
        </p:nvSpPr>
        <p:spPr>
          <a:xfrm>
            <a:off x="486000" y="550723"/>
            <a:ext cx="8172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478773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E93B039-EBC8-BF2B-CE9A-2F950103E1F0}"/>
              </a:ext>
            </a:extLst>
          </p:cNvPr>
          <p:cNvSpPr>
            <a:spLocks noGrp="1"/>
          </p:cNvSpPr>
          <p:nvPr>
            <p:ph sz="quarter" idx="11"/>
          </p:nvPr>
        </p:nvSpPr>
        <p:spPr>
          <a:xfrm>
            <a:off x="486000" y="900000"/>
            <a:ext cx="8172000" cy="3703500"/>
          </a:xfrm>
        </p:spPr>
        <p:txBody>
          <a:bodyPr/>
          <a:lstStyle/>
          <a:p>
            <a:r>
              <a:rPr lang="zh-CN" altLang="en-US" dirty="0"/>
              <a:t>多年的实践证明，</a:t>
            </a:r>
            <a:r>
              <a:rPr lang="en-US" altLang="zh-CN" dirty="0"/>
              <a:t>RED </a:t>
            </a:r>
            <a:r>
              <a:rPr lang="zh-CN" altLang="en-US" dirty="0"/>
              <a:t>的使用效果并不太理想。</a:t>
            </a:r>
          </a:p>
          <a:p>
            <a:r>
              <a:rPr lang="en-US" altLang="zh-CN" dirty="0"/>
              <a:t>2015 </a:t>
            </a:r>
            <a:r>
              <a:rPr lang="zh-CN" altLang="en-US" dirty="0"/>
              <a:t>年公布的 </a:t>
            </a:r>
            <a:r>
              <a:rPr lang="en-US" altLang="zh-CN" dirty="0"/>
              <a:t>RFC 7567 </a:t>
            </a:r>
            <a:r>
              <a:rPr lang="zh-CN" altLang="en-US" dirty="0"/>
              <a:t>已经把 </a:t>
            </a:r>
            <a:r>
              <a:rPr lang="en-US" altLang="zh-CN" dirty="0"/>
              <a:t>RFC 2309 </a:t>
            </a:r>
            <a:r>
              <a:rPr lang="zh-CN" altLang="en-US" dirty="0"/>
              <a:t>列为“陈旧的”，并且不再推荐使用 </a:t>
            </a:r>
            <a:r>
              <a:rPr lang="en-US" altLang="zh-CN" dirty="0"/>
              <a:t>RED</a:t>
            </a:r>
            <a:r>
              <a:rPr lang="zh-CN" altLang="en-US" dirty="0"/>
              <a:t>。</a:t>
            </a:r>
          </a:p>
          <a:p>
            <a:r>
              <a:rPr lang="zh-CN" altLang="en-US" dirty="0"/>
              <a:t>但对路由器进行主动队列管理 </a:t>
            </a:r>
            <a:r>
              <a:rPr lang="en-US" altLang="zh-CN" dirty="0"/>
              <a:t>AQM </a:t>
            </a:r>
            <a:r>
              <a:rPr lang="zh-CN" altLang="en-US" dirty="0"/>
              <a:t>仍是必要的。</a:t>
            </a:r>
          </a:p>
          <a:p>
            <a:r>
              <a:rPr lang="en-US" altLang="zh-CN" dirty="0"/>
              <a:t>AQM </a:t>
            </a:r>
            <a:r>
              <a:rPr lang="zh-CN" altLang="en-US" dirty="0"/>
              <a:t>实际上就是对路由器中的分组排队进行智能管理，而不是简单地把队列的尾部丢弃。</a:t>
            </a:r>
          </a:p>
          <a:p>
            <a:r>
              <a:rPr lang="zh-CN" altLang="en-US" dirty="0"/>
              <a:t>现在已经有几种不同的算法来代替旧的 </a:t>
            </a:r>
            <a:r>
              <a:rPr lang="en-US" altLang="zh-CN" dirty="0"/>
              <a:t>RED</a:t>
            </a:r>
            <a:r>
              <a:rPr lang="zh-CN" altLang="en-US" dirty="0"/>
              <a:t>，但都还在实验阶段。</a:t>
            </a:r>
          </a:p>
          <a:p>
            <a:endParaRPr lang="zh-CN" altLang="en-US" dirty="0"/>
          </a:p>
        </p:txBody>
      </p:sp>
      <p:sp>
        <p:nvSpPr>
          <p:cNvPr id="8" name="标题 7">
            <a:extLst>
              <a:ext uri="{FF2B5EF4-FFF2-40B4-BE49-F238E27FC236}">
                <a16:creationId xmlns:a16="http://schemas.microsoft.com/office/drawing/2014/main" id="{2696A79A-8206-C924-8B60-A54D44F85BAE}"/>
              </a:ext>
            </a:extLst>
          </p:cNvPr>
          <p:cNvSpPr>
            <a:spLocks noGrp="1"/>
          </p:cNvSpPr>
          <p:nvPr>
            <p:ph type="title"/>
          </p:nvPr>
        </p:nvSpPr>
        <p:spPr>
          <a:xfrm>
            <a:off x="486000" y="550723"/>
            <a:ext cx="8172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958057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260724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9"/>
          <p:cNvSpPr>
            <a:spLocks noChangeArrowheads="1"/>
          </p:cNvSpPr>
          <p:nvPr/>
        </p:nvSpPr>
        <p:spPr bwMode="auto">
          <a:xfrm>
            <a:off x="2629135" y="140494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10"/>
          <p:cNvSpPr>
            <a:spLocks noChangeArrowheads="1"/>
          </p:cNvSpPr>
          <p:nvPr/>
        </p:nvSpPr>
        <p:spPr bwMode="auto">
          <a:xfrm>
            <a:off x="2629135" y="201137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33350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50945"/>
            <a:ext cx="5585588"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5.9.1                                      TCP </a:t>
            </a:r>
            <a:r>
              <a:rPr lang="zh-CN" altLang="en-US" sz="2000" b="1" dirty="0">
                <a:solidFill>
                  <a:schemeClr val="bg1"/>
                </a:solidFill>
                <a:latin typeface="微软雅黑" pitchFamily="34" charset="-122"/>
                <a:ea typeface="微软雅黑" pitchFamily="34" charset="-122"/>
              </a:rPr>
              <a:t>的连接建立</a:t>
            </a:r>
          </a:p>
          <a:p>
            <a:pPr eaLnBrk="0" hangingPunct="0">
              <a:lnSpc>
                <a:spcPct val="200000"/>
              </a:lnSpc>
            </a:pPr>
            <a:r>
              <a:rPr lang="en-US" altLang="zh-CN" sz="2000" b="1" dirty="0">
                <a:solidFill>
                  <a:schemeClr val="bg1"/>
                </a:solidFill>
                <a:latin typeface="微软雅黑" pitchFamily="34" charset="-122"/>
                <a:ea typeface="微软雅黑" pitchFamily="34" charset="-122"/>
              </a:rPr>
              <a:t>5.9.2                                      TCP </a:t>
            </a:r>
            <a:r>
              <a:rPr lang="zh-CN" altLang="en-US" sz="2000" b="1" dirty="0">
                <a:solidFill>
                  <a:schemeClr val="bg1"/>
                </a:solidFill>
                <a:latin typeface="微软雅黑" pitchFamily="34" charset="-122"/>
                <a:ea typeface="微软雅黑" pitchFamily="34" charset="-122"/>
              </a:rPr>
              <a:t>的连接释放</a:t>
            </a:r>
          </a:p>
          <a:p>
            <a:pPr eaLnBrk="0" hangingPunct="0">
              <a:lnSpc>
                <a:spcPct val="200000"/>
              </a:lnSpc>
            </a:pPr>
            <a:r>
              <a:rPr lang="en-US" altLang="zh-CN" sz="2000" b="1" dirty="0">
                <a:solidFill>
                  <a:schemeClr val="bg1"/>
                </a:solidFill>
                <a:latin typeface="微软雅黑" pitchFamily="34" charset="-122"/>
                <a:ea typeface="微软雅黑" pitchFamily="34" charset="-122"/>
              </a:rPr>
              <a:t>5.9.3                                   TCP </a:t>
            </a:r>
            <a:r>
              <a:rPr lang="zh-CN" altLang="en-US" sz="2000" b="1" dirty="0">
                <a:solidFill>
                  <a:schemeClr val="bg1"/>
                </a:solidFill>
                <a:latin typeface="微软雅黑" pitchFamily="34" charset="-122"/>
                <a:ea typeface="微软雅黑" pitchFamily="34" charset="-122"/>
              </a:rPr>
              <a:t>的有限状态机</a:t>
            </a:r>
          </a:p>
        </p:txBody>
      </p:sp>
      <p:sp>
        <p:nvSpPr>
          <p:cNvPr id="7" name="Rectangle 27"/>
          <p:cNvSpPr>
            <a:spLocks noChangeArrowheads="1"/>
          </p:cNvSpPr>
          <p:nvPr/>
        </p:nvSpPr>
        <p:spPr bwMode="auto">
          <a:xfrm>
            <a:off x="639730" y="140494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9987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5.9</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的运输连接管理</a:t>
            </a:r>
            <a:endParaRPr lang="zh-CN" altLang="fr-FR" sz="2000" b="1" dirty="0">
              <a:solidFill>
                <a:schemeClr val="bg1"/>
              </a:solidFill>
              <a:latin typeface="微软雅黑" pitchFamily="34" charset="-122"/>
              <a:ea typeface="微软雅黑" pitchFamily="34" charset="-122"/>
            </a:endParaRPr>
          </a:p>
        </p:txBody>
      </p:sp>
      <p:sp>
        <p:nvSpPr>
          <p:cNvPr id="13" name="内容占位符 12">
            <a:extLst>
              <a:ext uri="{FF2B5EF4-FFF2-40B4-BE49-F238E27FC236}">
                <a16:creationId xmlns:a16="http://schemas.microsoft.com/office/drawing/2014/main" id="{5736946C-C987-41F9-21CE-F61C6FAD9925}"/>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B9EED616-A22D-4859-EFD2-6C84DD14E18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420096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F157AD8-47AA-9957-B1DC-1F836CBDB166}"/>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是面向连接的协议。</a:t>
            </a:r>
          </a:p>
          <a:p>
            <a:r>
              <a:rPr lang="en-US" altLang="zh-CN" dirty="0"/>
              <a:t>TCP </a:t>
            </a:r>
            <a:r>
              <a:rPr lang="zh-CN" altLang="en-US" dirty="0"/>
              <a:t>连接有三个阶段：</a:t>
            </a:r>
          </a:p>
          <a:p>
            <a:pPr lvl="1"/>
            <a:r>
              <a:rPr lang="zh-CN" altLang="en-US" dirty="0"/>
              <a:t>连接建立</a:t>
            </a:r>
          </a:p>
          <a:p>
            <a:pPr lvl="1"/>
            <a:r>
              <a:rPr lang="zh-CN" altLang="en-US" dirty="0"/>
              <a:t>数据传送</a:t>
            </a:r>
          </a:p>
          <a:p>
            <a:pPr lvl="1"/>
            <a:r>
              <a:rPr lang="zh-CN" altLang="en-US" dirty="0"/>
              <a:t>连接释放</a:t>
            </a:r>
          </a:p>
          <a:p>
            <a:r>
              <a:rPr lang="en-US" altLang="zh-CN" dirty="0"/>
              <a:t>TCP </a:t>
            </a:r>
            <a:r>
              <a:rPr lang="zh-CN" altLang="en-US" dirty="0"/>
              <a:t>的连接管理就是使 </a:t>
            </a:r>
            <a:r>
              <a:rPr lang="en-US" altLang="zh-CN" dirty="0"/>
              <a:t>TCP </a:t>
            </a:r>
            <a:r>
              <a:rPr lang="zh-CN" altLang="en-US" dirty="0"/>
              <a:t>连接的建立和释放都能正常地进行。</a:t>
            </a:r>
          </a:p>
          <a:p>
            <a:endParaRPr lang="zh-CN" altLang="en-US" dirty="0"/>
          </a:p>
        </p:txBody>
      </p:sp>
      <p:sp>
        <p:nvSpPr>
          <p:cNvPr id="8" name="标题 7">
            <a:extLst>
              <a:ext uri="{FF2B5EF4-FFF2-40B4-BE49-F238E27FC236}">
                <a16:creationId xmlns:a16="http://schemas.microsoft.com/office/drawing/2014/main" id="{E0697CB6-D63C-93BB-DEA7-79EB0DA2DF17}"/>
              </a:ext>
            </a:extLst>
          </p:cNvPr>
          <p:cNvSpPr>
            <a:spLocks noGrp="1"/>
          </p:cNvSpPr>
          <p:nvPr>
            <p:ph type="title"/>
          </p:nvPr>
        </p:nvSpPr>
        <p:spPr>
          <a:xfrm>
            <a:off x="486000" y="550723"/>
            <a:ext cx="8172000" cy="338554"/>
          </a:xfrm>
        </p:spPr>
        <p:txBody>
          <a:bodyPr/>
          <a:lstStyle/>
          <a:p>
            <a:r>
              <a:rPr lang="zh-CN" altLang="en-US" dirty="0"/>
              <a:t>运输连接的三个阶段</a:t>
            </a:r>
          </a:p>
        </p:txBody>
      </p:sp>
    </p:spTree>
    <p:extLst>
      <p:ext uri="{BB962C8B-B14F-4D97-AF65-F5344CB8AC3E}">
        <p14:creationId xmlns:p14="http://schemas.microsoft.com/office/powerpoint/2010/main" val="20083953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975672" y="2867117"/>
            <a:ext cx="7192651" cy="1211357"/>
          </a:xfrm>
          <a:prstGeom prst="rect">
            <a:avLst/>
          </a:prstGeom>
          <a:solidFill>
            <a:srgbClr val="000066"/>
          </a:solidFill>
        </p:spPr>
        <p:txBody>
          <a:bodyPr wrap="square">
            <a:spAutoFit/>
          </a:bodyPr>
          <a:lstStyle/>
          <a:p>
            <a:pPr marL="342900" indent="-342900">
              <a:lnSpc>
                <a:spcPts val="3000"/>
              </a:lnSpc>
              <a:buClr>
                <a:schemeClr val="bg1"/>
              </a:buClr>
              <a:buFont typeface="Wingdings" pitchFamily="2" charset="2"/>
              <a:buChar char="l"/>
            </a:pP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连接的建立采用</a:t>
            </a:r>
            <a:r>
              <a:rPr lang="zh-CN" altLang="en-US" sz="2000" b="1" dirty="0">
                <a:solidFill>
                  <a:srgbClr val="FFC000"/>
                </a:solidFill>
                <a:latin typeface="微软雅黑" pitchFamily="34" charset="-122"/>
                <a:ea typeface="微软雅黑" pitchFamily="34" charset="-122"/>
              </a:rPr>
              <a:t>客户服务器</a:t>
            </a:r>
            <a:r>
              <a:rPr lang="zh-CN" altLang="en-US" sz="2000" b="1" dirty="0">
                <a:solidFill>
                  <a:schemeClr val="bg1"/>
                </a:solidFill>
                <a:latin typeface="微软雅黑" pitchFamily="34" charset="-122"/>
                <a:ea typeface="微软雅黑" pitchFamily="34" charset="-122"/>
              </a:rPr>
              <a:t>方式。</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主动发起</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客户</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(client)</a:t>
            </a:r>
            <a:r>
              <a:rPr lang="zh-CN" altLang="en-US" sz="2000" b="1" dirty="0">
                <a:solidFill>
                  <a:schemeClr val="bg1"/>
                </a:solidFill>
                <a:latin typeface="微软雅黑" pitchFamily="34" charset="-122"/>
                <a:ea typeface="微软雅黑" pitchFamily="34" charset="-122"/>
              </a:rPr>
              <a:t>。</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被动等待</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服务器</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(server)</a:t>
            </a:r>
            <a:r>
              <a:rPr lang="zh-CN" altLang="en-US" sz="2000" b="1" dirty="0">
                <a:solidFill>
                  <a:schemeClr val="bg1"/>
                </a:solidFill>
                <a:latin typeface="微软雅黑" pitchFamily="34" charset="-122"/>
                <a:ea typeface="微软雅黑" pitchFamily="34" charset="-122"/>
              </a:rPr>
              <a:t>。</a:t>
            </a:r>
          </a:p>
        </p:txBody>
      </p:sp>
      <p:sp>
        <p:nvSpPr>
          <p:cNvPr id="10" name="内容占位符 9">
            <a:extLst>
              <a:ext uri="{FF2B5EF4-FFF2-40B4-BE49-F238E27FC236}">
                <a16:creationId xmlns:a16="http://schemas.microsoft.com/office/drawing/2014/main" id="{52B62890-41B6-874C-6C25-994FE88FA55A}"/>
              </a:ext>
            </a:extLst>
          </p:cNvPr>
          <p:cNvSpPr>
            <a:spLocks noGrp="1"/>
          </p:cNvSpPr>
          <p:nvPr>
            <p:ph sz="quarter" idx="11"/>
          </p:nvPr>
        </p:nvSpPr>
        <p:spPr>
          <a:xfrm>
            <a:off x="486000" y="900000"/>
            <a:ext cx="8172000" cy="3703500"/>
          </a:xfrm>
        </p:spPr>
        <p:txBody>
          <a:bodyPr/>
          <a:lstStyle/>
          <a:p>
            <a:r>
              <a:rPr lang="zh-CN" altLang="en-US" dirty="0"/>
              <a:t>要使每一方能够确知对方的存在。</a:t>
            </a:r>
          </a:p>
          <a:p>
            <a:r>
              <a:rPr lang="zh-CN" altLang="en-US" dirty="0"/>
              <a:t>要允许双方协商一些参数（如最大窗口值、是否使用窗口扩大选项和时间戳选项以及服务质量等）。</a:t>
            </a:r>
          </a:p>
          <a:p>
            <a:r>
              <a:rPr lang="zh-CN" altLang="en-US" dirty="0"/>
              <a:t>能够对运输实体资源（如缓存大小、连接表中的项目等）进行分配。</a:t>
            </a:r>
          </a:p>
          <a:p>
            <a:endParaRPr lang="zh-CN" altLang="en-US" dirty="0"/>
          </a:p>
        </p:txBody>
      </p:sp>
      <p:sp>
        <p:nvSpPr>
          <p:cNvPr id="9" name="标题 8">
            <a:extLst>
              <a:ext uri="{FF2B5EF4-FFF2-40B4-BE49-F238E27FC236}">
                <a16:creationId xmlns:a16="http://schemas.microsoft.com/office/drawing/2014/main" id="{5D9FA14B-A85F-4536-84BA-A588F85C2192}"/>
              </a:ext>
            </a:extLst>
          </p:cNvPr>
          <p:cNvSpPr>
            <a:spLocks noGrp="1"/>
          </p:cNvSpPr>
          <p:nvPr>
            <p:ph type="title"/>
          </p:nvPr>
        </p:nvSpPr>
        <p:spPr>
          <a:xfrm>
            <a:off x="486000" y="550723"/>
            <a:ext cx="8172000" cy="338554"/>
          </a:xfrm>
        </p:spPr>
        <p:txBody>
          <a:bodyPr/>
          <a:lstStyle/>
          <a:p>
            <a:r>
              <a:rPr lang="en-US" altLang="zh-CN" dirty="0"/>
              <a:t>TCP </a:t>
            </a:r>
            <a:r>
              <a:rPr lang="zh-CN" altLang="en-US" dirty="0"/>
              <a:t>连接建立过程中要解决的三个问题</a:t>
            </a:r>
          </a:p>
        </p:txBody>
      </p:sp>
    </p:spTree>
    <p:extLst>
      <p:ext uri="{BB962C8B-B14F-4D97-AF65-F5344CB8AC3E}">
        <p14:creationId xmlns:p14="http://schemas.microsoft.com/office/powerpoint/2010/main" val="35031567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AA15DBE-8DFD-10F0-7791-222CB6C023A3}"/>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建立连接的过程叫做握手。</a:t>
            </a:r>
          </a:p>
          <a:p>
            <a:r>
              <a:rPr lang="zh-CN" altLang="en-US" dirty="0"/>
              <a:t>采用三报文握手：在客户和服务器之间交换三个 </a:t>
            </a:r>
            <a:r>
              <a:rPr lang="en-US" altLang="zh-CN" dirty="0"/>
              <a:t>TCP </a:t>
            </a:r>
            <a:r>
              <a:rPr lang="zh-CN" altLang="en-US" dirty="0"/>
              <a:t>报文段，以防止已失效的连接请求报文段突然又传送到了，因而产生 </a:t>
            </a:r>
            <a:r>
              <a:rPr lang="en-US" altLang="zh-CN" dirty="0"/>
              <a:t>TCP </a:t>
            </a:r>
            <a:r>
              <a:rPr lang="zh-CN" altLang="en-US" dirty="0"/>
              <a:t>连接建立错误。</a:t>
            </a:r>
          </a:p>
          <a:p>
            <a:endParaRPr lang="zh-CN" altLang="en-US" dirty="0"/>
          </a:p>
        </p:txBody>
      </p:sp>
      <p:sp>
        <p:nvSpPr>
          <p:cNvPr id="8" name="标题 7">
            <a:extLst>
              <a:ext uri="{FF2B5EF4-FFF2-40B4-BE49-F238E27FC236}">
                <a16:creationId xmlns:a16="http://schemas.microsoft.com/office/drawing/2014/main" id="{F989613D-ABAA-DEA5-3B3D-2EC1D31A993E}"/>
              </a:ext>
            </a:extLst>
          </p:cNvPr>
          <p:cNvSpPr>
            <a:spLocks noGrp="1"/>
          </p:cNvSpPr>
          <p:nvPr>
            <p:ph type="title"/>
          </p:nvPr>
        </p:nvSpPr>
        <p:spPr>
          <a:xfrm>
            <a:off x="486000" y="550723"/>
            <a:ext cx="8172000" cy="338554"/>
          </a:xfrm>
        </p:spPr>
        <p:txBody>
          <a:bodyPr/>
          <a:lstStyle/>
          <a:p>
            <a:r>
              <a:rPr lang="en-US" altLang="zh-CN" dirty="0"/>
              <a:t>5.9.1  TCP </a:t>
            </a:r>
            <a:r>
              <a:rPr lang="zh-CN" altLang="en-US" dirty="0"/>
              <a:t>的连接建立</a:t>
            </a:r>
          </a:p>
        </p:txBody>
      </p:sp>
    </p:spTree>
    <p:extLst>
      <p:ext uri="{BB962C8B-B14F-4D97-AF65-F5344CB8AC3E}">
        <p14:creationId xmlns:p14="http://schemas.microsoft.com/office/powerpoint/2010/main" val="327242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箭头连接符 6">
            <a:extLst>
              <a:ext uri="{FF2B5EF4-FFF2-40B4-BE49-F238E27FC236}">
                <a16:creationId xmlns:a16="http://schemas.microsoft.com/office/drawing/2014/main" id="{C80FF363-BC0E-F513-0462-96F884DB1FDC}"/>
              </a:ext>
            </a:extLst>
          </p:cNvPr>
          <p:cNvCxnSpPr>
            <a:cxnSpLocks/>
          </p:cNvCxnSpPr>
          <p:nvPr/>
        </p:nvCxnSpPr>
        <p:spPr>
          <a:xfrm>
            <a:off x="2644083" y="1332655"/>
            <a:ext cx="0" cy="2897133"/>
          </a:xfrm>
          <a:prstGeom prst="straightConnector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22E1B91C-93FA-1433-6508-4A43CD8D807B}"/>
              </a:ext>
            </a:extLst>
          </p:cNvPr>
          <p:cNvCxnSpPr>
            <a:cxnSpLocks/>
            <a:stCxn id="22" idx="2"/>
          </p:cNvCxnSpPr>
          <p:nvPr/>
        </p:nvCxnSpPr>
        <p:spPr>
          <a:xfrm>
            <a:off x="5773427" y="1349788"/>
            <a:ext cx="0" cy="2880000"/>
          </a:xfrm>
          <a:prstGeom prst="straightConnector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文本框 8">
            <a:extLst>
              <a:ext uri="{FF2B5EF4-FFF2-40B4-BE49-F238E27FC236}">
                <a16:creationId xmlns:a16="http://schemas.microsoft.com/office/drawing/2014/main" id="{A3720D08-6F14-38E6-12AA-2F942A367B46}"/>
              </a:ext>
            </a:extLst>
          </p:cNvPr>
          <p:cNvSpPr txBox="1"/>
          <p:nvPr/>
        </p:nvSpPr>
        <p:spPr>
          <a:xfrm>
            <a:off x="2889737" y="1055656"/>
            <a:ext cx="50045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0" name="文本框 9">
            <a:extLst>
              <a:ext uri="{FF2B5EF4-FFF2-40B4-BE49-F238E27FC236}">
                <a16:creationId xmlns:a16="http://schemas.microsoft.com/office/drawing/2014/main" id="{C2D2F0C1-4F48-4565-097F-21C3E7248276}"/>
              </a:ext>
            </a:extLst>
          </p:cNvPr>
          <p:cNvSpPr txBox="1"/>
          <p:nvPr/>
        </p:nvSpPr>
        <p:spPr>
          <a:xfrm>
            <a:off x="5035260" y="1055656"/>
            <a:ext cx="5581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1" name="文本框 10">
            <a:extLst>
              <a:ext uri="{FF2B5EF4-FFF2-40B4-BE49-F238E27FC236}">
                <a16:creationId xmlns:a16="http://schemas.microsoft.com/office/drawing/2014/main" id="{2AB7995F-7501-3414-56E0-2CC9D159BB4D}"/>
              </a:ext>
            </a:extLst>
          </p:cNvPr>
          <p:cNvSpPr txBox="1"/>
          <p:nvPr/>
        </p:nvSpPr>
        <p:spPr>
          <a:xfrm>
            <a:off x="2908073" y="1658349"/>
            <a:ext cx="258917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I would like to talk to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 name="文本框 11">
            <a:extLst>
              <a:ext uri="{FF2B5EF4-FFF2-40B4-BE49-F238E27FC236}">
                <a16:creationId xmlns:a16="http://schemas.microsoft.com/office/drawing/2014/main" id="{D90B4BF5-F870-456B-089B-598433C770CC}"/>
              </a:ext>
            </a:extLst>
          </p:cNvPr>
          <p:cNvSpPr txBox="1"/>
          <p:nvPr/>
        </p:nvSpPr>
        <p:spPr>
          <a:xfrm>
            <a:off x="3436262" y="2400090"/>
            <a:ext cx="153279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let’s talk. 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文本框 12">
            <a:extLst>
              <a:ext uri="{FF2B5EF4-FFF2-40B4-BE49-F238E27FC236}">
                <a16:creationId xmlns:a16="http://schemas.microsoft.com/office/drawing/2014/main" id="{2D5DC4C4-2CE4-FDE6-CB90-80F89118B614}"/>
              </a:ext>
            </a:extLst>
          </p:cNvPr>
          <p:cNvSpPr txBox="1"/>
          <p:nvPr/>
        </p:nvSpPr>
        <p:spPr>
          <a:xfrm>
            <a:off x="3334472" y="3291955"/>
            <a:ext cx="173637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thank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 name="直接箭头连接符 14">
            <a:extLst>
              <a:ext uri="{FF2B5EF4-FFF2-40B4-BE49-F238E27FC236}">
                <a16:creationId xmlns:a16="http://schemas.microsoft.com/office/drawing/2014/main" id="{32FF09AF-22D3-1EEF-0F0D-F8D9ECD231A4}"/>
              </a:ext>
            </a:extLst>
          </p:cNvPr>
          <p:cNvCxnSpPr>
            <a:cxnSpLocks/>
          </p:cNvCxnSpPr>
          <p:nvPr/>
        </p:nvCxnSpPr>
        <p:spPr>
          <a:xfrm>
            <a:off x="2672658" y="1935348"/>
            <a:ext cx="30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D3A9630C-36DC-3779-A1FB-26718B3A1CA9}"/>
              </a:ext>
            </a:extLst>
          </p:cNvPr>
          <p:cNvCxnSpPr>
            <a:cxnSpLocks/>
          </p:cNvCxnSpPr>
          <p:nvPr/>
        </p:nvCxnSpPr>
        <p:spPr>
          <a:xfrm>
            <a:off x="2672658" y="3568954"/>
            <a:ext cx="30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8D5AF9-308A-50B4-85CD-E6F7CC8B17FA}"/>
              </a:ext>
            </a:extLst>
          </p:cNvPr>
          <p:cNvCxnSpPr>
            <a:cxnSpLocks/>
          </p:cNvCxnSpPr>
          <p:nvPr/>
        </p:nvCxnSpPr>
        <p:spPr>
          <a:xfrm flipH="1">
            <a:off x="2672658" y="2677089"/>
            <a:ext cx="30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1" name="图片 20">
            <a:extLst>
              <a:ext uri="{FF2B5EF4-FFF2-40B4-BE49-F238E27FC236}">
                <a16:creationId xmlns:a16="http://schemas.microsoft.com/office/drawing/2014/main" id="{6F333424-1B0A-FC44-A9BD-30232A0B433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464083" y="972655"/>
            <a:ext cx="360000" cy="360000"/>
          </a:xfrm>
          <a:prstGeom prst="rect">
            <a:avLst/>
          </a:prstGeom>
        </p:spPr>
      </p:pic>
      <p:pic>
        <p:nvPicPr>
          <p:cNvPr id="22" name="图片 21">
            <a:extLst>
              <a:ext uri="{FF2B5EF4-FFF2-40B4-BE49-F238E27FC236}">
                <a16:creationId xmlns:a16="http://schemas.microsoft.com/office/drawing/2014/main" id="{BA33F9E0-DA70-90DC-6252-77C04D78C2FF}"/>
              </a:ext>
            </a:extLst>
          </p:cNvPr>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5593427" y="881788"/>
            <a:ext cx="360000" cy="468000"/>
          </a:xfrm>
          <a:prstGeom prst="rect">
            <a:avLst/>
          </a:prstGeom>
        </p:spPr>
      </p:pic>
    </p:spTree>
    <p:extLst>
      <p:ext uri="{BB962C8B-B14F-4D97-AF65-F5344CB8AC3E}">
        <p14:creationId xmlns:p14="http://schemas.microsoft.com/office/powerpoint/2010/main" val="1643966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16" name="标题 15">
            <a:extLst>
              <a:ext uri="{FF2B5EF4-FFF2-40B4-BE49-F238E27FC236}">
                <a16:creationId xmlns:a16="http://schemas.microsoft.com/office/drawing/2014/main" id="{E832566C-F22D-93FB-A599-5D92EFC91B90}"/>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5539871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365384"/>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a:t>
            </a:r>
            <a:r>
              <a:rPr lang="zh-CN" altLang="en-US" sz="1600" b="1" dirty="0">
                <a:solidFill>
                  <a:srgbClr val="0000FF"/>
                </a:solidFill>
                <a:latin typeface="微软雅黑" pitchFamily="34" charset="-122"/>
                <a:ea typeface="微软雅黑" pitchFamily="34" charset="-122"/>
              </a:rPr>
              <a:t>先创建</a:t>
            </a:r>
            <a:r>
              <a:rPr lang="zh-CN" altLang="en-US" sz="1600" b="1" dirty="0">
                <a:latin typeface="微软雅黑" pitchFamily="34" charset="-122"/>
                <a:ea typeface="微软雅黑" pitchFamily="34" charset="-122"/>
              </a:rPr>
              <a:t>传输控制块 </a:t>
            </a:r>
            <a:r>
              <a:rPr lang="en-US" altLang="zh-CN" sz="1600" b="1" dirty="0">
                <a:latin typeface="微软雅黑" pitchFamily="34" charset="-122"/>
                <a:ea typeface="微软雅黑" pitchFamily="34" charset="-122"/>
              </a:rPr>
              <a:t>TCB</a:t>
            </a:r>
            <a:r>
              <a:rPr lang="zh-CN" altLang="en-US" sz="1600" b="1" dirty="0">
                <a:latin typeface="微软雅黑" pitchFamily="34" charset="-122"/>
                <a:ea typeface="微软雅黑" pitchFamily="34" charset="-122"/>
              </a:rPr>
              <a:t>，准备接受客户进程的连接请求。</a:t>
            </a:r>
          </a:p>
        </p:txBody>
      </p:sp>
      <p:sp>
        <p:nvSpPr>
          <p:cNvPr id="16" name="标题 15">
            <a:extLst>
              <a:ext uri="{FF2B5EF4-FFF2-40B4-BE49-F238E27FC236}">
                <a16:creationId xmlns:a16="http://schemas.microsoft.com/office/drawing/2014/main" id="{1DECCECE-B6C9-F192-5AD6-47B4743F6EDC}"/>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452000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1" fill="hold" grpId="0" nodeType="afterEffect">
                                  <p:stCondLst>
                                    <p:cond delay="500"/>
                                  </p:stCondLst>
                                  <p:childTnLst>
                                    <p:set>
                                      <p:cBhvr>
                                        <p:cTn id="6" dur="1" fill="hold">
                                          <p:stCondLst>
                                            <p:cond delay="0"/>
                                          </p:stCondLst>
                                        </p:cTn>
                                        <p:tgtEl>
                                          <p:spTgt spid="30"/>
                                        </p:tgtEl>
                                        <p:attrNameLst>
                                          <p:attrName>style.visibility</p:attrName>
                                        </p:attrNameLst>
                                      </p:cBhvr>
                                      <p:to>
                                        <p:strVal val="visible"/>
                                      </p:to>
                                    </p:set>
                                    <p:anim calcmode="lin" valueType="num">
                                      <p:cBhvr additive="base">
                                        <p:cTn id="7" dur="1000"/>
                                        <p:tgtEl>
                                          <p:spTgt spid="30"/>
                                        </p:tgtEl>
                                        <p:attrNameLst>
                                          <p:attrName>ppt_y</p:attrName>
                                        </p:attrNameLst>
                                      </p:cBhvr>
                                      <p:tavLst>
                                        <p:tav tm="0">
                                          <p:val>
                                            <p:strVal val="#ppt_y-#ppt_h*1.125000"/>
                                          </p:val>
                                        </p:tav>
                                        <p:tav tm="100000">
                                          <p:val>
                                            <p:strVal val="#ppt_y"/>
                                          </p:val>
                                        </p:tav>
                                      </p:tavLst>
                                    </p:anim>
                                    <p:animEffect transition="in" filter="wipe(down)">
                                      <p:cBhvr>
                                        <p:cTn id="8" dur="1000"/>
                                        <p:tgtEl>
                                          <p:spTgt spid="30"/>
                                        </p:tgtEl>
                                      </p:cBhvr>
                                    </p:animEffect>
                                  </p:childTnLst>
                                </p:cTn>
                              </p:par>
                            </p:childTnLst>
                          </p:cTn>
                        </p:par>
                        <p:par>
                          <p:cTn id="9" fill="hold">
                            <p:stCondLst>
                              <p:cond delay="1500"/>
                            </p:stCondLst>
                            <p:childTnLst>
                              <p:par>
                                <p:cTn id="10" presetID="22" presetClass="entr" presetSubtype="1" fill="hold" nodeType="afterEffect">
                                  <p:stCondLst>
                                    <p:cond delay="2000"/>
                                  </p:stCondLst>
                                  <p:childTnLst>
                                    <p:set>
                                      <p:cBhvr>
                                        <p:cTn id="11" dur="1" fill="hold">
                                          <p:stCondLst>
                                            <p:cond delay="0"/>
                                          </p:stCondLst>
                                        </p:cTn>
                                        <p:tgtEl>
                                          <p:spTgt spid="17"/>
                                        </p:tgtEl>
                                        <p:attrNameLst>
                                          <p:attrName>style.visibility</p:attrName>
                                        </p:attrNameLst>
                                      </p:cBhvr>
                                      <p:to>
                                        <p:strVal val="visible"/>
                                      </p:to>
                                    </p:set>
                                    <p:animEffect transition="in" filter="wipe(up)">
                                      <p:cBhvr>
                                        <p:cTn id="12" dur="2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024317"/>
            <a:ext cx="5422002"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主动发出连接请求报文段，其首部中的同步位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，并选择序号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x</a:t>
            </a:r>
            <a:r>
              <a:rPr lang="zh-CN" altLang="en-US" sz="1600" b="1" dirty="0">
                <a:latin typeface="微软雅黑" pitchFamily="34" charset="-122"/>
                <a:ea typeface="微软雅黑" pitchFamily="34" charset="-122"/>
              </a:rPr>
              <a:t>，表明传送数据时的第一个数据字节的序号是 </a:t>
            </a:r>
            <a:r>
              <a:rPr lang="en-US" altLang="zh-CN" sz="1600" b="1" dirty="0">
                <a:latin typeface="微软雅黑" pitchFamily="34" charset="-122"/>
                <a:ea typeface="微软雅黑" pitchFamily="34" charset="-122"/>
              </a:rPr>
              <a:t>x</a:t>
            </a:r>
            <a:r>
              <a:rPr lang="zh-CN" altLang="en-US" sz="1600" b="1" dirty="0">
                <a:latin typeface="微软雅黑" pitchFamily="34" charset="-122"/>
                <a:ea typeface="微软雅黑" pitchFamily="34" charset="-122"/>
              </a:rPr>
              <a:t>。</a:t>
            </a:r>
          </a:p>
        </p:txBody>
      </p:sp>
      <p:sp>
        <p:nvSpPr>
          <p:cNvPr id="20" name="矩形 19"/>
          <p:cNvSpPr/>
          <p:nvPr/>
        </p:nvSpPr>
        <p:spPr>
          <a:xfrm>
            <a:off x="1668543" y="4114800"/>
            <a:ext cx="5891753" cy="646331"/>
          </a:xfrm>
          <a:prstGeom prst="rect">
            <a:avLst/>
          </a:prstGeom>
          <a:solidFill>
            <a:schemeClr val="accent6">
              <a:lumMod val="60000"/>
              <a:lumOff val="40000"/>
            </a:schemeClr>
          </a:solidFill>
        </p:spPr>
        <p:txBody>
          <a:bodyPr wrap="square">
            <a:spAutoFit/>
          </a:bodyPr>
          <a:lstStyle/>
          <a:p>
            <a:r>
              <a:rPr lang="zh-CN" altLang="en-US" b="1" kern="500" dirty="0">
                <a:latin typeface="微软雅黑" panose="020B0503020204020204" pitchFamily="34" charset="-122"/>
                <a:ea typeface="微软雅黑" panose="020B0503020204020204" pitchFamily="34" charset="-122"/>
              </a:rPr>
              <a:t>注意：</a:t>
            </a:r>
            <a:r>
              <a:rPr lang="en-US" altLang="zh-CN" b="1" kern="500" dirty="0">
                <a:latin typeface="微软雅黑" panose="020B0503020204020204" pitchFamily="34" charset="-122"/>
                <a:ea typeface="微软雅黑" panose="020B0503020204020204" pitchFamily="34" charset="-122"/>
              </a:rPr>
              <a:t>TCP</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规定，</a:t>
            </a:r>
            <a:r>
              <a:rPr lang="en-US" altLang="zh-CN" b="1" kern="500" dirty="0">
                <a:latin typeface="微软雅黑" panose="020B0503020204020204" pitchFamily="34" charset="-122"/>
                <a:ea typeface="微软雅黑" panose="020B0503020204020204" pitchFamily="34" charset="-122"/>
              </a:rPr>
              <a:t>SYN </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报文段（即</a:t>
            </a:r>
            <a:r>
              <a:rPr lang="en-US" altLang="zh-CN" b="1" kern="500" dirty="0">
                <a:latin typeface="微软雅黑" panose="020B0503020204020204" pitchFamily="34" charset="-122"/>
                <a:ea typeface="微软雅黑" panose="020B0503020204020204" pitchFamily="34" charset="-122"/>
              </a:rPr>
              <a:t>SYN = 1</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的报文段）</a:t>
            </a:r>
            <a:r>
              <a:rPr lang="zh-CN" altLang="zh-CN" b="1" kern="500" dirty="0">
                <a:solidFill>
                  <a:srgbClr val="0000FF"/>
                </a:solidFill>
                <a:latin typeface="微软雅黑" panose="020B0503020204020204" pitchFamily="34" charset="-122"/>
                <a:ea typeface="微软雅黑" panose="020B0503020204020204" pitchFamily="34" charset="-122"/>
                <a:cs typeface="Times New Roman" panose="02020603050405020304" pitchFamily="18" charset="0"/>
              </a:rPr>
              <a:t>不能携带数据，</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但要消耗掉一个序号。</a:t>
            </a:r>
            <a:endParaRPr lang="zh-CN" altLang="en-US" b="1" dirty="0">
              <a:latin typeface="微软雅黑" panose="020B0503020204020204" pitchFamily="34" charset="-122"/>
              <a:ea typeface="微软雅黑" panose="020B0503020204020204" pitchFamily="34" charset="-122"/>
            </a:endParaRPr>
          </a:p>
        </p:txBody>
      </p:sp>
      <p:sp>
        <p:nvSpPr>
          <p:cNvPr id="33" name="标题 32">
            <a:extLst>
              <a:ext uri="{FF2B5EF4-FFF2-40B4-BE49-F238E27FC236}">
                <a16:creationId xmlns:a16="http://schemas.microsoft.com/office/drawing/2014/main" id="{95C3F8EF-4D9C-0886-235F-BB23F5B68E65}"/>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21256158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000"/>
                                        <p:tgtEl>
                                          <p:spTgt spid="14"/>
                                        </p:tgtEl>
                                      </p:cBhvr>
                                    </p:animEffect>
                                  </p:childTnLst>
                                </p:cTn>
                              </p:par>
                            </p:childTnLst>
                          </p:cTn>
                        </p:par>
                        <p:par>
                          <p:cTn id="8" fill="hold">
                            <p:stCondLst>
                              <p:cond delay="2000"/>
                            </p:stCondLst>
                            <p:childTnLst>
                              <p:par>
                                <p:cTn id="9" presetID="12" presetClass="entr" presetSubtype="1" fill="hold" grpId="0" nodeType="afterEffect">
                                  <p:stCondLst>
                                    <p:cond delay="100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1000"/>
                                        <p:tgtEl>
                                          <p:spTgt spid="30"/>
                                        </p:tgtEl>
                                        <p:attrNameLst>
                                          <p:attrName>ppt_y</p:attrName>
                                        </p:attrNameLst>
                                      </p:cBhvr>
                                      <p:tavLst>
                                        <p:tav tm="0">
                                          <p:val>
                                            <p:strVal val="#ppt_y-#ppt_h*1.125000"/>
                                          </p:val>
                                        </p:tav>
                                        <p:tav tm="100000">
                                          <p:val>
                                            <p:strVal val="#ppt_y"/>
                                          </p:val>
                                        </p:tav>
                                      </p:tavLst>
                                    </p:anim>
                                    <p:animEffect transition="in" filter="wipe(down)">
                                      <p:cBhvr>
                                        <p:cTn id="12" dur="1000"/>
                                        <p:tgtEl>
                                          <p:spTgt spid="30"/>
                                        </p:tgtEl>
                                      </p:cBhvr>
                                    </p:animEffect>
                                  </p:childTnLst>
                                </p:cTn>
                              </p:par>
                            </p:childTnLst>
                          </p:cTn>
                        </p:par>
                        <p:par>
                          <p:cTn id="13" fill="hold">
                            <p:stCondLst>
                              <p:cond delay="4000"/>
                            </p:stCondLst>
                            <p:childTnLst>
                              <p:par>
                                <p:cTn id="14" presetID="22" presetClass="entr" presetSubtype="8"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0" grpId="0" animBg="1"/>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组合 28"/>
          <p:cNvGrpSpPr/>
          <p:nvPr/>
        </p:nvGrpSpPr>
        <p:grpSpPr>
          <a:xfrm>
            <a:off x="3196383" y="2596896"/>
            <a:ext cx="2679216" cy="723958"/>
            <a:chOff x="3196383" y="2596896"/>
            <a:chExt cx="2679216" cy="723958"/>
          </a:xfrm>
        </p:grpSpPr>
        <p:sp>
          <p:nvSpPr>
            <p:cNvPr id="27"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8"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30" name="Text Box 155"/>
          <p:cNvSpPr txBox="1">
            <a:spLocks noChangeArrowheads="1"/>
          </p:cNvSpPr>
          <p:nvPr/>
        </p:nvSpPr>
        <p:spPr bwMode="auto">
          <a:xfrm>
            <a:off x="1774326" y="3365384"/>
            <a:ext cx="5514965"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收到连接请求报文段后，如同意，则发回确认。</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在确认报文段中应使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，使 </a:t>
            </a:r>
            <a:r>
              <a:rPr lang="en-US" altLang="zh-CN" sz="1600" b="1" dirty="0">
                <a:latin typeface="微软雅黑" pitchFamily="34" charset="-122"/>
                <a:ea typeface="微软雅黑" pitchFamily="34" charset="-122"/>
              </a:rPr>
              <a:t>ACK = 1</a:t>
            </a:r>
            <a:r>
              <a:rPr lang="zh-CN" altLang="en-US" sz="1600" b="1" dirty="0">
                <a:latin typeface="微软雅黑" pitchFamily="34" charset="-122"/>
                <a:ea typeface="微软雅黑" pitchFamily="34" charset="-122"/>
              </a:rPr>
              <a:t>，其确认号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x + 1</a:t>
            </a:r>
            <a:r>
              <a:rPr lang="zh-CN" altLang="en-US" sz="1600" b="1" dirty="0">
                <a:latin typeface="微软雅黑" pitchFamily="34" charset="-122"/>
                <a:ea typeface="微软雅黑" pitchFamily="34" charset="-122"/>
              </a:rPr>
              <a:t>，自己选择的序号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y</a:t>
            </a:r>
            <a:r>
              <a:rPr lang="zh-CN" altLang="en-US" sz="1600" b="1" dirty="0">
                <a:latin typeface="微软雅黑" pitchFamily="34" charset="-122"/>
                <a:ea typeface="微软雅黑" pitchFamily="34" charset="-122"/>
              </a:rPr>
              <a:t>。</a:t>
            </a:r>
          </a:p>
        </p:txBody>
      </p:sp>
      <p:sp>
        <p:nvSpPr>
          <p:cNvPr id="2" name="矩形 1"/>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zh-CN" altLang="zh-CN" b="1" kern="500" dirty="0">
                <a:latin typeface="微软雅黑" panose="020B0503020204020204" pitchFamily="34" charset="-122"/>
                <a:ea typeface="微软雅黑" panose="020B0503020204020204" pitchFamily="34" charset="-122"/>
              </a:rPr>
              <a:t>这个报文段也</a:t>
            </a:r>
            <a:r>
              <a:rPr lang="zh-CN" altLang="zh-CN" b="1" kern="500" dirty="0">
                <a:solidFill>
                  <a:srgbClr val="0000FF"/>
                </a:solidFill>
                <a:latin typeface="微软雅黑" panose="020B0503020204020204" pitchFamily="34" charset="-122"/>
                <a:ea typeface="微软雅黑" panose="020B0503020204020204" pitchFamily="34" charset="-122"/>
              </a:rPr>
              <a:t>不能携带数据，</a:t>
            </a:r>
            <a:r>
              <a:rPr lang="zh-CN" altLang="zh-CN" b="1" kern="500" dirty="0">
                <a:latin typeface="微软雅黑" panose="020B0503020204020204" pitchFamily="34" charset="-122"/>
                <a:ea typeface="微软雅黑" panose="020B0503020204020204" pitchFamily="34" charset="-122"/>
              </a:rPr>
              <a:t>但同样要消耗掉一个序号。</a:t>
            </a:r>
            <a:endParaRPr lang="zh-CN" altLang="en-US" b="1" kern="500" dirty="0">
              <a:latin typeface="微软雅黑" panose="020B0503020204020204" pitchFamily="34" charset="-122"/>
              <a:ea typeface="微软雅黑" panose="020B0503020204020204" pitchFamily="34" charset="-122"/>
            </a:endParaRPr>
          </a:p>
        </p:txBody>
      </p:sp>
      <p:sp>
        <p:nvSpPr>
          <p:cNvPr id="36" name="标题 35">
            <a:extLst>
              <a:ext uri="{FF2B5EF4-FFF2-40B4-BE49-F238E27FC236}">
                <a16:creationId xmlns:a16="http://schemas.microsoft.com/office/drawing/2014/main" id="{26CC9722-6784-35B5-4BF8-8485296921E2}"/>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190371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1000"/>
                                        <p:tgtEl>
                                          <p:spTgt spid="30"/>
                                        </p:tgtEl>
                                      </p:cBhvr>
                                    </p:animEffect>
                                  </p:childTnLst>
                                </p:cTn>
                              </p:par>
                            </p:childTnLst>
                          </p:cTn>
                        </p:par>
                        <p:par>
                          <p:cTn id="8" fill="hold">
                            <p:stCondLst>
                              <p:cond delay="1000"/>
                            </p:stCondLst>
                            <p:childTnLst>
                              <p:par>
                                <p:cTn id="9" presetID="22" presetClass="entr" presetSubtype="2" fill="hold" nodeType="afterEffect">
                                  <p:stCondLst>
                                    <p:cond delay="1000"/>
                                  </p:stCondLst>
                                  <p:childTnLst>
                                    <p:set>
                                      <p:cBhvr>
                                        <p:cTn id="10" dur="1" fill="hold">
                                          <p:stCondLst>
                                            <p:cond delay="0"/>
                                          </p:stCondLst>
                                        </p:cTn>
                                        <p:tgtEl>
                                          <p:spTgt spid="29"/>
                                        </p:tgtEl>
                                        <p:attrNameLst>
                                          <p:attrName>style.visibility</p:attrName>
                                        </p:attrNameLst>
                                      </p:cBhvr>
                                      <p:to>
                                        <p:strVal val="visible"/>
                                      </p:to>
                                    </p:set>
                                    <p:animEffect transition="in" filter="wipe(right)">
                                      <p:cBhvr>
                                        <p:cTn id="11" dur="2000"/>
                                        <p:tgtEl>
                                          <p:spTgt spid="2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 grpId="0" animBg="1"/>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809898" y="2586420"/>
            <a:ext cx="2436395" cy="1361911"/>
          </a:xfrm>
          <a:prstGeom prst="rect">
            <a:avLst/>
          </a:prstGeom>
          <a:solidFill>
            <a:srgbClr val="FFFF99"/>
          </a:solidFill>
          <a:ln w="9525">
            <a:solidFill>
              <a:schemeClr val="tx1"/>
            </a:solidFill>
            <a:miter lim="800000"/>
            <a:headEnd/>
            <a:tailEnd/>
          </a:ln>
          <a:effectLst/>
        </p:spPr>
        <p:txBody>
          <a:bodyPr wrap="square">
            <a:spAutoFit/>
          </a:bodyPr>
          <a:lstStyle/>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收到此报文段后向 </a:t>
            </a: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给出确认，其 </a:t>
            </a:r>
            <a:r>
              <a:rPr lang="en-US" altLang="zh-CN" sz="1500" b="1" dirty="0">
                <a:latin typeface="微软雅黑" pitchFamily="34" charset="-122"/>
                <a:ea typeface="微软雅黑" pitchFamily="34" charset="-122"/>
              </a:rPr>
              <a:t>ACK = 1</a:t>
            </a:r>
            <a:r>
              <a:rPr lang="zh-CN" altLang="en-US" sz="1500" b="1" dirty="0">
                <a:latin typeface="微软雅黑" pitchFamily="34" charset="-122"/>
                <a:ea typeface="微软雅黑" pitchFamily="34" charset="-122"/>
              </a:rPr>
              <a:t>，确认号 </a:t>
            </a:r>
            <a:r>
              <a:rPr lang="en-US" altLang="zh-CN" sz="1500" b="1" dirty="0" err="1">
                <a:latin typeface="微软雅黑" pitchFamily="34" charset="-122"/>
                <a:ea typeface="微软雅黑" pitchFamily="34" charset="-122"/>
              </a:rPr>
              <a:t>ack</a:t>
            </a:r>
            <a:r>
              <a:rPr lang="en-US" altLang="zh-CN" sz="1500" b="1" dirty="0">
                <a:latin typeface="微软雅黑" pitchFamily="34" charset="-122"/>
                <a:ea typeface="微软雅黑" pitchFamily="34" charset="-122"/>
              </a:rPr>
              <a:t> = y + 1</a:t>
            </a:r>
            <a:r>
              <a:rPr lang="zh-CN" altLang="en-US" sz="1500" b="1" dirty="0">
                <a:latin typeface="微软雅黑" pitchFamily="34" charset="-122"/>
                <a:ea typeface="微软雅黑" pitchFamily="34" charset="-122"/>
              </a:rPr>
              <a:t>。</a:t>
            </a:r>
          </a:p>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通知上层应用进程，连接已经建立。 </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3" name="组合 32"/>
          <p:cNvGrpSpPr/>
          <p:nvPr/>
        </p:nvGrpSpPr>
        <p:grpSpPr>
          <a:xfrm>
            <a:off x="3369609" y="3394792"/>
            <a:ext cx="2492586" cy="486008"/>
            <a:chOff x="3369609" y="3385648"/>
            <a:chExt cx="2492586" cy="486008"/>
          </a:xfrm>
        </p:grpSpPr>
        <p:sp>
          <p:nvSpPr>
            <p:cNvPr id="30"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sp>
        <p:nvSpPr>
          <p:cNvPr id="35" name="矩形 34"/>
          <p:cNvSpPr/>
          <p:nvPr/>
        </p:nvSpPr>
        <p:spPr>
          <a:xfrm>
            <a:off x="1131216" y="4123289"/>
            <a:ext cx="6862714" cy="620683"/>
          </a:xfrm>
          <a:prstGeom prst="rect">
            <a:avLst/>
          </a:prstGeom>
          <a:solidFill>
            <a:schemeClr val="accent6">
              <a:lumMod val="60000"/>
              <a:lumOff val="40000"/>
            </a:schemeClr>
          </a:solidFill>
        </p:spPr>
        <p:txBody>
          <a:bodyPr wrap="square">
            <a:spAutoFit/>
          </a:bodyPr>
          <a:lstStyle/>
          <a:p>
            <a:pPr algn="ctr">
              <a:lnSpc>
                <a:spcPts val="2200"/>
              </a:lnSpc>
            </a:pPr>
            <a:r>
              <a:rPr lang="en-US" altLang="zh-CN" sz="1600" b="1" kern="500" dirty="0">
                <a:latin typeface="微软雅黑" panose="020B0503020204020204" pitchFamily="34" charset="-122"/>
                <a:ea typeface="微软雅黑" panose="020B0503020204020204" pitchFamily="34" charset="-122"/>
              </a:rPr>
              <a:t>TCP </a:t>
            </a:r>
            <a:r>
              <a:rPr lang="zh-CN" altLang="en-US" sz="1600" b="1" kern="500" dirty="0">
                <a:latin typeface="微软雅黑" panose="020B0503020204020204" pitchFamily="34" charset="-122"/>
                <a:ea typeface="微软雅黑" panose="020B0503020204020204" pitchFamily="34" charset="-122"/>
              </a:rPr>
              <a:t>标准规定：</a:t>
            </a:r>
            <a:r>
              <a:rPr lang="en-US" altLang="zh-CN" sz="1600" b="1" kern="500" dirty="0">
                <a:solidFill>
                  <a:srgbClr val="0000FF"/>
                </a:solidFill>
                <a:latin typeface="微软雅黑" panose="020B0503020204020204" pitchFamily="34" charset="-122"/>
                <a:ea typeface="微软雅黑" panose="020B0503020204020204" pitchFamily="34" charset="-122"/>
              </a:rPr>
              <a:t>ACK </a:t>
            </a:r>
            <a:r>
              <a:rPr lang="zh-CN" altLang="en-US" sz="1600" b="1" kern="500" dirty="0">
                <a:solidFill>
                  <a:srgbClr val="0000FF"/>
                </a:solidFill>
                <a:latin typeface="微软雅黑" panose="020B0503020204020204" pitchFamily="34" charset="-122"/>
                <a:ea typeface="微软雅黑" panose="020B0503020204020204" pitchFamily="34" charset="-122"/>
              </a:rPr>
              <a:t>报文段可以携带数据。</a:t>
            </a:r>
            <a:endParaRPr lang="en-US" altLang="zh-CN" sz="1600" b="1" kern="500" dirty="0">
              <a:solidFill>
                <a:srgbClr val="0000FF"/>
              </a:solidFill>
              <a:latin typeface="微软雅黑" panose="020B0503020204020204" pitchFamily="34" charset="-122"/>
              <a:ea typeface="微软雅黑" panose="020B0503020204020204" pitchFamily="34" charset="-122"/>
            </a:endParaRPr>
          </a:p>
          <a:p>
            <a:pPr algn="ctr"/>
            <a:r>
              <a:rPr lang="zh-CN" altLang="en-US" sz="1600" b="1" kern="500" dirty="0">
                <a:latin typeface="微软雅黑" panose="020B0503020204020204" pitchFamily="34" charset="-122"/>
                <a:ea typeface="微软雅黑" panose="020B0503020204020204" pitchFamily="34" charset="-122"/>
              </a:rPr>
              <a:t>但如果不携带数据，则不消耗序号。</a:t>
            </a:r>
            <a:r>
              <a:rPr lang="zh-CN" altLang="en-US" sz="1400" b="1" kern="500" dirty="0">
                <a:latin typeface="微软雅黑" panose="020B0503020204020204" pitchFamily="34" charset="-122"/>
                <a:ea typeface="微软雅黑" panose="020B0503020204020204" pitchFamily="34" charset="-122"/>
              </a:rPr>
              <a:t>下一个数据报文段的序号仍是 </a:t>
            </a:r>
            <a:r>
              <a:rPr lang="en-US" altLang="zh-CN" sz="1400" b="1" kern="500" dirty="0" err="1">
                <a:latin typeface="微软雅黑" panose="020B0503020204020204" pitchFamily="34" charset="-122"/>
                <a:ea typeface="微软雅黑" panose="020B0503020204020204" pitchFamily="34" charset="-122"/>
              </a:rPr>
              <a:t>seq</a:t>
            </a:r>
            <a:r>
              <a:rPr lang="en-US" altLang="zh-CN" sz="1400" b="1" kern="500" dirty="0">
                <a:latin typeface="微软雅黑" panose="020B0503020204020204" pitchFamily="34" charset="-122"/>
                <a:ea typeface="微软雅黑" panose="020B0503020204020204" pitchFamily="34" charset="-122"/>
              </a:rPr>
              <a:t> = x + 1</a:t>
            </a:r>
            <a:r>
              <a:rPr lang="zh-CN" altLang="en-US" sz="1400" b="1" kern="500" dirty="0">
                <a:latin typeface="微软雅黑" panose="020B0503020204020204" pitchFamily="34" charset="-122"/>
                <a:ea typeface="微软雅黑" panose="020B0503020204020204" pitchFamily="34" charset="-122"/>
              </a:rPr>
              <a:t>。</a:t>
            </a:r>
          </a:p>
        </p:txBody>
      </p:sp>
      <p:sp>
        <p:nvSpPr>
          <p:cNvPr id="39" name="标题 38">
            <a:extLst>
              <a:ext uri="{FF2B5EF4-FFF2-40B4-BE49-F238E27FC236}">
                <a16:creationId xmlns:a16="http://schemas.microsoft.com/office/drawing/2014/main" id="{C2FFC152-2147-E6AF-D473-D35C5E34A1B9}"/>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452736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0"/>
                                  </p:stCondLst>
                                  <p:childTnLst>
                                    <p:set>
                                      <p:cBhvr>
                                        <p:cTn id="6" dur="1" fill="hold">
                                          <p:stCondLst>
                                            <p:cond delay="0"/>
                                          </p:stCondLst>
                                        </p:cTn>
                                        <p:tgtEl>
                                          <p:spTgt spid="33"/>
                                        </p:tgtEl>
                                        <p:attrNameLst>
                                          <p:attrName>style.visibility</p:attrName>
                                        </p:attrNameLst>
                                      </p:cBhvr>
                                      <p:to>
                                        <p:strVal val="visible"/>
                                      </p:to>
                                    </p:set>
                                    <p:animEffect transition="in" filter="wipe(left)">
                                      <p:cBhvr>
                                        <p:cTn id="7" dur="20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5988965" y="2892459"/>
            <a:ext cx="2131455" cy="1361911"/>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收到主机 </a:t>
            </a: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的确认后，也通知其上层应用进程：</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连接已经建立。双方可以开始数据传送。</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sp>
        <p:nvSpPr>
          <p:cNvPr id="41" name="标题 40">
            <a:extLst>
              <a:ext uri="{FF2B5EF4-FFF2-40B4-BE49-F238E27FC236}">
                <a16:creationId xmlns:a16="http://schemas.microsoft.com/office/drawing/2014/main" id="{FA31AAF7-E286-72B8-A25D-17D80ED786EB}"/>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335886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nodeType="afterEffect">
                                  <p:stCondLst>
                                    <p:cond delay="1000"/>
                                  </p:stCondLst>
                                  <p:childTnLst>
                                    <p:set>
                                      <p:cBhvr>
                                        <p:cTn id="6" dur="1" fill="hold">
                                          <p:stCondLst>
                                            <p:cond delay="0"/>
                                          </p:stCondLst>
                                        </p:cTn>
                                        <p:tgtEl>
                                          <p:spTgt spid="33"/>
                                        </p:tgtEl>
                                        <p:attrNameLst>
                                          <p:attrName>style.visibility</p:attrName>
                                        </p:attrNameLst>
                                      </p:cBhvr>
                                      <p:to>
                                        <p:strVal val="visible"/>
                                      </p:to>
                                    </p:set>
                                    <p:animEffect transition="in" filter="barn(outVertical)">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grpSp>
        <p:nvGrpSpPr>
          <p:cNvPr id="53" name="Group 2"/>
          <p:cNvGrpSpPr>
            <a:grpSpLocks/>
          </p:cNvGrpSpPr>
          <p:nvPr/>
        </p:nvGrpSpPr>
        <p:grpSpPr bwMode="auto">
          <a:xfrm>
            <a:off x="2752528" y="2045590"/>
            <a:ext cx="3802206" cy="2120311"/>
            <a:chOff x="880" y="1893"/>
            <a:chExt cx="3747" cy="2372"/>
          </a:xfrm>
        </p:grpSpPr>
        <p:grpSp>
          <p:nvGrpSpPr>
            <p:cNvPr id="54" name="Group 3"/>
            <p:cNvGrpSpPr>
              <a:grpSpLocks/>
            </p:cNvGrpSpPr>
            <p:nvPr/>
          </p:nvGrpSpPr>
          <p:grpSpPr bwMode="auto">
            <a:xfrm>
              <a:off x="899" y="1916"/>
              <a:ext cx="622" cy="1048"/>
              <a:chOff x="899" y="1916"/>
              <a:chExt cx="622" cy="1048"/>
            </a:xfrm>
          </p:grpSpPr>
          <p:sp>
            <p:nvSpPr>
              <p:cNvPr id="67" name="Rectangle 4"/>
              <p:cNvSpPr>
                <a:spLocks noChangeArrowheads="1"/>
              </p:cNvSpPr>
              <p:nvPr/>
            </p:nvSpPr>
            <p:spPr bwMode="auto">
              <a:xfrm>
                <a:off x="899" y="1916"/>
                <a:ext cx="622" cy="1048"/>
              </a:xfrm>
              <a:prstGeom prst="rect">
                <a:avLst/>
              </a:prstGeom>
              <a:solidFill>
                <a:srgbClr val="00990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8" name="Rectangle 5"/>
              <p:cNvSpPr>
                <a:spLocks noChangeArrowheads="1"/>
              </p:cNvSpPr>
              <p:nvPr/>
            </p:nvSpPr>
            <p:spPr bwMode="auto">
              <a:xfrm>
                <a:off x="946" y="2199"/>
                <a:ext cx="548"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SENT</a:t>
                </a:r>
              </a:p>
            </p:txBody>
          </p:sp>
        </p:grpSp>
        <p:grpSp>
          <p:nvGrpSpPr>
            <p:cNvPr id="55" name="Group 6"/>
            <p:cNvGrpSpPr>
              <a:grpSpLocks/>
            </p:cNvGrpSpPr>
            <p:nvPr/>
          </p:nvGrpSpPr>
          <p:grpSpPr bwMode="auto">
            <a:xfrm>
              <a:off x="880" y="3013"/>
              <a:ext cx="690" cy="1252"/>
              <a:chOff x="880" y="3013"/>
              <a:chExt cx="690" cy="1252"/>
            </a:xfrm>
          </p:grpSpPr>
          <p:sp>
            <p:nvSpPr>
              <p:cNvPr id="65" name="Rectangle 7"/>
              <p:cNvSpPr>
                <a:spLocks noChangeArrowheads="1"/>
              </p:cNvSpPr>
              <p:nvPr/>
            </p:nvSpPr>
            <p:spPr bwMode="auto">
              <a:xfrm>
                <a:off x="905" y="3013"/>
                <a:ext cx="609" cy="1252"/>
              </a:xfrm>
              <a:prstGeom prst="rect">
                <a:avLst/>
              </a:prstGeom>
              <a:solidFill>
                <a:srgbClr val="0000FF"/>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6" name="Rectangle 8"/>
              <p:cNvSpPr>
                <a:spLocks noChangeArrowheads="1"/>
              </p:cNvSpPr>
              <p:nvPr/>
            </p:nvSpPr>
            <p:spPr bwMode="auto">
              <a:xfrm>
                <a:off x="880" y="3383"/>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nvGrpSpPr>
            <p:cNvPr id="56" name="Group 9"/>
            <p:cNvGrpSpPr>
              <a:grpSpLocks/>
            </p:cNvGrpSpPr>
            <p:nvPr/>
          </p:nvGrpSpPr>
          <p:grpSpPr bwMode="auto">
            <a:xfrm>
              <a:off x="3949" y="2445"/>
              <a:ext cx="621" cy="1064"/>
              <a:chOff x="3949" y="2445"/>
              <a:chExt cx="621" cy="1064"/>
            </a:xfrm>
          </p:grpSpPr>
          <p:sp>
            <p:nvSpPr>
              <p:cNvPr id="63" name="Rectangle 10"/>
              <p:cNvSpPr>
                <a:spLocks noChangeArrowheads="1"/>
              </p:cNvSpPr>
              <p:nvPr/>
            </p:nvSpPr>
            <p:spPr bwMode="auto">
              <a:xfrm>
                <a:off x="3949" y="2445"/>
                <a:ext cx="621" cy="1064"/>
              </a:xfrm>
              <a:prstGeom prst="rect">
                <a:avLst/>
              </a:prstGeom>
              <a:solidFill>
                <a:srgbClr val="009900"/>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Rectangle 11"/>
              <p:cNvSpPr>
                <a:spLocks noChangeArrowheads="1"/>
              </p:cNvSpPr>
              <p:nvPr/>
            </p:nvSpPr>
            <p:spPr bwMode="auto">
              <a:xfrm>
                <a:off x="3976" y="2751"/>
                <a:ext cx="58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RCVD</a:t>
                </a:r>
              </a:p>
            </p:txBody>
          </p:sp>
        </p:grpSp>
        <p:grpSp>
          <p:nvGrpSpPr>
            <p:cNvPr id="57" name="Group 12"/>
            <p:cNvGrpSpPr>
              <a:grpSpLocks/>
            </p:cNvGrpSpPr>
            <p:nvPr/>
          </p:nvGrpSpPr>
          <p:grpSpPr bwMode="auto">
            <a:xfrm>
              <a:off x="3949" y="1893"/>
              <a:ext cx="678" cy="519"/>
              <a:chOff x="3949" y="1893"/>
              <a:chExt cx="678" cy="519"/>
            </a:xfrm>
          </p:grpSpPr>
          <p:sp>
            <p:nvSpPr>
              <p:cNvPr id="61" name="Rectangle 13"/>
              <p:cNvSpPr>
                <a:spLocks noChangeArrowheads="1"/>
              </p:cNvSpPr>
              <p:nvPr/>
            </p:nvSpPr>
            <p:spPr bwMode="auto">
              <a:xfrm>
                <a:off x="3949" y="1893"/>
                <a:ext cx="621" cy="519"/>
              </a:xfrm>
              <a:prstGeom prst="rect">
                <a:avLst/>
              </a:prstGeom>
              <a:solidFill>
                <a:srgbClr val="CC00CC"/>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2" name="Rectangle 14"/>
              <p:cNvSpPr>
                <a:spLocks noChangeArrowheads="1"/>
              </p:cNvSpPr>
              <p:nvPr/>
            </p:nvSpPr>
            <p:spPr bwMode="auto">
              <a:xfrm>
                <a:off x="3956" y="2004"/>
                <a:ext cx="671"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LISTEN</a:t>
                </a:r>
              </a:p>
            </p:txBody>
          </p:sp>
        </p:grpSp>
        <p:grpSp>
          <p:nvGrpSpPr>
            <p:cNvPr id="58" name="Group 15"/>
            <p:cNvGrpSpPr>
              <a:grpSpLocks/>
            </p:cNvGrpSpPr>
            <p:nvPr/>
          </p:nvGrpSpPr>
          <p:grpSpPr bwMode="auto">
            <a:xfrm>
              <a:off x="3930" y="3564"/>
              <a:ext cx="690" cy="701"/>
              <a:chOff x="3930" y="3564"/>
              <a:chExt cx="690" cy="701"/>
            </a:xfrm>
          </p:grpSpPr>
          <p:sp>
            <p:nvSpPr>
              <p:cNvPr id="59" name="Rectangle 16"/>
              <p:cNvSpPr>
                <a:spLocks noChangeArrowheads="1"/>
              </p:cNvSpPr>
              <p:nvPr/>
            </p:nvSpPr>
            <p:spPr bwMode="auto">
              <a:xfrm>
                <a:off x="3949" y="3564"/>
                <a:ext cx="621" cy="701"/>
              </a:xfrm>
              <a:prstGeom prst="rect">
                <a:avLst/>
              </a:prstGeom>
              <a:solidFill>
                <a:srgbClr val="0000FF"/>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0" name="Rectangle 17"/>
              <p:cNvSpPr>
                <a:spLocks noChangeArrowheads="1"/>
              </p:cNvSpPr>
              <p:nvPr/>
            </p:nvSpPr>
            <p:spPr bwMode="auto">
              <a:xfrm>
                <a:off x="3930" y="3708"/>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sp>
        <p:nvSpPr>
          <p:cNvPr id="2" name="矩形 1"/>
          <p:cNvSpPr/>
          <p:nvPr/>
        </p:nvSpPr>
        <p:spPr>
          <a:xfrm>
            <a:off x="1438250" y="2348542"/>
            <a:ext cx="1441420"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（同步已发送）</a:t>
            </a:r>
          </a:p>
        </p:txBody>
      </p:sp>
      <p:sp>
        <p:nvSpPr>
          <p:cNvPr id="4" name="矩形 3"/>
          <p:cNvSpPr/>
          <p:nvPr/>
        </p:nvSpPr>
        <p:spPr>
          <a:xfrm>
            <a:off x="6411530" y="2838334"/>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（同步收到）</a:t>
            </a:r>
          </a:p>
        </p:txBody>
      </p:sp>
      <p:sp>
        <p:nvSpPr>
          <p:cNvPr id="5" name="矩形 4"/>
          <p:cNvSpPr/>
          <p:nvPr/>
        </p:nvSpPr>
        <p:spPr>
          <a:xfrm>
            <a:off x="1439489" y="3369465"/>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52" name="矩形 51"/>
          <p:cNvSpPr/>
          <p:nvPr/>
        </p:nvSpPr>
        <p:spPr>
          <a:xfrm>
            <a:off x="6396639" y="3655617"/>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39" name="标题 38">
            <a:extLst>
              <a:ext uri="{FF2B5EF4-FFF2-40B4-BE49-F238E27FC236}">
                <a16:creationId xmlns:a16="http://schemas.microsoft.com/office/drawing/2014/main" id="{69F05BA6-8912-393B-FF3C-30C94CF2F82D}"/>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13252252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47D15CC1-5781-A9FD-7949-A7C95335D57C}"/>
              </a:ext>
            </a:extLst>
          </p:cNvPr>
          <p:cNvCxnSpPr>
            <a:cxnSpLocks/>
          </p:cNvCxnSpPr>
          <p:nvPr/>
        </p:nvCxnSpPr>
        <p:spPr>
          <a:xfrm>
            <a:off x="2644083"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FEC8E802-DCFB-F2C8-1459-2F22F0E42B88}"/>
              </a:ext>
            </a:extLst>
          </p:cNvPr>
          <p:cNvCxnSpPr>
            <a:cxnSpLocks/>
          </p:cNvCxnSpPr>
          <p:nvPr/>
        </p:nvCxnSpPr>
        <p:spPr>
          <a:xfrm>
            <a:off x="5770733"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7" name="组合 26">
            <a:extLst>
              <a:ext uri="{FF2B5EF4-FFF2-40B4-BE49-F238E27FC236}">
                <a16:creationId xmlns:a16="http://schemas.microsoft.com/office/drawing/2014/main" id="{0E40880E-C15E-C1D0-10F3-32FF3925B801}"/>
              </a:ext>
            </a:extLst>
          </p:cNvPr>
          <p:cNvGrpSpPr/>
          <p:nvPr/>
        </p:nvGrpSpPr>
        <p:grpSpPr>
          <a:xfrm>
            <a:off x="2428083" y="553196"/>
            <a:ext cx="432000" cy="432000"/>
            <a:chOff x="1637508" y="547157"/>
            <a:chExt cx="432000" cy="432000"/>
          </a:xfrm>
        </p:grpSpPr>
        <p:pic>
          <p:nvPicPr>
            <p:cNvPr id="5" name="图形 4" descr="监视器">
              <a:extLst>
                <a:ext uri="{FF2B5EF4-FFF2-40B4-BE49-F238E27FC236}">
                  <a16:creationId xmlns:a16="http://schemas.microsoft.com/office/drawing/2014/main" id="{5BB9EDD4-3F0E-0283-7864-426C18E2721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637508" y="547157"/>
              <a:ext cx="432000" cy="432000"/>
            </a:xfrm>
            <a:prstGeom prst="rect">
              <a:avLst/>
            </a:prstGeom>
          </p:spPr>
        </p:pic>
        <p:sp>
          <p:nvSpPr>
            <p:cNvPr id="7" name="文本框 6">
              <a:extLst>
                <a:ext uri="{FF2B5EF4-FFF2-40B4-BE49-F238E27FC236}">
                  <a16:creationId xmlns:a16="http://schemas.microsoft.com/office/drawing/2014/main" id="{290FE7E5-A3E5-74B3-343D-D431DFB1D4EB}"/>
                </a:ext>
              </a:extLst>
            </p:cNvPr>
            <p:cNvSpPr txBox="1"/>
            <p:nvPr/>
          </p:nvSpPr>
          <p:spPr>
            <a:xfrm>
              <a:off x="1705871" y="624658"/>
              <a:ext cx="2952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grpSp>
        <p:nvGrpSpPr>
          <p:cNvPr id="26" name="组合 25">
            <a:extLst>
              <a:ext uri="{FF2B5EF4-FFF2-40B4-BE49-F238E27FC236}">
                <a16:creationId xmlns:a16="http://schemas.microsoft.com/office/drawing/2014/main" id="{E7C871D1-5F7D-B69A-DC4D-EA2E74592C7E}"/>
              </a:ext>
            </a:extLst>
          </p:cNvPr>
          <p:cNvGrpSpPr/>
          <p:nvPr/>
        </p:nvGrpSpPr>
        <p:grpSpPr>
          <a:xfrm>
            <a:off x="5554733" y="553196"/>
            <a:ext cx="432000" cy="432000"/>
            <a:chOff x="6107183" y="559236"/>
            <a:chExt cx="432000" cy="432000"/>
          </a:xfrm>
        </p:grpSpPr>
        <p:pic>
          <p:nvPicPr>
            <p:cNvPr id="8" name="图形 7" descr="监视器">
              <a:extLst>
                <a:ext uri="{FF2B5EF4-FFF2-40B4-BE49-F238E27FC236}">
                  <a16:creationId xmlns:a16="http://schemas.microsoft.com/office/drawing/2014/main" id="{17145CFB-63B6-38AB-DAF9-92A4D5D9A29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107183" y="559236"/>
              <a:ext cx="432000" cy="432000"/>
            </a:xfrm>
            <a:prstGeom prst="rect">
              <a:avLst/>
            </a:prstGeom>
          </p:spPr>
        </p:pic>
        <p:sp>
          <p:nvSpPr>
            <p:cNvPr id="9" name="文本框 8">
              <a:extLst>
                <a:ext uri="{FF2B5EF4-FFF2-40B4-BE49-F238E27FC236}">
                  <a16:creationId xmlns:a16="http://schemas.microsoft.com/office/drawing/2014/main" id="{8117EFBA-A8D8-4770-E94A-0CEC266FF99C}"/>
                </a:ext>
              </a:extLst>
            </p:cNvPr>
            <p:cNvSpPr txBox="1"/>
            <p:nvPr/>
          </p:nvSpPr>
          <p:spPr>
            <a:xfrm>
              <a:off x="6173142" y="636737"/>
              <a:ext cx="30008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B</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cxnSp>
        <p:nvCxnSpPr>
          <p:cNvPr id="10" name="直接箭头连接符 9">
            <a:extLst>
              <a:ext uri="{FF2B5EF4-FFF2-40B4-BE49-F238E27FC236}">
                <a16:creationId xmlns:a16="http://schemas.microsoft.com/office/drawing/2014/main" id="{AF485F0E-7474-25C5-73FB-A9FC88D067E7}"/>
              </a:ext>
            </a:extLst>
          </p:cNvPr>
          <p:cNvCxnSpPr>
            <a:cxnSpLocks/>
            <a:stCxn id="19" idx="3"/>
            <a:endCxn id="20" idx="1"/>
          </p:cNvCxnSpPr>
          <p:nvPr/>
        </p:nvCxnSpPr>
        <p:spPr>
          <a:xfrm>
            <a:off x="2644083" y="1656019"/>
            <a:ext cx="3126650" cy="477824"/>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41A7C4B1-6D99-D0F8-E504-DF8806B5DA27}"/>
              </a:ext>
            </a:extLst>
          </p:cNvPr>
          <p:cNvCxnSpPr>
            <a:cxnSpLocks/>
            <a:stCxn id="20" idx="1"/>
            <a:endCxn id="21" idx="3"/>
          </p:cNvCxnSpPr>
          <p:nvPr/>
        </p:nvCxnSpPr>
        <p:spPr>
          <a:xfrm flipH="1">
            <a:off x="2644083" y="2133843"/>
            <a:ext cx="3126650" cy="736480"/>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09DAF7F8-8ADD-CB8E-B31A-ACF047960F45}"/>
              </a:ext>
            </a:extLst>
          </p:cNvPr>
          <p:cNvCxnSpPr>
            <a:cxnSpLocks/>
            <a:stCxn id="21" idx="3"/>
            <a:endCxn id="22" idx="1"/>
          </p:cNvCxnSpPr>
          <p:nvPr/>
        </p:nvCxnSpPr>
        <p:spPr>
          <a:xfrm>
            <a:off x="2644083" y="2870323"/>
            <a:ext cx="3126650" cy="493253"/>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B5D1F939-D92A-7D02-6527-37ECCF436B8B}"/>
              </a:ext>
            </a:extLst>
          </p:cNvPr>
          <p:cNvSpPr txBox="1"/>
          <p:nvPr/>
        </p:nvSpPr>
        <p:spPr>
          <a:xfrm rot="540000">
            <a:off x="3642991" y="1585272"/>
            <a:ext cx="112883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SYN=1 seq=x</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4" name="文本框 13">
            <a:extLst>
              <a:ext uri="{FF2B5EF4-FFF2-40B4-BE49-F238E27FC236}">
                <a16:creationId xmlns:a16="http://schemas.microsoft.com/office/drawing/2014/main" id="{90CD8884-3B11-5208-1AB1-8A9658CAFCA0}"/>
              </a:ext>
            </a:extLst>
          </p:cNvPr>
          <p:cNvSpPr txBox="1"/>
          <p:nvPr/>
        </p:nvSpPr>
        <p:spPr>
          <a:xfrm rot="20808004">
            <a:off x="3314375" y="2255155"/>
            <a:ext cx="1786066"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SYN=1 ACK=1 ack=x+1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seq=y </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5" name="文本框 14">
            <a:extLst>
              <a:ext uri="{FF2B5EF4-FFF2-40B4-BE49-F238E27FC236}">
                <a16:creationId xmlns:a16="http://schemas.microsoft.com/office/drawing/2014/main" id="{34365C8C-B898-59E8-021B-19121C4387CF}"/>
              </a:ext>
            </a:extLst>
          </p:cNvPr>
          <p:cNvSpPr txBox="1"/>
          <p:nvPr/>
        </p:nvSpPr>
        <p:spPr>
          <a:xfrm rot="525163">
            <a:off x="3564444" y="2888112"/>
            <a:ext cx="1285928"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ACK=1 ack=y+1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Seq = x+1</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6" name="矩形 15">
            <a:extLst>
              <a:ext uri="{FF2B5EF4-FFF2-40B4-BE49-F238E27FC236}">
                <a16:creationId xmlns:a16="http://schemas.microsoft.com/office/drawing/2014/main" id="{CDB39CFD-E5ED-7063-B40E-9F1A61FB0739}"/>
              </a:ext>
            </a:extLst>
          </p:cNvPr>
          <p:cNvSpPr/>
          <p:nvPr/>
        </p:nvSpPr>
        <p:spPr>
          <a:xfrm>
            <a:off x="1204083" y="960670"/>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sp>
        <p:nvSpPr>
          <p:cNvPr id="17" name="矩形 16">
            <a:extLst>
              <a:ext uri="{FF2B5EF4-FFF2-40B4-BE49-F238E27FC236}">
                <a16:creationId xmlns:a16="http://schemas.microsoft.com/office/drawing/2014/main" id="{A5BF2568-8721-B52F-81EB-DE4D8ABF589D}"/>
              </a:ext>
            </a:extLst>
          </p:cNvPr>
          <p:cNvSpPr/>
          <p:nvPr/>
        </p:nvSpPr>
        <p:spPr>
          <a:xfrm>
            <a:off x="5770733" y="960669"/>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8" name="矩形 17">
            <a:extLst>
              <a:ext uri="{FF2B5EF4-FFF2-40B4-BE49-F238E27FC236}">
                <a16:creationId xmlns:a16="http://schemas.microsoft.com/office/drawing/2014/main" id="{6B9B0A21-91AF-6659-B7A4-16AB52CAB229}"/>
              </a:ext>
            </a:extLst>
          </p:cNvPr>
          <p:cNvSpPr/>
          <p:nvPr/>
        </p:nvSpPr>
        <p:spPr>
          <a:xfrm>
            <a:off x="5770733" y="1386134"/>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LISTEN</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9" name="矩形 18">
            <a:extLst>
              <a:ext uri="{FF2B5EF4-FFF2-40B4-BE49-F238E27FC236}">
                <a16:creationId xmlns:a16="http://schemas.microsoft.com/office/drawing/2014/main" id="{B6FE02D6-3420-13E5-C262-350FD1A3B95F}"/>
              </a:ext>
            </a:extLst>
          </p:cNvPr>
          <p:cNvSpPr/>
          <p:nvPr/>
        </p:nvSpPr>
        <p:spPr>
          <a:xfrm>
            <a:off x="1204083" y="1517519"/>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SYN-SENT</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0" name="矩形 19">
            <a:extLst>
              <a:ext uri="{FF2B5EF4-FFF2-40B4-BE49-F238E27FC236}">
                <a16:creationId xmlns:a16="http://schemas.microsoft.com/office/drawing/2014/main" id="{B3CBFDAE-63CF-7D49-CA70-9CDB0EC06F82}"/>
              </a:ext>
            </a:extLst>
          </p:cNvPr>
          <p:cNvSpPr/>
          <p:nvPr/>
        </p:nvSpPr>
        <p:spPr>
          <a:xfrm>
            <a:off x="5770733" y="1995343"/>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SYN-RCVD</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1" name="矩形 20">
            <a:extLst>
              <a:ext uri="{FF2B5EF4-FFF2-40B4-BE49-F238E27FC236}">
                <a16:creationId xmlns:a16="http://schemas.microsoft.com/office/drawing/2014/main" id="{4567E7F4-B634-36C9-D3BB-E52637B13DAE}"/>
              </a:ext>
            </a:extLst>
          </p:cNvPr>
          <p:cNvSpPr/>
          <p:nvPr/>
        </p:nvSpPr>
        <p:spPr>
          <a:xfrm>
            <a:off x="1204083" y="2731823"/>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2" name="矩形 21">
            <a:extLst>
              <a:ext uri="{FF2B5EF4-FFF2-40B4-BE49-F238E27FC236}">
                <a16:creationId xmlns:a16="http://schemas.microsoft.com/office/drawing/2014/main" id="{EDC68764-2D0B-5CBA-9ADD-355F87844811}"/>
              </a:ext>
            </a:extLst>
          </p:cNvPr>
          <p:cNvSpPr/>
          <p:nvPr/>
        </p:nvSpPr>
        <p:spPr>
          <a:xfrm>
            <a:off x="5770733" y="3225076"/>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3" name="箭头: 左右 22">
            <a:extLst>
              <a:ext uri="{FF2B5EF4-FFF2-40B4-BE49-F238E27FC236}">
                <a16:creationId xmlns:a16="http://schemas.microsoft.com/office/drawing/2014/main" id="{7C8E832C-28A8-33B7-ECE1-CE4A4A0D10A3}"/>
              </a:ext>
            </a:extLst>
          </p:cNvPr>
          <p:cNvSpPr/>
          <p:nvPr/>
        </p:nvSpPr>
        <p:spPr>
          <a:xfrm>
            <a:off x="2767408" y="3846627"/>
            <a:ext cx="2880000" cy="653501"/>
          </a:xfrm>
          <a:prstGeom prst="leftRightArrow">
            <a:avLst>
              <a:gd name="adj1" fmla="val 58746"/>
              <a:gd name="adj2" fmla="val 59067"/>
            </a:avLst>
          </a:prstGeom>
          <a:solidFill>
            <a:schemeClr val="tx2">
              <a:lumMod val="40000"/>
              <a:lumOff val="6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数据传输</a:t>
            </a:r>
          </a:p>
        </p:txBody>
      </p:sp>
      <p:sp>
        <p:nvSpPr>
          <p:cNvPr id="24" name="文本框 23">
            <a:extLst>
              <a:ext uri="{FF2B5EF4-FFF2-40B4-BE49-F238E27FC236}">
                <a16:creationId xmlns:a16="http://schemas.microsoft.com/office/drawing/2014/main" id="{96AC86E7-ACD9-6D38-15BB-DAA07DF5B35E}"/>
              </a:ext>
            </a:extLst>
          </p:cNvPr>
          <p:cNvSpPr txBox="1"/>
          <p:nvPr/>
        </p:nvSpPr>
        <p:spPr>
          <a:xfrm>
            <a:off x="2795185" y="630697"/>
            <a:ext cx="63831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C</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lient</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5" name="文本框 24">
            <a:extLst>
              <a:ext uri="{FF2B5EF4-FFF2-40B4-BE49-F238E27FC236}">
                <a16:creationId xmlns:a16="http://schemas.microsoft.com/office/drawing/2014/main" id="{D3E3829D-EEEE-FFC9-BB5B-BD35FC5F6147}"/>
              </a:ext>
            </a:extLst>
          </p:cNvPr>
          <p:cNvSpPr txBox="1"/>
          <p:nvPr/>
        </p:nvSpPr>
        <p:spPr>
          <a:xfrm>
            <a:off x="4968506" y="630697"/>
            <a:ext cx="67037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S</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erver</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27377392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07582DB-C4E6-9DC1-4B81-C2226EC321B0}"/>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连接释放过程比较复杂。</a:t>
            </a:r>
          </a:p>
          <a:p>
            <a:r>
              <a:rPr lang="zh-CN" altLang="en-US" dirty="0"/>
              <a:t>数据传输结束后，通信的双方都可释放连接。</a:t>
            </a:r>
          </a:p>
          <a:p>
            <a:r>
              <a:rPr lang="en-US" altLang="zh-CN" dirty="0"/>
              <a:t>TCP </a:t>
            </a:r>
            <a:r>
              <a:rPr lang="zh-CN" altLang="en-US" dirty="0"/>
              <a:t>连接释放过程是四报文握手。</a:t>
            </a:r>
          </a:p>
          <a:p>
            <a:endParaRPr lang="zh-CN" altLang="en-US" dirty="0"/>
          </a:p>
        </p:txBody>
      </p:sp>
      <p:sp>
        <p:nvSpPr>
          <p:cNvPr id="8" name="标题 7">
            <a:extLst>
              <a:ext uri="{FF2B5EF4-FFF2-40B4-BE49-F238E27FC236}">
                <a16:creationId xmlns:a16="http://schemas.microsoft.com/office/drawing/2014/main" id="{0F0CDFFA-CE84-E1B1-92F1-BB8F1195D320}"/>
              </a:ext>
            </a:extLst>
          </p:cNvPr>
          <p:cNvSpPr>
            <a:spLocks noGrp="1"/>
          </p:cNvSpPr>
          <p:nvPr>
            <p:ph type="title"/>
          </p:nvPr>
        </p:nvSpPr>
        <p:spPr>
          <a:xfrm>
            <a:off x="486000" y="550723"/>
            <a:ext cx="8172000" cy="338554"/>
          </a:xfrm>
        </p:spPr>
        <p:txBody>
          <a:bodyPr/>
          <a:lstStyle/>
          <a:p>
            <a:r>
              <a:rPr lang="en-US" altLang="zh-CN" dirty="0"/>
              <a:t>5.9.2  TCP </a:t>
            </a:r>
            <a:r>
              <a:rPr lang="zh-CN" altLang="en-US" dirty="0"/>
              <a:t>的连接释放</a:t>
            </a:r>
          </a:p>
        </p:txBody>
      </p:sp>
    </p:spTree>
    <p:extLst>
      <p:ext uri="{BB962C8B-B14F-4D97-AF65-F5344CB8AC3E}">
        <p14:creationId xmlns:p14="http://schemas.microsoft.com/office/powerpoint/2010/main" val="36455555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37" name="Group 8"/>
          <p:cNvGrpSpPr>
            <a:grpSpLocks/>
          </p:cNvGrpSpPr>
          <p:nvPr/>
        </p:nvGrpSpPr>
        <p:grpSpPr bwMode="auto">
          <a:xfrm>
            <a:off x="3393849" y="1833311"/>
            <a:ext cx="2305317" cy="428484"/>
            <a:chOff x="1614" y="1484"/>
            <a:chExt cx="2604" cy="484"/>
          </a:xfrm>
        </p:grpSpPr>
        <p:sp>
          <p:nvSpPr>
            <p:cNvPr id="138"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139"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40"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42" name="Group 20"/>
          <p:cNvGrpSpPr>
            <a:grpSpLocks/>
          </p:cNvGrpSpPr>
          <p:nvPr/>
        </p:nvGrpSpPr>
        <p:grpSpPr bwMode="auto">
          <a:xfrm>
            <a:off x="2806011" y="1372071"/>
            <a:ext cx="3501355" cy="46036"/>
            <a:chOff x="1020" y="481"/>
            <a:chExt cx="4037" cy="46"/>
          </a:xfrm>
        </p:grpSpPr>
        <p:sp>
          <p:nvSpPr>
            <p:cNvPr id="143"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4"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45" name="Group 37"/>
          <p:cNvGrpSpPr>
            <a:grpSpLocks/>
          </p:cNvGrpSpPr>
          <p:nvPr/>
        </p:nvGrpSpPr>
        <p:grpSpPr bwMode="auto">
          <a:xfrm>
            <a:off x="2103083" y="1220685"/>
            <a:ext cx="922481" cy="603775"/>
            <a:chOff x="156" y="792"/>
            <a:chExt cx="1042" cy="682"/>
          </a:xfrm>
        </p:grpSpPr>
        <p:sp>
          <p:nvSpPr>
            <p:cNvPr id="14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48"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49"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50"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51"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52"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153"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55"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56"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157" name="Group 2"/>
          <p:cNvGrpSpPr>
            <a:grpSpLocks/>
          </p:cNvGrpSpPr>
          <p:nvPr/>
        </p:nvGrpSpPr>
        <p:grpSpPr bwMode="auto">
          <a:xfrm>
            <a:off x="3384905" y="1795969"/>
            <a:ext cx="2321296" cy="2086458"/>
            <a:chOff x="1474" y="1888"/>
            <a:chExt cx="2412" cy="2432"/>
          </a:xfrm>
        </p:grpSpPr>
        <p:sp>
          <p:nvSpPr>
            <p:cNvPr id="158"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9"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60" name="Text Box 155"/>
          <p:cNvSpPr txBox="1">
            <a:spLocks noChangeArrowheads="1"/>
          </p:cNvSpPr>
          <p:nvPr/>
        </p:nvSpPr>
        <p:spPr bwMode="auto">
          <a:xfrm>
            <a:off x="1929775" y="3098036"/>
            <a:ext cx="5422002"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的应用进程先向其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发出连接释放报文段，并停止再发送数据，</a:t>
            </a:r>
            <a:r>
              <a:rPr lang="zh-CN" altLang="en-US" sz="1600" b="1" dirty="0">
                <a:solidFill>
                  <a:srgbClr val="0000FF"/>
                </a:solidFill>
                <a:latin typeface="微软雅黑" pitchFamily="34" charset="-122"/>
                <a:ea typeface="微软雅黑" pitchFamily="34" charset="-122"/>
              </a:rPr>
              <a:t>主动关闭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把连接释放报文段首部的 </a:t>
            </a:r>
            <a:r>
              <a:rPr lang="en-US" altLang="zh-CN" sz="1600" b="1" dirty="0">
                <a:latin typeface="微软雅黑" pitchFamily="34" charset="-122"/>
                <a:ea typeface="微软雅黑" pitchFamily="34" charset="-122"/>
              </a:rPr>
              <a:t>FIN = 1</a:t>
            </a:r>
            <a:r>
              <a:rPr lang="zh-CN" altLang="en-US" sz="1600" b="1" dirty="0">
                <a:latin typeface="微软雅黑" pitchFamily="34" charset="-122"/>
                <a:ea typeface="微软雅黑" pitchFamily="34" charset="-122"/>
              </a:rPr>
              <a:t>，其序号</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a:t>
            </a:r>
            <a:r>
              <a:rPr lang="zh-CN" altLang="en-US" sz="1600" b="1" dirty="0">
                <a:latin typeface="微软雅黑" pitchFamily="34" charset="-122"/>
                <a:ea typeface="微软雅黑" pitchFamily="34" charset="-122"/>
              </a:rPr>
              <a:t>，等待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的确认。</a:t>
            </a:r>
          </a:p>
        </p:txBody>
      </p:sp>
      <p:sp>
        <p:nvSpPr>
          <p:cNvPr id="30" name="矩形 29"/>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en-US" altLang="zh-CN" b="1" kern="500" dirty="0">
                <a:latin typeface="微软雅黑" panose="020B0503020204020204" pitchFamily="34" charset="-122"/>
                <a:ea typeface="微软雅黑" panose="020B0503020204020204" pitchFamily="34" charset="-122"/>
              </a:rPr>
              <a:t>TCP</a:t>
            </a:r>
            <a:r>
              <a:rPr lang="zh-CN" altLang="en-US" b="1" kern="500" dirty="0">
                <a:latin typeface="微软雅黑" panose="020B0503020204020204" pitchFamily="34" charset="-122"/>
                <a:ea typeface="微软雅黑" panose="020B0503020204020204" pitchFamily="34" charset="-122"/>
              </a:rPr>
              <a:t>规定：</a:t>
            </a:r>
            <a:r>
              <a:rPr lang="en-US" altLang="zh-CN" b="1" kern="500" dirty="0">
                <a:latin typeface="微软雅黑" panose="020B0503020204020204" pitchFamily="34" charset="-122"/>
                <a:ea typeface="微软雅黑" panose="020B0503020204020204" pitchFamily="34" charset="-122"/>
              </a:rPr>
              <a:t>FIN </a:t>
            </a:r>
            <a:r>
              <a:rPr lang="zh-CN" altLang="en-US" b="1" kern="500" dirty="0">
                <a:latin typeface="微软雅黑" panose="020B0503020204020204" pitchFamily="34" charset="-122"/>
                <a:ea typeface="微软雅黑" panose="020B0503020204020204" pitchFamily="34" charset="-122"/>
              </a:rPr>
              <a:t>报文段即使不携带数据，也消耗掉一个序号。</a:t>
            </a:r>
          </a:p>
        </p:txBody>
      </p:sp>
      <p:sp>
        <p:nvSpPr>
          <p:cNvPr id="4" name="标题 3">
            <a:extLst>
              <a:ext uri="{FF2B5EF4-FFF2-40B4-BE49-F238E27FC236}">
                <a16:creationId xmlns:a16="http://schemas.microsoft.com/office/drawing/2014/main" id="{DCF2A2B3-8CD5-AC28-82C8-D2C18F4757BD}"/>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15535065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500"/>
                                  </p:stCondLst>
                                  <p:childTnLst>
                                    <p:set>
                                      <p:cBhvr>
                                        <p:cTn id="6" dur="1" fill="hold">
                                          <p:stCondLst>
                                            <p:cond delay="0"/>
                                          </p:stCondLst>
                                        </p:cTn>
                                        <p:tgtEl>
                                          <p:spTgt spid="145"/>
                                        </p:tgtEl>
                                        <p:attrNameLst>
                                          <p:attrName>style.visibility</p:attrName>
                                        </p:attrNameLst>
                                      </p:cBhvr>
                                      <p:to>
                                        <p:strVal val="visible"/>
                                      </p:to>
                                    </p:set>
                                    <p:animEffect transition="in" filter="wipe(up)">
                                      <p:cBhvr>
                                        <p:cTn id="7" dur="1000"/>
                                        <p:tgtEl>
                                          <p:spTgt spid="145"/>
                                        </p:tgtEl>
                                      </p:cBhvr>
                                    </p:animEffect>
                                  </p:childTnLst>
                                </p:cTn>
                              </p:par>
                            </p:childTnLst>
                          </p:cTn>
                        </p:par>
                        <p:par>
                          <p:cTn id="8" fill="hold">
                            <p:stCondLst>
                              <p:cond delay="1500"/>
                            </p:stCondLst>
                            <p:childTnLst>
                              <p:par>
                                <p:cTn id="9" presetID="22" presetClass="entr" presetSubtype="8" fill="hold" nodeType="afterEffect">
                                  <p:stCondLst>
                                    <p:cond delay="500"/>
                                  </p:stCondLst>
                                  <p:childTnLst>
                                    <p:set>
                                      <p:cBhvr>
                                        <p:cTn id="10" dur="1" fill="hold">
                                          <p:stCondLst>
                                            <p:cond delay="0"/>
                                          </p:stCondLst>
                                        </p:cTn>
                                        <p:tgtEl>
                                          <p:spTgt spid="137"/>
                                        </p:tgtEl>
                                        <p:attrNameLst>
                                          <p:attrName>style.visibility</p:attrName>
                                        </p:attrNameLst>
                                      </p:cBhvr>
                                      <p:to>
                                        <p:strVal val="visible"/>
                                      </p:to>
                                    </p:set>
                                    <p:animEffect transition="in" filter="wipe(left)">
                                      <p:cBhvr>
                                        <p:cTn id="11" dur="2000"/>
                                        <p:tgtEl>
                                          <p:spTgt spid="13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5" name="Group 8"/>
          <p:cNvGrpSpPr>
            <a:grpSpLocks/>
          </p:cNvGrpSpPr>
          <p:nvPr/>
        </p:nvGrpSpPr>
        <p:grpSpPr bwMode="auto">
          <a:xfrm>
            <a:off x="3393849" y="1833311"/>
            <a:ext cx="2305317" cy="428484"/>
            <a:chOff x="1614" y="1484"/>
            <a:chExt cx="2604" cy="484"/>
          </a:xfrm>
        </p:grpSpPr>
        <p:sp>
          <p:nvSpPr>
            <p:cNvPr id="3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3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3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0" name="Group 20"/>
          <p:cNvGrpSpPr>
            <a:grpSpLocks/>
          </p:cNvGrpSpPr>
          <p:nvPr/>
        </p:nvGrpSpPr>
        <p:grpSpPr bwMode="auto">
          <a:xfrm>
            <a:off x="2806011" y="1372071"/>
            <a:ext cx="3501355" cy="46036"/>
            <a:chOff x="1020" y="481"/>
            <a:chExt cx="4037" cy="46"/>
          </a:xfrm>
        </p:grpSpPr>
        <p:sp>
          <p:nvSpPr>
            <p:cNvPr id="4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3" name="Group 37"/>
          <p:cNvGrpSpPr>
            <a:grpSpLocks/>
          </p:cNvGrpSpPr>
          <p:nvPr/>
        </p:nvGrpSpPr>
        <p:grpSpPr bwMode="auto">
          <a:xfrm>
            <a:off x="2103083" y="1220685"/>
            <a:ext cx="922481" cy="603775"/>
            <a:chOff x="156" y="792"/>
            <a:chExt cx="1042" cy="682"/>
          </a:xfrm>
        </p:grpSpPr>
        <p:sp>
          <p:nvSpPr>
            <p:cNvPr id="4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4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4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4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5" name="Group 2"/>
          <p:cNvGrpSpPr>
            <a:grpSpLocks/>
          </p:cNvGrpSpPr>
          <p:nvPr/>
        </p:nvGrpSpPr>
        <p:grpSpPr bwMode="auto">
          <a:xfrm>
            <a:off x="3384905" y="1795969"/>
            <a:ext cx="2321296" cy="2086458"/>
            <a:chOff x="1474" y="1888"/>
            <a:chExt cx="2412" cy="2432"/>
          </a:xfrm>
        </p:grpSpPr>
        <p:sp>
          <p:nvSpPr>
            <p:cNvPr id="5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5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58" name="Text Box 155"/>
          <p:cNvSpPr txBox="1">
            <a:spLocks noChangeArrowheads="1"/>
          </p:cNvSpPr>
          <p:nvPr/>
        </p:nvSpPr>
        <p:spPr bwMode="auto">
          <a:xfrm>
            <a:off x="1046375" y="3098035"/>
            <a:ext cx="7173798"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发出确认，</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，这个报文段的序号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v</a:t>
            </a:r>
            <a:r>
              <a:rPr lang="zh-CN" altLang="en-US" sz="1600" b="1" dirty="0">
                <a:latin typeface="微软雅黑" pitchFamily="34" charset="-122"/>
                <a:ea typeface="微软雅黑" pitchFamily="34" charset="-122"/>
              </a:rPr>
              <a:t>。</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服务器进程通知高层应用进程。</a:t>
            </a:r>
          </a:p>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从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这个方向的连接就释放了，</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连接处于</a:t>
            </a:r>
            <a:r>
              <a:rPr lang="zh-CN" altLang="en-US" sz="1600" b="1" dirty="0">
                <a:solidFill>
                  <a:srgbClr val="C00000"/>
                </a:solidFill>
                <a:latin typeface="微软雅黑" pitchFamily="34" charset="-122"/>
                <a:ea typeface="微软雅黑" pitchFamily="34" charset="-122"/>
              </a:rPr>
              <a:t>半关闭 </a:t>
            </a:r>
            <a:r>
              <a:rPr lang="en-US" altLang="zh-CN" sz="1600" b="1" dirty="0">
                <a:solidFill>
                  <a:srgbClr val="C00000"/>
                </a:solidFill>
                <a:latin typeface="微软雅黑" pitchFamily="34" charset="-122"/>
                <a:ea typeface="微软雅黑" pitchFamily="34" charset="-122"/>
              </a:rPr>
              <a:t>(half-close) </a:t>
            </a:r>
            <a:r>
              <a:rPr lang="zh-CN" altLang="en-US" sz="1600" b="1" dirty="0">
                <a:latin typeface="微软雅黑" pitchFamily="34" charset="-122"/>
                <a:ea typeface="微软雅黑" pitchFamily="34" charset="-122"/>
              </a:rPr>
              <a:t>状态。</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若发送数据，</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仍要接收。</a:t>
            </a:r>
          </a:p>
        </p:txBody>
      </p:sp>
      <p:grpSp>
        <p:nvGrpSpPr>
          <p:cNvPr id="62" name="Group 43"/>
          <p:cNvGrpSpPr>
            <a:grpSpLocks/>
          </p:cNvGrpSpPr>
          <p:nvPr/>
        </p:nvGrpSpPr>
        <p:grpSpPr bwMode="auto">
          <a:xfrm>
            <a:off x="6121453" y="1287082"/>
            <a:ext cx="750733" cy="997731"/>
            <a:chOff x="4695" y="867"/>
            <a:chExt cx="848" cy="1127"/>
          </a:xfrm>
        </p:grpSpPr>
        <p:sp>
          <p:nvSpPr>
            <p:cNvPr id="63"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 name="标题 3">
            <a:extLst>
              <a:ext uri="{FF2B5EF4-FFF2-40B4-BE49-F238E27FC236}">
                <a16:creationId xmlns:a16="http://schemas.microsoft.com/office/drawing/2014/main" id="{B0E9E113-0318-8150-A7C1-2379A1F8B50D}"/>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20677244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69"/>
                                        </p:tgtEl>
                                        <p:attrNameLst>
                                          <p:attrName>style.visibility</p:attrName>
                                        </p:attrNameLst>
                                      </p:cBhvr>
                                      <p:to>
                                        <p:strVal val="visible"/>
                                      </p:to>
                                    </p:set>
                                    <p:animEffect transition="in" filter="wipe(right)">
                                      <p:cBhvr>
                                        <p:cTn id="7" dur="2000"/>
                                        <p:tgtEl>
                                          <p:spTgt spid="69"/>
                                        </p:tgtEl>
                                      </p:cBhvr>
                                    </p:animEffect>
                                  </p:childTnLst>
                                </p:cTn>
                              </p:par>
                            </p:childTnLst>
                          </p:cTn>
                        </p:par>
                        <p:par>
                          <p:cTn id="8" fill="hold">
                            <p:stCondLst>
                              <p:cond delay="3000"/>
                            </p:stCondLst>
                            <p:childTnLst>
                              <p:par>
                                <p:cTn id="9" presetID="22" presetClass="entr" presetSubtype="4" fill="hold" nodeType="afterEffect">
                                  <p:stCondLst>
                                    <p:cond delay="1000"/>
                                  </p:stCondLst>
                                  <p:childTnLst>
                                    <p:set>
                                      <p:cBhvr>
                                        <p:cTn id="10" dur="1" fill="hold">
                                          <p:stCondLst>
                                            <p:cond delay="0"/>
                                          </p:stCondLst>
                                        </p:cTn>
                                        <p:tgtEl>
                                          <p:spTgt spid="62"/>
                                        </p:tgtEl>
                                        <p:attrNameLst>
                                          <p:attrName>style.visibility</p:attrName>
                                        </p:attrNameLst>
                                      </p:cBhvr>
                                      <p:to>
                                        <p:strVal val="visible"/>
                                      </p:to>
                                    </p:set>
                                    <p:animEffect transition="in" filter="wipe(down)">
                                      <p:cBhvr>
                                        <p:cTn id="11" dur="2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8" name="Group 8"/>
          <p:cNvGrpSpPr>
            <a:grpSpLocks/>
          </p:cNvGrpSpPr>
          <p:nvPr/>
        </p:nvGrpSpPr>
        <p:grpSpPr bwMode="auto">
          <a:xfrm>
            <a:off x="3393849" y="1833311"/>
            <a:ext cx="2305317" cy="428484"/>
            <a:chOff x="1614" y="1484"/>
            <a:chExt cx="2604" cy="484"/>
          </a:xfrm>
        </p:grpSpPr>
        <p:sp>
          <p:nvSpPr>
            <p:cNvPr id="39"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40"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1"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3" name="Group 20"/>
          <p:cNvGrpSpPr>
            <a:grpSpLocks/>
          </p:cNvGrpSpPr>
          <p:nvPr/>
        </p:nvGrpSpPr>
        <p:grpSpPr bwMode="auto">
          <a:xfrm>
            <a:off x="2806011" y="1372071"/>
            <a:ext cx="3501355" cy="46036"/>
            <a:chOff x="1020" y="481"/>
            <a:chExt cx="4037" cy="46"/>
          </a:xfrm>
        </p:grpSpPr>
        <p:sp>
          <p:nvSpPr>
            <p:cNvPr id="44"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6" name="Group 37"/>
          <p:cNvGrpSpPr>
            <a:grpSpLocks/>
          </p:cNvGrpSpPr>
          <p:nvPr/>
        </p:nvGrpSpPr>
        <p:grpSpPr bwMode="auto">
          <a:xfrm>
            <a:off x="2103083" y="1220685"/>
            <a:ext cx="922481" cy="603775"/>
            <a:chOff x="156" y="792"/>
            <a:chExt cx="1042" cy="682"/>
          </a:xfrm>
        </p:grpSpPr>
        <p:sp>
          <p:nvSpPr>
            <p:cNvPr id="47"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8"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9"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50"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51"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52"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3"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6"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7"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8" name="Group 2"/>
          <p:cNvGrpSpPr>
            <a:grpSpLocks/>
          </p:cNvGrpSpPr>
          <p:nvPr/>
        </p:nvGrpSpPr>
        <p:grpSpPr bwMode="auto">
          <a:xfrm>
            <a:off x="3384905" y="1795969"/>
            <a:ext cx="2321296" cy="2086458"/>
            <a:chOff x="1474" y="1888"/>
            <a:chExt cx="2412" cy="2432"/>
          </a:xfrm>
        </p:grpSpPr>
        <p:sp>
          <p:nvSpPr>
            <p:cNvPr id="59"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0"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61" name="Text Box 155"/>
          <p:cNvSpPr txBox="1">
            <a:spLocks noChangeArrowheads="1"/>
          </p:cNvSpPr>
          <p:nvPr/>
        </p:nvSpPr>
        <p:spPr bwMode="auto">
          <a:xfrm>
            <a:off x="1929775" y="3617831"/>
            <a:ext cx="5422002"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若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已经没有要向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发送的数据，其应用进程就通知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释放连接。 </a:t>
            </a:r>
            <a:endParaRPr lang="en-US" altLang="zh-CN" sz="1600" b="1" dirty="0">
              <a:latin typeface="微软雅黑" pitchFamily="34" charset="-122"/>
              <a:ea typeface="微软雅黑" pitchFamily="34" charset="-122"/>
            </a:endParaRP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FIN=1</a:t>
            </a:r>
            <a:r>
              <a:rPr lang="zh-CN" altLang="en-US" sz="1600" b="1" dirty="0">
                <a:latin typeface="微软雅黑" pitchFamily="34" charset="-122"/>
                <a:ea typeface="微软雅黑" pitchFamily="34" charset="-122"/>
              </a:rPr>
              <a:t>，</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a:t>
            </a:r>
          </a:p>
        </p:txBody>
      </p:sp>
      <p:grpSp>
        <p:nvGrpSpPr>
          <p:cNvPr id="65" name="Group 43"/>
          <p:cNvGrpSpPr>
            <a:grpSpLocks/>
          </p:cNvGrpSpPr>
          <p:nvPr/>
        </p:nvGrpSpPr>
        <p:grpSpPr bwMode="auto">
          <a:xfrm>
            <a:off x="6121453" y="1287082"/>
            <a:ext cx="750733" cy="997731"/>
            <a:chOff x="4695" y="867"/>
            <a:chExt cx="848" cy="1127"/>
          </a:xfrm>
        </p:grpSpPr>
        <p:sp>
          <p:nvSpPr>
            <p:cNvPr id="66"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7"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78" name="组合 77"/>
          <p:cNvGrpSpPr/>
          <p:nvPr/>
        </p:nvGrpSpPr>
        <p:grpSpPr>
          <a:xfrm>
            <a:off x="3382340" y="2558723"/>
            <a:ext cx="2400818" cy="704797"/>
            <a:chOff x="3382340" y="2532597"/>
            <a:chExt cx="2400818" cy="704797"/>
          </a:xfrm>
        </p:grpSpPr>
        <p:sp>
          <p:nvSpPr>
            <p:cNvPr id="68"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9"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0"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71"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2" name="Group 11"/>
          <p:cNvGrpSpPr>
            <a:grpSpLocks/>
          </p:cNvGrpSpPr>
          <p:nvPr/>
        </p:nvGrpSpPr>
        <p:grpSpPr bwMode="auto">
          <a:xfrm>
            <a:off x="3401817" y="2285699"/>
            <a:ext cx="2305317" cy="429369"/>
            <a:chOff x="1623" y="1995"/>
            <a:chExt cx="2604" cy="485"/>
          </a:xfrm>
        </p:grpSpPr>
        <p:sp>
          <p:nvSpPr>
            <p:cNvPr id="73"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4"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7" name="组合 76"/>
          <p:cNvGrpSpPr/>
          <p:nvPr/>
        </p:nvGrpSpPr>
        <p:grpSpPr>
          <a:xfrm>
            <a:off x="6098436" y="1183502"/>
            <a:ext cx="930398" cy="1630324"/>
            <a:chOff x="6098436" y="1183502"/>
            <a:chExt cx="930398" cy="1630324"/>
          </a:xfrm>
        </p:grpSpPr>
        <p:sp>
          <p:nvSpPr>
            <p:cNvPr id="75"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sp>
        <p:nvSpPr>
          <p:cNvPr id="7" name="标题 6">
            <a:extLst>
              <a:ext uri="{FF2B5EF4-FFF2-40B4-BE49-F238E27FC236}">
                <a16:creationId xmlns:a16="http://schemas.microsoft.com/office/drawing/2014/main" id="{4EBEF774-C65C-3951-CBF0-60AB1FB89E75}"/>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9803577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77"/>
                                        </p:tgtEl>
                                        <p:attrNameLst>
                                          <p:attrName>style.visibility</p:attrName>
                                        </p:attrNameLst>
                                      </p:cBhvr>
                                      <p:to>
                                        <p:strVal val="visible"/>
                                      </p:to>
                                    </p:set>
                                    <p:animEffect transition="in" filter="wipe(up)">
                                      <p:cBhvr>
                                        <p:cTn id="7" dur="2000"/>
                                        <p:tgtEl>
                                          <p:spTgt spid="77"/>
                                        </p:tgtEl>
                                      </p:cBhvr>
                                    </p:animEffect>
                                  </p:childTnLst>
                                </p:cTn>
                              </p:par>
                            </p:childTnLst>
                          </p:cTn>
                        </p:par>
                        <p:par>
                          <p:cTn id="8" fill="hold">
                            <p:stCondLst>
                              <p:cond delay="3000"/>
                            </p:stCondLst>
                            <p:childTnLst>
                              <p:par>
                                <p:cTn id="9" presetID="22" presetClass="entr" presetSubtype="2" fill="hold" nodeType="afterEffect">
                                  <p:stCondLst>
                                    <p:cond delay="1000"/>
                                  </p:stCondLst>
                                  <p:childTnLst>
                                    <p:set>
                                      <p:cBhvr>
                                        <p:cTn id="10" dur="1" fill="hold">
                                          <p:stCondLst>
                                            <p:cond delay="0"/>
                                          </p:stCondLst>
                                        </p:cTn>
                                        <p:tgtEl>
                                          <p:spTgt spid="78"/>
                                        </p:tgtEl>
                                        <p:attrNameLst>
                                          <p:attrName>style.visibility</p:attrName>
                                        </p:attrNameLst>
                                      </p:cBhvr>
                                      <p:to>
                                        <p:strVal val="visible"/>
                                      </p:to>
                                    </p:set>
                                    <p:animEffect transition="in" filter="wipe(right)">
                                      <p:cBhvr>
                                        <p:cTn id="11" dur="2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5" name="Group 8"/>
          <p:cNvGrpSpPr>
            <a:grpSpLocks/>
          </p:cNvGrpSpPr>
          <p:nvPr/>
        </p:nvGrpSpPr>
        <p:grpSpPr bwMode="auto">
          <a:xfrm>
            <a:off x="3393849" y="1833311"/>
            <a:ext cx="2305317" cy="428484"/>
            <a:chOff x="1614" y="1484"/>
            <a:chExt cx="2604" cy="484"/>
          </a:xfrm>
        </p:grpSpPr>
        <p:sp>
          <p:nvSpPr>
            <p:cNvPr id="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0" name="Group 20"/>
          <p:cNvGrpSpPr>
            <a:grpSpLocks/>
          </p:cNvGrpSpPr>
          <p:nvPr/>
        </p:nvGrpSpPr>
        <p:grpSpPr bwMode="auto">
          <a:xfrm>
            <a:off x="2806011" y="1372071"/>
            <a:ext cx="3501355" cy="46036"/>
            <a:chOff x="1020" y="481"/>
            <a:chExt cx="4037" cy="46"/>
          </a:xfrm>
        </p:grpSpPr>
        <p:sp>
          <p:nvSpPr>
            <p:cNvPr id="1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3" name="Group 37"/>
          <p:cNvGrpSpPr>
            <a:grpSpLocks/>
          </p:cNvGrpSpPr>
          <p:nvPr/>
        </p:nvGrpSpPr>
        <p:grpSpPr bwMode="auto">
          <a:xfrm>
            <a:off x="2103083" y="1220685"/>
            <a:ext cx="922481" cy="603775"/>
            <a:chOff x="156" y="792"/>
            <a:chExt cx="1042" cy="682"/>
          </a:xfrm>
        </p:grpSpPr>
        <p:sp>
          <p:nvSpPr>
            <p:cNvPr id="1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2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2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2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25" name="Group 2"/>
          <p:cNvGrpSpPr>
            <a:grpSpLocks/>
          </p:cNvGrpSpPr>
          <p:nvPr/>
        </p:nvGrpSpPr>
        <p:grpSpPr bwMode="auto">
          <a:xfrm>
            <a:off x="3384905" y="1795969"/>
            <a:ext cx="2321296" cy="2086458"/>
            <a:chOff x="1474" y="1888"/>
            <a:chExt cx="2412" cy="2432"/>
          </a:xfrm>
        </p:grpSpPr>
        <p:sp>
          <p:nvSpPr>
            <p:cNvPr id="2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2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28" name="Text Box 155"/>
          <p:cNvSpPr txBox="1">
            <a:spLocks noChangeArrowheads="1"/>
          </p:cNvSpPr>
          <p:nvPr/>
        </p:nvSpPr>
        <p:spPr bwMode="auto">
          <a:xfrm>
            <a:off x="1929775" y="3910912"/>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收到连接释放报文段后，必须发出确认。</a:t>
            </a:r>
            <a:endParaRPr lang="en-US" altLang="zh-CN" sz="1600" b="1" dirty="0">
              <a:latin typeface="微软雅黑" pitchFamily="34" charset="-122"/>
              <a:ea typeface="微软雅黑" pitchFamily="34" charset="-122"/>
            </a:endParaRPr>
          </a:p>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=w+1</a:t>
            </a:r>
            <a:r>
              <a:rPr lang="zh-CN" altLang="en-US" sz="1600" b="1" dirty="0">
                <a:latin typeface="微软雅黑" pitchFamily="34" charset="-122"/>
                <a:ea typeface="微软雅黑" pitchFamily="34" charset="-122"/>
              </a:rPr>
              <a:t>，自己的序号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 + 1</a:t>
            </a:r>
            <a:endParaRPr lang="zh-CN" altLang="en-US" sz="1600" b="1" dirty="0">
              <a:latin typeface="微软雅黑" pitchFamily="34" charset="-122"/>
              <a:ea typeface="微软雅黑" pitchFamily="34" charset="-122"/>
            </a:endParaRPr>
          </a:p>
        </p:txBody>
      </p:sp>
      <p:grpSp>
        <p:nvGrpSpPr>
          <p:cNvPr id="29" name="Group 43"/>
          <p:cNvGrpSpPr>
            <a:grpSpLocks/>
          </p:cNvGrpSpPr>
          <p:nvPr/>
        </p:nvGrpSpPr>
        <p:grpSpPr bwMode="auto">
          <a:xfrm>
            <a:off x="6121453" y="1287082"/>
            <a:ext cx="750733" cy="997731"/>
            <a:chOff x="4695" y="867"/>
            <a:chExt cx="848" cy="1127"/>
          </a:xfrm>
        </p:grpSpPr>
        <p:sp>
          <p:nvSpPr>
            <p:cNvPr id="30"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1"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32" name="组合 31"/>
          <p:cNvGrpSpPr/>
          <p:nvPr/>
        </p:nvGrpSpPr>
        <p:grpSpPr>
          <a:xfrm>
            <a:off x="3382340" y="2532597"/>
            <a:ext cx="2400818" cy="704797"/>
            <a:chOff x="3382340" y="2532597"/>
            <a:chExt cx="2400818" cy="704797"/>
          </a:xfrm>
        </p:grpSpPr>
        <p:sp>
          <p:nvSpPr>
            <p:cNvPr id="3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5"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36"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37" name="Group 11"/>
          <p:cNvGrpSpPr>
            <a:grpSpLocks/>
          </p:cNvGrpSpPr>
          <p:nvPr/>
        </p:nvGrpSpPr>
        <p:grpSpPr bwMode="auto">
          <a:xfrm>
            <a:off x="3401817" y="2285699"/>
            <a:ext cx="2305317" cy="429369"/>
            <a:chOff x="1623" y="1995"/>
            <a:chExt cx="2604" cy="485"/>
          </a:xfrm>
        </p:grpSpPr>
        <p:sp>
          <p:nvSpPr>
            <p:cNvPr id="38"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9"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0" name="组合 39"/>
          <p:cNvGrpSpPr/>
          <p:nvPr/>
        </p:nvGrpSpPr>
        <p:grpSpPr>
          <a:xfrm>
            <a:off x="6098436" y="1183502"/>
            <a:ext cx="930398" cy="1630324"/>
            <a:chOff x="6098436" y="1183502"/>
            <a:chExt cx="930398" cy="1630324"/>
          </a:xfrm>
        </p:grpSpPr>
        <p:sp>
          <p:nvSpPr>
            <p:cNvPr id="41"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grpSp>
        <p:nvGrpSpPr>
          <p:cNvPr id="45" name="组合 44"/>
          <p:cNvGrpSpPr/>
          <p:nvPr/>
        </p:nvGrpSpPr>
        <p:grpSpPr>
          <a:xfrm>
            <a:off x="3393849" y="3270695"/>
            <a:ext cx="2343998" cy="429369"/>
            <a:chOff x="3393849" y="3270695"/>
            <a:chExt cx="2343998" cy="429369"/>
          </a:xfrm>
        </p:grpSpPr>
        <p:sp>
          <p:nvSpPr>
            <p:cNvPr id="43"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sp>
          <p:nvSpPr>
            <p:cNvPr id="44"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51" name="标题 50">
            <a:extLst>
              <a:ext uri="{FF2B5EF4-FFF2-40B4-BE49-F238E27FC236}">
                <a16:creationId xmlns:a16="http://schemas.microsoft.com/office/drawing/2014/main" id="{D7359099-2363-1B71-4D58-BED7F9715A2A}"/>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642658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grpSp>
        <p:nvGrpSpPr>
          <p:cNvPr id="66" name="Group 8"/>
          <p:cNvGrpSpPr>
            <a:grpSpLocks/>
          </p:cNvGrpSpPr>
          <p:nvPr/>
        </p:nvGrpSpPr>
        <p:grpSpPr bwMode="auto">
          <a:xfrm>
            <a:off x="3393849" y="1833311"/>
            <a:ext cx="2305317" cy="428484"/>
            <a:chOff x="1614" y="1484"/>
            <a:chExt cx="2604" cy="484"/>
          </a:xfrm>
        </p:grpSpPr>
        <p:sp>
          <p:nvSpPr>
            <p:cNvPr id="67"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68"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72"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3"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5"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18"/>
          <p:cNvSpPr>
            <a:spLocks noChangeArrowheads="1"/>
          </p:cNvSpPr>
          <p:nvPr/>
        </p:nvSpPr>
        <p:spPr bwMode="auto">
          <a:xfrm>
            <a:off x="2860899" y="1840394"/>
            <a:ext cx="532065" cy="866707"/>
          </a:xfrm>
          <a:prstGeom prst="rect">
            <a:avLst/>
          </a:prstGeom>
          <a:solidFill>
            <a:srgbClr val="CC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7"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78" name="Group 20"/>
          <p:cNvGrpSpPr>
            <a:grpSpLocks/>
          </p:cNvGrpSpPr>
          <p:nvPr/>
        </p:nvGrpSpPr>
        <p:grpSpPr bwMode="auto">
          <a:xfrm>
            <a:off x="2806011" y="1372071"/>
            <a:ext cx="3501355" cy="46036"/>
            <a:chOff x="1020" y="481"/>
            <a:chExt cx="4037" cy="46"/>
          </a:xfrm>
        </p:grpSpPr>
        <p:sp>
          <p:nvSpPr>
            <p:cNvPr id="79" name="Line 21"/>
            <p:cNvSpPr>
              <a:spLocks noChangeShapeType="1"/>
            </p:cNvSpPr>
            <p:nvPr/>
          </p:nvSpPr>
          <p:spPr bwMode="auto">
            <a:xfrm>
              <a:off x="1020" y="527"/>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0" name="Line 22"/>
            <p:cNvSpPr>
              <a:spLocks noChangeShapeType="1"/>
            </p:cNvSpPr>
            <p:nvPr/>
          </p:nvSpPr>
          <p:spPr bwMode="auto">
            <a:xfrm>
              <a:off x="1020" y="481"/>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1" name="Rectangle 23"/>
          <p:cNvSpPr>
            <a:spLocks noChangeArrowheads="1"/>
          </p:cNvSpPr>
          <p:nvPr/>
        </p:nvSpPr>
        <p:spPr bwMode="auto">
          <a:xfrm>
            <a:off x="2816590" y="2049137"/>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WAIT-1</a:t>
            </a:r>
          </a:p>
        </p:txBody>
      </p:sp>
      <p:sp>
        <p:nvSpPr>
          <p:cNvPr id="82" name="Rectangle 24"/>
          <p:cNvSpPr>
            <a:spLocks noChangeArrowheads="1"/>
          </p:cNvSpPr>
          <p:nvPr/>
        </p:nvSpPr>
        <p:spPr bwMode="auto">
          <a:xfrm>
            <a:off x="5697395" y="2291896"/>
            <a:ext cx="532950" cy="489570"/>
          </a:xfrm>
          <a:prstGeom prst="rect">
            <a:avLst/>
          </a:prstGeom>
          <a:solidFill>
            <a:schemeClr val="accent5">
              <a:lumMod val="7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3" name="Rectangle 25"/>
          <p:cNvSpPr>
            <a:spLocks noChangeArrowheads="1"/>
          </p:cNvSpPr>
          <p:nvPr/>
        </p:nvSpPr>
        <p:spPr bwMode="auto">
          <a:xfrm>
            <a:off x="5664639" y="2354752"/>
            <a:ext cx="650820"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CLOSE-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84" name="Rectangle 26"/>
          <p:cNvSpPr>
            <a:spLocks noChangeArrowheads="1"/>
          </p:cNvSpPr>
          <p:nvPr/>
        </p:nvSpPr>
        <p:spPr bwMode="auto">
          <a:xfrm>
            <a:off x="2860899" y="2747825"/>
            <a:ext cx="532065" cy="486029"/>
          </a:xfrm>
          <a:prstGeom prst="rect">
            <a:avLst/>
          </a:prstGeom>
          <a:solidFill>
            <a:srgbClr val="0000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5" name="Rectangle 27"/>
          <p:cNvSpPr>
            <a:spLocks noChangeArrowheads="1"/>
          </p:cNvSpPr>
          <p:nvPr/>
        </p:nvSpPr>
        <p:spPr bwMode="auto">
          <a:xfrm>
            <a:off x="2809275" y="2777925"/>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WAIT-2</a:t>
            </a:r>
          </a:p>
        </p:txBody>
      </p:sp>
      <p:sp>
        <p:nvSpPr>
          <p:cNvPr id="86" name="Rectangle 28"/>
          <p:cNvSpPr>
            <a:spLocks noChangeArrowheads="1"/>
          </p:cNvSpPr>
          <p:nvPr/>
        </p:nvSpPr>
        <p:spPr bwMode="auto">
          <a:xfrm>
            <a:off x="5697395" y="2825731"/>
            <a:ext cx="532950" cy="826869"/>
          </a:xfrm>
          <a:prstGeom prst="rect">
            <a:avLst/>
          </a:prstGeom>
          <a:solidFill>
            <a:srgbClr val="0070C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7" name="Rectangle 29"/>
          <p:cNvSpPr>
            <a:spLocks noChangeArrowheads="1"/>
          </p:cNvSpPr>
          <p:nvPr/>
        </p:nvSpPr>
        <p:spPr bwMode="auto">
          <a:xfrm>
            <a:off x="5698701" y="3060335"/>
            <a:ext cx="56265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LAST-</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ACK</a:t>
            </a:r>
          </a:p>
        </p:txBody>
      </p:sp>
      <p:grpSp>
        <p:nvGrpSpPr>
          <p:cNvPr id="88" name="Group 30"/>
          <p:cNvGrpSpPr>
            <a:grpSpLocks/>
          </p:cNvGrpSpPr>
          <p:nvPr/>
        </p:nvGrpSpPr>
        <p:grpSpPr bwMode="auto">
          <a:xfrm>
            <a:off x="2099547" y="3263852"/>
            <a:ext cx="1324404" cy="794112"/>
            <a:chOff x="152" y="3081"/>
            <a:chExt cx="1496" cy="897"/>
          </a:xfrm>
        </p:grpSpPr>
        <p:sp>
          <p:nvSpPr>
            <p:cNvPr id="89" name="Rectangle 31"/>
            <p:cNvSpPr>
              <a:spLocks noChangeArrowheads="1"/>
            </p:cNvSpPr>
            <p:nvPr/>
          </p:nvSpPr>
          <p:spPr bwMode="auto">
            <a:xfrm>
              <a:off x="152" y="3081"/>
              <a:ext cx="943"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等待 </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2MSL</a:t>
              </a:r>
            </a:p>
          </p:txBody>
        </p:sp>
        <p:sp>
          <p:nvSpPr>
            <p:cNvPr id="90" name="Rectangle 32"/>
            <p:cNvSpPr>
              <a:spLocks noChangeArrowheads="1"/>
            </p:cNvSpPr>
            <p:nvPr/>
          </p:nvSpPr>
          <p:spPr bwMode="auto">
            <a:xfrm>
              <a:off x="1012" y="3097"/>
              <a:ext cx="601" cy="779"/>
            </a:xfrm>
            <a:prstGeom prst="rect">
              <a:avLst/>
            </a:prstGeom>
            <a:solidFill>
              <a:srgbClr val="7030A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1" name="Rectangle 33"/>
            <p:cNvSpPr>
              <a:spLocks noChangeArrowheads="1"/>
            </p:cNvSpPr>
            <p:nvPr/>
          </p:nvSpPr>
          <p:spPr bwMode="auto">
            <a:xfrm>
              <a:off x="1007" y="3292"/>
              <a:ext cx="641"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TIME-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92" name="Freeform 34"/>
            <p:cNvSpPr>
              <a:spLocks/>
            </p:cNvSpPr>
            <p:nvPr/>
          </p:nvSpPr>
          <p:spPr bwMode="auto">
            <a:xfrm>
              <a:off x="185" y="3081"/>
              <a:ext cx="819" cy="799"/>
            </a:xfrm>
            <a:custGeom>
              <a:avLst/>
              <a:gdLst>
                <a:gd name="T0" fmla="*/ 749 w 635"/>
                <a:gd name="T1" fmla="*/ 0 h 499"/>
                <a:gd name="T2" fmla="*/ 0 w 635"/>
                <a:gd name="T3" fmla="*/ 0 h 499"/>
                <a:gd name="T4" fmla="*/ 0 w 635"/>
                <a:gd name="T5" fmla="*/ 799 h 499"/>
                <a:gd name="T6" fmla="*/ 749 w 635"/>
                <a:gd name="T7" fmla="*/ 799 h 49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635" h="499">
                  <a:moveTo>
                    <a:pt x="635" y="0"/>
                  </a:moveTo>
                  <a:lnTo>
                    <a:pt x="0" y="0"/>
                  </a:lnTo>
                  <a:lnTo>
                    <a:pt x="0" y="499"/>
                  </a:lnTo>
                  <a:lnTo>
                    <a:pt x="635" y="499"/>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3" name="Text Box 35"/>
            <p:cNvSpPr txBox="1">
              <a:spLocks noChangeArrowheads="1"/>
            </p:cNvSpPr>
            <p:nvPr/>
          </p:nvSpPr>
          <p:spPr bwMode="auto">
            <a:xfrm>
              <a:off x="265" y="3178"/>
              <a:ext cx="725" cy="8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4000" i="0" u="none" strike="noStrike" kern="0" cap="none" spc="0" normalizeH="0" baseline="0" noProof="0" dirty="0">
                  <a:ln>
                    <a:noFill/>
                  </a:ln>
                  <a:solidFill>
                    <a:srgbClr val="0000FF"/>
                  </a:solidFill>
                  <a:effectLst/>
                  <a:uLnTx/>
                  <a:uFillTx/>
                  <a:latin typeface="微软雅黑" pitchFamily="34" charset="-122"/>
                  <a:ea typeface="微软雅黑" pitchFamily="34" charset="-122"/>
                  <a:sym typeface="Wingdings" pitchFamily="2" charset="2"/>
                </a:rPr>
                <a:t></a:t>
              </a:r>
            </a:p>
          </p:txBody>
        </p:sp>
      </p:grpSp>
      <p:sp>
        <p:nvSpPr>
          <p:cNvPr id="94" name="Rectangle 36"/>
          <p:cNvSpPr>
            <a:spLocks noChangeArrowheads="1"/>
          </p:cNvSpPr>
          <p:nvPr/>
        </p:nvSpPr>
        <p:spPr bwMode="auto">
          <a:xfrm>
            <a:off x="5697395" y="3703061"/>
            <a:ext cx="532950" cy="294805"/>
          </a:xfrm>
          <a:prstGeom prst="rect">
            <a:avLst/>
          </a:prstGeom>
          <a:solidFill>
            <a:srgbClr val="00FF99"/>
          </a:solidFill>
          <a:ln>
            <a:solidFill>
              <a:schemeClr val="tx1"/>
            </a:solid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95" name="Group 37"/>
          <p:cNvGrpSpPr>
            <a:grpSpLocks/>
          </p:cNvGrpSpPr>
          <p:nvPr/>
        </p:nvGrpSpPr>
        <p:grpSpPr bwMode="auto">
          <a:xfrm>
            <a:off x="2103083" y="1220685"/>
            <a:ext cx="922481" cy="603775"/>
            <a:chOff x="156" y="792"/>
            <a:chExt cx="1042" cy="682"/>
          </a:xfrm>
        </p:grpSpPr>
        <p:sp>
          <p:nvSpPr>
            <p:cNvPr id="9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98"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9"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sp>
        <p:nvSpPr>
          <p:cNvPr id="100"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nvGrpSpPr>
          <p:cNvPr id="101" name="Group 43"/>
          <p:cNvGrpSpPr>
            <a:grpSpLocks/>
          </p:cNvGrpSpPr>
          <p:nvPr/>
        </p:nvGrpSpPr>
        <p:grpSpPr bwMode="auto">
          <a:xfrm>
            <a:off x="6121453" y="1287082"/>
            <a:ext cx="750733" cy="997731"/>
            <a:chOff x="4695" y="867"/>
            <a:chExt cx="848" cy="1127"/>
          </a:xfrm>
        </p:grpSpPr>
        <p:sp>
          <p:nvSpPr>
            <p:cNvPr id="102"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03"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sp>
        <p:nvSpPr>
          <p:cNvPr id="108"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09"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10"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11"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sp>
        <p:nvSpPr>
          <p:cNvPr id="112"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13" name="Text Box 55"/>
          <p:cNvSpPr txBox="1">
            <a:spLocks noChangeArrowheads="1"/>
          </p:cNvSpPr>
          <p:nvPr/>
        </p:nvSpPr>
        <p:spPr bwMode="auto">
          <a:xfrm>
            <a:off x="5641576" y="3756179"/>
            <a:ext cx="541803" cy="187683"/>
          </a:xfrm>
          <a:prstGeom prst="rect">
            <a:avLst/>
          </a:prstGeom>
          <a:noFill/>
          <a:ln>
            <a:noFill/>
          </a:ln>
          <a:effectLst/>
          <a:extLst>
            <a:ext uri="{909E8E84-426E-40DD-AFC4-6F175D3DCCD1}">
              <a14:hiddenFill xmlns:a14="http://schemas.microsoft.com/office/drawing/2010/main">
                <a:solidFill>
                  <a:srgbClr val="663300"/>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a:r>
              <a:rPr lang="en-US" altLang="zh-CN" sz="1000" dirty="0">
                <a:latin typeface="微软雅黑" pitchFamily="34" charset="-122"/>
                <a:ea typeface="微软雅黑" pitchFamily="34" charset="-122"/>
              </a:rPr>
              <a:t>CLOSED</a:t>
            </a:r>
          </a:p>
        </p:txBody>
      </p:sp>
      <p:pic>
        <p:nvPicPr>
          <p:cNvPr id="11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17"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18"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4" name="组合 3"/>
          <p:cNvGrpSpPr/>
          <p:nvPr/>
        </p:nvGrpSpPr>
        <p:grpSpPr>
          <a:xfrm>
            <a:off x="2857404" y="3984586"/>
            <a:ext cx="541802" cy="294805"/>
            <a:chOff x="2857404" y="3984586"/>
            <a:chExt cx="541802" cy="294805"/>
          </a:xfrm>
        </p:grpSpPr>
        <p:sp>
          <p:nvSpPr>
            <p:cNvPr id="61" name="Rectangle 3"/>
            <p:cNvSpPr>
              <a:spLocks noChangeArrowheads="1"/>
            </p:cNvSpPr>
            <p:nvPr/>
          </p:nvSpPr>
          <p:spPr bwMode="auto">
            <a:xfrm>
              <a:off x="2860900" y="3984586"/>
              <a:ext cx="532064" cy="294805"/>
            </a:xfrm>
            <a:prstGeom prst="rect">
              <a:avLst/>
            </a:prstGeom>
            <a:solidFill>
              <a:srgbClr val="00FF99"/>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4"/>
            <p:cNvSpPr txBox="1">
              <a:spLocks noChangeArrowheads="1"/>
            </p:cNvSpPr>
            <p:nvPr/>
          </p:nvSpPr>
          <p:spPr bwMode="auto">
            <a:xfrm>
              <a:off x="2857404" y="4031507"/>
              <a:ext cx="541802" cy="187684"/>
            </a:xfrm>
            <a:prstGeom prst="rect">
              <a:avLst/>
            </a:prstGeom>
            <a:no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0" fontAlgn="auto" latinLnBrk="0" hangingPunct="0">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effectLst/>
                  <a:uLnTx/>
                  <a:uFillTx/>
                  <a:latin typeface="微软雅黑" pitchFamily="34" charset="-122"/>
                  <a:ea typeface="微软雅黑" pitchFamily="34" charset="-122"/>
                </a:rPr>
                <a:t>CLOSED</a:t>
              </a:r>
            </a:p>
          </p:txBody>
        </p:sp>
      </p:grpSp>
      <p:sp>
        <p:nvSpPr>
          <p:cNvPr id="59" name="Text Box 155"/>
          <p:cNvSpPr txBox="1">
            <a:spLocks noChangeArrowheads="1"/>
          </p:cNvSpPr>
          <p:nvPr/>
        </p:nvSpPr>
        <p:spPr bwMode="auto">
          <a:xfrm>
            <a:off x="3484723" y="3994017"/>
            <a:ext cx="4499780"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请注意：此时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连接还没有释放掉。必须经过</a:t>
            </a:r>
            <a:r>
              <a:rPr lang="zh-CN" altLang="en-US" sz="1600" b="1" dirty="0">
                <a:solidFill>
                  <a:srgbClr val="C00000"/>
                </a:solidFill>
                <a:latin typeface="微软雅黑" pitchFamily="34" charset="-122"/>
                <a:ea typeface="微软雅黑" pitchFamily="34" charset="-122"/>
              </a:rPr>
              <a:t>时间等待计时器 </a:t>
            </a:r>
            <a:r>
              <a:rPr lang="en-US" altLang="zh-CN" sz="1600" b="1" dirty="0">
                <a:latin typeface="微软雅黑" pitchFamily="34" charset="-122"/>
                <a:ea typeface="微软雅黑" pitchFamily="34" charset="-122"/>
              </a:rPr>
              <a:t>(TIME-WAIT timer) </a:t>
            </a:r>
            <a:r>
              <a:rPr lang="zh-CN" altLang="en-US" sz="1600" b="1" dirty="0">
                <a:latin typeface="微软雅黑" pitchFamily="34" charset="-122"/>
                <a:ea typeface="微软雅黑" pitchFamily="34" charset="-122"/>
              </a:rPr>
              <a:t>设置的时间 </a:t>
            </a:r>
            <a:r>
              <a:rPr lang="en-US" altLang="zh-CN" sz="1600" b="1" dirty="0">
                <a:solidFill>
                  <a:srgbClr val="C00000"/>
                </a:solidFill>
                <a:latin typeface="微软雅黑" pitchFamily="34" charset="-122"/>
                <a:ea typeface="微软雅黑" pitchFamily="34" charset="-122"/>
              </a:rPr>
              <a:t>2MSL</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后，</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才释放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p:txBody>
      </p:sp>
      <p:sp>
        <p:nvSpPr>
          <p:cNvPr id="2" name="矩形 1"/>
          <p:cNvSpPr/>
          <p:nvPr/>
        </p:nvSpPr>
        <p:spPr>
          <a:xfrm>
            <a:off x="1502557" y="2092349"/>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1</a:t>
            </a:r>
            <a:r>
              <a:rPr lang="zh-CN" altLang="en-US" sz="1400" b="1" dirty="0">
                <a:latin typeface="微软雅黑" panose="020B0503020204020204" pitchFamily="34" charset="-122"/>
                <a:ea typeface="微软雅黑" panose="020B0503020204020204" pitchFamily="34" charset="-122"/>
              </a:rPr>
              <a:t>）</a:t>
            </a:r>
          </a:p>
        </p:txBody>
      </p:sp>
      <p:sp>
        <p:nvSpPr>
          <p:cNvPr id="5" name="矩形 4"/>
          <p:cNvSpPr/>
          <p:nvPr/>
        </p:nvSpPr>
        <p:spPr>
          <a:xfrm>
            <a:off x="1500736" y="2772248"/>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2</a:t>
            </a:r>
            <a:r>
              <a:rPr lang="zh-CN" altLang="en-US" sz="1400" b="1" dirty="0">
                <a:latin typeface="微软雅黑" panose="020B0503020204020204" pitchFamily="34" charset="-122"/>
                <a:ea typeface="微软雅黑" panose="020B0503020204020204" pitchFamily="34" charset="-122"/>
              </a:rPr>
              <a:t>）</a:t>
            </a:r>
          </a:p>
        </p:txBody>
      </p:sp>
      <p:sp>
        <p:nvSpPr>
          <p:cNvPr id="6" name="矩形 5"/>
          <p:cNvSpPr/>
          <p:nvPr/>
        </p:nvSpPr>
        <p:spPr>
          <a:xfrm>
            <a:off x="6960085" y="2347960"/>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（关闭等待）</a:t>
            </a:r>
          </a:p>
        </p:txBody>
      </p:sp>
      <p:sp>
        <p:nvSpPr>
          <p:cNvPr id="7" name="矩形 6"/>
          <p:cNvSpPr/>
          <p:nvPr/>
        </p:nvSpPr>
        <p:spPr>
          <a:xfrm>
            <a:off x="6970075" y="3102407"/>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（最后确认）</a:t>
            </a:r>
          </a:p>
        </p:txBody>
      </p:sp>
      <p:sp>
        <p:nvSpPr>
          <p:cNvPr id="8" name="矩形 7"/>
          <p:cNvSpPr/>
          <p:nvPr/>
        </p:nvSpPr>
        <p:spPr>
          <a:xfrm>
            <a:off x="886427" y="3444915"/>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（时间等待）</a:t>
            </a:r>
          </a:p>
        </p:txBody>
      </p:sp>
      <p:sp>
        <p:nvSpPr>
          <p:cNvPr id="104" name="矩形 103"/>
          <p:cNvSpPr/>
          <p:nvPr/>
        </p:nvSpPr>
        <p:spPr>
          <a:xfrm>
            <a:off x="6975341" y="3669063"/>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05" name="矩形 104"/>
          <p:cNvSpPr/>
          <p:nvPr/>
        </p:nvSpPr>
        <p:spPr>
          <a:xfrm>
            <a:off x="1224463" y="3970925"/>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1" name="标题 10">
            <a:extLst>
              <a:ext uri="{FF2B5EF4-FFF2-40B4-BE49-F238E27FC236}">
                <a16:creationId xmlns:a16="http://schemas.microsoft.com/office/drawing/2014/main" id="{76E2E0E9-FCB8-882B-4CFE-13B39CDA59FD}"/>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37133602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88"/>
                                        </p:tgtEl>
                                        <p:attrNameLst>
                                          <p:attrName>style.visibility</p:attrName>
                                        </p:attrNameLst>
                                      </p:cBhvr>
                                      <p:tavLst>
                                        <p:tav tm="0">
                                          <p:val>
                                            <p:strVal val="hidden"/>
                                          </p:val>
                                        </p:tav>
                                        <p:tav tm="50000">
                                          <p:val>
                                            <p:strVal val="visible"/>
                                          </p:val>
                                        </p:tav>
                                      </p:tavLst>
                                    </p:anim>
                                  </p:childTnLst>
                                </p:cTn>
                              </p:par>
                            </p:childTnLst>
                          </p:cTn>
                        </p:par>
                        <p:par>
                          <p:cTn id="7" fill="hold">
                            <p:stCondLst>
                              <p:cond delay="3500"/>
                            </p:stCondLst>
                            <p:childTnLst>
                              <p:par>
                                <p:cTn id="8" presetID="22" presetClass="entr" presetSubtype="1" fill="hold" nodeType="afterEffect">
                                  <p:stCondLst>
                                    <p:cond delay="5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01FF476F-3D5C-F064-1FBC-C1DF3B53EB2E}"/>
              </a:ext>
            </a:extLst>
          </p:cNvPr>
          <p:cNvCxnSpPr>
            <a:cxnSpLocks/>
          </p:cNvCxnSpPr>
          <p:nvPr/>
        </p:nvCxnSpPr>
        <p:spPr>
          <a:xfrm>
            <a:off x="2644083"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419C406F-4EA6-48C8-E54C-9BB46A9CAFC3}"/>
              </a:ext>
            </a:extLst>
          </p:cNvPr>
          <p:cNvCxnSpPr>
            <a:cxnSpLocks/>
          </p:cNvCxnSpPr>
          <p:nvPr/>
        </p:nvCxnSpPr>
        <p:spPr>
          <a:xfrm>
            <a:off x="5770733"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5" name="组合 4">
            <a:extLst>
              <a:ext uri="{FF2B5EF4-FFF2-40B4-BE49-F238E27FC236}">
                <a16:creationId xmlns:a16="http://schemas.microsoft.com/office/drawing/2014/main" id="{B6312439-9150-A9E3-BCA7-92C196ABF0AC}"/>
              </a:ext>
            </a:extLst>
          </p:cNvPr>
          <p:cNvGrpSpPr/>
          <p:nvPr/>
        </p:nvGrpSpPr>
        <p:grpSpPr>
          <a:xfrm>
            <a:off x="2428083" y="553196"/>
            <a:ext cx="432000" cy="432000"/>
            <a:chOff x="1637508" y="547157"/>
            <a:chExt cx="432000" cy="432000"/>
          </a:xfrm>
        </p:grpSpPr>
        <p:pic>
          <p:nvPicPr>
            <p:cNvPr id="6" name="图形 5" descr="监视器">
              <a:extLst>
                <a:ext uri="{FF2B5EF4-FFF2-40B4-BE49-F238E27FC236}">
                  <a16:creationId xmlns:a16="http://schemas.microsoft.com/office/drawing/2014/main" id="{CEACB10B-4689-AE57-C19E-FA5447BEA40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637508" y="547157"/>
              <a:ext cx="432000" cy="432000"/>
            </a:xfrm>
            <a:prstGeom prst="rect">
              <a:avLst/>
            </a:prstGeom>
          </p:spPr>
        </p:pic>
        <p:sp>
          <p:nvSpPr>
            <p:cNvPr id="7" name="文本框 6">
              <a:extLst>
                <a:ext uri="{FF2B5EF4-FFF2-40B4-BE49-F238E27FC236}">
                  <a16:creationId xmlns:a16="http://schemas.microsoft.com/office/drawing/2014/main" id="{DCEA9356-61CD-92F3-D75C-9AEE0ECA246E}"/>
                </a:ext>
              </a:extLst>
            </p:cNvPr>
            <p:cNvSpPr txBox="1"/>
            <p:nvPr/>
          </p:nvSpPr>
          <p:spPr>
            <a:xfrm>
              <a:off x="1705871" y="624658"/>
              <a:ext cx="2952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grpSp>
        <p:nvGrpSpPr>
          <p:cNvPr id="8" name="组合 7">
            <a:extLst>
              <a:ext uri="{FF2B5EF4-FFF2-40B4-BE49-F238E27FC236}">
                <a16:creationId xmlns:a16="http://schemas.microsoft.com/office/drawing/2014/main" id="{F8F48B44-2E38-A68F-6C82-1925A759FD49}"/>
              </a:ext>
            </a:extLst>
          </p:cNvPr>
          <p:cNvGrpSpPr/>
          <p:nvPr/>
        </p:nvGrpSpPr>
        <p:grpSpPr>
          <a:xfrm>
            <a:off x="5554733" y="553196"/>
            <a:ext cx="432000" cy="432000"/>
            <a:chOff x="6107183" y="559236"/>
            <a:chExt cx="432000" cy="432000"/>
          </a:xfrm>
        </p:grpSpPr>
        <p:pic>
          <p:nvPicPr>
            <p:cNvPr id="9" name="图形 8" descr="监视器">
              <a:extLst>
                <a:ext uri="{FF2B5EF4-FFF2-40B4-BE49-F238E27FC236}">
                  <a16:creationId xmlns:a16="http://schemas.microsoft.com/office/drawing/2014/main" id="{0DD150A7-5A10-5C86-EBA8-5BF0E13BDA0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107183" y="559236"/>
              <a:ext cx="432000" cy="432000"/>
            </a:xfrm>
            <a:prstGeom prst="rect">
              <a:avLst/>
            </a:prstGeom>
          </p:spPr>
        </p:pic>
        <p:sp>
          <p:nvSpPr>
            <p:cNvPr id="10" name="文本框 9">
              <a:extLst>
                <a:ext uri="{FF2B5EF4-FFF2-40B4-BE49-F238E27FC236}">
                  <a16:creationId xmlns:a16="http://schemas.microsoft.com/office/drawing/2014/main" id="{E0F37203-A5E6-837B-9C5F-2578670C41E9}"/>
                </a:ext>
              </a:extLst>
            </p:cNvPr>
            <p:cNvSpPr txBox="1"/>
            <p:nvPr/>
          </p:nvSpPr>
          <p:spPr>
            <a:xfrm>
              <a:off x="6173142" y="636737"/>
              <a:ext cx="30008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B</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cxnSp>
        <p:nvCxnSpPr>
          <p:cNvPr id="11" name="直接箭头连接符 10">
            <a:extLst>
              <a:ext uri="{FF2B5EF4-FFF2-40B4-BE49-F238E27FC236}">
                <a16:creationId xmlns:a16="http://schemas.microsoft.com/office/drawing/2014/main" id="{D4ED6286-38B8-6E25-ACE6-C6CD528EB5C3}"/>
              </a:ext>
            </a:extLst>
          </p:cNvPr>
          <p:cNvCxnSpPr>
            <a:cxnSpLocks/>
          </p:cNvCxnSpPr>
          <p:nvPr/>
        </p:nvCxnSpPr>
        <p:spPr>
          <a:xfrm>
            <a:off x="2644082" y="3187843"/>
            <a:ext cx="3141051" cy="453028"/>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F33B9178-3137-321E-1AAE-DA8E5E4AC547}"/>
              </a:ext>
            </a:extLst>
          </p:cNvPr>
          <p:cNvCxnSpPr>
            <a:cxnSpLocks/>
          </p:cNvCxnSpPr>
          <p:nvPr/>
        </p:nvCxnSpPr>
        <p:spPr>
          <a:xfrm flipH="1">
            <a:off x="2629683" y="1777742"/>
            <a:ext cx="3155450" cy="447077"/>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6192A20-58C2-5D98-F3EE-0A55199611F8}"/>
              </a:ext>
            </a:extLst>
          </p:cNvPr>
          <p:cNvCxnSpPr>
            <a:cxnSpLocks/>
          </p:cNvCxnSpPr>
          <p:nvPr/>
        </p:nvCxnSpPr>
        <p:spPr>
          <a:xfrm>
            <a:off x="2644082" y="1237668"/>
            <a:ext cx="3126650" cy="496020"/>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A595DD58-2259-1E9F-2E57-06E46AC02A24}"/>
              </a:ext>
            </a:extLst>
          </p:cNvPr>
          <p:cNvSpPr/>
          <p:nvPr/>
        </p:nvSpPr>
        <p:spPr>
          <a:xfrm>
            <a:off x="5785133" y="1768841"/>
            <a:ext cx="1296000" cy="9176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CLOSE-WAIT</a:t>
            </a:r>
          </a:p>
        </p:txBody>
      </p:sp>
      <p:sp>
        <p:nvSpPr>
          <p:cNvPr id="20" name="矩形 19">
            <a:extLst>
              <a:ext uri="{FF2B5EF4-FFF2-40B4-BE49-F238E27FC236}">
                <a16:creationId xmlns:a16="http://schemas.microsoft.com/office/drawing/2014/main" id="{DFBE2719-A7EA-67B7-ACCC-E94464D6C0E0}"/>
              </a:ext>
            </a:extLst>
          </p:cNvPr>
          <p:cNvSpPr/>
          <p:nvPr/>
        </p:nvSpPr>
        <p:spPr>
          <a:xfrm>
            <a:off x="1333683" y="1287183"/>
            <a:ext cx="1296000" cy="9393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FIN-WAIT1</a:t>
            </a:r>
          </a:p>
        </p:txBody>
      </p:sp>
      <p:sp>
        <p:nvSpPr>
          <p:cNvPr id="21" name="矩形 20">
            <a:extLst>
              <a:ext uri="{FF2B5EF4-FFF2-40B4-BE49-F238E27FC236}">
                <a16:creationId xmlns:a16="http://schemas.microsoft.com/office/drawing/2014/main" id="{5967DC4E-DA6C-280C-28FF-06023C016624}"/>
              </a:ext>
            </a:extLst>
          </p:cNvPr>
          <p:cNvSpPr/>
          <p:nvPr/>
        </p:nvSpPr>
        <p:spPr>
          <a:xfrm>
            <a:off x="5785133" y="2741784"/>
            <a:ext cx="1296000" cy="82221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LAST-ACK</a:t>
            </a:r>
          </a:p>
        </p:txBody>
      </p:sp>
      <p:sp>
        <p:nvSpPr>
          <p:cNvPr id="22" name="矩形 21">
            <a:extLst>
              <a:ext uri="{FF2B5EF4-FFF2-40B4-BE49-F238E27FC236}">
                <a16:creationId xmlns:a16="http://schemas.microsoft.com/office/drawing/2014/main" id="{E753C140-972A-E175-7A82-9DE4ACDF00FE}"/>
              </a:ext>
            </a:extLst>
          </p:cNvPr>
          <p:cNvSpPr/>
          <p:nvPr/>
        </p:nvSpPr>
        <p:spPr>
          <a:xfrm>
            <a:off x="1333683" y="960669"/>
            <a:ext cx="1296000" cy="2769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3" name="矩形 22">
            <a:extLst>
              <a:ext uri="{FF2B5EF4-FFF2-40B4-BE49-F238E27FC236}">
                <a16:creationId xmlns:a16="http://schemas.microsoft.com/office/drawing/2014/main" id="{3415ABEA-50A8-8B88-1574-35B03FFC9672}"/>
              </a:ext>
            </a:extLst>
          </p:cNvPr>
          <p:cNvSpPr/>
          <p:nvPr/>
        </p:nvSpPr>
        <p:spPr>
          <a:xfrm>
            <a:off x="5785133" y="960669"/>
            <a:ext cx="1296000" cy="7618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4" name="矩形 23">
            <a:extLst>
              <a:ext uri="{FF2B5EF4-FFF2-40B4-BE49-F238E27FC236}">
                <a16:creationId xmlns:a16="http://schemas.microsoft.com/office/drawing/2014/main" id="{D81515A6-1DB0-A00E-CFA8-B99C19CA6753}"/>
              </a:ext>
            </a:extLst>
          </p:cNvPr>
          <p:cNvSpPr/>
          <p:nvPr/>
        </p:nvSpPr>
        <p:spPr>
          <a:xfrm rot="21120000">
            <a:off x="2767408" y="2256478"/>
            <a:ext cx="2880000" cy="276999"/>
          </a:xfrm>
          <a:prstGeom prst="rect">
            <a:avLst/>
          </a:prstGeom>
          <a:no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spAutoFit/>
          </a:bodyP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data</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23AFDE80-4B50-73E9-7084-4F39ACEC3161}"/>
              </a:ext>
            </a:extLst>
          </p:cNvPr>
          <p:cNvSpPr txBox="1"/>
          <p:nvPr/>
        </p:nvSpPr>
        <p:spPr>
          <a:xfrm>
            <a:off x="2795185" y="630697"/>
            <a:ext cx="63831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C</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lient</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6" name="文本框 25">
            <a:extLst>
              <a:ext uri="{FF2B5EF4-FFF2-40B4-BE49-F238E27FC236}">
                <a16:creationId xmlns:a16="http://schemas.microsoft.com/office/drawing/2014/main" id="{2FA47CD2-8807-CEF9-6524-74B872B5CBD6}"/>
              </a:ext>
            </a:extLst>
          </p:cNvPr>
          <p:cNvSpPr txBox="1"/>
          <p:nvPr/>
        </p:nvSpPr>
        <p:spPr>
          <a:xfrm>
            <a:off x="4968506" y="630697"/>
            <a:ext cx="67037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S</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erver</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4" name="文本框 13">
            <a:extLst>
              <a:ext uri="{FF2B5EF4-FFF2-40B4-BE49-F238E27FC236}">
                <a16:creationId xmlns:a16="http://schemas.microsoft.com/office/drawing/2014/main" id="{31A98A1D-E483-21BF-837D-A8D5E671CBCC}"/>
              </a:ext>
            </a:extLst>
          </p:cNvPr>
          <p:cNvSpPr txBox="1"/>
          <p:nvPr/>
        </p:nvSpPr>
        <p:spPr>
          <a:xfrm rot="540000">
            <a:off x="3559635" y="1254072"/>
            <a:ext cx="1295547"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FIN = 1 seq = u</a:t>
            </a:r>
          </a:p>
        </p:txBody>
      </p:sp>
      <p:sp>
        <p:nvSpPr>
          <p:cNvPr id="15" name="文本框 14">
            <a:extLst>
              <a:ext uri="{FF2B5EF4-FFF2-40B4-BE49-F238E27FC236}">
                <a16:creationId xmlns:a16="http://schemas.microsoft.com/office/drawing/2014/main" id="{50683C56-D6B5-28DE-EF64-659B03076EBF}"/>
              </a:ext>
            </a:extLst>
          </p:cNvPr>
          <p:cNvSpPr txBox="1"/>
          <p:nvPr/>
        </p:nvSpPr>
        <p:spPr>
          <a:xfrm rot="21120000">
            <a:off x="3473876" y="1756930"/>
            <a:ext cx="1467068"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ACK = 1 ack = u+1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seq = v</a:t>
            </a:r>
          </a:p>
        </p:txBody>
      </p:sp>
      <p:sp>
        <p:nvSpPr>
          <p:cNvPr id="16" name="文本框 15">
            <a:extLst>
              <a:ext uri="{FF2B5EF4-FFF2-40B4-BE49-F238E27FC236}">
                <a16:creationId xmlns:a16="http://schemas.microsoft.com/office/drawing/2014/main" id="{057F6AC0-A91C-D0FE-125C-8414C43D71F7}"/>
              </a:ext>
            </a:extLst>
          </p:cNvPr>
          <p:cNvSpPr txBox="1"/>
          <p:nvPr/>
        </p:nvSpPr>
        <p:spPr>
          <a:xfrm rot="525163">
            <a:off x="3458647" y="3177087"/>
            <a:ext cx="1497526"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p>
        </p:txBody>
      </p:sp>
      <p:sp>
        <p:nvSpPr>
          <p:cNvPr id="27" name="文本框 26">
            <a:extLst>
              <a:ext uri="{FF2B5EF4-FFF2-40B4-BE49-F238E27FC236}">
                <a16:creationId xmlns:a16="http://schemas.microsoft.com/office/drawing/2014/main" id="{3363F0B2-383E-264A-6F52-190739009C25}"/>
              </a:ext>
            </a:extLst>
          </p:cNvPr>
          <p:cNvSpPr txBox="1"/>
          <p:nvPr/>
        </p:nvSpPr>
        <p:spPr>
          <a:xfrm rot="21120000">
            <a:off x="3453840" y="2652541"/>
            <a:ext cx="1507143"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FIN</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a:t>
            </a:r>
          </a:p>
        </p:txBody>
      </p:sp>
      <p:sp>
        <p:nvSpPr>
          <p:cNvPr id="30" name="矩形 29">
            <a:extLst>
              <a:ext uri="{FF2B5EF4-FFF2-40B4-BE49-F238E27FC236}">
                <a16:creationId xmlns:a16="http://schemas.microsoft.com/office/drawing/2014/main" id="{75CA5390-80EA-581F-6D40-4B6F0B129469}"/>
              </a:ext>
            </a:extLst>
          </p:cNvPr>
          <p:cNvSpPr/>
          <p:nvPr/>
        </p:nvSpPr>
        <p:spPr>
          <a:xfrm>
            <a:off x="5785133" y="3619271"/>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sp>
        <p:nvSpPr>
          <p:cNvPr id="32" name="矩形 31">
            <a:extLst>
              <a:ext uri="{FF2B5EF4-FFF2-40B4-BE49-F238E27FC236}">
                <a16:creationId xmlns:a16="http://schemas.microsoft.com/office/drawing/2014/main" id="{D54E7638-FF7C-ED85-4FAD-ECD462515673}"/>
              </a:ext>
            </a:extLst>
          </p:cNvPr>
          <p:cNvSpPr/>
          <p:nvPr/>
        </p:nvSpPr>
        <p:spPr>
          <a:xfrm>
            <a:off x="1333683" y="2276030"/>
            <a:ext cx="1296000" cy="86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FIN-WAIT2</a:t>
            </a:r>
          </a:p>
        </p:txBody>
      </p:sp>
      <p:sp>
        <p:nvSpPr>
          <p:cNvPr id="33" name="矩形 32">
            <a:extLst>
              <a:ext uri="{FF2B5EF4-FFF2-40B4-BE49-F238E27FC236}">
                <a16:creationId xmlns:a16="http://schemas.microsoft.com/office/drawing/2014/main" id="{AF953AB2-01D7-2107-6A17-439341E400AD}"/>
              </a:ext>
            </a:extLst>
          </p:cNvPr>
          <p:cNvSpPr/>
          <p:nvPr/>
        </p:nvSpPr>
        <p:spPr>
          <a:xfrm>
            <a:off x="1326483" y="3189542"/>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TIME-WAIT</a:t>
            </a:r>
          </a:p>
        </p:txBody>
      </p:sp>
      <p:cxnSp>
        <p:nvCxnSpPr>
          <p:cNvPr id="50" name="直接箭头连接符 49">
            <a:extLst>
              <a:ext uri="{FF2B5EF4-FFF2-40B4-BE49-F238E27FC236}">
                <a16:creationId xmlns:a16="http://schemas.microsoft.com/office/drawing/2014/main" id="{25B448BF-6444-2833-67FA-44B89CD0FE4E}"/>
              </a:ext>
            </a:extLst>
          </p:cNvPr>
          <p:cNvCxnSpPr>
            <a:cxnSpLocks/>
          </p:cNvCxnSpPr>
          <p:nvPr/>
        </p:nvCxnSpPr>
        <p:spPr>
          <a:xfrm flipH="1">
            <a:off x="2629683" y="2664542"/>
            <a:ext cx="3155450" cy="447077"/>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8" name="箭头: 下 57">
            <a:extLst>
              <a:ext uri="{FF2B5EF4-FFF2-40B4-BE49-F238E27FC236}">
                <a16:creationId xmlns:a16="http://schemas.microsoft.com/office/drawing/2014/main" id="{E54BC953-6699-9B5D-98F0-FD30BB4ABDD9}"/>
              </a:ext>
            </a:extLst>
          </p:cNvPr>
          <p:cNvSpPr/>
          <p:nvPr/>
        </p:nvSpPr>
        <p:spPr>
          <a:xfrm rot="4920000">
            <a:off x="4649065" y="195491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箭头: 下 58">
            <a:extLst>
              <a:ext uri="{FF2B5EF4-FFF2-40B4-BE49-F238E27FC236}">
                <a16:creationId xmlns:a16="http://schemas.microsoft.com/office/drawing/2014/main" id="{5FF2FF3A-C735-86F2-4696-DE3FA441DDDB}"/>
              </a:ext>
            </a:extLst>
          </p:cNvPr>
          <p:cNvSpPr/>
          <p:nvPr/>
        </p:nvSpPr>
        <p:spPr>
          <a:xfrm rot="4920000">
            <a:off x="3538783" y="213176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矩形 59">
            <a:extLst>
              <a:ext uri="{FF2B5EF4-FFF2-40B4-BE49-F238E27FC236}">
                <a16:creationId xmlns:a16="http://schemas.microsoft.com/office/drawing/2014/main" id="{70BDD34B-53C1-32D8-8A5D-2A27DC04CA2F}"/>
              </a:ext>
            </a:extLst>
          </p:cNvPr>
          <p:cNvSpPr/>
          <p:nvPr/>
        </p:nvSpPr>
        <p:spPr>
          <a:xfrm>
            <a:off x="1326483" y="3887054"/>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pic>
        <p:nvPicPr>
          <p:cNvPr id="61" name="图形 60" descr="时钟">
            <a:extLst>
              <a:ext uri="{FF2B5EF4-FFF2-40B4-BE49-F238E27FC236}">
                <a16:creationId xmlns:a16="http://schemas.microsoft.com/office/drawing/2014/main" id="{3DD24FFC-95D2-E32B-BDB7-1FCDD1AECE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326483" y="3333542"/>
            <a:ext cx="360000" cy="360000"/>
          </a:xfrm>
          <a:prstGeom prst="rect">
            <a:avLst/>
          </a:prstGeom>
        </p:spPr>
      </p:pic>
      <p:sp>
        <p:nvSpPr>
          <p:cNvPr id="62" name="文本框 61">
            <a:extLst>
              <a:ext uri="{FF2B5EF4-FFF2-40B4-BE49-F238E27FC236}">
                <a16:creationId xmlns:a16="http://schemas.microsoft.com/office/drawing/2014/main" id="{D4AA236A-B378-88A9-7277-6FDE77CCF8E5}"/>
              </a:ext>
            </a:extLst>
          </p:cNvPr>
          <p:cNvSpPr txBox="1"/>
          <p:nvPr/>
        </p:nvSpPr>
        <p:spPr>
          <a:xfrm>
            <a:off x="1268883" y="3613090"/>
            <a:ext cx="532518" cy="246221"/>
          </a:xfrm>
          <a:prstGeom prst="rect">
            <a:avLst/>
          </a:prstGeom>
          <a:noFill/>
        </p:spPr>
        <p:txBody>
          <a:bodyPr wrap="none" rtlCol="0">
            <a:spAutoFit/>
          </a:bodyPr>
          <a:lstStyle/>
          <a:p>
            <a:pPr algn="l">
              <a:buClr>
                <a:srgbClr val="C00000"/>
              </a:buClr>
            </a:pPr>
            <a:r>
              <a:rPr lang="en-US" altLang="zh-CN" sz="1000" dirty="0">
                <a:latin typeface="Montserrat" panose="00000500000000000000" pitchFamily="2" charset="0"/>
                <a:ea typeface="微软雅黑 Light" panose="020B0502040204020203" pitchFamily="34" charset="-122"/>
                <a:cs typeface="Courier New" panose="02070309020205020404" pitchFamily="49" charset="0"/>
              </a:rPr>
              <a:t>2MSL</a:t>
            </a:r>
            <a:endParaRPr lang="zh-CN" altLang="en-US" sz="1000" dirty="0">
              <a:latin typeface="Montserrat" panose="00000500000000000000" pitchFamily="2" charset="0"/>
              <a:ea typeface="微软雅黑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1749792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D9ED9C3-89A7-33D2-4C97-29F4DA896F08}"/>
              </a:ext>
            </a:extLst>
          </p:cNvPr>
          <p:cNvSpPr>
            <a:spLocks noGrp="1"/>
          </p:cNvSpPr>
          <p:nvPr>
            <p:ph sz="quarter" idx="11"/>
          </p:nvPr>
        </p:nvSpPr>
        <p:spPr>
          <a:xfrm>
            <a:off x="486000" y="900000"/>
            <a:ext cx="8172000" cy="3703500"/>
          </a:xfrm>
        </p:spPr>
        <p:txBody>
          <a:bodyPr/>
          <a:lstStyle/>
          <a:p>
            <a:r>
              <a:rPr lang="zh-CN" altLang="en-US" dirty="0"/>
              <a:t>第一，保证发送的最后一个 </a:t>
            </a:r>
            <a:r>
              <a:rPr lang="en-US" altLang="zh-CN" dirty="0"/>
              <a:t>ACK </a:t>
            </a:r>
            <a:r>
              <a:rPr lang="zh-CN" altLang="en-US" dirty="0"/>
              <a:t>报文段能够到达 </a:t>
            </a:r>
            <a:r>
              <a:rPr lang="en-US" altLang="zh-CN" dirty="0"/>
              <a:t>B</a:t>
            </a:r>
            <a:r>
              <a:rPr lang="zh-CN" altLang="en-US" dirty="0"/>
              <a:t>。</a:t>
            </a:r>
          </a:p>
          <a:p>
            <a:r>
              <a:rPr lang="zh-CN" altLang="en-US" dirty="0"/>
              <a:t>第二，防止“已失效的连接请求报文段”出现在本连接中。</a:t>
            </a:r>
          </a:p>
          <a:p>
            <a:endParaRPr lang="zh-CN" altLang="en-US" dirty="0"/>
          </a:p>
        </p:txBody>
      </p:sp>
      <p:sp>
        <p:nvSpPr>
          <p:cNvPr id="8" name="标题 7">
            <a:extLst>
              <a:ext uri="{FF2B5EF4-FFF2-40B4-BE49-F238E27FC236}">
                <a16:creationId xmlns:a16="http://schemas.microsoft.com/office/drawing/2014/main" id="{882F8E5F-DE22-6205-7994-D3C30FC828B8}"/>
              </a:ext>
            </a:extLst>
          </p:cNvPr>
          <p:cNvSpPr>
            <a:spLocks noGrp="1"/>
          </p:cNvSpPr>
          <p:nvPr>
            <p:ph type="title"/>
          </p:nvPr>
        </p:nvSpPr>
        <p:spPr>
          <a:xfrm>
            <a:off x="486000" y="550723"/>
            <a:ext cx="8172000" cy="338554"/>
          </a:xfrm>
        </p:spPr>
        <p:txBody>
          <a:bodyPr/>
          <a:lstStyle/>
          <a:p>
            <a:r>
              <a:rPr lang="zh-CN" altLang="en-US" dirty="0"/>
              <a:t>必须等待 </a:t>
            </a:r>
            <a:r>
              <a:rPr lang="en-US" altLang="zh-CN" dirty="0"/>
              <a:t>2MSL </a:t>
            </a:r>
            <a:r>
              <a:rPr lang="zh-CN" altLang="en-US" dirty="0"/>
              <a:t>的时间</a:t>
            </a:r>
          </a:p>
        </p:txBody>
      </p:sp>
    </p:spTree>
    <p:extLst>
      <p:ext uri="{BB962C8B-B14F-4D97-AF65-F5344CB8AC3E}">
        <p14:creationId xmlns:p14="http://schemas.microsoft.com/office/powerpoint/2010/main" val="2397196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D085E651-8EAE-F5DF-EEA7-0FDFAEA61A78}"/>
              </a:ext>
            </a:extLst>
          </p:cNvPr>
          <p:cNvSpPr>
            <a:spLocks noGrp="1"/>
          </p:cNvSpPr>
          <p:nvPr>
            <p:ph sz="quarter" idx="11"/>
          </p:nvPr>
        </p:nvSpPr>
        <p:spPr>
          <a:xfrm>
            <a:off x="486000" y="900000"/>
            <a:ext cx="8172000" cy="3703500"/>
          </a:xfrm>
        </p:spPr>
        <p:txBody>
          <a:bodyPr/>
          <a:lstStyle/>
          <a:p>
            <a:r>
              <a:rPr lang="zh-CN" altLang="en-US"/>
              <a:t>用来防止在 </a:t>
            </a:r>
            <a:r>
              <a:rPr lang="en-US" altLang="zh-CN"/>
              <a:t>TCP </a:t>
            </a:r>
            <a:r>
              <a:rPr lang="zh-CN" altLang="en-US"/>
              <a:t>连接出现长时期空闲。</a:t>
            </a:r>
            <a:endParaRPr lang="en-US" altLang="zh-CN"/>
          </a:p>
          <a:p>
            <a:r>
              <a:rPr lang="zh-CN" altLang="en-US"/>
              <a:t>通常设置为 </a:t>
            </a:r>
            <a:r>
              <a:rPr lang="en-US" altLang="zh-CN"/>
              <a:t>2 </a:t>
            </a:r>
            <a:r>
              <a:rPr lang="zh-CN" altLang="en-US"/>
              <a:t>小时 。</a:t>
            </a:r>
            <a:endParaRPr lang="en-US" altLang="zh-CN"/>
          </a:p>
          <a:p>
            <a:r>
              <a:rPr lang="zh-CN" altLang="en-US"/>
              <a:t>若服务器过了 </a:t>
            </a:r>
            <a:r>
              <a:rPr lang="en-US" altLang="zh-CN"/>
              <a:t>2 </a:t>
            </a:r>
            <a:r>
              <a:rPr lang="zh-CN" altLang="en-US"/>
              <a:t>小时还没有收到客户的信息，它就发送探测报文段。</a:t>
            </a:r>
            <a:endParaRPr lang="en-US" altLang="zh-CN"/>
          </a:p>
          <a:p>
            <a:r>
              <a:rPr lang="zh-CN" altLang="en-US"/>
              <a:t>若发送了 </a:t>
            </a:r>
            <a:r>
              <a:rPr lang="en-US" altLang="zh-CN"/>
              <a:t>10 </a:t>
            </a:r>
            <a:r>
              <a:rPr lang="zh-CN" altLang="en-US"/>
              <a:t>个探测报文段（每一个相隔 </a:t>
            </a:r>
            <a:r>
              <a:rPr lang="en-US" altLang="zh-CN"/>
              <a:t>75 </a:t>
            </a:r>
            <a:r>
              <a:rPr lang="zh-CN" altLang="en-US"/>
              <a:t>秒）还没有响应，就假定客户出了故障，因而就终止该连接。 </a:t>
            </a:r>
          </a:p>
          <a:p>
            <a:endParaRPr lang="zh-CN" altLang="en-US" dirty="0"/>
          </a:p>
        </p:txBody>
      </p:sp>
      <p:sp>
        <p:nvSpPr>
          <p:cNvPr id="8" name="标题 7">
            <a:extLst>
              <a:ext uri="{FF2B5EF4-FFF2-40B4-BE49-F238E27FC236}">
                <a16:creationId xmlns:a16="http://schemas.microsoft.com/office/drawing/2014/main" id="{C07A89BE-C89D-08F0-450B-AD1DBC309F0C}"/>
              </a:ext>
            </a:extLst>
          </p:cNvPr>
          <p:cNvSpPr>
            <a:spLocks noGrp="1"/>
          </p:cNvSpPr>
          <p:nvPr>
            <p:ph type="title"/>
          </p:nvPr>
        </p:nvSpPr>
        <p:spPr>
          <a:xfrm>
            <a:off x="486000" y="550723"/>
            <a:ext cx="8172000" cy="338554"/>
          </a:xfrm>
        </p:spPr>
        <p:txBody>
          <a:bodyPr/>
          <a:lstStyle/>
          <a:p>
            <a:r>
              <a:rPr lang="zh-CN" altLang="en-US"/>
              <a:t>保活计时器</a:t>
            </a:r>
            <a:endParaRPr lang="zh-CN" altLang="en-US" dirty="0"/>
          </a:p>
        </p:txBody>
      </p:sp>
    </p:spTree>
    <p:extLst>
      <p:ext uri="{BB962C8B-B14F-4D97-AF65-F5344CB8AC3E}">
        <p14:creationId xmlns:p14="http://schemas.microsoft.com/office/powerpoint/2010/main" val="17518276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9" name="组合 68"/>
          <p:cNvGrpSpPr/>
          <p:nvPr/>
        </p:nvGrpSpPr>
        <p:grpSpPr>
          <a:xfrm>
            <a:off x="3392395" y="957988"/>
            <a:ext cx="4263459" cy="3743225"/>
            <a:chOff x="688417" y="-112036"/>
            <a:chExt cx="8078966" cy="7093164"/>
          </a:xfrm>
        </p:grpSpPr>
        <p:sp>
          <p:nvSpPr>
            <p:cNvPr id="6" name="Rectangle 5"/>
            <p:cNvSpPr>
              <a:spLocks noChangeArrowheads="1"/>
            </p:cNvSpPr>
            <p:nvPr/>
          </p:nvSpPr>
          <p:spPr bwMode="auto">
            <a:xfrm>
              <a:off x="688417" y="4458427"/>
              <a:ext cx="4783787" cy="2451016"/>
            </a:xfrm>
            <a:prstGeom prst="rect">
              <a:avLst/>
            </a:prstGeom>
            <a:solidFill>
              <a:srgbClr val="FFFF00"/>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7" name="Rectangle 6"/>
            <p:cNvSpPr>
              <a:spLocks noChangeArrowheads="1"/>
            </p:cNvSpPr>
            <p:nvPr/>
          </p:nvSpPr>
          <p:spPr bwMode="auto">
            <a:xfrm>
              <a:off x="5726732" y="3632200"/>
              <a:ext cx="1575329" cy="2012950"/>
            </a:xfrm>
            <a:prstGeom prst="rect">
              <a:avLst/>
            </a:prstGeom>
            <a:solidFill>
              <a:srgbClr val="FFFF99"/>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8" name="Line 7"/>
            <p:cNvSpPr>
              <a:spLocks noChangeShapeType="1"/>
            </p:cNvSpPr>
            <p:nvPr/>
          </p:nvSpPr>
          <p:spPr bwMode="auto">
            <a:xfrm rot="5400000" flipV="1">
              <a:off x="5303663" y="3291285"/>
              <a:ext cx="0" cy="1186656"/>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9" name="Rectangle 8"/>
            <p:cNvSpPr>
              <a:spLocks noChangeArrowheads="1"/>
            </p:cNvSpPr>
            <p:nvPr/>
          </p:nvSpPr>
          <p:spPr bwMode="auto">
            <a:xfrm>
              <a:off x="3609668" y="236538"/>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CLOSED</a:t>
              </a:r>
            </a:p>
          </p:txBody>
        </p:sp>
        <p:sp>
          <p:nvSpPr>
            <p:cNvPr id="10" name="Rectangle 9"/>
            <p:cNvSpPr>
              <a:spLocks noChangeArrowheads="1"/>
            </p:cNvSpPr>
            <p:nvPr/>
          </p:nvSpPr>
          <p:spPr bwMode="auto">
            <a:xfrm>
              <a:off x="3270870" y="3759201"/>
              <a:ext cx="1439465"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ESTABLISHED</a:t>
              </a:r>
            </a:p>
          </p:txBody>
        </p:sp>
        <p:sp>
          <p:nvSpPr>
            <p:cNvPr id="11" name="Rectangle 10"/>
            <p:cNvSpPr>
              <a:spLocks noChangeArrowheads="1"/>
            </p:cNvSpPr>
            <p:nvPr/>
          </p:nvSpPr>
          <p:spPr bwMode="auto">
            <a:xfrm>
              <a:off x="3609668" y="1243013"/>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LISTEN</a:t>
              </a:r>
            </a:p>
          </p:txBody>
        </p:sp>
        <p:sp>
          <p:nvSpPr>
            <p:cNvPr id="12" name="Rectangle 11"/>
            <p:cNvSpPr>
              <a:spLocks noChangeArrowheads="1"/>
            </p:cNvSpPr>
            <p:nvPr/>
          </p:nvSpPr>
          <p:spPr bwMode="auto">
            <a:xfrm>
              <a:off x="5853996" y="3759201"/>
              <a:ext cx="135519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CLOSE_WAIT</a:t>
              </a:r>
            </a:p>
          </p:txBody>
        </p:sp>
        <p:sp>
          <p:nvSpPr>
            <p:cNvPr id="13" name="Rectangle 12"/>
            <p:cNvSpPr>
              <a:spLocks noChangeArrowheads="1"/>
            </p:cNvSpPr>
            <p:nvPr/>
          </p:nvSpPr>
          <p:spPr bwMode="auto">
            <a:xfrm>
              <a:off x="983547" y="48910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FIN_WAIT_1</a:t>
              </a:r>
            </a:p>
          </p:txBody>
        </p:sp>
        <p:sp>
          <p:nvSpPr>
            <p:cNvPr id="14" name="Rectangle 13"/>
            <p:cNvSpPr>
              <a:spLocks noChangeArrowheads="1"/>
            </p:cNvSpPr>
            <p:nvPr/>
          </p:nvSpPr>
          <p:spPr bwMode="auto">
            <a:xfrm>
              <a:off x="983547" y="23129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SYN_RCVD</a:t>
              </a:r>
            </a:p>
          </p:txBody>
        </p:sp>
        <p:sp>
          <p:nvSpPr>
            <p:cNvPr id="15" name="Rectangle 14"/>
            <p:cNvSpPr>
              <a:spLocks noChangeArrowheads="1"/>
            </p:cNvSpPr>
            <p:nvPr/>
          </p:nvSpPr>
          <p:spPr bwMode="auto">
            <a:xfrm>
              <a:off x="983547" y="6337301"/>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FIN_WAIT_2</a:t>
              </a:r>
            </a:p>
          </p:txBody>
        </p:sp>
        <p:sp>
          <p:nvSpPr>
            <p:cNvPr id="16" name="Rectangle 15"/>
            <p:cNvSpPr>
              <a:spLocks noChangeArrowheads="1"/>
            </p:cNvSpPr>
            <p:nvPr/>
          </p:nvSpPr>
          <p:spPr bwMode="auto">
            <a:xfrm>
              <a:off x="3566674" y="4891089"/>
              <a:ext cx="93212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CLOSING</a:t>
              </a:r>
            </a:p>
          </p:txBody>
        </p:sp>
        <p:sp>
          <p:nvSpPr>
            <p:cNvPr id="17" name="Rectangle 16"/>
            <p:cNvSpPr>
              <a:spLocks noChangeArrowheads="1"/>
            </p:cNvSpPr>
            <p:nvPr/>
          </p:nvSpPr>
          <p:spPr bwMode="auto">
            <a:xfrm>
              <a:off x="3439410" y="6337301"/>
              <a:ext cx="118665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TIME_WAIT</a:t>
              </a:r>
            </a:p>
          </p:txBody>
        </p:sp>
        <p:sp>
          <p:nvSpPr>
            <p:cNvPr id="18" name="Rectangle 17"/>
            <p:cNvSpPr>
              <a:spLocks noChangeArrowheads="1"/>
            </p:cNvSpPr>
            <p:nvPr/>
          </p:nvSpPr>
          <p:spPr bwMode="auto">
            <a:xfrm>
              <a:off x="5981261" y="2312989"/>
              <a:ext cx="110066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SYN_SENT</a:t>
              </a:r>
            </a:p>
          </p:txBody>
        </p:sp>
        <p:sp>
          <p:nvSpPr>
            <p:cNvPr id="19" name="Rectangle 18"/>
            <p:cNvSpPr>
              <a:spLocks noChangeArrowheads="1"/>
            </p:cNvSpPr>
            <p:nvPr/>
          </p:nvSpPr>
          <p:spPr bwMode="auto">
            <a:xfrm>
              <a:off x="5938266" y="5267326"/>
              <a:ext cx="1186656" cy="252413"/>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LAST_ACK</a:t>
              </a:r>
            </a:p>
          </p:txBody>
        </p:sp>
        <p:sp>
          <p:nvSpPr>
            <p:cNvPr id="20" name="Line 19"/>
            <p:cNvSpPr>
              <a:spLocks noChangeShapeType="1"/>
            </p:cNvSpPr>
            <p:nvPr/>
          </p:nvSpPr>
          <p:spPr bwMode="auto">
            <a:xfrm>
              <a:off x="4287266" y="488950"/>
              <a:ext cx="2244329" cy="182403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1" name="Line 20"/>
            <p:cNvSpPr>
              <a:spLocks noChangeShapeType="1"/>
            </p:cNvSpPr>
            <p:nvPr/>
          </p:nvSpPr>
          <p:spPr bwMode="auto">
            <a:xfrm flipH="1">
              <a:off x="4371536" y="2563814"/>
              <a:ext cx="173699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2" name="Line 21"/>
            <p:cNvSpPr>
              <a:spLocks noChangeShapeType="1"/>
            </p:cNvSpPr>
            <p:nvPr/>
          </p:nvSpPr>
          <p:spPr bwMode="auto">
            <a:xfrm flipH="1">
              <a:off x="1915674" y="4010026"/>
              <a:ext cx="1693994" cy="881063"/>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3" name="Line 22"/>
            <p:cNvSpPr>
              <a:spLocks noChangeShapeType="1"/>
            </p:cNvSpPr>
            <p:nvPr/>
          </p:nvSpPr>
          <p:spPr bwMode="auto">
            <a:xfrm flipH="1">
              <a:off x="1554517" y="5141914"/>
              <a:ext cx="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4" name="Line 23"/>
            <p:cNvSpPr>
              <a:spLocks noChangeShapeType="1"/>
            </p:cNvSpPr>
            <p:nvPr/>
          </p:nvSpPr>
          <p:spPr bwMode="auto">
            <a:xfrm>
              <a:off x="2166763" y="6462713"/>
              <a:ext cx="1277805"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5" name="Line 24"/>
            <p:cNvSpPr>
              <a:spLocks noChangeShapeType="1"/>
            </p:cNvSpPr>
            <p:nvPr/>
          </p:nvSpPr>
          <p:spPr bwMode="auto">
            <a:xfrm>
              <a:off x="3857318" y="498475"/>
              <a:ext cx="6879" cy="7366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6" name="Line 25"/>
            <p:cNvSpPr>
              <a:spLocks noChangeShapeType="1"/>
            </p:cNvSpPr>
            <p:nvPr/>
          </p:nvSpPr>
          <p:spPr bwMode="auto">
            <a:xfrm flipH="1">
              <a:off x="1363619" y="1263992"/>
              <a:ext cx="2246048" cy="1006475"/>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7" name="Line 26"/>
            <p:cNvSpPr>
              <a:spLocks noChangeShapeType="1"/>
            </p:cNvSpPr>
            <p:nvPr/>
          </p:nvSpPr>
          <p:spPr bwMode="auto">
            <a:xfrm>
              <a:off x="1829684" y="2563814"/>
              <a:ext cx="1864254" cy="1195387"/>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8" name="Line 27"/>
            <p:cNvSpPr>
              <a:spLocks noChangeShapeType="1"/>
            </p:cNvSpPr>
            <p:nvPr/>
          </p:nvSpPr>
          <p:spPr bwMode="auto">
            <a:xfrm>
              <a:off x="6658859" y="4010025"/>
              <a:ext cx="0" cy="12573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9" name="Freeform 28"/>
            <p:cNvSpPr>
              <a:spLocks/>
            </p:cNvSpPr>
            <p:nvPr/>
          </p:nvSpPr>
          <p:spPr bwMode="auto">
            <a:xfrm>
              <a:off x="7133521" y="5386388"/>
              <a:ext cx="1203854" cy="6350"/>
            </a:xfrm>
            <a:custGeom>
              <a:avLst/>
              <a:gdLst>
                <a:gd name="T0" fmla="*/ 0 w 682"/>
                <a:gd name="T1" fmla="*/ 5 h 5"/>
                <a:gd name="T2" fmla="*/ 682 w 682"/>
                <a:gd name="T3" fmla="*/ 0 h 5"/>
              </a:gdLst>
              <a:ahLst/>
              <a:cxnLst>
                <a:cxn ang="0">
                  <a:pos x="T0" y="T1"/>
                </a:cxn>
                <a:cxn ang="0">
                  <a:pos x="T2" y="T3"/>
                </a:cxn>
              </a:cxnLst>
              <a:rect l="0" t="0" r="r" b="b"/>
              <a:pathLst>
                <a:path w="682" h="5">
                  <a:moveTo>
                    <a:pt x="0" y="5"/>
                  </a:moveTo>
                  <a:lnTo>
                    <a:pt x="682" y="0"/>
                  </a:lnTo>
                </a:path>
              </a:pathLst>
            </a:custGeom>
            <a:noFill/>
            <a:ln w="38100" cmpd="sng">
              <a:solidFill>
                <a:srgbClr val="CC00CC"/>
              </a:solidFill>
              <a:prstDash val="sysDot"/>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0" name="Line 29"/>
            <p:cNvSpPr>
              <a:spLocks noChangeShapeType="1"/>
            </p:cNvSpPr>
            <p:nvPr/>
          </p:nvSpPr>
          <p:spPr bwMode="auto">
            <a:xfrm>
              <a:off x="1554517" y="2563814"/>
              <a:ext cx="0" cy="232727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1" name="Line 30"/>
            <p:cNvSpPr>
              <a:spLocks noChangeShapeType="1"/>
            </p:cNvSpPr>
            <p:nvPr/>
          </p:nvSpPr>
          <p:spPr bwMode="auto">
            <a:xfrm>
              <a:off x="4032737" y="5141914"/>
              <a:ext cx="0"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2" name="Line 31"/>
            <p:cNvSpPr>
              <a:spLocks noChangeShapeType="1"/>
            </p:cNvSpPr>
            <p:nvPr/>
          </p:nvSpPr>
          <p:spPr bwMode="auto">
            <a:xfrm rot="-5400000">
              <a:off x="2864205" y="4319192"/>
              <a:ext cx="1587" cy="139303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3" name="Line 33"/>
            <p:cNvSpPr>
              <a:spLocks noChangeShapeType="1"/>
            </p:cNvSpPr>
            <p:nvPr/>
          </p:nvSpPr>
          <p:spPr bwMode="auto">
            <a:xfrm rot="5400000" flipH="1">
              <a:off x="4070572" y="529300"/>
              <a:ext cx="0" cy="382137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4" name="Line 34"/>
            <p:cNvSpPr>
              <a:spLocks noChangeShapeType="1"/>
            </p:cNvSpPr>
            <p:nvPr/>
          </p:nvSpPr>
          <p:spPr bwMode="auto">
            <a:xfrm rot="-5400000">
              <a:off x="2184357" y="882915"/>
              <a:ext cx="876300" cy="197432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5" name="Line 35"/>
            <p:cNvSpPr>
              <a:spLocks noChangeShapeType="1"/>
            </p:cNvSpPr>
            <p:nvPr/>
          </p:nvSpPr>
          <p:spPr bwMode="auto">
            <a:xfrm>
              <a:off x="1915674" y="5141914"/>
              <a:ext cx="1693994"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6" name="Freeform 36"/>
            <p:cNvSpPr>
              <a:spLocks/>
            </p:cNvSpPr>
            <p:nvPr/>
          </p:nvSpPr>
          <p:spPr bwMode="auto">
            <a:xfrm>
              <a:off x="4455805" y="1368425"/>
              <a:ext cx="1666479" cy="933450"/>
            </a:xfrm>
            <a:custGeom>
              <a:avLst/>
              <a:gdLst>
                <a:gd name="T0" fmla="*/ 0 w 944"/>
                <a:gd name="T1" fmla="*/ 0 h 712"/>
                <a:gd name="T2" fmla="*/ 944 w 944"/>
                <a:gd name="T3" fmla="*/ 712 h 712"/>
              </a:gdLst>
              <a:ahLst/>
              <a:cxnLst>
                <a:cxn ang="0">
                  <a:pos x="T0" y="T1"/>
                </a:cxn>
                <a:cxn ang="0">
                  <a:pos x="T2" y="T3"/>
                </a:cxn>
              </a:cxnLst>
              <a:rect l="0" t="0" r="r" b="b"/>
              <a:pathLst>
                <a:path w="944" h="712">
                  <a:moveTo>
                    <a:pt x="0" y="0"/>
                  </a:moveTo>
                  <a:lnTo>
                    <a:pt x="944" y="712"/>
                  </a:lnTo>
                </a:path>
              </a:pathLst>
            </a:custGeom>
            <a:noFill/>
            <a:ln w="19050">
              <a:solidFill>
                <a:srgbClr val="FF00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7" name="Text Box 37"/>
            <p:cNvSpPr txBox="1">
              <a:spLocks noChangeArrowheads="1"/>
            </p:cNvSpPr>
            <p:nvPr/>
          </p:nvSpPr>
          <p:spPr bwMode="auto">
            <a:xfrm>
              <a:off x="6043645" y="250113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主动打开</a:t>
              </a:r>
            </a:p>
          </p:txBody>
        </p:sp>
        <p:sp>
          <p:nvSpPr>
            <p:cNvPr id="38" name="Text Box 38"/>
            <p:cNvSpPr txBox="1">
              <a:spLocks noChangeArrowheads="1"/>
            </p:cNvSpPr>
            <p:nvPr/>
          </p:nvSpPr>
          <p:spPr bwMode="auto">
            <a:xfrm>
              <a:off x="3496940" y="1495425"/>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39" name="Text Box 39"/>
            <p:cNvSpPr txBox="1">
              <a:spLocks noChangeArrowheads="1"/>
            </p:cNvSpPr>
            <p:nvPr/>
          </p:nvSpPr>
          <p:spPr bwMode="auto">
            <a:xfrm>
              <a:off x="5981262" y="3302601"/>
              <a:ext cx="1127551" cy="408252"/>
            </a:xfrm>
            <a:prstGeom prst="rect">
              <a:avLst/>
            </a:prstGeom>
            <a:solidFill>
              <a:srgbClr val="FFFF99"/>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被动关闭</a:t>
              </a:r>
            </a:p>
          </p:txBody>
        </p:sp>
        <p:sp>
          <p:nvSpPr>
            <p:cNvPr id="40" name="Text Box 40"/>
            <p:cNvSpPr txBox="1">
              <a:spLocks noChangeArrowheads="1"/>
            </p:cNvSpPr>
            <p:nvPr/>
          </p:nvSpPr>
          <p:spPr bwMode="auto">
            <a:xfrm>
              <a:off x="3676130" y="4119257"/>
              <a:ext cx="1127551" cy="408252"/>
            </a:xfrm>
            <a:prstGeom prst="rect">
              <a:avLst/>
            </a:prstGeom>
            <a:solidFill>
              <a:srgbClr val="FFFF00"/>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主动关闭</a:t>
              </a:r>
            </a:p>
          </p:txBody>
        </p:sp>
        <p:sp>
          <p:nvSpPr>
            <p:cNvPr id="41" name="Text Box 41"/>
            <p:cNvSpPr txBox="1">
              <a:spLocks noChangeArrowheads="1"/>
            </p:cNvSpPr>
            <p:nvPr/>
          </p:nvSpPr>
          <p:spPr bwMode="auto">
            <a:xfrm>
              <a:off x="3682846" y="-112036"/>
              <a:ext cx="738739"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起点</a:t>
              </a:r>
            </a:p>
          </p:txBody>
        </p:sp>
        <p:sp>
          <p:nvSpPr>
            <p:cNvPr id="42" name="Text Box 42"/>
            <p:cNvSpPr txBox="1">
              <a:spLocks noChangeArrowheads="1"/>
            </p:cNvSpPr>
            <p:nvPr/>
          </p:nvSpPr>
          <p:spPr bwMode="auto">
            <a:xfrm>
              <a:off x="2792381" y="48817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43" name="Text Box 43"/>
            <p:cNvSpPr txBox="1">
              <a:spLocks noChangeArrowheads="1"/>
            </p:cNvSpPr>
            <p:nvPr/>
          </p:nvSpPr>
          <p:spPr bwMode="auto">
            <a:xfrm>
              <a:off x="5043973" y="717550"/>
              <a:ext cx="132195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主动打开</a:t>
              </a:r>
            </a:p>
            <a:p>
              <a:r>
                <a:rPr kumimoji="1" lang="zh-CN" altLang="en-US" sz="800" b="1">
                  <a:latin typeface="微软雅黑" pitchFamily="34" charset="-122"/>
                  <a:ea typeface="微软雅黑" pitchFamily="34" charset="-122"/>
                </a:rPr>
                <a:t>  发送 </a:t>
              </a:r>
              <a:r>
                <a:rPr kumimoji="1" lang="en-US" altLang="zh-CN" sz="800" b="1">
                  <a:latin typeface="微软雅黑" pitchFamily="34" charset="-122"/>
                  <a:ea typeface="微软雅黑" pitchFamily="34" charset="-122"/>
                </a:rPr>
                <a:t>SYN</a:t>
              </a:r>
            </a:p>
          </p:txBody>
        </p:sp>
        <p:sp>
          <p:nvSpPr>
            <p:cNvPr id="44" name="Text Box 44"/>
            <p:cNvSpPr txBox="1">
              <a:spLocks noChangeArrowheads="1"/>
            </p:cNvSpPr>
            <p:nvPr/>
          </p:nvSpPr>
          <p:spPr bwMode="auto">
            <a:xfrm>
              <a:off x="3609668" y="2438399"/>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同时打开</a:t>
              </a:r>
            </a:p>
          </p:txBody>
        </p:sp>
        <p:sp>
          <p:nvSpPr>
            <p:cNvPr id="45" name="Text Box 45"/>
            <p:cNvSpPr txBox="1">
              <a:spLocks noChangeArrowheads="1"/>
            </p:cNvSpPr>
            <p:nvPr/>
          </p:nvSpPr>
          <p:spPr bwMode="auto">
            <a:xfrm>
              <a:off x="2793238" y="2104599"/>
              <a:ext cx="2919724"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a:t>
              </a:r>
              <a:r>
                <a:rPr kumimoji="1" lang="en-US" altLang="zh-CN" sz="800" b="1" dirty="0">
                  <a:latin typeface="微软雅黑" pitchFamily="34" charset="-122"/>
                  <a:ea typeface="微软雅黑" pitchFamily="34" charset="-122"/>
                </a:rPr>
                <a:t> ACK</a:t>
              </a:r>
            </a:p>
          </p:txBody>
        </p:sp>
        <p:sp>
          <p:nvSpPr>
            <p:cNvPr id="46" name="Text Box 46"/>
            <p:cNvSpPr txBox="1">
              <a:spLocks noChangeArrowheads="1"/>
            </p:cNvSpPr>
            <p:nvPr/>
          </p:nvSpPr>
          <p:spPr bwMode="auto">
            <a:xfrm>
              <a:off x="2413469" y="267017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47" name="Text Box 47"/>
            <p:cNvSpPr txBox="1">
              <a:spLocks noChangeArrowheads="1"/>
            </p:cNvSpPr>
            <p:nvPr/>
          </p:nvSpPr>
          <p:spPr bwMode="auto">
            <a:xfrm>
              <a:off x="3376289" y="2997959"/>
              <a:ext cx="1321956" cy="758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solidFill>
                    <a:srgbClr val="CC00CC"/>
                  </a:solidFill>
                  <a:latin typeface="微软雅黑" pitchFamily="34" charset="-122"/>
                  <a:ea typeface="微软雅黑" pitchFamily="34" charset="-122"/>
                </a:rPr>
                <a:t>数据传送</a:t>
              </a:r>
            </a:p>
            <a:p>
              <a:pPr algn="ctr"/>
              <a:r>
                <a:rPr kumimoji="1" lang="zh-CN" altLang="en-US" sz="1000" b="1" dirty="0">
                  <a:solidFill>
                    <a:srgbClr val="CC00CC"/>
                  </a:solidFill>
                  <a:latin typeface="微软雅黑" pitchFamily="34" charset="-122"/>
                  <a:ea typeface="微软雅黑" pitchFamily="34" charset="-122"/>
                </a:rPr>
                <a:t>阶段</a:t>
              </a:r>
            </a:p>
          </p:txBody>
        </p:sp>
        <p:sp>
          <p:nvSpPr>
            <p:cNvPr id="48" name="Text Box 48"/>
            <p:cNvSpPr txBox="1">
              <a:spLocks noChangeArrowheads="1"/>
            </p:cNvSpPr>
            <p:nvPr/>
          </p:nvSpPr>
          <p:spPr bwMode="auto">
            <a:xfrm>
              <a:off x="5628242" y="4314826"/>
              <a:ext cx="1133627"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49" name="Text Box 49"/>
            <p:cNvSpPr txBox="1">
              <a:spLocks noChangeArrowheads="1"/>
            </p:cNvSpPr>
            <p:nvPr/>
          </p:nvSpPr>
          <p:spPr bwMode="auto">
            <a:xfrm>
              <a:off x="1963828" y="3816889"/>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0" name="Text Box 50"/>
            <p:cNvSpPr txBox="1">
              <a:spLocks noChangeArrowheads="1"/>
            </p:cNvSpPr>
            <p:nvPr/>
          </p:nvSpPr>
          <p:spPr bwMode="auto">
            <a:xfrm>
              <a:off x="1442579" y="3205761"/>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1" name="Text Box 51"/>
            <p:cNvSpPr txBox="1">
              <a:spLocks noChangeArrowheads="1"/>
            </p:cNvSpPr>
            <p:nvPr/>
          </p:nvSpPr>
          <p:spPr bwMode="auto">
            <a:xfrm>
              <a:off x="2591551" y="1787526"/>
              <a:ext cx="1173115"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收到 </a:t>
              </a:r>
              <a:r>
                <a:rPr kumimoji="1" lang="en-US" altLang="zh-CN" sz="800" b="1">
                  <a:latin typeface="微软雅黑" pitchFamily="34" charset="-122"/>
                  <a:ea typeface="微软雅黑" pitchFamily="34" charset="-122"/>
                </a:rPr>
                <a:t>RST</a:t>
              </a:r>
            </a:p>
          </p:txBody>
        </p:sp>
        <p:sp>
          <p:nvSpPr>
            <p:cNvPr id="52" name="Text Box 52"/>
            <p:cNvSpPr txBox="1">
              <a:spLocks noChangeArrowheads="1"/>
            </p:cNvSpPr>
            <p:nvPr/>
          </p:nvSpPr>
          <p:spPr bwMode="auto">
            <a:xfrm>
              <a:off x="1272471" y="1051665"/>
              <a:ext cx="1728992"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 ACK</a:t>
              </a:r>
            </a:p>
          </p:txBody>
        </p:sp>
        <p:sp>
          <p:nvSpPr>
            <p:cNvPr id="53" name="Text Box 53"/>
            <p:cNvSpPr txBox="1">
              <a:spLocks noChangeArrowheads="1"/>
            </p:cNvSpPr>
            <p:nvPr/>
          </p:nvSpPr>
          <p:spPr bwMode="auto">
            <a:xfrm>
              <a:off x="7222951" y="1852331"/>
              <a:ext cx="93314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或超时</a:t>
              </a:r>
            </a:p>
          </p:txBody>
        </p:sp>
        <p:sp>
          <p:nvSpPr>
            <p:cNvPr id="54" name="Text Box 54"/>
            <p:cNvSpPr txBox="1">
              <a:spLocks noChangeArrowheads="1"/>
            </p:cNvSpPr>
            <p:nvPr/>
          </p:nvSpPr>
          <p:spPr bwMode="auto">
            <a:xfrm>
              <a:off x="7195592" y="4928280"/>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5" name="Text Box 55"/>
            <p:cNvSpPr txBox="1">
              <a:spLocks noChangeArrowheads="1"/>
            </p:cNvSpPr>
            <p:nvPr/>
          </p:nvSpPr>
          <p:spPr bwMode="auto">
            <a:xfrm>
              <a:off x="5259895" y="2771976"/>
              <a:ext cx="2017563"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 ACK</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6" name="Text Box 56"/>
            <p:cNvSpPr txBox="1">
              <a:spLocks noChangeArrowheads="1"/>
            </p:cNvSpPr>
            <p:nvPr/>
          </p:nvSpPr>
          <p:spPr bwMode="auto">
            <a:xfrm>
              <a:off x="3915017" y="5390442"/>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7" name="Text Box 57"/>
            <p:cNvSpPr txBox="1">
              <a:spLocks noChangeArrowheads="1"/>
            </p:cNvSpPr>
            <p:nvPr/>
          </p:nvSpPr>
          <p:spPr bwMode="auto">
            <a:xfrm>
              <a:off x="1429605" y="548631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8" name="Text Box 58"/>
            <p:cNvSpPr txBox="1">
              <a:spLocks noChangeArrowheads="1"/>
            </p:cNvSpPr>
            <p:nvPr/>
          </p:nvSpPr>
          <p:spPr bwMode="auto">
            <a:xfrm>
              <a:off x="2051233" y="5875535"/>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9" name="Text Box 59"/>
            <p:cNvSpPr txBox="1">
              <a:spLocks noChangeArrowheads="1"/>
            </p:cNvSpPr>
            <p:nvPr/>
          </p:nvSpPr>
          <p:spPr bwMode="auto">
            <a:xfrm>
              <a:off x="2440674" y="5310190"/>
              <a:ext cx="1656089"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 ACK</a:t>
              </a:r>
            </a:p>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0" name="Text Box 60"/>
            <p:cNvSpPr txBox="1">
              <a:spLocks noChangeArrowheads="1"/>
            </p:cNvSpPr>
            <p:nvPr/>
          </p:nvSpPr>
          <p:spPr bwMode="auto">
            <a:xfrm>
              <a:off x="2410662" y="4443330"/>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1" name="Text Box 61"/>
            <p:cNvSpPr txBox="1">
              <a:spLocks noChangeArrowheads="1"/>
            </p:cNvSpPr>
            <p:nvPr/>
          </p:nvSpPr>
          <p:spPr bwMode="auto">
            <a:xfrm>
              <a:off x="3480846" y="4545696"/>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同时关闭</a:t>
              </a:r>
            </a:p>
          </p:txBody>
        </p:sp>
        <p:sp>
          <p:nvSpPr>
            <p:cNvPr id="62" name="Text Box 62"/>
            <p:cNvSpPr txBox="1">
              <a:spLocks noChangeArrowheads="1"/>
            </p:cNvSpPr>
            <p:nvPr/>
          </p:nvSpPr>
          <p:spPr bwMode="auto">
            <a:xfrm>
              <a:off x="4667812" y="3251257"/>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3" name="Text Box 63"/>
            <p:cNvSpPr txBox="1">
              <a:spLocks noChangeArrowheads="1"/>
            </p:cNvSpPr>
            <p:nvPr/>
          </p:nvSpPr>
          <p:spPr bwMode="auto">
            <a:xfrm>
              <a:off x="4287266" y="1808163"/>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发送 </a:t>
              </a:r>
              <a:r>
                <a:rPr kumimoji="1" lang="en-US" altLang="zh-CN" sz="800" b="1">
                  <a:latin typeface="微软雅黑" pitchFamily="34" charset="-122"/>
                  <a:ea typeface="微软雅黑" pitchFamily="34" charset="-122"/>
                </a:rPr>
                <a:t>SYN</a:t>
              </a:r>
            </a:p>
          </p:txBody>
        </p:sp>
        <p:sp>
          <p:nvSpPr>
            <p:cNvPr id="64" name="Text Box 64"/>
            <p:cNvSpPr txBox="1">
              <a:spLocks noChangeArrowheads="1"/>
            </p:cNvSpPr>
            <p:nvPr/>
          </p:nvSpPr>
          <p:spPr bwMode="auto">
            <a:xfrm>
              <a:off x="3085116" y="6572876"/>
              <a:ext cx="1981112"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等待 </a:t>
              </a:r>
              <a:r>
                <a:rPr kumimoji="1" lang="en-US" altLang="zh-CN" sz="800" b="1" dirty="0">
                  <a:latin typeface="微软雅黑" pitchFamily="34" charset="-122"/>
                  <a:ea typeface="微软雅黑" pitchFamily="34" charset="-122"/>
                </a:rPr>
                <a:t>2MSL </a:t>
              </a:r>
              <a:r>
                <a:rPr kumimoji="1" lang="zh-CN" altLang="en-US" sz="800" b="1" dirty="0">
                  <a:latin typeface="微软雅黑" pitchFamily="34" charset="-122"/>
                  <a:ea typeface="微软雅黑" pitchFamily="34" charset="-122"/>
                </a:rPr>
                <a:t>时间后</a:t>
              </a:r>
            </a:p>
          </p:txBody>
        </p:sp>
        <p:sp>
          <p:nvSpPr>
            <p:cNvPr id="65" name="Line 65"/>
            <p:cNvSpPr>
              <a:spLocks noChangeShapeType="1"/>
            </p:cNvSpPr>
            <p:nvPr/>
          </p:nvSpPr>
          <p:spPr bwMode="auto">
            <a:xfrm flipV="1">
              <a:off x="4117007" y="488951"/>
              <a:ext cx="0" cy="75882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6" name="Text Box 66"/>
            <p:cNvSpPr txBox="1">
              <a:spLocks noChangeArrowheads="1"/>
            </p:cNvSpPr>
            <p:nvPr/>
          </p:nvSpPr>
          <p:spPr bwMode="auto">
            <a:xfrm>
              <a:off x="4103249" y="846138"/>
              <a:ext cx="738740"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关闭</a:t>
              </a:r>
            </a:p>
          </p:txBody>
        </p:sp>
        <p:sp>
          <p:nvSpPr>
            <p:cNvPr id="67" name="Freeform 67"/>
            <p:cNvSpPr>
              <a:spLocks/>
            </p:cNvSpPr>
            <p:nvPr/>
          </p:nvSpPr>
          <p:spPr bwMode="auto">
            <a:xfrm>
              <a:off x="4455804" y="363537"/>
              <a:ext cx="4311579" cy="6094413"/>
            </a:xfrm>
            <a:custGeom>
              <a:avLst/>
              <a:gdLst>
                <a:gd name="T0" fmla="*/ 103 w 2196"/>
                <a:gd name="T1" fmla="*/ 4653 h 4653"/>
                <a:gd name="T2" fmla="*/ 1518 w 2196"/>
                <a:gd name="T3" fmla="*/ 4650 h 4653"/>
                <a:gd name="T4" fmla="*/ 1926 w 2196"/>
                <a:gd name="T5" fmla="*/ 4650 h 4653"/>
                <a:gd name="T6" fmla="*/ 2004 w 2196"/>
                <a:gd name="T7" fmla="*/ 4620 h 4653"/>
                <a:gd name="T8" fmla="*/ 2082 w 2196"/>
                <a:gd name="T9" fmla="*/ 4584 h 4653"/>
                <a:gd name="T10" fmla="*/ 2148 w 2196"/>
                <a:gd name="T11" fmla="*/ 4500 h 4653"/>
                <a:gd name="T12" fmla="*/ 2190 w 2196"/>
                <a:gd name="T13" fmla="*/ 4386 h 4653"/>
                <a:gd name="T14" fmla="*/ 2195 w 2196"/>
                <a:gd name="T15" fmla="*/ 4300 h 4653"/>
                <a:gd name="T16" fmla="*/ 2196 w 2196"/>
                <a:gd name="T17" fmla="*/ 336 h 4653"/>
                <a:gd name="T18" fmla="*/ 2184 w 2196"/>
                <a:gd name="T19" fmla="*/ 210 h 4653"/>
                <a:gd name="T20" fmla="*/ 2154 w 2196"/>
                <a:gd name="T21" fmla="*/ 126 h 4653"/>
                <a:gd name="T22" fmla="*/ 2070 w 2196"/>
                <a:gd name="T23" fmla="*/ 54 h 4653"/>
                <a:gd name="T24" fmla="*/ 1950 w 2196"/>
                <a:gd name="T25" fmla="*/ 6 h 4653"/>
                <a:gd name="T26" fmla="*/ 1806 w 2196"/>
                <a:gd name="T27" fmla="*/ 0 h 4653"/>
                <a:gd name="T28" fmla="*/ 256 w 2196"/>
                <a:gd name="T29" fmla="*/ 0 h 4653"/>
                <a:gd name="T30" fmla="*/ 0 w 2196"/>
                <a:gd name="T31" fmla="*/ 0 h 46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96" h="4653">
                  <a:moveTo>
                    <a:pt x="103" y="4653"/>
                  </a:moveTo>
                  <a:lnTo>
                    <a:pt x="1518" y="4650"/>
                  </a:lnTo>
                  <a:lnTo>
                    <a:pt x="1926" y="4650"/>
                  </a:lnTo>
                  <a:lnTo>
                    <a:pt x="2004" y="4620"/>
                  </a:lnTo>
                  <a:lnTo>
                    <a:pt x="2082" y="4584"/>
                  </a:lnTo>
                  <a:lnTo>
                    <a:pt x="2148" y="4500"/>
                  </a:lnTo>
                  <a:lnTo>
                    <a:pt x="2190" y="4386"/>
                  </a:lnTo>
                  <a:lnTo>
                    <a:pt x="2195" y="4300"/>
                  </a:lnTo>
                  <a:lnTo>
                    <a:pt x="2196" y="336"/>
                  </a:lnTo>
                  <a:lnTo>
                    <a:pt x="2184" y="210"/>
                  </a:lnTo>
                  <a:lnTo>
                    <a:pt x="2154" y="126"/>
                  </a:lnTo>
                  <a:lnTo>
                    <a:pt x="2070" y="54"/>
                  </a:lnTo>
                  <a:lnTo>
                    <a:pt x="1950" y="6"/>
                  </a:lnTo>
                  <a:lnTo>
                    <a:pt x="1806" y="0"/>
                  </a:lnTo>
                  <a:lnTo>
                    <a:pt x="256" y="0"/>
                  </a:lnTo>
                  <a:lnTo>
                    <a:pt x="0" y="0"/>
                  </a:lnTo>
                </a:path>
              </a:pathLst>
            </a:custGeom>
            <a:noFill/>
            <a:ln w="28575" cmpd="sng">
              <a:solidFill>
                <a:srgbClr val="0000FF"/>
              </a:solidFill>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8" name="Line 31"/>
            <p:cNvSpPr>
              <a:spLocks noChangeShapeType="1"/>
            </p:cNvSpPr>
            <p:nvPr/>
          </p:nvSpPr>
          <p:spPr bwMode="auto">
            <a:xfrm rot="-5400000">
              <a:off x="7722729" y="1828911"/>
              <a:ext cx="0" cy="1218976"/>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grpSp>
      <p:grpSp>
        <p:nvGrpSpPr>
          <p:cNvPr id="82" name="组合 81"/>
          <p:cNvGrpSpPr/>
          <p:nvPr/>
        </p:nvGrpSpPr>
        <p:grpSpPr>
          <a:xfrm>
            <a:off x="772662" y="3327893"/>
            <a:ext cx="2770426" cy="883795"/>
            <a:chOff x="772662" y="3252477"/>
            <a:chExt cx="2770426" cy="883795"/>
          </a:xfrm>
        </p:grpSpPr>
        <p:sp>
          <p:nvSpPr>
            <p:cNvPr id="4" name="矩形 3"/>
            <p:cNvSpPr/>
            <p:nvPr/>
          </p:nvSpPr>
          <p:spPr>
            <a:xfrm>
              <a:off x="1203986" y="3545981"/>
              <a:ext cx="2339102"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对服务器进程的正常变迁。</a:t>
              </a:r>
            </a:p>
          </p:txBody>
        </p:sp>
        <p:grpSp>
          <p:nvGrpSpPr>
            <p:cNvPr id="81" name="组合 80"/>
            <p:cNvGrpSpPr/>
            <p:nvPr/>
          </p:nvGrpSpPr>
          <p:grpSpPr>
            <a:xfrm>
              <a:off x="772662" y="3252477"/>
              <a:ext cx="2543755" cy="883795"/>
              <a:chOff x="819797" y="3252477"/>
              <a:chExt cx="2543755" cy="883795"/>
            </a:xfrm>
          </p:grpSpPr>
          <p:sp>
            <p:nvSpPr>
              <p:cNvPr id="76" name="Line 22"/>
              <p:cNvSpPr>
                <a:spLocks noChangeShapeType="1"/>
              </p:cNvSpPr>
              <p:nvPr/>
            </p:nvSpPr>
            <p:spPr bwMode="auto">
              <a:xfrm>
                <a:off x="819797" y="3415760"/>
                <a:ext cx="43734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8" name="Line 22"/>
              <p:cNvSpPr>
                <a:spLocks noChangeShapeType="1"/>
              </p:cNvSpPr>
              <p:nvPr/>
            </p:nvSpPr>
            <p:spPr bwMode="auto">
              <a:xfrm>
                <a:off x="819797" y="3701084"/>
                <a:ext cx="437344" cy="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9" name="Line 22"/>
              <p:cNvSpPr>
                <a:spLocks noChangeShapeType="1"/>
              </p:cNvSpPr>
              <p:nvPr/>
            </p:nvSpPr>
            <p:spPr bwMode="auto">
              <a:xfrm>
                <a:off x="819797" y="3961322"/>
                <a:ext cx="437344" cy="0"/>
              </a:xfrm>
              <a:prstGeom prst="line">
                <a:avLst/>
              </a:prstGeom>
              <a:noFill/>
              <a:ln w="19050">
                <a:solidFill>
                  <a:srgbClr val="FF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 name="矩形 2"/>
              <p:cNvSpPr/>
              <p:nvPr/>
            </p:nvSpPr>
            <p:spPr>
              <a:xfrm>
                <a:off x="1203986" y="3252477"/>
                <a:ext cx="2159566"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对客户进程的正常变迁。</a:t>
                </a:r>
              </a:p>
            </p:txBody>
          </p:sp>
          <p:sp>
            <p:nvSpPr>
              <p:cNvPr id="80" name="矩形 79"/>
              <p:cNvSpPr/>
              <p:nvPr/>
            </p:nvSpPr>
            <p:spPr>
              <a:xfrm>
                <a:off x="1203986" y="3828495"/>
                <a:ext cx="1135247"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异常变迁。 </a:t>
                </a:r>
              </a:p>
            </p:txBody>
          </p:sp>
        </p:grpSp>
      </p:grpSp>
      <p:sp>
        <p:nvSpPr>
          <p:cNvPr id="73" name="标题 72">
            <a:extLst>
              <a:ext uri="{FF2B5EF4-FFF2-40B4-BE49-F238E27FC236}">
                <a16:creationId xmlns:a16="http://schemas.microsoft.com/office/drawing/2014/main" id="{EAAD8B8B-BC0C-B76E-DE46-0358639803BA}"/>
              </a:ext>
            </a:extLst>
          </p:cNvPr>
          <p:cNvSpPr>
            <a:spLocks noGrp="1"/>
          </p:cNvSpPr>
          <p:nvPr>
            <p:ph type="title"/>
          </p:nvPr>
        </p:nvSpPr>
        <p:spPr>
          <a:xfrm>
            <a:off x="486000" y="550723"/>
            <a:ext cx="8172000" cy="338554"/>
          </a:xfrm>
        </p:spPr>
        <p:txBody>
          <a:bodyPr/>
          <a:lstStyle/>
          <a:p>
            <a:r>
              <a:rPr lang="en-US" altLang="zh-CN" dirty="0"/>
              <a:t>5.9.3  TCP </a:t>
            </a:r>
            <a:r>
              <a:rPr lang="zh-CN" altLang="en-US" dirty="0"/>
              <a:t>的有限状态机</a:t>
            </a:r>
          </a:p>
        </p:txBody>
      </p:sp>
    </p:spTree>
    <p:extLst>
      <p:ext uri="{BB962C8B-B14F-4D97-AF65-F5344CB8AC3E}">
        <p14:creationId xmlns:p14="http://schemas.microsoft.com/office/powerpoint/2010/main" val="161327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7881</TotalTime>
  <Words>17656</Words>
  <Application>Microsoft Office PowerPoint</Application>
  <PresentationFormat>全屏显示(16:9)</PresentationFormat>
  <Paragraphs>4139</Paragraphs>
  <Slides>209</Slides>
  <Notes>21</Notes>
  <HiddenSlides>3</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2</vt:i4>
      </vt:variant>
      <vt:variant>
        <vt:lpstr>幻灯片标题</vt:lpstr>
      </vt:variant>
      <vt:variant>
        <vt:i4>209</vt:i4>
      </vt:variant>
    </vt:vector>
  </HeadingPairs>
  <TitlesOfParts>
    <vt:vector size="222" baseType="lpstr">
      <vt:lpstr>Arial</vt:lpstr>
      <vt:lpstr>Symbol</vt:lpstr>
      <vt:lpstr>Cambria Math</vt:lpstr>
      <vt:lpstr>Montserrat</vt:lpstr>
      <vt:lpstr>Courier New</vt:lpstr>
      <vt:lpstr>微软雅黑 Light</vt:lpstr>
      <vt:lpstr>微软雅黑</vt:lpstr>
      <vt:lpstr>Calibri</vt:lpstr>
      <vt:lpstr>Wingdings</vt:lpstr>
      <vt:lpstr>宋体</vt:lpstr>
      <vt:lpstr>network</vt:lpstr>
      <vt:lpstr>Visio</vt:lpstr>
      <vt:lpstr>公式</vt:lpstr>
      <vt:lpstr>PowerPoint 演示文稿</vt:lpstr>
      <vt:lpstr>计算机网络体系结构</vt:lpstr>
      <vt:lpstr>PowerPoint 演示文稿</vt:lpstr>
      <vt:lpstr>PowerPoint 演示文稿</vt:lpstr>
      <vt:lpstr>5.1.1   进程之间的通信</vt:lpstr>
      <vt:lpstr>运输层的作用</vt:lpstr>
      <vt:lpstr>屏蔽作用</vt:lpstr>
      <vt:lpstr>可靠信道与不可靠信道</vt:lpstr>
      <vt:lpstr>5.1.2   运输层的两个主要协议</vt:lpstr>
      <vt:lpstr>运输协议数据单元 </vt:lpstr>
      <vt:lpstr>UDP 与 TCP 的区别</vt:lpstr>
      <vt:lpstr>使用 UDP 和 TCP 的典型应用和应用层协议</vt:lpstr>
      <vt:lpstr>5.1.3   运输层的端口</vt:lpstr>
      <vt:lpstr>需要考虑的问题 </vt:lpstr>
      <vt:lpstr>端口号 (protocol port number)</vt:lpstr>
      <vt:lpstr>软件端口与硬件端口</vt:lpstr>
      <vt:lpstr>TCP/IP 运输层端口的标志</vt:lpstr>
      <vt:lpstr>两大类、三种类型的端口</vt:lpstr>
      <vt:lpstr>常用的熟知端口</vt:lpstr>
      <vt:lpstr>PowerPoint 演示文稿</vt:lpstr>
      <vt:lpstr>PowerPoint 演示文稿</vt:lpstr>
      <vt:lpstr>5.2.1  UDP 概述</vt:lpstr>
      <vt:lpstr>UDP 的主要特点</vt:lpstr>
      <vt:lpstr>UDP 是面向报文的</vt:lpstr>
      <vt:lpstr>PowerPoint 演示文稿</vt:lpstr>
      <vt:lpstr>UDP 是面向报文的</vt:lpstr>
      <vt:lpstr>UDP 通信和端口号的关系</vt:lpstr>
      <vt:lpstr>多对一</vt:lpstr>
      <vt:lpstr>UDP 通信和端口号的关系</vt:lpstr>
      <vt:lpstr>一对多</vt:lpstr>
      <vt:lpstr>5.2.2  UDP 的首部格式</vt:lpstr>
      <vt:lpstr>5.2.2  UDP 的首部格式</vt:lpstr>
      <vt:lpstr>UDP 基于端口的分用</vt:lpstr>
      <vt:lpstr>PowerPoint 演示文稿</vt:lpstr>
      <vt:lpstr>计算 UDP 检验和的例子</vt:lpstr>
      <vt:lpstr>PowerPoint 演示文稿</vt:lpstr>
      <vt:lpstr>5.3.1  TCP 最主要的特点</vt:lpstr>
      <vt:lpstr>5.3.1  TCP 最主要的特点</vt:lpstr>
      <vt:lpstr>5.3.1  TCP 最主要的特点</vt:lpstr>
      <vt:lpstr>5.3.1  TCP 最主要的特点</vt:lpstr>
      <vt:lpstr>5.3.1  TCP 最主要的特点</vt:lpstr>
      <vt:lpstr>5.3.2  TCP 的连接</vt:lpstr>
      <vt:lpstr>套接字 (socket)</vt:lpstr>
      <vt:lpstr>TCP 连接，IP 地址，套接字</vt:lpstr>
      <vt:lpstr>Socket 有多种不同的意思</vt:lpstr>
      <vt:lpstr>PowerPoint 演示文稿</vt:lpstr>
      <vt:lpstr>IP 网络提供的是不可靠的传输</vt:lpstr>
      <vt:lpstr>理想传输条件的特点</vt:lpstr>
      <vt:lpstr>5.4.1  停止等待协议</vt:lpstr>
      <vt:lpstr>1. 无差a错情况</vt:lpstr>
      <vt:lpstr>2. 出现差错</vt:lpstr>
      <vt:lpstr>2. 出现差错</vt:lpstr>
      <vt:lpstr>2. 出现差错</vt:lpstr>
      <vt:lpstr>3. 确认丢失和确认迟到</vt:lpstr>
      <vt:lpstr>3. 确认丢失和确认迟到</vt:lpstr>
      <vt:lpstr>确认丢失</vt:lpstr>
      <vt:lpstr>3. 确认丢失和确认迟到</vt:lpstr>
      <vt:lpstr>确认迟到</vt:lpstr>
      <vt:lpstr>4. 信道利用率</vt:lpstr>
      <vt:lpstr>停止等待协议要点</vt:lpstr>
      <vt:lpstr>提高传输效率：流水线传输</vt:lpstr>
      <vt:lpstr>5.4.2   连续 ARQ 协议</vt:lpstr>
      <vt:lpstr>发送窗口</vt:lpstr>
      <vt:lpstr>PowerPoint 演示文稿</vt:lpstr>
      <vt:lpstr>累积确认</vt:lpstr>
      <vt:lpstr>累积确认</vt:lpstr>
      <vt:lpstr>5.5  TCP 报文段的首部格式</vt:lpstr>
      <vt:lpstr>5.5  TCP 报文段的首部格式</vt:lpstr>
      <vt:lpstr>PowerPoint 演示文稿</vt:lpstr>
      <vt:lpstr>PowerPoint 演示文稿</vt:lpstr>
      <vt:lpstr>源端口和目的端口</vt:lpstr>
      <vt:lpstr>序号</vt:lpstr>
      <vt:lpstr>PowerPoint 演示文稿</vt:lpstr>
      <vt:lpstr>确认号</vt:lpstr>
      <vt:lpstr>数据偏移</vt:lpstr>
      <vt:lpstr>PowerPoint 演示文稿</vt:lpstr>
      <vt:lpstr>URG</vt:lpstr>
      <vt:lpstr>ACK</vt:lpstr>
      <vt:lpstr>PSH</vt:lpstr>
      <vt:lpstr>RST</vt:lpstr>
      <vt:lpstr>SYN</vt:lpstr>
      <vt:lpstr>FIN</vt:lpstr>
      <vt:lpstr>Window</vt:lpstr>
      <vt:lpstr>校验和</vt:lpstr>
      <vt:lpstr>PowerPoint 演示文稿</vt:lpstr>
      <vt:lpstr>紧急指针</vt:lpstr>
      <vt:lpstr>选项</vt:lpstr>
      <vt:lpstr>填充</vt:lpstr>
      <vt:lpstr>PowerPoint 演示文稿</vt:lpstr>
      <vt:lpstr>选项（2）：最大报文段长度 MSS</vt:lpstr>
      <vt:lpstr>选项（2）：最大报文段长度 MSS</vt:lpstr>
      <vt:lpstr>选项（3）：窗口扩大</vt:lpstr>
      <vt:lpstr>选项（3）：窗口扩大</vt:lpstr>
      <vt:lpstr>选项（8）：时间戳</vt:lpstr>
      <vt:lpstr>PowerPoint 演示文稿</vt:lpstr>
      <vt:lpstr>5.6.1   以字节为单位的滑动窗口</vt:lpstr>
      <vt:lpstr>发送窗口</vt:lpstr>
      <vt:lpstr>发送窗口</vt:lpstr>
      <vt:lpstr>发送窗口</vt:lpstr>
      <vt:lpstr>接收窗口</vt:lpstr>
      <vt:lpstr>窗口的滑动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需要强调三点</vt:lpstr>
      <vt:lpstr>5.6.2   超时重传时间的选择</vt:lpstr>
      <vt:lpstr>TCP 超时重传时间设置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SACK</vt:lpstr>
      <vt:lpstr>PowerPoint 演示文稿</vt:lpstr>
      <vt:lpstr>5.7.1   利用滑动窗口实现流量控制</vt:lpstr>
      <vt:lpstr>5.7.1   利用滑动窗口实现流量控制</vt:lpstr>
      <vt:lpstr>PowerPoint 演示文稿</vt:lpstr>
      <vt:lpstr>可能发生死锁</vt:lpstr>
      <vt:lpstr>持续计时器</vt:lpstr>
      <vt:lpstr>5.7.2   TCP 的传输效率</vt:lpstr>
      <vt:lpstr>糊涂窗口综合症</vt:lpstr>
      <vt:lpstr>发送方糊涂窗口综合症</vt:lpstr>
      <vt:lpstr>接收方糊涂窗口综合症</vt:lpstr>
      <vt:lpstr>接收方糊涂窗口综合症</vt:lpstr>
      <vt:lpstr>PowerPoint 演示文稿</vt:lpstr>
      <vt:lpstr>5.8.1   拥塞控制的一般原理</vt:lpstr>
      <vt:lpstr>拥塞产生的原因</vt:lpstr>
      <vt:lpstr>增加资源能解决拥塞吗？</vt:lpstr>
      <vt:lpstr>拥塞控制与流量控制的区别</vt:lpstr>
      <vt:lpstr>拥塞控制所起的作用</vt:lpstr>
      <vt:lpstr>拥塞控制的一般原理</vt:lpstr>
      <vt:lpstr>开环控制和闭环控制</vt:lpstr>
      <vt:lpstr>闭环控制措施</vt:lpstr>
      <vt:lpstr>闭环控制措施</vt:lpstr>
      <vt:lpstr>闭环控制措施</vt:lpstr>
      <vt:lpstr>闭环控制措施</vt:lpstr>
      <vt:lpstr>5.8.2  TCP 的拥塞控制方法</vt:lpstr>
      <vt:lpstr>控制拥塞窗口变化的原则</vt:lpstr>
      <vt:lpstr>发送方判断拥塞的方法：隐式反馈</vt:lpstr>
      <vt:lpstr>TCP 拥塞控制算法</vt:lpstr>
      <vt:lpstr>1. 慢开始 (Slow start)</vt:lpstr>
      <vt:lpstr>1. 慢开始 (Slow start)</vt:lpstr>
      <vt:lpstr>1. 慢开始 (Slow start)</vt:lpstr>
      <vt:lpstr>PowerPoint 演示文稿</vt:lpstr>
      <vt:lpstr>PowerPoint 演示文稿</vt:lpstr>
      <vt:lpstr>传输轮次（transmission round）</vt:lpstr>
      <vt:lpstr>慢开始门限 ssthresh</vt:lpstr>
      <vt:lpstr>2. 拥塞避免</vt:lpstr>
      <vt:lpstr>PowerPoint 演示文稿</vt:lpstr>
      <vt:lpstr>当网络出现拥塞时</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快重传 FR (Fast Retransmission) 算法</vt:lpstr>
      <vt:lpstr>快重传举例</vt:lpstr>
      <vt:lpstr>快恢复 FR (Fast Recovery)算法</vt:lpstr>
      <vt:lpstr>慢开始和拥塞避免算法的实现举例</vt:lpstr>
      <vt:lpstr>慢开始和拥塞避免算法的实现举例</vt:lpstr>
      <vt:lpstr>TCP 拥塞控制流程图</vt:lpstr>
      <vt:lpstr>发送窗口的上限值</vt:lpstr>
      <vt:lpstr>5.8.3   主动队列管理 AQM</vt:lpstr>
      <vt:lpstr>“先进先出”FIFO 处理规则</vt:lpstr>
      <vt:lpstr>先进先出（FIFO）处理规则与尾部丢弃策略</vt:lpstr>
      <vt:lpstr>先进先出（FIFO）处理规则与尾部丢弃策略</vt:lpstr>
      <vt:lpstr>严重问题：全局同步</vt:lpstr>
      <vt:lpstr>严重问题：全局同步</vt:lpstr>
      <vt:lpstr>主动队列管理 AQM</vt:lpstr>
      <vt:lpstr>随机早期检测 RED</vt:lpstr>
      <vt:lpstr>随机早期检测 RED</vt:lpstr>
      <vt:lpstr>随机早期检测 RED</vt:lpstr>
      <vt:lpstr>随机早期检测 RED</vt:lpstr>
      <vt:lpstr>PowerPoint 演示文稿</vt:lpstr>
      <vt:lpstr>运输连接的三个阶段</vt:lpstr>
      <vt:lpstr>TCP 连接建立过程中要解决的三个问题</vt:lpstr>
      <vt:lpstr>5.9.1  TCP 的连接建立</vt:lpstr>
      <vt:lpstr>PowerPoint 演示文稿</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PowerPoint 演示文稿</vt:lpstr>
      <vt:lpstr>5.9.2  TCP 的连接释放</vt:lpstr>
      <vt:lpstr>TCP 的连接释放-采用四报文握手</vt:lpstr>
      <vt:lpstr>TCP 的连接释放-采用四报文握手</vt:lpstr>
      <vt:lpstr>TCP 的连接释放-采用四报文握手</vt:lpstr>
      <vt:lpstr>TCP 的连接释放-采用四报文握手</vt:lpstr>
      <vt:lpstr>TCP 的连接释放-采用四报文握手</vt:lpstr>
      <vt:lpstr>PowerPoint 演示文稿</vt:lpstr>
      <vt:lpstr>必须等待 2MSL 的时间</vt:lpstr>
      <vt:lpstr>保活计时器</vt:lpstr>
      <vt:lpstr>5.9.3  TCP 的有限状态机</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计算机网络 - 传输层</dc:title>
  <dc:creator>glplaman.github.io</dc:creator>
  <cp:lastModifiedBy>cn plaman</cp:lastModifiedBy>
  <cp:revision>679</cp:revision>
  <dcterms:created xsi:type="dcterms:W3CDTF">2018-07-18T08:51:30Z</dcterms:created>
  <dcterms:modified xsi:type="dcterms:W3CDTF">2025-11-16T07:13:18Z</dcterms:modified>
</cp:coreProperties>
</file>